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0"/>
  </p:notesMasterIdLst>
  <p:handoutMasterIdLst>
    <p:handoutMasterId r:id="rId121"/>
  </p:handoutMasterIdLst>
  <p:sldIdLst>
    <p:sldId id="256" r:id="rId2"/>
    <p:sldId id="257" r:id="rId3"/>
    <p:sldId id="698" r:id="rId4"/>
    <p:sldId id="259" r:id="rId5"/>
    <p:sldId id="438" r:id="rId6"/>
    <p:sldId id="260" r:id="rId7"/>
    <p:sldId id="261" r:id="rId8"/>
    <p:sldId id="262" r:id="rId9"/>
    <p:sldId id="263" r:id="rId10"/>
    <p:sldId id="264" r:id="rId11"/>
    <p:sldId id="265" r:id="rId12"/>
    <p:sldId id="266" r:id="rId13"/>
    <p:sldId id="543" r:id="rId14"/>
    <p:sldId id="267" r:id="rId15"/>
    <p:sldId id="268" r:id="rId16"/>
    <p:sldId id="269" r:id="rId17"/>
    <p:sldId id="270" r:id="rId18"/>
    <p:sldId id="271" r:id="rId19"/>
    <p:sldId id="272" r:id="rId20"/>
    <p:sldId id="273" r:id="rId21"/>
    <p:sldId id="544" r:id="rId22"/>
    <p:sldId id="274" r:id="rId23"/>
    <p:sldId id="275" r:id="rId24"/>
    <p:sldId id="276" r:id="rId25"/>
    <p:sldId id="277" r:id="rId26"/>
    <p:sldId id="278" r:id="rId27"/>
    <p:sldId id="279" r:id="rId28"/>
    <p:sldId id="280" r:id="rId29"/>
    <p:sldId id="355" r:id="rId30"/>
    <p:sldId id="356" r:id="rId31"/>
    <p:sldId id="357" r:id="rId32"/>
    <p:sldId id="281" r:id="rId33"/>
    <p:sldId id="358" r:id="rId34"/>
    <p:sldId id="359" r:id="rId35"/>
    <p:sldId id="360" r:id="rId36"/>
    <p:sldId id="283" r:id="rId37"/>
    <p:sldId id="284" r:id="rId38"/>
    <p:sldId id="285" r:id="rId39"/>
    <p:sldId id="361" r:id="rId40"/>
    <p:sldId id="362" r:id="rId41"/>
    <p:sldId id="363" r:id="rId42"/>
    <p:sldId id="286" r:id="rId43"/>
    <p:sldId id="287" r:id="rId44"/>
    <p:sldId id="364" r:id="rId45"/>
    <p:sldId id="365" r:id="rId46"/>
    <p:sldId id="288" r:id="rId47"/>
    <p:sldId id="366" r:id="rId48"/>
    <p:sldId id="367" r:id="rId49"/>
    <p:sldId id="368" r:id="rId50"/>
    <p:sldId id="369" r:id="rId51"/>
    <p:sldId id="370" r:id="rId52"/>
    <p:sldId id="371" r:id="rId53"/>
    <p:sldId id="289" r:id="rId54"/>
    <p:sldId id="290" r:id="rId55"/>
    <p:sldId id="291" r:id="rId56"/>
    <p:sldId id="292" r:id="rId57"/>
    <p:sldId id="293" r:id="rId58"/>
    <p:sldId id="294" r:id="rId59"/>
    <p:sldId id="295" r:id="rId60"/>
    <p:sldId id="296" r:id="rId61"/>
    <p:sldId id="297" r:id="rId62"/>
    <p:sldId id="298" r:id="rId63"/>
    <p:sldId id="642" r:id="rId64"/>
    <p:sldId id="299" r:id="rId65"/>
    <p:sldId id="300" r:id="rId66"/>
    <p:sldId id="301" r:id="rId67"/>
    <p:sldId id="643" r:id="rId68"/>
    <p:sldId id="302" r:id="rId69"/>
    <p:sldId id="303" r:id="rId70"/>
    <p:sldId id="352" r:id="rId71"/>
    <p:sldId id="304" r:id="rId72"/>
    <p:sldId id="305" r:id="rId73"/>
    <p:sldId id="306" r:id="rId74"/>
    <p:sldId id="307" r:id="rId75"/>
    <p:sldId id="308" r:id="rId76"/>
    <p:sldId id="309" r:id="rId77"/>
    <p:sldId id="310" r:id="rId78"/>
    <p:sldId id="311" r:id="rId79"/>
    <p:sldId id="312" r:id="rId80"/>
    <p:sldId id="313" r:id="rId81"/>
    <p:sldId id="644" r:id="rId82"/>
    <p:sldId id="645" r:id="rId83"/>
    <p:sldId id="314" r:id="rId84"/>
    <p:sldId id="646" r:id="rId85"/>
    <p:sldId id="647" r:id="rId86"/>
    <p:sldId id="697" r:id="rId87"/>
    <p:sldId id="353" r:id="rId88"/>
    <p:sldId id="315" r:id="rId89"/>
    <p:sldId id="316" r:id="rId90"/>
    <p:sldId id="317" r:id="rId91"/>
    <p:sldId id="318" r:id="rId92"/>
    <p:sldId id="319" r:id="rId93"/>
    <p:sldId id="320" r:id="rId94"/>
    <p:sldId id="321" r:id="rId95"/>
    <p:sldId id="322" r:id="rId96"/>
    <p:sldId id="323" r:id="rId97"/>
    <p:sldId id="324" r:id="rId98"/>
    <p:sldId id="325" r:id="rId99"/>
    <p:sldId id="326" r:id="rId100"/>
    <p:sldId id="327" r:id="rId101"/>
    <p:sldId id="328" r:id="rId102"/>
    <p:sldId id="329" r:id="rId103"/>
    <p:sldId id="330" r:id="rId104"/>
    <p:sldId id="331" r:id="rId105"/>
    <p:sldId id="332" r:id="rId106"/>
    <p:sldId id="333" r:id="rId107"/>
    <p:sldId id="334" r:id="rId108"/>
    <p:sldId id="335" r:id="rId109"/>
    <p:sldId id="336" r:id="rId110"/>
    <p:sldId id="337" r:id="rId111"/>
    <p:sldId id="344" r:id="rId112"/>
    <p:sldId id="345" r:id="rId113"/>
    <p:sldId id="346" r:id="rId114"/>
    <p:sldId id="347" r:id="rId115"/>
    <p:sldId id="348" r:id="rId116"/>
    <p:sldId id="349" r:id="rId117"/>
    <p:sldId id="350" r:id="rId118"/>
    <p:sldId id="351" r:id="rId119"/>
  </p:sldIdLst>
  <p:sldSz cx="9144000" cy="6858000" type="screen4x3"/>
  <p:notesSz cx="6997700" cy="9283700"/>
  <p:custShowLst>
    <p:custShow name="Custom Show 1" id="0">
      <p:sldLst>
        <p:sld r:id="rId29"/>
        <p:sld r:id="rId26"/>
        <p:sld r:id="rId8"/>
        <p:sld r:id="rId10"/>
        <p:sld r:id="rId44"/>
        <p:sld r:id="rId43"/>
        <p:sld r:id="rId12"/>
        <p:sld r:id="rId84"/>
        <p:sld r:id="rId28"/>
        <p:sld r:id="rId28"/>
        <p:sld r:id="rId54"/>
        <p:sld r:id="rId78"/>
        <p:sld r:id="rId81"/>
        <p:sld r:id="rId96"/>
        <p:sld r:id="rId17"/>
        <p:sld r:id="rId61"/>
        <p:sld r:id="rId62"/>
        <p:sld r:id="rId47"/>
        <p:sld r:id="rId79"/>
        <p:sld r:id="rId80"/>
        <p:sld r:id="rId96"/>
      </p:sldLst>
    </p:custShow>
  </p:custShowLst>
  <p:custDataLst>
    <p:tags r:id="rId122"/>
  </p:custDataLst>
  <p:defaultTextStyle>
    <a:defPPr>
      <a:defRPr lang="en-US"/>
    </a:defPPr>
    <a:lvl1pPr marL="0" lvl="0" indent="0" algn="l" defTabSz="914400" rtl="0" eaLnBrk="1" fontAlgn="base" latinLnBrk="0" hangingPunct="1">
      <a:lnSpc>
        <a:spcPct val="100000"/>
      </a:lnSpc>
      <a:spcBef>
        <a:spcPct val="0"/>
      </a:spcBef>
      <a:spcAft>
        <a:spcPct val="0"/>
      </a:spcAft>
      <a:buNone/>
      <a:defRPr sz="1600" b="0" i="0" u="none" kern="1200" baseline="0">
        <a:solidFill>
          <a:schemeClr val="tx1"/>
        </a:solidFill>
        <a:latin typeface="Helvetica" panose="020B060402020203020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600" b="0" i="0" u="none" kern="1200" baseline="0">
        <a:solidFill>
          <a:schemeClr val="tx1"/>
        </a:solidFill>
        <a:latin typeface="Helvetica" panose="020B060402020203020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sz="1600" b="0" i="0" u="none" kern="1200" baseline="0">
        <a:solidFill>
          <a:schemeClr val="tx1"/>
        </a:solidFill>
        <a:latin typeface="Helvetica" panose="020B060402020203020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600" b="0" i="0" u="none" kern="1200" baseline="0">
        <a:solidFill>
          <a:schemeClr val="tx1"/>
        </a:solidFill>
        <a:latin typeface="Helvetica" panose="020B060402020203020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sz="1600" b="0" i="0" u="none" kern="1200" baseline="0">
        <a:solidFill>
          <a:schemeClr val="tx1"/>
        </a:solidFill>
        <a:latin typeface="Helvetica" panose="020B060402020203020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Tx/>
      <a:buNone/>
      <a:defRPr sz="1600" b="0" i="0" u="none" kern="1200" baseline="0">
        <a:solidFill>
          <a:schemeClr val="tx1"/>
        </a:solidFill>
        <a:latin typeface="Helvetica" panose="020B060402020203020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Tx/>
      <a:buNone/>
      <a:defRPr sz="1600" b="0" i="0" u="none" kern="1200" baseline="0">
        <a:solidFill>
          <a:schemeClr val="tx1"/>
        </a:solidFill>
        <a:latin typeface="Helvetica" panose="020B060402020203020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Tx/>
      <a:buNone/>
      <a:defRPr sz="1600" b="0" i="0" u="none" kern="1200" baseline="0">
        <a:solidFill>
          <a:schemeClr val="tx1"/>
        </a:solidFill>
        <a:latin typeface="Helvetica" panose="020B060402020203020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Tx/>
      <a:buNone/>
      <a:defRPr sz="1600" b="0" i="0" u="none" kern="1200" baseline="0">
        <a:solidFill>
          <a:schemeClr val="tx1"/>
        </a:solidFill>
        <a:latin typeface="Helvetica" panose="020B060402020203020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605">
          <p15:clr>
            <a:srgbClr val="A4A3A4"/>
          </p15:clr>
        </p15:guide>
        <p15:guide id="2" pos="48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0066CC"/>
    <a:srgbClr val="5A2781"/>
    <a:srgbClr val="F4F4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216" autoAdjust="0"/>
  </p:normalViewPr>
  <p:slideViewPr>
    <p:cSldViewPr snapToGrid="0" showGuides="1">
      <p:cViewPr varScale="1">
        <p:scale>
          <a:sx n="56" d="100"/>
          <a:sy n="56" d="100"/>
        </p:scale>
        <p:origin x="84" y="552"/>
      </p:cViewPr>
      <p:guideLst>
        <p:guide orient="horz" pos="605"/>
        <p:guide pos="484"/>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0"/>
    </p:cViewPr>
  </p:sorterViewPr>
  <p:gridSpacing cx="76198" cy="7619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notesMaster" Target="notesMasters/notesMaster1.xml"/><Relationship Id="rId125"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s>
</file>

<file path=ppt/diagrams/colors1.xml><?xml version="1.0" encoding="utf-8"?>
<dgm:colorsDef xmlns:dgm="http://schemas.openxmlformats.org/drawingml/2006/diagram" xmlns:a="http://schemas.openxmlformats.org/drawingml/2006/main" uniqueId="urn:microsoft.com/office/officeart/2005/8/colors/accent0_2#1">
  <dgm:title val=""/>
  <dgm:desc val=""/>
  <dgm:catLst>
    <dgm:cat type="mainScheme" pri="10200"/>
  </dgm:catLst>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E3A73624-AB82-431D-AA18-A40B3AC057FC}" type="doc">
      <dgm:prSet loTypeId="urn:microsoft.com/office/officeart/2005/8/layout/hProcess4#1" loCatId="process" qsTypeId="urn:microsoft.com/office/officeart/2005/8/quickstyle/simple1#1" qsCatId="simple" csTypeId="urn:microsoft.com/office/officeart/2005/8/colors/accent0_2#1" csCatId="mainScheme" phldr="1"/>
      <dgm:spPr/>
      <dgm:t>
        <a:bodyPr/>
        <a:lstStyle/>
        <a:p>
          <a:endParaRPr lang="zh-CN" altLang="en-US"/>
        </a:p>
      </dgm:t>
    </dgm:pt>
    <dgm:pt modelId="{ACB1E238-E9A4-449B-98B9-1515355E1D3F}">
      <dgm:prSet phldrT="[文本]" custT="1"/>
      <dgm:spPr/>
      <dgm:t>
        <a:bodyPr/>
        <a:lstStyle/>
        <a:p>
          <a:r>
            <a:rPr lang="zh-CN" altLang="en-US" sz="2000" b="1" dirty="0">
              <a:effectLst>
                <a:outerShdw blurRad="38100" dist="38100" dir="2700000" algn="tl">
                  <a:srgbClr val="000000">
                    <a:alpha val="43137"/>
                  </a:srgbClr>
                </a:outerShdw>
              </a:effectLst>
            </a:rPr>
            <a:t>形式化理论</a:t>
          </a:r>
        </a:p>
      </dgm:t>
    </dgm:pt>
    <dgm:pt modelId="{87307F5B-EE43-43B3-AE09-FEA808B65A64}" type="parTrans" cxnId="{1B2B6828-9865-4698-95BA-24E0F0889429}">
      <dgm:prSet/>
      <dgm:spPr/>
      <dgm:t>
        <a:bodyPr/>
        <a:lstStyle/>
        <a:p>
          <a:endParaRPr lang="zh-CN" altLang="en-US"/>
        </a:p>
      </dgm:t>
    </dgm:pt>
    <dgm:pt modelId="{3D647C6B-0DA6-441A-939C-B7B9385C99BC}" type="sibTrans" cxnId="{1B2B6828-9865-4698-95BA-24E0F0889429}">
      <dgm:prSet/>
      <dgm:spPr/>
      <dgm:t>
        <a:bodyPr/>
        <a:lstStyle/>
        <a:p>
          <a:endParaRPr lang="zh-CN" altLang="en-US"/>
        </a:p>
      </dgm:t>
    </dgm:pt>
    <dgm:pt modelId="{E58CB663-C886-4684-9841-9993A8AEA23F}">
      <dgm:prSet phldrT="[文本]" custT="1"/>
      <dgm:spPr/>
      <dgm:t>
        <a:bodyPr/>
        <a:lstStyle/>
        <a:p>
          <a:r>
            <a:rPr lang="zh-CN" altLang="en-US" sz="1800" dirty="0">
              <a:solidFill>
                <a:srgbClr val="0066CC"/>
              </a:solidFill>
            </a:rPr>
            <a:t>函数依赖的闭包</a:t>
          </a:r>
        </a:p>
      </dgm:t>
    </dgm:pt>
    <dgm:pt modelId="{20481AB4-3B3D-42E2-821E-F1340A8EA9E8}" type="parTrans" cxnId="{582906C0-588C-4EB1-95BA-6924EADAA5F8}">
      <dgm:prSet/>
      <dgm:spPr/>
      <dgm:t>
        <a:bodyPr/>
        <a:lstStyle/>
        <a:p>
          <a:endParaRPr lang="zh-CN" altLang="en-US"/>
        </a:p>
      </dgm:t>
    </dgm:pt>
    <dgm:pt modelId="{85A29F78-DA7D-45C9-913C-DB6D4E34B399}" type="sibTrans" cxnId="{582906C0-588C-4EB1-95BA-6924EADAA5F8}">
      <dgm:prSet/>
      <dgm:spPr/>
      <dgm:t>
        <a:bodyPr/>
        <a:lstStyle/>
        <a:p>
          <a:endParaRPr lang="zh-CN" altLang="en-US"/>
        </a:p>
      </dgm:t>
    </dgm:pt>
    <dgm:pt modelId="{E3D39642-4512-4384-87BF-C7418314725F}">
      <dgm:prSet phldrT="[文本]" custT="1"/>
      <dgm:spPr/>
      <dgm:t>
        <a:bodyPr/>
        <a:lstStyle/>
        <a:p>
          <a:r>
            <a:rPr lang="zh-CN" altLang="en-US" sz="1800" dirty="0">
              <a:solidFill>
                <a:srgbClr val="0066CC"/>
              </a:solidFill>
            </a:rPr>
            <a:t>属性集的闭包</a:t>
          </a:r>
        </a:p>
      </dgm:t>
    </dgm:pt>
    <dgm:pt modelId="{63AAB6AA-BC4D-428E-A3D8-F427295175AF}" type="parTrans" cxnId="{57BFB9C7-4137-405A-8E33-7D61A65EF499}">
      <dgm:prSet/>
      <dgm:spPr/>
      <dgm:t>
        <a:bodyPr/>
        <a:lstStyle/>
        <a:p>
          <a:endParaRPr lang="zh-CN" altLang="en-US"/>
        </a:p>
      </dgm:t>
    </dgm:pt>
    <dgm:pt modelId="{FEFEC037-5F61-40A2-85E4-BECEFFAD868B}" type="sibTrans" cxnId="{57BFB9C7-4137-405A-8E33-7D61A65EF499}">
      <dgm:prSet/>
      <dgm:spPr/>
      <dgm:t>
        <a:bodyPr/>
        <a:lstStyle/>
        <a:p>
          <a:endParaRPr lang="zh-CN" altLang="en-US"/>
        </a:p>
      </dgm:t>
    </dgm:pt>
    <dgm:pt modelId="{A6211786-C01A-4C1C-B591-3BC016F96118}">
      <dgm:prSet phldrT="[文本]" custT="1"/>
      <dgm:spPr/>
      <dgm:t>
        <a:bodyPr/>
        <a:lstStyle/>
        <a:p>
          <a:r>
            <a:rPr lang="zh-CN" altLang="en-US" sz="2000" b="1" dirty="0">
              <a:effectLst>
                <a:outerShdw blurRad="38100" dist="38100" dir="2700000" algn="tl">
                  <a:srgbClr val="000000">
                    <a:alpha val="43137"/>
                  </a:srgbClr>
                </a:outerShdw>
              </a:effectLst>
            </a:rPr>
            <a:t>无损分解</a:t>
          </a:r>
        </a:p>
      </dgm:t>
    </dgm:pt>
    <dgm:pt modelId="{F68B21D5-784D-4AF5-B67F-4E1DDE502E75}" type="parTrans" cxnId="{2D30F605-6824-4AAA-98A9-CDA7DE5543D2}">
      <dgm:prSet/>
      <dgm:spPr/>
      <dgm:t>
        <a:bodyPr/>
        <a:lstStyle/>
        <a:p>
          <a:endParaRPr lang="zh-CN" altLang="en-US"/>
        </a:p>
      </dgm:t>
    </dgm:pt>
    <dgm:pt modelId="{7CDB7B3C-087D-4258-8B87-1BDC3EAAB52F}" type="sibTrans" cxnId="{2D30F605-6824-4AAA-98A9-CDA7DE5543D2}">
      <dgm:prSet/>
      <dgm:spPr/>
      <dgm:t>
        <a:bodyPr/>
        <a:lstStyle/>
        <a:p>
          <a:endParaRPr lang="zh-CN" altLang="en-US"/>
        </a:p>
      </dgm:t>
    </dgm:pt>
    <dgm:pt modelId="{96246814-E925-4FF4-B406-E08F608778B2}">
      <dgm:prSet phldrT="[文本]" custT="1"/>
      <dgm:spPr/>
      <dgm:t>
        <a:bodyPr/>
        <a:lstStyle/>
        <a:p>
          <a:r>
            <a:rPr lang="en-US" altLang="zh-CN" sz="1800" dirty="0">
              <a:solidFill>
                <a:srgbClr val="0066CC"/>
              </a:solidFill>
            </a:rPr>
            <a:t>BCNF</a:t>
          </a:r>
          <a:r>
            <a:rPr lang="zh-CN" altLang="en-US" sz="1800" dirty="0">
              <a:solidFill>
                <a:srgbClr val="0066CC"/>
              </a:solidFill>
            </a:rPr>
            <a:t>判定算法</a:t>
          </a:r>
        </a:p>
      </dgm:t>
    </dgm:pt>
    <dgm:pt modelId="{9018D776-2F61-4CA0-982B-665010C43F22}" type="parTrans" cxnId="{AEF6A6E1-5B8B-4D88-838C-7F7E33B25C1D}">
      <dgm:prSet/>
      <dgm:spPr/>
      <dgm:t>
        <a:bodyPr/>
        <a:lstStyle/>
        <a:p>
          <a:endParaRPr lang="zh-CN" altLang="en-US"/>
        </a:p>
      </dgm:t>
    </dgm:pt>
    <dgm:pt modelId="{E903F7A1-AFE0-45E8-900B-3713498C7BFD}" type="sibTrans" cxnId="{AEF6A6E1-5B8B-4D88-838C-7F7E33B25C1D}">
      <dgm:prSet/>
      <dgm:spPr/>
      <dgm:t>
        <a:bodyPr/>
        <a:lstStyle/>
        <a:p>
          <a:endParaRPr lang="zh-CN" altLang="en-US"/>
        </a:p>
      </dgm:t>
    </dgm:pt>
    <dgm:pt modelId="{0E16823D-ADE8-4EC3-AF35-4BA71AD33573}">
      <dgm:prSet phldrT="[文本]" custT="1"/>
      <dgm:spPr/>
      <dgm:t>
        <a:bodyPr/>
        <a:lstStyle/>
        <a:p>
          <a:r>
            <a:rPr lang="en-US" altLang="zh-CN" sz="1800" dirty="0">
              <a:solidFill>
                <a:srgbClr val="0066CC"/>
              </a:solidFill>
            </a:rPr>
            <a:t>3NF</a:t>
          </a:r>
          <a:endParaRPr lang="zh-CN" altLang="en-US" sz="1800" dirty="0">
            <a:solidFill>
              <a:srgbClr val="0066CC"/>
            </a:solidFill>
          </a:endParaRPr>
        </a:p>
      </dgm:t>
    </dgm:pt>
    <dgm:pt modelId="{C6DA5FE8-6666-4F38-B9EC-8F68DB7CF222}" type="parTrans" cxnId="{4FD01FF1-1887-42F1-A044-AB84A48EA77D}">
      <dgm:prSet/>
      <dgm:spPr/>
      <dgm:t>
        <a:bodyPr/>
        <a:lstStyle/>
        <a:p>
          <a:endParaRPr lang="zh-CN" altLang="en-US"/>
        </a:p>
      </dgm:t>
    </dgm:pt>
    <dgm:pt modelId="{E1DB7D33-B906-4FF6-B895-DEDEE5C26694}" type="sibTrans" cxnId="{4FD01FF1-1887-42F1-A044-AB84A48EA77D}">
      <dgm:prSet/>
      <dgm:spPr/>
      <dgm:t>
        <a:bodyPr/>
        <a:lstStyle/>
        <a:p>
          <a:endParaRPr lang="zh-CN" altLang="en-US"/>
        </a:p>
      </dgm:t>
    </dgm:pt>
    <dgm:pt modelId="{522439E9-A699-4BE3-A7BD-1E1CA0AA84CF}">
      <dgm:prSet phldrT="[文本]"/>
      <dgm:spPr/>
      <dgm:t>
        <a:bodyPr/>
        <a:lstStyle/>
        <a:p>
          <a:r>
            <a:rPr lang="zh-CN" altLang="en-US" dirty="0"/>
            <a:t>保持依赖</a:t>
          </a:r>
        </a:p>
      </dgm:t>
    </dgm:pt>
    <dgm:pt modelId="{7F77CCEF-A058-49E9-86AC-949C1A2B6A06}" type="parTrans" cxnId="{A892E8DC-43BF-4D93-847E-BF04E95B0E39}">
      <dgm:prSet/>
      <dgm:spPr/>
      <dgm:t>
        <a:bodyPr/>
        <a:lstStyle/>
        <a:p>
          <a:endParaRPr lang="zh-CN" altLang="en-US"/>
        </a:p>
      </dgm:t>
    </dgm:pt>
    <dgm:pt modelId="{18ACB6A1-2C60-49F0-B997-1A1D25AFF9DB}" type="sibTrans" cxnId="{A892E8DC-43BF-4D93-847E-BF04E95B0E39}">
      <dgm:prSet/>
      <dgm:spPr/>
      <dgm:t>
        <a:bodyPr/>
        <a:lstStyle/>
        <a:p>
          <a:endParaRPr lang="zh-CN" altLang="en-US"/>
        </a:p>
      </dgm:t>
    </dgm:pt>
    <dgm:pt modelId="{0A18A1CC-69FC-40D0-B567-F6732F24BAC9}">
      <dgm:prSet phldrT="[文本]" custT="1"/>
      <dgm:spPr/>
      <dgm:t>
        <a:bodyPr/>
        <a:lstStyle/>
        <a:p>
          <a:r>
            <a:rPr lang="zh-CN" altLang="en-US" sz="1800" dirty="0">
              <a:solidFill>
                <a:srgbClr val="0066CC"/>
              </a:solidFill>
            </a:rPr>
            <a:t>判定算法</a:t>
          </a:r>
        </a:p>
      </dgm:t>
    </dgm:pt>
    <dgm:pt modelId="{9D4A8683-72A5-40CD-B439-5B5AD3D05EFE}" type="parTrans" cxnId="{3257AEDD-CA21-495A-9A5F-6E97C7B4D973}">
      <dgm:prSet/>
      <dgm:spPr/>
      <dgm:t>
        <a:bodyPr/>
        <a:lstStyle/>
        <a:p>
          <a:endParaRPr lang="zh-CN" altLang="en-US"/>
        </a:p>
      </dgm:t>
    </dgm:pt>
    <dgm:pt modelId="{A67BCBF1-AEDC-4377-9062-8B4C57C4E3B6}" type="sibTrans" cxnId="{3257AEDD-CA21-495A-9A5F-6E97C7B4D973}">
      <dgm:prSet/>
      <dgm:spPr/>
      <dgm:t>
        <a:bodyPr/>
        <a:lstStyle/>
        <a:p>
          <a:endParaRPr lang="zh-CN" altLang="en-US"/>
        </a:p>
      </dgm:t>
    </dgm:pt>
    <dgm:pt modelId="{A73557B1-98BA-4BEF-86D4-FE6F919A8F87}">
      <dgm:prSet phldrT="[文本]" custT="1"/>
      <dgm:spPr/>
      <dgm:t>
        <a:bodyPr/>
        <a:lstStyle/>
        <a:p>
          <a:r>
            <a:rPr lang="en-US" altLang="zh-CN" sz="1800" dirty="0">
              <a:solidFill>
                <a:srgbClr val="0066CC"/>
              </a:solidFill>
            </a:rPr>
            <a:t>3NF</a:t>
          </a:r>
          <a:endParaRPr lang="zh-CN" altLang="en-US" sz="1800" dirty="0">
            <a:solidFill>
              <a:srgbClr val="0066CC"/>
            </a:solidFill>
          </a:endParaRPr>
        </a:p>
      </dgm:t>
    </dgm:pt>
    <dgm:pt modelId="{416FC47C-5DF4-47B1-8548-6A713A24A001}" type="parTrans" cxnId="{BC9CD74D-290A-4E4A-828B-F19F82205A18}">
      <dgm:prSet/>
      <dgm:spPr/>
      <dgm:t>
        <a:bodyPr/>
        <a:lstStyle/>
        <a:p>
          <a:endParaRPr lang="zh-CN" altLang="en-US"/>
        </a:p>
      </dgm:t>
    </dgm:pt>
    <dgm:pt modelId="{85A7DEA0-B5B1-4633-BACC-96F73BD0135D}" type="sibTrans" cxnId="{BC9CD74D-290A-4E4A-828B-F19F82205A18}">
      <dgm:prSet/>
      <dgm:spPr/>
      <dgm:t>
        <a:bodyPr/>
        <a:lstStyle/>
        <a:p>
          <a:endParaRPr lang="zh-CN" altLang="en-US"/>
        </a:p>
      </dgm:t>
    </dgm:pt>
    <dgm:pt modelId="{CBF78B23-9BDF-499B-9719-7DB04A0AE250}">
      <dgm:prSet phldrT="[文本]" custT="1"/>
      <dgm:spPr/>
      <dgm:t>
        <a:bodyPr/>
        <a:lstStyle/>
        <a:p>
          <a:r>
            <a:rPr kumimoji="1" lang="en-US" altLang="zh-CN" sz="1800" b="0" i="0" u="none" strike="noStrike" cap="none" spc="0" normalizeH="0" baseline="0" noProof="1">
              <a:solidFill>
                <a:srgbClr val="0066CC"/>
              </a:solidFill>
              <a:latin typeface="Arial" panose="020B0604020202020204"/>
              <a:ea typeface="+mn-ea"/>
              <a:cs typeface="Arial" panose="020B0604020202020204"/>
            </a:rPr>
            <a:t>Armstrong’s</a:t>
          </a:r>
          <a:r>
            <a:rPr kumimoji="1" lang="zh-CN" altLang="en-US" sz="1800" b="0" i="0" u="none" strike="noStrike" cap="none" spc="0" normalizeH="0" baseline="0" noProof="1">
              <a:solidFill>
                <a:srgbClr val="0066CC"/>
              </a:solidFill>
              <a:latin typeface="Arial" panose="020B0604020202020204"/>
              <a:ea typeface="+mn-ea"/>
              <a:cs typeface="Arial" panose="020B0604020202020204"/>
            </a:rPr>
            <a:t>公理和规则</a:t>
          </a:r>
          <a:endParaRPr lang="zh-CN" altLang="en-US" sz="1800" dirty="0">
            <a:solidFill>
              <a:srgbClr val="0066CC"/>
            </a:solidFill>
          </a:endParaRPr>
        </a:p>
      </dgm:t>
    </dgm:pt>
    <dgm:pt modelId="{F05932A5-685B-4A23-B61C-01185079EB76}" type="parTrans" cxnId="{9E444D70-8AC8-4758-9E84-2FAF5158B373}">
      <dgm:prSet/>
      <dgm:spPr/>
      <dgm:t>
        <a:bodyPr/>
        <a:lstStyle/>
        <a:p>
          <a:endParaRPr lang="zh-CN" altLang="en-US"/>
        </a:p>
      </dgm:t>
    </dgm:pt>
    <dgm:pt modelId="{987CC9A0-BB09-44FF-BAD4-97062F9AA958}" type="sibTrans" cxnId="{9E444D70-8AC8-4758-9E84-2FAF5158B373}">
      <dgm:prSet/>
      <dgm:spPr/>
      <dgm:t>
        <a:bodyPr/>
        <a:lstStyle/>
        <a:p>
          <a:endParaRPr lang="zh-CN" altLang="en-US"/>
        </a:p>
      </dgm:t>
    </dgm:pt>
    <dgm:pt modelId="{D9AAC448-053B-479B-9FD6-DEE27A81B550}">
      <dgm:prSet phldrT="[文本]" custT="1"/>
      <dgm:spPr/>
      <dgm:t>
        <a:bodyPr/>
        <a:lstStyle/>
        <a:p>
          <a:endParaRPr lang="zh-CN" altLang="en-US" sz="1800" dirty="0">
            <a:solidFill>
              <a:srgbClr val="0066CC"/>
            </a:solidFill>
          </a:endParaRPr>
        </a:p>
      </dgm:t>
    </dgm:pt>
    <dgm:pt modelId="{8A97C7B6-18F7-482D-97DC-3FD7AA82E632}" type="parTrans" cxnId="{A809507E-B227-40F0-9930-12285B5AD65B}">
      <dgm:prSet/>
      <dgm:spPr/>
      <dgm:t>
        <a:bodyPr/>
        <a:lstStyle/>
        <a:p>
          <a:endParaRPr lang="zh-CN" altLang="en-US"/>
        </a:p>
      </dgm:t>
    </dgm:pt>
    <dgm:pt modelId="{C2A34E91-75B8-4401-8FC5-689B25490328}" type="sibTrans" cxnId="{A809507E-B227-40F0-9930-12285B5AD65B}">
      <dgm:prSet/>
      <dgm:spPr/>
      <dgm:t>
        <a:bodyPr/>
        <a:lstStyle/>
        <a:p>
          <a:endParaRPr lang="zh-CN" altLang="en-US"/>
        </a:p>
      </dgm:t>
    </dgm:pt>
    <dgm:pt modelId="{CCBBFFCB-7207-4368-BCD3-E40EB238EB0C}" type="pres">
      <dgm:prSet presAssocID="{E3A73624-AB82-431D-AA18-A40B3AC057FC}" presName="Name0" presStyleCnt="0">
        <dgm:presLayoutVars>
          <dgm:dir/>
          <dgm:animLvl val="lvl"/>
          <dgm:resizeHandles val="exact"/>
        </dgm:presLayoutVars>
      </dgm:prSet>
      <dgm:spPr/>
    </dgm:pt>
    <dgm:pt modelId="{45A2F8B3-6B0E-4402-9D80-AD1480F17BD9}" type="pres">
      <dgm:prSet presAssocID="{E3A73624-AB82-431D-AA18-A40B3AC057FC}" presName="tSp" presStyleCnt="0"/>
      <dgm:spPr/>
    </dgm:pt>
    <dgm:pt modelId="{F54CDCFF-67A3-40F9-96BF-95392360CF45}" type="pres">
      <dgm:prSet presAssocID="{E3A73624-AB82-431D-AA18-A40B3AC057FC}" presName="bSp" presStyleCnt="0"/>
      <dgm:spPr/>
    </dgm:pt>
    <dgm:pt modelId="{129D8538-565B-42D3-8AC4-A3F96D9C5BD9}" type="pres">
      <dgm:prSet presAssocID="{E3A73624-AB82-431D-AA18-A40B3AC057FC}" presName="process" presStyleCnt="0"/>
      <dgm:spPr/>
    </dgm:pt>
    <dgm:pt modelId="{A78D1907-D137-4A77-A279-BC6E07D35F89}" type="pres">
      <dgm:prSet presAssocID="{ACB1E238-E9A4-449B-98B9-1515355E1D3F}" presName="composite1" presStyleCnt="0"/>
      <dgm:spPr/>
    </dgm:pt>
    <dgm:pt modelId="{1F80E1FD-2424-4F2D-8F95-005DF4505814}" type="pres">
      <dgm:prSet presAssocID="{ACB1E238-E9A4-449B-98B9-1515355E1D3F}" presName="dummyNode1" presStyleLbl="node1" presStyleIdx="0" presStyleCnt="3"/>
      <dgm:spPr/>
    </dgm:pt>
    <dgm:pt modelId="{30E7C3B4-39C6-4A5B-97FA-750220E068C4}" type="pres">
      <dgm:prSet presAssocID="{ACB1E238-E9A4-449B-98B9-1515355E1D3F}" presName="childNode1" presStyleLbl="bgAcc1" presStyleIdx="0" presStyleCnt="3" custScaleX="243041" custScaleY="161601">
        <dgm:presLayoutVars>
          <dgm:bulletEnabled val="1"/>
        </dgm:presLayoutVars>
      </dgm:prSet>
      <dgm:spPr/>
    </dgm:pt>
    <dgm:pt modelId="{1FB374AF-A3EA-4F97-A0A5-7E166765B978}" type="pres">
      <dgm:prSet presAssocID="{ACB1E238-E9A4-449B-98B9-1515355E1D3F}" presName="childNode1tx" presStyleLbl="bgAcc1" presStyleIdx="0" presStyleCnt="3">
        <dgm:presLayoutVars>
          <dgm:bulletEnabled val="1"/>
        </dgm:presLayoutVars>
      </dgm:prSet>
      <dgm:spPr/>
    </dgm:pt>
    <dgm:pt modelId="{C1E83D32-4A86-434B-806B-EFF98A77F992}" type="pres">
      <dgm:prSet presAssocID="{ACB1E238-E9A4-449B-98B9-1515355E1D3F}" presName="parentNode1" presStyleLbl="node1" presStyleIdx="0" presStyleCnt="3" custScaleX="146199" custLinFactNeighborX="-16742" custLinFactNeighborY="68886">
        <dgm:presLayoutVars>
          <dgm:chMax val="1"/>
          <dgm:bulletEnabled val="1"/>
        </dgm:presLayoutVars>
      </dgm:prSet>
      <dgm:spPr/>
    </dgm:pt>
    <dgm:pt modelId="{D26CFDDF-067E-4ECE-9541-E6344DA34CF4}" type="pres">
      <dgm:prSet presAssocID="{ACB1E238-E9A4-449B-98B9-1515355E1D3F}" presName="connSite1" presStyleCnt="0"/>
      <dgm:spPr/>
    </dgm:pt>
    <dgm:pt modelId="{E05F4F8E-05CC-4EAD-A539-4C85FB15077C}" type="pres">
      <dgm:prSet presAssocID="{3D647C6B-0DA6-441A-939C-B7B9385C99BC}" presName="Name9" presStyleLbl="sibTrans2D1" presStyleIdx="0" presStyleCnt="2" custScaleX="121422" custLinFactNeighborY="-709"/>
      <dgm:spPr/>
    </dgm:pt>
    <dgm:pt modelId="{5032DB64-E42C-4629-8A31-B53DC31D2726}" type="pres">
      <dgm:prSet presAssocID="{A6211786-C01A-4C1C-B591-3BC016F96118}" presName="composite2" presStyleCnt="0"/>
      <dgm:spPr/>
    </dgm:pt>
    <dgm:pt modelId="{CD9464EF-37C0-4313-86A3-4C2536EC88E5}" type="pres">
      <dgm:prSet presAssocID="{A6211786-C01A-4C1C-B591-3BC016F96118}" presName="dummyNode2" presStyleLbl="node1" presStyleIdx="0" presStyleCnt="3"/>
      <dgm:spPr/>
    </dgm:pt>
    <dgm:pt modelId="{92859D0A-21B5-4F5B-96DD-0C0BB36C377B}" type="pres">
      <dgm:prSet presAssocID="{A6211786-C01A-4C1C-B591-3BC016F96118}" presName="childNode2" presStyleLbl="bgAcc1" presStyleIdx="1" presStyleCnt="3" custScaleX="201073" custScaleY="163584">
        <dgm:presLayoutVars>
          <dgm:bulletEnabled val="1"/>
        </dgm:presLayoutVars>
      </dgm:prSet>
      <dgm:spPr/>
    </dgm:pt>
    <dgm:pt modelId="{598A6978-9CA4-416C-87FB-30E18768C336}" type="pres">
      <dgm:prSet presAssocID="{A6211786-C01A-4C1C-B591-3BC016F96118}" presName="childNode2tx" presStyleLbl="bgAcc1" presStyleIdx="1" presStyleCnt="3">
        <dgm:presLayoutVars>
          <dgm:bulletEnabled val="1"/>
        </dgm:presLayoutVars>
      </dgm:prSet>
      <dgm:spPr/>
    </dgm:pt>
    <dgm:pt modelId="{05915D5D-ABEB-4703-9BDE-D886CAD136CF}" type="pres">
      <dgm:prSet presAssocID="{A6211786-C01A-4C1C-B591-3BC016F96118}" presName="parentNode2" presStyleLbl="node1" presStyleIdx="1" presStyleCnt="3" custScaleX="131458" custLinFactNeighborX="-23899" custLinFactNeighborY="-76123">
        <dgm:presLayoutVars>
          <dgm:chMax val="0"/>
          <dgm:bulletEnabled val="1"/>
        </dgm:presLayoutVars>
      </dgm:prSet>
      <dgm:spPr/>
    </dgm:pt>
    <dgm:pt modelId="{19F432F1-83BB-4976-806C-BAF88257F6FF}" type="pres">
      <dgm:prSet presAssocID="{A6211786-C01A-4C1C-B591-3BC016F96118}" presName="connSite2" presStyleCnt="0"/>
      <dgm:spPr/>
    </dgm:pt>
    <dgm:pt modelId="{DD4C7417-4F0D-489B-9D53-842433F0CE46}" type="pres">
      <dgm:prSet presAssocID="{7CDB7B3C-087D-4258-8B87-1BDC3EAAB52F}" presName="Name18" presStyleLbl="sibTrans2D1" presStyleIdx="1" presStyleCnt="2" custAng="0" custScaleX="126213" custLinFactNeighborY="-1425"/>
      <dgm:spPr/>
    </dgm:pt>
    <dgm:pt modelId="{112A6DEF-FBE2-4231-954F-18500343E36A}" type="pres">
      <dgm:prSet presAssocID="{522439E9-A699-4BE3-A7BD-1E1CA0AA84CF}" presName="composite1" presStyleCnt="0"/>
      <dgm:spPr/>
    </dgm:pt>
    <dgm:pt modelId="{08445B3E-7176-44A2-BB9A-40CD4B630B53}" type="pres">
      <dgm:prSet presAssocID="{522439E9-A699-4BE3-A7BD-1E1CA0AA84CF}" presName="dummyNode1" presStyleLbl="node1" presStyleIdx="1" presStyleCnt="3"/>
      <dgm:spPr/>
    </dgm:pt>
    <dgm:pt modelId="{FCCFB9B7-197E-41BD-873F-8D564AA7636B}" type="pres">
      <dgm:prSet presAssocID="{522439E9-A699-4BE3-A7BD-1E1CA0AA84CF}" presName="childNode1" presStyleLbl="bgAcc1" presStyleIdx="2" presStyleCnt="3" custScaleX="168749" custScaleY="163573">
        <dgm:presLayoutVars>
          <dgm:bulletEnabled val="1"/>
        </dgm:presLayoutVars>
      </dgm:prSet>
      <dgm:spPr/>
    </dgm:pt>
    <dgm:pt modelId="{8D3ECB4D-C311-4964-BFCC-C3FB1A86839C}" type="pres">
      <dgm:prSet presAssocID="{522439E9-A699-4BE3-A7BD-1E1CA0AA84CF}" presName="childNode1tx" presStyleLbl="bgAcc1" presStyleIdx="2" presStyleCnt="3">
        <dgm:presLayoutVars>
          <dgm:bulletEnabled val="1"/>
        </dgm:presLayoutVars>
      </dgm:prSet>
      <dgm:spPr/>
    </dgm:pt>
    <dgm:pt modelId="{6B54A072-F69E-4A41-B925-90E7E3B958CE}" type="pres">
      <dgm:prSet presAssocID="{522439E9-A699-4BE3-A7BD-1E1CA0AA84CF}" presName="parentNode1" presStyleLbl="node1" presStyleIdx="2" presStyleCnt="3" custLinFactNeighborX="-15079" custLinFactNeighborY="71626">
        <dgm:presLayoutVars>
          <dgm:chMax val="1"/>
          <dgm:bulletEnabled val="1"/>
        </dgm:presLayoutVars>
      </dgm:prSet>
      <dgm:spPr/>
    </dgm:pt>
    <dgm:pt modelId="{65836F7B-801F-42AA-8A9A-0B7C2F0F7E98}" type="pres">
      <dgm:prSet presAssocID="{522439E9-A699-4BE3-A7BD-1E1CA0AA84CF}" presName="connSite1" presStyleCnt="0"/>
      <dgm:spPr/>
    </dgm:pt>
  </dgm:ptLst>
  <dgm:cxnLst>
    <dgm:cxn modelId="{2D30F605-6824-4AAA-98A9-CDA7DE5543D2}" srcId="{E3A73624-AB82-431D-AA18-A40B3AC057FC}" destId="{A6211786-C01A-4C1C-B591-3BC016F96118}" srcOrd="1" destOrd="0" parTransId="{F68B21D5-784D-4AF5-B67F-4E1DDE502E75}" sibTransId="{7CDB7B3C-087D-4258-8B87-1BDC3EAAB52F}"/>
    <dgm:cxn modelId="{8418CD10-5FBF-47B8-9837-6D831CCC9531}" type="presOf" srcId="{D9AAC448-053B-479B-9FD6-DEE27A81B550}" destId="{FCCFB9B7-197E-41BD-873F-8D564AA7636B}" srcOrd="0" destOrd="0" presId="urn:microsoft.com/office/officeart/2005/8/layout/hProcess4#1"/>
    <dgm:cxn modelId="{3F8FDE12-5384-4064-8E92-7DF41B7AC3BF}" type="presOf" srcId="{522439E9-A699-4BE3-A7BD-1E1CA0AA84CF}" destId="{6B54A072-F69E-4A41-B925-90E7E3B958CE}" srcOrd="0" destOrd="0" presId="urn:microsoft.com/office/officeart/2005/8/layout/hProcess4#1"/>
    <dgm:cxn modelId="{478B1D15-1FA4-493B-BB7D-E60FDC71681E}" type="presOf" srcId="{A73557B1-98BA-4BEF-86D4-FE6F919A8F87}" destId="{FCCFB9B7-197E-41BD-873F-8D564AA7636B}" srcOrd="0" destOrd="2" presId="urn:microsoft.com/office/officeart/2005/8/layout/hProcess4#1"/>
    <dgm:cxn modelId="{7809451C-8199-4B20-A4F8-E4632B8F8E5B}" type="presOf" srcId="{E3D39642-4512-4384-87BF-C7418314725F}" destId="{30E7C3B4-39C6-4A5B-97FA-750220E068C4}" srcOrd="0" destOrd="2" presId="urn:microsoft.com/office/officeart/2005/8/layout/hProcess4#1"/>
    <dgm:cxn modelId="{1B2B6828-9865-4698-95BA-24E0F0889429}" srcId="{E3A73624-AB82-431D-AA18-A40B3AC057FC}" destId="{ACB1E238-E9A4-449B-98B9-1515355E1D3F}" srcOrd="0" destOrd="0" parTransId="{87307F5B-EE43-43B3-AE09-FEA808B65A64}" sibTransId="{3D647C6B-0DA6-441A-939C-B7B9385C99BC}"/>
    <dgm:cxn modelId="{1900EA5C-769F-4B9F-8EB5-0623C8336E9B}" type="presOf" srcId="{0A18A1CC-69FC-40D0-B567-F6732F24BAC9}" destId="{FCCFB9B7-197E-41BD-873F-8D564AA7636B}" srcOrd="0" destOrd="1" presId="urn:microsoft.com/office/officeart/2005/8/layout/hProcess4#1"/>
    <dgm:cxn modelId="{4B228E41-8D96-4C8D-BF2E-35D15DED1E00}" type="presOf" srcId="{E3D39642-4512-4384-87BF-C7418314725F}" destId="{1FB374AF-A3EA-4F97-A0A5-7E166765B978}" srcOrd="1" destOrd="2" presId="urn:microsoft.com/office/officeart/2005/8/layout/hProcess4#1"/>
    <dgm:cxn modelId="{2B64F764-81BE-4F6A-AB92-FF14B386F4CC}" type="presOf" srcId="{ACB1E238-E9A4-449B-98B9-1515355E1D3F}" destId="{C1E83D32-4A86-434B-806B-EFF98A77F992}" srcOrd="0" destOrd="0" presId="urn:microsoft.com/office/officeart/2005/8/layout/hProcess4#1"/>
    <dgm:cxn modelId="{E933F747-3C5F-4454-AB4E-044DF7EEE45D}" type="presOf" srcId="{96246814-E925-4FF4-B406-E08F608778B2}" destId="{92859D0A-21B5-4F5B-96DD-0C0BB36C377B}" srcOrd="0" destOrd="0" presId="urn:microsoft.com/office/officeart/2005/8/layout/hProcess4#1"/>
    <dgm:cxn modelId="{BC9CD74D-290A-4E4A-828B-F19F82205A18}" srcId="{522439E9-A699-4BE3-A7BD-1E1CA0AA84CF}" destId="{A73557B1-98BA-4BEF-86D4-FE6F919A8F87}" srcOrd="2" destOrd="0" parTransId="{416FC47C-5DF4-47B1-8548-6A713A24A001}" sibTransId="{85A7DEA0-B5B1-4633-BACC-96F73BD0135D}"/>
    <dgm:cxn modelId="{9E444D70-8AC8-4758-9E84-2FAF5158B373}" srcId="{ACB1E238-E9A4-449B-98B9-1515355E1D3F}" destId="{CBF78B23-9BDF-499B-9719-7DB04A0AE250}" srcOrd="1" destOrd="0" parTransId="{F05932A5-685B-4A23-B61C-01185079EB76}" sibTransId="{987CC9A0-BB09-44FF-BAD4-97062F9AA958}"/>
    <dgm:cxn modelId="{53D31452-31D5-4AE0-8245-599BB0FAE534}" type="presOf" srcId="{E58CB663-C886-4684-9841-9993A8AEA23F}" destId="{30E7C3B4-39C6-4A5B-97FA-750220E068C4}" srcOrd="0" destOrd="0" presId="urn:microsoft.com/office/officeart/2005/8/layout/hProcess4#1"/>
    <dgm:cxn modelId="{4F2BE252-61B8-45CC-80AF-CB70C00C9716}" type="presOf" srcId="{A73557B1-98BA-4BEF-86D4-FE6F919A8F87}" destId="{8D3ECB4D-C311-4964-BFCC-C3FB1A86839C}" srcOrd="1" destOrd="2" presId="urn:microsoft.com/office/officeart/2005/8/layout/hProcess4#1"/>
    <dgm:cxn modelId="{F8ADD556-7FE6-44E6-B1D5-B3F5D5BF6013}" type="presOf" srcId="{0A18A1CC-69FC-40D0-B567-F6732F24BAC9}" destId="{8D3ECB4D-C311-4964-BFCC-C3FB1A86839C}" srcOrd="1" destOrd="1" presId="urn:microsoft.com/office/officeart/2005/8/layout/hProcess4#1"/>
    <dgm:cxn modelId="{86E9E477-D7BB-4673-BC13-24731CFA91BB}" type="presOf" srcId="{0E16823D-ADE8-4EC3-AF35-4BA71AD33573}" destId="{598A6978-9CA4-416C-87FB-30E18768C336}" srcOrd="1" destOrd="1" presId="urn:microsoft.com/office/officeart/2005/8/layout/hProcess4#1"/>
    <dgm:cxn modelId="{A809507E-B227-40F0-9930-12285B5AD65B}" srcId="{522439E9-A699-4BE3-A7BD-1E1CA0AA84CF}" destId="{D9AAC448-053B-479B-9FD6-DEE27A81B550}" srcOrd="0" destOrd="0" parTransId="{8A97C7B6-18F7-482D-97DC-3FD7AA82E632}" sibTransId="{C2A34E91-75B8-4401-8FC5-689B25490328}"/>
    <dgm:cxn modelId="{31870D83-6CC6-488F-9251-AE1B09EEA65E}" type="presOf" srcId="{0E16823D-ADE8-4EC3-AF35-4BA71AD33573}" destId="{92859D0A-21B5-4F5B-96DD-0C0BB36C377B}" srcOrd="0" destOrd="1" presId="urn:microsoft.com/office/officeart/2005/8/layout/hProcess4#1"/>
    <dgm:cxn modelId="{0C2BA884-95CA-4C21-95A6-4F9506437818}" type="presOf" srcId="{E3A73624-AB82-431D-AA18-A40B3AC057FC}" destId="{CCBBFFCB-7207-4368-BCD3-E40EB238EB0C}" srcOrd="0" destOrd="0" presId="urn:microsoft.com/office/officeart/2005/8/layout/hProcess4#1"/>
    <dgm:cxn modelId="{513C0C8F-E452-4598-8802-1E47D7EBFCE7}" type="presOf" srcId="{CBF78B23-9BDF-499B-9719-7DB04A0AE250}" destId="{30E7C3B4-39C6-4A5B-97FA-750220E068C4}" srcOrd="0" destOrd="1" presId="urn:microsoft.com/office/officeart/2005/8/layout/hProcess4#1"/>
    <dgm:cxn modelId="{0AB083B3-4F27-43C1-A2BB-A54D75A15A65}" type="presOf" srcId="{A6211786-C01A-4C1C-B591-3BC016F96118}" destId="{05915D5D-ABEB-4703-9BDE-D886CAD136CF}" srcOrd="0" destOrd="0" presId="urn:microsoft.com/office/officeart/2005/8/layout/hProcess4#1"/>
    <dgm:cxn modelId="{582906C0-588C-4EB1-95BA-6924EADAA5F8}" srcId="{ACB1E238-E9A4-449B-98B9-1515355E1D3F}" destId="{E58CB663-C886-4684-9841-9993A8AEA23F}" srcOrd="0" destOrd="0" parTransId="{20481AB4-3B3D-42E2-821E-F1340A8EA9E8}" sibTransId="{85A29F78-DA7D-45C9-913C-DB6D4E34B399}"/>
    <dgm:cxn modelId="{57BFB9C7-4137-405A-8E33-7D61A65EF499}" srcId="{ACB1E238-E9A4-449B-98B9-1515355E1D3F}" destId="{E3D39642-4512-4384-87BF-C7418314725F}" srcOrd="2" destOrd="0" parTransId="{63AAB6AA-BC4D-428E-A3D8-F427295175AF}" sibTransId="{FEFEC037-5F61-40A2-85E4-BECEFFAD868B}"/>
    <dgm:cxn modelId="{81C95AC9-4F06-4015-9E48-70B98D1946E7}" type="presOf" srcId="{E58CB663-C886-4684-9841-9993A8AEA23F}" destId="{1FB374AF-A3EA-4F97-A0A5-7E166765B978}" srcOrd="1" destOrd="0" presId="urn:microsoft.com/office/officeart/2005/8/layout/hProcess4#1"/>
    <dgm:cxn modelId="{812706D3-C1C9-4028-8DAA-5C4BE86E9264}" type="presOf" srcId="{96246814-E925-4FF4-B406-E08F608778B2}" destId="{598A6978-9CA4-416C-87FB-30E18768C336}" srcOrd="1" destOrd="0" presId="urn:microsoft.com/office/officeart/2005/8/layout/hProcess4#1"/>
    <dgm:cxn modelId="{3C3A56DA-B35A-498F-A8C0-05ADE04DD72C}" type="presOf" srcId="{7CDB7B3C-087D-4258-8B87-1BDC3EAAB52F}" destId="{DD4C7417-4F0D-489B-9D53-842433F0CE46}" srcOrd="0" destOrd="0" presId="urn:microsoft.com/office/officeart/2005/8/layout/hProcess4#1"/>
    <dgm:cxn modelId="{A892E8DC-43BF-4D93-847E-BF04E95B0E39}" srcId="{E3A73624-AB82-431D-AA18-A40B3AC057FC}" destId="{522439E9-A699-4BE3-A7BD-1E1CA0AA84CF}" srcOrd="2" destOrd="0" parTransId="{7F77CCEF-A058-49E9-86AC-949C1A2B6A06}" sibTransId="{18ACB6A1-2C60-49F0-B997-1A1D25AFF9DB}"/>
    <dgm:cxn modelId="{3257AEDD-CA21-495A-9A5F-6E97C7B4D973}" srcId="{522439E9-A699-4BE3-A7BD-1E1CA0AA84CF}" destId="{0A18A1CC-69FC-40D0-B567-F6732F24BAC9}" srcOrd="1" destOrd="0" parTransId="{9D4A8683-72A5-40CD-B439-5B5AD3D05EFE}" sibTransId="{A67BCBF1-AEDC-4377-9062-8B4C57C4E3B6}"/>
    <dgm:cxn modelId="{AEF6A6E1-5B8B-4D88-838C-7F7E33B25C1D}" srcId="{A6211786-C01A-4C1C-B591-3BC016F96118}" destId="{96246814-E925-4FF4-B406-E08F608778B2}" srcOrd="0" destOrd="0" parTransId="{9018D776-2F61-4CA0-982B-665010C43F22}" sibTransId="{E903F7A1-AFE0-45E8-900B-3713498C7BFD}"/>
    <dgm:cxn modelId="{7C9F89EB-8219-44A5-8954-FCF3A340ADAC}" type="presOf" srcId="{D9AAC448-053B-479B-9FD6-DEE27A81B550}" destId="{8D3ECB4D-C311-4964-BFCC-C3FB1A86839C}" srcOrd="1" destOrd="0" presId="urn:microsoft.com/office/officeart/2005/8/layout/hProcess4#1"/>
    <dgm:cxn modelId="{4FD01FF1-1887-42F1-A044-AB84A48EA77D}" srcId="{A6211786-C01A-4C1C-B591-3BC016F96118}" destId="{0E16823D-ADE8-4EC3-AF35-4BA71AD33573}" srcOrd="1" destOrd="0" parTransId="{C6DA5FE8-6666-4F38-B9EC-8F68DB7CF222}" sibTransId="{E1DB7D33-B906-4FF6-B895-DEDEE5C26694}"/>
    <dgm:cxn modelId="{A26ABBF7-027A-4322-B37B-6D452BBD95E7}" type="presOf" srcId="{CBF78B23-9BDF-499B-9719-7DB04A0AE250}" destId="{1FB374AF-A3EA-4F97-A0A5-7E166765B978}" srcOrd="1" destOrd="1" presId="urn:microsoft.com/office/officeart/2005/8/layout/hProcess4#1"/>
    <dgm:cxn modelId="{4BE18AFB-FEF5-47F0-8BA0-F3B1D55425AE}" type="presOf" srcId="{3D647C6B-0DA6-441A-939C-B7B9385C99BC}" destId="{E05F4F8E-05CC-4EAD-A539-4C85FB15077C}" srcOrd="0" destOrd="0" presId="urn:microsoft.com/office/officeart/2005/8/layout/hProcess4#1"/>
    <dgm:cxn modelId="{6118166B-92B4-47B7-A2F7-89294323BC41}" type="presParOf" srcId="{CCBBFFCB-7207-4368-BCD3-E40EB238EB0C}" destId="{45A2F8B3-6B0E-4402-9D80-AD1480F17BD9}" srcOrd="0" destOrd="0" presId="urn:microsoft.com/office/officeart/2005/8/layout/hProcess4#1"/>
    <dgm:cxn modelId="{287A9117-760D-44AD-B30E-51D9C26598FB}" type="presParOf" srcId="{CCBBFFCB-7207-4368-BCD3-E40EB238EB0C}" destId="{F54CDCFF-67A3-40F9-96BF-95392360CF45}" srcOrd="1" destOrd="0" presId="urn:microsoft.com/office/officeart/2005/8/layout/hProcess4#1"/>
    <dgm:cxn modelId="{1AFEEEAE-03FE-4057-A91D-C3174A7F65D8}" type="presParOf" srcId="{CCBBFFCB-7207-4368-BCD3-E40EB238EB0C}" destId="{129D8538-565B-42D3-8AC4-A3F96D9C5BD9}" srcOrd="2" destOrd="0" presId="urn:microsoft.com/office/officeart/2005/8/layout/hProcess4#1"/>
    <dgm:cxn modelId="{D6A088E4-13A6-48C6-B8C8-99B502D350D4}" type="presParOf" srcId="{129D8538-565B-42D3-8AC4-A3F96D9C5BD9}" destId="{A78D1907-D137-4A77-A279-BC6E07D35F89}" srcOrd="0" destOrd="0" presId="urn:microsoft.com/office/officeart/2005/8/layout/hProcess4#1"/>
    <dgm:cxn modelId="{6851B887-6658-4231-82A4-3B155C504402}" type="presParOf" srcId="{A78D1907-D137-4A77-A279-BC6E07D35F89}" destId="{1F80E1FD-2424-4F2D-8F95-005DF4505814}" srcOrd="0" destOrd="0" presId="urn:microsoft.com/office/officeart/2005/8/layout/hProcess4#1"/>
    <dgm:cxn modelId="{763E61FE-F790-48DF-B28A-DFDC8155DFE4}" type="presParOf" srcId="{A78D1907-D137-4A77-A279-BC6E07D35F89}" destId="{30E7C3B4-39C6-4A5B-97FA-750220E068C4}" srcOrd="1" destOrd="0" presId="urn:microsoft.com/office/officeart/2005/8/layout/hProcess4#1"/>
    <dgm:cxn modelId="{427E4FDD-E752-40A1-9E6F-31F944A01EAE}" type="presParOf" srcId="{A78D1907-D137-4A77-A279-BC6E07D35F89}" destId="{1FB374AF-A3EA-4F97-A0A5-7E166765B978}" srcOrd="2" destOrd="0" presId="urn:microsoft.com/office/officeart/2005/8/layout/hProcess4#1"/>
    <dgm:cxn modelId="{922EE556-FBB1-4863-89D2-859506013241}" type="presParOf" srcId="{A78D1907-D137-4A77-A279-BC6E07D35F89}" destId="{C1E83D32-4A86-434B-806B-EFF98A77F992}" srcOrd="3" destOrd="0" presId="urn:microsoft.com/office/officeart/2005/8/layout/hProcess4#1"/>
    <dgm:cxn modelId="{75A9F60C-19CF-4582-B60D-8CBAE240441D}" type="presParOf" srcId="{A78D1907-D137-4A77-A279-BC6E07D35F89}" destId="{D26CFDDF-067E-4ECE-9541-E6344DA34CF4}" srcOrd="4" destOrd="0" presId="urn:microsoft.com/office/officeart/2005/8/layout/hProcess4#1"/>
    <dgm:cxn modelId="{71D35945-AC62-4CE1-8F79-543C9507A5C7}" type="presParOf" srcId="{129D8538-565B-42D3-8AC4-A3F96D9C5BD9}" destId="{E05F4F8E-05CC-4EAD-A539-4C85FB15077C}" srcOrd="1" destOrd="0" presId="urn:microsoft.com/office/officeart/2005/8/layout/hProcess4#1"/>
    <dgm:cxn modelId="{3DC60201-9E07-4F0E-AA94-19116C71A916}" type="presParOf" srcId="{129D8538-565B-42D3-8AC4-A3F96D9C5BD9}" destId="{5032DB64-E42C-4629-8A31-B53DC31D2726}" srcOrd="2" destOrd="0" presId="urn:microsoft.com/office/officeart/2005/8/layout/hProcess4#1"/>
    <dgm:cxn modelId="{513C744E-1CE7-41DF-80F8-9A3E07DA936B}" type="presParOf" srcId="{5032DB64-E42C-4629-8A31-B53DC31D2726}" destId="{CD9464EF-37C0-4313-86A3-4C2536EC88E5}" srcOrd="0" destOrd="0" presId="urn:microsoft.com/office/officeart/2005/8/layout/hProcess4#1"/>
    <dgm:cxn modelId="{C679FF59-0926-452C-BB10-10520208019F}" type="presParOf" srcId="{5032DB64-E42C-4629-8A31-B53DC31D2726}" destId="{92859D0A-21B5-4F5B-96DD-0C0BB36C377B}" srcOrd="1" destOrd="0" presId="urn:microsoft.com/office/officeart/2005/8/layout/hProcess4#1"/>
    <dgm:cxn modelId="{0DA26F67-F70D-4845-8977-70188DFFEBFE}" type="presParOf" srcId="{5032DB64-E42C-4629-8A31-B53DC31D2726}" destId="{598A6978-9CA4-416C-87FB-30E18768C336}" srcOrd="2" destOrd="0" presId="urn:microsoft.com/office/officeart/2005/8/layout/hProcess4#1"/>
    <dgm:cxn modelId="{6A0741E3-6858-47BC-ADC7-AFC664D2BCAE}" type="presParOf" srcId="{5032DB64-E42C-4629-8A31-B53DC31D2726}" destId="{05915D5D-ABEB-4703-9BDE-D886CAD136CF}" srcOrd="3" destOrd="0" presId="urn:microsoft.com/office/officeart/2005/8/layout/hProcess4#1"/>
    <dgm:cxn modelId="{E9F6D0C1-67B1-4810-9F2F-E742E7D1CF09}" type="presParOf" srcId="{5032DB64-E42C-4629-8A31-B53DC31D2726}" destId="{19F432F1-83BB-4976-806C-BAF88257F6FF}" srcOrd="4" destOrd="0" presId="urn:microsoft.com/office/officeart/2005/8/layout/hProcess4#1"/>
    <dgm:cxn modelId="{DF3AEE6A-2F97-435D-8DC1-37D3509C6BD4}" type="presParOf" srcId="{129D8538-565B-42D3-8AC4-A3F96D9C5BD9}" destId="{DD4C7417-4F0D-489B-9D53-842433F0CE46}" srcOrd="3" destOrd="0" presId="urn:microsoft.com/office/officeart/2005/8/layout/hProcess4#1"/>
    <dgm:cxn modelId="{EED0662A-6054-4E6E-AA2A-6800CBC9230C}" type="presParOf" srcId="{129D8538-565B-42D3-8AC4-A3F96D9C5BD9}" destId="{112A6DEF-FBE2-4231-954F-18500343E36A}" srcOrd="4" destOrd="0" presId="urn:microsoft.com/office/officeart/2005/8/layout/hProcess4#1"/>
    <dgm:cxn modelId="{A67314D3-603F-4274-8A02-DA901045986E}" type="presParOf" srcId="{112A6DEF-FBE2-4231-954F-18500343E36A}" destId="{08445B3E-7176-44A2-BB9A-40CD4B630B53}" srcOrd="0" destOrd="0" presId="urn:microsoft.com/office/officeart/2005/8/layout/hProcess4#1"/>
    <dgm:cxn modelId="{BC4345DC-06D7-41F4-BADB-CE4C2E50E8F6}" type="presParOf" srcId="{112A6DEF-FBE2-4231-954F-18500343E36A}" destId="{FCCFB9B7-197E-41BD-873F-8D564AA7636B}" srcOrd="1" destOrd="0" presId="urn:microsoft.com/office/officeart/2005/8/layout/hProcess4#1"/>
    <dgm:cxn modelId="{D9E3D227-B4BC-4652-9559-BAF17711A524}" type="presParOf" srcId="{112A6DEF-FBE2-4231-954F-18500343E36A}" destId="{8D3ECB4D-C311-4964-BFCC-C3FB1A86839C}" srcOrd="2" destOrd="0" presId="urn:microsoft.com/office/officeart/2005/8/layout/hProcess4#1"/>
    <dgm:cxn modelId="{59C49D29-1DB2-4BC6-AA0B-B2F51C9A45DA}" type="presParOf" srcId="{112A6DEF-FBE2-4231-954F-18500343E36A}" destId="{6B54A072-F69E-4A41-B925-90E7E3B958CE}" srcOrd="3" destOrd="0" presId="urn:microsoft.com/office/officeart/2005/8/layout/hProcess4#1"/>
    <dgm:cxn modelId="{5752B3A7-F7B6-441E-833E-FB25F2FA1050}" type="presParOf" srcId="{112A6DEF-FBE2-4231-954F-18500343E36A}" destId="{65836F7B-801F-42AA-8A9A-0B7C2F0F7E98}" srcOrd="4" destOrd="0" presId="urn:microsoft.com/office/officeart/2005/8/layout/hProcess4#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E7C3B4-39C6-4A5B-97FA-750220E068C4}">
      <dsp:nvSpPr>
        <dsp:cNvPr id="0" name=""/>
        <dsp:cNvSpPr/>
      </dsp:nvSpPr>
      <dsp:spPr>
        <a:xfrm>
          <a:off x="2946" y="393174"/>
          <a:ext cx="2896645" cy="1588553"/>
        </a:xfrm>
        <a:prstGeom prst="roundRect">
          <a:avLst>
            <a:gd name="adj" fmla="val 10000"/>
          </a:avLst>
        </a:prstGeom>
        <a:solidFill>
          <a:schemeClr val="dk2">
            <a:alpha val="90000"/>
            <a:tint val="4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71450" lvl="1" indent="-171450" algn="l" defTabSz="800100">
            <a:lnSpc>
              <a:spcPct val="90000"/>
            </a:lnSpc>
            <a:spcBef>
              <a:spcPct val="0"/>
            </a:spcBef>
            <a:spcAft>
              <a:spcPct val="15000"/>
            </a:spcAft>
            <a:buChar char="•"/>
          </a:pPr>
          <a:r>
            <a:rPr lang="zh-CN" altLang="en-US" sz="1800" kern="1200" dirty="0">
              <a:solidFill>
                <a:srgbClr val="0066CC"/>
              </a:solidFill>
            </a:rPr>
            <a:t>函数依赖的闭包</a:t>
          </a:r>
        </a:p>
        <a:p>
          <a:pPr marL="171450" lvl="1" indent="-171450" algn="l" defTabSz="800100">
            <a:lnSpc>
              <a:spcPct val="90000"/>
            </a:lnSpc>
            <a:spcBef>
              <a:spcPct val="0"/>
            </a:spcBef>
            <a:spcAft>
              <a:spcPct val="15000"/>
            </a:spcAft>
            <a:buChar char="•"/>
          </a:pPr>
          <a:r>
            <a:rPr kumimoji="1" lang="en-US" altLang="zh-CN" sz="1800" b="0" i="0" u="none" strike="noStrike" kern="1200" cap="none" spc="0" normalizeH="0" baseline="0" noProof="1">
              <a:solidFill>
                <a:srgbClr val="0066CC"/>
              </a:solidFill>
              <a:latin typeface="Arial" panose="020B0604020202020204"/>
              <a:ea typeface="+mn-ea"/>
              <a:cs typeface="Arial" panose="020B0604020202020204"/>
            </a:rPr>
            <a:t>Armstrong’s</a:t>
          </a:r>
          <a:r>
            <a:rPr kumimoji="1" lang="zh-CN" altLang="en-US" sz="1800" b="0" i="0" u="none" strike="noStrike" kern="1200" cap="none" spc="0" normalizeH="0" baseline="0" noProof="1">
              <a:solidFill>
                <a:srgbClr val="0066CC"/>
              </a:solidFill>
              <a:latin typeface="Arial" panose="020B0604020202020204"/>
              <a:ea typeface="+mn-ea"/>
              <a:cs typeface="Arial" panose="020B0604020202020204"/>
            </a:rPr>
            <a:t>公理和规则</a:t>
          </a:r>
          <a:endParaRPr lang="zh-CN" altLang="en-US" sz="1800" kern="1200" dirty="0">
            <a:solidFill>
              <a:srgbClr val="0066CC"/>
            </a:solidFill>
          </a:endParaRPr>
        </a:p>
        <a:p>
          <a:pPr marL="171450" lvl="1" indent="-171450" algn="l" defTabSz="800100">
            <a:lnSpc>
              <a:spcPct val="90000"/>
            </a:lnSpc>
            <a:spcBef>
              <a:spcPct val="0"/>
            </a:spcBef>
            <a:spcAft>
              <a:spcPct val="15000"/>
            </a:spcAft>
            <a:buChar char="•"/>
          </a:pPr>
          <a:r>
            <a:rPr lang="zh-CN" altLang="en-US" sz="1800" kern="1200" dirty="0">
              <a:solidFill>
                <a:srgbClr val="0066CC"/>
              </a:solidFill>
            </a:rPr>
            <a:t>属性集的闭包</a:t>
          </a:r>
        </a:p>
      </dsp:txBody>
      <dsp:txXfrm>
        <a:off x="39503" y="429731"/>
        <a:ext cx="2823531" cy="1175035"/>
      </dsp:txXfrm>
    </dsp:sp>
    <dsp:sp modelId="{E05F4F8E-05CC-4EAD-A539-4C85FB15077C}">
      <dsp:nvSpPr>
        <dsp:cNvPr id="0" name=""/>
        <dsp:cNvSpPr/>
      </dsp:nvSpPr>
      <dsp:spPr>
        <a:xfrm>
          <a:off x="751810" y="-394536"/>
          <a:ext cx="3983477" cy="3280688"/>
        </a:xfrm>
        <a:prstGeom prst="leftCircularArrow">
          <a:avLst>
            <a:gd name="adj1" fmla="val 2159"/>
            <a:gd name="adj2" fmla="val 259571"/>
            <a:gd name="adj3" fmla="val 1673180"/>
            <a:gd name="adj4" fmla="val 8662587"/>
            <a:gd name="adj5" fmla="val 2519"/>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1E83D32-4A86-434B-806B-EFF98A77F992}">
      <dsp:nvSpPr>
        <dsp:cNvPr id="0" name=""/>
        <dsp:cNvSpPr/>
      </dsp:nvSpPr>
      <dsp:spPr>
        <a:xfrm>
          <a:off x="698123" y="1758520"/>
          <a:ext cx="1548837" cy="421289"/>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effectLst>
                <a:outerShdw blurRad="38100" dist="38100" dir="2700000" algn="tl">
                  <a:srgbClr val="000000">
                    <a:alpha val="43137"/>
                  </a:srgbClr>
                </a:outerShdw>
              </a:effectLst>
            </a:rPr>
            <a:t>形式化理论</a:t>
          </a:r>
        </a:p>
      </dsp:txBody>
      <dsp:txXfrm>
        <a:off x="710462" y="1770859"/>
        <a:ext cx="1524159" cy="396611"/>
      </dsp:txXfrm>
    </dsp:sp>
    <dsp:sp modelId="{92859D0A-21B5-4F5B-96DD-0C0BB36C377B}">
      <dsp:nvSpPr>
        <dsp:cNvPr id="0" name=""/>
        <dsp:cNvSpPr/>
      </dsp:nvSpPr>
      <dsp:spPr>
        <a:xfrm>
          <a:off x="3236835" y="383427"/>
          <a:ext cx="2396447" cy="1608047"/>
        </a:xfrm>
        <a:prstGeom prst="roundRect">
          <a:avLst>
            <a:gd name="adj" fmla="val 10000"/>
          </a:avLst>
        </a:prstGeom>
        <a:solidFill>
          <a:schemeClr val="dk2">
            <a:alpha val="90000"/>
            <a:tint val="4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71450" lvl="1" indent="-171450" algn="l" defTabSz="800100">
            <a:lnSpc>
              <a:spcPct val="90000"/>
            </a:lnSpc>
            <a:spcBef>
              <a:spcPct val="0"/>
            </a:spcBef>
            <a:spcAft>
              <a:spcPct val="15000"/>
            </a:spcAft>
            <a:buChar char="•"/>
          </a:pPr>
          <a:r>
            <a:rPr lang="en-US" altLang="zh-CN" sz="1800" kern="1200" dirty="0">
              <a:solidFill>
                <a:srgbClr val="0066CC"/>
              </a:solidFill>
            </a:rPr>
            <a:t>BCNF</a:t>
          </a:r>
          <a:r>
            <a:rPr lang="zh-CN" altLang="en-US" sz="1800" kern="1200" dirty="0">
              <a:solidFill>
                <a:srgbClr val="0066CC"/>
              </a:solidFill>
            </a:rPr>
            <a:t>判定算法</a:t>
          </a:r>
        </a:p>
        <a:p>
          <a:pPr marL="171450" lvl="1" indent="-171450" algn="l" defTabSz="800100">
            <a:lnSpc>
              <a:spcPct val="90000"/>
            </a:lnSpc>
            <a:spcBef>
              <a:spcPct val="0"/>
            </a:spcBef>
            <a:spcAft>
              <a:spcPct val="15000"/>
            </a:spcAft>
            <a:buChar char="•"/>
          </a:pPr>
          <a:r>
            <a:rPr lang="en-US" altLang="zh-CN" sz="1800" kern="1200" dirty="0">
              <a:solidFill>
                <a:srgbClr val="0066CC"/>
              </a:solidFill>
            </a:rPr>
            <a:t>3NF</a:t>
          </a:r>
          <a:endParaRPr lang="zh-CN" altLang="en-US" sz="1800" kern="1200" dirty="0">
            <a:solidFill>
              <a:srgbClr val="0066CC"/>
            </a:solidFill>
          </a:endParaRPr>
        </a:p>
      </dsp:txBody>
      <dsp:txXfrm>
        <a:off x="3273841" y="765014"/>
        <a:ext cx="2322435" cy="1189453"/>
      </dsp:txXfrm>
    </dsp:sp>
    <dsp:sp modelId="{DD4C7417-4F0D-489B-9D53-842433F0CE46}">
      <dsp:nvSpPr>
        <dsp:cNvPr id="0" name=""/>
        <dsp:cNvSpPr/>
      </dsp:nvSpPr>
      <dsp:spPr>
        <a:xfrm>
          <a:off x="3621752" y="-527437"/>
          <a:ext cx="3807740" cy="3016916"/>
        </a:xfrm>
        <a:prstGeom prst="circularArrow">
          <a:avLst>
            <a:gd name="adj1" fmla="val 2347"/>
            <a:gd name="adj2" fmla="val 283495"/>
            <a:gd name="adj3" fmla="val 19978781"/>
            <a:gd name="adj4" fmla="val 13013298"/>
            <a:gd name="adj5" fmla="val 2739"/>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5915D5D-ABEB-4703-9BDE-D886CAD136CF}">
      <dsp:nvSpPr>
        <dsp:cNvPr id="0" name=""/>
        <dsp:cNvSpPr/>
      </dsp:nvSpPr>
      <dsp:spPr>
        <a:xfrm>
          <a:off x="3684174" y="164602"/>
          <a:ext cx="1392671" cy="421289"/>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effectLst>
                <a:outerShdw blurRad="38100" dist="38100" dir="2700000" algn="tl">
                  <a:srgbClr val="000000">
                    <a:alpha val="43137"/>
                  </a:srgbClr>
                </a:outerShdw>
              </a:effectLst>
            </a:rPr>
            <a:t>无损分解</a:t>
          </a:r>
        </a:p>
      </dsp:txBody>
      <dsp:txXfrm>
        <a:off x="3696513" y="176941"/>
        <a:ext cx="1367993" cy="396611"/>
      </dsp:txXfrm>
    </dsp:sp>
    <dsp:sp modelId="{FCCFB9B7-197E-41BD-873F-8D564AA7636B}">
      <dsp:nvSpPr>
        <dsp:cNvPr id="0" name=""/>
        <dsp:cNvSpPr/>
      </dsp:nvSpPr>
      <dsp:spPr>
        <a:xfrm>
          <a:off x="5970525" y="383481"/>
          <a:ext cx="2011200" cy="1607938"/>
        </a:xfrm>
        <a:prstGeom prst="roundRect">
          <a:avLst>
            <a:gd name="adj" fmla="val 10000"/>
          </a:avLst>
        </a:prstGeom>
        <a:solidFill>
          <a:schemeClr val="dk2">
            <a:alpha val="90000"/>
            <a:tint val="4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3825" tIns="123825" rIns="123825" bIns="123825" numCol="1" spcCol="1270" anchor="t" anchorCtr="0">
          <a:noAutofit/>
        </a:bodyPr>
        <a:lstStyle/>
        <a:p>
          <a:pPr marL="171450" lvl="1" indent="-171450" algn="l" defTabSz="800100">
            <a:lnSpc>
              <a:spcPct val="90000"/>
            </a:lnSpc>
            <a:spcBef>
              <a:spcPct val="0"/>
            </a:spcBef>
            <a:spcAft>
              <a:spcPct val="15000"/>
            </a:spcAft>
            <a:buChar char="•"/>
          </a:pPr>
          <a:endParaRPr lang="zh-CN" altLang="en-US" sz="1800" kern="1200" dirty="0">
            <a:solidFill>
              <a:srgbClr val="0066CC"/>
            </a:solidFill>
          </a:endParaRPr>
        </a:p>
        <a:p>
          <a:pPr marL="171450" lvl="1" indent="-171450" algn="l" defTabSz="800100">
            <a:lnSpc>
              <a:spcPct val="90000"/>
            </a:lnSpc>
            <a:spcBef>
              <a:spcPct val="0"/>
            </a:spcBef>
            <a:spcAft>
              <a:spcPct val="15000"/>
            </a:spcAft>
            <a:buChar char="•"/>
          </a:pPr>
          <a:r>
            <a:rPr lang="zh-CN" altLang="en-US" sz="1800" kern="1200" dirty="0">
              <a:solidFill>
                <a:srgbClr val="0066CC"/>
              </a:solidFill>
            </a:rPr>
            <a:t>判定算法</a:t>
          </a:r>
        </a:p>
        <a:p>
          <a:pPr marL="171450" lvl="1" indent="-171450" algn="l" defTabSz="800100">
            <a:lnSpc>
              <a:spcPct val="90000"/>
            </a:lnSpc>
            <a:spcBef>
              <a:spcPct val="0"/>
            </a:spcBef>
            <a:spcAft>
              <a:spcPct val="15000"/>
            </a:spcAft>
            <a:buChar char="•"/>
          </a:pPr>
          <a:r>
            <a:rPr lang="en-US" altLang="zh-CN" sz="1800" kern="1200" dirty="0">
              <a:solidFill>
                <a:srgbClr val="0066CC"/>
              </a:solidFill>
            </a:rPr>
            <a:t>3NF</a:t>
          </a:r>
          <a:endParaRPr lang="zh-CN" altLang="en-US" sz="1800" kern="1200" dirty="0">
            <a:solidFill>
              <a:srgbClr val="0066CC"/>
            </a:solidFill>
          </a:endParaRPr>
        </a:p>
      </dsp:txBody>
      <dsp:txXfrm>
        <a:off x="6007528" y="420484"/>
        <a:ext cx="1937194" cy="1189374"/>
      </dsp:txXfrm>
    </dsp:sp>
    <dsp:sp modelId="{6B54A072-F69E-4A41-B925-90E7E3B958CE}">
      <dsp:nvSpPr>
        <dsp:cNvPr id="0" name=""/>
        <dsp:cNvSpPr/>
      </dsp:nvSpPr>
      <dsp:spPr>
        <a:xfrm>
          <a:off x="6485314" y="1770064"/>
          <a:ext cx="1059403" cy="421289"/>
        </a:xfrm>
        <a:prstGeom prst="roundRect">
          <a:avLst>
            <a:gd name="adj" fmla="val 10000"/>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保持依赖</a:t>
          </a:r>
        </a:p>
      </dsp:txBody>
      <dsp:txXfrm>
        <a:off x="6497653" y="1782403"/>
        <a:ext cx="1034725" cy="396611"/>
      </dsp:txXfrm>
    </dsp:sp>
  </dsp:spTree>
</dsp:drawing>
</file>

<file path=ppt/diagrams/layout1.xml><?xml version="1.0" encoding="utf-8"?>
<dgm:layoutDef xmlns:dgm="http://schemas.openxmlformats.org/drawingml/2006/diagram" xmlns:a="http://schemas.openxmlformats.org/drawingml/2006/main" uniqueId="urn:microsoft.com/office/officeart/2005/8/layout/hProcess4#1">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srcNode" val="parentNode1"/>
              <dgm:param type="dstNode" val="connSite2"/>
              <dgm:param type="connRout" val="curve"/>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srcNode" val="parentNode2"/>
                <dgm:param type="dstNode" val="connSite1"/>
                <dgm:param type="connRout" val="curve"/>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 Id="rId4" Type="http://schemas.openxmlformats.org/officeDocument/2006/relationships/image" Target="../media/image1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8370" name="Rectangle 2"/>
          <p:cNvSpPr>
            <a:spLocks noGrp="1" noChangeArrowheads="1"/>
          </p:cNvSpPr>
          <p:nvPr>
            <p:ph type="hdr" sz="quarter"/>
          </p:nvPr>
        </p:nvSpPr>
        <p:spPr bwMode="auto">
          <a:xfrm>
            <a:off x="0" y="0"/>
            <a:ext cx="3032125" cy="463550"/>
          </a:xfrm>
          <a:prstGeom prst="rect">
            <a:avLst/>
          </a:prstGeom>
          <a:noFill/>
          <a:ln>
            <a:noFill/>
          </a:ln>
          <a:effectLst/>
        </p:spPr>
        <p:txBody>
          <a:bodyPr vert="horz" wrap="none" lIns="93031" tIns="46516" rIns="93031" bIns="46516" numCol="1" anchor="t" anchorCtr="0" compatLnSpc="1"/>
          <a:lstStyle>
            <a:lvl1pPr defTabSz="930275">
              <a:defRPr sz="1200"/>
            </a:lvl1pPr>
          </a:lstStyle>
          <a:p>
            <a:pPr marL="0" marR="0" lvl="0" indent="0" algn="l" defTabSz="93027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58371" name="Rectangle 3"/>
          <p:cNvSpPr>
            <a:spLocks noGrp="1" noChangeArrowheads="1"/>
          </p:cNvSpPr>
          <p:nvPr>
            <p:ph type="dt" sz="quarter" idx="1"/>
          </p:nvPr>
        </p:nvSpPr>
        <p:spPr bwMode="auto">
          <a:xfrm>
            <a:off x="3965575" y="0"/>
            <a:ext cx="3032125" cy="463550"/>
          </a:xfrm>
          <a:prstGeom prst="rect">
            <a:avLst/>
          </a:prstGeom>
          <a:noFill/>
          <a:ln>
            <a:noFill/>
          </a:ln>
          <a:effectLst/>
        </p:spPr>
        <p:txBody>
          <a:bodyPr vert="horz" wrap="none" lIns="93031" tIns="46516" rIns="93031" bIns="46516" numCol="1" anchor="t" anchorCtr="0" compatLnSpc="1"/>
          <a:lstStyle>
            <a:lvl1pPr algn="r" defTabSz="930275">
              <a:defRPr sz="1200"/>
            </a:lvl1pPr>
          </a:lstStyle>
          <a:p>
            <a:pPr marL="0" marR="0" lvl="0" indent="0" algn="r" defTabSz="93027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58372" name="Rectangle 4"/>
          <p:cNvSpPr>
            <a:spLocks noGrp="1" noChangeArrowheads="1"/>
          </p:cNvSpPr>
          <p:nvPr>
            <p:ph type="ftr" sz="quarter" idx="2"/>
          </p:nvPr>
        </p:nvSpPr>
        <p:spPr bwMode="auto">
          <a:xfrm>
            <a:off x="0" y="8820150"/>
            <a:ext cx="3032125" cy="463550"/>
          </a:xfrm>
          <a:prstGeom prst="rect">
            <a:avLst/>
          </a:prstGeom>
          <a:noFill/>
          <a:ln>
            <a:noFill/>
          </a:ln>
          <a:effectLst/>
        </p:spPr>
        <p:txBody>
          <a:bodyPr vert="horz" wrap="none" lIns="93031" tIns="46516" rIns="93031" bIns="46516" numCol="1" anchor="b" anchorCtr="0" compatLnSpc="1"/>
          <a:lstStyle>
            <a:lvl1pPr defTabSz="930275">
              <a:defRPr sz="1200"/>
            </a:lvl1pPr>
          </a:lstStyle>
          <a:p>
            <a:pPr marL="0" marR="0" lvl="0" indent="0" algn="l" defTabSz="93027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58373" name="Rectangle 5"/>
          <p:cNvSpPr>
            <a:spLocks noGrp="1" noChangeArrowheads="1"/>
          </p:cNvSpPr>
          <p:nvPr>
            <p:ph type="sldNum" sz="quarter" idx="3"/>
          </p:nvPr>
        </p:nvSpPr>
        <p:spPr bwMode="auto">
          <a:xfrm>
            <a:off x="3965575" y="8820150"/>
            <a:ext cx="3032125" cy="463550"/>
          </a:xfrm>
          <a:prstGeom prst="rect">
            <a:avLst/>
          </a:prstGeom>
          <a:noFill/>
          <a:ln>
            <a:noFill/>
          </a:ln>
          <a:effectLst/>
        </p:spPr>
        <p:txBody>
          <a:bodyPr vert="horz" wrap="none" lIns="93031" tIns="46516" rIns="93031" bIns="46516" numCol="1" anchor="b" anchorCtr="0" compatLnSpc="1"/>
          <a:lstStyle/>
          <a:p>
            <a:pPr lvl="0" algn="r" defTabSz="930275" fontAlgn="base"/>
            <a:fld id="{9A0DB2DC-4C9A-4742-B13C-FB6460FD3503}" type="slidenum">
              <a:rPr lang="en-US" altLang="zh-CN" sz="1200" strike="noStrike" noProof="1" dirty="0">
                <a:latin typeface="Helvetica" panose="020B0604020202030204" charset="0"/>
                <a:ea typeface="宋体" panose="02010600030101010101" pitchFamily="2" charset="-122"/>
                <a:cs typeface="+mn-cs"/>
              </a:rPr>
              <a:t>‹#›</a:t>
            </a:fld>
            <a:endParaRPr lang="en-US" altLang="zh-CN" sz="1200" strike="noStrike" noProof="1"/>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2"/>
          <p:cNvSpPr>
            <a:spLocks noGrp="1" noChangeArrowheads="1"/>
          </p:cNvSpPr>
          <p:nvPr>
            <p:ph type="hdr" sz="quarter"/>
          </p:nvPr>
        </p:nvSpPr>
        <p:spPr bwMode="auto">
          <a:xfrm>
            <a:off x="0" y="0"/>
            <a:ext cx="3032125" cy="463550"/>
          </a:xfrm>
          <a:prstGeom prst="rect">
            <a:avLst/>
          </a:prstGeom>
          <a:noFill/>
          <a:ln>
            <a:noFill/>
          </a:ln>
          <a:effectLst/>
        </p:spPr>
        <p:txBody>
          <a:bodyPr vert="horz" wrap="none" lIns="93031" tIns="46516" rIns="93031" bIns="46516" numCol="1" anchor="t" anchorCtr="0" compatLnSpc="1"/>
          <a:lstStyle>
            <a:lvl1pPr defTabSz="930275">
              <a:defRPr sz="1200"/>
            </a:lvl1pPr>
          </a:lstStyle>
          <a:p>
            <a:pPr marL="0" marR="0" lvl="0" indent="0" algn="l" defTabSz="93027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52227" name="Rectangle 3"/>
          <p:cNvSpPr>
            <a:spLocks noGrp="1" noChangeArrowheads="1"/>
          </p:cNvSpPr>
          <p:nvPr>
            <p:ph type="dt" idx="1"/>
          </p:nvPr>
        </p:nvSpPr>
        <p:spPr bwMode="auto">
          <a:xfrm>
            <a:off x="3965575" y="0"/>
            <a:ext cx="3032125" cy="463550"/>
          </a:xfrm>
          <a:prstGeom prst="rect">
            <a:avLst/>
          </a:prstGeom>
          <a:noFill/>
          <a:ln>
            <a:noFill/>
          </a:ln>
          <a:effectLst/>
        </p:spPr>
        <p:txBody>
          <a:bodyPr vert="horz" wrap="none" lIns="93031" tIns="46516" rIns="93031" bIns="46516" numCol="1" anchor="t" anchorCtr="0" compatLnSpc="1"/>
          <a:lstStyle>
            <a:lvl1pPr algn="r" defTabSz="930275">
              <a:defRPr sz="1200"/>
            </a:lvl1pPr>
          </a:lstStyle>
          <a:p>
            <a:pPr marL="0" marR="0" lvl="0" indent="0" algn="r" defTabSz="93027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4100" name="Rectangle 4"/>
          <p:cNvSpPr>
            <a:spLocks noGrp="1" noRot="1" noChangeAspect="1" noTextEdit="1"/>
          </p:cNvSpPr>
          <p:nvPr>
            <p:ph type="sldImg"/>
          </p:nvPr>
        </p:nvSpPr>
        <p:spPr>
          <a:xfrm>
            <a:off x="1177925" y="696913"/>
            <a:ext cx="4641850" cy="3481387"/>
          </a:xfrm>
          <a:prstGeom prst="rect">
            <a:avLst/>
          </a:prstGeom>
          <a:noFill/>
          <a:ln w="9525" cap="flat" cmpd="sng">
            <a:solidFill>
              <a:srgbClr val="000000"/>
            </a:solidFill>
            <a:prstDash val="solid"/>
            <a:miter/>
            <a:headEnd type="none" w="med" len="med"/>
            <a:tailEnd type="none" w="med" len="med"/>
          </a:ln>
        </p:spPr>
      </p:sp>
      <p:sp>
        <p:nvSpPr>
          <p:cNvPr id="52229" name="Rectangle 5"/>
          <p:cNvSpPr>
            <a:spLocks noGrp="1" noChangeArrowheads="1"/>
          </p:cNvSpPr>
          <p:nvPr>
            <p:ph type="body" sz="quarter" idx="3"/>
          </p:nvPr>
        </p:nvSpPr>
        <p:spPr bwMode="auto">
          <a:xfrm>
            <a:off x="933450" y="4410075"/>
            <a:ext cx="5130800" cy="4176713"/>
          </a:xfrm>
          <a:prstGeom prst="rect">
            <a:avLst/>
          </a:prstGeom>
          <a:noFill/>
          <a:ln>
            <a:noFill/>
          </a:ln>
          <a:effectLst/>
        </p:spPr>
        <p:txBody>
          <a:bodyPr vert="horz"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rPr>
              <a:t>Click to edit Master text styles</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rPr>
              <a:t>Second level</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rPr>
              <a:t>Third level</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rPr>
              <a:t>Fourth level</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rPr>
              <a:t>Fifth level</a:t>
            </a:r>
          </a:p>
        </p:txBody>
      </p:sp>
      <p:sp>
        <p:nvSpPr>
          <p:cNvPr id="52230" name="Rectangle 6"/>
          <p:cNvSpPr>
            <a:spLocks noGrp="1" noChangeArrowheads="1"/>
          </p:cNvSpPr>
          <p:nvPr>
            <p:ph type="ftr" sz="quarter" idx="4"/>
          </p:nvPr>
        </p:nvSpPr>
        <p:spPr bwMode="auto">
          <a:xfrm>
            <a:off x="0" y="8820150"/>
            <a:ext cx="3032125" cy="463550"/>
          </a:xfrm>
          <a:prstGeom prst="rect">
            <a:avLst/>
          </a:prstGeom>
          <a:noFill/>
          <a:ln>
            <a:noFill/>
          </a:ln>
          <a:effectLst/>
        </p:spPr>
        <p:txBody>
          <a:bodyPr vert="horz" wrap="none" lIns="93031" tIns="46516" rIns="93031" bIns="46516" numCol="1" anchor="b" anchorCtr="0" compatLnSpc="1"/>
          <a:lstStyle>
            <a:lvl1pPr defTabSz="930275">
              <a:defRPr sz="1200"/>
            </a:lvl1pPr>
          </a:lstStyle>
          <a:p>
            <a:pPr marL="0" marR="0" lvl="0" indent="0" algn="l" defTabSz="930275"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52231" name="Rectangle 7"/>
          <p:cNvSpPr>
            <a:spLocks noGrp="1" noChangeArrowheads="1"/>
          </p:cNvSpPr>
          <p:nvPr>
            <p:ph type="sldNum" sz="quarter" idx="5"/>
          </p:nvPr>
        </p:nvSpPr>
        <p:spPr bwMode="auto">
          <a:xfrm>
            <a:off x="3965575" y="8820150"/>
            <a:ext cx="3032125" cy="463550"/>
          </a:xfrm>
          <a:prstGeom prst="rect">
            <a:avLst/>
          </a:prstGeom>
          <a:noFill/>
          <a:ln>
            <a:noFill/>
          </a:ln>
          <a:effectLst/>
        </p:spPr>
        <p:txBody>
          <a:bodyPr vert="horz" wrap="none" lIns="93031" tIns="46516" rIns="93031" bIns="46516" numCol="1" anchor="b" anchorCtr="0" compatLnSpc="1"/>
          <a:lstStyle/>
          <a:p>
            <a:pPr lvl="0" algn="r" defTabSz="930275" fontAlgn="base"/>
            <a:fld id="{9A0DB2DC-4C9A-4742-B13C-FB6460FD3503}" type="slidenum">
              <a:rPr lang="en-US" altLang="zh-CN" sz="1200" strike="noStrike" noProof="1" dirty="0">
                <a:latin typeface="Helvetica" panose="020B0604020202030204" charset="0"/>
                <a:ea typeface="宋体" panose="02010600030101010101" pitchFamily="2" charset="-122"/>
                <a:cs typeface="+mn-cs"/>
              </a:rPr>
              <a:t>‹#›</a:t>
            </a:fld>
            <a:endParaRPr lang="en-US" altLang="zh-CN" sz="1200" strike="noStrike" noProof="1"/>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charset="0"/>
        <a:ea typeface="宋体" panose="02010600030101010101" pitchFamily="2" charset="-122"/>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latin typeface="Helvetica" panose="020B0604020202030204" charset="0"/>
                <a:ea typeface="宋体" panose="02010600030101010101" pitchFamily="2" charset="-122"/>
              </a:rPr>
              <a:t>1</a:t>
            </a:fld>
            <a:endParaRPr lang="en-US" altLang="zh-CN" sz="1200" dirty="0">
              <a:latin typeface="Helvetica" panose="020B0604020202030204" charset="0"/>
              <a:ea typeface="宋体" panose="02010600030101010101" pitchFamily="2" charset="-122"/>
            </a:endParaRPr>
          </a:p>
        </p:txBody>
      </p:sp>
      <p:sp>
        <p:nvSpPr>
          <p:cNvPr id="6146" name="Rectangle 2"/>
          <p:cNvSpPr>
            <a:spLocks noGrp="1" noRot="1" noChangeAspect="1" noTextEdit="1"/>
          </p:cNvSpPr>
          <p:nvPr>
            <p:ph type="sldImg"/>
          </p:nvPr>
        </p:nvSpPr>
        <p:spPr>
          <a:xfrm>
            <a:off x="1177925" y="695325"/>
            <a:ext cx="4641850" cy="3481388"/>
          </a:xfrm>
        </p:spPr>
      </p:sp>
      <p:sp>
        <p:nvSpPr>
          <p:cNvPr id="647171"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2</a:t>
            </a:fld>
            <a:endParaRPr lang="en-US" altLang="zh-CN" sz="1200" dirty="0"/>
          </a:p>
        </p:txBody>
      </p:sp>
      <p:sp>
        <p:nvSpPr>
          <p:cNvPr id="8194" name="Rectangle 2"/>
          <p:cNvSpPr>
            <a:spLocks noGrp="1" noRot="1" noChangeAspect="1" noTextEdit="1"/>
          </p:cNvSpPr>
          <p:nvPr>
            <p:ph type="sldImg"/>
          </p:nvPr>
        </p:nvSpPr>
        <p:spPr>
          <a:xfrm>
            <a:off x="1177925" y="695325"/>
            <a:ext cx="4641850" cy="3481388"/>
          </a:xfrm>
        </p:spPr>
      </p:sp>
      <p:sp>
        <p:nvSpPr>
          <p:cNvPr id="649219"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3</a:t>
            </a:fld>
            <a:endParaRPr lang="en-US" altLang="zh-CN" sz="1200"/>
          </a:p>
        </p:txBody>
      </p:sp>
      <p:sp>
        <p:nvSpPr>
          <p:cNvPr id="82946" name="Rectangle 2"/>
          <p:cNvSpPr>
            <a:spLocks noGrp="1" noRot="1" noChangeAspect="1" noTextEdit="1"/>
          </p:cNvSpPr>
          <p:nvPr>
            <p:ph type="sldImg"/>
          </p:nvPr>
        </p:nvSpPr>
        <p:spPr/>
      </p:sp>
      <p:sp>
        <p:nvSpPr>
          <p:cNvPr id="82947"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extLst>
      <p:ext uri="{BB962C8B-B14F-4D97-AF65-F5344CB8AC3E}">
        <p14:creationId xmlns:p14="http://schemas.microsoft.com/office/powerpoint/2010/main" val="612752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4</a:t>
            </a:fld>
            <a:endParaRPr lang="en-US" altLang="zh-CN" sz="1200" dirty="0"/>
          </a:p>
        </p:txBody>
      </p:sp>
      <p:sp>
        <p:nvSpPr>
          <p:cNvPr id="10242" name="Rectangle 2"/>
          <p:cNvSpPr>
            <a:spLocks noGrp="1" noRot="1" noChangeAspect="1" noTextEdit="1"/>
          </p:cNvSpPr>
          <p:nvPr>
            <p:ph type="sldImg"/>
          </p:nvPr>
        </p:nvSpPr>
        <p:spPr>
          <a:xfrm>
            <a:off x="1177925" y="695325"/>
            <a:ext cx="4641850" cy="3481388"/>
          </a:xfrm>
        </p:spPr>
      </p:sp>
      <p:sp>
        <p:nvSpPr>
          <p:cNvPr id="653315"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7"/>
          <p:cNvSpPr txBox="1">
            <a:spLocks noGrp="1"/>
          </p:cNvSpPr>
          <p:nvPr>
            <p:ph type="sldNum" sz="quarter"/>
          </p:nvPr>
        </p:nvSpPr>
        <p:spPr>
          <a:xfrm>
            <a:off x="3973513" y="8832850"/>
            <a:ext cx="3036887" cy="463550"/>
          </a:xfrm>
          <a:prstGeom prst="rect">
            <a:avLst/>
          </a:prstGeom>
          <a:noFill/>
          <a:ln w="9525">
            <a:noFill/>
          </a:ln>
        </p:spPr>
        <p:txBody>
          <a:bodyPr vert="horz" wrap="none" lIns="93151" tIns="46576" rIns="93151" bIns="46576" anchor="b" anchorCtr="0"/>
          <a:lstStyle/>
          <a:p>
            <a:pPr lvl="0" algn="r" defTabSz="929005" eaLnBrk="0" hangingPunct="0"/>
            <a:fld id="{9A0DB2DC-4C9A-4742-B13C-FB6460FD3503}" type="slidenum">
              <a:rPr lang="en-US" altLang="zh-CN" sz="1200"/>
              <a:t>5</a:t>
            </a:fld>
            <a:endParaRPr lang="en-US" altLang="zh-CN" sz="1200"/>
          </a:p>
        </p:txBody>
      </p:sp>
      <p:sp>
        <p:nvSpPr>
          <p:cNvPr id="82946" name="Rectangle 2"/>
          <p:cNvSpPr>
            <a:spLocks noGrp="1" noRot="1" noChangeAspect="1" noTextEdit="1"/>
          </p:cNvSpPr>
          <p:nvPr>
            <p:ph type="sldImg"/>
          </p:nvPr>
        </p:nvSpPr>
        <p:spPr/>
      </p:sp>
      <p:sp>
        <p:nvSpPr>
          <p:cNvPr id="82947" name="Rectangle 3"/>
          <p:cNvSpPr>
            <a:spLocks noGrp="1"/>
          </p:cNvSpPr>
          <p:nvPr>
            <p:ph type="body"/>
          </p:nvPr>
        </p:nvSpPr>
        <p:spPr>
          <a:xfrm>
            <a:off x="933450" y="4416425"/>
            <a:ext cx="5143500" cy="4181475"/>
          </a:xfrm>
        </p:spPr>
        <p:txBody>
          <a:bodyPr wrap="none" lIns="93151" tIns="46576" rIns="93151" bIns="46576" anchor="t" anchorCtr="0"/>
          <a:lstStyle/>
          <a:p>
            <a:pPr lvl="0"/>
            <a:endParaRPr lang="en-US"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6</a:t>
            </a:fld>
            <a:endParaRPr lang="en-US" altLang="zh-CN" sz="1200" dirty="0"/>
          </a:p>
        </p:txBody>
      </p:sp>
      <p:sp>
        <p:nvSpPr>
          <p:cNvPr id="12290" name="Rectangle 2"/>
          <p:cNvSpPr>
            <a:spLocks noGrp="1" noRot="1" noChangeAspect="1" noTextEdit="1"/>
          </p:cNvSpPr>
          <p:nvPr>
            <p:ph type="sldImg"/>
          </p:nvPr>
        </p:nvSpPr>
        <p:spPr>
          <a:xfrm>
            <a:off x="1177925" y="695325"/>
            <a:ext cx="4641850" cy="3481388"/>
          </a:xfrm>
        </p:spPr>
      </p:sp>
      <p:sp>
        <p:nvSpPr>
          <p:cNvPr id="655363"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7</a:t>
            </a:fld>
            <a:endParaRPr lang="en-US" altLang="zh-CN" sz="1200" dirty="0"/>
          </a:p>
        </p:txBody>
      </p:sp>
      <p:sp>
        <p:nvSpPr>
          <p:cNvPr id="14338" name="Rectangle 2"/>
          <p:cNvSpPr>
            <a:spLocks noGrp="1" noRot="1" noChangeAspect="1" noTextEdit="1"/>
          </p:cNvSpPr>
          <p:nvPr>
            <p:ph type="sldImg"/>
          </p:nvPr>
        </p:nvSpPr>
        <p:spPr>
          <a:xfrm>
            <a:off x="1177925" y="695325"/>
            <a:ext cx="4641850" cy="3481388"/>
          </a:xfrm>
        </p:spPr>
      </p:sp>
      <p:sp>
        <p:nvSpPr>
          <p:cNvPr id="657411"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8</a:t>
            </a:fld>
            <a:endParaRPr lang="en-US" altLang="zh-CN" sz="1200" dirty="0"/>
          </a:p>
        </p:txBody>
      </p:sp>
      <p:sp>
        <p:nvSpPr>
          <p:cNvPr id="16386" name="Rectangle 2"/>
          <p:cNvSpPr>
            <a:spLocks noGrp="1" noRot="1" noChangeAspect="1" noTextEdit="1"/>
          </p:cNvSpPr>
          <p:nvPr>
            <p:ph type="sldImg"/>
          </p:nvPr>
        </p:nvSpPr>
        <p:spPr>
          <a:xfrm>
            <a:off x="1177925" y="695325"/>
            <a:ext cx="4641850" cy="3481388"/>
          </a:xfrm>
        </p:spPr>
      </p:sp>
      <p:sp>
        <p:nvSpPr>
          <p:cNvPr id="659459"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9</a:t>
            </a:fld>
            <a:endParaRPr lang="en-US" altLang="zh-CN" sz="1200" dirty="0"/>
          </a:p>
        </p:txBody>
      </p:sp>
      <p:sp>
        <p:nvSpPr>
          <p:cNvPr id="18434" name="Rectangle 2"/>
          <p:cNvSpPr>
            <a:spLocks noGrp="1" noRot="1" noChangeAspect="1" noTextEdit="1"/>
          </p:cNvSpPr>
          <p:nvPr>
            <p:ph type="sldImg"/>
          </p:nvPr>
        </p:nvSpPr>
        <p:spPr>
          <a:xfrm>
            <a:off x="1176338" y="693738"/>
            <a:ext cx="4643437" cy="3482975"/>
          </a:xfrm>
        </p:spPr>
      </p:sp>
      <p:sp>
        <p:nvSpPr>
          <p:cNvPr id="661507" name="Rectangle 3"/>
          <p:cNvSpPr>
            <a:spLocks noGrp="1" noChangeArrowheads="1"/>
          </p:cNvSpPr>
          <p:nvPr>
            <p:ph type="body" idx="1"/>
          </p:nvPr>
        </p:nvSpPr>
        <p:spPr>
          <a:xfrm>
            <a:off x="931863" y="4410075"/>
            <a:ext cx="5133975" cy="4179888"/>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10</a:t>
            </a:fld>
            <a:endParaRPr lang="en-US" altLang="zh-CN" sz="1200" dirty="0"/>
          </a:p>
        </p:txBody>
      </p:sp>
      <p:sp>
        <p:nvSpPr>
          <p:cNvPr id="20482" name="Rectangle 2"/>
          <p:cNvSpPr>
            <a:spLocks noGrp="1" noRot="1" noChangeAspect="1" noTextEdit="1"/>
          </p:cNvSpPr>
          <p:nvPr>
            <p:ph type="sldImg"/>
          </p:nvPr>
        </p:nvSpPr>
        <p:spPr>
          <a:xfrm>
            <a:off x="1177925" y="695325"/>
            <a:ext cx="4641850" cy="3481388"/>
          </a:xfrm>
        </p:spPr>
      </p:sp>
      <p:sp>
        <p:nvSpPr>
          <p:cNvPr id="663555"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11</a:t>
            </a:fld>
            <a:endParaRPr lang="en-US" altLang="zh-CN" sz="1200" dirty="0"/>
          </a:p>
        </p:txBody>
      </p:sp>
      <p:sp>
        <p:nvSpPr>
          <p:cNvPr id="22530" name="Rectangle 2"/>
          <p:cNvSpPr>
            <a:spLocks noGrp="1" noRot="1" noChangeAspect="1" noTextEdit="1"/>
          </p:cNvSpPr>
          <p:nvPr>
            <p:ph type="sldImg"/>
          </p:nvPr>
        </p:nvSpPr>
        <p:spPr>
          <a:xfrm>
            <a:off x="1177925" y="695325"/>
            <a:ext cx="4641850" cy="3481388"/>
          </a:xfrm>
        </p:spPr>
      </p:sp>
      <p:sp>
        <p:nvSpPr>
          <p:cNvPr id="665603"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12</a:t>
            </a:fld>
            <a:endParaRPr lang="en-US" altLang="zh-CN" sz="1200" dirty="0"/>
          </a:p>
        </p:txBody>
      </p:sp>
      <p:sp>
        <p:nvSpPr>
          <p:cNvPr id="24578" name="Rectangle 2"/>
          <p:cNvSpPr>
            <a:spLocks noGrp="1" noRot="1" noChangeAspect="1" noTextEdit="1"/>
          </p:cNvSpPr>
          <p:nvPr>
            <p:ph type="sldImg"/>
          </p:nvPr>
        </p:nvSpPr>
        <p:spPr>
          <a:xfrm>
            <a:off x="1177925" y="695325"/>
            <a:ext cx="4641850" cy="3481388"/>
          </a:xfrm>
        </p:spPr>
      </p:sp>
      <p:sp>
        <p:nvSpPr>
          <p:cNvPr id="667651"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14</a:t>
            </a:fld>
            <a:endParaRPr lang="en-US" altLang="zh-CN" sz="1200" dirty="0"/>
          </a:p>
        </p:txBody>
      </p:sp>
      <p:sp>
        <p:nvSpPr>
          <p:cNvPr id="26626" name="Rectangle 2"/>
          <p:cNvSpPr>
            <a:spLocks noGrp="1" noRot="1" noChangeAspect="1" noTextEdit="1"/>
          </p:cNvSpPr>
          <p:nvPr>
            <p:ph type="sldImg"/>
          </p:nvPr>
        </p:nvSpPr>
        <p:spPr>
          <a:xfrm>
            <a:off x="1177925" y="695325"/>
            <a:ext cx="4641850" cy="3481388"/>
          </a:xfrm>
        </p:spPr>
      </p:sp>
      <p:sp>
        <p:nvSpPr>
          <p:cNvPr id="669699"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15</a:t>
            </a:fld>
            <a:endParaRPr lang="en-US" altLang="zh-CN" sz="1200" dirty="0"/>
          </a:p>
        </p:txBody>
      </p:sp>
      <p:sp>
        <p:nvSpPr>
          <p:cNvPr id="28674" name="Rectangle 2"/>
          <p:cNvSpPr>
            <a:spLocks noGrp="1" noRot="1" noChangeAspect="1" noTextEdit="1"/>
          </p:cNvSpPr>
          <p:nvPr>
            <p:ph type="sldImg"/>
          </p:nvPr>
        </p:nvSpPr>
        <p:spPr>
          <a:xfrm>
            <a:off x="1177925" y="695325"/>
            <a:ext cx="4641850" cy="3481388"/>
          </a:xfrm>
        </p:spPr>
      </p:sp>
      <p:sp>
        <p:nvSpPr>
          <p:cNvPr id="671747"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16</a:t>
            </a:fld>
            <a:endParaRPr lang="en-US" altLang="zh-CN" sz="1200" dirty="0"/>
          </a:p>
        </p:txBody>
      </p:sp>
      <p:sp>
        <p:nvSpPr>
          <p:cNvPr id="30722" name="Rectangle 2"/>
          <p:cNvSpPr>
            <a:spLocks noGrp="1" noRot="1" noChangeAspect="1" noTextEdit="1"/>
          </p:cNvSpPr>
          <p:nvPr>
            <p:ph type="sldImg"/>
          </p:nvPr>
        </p:nvSpPr>
        <p:spPr>
          <a:xfrm>
            <a:off x="1177925" y="695325"/>
            <a:ext cx="4641850" cy="3481388"/>
          </a:xfrm>
        </p:spPr>
      </p:sp>
      <p:sp>
        <p:nvSpPr>
          <p:cNvPr id="673795"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17</a:t>
            </a:fld>
            <a:endParaRPr lang="en-US" altLang="zh-CN" sz="1200" dirty="0"/>
          </a:p>
        </p:txBody>
      </p:sp>
      <p:sp>
        <p:nvSpPr>
          <p:cNvPr id="32770" name="Rectangle 2"/>
          <p:cNvSpPr>
            <a:spLocks noGrp="1" noRot="1" noChangeAspect="1" noTextEdit="1"/>
          </p:cNvSpPr>
          <p:nvPr>
            <p:ph type="sldImg"/>
          </p:nvPr>
        </p:nvSpPr>
        <p:spPr>
          <a:xfrm>
            <a:off x="1177925" y="695325"/>
            <a:ext cx="4641850" cy="3481388"/>
          </a:xfrm>
        </p:spPr>
      </p:sp>
      <p:sp>
        <p:nvSpPr>
          <p:cNvPr id="675843"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18</a:t>
            </a:fld>
            <a:endParaRPr lang="en-US" altLang="zh-CN" sz="1200" dirty="0"/>
          </a:p>
        </p:txBody>
      </p:sp>
      <p:sp>
        <p:nvSpPr>
          <p:cNvPr id="34818" name="Rectangle 2"/>
          <p:cNvSpPr>
            <a:spLocks noGrp="1" noRot="1" noChangeAspect="1" noTextEdit="1"/>
          </p:cNvSpPr>
          <p:nvPr>
            <p:ph type="sldImg"/>
          </p:nvPr>
        </p:nvSpPr>
        <p:spPr>
          <a:xfrm>
            <a:off x="1177925" y="695325"/>
            <a:ext cx="4641850" cy="3481388"/>
          </a:xfrm>
        </p:spPr>
      </p:sp>
      <p:sp>
        <p:nvSpPr>
          <p:cNvPr id="677891"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19</a:t>
            </a:fld>
            <a:endParaRPr lang="en-US" altLang="zh-CN" sz="1200" dirty="0"/>
          </a:p>
        </p:txBody>
      </p:sp>
      <p:sp>
        <p:nvSpPr>
          <p:cNvPr id="36866" name="Rectangle 2"/>
          <p:cNvSpPr>
            <a:spLocks noGrp="1" noRot="1" noChangeAspect="1" noTextEdit="1"/>
          </p:cNvSpPr>
          <p:nvPr>
            <p:ph type="sldImg"/>
          </p:nvPr>
        </p:nvSpPr>
        <p:spPr>
          <a:xfrm>
            <a:off x="1177925" y="695325"/>
            <a:ext cx="4641850" cy="3481388"/>
          </a:xfrm>
        </p:spPr>
      </p:sp>
      <p:sp>
        <p:nvSpPr>
          <p:cNvPr id="679939"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20</a:t>
            </a:fld>
            <a:endParaRPr lang="en-US" altLang="zh-CN" sz="1200" dirty="0"/>
          </a:p>
        </p:txBody>
      </p:sp>
      <p:sp>
        <p:nvSpPr>
          <p:cNvPr id="38914" name="Rectangle 2"/>
          <p:cNvSpPr>
            <a:spLocks noGrp="1" noRot="1" noChangeAspect="1" noTextEdit="1"/>
          </p:cNvSpPr>
          <p:nvPr>
            <p:ph type="sldImg"/>
          </p:nvPr>
        </p:nvSpPr>
        <p:spPr>
          <a:xfrm>
            <a:off x="1177925" y="695325"/>
            <a:ext cx="4641850" cy="3481388"/>
          </a:xfrm>
        </p:spPr>
      </p:sp>
      <p:sp>
        <p:nvSpPr>
          <p:cNvPr id="681987"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22</a:t>
            </a:fld>
            <a:endParaRPr lang="en-US" altLang="zh-CN" sz="1200" dirty="0"/>
          </a:p>
        </p:txBody>
      </p:sp>
      <p:sp>
        <p:nvSpPr>
          <p:cNvPr id="40962" name="Rectangle 2"/>
          <p:cNvSpPr>
            <a:spLocks noGrp="1" noRot="1" noChangeAspect="1" noTextEdit="1"/>
          </p:cNvSpPr>
          <p:nvPr>
            <p:ph type="sldImg"/>
          </p:nvPr>
        </p:nvSpPr>
        <p:spPr>
          <a:xfrm>
            <a:off x="1177925" y="695325"/>
            <a:ext cx="4641850" cy="3481388"/>
          </a:xfrm>
        </p:spPr>
      </p:sp>
      <p:sp>
        <p:nvSpPr>
          <p:cNvPr id="684035"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23</a:t>
            </a:fld>
            <a:endParaRPr lang="en-US" altLang="zh-CN" sz="1200" dirty="0"/>
          </a:p>
        </p:txBody>
      </p:sp>
      <p:sp>
        <p:nvSpPr>
          <p:cNvPr id="43010" name="Rectangle 2"/>
          <p:cNvSpPr>
            <a:spLocks noGrp="1" noRot="1" noChangeAspect="1" noTextEdit="1"/>
          </p:cNvSpPr>
          <p:nvPr>
            <p:ph type="sldImg"/>
          </p:nvPr>
        </p:nvSpPr>
        <p:spPr>
          <a:xfrm>
            <a:off x="1177925" y="695325"/>
            <a:ext cx="4641850" cy="3481388"/>
          </a:xfrm>
        </p:spPr>
      </p:sp>
      <p:sp>
        <p:nvSpPr>
          <p:cNvPr id="686083"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rPr>
              <a:t>1.</a:t>
            </a:r>
            <a:r>
              <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rPr>
              <a:t>如果函数依赖的检验仅需要考虑一个关系就可以完成，那么检查这种约束的开销就很低</a:t>
            </a:r>
          </a:p>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rPr>
              <a:t>2.</a:t>
            </a:r>
            <a:r>
              <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rPr>
              <a:t>如果每次分解都恰好是一个函数依赖，则分解就是保持依赖的，但并不都是这种情况，因此，我们考虑一个较弱的范式</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24</a:t>
            </a:fld>
            <a:endParaRPr lang="en-US" altLang="zh-CN" sz="1200" dirty="0"/>
          </a:p>
        </p:txBody>
      </p:sp>
      <p:sp>
        <p:nvSpPr>
          <p:cNvPr id="45058" name="Rectangle 2"/>
          <p:cNvSpPr>
            <a:spLocks noGrp="1" noRot="1" noChangeAspect="1" noTextEdit="1"/>
          </p:cNvSpPr>
          <p:nvPr>
            <p:ph type="sldImg"/>
          </p:nvPr>
        </p:nvSpPr>
        <p:spPr>
          <a:xfrm>
            <a:off x="1177925" y="695325"/>
            <a:ext cx="4641850" cy="3481388"/>
          </a:xfrm>
        </p:spPr>
      </p:sp>
      <p:sp>
        <p:nvSpPr>
          <p:cNvPr id="688131"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25</a:t>
            </a:fld>
            <a:endParaRPr lang="en-US" altLang="zh-CN" sz="1200" dirty="0"/>
          </a:p>
        </p:txBody>
      </p:sp>
      <p:sp>
        <p:nvSpPr>
          <p:cNvPr id="47106" name="Rectangle 2"/>
          <p:cNvSpPr>
            <a:spLocks noGrp="1" noRot="1" noChangeAspect="1" noTextEdit="1"/>
          </p:cNvSpPr>
          <p:nvPr>
            <p:ph type="sldImg"/>
          </p:nvPr>
        </p:nvSpPr>
        <p:spPr>
          <a:xfrm>
            <a:off x="1177925" y="695325"/>
            <a:ext cx="4641850" cy="3481388"/>
          </a:xfrm>
        </p:spPr>
      </p:sp>
      <p:sp>
        <p:nvSpPr>
          <p:cNvPr id="690179"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26</a:t>
            </a:fld>
            <a:endParaRPr lang="en-US" altLang="zh-CN" sz="1200" dirty="0"/>
          </a:p>
        </p:txBody>
      </p:sp>
      <p:sp>
        <p:nvSpPr>
          <p:cNvPr id="49154" name="Rectangle 2"/>
          <p:cNvSpPr>
            <a:spLocks noGrp="1" noRot="1" noChangeAspect="1" noTextEdit="1"/>
          </p:cNvSpPr>
          <p:nvPr>
            <p:ph type="sldImg"/>
          </p:nvPr>
        </p:nvSpPr>
        <p:spPr>
          <a:xfrm>
            <a:off x="1177925" y="695325"/>
            <a:ext cx="4641850" cy="3481388"/>
          </a:xfrm>
        </p:spPr>
      </p:sp>
      <p:sp>
        <p:nvSpPr>
          <p:cNvPr id="692227"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27</a:t>
            </a:fld>
            <a:endParaRPr lang="en-US" altLang="zh-CN" sz="1200" dirty="0"/>
          </a:p>
        </p:txBody>
      </p:sp>
      <p:sp>
        <p:nvSpPr>
          <p:cNvPr id="51202" name="Rectangle 2"/>
          <p:cNvSpPr>
            <a:spLocks noGrp="1" noRot="1" noChangeAspect="1" noTextEdit="1"/>
          </p:cNvSpPr>
          <p:nvPr>
            <p:ph type="sldImg"/>
          </p:nvPr>
        </p:nvSpPr>
        <p:spPr>
          <a:xfrm>
            <a:off x="1177925" y="695325"/>
            <a:ext cx="4641850" cy="3481388"/>
          </a:xfrm>
        </p:spPr>
      </p:sp>
      <p:sp>
        <p:nvSpPr>
          <p:cNvPr id="694275"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28</a:t>
            </a:fld>
            <a:endParaRPr lang="en-US" altLang="zh-CN" sz="1200" dirty="0"/>
          </a:p>
        </p:txBody>
      </p:sp>
      <p:sp>
        <p:nvSpPr>
          <p:cNvPr id="53250" name="Rectangle 2"/>
          <p:cNvSpPr>
            <a:spLocks noGrp="1" noRot="1" noChangeAspect="1" noTextEdit="1"/>
          </p:cNvSpPr>
          <p:nvPr>
            <p:ph type="sldImg"/>
          </p:nvPr>
        </p:nvSpPr>
        <p:spPr>
          <a:xfrm>
            <a:off x="1177925" y="695325"/>
            <a:ext cx="4641850" cy="3481388"/>
          </a:xfrm>
        </p:spPr>
      </p:sp>
      <p:sp>
        <p:nvSpPr>
          <p:cNvPr id="696323"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dirty="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32</a:t>
            </a:fld>
            <a:endParaRPr lang="en-US" altLang="zh-CN" sz="1200" dirty="0"/>
          </a:p>
        </p:txBody>
      </p:sp>
      <p:sp>
        <p:nvSpPr>
          <p:cNvPr id="58370" name="Rectangle 2"/>
          <p:cNvSpPr>
            <a:spLocks noGrp="1" noRot="1" noChangeAspect="1" noTextEdit="1"/>
          </p:cNvSpPr>
          <p:nvPr>
            <p:ph type="sldImg"/>
          </p:nvPr>
        </p:nvSpPr>
        <p:spPr>
          <a:xfrm>
            <a:off x="1177925" y="695325"/>
            <a:ext cx="4641850" cy="3481388"/>
          </a:xfrm>
        </p:spPr>
      </p:sp>
      <p:sp>
        <p:nvSpPr>
          <p:cNvPr id="698371"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36</a:t>
            </a:fld>
            <a:endParaRPr lang="en-US" altLang="zh-CN" sz="1200" dirty="0"/>
          </a:p>
        </p:txBody>
      </p:sp>
      <p:sp>
        <p:nvSpPr>
          <p:cNvPr id="63490" name="Rectangle 2"/>
          <p:cNvSpPr>
            <a:spLocks noGrp="1" noRot="1" noChangeAspect="1" noTextEdit="1"/>
          </p:cNvSpPr>
          <p:nvPr>
            <p:ph type="sldImg"/>
          </p:nvPr>
        </p:nvSpPr>
        <p:spPr>
          <a:xfrm>
            <a:off x="1177925" y="695325"/>
            <a:ext cx="4641850" cy="3481388"/>
          </a:xfrm>
        </p:spPr>
      </p:sp>
      <p:sp>
        <p:nvSpPr>
          <p:cNvPr id="702467"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37</a:t>
            </a:fld>
            <a:endParaRPr lang="en-US" altLang="zh-CN" sz="1200" dirty="0"/>
          </a:p>
        </p:txBody>
      </p:sp>
      <p:sp>
        <p:nvSpPr>
          <p:cNvPr id="65538" name="Rectangle 2"/>
          <p:cNvSpPr>
            <a:spLocks noGrp="1" noRot="1" noChangeAspect="1" noTextEdit="1"/>
          </p:cNvSpPr>
          <p:nvPr>
            <p:ph type="sldImg"/>
          </p:nvPr>
        </p:nvSpPr>
        <p:spPr>
          <a:xfrm>
            <a:off x="1177925" y="695325"/>
            <a:ext cx="4641850" cy="3481388"/>
          </a:xfrm>
        </p:spPr>
      </p:sp>
      <p:sp>
        <p:nvSpPr>
          <p:cNvPr id="704515"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38</a:t>
            </a:fld>
            <a:endParaRPr lang="en-US" altLang="zh-CN" sz="1200" dirty="0"/>
          </a:p>
        </p:txBody>
      </p:sp>
      <p:sp>
        <p:nvSpPr>
          <p:cNvPr id="67586" name="Rectangle 2"/>
          <p:cNvSpPr>
            <a:spLocks noGrp="1" noRot="1" noChangeAspect="1" noTextEdit="1"/>
          </p:cNvSpPr>
          <p:nvPr>
            <p:ph type="sldImg"/>
          </p:nvPr>
        </p:nvSpPr>
        <p:spPr>
          <a:xfrm>
            <a:off x="1177925" y="695325"/>
            <a:ext cx="4641850" cy="3481388"/>
          </a:xfrm>
        </p:spPr>
      </p:sp>
      <p:sp>
        <p:nvSpPr>
          <p:cNvPr id="706563"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42</a:t>
            </a:fld>
            <a:endParaRPr lang="en-US" altLang="zh-CN" sz="1200" dirty="0"/>
          </a:p>
        </p:txBody>
      </p:sp>
      <p:sp>
        <p:nvSpPr>
          <p:cNvPr id="72706" name="Rectangle 2"/>
          <p:cNvSpPr>
            <a:spLocks noGrp="1" noRot="1" noChangeAspect="1" noTextEdit="1"/>
          </p:cNvSpPr>
          <p:nvPr>
            <p:ph type="sldImg"/>
          </p:nvPr>
        </p:nvSpPr>
        <p:spPr>
          <a:xfrm>
            <a:off x="1177925" y="695325"/>
            <a:ext cx="4641850" cy="3481388"/>
          </a:xfrm>
        </p:spPr>
      </p:sp>
      <p:sp>
        <p:nvSpPr>
          <p:cNvPr id="708611"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43</a:t>
            </a:fld>
            <a:endParaRPr lang="en-US" altLang="zh-CN" sz="1200" dirty="0"/>
          </a:p>
        </p:txBody>
      </p:sp>
      <p:sp>
        <p:nvSpPr>
          <p:cNvPr id="74754" name="Rectangle 2"/>
          <p:cNvSpPr>
            <a:spLocks noGrp="1" noRot="1" noChangeAspect="1" noTextEdit="1"/>
          </p:cNvSpPr>
          <p:nvPr>
            <p:ph type="sldImg"/>
          </p:nvPr>
        </p:nvSpPr>
        <p:spPr>
          <a:xfrm>
            <a:off x="1177925" y="695325"/>
            <a:ext cx="4641850" cy="3481388"/>
          </a:xfrm>
        </p:spPr>
      </p:sp>
      <p:sp>
        <p:nvSpPr>
          <p:cNvPr id="710659"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rPr>
              <a:t>abch</a:t>
            </a:r>
          </a:p>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rPr>
              <a:t>g</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46</a:t>
            </a:fld>
            <a:endParaRPr lang="en-US" altLang="zh-CN" sz="1200" dirty="0"/>
          </a:p>
        </p:txBody>
      </p:sp>
      <p:sp>
        <p:nvSpPr>
          <p:cNvPr id="78850" name="Rectangle 2"/>
          <p:cNvSpPr>
            <a:spLocks noGrp="1" noRot="1" noChangeAspect="1" noTextEdit="1"/>
          </p:cNvSpPr>
          <p:nvPr>
            <p:ph type="sldImg"/>
          </p:nvPr>
        </p:nvSpPr>
        <p:spPr>
          <a:xfrm>
            <a:off x="1177925" y="695325"/>
            <a:ext cx="4641850" cy="3481388"/>
          </a:xfrm>
        </p:spPr>
      </p:sp>
      <p:sp>
        <p:nvSpPr>
          <p:cNvPr id="712707"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53</a:t>
            </a:fld>
            <a:endParaRPr lang="en-US" altLang="zh-CN" sz="1200" dirty="0"/>
          </a:p>
        </p:txBody>
      </p:sp>
      <p:sp>
        <p:nvSpPr>
          <p:cNvPr id="87042" name="Rectangle 2"/>
          <p:cNvSpPr>
            <a:spLocks noGrp="1" noRot="1" noChangeAspect="1" noTextEdit="1"/>
          </p:cNvSpPr>
          <p:nvPr>
            <p:ph type="sldImg"/>
          </p:nvPr>
        </p:nvSpPr>
        <p:spPr>
          <a:xfrm>
            <a:off x="1177925" y="695325"/>
            <a:ext cx="4641850" cy="3481388"/>
          </a:xfrm>
        </p:spPr>
      </p:sp>
      <p:sp>
        <p:nvSpPr>
          <p:cNvPr id="714755"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54</a:t>
            </a:fld>
            <a:endParaRPr lang="en-US" altLang="zh-CN" sz="1200" dirty="0"/>
          </a:p>
        </p:txBody>
      </p:sp>
      <p:sp>
        <p:nvSpPr>
          <p:cNvPr id="89090" name="Rectangle 2"/>
          <p:cNvSpPr>
            <a:spLocks noGrp="1" noRot="1" noChangeAspect="1" noTextEdit="1"/>
          </p:cNvSpPr>
          <p:nvPr>
            <p:ph type="sldImg"/>
          </p:nvPr>
        </p:nvSpPr>
        <p:spPr>
          <a:xfrm>
            <a:off x="1177925" y="695325"/>
            <a:ext cx="4641850" cy="3481388"/>
          </a:xfrm>
        </p:spPr>
      </p:sp>
      <p:sp>
        <p:nvSpPr>
          <p:cNvPr id="716803"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55</a:t>
            </a:fld>
            <a:endParaRPr lang="en-US" altLang="zh-CN" sz="1200" dirty="0"/>
          </a:p>
        </p:txBody>
      </p:sp>
      <p:sp>
        <p:nvSpPr>
          <p:cNvPr id="91138" name="Rectangle 2"/>
          <p:cNvSpPr>
            <a:spLocks noGrp="1" noRot="1" noChangeAspect="1" noTextEdit="1"/>
          </p:cNvSpPr>
          <p:nvPr>
            <p:ph type="sldImg"/>
          </p:nvPr>
        </p:nvSpPr>
        <p:spPr>
          <a:xfrm>
            <a:off x="1177925" y="695325"/>
            <a:ext cx="4641850" cy="3481388"/>
          </a:xfrm>
        </p:spPr>
      </p:sp>
      <p:sp>
        <p:nvSpPr>
          <p:cNvPr id="718851"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Times New Roman" panose="02020603050405020304" charset="0"/>
                <a:ea typeface="宋体" panose="02010600030101010101" pitchFamily="2" charset="-122"/>
                <a:cs typeface="+mn-cs"/>
              </a:rPr>
              <a:t>判断左部无关属性</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charset="0"/>
                <a:ea typeface="宋体" panose="02010600030101010101" pitchFamily="2" charset="-122"/>
                <a:cs typeface="+mn-cs"/>
              </a:rPr>
              <a:t>A</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charset="0"/>
                <a:ea typeface="宋体" panose="02010600030101010101" pitchFamily="2" charset="-122"/>
                <a:cs typeface="+mn-cs"/>
              </a:rPr>
              <a:t>：从左部去掉</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charset="0"/>
                <a:ea typeface="宋体" panose="02010600030101010101" pitchFamily="2" charset="-122"/>
                <a:cs typeface="+mn-cs"/>
              </a:rPr>
              <a:t>A</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charset="0"/>
                <a:ea typeface="宋体" panose="02010600030101010101" pitchFamily="2" charset="-122"/>
                <a:cs typeface="+mn-cs"/>
              </a:rPr>
              <a:t>之后，在原有</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charset="0"/>
                <a:ea typeface="宋体" panose="02010600030101010101" pitchFamily="2" charset="-122"/>
                <a:cs typeface="+mn-cs"/>
              </a:rPr>
              <a:t>F</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charset="0"/>
                <a:ea typeface="宋体" panose="02010600030101010101" pitchFamily="2" charset="-122"/>
                <a:cs typeface="+mn-cs"/>
              </a:rPr>
              <a:t>上，仍能函数决定右部</a:t>
            </a:r>
            <a:endParaRPr kumimoji="0" lang="en-US" altLang="zh-CN" sz="1200" b="0" i="0" u="none" strike="noStrike" kern="1200" cap="none" spc="0" normalizeH="0" baseline="0" noProof="0" dirty="0">
              <a:ln>
                <a:noFill/>
              </a:ln>
              <a:solidFill>
                <a:schemeClr val="tx1"/>
              </a:solidFill>
              <a:effectLst/>
              <a:uLnTx/>
              <a:uFillTx/>
              <a:latin typeface="Times New Roman" panose="02020603050405020304" charset="0"/>
              <a:ea typeface="宋体" panose="02010600030101010101"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Times New Roman" panose="02020603050405020304" charset="0"/>
                <a:ea typeface="宋体" panose="02010600030101010101" pitchFamily="2" charset="-122"/>
                <a:cs typeface="+mn-cs"/>
              </a:rPr>
              <a:t>判断右部无关属性</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charset="0"/>
                <a:ea typeface="宋体" panose="02010600030101010101" pitchFamily="2" charset="-122"/>
                <a:cs typeface="+mn-cs"/>
              </a:rPr>
              <a:t>A</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charset="0"/>
                <a:ea typeface="宋体" panose="02010600030101010101" pitchFamily="2" charset="-122"/>
                <a:cs typeface="+mn-cs"/>
              </a:rPr>
              <a:t>：从右部去掉</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charset="0"/>
                <a:ea typeface="宋体" panose="02010600030101010101" pitchFamily="2" charset="-122"/>
                <a:cs typeface="+mn-cs"/>
              </a:rPr>
              <a:t>A</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charset="0"/>
                <a:ea typeface="宋体" panose="02010600030101010101" pitchFamily="2" charset="-122"/>
                <a:cs typeface="+mn-cs"/>
              </a:rPr>
              <a:t>之后，在新的</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charset="0"/>
                <a:ea typeface="宋体" panose="02010600030101010101" pitchFamily="2" charset="-122"/>
                <a:cs typeface="+mn-cs"/>
              </a:rPr>
              <a:t>F</a:t>
            </a:r>
            <a:r>
              <a:rPr kumimoji="0" lang="zh-CN" altLang="en-US" sz="1200" b="0" i="0" u="none" strike="noStrike" kern="1200" cap="none" spc="0" normalizeH="0" baseline="0" noProof="0" dirty="0">
                <a:ln>
                  <a:noFill/>
                </a:ln>
                <a:solidFill>
                  <a:schemeClr val="tx1"/>
                </a:solidFill>
                <a:effectLst/>
                <a:uLnTx/>
                <a:uFillTx/>
                <a:latin typeface="Times New Roman" panose="02020603050405020304" charset="0"/>
                <a:ea typeface="宋体" panose="02010600030101010101" pitchFamily="2" charset="-122"/>
                <a:cs typeface="+mn-cs"/>
              </a:rPr>
              <a:t>‘上，左部属性的闭包仍然包含</a:t>
            </a:r>
            <a:r>
              <a:rPr kumimoji="0" lang="en-US" altLang="zh-CN" sz="1200" b="0" i="0" u="none" strike="noStrike" kern="1200" cap="none" spc="0" normalizeH="0" baseline="0" noProof="0" dirty="0">
                <a:ln>
                  <a:noFill/>
                </a:ln>
                <a:solidFill>
                  <a:schemeClr val="tx1"/>
                </a:solidFill>
                <a:effectLst/>
                <a:uLnTx/>
                <a:uFillTx/>
                <a:latin typeface="Times New Roman" panose="02020603050405020304" charset="0"/>
                <a:ea typeface="宋体" panose="02010600030101010101" pitchFamily="2" charset="-122"/>
                <a:cs typeface="+mn-cs"/>
              </a:rPr>
              <a:t>A</a:t>
            </a:r>
            <a:endParaRPr kumimoji="0" lang="zh-CN" altLang="en-US" sz="1200" b="0" i="0" u="none" strike="noStrike" kern="1200" cap="none" spc="0" normalizeH="0" baseline="0" noProof="0" dirty="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56</a:t>
            </a:fld>
            <a:endParaRPr lang="en-US" altLang="zh-CN" sz="1200" dirty="0"/>
          </a:p>
        </p:txBody>
      </p:sp>
      <p:sp>
        <p:nvSpPr>
          <p:cNvPr id="93186" name="Rectangle 2"/>
          <p:cNvSpPr>
            <a:spLocks noGrp="1" noRot="1" noChangeAspect="1" noTextEdit="1"/>
          </p:cNvSpPr>
          <p:nvPr>
            <p:ph type="sldImg"/>
          </p:nvPr>
        </p:nvSpPr>
        <p:spPr>
          <a:xfrm>
            <a:off x="1177925" y="695325"/>
            <a:ext cx="4641850" cy="3481388"/>
          </a:xfrm>
        </p:spPr>
      </p:sp>
      <p:sp>
        <p:nvSpPr>
          <p:cNvPr id="720899"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57</a:t>
            </a:fld>
            <a:endParaRPr lang="en-US" altLang="zh-CN" sz="1200" dirty="0"/>
          </a:p>
        </p:txBody>
      </p:sp>
      <p:sp>
        <p:nvSpPr>
          <p:cNvPr id="95234" name="Rectangle 2"/>
          <p:cNvSpPr>
            <a:spLocks noGrp="1" noRot="1" noChangeAspect="1" noTextEdit="1"/>
          </p:cNvSpPr>
          <p:nvPr>
            <p:ph type="sldImg"/>
          </p:nvPr>
        </p:nvSpPr>
        <p:spPr>
          <a:xfrm>
            <a:off x="1177925" y="695325"/>
            <a:ext cx="4641850" cy="3481388"/>
          </a:xfrm>
        </p:spPr>
      </p:sp>
      <p:sp>
        <p:nvSpPr>
          <p:cNvPr id="722947"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58</a:t>
            </a:fld>
            <a:endParaRPr lang="en-US" altLang="zh-CN" sz="1200" dirty="0"/>
          </a:p>
        </p:txBody>
      </p:sp>
      <p:sp>
        <p:nvSpPr>
          <p:cNvPr id="97282" name="Rectangle 2"/>
          <p:cNvSpPr>
            <a:spLocks noGrp="1" noRot="1" noChangeAspect="1" noTextEdit="1"/>
          </p:cNvSpPr>
          <p:nvPr>
            <p:ph type="sldImg"/>
          </p:nvPr>
        </p:nvSpPr>
        <p:spPr>
          <a:xfrm>
            <a:off x="1177925" y="695325"/>
            <a:ext cx="4641850" cy="3481388"/>
          </a:xfrm>
        </p:spPr>
      </p:sp>
      <p:sp>
        <p:nvSpPr>
          <p:cNvPr id="724995"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59</a:t>
            </a:fld>
            <a:endParaRPr lang="en-US" altLang="zh-CN" sz="1200" dirty="0"/>
          </a:p>
        </p:txBody>
      </p:sp>
      <p:sp>
        <p:nvSpPr>
          <p:cNvPr id="99330" name="Rectangle 2"/>
          <p:cNvSpPr>
            <a:spLocks noGrp="1" noRot="1" noChangeAspect="1" noTextEdit="1"/>
          </p:cNvSpPr>
          <p:nvPr>
            <p:ph type="sldImg"/>
          </p:nvPr>
        </p:nvSpPr>
        <p:spPr>
          <a:xfrm>
            <a:off x="1177925" y="695325"/>
            <a:ext cx="4641850" cy="3481388"/>
          </a:xfrm>
        </p:spPr>
      </p:sp>
      <p:sp>
        <p:nvSpPr>
          <p:cNvPr id="727043"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60</a:t>
            </a:fld>
            <a:endParaRPr lang="en-US" altLang="zh-CN" sz="1200" dirty="0"/>
          </a:p>
        </p:txBody>
      </p:sp>
      <p:sp>
        <p:nvSpPr>
          <p:cNvPr id="101378" name="Rectangle 2"/>
          <p:cNvSpPr>
            <a:spLocks noGrp="1" noRot="1" noChangeAspect="1" noTextEdit="1"/>
          </p:cNvSpPr>
          <p:nvPr>
            <p:ph type="sldImg"/>
          </p:nvPr>
        </p:nvSpPr>
        <p:spPr>
          <a:xfrm>
            <a:off x="1177925" y="695325"/>
            <a:ext cx="4641850" cy="3481388"/>
          </a:xfrm>
        </p:spPr>
      </p:sp>
      <p:sp>
        <p:nvSpPr>
          <p:cNvPr id="729091"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61</a:t>
            </a:fld>
            <a:endParaRPr lang="en-US" altLang="zh-CN" sz="1200" dirty="0"/>
          </a:p>
        </p:txBody>
      </p:sp>
      <p:sp>
        <p:nvSpPr>
          <p:cNvPr id="103426" name="Rectangle 2"/>
          <p:cNvSpPr>
            <a:spLocks noGrp="1" noRot="1" noChangeAspect="1" noTextEdit="1"/>
          </p:cNvSpPr>
          <p:nvPr>
            <p:ph type="sldImg"/>
          </p:nvPr>
        </p:nvSpPr>
        <p:spPr>
          <a:xfrm>
            <a:off x="1177925" y="695325"/>
            <a:ext cx="4641850" cy="3481388"/>
          </a:xfrm>
        </p:spPr>
      </p:sp>
      <p:sp>
        <p:nvSpPr>
          <p:cNvPr id="731139"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62</a:t>
            </a:fld>
            <a:endParaRPr lang="en-US" altLang="zh-CN" sz="1200" dirty="0"/>
          </a:p>
        </p:txBody>
      </p:sp>
      <p:sp>
        <p:nvSpPr>
          <p:cNvPr id="105474" name="Rectangle 2"/>
          <p:cNvSpPr>
            <a:spLocks noGrp="1" noRot="1" noChangeAspect="1" noTextEdit="1"/>
          </p:cNvSpPr>
          <p:nvPr>
            <p:ph type="sldImg"/>
          </p:nvPr>
        </p:nvSpPr>
        <p:spPr>
          <a:xfrm>
            <a:off x="1177925" y="695325"/>
            <a:ext cx="4641850" cy="3481388"/>
          </a:xfrm>
        </p:spPr>
      </p:sp>
      <p:sp>
        <p:nvSpPr>
          <p:cNvPr id="733187"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64</a:t>
            </a:fld>
            <a:endParaRPr lang="en-US" altLang="zh-CN" sz="1200" dirty="0"/>
          </a:p>
        </p:txBody>
      </p:sp>
      <p:sp>
        <p:nvSpPr>
          <p:cNvPr id="107522" name="Rectangle 2"/>
          <p:cNvSpPr>
            <a:spLocks noGrp="1" noRot="1" noChangeAspect="1" noTextEdit="1"/>
          </p:cNvSpPr>
          <p:nvPr>
            <p:ph type="sldImg"/>
          </p:nvPr>
        </p:nvSpPr>
        <p:spPr>
          <a:xfrm>
            <a:off x="1177925" y="695325"/>
            <a:ext cx="4641850" cy="3481388"/>
          </a:xfrm>
        </p:spPr>
      </p:sp>
      <p:sp>
        <p:nvSpPr>
          <p:cNvPr id="735235"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65</a:t>
            </a:fld>
            <a:endParaRPr lang="en-US" altLang="zh-CN" sz="1200" dirty="0"/>
          </a:p>
        </p:txBody>
      </p:sp>
      <p:sp>
        <p:nvSpPr>
          <p:cNvPr id="109570" name="Rectangle 2"/>
          <p:cNvSpPr>
            <a:spLocks noGrp="1" noRot="1" noChangeAspect="1" noTextEdit="1"/>
          </p:cNvSpPr>
          <p:nvPr>
            <p:ph type="sldImg"/>
          </p:nvPr>
        </p:nvSpPr>
        <p:spPr>
          <a:xfrm>
            <a:off x="1177925" y="695325"/>
            <a:ext cx="4641850" cy="3481388"/>
          </a:xfrm>
        </p:spPr>
      </p:sp>
      <p:sp>
        <p:nvSpPr>
          <p:cNvPr id="737283"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66</a:t>
            </a:fld>
            <a:endParaRPr lang="en-US" altLang="zh-CN" sz="1200" dirty="0"/>
          </a:p>
        </p:txBody>
      </p:sp>
      <p:sp>
        <p:nvSpPr>
          <p:cNvPr id="111618" name="Rectangle 2"/>
          <p:cNvSpPr>
            <a:spLocks noGrp="1" noRot="1" noChangeAspect="1" noTextEdit="1"/>
          </p:cNvSpPr>
          <p:nvPr>
            <p:ph type="sldImg"/>
          </p:nvPr>
        </p:nvSpPr>
        <p:spPr>
          <a:xfrm>
            <a:off x="1177925" y="695325"/>
            <a:ext cx="4641850" cy="3481388"/>
          </a:xfrm>
        </p:spPr>
      </p:sp>
      <p:sp>
        <p:nvSpPr>
          <p:cNvPr id="739331"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68</a:t>
            </a:fld>
            <a:endParaRPr lang="en-US" altLang="zh-CN" sz="1200" dirty="0"/>
          </a:p>
        </p:txBody>
      </p:sp>
      <p:sp>
        <p:nvSpPr>
          <p:cNvPr id="113666" name="Rectangle 2"/>
          <p:cNvSpPr>
            <a:spLocks noGrp="1" noRot="1" noChangeAspect="1" noTextEdit="1"/>
          </p:cNvSpPr>
          <p:nvPr>
            <p:ph type="sldImg"/>
          </p:nvPr>
        </p:nvSpPr>
        <p:spPr>
          <a:xfrm>
            <a:off x="1177925" y="695325"/>
            <a:ext cx="4641850" cy="3481388"/>
          </a:xfrm>
        </p:spPr>
      </p:sp>
      <p:sp>
        <p:nvSpPr>
          <p:cNvPr id="741379"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69</a:t>
            </a:fld>
            <a:endParaRPr lang="en-US" altLang="zh-CN" sz="1200" dirty="0"/>
          </a:p>
        </p:txBody>
      </p:sp>
      <p:sp>
        <p:nvSpPr>
          <p:cNvPr id="115714" name="Rectangle 2"/>
          <p:cNvSpPr>
            <a:spLocks noGrp="1" noRot="1" noChangeAspect="1" noTextEdit="1"/>
          </p:cNvSpPr>
          <p:nvPr>
            <p:ph type="sldImg"/>
          </p:nvPr>
        </p:nvSpPr>
        <p:spPr>
          <a:xfrm>
            <a:off x="1177925" y="695325"/>
            <a:ext cx="4641850" cy="3481388"/>
          </a:xfrm>
        </p:spPr>
      </p:sp>
      <p:sp>
        <p:nvSpPr>
          <p:cNvPr id="743427"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70</a:t>
            </a:fld>
            <a:endParaRPr lang="en-US" altLang="zh-CN" sz="1200" dirty="0"/>
          </a:p>
        </p:txBody>
      </p:sp>
      <p:sp>
        <p:nvSpPr>
          <p:cNvPr id="117762" name="Rectangle 2"/>
          <p:cNvSpPr>
            <a:spLocks noGrp="1" noRot="1" noChangeAspect="1" noTextEdit="1"/>
          </p:cNvSpPr>
          <p:nvPr>
            <p:ph type="sldImg"/>
          </p:nvPr>
        </p:nvSpPr>
        <p:spPr/>
      </p:sp>
      <p:sp>
        <p:nvSpPr>
          <p:cNvPr id="851971" name="Rectangle 3"/>
          <p:cNvSpPr>
            <a:spLocks noGrp="1" noChangeArrowheads="1"/>
          </p:cNvSpPr>
          <p:nvPr>
            <p:ph type="body" idx="1"/>
          </p:nvPr>
        </p:nvSpPr>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71</a:t>
            </a:fld>
            <a:endParaRPr lang="en-US" altLang="zh-CN" sz="1200" dirty="0"/>
          </a:p>
        </p:txBody>
      </p:sp>
      <p:sp>
        <p:nvSpPr>
          <p:cNvPr id="119810" name="Rectangle 2"/>
          <p:cNvSpPr>
            <a:spLocks noGrp="1" noRot="1" noChangeAspect="1" noTextEdit="1"/>
          </p:cNvSpPr>
          <p:nvPr>
            <p:ph type="sldImg"/>
          </p:nvPr>
        </p:nvSpPr>
        <p:spPr>
          <a:xfrm>
            <a:off x="1177925" y="695325"/>
            <a:ext cx="4641850" cy="3481388"/>
          </a:xfrm>
        </p:spPr>
      </p:sp>
      <p:sp>
        <p:nvSpPr>
          <p:cNvPr id="745475"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72</a:t>
            </a:fld>
            <a:endParaRPr lang="en-US" altLang="zh-CN" sz="1200" dirty="0"/>
          </a:p>
        </p:txBody>
      </p:sp>
      <p:sp>
        <p:nvSpPr>
          <p:cNvPr id="121858" name="Rectangle 2"/>
          <p:cNvSpPr>
            <a:spLocks noGrp="1" noRot="1" noChangeAspect="1" noTextEdit="1"/>
          </p:cNvSpPr>
          <p:nvPr>
            <p:ph type="sldImg"/>
          </p:nvPr>
        </p:nvSpPr>
        <p:spPr>
          <a:xfrm>
            <a:off x="1177925" y="695325"/>
            <a:ext cx="4641850" cy="3481388"/>
          </a:xfrm>
        </p:spPr>
      </p:sp>
      <p:sp>
        <p:nvSpPr>
          <p:cNvPr id="747523"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73</a:t>
            </a:fld>
            <a:endParaRPr lang="en-US" altLang="zh-CN" sz="1200" dirty="0"/>
          </a:p>
        </p:txBody>
      </p:sp>
      <p:sp>
        <p:nvSpPr>
          <p:cNvPr id="123906" name="Rectangle 2"/>
          <p:cNvSpPr>
            <a:spLocks noGrp="1" noRot="1" noChangeAspect="1" noTextEdit="1"/>
          </p:cNvSpPr>
          <p:nvPr>
            <p:ph type="sldImg"/>
          </p:nvPr>
        </p:nvSpPr>
        <p:spPr>
          <a:xfrm>
            <a:off x="1177925" y="695325"/>
            <a:ext cx="4641850" cy="3481388"/>
          </a:xfrm>
        </p:spPr>
      </p:sp>
      <p:sp>
        <p:nvSpPr>
          <p:cNvPr id="749571"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74</a:t>
            </a:fld>
            <a:endParaRPr lang="en-US" altLang="zh-CN" sz="1200" dirty="0"/>
          </a:p>
        </p:txBody>
      </p:sp>
      <p:sp>
        <p:nvSpPr>
          <p:cNvPr id="125954" name="Rectangle 2"/>
          <p:cNvSpPr>
            <a:spLocks noGrp="1" noRot="1" noChangeAspect="1" noTextEdit="1"/>
          </p:cNvSpPr>
          <p:nvPr>
            <p:ph type="sldImg"/>
          </p:nvPr>
        </p:nvSpPr>
        <p:spPr>
          <a:xfrm>
            <a:off x="1177925" y="695325"/>
            <a:ext cx="4641850" cy="3481388"/>
          </a:xfrm>
        </p:spPr>
      </p:sp>
      <p:sp>
        <p:nvSpPr>
          <p:cNvPr id="751619"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75</a:t>
            </a:fld>
            <a:endParaRPr lang="en-US" altLang="zh-CN" sz="1200" dirty="0"/>
          </a:p>
        </p:txBody>
      </p:sp>
      <p:sp>
        <p:nvSpPr>
          <p:cNvPr id="128002" name="Rectangle 2"/>
          <p:cNvSpPr>
            <a:spLocks noGrp="1" noRot="1" noChangeAspect="1" noTextEdit="1"/>
          </p:cNvSpPr>
          <p:nvPr>
            <p:ph type="sldImg"/>
          </p:nvPr>
        </p:nvSpPr>
        <p:spPr>
          <a:xfrm>
            <a:off x="1177925" y="695325"/>
            <a:ext cx="4641850" cy="3481388"/>
          </a:xfrm>
        </p:spPr>
      </p:sp>
      <p:sp>
        <p:nvSpPr>
          <p:cNvPr id="753667"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76</a:t>
            </a:fld>
            <a:endParaRPr lang="en-US" altLang="zh-CN" sz="1200" dirty="0"/>
          </a:p>
        </p:txBody>
      </p:sp>
      <p:sp>
        <p:nvSpPr>
          <p:cNvPr id="130050" name="Rectangle 2"/>
          <p:cNvSpPr>
            <a:spLocks noGrp="1" noRot="1" noChangeAspect="1" noTextEdit="1"/>
          </p:cNvSpPr>
          <p:nvPr>
            <p:ph type="sldImg"/>
          </p:nvPr>
        </p:nvSpPr>
        <p:spPr>
          <a:xfrm>
            <a:off x="1177925" y="695325"/>
            <a:ext cx="4641850" cy="3481388"/>
          </a:xfrm>
        </p:spPr>
      </p:sp>
      <p:sp>
        <p:nvSpPr>
          <p:cNvPr id="755715"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77</a:t>
            </a:fld>
            <a:endParaRPr lang="en-US" altLang="zh-CN" sz="1200" dirty="0"/>
          </a:p>
        </p:txBody>
      </p:sp>
      <p:sp>
        <p:nvSpPr>
          <p:cNvPr id="132098" name="Rectangle 2"/>
          <p:cNvSpPr>
            <a:spLocks noGrp="1" noRot="1" noChangeAspect="1" noTextEdit="1"/>
          </p:cNvSpPr>
          <p:nvPr>
            <p:ph type="sldImg"/>
          </p:nvPr>
        </p:nvSpPr>
        <p:spPr>
          <a:xfrm>
            <a:off x="1177925" y="695325"/>
            <a:ext cx="4641850" cy="3481388"/>
          </a:xfrm>
        </p:spPr>
      </p:sp>
      <p:sp>
        <p:nvSpPr>
          <p:cNvPr id="757763"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78</a:t>
            </a:fld>
            <a:endParaRPr lang="en-US" altLang="zh-CN" sz="1200" dirty="0"/>
          </a:p>
        </p:txBody>
      </p:sp>
      <p:sp>
        <p:nvSpPr>
          <p:cNvPr id="134146" name="Rectangle 2"/>
          <p:cNvSpPr>
            <a:spLocks noGrp="1" noRot="1" noChangeAspect="1" noTextEdit="1"/>
          </p:cNvSpPr>
          <p:nvPr>
            <p:ph type="sldImg"/>
          </p:nvPr>
        </p:nvSpPr>
        <p:spPr>
          <a:xfrm>
            <a:off x="1177925" y="695325"/>
            <a:ext cx="4641850" cy="3481388"/>
          </a:xfrm>
        </p:spPr>
      </p:sp>
      <p:sp>
        <p:nvSpPr>
          <p:cNvPr id="759811"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79</a:t>
            </a:fld>
            <a:endParaRPr lang="en-US" altLang="zh-CN" sz="1200" dirty="0"/>
          </a:p>
        </p:txBody>
      </p:sp>
      <p:sp>
        <p:nvSpPr>
          <p:cNvPr id="136194" name="Rectangle 2"/>
          <p:cNvSpPr>
            <a:spLocks noGrp="1" noRot="1" noChangeAspect="1" noTextEdit="1"/>
          </p:cNvSpPr>
          <p:nvPr>
            <p:ph type="sldImg"/>
          </p:nvPr>
        </p:nvSpPr>
        <p:spPr>
          <a:xfrm>
            <a:off x="1177925" y="695325"/>
            <a:ext cx="4641850" cy="3481388"/>
          </a:xfrm>
        </p:spPr>
      </p:sp>
      <p:sp>
        <p:nvSpPr>
          <p:cNvPr id="761859"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80</a:t>
            </a:fld>
            <a:endParaRPr lang="en-US" altLang="zh-CN" sz="1200" dirty="0"/>
          </a:p>
        </p:txBody>
      </p:sp>
      <p:sp>
        <p:nvSpPr>
          <p:cNvPr id="138242" name="Rectangle 2"/>
          <p:cNvSpPr>
            <a:spLocks noGrp="1" noRot="1" noChangeAspect="1" noTextEdit="1"/>
          </p:cNvSpPr>
          <p:nvPr>
            <p:ph type="sldImg"/>
          </p:nvPr>
        </p:nvSpPr>
        <p:spPr>
          <a:xfrm>
            <a:off x="1177925" y="695325"/>
            <a:ext cx="4641850" cy="3481388"/>
          </a:xfrm>
        </p:spPr>
      </p:sp>
      <p:sp>
        <p:nvSpPr>
          <p:cNvPr id="763907"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83</a:t>
            </a:fld>
            <a:endParaRPr lang="en-US" altLang="zh-CN" sz="1200" dirty="0"/>
          </a:p>
        </p:txBody>
      </p:sp>
      <p:sp>
        <p:nvSpPr>
          <p:cNvPr id="140290" name="Rectangle 2"/>
          <p:cNvSpPr>
            <a:spLocks noGrp="1" noRot="1" noChangeAspect="1" noTextEdit="1"/>
          </p:cNvSpPr>
          <p:nvPr>
            <p:ph type="sldImg"/>
          </p:nvPr>
        </p:nvSpPr>
        <p:spPr>
          <a:xfrm>
            <a:off x="1177925" y="695325"/>
            <a:ext cx="4641850" cy="3481388"/>
          </a:xfrm>
        </p:spPr>
      </p:sp>
      <p:sp>
        <p:nvSpPr>
          <p:cNvPr id="765955"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87</a:t>
            </a:fld>
            <a:endParaRPr lang="en-US" altLang="zh-CN" sz="1200" dirty="0"/>
          </a:p>
        </p:txBody>
      </p:sp>
      <p:sp>
        <p:nvSpPr>
          <p:cNvPr id="142338" name="Rectangle 2"/>
          <p:cNvSpPr>
            <a:spLocks noGrp="1" noRot="1" noChangeAspect="1" noTextEdit="1"/>
          </p:cNvSpPr>
          <p:nvPr>
            <p:ph type="sldImg"/>
          </p:nvPr>
        </p:nvSpPr>
        <p:spPr/>
      </p:sp>
      <p:sp>
        <p:nvSpPr>
          <p:cNvPr id="852995" name="Rectangle 3"/>
          <p:cNvSpPr>
            <a:spLocks noGrp="1" noChangeArrowheads="1"/>
          </p:cNvSpPr>
          <p:nvPr>
            <p:ph type="body" idx="1"/>
          </p:nvPr>
        </p:nvSpPr>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88</a:t>
            </a:fld>
            <a:endParaRPr lang="en-US" altLang="zh-CN" sz="1200" dirty="0"/>
          </a:p>
        </p:txBody>
      </p:sp>
      <p:sp>
        <p:nvSpPr>
          <p:cNvPr id="144386" name="Rectangle 2"/>
          <p:cNvSpPr>
            <a:spLocks noGrp="1" noRot="1" noChangeAspect="1" noTextEdit="1"/>
          </p:cNvSpPr>
          <p:nvPr>
            <p:ph type="sldImg"/>
          </p:nvPr>
        </p:nvSpPr>
        <p:spPr>
          <a:xfrm>
            <a:off x="1177925" y="695325"/>
            <a:ext cx="4641850" cy="3481388"/>
          </a:xfrm>
        </p:spPr>
      </p:sp>
      <p:sp>
        <p:nvSpPr>
          <p:cNvPr id="768003"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89</a:t>
            </a:fld>
            <a:endParaRPr lang="en-US" altLang="zh-CN" sz="1200" dirty="0"/>
          </a:p>
        </p:txBody>
      </p:sp>
      <p:sp>
        <p:nvSpPr>
          <p:cNvPr id="146434" name="Rectangle 2"/>
          <p:cNvSpPr>
            <a:spLocks noGrp="1" noRot="1" noChangeAspect="1" noTextEdit="1"/>
          </p:cNvSpPr>
          <p:nvPr>
            <p:ph type="sldImg"/>
          </p:nvPr>
        </p:nvSpPr>
        <p:spPr>
          <a:xfrm>
            <a:off x="1177925" y="695325"/>
            <a:ext cx="4641850" cy="3481388"/>
          </a:xfrm>
        </p:spPr>
      </p:sp>
      <p:sp>
        <p:nvSpPr>
          <p:cNvPr id="770051"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90</a:t>
            </a:fld>
            <a:endParaRPr lang="en-US" altLang="zh-CN" sz="1200" dirty="0"/>
          </a:p>
        </p:txBody>
      </p:sp>
      <p:sp>
        <p:nvSpPr>
          <p:cNvPr id="148482" name="Rectangle 2"/>
          <p:cNvSpPr>
            <a:spLocks noGrp="1" noRot="1" noChangeAspect="1" noTextEdit="1"/>
          </p:cNvSpPr>
          <p:nvPr>
            <p:ph type="sldImg"/>
          </p:nvPr>
        </p:nvSpPr>
        <p:spPr>
          <a:xfrm>
            <a:off x="1177925" y="695325"/>
            <a:ext cx="4641850" cy="3481388"/>
          </a:xfrm>
        </p:spPr>
      </p:sp>
      <p:sp>
        <p:nvSpPr>
          <p:cNvPr id="772099"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91</a:t>
            </a:fld>
            <a:endParaRPr lang="en-US" altLang="zh-CN" sz="1200" dirty="0"/>
          </a:p>
        </p:txBody>
      </p:sp>
      <p:sp>
        <p:nvSpPr>
          <p:cNvPr id="150530" name="Rectangle 2"/>
          <p:cNvSpPr>
            <a:spLocks noGrp="1" noRot="1" noChangeAspect="1" noTextEdit="1"/>
          </p:cNvSpPr>
          <p:nvPr>
            <p:ph type="sldImg"/>
          </p:nvPr>
        </p:nvSpPr>
        <p:spPr>
          <a:xfrm>
            <a:off x="1177925" y="695325"/>
            <a:ext cx="4641850" cy="3481388"/>
          </a:xfrm>
        </p:spPr>
      </p:sp>
      <p:sp>
        <p:nvSpPr>
          <p:cNvPr id="774147"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92</a:t>
            </a:fld>
            <a:endParaRPr lang="en-US" altLang="zh-CN" sz="1200" dirty="0"/>
          </a:p>
        </p:txBody>
      </p:sp>
      <p:sp>
        <p:nvSpPr>
          <p:cNvPr id="152578" name="Rectangle 2"/>
          <p:cNvSpPr>
            <a:spLocks noGrp="1" noRot="1" noChangeAspect="1" noTextEdit="1"/>
          </p:cNvSpPr>
          <p:nvPr>
            <p:ph type="sldImg"/>
          </p:nvPr>
        </p:nvSpPr>
        <p:spPr>
          <a:xfrm>
            <a:off x="1177925" y="695325"/>
            <a:ext cx="4641850" cy="3481388"/>
          </a:xfrm>
        </p:spPr>
      </p:sp>
      <p:sp>
        <p:nvSpPr>
          <p:cNvPr id="776195"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93</a:t>
            </a:fld>
            <a:endParaRPr lang="en-US" altLang="zh-CN" sz="1200" dirty="0"/>
          </a:p>
        </p:txBody>
      </p:sp>
      <p:sp>
        <p:nvSpPr>
          <p:cNvPr id="154626" name="Rectangle 2"/>
          <p:cNvSpPr>
            <a:spLocks noGrp="1" noRot="1" noChangeAspect="1" noTextEdit="1"/>
          </p:cNvSpPr>
          <p:nvPr>
            <p:ph type="sldImg"/>
          </p:nvPr>
        </p:nvSpPr>
        <p:spPr>
          <a:xfrm>
            <a:off x="1177925" y="695325"/>
            <a:ext cx="4641850" cy="3481388"/>
          </a:xfrm>
        </p:spPr>
      </p:sp>
      <p:sp>
        <p:nvSpPr>
          <p:cNvPr id="778243"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94</a:t>
            </a:fld>
            <a:endParaRPr lang="en-US" altLang="zh-CN" sz="1200" dirty="0"/>
          </a:p>
        </p:txBody>
      </p:sp>
      <p:sp>
        <p:nvSpPr>
          <p:cNvPr id="156674" name="Rectangle 2"/>
          <p:cNvSpPr>
            <a:spLocks noGrp="1" noRot="1" noChangeAspect="1" noTextEdit="1"/>
          </p:cNvSpPr>
          <p:nvPr>
            <p:ph type="sldImg"/>
          </p:nvPr>
        </p:nvSpPr>
        <p:spPr>
          <a:xfrm>
            <a:off x="1177925" y="695325"/>
            <a:ext cx="4641850" cy="3481388"/>
          </a:xfrm>
        </p:spPr>
      </p:sp>
      <p:sp>
        <p:nvSpPr>
          <p:cNvPr id="780291"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95</a:t>
            </a:fld>
            <a:endParaRPr lang="en-US" altLang="zh-CN" sz="1200" dirty="0"/>
          </a:p>
        </p:txBody>
      </p:sp>
      <p:sp>
        <p:nvSpPr>
          <p:cNvPr id="158722" name="Rectangle 2"/>
          <p:cNvSpPr>
            <a:spLocks noGrp="1" noRot="1" noChangeAspect="1" noTextEdit="1"/>
          </p:cNvSpPr>
          <p:nvPr>
            <p:ph type="sldImg"/>
          </p:nvPr>
        </p:nvSpPr>
        <p:spPr>
          <a:xfrm>
            <a:off x="1177925" y="695325"/>
            <a:ext cx="4641850" cy="3481388"/>
          </a:xfrm>
        </p:spPr>
      </p:sp>
      <p:sp>
        <p:nvSpPr>
          <p:cNvPr id="782339"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96</a:t>
            </a:fld>
            <a:endParaRPr lang="en-US" altLang="zh-CN" sz="1200" dirty="0"/>
          </a:p>
        </p:txBody>
      </p:sp>
      <p:sp>
        <p:nvSpPr>
          <p:cNvPr id="160770" name="Rectangle 2"/>
          <p:cNvSpPr>
            <a:spLocks noGrp="1" noRot="1" noChangeAspect="1" noTextEdit="1"/>
          </p:cNvSpPr>
          <p:nvPr>
            <p:ph type="sldImg"/>
          </p:nvPr>
        </p:nvSpPr>
        <p:spPr>
          <a:xfrm>
            <a:off x="1177925" y="695325"/>
            <a:ext cx="4641850" cy="3481388"/>
          </a:xfrm>
        </p:spPr>
      </p:sp>
      <p:sp>
        <p:nvSpPr>
          <p:cNvPr id="784387"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97</a:t>
            </a:fld>
            <a:endParaRPr lang="en-US" altLang="zh-CN" sz="1200" dirty="0"/>
          </a:p>
        </p:txBody>
      </p:sp>
      <p:sp>
        <p:nvSpPr>
          <p:cNvPr id="162818" name="Rectangle 2"/>
          <p:cNvSpPr>
            <a:spLocks noGrp="1" noRot="1" noChangeAspect="1" noTextEdit="1"/>
          </p:cNvSpPr>
          <p:nvPr>
            <p:ph type="sldImg"/>
          </p:nvPr>
        </p:nvSpPr>
        <p:spPr>
          <a:xfrm>
            <a:off x="1177925" y="695325"/>
            <a:ext cx="4641850" cy="3481388"/>
          </a:xfrm>
        </p:spPr>
      </p:sp>
      <p:sp>
        <p:nvSpPr>
          <p:cNvPr id="786435"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98</a:t>
            </a:fld>
            <a:endParaRPr lang="en-US" altLang="zh-CN" sz="1200" dirty="0"/>
          </a:p>
        </p:txBody>
      </p:sp>
      <p:sp>
        <p:nvSpPr>
          <p:cNvPr id="164866" name="Rectangle 2"/>
          <p:cNvSpPr>
            <a:spLocks noGrp="1" noRot="1" noChangeAspect="1" noTextEdit="1"/>
          </p:cNvSpPr>
          <p:nvPr>
            <p:ph type="sldImg"/>
          </p:nvPr>
        </p:nvSpPr>
        <p:spPr>
          <a:xfrm>
            <a:off x="1177925" y="695325"/>
            <a:ext cx="4641850" cy="3481388"/>
          </a:xfrm>
        </p:spPr>
      </p:sp>
      <p:sp>
        <p:nvSpPr>
          <p:cNvPr id="788483"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99</a:t>
            </a:fld>
            <a:endParaRPr lang="en-US" altLang="zh-CN" sz="1200" dirty="0"/>
          </a:p>
        </p:txBody>
      </p:sp>
      <p:sp>
        <p:nvSpPr>
          <p:cNvPr id="166914" name="Rectangle 2"/>
          <p:cNvSpPr>
            <a:spLocks noGrp="1" noRot="1" noChangeAspect="1" noTextEdit="1"/>
          </p:cNvSpPr>
          <p:nvPr>
            <p:ph type="sldImg"/>
          </p:nvPr>
        </p:nvSpPr>
        <p:spPr>
          <a:xfrm>
            <a:off x="1177925" y="695325"/>
            <a:ext cx="4641850" cy="3481388"/>
          </a:xfrm>
        </p:spPr>
      </p:sp>
      <p:sp>
        <p:nvSpPr>
          <p:cNvPr id="790531"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100</a:t>
            </a:fld>
            <a:endParaRPr lang="en-US" altLang="zh-CN" sz="1200" dirty="0"/>
          </a:p>
        </p:txBody>
      </p:sp>
      <p:sp>
        <p:nvSpPr>
          <p:cNvPr id="168962" name="Rectangle 2"/>
          <p:cNvSpPr>
            <a:spLocks noGrp="1" noRot="1" noChangeAspect="1" noTextEdit="1"/>
          </p:cNvSpPr>
          <p:nvPr>
            <p:ph type="sldImg"/>
          </p:nvPr>
        </p:nvSpPr>
        <p:spPr>
          <a:xfrm>
            <a:off x="1177925" y="695325"/>
            <a:ext cx="4641850" cy="3481388"/>
          </a:xfrm>
        </p:spPr>
      </p:sp>
      <p:sp>
        <p:nvSpPr>
          <p:cNvPr id="792579"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101</a:t>
            </a:fld>
            <a:endParaRPr lang="en-US" altLang="zh-CN" sz="1200" dirty="0"/>
          </a:p>
        </p:txBody>
      </p:sp>
      <p:sp>
        <p:nvSpPr>
          <p:cNvPr id="171010" name="Rectangle 2"/>
          <p:cNvSpPr>
            <a:spLocks noGrp="1" noRot="1" noChangeAspect="1" noTextEdit="1"/>
          </p:cNvSpPr>
          <p:nvPr>
            <p:ph type="sldImg"/>
          </p:nvPr>
        </p:nvSpPr>
        <p:spPr>
          <a:xfrm>
            <a:off x="1177925" y="695325"/>
            <a:ext cx="4641850" cy="3481388"/>
          </a:xfrm>
        </p:spPr>
      </p:sp>
      <p:sp>
        <p:nvSpPr>
          <p:cNvPr id="794627"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7"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102</a:t>
            </a:fld>
            <a:endParaRPr lang="en-US" altLang="zh-CN" sz="1200" dirty="0"/>
          </a:p>
        </p:txBody>
      </p:sp>
      <p:sp>
        <p:nvSpPr>
          <p:cNvPr id="173058" name="Rectangle 2"/>
          <p:cNvSpPr>
            <a:spLocks noGrp="1" noRot="1" noChangeAspect="1" noTextEdit="1"/>
          </p:cNvSpPr>
          <p:nvPr>
            <p:ph type="sldImg"/>
          </p:nvPr>
        </p:nvSpPr>
        <p:spPr>
          <a:xfrm>
            <a:off x="1177925" y="695325"/>
            <a:ext cx="4641850" cy="3481388"/>
          </a:xfrm>
        </p:spPr>
      </p:sp>
      <p:sp>
        <p:nvSpPr>
          <p:cNvPr id="796675"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103</a:t>
            </a:fld>
            <a:endParaRPr lang="en-US" altLang="zh-CN" sz="1200" dirty="0"/>
          </a:p>
        </p:txBody>
      </p:sp>
      <p:sp>
        <p:nvSpPr>
          <p:cNvPr id="175106" name="Rectangle 2"/>
          <p:cNvSpPr>
            <a:spLocks noGrp="1" noRot="1" noChangeAspect="1" noTextEdit="1"/>
          </p:cNvSpPr>
          <p:nvPr>
            <p:ph type="sldImg"/>
          </p:nvPr>
        </p:nvSpPr>
        <p:spPr>
          <a:xfrm>
            <a:off x="1177925" y="695325"/>
            <a:ext cx="4641850" cy="3481388"/>
          </a:xfrm>
        </p:spPr>
      </p:sp>
      <p:sp>
        <p:nvSpPr>
          <p:cNvPr id="798723"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3"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104</a:t>
            </a:fld>
            <a:endParaRPr lang="en-US" altLang="zh-CN" sz="1200" dirty="0"/>
          </a:p>
        </p:txBody>
      </p:sp>
      <p:sp>
        <p:nvSpPr>
          <p:cNvPr id="177154" name="Rectangle 2"/>
          <p:cNvSpPr>
            <a:spLocks noGrp="1" noRot="1" noChangeAspect="1" noTextEdit="1"/>
          </p:cNvSpPr>
          <p:nvPr>
            <p:ph type="sldImg"/>
          </p:nvPr>
        </p:nvSpPr>
        <p:spPr>
          <a:xfrm>
            <a:off x="1177925" y="695325"/>
            <a:ext cx="4641850" cy="3481388"/>
          </a:xfrm>
        </p:spPr>
      </p:sp>
      <p:sp>
        <p:nvSpPr>
          <p:cNvPr id="800771"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latin typeface="Helvetica" panose="020B0604020202030204" charset="0"/>
                <a:ea typeface="宋体" panose="02010600030101010101" pitchFamily="2" charset="-122"/>
              </a:rPr>
              <a:t>105</a:t>
            </a:fld>
            <a:endParaRPr lang="en-US" altLang="zh-CN" sz="1200" dirty="0">
              <a:latin typeface="Helvetica" panose="020B0604020202030204" charset="0"/>
              <a:ea typeface="宋体" panose="02010600030101010101" pitchFamily="2" charset="-122"/>
            </a:endParaRPr>
          </a:p>
        </p:txBody>
      </p:sp>
      <p:sp>
        <p:nvSpPr>
          <p:cNvPr id="179202" name="Rectangle 2"/>
          <p:cNvSpPr>
            <a:spLocks noGrp="1" noRot="1" noChangeAspect="1" noTextEdit="1"/>
          </p:cNvSpPr>
          <p:nvPr>
            <p:ph type="sldImg"/>
          </p:nvPr>
        </p:nvSpPr>
        <p:spPr>
          <a:xfrm>
            <a:off x="1177925" y="695325"/>
            <a:ext cx="4641850" cy="3481388"/>
          </a:xfrm>
        </p:spPr>
      </p:sp>
      <p:sp>
        <p:nvSpPr>
          <p:cNvPr id="802819"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49"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latin typeface="Helvetica" panose="020B0604020202030204" charset="0"/>
                <a:ea typeface="宋体" panose="02010600030101010101" pitchFamily="2" charset="-122"/>
              </a:rPr>
              <a:t>106</a:t>
            </a:fld>
            <a:endParaRPr lang="en-US" altLang="zh-CN" sz="1200" dirty="0">
              <a:latin typeface="Helvetica" panose="020B0604020202030204" charset="0"/>
              <a:ea typeface="宋体" panose="02010600030101010101" pitchFamily="2" charset="-122"/>
            </a:endParaRPr>
          </a:p>
        </p:txBody>
      </p:sp>
      <p:sp>
        <p:nvSpPr>
          <p:cNvPr id="181250" name="Rectangle 2"/>
          <p:cNvSpPr>
            <a:spLocks noGrp="1" noRot="1" noChangeAspect="1" noTextEdit="1"/>
          </p:cNvSpPr>
          <p:nvPr>
            <p:ph type="sldImg"/>
          </p:nvPr>
        </p:nvSpPr>
        <p:spPr>
          <a:xfrm>
            <a:off x="1177925" y="695325"/>
            <a:ext cx="4641850" cy="3481388"/>
          </a:xfrm>
        </p:spPr>
      </p:sp>
      <p:sp>
        <p:nvSpPr>
          <p:cNvPr id="804867"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7"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107</a:t>
            </a:fld>
            <a:endParaRPr lang="en-US" altLang="zh-CN" sz="1200" dirty="0"/>
          </a:p>
        </p:txBody>
      </p:sp>
      <p:sp>
        <p:nvSpPr>
          <p:cNvPr id="183298" name="Rectangle 2"/>
          <p:cNvSpPr>
            <a:spLocks noGrp="1" noRot="1" noChangeAspect="1" noTextEdit="1"/>
          </p:cNvSpPr>
          <p:nvPr>
            <p:ph type="sldImg"/>
          </p:nvPr>
        </p:nvSpPr>
        <p:spPr>
          <a:xfrm>
            <a:off x="1177925" y="695325"/>
            <a:ext cx="4641850" cy="3481388"/>
          </a:xfrm>
        </p:spPr>
      </p:sp>
      <p:sp>
        <p:nvSpPr>
          <p:cNvPr id="806915"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5"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108</a:t>
            </a:fld>
            <a:endParaRPr lang="en-US" altLang="zh-CN" sz="1200" dirty="0"/>
          </a:p>
        </p:txBody>
      </p:sp>
      <p:sp>
        <p:nvSpPr>
          <p:cNvPr id="185346" name="Rectangle 2"/>
          <p:cNvSpPr>
            <a:spLocks noGrp="1" noRot="1" noChangeAspect="1" noTextEdit="1"/>
          </p:cNvSpPr>
          <p:nvPr>
            <p:ph type="sldImg"/>
          </p:nvPr>
        </p:nvSpPr>
        <p:spPr>
          <a:xfrm>
            <a:off x="1177925" y="695325"/>
            <a:ext cx="4641850" cy="3481388"/>
          </a:xfrm>
        </p:spPr>
      </p:sp>
      <p:sp>
        <p:nvSpPr>
          <p:cNvPr id="808963"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3"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109</a:t>
            </a:fld>
            <a:endParaRPr lang="en-US" altLang="zh-CN" sz="1200" dirty="0"/>
          </a:p>
        </p:txBody>
      </p:sp>
      <p:sp>
        <p:nvSpPr>
          <p:cNvPr id="187394" name="Rectangle 2"/>
          <p:cNvSpPr>
            <a:spLocks noGrp="1" noRot="1" noChangeAspect="1" noTextEdit="1"/>
          </p:cNvSpPr>
          <p:nvPr>
            <p:ph type="sldImg"/>
          </p:nvPr>
        </p:nvSpPr>
        <p:spPr>
          <a:xfrm>
            <a:off x="1177925" y="695325"/>
            <a:ext cx="4641850" cy="3481388"/>
          </a:xfrm>
        </p:spPr>
      </p:sp>
      <p:sp>
        <p:nvSpPr>
          <p:cNvPr id="811011"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1"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110</a:t>
            </a:fld>
            <a:endParaRPr lang="en-US" altLang="zh-CN" sz="1200" dirty="0"/>
          </a:p>
        </p:txBody>
      </p:sp>
      <p:sp>
        <p:nvSpPr>
          <p:cNvPr id="189442" name="Rectangle 2"/>
          <p:cNvSpPr>
            <a:spLocks noGrp="1" noRot="1" noChangeAspect="1" noTextEdit="1"/>
          </p:cNvSpPr>
          <p:nvPr>
            <p:ph type="sldImg"/>
          </p:nvPr>
        </p:nvSpPr>
        <p:spPr>
          <a:xfrm>
            <a:off x="1177925" y="695325"/>
            <a:ext cx="4641850" cy="3481388"/>
          </a:xfrm>
        </p:spPr>
      </p:sp>
      <p:sp>
        <p:nvSpPr>
          <p:cNvPr id="813059"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89"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111</a:t>
            </a:fld>
            <a:endParaRPr lang="en-US" altLang="zh-CN" sz="1200" dirty="0"/>
          </a:p>
        </p:txBody>
      </p:sp>
      <p:sp>
        <p:nvSpPr>
          <p:cNvPr id="191490" name="Rectangle 2"/>
          <p:cNvSpPr>
            <a:spLocks noGrp="1" noRot="1" noChangeAspect="1" noTextEdit="1"/>
          </p:cNvSpPr>
          <p:nvPr>
            <p:ph type="sldImg"/>
          </p:nvPr>
        </p:nvSpPr>
        <p:spPr>
          <a:xfrm>
            <a:off x="1177925" y="695325"/>
            <a:ext cx="4641850" cy="3481388"/>
          </a:xfrm>
        </p:spPr>
      </p:sp>
      <p:sp>
        <p:nvSpPr>
          <p:cNvPr id="827395"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7"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112</a:t>
            </a:fld>
            <a:endParaRPr lang="en-US" altLang="zh-CN" sz="1200" dirty="0"/>
          </a:p>
        </p:txBody>
      </p:sp>
      <p:sp>
        <p:nvSpPr>
          <p:cNvPr id="193538" name="Rectangle 2"/>
          <p:cNvSpPr>
            <a:spLocks noGrp="1" noRot="1" noChangeAspect="1" noTextEdit="1"/>
          </p:cNvSpPr>
          <p:nvPr>
            <p:ph type="sldImg"/>
          </p:nvPr>
        </p:nvSpPr>
        <p:spPr>
          <a:xfrm>
            <a:off x="1177925" y="695325"/>
            <a:ext cx="4641850" cy="3481388"/>
          </a:xfrm>
        </p:spPr>
      </p:sp>
      <p:sp>
        <p:nvSpPr>
          <p:cNvPr id="829443"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5"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113</a:t>
            </a:fld>
            <a:endParaRPr lang="en-US" altLang="zh-CN" sz="1200" dirty="0"/>
          </a:p>
        </p:txBody>
      </p:sp>
      <p:sp>
        <p:nvSpPr>
          <p:cNvPr id="195586" name="Rectangle 2"/>
          <p:cNvSpPr>
            <a:spLocks noGrp="1" noRot="1" noChangeAspect="1" noTextEdit="1"/>
          </p:cNvSpPr>
          <p:nvPr>
            <p:ph type="sldImg"/>
          </p:nvPr>
        </p:nvSpPr>
        <p:spPr>
          <a:xfrm>
            <a:off x="1177925" y="695325"/>
            <a:ext cx="4641850" cy="3481388"/>
          </a:xfrm>
        </p:spPr>
      </p:sp>
      <p:sp>
        <p:nvSpPr>
          <p:cNvPr id="831491"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3"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114</a:t>
            </a:fld>
            <a:endParaRPr lang="en-US" altLang="zh-CN" sz="1200" dirty="0"/>
          </a:p>
        </p:txBody>
      </p:sp>
      <p:sp>
        <p:nvSpPr>
          <p:cNvPr id="197634" name="Rectangle 2"/>
          <p:cNvSpPr>
            <a:spLocks noGrp="1" noRot="1" noChangeAspect="1" noTextEdit="1"/>
          </p:cNvSpPr>
          <p:nvPr>
            <p:ph type="sldImg"/>
          </p:nvPr>
        </p:nvSpPr>
        <p:spPr>
          <a:xfrm>
            <a:off x="1177925" y="695325"/>
            <a:ext cx="4641850" cy="3481388"/>
          </a:xfrm>
        </p:spPr>
      </p:sp>
      <p:sp>
        <p:nvSpPr>
          <p:cNvPr id="833539"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1"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115</a:t>
            </a:fld>
            <a:endParaRPr lang="en-US" altLang="zh-CN" sz="1200" dirty="0"/>
          </a:p>
        </p:txBody>
      </p:sp>
      <p:sp>
        <p:nvSpPr>
          <p:cNvPr id="199682" name="Rectangle 2"/>
          <p:cNvSpPr>
            <a:spLocks noGrp="1" noRot="1" noChangeAspect="1" noTextEdit="1"/>
          </p:cNvSpPr>
          <p:nvPr>
            <p:ph type="sldImg"/>
          </p:nvPr>
        </p:nvSpPr>
        <p:spPr>
          <a:xfrm>
            <a:off x="1177925" y="695325"/>
            <a:ext cx="4641850" cy="3481388"/>
          </a:xfrm>
        </p:spPr>
      </p:sp>
      <p:sp>
        <p:nvSpPr>
          <p:cNvPr id="835587"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29"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116</a:t>
            </a:fld>
            <a:endParaRPr lang="en-US" altLang="zh-CN" sz="1200" dirty="0"/>
          </a:p>
        </p:txBody>
      </p:sp>
      <p:sp>
        <p:nvSpPr>
          <p:cNvPr id="201730" name="Rectangle 2"/>
          <p:cNvSpPr>
            <a:spLocks noGrp="1" noRot="1" noChangeAspect="1" noTextEdit="1"/>
          </p:cNvSpPr>
          <p:nvPr>
            <p:ph type="sldImg"/>
          </p:nvPr>
        </p:nvSpPr>
        <p:spPr>
          <a:xfrm>
            <a:off x="1177925" y="695325"/>
            <a:ext cx="4641850" cy="3481388"/>
          </a:xfrm>
        </p:spPr>
      </p:sp>
      <p:sp>
        <p:nvSpPr>
          <p:cNvPr id="837635"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7"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117</a:t>
            </a:fld>
            <a:endParaRPr lang="en-US" altLang="zh-CN" sz="1200" dirty="0"/>
          </a:p>
        </p:txBody>
      </p:sp>
      <p:sp>
        <p:nvSpPr>
          <p:cNvPr id="203778" name="Rectangle 2"/>
          <p:cNvSpPr>
            <a:spLocks noGrp="1" noRot="1" noChangeAspect="1" noTextEdit="1"/>
          </p:cNvSpPr>
          <p:nvPr>
            <p:ph type="sldImg"/>
          </p:nvPr>
        </p:nvSpPr>
        <p:spPr>
          <a:xfrm>
            <a:off x="1177925" y="695325"/>
            <a:ext cx="4641850" cy="3481388"/>
          </a:xfrm>
        </p:spPr>
      </p:sp>
      <p:sp>
        <p:nvSpPr>
          <p:cNvPr id="839683"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5" name="Rectangle 7"/>
          <p:cNvSpPr>
            <a:spLocks noGrp="1"/>
          </p:cNvSpPr>
          <p:nvPr>
            <p:ph type="sldNum" sz="quarter"/>
          </p:nvPr>
        </p:nvSpPr>
        <p:spPr>
          <a:xfrm>
            <a:off x="3965575" y="8820150"/>
            <a:ext cx="3032125" cy="463550"/>
          </a:xfrm>
          <a:prstGeom prst="rect">
            <a:avLst/>
          </a:prstGeom>
          <a:noFill/>
          <a:ln w="9525">
            <a:noFill/>
          </a:ln>
        </p:spPr>
        <p:txBody>
          <a:bodyPr vert="horz" wrap="none" lIns="93031" tIns="46516" rIns="93031" bIns="46516" anchor="b"/>
          <a:lstStyle/>
          <a:p>
            <a:pPr lvl="0" algn="r" defTabSz="930275"/>
            <a:fld id="{9A0DB2DC-4C9A-4742-B13C-FB6460FD3503}" type="slidenum">
              <a:rPr lang="en-US" altLang="zh-CN" sz="1200" dirty="0"/>
              <a:t>118</a:t>
            </a:fld>
            <a:endParaRPr lang="en-US" altLang="zh-CN" sz="1200" dirty="0"/>
          </a:p>
        </p:txBody>
      </p:sp>
      <p:sp>
        <p:nvSpPr>
          <p:cNvPr id="205826" name="Rectangle 2"/>
          <p:cNvSpPr>
            <a:spLocks noGrp="1" noRot="1" noChangeAspect="1" noTextEdit="1"/>
          </p:cNvSpPr>
          <p:nvPr>
            <p:ph type="sldImg"/>
          </p:nvPr>
        </p:nvSpPr>
        <p:spPr>
          <a:xfrm>
            <a:off x="1177925" y="695325"/>
            <a:ext cx="4641850" cy="3481388"/>
          </a:xfrm>
        </p:spPr>
      </p:sp>
      <p:sp>
        <p:nvSpPr>
          <p:cNvPr id="841731" name="Rectangle 3"/>
          <p:cNvSpPr>
            <a:spLocks noGrp="1" noChangeArrowheads="1"/>
          </p:cNvSpPr>
          <p:nvPr>
            <p:ph type="body" idx="1"/>
          </p:nvPr>
        </p:nvSpPr>
        <p:spPr>
          <a:xfrm>
            <a:off x="931863" y="4410075"/>
            <a:ext cx="5133975" cy="4178300"/>
          </a:xfrm>
        </p:spPr>
        <p:txBody>
          <a:bodyPr wrap="none" lIns="93031" tIns="46516" rIns="93031" bIns="4651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vmlDrawing" Target="../drawings/vmlDrawing1.vml"/><Relationship Id="rId5" Type="http://schemas.openxmlformats.org/officeDocument/2006/relationships/image" Target="../media/image1.jpeg"/><Relationship Id="rId4" Type="http://schemas.openxmlformats.org/officeDocument/2006/relationships/hyperlink" Target="http://www.db-book.com/" TargetMode="Externa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accent1"/>
        </a:solidFill>
        <a:effectLst/>
      </p:bgPr>
    </p:bg>
    <p:spTree>
      <p:nvGrpSpPr>
        <p:cNvPr id="1" name=""/>
        <p:cNvGrpSpPr/>
        <p:nvPr/>
      </p:nvGrpSpPr>
      <p:grpSpPr>
        <a:xfrm>
          <a:off x="0" y="0"/>
          <a:ext cx="0" cy="0"/>
          <a:chOff x="0" y="0"/>
          <a:chExt cx="0" cy="0"/>
        </a:xfrm>
      </p:grpSpPr>
      <p:graphicFrame>
        <p:nvGraphicFramePr>
          <p:cNvPr id="2050" name="Rectangle 6"/>
          <p:cNvGraphicFramePr/>
          <p:nvPr/>
        </p:nvGraphicFramePr>
        <p:xfrm>
          <a:off x="1524000" y="1397000"/>
          <a:ext cx="6096000" cy="4064000"/>
        </p:xfrm>
        <a:graphic>
          <a:graphicData uri="http://schemas.openxmlformats.org/presentationml/2006/ole">
            <mc:AlternateContent xmlns:mc="http://schemas.openxmlformats.org/markup-compatibility/2006">
              <mc:Choice xmlns:v="urn:schemas-microsoft-com:vml" Requires="v">
                <p:oleObj spid="_x0000_s3092" r:id="rId3" imgW="0" imgH="0" progId="MS_ClipArt_Gallery.2">
                  <p:embed/>
                </p:oleObj>
              </mc:Choice>
              <mc:Fallback>
                <p:oleObj r:id="rId3" imgW="0" imgH="0" progId="MS_ClipArt_Gallery.2">
                  <p:embed/>
                  <p:pic>
                    <p:nvPicPr>
                      <p:cNvPr id="0" name="图片 3075"/>
                      <p:cNvPicPr/>
                      <p:nvPr/>
                    </p:nvPicPr>
                    <p:blipFill>
                      <a:blip/>
                      <a:stretch>
                        <a:fillRect/>
                      </a:stretch>
                    </p:blipFill>
                    <p:spPr>
                      <a:xfrm>
                        <a:off x="1524000" y="1397000"/>
                        <a:ext cx="6096000" cy="4064000"/>
                      </a:xfrm>
                      <a:prstGeom prst="rect">
                        <a:avLst/>
                      </a:prstGeom>
                      <a:noFill/>
                      <a:ln w="38100">
                        <a:noFill/>
                        <a:miter/>
                      </a:ln>
                    </p:spPr>
                  </p:pic>
                </p:oleObj>
              </mc:Fallback>
            </mc:AlternateContent>
          </a:graphicData>
        </a:graphic>
      </p:graphicFrame>
      <p:sp>
        <p:nvSpPr>
          <p:cNvPr id="2051" name="Text Box 7"/>
          <p:cNvSpPr txBox="1"/>
          <p:nvPr/>
        </p:nvSpPr>
        <p:spPr>
          <a:xfrm>
            <a:off x="2676525" y="5726113"/>
            <a:ext cx="3689350" cy="793750"/>
          </a:xfrm>
          <a:prstGeom prst="rect">
            <a:avLst/>
          </a:prstGeom>
          <a:noFill/>
          <a:ln w="9525">
            <a:noFill/>
          </a:ln>
        </p:spPr>
        <p:txBody>
          <a:bodyPr wrap="none" anchor="t">
            <a:spAutoFit/>
          </a:bodyPr>
          <a:lstStyle/>
          <a:p>
            <a:pPr lvl="0" algn="ctr" eaLnBrk="0" hangingPunct="0">
              <a:spcBef>
                <a:spcPct val="50000"/>
              </a:spcBef>
            </a:pPr>
            <a:r>
              <a:rPr lang="en-US" altLang="zh-CN" b="1" dirty="0">
                <a:solidFill>
                  <a:schemeClr val="tx2"/>
                </a:solidFill>
                <a:latin typeface="Helvetica" panose="020B0604020202030204" charset="0"/>
              </a:rPr>
              <a:t>Database System Concepts, 6</a:t>
            </a:r>
            <a:r>
              <a:rPr lang="en-US" altLang="zh-CN" b="1" baseline="30000" dirty="0">
                <a:solidFill>
                  <a:schemeClr val="tx2"/>
                </a:solidFill>
                <a:latin typeface="Helvetica" panose="020B0604020202030204" charset="0"/>
              </a:rPr>
              <a:t>th</a:t>
            </a:r>
            <a:r>
              <a:rPr lang="en-US" altLang="zh-CN" b="1" dirty="0">
                <a:solidFill>
                  <a:schemeClr val="tx2"/>
                </a:solidFill>
                <a:latin typeface="Helvetica" panose="020B0604020202030204" charset="0"/>
              </a:rPr>
              <a:t> Ed</a:t>
            </a:r>
            <a:r>
              <a:rPr lang="en-US" altLang="zh-CN" dirty="0">
                <a:solidFill>
                  <a:schemeClr val="tx2"/>
                </a:solidFill>
                <a:latin typeface="Helvetica" panose="020B0604020202030204" charset="0"/>
              </a:rPr>
              <a:t>.</a:t>
            </a:r>
          </a:p>
          <a:p>
            <a:pPr lvl="0" algn="ctr" eaLnBrk="0" hangingPunct="0">
              <a:spcBef>
                <a:spcPct val="50000"/>
              </a:spcBef>
            </a:pPr>
            <a:r>
              <a:rPr lang="en-US" altLang="zh-CN" sz="1200" b="1" dirty="0">
                <a:solidFill>
                  <a:schemeClr val="tx2"/>
                </a:solidFill>
                <a:latin typeface="Helvetica" panose="020B0604020202030204" charset="0"/>
              </a:rPr>
              <a:t>©Silberschatz, Korth and Sudarshan</a:t>
            </a:r>
            <a:br>
              <a:rPr lang="en-US" altLang="zh-CN" sz="1200" b="1" dirty="0">
                <a:solidFill>
                  <a:srgbClr val="000099"/>
                </a:solidFill>
                <a:latin typeface="Helvetica" panose="020B0604020202030204" charset="0"/>
              </a:rPr>
            </a:br>
            <a:r>
              <a:rPr lang="en-US" altLang="zh-CN" sz="1200" b="1" dirty="0">
                <a:solidFill>
                  <a:schemeClr val="tx2"/>
                </a:solidFill>
                <a:latin typeface="Helvetica" panose="020B0604020202030204" charset="0"/>
              </a:rPr>
              <a:t>See</a:t>
            </a:r>
            <a:r>
              <a:rPr lang="en-US" altLang="zh-CN" sz="1200" b="1" dirty="0">
                <a:solidFill>
                  <a:srgbClr val="000099"/>
                </a:solidFill>
                <a:latin typeface="Helvetica" panose="020B0604020202030204" charset="0"/>
              </a:rPr>
              <a:t> </a:t>
            </a:r>
            <a:r>
              <a:rPr lang="en-US" altLang="zh-CN" sz="1200" b="1" dirty="0">
                <a:solidFill>
                  <a:srgbClr val="000099"/>
                </a:solidFill>
                <a:latin typeface="Helvetica" panose="020B0604020202030204" charset="0"/>
                <a:hlinkClick r:id="rId4"/>
              </a:rPr>
              <a:t>www.db-book.com</a:t>
            </a:r>
            <a:r>
              <a:rPr lang="en-US" altLang="zh-CN" sz="1200" b="1" dirty="0">
                <a:solidFill>
                  <a:srgbClr val="000099"/>
                </a:solidFill>
                <a:latin typeface="Helvetica" panose="020B0604020202030204" charset="0"/>
              </a:rPr>
              <a:t> </a:t>
            </a:r>
            <a:r>
              <a:rPr lang="en-US" altLang="zh-CN" sz="1200" b="1" dirty="0">
                <a:solidFill>
                  <a:schemeClr val="tx2"/>
                </a:solidFill>
                <a:latin typeface="Helvetica" panose="020B0604020202030204" charset="0"/>
              </a:rPr>
              <a:t>for conditions on re-use</a:t>
            </a:r>
            <a:r>
              <a:rPr lang="en-US" altLang="zh-CN" sz="1200" b="1" dirty="0">
                <a:solidFill>
                  <a:srgbClr val="CC3300"/>
                </a:solidFill>
                <a:latin typeface="Helvetica" panose="020B0604020202030204" charset="0"/>
              </a:rPr>
              <a:t> </a:t>
            </a:r>
          </a:p>
        </p:txBody>
      </p:sp>
      <p:pic>
        <p:nvPicPr>
          <p:cNvPr id="2052" name="Picture 8" descr="Cover-6Ed"/>
          <p:cNvPicPr>
            <a:picLocks noChangeAspect="1"/>
          </p:cNvPicPr>
          <p:nvPr/>
        </p:nvPicPr>
        <p:blipFill>
          <a:blip r:embed="rId5"/>
          <a:stretch>
            <a:fillRect/>
          </a:stretch>
        </p:blipFill>
        <p:spPr>
          <a:xfrm>
            <a:off x="0" y="0"/>
            <a:ext cx="1392238" cy="1700213"/>
          </a:xfrm>
          <a:prstGeom prst="rect">
            <a:avLst/>
          </a:prstGeom>
          <a:noFill/>
          <a:ln w="9525">
            <a:noFill/>
          </a:ln>
        </p:spPr>
      </p:pic>
      <p:sp>
        <p:nvSpPr>
          <p:cNvPr id="847874" name="Rectangle 2"/>
          <p:cNvSpPr>
            <a:spLocks noGrp="1" noChangeArrowheads="1"/>
          </p:cNvSpPr>
          <p:nvPr>
            <p:ph type="ctrTitle"/>
          </p:nvPr>
        </p:nvSpPr>
        <p:spPr>
          <a:xfrm>
            <a:off x="685800" y="2286000"/>
            <a:ext cx="7772400" cy="1143000"/>
          </a:xfrm>
        </p:spPr>
        <p:txBody>
          <a:bodyPr/>
          <a:lstStyle>
            <a:lvl1pPr>
              <a:defRPr>
                <a:solidFill>
                  <a:srgbClr val="CC3300"/>
                </a:solidFill>
              </a:defRPr>
            </a:lvl1pPr>
          </a:lstStyle>
          <a:p>
            <a:pPr lvl="0" fontAlgn="base"/>
            <a:r>
              <a:rPr lang="en-US" altLang="zh-CN" strike="noStrike" noProof="0"/>
              <a:t>Click to edit Master title style</a:t>
            </a:r>
          </a:p>
        </p:txBody>
      </p:sp>
      <p:sp>
        <p:nvSpPr>
          <p:cNvPr id="847875" name="Rectangle 3"/>
          <p:cNvSpPr>
            <a:spLocks noGrp="1" noChangeArrowheads="1"/>
          </p:cNvSpPr>
          <p:nvPr>
            <p:ph type="subTitle" idx="1"/>
          </p:nvPr>
        </p:nvSpPr>
        <p:spPr>
          <a:xfrm>
            <a:off x="1371600" y="3886200"/>
            <a:ext cx="6400800" cy="1752600"/>
          </a:xfrm>
        </p:spPr>
        <p:txBody>
          <a:bodyPr/>
          <a:lstStyle>
            <a:lvl1pPr marL="0" indent="0" algn="ctr">
              <a:buFont typeface="Monotype Sorts" charset="0"/>
              <a:buNone/>
              <a:defRPr/>
            </a:lvl1pPr>
          </a:lstStyle>
          <a:p>
            <a:pPr lvl="0" fontAlgn="base"/>
            <a:r>
              <a:rPr lang="en-US" altLang="zh-CN" strike="noStrike" noProof="0"/>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二级</a:t>
            </a:r>
          </a:p>
          <a:p>
            <a:pPr lvl="2" fontAlgn="base"/>
            <a:r>
              <a:rPr lang="zh-CN" altLang="en-US" strike="noStrike" noProof="1"/>
              <a:t>三级</a:t>
            </a:r>
          </a:p>
          <a:p>
            <a:pPr lvl="3" fontAlgn="base"/>
            <a:r>
              <a:rPr lang="zh-CN" altLang="en-US" strike="noStrike" noProof="1"/>
              <a:t>四级</a:t>
            </a:r>
          </a:p>
          <a:p>
            <a:pPr lvl="4" fontAlgn="base"/>
            <a:r>
              <a:rPr lang="zh-CN" altLang="en-US" strike="noStrike" noProof="1"/>
              <a:t>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814388" y="1093788"/>
            <a:ext cx="3754437" cy="49037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二级</a:t>
            </a:r>
          </a:p>
          <a:p>
            <a:pPr lvl="2" fontAlgn="base"/>
            <a:r>
              <a:rPr lang="zh-CN" altLang="en-US" strike="noStrike" noProof="1"/>
              <a:t>三级</a:t>
            </a:r>
          </a:p>
          <a:p>
            <a:pPr lvl="3" fontAlgn="base"/>
            <a:r>
              <a:rPr lang="zh-CN" altLang="en-US" strike="noStrike" noProof="1"/>
              <a:t>四级</a:t>
            </a:r>
          </a:p>
          <a:p>
            <a:pPr lvl="4" fontAlgn="base"/>
            <a:r>
              <a:rPr lang="zh-CN" altLang="en-US" strike="noStrike" noProof="1"/>
              <a:t>五级</a:t>
            </a:r>
          </a:p>
        </p:txBody>
      </p:sp>
      <p:sp>
        <p:nvSpPr>
          <p:cNvPr id="4" name="内容占位符 3"/>
          <p:cNvSpPr>
            <a:spLocks noGrp="1"/>
          </p:cNvSpPr>
          <p:nvPr>
            <p:ph sz="half" idx="2"/>
          </p:nvPr>
        </p:nvSpPr>
        <p:spPr>
          <a:xfrm>
            <a:off x="4721225" y="1093788"/>
            <a:ext cx="3754438" cy="49037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二级</a:t>
            </a:r>
          </a:p>
          <a:p>
            <a:pPr lvl="2" fontAlgn="base"/>
            <a:r>
              <a:rPr lang="zh-CN" altLang="en-US" strike="noStrike" noProof="1"/>
              <a:t>三级</a:t>
            </a:r>
          </a:p>
          <a:p>
            <a:pPr lvl="3" fontAlgn="base"/>
            <a:r>
              <a:rPr lang="zh-CN" altLang="en-US" strike="noStrike" noProof="1"/>
              <a:t>四级</a:t>
            </a:r>
          </a:p>
          <a:p>
            <a:pPr lvl="4" fontAlgn="base"/>
            <a:r>
              <a:rPr lang="zh-CN" altLang="en-US" strike="noStrike" noProof="1"/>
              <a:t>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二级</a:t>
            </a:r>
          </a:p>
          <a:p>
            <a:pPr lvl="2" fontAlgn="base"/>
            <a:r>
              <a:rPr lang="zh-CN" altLang="en-US" strike="noStrike" noProof="1"/>
              <a:t>三级</a:t>
            </a:r>
          </a:p>
          <a:p>
            <a:pPr lvl="3" fontAlgn="base"/>
            <a:r>
              <a:rPr lang="zh-CN" altLang="en-US" strike="noStrike" noProof="1"/>
              <a:t>四级</a:t>
            </a:r>
          </a:p>
          <a:p>
            <a:pPr lvl="4" fontAlgn="base"/>
            <a:r>
              <a:rPr lang="zh-CN" altLang="en-US" strike="noStrike" noProof="1"/>
              <a:t>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二级</a:t>
            </a:r>
          </a:p>
          <a:p>
            <a:pPr lvl="2" fontAlgn="base"/>
            <a:r>
              <a:rPr lang="zh-CN" altLang="en-US" strike="noStrike" noProof="1"/>
              <a:t>三级</a:t>
            </a:r>
          </a:p>
          <a:p>
            <a:pPr lvl="3" fontAlgn="base"/>
            <a:r>
              <a:rPr lang="zh-CN" altLang="en-US" strike="noStrike" noProof="1"/>
              <a:t>四级</a:t>
            </a:r>
          </a:p>
          <a:p>
            <a:pPr lvl="4" fontAlgn="base"/>
            <a:r>
              <a:rPr lang="zh-CN" altLang="en-US" strike="noStrike" noProof="1"/>
              <a:t>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二级</a:t>
            </a:r>
          </a:p>
          <a:p>
            <a:pPr lvl="2" fontAlgn="base"/>
            <a:r>
              <a:rPr lang="zh-CN" altLang="en-US" strike="noStrike" noProof="1"/>
              <a:t>三级</a:t>
            </a:r>
          </a:p>
          <a:p>
            <a:pPr lvl="3" fontAlgn="base"/>
            <a:r>
              <a:rPr lang="zh-CN" altLang="en-US" strike="noStrike" noProof="1"/>
              <a:t>四级</a:t>
            </a:r>
          </a:p>
          <a:p>
            <a:pPr lvl="4" fontAlgn="base"/>
            <a:r>
              <a:rPr lang="zh-CN" altLang="en-US" strike="noStrike" noProof="1"/>
              <a:t>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35000"/>
              </a:spcBef>
              <a:spcAft>
                <a:spcPct val="0"/>
              </a:spcAft>
              <a:buClr>
                <a:schemeClr val="tx2"/>
              </a:buClr>
              <a:buSzPct val="90000"/>
              <a:buFont typeface="Monotype Sorts" charset="0"/>
              <a:buNone/>
              <a:defRPr/>
            </a:pPr>
            <a:endParaRPr kumimoji="1" lang="zh-CN" altLang="en-US" sz="3200" b="0" i="0" u="none" strike="noStrike" kern="0" cap="none" spc="0" normalizeH="0" baseline="0" noProof="0">
              <a:ln>
                <a:noFill/>
              </a:ln>
              <a:solidFill>
                <a:schemeClr val="tx1"/>
              </a:solidFill>
              <a:effectLst/>
              <a:uLnTx/>
              <a:uFillTx/>
              <a:latin typeface="Arial" panose="020B0604020202020204"/>
              <a:ea typeface="+mn-ea"/>
              <a:cs typeface="Arial" panose="020B0604020202020204"/>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本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二级</a:t>
            </a:r>
          </a:p>
          <a:p>
            <a:pPr lvl="2" fontAlgn="base"/>
            <a:r>
              <a:rPr lang="zh-CN" altLang="en-US" strike="noStrike" noProof="1"/>
              <a:t>三级</a:t>
            </a:r>
          </a:p>
          <a:p>
            <a:pPr lvl="3" fontAlgn="base"/>
            <a:r>
              <a:rPr lang="zh-CN" altLang="en-US" strike="noStrike" noProof="1"/>
              <a:t>四级</a:t>
            </a:r>
          </a:p>
          <a:p>
            <a:pPr lvl="4" fontAlgn="base"/>
            <a:r>
              <a:rPr lang="zh-CN" altLang="en-US" strike="noStrike" noProof="1"/>
              <a:t>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26250" y="117475"/>
            <a:ext cx="2019300" cy="5880100"/>
          </a:xfrm>
        </p:spPr>
        <p:txBody>
          <a:bodyPr vert="eaVert"/>
          <a:lstStyle/>
          <a:p>
            <a:pPr fontAlgn="base"/>
            <a:r>
              <a:rPr lang="zh-CN" altLang="en-US" strike="noStrike" noProof="1"/>
              <a:t>单击此处编辑母版标题样式</a:t>
            </a:r>
          </a:p>
        </p:txBody>
      </p:sp>
      <p:sp>
        <p:nvSpPr>
          <p:cNvPr id="3" name="竖排文本占位符 2"/>
          <p:cNvSpPr>
            <a:spLocks noGrp="1"/>
          </p:cNvSpPr>
          <p:nvPr>
            <p:ph type="body" orient="vert" idx="1"/>
          </p:nvPr>
        </p:nvSpPr>
        <p:spPr>
          <a:xfrm>
            <a:off x="768350" y="117475"/>
            <a:ext cx="5905500" cy="5880100"/>
          </a:xfrm>
        </p:spPr>
        <p:txBody>
          <a:bodyPr vert="eaVert"/>
          <a:lstStyle/>
          <a:p>
            <a:pPr lvl="0" fontAlgn="base"/>
            <a:r>
              <a:rPr lang="zh-CN" altLang="en-US" strike="noStrike" noProof="1"/>
              <a:t>单击此处编辑母版文本样式</a:t>
            </a:r>
          </a:p>
          <a:p>
            <a:pPr lvl="1" fontAlgn="base"/>
            <a:r>
              <a:rPr lang="zh-CN" altLang="en-US" strike="noStrike" noProof="1"/>
              <a:t>二级</a:t>
            </a:r>
          </a:p>
          <a:p>
            <a:pPr lvl="2" fontAlgn="base"/>
            <a:r>
              <a:rPr lang="zh-CN" altLang="en-US" strike="noStrike" noProof="1"/>
              <a:t>三级</a:t>
            </a:r>
          </a:p>
          <a:p>
            <a:pPr lvl="3" fontAlgn="base"/>
            <a:r>
              <a:rPr lang="zh-CN" altLang="en-US" strike="noStrike" noProof="1"/>
              <a:t>四级</a:t>
            </a:r>
          </a:p>
          <a:p>
            <a:pPr lvl="4" fontAlgn="base"/>
            <a:r>
              <a:rPr lang="zh-CN" altLang="en-US" strike="noStrike" noProof="1"/>
              <a:t>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p:cNvSpPr>
            <a:spLocks noGrp="1"/>
          </p:cNvSpPr>
          <p:nvPr>
            <p:ph type="body"/>
          </p:nvPr>
        </p:nvSpPr>
        <p:spPr>
          <a:xfrm>
            <a:off x="814388" y="1093788"/>
            <a:ext cx="7661275" cy="4903787"/>
          </a:xfrm>
          <a:prstGeom prst="rect">
            <a:avLst/>
          </a:prstGeom>
          <a:noFill/>
          <a:ln w="9525">
            <a:noFill/>
          </a:ln>
        </p:spPr>
        <p:txBody>
          <a:bodyPr anchor="t"/>
          <a:lstStyle/>
          <a:p>
            <a:pPr lvl="0"/>
            <a:r>
              <a:rPr lang="en-US" altLang="zh-CN" dirty="0"/>
              <a:t>Click to edit Master text styles</a:t>
            </a:r>
          </a:p>
          <a:p>
            <a:pPr lvl="1" indent="-285750"/>
            <a:r>
              <a:rPr lang="en-US" altLang="zh-CN" dirty="0"/>
              <a:t>Second level</a:t>
            </a:r>
          </a:p>
          <a:p>
            <a:pPr lvl="2" indent="-228600"/>
            <a:r>
              <a:rPr lang="en-US" altLang="zh-CN" dirty="0"/>
              <a:t>Third level</a:t>
            </a:r>
          </a:p>
          <a:p>
            <a:pPr lvl="3" indent="-228600"/>
            <a:r>
              <a:rPr lang="en-US" altLang="zh-CN" dirty="0"/>
              <a:t>Fourth level</a:t>
            </a:r>
          </a:p>
          <a:p>
            <a:pPr lvl="4" indent="-228600"/>
            <a:r>
              <a:rPr lang="en-US" altLang="zh-CN" dirty="0"/>
              <a:t>Fifth level</a:t>
            </a:r>
          </a:p>
        </p:txBody>
      </p:sp>
      <p:sp>
        <p:nvSpPr>
          <p:cNvPr id="1027" name="Text Box 4"/>
          <p:cNvSpPr txBox="1"/>
          <p:nvPr/>
        </p:nvSpPr>
        <p:spPr>
          <a:xfrm>
            <a:off x="6762750" y="6613525"/>
            <a:ext cx="2381250" cy="244475"/>
          </a:xfrm>
          <a:prstGeom prst="rect">
            <a:avLst/>
          </a:prstGeom>
          <a:noFill/>
          <a:ln w="9525">
            <a:noFill/>
          </a:ln>
        </p:spPr>
        <p:txBody>
          <a:bodyPr wrap="none" anchor="t">
            <a:spAutoFit/>
          </a:bodyPr>
          <a:lstStyle/>
          <a:p>
            <a:pPr lvl="0" algn="ctr" eaLnBrk="0" hangingPunct="0">
              <a:spcBef>
                <a:spcPct val="50000"/>
              </a:spcBef>
            </a:pPr>
            <a:r>
              <a:rPr lang="en-US" altLang="zh-CN" sz="1000" b="1" dirty="0">
                <a:solidFill>
                  <a:srgbClr val="000099"/>
                </a:solidFill>
                <a:latin typeface="Helvetica" panose="020B0604020202030204" charset="0"/>
              </a:rPr>
              <a:t>©Silberschatz, Korth and Sudarshan</a:t>
            </a:r>
          </a:p>
        </p:txBody>
      </p:sp>
      <p:sp>
        <p:nvSpPr>
          <p:cNvPr id="1028" name="Text Box 5"/>
          <p:cNvSpPr txBox="1"/>
          <p:nvPr/>
        </p:nvSpPr>
        <p:spPr>
          <a:xfrm>
            <a:off x="4481513" y="6613525"/>
            <a:ext cx="444500" cy="244475"/>
          </a:xfrm>
          <a:prstGeom prst="rect">
            <a:avLst/>
          </a:prstGeom>
          <a:noFill/>
          <a:ln w="9525">
            <a:noFill/>
          </a:ln>
        </p:spPr>
        <p:txBody>
          <a:bodyPr wrap="none" anchor="t">
            <a:spAutoFit/>
          </a:bodyPr>
          <a:lstStyle/>
          <a:p>
            <a:pPr lvl="0" algn="ctr" eaLnBrk="0" hangingPunct="0">
              <a:spcBef>
                <a:spcPct val="50000"/>
              </a:spcBef>
            </a:pPr>
            <a:r>
              <a:rPr lang="en-US" altLang="zh-CN" sz="1000" b="1" dirty="0">
                <a:solidFill>
                  <a:srgbClr val="000099"/>
                </a:solidFill>
                <a:latin typeface="Helvetica" panose="020B0604020202030204" charset="0"/>
              </a:rPr>
              <a:t>8.</a:t>
            </a:r>
            <a:fld id="{9A0DB2DC-4C9A-4742-B13C-FB6460FD3503}" type="slidenum">
              <a:rPr lang="en-US" altLang="zh-CN" sz="1000" b="1" dirty="0">
                <a:solidFill>
                  <a:srgbClr val="000099"/>
                </a:solidFill>
                <a:latin typeface="Helvetica" panose="020B0604020202030204" charset="0"/>
              </a:rPr>
              <a:t>‹#›</a:t>
            </a:fld>
            <a:endParaRPr lang="en-US" altLang="zh-CN" sz="1000" b="1" dirty="0">
              <a:solidFill>
                <a:srgbClr val="000099"/>
              </a:solidFill>
              <a:latin typeface="Helvetica" panose="020B0604020202030204" charset="0"/>
            </a:endParaRPr>
          </a:p>
        </p:txBody>
      </p:sp>
      <p:sp>
        <p:nvSpPr>
          <p:cNvPr id="846854" name="Rectangle 6"/>
          <p:cNvSpPr>
            <a:spLocks noGrp="1" noChangeArrowheads="1"/>
          </p:cNvSpPr>
          <p:nvPr>
            <p:ph type="title"/>
          </p:nvPr>
        </p:nvSpPr>
        <p:spPr bwMode="auto">
          <a:xfrm>
            <a:off x="768350" y="117475"/>
            <a:ext cx="8077200" cy="609600"/>
          </a:xfrm>
          <a:prstGeom prst="rect">
            <a:avLst/>
          </a:prstGeom>
          <a:noFill/>
          <a:ln>
            <a:noFill/>
          </a:ln>
        </p:spPr>
        <p:txBody>
          <a:bodyPr vert="horz" wrap="square" lIns="91440" tIns="45720" rIns="91440" bIns="45720" numCol="1" anchor="b" anchorCtr="0" compatLnSpc="1"/>
          <a:lstStyle/>
          <a:p>
            <a:pPr lvl="0" fontAlgn="base"/>
            <a:r>
              <a:rPr lang="en-US" altLang="zh-CN" strike="noStrike" noProof="1"/>
              <a:t>Click to edit Master title style</a:t>
            </a:r>
          </a:p>
        </p:txBody>
      </p:sp>
      <p:sp>
        <p:nvSpPr>
          <p:cNvPr id="846855" name="Text Box 7"/>
          <p:cNvSpPr txBox="1">
            <a:spLocks noChangeArrowheads="1"/>
          </p:cNvSpPr>
          <p:nvPr/>
        </p:nvSpPr>
        <p:spPr bwMode="auto">
          <a:xfrm>
            <a:off x="0" y="6613525"/>
            <a:ext cx="2574925" cy="244475"/>
          </a:xfrm>
          <a:prstGeom prst="rect">
            <a:avLst/>
          </a:prstGeom>
          <a:noFill/>
          <a:ln>
            <a:noFill/>
          </a:ln>
          <a:effectLst/>
        </p:spPr>
        <p:txBody>
          <a:bodyPr wrap="none">
            <a:spAutoFit/>
          </a:bodyPr>
          <a:lstStyle/>
          <a:p>
            <a:pPr marL="0" marR="0" lvl="0" indent="0" algn="l" defTabSz="914400" rtl="0" eaLnBrk="0" fontAlgn="base" latinLnBrk="0" hangingPunct="0">
              <a:lnSpc>
                <a:spcPct val="100000"/>
              </a:lnSpc>
              <a:spcBef>
                <a:spcPct val="50000"/>
              </a:spcBef>
              <a:spcAft>
                <a:spcPct val="0"/>
              </a:spcAft>
              <a:buClrTx/>
              <a:buSzTx/>
              <a:buFontTx/>
              <a:buNone/>
              <a:defRPr/>
            </a:pPr>
            <a:r>
              <a:rPr kumimoji="0" lang="en-US" altLang="zh-CN" sz="1000" b="1" i="0" u="none" strike="noStrike" kern="1200" cap="none" spc="0" normalizeH="0" baseline="0" noProof="0">
                <a:ln>
                  <a:noFill/>
                </a:ln>
                <a:solidFill>
                  <a:srgbClr val="000099"/>
                </a:solidFill>
                <a:effectLst/>
                <a:uLnTx/>
                <a:uFillTx/>
                <a:latin typeface="Helvetica" panose="020B0604020202030204" charset="0"/>
                <a:ea typeface="宋体" panose="02010600030101010101" pitchFamily="2" charset="-122"/>
                <a:cs typeface="+mn-cs"/>
                <a:sym typeface="+mn-ea"/>
              </a:rPr>
              <a:t>Database System Concepts - 6</a:t>
            </a:r>
            <a:r>
              <a:rPr kumimoji="0" lang="en-US" altLang="zh-CN" sz="1000" b="1" i="0" u="none" strike="noStrike" kern="1200" cap="none" spc="0" normalizeH="0" baseline="30000" noProof="0">
                <a:ln>
                  <a:noFill/>
                </a:ln>
                <a:solidFill>
                  <a:srgbClr val="000099"/>
                </a:solidFill>
                <a:effectLst/>
                <a:uLnTx/>
                <a:uFillTx/>
                <a:latin typeface="Helvetica" panose="020B0604020202030204" charset="0"/>
                <a:ea typeface="宋体" panose="02010600030101010101" pitchFamily="2" charset="-122"/>
                <a:cs typeface="+mn-cs"/>
                <a:sym typeface="+mn-ea"/>
              </a:rPr>
              <a:t>th</a:t>
            </a:r>
            <a:r>
              <a:rPr kumimoji="0" lang="en-US" altLang="zh-CN" sz="1000" b="1" i="0" u="none" strike="noStrike" kern="1200" cap="none" spc="0" normalizeH="0" baseline="0" noProof="0">
                <a:ln>
                  <a:noFill/>
                </a:ln>
                <a:solidFill>
                  <a:srgbClr val="000099"/>
                </a:solidFill>
                <a:effectLst/>
                <a:uLnTx/>
                <a:uFillTx/>
                <a:latin typeface="Helvetica" panose="020B0604020202030204" charset="0"/>
                <a:ea typeface="宋体" panose="02010600030101010101" pitchFamily="2" charset="-122"/>
                <a:cs typeface="+mn-cs"/>
                <a:sym typeface="+mn-ea"/>
              </a:rPr>
              <a:t> Edition</a:t>
            </a:r>
          </a:p>
        </p:txBody>
      </p:sp>
      <p:sp>
        <p:nvSpPr>
          <p:cNvPr id="1031" name="Freeform 8"/>
          <p:cNvSpPr/>
          <p:nvPr/>
        </p:nvSpPr>
        <p:spPr>
          <a:xfrm>
            <a:off x="8916988" y="5445125"/>
            <a:ext cx="227012" cy="47625"/>
          </a:xfrm>
          <a:custGeom>
            <a:avLst/>
            <a:gdLst/>
            <a:ahLst/>
            <a:cxnLst>
              <a:cxn ang="0">
                <a:pos x="0" y="46064"/>
              </a:cxn>
              <a:cxn ang="0">
                <a:pos x="1593" y="37475"/>
              </a:cxn>
              <a:cxn ang="0">
                <a:pos x="7169" y="26545"/>
              </a:cxn>
              <a:cxn ang="0">
                <a:pos x="13541" y="19518"/>
              </a:cxn>
              <a:cxn ang="0">
                <a:pos x="23896" y="13273"/>
              </a:cxn>
              <a:cxn ang="0">
                <a:pos x="35844" y="7807"/>
              </a:cxn>
              <a:cxn ang="0">
                <a:pos x="45402" y="4684"/>
              </a:cxn>
              <a:cxn ang="0">
                <a:pos x="55757" y="1561"/>
              </a:cxn>
              <a:cxn ang="0">
                <a:pos x="67705" y="0"/>
              </a:cxn>
              <a:cxn ang="0">
                <a:pos x="79653" y="0"/>
              </a:cxn>
              <a:cxn ang="0">
                <a:pos x="93991" y="0"/>
              </a:cxn>
              <a:cxn ang="0">
                <a:pos x="109125" y="0"/>
              </a:cxn>
              <a:cxn ang="0">
                <a:pos x="122666" y="1561"/>
              </a:cxn>
              <a:cxn ang="0">
                <a:pos x="137800" y="4684"/>
              </a:cxn>
              <a:cxn ang="0">
                <a:pos x="152934" y="6246"/>
              </a:cxn>
              <a:cxn ang="0">
                <a:pos x="166475" y="9369"/>
              </a:cxn>
              <a:cxn ang="0">
                <a:pos x="178423" y="11711"/>
              </a:cxn>
              <a:cxn ang="0">
                <a:pos x="190371" y="14834"/>
              </a:cxn>
              <a:cxn ang="0">
                <a:pos x="202319" y="17957"/>
              </a:cxn>
              <a:cxn ang="0">
                <a:pos x="211878" y="19518"/>
              </a:cxn>
              <a:cxn ang="0">
                <a:pos x="217454" y="21080"/>
              </a:cxn>
              <a:cxn ang="0">
                <a:pos x="225419" y="24203"/>
              </a:cxn>
              <a:cxn ang="0">
                <a:pos x="222233" y="34352"/>
              </a:cxn>
              <a:cxn ang="0">
                <a:pos x="217454" y="32791"/>
              </a:cxn>
              <a:cxn ang="0">
                <a:pos x="207099" y="31230"/>
              </a:cxn>
              <a:cxn ang="0">
                <a:pos x="191965" y="28107"/>
              </a:cxn>
              <a:cxn ang="0">
                <a:pos x="183203" y="26545"/>
              </a:cxn>
              <a:cxn ang="0">
                <a:pos x="173644" y="24984"/>
              </a:cxn>
              <a:cxn ang="0">
                <a:pos x="164882" y="24203"/>
              </a:cxn>
              <a:cxn ang="0">
                <a:pos x="156121" y="22641"/>
              </a:cxn>
              <a:cxn ang="0">
                <a:pos x="144969" y="21080"/>
              </a:cxn>
              <a:cxn ang="0">
                <a:pos x="137800" y="19518"/>
              </a:cxn>
              <a:cxn ang="0">
                <a:pos x="129835" y="17957"/>
              </a:cxn>
              <a:cxn ang="0">
                <a:pos x="122666" y="16395"/>
              </a:cxn>
              <a:cxn ang="0">
                <a:pos x="113108" y="14834"/>
              </a:cxn>
              <a:cxn ang="0">
                <a:pos x="87619" y="11711"/>
              </a:cxn>
              <a:cxn ang="0">
                <a:pos x="66112" y="16395"/>
              </a:cxn>
              <a:cxn ang="0">
                <a:pos x="46995" y="22641"/>
              </a:cxn>
              <a:cxn ang="0">
                <a:pos x="42216" y="24203"/>
              </a:cxn>
              <a:cxn ang="0">
                <a:pos x="34251" y="26545"/>
              </a:cxn>
              <a:cxn ang="0">
                <a:pos x="25489" y="29668"/>
              </a:cxn>
              <a:cxn ang="0">
                <a:pos x="18320" y="34352"/>
              </a:cxn>
              <a:cxn ang="0">
                <a:pos x="5576" y="42941"/>
              </a:cxn>
              <a:cxn ang="0">
                <a:pos x="1593" y="47625"/>
              </a:cxn>
            </a:cxnLst>
            <a:rect l="0" t="0" r="0" b="0"/>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lnTo>
                  <a:pt x="2" y="61"/>
                </a:lnTo>
                <a:close/>
              </a:path>
            </a:pathLst>
          </a:custGeom>
          <a:solidFill>
            <a:srgbClr val="FFFFFF"/>
          </a:solidFill>
          <a:ln w="9525">
            <a:noFill/>
          </a:ln>
        </p:spPr>
        <p:txBody>
          <a:bodyPr/>
          <a:lstStyle/>
          <a:p>
            <a:endParaRPr lang="zh-CN" altLang="en-US"/>
          </a:p>
        </p:txBody>
      </p:sp>
      <p:pic>
        <p:nvPicPr>
          <p:cNvPr id="1032" name="Picture 9" descr="Cover-6Ed"/>
          <p:cNvPicPr>
            <a:picLocks noChangeAspect="1"/>
          </p:cNvPicPr>
          <p:nvPr/>
        </p:nvPicPr>
        <p:blipFill>
          <a:blip r:embed="rId13"/>
          <a:stretch>
            <a:fillRect/>
          </a:stretch>
        </p:blipFill>
        <p:spPr>
          <a:xfrm>
            <a:off x="-3175" y="0"/>
            <a:ext cx="668338" cy="81597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Arial" panose="020B0604020202020204"/>
          <a:ea typeface="+mj-ea"/>
          <a:cs typeface="Arial" panose="020B0604020202020204"/>
        </a:defRPr>
      </a:lvl1pPr>
      <a:lvl2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30204" charset="0"/>
          <a:ea typeface="宋体" panose="02010600030101010101" pitchFamily="2" charset="-122"/>
        </a:defRPr>
      </a:lvl2pPr>
      <a:lvl3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30204" charset="0"/>
          <a:ea typeface="宋体" panose="02010600030101010101" pitchFamily="2" charset="-122"/>
        </a:defRPr>
      </a:lvl3pPr>
      <a:lvl4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30204" charset="0"/>
          <a:ea typeface="宋体" panose="02010600030101010101" pitchFamily="2" charset="-122"/>
        </a:defRPr>
      </a:lvl4pPr>
      <a:lvl5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30204" charset="0"/>
          <a:ea typeface="宋体" panose="02010600030101010101" pitchFamily="2" charset="-122"/>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30204" charset="0"/>
          <a:ea typeface="宋体" panose="02010600030101010101" pitchFamily="2" charset="-122"/>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30204" charset="0"/>
          <a:ea typeface="宋体" panose="02010600030101010101" pitchFamily="2" charset="-122"/>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30204" charset="0"/>
          <a:ea typeface="宋体" panose="02010600030101010101" pitchFamily="2" charset="-122"/>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panose="020B0604020202030204" charset="0"/>
          <a:ea typeface="宋体" panose="02010600030101010101" pitchFamily="2" charset="-122"/>
        </a:defRPr>
      </a:lvl9pPr>
    </p:titleStyle>
    <p:bodyStyle>
      <a:lvl1pPr marL="342900" indent="-342900" algn="l" rtl="0" eaLnBrk="0" fontAlgn="base" hangingPunct="0">
        <a:spcBef>
          <a:spcPct val="35000"/>
        </a:spcBef>
        <a:spcAft>
          <a:spcPct val="0"/>
        </a:spcAft>
        <a:buClr>
          <a:schemeClr val="tx2"/>
        </a:buClr>
        <a:buSzPct val="90000"/>
        <a:buFont typeface="Monotype Sorts" charset="0"/>
        <a:buChar char="n"/>
        <a:defRPr kumimoji="1" sz="3200">
          <a:solidFill>
            <a:schemeClr val="tx1"/>
          </a:solidFill>
          <a:latin typeface="Arial" panose="020B0604020202020204"/>
          <a:ea typeface="+mn-ea"/>
          <a:cs typeface="Arial" panose="020B0604020202020204"/>
        </a:defRPr>
      </a:lvl1pPr>
      <a:lvl2pPr marL="742950" indent="-285750" algn="l" rtl="0" eaLnBrk="0" fontAlgn="base" hangingPunct="0">
        <a:spcBef>
          <a:spcPct val="35000"/>
        </a:spcBef>
        <a:spcAft>
          <a:spcPct val="0"/>
        </a:spcAft>
        <a:buClr>
          <a:schemeClr val="folHlink"/>
        </a:buClr>
        <a:buSzPct val="80000"/>
        <a:buFont typeface="Monotype Sorts" charset="0"/>
        <a:buChar char="l"/>
        <a:defRPr kumimoji="1" sz="3200">
          <a:solidFill>
            <a:schemeClr val="tx1"/>
          </a:solidFill>
          <a:latin typeface="Arial" panose="020B0604020202020204"/>
          <a:ea typeface="+mn-ea"/>
          <a:cs typeface="Arial" panose="020B0604020202020204"/>
        </a:defRPr>
      </a:lvl2pPr>
      <a:lvl3pPr marL="1085850" indent="-228600" algn="l" rtl="0" eaLnBrk="0" fontAlgn="base" hangingPunct="0">
        <a:spcBef>
          <a:spcPct val="35000"/>
        </a:spcBef>
        <a:spcAft>
          <a:spcPct val="0"/>
        </a:spcAft>
        <a:buClr>
          <a:srgbClr val="33CC33"/>
        </a:buClr>
        <a:buSzPct val="75000"/>
        <a:buFont typeface="Webdings" panose="05030102010509060703" charset="0"/>
        <a:buChar char="4"/>
        <a:defRPr kumimoji="1" sz="3200">
          <a:solidFill>
            <a:schemeClr val="tx1"/>
          </a:solidFill>
          <a:latin typeface="Arial" panose="020B0604020202020204"/>
          <a:ea typeface="+mn-ea"/>
          <a:cs typeface="Arial" panose="020B0604020202020204"/>
        </a:defRPr>
      </a:lvl3pPr>
      <a:lvl4pPr marL="1428750" indent="-228600" algn="l" rtl="0" eaLnBrk="0" fontAlgn="base" hangingPunct="0">
        <a:spcBef>
          <a:spcPct val="35000"/>
        </a:spcBef>
        <a:spcAft>
          <a:spcPct val="0"/>
        </a:spcAft>
        <a:buClr>
          <a:schemeClr val="hlink"/>
        </a:buClr>
        <a:buFont typeface="Times New Roman" panose="02020603050405020304" charset="0"/>
        <a:buChar char="–"/>
        <a:defRPr kumimoji="1" sz="3200">
          <a:solidFill>
            <a:schemeClr val="tx1"/>
          </a:solidFill>
          <a:latin typeface="Arial" panose="020B0604020202020204"/>
          <a:ea typeface="+mn-ea"/>
          <a:cs typeface="Arial" panose="020B0604020202020204"/>
        </a:defRPr>
      </a:lvl4pPr>
      <a:lvl5pPr marL="1771650" indent="-228600" algn="l" rtl="0" eaLnBrk="0" fontAlgn="base" hangingPunct="0">
        <a:spcBef>
          <a:spcPct val="35000"/>
        </a:spcBef>
        <a:spcAft>
          <a:spcPct val="0"/>
        </a:spcAft>
        <a:buClr>
          <a:schemeClr val="tx2"/>
        </a:buClr>
        <a:buSzPct val="75000"/>
        <a:buChar char="»"/>
        <a:defRPr kumimoji="1" sz="3200">
          <a:solidFill>
            <a:schemeClr val="tx1"/>
          </a:solidFill>
          <a:latin typeface="Arial" panose="020B0604020202020204"/>
          <a:ea typeface="+mn-ea"/>
          <a:cs typeface="Arial" panose="020B0604020202020204"/>
        </a:defRPr>
      </a:lvl5pPr>
      <a:lvl6pPr marL="2228850" indent="-228600" algn="l" rtl="0" eaLnBrk="0" fontAlgn="base" hangingPunct="0">
        <a:spcBef>
          <a:spcPct val="35000"/>
        </a:spcBef>
        <a:spcAft>
          <a:spcPct val="0"/>
        </a:spcAft>
        <a:buClr>
          <a:schemeClr val="tx2"/>
        </a:buClr>
        <a:buSzPct val="75000"/>
        <a:buChar char="»"/>
        <a:defRPr kumimoji="1" sz="3200">
          <a:solidFill>
            <a:schemeClr val="tx1"/>
          </a:solidFill>
          <a:latin typeface="+mn-lt"/>
          <a:ea typeface="+mn-ea"/>
        </a:defRPr>
      </a:lvl6pPr>
      <a:lvl7pPr marL="2686050" indent="-228600" algn="l" rtl="0" eaLnBrk="0" fontAlgn="base" hangingPunct="0">
        <a:spcBef>
          <a:spcPct val="35000"/>
        </a:spcBef>
        <a:spcAft>
          <a:spcPct val="0"/>
        </a:spcAft>
        <a:buClr>
          <a:schemeClr val="tx2"/>
        </a:buClr>
        <a:buSzPct val="75000"/>
        <a:buChar char="»"/>
        <a:defRPr kumimoji="1" sz="3200">
          <a:solidFill>
            <a:schemeClr val="tx1"/>
          </a:solidFill>
          <a:latin typeface="+mn-lt"/>
          <a:ea typeface="+mn-ea"/>
        </a:defRPr>
      </a:lvl7pPr>
      <a:lvl8pPr marL="3143250" indent="-228600" algn="l" rtl="0" eaLnBrk="0" fontAlgn="base" hangingPunct="0">
        <a:spcBef>
          <a:spcPct val="35000"/>
        </a:spcBef>
        <a:spcAft>
          <a:spcPct val="0"/>
        </a:spcAft>
        <a:buClr>
          <a:schemeClr val="tx2"/>
        </a:buClr>
        <a:buSzPct val="75000"/>
        <a:buChar char="»"/>
        <a:defRPr kumimoji="1" sz="3200">
          <a:solidFill>
            <a:schemeClr val="tx1"/>
          </a:solidFill>
          <a:latin typeface="+mn-lt"/>
          <a:ea typeface="+mn-ea"/>
        </a:defRPr>
      </a:lvl8pPr>
      <a:lvl9pPr marL="3600450" indent="-228600" algn="l" rtl="0" eaLnBrk="0" fontAlgn="base" hangingPunct="0">
        <a:spcBef>
          <a:spcPct val="35000"/>
        </a:spcBef>
        <a:spcAft>
          <a:spcPct val="0"/>
        </a:spcAft>
        <a:buClr>
          <a:schemeClr val="tx2"/>
        </a:buClr>
        <a:buSzPct val="75000"/>
        <a:buChar char="»"/>
        <a:defRPr kumimoji="1" sz="3200">
          <a:solidFill>
            <a:schemeClr val="tx1"/>
          </a:solidFill>
          <a:latin typeface="+mn-lt"/>
          <a:ea typeface="+mn-ea"/>
        </a:defRPr>
      </a:lvl9pPr>
    </p:bodyStyle>
    <p:other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7.wmf"/></Relationships>
</file>

<file path=ppt/slides/_rels/slide49.x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9.wmf"/><Relationship Id="rId5" Type="http://schemas.openxmlformats.org/officeDocument/2006/relationships/oleObject" Target="../embeddings/oleObject4.bin"/><Relationship Id="rId10" Type="http://schemas.openxmlformats.org/officeDocument/2006/relationships/image" Target="../media/image11.wmf"/><Relationship Id="rId4" Type="http://schemas.openxmlformats.org/officeDocument/2006/relationships/image" Target="../media/image8.wmf"/><Relationship Id="rId9" Type="http://schemas.openxmlformats.org/officeDocument/2006/relationships/oleObject" Target="../embeddings/oleObject6.bin"/></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6146" name="Rectangle 2"/>
          <p:cNvSpPr>
            <a:spLocks noGrp="1" noChangeArrowheads="1"/>
          </p:cNvSpPr>
          <p:nvPr>
            <p:ph type="ctr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rgbClr val="CC3300"/>
                </a:solidFill>
                <a:effectLst>
                  <a:outerShdw blurRad="38100" dist="38100" dir="2700000">
                    <a:srgbClr val="C0C0C0"/>
                  </a:outerShdw>
                </a:effectLst>
                <a:latin typeface="Arial" panose="020B0604020202020204"/>
                <a:ea typeface="+mj-ea"/>
                <a:cs typeface="Arial" panose="020B0604020202020204"/>
              </a:rPr>
              <a:t>Chapter 7:  Relational Database Design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Grp="1" noChangeArrowheads="1"/>
          </p:cNvSpPr>
          <p:nvPr>
            <p:ph type="title"/>
          </p:nvPr>
        </p:nvSpPr>
        <p:spPr>
          <a:xfrm>
            <a:off x="809625" y="104775"/>
            <a:ext cx="80772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Chapter 7:  Relational Database Design</a:t>
            </a:r>
          </a:p>
        </p:txBody>
      </p:sp>
      <p:sp>
        <p:nvSpPr>
          <p:cNvPr id="7170" name="Rectangle 3"/>
          <p:cNvSpPr>
            <a:spLocks noGrp="1"/>
          </p:cNvSpPr>
          <p:nvPr>
            <p:ph idx="1"/>
          </p:nvPr>
        </p:nvSpPr>
        <p:spPr>
          <a:xfrm>
            <a:off x="927100" y="1163638"/>
            <a:ext cx="7848600" cy="4876800"/>
          </a:xfrm>
        </p:spPr>
        <p:txBody>
          <a:bodyPr wrap="square" lIns="91440" tIns="45720" rIns="91440" bIns="45720" anchor="t"/>
          <a:lstStyle/>
          <a:p>
            <a:r>
              <a:rPr lang="en-US" altLang="zh-CN" sz="2400" dirty="0">
                <a:solidFill>
                  <a:srgbClr val="C00000"/>
                </a:solidFill>
              </a:rPr>
              <a:t>Features of Good Relational Design</a:t>
            </a:r>
            <a:endParaRPr lang="en-US" altLang="zh-CN" sz="2400" dirty="0"/>
          </a:p>
          <a:p>
            <a:r>
              <a:rPr lang="en-US" altLang="zh-CN" sz="2400" dirty="0">
                <a:solidFill>
                  <a:srgbClr val="C00000"/>
                </a:solidFill>
              </a:rPr>
              <a:t>Atomic Domains and First Normal Form</a:t>
            </a:r>
          </a:p>
          <a:p>
            <a:r>
              <a:rPr lang="en-US" altLang="zh-CN" sz="2400" dirty="0">
                <a:solidFill>
                  <a:srgbClr val="C00000"/>
                </a:solidFill>
              </a:rPr>
              <a:t>Decomposition Using Functional Dependencies</a:t>
            </a:r>
          </a:p>
          <a:p>
            <a:r>
              <a:rPr lang="en-US" altLang="zh-CN" sz="2400" dirty="0">
                <a:solidFill>
                  <a:srgbClr val="C00000"/>
                </a:solidFill>
              </a:rPr>
              <a:t>Functional Dependency Theory</a:t>
            </a:r>
          </a:p>
          <a:p>
            <a:r>
              <a:rPr lang="en-US" altLang="zh-CN" sz="2400" dirty="0">
                <a:solidFill>
                  <a:srgbClr val="C00000"/>
                </a:solidFill>
              </a:rPr>
              <a:t>Algorithms for Functional Dependencies</a:t>
            </a:r>
          </a:p>
          <a:p>
            <a:r>
              <a:rPr lang="en-US" altLang="zh-CN" sz="2400" dirty="0"/>
              <a:t>Decomposition Using Multivalued Dependencies </a:t>
            </a:r>
          </a:p>
          <a:p>
            <a:r>
              <a:rPr lang="en-US" altLang="zh-CN" sz="2400" dirty="0"/>
              <a:t>More Normal Form</a:t>
            </a:r>
          </a:p>
          <a:p>
            <a:r>
              <a:rPr lang="en-US" altLang="zh-CN" sz="2400" dirty="0"/>
              <a:t>Database-Design Process</a:t>
            </a:r>
          </a:p>
          <a:p>
            <a:r>
              <a:rPr lang="en-US" altLang="zh-CN" sz="2400" dirty="0"/>
              <a:t>Modeling Temporal Data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22" name="Picture 2"/>
          <p:cNvPicPr>
            <a:picLocks noChangeAspect="1"/>
          </p:cNvPicPr>
          <p:nvPr/>
        </p:nvPicPr>
        <p:blipFill>
          <a:blip r:embed="rId3"/>
          <a:stretch>
            <a:fillRect/>
          </a:stretch>
        </p:blipFill>
        <p:spPr>
          <a:xfrm>
            <a:off x="635" y="74930"/>
            <a:ext cx="8954135" cy="6717665"/>
          </a:xfrm>
          <a:prstGeom prst="rect">
            <a:avLst/>
          </a:prstGeom>
          <a:noFill/>
          <a:ln w="9525">
            <a:noFill/>
          </a:ln>
        </p:spPr>
      </p:pic>
    </p:spTree>
    <p:extLst>
      <p:ext uri="{BB962C8B-B14F-4D97-AF65-F5344CB8AC3E}">
        <p14:creationId xmlns:p14="http://schemas.microsoft.com/office/powerpoint/2010/main" val="797149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2290"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Combine Schemas?</a:t>
            </a:r>
          </a:p>
        </p:txBody>
      </p:sp>
      <p:sp>
        <p:nvSpPr>
          <p:cNvPr id="9218" name="Rectangle 3"/>
          <p:cNvSpPr>
            <a:spLocks noGrp="1"/>
          </p:cNvSpPr>
          <p:nvPr>
            <p:ph idx="1"/>
          </p:nvPr>
        </p:nvSpPr>
        <p:spPr>
          <a:xfrm>
            <a:off x="55880" y="1094105"/>
            <a:ext cx="8939839" cy="2093938"/>
          </a:xfrm>
        </p:spPr>
        <p:txBody>
          <a:bodyPr wrap="square" lIns="91440" tIns="45720" rIns="91440" bIns="45720" anchor="t"/>
          <a:lstStyle/>
          <a:p>
            <a:pPr fontAlgn="base"/>
            <a:r>
              <a:rPr lang="en-US" altLang="zh-CN" sz="2000" strike="noStrike" noProof="1"/>
              <a:t>Suppose we combine </a:t>
            </a:r>
            <a:r>
              <a:rPr lang="en-US" altLang="zh-CN" sz="2000" b="1" i="1" u="sng" strike="noStrike" noProof="1">
                <a:solidFill>
                  <a:schemeClr val="tx2"/>
                </a:solidFill>
              </a:rPr>
              <a:t>instructor</a:t>
            </a:r>
            <a:r>
              <a:rPr lang="en-US" altLang="zh-CN" sz="2000" b="1" u="sng" strike="noStrike" noProof="1">
                <a:solidFill>
                  <a:schemeClr val="tx2"/>
                </a:solidFill>
              </a:rPr>
              <a:t> </a:t>
            </a:r>
            <a:r>
              <a:rPr lang="en-US" altLang="zh-CN" sz="2000" strike="noStrike" noProof="1"/>
              <a:t>and </a:t>
            </a:r>
            <a:r>
              <a:rPr lang="en-US" altLang="zh-CN" sz="2000" b="1" i="1" u="sng" strike="noStrike" noProof="1">
                <a:solidFill>
                  <a:schemeClr val="tx2"/>
                </a:solidFill>
              </a:rPr>
              <a:t>department </a:t>
            </a:r>
            <a:r>
              <a:rPr lang="en-US" altLang="zh-CN" sz="2000" strike="noStrike" noProof="1"/>
              <a:t>into </a:t>
            </a:r>
            <a:r>
              <a:rPr lang="en-US" altLang="zh-CN" sz="2000" i="1" strike="noStrike" noProof="1"/>
              <a:t>inst_dept</a:t>
            </a:r>
          </a:p>
          <a:p>
            <a:pPr lvl="1" fontAlgn="base"/>
            <a:r>
              <a:rPr lang="en-US" altLang="zh-CN" sz="2000" i="1" strike="noStrike" noProof="1"/>
              <a:t>(No connection to relationship set inst_dept)</a:t>
            </a:r>
          </a:p>
          <a:p>
            <a:pPr fontAlgn="base"/>
            <a:r>
              <a:rPr lang="en-US" altLang="zh-CN" sz="2000" strike="noStrike" noProof="1">
                <a:gradFill>
                  <a:gsLst>
                    <a:gs pos="0">
                      <a:srgbClr val="007BD3"/>
                    </a:gs>
                    <a:gs pos="100000">
                      <a:srgbClr val="034373"/>
                    </a:gs>
                  </a:gsLst>
                  <a:lin scaled="0"/>
                </a:gradFill>
              </a:rPr>
              <a:t>Result is possible repetition of information</a:t>
            </a:r>
          </a:p>
        </p:txBody>
      </p:sp>
      <p:pic>
        <p:nvPicPr>
          <p:cNvPr id="9219" name="Picture 5" descr="8"/>
          <p:cNvPicPr>
            <a:picLocks noChangeAspect="1"/>
          </p:cNvPicPr>
          <p:nvPr/>
        </p:nvPicPr>
        <p:blipFill>
          <a:blip r:embed="rId3"/>
          <a:stretch>
            <a:fillRect/>
          </a:stretch>
        </p:blipFill>
        <p:spPr>
          <a:xfrm>
            <a:off x="175396" y="3150971"/>
            <a:ext cx="5481101" cy="3287651"/>
          </a:xfrm>
          <a:prstGeom prst="rect">
            <a:avLst/>
          </a:prstGeom>
          <a:noFill/>
          <a:ln w="9525">
            <a:noFill/>
          </a:ln>
        </p:spPr>
      </p:pic>
      <p:pic>
        <p:nvPicPr>
          <p:cNvPr id="5" name="Picture 2">
            <a:extLst>
              <a:ext uri="{FF2B5EF4-FFF2-40B4-BE49-F238E27FC236}">
                <a16:creationId xmlns:a16="http://schemas.microsoft.com/office/drawing/2014/main" id="{A2662E11-7884-4480-8C54-EF3E41461D0C}"/>
              </a:ext>
            </a:extLst>
          </p:cNvPr>
          <p:cNvPicPr>
            <a:picLocks noChangeAspect="1"/>
          </p:cNvPicPr>
          <p:nvPr/>
        </p:nvPicPr>
        <p:blipFill rotWithShape="1">
          <a:blip r:embed="rId4"/>
          <a:srcRect l="17934" r="36941" b="61015"/>
          <a:stretch/>
        </p:blipFill>
        <p:spPr>
          <a:xfrm>
            <a:off x="5688673" y="1926119"/>
            <a:ext cx="3156877" cy="2046043"/>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22" name="Picture 2"/>
          <p:cNvPicPr>
            <a:picLocks noChangeAspect="1"/>
          </p:cNvPicPr>
          <p:nvPr/>
        </p:nvPicPr>
        <p:blipFill>
          <a:blip r:embed="rId3"/>
          <a:stretch>
            <a:fillRect/>
          </a:stretch>
        </p:blipFill>
        <p:spPr>
          <a:xfrm>
            <a:off x="635" y="74930"/>
            <a:ext cx="8954135" cy="6717665"/>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4338"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A Combined Schema Without Repetition</a:t>
            </a:r>
          </a:p>
        </p:txBody>
      </p:sp>
      <p:sp>
        <p:nvSpPr>
          <p:cNvPr id="11266" name="Rectangle 3"/>
          <p:cNvSpPr>
            <a:spLocks noGrp="1"/>
          </p:cNvSpPr>
          <p:nvPr>
            <p:ph idx="1"/>
          </p:nvPr>
        </p:nvSpPr>
        <p:spPr>
          <a:xfrm>
            <a:off x="147955" y="1094105"/>
            <a:ext cx="8696960" cy="4903470"/>
          </a:xfrm>
        </p:spPr>
        <p:txBody>
          <a:bodyPr wrap="square" lIns="91440" tIns="45720" rIns="91440" bIns="45720" anchor="t"/>
          <a:lstStyle/>
          <a:p>
            <a:pPr fontAlgn="base"/>
            <a:r>
              <a:rPr lang="en-US" altLang="zh-CN" sz="2800" strike="noStrike" noProof="1"/>
              <a:t>Consider combining relations </a:t>
            </a:r>
          </a:p>
          <a:p>
            <a:pPr lvl="1" fontAlgn="base"/>
            <a:r>
              <a:rPr lang="en-US" altLang="zh-CN" sz="2800" i="1" strike="noStrike" noProof="1"/>
              <a:t>sec_class(sec_id, building, room_number)</a:t>
            </a:r>
            <a:r>
              <a:rPr lang="en-US" altLang="zh-CN" sz="2800" strike="noStrike" noProof="1"/>
              <a:t> and </a:t>
            </a:r>
          </a:p>
          <a:p>
            <a:pPr lvl="1" fontAlgn="base"/>
            <a:r>
              <a:rPr lang="en-US" altLang="zh-CN" sz="2800" i="1" strike="noStrike" noProof="1"/>
              <a:t>section(course_id, sec_id, semester, year) </a:t>
            </a:r>
          </a:p>
          <a:p>
            <a:pPr lvl="1" fontAlgn="base">
              <a:buNone/>
            </a:pPr>
            <a:r>
              <a:rPr lang="en-US" altLang="zh-CN" sz="2800" strike="noStrike" noProof="1"/>
              <a:t>into one relation</a:t>
            </a:r>
          </a:p>
          <a:p>
            <a:pPr lvl="1" fontAlgn="base"/>
            <a:r>
              <a:rPr lang="en-US" altLang="zh-CN" sz="2800" i="1" strike="noStrike" noProof="1"/>
              <a:t>section(course_id, sec_id, semester, year, </a:t>
            </a:r>
            <a:br>
              <a:rPr lang="en-US" altLang="zh-CN" sz="2800" i="1" dirty="0"/>
            </a:br>
            <a:r>
              <a:rPr lang="en-US" altLang="zh-CN" sz="2800" i="1" strike="noStrike" noProof="1"/>
              <a:t>               building, room_number)</a:t>
            </a:r>
            <a:endParaRPr lang="en-US" altLang="zh-CN" sz="2800" strike="noStrike" noProof="1"/>
          </a:p>
          <a:p>
            <a:pPr fontAlgn="base"/>
            <a:r>
              <a:rPr lang="en-US" altLang="zh-CN" sz="2800" strike="noStrike" noProof="1">
                <a:gradFill>
                  <a:gsLst>
                    <a:gs pos="0">
                      <a:srgbClr val="007BD3"/>
                    </a:gs>
                    <a:gs pos="100000">
                      <a:srgbClr val="034373"/>
                    </a:gs>
                  </a:gsLst>
                  <a:lin scaled="0"/>
                </a:gradFill>
              </a:rPr>
              <a:t>No repetition in this case</a:t>
            </a:r>
          </a:p>
        </p:txBody>
      </p:sp>
      <p:pic>
        <p:nvPicPr>
          <p:cNvPr id="4" name="Picture 2">
            <a:extLst>
              <a:ext uri="{FF2B5EF4-FFF2-40B4-BE49-F238E27FC236}">
                <a16:creationId xmlns:a16="http://schemas.microsoft.com/office/drawing/2014/main" id="{A452D49C-72B0-4C35-9395-D6DAD3EF0B72}"/>
              </a:ext>
            </a:extLst>
          </p:cNvPr>
          <p:cNvPicPr>
            <a:picLocks noChangeAspect="1"/>
          </p:cNvPicPr>
          <p:nvPr/>
        </p:nvPicPr>
        <p:blipFill rotWithShape="1">
          <a:blip r:embed="rId3"/>
          <a:srcRect l="40427" t="57379" r="32800"/>
          <a:stretch/>
        </p:blipFill>
        <p:spPr>
          <a:xfrm>
            <a:off x="6746789" y="3994854"/>
            <a:ext cx="2397211" cy="2863146"/>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6386"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What About Smaller Schemas?</a:t>
            </a:r>
          </a:p>
        </p:txBody>
      </p:sp>
      <p:sp>
        <p:nvSpPr>
          <p:cNvPr id="13314" name="Rectangle 3"/>
          <p:cNvSpPr>
            <a:spLocks noGrp="1"/>
          </p:cNvSpPr>
          <p:nvPr>
            <p:ph idx="1"/>
          </p:nvPr>
        </p:nvSpPr>
        <p:spPr>
          <a:xfrm>
            <a:off x="158750" y="846138"/>
            <a:ext cx="8877300" cy="5752370"/>
          </a:xfrm>
        </p:spPr>
        <p:txBody>
          <a:bodyPr wrap="square" lIns="91440" tIns="45720" rIns="91440" bIns="45720" anchor="t"/>
          <a:lstStyle/>
          <a:p>
            <a:r>
              <a:rPr lang="en-US" altLang="zh-CN" sz="2000" dirty="0"/>
              <a:t>Suppose we had started with </a:t>
            </a:r>
            <a:r>
              <a:rPr lang="en-US" altLang="zh-CN" sz="2000" i="1" dirty="0"/>
              <a:t>inst_dept.  </a:t>
            </a:r>
          </a:p>
          <a:p>
            <a:r>
              <a:rPr lang="en-US" altLang="zh-CN" sz="2000" dirty="0"/>
              <a:t>How would we know to split up (</a:t>
            </a:r>
            <a:r>
              <a:rPr lang="en-US" altLang="zh-CN" sz="2000" b="1" dirty="0">
                <a:solidFill>
                  <a:srgbClr val="000099"/>
                </a:solidFill>
              </a:rPr>
              <a:t>decompose</a:t>
            </a:r>
            <a:r>
              <a:rPr lang="en-US" altLang="zh-CN" sz="2000" dirty="0"/>
              <a:t>) it into </a:t>
            </a:r>
            <a:r>
              <a:rPr lang="en-US" altLang="zh-CN" sz="2000" i="1" dirty="0"/>
              <a:t>instructor </a:t>
            </a:r>
            <a:r>
              <a:rPr lang="en-US" altLang="zh-CN" sz="2000" dirty="0"/>
              <a:t> and </a:t>
            </a:r>
            <a:r>
              <a:rPr lang="en-US" altLang="zh-CN" sz="2000" i="1" dirty="0"/>
              <a:t>department</a:t>
            </a:r>
            <a:r>
              <a:rPr lang="en-US" altLang="zh-CN" sz="2000" dirty="0"/>
              <a:t>?</a:t>
            </a:r>
          </a:p>
          <a:p>
            <a:r>
              <a:rPr lang="en-US" altLang="zh-CN" sz="2000" dirty="0"/>
              <a:t>Write a rule </a:t>
            </a:r>
            <a:r>
              <a:rPr lang="zh-CN" altLang="en-US" sz="2000" dirty="0"/>
              <a:t>“</a:t>
            </a:r>
            <a:r>
              <a:rPr lang="en-US" altLang="zh-CN" sz="2000" dirty="0"/>
              <a:t>if there were a schema (</a:t>
            </a:r>
            <a:r>
              <a:rPr lang="en-US" altLang="zh-CN" sz="2000" i="1" dirty="0"/>
              <a:t>dept_name, building, budget</a:t>
            </a:r>
            <a:r>
              <a:rPr lang="en-US" altLang="zh-CN" sz="2000" dirty="0"/>
              <a:t>), then </a:t>
            </a:r>
            <a:r>
              <a:rPr lang="en-US" altLang="zh-CN" sz="2000" i="1" dirty="0">
                <a:solidFill>
                  <a:srgbClr val="FF0000"/>
                </a:solidFill>
              </a:rPr>
              <a:t>dept_name </a:t>
            </a:r>
            <a:r>
              <a:rPr lang="en-US" altLang="zh-CN" sz="2000" dirty="0">
                <a:solidFill>
                  <a:srgbClr val="FF0000"/>
                </a:solidFill>
              </a:rPr>
              <a:t>would be a candidate key</a:t>
            </a:r>
            <a:r>
              <a:rPr lang="zh-CN" altLang="en-US" sz="2000" dirty="0"/>
              <a:t>”</a:t>
            </a:r>
            <a:endParaRPr lang="en-US" altLang="zh-CN" sz="2000" dirty="0"/>
          </a:p>
          <a:p>
            <a:r>
              <a:rPr lang="en-US" altLang="zh-CN" sz="2000" dirty="0"/>
              <a:t>Denote as a </a:t>
            </a:r>
            <a:r>
              <a:rPr lang="en-US" altLang="zh-CN" sz="2000" b="1" dirty="0">
                <a:solidFill>
                  <a:srgbClr val="000099"/>
                </a:solidFill>
              </a:rPr>
              <a:t>functional dependency</a:t>
            </a:r>
            <a:r>
              <a:rPr lang="en-US" altLang="zh-CN" sz="2000" dirty="0"/>
              <a:t>: </a:t>
            </a:r>
          </a:p>
          <a:p>
            <a:pPr>
              <a:buNone/>
            </a:pPr>
            <a:r>
              <a:rPr lang="en-US" altLang="zh-CN" sz="2000" i="1" dirty="0"/>
              <a:t>		dept_name</a:t>
            </a:r>
            <a:r>
              <a:rPr lang="en-US" altLang="zh-CN" sz="2000" dirty="0"/>
              <a:t> </a:t>
            </a:r>
            <a:r>
              <a:rPr lang="en-US" altLang="zh-CN" sz="2000" dirty="0">
                <a:solidFill>
                  <a:srgbClr val="FF0000"/>
                </a:solidFill>
                <a:sym typeface="Symbol" panose="05050102010706020507" charset="2"/>
              </a:rPr>
              <a:t></a:t>
            </a:r>
            <a:r>
              <a:rPr lang="en-US" altLang="zh-CN" sz="2000" dirty="0">
                <a:sym typeface="Monotype Sorts" charset="2"/>
              </a:rPr>
              <a:t> </a:t>
            </a:r>
            <a:r>
              <a:rPr lang="en-US" altLang="zh-CN" sz="2000" i="1" dirty="0"/>
              <a:t>building, budget</a:t>
            </a:r>
            <a:endParaRPr lang="en-US" altLang="zh-CN" sz="2000" dirty="0"/>
          </a:p>
          <a:p>
            <a:r>
              <a:rPr lang="en-US" altLang="zh-CN" sz="2000" dirty="0"/>
              <a:t>In </a:t>
            </a:r>
            <a:r>
              <a:rPr lang="en-US" altLang="zh-CN" sz="2000" i="1" dirty="0"/>
              <a:t>inst_dept</a:t>
            </a:r>
            <a:r>
              <a:rPr lang="en-US" altLang="zh-CN" sz="2000" dirty="0"/>
              <a:t>, </a:t>
            </a:r>
            <a:r>
              <a:rPr lang="en-US" altLang="zh-CN" sz="2000" dirty="0">
                <a:solidFill>
                  <a:srgbClr val="002060"/>
                </a:solidFill>
              </a:rPr>
              <a:t>because </a:t>
            </a:r>
            <a:r>
              <a:rPr lang="en-US" altLang="zh-CN" sz="2000" i="1" dirty="0">
                <a:solidFill>
                  <a:srgbClr val="002060"/>
                </a:solidFill>
              </a:rPr>
              <a:t>dept_name</a:t>
            </a:r>
            <a:r>
              <a:rPr lang="en-US" altLang="zh-CN" sz="2000" dirty="0">
                <a:solidFill>
                  <a:srgbClr val="002060"/>
                </a:solidFill>
              </a:rPr>
              <a:t> is not a candidate key, the building and budget of a department may have to be repeated.</a:t>
            </a:r>
            <a:r>
              <a:rPr lang="en-US" altLang="zh-CN" sz="2000" dirty="0"/>
              <a:t>  </a:t>
            </a:r>
          </a:p>
          <a:p>
            <a:pPr lvl="1"/>
            <a:r>
              <a:rPr lang="en-US" altLang="zh-CN" sz="2000" dirty="0"/>
              <a:t>This indicates the </a:t>
            </a:r>
            <a:r>
              <a:rPr lang="en-US" altLang="zh-CN" sz="2000" dirty="0">
                <a:solidFill>
                  <a:srgbClr val="0066CC"/>
                </a:solidFill>
              </a:rPr>
              <a:t>need to decompose </a:t>
            </a:r>
            <a:r>
              <a:rPr lang="en-US" altLang="zh-CN" sz="2000" i="1" dirty="0">
                <a:solidFill>
                  <a:srgbClr val="0066CC"/>
                </a:solidFill>
              </a:rPr>
              <a:t>inst_dept</a:t>
            </a:r>
            <a:endParaRPr lang="en-US" altLang="zh-CN" sz="2000" dirty="0">
              <a:solidFill>
                <a:srgbClr val="0066CC"/>
              </a:solidFill>
            </a:endParaRPr>
          </a:p>
          <a:p>
            <a:r>
              <a:rPr lang="en-US" altLang="zh-CN" sz="2000" b="1" i="1" u="sng" dirty="0">
                <a:solidFill>
                  <a:srgbClr val="C00000"/>
                </a:solidFill>
              </a:rPr>
              <a:t>Not all decompositions are good. </a:t>
            </a:r>
            <a:r>
              <a:rPr lang="en-US" altLang="zh-CN" sz="2000" dirty="0"/>
              <a:t> </a:t>
            </a:r>
          </a:p>
          <a:p>
            <a:pPr lvl="1"/>
            <a:r>
              <a:rPr lang="en-US" altLang="zh-CN" sz="2000" dirty="0"/>
              <a:t>Suppose we decompose </a:t>
            </a:r>
            <a:r>
              <a:rPr lang="en-US" altLang="zh-CN" sz="2000" i="1" dirty="0">
                <a:solidFill>
                  <a:srgbClr val="0066CC"/>
                </a:solidFill>
              </a:rPr>
              <a:t>employee(ID, name, street, city, salary)</a:t>
            </a:r>
            <a:r>
              <a:rPr lang="en-US" altLang="zh-CN" sz="2000" dirty="0">
                <a:solidFill>
                  <a:srgbClr val="0066CC"/>
                </a:solidFill>
              </a:rPr>
              <a:t> </a:t>
            </a:r>
            <a:r>
              <a:rPr lang="en-US" altLang="zh-CN" sz="2000" dirty="0"/>
              <a:t>into</a:t>
            </a:r>
          </a:p>
          <a:p>
            <a:pPr>
              <a:buNone/>
            </a:pPr>
            <a:r>
              <a:rPr lang="en-US" altLang="zh-CN" sz="2000" dirty="0"/>
              <a:t>	</a:t>
            </a:r>
            <a:r>
              <a:rPr lang="en-US" altLang="zh-CN" sz="2000" i="1" dirty="0">
                <a:solidFill>
                  <a:srgbClr val="00B050"/>
                </a:solidFill>
              </a:rPr>
              <a:t>employee1</a:t>
            </a:r>
            <a:r>
              <a:rPr lang="en-US" altLang="zh-CN" sz="2000" dirty="0">
                <a:solidFill>
                  <a:srgbClr val="00B050"/>
                </a:solidFill>
              </a:rPr>
              <a:t> (</a:t>
            </a:r>
            <a:r>
              <a:rPr lang="en-US" altLang="zh-CN" sz="2000" i="1" dirty="0">
                <a:solidFill>
                  <a:srgbClr val="00B050"/>
                </a:solidFill>
              </a:rPr>
              <a:t>ID</a:t>
            </a:r>
            <a:r>
              <a:rPr lang="en-US" altLang="zh-CN" sz="2000" dirty="0">
                <a:solidFill>
                  <a:srgbClr val="00B050"/>
                </a:solidFill>
              </a:rPr>
              <a:t>, </a:t>
            </a:r>
            <a:r>
              <a:rPr lang="en-US" altLang="zh-CN" sz="2000" i="1" dirty="0">
                <a:solidFill>
                  <a:srgbClr val="00B050"/>
                </a:solidFill>
              </a:rPr>
              <a:t>name</a:t>
            </a:r>
            <a:r>
              <a:rPr lang="en-US" altLang="zh-CN" sz="2000" dirty="0">
                <a:solidFill>
                  <a:srgbClr val="00B050"/>
                </a:solidFill>
              </a:rPr>
              <a:t>)</a:t>
            </a:r>
            <a:r>
              <a:rPr lang="zh-CN" altLang="en-US" sz="2000" dirty="0"/>
              <a:t>，</a:t>
            </a:r>
            <a:r>
              <a:rPr lang="en-US" altLang="zh-CN" sz="2000" i="1" dirty="0">
                <a:solidFill>
                  <a:srgbClr val="00B050"/>
                </a:solidFill>
              </a:rPr>
              <a:t>employee2</a:t>
            </a:r>
            <a:r>
              <a:rPr lang="en-US" altLang="zh-CN" sz="2000" dirty="0">
                <a:solidFill>
                  <a:srgbClr val="00B050"/>
                </a:solidFill>
              </a:rPr>
              <a:t> (</a:t>
            </a:r>
            <a:r>
              <a:rPr lang="en-US" altLang="zh-CN" sz="2000" i="1" dirty="0">
                <a:solidFill>
                  <a:srgbClr val="00B050"/>
                </a:solidFill>
              </a:rPr>
              <a:t>name</a:t>
            </a:r>
            <a:r>
              <a:rPr lang="en-US" altLang="zh-CN" sz="2000" dirty="0">
                <a:solidFill>
                  <a:srgbClr val="00B050"/>
                </a:solidFill>
              </a:rPr>
              <a:t>, </a:t>
            </a:r>
            <a:r>
              <a:rPr lang="en-US" altLang="zh-CN" sz="2000" i="1" dirty="0">
                <a:solidFill>
                  <a:srgbClr val="00B050"/>
                </a:solidFill>
              </a:rPr>
              <a:t>street, city, salary</a:t>
            </a:r>
            <a:r>
              <a:rPr lang="en-US" altLang="zh-CN" sz="2000" dirty="0">
                <a:solidFill>
                  <a:srgbClr val="00B050"/>
                </a:solidFill>
              </a:rPr>
              <a:t>)</a:t>
            </a:r>
          </a:p>
          <a:p>
            <a:r>
              <a:rPr lang="en-US" altLang="zh-CN" sz="2000" dirty="0"/>
              <a:t>The next slide shows how we lose information -- </a:t>
            </a:r>
            <a:r>
              <a:rPr lang="en-US" altLang="zh-CN" sz="2000" dirty="0">
                <a:solidFill>
                  <a:srgbClr val="C00000"/>
                </a:solidFill>
              </a:rPr>
              <a:t>we cannot reconstruct the original </a:t>
            </a:r>
            <a:r>
              <a:rPr lang="en-US" altLang="zh-CN" sz="2000" i="1" dirty="0">
                <a:solidFill>
                  <a:srgbClr val="C00000"/>
                </a:solidFill>
              </a:rPr>
              <a:t>employee</a:t>
            </a:r>
            <a:r>
              <a:rPr lang="en-US" altLang="zh-CN" sz="2000" dirty="0">
                <a:solidFill>
                  <a:srgbClr val="C00000"/>
                </a:solidFill>
              </a:rPr>
              <a:t> relation</a:t>
            </a:r>
            <a:r>
              <a:rPr lang="en-US" altLang="zh-CN" sz="2000" dirty="0"/>
              <a:t> -- and so, this is a </a:t>
            </a:r>
            <a:r>
              <a:rPr lang="en-US" altLang="zh-CN" sz="2000" b="1" dirty="0">
                <a:solidFill>
                  <a:srgbClr val="000099"/>
                </a:solidFill>
              </a:rPr>
              <a:t>lossy decomposition</a:t>
            </a:r>
            <a:r>
              <a:rPr lang="en-US" altLang="zh-CN" sz="2000" dirty="0"/>
              <a:t>.</a:t>
            </a:r>
          </a:p>
          <a:p>
            <a:pPr lvl="1">
              <a:buNone/>
            </a:pPr>
            <a:endParaRPr lang="en-US" altLang="zh-CN" sz="2000" i="1" dirty="0"/>
          </a:p>
          <a:p>
            <a:pPr lvl="1">
              <a:buNone/>
            </a:pPr>
            <a:endParaRPr lang="zh-CN" alt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8434"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A Lossy Decomposition</a:t>
            </a:r>
          </a:p>
        </p:txBody>
      </p:sp>
      <p:pic>
        <p:nvPicPr>
          <p:cNvPr id="15362" name="Picture 5" descr="8"/>
          <p:cNvPicPr>
            <a:picLocks noChangeAspect="1"/>
          </p:cNvPicPr>
          <p:nvPr/>
        </p:nvPicPr>
        <p:blipFill>
          <a:blip r:embed="rId3"/>
          <a:stretch>
            <a:fillRect/>
          </a:stretch>
        </p:blipFill>
        <p:spPr>
          <a:xfrm>
            <a:off x="213995" y="952500"/>
            <a:ext cx="8430260" cy="5546725"/>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0482" name="Rectangle 2"/>
          <p:cNvSpPr>
            <a:spLocks noGrp="1" noChangeArrowheads="1"/>
          </p:cNvSpPr>
          <p:nvPr>
            <p:ph type="title"/>
          </p:nvPr>
        </p:nvSpPr>
        <p:spPr>
          <a:xfrm>
            <a:off x="628650" y="252413"/>
            <a:ext cx="8534400" cy="4572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Example of Lossless-Join Decomposition </a:t>
            </a:r>
          </a:p>
        </p:txBody>
      </p:sp>
      <p:sp>
        <p:nvSpPr>
          <p:cNvPr id="17410" name="Rectangle 3"/>
          <p:cNvSpPr>
            <a:spLocks noGrp="1"/>
          </p:cNvSpPr>
          <p:nvPr>
            <p:ph idx="1"/>
          </p:nvPr>
        </p:nvSpPr>
        <p:spPr>
          <a:xfrm>
            <a:off x="257175" y="1095375"/>
            <a:ext cx="8553450" cy="1204913"/>
          </a:xfrm>
        </p:spPr>
        <p:txBody>
          <a:bodyPr wrap="square" lIns="91440" tIns="45720" rIns="91440" bIns="45720" anchor="t"/>
          <a:lstStyle/>
          <a:p>
            <a:pPr defTabSz="914400">
              <a:tabLst>
                <a:tab pos="2336800" algn="l"/>
                <a:tab pos="3765550" algn="l"/>
              </a:tabLst>
            </a:pPr>
            <a:r>
              <a:rPr lang="en-US" altLang="zh-CN" sz="2400" b="1" dirty="0">
                <a:solidFill>
                  <a:srgbClr val="000099"/>
                </a:solidFill>
              </a:rPr>
              <a:t>Lossless join decomposition</a:t>
            </a:r>
          </a:p>
          <a:p>
            <a:pPr defTabSz="914400">
              <a:tabLst>
                <a:tab pos="2336800" algn="l"/>
                <a:tab pos="3765550" algn="l"/>
              </a:tabLst>
            </a:pPr>
            <a:r>
              <a:rPr lang="en-US" altLang="zh-CN" sz="2400" dirty="0"/>
              <a:t>Decomposition of </a:t>
            </a:r>
            <a:r>
              <a:rPr lang="en-US" altLang="zh-CN" sz="2400" i="1" dirty="0"/>
              <a:t>R = (A, B, C)</a:t>
            </a:r>
            <a:r>
              <a:rPr lang="zh-CN" altLang="en-US" sz="2400" i="1" dirty="0"/>
              <a:t>，</a:t>
            </a:r>
            <a:r>
              <a:rPr lang="en-US" altLang="zh-CN" sz="2400" i="1" dirty="0"/>
              <a:t>R</a:t>
            </a:r>
            <a:r>
              <a:rPr lang="en-US" altLang="zh-CN" sz="2400" i="1" baseline="-25000" dirty="0"/>
              <a:t>1</a:t>
            </a:r>
            <a:r>
              <a:rPr lang="en-US" altLang="zh-CN" sz="2400" i="1" dirty="0"/>
              <a:t> = (A, B)	R</a:t>
            </a:r>
            <a:r>
              <a:rPr lang="en-US" altLang="zh-CN" sz="2400" baseline="-25000" dirty="0"/>
              <a:t>2</a:t>
            </a:r>
            <a:r>
              <a:rPr lang="en-US" altLang="zh-CN" sz="2400" i="1" dirty="0"/>
              <a:t> = (B, C)</a:t>
            </a:r>
            <a:endParaRPr lang="en-US" altLang="zh-CN" sz="2400" dirty="0"/>
          </a:p>
        </p:txBody>
      </p:sp>
      <p:sp>
        <p:nvSpPr>
          <p:cNvPr id="660484" name="Rectangle 4"/>
          <p:cNvSpPr>
            <a:spLocks noChangeArrowheads="1"/>
          </p:cNvSpPr>
          <p:nvPr/>
        </p:nvSpPr>
        <p:spPr bwMode="auto">
          <a:xfrm>
            <a:off x="2209800" y="2590800"/>
            <a:ext cx="381000" cy="381000"/>
          </a:xfrm>
          <a:prstGeom prst="rect">
            <a:avLst/>
          </a:prstGeom>
          <a:solidFill>
            <a:schemeClr val="bg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rPr>
              <a:t>A</a:t>
            </a:r>
          </a:p>
        </p:txBody>
      </p:sp>
      <p:sp>
        <p:nvSpPr>
          <p:cNvPr id="660485" name="Rectangle 5"/>
          <p:cNvSpPr>
            <a:spLocks noChangeArrowheads="1"/>
          </p:cNvSpPr>
          <p:nvPr/>
        </p:nvSpPr>
        <p:spPr bwMode="auto">
          <a:xfrm>
            <a:off x="2590800" y="2590800"/>
            <a:ext cx="381000" cy="381000"/>
          </a:xfrm>
          <a:prstGeom prst="rect">
            <a:avLst/>
          </a:prstGeom>
          <a:solidFill>
            <a:schemeClr val="bg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rPr>
              <a:t>B</a:t>
            </a:r>
          </a:p>
        </p:txBody>
      </p:sp>
      <p:sp>
        <p:nvSpPr>
          <p:cNvPr id="17413" name="Rectangle 6"/>
          <p:cNvSpPr/>
          <p:nvPr/>
        </p:nvSpPr>
        <p:spPr>
          <a:xfrm>
            <a:off x="2209800" y="3048000"/>
            <a:ext cx="381000" cy="61753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eaLnBrk="0" hangingPunct="0"/>
            <a:r>
              <a:rPr lang="en-US" altLang="zh-CN" sz="1800" i="1" dirty="0">
                <a:latin typeface="Helvetica" panose="020B0604020202030204" charset="0"/>
                <a:sym typeface="Symbol" panose="05050102010706020507" charset="2"/>
              </a:rPr>
              <a:t></a:t>
            </a:r>
            <a:endParaRPr lang="en-US" altLang="zh-CN" sz="1800" i="1" dirty="0">
              <a:latin typeface="Helvetica" panose="020B0604020202030204" charset="0"/>
              <a:sym typeface="Greek Symbols" pitchFamily="18" charset="2"/>
            </a:endParaRPr>
          </a:p>
          <a:p>
            <a:pPr algn="ctr" eaLnBrk="0" hangingPunct="0"/>
            <a:r>
              <a:rPr lang="en-US" altLang="zh-CN" sz="1800" i="1" dirty="0">
                <a:latin typeface="Helvetica" panose="020B0604020202030204" charset="0"/>
                <a:sym typeface="Symbol" panose="05050102010706020507" charset="2"/>
              </a:rPr>
              <a:t></a:t>
            </a:r>
            <a:endParaRPr lang="en-US" altLang="zh-CN" sz="1800" i="1" dirty="0">
              <a:latin typeface="Helvetica" panose="020B0604020202030204" charset="0"/>
              <a:sym typeface="Greek Symbols" pitchFamily="18" charset="2"/>
            </a:endParaRPr>
          </a:p>
        </p:txBody>
      </p:sp>
      <p:sp>
        <p:nvSpPr>
          <p:cNvPr id="17414" name="Rectangle 7"/>
          <p:cNvSpPr/>
          <p:nvPr/>
        </p:nvSpPr>
        <p:spPr>
          <a:xfrm>
            <a:off x="2590800" y="3048000"/>
            <a:ext cx="381000" cy="61753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eaLnBrk="0" hangingPunct="0"/>
            <a:r>
              <a:rPr lang="en-US" altLang="zh-CN" sz="1800" dirty="0">
                <a:latin typeface="Helvetica" panose="020B0604020202030204" charset="0"/>
                <a:sym typeface="Greek Symbols" pitchFamily="18" charset="2"/>
              </a:rPr>
              <a:t>1</a:t>
            </a:r>
          </a:p>
          <a:p>
            <a:pPr algn="ctr" eaLnBrk="0" hangingPunct="0"/>
            <a:r>
              <a:rPr lang="en-US" altLang="zh-CN" sz="1800" dirty="0">
                <a:latin typeface="Helvetica" panose="020B0604020202030204" charset="0"/>
                <a:sym typeface="Greek Symbols" pitchFamily="18" charset="2"/>
              </a:rPr>
              <a:t>2</a:t>
            </a:r>
            <a:endParaRPr lang="en-US" altLang="zh-CN" sz="1800" i="1" dirty="0">
              <a:latin typeface="Helvetica" panose="020B0604020202030204" charset="0"/>
            </a:endParaRPr>
          </a:p>
        </p:txBody>
      </p:sp>
      <p:sp>
        <p:nvSpPr>
          <p:cNvPr id="660488" name="Rectangle 8"/>
          <p:cNvSpPr>
            <a:spLocks noChangeArrowheads="1"/>
          </p:cNvSpPr>
          <p:nvPr/>
        </p:nvSpPr>
        <p:spPr bwMode="auto">
          <a:xfrm>
            <a:off x="3962400" y="2590800"/>
            <a:ext cx="381000" cy="381000"/>
          </a:xfrm>
          <a:prstGeom prst="rect">
            <a:avLst/>
          </a:prstGeom>
          <a:solidFill>
            <a:schemeClr val="bg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rPr>
              <a:t>A</a:t>
            </a:r>
          </a:p>
        </p:txBody>
      </p:sp>
      <p:sp>
        <p:nvSpPr>
          <p:cNvPr id="17416" name="Rectangle 9"/>
          <p:cNvSpPr/>
          <p:nvPr/>
        </p:nvSpPr>
        <p:spPr>
          <a:xfrm>
            <a:off x="3962400" y="3048000"/>
            <a:ext cx="381000" cy="68580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eaLnBrk="0" hangingPunct="0"/>
            <a:r>
              <a:rPr lang="en-US" altLang="zh-CN" sz="1800" i="1" dirty="0">
                <a:latin typeface="Helvetica" panose="020B0604020202030204" charset="0"/>
                <a:sym typeface="Symbol" panose="05050102010706020507" charset="2"/>
              </a:rPr>
              <a:t></a:t>
            </a:r>
            <a:endParaRPr lang="en-US" altLang="zh-CN" sz="1800" i="1" dirty="0">
              <a:latin typeface="Helvetica" panose="020B0604020202030204" charset="0"/>
              <a:sym typeface="Greek Symbols" pitchFamily="18" charset="2"/>
            </a:endParaRPr>
          </a:p>
          <a:p>
            <a:pPr algn="ctr" eaLnBrk="0" hangingPunct="0"/>
            <a:r>
              <a:rPr lang="en-US" altLang="zh-CN" sz="1800" i="1" dirty="0">
                <a:latin typeface="Helvetica" panose="020B0604020202030204" charset="0"/>
                <a:sym typeface="Symbol" panose="05050102010706020507" charset="2"/>
              </a:rPr>
              <a:t></a:t>
            </a:r>
          </a:p>
        </p:txBody>
      </p:sp>
      <p:sp>
        <p:nvSpPr>
          <p:cNvPr id="660490" name="Rectangle 10"/>
          <p:cNvSpPr>
            <a:spLocks noChangeArrowheads="1"/>
          </p:cNvSpPr>
          <p:nvPr/>
        </p:nvSpPr>
        <p:spPr bwMode="auto">
          <a:xfrm>
            <a:off x="5791200" y="2590800"/>
            <a:ext cx="609600" cy="381000"/>
          </a:xfrm>
          <a:prstGeom prst="rect">
            <a:avLst/>
          </a:prstGeom>
          <a:solidFill>
            <a:schemeClr val="bg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rPr>
              <a:t>B</a:t>
            </a:r>
          </a:p>
        </p:txBody>
      </p:sp>
      <p:sp>
        <p:nvSpPr>
          <p:cNvPr id="660491" name="Rectangle 11"/>
          <p:cNvSpPr>
            <a:spLocks noChangeArrowheads="1"/>
          </p:cNvSpPr>
          <p:nvPr/>
        </p:nvSpPr>
        <p:spPr bwMode="auto">
          <a:xfrm>
            <a:off x="5791200" y="3048000"/>
            <a:ext cx="609600" cy="685800"/>
          </a:xfrm>
          <a:prstGeom prst="rect">
            <a:avLst/>
          </a:prstGeom>
          <a:solidFill>
            <a:schemeClr val="bg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Greek Symbols" charset="0"/>
              </a:rPr>
              <a:t>1</a:t>
            </a:r>
          </a:p>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Greek Symbols" charset="0"/>
              </a:rPr>
              <a:t>2</a:t>
            </a:r>
          </a:p>
        </p:txBody>
      </p:sp>
      <p:sp>
        <p:nvSpPr>
          <p:cNvPr id="17419" name="Text Box 12"/>
          <p:cNvSpPr txBox="1"/>
          <p:nvPr/>
        </p:nvSpPr>
        <p:spPr>
          <a:xfrm>
            <a:off x="2657475" y="3724275"/>
            <a:ext cx="260350" cy="366713"/>
          </a:xfrm>
          <a:prstGeom prst="rect">
            <a:avLst/>
          </a:prstGeom>
          <a:noFill/>
          <a:ln w="9525">
            <a:noFill/>
          </a:ln>
        </p:spPr>
        <p:txBody>
          <a:bodyPr wrap="none" anchor="ctr">
            <a:spAutoFit/>
          </a:bodyPr>
          <a:lstStyle/>
          <a:p>
            <a:pPr algn="ctr" eaLnBrk="0" hangingPunct="0">
              <a:spcBef>
                <a:spcPct val="50000"/>
              </a:spcBef>
            </a:pPr>
            <a:r>
              <a:rPr lang="en-US" altLang="zh-CN" sz="1800" i="1">
                <a:latin typeface="Helvetica" panose="020B0604020202030204" charset="0"/>
              </a:rPr>
              <a:t>r</a:t>
            </a:r>
          </a:p>
        </p:txBody>
      </p:sp>
      <p:sp>
        <p:nvSpPr>
          <p:cNvPr id="17420" name="Text Box 13"/>
          <p:cNvSpPr txBox="1"/>
          <p:nvPr/>
        </p:nvSpPr>
        <p:spPr>
          <a:xfrm>
            <a:off x="6013450" y="3733800"/>
            <a:ext cx="1041400" cy="366713"/>
          </a:xfrm>
          <a:prstGeom prst="rect">
            <a:avLst/>
          </a:prstGeom>
          <a:noFill/>
          <a:ln w="9525">
            <a:noFill/>
          </a:ln>
        </p:spPr>
        <p:txBody>
          <a:bodyPr anchor="ctr">
            <a:spAutoFit/>
          </a:bodyPr>
          <a:lstStyle/>
          <a:p>
            <a:pPr algn="ctr" eaLnBrk="0" hangingPunct="0">
              <a:spcBef>
                <a:spcPct val="50000"/>
              </a:spcBef>
            </a:pPr>
            <a:r>
              <a:rPr lang="en-US" altLang="zh-CN" sz="1800">
                <a:latin typeface="Helvetica" panose="020B0604020202030204" charset="0"/>
                <a:sym typeface="Symbol" panose="05050102010706020507" charset="0"/>
              </a:rPr>
              <a:t></a:t>
            </a:r>
            <a:r>
              <a:rPr lang="en-US" altLang="zh-CN" sz="1800" i="1" baseline="-25000">
                <a:latin typeface="Helvetica" panose="020B0604020202030204" charset="0"/>
                <a:sym typeface="Symbol" panose="05050102010706020507" charset="0"/>
              </a:rPr>
              <a:t>B,C</a:t>
            </a:r>
            <a:r>
              <a:rPr lang="en-US" altLang="zh-CN">
                <a:latin typeface="Helvetica" panose="020B0604020202030204" charset="0"/>
                <a:sym typeface="Symbol" panose="05050102010706020507" charset="0"/>
              </a:rPr>
              <a:t>(</a:t>
            </a:r>
            <a:r>
              <a:rPr lang="en-US" altLang="zh-CN" i="1">
                <a:latin typeface="Helvetica" panose="020B0604020202030204" charset="0"/>
                <a:sym typeface="Symbol" panose="05050102010706020507" charset="0"/>
              </a:rPr>
              <a:t>r</a:t>
            </a:r>
            <a:r>
              <a:rPr lang="en-US" altLang="zh-CN">
                <a:latin typeface="Helvetica" panose="020B0604020202030204" charset="0"/>
                <a:sym typeface="Symbol" panose="05050102010706020507" charset="0"/>
              </a:rPr>
              <a:t>)</a:t>
            </a:r>
          </a:p>
        </p:txBody>
      </p:sp>
      <p:sp>
        <p:nvSpPr>
          <p:cNvPr id="660494" name="Rectangle 14"/>
          <p:cNvSpPr>
            <a:spLocks noChangeArrowheads="1"/>
          </p:cNvSpPr>
          <p:nvPr/>
        </p:nvSpPr>
        <p:spPr bwMode="auto">
          <a:xfrm>
            <a:off x="1066800" y="4467225"/>
            <a:ext cx="2514600" cy="866775"/>
          </a:xfrm>
          <a:prstGeom prst="rect">
            <a:avLst/>
          </a:prstGeom>
          <a:noFill/>
          <a:ln>
            <a:noFill/>
          </a:ln>
          <a:effectLst/>
        </p:spPr>
        <p:txBody>
          <a:bodyPr/>
          <a:lstStyle/>
          <a:p>
            <a:pPr marL="342900" marR="0" lvl="0" indent="-342900" algn="l" defTabSz="914400" rtl="0" eaLnBrk="0" fontAlgn="base" latinLnBrk="0" hangingPunct="0">
              <a:lnSpc>
                <a:spcPct val="100000"/>
              </a:lnSpc>
              <a:spcBef>
                <a:spcPct val="35000"/>
              </a:spcBef>
              <a:spcAft>
                <a:spcPct val="0"/>
              </a:spcAft>
              <a:buClr>
                <a:schemeClr val="tx2"/>
              </a:buClr>
              <a:buSzTx/>
              <a:buFont typeface="Monotype Sorts" charset="0"/>
              <a:buNone/>
              <a:tabLst>
                <a:tab pos="2336800" algn="l"/>
                <a:tab pos="3765550" algn="l"/>
              </a:tabLst>
              <a:defRPr/>
            </a:pPr>
            <a:r>
              <a:rPr kumimoji="1" lang="en-US" altLang="zh-CN" sz="20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sym typeface="Symbol" panose="05050102010706020507" charset="0"/>
              </a:rPr>
              <a:t></a:t>
            </a:r>
            <a:r>
              <a:rPr kumimoji="1" lang="en-US" altLang="zh-CN" sz="2000" b="0" i="0" u="none" strike="noStrike" kern="1200" cap="none" spc="0" normalizeH="0" baseline="-25000" noProof="0">
                <a:ln>
                  <a:noFill/>
                </a:ln>
                <a:solidFill>
                  <a:schemeClr val="tx1"/>
                </a:solidFill>
                <a:effectLst/>
                <a:uLnTx/>
                <a:uFillTx/>
                <a:latin typeface="Times New Roman" panose="02020603050405020304" charset="0"/>
                <a:ea typeface="宋体" panose="02010600030101010101" pitchFamily="2" charset="-122"/>
                <a:cs typeface="+mn-cs"/>
                <a:sym typeface="Symbol" panose="05050102010706020507" charset="0"/>
              </a:rPr>
              <a:t>A</a:t>
            </a:r>
            <a:r>
              <a:rPr kumimoji="1" lang="en-US" altLang="zh-CN" sz="20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sym typeface="Symbol" panose="05050102010706020507" charset="0"/>
              </a:rPr>
              <a:t> (r)     </a:t>
            </a:r>
            <a:r>
              <a:rPr kumimoji="1" lang="en-US" altLang="zh-CN" sz="2000" b="0" i="0" u="none" strike="noStrike" kern="1200" cap="none" spc="0" normalizeH="0" baseline="-25000" noProof="0">
                <a:ln>
                  <a:noFill/>
                </a:ln>
                <a:solidFill>
                  <a:schemeClr val="tx1"/>
                </a:solidFill>
                <a:effectLst/>
                <a:uLnTx/>
                <a:uFillTx/>
                <a:latin typeface="Times New Roman" panose="02020603050405020304" charset="0"/>
                <a:ea typeface="宋体" panose="02010600030101010101" pitchFamily="2" charset="-122"/>
                <a:cs typeface="+mn-cs"/>
                <a:sym typeface="Symbol" panose="05050102010706020507" charset="0"/>
              </a:rPr>
              <a:t>B</a:t>
            </a:r>
            <a:r>
              <a:rPr kumimoji="1" lang="en-US" altLang="zh-CN" sz="2000" b="0" i="0" u="none" strike="noStrike" kern="1200" cap="none" spc="0" normalizeH="0" baseline="0" noProof="0">
                <a:ln>
                  <a:noFill/>
                </a:ln>
                <a:solidFill>
                  <a:schemeClr val="tx1"/>
                </a:solidFill>
                <a:effectLst/>
                <a:uLnTx/>
                <a:uFillTx/>
                <a:latin typeface="Times New Roman" panose="02020603050405020304" charset="0"/>
                <a:ea typeface="宋体" panose="02010600030101010101" pitchFamily="2" charset="-122"/>
                <a:cs typeface="+mn-cs"/>
                <a:sym typeface="Symbol" panose="05050102010706020507" charset="0"/>
              </a:rPr>
              <a:t> (r)</a:t>
            </a:r>
          </a:p>
        </p:txBody>
      </p:sp>
      <p:sp>
        <p:nvSpPr>
          <p:cNvPr id="660495" name="Rectangle 15"/>
          <p:cNvSpPr>
            <a:spLocks noChangeArrowheads="1"/>
          </p:cNvSpPr>
          <p:nvPr/>
        </p:nvSpPr>
        <p:spPr bwMode="auto">
          <a:xfrm>
            <a:off x="3733800" y="4343400"/>
            <a:ext cx="457200" cy="381000"/>
          </a:xfrm>
          <a:prstGeom prst="rect">
            <a:avLst/>
          </a:prstGeom>
          <a:solidFill>
            <a:schemeClr val="bg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rPr>
              <a:t>A</a:t>
            </a:r>
          </a:p>
        </p:txBody>
      </p:sp>
      <p:sp>
        <p:nvSpPr>
          <p:cNvPr id="660496" name="Rectangle 16"/>
          <p:cNvSpPr>
            <a:spLocks noChangeArrowheads="1"/>
          </p:cNvSpPr>
          <p:nvPr/>
        </p:nvSpPr>
        <p:spPr bwMode="auto">
          <a:xfrm>
            <a:off x="4191000" y="4343400"/>
            <a:ext cx="381000" cy="381000"/>
          </a:xfrm>
          <a:prstGeom prst="rect">
            <a:avLst/>
          </a:prstGeom>
          <a:solidFill>
            <a:schemeClr val="bg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rPr>
              <a:t>B</a:t>
            </a:r>
          </a:p>
        </p:txBody>
      </p:sp>
      <p:sp>
        <p:nvSpPr>
          <p:cNvPr id="17424" name="Rectangle 17"/>
          <p:cNvSpPr/>
          <p:nvPr/>
        </p:nvSpPr>
        <p:spPr>
          <a:xfrm>
            <a:off x="3733800" y="4800600"/>
            <a:ext cx="457200" cy="62388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eaLnBrk="0" hangingPunct="0"/>
            <a:r>
              <a:rPr lang="en-US" altLang="zh-CN" sz="1800" i="1" dirty="0">
                <a:latin typeface="Helvetica" panose="020B0604020202030204" charset="0"/>
                <a:sym typeface="Symbol" panose="05050102010706020507" charset="2"/>
              </a:rPr>
              <a:t></a:t>
            </a:r>
            <a:endParaRPr lang="en-US" altLang="zh-CN" sz="1800" i="1" dirty="0">
              <a:latin typeface="Helvetica" panose="020B0604020202030204" charset="0"/>
              <a:sym typeface="Greek Symbols" pitchFamily="18" charset="2"/>
            </a:endParaRPr>
          </a:p>
          <a:p>
            <a:pPr algn="ctr" eaLnBrk="0" hangingPunct="0"/>
            <a:r>
              <a:rPr lang="en-US" altLang="zh-CN" sz="1800" i="1" dirty="0">
                <a:latin typeface="Helvetica" panose="020B0604020202030204" charset="0"/>
                <a:sym typeface="Symbol" panose="05050102010706020507" charset="2"/>
              </a:rPr>
              <a:t></a:t>
            </a:r>
          </a:p>
        </p:txBody>
      </p:sp>
      <p:sp>
        <p:nvSpPr>
          <p:cNvPr id="17425" name="Rectangle 18"/>
          <p:cNvSpPr/>
          <p:nvPr/>
        </p:nvSpPr>
        <p:spPr>
          <a:xfrm>
            <a:off x="4191000" y="4800600"/>
            <a:ext cx="381000" cy="62388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eaLnBrk="0" hangingPunct="0"/>
            <a:r>
              <a:rPr lang="en-US" altLang="zh-CN" sz="1800" dirty="0">
                <a:latin typeface="Helvetica" panose="020B0604020202030204" charset="0"/>
                <a:sym typeface="Greek Symbols" pitchFamily="18" charset="2"/>
              </a:rPr>
              <a:t>1</a:t>
            </a:r>
          </a:p>
          <a:p>
            <a:pPr algn="ctr" eaLnBrk="0" hangingPunct="0"/>
            <a:r>
              <a:rPr lang="en-US" altLang="zh-CN" sz="1800" dirty="0">
                <a:latin typeface="Helvetica" panose="020B0604020202030204" charset="0"/>
                <a:sym typeface="Greek Symbols" pitchFamily="18" charset="2"/>
              </a:rPr>
              <a:t>2</a:t>
            </a:r>
            <a:endParaRPr lang="en-US" altLang="zh-CN" sz="1800" i="1" dirty="0">
              <a:latin typeface="Helvetica" panose="020B0604020202030204" charset="0"/>
            </a:endParaRPr>
          </a:p>
        </p:txBody>
      </p:sp>
      <p:sp>
        <p:nvSpPr>
          <p:cNvPr id="17426" name="Freeform 19"/>
          <p:cNvSpPr/>
          <p:nvPr/>
        </p:nvSpPr>
        <p:spPr>
          <a:xfrm>
            <a:off x="1882775" y="4624388"/>
            <a:ext cx="142875" cy="142875"/>
          </a:xfrm>
          <a:custGeom>
            <a:avLst/>
            <a:gdLst/>
            <a:ahLst/>
            <a:cxnLst>
              <a:cxn ang="0">
                <a:pos x="0" y="0"/>
              </a:cxn>
              <a:cxn ang="0">
                <a:pos x="0" y="142875"/>
              </a:cxn>
              <a:cxn ang="0">
                <a:pos x="142875" y="0"/>
              </a:cxn>
              <a:cxn ang="0">
                <a:pos x="142875" y="142875"/>
              </a:cxn>
              <a:cxn ang="0">
                <a:pos x="0" y="0"/>
              </a:cxn>
            </a:cxnLst>
            <a:rect l="0" t="0" r="0" b="0"/>
            <a:pathLst>
              <a:path w="182" h="182">
                <a:moveTo>
                  <a:pt x="0" y="0"/>
                </a:moveTo>
                <a:lnTo>
                  <a:pt x="0" y="182"/>
                </a:lnTo>
                <a:lnTo>
                  <a:pt x="182" y="0"/>
                </a:lnTo>
                <a:lnTo>
                  <a:pt x="182" y="182"/>
                </a:lnTo>
                <a:lnTo>
                  <a:pt x="0" y="0"/>
                </a:lnTo>
                <a:close/>
              </a:path>
            </a:pathLst>
          </a:custGeom>
          <a:noFill/>
          <a:ln w="12700" cap="flat" cmpd="sng">
            <a:solidFill>
              <a:srgbClr val="000000"/>
            </a:solidFill>
            <a:prstDash val="solid"/>
            <a:round/>
            <a:headEnd type="none" w="med" len="med"/>
            <a:tailEnd type="none" w="med" len="med"/>
          </a:ln>
        </p:spPr>
        <p:txBody>
          <a:bodyPr/>
          <a:lstStyle/>
          <a:p>
            <a:endParaRPr lang="zh-CN" altLang="en-US"/>
          </a:p>
        </p:txBody>
      </p:sp>
      <p:sp>
        <p:nvSpPr>
          <p:cNvPr id="660500" name="Rectangle 20"/>
          <p:cNvSpPr>
            <a:spLocks noChangeArrowheads="1"/>
          </p:cNvSpPr>
          <p:nvPr/>
        </p:nvSpPr>
        <p:spPr bwMode="auto">
          <a:xfrm>
            <a:off x="6381750" y="2590800"/>
            <a:ext cx="609600" cy="381000"/>
          </a:xfrm>
          <a:prstGeom prst="rect">
            <a:avLst/>
          </a:prstGeom>
          <a:solidFill>
            <a:schemeClr val="bg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rPr>
              <a:t>C</a:t>
            </a:r>
          </a:p>
        </p:txBody>
      </p:sp>
      <p:sp>
        <p:nvSpPr>
          <p:cNvPr id="660501" name="Rectangle 21"/>
          <p:cNvSpPr>
            <a:spLocks noChangeArrowheads="1"/>
          </p:cNvSpPr>
          <p:nvPr/>
        </p:nvSpPr>
        <p:spPr bwMode="auto">
          <a:xfrm>
            <a:off x="6381750" y="3048000"/>
            <a:ext cx="609600" cy="685800"/>
          </a:xfrm>
          <a:prstGeom prst="rect">
            <a:avLst/>
          </a:prstGeom>
          <a:solidFill>
            <a:schemeClr val="bg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Greek Symbols" charset="0"/>
              </a:rPr>
              <a:t>A</a:t>
            </a:r>
          </a:p>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Greek Symbols" charset="0"/>
              </a:rPr>
              <a:t>B</a:t>
            </a:r>
          </a:p>
        </p:txBody>
      </p:sp>
      <p:sp>
        <p:nvSpPr>
          <p:cNvPr id="660502" name="Rectangle 22"/>
          <p:cNvSpPr>
            <a:spLocks noChangeArrowheads="1"/>
          </p:cNvSpPr>
          <p:nvPr/>
        </p:nvSpPr>
        <p:spPr bwMode="auto">
          <a:xfrm>
            <a:off x="4343400" y="2590800"/>
            <a:ext cx="381000" cy="381000"/>
          </a:xfrm>
          <a:prstGeom prst="rect">
            <a:avLst/>
          </a:prstGeom>
          <a:solidFill>
            <a:schemeClr val="bg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rPr>
              <a:t>B</a:t>
            </a:r>
          </a:p>
        </p:txBody>
      </p:sp>
      <p:sp>
        <p:nvSpPr>
          <p:cNvPr id="17430" name="Rectangle 23"/>
          <p:cNvSpPr/>
          <p:nvPr/>
        </p:nvSpPr>
        <p:spPr>
          <a:xfrm>
            <a:off x="4343400" y="3048000"/>
            <a:ext cx="381000" cy="685800"/>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eaLnBrk="0" hangingPunct="0"/>
            <a:r>
              <a:rPr lang="en-US" altLang="zh-CN" sz="1800" i="1" dirty="0">
                <a:latin typeface="Helvetica" panose="020B0604020202030204" charset="0"/>
                <a:sym typeface="Symbol" panose="05050102010706020507" charset="2"/>
              </a:rPr>
              <a:t>1</a:t>
            </a:r>
            <a:endParaRPr lang="en-US" altLang="zh-CN" sz="1800" i="1" dirty="0">
              <a:latin typeface="Helvetica" panose="020B0604020202030204" charset="0"/>
              <a:sym typeface="Greek Symbols" pitchFamily="18" charset="2"/>
            </a:endParaRPr>
          </a:p>
          <a:p>
            <a:pPr algn="ctr" eaLnBrk="0" hangingPunct="0"/>
            <a:r>
              <a:rPr lang="en-US" altLang="zh-CN" sz="1800" i="1" dirty="0">
                <a:latin typeface="Helvetica" panose="020B0604020202030204" charset="0"/>
                <a:sym typeface="Symbol" panose="05050102010706020507" charset="2"/>
              </a:rPr>
              <a:t>2</a:t>
            </a:r>
          </a:p>
        </p:txBody>
      </p:sp>
      <p:sp>
        <p:nvSpPr>
          <p:cNvPr id="660504" name="Rectangle 24"/>
          <p:cNvSpPr>
            <a:spLocks noChangeArrowheads="1"/>
          </p:cNvSpPr>
          <p:nvPr/>
        </p:nvSpPr>
        <p:spPr bwMode="auto">
          <a:xfrm>
            <a:off x="4572000" y="4343400"/>
            <a:ext cx="381000" cy="381000"/>
          </a:xfrm>
          <a:prstGeom prst="rect">
            <a:avLst/>
          </a:prstGeom>
          <a:solidFill>
            <a:schemeClr val="bg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rPr>
              <a:t>C</a:t>
            </a:r>
          </a:p>
        </p:txBody>
      </p:sp>
      <p:sp>
        <p:nvSpPr>
          <p:cNvPr id="17432" name="Rectangle 25"/>
          <p:cNvSpPr/>
          <p:nvPr/>
        </p:nvSpPr>
        <p:spPr>
          <a:xfrm>
            <a:off x="4572000" y="4800600"/>
            <a:ext cx="381000" cy="62388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eaLnBrk="0" hangingPunct="0"/>
            <a:r>
              <a:rPr lang="en-US" altLang="zh-CN" sz="1800" dirty="0">
                <a:latin typeface="Helvetica" panose="020B0604020202030204" charset="0"/>
                <a:sym typeface="Greek Symbols" pitchFamily="18" charset="2"/>
              </a:rPr>
              <a:t>A</a:t>
            </a:r>
          </a:p>
          <a:p>
            <a:pPr algn="ctr" eaLnBrk="0" hangingPunct="0"/>
            <a:r>
              <a:rPr lang="en-US" altLang="zh-CN" sz="1800" dirty="0">
                <a:latin typeface="Helvetica" panose="020B0604020202030204" charset="0"/>
                <a:sym typeface="Greek Symbols" pitchFamily="18" charset="2"/>
              </a:rPr>
              <a:t>B</a:t>
            </a:r>
            <a:endParaRPr lang="en-US" altLang="zh-CN" sz="1800" i="1" dirty="0">
              <a:latin typeface="Helvetica" panose="020B0604020202030204" charset="0"/>
            </a:endParaRPr>
          </a:p>
        </p:txBody>
      </p:sp>
      <p:sp>
        <p:nvSpPr>
          <p:cNvPr id="660506" name="Rectangle 26"/>
          <p:cNvSpPr>
            <a:spLocks noChangeArrowheads="1"/>
          </p:cNvSpPr>
          <p:nvPr/>
        </p:nvSpPr>
        <p:spPr bwMode="auto">
          <a:xfrm>
            <a:off x="2971800" y="2590800"/>
            <a:ext cx="381000" cy="381000"/>
          </a:xfrm>
          <a:prstGeom prst="rect">
            <a:avLst/>
          </a:prstGeom>
          <a:solidFill>
            <a:schemeClr val="bg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rPr>
              <a:t>C</a:t>
            </a:r>
          </a:p>
        </p:txBody>
      </p:sp>
      <p:sp>
        <p:nvSpPr>
          <p:cNvPr id="17434" name="Rectangle 27"/>
          <p:cNvSpPr/>
          <p:nvPr/>
        </p:nvSpPr>
        <p:spPr>
          <a:xfrm>
            <a:off x="2971800" y="3048000"/>
            <a:ext cx="381000" cy="61753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algn="ctr" eaLnBrk="0" hangingPunct="0"/>
            <a:r>
              <a:rPr lang="en-US" altLang="zh-CN" sz="1800" dirty="0">
                <a:latin typeface="Helvetica" panose="020B0604020202030204" charset="0"/>
                <a:sym typeface="Greek Symbols" pitchFamily="18" charset="2"/>
              </a:rPr>
              <a:t>A</a:t>
            </a:r>
          </a:p>
          <a:p>
            <a:pPr algn="ctr" eaLnBrk="0" hangingPunct="0"/>
            <a:r>
              <a:rPr lang="en-US" altLang="zh-CN" sz="1800" dirty="0">
                <a:latin typeface="Helvetica" panose="020B0604020202030204" charset="0"/>
                <a:sym typeface="Greek Symbols" pitchFamily="18" charset="2"/>
              </a:rPr>
              <a:t>B</a:t>
            </a:r>
            <a:endParaRPr lang="en-US" altLang="zh-CN" sz="1800" i="1" dirty="0">
              <a:latin typeface="Helvetica" panose="020B0604020202030204" charset="0"/>
            </a:endParaRPr>
          </a:p>
        </p:txBody>
      </p:sp>
      <p:sp>
        <p:nvSpPr>
          <p:cNvPr id="17435" name="Text Box 28"/>
          <p:cNvSpPr txBox="1"/>
          <p:nvPr/>
        </p:nvSpPr>
        <p:spPr>
          <a:xfrm>
            <a:off x="3730625" y="3743325"/>
            <a:ext cx="1296988" cy="366713"/>
          </a:xfrm>
          <a:prstGeom prst="rect">
            <a:avLst/>
          </a:prstGeom>
          <a:noFill/>
          <a:ln w="9525">
            <a:noFill/>
          </a:ln>
        </p:spPr>
        <p:txBody>
          <a:bodyPr anchor="ctr">
            <a:spAutoFit/>
          </a:bodyPr>
          <a:lstStyle/>
          <a:p>
            <a:pPr algn="ctr" eaLnBrk="0" hangingPunct="0">
              <a:spcBef>
                <a:spcPct val="50000"/>
              </a:spcBef>
            </a:pPr>
            <a:r>
              <a:rPr lang="en-US" altLang="zh-CN" sz="1800" dirty="0">
                <a:latin typeface="Helvetica" panose="020B0604020202030204" charset="0"/>
                <a:sym typeface="Symbol" panose="05050102010706020507" charset="2"/>
              </a:rPr>
              <a:t></a:t>
            </a:r>
            <a:r>
              <a:rPr lang="en-US" altLang="zh-CN" sz="1800" i="1" baseline="-25000" dirty="0">
                <a:latin typeface="Helvetica" panose="020B0604020202030204" charset="0"/>
                <a:sym typeface="Symbol" panose="05050102010706020507" charset="2"/>
              </a:rPr>
              <a:t>A,B</a:t>
            </a:r>
            <a:r>
              <a:rPr lang="en-US" altLang="zh-CN" sz="1800" dirty="0">
                <a:latin typeface="Helvetica" panose="020B0604020202030204" charset="0"/>
                <a:sym typeface="Symbol" panose="05050102010706020507" charset="2"/>
              </a:rPr>
              <a:t>(</a:t>
            </a:r>
            <a:r>
              <a:rPr lang="en-US" altLang="zh-CN" sz="1800" i="1" dirty="0">
                <a:latin typeface="Helvetica" panose="020B0604020202030204" charset="0"/>
                <a:sym typeface="Symbol" panose="05050102010706020507" charset="2"/>
              </a:rPr>
              <a:t>r</a:t>
            </a:r>
            <a:r>
              <a:rPr lang="en-US" altLang="zh-CN" sz="1800" dirty="0">
                <a:latin typeface="Helvetica" panose="020B0604020202030204" charset="0"/>
                <a:sym typeface="Symbol" panose="05050102010706020507" charset="2"/>
              </a:rPr>
              <a:t>)</a:t>
            </a:r>
            <a:endParaRPr lang="en-US" altLang="zh-CN" sz="1800" dirty="0">
              <a:latin typeface="Helvetica" panose="020B06040202020302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2530"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First Normal Form</a:t>
            </a:r>
          </a:p>
        </p:txBody>
      </p:sp>
      <p:sp>
        <p:nvSpPr>
          <p:cNvPr id="19458" name="Rectangle 3"/>
          <p:cNvSpPr>
            <a:spLocks noGrp="1"/>
          </p:cNvSpPr>
          <p:nvPr>
            <p:ph idx="1"/>
          </p:nvPr>
        </p:nvSpPr>
        <p:spPr>
          <a:xfrm>
            <a:off x="190500" y="1093788"/>
            <a:ext cx="8851900" cy="5194300"/>
          </a:xfrm>
        </p:spPr>
        <p:txBody>
          <a:bodyPr wrap="square" lIns="91440" tIns="45720" rIns="91440" bIns="45720" anchor="t"/>
          <a:lstStyle/>
          <a:p>
            <a:r>
              <a:rPr lang="en-US" altLang="zh-CN" sz="2400" dirty="0"/>
              <a:t>Domain is </a:t>
            </a:r>
            <a:r>
              <a:rPr lang="en-US" altLang="zh-CN" sz="2400" b="1" dirty="0">
                <a:solidFill>
                  <a:srgbClr val="000099"/>
                </a:solidFill>
              </a:rPr>
              <a:t>atomic</a:t>
            </a:r>
            <a:r>
              <a:rPr lang="en-US" altLang="zh-CN" sz="2400" dirty="0"/>
              <a:t> if its elements are considered to be indivisible units</a:t>
            </a:r>
          </a:p>
          <a:p>
            <a:pPr lvl="1"/>
            <a:r>
              <a:rPr lang="en-US" altLang="zh-CN" sz="2000" dirty="0"/>
              <a:t>Examples of non-atomic domains:</a:t>
            </a:r>
          </a:p>
          <a:p>
            <a:pPr lvl="2"/>
            <a:r>
              <a:rPr lang="en-US" altLang="zh-CN" sz="2000" dirty="0"/>
              <a:t>Set of names, composite attributes</a:t>
            </a:r>
          </a:p>
          <a:p>
            <a:pPr lvl="2"/>
            <a:r>
              <a:rPr lang="en-US" altLang="zh-CN" sz="2000" dirty="0"/>
              <a:t>Identification numbers like CS101  that can be broken up into parts</a:t>
            </a:r>
          </a:p>
          <a:p>
            <a:r>
              <a:rPr lang="en-US" altLang="zh-CN" sz="2400" dirty="0"/>
              <a:t>A relational schema R is in </a:t>
            </a:r>
            <a:r>
              <a:rPr lang="en-US" altLang="zh-CN" sz="2400" b="1" dirty="0">
                <a:solidFill>
                  <a:srgbClr val="000099"/>
                </a:solidFill>
              </a:rPr>
              <a:t>first normal form</a:t>
            </a:r>
            <a:r>
              <a:rPr lang="en-US" altLang="zh-CN" sz="2400" dirty="0"/>
              <a:t> if the domains of all attributes of R are atomic</a:t>
            </a:r>
          </a:p>
          <a:p>
            <a:r>
              <a:rPr lang="en-US" altLang="zh-CN" sz="2400" dirty="0">
                <a:solidFill>
                  <a:srgbClr val="C00000"/>
                </a:solidFill>
              </a:rPr>
              <a:t>Non-atomic values complicate storage and encourage redundant (repeated) storage of data</a:t>
            </a:r>
          </a:p>
          <a:p>
            <a:pPr lvl="1"/>
            <a:r>
              <a:rPr lang="en-US" altLang="zh-CN" sz="2000" dirty="0"/>
              <a:t>Example:  Set of accounts stored with each customer, and set of owners stored with each account</a:t>
            </a:r>
          </a:p>
          <a:p>
            <a:pPr lvl="1"/>
            <a:r>
              <a:rPr lang="en-US" altLang="zh-CN" sz="2000" dirty="0"/>
              <a:t>We assume all relations are in first normal form (and revisit this in Chapter 22: Object Based Databases)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4578" name="Rectangle 2"/>
          <p:cNvSpPr>
            <a:spLocks noGrp="1" noChangeArrowheads="1"/>
          </p:cNvSpPr>
          <p:nvPr>
            <p:ph type="title"/>
          </p:nvPr>
        </p:nvSpPr>
        <p:spPr>
          <a:xfrm>
            <a:off x="685800" y="104775"/>
            <a:ext cx="80772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First Normal Form (Cont</a:t>
            </a:r>
            <a:r>
              <a:rPr kumimoji="1" lang="zh-CN" altLang="en-US"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a:t>
            </a: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d)</a:t>
            </a:r>
          </a:p>
        </p:txBody>
      </p:sp>
      <p:sp>
        <p:nvSpPr>
          <p:cNvPr id="21506" name="Rectangle 3"/>
          <p:cNvSpPr>
            <a:spLocks noGrp="1"/>
          </p:cNvSpPr>
          <p:nvPr>
            <p:ph idx="1"/>
          </p:nvPr>
        </p:nvSpPr>
        <p:spPr>
          <a:xfrm>
            <a:off x="261938" y="1093788"/>
            <a:ext cx="8691562" cy="5081587"/>
          </a:xfrm>
        </p:spPr>
        <p:txBody>
          <a:bodyPr wrap="square" lIns="91440" tIns="45720" rIns="91440" bIns="45720" anchor="t"/>
          <a:lstStyle/>
          <a:p>
            <a:r>
              <a:rPr lang="en-US" altLang="zh-CN" sz="2400" dirty="0"/>
              <a:t>Atomicity is actually a property of how the elements of the domain are used.</a:t>
            </a:r>
          </a:p>
          <a:p>
            <a:pPr lvl="1"/>
            <a:r>
              <a:rPr lang="en-US" altLang="zh-CN" sz="2400" dirty="0"/>
              <a:t>Example: Strings would normally be considered indivisible </a:t>
            </a:r>
          </a:p>
          <a:p>
            <a:pPr lvl="1"/>
            <a:r>
              <a:rPr lang="en-US" altLang="zh-CN" sz="2400" dirty="0"/>
              <a:t>Suppose that students are given roll numbers which are strings of the form </a:t>
            </a:r>
            <a:r>
              <a:rPr lang="en-US" altLang="zh-CN" sz="2400" i="1" dirty="0"/>
              <a:t>CS0012 </a:t>
            </a:r>
            <a:r>
              <a:rPr lang="en-US" altLang="zh-CN" sz="2400" dirty="0"/>
              <a:t>or </a:t>
            </a:r>
            <a:r>
              <a:rPr lang="en-US" altLang="zh-CN" sz="2400" i="1" dirty="0"/>
              <a:t>EE1127</a:t>
            </a:r>
          </a:p>
          <a:p>
            <a:pPr lvl="1"/>
            <a:r>
              <a:rPr lang="en-US" altLang="zh-CN" sz="2400" dirty="0"/>
              <a:t>If the first two characters are extracted to find the department, the domain of roll numbers is not atomic.</a:t>
            </a:r>
          </a:p>
          <a:p>
            <a:pPr lvl="1"/>
            <a:r>
              <a:rPr lang="en-US" altLang="zh-CN" sz="2400" dirty="0">
                <a:solidFill>
                  <a:srgbClr val="FF0000"/>
                </a:solidFill>
              </a:rPr>
              <a:t>Doing so is a bad idea: leads to encoding of information in application program rather than in the database.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6626" name="Rectangle 2"/>
          <p:cNvSpPr>
            <a:spLocks noGrp="1" noChangeArrowheads="1"/>
          </p:cNvSpPr>
          <p:nvPr>
            <p:ph type="title"/>
          </p:nvPr>
        </p:nvSpPr>
        <p:spPr>
          <a:xfrm>
            <a:off x="771525" y="185738"/>
            <a:ext cx="8229600" cy="4572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Goal — Devise a Theory for the Following</a:t>
            </a:r>
          </a:p>
        </p:txBody>
      </p:sp>
      <p:sp>
        <p:nvSpPr>
          <p:cNvPr id="23554" name="Rectangle 3"/>
          <p:cNvSpPr>
            <a:spLocks noGrp="1"/>
          </p:cNvSpPr>
          <p:nvPr>
            <p:ph idx="1"/>
          </p:nvPr>
        </p:nvSpPr>
        <p:spPr>
          <a:xfrm>
            <a:off x="242888" y="1093788"/>
            <a:ext cx="8758237" cy="4903787"/>
          </a:xfrm>
        </p:spPr>
        <p:txBody>
          <a:bodyPr wrap="square" lIns="91440" tIns="45720" rIns="91440" bIns="45720" anchor="t"/>
          <a:lstStyle/>
          <a:p>
            <a:r>
              <a:rPr lang="en-US" altLang="zh-CN" sz="2400" dirty="0">
                <a:latin typeface="Arial" panose="020B0604020202020204" pitchFamily="34" charset="0"/>
              </a:rPr>
              <a:t>Decide whether a particular relation </a:t>
            </a:r>
            <a:r>
              <a:rPr lang="en-US" altLang="zh-CN" sz="2400" i="1" dirty="0">
                <a:latin typeface="Arial" panose="020B0604020202020204" pitchFamily="34" charset="0"/>
              </a:rPr>
              <a:t>R</a:t>
            </a:r>
            <a:r>
              <a:rPr lang="en-US" altLang="zh-CN" sz="2400" dirty="0">
                <a:latin typeface="Arial" panose="020B0604020202020204" pitchFamily="34" charset="0"/>
              </a:rPr>
              <a:t> is in </a:t>
            </a:r>
            <a:r>
              <a:rPr lang="zh-CN" altLang="en-US" sz="2400" dirty="0">
                <a:latin typeface="Arial" panose="020B0604020202020204" pitchFamily="34" charset="0"/>
              </a:rPr>
              <a:t>“</a:t>
            </a:r>
            <a:r>
              <a:rPr lang="en-US" altLang="zh-CN" sz="2400" dirty="0">
                <a:latin typeface="Arial" panose="020B0604020202020204" pitchFamily="34" charset="0"/>
              </a:rPr>
              <a:t>good</a:t>
            </a:r>
            <a:r>
              <a:rPr lang="zh-CN" altLang="en-US" sz="2400" dirty="0">
                <a:latin typeface="Arial" panose="020B0604020202020204" pitchFamily="34" charset="0"/>
              </a:rPr>
              <a:t>”</a:t>
            </a:r>
            <a:r>
              <a:rPr lang="en-US" altLang="zh-CN" sz="2400" dirty="0">
                <a:latin typeface="Arial" panose="020B0604020202020204" pitchFamily="34" charset="0"/>
              </a:rPr>
              <a:t> form.</a:t>
            </a:r>
          </a:p>
          <a:p>
            <a:r>
              <a:rPr lang="en-US" altLang="zh-CN" sz="2400" dirty="0">
                <a:latin typeface="Arial" panose="020B0604020202020204" pitchFamily="34" charset="0"/>
              </a:rPr>
              <a:t>In the case that a relation </a:t>
            </a:r>
            <a:r>
              <a:rPr lang="en-US" altLang="zh-CN" sz="2400" i="1" dirty="0">
                <a:latin typeface="Arial" panose="020B0604020202020204" pitchFamily="34" charset="0"/>
              </a:rPr>
              <a:t>R</a:t>
            </a:r>
            <a:r>
              <a:rPr lang="en-US" altLang="zh-CN" sz="2400" dirty="0">
                <a:latin typeface="Arial" panose="020B0604020202020204" pitchFamily="34" charset="0"/>
              </a:rPr>
              <a:t> is not in </a:t>
            </a:r>
            <a:r>
              <a:rPr lang="zh-CN" altLang="en-US" sz="2400" dirty="0">
                <a:latin typeface="Arial" panose="020B0604020202020204" pitchFamily="34" charset="0"/>
              </a:rPr>
              <a:t>“</a:t>
            </a:r>
            <a:r>
              <a:rPr lang="en-US" altLang="zh-CN" sz="2400" dirty="0">
                <a:latin typeface="Arial" panose="020B0604020202020204" pitchFamily="34" charset="0"/>
              </a:rPr>
              <a:t>good</a:t>
            </a:r>
            <a:r>
              <a:rPr lang="zh-CN" altLang="en-US" sz="2400" dirty="0">
                <a:latin typeface="Arial" panose="020B0604020202020204" pitchFamily="34" charset="0"/>
              </a:rPr>
              <a:t>”</a:t>
            </a:r>
            <a:r>
              <a:rPr lang="en-US" altLang="zh-CN" sz="2400" dirty="0">
                <a:latin typeface="Arial" panose="020B0604020202020204" pitchFamily="34" charset="0"/>
              </a:rPr>
              <a:t> form, </a:t>
            </a:r>
            <a:r>
              <a:rPr lang="en-US" altLang="zh-CN" sz="2400" dirty="0">
                <a:solidFill>
                  <a:srgbClr val="0066CC"/>
                </a:solidFill>
                <a:latin typeface="Arial" panose="020B0604020202020204" pitchFamily="34" charset="0"/>
              </a:rPr>
              <a:t>decompose </a:t>
            </a:r>
            <a:r>
              <a:rPr lang="en-US" altLang="zh-CN" sz="2400" dirty="0">
                <a:latin typeface="Arial" panose="020B0604020202020204" pitchFamily="34" charset="0"/>
              </a:rPr>
              <a:t>it into a set of relations {</a:t>
            </a:r>
            <a:r>
              <a:rPr lang="en-US" altLang="zh-CN" sz="2400" i="1" dirty="0">
                <a:latin typeface="Arial" panose="020B0604020202020204" pitchFamily="34" charset="0"/>
              </a:rPr>
              <a:t>R</a:t>
            </a:r>
            <a:r>
              <a:rPr lang="en-US" altLang="zh-CN" sz="2400" baseline="-25000" dirty="0">
                <a:latin typeface="Arial" panose="020B0604020202020204" pitchFamily="34" charset="0"/>
              </a:rPr>
              <a:t>1</a:t>
            </a:r>
            <a:r>
              <a:rPr lang="en-US" altLang="zh-CN" sz="2400" i="1" dirty="0">
                <a:latin typeface="Arial" panose="020B0604020202020204" pitchFamily="34" charset="0"/>
              </a:rPr>
              <a:t>, R</a:t>
            </a:r>
            <a:r>
              <a:rPr lang="en-US" altLang="zh-CN" sz="2400" baseline="-25000" dirty="0">
                <a:latin typeface="Arial" panose="020B0604020202020204" pitchFamily="34" charset="0"/>
              </a:rPr>
              <a:t>2</a:t>
            </a:r>
            <a:r>
              <a:rPr lang="en-US" altLang="zh-CN" sz="2400" i="1" dirty="0">
                <a:latin typeface="Arial" panose="020B0604020202020204" pitchFamily="34" charset="0"/>
              </a:rPr>
              <a:t>, ..., R</a:t>
            </a:r>
            <a:r>
              <a:rPr lang="en-US" altLang="zh-CN" sz="2400" i="1" baseline="-25000" dirty="0">
                <a:latin typeface="Arial" panose="020B0604020202020204" pitchFamily="34" charset="0"/>
              </a:rPr>
              <a:t>n</a:t>
            </a:r>
            <a:r>
              <a:rPr lang="en-US" altLang="zh-CN" sz="2400" dirty="0">
                <a:latin typeface="Arial" panose="020B0604020202020204" pitchFamily="34" charset="0"/>
              </a:rPr>
              <a:t>} such that </a:t>
            </a:r>
          </a:p>
          <a:p>
            <a:pPr lvl="1"/>
            <a:r>
              <a:rPr lang="en-US" altLang="zh-CN" sz="2400" dirty="0">
                <a:solidFill>
                  <a:srgbClr val="FF0000"/>
                </a:solidFill>
                <a:latin typeface="Arial" panose="020B0604020202020204" pitchFamily="34" charset="0"/>
              </a:rPr>
              <a:t>each relation is in good form </a:t>
            </a:r>
          </a:p>
          <a:p>
            <a:pPr lvl="1"/>
            <a:r>
              <a:rPr lang="en-US" altLang="zh-CN" sz="2400" dirty="0">
                <a:solidFill>
                  <a:srgbClr val="FF0000"/>
                </a:solidFill>
                <a:latin typeface="Arial" panose="020B0604020202020204" pitchFamily="34" charset="0"/>
              </a:rPr>
              <a:t>the decomposition is a lossless-join decomposition</a:t>
            </a:r>
          </a:p>
          <a:p>
            <a:r>
              <a:rPr lang="en-US" altLang="zh-CN" sz="2400" dirty="0">
                <a:latin typeface="Arial" panose="020B0604020202020204" pitchFamily="34" charset="0"/>
              </a:rPr>
              <a:t>Our theory is based on:</a:t>
            </a:r>
          </a:p>
          <a:p>
            <a:pPr lvl="1"/>
            <a:r>
              <a:rPr lang="en-US" altLang="zh-CN" sz="2400" dirty="0">
                <a:solidFill>
                  <a:srgbClr val="C00000"/>
                </a:solidFill>
                <a:latin typeface="Arial" panose="020B0604020202020204" pitchFamily="34" charset="0"/>
              </a:rPr>
              <a:t>functional dependencies</a:t>
            </a:r>
          </a:p>
          <a:p>
            <a:pPr lvl="1"/>
            <a:r>
              <a:rPr lang="en-US" altLang="zh-CN" sz="2400" dirty="0">
                <a:latin typeface="Arial" panose="020B0604020202020204" pitchFamily="34" charset="0"/>
              </a:rPr>
              <a:t>multivalued dependencies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sp>
        <p:nvSpPr>
          <p:cNvPr id="16388" name="Rectangle 4"/>
          <p:cNvSpPr>
            <a:spLocks noChangeArrowheads="1"/>
          </p:cNvSpPr>
          <p:nvPr/>
        </p:nvSpPr>
        <p:spPr bwMode="auto">
          <a:xfrm>
            <a:off x="373063" y="1236663"/>
            <a:ext cx="2327275" cy="465138"/>
          </a:xfrm>
          <a:prstGeom prst="rect">
            <a:avLst/>
          </a:prstGeom>
          <a:solidFill>
            <a:schemeClr val="accent5">
              <a:lumMod val="20000"/>
              <a:lumOff val="80000"/>
            </a:schemeClr>
          </a:solidFill>
          <a:ln w="9525">
            <a:solidFill>
              <a:schemeClr val="tx1"/>
            </a:solidFill>
            <a:miter lim="800000"/>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不良的模式设计</a:t>
            </a:r>
          </a:p>
        </p:txBody>
      </p:sp>
      <p:sp>
        <p:nvSpPr>
          <p:cNvPr id="16389" name="Rectangle 5"/>
          <p:cNvSpPr>
            <a:spLocks noChangeArrowheads="1"/>
          </p:cNvSpPr>
          <p:nvPr/>
        </p:nvSpPr>
        <p:spPr bwMode="auto">
          <a:xfrm>
            <a:off x="1116013" y="2359025"/>
            <a:ext cx="803275" cy="466725"/>
          </a:xfrm>
          <a:prstGeom prst="rect">
            <a:avLst/>
          </a:prstGeom>
          <a:solidFill>
            <a:schemeClr val="accent5">
              <a:lumMod val="20000"/>
              <a:lumOff val="80000"/>
            </a:schemeClr>
          </a:solidFill>
          <a:ln w="9525">
            <a:solidFill>
              <a:schemeClr val="tx1"/>
            </a:solidFill>
            <a:miter lim="800000"/>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范式</a:t>
            </a:r>
          </a:p>
        </p:txBody>
      </p:sp>
      <p:sp>
        <p:nvSpPr>
          <p:cNvPr id="16390" name="Rectangle 6"/>
          <p:cNvSpPr>
            <a:spLocks noChangeArrowheads="1"/>
          </p:cNvSpPr>
          <p:nvPr/>
        </p:nvSpPr>
        <p:spPr bwMode="auto">
          <a:xfrm>
            <a:off x="358775" y="3479800"/>
            <a:ext cx="2327275" cy="466725"/>
          </a:xfrm>
          <a:prstGeom prst="rect">
            <a:avLst/>
          </a:prstGeom>
          <a:solidFill>
            <a:schemeClr val="accent5">
              <a:lumMod val="20000"/>
              <a:lumOff val="80000"/>
            </a:schemeClr>
          </a:solidFill>
          <a:ln w="9525">
            <a:solidFill>
              <a:schemeClr val="tx1"/>
            </a:solidFill>
            <a:miter lim="800000"/>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模式分解的要求</a:t>
            </a:r>
          </a:p>
        </p:txBody>
      </p:sp>
      <p:sp>
        <p:nvSpPr>
          <p:cNvPr id="16391" name="Rectangle 7"/>
          <p:cNvSpPr>
            <a:spLocks noChangeArrowheads="1"/>
          </p:cNvSpPr>
          <p:nvPr/>
        </p:nvSpPr>
        <p:spPr bwMode="auto">
          <a:xfrm>
            <a:off x="827088" y="4583113"/>
            <a:ext cx="1412875" cy="466725"/>
          </a:xfrm>
          <a:prstGeom prst="rect">
            <a:avLst/>
          </a:prstGeom>
          <a:solidFill>
            <a:schemeClr val="accent5">
              <a:lumMod val="20000"/>
              <a:lumOff val="80000"/>
            </a:schemeClr>
          </a:solidFill>
          <a:ln w="9525">
            <a:solidFill>
              <a:schemeClr val="tx1"/>
            </a:solidFill>
            <a:miter lim="800000"/>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模式分解</a:t>
            </a:r>
          </a:p>
        </p:txBody>
      </p:sp>
      <p:sp>
        <p:nvSpPr>
          <p:cNvPr id="16392" name="AutoShape 8"/>
          <p:cNvSpPr>
            <a:spLocks noChangeArrowheads="1"/>
          </p:cNvSpPr>
          <p:nvPr/>
        </p:nvSpPr>
        <p:spPr bwMode="auto">
          <a:xfrm>
            <a:off x="3563938" y="876300"/>
            <a:ext cx="3168650" cy="895350"/>
          </a:xfrm>
          <a:prstGeom prst="wedgeRoundRectCallout">
            <a:avLst>
              <a:gd name="adj1" fmla="val -76954"/>
              <a:gd name="adj2" fmla="val 25532"/>
              <a:gd name="adj3" fmla="val 16667"/>
            </a:avLst>
          </a:prstGeom>
          <a:solidFill>
            <a:schemeClr val="accent5">
              <a:lumMod val="20000"/>
              <a:lumOff val="80000"/>
            </a:schemeClr>
          </a:solidFill>
          <a:ln w="9525">
            <a:solidFill>
              <a:schemeClr val="tx1"/>
            </a:solidFill>
            <a:miter lim="800000"/>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数据冗余、插入异常、删除异常</a:t>
            </a:r>
          </a:p>
        </p:txBody>
      </p:sp>
      <p:sp>
        <p:nvSpPr>
          <p:cNvPr id="16393" name="AutoShape 9"/>
          <p:cNvSpPr>
            <a:spLocks noChangeArrowheads="1"/>
          </p:cNvSpPr>
          <p:nvPr/>
        </p:nvSpPr>
        <p:spPr bwMode="auto">
          <a:xfrm>
            <a:off x="2771775" y="2003425"/>
            <a:ext cx="4752975" cy="523875"/>
          </a:xfrm>
          <a:prstGeom prst="wedgeRoundRectCallout">
            <a:avLst>
              <a:gd name="adj1" fmla="val -67537"/>
              <a:gd name="adj2" fmla="val 52194"/>
              <a:gd name="adj3" fmla="val 16667"/>
            </a:avLst>
          </a:prstGeom>
          <a:solidFill>
            <a:schemeClr val="accent5">
              <a:lumMod val="20000"/>
              <a:lumOff val="80000"/>
            </a:schemeClr>
          </a:solidFill>
          <a:ln w="9525">
            <a:solidFill>
              <a:schemeClr val="tx1"/>
            </a:solidFill>
            <a:miter lim="800000"/>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1NF</a:t>
            </a:r>
            <a:r>
              <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a:t>
            </a:r>
            <a:r>
              <a:rPr kumimoji="0" lang="en-US" altLang="zh-CN"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2NF</a:t>
            </a:r>
            <a:r>
              <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a:t>
            </a:r>
            <a:r>
              <a:rPr kumimoji="0" lang="en-US" altLang="zh-CN"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3NF</a:t>
            </a:r>
            <a:r>
              <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a:t>
            </a:r>
            <a:r>
              <a:rPr kumimoji="0" lang="en-US" altLang="zh-CN"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BCNF</a:t>
            </a:r>
            <a:r>
              <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a:t>
            </a:r>
            <a:r>
              <a:rPr kumimoji="0" lang="en-US" altLang="zh-CN"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4NF</a:t>
            </a:r>
          </a:p>
        </p:txBody>
      </p:sp>
      <p:sp>
        <p:nvSpPr>
          <p:cNvPr id="16394" name="AutoShape 10"/>
          <p:cNvSpPr>
            <a:spLocks noChangeArrowheads="1"/>
          </p:cNvSpPr>
          <p:nvPr/>
        </p:nvSpPr>
        <p:spPr bwMode="auto">
          <a:xfrm>
            <a:off x="3059113" y="2841625"/>
            <a:ext cx="5702300" cy="1265238"/>
          </a:xfrm>
          <a:prstGeom prst="wedgeRoundRectCallout">
            <a:avLst>
              <a:gd name="adj1" fmla="val -55693"/>
              <a:gd name="adj2" fmla="val 19645"/>
              <a:gd name="adj3" fmla="val 16667"/>
            </a:avLst>
          </a:prstGeom>
          <a:solidFill>
            <a:schemeClr val="accent5">
              <a:lumMod val="20000"/>
              <a:lumOff val="80000"/>
            </a:schemeClr>
          </a:solidFill>
          <a:ln w="9525">
            <a:solidFill>
              <a:schemeClr val="tx1"/>
            </a:solidFill>
            <a:miter lim="800000"/>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无损连接</a:t>
            </a: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减少冗余：范式的判定</a:t>
            </a: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保持函数依赖</a:t>
            </a:r>
            <a:r>
              <a:rPr kumimoji="0" lang="en-US" altLang="zh-CN"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a:t>
            </a:r>
            <a:r>
              <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依赖闭包、正则覆盖</a:t>
            </a:r>
            <a:r>
              <a:rPr kumimoji="0" lang="en-US" altLang="zh-CN"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a:t>
            </a:r>
          </a:p>
        </p:txBody>
      </p:sp>
      <p:sp>
        <p:nvSpPr>
          <p:cNvPr id="16395" name="AutoShape 11"/>
          <p:cNvSpPr>
            <a:spLocks noChangeArrowheads="1"/>
          </p:cNvSpPr>
          <p:nvPr/>
        </p:nvSpPr>
        <p:spPr bwMode="auto">
          <a:xfrm>
            <a:off x="2987675" y="4365625"/>
            <a:ext cx="4321175" cy="903288"/>
          </a:xfrm>
          <a:prstGeom prst="wedgeRoundRectCallout">
            <a:avLst>
              <a:gd name="adj1" fmla="val -66442"/>
              <a:gd name="adj2" fmla="val -264"/>
              <a:gd name="adj3" fmla="val 16667"/>
            </a:avLst>
          </a:prstGeom>
          <a:solidFill>
            <a:schemeClr val="accent5">
              <a:lumMod val="20000"/>
              <a:lumOff val="80000"/>
            </a:schemeClr>
          </a:solidFill>
          <a:ln w="9525">
            <a:solidFill>
              <a:schemeClr val="tx1"/>
            </a:solidFill>
            <a:miter lim="800000"/>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分解为</a:t>
            </a:r>
            <a:r>
              <a:rPr kumimoji="0" lang="en-US" altLang="zh-CN"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BCNF</a:t>
            </a:r>
            <a:r>
              <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范式</a:t>
            </a: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分解为</a:t>
            </a:r>
            <a:r>
              <a:rPr kumimoji="0" lang="en-US" altLang="zh-CN"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3NF</a:t>
            </a:r>
            <a:r>
              <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范式</a:t>
            </a:r>
          </a:p>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p:txBody>
      </p:sp>
      <p:sp>
        <p:nvSpPr>
          <p:cNvPr id="401420" name="AutoShape 12"/>
          <p:cNvSpPr>
            <a:spLocks noChangeArrowheads="1"/>
          </p:cNvSpPr>
          <p:nvPr/>
        </p:nvSpPr>
        <p:spPr bwMode="auto">
          <a:xfrm>
            <a:off x="1381125" y="1741488"/>
            <a:ext cx="360363" cy="630238"/>
          </a:xfrm>
          <a:prstGeom prst="downArrow">
            <a:avLst>
              <a:gd name="adj1" fmla="val 50000"/>
              <a:gd name="adj2" fmla="val 43722"/>
            </a:avLst>
          </a:prstGeom>
          <a:noFill/>
          <a:ln w="9525">
            <a:solidFill>
              <a:schemeClr val="tx1"/>
            </a:solidFill>
            <a:miter lim="800000"/>
          </a:ln>
          <a:effectLst/>
        </p:spPr>
        <p:txBody>
          <a:bodyPr wrap="none" anchor="ctr"/>
          <a:lstStyle/>
          <a:p>
            <a:pPr marL="0" marR="0" lvl="0" indent="0" algn="l" defTabSz="914400" rtl="0" eaLnBrk="1" fontAlgn="base" latinLnBrk="0" hangingPunct="1">
              <a:lnSpc>
                <a:spcPct val="200000"/>
              </a:lnSpc>
              <a:spcBef>
                <a:spcPct val="20000"/>
              </a:spcBef>
              <a:spcAft>
                <a:spcPct val="0"/>
              </a:spcAft>
              <a:buClr>
                <a:srgbClr val="FF3300"/>
              </a:buClr>
              <a:buSzPct val="125000"/>
              <a:buFont typeface="Times New Roman" panose="02020603050405020304" charset="0"/>
              <a:buChar char="♠"/>
              <a:defRPr/>
            </a:pPr>
            <a:endParaRPr kumimoji="1"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endParaRPr>
          </a:p>
        </p:txBody>
      </p:sp>
      <p:sp>
        <p:nvSpPr>
          <p:cNvPr id="401421" name="AutoShape 13"/>
          <p:cNvSpPr>
            <a:spLocks noChangeArrowheads="1"/>
          </p:cNvSpPr>
          <p:nvPr/>
        </p:nvSpPr>
        <p:spPr bwMode="auto">
          <a:xfrm>
            <a:off x="1335088" y="2825750"/>
            <a:ext cx="360363" cy="630238"/>
          </a:xfrm>
          <a:prstGeom prst="downArrow">
            <a:avLst>
              <a:gd name="adj1" fmla="val 50000"/>
              <a:gd name="adj2" fmla="val 43723"/>
            </a:avLst>
          </a:prstGeom>
          <a:noFill/>
          <a:ln w="9525">
            <a:solidFill>
              <a:schemeClr val="tx1"/>
            </a:solidFill>
            <a:miter lim="800000"/>
          </a:ln>
          <a:effectLst/>
        </p:spPr>
        <p:txBody>
          <a:bodyPr wrap="none" anchor="ctr"/>
          <a:lstStyle/>
          <a:p>
            <a:pPr marL="0" marR="0" lvl="0" indent="0" algn="l" defTabSz="914400" rtl="0" eaLnBrk="1" fontAlgn="base" latinLnBrk="0" hangingPunct="1">
              <a:lnSpc>
                <a:spcPct val="200000"/>
              </a:lnSpc>
              <a:spcBef>
                <a:spcPct val="20000"/>
              </a:spcBef>
              <a:spcAft>
                <a:spcPct val="0"/>
              </a:spcAft>
              <a:buClr>
                <a:srgbClr val="FF3300"/>
              </a:buClr>
              <a:buSzPct val="125000"/>
              <a:buFont typeface="Times New Roman" panose="02020603050405020304" charset="0"/>
              <a:buChar char="♠"/>
              <a:defRPr/>
            </a:pPr>
            <a:endParaRPr kumimoji="1"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endParaRPr>
          </a:p>
        </p:txBody>
      </p:sp>
      <p:sp>
        <p:nvSpPr>
          <p:cNvPr id="401422" name="AutoShape 14"/>
          <p:cNvSpPr>
            <a:spLocks noChangeArrowheads="1"/>
          </p:cNvSpPr>
          <p:nvPr/>
        </p:nvSpPr>
        <p:spPr bwMode="auto">
          <a:xfrm>
            <a:off x="1335088" y="3940175"/>
            <a:ext cx="360363" cy="630238"/>
          </a:xfrm>
          <a:prstGeom prst="downArrow">
            <a:avLst>
              <a:gd name="adj1" fmla="val 50000"/>
              <a:gd name="adj2" fmla="val 43723"/>
            </a:avLst>
          </a:prstGeom>
          <a:noFill/>
          <a:ln w="9525">
            <a:solidFill>
              <a:schemeClr val="tx1"/>
            </a:solidFill>
            <a:miter lim="800000"/>
          </a:ln>
          <a:effectLst/>
        </p:spPr>
        <p:txBody>
          <a:bodyPr wrap="none" anchor="ctr"/>
          <a:lstStyle/>
          <a:p>
            <a:pPr marL="0" marR="0" lvl="0" indent="0" algn="l" defTabSz="914400" rtl="0" eaLnBrk="1" fontAlgn="base" latinLnBrk="0" hangingPunct="1">
              <a:lnSpc>
                <a:spcPct val="200000"/>
              </a:lnSpc>
              <a:spcBef>
                <a:spcPct val="20000"/>
              </a:spcBef>
              <a:spcAft>
                <a:spcPct val="0"/>
              </a:spcAft>
              <a:buClr>
                <a:srgbClr val="FF3300"/>
              </a:buClr>
              <a:buSzPct val="125000"/>
              <a:buFont typeface="Times New Roman" panose="02020603050405020304" charset="0"/>
              <a:buChar char="♠"/>
              <a:defRPr/>
            </a:pPr>
            <a:endParaRPr kumimoji="1"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endParaRPr>
          </a:p>
        </p:txBody>
      </p:sp>
      <p:sp>
        <p:nvSpPr>
          <p:cNvPr id="401423" name="AutoShape 15"/>
          <p:cNvSpPr>
            <a:spLocks noChangeArrowheads="1"/>
          </p:cNvSpPr>
          <p:nvPr/>
        </p:nvSpPr>
        <p:spPr bwMode="auto">
          <a:xfrm>
            <a:off x="1335088" y="5053013"/>
            <a:ext cx="360363" cy="630238"/>
          </a:xfrm>
          <a:prstGeom prst="downArrow">
            <a:avLst>
              <a:gd name="adj1" fmla="val 50000"/>
              <a:gd name="adj2" fmla="val 43722"/>
            </a:avLst>
          </a:prstGeom>
          <a:noFill/>
          <a:ln w="9525">
            <a:solidFill>
              <a:schemeClr val="tx1"/>
            </a:solidFill>
            <a:miter lim="800000"/>
          </a:ln>
          <a:effectLst/>
        </p:spPr>
        <p:txBody>
          <a:bodyPr wrap="none" anchor="ctr"/>
          <a:lstStyle/>
          <a:p>
            <a:pPr marL="0" marR="0" lvl="0" indent="0" algn="l" defTabSz="914400" rtl="0" eaLnBrk="1" fontAlgn="base" latinLnBrk="0" hangingPunct="1">
              <a:lnSpc>
                <a:spcPct val="200000"/>
              </a:lnSpc>
              <a:spcBef>
                <a:spcPct val="20000"/>
              </a:spcBef>
              <a:spcAft>
                <a:spcPct val="0"/>
              </a:spcAft>
              <a:buClr>
                <a:srgbClr val="FF3300"/>
              </a:buClr>
              <a:buSzPct val="125000"/>
              <a:buFont typeface="Times New Roman" panose="02020603050405020304" charset="0"/>
              <a:buChar char="♠"/>
              <a:defRPr/>
            </a:pPr>
            <a:endParaRPr kumimoji="1" lang="zh-CN" altLang="en-US" sz="2000" b="0" i="0" u="none" strike="noStrike" kern="1200" cap="none" spc="0" normalizeH="0" baseline="0" noProof="0">
              <a:ln>
                <a:noFill/>
              </a:ln>
              <a:solidFill>
                <a:schemeClr val="tx1"/>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cs"/>
            </a:endParaRPr>
          </a:p>
        </p:txBody>
      </p:sp>
      <p:sp>
        <p:nvSpPr>
          <p:cNvPr id="16400" name="Rectangle 16"/>
          <p:cNvSpPr>
            <a:spLocks noChangeArrowheads="1"/>
          </p:cNvSpPr>
          <p:nvPr/>
        </p:nvSpPr>
        <p:spPr bwMode="auto">
          <a:xfrm>
            <a:off x="250825" y="5699125"/>
            <a:ext cx="2632075" cy="466725"/>
          </a:xfrm>
          <a:prstGeom prst="rect">
            <a:avLst/>
          </a:prstGeom>
          <a:solidFill>
            <a:schemeClr val="accent5">
              <a:lumMod val="20000"/>
              <a:lumOff val="80000"/>
            </a:schemeClr>
          </a:solidFill>
          <a:ln w="9525">
            <a:solidFill>
              <a:schemeClr val="tx1"/>
            </a:solidFill>
            <a:miter lim="800000"/>
          </a:ln>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去范式的模式设计</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8674" name="Rectangle 2"/>
          <p:cNvSpPr>
            <a:spLocks noGrp="1" noChangeArrowheads="1"/>
          </p:cNvSpPr>
          <p:nvPr>
            <p:ph type="title"/>
          </p:nvPr>
        </p:nvSpPr>
        <p:spPr>
          <a:xfrm>
            <a:off x="768350" y="98425"/>
            <a:ext cx="80772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Functional Dependencies</a:t>
            </a:r>
          </a:p>
        </p:txBody>
      </p:sp>
      <p:sp>
        <p:nvSpPr>
          <p:cNvPr id="25602" name="Rectangle 3"/>
          <p:cNvSpPr>
            <a:spLocks noGrp="1"/>
          </p:cNvSpPr>
          <p:nvPr>
            <p:ph idx="1"/>
          </p:nvPr>
        </p:nvSpPr>
        <p:spPr>
          <a:xfrm>
            <a:off x="261938" y="1093788"/>
            <a:ext cx="8583612" cy="4903787"/>
          </a:xfrm>
        </p:spPr>
        <p:txBody>
          <a:bodyPr wrap="square" lIns="91440" tIns="45720" rIns="91440" bIns="45720" anchor="t"/>
          <a:lstStyle/>
          <a:p>
            <a:r>
              <a:rPr lang="en-US" altLang="zh-CN" sz="2800" dirty="0">
                <a:solidFill>
                  <a:srgbClr val="0066CC"/>
                </a:solidFill>
              </a:rPr>
              <a:t>Constraints</a:t>
            </a:r>
            <a:r>
              <a:rPr lang="en-US" altLang="zh-CN" sz="2800" dirty="0"/>
              <a:t> on the set of legal relations.</a:t>
            </a:r>
          </a:p>
          <a:p>
            <a:r>
              <a:rPr lang="en-US" altLang="zh-CN" sz="2800" dirty="0"/>
              <a:t>Require that the value for a certain set of attributes </a:t>
            </a:r>
            <a:r>
              <a:rPr lang="en-US" altLang="zh-CN" sz="2800" dirty="0">
                <a:solidFill>
                  <a:srgbClr val="0066CC"/>
                </a:solidFill>
              </a:rPr>
              <a:t>determines uniquely</a:t>
            </a:r>
            <a:r>
              <a:rPr lang="en-US" altLang="zh-CN" sz="2800" dirty="0"/>
              <a:t> the value for another set of attributes.</a:t>
            </a:r>
          </a:p>
          <a:p>
            <a:r>
              <a:rPr lang="en-US" altLang="zh-CN" sz="2800" dirty="0"/>
              <a:t>A functional dependency is a generalization of the notion of a </a:t>
            </a:r>
            <a:r>
              <a:rPr lang="en-US" altLang="zh-CN" sz="2800" i="1" dirty="0"/>
              <a:t>key.</a:t>
            </a:r>
          </a:p>
          <a:p>
            <a:r>
              <a:rPr lang="zh-CN" altLang="en-US" sz="2800" dirty="0">
                <a:latin typeface="微软雅黑" panose="020B0503020204020204" charset="-122"/>
                <a:ea typeface="微软雅黑" panose="020B0503020204020204" charset="-122"/>
                <a:cs typeface="+mn-cs"/>
                <a:sym typeface="+mn-ea"/>
              </a:rPr>
              <a:t>函数依赖不是从数据中推导出来，而是客观世界对于数据的约束</a:t>
            </a:r>
            <a:r>
              <a:rPr lang="en-US" altLang="zh-CN" sz="2800" dirty="0">
                <a:latin typeface="微软雅黑" panose="020B0503020204020204" charset="-122"/>
                <a:ea typeface="微软雅黑" panose="020B0503020204020204" charset="-122"/>
                <a:cs typeface="+mn-cs"/>
                <a:sym typeface="+mn-ea"/>
              </a:rPr>
              <a:t>. </a:t>
            </a:r>
          </a:p>
          <a:p>
            <a:pPr lvl="1"/>
            <a:r>
              <a:rPr lang="zh-CN" altLang="en-US" sz="2800" dirty="0">
                <a:latin typeface="微软雅黑" panose="020B0503020204020204" charset="-122"/>
                <a:ea typeface="微软雅黑" panose="020B0503020204020204" charset="-122"/>
                <a:cs typeface="+mn-cs"/>
                <a:sym typeface="+mn-ea"/>
              </a:rPr>
              <a:t>特定数据属性之间的关系，并不能代表该关系模式所有实例数据之间可能的关系</a:t>
            </a:r>
            <a:r>
              <a:rPr lang="en-US" altLang="zh-CN" sz="2800" dirty="0">
                <a:latin typeface="微软雅黑" panose="020B0503020204020204" charset="-122"/>
                <a:ea typeface="微软雅黑" panose="020B0503020204020204" charset="-122"/>
                <a:cs typeface="+mn-cs"/>
                <a:sym typeface="+mn-ea"/>
              </a:rPr>
              <a:t>.</a:t>
            </a:r>
            <a:endParaRPr lang="en-US" altLang="zh-CN"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0722"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Functional Dependencies (Cont.)</a:t>
            </a:r>
          </a:p>
        </p:txBody>
      </p:sp>
      <p:sp>
        <p:nvSpPr>
          <p:cNvPr id="27650" name="Rectangle 3"/>
          <p:cNvSpPr>
            <a:spLocks noGrp="1"/>
          </p:cNvSpPr>
          <p:nvPr>
            <p:ph idx="1"/>
          </p:nvPr>
        </p:nvSpPr>
        <p:spPr>
          <a:xfrm>
            <a:off x="153988" y="1093788"/>
            <a:ext cx="8821737" cy="5387975"/>
          </a:xfrm>
        </p:spPr>
        <p:txBody>
          <a:bodyPr wrap="square" lIns="91440" tIns="45720" rIns="91440" bIns="45720" anchor="t"/>
          <a:lstStyle/>
          <a:p>
            <a:pPr defTabSz="914400">
              <a:lnSpc>
                <a:spcPct val="90000"/>
              </a:lnSpc>
              <a:tabLst>
                <a:tab pos="2917825" algn="ctr"/>
              </a:tabLst>
            </a:pPr>
            <a:r>
              <a:rPr lang="en-US" altLang="zh-CN" sz="2400" dirty="0"/>
              <a:t>Let </a:t>
            </a:r>
            <a:r>
              <a:rPr lang="en-US" altLang="zh-CN" sz="2400" i="1" dirty="0"/>
              <a:t>R</a:t>
            </a:r>
            <a:r>
              <a:rPr lang="en-US" altLang="zh-CN" sz="2400" dirty="0"/>
              <a:t> be a relation schema</a:t>
            </a:r>
          </a:p>
          <a:p>
            <a:pPr defTabSz="914400">
              <a:lnSpc>
                <a:spcPct val="90000"/>
              </a:lnSpc>
              <a:buNone/>
              <a:tabLst>
                <a:tab pos="2917825" algn="ctr"/>
              </a:tabLst>
            </a:pPr>
            <a:r>
              <a:rPr lang="en-US" altLang="zh-CN" sz="2400" dirty="0"/>
              <a:t>		</a:t>
            </a:r>
            <a:r>
              <a:rPr lang="en-US" altLang="zh-CN" sz="2400" dirty="0">
                <a:sym typeface="Symbol" panose="05050102010706020507" charset="2"/>
              </a:rPr>
              <a:t>  </a:t>
            </a:r>
            <a:r>
              <a:rPr lang="en-US" altLang="zh-CN" sz="2400" i="1" dirty="0">
                <a:sym typeface="Symbol" panose="05050102010706020507" charset="2"/>
              </a:rPr>
              <a:t>R  and   </a:t>
            </a:r>
            <a:r>
              <a:rPr lang="en-US" altLang="zh-CN" sz="2400" dirty="0">
                <a:sym typeface="Symbol" panose="05050102010706020507" charset="2"/>
              </a:rPr>
              <a:t> </a:t>
            </a:r>
            <a:r>
              <a:rPr lang="en-US" altLang="zh-CN" sz="2400" i="1" dirty="0">
                <a:sym typeface="Symbol" panose="05050102010706020507" charset="2"/>
              </a:rPr>
              <a:t>R</a:t>
            </a:r>
          </a:p>
          <a:p>
            <a:pPr defTabSz="914400">
              <a:lnSpc>
                <a:spcPct val="90000"/>
              </a:lnSpc>
              <a:tabLst>
                <a:tab pos="2917825" algn="ctr"/>
              </a:tabLst>
            </a:pPr>
            <a:r>
              <a:rPr lang="en-US" altLang="zh-CN" sz="2400" dirty="0">
                <a:sym typeface="Symbol" panose="05050102010706020507" charset="2"/>
              </a:rPr>
              <a:t>The </a:t>
            </a:r>
            <a:r>
              <a:rPr lang="en-US" altLang="zh-CN" sz="2400" b="1" dirty="0">
                <a:solidFill>
                  <a:srgbClr val="000099"/>
                </a:solidFill>
                <a:sym typeface="Symbol" panose="05050102010706020507" charset="2"/>
              </a:rPr>
              <a:t>functional dependency </a:t>
            </a:r>
            <a:r>
              <a:rPr lang="en-US" altLang="zh-CN" sz="2400" i="1" dirty="0">
                <a:sym typeface="Symbol" panose="05050102010706020507" charset="2"/>
              </a:rPr>
              <a:t> </a:t>
            </a:r>
            <a:r>
              <a:rPr lang="en-US" altLang="zh-CN" sz="2400" b="1" dirty="0">
                <a:solidFill>
                  <a:srgbClr val="C00000"/>
                </a:solidFill>
                <a:sym typeface="Symbol" panose="05050102010706020507" charset="2"/>
              </a:rPr>
              <a:t> </a:t>
            </a:r>
            <a:r>
              <a:rPr lang="en-US" altLang="zh-CN" sz="2400" b="1" dirty="0">
                <a:solidFill>
                  <a:srgbClr val="C00000"/>
                </a:solidFill>
                <a:sym typeface="Monotype Sorts" charset="2"/>
              </a:rPr>
              <a:t> </a:t>
            </a:r>
            <a:r>
              <a:rPr lang="en-US" altLang="zh-CN" sz="2400" b="1" i="1" dirty="0">
                <a:solidFill>
                  <a:srgbClr val="C00000"/>
                </a:solidFill>
                <a:sym typeface="Symbol" panose="05050102010706020507" charset="2"/>
              </a:rPr>
              <a:t>  </a:t>
            </a:r>
            <a:r>
              <a:rPr lang="en-US" altLang="zh-CN" sz="2400" b="1" i="1" dirty="0">
                <a:solidFill>
                  <a:srgbClr val="000099"/>
                </a:solidFill>
                <a:sym typeface="Symbol" panose="05050102010706020507" charset="2"/>
              </a:rPr>
              <a:t> </a:t>
            </a:r>
            <a:r>
              <a:rPr lang="en-US" altLang="zh-CN" sz="2400" b="1" dirty="0">
                <a:solidFill>
                  <a:srgbClr val="000099"/>
                </a:solidFill>
                <a:sym typeface="Symbol" panose="05050102010706020507" charset="2"/>
              </a:rPr>
              <a:t>holds on</a:t>
            </a:r>
            <a:r>
              <a:rPr lang="en-US" altLang="zh-CN" sz="2400" dirty="0">
                <a:sym typeface="Symbol" panose="05050102010706020507" charset="2"/>
              </a:rPr>
              <a:t> </a:t>
            </a:r>
            <a:r>
              <a:rPr lang="en-US" altLang="zh-CN" sz="2400" i="1" dirty="0">
                <a:sym typeface="Symbol" panose="05050102010706020507" charset="2"/>
              </a:rPr>
              <a:t>R</a:t>
            </a:r>
            <a:r>
              <a:rPr lang="en-US" altLang="zh-CN" sz="2400" dirty="0">
                <a:sym typeface="Symbol" panose="05050102010706020507" charset="2"/>
              </a:rPr>
              <a:t> if and only if for any legal relations </a:t>
            </a:r>
            <a:r>
              <a:rPr lang="en-US" altLang="zh-CN" sz="2400" i="1" dirty="0">
                <a:sym typeface="Symbol" panose="05050102010706020507" charset="2"/>
              </a:rPr>
              <a:t>r</a:t>
            </a:r>
            <a:r>
              <a:rPr lang="en-US" altLang="zh-CN" sz="2400" dirty="0">
                <a:sym typeface="Symbol" panose="05050102010706020507" charset="2"/>
              </a:rPr>
              <a:t>(R), whenever any two tuples </a:t>
            </a:r>
            <a:r>
              <a:rPr lang="en-US" altLang="zh-CN" sz="2400" i="1" dirty="0">
                <a:sym typeface="Symbol" panose="05050102010706020507" charset="2"/>
              </a:rPr>
              <a:t>t</a:t>
            </a:r>
            <a:r>
              <a:rPr lang="en-US" altLang="zh-CN" sz="2400" baseline="-25000" dirty="0">
                <a:sym typeface="Symbol" panose="05050102010706020507" charset="2"/>
              </a:rPr>
              <a:t>1</a:t>
            </a:r>
            <a:r>
              <a:rPr lang="en-US" altLang="zh-CN" sz="2400" i="1" dirty="0">
                <a:sym typeface="Symbol" panose="05050102010706020507" charset="2"/>
              </a:rPr>
              <a:t> </a:t>
            </a:r>
            <a:r>
              <a:rPr lang="en-US" altLang="zh-CN" sz="2400" dirty="0">
                <a:sym typeface="Symbol" panose="05050102010706020507" charset="2"/>
              </a:rPr>
              <a:t>and </a:t>
            </a:r>
            <a:r>
              <a:rPr lang="en-US" altLang="zh-CN" sz="2400" i="1" dirty="0">
                <a:sym typeface="Symbol" panose="05050102010706020507" charset="2"/>
              </a:rPr>
              <a:t>t</a:t>
            </a:r>
            <a:r>
              <a:rPr lang="en-US" altLang="zh-CN" sz="2400" baseline="-25000" dirty="0">
                <a:sym typeface="Symbol" panose="05050102010706020507" charset="2"/>
              </a:rPr>
              <a:t>2</a:t>
            </a:r>
            <a:r>
              <a:rPr lang="en-US" altLang="zh-CN" sz="2400" dirty="0">
                <a:sym typeface="Symbol" panose="05050102010706020507" charset="2"/>
              </a:rPr>
              <a:t> of </a:t>
            </a:r>
            <a:r>
              <a:rPr lang="en-US" altLang="zh-CN" sz="2400" i="1" dirty="0">
                <a:sym typeface="Symbol" panose="05050102010706020507" charset="2"/>
              </a:rPr>
              <a:t>r</a:t>
            </a:r>
            <a:r>
              <a:rPr lang="en-US" altLang="zh-CN" sz="2400" dirty="0">
                <a:sym typeface="Symbol" panose="05050102010706020507" charset="2"/>
              </a:rPr>
              <a:t> agree on the attributes , they also agree on the attributes </a:t>
            </a:r>
            <a:r>
              <a:rPr lang="en-US" altLang="zh-CN" sz="2400" i="1" dirty="0">
                <a:sym typeface="Symbol" panose="05050102010706020507" charset="2"/>
              </a:rPr>
              <a:t>. </a:t>
            </a:r>
            <a:r>
              <a:rPr lang="en-US" altLang="zh-CN" sz="2400" dirty="0">
                <a:sym typeface="Symbol" panose="05050102010706020507" charset="2"/>
              </a:rPr>
              <a:t> That is, </a:t>
            </a:r>
          </a:p>
          <a:p>
            <a:pPr defTabSz="914400">
              <a:lnSpc>
                <a:spcPct val="90000"/>
              </a:lnSpc>
              <a:buNone/>
              <a:tabLst>
                <a:tab pos="2917825" algn="ctr"/>
              </a:tabLst>
            </a:pPr>
            <a:r>
              <a:rPr lang="en-US" altLang="zh-CN" sz="2400" i="1" dirty="0">
                <a:sym typeface="Symbol" panose="05050102010706020507" charset="2"/>
              </a:rPr>
              <a:t>		                     </a:t>
            </a:r>
            <a:r>
              <a:rPr lang="en-US" altLang="zh-CN" sz="2400" b="1" i="1" dirty="0">
                <a:sym typeface="Symbol" panose="05050102010706020507" charset="2"/>
              </a:rPr>
              <a:t> </a:t>
            </a:r>
            <a:r>
              <a:rPr lang="en-US" altLang="zh-CN" sz="2400" b="1" i="1" dirty="0">
                <a:solidFill>
                  <a:srgbClr val="000099"/>
                </a:solidFill>
                <a:sym typeface="Symbol" panose="05050102010706020507" charset="2"/>
              </a:rPr>
              <a:t> t</a:t>
            </a:r>
            <a:r>
              <a:rPr lang="en-US" altLang="zh-CN" sz="2400" b="1" baseline="-25000" dirty="0">
                <a:solidFill>
                  <a:srgbClr val="000099"/>
                </a:solidFill>
                <a:sym typeface="Symbol" panose="05050102010706020507" charset="2"/>
              </a:rPr>
              <a:t>1</a:t>
            </a:r>
            <a:r>
              <a:rPr lang="en-US" altLang="zh-CN" sz="2400" b="1" dirty="0">
                <a:solidFill>
                  <a:srgbClr val="000099"/>
                </a:solidFill>
                <a:sym typeface="Symbol" panose="05050102010706020507" charset="2"/>
              </a:rPr>
              <a:t>[] = </a:t>
            </a:r>
            <a:r>
              <a:rPr lang="en-US" altLang="zh-CN" sz="2400" b="1" i="1" dirty="0">
                <a:solidFill>
                  <a:srgbClr val="000099"/>
                </a:solidFill>
                <a:sym typeface="Symbol" panose="05050102010706020507" charset="2"/>
              </a:rPr>
              <a:t>t</a:t>
            </a:r>
            <a:r>
              <a:rPr lang="en-US" altLang="zh-CN" sz="2400" b="1" baseline="-25000" dirty="0">
                <a:solidFill>
                  <a:srgbClr val="000099"/>
                </a:solidFill>
                <a:sym typeface="Symbol" panose="05050102010706020507" charset="2"/>
              </a:rPr>
              <a:t>2 </a:t>
            </a:r>
            <a:r>
              <a:rPr lang="en-US" altLang="zh-CN" sz="2400" b="1" dirty="0">
                <a:solidFill>
                  <a:srgbClr val="000099"/>
                </a:solidFill>
                <a:sym typeface="Symbol" panose="05050102010706020507" charset="2"/>
              </a:rPr>
              <a:t>[]      </a:t>
            </a:r>
            <a:r>
              <a:rPr lang="en-US" altLang="zh-CN" sz="2400" b="1" i="1" dirty="0">
                <a:solidFill>
                  <a:srgbClr val="000099"/>
                </a:solidFill>
                <a:sym typeface="Symbol" panose="05050102010706020507" charset="2"/>
              </a:rPr>
              <a:t>t</a:t>
            </a:r>
            <a:r>
              <a:rPr lang="en-US" altLang="zh-CN" sz="2400" b="1" baseline="-25000" dirty="0">
                <a:solidFill>
                  <a:srgbClr val="000099"/>
                </a:solidFill>
                <a:sym typeface="Symbol" panose="05050102010706020507" charset="2"/>
              </a:rPr>
              <a:t>1</a:t>
            </a:r>
            <a:r>
              <a:rPr lang="en-US" altLang="zh-CN" sz="2400" b="1" dirty="0">
                <a:solidFill>
                  <a:srgbClr val="000099"/>
                </a:solidFill>
                <a:sym typeface="Symbol" panose="05050102010706020507" charset="2"/>
              </a:rPr>
              <a:t>[</a:t>
            </a:r>
            <a:r>
              <a:rPr lang="en-US" altLang="zh-CN" sz="2400" b="1" i="1" dirty="0">
                <a:solidFill>
                  <a:srgbClr val="000099"/>
                </a:solidFill>
                <a:sym typeface="Symbol" panose="05050102010706020507" charset="2"/>
              </a:rPr>
              <a:t> </a:t>
            </a:r>
            <a:r>
              <a:rPr lang="en-US" altLang="zh-CN" sz="2400" b="1" dirty="0">
                <a:solidFill>
                  <a:srgbClr val="000099"/>
                </a:solidFill>
                <a:sym typeface="Symbol" panose="05050102010706020507" charset="2"/>
              </a:rPr>
              <a:t>]  = </a:t>
            </a:r>
            <a:r>
              <a:rPr lang="en-US" altLang="zh-CN" sz="2400" b="1" i="1" dirty="0">
                <a:solidFill>
                  <a:srgbClr val="000099"/>
                </a:solidFill>
                <a:sym typeface="Symbol" panose="05050102010706020507" charset="2"/>
              </a:rPr>
              <a:t>t</a:t>
            </a:r>
            <a:r>
              <a:rPr lang="en-US" altLang="zh-CN" sz="2400" b="1" baseline="-25000" dirty="0">
                <a:solidFill>
                  <a:srgbClr val="000099"/>
                </a:solidFill>
                <a:sym typeface="Symbol" panose="05050102010706020507" charset="2"/>
              </a:rPr>
              <a:t>2 </a:t>
            </a:r>
            <a:r>
              <a:rPr lang="en-US" altLang="zh-CN" sz="2400" b="1" dirty="0">
                <a:solidFill>
                  <a:srgbClr val="000099"/>
                </a:solidFill>
                <a:sym typeface="Symbol" panose="05050102010706020507" charset="2"/>
              </a:rPr>
              <a:t>[</a:t>
            </a:r>
            <a:r>
              <a:rPr lang="en-US" altLang="zh-CN" sz="2400" b="1" i="1" dirty="0">
                <a:solidFill>
                  <a:srgbClr val="000099"/>
                </a:solidFill>
                <a:sym typeface="Symbol" panose="05050102010706020507" charset="2"/>
              </a:rPr>
              <a:t> </a:t>
            </a:r>
            <a:r>
              <a:rPr lang="en-US" altLang="zh-CN" sz="2400" b="1" dirty="0">
                <a:solidFill>
                  <a:srgbClr val="000099"/>
                </a:solidFill>
                <a:sym typeface="Symbol" panose="05050102010706020507" charset="2"/>
              </a:rPr>
              <a:t>] </a:t>
            </a:r>
          </a:p>
          <a:p>
            <a:pPr defTabSz="914400">
              <a:lnSpc>
                <a:spcPct val="90000"/>
              </a:lnSpc>
              <a:tabLst>
                <a:tab pos="2917825" algn="ctr"/>
              </a:tabLst>
            </a:pPr>
            <a:r>
              <a:rPr lang="en-US" altLang="zh-CN" sz="2400" dirty="0"/>
              <a:t>Example:  Consider </a:t>
            </a:r>
            <a:r>
              <a:rPr lang="en-US" altLang="zh-CN" sz="2400" i="1" dirty="0"/>
              <a:t>r</a:t>
            </a:r>
            <a:r>
              <a:rPr lang="en-US" altLang="zh-CN" sz="2400" dirty="0"/>
              <a:t>(A</a:t>
            </a:r>
            <a:r>
              <a:rPr lang="en-US" altLang="zh-CN" sz="2400" i="1" dirty="0"/>
              <a:t>,B </a:t>
            </a:r>
            <a:r>
              <a:rPr lang="en-US" altLang="zh-CN" sz="2400" dirty="0"/>
              <a:t>) with the following instance of </a:t>
            </a:r>
            <a:r>
              <a:rPr lang="en-US" altLang="zh-CN" sz="2400" i="1" dirty="0"/>
              <a:t>r.</a:t>
            </a:r>
            <a:endParaRPr lang="en-US" altLang="zh-CN" sz="2400" dirty="0"/>
          </a:p>
          <a:p>
            <a:pPr defTabSz="914400">
              <a:lnSpc>
                <a:spcPct val="90000"/>
              </a:lnSpc>
              <a:tabLst>
                <a:tab pos="2917825" algn="ctr"/>
              </a:tabLst>
            </a:pPr>
            <a:endParaRPr lang="en-US" altLang="zh-CN" sz="2400" dirty="0"/>
          </a:p>
          <a:p>
            <a:pPr defTabSz="914400">
              <a:lnSpc>
                <a:spcPct val="90000"/>
              </a:lnSpc>
              <a:tabLst>
                <a:tab pos="2917825" algn="ctr"/>
              </a:tabLst>
            </a:pPr>
            <a:endParaRPr lang="en-US" altLang="zh-CN" sz="2400" dirty="0"/>
          </a:p>
          <a:p>
            <a:pPr defTabSz="914400">
              <a:lnSpc>
                <a:spcPct val="90000"/>
              </a:lnSpc>
              <a:tabLst>
                <a:tab pos="2917825" algn="ctr"/>
              </a:tabLst>
            </a:pPr>
            <a:r>
              <a:rPr lang="en-US" altLang="zh-CN" sz="2400" dirty="0"/>
              <a:t>On this instance, </a:t>
            </a:r>
            <a:r>
              <a:rPr lang="en-US" altLang="zh-CN" sz="2400" i="1" dirty="0"/>
              <a:t>A</a:t>
            </a:r>
            <a:r>
              <a:rPr lang="en-US" altLang="zh-CN" sz="2400" dirty="0"/>
              <a:t> </a:t>
            </a:r>
            <a:r>
              <a:rPr lang="en-US" altLang="zh-CN" sz="2400" dirty="0">
                <a:sym typeface="Symbol" panose="05050102010706020507" charset="2"/>
              </a:rPr>
              <a:t></a:t>
            </a:r>
            <a:r>
              <a:rPr lang="en-US" altLang="zh-CN" sz="2400" dirty="0">
                <a:sym typeface="Monotype Sorts" charset="2"/>
              </a:rPr>
              <a:t> </a:t>
            </a:r>
            <a:r>
              <a:rPr lang="en-US" altLang="zh-CN" sz="2400" i="1" dirty="0"/>
              <a:t>B</a:t>
            </a:r>
            <a:r>
              <a:rPr lang="en-US" altLang="zh-CN" sz="2400" dirty="0"/>
              <a:t> does </a:t>
            </a:r>
            <a:r>
              <a:rPr lang="en-US" altLang="zh-CN" sz="2400" b="1" dirty="0"/>
              <a:t>NOT</a:t>
            </a:r>
            <a:r>
              <a:rPr lang="en-US" altLang="zh-CN" sz="2400" dirty="0"/>
              <a:t> hold, but  </a:t>
            </a:r>
            <a:r>
              <a:rPr lang="en-US" altLang="zh-CN" sz="2400" i="1" dirty="0"/>
              <a:t>B</a:t>
            </a:r>
            <a:r>
              <a:rPr lang="en-US" altLang="zh-CN" sz="2400" dirty="0"/>
              <a:t> </a:t>
            </a:r>
            <a:r>
              <a:rPr lang="en-US" altLang="zh-CN" sz="2400" dirty="0">
                <a:sym typeface="Symbol" panose="05050102010706020507" charset="2"/>
              </a:rPr>
              <a:t></a:t>
            </a:r>
            <a:r>
              <a:rPr lang="en-US" altLang="zh-CN" sz="2400" dirty="0"/>
              <a:t> </a:t>
            </a:r>
            <a:r>
              <a:rPr lang="en-US" altLang="zh-CN" sz="2400" i="1" dirty="0"/>
              <a:t>A</a:t>
            </a:r>
            <a:r>
              <a:rPr lang="en-US" altLang="zh-CN" sz="2400" dirty="0"/>
              <a:t> does hold. </a:t>
            </a:r>
          </a:p>
          <a:p>
            <a:pPr defTabSz="914400">
              <a:lnSpc>
                <a:spcPct val="90000"/>
              </a:lnSpc>
              <a:tabLst>
                <a:tab pos="2917825" algn="ctr"/>
              </a:tabLst>
            </a:pPr>
            <a:endParaRPr lang="zh-CN" altLang="en-US" sz="2400" i="1" dirty="0">
              <a:sym typeface="Symbol" panose="05050102010706020507" charset="2"/>
            </a:endParaRPr>
          </a:p>
        </p:txBody>
      </p:sp>
      <p:sp>
        <p:nvSpPr>
          <p:cNvPr id="670724" name="Text Box 4"/>
          <p:cNvSpPr txBox="1">
            <a:spLocks noChangeArrowheads="1"/>
          </p:cNvSpPr>
          <p:nvPr/>
        </p:nvSpPr>
        <p:spPr bwMode="auto">
          <a:xfrm>
            <a:off x="3668713" y="4359275"/>
            <a:ext cx="777875" cy="925513"/>
          </a:xfrm>
          <a:prstGeom prst="rect">
            <a:avLst/>
          </a:prstGeom>
          <a:noFill/>
          <a:ln w="9525">
            <a:solidFill>
              <a:schemeClr val="tx1"/>
            </a:solidFill>
            <a:miter lim="800000"/>
          </a:ln>
          <a:effectLst/>
        </p:spPr>
        <p:txBody>
          <a:bodyPr wrap="none">
            <a:spAutoFit/>
          </a:bodyPr>
          <a:lstStyle>
            <a:lvl1pPr marL="457200" indent="-457200">
              <a:defRPr sz="2400">
                <a:solidFill>
                  <a:schemeClr val="tx1"/>
                </a:solidFill>
                <a:latin typeface="Times New Roman" panose="02020603050405020304" charset="0"/>
                <a:ea typeface="宋体" panose="02010600030101010101" pitchFamily="2" charset="-122"/>
              </a:defRPr>
            </a:lvl1pPr>
            <a:lvl2pPr marL="914400" indent="-457200">
              <a:defRPr sz="2400">
                <a:solidFill>
                  <a:schemeClr val="tx1"/>
                </a:solidFill>
                <a:latin typeface="Times New Roman" panose="02020603050405020304" charset="0"/>
                <a:ea typeface="宋体" panose="02010600030101010101" pitchFamily="2" charset="-122"/>
              </a:defRPr>
            </a:lvl2pPr>
            <a:lvl3pPr marL="1371600" indent="-457200">
              <a:defRPr sz="2400">
                <a:solidFill>
                  <a:schemeClr val="tx1"/>
                </a:solidFill>
                <a:latin typeface="Times New Roman" panose="02020603050405020304" charset="0"/>
                <a:ea typeface="宋体" panose="02010600030101010101" pitchFamily="2" charset="-122"/>
              </a:defRPr>
            </a:lvl3pPr>
            <a:lvl4pPr marL="1828800" indent="-457200">
              <a:defRPr sz="2400">
                <a:solidFill>
                  <a:schemeClr val="tx1"/>
                </a:solidFill>
                <a:latin typeface="Times New Roman" panose="02020603050405020304" charset="0"/>
                <a:ea typeface="宋体" panose="02010600030101010101" pitchFamily="2" charset="-122"/>
              </a:defRPr>
            </a:lvl4pPr>
            <a:lvl5pPr marL="2286000" indent="-457200">
              <a:defRPr sz="2400">
                <a:solidFill>
                  <a:schemeClr val="tx1"/>
                </a:solidFill>
                <a:latin typeface="Times New Roman" panose="02020603050405020304" charset="0"/>
                <a:ea typeface="宋体" panose="02010600030101010101" pitchFamily="2" charset="-122"/>
              </a:defRPr>
            </a:lvl5pPr>
            <a:lvl6pPr marL="2743200" indent="-457200" eaLnBrk="0" fontAlgn="base" hangingPunct="0">
              <a:spcBef>
                <a:spcPct val="0"/>
              </a:spcBef>
              <a:spcAft>
                <a:spcPct val="0"/>
              </a:spcAft>
              <a:defRPr sz="2400">
                <a:solidFill>
                  <a:schemeClr val="tx1"/>
                </a:solidFill>
                <a:latin typeface="Times New Roman" panose="02020603050405020304" charset="0"/>
                <a:ea typeface="宋体" panose="02010600030101010101" pitchFamily="2" charset="-122"/>
              </a:defRPr>
            </a:lvl6pPr>
            <a:lvl7pPr marL="3200400" indent="-457200" eaLnBrk="0" fontAlgn="base" hangingPunct="0">
              <a:spcBef>
                <a:spcPct val="0"/>
              </a:spcBef>
              <a:spcAft>
                <a:spcPct val="0"/>
              </a:spcAft>
              <a:defRPr sz="2400">
                <a:solidFill>
                  <a:schemeClr val="tx1"/>
                </a:solidFill>
                <a:latin typeface="Times New Roman" panose="02020603050405020304" charset="0"/>
                <a:ea typeface="宋体" panose="02010600030101010101" pitchFamily="2" charset="-122"/>
              </a:defRPr>
            </a:lvl7pPr>
            <a:lvl8pPr marL="3657600" indent="-457200" eaLnBrk="0" fontAlgn="base" hangingPunct="0">
              <a:spcBef>
                <a:spcPct val="0"/>
              </a:spcBef>
              <a:spcAft>
                <a:spcPct val="0"/>
              </a:spcAft>
              <a:defRPr sz="2400">
                <a:solidFill>
                  <a:schemeClr val="tx1"/>
                </a:solidFill>
                <a:latin typeface="Times New Roman" panose="02020603050405020304" charset="0"/>
                <a:ea typeface="宋体" panose="02010600030101010101" pitchFamily="2" charset="-122"/>
              </a:defRPr>
            </a:lvl8pPr>
            <a:lvl9pPr marL="4114800" indent="-457200" eaLnBrk="0" fontAlgn="base" hangingPunct="0">
              <a:spcBef>
                <a:spcPct val="0"/>
              </a:spcBef>
              <a:spcAft>
                <a:spcPct val="0"/>
              </a:spcAft>
              <a:defRPr sz="2400">
                <a:solidFill>
                  <a:schemeClr val="tx1"/>
                </a:solidFill>
                <a:latin typeface="Times New Roman" panose="02020603050405020304" charset="0"/>
                <a:ea typeface="宋体" panose="02010600030101010101" pitchFamily="2" charset="-122"/>
              </a:defRPr>
            </a:lvl9pPr>
          </a:lstStyle>
          <a:p>
            <a:pPr marL="457200" marR="0" lvl="0" indent="-457200" algn="l" defTabSz="914400" rtl="0" eaLnBrk="0" fontAlgn="base" latinLnBrk="0" hangingPunct="0">
              <a:lnSpc>
                <a:spcPct val="100000"/>
              </a:lnSpc>
              <a:spcBef>
                <a:spcPct val="0"/>
              </a:spcBef>
              <a:spcAft>
                <a:spcPct val="0"/>
              </a:spcAft>
              <a:buClrTx/>
              <a:buSzTx/>
              <a:buFontTx/>
              <a:buAutoNum type="arabicPlain"/>
              <a:defRPr/>
            </a:pPr>
            <a:r>
              <a:rPr kumimoji="0" lang="en-US" altLang="zh-CN" sz="18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rPr>
              <a:t>4</a:t>
            </a:r>
          </a:p>
          <a:p>
            <a:pPr marL="457200" marR="0" lvl="0" indent="-45720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rPr>
              <a:t>1     5</a:t>
            </a:r>
          </a:p>
          <a:p>
            <a:pPr marL="457200" marR="0" lvl="0" indent="-45720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rPr>
              <a:t>3     7</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2770"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Functional Dependencies (Cont.)</a:t>
            </a:r>
          </a:p>
        </p:txBody>
      </p:sp>
      <p:sp>
        <p:nvSpPr>
          <p:cNvPr id="29698" name="Rectangle 3"/>
          <p:cNvSpPr>
            <a:spLocks noGrp="1"/>
          </p:cNvSpPr>
          <p:nvPr>
            <p:ph idx="1"/>
          </p:nvPr>
        </p:nvSpPr>
        <p:spPr>
          <a:xfrm>
            <a:off x="161925" y="895350"/>
            <a:ext cx="8843963" cy="5511800"/>
          </a:xfrm>
        </p:spPr>
        <p:txBody>
          <a:bodyPr wrap="square" lIns="91440" tIns="45720" rIns="91440" bIns="45720" anchor="t"/>
          <a:lstStyle/>
          <a:p>
            <a:pPr defTabSz="914400">
              <a:tabLst>
                <a:tab pos="1250950" algn="l"/>
                <a:tab pos="2173605" algn="l"/>
                <a:tab pos="3378200" algn="l"/>
              </a:tabLst>
            </a:pPr>
            <a:r>
              <a:rPr lang="en-US" altLang="zh-CN" sz="2400" i="1" dirty="0">
                <a:sym typeface="Symbol" panose="05050102010706020507" charset="2"/>
              </a:rPr>
              <a:t>K</a:t>
            </a:r>
            <a:r>
              <a:rPr lang="en-US" altLang="zh-CN" sz="2400" dirty="0">
                <a:sym typeface="Symbol" panose="05050102010706020507" charset="2"/>
              </a:rPr>
              <a:t> is a </a:t>
            </a:r>
            <a:r>
              <a:rPr lang="en-US" altLang="zh-CN" sz="2400" dirty="0">
                <a:solidFill>
                  <a:srgbClr val="000099"/>
                </a:solidFill>
                <a:sym typeface="Symbol" panose="05050102010706020507" charset="2"/>
              </a:rPr>
              <a:t>superkey </a:t>
            </a:r>
            <a:r>
              <a:rPr lang="en-US" altLang="zh-CN" sz="2400" dirty="0">
                <a:sym typeface="Symbol" panose="05050102010706020507" charset="2"/>
              </a:rPr>
              <a:t>for relation schema </a:t>
            </a:r>
            <a:r>
              <a:rPr lang="en-US" altLang="zh-CN" sz="2400" i="1" dirty="0">
                <a:sym typeface="Symbol" panose="05050102010706020507" charset="2"/>
              </a:rPr>
              <a:t>R</a:t>
            </a:r>
            <a:r>
              <a:rPr lang="en-US" altLang="zh-CN" sz="2400" dirty="0">
                <a:sym typeface="Symbol" panose="05050102010706020507" charset="2"/>
              </a:rPr>
              <a:t> if and only if </a:t>
            </a:r>
            <a:r>
              <a:rPr lang="en-US" altLang="zh-CN" sz="2400" i="1" dirty="0">
                <a:sym typeface="Symbol" panose="05050102010706020507" charset="2"/>
              </a:rPr>
              <a:t>K </a:t>
            </a:r>
            <a:r>
              <a:rPr lang="en-US" altLang="zh-CN" sz="2400" dirty="0">
                <a:sym typeface="Symbol" panose="05050102010706020507" charset="2"/>
              </a:rPr>
              <a:t></a:t>
            </a:r>
            <a:r>
              <a:rPr lang="en-US" altLang="zh-CN" sz="2400" dirty="0">
                <a:sym typeface="Monotype Sorts" charset="2"/>
              </a:rPr>
              <a:t> </a:t>
            </a:r>
            <a:r>
              <a:rPr lang="en-US" altLang="zh-CN" sz="2400" i="1" dirty="0">
                <a:sym typeface="Monotype Sorts" charset="2"/>
              </a:rPr>
              <a:t>R</a:t>
            </a:r>
            <a:endParaRPr lang="en-US" altLang="zh-CN" sz="2400" dirty="0">
              <a:sym typeface="Monotype Sorts" charset="2"/>
            </a:endParaRPr>
          </a:p>
          <a:p>
            <a:pPr defTabSz="914400">
              <a:tabLst>
                <a:tab pos="1250950" algn="l"/>
                <a:tab pos="2173605" algn="l"/>
                <a:tab pos="3378200" algn="l"/>
              </a:tabLst>
            </a:pPr>
            <a:r>
              <a:rPr lang="en-US" altLang="zh-CN" sz="2400" i="1" dirty="0">
                <a:sym typeface="Monotype Sorts" charset="2"/>
              </a:rPr>
              <a:t>K</a:t>
            </a:r>
            <a:r>
              <a:rPr lang="en-US" altLang="zh-CN" sz="2400" dirty="0">
                <a:sym typeface="Monotype Sorts" charset="2"/>
              </a:rPr>
              <a:t> is a </a:t>
            </a:r>
            <a:r>
              <a:rPr lang="en-US" altLang="zh-CN" sz="2400" dirty="0">
                <a:solidFill>
                  <a:srgbClr val="000099"/>
                </a:solidFill>
                <a:sym typeface="Monotype Sorts" charset="2"/>
              </a:rPr>
              <a:t>candidate key</a:t>
            </a:r>
            <a:r>
              <a:rPr lang="en-US" altLang="zh-CN" sz="2400" dirty="0">
                <a:sym typeface="Monotype Sorts" charset="2"/>
              </a:rPr>
              <a:t> for </a:t>
            </a:r>
            <a:r>
              <a:rPr lang="en-US" altLang="zh-CN" sz="2400" i="1" dirty="0">
                <a:sym typeface="Monotype Sorts" charset="2"/>
              </a:rPr>
              <a:t>R</a:t>
            </a:r>
            <a:r>
              <a:rPr lang="en-US" altLang="zh-CN" sz="2400" dirty="0">
                <a:sym typeface="Monotype Sorts" charset="2"/>
              </a:rPr>
              <a:t> if and only if </a:t>
            </a:r>
          </a:p>
          <a:p>
            <a:pPr lvl="1" defTabSz="914400">
              <a:tabLst>
                <a:tab pos="1250950" algn="l"/>
                <a:tab pos="2173605" algn="l"/>
                <a:tab pos="3378200" algn="l"/>
              </a:tabLst>
            </a:pPr>
            <a:r>
              <a:rPr lang="en-US" altLang="zh-CN" sz="2000" i="1" dirty="0">
                <a:sym typeface="Monotype Sorts" charset="2"/>
              </a:rPr>
              <a:t>K </a:t>
            </a:r>
            <a:r>
              <a:rPr lang="en-US" altLang="zh-CN" sz="2000" dirty="0">
                <a:sym typeface="Symbol" panose="05050102010706020507" charset="2"/>
              </a:rPr>
              <a:t></a:t>
            </a:r>
            <a:r>
              <a:rPr lang="en-US" altLang="zh-CN" sz="2000" dirty="0">
                <a:sym typeface="Monotype Sorts" charset="2"/>
              </a:rPr>
              <a:t> </a:t>
            </a:r>
            <a:r>
              <a:rPr lang="en-US" altLang="zh-CN" sz="2000" i="1" dirty="0">
                <a:sym typeface="Monotype Sorts" charset="2"/>
              </a:rPr>
              <a:t>R</a:t>
            </a:r>
            <a:r>
              <a:rPr lang="en-US" altLang="zh-CN" sz="2000" dirty="0">
                <a:sym typeface="Monotype Sorts" charset="2"/>
              </a:rPr>
              <a:t>, and</a:t>
            </a:r>
          </a:p>
          <a:p>
            <a:pPr lvl="1" defTabSz="914400">
              <a:tabLst>
                <a:tab pos="1250950" algn="l"/>
                <a:tab pos="2173605" algn="l"/>
                <a:tab pos="3378200" algn="l"/>
              </a:tabLst>
            </a:pPr>
            <a:r>
              <a:rPr lang="en-US" altLang="zh-CN" sz="2000" dirty="0">
                <a:sym typeface="Monotype Sorts" charset="2"/>
              </a:rPr>
              <a:t>for no </a:t>
            </a:r>
            <a:r>
              <a:rPr lang="en-US" altLang="zh-CN" sz="2000" dirty="0">
                <a:sym typeface="Symbol" panose="05050102010706020507" charset="2"/>
              </a:rPr>
              <a:t>  </a:t>
            </a:r>
            <a:r>
              <a:rPr lang="en-US" altLang="zh-CN" sz="2000" i="1" dirty="0">
                <a:sym typeface="Symbol" panose="05050102010706020507" charset="2"/>
              </a:rPr>
              <a:t>K, </a:t>
            </a:r>
            <a:r>
              <a:rPr lang="en-US" altLang="zh-CN" sz="2000" dirty="0">
                <a:sym typeface="Symbol" panose="05050102010706020507" charset="2"/>
              </a:rPr>
              <a:t> </a:t>
            </a:r>
            <a:r>
              <a:rPr lang="en-US" altLang="zh-CN" sz="2000" dirty="0">
                <a:sym typeface="Monotype Sorts" charset="2"/>
              </a:rPr>
              <a:t> </a:t>
            </a:r>
            <a:r>
              <a:rPr lang="en-US" altLang="zh-CN" sz="2000" i="1" dirty="0">
                <a:sym typeface="Monotype Sorts" charset="2"/>
              </a:rPr>
              <a:t>R</a:t>
            </a:r>
          </a:p>
          <a:p>
            <a:pPr defTabSz="914400">
              <a:tabLst>
                <a:tab pos="1250950" algn="l"/>
                <a:tab pos="2173605" algn="l"/>
                <a:tab pos="3378200" algn="l"/>
              </a:tabLst>
            </a:pPr>
            <a:r>
              <a:rPr lang="en-US" altLang="zh-CN" sz="2400" dirty="0"/>
              <a:t>Functional dependencies allow us to express </a:t>
            </a:r>
            <a:r>
              <a:rPr lang="en-US" altLang="zh-CN" sz="2400" dirty="0">
                <a:solidFill>
                  <a:srgbClr val="C00000"/>
                </a:solidFill>
              </a:rPr>
              <a:t>constraints that cannot be expressed using superkeys.  </a:t>
            </a:r>
          </a:p>
          <a:p>
            <a:pPr lvl="1" defTabSz="914400">
              <a:tabLst>
                <a:tab pos="1250950" algn="l"/>
                <a:tab pos="2173605" algn="l"/>
                <a:tab pos="3378200" algn="l"/>
              </a:tabLst>
            </a:pPr>
            <a:r>
              <a:rPr lang="en-US" altLang="zh-CN" sz="2000" dirty="0"/>
              <a:t>Consider the schema:</a:t>
            </a:r>
          </a:p>
          <a:p>
            <a:pPr defTabSz="914400">
              <a:buNone/>
              <a:tabLst>
                <a:tab pos="1250950" algn="l"/>
                <a:tab pos="2173605" algn="l"/>
                <a:tab pos="3378200" algn="l"/>
              </a:tabLst>
            </a:pPr>
            <a:r>
              <a:rPr lang="en-US" altLang="zh-CN" sz="2000" dirty="0"/>
              <a:t>	 </a:t>
            </a:r>
            <a:r>
              <a:rPr lang="en-US" altLang="zh-CN" sz="2000" i="1" dirty="0"/>
              <a:t>inst_dept </a:t>
            </a:r>
            <a:r>
              <a:rPr lang="en-US" altLang="zh-CN" sz="2000" dirty="0"/>
              <a:t>(</a:t>
            </a:r>
            <a:r>
              <a:rPr lang="en-US" altLang="zh-CN" sz="2000" i="1" u="sng" dirty="0"/>
              <a:t>ID</a:t>
            </a:r>
            <a:r>
              <a:rPr lang="en-US" altLang="zh-CN" sz="2000" i="1" dirty="0"/>
              <a:t>, name, salary, </a:t>
            </a:r>
            <a:r>
              <a:rPr lang="en-US" altLang="zh-CN" sz="2000" i="1" u="sng" dirty="0"/>
              <a:t>dept_name</a:t>
            </a:r>
            <a:r>
              <a:rPr lang="en-US" altLang="zh-CN" sz="2000" i="1" dirty="0"/>
              <a:t>, building, budget </a:t>
            </a:r>
            <a:r>
              <a:rPr lang="en-US" altLang="zh-CN" sz="2000" dirty="0"/>
              <a:t>)</a:t>
            </a:r>
            <a:r>
              <a:rPr lang="en-US" altLang="zh-CN" sz="2000" i="1" dirty="0"/>
              <a:t>.</a:t>
            </a:r>
          </a:p>
          <a:p>
            <a:pPr defTabSz="914400">
              <a:buNone/>
              <a:tabLst>
                <a:tab pos="1250950" algn="l"/>
                <a:tab pos="2173605" algn="l"/>
                <a:tab pos="3378200" algn="l"/>
              </a:tabLst>
            </a:pPr>
            <a:r>
              <a:rPr lang="en-US" altLang="zh-CN" sz="2000" i="1" dirty="0"/>
              <a:t>	</a:t>
            </a:r>
            <a:r>
              <a:rPr lang="en-US" altLang="zh-CN" sz="2000" dirty="0"/>
              <a:t>We expect these functional dependencies to hold:</a:t>
            </a:r>
          </a:p>
          <a:p>
            <a:pPr defTabSz="914400">
              <a:buNone/>
              <a:tabLst>
                <a:tab pos="1250950" algn="l"/>
                <a:tab pos="2173605" algn="l"/>
                <a:tab pos="3378200" algn="l"/>
              </a:tabLst>
            </a:pPr>
            <a:r>
              <a:rPr lang="en-US" altLang="zh-CN" sz="2000" dirty="0"/>
              <a:t>	       </a:t>
            </a:r>
            <a:r>
              <a:rPr lang="en-US" altLang="zh-CN" sz="2000" i="1" dirty="0"/>
              <a:t>dept_name</a:t>
            </a:r>
            <a:r>
              <a:rPr lang="en-US" altLang="zh-CN" sz="2000" dirty="0">
                <a:sym typeface="Symbol" panose="05050102010706020507" charset="2"/>
              </a:rPr>
              <a:t></a:t>
            </a:r>
            <a:r>
              <a:rPr lang="en-US" altLang="zh-CN" sz="2000" dirty="0">
                <a:sym typeface="Monotype Sorts" charset="2"/>
              </a:rPr>
              <a:t> </a:t>
            </a:r>
            <a:r>
              <a:rPr lang="en-US" altLang="zh-CN" sz="2000" i="1" dirty="0">
                <a:sym typeface="Monotype Sorts" charset="2"/>
              </a:rPr>
              <a:t>building           and              </a:t>
            </a:r>
          </a:p>
          <a:p>
            <a:pPr defTabSz="914400">
              <a:buNone/>
              <a:tabLst>
                <a:tab pos="1250950" algn="l"/>
                <a:tab pos="2173605" algn="l"/>
                <a:tab pos="3378200" algn="l"/>
              </a:tabLst>
            </a:pPr>
            <a:r>
              <a:rPr lang="en-US" altLang="zh-CN" sz="2000" i="1" dirty="0">
                <a:sym typeface="Monotype Sorts" charset="2"/>
              </a:rPr>
              <a:t>            ID </a:t>
            </a:r>
            <a:r>
              <a:rPr lang="en-US" altLang="zh-CN" sz="2000" dirty="0">
                <a:sym typeface="Wingdings" panose="05000000000000000000" pitchFamily="2" charset="2"/>
              </a:rPr>
              <a:t></a:t>
            </a:r>
            <a:r>
              <a:rPr lang="en-US" altLang="zh-CN" sz="2000" i="1" dirty="0">
                <a:sym typeface="Wingdings" panose="05000000000000000000" pitchFamily="2" charset="2"/>
              </a:rPr>
              <a:t> building</a:t>
            </a:r>
            <a:endParaRPr lang="en-US" altLang="zh-CN" sz="2000" i="1" dirty="0">
              <a:sym typeface="Monotype Sorts" charset="2"/>
            </a:endParaRPr>
          </a:p>
          <a:p>
            <a:pPr defTabSz="914400">
              <a:buNone/>
              <a:tabLst>
                <a:tab pos="1250950" algn="l"/>
                <a:tab pos="2173605" algn="l"/>
                <a:tab pos="3378200" algn="l"/>
              </a:tabLst>
            </a:pPr>
            <a:r>
              <a:rPr lang="en-US" altLang="zh-CN" sz="2000" i="1" dirty="0">
                <a:sym typeface="Monotype Sorts" charset="2"/>
              </a:rPr>
              <a:t>	</a:t>
            </a:r>
            <a:r>
              <a:rPr lang="en-US" altLang="zh-CN" sz="2000" dirty="0">
                <a:solidFill>
                  <a:srgbClr val="000099"/>
                </a:solidFill>
                <a:sym typeface="Monotype Sorts" charset="2"/>
              </a:rPr>
              <a:t>but would not expect the following to hold: </a:t>
            </a:r>
            <a:r>
              <a:rPr lang="en-US" altLang="zh-CN" sz="2000" i="1" dirty="0">
                <a:solidFill>
                  <a:srgbClr val="000099"/>
                </a:solidFill>
                <a:sym typeface="Monotype Sorts" charset="2"/>
              </a:rPr>
              <a:t>dept_name </a:t>
            </a:r>
            <a:r>
              <a:rPr lang="en-US" altLang="zh-CN" sz="2000" dirty="0">
                <a:solidFill>
                  <a:srgbClr val="000099"/>
                </a:solidFill>
                <a:sym typeface="Symbol" panose="05050102010706020507" charset="2"/>
              </a:rPr>
              <a:t></a:t>
            </a:r>
            <a:r>
              <a:rPr lang="en-US" altLang="zh-CN" sz="2000" dirty="0">
                <a:solidFill>
                  <a:srgbClr val="000099"/>
                </a:solidFill>
                <a:sym typeface="Monotype Sorts" charset="2"/>
              </a:rPr>
              <a:t> </a:t>
            </a:r>
            <a:r>
              <a:rPr lang="en-US" altLang="zh-CN" sz="2000" i="1" dirty="0">
                <a:solidFill>
                  <a:srgbClr val="000099"/>
                </a:solidFill>
                <a:sym typeface="Monotype Sorts" charset="2"/>
              </a:rPr>
              <a:t>salary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4818"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Use of Functional Dependencies</a:t>
            </a:r>
          </a:p>
        </p:txBody>
      </p:sp>
      <p:sp>
        <p:nvSpPr>
          <p:cNvPr id="31746" name="Rectangle 3"/>
          <p:cNvSpPr>
            <a:spLocks noGrp="1"/>
          </p:cNvSpPr>
          <p:nvPr>
            <p:ph idx="1"/>
          </p:nvPr>
        </p:nvSpPr>
        <p:spPr>
          <a:xfrm>
            <a:off x="133350" y="885825"/>
            <a:ext cx="8915400" cy="5518150"/>
          </a:xfrm>
        </p:spPr>
        <p:txBody>
          <a:bodyPr wrap="square" lIns="91440" tIns="45720" rIns="91440" bIns="45720" anchor="t"/>
          <a:lstStyle/>
          <a:p>
            <a:r>
              <a:rPr lang="en-US" altLang="zh-CN" sz="2400" dirty="0"/>
              <a:t>We use functional dependencies to:</a:t>
            </a:r>
          </a:p>
          <a:p>
            <a:pPr lvl="1"/>
            <a:r>
              <a:rPr lang="en-US" altLang="zh-CN" sz="2000" dirty="0">
                <a:solidFill>
                  <a:srgbClr val="000099"/>
                </a:solidFill>
              </a:rPr>
              <a:t>test relations to see if they are legal </a:t>
            </a:r>
            <a:r>
              <a:rPr lang="en-US" altLang="zh-CN" sz="2000" dirty="0"/>
              <a:t>under a given set of functional dependencies. </a:t>
            </a:r>
          </a:p>
          <a:p>
            <a:pPr lvl="2"/>
            <a:r>
              <a:rPr lang="en-US" altLang="zh-CN" sz="2000" dirty="0"/>
              <a:t> If a relation </a:t>
            </a:r>
            <a:r>
              <a:rPr lang="en-US" altLang="zh-CN" sz="2000" i="1" dirty="0"/>
              <a:t>r</a:t>
            </a:r>
            <a:r>
              <a:rPr lang="en-US" altLang="zh-CN" sz="2000" dirty="0"/>
              <a:t> is legal under a set </a:t>
            </a:r>
            <a:r>
              <a:rPr lang="en-US" altLang="zh-CN" sz="2000" i="1" dirty="0"/>
              <a:t>F</a:t>
            </a:r>
            <a:r>
              <a:rPr lang="en-US" altLang="zh-CN" sz="2000" dirty="0"/>
              <a:t> of functional dependencies, we say that </a:t>
            </a:r>
            <a:r>
              <a:rPr lang="en-US" altLang="zh-CN" sz="2000" i="1" dirty="0"/>
              <a:t>r</a:t>
            </a:r>
            <a:r>
              <a:rPr lang="en-US" altLang="zh-CN" sz="2000" dirty="0"/>
              <a:t> </a:t>
            </a:r>
            <a:r>
              <a:rPr lang="en-US" altLang="zh-CN" sz="2000" b="1" dirty="0">
                <a:solidFill>
                  <a:srgbClr val="000099"/>
                </a:solidFill>
              </a:rPr>
              <a:t>satisfies </a:t>
            </a:r>
            <a:r>
              <a:rPr lang="en-US" altLang="zh-CN" sz="2000" i="1" dirty="0"/>
              <a:t>F.</a:t>
            </a:r>
            <a:endParaRPr lang="en-US" altLang="zh-CN" sz="2000" dirty="0"/>
          </a:p>
          <a:p>
            <a:pPr lvl="1"/>
            <a:r>
              <a:rPr lang="en-US" altLang="zh-CN" sz="2000" dirty="0">
                <a:solidFill>
                  <a:srgbClr val="000099"/>
                </a:solidFill>
              </a:rPr>
              <a:t>specify constraints </a:t>
            </a:r>
            <a:r>
              <a:rPr lang="en-US" altLang="zh-CN" sz="2000" dirty="0"/>
              <a:t>on the set of legal relations</a:t>
            </a:r>
          </a:p>
          <a:p>
            <a:pPr lvl="2"/>
            <a:r>
              <a:rPr lang="en-US" altLang="zh-CN" sz="2000" dirty="0"/>
              <a:t>We say that </a:t>
            </a:r>
            <a:r>
              <a:rPr lang="en-US" altLang="zh-CN" sz="2000" i="1" dirty="0"/>
              <a:t>F</a:t>
            </a:r>
            <a:r>
              <a:rPr lang="en-US" altLang="zh-CN" sz="2000" dirty="0"/>
              <a:t> </a:t>
            </a:r>
            <a:r>
              <a:rPr lang="en-US" altLang="zh-CN" sz="2000" b="1" dirty="0">
                <a:solidFill>
                  <a:srgbClr val="000099"/>
                </a:solidFill>
              </a:rPr>
              <a:t>holds on</a:t>
            </a:r>
            <a:r>
              <a:rPr lang="en-US" altLang="zh-CN" sz="2000" dirty="0"/>
              <a:t> </a:t>
            </a:r>
            <a:r>
              <a:rPr lang="en-US" altLang="zh-CN" sz="2000" i="1" dirty="0"/>
              <a:t>R</a:t>
            </a:r>
            <a:r>
              <a:rPr lang="en-US" altLang="zh-CN" sz="2000" dirty="0"/>
              <a:t> if all legal relations on </a:t>
            </a:r>
            <a:r>
              <a:rPr lang="en-US" altLang="zh-CN" sz="2000" i="1" dirty="0"/>
              <a:t>R</a:t>
            </a:r>
            <a:r>
              <a:rPr lang="en-US" altLang="zh-CN" sz="2000" dirty="0"/>
              <a:t> satisfy the set of functional dependencies </a:t>
            </a:r>
            <a:r>
              <a:rPr lang="en-US" altLang="zh-CN" sz="2000" i="1" dirty="0"/>
              <a:t>F.</a:t>
            </a:r>
          </a:p>
          <a:p>
            <a:r>
              <a:rPr lang="en-US" altLang="zh-CN" sz="2400" dirty="0">
                <a:solidFill>
                  <a:srgbClr val="C00000"/>
                </a:solidFill>
              </a:rPr>
              <a:t>Note: </a:t>
            </a:r>
            <a:r>
              <a:rPr lang="en-US" altLang="zh-CN" sz="2400" dirty="0"/>
              <a:t> A specific instance of a relation schema may satisfy a functional dependency even if the functional dependency does not hold on all legal instances.  </a:t>
            </a:r>
          </a:p>
          <a:p>
            <a:pPr lvl="1"/>
            <a:r>
              <a:rPr lang="en-US" altLang="zh-CN" sz="2000" dirty="0"/>
              <a:t>For example, a specific instance of </a:t>
            </a:r>
            <a:r>
              <a:rPr lang="en-US" altLang="zh-CN" sz="2000" i="1" dirty="0"/>
              <a:t>instructor</a:t>
            </a:r>
            <a:r>
              <a:rPr lang="en-US" altLang="zh-CN" sz="2000" dirty="0"/>
              <a:t> may, by chance, satisfy </a:t>
            </a:r>
            <a:br>
              <a:rPr lang="en-US" altLang="zh-CN" sz="2000" dirty="0"/>
            </a:br>
            <a:r>
              <a:rPr lang="en-US" altLang="zh-CN" sz="2000" dirty="0"/>
              <a:t>               </a:t>
            </a:r>
            <a:r>
              <a:rPr lang="en-US" altLang="zh-CN" sz="2000" i="1" dirty="0"/>
              <a:t>name </a:t>
            </a:r>
            <a:r>
              <a:rPr lang="en-US" altLang="zh-CN" sz="2000" dirty="0">
                <a:sym typeface="Symbol" panose="05050102010706020507" charset="2"/>
              </a:rPr>
              <a:t></a:t>
            </a:r>
            <a:r>
              <a:rPr lang="en-US" altLang="zh-CN" sz="2000" dirty="0">
                <a:sym typeface="Monotype Sorts" charset="2"/>
              </a:rPr>
              <a:t> </a:t>
            </a:r>
            <a:r>
              <a:rPr lang="en-US" altLang="zh-CN" sz="2000" i="1" dirty="0">
                <a:sym typeface="Monotype Sorts" charset="2"/>
              </a:rPr>
              <a:t>ID.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866"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Functional Dependencies (Cont.)</a:t>
            </a:r>
          </a:p>
        </p:txBody>
      </p:sp>
      <p:sp>
        <p:nvSpPr>
          <p:cNvPr id="33794" name="Rectangle 3"/>
          <p:cNvSpPr>
            <a:spLocks noGrp="1"/>
          </p:cNvSpPr>
          <p:nvPr>
            <p:ph idx="1"/>
          </p:nvPr>
        </p:nvSpPr>
        <p:spPr>
          <a:xfrm>
            <a:off x="198438" y="1093788"/>
            <a:ext cx="8770937" cy="4903787"/>
          </a:xfrm>
        </p:spPr>
        <p:txBody>
          <a:bodyPr wrap="square" lIns="91440" tIns="45720" rIns="91440" bIns="45720" anchor="t"/>
          <a:lstStyle/>
          <a:p>
            <a:r>
              <a:rPr lang="en-US" altLang="zh-CN" sz="2800" i="1" dirty="0">
                <a:sym typeface="Monotype Sorts" charset="2"/>
              </a:rPr>
              <a:t>A </a:t>
            </a:r>
            <a:r>
              <a:rPr lang="en-US" altLang="zh-CN" sz="2800" dirty="0">
                <a:sym typeface="Monotype Sorts" charset="2"/>
              </a:rPr>
              <a:t>functional dependency is </a:t>
            </a:r>
            <a:r>
              <a:rPr lang="en-US" altLang="zh-CN" sz="2800" b="1" dirty="0">
                <a:solidFill>
                  <a:srgbClr val="000099"/>
                </a:solidFill>
                <a:sym typeface="Monotype Sorts" charset="2"/>
              </a:rPr>
              <a:t>trivial</a:t>
            </a:r>
            <a:r>
              <a:rPr lang="en-US" altLang="zh-CN" sz="2800" dirty="0">
                <a:sym typeface="Monotype Sorts" charset="2"/>
              </a:rPr>
              <a:t> if it is satisfied by all instances of a relation</a:t>
            </a:r>
          </a:p>
          <a:p>
            <a:pPr lvl="1"/>
            <a:r>
              <a:rPr lang="en-US" altLang="zh-CN" sz="2800" dirty="0">
                <a:sym typeface="Monotype Sorts" charset="2"/>
              </a:rPr>
              <a:t>Example</a:t>
            </a:r>
            <a:r>
              <a:rPr lang="en-US" altLang="zh-CN" sz="2800" i="1" dirty="0">
                <a:sym typeface="Monotype Sorts" charset="2"/>
              </a:rPr>
              <a:t>:</a:t>
            </a:r>
          </a:p>
          <a:p>
            <a:pPr lvl="2"/>
            <a:r>
              <a:rPr lang="en-US" altLang="zh-CN" sz="2800" i="1" dirty="0">
                <a:sym typeface="Monotype Sorts" charset="2"/>
              </a:rPr>
              <a:t> ID, name</a:t>
            </a:r>
            <a:r>
              <a:rPr lang="en-US" altLang="zh-CN" sz="2800" i="1" dirty="0"/>
              <a:t> </a:t>
            </a:r>
            <a:r>
              <a:rPr lang="en-US" altLang="zh-CN" sz="2800" dirty="0">
                <a:sym typeface="Symbol" panose="05050102010706020507" charset="2"/>
              </a:rPr>
              <a:t></a:t>
            </a:r>
            <a:r>
              <a:rPr lang="en-US" altLang="zh-CN" sz="2800" dirty="0">
                <a:sym typeface="Monotype Sorts" charset="2"/>
              </a:rPr>
              <a:t> </a:t>
            </a:r>
            <a:r>
              <a:rPr lang="en-US" altLang="zh-CN" sz="2800" i="1" dirty="0">
                <a:sym typeface="Monotype Sorts" charset="2"/>
              </a:rPr>
              <a:t>ID</a:t>
            </a:r>
          </a:p>
          <a:p>
            <a:pPr lvl="2"/>
            <a:r>
              <a:rPr lang="en-US" altLang="zh-CN" sz="2800" i="1" dirty="0">
                <a:sym typeface="Monotype Sorts" charset="2"/>
              </a:rPr>
              <a:t> name </a:t>
            </a:r>
            <a:r>
              <a:rPr lang="en-US" altLang="zh-CN" sz="2800" dirty="0">
                <a:sym typeface="Symbol" panose="05050102010706020507" charset="2"/>
              </a:rPr>
              <a:t></a:t>
            </a:r>
            <a:r>
              <a:rPr lang="en-US" altLang="zh-CN" sz="2800" dirty="0">
                <a:sym typeface="Monotype Sorts" charset="2"/>
              </a:rPr>
              <a:t> </a:t>
            </a:r>
            <a:r>
              <a:rPr lang="en-US" altLang="zh-CN" sz="2800" i="1" dirty="0">
                <a:sym typeface="Monotype Sorts" charset="2"/>
              </a:rPr>
              <a:t>name</a:t>
            </a:r>
          </a:p>
          <a:p>
            <a:pPr lvl="1"/>
            <a:r>
              <a:rPr lang="en-US" altLang="zh-CN" sz="2800" dirty="0">
                <a:sym typeface="Monotype Sorts" charset="2"/>
              </a:rPr>
              <a:t>In general, </a:t>
            </a:r>
            <a:r>
              <a:rPr lang="en-US" altLang="zh-CN" sz="2800" dirty="0">
                <a:solidFill>
                  <a:srgbClr val="C00000"/>
                </a:solidFill>
                <a:sym typeface="Symbol" panose="05050102010706020507" charset="2"/>
              </a:rPr>
              <a:t> </a:t>
            </a:r>
            <a:r>
              <a:rPr lang="en-US" altLang="zh-CN" sz="2800" dirty="0">
                <a:solidFill>
                  <a:srgbClr val="C00000"/>
                </a:solidFill>
                <a:sym typeface="Monotype Sorts" charset="2"/>
              </a:rPr>
              <a:t> </a:t>
            </a:r>
            <a:r>
              <a:rPr lang="en-US" altLang="zh-CN" sz="2800" i="1" dirty="0">
                <a:solidFill>
                  <a:srgbClr val="C00000"/>
                </a:solidFill>
                <a:sym typeface="Symbol" panose="05050102010706020507" charset="2"/>
              </a:rPr>
              <a:t> </a:t>
            </a:r>
            <a:r>
              <a:rPr lang="en-US" altLang="zh-CN" sz="2800" dirty="0">
                <a:solidFill>
                  <a:srgbClr val="C00000"/>
                </a:solidFill>
                <a:sym typeface="Symbol" panose="05050102010706020507" charset="2"/>
              </a:rPr>
              <a:t>is trivial if</a:t>
            </a:r>
            <a:r>
              <a:rPr lang="en-US" altLang="zh-CN" sz="2800" i="1" dirty="0">
                <a:solidFill>
                  <a:srgbClr val="C00000"/>
                </a:solidFill>
                <a:sym typeface="Symbol" panose="05050102010706020507" charset="2"/>
              </a:rPr>
              <a:t> </a:t>
            </a:r>
            <a:r>
              <a:rPr lang="en-US" altLang="zh-CN" sz="2800" dirty="0">
                <a:solidFill>
                  <a:srgbClr val="C00000"/>
                </a:solidFill>
                <a:sym typeface="Symbol" panose="05050102010706020507" charset="2"/>
              </a:rPr>
              <a:t>  </a:t>
            </a:r>
            <a:r>
              <a:rPr lang="en-US" altLang="zh-CN" sz="2800" dirty="0">
                <a:sym typeface="Symbol" panose="05050102010706020507" charset="2"/>
              </a:rPr>
              <a:t> </a:t>
            </a:r>
            <a:endParaRPr lang="zh-CN" altLang="en-US"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4" name="Rectangle 2"/>
          <p:cNvSpPr>
            <a:spLocks noGrp="1" noChangeArrowheads="1"/>
          </p:cNvSpPr>
          <p:nvPr>
            <p:ph type="title"/>
          </p:nvPr>
        </p:nvSpPr>
        <p:spPr>
          <a:xfrm>
            <a:off x="609600" y="63500"/>
            <a:ext cx="7924800" cy="993775"/>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Closure of a Set of Functional Dependencies</a:t>
            </a:r>
          </a:p>
        </p:txBody>
      </p:sp>
      <p:sp>
        <p:nvSpPr>
          <p:cNvPr id="35842" name="Rectangle 3"/>
          <p:cNvSpPr>
            <a:spLocks noGrp="1"/>
          </p:cNvSpPr>
          <p:nvPr>
            <p:ph idx="1"/>
          </p:nvPr>
        </p:nvSpPr>
        <p:spPr>
          <a:xfrm>
            <a:off x="107950" y="1169988"/>
            <a:ext cx="8880475" cy="5022850"/>
          </a:xfrm>
        </p:spPr>
        <p:txBody>
          <a:bodyPr wrap="square" lIns="91440" tIns="45720" rIns="91440" bIns="45720" anchor="t"/>
          <a:lstStyle/>
          <a:p>
            <a:r>
              <a:rPr lang="en-US" altLang="zh-CN" sz="2800" dirty="0"/>
              <a:t>Given a set </a:t>
            </a:r>
            <a:r>
              <a:rPr lang="en-US" altLang="zh-CN" sz="2800" i="1" dirty="0"/>
              <a:t>F</a:t>
            </a:r>
            <a:r>
              <a:rPr lang="en-US" altLang="zh-CN" sz="2800" dirty="0"/>
              <a:t>  of functional dependencies, there are certain other functional dependencies that are </a:t>
            </a:r>
            <a:r>
              <a:rPr lang="en-US" altLang="zh-CN" sz="2800" i="1" u="sng" dirty="0">
                <a:solidFill>
                  <a:srgbClr val="000099"/>
                </a:solidFill>
              </a:rPr>
              <a:t>logically implied</a:t>
            </a:r>
            <a:r>
              <a:rPr lang="en-US" altLang="zh-CN" sz="2800" dirty="0"/>
              <a:t> by </a:t>
            </a:r>
            <a:r>
              <a:rPr lang="en-US" altLang="zh-CN" sz="2800" i="1" dirty="0"/>
              <a:t>F</a:t>
            </a:r>
            <a:r>
              <a:rPr lang="en-US" altLang="zh-CN" sz="2800" dirty="0"/>
              <a:t>.</a:t>
            </a:r>
          </a:p>
          <a:p>
            <a:pPr lvl="1"/>
            <a:r>
              <a:rPr lang="en-US" altLang="zh-CN" sz="2800" dirty="0"/>
              <a:t>For example:  If  </a:t>
            </a:r>
            <a:r>
              <a:rPr lang="en-US" altLang="zh-CN" sz="2800" i="1" dirty="0"/>
              <a:t>A</a:t>
            </a:r>
            <a:r>
              <a:rPr lang="en-US" altLang="zh-CN" sz="2800" dirty="0"/>
              <a:t> </a:t>
            </a:r>
            <a:r>
              <a:rPr lang="en-US" altLang="zh-CN" sz="2800" dirty="0">
                <a:sym typeface="Symbol" panose="05050102010706020507" charset="2"/>
              </a:rPr>
              <a:t></a:t>
            </a:r>
            <a:r>
              <a:rPr lang="en-US" altLang="zh-CN" sz="2800" dirty="0">
                <a:sym typeface="Monotype Sorts" charset="2"/>
              </a:rPr>
              <a:t> </a:t>
            </a:r>
            <a:r>
              <a:rPr lang="en-US" altLang="zh-CN" sz="2800" i="1" dirty="0">
                <a:sym typeface="Monotype Sorts" charset="2"/>
              </a:rPr>
              <a:t>B</a:t>
            </a:r>
            <a:r>
              <a:rPr lang="en-US" altLang="zh-CN" sz="2800" dirty="0">
                <a:sym typeface="Monotype Sorts" charset="2"/>
              </a:rPr>
              <a:t> and  </a:t>
            </a:r>
            <a:r>
              <a:rPr lang="en-US" altLang="zh-CN" sz="2800" i="1" dirty="0">
                <a:sym typeface="Monotype Sorts" charset="2"/>
              </a:rPr>
              <a:t>B</a:t>
            </a:r>
            <a:r>
              <a:rPr lang="en-US" altLang="zh-CN" sz="2800" dirty="0">
                <a:sym typeface="Monotype Sorts" charset="2"/>
              </a:rPr>
              <a:t> </a:t>
            </a:r>
            <a:r>
              <a:rPr lang="en-US" altLang="zh-CN" sz="2800" dirty="0">
                <a:sym typeface="Symbol" panose="05050102010706020507" charset="2"/>
              </a:rPr>
              <a:t></a:t>
            </a:r>
            <a:r>
              <a:rPr lang="en-US" altLang="zh-CN" sz="2800" dirty="0">
                <a:sym typeface="Monotype Sorts" charset="2"/>
              </a:rPr>
              <a:t> </a:t>
            </a:r>
            <a:r>
              <a:rPr lang="en-US" altLang="zh-CN" sz="2800" i="1" dirty="0">
                <a:sym typeface="Monotype Sorts" charset="2"/>
              </a:rPr>
              <a:t>C</a:t>
            </a:r>
            <a:r>
              <a:rPr lang="en-US" altLang="zh-CN" sz="2800" dirty="0">
                <a:sym typeface="Monotype Sorts" charset="2"/>
              </a:rPr>
              <a:t>,  then we can infer that </a:t>
            </a:r>
            <a:r>
              <a:rPr lang="en-US" altLang="zh-CN" sz="2800" i="1" dirty="0">
                <a:sym typeface="Monotype Sorts" charset="2"/>
              </a:rPr>
              <a:t>A</a:t>
            </a:r>
            <a:r>
              <a:rPr lang="en-US" altLang="zh-CN" sz="2800" dirty="0">
                <a:sym typeface="Monotype Sorts" charset="2"/>
              </a:rPr>
              <a:t> </a:t>
            </a:r>
            <a:r>
              <a:rPr lang="en-US" altLang="zh-CN" sz="2800" dirty="0">
                <a:sym typeface="Symbol" panose="05050102010706020507" charset="2"/>
              </a:rPr>
              <a:t></a:t>
            </a:r>
            <a:r>
              <a:rPr lang="en-US" altLang="zh-CN" sz="2800" dirty="0">
                <a:sym typeface="Monotype Sorts" charset="2"/>
              </a:rPr>
              <a:t> </a:t>
            </a:r>
            <a:r>
              <a:rPr lang="en-US" altLang="zh-CN" sz="2800" i="1" dirty="0">
                <a:sym typeface="Monotype Sorts" charset="2"/>
              </a:rPr>
              <a:t>C</a:t>
            </a:r>
            <a:endParaRPr lang="en-US" altLang="zh-CN" sz="2800" dirty="0"/>
          </a:p>
          <a:p>
            <a:r>
              <a:rPr lang="en-US" altLang="zh-CN" sz="2800" dirty="0"/>
              <a:t>The set of </a:t>
            </a:r>
            <a:r>
              <a:rPr lang="en-US" altLang="zh-CN" sz="2800" b="1" dirty="0">
                <a:solidFill>
                  <a:srgbClr val="000099"/>
                </a:solidFill>
              </a:rPr>
              <a:t>all</a:t>
            </a:r>
            <a:r>
              <a:rPr lang="en-US" altLang="zh-CN" sz="2800" dirty="0"/>
              <a:t> functional dependencies logically implied by </a:t>
            </a:r>
            <a:r>
              <a:rPr lang="en-US" altLang="zh-CN" sz="2800" i="1" dirty="0"/>
              <a:t>F</a:t>
            </a:r>
            <a:r>
              <a:rPr lang="en-US" altLang="zh-CN" sz="2800" dirty="0"/>
              <a:t> is the </a:t>
            </a:r>
            <a:r>
              <a:rPr lang="en-US" altLang="zh-CN" sz="2800" b="1" dirty="0">
                <a:solidFill>
                  <a:srgbClr val="000099"/>
                </a:solidFill>
              </a:rPr>
              <a:t>closure</a:t>
            </a:r>
            <a:r>
              <a:rPr lang="en-US" altLang="zh-CN" sz="2800" dirty="0"/>
              <a:t> of </a:t>
            </a:r>
            <a:r>
              <a:rPr lang="en-US" altLang="zh-CN" sz="2800" i="1" dirty="0"/>
              <a:t>F</a:t>
            </a:r>
            <a:r>
              <a:rPr lang="en-US" altLang="zh-CN" sz="2800" dirty="0"/>
              <a:t>.</a:t>
            </a:r>
          </a:p>
          <a:p>
            <a:r>
              <a:rPr lang="en-US" altLang="zh-CN" sz="2800" dirty="0"/>
              <a:t>We denote the </a:t>
            </a:r>
            <a:r>
              <a:rPr lang="en-US" altLang="zh-CN" sz="2800" i="1" dirty="0"/>
              <a:t>closure </a:t>
            </a:r>
            <a:r>
              <a:rPr lang="en-US" altLang="zh-CN" sz="2800" dirty="0"/>
              <a:t>of </a:t>
            </a:r>
            <a:r>
              <a:rPr lang="en-US" altLang="zh-CN" sz="2800" i="1" dirty="0"/>
              <a:t>F</a:t>
            </a:r>
            <a:r>
              <a:rPr lang="en-US" altLang="zh-CN" sz="2800" dirty="0"/>
              <a:t> by </a:t>
            </a:r>
            <a:r>
              <a:rPr lang="en-US" altLang="zh-CN" sz="2800" b="1" dirty="0">
                <a:solidFill>
                  <a:srgbClr val="000099"/>
                </a:solidFill>
              </a:rPr>
              <a:t>F</a:t>
            </a:r>
            <a:r>
              <a:rPr lang="en-US" altLang="zh-CN" sz="2800" b="1" i="1" baseline="30000" dirty="0">
                <a:solidFill>
                  <a:srgbClr val="000099"/>
                </a:solidFill>
              </a:rPr>
              <a:t>+</a:t>
            </a:r>
            <a:r>
              <a:rPr lang="en-US" altLang="zh-CN" sz="2800" i="1" dirty="0"/>
              <a:t>.</a:t>
            </a:r>
          </a:p>
          <a:p>
            <a:r>
              <a:rPr lang="en-US" altLang="zh-CN" sz="2800" dirty="0"/>
              <a:t>F</a:t>
            </a:r>
            <a:r>
              <a:rPr lang="en-US" altLang="zh-CN" sz="2800" baseline="30000" dirty="0"/>
              <a:t>+</a:t>
            </a:r>
            <a:r>
              <a:rPr lang="en-US" altLang="zh-CN" sz="2800" dirty="0"/>
              <a:t> is a superset of </a:t>
            </a:r>
            <a:r>
              <a:rPr lang="en-US" altLang="zh-CN" sz="2800" i="1" dirty="0"/>
              <a:t>F</a:t>
            </a:r>
            <a:r>
              <a:rPr lang="en-US" altLang="zh-CN" sz="2800" dirty="0"/>
              <a:t>.</a:t>
            </a:r>
            <a:endParaRPr lang="en-US" altLang="zh-CN" sz="2800" dirty="0">
              <a:sym typeface="Greek Symbols" pitchFamily="18" charset="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962"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Boyce-Codd Normal Form</a:t>
            </a:r>
          </a:p>
        </p:txBody>
      </p:sp>
      <p:sp>
        <p:nvSpPr>
          <p:cNvPr id="37890" name="Rectangle 3"/>
          <p:cNvSpPr>
            <a:spLocks noGrp="1"/>
          </p:cNvSpPr>
          <p:nvPr>
            <p:ph idx="1"/>
          </p:nvPr>
        </p:nvSpPr>
        <p:spPr>
          <a:xfrm>
            <a:off x="1290638" y="3101975"/>
            <a:ext cx="6562725" cy="836613"/>
          </a:xfrm>
        </p:spPr>
        <p:txBody>
          <a:bodyPr wrap="square" lIns="91440" tIns="45720" rIns="91440" bIns="45720" anchor="t"/>
          <a:lstStyle/>
          <a:p>
            <a:pPr marL="0" indent="0">
              <a:buNone/>
            </a:pPr>
            <a:r>
              <a:rPr lang="en-US" altLang="zh-CN" sz="2400">
                <a:solidFill>
                  <a:srgbClr val="0000FF"/>
                </a:solidFill>
                <a:sym typeface="Symbol" panose="05050102010706020507" charset="2"/>
              </a:rPr>
              <a:t></a:t>
            </a:r>
            <a:r>
              <a:rPr lang="en-US" altLang="zh-CN" sz="2400">
                <a:solidFill>
                  <a:srgbClr val="0000FF"/>
                </a:solidFill>
                <a:sym typeface="Greek Symbols" pitchFamily="18" charset="2"/>
              </a:rPr>
              <a:t> </a:t>
            </a:r>
            <a:r>
              <a:rPr lang="en-US" altLang="zh-CN" sz="2400">
                <a:solidFill>
                  <a:srgbClr val="0000FF"/>
                </a:solidFill>
                <a:sym typeface="Symbol" panose="05050102010706020507" charset="2"/>
              </a:rPr>
              <a:t></a:t>
            </a:r>
            <a:r>
              <a:rPr lang="en-US" altLang="zh-CN" sz="2400">
                <a:solidFill>
                  <a:srgbClr val="0000FF"/>
                </a:solidFill>
                <a:sym typeface="Monotype Sorts" charset="2"/>
              </a:rPr>
              <a:t> </a:t>
            </a:r>
            <a:r>
              <a:rPr lang="en-US" altLang="zh-CN" sz="2400" i="1">
                <a:solidFill>
                  <a:srgbClr val="0000FF"/>
                </a:solidFill>
                <a:sym typeface="Symbol" panose="05050102010706020507" charset="2"/>
              </a:rPr>
              <a:t></a:t>
            </a:r>
            <a:r>
              <a:rPr lang="en-US" altLang="zh-CN" sz="2400" i="1">
                <a:solidFill>
                  <a:srgbClr val="0000FF"/>
                </a:solidFill>
                <a:sym typeface="Greek Symbols" pitchFamily="18" charset="2"/>
              </a:rPr>
              <a:t>  </a:t>
            </a:r>
            <a:r>
              <a:rPr lang="en-US" altLang="zh-CN" sz="2400">
                <a:solidFill>
                  <a:srgbClr val="0000FF"/>
                </a:solidFill>
                <a:sym typeface="Greek Symbols" pitchFamily="18" charset="2"/>
              </a:rPr>
              <a:t>is trivial (i.e., </a:t>
            </a:r>
            <a:r>
              <a:rPr lang="en-US" altLang="zh-CN" sz="2400" i="1">
                <a:solidFill>
                  <a:srgbClr val="0000FF"/>
                </a:solidFill>
                <a:sym typeface="Symbol" panose="05050102010706020507" charset="2"/>
              </a:rPr>
              <a:t></a:t>
            </a:r>
            <a:r>
              <a:rPr lang="en-US" altLang="zh-CN" sz="2400">
                <a:solidFill>
                  <a:srgbClr val="0000FF"/>
                </a:solidFill>
                <a:sym typeface="Greek Symbols" pitchFamily="18" charset="2"/>
              </a:rPr>
              <a:t> </a:t>
            </a:r>
            <a:r>
              <a:rPr lang="en-US" altLang="zh-CN" sz="2400">
                <a:solidFill>
                  <a:srgbClr val="0000FF"/>
                </a:solidFill>
                <a:sym typeface="Symbol" panose="05050102010706020507" charset="2"/>
              </a:rPr>
              <a:t> </a:t>
            </a:r>
            <a:r>
              <a:rPr lang="en-US" altLang="zh-CN" sz="2400">
                <a:solidFill>
                  <a:srgbClr val="0000FF"/>
                </a:solidFill>
                <a:sym typeface="Greek Symbols" pitchFamily="18" charset="2"/>
              </a:rPr>
              <a:t>)</a:t>
            </a:r>
          </a:p>
          <a:p>
            <a:pPr marL="0" indent="0">
              <a:buNone/>
            </a:pPr>
            <a:r>
              <a:rPr lang="en-US" altLang="zh-CN" sz="2400">
                <a:solidFill>
                  <a:srgbClr val="0000FF"/>
                </a:solidFill>
                <a:sym typeface="Symbol" panose="05050102010706020507" charset="2"/>
              </a:rPr>
              <a:t></a:t>
            </a:r>
            <a:r>
              <a:rPr lang="en-US" altLang="zh-CN" sz="2400">
                <a:solidFill>
                  <a:srgbClr val="0000FF"/>
                </a:solidFill>
                <a:sym typeface="Greek Symbols" pitchFamily="18" charset="2"/>
              </a:rPr>
              <a:t> is a </a:t>
            </a:r>
            <a:r>
              <a:rPr lang="en-US" altLang="zh-CN" sz="2400" err="1">
                <a:solidFill>
                  <a:srgbClr val="0000FF"/>
                </a:solidFill>
                <a:sym typeface="Greek Symbols" pitchFamily="18" charset="2"/>
              </a:rPr>
              <a:t>superkey</a:t>
            </a:r>
            <a:r>
              <a:rPr lang="en-US" altLang="zh-CN" sz="2400">
                <a:solidFill>
                  <a:srgbClr val="0000FF"/>
                </a:solidFill>
                <a:sym typeface="Greek Symbols" pitchFamily="18" charset="2"/>
              </a:rPr>
              <a:t> for </a:t>
            </a:r>
            <a:r>
              <a:rPr lang="en-US" altLang="zh-CN" sz="2400" i="1">
                <a:solidFill>
                  <a:srgbClr val="0000FF"/>
                </a:solidFill>
                <a:sym typeface="Greek Symbols" pitchFamily="18" charset="2"/>
              </a:rPr>
              <a:t>R</a:t>
            </a:r>
          </a:p>
        </p:txBody>
      </p:sp>
      <p:sp>
        <p:nvSpPr>
          <p:cNvPr id="37891" name="Text Box 4"/>
          <p:cNvSpPr/>
          <p:nvPr/>
        </p:nvSpPr>
        <p:spPr>
          <a:xfrm>
            <a:off x="171450" y="1314450"/>
            <a:ext cx="8799513" cy="2978150"/>
          </a:xfrm>
          <a:prstGeom prst="rect">
            <a:avLst/>
          </a:prstGeom>
          <a:noFill/>
          <a:ln w="9525">
            <a:noFill/>
          </a:ln>
        </p:spPr>
        <p:txBody>
          <a:bodyPr wrap="square" lIns="91440" tIns="45720" rIns="91440" bIns="45720" anchor="t"/>
          <a:lstStyle/>
          <a:p>
            <a:pPr marL="342900" indent="-342900" eaLnBrk="0" hangingPunct="0">
              <a:spcBef>
                <a:spcPct val="35000"/>
              </a:spcBef>
              <a:buClr>
                <a:schemeClr val="tx2"/>
              </a:buClr>
              <a:buFont typeface="Monotype Sorts" charset="0"/>
              <a:buChar char="n"/>
            </a:pPr>
            <a:r>
              <a:rPr lang="en-US" altLang="zh-CN" sz="2400" dirty="0">
                <a:latin typeface="Arial" panose="020B0604020202020204"/>
              </a:rPr>
              <a:t>A relation schema R is in </a:t>
            </a:r>
            <a:r>
              <a:rPr lang="en-US" altLang="zh-CN" sz="2400" i="1" u="sng" dirty="0">
                <a:solidFill>
                  <a:srgbClr val="C00000"/>
                </a:solidFill>
                <a:latin typeface="Arial" panose="020B0604020202020204"/>
              </a:rPr>
              <a:t>BCNF</a:t>
            </a:r>
            <a:r>
              <a:rPr lang="en-US" altLang="zh-CN" sz="2400" dirty="0">
                <a:latin typeface="Arial" panose="020B0604020202020204"/>
              </a:rPr>
              <a:t> with respect to a set F of functional  dependencies if for all functional dependencies in F</a:t>
            </a:r>
            <a:r>
              <a:rPr lang="en-US" altLang="zh-CN" sz="2400" baseline="30000" dirty="0">
                <a:latin typeface="Arial" panose="020B0604020202020204"/>
              </a:rPr>
              <a:t>+</a:t>
            </a:r>
            <a:r>
              <a:rPr lang="en-US" altLang="zh-CN" sz="2400" dirty="0">
                <a:latin typeface="Arial" panose="020B0604020202020204"/>
              </a:rPr>
              <a:t> of the form </a:t>
            </a:r>
            <a:r>
              <a:rPr lang="en-US" altLang="zh-CN" sz="2400" dirty="0">
                <a:latin typeface="Arial" panose="020B0604020202020204"/>
                <a:sym typeface="Symbol" panose="05050102010706020507" charset="2"/>
              </a:rPr>
              <a:t>  </a:t>
            </a:r>
            <a:r>
              <a:rPr lang="en-US" altLang="zh-CN" sz="2400" dirty="0">
                <a:latin typeface="Arial" panose="020B0604020202020204"/>
                <a:sym typeface="Greek Symbols" pitchFamily="18" charset="2"/>
              </a:rPr>
              <a:t> </a:t>
            </a:r>
            <a:r>
              <a:rPr lang="en-US" altLang="zh-CN" sz="2400" dirty="0">
                <a:latin typeface="Arial" panose="020B0604020202020204"/>
                <a:sym typeface="Symbol" panose="05050102010706020507" charset="2"/>
              </a:rPr>
              <a:t></a:t>
            </a:r>
            <a:r>
              <a:rPr lang="en-US" altLang="zh-CN" sz="2400" dirty="0">
                <a:latin typeface="Arial" panose="020B0604020202020204"/>
                <a:sym typeface="Monotype Sorts" charset="2"/>
              </a:rPr>
              <a:t> </a:t>
            </a:r>
            <a:r>
              <a:rPr lang="en-US" altLang="zh-CN" sz="2400" dirty="0">
                <a:latin typeface="Arial" panose="020B0604020202020204"/>
                <a:sym typeface="Symbol" panose="05050102010706020507" charset="2"/>
              </a:rPr>
              <a:t></a:t>
            </a:r>
          </a:p>
          <a:p>
            <a:pPr marL="800100" lvl="1" indent="-342900" algn="l" eaLnBrk="0" hangingPunct="0">
              <a:spcBef>
                <a:spcPct val="35000"/>
              </a:spcBef>
              <a:buClr>
                <a:schemeClr val="tx2"/>
              </a:buClr>
              <a:buFont typeface="Monotype Sorts" charset="0"/>
              <a:buChar char="n"/>
            </a:pPr>
            <a:r>
              <a:rPr lang="en-US" altLang="zh-CN" sz="2000" dirty="0">
                <a:latin typeface="Arial" panose="020B0604020202020204"/>
                <a:sym typeface="Greek Symbols" pitchFamily="18" charset="2"/>
              </a:rPr>
              <a:t>where </a:t>
            </a:r>
            <a:r>
              <a:rPr lang="en-US" altLang="zh-CN" sz="2000" dirty="0">
                <a:latin typeface="Arial" panose="020B0604020202020204"/>
                <a:sym typeface="Symbol" panose="05050102010706020507" charset="2"/>
              </a:rPr>
              <a:t></a:t>
            </a:r>
            <a:r>
              <a:rPr lang="en-US" altLang="zh-CN" sz="2000" dirty="0">
                <a:latin typeface="Arial" panose="020B0604020202020204"/>
                <a:sym typeface="Greek Symbols" pitchFamily="18" charset="2"/>
              </a:rPr>
              <a:t> </a:t>
            </a:r>
            <a:r>
              <a:rPr lang="en-US" altLang="zh-CN" sz="2000" dirty="0">
                <a:latin typeface="Arial" panose="020B0604020202020204"/>
                <a:sym typeface="Symbol" panose="05050102010706020507" charset="2"/>
              </a:rPr>
              <a:t> R and </a:t>
            </a:r>
            <a:r>
              <a:rPr lang="en-US" altLang="zh-CN" sz="2000" dirty="0">
                <a:latin typeface="Arial" panose="020B0604020202020204"/>
                <a:sym typeface="Greek Symbols" pitchFamily="18" charset="2"/>
              </a:rPr>
              <a:t> </a:t>
            </a:r>
            <a:r>
              <a:rPr lang="en-US" altLang="zh-CN" sz="2000" dirty="0">
                <a:latin typeface="Arial" panose="020B0604020202020204"/>
                <a:sym typeface="Symbol" panose="05050102010706020507" charset="2"/>
              </a:rPr>
              <a:t> R, at least one of the following holds:</a:t>
            </a:r>
          </a:p>
        </p:txBody>
      </p:sp>
      <p:sp>
        <p:nvSpPr>
          <p:cNvPr id="680965" name="Text Box 5"/>
          <p:cNvSpPr>
            <a:spLocks noChangeArrowheads="1"/>
          </p:cNvSpPr>
          <p:nvPr/>
        </p:nvSpPr>
        <p:spPr bwMode="auto">
          <a:xfrm>
            <a:off x="152400" y="4313238"/>
            <a:ext cx="8794750" cy="1955800"/>
          </a:xfrm>
          <a:prstGeom prst="rect">
            <a:avLst/>
          </a:prstGeom>
          <a:noFill/>
          <a:ln w="9525">
            <a:noFill/>
          </a:ln>
        </p:spPr>
        <p:txBody>
          <a:bodyPr vert="horz" wrap="square" lIns="91440" tIns="45720" rIns="91440" bIns="45720" rtlCol="0" anchor="t">
            <a:normAutofit/>
          </a:bodyPr>
          <a:lstStyle/>
          <a:p>
            <a:pPr marL="342900" marR="0" lvl="0" indent="-342900" algn="l" defTabSz="914400" rtl="0" eaLnBrk="0" fontAlgn="base" latinLnBrk="0" hangingPunct="0">
              <a:lnSpc>
                <a:spcPct val="100000"/>
              </a:lnSpc>
              <a:spcBef>
                <a:spcPct val="35000"/>
              </a:spcBef>
              <a:spcAft>
                <a:spcPct val="0"/>
              </a:spcAft>
              <a:buClr>
                <a:schemeClr val="tx2"/>
              </a:buClr>
              <a:buFont typeface="Monotype Sorts" charset="0"/>
              <a:buChar char="n"/>
            </a:pPr>
            <a:r>
              <a:rPr kumimoji="1" lang="en-US" altLang="zh-CN" sz="2400" b="0" i="0" u="none" strike="noStrike" kern="0" cap="none" spc="0" normalizeH="0" baseline="0" noProof="1">
                <a:solidFill>
                  <a:schemeClr val="tx1"/>
                </a:solidFill>
                <a:latin typeface="Arial" panose="020B0604020202020204"/>
                <a:ea typeface="+mn-ea"/>
                <a:cs typeface="Arial" panose="020B0604020202020204"/>
                <a:sym typeface="+mn-ea"/>
              </a:rPr>
              <a:t>Example schema not in BCNF:</a:t>
            </a:r>
          </a:p>
          <a:p>
            <a:pPr marL="0" marR="0" lvl="0" indent="0" algn="l" defTabSz="914400" rtl="0" eaLnBrk="0" fontAlgn="base" latinLnBrk="0" hangingPunct="0">
              <a:lnSpc>
                <a:spcPct val="100000"/>
              </a:lnSpc>
              <a:spcBef>
                <a:spcPct val="35000"/>
              </a:spcBef>
              <a:spcAft>
                <a:spcPct val="0"/>
              </a:spcAft>
              <a:buClr>
                <a:schemeClr val="tx2"/>
              </a:buClr>
              <a:buNone/>
            </a:pPr>
            <a:r>
              <a:rPr kumimoji="1" lang="en-US" altLang="zh-CN" sz="2400" b="0" i="0" u="none" strike="noStrike" kern="0" cap="none" spc="0" normalizeH="0" baseline="0" noProof="1">
                <a:solidFill>
                  <a:schemeClr val="tx1"/>
                </a:solidFill>
                <a:latin typeface="Arial" panose="020B0604020202020204"/>
                <a:ea typeface="+mn-ea"/>
                <a:cs typeface="Arial" panose="020B0604020202020204"/>
                <a:sym typeface="+mn-ea"/>
              </a:rPr>
              <a:t>     instr_dept (ID, name, salary, dept_name, building, budget )</a:t>
            </a:r>
          </a:p>
          <a:p>
            <a:pPr marL="800100" marR="0" lvl="1" indent="-342900" algn="l" defTabSz="914400" rtl="0" eaLnBrk="0" fontAlgn="base" latinLnBrk="0" hangingPunct="0">
              <a:lnSpc>
                <a:spcPct val="100000"/>
              </a:lnSpc>
              <a:spcBef>
                <a:spcPct val="35000"/>
              </a:spcBef>
              <a:spcAft>
                <a:spcPct val="0"/>
              </a:spcAft>
              <a:buClr>
                <a:schemeClr val="tx2"/>
              </a:buClr>
              <a:buFont typeface="Monotype Sorts" charset="0"/>
              <a:buChar char="n"/>
            </a:pP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mn-ea"/>
              </a:rPr>
              <a:t>because </a:t>
            </a:r>
            <a:r>
              <a:rPr kumimoji="1" lang="en-US" altLang="zh-CN" sz="2000" b="0" i="0" u="none" strike="noStrike" kern="0" cap="none" spc="0" normalizeH="0" baseline="0" noProof="1">
                <a:solidFill>
                  <a:srgbClr val="0070C0"/>
                </a:solidFill>
                <a:latin typeface="Arial" panose="020B0604020202020204"/>
                <a:ea typeface="+mn-ea"/>
                <a:cs typeface="Arial" panose="020B0604020202020204"/>
                <a:sym typeface="+mn-ea"/>
              </a:rPr>
              <a:t>dept_name</a:t>
            </a:r>
            <a:r>
              <a:rPr kumimoji="1" lang="en-US" altLang="zh-CN" sz="2000" b="0" i="0" u="none" strike="noStrike" kern="0" cap="none" spc="0" normalizeH="0" baseline="0" noProof="1">
                <a:solidFill>
                  <a:srgbClr val="0070C0"/>
                </a:solidFill>
                <a:latin typeface="Arial" panose="020B0604020202020204"/>
                <a:ea typeface="+mn-ea"/>
                <a:cs typeface="Arial" panose="020B0604020202020204"/>
                <a:sym typeface="Symbol" panose="05050102010706020507" charset="2"/>
              </a:rPr>
              <a:t></a:t>
            </a:r>
            <a:r>
              <a:rPr kumimoji="1" lang="en-US" altLang="zh-CN" sz="2000" b="0" i="0" u="none" strike="noStrike" kern="0" cap="none" spc="0" normalizeH="0" baseline="0" noProof="1">
                <a:solidFill>
                  <a:srgbClr val="0070C0"/>
                </a:solidFill>
                <a:latin typeface="Arial" panose="020B0604020202020204"/>
                <a:ea typeface="+mn-ea"/>
                <a:cs typeface="Arial" panose="020B0604020202020204"/>
                <a:sym typeface="Monotype Sorts" charset="2"/>
              </a:rPr>
              <a:t> building, budget</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Monotype Sorts" charset="2"/>
              </a:rPr>
              <a:t> holds on instr_dept, but </a:t>
            </a:r>
            <a:r>
              <a:rPr kumimoji="1" lang="en-US" altLang="zh-CN" sz="2000" b="0" i="0" u="none" strike="noStrike" kern="0" cap="none" spc="0" normalizeH="0" baseline="0" noProof="1">
                <a:solidFill>
                  <a:srgbClr val="0070C0"/>
                </a:solidFill>
                <a:latin typeface="Arial" panose="020B0604020202020204"/>
                <a:ea typeface="+mn-ea"/>
                <a:cs typeface="Arial" panose="020B0604020202020204"/>
                <a:sym typeface="Monotype Sorts" charset="2"/>
              </a:rPr>
              <a:t>dept_name</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Monotype Sorts" charset="2"/>
              </a:rPr>
              <a:t> is not a superkey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微软雅黑" panose="020B0503020204020204" charset="-122"/>
                <a:ea typeface="微软雅黑" panose="020B0503020204020204" charset="-122"/>
                <a:cs typeface="+mj-cs"/>
                <a:sym typeface="+mn-ea"/>
              </a:rPr>
              <a:t>SQL</a:t>
            </a:r>
            <a:r>
              <a:rPr lang="zh-CN" altLang="en-US" dirty="0">
                <a:latin typeface="微软雅黑" panose="020B0503020204020204" charset="-122"/>
                <a:ea typeface="微软雅黑" panose="020B0503020204020204" charset="-122"/>
                <a:cs typeface="+mj-cs"/>
                <a:sym typeface="+mn-ea"/>
              </a:rPr>
              <a:t>中的函数依赖</a:t>
            </a:r>
            <a:endParaRPr lang="zh-CN" altLang="en-US"/>
          </a:p>
        </p:txBody>
      </p:sp>
      <p:sp>
        <p:nvSpPr>
          <p:cNvPr id="3" name="内容占位符 2"/>
          <p:cNvSpPr>
            <a:spLocks noGrp="1"/>
          </p:cNvSpPr>
          <p:nvPr>
            <p:ph idx="1"/>
          </p:nvPr>
        </p:nvSpPr>
        <p:spPr>
          <a:xfrm>
            <a:off x="207010" y="991870"/>
            <a:ext cx="8542655" cy="5351145"/>
          </a:xfrm>
        </p:spPr>
        <p:txBody>
          <a:bodyPr/>
          <a:lstStyle/>
          <a:p>
            <a:pPr eaLnBrk="1" hangingPunct="1">
              <a:lnSpc>
                <a:spcPct val="120000"/>
              </a:lnSpc>
              <a:buSzPct val="125000"/>
            </a:pPr>
            <a:r>
              <a:rPr lang="zh-CN" altLang="en-US" sz="2400" dirty="0">
                <a:latin typeface="Arial" panose="020B0604020202020204" pitchFamily="34" charset="0"/>
                <a:cs typeface="Arial" panose="020B0604020202020204" pitchFamily="34" charset="0"/>
                <a:sym typeface="+mn-ea"/>
              </a:rPr>
              <a:t>除了候选键和主键外，</a:t>
            </a:r>
            <a:r>
              <a:rPr lang="en-US" altLang="zh-CN" sz="2400" dirty="0">
                <a:solidFill>
                  <a:srgbClr val="000099"/>
                </a:solidFill>
                <a:latin typeface="Arial" panose="020B0604020202020204" pitchFamily="34" charset="0"/>
                <a:cs typeface="Arial" panose="020B0604020202020204" pitchFamily="34" charset="0"/>
                <a:sym typeface="+mn-ea"/>
              </a:rPr>
              <a:t>SQL</a:t>
            </a:r>
            <a:r>
              <a:rPr lang="zh-CN" altLang="en-US" sz="2400" dirty="0">
                <a:solidFill>
                  <a:srgbClr val="000099"/>
                </a:solidFill>
                <a:latin typeface="Arial" panose="020B0604020202020204" pitchFamily="34" charset="0"/>
                <a:cs typeface="Arial" panose="020B0604020202020204" pitchFamily="34" charset="0"/>
                <a:sym typeface="+mn-ea"/>
              </a:rPr>
              <a:t>没有提供函数依赖的支持</a:t>
            </a:r>
            <a:r>
              <a:rPr lang="zh-CN" altLang="en-US" sz="2400" dirty="0">
                <a:latin typeface="Arial" panose="020B0604020202020204" pitchFamily="34" charset="0"/>
                <a:cs typeface="Arial" panose="020B0604020202020204" pitchFamily="34" charset="0"/>
                <a:sym typeface="+mn-ea"/>
              </a:rPr>
              <a:t>，可以通过</a:t>
            </a:r>
            <a:r>
              <a:rPr lang="zh-CN" altLang="en-US" sz="2400" dirty="0">
                <a:solidFill>
                  <a:srgbClr val="C00000"/>
                </a:solidFill>
                <a:latin typeface="Arial" panose="020B0604020202020204" pitchFamily="34" charset="0"/>
                <a:cs typeface="Arial" panose="020B0604020202020204" pitchFamily="34" charset="0"/>
                <a:sym typeface="+mn-ea"/>
              </a:rPr>
              <a:t>断言</a:t>
            </a:r>
            <a:r>
              <a:rPr lang="zh-CN" altLang="en-US" sz="2400" dirty="0">
                <a:latin typeface="Arial" panose="020B0604020202020204" pitchFamily="34" charset="0"/>
                <a:cs typeface="Arial" panose="020B0604020202020204" pitchFamily="34" charset="0"/>
                <a:sym typeface="+mn-ea"/>
              </a:rPr>
              <a:t>来完成</a:t>
            </a:r>
            <a:endParaRPr lang="en-US" altLang="zh-CN" sz="2400" dirty="0">
              <a:latin typeface="Arial" panose="020B0604020202020204" pitchFamily="34" charset="0"/>
              <a:cs typeface="Arial" panose="020B0604020202020204" pitchFamily="34" charset="0"/>
            </a:endParaRPr>
          </a:p>
          <a:p>
            <a:pPr eaLnBrk="1" hangingPunct="1">
              <a:lnSpc>
                <a:spcPct val="120000"/>
              </a:lnSpc>
              <a:buSzPct val="125000"/>
            </a:pPr>
            <a:r>
              <a:rPr lang="zh-CN" altLang="en-US" sz="2400" dirty="0">
                <a:solidFill>
                  <a:srgbClr val="000099"/>
                </a:solidFill>
                <a:latin typeface="Arial" panose="020B0604020202020204" pitchFamily="34" charset="0"/>
                <a:cs typeface="Arial" panose="020B0604020202020204" pitchFamily="34" charset="0"/>
                <a:sym typeface="+mn-ea"/>
              </a:rPr>
              <a:t>写一个断言以保证在</a:t>
            </a:r>
            <a:r>
              <a:rPr lang="en-US" altLang="zh-CN" sz="2400" dirty="0">
                <a:solidFill>
                  <a:srgbClr val="000099"/>
                </a:solidFill>
                <a:latin typeface="Arial" panose="020B0604020202020204" pitchFamily="34" charset="0"/>
                <a:cs typeface="Arial" panose="020B0604020202020204" pitchFamily="34" charset="0"/>
                <a:sym typeface="+mn-ea"/>
              </a:rPr>
              <a:t>R(A, B, C)</a:t>
            </a:r>
            <a:r>
              <a:rPr lang="zh-CN" altLang="en-US" sz="2400" dirty="0">
                <a:solidFill>
                  <a:srgbClr val="000099"/>
                </a:solidFill>
                <a:latin typeface="Arial" panose="020B0604020202020204" pitchFamily="34" charset="0"/>
                <a:cs typeface="Arial" panose="020B0604020202020204" pitchFamily="34" charset="0"/>
                <a:sym typeface="+mn-ea"/>
              </a:rPr>
              <a:t>上成立</a:t>
            </a:r>
            <a:r>
              <a:rPr lang="en-US" altLang="zh-CN" sz="2400" dirty="0">
                <a:solidFill>
                  <a:srgbClr val="000099"/>
                </a:solidFill>
                <a:latin typeface="Arial" panose="020B0604020202020204" pitchFamily="34" charset="0"/>
                <a:cs typeface="Arial" panose="020B0604020202020204" pitchFamily="34" charset="0"/>
                <a:sym typeface="+mn-ea"/>
              </a:rPr>
              <a:t>B</a:t>
            </a:r>
            <a:r>
              <a:rPr lang="en-US" altLang="zh-CN" sz="2400" dirty="0">
                <a:solidFill>
                  <a:srgbClr val="000099"/>
                </a:solidFill>
                <a:latin typeface="Arial" panose="020B0604020202020204" pitchFamily="34" charset="0"/>
                <a:cs typeface="Arial" panose="020B0604020202020204" pitchFamily="34" charset="0"/>
                <a:sym typeface="Symbol" panose="05050102010706020507" charset="2"/>
              </a:rPr>
              <a:t></a:t>
            </a:r>
            <a:r>
              <a:rPr lang="en-US" altLang="zh-CN" sz="2400" dirty="0">
                <a:solidFill>
                  <a:srgbClr val="000099"/>
                </a:solidFill>
                <a:latin typeface="Arial" panose="020B0604020202020204" pitchFamily="34" charset="0"/>
                <a:cs typeface="Arial" panose="020B0604020202020204" pitchFamily="34" charset="0"/>
                <a:sym typeface="+mn-ea"/>
              </a:rPr>
              <a:t>C</a:t>
            </a:r>
            <a:endParaRPr lang="en-US" altLang="zh-CN" sz="2400" dirty="0">
              <a:solidFill>
                <a:srgbClr val="000099"/>
              </a:solidFill>
              <a:latin typeface="Arial" panose="020B0604020202020204" pitchFamily="34" charset="0"/>
              <a:cs typeface="Arial" panose="020B0604020202020204" pitchFamily="34" charset="0"/>
            </a:endParaRPr>
          </a:p>
          <a:p>
            <a:pPr eaLnBrk="1" hangingPunct="1">
              <a:spcBef>
                <a:spcPts val="0"/>
              </a:spcBef>
              <a:buSzPct val="125000"/>
              <a:buNone/>
            </a:pPr>
            <a:r>
              <a:rPr lang="en-US" altLang="zh-CN" sz="2400" dirty="0">
                <a:latin typeface="Arial" panose="020B0604020202020204" pitchFamily="34" charset="0"/>
                <a:cs typeface="Arial" panose="020B0604020202020204" pitchFamily="34" charset="0"/>
                <a:sym typeface="+mn-ea"/>
              </a:rPr>
              <a:t>	</a:t>
            </a:r>
          </a:p>
          <a:p>
            <a:pPr eaLnBrk="1" hangingPunct="1">
              <a:spcBef>
                <a:spcPts val="0"/>
              </a:spcBef>
              <a:buSzPct val="125000"/>
              <a:buNone/>
            </a:pPr>
            <a:r>
              <a:rPr lang="en-US" altLang="zh-CN" sz="2400" dirty="0">
                <a:latin typeface="Arial" panose="020B0604020202020204" pitchFamily="34" charset="0"/>
                <a:cs typeface="Arial" panose="020B0604020202020204" pitchFamily="34" charset="0"/>
                <a:sym typeface="+mn-ea"/>
              </a:rPr>
              <a:t>create assertion BtoC check</a:t>
            </a:r>
            <a:endParaRPr lang="en-US" altLang="zh-CN" sz="2400" dirty="0">
              <a:latin typeface="Arial" panose="020B0604020202020204" pitchFamily="34" charset="0"/>
              <a:cs typeface="Arial" panose="020B0604020202020204" pitchFamily="34" charset="0"/>
            </a:endParaRPr>
          </a:p>
          <a:p>
            <a:pPr eaLnBrk="1" hangingPunct="1">
              <a:spcBef>
                <a:spcPts val="0"/>
              </a:spcBef>
              <a:buSzPct val="125000"/>
              <a:buNone/>
            </a:pPr>
            <a:r>
              <a:rPr lang="en-US" altLang="zh-CN" sz="2400" dirty="0">
                <a:latin typeface="Arial" panose="020B0604020202020204" pitchFamily="34" charset="0"/>
                <a:cs typeface="Arial" panose="020B0604020202020204" pitchFamily="34" charset="0"/>
                <a:sym typeface="+mn-ea"/>
              </a:rPr>
              <a:t>	(not exists</a:t>
            </a:r>
            <a:endParaRPr lang="en-US" altLang="zh-CN" sz="2400" dirty="0">
              <a:latin typeface="Arial" panose="020B0604020202020204" pitchFamily="34" charset="0"/>
              <a:cs typeface="Arial" panose="020B0604020202020204" pitchFamily="34" charset="0"/>
            </a:endParaRPr>
          </a:p>
          <a:p>
            <a:pPr eaLnBrk="1" hangingPunct="1">
              <a:spcBef>
                <a:spcPts val="0"/>
              </a:spcBef>
              <a:buSzPct val="125000"/>
              <a:buNone/>
            </a:pPr>
            <a:r>
              <a:rPr lang="en-US" altLang="zh-CN" sz="2400" dirty="0">
                <a:latin typeface="Arial" panose="020B0604020202020204" pitchFamily="34" charset="0"/>
                <a:cs typeface="Arial" panose="020B0604020202020204" pitchFamily="34" charset="0"/>
                <a:sym typeface="+mn-ea"/>
              </a:rPr>
              <a:t>		(select B from R</a:t>
            </a:r>
            <a:endParaRPr lang="en-US" altLang="zh-CN" sz="2400" dirty="0">
              <a:latin typeface="Arial" panose="020B0604020202020204" pitchFamily="34" charset="0"/>
              <a:cs typeface="Arial" panose="020B0604020202020204" pitchFamily="34" charset="0"/>
            </a:endParaRPr>
          </a:p>
          <a:p>
            <a:pPr eaLnBrk="1" hangingPunct="1">
              <a:spcBef>
                <a:spcPts val="0"/>
              </a:spcBef>
              <a:buSzPct val="125000"/>
              <a:buNone/>
            </a:pPr>
            <a:r>
              <a:rPr lang="en-US" altLang="zh-CN" sz="2400" dirty="0">
                <a:latin typeface="Arial" panose="020B0604020202020204" pitchFamily="34" charset="0"/>
                <a:cs typeface="Arial" panose="020B0604020202020204" pitchFamily="34" charset="0"/>
                <a:sym typeface="+mn-ea"/>
              </a:rPr>
              <a:t>		 group by B</a:t>
            </a:r>
            <a:endParaRPr lang="en-US" altLang="zh-CN" sz="2400" dirty="0">
              <a:latin typeface="Arial" panose="020B0604020202020204" pitchFamily="34" charset="0"/>
              <a:cs typeface="Arial" panose="020B0604020202020204" pitchFamily="34" charset="0"/>
            </a:endParaRPr>
          </a:p>
          <a:p>
            <a:pPr eaLnBrk="1" hangingPunct="1">
              <a:spcBef>
                <a:spcPts val="0"/>
              </a:spcBef>
              <a:buSzPct val="125000"/>
              <a:buNone/>
            </a:pPr>
            <a:r>
              <a:rPr lang="en-US" altLang="zh-CN" sz="2400" dirty="0">
                <a:latin typeface="Arial" panose="020B0604020202020204" pitchFamily="34" charset="0"/>
                <a:cs typeface="Arial" panose="020B0604020202020204" pitchFamily="34" charset="0"/>
                <a:sym typeface="+mn-ea"/>
              </a:rPr>
              <a:t>		 having count(distinct c) &gt; 1</a:t>
            </a:r>
            <a:endParaRPr lang="en-US" altLang="zh-CN" sz="2400" dirty="0">
              <a:latin typeface="Arial" panose="020B0604020202020204" pitchFamily="34" charset="0"/>
              <a:cs typeface="Arial" panose="020B0604020202020204" pitchFamily="34" charset="0"/>
            </a:endParaRPr>
          </a:p>
          <a:p>
            <a:pPr eaLnBrk="1" hangingPunct="1">
              <a:spcBef>
                <a:spcPts val="0"/>
              </a:spcBef>
              <a:buSzPct val="125000"/>
              <a:buNone/>
            </a:pPr>
            <a:r>
              <a:rPr lang="en-US" altLang="zh-CN" sz="2400" dirty="0">
                <a:latin typeface="Arial" panose="020B0604020202020204" pitchFamily="34" charset="0"/>
                <a:cs typeface="Arial" panose="020B0604020202020204" pitchFamily="34" charset="0"/>
                <a:sym typeface="+mn-ea"/>
              </a:rPr>
              <a:t>		)  )</a:t>
            </a:r>
            <a:endParaRPr lang="en-US" altLang="zh-CN" sz="2400" dirty="0">
              <a:latin typeface="Arial" panose="020B0604020202020204" pitchFamily="34" charset="0"/>
              <a:cs typeface="Arial" panose="020B0604020202020204" pitchFamily="34" charset="0"/>
            </a:endParaRPr>
          </a:p>
          <a:p>
            <a:endParaRPr lang="zh-CN" altLang="en-US" sz="2400" dirty="0">
              <a:latin typeface="Arial" panose="020B0604020202020204" pitchFamily="34" charset="0"/>
              <a:cs typeface="Arial" panose="020B0604020202020204" pitchFamily="34" charset="0"/>
            </a:endParaRPr>
          </a:p>
        </p:txBody>
      </p:sp>
      <p:sp>
        <p:nvSpPr>
          <p:cNvPr id="18436" name="横卷形 1"/>
          <p:cNvSpPr/>
          <p:nvPr/>
        </p:nvSpPr>
        <p:spPr>
          <a:xfrm>
            <a:off x="5008728" y="2665329"/>
            <a:ext cx="4135272" cy="2834716"/>
          </a:xfrm>
          <a:prstGeom prst="horizontalScroll">
            <a:avLst>
              <a:gd name="adj" fmla="val 9857"/>
            </a:avLst>
          </a:prstGeom>
          <a:noFill/>
          <a:ln w="9525" cap="flat" cmpd="sng">
            <a:solidFill>
              <a:srgbClr val="FF0000"/>
            </a:solidFill>
            <a:prstDash val="solid"/>
            <a:headEnd type="none" w="med" len="med"/>
            <a:tailEnd type="none" w="med" len="med"/>
          </a:ln>
        </p:spPr>
        <p:txBody>
          <a:bodyPr/>
          <a:lstStyle>
            <a:lvl1pPr marL="342900" indent="-342900" algn="l" rtl="0" eaLnBrk="0" fontAlgn="base" hangingPunct="0">
              <a:lnSpc>
                <a:spcPct val="130000"/>
              </a:lnSpc>
              <a:spcBef>
                <a:spcPct val="20000"/>
              </a:spcBef>
              <a:spcAft>
                <a:spcPct val="0"/>
              </a:spcAft>
              <a:buClr>
                <a:srgbClr val="FF3300"/>
              </a:buClr>
              <a:buSzPct val="125000"/>
              <a:buFont typeface="Times New Roman" panose="02020603050405020304" charset="0"/>
              <a:buChar char="♠"/>
              <a:defRPr sz="30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buClr>
                <a:schemeClr val="accent2"/>
              </a:buClr>
              <a:buFont typeface="Times New Roman" panose="02020603050405020304" charset="0"/>
              <a:buChar char="♣"/>
              <a:defRPr sz="2800">
                <a:solidFill>
                  <a:schemeClr val="tx1"/>
                </a:solidFill>
                <a:latin typeface="+mn-lt"/>
                <a:ea typeface="+mn-ea"/>
              </a:defRPr>
            </a:lvl2pPr>
            <a:lvl3pPr marL="1143000" indent="-228600" algn="l" rtl="0" eaLnBrk="0" fontAlgn="base" hangingPunct="0">
              <a:lnSpc>
                <a:spcPct val="130000"/>
              </a:lnSpc>
              <a:spcBef>
                <a:spcPct val="20000"/>
              </a:spcBef>
              <a:spcAft>
                <a:spcPct val="0"/>
              </a:spcAft>
              <a:buClr>
                <a:srgbClr val="D60093"/>
              </a:buClr>
              <a:buFont typeface="Times New Roman" panose="02020603050405020304" charset="0"/>
              <a:buChar char="♦"/>
              <a:defRPr sz="2600">
                <a:solidFill>
                  <a:schemeClr val="tx1"/>
                </a:solidFill>
                <a:latin typeface="+mn-lt"/>
                <a:ea typeface="+mn-ea"/>
              </a:defRPr>
            </a:lvl3pPr>
            <a:lvl4pPr marL="1600200" indent="-228600" algn="l" rtl="0" eaLnBrk="0" fontAlgn="base" hangingPunct="0">
              <a:lnSpc>
                <a:spcPct val="130000"/>
              </a:lnSpc>
              <a:spcBef>
                <a:spcPct val="20000"/>
              </a:spcBef>
              <a:spcAft>
                <a:spcPct val="0"/>
              </a:spcAft>
              <a:buChar char="–"/>
              <a:defRPr sz="2600">
                <a:solidFill>
                  <a:schemeClr val="tx1"/>
                </a:solidFill>
                <a:latin typeface="+mn-lt"/>
                <a:ea typeface="+mn-ea"/>
              </a:defRPr>
            </a:lvl4pPr>
            <a:lvl5pPr marL="2057400" indent="-228600" algn="l" rtl="0" eaLnBrk="0" fontAlgn="base" hangingPunct="0">
              <a:lnSpc>
                <a:spcPct val="130000"/>
              </a:lnSpc>
              <a:spcBef>
                <a:spcPct val="20000"/>
              </a:spcBef>
              <a:spcAft>
                <a:spcPct val="0"/>
              </a:spcAft>
              <a:buChar char="»"/>
              <a:defRPr sz="2600">
                <a:solidFill>
                  <a:schemeClr val="tx1"/>
                </a:solidFill>
                <a:latin typeface="+mn-lt"/>
                <a:ea typeface="+mn-ea"/>
              </a:defRPr>
            </a:lvl5pPr>
          </a:lstStyle>
          <a:p>
            <a:pPr marL="342900" lvl="0" indent="-342900" eaLnBrk="1" hangingPunct="1">
              <a:lnSpc>
                <a:spcPct val="180000"/>
              </a:lnSpc>
            </a:pPr>
            <a:r>
              <a:rPr lang="en-US" altLang="zh-CN" sz="1800" dirty="0">
                <a:latin typeface="微软雅黑" panose="020B0503020204020204" charset="-122"/>
                <a:ea typeface="微软雅黑" panose="020B0503020204020204" charset="-122"/>
              </a:rPr>
              <a:t>SQL</a:t>
            </a:r>
            <a:r>
              <a:rPr lang="zh-CN" altLang="en-US" sz="1800" dirty="0">
                <a:latin typeface="微软雅黑" panose="020B0503020204020204" charset="-122"/>
                <a:ea typeface="微软雅黑" panose="020B0503020204020204" charset="-122"/>
              </a:rPr>
              <a:t>不直接提供函数依赖检验 </a:t>
            </a:r>
            <a:endParaRPr lang="en-US" altLang="zh-CN" sz="1800" dirty="0">
              <a:latin typeface="微软雅黑" panose="020B0503020204020204" charset="-122"/>
              <a:ea typeface="微软雅黑" panose="020B0503020204020204" charset="-122"/>
            </a:endParaRPr>
          </a:p>
          <a:p>
            <a:pPr marL="800100" lvl="1" indent="-342900" eaLnBrk="1" hangingPunct="1">
              <a:lnSpc>
                <a:spcPct val="180000"/>
              </a:lnSpc>
              <a:buClr>
                <a:srgbClr val="FF3300"/>
              </a:buClr>
              <a:buSzPct val="125000"/>
              <a:buChar char="♠"/>
            </a:pPr>
            <a:r>
              <a:rPr lang="zh-CN" altLang="en-US" sz="1800" dirty="0">
                <a:latin typeface="微软雅黑" panose="020B0503020204020204" charset="-122"/>
                <a:ea typeface="微软雅黑" panose="020B0503020204020204" charset="-122"/>
              </a:rPr>
              <a:t>判定函数依赖需要代价</a:t>
            </a:r>
            <a:endParaRPr lang="en-US" altLang="zh-CN" sz="1800" dirty="0">
              <a:latin typeface="微软雅黑" panose="020B0503020204020204" charset="-122"/>
              <a:ea typeface="微软雅黑" panose="020B0503020204020204" charset="-122"/>
            </a:endParaRPr>
          </a:p>
          <a:p>
            <a:pPr marL="800100" lvl="1" indent="-342900" eaLnBrk="1" hangingPunct="1">
              <a:lnSpc>
                <a:spcPct val="180000"/>
              </a:lnSpc>
              <a:buClr>
                <a:srgbClr val="FF3300"/>
              </a:buClr>
              <a:buSzPct val="125000"/>
              <a:buChar char="♠"/>
            </a:pPr>
            <a:r>
              <a:rPr lang="zh-CN" altLang="en-US" sz="1800" dirty="0">
                <a:latin typeface="微软雅黑" panose="020B0503020204020204" charset="-122"/>
                <a:ea typeface="微软雅黑" panose="020B0503020204020204" charset="-122"/>
              </a:rPr>
              <a:t>通过分解表避免不合适的函数依赖</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3010"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6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Decomposing a Schema into BCNF</a:t>
            </a:r>
          </a:p>
        </p:txBody>
      </p:sp>
      <p:sp>
        <p:nvSpPr>
          <p:cNvPr id="39938" name="Rectangle 3"/>
          <p:cNvSpPr>
            <a:spLocks noGrp="1"/>
          </p:cNvSpPr>
          <p:nvPr>
            <p:ph idx="1"/>
          </p:nvPr>
        </p:nvSpPr>
        <p:spPr>
          <a:xfrm>
            <a:off x="133350" y="1068388"/>
            <a:ext cx="8820150" cy="5341937"/>
          </a:xfrm>
        </p:spPr>
        <p:txBody>
          <a:bodyPr wrap="square" lIns="91440" tIns="45720" rIns="91440" bIns="45720" anchor="t"/>
          <a:lstStyle/>
          <a:p>
            <a:pPr>
              <a:lnSpc>
                <a:spcPct val="90000"/>
              </a:lnSpc>
            </a:pPr>
            <a:r>
              <a:rPr lang="en-US" altLang="zh-CN" sz="2400" dirty="0">
                <a:solidFill>
                  <a:srgbClr val="0000FF"/>
                </a:solidFill>
              </a:rPr>
              <a:t>Suppose we have a schema </a:t>
            </a:r>
            <a:r>
              <a:rPr lang="en-US" altLang="zh-CN" sz="2400" i="1" dirty="0">
                <a:solidFill>
                  <a:srgbClr val="0000FF"/>
                </a:solidFill>
              </a:rPr>
              <a:t>R </a:t>
            </a:r>
            <a:r>
              <a:rPr lang="en-US" altLang="zh-CN" sz="2400" dirty="0">
                <a:solidFill>
                  <a:srgbClr val="0000FF"/>
                </a:solidFill>
              </a:rPr>
              <a:t>and a non-trivial dependency </a:t>
            </a:r>
            <a:r>
              <a:rPr lang="en-US" altLang="zh-CN" sz="2400" dirty="0">
                <a:solidFill>
                  <a:srgbClr val="0000FF"/>
                </a:solidFill>
                <a:sym typeface="Symbol" panose="05050102010706020507" charset="2"/>
              </a:rPr>
              <a:t></a:t>
            </a:r>
            <a:r>
              <a:rPr lang="en-US" altLang="zh-CN" sz="2400" dirty="0">
                <a:solidFill>
                  <a:srgbClr val="0000FF"/>
                </a:solidFill>
                <a:sym typeface="Greek Symbols" pitchFamily="18" charset="2"/>
              </a:rPr>
              <a:t> </a:t>
            </a:r>
            <a:r>
              <a:rPr lang="en-US" altLang="zh-CN" sz="2400" dirty="0">
                <a:solidFill>
                  <a:srgbClr val="0000FF"/>
                </a:solidFill>
                <a:sym typeface="Symbol" panose="05050102010706020507" charset="2"/>
              </a:rPr>
              <a:t></a:t>
            </a:r>
            <a:r>
              <a:rPr lang="en-US" altLang="zh-CN" sz="2400" i="1" dirty="0">
                <a:solidFill>
                  <a:srgbClr val="0000FF"/>
                </a:solidFill>
                <a:sym typeface="Symbol" panose="05050102010706020507" charset="2"/>
              </a:rPr>
              <a:t></a:t>
            </a:r>
            <a:r>
              <a:rPr lang="en-US" altLang="zh-CN" sz="2400" i="1" dirty="0">
                <a:solidFill>
                  <a:srgbClr val="0000FF"/>
                </a:solidFill>
                <a:sym typeface="Greek Symbols" pitchFamily="18" charset="2"/>
              </a:rPr>
              <a:t>  </a:t>
            </a:r>
            <a:r>
              <a:rPr lang="en-US" altLang="zh-CN" sz="2400" dirty="0">
                <a:solidFill>
                  <a:srgbClr val="0000FF"/>
                </a:solidFill>
              </a:rPr>
              <a:t>causes a violation of BCNF.</a:t>
            </a:r>
          </a:p>
          <a:p>
            <a:pPr>
              <a:lnSpc>
                <a:spcPct val="90000"/>
              </a:lnSpc>
              <a:buNone/>
            </a:pPr>
            <a:r>
              <a:rPr lang="en-US" altLang="zh-CN" sz="2400" dirty="0">
                <a:solidFill>
                  <a:srgbClr val="0000FF"/>
                </a:solidFill>
              </a:rPr>
              <a:t>	We decompose </a:t>
            </a:r>
            <a:r>
              <a:rPr lang="en-US" altLang="zh-CN" sz="2400" i="1" dirty="0">
                <a:solidFill>
                  <a:srgbClr val="0000FF"/>
                </a:solidFill>
              </a:rPr>
              <a:t>R</a:t>
            </a:r>
            <a:r>
              <a:rPr lang="en-US" altLang="zh-CN" sz="2400" dirty="0">
                <a:solidFill>
                  <a:srgbClr val="0000FF"/>
                </a:solidFill>
              </a:rPr>
              <a:t> into:</a:t>
            </a:r>
          </a:p>
          <a:p>
            <a:pPr lvl="1">
              <a:lnSpc>
                <a:spcPct val="90000"/>
              </a:lnSpc>
              <a:buSzPct val="200000"/>
              <a:buFont typeface="Times" charset="0"/>
              <a:buChar char="•"/>
            </a:pPr>
            <a:r>
              <a:rPr lang="en-US" altLang="zh-CN" sz="2400" dirty="0">
                <a:solidFill>
                  <a:srgbClr val="0000FF"/>
                </a:solidFill>
              </a:rPr>
              <a:t>(</a:t>
            </a:r>
            <a:r>
              <a:rPr lang="en-US" altLang="zh-CN" sz="2400" dirty="0">
                <a:solidFill>
                  <a:srgbClr val="0000FF"/>
                </a:solidFill>
                <a:sym typeface="Symbol" panose="05050102010706020507" charset="2"/>
              </a:rPr>
              <a:t></a:t>
            </a:r>
            <a:r>
              <a:rPr lang="en-US" altLang="zh-CN" sz="2400" dirty="0">
                <a:solidFill>
                  <a:srgbClr val="0000FF"/>
                </a:solidFill>
                <a:sym typeface="Greek Symbols" pitchFamily="18" charset="2"/>
              </a:rPr>
              <a:t> U </a:t>
            </a:r>
            <a:r>
              <a:rPr lang="en-US" altLang="zh-CN" sz="2400" dirty="0">
                <a:solidFill>
                  <a:srgbClr val="0000FF"/>
                </a:solidFill>
                <a:sym typeface="Symbol" panose="05050102010706020507" charset="2"/>
              </a:rPr>
              <a:t></a:t>
            </a:r>
            <a:r>
              <a:rPr lang="en-US" altLang="zh-CN" sz="2400" i="1" dirty="0">
                <a:solidFill>
                  <a:srgbClr val="0000FF"/>
                </a:solidFill>
                <a:sym typeface="Symbol" panose="05050102010706020507" charset="2"/>
              </a:rPr>
              <a:t> </a:t>
            </a:r>
            <a:r>
              <a:rPr lang="en-US" altLang="zh-CN" sz="2400" dirty="0">
                <a:solidFill>
                  <a:srgbClr val="0000FF"/>
                </a:solidFill>
                <a:sym typeface="Symbol" panose="05050102010706020507" charset="2"/>
              </a:rPr>
              <a:t>)</a:t>
            </a:r>
            <a:endParaRPr lang="en-US" altLang="zh-CN" sz="2400" dirty="0">
              <a:solidFill>
                <a:srgbClr val="0000FF"/>
              </a:solidFill>
            </a:endParaRPr>
          </a:p>
          <a:p>
            <a:pPr lvl="1">
              <a:lnSpc>
                <a:spcPct val="90000"/>
              </a:lnSpc>
              <a:buSzPct val="200000"/>
              <a:buFont typeface="Times" charset="0"/>
              <a:buChar char="•"/>
            </a:pPr>
            <a:r>
              <a:rPr lang="en-US" altLang="zh-CN" sz="2400" dirty="0">
                <a:solidFill>
                  <a:srgbClr val="0000FF"/>
                </a:solidFill>
              </a:rPr>
              <a:t>( </a:t>
            </a:r>
            <a:r>
              <a:rPr lang="en-US" altLang="zh-CN" sz="2400" i="1" dirty="0">
                <a:solidFill>
                  <a:srgbClr val="0000FF"/>
                </a:solidFill>
              </a:rPr>
              <a:t>R</a:t>
            </a:r>
            <a:r>
              <a:rPr lang="en-US" altLang="zh-CN" sz="2400" dirty="0">
                <a:solidFill>
                  <a:srgbClr val="0000FF"/>
                </a:solidFill>
              </a:rPr>
              <a:t> - ( </a:t>
            </a:r>
            <a:r>
              <a:rPr lang="en-US" altLang="zh-CN" sz="2400" i="1" dirty="0">
                <a:solidFill>
                  <a:srgbClr val="0000FF"/>
                </a:solidFill>
                <a:sym typeface="Symbol" panose="05050102010706020507" charset="2"/>
              </a:rPr>
              <a:t> - </a:t>
            </a:r>
            <a:r>
              <a:rPr lang="en-US" altLang="zh-CN" sz="2400" dirty="0">
                <a:solidFill>
                  <a:srgbClr val="0000FF"/>
                </a:solidFill>
                <a:sym typeface="Symbol" panose="05050102010706020507" charset="2"/>
              </a:rPr>
              <a:t> ) )</a:t>
            </a:r>
            <a:endParaRPr lang="en-US" altLang="zh-CN" sz="2400" dirty="0">
              <a:solidFill>
                <a:srgbClr val="0000FF"/>
              </a:solidFill>
            </a:endParaRPr>
          </a:p>
          <a:p>
            <a:pPr>
              <a:lnSpc>
                <a:spcPct val="90000"/>
              </a:lnSpc>
            </a:pPr>
            <a:r>
              <a:rPr lang="en-US" altLang="zh-CN" sz="2400" dirty="0"/>
              <a:t>In our example,</a:t>
            </a:r>
          </a:p>
          <a:p>
            <a:pPr>
              <a:lnSpc>
                <a:spcPct val="90000"/>
              </a:lnSpc>
            </a:pPr>
            <a:endParaRPr lang="en-US" altLang="zh-CN" sz="2400" dirty="0"/>
          </a:p>
          <a:p>
            <a:pPr>
              <a:lnSpc>
                <a:spcPct val="90000"/>
              </a:lnSpc>
            </a:pPr>
            <a:r>
              <a:rPr lang="en-US" altLang="zh-CN" sz="2400" dirty="0"/>
              <a:t> </a:t>
            </a:r>
          </a:p>
          <a:p>
            <a:pPr lvl="1">
              <a:lnSpc>
                <a:spcPct val="90000"/>
              </a:lnSpc>
            </a:pPr>
            <a:r>
              <a:rPr lang="en-US" altLang="zh-CN" sz="2400" dirty="0">
                <a:solidFill>
                  <a:schemeClr val="tx1"/>
                </a:solidFill>
                <a:sym typeface="Symbol" panose="05050102010706020507" charset="2"/>
              </a:rPr>
              <a:t> =</a:t>
            </a:r>
            <a:r>
              <a:rPr lang="en-US" altLang="zh-CN" sz="2400" dirty="0">
                <a:solidFill>
                  <a:srgbClr val="C00000"/>
                </a:solidFill>
                <a:sym typeface="Symbol" panose="05050102010706020507" charset="2"/>
              </a:rPr>
              <a:t> </a:t>
            </a:r>
            <a:r>
              <a:rPr lang="en-US" altLang="zh-CN" sz="2400" i="1" dirty="0" err="1">
                <a:solidFill>
                  <a:srgbClr val="C00000"/>
                </a:solidFill>
                <a:sym typeface="Symbol" panose="05050102010706020507" charset="2"/>
              </a:rPr>
              <a:t>dept_name</a:t>
            </a:r>
            <a:endParaRPr lang="en-US" altLang="zh-CN" sz="2400" dirty="0">
              <a:sym typeface="Symbol" panose="05050102010706020507" charset="2"/>
            </a:endParaRPr>
          </a:p>
          <a:p>
            <a:pPr lvl="1">
              <a:lnSpc>
                <a:spcPct val="90000"/>
              </a:lnSpc>
            </a:pPr>
            <a:r>
              <a:rPr lang="en-US" altLang="zh-CN" sz="2400" dirty="0">
                <a:sym typeface="Symbol" panose="05050102010706020507" charset="2"/>
              </a:rPr>
              <a:t> =</a:t>
            </a:r>
            <a:r>
              <a:rPr lang="en-US" altLang="zh-CN" sz="2400" i="1" dirty="0">
                <a:solidFill>
                  <a:srgbClr val="002060"/>
                </a:solidFill>
                <a:sym typeface="Symbol" panose="05050102010706020507" charset="2"/>
              </a:rPr>
              <a:t> building, budget </a:t>
            </a:r>
            <a:r>
              <a:rPr lang="en-US" altLang="zh-CN" sz="2400" dirty="0"/>
              <a:t>and </a:t>
            </a:r>
            <a:r>
              <a:rPr lang="en-US" altLang="zh-CN" sz="2400" i="1" dirty="0" err="1"/>
              <a:t>inst_dept</a:t>
            </a:r>
            <a:r>
              <a:rPr lang="en-US" altLang="zh-CN" sz="2400" dirty="0"/>
              <a:t> is replaced by</a:t>
            </a:r>
          </a:p>
          <a:p>
            <a:pPr lvl="2">
              <a:lnSpc>
                <a:spcPct val="90000"/>
              </a:lnSpc>
            </a:pPr>
            <a:r>
              <a:rPr lang="en-US" altLang="zh-CN" sz="2400" dirty="0"/>
              <a:t> (</a:t>
            </a:r>
            <a:r>
              <a:rPr lang="en-US" altLang="zh-CN" sz="2400" dirty="0">
                <a:sym typeface="Symbol" panose="05050102010706020507" charset="2"/>
              </a:rPr>
              <a:t></a:t>
            </a:r>
            <a:r>
              <a:rPr lang="en-US" altLang="zh-CN" sz="2400" dirty="0">
                <a:sym typeface="Greek Symbols" pitchFamily="18" charset="2"/>
              </a:rPr>
              <a:t> U </a:t>
            </a:r>
            <a:r>
              <a:rPr lang="en-US" altLang="zh-CN" sz="2400" dirty="0">
                <a:sym typeface="Symbol" panose="05050102010706020507" charset="2"/>
              </a:rPr>
              <a:t></a:t>
            </a:r>
            <a:r>
              <a:rPr lang="en-US" altLang="zh-CN" sz="2400" i="1" dirty="0">
                <a:sym typeface="Symbol" panose="05050102010706020507" charset="2"/>
              </a:rPr>
              <a:t> </a:t>
            </a:r>
            <a:r>
              <a:rPr lang="en-US" altLang="zh-CN" sz="2400" dirty="0">
                <a:sym typeface="Symbol" panose="05050102010706020507" charset="2"/>
              </a:rPr>
              <a:t>) = ( </a:t>
            </a:r>
            <a:r>
              <a:rPr lang="en-US" altLang="zh-CN" sz="2400" i="1" dirty="0" err="1">
                <a:solidFill>
                  <a:srgbClr val="C00000"/>
                </a:solidFill>
                <a:sym typeface="Symbol" panose="05050102010706020507" charset="2"/>
              </a:rPr>
              <a:t>dept_name</a:t>
            </a:r>
            <a:r>
              <a:rPr lang="en-US" altLang="zh-CN" sz="2400" i="1" dirty="0">
                <a:sym typeface="Symbol" panose="05050102010706020507" charset="2"/>
              </a:rPr>
              <a:t>, </a:t>
            </a:r>
            <a:r>
              <a:rPr lang="en-US" altLang="zh-CN" sz="2400" i="1" dirty="0">
                <a:solidFill>
                  <a:srgbClr val="002060"/>
                </a:solidFill>
                <a:sym typeface="Symbol" panose="05050102010706020507" charset="2"/>
              </a:rPr>
              <a:t>building, budget</a:t>
            </a:r>
            <a:r>
              <a:rPr lang="en-US" altLang="zh-CN" sz="2400" dirty="0">
                <a:sym typeface="Symbol" panose="05050102010706020507" charset="2"/>
              </a:rPr>
              <a:t> )</a:t>
            </a:r>
          </a:p>
          <a:p>
            <a:pPr lvl="2">
              <a:lnSpc>
                <a:spcPct val="90000"/>
              </a:lnSpc>
            </a:pPr>
            <a:r>
              <a:rPr lang="en-US" altLang="zh-CN" sz="2400" dirty="0"/>
              <a:t>( </a:t>
            </a:r>
            <a:r>
              <a:rPr lang="en-US" altLang="zh-CN" sz="2400" i="1" dirty="0"/>
              <a:t>R</a:t>
            </a:r>
            <a:r>
              <a:rPr lang="en-US" altLang="zh-CN" sz="2400" dirty="0"/>
              <a:t> - ( </a:t>
            </a:r>
            <a:r>
              <a:rPr lang="en-US" altLang="zh-CN" sz="2400" i="1" dirty="0">
                <a:sym typeface="Symbol" panose="05050102010706020507" charset="2"/>
              </a:rPr>
              <a:t> - </a:t>
            </a:r>
            <a:r>
              <a:rPr lang="en-US" altLang="zh-CN" sz="2400" dirty="0">
                <a:sym typeface="Symbol" panose="05050102010706020507" charset="2"/>
              </a:rPr>
              <a:t> ) ) = ( </a:t>
            </a:r>
            <a:r>
              <a:rPr lang="en-US" altLang="zh-CN" sz="2400" i="1" dirty="0">
                <a:sym typeface="Symbol" panose="05050102010706020507" charset="2"/>
              </a:rPr>
              <a:t>ID, name, salary, </a:t>
            </a:r>
            <a:r>
              <a:rPr lang="en-US" altLang="zh-CN" sz="2400" i="1" dirty="0" err="1">
                <a:solidFill>
                  <a:srgbClr val="C00000"/>
                </a:solidFill>
                <a:sym typeface="Symbol" panose="05050102010706020507" charset="2"/>
              </a:rPr>
              <a:t>dept_name</a:t>
            </a:r>
            <a:r>
              <a:rPr lang="en-US" altLang="zh-CN" sz="2400" dirty="0">
                <a:sym typeface="Symbol" panose="05050102010706020507" charset="2"/>
              </a:rPr>
              <a:t> )</a:t>
            </a:r>
          </a:p>
        </p:txBody>
      </p:sp>
      <p:pic>
        <p:nvPicPr>
          <p:cNvPr id="39939" name="Picture 5" descr="8"/>
          <p:cNvPicPr>
            <a:picLocks noChangeAspect="1"/>
          </p:cNvPicPr>
          <p:nvPr/>
        </p:nvPicPr>
        <p:blipFill>
          <a:blip r:embed="rId3"/>
          <a:srcRect b="80083"/>
          <a:stretch>
            <a:fillRect/>
          </a:stretch>
        </p:blipFill>
        <p:spPr>
          <a:xfrm>
            <a:off x="3355975" y="2919413"/>
            <a:ext cx="5788025" cy="692150"/>
          </a:xfrm>
          <a:prstGeom prst="rect">
            <a:avLst/>
          </a:prstGeom>
          <a:noFill/>
          <a:ln w="9525">
            <a:noFill/>
          </a:ln>
        </p:spPr>
      </p:pic>
      <p:sp>
        <p:nvSpPr>
          <p:cNvPr id="2" name="文本框 1"/>
          <p:cNvSpPr txBox="1"/>
          <p:nvPr/>
        </p:nvSpPr>
        <p:spPr>
          <a:xfrm>
            <a:off x="768350" y="3952876"/>
            <a:ext cx="3835023" cy="400110"/>
          </a:xfrm>
          <a:prstGeom prst="rect">
            <a:avLst/>
          </a:prstGeom>
          <a:noFill/>
        </p:spPr>
        <p:txBody>
          <a:bodyPr wrap="square" rtlCol="0">
            <a:spAutoFit/>
          </a:bodyPr>
          <a:lstStyle/>
          <a:p>
            <a:pPr eaLnBrk="0" hangingPunct="0">
              <a:spcBef>
                <a:spcPct val="35000"/>
              </a:spcBef>
              <a:buClr>
                <a:schemeClr val="tx2"/>
              </a:buClr>
            </a:pPr>
            <a:r>
              <a:rPr lang="en-US" altLang="zh-CN" sz="2000" i="1" dirty="0" err="1">
                <a:solidFill>
                  <a:srgbClr val="C00000"/>
                </a:solidFill>
                <a:sym typeface="Symbol" panose="05050102010706020507" charset="2"/>
              </a:rPr>
              <a:t>dept_name</a:t>
            </a:r>
            <a:r>
              <a:rPr kumimoji="1" lang="en-US" altLang="zh-CN" sz="2000" kern="0" noProof="1">
                <a:solidFill>
                  <a:srgbClr val="0070C0"/>
                </a:solidFill>
                <a:latin typeface="Arial" panose="020B0604020202020204"/>
                <a:cs typeface="Arial" panose="020B0604020202020204"/>
                <a:sym typeface="Symbol" panose="05050102010706020507" charset="2"/>
              </a:rPr>
              <a:t></a:t>
            </a:r>
            <a:r>
              <a:rPr kumimoji="1" lang="en-US" altLang="zh-CN" sz="2000" kern="0" noProof="1">
                <a:solidFill>
                  <a:srgbClr val="0070C0"/>
                </a:solidFill>
                <a:latin typeface="Arial" panose="020B0604020202020204"/>
                <a:cs typeface="Arial" panose="020B0604020202020204"/>
                <a:sym typeface="Monotype Sorts" charset="2"/>
              </a:rPr>
              <a:t> </a:t>
            </a:r>
            <a:r>
              <a:rPr lang="en-US" altLang="zh-CN" sz="2000" i="1" dirty="0">
                <a:solidFill>
                  <a:srgbClr val="002060"/>
                </a:solidFill>
                <a:sym typeface="Symbol" panose="05050102010706020507" charset="2"/>
              </a:rPr>
              <a:t>building, budget </a:t>
            </a: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058"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BCNF and Dependency Preservation</a:t>
            </a:r>
          </a:p>
        </p:txBody>
      </p:sp>
      <p:sp>
        <p:nvSpPr>
          <p:cNvPr id="41986" name="Rectangle 3"/>
          <p:cNvSpPr>
            <a:spLocks noGrp="1"/>
          </p:cNvSpPr>
          <p:nvPr>
            <p:ph idx="1"/>
          </p:nvPr>
        </p:nvSpPr>
        <p:spPr>
          <a:xfrm>
            <a:off x="95250" y="1094105"/>
            <a:ext cx="8870950" cy="5334635"/>
          </a:xfrm>
        </p:spPr>
        <p:txBody>
          <a:bodyPr wrap="square" lIns="91440" tIns="45720" rIns="91440" bIns="45720" anchor="t"/>
          <a:lstStyle/>
          <a:p>
            <a:r>
              <a:rPr lang="zh-CN" altLang="en-US" sz="2400"/>
              <a:t>表达数据库一致性约束的方式：</a:t>
            </a:r>
          </a:p>
          <a:p>
            <a:pPr lvl="1"/>
            <a:r>
              <a:rPr lang="en-US" altLang="zh-CN" sz="2400"/>
              <a:t>PK</a:t>
            </a:r>
            <a:r>
              <a:rPr lang="zh-CN" altLang="en-US" sz="2400"/>
              <a:t>、</a:t>
            </a:r>
            <a:r>
              <a:rPr lang="en-US" altLang="zh-CN" sz="2400"/>
              <a:t>FD</a:t>
            </a:r>
            <a:r>
              <a:rPr lang="zh-CN" altLang="en-US" sz="2400"/>
              <a:t>、</a:t>
            </a:r>
            <a:r>
              <a:rPr lang="en-US" altLang="zh-CN" sz="2400"/>
              <a:t>Check</a:t>
            </a:r>
            <a:r>
              <a:rPr lang="zh-CN" altLang="en-US" sz="2400"/>
              <a:t>、</a:t>
            </a:r>
            <a:r>
              <a:rPr lang="en-US" altLang="zh-CN" sz="2400"/>
              <a:t>Assertion</a:t>
            </a:r>
            <a:r>
              <a:rPr lang="zh-CN" altLang="en-US" sz="2400"/>
              <a:t>、</a:t>
            </a:r>
            <a:r>
              <a:rPr lang="en-US" altLang="zh-CN" sz="2400"/>
              <a:t>Triger</a:t>
            </a:r>
          </a:p>
          <a:p>
            <a:r>
              <a:rPr lang="en-US" altLang="zh-CN" sz="2400"/>
              <a:t>Constraints, including functional dependencies, are costly to check in practice </a:t>
            </a:r>
            <a:r>
              <a:rPr lang="en-US" altLang="zh-CN" sz="2400">
                <a:solidFill>
                  <a:srgbClr val="C00000"/>
                </a:solidFill>
              </a:rPr>
              <a:t>unless they pertain to only one relation</a:t>
            </a:r>
          </a:p>
          <a:p>
            <a:r>
              <a:rPr lang="en-US" altLang="zh-CN" sz="2400"/>
              <a:t>If it is sufficient to test only those dependencies on each individual relation of a decomposition in order to ensure that </a:t>
            </a:r>
            <a:r>
              <a:rPr lang="en-US" altLang="zh-CN" sz="2400" i="1"/>
              <a:t>all</a:t>
            </a:r>
            <a:r>
              <a:rPr lang="en-US" altLang="zh-CN" sz="2400"/>
              <a:t> functional dependencies hold, then that decomposition is </a:t>
            </a:r>
            <a:r>
              <a:rPr lang="en-US" altLang="zh-CN" sz="2400" i="1"/>
              <a:t>dependency preserving.</a:t>
            </a:r>
          </a:p>
          <a:p>
            <a:pPr lvl="1"/>
            <a:r>
              <a:rPr kumimoji="0" lang="zh-CN" altLang="en-US" sz="2400" kern="1200" noProof="0">
                <a:ln>
                  <a:noFill/>
                </a:ln>
                <a:effectLst/>
                <a:uLnTx/>
                <a:uFillTx/>
                <a:latin typeface="Times New Roman" panose="02020603050405020304" charset="0"/>
                <a:ea typeface="宋体" panose="02010600030101010101" pitchFamily="2" charset="-122"/>
                <a:cs typeface="+mn-cs"/>
                <a:sym typeface="+mn-ea"/>
              </a:rPr>
              <a:t>若每次分解都恰好是一个函数依赖，则分解保持依赖</a:t>
            </a:r>
            <a:endParaRPr lang="en-US" altLang="zh-CN" sz="2400"/>
          </a:p>
          <a:p>
            <a:r>
              <a:rPr lang="en-US" altLang="zh-CN" sz="2400">
                <a:solidFill>
                  <a:srgbClr val="0000FF"/>
                </a:solidFill>
              </a:rPr>
              <a:t>Because it is not always possible to achieve both BCNF and dependency preservation, we consider a weaker normal form, known as</a:t>
            </a:r>
            <a:r>
              <a:rPr lang="en-US" altLang="zh-CN" sz="2400">
                <a:solidFill>
                  <a:srgbClr val="FF0000"/>
                </a:solidFill>
              </a:rPr>
              <a:t> </a:t>
            </a:r>
            <a:r>
              <a:rPr lang="en-US" altLang="zh-CN" sz="2400" i="1">
                <a:solidFill>
                  <a:srgbClr val="FF0000"/>
                </a:solidFill>
              </a:rPr>
              <a:t>third normal form</a:t>
            </a:r>
            <a:r>
              <a:rPr lang="en-US" altLang="zh-CN" sz="2400" i="1">
                <a:solidFill>
                  <a:srgbClr val="0000FF"/>
                </a:solidFill>
              </a:rPr>
              <a:t>.</a:t>
            </a:r>
            <a:endParaRPr lang="en-US" altLang="zh-CN" sz="2400">
              <a:solidFill>
                <a:srgbClr val="0000FF"/>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7106"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Third Normal Form</a:t>
            </a:r>
          </a:p>
        </p:txBody>
      </p:sp>
      <p:sp>
        <p:nvSpPr>
          <p:cNvPr id="44034" name="Rectangle 3"/>
          <p:cNvSpPr>
            <a:spLocks noGrp="1"/>
          </p:cNvSpPr>
          <p:nvPr>
            <p:ph idx="1"/>
          </p:nvPr>
        </p:nvSpPr>
        <p:spPr>
          <a:xfrm>
            <a:off x="57150" y="904875"/>
            <a:ext cx="9048750" cy="5427663"/>
          </a:xfrm>
        </p:spPr>
        <p:txBody>
          <a:bodyPr wrap="square" lIns="91440" tIns="45720" rIns="91440" bIns="45720" anchor="t"/>
          <a:lstStyle/>
          <a:p>
            <a:pPr defTabSz="914400">
              <a:tabLst>
                <a:tab pos="2738755" algn="l"/>
              </a:tabLst>
            </a:pPr>
            <a:r>
              <a:rPr lang="en-US" altLang="zh-CN" sz="2400" dirty="0"/>
              <a:t>A relation schema </a:t>
            </a:r>
            <a:r>
              <a:rPr lang="en-US" altLang="zh-CN" sz="2400" i="1" dirty="0"/>
              <a:t>R</a:t>
            </a:r>
            <a:r>
              <a:rPr lang="en-US" altLang="zh-CN" sz="2400" dirty="0"/>
              <a:t> is in </a:t>
            </a:r>
            <a:r>
              <a:rPr lang="en-US" altLang="zh-CN" sz="2400" b="1" dirty="0">
                <a:solidFill>
                  <a:srgbClr val="000099"/>
                </a:solidFill>
              </a:rPr>
              <a:t>third normal form</a:t>
            </a:r>
            <a:r>
              <a:rPr lang="en-US" altLang="zh-CN" sz="2400" b="1" dirty="0"/>
              <a:t> (</a:t>
            </a:r>
            <a:r>
              <a:rPr lang="en-US" altLang="zh-CN" sz="2400" b="1" dirty="0">
                <a:solidFill>
                  <a:srgbClr val="000099"/>
                </a:solidFill>
              </a:rPr>
              <a:t>3NF</a:t>
            </a:r>
            <a:r>
              <a:rPr lang="en-US" altLang="zh-CN" sz="2400" b="1" dirty="0"/>
              <a:t>)</a:t>
            </a:r>
            <a:r>
              <a:rPr lang="en-US" altLang="zh-CN" sz="2400" dirty="0"/>
              <a:t> if for all:</a:t>
            </a:r>
          </a:p>
          <a:p>
            <a:pPr defTabSz="914400">
              <a:buNone/>
              <a:tabLst>
                <a:tab pos="2738755" algn="l"/>
              </a:tabLst>
            </a:pPr>
            <a:r>
              <a:rPr lang="en-US" altLang="zh-CN" sz="2400" dirty="0"/>
              <a:t>		</a:t>
            </a:r>
            <a:r>
              <a:rPr lang="en-US" altLang="zh-CN" sz="2400" dirty="0">
                <a:sym typeface="Symbol" panose="05050102010706020507" charset="2"/>
              </a:rPr>
              <a:t></a:t>
            </a:r>
            <a:r>
              <a:rPr lang="en-US" altLang="zh-CN" sz="2400" dirty="0">
                <a:sym typeface="Greek Symbols" pitchFamily="18" charset="2"/>
              </a:rPr>
              <a:t> </a:t>
            </a:r>
            <a:r>
              <a:rPr lang="en-US" altLang="zh-CN" sz="2400" dirty="0">
                <a:sym typeface="Symbol" panose="05050102010706020507" charset="2"/>
              </a:rPr>
              <a:t></a:t>
            </a:r>
            <a:r>
              <a:rPr lang="en-US" altLang="zh-CN" sz="2400" dirty="0">
                <a:sym typeface="Monotype Sorts" charset="2"/>
              </a:rPr>
              <a:t> </a:t>
            </a:r>
            <a:r>
              <a:rPr lang="en-US" altLang="zh-CN" sz="2400" i="1" dirty="0">
                <a:sym typeface="Symbol" panose="05050102010706020507" charset="2"/>
              </a:rPr>
              <a:t>  </a:t>
            </a:r>
            <a:r>
              <a:rPr lang="en-US" altLang="zh-CN" sz="2400" dirty="0">
                <a:sym typeface="Monotype Sorts" charset="2"/>
              </a:rPr>
              <a:t> in </a:t>
            </a:r>
            <a:r>
              <a:rPr lang="en-US" altLang="zh-CN" sz="2400" i="1" dirty="0">
                <a:sym typeface="Monotype Sorts" charset="2"/>
              </a:rPr>
              <a:t>F</a:t>
            </a:r>
            <a:r>
              <a:rPr lang="en-US" altLang="zh-CN" sz="2400" baseline="30000" dirty="0">
                <a:sym typeface="Monotype Sorts" charset="2"/>
              </a:rPr>
              <a:t>+</a:t>
            </a:r>
            <a:br>
              <a:rPr lang="en-US" altLang="zh-CN" sz="2400" dirty="0">
                <a:sym typeface="Monotype Sorts" charset="2"/>
              </a:rPr>
            </a:br>
            <a:r>
              <a:rPr lang="en-US" altLang="zh-CN" sz="2400" dirty="0">
                <a:sym typeface="Monotype Sorts" charset="2"/>
              </a:rPr>
              <a:t>at least one of the following holds:</a:t>
            </a:r>
          </a:p>
          <a:p>
            <a:pPr lvl="1" defTabSz="914400">
              <a:tabLst>
                <a:tab pos="2738755" algn="l"/>
              </a:tabLst>
            </a:pPr>
            <a:r>
              <a:rPr lang="en-US" altLang="zh-CN" sz="2400" dirty="0">
                <a:sym typeface="Symbol" panose="05050102010706020507" charset="2"/>
              </a:rPr>
              <a:t></a:t>
            </a:r>
            <a:r>
              <a:rPr lang="en-US" altLang="zh-CN" sz="2400" dirty="0">
                <a:sym typeface="Greek Symbols" pitchFamily="18" charset="2"/>
              </a:rPr>
              <a:t> </a:t>
            </a:r>
            <a:r>
              <a:rPr lang="en-US" altLang="zh-CN" sz="2400" dirty="0">
                <a:sym typeface="Symbol" panose="05050102010706020507" charset="2"/>
              </a:rPr>
              <a:t></a:t>
            </a:r>
            <a:r>
              <a:rPr lang="en-US" altLang="zh-CN" sz="2400" dirty="0">
                <a:sym typeface="Monotype Sorts" charset="2"/>
              </a:rPr>
              <a:t> </a:t>
            </a:r>
            <a:r>
              <a:rPr lang="en-US" altLang="zh-CN" sz="2400" i="1" dirty="0">
                <a:sym typeface="Symbol" panose="05050102010706020507" charset="2"/>
              </a:rPr>
              <a:t></a:t>
            </a:r>
            <a:r>
              <a:rPr lang="en-US" altLang="zh-CN" sz="2400" i="1" dirty="0">
                <a:sym typeface="Greek Symbols" pitchFamily="18" charset="2"/>
              </a:rPr>
              <a:t> </a:t>
            </a:r>
            <a:r>
              <a:rPr lang="en-US" altLang="zh-CN" sz="2400" dirty="0">
                <a:sym typeface="Greek Symbols" pitchFamily="18" charset="2"/>
              </a:rPr>
              <a:t>is trivial (i.e., </a:t>
            </a:r>
            <a:r>
              <a:rPr lang="en-US" altLang="zh-CN" sz="2400" i="1" dirty="0">
                <a:sym typeface="Symbol" panose="05050102010706020507" charset="2"/>
              </a:rPr>
              <a:t></a:t>
            </a:r>
            <a:r>
              <a:rPr lang="en-US" altLang="zh-CN" sz="2400" i="1" dirty="0">
                <a:sym typeface="Greek Symbols" pitchFamily="18" charset="2"/>
              </a:rPr>
              <a:t> </a:t>
            </a:r>
            <a:r>
              <a:rPr lang="en-US" altLang="zh-CN" sz="2400" dirty="0">
                <a:sym typeface="Symbol" panose="05050102010706020507" charset="2"/>
              </a:rPr>
              <a:t> </a:t>
            </a:r>
            <a:r>
              <a:rPr lang="en-US" altLang="zh-CN" sz="2400" dirty="0">
                <a:sym typeface="Greek Symbols" pitchFamily="18" charset="2"/>
              </a:rPr>
              <a:t>)</a:t>
            </a:r>
          </a:p>
          <a:p>
            <a:pPr lvl="1" defTabSz="914400">
              <a:tabLst>
                <a:tab pos="2738755" algn="l"/>
              </a:tabLst>
            </a:pPr>
            <a:r>
              <a:rPr lang="en-US" altLang="zh-CN" sz="2400" dirty="0">
                <a:sym typeface="Symbol" panose="05050102010706020507" charset="2"/>
              </a:rPr>
              <a:t></a:t>
            </a:r>
            <a:r>
              <a:rPr lang="en-US" altLang="zh-CN" sz="2400" dirty="0">
                <a:sym typeface="Greek Symbols" pitchFamily="18" charset="2"/>
              </a:rPr>
              <a:t> is a </a:t>
            </a:r>
            <a:r>
              <a:rPr lang="en-US" altLang="zh-CN" sz="2400" dirty="0" err="1">
                <a:sym typeface="Greek Symbols" pitchFamily="18" charset="2"/>
              </a:rPr>
              <a:t>superkey</a:t>
            </a:r>
            <a:r>
              <a:rPr lang="en-US" altLang="zh-CN" sz="2400" dirty="0">
                <a:sym typeface="Greek Symbols" pitchFamily="18" charset="2"/>
              </a:rPr>
              <a:t> for </a:t>
            </a:r>
            <a:r>
              <a:rPr lang="en-US" altLang="zh-CN" sz="2400" i="1" dirty="0">
                <a:sym typeface="Greek Symbols" pitchFamily="18" charset="2"/>
              </a:rPr>
              <a:t>R</a:t>
            </a:r>
            <a:endParaRPr lang="en-US" altLang="zh-CN" sz="2400" dirty="0">
              <a:sym typeface="Greek Symbols" pitchFamily="18" charset="2"/>
            </a:endParaRPr>
          </a:p>
          <a:p>
            <a:pPr lvl="1" defTabSz="914400">
              <a:tabLst>
                <a:tab pos="2738755" algn="l"/>
              </a:tabLst>
            </a:pPr>
            <a:r>
              <a:rPr lang="en-US" altLang="zh-CN" sz="2400" i="1" u="sng" dirty="0">
                <a:solidFill>
                  <a:srgbClr val="0000FF"/>
                </a:solidFill>
                <a:sym typeface="Greek Symbols" pitchFamily="18" charset="2"/>
              </a:rPr>
              <a:t>Each attribute A in </a:t>
            </a:r>
            <a:r>
              <a:rPr lang="en-US" altLang="zh-CN" sz="2400" i="1" u="sng" dirty="0">
                <a:solidFill>
                  <a:srgbClr val="0000FF"/>
                </a:solidFill>
                <a:sym typeface="Symbol" panose="05050102010706020507" charset="2"/>
              </a:rPr>
              <a:t></a:t>
            </a:r>
            <a:r>
              <a:rPr lang="en-US" altLang="zh-CN" sz="2400" i="1" u="sng" dirty="0">
                <a:solidFill>
                  <a:srgbClr val="0000FF"/>
                </a:solidFill>
                <a:sym typeface="Greek Symbols" pitchFamily="18" charset="2"/>
              </a:rPr>
              <a:t>–</a:t>
            </a:r>
            <a:r>
              <a:rPr lang="en-US" altLang="zh-CN" sz="2400" i="1" u="sng" dirty="0">
                <a:solidFill>
                  <a:srgbClr val="0000FF"/>
                </a:solidFill>
                <a:sym typeface="Symbol" panose="05050102010706020507" charset="2"/>
              </a:rPr>
              <a:t></a:t>
            </a:r>
            <a:r>
              <a:rPr lang="en-US" altLang="zh-CN" sz="2400" i="1" u="sng" dirty="0">
                <a:solidFill>
                  <a:srgbClr val="0000FF"/>
                </a:solidFill>
                <a:sym typeface="Greek Symbols" pitchFamily="18" charset="2"/>
              </a:rPr>
              <a:t> is contained in a candidate key for R</a:t>
            </a:r>
          </a:p>
          <a:p>
            <a:pPr lvl="2" defTabSz="914400">
              <a:tabLst>
                <a:tab pos="2738755" algn="l"/>
              </a:tabLst>
            </a:pPr>
            <a:r>
              <a:rPr lang="en-US" altLang="zh-CN" sz="2400" i="1" dirty="0">
                <a:sym typeface="Greek Symbols" pitchFamily="18" charset="2"/>
              </a:rPr>
              <a:t> </a:t>
            </a:r>
            <a:r>
              <a:rPr lang="en-US" altLang="zh-CN" sz="2400" b="1" dirty="0">
                <a:solidFill>
                  <a:schemeClr val="tx2"/>
                </a:solidFill>
                <a:sym typeface="Greek Symbols" pitchFamily="18" charset="2"/>
              </a:rPr>
              <a:t>NOTE</a:t>
            </a:r>
            <a:r>
              <a:rPr lang="en-US" altLang="zh-CN" sz="2400" i="1" dirty="0">
                <a:solidFill>
                  <a:schemeClr val="tx2"/>
                </a:solidFill>
                <a:sym typeface="Greek Symbols" pitchFamily="18" charset="2"/>
              </a:rPr>
              <a:t>: </a:t>
            </a:r>
            <a:r>
              <a:rPr lang="en-US" altLang="zh-CN" sz="2400" dirty="0">
                <a:solidFill>
                  <a:schemeClr val="tx2"/>
                </a:solidFill>
                <a:sym typeface="Greek Symbols" pitchFamily="18" charset="2"/>
              </a:rPr>
              <a:t>each attribute may be in a different candidate key</a:t>
            </a:r>
            <a:endParaRPr lang="en-US" altLang="zh-CN" sz="2400" i="1" dirty="0">
              <a:solidFill>
                <a:schemeClr val="tx2"/>
              </a:solidFill>
              <a:sym typeface="Greek Symbols" pitchFamily="18" charset="2"/>
            </a:endParaRPr>
          </a:p>
          <a:p>
            <a:pPr defTabSz="914400">
              <a:tabLst>
                <a:tab pos="2738755" algn="l"/>
              </a:tabLst>
            </a:pPr>
            <a:r>
              <a:rPr lang="en-US" altLang="zh-CN" sz="2400" dirty="0">
                <a:sym typeface="Greek Symbols" pitchFamily="18" charset="2"/>
              </a:rPr>
              <a:t>If a relation </a:t>
            </a:r>
            <a:r>
              <a:rPr lang="en-US" altLang="zh-CN" sz="2400" dirty="0">
                <a:solidFill>
                  <a:srgbClr val="000099"/>
                </a:solidFill>
                <a:sym typeface="Greek Symbols" pitchFamily="18" charset="2"/>
              </a:rPr>
              <a:t>is in BCNF it is in 3NF </a:t>
            </a:r>
            <a:r>
              <a:rPr lang="en-US" altLang="zh-CN" sz="2400" dirty="0">
                <a:sym typeface="Greek Symbols" pitchFamily="18" charset="2"/>
              </a:rPr>
              <a:t>(since in BCNF one of the first two conditions above must hold).</a:t>
            </a:r>
          </a:p>
          <a:p>
            <a:pPr defTabSz="914400">
              <a:tabLst>
                <a:tab pos="2738755" algn="l"/>
              </a:tabLst>
            </a:pPr>
            <a:r>
              <a:rPr lang="en-US" altLang="zh-CN" sz="2400" dirty="0"/>
              <a:t>Third condition is a minimal relaxation of BCNF to</a:t>
            </a:r>
            <a:r>
              <a:rPr lang="en-US" altLang="zh-CN" sz="2400" dirty="0">
                <a:solidFill>
                  <a:srgbClr val="FF0000"/>
                </a:solidFill>
              </a:rPr>
              <a:t> ensure dependency preservation</a:t>
            </a:r>
            <a:r>
              <a:rPr lang="en-US" altLang="zh-CN" sz="2400" dirty="0"/>
              <a:t> (will see why later).</a:t>
            </a:r>
          </a:p>
          <a:p>
            <a:pPr defTabSz="914400">
              <a:tabLst>
                <a:tab pos="2738755" algn="l"/>
              </a:tabLst>
            </a:pPr>
            <a:endParaRPr lang="zh-CN" altLang="en-US" sz="2400" dirty="0">
              <a:sym typeface="Greek Symbols" pitchFamily="18" charset="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154" name="Rectangle 2"/>
          <p:cNvSpPr>
            <a:spLocks noGrp="1" noChangeArrowheads="1"/>
          </p:cNvSpPr>
          <p:nvPr>
            <p:ph type="title"/>
          </p:nvPr>
        </p:nvSpPr>
        <p:spPr>
          <a:xfrm>
            <a:off x="1317625" y="184150"/>
            <a:ext cx="6969125" cy="500063"/>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Goals of Normalization</a:t>
            </a:r>
          </a:p>
        </p:txBody>
      </p:sp>
      <p:sp>
        <p:nvSpPr>
          <p:cNvPr id="46082" name="Rectangle 3"/>
          <p:cNvSpPr>
            <a:spLocks noGrp="1"/>
          </p:cNvSpPr>
          <p:nvPr>
            <p:ph idx="1"/>
          </p:nvPr>
        </p:nvSpPr>
        <p:spPr>
          <a:xfrm>
            <a:off x="188913" y="1093788"/>
            <a:ext cx="8777287" cy="4556125"/>
          </a:xfrm>
        </p:spPr>
        <p:txBody>
          <a:bodyPr wrap="square" lIns="91440" tIns="45720" rIns="91440" bIns="45720" anchor="t"/>
          <a:lstStyle/>
          <a:p>
            <a:r>
              <a:rPr lang="en-US" altLang="zh-CN" sz="2400" dirty="0"/>
              <a:t>Let </a:t>
            </a:r>
            <a:r>
              <a:rPr lang="en-US" altLang="zh-CN" sz="2400" i="1" dirty="0"/>
              <a:t>R</a:t>
            </a:r>
            <a:r>
              <a:rPr lang="en-US" altLang="zh-CN" sz="2400" dirty="0"/>
              <a:t> be a relation scheme with a set</a:t>
            </a:r>
            <a:r>
              <a:rPr lang="en-US" altLang="zh-CN" sz="2400" i="1" dirty="0"/>
              <a:t> F</a:t>
            </a:r>
            <a:r>
              <a:rPr lang="en-US" altLang="zh-CN" sz="2400" dirty="0"/>
              <a:t> of functional dependencies.</a:t>
            </a:r>
          </a:p>
          <a:p>
            <a:r>
              <a:rPr lang="en-US" altLang="zh-CN" sz="2400" dirty="0"/>
              <a:t>Decide whether a relation scheme </a:t>
            </a:r>
            <a:r>
              <a:rPr lang="en-US" altLang="zh-CN" sz="2400" i="1" dirty="0"/>
              <a:t>R</a:t>
            </a:r>
            <a:r>
              <a:rPr lang="en-US" altLang="zh-CN" sz="2400" dirty="0"/>
              <a:t> is in </a:t>
            </a:r>
            <a:r>
              <a:rPr lang="zh-CN" altLang="en-US" sz="2400" dirty="0"/>
              <a:t>“</a:t>
            </a:r>
            <a:r>
              <a:rPr lang="en-US" altLang="zh-CN" sz="2400" dirty="0"/>
              <a:t>good</a:t>
            </a:r>
            <a:r>
              <a:rPr lang="zh-CN" altLang="en-US" sz="2400" dirty="0"/>
              <a:t>”</a:t>
            </a:r>
            <a:r>
              <a:rPr lang="en-US" altLang="zh-CN" sz="2400" dirty="0"/>
              <a:t> form.</a:t>
            </a:r>
          </a:p>
          <a:p>
            <a:r>
              <a:rPr lang="en-US" altLang="zh-CN" sz="2400" dirty="0"/>
              <a:t>In the case that a relation scheme </a:t>
            </a:r>
            <a:r>
              <a:rPr lang="en-US" altLang="zh-CN" sz="2400" i="1" dirty="0"/>
              <a:t>R</a:t>
            </a:r>
            <a:r>
              <a:rPr lang="en-US" altLang="zh-CN" sz="2400" dirty="0"/>
              <a:t> is not in </a:t>
            </a:r>
            <a:r>
              <a:rPr lang="zh-CN" altLang="en-US" sz="2400" dirty="0"/>
              <a:t>“</a:t>
            </a:r>
            <a:r>
              <a:rPr lang="en-US" altLang="zh-CN" sz="2400" dirty="0"/>
              <a:t>good</a:t>
            </a:r>
            <a:r>
              <a:rPr lang="zh-CN" altLang="en-US" sz="2400" dirty="0"/>
              <a:t>”</a:t>
            </a:r>
            <a:r>
              <a:rPr lang="en-US" altLang="zh-CN" sz="2400" dirty="0"/>
              <a:t> form, decompose it into a set of relation scheme  {</a:t>
            </a:r>
            <a:r>
              <a:rPr lang="en-US" altLang="zh-CN" sz="2400" i="1" dirty="0"/>
              <a:t>R</a:t>
            </a:r>
            <a:r>
              <a:rPr lang="en-US" altLang="zh-CN" sz="2400" baseline="-25000" dirty="0"/>
              <a:t>1</a:t>
            </a:r>
            <a:r>
              <a:rPr lang="en-US" altLang="zh-CN" sz="2400" i="1" dirty="0"/>
              <a:t>, R</a:t>
            </a:r>
            <a:r>
              <a:rPr lang="en-US" altLang="zh-CN" sz="2400" baseline="-25000" dirty="0"/>
              <a:t>2</a:t>
            </a:r>
            <a:r>
              <a:rPr lang="en-US" altLang="zh-CN" sz="2400" i="1" dirty="0"/>
              <a:t>, ..., R</a:t>
            </a:r>
            <a:r>
              <a:rPr lang="en-US" altLang="zh-CN" sz="2400" i="1" baseline="-25000" dirty="0"/>
              <a:t>n</a:t>
            </a:r>
            <a:r>
              <a:rPr lang="en-US" altLang="zh-CN" sz="2400" dirty="0"/>
              <a:t>} such that </a:t>
            </a:r>
          </a:p>
          <a:p>
            <a:pPr lvl="1"/>
            <a:r>
              <a:rPr lang="en-US" altLang="zh-CN" sz="2400" dirty="0"/>
              <a:t>each relation scheme is in good form </a:t>
            </a:r>
          </a:p>
          <a:p>
            <a:pPr lvl="1"/>
            <a:r>
              <a:rPr lang="en-US" altLang="zh-CN" sz="2400" i="1" u="sng" dirty="0">
                <a:solidFill>
                  <a:srgbClr val="0000FF"/>
                </a:solidFill>
              </a:rPr>
              <a:t>the decomposition is </a:t>
            </a:r>
            <a:r>
              <a:rPr lang="en-US" altLang="zh-CN" sz="2400" i="1" u="sng" dirty="0">
                <a:solidFill>
                  <a:srgbClr val="C00000"/>
                </a:solidFill>
              </a:rPr>
              <a:t>a lossless-join decomposition</a:t>
            </a:r>
          </a:p>
          <a:p>
            <a:pPr lvl="1"/>
            <a:r>
              <a:rPr lang="en-US" altLang="zh-CN" sz="2400" i="1" u="sng" dirty="0">
                <a:solidFill>
                  <a:srgbClr val="0000FF"/>
                </a:solidFill>
              </a:rPr>
              <a:t>Preferably, the decomposition should be </a:t>
            </a:r>
            <a:r>
              <a:rPr lang="en-US" altLang="zh-CN" sz="2400" i="1" u="sng" dirty="0">
                <a:solidFill>
                  <a:srgbClr val="C00000"/>
                </a:solidFill>
              </a:rPr>
              <a:t>dependency preserving</a:t>
            </a:r>
            <a:r>
              <a:rPr lang="en-US" altLang="zh-CN" sz="2400" i="1" u="sng" dirty="0">
                <a:solidFill>
                  <a:srgbClr val="0000FF"/>
                </a:solidFill>
              </a:rPr>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1202" name="Rectangle 2"/>
          <p:cNvSpPr>
            <a:spLocks noGrp="1" noChangeArrowheads="1"/>
          </p:cNvSpPr>
          <p:nvPr>
            <p:ph type="title"/>
          </p:nvPr>
        </p:nvSpPr>
        <p:spPr>
          <a:xfrm>
            <a:off x="1422400" y="152400"/>
            <a:ext cx="7124700" cy="6350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How good is BCNF?</a:t>
            </a:r>
          </a:p>
        </p:txBody>
      </p:sp>
      <p:sp>
        <p:nvSpPr>
          <p:cNvPr id="48130" name="Rectangle 3"/>
          <p:cNvSpPr>
            <a:spLocks noGrp="1"/>
          </p:cNvSpPr>
          <p:nvPr>
            <p:ph idx="1"/>
          </p:nvPr>
        </p:nvSpPr>
        <p:spPr>
          <a:xfrm>
            <a:off x="152400" y="1093788"/>
            <a:ext cx="8832850" cy="3152775"/>
          </a:xfrm>
        </p:spPr>
        <p:txBody>
          <a:bodyPr wrap="square" lIns="91440" tIns="45720" rIns="91440" bIns="45720" anchor="t"/>
          <a:lstStyle/>
          <a:p>
            <a:pPr defTabSz="914400">
              <a:tabLst>
                <a:tab pos="2976880" algn="ctr"/>
              </a:tabLst>
            </a:pPr>
            <a:r>
              <a:rPr lang="en-US" altLang="zh-CN" sz="2400" dirty="0"/>
              <a:t>There are database schemas in BCNF that do not seem to be sufficiently normalized </a:t>
            </a:r>
          </a:p>
          <a:p>
            <a:pPr defTabSz="914400">
              <a:tabLst>
                <a:tab pos="2976880" algn="ctr"/>
              </a:tabLst>
            </a:pPr>
            <a:r>
              <a:rPr lang="en-US" altLang="zh-CN" sz="2400" dirty="0"/>
              <a:t>Consider a relation </a:t>
            </a:r>
          </a:p>
          <a:p>
            <a:pPr defTabSz="914400">
              <a:buNone/>
              <a:tabLst>
                <a:tab pos="2976880" algn="ctr"/>
              </a:tabLst>
            </a:pPr>
            <a:r>
              <a:rPr lang="en-US" altLang="zh-CN" sz="2400" dirty="0"/>
              <a:t>		</a:t>
            </a:r>
            <a:r>
              <a:rPr lang="en-US" altLang="zh-CN" sz="2400" i="1" dirty="0" err="1"/>
              <a:t>inst_info</a:t>
            </a:r>
            <a:r>
              <a:rPr lang="en-US" altLang="zh-CN" sz="2400" i="1" dirty="0"/>
              <a:t> (ID, </a:t>
            </a:r>
            <a:r>
              <a:rPr lang="en-US" altLang="zh-CN" sz="2400" i="1" dirty="0" err="1"/>
              <a:t>child_name</a:t>
            </a:r>
            <a:r>
              <a:rPr lang="en-US" altLang="zh-CN" sz="2400" i="1" dirty="0"/>
              <a:t>, phone)</a:t>
            </a:r>
          </a:p>
          <a:p>
            <a:pPr lvl="1" defTabSz="914400">
              <a:tabLst>
                <a:tab pos="2976880" algn="ctr"/>
              </a:tabLst>
            </a:pPr>
            <a:r>
              <a:rPr lang="en-US" altLang="zh-CN" sz="2400" i="1" u="sng" dirty="0">
                <a:solidFill>
                  <a:srgbClr val="0000FF"/>
                </a:solidFill>
              </a:rPr>
              <a:t>where an instructor may have more than one phone and can have multiple children</a:t>
            </a:r>
          </a:p>
          <a:p>
            <a:pPr defTabSz="914400">
              <a:buNone/>
              <a:tabLst>
                <a:tab pos="2976880" algn="ctr"/>
              </a:tabLst>
            </a:pPr>
            <a:endParaRPr lang="en-US" altLang="zh-CN" sz="2400" dirty="0"/>
          </a:p>
          <a:p>
            <a:pPr defTabSz="914400">
              <a:buNone/>
              <a:tabLst>
                <a:tab pos="2976880" algn="ctr"/>
              </a:tabLst>
            </a:pPr>
            <a:endParaRPr lang="zh-CN" altLang="en-US" sz="2400" dirty="0"/>
          </a:p>
        </p:txBody>
      </p:sp>
      <p:grpSp>
        <p:nvGrpSpPr>
          <p:cNvPr id="48131" name="组 1"/>
          <p:cNvGrpSpPr/>
          <p:nvPr/>
        </p:nvGrpSpPr>
        <p:grpSpPr>
          <a:xfrm>
            <a:off x="1371600" y="4024313"/>
            <a:ext cx="6400800" cy="2211387"/>
            <a:chOff x="1371600" y="3494088"/>
            <a:chExt cx="6400800" cy="2210263"/>
          </a:xfrm>
        </p:grpSpPr>
        <p:sp>
          <p:nvSpPr>
            <p:cNvPr id="691204" name="Rectangle 4"/>
            <p:cNvSpPr>
              <a:spLocks noChangeArrowheads="1"/>
            </p:cNvSpPr>
            <p:nvPr/>
          </p:nvSpPr>
          <p:spPr bwMode="auto">
            <a:xfrm>
              <a:off x="1371600" y="3494088"/>
              <a:ext cx="2133600" cy="304800"/>
            </a:xfrm>
            <a:prstGeom prst="rect">
              <a:avLst/>
            </a:prstGeom>
            <a:solidFill>
              <a:schemeClr val="accent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ID</a:t>
              </a:r>
            </a:p>
          </p:txBody>
        </p:sp>
        <p:sp>
          <p:nvSpPr>
            <p:cNvPr id="691205" name="Rectangle 5"/>
            <p:cNvSpPr>
              <a:spLocks noChangeArrowheads="1"/>
            </p:cNvSpPr>
            <p:nvPr/>
          </p:nvSpPr>
          <p:spPr bwMode="auto">
            <a:xfrm>
              <a:off x="3505200" y="3494088"/>
              <a:ext cx="2133600" cy="304800"/>
            </a:xfrm>
            <a:prstGeom prst="rect">
              <a:avLst/>
            </a:prstGeom>
            <a:solidFill>
              <a:schemeClr val="accent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child_name</a:t>
              </a:r>
            </a:p>
          </p:txBody>
        </p:sp>
        <p:sp>
          <p:nvSpPr>
            <p:cNvPr id="691206" name="Rectangle 6"/>
            <p:cNvSpPr>
              <a:spLocks noChangeArrowheads="1"/>
            </p:cNvSpPr>
            <p:nvPr/>
          </p:nvSpPr>
          <p:spPr bwMode="auto">
            <a:xfrm>
              <a:off x="5638800" y="3494088"/>
              <a:ext cx="2133600" cy="304800"/>
            </a:xfrm>
            <a:prstGeom prst="rect">
              <a:avLst/>
            </a:prstGeom>
            <a:solidFill>
              <a:schemeClr val="accent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phone</a:t>
              </a:r>
            </a:p>
          </p:txBody>
        </p:sp>
        <p:sp>
          <p:nvSpPr>
            <p:cNvPr id="691207" name="Rectangle 7"/>
            <p:cNvSpPr>
              <a:spLocks noChangeArrowheads="1"/>
            </p:cNvSpPr>
            <p:nvPr/>
          </p:nvSpPr>
          <p:spPr bwMode="auto">
            <a:xfrm>
              <a:off x="1371600" y="3875088"/>
              <a:ext cx="2133600" cy="1312862"/>
            </a:xfrm>
            <a:prstGeom prst="rect">
              <a:avLst/>
            </a:prstGeom>
            <a:solidFill>
              <a:schemeClr val="accent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99999</a:t>
              </a:r>
            </a:p>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99999</a:t>
              </a:r>
            </a:p>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99999</a:t>
              </a:r>
            </a:p>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99999</a:t>
              </a:r>
            </a:p>
          </p:txBody>
        </p:sp>
        <p:sp>
          <p:nvSpPr>
            <p:cNvPr id="691208" name="Rectangle 8"/>
            <p:cNvSpPr>
              <a:spLocks noChangeArrowheads="1"/>
            </p:cNvSpPr>
            <p:nvPr/>
          </p:nvSpPr>
          <p:spPr bwMode="auto">
            <a:xfrm>
              <a:off x="3505200" y="3875088"/>
              <a:ext cx="2133600" cy="1311275"/>
            </a:xfrm>
            <a:prstGeom prst="rect">
              <a:avLst/>
            </a:prstGeom>
            <a:solidFill>
              <a:schemeClr val="accent1"/>
            </a:soli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David</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David</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William</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Willian</a:t>
              </a:r>
            </a:p>
          </p:txBody>
        </p:sp>
        <p:sp>
          <p:nvSpPr>
            <p:cNvPr id="48137" name="Rectangle 9"/>
            <p:cNvSpPr/>
            <p:nvPr/>
          </p:nvSpPr>
          <p:spPr>
            <a:xfrm>
              <a:off x="5638800" y="3875088"/>
              <a:ext cx="2133600" cy="131127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algn="ctr" eaLnBrk="0" hangingPunct="0"/>
              <a:r>
                <a:rPr lang="en-US" altLang="zh-CN" dirty="0">
                  <a:latin typeface="Arial" panose="020B0604020202020204" pitchFamily="34" charset="0"/>
                </a:rPr>
                <a:t>512-555-1234</a:t>
              </a:r>
            </a:p>
            <a:p>
              <a:pPr algn="ctr" eaLnBrk="0" hangingPunct="0"/>
              <a:r>
                <a:rPr lang="en-US" altLang="zh-CN" dirty="0">
                  <a:latin typeface="Arial" panose="020B0604020202020204" pitchFamily="34" charset="0"/>
                </a:rPr>
                <a:t>512-555-4321</a:t>
              </a:r>
            </a:p>
            <a:p>
              <a:pPr algn="ctr" eaLnBrk="0" hangingPunct="0"/>
              <a:r>
                <a:rPr lang="en-US" altLang="zh-CN" dirty="0">
                  <a:latin typeface="Arial" panose="020B0604020202020204" pitchFamily="34" charset="0"/>
                </a:rPr>
                <a:t>512-555-1234</a:t>
              </a:r>
            </a:p>
            <a:p>
              <a:pPr algn="ctr" eaLnBrk="0" hangingPunct="0"/>
              <a:r>
                <a:rPr lang="en-US" altLang="zh-CN" dirty="0">
                  <a:latin typeface="Arial" panose="020B0604020202020204" pitchFamily="34" charset="0"/>
                </a:rPr>
                <a:t>512-555-4321</a:t>
              </a:r>
              <a:endParaRPr lang="zh-CN" altLang="en-US" sz="1800" dirty="0">
                <a:latin typeface="Arial" panose="020B0604020202020204" pitchFamily="34" charset="0"/>
                <a:ea typeface="Arial" panose="020B0604020202020204" pitchFamily="34" charset="0"/>
              </a:endParaRPr>
            </a:p>
          </p:txBody>
        </p:sp>
        <p:sp>
          <p:nvSpPr>
            <p:cNvPr id="48138" name="Text Box 10"/>
            <p:cNvSpPr txBox="1"/>
            <p:nvPr/>
          </p:nvSpPr>
          <p:spPr>
            <a:xfrm>
              <a:off x="3971290" y="5335019"/>
              <a:ext cx="1098831" cy="369332"/>
            </a:xfrm>
            <a:prstGeom prst="rect">
              <a:avLst/>
            </a:prstGeom>
            <a:noFill/>
            <a:ln w="9525">
              <a:noFill/>
            </a:ln>
          </p:spPr>
          <p:txBody>
            <a:bodyPr wrap="none" anchor="t">
              <a:spAutoFit/>
            </a:bodyPr>
            <a:lstStyle/>
            <a:p>
              <a:pPr eaLnBrk="0" hangingPunct="0"/>
              <a:r>
                <a:rPr lang="en-US" altLang="zh-CN" sz="1800" i="1">
                  <a:latin typeface="Arial" panose="020B0604020202020204"/>
                </a:rPr>
                <a:t>inst_info</a:t>
              </a: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p:cNvSpPr>
            <a:spLocks noGrp="1"/>
          </p:cNvSpPr>
          <p:nvPr>
            <p:ph idx="1"/>
          </p:nvPr>
        </p:nvSpPr>
        <p:spPr>
          <a:xfrm>
            <a:off x="76200" y="963613"/>
            <a:ext cx="8870950" cy="5405437"/>
          </a:xfrm>
        </p:spPr>
        <p:txBody>
          <a:bodyPr wrap="square" lIns="91440" tIns="45720" rIns="91440" bIns="45720" anchor="t"/>
          <a:lstStyle/>
          <a:p>
            <a:pPr defTabSz="914400">
              <a:tabLst>
                <a:tab pos="1993900" algn="l"/>
              </a:tabLst>
            </a:pPr>
            <a:r>
              <a:rPr lang="en-US" altLang="zh-CN" sz="2400" i="1" u="sng" dirty="0"/>
              <a:t>There are no non-trivial functional dependencies and therefore the relation is in BCNF </a:t>
            </a:r>
          </a:p>
          <a:p>
            <a:pPr defTabSz="914400">
              <a:tabLst>
                <a:tab pos="1993900" algn="l"/>
              </a:tabLst>
            </a:pPr>
            <a:r>
              <a:rPr lang="en-US" altLang="zh-CN" sz="2400" dirty="0"/>
              <a:t>Insertion anomalies – i.e., </a:t>
            </a:r>
          </a:p>
          <a:p>
            <a:pPr lvl="1">
              <a:tabLst>
                <a:tab pos="1993900" algn="l"/>
              </a:tabLst>
            </a:pPr>
            <a:r>
              <a:rPr lang="en-US" altLang="zh-CN" sz="2400" dirty="0"/>
              <a:t>if we add a phone 981-992-3443 to 99999, we need to add two tuples</a:t>
            </a:r>
          </a:p>
          <a:p>
            <a:pPr defTabSz="914400">
              <a:buNone/>
              <a:tabLst>
                <a:tab pos="1993900" algn="l"/>
              </a:tabLst>
            </a:pPr>
            <a:r>
              <a:rPr lang="en-US" altLang="zh-CN" sz="2400" dirty="0"/>
              <a:t>		(99999, David,   981-992-3443)</a:t>
            </a:r>
            <a:br>
              <a:rPr lang="en-US" altLang="zh-CN" sz="2400" dirty="0"/>
            </a:br>
            <a:r>
              <a:rPr lang="en-US" altLang="zh-CN" sz="2400" dirty="0"/>
              <a:t>	(99999, William, 981-992-3443)</a:t>
            </a:r>
            <a:br>
              <a:rPr lang="en-US" altLang="zh-CN" sz="2400" dirty="0"/>
            </a:br>
            <a:endParaRPr lang="en-US" altLang="zh-CN" sz="2400" dirty="0"/>
          </a:p>
        </p:txBody>
      </p:sp>
      <p:sp>
        <p:nvSpPr>
          <p:cNvPr id="693258" name="Rectangle 10"/>
          <p:cNvSpPr>
            <a:spLocks noGrp="1" noChangeArrowheads="1"/>
          </p:cNvSpPr>
          <p:nvPr>
            <p:ph type="title"/>
          </p:nvPr>
        </p:nvSpPr>
        <p:spPr>
          <a:xfrm>
            <a:off x="996950" y="117475"/>
            <a:ext cx="71628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How good is BCNF? (Cont.)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p:cNvSpPr>
          <p:nvPr>
            <p:ph idx="1"/>
          </p:nvPr>
        </p:nvSpPr>
        <p:spPr>
          <a:xfrm>
            <a:off x="246063" y="960438"/>
            <a:ext cx="8113712" cy="533400"/>
          </a:xfrm>
        </p:spPr>
        <p:txBody>
          <a:bodyPr wrap="square" lIns="91440" tIns="45720" rIns="91440" bIns="45720" anchor="t"/>
          <a:lstStyle/>
          <a:p>
            <a:r>
              <a:rPr lang="en-US" altLang="zh-CN" sz="2400"/>
              <a:t>Therefore, it is better to decompose </a:t>
            </a:r>
            <a:r>
              <a:rPr lang="en-US" altLang="zh-CN" sz="2400" i="1" err="1"/>
              <a:t>inst_info</a:t>
            </a:r>
            <a:r>
              <a:rPr lang="en-US" altLang="zh-CN" sz="2400" i="1"/>
              <a:t> </a:t>
            </a:r>
            <a:r>
              <a:rPr lang="en-US" altLang="zh-CN" sz="2400"/>
              <a:t>into:</a:t>
            </a:r>
          </a:p>
        </p:txBody>
      </p:sp>
      <p:sp>
        <p:nvSpPr>
          <p:cNvPr id="695309" name="Rectangle 13"/>
          <p:cNvSpPr>
            <a:spLocks noChangeArrowheads="1"/>
          </p:cNvSpPr>
          <p:nvPr/>
        </p:nvSpPr>
        <p:spPr bwMode="auto">
          <a:xfrm>
            <a:off x="133350" y="5446713"/>
            <a:ext cx="8851900" cy="790575"/>
          </a:xfrm>
          <a:prstGeom prst="rect">
            <a:avLst/>
          </a:prstGeom>
          <a:noFill/>
          <a:ln>
            <a:noFill/>
          </a:ln>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defRPr/>
            </a:pPr>
            <a:r>
              <a:rPr kumimoji="1" lang="en-US" altLang="zh-CN" sz="2400" b="0" i="0" u="none" strike="noStrike" kern="1200" cap="none" spc="0" normalizeH="0" baseline="0" noProof="0" dirty="0">
                <a:ln>
                  <a:noFill/>
                </a:ln>
                <a:solidFill>
                  <a:schemeClr val="tx1"/>
                </a:solidFill>
                <a:effectLst/>
                <a:uLnTx/>
                <a:uFillTx/>
                <a:latin typeface="Arial" panose="020B0604020202020204"/>
                <a:ea typeface="+mn-ea"/>
                <a:cs typeface="Arial" panose="020B0604020202020204"/>
                <a:sym typeface="+mn-ea"/>
              </a:rPr>
              <a:t>This suggests the need for higher normal forms, such as </a:t>
            </a:r>
            <a:r>
              <a:rPr kumimoji="1" lang="en-US" altLang="zh-CN" sz="2400" b="0" i="0" u="none" strike="noStrike" kern="1200" cap="none" spc="0" normalizeH="0" baseline="0" noProof="0" dirty="0">
                <a:ln>
                  <a:noFill/>
                </a:ln>
                <a:solidFill>
                  <a:schemeClr val="tx2"/>
                </a:solidFill>
                <a:effectLst/>
                <a:uLnTx/>
                <a:uFillTx/>
                <a:latin typeface="Arial" panose="020B0604020202020204"/>
                <a:ea typeface="+mn-ea"/>
                <a:cs typeface="Arial" panose="020B0604020202020204"/>
                <a:sym typeface="+mn-ea"/>
              </a:rPr>
              <a:t>Fourth Normal Form (4NF)</a:t>
            </a:r>
            <a:r>
              <a:rPr kumimoji="1" lang="en-US" altLang="zh-CN" sz="2400" b="0" i="0" u="none" strike="noStrike" kern="1200" cap="none" spc="0" normalizeH="0" baseline="0" noProof="0" dirty="0">
                <a:ln>
                  <a:noFill/>
                </a:ln>
                <a:solidFill>
                  <a:schemeClr val="tx1"/>
                </a:solidFill>
                <a:effectLst/>
                <a:uLnTx/>
                <a:uFillTx/>
                <a:latin typeface="Arial" panose="020B0604020202020204"/>
                <a:ea typeface="+mn-ea"/>
                <a:cs typeface="Arial" panose="020B0604020202020204"/>
                <a:sym typeface="+mn-ea"/>
              </a:rPr>
              <a:t>, which we shall see later.</a:t>
            </a:r>
          </a:p>
        </p:txBody>
      </p:sp>
      <p:sp>
        <p:nvSpPr>
          <p:cNvPr id="695310" name="Rectangle 14"/>
          <p:cNvSpPr>
            <a:spLocks noGrp="1" noChangeArrowheads="1"/>
          </p:cNvSpPr>
          <p:nvPr>
            <p:ph type="title"/>
          </p:nvPr>
        </p:nvSpPr>
        <p:spPr>
          <a:xfrm>
            <a:off x="1638300" y="119063"/>
            <a:ext cx="7124700" cy="576263"/>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6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How good is BCNF? (Cont.)</a:t>
            </a:r>
          </a:p>
        </p:txBody>
      </p:sp>
      <p:grpSp>
        <p:nvGrpSpPr>
          <p:cNvPr id="52228" name="组 2"/>
          <p:cNvGrpSpPr/>
          <p:nvPr/>
        </p:nvGrpSpPr>
        <p:grpSpPr>
          <a:xfrm>
            <a:off x="947738" y="1693863"/>
            <a:ext cx="6048375" cy="1693862"/>
            <a:chOff x="701675" y="1827213"/>
            <a:chExt cx="6048375" cy="1693862"/>
          </a:xfrm>
        </p:grpSpPr>
        <p:sp>
          <p:nvSpPr>
            <p:cNvPr id="695318" name="Rectangle 22"/>
            <p:cNvSpPr>
              <a:spLocks noChangeArrowheads="1"/>
            </p:cNvSpPr>
            <p:nvPr/>
          </p:nvSpPr>
          <p:spPr bwMode="auto">
            <a:xfrm>
              <a:off x="2482850" y="1827213"/>
              <a:ext cx="2133600" cy="304800"/>
            </a:xfrm>
            <a:prstGeom prst="rect">
              <a:avLst/>
            </a:prstGeom>
            <a:solidFill>
              <a:schemeClr val="accent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ID</a:t>
              </a:r>
            </a:p>
          </p:txBody>
        </p:sp>
        <p:sp>
          <p:nvSpPr>
            <p:cNvPr id="695319" name="Rectangle 23"/>
            <p:cNvSpPr>
              <a:spLocks noChangeArrowheads="1"/>
            </p:cNvSpPr>
            <p:nvPr/>
          </p:nvSpPr>
          <p:spPr bwMode="auto">
            <a:xfrm>
              <a:off x="4616450" y="1827213"/>
              <a:ext cx="2133600" cy="304800"/>
            </a:xfrm>
            <a:prstGeom prst="rect">
              <a:avLst/>
            </a:prstGeom>
            <a:solidFill>
              <a:schemeClr val="accent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child_name</a:t>
              </a:r>
            </a:p>
          </p:txBody>
        </p:sp>
        <p:sp>
          <p:nvSpPr>
            <p:cNvPr id="695321" name="Rectangle 25"/>
            <p:cNvSpPr>
              <a:spLocks noChangeArrowheads="1"/>
            </p:cNvSpPr>
            <p:nvPr/>
          </p:nvSpPr>
          <p:spPr bwMode="auto">
            <a:xfrm>
              <a:off x="2482850" y="2208213"/>
              <a:ext cx="2133600" cy="1312862"/>
            </a:xfrm>
            <a:prstGeom prst="rect">
              <a:avLst/>
            </a:prstGeom>
            <a:solidFill>
              <a:schemeClr val="accent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99999</a:t>
              </a:r>
            </a:p>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99999</a:t>
              </a:r>
            </a:p>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99999</a:t>
              </a:r>
            </a:p>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99999</a:t>
              </a:r>
            </a:p>
          </p:txBody>
        </p:sp>
        <p:sp>
          <p:nvSpPr>
            <p:cNvPr id="695322" name="Rectangle 26"/>
            <p:cNvSpPr>
              <a:spLocks noChangeArrowheads="1"/>
            </p:cNvSpPr>
            <p:nvPr/>
          </p:nvSpPr>
          <p:spPr bwMode="auto">
            <a:xfrm>
              <a:off x="4616450" y="2208213"/>
              <a:ext cx="2133600" cy="1311275"/>
            </a:xfrm>
            <a:prstGeom prst="rect">
              <a:avLst/>
            </a:prstGeom>
            <a:solidFill>
              <a:schemeClr val="accent1"/>
            </a:soli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David</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David</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William</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Willian</a:t>
              </a:r>
            </a:p>
          </p:txBody>
        </p:sp>
        <p:sp>
          <p:nvSpPr>
            <p:cNvPr id="52233" name="Text Box 28"/>
            <p:cNvSpPr txBox="1"/>
            <p:nvPr/>
          </p:nvSpPr>
          <p:spPr>
            <a:xfrm>
              <a:off x="701675" y="2278063"/>
              <a:ext cx="1201399" cy="369332"/>
            </a:xfrm>
            <a:prstGeom prst="rect">
              <a:avLst/>
            </a:prstGeom>
            <a:noFill/>
            <a:ln w="9525">
              <a:noFill/>
            </a:ln>
          </p:spPr>
          <p:txBody>
            <a:bodyPr wrap="none" anchor="t">
              <a:spAutoFit/>
            </a:bodyPr>
            <a:lstStyle/>
            <a:p>
              <a:pPr eaLnBrk="0" hangingPunct="0"/>
              <a:r>
                <a:rPr lang="en-US" altLang="zh-CN" sz="1800" i="1">
                  <a:latin typeface="Arial" panose="020B0604020202020204"/>
                </a:rPr>
                <a:t>inst_child</a:t>
              </a:r>
            </a:p>
          </p:txBody>
        </p:sp>
      </p:grpSp>
      <p:grpSp>
        <p:nvGrpSpPr>
          <p:cNvPr id="52234" name="组 3"/>
          <p:cNvGrpSpPr/>
          <p:nvPr/>
        </p:nvGrpSpPr>
        <p:grpSpPr>
          <a:xfrm>
            <a:off x="876300" y="3552825"/>
            <a:ext cx="6118225" cy="1693863"/>
            <a:chOff x="668338" y="3989388"/>
            <a:chExt cx="6118225" cy="1693862"/>
          </a:xfrm>
        </p:grpSpPr>
        <p:sp>
          <p:nvSpPr>
            <p:cNvPr id="695325" name="Rectangle 29"/>
            <p:cNvSpPr>
              <a:spLocks noChangeArrowheads="1"/>
            </p:cNvSpPr>
            <p:nvPr/>
          </p:nvSpPr>
          <p:spPr bwMode="auto">
            <a:xfrm>
              <a:off x="2528888" y="3989388"/>
              <a:ext cx="2133600" cy="304800"/>
            </a:xfrm>
            <a:prstGeom prst="rect">
              <a:avLst/>
            </a:prstGeom>
            <a:solidFill>
              <a:schemeClr val="accent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ID</a:t>
              </a:r>
            </a:p>
          </p:txBody>
        </p:sp>
        <p:sp>
          <p:nvSpPr>
            <p:cNvPr id="695327" name="Rectangle 31"/>
            <p:cNvSpPr>
              <a:spLocks noChangeArrowheads="1"/>
            </p:cNvSpPr>
            <p:nvPr/>
          </p:nvSpPr>
          <p:spPr bwMode="auto">
            <a:xfrm>
              <a:off x="4652963" y="3989388"/>
              <a:ext cx="2133600" cy="304800"/>
            </a:xfrm>
            <a:prstGeom prst="rect">
              <a:avLst/>
            </a:prstGeom>
            <a:solidFill>
              <a:schemeClr val="accent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phone</a:t>
              </a:r>
            </a:p>
          </p:txBody>
        </p:sp>
        <p:sp>
          <p:nvSpPr>
            <p:cNvPr id="695328" name="Rectangle 32"/>
            <p:cNvSpPr>
              <a:spLocks noChangeArrowheads="1"/>
            </p:cNvSpPr>
            <p:nvPr/>
          </p:nvSpPr>
          <p:spPr bwMode="auto">
            <a:xfrm>
              <a:off x="2528888" y="4370388"/>
              <a:ext cx="2133600" cy="1312862"/>
            </a:xfrm>
            <a:prstGeom prst="rect">
              <a:avLst/>
            </a:prstGeom>
            <a:solidFill>
              <a:schemeClr val="accent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99999</a:t>
              </a:r>
            </a:p>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99999</a:t>
              </a:r>
            </a:p>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99999</a:t>
              </a:r>
            </a:p>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99999</a:t>
              </a:r>
            </a:p>
          </p:txBody>
        </p:sp>
        <p:sp>
          <p:nvSpPr>
            <p:cNvPr id="52238" name="Rectangle 34"/>
            <p:cNvSpPr/>
            <p:nvPr/>
          </p:nvSpPr>
          <p:spPr>
            <a:xfrm>
              <a:off x="4652963" y="4370388"/>
              <a:ext cx="2133600" cy="131127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algn="ctr" eaLnBrk="0" hangingPunct="0"/>
              <a:r>
                <a:rPr lang="en-US" altLang="zh-CN" dirty="0">
                  <a:latin typeface="Arial" panose="020B0604020202020204" pitchFamily="34" charset="0"/>
                </a:rPr>
                <a:t>512-555-1234</a:t>
              </a:r>
            </a:p>
            <a:p>
              <a:pPr algn="ctr" eaLnBrk="0" hangingPunct="0"/>
              <a:r>
                <a:rPr lang="en-US" altLang="zh-CN" dirty="0">
                  <a:latin typeface="Arial" panose="020B0604020202020204" pitchFamily="34" charset="0"/>
                </a:rPr>
                <a:t>512-555-4321</a:t>
              </a:r>
            </a:p>
            <a:p>
              <a:pPr algn="ctr" eaLnBrk="0" hangingPunct="0"/>
              <a:r>
                <a:rPr lang="en-US" altLang="zh-CN" dirty="0">
                  <a:latin typeface="Arial" panose="020B0604020202020204" pitchFamily="34" charset="0"/>
                </a:rPr>
                <a:t>512-555-1234</a:t>
              </a:r>
            </a:p>
            <a:p>
              <a:pPr algn="ctr" eaLnBrk="0" hangingPunct="0"/>
              <a:r>
                <a:rPr lang="en-US" altLang="zh-CN" dirty="0">
                  <a:latin typeface="Arial" panose="020B0604020202020204" pitchFamily="34" charset="0"/>
                </a:rPr>
                <a:t>512-555-4321</a:t>
              </a:r>
              <a:endParaRPr lang="zh-CN" altLang="en-US" sz="1800" dirty="0">
                <a:latin typeface="Arial" panose="020B0604020202020204" pitchFamily="34" charset="0"/>
                <a:ea typeface="Arial" panose="020B0604020202020204" pitchFamily="34" charset="0"/>
              </a:endParaRPr>
            </a:p>
          </p:txBody>
        </p:sp>
        <p:sp>
          <p:nvSpPr>
            <p:cNvPr id="52239" name="Text Box 35"/>
            <p:cNvSpPr txBox="1"/>
            <p:nvPr/>
          </p:nvSpPr>
          <p:spPr>
            <a:xfrm>
              <a:off x="668338" y="4484688"/>
              <a:ext cx="1368549" cy="369332"/>
            </a:xfrm>
            <a:prstGeom prst="rect">
              <a:avLst/>
            </a:prstGeom>
            <a:noFill/>
            <a:ln w="9525">
              <a:noFill/>
            </a:ln>
          </p:spPr>
          <p:txBody>
            <a:bodyPr wrap="none" anchor="t">
              <a:spAutoFit/>
            </a:bodyPr>
            <a:lstStyle/>
            <a:p>
              <a:pPr eaLnBrk="0" hangingPunct="0"/>
              <a:r>
                <a:rPr lang="en-US" altLang="zh-CN" sz="1800" i="1">
                  <a:latin typeface="Arial" panose="020B0604020202020204"/>
                </a:rPr>
                <a:t>inst_phone</a:t>
              </a: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1422400" y="152400"/>
            <a:ext cx="7124700" cy="635000"/>
          </a:xfrm>
        </p:spPr>
        <p:txBody>
          <a:bodyPr vert="horz" wrap="square" lIns="91440" tIns="45720" rIns="91440" bIns="45720" numCol="1" anchor="b" anchorCtr="0" compatLnSpc="1"/>
          <a:lstStyle/>
          <a:p>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How good is BCNF?</a:t>
            </a:r>
            <a:r>
              <a:rPr lang="en-US" altLang="zh-CN" noProof="1">
                <a:effectLst>
                  <a:outerShdw blurRad="38100" dist="38100" dir="2700000">
                    <a:srgbClr val="C0C0C0"/>
                  </a:outerShdw>
                </a:effectLst>
              </a:rPr>
              <a:t> (Cont.)</a:t>
            </a:r>
            <a:endPar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54274" name="Rectangle 3"/>
          <p:cNvSpPr>
            <a:spLocks noGrp="1"/>
          </p:cNvSpPr>
          <p:nvPr>
            <p:ph idx="1"/>
          </p:nvPr>
        </p:nvSpPr>
        <p:spPr>
          <a:xfrm>
            <a:off x="207963" y="1093788"/>
            <a:ext cx="8796337" cy="4903787"/>
          </a:xfrm>
        </p:spPr>
        <p:txBody>
          <a:bodyPr wrap="square" lIns="91440" tIns="45720" rIns="91440" bIns="45720" anchor="t"/>
          <a:lstStyle/>
          <a:p>
            <a:pPr defTabSz="914400">
              <a:tabLst>
                <a:tab pos="2976880" algn="ctr"/>
              </a:tabLst>
            </a:pPr>
            <a:r>
              <a:rPr lang="en-US" altLang="zh-CN" sz="2400" dirty="0"/>
              <a:t>Consider a database </a:t>
            </a:r>
          </a:p>
          <a:p>
            <a:pPr defTabSz="914400">
              <a:buNone/>
              <a:tabLst>
                <a:tab pos="2976880" algn="ctr"/>
              </a:tabLst>
            </a:pPr>
            <a:r>
              <a:rPr lang="en-US" altLang="zh-CN" sz="2400" dirty="0"/>
              <a:t>		</a:t>
            </a:r>
            <a:r>
              <a:rPr lang="en-US" altLang="zh-CN" sz="2400" i="1" dirty="0"/>
              <a:t>classes </a:t>
            </a:r>
            <a:r>
              <a:rPr lang="en-US" altLang="zh-CN" sz="2400" dirty="0"/>
              <a:t>(</a:t>
            </a:r>
            <a:r>
              <a:rPr lang="en-US" altLang="zh-CN" sz="2400" i="1" dirty="0"/>
              <a:t>course, teacher, book </a:t>
            </a:r>
            <a:r>
              <a:rPr lang="en-US" altLang="zh-CN" sz="2400" dirty="0"/>
              <a:t>)</a:t>
            </a:r>
            <a:endParaRPr lang="en-US" altLang="zh-CN" sz="2400" i="1" dirty="0"/>
          </a:p>
          <a:p>
            <a:pPr>
              <a:tabLst>
                <a:tab pos="2976880" algn="ctr"/>
              </a:tabLst>
            </a:pPr>
            <a:r>
              <a:rPr lang="en-US" altLang="zh-CN" sz="2400" dirty="0"/>
              <a:t>such that (c, t, b) </a:t>
            </a:r>
            <a:r>
              <a:rPr lang="en-US" altLang="zh-CN" sz="2400" dirty="0">
                <a:sym typeface="Symbol" panose="05050102010706020507" charset="2"/>
              </a:rPr>
              <a:t> classes means that t is qualified to teach c, and b is a required textbook for c</a:t>
            </a:r>
          </a:p>
          <a:p>
            <a:pPr defTabSz="914400">
              <a:tabLst>
                <a:tab pos="2976880" algn="ctr"/>
              </a:tabLst>
            </a:pPr>
            <a:r>
              <a:rPr lang="en-US" altLang="zh-CN" sz="2400" dirty="0"/>
              <a:t>The database is supposed to list for each course the set of teachers any one of which can be the course’s instructor, and the set of books, all of which are required for the course (no matter who teaches it).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3"/>
          <p:cNvSpPr>
            <a:spLocks noGrp="1"/>
          </p:cNvSpPr>
          <p:nvPr>
            <p:ph idx="1"/>
          </p:nvPr>
        </p:nvSpPr>
        <p:spPr>
          <a:xfrm>
            <a:off x="114300" y="4456113"/>
            <a:ext cx="8953500" cy="1997075"/>
          </a:xfrm>
        </p:spPr>
        <p:txBody>
          <a:bodyPr wrap="square" lIns="91440" tIns="45720" rIns="91440" bIns="45720" anchor="t"/>
          <a:lstStyle/>
          <a:p>
            <a:pPr defTabSz="914400">
              <a:tabLst>
                <a:tab pos="1993900" algn="l"/>
              </a:tabLst>
            </a:pPr>
            <a:r>
              <a:rPr lang="en-US" altLang="zh-CN" sz="2000" dirty="0"/>
              <a:t>There are no non-trivial functional dependencies and therefore the relation is in BCNF </a:t>
            </a:r>
          </a:p>
          <a:p>
            <a:pPr defTabSz="914400">
              <a:tabLst>
                <a:tab pos="1993900" algn="l"/>
              </a:tabLst>
            </a:pPr>
            <a:r>
              <a:rPr lang="en-US" altLang="zh-CN" sz="2000" dirty="0"/>
              <a:t>Insertion anomalies – i.e., if </a:t>
            </a:r>
            <a:r>
              <a:rPr lang="en-US" altLang="zh-CN" sz="2000" dirty="0">
                <a:solidFill>
                  <a:srgbClr val="C00000"/>
                </a:solidFill>
              </a:rPr>
              <a:t>Marilyn</a:t>
            </a:r>
            <a:r>
              <a:rPr lang="en-US" altLang="zh-CN" sz="2000" dirty="0"/>
              <a:t> is a new teacher that can teach database, two tuples need to be inserted</a:t>
            </a:r>
          </a:p>
          <a:p>
            <a:pPr defTabSz="914400">
              <a:buNone/>
              <a:tabLst>
                <a:tab pos="1993900" algn="l"/>
              </a:tabLst>
            </a:pPr>
            <a:r>
              <a:rPr lang="en-US" altLang="zh-CN" sz="2000" dirty="0"/>
              <a:t>		(database, Marilyn, DB Concepts)</a:t>
            </a:r>
            <a:br>
              <a:rPr lang="en-US" altLang="zh-CN" sz="2000" dirty="0"/>
            </a:br>
            <a:r>
              <a:rPr lang="en-US" altLang="zh-CN" sz="2000" dirty="0"/>
              <a:t>	(database, Marilyn, Ullman)</a:t>
            </a:r>
          </a:p>
        </p:txBody>
      </p:sp>
      <p:grpSp>
        <p:nvGrpSpPr>
          <p:cNvPr id="55298" name="组 1"/>
          <p:cNvGrpSpPr/>
          <p:nvPr/>
        </p:nvGrpSpPr>
        <p:grpSpPr>
          <a:xfrm>
            <a:off x="1371600" y="858838"/>
            <a:ext cx="6400800" cy="3565525"/>
            <a:chOff x="1371600" y="858838"/>
            <a:chExt cx="6400800" cy="3564969"/>
          </a:xfrm>
        </p:grpSpPr>
        <p:sp>
          <p:nvSpPr>
            <p:cNvPr id="86020" name="Rectangle 4"/>
            <p:cNvSpPr>
              <a:spLocks noChangeArrowheads="1"/>
            </p:cNvSpPr>
            <p:nvPr/>
          </p:nvSpPr>
          <p:spPr bwMode="auto">
            <a:xfrm>
              <a:off x="1371600" y="858838"/>
              <a:ext cx="2133600" cy="304800"/>
            </a:xfrm>
            <a:prstGeom prst="rect">
              <a:avLst/>
            </a:prstGeom>
            <a:solidFill>
              <a:schemeClr val="accent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course</a:t>
              </a:r>
            </a:p>
          </p:txBody>
        </p:sp>
        <p:sp>
          <p:nvSpPr>
            <p:cNvPr id="86021" name="Rectangle 5"/>
            <p:cNvSpPr>
              <a:spLocks noChangeArrowheads="1"/>
            </p:cNvSpPr>
            <p:nvPr/>
          </p:nvSpPr>
          <p:spPr bwMode="auto">
            <a:xfrm>
              <a:off x="3505200" y="858838"/>
              <a:ext cx="2133600" cy="304800"/>
            </a:xfrm>
            <a:prstGeom prst="rect">
              <a:avLst/>
            </a:prstGeom>
            <a:solidFill>
              <a:schemeClr val="accent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teacher</a:t>
              </a:r>
            </a:p>
          </p:txBody>
        </p:sp>
        <p:sp>
          <p:nvSpPr>
            <p:cNvPr id="86022" name="Rectangle 6"/>
            <p:cNvSpPr>
              <a:spLocks noChangeArrowheads="1"/>
            </p:cNvSpPr>
            <p:nvPr/>
          </p:nvSpPr>
          <p:spPr bwMode="auto">
            <a:xfrm>
              <a:off x="5638800" y="858838"/>
              <a:ext cx="2133600" cy="304800"/>
            </a:xfrm>
            <a:prstGeom prst="rect">
              <a:avLst/>
            </a:prstGeom>
            <a:solidFill>
              <a:schemeClr val="accent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book</a:t>
              </a:r>
            </a:p>
          </p:txBody>
        </p:sp>
        <p:sp>
          <p:nvSpPr>
            <p:cNvPr id="86023" name="Rectangle 7"/>
            <p:cNvSpPr>
              <a:spLocks noChangeArrowheads="1"/>
            </p:cNvSpPr>
            <p:nvPr/>
          </p:nvSpPr>
          <p:spPr bwMode="auto">
            <a:xfrm>
              <a:off x="1371600" y="1239838"/>
              <a:ext cx="2133600" cy="2819400"/>
            </a:xfrm>
            <a:prstGeom prst="rect">
              <a:avLst/>
            </a:prstGeom>
            <a:solidFill>
              <a:schemeClr val="accent1"/>
            </a:soli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database</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database</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database</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database</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database</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database</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operating systems</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operating systems</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operating systems</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operating systems</a:t>
              </a:r>
            </a:p>
          </p:txBody>
        </p:sp>
        <p:sp>
          <p:nvSpPr>
            <p:cNvPr id="86024" name="Rectangle 8"/>
            <p:cNvSpPr>
              <a:spLocks noChangeArrowheads="1"/>
            </p:cNvSpPr>
            <p:nvPr/>
          </p:nvSpPr>
          <p:spPr bwMode="auto">
            <a:xfrm>
              <a:off x="3505200" y="1239838"/>
              <a:ext cx="2133600" cy="2819400"/>
            </a:xfrm>
            <a:prstGeom prst="rect">
              <a:avLst/>
            </a:prstGeom>
            <a:solidFill>
              <a:schemeClr val="accent1"/>
            </a:soli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Avi</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Avi</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Hank</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Hank</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Sudarshan</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Sudarshan</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Avi</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Avi </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Pete</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Pete</a:t>
              </a:r>
            </a:p>
          </p:txBody>
        </p:sp>
        <p:sp>
          <p:nvSpPr>
            <p:cNvPr id="86025" name="Rectangle 9"/>
            <p:cNvSpPr>
              <a:spLocks noChangeArrowheads="1"/>
            </p:cNvSpPr>
            <p:nvPr/>
          </p:nvSpPr>
          <p:spPr bwMode="auto">
            <a:xfrm>
              <a:off x="5638800" y="1239838"/>
              <a:ext cx="2133600" cy="2819400"/>
            </a:xfrm>
            <a:prstGeom prst="rect">
              <a:avLst/>
            </a:prstGeom>
            <a:solidFill>
              <a:schemeClr val="accent1"/>
            </a:soli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DB Concepts</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Ullman</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DB Concepts</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Ullman</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DB Concepts</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Ullman</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OS Concepts</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Stallings</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OS Concepts</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Stallings</a:t>
              </a:r>
            </a:p>
          </p:txBody>
        </p:sp>
        <p:sp>
          <p:nvSpPr>
            <p:cNvPr id="55305" name="Text Box 10"/>
            <p:cNvSpPr txBox="1"/>
            <p:nvPr/>
          </p:nvSpPr>
          <p:spPr>
            <a:xfrm>
              <a:off x="4175125" y="4054475"/>
              <a:ext cx="965251" cy="369332"/>
            </a:xfrm>
            <a:prstGeom prst="rect">
              <a:avLst/>
            </a:prstGeom>
            <a:noFill/>
            <a:ln w="9525">
              <a:noFill/>
            </a:ln>
          </p:spPr>
          <p:txBody>
            <a:bodyPr wrap="none" anchor="t">
              <a:spAutoFit/>
            </a:bodyPr>
            <a:lstStyle/>
            <a:p>
              <a:pPr eaLnBrk="0" hangingPunct="0"/>
              <a:r>
                <a:rPr lang="en-US" altLang="zh-CN" sz="1800" i="1" dirty="0">
                  <a:latin typeface="Arial" panose="020B0604020202020204" pitchFamily="34" charset="0"/>
                </a:rPr>
                <a:t>classes</a:t>
              </a:r>
              <a:endParaRPr lang="en-US" altLang="zh-CN" sz="1800" dirty="0">
                <a:latin typeface="Arial" panose="020B0604020202020204" pitchFamily="34" charset="0"/>
                <a:ea typeface="Arial" panose="020B0604020202020204" pitchFamily="34" charset="0"/>
              </a:endParaRPr>
            </a:p>
          </p:txBody>
        </p:sp>
      </p:grpSp>
      <p:sp>
        <p:nvSpPr>
          <p:cNvPr id="86027" name="Rectangle 11"/>
          <p:cNvSpPr>
            <a:spLocks noGrp="1" noChangeArrowheads="1"/>
          </p:cNvSpPr>
          <p:nvPr>
            <p:ph type="title"/>
          </p:nvPr>
        </p:nvSpPr>
        <p:spPr>
          <a:xfrm>
            <a:off x="996950" y="117475"/>
            <a:ext cx="71628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How good is BCNF? (Cont.)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3"/>
          <p:cNvSpPr>
            <a:spLocks noGrp="1"/>
          </p:cNvSpPr>
          <p:nvPr>
            <p:ph idx="1"/>
          </p:nvPr>
        </p:nvSpPr>
        <p:spPr>
          <a:xfrm>
            <a:off x="188913" y="1139825"/>
            <a:ext cx="7462837" cy="533400"/>
          </a:xfrm>
        </p:spPr>
        <p:txBody>
          <a:bodyPr wrap="square" lIns="91440" tIns="45720" rIns="91440" bIns="45720" anchor="t"/>
          <a:lstStyle/>
          <a:p>
            <a:r>
              <a:rPr lang="en-US" altLang="zh-CN" sz="2400"/>
              <a:t>Therefore, it is better to decompose </a:t>
            </a:r>
            <a:r>
              <a:rPr lang="en-US" altLang="zh-CN" sz="2400" i="1"/>
              <a:t>classes </a:t>
            </a:r>
            <a:r>
              <a:rPr lang="en-US" altLang="zh-CN" sz="2400"/>
              <a:t>into:</a:t>
            </a:r>
          </a:p>
        </p:txBody>
      </p:sp>
      <p:grpSp>
        <p:nvGrpSpPr>
          <p:cNvPr id="56322" name="组 1"/>
          <p:cNvGrpSpPr/>
          <p:nvPr/>
        </p:nvGrpSpPr>
        <p:grpSpPr>
          <a:xfrm>
            <a:off x="271463" y="1843088"/>
            <a:ext cx="4114800" cy="2225675"/>
            <a:chOff x="1693863" y="1577975"/>
            <a:chExt cx="4114800" cy="2225398"/>
          </a:xfrm>
        </p:grpSpPr>
        <p:sp>
          <p:nvSpPr>
            <p:cNvPr id="87044" name="Rectangle 4"/>
            <p:cNvSpPr>
              <a:spLocks noChangeArrowheads="1"/>
            </p:cNvSpPr>
            <p:nvPr/>
          </p:nvSpPr>
          <p:spPr bwMode="auto">
            <a:xfrm>
              <a:off x="1693863" y="1577975"/>
              <a:ext cx="2362200" cy="304800"/>
            </a:xfrm>
            <a:prstGeom prst="rect">
              <a:avLst/>
            </a:prstGeom>
            <a:solidFill>
              <a:schemeClr val="accent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course</a:t>
              </a:r>
            </a:p>
          </p:txBody>
        </p:sp>
        <p:sp>
          <p:nvSpPr>
            <p:cNvPr id="87045" name="Rectangle 5"/>
            <p:cNvSpPr>
              <a:spLocks noChangeArrowheads="1"/>
            </p:cNvSpPr>
            <p:nvPr/>
          </p:nvSpPr>
          <p:spPr bwMode="auto">
            <a:xfrm>
              <a:off x="4056063" y="1577975"/>
              <a:ext cx="1752600" cy="304800"/>
            </a:xfrm>
            <a:prstGeom prst="rect">
              <a:avLst/>
            </a:prstGeom>
            <a:solidFill>
              <a:schemeClr val="accent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teacher</a:t>
              </a:r>
            </a:p>
          </p:txBody>
        </p:sp>
        <p:sp>
          <p:nvSpPr>
            <p:cNvPr id="87046" name="Rectangle 6"/>
            <p:cNvSpPr>
              <a:spLocks noChangeArrowheads="1"/>
            </p:cNvSpPr>
            <p:nvPr/>
          </p:nvSpPr>
          <p:spPr bwMode="auto">
            <a:xfrm>
              <a:off x="1693863" y="1958975"/>
              <a:ext cx="2362200" cy="1447800"/>
            </a:xfrm>
            <a:prstGeom prst="rect">
              <a:avLst/>
            </a:prstGeom>
            <a:solidFill>
              <a:schemeClr val="accent1"/>
            </a:soli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database</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database</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database</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operating systems</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operating systems</a:t>
              </a:r>
            </a:p>
          </p:txBody>
        </p:sp>
        <p:sp>
          <p:nvSpPr>
            <p:cNvPr id="87047" name="Rectangle 7"/>
            <p:cNvSpPr>
              <a:spLocks noChangeArrowheads="1"/>
            </p:cNvSpPr>
            <p:nvPr/>
          </p:nvSpPr>
          <p:spPr bwMode="auto">
            <a:xfrm>
              <a:off x="4056063" y="1958975"/>
              <a:ext cx="1752600" cy="1447800"/>
            </a:xfrm>
            <a:prstGeom prst="rect">
              <a:avLst/>
            </a:prstGeom>
            <a:solidFill>
              <a:schemeClr val="accent1"/>
            </a:soli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Avi</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Hank</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Sudarshan</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Avi </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Jim</a:t>
              </a:r>
            </a:p>
          </p:txBody>
        </p:sp>
        <p:sp>
          <p:nvSpPr>
            <p:cNvPr id="56327" name="Text Box 8"/>
            <p:cNvSpPr txBox="1"/>
            <p:nvPr/>
          </p:nvSpPr>
          <p:spPr>
            <a:xfrm>
              <a:off x="3421164" y="3434041"/>
              <a:ext cx="1047548" cy="369332"/>
            </a:xfrm>
            <a:prstGeom prst="rect">
              <a:avLst/>
            </a:prstGeom>
            <a:noFill/>
            <a:ln w="9525">
              <a:noFill/>
            </a:ln>
          </p:spPr>
          <p:txBody>
            <a:bodyPr wrap="none" anchor="ctr">
              <a:spAutoFit/>
            </a:bodyPr>
            <a:lstStyle/>
            <a:p>
              <a:pPr algn="ctr" eaLnBrk="0" hangingPunct="0">
                <a:spcBef>
                  <a:spcPct val="50000"/>
                </a:spcBef>
              </a:pPr>
              <a:r>
                <a:rPr lang="en-US" altLang="zh-CN" sz="1800" i="1">
                  <a:latin typeface="Arial" panose="020B0604020202020204"/>
                </a:rPr>
                <a:t>teaches</a:t>
              </a:r>
            </a:p>
          </p:txBody>
        </p:sp>
      </p:grpSp>
      <p:grpSp>
        <p:nvGrpSpPr>
          <p:cNvPr id="56328" name="组 2"/>
          <p:cNvGrpSpPr/>
          <p:nvPr/>
        </p:nvGrpSpPr>
        <p:grpSpPr>
          <a:xfrm>
            <a:off x="4689475" y="1892300"/>
            <a:ext cx="4114800" cy="1892300"/>
            <a:chOff x="1770063" y="3863975"/>
            <a:chExt cx="4114800" cy="1892023"/>
          </a:xfrm>
        </p:grpSpPr>
        <p:sp>
          <p:nvSpPr>
            <p:cNvPr id="87049" name="Rectangle 9"/>
            <p:cNvSpPr>
              <a:spLocks noChangeArrowheads="1"/>
            </p:cNvSpPr>
            <p:nvPr/>
          </p:nvSpPr>
          <p:spPr bwMode="auto">
            <a:xfrm>
              <a:off x="1770063" y="3863975"/>
              <a:ext cx="2362200" cy="304800"/>
            </a:xfrm>
            <a:prstGeom prst="rect">
              <a:avLst/>
            </a:prstGeom>
            <a:solidFill>
              <a:schemeClr val="accent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course</a:t>
              </a:r>
            </a:p>
          </p:txBody>
        </p:sp>
        <p:sp>
          <p:nvSpPr>
            <p:cNvPr id="87050" name="Rectangle 10"/>
            <p:cNvSpPr>
              <a:spLocks noChangeArrowheads="1"/>
            </p:cNvSpPr>
            <p:nvPr/>
          </p:nvSpPr>
          <p:spPr bwMode="auto">
            <a:xfrm>
              <a:off x="4132263" y="3863975"/>
              <a:ext cx="1752600" cy="304800"/>
            </a:xfrm>
            <a:prstGeom prst="rect">
              <a:avLst/>
            </a:prstGeom>
            <a:solidFill>
              <a:schemeClr val="accent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book</a:t>
              </a:r>
            </a:p>
          </p:txBody>
        </p:sp>
        <p:sp>
          <p:nvSpPr>
            <p:cNvPr id="87051" name="Rectangle 11"/>
            <p:cNvSpPr>
              <a:spLocks noChangeArrowheads="1"/>
            </p:cNvSpPr>
            <p:nvPr/>
          </p:nvSpPr>
          <p:spPr bwMode="auto">
            <a:xfrm>
              <a:off x="1770063" y="4244975"/>
              <a:ext cx="2362200" cy="1143000"/>
            </a:xfrm>
            <a:prstGeom prst="rect">
              <a:avLst/>
            </a:prstGeom>
            <a:solidFill>
              <a:schemeClr val="accent1"/>
            </a:soli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database</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database</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operating systems</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operating systems</a:t>
              </a:r>
            </a:p>
          </p:txBody>
        </p:sp>
        <p:sp>
          <p:nvSpPr>
            <p:cNvPr id="87052" name="Rectangle 12"/>
            <p:cNvSpPr>
              <a:spLocks noChangeArrowheads="1"/>
            </p:cNvSpPr>
            <p:nvPr/>
          </p:nvSpPr>
          <p:spPr bwMode="auto">
            <a:xfrm>
              <a:off x="4132263" y="4244975"/>
              <a:ext cx="1752600" cy="1143000"/>
            </a:xfrm>
            <a:prstGeom prst="rect">
              <a:avLst/>
            </a:prstGeom>
            <a:solidFill>
              <a:schemeClr val="accent1"/>
            </a:soli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DB Concepts</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Ullman</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OS Concepts</a:t>
              </a: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Arial" panose="020B0604020202020204"/>
                  <a:ea typeface="宋体" panose="02010600030101010101" pitchFamily="2" charset="-122"/>
                  <a:cs typeface="Arial" panose="020B0604020202020204"/>
                  <a:sym typeface="+mn-ea"/>
                </a:rPr>
                <a:t>Shaw</a:t>
              </a:r>
            </a:p>
          </p:txBody>
        </p:sp>
        <p:sp>
          <p:nvSpPr>
            <p:cNvPr id="56333" name="Text Box 13"/>
            <p:cNvSpPr txBox="1"/>
            <p:nvPr/>
          </p:nvSpPr>
          <p:spPr>
            <a:xfrm>
              <a:off x="3709223" y="5386666"/>
              <a:ext cx="611130" cy="369332"/>
            </a:xfrm>
            <a:prstGeom prst="rect">
              <a:avLst/>
            </a:prstGeom>
            <a:noFill/>
            <a:ln w="9525">
              <a:noFill/>
            </a:ln>
          </p:spPr>
          <p:txBody>
            <a:bodyPr wrap="none" anchor="ctr">
              <a:spAutoFit/>
            </a:bodyPr>
            <a:lstStyle/>
            <a:p>
              <a:pPr algn="ctr" eaLnBrk="0" hangingPunct="0">
                <a:spcBef>
                  <a:spcPct val="50000"/>
                </a:spcBef>
              </a:pPr>
              <a:r>
                <a:rPr lang="en-US" altLang="zh-CN" sz="1800" i="1">
                  <a:latin typeface="Arial" panose="020B0604020202020204"/>
                </a:rPr>
                <a:t>text</a:t>
              </a:r>
            </a:p>
          </p:txBody>
        </p:sp>
      </p:grpSp>
      <p:sp>
        <p:nvSpPr>
          <p:cNvPr id="87055" name="Rectangle 15"/>
          <p:cNvSpPr>
            <a:spLocks noGrp="1" noChangeArrowheads="1"/>
          </p:cNvSpPr>
          <p:nvPr>
            <p:ph type="title"/>
          </p:nvPr>
        </p:nvSpPr>
        <p:spPr>
          <a:xfrm>
            <a:off x="1638300" y="119063"/>
            <a:ext cx="7124700" cy="576263"/>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How good is BCNF? (Cont.)</a:t>
            </a:r>
          </a:p>
        </p:txBody>
      </p:sp>
      <p:sp>
        <p:nvSpPr>
          <p:cNvPr id="56335" name="文本框 14"/>
          <p:cNvSpPr txBox="1"/>
          <p:nvPr/>
        </p:nvSpPr>
        <p:spPr>
          <a:xfrm>
            <a:off x="8589963" y="19050"/>
            <a:ext cx="573087" cy="338138"/>
          </a:xfrm>
          <a:prstGeom prst="rect">
            <a:avLst/>
          </a:prstGeom>
          <a:noFill/>
          <a:ln w="9525">
            <a:noFill/>
          </a:ln>
        </p:spPr>
        <p:txBody>
          <a:bodyPr wrap="none" anchor="t">
            <a:spAutoFit/>
          </a:bodyPr>
          <a:lstStyle/>
          <a:p>
            <a:pPr eaLnBrk="0" hangingPunct="0"/>
            <a:r>
              <a:rPr lang="en-US" altLang="zh-CN" dirty="0">
                <a:solidFill>
                  <a:srgbClr val="666699"/>
                </a:solidFill>
                <a:latin typeface="Helvetica" panose="020B0604020202030204" charset="0"/>
              </a:rPr>
              <a:t>next</a:t>
            </a:r>
            <a:endParaRPr lang="zh-CN" altLang="en-US" dirty="0">
              <a:solidFill>
                <a:srgbClr val="666699"/>
              </a:solidFill>
              <a:latin typeface="Helvetica" panose="020B060402020203020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7346"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Functional-Dependency Theory</a:t>
            </a:r>
          </a:p>
        </p:txBody>
      </p:sp>
      <p:sp>
        <p:nvSpPr>
          <p:cNvPr id="57346" name="Rectangle 3"/>
          <p:cNvSpPr>
            <a:spLocks noGrp="1"/>
          </p:cNvSpPr>
          <p:nvPr>
            <p:ph idx="1"/>
          </p:nvPr>
        </p:nvSpPr>
        <p:spPr>
          <a:xfrm>
            <a:off x="84814" y="1014546"/>
            <a:ext cx="8895900" cy="3279866"/>
          </a:xfrm>
        </p:spPr>
        <p:txBody>
          <a:bodyPr wrap="square" lIns="91440" tIns="45720" rIns="91440" bIns="45720" anchor="t"/>
          <a:lstStyle/>
          <a:p>
            <a:r>
              <a:rPr lang="en-US" altLang="zh-CN" sz="2400" dirty="0"/>
              <a:t>We now consider </a:t>
            </a:r>
            <a:r>
              <a:rPr lang="en-US" altLang="zh-CN" sz="2400" b="1" u="sng" dirty="0">
                <a:solidFill>
                  <a:srgbClr val="CC3300"/>
                </a:solidFill>
              </a:rPr>
              <a:t>the formal theory </a:t>
            </a:r>
            <a:r>
              <a:rPr lang="en-US" altLang="zh-CN" sz="2400" dirty="0"/>
              <a:t>that tells us which functional dependencies are implied logically by a given set of functional dependencies.</a:t>
            </a:r>
          </a:p>
          <a:p>
            <a:r>
              <a:rPr lang="en-US" altLang="zh-CN" sz="2400" dirty="0"/>
              <a:t>We then develop algorithms to generate </a:t>
            </a:r>
            <a:r>
              <a:rPr lang="en-US" altLang="zh-CN" sz="2400" b="1" u="sng" dirty="0">
                <a:solidFill>
                  <a:srgbClr val="000090"/>
                </a:solidFill>
              </a:rPr>
              <a:t>lossless decompositions</a:t>
            </a:r>
            <a:r>
              <a:rPr lang="en-US" altLang="zh-CN" sz="2400" dirty="0"/>
              <a:t> into BCNF and 3NF</a:t>
            </a:r>
          </a:p>
          <a:p>
            <a:r>
              <a:rPr lang="en-US" altLang="zh-CN" sz="2400" dirty="0"/>
              <a:t>We then develop algorithms to test if a decomposition is </a:t>
            </a:r>
            <a:r>
              <a:rPr lang="en-US" altLang="zh-CN" sz="2400" b="1" u="sng" dirty="0">
                <a:solidFill>
                  <a:srgbClr val="000090"/>
                </a:solidFill>
              </a:rPr>
              <a:t>dependency-preserving</a:t>
            </a:r>
          </a:p>
        </p:txBody>
      </p:sp>
      <p:graphicFrame>
        <p:nvGraphicFramePr>
          <p:cNvPr id="2" name="图示 1"/>
          <p:cNvGraphicFramePr/>
          <p:nvPr/>
        </p:nvGraphicFramePr>
        <p:xfrm>
          <a:off x="555173" y="3918858"/>
          <a:ext cx="7984672" cy="2374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noChangeArrowheads="1"/>
          </p:cNvSpPr>
          <p:nvPr>
            <p:ph type="title"/>
          </p:nvPr>
        </p:nvSpPr>
        <p:spPr>
          <a:xfrm>
            <a:off x="519113" y="98425"/>
            <a:ext cx="8624888" cy="6477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Closure of a Set of Functional Dependencies</a:t>
            </a:r>
          </a:p>
        </p:txBody>
      </p:sp>
      <p:sp>
        <p:nvSpPr>
          <p:cNvPr id="219139" name="Rectangle 3"/>
          <p:cNvSpPr>
            <a:spLocks noGrp="1" noChangeArrowheads="1"/>
          </p:cNvSpPr>
          <p:nvPr>
            <p:ph idx="1"/>
          </p:nvPr>
        </p:nvSpPr>
        <p:spPr>
          <a:xfrm>
            <a:off x="217488" y="865188"/>
            <a:ext cx="8786813" cy="5327650"/>
          </a:xfrm>
        </p:spPr>
        <p:txBody>
          <a:bodyPr vert="horz" wrap="square" lIns="91440" tIns="45720" rIns="91440" bIns="45720" numCol="1" anchor="t" anchorCtr="0" compatLnSpc="1"/>
          <a:lstStyle/>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en-US" altLang="zh-CN" sz="2000" b="0" i="0" u="none" strike="noStrike" kern="0" cap="none" spc="0" normalizeH="0" baseline="0" noProof="1">
                <a:solidFill>
                  <a:schemeClr val="tx1"/>
                </a:solidFill>
                <a:latin typeface="Arial" panose="020B0604020202020204"/>
                <a:ea typeface="+mn-ea"/>
                <a:cs typeface="Arial" panose="020B0604020202020204"/>
              </a:rPr>
              <a:t>Given a set </a:t>
            </a:r>
            <a:r>
              <a:rPr kumimoji="1" lang="en-US" altLang="zh-CN" sz="2000" b="0" i="1" u="none" strike="noStrike" kern="0" cap="none" spc="0" normalizeH="0" baseline="0" noProof="1">
                <a:solidFill>
                  <a:schemeClr val="tx1"/>
                </a:solidFill>
                <a:latin typeface="Arial" panose="020B0604020202020204"/>
                <a:ea typeface="+mn-ea"/>
                <a:cs typeface="Arial" panose="020B0604020202020204"/>
              </a:rPr>
              <a:t>F</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rPr>
              <a:t> set of functional dependencies, there are certain other functional dependencies that are logically implied by </a:t>
            </a:r>
            <a:r>
              <a:rPr kumimoji="1" lang="en-US" altLang="zh-CN" sz="2000" b="0" i="1" u="none" strike="noStrike" kern="0" cap="none" spc="0" normalizeH="0" baseline="0" noProof="1">
                <a:solidFill>
                  <a:schemeClr val="tx1"/>
                </a:solidFill>
                <a:latin typeface="Arial" panose="020B0604020202020204"/>
                <a:ea typeface="+mn-ea"/>
                <a:cs typeface="Arial" panose="020B0604020202020204"/>
              </a:rPr>
              <a:t>F</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rPr>
              <a:t>.</a:t>
            </a: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en-US" altLang="zh-CN" sz="2000" b="0" i="0" u="none" strike="noStrike" kern="0" cap="none" spc="0" normalizeH="0" baseline="0" noProof="1">
                <a:solidFill>
                  <a:schemeClr val="tx1"/>
                </a:solidFill>
                <a:latin typeface="Arial" panose="020B0604020202020204"/>
                <a:ea typeface="+mn-ea"/>
                <a:cs typeface="Arial" panose="020B0604020202020204"/>
              </a:rPr>
              <a:t>For example:  If  </a:t>
            </a:r>
            <a:r>
              <a:rPr kumimoji="1" lang="en-US" altLang="zh-CN" sz="2000" b="0" i="1" u="none" strike="noStrike" kern="0" cap="none" spc="0" normalizeH="0" baseline="0" noProof="1">
                <a:solidFill>
                  <a:schemeClr val="tx1"/>
                </a:solidFill>
                <a:latin typeface="Arial" panose="020B0604020202020204"/>
                <a:ea typeface="+mn-ea"/>
                <a:cs typeface="Arial" panose="020B0604020202020204"/>
              </a:rPr>
              <a:t>A</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rPr>
              <a:t> </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Symbol" panose="05050102010706020507" charset="2"/>
              </a:rPr>
              <a:t></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Monotype Sorts" charset="2"/>
              </a:rPr>
              <a:t> </a:t>
            </a:r>
            <a:r>
              <a:rPr kumimoji="1" lang="en-US" altLang="zh-CN" sz="2000" b="0" i="1" u="none" strike="noStrike" kern="0" cap="none" spc="0" normalizeH="0" baseline="0" noProof="1">
                <a:solidFill>
                  <a:schemeClr val="tx1"/>
                </a:solidFill>
                <a:latin typeface="Arial" panose="020B0604020202020204"/>
                <a:ea typeface="+mn-ea"/>
                <a:cs typeface="Arial" panose="020B0604020202020204"/>
                <a:sym typeface="Monotype Sorts" charset="2"/>
              </a:rPr>
              <a:t>B</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Monotype Sorts" charset="2"/>
              </a:rPr>
              <a:t> and  </a:t>
            </a:r>
            <a:r>
              <a:rPr kumimoji="1" lang="en-US" altLang="zh-CN" sz="2000" b="0" i="1" u="none" strike="noStrike" kern="0" cap="none" spc="0" normalizeH="0" baseline="0" noProof="1">
                <a:solidFill>
                  <a:schemeClr val="tx1"/>
                </a:solidFill>
                <a:latin typeface="Arial" panose="020B0604020202020204"/>
                <a:ea typeface="+mn-ea"/>
                <a:cs typeface="Arial" panose="020B0604020202020204"/>
                <a:sym typeface="Monotype Sorts" charset="2"/>
              </a:rPr>
              <a:t>B</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Monotype Sorts" charset="2"/>
              </a:rPr>
              <a:t> </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Symbol" panose="05050102010706020507" charset="2"/>
              </a:rPr>
              <a:t></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Monotype Sorts" charset="2"/>
              </a:rPr>
              <a:t> </a:t>
            </a:r>
            <a:r>
              <a:rPr kumimoji="1" lang="en-US" altLang="zh-CN" sz="2000" b="0" i="1" u="none" strike="noStrike" kern="0" cap="none" spc="0" normalizeH="0" baseline="0" noProof="1">
                <a:solidFill>
                  <a:schemeClr val="tx1"/>
                </a:solidFill>
                <a:latin typeface="Arial" panose="020B0604020202020204"/>
                <a:ea typeface="+mn-ea"/>
                <a:cs typeface="Arial" panose="020B0604020202020204"/>
                <a:sym typeface="Monotype Sorts" charset="2"/>
              </a:rPr>
              <a:t>C</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Monotype Sorts" charset="2"/>
              </a:rPr>
              <a:t>,  then we can infer that </a:t>
            </a:r>
            <a:r>
              <a:rPr kumimoji="1" lang="en-US" altLang="zh-CN" sz="2000" b="0" i="1" u="none" strike="noStrike" kern="0" cap="none" spc="0" normalizeH="0" baseline="0" noProof="1">
                <a:solidFill>
                  <a:schemeClr val="tx1"/>
                </a:solidFill>
                <a:latin typeface="Arial" panose="020B0604020202020204"/>
                <a:ea typeface="+mn-ea"/>
                <a:cs typeface="Arial" panose="020B0604020202020204"/>
                <a:sym typeface="Monotype Sorts" charset="2"/>
              </a:rPr>
              <a:t>A</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Monotype Sorts" charset="2"/>
              </a:rPr>
              <a:t> </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Symbol" panose="05050102010706020507" charset="2"/>
              </a:rPr>
              <a:t></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Monotype Sorts" charset="2"/>
              </a:rPr>
              <a:t> C</a:t>
            </a:r>
            <a:endParaRPr kumimoji="1" lang="en-US" altLang="zh-CN" sz="2000" b="0" i="1" u="none" strike="noStrike" kern="0" cap="none" spc="0" normalizeH="0" baseline="0" noProof="1">
              <a:solidFill>
                <a:schemeClr val="tx1"/>
              </a:solidFill>
              <a:latin typeface="Arial" panose="020B0604020202020204"/>
              <a:ea typeface="+mn-ea"/>
              <a:cs typeface="Arial" panose="020B0604020202020204"/>
            </a:endParaRPr>
          </a:p>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en-US" altLang="zh-CN" sz="2000" b="0" i="0" u="none" strike="noStrike" kern="0" cap="none" spc="0" normalizeH="0" baseline="0" noProof="1">
                <a:solidFill>
                  <a:schemeClr val="tx1"/>
                </a:solidFill>
                <a:latin typeface="Arial" panose="020B0604020202020204"/>
                <a:ea typeface="+mn-ea"/>
                <a:cs typeface="Arial" panose="020B0604020202020204"/>
              </a:rPr>
              <a:t>The set of </a:t>
            </a:r>
            <a:r>
              <a:rPr kumimoji="1" lang="en-US" altLang="zh-CN" sz="2000" b="0" i="0" u="none" strike="noStrike" kern="0" cap="none" spc="0" normalizeH="0" baseline="0" noProof="1">
                <a:solidFill>
                  <a:schemeClr val="tx2"/>
                </a:solidFill>
                <a:latin typeface="Arial" panose="020B0604020202020204"/>
                <a:ea typeface="+mn-ea"/>
                <a:cs typeface="Arial" panose="020B0604020202020204"/>
              </a:rPr>
              <a:t>all</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rPr>
              <a:t> functional dependencies logically implied by </a:t>
            </a:r>
            <a:r>
              <a:rPr kumimoji="1" lang="en-US" altLang="zh-CN" sz="2000" b="0" i="1" u="none" strike="noStrike" kern="0" cap="none" spc="0" normalizeH="0" baseline="0" noProof="1">
                <a:solidFill>
                  <a:schemeClr val="tx1"/>
                </a:solidFill>
                <a:latin typeface="Arial" panose="020B0604020202020204"/>
                <a:ea typeface="+mn-ea"/>
                <a:cs typeface="Arial" panose="020B0604020202020204"/>
              </a:rPr>
              <a:t>F</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rPr>
              <a:t> is the </a:t>
            </a:r>
            <a:r>
              <a:rPr kumimoji="1" lang="en-US" altLang="zh-CN" sz="2000" b="0" i="1" u="none" strike="noStrike" kern="0" cap="none" spc="0" normalizeH="0" baseline="0" noProof="1">
                <a:solidFill>
                  <a:schemeClr val="tx2"/>
                </a:solidFill>
                <a:latin typeface="Arial" panose="020B0604020202020204"/>
                <a:ea typeface="+mn-ea"/>
                <a:cs typeface="Arial" panose="020B0604020202020204"/>
              </a:rPr>
              <a:t>closure</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rPr>
              <a:t> of </a:t>
            </a:r>
            <a:r>
              <a:rPr kumimoji="1" lang="en-US" altLang="zh-CN" sz="2000" b="0" i="1" u="none" strike="noStrike" kern="0" cap="none" spc="0" normalizeH="0" baseline="0" noProof="1">
                <a:solidFill>
                  <a:schemeClr val="tx1"/>
                </a:solidFill>
                <a:latin typeface="Arial" panose="020B0604020202020204"/>
                <a:ea typeface="+mn-ea"/>
                <a:cs typeface="Arial" panose="020B0604020202020204"/>
              </a:rPr>
              <a:t>F</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rPr>
              <a:t>.</a:t>
            </a:r>
          </a:p>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en-US" altLang="zh-CN" sz="2000" b="0" i="0" u="none" strike="noStrike" kern="0" cap="none" spc="0" normalizeH="0" baseline="0" noProof="1">
                <a:solidFill>
                  <a:schemeClr val="tx1"/>
                </a:solidFill>
                <a:latin typeface="Arial" panose="020B0604020202020204"/>
                <a:ea typeface="+mn-ea"/>
                <a:cs typeface="Arial" panose="020B0604020202020204"/>
              </a:rPr>
              <a:t>We denote the </a:t>
            </a:r>
            <a:r>
              <a:rPr kumimoji="1" lang="en-US" altLang="zh-CN" sz="2000" b="0" i="1" u="none" strike="noStrike" kern="0" cap="none" spc="0" normalizeH="0" baseline="0" noProof="1">
                <a:solidFill>
                  <a:schemeClr val="tx1"/>
                </a:solidFill>
                <a:latin typeface="Arial" panose="020B0604020202020204"/>
                <a:ea typeface="+mn-ea"/>
                <a:cs typeface="Arial" panose="020B0604020202020204"/>
              </a:rPr>
              <a:t>closure </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rPr>
              <a:t>of </a:t>
            </a:r>
            <a:r>
              <a:rPr kumimoji="1" lang="en-US" altLang="zh-CN" sz="2000" b="0" i="1" u="none" strike="noStrike" kern="0" cap="none" spc="0" normalizeH="0" baseline="0" noProof="1">
                <a:solidFill>
                  <a:schemeClr val="tx1"/>
                </a:solidFill>
                <a:latin typeface="Arial" panose="020B0604020202020204"/>
                <a:ea typeface="+mn-ea"/>
                <a:cs typeface="Arial" panose="020B0604020202020204"/>
              </a:rPr>
              <a:t>F</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rPr>
              <a:t> by </a:t>
            </a:r>
            <a:r>
              <a:rPr kumimoji="1" lang="en-US" altLang="zh-CN" sz="2000" b="0" i="1" u="none" strike="noStrike" kern="0" cap="none" spc="0" normalizeH="0" baseline="0" noProof="1">
                <a:solidFill>
                  <a:schemeClr val="tx2"/>
                </a:solidFill>
                <a:latin typeface="Arial" panose="020B0604020202020204"/>
                <a:ea typeface="+mn-ea"/>
                <a:cs typeface="Arial" panose="020B0604020202020204"/>
              </a:rPr>
              <a:t>F</a:t>
            </a:r>
            <a:r>
              <a:rPr kumimoji="1" lang="en-US" altLang="zh-CN" sz="2000" b="0" i="1" u="none" strike="noStrike" kern="0" cap="none" spc="0" normalizeH="0" baseline="30000" noProof="1">
                <a:solidFill>
                  <a:schemeClr val="tx2"/>
                </a:solidFill>
                <a:latin typeface="Arial" panose="020B0604020202020204"/>
                <a:ea typeface="+mn-ea"/>
                <a:cs typeface="Arial" panose="020B0604020202020204"/>
              </a:rPr>
              <a:t>+</a:t>
            </a:r>
            <a:r>
              <a:rPr kumimoji="1" lang="en-US" altLang="zh-CN" sz="2000" b="0" i="1" u="none" strike="noStrike" kern="0" cap="none" spc="0" normalizeH="0" baseline="0" noProof="1">
                <a:solidFill>
                  <a:schemeClr val="tx2"/>
                </a:solidFill>
                <a:latin typeface="Arial" panose="020B0604020202020204"/>
                <a:ea typeface="+mn-ea"/>
                <a:cs typeface="Arial" panose="020B0604020202020204"/>
              </a:rPr>
              <a:t>.</a:t>
            </a:r>
          </a:p>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en-US" altLang="zh-CN" sz="2000" b="0" i="0" u="none" strike="noStrike" kern="0" cap="none" spc="0" normalizeH="0" baseline="0" noProof="1">
                <a:solidFill>
                  <a:schemeClr val="tx1"/>
                </a:solidFill>
                <a:latin typeface="Arial" panose="020B0604020202020204"/>
                <a:ea typeface="+mn-ea"/>
                <a:cs typeface="Arial" panose="020B0604020202020204"/>
              </a:rPr>
              <a:t>We can find all of</a:t>
            </a:r>
            <a:r>
              <a:rPr kumimoji="1" lang="en-US" altLang="zh-CN" sz="2000" b="0" i="1" u="none" strike="noStrike" kern="0" cap="none" spc="0" normalizeH="0" baseline="0" noProof="1">
                <a:solidFill>
                  <a:schemeClr val="tx1"/>
                </a:solidFill>
                <a:latin typeface="Arial" panose="020B0604020202020204"/>
                <a:ea typeface="+mn-ea"/>
                <a:cs typeface="Arial" panose="020B0604020202020204"/>
              </a:rPr>
              <a:t> </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rPr>
              <a:t>F</a:t>
            </a:r>
            <a:r>
              <a:rPr kumimoji="1" lang="en-US" altLang="zh-CN" sz="2000" b="0" i="1" u="none" strike="noStrike" kern="0" cap="none" spc="0" normalizeH="0" baseline="30000" noProof="1">
                <a:solidFill>
                  <a:schemeClr val="tx1"/>
                </a:solidFill>
                <a:latin typeface="Arial" panose="020B0604020202020204"/>
                <a:ea typeface="+mn-ea"/>
                <a:cs typeface="Arial" panose="020B0604020202020204"/>
              </a:rPr>
              <a:t>+</a:t>
            </a:r>
            <a:r>
              <a:rPr kumimoji="1" lang="en-US" altLang="zh-CN" sz="2000" b="0" i="1" u="none" strike="noStrike" kern="0" cap="none" spc="0" normalizeH="0" baseline="0" noProof="1">
                <a:solidFill>
                  <a:schemeClr val="tx1"/>
                </a:solidFill>
                <a:latin typeface="Arial" panose="020B0604020202020204"/>
                <a:ea typeface="+mn-ea"/>
                <a:cs typeface="Arial" panose="020B0604020202020204"/>
              </a:rPr>
              <a:t> </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rPr>
              <a:t>by applying Armstrong’s Axioms:</a:t>
            </a: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en-US" altLang="zh-CN" sz="2000" b="0" i="0" u="none" strike="noStrike" kern="0" cap="none" spc="0" normalizeH="0" baseline="0" noProof="1">
                <a:solidFill>
                  <a:schemeClr val="tx1"/>
                </a:solidFill>
                <a:latin typeface="Arial" panose="020B0604020202020204"/>
                <a:ea typeface="+mn-ea"/>
                <a:cs typeface="Arial" panose="020B0604020202020204"/>
              </a:rPr>
              <a:t>if </a:t>
            </a:r>
            <a:r>
              <a:rPr kumimoji="1" lang="en-US" altLang="zh-CN" sz="2000" b="0" i="1" u="none" strike="noStrike" kern="0" cap="none" spc="0" normalizeH="0" baseline="0" noProof="1">
                <a:solidFill>
                  <a:schemeClr val="tx1"/>
                </a:solidFill>
                <a:latin typeface="Arial" panose="020B0604020202020204"/>
                <a:ea typeface="+mn-ea"/>
                <a:cs typeface="Arial" panose="020B0604020202020204"/>
                <a:sym typeface="Symbol" panose="05050102010706020507" charset="2"/>
              </a:rPr>
              <a:t></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Symbol" panose="05050102010706020507" charset="2"/>
              </a:rPr>
              <a:t>  , then  </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Monotype Sorts" charset="2"/>
              </a:rPr>
              <a:t> </a:t>
            </a:r>
            <a:r>
              <a:rPr kumimoji="1" lang="en-US" altLang="zh-CN" sz="2000" b="0" i="1" u="none" strike="noStrike" kern="0" cap="none" spc="0" normalizeH="0" baseline="0" noProof="1">
                <a:solidFill>
                  <a:schemeClr val="tx1"/>
                </a:solidFill>
                <a:latin typeface="Arial" panose="020B0604020202020204"/>
                <a:ea typeface="+mn-ea"/>
                <a:cs typeface="Arial" panose="020B0604020202020204"/>
                <a:sym typeface="Symbol" panose="05050102010706020507" charset="2"/>
              </a:rPr>
              <a:t>                      </a:t>
            </a:r>
            <a:r>
              <a:rPr kumimoji="1" lang="en-US" altLang="zh-CN" sz="2000" b="1" i="0" u="none" strike="noStrike" kern="0" cap="none" spc="0" normalizeH="0" baseline="0" noProof="1">
                <a:solidFill>
                  <a:schemeClr val="tx1"/>
                </a:solidFill>
                <a:latin typeface="Arial" panose="020B0604020202020204"/>
                <a:ea typeface="+mn-ea"/>
                <a:cs typeface="Arial" panose="020B0604020202020204"/>
                <a:sym typeface="Symbol" panose="05050102010706020507" charset="2"/>
              </a:rPr>
              <a:t>(reflexivity)</a:t>
            </a:r>
            <a:r>
              <a:rPr kumimoji="1" lang="zh-CN" altLang="en-US" sz="2000" b="1" i="0" u="none" strike="noStrike" kern="0" cap="none" spc="0" normalizeH="0" baseline="0" noProof="1">
                <a:solidFill>
                  <a:schemeClr val="bg2"/>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自反律</a:t>
            </a:r>
            <a:endParaRPr kumimoji="1" lang="en-US" altLang="zh-CN" sz="2000" b="0" i="0" u="none" strike="noStrike" kern="0" cap="none" spc="0" normalizeH="0" baseline="0" noProof="1">
              <a:solidFill>
                <a:schemeClr val="bg2"/>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Symbol" panose="05050102010706020507" charset="2"/>
              </a:rPr>
              <a:t>if  </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Monotype Sorts" charset="2"/>
              </a:rPr>
              <a:t> </a:t>
            </a:r>
            <a:r>
              <a:rPr kumimoji="1" lang="en-US" altLang="zh-CN" sz="2000" b="0" i="1" u="none" strike="noStrike" kern="0" cap="none" spc="0" normalizeH="0" baseline="0" noProof="1">
                <a:solidFill>
                  <a:schemeClr val="tx1"/>
                </a:solidFill>
                <a:latin typeface="Arial" panose="020B0604020202020204"/>
                <a:ea typeface="+mn-ea"/>
                <a:cs typeface="Arial" panose="020B0604020202020204"/>
                <a:sym typeface="Symbol" panose="05050102010706020507" charset="2"/>
              </a:rPr>
              <a:t>, </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Symbol" panose="05050102010706020507" charset="2"/>
              </a:rPr>
              <a:t>and </a:t>
            </a:r>
            <a:r>
              <a:rPr kumimoji="1" lang="en-US" altLang="zh-CN" sz="2000" b="0" i="1" u="none" strike="noStrike" kern="0" cap="none" spc="0" normalizeH="0" baseline="0" noProof="1">
                <a:solidFill>
                  <a:schemeClr val="tx1"/>
                </a:solidFill>
                <a:latin typeface="Arial" panose="020B0604020202020204"/>
                <a:ea typeface="+mn-ea"/>
                <a:cs typeface="Arial" panose="020B0604020202020204"/>
                <a:sym typeface="Symbol" panose="05050102010706020507" charset="2"/>
              </a:rPr>
              <a:t> </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Symbol" panose="05050102010706020507" charset="2"/>
              </a:rPr>
              <a:t> </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Monotype Sorts" charset="2"/>
              </a:rPr>
              <a:t>, then </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Symbol" panose="05050102010706020507" charset="2"/>
              </a:rPr>
              <a:t> </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Monotype Sorts" charset="2"/>
              </a:rPr>
              <a:t> </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Symbol" panose="05050102010706020507" charset="2"/>
              </a:rPr>
              <a:t> </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Greek Symbols" pitchFamily="18" charset="2"/>
              </a:rPr>
              <a:t>   </a:t>
            </a:r>
            <a:r>
              <a:rPr kumimoji="1" lang="en-US" altLang="zh-CN" sz="2000" b="1" i="0" u="none" strike="noStrike" kern="0" cap="none" spc="0" normalizeH="0" baseline="0" noProof="1">
                <a:solidFill>
                  <a:schemeClr val="tx1"/>
                </a:solidFill>
                <a:latin typeface="Arial" panose="020B0604020202020204"/>
                <a:ea typeface="+mn-ea"/>
                <a:cs typeface="Arial" panose="020B0604020202020204"/>
                <a:sym typeface="Greek Symbols" pitchFamily="18" charset="2"/>
              </a:rPr>
              <a:t>(transitivity)</a:t>
            </a:r>
            <a:r>
              <a:rPr kumimoji="1" lang="zh-CN" altLang="en-US" sz="2000" b="1" i="0" u="none" strike="noStrike" kern="0" cap="none" spc="0" normalizeH="0" baseline="0" noProof="1">
                <a:solidFill>
                  <a:schemeClr val="bg2"/>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Greek Symbols" pitchFamily="18" charset="2"/>
              </a:rPr>
              <a:t>传递律</a:t>
            </a: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Symbol" panose="05050102010706020507" charset="2"/>
              </a:rPr>
              <a:t>if  </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Monotype Sorts" charset="2"/>
              </a:rPr>
              <a:t> </a:t>
            </a:r>
            <a:r>
              <a:rPr kumimoji="1" lang="en-US" altLang="zh-CN" sz="2000" b="0" i="1" u="none" strike="noStrike" kern="0" cap="none" spc="0" normalizeH="0" baseline="0" noProof="1">
                <a:solidFill>
                  <a:schemeClr val="tx1"/>
                </a:solidFill>
                <a:latin typeface="Arial" panose="020B0604020202020204"/>
                <a:ea typeface="+mn-ea"/>
                <a:cs typeface="Arial" panose="020B0604020202020204"/>
                <a:sym typeface="Symbol" panose="05050102010706020507" charset="2"/>
              </a:rPr>
              <a:t>, </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Symbol" panose="05050102010706020507" charset="2"/>
              </a:rPr>
              <a:t>then </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Greek Symbols" pitchFamily="18" charset="2"/>
              </a:rPr>
              <a:t> </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Symbol" panose="05050102010706020507" charset="2"/>
              </a:rPr>
              <a:t> </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Monotype Sorts" charset="2"/>
              </a:rPr>
              <a:t> </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Symbol" panose="05050102010706020507" charset="2"/>
              </a:rPr>
              <a:t> </a:t>
            </a:r>
            <a:r>
              <a:rPr kumimoji="1" lang="en-US" altLang="zh-CN" sz="2000" b="0" i="0" u="none" strike="noStrike" kern="0" cap="none" spc="0" normalizeH="0" baseline="0" noProof="1">
                <a:solidFill>
                  <a:schemeClr val="tx1"/>
                </a:solidFill>
                <a:latin typeface="Arial" panose="020B0604020202020204"/>
                <a:ea typeface="+mn-ea"/>
                <a:cs typeface="Arial" panose="020B0604020202020204"/>
                <a:sym typeface="Monotype Sorts" charset="2"/>
              </a:rPr>
              <a:t> </a:t>
            </a:r>
            <a:r>
              <a:rPr kumimoji="1" lang="en-US" altLang="zh-CN" sz="2000" b="0" i="1" u="none" strike="noStrike" kern="0" cap="none" spc="0" normalizeH="0" baseline="0" noProof="1">
                <a:solidFill>
                  <a:schemeClr val="tx1"/>
                </a:solidFill>
                <a:latin typeface="Arial" panose="020B0604020202020204"/>
                <a:ea typeface="+mn-ea"/>
                <a:cs typeface="Arial" panose="020B0604020202020204"/>
                <a:sym typeface="Symbol" panose="05050102010706020507" charset="2"/>
              </a:rPr>
              <a:t>               </a:t>
            </a:r>
            <a:r>
              <a:rPr kumimoji="1" lang="en-US" altLang="zh-CN" sz="2000" b="1" i="0" u="none" strike="noStrike" kern="0" cap="none" spc="0" normalizeH="0" baseline="0" noProof="1">
                <a:solidFill>
                  <a:schemeClr val="tx1"/>
                </a:solidFill>
                <a:latin typeface="Arial" panose="020B0604020202020204"/>
                <a:ea typeface="+mn-ea"/>
                <a:cs typeface="Arial" panose="020B0604020202020204"/>
                <a:sym typeface="Symbol" panose="05050102010706020507" charset="2"/>
              </a:rPr>
              <a:t>(augmentation)</a:t>
            </a:r>
            <a:r>
              <a:rPr kumimoji="1" lang="zh-CN" altLang="en-US" sz="2000" b="1" i="0" u="none" strike="noStrike" kern="0" cap="none" spc="0" normalizeH="0" baseline="0" noProof="1">
                <a:solidFill>
                  <a:schemeClr val="bg2"/>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增广律</a:t>
            </a:r>
          </a:p>
        </p:txBody>
      </p:sp>
      <p:grpSp>
        <p:nvGrpSpPr>
          <p:cNvPr id="219140" name="Group 4"/>
          <p:cNvGrpSpPr/>
          <p:nvPr/>
        </p:nvGrpSpPr>
        <p:grpSpPr>
          <a:xfrm>
            <a:off x="2647950" y="4391025"/>
            <a:ext cx="3525838" cy="2054225"/>
            <a:chOff x="1235" y="2450"/>
            <a:chExt cx="2221" cy="1294"/>
          </a:xfrm>
        </p:grpSpPr>
        <p:sp>
          <p:nvSpPr>
            <p:cNvPr id="59396" name="Oval 5"/>
            <p:cNvSpPr/>
            <p:nvPr/>
          </p:nvSpPr>
          <p:spPr>
            <a:xfrm>
              <a:off x="2050" y="3005"/>
              <a:ext cx="1107" cy="562"/>
            </a:xfrm>
            <a:prstGeom prst="ellipse">
              <a:avLst/>
            </a:prstGeom>
            <a:gradFill rotWithShape="0">
              <a:gsLst>
                <a:gs pos="0">
                  <a:srgbClr val="FFFFCC"/>
                </a:gs>
                <a:gs pos="100000">
                  <a:srgbClr val="008000"/>
                </a:gs>
              </a:gsLst>
              <a:path path="shape">
                <a:fillToRect l="50000" t="50000" r="50000" b="50000"/>
              </a:path>
              <a:tileRect/>
            </a:gradFill>
            <a:ln w="9525" cap="flat" cmpd="sng">
              <a:solidFill>
                <a:srgbClr val="006600"/>
              </a:solidFill>
              <a:prstDash val="solid"/>
              <a:round/>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59397" name="Rectangle 6"/>
            <p:cNvSpPr/>
            <p:nvPr/>
          </p:nvSpPr>
          <p:spPr>
            <a:xfrm>
              <a:off x="2211" y="3226"/>
              <a:ext cx="210" cy="115"/>
            </a:xfrm>
            <a:prstGeom prst="rect">
              <a:avLst/>
            </a:prstGeom>
            <a:noFill/>
            <a:ln w="9525" cap="flat" cmpd="sng">
              <a:solidFill>
                <a:srgbClr val="000000"/>
              </a:solidFill>
              <a:prstDash val="solid"/>
              <a:miter/>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59398" name="Rectangle 7"/>
            <p:cNvSpPr/>
            <p:nvPr/>
          </p:nvSpPr>
          <p:spPr>
            <a:xfrm>
              <a:off x="2592" y="3352"/>
              <a:ext cx="209" cy="115"/>
            </a:xfrm>
            <a:prstGeom prst="rect">
              <a:avLst/>
            </a:prstGeom>
            <a:noFill/>
            <a:ln w="9525" cap="flat" cmpd="sng">
              <a:solidFill>
                <a:srgbClr val="000000"/>
              </a:solidFill>
              <a:prstDash val="solid"/>
              <a:miter/>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59399" name="Rectangle 8"/>
            <p:cNvSpPr/>
            <p:nvPr/>
          </p:nvSpPr>
          <p:spPr>
            <a:xfrm>
              <a:off x="2700" y="3100"/>
              <a:ext cx="209" cy="115"/>
            </a:xfrm>
            <a:prstGeom prst="rect">
              <a:avLst/>
            </a:prstGeom>
            <a:noFill/>
            <a:ln w="9525" cap="flat" cmpd="sng">
              <a:solidFill>
                <a:srgbClr val="000000"/>
              </a:solidFill>
              <a:prstDash val="solid"/>
              <a:miter/>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59400" name="Rectangle 9"/>
            <p:cNvSpPr/>
            <p:nvPr/>
          </p:nvSpPr>
          <p:spPr>
            <a:xfrm>
              <a:off x="1671" y="2942"/>
              <a:ext cx="210" cy="115"/>
            </a:xfrm>
            <a:prstGeom prst="rect">
              <a:avLst/>
            </a:prstGeom>
            <a:noFill/>
            <a:ln w="9525" cap="flat" cmpd="sng">
              <a:solidFill>
                <a:srgbClr val="000000"/>
              </a:solidFill>
              <a:prstDash val="solid"/>
              <a:miter/>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59401" name="Rectangle 10"/>
            <p:cNvSpPr/>
            <p:nvPr/>
          </p:nvSpPr>
          <p:spPr>
            <a:xfrm>
              <a:off x="1753" y="3510"/>
              <a:ext cx="209" cy="115"/>
            </a:xfrm>
            <a:prstGeom prst="rect">
              <a:avLst/>
            </a:prstGeom>
            <a:noFill/>
            <a:ln w="9525" cap="flat" cmpd="sng">
              <a:solidFill>
                <a:srgbClr val="000000"/>
              </a:solidFill>
              <a:prstDash val="solid"/>
              <a:miter/>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59402" name="Rectangle 11"/>
            <p:cNvSpPr/>
            <p:nvPr/>
          </p:nvSpPr>
          <p:spPr>
            <a:xfrm>
              <a:off x="1536" y="3226"/>
              <a:ext cx="209" cy="115"/>
            </a:xfrm>
            <a:prstGeom prst="rect">
              <a:avLst/>
            </a:prstGeom>
            <a:noFill/>
            <a:ln w="9525" cap="flat" cmpd="sng">
              <a:solidFill>
                <a:srgbClr val="000000"/>
              </a:solidFill>
              <a:prstDash val="solid"/>
              <a:miter/>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219148" name="Text Box 12"/>
            <p:cNvSpPr txBox="1">
              <a:spLocks noChangeArrowheads="1"/>
            </p:cNvSpPr>
            <p:nvPr/>
          </p:nvSpPr>
          <p:spPr bwMode="auto">
            <a:xfrm>
              <a:off x="2204" y="2832"/>
              <a:ext cx="244" cy="287"/>
            </a:xfrm>
            <a:prstGeom prst="rect">
              <a:avLst/>
            </a:prstGeom>
            <a:noFill/>
            <a:ln>
              <a:noFill/>
            </a:ln>
          </p:spPr>
          <p:txBody>
            <a:bodyPr lIns="0" tIns="0" rIns="0" bIns="0"/>
            <a:lstStyle/>
            <a:p>
              <a:pPr marR="0" algn="just" defTabSz="914400" eaLnBrk="0" hangingPunct="0"/>
              <a:r>
                <a:rPr kumimoji="0" lang="en-US" altLang="zh-CN" sz="2400" b="1" i="1" kern="1200" cap="none" spc="0" normalizeH="0" baseline="0" noProof="1">
                  <a:solidFill>
                    <a:srgbClr val="000099"/>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Symbol" panose="05050102010706020507" charset="2"/>
                </a:rPr>
                <a:t></a:t>
              </a:r>
            </a:p>
          </p:txBody>
        </p:sp>
        <p:sp>
          <p:nvSpPr>
            <p:cNvPr id="59404" name="Oval 13"/>
            <p:cNvSpPr/>
            <p:nvPr/>
          </p:nvSpPr>
          <p:spPr>
            <a:xfrm>
              <a:off x="1235" y="2734"/>
              <a:ext cx="2221" cy="1010"/>
            </a:xfrm>
            <a:prstGeom prst="ellipse">
              <a:avLst/>
            </a:prstGeom>
            <a:noFill/>
            <a:ln w="9525" cap="flat" cmpd="sng">
              <a:solidFill>
                <a:srgbClr val="000000"/>
              </a:solidFill>
              <a:prstDash val="solid"/>
              <a:round/>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219150" name="Text Box 14"/>
            <p:cNvSpPr txBox="1">
              <a:spLocks noChangeArrowheads="1"/>
            </p:cNvSpPr>
            <p:nvPr/>
          </p:nvSpPr>
          <p:spPr bwMode="auto">
            <a:xfrm>
              <a:off x="2233" y="2450"/>
              <a:ext cx="302" cy="252"/>
            </a:xfrm>
            <a:prstGeom prst="rect">
              <a:avLst/>
            </a:prstGeom>
            <a:noFill/>
            <a:ln>
              <a:noFill/>
            </a:ln>
          </p:spPr>
          <p:txBody>
            <a:bodyPr lIns="0" tIns="0" rIns="0" bIns="0"/>
            <a:lstStyle/>
            <a:p>
              <a:pPr marR="0" algn="just" defTabSz="914400" eaLnBrk="0" hangingPunct="0"/>
              <a:r>
                <a:rPr kumimoji="0" lang="en-US" altLang="zh-CN" sz="2400" b="1" kern="1200" cap="none" spc="0" normalizeH="0" baseline="0" noProof="1">
                  <a:solidFill>
                    <a:srgbClr val="000099"/>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Symbol" panose="05050102010706020507" charset="2"/>
                </a:rPr>
                <a:t></a:t>
              </a:r>
            </a:p>
          </p:txBody>
        </p:sp>
        <p:sp>
          <p:nvSpPr>
            <p:cNvPr id="59406" name="Freeform 15"/>
            <p:cNvSpPr/>
            <p:nvPr/>
          </p:nvSpPr>
          <p:spPr>
            <a:xfrm>
              <a:off x="2802" y="2644"/>
              <a:ext cx="583" cy="423"/>
            </a:xfrm>
            <a:custGeom>
              <a:avLst/>
              <a:gdLst/>
              <a:ahLst/>
              <a:cxnLst>
                <a:cxn ang="0">
                  <a:pos x="0" y="121"/>
                </a:cxn>
                <a:cxn ang="0">
                  <a:pos x="320" y="21"/>
                </a:cxn>
                <a:cxn ang="0">
                  <a:pos x="542" y="26"/>
                </a:cxn>
                <a:cxn ang="0">
                  <a:pos x="568" y="178"/>
                </a:cxn>
                <a:cxn ang="0">
                  <a:pos x="452" y="294"/>
                </a:cxn>
                <a:cxn ang="0">
                  <a:pos x="150" y="423"/>
                </a:cxn>
              </a:cxnLst>
              <a:rect l="0" t="0" r="0" b="0"/>
              <a:pathLst>
                <a:path w="583" h="423">
                  <a:moveTo>
                    <a:pt x="0" y="121"/>
                  </a:moveTo>
                  <a:cubicBezTo>
                    <a:pt x="53" y="105"/>
                    <a:pt x="230" y="38"/>
                    <a:pt x="320" y="21"/>
                  </a:cubicBezTo>
                  <a:cubicBezTo>
                    <a:pt x="410" y="5"/>
                    <a:pt x="501" y="0"/>
                    <a:pt x="542" y="26"/>
                  </a:cubicBezTo>
                  <a:cubicBezTo>
                    <a:pt x="583" y="52"/>
                    <a:pt x="583" y="133"/>
                    <a:pt x="568" y="178"/>
                  </a:cubicBezTo>
                  <a:cubicBezTo>
                    <a:pt x="553" y="223"/>
                    <a:pt x="522" y="253"/>
                    <a:pt x="452" y="294"/>
                  </a:cubicBezTo>
                  <a:cubicBezTo>
                    <a:pt x="382" y="335"/>
                    <a:pt x="213" y="396"/>
                    <a:pt x="150" y="423"/>
                  </a:cubicBezTo>
                </a:path>
              </a:pathLst>
            </a:custGeom>
            <a:noFill/>
            <a:ln w="28575" cap="flat" cmpd="sng">
              <a:solidFill>
                <a:srgbClr val="993366"/>
              </a:solidFill>
              <a:prstDash val="solid"/>
              <a:round/>
              <a:headEnd type="none" w="med" len="med"/>
              <a:tailEnd type="triangle" w="sm" len="med"/>
            </a:ln>
          </p:spPr>
          <p:txBody>
            <a:bodyPr/>
            <a:lstStyle/>
            <a:p>
              <a:endParaRPr lang="zh-CN" altLang="en-US"/>
            </a:p>
          </p:txBody>
        </p:sp>
      </p:grpSp>
      <p:sp>
        <p:nvSpPr>
          <p:cNvPr id="219152" name="Oval 16"/>
          <p:cNvSpPr/>
          <p:nvPr/>
        </p:nvSpPr>
        <p:spPr>
          <a:xfrm rot="1672356">
            <a:off x="2095500" y="4889500"/>
            <a:ext cx="3179763" cy="1514475"/>
          </a:xfrm>
          <a:prstGeom prst="ellipse">
            <a:avLst/>
          </a:prstGeom>
          <a:noFill/>
          <a:ln w="28575" cap="flat" cmpd="sng">
            <a:solidFill>
              <a:srgbClr val="993366"/>
            </a:solidFill>
            <a:prstDash val="solid"/>
            <a:round/>
            <a:headEnd type="none" w="med" len="med"/>
            <a:tailEnd type="none" w="med" len="med"/>
          </a:ln>
        </p:spPr>
        <p:txBody>
          <a:bodyPr anchor="t"/>
          <a:lstStyle/>
          <a:p>
            <a:pPr eaLnBrk="0" hangingPunct="0"/>
            <a:endParaRPr lang="zh-CN" altLang="en-US" dirty="0">
              <a:latin typeface="Helvetica" panose="020B0604020202030204" charset="0"/>
            </a:endParaRPr>
          </a:p>
        </p:txBody>
      </p:sp>
      <p:grpSp>
        <p:nvGrpSpPr>
          <p:cNvPr id="219153" name="Group 17"/>
          <p:cNvGrpSpPr/>
          <p:nvPr/>
        </p:nvGrpSpPr>
        <p:grpSpPr>
          <a:xfrm>
            <a:off x="2560638" y="4718050"/>
            <a:ext cx="3819525" cy="1825625"/>
            <a:chOff x="1613" y="2642"/>
            <a:chExt cx="2406" cy="1150"/>
          </a:xfrm>
        </p:grpSpPr>
        <p:grpSp>
          <p:nvGrpSpPr>
            <p:cNvPr id="59409" name="Group 18"/>
            <p:cNvGrpSpPr/>
            <p:nvPr/>
          </p:nvGrpSpPr>
          <p:grpSpPr>
            <a:xfrm>
              <a:off x="1613" y="2642"/>
              <a:ext cx="731" cy="609"/>
              <a:chOff x="5686" y="2826"/>
              <a:chExt cx="899" cy="831"/>
            </a:xfrm>
          </p:grpSpPr>
          <p:sp>
            <p:nvSpPr>
              <p:cNvPr id="59410" name="Oval 19"/>
              <p:cNvSpPr/>
              <p:nvPr/>
            </p:nvSpPr>
            <p:spPr>
              <a:xfrm>
                <a:off x="5686" y="3105"/>
                <a:ext cx="899" cy="552"/>
              </a:xfrm>
              <a:prstGeom prst="ellipse">
                <a:avLst/>
              </a:prstGeom>
              <a:noFill/>
              <a:ln w="9525" cap="flat" cmpd="sng">
                <a:solidFill>
                  <a:srgbClr val="000000"/>
                </a:solidFill>
                <a:prstDash val="solid"/>
                <a:round/>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59411" name="Rectangle 20"/>
              <p:cNvSpPr/>
              <p:nvPr/>
            </p:nvSpPr>
            <p:spPr>
              <a:xfrm>
                <a:off x="5865" y="3322"/>
                <a:ext cx="170" cy="113"/>
              </a:xfrm>
              <a:prstGeom prst="rect">
                <a:avLst/>
              </a:prstGeom>
              <a:noFill/>
              <a:ln w="9525" cap="flat" cmpd="sng">
                <a:solidFill>
                  <a:srgbClr val="000000"/>
                </a:solidFill>
                <a:prstDash val="solid"/>
                <a:miter/>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59412" name="Rectangle 21"/>
              <p:cNvSpPr/>
              <p:nvPr/>
            </p:nvSpPr>
            <p:spPr>
              <a:xfrm>
                <a:off x="6214" y="3323"/>
                <a:ext cx="170" cy="113"/>
              </a:xfrm>
              <a:prstGeom prst="rect">
                <a:avLst/>
              </a:prstGeom>
              <a:noFill/>
              <a:ln w="9525" cap="flat" cmpd="sng">
                <a:solidFill>
                  <a:srgbClr val="000000"/>
                </a:solidFill>
                <a:prstDash val="solid"/>
                <a:miter/>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219158" name="Text Box 22"/>
              <p:cNvSpPr txBox="1">
                <a:spLocks noChangeArrowheads="1"/>
              </p:cNvSpPr>
              <p:nvPr/>
            </p:nvSpPr>
            <p:spPr bwMode="auto">
              <a:xfrm>
                <a:off x="6100" y="2826"/>
                <a:ext cx="198" cy="282"/>
              </a:xfrm>
              <a:prstGeom prst="rect">
                <a:avLst/>
              </a:prstGeom>
              <a:noFill/>
              <a:ln>
                <a:noFill/>
              </a:ln>
            </p:spPr>
            <p:txBody>
              <a:bodyPr lIns="0" tIns="0" rIns="0" bIns="0"/>
              <a:lstStyle/>
              <a:p>
                <a:pPr marR="0" algn="just" defTabSz="914400" eaLnBrk="0" hangingPunct="0"/>
                <a:r>
                  <a:rPr kumimoji="0" lang="en-US" altLang="zh-CN" sz="2400" b="1" kern="1200" cap="none" spc="0" normalizeH="0" baseline="0" noProof="1">
                    <a:solidFill>
                      <a:srgbClr val="000099"/>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Symbol" panose="05050102010706020507" charset="2"/>
                  </a:rPr>
                  <a:t></a:t>
                </a:r>
              </a:p>
            </p:txBody>
          </p:sp>
        </p:grpSp>
        <p:grpSp>
          <p:nvGrpSpPr>
            <p:cNvPr id="59414" name="Group 23"/>
            <p:cNvGrpSpPr/>
            <p:nvPr/>
          </p:nvGrpSpPr>
          <p:grpSpPr>
            <a:xfrm>
              <a:off x="3288" y="2642"/>
              <a:ext cx="731" cy="609"/>
              <a:chOff x="5686" y="2826"/>
              <a:chExt cx="899" cy="831"/>
            </a:xfrm>
          </p:grpSpPr>
          <p:sp>
            <p:nvSpPr>
              <p:cNvPr id="59415" name="Oval 24"/>
              <p:cNvSpPr/>
              <p:nvPr/>
            </p:nvSpPr>
            <p:spPr>
              <a:xfrm>
                <a:off x="5686" y="3105"/>
                <a:ext cx="899" cy="552"/>
              </a:xfrm>
              <a:prstGeom prst="ellipse">
                <a:avLst/>
              </a:prstGeom>
              <a:noFill/>
              <a:ln w="9525" cap="flat" cmpd="sng">
                <a:solidFill>
                  <a:srgbClr val="000000"/>
                </a:solidFill>
                <a:prstDash val="solid"/>
                <a:round/>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59416" name="Rectangle 25"/>
              <p:cNvSpPr/>
              <p:nvPr/>
            </p:nvSpPr>
            <p:spPr>
              <a:xfrm>
                <a:off x="5865" y="3322"/>
                <a:ext cx="170" cy="113"/>
              </a:xfrm>
              <a:prstGeom prst="rect">
                <a:avLst/>
              </a:prstGeom>
              <a:noFill/>
              <a:ln w="9525" cap="flat" cmpd="sng">
                <a:solidFill>
                  <a:srgbClr val="000000"/>
                </a:solidFill>
                <a:prstDash val="solid"/>
                <a:miter/>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59417" name="Rectangle 26"/>
              <p:cNvSpPr/>
              <p:nvPr/>
            </p:nvSpPr>
            <p:spPr>
              <a:xfrm>
                <a:off x="6214" y="3323"/>
                <a:ext cx="170" cy="113"/>
              </a:xfrm>
              <a:prstGeom prst="rect">
                <a:avLst/>
              </a:prstGeom>
              <a:noFill/>
              <a:ln w="9525" cap="flat" cmpd="sng">
                <a:solidFill>
                  <a:srgbClr val="000000"/>
                </a:solidFill>
                <a:prstDash val="solid"/>
                <a:miter/>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219163" name="Text Box 27"/>
              <p:cNvSpPr txBox="1">
                <a:spLocks noChangeArrowheads="1"/>
              </p:cNvSpPr>
              <p:nvPr/>
            </p:nvSpPr>
            <p:spPr bwMode="auto">
              <a:xfrm>
                <a:off x="6100" y="2826"/>
                <a:ext cx="198" cy="282"/>
              </a:xfrm>
              <a:prstGeom prst="rect">
                <a:avLst/>
              </a:prstGeom>
              <a:noFill/>
              <a:ln>
                <a:noFill/>
              </a:ln>
            </p:spPr>
            <p:txBody>
              <a:bodyPr lIns="0" tIns="0" rIns="0" bIns="0"/>
              <a:lstStyle/>
              <a:p>
                <a:pPr marR="0" algn="just" defTabSz="914400" eaLnBrk="0" hangingPunct="0"/>
                <a:r>
                  <a:rPr kumimoji="0" lang="en-US" altLang="zh-CN" sz="2400" b="1" i="1" kern="1200" cap="none" spc="0" normalizeH="0" baseline="0" noProof="1">
                    <a:solidFill>
                      <a:srgbClr val="000099"/>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Symbol" panose="05050102010706020507" charset="2"/>
                  </a:rPr>
                  <a:t></a:t>
                </a:r>
              </a:p>
            </p:txBody>
          </p:sp>
        </p:grpSp>
        <p:grpSp>
          <p:nvGrpSpPr>
            <p:cNvPr id="59419" name="Group 28"/>
            <p:cNvGrpSpPr/>
            <p:nvPr/>
          </p:nvGrpSpPr>
          <p:grpSpPr>
            <a:xfrm>
              <a:off x="2435" y="3183"/>
              <a:ext cx="731" cy="609"/>
              <a:chOff x="3551" y="3183"/>
              <a:chExt cx="731" cy="609"/>
            </a:xfrm>
          </p:grpSpPr>
          <p:sp>
            <p:nvSpPr>
              <p:cNvPr id="59420" name="Oval 29"/>
              <p:cNvSpPr/>
              <p:nvPr/>
            </p:nvSpPr>
            <p:spPr>
              <a:xfrm>
                <a:off x="3551" y="3387"/>
                <a:ext cx="731" cy="405"/>
              </a:xfrm>
              <a:prstGeom prst="ellipse">
                <a:avLst/>
              </a:prstGeom>
              <a:gradFill rotWithShape="0">
                <a:gsLst>
                  <a:gs pos="0">
                    <a:srgbClr val="FFFFCC"/>
                  </a:gs>
                  <a:gs pos="100000">
                    <a:srgbClr val="006600"/>
                  </a:gs>
                </a:gsLst>
                <a:path path="shape">
                  <a:fillToRect l="50000" t="50000" r="50000" b="50000"/>
                </a:path>
                <a:tileRect/>
              </a:gradFill>
              <a:ln w="9525" cap="flat" cmpd="sng">
                <a:solidFill>
                  <a:srgbClr val="000000"/>
                </a:solidFill>
                <a:prstDash val="solid"/>
                <a:round/>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59421" name="Rectangle 30"/>
              <p:cNvSpPr/>
              <p:nvPr/>
            </p:nvSpPr>
            <p:spPr>
              <a:xfrm>
                <a:off x="3697" y="3546"/>
                <a:ext cx="138" cy="83"/>
              </a:xfrm>
              <a:prstGeom prst="rect">
                <a:avLst/>
              </a:prstGeom>
              <a:noFill/>
              <a:ln w="9525" cap="flat" cmpd="sng">
                <a:solidFill>
                  <a:srgbClr val="000000"/>
                </a:solidFill>
                <a:prstDash val="solid"/>
                <a:miter/>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59422" name="Rectangle 31"/>
              <p:cNvSpPr/>
              <p:nvPr/>
            </p:nvSpPr>
            <p:spPr>
              <a:xfrm>
                <a:off x="3978" y="3547"/>
                <a:ext cx="138" cy="83"/>
              </a:xfrm>
              <a:prstGeom prst="rect">
                <a:avLst/>
              </a:prstGeom>
              <a:noFill/>
              <a:ln w="9525" cap="flat" cmpd="sng">
                <a:solidFill>
                  <a:srgbClr val="000000"/>
                </a:solidFill>
                <a:prstDash val="solid"/>
                <a:miter/>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219168" name="Text Box 32"/>
              <p:cNvSpPr txBox="1">
                <a:spLocks noChangeArrowheads="1"/>
              </p:cNvSpPr>
              <p:nvPr/>
            </p:nvSpPr>
            <p:spPr bwMode="auto">
              <a:xfrm>
                <a:off x="3888" y="3183"/>
                <a:ext cx="161" cy="207"/>
              </a:xfrm>
              <a:prstGeom prst="rect">
                <a:avLst/>
              </a:prstGeom>
              <a:noFill/>
              <a:ln>
                <a:noFill/>
              </a:ln>
            </p:spPr>
            <p:txBody>
              <a:bodyPr lIns="0" tIns="0" rIns="0" bIns="0"/>
              <a:lstStyle/>
              <a:p>
                <a:pPr marR="0" algn="just" defTabSz="914400" eaLnBrk="0" hangingPunct="0"/>
                <a:r>
                  <a:rPr kumimoji="0" lang="en-US" altLang="zh-CN" sz="2400" b="1" kern="1200" cap="none" spc="0" normalizeH="0" baseline="0" noProof="1">
                    <a:solidFill>
                      <a:srgbClr val="990033"/>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Symbol" panose="05050102010706020507" charset="2"/>
                  </a:rPr>
                  <a:t></a:t>
                </a:r>
              </a:p>
            </p:txBody>
          </p:sp>
        </p:grpSp>
      </p:grpSp>
      <p:sp>
        <p:nvSpPr>
          <p:cNvPr id="219169" name="Oval 33"/>
          <p:cNvSpPr/>
          <p:nvPr/>
        </p:nvSpPr>
        <p:spPr>
          <a:xfrm rot="-1672356" flipH="1">
            <a:off x="3640138" y="4889500"/>
            <a:ext cx="3179762" cy="1514475"/>
          </a:xfrm>
          <a:prstGeom prst="ellipse">
            <a:avLst/>
          </a:prstGeom>
          <a:noFill/>
          <a:ln w="28575" cap="flat" cmpd="sng">
            <a:solidFill>
              <a:srgbClr val="3366FF"/>
            </a:solidFill>
            <a:prstDash val="solid"/>
            <a:round/>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219170" name="Freeform 34"/>
          <p:cNvSpPr/>
          <p:nvPr/>
        </p:nvSpPr>
        <p:spPr>
          <a:xfrm>
            <a:off x="3525838" y="4910138"/>
            <a:ext cx="1789112" cy="269875"/>
          </a:xfrm>
          <a:custGeom>
            <a:avLst/>
            <a:gdLst/>
            <a:ahLst/>
            <a:cxnLst>
              <a:cxn ang="0">
                <a:pos x="0" y="2147483647"/>
              </a:cxn>
              <a:cxn ang="0">
                <a:pos x="2147483647" y="2147483647"/>
              </a:cxn>
              <a:cxn ang="0">
                <a:pos x="2147483647" y="2147483647"/>
              </a:cxn>
              <a:cxn ang="0">
                <a:pos x="2147483647" y="2147483647"/>
              </a:cxn>
              <a:cxn ang="0">
                <a:pos x="2147483647" y="2147483647"/>
              </a:cxn>
            </a:cxnLst>
            <a:rect l="0" t="0" r="0" b="0"/>
            <a:pathLst>
              <a:path w="1386" h="232">
                <a:moveTo>
                  <a:pt x="0" y="201"/>
                </a:moveTo>
                <a:cubicBezTo>
                  <a:pt x="93" y="154"/>
                  <a:pt x="187" y="108"/>
                  <a:pt x="308" y="77"/>
                </a:cubicBezTo>
                <a:cubicBezTo>
                  <a:pt x="429" y="46"/>
                  <a:pt x="565" y="0"/>
                  <a:pt x="726" y="15"/>
                </a:cubicBezTo>
                <a:cubicBezTo>
                  <a:pt x="887" y="30"/>
                  <a:pt x="1166" y="134"/>
                  <a:pt x="1276" y="170"/>
                </a:cubicBezTo>
                <a:cubicBezTo>
                  <a:pt x="1386" y="206"/>
                  <a:pt x="1386" y="219"/>
                  <a:pt x="1386" y="232"/>
                </a:cubicBezTo>
              </a:path>
            </a:pathLst>
          </a:custGeom>
          <a:noFill/>
          <a:ln w="28575" cap="flat" cmpd="sng">
            <a:solidFill>
              <a:srgbClr val="006600"/>
            </a:solidFill>
            <a:prstDash val="solid"/>
            <a:round/>
            <a:headEnd type="none" w="med" len="med"/>
            <a:tailEnd type="triangle" w="sm" len="med"/>
          </a:ln>
        </p:spPr>
        <p:txBody>
          <a:bodyPr/>
          <a:lstStyle/>
          <a:p>
            <a:endParaRPr lang="zh-CN" altLang="en-US"/>
          </a:p>
        </p:txBody>
      </p:sp>
      <p:sp>
        <p:nvSpPr>
          <p:cNvPr id="219171" name="Freeform 35"/>
          <p:cNvSpPr/>
          <p:nvPr/>
        </p:nvSpPr>
        <p:spPr>
          <a:xfrm>
            <a:off x="3322638" y="4486275"/>
            <a:ext cx="2214562" cy="300038"/>
          </a:xfrm>
          <a:custGeom>
            <a:avLst/>
            <a:gdLst/>
            <a:ahLst/>
            <a:cxnLst>
              <a:cxn ang="0">
                <a:pos x="0" y="2147483647"/>
              </a:cxn>
              <a:cxn ang="0">
                <a:pos x="2147483647" y="2147483647"/>
              </a:cxn>
              <a:cxn ang="0">
                <a:pos x="2147483647" y="2147483647"/>
              </a:cxn>
              <a:cxn ang="0">
                <a:pos x="2147483647" y="2147483647"/>
              </a:cxn>
              <a:cxn ang="0">
                <a:pos x="2147483647" y="2147483647"/>
              </a:cxn>
            </a:cxnLst>
            <a:rect l="0" t="0" r="0" b="0"/>
            <a:pathLst>
              <a:path w="1716" h="258">
                <a:moveTo>
                  <a:pt x="0" y="227"/>
                </a:moveTo>
                <a:cubicBezTo>
                  <a:pt x="148" y="152"/>
                  <a:pt x="297" y="77"/>
                  <a:pt x="440" y="41"/>
                </a:cubicBezTo>
                <a:cubicBezTo>
                  <a:pt x="583" y="5"/>
                  <a:pt x="700" y="0"/>
                  <a:pt x="858" y="10"/>
                </a:cubicBezTo>
                <a:cubicBezTo>
                  <a:pt x="1016" y="20"/>
                  <a:pt x="1243" y="62"/>
                  <a:pt x="1386" y="103"/>
                </a:cubicBezTo>
                <a:cubicBezTo>
                  <a:pt x="1529" y="144"/>
                  <a:pt x="1622" y="201"/>
                  <a:pt x="1716" y="258"/>
                </a:cubicBezTo>
              </a:path>
            </a:pathLst>
          </a:custGeom>
          <a:noFill/>
          <a:ln w="38100" cap="flat" cmpd="sng">
            <a:solidFill>
              <a:srgbClr val="CC00CC"/>
            </a:solidFill>
            <a:prstDash val="solid"/>
            <a:round/>
            <a:headEnd type="none" w="med" len="med"/>
            <a:tailEnd type="triangle" w="sm" len="med"/>
          </a:ln>
        </p:spPr>
        <p:txBody>
          <a:bodyPr/>
          <a:lstStyle/>
          <a:p>
            <a:endParaRPr lang="zh-CN" altLang="en-US"/>
          </a:p>
        </p:txBody>
      </p:sp>
      <p:grpSp>
        <p:nvGrpSpPr>
          <p:cNvPr id="219172" name="Group 36"/>
          <p:cNvGrpSpPr/>
          <p:nvPr/>
        </p:nvGrpSpPr>
        <p:grpSpPr>
          <a:xfrm>
            <a:off x="2190750" y="4524375"/>
            <a:ext cx="4648200" cy="1447800"/>
            <a:chOff x="1728" y="2064"/>
            <a:chExt cx="2928" cy="912"/>
          </a:xfrm>
        </p:grpSpPr>
        <p:grpSp>
          <p:nvGrpSpPr>
            <p:cNvPr id="59428" name="Group 37"/>
            <p:cNvGrpSpPr/>
            <p:nvPr/>
          </p:nvGrpSpPr>
          <p:grpSpPr>
            <a:xfrm>
              <a:off x="1728" y="2111"/>
              <a:ext cx="838" cy="865"/>
              <a:chOff x="5686" y="2826"/>
              <a:chExt cx="899" cy="831"/>
            </a:xfrm>
          </p:grpSpPr>
          <p:sp>
            <p:nvSpPr>
              <p:cNvPr id="59429" name="Oval 38"/>
              <p:cNvSpPr/>
              <p:nvPr/>
            </p:nvSpPr>
            <p:spPr>
              <a:xfrm>
                <a:off x="5686" y="3105"/>
                <a:ext cx="899" cy="552"/>
              </a:xfrm>
              <a:prstGeom prst="ellipse">
                <a:avLst/>
              </a:prstGeom>
              <a:noFill/>
              <a:ln w="9525" cap="flat" cmpd="sng">
                <a:solidFill>
                  <a:srgbClr val="000000"/>
                </a:solidFill>
                <a:prstDash val="solid"/>
                <a:round/>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59430" name="Rectangle 39"/>
              <p:cNvSpPr/>
              <p:nvPr/>
            </p:nvSpPr>
            <p:spPr>
              <a:xfrm>
                <a:off x="5865" y="3322"/>
                <a:ext cx="170" cy="113"/>
              </a:xfrm>
              <a:prstGeom prst="rect">
                <a:avLst/>
              </a:prstGeom>
              <a:noFill/>
              <a:ln w="9525" cap="flat" cmpd="sng">
                <a:solidFill>
                  <a:srgbClr val="000000"/>
                </a:solidFill>
                <a:prstDash val="solid"/>
                <a:miter/>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59431" name="Rectangle 40"/>
              <p:cNvSpPr/>
              <p:nvPr/>
            </p:nvSpPr>
            <p:spPr>
              <a:xfrm>
                <a:off x="6214" y="3323"/>
                <a:ext cx="170" cy="113"/>
              </a:xfrm>
              <a:prstGeom prst="rect">
                <a:avLst/>
              </a:prstGeom>
              <a:noFill/>
              <a:ln w="9525" cap="flat" cmpd="sng">
                <a:solidFill>
                  <a:srgbClr val="000000"/>
                </a:solidFill>
                <a:prstDash val="solid"/>
                <a:miter/>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219177" name="Text Box 41"/>
              <p:cNvSpPr txBox="1">
                <a:spLocks noChangeArrowheads="1"/>
              </p:cNvSpPr>
              <p:nvPr/>
            </p:nvSpPr>
            <p:spPr bwMode="auto">
              <a:xfrm>
                <a:off x="6101" y="2826"/>
                <a:ext cx="196" cy="282"/>
              </a:xfrm>
              <a:prstGeom prst="rect">
                <a:avLst/>
              </a:prstGeom>
              <a:noFill/>
              <a:ln>
                <a:noFill/>
              </a:ln>
            </p:spPr>
            <p:txBody>
              <a:bodyPr lIns="0" tIns="0" rIns="0" bIns="0"/>
              <a:lstStyle/>
              <a:p>
                <a:pPr marR="0" algn="just" defTabSz="914400" eaLnBrk="0" hangingPunct="0"/>
                <a:r>
                  <a:rPr kumimoji="0" lang="en-US" altLang="zh-CN" sz="2400" b="1" kern="1200" cap="none" spc="0" normalizeH="0" baseline="0" noProof="1">
                    <a:solidFill>
                      <a:srgbClr val="000099"/>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Symbol" panose="05050102010706020507" charset="2"/>
                  </a:rPr>
                  <a:t></a:t>
                </a:r>
              </a:p>
            </p:txBody>
          </p:sp>
        </p:grpSp>
        <p:grpSp>
          <p:nvGrpSpPr>
            <p:cNvPr id="59433" name="Group 42"/>
            <p:cNvGrpSpPr/>
            <p:nvPr/>
          </p:nvGrpSpPr>
          <p:grpSpPr>
            <a:xfrm>
              <a:off x="2792" y="2111"/>
              <a:ext cx="838" cy="865"/>
              <a:chOff x="5686" y="2826"/>
              <a:chExt cx="899" cy="831"/>
            </a:xfrm>
          </p:grpSpPr>
          <p:sp>
            <p:nvSpPr>
              <p:cNvPr id="59434" name="Oval 43"/>
              <p:cNvSpPr/>
              <p:nvPr/>
            </p:nvSpPr>
            <p:spPr>
              <a:xfrm>
                <a:off x="5686" y="3105"/>
                <a:ext cx="899" cy="552"/>
              </a:xfrm>
              <a:prstGeom prst="ellipse">
                <a:avLst/>
              </a:prstGeom>
              <a:noFill/>
              <a:ln w="9525" cap="flat" cmpd="sng">
                <a:solidFill>
                  <a:srgbClr val="000000"/>
                </a:solidFill>
                <a:prstDash val="solid"/>
                <a:round/>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59435" name="Rectangle 44"/>
              <p:cNvSpPr/>
              <p:nvPr/>
            </p:nvSpPr>
            <p:spPr>
              <a:xfrm>
                <a:off x="5865" y="3322"/>
                <a:ext cx="170" cy="113"/>
              </a:xfrm>
              <a:prstGeom prst="rect">
                <a:avLst/>
              </a:prstGeom>
              <a:noFill/>
              <a:ln w="9525" cap="flat" cmpd="sng">
                <a:solidFill>
                  <a:srgbClr val="000000"/>
                </a:solidFill>
                <a:prstDash val="solid"/>
                <a:miter/>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59436" name="Rectangle 45"/>
              <p:cNvSpPr/>
              <p:nvPr/>
            </p:nvSpPr>
            <p:spPr>
              <a:xfrm>
                <a:off x="6214" y="3323"/>
                <a:ext cx="170" cy="113"/>
              </a:xfrm>
              <a:prstGeom prst="rect">
                <a:avLst/>
              </a:prstGeom>
              <a:noFill/>
              <a:ln w="9525" cap="flat" cmpd="sng">
                <a:solidFill>
                  <a:srgbClr val="000000"/>
                </a:solidFill>
                <a:prstDash val="solid"/>
                <a:miter/>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219182" name="Text Box 46"/>
              <p:cNvSpPr txBox="1">
                <a:spLocks noChangeArrowheads="1"/>
              </p:cNvSpPr>
              <p:nvPr/>
            </p:nvSpPr>
            <p:spPr bwMode="auto">
              <a:xfrm>
                <a:off x="6101" y="2826"/>
                <a:ext cx="196" cy="282"/>
              </a:xfrm>
              <a:prstGeom prst="rect">
                <a:avLst/>
              </a:prstGeom>
              <a:noFill/>
              <a:ln>
                <a:noFill/>
              </a:ln>
            </p:spPr>
            <p:txBody>
              <a:bodyPr lIns="0" tIns="0" rIns="0" bIns="0"/>
              <a:lstStyle/>
              <a:p>
                <a:pPr marR="0" algn="just" defTabSz="914400" eaLnBrk="0" hangingPunct="0"/>
                <a:r>
                  <a:rPr kumimoji="0" lang="en-US" altLang="zh-CN" sz="2400" b="1" i="1" kern="1200" cap="none" spc="0" normalizeH="0" baseline="0" noProof="1">
                    <a:solidFill>
                      <a:srgbClr val="000099"/>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Symbol" panose="05050102010706020507" charset="2"/>
                  </a:rPr>
                  <a:t></a:t>
                </a:r>
              </a:p>
            </p:txBody>
          </p:sp>
        </p:grpSp>
        <p:grpSp>
          <p:nvGrpSpPr>
            <p:cNvPr id="59438" name="Group 47"/>
            <p:cNvGrpSpPr/>
            <p:nvPr/>
          </p:nvGrpSpPr>
          <p:grpSpPr>
            <a:xfrm>
              <a:off x="3818" y="2111"/>
              <a:ext cx="838" cy="865"/>
              <a:chOff x="7974" y="2826"/>
              <a:chExt cx="899" cy="831"/>
            </a:xfrm>
          </p:grpSpPr>
          <p:sp>
            <p:nvSpPr>
              <p:cNvPr id="59439" name="Oval 48"/>
              <p:cNvSpPr/>
              <p:nvPr/>
            </p:nvSpPr>
            <p:spPr>
              <a:xfrm>
                <a:off x="7974" y="3105"/>
                <a:ext cx="899" cy="552"/>
              </a:xfrm>
              <a:prstGeom prst="ellipse">
                <a:avLst/>
              </a:prstGeom>
              <a:noFill/>
              <a:ln w="9525" cap="flat" cmpd="sng">
                <a:solidFill>
                  <a:srgbClr val="000000"/>
                </a:solidFill>
                <a:prstDash val="solid"/>
                <a:round/>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59440" name="Rectangle 49"/>
              <p:cNvSpPr/>
              <p:nvPr/>
            </p:nvSpPr>
            <p:spPr>
              <a:xfrm>
                <a:off x="8153" y="3322"/>
                <a:ext cx="170" cy="113"/>
              </a:xfrm>
              <a:prstGeom prst="rect">
                <a:avLst/>
              </a:prstGeom>
              <a:noFill/>
              <a:ln w="9525" cap="flat" cmpd="sng">
                <a:solidFill>
                  <a:srgbClr val="000000"/>
                </a:solidFill>
                <a:prstDash val="solid"/>
                <a:miter/>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59441" name="Rectangle 50"/>
              <p:cNvSpPr/>
              <p:nvPr/>
            </p:nvSpPr>
            <p:spPr>
              <a:xfrm>
                <a:off x="8499" y="3323"/>
                <a:ext cx="170" cy="113"/>
              </a:xfrm>
              <a:prstGeom prst="rect">
                <a:avLst/>
              </a:prstGeom>
              <a:noFill/>
              <a:ln w="9525" cap="flat" cmpd="sng">
                <a:solidFill>
                  <a:srgbClr val="000000"/>
                </a:solidFill>
                <a:prstDash val="solid"/>
                <a:miter/>
                <a:headEnd type="none" w="med" len="med"/>
                <a:tailEnd type="none" w="med" len="med"/>
              </a:ln>
            </p:spPr>
            <p:txBody>
              <a:bodyPr anchor="t"/>
              <a:lstStyle/>
              <a:p>
                <a:pPr eaLnBrk="0" hangingPunct="0"/>
                <a:endParaRPr lang="zh-CN" altLang="en-US" dirty="0">
                  <a:latin typeface="Helvetica" panose="020B0604020202030204" charset="0"/>
                </a:endParaRPr>
              </a:p>
            </p:txBody>
          </p:sp>
          <p:sp>
            <p:nvSpPr>
              <p:cNvPr id="219187" name="Text Box 51"/>
              <p:cNvSpPr txBox="1">
                <a:spLocks noChangeArrowheads="1"/>
              </p:cNvSpPr>
              <p:nvPr/>
            </p:nvSpPr>
            <p:spPr bwMode="auto">
              <a:xfrm>
                <a:off x="8389" y="2826"/>
                <a:ext cx="196" cy="282"/>
              </a:xfrm>
              <a:prstGeom prst="rect">
                <a:avLst/>
              </a:prstGeom>
              <a:noFill/>
              <a:ln>
                <a:noFill/>
              </a:ln>
            </p:spPr>
            <p:txBody>
              <a:bodyPr lIns="0" tIns="0" rIns="0" bIns="0"/>
              <a:lstStyle/>
              <a:p>
                <a:pPr marR="0" algn="just" defTabSz="914400" eaLnBrk="0" hangingPunct="0"/>
                <a:r>
                  <a:rPr kumimoji="0" lang="en-US" altLang="zh-CN" sz="2400" b="1" kern="1200" cap="none" spc="0" normalizeH="0" baseline="0" noProof="1">
                    <a:solidFill>
                      <a:srgbClr val="000099"/>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Symbol" panose="05050102010706020507" charset="2"/>
                  </a:rPr>
                  <a:t></a:t>
                </a:r>
              </a:p>
            </p:txBody>
          </p:sp>
        </p:grpSp>
        <p:sp>
          <p:nvSpPr>
            <p:cNvPr id="59443" name="Freeform 52"/>
            <p:cNvSpPr/>
            <p:nvPr/>
          </p:nvSpPr>
          <p:spPr>
            <a:xfrm>
              <a:off x="2543" y="2525"/>
              <a:ext cx="287" cy="70"/>
            </a:xfrm>
            <a:custGeom>
              <a:avLst/>
              <a:gdLst/>
              <a:ahLst/>
              <a:cxnLst>
                <a:cxn ang="0">
                  <a:pos x="0" y="48"/>
                </a:cxn>
                <a:cxn ang="0">
                  <a:pos x="101" y="5"/>
                </a:cxn>
                <a:cxn ang="0">
                  <a:pos x="201" y="87"/>
                </a:cxn>
              </a:cxnLst>
              <a:rect l="0" t="0" r="0" b="0"/>
              <a:pathLst>
                <a:path w="308" h="67">
                  <a:moveTo>
                    <a:pt x="0" y="36"/>
                  </a:moveTo>
                  <a:cubicBezTo>
                    <a:pt x="51" y="18"/>
                    <a:pt x="103" y="0"/>
                    <a:pt x="154" y="5"/>
                  </a:cubicBezTo>
                  <a:cubicBezTo>
                    <a:pt x="205" y="10"/>
                    <a:pt x="282" y="57"/>
                    <a:pt x="308" y="67"/>
                  </a:cubicBezTo>
                </a:path>
              </a:pathLst>
            </a:custGeom>
            <a:noFill/>
            <a:ln w="28575" cap="flat" cmpd="sng">
              <a:solidFill>
                <a:srgbClr val="000000"/>
              </a:solidFill>
              <a:prstDash val="solid"/>
              <a:round/>
              <a:headEnd type="none" w="med" len="med"/>
              <a:tailEnd type="triangle" w="sm" len="med"/>
            </a:ln>
          </p:spPr>
          <p:txBody>
            <a:bodyPr/>
            <a:lstStyle/>
            <a:p>
              <a:endParaRPr lang="zh-CN" altLang="en-US"/>
            </a:p>
          </p:txBody>
        </p:sp>
        <p:sp>
          <p:nvSpPr>
            <p:cNvPr id="59444" name="Freeform 53"/>
            <p:cNvSpPr/>
            <p:nvPr/>
          </p:nvSpPr>
          <p:spPr>
            <a:xfrm>
              <a:off x="3572" y="2525"/>
              <a:ext cx="287" cy="70"/>
            </a:xfrm>
            <a:custGeom>
              <a:avLst/>
              <a:gdLst/>
              <a:ahLst/>
              <a:cxnLst>
                <a:cxn ang="0">
                  <a:pos x="0" y="48"/>
                </a:cxn>
                <a:cxn ang="0">
                  <a:pos x="101" y="5"/>
                </a:cxn>
                <a:cxn ang="0">
                  <a:pos x="201" y="87"/>
                </a:cxn>
              </a:cxnLst>
              <a:rect l="0" t="0" r="0" b="0"/>
              <a:pathLst>
                <a:path w="308" h="67">
                  <a:moveTo>
                    <a:pt x="0" y="36"/>
                  </a:moveTo>
                  <a:cubicBezTo>
                    <a:pt x="51" y="18"/>
                    <a:pt x="103" y="0"/>
                    <a:pt x="154" y="5"/>
                  </a:cubicBezTo>
                  <a:cubicBezTo>
                    <a:pt x="205" y="10"/>
                    <a:pt x="282" y="57"/>
                    <a:pt x="308" y="67"/>
                  </a:cubicBezTo>
                </a:path>
              </a:pathLst>
            </a:custGeom>
            <a:noFill/>
            <a:ln w="28575" cap="flat" cmpd="sng">
              <a:solidFill>
                <a:srgbClr val="000000"/>
              </a:solidFill>
              <a:prstDash val="solid"/>
              <a:round/>
              <a:headEnd type="none" w="med" len="med"/>
              <a:tailEnd type="triangle" w="sm" len="med"/>
            </a:ln>
          </p:spPr>
          <p:txBody>
            <a:bodyPr/>
            <a:lstStyle/>
            <a:p>
              <a:endParaRPr lang="zh-CN" altLang="en-US"/>
            </a:p>
          </p:txBody>
        </p:sp>
        <p:sp>
          <p:nvSpPr>
            <p:cNvPr id="59445" name="Freeform 54"/>
            <p:cNvSpPr/>
            <p:nvPr/>
          </p:nvSpPr>
          <p:spPr>
            <a:xfrm>
              <a:off x="2379" y="2064"/>
              <a:ext cx="1621" cy="402"/>
            </a:xfrm>
            <a:custGeom>
              <a:avLst/>
              <a:gdLst/>
              <a:ahLst/>
              <a:cxnLst>
                <a:cxn ang="0">
                  <a:pos x="0" y="493"/>
                </a:cxn>
                <a:cxn ang="0">
                  <a:pos x="151" y="222"/>
                </a:cxn>
                <a:cxn ang="0">
                  <a:pos x="406" y="57"/>
                </a:cxn>
                <a:cxn ang="0">
                  <a:pos x="637" y="20"/>
                </a:cxn>
                <a:cxn ang="0">
                  <a:pos x="942" y="165"/>
                </a:cxn>
                <a:cxn ang="0">
                  <a:pos x="1143" y="493"/>
                </a:cxn>
              </a:cxnLst>
              <a:rect l="0" t="0" r="0" b="0"/>
              <a:pathLst>
                <a:path w="1738" h="386">
                  <a:moveTo>
                    <a:pt x="0" y="386"/>
                  </a:moveTo>
                  <a:cubicBezTo>
                    <a:pt x="38" y="351"/>
                    <a:pt x="128" y="231"/>
                    <a:pt x="231" y="174"/>
                  </a:cubicBezTo>
                  <a:cubicBezTo>
                    <a:pt x="334" y="117"/>
                    <a:pt x="493" y="72"/>
                    <a:pt x="616" y="45"/>
                  </a:cubicBezTo>
                  <a:cubicBezTo>
                    <a:pt x="739" y="18"/>
                    <a:pt x="832" y="0"/>
                    <a:pt x="968" y="14"/>
                  </a:cubicBezTo>
                  <a:cubicBezTo>
                    <a:pt x="1104" y="28"/>
                    <a:pt x="1303" y="67"/>
                    <a:pt x="1431" y="129"/>
                  </a:cubicBezTo>
                  <a:cubicBezTo>
                    <a:pt x="1559" y="191"/>
                    <a:pt x="1674" y="332"/>
                    <a:pt x="1738" y="386"/>
                  </a:cubicBezTo>
                </a:path>
              </a:pathLst>
            </a:custGeom>
            <a:noFill/>
            <a:ln w="28575" cap="flat" cmpd="sng">
              <a:solidFill>
                <a:srgbClr val="993366"/>
              </a:solidFill>
              <a:prstDash val="solid"/>
              <a:round/>
              <a:headEnd type="none" w="med" len="med"/>
              <a:tailEnd type="triangle" w="sm" len="med"/>
            </a:ln>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19140"/>
                                        </p:tgtEl>
                                        <p:attrNameLst>
                                          <p:attrName>style.visibility</p:attrName>
                                        </p:attrNameLst>
                                      </p:cBhvr>
                                      <p:to>
                                        <p:strVal val="visible"/>
                                      </p:to>
                                    </p:set>
                                    <p:animEffect transition="in" filter="wipe(up)">
                                      <p:cBhvr>
                                        <p:cTn id="7" dur="500"/>
                                        <p:tgtEl>
                                          <p:spTgt spid="219140"/>
                                        </p:tgtEl>
                                      </p:cBhvr>
                                    </p:animEffect>
                                  </p:childTnLst>
                                  <p:subTnLst>
                                    <p:set>
                                      <p:cBhvr override="childStyle">
                                        <p:cTn dur="1" fill="hold" display="0" masterRel="nextClick" afterEffect="1"/>
                                        <p:tgtEl>
                                          <p:spTgt spid="219140"/>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19172"/>
                                        </p:tgtEl>
                                        <p:attrNameLst>
                                          <p:attrName>style.visibility</p:attrName>
                                        </p:attrNameLst>
                                      </p:cBhvr>
                                      <p:to>
                                        <p:strVal val="visible"/>
                                      </p:to>
                                    </p:set>
                                    <p:animEffect transition="in" filter="wipe(left)">
                                      <p:cBhvr>
                                        <p:cTn id="12" dur="500"/>
                                        <p:tgtEl>
                                          <p:spTgt spid="219172"/>
                                        </p:tgtEl>
                                      </p:cBhvr>
                                    </p:animEffect>
                                  </p:childTnLst>
                                  <p:subTnLst>
                                    <p:set>
                                      <p:cBhvr override="childStyle">
                                        <p:cTn dur="1" fill="hold" display="0" masterRel="nextClick" afterEffect="1"/>
                                        <p:tgtEl>
                                          <p:spTgt spid="219172"/>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19153"/>
                                        </p:tgtEl>
                                        <p:attrNameLst>
                                          <p:attrName>style.visibility</p:attrName>
                                        </p:attrNameLst>
                                      </p:cBhvr>
                                      <p:to>
                                        <p:strVal val="visible"/>
                                      </p:to>
                                    </p:set>
                                    <p:animEffect transition="in" filter="wipe(up)">
                                      <p:cBhvr>
                                        <p:cTn id="17" dur="500"/>
                                        <p:tgtEl>
                                          <p:spTgt spid="21915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19170"/>
                                        </p:tgtEl>
                                        <p:attrNameLst>
                                          <p:attrName>style.visibility</p:attrName>
                                        </p:attrNameLst>
                                      </p:cBhvr>
                                      <p:to>
                                        <p:strVal val="visible"/>
                                      </p:to>
                                    </p:set>
                                    <p:animEffect transition="in" filter="wipe(left)">
                                      <p:cBhvr>
                                        <p:cTn id="22" dur="500"/>
                                        <p:tgtEl>
                                          <p:spTgt spid="21917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19152"/>
                                        </p:tgtEl>
                                        <p:attrNameLst>
                                          <p:attrName>style.visibility</p:attrName>
                                        </p:attrNameLst>
                                      </p:cBhvr>
                                      <p:to>
                                        <p:strVal val="visible"/>
                                      </p:to>
                                    </p:set>
                                    <p:animEffect transition="in" filter="wipe(up)">
                                      <p:cBhvr>
                                        <p:cTn id="27" dur="500"/>
                                        <p:tgtEl>
                                          <p:spTgt spid="21915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219169"/>
                                        </p:tgtEl>
                                        <p:attrNameLst>
                                          <p:attrName>style.visibility</p:attrName>
                                        </p:attrNameLst>
                                      </p:cBhvr>
                                      <p:to>
                                        <p:strVal val="visible"/>
                                      </p:to>
                                    </p:set>
                                    <p:animEffect transition="in" filter="wipe(up)">
                                      <p:cBhvr>
                                        <p:cTn id="32" dur="500"/>
                                        <p:tgtEl>
                                          <p:spTgt spid="21916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19171"/>
                                        </p:tgtEl>
                                        <p:attrNameLst>
                                          <p:attrName>style.visibility</p:attrName>
                                        </p:attrNameLst>
                                      </p:cBhvr>
                                      <p:to>
                                        <p:strVal val="visible"/>
                                      </p:to>
                                    </p:set>
                                    <p:animEffect transition="in" filter="wipe(left)">
                                      <p:cBhvr>
                                        <p:cTn id="37" dur="500"/>
                                        <p:tgtEl>
                                          <p:spTgt spid="219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152" grpId="0" animBg="1"/>
      <p:bldP spid="219169"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5" name="Rectangle 3"/>
          <p:cNvSpPr>
            <a:spLocks noGrp="1" noChangeArrowheads="1"/>
          </p:cNvSpPr>
          <p:nvPr>
            <p:ph idx="1"/>
          </p:nvPr>
        </p:nvSpPr>
        <p:spPr>
          <a:xfrm>
            <a:off x="814705" y="1406525"/>
            <a:ext cx="7661275" cy="4591685"/>
          </a:xfrm>
        </p:spPr>
        <p:txBody>
          <a:bodyPr vert="horz" wrap="square" lIns="91440" tIns="45720" rIns="91440" bIns="45720" numCol="1" anchor="t" anchorCtr="0" compatLnSpc="1"/>
          <a:lstStyle/>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mn-ea"/>
                <a:cs typeface="Arial" panose="020B0604020202020204"/>
              </a:rPr>
              <a:t>Armstrong’s Axioms:</a:t>
            </a: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en-US" altLang="zh-CN" sz="2400" b="1" i="0" u="none" strike="noStrike" kern="0" cap="none" spc="0" normalizeH="0" baseline="0" noProof="1">
                <a:solidFill>
                  <a:srgbClr val="000099"/>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Reflexivity</a:t>
            </a: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a:t>
            </a: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rPr>
              <a:t> </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rPr>
              <a:t>if </a:t>
            </a:r>
            <a:r>
              <a:rPr kumimoji="1" lang="en-US" altLang="zh-CN" sz="2400" b="1" i="1"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  , then  </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Monotype Sorts" charset="2"/>
              </a:rPr>
              <a:t> </a:t>
            </a:r>
            <a:r>
              <a:rPr kumimoji="1" lang="en-US" altLang="zh-CN" sz="2400" b="1" i="1"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a:t>
            </a:r>
            <a:endPar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en-US" altLang="zh-CN" sz="2400" b="1" i="0" u="none" strike="noStrike" kern="0" cap="none" spc="0" normalizeH="0" baseline="0" noProof="1">
                <a:solidFill>
                  <a:srgbClr val="000099"/>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Augmentation</a:t>
            </a: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if  </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Monotype Sorts" charset="2"/>
              </a:rPr>
              <a:t> </a:t>
            </a:r>
            <a:r>
              <a:rPr kumimoji="1" lang="en-US" altLang="zh-CN" sz="2400" b="1" i="1"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 </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then </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Greek Symbols" pitchFamily="18" charset="2"/>
              </a:rPr>
              <a:t> </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 </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Monotype Sorts" charset="2"/>
              </a:rPr>
              <a:t> </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 </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Monotype Sorts" charset="2"/>
              </a:rPr>
              <a:t> </a:t>
            </a:r>
            <a:r>
              <a:rPr kumimoji="1" lang="en-US" altLang="zh-CN" sz="2400" b="1" i="1"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               </a:t>
            </a: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en-US" altLang="zh-CN" sz="2400" b="1" i="0" u="none" strike="noStrike" kern="0" cap="none" spc="0" normalizeH="0" baseline="0" noProof="1">
                <a:solidFill>
                  <a:srgbClr val="000099"/>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Greek Symbols" pitchFamily="18" charset="2"/>
              </a:rPr>
              <a:t>Transitivity</a:t>
            </a: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Greek Symbols" pitchFamily="18" charset="2"/>
              </a:rPr>
              <a:t>：</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if  </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Monotype Sorts" charset="2"/>
              </a:rPr>
              <a:t> </a:t>
            </a:r>
            <a:r>
              <a:rPr kumimoji="1" lang="en-US" altLang="zh-CN" sz="2400" b="1" i="1"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 </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and </a:t>
            </a:r>
            <a:r>
              <a:rPr kumimoji="1" lang="en-US" altLang="zh-CN" sz="2400" b="1" i="1"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 </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 </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Monotype Sorts" charset="2"/>
              </a:rPr>
              <a:t>, then </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 </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Monotype Sorts" charset="2"/>
              </a:rPr>
              <a:t> </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 </a:t>
            </a:r>
            <a:endPar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Greek Symbols" pitchFamily="18" charset="2"/>
            </a:endParaRPr>
          </a:p>
          <a:p>
            <a:pPr marL="342900" marR="0" indent="-342900" algn="l" defTabSz="914400" rtl="0" eaLnBrk="0" fontAlgn="base" latinLnBrk="0" hangingPunct="0">
              <a:lnSpc>
                <a:spcPct val="95000"/>
              </a:lnSpc>
              <a:spcBef>
                <a:spcPct val="35000"/>
              </a:spcBef>
              <a:spcAft>
                <a:spcPct val="0"/>
              </a:spcAft>
              <a:buClr>
                <a:schemeClr val="tx2"/>
              </a:buClr>
              <a:buSzPct val="90000"/>
              <a:buFont typeface="Monotype Sorts" charset="0"/>
              <a:buChar char="n"/>
            </a:pPr>
            <a:r>
              <a:rPr kumimoji="1" lang="en-US" altLang="zh-CN" sz="2400" b="1" i="0" u="none" strike="noStrike" kern="0" cap="none" spc="0" normalizeH="0" baseline="0" noProof="1">
                <a:solidFill>
                  <a:srgbClr val="000099"/>
                </a:solidFill>
                <a:effectLst>
                  <a:outerShdw blurRad="38100" dist="38100" dir="2700000">
                    <a:srgbClr val="C0C0C0"/>
                  </a:outerShdw>
                </a:effectLst>
                <a:latin typeface="Arial" panose="020B0604020202020204"/>
                <a:ea typeface="+mn-ea"/>
                <a:cs typeface="Arial" panose="020B0604020202020204"/>
              </a:rPr>
              <a:t>E.g.</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mn-ea"/>
                <a:cs typeface="Arial" panose="020B0604020202020204"/>
              </a:rPr>
              <a:t> </a:t>
            </a:r>
            <a:r>
              <a:rPr kumimoji="1" lang="en-US" altLang="zh-CN" sz="2400" b="1" i="0" u="none" strike="noStrike" kern="0" cap="none" spc="0" normalizeH="0" baseline="0" noProof="1">
                <a:solidFill>
                  <a:srgbClr val="006600"/>
                </a:solidFill>
                <a:effectLst>
                  <a:outerShdw blurRad="38100" dist="38100" dir="2700000">
                    <a:srgbClr val="C0C0C0"/>
                  </a:outerShdw>
                </a:effectLst>
                <a:latin typeface="Arial" panose="020B0604020202020204"/>
                <a:ea typeface="+mn-ea"/>
                <a:cs typeface="Arial" panose="020B0604020202020204"/>
              </a:rPr>
              <a:t>R</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mn-ea"/>
                <a:cs typeface="Arial" panose="020B0604020202020204"/>
              </a:rPr>
              <a:t>(X, Y), </a:t>
            </a:r>
            <a:r>
              <a:rPr kumimoji="1" lang="en-US" altLang="zh-CN" sz="2400" b="1" i="0" u="none" strike="noStrike" kern="0" cap="none" spc="0" normalizeH="0" baseline="0" noProof="1">
                <a:solidFill>
                  <a:srgbClr val="990033"/>
                </a:solidFill>
                <a:effectLst>
                  <a:outerShdw blurRad="38100" dist="38100" dir="2700000">
                    <a:srgbClr val="C0C0C0"/>
                  </a:outerShdw>
                </a:effectLst>
                <a:latin typeface="Arial" panose="020B0604020202020204"/>
                <a:ea typeface="+mn-ea"/>
                <a:cs typeface="Arial" panose="020B0604020202020204"/>
              </a:rPr>
              <a:t>F</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mn-ea"/>
                <a:cs typeface="Arial" panose="020B0604020202020204"/>
              </a:rPr>
              <a:t> = {</a:t>
            </a:r>
            <a:r>
              <a:rPr kumimoji="1" lang="en-US" altLang="zh-CN" sz="2400" b="1" i="0" u="none" strike="noStrike" kern="0" cap="none" spc="0" normalizeH="0" baseline="0" noProof="1">
                <a:solidFill>
                  <a:srgbClr val="990033"/>
                </a:solidFill>
                <a:effectLst>
                  <a:outerShdw blurRad="38100" dist="38100" dir="2700000">
                    <a:srgbClr val="C0C0C0"/>
                  </a:outerShdw>
                </a:effectLst>
                <a:latin typeface="Arial" panose="020B0604020202020204"/>
                <a:ea typeface="+mn-ea"/>
                <a:cs typeface="Arial" panose="020B0604020202020204"/>
              </a:rPr>
              <a:t>X</a:t>
            </a:r>
            <a:r>
              <a:rPr kumimoji="1" lang="en-US" altLang="zh-CN" sz="2400" b="1" i="0" u="none" strike="noStrike" kern="0" cap="none" spc="0" normalizeH="0" baseline="0" noProof="1">
                <a:solidFill>
                  <a:srgbClr val="990033"/>
                </a:solidFill>
                <a:effectLst>
                  <a:outerShdw blurRad="38100" dist="38100" dir="2700000">
                    <a:srgbClr val="C0C0C0"/>
                  </a:outerShdw>
                </a:effectLst>
                <a:latin typeface="Arial" panose="020B0604020202020204"/>
                <a:ea typeface="+mn-ea"/>
                <a:cs typeface="Arial" panose="020B0604020202020204"/>
                <a:sym typeface="Symbol" panose="05050102010706020507" charset="2"/>
              </a:rPr>
              <a:t>Y</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mn-ea"/>
                <a:cs typeface="Arial" panose="020B0604020202020204"/>
                <a:sym typeface="Symbol" panose="05050102010706020507" charset="2"/>
              </a:rPr>
              <a:t>}</a:t>
            </a:r>
          </a:p>
          <a:p>
            <a:pPr marL="742950" marR="0" lvl="1" indent="-285750" algn="l" defTabSz="914400" rtl="0" eaLnBrk="0" fontAlgn="base" latinLnBrk="0" hangingPunct="0">
              <a:lnSpc>
                <a:spcPct val="95000"/>
              </a:lnSpc>
              <a:spcBef>
                <a:spcPct val="35000"/>
              </a:spcBef>
              <a:spcAft>
                <a:spcPct val="0"/>
              </a:spcAft>
              <a:buClr>
                <a:schemeClr val="folHlink"/>
              </a:buClr>
              <a:buSzPct val="80000"/>
              <a:buFont typeface="Monotype Sorts" charset="0"/>
              <a:buChar char="l"/>
            </a:pPr>
            <a:r>
              <a:rPr kumimoji="1" lang="en-US" altLang="zh-CN" sz="2400" b="1" i="0" u="none" strike="noStrike" kern="0" cap="none" spc="0" normalizeH="0" baseline="0" noProof="1">
                <a:solidFill>
                  <a:srgbClr val="990033"/>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F</a:t>
            </a:r>
            <a:r>
              <a:rPr kumimoji="1" lang="en-US" altLang="zh-CN" sz="2400" b="1" i="0" u="none" strike="noStrike" kern="0" cap="none" spc="0" normalizeH="0" baseline="28000" noProof="1">
                <a:solidFill>
                  <a:srgbClr val="990033"/>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 = { </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rPr>
              <a:t>X</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a:t>
            </a:r>
            <a:r>
              <a:rPr kumimoji="1" lang="en-US" altLang="zh-CN" sz="2400" b="1" i="0" u="none" strike="noStrike" kern="0" cap="none" spc="0" normalizeH="0" baseline="0" noProof="1">
                <a:solidFill>
                  <a:srgbClr val="FF6600"/>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 </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rPr>
              <a:t>X</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X, </a:t>
            </a:r>
            <a:r>
              <a:rPr kumimoji="1" lang="en-US" altLang="zh-CN" sz="2400" b="1" i="0" u="none" strike="noStrike" kern="0" cap="none" spc="0" normalizeH="0" baseline="0" noProof="1">
                <a:solidFill>
                  <a:srgbClr val="990033"/>
                </a:solidFill>
                <a:effectLst>
                  <a:outerShdw blurRad="38100" dist="38100" dir="2700000">
                    <a:srgbClr val="C0C0C0"/>
                  </a:outerShdw>
                </a:effectLst>
                <a:latin typeface="Arial" panose="020B0604020202020204"/>
                <a:ea typeface="宋体" panose="02010600030101010101" pitchFamily="2" charset="-122"/>
                <a:cs typeface="Arial" panose="020B0604020202020204"/>
              </a:rPr>
              <a:t>X</a:t>
            </a:r>
            <a:r>
              <a:rPr kumimoji="1" lang="en-US" altLang="zh-CN" sz="2400" b="1" i="0" u="none" strike="noStrike" kern="0" cap="none" spc="0" normalizeH="0" baseline="0" noProof="1">
                <a:solidFill>
                  <a:srgbClr val="990033"/>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Y</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 </a:t>
            </a:r>
            <a:r>
              <a:rPr kumimoji="1" lang="en-US" altLang="zh-CN" sz="2400" b="1" i="0" u="none" strike="noStrike" kern="0" cap="none" spc="0" normalizeH="0" baseline="0" noProof="1">
                <a:solidFill>
                  <a:srgbClr val="000099"/>
                </a:solidFill>
                <a:effectLst>
                  <a:outerShdw blurRad="38100" dist="38100" dir="2700000">
                    <a:srgbClr val="C0C0C0"/>
                  </a:outerShdw>
                </a:effectLst>
                <a:latin typeface="Arial" panose="020B0604020202020204"/>
                <a:ea typeface="宋体" panose="02010600030101010101" pitchFamily="2" charset="-122"/>
                <a:cs typeface="Arial" panose="020B0604020202020204"/>
              </a:rPr>
              <a:t>X</a:t>
            </a:r>
            <a:r>
              <a:rPr kumimoji="1" lang="en-US" altLang="zh-CN" sz="2400" b="1" i="0" u="none" strike="noStrike" kern="0" cap="none" spc="0" normalizeH="0" baseline="0" noProof="1">
                <a:solidFill>
                  <a:srgbClr val="000099"/>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XY</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 </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rPr>
              <a:t>Y</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a:t>
            </a:r>
            <a:r>
              <a:rPr kumimoji="1" lang="en-US" altLang="zh-CN" sz="2400" b="1" i="0" u="none" strike="noStrike" kern="0" cap="none" spc="0" normalizeH="0" baseline="0" noProof="1">
                <a:solidFill>
                  <a:srgbClr val="FF6600"/>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 YY, </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rPr>
              <a:t>XY</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 </a:t>
            </a:r>
            <a:r>
              <a:rPr kumimoji="1" lang="en-US" altLang="zh-CN" sz="2400" b="1" i="0" u="none" strike="noStrike" kern="0" cap="none" spc="0" normalizeH="0" baseline="0" noProof="1">
                <a:solidFill>
                  <a:srgbClr val="FF6600"/>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 </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rPr>
              <a:t>XY</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X, </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rPr>
              <a:t>XY</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Y, </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rPr>
              <a:t>XY</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rPr>
              <a:t>XY }</a:t>
            </a:r>
            <a:endPar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宋体" panose="02010600030101010101" pitchFamily="2" charset="-122"/>
              <a:cs typeface="Arial" panose="020B0604020202020204"/>
              <a:sym typeface="Symbol" panose="05050102010706020507" charset="2"/>
            </a:endParaRPr>
          </a:p>
        </p:txBody>
      </p:sp>
      <p:sp>
        <p:nvSpPr>
          <p:cNvPr id="60418" name="Rectangle 4"/>
          <p:cNvSpPr>
            <a:spLocks noGrp="1"/>
          </p:cNvSpPr>
          <p:nvPr>
            <p:ph type="title"/>
          </p:nvPr>
        </p:nvSpPr>
        <p:spPr>
          <a:xfrm>
            <a:off x="519113" y="98425"/>
            <a:ext cx="8624888" cy="647700"/>
          </a:xfrm>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Closure of a Set of Functional Dependencies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28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Closure of a Set of Functional Dependencies</a:t>
            </a:r>
            <a:endParaRPr kumimoji="1" lang="zh-CN" altLang="en-US" sz="28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endParaRPr>
          </a:p>
        </p:txBody>
      </p:sp>
      <p:sp>
        <p:nvSpPr>
          <p:cNvPr id="229379" name="Rectangle 3"/>
          <p:cNvSpPr>
            <a:spLocks noGrp="1" noChangeArrowheads="1"/>
          </p:cNvSpPr>
          <p:nvPr>
            <p:ph idx="1"/>
          </p:nvPr>
        </p:nvSpPr>
        <p:spPr>
          <a:xfrm>
            <a:off x="276225" y="1139825"/>
            <a:ext cx="8637588" cy="5345113"/>
          </a:xfrm>
        </p:spPr>
        <p:txBody>
          <a:bodyPr vert="horz" wrap="square" lIns="91440" tIns="45720" rIns="91440" bIns="45720" numCol="1" anchor="t" anchorCtr="0" compatLnSpc="1"/>
          <a:lstStyle/>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Greek Symbols" pitchFamily="18" charset="2"/>
              </a:rPr>
              <a:t>These rules are </a:t>
            </a:r>
          </a:p>
          <a:p>
            <a:pPr marL="742950" marR="0" lvl="1" indent="-285750" algn="l" defTabSz="914400" rtl="0" eaLnBrk="0" fontAlgn="base" latinLnBrk="0" hangingPunct="0">
              <a:lnSpc>
                <a:spcPct val="105000"/>
              </a:lnSpc>
              <a:spcBef>
                <a:spcPct val="25000"/>
              </a:spcBef>
              <a:spcAft>
                <a:spcPct val="0"/>
              </a:spcAft>
              <a:buClr>
                <a:schemeClr val="folHlink"/>
              </a:buClr>
              <a:buSzPct val="80000"/>
              <a:buFont typeface="Monotype Sorts" charset="0"/>
              <a:buNone/>
            </a:pPr>
            <a:r>
              <a:rPr kumimoji="1" lang="en-US" altLang="zh-CN" sz="2000" b="1" i="0" u="none" strike="noStrike" kern="0" cap="none" spc="0" normalizeH="0" baseline="0" noProof="1">
                <a:solidFill>
                  <a:srgbClr val="006600"/>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A</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 = { </a:t>
            </a:r>
            <a:r>
              <a:rPr kumimoji="1" lang="en-US" altLang="zh-CN" sz="2000" b="1" i="0" u="none" strike="noStrike" kern="0" cap="none" spc="0" normalizeH="0" baseline="0" noProof="1">
                <a:solidFill>
                  <a:srgbClr val="006600"/>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f</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 | </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可用</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Armstrong</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公理从</a:t>
            </a:r>
            <a:r>
              <a:rPr kumimoji="1" lang="en-US" altLang="zh-CN" sz="2000" b="1" i="0" u="none" strike="noStrike" kern="0" cap="none" spc="0" normalizeH="0" baseline="0" noProof="1">
                <a:solidFill>
                  <a:srgbClr val="990033"/>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F</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中导出的函数依赖</a:t>
            </a:r>
            <a:r>
              <a:rPr kumimoji="1" lang="en-US" altLang="zh-CN" sz="2000" b="1" i="0" u="none" strike="noStrike" kern="0" cap="none" spc="0" normalizeH="0" baseline="0" noProof="1">
                <a:solidFill>
                  <a:srgbClr val="006600"/>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f</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 }</a:t>
            </a:r>
          </a:p>
          <a:p>
            <a:pPr marL="742950" marR="0" lvl="1" indent="-285750" algn="l" defTabSz="914400" rtl="0" eaLnBrk="0" fontAlgn="base" latinLnBrk="0" hangingPunct="0">
              <a:lnSpc>
                <a:spcPct val="105000"/>
              </a:lnSpc>
              <a:spcBef>
                <a:spcPct val="25000"/>
              </a:spcBef>
              <a:spcAft>
                <a:spcPct val="0"/>
              </a:spcAft>
              <a:buClr>
                <a:schemeClr val="folHlink"/>
              </a:buClr>
              <a:buSzPct val="80000"/>
              <a:buFont typeface="Monotype Sorts" charset="0"/>
              <a:buNone/>
            </a:pPr>
            <a:r>
              <a:rPr kumimoji="1" lang="en-US" altLang="zh-CN" sz="2000" b="1" i="0" u="none" strike="noStrike" kern="0" cap="none" spc="0" normalizeH="0" baseline="0" noProof="1">
                <a:solidFill>
                  <a:srgbClr val="006600"/>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B</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 = { </a:t>
            </a:r>
            <a:r>
              <a:rPr kumimoji="1" lang="en-US" altLang="zh-CN" sz="2000" b="1" i="0" u="none" strike="noStrike" kern="0" cap="none" spc="0" normalizeH="0" baseline="0" noProof="1">
                <a:solidFill>
                  <a:srgbClr val="006600"/>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f</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 | </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被</a:t>
            </a:r>
            <a:r>
              <a:rPr kumimoji="1" lang="en-US" altLang="zh-CN" sz="2000" b="1" i="0" u="none" strike="noStrike" kern="0" cap="none" spc="0" normalizeH="0" baseline="0" noProof="1">
                <a:solidFill>
                  <a:srgbClr val="990033"/>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F</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所逻辑蕴涵的函数依赖</a:t>
            </a:r>
            <a:r>
              <a:rPr kumimoji="1" lang="en-US" altLang="zh-CN" sz="2000" b="1" i="0" u="none" strike="noStrike" kern="0" cap="none" spc="0" normalizeH="0" baseline="0" noProof="1">
                <a:solidFill>
                  <a:srgbClr val="006600"/>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f</a:t>
            </a:r>
            <a:r>
              <a:rPr kumimoji="1" lang="en-US" altLang="zh-CN" sz="2000" b="1" i="0" u="none" strike="noStrike" kern="0" cap="none" spc="0" normalizeH="0" baseline="0" noProof="1">
                <a:solidFill>
                  <a:srgbClr val="990033"/>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 </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a:t>
            </a: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en-US" altLang="zh-CN" sz="2000" b="1" i="0" u="none" strike="noStrike" kern="0" cap="none" spc="0" normalizeH="0" baseline="0" noProof="1">
                <a:solidFill>
                  <a:srgbClr val="000099"/>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Greek Symbols" pitchFamily="18" charset="2"/>
              </a:rPr>
              <a:t>sound</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Greek Symbols" pitchFamily="18" charset="2"/>
              </a:rPr>
              <a:t> (</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Greek Symbols" pitchFamily="18" charset="2"/>
              </a:rPr>
              <a:t>正确性) , </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Greek Symbols" pitchFamily="18" charset="2"/>
              </a:rPr>
              <a:t>generate only functional dependencies that actually hold</a:t>
            </a:r>
          </a:p>
          <a:p>
            <a:pPr marL="1085850" marR="0" lvl="2" indent="-228600" algn="l" defTabSz="914400" rtl="0" eaLnBrk="0" fontAlgn="base" latinLnBrk="0" hangingPunct="0">
              <a:lnSpc>
                <a:spcPct val="100000"/>
              </a:lnSpc>
              <a:spcBef>
                <a:spcPct val="35000"/>
              </a:spcBef>
              <a:spcAft>
                <a:spcPct val="0"/>
              </a:spcAft>
              <a:buClr>
                <a:srgbClr val="33CC33"/>
              </a:buClr>
              <a:buSzPct val="75000"/>
              <a:buFont typeface="Webdings" panose="05030102010509060703" charset="0"/>
              <a:buChar char="4"/>
            </a:pP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用</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Armstrong</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公理从</a:t>
            </a:r>
            <a:r>
              <a:rPr kumimoji="1" lang="en-US" altLang="zh-CN" sz="2000" b="1" i="0" u="none" strike="noStrike" kern="0" cap="none" spc="0" normalizeH="0" baseline="0" noProof="1">
                <a:solidFill>
                  <a:srgbClr val="990033"/>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F</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中导出的函数依赖必为</a:t>
            </a:r>
            <a:r>
              <a:rPr kumimoji="1" lang="en-US" altLang="zh-CN" sz="2000" b="1" i="0" u="none" strike="noStrike" kern="0" cap="none" spc="0" normalizeH="0" baseline="0" noProof="1">
                <a:solidFill>
                  <a:srgbClr val="990033"/>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F</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所蕴涵</a:t>
            </a:r>
          </a:p>
          <a:p>
            <a:pPr marL="1085850" marR="0" lvl="2" indent="-228600" algn="l" defTabSz="914400" rtl="0" eaLnBrk="0" fontAlgn="base" latinLnBrk="0" hangingPunct="0">
              <a:lnSpc>
                <a:spcPct val="100000"/>
              </a:lnSpc>
              <a:spcBef>
                <a:spcPct val="35000"/>
              </a:spcBef>
              <a:spcAft>
                <a:spcPct val="0"/>
              </a:spcAft>
              <a:buClr>
                <a:srgbClr val="33CC33"/>
              </a:buClr>
              <a:buSzPct val="75000"/>
              <a:buFont typeface="Webdings" panose="05030102010509060703" charset="0"/>
              <a:buNone/>
            </a:pPr>
            <a:r>
              <a:rPr kumimoji="1" lang="en-US" altLang="zh-CN" sz="2000" b="1" i="0" u="none" strike="noStrike" kern="0" cap="none" spc="0" normalizeH="0" baseline="0" noProof="1">
                <a:solidFill>
                  <a:srgbClr val="990033"/>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      A </a:t>
            </a:r>
            <a:r>
              <a:rPr kumimoji="1" lang="en-US" altLang="zh-CN" sz="2000" b="1" i="0" u="none" strike="noStrike" kern="0" cap="none" spc="0" normalizeH="0" baseline="0" noProof="1">
                <a:solidFill>
                  <a:srgbClr val="990033"/>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 </a:t>
            </a:r>
            <a:r>
              <a:rPr kumimoji="1" lang="en-US" altLang="zh-CN" sz="2000" b="1" i="0" u="none" strike="noStrike" kern="0" cap="none" spc="0" normalizeH="0" baseline="0" noProof="1">
                <a:solidFill>
                  <a:srgbClr val="990033"/>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B</a:t>
            </a:r>
            <a:endParaRPr kumimoji="1" lang="en-US" altLang="zh-CN" sz="2000" b="1" i="0" u="none" strike="noStrike" kern="0" cap="none" spc="0" normalizeH="0" baseline="0" noProof="1">
              <a:solidFill>
                <a:srgbClr val="990033"/>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Greek Symbols" pitchFamily="18" charset="2"/>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en-US" altLang="zh-CN" sz="2000" b="1" i="0" u="none" strike="noStrike" kern="0" cap="none" spc="0" normalizeH="0" baseline="0" noProof="1">
                <a:solidFill>
                  <a:srgbClr val="000099"/>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Greek Symbols" pitchFamily="18" charset="2"/>
              </a:rPr>
              <a:t>Complete </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Greek Symbols" pitchFamily="18" charset="2"/>
              </a:rPr>
              <a:t>(</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Greek Symbols" pitchFamily="18" charset="2"/>
              </a:rPr>
              <a:t>完备性), </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Greek Symbols" pitchFamily="18" charset="2"/>
              </a:rPr>
              <a:t>generate all functional dependencies that hold. </a:t>
            </a:r>
          </a:p>
          <a:p>
            <a:pPr marL="1085850" marR="0" lvl="2" indent="-228600" algn="l" defTabSz="914400" rtl="0" eaLnBrk="0" fontAlgn="base" latinLnBrk="0" hangingPunct="0">
              <a:lnSpc>
                <a:spcPct val="100000"/>
              </a:lnSpc>
              <a:spcBef>
                <a:spcPct val="35000"/>
              </a:spcBef>
              <a:spcAft>
                <a:spcPct val="0"/>
              </a:spcAft>
              <a:buClr>
                <a:srgbClr val="33CC33"/>
              </a:buClr>
              <a:buSzPct val="75000"/>
              <a:buFont typeface="Webdings" panose="05030102010509060703" charset="0"/>
              <a:buChar char="4"/>
            </a:pPr>
            <a:r>
              <a:rPr kumimoji="1" lang="en-US" altLang="zh-CN" sz="2000" b="1" i="0" u="none" strike="noStrike" kern="0" cap="none" spc="0" normalizeH="0" baseline="0" noProof="1">
                <a:solidFill>
                  <a:srgbClr val="990033"/>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F</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所蕴涵的函数依赖都能用</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Armstrong</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公理从</a:t>
            </a:r>
            <a:r>
              <a:rPr kumimoji="1" lang="en-US" altLang="zh-CN" sz="2000" b="1" i="0" u="none" strike="noStrike" kern="0" cap="none" spc="0" normalizeH="0" baseline="0" noProof="1">
                <a:solidFill>
                  <a:srgbClr val="990033"/>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F</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中导出</a:t>
            </a:r>
          </a:p>
          <a:p>
            <a:pPr marL="1085850" marR="0" lvl="2" indent="-228600" algn="l" defTabSz="914400" rtl="0" eaLnBrk="0" fontAlgn="base" latinLnBrk="0" hangingPunct="0">
              <a:lnSpc>
                <a:spcPct val="100000"/>
              </a:lnSpc>
              <a:spcBef>
                <a:spcPct val="35000"/>
              </a:spcBef>
              <a:spcAft>
                <a:spcPct val="0"/>
              </a:spcAft>
              <a:buClr>
                <a:srgbClr val="33CC33"/>
              </a:buClr>
              <a:buSzPct val="75000"/>
              <a:buFont typeface="Webdings" panose="05030102010509060703" charset="0"/>
              <a:buNone/>
            </a:pP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       </a:t>
            </a:r>
            <a:r>
              <a:rPr kumimoji="1" lang="en-US" altLang="zh-CN" sz="2000" b="1" i="0" u="none" strike="noStrike" kern="0" cap="none" spc="0" normalizeH="0" baseline="0" noProof="1">
                <a:solidFill>
                  <a:srgbClr val="990033"/>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B  A</a:t>
            </a:r>
            <a:endPar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442"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Example</a:t>
            </a:r>
          </a:p>
        </p:txBody>
      </p:sp>
      <p:sp>
        <p:nvSpPr>
          <p:cNvPr id="701443" name="Rectangle 3"/>
          <p:cNvSpPr>
            <a:spLocks noGrp="1"/>
          </p:cNvSpPr>
          <p:nvPr>
            <p:ph idx="1"/>
          </p:nvPr>
        </p:nvSpPr>
        <p:spPr>
          <a:xfrm>
            <a:off x="114300" y="925513"/>
            <a:ext cx="8877300" cy="5838825"/>
          </a:xfrm>
        </p:spPr>
        <p:txBody>
          <a:bodyPr wrap="square" lIns="91440" tIns="45720" rIns="91440" bIns="45720" anchor="t"/>
          <a:lstStyle/>
          <a:p>
            <a:pPr defTabSz="914400">
              <a:tabLst>
                <a:tab pos="803275" algn="l"/>
              </a:tabLst>
            </a:pPr>
            <a:r>
              <a:rPr lang="en-US" altLang="zh-CN" sz="2400" i="1"/>
              <a:t>R = (A, B, C, G, H, I)</a:t>
            </a:r>
            <a:br>
              <a:rPr lang="en-US" altLang="zh-CN" sz="2400" i="1"/>
            </a:br>
            <a:r>
              <a:rPr lang="en-US" altLang="zh-CN" sz="2400" i="1"/>
              <a:t>F = </a:t>
            </a:r>
            <a:r>
              <a:rPr lang="en-US" altLang="zh-CN" sz="2400"/>
              <a:t>{  </a:t>
            </a:r>
            <a:r>
              <a:rPr lang="en-US" altLang="zh-CN" sz="2400" i="1">
                <a:sym typeface="Iconic Symbols Ext" pitchFamily="2" charset="2"/>
              </a:rPr>
              <a:t>A </a:t>
            </a:r>
            <a:r>
              <a:rPr lang="en-US" altLang="zh-CN" sz="2400">
                <a:sym typeface="Symbol" panose="05050102010706020507" charset="2"/>
              </a:rPr>
              <a:t></a:t>
            </a:r>
            <a:r>
              <a:rPr lang="en-US" altLang="zh-CN" sz="2400">
                <a:sym typeface="Monotype Sorts" charset="2"/>
              </a:rPr>
              <a:t> </a:t>
            </a:r>
            <a:r>
              <a:rPr lang="en-US" altLang="zh-CN" sz="2400" i="1">
                <a:sym typeface="Monotype Sorts" charset="2"/>
              </a:rPr>
              <a:t>B</a:t>
            </a:r>
            <a:r>
              <a:rPr lang="zh-CN" altLang="zh-CN" sz="2400" i="1">
                <a:sym typeface="Monotype Sorts" charset="2"/>
              </a:rPr>
              <a:t>，</a:t>
            </a:r>
            <a:r>
              <a:rPr lang="en-US" altLang="zh-CN" sz="2400" i="1">
                <a:sym typeface="Monotype Sorts" charset="2"/>
              </a:rPr>
              <a:t> </a:t>
            </a:r>
            <a:r>
              <a:rPr lang="en-US" altLang="zh-CN" sz="2400" i="1">
                <a:sym typeface="Iconic Symbols Ext" pitchFamily="2" charset="2"/>
              </a:rPr>
              <a:t>A </a:t>
            </a:r>
            <a:r>
              <a:rPr lang="en-US" altLang="zh-CN" sz="2400">
                <a:sym typeface="Symbol" panose="05050102010706020507" charset="2"/>
              </a:rPr>
              <a:t></a:t>
            </a:r>
            <a:r>
              <a:rPr lang="en-US" altLang="zh-CN" sz="2400">
                <a:sym typeface="Monotype Sorts" charset="2"/>
              </a:rPr>
              <a:t> </a:t>
            </a:r>
            <a:r>
              <a:rPr lang="en-US" altLang="zh-CN" sz="2400" i="1">
                <a:sym typeface="Monotype Sorts" charset="2"/>
              </a:rPr>
              <a:t>C</a:t>
            </a:r>
            <a:r>
              <a:rPr lang="zh-CN" altLang="zh-CN" sz="2400" i="1">
                <a:sym typeface="Monotype Sorts" charset="2"/>
              </a:rPr>
              <a:t>，</a:t>
            </a:r>
            <a:r>
              <a:rPr lang="en-US" altLang="zh-CN" sz="2400" i="1">
                <a:sym typeface="Iconic Symbols Ext" pitchFamily="2" charset="2"/>
              </a:rPr>
              <a:t>CG </a:t>
            </a:r>
            <a:r>
              <a:rPr lang="en-US" altLang="zh-CN" sz="2400">
                <a:sym typeface="Symbol" panose="05050102010706020507" charset="2"/>
              </a:rPr>
              <a:t></a:t>
            </a:r>
            <a:r>
              <a:rPr lang="en-US" altLang="zh-CN" sz="2400">
                <a:sym typeface="Monotype Sorts" charset="2"/>
              </a:rPr>
              <a:t> </a:t>
            </a:r>
            <a:r>
              <a:rPr lang="en-US" altLang="zh-CN" sz="2400" i="1">
                <a:sym typeface="Monotype Sorts" charset="2"/>
              </a:rPr>
              <a:t>H</a:t>
            </a:r>
            <a:r>
              <a:rPr lang="zh-CN" altLang="zh-CN" sz="2400" i="1">
                <a:sym typeface="Monotype Sorts" charset="2"/>
              </a:rPr>
              <a:t>，</a:t>
            </a:r>
            <a:r>
              <a:rPr lang="en-US" altLang="zh-CN" sz="2400" i="1">
                <a:sym typeface="Iconic Symbols Ext" pitchFamily="2" charset="2"/>
              </a:rPr>
              <a:t>CG </a:t>
            </a:r>
            <a:r>
              <a:rPr lang="en-US" altLang="zh-CN" sz="2400">
                <a:sym typeface="Symbol" panose="05050102010706020507" charset="2"/>
              </a:rPr>
              <a:t></a:t>
            </a:r>
            <a:r>
              <a:rPr lang="en-US" altLang="zh-CN" sz="2400">
                <a:sym typeface="Monotype Sorts" charset="2"/>
              </a:rPr>
              <a:t> </a:t>
            </a:r>
            <a:r>
              <a:rPr lang="en-US" altLang="zh-CN" sz="2400" i="1">
                <a:sym typeface="Monotype Sorts" charset="2"/>
              </a:rPr>
              <a:t>I</a:t>
            </a:r>
            <a:r>
              <a:rPr lang="zh-CN" altLang="zh-CN" sz="2400" i="1">
                <a:sym typeface="Monotype Sorts" charset="2"/>
              </a:rPr>
              <a:t>，</a:t>
            </a:r>
            <a:r>
              <a:rPr lang="en-US" altLang="zh-CN" sz="2400" i="1">
                <a:sym typeface="Iconic Symbols Ext" pitchFamily="2" charset="2"/>
              </a:rPr>
              <a:t>B </a:t>
            </a:r>
            <a:r>
              <a:rPr lang="en-US" altLang="zh-CN" sz="2400">
                <a:sym typeface="Symbol" panose="05050102010706020507" charset="2"/>
              </a:rPr>
              <a:t></a:t>
            </a:r>
            <a:r>
              <a:rPr lang="en-US" altLang="zh-CN" sz="2400">
                <a:sym typeface="Monotype Sorts" charset="2"/>
              </a:rPr>
              <a:t> </a:t>
            </a:r>
            <a:r>
              <a:rPr lang="en-US" altLang="zh-CN" sz="2400" i="1">
                <a:sym typeface="Monotype Sorts" charset="2"/>
              </a:rPr>
              <a:t>H </a:t>
            </a:r>
            <a:r>
              <a:rPr lang="en-US" altLang="zh-CN" sz="2400">
                <a:sym typeface="Monotype Sorts" charset="2"/>
              </a:rPr>
              <a:t>}</a:t>
            </a:r>
            <a:endParaRPr lang="en-US" altLang="zh-CN" sz="2400">
              <a:sym typeface="MS LineDraw" pitchFamily="49" charset="2"/>
            </a:endParaRPr>
          </a:p>
          <a:p>
            <a:pPr defTabSz="914400">
              <a:tabLst>
                <a:tab pos="803275" algn="l"/>
              </a:tabLst>
            </a:pPr>
            <a:r>
              <a:rPr lang="en-US" altLang="zh-CN" sz="2400">
                <a:sym typeface="MS LineDraw" pitchFamily="49" charset="2"/>
              </a:rPr>
              <a:t>some members of </a:t>
            </a:r>
            <a:r>
              <a:rPr lang="en-US" altLang="zh-CN" sz="2400" i="1">
                <a:sym typeface="MS LineDraw" pitchFamily="49" charset="2"/>
              </a:rPr>
              <a:t>F</a:t>
            </a:r>
            <a:r>
              <a:rPr lang="en-US" altLang="zh-CN" sz="2400" baseline="30000">
                <a:sym typeface="MS LineDraw" pitchFamily="49" charset="2"/>
              </a:rPr>
              <a:t>+</a:t>
            </a:r>
            <a:endParaRPr lang="en-US" altLang="zh-CN" sz="2400">
              <a:sym typeface="MS LineDraw" pitchFamily="49" charset="2"/>
            </a:endParaRPr>
          </a:p>
          <a:p>
            <a:pPr lvl="1" defTabSz="914400">
              <a:tabLst>
                <a:tab pos="803275" algn="l"/>
              </a:tabLst>
            </a:pPr>
            <a:r>
              <a:rPr lang="en-US" altLang="zh-CN" sz="2400" i="1">
                <a:sym typeface="Monotype Sorts" charset="2"/>
              </a:rPr>
              <a:t>A </a:t>
            </a:r>
            <a:r>
              <a:rPr lang="en-US" altLang="zh-CN" sz="2400">
                <a:sym typeface="Symbol" panose="05050102010706020507" charset="2"/>
              </a:rPr>
              <a:t></a:t>
            </a:r>
            <a:r>
              <a:rPr lang="en-US" altLang="zh-CN" sz="2400">
                <a:sym typeface="Monotype Sorts" charset="2"/>
              </a:rPr>
              <a:t> </a:t>
            </a:r>
            <a:r>
              <a:rPr lang="en-US" altLang="zh-CN" sz="2400" i="1">
                <a:sym typeface="Monotype Sorts" charset="2"/>
              </a:rPr>
              <a:t>H        </a:t>
            </a:r>
          </a:p>
          <a:p>
            <a:pPr lvl="2" defTabSz="914400">
              <a:tabLst>
                <a:tab pos="803275" algn="l"/>
              </a:tabLst>
            </a:pPr>
            <a:r>
              <a:rPr lang="en-US" altLang="zh-CN" sz="2400">
                <a:sym typeface="Monotype Sorts" charset="2"/>
              </a:rPr>
              <a:t>by transitivity from </a:t>
            </a:r>
            <a:r>
              <a:rPr lang="en-US" altLang="zh-CN" sz="2400" i="1">
                <a:sym typeface="Iconic Symbols Ext" pitchFamily="2" charset="2"/>
              </a:rPr>
              <a:t>A </a:t>
            </a:r>
            <a:r>
              <a:rPr lang="en-US" altLang="zh-CN" sz="2400">
                <a:sym typeface="Symbol" panose="05050102010706020507" charset="2"/>
              </a:rPr>
              <a:t></a:t>
            </a:r>
            <a:r>
              <a:rPr lang="en-US" altLang="zh-CN" sz="2400">
                <a:sym typeface="Monotype Sorts" charset="2"/>
              </a:rPr>
              <a:t> </a:t>
            </a:r>
            <a:r>
              <a:rPr lang="en-US" altLang="zh-CN" sz="2400" i="1">
                <a:sym typeface="Monotype Sorts" charset="2"/>
              </a:rPr>
              <a:t>B and </a:t>
            </a:r>
            <a:r>
              <a:rPr lang="en-US" altLang="zh-CN" sz="2400" i="1">
                <a:sym typeface="Iconic Symbols Ext" pitchFamily="2" charset="2"/>
              </a:rPr>
              <a:t>B </a:t>
            </a:r>
            <a:r>
              <a:rPr lang="en-US" altLang="zh-CN" sz="2400">
                <a:sym typeface="Symbol" panose="05050102010706020507" charset="2"/>
              </a:rPr>
              <a:t></a:t>
            </a:r>
            <a:r>
              <a:rPr lang="en-US" altLang="zh-CN" sz="2400">
                <a:sym typeface="Monotype Sorts" charset="2"/>
              </a:rPr>
              <a:t> </a:t>
            </a:r>
            <a:r>
              <a:rPr lang="en-US" altLang="zh-CN" sz="2400" i="1">
                <a:sym typeface="Monotype Sorts" charset="2"/>
              </a:rPr>
              <a:t>H</a:t>
            </a:r>
          </a:p>
          <a:p>
            <a:pPr lvl="1" defTabSz="914400">
              <a:tabLst>
                <a:tab pos="803275" algn="l"/>
              </a:tabLst>
            </a:pPr>
            <a:r>
              <a:rPr lang="en-US" altLang="zh-CN" sz="2400" i="1">
                <a:sym typeface="Monotype Sorts" charset="2"/>
              </a:rPr>
              <a:t>AG </a:t>
            </a:r>
            <a:r>
              <a:rPr lang="en-US" altLang="zh-CN" sz="2400">
                <a:sym typeface="Symbol" panose="05050102010706020507" charset="2"/>
              </a:rPr>
              <a:t></a:t>
            </a:r>
            <a:r>
              <a:rPr lang="en-US" altLang="zh-CN" sz="2400">
                <a:sym typeface="Monotype Sorts" charset="2"/>
              </a:rPr>
              <a:t> </a:t>
            </a:r>
            <a:r>
              <a:rPr lang="en-US" altLang="zh-CN" sz="2400" i="1">
                <a:sym typeface="Monotype Sorts" charset="2"/>
              </a:rPr>
              <a:t>I       </a:t>
            </a:r>
            <a:endParaRPr lang="en-US" altLang="zh-CN" sz="2400">
              <a:sym typeface="Monotype Sorts" charset="2"/>
            </a:endParaRPr>
          </a:p>
          <a:p>
            <a:pPr lvl="2" defTabSz="914400">
              <a:tabLst>
                <a:tab pos="803275" algn="l"/>
              </a:tabLst>
            </a:pPr>
            <a:r>
              <a:rPr lang="en-US" altLang="zh-CN" sz="2400">
                <a:sym typeface="Monotype Sorts" charset="2"/>
              </a:rPr>
              <a:t>by augmenting </a:t>
            </a:r>
            <a:r>
              <a:rPr lang="en-US" altLang="zh-CN" sz="2400" i="1">
                <a:sym typeface="Iconic Symbols Ext" pitchFamily="2" charset="2"/>
              </a:rPr>
              <a:t>A </a:t>
            </a:r>
            <a:r>
              <a:rPr lang="en-US" altLang="zh-CN" sz="2400">
                <a:sym typeface="Symbol" panose="05050102010706020507" charset="2"/>
              </a:rPr>
              <a:t></a:t>
            </a:r>
            <a:r>
              <a:rPr lang="en-US" altLang="zh-CN" sz="2400">
                <a:sym typeface="Monotype Sorts" charset="2"/>
              </a:rPr>
              <a:t> </a:t>
            </a:r>
            <a:r>
              <a:rPr lang="en-US" altLang="zh-CN" sz="2400" i="1">
                <a:sym typeface="Monotype Sorts" charset="2"/>
              </a:rPr>
              <a:t>C </a:t>
            </a:r>
            <a:r>
              <a:rPr lang="en-US" altLang="zh-CN" sz="2400">
                <a:sym typeface="Monotype Sorts" charset="2"/>
              </a:rPr>
              <a:t>with G, to get </a:t>
            </a:r>
            <a:r>
              <a:rPr lang="en-US" altLang="zh-CN" sz="2400" i="1">
                <a:sym typeface="Iconic Symbols Ext" pitchFamily="2" charset="2"/>
              </a:rPr>
              <a:t>AG </a:t>
            </a:r>
            <a:r>
              <a:rPr lang="en-US" altLang="zh-CN" sz="2400">
                <a:sym typeface="Symbol" panose="05050102010706020507" charset="2"/>
              </a:rPr>
              <a:t></a:t>
            </a:r>
            <a:r>
              <a:rPr lang="en-US" altLang="zh-CN" sz="2400">
                <a:sym typeface="Monotype Sorts" charset="2"/>
              </a:rPr>
              <a:t> </a:t>
            </a:r>
            <a:r>
              <a:rPr lang="en-US" altLang="zh-CN" sz="2400" i="1">
                <a:sym typeface="Monotype Sorts" charset="2"/>
              </a:rPr>
              <a:t>CG </a:t>
            </a:r>
            <a:br>
              <a:rPr lang="en-US" altLang="zh-CN" sz="2400" i="1">
                <a:sym typeface="Monotype Sorts" charset="2"/>
              </a:rPr>
            </a:br>
            <a:r>
              <a:rPr lang="en-US" altLang="zh-CN" sz="2400" i="1">
                <a:sym typeface="Monotype Sorts" charset="2"/>
              </a:rPr>
              <a:t>                   </a:t>
            </a:r>
            <a:r>
              <a:rPr lang="en-US" altLang="zh-CN" sz="2400">
                <a:sym typeface="Monotype Sorts" charset="2"/>
              </a:rPr>
              <a:t>and then transitivity with </a:t>
            </a:r>
            <a:r>
              <a:rPr lang="en-US" altLang="zh-CN" sz="2400" i="1">
                <a:sym typeface="Iconic Symbols Ext" pitchFamily="2" charset="2"/>
              </a:rPr>
              <a:t>CG </a:t>
            </a:r>
            <a:r>
              <a:rPr lang="en-US" altLang="zh-CN" sz="2400">
                <a:sym typeface="Symbol" panose="05050102010706020507" charset="2"/>
              </a:rPr>
              <a:t></a:t>
            </a:r>
            <a:r>
              <a:rPr lang="en-US" altLang="zh-CN" sz="2400">
                <a:sym typeface="Monotype Sorts" charset="2"/>
              </a:rPr>
              <a:t> </a:t>
            </a:r>
            <a:r>
              <a:rPr lang="en-US" altLang="zh-CN" sz="2400" i="1">
                <a:sym typeface="Monotype Sorts" charset="2"/>
              </a:rPr>
              <a:t>I </a:t>
            </a:r>
          </a:p>
          <a:p>
            <a:pPr lvl="1" defTabSz="914400">
              <a:tabLst>
                <a:tab pos="803275" algn="l"/>
              </a:tabLst>
            </a:pPr>
            <a:r>
              <a:rPr lang="en-US" altLang="zh-CN" sz="2400" i="1">
                <a:sym typeface="Monotype Sorts" charset="2"/>
              </a:rPr>
              <a:t>CG </a:t>
            </a:r>
            <a:r>
              <a:rPr lang="en-US" altLang="zh-CN" sz="2400">
                <a:sym typeface="Symbol" panose="05050102010706020507" charset="2"/>
              </a:rPr>
              <a:t></a:t>
            </a:r>
            <a:r>
              <a:rPr lang="en-US" altLang="zh-CN" sz="2400">
                <a:sym typeface="Monotype Sorts" charset="2"/>
              </a:rPr>
              <a:t> </a:t>
            </a:r>
            <a:r>
              <a:rPr lang="en-US" altLang="zh-CN" sz="2400" i="1">
                <a:sym typeface="Monotype Sorts" charset="2"/>
              </a:rPr>
              <a:t>HI     </a:t>
            </a:r>
            <a:endParaRPr lang="en-US" altLang="zh-CN" sz="2400">
              <a:sym typeface="Monotype Sorts" charset="2"/>
            </a:endParaRPr>
          </a:p>
          <a:p>
            <a:pPr lvl="2" defTabSz="914400">
              <a:tabLst>
                <a:tab pos="803275" algn="l"/>
              </a:tabLst>
            </a:pPr>
            <a:r>
              <a:rPr lang="en-US" altLang="zh-CN" sz="2400">
                <a:sym typeface="Monotype Sorts" charset="2"/>
              </a:rPr>
              <a:t>by augmenting </a:t>
            </a:r>
            <a:r>
              <a:rPr lang="en-US" altLang="zh-CN" sz="2400" i="1">
                <a:sym typeface="Iconic Symbols Ext" pitchFamily="2" charset="2"/>
              </a:rPr>
              <a:t>CG </a:t>
            </a:r>
            <a:r>
              <a:rPr lang="en-US" altLang="zh-CN" sz="2400">
                <a:sym typeface="Symbol" panose="05050102010706020507" charset="2"/>
              </a:rPr>
              <a:t></a:t>
            </a:r>
            <a:r>
              <a:rPr lang="en-US" altLang="zh-CN" sz="2400">
                <a:sym typeface="Monotype Sorts" charset="2"/>
              </a:rPr>
              <a:t> </a:t>
            </a:r>
            <a:r>
              <a:rPr lang="en-US" altLang="zh-CN" sz="2400" i="1">
                <a:sym typeface="Monotype Sorts" charset="2"/>
              </a:rPr>
              <a:t>I </a:t>
            </a:r>
            <a:r>
              <a:rPr lang="en-US" altLang="zh-CN" sz="2400">
                <a:sym typeface="Monotype Sorts" charset="2"/>
              </a:rPr>
              <a:t>to infer </a:t>
            </a:r>
            <a:r>
              <a:rPr lang="en-US" altLang="zh-CN" sz="2400" i="1">
                <a:sym typeface="Iconic Symbols Ext" pitchFamily="2" charset="2"/>
              </a:rPr>
              <a:t>CG </a:t>
            </a:r>
            <a:r>
              <a:rPr lang="en-US" altLang="zh-CN" sz="2400">
                <a:sym typeface="Symbol" panose="05050102010706020507" charset="2"/>
              </a:rPr>
              <a:t></a:t>
            </a:r>
            <a:r>
              <a:rPr lang="en-US" altLang="zh-CN" sz="2400">
                <a:sym typeface="Monotype Sorts" charset="2"/>
              </a:rPr>
              <a:t> CG</a:t>
            </a:r>
            <a:r>
              <a:rPr lang="en-US" altLang="zh-CN" sz="2400" i="1">
                <a:sym typeface="Monotype Sorts" charset="2"/>
              </a:rPr>
              <a:t>I, </a:t>
            </a:r>
          </a:p>
          <a:p>
            <a:pPr lvl="2" defTabSz="914400">
              <a:buNone/>
              <a:tabLst>
                <a:tab pos="803275" algn="l"/>
              </a:tabLst>
            </a:pPr>
            <a:r>
              <a:rPr lang="en-US" altLang="zh-CN" sz="2400">
                <a:sym typeface="Monotype Sorts" charset="2"/>
              </a:rPr>
              <a:t>    and augmenting of </a:t>
            </a:r>
            <a:r>
              <a:rPr lang="en-US" altLang="zh-CN" sz="2400" i="1">
                <a:sym typeface="Iconic Symbols Ext" pitchFamily="2" charset="2"/>
              </a:rPr>
              <a:t>CG </a:t>
            </a:r>
            <a:r>
              <a:rPr lang="en-US" altLang="zh-CN" sz="2400">
                <a:sym typeface="Symbol" panose="05050102010706020507" charset="2"/>
              </a:rPr>
              <a:t></a:t>
            </a:r>
            <a:r>
              <a:rPr lang="en-US" altLang="zh-CN" sz="2400">
                <a:sym typeface="Monotype Sorts" charset="2"/>
              </a:rPr>
              <a:t> </a:t>
            </a:r>
            <a:r>
              <a:rPr lang="en-US" altLang="zh-CN" sz="2400" i="1">
                <a:sym typeface="Monotype Sorts" charset="2"/>
              </a:rPr>
              <a:t>H </a:t>
            </a:r>
            <a:r>
              <a:rPr lang="en-US" altLang="zh-CN" sz="2400">
                <a:sym typeface="Monotype Sorts" charset="2"/>
              </a:rPr>
              <a:t>to infer</a:t>
            </a:r>
            <a:r>
              <a:rPr lang="en-US" altLang="zh-CN" sz="2400" i="1">
                <a:sym typeface="Monotype Sorts" charset="2"/>
              </a:rPr>
              <a:t> </a:t>
            </a:r>
            <a:r>
              <a:rPr lang="en-US" altLang="zh-CN" sz="2400" i="1">
                <a:sym typeface="Iconic Symbols Ext" pitchFamily="2" charset="2"/>
              </a:rPr>
              <a:t>CGI </a:t>
            </a:r>
            <a:r>
              <a:rPr lang="en-US" altLang="zh-CN" sz="2400">
                <a:sym typeface="Symbol" panose="05050102010706020507" charset="2"/>
              </a:rPr>
              <a:t></a:t>
            </a:r>
            <a:r>
              <a:rPr lang="en-US" altLang="zh-CN" sz="2400">
                <a:sym typeface="Monotype Sorts" charset="2"/>
              </a:rPr>
              <a:t> </a:t>
            </a:r>
            <a:r>
              <a:rPr lang="en-US" altLang="zh-CN" sz="2400" i="1">
                <a:sym typeface="Monotype Sorts" charset="2"/>
              </a:rPr>
              <a:t>HI,  </a:t>
            </a:r>
            <a:r>
              <a:rPr lang="en-US" altLang="zh-CN" sz="2400">
                <a:sym typeface="Monotype Sorts" charset="2"/>
              </a:rPr>
              <a:t>and then transitivity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014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0144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0144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70144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70144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70144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70144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70144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70144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1443" grpId="0" build="p" bldLvl="3"/>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3490"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Procedure for Computing F</a:t>
            </a:r>
            <a:r>
              <a:rPr kumimoji="1" lang="en-US" altLang="zh-CN" sz="3200" b="1" i="0" u="none" strike="noStrike" kern="0" cap="none" spc="0" normalizeH="0" baseline="30000" noProof="1">
                <a:solidFill>
                  <a:schemeClr val="tx2"/>
                </a:solidFill>
                <a:effectLst>
                  <a:outerShdw blurRad="38100" dist="38100" dir="2700000">
                    <a:srgbClr val="C0C0C0"/>
                  </a:outerShdw>
                </a:effectLst>
                <a:latin typeface="Arial" panose="020B0604020202020204"/>
                <a:ea typeface="+mj-ea"/>
                <a:cs typeface="Arial" panose="020B0604020202020204"/>
              </a:rPr>
              <a:t>+</a:t>
            </a:r>
          </a:p>
        </p:txBody>
      </p:sp>
      <p:sp>
        <p:nvSpPr>
          <p:cNvPr id="703491" name="Rectangle 3"/>
          <p:cNvSpPr>
            <a:spLocks noGrp="1" noChangeArrowheads="1"/>
          </p:cNvSpPr>
          <p:nvPr>
            <p:ph type="body" idx="1"/>
          </p:nvPr>
        </p:nvSpPr>
        <p:spPr>
          <a:xfrm>
            <a:off x="80963" y="984250"/>
            <a:ext cx="8953500" cy="5405438"/>
          </a:xfrm>
        </p:spPr>
        <p:txBody>
          <a:bodyPr vert="horz" wrap="square" lIns="91440" tIns="45720" rIns="91440" bIns="45720" numCol="1" anchor="t" anchorCtr="0" compatLnSpc="1"/>
          <a:lstStyle/>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en-US" altLang="zh-CN" sz="2400" b="0" i="0" u="none" strike="noStrike" kern="0" cap="none" spc="0" normalizeH="0" baseline="0" noProof="1">
                <a:solidFill>
                  <a:schemeClr val="tx1"/>
                </a:solidFill>
                <a:latin typeface="Arial" panose="020B0604020202020204"/>
                <a:ea typeface="+mn-ea"/>
                <a:cs typeface="Arial" panose="020B0604020202020204"/>
              </a:rPr>
              <a:t>To compute the closure of a set of functional dependencies F:</a:t>
            </a:r>
            <a:br>
              <a:rPr lang="en-US" altLang="zh-CN" sz="2400"/>
            </a:br>
            <a:r>
              <a:rPr kumimoji="1" lang="en-US" altLang="zh-CN" sz="2400" b="0" i="1" u="none" strike="noStrike" kern="0" cap="none" spc="0" normalizeH="0" baseline="0" noProof="1">
                <a:solidFill>
                  <a:schemeClr val="tx1"/>
                </a:solidFill>
                <a:latin typeface="Arial" panose="020B0604020202020204"/>
                <a:ea typeface="+mn-ea"/>
                <a:cs typeface="Arial" panose="020B0604020202020204"/>
              </a:rPr>
              <a:t> F </a:t>
            </a:r>
            <a:r>
              <a:rPr kumimoji="1" lang="en-US" altLang="zh-CN" sz="2400" b="0" i="0" u="none" strike="noStrike" kern="0" cap="none" spc="0" normalizeH="0" baseline="30000" noProof="1">
                <a:solidFill>
                  <a:schemeClr val="tx1"/>
                </a:solidFill>
                <a:latin typeface="Arial" panose="020B0604020202020204"/>
                <a:ea typeface="+mn-ea"/>
                <a:cs typeface="Arial" panose="020B0604020202020204"/>
              </a:rPr>
              <a:t>+</a:t>
            </a:r>
            <a:r>
              <a:rPr kumimoji="1" lang="en-US" altLang="zh-CN" sz="2400" b="0" i="0" u="none" strike="noStrike" kern="0" cap="none" spc="0" normalizeH="0" baseline="0" noProof="1">
                <a:solidFill>
                  <a:schemeClr val="tx1"/>
                </a:solidFill>
                <a:latin typeface="Arial" panose="020B0604020202020204"/>
                <a:ea typeface="+mn-ea"/>
                <a:cs typeface="Arial" panose="020B0604020202020204"/>
              </a:rPr>
              <a:t> = </a:t>
            </a:r>
            <a:r>
              <a:rPr kumimoji="1" lang="en-US" altLang="zh-CN" sz="2400" b="0" i="1" u="none" strike="noStrike" kern="0" cap="none" spc="0" normalizeH="0" baseline="0" noProof="1">
                <a:solidFill>
                  <a:schemeClr val="tx1"/>
                </a:solidFill>
                <a:latin typeface="Arial" panose="020B0604020202020204"/>
                <a:ea typeface="+mn-ea"/>
                <a:cs typeface="Arial" panose="020B0604020202020204"/>
              </a:rPr>
              <a:t>F</a:t>
            </a:r>
            <a:br>
              <a:rPr lang="en-US" altLang="zh-CN" sz="2400"/>
            </a:br>
            <a:r>
              <a:rPr kumimoji="1" lang="en-US" altLang="zh-CN" sz="2400" b="1" i="0" u="none" strike="noStrike" kern="0" cap="none" spc="0" normalizeH="0" baseline="0" noProof="1">
                <a:solidFill>
                  <a:schemeClr val="tx1"/>
                </a:solidFill>
                <a:latin typeface="Arial" panose="020B0604020202020204"/>
                <a:ea typeface="+mn-ea"/>
                <a:cs typeface="Arial" panose="020B0604020202020204"/>
              </a:rPr>
              <a:t>repeat</a:t>
            </a:r>
            <a:br>
              <a:rPr lang="en-US" altLang="zh-CN" sz="2400"/>
            </a:br>
            <a:r>
              <a:rPr kumimoji="1" lang="en-US" altLang="zh-CN" sz="2400" b="0" i="0" u="none" strike="noStrike" kern="0" cap="none" spc="0" normalizeH="0" baseline="0" noProof="1">
                <a:solidFill>
                  <a:schemeClr val="tx1"/>
                </a:solidFill>
                <a:latin typeface="Arial" panose="020B0604020202020204"/>
                <a:ea typeface="+mn-ea"/>
                <a:cs typeface="Arial" panose="020B0604020202020204"/>
              </a:rPr>
              <a:t>	</a:t>
            </a:r>
            <a:r>
              <a:rPr kumimoji="1" lang="en-US" altLang="zh-CN" sz="2400" b="1" i="0" u="none" strike="noStrike" kern="0" cap="none" spc="0" normalizeH="0" baseline="0" noProof="1">
                <a:solidFill>
                  <a:schemeClr val="tx1"/>
                </a:solidFill>
                <a:latin typeface="Arial" panose="020B0604020202020204"/>
                <a:ea typeface="+mn-ea"/>
                <a:cs typeface="Arial" panose="020B0604020202020204"/>
              </a:rPr>
              <a:t>for each</a:t>
            </a:r>
            <a:r>
              <a:rPr kumimoji="1" lang="en-US" altLang="zh-CN" sz="2400" b="0" i="0" u="none" strike="noStrike" kern="0" cap="none" spc="0" normalizeH="0" baseline="0" noProof="1">
                <a:solidFill>
                  <a:schemeClr val="tx1"/>
                </a:solidFill>
                <a:latin typeface="Arial" panose="020B0604020202020204"/>
                <a:ea typeface="+mn-ea"/>
                <a:cs typeface="Arial" panose="020B0604020202020204"/>
              </a:rPr>
              <a:t> functional dependency </a:t>
            </a:r>
            <a:r>
              <a:rPr kumimoji="1" lang="en-US" altLang="zh-CN" sz="2400" b="0" i="1" u="none" strike="noStrike" kern="0" cap="none" spc="0" normalizeH="0" baseline="0" noProof="1">
                <a:solidFill>
                  <a:schemeClr val="tx1"/>
                </a:solidFill>
                <a:latin typeface="Arial" panose="020B0604020202020204"/>
                <a:ea typeface="+mn-ea"/>
                <a:cs typeface="Arial" panose="020B0604020202020204"/>
              </a:rPr>
              <a:t>f</a:t>
            </a:r>
            <a:r>
              <a:rPr kumimoji="1" lang="en-US" altLang="zh-CN" sz="2400" b="0" i="0" u="none" strike="noStrike" kern="0" cap="none" spc="0" normalizeH="0" baseline="0" noProof="1">
                <a:solidFill>
                  <a:schemeClr val="tx1"/>
                </a:solidFill>
                <a:latin typeface="Arial" panose="020B0604020202020204"/>
                <a:ea typeface="+mn-ea"/>
                <a:cs typeface="Arial" panose="020B0604020202020204"/>
              </a:rPr>
              <a:t> in </a:t>
            </a:r>
            <a:r>
              <a:rPr kumimoji="1" lang="en-US" altLang="zh-CN" sz="2400" b="0" i="1" u="none" strike="noStrike" kern="0" cap="none" spc="0" normalizeH="0" baseline="0" noProof="1">
                <a:solidFill>
                  <a:schemeClr val="tx1"/>
                </a:solidFill>
                <a:latin typeface="Arial" panose="020B0604020202020204"/>
                <a:ea typeface="+mn-ea"/>
                <a:cs typeface="Arial" panose="020B0604020202020204"/>
              </a:rPr>
              <a:t>F</a:t>
            </a:r>
            <a:r>
              <a:rPr kumimoji="1" lang="en-US" altLang="zh-CN" sz="2400" b="0" i="0" u="none" strike="noStrike" kern="0" cap="none" spc="0" normalizeH="0" baseline="30000" noProof="1">
                <a:solidFill>
                  <a:schemeClr val="tx1"/>
                </a:solidFill>
                <a:latin typeface="Arial" panose="020B0604020202020204"/>
                <a:ea typeface="+mn-ea"/>
                <a:cs typeface="Arial" panose="020B0604020202020204"/>
              </a:rPr>
              <a:t>+</a:t>
            </a:r>
            <a:br>
              <a:rPr lang="en-US" altLang="zh-CN" sz="2400" baseline="30000"/>
            </a:br>
            <a:r>
              <a:rPr kumimoji="1" lang="en-US" altLang="zh-CN" sz="2400" b="0" i="0" u="none" strike="noStrike" kern="0" cap="none" spc="0" normalizeH="0" baseline="30000" noProof="1">
                <a:solidFill>
                  <a:schemeClr val="tx1"/>
                </a:solidFill>
                <a:latin typeface="Arial" panose="020B0604020202020204"/>
                <a:ea typeface="+mn-ea"/>
                <a:cs typeface="Arial" panose="020B0604020202020204"/>
              </a:rPr>
              <a:t>	</a:t>
            </a:r>
            <a:r>
              <a:rPr kumimoji="1" lang="en-US" altLang="zh-CN" sz="2400" b="0" i="0" u="none" strike="noStrike" kern="0" cap="none" spc="0" normalizeH="0" baseline="0" noProof="1">
                <a:solidFill>
                  <a:schemeClr val="tx1"/>
                </a:solidFill>
                <a:latin typeface="Arial" panose="020B0604020202020204"/>
                <a:ea typeface="+mn-ea"/>
                <a:cs typeface="Arial" panose="020B0604020202020204"/>
              </a:rPr>
              <a:t>       apply </a:t>
            </a:r>
            <a:r>
              <a:rPr kumimoji="1" lang="en-US" altLang="zh-CN" sz="2400" b="1" i="0" u="none" strike="noStrike" kern="0" cap="none" spc="0" normalizeH="0" baseline="0" noProof="1">
                <a:solidFill>
                  <a:srgbClr val="0000FF"/>
                </a:solidFill>
                <a:effectLst>
                  <a:outerShdw blurRad="38100" dist="38100" dir="2700000">
                    <a:srgbClr val="C0C0C0"/>
                  </a:outerShdw>
                </a:effectLst>
                <a:latin typeface="Arial" panose="020B0604020202020204"/>
                <a:ea typeface="+mn-ea"/>
                <a:cs typeface="Arial" panose="020B0604020202020204"/>
              </a:rPr>
              <a:t>reflexivity</a:t>
            </a:r>
            <a:r>
              <a:rPr kumimoji="1" lang="en-US" altLang="zh-CN" sz="2400" b="0" i="0" u="none" strike="noStrike" kern="0" cap="none" spc="0" normalizeH="0" baseline="0" noProof="1">
                <a:solidFill>
                  <a:schemeClr val="tx1"/>
                </a:solidFill>
                <a:latin typeface="Arial" panose="020B0604020202020204"/>
                <a:ea typeface="+mn-ea"/>
                <a:cs typeface="Arial" panose="020B0604020202020204"/>
              </a:rPr>
              <a:t> and </a:t>
            </a:r>
            <a:r>
              <a:rPr kumimoji="1" lang="en-US" altLang="zh-CN" sz="2400" b="1" i="0" u="none" strike="noStrike" kern="0" cap="none" spc="0" normalizeH="0" baseline="0" noProof="1">
                <a:solidFill>
                  <a:srgbClr val="0000FF"/>
                </a:solidFill>
                <a:effectLst>
                  <a:outerShdw blurRad="38100" dist="38100" dir="2700000">
                    <a:srgbClr val="C0C0C0"/>
                  </a:outerShdw>
                </a:effectLst>
                <a:latin typeface="Arial" panose="020B0604020202020204"/>
                <a:ea typeface="+mn-ea"/>
                <a:cs typeface="Arial" panose="020B0604020202020204"/>
              </a:rPr>
              <a:t>augmentation</a:t>
            </a:r>
            <a:r>
              <a:rPr kumimoji="1" lang="en-US" altLang="zh-CN" sz="2400" b="0" i="0" u="none" strike="noStrike" kern="0" cap="none" spc="0" normalizeH="0" baseline="0" noProof="1">
                <a:solidFill>
                  <a:schemeClr val="tx1"/>
                </a:solidFill>
                <a:latin typeface="Arial" panose="020B0604020202020204"/>
                <a:ea typeface="+mn-ea"/>
                <a:cs typeface="Arial" panose="020B0604020202020204"/>
              </a:rPr>
              <a:t> rules on </a:t>
            </a:r>
            <a:r>
              <a:rPr kumimoji="1" lang="en-US" altLang="zh-CN" sz="2400" b="0" i="1" u="none" strike="noStrike" kern="0" cap="none" spc="0" normalizeH="0" baseline="0" noProof="1">
                <a:solidFill>
                  <a:schemeClr val="tx1"/>
                </a:solidFill>
                <a:latin typeface="Arial" panose="020B0604020202020204"/>
                <a:ea typeface="+mn-ea"/>
                <a:cs typeface="Arial" panose="020B0604020202020204"/>
              </a:rPr>
              <a:t>f</a:t>
            </a:r>
            <a:br>
              <a:rPr lang="en-US" altLang="zh-CN" sz="2400" i="1"/>
            </a:br>
            <a:r>
              <a:rPr kumimoji="1" lang="en-US" altLang="zh-CN" sz="2400" b="0" i="1" u="none" strike="noStrike" kern="0" cap="none" spc="0" normalizeH="0" baseline="0" noProof="1">
                <a:solidFill>
                  <a:schemeClr val="tx1"/>
                </a:solidFill>
                <a:latin typeface="Arial" panose="020B0604020202020204"/>
                <a:ea typeface="+mn-ea"/>
                <a:cs typeface="Arial" panose="020B0604020202020204"/>
              </a:rPr>
              <a:t>	       </a:t>
            </a:r>
            <a:r>
              <a:rPr kumimoji="1" lang="en-US" altLang="zh-CN" sz="2400" b="0" i="0" u="none" strike="noStrike" kern="0" cap="none" spc="0" normalizeH="0" baseline="0" noProof="1">
                <a:solidFill>
                  <a:schemeClr val="tx1"/>
                </a:solidFill>
                <a:latin typeface="Arial" panose="020B0604020202020204"/>
                <a:ea typeface="+mn-ea"/>
                <a:cs typeface="Arial" panose="020B0604020202020204"/>
              </a:rPr>
              <a:t>add the resulting functional dependencies to </a:t>
            </a:r>
            <a:r>
              <a:rPr kumimoji="1" lang="en-US" altLang="zh-CN" sz="2400" b="0" i="1" u="none" strike="noStrike" kern="0" cap="none" spc="0" normalizeH="0" baseline="0" noProof="1">
                <a:solidFill>
                  <a:schemeClr val="tx1"/>
                </a:solidFill>
                <a:latin typeface="Arial" panose="020B0604020202020204"/>
                <a:ea typeface="+mn-ea"/>
                <a:cs typeface="Arial" panose="020B0604020202020204"/>
              </a:rPr>
              <a:t>F </a:t>
            </a:r>
            <a:r>
              <a:rPr kumimoji="1" lang="en-US" altLang="zh-CN" sz="2400" b="0" i="0" u="none" strike="noStrike" kern="0" cap="none" spc="0" normalizeH="0" baseline="30000" noProof="1">
                <a:solidFill>
                  <a:schemeClr val="tx1"/>
                </a:solidFill>
                <a:latin typeface="Arial" panose="020B0604020202020204"/>
                <a:ea typeface="+mn-ea"/>
                <a:cs typeface="Arial" panose="020B0604020202020204"/>
              </a:rPr>
              <a:t>+</a:t>
            </a:r>
            <a:br>
              <a:rPr lang="en-US" altLang="zh-CN" sz="2400" baseline="30000"/>
            </a:br>
            <a:r>
              <a:rPr kumimoji="1" lang="en-US" altLang="zh-CN" sz="2400" b="0" i="0" u="none" strike="noStrike" kern="0" cap="none" spc="0" normalizeH="0" baseline="30000" noProof="1">
                <a:solidFill>
                  <a:schemeClr val="tx1"/>
                </a:solidFill>
                <a:latin typeface="Arial" panose="020B0604020202020204"/>
                <a:ea typeface="+mn-ea"/>
                <a:cs typeface="Arial" panose="020B0604020202020204"/>
              </a:rPr>
              <a:t>	</a:t>
            </a:r>
            <a:r>
              <a:rPr kumimoji="1" lang="en-US" altLang="zh-CN" sz="2400" b="1" i="0" u="none" strike="noStrike" kern="0" cap="none" spc="0" normalizeH="0" baseline="0" noProof="1">
                <a:solidFill>
                  <a:schemeClr val="tx1"/>
                </a:solidFill>
                <a:latin typeface="Arial" panose="020B0604020202020204"/>
                <a:ea typeface="+mn-ea"/>
                <a:cs typeface="Arial" panose="020B0604020202020204"/>
              </a:rPr>
              <a:t>for each </a:t>
            </a:r>
            <a:r>
              <a:rPr kumimoji="1" lang="en-US" altLang="zh-CN" sz="2400" b="0" i="0" u="none" strike="noStrike" kern="0" cap="none" spc="0" normalizeH="0" baseline="0" noProof="1">
                <a:solidFill>
                  <a:schemeClr val="tx1"/>
                </a:solidFill>
                <a:latin typeface="Arial" panose="020B0604020202020204"/>
                <a:ea typeface="+mn-ea"/>
                <a:cs typeface="Arial" panose="020B0604020202020204"/>
              </a:rPr>
              <a:t>pair of functional dependencies </a:t>
            </a:r>
            <a:r>
              <a:rPr kumimoji="1" lang="en-US" altLang="zh-CN" sz="2400" b="0" i="1" u="none" strike="noStrike" kern="0" cap="none" spc="0" normalizeH="0" baseline="0" noProof="1">
                <a:solidFill>
                  <a:schemeClr val="tx1"/>
                </a:solidFill>
                <a:latin typeface="Arial" panose="020B0604020202020204"/>
                <a:ea typeface="+mn-ea"/>
                <a:cs typeface="Arial" panose="020B0604020202020204"/>
              </a:rPr>
              <a:t>f</a:t>
            </a:r>
            <a:r>
              <a:rPr kumimoji="1" lang="en-US" altLang="zh-CN" sz="2400" b="0" i="0" u="none" strike="noStrike" kern="0" cap="none" spc="0" normalizeH="0" baseline="-25000" noProof="1">
                <a:solidFill>
                  <a:schemeClr val="tx1"/>
                </a:solidFill>
                <a:latin typeface="Arial" panose="020B0604020202020204"/>
                <a:ea typeface="+mn-ea"/>
                <a:cs typeface="Arial" panose="020B0604020202020204"/>
              </a:rPr>
              <a:t>1</a:t>
            </a:r>
            <a:r>
              <a:rPr kumimoji="1" lang="en-US" altLang="zh-CN" sz="2400" b="0" i="0" u="none" strike="noStrike" kern="0" cap="none" spc="0" normalizeH="0" baseline="0" noProof="1">
                <a:solidFill>
                  <a:schemeClr val="tx1"/>
                </a:solidFill>
                <a:latin typeface="Arial" panose="020B0604020202020204"/>
                <a:ea typeface="+mn-ea"/>
                <a:cs typeface="Arial" panose="020B0604020202020204"/>
              </a:rPr>
              <a:t>and </a:t>
            </a:r>
            <a:r>
              <a:rPr kumimoji="1" lang="en-US" altLang="zh-CN" sz="2400" b="0" i="1" u="none" strike="noStrike" kern="0" cap="none" spc="0" normalizeH="0" baseline="0" noProof="1">
                <a:solidFill>
                  <a:schemeClr val="tx1"/>
                </a:solidFill>
                <a:latin typeface="Arial" panose="020B0604020202020204"/>
                <a:ea typeface="+mn-ea"/>
                <a:cs typeface="Arial" panose="020B0604020202020204"/>
              </a:rPr>
              <a:t>f</a:t>
            </a:r>
            <a:r>
              <a:rPr kumimoji="1" lang="en-US" altLang="zh-CN" sz="2400" b="0" i="0" u="none" strike="noStrike" kern="0" cap="none" spc="0" normalizeH="0" baseline="-25000" noProof="1">
                <a:solidFill>
                  <a:schemeClr val="tx1"/>
                </a:solidFill>
                <a:latin typeface="Arial" panose="020B0604020202020204"/>
                <a:ea typeface="+mn-ea"/>
                <a:cs typeface="Arial" panose="020B0604020202020204"/>
              </a:rPr>
              <a:t>2</a:t>
            </a:r>
            <a:r>
              <a:rPr kumimoji="1" lang="en-US" altLang="zh-CN" sz="2400" b="0" i="0" u="none" strike="noStrike" kern="0" cap="none" spc="0" normalizeH="0" baseline="0" noProof="1">
                <a:solidFill>
                  <a:schemeClr val="tx1"/>
                </a:solidFill>
                <a:latin typeface="Arial" panose="020B0604020202020204"/>
                <a:ea typeface="+mn-ea"/>
                <a:cs typeface="Arial" panose="020B0604020202020204"/>
              </a:rPr>
              <a:t> in </a:t>
            </a:r>
            <a:r>
              <a:rPr kumimoji="1" lang="en-US" altLang="zh-CN" sz="2400" b="0" i="1" u="none" strike="noStrike" kern="0" cap="none" spc="0" normalizeH="0" baseline="0" noProof="1">
                <a:solidFill>
                  <a:schemeClr val="tx1"/>
                </a:solidFill>
                <a:latin typeface="Arial" panose="020B0604020202020204"/>
                <a:ea typeface="+mn-ea"/>
                <a:cs typeface="Arial" panose="020B0604020202020204"/>
              </a:rPr>
              <a:t>F </a:t>
            </a:r>
            <a:r>
              <a:rPr kumimoji="1" lang="en-US" altLang="zh-CN" sz="2400" b="0" i="0" u="none" strike="noStrike" kern="0" cap="none" spc="0" normalizeH="0" baseline="30000" noProof="1">
                <a:solidFill>
                  <a:schemeClr val="tx1"/>
                </a:solidFill>
                <a:latin typeface="Arial" panose="020B0604020202020204"/>
                <a:ea typeface="+mn-ea"/>
                <a:cs typeface="Arial" panose="020B0604020202020204"/>
              </a:rPr>
              <a:t>+</a:t>
            </a:r>
            <a:br>
              <a:rPr lang="en-US" altLang="zh-CN" sz="2400" baseline="30000"/>
            </a:br>
            <a:r>
              <a:rPr kumimoji="1" lang="en-US" altLang="zh-CN" sz="2400" b="0" i="0" u="none" strike="noStrike" kern="0" cap="none" spc="0" normalizeH="0" baseline="30000" noProof="1">
                <a:solidFill>
                  <a:schemeClr val="tx1"/>
                </a:solidFill>
                <a:latin typeface="Arial" panose="020B0604020202020204"/>
                <a:ea typeface="+mn-ea"/>
                <a:cs typeface="Arial" panose="020B0604020202020204"/>
              </a:rPr>
              <a:t>	</a:t>
            </a:r>
            <a:r>
              <a:rPr kumimoji="1" lang="en-US" altLang="zh-CN" sz="2400" b="0" i="0" u="none" strike="noStrike" kern="0" cap="none" spc="0" normalizeH="0" baseline="0" noProof="1">
                <a:solidFill>
                  <a:schemeClr val="tx1"/>
                </a:solidFill>
                <a:latin typeface="Arial" panose="020B0604020202020204"/>
                <a:ea typeface="+mn-ea"/>
                <a:cs typeface="Arial" panose="020B0604020202020204"/>
              </a:rPr>
              <a:t>       </a:t>
            </a:r>
            <a:r>
              <a:rPr kumimoji="1" lang="en-US" altLang="zh-CN" sz="2400" b="1" i="0" u="none" strike="noStrike" kern="0" cap="none" spc="0" normalizeH="0" baseline="0" noProof="1">
                <a:solidFill>
                  <a:schemeClr val="tx1"/>
                </a:solidFill>
                <a:latin typeface="Arial" panose="020B0604020202020204"/>
                <a:ea typeface="+mn-ea"/>
                <a:cs typeface="Arial" panose="020B0604020202020204"/>
              </a:rPr>
              <a:t>if</a:t>
            </a:r>
            <a:r>
              <a:rPr kumimoji="1" lang="en-US" altLang="zh-CN" sz="2400" b="0" i="0" u="none" strike="noStrike" kern="0" cap="none" spc="0" normalizeH="0" baseline="0" noProof="1">
                <a:solidFill>
                  <a:schemeClr val="tx1"/>
                </a:solidFill>
                <a:latin typeface="Arial" panose="020B0604020202020204"/>
                <a:ea typeface="+mn-ea"/>
                <a:cs typeface="Arial" panose="020B0604020202020204"/>
              </a:rPr>
              <a:t> </a:t>
            </a:r>
            <a:r>
              <a:rPr kumimoji="1" lang="en-US" altLang="zh-CN" sz="2400" b="0" i="1" u="none" strike="noStrike" kern="0" cap="none" spc="0" normalizeH="0" baseline="0" noProof="1">
                <a:solidFill>
                  <a:schemeClr val="tx1"/>
                </a:solidFill>
                <a:latin typeface="Arial" panose="020B0604020202020204"/>
                <a:ea typeface="+mn-ea"/>
                <a:cs typeface="Arial" panose="020B0604020202020204"/>
              </a:rPr>
              <a:t>f</a:t>
            </a:r>
            <a:r>
              <a:rPr kumimoji="1" lang="en-US" altLang="zh-CN" sz="2400" b="0" i="0" u="none" strike="noStrike" kern="0" cap="none" spc="0" normalizeH="0" baseline="-25000" noProof="1">
                <a:solidFill>
                  <a:schemeClr val="tx1"/>
                </a:solidFill>
                <a:latin typeface="Arial" panose="020B0604020202020204"/>
                <a:ea typeface="+mn-ea"/>
                <a:cs typeface="Arial" panose="020B0604020202020204"/>
              </a:rPr>
              <a:t>1</a:t>
            </a:r>
            <a:r>
              <a:rPr kumimoji="1" lang="en-US" altLang="zh-CN" sz="2400" b="0" i="0" u="none" strike="noStrike" kern="0" cap="none" spc="0" normalizeH="0" baseline="0" noProof="1">
                <a:solidFill>
                  <a:schemeClr val="tx1"/>
                </a:solidFill>
                <a:latin typeface="Arial" panose="020B0604020202020204"/>
                <a:ea typeface="+mn-ea"/>
                <a:cs typeface="Arial" panose="020B0604020202020204"/>
              </a:rPr>
              <a:t> and </a:t>
            </a:r>
            <a:r>
              <a:rPr kumimoji="1" lang="en-US" altLang="zh-CN" sz="2400" b="0" i="1" u="none" strike="noStrike" kern="0" cap="none" spc="0" normalizeH="0" baseline="0" noProof="1">
                <a:solidFill>
                  <a:schemeClr val="tx1"/>
                </a:solidFill>
                <a:latin typeface="Arial" panose="020B0604020202020204"/>
                <a:ea typeface="+mn-ea"/>
                <a:cs typeface="Arial" panose="020B0604020202020204"/>
              </a:rPr>
              <a:t>f</a:t>
            </a:r>
            <a:r>
              <a:rPr kumimoji="1" lang="en-US" altLang="zh-CN" sz="2400" b="0" i="0" u="none" strike="noStrike" kern="0" cap="none" spc="0" normalizeH="0" baseline="-25000" noProof="1">
                <a:solidFill>
                  <a:schemeClr val="tx1"/>
                </a:solidFill>
                <a:latin typeface="Arial" panose="020B0604020202020204"/>
                <a:ea typeface="+mn-ea"/>
                <a:cs typeface="Arial" panose="020B0604020202020204"/>
              </a:rPr>
              <a:t>2</a:t>
            </a:r>
            <a:r>
              <a:rPr kumimoji="1" lang="en-US" altLang="zh-CN" sz="2400" b="0" i="0" u="none" strike="noStrike" kern="0" cap="none" spc="0" normalizeH="0" baseline="0" noProof="1">
                <a:solidFill>
                  <a:schemeClr val="tx1"/>
                </a:solidFill>
                <a:latin typeface="Arial" panose="020B0604020202020204"/>
                <a:ea typeface="+mn-ea"/>
                <a:cs typeface="Arial" panose="020B0604020202020204"/>
              </a:rPr>
              <a:t> can be combined using </a:t>
            </a:r>
            <a:r>
              <a:rPr kumimoji="1" lang="en-US" altLang="zh-CN" sz="2400" b="1" i="0" u="none" strike="noStrike" kern="0" cap="none" spc="0" normalizeH="0" baseline="0" noProof="1">
                <a:solidFill>
                  <a:srgbClr val="0000FF"/>
                </a:solidFill>
                <a:effectLst>
                  <a:outerShdw blurRad="38100" dist="38100" dir="2700000">
                    <a:srgbClr val="C0C0C0"/>
                  </a:outerShdw>
                </a:effectLst>
                <a:latin typeface="Arial" panose="020B0604020202020204"/>
                <a:ea typeface="+mn-ea"/>
                <a:cs typeface="Arial" panose="020B0604020202020204"/>
              </a:rPr>
              <a:t>transitivity</a:t>
            </a:r>
            <a:br>
              <a:rPr lang="en-US" altLang="zh-CN" sz="2400"/>
            </a:br>
            <a:r>
              <a:rPr kumimoji="1" lang="en-US" altLang="zh-CN" sz="2400" b="0" i="0" u="none" strike="noStrike" kern="0" cap="none" spc="0" normalizeH="0" baseline="0" noProof="1">
                <a:solidFill>
                  <a:schemeClr val="tx1"/>
                </a:solidFill>
                <a:latin typeface="Arial" panose="020B0604020202020204"/>
                <a:ea typeface="+mn-ea"/>
                <a:cs typeface="Arial" panose="020B0604020202020204"/>
              </a:rPr>
              <a:t>		 </a:t>
            </a:r>
            <a:r>
              <a:rPr kumimoji="1" lang="en-US" altLang="zh-CN" sz="2400" b="1" i="0" u="none" strike="noStrike" kern="0" cap="none" spc="0" normalizeH="0" baseline="0" noProof="1">
                <a:solidFill>
                  <a:schemeClr val="tx1"/>
                </a:solidFill>
                <a:latin typeface="Arial" panose="020B0604020202020204"/>
                <a:ea typeface="+mn-ea"/>
                <a:cs typeface="Arial" panose="020B0604020202020204"/>
              </a:rPr>
              <a:t>then</a:t>
            </a:r>
            <a:r>
              <a:rPr kumimoji="1" lang="en-US" altLang="zh-CN" sz="2400" b="0" i="0" u="none" strike="noStrike" kern="0" cap="none" spc="0" normalizeH="0" baseline="0" noProof="1">
                <a:solidFill>
                  <a:schemeClr val="tx1"/>
                </a:solidFill>
                <a:latin typeface="Arial" panose="020B0604020202020204"/>
                <a:ea typeface="+mn-ea"/>
                <a:cs typeface="Arial" panose="020B0604020202020204"/>
              </a:rPr>
              <a:t> add the resulting functional dependency to </a:t>
            </a:r>
            <a:r>
              <a:rPr kumimoji="1" lang="en-US" altLang="zh-CN" sz="2400" b="0" i="1" u="none" strike="noStrike" kern="0" cap="none" spc="0" normalizeH="0" baseline="0" noProof="1">
                <a:solidFill>
                  <a:schemeClr val="tx1"/>
                </a:solidFill>
                <a:latin typeface="Arial" panose="020B0604020202020204"/>
                <a:ea typeface="+mn-ea"/>
                <a:cs typeface="Arial" panose="020B0604020202020204"/>
              </a:rPr>
              <a:t>F </a:t>
            </a:r>
            <a:r>
              <a:rPr kumimoji="1" lang="en-US" altLang="zh-CN" sz="2400" b="0" i="0" u="none" strike="noStrike" kern="0" cap="none" spc="0" normalizeH="0" baseline="30000" noProof="1">
                <a:solidFill>
                  <a:schemeClr val="tx1"/>
                </a:solidFill>
                <a:latin typeface="Arial" panose="020B0604020202020204"/>
                <a:ea typeface="+mn-ea"/>
                <a:cs typeface="Arial" panose="020B0604020202020204"/>
              </a:rPr>
              <a:t>+</a:t>
            </a:r>
            <a:br>
              <a:rPr lang="en-US" altLang="zh-CN" sz="2400" baseline="30000"/>
            </a:br>
            <a:r>
              <a:rPr kumimoji="1" lang="en-US" altLang="zh-CN" sz="2400" b="1" i="0" u="none" strike="noStrike" kern="0" cap="none" spc="0" normalizeH="0" baseline="0" noProof="1">
                <a:solidFill>
                  <a:schemeClr val="tx1"/>
                </a:solidFill>
                <a:latin typeface="Arial" panose="020B0604020202020204"/>
                <a:ea typeface="+mn-ea"/>
                <a:cs typeface="Arial" panose="020B0604020202020204"/>
              </a:rPr>
              <a:t>until </a:t>
            </a:r>
            <a:r>
              <a:rPr kumimoji="1" lang="en-US" altLang="zh-CN" sz="2400" b="0" i="1" u="none" strike="noStrike" kern="0" cap="none" spc="0" normalizeH="0" baseline="0" noProof="1">
                <a:solidFill>
                  <a:schemeClr val="tx1"/>
                </a:solidFill>
                <a:latin typeface="Arial" panose="020B0604020202020204"/>
                <a:ea typeface="+mn-ea"/>
                <a:cs typeface="Arial" panose="020B0604020202020204"/>
              </a:rPr>
              <a:t>F </a:t>
            </a:r>
            <a:r>
              <a:rPr kumimoji="1" lang="en-US" altLang="zh-CN" sz="2400" b="0" i="0" u="none" strike="noStrike" kern="0" cap="none" spc="0" normalizeH="0" baseline="30000" noProof="1">
                <a:solidFill>
                  <a:schemeClr val="tx1"/>
                </a:solidFill>
                <a:latin typeface="Arial" panose="020B0604020202020204"/>
                <a:ea typeface="+mn-ea"/>
                <a:cs typeface="Arial" panose="020B0604020202020204"/>
              </a:rPr>
              <a:t>+</a:t>
            </a:r>
            <a:r>
              <a:rPr kumimoji="1" lang="en-US" altLang="zh-CN" sz="2400" b="0" i="0" u="none" strike="noStrike" kern="0" cap="none" spc="0" normalizeH="0" baseline="0" noProof="1">
                <a:solidFill>
                  <a:schemeClr val="tx1"/>
                </a:solidFill>
                <a:latin typeface="Arial" panose="020B0604020202020204"/>
                <a:ea typeface="+mn-ea"/>
                <a:cs typeface="Arial" panose="020B0604020202020204"/>
              </a:rPr>
              <a:t> does not change any further</a:t>
            </a:r>
          </a:p>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None/>
            </a:pPr>
            <a:r>
              <a:rPr kumimoji="1" lang="en-US" altLang="zh-CN" sz="2400" b="1" i="0" u="none" strike="noStrike" kern="0" cap="none" spc="0" normalizeH="0" baseline="0" noProof="1">
                <a:solidFill>
                  <a:schemeClr val="tx1"/>
                </a:solidFill>
                <a:latin typeface="Arial" panose="020B0604020202020204"/>
                <a:ea typeface="+mn-ea"/>
                <a:cs typeface="Arial" panose="020B0604020202020204"/>
              </a:rPr>
              <a:t>NOTE</a:t>
            </a:r>
            <a:r>
              <a:rPr kumimoji="1" lang="en-US" altLang="zh-CN" sz="2400" b="0" i="0" u="none" strike="noStrike" kern="0" cap="none" spc="0" normalizeH="0" baseline="0" noProof="1">
                <a:solidFill>
                  <a:schemeClr val="tx1"/>
                </a:solidFill>
                <a:latin typeface="Arial" panose="020B0604020202020204"/>
                <a:ea typeface="+mn-ea"/>
                <a:cs typeface="Arial" panose="020B0604020202020204"/>
              </a:rPr>
              <a:t>:  We shall see an alternative procedure for this task later</a:t>
            </a:r>
            <a:endParaRPr kumimoji="1" lang="en-US" altLang="zh-CN" sz="2400" b="0" i="1" u="none" strike="noStrike" kern="0" cap="none" spc="0" normalizeH="0" baseline="-25000" noProof="1">
              <a:solidFill>
                <a:schemeClr val="tx1"/>
              </a:solidFill>
              <a:latin typeface="Arial" panose="020B0604020202020204"/>
              <a:ea typeface="+mn-ea"/>
              <a:cs typeface="Arial" panose="020B0604020202020204"/>
            </a:endParaRPr>
          </a:p>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None/>
            </a:pPr>
            <a:endParaRPr kumimoji="1" lang="en-US" altLang="zh-CN" sz="2400" b="0" i="0" u="none" strike="noStrike" kern="0" cap="none" spc="0" normalizeH="0" baseline="30000" noProof="1">
              <a:solidFill>
                <a:schemeClr val="tx1"/>
              </a:solidFill>
              <a:latin typeface="Arial" panose="020B0604020202020204"/>
              <a:ea typeface="+mn-ea"/>
              <a:cs typeface="Arial" panose="020B0604020202020204"/>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5538" name="Rectangle 2"/>
          <p:cNvSpPr>
            <a:spLocks noGrp="1" noChangeArrowheads="1"/>
          </p:cNvSpPr>
          <p:nvPr>
            <p:ph type="title"/>
          </p:nvPr>
        </p:nvSpPr>
        <p:spPr>
          <a:xfrm>
            <a:off x="863600" y="485775"/>
            <a:ext cx="80772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Closure of Functional Dependencies (Cont.)</a:t>
            </a:r>
          </a:p>
        </p:txBody>
      </p:sp>
      <p:sp>
        <p:nvSpPr>
          <p:cNvPr id="66562" name="Rectangle 3"/>
          <p:cNvSpPr>
            <a:spLocks noGrp="1"/>
          </p:cNvSpPr>
          <p:nvPr>
            <p:ph idx="1"/>
          </p:nvPr>
        </p:nvSpPr>
        <p:spPr>
          <a:xfrm>
            <a:off x="133350" y="1474788"/>
            <a:ext cx="8915400" cy="4140200"/>
          </a:xfrm>
        </p:spPr>
        <p:txBody>
          <a:bodyPr wrap="square" lIns="91440" tIns="45720" rIns="91440" bIns="45720" anchor="t"/>
          <a:lstStyle/>
          <a:p>
            <a:r>
              <a:rPr lang="en-US" altLang="zh-CN" sz="2400"/>
              <a:t>Additional rules:</a:t>
            </a:r>
          </a:p>
          <a:p>
            <a:pPr lvl="1"/>
            <a:r>
              <a:rPr lang="en-US" altLang="zh-CN" sz="2400">
                <a:sym typeface="Symbol" panose="05050102010706020507" charset="2"/>
              </a:rPr>
              <a:t>If  </a:t>
            </a:r>
            <a:r>
              <a:rPr lang="en-US" altLang="zh-CN" sz="2400">
                <a:sym typeface="Monotype Sorts" charset="2"/>
              </a:rPr>
              <a:t> </a:t>
            </a:r>
            <a:r>
              <a:rPr lang="en-US" altLang="zh-CN" sz="2400" i="1">
                <a:sym typeface="Symbol" panose="05050102010706020507" charset="2"/>
              </a:rPr>
              <a:t> </a:t>
            </a:r>
            <a:r>
              <a:rPr lang="en-US" altLang="zh-CN" sz="2400">
                <a:sym typeface="Symbol" panose="05050102010706020507" charset="2"/>
              </a:rPr>
              <a:t>holds</a:t>
            </a:r>
            <a:r>
              <a:rPr lang="en-US" altLang="zh-CN" sz="2400" i="1">
                <a:sym typeface="Symbol" panose="05050102010706020507" charset="2"/>
              </a:rPr>
              <a:t> a</a:t>
            </a:r>
            <a:r>
              <a:rPr lang="en-US" altLang="zh-CN" sz="2400">
                <a:sym typeface="Symbol" panose="05050102010706020507" charset="2"/>
              </a:rPr>
              <a:t>nd </a:t>
            </a:r>
            <a:r>
              <a:rPr lang="en-US" altLang="zh-CN" sz="2400" i="1">
                <a:sym typeface="Symbol" panose="05050102010706020507" charset="2"/>
              </a:rPr>
              <a:t> </a:t>
            </a:r>
            <a:r>
              <a:rPr lang="en-US" altLang="zh-CN" sz="2400">
                <a:sym typeface="Symbol" panose="05050102010706020507" charset="2"/>
              </a:rPr>
              <a:t></a:t>
            </a:r>
            <a:r>
              <a:rPr lang="en-US" altLang="zh-CN" sz="2400">
                <a:sym typeface="Monotype Sorts" charset="2"/>
              </a:rPr>
              <a:t> </a:t>
            </a:r>
            <a:r>
              <a:rPr lang="en-US" altLang="zh-CN" sz="2400">
                <a:sym typeface="Symbol" panose="05050102010706020507" charset="2"/>
              </a:rPr>
              <a:t></a:t>
            </a:r>
            <a:r>
              <a:rPr lang="en-US" altLang="zh-CN" sz="2400">
                <a:sym typeface="Monotype Sorts" charset="2"/>
              </a:rPr>
              <a:t> holds,  then </a:t>
            </a:r>
            <a:r>
              <a:rPr lang="en-US" altLang="zh-CN" sz="2400">
                <a:sym typeface="Symbol" panose="05050102010706020507" charset="2"/>
              </a:rPr>
              <a:t> </a:t>
            </a:r>
            <a:r>
              <a:rPr lang="en-US" altLang="zh-CN" sz="2400">
                <a:sym typeface="Monotype Sorts" charset="2"/>
              </a:rPr>
              <a:t> </a:t>
            </a:r>
            <a:r>
              <a:rPr lang="en-US" altLang="zh-CN" sz="2400" i="1">
                <a:sym typeface="Symbol" panose="05050102010706020507" charset="2"/>
              </a:rPr>
              <a:t> </a:t>
            </a:r>
            <a:r>
              <a:rPr lang="en-US" altLang="zh-CN" sz="2400">
                <a:sym typeface="Symbol" panose="05050102010706020507" charset="2"/>
              </a:rPr>
              <a:t></a:t>
            </a:r>
            <a:r>
              <a:rPr lang="en-US" altLang="zh-CN" sz="2400">
                <a:sym typeface="Greek Symbols" pitchFamily="18" charset="2"/>
              </a:rPr>
              <a:t> holds </a:t>
            </a:r>
            <a:r>
              <a:rPr lang="en-US" altLang="zh-CN" sz="2400" b="1">
                <a:sym typeface="Greek Symbols" pitchFamily="18" charset="2"/>
              </a:rPr>
              <a:t>(</a:t>
            </a:r>
            <a:r>
              <a:rPr lang="en-US" altLang="zh-CN" sz="2400" b="1">
                <a:solidFill>
                  <a:srgbClr val="000099"/>
                </a:solidFill>
                <a:sym typeface="Greek Symbols" pitchFamily="18" charset="2"/>
              </a:rPr>
              <a:t>union</a:t>
            </a:r>
            <a:r>
              <a:rPr lang="en-US" altLang="zh-CN" sz="2400" b="1">
                <a:sym typeface="Greek Symbols" pitchFamily="18" charset="2"/>
              </a:rPr>
              <a:t>)</a:t>
            </a:r>
            <a:endParaRPr lang="en-US" altLang="zh-CN" sz="2400">
              <a:sym typeface="Greek Symbols" pitchFamily="18" charset="2"/>
            </a:endParaRPr>
          </a:p>
          <a:p>
            <a:pPr lvl="1"/>
            <a:r>
              <a:rPr lang="en-US" altLang="zh-CN" sz="2400">
                <a:sym typeface="Greek Symbols" pitchFamily="18" charset="2"/>
              </a:rPr>
              <a:t>If </a:t>
            </a:r>
            <a:r>
              <a:rPr lang="en-US" altLang="zh-CN" sz="2400">
                <a:sym typeface="Symbol" panose="05050102010706020507" charset="2"/>
              </a:rPr>
              <a:t> </a:t>
            </a:r>
            <a:r>
              <a:rPr lang="en-US" altLang="zh-CN" sz="2400">
                <a:sym typeface="Monotype Sorts" charset="2"/>
              </a:rPr>
              <a:t> </a:t>
            </a:r>
            <a:r>
              <a:rPr lang="en-US" altLang="zh-CN" sz="2400" i="1">
                <a:sym typeface="Symbol" panose="05050102010706020507" charset="2"/>
              </a:rPr>
              <a:t> </a:t>
            </a:r>
            <a:r>
              <a:rPr lang="en-US" altLang="zh-CN" sz="2400">
                <a:sym typeface="Symbol" panose="05050102010706020507" charset="2"/>
              </a:rPr>
              <a:t></a:t>
            </a:r>
            <a:r>
              <a:rPr lang="en-US" altLang="zh-CN" sz="2400">
                <a:sym typeface="Monotype Sorts" charset="2"/>
              </a:rPr>
              <a:t> holds, then </a:t>
            </a:r>
            <a:r>
              <a:rPr lang="en-US" altLang="zh-CN" sz="2400">
                <a:sym typeface="Symbol" panose="05050102010706020507" charset="2"/>
              </a:rPr>
              <a:t> </a:t>
            </a:r>
            <a:r>
              <a:rPr lang="en-US" altLang="zh-CN" sz="2400">
                <a:sym typeface="Monotype Sorts" charset="2"/>
              </a:rPr>
              <a:t> </a:t>
            </a:r>
            <a:r>
              <a:rPr lang="en-US" altLang="zh-CN" sz="2400" i="1">
                <a:sym typeface="Symbol" panose="05050102010706020507" charset="2"/>
              </a:rPr>
              <a:t>  </a:t>
            </a:r>
            <a:r>
              <a:rPr lang="en-US" altLang="zh-CN" sz="2400">
                <a:sym typeface="Symbol" panose="05050102010706020507" charset="2"/>
              </a:rPr>
              <a:t>holds and </a:t>
            </a:r>
            <a:r>
              <a:rPr lang="en-US" altLang="zh-CN" sz="2400" i="1">
                <a:sym typeface="Symbol" panose="05050102010706020507" charset="2"/>
              </a:rPr>
              <a:t> </a:t>
            </a:r>
            <a:r>
              <a:rPr lang="en-US" altLang="zh-CN" sz="2400">
                <a:sym typeface="Symbol" panose="05050102010706020507" charset="2"/>
              </a:rPr>
              <a:t></a:t>
            </a:r>
            <a:r>
              <a:rPr lang="en-US" altLang="zh-CN" sz="2400">
                <a:sym typeface="Monotype Sorts" charset="2"/>
              </a:rPr>
              <a:t> </a:t>
            </a:r>
            <a:r>
              <a:rPr lang="en-US" altLang="zh-CN" sz="2400">
                <a:sym typeface="Symbol" panose="05050102010706020507" charset="2"/>
              </a:rPr>
              <a:t></a:t>
            </a:r>
            <a:r>
              <a:rPr lang="en-US" altLang="zh-CN" sz="2400">
                <a:sym typeface="Monotype Sorts" charset="2"/>
              </a:rPr>
              <a:t> holds </a:t>
            </a:r>
            <a:r>
              <a:rPr lang="en-US" altLang="zh-CN" sz="2400" b="1">
                <a:sym typeface="Monotype Sorts" charset="2"/>
              </a:rPr>
              <a:t>(</a:t>
            </a:r>
            <a:r>
              <a:rPr lang="en-US" altLang="zh-CN" sz="2400" b="1">
                <a:solidFill>
                  <a:srgbClr val="000099"/>
                </a:solidFill>
                <a:sym typeface="Monotype Sorts" charset="2"/>
              </a:rPr>
              <a:t>decomposition</a:t>
            </a:r>
            <a:r>
              <a:rPr lang="en-US" altLang="zh-CN" sz="2400" b="1">
                <a:sym typeface="Monotype Sorts" charset="2"/>
              </a:rPr>
              <a:t>)</a:t>
            </a:r>
            <a:endParaRPr lang="en-US" altLang="zh-CN" sz="2400">
              <a:sym typeface="Monotype Sorts" charset="2"/>
            </a:endParaRPr>
          </a:p>
          <a:p>
            <a:pPr lvl="1"/>
            <a:r>
              <a:rPr lang="en-US" altLang="zh-CN" sz="2400">
                <a:sym typeface="Monotype Sorts" charset="2"/>
              </a:rPr>
              <a:t>If </a:t>
            </a:r>
            <a:r>
              <a:rPr lang="en-US" altLang="zh-CN" sz="2400">
                <a:sym typeface="Symbol" panose="05050102010706020507" charset="2"/>
              </a:rPr>
              <a:t> </a:t>
            </a:r>
            <a:r>
              <a:rPr lang="en-US" altLang="zh-CN" sz="2400">
                <a:sym typeface="Monotype Sorts" charset="2"/>
              </a:rPr>
              <a:t> </a:t>
            </a:r>
            <a:r>
              <a:rPr lang="en-US" altLang="zh-CN" sz="2400" i="1">
                <a:sym typeface="Symbol" panose="05050102010706020507" charset="2"/>
              </a:rPr>
              <a:t>  </a:t>
            </a:r>
            <a:r>
              <a:rPr lang="en-US" altLang="zh-CN" sz="2400">
                <a:sym typeface="Symbol" panose="05050102010706020507" charset="2"/>
              </a:rPr>
              <a:t>holds</a:t>
            </a:r>
            <a:r>
              <a:rPr lang="en-US" altLang="zh-CN" sz="2400" i="1">
                <a:sym typeface="Symbol" panose="05050102010706020507" charset="2"/>
              </a:rPr>
              <a:t> a</a:t>
            </a:r>
            <a:r>
              <a:rPr lang="en-US" altLang="zh-CN" sz="2400">
                <a:sym typeface="Symbol" panose="05050102010706020507" charset="2"/>
              </a:rPr>
              <a:t>nd </a:t>
            </a:r>
            <a:r>
              <a:rPr lang="en-US" altLang="zh-CN" sz="2400">
                <a:sym typeface="Greek Symbols" pitchFamily="18" charset="2"/>
              </a:rPr>
              <a:t> </a:t>
            </a:r>
            <a:r>
              <a:rPr lang="en-US" altLang="zh-CN" sz="2400" i="1">
                <a:sym typeface="Symbol" panose="05050102010706020507" charset="2"/>
              </a:rPr>
              <a:t> </a:t>
            </a:r>
            <a:r>
              <a:rPr lang="en-US" altLang="zh-CN" sz="2400">
                <a:sym typeface="Symbol" panose="05050102010706020507" charset="2"/>
              </a:rPr>
              <a:t></a:t>
            </a:r>
            <a:r>
              <a:rPr lang="en-US" altLang="zh-CN" sz="2400">
                <a:sym typeface="Monotype Sorts" charset="2"/>
              </a:rPr>
              <a:t> </a:t>
            </a:r>
            <a:r>
              <a:rPr lang="en-US" altLang="zh-CN" sz="2400">
                <a:sym typeface="Symbol" panose="05050102010706020507" charset="2"/>
              </a:rPr>
              <a:t></a:t>
            </a:r>
            <a:r>
              <a:rPr lang="en-US" altLang="zh-CN" sz="2400">
                <a:sym typeface="Greek Symbols" pitchFamily="18" charset="2"/>
              </a:rPr>
              <a:t> holds, then </a:t>
            </a:r>
            <a:r>
              <a:rPr lang="en-US" altLang="zh-CN" sz="2400">
                <a:sym typeface="Symbol" panose="05050102010706020507" charset="2"/>
              </a:rPr>
              <a:t> </a:t>
            </a:r>
            <a:r>
              <a:rPr lang="en-US" altLang="zh-CN" sz="2400">
                <a:sym typeface="Greek Symbols" pitchFamily="18" charset="2"/>
              </a:rPr>
              <a:t> </a:t>
            </a:r>
            <a:r>
              <a:rPr lang="en-US" altLang="zh-CN" sz="2400">
                <a:sym typeface="Symbol" panose="05050102010706020507" charset="2"/>
              </a:rPr>
              <a:t></a:t>
            </a:r>
            <a:r>
              <a:rPr lang="en-US" altLang="zh-CN" sz="2400">
                <a:sym typeface="Monotype Sorts" charset="2"/>
              </a:rPr>
              <a:t> </a:t>
            </a:r>
            <a:r>
              <a:rPr lang="en-US" altLang="zh-CN" sz="2400">
                <a:sym typeface="Symbol" panose="05050102010706020507" charset="2"/>
              </a:rPr>
              <a:t></a:t>
            </a:r>
            <a:r>
              <a:rPr lang="en-US" altLang="zh-CN" sz="2400">
                <a:sym typeface="Greek Symbols" pitchFamily="18" charset="2"/>
              </a:rPr>
              <a:t> holds</a:t>
            </a:r>
            <a:r>
              <a:rPr lang="en-US" altLang="zh-CN" sz="2400" b="1">
                <a:sym typeface="Greek Symbols" pitchFamily="18" charset="2"/>
              </a:rPr>
              <a:t> (</a:t>
            </a:r>
            <a:r>
              <a:rPr lang="en-US" altLang="zh-CN" sz="2400" b="1" err="1">
                <a:solidFill>
                  <a:srgbClr val="000099"/>
                </a:solidFill>
                <a:sym typeface="Greek Symbols" pitchFamily="18" charset="2"/>
              </a:rPr>
              <a:t>pseudotransitivity</a:t>
            </a:r>
            <a:r>
              <a:rPr lang="en-US" altLang="zh-CN" sz="2400" b="1">
                <a:sym typeface="Greek Symbols" pitchFamily="18" charset="2"/>
              </a:rPr>
              <a:t>)</a:t>
            </a:r>
            <a:endParaRPr lang="en-US" altLang="zh-CN" sz="2400">
              <a:sym typeface="Greek Symbols" pitchFamily="18" charset="2"/>
            </a:endParaRPr>
          </a:p>
          <a:p>
            <a:pPr lvl="1">
              <a:buNone/>
            </a:pPr>
            <a:r>
              <a:rPr lang="en-US" altLang="zh-CN" sz="2400">
                <a:sym typeface="Greek Symbols" pitchFamily="18" charset="2"/>
              </a:rPr>
              <a:t>The above rules can be inferred from Armstrong's axioms.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609" name="Group 2"/>
          <p:cNvGrpSpPr/>
          <p:nvPr/>
        </p:nvGrpSpPr>
        <p:grpSpPr>
          <a:xfrm>
            <a:off x="228600" y="1181100"/>
            <a:ext cx="8610600" cy="1676400"/>
            <a:chOff x="144" y="744"/>
            <a:chExt cx="5424" cy="1056"/>
          </a:xfrm>
        </p:grpSpPr>
        <p:sp>
          <p:nvSpPr>
            <p:cNvPr id="68610" name="WordArt 3" descr="白色大理石"/>
            <p:cNvSpPr>
              <a:spLocks noTextEdit="1"/>
            </p:cNvSpPr>
            <p:nvPr/>
          </p:nvSpPr>
          <p:spPr>
            <a:xfrm>
              <a:off x="1716" y="1194"/>
              <a:ext cx="168" cy="529"/>
            </a:xfrm>
            <a:prstGeom prst="rect">
              <a:avLst/>
            </a:prstGeom>
          </p:spPr>
          <p:txBody>
            <a:bodyPr wrap="none" fromWordArt="1">
              <a:prstTxWarp prst="textPlain">
                <a:avLst>
                  <a:gd name="adj" fmla="val 50000"/>
                </a:avLst>
              </a:prstTxWarp>
              <a:normAutofit/>
              <a:scene3d>
                <a:camera prst="legacyObliqueRight">
                  <a:rot lat="0" lon="0" rev="0"/>
                </a:camera>
                <a:lightRig rig="legacyHarsh3" dir="t"/>
              </a:scene3d>
              <a:sp3d extrusionH="100000" prstMaterial="legacyMatte">
                <a:extrusionClr>
                  <a:srgbClr val="663300"/>
                </a:extrusionClr>
              </a:sp3d>
            </a:bodyPr>
            <a:lstStyle/>
            <a:p>
              <a:pPr algn="ctr"/>
              <a:r>
                <a:rPr lang="zh-CN" altLang="en-US" sz="3600">
                  <a:blipFill rotWithShape="0">
                    <a:blip r:embed="rId2"/>
                  </a:blipFill>
                  <a:latin typeface="宋体" panose="02010600030101010101" pitchFamily="2" charset="-122"/>
                  <a:ea typeface="宋体" panose="02010600030101010101" pitchFamily="2" charset="-122"/>
                </a:rPr>
                <a:t>}</a:t>
              </a:r>
            </a:p>
          </p:txBody>
        </p:sp>
        <p:sp>
          <p:nvSpPr>
            <p:cNvPr id="230404" name="Rectangle 4"/>
            <p:cNvSpPr>
              <a:spLocks noChangeArrowheads="1"/>
            </p:cNvSpPr>
            <p:nvPr/>
          </p:nvSpPr>
          <p:spPr bwMode="auto">
            <a:xfrm>
              <a:off x="504" y="1147"/>
              <a:ext cx="1200" cy="489"/>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t[X] = s[X]</a:t>
              </a:r>
            </a:p>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Y</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X</a:t>
              </a:r>
            </a:p>
          </p:txBody>
        </p:sp>
        <p:sp>
          <p:nvSpPr>
            <p:cNvPr id="230405" name="AutoShape 5"/>
            <p:cNvSpPr>
              <a:spLocks noChangeArrowheads="1"/>
            </p:cNvSpPr>
            <p:nvPr/>
          </p:nvSpPr>
          <p:spPr bwMode="auto">
            <a:xfrm>
              <a:off x="2064" y="1349"/>
              <a:ext cx="528" cy="188"/>
            </a:xfrm>
            <a:prstGeom prst="rightArrow">
              <a:avLst>
                <a:gd name="adj1" fmla="val 49167"/>
                <a:gd name="adj2" fmla="val 70213"/>
              </a:avLst>
            </a:prstGeom>
            <a:gradFill rotWithShape="0">
              <a:gsLst>
                <a:gs pos="0">
                  <a:srgbClr val="FFFFFF"/>
                </a:gs>
                <a:gs pos="100000">
                  <a:schemeClr val="bg2"/>
                </a:gs>
              </a:gsLst>
              <a:lin ang="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230406" name="Rectangle 6"/>
            <p:cNvSpPr>
              <a:spLocks noChangeArrowheads="1"/>
            </p:cNvSpPr>
            <p:nvPr/>
          </p:nvSpPr>
          <p:spPr bwMode="auto">
            <a:xfrm>
              <a:off x="2556" y="1275"/>
              <a:ext cx="1200" cy="339"/>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t[Y] = s[Y]</a:t>
              </a:r>
            </a:p>
          </p:txBody>
        </p:sp>
        <p:sp>
          <p:nvSpPr>
            <p:cNvPr id="230407" name="AutoShape 7"/>
            <p:cNvSpPr>
              <a:spLocks noChangeArrowheads="1"/>
            </p:cNvSpPr>
            <p:nvPr/>
          </p:nvSpPr>
          <p:spPr bwMode="auto">
            <a:xfrm>
              <a:off x="3744" y="1351"/>
              <a:ext cx="528" cy="188"/>
            </a:xfrm>
            <a:prstGeom prst="rightArrow">
              <a:avLst>
                <a:gd name="adj1" fmla="val 49167"/>
                <a:gd name="adj2" fmla="val 70213"/>
              </a:avLst>
            </a:prstGeom>
            <a:gradFill rotWithShape="0">
              <a:gsLst>
                <a:gs pos="0">
                  <a:srgbClr val="FFFFFF"/>
                </a:gs>
                <a:gs pos="100000">
                  <a:schemeClr val="bg2"/>
                </a:gs>
              </a:gsLst>
              <a:lin ang="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230408" name="Rectangle 8"/>
            <p:cNvSpPr>
              <a:spLocks noChangeArrowheads="1"/>
            </p:cNvSpPr>
            <p:nvPr/>
          </p:nvSpPr>
          <p:spPr bwMode="auto">
            <a:xfrm>
              <a:off x="4236" y="1286"/>
              <a:ext cx="912" cy="338"/>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X </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Y</a:t>
              </a:r>
            </a:p>
          </p:txBody>
        </p:sp>
        <p:sp>
          <p:nvSpPr>
            <p:cNvPr id="230409" name="Rectangle 9"/>
            <p:cNvSpPr>
              <a:spLocks noChangeArrowheads="1"/>
            </p:cNvSpPr>
            <p:nvPr/>
          </p:nvSpPr>
          <p:spPr bwMode="auto">
            <a:xfrm>
              <a:off x="144" y="1086"/>
              <a:ext cx="5424" cy="714"/>
            </a:xfrm>
            <a:prstGeom prst="rect">
              <a:avLst/>
            </a:prstGeom>
            <a:noFill/>
            <a:ln w="9525">
              <a:solidFill>
                <a:schemeClr val="tx1"/>
              </a:solid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rgbClr val="000000"/>
                </a:solidFill>
                <a:effectLst/>
                <a:uLnTx/>
                <a:uFillTx/>
                <a:latin typeface="Times New Roman" panose="02020603050405020304" charset="0"/>
                <a:ea typeface="宋体" panose="02010600030101010101" pitchFamily="2" charset="-122"/>
                <a:cs typeface="+mn-cs"/>
              </a:endParaRPr>
            </a:p>
          </p:txBody>
        </p:sp>
        <p:sp>
          <p:nvSpPr>
            <p:cNvPr id="230410" name="Rectangle 10"/>
            <p:cNvSpPr>
              <a:spLocks noChangeArrowheads="1"/>
            </p:cNvSpPr>
            <p:nvPr/>
          </p:nvSpPr>
          <p:spPr bwMode="auto">
            <a:xfrm>
              <a:off x="2352" y="744"/>
              <a:ext cx="1200" cy="263"/>
            </a:xfrm>
            <a:prstGeom prst="rect">
              <a:avLst/>
            </a:prstGeom>
            <a:noFill/>
            <a:ln>
              <a:noFill/>
            </a:ln>
          </p:spPr>
          <p:txBody>
            <a:bodyPr/>
            <a:lstStyle/>
            <a:p>
              <a:pPr marL="342900" marR="0" indent="-342900" algn="l"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99"/>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Symbol" panose="05050102010706020507" charset="2"/>
                </a:rPr>
                <a:t>Reflexivity</a:t>
              </a:r>
              <a:endParaRPr kumimoji="0" lang="zh-CN" altLang="en-US" sz="2400" b="1" i="0" u="none" strike="noStrike" kern="1200" cap="none" spc="0" normalizeH="0" baseline="0" noProof="1">
                <a:solidFill>
                  <a:srgbClr val="000099"/>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Symbol" panose="05050102010706020507" charset="2"/>
              </a:endParaRPr>
            </a:p>
          </p:txBody>
        </p:sp>
      </p:grpSp>
      <p:sp>
        <p:nvSpPr>
          <p:cNvPr id="230411" name="Rectangle 11"/>
          <p:cNvSpPr>
            <a:spLocks noChangeArrowheads="1"/>
          </p:cNvSpPr>
          <p:nvPr/>
        </p:nvSpPr>
        <p:spPr bwMode="auto">
          <a:xfrm>
            <a:off x="693738" y="114300"/>
            <a:ext cx="7793038" cy="860425"/>
          </a:xfrm>
          <a:prstGeom prst="rect">
            <a:avLst/>
          </a:prstGeom>
          <a:noFill/>
          <a:ln>
            <a:noFill/>
          </a:ln>
          <a:effectLst/>
        </p:spPr>
        <p:txBody>
          <a:bodyPr anchor="b"/>
          <a:lstStyle/>
          <a:p>
            <a:pPr marL="0" marR="0" indent="0" algn="ctr" defTabSz="914400" rtl="0" eaLnBrk="1" fontAlgn="base" latinLnBrk="0" hangingPunct="1">
              <a:lnSpc>
                <a:spcPct val="100000"/>
              </a:lnSpc>
              <a:spcBef>
                <a:spcPct val="0"/>
              </a:spcBef>
              <a:spcAft>
                <a:spcPct val="0"/>
              </a:spcAft>
              <a:buNone/>
            </a:pPr>
            <a:r>
              <a:rPr kumimoji="0" lang="en-US" altLang="zh-CN" sz="4400" b="1" i="0" u="none" strike="noStrike" kern="1200" cap="none" spc="0" normalizeH="0" baseline="0" noProof="1">
                <a:solidFill>
                  <a:schemeClr val="tx2"/>
                </a:solidFill>
                <a:effectLst>
                  <a:outerShdw blurRad="38100" dist="38100" dir="2700000">
                    <a:srgbClr val="C0C0C0"/>
                  </a:outerShdw>
                </a:effectLst>
                <a:latin typeface="Arial" panose="020B0604020202020204" pitchFamily="34" charset="0"/>
                <a:ea typeface="隶书" panose="02010509060101010101" pitchFamily="49" charset="-122"/>
                <a:cs typeface="+mn-cs"/>
                <a:sym typeface="Symbol" panose="05050102010706020507" charset="2"/>
              </a:rPr>
              <a:t>Armstrong</a:t>
            </a:r>
            <a:r>
              <a:rPr kumimoji="0" lang="zh-CN" altLang="en-US" sz="4400" b="1" i="0" u="none" strike="noStrike" kern="1200" cap="none" spc="0" normalizeH="0" baseline="0" noProof="1">
                <a:solidFill>
                  <a:schemeClr val="tx2"/>
                </a:solidFill>
                <a:effectLst>
                  <a:outerShdw blurRad="38100" dist="38100" dir="2700000">
                    <a:srgbClr val="C0C0C0"/>
                  </a:outerShdw>
                </a:effectLst>
                <a:latin typeface="Arial" panose="020B0604020202020204" pitchFamily="34" charset="0"/>
                <a:ea typeface="隶书" panose="02010509060101010101" pitchFamily="49" charset="-122"/>
                <a:cs typeface="+mn-cs"/>
                <a:sym typeface="Symbol" panose="05050102010706020507" charset="2"/>
              </a:rPr>
              <a:t>公理系统</a:t>
            </a:r>
          </a:p>
        </p:txBody>
      </p:sp>
      <p:grpSp>
        <p:nvGrpSpPr>
          <p:cNvPr id="68619" name="Group 12"/>
          <p:cNvGrpSpPr/>
          <p:nvPr/>
        </p:nvGrpSpPr>
        <p:grpSpPr>
          <a:xfrm>
            <a:off x="285750" y="3371850"/>
            <a:ext cx="8458200" cy="2266950"/>
            <a:chOff x="192" y="624"/>
            <a:chExt cx="5328" cy="1428"/>
          </a:xfrm>
        </p:grpSpPr>
        <p:sp>
          <p:nvSpPr>
            <p:cNvPr id="68620" name="WordArt 13" descr="白色大理石"/>
            <p:cNvSpPr>
              <a:spLocks noTextEdit="1"/>
            </p:cNvSpPr>
            <p:nvPr/>
          </p:nvSpPr>
          <p:spPr>
            <a:xfrm>
              <a:off x="1392" y="1018"/>
              <a:ext cx="120" cy="478"/>
            </a:xfrm>
            <a:prstGeom prst="rect">
              <a:avLst/>
            </a:prstGeom>
          </p:spPr>
          <p:txBody>
            <a:bodyPr wrap="none" fromWordArt="1">
              <a:prstTxWarp prst="textPlain">
                <a:avLst>
                  <a:gd name="adj" fmla="val 50000"/>
                </a:avLst>
              </a:prstTxWarp>
              <a:normAutofit/>
              <a:scene3d>
                <a:camera prst="legacyObliqueRight">
                  <a:rot lat="0" lon="0" rev="0"/>
                </a:camera>
                <a:lightRig rig="legacyHarsh3" dir="t"/>
              </a:scene3d>
              <a:sp3d extrusionH="100000" prstMaterial="legacyMatte">
                <a:extrusionClr>
                  <a:srgbClr val="663300"/>
                </a:extrusionClr>
              </a:sp3d>
            </a:bodyPr>
            <a:lstStyle/>
            <a:p>
              <a:pPr algn="ctr"/>
              <a:r>
                <a:rPr lang="zh-CN" altLang="en-US" sz="3600">
                  <a:blipFill rotWithShape="0">
                    <a:blip r:embed="rId2"/>
                  </a:blipFill>
                  <a:latin typeface="宋体" panose="02010600030101010101" pitchFamily="2" charset="-122"/>
                  <a:ea typeface="宋体" panose="02010600030101010101" pitchFamily="2" charset="-122"/>
                </a:rPr>
                <a:t>}</a:t>
              </a:r>
            </a:p>
          </p:txBody>
        </p:sp>
        <p:sp>
          <p:nvSpPr>
            <p:cNvPr id="230414" name="Rectangle 14"/>
            <p:cNvSpPr>
              <a:spLocks noChangeArrowheads="1"/>
            </p:cNvSpPr>
            <p:nvPr/>
          </p:nvSpPr>
          <p:spPr bwMode="auto">
            <a:xfrm>
              <a:off x="420" y="998"/>
              <a:ext cx="924" cy="478"/>
            </a:xfrm>
            <a:prstGeom prst="rect">
              <a:avLst/>
            </a:prstGeom>
            <a:noFill/>
            <a:ln>
              <a:noFill/>
            </a:ln>
          </p:spPr>
          <p:txBody>
            <a:bodyPr lIns="0" tIns="0" rIns="0" bIns="0"/>
            <a:lstStyle/>
            <a:p>
              <a:pPr marL="342900" marR="0" indent="-342900" algn="ctr" defTabSz="914400" rtl="0" eaLnBrk="1" fontAlgn="base" latinLnBrk="0" hangingPunct="1">
                <a:lnSpc>
                  <a:spcPct val="100000"/>
                </a:lnSpc>
                <a:spcBef>
                  <a:spcPct val="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X </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Y</a:t>
              </a:r>
            </a:p>
            <a:p>
              <a:pPr marL="342900" marR="0" indent="-342900" algn="ctr" defTabSz="914400" rtl="0" eaLnBrk="1" fontAlgn="base" latinLnBrk="0" hangingPunct="1">
                <a:lnSpc>
                  <a:spcPct val="100000"/>
                </a:lnSpc>
                <a:spcBef>
                  <a:spcPct val="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t[X] = s[X]</a:t>
              </a:r>
            </a:p>
          </p:txBody>
        </p:sp>
        <p:sp>
          <p:nvSpPr>
            <p:cNvPr id="230415" name="AutoShape 15"/>
            <p:cNvSpPr>
              <a:spLocks noChangeArrowheads="1"/>
            </p:cNvSpPr>
            <p:nvPr/>
          </p:nvSpPr>
          <p:spPr bwMode="auto">
            <a:xfrm>
              <a:off x="1632" y="1166"/>
              <a:ext cx="360" cy="182"/>
            </a:xfrm>
            <a:prstGeom prst="rightArrow">
              <a:avLst>
                <a:gd name="adj1" fmla="val 49167"/>
                <a:gd name="adj2" fmla="val 49451"/>
              </a:avLst>
            </a:prstGeom>
            <a:gradFill rotWithShape="0">
              <a:gsLst>
                <a:gs pos="0">
                  <a:srgbClr val="FFFFFF"/>
                </a:gs>
                <a:gs pos="100000">
                  <a:schemeClr val="bg2"/>
                </a:gs>
              </a:gsLst>
              <a:lin ang="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230416" name="Rectangle 16"/>
            <p:cNvSpPr>
              <a:spLocks noChangeArrowheads="1"/>
            </p:cNvSpPr>
            <p:nvPr/>
          </p:nvSpPr>
          <p:spPr bwMode="auto">
            <a:xfrm>
              <a:off x="1956" y="1012"/>
              <a:ext cx="1200" cy="450"/>
            </a:xfrm>
            <a:prstGeom prst="rect">
              <a:avLst/>
            </a:prstGeom>
            <a:noFill/>
            <a:ln>
              <a:noFill/>
            </a:ln>
            <a:effectLst/>
          </p:spPr>
          <p:txBody>
            <a:bodyPr lIns="0" tIns="0" rIns="0" bIns="0"/>
            <a:lstStyle/>
            <a:p>
              <a:pPr marL="342900" marR="0" indent="-342900" algn="ctr" defTabSz="914400" rtl="0" eaLnBrk="1" fontAlgn="base" latinLnBrk="0" hangingPunct="1">
                <a:lnSpc>
                  <a:spcPct val="100000"/>
                </a:lnSpc>
                <a:spcBef>
                  <a:spcPct val="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t[Y] = s[Y]</a:t>
              </a:r>
            </a:p>
            <a:p>
              <a:pPr marL="342900" marR="0" indent="-342900" algn="ctr" defTabSz="914400" rtl="0" eaLnBrk="1" fontAlgn="base" latinLnBrk="0" hangingPunct="1">
                <a:lnSpc>
                  <a:spcPct val="100000"/>
                </a:lnSpc>
                <a:spcBef>
                  <a:spcPct val="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Y </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Z</a:t>
              </a:r>
            </a:p>
          </p:txBody>
        </p:sp>
        <p:sp>
          <p:nvSpPr>
            <p:cNvPr id="68624" name="WordArt 17" descr="白色大理石"/>
            <p:cNvSpPr>
              <a:spLocks noTextEdit="1"/>
            </p:cNvSpPr>
            <p:nvPr/>
          </p:nvSpPr>
          <p:spPr>
            <a:xfrm>
              <a:off x="3096" y="1032"/>
              <a:ext cx="156" cy="478"/>
            </a:xfrm>
            <a:prstGeom prst="rect">
              <a:avLst/>
            </a:prstGeom>
          </p:spPr>
          <p:txBody>
            <a:bodyPr wrap="none" fromWordArt="1">
              <a:prstTxWarp prst="textPlain">
                <a:avLst>
                  <a:gd name="adj" fmla="val 50000"/>
                </a:avLst>
              </a:prstTxWarp>
              <a:normAutofit/>
              <a:scene3d>
                <a:camera prst="legacyObliqueRight">
                  <a:rot lat="0" lon="0" rev="0"/>
                </a:camera>
                <a:lightRig rig="legacyHarsh3" dir="t"/>
              </a:scene3d>
              <a:sp3d extrusionH="100000" prstMaterial="legacyMatte">
                <a:extrusionClr>
                  <a:srgbClr val="663300"/>
                </a:extrusionClr>
              </a:sp3d>
            </a:bodyPr>
            <a:lstStyle/>
            <a:p>
              <a:pPr algn="ctr"/>
              <a:r>
                <a:rPr lang="zh-CN" altLang="en-US" sz="3600">
                  <a:blipFill rotWithShape="0">
                    <a:blip r:embed="rId2"/>
                  </a:blipFill>
                  <a:latin typeface="宋体" panose="02010600030101010101" pitchFamily="2" charset="-122"/>
                  <a:ea typeface="宋体" panose="02010600030101010101" pitchFamily="2" charset="-122"/>
                </a:rPr>
                <a:t>}</a:t>
              </a:r>
            </a:p>
          </p:txBody>
        </p:sp>
        <p:sp>
          <p:nvSpPr>
            <p:cNvPr id="230418" name="AutoShape 18"/>
            <p:cNvSpPr>
              <a:spLocks noChangeArrowheads="1"/>
            </p:cNvSpPr>
            <p:nvPr/>
          </p:nvSpPr>
          <p:spPr bwMode="auto">
            <a:xfrm>
              <a:off x="3372" y="1168"/>
              <a:ext cx="348" cy="158"/>
            </a:xfrm>
            <a:prstGeom prst="rightArrow">
              <a:avLst>
                <a:gd name="adj1" fmla="val 49167"/>
                <a:gd name="adj2" fmla="val 55063"/>
              </a:avLst>
            </a:prstGeom>
            <a:gradFill rotWithShape="0">
              <a:gsLst>
                <a:gs pos="0">
                  <a:srgbClr val="FFFFFF"/>
                </a:gs>
                <a:gs pos="100000">
                  <a:schemeClr val="bg2"/>
                </a:gs>
              </a:gsLst>
              <a:lin ang="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230419" name="Rectangle 19"/>
            <p:cNvSpPr>
              <a:spLocks noChangeArrowheads="1"/>
            </p:cNvSpPr>
            <p:nvPr/>
          </p:nvSpPr>
          <p:spPr bwMode="auto">
            <a:xfrm>
              <a:off x="192" y="964"/>
              <a:ext cx="5328" cy="1088"/>
            </a:xfrm>
            <a:prstGeom prst="rect">
              <a:avLst/>
            </a:prstGeom>
            <a:no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230420" name="Rectangle 20"/>
            <p:cNvSpPr>
              <a:spLocks noChangeArrowheads="1"/>
            </p:cNvSpPr>
            <p:nvPr/>
          </p:nvSpPr>
          <p:spPr bwMode="auto">
            <a:xfrm>
              <a:off x="3744" y="1098"/>
              <a:ext cx="1008" cy="306"/>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t[Z] = s[Z]</a:t>
              </a:r>
            </a:p>
          </p:txBody>
        </p:sp>
        <p:sp>
          <p:nvSpPr>
            <p:cNvPr id="230421" name="AutoShape 21"/>
            <p:cNvSpPr>
              <a:spLocks noChangeArrowheads="1"/>
            </p:cNvSpPr>
            <p:nvPr/>
          </p:nvSpPr>
          <p:spPr bwMode="auto">
            <a:xfrm rot="5400000">
              <a:off x="4080" y="1468"/>
              <a:ext cx="300" cy="158"/>
            </a:xfrm>
            <a:prstGeom prst="rightArrow">
              <a:avLst>
                <a:gd name="adj1" fmla="val 49167"/>
                <a:gd name="adj2" fmla="val 47468"/>
              </a:avLst>
            </a:prstGeom>
            <a:gradFill rotWithShape="0">
              <a:gsLst>
                <a:gs pos="0">
                  <a:srgbClr val="FFFFFF"/>
                </a:gs>
                <a:gs pos="100000">
                  <a:schemeClr val="bg2"/>
                </a:gs>
              </a:gsLst>
              <a:lin ang="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230422" name="Rectangle 22"/>
            <p:cNvSpPr>
              <a:spLocks noChangeArrowheads="1"/>
            </p:cNvSpPr>
            <p:nvPr/>
          </p:nvSpPr>
          <p:spPr bwMode="auto">
            <a:xfrm>
              <a:off x="3900" y="1748"/>
              <a:ext cx="648" cy="246"/>
            </a:xfrm>
            <a:prstGeom prst="rect">
              <a:avLst/>
            </a:prstGeom>
            <a:noFill/>
            <a:ln>
              <a:noFill/>
            </a:ln>
            <a:effectLst/>
          </p:spPr>
          <p:txBody>
            <a:bodyPr lIns="0" tIns="0" rIns="0" bIns="0"/>
            <a:lstStyle/>
            <a:p>
              <a:pPr marL="342900" marR="0" indent="-342900" algn="ctr" defTabSz="914400" rtl="0" eaLnBrk="1" fontAlgn="base" latinLnBrk="0" hangingPunct="1">
                <a:lnSpc>
                  <a:spcPct val="100000"/>
                </a:lnSpc>
                <a:spcBef>
                  <a:spcPct val="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X </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Z</a:t>
              </a:r>
            </a:p>
          </p:txBody>
        </p:sp>
        <p:sp>
          <p:nvSpPr>
            <p:cNvPr id="230423" name="Rectangle 23"/>
            <p:cNvSpPr>
              <a:spLocks noChangeArrowheads="1"/>
            </p:cNvSpPr>
            <p:nvPr/>
          </p:nvSpPr>
          <p:spPr bwMode="auto">
            <a:xfrm>
              <a:off x="2088" y="624"/>
              <a:ext cx="1200" cy="306"/>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99"/>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Greek Symbols" pitchFamily="18" charset="2"/>
                </a:rPr>
                <a:t>Transitivity</a:t>
              </a:r>
              <a:endParaRPr kumimoji="0" lang="zh-CN" altLang="en-US" sz="2400" b="1" i="0" u="none" strike="noStrike" kern="1200" cap="none" spc="0" normalizeH="0" baseline="0" noProof="1">
                <a:solidFill>
                  <a:srgbClr val="000099"/>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Greek Symbols" pitchFamily="18" charset="2"/>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9633" name="Group 2"/>
          <p:cNvGrpSpPr/>
          <p:nvPr/>
        </p:nvGrpSpPr>
        <p:grpSpPr>
          <a:xfrm>
            <a:off x="228600" y="3638550"/>
            <a:ext cx="8534400" cy="2343150"/>
            <a:chOff x="144" y="2232"/>
            <a:chExt cx="5376" cy="1476"/>
          </a:xfrm>
        </p:grpSpPr>
        <p:sp>
          <p:nvSpPr>
            <p:cNvPr id="69634" name="WordArt 3" descr="白色大理石"/>
            <p:cNvSpPr>
              <a:spLocks noTextEdit="1"/>
            </p:cNvSpPr>
            <p:nvPr/>
          </p:nvSpPr>
          <p:spPr>
            <a:xfrm>
              <a:off x="1188" y="2652"/>
              <a:ext cx="216" cy="494"/>
            </a:xfrm>
            <a:prstGeom prst="rect">
              <a:avLst/>
            </a:prstGeom>
          </p:spPr>
          <p:txBody>
            <a:bodyPr wrap="none" fromWordArt="1">
              <a:prstTxWarp prst="textPlain">
                <a:avLst>
                  <a:gd name="adj" fmla="val 50000"/>
                </a:avLst>
              </a:prstTxWarp>
              <a:normAutofit/>
              <a:scene3d>
                <a:camera prst="legacyObliqueRight">
                  <a:rot lat="0" lon="0" rev="0"/>
                </a:camera>
                <a:lightRig rig="legacyHarsh3" dir="t"/>
              </a:scene3d>
              <a:sp3d extrusionH="100000" prstMaterial="legacyMatte">
                <a:extrusionClr>
                  <a:srgbClr val="663300"/>
                </a:extrusionClr>
              </a:sp3d>
            </a:bodyPr>
            <a:lstStyle/>
            <a:p>
              <a:pPr algn="ctr"/>
              <a:r>
                <a:rPr lang="zh-CN" altLang="en-US" sz="3600">
                  <a:blipFill rotWithShape="0">
                    <a:blip r:embed="rId2"/>
                  </a:blipFill>
                  <a:latin typeface="宋体" panose="02010600030101010101" pitchFamily="2" charset="-122"/>
                  <a:ea typeface="宋体" panose="02010600030101010101" pitchFamily="2" charset="-122"/>
                </a:rPr>
                <a:t>}</a:t>
              </a:r>
            </a:p>
          </p:txBody>
        </p:sp>
        <p:sp>
          <p:nvSpPr>
            <p:cNvPr id="231428" name="Rectangle 4"/>
            <p:cNvSpPr>
              <a:spLocks noChangeArrowheads="1"/>
            </p:cNvSpPr>
            <p:nvPr/>
          </p:nvSpPr>
          <p:spPr bwMode="auto">
            <a:xfrm>
              <a:off x="144" y="2619"/>
              <a:ext cx="1200" cy="456"/>
            </a:xfrm>
            <a:prstGeom prst="rect">
              <a:avLst/>
            </a:prstGeom>
            <a:noFill/>
            <a:ln>
              <a:noFill/>
            </a:ln>
          </p:spPr>
          <p:txBody>
            <a:bodyPr/>
            <a:lstStyle/>
            <a:p>
              <a:pPr marL="342900" marR="0" lvl="0" indent="-342900" algn="ctr" defTabSz="914400" rtl="0" eaLnBrk="1" fontAlgn="base" latinLnBrk="0" hangingPunct="1">
                <a:lnSpc>
                  <a:spcPct val="100000"/>
                </a:lnSpc>
                <a:spcBef>
                  <a:spcPct val="20000"/>
                </a:spcBef>
                <a:spcAft>
                  <a:spcPct val="0"/>
                </a:spcAft>
                <a:buClr>
                  <a:schemeClr val="bg2"/>
                </a:buClr>
                <a:buSzTx/>
                <a:buFont typeface="Monotype Sorts" charset="0"/>
                <a:buNone/>
                <a:defRPr/>
              </a:pPr>
              <a:r>
                <a:rPr kumimoji="1" lang="en-US" altLang="zh-CN" sz="2400" b="1"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sym typeface="+mn-ea"/>
                </a:rPr>
                <a:t>X </a:t>
              </a:r>
              <a:r>
                <a:rPr kumimoji="1" lang="en-US" altLang="zh-CN" sz="2400" b="1"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sym typeface="Symbol" panose="05050102010706020507" charset="0"/>
                </a:rPr>
                <a:t></a:t>
              </a:r>
              <a:r>
                <a:rPr kumimoji="1" lang="en-US" altLang="zh-CN" sz="2400" b="1"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sym typeface="+mn-ea"/>
                </a:rPr>
                <a:t> Y</a:t>
              </a:r>
            </a:p>
            <a:p>
              <a:pPr marL="342900" marR="0" lvl="0" indent="-342900" algn="ctr" defTabSz="914400" rtl="0" eaLnBrk="1" fontAlgn="base" latinLnBrk="0" hangingPunct="1">
                <a:lnSpc>
                  <a:spcPct val="100000"/>
                </a:lnSpc>
                <a:spcBef>
                  <a:spcPct val="20000"/>
                </a:spcBef>
                <a:spcAft>
                  <a:spcPct val="0"/>
                </a:spcAft>
                <a:buClr>
                  <a:schemeClr val="bg2"/>
                </a:buClr>
                <a:buSzTx/>
                <a:buFont typeface="Monotype Sorts" charset="0"/>
                <a:buNone/>
                <a:defRPr/>
              </a:pPr>
              <a:r>
                <a:rPr kumimoji="1" lang="zh-CN" altLang="en-US" sz="2400" b="1"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sym typeface="+mn-ea"/>
                </a:rPr>
                <a:t>增广律</a:t>
              </a:r>
            </a:p>
          </p:txBody>
        </p:sp>
        <p:sp>
          <p:nvSpPr>
            <p:cNvPr id="231429" name="AutoShape 5"/>
            <p:cNvSpPr>
              <a:spLocks noChangeArrowheads="1"/>
            </p:cNvSpPr>
            <p:nvPr/>
          </p:nvSpPr>
          <p:spPr bwMode="auto">
            <a:xfrm>
              <a:off x="1584" y="2829"/>
              <a:ext cx="528" cy="176"/>
            </a:xfrm>
            <a:prstGeom prst="rightArrow">
              <a:avLst>
                <a:gd name="adj1" fmla="val 49167"/>
                <a:gd name="adj2" fmla="val 75000"/>
              </a:avLst>
            </a:prstGeom>
            <a:gradFill rotWithShape="0">
              <a:gsLst>
                <a:gs pos="0">
                  <a:srgbClr val="FFFFFF"/>
                </a:gs>
                <a:gs pos="100000">
                  <a:schemeClr val="bg2"/>
                </a:gs>
              </a:gsLst>
              <a:lin ang="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69637" name="WordArt 6" descr="白色大理石"/>
            <p:cNvSpPr>
              <a:spLocks noTextEdit="1"/>
            </p:cNvSpPr>
            <p:nvPr/>
          </p:nvSpPr>
          <p:spPr>
            <a:xfrm>
              <a:off x="3240" y="2865"/>
              <a:ext cx="216" cy="632"/>
            </a:xfrm>
            <a:prstGeom prst="rect">
              <a:avLst/>
            </a:prstGeom>
          </p:spPr>
          <p:txBody>
            <a:bodyPr wrap="none" fromWordArt="1">
              <a:prstTxWarp prst="textPlain">
                <a:avLst>
                  <a:gd name="adj" fmla="val 50000"/>
                </a:avLst>
              </a:prstTxWarp>
              <a:normAutofit/>
              <a:scene3d>
                <a:camera prst="legacyObliqueRight">
                  <a:rot lat="0" lon="0" rev="0"/>
                </a:camera>
                <a:lightRig rig="legacyHarsh3" dir="t"/>
              </a:scene3d>
              <a:sp3d extrusionH="100000" prstMaterial="legacyMatte">
                <a:extrusionClr>
                  <a:srgbClr val="663300"/>
                </a:extrusionClr>
              </a:sp3d>
            </a:bodyPr>
            <a:lstStyle/>
            <a:p>
              <a:pPr algn="ctr"/>
              <a:r>
                <a:rPr lang="zh-CN" altLang="en-US" sz="3600">
                  <a:blipFill rotWithShape="0">
                    <a:blip r:embed="rId2"/>
                  </a:blipFill>
                  <a:latin typeface="宋体" panose="02010600030101010101" pitchFamily="2" charset="-122"/>
                  <a:ea typeface="宋体" panose="02010600030101010101" pitchFamily="2" charset="-122"/>
                </a:rPr>
                <a:t>}</a:t>
              </a:r>
            </a:p>
          </p:txBody>
        </p:sp>
        <p:sp>
          <p:nvSpPr>
            <p:cNvPr id="231431" name="AutoShape 7"/>
            <p:cNvSpPr>
              <a:spLocks noChangeArrowheads="1"/>
            </p:cNvSpPr>
            <p:nvPr/>
          </p:nvSpPr>
          <p:spPr bwMode="auto">
            <a:xfrm>
              <a:off x="3612" y="3063"/>
              <a:ext cx="528" cy="187"/>
            </a:xfrm>
            <a:prstGeom prst="rightArrow">
              <a:avLst>
                <a:gd name="adj1" fmla="val 49167"/>
                <a:gd name="adj2" fmla="val 70588"/>
              </a:avLst>
            </a:prstGeom>
            <a:gradFill rotWithShape="0">
              <a:gsLst>
                <a:gs pos="0">
                  <a:srgbClr val="FFFFFF"/>
                </a:gs>
                <a:gs pos="100000">
                  <a:schemeClr val="bg2"/>
                </a:gs>
              </a:gsLst>
              <a:lin ang="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231432" name="Rectangle 8"/>
            <p:cNvSpPr>
              <a:spLocks noChangeArrowheads="1"/>
            </p:cNvSpPr>
            <p:nvPr/>
          </p:nvSpPr>
          <p:spPr bwMode="auto">
            <a:xfrm>
              <a:off x="192" y="2583"/>
              <a:ext cx="5328" cy="1125"/>
            </a:xfrm>
            <a:prstGeom prst="rect">
              <a:avLst/>
            </a:prstGeom>
            <a:no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231433" name="Rectangle 9"/>
            <p:cNvSpPr>
              <a:spLocks noChangeArrowheads="1"/>
            </p:cNvSpPr>
            <p:nvPr/>
          </p:nvSpPr>
          <p:spPr bwMode="auto">
            <a:xfrm>
              <a:off x="2064" y="2759"/>
              <a:ext cx="1296" cy="316"/>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X </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 </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XY</a:t>
              </a:r>
            </a:p>
          </p:txBody>
        </p:sp>
        <p:sp>
          <p:nvSpPr>
            <p:cNvPr id="231434" name="Rectangle 10"/>
            <p:cNvSpPr>
              <a:spLocks noChangeArrowheads="1"/>
            </p:cNvSpPr>
            <p:nvPr/>
          </p:nvSpPr>
          <p:spPr bwMode="auto">
            <a:xfrm>
              <a:off x="2208" y="2232"/>
              <a:ext cx="1296" cy="281"/>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99"/>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onotype Sorts" charset="2"/>
                </a:rPr>
                <a:t>union rule</a:t>
              </a:r>
              <a:endParaRPr kumimoji="0" lang="zh-CN" altLang="en-US" sz="2400" b="1" i="0" u="none" strike="noStrike" kern="1200" cap="none" spc="0" normalizeH="0" baseline="0" noProof="1">
                <a:solidFill>
                  <a:srgbClr val="000099"/>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onotype Sorts" charset="2"/>
              </a:endParaRPr>
            </a:p>
          </p:txBody>
        </p:sp>
        <p:sp>
          <p:nvSpPr>
            <p:cNvPr id="69642" name="WordArt 11" descr="白色大理石"/>
            <p:cNvSpPr>
              <a:spLocks noTextEdit="1"/>
            </p:cNvSpPr>
            <p:nvPr/>
          </p:nvSpPr>
          <p:spPr>
            <a:xfrm>
              <a:off x="1212" y="3179"/>
              <a:ext cx="180" cy="494"/>
            </a:xfrm>
            <a:prstGeom prst="rect">
              <a:avLst/>
            </a:prstGeom>
          </p:spPr>
          <p:txBody>
            <a:bodyPr wrap="none" fromWordArt="1">
              <a:prstTxWarp prst="textPlain">
                <a:avLst>
                  <a:gd name="adj" fmla="val 50000"/>
                </a:avLst>
              </a:prstTxWarp>
              <a:normAutofit/>
              <a:scene3d>
                <a:camera prst="legacyObliqueRight">
                  <a:rot lat="0" lon="0" rev="0"/>
                </a:camera>
                <a:lightRig rig="legacyHarsh3" dir="t"/>
              </a:scene3d>
              <a:sp3d extrusionH="100000" prstMaterial="legacyMatte">
                <a:extrusionClr>
                  <a:srgbClr val="663300"/>
                </a:extrusionClr>
              </a:sp3d>
            </a:bodyPr>
            <a:lstStyle/>
            <a:p>
              <a:pPr algn="ctr"/>
              <a:r>
                <a:rPr lang="zh-CN" altLang="en-US" sz="3600">
                  <a:blipFill rotWithShape="0">
                    <a:blip r:embed="rId2"/>
                  </a:blipFill>
                  <a:latin typeface="宋体" panose="02010600030101010101" pitchFamily="2" charset="-122"/>
                  <a:ea typeface="宋体" panose="02010600030101010101" pitchFamily="2" charset="-122"/>
                </a:rPr>
                <a:t>}</a:t>
              </a:r>
            </a:p>
          </p:txBody>
        </p:sp>
        <p:sp>
          <p:nvSpPr>
            <p:cNvPr id="231436" name="Rectangle 12"/>
            <p:cNvSpPr>
              <a:spLocks noChangeArrowheads="1"/>
            </p:cNvSpPr>
            <p:nvPr/>
          </p:nvSpPr>
          <p:spPr bwMode="auto">
            <a:xfrm>
              <a:off x="144" y="3146"/>
              <a:ext cx="1200" cy="457"/>
            </a:xfrm>
            <a:prstGeom prst="rect">
              <a:avLst/>
            </a:prstGeom>
            <a:noFill/>
            <a:ln>
              <a:noFill/>
            </a:ln>
          </p:spPr>
          <p:txBody>
            <a:bodyPr/>
            <a:lstStyle/>
            <a:p>
              <a:pPr marL="342900" marR="0" lvl="0" indent="-342900" algn="ctr" defTabSz="914400" rtl="0" eaLnBrk="1" fontAlgn="base" latinLnBrk="0" hangingPunct="1">
                <a:lnSpc>
                  <a:spcPct val="100000"/>
                </a:lnSpc>
                <a:spcBef>
                  <a:spcPct val="20000"/>
                </a:spcBef>
                <a:spcAft>
                  <a:spcPct val="0"/>
                </a:spcAft>
                <a:buClr>
                  <a:schemeClr val="bg2"/>
                </a:buClr>
                <a:buSzTx/>
                <a:buFont typeface="Monotype Sorts" charset="0"/>
                <a:buNone/>
                <a:defRPr/>
              </a:pPr>
              <a:r>
                <a:rPr kumimoji="1" lang="en-US" altLang="zh-CN" sz="2400" b="1"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sym typeface="+mn-ea"/>
                </a:rPr>
                <a:t>X </a:t>
              </a:r>
              <a:r>
                <a:rPr kumimoji="1" lang="en-US" altLang="zh-CN" sz="2400" b="1"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sym typeface="Symbol" panose="05050102010706020507" charset="0"/>
                </a:rPr>
                <a:t></a:t>
              </a:r>
              <a:r>
                <a:rPr kumimoji="1" lang="en-US" altLang="zh-CN" sz="2400" b="1"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sym typeface="+mn-ea"/>
                </a:rPr>
                <a:t> Z</a:t>
              </a:r>
            </a:p>
            <a:p>
              <a:pPr marL="342900" marR="0" lvl="0" indent="-342900" algn="ctr" defTabSz="914400" rtl="0" eaLnBrk="1" fontAlgn="base" latinLnBrk="0" hangingPunct="1">
                <a:lnSpc>
                  <a:spcPct val="100000"/>
                </a:lnSpc>
                <a:spcBef>
                  <a:spcPct val="20000"/>
                </a:spcBef>
                <a:spcAft>
                  <a:spcPct val="0"/>
                </a:spcAft>
                <a:buClr>
                  <a:schemeClr val="bg2"/>
                </a:buClr>
                <a:buSzTx/>
                <a:buFont typeface="Monotype Sorts" charset="0"/>
                <a:buNone/>
                <a:defRPr/>
              </a:pPr>
              <a:r>
                <a:rPr kumimoji="1" lang="zh-CN" altLang="en-US" sz="2400" b="1"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sym typeface="+mn-ea"/>
                </a:rPr>
                <a:t>增广律</a:t>
              </a:r>
            </a:p>
          </p:txBody>
        </p:sp>
        <p:sp>
          <p:nvSpPr>
            <p:cNvPr id="231437" name="AutoShape 13"/>
            <p:cNvSpPr>
              <a:spLocks noChangeArrowheads="1"/>
            </p:cNvSpPr>
            <p:nvPr/>
          </p:nvSpPr>
          <p:spPr bwMode="auto">
            <a:xfrm>
              <a:off x="1584" y="3357"/>
              <a:ext cx="528" cy="175"/>
            </a:xfrm>
            <a:prstGeom prst="rightArrow">
              <a:avLst>
                <a:gd name="adj1" fmla="val 49167"/>
                <a:gd name="adj2" fmla="val 75429"/>
              </a:avLst>
            </a:prstGeom>
            <a:gradFill rotWithShape="0">
              <a:gsLst>
                <a:gs pos="0">
                  <a:srgbClr val="FFFFFF"/>
                </a:gs>
                <a:gs pos="100000">
                  <a:schemeClr val="bg2"/>
                </a:gs>
              </a:gsLst>
              <a:lin ang="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231438" name="Rectangle 14"/>
            <p:cNvSpPr>
              <a:spLocks noChangeArrowheads="1"/>
            </p:cNvSpPr>
            <p:nvPr/>
          </p:nvSpPr>
          <p:spPr bwMode="auto">
            <a:xfrm>
              <a:off x="2064" y="3286"/>
              <a:ext cx="1296" cy="317"/>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XY </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 </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YZ</a:t>
              </a:r>
            </a:p>
          </p:txBody>
        </p:sp>
        <p:sp>
          <p:nvSpPr>
            <p:cNvPr id="231439" name="Rectangle 15"/>
            <p:cNvSpPr>
              <a:spLocks noChangeArrowheads="1"/>
            </p:cNvSpPr>
            <p:nvPr/>
          </p:nvSpPr>
          <p:spPr bwMode="auto">
            <a:xfrm>
              <a:off x="2112" y="3040"/>
              <a:ext cx="1200" cy="281"/>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kumimoji="0" lang="zh-CN" altLang="en-US"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传递律</a:t>
              </a:r>
            </a:p>
          </p:txBody>
        </p:sp>
        <p:sp>
          <p:nvSpPr>
            <p:cNvPr id="231440" name="Rectangle 16"/>
            <p:cNvSpPr>
              <a:spLocks noChangeArrowheads="1"/>
            </p:cNvSpPr>
            <p:nvPr/>
          </p:nvSpPr>
          <p:spPr bwMode="auto">
            <a:xfrm>
              <a:off x="4032" y="3004"/>
              <a:ext cx="1296" cy="317"/>
            </a:xfrm>
            <a:prstGeom prst="rect">
              <a:avLst/>
            </a:prstGeom>
            <a:noFill/>
            <a:ln>
              <a:noFill/>
            </a:ln>
          </p:spPr>
          <p:txBody>
            <a:bodyPr/>
            <a:lstStyle/>
            <a:p>
              <a:pPr marL="0" marR="0" indent="0" algn="ctr"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X </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 </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YZ</a:t>
              </a:r>
            </a:p>
          </p:txBody>
        </p:sp>
      </p:grpSp>
      <p:sp>
        <p:nvSpPr>
          <p:cNvPr id="231441" name="Rectangle 17"/>
          <p:cNvSpPr>
            <a:spLocks noChangeArrowheads="1"/>
          </p:cNvSpPr>
          <p:nvPr/>
        </p:nvSpPr>
        <p:spPr bwMode="auto">
          <a:xfrm>
            <a:off x="693738" y="190500"/>
            <a:ext cx="7793038" cy="669925"/>
          </a:xfrm>
          <a:prstGeom prst="rect">
            <a:avLst/>
          </a:prstGeom>
          <a:noFill/>
          <a:ln>
            <a:noFill/>
          </a:ln>
          <a:effectLst/>
        </p:spPr>
        <p:txBody>
          <a:bodyPr anchor="b"/>
          <a:lstStyle/>
          <a:p>
            <a:pPr marL="0" marR="0" indent="0" algn="ctr" defTabSz="914400" rtl="0" eaLnBrk="1" fontAlgn="base" latinLnBrk="0" hangingPunct="1">
              <a:lnSpc>
                <a:spcPct val="100000"/>
              </a:lnSpc>
              <a:spcBef>
                <a:spcPct val="0"/>
              </a:spcBef>
              <a:spcAft>
                <a:spcPct val="0"/>
              </a:spcAft>
              <a:buNone/>
            </a:pPr>
            <a:r>
              <a:rPr kumimoji="0" lang="en-US" altLang="zh-CN" sz="4400" b="1" i="0" u="none" strike="noStrike" kern="1200" cap="none" spc="0" normalizeH="0" baseline="0" noProof="1">
                <a:solidFill>
                  <a:schemeClr val="tx2"/>
                </a:solidFill>
                <a:effectLst>
                  <a:outerShdw blurRad="38100" dist="38100" dir="2700000">
                    <a:srgbClr val="C0C0C0"/>
                  </a:outerShdw>
                </a:effectLst>
                <a:latin typeface="Arial" panose="020B0604020202020204" pitchFamily="34" charset="0"/>
                <a:ea typeface="隶书" panose="02010509060101010101" pitchFamily="49" charset="-122"/>
                <a:cs typeface="+mn-cs"/>
                <a:sym typeface="Symbol" panose="05050102010706020507" charset="2"/>
              </a:rPr>
              <a:t>Armstrong</a:t>
            </a:r>
            <a:r>
              <a:rPr kumimoji="0" lang="zh-CN" altLang="en-US" sz="4400" b="1" i="0" u="none" strike="noStrike" kern="1200" cap="none" spc="0" normalizeH="0" baseline="0" noProof="1">
                <a:solidFill>
                  <a:schemeClr val="tx2"/>
                </a:solidFill>
                <a:effectLst>
                  <a:outerShdw blurRad="38100" dist="38100" dir="2700000">
                    <a:srgbClr val="C0C0C0"/>
                  </a:outerShdw>
                </a:effectLst>
                <a:latin typeface="Arial" panose="020B0604020202020204" pitchFamily="34" charset="0"/>
                <a:ea typeface="隶书" panose="02010509060101010101" pitchFamily="49" charset="-122"/>
                <a:cs typeface="+mn-cs"/>
                <a:sym typeface="Symbol" panose="05050102010706020507" charset="2"/>
              </a:rPr>
              <a:t>公理系统</a:t>
            </a:r>
          </a:p>
        </p:txBody>
      </p:sp>
      <p:grpSp>
        <p:nvGrpSpPr>
          <p:cNvPr id="69649" name="Group 18"/>
          <p:cNvGrpSpPr/>
          <p:nvPr/>
        </p:nvGrpSpPr>
        <p:grpSpPr>
          <a:xfrm>
            <a:off x="152400" y="971550"/>
            <a:ext cx="8858250" cy="2552700"/>
            <a:chOff x="36" y="2076"/>
            <a:chExt cx="5580" cy="1608"/>
          </a:xfrm>
        </p:grpSpPr>
        <p:sp>
          <p:nvSpPr>
            <p:cNvPr id="231443" name="Rectangle 19"/>
            <p:cNvSpPr>
              <a:spLocks noChangeArrowheads="1"/>
            </p:cNvSpPr>
            <p:nvPr/>
          </p:nvSpPr>
          <p:spPr bwMode="auto">
            <a:xfrm>
              <a:off x="36" y="2433"/>
              <a:ext cx="1284" cy="238"/>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t[XZ] = s[XZ]</a:t>
              </a:r>
            </a:p>
          </p:txBody>
        </p:sp>
        <p:sp>
          <p:nvSpPr>
            <p:cNvPr id="231444" name="AutoShape 20"/>
            <p:cNvSpPr>
              <a:spLocks noChangeArrowheads="1"/>
            </p:cNvSpPr>
            <p:nvPr/>
          </p:nvSpPr>
          <p:spPr bwMode="auto">
            <a:xfrm>
              <a:off x="1260" y="2481"/>
              <a:ext cx="240" cy="179"/>
            </a:xfrm>
            <a:prstGeom prst="rightArrow">
              <a:avLst>
                <a:gd name="adj1" fmla="val 49167"/>
                <a:gd name="adj2" fmla="val 33520"/>
              </a:avLst>
            </a:prstGeom>
            <a:gradFill rotWithShape="0">
              <a:gsLst>
                <a:gs pos="0">
                  <a:srgbClr val="FFFFFF"/>
                </a:gs>
                <a:gs pos="100000">
                  <a:schemeClr val="bg2"/>
                </a:gs>
              </a:gsLst>
              <a:lin ang="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grpSp>
          <p:nvGrpSpPr>
            <p:cNvPr id="69652" name="Group 21"/>
            <p:cNvGrpSpPr/>
            <p:nvPr/>
          </p:nvGrpSpPr>
          <p:grpSpPr>
            <a:xfrm>
              <a:off x="1368" y="2433"/>
              <a:ext cx="1272" cy="501"/>
              <a:chOff x="2040" y="2433"/>
              <a:chExt cx="1272" cy="501"/>
            </a:xfrm>
          </p:grpSpPr>
          <p:sp>
            <p:nvSpPr>
              <p:cNvPr id="231446" name="Rectangle 22"/>
              <p:cNvSpPr>
                <a:spLocks noChangeArrowheads="1"/>
              </p:cNvSpPr>
              <p:nvPr/>
            </p:nvSpPr>
            <p:spPr bwMode="auto">
              <a:xfrm>
                <a:off x="2040" y="2433"/>
                <a:ext cx="1248" cy="250"/>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t[X] = s[X]</a:t>
                </a:r>
              </a:p>
            </p:txBody>
          </p:sp>
          <p:sp>
            <p:nvSpPr>
              <p:cNvPr id="231447" name="Rectangle 23"/>
              <p:cNvSpPr>
                <a:spLocks noChangeArrowheads="1"/>
              </p:cNvSpPr>
              <p:nvPr/>
            </p:nvSpPr>
            <p:spPr bwMode="auto">
              <a:xfrm>
                <a:off x="2280" y="2683"/>
                <a:ext cx="864" cy="251"/>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X</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Y</a:t>
                </a:r>
              </a:p>
            </p:txBody>
          </p:sp>
          <p:sp>
            <p:nvSpPr>
              <p:cNvPr id="69655" name="WordArt 24" descr="白色大理石"/>
              <p:cNvSpPr>
                <a:spLocks noTextEdit="1"/>
              </p:cNvSpPr>
              <p:nvPr/>
            </p:nvSpPr>
            <p:spPr>
              <a:xfrm>
                <a:off x="3156" y="2491"/>
                <a:ext cx="156" cy="442"/>
              </a:xfrm>
              <a:prstGeom prst="rect">
                <a:avLst/>
              </a:prstGeom>
            </p:spPr>
            <p:txBody>
              <a:bodyPr wrap="none" fromWordArt="1">
                <a:prstTxWarp prst="textPlain">
                  <a:avLst>
                    <a:gd name="adj" fmla="val 50000"/>
                  </a:avLst>
                </a:prstTxWarp>
                <a:normAutofit/>
                <a:scene3d>
                  <a:camera prst="legacyObliqueRight">
                    <a:rot lat="0" lon="0" rev="0"/>
                  </a:camera>
                  <a:lightRig rig="legacyHarsh3" dir="t"/>
                </a:scene3d>
                <a:sp3d extrusionH="100000" prstMaterial="legacyMatte">
                  <a:extrusionClr>
                    <a:srgbClr val="663300"/>
                  </a:extrusionClr>
                </a:sp3d>
              </a:bodyPr>
              <a:lstStyle/>
              <a:p>
                <a:pPr algn="ctr"/>
                <a:r>
                  <a:rPr lang="zh-CN" altLang="en-US" sz="3600">
                    <a:blipFill rotWithShape="0">
                      <a:blip r:embed="rId2"/>
                    </a:blipFill>
                    <a:latin typeface="宋体" panose="02010600030101010101" pitchFamily="2" charset="-122"/>
                    <a:ea typeface="宋体" panose="02010600030101010101" pitchFamily="2" charset="-122"/>
                  </a:rPr>
                  <a:t>}</a:t>
                </a:r>
              </a:p>
            </p:txBody>
          </p:sp>
        </p:grpSp>
        <p:sp>
          <p:nvSpPr>
            <p:cNvPr id="231449" name="AutoShape 25"/>
            <p:cNvSpPr>
              <a:spLocks noChangeArrowheads="1"/>
            </p:cNvSpPr>
            <p:nvPr/>
          </p:nvSpPr>
          <p:spPr bwMode="auto">
            <a:xfrm>
              <a:off x="2700" y="2612"/>
              <a:ext cx="240" cy="178"/>
            </a:xfrm>
            <a:prstGeom prst="rightArrow">
              <a:avLst>
                <a:gd name="adj1" fmla="val 49167"/>
                <a:gd name="adj2" fmla="val 33708"/>
              </a:avLst>
            </a:prstGeom>
            <a:gradFill rotWithShape="0">
              <a:gsLst>
                <a:gs pos="0">
                  <a:srgbClr val="FFFFFF"/>
                </a:gs>
                <a:gs pos="100000">
                  <a:schemeClr val="bg2"/>
                </a:gs>
              </a:gsLst>
              <a:lin ang="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231450" name="Rectangle 26"/>
            <p:cNvSpPr>
              <a:spLocks noChangeArrowheads="1"/>
            </p:cNvSpPr>
            <p:nvPr/>
          </p:nvSpPr>
          <p:spPr bwMode="auto">
            <a:xfrm>
              <a:off x="2916" y="2432"/>
              <a:ext cx="1020" cy="238"/>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t[Y] = s[Y]</a:t>
              </a:r>
            </a:p>
          </p:txBody>
        </p:sp>
        <p:sp>
          <p:nvSpPr>
            <p:cNvPr id="231451" name="Rectangle 27"/>
            <p:cNvSpPr>
              <a:spLocks noChangeArrowheads="1"/>
            </p:cNvSpPr>
            <p:nvPr/>
          </p:nvSpPr>
          <p:spPr bwMode="auto">
            <a:xfrm>
              <a:off x="1332" y="3017"/>
              <a:ext cx="1344" cy="274"/>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t[XZ] = s[XZ]</a:t>
              </a:r>
            </a:p>
          </p:txBody>
        </p:sp>
        <p:sp>
          <p:nvSpPr>
            <p:cNvPr id="231452" name="AutoShape 28"/>
            <p:cNvSpPr>
              <a:spLocks noChangeArrowheads="1"/>
            </p:cNvSpPr>
            <p:nvPr/>
          </p:nvSpPr>
          <p:spPr bwMode="auto">
            <a:xfrm>
              <a:off x="2712" y="3065"/>
              <a:ext cx="228" cy="178"/>
            </a:xfrm>
            <a:prstGeom prst="rightArrow">
              <a:avLst>
                <a:gd name="adj1" fmla="val 49167"/>
                <a:gd name="adj2" fmla="val 32022"/>
              </a:avLst>
            </a:prstGeom>
            <a:gradFill rotWithShape="0">
              <a:gsLst>
                <a:gs pos="0">
                  <a:srgbClr val="FFFFFF"/>
                </a:gs>
                <a:gs pos="100000">
                  <a:schemeClr val="bg2"/>
                </a:gs>
              </a:gsLst>
              <a:lin ang="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231453" name="Rectangle 29"/>
            <p:cNvSpPr>
              <a:spLocks noChangeArrowheads="1"/>
            </p:cNvSpPr>
            <p:nvPr/>
          </p:nvSpPr>
          <p:spPr bwMode="auto">
            <a:xfrm>
              <a:off x="2940" y="3005"/>
              <a:ext cx="1045" cy="251"/>
            </a:xfrm>
            <a:prstGeom prst="rect">
              <a:avLst/>
            </a:prstGeom>
            <a:noFill/>
            <a:ln>
              <a:noFill/>
            </a:ln>
          </p:spPr>
          <p:txBody>
            <a:bodyPr/>
            <a:lstStyle/>
            <a:p>
              <a:pPr marL="0" marR="0" indent="0" algn="ctr"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t[Z] = s[Z]</a:t>
              </a:r>
            </a:p>
          </p:txBody>
        </p:sp>
        <p:sp>
          <p:nvSpPr>
            <p:cNvPr id="69661" name="WordArt 30" descr="白色大理石"/>
            <p:cNvSpPr>
              <a:spLocks noTextEdit="1"/>
            </p:cNvSpPr>
            <p:nvPr/>
          </p:nvSpPr>
          <p:spPr>
            <a:xfrm>
              <a:off x="3888" y="2525"/>
              <a:ext cx="156" cy="670"/>
            </a:xfrm>
            <a:prstGeom prst="rect">
              <a:avLst/>
            </a:prstGeom>
          </p:spPr>
          <p:txBody>
            <a:bodyPr wrap="none" fromWordArt="1">
              <a:prstTxWarp prst="textPlain">
                <a:avLst>
                  <a:gd name="adj" fmla="val 50000"/>
                </a:avLst>
              </a:prstTxWarp>
              <a:normAutofit/>
              <a:scene3d>
                <a:camera prst="legacyObliqueRight">
                  <a:rot lat="0" lon="0" rev="0"/>
                </a:camera>
                <a:lightRig rig="legacyHarsh3" dir="t"/>
              </a:scene3d>
              <a:sp3d extrusionH="100000" prstMaterial="legacyMatte">
                <a:extrusionClr>
                  <a:srgbClr val="663300"/>
                </a:extrusionClr>
              </a:sp3d>
            </a:bodyPr>
            <a:lstStyle/>
            <a:p>
              <a:pPr algn="ctr"/>
              <a:r>
                <a:rPr lang="zh-CN" altLang="en-US" sz="3600">
                  <a:blipFill rotWithShape="0">
                    <a:blip r:embed="rId2"/>
                  </a:blipFill>
                  <a:latin typeface="宋体" panose="02010600030101010101" pitchFamily="2" charset="-122"/>
                  <a:ea typeface="宋体" panose="02010600030101010101" pitchFamily="2" charset="-122"/>
                </a:rPr>
                <a:t>}</a:t>
              </a:r>
            </a:p>
          </p:txBody>
        </p:sp>
        <p:sp>
          <p:nvSpPr>
            <p:cNvPr id="231455" name="AutoShape 31"/>
            <p:cNvSpPr>
              <a:spLocks noChangeArrowheads="1"/>
            </p:cNvSpPr>
            <p:nvPr/>
          </p:nvSpPr>
          <p:spPr bwMode="auto">
            <a:xfrm>
              <a:off x="4104" y="2774"/>
              <a:ext cx="216" cy="179"/>
            </a:xfrm>
            <a:prstGeom prst="rightArrow">
              <a:avLst>
                <a:gd name="adj1" fmla="val 49167"/>
                <a:gd name="adj2" fmla="val 30168"/>
              </a:avLst>
            </a:prstGeom>
            <a:gradFill rotWithShape="0">
              <a:gsLst>
                <a:gs pos="0">
                  <a:srgbClr val="FFFFFF"/>
                </a:gs>
                <a:gs pos="100000">
                  <a:schemeClr val="bg2"/>
                </a:gs>
              </a:gsLst>
              <a:lin ang="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231456" name="Rectangle 32"/>
            <p:cNvSpPr>
              <a:spLocks noChangeArrowheads="1"/>
            </p:cNvSpPr>
            <p:nvPr/>
          </p:nvSpPr>
          <p:spPr bwMode="auto">
            <a:xfrm>
              <a:off x="4284" y="2714"/>
              <a:ext cx="1332" cy="238"/>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t[YZ] = s[YZ]</a:t>
              </a:r>
            </a:p>
          </p:txBody>
        </p:sp>
        <p:sp>
          <p:nvSpPr>
            <p:cNvPr id="231457" name="AutoShape 33"/>
            <p:cNvSpPr>
              <a:spLocks noChangeArrowheads="1"/>
            </p:cNvSpPr>
            <p:nvPr/>
          </p:nvSpPr>
          <p:spPr bwMode="auto">
            <a:xfrm rot="5400000">
              <a:off x="4803" y="3018"/>
              <a:ext cx="216" cy="179"/>
            </a:xfrm>
            <a:prstGeom prst="rightArrow">
              <a:avLst>
                <a:gd name="adj1" fmla="val 49167"/>
                <a:gd name="adj2" fmla="val 30168"/>
              </a:avLst>
            </a:prstGeom>
            <a:gradFill rotWithShape="0">
              <a:gsLst>
                <a:gs pos="0">
                  <a:srgbClr val="FFFFFF"/>
                </a:gs>
                <a:gs pos="100000">
                  <a:schemeClr val="bg2"/>
                </a:gs>
              </a:gsLst>
              <a:lin ang="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231458" name="Rectangle 34"/>
            <p:cNvSpPr>
              <a:spLocks noChangeArrowheads="1"/>
            </p:cNvSpPr>
            <p:nvPr/>
          </p:nvSpPr>
          <p:spPr bwMode="auto">
            <a:xfrm>
              <a:off x="4344" y="3206"/>
              <a:ext cx="1152" cy="251"/>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XZ</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YZ</a:t>
              </a:r>
            </a:p>
          </p:txBody>
        </p:sp>
        <p:sp>
          <p:nvSpPr>
            <p:cNvPr id="231459" name="Rectangle 35"/>
            <p:cNvSpPr>
              <a:spLocks noChangeArrowheads="1"/>
            </p:cNvSpPr>
            <p:nvPr/>
          </p:nvSpPr>
          <p:spPr bwMode="auto">
            <a:xfrm>
              <a:off x="36" y="2398"/>
              <a:ext cx="5520" cy="1286"/>
            </a:xfrm>
            <a:prstGeom prst="rect">
              <a:avLst/>
            </a:prstGeom>
            <a:no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231460" name="Rectangle 36"/>
            <p:cNvSpPr>
              <a:spLocks noChangeArrowheads="1"/>
            </p:cNvSpPr>
            <p:nvPr/>
          </p:nvSpPr>
          <p:spPr bwMode="auto">
            <a:xfrm>
              <a:off x="2136" y="2076"/>
              <a:ext cx="1440" cy="322"/>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99"/>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Symbol" panose="05050102010706020507" charset="2"/>
                </a:rPr>
                <a:t>Augmentation</a:t>
              </a:r>
              <a:endParaRPr kumimoji="0" lang="zh-CN" altLang="en-US" sz="2400" b="1" i="0" u="none" strike="noStrike" kern="1200" cap="none" spc="0" normalizeH="0" baseline="0" noProof="1">
                <a:solidFill>
                  <a:srgbClr val="000099"/>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Symbol" panose="05050102010706020507" charset="2"/>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657" name="Group 2"/>
          <p:cNvGrpSpPr/>
          <p:nvPr/>
        </p:nvGrpSpPr>
        <p:grpSpPr>
          <a:xfrm>
            <a:off x="247650" y="3467100"/>
            <a:ext cx="8896350" cy="2309813"/>
            <a:chOff x="156" y="2184"/>
            <a:chExt cx="5604" cy="1455"/>
          </a:xfrm>
        </p:grpSpPr>
        <p:sp>
          <p:nvSpPr>
            <p:cNvPr id="70658" name="WordArt 3" descr="白色大理石"/>
            <p:cNvSpPr>
              <a:spLocks noTextEdit="1"/>
            </p:cNvSpPr>
            <p:nvPr/>
          </p:nvSpPr>
          <p:spPr>
            <a:xfrm>
              <a:off x="1296" y="2567"/>
              <a:ext cx="156" cy="501"/>
            </a:xfrm>
            <a:prstGeom prst="rect">
              <a:avLst/>
            </a:prstGeom>
          </p:spPr>
          <p:txBody>
            <a:bodyPr wrap="none" fromWordArt="1">
              <a:prstTxWarp prst="textPlain">
                <a:avLst>
                  <a:gd name="adj" fmla="val 50000"/>
                </a:avLst>
              </a:prstTxWarp>
              <a:normAutofit/>
              <a:scene3d>
                <a:camera prst="legacyObliqueRight">
                  <a:rot lat="0" lon="0" rev="0"/>
                </a:camera>
                <a:lightRig rig="legacyHarsh3" dir="t"/>
              </a:scene3d>
              <a:sp3d extrusionH="100000" prstMaterial="legacyMatte">
                <a:extrusionClr>
                  <a:srgbClr val="663300"/>
                </a:extrusionClr>
              </a:sp3d>
            </a:bodyPr>
            <a:lstStyle/>
            <a:p>
              <a:pPr algn="ctr"/>
              <a:r>
                <a:rPr lang="zh-CN" altLang="en-US" sz="3600">
                  <a:blipFill rotWithShape="0">
                    <a:blip r:embed="rId2"/>
                  </a:blipFill>
                  <a:latin typeface="宋体" panose="02010600030101010101" pitchFamily="2" charset="-122"/>
                  <a:ea typeface="宋体" panose="02010600030101010101" pitchFamily="2" charset="-122"/>
                </a:rPr>
                <a:t>}</a:t>
              </a:r>
            </a:p>
          </p:txBody>
        </p:sp>
        <p:sp>
          <p:nvSpPr>
            <p:cNvPr id="232452" name="Rectangle 4"/>
            <p:cNvSpPr>
              <a:spLocks noChangeArrowheads="1"/>
            </p:cNvSpPr>
            <p:nvPr/>
          </p:nvSpPr>
          <p:spPr bwMode="auto">
            <a:xfrm>
              <a:off x="156" y="2533"/>
              <a:ext cx="1200" cy="464"/>
            </a:xfrm>
            <a:prstGeom prst="rect">
              <a:avLst/>
            </a:prstGeom>
            <a:noFill/>
            <a:ln>
              <a:noFill/>
            </a:ln>
          </p:spPr>
          <p:txBody>
            <a:bodyPr/>
            <a:lstStyle/>
            <a:p>
              <a:pPr marL="342900" marR="0" lvl="0" indent="-342900" algn="ctr" defTabSz="914400" rtl="0" eaLnBrk="1" fontAlgn="base" latinLnBrk="0" hangingPunct="1">
                <a:lnSpc>
                  <a:spcPct val="100000"/>
                </a:lnSpc>
                <a:spcBef>
                  <a:spcPct val="20000"/>
                </a:spcBef>
                <a:spcAft>
                  <a:spcPct val="0"/>
                </a:spcAft>
                <a:buClr>
                  <a:schemeClr val="bg2"/>
                </a:buClr>
                <a:buSzTx/>
                <a:buFont typeface="Monotype Sorts" charset="0"/>
                <a:buNone/>
                <a:defRPr/>
              </a:pPr>
              <a:r>
                <a:rPr lang="en-US" altLang="zh-CN" sz="2400" b="1">
                  <a:solidFill>
                    <a:srgbClr val="C00000"/>
                  </a:solidFill>
                  <a:sym typeface="Symbol" panose="05050102010706020507" charset="2"/>
                </a:rPr>
                <a:t> </a:t>
              </a:r>
              <a:r>
                <a:rPr lang="en-US" altLang="zh-CN" sz="2400" b="1">
                  <a:solidFill>
                    <a:srgbClr val="C00000"/>
                  </a:solidFill>
                  <a:sym typeface="Monotype Sorts" charset="2"/>
                </a:rPr>
                <a:t> </a:t>
              </a:r>
              <a:r>
                <a:rPr lang="en-US" altLang="zh-CN" sz="2400" b="1" i="1">
                  <a:solidFill>
                    <a:srgbClr val="C00000"/>
                  </a:solidFill>
                  <a:sym typeface="Symbol" panose="05050102010706020507" charset="2"/>
                </a:rPr>
                <a:t> </a:t>
              </a:r>
              <a:endParaRPr kumimoji="1" lang="en-US" altLang="zh-CN" sz="2400" b="1"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sym typeface="+mn-ea"/>
              </a:endParaRPr>
            </a:p>
            <a:p>
              <a:pPr marL="342900" marR="0" lvl="0" indent="-342900" algn="ctr" defTabSz="914400" rtl="0" eaLnBrk="1" fontAlgn="base" latinLnBrk="0" hangingPunct="1">
                <a:lnSpc>
                  <a:spcPct val="100000"/>
                </a:lnSpc>
                <a:spcBef>
                  <a:spcPct val="20000"/>
                </a:spcBef>
                <a:spcAft>
                  <a:spcPct val="0"/>
                </a:spcAft>
                <a:buClr>
                  <a:schemeClr val="bg2"/>
                </a:buClr>
                <a:buSzTx/>
                <a:buFont typeface="Monotype Sorts" charset="0"/>
                <a:buNone/>
                <a:defRPr/>
              </a:pPr>
              <a:r>
                <a:rPr kumimoji="1" lang="zh-CN" altLang="en-US" sz="2400" b="1"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sym typeface="+mn-ea"/>
                </a:rPr>
                <a:t>增广律</a:t>
              </a:r>
            </a:p>
          </p:txBody>
        </p:sp>
        <p:sp>
          <p:nvSpPr>
            <p:cNvPr id="232453" name="AutoShape 5"/>
            <p:cNvSpPr>
              <a:spLocks noChangeArrowheads="1"/>
            </p:cNvSpPr>
            <p:nvPr/>
          </p:nvSpPr>
          <p:spPr bwMode="auto">
            <a:xfrm>
              <a:off x="1596" y="2747"/>
              <a:ext cx="528" cy="179"/>
            </a:xfrm>
            <a:prstGeom prst="rightArrow">
              <a:avLst>
                <a:gd name="adj1" fmla="val 49167"/>
                <a:gd name="adj2" fmla="val 73743"/>
              </a:avLst>
            </a:prstGeom>
            <a:gradFill rotWithShape="0">
              <a:gsLst>
                <a:gs pos="0">
                  <a:srgbClr val="FFFFFF"/>
                </a:gs>
                <a:gs pos="100000">
                  <a:schemeClr val="bg2"/>
                </a:gs>
              </a:gsLst>
              <a:lin ang="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70661" name="WordArt 6" descr="白色大理石"/>
            <p:cNvSpPr>
              <a:spLocks noTextEdit="1"/>
            </p:cNvSpPr>
            <p:nvPr/>
          </p:nvSpPr>
          <p:spPr>
            <a:xfrm>
              <a:off x="3384" y="2783"/>
              <a:ext cx="192" cy="642"/>
            </a:xfrm>
            <a:prstGeom prst="rect">
              <a:avLst/>
            </a:prstGeom>
          </p:spPr>
          <p:txBody>
            <a:bodyPr wrap="none" fromWordArt="1">
              <a:prstTxWarp prst="textPlain">
                <a:avLst>
                  <a:gd name="adj" fmla="val 50000"/>
                </a:avLst>
              </a:prstTxWarp>
              <a:normAutofit/>
              <a:scene3d>
                <a:camera prst="legacyObliqueRight">
                  <a:rot lat="0" lon="0" rev="0"/>
                </a:camera>
                <a:lightRig rig="legacyHarsh3" dir="t"/>
              </a:scene3d>
              <a:sp3d extrusionH="100000" prstMaterial="legacyMatte">
                <a:extrusionClr>
                  <a:srgbClr val="663300"/>
                </a:extrusionClr>
              </a:sp3d>
            </a:bodyPr>
            <a:lstStyle/>
            <a:p>
              <a:pPr algn="ctr"/>
              <a:r>
                <a:rPr lang="zh-CN" altLang="en-US" sz="3600">
                  <a:blipFill rotWithShape="0">
                    <a:blip r:embed="rId2"/>
                  </a:blipFill>
                  <a:latin typeface="宋体" panose="02010600030101010101" pitchFamily="2" charset="-122"/>
                  <a:ea typeface="宋体" panose="02010600030101010101" pitchFamily="2" charset="-122"/>
                </a:rPr>
                <a:t>}</a:t>
              </a:r>
            </a:p>
          </p:txBody>
        </p:sp>
        <p:sp>
          <p:nvSpPr>
            <p:cNvPr id="232455" name="AutoShape 7"/>
            <p:cNvSpPr>
              <a:spLocks noChangeArrowheads="1"/>
            </p:cNvSpPr>
            <p:nvPr/>
          </p:nvSpPr>
          <p:spPr bwMode="auto">
            <a:xfrm>
              <a:off x="3756" y="3033"/>
              <a:ext cx="528" cy="178"/>
            </a:xfrm>
            <a:prstGeom prst="rightArrow">
              <a:avLst>
                <a:gd name="adj1" fmla="val 49167"/>
                <a:gd name="adj2" fmla="val 74157"/>
              </a:avLst>
            </a:prstGeom>
            <a:gradFill rotWithShape="0">
              <a:gsLst>
                <a:gs pos="0">
                  <a:srgbClr val="FFFFFF"/>
                </a:gs>
                <a:gs pos="100000">
                  <a:schemeClr val="bg2"/>
                </a:gs>
              </a:gsLst>
              <a:lin ang="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232456" name="Rectangle 8"/>
            <p:cNvSpPr>
              <a:spLocks noChangeArrowheads="1"/>
            </p:cNvSpPr>
            <p:nvPr/>
          </p:nvSpPr>
          <p:spPr bwMode="auto">
            <a:xfrm>
              <a:off x="204" y="2498"/>
              <a:ext cx="5328" cy="1141"/>
            </a:xfrm>
            <a:prstGeom prst="rect">
              <a:avLst/>
            </a:prstGeom>
            <a:no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232457" name="Rectangle 9"/>
            <p:cNvSpPr>
              <a:spLocks noChangeArrowheads="1"/>
            </p:cNvSpPr>
            <p:nvPr/>
          </p:nvSpPr>
          <p:spPr bwMode="auto">
            <a:xfrm>
              <a:off x="2192" y="2660"/>
              <a:ext cx="1092" cy="321"/>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lang="en-US" altLang="zh-CN" sz="2400" b="1" i="1">
                  <a:solidFill>
                    <a:srgbClr val="C00000"/>
                  </a:solidFill>
                  <a:sym typeface="Symbol" panose="05050102010706020507" charset="2"/>
                </a:rPr>
                <a:t> </a:t>
              </a:r>
              <a:r>
                <a:rPr lang="en-US" altLang="zh-CN" sz="2400" b="1">
                  <a:solidFill>
                    <a:srgbClr val="C00000"/>
                  </a:solidFill>
                  <a:sym typeface="Symbol" panose="05050102010706020507" charset="2"/>
                </a:rPr>
                <a:t> </a:t>
              </a:r>
              <a:r>
                <a:rPr lang="en-US" altLang="zh-CN" sz="2400" b="1">
                  <a:solidFill>
                    <a:srgbClr val="C00000"/>
                  </a:solidFill>
                  <a:sym typeface="Monotype Sorts" charset="2"/>
                </a:rPr>
                <a:t> </a:t>
              </a:r>
              <a:r>
                <a:rPr lang="en-US" altLang="zh-CN" sz="2400" b="1" i="1">
                  <a:solidFill>
                    <a:srgbClr val="C00000"/>
                  </a:solidFill>
                  <a:sym typeface="Symbol" panose="05050102010706020507" charset="2"/>
                </a:rPr>
                <a:t> </a:t>
              </a:r>
              <a:r>
                <a:rPr lang="en-US" altLang="zh-CN" sz="2400" b="1">
                  <a:solidFill>
                    <a:srgbClr val="C00000"/>
                  </a:solidFill>
                  <a:sym typeface="Symbol" panose="05050102010706020507" charset="2"/>
                </a:rPr>
                <a:t></a:t>
              </a:r>
              <a:r>
                <a:rPr lang="en-US" altLang="zh-CN" sz="2400" b="1" i="1">
                  <a:solidFill>
                    <a:srgbClr val="C00000"/>
                  </a:solidFill>
                  <a:sym typeface="Symbol" panose="05050102010706020507" charset="2"/>
                </a:rPr>
                <a:t> </a:t>
              </a:r>
              <a:endPar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232458" name="Rectangle 10"/>
            <p:cNvSpPr>
              <a:spLocks noChangeArrowheads="1"/>
            </p:cNvSpPr>
            <p:nvPr/>
          </p:nvSpPr>
          <p:spPr bwMode="auto">
            <a:xfrm>
              <a:off x="2206" y="3211"/>
              <a:ext cx="1038" cy="321"/>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lang="en-US" altLang="zh-CN" sz="2400" b="1">
                  <a:solidFill>
                    <a:srgbClr val="C00000"/>
                  </a:solidFill>
                  <a:sym typeface="Symbol" panose="05050102010706020507" charset="2"/>
                </a:rPr>
                <a:t></a:t>
              </a:r>
              <a:r>
                <a:rPr lang="en-US" altLang="zh-CN" sz="2400" b="1">
                  <a:solidFill>
                    <a:srgbClr val="C00000"/>
                  </a:solidFill>
                  <a:sym typeface="Greek Symbols" pitchFamily="18" charset="2"/>
                </a:rPr>
                <a:t> </a:t>
              </a:r>
              <a:r>
                <a:rPr lang="en-US" altLang="zh-CN" sz="2400" b="1" i="1">
                  <a:solidFill>
                    <a:srgbClr val="C00000"/>
                  </a:solidFill>
                  <a:sym typeface="Symbol" panose="05050102010706020507" charset="2"/>
                </a:rPr>
                <a:t> </a:t>
              </a:r>
              <a:r>
                <a:rPr lang="en-US" altLang="zh-CN" sz="2400" b="1">
                  <a:solidFill>
                    <a:srgbClr val="C00000"/>
                  </a:solidFill>
                  <a:sym typeface="Symbol" panose="05050102010706020507" charset="2"/>
                </a:rPr>
                <a:t></a:t>
              </a:r>
              <a:r>
                <a:rPr lang="en-US" altLang="zh-CN" sz="2400" b="1">
                  <a:solidFill>
                    <a:srgbClr val="C00000"/>
                  </a:solidFill>
                  <a:sym typeface="Monotype Sorts" charset="2"/>
                </a:rPr>
                <a:t> </a:t>
              </a:r>
              <a:r>
                <a:rPr lang="en-US" altLang="zh-CN" sz="2400" b="1">
                  <a:solidFill>
                    <a:srgbClr val="C00000"/>
                  </a:solidFill>
                  <a:sym typeface="Symbol" panose="05050102010706020507" charset="2"/>
                </a:rPr>
                <a:t></a:t>
              </a:r>
              <a:endPar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232459" name="Rectangle 11"/>
            <p:cNvSpPr>
              <a:spLocks noChangeArrowheads="1"/>
            </p:cNvSpPr>
            <p:nvPr/>
          </p:nvSpPr>
          <p:spPr bwMode="auto">
            <a:xfrm>
              <a:off x="2124" y="2961"/>
              <a:ext cx="1200" cy="286"/>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kumimoji="0" lang="zh-CN" altLang="en-US"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传递律</a:t>
              </a:r>
            </a:p>
          </p:txBody>
        </p:sp>
        <p:sp>
          <p:nvSpPr>
            <p:cNvPr id="232460" name="Rectangle 12"/>
            <p:cNvSpPr>
              <a:spLocks noChangeArrowheads="1"/>
            </p:cNvSpPr>
            <p:nvPr/>
          </p:nvSpPr>
          <p:spPr bwMode="auto">
            <a:xfrm>
              <a:off x="4188" y="2961"/>
              <a:ext cx="1296" cy="321"/>
            </a:xfrm>
            <a:prstGeom prst="rect">
              <a:avLst/>
            </a:prstGeom>
            <a:noFill/>
            <a:ln>
              <a:noFill/>
            </a:ln>
          </p:spPr>
          <p:txBody>
            <a:bodyPr/>
            <a:lstStyle/>
            <a:p>
              <a:pPr marL="0" marR="0" indent="0" algn="ctr" defTabSz="914400" rtl="0" eaLnBrk="1" fontAlgn="base" latinLnBrk="0" hangingPunct="1">
                <a:lnSpc>
                  <a:spcPct val="100000"/>
                </a:lnSpc>
                <a:spcBef>
                  <a:spcPct val="20000"/>
                </a:spcBef>
                <a:spcAft>
                  <a:spcPct val="0"/>
                </a:spcAft>
                <a:buClr>
                  <a:schemeClr val="bg2"/>
                </a:buClr>
                <a:buFont typeface="Monotype Sorts" charset="2"/>
                <a:buNone/>
              </a:pPr>
              <a:r>
                <a:rPr lang="en-US" altLang="zh-CN" sz="2400" b="1">
                  <a:solidFill>
                    <a:srgbClr val="C00000"/>
                  </a:solidFill>
                  <a:sym typeface="Symbol" panose="05050102010706020507" charset="2"/>
                </a:rPr>
                <a:t> </a:t>
              </a:r>
              <a:r>
                <a:rPr lang="en-US" altLang="zh-CN" sz="2400" b="1">
                  <a:solidFill>
                    <a:srgbClr val="C00000"/>
                  </a:solidFill>
                  <a:sym typeface="Greek Symbols" pitchFamily="18" charset="2"/>
                </a:rPr>
                <a:t> </a:t>
              </a:r>
              <a:r>
                <a:rPr lang="en-US" altLang="zh-CN" sz="2400" b="1">
                  <a:solidFill>
                    <a:srgbClr val="C00000"/>
                  </a:solidFill>
                  <a:sym typeface="Symbol" panose="05050102010706020507" charset="2"/>
                </a:rPr>
                <a:t></a:t>
              </a:r>
              <a:r>
                <a:rPr lang="en-US" altLang="zh-CN" sz="2400" b="1">
                  <a:solidFill>
                    <a:srgbClr val="C00000"/>
                  </a:solidFill>
                  <a:sym typeface="Monotype Sorts" charset="2"/>
                </a:rPr>
                <a:t> </a:t>
              </a:r>
              <a:r>
                <a:rPr lang="en-US" altLang="zh-CN" sz="2400" b="1">
                  <a:solidFill>
                    <a:srgbClr val="C00000"/>
                  </a:solidFill>
                  <a:sym typeface="Symbol" panose="05050102010706020507" charset="2"/>
                </a:rPr>
                <a:t></a:t>
              </a:r>
              <a:r>
                <a:rPr lang="en-US" altLang="zh-CN" sz="2400" b="1">
                  <a:solidFill>
                    <a:srgbClr val="C00000"/>
                  </a:solidFill>
                  <a:sym typeface="Greek Symbols" pitchFamily="18" charset="2"/>
                </a:rPr>
                <a:t> </a:t>
              </a:r>
              <a:endPar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232461" name="Rectangle 13"/>
            <p:cNvSpPr>
              <a:spLocks noChangeArrowheads="1"/>
            </p:cNvSpPr>
            <p:nvPr/>
          </p:nvSpPr>
          <p:spPr bwMode="auto">
            <a:xfrm>
              <a:off x="204" y="2184"/>
              <a:ext cx="5556" cy="290"/>
            </a:xfrm>
            <a:prstGeom prst="rect">
              <a:avLst/>
            </a:prstGeom>
            <a:noFill/>
            <a:ln>
              <a:noFill/>
            </a:ln>
            <a:effectLst/>
          </p:spPr>
          <p:txBody>
            <a:bodyPr wrap="square">
              <a:spAutoFit/>
            </a:bodyPr>
            <a:lstStyle/>
            <a:p>
              <a:pPr marL="0" marR="0" indent="0" algn="l" defTabSz="914400" rtl="0" eaLnBrk="1" fontAlgn="base" latinLnBrk="0" hangingPunct="1">
                <a:lnSpc>
                  <a:spcPct val="100000"/>
                </a:lnSpc>
                <a:spcBef>
                  <a:spcPct val="5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99"/>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Greek Symbols" pitchFamily="18" charset="2"/>
                </a:rPr>
                <a:t>pseudotransitivity: </a:t>
              </a:r>
              <a:r>
                <a:rPr lang="en-US" altLang="zh-CN" sz="2400" b="1">
                  <a:solidFill>
                    <a:srgbClr val="C00000"/>
                  </a:solidFill>
                  <a:sym typeface="Monotype Sorts" charset="2"/>
                </a:rPr>
                <a:t>If </a:t>
              </a:r>
              <a:r>
                <a:rPr lang="en-US" altLang="zh-CN" sz="2400" b="1">
                  <a:solidFill>
                    <a:srgbClr val="C00000"/>
                  </a:solidFill>
                  <a:sym typeface="Symbol" panose="05050102010706020507" charset="2"/>
                </a:rPr>
                <a:t> </a:t>
              </a:r>
              <a:r>
                <a:rPr lang="en-US" altLang="zh-CN" sz="2400" b="1">
                  <a:solidFill>
                    <a:srgbClr val="C00000"/>
                  </a:solidFill>
                  <a:sym typeface="Monotype Sorts" charset="2"/>
                </a:rPr>
                <a:t> </a:t>
              </a:r>
              <a:r>
                <a:rPr lang="en-US" altLang="zh-CN" sz="2400" b="1" i="1">
                  <a:solidFill>
                    <a:srgbClr val="C00000"/>
                  </a:solidFill>
                  <a:sym typeface="Symbol" panose="05050102010706020507" charset="2"/>
                </a:rPr>
                <a:t> , </a:t>
              </a:r>
              <a:r>
                <a:rPr lang="en-US" altLang="zh-CN" sz="2400" b="1">
                  <a:solidFill>
                    <a:srgbClr val="C00000"/>
                  </a:solidFill>
                  <a:sym typeface="Symbol" panose="05050102010706020507" charset="2"/>
                </a:rPr>
                <a:t></a:t>
              </a:r>
              <a:r>
                <a:rPr lang="en-US" altLang="zh-CN" sz="2400" b="1">
                  <a:solidFill>
                    <a:srgbClr val="C00000"/>
                  </a:solidFill>
                  <a:sym typeface="Greek Symbols" pitchFamily="18" charset="2"/>
                </a:rPr>
                <a:t> </a:t>
              </a:r>
              <a:r>
                <a:rPr lang="en-US" altLang="zh-CN" sz="2400" b="1" i="1">
                  <a:solidFill>
                    <a:srgbClr val="C00000"/>
                  </a:solidFill>
                  <a:sym typeface="Symbol" panose="05050102010706020507" charset="2"/>
                </a:rPr>
                <a:t> </a:t>
              </a:r>
              <a:r>
                <a:rPr lang="en-US" altLang="zh-CN" sz="2400" b="1">
                  <a:solidFill>
                    <a:srgbClr val="C00000"/>
                  </a:solidFill>
                  <a:sym typeface="Symbol" panose="05050102010706020507" charset="2"/>
                </a:rPr>
                <a:t></a:t>
              </a:r>
              <a:r>
                <a:rPr lang="en-US" altLang="zh-CN" sz="2400" b="1">
                  <a:solidFill>
                    <a:srgbClr val="C00000"/>
                  </a:solidFill>
                  <a:sym typeface="Monotype Sorts" charset="2"/>
                </a:rPr>
                <a:t> </a:t>
              </a:r>
              <a:r>
                <a:rPr lang="en-US" altLang="zh-CN" sz="2400" b="1">
                  <a:solidFill>
                    <a:srgbClr val="C00000"/>
                  </a:solidFill>
                  <a:sym typeface="Symbol" panose="05050102010706020507" charset="2"/>
                </a:rPr>
                <a:t></a:t>
              </a:r>
              <a:r>
                <a:rPr lang="en-US" altLang="zh-CN" sz="2400" b="1">
                  <a:solidFill>
                    <a:srgbClr val="C00000"/>
                  </a:solidFill>
                  <a:sym typeface="Greek Symbols" pitchFamily="18" charset="2"/>
                </a:rPr>
                <a:t> , then </a:t>
              </a:r>
              <a:r>
                <a:rPr lang="en-US" altLang="zh-CN" sz="2400" b="1">
                  <a:solidFill>
                    <a:srgbClr val="C00000"/>
                  </a:solidFill>
                  <a:sym typeface="Symbol" panose="05050102010706020507" charset="2"/>
                </a:rPr>
                <a:t> </a:t>
              </a:r>
              <a:r>
                <a:rPr lang="en-US" altLang="zh-CN" sz="2400" b="1">
                  <a:solidFill>
                    <a:srgbClr val="C00000"/>
                  </a:solidFill>
                  <a:sym typeface="Greek Symbols" pitchFamily="18" charset="2"/>
                </a:rPr>
                <a:t> </a:t>
              </a:r>
              <a:r>
                <a:rPr lang="en-US" altLang="zh-CN" sz="2400" b="1">
                  <a:solidFill>
                    <a:srgbClr val="C00000"/>
                  </a:solidFill>
                  <a:sym typeface="Symbol" panose="05050102010706020507" charset="2"/>
                </a:rPr>
                <a:t></a:t>
              </a:r>
              <a:r>
                <a:rPr lang="en-US" altLang="zh-CN" sz="2400" b="1">
                  <a:solidFill>
                    <a:srgbClr val="C00000"/>
                  </a:solidFill>
                  <a:sym typeface="Monotype Sorts" charset="2"/>
                </a:rPr>
                <a:t> </a:t>
              </a:r>
              <a:r>
                <a:rPr lang="en-US" altLang="zh-CN" sz="2400" b="1">
                  <a:solidFill>
                    <a:srgbClr val="C00000"/>
                  </a:solidFill>
                  <a:sym typeface="Symbol" panose="05050102010706020507" charset="2"/>
                </a:rPr>
                <a:t></a:t>
              </a:r>
              <a:r>
                <a:rPr lang="en-US" altLang="zh-CN" sz="2400" b="1">
                  <a:solidFill>
                    <a:srgbClr val="C00000"/>
                  </a:solidFill>
                  <a:sym typeface="Greek Symbols" pitchFamily="18" charset="2"/>
                </a:rPr>
                <a:t> </a:t>
              </a:r>
              <a:endParaRPr kumimoji="0" lang="en-US" altLang="zh-CN" sz="2400" b="1" i="0" u="none" strike="noStrike" kern="1200" cap="none" spc="0" normalizeH="0" baseline="0" noProof="1">
                <a:solidFill>
                  <a:srgbClr val="C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Greek Symbols" pitchFamily="18" charset="2"/>
              </a:endParaRPr>
            </a:p>
          </p:txBody>
        </p:sp>
      </p:grpSp>
      <p:grpSp>
        <p:nvGrpSpPr>
          <p:cNvPr id="70669" name="Group 14"/>
          <p:cNvGrpSpPr/>
          <p:nvPr/>
        </p:nvGrpSpPr>
        <p:grpSpPr>
          <a:xfrm>
            <a:off x="247650" y="1123950"/>
            <a:ext cx="8534400" cy="2057400"/>
            <a:chOff x="156" y="708"/>
            <a:chExt cx="5376" cy="1296"/>
          </a:xfrm>
        </p:grpSpPr>
        <p:sp>
          <p:nvSpPr>
            <p:cNvPr id="70670" name="WordArt 15" descr="白色大理石"/>
            <p:cNvSpPr>
              <a:spLocks noTextEdit="1"/>
            </p:cNvSpPr>
            <p:nvPr/>
          </p:nvSpPr>
          <p:spPr>
            <a:xfrm>
              <a:off x="1128" y="1087"/>
              <a:ext cx="156" cy="489"/>
            </a:xfrm>
            <a:prstGeom prst="rect">
              <a:avLst/>
            </a:prstGeom>
          </p:spPr>
          <p:txBody>
            <a:bodyPr wrap="none" fromWordArt="1">
              <a:prstTxWarp prst="textPlain">
                <a:avLst>
                  <a:gd name="adj" fmla="val 50000"/>
                </a:avLst>
              </a:prstTxWarp>
              <a:normAutofit/>
              <a:scene3d>
                <a:camera prst="legacyObliqueRight">
                  <a:rot lat="0" lon="0" rev="0"/>
                </a:camera>
                <a:lightRig rig="legacyHarsh3" dir="t"/>
              </a:scene3d>
              <a:sp3d extrusionH="100000" prstMaterial="legacyMatte">
                <a:extrusionClr>
                  <a:srgbClr val="663300"/>
                </a:extrusionClr>
              </a:sp3d>
            </a:bodyPr>
            <a:lstStyle/>
            <a:p>
              <a:pPr algn="ctr"/>
              <a:r>
                <a:rPr lang="zh-CN" altLang="en-US" sz="3600">
                  <a:blipFill rotWithShape="0">
                    <a:blip r:embed="rId2"/>
                  </a:blipFill>
                  <a:latin typeface="宋体" panose="02010600030101010101" pitchFamily="2" charset="-122"/>
                  <a:ea typeface="宋体" panose="02010600030101010101" pitchFamily="2" charset="-122"/>
                </a:rPr>
                <a:t>}</a:t>
              </a:r>
            </a:p>
          </p:txBody>
        </p:sp>
        <p:sp>
          <p:nvSpPr>
            <p:cNvPr id="232464" name="Rectangle 16"/>
            <p:cNvSpPr>
              <a:spLocks noChangeArrowheads="1"/>
            </p:cNvSpPr>
            <p:nvPr/>
          </p:nvSpPr>
          <p:spPr bwMode="auto">
            <a:xfrm>
              <a:off x="156" y="1065"/>
              <a:ext cx="1200" cy="452"/>
            </a:xfrm>
            <a:prstGeom prst="rect">
              <a:avLst/>
            </a:prstGeom>
            <a:noFill/>
            <a:ln>
              <a:noFill/>
            </a:ln>
          </p:spPr>
          <p:txBody>
            <a:bodyPr/>
            <a:lstStyle/>
            <a:p>
              <a:pPr marL="342900" marR="0" lvl="0" indent="-342900" algn="ctr" defTabSz="914400" rtl="0" eaLnBrk="1" fontAlgn="base" latinLnBrk="0" hangingPunct="1">
                <a:lnSpc>
                  <a:spcPct val="100000"/>
                </a:lnSpc>
                <a:spcBef>
                  <a:spcPct val="20000"/>
                </a:spcBef>
                <a:spcAft>
                  <a:spcPct val="0"/>
                </a:spcAft>
                <a:buClr>
                  <a:schemeClr val="bg2"/>
                </a:buClr>
                <a:buSzTx/>
                <a:buFont typeface="Monotype Sorts" charset="0"/>
                <a:buNone/>
                <a:defRPr/>
              </a:pPr>
              <a:r>
                <a:rPr kumimoji="1" lang="en-US" altLang="zh-CN" sz="2400" b="1"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sym typeface="+mn-ea"/>
                </a:rPr>
                <a:t>Z </a:t>
              </a:r>
              <a:r>
                <a:rPr kumimoji="1" lang="en-US" altLang="zh-CN" sz="2400" b="1"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sym typeface="Symbol" panose="05050102010706020507" charset="0"/>
                </a:rPr>
                <a:t></a:t>
              </a:r>
              <a:r>
                <a:rPr kumimoji="1" lang="en-US" altLang="zh-CN" sz="2400" b="1"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sym typeface="+mn-ea"/>
                </a:rPr>
                <a:t> YZ</a:t>
              </a:r>
            </a:p>
            <a:p>
              <a:pPr marL="342900" marR="0" lvl="0" indent="-342900" algn="ctr" defTabSz="914400" rtl="0" eaLnBrk="1" fontAlgn="base" latinLnBrk="0" hangingPunct="1">
                <a:lnSpc>
                  <a:spcPct val="100000"/>
                </a:lnSpc>
                <a:spcBef>
                  <a:spcPct val="20000"/>
                </a:spcBef>
                <a:spcAft>
                  <a:spcPct val="0"/>
                </a:spcAft>
                <a:buClr>
                  <a:schemeClr val="bg2"/>
                </a:buClr>
                <a:buSzTx/>
                <a:buFont typeface="Monotype Sorts" charset="0"/>
                <a:buNone/>
                <a:defRPr/>
              </a:pPr>
              <a:r>
                <a:rPr kumimoji="1" lang="zh-CN" altLang="en-US" sz="2400" b="1"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幼圆" panose="02010509060101010101" pitchFamily="49" charset="-122"/>
                  <a:cs typeface="幼圆" panose="02010509060101010101" pitchFamily="49" charset="-122"/>
                  <a:sym typeface="+mn-ea"/>
                </a:rPr>
                <a:t>自反律</a:t>
              </a:r>
            </a:p>
          </p:txBody>
        </p:sp>
        <p:sp>
          <p:nvSpPr>
            <p:cNvPr id="232465" name="AutoShape 17"/>
            <p:cNvSpPr>
              <a:spLocks noChangeArrowheads="1"/>
            </p:cNvSpPr>
            <p:nvPr/>
          </p:nvSpPr>
          <p:spPr bwMode="auto">
            <a:xfrm>
              <a:off x="1596" y="1239"/>
              <a:ext cx="528" cy="174"/>
            </a:xfrm>
            <a:prstGeom prst="rightArrow">
              <a:avLst>
                <a:gd name="adj1" fmla="val 49167"/>
                <a:gd name="adj2" fmla="val 75862"/>
              </a:avLst>
            </a:prstGeom>
            <a:gradFill rotWithShape="0">
              <a:gsLst>
                <a:gs pos="0">
                  <a:srgbClr val="FFFFFF"/>
                </a:gs>
                <a:gs pos="100000">
                  <a:schemeClr val="bg2"/>
                </a:gs>
              </a:gsLst>
              <a:lin ang="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70673" name="WordArt 18" descr="白色大理石"/>
            <p:cNvSpPr>
              <a:spLocks noTextEdit="1"/>
            </p:cNvSpPr>
            <p:nvPr/>
          </p:nvSpPr>
          <p:spPr>
            <a:xfrm>
              <a:off x="3240" y="1274"/>
              <a:ext cx="168" cy="626"/>
            </a:xfrm>
            <a:prstGeom prst="rect">
              <a:avLst/>
            </a:prstGeom>
          </p:spPr>
          <p:txBody>
            <a:bodyPr wrap="none" fromWordArt="1">
              <a:prstTxWarp prst="textPlain">
                <a:avLst>
                  <a:gd name="adj" fmla="val 50000"/>
                </a:avLst>
              </a:prstTxWarp>
              <a:normAutofit/>
              <a:scene3d>
                <a:camera prst="legacyObliqueRight">
                  <a:rot lat="0" lon="0" rev="0"/>
                </a:camera>
                <a:lightRig rig="legacyHarsh3" dir="t"/>
              </a:scene3d>
              <a:sp3d extrusionH="100000" prstMaterial="legacyMatte">
                <a:extrusionClr>
                  <a:srgbClr val="663300"/>
                </a:extrusionClr>
              </a:sp3d>
            </a:bodyPr>
            <a:lstStyle/>
            <a:p>
              <a:pPr algn="ctr"/>
              <a:r>
                <a:rPr lang="zh-CN" altLang="en-US" sz="3600">
                  <a:blipFill rotWithShape="0">
                    <a:blip r:embed="rId2"/>
                  </a:blipFill>
                  <a:latin typeface="宋体" panose="02010600030101010101" pitchFamily="2" charset="-122"/>
                  <a:ea typeface="宋体" panose="02010600030101010101" pitchFamily="2" charset="-122"/>
                </a:rPr>
                <a:t>}</a:t>
              </a:r>
            </a:p>
          </p:txBody>
        </p:sp>
        <p:sp>
          <p:nvSpPr>
            <p:cNvPr id="232467" name="AutoShape 19"/>
            <p:cNvSpPr>
              <a:spLocks noChangeArrowheads="1"/>
            </p:cNvSpPr>
            <p:nvPr/>
          </p:nvSpPr>
          <p:spPr bwMode="auto">
            <a:xfrm>
              <a:off x="3756" y="1517"/>
              <a:ext cx="528" cy="174"/>
            </a:xfrm>
            <a:prstGeom prst="rightArrow">
              <a:avLst>
                <a:gd name="adj1" fmla="val 49167"/>
                <a:gd name="adj2" fmla="val 75862"/>
              </a:avLst>
            </a:prstGeom>
            <a:gradFill rotWithShape="0">
              <a:gsLst>
                <a:gs pos="0">
                  <a:srgbClr val="FFFFFF"/>
                </a:gs>
                <a:gs pos="100000">
                  <a:schemeClr val="bg2"/>
                </a:gs>
              </a:gsLst>
              <a:lin ang="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232468" name="Rectangle 20"/>
            <p:cNvSpPr>
              <a:spLocks noChangeArrowheads="1"/>
            </p:cNvSpPr>
            <p:nvPr/>
          </p:nvSpPr>
          <p:spPr bwMode="auto">
            <a:xfrm>
              <a:off x="204" y="996"/>
              <a:ext cx="5328" cy="1008"/>
            </a:xfrm>
            <a:prstGeom prst="rect">
              <a:avLst/>
            </a:prstGeom>
            <a:no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232469" name="Rectangle 21"/>
            <p:cNvSpPr>
              <a:spLocks noChangeArrowheads="1"/>
            </p:cNvSpPr>
            <p:nvPr/>
          </p:nvSpPr>
          <p:spPr bwMode="auto">
            <a:xfrm>
              <a:off x="2076" y="1170"/>
              <a:ext cx="1296" cy="312"/>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YZ </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 </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Z</a:t>
              </a:r>
            </a:p>
          </p:txBody>
        </p:sp>
        <p:sp>
          <p:nvSpPr>
            <p:cNvPr id="232470" name="Rectangle 22"/>
            <p:cNvSpPr>
              <a:spLocks noChangeArrowheads="1"/>
            </p:cNvSpPr>
            <p:nvPr/>
          </p:nvSpPr>
          <p:spPr bwMode="auto">
            <a:xfrm>
              <a:off x="614" y="708"/>
              <a:ext cx="4555" cy="317"/>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99"/>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onotype Sorts" charset="2"/>
                </a:rPr>
                <a:t>Decomposition:  X-&gt;YZ==&gt;  X-&gt;Y,X-&gt;Z</a:t>
              </a:r>
              <a:endParaRPr kumimoji="0" lang="zh-CN" altLang="en-US" sz="2400" b="1" i="0" u="none" strike="noStrike" kern="1200" cap="none" spc="0" normalizeH="0" baseline="0" noProof="1">
                <a:solidFill>
                  <a:srgbClr val="000099"/>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onotype Sorts" charset="2"/>
              </a:endParaRPr>
            </a:p>
          </p:txBody>
        </p:sp>
        <p:sp>
          <p:nvSpPr>
            <p:cNvPr id="232471" name="Rectangle 23"/>
            <p:cNvSpPr>
              <a:spLocks noChangeArrowheads="1"/>
            </p:cNvSpPr>
            <p:nvPr/>
          </p:nvSpPr>
          <p:spPr bwMode="auto">
            <a:xfrm>
              <a:off x="2076" y="1691"/>
              <a:ext cx="1296" cy="313"/>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X </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 </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YZ</a:t>
              </a:r>
            </a:p>
          </p:txBody>
        </p:sp>
        <p:sp>
          <p:nvSpPr>
            <p:cNvPr id="232472" name="Rectangle 24"/>
            <p:cNvSpPr>
              <a:spLocks noChangeArrowheads="1"/>
            </p:cNvSpPr>
            <p:nvPr/>
          </p:nvSpPr>
          <p:spPr bwMode="auto">
            <a:xfrm>
              <a:off x="2124" y="1448"/>
              <a:ext cx="1200" cy="278"/>
            </a:xfrm>
            <a:prstGeom prst="rect">
              <a:avLst/>
            </a:prstGeom>
            <a:noFill/>
            <a:ln>
              <a:noFill/>
            </a:ln>
          </p:spPr>
          <p:txBody>
            <a:bodyPr/>
            <a:lstStyle/>
            <a:p>
              <a:pPr marL="342900" marR="0" indent="-342900" algn="ctr" defTabSz="914400" rtl="0" eaLnBrk="1" fontAlgn="base" latinLnBrk="0" hangingPunct="1">
                <a:lnSpc>
                  <a:spcPct val="100000"/>
                </a:lnSpc>
                <a:spcBef>
                  <a:spcPct val="20000"/>
                </a:spcBef>
                <a:spcAft>
                  <a:spcPct val="0"/>
                </a:spcAft>
                <a:buClr>
                  <a:schemeClr val="bg2"/>
                </a:buClr>
                <a:buFont typeface="Monotype Sorts" charset="2"/>
                <a:buNone/>
              </a:pPr>
              <a:r>
                <a:rPr kumimoji="0" lang="zh-CN" altLang="en-US"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传递律</a:t>
              </a:r>
            </a:p>
          </p:txBody>
        </p:sp>
        <p:sp>
          <p:nvSpPr>
            <p:cNvPr id="232473" name="Rectangle 25"/>
            <p:cNvSpPr>
              <a:spLocks noChangeArrowheads="1"/>
            </p:cNvSpPr>
            <p:nvPr/>
          </p:nvSpPr>
          <p:spPr bwMode="auto">
            <a:xfrm>
              <a:off x="4188" y="1448"/>
              <a:ext cx="1296" cy="313"/>
            </a:xfrm>
            <a:prstGeom prst="rect">
              <a:avLst/>
            </a:prstGeom>
            <a:noFill/>
            <a:ln>
              <a:noFill/>
            </a:ln>
          </p:spPr>
          <p:txBody>
            <a:bodyPr/>
            <a:lstStyle/>
            <a:p>
              <a:pPr marL="0" marR="0" indent="0" algn="ctr" defTabSz="914400" rtl="0" eaLnBrk="1" fontAlgn="base" latinLnBrk="0" hangingPunct="1">
                <a:lnSpc>
                  <a:spcPct val="100000"/>
                </a:lnSpc>
                <a:spcBef>
                  <a:spcPct val="20000"/>
                </a:spcBef>
                <a:spcAft>
                  <a:spcPct val="0"/>
                </a:spcAft>
                <a:buClr>
                  <a:schemeClr val="bg2"/>
                </a:buClr>
                <a:buFont typeface="Monotype Sorts" charset="2"/>
                <a:buNone/>
              </a:pP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X </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 </a:t>
              </a:r>
              <a:r>
                <a:rPr kumimoji="0" lang="en-US" altLang="zh-CN" sz="24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Z</a:t>
              </a:r>
            </a:p>
          </p:txBody>
        </p:sp>
      </p:grpSp>
      <p:sp>
        <p:nvSpPr>
          <p:cNvPr id="232474" name="Rectangle 26"/>
          <p:cNvSpPr>
            <a:spLocks noChangeArrowheads="1"/>
          </p:cNvSpPr>
          <p:nvPr/>
        </p:nvSpPr>
        <p:spPr bwMode="auto">
          <a:xfrm>
            <a:off x="693738" y="152400"/>
            <a:ext cx="7793038" cy="669925"/>
          </a:xfrm>
          <a:prstGeom prst="rect">
            <a:avLst/>
          </a:prstGeom>
          <a:noFill/>
          <a:ln>
            <a:noFill/>
          </a:ln>
          <a:effectLst/>
        </p:spPr>
        <p:txBody>
          <a:bodyPr anchor="b"/>
          <a:lstStyle/>
          <a:p>
            <a:pPr marL="0" marR="0" indent="0" algn="ctr" defTabSz="914400" rtl="0" eaLnBrk="1" fontAlgn="base" latinLnBrk="0" hangingPunct="1">
              <a:lnSpc>
                <a:spcPct val="100000"/>
              </a:lnSpc>
              <a:spcBef>
                <a:spcPct val="0"/>
              </a:spcBef>
              <a:spcAft>
                <a:spcPct val="0"/>
              </a:spcAft>
              <a:buNone/>
            </a:pPr>
            <a:r>
              <a:rPr kumimoji="0" lang="en-US" altLang="zh-CN" sz="4400" b="1" i="0" u="none" strike="noStrike" kern="1200" cap="none" spc="0" normalizeH="0" baseline="0" noProof="1">
                <a:solidFill>
                  <a:schemeClr val="tx2"/>
                </a:solidFill>
                <a:effectLst>
                  <a:outerShdw blurRad="38100" dist="38100" dir="2700000">
                    <a:srgbClr val="C0C0C0"/>
                  </a:outerShdw>
                </a:effectLst>
                <a:latin typeface="Arial" panose="020B0604020202020204" pitchFamily="34" charset="0"/>
                <a:ea typeface="隶书" panose="02010509060101010101" pitchFamily="49" charset="-122"/>
                <a:cs typeface="+mn-cs"/>
                <a:sym typeface="Symbol" panose="05050102010706020507" charset="2"/>
              </a:rPr>
              <a:t>Armstrong</a:t>
            </a:r>
            <a:r>
              <a:rPr kumimoji="0" lang="zh-CN" altLang="en-US" sz="4400" b="1" i="0" u="none" strike="noStrike" kern="1200" cap="none" spc="0" normalizeH="0" baseline="0" noProof="1">
                <a:solidFill>
                  <a:schemeClr val="tx2"/>
                </a:solidFill>
                <a:effectLst>
                  <a:outerShdw blurRad="38100" dist="38100" dir="2700000">
                    <a:srgbClr val="C0C0C0"/>
                  </a:outerShdw>
                </a:effectLst>
                <a:latin typeface="Arial" panose="020B0604020202020204" pitchFamily="34" charset="0"/>
                <a:ea typeface="隶书" panose="02010509060101010101" pitchFamily="49" charset="-122"/>
                <a:cs typeface="+mn-cs"/>
                <a:sym typeface="Symbol" panose="05050102010706020507" charset="2"/>
              </a:rPr>
              <a:t>公理系统</a:t>
            </a:r>
          </a:p>
        </p:txBody>
      </p:sp>
      <p:sp>
        <p:nvSpPr>
          <p:cNvPr id="70682" name="文本框 3"/>
          <p:cNvSpPr txBox="1"/>
          <p:nvPr/>
        </p:nvSpPr>
        <p:spPr>
          <a:xfrm>
            <a:off x="8589963" y="19050"/>
            <a:ext cx="573087" cy="338138"/>
          </a:xfrm>
          <a:prstGeom prst="rect">
            <a:avLst/>
          </a:prstGeom>
          <a:noFill/>
          <a:ln w="9525">
            <a:noFill/>
          </a:ln>
        </p:spPr>
        <p:txBody>
          <a:bodyPr wrap="none" anchor="t">
            <a:spAutoFit/>
          </a:bodyPr>
          <a:lstStyle/>
          <a:p>
            <a:pPr eaLnBrk="0" hangingPunct="0"/>
            <a:r>
              <a:rPr lang="en-US" altLang="zh-CN" dirty="0">
                <a:solidFill>
                  <a:srgbClr val="666699"/>
                </a:solidFill>
                <a:latin typeface="Helvetica" panose="020B0604020202030204" charset="0"/>
              </a:rPr>
              <a:t>next</a:t>
            </a:r>
            <a:endParaRPr lang="zh-CN" altLang="en-US" dirty="0">
              <a:solidFill>
                <a:srgbClr val="666699"/>
              </a:solidFill>
              <a:latin typeface="Helvetica" panose="020B060402020203020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7586"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Closure of Attribute Sets</a:t>
            </a:r>
          </a:p>
        </p:txBody>
      </p:sp>
      <p:sp>
        <p:nvSpPr>
          <p:cNvPr id="707587" name="Rectangle 3"/>
          <p:cNvSpPr>
            <a:spLocks noGrp="1"/>
          </p:cNvSpPr>
          <p:nvPr>
            <p:ph idx="1"/>
          </p:nvPr>
        </p:nvSpPr>
        <p:spPr>
          <a:xfrm>
            <a:off x="133350" y="1093788"/>
            <a:ext cx="8851900" cy="4903787"/>
          </a:xfrm>
        </p:spPr>
        <p:txBody>
          <a:bodyPr wrap="square" lIns="91440" tIns="45720" rIns="91440" bIns="45720" anchor="t"/>
          <a:lstStyle/>
          <a:p>
            <a:pPr defTabSz="914400">
              <a:tabLst>
                <a:tab pos="1027430" algn="l"/>
                <a:tab pos="1548130" algn="l"/>
                <a:tab pos="1771650" algn="l"/>
                <a:tab pos="2054225" algn="l"/>
                <a:tab pos="3140075" algn="ctr"/>
              </a:tabLst>
            </a:pPr>
            <a:r>
              <a:rPr lang="en-US" altLang="zh-CN" sz="2400"/>
              <a:t>Given a set of attributes </a:t>
            </a:r>
            <a:r>
              <a:rPr lang="en-US" altLang="zh-CN" sz="2400">
                <a:latin typeface="Symbol" panose="05050102010706020507" charset="2"/>
                <a:sym typeface="Greek Symbols" pitchFamily="18" charset="2"/>
              </a:rPr>
              <a:t>a,</a:t>
            </a:r>
            <a:r>
              <a:rPr lang="en-US" altLang="zh-CN" sz="2400"/>
              <a:t> define the </a:t>
            </a:r>
            <a:r>
              <a:rPr lang="en-US" altLang="zh-CN" sz="2400" b="1" i="1">
                <a:solidFill>
                  <a:srgbClr val="000099"/>
                </a:solidFill>
              </a:rPr>
              <a:t>closure</a:t>
            </a:r>
            <a:r>
              <a:rPr lang="en-US" altLang="zh-CN" sz="2400" i="1"/>
              <a:t> </a:t>
            </a:r>
            <a:r>
              <a:rPr lang="en-US" altLang="zh-CN" sz="2400"/>
              <a:t>of </a:t>
            </a:r>
            <a:r>
              <a:rPr lang="en-US" altLang="zh-CN" sz="2400">
                <a:latin typeface="Symbol" panose="05050102010706020507" charset="2"/>
                <a:sym typeface="Greek Symbols" pitchFamily="18" charset="2"/>
              </a:rPr>
              <a:t>a</a:t>
            </a:r>
            <a:r>
              <a:rPr lang="en-US" altLang="zh-CN" sz="2400">
                <a:sym typeface="Greek Symbols" pitchFamily="18" charset="2"/>
              </a:rPr>
              <a:t> </a:t>
            </a:r>
            <a:r>
              <a:rPr lang="en-US" altLang="zh-CN" sz="2400" b="1">
                <a:solidFill>
                  <a:srgbClr val="000099"/>
                </a:solidFill>
                <a:sym typeface="Greek Symbols" pitchFamily="18" charset="2"/>
              </a:rPr>
              <a:t>under</a:t>
            </a:r>
            <a:r>
              <a:rPr lang="en-US" altLang="zh-CN" sz="2400">
                <a:sym typeface="Greek Symbols" pitchFamily="18" charset="2"/>
              </a:rPr>
              <a:t> </a:t>
            </a:r>
            <a:r>
              <a:rPr lang="en-US" altLang="zh-CN" sz="2400" i="1">
                <a:sym typeface="Greek Symbols" pitchFamily="18" charset="2"/>
              </a:rPr>
              <a:t>F</a:t>
            </a:r>
            <a:r>
              <a:rPr lang="en-US" altLang="zh-CN" sz="2400">
                <a:sym typeface="Greek Symbols" pitchFamily="18" charset="2"/>
              </a:rPr>
              <a:t> (denoted by </a:t>
            </a:r>
            <a:r>
              <a:rPr lang="en-US" altLang="zh-CN" sz="2400">
                <a:latin typeface="Symbol" panose="05050102010706020507" charset="2"/>
                <a:sym typeface="Greek Symbols" pitchFamily="18" charset="2"/>
              </a:rPr>
              <a:t>a</a:t>
            </a:r>
            <a:r>
              <a:rPr lang="en-US" altLang="zh-CN" sz="2400" baseline="30000">
                <a:sym typeface="Greek Symbols" pitchFamily="18" charset="2"/>
              </a:rPr>
              <a:t>+</a:t>
            </a:r>
            <a:r>
              <a:rPr lang="en-US" altLang="zh-CN" sz="2400">
                <a:sym typeface="Greek Symbols" pitchFamily="18" charset="2"/>
              </a:rPr>
              <a:t>) as the set of attributes that are functionally determined by </a:t>
            </a:r>
            <a:r>
              <a:rPr lang="en-US" altLang="zh-CN" sz="2400">
                <a:latin typeface="Symbol" panose="05050102010706020507" charset="2"/>
                <a:sym typeface="Greek Symbols" pitchFamily="18" charset="2"/>
              </a:rPr>
              <a:t>a</a:t>
            </a:r>
            <a:r>
              <a:rPr lang="en-US" altLang="zh-CN" sz="2400">
                <a:sym typeface="Greek Symbols" pitchFamily="18" charset="2"/>
              </a:rPr>
              <a:t> under </a:t>
            </a:r>
            <a:r>
              <a:rPr lang="en-US" altLang="zh-CN" sz="2400" i="1">
                <a:sym typeface="Greek Symbols" pitchFamily="18" charset="2"/>
              </a:rPr>
              <a:t>F</a:t>
            </a:r>
          </a:p>
          <a:p>
            <a:pPr defTabSz="914400">
              <a:tabLst>
                <a:tab pos="1027430" algn="l"/>
                <a:tab pos="1548130" algn="l"/>
                <a:tab pos="1771650" algn="l"/>
                <a:tab pos="2054225" algn="l"/>
                <a:tab pos="3140075" algn="ctr"/>
              </a:tabLst>
            </a:pPr>
            <a:endParaRPr lang="en-US" altLang="zh-CN" sz="2400" i="1">
              <a:sym typeface="Greek Symbols" pitchFamily="18" charset="2"/>
            </a:endParaRPr>
          </a:p>
          <a:p>
            <a:pPr defTabSz="914400">
              <a:tabLst>
                <a:tab pos="1027430" algn="l"/>
                <a:tab pos="1548130" algn="l"/>
                <a:tab pos="1771650" algn="l"/>
                <a:tab pos="2054225" algn="l"/>
                <a:tab pos="3140075" algn="ctr"/>
              </a:tabLst>
            </a:pPr>
            <a:r>
              <a:rPr lang="en-US" altLang="zh-CN" sz="2400">
                <a:sym typeface="Greek Symbols" pitchFamily="18" charset="2"/>
              </a:rPr>
              <a:t> Algorithm to compute </a:t>
            </a:r>
            <a:r>
              <a:rPr lang="en-US" altLang="zh-CN" sz="2400">
                <a:latin typeface="Symbol" panose="05050102010706020507" charset="2"/>
                <a:sym typeface="Greek Symbols" pitchFamily="18" charset="2"/>
              </a:rPr>
              <a:t>a</a:t>
            </a:r>
            <a:r>
              <a:rPr lang="en-US" altLang="zh-CN" sz="2400" baseline="30000">
                <a:sym typeface="Greek Symbols" pitchFamily="18" charset="2"/>
              </a:rPr>
              <a:t>+</a:t>
            </a:r>
            <a:r>
              <a:rPr lang="en-US" altLang="zh-CN" sz="2400">
                <a:sym typeface="Greek Symbols" pitchFamily="18" charset="2"/>
              </a:rPr>
              <a:t>, the closure of </a:t>
            </a:r>
            <a:r>
              <a:rPr lang="en-US" altLang="zh-CN" sz="2400">
                <a:latin typeface="Symbol" panose="05050102010706020507" charset="2"/>
                <a:sym typeface="Greek Symbols" pitchFamily="18" charset="2"/>
              </a:rPr>
              <a:t>a</a:t>
            </a:r>
            <a:r>
              <a:rPr lang="en-US" altLang="zh-CN" sz="2400">
                <a:sym typeface="Greek Symbols" pitchFamily="18" charset="2"/>
              </a:rPr>
              <a:t> under </a:t>
            </a:r>
            <a:r>
              <a:rPr lang="en-US" altLang="zh-CN" sz="2400" i="1">
                <a:sym typeface="Greek Symbols" pitchFamily="18" charset="2"/>
              </a:rPr>
              <a:t>F</a:t>
            </a:r>
            <a:br>
              <a:rPr lang="en-US" altLang="zh-CN" sz="2400" i="1">
                <a:sym typeface="Greek Symbols" pitchFamily="18" charset="2"/>
              </a:rPr>
            </a:br>
            <a:endParaRPr lang="en-US" altLang="zh-CN" sz="2400" i="1">
              <a:sym typeface="Greek Symbols" pitchFamily="18" charset="2"/>
            </a:endParaRPr>
          </a:p>
          <a:p>
            <a:pPr defTabSz="914400">
              <a:buNone/>
              <a:tabLst>
                <a:tab pos="1027430" algn="l"/>
                <a:tab pos="1548130" algn="l"/>
                <a:tab pos="1771650" algn="l"/>
                <a:tab pos="2054225" algn="l"/>
                <a:tab pos="3140075" algn="ctr"/>
              </a:tabLst>
            </a:pPr>
            <a:r>
              <a:rPr lang="en-US" altLang="zh-CN" sz="2400" i="1">
                <a:sym typeface="Greek Symbols" pitchFamily="18" charset="2"/>
              </a:rPr>
              <a:t>      	result </a:t>
            </a:r>
            <a:r>
              <a:rPr lang="en-US" altLang="zh-CN" sz="2400">
                <a:sym typeface="Greek Symbols" pitchFamily="18" charset="2"/>
              </a:rPr>
              <a:t>:= </a:t>
            </a:r>
            <a:r>
              <a:rPr lang="en-US" altLang="zh-CN" sz="2400">
                <a:latin typeface="Symbol" panose="05050102010706020507" charset="2"/>
                <a:sym typeface="Greek Symbols" pitchFamily="18" charset="2"/>
              </a:rPr>
              <a:t>a</a:t>
            </a:r>
            <a:r>
              <a:rPr lang="en-US" altLang="zh-CN" sz="2400">
                <a:sym typeface="Greek Symbols" pitchFamily="18" charset="2"/>
              </a:rPr>
              <a:t>;</a:t>
            </a:r>
            <a:br>
              <a:rPr lang="en-US" altLang="zh-CN" sz="2400">
                <a:sym typeface="Greek Symbols" pitchFamily="18" charset="2"/>
              </a:rPr>
            </a:br>
            <a:r>
              <a:rPr lang="en-US" altLang="zh-CN" sz="2400">
                <a:sym typeface="Greek Symbols" pitchFamily="18" charset="2"/>
              </a:rPr>
              <a:t>	</a:t>
            </a:r>
            <a:r>
              <a:rPr lang="en-US" altLang="zh-CN" sz="2400" b="1">
                <a:sym typeface="Greek Symbols" pitchFamily="18" charset="2"/>
              </a:rPr>
              <a:t>while</a:t>
            </a:r>
            <a:r>
              <a:rPr lang="en-US" altLang="zh-CN" sz="2400">
                <a:sym typeface="Greek Symbols" pitchFamily="18" charset="2"/>
              </a:rPr>
              <a:t> (changes to </a:t>
            </a:r>
            <a:r>
              <a:rPr lang="en-US" altLang="zh-CN" sz="2400" i="1">
                <a:sym typeface="Greek Symbols" pitchFamily="18" charset="2"/>
              </a:rPr>
              <a:t>result</a:t>
            </a:r>
            <a:r>
              <a:rPr lang="en-US" altLang="zh-CN" sz="2400">
                <a:sym typeface="Greek Symbols" pitchFamily="18" charset="2"/>
              </a:rPr>
              <a:t>) </a:t>
            </a:r>
            <a:r>
              <a:rPr lang="en-US" altLang="zh-CN" sz="2400" b="1">
                <a:sym typeface="Greek Symbols" pitchFamily="18" charset="2"/>
              </a:rPr>
              <a:t>do</a:t>
            </a:r>
            <a:br>
              <a:rPr lang="en-US" altLang="zh-CN" sz="2400" b="1">
                <a:sym typeface="Greek Symbols" pitchFamily="18" charset="2"/>
              </a:rPr>
            </a:br>
            <a:r>
              <a:rPr lang="en-US" altLang="zh-CN" sz="2400" b="1">
                <a:sym typeface="Greek Symbols" pitchFamily="18" charset="2"/>
              </a:rPr>
              <a:t>		for each </a:t>
            </a:r>
            <a:r>
              <a:rPr lang="en-US" altLang="zh-CN" sz="2400">
                <a:sym typeface="Symbol" panose="05050102010706020507" charset="2"/>
              </a:rPr>
              <a:t></a:t>
            </a:r>
            <a:r>
              <a:rPr lang="en-US" altLang="zh-CN" sz="2400" i="1">
                <a:sym typeface="Greek Symbols" pitchFamily="18" charset="2"/>
              </a:rPr>
              <a:t> </a:t>
            </a:r>
            <a:r>
              <a:rPr lang="en-US" altLang="zh-CN" sz="2400">
                <a:sym typeface="Symbol" panose="05050102010706020507" charset="2"/>
              </a:rPr>
              <a:t></a:t>
            </a:r>
            <a:r>
              <a:rPr lang="en-US" altLang="zh-CN" sz="2400">
                <a:sym typeface="Monotype Sorts" charset="2"/>
              </a:rPr>
              <a:t> </a:t>
            </a:r>
            <a:r>
              <a:rPr lang="en-US" altLang="zh-CN" sz="2400">
                <a:sym typeface="Symbol" panose="05050102010706020507" charset="2"/>
              </a:rPr>
              <a:t></a:t>
            </a:r>
            <a:r>
              <a:rPr lang="en-US" altLang="zh-CN" sz="2400">
                <a:sym typeface="Greek Symbols" pitchFamily="18" charset="2"/>
              </a:rPr>
              <a:t> </a:t>
            </a:r>
            <a:r>
              <a:rPr lang="en-US" altLang="zh-CN" sz="2400" b="1">
                <a:sym typeface="Greek Symbols" pitchFamily="18" charset="2"/>
              </a:rPr>
              <a:t>in</a:t>
            </a:r>
            <a:r>
              <a:rPr lang="en-US" altLang="zh-CN" sz="2400" i="1">
                <a:sym typeface="Greek Symbols" pitchFamily="18" charset="2"/>
              </a:rPr>
              <a:t> F</a:t>
            </a:r>
            <a:r>
              <a:rPr lang="en-US" altLang="zh-CN" sz="2400" b="1">
                <a:sym typeface="Greek Symbols" pitchFamily="18" charset="2"/>
              </a:rPr>
              <a:t> do</a:t>
            </a:r>
            <a:br>
              <a:rPr lang="en-US" altLang="zh-CN" sz="2400" b="1">
                <a:sym typeface="Greek Symbols" pitchFamily="18" charset="2"/>
              </a:rPr>
            </a:br>
            <a:r>
              <a:rPr lang="en-US" altLang="zh-CN" sz="2400" b="1">
                <a:sym typeface="Greek Symbols" pitchFamily="18" charset="2"/>
              </a:rPr>
              <a:t>			begin</a:t>
            </a:r>
            <a:br>
              <a:rPr lang="en-US" altLang="zh-CN" sz="2400" b="1">
                <a:sym typeface="Greek Symbols" pitchFamily="18" charset="2"/>
              </a:rPr>
            </a:br>
            <a:r>
              <a:rPr lang="en-US" altLang="zh-CN" sz="2400" b="1">
                <a:sym typeface="Greek Symbols" pitchFamily="18" charset="2"/>
              </a:rPr>
              <a:t>				if </a:t>
            </a:r>
            <a:r>
              <a:rPr lang="en-US" altLang="zh-CN" sz="2400">
                <a:sym typeface="Symbol" panose="05050102010706020507" charset="2"/>
              </a:rPr>
              <a:t></a:t>
            </a:r>
            <a:r>
              <a:rPr lang="en-US" altLang="zh-CN" sz="2400" i="1">
                <a:sym typeface="Greek Symbols" pitchFamily="18" charset="2"/>
              </a:rPr>
              <a:t> </a:t>
            </a:r>
            <a:r>
              <a:rPr lang="en-US" altLang="zh-CN" sz="2400">
                <a:sym typeface="Symbol" panose="05050102010706020507" charset="2"/>
              </a:rPr>
              <a:t> </a:t>
            </a:r>
            <a:r>
              <a:rPr lang="en-US" altLang="zh-CN" sz="2400" i="1">
                <a:sym typeface="Symbol" panose="05050102010706020507" charset="2"/>
              </a:rPr>
              <a:t>result</a:t>
            </a:r>
            <a:r>
              <a:rPr lang="en-US" altLang="zh-CN" sz="2400" b="1">
                <a:sym typeface="Symbol" panose="05050102010706020507" charset="2"/>
              </a:rPr>
              <a:t> then </a:t>
            </a:r>
            <a:r>
              <a:rPr lang="en-US" altLang="zh-CN" sz="2400" i="1">
                <a:sym typeface="Symbol" panose="05050102010706020507" charset="2"/>
              </a:rPr>
              <a:t> result </a:t>
            </a:r>
            <a:r>
              <a:rPr lang="en-US" altLang="zh-CN" sz="2400">
                <a:sym typeface="Symbol" panose="05050102010706020507" charset="2"/>
              </a:rPr>
              <a:t>:= </a:t>
            </a:r>
            <a:r>
              <a:rPr lang="en-US" altLang="zh-CN" sz="2400" i="1">
                <a:sym typeface="Symbol" panose="05050102010706020507" charset="2"/>
              </a:rPr>
              <a:t>result </a:t>
            </a:r>
            <a:r>
              <a:rPr lang="en-US" altLang="zh-CN" sz="2400">
                <a:sym typeface="Symbol" panose="05050102010706020507" charset="2"/>
              </a:rPr>
              <a:t></a:t>
            </a:r>
            <a:r>
              <a:rPr lang="en-US" altLang="zh-CN" sz="2400">
                <a:sym typeface="Greek Symbols" pitchFamily="18" charset="2"/>
              </a:rPr>
              <a:t> </a:t>
            </a:r>
            <a:r>
              <a:rPr lang="en-US" altLang="zh-CN" sz="2400">
                <a:sym typeface="Symbol" panose="05050102010706020507" charset="2"/>
              </a:rPr>
              <a:t></a:t>
            </a:r>
            <a:r>
              <a:rPr lang="en-US" altLang="zh-CN" sz="2400">
                <a:sym typeface="Greek Symbols" pitchFamily="18" charset="2"/>
              </a:rPr>
              <a:t> </a:t>
            </a:r>
            <a:br>
              <a:rPr lang="en-US" altLang="zh-CN" sz="2400">
                <a:sym typeface="Greek Symbols" pitchFamily="18" charset="2"/>
              </a:rPr>
            </a:br>
            <a:r>
              <a:rPr lang="en-US" altLang="zh-CN" sz="2400">
                <a:sym typeface="Greek Symbols" pitchFamily="18" charset="2"/>
              </a:rPr>
              <a:t>			</a:t>
            </a:r>
            <a:r>
              <a:rPr lang="en-US" altLang="zh-CN" sz="2400" b="1">
                <a:sym typeface="Greek Symbols" pitchFamily="18" charset="2"/>
              </a:rPr>
              <a:t>end</a:t>
            </a:r>
          </a:p>
          <a:p>
            <a:pPr defTabSz="914400">
              <a:buNone/>
              <a:tabLst>
                <a:tab pos="1027430" algn="l"/>
                <a:tab pos="1548130" algn="l"/>
                <a:tab pos="1771650" algn="l"/>
                <a:tab pos="2054225" algn="l"/>
                <a:tab pos="3140075" algn="ctr"/>
              </a:tabLst>
            </a:pPr>
            <a:endParaRPr lang="en-US" altLang="zh-CN" sz="2400" b="1">
              <a:sym typeface="Greek Symbols" pitchFamily="18" charset="2"/>
            </a:endParaRPr>
          </a:p>
          <a:p>
            <a:pPr defTabSz="914400">
              <a:buNone/>
              <a:tabLst>
                <a:tab pos="1027430" algn="l"/>
                <a:tab pos="1548130" algn="l"/>
                <a:tab pos="1771650" algn="l"/>
                <a:tab pos="2054225" algn="l"/>
                <a:tab pos="3140075" algn="ctr"/>
              </a:tabLst>
            </a:pPr>
            <a:endParaRPr lang="zh-CN" altLang="en-US" sz="2400" b="1">
              <a:sym typeface="Greek Symbols"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075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0758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0758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7587"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9634"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6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Example of Attribute Set Closure</a:t>
            </a:r>
          </a:p>
        </p:txBody>
      </p:sp>
      <p:sp>
        <p:nvSpPr>
          <p:cNvPr id="709635" name="Rectangle 3"/>
          <p:cNvSpPr>
            <a:spLocks noGrp="1"/>
          </p:cNvSpPr>
          <p:nvPr>
            <p:ph idx="1"/>
          </p:nvPr>
        </p:nvSpPr>
        <p:spPr>
          <a:xfrm>
            <a:off x="146050" y="906463"/>
            <a:ext cx="8699500" cy="5548312"/>
          </a:xfrm>
        </p:spPr>
        <p:txBody>
          <a:bodyPr wrap="square" lIns="91440" tIns="45720" rIns="91440" bIns="45720" anchor="t"/>
          <a:lstStyle/>
          <a:p>
            <a:pPr defTabSz="914400">
              <a:lnSpc>
                <a:spcPct val="90000"/>
              </a:lnSpc>
              <a:tabLst>
                <a:tab pos="803275" algn="l"/>
                <a:tab pos="2633980" algn="l"/>
                <a:tab pos="3140075" algn="l"/>
              </a:tabLst>
            </a:pPr>
            <a:r>
              <a:rPr lang="en-US" altLang="zh-CN" sz="2000" i="1"/>
              <a:t>R = (A, B, C, G, H, I)</a:t>
            </a:r>
          </a:p>
          <a:p>
            <a:pPr defTabSz="914400">
              <a:lnSpc>
                <a:spcPct val="90000"/>
              </a:lnSpc>
              <a:tabLst>
                <a:tab pos="803275" algn="l"/>
                <a:tab pos="2633980" algn="l"/>
                <a:tab pos="3140075" algn="l"/>
              </a:tabLst>
            </a:pPr>
            <a:r>
              <a:rPr lang="en-US" altLang="zh-CN" sz="2000" i="1"/>
              <a:t>F = </a:t>
            </a:r>
            <a:r>
              <a:rPr lang="en-US" altLang="zh-CN" sz="2000"/>
              <a:t>{</a:t>
            </a:r>
            <a:r>
              <a:rPr lang="en-US" altLang="zh-CN" sz="2000" i="1">
                <a:sym typeface="Iconic Symbols Ext" pitchFamily="2" charset="2"/>
              </a:rPr>
              <a:t>A </a:t>
            </a:r>
            <a:r>
              <a:rPr lang="en-US" altLang="zh-CN" sz="2000">
                <a:sym typeface="Symbol" panose="05050102010706020507" charset="2"/>
              </a:rPr>
              <a:t></a:t>
            </a:r>
            <a:r>
              <a:rPr lang="en-US" altLang="zh-CN" sz="2000">
                <a:sym typeface="Monotype Sorts" charset="2"/>
              </a:rPr>
              <a:t> </a:t>
            </a:r>
            <a:r>
              <a:rPr lang="en-US" altLang="zh-CN" sz="2000" i="1">
                <a:sym typeface="Monotype Sorts" charset="2"/>
              </a:rPr>
              <a:t>B</a:t>
            </a:r>
            <a:br>
              <a:rPr lang="en-US" altLang="zh-CN" sz="2000" i="1">
                <a:sym typeface="Monotype Sorts" charset="2"/>
              </a:rPr>
            </a:br>
            <a:r>
              <a:rPr lang="en-US" altLang="zh-CN" sz="2000" i="1">
                <a:sym typeface="Monotype Sorts" charset="2"/>
              </a:rPr>
              <a:t>	</a:t>
            </a:r>
            <a:r>
              <a:rPr lang="en-US" altLang="zh-CN" sz="2000" i="1">
                <a:sym typeface="Iconic Symbols Ext" pitchFamily="2" charset="2"/>
              </a:rPr>
              <a:t>A </a:t>
            </a:r>
            <a:r>
              <a:rPr lang="en-US" altLang="zh-CN" sz="2000">
                <a:sym typeface="Symbol" panose="05050102010706020507" charset="2"/>
              </a:rPr>
              <a:t></a:t>
            </a:r>
            <a:r>
              <a:rPr lang="en-US" altLang="zh-CN" sz="2000">
                <a:sym typeface="Monotype Sorts" charset="2"/>
              </a:rPr>
              <a:t> </a:t>
            </a:r>
            <a:r>
              <a:rPr lang="en-US" altLang="zh-CN" sz="2000" i="1">
                <a:sym typeface="Monotype Sorts" charset="2"/>
              </a:rPr>
              <a:t>C </a:t>
            </a:r>
            <a:br>
              <a:rPr lang="en-US" altLang="zh-CN" sz="2000" i="1">
                <a:sym typeface="Monotype Sorts" charset="2"/>
              </a:rPr>
            </a:br>
            <a:r>
              <a:rPr lang="en-US" altLang="zh-CN" sz="2000" i="1">
                <a:sym typeface="Monotype Sorts" charset="2"/>
              </a:rPr>
              <a:t>	</a:t>
            </a:r>
            <a:r>
              <a:rPr lang="en-US" altLang="zh-CN" sz="2000" i="1">
                <a:sym typeface="Iconic Symbols Ext" pitchFamily="2" charset="2"/>
              </a:rPr>
              <a:t>CG </a:t>
            </a:r>
            <a:r>
              <a:rPr lang="en-US" altLang="zh-CN" sz="2000">
                <a:sym typeface="Symbol" panose="05050102010706020507" charset="2"/>
              </a:rPr>
              <a:t></a:t>
            </a:r>
            <a:r>
              <a:rPr lang="en-US" altLang="zh-CN" sz="2000">
                <a:sym typeface="Monotype Sorts" charset="2"/>
              </a:rPr>
              <a:t> </a:t>
            </a:r>
            <a:r>
              <a:rPr lang="en-US" altLang="zh-CN" sz="2000" i="1">
                <a:sym typeface="Monotype Sorts" charset="2"/>
              </a:rPr>
              <a:t>H</a:t>
            </a:r>
            <a:br>
              <a:rPr lang="en-US" altLang="zh-CN" sz="2000" i="1">
                <a:sym typeface="Monotype Sorts" charset="2"/>
              </a:rPr>
            </a:br>
            <a:r>
              <a:rPr lang="en-US" altLang="zh-CN" sz="2000" i="1">
                <a:sym typeface="Monotype Sorts" charset="2"/>
              </a:rPr>
              <a:t>	</a:t>
            </a:r>
            <a:r>
              <a:rPr lang="en-US" altLang="zh-CN" sz="2000" i="1">
                <a:sym typeface="Iconic Symbols Ext" pitchFamily="2" charset="2"/>
              </a:rPr>
              <a:t>CG </a:t>
            </a:r>
            <a:r>
              <a:rPr lang="en-US" altLang="zh-CN" sz="2000">
                <a:sym typeface="Symbol" panose="05050102010706020507" charset="2"/>
              </a:rPr>
              <a:t></a:t>
            </a:r>
            <a:r>
              <a:rPr lang="en-US" altLang="zh-CN" sz="2000">
                <a:sym typeface="Monotype Sorts" charset="2"/>
              </a:rPr>
              <a:t> </a:t>
            </a:r>
            <a:r>
              <a:rPr lang="en-US" altLang="zh-CN" sz="2000" i="1">
                <a:sym typeface="Monotype Sorts" charset="2"/>
              </a:rPr>
              <a:t>I</a:t>
            </a:r>
            <a:br>
              <a:rPr lang="en-US" altLang="zh-CN" sz="2000" i="1">
                <a:sym typeface="Monotype Sorts" charset="2"/>
              </a:rPr>
            </a:br>
            <a:r>
              <a:rPr lang="en-US" altLang="zh-CN" sz="2000" i="1">
                <a:sym typeface="Monotype Sorts" charset="2"/>
              </a:rPr>
              <a:t>	</a:t>
            </a:r>
            <a:r>
              <a:rPr lang="en-US" altLang="zh-CN" sz="2000" i="1">
                <a:sym typeface="Iconic Symbols Ext" pitchFamily="2" charset="2"/>
              </a:rPr>
              <a:t>B </a:t>
            </a:r>
            <a:r>
              <a:rPr lang="en-US" altLang="zh-CN" sz="2000">
                <a:sym typeface="Symbol" panose="05050102010706020507" charset="2"/>
              </a:rPr>
              <a:t></a:t>
            </a:r>
            <a:r>
              <a:rPr lang="en-US" altLang="zh-CN" sz="2000">
                <a:sym typeface="Monotype Sorts" charset="2"/>
              </a:rPr>
              <a:t> </a:t>
            </a:r>
            <a:r>
              <a:rPr lang="en-US" altLang="zh-CN" sz="2000" i="1">
                <a:sym typeface="Monotype Sorts" charset="2"/>
              </a:rPr>
              <a:t>H</a:t>
            </a:r>
            <a:r>
              <a:rPr lang="en-US" altLang="zh-CN" sz="2000">
                <a:sym typeface="Monotype Sorts" charset="2"/>
              </a:rPr>
              <a:t>}</a:t>
            </a:r>
            <a:endParaRPr lang="en-US" altLang="zh-CN" sz="2000">
              <a:sym typeface="MS LineDraw" pitchFamily="49" charset="2"/>
            </a:endParaRPr>
          </a:p>
          <a:p>
            <a:pPr defTabSz="914400">
              <a:lnSpc>
                <a:spcPct val="90000"/>
              </a:lnSpc>
              <a:tabLst>
                <a:tab pos="803275" algn="l"/>
                <a:tab pos="2633980" algn="l"/>
                <a:tab pos="3140075" algn="l"/>
              </a:tabLst>
            </a:pPr>
            <a:r>
              <a:rPr lang="en-US" altLang="zh-CN" sz="2000">
                <a:sym typeface="MS LineDraw" pitchFamily="49" charset="2"/>
              </a:rPr>
              <a:t>(</a:t>
            </a:r>
            <a:r>
              <a:rPr lang="en-US" altLang="zh-CN" sz="2000" i="1">
                <a:sym typeface="MS LineDraw" pitchFamily="49" charset="2"/>
              </a:rPr>
              <a:t>AG)</a:t>
            </a:r>
            <a:r>
              <a:rPr lang="en-US" altLang="zh-CN" sz="2000" baseline="30000">
                <a:sym typeface="MS LineDraw" pitchFamily="49" charset="2"/>
              </a:rPr>
              <a:t>+</a:t>
            </a:r>
            <a:endParaRPr lang="en-US" altLang="zh-CN" sz="2000">
              <a:sym typeface="MS LineDraw" pitchFamily="49" charset="2"/>
            </a:endParaRPr>
          </a:p>
          <a:p>
            <a:pPr marL="762000" lvl="1" indent="-304800" defTabSz="914400">
              <a:lnSpc>
                <a:spcPct val="90000"/>
              </a:lnSpc>
              <a:buNone/>
              <a:tabLst>
                <a:tab pos="803275" algn="l"/>
                <a:tab pos="2633980" algn="l"/>
                <a:tab pos="3140075" algn="l"/>
              </a:tabLst>
            </a:pPr>
            <a:r>
              <a:rPr lang="en-US" altLang="zh-CN" sz="2000">
                <a:sym typeface="MS LineDraw" pitchFamily="49" charset="2"/>
              </a:rPr>
              <a:t>1.	</a:t>
            </a:r>
            <a:r>
              <a:rPr lang="en-US" altLang="zh-CN" sz="2000" i="1">
                <a:sym typeface="MS LineDraw" pitchFamily="49" charset="2"/>
              </a:rPr>
              <a:t>result = AG</a:t>
            </a:r>
            <a:endParaRPr lang="en-US" altLang="zh-CN" sz="2000">
              <a:sym typeface="MS LineDraw" pitchFamily="49" charset="2"/>
            </a:endParaRPr>
          </a:p>
          <a:p>
            <a:pPr marL="762000" lvl="1" indent="-304800" defTabSz="914400">
              <a:lnSpc>
                <a:spcPct val="90000"/>
              </a:lnSpc>
              <a:buNone/>
              <a:tabLst>
                <a:tab pos="803275" algn="l"/>
                <a:tab pos="2633980" algn="l"/>
                <a:tab pos="3140075" algn="l"/>
              </a:tabLst>
            </a:pPr>
            <a:r>
              <a:rPr lang="en-US" altLang="zh-CN" sz="2000">
                <a:sym typeface="MS LineDraw" pitchFamily="49" charset="2"/>
              </a:rPr>
              <a:t>2.	</a:t>
            </a:r>
            <a:r>
              <a:rPr lang="en-US" altLang="zh-CN" sz="2000" i="1">
                <a:sym typeface="MS LineDraw" pitchFamily="49" charset="2"/>
              </a:rPr>
              <a:t>result = A</a:t>
            </a:r>
            <a:r>
              <a:rPr lang="en-US" altLang="zh-CN" sz="2000" i="1">
                <a:solidFill>
                  <a:srgbClr val="FF0000"/>
                </a:solidFill>
                <a:sym typeface="MS LineDraw" pitchFamily="49" charset="2"/>
              </a:rPr>
              <a:t>BC</a:t>
            </a:r>
            <a:r>
              <a:rPr lang="en-US" altLang="zh-CN" sz="2000" i="1">
                <a:sym typeface="MS LineDraw" pitchFamily="49" charset="2"/>
              </a:rPr>
              <a:t>G	(A </a:t>
            </a:r>
            <a:r>
              <a:rPr lang="en-US" altLang="zh-CN" sz="2000">
                <a:sym typeface="Symbol" panose="05050102010706020507" charset="2"/>
              </a:rPr>
              <a:t></a:t>
            </a:r>
            <a:r>
              <a:rPr lang="en-US" altLang="zh-CN" sz="2000">
                <a:sym typeface="Monotype Sorts" charset="2"/>
              </a:rPr>
              <a:t> </a:t>
            </a:r>
            <a:r>
              <a:rPr lang="en-US" altLang="zh-CN" sz="2000" i="1">
                <a:sym typeface="Monotype Sorts" charset="2"/>
              </a:rPr>
              <a:t>C </a:t>
            </a:r>
            <a:r>
              <a:rPr lang="en-US" altLang="zh-CN" sz="2000">
                <a:sym typeface="Monotype Sorts" charset="2"/>
              </a:rPr>
              <a:t>and </a:t>
            </a:r>
            <a:r>
              <a:rPr lang="en-US" altLang="zh-CN" sz="2000" i="1">
                <a:sym typeface="Monotype Sorts" charset="2"/>
              </a:rPr>
              <a:t>A </a:t>
            </a:r>
            <a:r>
              <a:rPr lang="en-US" altLang="zh-CN" sz="2000">
                <a:sym typeface="Symbol" panose="05050102010706020507" charset="2"/>
              </a:rPr>
              <a:t></a:t>
            </a:r>
            <a:r>
              <a:rPr lang="en-US" altLang="zh-CN" sz="2000" i="1">
                <a:sym typeface="Symbol" panose="05050102010706020507" charset="2"/>
              </a:rPr>
              <a:t> B)</a:t>
            </a:r>
            <a:endParaRPr lang="en-US" altLang="zh-CN" sz="2000">
              <a:sym typeface="Symbol" panose="05050102010706020507" charset="2"/>
            </a:endParaRPr>
          </a:p>
          <a:p>
            <a:pPr marL="762000" lvl="1" indent="-304800" defTabSz="914400">
              <a:lnSpc>
                <a:spcPct val="90000"/>
              </a:lnSpc>
              <a:buNone/>
              <a:tabLst>
                <a:tab pos="803275" algn="l"/>
                <a:tab pos="2633980" algn="l"/>
                <a:tab pos="3140075" algn="l"/>
              </a:tabLst>
            </a:pPr>
            <a:r>
              <a:rPr lang="en-US" altLang="zh-CN" sz="2000">
                <a:sym typeface="Symbol" panose="05050102010706020507" charset="2"/>
              </a:rPr>
              <a:t>3.	</a:t>
            </a:r>
            <a:r>
              <a:rPr lang="en-US" altLang="zh-CN" sz="2000" i="1">
                <a:sym typeface="MS LineDraw" pitchFamily="49" charset="2"/>
              </a:rPr>
              <a:t>result = ABCG</a:t>
            </a:r>
            <a:r>
              <a:rPr lang="en-US" altLang="zh-CN" sz="2000" i="1">
                <a:solidFill>
                  <a:srgbClr val="FF0000"/>
                </a:solidFill>
                <a:sym typeface="Monotype Sorts" charset="2"/>
              </a:rPr>
              <a:t>H</a:t>
            </a:r>
            <a:r>
              <a:rPr lang="en-US" altLang="zh-CN" sz="2000" i="1">
                <a:sym typeface="Monotype Sorts" charset="2"/>
              </a:rPr>
              <a:t>	(CG </a:t>
            </a:r>
            <a:r>
              <a:rPr lang="en-US" altLang="zh-CN" sz="2000">
                <a:sym typeface="Symbol" panose="05050102010706020507" charset="2"/>
              </a:rPr>
              <a:t></a:t>
            </a:r>
            <a:r>
              <a:rPr lang="en-US" altLang="zh-CN" sz="2000">
                <a:sym typeface="Monotype Sorts" charset="2"/>
              </a:rPr>
              <a:t> </a:t>
            </a:r>
            <a:r>
              <a:rPr lang="en-US" altLang="zh-CN" sz="2000" i="1">
                <a:sym typeface="Monotype Sorts" charset="2"/>
              </a:rPr>
              <a:t>H</a:t>
            </a:r>
            <a:r>
              <a:rPr lang="en-US" altLang="zh-CN" sz="2000">
                <a:sym typeface="Monotype Sorts" charset="2"/>
              </a:rPr>
              <a:t> and </a:t>
            </a:r>
            <a:r>
              <a:rPr lang="en-US" altLang="zh-CN" sz="2000" i="1">
                <a:sym typeface="Monotype Sorts" charset="2"/>
              </a:rPr>
              <a:t>CG </a:t>
            </a:r>
            <a:r>
              <a:rPr lang="en-US" altLang="zh-CN" sz="2000">
                <a:sym typeface="Symbol" panose="05050102010706020507" charset="2"/>
              </a:rPr>
              <a:t> </a:t>
            </a:r>
            <a:r>
              <a:rPr lang="en-US" altLang="zh-CN" sz="2000" i="1">
                <a:sym typeface="Symbol" panose="05050102010706020507" charset="2"/>
              </a:rPr>
              <a:t>AGBC)</a:t>
            </a:r>
          </a:p>
          <a:p>
            <a:pPr marL="762000" lvl="1" indent="-304800" defTabSz="914400">
              <a:lnSpc>
                <a:spcPct val="90000"/>
              </a:lnSpc>
              <a:buNone/>
              <a:tabLst>
                <a:tab pos="803275" algn="l"/>
                <a:tab pos="2633980" algn="l"/>
                <a:tab pos="3140075" algn="l"/>
              </a:tabLst>
            </a:pPr>
            <a:r>
              <a:rPr lang="en-US" altLang="zh-CN" sz="2000">
                <a:sym typeface="Symbol" panose="05050102010706020507" charset="2"/>
              </a:rPr>
              <a:t>4.	</a:t>
            </a:r>
            <a:r>
              <a:rPr lang="en-US" altLang="zh-CN" sz="2000" i="1">
                <a:sym typeface="MS LineDraw" pitchFamily="49" charset="2"/>
              </a:rPr>
              <a:t>result = ABCG</a:t>
            </a:r>
            <a:r>
              <a:rPr lang="en-US" altLang="zh-CN" sz="2000" i="1">
                <a:sym typeface="Monotype Sorts" charset="2"/>
              </a:rPr>
              <a:t>H</a:t>
            </a:r>
            <a:r>
              <a:rPr lang="en-US" altLang="zh-CN" sz="2000" i="1">
                <a:solidFill>
                  <a:srgbClr val="FF0000"/>
                </a:solidFill>
                <a:sym typeface="Monotype Sorts" charset="2"/>
              </a:rPr>
              <a:t>I</a:t>
            </a:r>
            <a:r>
              <a:rPr lang="en-US" altLang="zh-CN" sz="2000" i="1">
                <a:sym typeface="Monotype Sorts" charset="2"/>
              </a:rPr>
              <a:t>	(CG </a:t>
            </a:r>
            <a:r>
              <a:rPr lang="en-US" altLang="zh-CN" sz="2000">
                <a:sym typeface="Symbol" panose="05050102010706020507" charset="2"/>
              </a:rPr>
              <a:t></a:t>
            </a:r>
            <a:r>
              <a:rPr lang="en-US" altLang="zh-CN" sz="2000">
                <a:sym typeface="Monotype Sorts" charset="2"/>
              </a:rPr>
              <a:t> </a:t>
            </a:r>
            <a:r>
              <a:rPr lang="en-US" altLang="zh-CN" sz="2000" i="1">
                <a:sym typeface="Monotype Sorts" charset="2"/>
              </a:rPr>
              <a:t>I</a:t>
            </a:r>
            <a:r>
              <a:rPr lang="en-US" altLang="zh-CN" sz="2000">
                <a:sym typeface="Monotype Sorts" charset="2"/>
              </a:rPr>
              <a:t> and </a:t>
            </a:r>
            <a:r>
              <a:rPr lang="en-US" altLang="zh-CN" sz="2000" i="1">
                <a:sym typeface="Monotype Sorts" charset="2"/>
              </a:rPr>
              <a:t>CG </a:t>
            </a:r>
            <a:r>
              <a:rPr lang="en-US" altLang="zh-CN" sz="2000">
                <a:sym typeface="Symbol" panose="05050102010706020507" charset="2"/>
              </a:rPr>
              <a:t> </a:t>
            </a:r>
            <a:r>
              <a:rPr lang="en-US" altLang="zh-CN" sz="2000" i="1">
                <a:sym typeface="Symbol" panose="05050102010706020507" charset="2"/>
              </a:rPr>
              <a:t>AGBCH)</a:t>
            </a:r>
          </a:p>
          <a:p>
            <a:pPr defTabSz="914400">
              <a:lnSpc>
                <a:spcPct val="90000"/>
              </a:lnSpc>
              <a:tabLst>
                <a:tab pos="803275" algn="l"/>
                <a:tab pos="2633980" algn="l"/>
                <a:tab pos="3140075" algn="l"/>
              </a:tabLst>
            </a:pPr>
            <a:r>
              <a:rPr lang="en-US" altLang="zh-CN" sz="2000">
                <a:sym typeface="Symbol" panose="05050102010706020507" charset="2"/>
              </a:rPr>
              <a:t>Is </a:t>
            </a:r>
            <a:r>
              <a:rPr lang="en-US" altLang="zh-CN" sz="2000" i="1">
                <a:sym typeface="Symbol" panose="05050102010706020507" charset="2"/>
              </a:rPr>
              <a:t>AG</a:t>
            </a:r>
            <a:r>
              <a:rPr lang="en-US" altLang="zh-CN" sz="2000">
                <a:sym typeface="Symbol" panose="05050102010706020507" charset="2"/>
              </a:rPr>
              <a:t> a candidate key?  </a:t>
            </a:r>
          </a:p>
          <a:p>
            <a:pPr marL="762000" lvl="1" indent="-304800" defTabSz="914400">
              <a:lnSpc>
                <a:spcPct val="90000"/>
              </a:lnSpc>
              <a:buFont typeface="Monotype Sorts" charset="2"/>
              <a:buAutoNum type="arabicPeriod"/>
              <a:tabLst>
                <a:tab pos="803275" algn="l"/>
                <a:tab pos="2633980" algn="l"/>
                <a:tab pos="3140075" algn="l"/>
              </a:tabLst>
            </a:pPr>
            <a:r>
              <a:rPr lang="en-US" altLang="zh-CN" sz="2000">
                <a:sym typeface="Symbol" panose="05050102010706020507" charset="2"/>
              </a:rPr>
              <a:t>Is AG a super key?  Does </a:t>
            </a:r>
            <a:r>
              <a:rPr lang="en-US" altLang="zh-CN" sz="2000" i="1">
                <a:sym typeface="Symbol" panose="05050102010706020507" charset="2"/>
              </a:rPr>
              <a:t>AG </a:t>
            </a:r>
            <a:r>
              <a:rPr lang="en-US" altLang="zh-CN" sz="2000">
                <a:sym typeface="Symbol" panose="05050102010706020507" charset="2"/>
              </a:rPr>
              <a:t></a:t>
            </a:r>
            <a:r>
              <a:rPr lang="en-US" altLang="zh-CN" sz="2000">
                <a:sym typeface="Monotype Sorts" charset="2"/>
              </a:rPr>
              <a:t> </a:t>
            </a:r>
            <a:r>
              <a:rPr lang="en-US" altLang="zh-CN" sz="2000" i="1">
                <a:sym typeface="Monotype Sorts" charset="2"/>
              </a:rPr>
              <a:t>R? == </a:t>
            </a:r>
            <a:r>
              <a:rPr lang="en-US" altLang="zh-CN" sz="2000">
                <a:sym typeface="Monotype Sorts" charset="2"/>
              </a:rPr>
              <a:t>Is (AG)</a:t>
            </a:r>
            <a:r>
              <a:rPr lang="en-US" altLang="zh-CN" sz="2000" baseline="30000">
                <a:sym typeface="Monotype Sorts" charset="2"/>
              </a:rPr>
              <a:t>+ </a:t>
            </a:r>
            <a:r>
              <a:rPr lang="en-US" altLang="zh-CN" sz="2000">
                <a:sym typeface="Symbol" panose="05050102010706020507" charset="2"/>
              </a:rPr>
              <a:t> R</a:t>
            </a:r>
            <a:endParaRPr lang="en-US" altLang="zh-CN" sz="2000" i="1">
              <a:sym typeface="Monotype Sorts" charset="2"/>
            </a:endParaRPr>
          </a:p>
          <a:p>
            <a:pPr marL="762000" lvl="1" indent="-304800" defTabSz="914400">
              <a:lnSpc>
                <a:spcPct val="90000"/>
              </a:lnSpc>
              <a:buFont typeface="Monotype Sorts" charset="2"/>
              <a:buAutoNum type="arabicPeriod" startAt="2"/>
              <a:tabLst>
                <a:tab pos="803275" algn="l"/>
                <a:tab pos="2633980" algn="l"/>
                <a:tab pos="3140075" algn="l"/>
              </a:tabLst>
            </a:pPr>
            <a:r>
              <a:rPr lang="en-US" altLang="zh-CN" sz="2000">
                <a:sym typeface="Monotype Sorts" charset="2"/>
              </a:rPr>
              <a:t>Is any subset of AG a </a:t>
            </a:r>
            <a:r>
              <a:rPr lang="en-US" altLang="zh-CN" sz="2000" err="1">
                <a:sym typeface="Monotype Sorts" charset="2"/>
              </a:rPr>
              <a:t>superkey</a:t>
            </a:r>
            <a:r>
              <a:rPr lang="en-US" altLang="zh-CN" sz="2000">
                <a:sym typeface="Monotype Sorts" charset="2"/>
              </a:rPr>
              <a:t>?</a:t>
            </a:r>
          </a:p>
          <a:p>
            <a:pPr marL="1163955" lvl="2" indent="-304800" defTabSz="914400">
              <a:lnSpc>
                <a:spcPct val="90000"/>
              </a:lnSpc>
              <a:buFont typeface="Monotype Sorts" charset="2"/>
              <a:buAutoNum type="arabicPeriod"/>
              <a:tabLst>
                <a:tab pos="803275" algn="l"/>
                <a:tab pos="2633980" algn="l"/>
                <a:tab pos="3140075" algn="l"/>
              </a:tabLst>
            </a:pPr>
            <a:r>
              <a:rPr lang="en-US" altLang="zh-CN" sz="2000">
                <a:sym typeface="Monotype Sorts" charset="2"/>
              </a:rPr>
              <a:t>Does </a:t>
            </a:r>
            <a:r>
              <a:rPr lang="en-US" altLang="zh-CN" sz="2000" i="1">
                <a:sym typeface="Monotype Sorts" charset="2"/>
              </a:rPr>
              <a:t>A</a:t>
            </a:r>
            <a:r>
              <a:rPr lang="en-US" altLang="zh-CN" sz="2000">
                <a:sym typeface="Monotype Sorts" charset="2"/>
              </a:rPr>
              <a:t> </a:t>
            </a:r>
            <a:r>
              <a:rPr lang="en-US" altLang="zh-CN" sz="2000">
                <a:sym typeface="Symbol" panose="05050102010706020507" charset="2"/>
              </a:rPr>
              <a:t></a:t>
            </a:r>
            <a:r>
              <a:rPr lang="en-US" altLang="zh-CN" sz="2000">
                <a:sym typeface="Monotype Sorts" charset="2"/>
              </a:rPr>
              <a:t> </a:t>
            </a:r>
            <a:r>
              <a:rPr lang="en-US" altLang="zh-CN" sz="2000" i="1">
                <a:sym typeface="Monotype Sorts" charset="2"/>
              </a:rPr>
              <a:t>R</a:t>
            </a:r>
            <a:r>
              <a:rPr lang="en-US" altLang="zh-CN" sz="2000">
                <a:sym typeface="Monotype Sorts" charset="2"/>
              </a:rPr>
              <a:t>? </a:t>
            </a:r>
            <a:r>
              <a:rPr lang="en-US" altLang="zh-CN" sz="2000" i="1">
                <a:sym typeface="Monotype Sorts" charset="2"/>
              </a:rPr>
              <a:t>== </a:t>
            </a:r>
            <a:r>
              <a:rPr lang="en-US" altLang="zh-CN" sz="2000">
                <a:sym typeface="Monotype Sorts" charset="2"/>
              </a:rPr>
              <a:t>Is (A)</a:t>
            </a:r>
            <a:r>
              <a:rPr lang="en-US" altLang="zh-CN" sz="2000" baseline="30000">
                <a:sym typeface="Monotype Sorts" charset="2"/>
              </a:rPr>
              <a:t>+ </a:t>
            </a:r>
            <a:r>
              <a:rPr lang="en-US" altLang="zh-CN" sz="2000">
                <a:sym typeface="Symbol" panose="05050102010706020507" charset="2"/>
              </a:rPr>
              <a:t> R</a:t>
            </a:r>
            <a:endParaRPr lang="en-US" altLang="zh-CN" sz="2000">
              <a:sym typeface="Monotype Sorts" charset="2"/>
            </a:endParaRPr>
          </a:p>
          <a:p>
            <a:pPr marL="1163955" lvl="2" indent="-304800" defTabSz="914400">
              <a:lnSpc>
                <a:spcPct val="90000"/>
              </a:lnSpc>
              <a:buFont typeface="Monotype Sorts" charset="2"/>
              <a:buAutoNum type="arabicPeriod"/>
              <a:tabLst>
                <a:tab pos="803275" algn="l"/>
                <a:tab pos="2633980" algn="l"/>
                <a:tab pos="3140075" algn="l"/>
              </a:tabLst>
            </a:pPr>
            <a:r>
              <a:rPr lang="en-US" altLang="zh-CN" sz="2000">
                <a:sym typeface="Monotype Sorts" charset="2"/>
              </a:rPr>
              <a:t>Does </a:t>
            </a:r>
            <a:r>
              <a:rPr lang="en-US" altLang="zh-CN" sz="2000" i="1">
                <a:sym typeface="Monotype Sorts" charset="2"/>
              </a:rPr>
              <a:t>G</a:t>
            </a:r>
            <a:r>
              <a:rPr lang="en-US" altLang="zh-CN" sz="2000">
                <a:sym typeface="Monotype Sorts" charset="2"/>
              </a:rPr>
              <a:t> </a:t>
            </a:r>
            <a:r>
              <a:rPr lang="en-US" altLang="zh-CN" sz="2000">
                <a:sym typeface="Symbol" panose="05050102010706020507" charset="2"/>
              </a:rPr>
              <a:t></a:t>
            </a:r>
            <a:r>
              <a:rPr lang="en-US" altLang="zh-CN" sz="2000">
                <a:sym typeface="Monotype Sorts" charset="2"/>
              </a:rPr>
              <a:t> </a:t>
            </a:r>
            <a:r>
              <a:rPr lang="en-US" altLang="zh-CN" sz="2000" i="1">
                <a:sym typeface="Monotype Sorts" charset="2"/>
              </a:rPr>
              <a:t>R</a:t>
            </a:r>
            <a:r>
              <a:rPr lang="en-US" altLang="zh-CN" sz="2000">
                <a:sym typeface="Monotype Sorts" charset="2"/>
              </a:rPr>
              <a:t>? == Is (G)</a:t>
            </a:r>
            <a:r>
              <a:rPr lang="en-US" altLang="zh-CN" sz="2000" baseline="30000">
                <a:sym typeface="Monotype Sorts" charset="2"/>
              </a:rPr>
              <a:t>+ </a:t>
            </a:r>
            <a:r>
              <a:rPr lang="en-US" altLang="zh-CN" sz="2000">
                <a:sym typeface="Symbol" panose="05050102010706020507" charset="2"/>
              </a:rPr>
              <a:t> R</a:t>
            </a:r>
          </a:p>
        </p:txBody>
      </p:sp>
      <p:sp>
        <p:nvSpPr>
          <p:cNvPr id="4" name="Text Box 4"/>
          <p:cNvSpPr txBox="1">
            <a:spLocks noChangeArrowheads="1"/>
          </p:cNvSpPr>
          <p:nvPr/>
        </p:nvSpPr>
        <p:spPr bwMode="auto">
          <a:xfrm>
            <a:off x="3777615" y="1012825"/>
            <a:ext cx="5173980" cy="1938020"/>
          </a:xfrm>
          <a:prstGeom prst="rect">
            <a:avLst/>
          </a:prstGeom>
          <a:noFill/>
          <a:ln w="9525">
            <a:solidFill>
              <a:srgbClr val="000099"/>
            </a:solidFill>
            <a:miter lim="800000"/>
          </a:ln>
          <a:effectLst/>
        </p:spPr>
        <p:txBody>
          <a:bodyPr wrap="square">
            <a:spAutoFit/>
          </a:bodyPr>
          <a:lstStyle/>
          <a:p>
            <a:pPr marR="0" defTabSz="914400" eaLnBrk="0" hangingPunct="0">
              <a:spcBef>
                <a:spcPct val="35000"/>
              </a:spcBef>
              <a:buClr>
                <a:schemeClr val="tx2"/>
              </a:buClr>
              <a:buSzPct val="90000"/>
              <a:buFont typeface="Monotype Sorts" charset="2"/>
            </a:pPr>
            <a:r>
              <a:rPr kumimoji="0" lang="en-US" altLang="zh-CN" sz="2000" b="1" i="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Greek Symbols" pitchFamily="18" charset="2"/>
              </a:rPr>
              <a:t>result </a:t>
            </a:r>
            <a:r>
              <a:rPr kumimoji="0" lang="en-US" altLang="zh-CN" sz="2000" b="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Greek Symbols" pitchFamily="18" charset="2"/>
              </a:rPr>
              <a:t>:= a;</a:t>
            </a:r>
            <a:br>
              <a:rPr lang="en-US" altLang="zh-CN" sz="2000" b="1" dirty="0">
                <a:solidFill>
                  <a:srgbClr val="7030A0"/>
                </a:solidFill>
                <a:effectLst>
                  <a:outerShdw blurRad="38100" dist="38100" dir="2700000">
                    <a:srgbClr val="C0C0C0"/>
                  </a:outerShdw>
                </a:effectLst>
                <a:latin typeface="Arial" panose="020B0604020202020204" pitchFamily="34" charset="0"/>
                <a:cs typeface="Arial" panose="020B0604020202020204" pitchFamily="34" charset="0"/>
                <a:sym typeface="Greek Symbols" pitchFamily="18" charset="2"/>
              </a:rPr>
            </a:br>
            <a:r>
              <a:rPr kumimoji="0" lang="en-US" altLang="zh-CN" sz="2000" b="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Greek Symbols" pitchFamily="18" charset="2"/>
              </a:rPr>
              <a:t>while (changes to </a:t>
            </a:r>
            <a:r>
              <a:rPr kumimoji="0" lang="en-US" altLang="zh-CN" sz="2000" b="1" i="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Greek Symbols" pitchFamily="18" charset="2"/>
              </a:rPr>
              <a:t>result</a:t>
            </a:r>
            <a:r>
              <a:rPr kumimoji="0" lang="en-US" altLang="zh-CN" sz="2000" b="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Greek Symbols" pitchFamily="18" charset="2"/>
              </a:rPr>
              <a:t>) do</a:t>
            </a:r>
            <a:br>
              <a:rPr lang="en-US" altLang="zh-CN" sz="2000" b="1" dirty="0">
                <a:solidFill>
                  <a:srgbClr val="7030A0"/>
                </a:solidFill>
                <a:effectLst>
                  <a:outerShdw blurRad="38100" dist="38100" dir="2700000">
                    <a:srgbClr val="C0C0C0"/>
                  </a:outerShdw>
                </a:effectLst>
                <a:latin typeface="Arial" panose="020B0604020202020204" pitchFamily="34" charset="0"/>
                <a:cs typeface="Arial" panose="020B0604020202020204" pitchFamily="34" charset="0"/>
                <a:sym typeface="Greek Symbols" pitchFamily="18" charset="2"/>
              </a:rPr>
            </a:br>
            <a:r>
              <a:rPr kumimoji="0" lang="en-US" altLang="zh-CN" sz="2000" b="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Greek Symbols" pitchFamily="18" charset="2"/>
              </a:rPr>
              <a:t>  for each </a:t>
            </a:r>
            <a:r>
              <a:rPr kumimoji="0" lang="en-US" altLang="zh-CN" sz="2000" b="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Symbol" panose="05050102010706020507" charset="2"/>
              </a:rPr>
              <a:t></a:t>
            </a:r>
            <a:r>
              <a:rPr kumimoji="0" lang="en-US" altLang="zh-CN" sz="2000" b="1" i="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Greek Symbols" pitchFamily="18" charset="2"/>
              </a:rPr>
              <a:t> </a:t>
            </a:r>
            <a:r>
              <a:rPr kumimoji="0" lang="en-US" altLang="zh-CN" sz="2000" b="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Symbol" panose="05050102010706020507" charset="2"/>
              </a:rPr>
              <a:t></a:t>
            </a:r>
            <a:r>
              <a:rPr kumimoji="0" lang="en-US" altLang="zh-CN" sz="2000" b="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Monotype Sorts" charset="2"/>
              </a:rPr>
              <a:t> </a:t>
            </a:r>
            <a:r>
              <a:rPr kumimoji="0" lang="en-US" altLang="zh-CN" sz="2000" b="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Symbol" panose="05050102010706020507" charset="2"/>
              </a:rPr>
              <a:t></a:t>
            </a:r>
            <a:r>
              <a:rPr kumimoji="0" lang="en-US" altLang="zh-CN" sz="2000" b="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Greek Symbols" pitchFamily="18" charset="2"/>
              </a:rPr>
              <a:t> in</a:t>
            </a:r>
            <a:r>
              <a:rPr kumimoji="0" lang="en-US" altLang="zh-CN" sz="2000" b="1" i="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Greek Symbols" pitchFamily="18" charset="2"/>
              </a:rPr>
              <a:t> F</a:t>
            </a:r>
            <a:r>
              <a:rPr kumimoji="0" lang="en-US" altLang="zh-CN" sz="2000" b="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Greek Symbols" pitchFamily="18" charset="2"/>
              </a:rPr>
              <a:t> do</a:t>
            </a:r>
            <a:br>
              <a:rPr lang="en-US" altLang="zh-CN" sz="2000" b="1" dirty="0">
                <a:solidFill>
                  <a:srgbClr val="7030A0"/>
                </a:solidFill>
                <a:effectLst>
                  <a:outerShdw blurRad="38100" dist="38100" dir="2700000">
                    <a:srgbClr val="C0C0C0"/>
                  </a:outerShdw>
                </a:effectLst>
                <a:latin typeface="Arial" panose="020B0604020202020204" pitchFamily="34" charset="0"/>
                <a:cs typeface="Arial" panose="020B0604020202020204" pitchFamily="34" charset="0"/>
                <a:sym typeface="Greek Symbols" pitchFamily="18" charset="2"/>
              </a:rPr>
            </a:br>
            <a:r>
              <a:rPr kumimoji="0" lang="en-US" altLang="zh-CN" sz="2000" b="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Greek Symbols" pitchFamily="18" charset="2"/>
              </a:rPr>
              <a:t>  begin</a:t>
            </a:r>
            <a:br>
              <a:rPr lang="en-US" altLang="zh-CN" sz="2000" b="1" dirty="0">
                <a:solidFill>
                  <a:srgbClr val="7030A0"/>
                </a:solidFill>
                <a:effectLst>
                  <a:outerShdw blurRad="38100" dist="38100" dir="2700000">
                    <a:srgbClr val="C0C0C0"/>
                  </a:outerShdw>
                </a:effectLst>
                <a:latin typeface="Arial" panose="020B0604020202020204" pitchFamily="34" charset="0"/>
                <a:cs typeface="Arial" panose="020B0604020202020204" pitchFamily="34" charset="0"/>
                <a:sym typeface="Greek Symbols" pitchFamily="18" charset="2"/>
              </a:rPr>
            </a:br>
            <a:r>
              <a:rPr kumimoji="0" lang="en-US" altLang="zh-CN" sz="2000" b="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Greek Symbols" pitchFamily="18" charset="2"/>
              </a:rPr>
              <a:t>   if </a:t>
            </a:r>
            <a:r>
              <a:rPr kumimoji="0" lang="en-US" altLang="zh-CN" sz="2000" b="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Symbol" panose="05050102010706020507" charset="2"/>
              </a:rPr>
              <a:t></a:t>
            </a:r>
            <a:r>
              <a:rPr kumimoji="0" lang="en-US" altLang="zh-CN" sz="2000" b="1" i="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Greek Symbols" pitchFamily="18" charset="2"/>
              </a:rPr>
              <a:t> </a:t>
            </a:r>
            <a:r>
              <a:rPr kumimoji="0" lang="en-US" altLang="zh-CN" sz="2000" b="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Symbol" panose="05050102010706020507" charset="2"/>
              </a:rPr>
              <a:t> </a:t>
            </a:r>
            <a:r>
              <a:rPr kumimoji="0" lang="en-US" altLang="zh-CN" sz="2000" b="1" i="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Symbol" panose="05050102010706020507" charset="2"/>
              </a:rPr>
              <a:t>result</a:t>
            </a:r>
            <a:r>
              <a:rPr kumimoji="0" lang="en-US" altLang="zh-CN" sz="2000" b="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Symbol" panose="05050102010706020507" charset="2"/>
              </a:rPr>
              <a:t> then </a:t>
            </a:r>
            <a:r>
              <a:rPr kumimoji="0" lang="en-US" altLang="zh-CN" sz="2000" b="1" i="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Symbol" panose="05050102010706020507" charset="2"/>
              </a:rPr>
              <a:t> result </a:t>
            </a:r>
            <a:r>
              <a:rPr kumimoji="0" lang="en-US" altLang="zh-CN" sz="2000" b="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Symbol" panose="05050102010706020507" charset="2"/>
              </a:rPr>
              <a:t>:= </a:t>
            </a:r>
            <a:r>
              <a:rPr kumimoji="0" lang="en-US" altLang="zh-CN" sz="2000" b="1" i="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Symbol" panose="05050102010706020507" charset="2"/>
              </a:rPr>
              <a:t>result </a:t>
            </a:r>
            <a:r>
              <a:rPr kumimoji="0" lang="en-US" altLang="zh-CN" sz="2000" b="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Symbol" panose="05050102010706020507" charset="2"/>
              </a:rPr>
              <a:t></a:t>
            </a:r>
            <a:r>
              <a:rPr kumimoji="0" lang="en-US" altLang="zh-CN" sz="2000" b="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Greek Symbols" pitchFamily="18" charset="2"/>
              </a:rPr>
              <a:t> </a:t>
            </a:r>
            <a:r>
              <a:rPr kumimoji="0" lang="en-US" altLang="zh-CN" sz="2000" b="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Symbol" panose="05050102010706020507" charset="2"/>
              </a:rPr>
              <a:t></a:t>
            </a:r>
            <a:r>
              <a:rPr kumimoji="0" lang="en-US" altLang="zh-CN" sz="2000" b="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Greek Symbols" pitchFamily="18" charset="2"/>
              </a:rPr>
              <a:t> </a:t>
            </a:r>
            <a:br>
              <a:rPr lang="en-US" altLang="zh-CN" sz="2000" b="1" dirty="0">
                <a:solidFill>
                  <a:srgbClr val="7030A0"/>
                </a:solidFill>
                <a:effectLst>
                  <a:outerShdw blurRad="38100" dist="38100" dir="2700000">
                    <a:srgbClr val="C0C0C0"/>
                  </a:outerShdw>
                </a:effectLst>
                <a:latin typeface="Arial" panose="020B0604020202020204" pitchFamily="34" charset="0"/>
                <a:cs typeface="Arial" panose="020B0604020202020204" pitchFamily="34" charset="0"/>
                <a:sym typeface="Greek Symbols" pitchFamily="18" charset="2"/>
              </a:rPr>
            </a:br>
            <a:r>
              <a:rPr kumimoji="0" lang="en-US" altLang="zh-CN" sz="2000" b="1" kern="1200" cap="none" spc="0" normalizeH="0" baseline="0" noProof="1">
                <a:solidFill>
                  <a:srgbClr val="7030A0"/>
                </a:solidFill>
                <a:effectLst>
                  <a:outerShdw blurRad="38100" dist="38100" dir="2700000">
                    <a:srgbClr val="C0C0C0"/>
                  </a:outerShdw>
                </a:effectLst>
                <a:latin typeface="Arial" panose="020B0604020202020204" pitchFamily="34" charset="0"/>
                <a:ea typeface="宋体" panose="02010600030101010101" pitchFamily="2" charset="-122"/>
                <a:cs typeface="Arial" panose="020B0604020202020204" pitchFamily="34" charset="0"/>
                <a:sym typeface="Greek Symbols" pitchFamily="18" charset="2"/>
              </a:rPr>
              <a:t>end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0963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0963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0963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70963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70963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70963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70963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70963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70963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709635">
                                            <p:txEl>
                                              <p:pRg st="9" end="9"/>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499"/>
                                          </p:stCondLst>
                                        </p:cTn>
                                        <p:tgtEl>
                                          <p:spTgt spid="709635">
                                            <p:txEl>
                                              <p:pRg st="10" end="10"/>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499"/>
                                          </p:stCondLst>
                                        </p:cTn>
                                        <p:tgtEl>
                                          <p:spTgt spid="70963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9635" grpId="0" build="p" bldLvl="2"/>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p:cNvSpPr>
            <a:spLocks noChangeArrowheads="1"/>
          </p:cNvSpPr>
          <p:nvPr/>
        </p:nvSpPr>
        <p:spPr bwMode="auto">
          <a:xfrm>
            <a:off x="188913" y="1028700"/>
            <a:ext cx="8802688" cy="5334000"/>
          </a:xfrm>
          <a:prstGeom prst="rect">
            <a:avLst/>
          </a:prstGeom>
          <a:noFill/>
          <a:ln>
            <a:noFill/>
          </a:ln>
          <a:effectLst/>
        </p:spPr>
        <p:txBody>
          <a:bodyPr/>
          <a:lstStyle/>
          <a:p>
            <a:pPr marL="342900" marR="0" indent="-342900" algn="l" defTabSz="914400" rtl="0" eaLnBrk="1" fontAlgn="base" latinLnBrk="0" hangingPunct="1">
              <a:lnSpc>
                <a:spcPct val="100000"/>
              </a:lnSpc>
              <a:spcBef>
                <a:spcPct val="20000"/>
              </a:spcBef>
              <a:spcAft>
                <a:spcPct val="0"/>
              </a:spcAft>
              <a:buSzPct val="90000"/>
              <a:buBlip>
                <a:blip r:embed="rId2"/>
              </a:buBlip>
            </a:pPr>
            <a:r>
              <a:rPr kumimoji="0" lang="zh-CN" altLang="en-US" sz="20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示例2</a:t>
            </a:r>
          </a:p>
          <a:p>
            <a:pPr marL="742950" marR="0" lvl="1" indent="-285750" algn="l" defTabSz="914400" rtl="0" eaLnBrk="1" fontAlgn="base" latinLnBrk="0" hangingPunct="1">
              <a:lnSpc>
                <a:spcPct val="100000"/>
              </a:lnSpc>
              <a:spcBef>
                <a:spcPct val="20000"/>
              </a:spcBef>
              <a:spcAft>
                <a:spcPct val="0"/>
              </a:spcAft>
              <a:buSzPct val="80000"/>
              <a:buNone/>
            </a:pPr>
            <a:r>
              <a:rPr kumimoji="0" lang="zh-CN" altLang="en-US" sz="20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a:t>
            </a:r>
            <a:r>
              <a:rPr kumimoji="0" lang="en-US" altLang="zh-CN" sz="20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R&lt; U, F &gt;, U = (A, B, C, D, E), F = {AB</a:t>
            </a:r>
            <a:r>
              <a:rPr kumimoji="0" lang="en-US" altLang="zh-CN" sz="20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C</a:t>
            </a:r>
            <a:r>
              <a:rPr kumimoji="0" lang="en-US" altLang="zh-CN" sz="20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B</a:t>
            </a:r>
            <a:r>
              <a:rPr kumimoji="0" lang="en-US" altLang="zh-CN" sz="20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D, CE, CEB, ACB},</a:t>
            </a:r>
            <a:r>
              <a:rPr kumimoji="0" lang="zh-CN" altLang="en-US" sz="20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计算</a:t>
            </a:r>
            <a:r>
              <a:rPr kumimoji="0" lang="zh-CN" altLang="en-US" sz="2000" b="1" i="0" u="none" strike="noStrike" kern="1200" cap="none" spc="0" normalizeH="0" baseline="0" noProof="1">
                <a:solidFill>
                  <a:srgbClr val="990033"/>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000" b="1" i="0" u="none" strike="noStrike" kern="1200" cap="none" spc="0" normalizeH="0" baseline="0" noProof="1">
                <a:solidFill>
                  <a:srgbClr val="990033"/>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AB)</a:t>
            </a:r>
            <a:r>
              <a:rPr kumimoji="0" lang="en-US" altLang="zh-CN" sz="2000" b="1" i="0" u="none" strike="noStrike" kern="1200" cap="none" spc="0" normalizeH="0" baseline="30000" noProof="1">
                <a:solidFill>
                  <a:srgbClr val="990033"/>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p>
          <a:p>
            <a:pPr marL="742950" marR="0" lvl="1" indent="-285750" algn="l" defTabSz="914400" rtl="0" eaLnBrk="1" fontAlgn="base" latinLnBrk="0" hangingPunct="1">
              <a:lnSpc>
                <a:spcPct val="100000"/>
              </a:lnSpc>
              <a:spcBef>
                <a:spcPct val="20000"/>
              </a:spcBef>
              <a:spcAft>
                <a:spcPct val="0"/>
              </a:spcAft>
              <a:buSzPct val="80000"/>
              <a:buNone/>
            </a:pPr>
            <a:r>
              <a:rPr kumimoji="0" lang="zh-CN" altLang="en-US" sz="20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			</a:t>
            </a:r>
          </a:p>
          <a:p>
            <a:pPr marL="742950" marR="0" lvl="1" indent="-285750" algn="l" defTabSz="914400" rtl="0" eaLnBrk="1" fontAlgn="base" latinLnBrk="0" hangingPunct="1">
              <a:lnSpc>
                <a:spcPct val="100000"/>
              </a:lnSpc>
              <a:spcBef>
                <a:spcPct val="20000"/>
              </a:spcBef>
              <a:spcAft>
                <a:spcPct val="0"/>
              </a:spcAft>
              <a:buSzPct val="80000"/>
              <a:buNone/>
            </a:pPr>
            <a:r>
              <a:rPr kumimoji="0" lang="zh-CN" altLang="en-US" sz="20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			所用依赖	          </a:t>
            </a:r>
            <a:r>
              <a:rPr kumimoji="0" lang="zh-CN" altLang="en-US" sz="2000" b="1" i="0" u="none" strike="noStrike" kern="1200" cap="none" spc="0" normalizeH="0" baseline="0" noProof="1">
                <a:solidFill>
                  <a:srgbClr val="990033"/>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000" b="1" i="0" u="none" strike="noStrike" kern="1200" cap="none" spc="0" normalizeH="0" baseline="0" noProof="1">
                <a:solidFill>
                  <a:srgbClr val="990033"/>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AB)</a:t>
            </a:r>
            <a:r>
              <a:rPr kumimoji="0" lang="en-US" altLang="zh-CN" sz="2000" b="1" i="0" u="none" strike="noStrike" kern="1200" cap="none" spc="0" normalizeH="0" baseline="30000" noProof="1">
                <a:solidFill>
                  <a:srgbClr val="990033"/>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endParaRPr kumimoji="0" lang="zh-CN" altLang="en-US" sz="20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endParaRPr>
          </a:p>
          <a:p>
            <a:pPr marL="742950" marR="0" lvl="1" indent="-285750" algn="l" defTabSz="914400" rtl="0" eaLnBrk="1" fontAlgn="base" latinLnBrk="0" hangingPunct="1">
              <a:lnSpc>
                <a:spcPct val="100000"/>
              </a:lnSpc>
              <a:spcBef>
                <a:spcPct val="60000"/>
              </a:spcBef>
              <a:spcAft>
                <a:spcPct val="0"/>
              </a:spcAft>
              <a:buSzPct val="80000"/>
              <a:buNone/>
            </a:pPr>
            <a:r>
              <a:rPr kumimoji="0" lang="zh-CN" altLang="en-US" sz="20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			   </a:t>
            </a:r>
            <a:r>
              <a:rPr kumimoji="0" lang="en-US" altLang="zh-CN" sz="20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AB</a:t>
            </a:r>
            <a:r>
              <a:rPr kumimoji="0" lang="en-US" altLang="zh-CN" sz="20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C</a:t>
            </a:r>
            <a:r>
              <a:rPr kumimoji="0" lang="en-US" altLang="zh-CN" sz="20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a:t>
            </a:r>
            <a:r>
              <a:rPr kumimoji="0" lang="en-US" altLang="zh-CN" sz="2000" b="1" i="0" u="none" strike="noStrike" kern="1200" cap="none" spc="0" normalizeH="0" baseline="0" noProof="1">
                <a:solidFill>
                  <a:srgbClr val="0066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AB</a:t>
            </a:r>
            <a:r>
              <a:rPr kumimoji="0" lang="en-US" altLang="zh-CN" sz="2000" b="1" i="0" u="sng"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C</a:t>
            </a:r>
            <a:r>
              <a:rPr kumimoji="0" lang="en-US" altLang="zh-CN" sz="20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 	</a:t>
            </a:r>
          </a:p>
          <a:p>
            <a:pPr marL="742950" marR="0" lvl="1" indent="-285750" algn="l" defTabSz="914400" rtl="0" eaLnBrk="1" fontAlgn="base" latinLnBrk="0" hangingPunct="1">
              <a:lnSpc>
                <a:spcPct val="100000"/>
              </a:lnSpc>
              <a:spcBef>
                <a:spcPct val="20000"/>
              </a:spcBef>
              <a:spcAft>
                <a:spcPct val="0"/>
              </a:spcAft>
              <a:buSzPct val="80000"/>
              <a:buNone/>
            </a:pPr>
            <a:r>
              <a:rPr kumimoji="0" lang="en-US" altLang="zh-CN" sz="20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			      BD		</a:t>
            </a:r>
            <a:r>
              <a:rPr kumimoji="0" lang="en-US" altLang="zh-CN" sz="2000" b="1" i="0" u="none" strike="noStrike" kern="1200" cap="none" spc="0" normalizeH="0" baseline="0" noProof="1">
                <a:solidFill>
                  <a:srgbClr val="0066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AB</a:t>
            </a:r>
            <a:r>
              <a:rPr kumimoji="0" lang="en-US" altLang="zh-CN" sz="2000" b="1" i="0" u="sng" strike="noStrike" kern="1200" cap="none" spc="0" normalizeH="0" baseline="0" noProof="1">
                <a:solidFill>
                  <a:srgbClr val="0066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C</a:t>
            </a:r>
            <a:r>
              <a:rPr kumimoji="0" lang="en-US" altLang="zh-CN" sz="2000" b="1" i="0" u="sng"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D</a:t>
            </a:r>
          </a:p>
          <a:p>
            <a:pPr marL="742950" marR="0" lvl="1" indent="-285750" algn="l" defTabSz="914400" rtl="0" eaLnBrk="1" fontAlgn="base" latinLnBrk="0" hangingPunct="1">
              <a:lnSpc>
                <a:spcPct val="100000"/>
              </a:lnSpc>
              <a:spcBef>
                <a:spcPct val="20000"/>
              </a:spcBef>
              <a:spcAft>
                <a:spcPct val="0"/>
              </a:spcAft>
              <a:buSzPct val="80000"/>
              <a:buNone/>
            </a:pPr>
            <a:r>
              <a:rPr kumimoji="0" lang="en-US" altLang="zh-CN" sz="20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			      CE		</a:t>
            </a:r>
            <a:r>
              <a:rPr kumimoji="0" lang="en-US" altLang="zh-CN" sz="2000" b="1" i="0" u="none" strike="noStrike" kern="1200" cap="none" spc="0" normalizeH="0" baseline="0" noProof="1">
                <a:solidFill>
                  <a:srgbClr val="0066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AB</a:t>
            </a:r>
            <a:r>
              <a:rPr kumimoji="0" lang="en-US" altLang="zh-CN" sz="2000" b="1" i="0" u="sng" strike="noStrike" kern="1200" cap="none" spc="0" normalizeH="0" baseline="0" noProof="1">
                <a:solidFill>
                  <a:srgbClr val="0066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CD</a:t>
            </a:r>
            <a:r>
              <a:rPr kumimoji="0" lang="en-US" altLang="zh-CN" sz="2000" b="1" i="0" u="sng"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E</a:t>
            </a:r>
          </a:p>
          <a:p>
            <a:pPr marL="742950" marR="0" lvl="1" indent="-285750" algn="l" defTabSz="914400" rtl="0" eaLnBrk="1" fontAlgn="base" latinLnBrk="0" hangingPunct="1">
              <a:lnSpc>
                <a:spcPct val="100000"/>
              </a:lnSpc>
              <a:spcBef>
                <a:spcPct val="40000"/>
              </a:spcBef>
              <a:spcAft>
                <a:spcPct val="0"/>
              </a:spcAft>
              <a:buSzPct val="80000"/>
              <a:buNone/>
            </a:pPr>
            <a:r>
              <a:rPr kumimoji="0" lang="en-US" altLang="zh-CN" sz="20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			        </a:t>
            </a:r>
            <a:r>
              <a:rPr kumimoji="0" lang="zh-CN" altLang="en-US" sz="2000" b="1" i="0" u="none" strike="noStrike" kern="1200" cap="none" spc="0" normalizeH="0" baseline="0" noProof="1">
                <a:solidFill>
                  <a:srgbClr val="990033"/>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000" b="1" i="0" u="none" strike="noStrike" kern="1200" cap="none" spc="0" normalizeH="0" baseline="0" noProof="1">
                <a:solidFill>
                  <a:srgbClr val="990033"/>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AB)</a:t>
            </a:r>
            <a:r>
              <a:rPr kumimoji="0" lang="en-US" altLang="zh-CN" sz="2000" b="1" i="0" u="none" strike="noStrike" kern="1200" cap="none" spc="0" normalizeH="0" baseline="30000" noProof="1">
                <a:solidFill>
                  <a:srgbClr val="990033"/>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000" b="1" i="0" u="none" strike="noStrike" kern="1200" cap="none" spc="0" normalizeH="0" baseline="0" noProof="1">
                <a:solidFill>
                  <a:srgbClr val="000000"/>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 = ABCDE</a:t>
            </a:r>
          </a:p>
        </p:txBody>
      </p:sp>
      <p:sp>
        <p:nvSpPr>
          <p:cNvPr id="233475" name="Line 3"/>
          <p:cNvSpPr>
            <a:spLocks noChangeShapeType="1"/>
          </p:cNvSpPr>
          <p:nvPr/>
        </p:nvSpPr>
        <p:spPr bwMode="auto">
          <a:xfrm>
            <a:off x="1098550" y="2887663"/>
            <a:ext cx="6324600" cy="0"/>
          </a:xfrm>
          <a:prstGeom prst="line">
            <a:avLst/>
          </a:prstGeom>
          <a:noFill/>
          <a:ln w="76200" cmpd="tri">
            <a:solidFill>
              <a:srgbClr val="000099"/>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233476" name="Line 4"/>
          <p:cNvSpPr>
            <a:spLocks noChangeShapeType="1"/>
          </p:cNvSpPr>
          <p:nvPr/>
        </p:nvSpPr>
        <p:spPr bwMode="auto">
          <a:xfrm>
            <a:off x="1096963" y="4090988"/>
            <a:ext cx="6324600" cy="0"/>
          </a:xfrm>
          <a:prstGeom prst="line">
            <a:avLst/>
          </a:prstGeom>
          <a:noFill/>
          <a:ln w="76200" cmpd="tri">
            <a:solidFill>
              <a:srgbClr val="000099"/>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75780" name="Rectangle 5"/>
          <p:cNvSpPr>
            <a:spLocks noGrp="1"/>
          </p:cNvSpPr>
          <p:nvPr>
            <p:ph type="title"/>
          </p:nvPr>
        </p:nvSpPr>
        <p:spPr>
          <a:xfrm>
            <a:off x="701675" y="15240"/>
            <a:ext cx="8289925" cy="762000"/>
          </a:xfrm>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Example of Attribute Set Closure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p:cNvSpPr>
            <a:spLocks noGrp="1" noChangeArrowheads="1"/>
          </p:cNvSpPr>
          <p:nvPr>
            <p:ph idx="1"/>
          </p:nvPr>
        </p:nvSpPr>
        <p:spPr>
          <a:xfrm>
            <a:off x="814388" y="1093788"/>
            <a:ext cx="7661275" cy="4903788"/>
          </a:xfrm>
        </p:spPr>
        <p:txBody>
          <a:bodyPr vert="horz" wrap="square" lIns="91440" tIns="45720" rIns="91440" bIns="45720" numCol="1" anchor="t" anchorCtr="0" compatLnSpc="1"/>
          <a:lstStyle/>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示例3</a:t>
            </a: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None/>
            </a:pP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	</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R&lt; U, F &gt;, U = (A, B, C, D, E, G), F = {A</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E</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 BE</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AG, CEA, GD},</a:t>
            </a: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计算</a:t>
            </a:r>
            <a:r>
              <a:rPr kumimoji="1" lang="zh-CN" altLang="en-US" sz="2000" b="1" i="0" u="none" strike="noStrike" kern="0" cap="none" spc="0" normalizeH="0" baseline="0" noProof="1">
                <a:solidFill>
                  <a:srgbClr val="990033"/>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a:t>
            </a:r>
            <a:r>
              <a:rPr kumimoji="1" lang="en-US" altLang="zh-CN" sz="2000" b="1" i="0" u="none" strike="noStrike" kern="0" cap="none" spc="0" normalizeH="0" baseline="0" noProof="1">
                <a:solidFill>
                  <a:srgbClr val="990033"/>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AB)</a:t>
            </a:r>
            <a:r>
              <a:rPr kumimoji="1" lang="en-US" altLang="zh-CN" sz="2000" b="1" i="0" u="none" strike="noStrike" kern="0" cap="none" spc="0" normalizeH="0" baseline="30000" noProof="1">
                <a:solidFill>
                  <a:srgbClr val="990033"/>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a:t>
            </a:r>
            <a:endPar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endParaRP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None/>
            </a:pP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			</a:t>
            </a: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None/>
            </a:pP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			所用依赖	         </a:t>
            </a:r>
            <a:r>
              <a:rPr kumimoji="1" lang="zh-CN" altLang="en-US" sz="2000" b="1" i="0" u="none" strike="noStrike" kern="0" cap="none" spc="0" normalizeH="0" baseline="0" noProof="1">
                <a:solidFill>
                  <a:srgbClr val="990033"/>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a:t>
            </a:r>
            <a:r>
              <a:rPr kumimoji="1" lang="en-US" altLang="zh-CN" sz="2000" b="1" i="0" u="none" strike="noStrike" kern="0" cap="none" spc="0" normalizeH="0" baseline="0" noProof="1">
                <a:solidFill>
                  <a:srgbClr val="990033"/>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AB)</a:t>
            </a:r>
            <a:r>
              <a:rPr kumimoji="1" lang="en-US" altLang="zh-CN" sz="2000" b="1" i="0" u="none" strike="noStrike" kern="0" cap="none" spc="0" normalizeH="0" baseline="30000" noProof="1">
                <a:solidFill>
                  <a:srgbClr val="990033"/>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a:t>
            </a:r>
            <a:endPar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endParaRPr>
          </a:p>
          <a:p>
            <a:pPr marL="742950" marR="0" lvl="1" indent="-285750" algn="l" defTabSz="914400" rtl="0" eaLnBrk="0" fontAlgn="base" latinLnBrk="0" hangingPunct="0">
              <a:lnSpc>
                <a:spcPct val="100000"/>
              </a:lnSpc>
              <a:spcBef>
                <a:spcPct val="60000"/>
              </a:spcBef>
              <a:spcAft>
                <a:spcPct val="0"/>
              </a:spcAft>
              <a:buClr>
                <a:schemeClr val="folHlink"/>
              </a:buClr>
              <a:buSzPct val="80000"/>
              <a:buFont typeface="Monotype Sorts" charset="0"/>
              <a:buNone/>
            </a:pPr>
            <a:r>
              <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			   </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A</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E</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		         </a:t>
            </a:r>
            <a:r>
              <a:rPr kumimoji="1" lang="en-US" altLang="zh-CN" sz="2000" b="1" i="0" u="none" strike="noStrike" kern="0" cap="none" spc="0" normalizeH="0" baseline="0" noProof="1">
                <a:solidFill>
                  <a:srgbClr val="006600"/>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AB</a:t>
            </a:r>
            <a:r>
              <a:rPr kumimoji="1" lang="en-US" altLang="zh-CN" sz="2000" b="1" i="0" u="sng"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E</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 	</a:t>
            </a: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None/>
            </a:pP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			 BEAG	         </a:t>
            </a:r>
            <a:r>
              <a:rPr kumimoji="1" lang="en-US" altLang="zh-CN" sz="2000" b="1" i="0" u="none" strike="noStrike" kern="0" cap="none" spc="0" normalizeH="0" baseline="0" noProof="1">
                <a:solidFill>
                  <a:srgbClr val="006600"/>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ABE</a:t>
            </a:r>
            <a:r>
              <a:rPr kumimoji="1" lang="en-US" altLang="zh-CN" sz="2000" b="1" i="0" u="sng"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G</a:t>
            </a: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None/>
            </a:pP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			   GD		         </a:t>
            </a:r>
            <a:r>
              <a:rPr kumimoji="1" lang="en-US" altLang="zh-CN" sz="2000" b="1" i="0" u="none" strike="noStrike" kern="0" cap="none" spc="0" normalizeH="0" baseline="0" noProof="1">
                <a:solidFill>
                  <a:srgbClr val="006600"/>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ABEG</a:t>
            </a:r>
            <a:r>
              <a:rPr kumimoji="1" lang="en-US" altLang="zh-CN" sz="2000" b="1" i="0" u="sng"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D</a:t>
            </a:r>
          </a:p>
          <a:p>
            <a:pPr marL="742950" marR="0" lvl="1" indent="-285750" algn="l" defTabSz="914400" rtl="0" eaLnBrk="0" fontAlgn="base" latinLnBrk="0" hangingPunct="0">
              <a:lnSpc>
                <a:spcPct val="100000"/>
              </a:lnSpc>
              <a:spcBef>
                <a:spcPct val="40000"/>
              </a:spcBef>
              <a:spcAft>
                <a:spcPct val="0"/>
              </a:spcAft>
              <a:buClr>
                <a:schemeClr val="folHlink"/>
              </a:buClr>
              <a:buSzPct val="80000"/>
              <a:buFont typeface="Monotype Sorts" charset="0"/>
              <a:buNone/>
            </a:pP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			      </a:t>
            </a:r>
            <a:r>
              <a:rPr kumimoji="1" lang="zh-CN" altLang="en-US" sz="2000" b="1" i="0" u="none" strike="noStrike" kern="0" cap="none" spc="0" normalizeH="0" baseline="0" noProof="1">
                <a:solidFill>
                  <a:srgbClr val="990033"/>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a:t>
            </a:r>
            <a:r>
              <a:rPr kumimoji="1" lang="en-US" altLang="zh-CN" sz="2000" b="1" i="0" u="none" strike="noStrike" kern="0" cap="none" spc="0" normalizeH="0" baseline="0" noProof="1">
                <a:solidFill>
                  <a:srgbClr val="990033"/>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AB)</a:t>
            </a:r>
            <a:r>
              <a:rPr kumimoji="1" lang="en-US" altLang="zh-CN" sz="2000" b="1" i="0" u="none" strike="noStrike" kern="0" cap="none" spc="0" normalizeH="0" baseline="30000" noProof="1">
                <a:solidFill>
                  <a:srgbClr val="990033"/>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a:t>
            </a:r>
            <a:r>
              <a:rPr kumimoji="1" lang="en-US" altLang="zh-CN"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rPr>
              <a:t> = ABEGD</a:t>
            </a:r>
            <a:endParaRPr kumimoji="1" lang="zh-CN" altLang="en-US" sz="20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sym typeface="Symbol" panose="05050102010706020507" charset="2"/>
            </a:endParaRPr>
          </a:p>
        </p:txBody>
      </p:sp>
      <p:sp>
        <p:nvSpPr>
          <p:cNvPr id="234499" name="Line 3"/>
          <p:cNvSpPr>
            <a:spLocks noChangeShapeType="1"/>
          </p:cNvSpPr>
          <p:nvPr/>
        </p:nvSpPr>
        <p:spPr bwMode="auto">
          <a:xfrm>
            <a:off x="1387475" y="3152775"/>
            <a:ext cx="6324600" cy="0"/>
          </a:xfrm>
          <a:prstGeom prst="line">
            <a:avLst/>
          </a:prstGeom>
          <a:noFill/>
          <a:ln w="76200" cmpd="tri">
            <a:solidFill>
              <a:srgbClr val="000099"/>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234500" name="Line 4"/>
          <p:cNvSpPr>
            <a:spLocks noChangeShapeType="1"/>
          </p:cNvSpPr>
          <p:nvPr/>
        </p:nvSpPr>
        <p:spPr bwMode="auto">
          <a:xfrm>
            <a:off x="1384300" y="4408488"/>
            <a:ext cx="6324600" cy="0"/>
          </a:xfrm>
          <a:prstGeom prst="line">
            <a:avLst/>
          </a:prstGeom>
          <a:noFill/>
          <a:ln w="76200" cmpd="tri">
            <a:solidFill>
              <a:srgbClr val="000099"/>
            </a:solidFill>
            <a:rou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76804" name="Rectangle 5"/>
          <p:cNvSpPr>
            <a:spLocks noGrp="1"/>
          </p:cNvSpPr>
          <p:nvPr>
            <p:ph type="title"/>
          </p:nvPr>
        </p:nvSpPr>
        <p:spPr>
          <a:xfrm>
            <a:off x="0" y="152400"/>
            <a:ext cx="9144000" cy="762000"/>
          </a:xfrm>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Example of Attribute Set Closure</a:t>
            </a:r>
          </a:p>
        </p:txBody>
      </p:sp>
      <p:sp>
        <p:nvSpPr>
          <p:cNvPr id="76805" name="文本框 3"/>
          <p:cNvSpPr txBox="1"/>
          <p:nvPr/>
        </p:nvSpPr>
        <p:spPr>
          <a:xfrm>
            <a:off x="8589963" y="19050"/>
            <a:ext cx="573087" cy="338138"/>
          </a:xfrm>
          <a:prstGeom prst="rect">
            <a:avLst/>
          </a:prstGeom>
          <a:noFill/>
          <a:ln w="9525">
            <a:noFill/>
          </a:ln>
        </p:spPr>
        <p:txBody>
          <a:bodyPr wrap="none" anchor="t">
            <a:spAutoFit/>
          </a:bodyPr>
          <a:lstStyle/>
          <a:p>
            <a:pPr eaLnBrk="0" hangingPunct="0"/>
            <a:r>
              <a:rPr lang="en-US" altLang="zh-CN" dirty="0">
                <a:solidFill>
                  <a:srgbClr val="666699"/>
                </a:solidFill>
                <a:latin typeface="Helvetica" panose="020B0604020202030204" charset="0"/>
              </a:rPr>
              <a:t>next</a:t>
            </a:r>
            <a:endParaRPr lang="zh-CN" altLang="en-US" dirty="0">
              <a:solidFill>
                <a:srgbClr val="666699"/>
              </a:solidFill>
              <a:latin typeface="Helvetica" panose="020B060402020203020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1682" name="Rectangle 2"/>
          <p:cNvSpPr>
            <a:spLocks noGrp="1" noChangeArrowheads="1"/>
          </p:cNvSpPr>
          <p:nvPr>
            <p:ph type="title"/>
          </p:nvPr>
        </p:nvSpPr>
        <p:spPr>
          <a:xfrm>
            <a:off x="952500" y="201613"/>
            <a:ext cx="80772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Uses of Attribute Closure</a:t>
            </a:r>
          </a:p>
        </p:txBody>
      </p:sp>
      <p:sp>
        <p:nvSpPr>
          <p:cNvPr id="711683" name="Rectangle 3"/>
          <p:cNvSpPr>
            <a:spLocks noGrp="1"/>
          </p:cNvSpPr>
          <p:nvPr>
            <p:ph type="body"/>
          </p:nvPr>
        </p:nvSpPr>
        <p:spPr>
          <a:xfrm>
            <a:off x="133350" y="1055688"/>
            <a:ext cx="8813800" cy="4903787"/>
          </a:xfrm>
        </p:spPr>
        <p:txBody>
          <a:bodyPr wrap="square" lIns="91440" tIns="45720" rIns="91440" bIns="45720" anchor="t"/>
          <a:lstStyle/>
          <a:p>
            <a:pPr marL="342900" indent="-342900" algn="l">
              <a:spcBef>
                <a:spcPct val="0"/>
              </a:spcBef>
              <a:buFont typeface="Arial" panose="020B0604020202020204" pitchFamily="34" charset="0"/>
              <a:buChar char="•"/>
            </a:pPr>
            <a:r>
              <a:rPr lang="en-US" altLang="zh-CN" sz="2400" dirty="0">
                <a:solidFill>
                  <a:schemeClr val="tx1"/>
                </a:solidFill>
              </a:rPr>
              <a:t>There are several uses of the attribute closure algorithm:</a:t>
            </a:r>
          </a:p>
          <a:p>
            <a:pPr marL="342900" lvl="1" indent="-342900" algn="l">
              <a:buFont typeface="Arial" panose="020B0604020202020204" pitchFamily="34" charset="0"/>
              <a:buChar char="•"/>
            </a:pPr>
            <a:r>
              <a:rPr lang="en-US" altLang="zh-CN" sz="2400" b="1" i="1" u="sng" dirty="0">
                <a:solidFill>
                  <a:srgbClr val="C00000"/>
                </a:solidFill>
              </a:rPr>
              <a:t>Testing for </a:t>
            </a:r>
            <a:r>
              <a:rPr lang="en-US" altLang="zh-CN" sz="2400" b="1" i="1" u="sng" dirty="0" err="1">
                <a:solidFill>
                  <a:srgbClr val="C00000"/>
                </a:solidFill>
              </a:rPr>
              <a:t>superkey</a:t>
            </a:r>
            <a:r>
              <a:rPr lang="en-US" altLang="zh-CN" sz="2400" b="1" i="1" u="sng" dirty="0">
                <a:solidFill>
                  <a:srgbClr val="C00000"/>
                </a:solidFill>
              </a:rPr>
              <a:t>:</a:t>
            </a:r>
          </a:p>
          <a:p>
            <a:pPr marL="800100" lvl="5" indent="-342900" algn="l">
              <a:buFont typeface="Arial" panose="020B0604020202020204" pitchFamily="34" charset="0"/>
              <a:buChar char="•"/>
            </a:pPr>
            <a:r>
              <a:rPr lang="en-US" altLang="zh-CN" sz="2400" dirty="0">
                <a:solidFill>
                  <a:schemeClr val="tx1"/>
                </a:solidFill>
              </a:rPr>
              <a:t>To test if </a:t>
            </a:r>
            <a:r>
              <a:rPr lang="en-US" altLang="zh-CN" sz="2400" dirty="0">
                <a:solidFill>
                  <a:schemeClr val="tx1"/>
                </a:solidFill>
                <a:sym typeface="Symbol" panose="05050102010706020507" charset="2"/>
              </a:rPr>
              <a:t> is a </a:t>
            </a:r>
            <a:r>
              <a:rPr lang="en-US" altLang="zh-CN" sz="2400" dirty="0" err="1">
                <a:solidFill>
                  <a:schemeClr val="tx1"/>
                </a:solidFill>
                <a:sym typeface="Symbol" panose="05050102010706020507" charset="2"/>
              </a:rPr>
              <a:t>superkey</a:t>
            </a:r>
            <a:r>
              <a:rPr lang="en-US" altLang="zh-CN" sz="2400" dirty="0">
                <a:solidFill>
                  <a:schemeClr val="tx1"/>
                </a:solidFill>
                <a:sym typeface="Symbol" panose="05050102010706020507" charset="2"/>
              </a:rPr>
              <a:t>, we </a:t>
            </a:r>
            <a:r>
              <a:rPr lang="en-US" altLang="zh-CN" sz="2400" dirty="0">
                <a:solidFill>
                  <a:srgbClr val="000099"/>
                </a:solidFill>
                <a:sym typeface="Symbol" panose="05050102010706020507" charset="2"/>
              </a:rPr>
              <a:t>compute </a:t>
            </a:r>
            <a:r>
              <a:rPr lang="en-US" altLang="zh-CN" sz="2400" baseline="30000" dirty="0">
                <a:solidFill>
                  <a:srgbClr val="000099"/>
                </a:solidFill>
                <a:sym typeface="Symbol" panose="05050102010706020507" charset="2"/>
              </a:rPr>
              <a:t>+</a:t>
            </a:r>
            <a:r>
              <a:rPr lang="en-US" altLang="zh-CN" sz="2400" baseline="30000" dirty="0">
                <a:solidFill>
                  <a:schemeClr val="tx1"/>
                </a:solidFill>
                <a:sym typeface="Symbol" panose="05050102010706020507" charset="2"/>
              </a:rPr>
              <a:t>,</a:t>
            </a:r>
            <a:r>
              <a:rPr lang="en-US" altLang="zh-CN" sz="2400" dirty="0">
                <a:solidFill>
                  <a:schemeClr val="tx1"/>
                </a:solidFill>
                <a:sym typeface="Symbol" panose="05050102010706020507" charset="2"/>
              </a:rPr>
              <a:t> and check if </a:t>
            </a:r>
            <a:r>
              <a:rPr lang="en-US" altLang="zh-CN" sz="2400" baseline="30000" dirty="0">
                <a:solidFill>
                  <a:schemeClr val="tx1"/>
                </a:solidFill>
                <a:sym typeface="Symbol" panose="05050102010706020507" charset="2"/>
              </a:rPr>
              <a:t>+ </a:t>
            </a:r>
            <a:r>
              <a:rPr lang="en-US" altLang="zh-CN" sz="2400" dirty="0">
                <a:solidFill>
                  <a:schemeClr val="tx1"/>
                </a:solidFill>
                <a:sym typeface="Symbol" panose="05050102010706020507" charset="2"/>
              </a:rPr>
              <a:t>contains all attributes of </a:t>
            </a:r>
            <a:r>
              <a:rPr lang="en-US" altLang="zh-CN" sz="2400" i="1" dirty="0">
                <a:solidFill>
                  <a:schemeClr val="tx1"/>
                </a:solidFill>
                <a:sym typeface="Symbol" panose="05050102010706020507" charset="2"/>
              </a:rPr>
              <a:t>R</a:t>
            </a:r>
            <a:r>
              <a:rPr lang="en-US" altLang="zh-CN" sz="2400" dirty="0">
                <a:solidFill>
                  <a:schemeClr val="tx1"/>
                </a:solidFill>
                <a:sym typeface="Symbol" panose="05050102010706020507" charset="2"/>
              </a:rPr>
              <a:t>.</a:t>
            </a:r>
          </a:p>
          <a:p>
            <a:pPr marL="342900" indent="-342900" algn="l">
              <a:spcBef>
                <a:spcPct val="0"/>
              </a:spcBef>
              <a:buFont typeface="Arial" panose="020B0604020202020204" pitchFamily="34" charset="0"/>
              <a:buChar char="•"/>
            </a:pPr>
            <a:r>
              <a:rPr lang="en-US" altLang="zh-CN" sz="2400" b="1" i="1" u="sng" dirty="0">
                <a:solidFill>
                  <a:srgbClr val="C00000"/>
                </a:solidFill>
                <a:sym typeface="Symbol" panose="05050102010706020507" charset="2"/>
              </a:rPr>
              <a:t>Testing functional dependencies</a:t>
            </a:r>
          </a:p>
          <a:p>
            <a:pPr marL="800100" lvl="5" indent="-342900" algn="l">
              <a:buFont typeface="Arial" panose="020B0604020202020204" pitchFamily="34" charset="0"/>
              <a:buChar char="•"/>
            </a:pPr>
            <a:r>
              <a:rPr lang="en-US" altLang="zh-CN" sz="2400" dirty="0">
                <a:solidFill>
                  <a:schemeClr val="tx1"/>
                </a:solidFill>
                <a:sym typeface="Symbol" panose="05050102010706020507" charset="2"/>
              </a:rPr>
              <a:t>To check if a functional dependency    holds (or, in other words, is in F</a:t>
            </a:r>
            <a:r>
              <a:rPr lang="en-US" altLang="zh-CN" sz="2400" baseline="30000" dirty="0">
                <a:solidFill>
                  <a:schemeClr val="tx1"/>
                </a:solidFill>
                <a:sym typeface="Symbol" panose="05050102010706020507" charset="2"/>
              </a:rPr>
              <a:t>+</a:t>
            </a:r>
            <a:r>
              <a:rPr lang="en-US" altLang="zh-CN" sz="2400" dirty="0">
                <a:solidFill>
                  <a:schemeClr val="tx1"/>
                </a:solidFill>
                <a:sym typeface="Symbol" panose="05050102010706020507" charset="2"/>
              </a:rPr>
              <a:t>), </a:t>
            </a:r>
            <a:r>
              <a:rPr lang="en-US" altLang="zh-CN" sz="2400" dirty="0">
                <a:solidFill>
                  <a:srgbClr val="000099"/>
                </a:solidFill>
                <a:sym typeface="Symbol" panose="05050102010706020507" charset="2"/>
              </a:rPr>
              <a:t>just check if   </a:t>
            </a:r>
            <a:r>
              <a:rPr lang="en-US" altLang="zh-CN" sz="2400" baseline="30000" dirty="0">
                <a:solidFill>
                  <a:srgbClr val="000099"/>
                </a:solidFill>
                <a:sym typeface="Symbol" panose="05050102010706020507" charset="2"/>
              </a:rPr>
              <a:t>+</a:t>
            </a:r>
            <a:r>
              <a:rPr lang="en-US" altLang="zh-CN" sz="2400" dirty="0">
                <a:solidFill>
                  <a:srgbClr val="000099"/>
                </a:solidFill>
                <a:sym typeface="Symbol" panose="05050102010706020507" charset="2"/>
              </a:rPr>
              <a:t>. </a:t>
            </a:r>
          </a:p>
          <a:p>
            <a:pPr marL="800100" lvl="5" indent="-342900" algn="l">
              <a:buFont typeface="Arial" panose="020B0604020202020204" pitchFamily="34" charset="0"/>
              <a:buChar char="•"/>
            </a:pPr>
            <a:r>
              <a:rPr lang="en-US" altLang="zh-CN" sz="2400" dirty="0">
                <a:solidFill>
                  <a:schemeClr val="tx1"/>
                </a:solidFill>
                <a:sym typeface="Symbol" panose="05050102010706020507" charset="2"/>
              </a:rPr>
              <a:t>compute </a:t>
            </a:r>
            <a:r>
              <a:rPr lang="en-US" altLang="zh-CN" sz="2400" baseline="30000" dirty="0">
                <a:solidFill>
                  <a:schemeClr val="tx1"/>
                </a:solidFill>
                <a:sym typeface="Symbol" panose="05050102010706020507" charset="2"/>
              </a:rPr>
              <a:t>+ </a:t>
            </a:r>
            <a:r>
              <a:rPr lang="en-US" altLang="zh-CN" sz="2400" dirty="0">
                <a:solidFill>
                  <a:schemeClr val="tx1"/>
                </a:solidFill>
                <a:sym typeface="Symbol" panose="05050102010706020507" charset="2"/>
              </a:rPr>
              <a:t>by using attribute closure, and then check if it contains . </a:t>
            </a:r>
          </a:p>
          <a:p>
            <a:pPr marL="800100" lvl="5" indent="-342900" algn="l">
              <a:buFont typeface="Arial" panose="020B0604020202020204" pitchFamily="34" charset="0"/>
              <a:buChar char="•"/>
            </a:pPr>
            <a:r>
              <a:rPr lang="en-US" altLang="zh-CN" sz="2400" b="1" dirty="0">
                <a:solidFill>
                  <a:srgbClr val="000099"/>
                </a:solidFill>
                <a:sym typeface="Symbol" panose="05050102010706020507" charset="2"/>
              </a:rPr>
              <a:t>Is a simple and cheap test, and very useful</a:t>
            </a:r>
          </a:p>
          <a:p>
            <a:pPr marL="342900" indent="-342900" algn="l">
              <a:spcBef>
                <a:spcPct val="0"/>
              </a:spcBef>
              <a:buFont typeface="Arial" panose="020B0604020202020204" pitchFamily="34" charset="0"/>
              <a:buChar char="•"/>
            </a:pPr>
            <a:r>
              <a:rPr lang="en-US" altLang="zh-CN" sz="2400" b="1" i="1" u="sng" dirty="0">
                <a:solidFill>
                  <a:srgbClr val="C00000"/>
                </a:solidFill>
                <a:sym typeface="Symbol" panose="05050102010706020507" charset="2"/>
              </a:rPr>
              <a:t>Computing closure of F</a:t>
            </a:r>
          </a:p>
          <a:p>
            <a:pPr marL="800100" lvl="5" indent="-342900" algn="l">
              <a:buFont typeface="Arial" panose="020B0604020202020204" pitchFamily="34" charset="0"/>
              <a:buChar char="•"/>
            </a:pPr>
            <a:r>
              <a:rPr lang="en-US" altLang="zh-CN" sz="2400" dirty="0">
                <a:solidFill>
                  <a:schemeClr val="tx1"/>
                </a:solidFill>
                <a:sym typeface="Symbol" panose="05050102010706020507" charset="2"/>
              </a:rPr>
              <a:t>For each   R, we find the closure </a:t>
            </a:r>
            <a:r>
              <a:rPr lang="en-US" altLang="zh-CN" sz="2400" baseline="30000" dirty="0">
                <a:solidFill>
                  <a:schemeClr val="tx1"/>
                </a:solidFill>
                <a:sym typeface="Symbol" panose="05050102010706020507" charset="2"/>
              </a:rPr>
              <a:t>+</a:t>
            </a:r>
            <a:r>
              <a:rPr lang="en-US" altLang="zh-CN" sz="2400" dirty="0">
                <a:solidFill>
                  <a:schemeClr val="tx1"/>
                </a:solidFill>
                <a:sym typeface="Symbol" panose="05050102010706020507" charset="2"/>
              </a:rPr>
              <a:t>, and for each </a:t>
            </a:r>
            <a:r>
              <a:rPr lang="en-US" altLang="zh-CN" sz="2400" dirty="0">
                <a:solidFill>
                  <a:srgbClr val="000099"/>
                </a:solidFill>
                <a:sym typeface="Symbol" panose="05050102010706020507" charset="2"/>
              </a:rPr>
              <a:t>S  </a:t>
            </a:r>
            <a:r>
              <a:rPr lang="en-US" altLang="zh-CN" sz="2400" baseline="30000" dirty="0">
                <a:solidFill>
                  <a:srgbClr val="000099"/>
                </a:solidFill>
                <a:sym typeface="Symbol" panose="05050102010706020507" charset="2"/>
              </a:rPr>
              <a:t>+</a:t>
            </a:r>
            <a:r>
              <a:rPr lang="en-US" altLang="zh-CN" sz="2400" dirty="0">
                <a:solidFill>
                  <a:schemeClr val="tx1"/>
                </a:solidFill>
                <a:sym typeface="Symbol" panose="05050102010706020507" charset="2"/>
              </a:rPr>
              <a:t>, we output a functional dependency </a:t>
            </a:r>
            <a:r>
              <a:rPr lang="en-US" altLang="zh-CN" sz="2400" dirty="0">
                <a:solidFill>
                  <a:srgbClr val="C00000"/>
                </a:solidFill>
                <a:sym typeface="Symbol" panose="05050102010706020507" charset="2"/>
              </a:rPr>
              <a:t>  S</a:t>
            </a:r>
            <a:r>
              <a:rPr lang="en-US" altLang="zh-CN" sz="2400" dirty="0">
                <a:solidFill>
                  <a:schemeClr val="tx1"/>
                </a:solidFill>
                <a:sym typeface="Symbol" panose="05050102010706020507" charset="2"/>
              </a:rPr>
              <a:t>.</a:t>
            </a:r>
            <a:endParaRPr lang="en-US" altLang="zh-CN" sz="24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11683">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711683">
                                            <p:txEl>
                                              <p:pRg st="1" end="1"/>
                                            </p:txEl>
                                          </p:spTgt>
                                        </p:tgtEl>
                                        <p:attrNameLst>
                                          <p:attrName>ppt_c</p:attrName>
                                        </p:attrNameLst>
                                      </p:cBhvr>
                                      <p:to>
                                        <a:srgbClr val="333333"/>
                                      </p:to>
                                    </p:animClr>
                                  </p:subTnLst>
                                </p:cTn>
                              </p:par>
                              <p:par>
                                <p:cTn id="7" presetID="1" presetClass="entr" presetSubtype="0" fill="hold" grpId="0" nodeType="withEffect">
                                  <p:stCondLst>
                                    <p:cond delay="0"/>
                                  </p:stCondLst>
                                  <p:childTnLst>
                                    <p:set>
                                      <p:cBhvr>
                                        <p:cTn id="8" dur="1" fill="hold">
                                          <p:stCondLst>
                                            <p:cond delay="499"/>
                                          </p:stCondLst>
                                        </p:cTn>
                                        <p:tgtEl>
                                          <p:spTgt spid="711683">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711683">
                                            <p:txEl>
                                              <p:pRg st="2" end="2"/>
                                            </p:txEl>
                                          </p:spTgt>
                                        </p:tgtEl>
                                        <p:attrNameLst>
                                          <p:attrName>ppt_c</p:attrName>
                                        </p:attrNameLst>
                                      </p:cBhvr>
                                      <p:to>
                                        <a:srgbClr val="333333"/>
                                      </p:to>
                                    </p:animClr>
                                  </p:sub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711683">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711683">
                                            <p:txEl>
                                              <p:pRg st="3" end="3"/>
                                            </p:txEl>
                                          </p:spTgt>
                                        </p:tgtEl>
                                        <p:attrNameLst>
                                          <p:attrName>ppt_c</p:attrName>
                                        </p:attrNameLst>
                                      </p:cBhvr>
                                      <p:to>
                                        <a:srgbClr val="333333"/>
                                      </p:to>
                                    </p:animClr>
                                  </p:subTnLst>
                                </p:cTn>
                              </p:par>
                              <p:par>
                                <p:cTn id="13" presetID="1" presetClass="entr" presetSubtype="0" fill="hold" grpId="0" nodeType="withEffect">
                                  <p:stCondLst>
                                    <p:cond delay="0"/>
                                  </p:stCondLst>
                                  <p:childTnLst>
                                    <p:set>
                                      <p:cBhvr>
                                        <p:cTn id="14" dur="1" fill="hold">
                                          <p:stCondLst>
                                            <p:cond delay="499"/>
                                          </p:stCondLst>
                                        </p:cTn>
                                        <p:tgtEl>
                                          <p:spTgt spid="711683">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711683">
                                            <p:txEl>
                                              <p:pRg st="4" end="4"/>
                                            </p:txEl>
                                          </p:spTgt>
                                        </p:tgtEl>
                                        <p:attrNameLst>
                                          <p:attrName>ppt_c</p:attrName>
                                        </p:attrNameLst>
                                      </p:cBhvr>
                                      <p:to>
                                        <a:srgbClr val="333333"/>
                                      </p:to>
                                    </p:animClr>
                                  </p:subTnLst>
                                </p:cTn>
                              </p:par>
                              <p:par>
                                <p:cTn id="15" presetID="1" presetClass="entr" presetSubtype="0" fill="hold" grpId="0" nodeType="withEffect">
                                  <p:stCondLst>
                                    <p:cond delay="0"/>
                                  </p:stCondLst>
                                  <p:childTnLst>
                                    <p:set>
                                      <p:cBhvr>
                                        <p:cTn id="16" dur="1" fill="hold">
                                          <p:stCondLst>
                                            <p:cond delay="499"/>
                                          </p:stCondLst>
                                        </p:cTn>
                                        <p:tgtEl>
                                          <p:spTgt spid="711683">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711683">
                                            <p:txEl>
                                              <p:pRg st="5" end="5"/>
                                            </p:txEl>
                                          </p:spTgt>
                                        </p:tgtEl>
                                        <p:attrNameLst>
                                          <p:attrName>ppt_c</p:attrName>
                                        </p:attrNameLst>
                                      </p:cBhvr>
                                      <p:to>
                                        <a:srgbClr val="333333"/>
                                      </p:to>
                                    </p:animClr>
                                  </p:subTnLst>
                                </p:cTn>
                              </p:par>
                              <p:par>
                                <p:cTn id="17" presetID="1" presetClass="entr" presetSubtype="0" fill="hold" grpId="0" nodeType="withEffect">
                                  <p:stCondLst>
                                    <p:cond delay="0"/>
                                  </p:stCondLst>
                                  <p:childTnLst>
                                    <p:set>
                                      <p:cBhvr>
                                        <p:cTn id="18" dur="1" fill="hold">
                                          <p:stCondLst>
                                            <p:cond delay="499"/>
                                          </p:stCondLst>
                                        </p:cTn>
                                        <p:tgtEl>
                                          <p:spTgt spid="711683">
                                            <p:txEl>
                                              <p:pRg st="6" end="6"/>
                                            </p:txEl>
                                          </p:spTgt>
                                        </p:tgtEl>
                                        <p:attrNameLst>
                                          <p:attrName>style.visibility</p:attrName>
                                        </p:attrNameLst>
                                      </p:cBhvr>
                                      <p:to>
                                        <p:strVal val="visible"/>
                                      </p:to>
                                    </p:set>
                                  </p:childTnLst>
                                  <p:subTnLst>
                                    <p:animClr clrSpc="rgb" dir="cw">
                                      <p:cBhvr override="childStyle">
                                        <p:cTn dur="1" fill="hold" display="0" masterRel="nextClick" afterEffect="1"/>
                                        <p:tgtEl>
                                          <p:spTgt spid="711683">
                                            <p:txEl>
                                              <p:pRg st="6" end="6"/>
                                            </p:txEl>
                                          </p:spTgt>
                                        </p:tgtEl>
                                        <p:attrNameLst>
                                          <p:attrName>ppt_c</p:attrName>
                                        </p:attrNameLst>
                                      </p:cBhvr>
                                      <p:to>
                                        <a:srgbClr val="333333"/>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711683">
                                            <p:txEl>
                                              <p:pRg st="7" end="7"/>
                                            </p:txEl>
                                          </p:spTgt>
                                        </p:tgtEl>
                                        <p:attrNameLst>
                                          <p:attrName>style.visibility</p:attrName>
                                        </p:attrNameLst>
                                      </p:cBhvr>
                                      <p:to>
                                        <p:strVal val="visible"/>
                                      </p:to>
                                    </p:set>
                                  </p:childTnLst>
                                  <p:subTnLst>
                                    <p:animClr clrSpc="rgb" dir="cw">
                                      <p:cBhvr override="childStyle">
                                        <p:cTn dur="1" fill="hold" display="0" masterRel="nextClick" afterEffect="1"/>
                                        <p:tgtEl>
                                          <p:spTgt spid="711683">
                                            <p:txEl>
                                              <p:pRg st="7" end="7"/>
                                            </p:txEl>
                                          </p:spTgt>
                                        </p:tgtEl>
                                        <p:attrNameLst>
                                          <p:attrName>ppt_c</p:attrName>
                                        </p:attrNameLst>
                                      </p:cBhvr>
                                      <p:to>
                                        <a:srgbClr val="333333"/>
                                      </p:to>
                                    </p:animClr>
                                  </p:subTnLst>
                                </p:cTn>
                              </p:par>
                              <p:par>
                                <p:cTn id="23" presetID="1" presetClass="entr" presetSubtype="0" fill="hold" grpId="0" nodeType="withEffect">
                                  <p:stCondLst>
                                    <p:cond delay="0"/>
                                  </p:stCondLst>
                                  <p:childTnLst>
                                    <p:set>
                                      <p:cBhvr>
                                        <p:cTn id="24" dur="1" fill="hold">
                                          <p:stCondLst>
                                            <p:cond delay="499"/>
                                          </p:stCondLst>
                                        </p:cTn>
                                        <p:tgtEl>
                                          <p:spTgt spid="711683">
                                            <p:txEl>
                                              <p:pRg st="8" end="8"/>
                                            </p:txEl>
                                          </p:spTgt>
                                        </p:tgtEl>
                                        <p:attrNameLst>
                                          <p:attrName>style.visibility</p:attrName>
                                        </p:attrNameLst>
                                      </p:cBhvr>
                                      <p:to>
                                        <p:strVal val="visible"/>
                                      </p:to>
                                    </p:set>
                                  </p:childTnLst>
                                  <p:subTnLst>
                                    <p:animClr clrSpc="rgb" dir="cw">
                                      <p:cBhvr override="childStyle">
                                        <p:cTn dur="1" fill="hold" display="0" masterRel="nextClick" afterEffect="1"/>
                                        <p:tgtEl>
                                          <p:spTgt spid="711683">
                                            <p:txEl>
                                              <p:pRg st="8" end="8"/>
                                            </p:txEl>
                                          </p:spTgt>
                                        </p:tgtEl>
                                        <p:attrNameLst>
                                          <p:attrName>ppt_c</p:attrName>
                                        </p:attrNameLst>
                                      </p:cBhvr>
                                      <p:to>
                                        <a:srgbClr val="333333"/>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168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zh-CN" altLang="en-US" sz="4800" b="1" i="0" u="none" strike="noStrike" kern="0" cap="none" spc="0" normalizeH="0" baseline="0" noProof="1">
                <a:solidFill>
                  <a:schemeClr val="tx2"/>
                </a:solidFill>
                <a:effectLst>
                  <a:outerShdw blurRad="38100" dist="38100" dir="2700000">
                    <a:srgbClr val="C0C0C0"/>
                  </a:outerShdw>
                </a:effectLst>
                <a:latin typeface="隶书" panose="02010509060101010101" pitchFamily="49" charset="-122"/>
                <a:ea typeface="隶书" panose="02010509060101010101" pitchFamily="49" charset="-122"/>
                <a:cs typeface="Arial" panose="020B0604020202020204"/>
              </a:rPr>
              <a:t>候选键的计算</a:t>
            </a:r>
          </a:p>
        </p:txBody>
      </p:sp>
      <p:sp>
        <p:nvSpPr>
          <p:cNvPr id="237571" name="Rectangle 3"/>
          <p:cNvSpPr>
            <a:spLocks noGrp="1" noChangeArrowheads="1"/>
          </p:cNvSpPr>
          <p:nvPr>
            <p:ph idx="1"/>
          </p:nvPr>
        </p:nvSpPr>
        <p:spPr>
          <a:xfrm>
            <a:off x="814388" y="1185228"/>
            <a:ext cx="7661275" cy="4903788"/>
          </a:xfrm>
        </p:spPr>
        <p:txBody>
          <a:bodyPr vert="horz" wrap="square" lIns="91440" tIns="45720" rIns="91440" bIns="45720" numCol="1" anchor="t" anchorCtr="0" compatLnSpc="1"/>
          <a:lstStyle/>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定义</a:t>
            </a: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左部属性，只出现在</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F</a:t>
            </a: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左边的属性</a:t>
            </a: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右部属性，只出现在</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F</a:t>
            </a: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右边的属性</a:t>
            </a: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双部属性，出现在</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F</a:t>
            </a: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两边的属性</a:t>
            </a: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外部属性，不出现在</a:t>
            </a:r>
            <a:r>
              <a:rPr kumimoji="1" lang="en-US" altLang="zh-CN"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F</a:t>
            </a: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中的属性</a:t>
            </a:r>
          </a:p>
          <a:p>
            <a:pPr marL="342900" marR="0" indent="-342900" algn="l" defTabSz="914400" rtl="0" eaLnBrk="0" fontAlgn="base" latinLnBrk="0" hangingPunct="0">
              <a:lnSpc>
                <a:spcPct val="100000"/>
              </a:lnSpc>
              <a:spcBef>
                <a:spcPct val="35000"/>
              </a:spcBef>
              <a:spcAft>
                <a:spcPct val="0"/>
              </a:spcAft>
              <a:buClr>
                <a:schemeClr val="tx2"/>
              </a:buClr>
              <a:buSzPct val="90000"/>
              <a:buFont typeface="Monotype Sorts" charset="0"/>
              <a:buChar char="n"/>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定理</a:t>
            </a: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左部属性一定出现在任何候选码中</a:t>
            </a: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右部属性一定不出现在任何候选码中</a:t>
            </a:r>
          </a:p>
          <a:p>
            <a:pPr marL="742950" marR="0" lvl="1" indent="-285750" algn="l" defTabSz="914400" rtl="0" eaLnBrk="0" fontAlgn="base" latinLnBrk="0" hangingPunct="0">
              <a:lnSpc>
                <a:spcPct val="100000"/>
              </a:lnSpc>
              <a:spcBef>
                <a:spcPct val="35000"/>
              </a:spcBef>
              <a:spcAft>
                <a:spcPct val="0"/>
              </a:spcAft>
              <a:buClr>
                <a:schemeClr val="folHlink"/>
              </a:buClr>
              <a:buSzPct val="80000"/>
              <a:buFont typeface="Monotype Sorts" charset="0"/>
              <a:buChar char="l"/>
            </a:pPr>
            <a:r>
              <a:rPr kumimoji="1" lang="zh-CN" altLang="en-US" sz="2400" b="1" i="0" u="none" strike="noStrike" kern="0" cap="none" spc="0" normalizeH="0" baseline="0" noProof="1">
                <a:solidFill>
                  <a:schemeClr val="tx1"/>
                </a:solidFill>
                <a:effectLst>
                  <a:outerShdw blurRad="38100" dist="38100" dir="2700000">
                    <a:srgbClr val="C0C0C0"/>
                  </a:outerShdw>
                </a:effectLst>
                <a:latin typeface="Arial" panose="020B0604020202020204"/>
                <a:ea typeface="幼圆" panose="02010509060101010101" pitchFamily="49" charset="-122"/>
                <a:cs typeface="Arial" panose="020B0604020202020204"/>
              </a:rPr>
              <a:t>外部属性一定出现在任何候选码中</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p:cNvSpPr>
            <a:spLocks noGrp="1"/>
          </p:cNvSpPr>
          <p:nvPr>
            <p:ph type="title"/>
          </p:nvPr>
        </p:nvSpPr>
        <p:spPr>
          <a:noFill/>
          <a:ln>
            <a:noFill/>
          </a:ln>
        </p:spPr>
        <p:txBody>
          <a:bodyPr vert="horz" wrap="square" lIns="91440" tIns="45720" rIns="91440" bIns="45720" numCol="1" rtlCol="0" anchor="b" anchorCtr="0" compatLnSpc="1">
            <a:normAutofit fontScale="90000"/>
          </a:bodyPr>
          <a:lstStyle/>
          <a:p>
            <a:pPr lvl="0" algn="ctr" defTabSz="914400">
              <a:buClrTx/>
              <a:buSzTx/>
              <a:buFontTx/>
            </a:pPr>
            <a:r>
              <a:rPr lang="zh-CN" altLang="en-US" sz="4800" dirty="0">
                <a:effectLst>
                  <a:outerShdw blurRad="38100" dist="38100" dir="2700000">
                    <a:srgbClr val="C0C0C0"/>
                  </a:outerShdw>
                </a:effectLst>
                <a:latin typeface="隶书" panose="02010509060101010101" pitchFamily="49" charset="-122"/>
                <a:ea typeface="隶书" panose="02010509060101010101" pitchFamily="49" charset="-122"/>
                <a:sym typeface="+mn-ea"/>
              </a:rPr>
              <a:t>候选键的计算</a:t>
            </a:r>
          </a:p>
        </p:txBody>
      </p:sp>
      <p:sp>
        <p:nvSpPr>
          <p:cNvPr id="238600" name="Rectangle 8"/>
          <p:cNvSpPr>
            <a:spLocks noChangeArrowheads="1"/>
          </p:cNvSpPr>
          <p:nvPr/>
        </p:nvSpPr>
        <p:spPr bwMode="auto">
          <a:xfrm>
            <a:off x="442913" y="1111250"/>
            <a:ext cx="8070850" cy="3808413"/>
          </a:xfrm>
          <a:prstGeom prst="rect">
            <a:avLst/>
          </a:prstGeom>
          <a:noFill/>
          <a:ln>
            <a:noFill/>
          </a:ln>
          <a:effectLst/>
        </p:spPr>
        <p:txBody>
          <a:bodyPr/>
          <a:lstStyle/>
          <a:p>
            <a:pPr marL="342900" marR="0" indent="-342900" algn="l" defTabSz="914400" rtl="0" eaLnBrk="0" fontAlgn="base" latinLnBrk="0" hangingPunct="0">
              <a:lnSpc>
                <a:spcPct val="100000"/>
              </a:lnSpc>
              <a:spcBef>
                <a:spcPct val="35000"/>
              </a:spcBef>
              <a:spcAft>
                <a:spcPct val="0"/>
              </a:spcAft>
              <a:buClr>
                <a:schemeClr val="tx2"/>
              </a:buClr>
              <a:buSzPct val="90000"/>
              <a:buFont typeface="Wingdings" panose="05000000000000000000" pitchFamily="2" charset="2"/>
              <a:buChar char="l"/>
            </a:pP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U = (C,T,H,R,S)</a:t>
            </a:r>
          </a:p>
          <a:p>
            <a:pPr marL="342900" marR="0" indent="-342900" algn="l" defTabSz="914400" rtl="0" eaLnBrk="0" fontAlgn="base" latinLnBrk="0" hangingPunct="0">
              <a:lnSpc>
                <a:spcPct val="100000"/>
              </a:lnSpc>
              <a:spcBef>
                <a:spcPct val="35000"/>
              </a:spcBef>
              <a:spcAft>
                <a:spcPct val="0"/>
              </a:spcAft>
              <a:buClr>
                <a:schemeClr val="tx2"/>
              </a:buClr>
              <a:buSzPct val="90000"/>
              <a:buFont typeface="Wingdings" panose="05000000000000000000" pitchFamily="2" charset="2"/>
              <a:buChar char="l"/>
            </a:pP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F = {C→T,HR→C,HT→R,HS→R}</a:t>
            </a:r>
          </a:p>
          <a:p>
            <a:pPr marL="342900" marR="0" indent="-342900" algn="l" defTabSz="914400" rtl="0" eaLnBrk="0" fontAlgn="base" latinLnBrk="0" hangingPunct="0">
              <a:lnSpc>
                <a:spcPct val="100000"/>
              </a:lnSpc>
              <a:spcBef>
                <a:spcPct val="35000"/>
              </a:spcBef>
              <a:spcAft>
                <a:spcPct val="0"/>
              </a:spcAft>
              <a:buClr>
                <a:schemeClr val="tx2"/>
              </a:buClr>
              <a:buSzPct val="90000"/>
              <a:buFont typeface="Wingdings" panose="05000000000000000000" pitchFamily="2" charset="2"/>
              <a:buChar char="l"/>
            </a:pP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给出</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R</a:t>
            </a: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的所有候选码：</a:t>
            </a:r>
            <a:endPar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a:p>
            <a:pPr marL="800100" lvl="1" indent="-342900" eaLnBrk="0" hangingPunct="0">
              <a:spcBef>
                <a:spcPct val="35000"/>
              </a:spcBef>
              <a:buClr>
                <a:schemeClr val="tx2"/>
              </a:buClr>
              <a:buSzPct val="90000"/>
              <a:buFont typeface="Wingdings" panose="05000000000000000000" pitchFamily="2" charset="2"/>
              <a:buChar char="u"/>
            </a:pP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出现在左边的属性：</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{C,T,H,R,S}</a:t>
            </a:r>
          </a:p>
          <a:p>
            <a:pPr marL="800100" lvl="1" indent="-342900" eaLnBrk="0" hangingPunct="0">
              <a:spcBef>
                <a:spcPct val="35000"/>
              </a:spcBef>
              <a:buClr>
                <a:schemeClr val="tx2"/>
              </a:buClr>
              <a:buSzPct val="90000"/>
              <a:buFont typeface="Wingdings" panose="05000000000000000000" pitchFamily="2" charset="2"/>
              <a:buChar char="u"/>
            </a:pP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出现在右边的属性：</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{C,T,R}</a:t>
            </a:r>
          </a:p>
          <a:p>
            <a:pPr marL="1257300" lvl="2" indent="-342900" eaLnBrk="0" hangingPunct="0">
              <a:spcBef>
                <a:spcPct val="35000"/>
              </a:spcBef>
              <a:buClr>
                <a:schemeClr val="tx2"/>
              </a:buClr>
              <a:buSzPct val="90000"/>
              <a:buFont typeface="Wingdings" panose="05000000000000000000" pitchFamily="2" charset="2"/>
              <a:buChar char="p"/>
            </a:pP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左部属性：</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{HS}</a:t>
            </a:r>
          </a:p>
          <a:p>
            <a:pPr marL="1257300" lvl="2" indent="-342900" eaLnBrk="0" hangingPunct="0">
              <a:spcBef>
                <a:spcPct val="35000"/>
              </a:spcBef>
              <a:buClr>
                <a:schemeClr val="tx2"/>
              </a:buClr>
              <a:buSzPct val="90000"/>
              <a:buFont typeface="Wingdings" panose="05000000000000000000" pitchFamily="2" charset="2"/>
              <a:buChar char="p"/>
            </a:pP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右部属性：</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t>
            </a:r>
          </a:p>
          <a:p>
            <a:pPr marL="1257300" lvl="2" indent="-342900" eaLnBrk="0" hangingPunct="0">
              <a:spcBef>
                <a:spcPct val="35000"/>
              </a:spcBef>
              <a:buClr>
                <a:schemeClr val="tx2"/>
              </a:buClr>
              <a:buSzPct val="90000"/>
              <a:buFont typeface="Wingdings" panose="05000000000000000000" pitchFamily="2" charset="2"/>
              <a:buChar char="p"/>
            </a:pP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双部属性：</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{C,T,R}</a:t>
            </a:r>
          </a:p>
        </p:txBody>
      </p:sp>
      <p:graphicFrame>
        <p:nvGraphicFramePr>
          <p:cNvPr id="80899" name="Object 9"/>
          <p:cNvGraphicFramePr>
            <a:graphicFrameLocks noChangeAspect="1"/>
          </p:cNvGraphicFramePr>
          <p:nvPr/>
        </p:nvGraphicFramePr>
        <p:xfrm>
          <a:off x="3001963" y="5308600"/>
          <a:ext cx="2452687" cy="523875"/>
        </p:xfrm>
        <a:graphic>
          <a:graphicData uri="http://schemas.openxmlformats.org/presentationml/2006/ole">
            <mc:AlternateContent xmlns:mc="http://schemas.openxmlformats.org/markup-compatibility/2006">
              <mc:Choice xmlns:v="urn:schemas-microsoft-com:vml" Requires="v">
                <p:oleObj spid="_x0000_s4111" r:id="rId3" imgW="1091565" imgH="228600" progId="Equations">
                  <p:embed/>
                </p:oleObj>
              </mc:Choice>
              <mc:Fallback>
                <p:oleObj r:id="rId3" imgW="1091565" imgH="228600" progId="Equations">
                  <p:embed/>
                  <p:pic>
                    <p:nvPicPr>
                      <p:cNvPr id="0" name="图片 3075"/>
                      <p:cNvPicPr/>
                      <p:nvPr/>
                    </p:nvPicPr>
                    <p:blipFill>
                      <a:blip r:embed="rId4"/>
                      <a:stretch>
                        <a:fillRect/>
                      </a:stretch>
                    </p:blipFill>
                    <p:spPr>
                      <a:xfrm>
                        <a:off x="3001963" y="5308600"/>
                        <a:ext cx="2452687" cy="523875"/>
                      </a:xfrm>
                      <a:prstGeom prst="rect">
                        <a:avLst/>
                      </a:prstGeom>
                      <a:noFill/>
                      <a:ln w="38100">
                        <a:noFill/>
                        <a:miter/>
                      </a:ln>
                    </p:spPr>
                  </p:pic>
                </p:oleObj>
              </mc:Fallback>
            </mc:AlternateContent>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p:cNvSpPr>
            <a:spLocks noGrp="1"/>
          </p:cNvSpPr>
          <p:nvPr>
            <p:ph type="title"/>
          </p:nvPr>
        </p:nvSpPr>
        <p:spPr>
          <a:noFill/>
          <a:ln>
            <a:noFill/>
          </a:ln>
        </p:spPr>
        <p:txBody>
          <a:bodyPr vert="horz" wrap="square" lIns="91440" tIns="45720" rIns="91440" bIns="45720" numCol="1" rtlCol="0" anchor="b" anchorCtr="0" compatLnSpc="1">
            <a:normAutofit fontScale="90000"/>
          </a:bodyPr>
          <a:lstStyle/>
          <a:p>
            <a:pPr lvl="0" algn="ctr" defTabSz="914400">
              <a:buClrTx/>
              <a:buSzTx/>
              <a:buFontTx/>
            </a:pPr>
            <a:r>
              <a:rPr lang="zh-CN" altLang="en-US" sz="4800" dirty="0">
                <a:effectLst>
                  <a:outerShdw blurRad="38100" dist="38100" dir="2700000">
                    <a:srgbClr val="C0C0C0"/>
                  </a:outerShdw>
                </a:effectLst>
                <a:latin typeface="隶书" panose="02010509060101010101" pitchFamily="49" charset="-122"/>
                <a:ea typeface="隶书" panose="02010509060101010101" pitchFamily="49" charset="-122"/>
                <a:sym typeface="+mn-ea"/>
              </a:rPr>
              <a:t>候选键的计算</a:t>
            </a:r>
          </a:p>
        </p:txBody>
      </p:sp>
      <p:sp>
        <p:nvSpPr>
          <p:cNvPr id="239619" name="Rectangle 3"/>
          <p:cNvSpPr>
            <a:spLocks noChangeArrowheads="1"/>
          </p:cNvSpPr>
          <p:nvPr/>
        </p:nvSpPr>
        <p:spPr bwMode="auto">
          <a:xfrm>
            <a:off x="265113" y="1239838"/>
            <a:ext cx="8607425" cy="4106863"/>
          </a:xfrm>
          <a:prstGeom prst="rect">
            <a:avLst/>
          </a:prstGeom>
          <a:noFill/>
          <a:ln>
            <a:noFill/>
          </a:ln>
          <a:effectLst/>
        </p:spPr>
        <p:txBody>
          <a:bodyPr/>
          <a:lstStyle/>
          <a:p>
            <a:pPr marL="342900" marR="0" indent="-342900" algn="l" defTabSz="914400" rtl="0" eaLnBrk="0" fontAlgn="base" latinLnBrk="0" hangingPunct="0">
              <a:lnSpc>
                <a:spcPct val="100000"/>
              </a:lnSpc>
              <a:spcBef>
                <a:spcPct val="35000"/>
              </a:spcBef>
              <a:spcAft>
                <a:spcPct val="0"/>
              </a:spcAft>
              <a:buClr>
                <a:schemeClr val="tx2"/>
              </a:buClr>
              <a:buSzPct val="90000"/>
              <a:buFont typeface="Wingdings" panose="05000000000000000000" pitchFamily="2" charset="2"/>
              <a:buChar char="l"/>
            </a:pP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U = {A</a:t>
            </a: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B</a:t>
            </a: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C</a:t>
            </a: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D</a:t>
            </a: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E}</a:t>
            </a:r>
          </a:p>
          <a:p>
            <a:pPr marL="342900" marR="0" indent="-342900" algn="l" defTabSz="914400" rtl="0" eaLnBrk="0" fontAlgn="base" latinLnBrk="0" hangingPunct="0">
              <a:lnSpc>
                <a:spcPct val="100000"/>
              </a:lnSpc>
              <a:spcBef>
                <a:spcPct val="35000"/>
              </a:spcBef>
              <a:spcAft>
                <a:spcPct val="0"/>
              </a:spcAft>
              <a:buClr>
                <a:schemeClr val="tx2"/>
              </a:buClr>
              <a:buSzPct val="90000"/>
              <a:buFont typeface="Wingdings" panose="05000000000000000000" pitchFamily="2" charset="2"/>
              <a:buChar char="l"/>
            </a:pP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F = {AE→C,AC→D,CD→B,D→E}</a:t>
            </a:r>
          </a:p>
          <a:p>
            <a:pPr marL="342900" marR="0" indent="-342900" algn="l" defTabSz="914400" rtl="0" eaLnBrk="0" fontAlgn="base" latinLnBrk="0" hangingPunct="0">
              <a:lnSpc>
                <a:spcPct val="100000"/>
              </a:lnSpc>
              <a:spcBef>
                <a:spcPct val="35000"/>
              </a:spcBef>
              <a:spcAft>
                <a:spcPct val="0"/>
              </a:spcAft>
              <a:buClr>
                <a:schemeClr val="tx2"/>
              </a:buClr>
              <a:buSzPct val="90000"/>
              <a:buFont typeface="Wingdings" panose="05000000000000000000" pitchFamily="2" charset="2"/>
              <a:buChar char="l"/>
            </a:pP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给出</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R</a:t>
            </a: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的所有候选码 </a:t>
            </a:r>
            <a:endPar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a:p>
            <a:pPr marL="800100" lvl="1" indent="-342900" eaLnBrk="0" hangingPunct="0">
              <a:spcBef>
                <a:spcPct val="35000"/>
              </a:spcBef>
              <a:buClr>
                <a:schemeClr val="tx2"/>
              </a:buClr>
              <a:buSzPct val="90000"/>
              <a:buFont typeface="Wingdings" panose="05000000000000000000" pitchFamily="2" charset="2"/>
              <a:buChar char="u"/>
            </a:pP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出现在左边的属性：</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a:t>
            </a: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C</a:t>
            </a: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D</a:t>
            </a: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E}</a:t>
            </a:r>
          </a:p>
          <a:p>
            <a:pPr marL="800100" lvl="1" indent="-342900" eaLnBrk="0" hangingPunct="0">
              <a:spcBef>
                <a:spcPct val="35000"/>
              </a:spcBef>
              <a:buClr>
                <a:schemeClr val="tx2"/>
              </a:buClr>
              <a:buSzPct val="90000"/>
              <a:buFont typeface="Wingdings" panose="05000000000000000000" pitchFamily="2" charset="2"/>
              <a:buChar char="u"/>
            </a:pP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出现在右边的属性：</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{B</a:t>
            </a: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C</a:t>
            </a: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D</a:t>
            </a: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E}</a:t>
            </a:r>
          </a:p>
          <a:p>
            <a:pPr marL="1257300" lvl="2" indent="-342900" eaLnBrk="0" hangingPunct="0">
              <a:spcBef>
                <a:spcPct val="35000"/>
              </a:spcBef>
              <a:buClr>
                <a:schemeClr val="tx2"/>
              </a:buClr>
              <a:buSzPct val="90000"/>
              <a:buFont typeface="Wingdings" panose="05000000000000000000" pitchFamily="2" charset="2"/>
              <a:buChar char="p"/>
            </a:pP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左部属性：</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a:t>
            </a:r>
          </a:p>
          <a:p>
            <a:pPr marL="1257300" lvl="2" indent="-342900" eaLnBrk="0" hangingPunct="0">
              <a:spcBef>
                <a:spcPct val="35000"/>
              </a:spcBef>
              <a:buClr>
                <a:schemeClr val="tx2"/>
              </a:buClr>
              <a:buSzPct val="90000"/>
              <a:buFont typeface="Wingdings" panose="05000000000000000000" pitchFamily="2" charset="2"/>
              <a:buChar char="p"/>
            </a:pP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右部属性：</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{B}</a:t>
            </a:r>
          </a:p>
          <a:p>
            <a:pPr marL="1257300" lvl="2" indent="-342900" eaLnBrk="0" hangingPunct="0">
              <a:spcBef>
                <a:spcPct val="35000"/>
              </a:spcBef>
              <a:buClr>
                <a:schemeClr val="tx2"/>
              </a:buClr>
              <a:buSzPct val="90000"/>
              <a:buFont typeface="Wingdings" panose="05000000000000000000" pitchFamily="2" charset="2"/>
              <a:buChar char="p"/>
            </a:pP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双部属性：</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{C</a:t>
            </a: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D</a:t>
            </a: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E}</a:t>
            </a:r>
            <a:endPar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graphicFrame>
        <p:nvGraphicFramePr>
          <p:cNvPr id="81923" name="Object 9"/>
          <p:cNvGraphicFramePr>
            <a:graphicFrameLocks noChangeAspect="1"/>
          </p:cNvGraphicFramePr>
          <p:nvPr/>
        </p:nvGraphicFramePr>
        <p:xfrm>
          <a:off x="1042988" y="5300663"/>
          <a:ext cx="1531937" cy="598487"/>
        </p:xfrm>
        <a:graphic>
          <a:graphicData uri="http://schemas.openxmlformats.org/presentationml/2006/ole">
            <mc:AlternateContent xmlns:mc="http://schemas.openxmlformats.org/markup-compatibility/2006">
              <mc:Choice xmlns:v="urn:schemas-microsoft-com:vml" Requires="v">
                <p:oleObj spid="_x0000_s5171" r:id="rId3" imgW="596900" imgH="228600" progId="Equations">
                  <p:embed/>
                </p:oleObj>
              </mc:Choice>
              <mc:Fallback>
                <p:oleObj r:id="rId3" imgW="596900" imgH="228600" progId="Equations">
                  <p:embed/>
                  <p:pic>
                    <p:nvPicPr>
                      <p:cNvPr id="0" name="图片 3077"/>
                      <p:cNvPicPr/>
                      <p:nvPr/>
                    </p:nvPicPr>
                    <p:blipFill>
                      <a:blip r:embed="rId4"/>
                      <a:stretch>
                        <a:fillRect/>
                      </a:stretch>
                    </p:blipFill>
                    <p:spPr>
                      <a:xfrm>
                        <a:off x="1042988" y="5300663"/>
                        <a:ext cx="1531937" cy="598487"/>
                      </a:xfrm>
                      <a:prstGeom prst="rect">
                        <a:avLst/>
                      </a:prstGeom>
                      <a:noFill/>
                      <a:ln w="38100">
                        <a:noFill/>
                        <a:miter/>
                      </a:ln>
                    </p:spPr>
                  </p:pic>
                </p:oleObj>
              </mc:Fallback>
            </mc:AlternateContent>
          </a:graphicData>
        </a:graphic>
      </p:graphicFrame>
      <p:graphicFrame>
        <p:nvGraphicFramePr>
          <p:cNvPr id="81924" name="Object 10"/>
          <p:cNvGraphicFramePr>
            <a:graphicFrameLocks noChangeAspect="1"/>
          </p:cNvGraphicFramePr>
          <p:nvPr/>
        </p:nvGraphicFramePr>
        <p:xfrm>
          <a:off x="2843213" y="5300663"/>
          <a:ext cx="2868612" cy="598487"/>
        </p:xfrm>
        <a:graphic>
          <a:graphicData uri="http://schemas.openxmlformats.org/presentationml/2006/ole">
            <mc:AlternateContent xmlns:mc="http://schemas.openxmlformats.org/markup-compatibility/2006">
              <mc:Choice xmlns:v="urn:schemas-microsoft-com:vml" Requires="v">
                <p:oleObj spid="_x0000_s5172" r:id="rId5" imgW="1117600" imgH="228600" progId="Equations">
                  <p:embed/>
                </p:oleObj>
              </mc:Choice>
              <mc:Fallback>
                <p:oleObj r:id="rId5" imgW="1117600" imgH="228600" progId="Equations">
                  <p:embed/>
                  <p:pic>
                    <p:nvPicPr>
                      <p:cNvPr id="0" name="图片 3078"/>
                      <p:cNvPicPr/>
                      <p:nvPr/>
                    </p:nvPicPr>
                    <p:blipFill>
                      <a:blip r:embed="rId6"/>
                      <a:stretch>
                        <a:fillRect/>
                      </a:stretch>
                    </p:blipFill>
                    <p:spPr>
                      <a:xfrm>
                        <a:off x="2843213" y="5300663"/>
                        <a:ext cx="2868612" cy="598487"/>
                      </a:xfrm>
                      <a:prstGeom prst="rect">
                        <a:avLst/>
                      </a:prstGeom>
                      <a:noFill/>
                      <a:ln w="38100">
                        <a:noFill/>
                        <a:miter/>
                      </a:ln>
                    </p:spPr>
                  </p:pic>
                </p:oleObj>
              </mc:Fallback>
            </mc:AlternateContent>
          </a:graphicData>
        </a:graphic>
      </p:graphicFrame>
      <p:graphicFrame>
        <p:nvGraphicFramePr>
          <p:cNvPr id="81925" name="Object 11"/>
          <p:cNvGraphicFramePr>
            <a:graphicFrameLocks noChangeAspect="1"/>
          </p:cNvGraphicFramePr>
          <p:nvPr/>
        </p:nvGraphicFramePr>
        <p:xfrm>
          <a:off x="5951538" y="5300663"/>
          <a:ext cx="2868612" cy="598487"/>
        </p:xfrm>
        <a:graphic>
          <a:graphicData uri="http://schemas.openxmlformats.org/presentationml/2006/ole">
            <mc:AlternateContent xmlns:mc="http://schemas.openxmlformats.org/markup-compatibility/2006">
              <mc:Choice xmlns:v="urn:schemas-microsoft-com:vml" Requires="v">
                <p:oleObj spid="_x0000_s5173" r:id="rId7" imgW="1117600" imgH="228600" progId="Equations">
                  <p:embed/>
                </p:oleObj>
              </mc:Choice>
              <mc:Fallback>
                <p:oleObj r:id="rId7" imgW="1117600" imgH="228600" progId="Equations">
                  <p:embed/>
                  <p:pic>
                    <p:nvPicPr>
                      <p:cNvPr id="0" name="图片 3076"/>
                      <p:cNvPicPr/>
                      <p:nvPr/>
                    </p:nvPicPr>
                    <p:blipFill>
                      <a:blip r:embed="rId8"/>
                      <a:stretch>
                        <a:fillRect/>
                      </a:stretch>
                    </p:blipFill>
                    <p:spPr>
                      <a:xfrm>
                        <a:off x="5951538" y="5300663"/>
                        <a:ext cx="2868612" cy="598487"/>
                      </a:xfrm>
                      <a:prstGeom prst="rect">
                        <a:avLst/>
                      </a:prstGeom>
                      <a:noFill/>
                      <a:ln w="38100">
                        <a:noFill/>
                        <a:miter/>
                      </a:ln>
                    </p:spPr>
                  </p:pic>
                </p:oleObj>
              </mc:Fallback>
            </mc:AlternateContent>
          </a:graphicData>
        </a:graphic>
      </p:graphicFrame>
      <p:graphicFrame>
        <p:nvGraphicFramePr>
          <p:cNvPr id="81926" name="Object 12"/>
          <p:cNvGraphicFramePr>
            <a:graphicFrameLocks noChangeAspect="1"/>
          </p:cNvGraphicFramePr>
          <p:nvPr/>
        </p:nvGraphicFramePr>
        <p:xfrm>
          <a:off x="987425" y="5999163"/>
          <a:ext cx="2836863" cy="598487"/>
        </p:xfrm>
        <a:graphic>
          <a:graphicData uri="http://schemas.openxmlformats.org/presentationml/2006/ole">
            <mc:AlternateContent xmlns:mc="http://schemas.openxmlformats.org/markup-compatibility/2006">
              <mc:Choice xmlns:v="urn:schemas-microsoft-com:vml" Requires="v">
                <p:oleObj spid="_x0000_s5174" r:id="rId9" imgW="1104900" imgH="228600" progId="Equations">
                  <p:embed/>
                </p:oleObj>
              </mc:Choice>
              <mc:Fallback>
                <p:oleObj r:id="rId9" imgW="1104900" imgH="228600" progId="Equations">
                  <p:embed/>
                  <p:pic>
                    <p:nvPicPr>
                      <p:cNvPr id="0" name="图片 3079"/>
                      <p:cNvPicPr/>
                      <p:nvPr/>
                    </p:nvPicPr>
                    <p:blipFill>
                      <a:blip r:embed="rId10"/>
                      <a:stretch>
                        <a:fillRect/>
                      </a:stretch>
                    </p:blipFill>
                    <p:spPr>
                      <a:xfrm>
                        <a:off x="987425" y="5999163"/>
                        <a:ext cx="2836863" cy="598487"/>
                      </a:xfrm>
                      <a:prstGeom prst="rect">
                        <a:avLst/>
                      </a:prstGeom>
                      <a:noFill/>
                      <a:ln w="38100">
                        <a:noFill/>
                        <a:miter/>
                      </a:ln>
                    </p:spPr>
                  </p:pic>
                </p:oleObj>
              </mc:Fallback>
            </mc:AlternateContent>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p:cNvSpPr>
            <a:spLocks noGrp="1"/>
          </p:cNvSpPr>
          <p:nvPr>
            <p:ph type="title"/>
          </p:nvPr>
        </p:nvSpPr>
        <p:spPr>
          <a:noFill/>
          <a:ln>
            <a:noFill/>
          </a:ln>
        </p:spPr>
        <p:txBody>
          <a:bodyPr vert="horz" wrap="square" lIns="91440" tIns="45720" rIns="91440" bIns="45720" numCol="1" rtlCol="0" anchor="b" anchorCtr="0" compatLnSpc="1">
            <a:noAutofit/>
          </a:bodyPr>
          <a:lstStyle/>
          <a:p>
            <a:pPr lvl="0" algn="ctr" defTabSz="914400">
              <a:buClrTx/>
              <a:buSzTx/>
              <a:buFontTx/>
            </a:pPr>
            <a:r>
              <a:rPr lang="zh-CN" altLang="en-US" sz="4400" dirty="0">
                <a:effectLst>
                  <a:outerShdw blurRad="38100" dist="38100" dir="2700000">
                    <a:srgbClr val="C0C0C0"/>
                  </a:outerShdw>
                </a:effectLst>
                <a:latin typeface="隶书" panose="02010509060101010101" pitchFamily="49" charset="-122"/>
                <a:ea typeface="隶书" panose="02010509060101010101" pitchFamily="49" charset="-122"/>
                <a:sym typeface="+mn-ea"/>
              </a:rPr>
              <a:t>候选键的计算</a:t>
            </a:r>
          </a:p>
        </p:txBody>
      </p:sp>
      <p:sp>
        <p:nvSpPr>
          <p:cNvPr id="240643" name="Rectangle 3"/>
          <p:cNvSpPr>
            <a:spLocks noChangeArrowheads="1"/>
          </p:cNvSpPr>
          <p:nvPr/>
        </p:nvSpPr>
        <p:spPr bwMode="auto">
          <a:xfrm>
            <a:off x="196215" y="888365"/>
            <a:ext cx="8781415" cy="5692775"/>
          </a:xfrm>
          <a:prstGeom prst="rect">
            <a:avLst/>
          </a:prstGeom>
          <a:noFill/>
          <a:ln>
            <a:noFill/>
          </a:ln>
          <a:effectLst/>
        </p:spPr>
        <p:txBody>
          <a:bodyPr wrap="square">
            <a:spAutoFit/>
          </a:bodyPr>
          <a:lstStyle/>
          <a:p>
            <a:pPr marL="0" marR="0" indent="0" algn="ctr" defTabSz="914400" rtl="0" eaLnBrk="1" fontAlgn="base" latinLnBrk="0" hangingPunct="1">
              <a:lnSpc>
                <a:spcPct val="100000"/>
              </a:lnSpc>
              <a:spcBef>
                <a:spcPct val="0"/>
              </a:spcBef>
              <a:spcAft>
                <a:spcPct val="0"/>
              </a:spcAft>
              <a:buNone/>
            </a:pPr>
            <a:r>
              <a:rPr kumimoji="0" lang="en-US" altLang="zh-CN" sz="2800" b="1" i="0" u="none" strike="noStrike" kern="1200" cap="none" spc="0" normalizeH="0" baseline="0" noProof="1">
                <a:solidFill>
                  <a:srgbClr val="000099"/>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Key-Finding(</a:t>
            </a:r>
            <a:r>
              <a:rPr kumimoji="0" lang="zh-CN" altLang="en-US" sz="2800" b="1" i="0" u="none" strike="noStrike" kern="1200" cap="none" spc="0" normalizeH="0" baseline="0" noProof="1">
                <a:solidFill>
                  <a:srgbClr val="000099"/>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求一个候选码</a:t>
            </a:r>
            <a:r>
              <a:rPr kumimoji="0" lang="en-US" altLang="zh-CN" sz="2800" b="1" i="0" u="none" strike="noStrike" kern="1200" cap="none" spc="0" normalizeH="0" baseline="0" noProof="1">
                <a:solidFill>
                  <a:srgbClr val="000099"/>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a:t>
            </a:r>
          </a:p>
          <a:p>
            <a:pPr marL="0" marR="0" indent="0" algn="l" defTabSz="914400" rtl="0" eaLnBrk="1" fontAlgn="base" latinLnBrk="0" hangingPunct="1">
              <a:lnSpc>
                <a:spcPct val="100000"/>
              </a:lnSpc>
              <a:spcBef>
                <a:spcPct val="0"/>
              </a:spcBef>
              <a:spcAft>
                <a:spcPct val="0"/>
              </a:spcAft>
              <a:buNone/>
            </a:pPr>
            <a:endPar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endParaRPr>
          </a:p>
          <a:p>
            <a:pPr marL="0" marR="0" indent="0" algn="l" defTabSz="914400" rtl="0" eaLnBrk="1" fontAlgn="base" latinLnBrk="0" hangingPunct="1">
              <a:lnSpc>
                <a:spcPct val="100000"/>
              </a:lnSpc>
              <a:spcBef>
                <a:spcPct val="0"/>
              </a:spcBef>
              <a:spcAft>
                <a:spcPct val="0"/>
              </a:spcAft>
              <a:buNone/>
            </a:pP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输入：关系模式</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&lt;U, F&gt;</a:t>
            </a: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a:t>
            </a:r>
          </a:p>
          <a:p>
            <a:pPr marL="0" marR="0" indent="0" algn="l" defTabSz="914400" rtl="0" eaLnBrk="1" fontAlgn="base" latinLnBrk="0" hangingPunct="1">
              <a:lnSpc>
                <a:spcPct val="100000"/>
              </a:lnSpc>
              <a:spcBef>
                <a:spcPct val="0"/>
              </a:spcBef>
              <a:spcAft>
                <a:spcPct val="0"/>
              </a:spcAft>
              <a:buNone/>
            </a:pP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输出：一个候选码</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K</a:t>
            </a:r>
          </a:p>
          <a:p>
            <a:pPr marL="0" marR="0" indent="0" algn="l" defTabSz="914400" rtl="0" eaLnBrk="1" fontAlgn="base" latinLnBrk="0" hangingPunct="1">
              <a:lnSpc>
                <a:spcPct val="100000"/>
              </a:lnSpc>
              <a:spcBef>
                <a:spcPct val="0"/>
              </a:spcBef>
              <a:spcAft>
                <a:spcPct val="0"/>
              </a:spcAft>
              <a:buNone/>
            </a:pPr>
            <a:r>
              <a:rPr kumimoji="0" lang="en-US" altLang="zh-CN" sz="2400" b="1" i="0" u="none" strike="noStrike" kern="1200" cap="none" spc="0" normalizeH="0" baseline="0" noProof="1">
                <a:gradFill>
                  <a:gsLst>
                    <a:gs pos="0">
                      <a:srgbClr val="7B32B2"/>
                    </a:gs>
                    <a:gs pos="100000">
                      <a:srgbClr val="401A5D"/>
                    </a:gs>
                  </a:gsLst>
                  <a:lin scaled="0"/>
                </a:gra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Key-Finding(U, F)</a:t>
            </a:r>
          </a:p>
          <a:p>
            <a:pPr marL="0" marR="0" indent="0" algn="l" defTabSz="914400" rtl="0" eaLnBrk="1" fontAlgn="base" latinLnBrk="0" hangingPunct="1">
              <a:lnSpc>
                <a:spcPct val="100000"/>
              </a:lnSpc>
              <a:spcBef>
                <a:spcPct val="0"/>
              </a:spcBef>
              <a:spcAft>
                <a:spcPct val="0"/>
              </a:spcAft>
              <a:buNone/>
            </a:pP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Begin</a:t>
            </a:r>
          </a:p>
          <a:p>
            <a:pPr marL="0" marR="0" indent="0" algn="l" defTabSz="914400" rtl="0" eaLnBrk="1" fontAlgn="base" latinLnBrk="0" hangingPunct="1">
              <a:lnSpc>
                <a:spcPct val="100000"/>
              </a:lnSpc>
              <a:spcBef>
                <a:spcPct val="0"/>
              </a:spcBef>
              <a:spcAft>
                <a:spcPct val="0"/>
              </a:spcAft>
              <a:buNone/>
            </a:pP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	(1)K :=  U;</a:t>
            </a:r>
          </a:p>
          <a:p>
            <a:pPr marL="0" marR="0" indent="0" algn="l" defTabSz="914400" rtl="0" eaLnBrk="1" fontAlgn="base" latinLnBrk="0" hangingPunct="1">
              <a:lnSpc>
                <a:spcPct val="100000"/>
              </a:lnSpc>
              <a:spcBef>
                <a:spcPct val="0"/>
              </a:spcBef>
              <a:spcAft>
                <a:spcPct val="0"/>
              </a:spcAft>
              <a:buNone/>
            </a:pP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	(2)</a:t>
            </a: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构造一个</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FD: K</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Symbol" panose="05050102010706020507" charset="2"/>
              </a:rPr>
              <a:t></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T,</a:t>
            </a: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其中</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T</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Symbol" panose="05050102010706020507" charset="2"/>
              </a:rPr>
              <a:t></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U</a:t>
            </a:r>
          </a:p>
          <a:p>
            <a:pPr marL="0" marR="0" indent="0" algn="l" defTabSz="914400" rtl="0" eaLnBrk="1" fontAlgn="base" latinLnBrk="0" hangingPunct="1">
              <a:lnSpc>
                <a:spcPct val="100000"/>
              </a:lnSpc>
              <a:spcBef>
                <a:spcPct val="0"/>
              </a:spcBef>
              <a:spcAft>
                <a:spcPct val="0"/>
              </a:spcAft>
              <a:buNone/>
            </a:pP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	(3)for </a:t>
            </a: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每一个属性</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A</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Symbol" panose="05050102010706020507" charset="2"/>
              </a:rPr>
              <a:t></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K do</a:t>
            </a:r>
          </a:p>
          <a:p>
            <a:pPr marL="0" marR="0" indent="0" algn="l" defTabSz="914400" rtl="0" eaLnBrk="1" fontAlgn="base" latinLnBrk="0" hangingPunct="1">
              <a:lnSpc>
                <a:spcPct val="100000"/>
              </a:lnSpc>
              <a:spcBef>
                <a:spcPct val="0"/>
              </a:spcBef>
              <a:spcAft>
                <a:spcPct val="0"/>
              </a:spcAft>
              <a:buNone/>
            </a:pP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		if Membership(F∪{K</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Symbol" panose="05050102010706020507" charset="2"/>
              </a:rPr>
              <a:t></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T},(K-A)</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Symbol" panose="05050102010706020507" charset="2"/>
              </a:rPr>
              <a:t></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T)</a:t>
            </a:r>
          </a:p>
          <a:p>
            <a:pPr marL="0" marR="0" indent="0" algn="l" defTabSz="914400" rtl="0" eaLnBrk="1" fontAlgn="base" latinLnBrk="0" hangingPunct="1">
              <a:lnSpc>
                <a:spcPct val="100000"/>
              </a:lnSpc>
              <a:spcBef>
                <a:spcPct val="0"/>
              </a:spcBef>
              <a:spcAft>
                <a:spcPct val="0"/>
              </a:spcAft>
              <a:buNone/>
            </a:pP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		then K:= K-A</a:t>
            </a:r>
          </a:p>
          <a:p>
            <a:pPr marL="0" marR="0" indent="0" algn="l" defTabSz="914400" rtl="0" eaLnBrk="1" fontAlgn="base" latinLnBrk="0" hangingPunct="1">
              <a:lnSpc>
                <a:spcPct val="100000"/>
              </a:lnSpc>
              <a:spcBef>
                <a:spcPct val="0"/>
              </a:spcBef>
              <a:spcAft>
                <a:spcPct val="0"/>
              </a:spcAft>
              <a:buNone/>
            </a:pP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	return(K)</a:t>
            </a:r>
          </a:p>
          <a:p>
            <a:pPr marL="0" marR="0" indent="0" algn="l" defTabSz="914400" rtl="0" eaLnBrk="1" fontAlgn="base" latinLnBrk="0" hangingPunct="1">
              <a:lnSpc>
                <a:spcPct val="100000"/>
              </a:lnSpc>
              <a:spcBef>
                <a:spcPct val="0"/>
              </a:spcBef>
              <a:spcAft>
                <a:spcPct val="0"/>
              </a:spcAft>
              <a:buNone/>
            </a:pP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end.</a:t>
            </a:r>
          </a:p>
          <a:p>
            <a:pPr marL="0" marR="0" indent="0" algn="l" defTabSz="914400" rtl="0" eaLnBrk="1" fontAlgn="base" latinLnBrk="0" hangingPunct="1">
              <a:lnSpc>
                <a:spcPct val="100000"/>
              </a:lnSpc>
              <a:spcBef>
                <a:spcPct val="0"/>
              </a:spcBef>
              <a:spcAft>
                <a:spcPct val="0"/>
              </a:spcAft>
              <a:buNone/>
            </a:pPr>
            <a:endPar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endParaRPr>
          </a:p>
          <a:p>
            <a:pPr marL="0" marR="0" indent="0" algn="l" defTabSz="914400" rtl="0" eaLnBrk="1" fontAlgn="base" latinLnBrk="0" hangingPunct="1">
              <a:lnSpc>
                <a:spcPct val="100000"/>
              </a:lnSpc>
              <a:spcBef>
                <a:spcPct val="0"/>
              </a:spcBef>
              <a:spcAft>
                <a:spcPct val="0"/>
              </a:spcAft>
              <a:buNone/>
            </a:pP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Membership(F, X</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Symbol" panose="05050102010706020507" charset="2"/>
              </a:rPr>
              <a:t>Y): </a:t>
            </a:r>
            <a:r>
              <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Symbol" panose="05050102010706020507" charset="2"/>
              </a:rPr>
              <a:t>判断</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X</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Symbol" panose="05050102010706020507" charset="2"/>
              </a:rPr>
              <a:t>Y  </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F</a:t>
            </a:r>
            <a:r>
              <a:rPr kumimoji="0" lang="en-US" altLang="zh-CN" sz="2400" b="1" i="0" u="none" strike="noStrike" kern="1200" cap="none" spc="0" normalizeH="0" baseline="3000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 </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Symbol" panose="05050102010706020507" charset="2"/>
              </a:rPr>
              <a:t>?</a:t>
            </a:r>
            <a:r>
              <a:rPr kumimoji="0" lang="en-US" altLang="zh-CN"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rPr>
              <a:t> </a:t>
            </a:r>
            <a:endParaRPr kumimoji="0" lang="zh-CN" altLang="en-US" sz="24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Arial" panose="020B0604020202020204" pitchFamily="34" charset="0"/>
              <a:sym typeface="+mn-ea"/>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p:cNvSpPr>
            <a:spLocks noGrp="1"/>
          </p:cNvSpPr>
          <p:nvPr>
            <p:ph type="title"/>
          </p:nvPr>
        </p:nvSpPr>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zh-CN" altLang="en-US" sz="4400" b="1" i="0" u="none" strike="noStrike" kern="0" cap="none" spc="0" normalizeH="0" baseline="0" noProof="1">
                <a:solidFill>
                  <a:schemeClr val="tx2"/>
                </a:solidFill>
                <a:effectLst>
                  <a:outerShdw blurRad="38100" dist="38100" dir="2700000">
                    <a:srgbClr val="C0C0C0"/>
                  </a:outerShdw>
                </a:effectLst>
                <a:latin typeface="隶书" panose="02010509060101010101" pitchFamily="49" charset="-122"/>
                <a:ea typeface="隶书" panose="02010509060101010101" pitchFamily="49" charset="-122"/>
                <a:cs typeface="Arial" panose="020B0604020202020204"/>
              </a:rPr>
              <a:t>候选键的计算：替换法</a:t>
            </a:r>
          </a:p>
        </p:txBody>
      </p:sp>
      <p:sp>
        <p:nvSpPr>
          <p:cNvPr id="241667" name="Rectangle 3"/>
          <p:cNvSpPr>
            <a:spLocks noChangeArrowheads="1"/>
          </p:cNvSpPr>
          <p:nvPr/>
        </p:nvSpPr>
        <p:spPr bwMode="auto">
          <a:xfrm>
            <a:off x="395288" y="908050"/>
            <a:ext cx="8353425" cy="5421313"/>
          </a:xfrm>
          <a:prstGeom prst="rect">
            <a:avLst/>
          </a:prstGeom>
          <a:noFill/>
          <a:ln>
            <a:noFill/>
          </a:ln>
          <a:effectLst/>
        </p:spPr>
        <p:txBody>
          <a:bodyPr>
            <a:spAutoFit/>
          </a:bodyPr>
          <a:lstStyle/>
          <a:p>
            <a:pPr marL="0" marR="0" indent="0" algn="ctr"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All-Candidate Keys(</a:t>
            </a:r>
            <a:r>
              <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求全部候选码</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t>
            </a:r>
          </a:p>
          <a:p>
            <a:pPr marL="0" marR="0" indent="0" algn="just"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输入：关系模式</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R&lt;U,F&gt;    </a:t>
            </a:r>
            <a:r>
              <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输出： </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R&lt;U,F&gt;</a:t>
            </a:r>
            <a:r>
              <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的全部候选码</a:t>
            </a:r>
          </a:p>
          <a:p>
            <a:pPr marL="0" marR="0" indent="0" algn="just"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begin	(1)K:=Key-Finding(U, F)</a:t>
            </a:r>
            <a:r>
              <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t>
            </a:r>
          </a:p>
          <a:p>
            <a:pPr marL="0" marR="0" indent="0" algn="just"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(2)K</a:t>
            </a:r>
            <a:r>
              <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入队列</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Q</a:t>
            </a:r>
            <a:r>
              <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t>
            </a:r>
          </a:p>
          <a:p>
            <a:pPr marL="0" marR="0" indent="0" algn="just"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(3)while </a:t>
            </a:r>
            <a:r>
              <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队列</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Q</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 </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do</a:t>
            </a:r>
          </a:p>
          <a:p>
            <a:pPr marL="0" marR="0" indent="0" algn="just"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 K :=</a:t>
            </a:r>
            <a:r>
              <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队列</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Q</a:t>
            </a:r>
            <a:r>
              <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的头；</a:t>
            </a:r>
          </a:p>
          <a:p>
            <a:pPr marL="0" marR="0" indent="0" algn="just"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W := W ∪{K}</a:t>
            </a:r>
            <a:r>
              <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t>
            </a:r>
          </a:p>
          <a:p>
            <a:pPr marL="0" marR="0" indent="0" algn="just"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D := K</a:t>
            </a:r>
            <a:r>
              <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中全部双部属性；</a:t>
            </a:r>
          </a:p>
          <a:p>
            <a:pPr marL="0" marR="0" indent="0" algn="just"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while D</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 do</a:t>
            </a:r>
          </a:p>
          <a:p>
            <a:pPr marL="0" marR="0" indent="0" algn="just"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	      </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  A </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D </a:t>
            </a:r>
            <a:r>
              <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中一个双部属性；</a:t>
            </a:r>
          </a:p>
          <a:p>
            <a:pPr marL="0" marR="0" indent="0" algn="just"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                      D </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D - {A}</a:t>
            </a:r>
            <a:r>
              <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t>
            </a:r>
          </a:p>
          <a:p>
            <a:pPr marL="0" marR="0" indent="0" algn="just"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for </a:t>
            </a:r>
            <a:r>
              <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每一个</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X</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Y</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F do</a:t>
            </a:r>
          </a:p>
          <a:p>
            <a:pPr marL="0" marR="0" indent="0" algn="just"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if A</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Y then [ K’ := (K - A) </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{X} ]</a:t>
            </a:r>
          </a:p>
          <a:p>
            <a:pPr marL="0" marR="0" indent="0" algn="just"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if K’</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Q then K’</a:t>
            </a:r>
            <a:r>
              <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入队列</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Q</a:t>
            </a:r>
            <a:r>
              <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t>
            </a:r>
            <a:endPar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a:p>
            <a:pPr marL="0" marR="0" indent="0" algn="just"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  ]</a:t>
            </a:r>
          </a:p>
          <a:p>
            <a:pPr marL="0" marR="0" indent="0" algn="just" defTabSz="914400" rtl="0" eaLnBrk="1" fontAlgn="base" latinLnBrk="0" hangingPunct="1">
              <a:lnSpc>
                <a:spcPct val="100000"/>
              </a:lnSpc>
              <a:spcBef>
                <a:spcPct val="10000"/>
              </a:spcBef>
              <a:spcAft>
                <a:spcPct val="0"/>
              </a:spcAft>
              <a:buClr>
                <a:schemeClr val="folHlink"/>
              </a:buClr>
              <a:buSzPct val="60000"/>
              <a:buFont typeface="Wingdings" panose="05000000000000000000" pitchFamily="2" charset="2"/>
              <a:buNone/>
            </a:pP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end </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p:cNvSpPr>
            <a:spLocks noGrp="1"/>
          </p:cNvSpPr>
          <p:nvPr>
            <p:ph type="title"/>
          </p:nvPr>
        </p:nvSpPr>
        <p:spPr/>
        <p:txBody>
          <a:bodyPr vert="horz" wrap="square" lIns="91440" tIns="45720" rIns="91440" bIns="45720" anchor="b"/>
          <a:lstStyle/>
          <a:p>
            <a:pPr marL="0" marR="0" indent="0" algn="ctr" defTabSz="914400" rtl="0" eaLnBrk="0" fontAlgn="base" latinLnBrk="0" hangingPunct="0">
              <a:lnSpc>
                <a:spcPct val="100000"/>
              </a:lnSpc>
              <a:spcBef>
                <a:spcPct val="0"/>
              </a:spcBef>
              <a:spcAft>
                <a:spcPct val="0"/>
              </a:spcAft>
              <a:buClrTx/>
              <a:buSzTx/>
              <a:buFontTx/>
              <a:buNone/>
            </a:pPr>
            <a:r>
              <a:rPr kumimoji="1" lang="zh-CN" altLang="en-US" sz="4400" b="1" i="0" u="none" strike="noStrike" kern="0" cap="none" spc="0" normalizeH="0" baseline="0" noProof="1">
                <a:solidFill>
                  <a:schemeClr val="tx2"/>
                </a:solidFill>
                <a:effectLst>
                  <a:outerShdw blurRad="38100" dist="38100" dir="2700000">
                    <a:srgbClr val="C0C0C0"/>
                  </a:outerShdw>
                </a:effectLst>
                <a:latin typeface="隶书" panose="02010509060101010101" pitchFamily="49" charset="-122"/>
                <a:ea typeface="隶书" panose="02010509060101010101" pitchFamily="49" charset="-122"/>
                <a:cs typeface="Arial" panose="020B0604020202020204"/>
              </a:rPr>
              <a:t>候选键的计算：替换法</a:t>
            </a:r>
          </a:p>
        </p:txBody>
      </p:sp>
      <p:sp>
        <p:nvSpPr>
          <p:cNvPr id="242691" name="Text Box 3"/>
          <p:cNvSpPr txBox="1">
            <a:spLocks noChangeArrowheads="1"/>
          </p:cNvSpPr>
          <p:nvPr/>
        </p:nvSpPr>
        <p:spPr bwMode="auto">
          <a:xfrm>
            <a:off x="755650" y="1196975"/>
            <a:ext cx="7632700" cy="854075"/>
          </a:xfrm>
          <a:prstGeom prst="rect">
            <a:avLst/>
          </a:prstGeom>
          <a:noFill/>
          <a:ln>
            <a:noFill/>
          </a:ln>
          <a:effectLst/>
        </p:spPr>
        <p:txBody>
          <a:bodyPr>
            <a:spAutoFit/>
          </a:bodyPr>
          <a:lstStyle/>
          <a:p>
            <a:pPr marR="0" defTabSz="914400">
              <a:spcBef>
                <a:spcPct val="50000"/>
              </a:spcBef>
            </a:pPr>
            <a:r>
              <a:rPr kumimoji="0" lang="en-US" altLang="zh-CN" sz="2000" b="1" kern="1200" cap="none" spc="0" normalizeH="0" baseline="0" noProof="1">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U={A, B, C, D, E, G}</a:t>
            </a:r>
          </a:p>
          <a:p>
            <a:pPr marR="0" defTabSz="914400">
              <a:spcBef>
                <a:spcPct val="50000"/>
              </a:spcBef>
            </a:pPr>
            <a:r>
              <a:rPr kumimoji="0" lang="en-US" altLang="zh-CN" sz="2000" b="1" kern="1200" cap="none" spc="0" normalizeH="0" baseline="0" noProof="1">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F={AB </a:t>
            </a:r>
            <a:r>
              <a:rPr kumimoji="0" lang="en-US" altLang="zh-CN" sz="2000" b="1" kern="1200" cap="none" spc="0" normalizeH="0" baseline="0" noProof="1">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000" b="1" kern="1200" cap="none" spc="0" normalizeH="0" baseline="0" noProof="1">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C, C </a:t>
            </a:r>
            <a:r>
              <a:rPr kumimoji="0" lang="en-US" altLang="zh-CN" sz="2000" b="1" kern="1200" cap="none" spc="0" normalizeH="0" baseline="0" noProof="1">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000" b="1" kern="1200" cap="none" spc="0" normalizeH="0" baseline="0" noProof="1">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A, C </a:t>
            </a:r>
            <a:r>
              <a:rPr kumimoji="0" lang="en-US" altLang="zh-CN" sz="2000" b="1" kern="1200" cap="none" spc="0" normalizeH="0" baseline="0" noProof="1">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000" b="1" kern="1200" cap="none" spc="0" normalizeH="0" baseline="0" noProof="1">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B, AD </a:t>
            </a:r>
            <a:r>
              <a:rPr kumimoji="0" lang="en-US" altLang="zh-CN" sz="2000" b="1" kern="1200" cap="none" spc="0" normalizeH="0" baseline="0" noProof="1">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000" b="1" kern="1200" cap="none" spc="0" normalizeH="0" baseline="0" noProof="1">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B, BE </a:t>
            </a:r>
            <a:r>
              <a:rPr kumimoji="0" lang="en-US" altLang="zh-CN" sz="2000" b="1" kern="1200" cap="none" spc="0" normalizeH="0" baseline="0" noProof="1">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000" b="1" kern="1200" cap="none" spc="0" normalizeH="0" baseline="0" noProof="1">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G, G </a:t>
            </a:r>
            <a:r>
              <a:rPr kumimoji="0" lang="en-US" altLang="zh-CN" sz="2000" b="1" kern="1200" cap="none" spc="0" normalizeH="0" baseline="0" noProof="1">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000" b="1" kern="1200" cap="none" spc="0" normalizeH="0" baseline="0" noProof="1">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A}</a:t>
            </a:r>
          </a:p>
        </p:txBody>
      </p:sp>
      <p:sp>
        <p:nvSpPr>
          <p:cNvPr id="242692" name="Rectangle 4"/>
          <p:cNvSpPr>
            <a:spLocks noChangeArrowheads="1"/>
          </p:cNvSpPr>
          <p:nvPr/>
        </p:nvSpPr>
        <p:spPr bwMode="auto">
          <a:xfrm>
            <a:off x="4572000" y="2181225"/>
            <a:ext cx="3125788" cy="396875"/>
          </a:xfrm>
          <a:prstGeom prst="rect">
            <a:avLst/>
          </a:prstGeom>
          <a:noFill/>
          <a:ln>
            <a:noFill/>
          </a:ln>
          <a:effectLst/>
        </p:spPr>
        <p:txBody>
          <a:bodyPr wrap="none">
            <a:spAutoFit/>
          </a:bodyPr>
          <a:lstStyle/>
          <a:p>
            <a:pPr marL="0" marR="0" indent="0" algn="l" defTabSz="914400" rtl="0" eaLnBrk="1" fontAlgn="base" latinLnBrk="0" hangingPunct="1">
              <a:lnSpc>
                <a:spcPct val="100000"/>
              </a:lnSpc>
              <a:spcBef>
                <a:spcPct val="0"/>
              </a:spcBef>
              <a:spcAft>
                <a:spcPct val="0"/>
              </a:spcAft>
              <a:buNone/>
            </a:pP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EDC = Key-Finding(U, F)</a:t>
            </a:r>
            <a:endPar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242693" name="Rectangle 5"/>
          <p:cNvSpPr>
            <a:spLocks noChangeArrowheads="1"/>
          </p:cNvSpPr>
          <p:nvPr/>
        </p:nvSpPr>
        <p:spPr bwMode="auto">
          <a:xfrm>
            <a:off x="684213" y="2162175"/>
            <a:ext cx="3230563" cy="396875"/>
          </a:xfrm>
          <a:prstGeom prst="rect">
            <a:avLst/>
          </a:prstGeom>
          <a:noFill/>
          <a:ln>
            <a:noFill/>
          </a:ln>
          <a:effectLst/>
        </p:spPr>
        <p:txBody>
          <a:bodyPr wrap="none">
            <a:spAutoFit/>
          </a:bodyPr>
          <a:lstStyle/>
          <a:p>
            <a:pPr marL="0" marR="0" indent="0" algn="l" defTabSz="914400" rtl="0" eaLnBrk="1" fontAlgn="base" latinLnBrk="0" hangingPunct="1">
              <a:lnSpc>
                <a:spcPct val="100000"/>
              </a:lnSpc>
              <a:spcBef>
                <a:spcPct val="0"/>
              </a:spcBef>
              <a:spcAft>
                <a:spcPct val="0"/>
              </a:spcAft>
              <a:buNone/>
            </a:pPr>
            <a:r>
              <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所有双部属性</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 B, C, G}</a:t>
            </a:r>
          </a:p>
        </p:txBody>
      </p:sp>
      <p:sp>
        <p:nvSpPr>
          <p:cNvPr id="242694" name="Rectangle 6"/>
          <p:cNvSpPr>
            <a:spLocks noChangeArrowheads="1"/>
          </p:cNvSpPr>
          <p:nvPr/>
        </p:nvSpPr>
        <p:spPr bwMode="auto">
          <a:xfrm>
            <a:off x="3779838" y="2771775"/>
            <a:ext cx="722313" cy="396875"/>
          </a:xfrm>
          <a:prstGeom prst="rect">
            <a:avLst/>
          </a:prstGeom>
          <a:solidFill>
            <a:srgbClr val="00CCFF"/>
          </a:solidFill>
          <a:ln>
            <a:noFill/>
          </a:ln>
          <a:effectLst/>
          <a:scene3d>
            <a:camera prst="legacyObliqueTopRight"/>
            <a:lightRig rig="legacyFlat3" dir="b"/>
          </a:scene3d>
          <a:sp3d extrusionH="430200" prstMaterial="legacyMatte">
            <a:bevelT w="13500" h="13500" prst="angle"/>
            <a:bevelB w="13500" h="13500" prst="angle"/>
            <a:extrusionClr>
              <a:srgbClr val="00CCFF"/>
            </a:extrusionClr>
          </a:sp3d>
        </p:spPr>
        <p:txBody>
          <a:bodyPr wrap="none">
            <a:spAutoFit/>
            <a:flatTx/>
          </a:bodyPr>
          <a:lstStyle/>
          <a:p>
            <a:pPr marL="0" marR="0" indent="0" algn="l" defTabSz="914400" rtl="0" eaLnBrk="1" fontAlgn="base" latinLnBrk="0" hangingPunct="1">
              <a:lnSpc>
                <a:spcPct val="100000"/>
              </a:lnSpc>
              <a:spcBef>
                <a:spcPct val="0"/>
              </a:spcBef>
              <a:spcAft>
                <a:spcPct val="0"/>
              </a:spcAft>
              <a:buNone/>
            </a:pPr>
            <a:r>
              <a:rPr kumimoji="0" lang="en-US" altLang="zh-CN" sz="2000" b="1" i="0" u="none" strike="noStrike" kern="1200" cap="none" spc="0" normalizeH="0" baseline="0" noProof="1">
                <a:solidFill>
                  <a:schemeClr va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ED</a:t>
            </a:r>
            <a:r>
              <a:rPr kumimoji="0" lang="en-US" altLang="zh-CN" sz="2000" b="1" i="0" u="none" strike="noStrike" kern="1200" cap="none" spc="0" normalizeH="0" baseline="0" noProof="1">
                <a:solidFill>
                  <a:srgbClr val="98469E"/>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C</a:t>
            </a:r>
            <a:endParaRPr kumimoji="0" lang="zh-CN" altLang="en-US" sz="2000" b="1" i="0" u="none" strike="noStrike" kern="1200" cap="none" spc="0" normalizeH="0" baseline="0" noProof="1">
              <a:solidFill>
                <a:srgbClr val="98469E"/>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242695" name="Rectangle 7"/>
          <p:cNvSpPr>
            <a:spLocks noChangeArrowheads="1"/>
          </p:cNvSpPr>
          <p:nvPr/>
        </p:nvSpPr>
        <p:spPr bwMode="auto">
          <a:xfrm>
            <a:off x="3779838" y="3708400"/>
            <a:ext cx="722313" cy="396875"/>
          </a:xfrm>
          <a:prstGeom prst="rect">
            <a:avLst/>
          </a:prstGeom>
          <a:solidFill>
            <a:srgbClr val="00CCFF"/>
          </a:solidFill>
          <a:ln>
            <a:noFill/>
          </a:ln>
          <a:effectLst/>
          <a:scene3d>
            <a:camera prst="legacyObliqueTopRight"/>
            <a:lightRig rig="legacyFlat3" dir="b"/>
          </a:scene3d>
          <a:sp3d extrusionH="430200" prstMaterial="legacyMatte">
            <a:bevelT w="13500" h="13500" prst="angle"/>
            <a:bevelB w="13500" h="13500" prst="angle"/>
            <a:extrusionClr>
              <a:srgbClr val="00CCFF"/>
            </a:extrusionClr>
          </a:sp3d>
        </p:spPr>
        <p:txBody>
          <a:bodyPr wrap="none">
            <a:spAutoFit/>
            <a:flatTx/>
          </a:bodyPr>
          <a:lstStyle/>
          <a:p>
            <a:pPr marL="0" marR="0" indent="0" algn="l" defTabSz="914400" rtl="0" eaLnBrk="1" fontAlgn="base" latinLnBrk="0" hangingPunct="1">
              <a:lnSpc>
                <a:spcPct val="100000"/>
              </a:lnSpc>
              <a:spcBef>
                <a:spcPct val="0"/>
              </a:spcBef>
              <a:spcAft>
                <a:spcPct val="0"/>
              </a:spcAft>
              <a:buNone/>
            </a:pPr>
            <a:r>
              <a:rPr kumimoji="0" lang="en-US" altLang="zh-CN" sz="2000" b="1" i="0" u="none" strike="noStrike" kern="1200" cap="none" spc="0" normalizeH="0" baseline="0" noProof="1">
                <a:solidFill>
                  <a:schemeClr va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ED</a:t>
            </a:r>
            <a:r>
              <a:rPr kumimoji="0" lang="en-US" altLang="zh-CN" sz="2000" b="1" i="0" u="none" strike="noStrike" kern="1200" cap="none" spc="0" normalizeH="0" baseline="0" noProof="1">
                <a:solidFill>
                  <a:srgbClr val="98469E"/>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a:t>
            </a:r>
            <a:endParaRPr kumimoji="0" lang="zh-CN" altLang="en-US" sz="2000" b="1" i="0" u="none" strike="noStrike" kern="1200" cap="none" spc="0" normalizeH="0" baseline="0" noProof="1">
              <a:solidFill>
                <a:srgbClr val="98469E"/>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242696" name="Rectangle 8"/>
          <p:cNvSpPr>
            <a:spLocks noChangeArrowheads="1"/>
          </p:cNvSpPr>
          <p:nvPr/>
        </p:nvSpPr>
        <p:spPr bwMode="auto">
          <a:xfrm>
            <a:off x="4427538" y="3138488"/>
            <a:ext cx="1127125" cy="396875"/>
          </a:xfrm>
          <a:prstGeom prst="rect">
            <a:avLst/>
          </a:prstGeom>
          <a:noFill/>
          <a:ln>
            <a:noFill/>
          </a:ln>
          <a:effectLst/>
        </p:spPr>
        <p:txBody>
          <a:bodyPr wrap="none">
            <a:spAutoFit/>
          </a:bodyPr>
          <a:lstStyle/>
          <a:p>
            <a:pPr marL="0" marR="0" indent="0" algn="l" defTabSz="914400" rtl="0" eaLnBrk="1" fontAlgn="base" latinLnBrk="0" hangingPunct="1">
              <a:lnSpc>
                <a:spcPct val="100000"/>
              </a:lnSpc>
              <a:spcBef>
                <a:spcPct val="0"/>
              </a:spcBef>
              <a:spcAft>
                <a:spcPct val="0"/>
              </a:spcAft>
              <a:buNone/>
            </a:pPr>
            <a:r>
              <a:rPr kumimoji="0" lang="en-US" altLang="zh-CN" sz="2000" b="1" i="0" u="none" strike="noStrike" kern="1200" cap="none" spc="0" normalizeH="0" baseline="0" noProof="1">
                <a:solidFill>
                  <a:schemeClr val="fo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AB </a:t>
            </a:r>
            <a:r>
              <a:rPr kumimoji="0" lang="en-US" altLang="zh-CN" sz="2000" b="1" i="0" u="none" strike="noStrike" kern="1200" cap="none" spc="0" normalizeH="0" baseline="0" noProof="1">
                <a:solidFill>
                  <a:schemeClr val="fo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000" b="1" i="0" u="none" strike="noStrike" kern="1200" cap="none" spc="0" normalizeH="0" baseline="0" noProof="1">
                <a:solidFill>
                  <a:schemeClr val="fo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C</a:t>
            </a:r>
            <a:endParaRPr kumimoji="0" lang="zh-CN" altLang="en-US" sz="2000" b="1" i="0" u="none" strike="noStrike" kern="1200" cap="none" spc="0" normalizeH="0" baseline="0" noProof="1">
              <a:solidFill>
                <a:schemeClr val="fo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242697" name="Rectangle 9"/>
          <p:cNvSpPr>
            <a:spLocks noChangeArrowheads="1"/>
          </p:cNvSpPr>
          <p:nvPr/>
        </p:nvSpPr>
        <p:spPr bwMode="auto">
          <a:xfrm>
            <a:off x="2603500" y="4381500"/>
            <a:ext cx="735013" cy="396875"/>
          </a:xfrm>
          <a:prstGeom prst="rect">
            <a:avLst/>
          </a:prstGeom>
          <a:solidFill>
            <a:srgbClr val="00CCFF"/>
          </a:solidFill>
          <a:ln>
            <a:noFill/>
          </a:ln>
          <a:effectLst/>
          <a:scene3d>
            <a:camera prst="legacyObliqueTopRight"/>
            <a:lightRig rig="legacyFlat3" dir="b"/>
          </a:scene3d>
          <a:sp3d extrusionH="430200" prstMaterial="legacyMatte">
            <a:bevelT w="13500" h="13500" prst="angle"/>
            <a:bevelB w="13500" h="13500" prst="angle"/>
            <a:extrusionClr>
              <a:srgbClr val="00CCFF"/>
            </a:extrusionClr>
          </a:sp3d>
        </p:spPr>
        <p:txBody>
          <a:bodyPr wrap="none">
            <a:spAutoFit/>
            <a:flatTx/>
          </a:bodyPr>
          <a:lstStyle/>
          <a:p>
            <a:pPr marL="0" marR="0" indent="0" algn="l" defTabSz="914400" rtl="0" eaLnBrk="1" fontAlgn="base" latinLnBrk="0" hangingPunct="1">
              <a:lnSpc>
                <a:spcPct val="100000"/>
              </a:lnSpc>
              <a:spcBef>
                <a:spcPct val="0"/>
              </a:spcBef>
              <a:spcAft>
                <a:spcPct val="0"/>
              </a:spcAft>
              <a:buNone/>
            </a:pPr>
            <a:r>
              <a:rPr kumimoji="0" lang="en-US" altLang="zh-CN" sz="2000" b="1" i="0" u="none" strike="noStrike" kern="1200" cap="none" spc="0" normalizeH="0" baseline="0" noProof="1">
                <a:solidFill>
                  <a:schemeClr va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ED</a:t>
            </a:r>
            <a:r>
              <a:rPr kumimoji="0" lang="en-US" altLang="zh-CN" sz="2000" b="1" i="0" u="none" strike="noStrike" kern="1200" cap="none" spc="0" normalizeH="0" baseline="0" noProof="1">
                <a:solidFill>
                  <a:srgbClr val="98469E"/>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G</a:t>
            </a:r>
            <a:endParaRPr kumimoji="0" lang="zh-CN" altLang="en-US" sz="2000" b="1" i="0" u="none" strike="noStrike" kern="1200" cap="none" spc="0" normalizeH="0" baseline="0" noProof="1">
              <a:solidFill>
                <a:srgbClr val="98469E"/>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242698" name="Rectangle 10"/>
          <p:cNvSpPr>
            <a:spLocks noChangeArrowheads="1"/>
          </p:cNvSpPr>
          <p:nvPr/>
        </p:nvSpPr>
        <p:spPr bwMode="auto">
          <a:xfrm>
            <a:off x="4932363" y="4381500"/>
            <a:ext cx="722313" cy="396875"/>
          </a:xfrm>
          <a:prstGeom prst="rect">
            <a:avLst/>
          </a:prstGeom>
          <a:solidFill>
            <a:srgbClr val="00CCFF"/>
          </a:solidFill>
          <a:ln>
            <a:noFill/>
          </a:ln>
          <a:effectLst/>
          <a:scene3d>
            <a:camera prst="legacyObliqueTopRight"/>
            <a:lightRig rig="legacyFlat3" dir="b"/>
          </a:scene3d>
          <a:sp3d extrusionH="430200" prstMaterial="legacyMatte">
            <a:bevelT w="13500" h="13500" prst="angle"/>
            <a:bevelB w="13500" h="13500" prst="angle"/>
            <a:extrusionClr>
              <a:srgbClr val="00CCFF"/>
            </a:extrusionClr>
          </a:sp3d>
        </p:spPr>
        <p:txBody>
          <a:bodyPr wrap="none">
            <a:spAutoFit/>
            <a:flatTx/>
          </a:bodyPr>
          <a:lstStyle/>
          <a:p>
            <a:pPr marL="0" marR="0" indent="0" algn="l" defTabSz="914400" rtl="0" eaLnBrk="1" fontAlgn="base" latinLnBrk="0" hangingPunct="1">
              <a:lnSpc>
                <a:spcPct val="100000"/>
              </a:lnSpc>
              <a:spcBef>
                <a:spcPct val="0"/>
              </a:spcBef>
              <a:spcAft>
                <a:spcPct val="0"/>
              </a:spcAft>
              <a:buNone/>
            </a:pPr>
            <a:r>
              <a:rPr kumimoji="0" lang="en-US" altLang="zh-CN" sz="2000" b="1" i="0" u="none" strike="noStrike" kern="1200" cap="none" spc="0" normalizeH="0" baseline="0" noProof="1">
                <a:solidFill>
                  <a:schemeClr va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ED</a:t>
            </a:r>
            <a:r>
              <a:rPr kumimoji="0" lang="en-US" altLang="zh-CN" sz="2000" b="1" i="0" u="none" strike="noStrike" kern="1200" cap="none" spc="0" normalizeH="0" baseline="0" noProof="1">
                <a:solidFill>
                  <a:srgbClr val="98469E"/>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C</a:t>
            </a:r>
            <a:endParaRPr kumimoji="0" lang="zh-CN" altLang="en-US" sz="2000" b="1" i="0" u="none" strike="noStrike" kern="1200" cap="none" spc="0" normalizeH="0" baseline="0" noProof="1">
              <a:solidFill>
                <a:srgbClr val="98469E"/>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cxnSp>
        <p:nvCxnSpPr>
          <p:cNvPr id="85002" name="AutoShape 11"/>
          <p:cNvCxnSpPr>
            <a:stCxn id="242694" idx="2"/>
            <a:endCxn id="242695" idx="0"/>
          </p:cNvCxnSpPr>
          <p:nvPr/>
        </p:nvCxnSpPr>
        <p:spPr>
          <a:xfrm>
            <a:off x="4141788" y="3168650"/>
            <a:ext cx="0" cy="539750"/>
          </a:xfrm>
          <a:prstGeom prst="straightConnector1">
            <a:avLst/>
          </a:prstGeom>
          <a:ln w="9525" cap="flat" cmpd="sng">
            <a:solidFill>
              <a:schemeClr val="tx1"/>
            </a:solidFill>
            <a:prstDash val="solid"/>
            <a:miter/>
            <a:headEnd type="none" w="med" len="med"/>
            <a:tailEnd type="triangle" w="med" len="med"/>
          </a:ln>
        </p:spPr>
      </p:cxnSp>
      <p:cxnSp>
        <p:nvCxnSpPr>
          <p:cNvPr id="85003" name="AutoShape 12"/>
          <p:cNvCxnSpPr>
            <a:stCxn id="242695" idx="1"/>
            <a:endCxn id="242697" idx="0"/>
          </p:cNvCxnSpPr>
          <p:nvPr/>
        </p:nvCxnSpPr>
        <p:spPr>
          <a:xfrm flipH="1">
            <a:off x="2971800" y="3906838"/>
            <a:ext cx="808038" cy="474662"/>
          </a:xfrm>
          <a:prstGeom prst="straightConnector1">
            <a:avLst/>
          </a:prstGeom>
          <a:ln w="9525" cap="flat" cmpd="sng">
            <a:solidFill>
              <a:schemeClr val="tx1"/>
            </a:solidFill>
            <a:prstDash val="solid"/>
            <a:miter/>
            <a:headEnd type="none" w="med" len="med"/>
            <a:tailEnd type="triangle" w="med" len="med"/>
          </a:ln>
        </p:spPr>
      </p:cxnSp>
      <p:cxnSp>
        <p:nvCxnSpPr>
          <p:cNvPr id="85004" name="AutoShape 13"/>
          <p:cNvCxnSpPr>
            <a:stCxn id="242695" idx="3"/>
            <a:endCxn id="242698" idx="0"/>
          </p:cNvCxnSpPr>
          <p:nvPr/>
        </p:nvCxnSpPr>
        <p:spPr>
          <a:xfrm>
            <a:off x="4502150" y="3906838"/>
            <a:ext cx="792163" cy="474662"/>
          </a:xfrm>
          <a:prstGeom prst="straightConnector1">
            <a:avLst/>
          </a:prstGeom>
          <a:ln w="9525" cap="flat" cmpd="sng">
            <a:solidFill>
              <a:schemeClr val="tx1"/>
            </a:solidFill>
            <a:prstDash val="solid"/>
            <a:miter/>
            <a:headEnd type="none" w="med" len="med"/>
            <a:tailEnd type="triangle" w="med" len="med"/>
          </a:ln>
        </p:spPr>
      </p:cxnSp>
      <p:sp>
        <p:nvSpPr>
          <p:cNvPr id="242702" name="Rectangle 14"/>
          <p:cNvSpPr>
            <a:spLocks noChangeArrowheads="1"/>
          </p:cNvSpPr>
          <p:nvPr/>
        </p:nvSpPr>
        <p:spPr bwMode="auto">
          <a:xfrm>
            <a:off x="4748213" y="3751263"/>
            <a:ext cx="942975" cy="396875"/>
          </a:xfrm>
          <a:prstGeom prst="rect">
            <a:avLst/>
          </a:prstGeom>
          <a:noFill/>
          <a:ln>
            <a:noFill/>
          </a:ln>
          <a:effectLst/>
        </p:spPr>
        <p:txBody>
          <a:bodyPr wrap="none">
            <a:spAutoFit/>
          </a:bodyPr>
          <a:lstStyle/>
          <a:p>
            <a:pPr marL="0" marR="0" indent="0" algn="l" defTabSz="914400" rtl="0" eaLnBrk="1" fontAlgn="base" latinLnBrk="0" hangingPunct="1">
              <a:lnSpc>
                <a:spcPct val="100000"/>
              </a:lnSpc>
              <a:spcBef>
                <a:spcPct val="0"/>
              </a:spcBef>
              <a:spcAft>
                <a:spcPct val="0"/>
              </a:spcAft>
              <a:buNone/>
            </a:pPr>
            <a:r>
              <a:rPr kumimoji="0" lang="en-US" altLang="zh-CN" sz="2000" b="1" i="0" u="none" strike="noStrike" kern="1200" cap="none" spc="0" normalizeH="0" baseline="0" noProof="1">
                <a:solidFill>
                  <a:schemeClr val="fo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C </a:t>
            </a:r>
            <a:r>
              <a:rPr kumimoji="0" lang="en-US" altLang="zh-CN" sz="2000" b="1" i="0" u="none" strike="noStrike" kern="1200" cap="none" spc="0" normalizeH="0" baseline="0" noProof="1">
                <a:solidFill>
                  <a:schemeClr val="fo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000" b="1" i="0" u="none" strike="noStrike" kern="1200" cap="none" spc="0" normalizeH="0" baseline="0" noProof="1">
                <a:solidFill>
                  <a:schemeClr val="fo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A</a:t>
            </a:r>
            <a:endParaRPr kumimoji="0" lang="zh-CN" altLang="en-US" sz="2000" b="1" i="0" u="none" strike="noStrike" kern="1200" cap="none" spc="0" normalizeH="0" baseline="0" noProof="1">
              <a:solidFill>
                <a:schemeClr val="fo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242703" name="Rectangle 15"/>
          <p:cNvSpPr>
            <a:spLocks noChangeArrowheads="1"/>
          </p:cNvSpPr>
          <p:nvPr/>
        </p:nvSpPr>
        <p:spPr bwMode="auto">
          <a:xfrm>
            <a:off x="2627313" y="3751263"/>
            <a:ext cx="955675" cy="396875"/>
          </a:xfrm>
          <a:prstGeom prst="rect">
            <a:avLst/>
          </a:prstGeom>
          <a:noFill/>
          <a:ln>
            <a:noFill/>
          </a:ln>
          <a:effectLst/>
        </p:spPr>
        <p:txBody>
          <a:bodyPr wrap="none">
            <a:spAutoFit/>
          </a:bodyPr>
          <a:lstStyle/>
          <a:p>
            <a:pPr marL="0" marR="0" indent="0" algn="l" defTabSz="914400" rtl="0" eaLnBrk="1" fontAlgn="base" latinLnBrk="0" hangingPunct="1">
              <a:lnSpc>
                <a:spcPct val="100000"/>
              </a:lnSpc>
              <a:spcBef>
                <a:spcPct val="0"/>
              </a:spcBef>
              <a:spcAft>
                <a:spcPct val="0"/>
              </a:spcAft>
              <a:buNone/>
            </a:pPr>
            <a:r>
              <a:rPr kumimoji="0" lang="en-US" altLang="zh-CN" sz="2000" b="1" i="0" u="none" strike="noStrike" kern="1200" cap="none" spc="0" normalizeH="0" baseline="0" noProof="1">
                <a:solidFill>
                  <a:schemeClr val="fo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G </a:t>
            </a:r>
            <a:r>
              <a:rPr kumimoji="0" lang="en-US" altLang="zh-CN" sz="2000" b="1" i="0" u="none" strike="noStrike" kern="1200" cap="none" spc="0" normalizeH="0" baseline="0" noProof="1">
                <a:solidFill>
                  <a:schemeClr val="fo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000" b="1" i="0" u="none" strike="noStrike" kern="1200" cap="none" spc="0" normalizeH="0" baseline="0" noProof="1">
                <a:solidFill>
                  <a:schemeClr val="fo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A</a:t>
            </a:r>
            <a:endParaRPr kumimoji="0" lang="zh-CN" altLang="en-US" sz="2000" b="1" i="0" u="none" strike="noStrike" kern="1200" cap="none" spc="0" normalizeH="0" baseline="0" noProof="1">
              <a:solidFill>
                <a:schemeClr val="fo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242704" name="Rectangle 16"/>
          <p:cNvSpPr>
            <a:spLocks noChangeArrowheads="1"/>
          </p:cNvSpPr>
          <p:nvPr/>
        </p:nvSpPr>
        <p:spPr bwMode="auto">
          <a:xfrm>
            <a:off x="2603500" y="5292725"/>
            <a:ext cx="722313" cy="396875"/>
          </a:xfrm>
          <a:prstGeom prst="rect">
            <a:avLst/>
          </a:prstGeom>
          <a:solidFill>
            <a:srgbClr val="00CCFF"/>
          </a:solidFill>
          <a:ln>
            <a:noFill/>
          </a:ln>
          <a:effectLst/>
          <a:scene3d>
            <a:camera prst="legacyObliqueTopRight"/>
            <a:lightRig rig="legacyFlat3" dir="b"/>
          </a:scene3d>
          <a:sp3d extrusionH="430200" prstMaterial="legacyMatte">
            <a:bevelT w="13500" h="13500" prst="angle"/>
            <a:bevelB w="13500" h="13500" prst="angle"/>
            <a:extrusionClr>
              <a:srgbClr val="00CCFF"/>
            </a:extrusionClr>
          </a:sp3d>
        </p:spPr>
        <p:txBody>
          <a:bodyPr wrap="none">
            <a:spAutoFit/>
            <a:flatTx/>
          </a:bodyPr>
          <a:lstStyle/>
          <a:p>
            <a:pPr marL="0" marR="0" indent="0" algn="l" defTabSz="914400" rtl="0" eaLnBrk="1" fontAlgn="base" latinLnBrk="0" hangingPunct="1">
              <a:lnSpc>
                <a:spcPct val="100000"/>
              </a:lnSpc>
              <a:spcBef>
                <a:spcPct val="0"/>
              </a:spcBef>
              <a:spcAft>
                <a:spcPct val="0"/>
              </a:spcAft>
              <a:buNone/>
            </a:pPr>
            <a:r>
              <a:rPr kumimoji="0" lang="en-US" altLang="zh-CN" sz="2000" b="1" i="0" u="none" strike="noStrike" kern="1200" cap="none" spc="0" normalizeH="0" baseline="0" noProof="1">
                <a:solidFill>
                  <a:schemeClr va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ED</a:t>
            </a:r>
            <a:r>
              <a:rPr kumimoji="0" lang="en-US" altLang="zh-CN" sz="2000" b="1" i="0" u="none" strike="noStrike" kern="1200" cap="none" spc="0" normalizeH="0" baseline="0" noProof="1">
                <a:solidFill>
                  <a:srgbClr val="98469E"/>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B</a:t>
            </a:r>
            <a:endParaRPr kumimoji="0" lang="zh-CN" altLang="en-US" sz="2000" b="1" i="0" u="none" strike="noStrike" kern="1200" cap="none" spc="0" normalizeH="0" baseline="0" noProof="1">
              <a:solidFill>
                <a:srgbClr val="98469E"/>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cxnSp>
        <p:nvCxnSpPr>
          <p:cNvPr id="85008" name="AutoShape 17"/>
          <p:cNvCxnSpPr>
            <a:stCxn id="242697" idx="2"/>
            <a:endCxn id="242704" idx="0"/>
          </p:cNvCxnSpPr>
          <p:nvPr/>
        </p:nvCxnSpPr>
        <p:spPr>
          <a:xfrm flipH="1">
            <a:off x="2965450" y="4778375"/>
            <a:ext cx="6350" cy="514350"/>
          </a:xfrm>
          <a:prstGeom prst="straightConnector1">
            <a:avLst/>
          </a:prstGeom>
          <a:ln w="9525" cap="flat" cmpd="sng">
            <a:solidFill>
              <a:schemeClr val="tx1"/>
            </a:solidFill>
            <a:prstDash val="solid"/>
            <a:miter/>
            <a:headEnd type="none" w="med" len="med"/>
            <a:tailEnd type="triangle" w="med" len="med"/>
          </a:ln>
        </p:spPr>
      </p:cxnSp>
      <p:sp>
        <p:nvSpPr>
          <p:cNvPr id="242706" name="Rectangle 18"/>
          <p:cNvSpPr>
            <a:spLocks noChangeArrowheads="1"/>
          </p:cNvSpPr>
          <p:nvPr/>
        </p:nvSpPr>
        <p:spPr bwMode="auto">
          <a:xfrm>
            <a:off x="1908175" y="4759325"/>
            <a:ext cx="1125538" cy="396875"/>
          </a:xfrm>
          <a:prstGeom prst="rect">
            <a:avLst/>
          </a:prstGeom>
          <a:noFill/>
          <a:ln>
            <a:noFill/>
          </a:ln>
          <a:effectLst/>
        </p:spPr>
        <p:txBody>
          <a:bodyPr wrap="none">
            <a:spAutoFit/>
          </a:bodyPr>
          <a:lstStyle/>
          <a:p>
            <a:pPr marL="0" marR="0" indent="0" algn="l" defTabSz="914400" rtl="0" eaLnBrk="1" fontAlgn="base" latinLnBrk="0" hangingPunct="1">
              <a:lnSpc>
                <a:spcPct val="100000"/>
              </a:lnSpc>
              <a:spcBef>
                <a:spcPct val="0"/>
              </a:spcBef>
              <a:spcAft>
                <a:spcPct val="0"/>
              </a:spcAft>
              <a:buNone/>
            </a:pPr>
            <a:r>
              <a:rPr kumimoji="0" lang="en-US" altLang="zh-CN" sz="2000" b="1" i="0" u="none" strike="noStrike" kern="1200" cap="none" spc="0" normalizeH="0" baseline="0" noProof="1">
                <a:solidFill>
                  <a:schemeClr val="fo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BE </a:t>
            </a:r>
            <a:r>
              <a:rPr kumimoji="0" lang="en-US" altLang="zh-CN" sz="2000" b="1" i="0" u="none" strike="noStrike" kern="1200" cap="none" spc="0" normalizeH="0" baseline="0" noProof="1">
                <a:solidFill>
                  <a:schemeClr val="fo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000" b="1" i="0" u="none" strike="noStrike" kern="1200" cap="none" spc="0" normalizeH="0" baseline="0" noProof="1">
                <a:solidFill>
                  <a:schemeClr val="fo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G</a:t>
            </a:r>
            <a:endParaRPr kumimoji="0" lang="zh-CN" altLang="en-US" sz="2000" b="1" i="0" u="none" strike="noStrike" kern="1200" cap="none" spc="0" normalizeH="0" baseline="0" noProof="1">
              <a:solidFill>
                <a:schemeClr val="fo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242707" name="Rectangle 19"/>
          <p:cNvSpPr>
            <a:spLocks noChangeArrowheads="1"/>
          </p:cNvSpPr>
          <p:nvPr/>
        </p:nvSpPr>
        <p:spPr bwMode="auto">
          <a:xfrm>
            <a:off x="2606675" y="6156325"/>
            <a:ext cx="722313" cy="396875"/>
          </a:xfrm>
          <a:prstGeom prst="rect">
            <a:avLst/>
          </a:prstGeom>
          <a:solidFill>
            <a:srgbClr val="00CCFF"/>
          </a:solidFill>
          <a:ln>
            <a:noFill/>
          </a:ln>
          <a:effectLst/>
          <a:scene3d>
            <a:camera prst="legacyObliqueTopRight"/>
            <a:lightRig rig="legacyFlat3" dir="b"/>
          </a:scene3d>
          <a:sp3d extrusionH="430200" prstMaterial="legacyMatte">
            <a:bevelT w="13500" h="13500" prst="angle"/>
            <a:bevelB w="13500" h="13500" prst="angle"/>
            <a:extrusionClr>
              <a:srgbClr val="00CCFF"/>
            </a:extrusionClr>
          </a:sp3d>
        </p:spPr>
        <p:txBody>
          <a:bodyPr wrap="none">
            <a:spAutoFit/>
            <a:flatTx/>
          </a:bodyPr>
          <a:lstStyle/>
          <a:p>
            <a:pPr marL="0" marR="0" indent="0" algn="l" defTabSz="914400" rtl="0" eaLnBrk="1" fontAlgn="base" latinLnBrk="0" hangingPunct="1">
              <a:lnSpc>
                <a:spcPct val="100000"/>
              </a:lnSpc>
              <a:spcBef>
                <a:spcPct val="0"/>
              </a:spcBef>
              <a:spcAft>
                <a:spcPct val="0"/>
              </a:spcAft>
              <a:buNone/>
            </a:pPr>
            <a:r>
              <a:rPr kumimoji="0" lang="en-US" altLang="zh-CN" sz="2000" b="1" i="0" u="none" strike="noStrike" kern="1200" cap="none" spc="0" normalizeH="0" baseline="0" noProof="1">
                <a:solidFill>
                  <a:schemeClr va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ED</a:t>
            </a:r>
            <a:r>
              <a:rPr kumimoji="0" lang="en-US" altLang="zh-CN" sz="2000" b="1" i="0" u="none" strike="noStrike" kern="1200" cap="none" spc="0" normalizeH="0" baseline="0" noProof="1">
                <a:solidFill>
                  <a:srgbClr val="98469E"/>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C</a:t>
            </a:r>
            <a:endParaRPr kumimoji="0" lang="zh-CN" altLang="en-US" sz="2000" b="1" i="0" u="none" strike="noStrike" kern="1200" cap="none" spc="0" normalizeH="0" baseline="0" noProof="1">
              <a:solidFill>
                <a:srgbClr val="98469E"/>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cxnSp>
        <p:nvCxnSpPr>
          <p:cNvPr id="85011" name="AutoShape 20"/>
          <p:cNvCxnSpPr>
            <a:stCxn id="242704" idx="2"/>
            <a:endCxn id="242707" idx="0"/>
          </p:cNvCxnSpPr>
          <p:nvPr/>
        </p:nvCxnSpPr>
        <p:spPr>
          <a:xfrm>
            <a:off x="2965450" y="5689600"/>
            <a:ext cx="3175" cy="466725"/>
          </a:xfrm>
          <a:prstGeom prst="straightConnector1">
            <a:avLst/>
          </a:prstGeom>
          <a:ln w="9525" cap="flat" cmpd="sng">
            <a:solidFill>
              <a:schemeClr val="tx1"/>
            </a:solidFill>
            <a:prstDash val="solid"/>
            <a:miter/>
            <a:headEnd type="none" w="med" len="med"/>
            <a:tailEnd type="triangle" w="med" len="med"/>
          </a:ln>
        </p:spPr>
      </p:cxnSp>
      <p:sp>
        <p:nvSpPr>
          <p:cNvPr id="242709" name="Rectangle 21"/>
          <p:cNvSpPr>
            <a:spLocks noChangeArrowheads="1"/>
          </p:cNvSpPr>
          <p:nvPr/>
        </p:nvSpPr>
        <p:spPr bwMode="auto">
          <a:xfrm>
            <a:off x="1908175" y="5657850"/>
            <a:ext cx="942975" cy="396875"/>
          </a:xfrm>
          <a:prstGeom prst="rect">
            <a:avLst/>
          </a:prstGeom>
          <a:noFill/>
          <a:ln>
            <a:noFill/>
          </a:ln>
          <a:effectLst/>
        </p:spPr>
        <p:txBody>
          <a:bodyPr wrap="none">
            <a:spAutoFit/>
          </a:bodyPr>
          <a:lstStyle/>
          <a:p>
            <a:pPr marL="0" marR="0" indent="0" algn="l" defTabSz="914400" rtl="0" eaLnBrk="1" fontAlgn="base" latinLnBrk="0" hangingPunct="1">
              <a:lnSpc>
                <a:spcPct val="100000"/>
              </a:lnSpc>
              <a:spcBef>
                <a:spcPct val="0"/>
              </a:spcBef>
              <a:spcAft>
                <a:spcPct val="0"/>
              </a:spcAft>
              <a:buNone/>
            </a:pPr>
            <a:r>
              <a:rPr kumimoji="0" lang="en-US" altLang="zh-CN" sz="2000" b="1" i="0" u="none" strike="noStrike" kern="1200" cap="none" spc="0" normalizeH="0" baseline="0" noProof="1">
                <a:solidFill>
                  <a:schemeClr val="fo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C </a:t>
            </a:r>
            <a:r>
              <a:rPr kumimoji="0" lang="en-US" altLang="zh-CN" sz="2000" b="1" i="0" u="none" strike="noStrike" kern="1200" cap="none" spc="0" normalizeH="0" baseline="0" noProof="1">
                <a:solidFill>
                  <a:schemeClr val="fo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Symbol" panose="05050102010706020507" charset="2"/>
              </a:rPr>
              <a:t></a:t>
            </a:r>
            <a:r>
              <a:rPr kumimoji="0" lang="en-US" altLang="zh-CN" sz="2000" b="1" i="0" u="none" strike="noStrike" kern="1200" cap="none" spc="0" normalizeH="0" baseline="0" noProof="1">
                <a:solidFill>
                  <a:schemeClr val="fo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 B</a:t>
            </a:r>
            <a:endParaRPr kumimoji="0" lang="zh-CN" altLang="en-US" sz="2000" b="1" i="0" u="none" strike="noStrike" kern="1200" cap="none" spc="0" normalizeH="0" baseline="0" noProof="1">
              <a:solidFill>
                <a:schemeClr val="folHlink"/>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242710" name="Rectangle 22"/>
          <p:cNvSpPr>
            <a:spLocks noChangeArrowheads="1"/>
          </p:cNvSpPr>
          <p:nvPr/>
        </p:nvSpPr>
        <p:spPr bwMode="auto">
          <a:xfrm>
            <a:off x="3924300" y="5940425"/>
            <a:ext cx="4391025" cy="396875"/>
          </a:xfrm>
          <a:prstGeom prst="rect">
            <a:avLst/>
          </a:prstGeom>
          <a:noFill/>
          <a:ln>
            <a:noFill/>
          </a:ln>
          <a:effectLst/>
        </p:spPr>
        <p:txBody>
          <a:bodyPr wrap="none">
            <a:spAutoFit/>
          </a:bodyPr>
          <a:lstStyle/>
          <a:p>
            <a:pPr marL="0" marR="0" indent="0" algn="l" defTabSz="914400" rtl="0" eaLnBrk="1" fontAlgn="base" latinLnBrk="0" hangingPunct="1">
              <a:lnSpc>
                <a:spcPct val="100000"/>
              </a:lnSpc>
              <a:spcBef>
                <a:spcPct val="0"/>
              </a:spcBef>
              <a:spcAft>
                <a:spcPct val="0"/>
              </a:spcAft>
              <a:buNone/>
            </a:pPr>
            <a:r>
              <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所有候选码</a:t>
            </a:r>
            <a:r>
              <a:rPr kumimoji="0" lang="en-US" altLang="zh-CN"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rPr>
              <a:t>={EDC, EDA, EDG, EDB}</a:t>
            </a:r>
            <a:endParaRPr kumimoji="0" lang="zh-CN" altLang="en-US" sz="2000" b="1" i="0" u="none" strike="noStrike" kern="1200" cap="none" spc="0" normalizeH="0" baseline="0" noProof="1">
              <a:solidFill>
                <a:schemeClr val="tx1"/>
              </a:solidFill>
              <a:effectLst>
                <a:outerShdw blurRad="38100" dist="38100" dir="2700000">
                  <a:srgbClr val="C0C0C0"/>
                </a:outerShdw>
              </a:effectLst>
              <a:latin typeface="Arial" panose="020B0604020202020204" pitchFamily="34" charset="0"/>
              <a:ea typeface="幼圆" panose="02010509060101010101" pitchFamily="49" charset="-122"/>
              <a:cs typeface="+mn-cs"/>
              <a:sym typeface="+mn-ea"/>
            </a:endParaRPr>
          </a:p>
        </p:txBody>
      </p:sp>
      <p:sp>
        <p:nvSpPr>
          <p:cNvPr id="85014" name="文本框 22"/>
          <p:cNvSpPr txBox="1"/>
          <p:nvPr/>
        </p:nvSpPr>
        <p:spPr>
          <a:xfrm>
            <a:off x="8589963" y="19050"/>
            <a:ext cx="573087" cy="338138"/>
          </a:xfrm>
          <a:prstGeom prst="rect">
            <a:avLst/>
          </a:prstGeom>
          <a:noFill/>
          <a:ln w="9525">
            <a:noFill/>
          </a:ln>
        </p:spPr>
        <p:txBody>
          <a:bodyPr wrap="none" anchor="t">
            <a:spAutoFit/>
          </a:bodyPr>
          <a:lstStyle/>
          <a:p>
            <a:pPr eaLnBrk="0" hangingPunct="0"/>
            <a:r>
              <a:rPr lang="en-US" altLang="zh-CN" dirty="0">
                <a:solidFill>
                  <a:srgbClr val="666699"/>
                </a:solidFill>
                <a:latin typeface="Helvetica" panose="020B0604020202030204" charset="0"/>
              </a:rPr>
              <a:t>next</a:t>
            </a:r>
            <a:endParaRPr lang="zh-CN" altLang="en-US" dirty="0">
              <a:solidFill>
                <a:srgbClr val="666699"/>
              </a:solidFill>
              <a:latin typeface="Helvetica" panose="020B060402020203020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3730"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Canonical Cover</a:t>
            </a:r>
          </a:p>
        </p:txBody>
      </p:sp>
      <p:sp>
        <p:nvSpPr>
          <p:cNvPr id="86018" name="Rectangle 3"/>
          <p:cNvSpPr>
            <a:spLocks noGrp="1"/>
          </p:cNvSpPr>
          <p:nvPr>
            <p:ph idx="1"/>
          </p:nvPr>
        </p:nvSpPr>
        <p:spPr>
          <a:xfrm>
            <a:off x="36830" y="1033145"/>
            <a:ext cx="9076055" cy="5511800"/>
          </a:xfrm>
        </p:spPr>
        <p:txBody>
          <a:bodyPr wrap="square" lIns="91440" tIns="45720" rIns="91440" bIns="45720" anchor="t"/>
          <a:lstStyle/>
          <a:p>
            <a:r>
              <a:rPr lang="en-US" altLang="zh-CN" sz="2400" dirty="0"/>
              <a:t>Sets of functional dependencies may have </a:t>
            </a:r>
            <a:r>
              <a:rPr lang="en-US" altLang="zh-CN" sz="2400" b="1" i="1" dirty="0">
                <a:solidFill>
                  <a:srgbClr val="C00000"/>
                </a:solidFill>
              </a:rPr>
              <a:t>redundant dependencies</a:t>
            </a:r>
            <a:r>
              <a:rPr lang="en-US" altLang="zh-CN" sz="2400" dirty="0"/>
              <a:t> that can be inferred from the others</a:t>
            </a:r>
          </a:p>
          <a:p>
            <a:pPr lvl="1"/>
            <a:r>
              <a:rPr lang="en-US" altLang="zh-CN" sz="2400" dirty="0"/>
              <a:t>For example:  </a:t>
            </a:r>
            <a:r>
              <a:rPr lang="en-US" altLang="zh-CN" sz="2400" i="1" dirty="0"/>
              <a:t>A</a:t>
            </a:r>
            <a:r>
              <a:rPr lang="en-US" altLang="zh-CN" sz="2400" dirty="0">
                <a:sym typeface="Symbol" panose="05050102010706020507" charset="2"/>
              </a:rPr>
              <a:t></a:t>
            </a:r>
            <a:r>
              <a:rPr lang="en-US" altLang="zh-CN" sz="2400" i="1" dirty="0"/>
              <a:t>C</a:t>
            </a:r>
            <a:r>
              <a:rPr lang="en-US" altLang="zh-CN" sz="2400" dirty="0"/>
              <a:t> is redundant in:   {</a:t>
            </a:r>
            <a:r>
              <a:rPr lang="en-US" altLang="zh-CN" sz="2400" i="1" dirty="0"/>
              <a:t>A</a:t>
            </a:r>
            <a:r>
              <a:rPr lang="en-US" altLang="zh-CN" sz="2400" dirty="0">
                <a:sym typeface="Symbol" panose="05050102010706020507" charset="2"/>
              </a:rPr>
              <a:t></a:t>
            </a:r>
            <a:r>
              <a:rPr lang="en-US" altLang="zh-CN" sz="2400" i="1" dirty="0"/>
              <a:t>B</a:t>
            </a:r>
            <a:r>
              <a:rPr lang="en-US" altLang="zh-CN" sz="2400" dirty="0"/>
              <a:t>, </a:t>
            </a:r>
            <a:r>
              <a:rPr lang="en-US" altLang="zh-CN" sz="2400" i="1" dirty="0"/>
              <a:t>B</a:t>
            </a:r>
            <a:r>
              <a:rPr lang="en-US" altLang="zh-CN" sz="2400" dirty="0"/>
              <a:t> </a:t>
            </a:r>
            <a:r>
              <a:rPr lang="en-US" altLang="zh-CN" sz="2400" dirty="0">
                <a:sym typeface="Symbol" panose="05050102010706020507" charset="2"/>
              </a:rPr>
              <a:t></a:t>
            </a:r>
            <a:r>
              <a:rPr lang="en-US" altLang="zh-CN" sz="2400" dirty="0"/>
              <a:t> </a:t>
            </a:r>
            <a:r>
              <a:rPr lang="en-US" altLang="zh-CN" sz="2400" i="1" dirty="0"/>
              <a:t>C, </a:t>
            </a:r>
            <a:r>
              <a:rPr lang="en-US" altLang="zh-CN" sz="2400" b="1" i="1" dirty="0">
                <a:solidFill>
                  <a:srgbClr val="C00000"/>
                </a:solidFill>
              </a:rPr>
              <a:t>A</a:t>
            </a:r>
            <a:r>
              <a:rPr lang="en-US" altLang="zh-CN" sz="2400" b="1" i="1" dirty="0">
                <a:solidFill>
                  <a:srgbClr val="C00000"/>
                </a:solidFill>
                <a:sym typeface="Wingdings" panose="05000000000000000000" pitchFamily="2" charset="2"/>
              </a:rPr>
              <a:t> C</a:t>
            </a:r>
            <a:r>
              <a:rPr lang="en-US" altLang="zh-CN" sz="2400" i="1" dirty="0">
                <a:sym typeface="Wingdings" panose="05000000000000000000" pitchFamily="2" charset="2"/>
              </a:rPr>
              <a:t> </a:t>
            </a:r>
            <a:r>
              <a:rPr lang="en-US" altLang="zh-CN" sz="2400" dirty="0"/>
              <a:t>}</a:t>
            </a:r>
          </a:p>
          <a:p>
            <a:pPr lvl="1"/>
            <a:r>
              <a:rPr lang="en-US" altLang="zh-CN" sz="2400" dirty="0">
                <a:solidFill>
                  <a:srgbClr val="0070C0"/>
                </a:solidFill>
              </a:rPr>
              <a:t>Parts of a functional dependency</a:t>
            </a:r>
            <a:r>
              <a:rPr lang="en-US" altLang="zh-CN" sz="2400" dirty="0"/>
              <a:t> may be redundant</a:t>
            </a:r>
          </a:p>
          <a:p>
            <a:pPr lvl="2"/>
            <a:r>
              <a:rPr lang="en-US" altLang="zh-CN" sz="2400" dirty="0"/>
              <a:t>E.g.: on RHS:   {</a:t>
            </a:r>
            <a:r>
              <a:rPr lang="en-US" altLang="zh-CN" sz="2400" i="1" dirty="0"/>
              <a:t>A</a:t>
            </a:r>
            <a:r>
              <a:rPr lang="en-US" altLang="zh-CN" sz="2400" dirty="0"/>
              <a:t> </a:t>
            </a:r>
            <a:r>
              <a:rPr lang="en-US" altLang="zh-CN" sz="2400" dirty="0">
                <a:sym typeface="Symbol" panose="05050102010706020507" charset="2"/>
              </a:rPr>
              <a:t></a:t>
            </a:r>
            <a:r>
              <a:rPr lang="en-US" altLang="zh-CN" sz="2400" dirty="0"/>
              <a:t> </a:t>
            </a:r>
            <a:r>
              <a:rPr lang="en-US" altLang="zh-CN" sz="2400" i="1" dirty="0"/>
              <a:t>B</a:t>
            </a:r>
            <a:r>
              <a:rPr lang="en-US" altLang="zh-CN" sz="2400" dirty="0"/>
              <a:t>,   </a:t>
            </a:r>
            <a:r>
              <a:rPr lang="en-US" altLang="zh-CN" sz="2400" i="1" dirty="0"/>
              <a:t>B</a:t>
            </a:r>
            <a:r>
              <a:rPr lang="en-US" altLang="zh-CN" sz="2400" dirty="0"/>
              <a:t> </a:t>
            </a:r>
            <a:r>
              <a:rPr lang="en-US" altLang="zh-CN" sz="2400" dirty="0">
                <a:sym typeface="Symbol" panose="05050102010706020507" charset="2"/>
              </a:rPr>
              <a:t></a:t>
            </a:r>
            <a:r>
              <a:rPr lang="en-US" altLang="zh-CN" sz="2400" dirty="0"/>
              <a:t> </a:t>
            </a:r>
            <a:r>
              <a:rPr lang="en-US" altLang="zh-CN" sz="2400" i="1" dirty="0"/>
              <a:t>C</a:t>
            </a:r>
            <a:r>
              <a:rPr lang="en-US" altLang="zh-CN" sz="2400" dirty="0"/>
              <a:t>,   </a:t>
            </a:r>
            <a:r>
              <a:rPr lang="en-US" altLang="zh-CN" sz="2400" b="1" i="1" dirty="0">
                <a:solidFill>
                  <a:srgbClr val="C00000"/>
                </a:solidFill>
              </a:rPr>
              <a:t>A </a:t>
            </a:r>
            <a:r>
              <a:rPr lang="en-US" altLang="zh-CN" sz="2400" b="1" i="1" dirty="0">
                <a:solidFill>
                  <a:srgbClr val="C00000"/>
                </a:solidFill>
                <a:sym typeface="Symbol" panose="05050102010706020507" charset="2"/>
              </a:rPr>
              <a:t></a:t>
            </a:r>
            <a:r>
              <a:rPr lang="en-US" altLang="zh-CN" sz="2400" b="1" i="1" dirty="0">
                <a:solidFill>
                  <a:srgbClr val="C00000"/>
                </a:solidFill>
              </a:rPr>
              <a:t> </a:t>
            </a:r>
            <a:r>
              <a:rPr lang="en-US" altLang="zh-CN" sz="2400" b="1" i="1" dirty="0">
                <a:solidFill>
                  <a:srgbClr val="00B050"/>
                </a:solidFill>
              </a:rPr>
              <a:t>C</a:t>
            </a:r>
            <a:r>
              <a:rPr lang="en-US" altLang="zh-CN" sz="2400" b="1" i="1" dirty="0">
                <a:solidFill>
                  <a:srgbClr val="C00000"/>
                </a:solidFill>
              </a:rPr>
              <a:t>D</a:t>
            </a:r>
            <a:r>
              <a:rPr lang="en-US" altLang="zh-CN" sz="2400" dirty="0"/>
              <a:t>}  can be simplified to    {</a:t>
            </a:r>
            <a:r>
              <a:rPr lang="en-US" altLang="zh-CN" sz="2400" i="1" dirty="0"/>
              <a:t>A</a:t>
            </a:r>
            <a:r>
              <a:rPr lang="en-US" altLang="zh-CN" sz="2400" dirty="0"/>
              <a:t> </a:t>
            </a:r>
            <a:r>
              <a:rPr lang="en-US" altLang="zh-CN" sz="2400" dirty="0">
                <a:sym typeface="Symbol" panose="05050102010706020507" charset="2"/>
              </a:rPr>
              <a:t></a:t>
            </a:r>
            <a:r>
              <a:rPr lang="en-US" altLang="zh-CN" sz="2400" i="1" dirty="0"/>
              <a:t> B</a:t>
            </a:r>
            <a:r>
              <a:rPr lang="en-US" altLang="zh-CN" sz="2400" dirty="0"/>
              <a:t>,   </a:t>
            </a:r>
            <a:r>
              <a:rPr lang="en-US" altLang="zh-CN" sz="2400" i="1" dirty="0"/>
              <a:t>B</a:t>
            </a:r>
            <a:r>
              <a:rPr lang="en-US" altLang="zh-CN" sz="2400" dirty="0"/>
              <a:t> </a:t>
            </a:r>
            <a:r>
              <a:rPr lang="en-US" altLang="zh-CN" sz="2400" dirty="0">
                <a:sym typeface="Symbol" panose="05050102010706020507" charset="2"/>
              </a:rPr>
              <a:t></a:t>
            </a:r>
            <a:r>
              <a:rPr lang="en-US" altLang="zh-CN" sz="2400" dirty="0"/>
              <a:t> </a:t>
            </a:r>
            <a:r>
              <a:rPr lang="en-US" altLang="zh-CN" sz="2400" i="1" dirty="0"/>
              <a:t>C</a:t>
            </a:r>
            <a:r>
              <a:rPr lang="en-US" altLang="zh-CN" sz="2400" dirty="0"/>
              <a:t>,   </a:t>
            </a:r>
            <a:r>
              <a:rPr lang="en-US" altLang="zh-CN" sz="2400" b="1" i="1" dirty="0">
                <a:solidFill>
                  <a:srgbClr val="0070C0"/>
                </a:solidFill>
              </a:rPr>
              <a:t>A </a:t>
            </a:r>
            <a:r>
              <a:rPr lang="en-US" altLang="zh-CN" sz="2400" b="1" i="1" dirty="0">
                <a:solidFill>
                  <a:srgbClr val="0070C0"/>
                </a:solidFill>
                <a:sym typeface="Symbol" panose="05050102010706020507" charset="2"/>
              </a:rPr>
              <a:t></a:t>
            </a:r>
            <a:r>
              <a:rPr lang="en-US" altLang="zh-CN" sz="2400" b="1" i="1" dirty="0">
                <a:solidFill>
                  <a:srgbClr val="0070C0"/>
                </a:solidFill>
              </a:rPr>
              <a:t> D</a:t>
            </a:r>
            <a:r>
              <a:rPr lang="en-US" altLang="zh-CN" sz="2400" dirty="0"/>
              <a:t>} </a:t>
            </a:r>
          </a:p>
          <a:p>
            <a:pPr lvl="2"/>
            <a:r>
              <a:rPr lang="en-US" altLang="zh-CN" sz="2400" dirty="0"/>
              <a:t>E.g.: on LHS:    {A </a:t>
            </a:r>
            <a:r>
              <a:rPr lang="en-US" altLang="zh-CN" sz="2400" dirty="0">
                <a:sym typeface="Symbol" panose="05050102010706020507" charset="2"/>
              </a:rPr>
              <a:t></a:t>
            </a:r>
            <a:r>
              <a:rPr lang="en-US" altLang="zh-CN" sz="2400" dirty="0"/>
              <a:t> </a:t>
            </a:r>
            <a:r>
              <a:rPr lang="en-US" altLang="zh-CN" sz="2400" i="1" dirty="0"/>
              <a:t>B</a:t>
            </a:r>
            <a:r>
              <a:rPr lang="en-US" altLang="zh-CN" sz="2400" dirty="0"/>
              <a:t>,   </a:t>
            </a:r>
            <a:r>
              <a:rPr lang="en-US" altLang="zh-CN" sz="2400" i="1" dirty="0"/>
              <a:t>B</a:t>
            </a:r>
            <a:r>
              <a:rPr lang="en-US" altLang="zh-CN" sz="2400" dirty="0"/>
              <a:t> </a:t>
            </a:r>
            <a:r>
              <a:rPr lang="en-US" altLang="zh-CN" sz="2400" dirty="0">
                <a:sym typeface="Symbol" panose="05050102010706020507" charset="2"/>
              </a:rPr>
              <a:t></a:t>
            </a:r>
            <a:r>
              <a:rPr lang="en-US" altLang="zh-CN" sz="2400" dirty="0"/>
              <a:t> </a:t>
            </a:r>
            <a:r>
              <a:rPr lang="en-US" altLang="zh-CN" sz="2400" i="1" dirty="0"/>
              <a:t>C</a:t>
            </a:r>
            <a:r>
              <a:rPr lang="en-US" altLang="zh-CN" sz="2400" dirty="0"/>
              <a:t>,   </a:t>
            </a:r>
            <a:r>
              <a:rPr lang="en-US" altLang="zh-CN" sz="2400" b="1" i="1" dirty="0">
                <a:solidFill>
                  <a:srgbClr val="C00000"/>
                </a:solidFill>
              </a:rPr>
              <a:t>A</a:t>
            </a:r>
            <a:r>
              <a:rPr lang="en-US" altLang="zh-CN" sz="2400" b="1" i="1" dirty="0">
                <a:solidFill>
                  <a:srgbClr val="00B050"/>
                </a:solidFill>
              </a:rPr>
              <a:t>C</a:t>
            </a:r>
            <a:r>
              <a:rPr lang="en-US" altLang="zh-CN" sz="2400" b="1" i="1" dirty="0">
                <a:solidFill>
                  <a:srgbClr val="C00000"/>
                </a:solidFill>
              </a:rPr>
              <a:t> </a:t>
            </a:r>
            <a:r>
              <a:rPr lang="en-US" altLang="zh-CN" sz="2400" b="1" i="1" dirty="0">
                <a:solidFill>
                  <a:srgbClr val="C00000"/>
                </a:solidFill>
                <a:sym typeface="Symbol" panose="05050102010706020507" charset="2"/>
              </a:rPr>
              <a:t></a:t>
            </a:r>
            <a:r>
              <a:rPr lang="en-US" altLang="zh-CN" sz="2400" b="1" i="1" dirty="0">
                <a:solidFill>
                  <a:srgbClr val="C00000"/>
                </a:solidFill>
              </a:rPr>
              <a:t> D</a:t>
            </a:r>
            <a:r>
              <a:rPr lang="en-US" altLang="zh-CN" sz="2400" dirty="0"/>
              <a:t>}  can be simplified to  {A </a:t>
            </a:r>
            <a:r>
              <a:rPr lang="en-US" altLang="zh-CN" sz="2400" dirty="0">
                <a:sym typeface="Symbol" panose="05050102010706020507" charset="2"/>
              </a:rPr>
              <a:t></a:t>
            </a:r>
            <a:r>
              <a:rPr lang="en-US" altLang="zh-CN" sz="2400" dirty="0"/>
              <a:t> </a:t>
            </a:r>
            <a:r>
              <a:rPr lang="en-US" altLang="zh-CN" sz="2400" i="1" dirty="0"/>
              <a:t>B</a:t>
            </a:r>
            <a:r>
              <a:rPr lang="en-US" altLang="zh-CN" sz="2400" dirty="0"/>
              <a:t>,   </a:t>
            </a:r>
            <a:r>
              <a:rPr lang="en-US" altLang="zh-CN" sz="2400" i="1" dirty="0"/>
              <a:t>B</a:t>
            </a:r>
            <a:r>
              <a:rPr lang="en-US" altLang="zh-CN" sz="2400" dirty="0"/>
              <a:t> </a:t>
            </a:r>
            <a:r>
              <a:rPr lang="en-US" altLang="zh-CN" sz="2400" dirty="0">
                <a:sym typeface="Symbol" panose="05050102010706020507" charset="2"/>
              </a:rPr>
              <a:t></a:t>
            </a:r>
            <a:r>
              <a:rPr lang="en-US" altLang="zh-CN" sz="2400" dirty="0"/>
              <a:t> </a:t>
            </a:r>
            <a:r>
              <a:rPr lang="en-US" altLang="zh-CN" sz="2400" i="1" dirty="0"/>
              <a:t>C</a:t>
            </a:r>
            <a:r>
              <a:rPr lang="en-US" altLang="zh-CN" sz="2400" dirty="0"/>
              <a:t>,   </a:t>
            </a:r>
            <a:r>
              <a:rPr lang="en-US" altLang="zh-CN" sz="2400" b="1" i="1" dirty="0">
                <a:solidFill>
                  <a:srgbClr val="0070C0"/>
                </a:solidFill>
              </a:rPr>
              <a:t>A </a:t>
            </a:r>
            <a:r>
              <a:rPr lang="en-US" altLang="zh-CN" sz="2400" b="1" i="1" dirty="0">
                <a:solidFill>
                  <a:srgbClr val="0070C0"/>
                </a:solidFill>
                <a:sym typeface="Symbol" panose="05050102010706020507" charset="2"/>
              </a:rPr>
              <a:t></a:t>
            </a:r>
            <a:r>
              <a:rPr lang="en-US" altLang="zh-CN" sz="2400" b="1" i="1" dirty="0">
                <a:solidFill>
                  <a:srgbClr val="0070C0"/>
                </a:solidFill>
              </a:rPr>
              <a:t> D</a:t>
            </a:r>
            <a:r>
              <a:rPr lang="en-US" altLang="zh-CN" sz="2400" dirty="0"/>
              <a:t>} </a:t>
            </a:r>
          </a:p>
          <a:p>
            <a:r>
              <a:rPr lang="en-US" altLang="zh-CN" sz="2400" dirty="0"/>
              <a:t>Intuitively, </a:t>
            </a:r>
            <a:r>
              <a:rPr lang="en-US" altLang="zh-CN" sz="2400" b="1" u="sng" dirty="0">
                <a:solidFill>
                  <a:srgbClr val="7030A0"/>
                </a:solidFill>
              </a:rPr>
              <a:t>a canonical cover</a:t>
            </a:r>
            <a:r>
              <a:rPr lang="en-US" altLang="zh-CN" sz="2400" dirty="0"/>
              <a:t> of F is a </a:t>
            </a:r>
            <a:r>
              <a:rPr lang="zh-CN" altLang="en-US" sz="2400" dirty="0"/>
              <a:t>“</a:t>
            </a:r>
            <a:r>
              <a:rPr lang="en-US" altLang="zh-CN" sz="2400" dirty="0"/>
              <a:t>minimal</a:t>
            </a:r>
            <a:r>
              <a:rPr lang="zh-CN" altLang="en-US" sz="2400" dirty="0"/>
              <a:t>”</a:t>
            </a:r>
            <a:r>
              <a:rPr lang="en-US" altLang="zh-CN" sz="2400" dirty="0"/>
              <a:t> set of functional dependencies equivalent to F, having </a:t>
            </a:r>
            <a:r>
              <a:rPr lang="en-US" altLang="zh-CN" sz="2400" b="1" i="1" u="sng" dirty="0">
                <a:solidFill>
                  <a:srgbClr val="7030A0"/>
                </a:solidFill>
              </a:rPr>
              <a:t>no</a:t>
            </a:r>
            <a:r>
              <a:rPr lang="en-US" altLang="zh-CN" sz="2400" dirty="0"/>
              <a:t> redundant dependencies or redundant parts of dependencies </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5778"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4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Extraneous Attributes</a:t>
            </a:r>
          </a:p>
        </p:txBody>
      </p:sp>
      <p:sp>
        <p:nvSpPr>
          <p:cNvPr id="715779" name="Rectangle 3"/>
          <p:cNvSpPr>
            <a:spLocks noGrp="1"/>
          </p:cNvSpPr>
          <p:nvPr>
            <p:ph idx="1"/>
          </p:nvPr>
        </p:nvSpPr>
        <p:spPr>
          <a:xfrm>
            <a:off x="45720" y="915035"/>
            <a:ext cx="8999220" cy="5697855"/>
          </a:xfrm>
        </p:spPr>
        <p:txBody>
          <a:bodyPr wrap="square" lIns="91440" tIns="45720" rIns="91440" bIns="45720" anchor="t"/>
          <a:lstStyle/>
          <a:p>
            <a:r>
              <a:rPr lang="en-US" altLang="zh-CN" sz="2000" dirty="0"/>
              <a:t>Consider a set </a:t>
            </a:r>
            <a:r>
              <a:rPr lang="en-US" altLang="zh-CN" sz="2000" i="1" dirty="0"/>
              <a:t>F</a:t>
            </a:r>
            <a:r>
              <a:rPr lang="en-US" altLang="zh-CN" sz="2000" dirty="0"/>
              <a:t> of functional dependencies and the functional dependency </a:t>
            </a:r>
            <a:r>
              <a:rPr lang="en-US" altLang="zh-CN" sz="2000" b="1" i="1" dirty="0">
                <a:solidFill>
                  <a:srgbClr val="C00000"/>
                </a:solidFill>
                <a:effectLst>
                  <a:outerShdw blurRad="38100" dist="38100" dir="2700000" algn="tl">
                    <a:srgbClr val="000000">
                      <a:alpha val="43137"/>
                    </a:srgbClr>
                  </a:outerShdw>
                </a:effectLst>
                <a:sym typeface="Symbol" panose="05050102010706020507" charset="2"/>
              </a:rPr>
              <a:t></a:t>
            </a:r>
            <a:r>
              <a:rPr lang="en-US" altLang="zh-CN" sz="2000" dirty="0">
                <a:sym typeface="Symbol" panose="05050102010706020507" charset="2"/>
              </a:rPr>
              <a:t> </a:t>
            </a:r>
            <a:r>
              <a:rPr lang="en-US" altLang="zh-CN" sz="2000" dirty="0">
                <a:sym typeface="Monotype Sorts" charset="2"/>
              </a:rPr>
              <a:t> </a:t>
            </a:r>
            <a:r>
              <a:rPr lang="en-US" altLang="zh-CN" sz="2000" dirty="0">
                <a:sym typeface="Symbol" panose="05050102010706020507" charset="2"/>
              </a:rPr>
              <a:t> </a:t>
            </a:r>
            <a:r>
              <a:rPr lang="en-US" altLang="zh-CN" sz="2000" dirty="0">
                <a:sym typeface="Greek Symbols" pitchFamily="18" charset="2"/>
              </a:rPr>
              <a:t>in </a:t>
            </a:r>
            <a:r>
              <a:rPr lang="en-US" altLang="zh-CN" sz="2000" i="1" dirty="0">
                <a:sym typeface="Greek Symbols" pitchFamily="18" charset="2"/>
              </a:rPr>
              <a:t>F</a:t>
            </a:r>
            <a:r>
              <a:rPr lang="en-US" altLang="zh-CN" sz="2000" dirty="0">
                <a:sym typeface="Greek Symbols" pitchFamily="18" charset="2"/>
              </a:rPr>
              <a:t>.</a:t>
            </a:r>
          </a:p>
          <a:p>
            <a:pPr lvl="1"/>
            <a:r>
              <a:rPr lang="en-US" altLang="zh-CN" sz="2000" dirty="0">
                <a:sym typeface="Monotype Sorts" charset="2"/>
              </a:rPr>
              <a:t>Attribute A is </a:t>
            </a:r>
            <a:r>
              <a:rPr lang="en-US" altLang="zh-CN" sz="2000" b="1" dirty="0">
                <a:solidFill>
                  <a:srgbClr val="000099"/>
                </a:solidFill>
                <a:sym typeface="Monotype Sorts" charset="2"/>
              </a:rPr>
              <a:t>extraneous</a:t>
            </a:r>
            <a:r>
              <a:rPr lang="en-US" altLang="zh-CN" sz="2000" dirty="0">
                <a:solidFill>
                  <a:schemeClr val="tx2"/>
                </a:solidFill>
                <a:sym typeface="Monotype Sorts" charset="2"/>
              </a:rPr>
              <a:t> </a:t>
            </a:r>
            <a:r>
              <a:rPr lang="en-US" altLang="zh-CN" sz="2000" dirty="0">
                <a:sym typeface="Monotype Sorts" charset="2"/>
              </a:rPr>
              <a:t>in </a:t>
            </a:r>
            <a:r>
              <a:rPr lang="en-US" altLang="zh-CN" sz="2000" dirty="0">
                <a:sym typeface="Symbol" panose="05050102010706020507" charset="2"/>
              </a:rPr>
              <a:t></a:t>
            </a:r>
            <a:r>
              <a:rPr lang="en-US" altLang="zh-CN" sz="2000" dirty="0">
                <a:sym typeface="Greek Symbols" pitchFamily="18" charset="2"/>
              </a:rPr>
              <a:t> if </a:t>
            </a:r>
            <a:r>
              <a:rPr lang="en-US" altLang="zh-CN" sz="2000" i="1" dirty="0">
                <a:sym typeface="Greek Symbols" pitchFamily="18" charset="2"/>
              </a:rPr>
              <a:t>A </a:t>
            </a:r>
            <a:r>
              <a:rPr lang="en-US" altLang="zh-CN" sz="2000" dirty="0">
                <a:sym typeface="Symbol" panose="05050102010706020507" charset="2"/>
              </a:rPr>
              <a:t> </a:t>
            </a:r>
            <a:r>
              <a:rPr lang="en-US" altLang="zh-CN" sz="2000" dirty="0">
                <a:sym typeface="Greek Symbols" pitchFamily="18" charset="2"/>
              </a:rPr>
              <a:t> and </a:t>
            </a:r>
            <a:r>
              <a:rPr lang="en-US" altLang="zh-CN" sz="2000" i="1" dirty="0">
                <a:sym typeface="Greek Symbols" pitchFamily="18" charset="2"/>
              </a:rPr>
              <a:t>F</a:t>
            </a:r>
            <a:r>
              <a:rPr lang="en-US" altLang="zh-CN" sz="2000" dirty="0">
                <a:sym typeface="Greek Symbols" pitchFamily="18" charset="2"/>
              </a:rPr>
              <a:t> logically implies </a:t>
            </a:r>
          </a:p>
          <a:p>
            <a:pPr lvl="2"/>
            <a:r>
              <a:rPr lang="en-US" altLang="zh-CN" sz="2000" dirty="0">
                <a:sym typeface="Greek Symbols" pitchFamily="18" charset="2"/>
              </a:rPr>
              <a:t>(</a:t>
            </a:r>
            <a:r>
              <a:rPr lang="en-US" altLang="zh-CN" sz="2000" i="1" dirty="0">
                <a:sym typeface="Greek Symbols" pitchFamily="18" charset="2"/>
              </a:rPr>
              <a:t>F</a:t>
            </a:r>
            <a:r>
              <a:rPr lang="en-US" altLang="zh-CN" sz="2000" dirty="0">
                <a:sym typeface="Greek Symbols" pitchFamily="18" charset="2"/>
              </a:rPr>
              <a:t> – {</a:t>
            </a:r>
            <a:r>
              <a:rPr lang="en-US" altLang="zh-CN" sz="2000" dirty="0">
                <a:sym typeface="Symbol" panose="05050102010706020507" charset="2"/>
              </a:rPr>
              <a:t></a:t>
            </a:r>
            <a:r>
              <a:rPr lang="en-US" altLang="zh-CN" sz="2000" dirty="0">
                <a:sym typeface="Greek Symbols" pitchFamily="18" charset="2"/>
              </a:rPr>
              <a:t> </a:t>
            </a:r>
            <a:r>
              <a:rPr lang="en-US" altLang="zh-CN" sz="2000" dirty="0">
                <a:sym typeface="Symbol" panose="05050102010706020507" charset="2"/>
              </a:rPr>
              <a:t></a:t>
            </a:r>
            <a:r>
              <a:rPr lang="en-US" altLang="zh-CN" sz="2000" dirty="0">
                <a:sym typeface="Monotype Sorts" charset="2"/>
              </a:rPr>
              <a:t> </a:t>
            </a:r>
            <a:r>
              <a:rPr lang="en-US" altLang="zh-CN" sz="2000" dirty="0">
                <a:sym typeface="Symbol" panose="05050102010706020507" charset="2"/>
              </a:rPr>
              <a:t></a:t>
            </a:r>
            <a:r>
              <a:rPr lang="en-US" altLang="zh-CN" sz="2000" dirty="0">
                <a:sym typeface="Greek Symbols" pitchFamily="18" charset="2"/>
              </a:rPr>
              <a:t>}) </a:t>
            </a:r>
            <a:r>
              <a:rPr lang="en-US" altLang="zh-CN" sz="2000" dirty="0">
                <a:sym typeface="Symbol" panose="05050102010706020507" charset="2"/>
              </a:rPr>
              <a:t> {(</a:t>
            </a:r>
            <a:r>
              <a:rPr lang="en-US" altLang="zh-CN" sz="2000" dirty="0">
                <a:sym typeface="Greek Symbols" pitchFamily="18" charset="2"/>
              </a:rPr>
              <a:t>  – </a:t>
            </a:r>
            <a:r>
              <a:rPr lang="en-US" altLang="zh-CN" sz="2000" i="1" dirty="0">
                <a:sym typeface="Greek Symbols" pitchFamily="18" charset="2"/>
              </a:rPr>
              <a:t>A</a:t>
            </a:r>
            <a:r>
              <a:rPr lang="en-US" altLang="zh-CN" sz="2000" dirty="0">
                <a:sym typeface="Greek Symbols" pitchFamily="18" charset="2"/>
              </a:rPr>
              <a:t>) </a:t>
            </a:r>
            <a:r>
              <a:rPr lang="en-US" altLang="zh-CN" sz="2000" dirty="0">
                <a:sym typeface="Symbol" panose="05050102010706020507" charset="2"/>
              </a:rPr>
              <a:t></a:t>
            </a:r>
            <a:r>
              <a:rPr lang="en-US" altLang="zh-CN" sz="2000" dirty="0">
                <a:sym typeface="Monotype Sorts" charset="2"/>
              </a:rPr>
              <a:t> </a:t>
            </a:r>
            <a:r>
              <a:rPr lang="en-US" altLang="zh-CN" sz="2000" dirty="0">
                <a:sym typeface="Symbol" panose="05050102010706020507" charset="2"/>
              </a:rPr>
              <a:t></a:t>
            </a:r>
            <a:r>
              <a:rPr lang="en-US" altLang="zh-CN" sz="2000" dirty="0">
                <a:sym typeface="Greek Symbols" pitchFamily="18" charset="2"/>
              </a:rPr>
              <a:t>}.</a:t>
            </a:r>
          </a:p>
          <a:p>
            <a:pPr lvl="1"/>
            <a:r>
              <a:rPr lang="en-US" altLang="zh-CN" sz="2000" dirty="0">
                <a:sym typeface="Greek Symbols" pitchFamily="18" charset="2"/>
              </a:rPr>
              <a:t>Attribute </a:t>
            </a:r>
            <a:r>
              <a:rPr lang="en-US" altLang="zh-CN" sz="2000" i="1" dirty="0">
                <a:sym typeface="Greek Symbols" pitchFamily="18" charset="2"/>
              </a:rPr>
              <a:t>A</a:t>
            </a:r>
            <a:r>
              <a:rPr lang="en-US" altLang="zh-CN" sz="2000" dirty="0">
                <a:sym typeface="Greek Symbols" pitchFamily="18" charset="2"/>
              </a:rPr>
              <a:t> is </a:t>
            </a:r>
            <a:r>
              <a:rPr lang="en-US" altLang="zh-CN" sz="2000" b="1" dirty="0">
                <a:solidFill>
                  <a:srgbClr val="000099"/>
                </a:solidFill>
                <a:sym typeface="Greek Symbols" pitchFamily="18" charset="2"/>
              </a:rPr>
              <a:t>extraneous</a:t>
            </a:r>
            <a:r>
              <a:rPr lang="en-US" altLang="zh-CN" sz="2000" dirty="0">
                <a:sym typeface="Greek Symbols" pitchFamily="18" charset="2"/>
              </a:rPr>
              <a:t> in </a:t>
            </a:r>
            <a:r>
              <a:rPr lang="en-US" altLang="zh-CN" sz="2000" dirty="0">
                <a:sym typeface="Symbol" panose="05050102010706020507" charset="2"/>
              </a:rPr>
              <a:t></a:t>
            </a:r>
            <a:r>
              <a:rPr lang="en-US" altLang="zh-CN" sz="2000" dirty="0">
                <a:sym typeface="Greek Symbols" pitchFamily="18" charset="2"/>
              </a:rPr>
              <a:t> if </a:t>
            </a:r>
            <a:r>
              <a:rPr lang="en-US" altLang="zh-CN" sz="2000" i="1" dirty="0">
                <a:sym typeface="Greek Symbols" pitchFamily="18" charset="2"/>
              </a:rPr>
              <a:t>A</a:t>
            </a:r>
            <a:r>
              <a:rPr lang="en-US" altLang="zh-CN" sz="2000" dirty="0">
                <a:sym typeface="Greek Symbols" pitchFamily="18" charset="2"/>
              </a:rPr>
              <a:t> </a:t>
            </a:r>
            <a:r>
              <a:rPr lang="en-US" altLang="zh-CN" sz="2000" dirty="0">
                <a:sym typeface="Symbol" panose="05050102010706020507" charset="2"/>
              </a:rPr>
              <a:t> </a:t>
            </a:r>
            <a:r>
              <a:rPr lang="en-US" altLang="zh-CN" sz="2000" dirty="0">
                <a:sym typeface="Greek Symbols" pitchFamily="18" charset="2"/>
              </a:rPr>
              <a:t> and the set of functional dependencies   (</a:t>
            </a:r>
            <a:r>
              <a:rPr lang="en-US" altLang="zh-CN" sz="2000" i="1" dirty="0">
                <a:sym typeface="Greek Symbols" pitchFamily="18" charset="2"/>
              </a:rPr>
              <a:t>F</a:t>
            </a:r>
            <a:r>
              <a:rPr lang="en-US" altLang="zh-CN" sz="2000" dirty="0">
                <a:sym typeface="Greek Symbols" pitchFamily="18" charset="2"/>
              </a:rPr>
              <a:t>  – {</a:t>
            </a:r>
            <a:r>
              <a:rPr lang="en-US" altLang="zh-CN" sz="2000" dirty="0">
                <a:sym typeface="Symbol" panose="05050102010706020507" charset="2"/>
              </a:rPr>
              <a:t></a:t>
            </a:r>
            <a:r>
              <a:rPr lang="en-US" altLang="zh-CN" sz="2000" dirty="0">
                <a:sym typeface="Greek Symbols" pitchFamily="18" charset="2"/>
              </a:rPr>
              <a:t> </a:t>
            </a:r>
            <a:r>
              <a:rPr lang="en-US" altLang="zh-CN" sz="2000" dirty="0">
                <a:sym typeface="Symbol" panose="05050102010706020507" charset="2"/>
              </a:rPr>
              <a:t></a:t>
            </a:r>
            <a:r>
              <a:rPr lang="en-US" altLang="zh-CN" sz="2000" dirty="0">
                <a:sym typeface="Monotype Sorts" charset="2"/>
              </a:rPr>
              <a:t> </a:t>
            </a:r>
            <a:r>
              <a:rPr lang="en-US" altLang="zh-CN" sz="2000" dirty="0">
                <a:sym typeface="Symbol" panose="05050102010706020507" charset="2"/>
              </a:rPr>
              <a:t></a:t>
            </a:r>
            <a:r>
              <a:rPr lang="en-US" altLang="zh-CN" sz="2000" dirty="0">
                <a:sym typeface="Greek Symbols" pitchFamily="18" charset="2"/>
              </a:rPr>
              <a:t>}) </a:t>
            </a:r>
            <a:r>
              <a:rPr lang="en-US" altLang="zh-CN" sz="2000" dirty="0">
                <a:sym typeface="Symbol" panose="05050102010706020507" charset="2"/>
              </a:rPr>
              <a:t> {</a:t>
            </a:r>
            <a:r>
              <a:rPr lang="en-US" altLang="zh-CN" sz="2000" dirty="0">
                <a:sym typeface="Greek Symbols" pitchFamily="18" charset="2"/>
              </a:rPr>
              <a:t> </a:t>
            </a:r>
            <a:r>
              <a:rPr lang="en-US" altLang="zh-CN" sz="2000" dirty="0">
                <a:sym typeface="Symbol" panose="05050102010706020507" charset="2"/>
              </a:rPr>
              <a:t></a:t>
            </a:r>
            <a:r>
              <a:rPr lang="en-US" altLang="zh-CN" sz="2000" i="1" dirty="0">
                <a:sym typeface="Greek Symbols" pitchFamily="18" charset="2"/>
              </a:rPr>
              <a:t>(</a:t>
            </a:r>
            <a:r>
              <a:rPr lang="en-US" altLang="zh-CN" sz="2000" dirty="0">
                <a:sym typeface="Symbol" panose="05050102010706020507" charset="2"/>
              </a:rPr>
              <a:t></a:t>
            </a:r>
            <a:r>
              <a:rPr lang="en-US" altLang="zh-CN" sz="2000" i="1" dirty="0">
                <a:sym typeface="Greek Symbols" pitchFamily="18" charset="2"/>
              </a:rPr>
              <a:t> </a:t>
            </a:r>
            <a:r>
              <a:rPr lang="en-US" altLang="zh-CN" sz="2000" dirty="0">
                <a:sym typeface="Greek Symbols" pitchFamily="18" charset="2"/>
              </a:rPr>
              <a:t>– </a:t>
            </a:r>
            <a:r>
              <a:rPr lang="en-US" altLang="zh-CN" sz="2000" i="1" dirty="0">
                <a:sym typeface="Greek Symbols" pitchFamily="18" charset="2"/>
              </a:rPr>
              <a:t>A</a:t>
            </a:r>
            <a:r>
              <a:rPr lang="en-US" altLang="zh-CN" sz="2000" dirty="0">
                <a:sym typeface="Greek Symbols" pitchFamily="18" charset="2"/>
              </a:rPr>
              <a:t>)} logically implies </a:t>
            </a:r>
            <a:r>
              <a:rPr lang="en-US" altLang="zh-CN" sz="2000" i="1" dirty="0">
                <a:sym typeface="Greek Symbols" pitchFamily="18" charset="2"/>
              </a:rPr>
              <a:t>F.</a:t>
            </a:r>
          </a:p>
          <a:p>
            <a:r>
              <a:rPr lang="en-US" altLang="zh-CN" sz="2000" i="1" dirty="0">
                <a:sym typeface="Greek Symbols" pitchFamily="18" charset="2"/>
              </a:rPr>
              <a:t>Note: </a:t>
            </a:r>
            <a:r>
              <a:rPr lang="en-US" altLang="zh-CN" sz="2000" dirty="0">
                <a:sym typeface="Greek Symbols" pitchFamily="18" charset="2"/>
              </a:rPr>
              <a:t>implication in the opposite direction is trivial in each of the cases above, since a </a:t>
            </a:r>
            <a:r>
              <a:rPr lang="zh-CN" altLang="en-US" sz="2000" dirty="0">
                <a:sym typeface="Greek Symbols" pitchFamily="18" charset="2"/>
              </a:rPr>
              <a:t>“</a:t>
            </a:r>
            <a:r>
              <a:rPr lang="en-US" altLang="zh-CN" sz="2000" dirty="0">
                <a:sym typeface="Greek Symbols" pitchFamily="18" charset="2"/>
              </a:rPr>
              <a:t>stronger</a:t>
            </a:r>
            <a:r>
              <a:rPr lang="zh-CN" altLang="en-US" sz="2000" dirty="0">
                <a:sym typeface="Greek Symbols" pitchFamily="18" charset="2"/>
              </a:rPr>
              <a:t>”</a:t>
            </a:r>
            <a:r>
              <a:rPr lang="en-US" altLang="zh-CN" sz="2000" dirty="0">
                <a:sym typeface="Greek Symbols" pitchFamily="18" charset="2"/>
              </a:rPr>
              <a:t> functional dependency always implies a weaker one</a:t>
            </a:r>
          </a:p>
          <a:p>
            <a:r>
              <a:rPr lang="en-US" altLang="zh-CN" sz="2000" dirty="0"/>
              <a:t>Example: Given </a:t>
            </a:r>
            <a:r>
              <a:rPr lang="en-US" altLang="zh-CN" sz="2000" i="1" dirty="0"/>
              <a:t>F</a:t>
            </a:r>
            <a:r>
              <a:rPr lang="en-US" altLang="zh-CN" sz="2000" dirty="0"/>
              <a:t> = {</a:t>
            </a:r>
            <a:r>
              <a:rPr lang="en-US" altLang="zh-CN" sz="2000" i="1" dirty="0"/>
              <a:t>A</a:t>
            </a:r>
            <a:r>
              <a:rPr lang="en-US" altLang="zh-CN" sz="2000" dirty="0"/>
              <a:t> </a:t>
            </a:r>
            <a:r>
              <a:rPr lang="en-US" altLang="zh-CN" sz="2000" dirty="0">
                <a:sym typeface="Symbol" panose="05050102010706020507" charset="2"/>
              </a:rPr>
              <a:t></a:t>
            </a:r>
            <a:r>
              <a:rPr lang="en-US" altLang="zh-CN" sz="2000" dirty="0"/>
              <a:t> </a:t>
            </a:r>
            <a:r>
              <a:rPr lang="en-US" altLang="zh-CN" sz="2000" i="1" dirty="0"/>
              <a:t>C</a:t>
            </a:r>
            <a:r>
              <a:rPr lang="en-US" altLang="zh-CN" sz="2000" dirty="0"/>
              <a:t>, </a:t>
            </a:r>
            <a:r>
              <a:rPr lang="en-US" altLang="zh-CN" sz="2000" b="1" i="1" dirty="0">
                <a:solidFill>
                  <a:srgbClr val="C00000"/>
                </a:solidFill>
                <a:effectLst>
                  <a:outerShdw blurRad="38100" dist="38100" dir="2700000" algn="tl">
                    <a:srgbClr val="000000">
                      <a:alpha val="43137"/>
                    </a:srgbClr>
                  </a:outerShdw>
                </a:effectLst>
              </a:rPr>
              <a:t>AB </a:t>
            </a:r>
            <a:r>
              <a:rPr lang="en-US" altLang="zh-CN" sz="2000" b="1" i="1" dirty="0">
                <a:solidFill>
                  <a:srgbClr val="C00000"/>
                </a:solidFill>
                <a:effectLst>
                  <a:outerShdw blurRad="38100" dist="38100" dir="2700000" algn="tl">
                    <a:srgbClr val="000000">
                      <a:alpha val="43137"/>
                    </a:srgbClr>
                  </a:outerShdw>
                </a:effectLst>
                <a:sym typeface="Symbol" panose="05050102010706020507" charset="2"/>
              </a:rPr>
              <a:t></a:t>
            </a:r>
            <a:r>
              <a:rPr lang="en-US" altLang="zh-CN" sz="2000" b="1" i="1" dirty="0">
                <a:solidFill>
                  <a:srgbClr val="C00000"/>
                </a:solidFill>
                <a:effectLst>
                  <a:outerShdw blurRad="38100" dist="38100" dir="2700000" algn="tl">
                    <a:srgbClr val="000000">
                      <a:alpha val="43137"/>
                    </a:srgbClr>
                  </a:outerShdw>
                </a:effectLst>
              </a:rPr>
              <a:t> C</a:t>
            </a:r>
            <a:r>
              <a:rPr lang="en-US" altLang="zh-CN" sz="2000" dirty="0"/>
              <a:t> }</a:t>
            </a:r>
          </a:p>
          <a:p>
            <a:pPr lvl="1"/>
            <a:r>
              <a:rPr lang="en-US" altLang="zh-CN" sz="2000" b="1" i="1" dirty="0">
                <a:solidFill>
                  <a:srgbClr val="C00000"/>
                </a:solidFill>
                <a:effectLst>
                  <a:outerShdw blurRad="38100" dist="38100" dir="2700000" algn="tl">
                    <a:srgbClr val="000000">
                      <a:alpha val="43137"/>
                    </a:srgbClr>
                  </a:outerShdw>
                </a:effectLst>
              </a:rPr>
              <a:t>B is extraneous</a:t>
            </a:r>
            <a:r>
              <a:rPr lang="en-US" altLang="zh-CN" sz="2000" dirty="0"/>
              <a:t> in </a:t>
            </a:r>
            <a:r>
              <a:rPr lang="en-US" altLang="zh-CN" sz="2000" i="1" dirty="0"/>
              <a:t>AB</a:t>
            </a:r>
            <a:r>
              <a:rPr lang="en-US" altLang="zh-CN" sz="2000" dirty="0"/>
              <a:t> </a:t>
            </a:r>
            <a:r>
              <a:rPr lang="en-US" altLang="zh-CN" sz="2000" dirty="0">
                <a:sym typeface="Symbol" panose="05050102010706020507" charset="2"/>
              </a:rPr>
              <a:t></a:t>
            </a:r>
            <a:r>
              <a:rPr lang="en-US" altLang="zh-CN" sz="2000" i="1" dirty="0"/>
              <a:t> C</a:t>
            </a:r>
            <a:r>
              <a:rPr lang="en-US" altLang="zh-CN" sz="2000" dirty="0"/>
              <a:t> because {</a:t>
            </a:r>
            <a:r>
              <a:rPr lang="en-US" altLang="zh-CN" sz="2000" i="1" dirty="0"/>
              <a:t>A</a:t>
            </a:r>
            <a:r>
              <a:rPr lang="en-US" altLang="zh-CN" sz="2000" dirty="0"/>
              <a:t> </a:t>
            </a:r>
            <a:r>
              <a:rPr lang="en-US" altLang="zh-CN" sz="2000" dirty="0">
                <a:sym typeface="Symbol" panose="05050102010706020507" charset="2"/>
              </a:rPr>
              <a:t></a:t>
            </a:r>
            <a:r>
              <a:rPr lang="en-US" altLang="zh-CN" sz="2000" dirty="0"/>
              <a:t> </a:t>
            </a:r>
            <a:r>
              <a:rPr lang="en-US" altLang="zh-CN" sz="2000" i="1" dirty="0"/>
              <a:t>C, AB</a:t>
            </a:r>
            <a:r>
              <a:rPr lang="en-US" altLang="zh-CN" sz="2000" dirty="0"/>
              <a:t> </a:t>
            </a:r>
            <a:r>
              <a:rPr lang="en-US" altLang="zh-CN" sz="2000" dirty="0">
                <a:sym typeface="Symbol" panose="05050102010706020507" charset="2"/>
              </a:rPr>
              <a:t></a:t>
            </a:r>
            <a:r>
              <a:rPr lang="en-US" altLang="zh-CN" sz="2000" i="1" dirty="0"/>
              <a:t> C</a:t>
            </a:r>
            <a:r>
              <a:rPr lang="en-US" altLang="zh-CN" sz="2000" dirty="0"/>
              <a:t>} logically implies </a:t>
            </a:r>
            <a:r>
              <a:rPr lang="en-US" altLang="zh-CN" sz="2000" i="1" dirty="0"/>
              <a:t>A</a:t>
            </a:r>
            <a:r>
              <a:rPr lang="en-US" altLang="zh-CN" sz="2000" dirty="0"/>
              <a:t> </a:t>
            </a:r>
            <a:r>
              <a:rPr lang="en-US" altLang="zh-CN" sz="2000" dirty="0">
                <a:sym typeface="Symbol" panose="05050102010706020507" charset="2"/>
              </a:rPr>
              <a:t></a:t>
            </a:r>
            <a:r>
              <a:rPr lang="en-US" altLang="zh-CN" sz="2000" dirty="0"/>
              <a:t> </a:t>
            </a:r>
            <a:r>
              <a:rPr lang="en-US" altLang="zh-CN" sz="2000" i="1" dirty="0"/>
              <a:t>C </a:t>
            </a:r>
            <a:r>
              <a:rPr lang="en-US" altLang="zh-CN" sz="2000" dirty="0"/>
              <a:t>(I.e. the result of dropping </a:t>
            </a:r>
            <a:r>
              <a:rPr lang="en-US" altLang="zh-CN" sz="2000" i="1" dirty="0"/>
              <a:t>B </a:t>
            </a:r>
            <a:r>
              <a:rPr lang="en-US" altLang="zh-CN" sz="2000" dirty="0"/>
              <a:t>from </a:t>
            </a:r>
            <a:r>
              <a:rPr lang="en-US" altLang="zh-CN" sz="2000" i="1" dirty="0"/>
              <a:t>AB</a:t>
            </a:r>
            <a:r>
              <a:rPr lang="en-US" altLang="zh-CN" sz="2000" dirty="0"/>
              <a:t> </a:t>
            </a:r>
            <a:r>
              <a:rPr lang="en-US" altLang="zh-CN" sz="2000" dirty="0">
                <a:sym typeface="Symbol" panose="05050102010706020507" charset="2"/>
              </a:rPr>
              <a:t></a:t>
            </a:r>
            <a:r>
              <a:rPr lang="en-US" altLang="zh-CN" sz="2000" i="1" dirty="0"/>
              <a:t> C</a:t>
            </a:r>
            <a:r>
              <a:rPr lang="en-US" altLang="zh-CN" sz="2000" dirty="0"/>
              <a:t>).</a:t>
            </a:r>
          </a:p>
          <a:p>
            <a:r>
              <a:rPr lang="en-US" altLang="zh-CN" sz="2000" dirty="0"/>
              <a:t>Example:  Given </a:t>
            </a:r>
            <a:r>
              <a:rPr lang="en-US" altLang="zh-CN" sz="2000" i="1" dirty="0"/>
              <a:t>F</a:t>
            </a:r>
            <a:r>
              <a:rPr lang="en-US" altLang="zh-CN" sz="2000" dirty="0"/>
              <a:t> = {</a:t>
            </a:r>
            <a:r>
              <a:rPr lang="en-US" altLang="zh-CN" sz="2000" i="1" dirty="0"/>
              <a:t>A</a:t>
            </a:r>
            <a:r>
              <a:rPr lang="en-US" altLang="zh-CN" sz="2000" dirty="0"/>
              <a:t> </a:t>
            </a:r>
            <a:r>
              <a:rPr lang="en-US" altLang="zh-CN" sz="2000" dirty="0">
                <a:sym typeface="Symbol" panose="05050102010706020507" charset="2"/>
              </a:rPr>
              <a:t></a:t>
            </a:r>
            <a:r>
              <a:rPr lang="en-US" altLang="zh-CN" sz="2000" dirty="0"/>
              <a:t> </a:t>
            </a:r>
            <a:r>
              <a:rPr lang="en-US" altLang="zh-CN" sz="2000" i="1" dirty="0"/>
              <a:t>C</a:t>
            </a:r>
            <a:r>
              <a:rPr lang="en-US" altLang="zh-CN" sz="2000" dirty="0"/>
              <a:t>, </a:t>
            </a:r>
            <a:r>
              <a:rPr lang="en-US" altLang="zh-CN" sz="2000" i="1" dirty="0"/>
              <a:t>AB</a:t>
            </a:r>
            <a:r>
              <a:rPr lang="en-US" altLang="zh-CN" sz="2000" dirty="0"/>
              <a:t> </a:t>
            </a:r>
            <a:r>
              <a:rPr lang="en-US" altLang="zh-CN" sz="2000" dirty="0">
                <a:sym typeface="Symbol" panose="05050102010706020507" charset="2"/>
              </a:rPr>
              <a:t></a:t>
            </a:r>
            <a:r>
              <a:rPr lang="en-US" altLang="zh-CN" sz="2000" dirty="0"/>
              <a:t> </a:t>
            </a:r>
            <a:r>
              <a:rPr lang="en-US" altLang="zh-CN" sz="2000" b="1" i="1" dirty="0">
                <a:solidFill>
                  <a:srgbClr val="C00000"/>
                </a:solidFill>
                <a:effectLst>
                  <a:outerShdw blurRad="38100" dist="38100" dir="2700000" algn="tl">
                    <a:srgbClr val="000000">
                      <a:alpha val="43137"/>
                    </a:srgbClr>
                  </a:outerShdw>
                </a:effectLst>
              </a:rPr>
              <a:t>C</a:t>
            </a:r>
            <a:r>
              <a:rPr lang="en-US" altLang="zh-CN" sz="2000" i="1" dirty="0"/>
              <a:t>D}</a:t>
            </a:r>
          </a:p>
          <a:p>
            <a:pPr lvl="1"/>
            <a:r>
              <a:rPr lang="en-US" altLang="zh-CN" sz="2000" i="1" dirty="0"/>
              <a:t>C</a:t>
            </a:r>
            <a:r>
              <a:rPr lang="en-US" altLang="zh-CN" sz="2000" dirty="0"/>
              <a:t> is extraneous in </a:t>
            </a:r>
            <a:r>
              <a:rPr lang="en-US" altLang="zh-CN" sz="2000" i="1" dirty="0"/>
              <a:t>AB</a:t>
            </a:r>
            <a:r>
              <a:rPr lang="en-US" altLang="zh-CN" sz="2000" dirty="0"/>
              <a:t> </a:t>
            </a:r>
            <a:r>
              <a:rPr lang="en-US" altLang="zh-CN" sz="2000" dirty="0">
                <a:sym typeface="Symbol" panose="05050102010706020507" charset="2"/>
              </a:rPr>
              <a:t></a:t>
            </a:r>
            <a:r>
              <a:rPr lang="en-US" altLang="zh-CN" sz="2000" dirty="0"/>
              <a:t> </a:t>
            </a:r>
            <a:r>
              <a:rPr lang="en-US" altLang="zh-CN" sz="2000" i="1" dirty="0"/>
              <a:t>CD</a:t>
            </a:r>
            <a:r>
              <a:rPr lang="en-US" altLang="zh-CN" sz="2000" dirty="0"/>
              <a:t> since  </a:t>
            </a:r>
            <a:r>
              <a:rPr lang="en-US" altLang="zh-CN" sz="2000" i="1" dirty="0"/>
              <a:t>A</a:t>
            </a:r>
            <a:r>
              <a:rPr lang="en-US" altLang="zh-CN" sz="2000" dirty="0"/>
              <a:t>B </a:t>
            </a:r>
            <a:r>
              <a:rPr lang="en-US" altLang="zh-CN" sz="2000" dirty="0">
                <a:sym typeface="Symbol" panose="05050102010706020507" charset="2"/>
              </a:rPr>
              <a:t></a:t>
            </a:r>
            <a:r>
              <a:rPr lang="en-US" altLang="zh-CN" sz="2000" dirty="0"/>
              <a:t> </a:t>
            </a:r>
            <a:r>
              <a:rPr lang="en-US" altLang="zh-CN" sz="2000" i="1" dirty="0"/>
              <a:t>C</a:t>
            </a:r>
            <a:r>
              <a:rPr lang="en-US" altLang="zh-CN" sz="2000" dirty="0"/>
              <a:t> can be inferred even after deleting </a:t>
            </a:r>
            <a:r>
              <a:rPr lang="en-US" altLang="zh-CN" sz="2000" i="1" dirty="0"/>
              <a:t>C</a:t>
            </a:r>
            <a:endParaRPr lang="zh-CN" altLang="en-US" sz="2000" i="1" dirty="0">
              <a:sym typeface="Greek Symbols" pitchFamily="18" charset="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826" name="Rectangle 2"/>
          <p:cNvSpPr>
            <a:spLocks noGrp="1" noChangeArrowheads="1"/>
          </p:cNvSpPr>
          <p:nvPr>
            <p:ph type="title"/>
          </p:nvPr>
        </p:nvSpPr>
        <p:spPr>
          <a:xfrm>
            <a:off x="792480" y="66675"/>
            <a:ext cx="811022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6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Testing if an Attribute is Extraneous</a:t>
            </a:r>
          </a:p>
        </p:txBody>
      </p:sp>
      <p:sp>
        <p:nvSpPr>
          <p:cNvPr id="717827" name="Rectangle 3"/>
          <p:cNvSpPr>
            <a:spLocks noGrp="1"/>
          </p:cNvSpPr>
          <p:nvPr>
            <p:ph idx="1"/>
          </p:nvPr>
        </p:nvSpPr>
        <p:spPr>
          <a:xfrm>
            <a:off x="171450" y="1094105"/>
            <a:ext cx="8730615" cy="4903470"/>
          </a:xfrm>
        </p:spPr>
        <p:txBody>
          <a:bodyPr wrap="square" lIns="91440" tIns="45720" rIns="91440" bIns="45720" anchor="t"/>
          <a:lstStyle/>
          <a:p>
            <a:pPr marL="381000" indent="-381000"/>
            <a:r>
              <a:rPr lang="en-US" altLang="zh-CN" sz="2400" dirty="0"/>
              <a:t>Consider a set </a:t>
            </a:r>
            <a:r>
              <a:rPr lang="en-US" altLang="zh-CN" sz="2400" i="1" dirty="0"/>
              <a:t>F</a:t>
            </a:r>
            <a:r>
              <a:rPr lang="en-US" altLang="zh-CN" sz="2400" dirty="0"/>
              <a:t> of functional dependencies and the functional dependency </a:t>
            </a:r>
            <a:r>
              <a:rPr lang="en-US" altLang="zh-CN" sz="2400" dirty="0">
                <a:sym typeface="Symbol" panose="05050102010706020507" charset="2"/>
              </a:rPr>
              <a:t> </a:t>
            </a:r>
            <a:r>
              <a:rPr lang="en-US" altLang="zh-CN" sz="2400" dirty="0">
                <a:sym typeface="Monotype Sorts" charset="2"/>
              </a:rPr>
              <a:t> </a:t>
            </a:r>
            <a:r>
              <a:rPr lang="en-US" altLang="zh-CN" sz="2400" dirty="0">
                <a:solidFill>
                  <a:srgbClr val="000099"/>
                </a:solidFill>
                <a:sym typeface="Symbol" panose="05050102010706020507" charset="2"/>
              </a:rPr>
              <a:t> </a:t>
            </a:r>
            <a:r>
              <a:rPr lang="en-US" altLang="zh-CN" sz="2400" dirty="0">
                <a:sym typeface="Greek Symbols" pitchFamily="18" charset="2"/>
              </a:rPr>
              <a:t>in </a:t>
            </a:r>
            <a:r>
              <a:rPr lang="en-US" altLang="zh-CN" sz="2400" i="1" dirty="0">
                <a:sym typeface="Greek Symbols" pitchFamily="18" charset="2"/>
              </a:rPr>
              <a:t>F</a:t>
            </a:r>
            <a:r>
              <a:rPr lang="en-US" altLang="zh-CN" sz="2400" dirty="0">
                <a:sym typeface="Greek Symbols" pitchFamily="18" charset="2"/>
              </a:rPr>
              <a:t>.</a:t>
            </a:r>
          </a:p>
          <a:p>
            <a:pPr marL="381000" indent="-381000"/>
            <a:r>
              <a:rPr lang="en-US" altLang="zh-CN" sz="2400" dirty="0">
                <a:sym typeface="Monotype Sorts" charset="2"/>
              </a:rPr>
              <a:t>To test if attribute </a:t>
            </a:r>
            <a:r>
              <a:rPr lang="en-US" altLang="zh-CN" sz="2400" b="1" i="1" u="sng" dirty="0">
                <a:solidFill>
                  <a:srgbClr val="C00000"/>
                </a:solidFill>
                <a:effectLst>
                  <a:outerShdw blurRad="38100" dist="38100" dir="2700000" algn="tl">
                    <a:srgbClr val="000000">
                      <a:alpha val="43137"/>
                    </a:srgbClr>
                  </a:outerShdw>
                </a:effectLst>
                <a:sym typeface="Monotype Sorts" charset="2"/>
              </a:rPr>
              <a:t>A</a:t>
            </a:r>
            <a:r>
              <a:rPr lang="en-US" altLang="zh-CN" sz="2400" dirty="0">
                <a:sym typeface="Monotype Sorts" charset="2"/>
              </a:rPr>
              <a:t> </a:t>
            </a:r>
            <a:r>
              <a:rPr lang="en-US" altLang="zh-CN" sz="2400" dirty="0">
                <a:sym typeface="Symbol" panose="05050102010706020507" charset="2"/>
              </a:rPr>
              <a:t> </a:t>
            </a:r>
            <a:r>
              <a:rPr lang="en-US" altLang="zh-CN" sz="2400" dirty="0">
                <a:sym typeface="Monotype Sorts" charset="2"/>
              </a:rPr>
              <a:t> is extraneous</a:t>
            </a:r>
            <a:r>
              <a:rPr lang="en-US" altLang="zh-CN" sz="2400" dirty="0">
                <a:solidFill>
                  <a:schemeClr val="tx2"/>
                </a:solidFill>
                <a:sym typeface="Monotype Sorts" charset="2"/>
              </a:rPr>
              <a:t> </a:t>
            </a:r>
            <a:r>
              <a:rPr lang="en-US" altLang="zh-CN" sz="2400" dirty="0">
                <a:sym typeface="Monotype Sorts" charset="2"/>
              </a:rPr>
              <a:t>in</a:t>
            </a:r>
            <a:r>
              <a:rPr lang="en-US" altLang="zh-CN" sz="2400" dirty="0">
                <a:solidFill>
                  <a:schemeClr val="tx2"/>
                </a:solidFill>
                <a:sym typeface="Monotype Sorts" charset="2"/>
              </a:rPr>
              <a:t> </a:t>
            </a:r>
            <a:r>
              <a:rPr lang="en-US" altLang="zh-CN" sz="2400" dirty="0">
                <a:sym typeface="Symbol" panose="05050102010706020507" charset="2"/>
              </a:rPr>
              <a:t></a:t>
            </a:r>
            <a:r>
              <a:rPr lang="en-US" altLang="zh-CN" sz="2400" dirty="0">
                <a:solidFill>
                  <a:schemeClr val="tx2"/>
                </a:solidFill>
                <a:sym typeface="Monotype Sorts" charset="2"/>
              </a:rPr>
              <a:t> </a:t>
            </a:r>
          </a:p>
          <a:p>
            <a:pPr marL="800100" lvl="1" indent="-342900">
              <a:buFont typeface="Monotype Sorts" charset="2"/>
              <a:buAutoNum type="arabicPeriod"/>
            </a:pPr>
            <a:r>
              <a:rPr lang="en-US" altLang="zh-CN" sz="2400" dirty="0">
                <a:sym typeface="Greek Symbols" pitchFamily="18" charset="2"/>
              </a:rPr>
              <a:t>compute (</a:t>
            </a:r>
            <a:r>
              <a:rPr lang="en-US" altLang="zh-CN" sz="2400" b="1" dirty="0">
                <a:solidFill>
                  <a:srgbClr val="7030A0"/>
                </a:solidFill>
                <a:effectLst>
                  <a:outerShdw blurRad="38100" dist="38100" dir="2700000" algn="tl">
                    <a:srgbClr val="000000">
                      <a:alpha val="43137"/>
                    </a:srgbClr>
                  </a:outerShdw>
                </a:effectLst>
                <a:sym typeface="Greek Symbols" pitchFamily="18" charset="2"/>
              </a:rPr>
              <a:t>{</a:t>
            </a:r>
            <a:r>
              <a:rPr lang="en-US" altLang="zh-CN" sz="2400" b="1" dirty="0">
                <a:solidFill>
                  <a:srgbClr val="7030A0"/>
                </a:solidFill>
                <a:effectLst>
                  <a:outerShdw blurRad="38100" dist="38100" dir="2700000" algn="tl">
                    <a:srgbClr val="000000">
                      <a:alpha val="43137"/>
                    </a:srgbClr>
                  </a:outerShdw>
                </a:effectLst>
                <a:sym typeface="Symbol" panose="05050102010706020507" charset="2"/>
              </a:rPr>
              <a:t>} </a:t>
            </a:r>
            <a:r>
              <a:rPr lang="en-US" altLang="zh-CN" sz="2400" b="1" dirty="0">
                <a:solidFill>
                  <a:srgbClr val="7030A0"/>
                </a:solidFill>
                <a:effectLst>
                  <a:outerShdw blurRad="38100" dist="38100" dir="2700000" algn="tl">
                    <a:srgbClr val="000000">
                      <a:alpha val="43137"/>
                    </a:srgbClr>
                  </a:outerShdw>
                </a:effectLst>
                <a:sym typeface="Greek Symbols" pitchFamily="18" charset="2"/>
              </a:rPr>
              <a:t>– A</a:t>
            </a:r>
            <a:r>
              <a:rPr lang="en-US" altLang="zh-CN" sz="2400" dirty="0">
                <a:sym typeface="Symbol" panose="05050102010706020507" charset="2"/>
              </a:rPr>
              <a:t>)</a:t>
            </a:r>
            <a:r>
              <a:rPr lang="en-US" altLang="zh-CN" sz="2400" baseline="30000" dirty="0">
                <a:sym typeface="Symbol" panose="05050102010706020507" charset="2"/>
              </a:rPr>
              <a:t>+</a:t>
            </a:r>
            <a:r>
              <a:rPr lang="en-US" altLang="zh-CN" sz="2400" dirty="0">
                <a:sym typeface="Symbol" panose="05050102010706020507" charset="2"/>
              </a:rPr>
              <a:t> using the dependencies in </a:t>
            </a:r>
            <a:r>
              <a:rPr lang="en-US" altLang="zh-CN" sz="2400" b="1" i="1" u="sng" dirty="0">
                <a:solidFill>
                  <a:srgbClr val="7030A0"/>
                </a:solidFill>
                <a:effectLst>
                  <a:outerShdw blurRad="38100" dist="38100" dir="2700000" algn="tl">
                    <a:srgbClr val="000000">
                      <a:alpha val="43137"/>
                    </a:srgbClr>
                  </a:outerShdw>
                </a:effectLst>
                <a:sym typeface="Greek Symbols" pitchFamily="18" charset="2"/>
              </a:rPr>
              <a:t>F</a:t>
            </a:r>
            <a:r>
              <a:rPr lang="en-US" altLang="zh-CN" sz="2400" dirty="0">
                <a:sym typeface="Greek Symbols" pitchFamily="18" charset="2"/>
              </a:rPr>
              <a:t> </a:t>
            </a:r>
            <a:endParaRPr lang="en-US" altLang="zh-CN" sz="2400" dirty="0">
              <a:sym typeface="Symbol" panose="05050102010706020507" charset="2"/>
            </a:endParaRPr>
          </a:p>
          <a:p>
            <a:pPr marL="800100" lvl="1" indent="-342900">
              <a:buFont typeface="Monotype Sorts" charset="2"/>
              <a:buAutoNum type="arabicPeriod"/>
            </a:pPr>
            <a:r>
              <a:rPr lang="en-US" altLang="zh-CN" sz="2400" dirty="0">
                <a:sym typeface="Symbol" panose="05050102010706020507" charset="2"/>
              </a:rPr>
              <a:t> check that </a:t>
            </a:r>
            <a:r>
              <a:rPr lang="en-US" altLang="zh-CN" sz="2400" dirty="0">
                <a:sym typeface="Greek Symbols" pitchFamily="18" charset="2"/>
              </a:rPr>
              <a:t>(</a:t>
            </a:r>
            <a:r>
              <a:rPr lang="en-US" altLang="zh-CN" sz="2400" b="1" dirty="0">
                <a:solidFill>
                  <a:srgbClr val="7030A0"/>
                </a:solidFill>
                <a:effectLst>
                  <a:outerShdw blurRad="38100" dist="38100" dir="2700000" algn="tl">
                    <a:srgbClr val="000000">
                      <a:alpha val="43137"/>
                    </a:srgbClr>
                  </a:outerShdw>
                </a:effectLst>
                <a:sym typeface="Greek Symbols" pitchFamily="18" charset="2"/>
              </a:rPr>
              <a:t>{</a:t>
            </a:r>
            <a:r>
              <a:rPr lang="en-US" altLang="zh-CN" sz="2400" b="1" dirty="0">
                <a:solidFill>
                  <a:srgbClr val="7030A0"/>
                </a:solidFill>
                <a:effectLst>
                  <a:outerShdw blurRad="38100" dist="38100" dir="2700000" algn="tl">
                    <a:srgbClr val="000000">
                      <a:alpha val="43137"/>
                    </a:srgbClr>
                  </a:outerShdw>
                </a:effectLst>
                <a:sym typeface="Symbol" panose="05050102010706020507" charset="2"/>
              </a:rPr>
              <a:t>} </a:t>
            </a:r>
            <a:r>
              <a:rPr lang="en-US" altLang="zh-CN" sz="2400" b="1" dirty="0">
                <a:solidFill>
                  <a:srgbClr val="7030A0"/>
                </a:solidFill>
                <a:effectLst>
                  <a:outerShdw blurRad="38100" dist="38100" dir="2700000" algn="tl">
                    <a:srgbClr val="000000">
                      <a:alpha val="43137"/>
                    </a:srgbClr>
                  </a:outerShdw>
                </a:effectLst>
                <a:sym typeface="Greek Symbols" pitchFamily="18" charset="2"/>
              </a:rPr>
              <a:t>– A</a:t>
            </a:r>
            <a:r>
              <a:rPr lang="en-US" altLang="zh-CN" sz="2400" dirty="0">
                <a:sym typeface="Symbol" panose="05050102010706020507" charset="2"/>
              </a:rPr>
              <a:t>)</a:t>
            </a:r>
            <a:r>
              <a:rPr lang="en-US" altLang="zh-CN" sz="2400" baseline="30000" dirty="0">
                <a:sym typeface="Symbol" panose="05050102010706020507" charset="2"/>
              </a:rPr>
              <a:t>+</a:t>
            </a:r>
            <a:r>
              <a:rPr lang="en-US" altLang="zh-CN" sz="2400" dirty="0">
                <a:sym typeface="Symbol" panose="05050102010706020507" charset="2"/>
              </a:rPr>
              <a:t> contains </a:t>
            </a:r>
            <a:r>
              <a:rPr lang="en-US" altLang="zh-CN" sz="2400" dirty="0">
                <a:solidFill>
                  <a:srgbClr val="000099"/>
                </a:solidFill>
                <a:sym typeface="Symbol" panose="05050102010706020507" charset="2"/>
              </a:rPr>
              <a:t></a:t>
            </a:r>
            <a:r>
              <a:rPr lang="en-US" altLang="zh-CN" sz="2400" dirty="0">
                <a:sym typeface="Greek Symbols" pitchFamily="18" charset="2"/>
              </a:rPr>
              <a:t>; if it does, </a:t>
            </a:r>
            <a:r>
              <a:rPr lang="en-US" altLang="zh-CN" sz="2400" b="1" i="1" u="sng" dirty="0">
                <a:solidFill>
                  <a:srgbClr val="C00000"/>
                </a:solidFill>
                <a:effectLst>
                  <a:outerShdw blurRad="38100" dist="38100" dir="2700000" algn="tl">
                    <a:srgbClr val="000000">
                      <a:alpha val="43137"/>
                    </a:srgbClr>
                  </a:outerShdw>
                </a:effectLst>
                <a:sym typeface="Greek Symbols" pitchFamily="18" charset="2"/>
              </a:rPr>
              <a:t>A</a:t>
            </a:r>
            <a:r>
              <a:rPr lang="en-US" altLang="zh-CN" sz="2400" dirty="0">
                <a:sym typeface="Greek Symbols" pitchFamily="18" charset="2"/>
              </a:rPr>
              <a:t> is extraneous </a:t>
            </a:r>
            <a:r>
              <a:rPr lang="en-US" altLang="zh-CN" sz="2400" dirty="0">
                <a:sym typeface="Monotype Sorts" charset="2"/>
              </a:rPr>
              <a:t>in</a:t>
            </a:r>
            <a:r>
              <a:rPr lang="en-US" altLang="zh-CN" sz="2400" dirty="0">
                <a:solidFill>
                  <a:schemeClr val="tx2"/>
                </a:solidFill>
                <a:sym typeface="Monotype Sorts" charset="2"/>
              </a:rPr>
              <a:t> </a:t>
            </a:r>
            <a:r>
              <a:rPr lang="en-US" altLang="zh-CN" sz="2400" dirty="0">
                <a:sym typeface="Symbol" panose="05050102010706020507" charset="2"/>
              </a:rPr>
              <a:t></a:t>
            </a:r>
            <a:r>
              <a:rPr lang="en-US" altLang="zh-CN" sz="2400" dirty="0">
                <a:solidFill>
                  <a:schemeClr val="tx2"/>
                </a:solidFill>
                <a:sym typeface="Monotype Sorts" charset="2"/>
              </a:rPr>
              <a:t> </a:t>
            </a:r>
            <a:endParaRPr lang="en-US" altLang="zh-CN" sz="2400" dirty="0">
              <a:sym typeface="Greek Symbols" pitchFamily="18" charset="2"/>
            </a:endParaRPr>
          </a:p>
          <a:p>
            <a:pPr marL="381000" indent="-381000"/>
            <a:r>
              <a:rPr lang="en-US" altLang="zh-CN" sz="2400" dirty="0">
                <a:sym typeface="Greek Symbols" pitchFamily="18" charset="2"/>
              </a:rPr>
              <a:t>To test if attribute </a:t>
            </a:r>
            <a:r>
              <a:rPr lang="en-US" altLang="zh-CN" sz="2400" b="1" i="1" u="sng" dirty="0">
                <a:solidFill>
                  <a:srgbClr val="C00000"/>
                </a:solidFill>
                <a:effectLst>
                  <a:outerShdw blurRad="38100" dist="38100" dir="2700000" algn="tl">
                    <a:srgbClr val="000000">
                      <a:alpha val="43137"/>
                    </a:srgbClr>
                  </a:outerShdw>
                </a:effectLst>
                <a:sym typeface="Greek Symbols" pitchFamily="18" charset="2"/>
              </a:rPr>
              <a:t>A</a:t>
            </a:r>
            <a:r>
              <a:rPr lang="en-US" altLang="zh-CN" sz="2400" dirty="0">
                <a:sym typeface="Greek Symbols" pitchFamily="18" charset="2"/>
              </a:rPr>
              <a:t> </a:t>
            </a:r>
            <a:r>
              <a:rPr lang="en-US" altLang="zh-CN" sz="2400" dirty="0">
                <a:sym typeface="Symbol" panose="05050102010706020507" charset="2"/>
              </a:rPr>
              <a:t> </a:t>
            </a:r>
            <a:r>
              <a:rPr lang="en-US" altLang="zh-CN" sz="2400" dirty="0">
                <a:sym typeface="Greek Symbols" pitchFamily="18" charset="2"/>
              </a:rPr>
              <a:t>  is extraneous in </a:t>
            </a:r>
            <a:r>
              <a:rPr lang="en-US" altLang="zh-CN" sz="2400" dirty="0">
                <a:sym typeface="Symbol" panose="05050102010706020507" charset="2"/>
              </a:rPr>
              <a:t></a:t>
            </a:r>
            <a:r>
              <a:rPr lang="en-US" altLang="zh-CN" sz="2400" dirty="0">
                <a:sym typeface="Greek Symbols" pitchFamily="18" charset="2"/>
              </a:rPr>
              <a:t> </a:t>
            </a:r>
          </a:p>
          <a:p>
            <a:pPr marL="800100" lvl="1" indent="-342900">
              <a:buFont typeface="Monotype Sorts" charset="2"/>
              <a:buAutoNum type="arabicPeriod"/>
            </a:pPr>
            <a:r>
              <a:rPr lang="en-US" altLang="zh-CN" sz="2400" dirty="0">
                <a:sym typeface="Greek Symbols" pitchFamily="18" charset="2"/>
              </a:rPr>
              <a:t>compute </a:t>
            </a:r>
            <a:r>
              <a:rPr lang="en-US" altLang="zh-CN" sz="2400" dirty="0">
                <a:sym typeface="Symbol" panose="05050102010706020507" charset="2"/>
              </a:rPr>
              <a:t></a:t>
            </a:r>
            <a:r>
              <a:rPr lang="en-US" altLang="zh-CN" sz="2400" baseline="30000" dirty="0">
                <a:sym typeface="Greek Symbols" pitchFamily="18" charset="2"/>
              </a:rPr>
              <a:t>+ </a:t>
            </a:r>
            <a:r>
              <a:rPr lang="en-US" altLang="zh-CN" sz="2400" dirty="0">
                <a:sym typeface="Greek Symbols" pitchFamily="18" charset="2"/>
              </a:rPr>
              <a:t> using only the dependencies in  </a:t>
            </a:r>
            <a:br>
              <a:rPr lang="en-US" altLang="zh-CN" sz="2400" dirty="0">
                <a:sym typeface="Greek Symbols" pitchFamily="18" charset="2"/>
              </a:rPr>
            </a:br>
            <a:r>
              <a:rPr lang="en-US" altLang="zh-CN" sz="2400" dirty="0">
                <a:sym typeface="Greek Symbols" pitchFamily="18" charset="2"/>
              </a:rPr>
              <a:t>         </a:t>
            </a:r>
            <a:r>
              <a:rPr lang="en-US" altLang="zh-CN" sz="2400" b="1" i="1" u="sng" dirty="0">
                <a:solidFill>
                  <a:srgbClr val="7030A0"/>
                </a:solidFill>
                <a:effectLst>
                  <a:outerShdw blurRad="38100" dist="38100" dir="2700000" algn="tl">
                    <a:srgbClr val="000000">
                      <a:alpha val="43137"/>
                    </a:srgbClr>
                  </a:outerShdw>
                </a:effectLst>
                <a:sym typeface="Greek Symbols" pitchFamily="18" charset="2"/>
              </a:rPr>
              <a:t>F’</a:t>
            </a:r>
            <a:r>
              <a:rPr lang="en-US" altLang="zh-CN" sz="2400" dirty="0">
                <a:sym typeface="Greek Symbols" pitchFamily="18" charset="2"/>
              </a:rPr>
              <a:t> = (</a:t>
            </a:r>
            <a:r>
              <a:rPr lang="en-US" altLang="zh-CN" sz="2400" i="1" dirty="0">
                <a:sym typeface="Greek Symbols" pitchFamily="18" charset="2"/>
              </a:rPr>
              <a:t>F</a:t>
            </a:r>
            <a:r>
              <a:rPr lang="en-US" altLang="zh-CN" sz="2400" dirty="0">
                <a:sym typeface="Greek Symbols" pitchFamily="18" charset="2"/>
              </a:rPr>
              <a:t>  – {</a:t>
            </a:r>
            <a:r>
              <a:rPr lang="en-US" altLang="zh-CN" sz="2400" dirty="0">
                <a:sym typeface="Symbol" panose="05050102010706020507" charset="2"/>
              </a:rPr>
              <a:t></a:t>
            </a:r>
            <a:r>
              <a:rPr lang="en-US" altLang="zh-CN" sz="2400" dirty="0">
                <a:sym typeface="Greek Symbols" pitchFamily="18" charset="2"/>
              </a:rPr>
              <a:t> </a:t>
            </a:r>
            <a:r>
              <a:rPr lang="en-US" altLang="zh-CN" sz="2400" dirty="0">
                <a:sym typeface="Symbol" panose="05050102010706020507" charset="2"/>
              </a:rPr>
              <a:t></a:t>
            </a:r>
            <a:r>
              <a:rPr lang="en-US" altLang="zh-CN" sz="2400" dirty="0">
                <a:sym typeface="Monotype Sorts" charset="2"/>
              </a:rPr>
              <a:t> </a:t>
            </a:r>
            <a:r>
              <a:rPr lang="en-US" altLang="zh-CN" sz="2400" dirty="0">
                <a:sym typeface="Symbol" panose="05050102010706020507" charset="2"/>
              </a:rPr>
              <a:t></a:t>
            </a:r>
            <a:r>
              <a:rPr lang="en-US" altLang="zh-CN" sz="2400" dirty="0">
                <a:sym typeface="Greek Symbols" pitchFamily="18" charset="2"/>
              </a:rPr>
              <a:t>}) </a:t>
            </a:r>
            <a:r>
              <a:rPr lang="en-US" altLang="zh-CN" sz="2400" dirty="0">
                <a:sym typeface="Symbol" panose="05050102010706020507" charset="2"/>
              </a:rPr>
              <a:t> {</a:t>
            </a:r>
            <a:r>
              <a:rPr lang="en-US" altLang="zh-CN" sz="2400" dirty="0">
                <a:sym typeface="Greek Symbols" pitchFamily="18" charset="2"/>
              </a:rPr>
              <a:t> </a:t>
            </a:r>
            <a:r>
              <a:rPr lang="en-US" altLang="zh-CN" sz="2400" dirty="0">
                <a:sym typeface="Symbol" panose="05050102010706020507" charset="2"/>
              </a:rPr>
              <a:t></a:t>
            </a:r>
            <a:r>
              <a:rPr lang="en-US" altLang="zh-CN" sz="2400" i="1" dirty="0">
                <a:sym typeface="Greek Symbols" pitchFamily="18" charset="2"/>
              </a:rPr>
              <a:t>(</a:t>
            </a:r>
            <a:r>
              <a:rPr lang="en-US" altLang="zh-CN" sz="2400" dirty="0">
                <a:sym typeface="Symbol" panose="05050102010706020507" charset="2"/>
              </a:rPr>
              <a:t></a:t>
            </a:r>
            <a:r>
              <a:rPr lang="en-US" altLang="zh-CN" sz="2400" i="1" dirty="0">
                <a:sym typeface="Greek Symbols" pitchFamily="18" charset="2"/>
              </a:rPr>
              <a:t> </a:t>
            </a:r>
            <a:r>
              <a:rPr lang="en-US" altLang="zh-CN" sz="2400" dirty="0">
                <a:sym typeface="Greek Symbols" pitchFamily="18" charset="2"/>
              </a:rPr>
              <a:t>– </a:t>
            </a:r>
            <a:r>
              <a:rPr lang="en-US" altLang="zh-CN" sz="2400" i="1" dirty="0">
                <a:sym typeface="Greek Symbols" pitchFamily="18" charset="2"/>
              </a:rPr>
              <a:t>A</a:t>
            </a:r>
            <a:r>
              <a:rPr lang="en-US" altLang="zh-CN" sz="2400" dirty="0">
                <a:sym typeface="Greek Symbols" pitchFamily="18" charset="2"/>
              </a:rPr>
              <a:t>)}, </a:t>
            </a:r>
          </a:p>
          <a:p>
            <a:pPr marL="800100" lvl="1" indent="-342900">
              <a:buFont typeface="Monotype Sorts" charset="2"/>
              <a:buAutoNum type="arabicPeriod"/>
            </a:pPr>
            <a:r>
              <a:rPr lang="en-US" altLang="zh-CN" sz="2400" dirty="0">
                <a:sym typeface="Greek Symbols" pitchFamily="18" charset="2"/>
              </a:rPr>
              <a:t> check that </a:t>
            </a:r>
            <a:r>
              <a:rPr lang="en-US" altLang="zh-CN" sz="2400" b="1" dirty="0">
                <a:solidFill>
                  <a:srgbClr val="7030A0"/>
                </a:solidFill>
                <a:effectLst>
                  <a:outerShdw blurRad="38100" dist="38100" dir="2700000" algn="tl">
                    <a:srgbClr val="000000">
                      <a:alpha val="43137"/>
                    </a:srgbClr>
                  </a:outerShdw>
                </a:effectLst>
                <a:sym typeface="Symbol" panose="05050102010706020507" charset="2"/>
              </a:rPr>
              <a:t></a:t>
            </a:r>
            <a:r>
              <a:rPr lang="en-US" altLang="zh-CN" sz="2400" baseline="30000" dirty="0">
                <a:sym typeface="Greek Symbols" pitchFamily="18" charset="2"/>
              </a:rPr>
              <a:t>+ </a:t>
            </a:r>
            <a:r>
              <a:rPr lang="en-US" altLang="zh-CN" sz="2400" dirty="0">
                <a:sym typeface="Greek Symbols" pitchFamily="18" charset="2"/>
              </a:rPr>
              <a:t> contains </a:t>
            </a:r>
            <a:r>
              <a:rPr lang="en-US" altLang="zh-CN" sz="2400" i="1" dirty="0">
                <a:sym typeface="Greek Symbols" pitchFamily="18" charset="2"/>
              </a:rPr>
              <a:t>A; </a:t>
            </a:r>
            <a:r>
              <a:rPr lang="en-US" altLang="zh-CN" sz="2400" dirty="0">
                <a:sym typeface="Greek Symbols" pitchFamily="18" charset="2"/>
              </a:rPr>
              <a:t>if it does</a:t>
            </a:r>
            <a:r>
              <a:rPr lang="en-US" altLang="zh-CN" sz="2400" i="1" dirty="0">
                <a:sym typeface="Greek Symbols" pitchFamily="18" charset="2"/>
              </a:rPr>
              <a:t>, A </a:t>
            </a:r>
            <a:r>
              <a:rPr lang="en-US" altLang="zh-CN" sz="2400" dirty="0">
                <a:sym typeface="Greek Symbols" pitchFamily="18" charset="2"/>
              </a:rPr>
              <a:t>is extraneous in </a:t>
            </a:r>
            <a:r>
              <a:rPr lang="en-US" altLang="zh-CN" sz="2400" dirty="0">
                <a:sym typeface="Symbol" panose="05050102010706020507" charset="2"/>
              </a:rPr>
              <a:t></a:t>
            </a:r>
            <a:r>
              <a:rPr lang="en-US" altLang="zh-CN" sz="2400" dirty="0">
                <a:sym typeface="Greek Symbols" pitchFamily="18" charset="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17827">
                                            <p:txEl>
                                              <p:pRg st="4" end="4"/>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717827">
                                            <p:txEl>
                                              <p:pRg st="5" end="5"/>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71782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827"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9874"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Canonical Cover</a:t>
            </a:r>
          </a:p>
        </p:txBody>
      </p:sp>
      <p:sp>
        <p:nvSpPr>
          <p:cNvPr id="719875" name="Rectangle 3"/>
          <p:cNvSpPr>
            <a:spLocks noGrp="1"/>
          </p:cNvSpPr>
          <p:nvPr>
            <p:ph idx="1"/>
          </p:nvPr>
        </p:nvSpPr>
        <p:spPr>
          <a:xfrm>
            <a:off x="76835" y="912495"/>
            <a:ext cx="8961755" cy="5210175"/>
          </a:xfrm>
        </p:spPr>
        <p:txBody>
          <a:bodyPr wrap="square" lIns="91440" tIns="45720" rIns="91440" bIns="45720" anchor="t"/>
          <a:lstStyle/>
          <a:p>
            <a:pPr>
              <a:lnSpc>
                <a:spcPct val="90000"/>
              </a:lnSpc>
            </a:pPr>
            <a:r>
              <a:rPr lang="en-US" altLang="zh-CN" sz="2000" dirty="0">
                <a:sym typeface="Greek Symbols" pitchFamily="18" charset="2"/>
              </a:rPr>
              <a:t>A </a:t>
            </a:r>
            <a:r>
              <a:rPr lang="en-US" altLang="zh-CN" sz="2000" b="1" dirty="0">
                <a:solidFill>
                  <a:srgbClr val="000099"/>
                </a:solidFill>
                <a:sym typeface="Greek Symbols" pitchFamily="18" charset="2"/>
              </a:rPr>
              <a:t>canonical cover</a:t>
            </a:r>
            <a:r>
              <a:rPr lang="en-US" altLang="zh-CN" sz="2000" i="1" dirty="0">
                <a:sym typeface="Greek Symbols" pitchFamily="18" charset="2"/>
              </a:rPr>
              <a:t> </a:t>
            </a:r>
            <a:r>
              <a:rPr lang="en-US" altLang="zh-CN" sz="2000" dirty="0">
                <a:sym typeface="Greek Symbols" pitchFamily="18" charset="2"/>
              </a:rPr>
              <a:t>for </a:t>
            </a:r>
            <a:r>
              <a:rPr lang="en-US" altLang="zh-CN" sz="2000" i="1" dirty="0">
                <a:sym typeface="Greek Symbols" pitchFamily="18" charset="2"/>
              </a:rPr>
              <a:t>F</a:t>
            </a:r>
            <a:r>
              <a:rPr lang="en-US" altLang="zh-CN" sz="2000" dirty="0">
                <a:sym typeface="Greek Symbols" pitchFamily="18" charset="2"/>
              </a:rPr>
              <a:t> is a set of dependencies </a:t>
            </a:r>
            <a:r>
              <a:rPr lang="en-US" altLang="zh-CN" sz="2000" b="1" i="1" u="sng" dirty="0">
                <a:solidFill>
                  <a:srgbClr val="7030A0"/>
                </a:solidFill>
                <a:effectLst>
                  <a:outerShdw blurRad="38100" dist="38100" dir="2700000" algn="tl">
                    <a:srgbClr val="000000">
                      <a:alpha val="43137"/>
                    </a:srgbClr>
                  </a:outerShdw>
                </a:effectLst>
                <a:sym typeface="Greek Symbols" pitchFamily="18" charset="2"/>
              </a:rPr>
              <a:t>F</a:t>
            </a:r>
            <a:r>
              <a:rPr lang="en-US" altLang="zh-CN" sz="2000" b="1" i="1" u="sng" baseline="-25000" dirty="0">
                <a:solidFill>
                  <a:srgbClr val="7030A0"/>
                </a:solidFill>
                <a:effectLst>
                  <a:outerShdw blurRad="38100" dist="38100" dir="2700000" algn="tl">
                    <a:srgbClr val="000000">
                      <a:alpha val="43137"/>
                    </a:srgbClr>
                  </a:outerShdw>
                </a:effectLst>
                <a:sym typeface="Greek Symbols" pitchFamily="18" charset="2"/>
              </a:rPr>
              <a:t>c</a:t>
            </a:r>
            <a:r>
              <a:rPr lang="en-US" altLang="zh-CN" sz="2000" i="1" baseline="-25000" dirty="0">
                <a:sym typeface="Greek Symbols" pitchFamily="18" charset="2"/>
              </a:rPr>
              <a:t> </a:t>
            </a:r>
            <a:r>
              <a:rPr lang="en-US" altLang="zh-CN" sz="2000" dirty="0">
                <a:sym typeface="Greek Symbols" pitchFamily="18" charset="2"/>
              </a:rPr>
              <a:t>such that </a:t>
            </a:r>
          </a:p>
          <a:p>
            <a:pPr lvl="1">
              <a:lnSpc>
                <a:spcPct val="90000"/>
              </a:lnSpc>
            </a:pPr>
            <a:r>
              <a:rPr lang="en-US" altLang="zh-CN" sz="2000" i="1" dirty="0">
                <a:sym typeface="Greek Symbols" pitchFamily="18" charset="2"/>
              </a:rPr>
              <a:t>F</a:t>
            </a:r>
            <a:r>
              <a:rPr lang="en-US" altLang="zh-CN" sz="2000" dirty="0">
                <a:sym typeface="Greek Symbols" pitchFamily="18" charset="2"/>
              </a:rPr>
              <a:t> logically implies all dependencies in </a:t>
            </a:r>
            <a:r>
              <a:rPr lang="en-US" altLang="zh-CN" sz="2000" i="1" dirty="0">
                <a:sym typeface="Greek Symbols" pitchFamily="18" charset="2"/>
              </a:rPr>
              <a:t>F</a:t>
            </a:r>
            <a:r>
              <a:rPr lang="en-US" altLang="zh-CN" sz="2000" i="1" baseline="-25000" dirty="0">
                <a:sym typeface="Greek Symbols" pitchFamily="18" charset="2"/>
              </a:rPr>
              <a:t>c,</a:t>
            </a:r>
            <a:r>
              <a:rPr lang="en-US" altLang="zh-CN" sz="2000" dirty="0">
                <a:sym typeface="Greek Symbols" pitchFamily="18" charset="2"/>
              </a:rPr>
              <a:t> and </a:t>
            </a:r>
          </a:p>
          <a:p>
            <a:pPr lvl="1">
              <a:lnSpc>
                <a:spcPct val="90000"/>
              </a:lnSpc>
            </a:pPr>
            <a:r>
              <a:rPr lang="en-US" altLang="zh-CN" sz="2000" i="1" dirty="0">
                <a:sym typeface="Greek Symbols" pitchFamily="18" charset="2"/>
              </a:rPr>
              <a:t>F</a:t>
            </a:r>
            <a:r>
              <a:rPr lang="en-US" altLang="zh-CN" sz="2000" i="1" baseline="-25000" dirty="0">
                <a:sym typeface="Greek Symbols" pitchFamily="18" charset="2"/>
              </a:rPr>
              <a:t>c</a:t>
            </a:r>
            <a:r>
              <a:rPr lang="en-US" altLang="zh-CN" sz="2000" baseline="-25000" dirty="0">
                <a:sym typeface="Greek Symbols" pitchFamily="18" charset="2"/>
              </a:rPr>
              <a:t> </a:t>
            </a:r>
            <a:r>
              <a:rPr lang="en-US" altLang="zh-CN" sz="2000" dirty="0">
                <a:sym typeface="Greek Symbols" pitchFamily="18" charset="2"/>
              </a:rPr>
              <a:t>logically implies all dependencies in </a:t>
            </a:r>
            <a:r>
              <a:rPr lang="en-US" altLang="zh-CN" sz="2000" i="1" dirty="0">
                <a:sym typeface="Greek Symbols" pitchFamily="18" charset="2"/>
              </a:rPr>
              <a:t>F,</a:t>
            </a:r>
            <a:r>
              <a:rPr lang="en-US" altLang="zh-CN" sz="2000" dirty="0">
                <a:sym typeface="Greek Symbols" pitchFamily="18" charset="2"/>
              </a:rPr>
              <a:t> and</a:t>
            </a:r>
          </a:p>
          <a:p>
            <a:pPr lvl="1">
              <a:lnSpc>
                <a:spcPct val="90000"/>
              </a:lnSpc>
            </a:pPr>
            <a:r>
              <a:rPr lang="en-US" altLang="zh-CN" sz="2000" dirty="0">
                <a:sym typeface="Greek Symbols" pitchFamily="18" charset="2"/>
              </a:rPr>
              <a:t>No functional dependency in </a:t>
            </a:r>
            <a:r>
              <a:rPr lang="en-US" altLang="zh-CN" sz="2000" i="1" dirty="0">
                <a:sym typeface="Greek Symbols" pitchFamily="18" charset="2"/>
              </a:rPr>
              <a:t>F</a:t>
            </a:r>
            <a:r>
              <a:rPr lang="en-US" altLang="zh-CN" sz="2000" i="1" baseline="-25000" dirty="0">
                <a:sym typeface="Greek Symbols" pitchFamily="18" charset="2"/>
              </a:rPr>
              <a:t>c</a:t>
            </a:r>
            <a:r>
              <a:rPr lang="en-US" altLang="zh-CN" sz="2000" dirty="0">
                <a:sym typeface="Greek Symbols" pitchFamily="18" charset="2"/>
              </a:rPr>
              <a:t> contains an </a:t>
            </a:r>
            <a:r>
              <a:rPr lang="en-US" altLang="zh-CN" sz="2000" b="1" i="1" u="sng" dirty="0">
                <a:solidFill>
                  <a:srgbClr val="C00000"/>
                </a:solidFill>
                <a:effectLst>
                  <a:outerShdw blurRad="38100" dist="38100" dir="2700000" algn="tl">
                    <a:srgbClr val="000000">
                      <a:alpha val="43137"/>
                    </a:srgbClr>
                  </a:outerShdw>
                </a:effectLst>
                <a:sym typeface="Greek Symbols" pitchFamily="18" charset="2"/>
              </a:rPr>
              <a:t>extraneous attribute</a:t>
            </a:r>
            <a:r>
              <a:rPr lang="en-US" altLang="zh-CN" sz="2000" dirty="0">
                <a:sym typeface="Greek Symbols" pitchFamily="18" charset="2"/>
              </a:rPr>
              <a:t>, and</a:t>
            </a:r>
          </a:p>
          <a:p>
            <a:pPr lvl="1">
              <a:lnSpc>
                <a:spcPct val="90000"/>
              </a:lnSpc>
            </a:pPr>
            <a:r>
              <a:rPr lang="en-US" altLang="zh-CN" sz="2000" b="1" dirty="0">
                <a:solidFill>
                  <a:srgbClr val="000099"/>
                </a:solidFill>
                <a:sym typeface="Greek Symbols" pitchFamily="18" charset="2"/>
              </a:rPr>
              <a:t>Each left side of functional dependency in </a:t>
            </a:r>
            <a:r>
              <a:rPr lang="en-US" altLang="zh-CN" sz="2000" b="1" i="1" u="sng" dirty="0">
                <a:solidFill>
                  <a:srgbClr val="7030A0"/>
                </a:solidFill>
                <a:effectLst>
                  <a:outerShdw blurRad="38100" dist="38100" dir="2700000" algn="tl">
                    <a:srgbClr val="000000">
                      <a:alpha val="43137"/>
                    </a:srgbClr>
                  </a:outerShdw>
                </a:effectLst>
                <a:sym typeface="Greek Symbols" pitchFamily="18" charset="2"/>
              </a:rPr>
              <a:t>F</a:t>
            </a:r>
            <a:r>
              <a:rPr lang="en-US" altLang="zh-CN" sz="2000" b="1" i="1" u="sng" baseline="-25000" dirty="0">
                <a:solidFill>
                  <a:srgbClr val="7030A0"/>
                </a:solidFill>
                <a:effectLst>
                  <a:outerShdw blurRad="38100" dist="38100" dir="2700000" algn="tl">
                    <a:srgbClr val="000000">
                      <a:alpha val="43137"/>
                    </a:srgbClr>
                  </a:outerShdw>
                </a:effectLst>
                <a:sym typeface="Greek Symbols" pitchFamily="18" charset="2"/>
              </a:rPr>
              <a:t>c</a:t>
            </a:r>
            <a:r>
              <a:rPr lang="en-US" altLang="zh-CN" sz="2000" b="1" dirty="0">
                <a:solidFill>
                  <a:srgbClr val="000099"/>
                </a:solidFill>
                <a:sym typeface="Greek Symbols" pitchFamily="18" charset="2"/>
              </a:rPr>
              <a:t> is unique.</a:t>
            </a:r>
          </a:p>
          <a:p>
            <a:pPr>
              <a:lnSpc>
                <a:spcPct val="90000"/>
              </a:lnSpc>
            </a:pPr>
            <a:r>
              <a:rPr lang="en-US" altLang="zh-CN" sz="2000" dirty="0"/>
              <a:t>To compute a canonical cover for </a:t>
            </a:r>
            <a:r>
              <a:rPr lang="en-US" altLang="zh-CN" sz="2000" i="1" dirty="0"/>
              <a:t>F</a:t>
            </a:r>
            <a:r>
              <a:rPr lang="en-US" altLang="zh-CN" sz="2000" dirty="0"/>
              <a:t>:</a:t>
            </a:r>
            <a:br>
              <a:rPr lang="en-US" altLang="zh-CN" sz="2000" dirty="0"/>
            </a:br>
            <a:r>
              <a:rPr lang="en-US" altLang="zh-CN" sz="2000" b="1" dirty="0"/>
              <a:t>repeat</a:t>
            </a:r>
            <a:br>
              <a:rPr lang="en-US" altLang="zh-CN" sz="2000" b="1" dirty="0"/>
            </a:br>
            <a:r>
              <a:rPr lang="en-US" altLang="zh-CN" sz="2000" b="1" dirty="0"/>
              <a:t>	</a:t>
            </a:r>
            <a:r>
              <a:rPr lang="en-US" altLang="zh-CN" sz="2000" dirty="0"/>
              <a:t>Use the </a:t>
            </a:r>
            <a:r>
              <a:rPr lang="en-US" altLang="zh-CN" sz="2000" b="1" i="1" u="sng" dirty="0">
                <a:solidFill>
                  <a:srgbClr val="7030A0"/>
                </a:solidFill>
                <a:effectLst>
                  <a:outerShdw blurRad="38100" dist="38100" dir="2700000" algn="tl">
                    <a:srgbClr val="000000">
                      <a:alpha val="43137"/>
                    </a:srgbClr>
                  </a:outerShdw>
                </a:effectLst>
              </a:rPr>
              <a:t>union rule</a:t>
            </a:r>
            <a:r>
              <a:rPr lang="en-US" altLang="zh-CN" sz="2000" dirty="0"/>
              <a:t> to replace any dependencies in </a:t>
            </a:r>
            <a:r>
              <a:rPr lang="en-US" altLang="zh-CN" sz="2000" i="1" dirty="0"/>
              <a:t>F</a:t>
            </a:r>
            <a:br>
              <a:rPr lang="en-US" altLang="zh-CN" sz="2000" i="1" dirty="0"/>
            </a:br>
            <a:r>
              <a:rPr lang="en-US" altLang="zh-CN" sz="2000" i="1" dirty="0"/>
              <a:t>		 </a:t>
            </a:r>
            <a:r>
              <a:rPr lang="en-US" altLang="zh-CN" sz="2000" dirty="0">
                <a:sym typeface="Symbol" panose="05050102010706020507" charset="2"/>
              </a:rPr>
              <a:t></a:t>
            </a:r>
            <a:r>
              <a:rPr lang="en-US" altLang="zh-CN" sz="2000" baseline="-25000" dirty="0">
                <a:sym typeface="Greek Symbols" pitchFamily="18" charset="2"/>
              </a:rPr>
              <a:t>1</a:t>
            </a:r>
            <a:r>
              <a:rPr lang="en-US" altLang="zh-CN" sz="2000" dirty="0">
                <a:sym typeface="Greek Symbols" pitchFamily="18" charset="2"/>
              </a:rPr>
              <a:t> </a:t>
            </a:r>
            <a:r>
              <a:rPr lang="en-US" altLang="zh-CN" sz="2000" dirty="0">
                <a:sym typeface="Symbol" panose="05050102010706020507" charset="2"/>
              </a:rPr>
              <a:t></a:t>
            </a:r>
            <a:r>
              <a:rPr lang="en-US" altLang="zh-CN" sz="2000" dirty="0">
                <a:sym typeface="Monotype Sorts" charset="2"/>
              </a:rPr>
              <a:t> </a:t>
            </a:r>
            <a:r>
              <a:rPr lang="en-US" altLang="zh-CN" sz="2000" dirty="0">
                <a:sym typeface="Symbol" panose="05050102010706020507" charset="2"/>
              </a:rPr>
              <a:t></a:t>
            </a:r>
            <a:r>
              <a:rPr lang="en-US" altLang="zh-CN" sz="2000" baseline="-25000" dirty="0">
                <a:sym typeface="Greek Symbols" pitchFamily="18" charset="2"/>
              </a:rPr>
              <a:t>1</a:t>
            </a:r>
            <a:r>
              <a:rPr lang="en-US" altLang="zh-CN" sz="2000" dirty="0">
                <a:sym typeface="Greek Symbols" pitchFamily="18" charset="2"/>
              </a:rPr>
              <a:t> and </a:t>
            </a:r>
            <a:r>
              <a:rPr lang="en-US" altLang="zh-CN" sz="2000" dirty="0">
                <a:sym typeface="Symbol" panose="05050102010706020507" charset="2"/>
              </a:rPr>
              <a:t></a:t>
            </a:r>
            <a:r>
              <a:rPr lang="en-US" altLang="zh-CN" sz="2000" baseline="-25000" dirty="0">
                <a:sym typeface="Greek Symbols" pitchFamily="18" charset="2"/>
              </a:rPr>
              <a:t>1</a:t>
            </a:r>
            <a:r>
              <a:rPr lang="en-US" altLang="zh-CN" sz="2000" dirty="0">
                <a:sym typeface="Greek Symbols" pitchFamily="18" charset="2"/>
              </a:rPr>
              <a:t> </a:t>
            </a:r>
            <a:r>
              <a:rPr lang="en-US" altLang="zh-CN" sz="2000" dirty="0">
                <a:sym typeface="Symbol" panose="05050102010706020507" charset="2"/>
              </a:rPr>
              <a:t></a:t>
            </a:r>
            <a:r>
              <a:rPr lang="en-US" altLang="zh-CN" sz="2000" dirty="0">
                <a:sym typeface="Monotype Sorts" charset="2"/>
              </a:rPr>
              <a:t> </a:t>
            </a:r>
            <a:r>
              <a:rPr lang="en-US" altLang="zh-CN" sz="2000" dirty="0">
                <a:sym typeface="Symbol" panose="05050102010706020507" charset="2"/>
              </a:rPr>
              <a:t></a:t>
            </a:r>
            <a:r>
              <a:rPr lang="en-US" altLang="zh-CN" sz="2000" baseline="-25000" dirty="0">
                <a:sym typeface="Greek Symbols" pitchFamily="18" charset="2"/>
              </a:rPr>
              <a:t>2</a:t>
            </a:r>
            <a:r>
              <a:rPr lang="en-US" altLang="zh-CN" sz="2000" dirty="0">
                <a:sym typeface="Greek Symbols" pitchFamily="18" charset="2"/>
              </a:rPr>
              <a:t> with </a:t>
            </a:r>
            <a:r>
              <a:rPr lang="en-US" altLang="zh-CN" sz="2000" dirty="0">
                <a:sym typeface="Symbol" panose="05050102010706020507" charset="2"/>
              </a:rPr>
              <a:t></a:t>
            </a:r>
            <a:r>
              <a:rPr lang="en-US" altLang="zh-CN" sz="2000" baseline="-25000" dirty="0">
                <a:sym typeface="Greek Symbols" pitchFamily="18" charset="2"/>
              </a:rPr>
              <a:t>1</a:t>
            </a:r>
            <a:r>
              <a:rPr lang="en-US" altLang="zh-CN" sz="2000" dirty="0">
                <a:sym typeface="Greek Symbols" pitchFamily="18" charset="2"/>
              </a:rPr>
              <a:t> </a:t>
            </a:r>
            <a:r>
              <a:rPr lang="en-US" altLang="zh-CN" sz="2000" dirty="0">
                <a:sym typeface="Symbol" panose="05050102010706020507" charset="2"/>
              </a:rPr>
              <a:t></a:t>
            </a:r>
            <a:r>
              <a:rPr lang="en-US" altLang="zh-CN" sz="2000" dirty="0">
                <a:sym typeface="Monotype Sorts" charset="2"/>
              </a:rPr>
              <a:t> </a:t>
            </a:r>
            <a:r>
              <a:rPr lang="en-US" altLang="zh-CN" sz="2000" dirty="0">
                <a:sym typeface="Symbol" panose="05050102010706020507" charset="2"/>
              </a:rPr>
              <a:t></a:t>
            </a:r>
            <a:r>
              <a:rPr lang="en-US" altLang="zh-CN" sz="2000" baseline="-25000" dirty="0">
                <a:sym typeface="Greek Symbols" pitchFamily="18" charset="2"/>
              </a:rPr>
              <a:t>1</a:t>
            </a:r>
            <a:r>
              <a:rPr lang="en-US" altLang="zh-CN" sz="2000" dirty="0">
                <a:sym typeface="Greek Symbols" pitchFamily="18" charset="2"/>
              </a:rPr>
              <a:t> </a:t>
            </a:r>
            <a:r>
              <a:rPr lang="en-US" altLang="zh-CN" sz="2000" dirty="0">
                <a:sym typeface="Symbol" panose="05050102010706020507" charset="2"/>
              </a:rPr>
              <a:t></a:t>
            </a:r>
            <a:r>
              <a:rPr lang="en-US" altLang="zh-CN" sz="2000" baseline="-25000" dirty="0">
                <a:sym typeface="Greek Symbols" pitchFamily="18" charset="2"/>
              </a:rPr>
              <a:t>2</a:t>
            </a:r>
            <a:r>
              <a:rPr lang="en-US" altLang="zh-CN" sz="2000" dirty="0">
                <a:sym typeface="Greek Symbols" pitchFamily="18" charset="2"/>
              </a:rPr>
              <a:t> </a:t>
            </a:r>
            <a:br>
              <a:rPr lang="en-US" altLang="zh-CN" sz="2000" dirty="0">
                <a:sym typeface="Greek Symbols" pitchFamily="18" charset="2"/>
              </a:rPr>
            </a:br>
            <a:r>
              <a:rPr lang="en-US" altLang="zh-CN" sz="2000" dirty="0">
                <a:sym typeface="Greek Symbols" pitchFamily="18" charset="2"/>
              </a:rPr>
              <a:t>	Find a functional dependency </a:t>
            </a:r>
            <a:r>
              <a:rPr lang="en-US" altLang="zh-CN" sz="2000" dirty="0">
                <a:sym typeface="Symbol" panose="05050102010706020507" charset="2"/>
              </a:rPr>
              <a:t></a:t>
            </a:r>
            <a:r>
              <a:rPr lang="en-US" altLang="zh-CN" sz="2000" dirty="0">
                <a:sym typeface="Greek Symbols" pitchFamily="18" charset="2"/>
              </a:rPr>
              <a:t> </a:t>
            </a:r>
            <a:r>
              <a:rPr lang="en-US" altLang="zh-CN" sz="2000" dirty="0">
                <a:sym typeface="Symbol" panose="05050102010706020507" charset="2"/>
              </a:rPr>
              <a:t></a:t>
            </a:r>
            <a:r>
              <a:rPr lang="en-US" altLang="zh-CN" sz="2000" dirty="0">
                <a:sym typeface="Monotype Sorts" charset="2"/>
              </a:rPr>
              <a:t> </a:t>
            </a:r>
            <a:r>
              <a:rPr lang="en-US" altLang="zh-CN" sz="2000" dirty="0">
                <a:sym typeface="Symbol" panose="05050102010706020507" charset="2"/>
              </a:rPr>
              <a:t></a:t>
            </a:r>
            <a:r>
              <a:rPr lang="en-US" altLang="zh-CN" sz="2000" dirty="0">
                <a:sym typeface="Greek Symbols" pitchFamily="18" charset="2"/>
              </a:rPr>
              <a:t> with an </a:t>
            </a:r>
            <a:br>
              <a:rPr lang="en-US" altLang="zh-CN" sz="2000" dirty="0">
                <a:sym typeface="Greek Symbols" pitchFamily="18" charset="2"/>
              </a:rPr>
            </a:br>
            <a:r>
              <a:rPr lang="en-US" altLang="zh-CN" sz="2000" dirty="0">
                <a:sym typeface="Greek Symbols" pitchFamily="18" charset="2"/>
              </a:rPr>
              <a:t>		</a:t>
            </a:r>
            <a:r>
              <a:rPr lang="en-US" altLang="zh-CN" sz="2000" b="1" dirty="0">
                <a:solidFill>
                  <a:srgbClr val="000099"/>
                </a:solidFill>
                <a:sym typeface="Greek Symbols" pitchFamily="18" charset="2"/>
              </a:rPr>
              <a:t>extraneous attribute either in </a:t>
            </a:r>
            <a:r>
              <a:rPr lang="en-US" altLang="zh-CN" sz="2000" b="1" dirty="0">
                <a:solidFill>
                  <a:srgbClr val="000099"/>
                </a:solidFill>
                <a:sym typeface="Symbol" panose="05050102010706020507" charset="2"/>
              </a:rPr>
              <a:t></a:t>
            </a:r>
            <a:r>
              <a:rPr lang="en-US" altLang="zh-CN" sz="2000" b="1" dirty="0">
                <a:solidFill>
                  <a:srgbClr val="000099"/>
                </a:solidFill>
                <a:sym typeface="Greek Symbols" pitchFamily="18" charset="2"/>
              </a:rPr>
              <a:t> or in </a:t>
            </a:r>
            <a:r>
              <a:rPr lang="en-US" altLang="zh-CN" sz="2000" b="1" dirty="0">
                <a:solidFill>
                  <a:srgbClr val="000099"/>
                </a:solidFill>
                <a:sym typeface="Symbol" panose="05050102010706020507" charset="2"/>
              </a:rPr>
              <a:t></a:t>
            </a:r>
            <a:r>
              <a:rPr lang="en-US" altLang="zh-CN" sz="2000" b="1" dirty="0">
                <a:solidFill>
                  <a:srgbClr val="000099"/>
                </a:solidFill>
                <a:sym typeface="Monotype Sorts" charset="2"/>
              </a:rPr>
              <a:t> </a:t>
            </a:r>
            <a:br>
              <a:rPr lang="en-US" altLang="zh-CN" sz="2000" b="1" dirty="0">
                <a:solidFill>
                  <a:srgbClr val="000099"/>
                </a:solidFill>
                <a:sym typeface="Greek Symbols" pitchFamily="18" charset="2"/>
              </a:rPr>
            </a:br>
            <a:r>
              <a:rPr lang="en-US" altLang="zh-CN" sz="2000" dirty="0">
                <a:sym typeface="Greek Symbols" pitchFamily="18" charset="2"/>
              </a:rPr>
              <a:t>                       /* Note: test for extraneous attributes done using </a:t>
            </a:r>
            <a:r>
              <a:rPr lang="en-US" altLang="zh-CN" sz="2000" i="1" dirty="0">
                <a:sym typeface="Greek Symbols" pitchFamily="18" charset="2"/>
              </a:rPr>
              <a:t>F</a:t>
            </a:r>
            <a:r>
              <a:rPr lang="en-US" altLang="zh-CN" sz="2000" i="1" baseline="-25000" dirty="0">
                <a:sym typeface="Greek Symbols" pitchFamily="18" charset="2"/>
              </a:rPr>
              <a:t>c,</a:t>
            </a:r>
            <a:r>
              <a:rPr lang="en-US" altLang="zh-CN" sz="2000" dirty="0">
                <a:sym typeface="Greek Symbols" pitchFamily="18" charset="2"/>
              </a:rPr>
              <a:t> not F*/</a:t>
            </a:r>
            <a:br>
              <a:rPr lang="en-US" altLang="zh-CN" sz="2000" dirty="0">
                <a:sym typeface="Greek Symbols" pitchFamily="18" charset="2"/>
              </a:rPr>
            </a:br>
            <a:r>
              <a:rPr lang="en-US" altLang="zh-CN" sz="2000" dirty="0">
                <a:sym typeface="Greek Symbols" pitchFamily="18" charset="2"/>
              </a:rPr>
              <a:t> 	If an extraneous attribute is found, delete it from </a:t>
            </a:r>
            <a:r>
              <a:rPr lang="en-US" altLang="zh-CN" sz="2000" dirty="0">
                <a:sym typeface="Symbol" panose="05050102010706020507" charset="2"/>
              </a:rPr>
              <a:t></a:t>
            </a:r>
            <a:r>
              <a:rPr lang="en-US" altLang="zh-CN" sz="2000" dirty="0">
                <a:sym typeface="Greek Symbols" pitchFamily="18" charset="2"/>
              </a:rPr>
              <a:t> </a:t>
            </a:r>
            <a:r>
              <a:rPr lang="en-US" altLang="zh-CN" sz="2000" dirty="0">
                <a:sym typeface="Symbol" panose="05050102010706020507" charset="2"/>
              </a:rPr>
              <a:t></a:t>
            </a:r>
            <a:r>
              <a:rPr lang="en-US" altLang="zh-CN" sz="2000" dirty="0">
                <a:sym typeface="Monotype Sorts" charset="2"/>
              </a:rPr>
              <a:t> </a:t>
            </a:r>
            <a:r>
              <a:rPr lang="en-US" altLang="zh-CN" sz="2000" dirty="0">
                <a:sym typeface="Symbol" panose="05050102010706020507" charset="2"/>
              </a:rPr>
              <a:t></a:t>
            </a:r>
            <a:r>
              <a:rPr lang="en-US" altLang="zh-CN" sz="2000" i="1" dirty="0">
                <a:sym typeface="Greek Symbols" pitchFamily="18" charset="2"/>
              </a:rPr>
              <a:t> </a:t>
            </a:r>
            <a:br>
              <a:rPr lang="en-US" altLang="zh-CN" sz="2000" dirty="0">
                <a:sym typeface="Greek Symbols" pitchFamily="18" charset="2"/>
              </a:rPr>
            </a:br>
            <a:r>
              <a:rPr lang="en-US" altLang="zh-CN" sz="2000" b="1" dirty="0">
                <a:sym typeface="Greek Symbols" pitchFamily="18" charset="2"/>
              </a:rPr>
              <a:t>until </a:t>
            </a:r>
            <a:r>
              <a:rPr lang="en-US" altLang="zh-CN" sz="2000" i="1" dirty="0">
                <a:sym typeface="Greek Symbols" pitchFamily="18" charset="2"/>
              </a:rPr>
              <a:t>F</a:t>
            </a:r>
            <a:r>
              <a:rPr lang="en-US" altLang="zh-CN" sz="2000" dirty="0">
                <a:sym typeface="Greek Symbols" pitchFamily="18" charset="2"/>
              </a:rPr>
              <a:t> does not change</a:t>
            </a:r>
          </a:p>
          <a:p>
            <a:pPr>
              <a:lnSpc>
                <a:spcPct val="90000"/>
              </a:lnSpc>
            </a:pPr>
            <a:r>
              <a:rPr lang="en-US" altLang="zh-CN" sz="2000" dirty="0">
                <a:solidFill>
                  <a:srgbClr val="C00000"/>
                </a:solidFill>
                <a:sym typeface="Greek Symbols" pitchFamily="18" charset="2"/>
              </a:rPr>
              <a:t>Note: Union rule may become applicable after some extraneous attributes have been deleted, so it has to be re-applied</a:t>
            </a:r>
          </a:p>
          <a:p>
            <a:pPr>
              <a:lnSpc>
                <a:spcPct val="90000"/>
              </a:lnSpc>
            </a:pPr>
            <a:endParaRPr lang="en-US" altLang="zh-CN" sz="2000" dirty="0">
              <a:sym typeface="Greek Symbols" pitchFamily="18" charset="2"/>
            </a:endParaRPr>
          </a:p>
          <a:p>
            <a:pPr>
              <a:lnSpc>
                <a:spcPct val="90000"/>
              </a:lnSpc>
            </a:pPr>
            <a:endParaRPr lang="zh-CN" alt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1987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1987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1987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71987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71987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9875"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1922" name="Rectangle 2"/>
          <p:cNvSpPr>
            <a:spLocks noGrp="1" noChangeArrowheads="1"/>
          </p:cNvSpPr>
          <p:nvPr>
            <p:ph type="title"/>
          </p:nvPr>
        </p:nvSpPr>
        <p:spPr>
          <a:xfrm>
            <a:off x="746125" y="40640"/>
            <a:ext cx="8277225" cy="68072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Computing a Canonical Cover</a:t>
            </a:r>
          </a:p>
        </p:txBody>
      </p:sp>
      <p:sp>
        <p:nvSpPr>
          <p:cNvPr id="94210" name="Rectangle 3"/>
          <p:cNvSpPr>
            <a:spLocks noGrp="1"/>
          </p:cNvSpPr>
          <p:nvPr>
            <p:ph idx="1"/>
          </p:nvPr>
        </p:nvSpPr>
        <p:spPr>
          <a:xfrm>
            <a:off x="80010" y="830580"/>
            <a:ext cx="9000490" cy="5797550"/>
          </a:xfrm>
        </p:spPr>
        <p:txBody>
          <a:bodyPr wrap="square" lIns="91440" tIns="45720" rIns="91440" bIns="45720" anchor="t"/>
          <a:lstStyle/>
          <a:p>
            <a:pPr defTabSz="914400">
              <a:tabLst>
                <a:tab pos="684530" algn="l"/>
                <a:tab pos="2917825" algn="l"/>
              </a:tabLst>
            </a:pPr>
            <a:r>
              <a:rPr lang="en-US" altLang="zh-CN" sz="2000" i="1" dirty="0"/>
              <a:t>R </a:t>
            </a:r>
            <a:r>
              <a:rPr lang="en-US" altLang="zh-CN" sz="2000" dirty="0"/>
              <a:t>= (</a:t>
            </a:r>
            <a:r>
              <a:rPr lang="en-US" altLang="zh-CN" sz="2000" i="1" dirty="0"/>
              <a:t>A, B, C)</a:t>
            </a:r>
            <a:r>
              <a:rPr lang="zh-CN" altLang="en-US" sz="2000" i="1" dirty="0"/>
              <a:t>，</a:t>
            </a:r>
            <a:r>
              <a:rPr lang="en-US" altLang="zh-CN" sz="2000" i="1" dirty="0"/>
              <a:t>F = {A </a:t>
            </a:r>
            <a:r>
              <a:rPr lang="en-US" altLang="zh-CN" sz="2000" dirty="0">
                <a:sym typeface="Symbol" panose="05050102010706020507" charset="2"/>
              </a:rPr>
              <a:t></a:t>
            </a:r>
            <a:r>
              <a:rPr lang="en-US" altLang="zh-CN" sz="2000" dirty="0">
                <a:sym typeface="Monotype Sorts" charset="2"/>
              </a:rPr>
              <a:t> </a:t>
            </a:r>
            <a:r>
              <a:rPr lang="en-US" altLang="zh-CN" sz="2000" i="1" dirty="0">
                <a:sym typeface="Monotype Sorts" charset="2"/>
              </a:rPr>
              <a:t>BC</a:t>
            </a:r>
            <a:r>
              <a:rPr lang="zh-CN" altLang="en-US" sz="2000" i="1" dirty="0">
                <a:sym typeface="Monotype Sorts" charset="2"/>
              </a:rPr>
              <a:t>，</a:t>
            </a:r>
            <a:r>
              <a:rPr lang="en-US" altLang="zh-CN" sz="2000" i="1" dirty="0">
                <a:sym typeface="Monotype Sorts" charset="2"/>
              </a:rPr>
              <a:t>B </a:t>
            </a:r>
            <a:r>
              <a:rPr lang="en-US" altLang="zh-CN" sz="2000" dirty="0">
                <a:sym typeface="Symbol" panose="05050102010706020507" charset="2"/>
              </a:rPr>
              <a:t></a:t>
            </a:r>
            <a:r>
              <a:rPr lang="en-US" altLang="zh-CN" sz="2000" dirty="0">
                <a:sym typeface="Monotype Sorts" charset="2"/>
              </a:rPr>
              <a:t> </a:t>
            </a:r>
            <a:r>
              <a:rPr lang="en-US" altLang="zh-CN" sz="2000" i="1" dirty="0">
                <a:sym typeface="Monotype Sorts" charset="2"/>
              </a:rPr>
              <a:t>C</a:t>
            </a:r>
            <a:r>
              <a:rPr lang="zh-CN" altLang="en-US" sz="2000" i="1" dirty="0">
                <a:sym typeface="Monotype Sorts" charset="2"/>
              </a:rPr>
              <a:t>，</a:t>
            </a:r>
            <a:r>
              <a:rPr lang="en-US" altLang="zh-CN" sz="2000" i="1" dirty="0">
                <a:sym typeface="Monotype Sorts" charset="2"/>
              </a:rPr>
              <a:t>A </a:t>
            </a:r>
            <a:r>
              <a:rPr lang="en-US" altLang="zh-CN" sz="2000" dirty="0">
                <a:sym typeface="Symbol" panose="05050102010706020507" charset="2"/>
              </a:rPr>
              <a:t></a:t>
            </a:r>
            <a:r>
              <a:rPr lang="en-US" altLang="zh-CN" sz="2000" dirty="0">
                <a:sym typeface="Monotype Sorts" charset="2"/>
              </a:rPr>
              <a:t> </a:t>
            </a:r>
            <a:r>
              <a:rPr lang="en-US" altLang="zh-CN" sz="2000" i="1" dirty="0">
                <a:sym typeface="Monotype Sorts" charset="2"/>
              </a:rPr>
              <a:t>B</a:t>
            </a:r>
            <a:r>
              <a:rPr lang="zh-CN" altLang="en-US" sz="2000" i="1" dirty="0">
                <a:sym typeface="Monotype Sorts" charset="2"/>
              </a:rPr>
              <a:t>，</a:t>
            </a:r>
            <a:r>
              <a:rPr lang="en-US" altLang="zh-CN" sz="2000" i="1" dirty="0">
                <a:sym typeface="Monotype Sorts" charset="2"/>
              </a:rPr>
              <a:t>AB</a:t>
            </a:r>
            <a:r>
              <a:rPr lang="en-US" altLang="zh-CN" sz="2000" dirty="0">
                <a:sym typeface="Monotype Sorts" charset="2"/>
              </a:rPr>
              <a:t> </a:t>
            </a:r>
            <a:r>
              <a:rPr lang="en-US" altLang="zh-CN" sz="2000" dirty="0">
                <a:sym typeface="Symbol" panose="05050102010706020507" charset="2"/>
              </a:rPr>
              <a:t></a:t>
            </a:r>
            <a:r>
              <a:rPr lang="en-US" altLang="zh-CN" sz="2000" dirty="0">
                <a:sym typeface="Monotype Sorts" charset="2"/>
              </a:rPr>
              <a:t> </a:t>
            </a:r>
            <a:r>
              <a:rPr lang="en-US" altLang="zh-CN" sz="2000" i="1" dirty="0">
                <a:sym typeface="Monotype Sorts" charset="2"/>
              </a:rPr>
              <a:t>C</a:t>
            </a:r>
            <a:r>
              <a:rPr lang="en-US" altLang="zh-CN" sz="2000" dirty="0">
                <a:sym typeface="Monotype Sorts" charset="2"/>
              </a:rPr>
              <a:t>}</a:t>
            </a:r>
          </a:p>
          <a:p>
            <a:pPr defTabSz="914400">
              <a:tabLst>
                <a:tab pos="684530" algn="l"/>
                <a:tab pos="2917825" algn="l"/>
              </a:tabLst>
            </a:pPr>
            <a:r>
              <a:rPr lang="en-US" altLang="zh-CN" sz="2000" dirty="0">
                <a:sym typeface="Monotype Sorts" charset="2"/>
              </a:rPr>
              <a:t>Combine </a:t>
            </a:r>
            <a:r>
              <a:rPr lang="en-US" altLang="zh-CN" sz="2000" i="1" dirty="0">
                <a:sym typeface="Monotype Sorts" charset="2"/>
              </a:rPr>
              <a:t>A </a:t>
            </a:r>
            <a:r>
              <a:rPr lang="en-US" altLang="zh-CN" sz="2000" dirty="0">
                <a:sym typeface="Symbol" panose="05050102010706020507" charset="2"/>
              </a:rPr>
              <a:t></a:t>
            </a:r>
            <a:r>
              <a:rPr lang="en-US" altLang="zh-CN" sz="2000" dirty="0">
                <a:sym typeface="Monotype Sorts" charset="2"/>
              </a:rPr>
              <a:t> </a:t>
            </a:r>
            <a:r>
              <a:rPr lang="en-US" altLang="zh-CN" sz="2000" i="1" dirty="0">
                <a:sym typeface="Monotype Sorts" charset="2"/>
              </a:rPr>
              <a:t>BC </a:t>
            </a:r>
            <a:r>
              <a:rPr lang="en-US" altLang="zh-CN" sz="2000" dirty="0">
                <a:sym typeface="Monotype Sorts" charset="2"/>
              </a:rPr>
              <a:t>and </a:t>
            </a:r>
            <a:r>
              <a:rPr lang="en-US" altLang="zh-CN" sz="2000" i="1" dirty="0">
                <a:sym typeface="Monotype Sorts" charset="2"/>
              </a:rPr>
              <a:t>A </a:t>
            </a:r>
            <a:r>
              <a:rPr lang="en-US" altLang="zh-CN" sz="2000" dirty="0">
                <a:sym typeface="Symbol" panose="05050102010706020507" charset="2"/>
              </a:rPr>
              <a:t></a:t>
            </a:r>
            <a:r>
              <a:rPr lang="en-US" altLang="zh-CN" sz="2000" dirty="0">
                <a:sym typeface="Monotype Sorts" charset="2"/>
              </a:rPr>
              <a:t> </a:t>
            </a:r>
            <a:r>
              <a:rPr lang="en-US" altLang="zh-CN" sz="2000" i="1" dirty="0">
                <a:sym typeface="Monotype Sorts" charset="2"/>
              </a:rPr>
              <a:t>B </a:t>
            </a:r>
            <a:r>
              <a:rPr lang="en-US" altLang="zh-CN" sz="2000" dirty="0">
                <a:sym typeface="Monotype Sorts" charset="2"/>
              </a:rPr>
              <a:t>into </a:t>
            </a:r>
            <a:r>
              <a:rPr lang="en-US" altLang="zh-CN" sz="2000" i="1" dirty="0">
                <a:sym typeface="Monotype Sorts" charset="2"/>
              </a:rPr>
              <a:t>A </a:t>
            </a:r>
            <a:r>
              <a:rPr lang="en-US" altLang="zh-CN" sz="2000" dirty="0">
                <a:sym typeface="Symbol" panose="05050102010706020507" charset="2"/>
              </a:rPr>
              <a:t></a:t>
            </a:r>
            <a:r>
              <a:rPr lang="en-US" altLang="zh-CN" sz="2000" dirty="0">
                <a:sym typeface="Monotype Sorts" charset="2"/>
              </a:rPr>
              <a:t> </a:t>
            </a:r>
            <a:r>
              <a:rPr lang="en-US" altLang="zh-CN" sz="2000" i="1" dirty="0">
                <a:sym typeface="Monotype Sorts" charset="2"/>
              </a:rPr>
              <a:t>BC</a:t>
            </a:r>
          </a:p>
          <a:p>
            <a:pPr lvl="1" defTabSz="914400">
              <a:tabLst>
                <a:tab pos="684530" algn="l"/>
                <a:tab pos="2917825" algn="l"/>
              </a:tabLst>
            </a:pPr>
            <a:r>
              <a:rPr lang="en-US" altLang="zh-CN" sz="2000" dirty="0">
                <a:sym typeface="Monotype Sorts" charset="2"/>
              </a:rPr>
              <a:t>Set is now </a:t>
            </a:r>
            <a:r>
              <a:rPr lang="en-US" altLang="zh-CN" sz="2000" b="1" i="1" dirty="0">
                <a:solidFill>
                  <a:srgbClr val="7030A0"/>
                </a:solidFill>
                <a:effectLst>
                  <a:outerShdw blurRad="38100" dist="38100" dir="2700000" algn="tl">
                    <a:srgbClr val="000000">
                      <a:alpha val="43137"/>
                    </a:srgbClr>
                  </a:outerShdw>
                </a:effectLst>
              </a:rPr>
              <a:t>{ A </a:t>
            </a:r>
            <a:r>
              <a:rPr lang="en-US" altLang="zh-CN" sz="2000" b="1" i="1" dirty="0">
                <a:solidFill>
                  <a:srgbClr val="7030A0"/>
                </a:solidFill>
                <a:effectLst>
                  <a:outerShdw blurRad="38100" dist="38100" dir="2700000" algn="tl">
                    <a:srgbClr val="000000">
                      <a:alpha val="43137"/>
                    </a:srgbClr>
                  </a:outerShdw>
                </a:effectLst>
                <a:sym typeface="Symbol" panose="05050102010706020507" charset="2"/>
              </a:rPr>
              <a:t></a:t>
            </a:r>
            <a:r>
              <a:rPr lang="en-US" altLang="zh-CN" sz="2000" b="1" i="1" dirty="0">
                <a:solidFill>
                  <a:srgbClr val="7030A0"/>
                </a:solidFill>
                <a:effectLst>
                  <a:outerShdw blurRad="38100" dist="38100" dir="2700000" algn="tl">
                    <a:srgbClr val="000000">
                      <a:alpha val="43137"/>
                    </a:srgbClr>
                  </a:outerShdw>
                </a:effectLst>
                <a:sym typeface="Monotype Sorts" charset="2"/>
              </a:rPr>
              <a:t> BC, B </a:t>
            </a:r>
            <a:r>
              <a:rPr lang="en-US" altLang="zh-CN" sz="2000" b="1" i="1" dirty="0">
                <a:solidFill>
                  <a:srgbClr val="7030A0"/>
                </a:solidFill>
                <a:effectLst>
                  <a:outerShdw blurRad="38100" dist="38100" dir="2700000" algn="tl">
                    <a:srgbClr val="000000">
                      <a:alpha val="43137"/>
                    </a:srgbClr>
                  </a:outerShdw>
                </a:effectLst>
                <a:sym typeface="Symbol" panose="05050102010706020507" charset="2"/>
              </a:rPr>
              <a:t></a:t>
            </a:r>
            <a:r>
              <a:rPr lang="en-US" altLang="zh-CN" sz="2000" b="1" i="1" dirty="0">
                <a:solidFill>
                  <a:srgbClr val="7030A0"/>
                </a:solidFill>
                <a:effectLst>
                  <a:outerShdw blurRad="38100" dist="38100" dir="2700000" algn="tl">
                    <a:srgbClr val="000000">
                      <a:alpha val="43137"/>
                    </a:srgbClr>
                  </a:outerShdw>
                </a:effectLst>
                <a:sym typeface="Monotype Sorts" charset="2"/>
              </a:rPr>
              <a:t> C, AB </a:t>
            </a:r>
            <a:r>
              <a:rPr lang="en-US" altLang="zh-CN" sz="2000" b="1" i="1" dirty="0">
                <a:solidFill>
                  <a:srgbClr val="7030A0"/>
                </a:solidFill>
                <a:effectLst>
                  <a:outerShdw blurRad="38100" dist="38100" dir="2700000" algn="tl">
                    <a:srgbClr val="000000">
                      <a:alpha val="43137"/>
                    </a:srgbClr>
                  </a:outerShdw>
                </a:effectLst>
                <a:sym typeface="Symbol" panose="05050102010706020507" charset="2"/>
              </a:rPr>
              <a:t></a:t>
            </a:r>
            <a:r>
              <a:rPr lang="en-US" altLang="zh-CN" sz="2000" b="1" i="1" dirty="0">
                <a:solidFill>
                  <a:srgbClr val="7030A0"/>
                </a:solidFill>
                <a:effectLst>
                  <a:outerShdw blurRad="38100" dist="38100" dir="2700000" algn="tl">
                    <a:srgbClr val="000000">
                      <a:alpha val="43137"/>
                    </a:srgbClr>
                  </a:outerShdw>
                </a:effectLst>
                <a:sym typeface="Monotype Sorts" charset="2"/>
              </a:rPr>
              <a:t> C }</a:t>
            </a:r>
            <a:endParaRPr lang="en-US" altLang="zh-CN" sz="2000" b="1" i="1" u="sng" dirty="0">
              <a:solidFill>
                <a:srgbClr val="7030A0"/>
              </a:solidFill>
              <a:effectLst>
                <a:outerShdw blurRad="38100" dist="38100" dir="2700000" algn="tl">
                  <a:srgbClr val="000000">
                    <a:alpha val="43137"/>
                  </a:srgbClr>
                </a:outerShdw>
              </a:effectLst>
              <a:sym typeface="Monotype Sorts" charset="2"/>
            </a:endParaRPr>
          </a:p>
          <a:p>
            <a:pPr defTabSz="914400">
              <a:tabLst>
                <a:tab pos="684530" algn="l"/>
                <a:tab pos="2917825" algn="l"/>
              </a:tabLst>
            </a:pPr>
            <a:r>
              <a:rPr lang="en-US" altLang="zh-CN" sz="2000" i="1" dirty="0">
                <a:sym typeface="Monotype Sorts" charset="2"/>
              </a:rPr>
              <a:t>A</a:t>
            </a:r>
            <a:r>
              <a:rPr lang="en-US" altLang="zh-CN" sz="2000" dirty="0">
                <a:sym typeface="Monotype Sorts" charset="2"/>
              </a:rPr>
              <a:t> is extraneous in </a:t>
            </a:r>
            <a:r>
              <a:rPr lang="en-US" altLang="zh-CN" sz="2000" i="1" dirty="0">
                <a:sym typeface="Monotype Sorts" charset="2"/>
              </a:rPr>
              <a:t>AB</a:t>
            </a:r>
            <a:r>
              <a:rPr lang="en-US" altLang="zh-CN" sz="2000" dirty="0">
                <a:sym typeface="Monotype Sorts" charset="2"/>
              </a:rPr>
              <a:t> </a:t>
            </a:r>
            <a:r>
              <a:rPr lang="en-US" altLang="zh-CN" sz="2000" dirty="0">
                <a:sym typeface="Symbol" panose="05050102010706020507" charset="2"/>
              </a:rPr>
              <a:t></a:t>
            </a:r>
            <a:r>
              <a:rPr lang="en-US" altLang="zh-CN" sz="2000" dirty="0">
                <a:sym typeface="Monotype Sorts" charset="2"/>
              </a:rPr>
              <a:t> </a:t>
            </a:r>
            <a:r>
              <a:rPr lang="en-US" altLang="zh-CN" sz="2000" i="1" dirty="0">
                <a:sym typeface="Monotype Sorts" charset="2"/>
              </a:rPr>
              <a:t>C</a:t>
            </a:r>
          </a:p>
          <a:p>
            <a:pPr lvl="1" defTabSz="914400">
              <a:tabLst>
                <a:tab pos="684530" algn="l"/>
                <a:tab pos="2917825" algn="l"/>
              </a:tabLst>
            </a:pPr>
            <a:r>
              <a:rPr lang="en-US" altLang="zh-CN" sz="2000" dirty="0">
                <a:sym typeface="Monotype Sorts" charset="2"/>
              </a:rPr>
              <a:t>Check if the result of deleting A from  </a:t>
            </a:r>
            <a:r>
              <a:rPr lang="en-US" altLang="zh-CN" sz="2000" i="1" dirty="0">
                <a:sym typeface="Monotype Sorts" charset="2"/>
              </a:rPr>
              <a:t>AB</a:t>
            </a:r>
            <a:r>
              <a:rPr lang="en-US" altLang="zh-CN" sz="2000" dirty="0">
                <a:sym typeface="Monotype Sorts" charset="2"/>
              </a:rPr>
              <a:t> </a:t>
            </a:r>
            <a:r>
              <a:rPr lang="en-US" altLang="zh-CN" sz="2000" dirty="0">
                <a:sym typeface="Symbol" panose="05050102010706020507" charset="2"/>
              </a:rPr>
              <a:t></a:t>
            </a:r>
            <a:r>
              <a:rPr lang="en-US" altLang="zh-CN" sz="2000" dirty="0">
                <a:sym typeface="Monotype Sorts" charset="2"/>
              </a:rPr>
              <a:t> </a:t>
            </a:r>
            <a:r>
              <a:rPr lang="en-US" altLang="zh-CN" sz="2000" i="1" dirty="0">
                <a:sym typeface="Monotype Sorts" charset="2"/>
              </a:rPr>
              <a:t>C  </a:t>
            </a:r>
            <a:r>
              <a:rPr lang="en-US" altLang="zh-CN" sz="2000" dirty="0">
                <a:sym typeface="Monotype Sorts" charset="2"/>
              </a:rPr>
              <a:t>is implied by the other dependencies</a:t>
            </a:r>
          </a:p>
          <a:p>
            <a:pPr lvl="2" defTabSz="914400">
              <a:tabLst>
                <a:tab pos="684530" algn="l"/>
                <a:tab pos="2917825" algn="l"/>
              </a:tabLst>
            </a:pPr>
            <a:r>
              <a:rPr lang="en-US" altLang="zh-CN" sz="2000" dirty="0">
                <a:sym typeface="Monotype Sorts" charset="2"/>
              </a:rPr>
              <a:t>Yes: in fact,  </a:t>
            </a:r>
            <a:r>
              <a:rPr lang="en-US" altLang="zh-CN" sz="2000" i="1" dirty="0">
                <a:sym typeface="Monotype Sorts" charset="2"/>
              </a:rPr>
              <a:t>B</a:t>
            </a:r>
            <a:r>
              <a:rPr lang="en-US" altLang="zh-CN" sz="2000" dirty="0">
                <a:sym typeface="Monotype Sorts" charset="2"/>
              </a:rPr>
              <a:t> </a:t>
            </a:r>
            <a:r>
              <a:rPr lang="en-US" altLang="zh-CN" sz="2000" dirty="0">
                <a:sym typeface="Symbol" panose="05050102010706020507" charset="2"/>
              </a:rPr>
              <a:t></a:t>
            </a:r>
            <a:r>
              <a:rPr lang="en-US" altLang="zh-CN" sz="2000" dirty="0">
                <a:sym typeface="Monotype Sorts" charset="2"/>
              </a:rPr>
              <a:t> </a:t>
            </a:r>
            <a:r>
              <a:rPr lang="en-US" altLang="zh-CN" sz="2000" i="1" dirty="0">
                <a:sym typeface="Monotype Sorts" charset="2"/>
              </a:rPr>
              <a:t>C </a:t>
            </a:r>
            <a:r>
              <a:rPr lang="en-US" altLang="zh-CN" sz="2000" dirty="0">
                <a:sym typeface="Monotype Sorts" charset="2"/>
              </a:rPr>
              <a:t>is already present!</a:t>
            </a:r>
          </a:p>
          <a:p>
            <a:pPr lvl="1" defTabSz="914400">
              <a:tabLst>
                <a:tab pos="684530" algn="l"/>
                <a:tab pos="2917825" algn="l"/>
              </a:tabLst>
            </a:pPr>
            <a:r>
              <a:rPr lang="en-US" altLang="zh-CN" sz="2000" dirty="0">
                <a:sym typeface="Monotype Sorts" charset="2"/>
              </a:rPr>
              <a:t>Set is now </a:t>
            </a:r>
            <a:r>
              <a:rPr lang="en-US" altLang="zh-CN" sz="2000" b="1" i="1" dirty="0">
                <a:solidFill>
                  <a:srgbClr val="7030A0"/>
                </a:solidFill>
                <a:effectLst>
                  <a:outerShdw blurRad="38100" dist="38100" dir="2700000" algn="tl">
                    <a:srgbClr val="000000">
                      <a:alpha val="43137"/>
                    </a:srgbClr>
                  </a:outerShdw>
                </a:effectLst>
              </a:rPr>
              <a:t>{ A </a:t>
            </a:r>
            <a:r>
              <a:rPr lang="en-US" altLang="zh-CN" sz="2000" b="1" i="1" dirty="0">
                <a:solidFill>
                  <a:srgbClr val="7030A0"/>
                </a:solidFill>
                <a:effectLst>
                  <a:outerShdw blurRad="38100" dist="38100" dir="2700000" algn="tl">
                    <a:srgbClr val="000000">
                      <a:alpha val="43137"/>
                    </a:srgbClr>
                  </a:outerShdw>
                </a:effectLst>
                <a:sym typeface="Symbol" panose="05050102010706020507" charset="2"/>
              </a:rPr>
              <a:t></a:t>
            </a:r>
            <a:r>
              <a:rPr lang="en-US" altLang="zh-CN" sz="2000" b="1" i="1" dirty="0">
                <a:solidFill>
                  <a:srgbClr val="7030A0"/>
                </a:solidFill>
                <a:effectLst>
                  <a:outerShdw blurRad="38100" dist="38100" dir="2700000" algn="tl">
                    <a:srgbClr val="000000">
                      <a:alpha val="43137"/>
                    </a:srgbClr>
                  </a:outerShdw>
                </a:effectLst>
                <a:sym typeface="Monotype Sorts" charset="2"/>
              </a:rPr>
              <a:t> BC, B </a:t>
            </a:r>
            <a:r>
              <a:rPr lang="en-US" altLang="zh-CN" sz="2000" b="1" i="1" dirty="0">
                <a:solidFill>
                  <a:srgbClr val="7030A0"/>
                </a:solidFill>
                <a:effectLst>
                  <a:outerShdw blurRad="38100" dist="38100" dir="2700000" algn="tl">
                    <a:srgbClr val="000000">
                      <a:alpha val="43137"/>
                    </a:srgbClr>
                  </a:outerShdw>
                </a:effectLst>
                <a:sym typeface="Symbol" panose="05050102010706020507" charset="2"/>
              </a:rPr>
              <a:t></a:t>
            </a:r>
            <a:r>
              <a:rPr lang="en-US" altLang="zh-CN" sz="2000" b="1" i="1" dirty="0">
                <a:solidFill>
                  <a:srgbClr val="7030A0"/>
                </a:solidFill>
                <a:effectLst>
                  <a:outerShdw blurRad="38100" dist="38100" dir="2700000" algn="tl">
                    <a:srgbClr val="000000">
                      <a:alpha val="43137"/>
                    </a:srgbClr>
                  </a:outerShdw>
                </a:effectLst>
                <a:sym typeface="Monotype Sorts" charset="2"/>
              </a:rPr>
              <a:t> C }</a:t>
            </a:r>
            <a:endParaRPr lang="en-US" altLang="zh-CN" sz="2000" i="1" dirty="0">
              <a:sym typeface="Monotype Sorts" charset="2"/>
            </a:endParaRPr>
          </a:p>
          <a:p>
            <a:pPr defTabSz="914400">
              <a:tabLst>
                <a:tab pos="684530" algn="l"/>
                <a:tab pos="2917825" algn="l"/>
              </a:tabLst>
            </a:pPr>
            <a:r>
              <a:rPr lang="en-US" altLang="zh-CN" sz="2000" i="1" dirty="0">
                <a:sym typeface="Monotype Sorts" charset="2"/>
              </a:rPr>
              <a:t>C</a:t>
            </a:r>
            <a:r>
              <a:rPr lang="en-US" altLang="zh-CN" sz="2000" dirty="0">
                <a:sym typeface="Monotype Sorts" charset="2"/>
              </a:rPr>
              <a:t> is extraneous in </a:t>
            </a:r>
            <a:r>
              <a:rPr lang="en-US" altLang="zh-CN" sz="2000" i="1" dirty="0">
                <a:sym typeface="Monotype Sorts" charset="2"/>
              </a:rPr>
              <a:t>A</a:t>
            </a:r>
            <a:r>
              <a:rPr lang="en-US" altLang="zh-CN" sz="2000" dirty="0">
                <a:sym typeface="Monotype Sorts" charset="2"/>
              </a:rPr>
              <a:t> </a:t>
            </a:r>
            <a:r>
              <a:rPr lang="en-US" altLang="zh-CN" sz="2000" dirty="0">
                <a:sym typeface="Symbol" panose="05050102010706020507" charset="2"/>
              </a:rPr>
              <a:t></a:t>
            </a:r>
            <a:r>
              <a:rPr lang="en-US" altLang="zh-CN" sz="2000" dirty="0">
                <a:sym typeface="Monotype Sorts" charset="2"/>
              </a:rPr>
              <a:t> </a:t>
            </a:r>
            <a:r>
              <a:rPr lang="en-US" altLang="zh-CN" sz="2000" i="1" dirty="0">
                <a:sym typeface="Monotype Sorts" charset="2"/>
              </a:rPr>
              <a:t>BC</a:t>
            </a:r>
            <a:r>
              <a:rPr lang="en-US" altLang="zh-CN" sz="2000" dirty="0">
                <a:sym typeface="Monotype Sorts" charset="2"/>
              </a:rPr>
              <a:t> </a:t>
            </a:r>
          </a:p>
          <a:p>
            <a:pPr lvl="1" defTabSz="914400">
              <a:tabLst>
                <a:tab pos="684530" algn="l"/>
                <a:tab pos="2917825" algn="l"/>
              </a:tabLst>
            </a:pPr>
            <a:r>
              <a:rPr lang="en-US" altLang="zh-CN" sz="2000" dirty="0">
                <a:sym typeface="Monotype Sorts" charset="2"/>
              </a:rPr>
              <a:t>Check if </a:t>
            </a:r>
            <a:r>
              <a:rPr lang="en-US" altLang="zh-CN" sz="2000" i="1" dirty="0">
                <a:sym typeface="Monotype Sorts" charset="2"/>
              </a:rPr>
              <a:t>A </a:t>
            </a:r>
            <a:r>
              <a:rPr lang="en-US" altLang="zh-CN" sz="2000" dirty="0">
                <a:sym typeface="Symbol" panose="05050102010706020507" charset="2"/>
              </a:rPr>
              <a:t></a:t>
            </a:r>
            <a:r>
              <a:rPr lang="en-US" altLang="zh-CN" sz="2000" dirty="0">
                <a:sym typeface="Monotype Sorts" charset="2"/>
              </a:rPr>
              <a:t> </a:t>
            </a:r>
            <a:r>
              <a:rPr lang="en-US" altLang="zh-CN" sz="2000" i="1" dirty="0">
                <a:sym typeface="Monotype Sorts" charset="2"/>
              </a:rPr>
              <a:t>C</a:t>
            </a:r>
            <a:r>
              <a:rPr lang="en-US" altLang="zh-CN" sz="2000" dirty="0">
                <a:sym typeface="Monotype Sorts" charset="2"/>
              </a:rPr>
              <a:t> is logically implied by </a:t>
            </a:r>
            <a:r>
              <a:rPr lang="en-US" altLang="zh-CN" sz="2000" i="1" dirty="0">
                <a:sym typeface="Monotype Sorts" charset="2"/>
              </a:rPr>
              <a:t>A </a:t>
            </a:r>
            <a:r>
              <a:rPr lang="en-US" altLang="zh-CN" sz="2000" dirty="0">
                <a:sym typeface="Symbol" panose="05050102010706020507" charset="2"/>
              </a:rPr>
              <a:t></a:t>
            </a:r>
            <a:r>
              <a:rPr lang="en-US" altLang="zh-CN" sz="2000" dirty="0">
                <a:sym typeface="Monotype Sorts" charset="2"/>
              </a:rPr>
              <a:t> </a:t>
            </a:r>
            <a:r>
              <a:rPr lang="en-US" altLang="zh-CN" sz="2000" i="1" dirty="0">
                <a:sym typeface="Monotype Sorts" charset="2"/>
              </a:rPr>
              <a:t>B </a:t>
            </a:r>
            <a:r>
              <a:rPr lang="en-US" altLang="zh-CN" sz="2000" dirty="0">
                <a:sym typeface="Monotype Sorts" charset="2"/>
              </a:rPr>
              <a:t>and the other dependencies</a:t>
            </a:r>
          </a:p>
          <a:p>
            <a:pPr lvl="2" defTabSz="914400">
              <a:tabLst>
                <a:tab pos="684530" algn="l"/>
                <a:tab pos="2917825" algn="l"/>
              </a:tabLst>
            </a:pPr>
            <a:r>
              <a:rPr lang="en-US" altLang="zh-CN" sz="2000" dirty="0">
                <a:sym typeface="Monotype Sorts" charset="2"/>
              </a:rPr>
              <a:t>Yes</a:t>
            </a:r>
            <a:r>
              <a:rPr lang="en-US" altLang="zh-CN" sz="2000" i="1" dirty="0">
                <a:sym typeface="Monotype Sorts" charset="2"/>
              </a:rPr>
              <a:t>: </a:t>
            </a:r>
            <a:r>
              <a:rPr lang="en-US" altLang="zh-CN" sz="2000" dirty="0">
                <a:sym typeface="Monotype Sorts" charset="2"/>
              </a:rPr>
              <a:t>using transitivity on </a:t>
            </a:r>
            <a:r>
              <a:rPr lang="en-US" altLang="zh-CN" sz="2000" i="1" dirty="0">
                <a:sym typeface="Monotype Sorts" charset="2"/>
              </a:rPr>
              <a:t>A </a:t>
            </a:r>
            <a:r>
              <a:rPr lang="en-US" altLang="zh-CN" sz="2000" dirty="0">
                <a:sym typeface="Symbol" panose="05050102010706020507" charset="2"/>
              </a:rPr>
              <a:t></a:t>
            </a:r>
            <a:r>
              <a:rPr lang="en-US" altLang="zh-CN" sz="2000" dirty="0">
                <a:sym typeface="Monotype Sorts" charset="2"/>
              </a:rPr>
              <a:t> </a:t>
            </a:r>
            <a:r>
              <a:rPr lang="en-US" altLang="zh-CN" sz="2000" i="1" dirty="0">
                <a:sym typeface="Monotype Sorts" charset="2"/>
              </a:rPr>
              <a:t>B  and B </a:t>
            </a:r>
            <a:r>
              <a:rPr lang="en-US" altLang="zh-CN" sz="2000" dirty="0">
                <a:sym typeface="Symbol" panose="05050102010706020507" charset="2"/>
              </a:rPr>
              <a:t></a:t>
            </a:r>
            <a:r>
              <a:rPr lang="en-US" altLang="zh-CN" sz="2000" dirty="0">
                <a:sym typeface="Monotype Sorts" charset="2"/>
              </a:rPr>
              <a:t> C. </a:t>
            </a:r>
          </a:p>
          <a:p>
            <a:pPr lvl="3" defTabSz="914400">
              <a:tabLst>
                <a:tab pos="684530" algn="l"/>
                <a:tab pos="2917825" algn="l"/>
              </a:tabLst>
            </a:pPr>
            <a:r>
              <a:rPr lang="en-US" altLang="zh-CN" sz="2000" dirty="0">
                <a:sym typeface="Monotype Sorts" charset="2"/>
              </a:rPr>
              <a:t>Can use attribute closure of </a:t>
            </a:r>
            <a:r>
              <a:rPr lang="en-US" altLang="zh-CN" sz="2000" i="1" dirty="0">
                <a:sym typeface="Monotype Sorts" charset="2"/>
              </a:rPr>
              <a:t>A</a:t>
            </a:r>
            <a:r>
              <a:rPr lang="en-US" altLang="zh-CN" sz="2000" dirty="0">
                <a:sym typeface="Monotype Sorts" charset="2"/>
              </a:rPr>
              <a:t> in more complex cases</a:t>
            </a:r>
          </a:p>
          <a:p>
            <a:pPr defTabSz="914400">
              <a:tabLst>
                <a:tab pos="684530" algn="l"/>
                <a:tab pos="2917825" algn="l"/>
              </a:tabLst>
            </a:pPr>
            <a:r>
              <a:rPr lang="en-US" altLang="zh-CN" sz="2000" dirty="0">
                <a:sym typeface="Monotype Sorts" charset="2"/>
              </a:rPr>
              <a:t>The canonical cover is: </a:t>
            </a:r>
            <a:r>
              <a:rPr lang="zh-CN" altLang="en-US" sz="2000" b="1" dirty="0">
                <a:solidFill>
                  <a:srgbClr val="C00000"/>
                </a:solidFill>
                <a:effectLst>
                  <a:outerShdw blurRad="38100" dist="38100" dir="2700000" algn="tl">
                    <a:srgbClr val="000000">
                      <a:alpha val="43137"/>
                    </a:srgbClr>
                  </a:outerShdw>
                </a:effectLst>
                <a:sym typeface="Monotype Sorts" charset="2"/>
              </a:rPr>
              <a:t>｛</a:t>
            </a:r>
            <a:r>
              <a:rPr lang="en-US" altLang="zh-CN" sz="2000" b="1" i="1" dirty="0">
                <a:solidFill>
                  <a:srgbClr val="C00000"/>
                </a:solidFill>
                <a:effectLst>
                  <a:outerShdw blurRad="38100" dist="38100" dir="2700000" algn="tl">
                    <a:srgbClr val="000000">
                      <a:alpha val="43137"/>
                    </a:srgbClr>
                  </a:outerShdw>
                </a:effectLst>
                <a:sym typeface="Monotype Sorts" charset="2"/>
              </a:rPr>
              <a:t>A </a:t>
            </a:r>
            <a:r>
              <a:rPr lang="en-US" altLang="zh-CN" sz="2000" b="1" dirty="0">
                <a:solidFill>
                  <a:srgbClr val="C00000"/>
                </a:solidFill>
                <a:effectLst>
                  <a:outerShdw blurRad="38100" dist="38100" dir="2700000" algn="tl">
                    <a:srgbClr val="000000">
                      <a:alpha val="43137"/>
                    </a:srgbClr>
                  </a:outerShdw>
                </a:effectLst>
                <a:sym typeface="Symbol" panose="05050102010706020507" charset="2"/>
              </a:rPr>
              <a:t></a:t>
            </a:r>
            <a:r>
              <a:rPr lang="en-US" altLang="zh-CN" sz="2000" b="1" dirty="0">
                <a:solidFill>
                  <a:srgbClr val="C00000"/>
                </a:solidFill>
                <a:effectLst>
                  <a:outerShdw blurRad="38100" dist="38100" dir="2700000" algn="tl">
                    <a:srgbClr val="000000">
                      <a:alpha val="43137"/>
                    </a:srgbClr>
                  </a:outerShdw>
                </a:effectLst>
                <a:sym typeface="Monotype Sorts" charset="2"/>
              </a:rPr>
              <a:t> </a:t>
            </a:r>
            <a:r>
              <a:rPr lang="en-US" altLang="zh-CN" sz="2000" b="1" i="1" dirty="0">
                <a:solidFill>
                  <a:srgbClr val="C00000"/>
                </a:solidFill>
                <a:effectLst>
                  <a:outerShdw blurRad="38100" dist="38100" dir="2700000" algn="tl">
                    <a:srgbClr val="000000">
                      <a:alpha val="43137"/>
                    </a:srgbClr>
                  </a:outerShdw>
                </a:effectLst>
                <a:sym typeface="Monotype Sorts" charset="2"/>
              </a:rPr>
              <a:t>B</a:t>
            </a:r>
            <a:r>
              <a:rPr lang="zh-CN" altLang="en-US" sz="2000" b="1" i="1" dirty="0">
                <a:solidFill>
                  <a:srgbClr val="C00000"/>
                </a:solidFill>
                <a:effectLst>
                  <a:outerShdw blurRad="38100" dist="38100" dir="2700000" algn="tl">
                    <a:srgbClr val="000000">
                      <a:alpha val="43137"/>
                    </a:srgbClr>
                  </a:outerShdw>
                </a:effectLst>
                <a:sym typeface="Monotype Sorts" charset="2"/>
              </a:rPr>
              <a:t>，</a:t>
            </a:r>
            <a:r>
              <a:rPr lang="en-US" altLang="zh-CN" sz="2000" b="1" i="1" dirty="0">
                <a:solidFill>
                  <a:srgbClr val="C00000"/>
                </a:solidFill>
                <a:effectLst>
                  <a:outerShdw blurRad="38100" dist="38100" dir="2700000" algn="tl">
                    <a:srgbClr val="000000">
                      <a:alpha val="43137"/>
                    </a:srgbClr>
                  </a:outerShdw>
                </a:effectLst>
                <a:sym typeface="Monotype Sorts" charset="2"/>
              </a:rPr>
              <a:t>B </a:t>
            </a:r>
            <a:r>
              <a:rPr lang="en-US" altLang="zh-CN" sz="2000" b="1" dirty="0">
                <a:solidFill>
                  <a:srgbClr val="C00000"/>
                </a:solidFill>
                <a:effectLst>
                  <a:outerShdw blurRad="38100" dist="38100" dir="2700000" algn="tl">
                    <a:srgbClr val="000000">
                      <a:alpha val="43137"/>
                    </a:srgbClr>
                  </a:outerShdw>
                </a:effectLst>
                <a:sym typeface="Symbol" panose="05050102010706020507" charset="2"/>
              </a:rPr>
              <a:t></a:t>
            </a:r>
            <a:r>
              <a:rPr lang="en-US" altLang="zh-CN" sz="2000" b="1" dirty="0">
                <a:solidFill>
                  <a:srgbClr val="C00000"/>
                </a:solidFill>
                <a:effectLst>
                  <a:outerShdw blurRad="38100" dist="38100" dir="2700000" algn="tl">
                    <a:srgbClr val="000000">
                      <a:alpha val="43137"/>
                    </a:srgbClr>
                  </a:outerShdw>
                </a:effectLst>
                <a:sym typeface="Monotype Sorts" charset="2"/>
              </a:rPr>
              <a:t> </a:t>
            </a:r>
            <a:r>
              <a:rPr lang="en-US" altLang="zh-CN" sz="2000" b="1" i="1" dirty="0">
                <a:solidFill>
                  <a:srgbClr val="C00000"/>
                </a:solidFill>
                <a:effectLst>
                  <a:outerShdw blurRad="38100" dist="38100" dir="2700000" algn="tl">
                    <a:srgbClr val="000000">
                      <a:alpha val="43137"/>
                    </a:srgbClr>
                  </a:outerShdw>
                </a:effectLst>
                <a:sym typeface="Monotype Sorts" charset="2"/>
              </a:rPr>
              <a:t>C </a:t>
            </a:r>
            <a:r>
              <a:rPr lang="zh-CN" altLang="en-US" sz="2000" b="1" dirty="0">
                <a:solidFill>
                  <a:srgbClr val="C00000"/>
                </a:solidFill>
                <a:effectLst>
                  <a:outerShdw blurRad="38100" dist="38100" dir="2700000" algn="tl">
                    <a:srgbClr val="000000">
                      <a:alpha val="43137"/>
                    </a:srgbClr>
                  </a:outerShdw>
                </a:effectLst>
                <a:sym typeface="Monotype Sorts" charset="2"/>
              </a:rPr>
              <a:t>｝</a:t>
            </a:r>
            <a:endParaRPr lang="zh-CN" altLang="en-US" sz="2000" b="1" i="1" dirty="0">
              <a:solidFill>
                <a:srgbClr val="C00000"/>
              </a:solidFill>
              <a:effectLst>
                <a:outerShdw blurRad="38100" dist="38100" dir="2700000" algn="tl">
                  <a:srgbClr val="000000">
                    <a:alpha val="43137"/>
                  </a:srgbClr>
                </a:outerShdw>
              </a:effectLst>
              <a:sym typeface="Monotype Sorts" charset="2"/>
            </a:endParaRPr>
          </a:p>
        </p:txBody>
      </p:sp>
      <p:sp>
        <p:nvSpPr>
          <p:cNvPr id="2" name="文本框 1"/>
          <p:cNvSpPr txBox="1"/>
          <p:nvPr/>
        </p:nvSpPr>
        <p:spPr>
          <a:xfrm>
            <a:off x="3812540" y="4091940"/>
            <a:ext cx="3969385" cy="337185"/>
          </a:xfrm>
          <a:prstGeom prst="rect">
            <a:avLst/>
          </a:prstGeom>
          <a:noFill/>
        </p:spPr>
        <p:txBody>
          <a:bodyPr wrap="square" rtlCol="0">
            <a:spAutoFit/>
          </a:bodyPr>
          <a:lstStyle/>
          <a:p>
            <a:pPr algn="ctr"/>
            <a:r>
              <a:rPr lang="en-US" altLang="zh-CN" b="1" dirty="0">
                <a:solidFill>
                  <a:srgbClr val="C00000"/>
                </a:solidFill>
                <a:sym typeface="Monotype Sorts" charset="2"/>
              </a:rPr>
              <a:t>B is extraneous in A </a:t>
            </a:r>
            <a:r>
              <a:rPr lang="en-US" altLang="zh-CN" b="1" dirty="0">
                <a:solidFill>
                  <a:srgbClr val="C00000"/>
                </a:solidFill>
                <a:sym typeface="Symbol" panose="05050102010706020507" charset="2"/>
              </a:rPr>
              <a:t></a:t>
            </a:r>
            <a:r>
              <a:rPr lang="en-US" altLang="zh-CN" b="1" dirty="0">
                <a:solidFill>
                  <a:srgbClr val="C00000"/>
                </a:solidFill>
                <a:sym typeface="Monotype Sorts" charset="2"/>
              </a:rPr>
              <a:t> BC </a:t>
            </a:r>
            <a:r>
              <a:rPr lang="zh-CN" altLang="en-US" b="1" dirty="0">
                <a:solidFill>
                  <a:srgbClr val="C00000"/>
                </a:solidFill>
                <a:sym typeface="Monotype Sorts" charset="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3970"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Lossless-join Decomposition</a:t>
            </a:r>
          </a:p>
        </p:txBody>
      </p:sp>
      <p:sp>
        <p:nvSpPr>
          <p:cNvPr id="96258" name="Rectangle 3"/>
          <p:cNvSpPr>
            <a:spLocks noGrp="1"/>
          </p:cNvSpPr>
          <p:nvPr>
            <p:ph idx="1"/>
          </p:nvPr>
        </p:nvSpPr>
        <p:spPr>
          <a:xfrm>
            <a:off x="196850" y="1094105"/>
            <a:ext cx="8722360" cy="4956175"/>
          </a:xfrm>
        </p:spPr>
        <p:txBody>
          <a:bodyPr wrap="square" lIns="91440" tIns="45720" rIns="91440" bIns="45720" anchor="t"/>
          <a:lstStyle/>
          <a:p>
            <a:pPr defTabSz="914400">
              <a:tabLst>
                <a:tab pos="2292350" algn="l"/>
                <a:tab pos="2976880" algn="l"/>
              </a:tabLst>
            </a:pPr>
            <a:r>
              <a:rPr lang="en-US" altLang="zh-CN" sz="2400" dirty="0"/>
              <a:t>For the case of</a:t>
            </a:r>
            <a:r>
              <a:rPr lang="en-US" altLang="zh-CN" sz="2400" i="1" dirty="0"/>
              <a:t> R</a:t>
            </a:r>
            <a:r>
              <a:rPr lang="en-US" altLang="zh-CN" sz="2400" dirty="0"/>
              <a:t> = (</a:t>
            </a:r>
            <a:r>
              <a:rPr lang="en-US" altLang="zh-CN" sz="2400" i="1" dirty="0"/>
              <a:t>R</a:t>
            </a:r>
            <a:r>
              <a:rPr lang="en-US" altLang="zh-CN" sz="2400" baseline="-25000" dirty="0"/>
              <a:t>1</a:t>
            </a:r>
            <a:r>
              <a:rPr lang="en-US" altLang="zh-CN" sz="2400" i="1" dirty="0"/>
              <a:t>, R</a:t>
            </a:r>
            <a:r>
              <a:rPr lang="en-US" altLang="zh-CN" sz="2400" baseline="-25000" dirty="0"/>
              <a:t>2</a:t>
            </a:r>
            <a:r>
              <a:rPr lang="en-US" altLang="zh-CN" sz="2400" dirty="0"/>
              <a:t>)</a:t>
            </a:r>
            <a:r>
              <a:rPr lang="en-US" altLang="zh-CN" sz="2400" i="1" dirty="0"/>
              <a:t>,</a:t>
            </a:r>
            <a:r>
              <a:rPr lang="en-US" altLang="zh-CN" sz="2400" dirty="0"/>
              <a:t> we require that for all possible relations </a:t>
            </a:r>
            <a:r>
              <a:rPr lang="en-US" altLang="zh-CN" sz="2400" i="1" dirty="0"/>
              <a:t>r</a:t>
            </a:r>
            <a:r>
              <a:rPr lang="en-US" altLang="zh-CN" sz="2400" dirty="0"/>
              <a:t> on schema </a:t>
            </a:r>
            <a:r>
              <a:rPr lang="en-US" altLang="zh-CN" sz="2400" i="1" dirty="0"/>
              <a:t>R</a:t>
            </a:r>
          </a:p>
          <a:p>
            <a:pPr defTabSz="914400">
              <a:buNone/>
              <a:tabLst>
                <a:tab pos="2292350" algn="l"/>
                <a:tab pos="2976880" algn="l"/>
              </a:tabLst>
            </a:pPr>
            <a:r>
              <a:rPr lang="en-US" altLang="zh-CN" sz="2400" baseline="-25000" dirty="0"/>
              <a:t>		</a:t>
            </a:r>
            <a:r>
              <a:rPr lang="en-US" altLang="zh-CN" sz="2400" i="1" dirty="0"/>
              <a:t>r = </a:t>
            </a:r>
            <a:r>
              <a:rPr lang="en-US" altLang="zh-CN" sz="2400" dirty="0">
                <a:sym typeface="Symbol" panose="05050102010706020507" charset="2"/>
              </a:rPr>
              <a:t></a:t>
            </a:r>
            <a:r>
              <a:rPr lang="en-US" altLang="zh-CN" sz="2400" i="1" baseline="-25000" dirty="0">
                <a:sym typeface="Symbol" panose="05050102010706020507" charset="2"/>
              </a:rPr>
              <a:t>R1</a:t>
            </a:r>
            <a:r>
              <a:rPr lang="en-US" altLang="zh-CN" sz="2400" baseline="-25000" dirty="0">
                <a:sym typeface="Symbol" panose="05050102010706020507" charset="2"/>
              </a:rPr>
              <a:t> </a:t>
            </a:r>
            <a:r>
              <a:rPr lang="en-US" altLang="zh-CN" sz="2400" dirty="0">
                <a:sym typeface="Symbol" panose="05050102010706020507" charset="2"/>
              </a:rPr>
              <a:t>(</a:t>
            </a:r>
            <a:r>
              <a:rPr lang="en-US" altLang="zh-CN" sz="2400" i="1" dirty="0">
                <a:sym typeface="Symbol" panose="05050102010706020507" charset="2"/>
              </a:rPr>
              <a:t>r </a:t>
            </a:r>
            <a:r>
              <a:rPr lang="en-US" altLang="zh-CN" sz="2400" dirty="0">
                <a:sym typeface="Symbol" panose="05050102010706020507" charset="2"/>
              </a:rPr>
              <a:t>)    </a:t>
            </a:r>
            <a:r>
              <a:rPr lang="en-US" altLang="zh-CN" sz="2400" i="1" baseline="-25000" dirty="0">
                <a:sym typeface="Symbol" panose="05050102010706020507" charset="2"/>
              </a:rPr>
              <a:t>R2</a:t>
            </a:r>
            <a:r>
              <a:rPr lang="en-US" altLang="zh-CN" sz="2400" baseline="-25000" dirty="0">
                <a:sym typeface="Symbol" panose="05050102010706020507" charset="2"/>
              </a:rPr>
              <a:t> </a:t>
            </a:r>
            <a:r>
              <a:rPr lang="en-US" altLang="zh-CN" sz="2400" dirty="0">
                <a:sym typeface="Symbol" panose="05050102010706020507" charset="2"/>
              </a:rPr>
              <a:t>(</a:t>
            </a:r>
            <a:r>
              <a:rPr lang="en-US" altLang="zh-CN" sz="2400" i="1" dirty="0">
                <a:sym typeface="Symbol" panose="05050102010706020507" charset="2"/>
              </a:rPr>
              <a:t>r </a:t>
            </a:r>
            <a:r>
              <a:rPr lang="en-US" altLang="zh-CN" sz="2400" dirty="0">
                <a:sym typeface="Symbol" panose="05050102010706020507" charset="2"/>
              </a:rPr>
              <a:t>) </a:t>
            </a:r>
          </a:p>
          <a:p>
            <a:pPr defTabSz="914400">
              <a:tabLst>
                <a:tab pos="2292350" algn="l"/>
                <a:tab pos="2976880" algn="l"/>
              </a:tabLst>
            </a:pPr>
            <a:r>
              <a:rPr lang="en-US" altLang="zh-CN" sz="2400" dirty="0"/>
              <a:t>A decomposition of </a:t>
            </a:r>
            <a:r>
              <a:rPr lang="en-US" altLang="zh-CN" sz="2400" i="1" dirty="0"/>
              <a:t>R</a:t>
            </a:r>
            <a:r>
              <a:rPr lang="en-US" altLang="zh-CN" sz="2400" dirty="0"/>
              <a:t> into </a:t>
            </a:r>
            <a:r>
              <a:rPr lang="en-US" altLang="zh-CN" sz="2400" i="1" dirty="0"/>
              <a:t>R</a:t>
            </a:r>
            <a:r>
              <a:rPr lang="en-US" altLang="zh-CN" sz="2400" baseline="-25000" dirty="0"/>
              <a:t>1</a:t>
            </a:r>
            <a:r>
              <a:rPr lang="en-US" altLang="zh-CN" sz="2400" dirty="0"/>
              <a:t> and </a:t>
            </a:r>
            <a:r>
              <a:rPr lang="en-US" altLang="zh-CN" sz="2400" i="1" dirty="0"/>
              <a:t>R</a:t>
            </a:r>
            <a:r>
              <a:rPr lang="en-US" altLang="zh-CN" sz="2400" baseline="-25000" dirty="0"/>
              <a:t>2</a:t>
            </a:r>
            <a:r>
              <a:rPr lang="en-US" altLang="zh-CN" sz="2400" dirty="0"/>
              <a:t> </a:t>
            </a:r>
            <a:r>
              <a:rPr lang="en-US" altLang="zh-CN" sz="2400" dirty="0">
                <a:solidFill>
                  <a:srgbClr val="C00000"/>
                </a:solidFill>
              </a:rPr>
              <a:t>is lossless join </a:t>
            </a:r>
            <a:r>
              <a:rPr lang="en-US" altLang="zh-CN" sz="2400" dirty="0"/>
              <a:t>if at least one of the following dependencies is in </a:t>
            </a:r>
            <a:r>
              <a:rPr lang="en-US" altLang="zh-CN" sz="2400" i="1" dirty="0"/>
              <a:t>F</a:t>
            </a:r>
            <a:r>
              <a:rPr lang="en-US" altLang="zh-CN" sz="2400" baseline="30000" dirty="0"/>
              <a:t>+</a:t>
            </a:r>
            <a:r>
              <a:rPr lang="en-US" altLang="zh-CN" sz="2400" dirty="0"/>
              <a:t>:</a:t>
            </a:r>
          </a:p>
          <a:p>
            <a:pPr lvl="1" defTabSz="914400">
              <a:tabLst>
                <a:tab pos="2292350" algn="l"/>
                <a:tab pos="2976880" algn="l"/>
              </a:tabLst>
            </a:pPr>
            <a:r>
              <a:rPr lang="en-US" altLang="zh-CN" sz="2400" i="1" dirty="0"/>
              <a:t>R</a:t>
            </a:r>
            <a:r>
              <a:rPr lang="en-US" altLang="zh-CN" sz="2400" baseline="-25000" dirty="0"/>
              <a:t>1</a:t>
            </a:r>
            <a:r>
              <a:rPr lang="en-US" altLang="zh-CN" sz="2400" dirty="0"/>
              <a:t> </a:t>
            </a:r>
            <a:r>
              <a:rPr lang="en-US" altLang="zh-CN" sz="2400" dirty="0">
                <a:sym typeface="Symbol" panose="05050102010706020507" charset="2"/>
              </a:rPr>
              <a:t> </a:t>
            </a:r>
            <a:r>
              <a:rPr lang="en-US" altLang="zh-CN" sz="2400" i="1" dirty="0"/>
              <a:t>R</a:t>
            </a:r>
            <a:r>
              <a:rPr lang="en-US" altLang="zh-CN" sz="2400" baseline="-25000" dirty="0"/>
              <a:t>2</a:t>
            </a:r>
            <a:r>
              <a:rPr lang="en-US" altLang="zh-CN" sz="2400" dirty="0"/>
              <a:t> </a:t>
            </a:r>
            <a:r>
              <a:rPr lang="en-US" altLang="zh-CN" sz="2400" dirty="0">
                <a:sym typeface="Symbol" panose="05050102010706020507" charset="2"/>
              </a:rPr>
              <a:t></a:t>
            </a:r>
            <a:r>
              <a:rPr lang="en-US" altLang="zh-CN" sz="2400" dirty="0">
                <a:sym typeface="Monotype Sorts" charset="2"/>
              </a:rPr>
              <a:t> </a:t>
            </a:r>
            <a:r>
              <a:rPr lang="en-US" altLang="zh-CN" sz="2400" i="1" dirty="0"/>
              <a:t>R</a:t>
            </a:r>
            <a:r>
              <a:rPr lang="en-US" altLang="zh-CN" sz="2400" baseline="-25000" dirty="0"/>
              <a:t>1</a:t>
            </a:r>
          </a:p>
          <a:p>
            <a:pPr lvl="1" defTabSz="914400">
              <a:tabLst>
                <a:tab pos="2292350" algn="l"/>
                <a:tab pos="2976880" algn="l"/>
              </a:tabLst>
            </a:pPr>
            <a:r>
              <a:rPr lang="en-US" altLang="zh-CN" sz="2400" i="1" dirty="0"/>
              <a:t>R</a:t>
            </a:r>
            <a:r>
              <a:rPr lang="en-US" altLang="zh-CN" sz="2400" baseline="-25000" dirty="0"/>
              <a:t>1</a:t>
            </a:r>
            <a:r>
              <a:rPr lang="en-US" altLang="zh-CN" sz="2400" dirty="0"/>
              <a:t> </a:t>
            </a:r>
            <a:r>
              <a:rPr lang="en-US" altLang="zh-CN" sz="2400" dirty="0">
                <a:sym typeface="Symbol" panose="05050102010706020507" charset="2"/>
              </a:rPr>
              <a:t> </a:t>
            </a:r>
            <a:r>
              <a:rPr lang="en-US" altLang="zh-CN" sz="2400" i="1" dirty="0"/>
              <a:t>R</a:t>
            </a:r>
            <a:r>
              <a:rPr lang="en-US" altLang="zh-CN" sz="2400" baseline="-25000" dirty="0"/>
              <a:t>2</a:t>
            </a:r>
            <a:r>
              <a:rPr lang="en-US" altLang="zh-CN" sz="2400" dirty="0"/>
              <a:t> </a:t>
            </a:r>
            <a:r>
              <a:rPr lang="en-US" altLang="zh-CN" sz="2400" dirty="0">
                <a:sym typeface="Symbol" panose="05050102010706020507" charset="2"/>
              </a:rPr>
              <a:t></a:t>
            </a:r>
            <a:r>
              <a:rPr lang="en-US" altLang="zh-CN" sz="2400" dirty="0">
                <a:sym typeface="Monotype Sorts" charset="2"/>
              </a:rPr>
              <a:t> </a:t>
            </a:r>
            <a:r>
              <a:rPr lang="en-US" altLang="zh-CN" sz="2400" i="1" dirty="0"/>
              <a:t>R</a:t>
            </a:r>
            <a:r>
              <a:rPr lang="en-US" altLang="zh-CN" sz="2400" baseline="-25000" dirty="0"/>
              <a:t>2</a:t>
            </a:r>
            <a:endParaRPr lang="en-US" altLang="zh-CN" sz="2400" dirty="0"/>
          </a:p>
          <a:p>
            <a:pPr defTabSz="914400">
              <a:tabLst>
                <a:tab pos="2292350" algn="l"/>
                <a:tab pos="2976880" algn="l"/>
              </a:tabLst>
            </a:pPr>
            <a:r>
              <a:rPr lang="en-US" altLang="zh-CN" sz="2400" dirty="0">
                <a:sym typeface="Symbol" panose="05050102010706020507" charset="2"/>
              </a:rPr>
              <a:t>The above functional dependencies are a sufficient condition for lossless join decomposition; </a:t>
            </a:r>
          </a:p>
          <a:p>
            <a:pPr lvl="1" defTabSz="914400">
              <a:tabLst>
                <a:tab pos="2292350" algn="l"/>
                <a:tab pos="2976880" algn="l"/>
              </a:tabLst>
            </a:pPr>
            <a:r>
              <a:rPr lang="en-US" altLang="zh-CN" sz="2400" dirty="0">
                <a:sym typeface="Symbol" panose="05050102010706020507" charset="2"/>
              </a:rPr>
              <a:t>the dependencies are a necessary condition only if all constraints are functional dependencies</a:t>
            </a:r>
          </a:p>
        </p:txBody>
      </p:sp>
      <p:sp>
        <p:nvSpPr>
          <p:cNvPr id="96259" name="Freeform 4"/>
          <p:cNvSpPr/>
          <p:nvPr/>
        </p:nvSpPr>
        <p:spPr>
          <a:xfrm>
            <a:off x="4100195" y="2140585"/>
            <a:ext cx="142875" cy="142875"/>
          </a:xfrm>
          <a:custGeom>
            <a:avLst/>
            <a:gdLst/>
            <a:ahLst/>
            <a:cxnLst>
              <a:cxn ang="0">
                <a:pos x="0" y="0"/>
              </a:cxn>
              <a:cxn ang="0">
                <a:pos x="0" y="142875"/>
              </a:cxn>
              <a:cxn ang="0">
                <a:pos x="142875" y="0"/>
              </a:cxn>
              <a:cxn ang="0">
                <a:pos x="142875" y="142875"/>
              </a:cxn>
              <a:cxn ang="0">
                <a:pos x="0" y="0"/>
              </a:cxn>
            </a:cxnLst>
            <a:rect l="0" t="0" r="0" b="0"/>
            <a:pathLst>
              <a:path w="182" h="182">
                <a:moveTo>
                  <a:pt x="0" y="0"/>
                </a:moveTo>
                <a:lnTo>
                  <a:pt x="0" y="182"/>
                </a:lnTo>
                <a:lnTo>
                  <a:pt x="182" y="0"/>
                </a:lnTo>
                <a:lnTo>
                  <a:pt x="182" y="182"/>
                </a:lnTo>
                <a:lnTo>
                  <a:pt x="0" y="0"/>
                </a:lnTo>
                <a:close/>
              </a:path>
            </a:pathLst>
          </a:custGeom>
          <a:noFill/>
          <a:ln w="12700" cap="flat" cmpd="sng">
            <a:solidFill>
              <a:srgbClr val="000000"/>
            </a:solidFill>
            <a:prstDash val="solid"/>
            <a:round/>
            <a:headEnd type="none" w="med" len="med"/>
            <a:tailEnd type="none" w="med" len="med"/>
          </a:ln>
        </p:spPr>
        <p:txBody>
          <a:bodyPr/>
          <a:lstStyle/>
          <a:p>
            <a:endParaRPr lang="zh-CN"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6018"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Example</a:t>
            </a:r>
          </a:p>
        </p:txBody>
      </p:sp>
      <p:sp>
        <p:nvSpPr>
          <p:cNvPr id="726019" name="Rectangle 3"/>
          <p:cNvSpPr>
            <a:spLocks noGrp="1"/>
          </p:cNvSpPr>
          <p:nvPr>
            <p:ph idx="1"/>
          </p:nvPr>
        </p:nvSpPr>
        <p:spPr>
          <a:xfrm>
            <a:off x="40640" y="1094105"/>
            <a:ext cx="9001125" cy="5363210"/>
          </a:xfrm>
        </p:spPr>
        <p:txBody>
          <a:bodyPr wrap="square" lIns="91440" tIns="45720" rIns="91440" bIns="45720" anchor="t"/>
          <a:lstStyle/>
          <a:p>
            <a:pPr defTabSz="914400">
              <a:tabLst>
                <a:tab pos="2054225" algn="l"/>
              </a:tabLst>
            </a:pPr>
            <a:r>
              <a:rPr lang="en-US" altLang="zh-CN" sz="2400" i="1" dirty="0"/>
              <a:t>R = (A, B, C)</a:t>
            </a:r>
            <a:r>
              <a:rPr lang="zh-CN" altLang="en-US" sz="2400" i="1" dirty="0"/>
              <a:t>，</a:t>
            </a:r>
            <a:r>
              <a:rPr lang="en-US" altLang="zh-CN" sz="2400" i="1" dirty="0"/>
              <a:t>F = {A </a:t>
            </a:r>
            <a:r>
              <a:rPr lang="en-US" altLang="zh-CN" sz="2400" dirty="0">
                <a:sym typeface="Symbol" panose="05050102010706020507" charset="2"/>
              </a:rPr>
              <a:t></a:t>
            </a:r>
            <a:r>
              <a:rPr lang="en-US" altLang="zh-CN" sz="2400" dirty="0">
                <a:sym typeface="Monotype Sorts" charset="2"/>
              </a:rPr>
              <a:t> </a:t>
            </a:r>
            <a:r>
              <a:rPr lang="en-US" altLang="zh-CN" sz="2400" i="1" dirty="0">
                <a:sym typeface="Monotype Sorts" charset="2"/>
              </a:rPr>
              <a:t>B, B </a:t>
            </a:r>
            <a:r>
              <a:rPr lang="en-US" altLang="zh-CN" sz="2400" dirty="0">
                <a:sym typeface="Symbol" panose="05050102010706020507" charset="2"/>
              </a:rPr>
              <a:t></a:t>
            </a:r>
            <a:r>
              <a:rPr lang="en-US" altLang="zh-CN" sz="2400" dirty="0">
                <a:sym typeface="Monotype Sorts" charset="2"/>
              </a:rPr>
              <a:t> </a:t>
            </a:r>
            <a:r>
              <a:rPr lang="en-US" altLang="zh-CN" sz="2400" i="1" dirty="0">
                <a:sym typeface="Monotype Sorts" charset="2"/>
              </a:rPr>
              <a:t>C)</a:t>
            </a:r>
          </a:p>
          <a:p>
            <a:pPr lvl="1" defTabSz="914400">
              <a:tabLst>
                <a:tab pos="2054225" algn="l"/>
              </a:tabLst>
            </a:pPr>
            <a:r>
              <a:rPr lang="en-US" altLang="zh-CN" sz="2400" dirty="0">
                <a:sym typeface="Monotype Sorts" charset="2"/>
              </a:rPr>
              <a:t>Can be decomposed in two different ways</a:t>
            </a:r>
          </a:p>
          <a:p>
            <a:pPr defTabSz="914400">
              <a:tabLst>
                <a:tab pos="2054225" algn="l"/>
              </a:tabLst>
            </a:pPr>
            <a:r>
              <a:rPr lang="en-US" altLang="zh-CN" sz="2400" i="1" dirty="0">
                <a:sym typeface="Monotype Sorts" charset="2"/>
              </a:rPr>
              <a:t>R</a:t>
            </a:r>
            <a:r>
              <a:rPr lang="en-US" altLang="zh-CN" sz="2400" baseline="-25000" dirty="0">
                <a:sym typeface="Monotype Sorts" charset="2"/>
              </a:rPr>
              <a:t>1</a:t>
            </a:r>
            <a:r>
              <a:rPr lang="en-US" altLang="zh-CN" sz="2400" i="1" dirty="0">
                <a:sym typeface="Monotype Sorts" charset="2"/>
              </a:rPr>
              <a:t> = (A, B),   R</a:t>
            </a:r>
            <a:r>
              <a:rPr lang="en-US" altLang="zh-CN" sz="2400" baseline="-25000" dirty="0">
                <a:sym typeface="Monotype Sorts" charset="2"/>
              </a:rPr>
              <a:t>2</a:t>
            </a:r>
            <a:r>
              <a:rPr lang="en-US" altLang="zh-CN" sz="2400" i="1" dirty="0">
                <a:sym typeface="Monotype Sorts" charset="2"/>
              </a:rPr>
              <a:t> = (B, C)</a:t>
            </a:r>
          </a:p>
          <a:p>
            <a:pPr lvl="1" defTabSz="914400">
              <a:tabLst>
                <a:tab pos="2054225" algn="l"/>
              </a:tabLst>
            </a:pPr>
            <a:r>
              <a:rPr lang="en-US" altLang="zh-CN" sz="2400" dirty="0">
                <a:sym typeface="Monotype Sorts" charset="2"/>
              </a:rPr>
              <a:t>Lossless-join decomposition:</a:t>
            </a:r>
          </a:p>
          <a:p>
            <a:pPr lvl="1" defTabSz="914400">
              <a:buNone/>
              <a:tabLst>
                <a:tab pos="2054225" algn="l"/>
              </a:tabLst>
            </a:pPr>
            <a:r>
              <a:rPr lang="en-US" altLang="zh-CN" sz="2400" dirty="0">
                <a:sym typeface="Monotype Sorts" charset="2"/>
              </a:rPr>
              <a:t>		 </a:t>
            </a:r>
            <a:r>
              <a:rPr lang="en-US" altLang="zh-CN" sz="2400" i="1" dirty="0">
                <a:sym typeface="Monotype Sorts" charset="2"/>
              </a:rPr>
              <a:t>R</a:t>
            </a:r>
            <a:r>
              <a:rPr lang="en-US" altLang="zh-CN" sz="2400" baseline="-25000" dirty="0">
                <a:sym typeface="Monotype Sorts" charset="2"/>
              </a:rPr>
              <a:t>1  </a:t>
            </a:r>
            <a:r>
              <a:rPr lang="en-US" altLang="zh-CN" sz="2400" dirty="0">
                <a:sym typeface="Symbol" panose="05050102010706020507" charset="2"/>
              </a:rPr>
              <a:t> </a:t>
            </a:r>
            <a:r>
              <a:rPr lang="en-US" altLang="zh-CN" sz="2400" i="1" dirty="0">
                <a:sym typeface="Monotype Sorts" charset="2"/>
              </a:rPr>
              <a:t>R</a:t>
            </a:r>
            <a:r>
              <a:rPr lang="en-US" altLang="zh-CN" sz="2400" baseline="-25000" dirty="0">
                <a:sym typeface="Monotype Sorts" charset="2"/>
              </a:rPr>
              <a:t>2</a:t>
            </a:r>
            <a:r>
              <a:rPr lang="en-US" altLang="zh-CN" sz="2400" i="1" dirty="0">
                <a:sym typeface="Monotype Sorts" charset="2"/>
              </a:rPr>
              <a:t> = </a:t>
            </a:r>
            <a:r>
              <a:rPr lang="en-US" altLang="zh-CN" sz="2400" dirty="0">
                <a:sym typeface="Monotype Sorts" charset="2"/>
              </a:rPr>
              <a:t>{</a:t>
            </a:r>
            <a:r>
              <a:rPr lang="en-US" altLang="zh-CN" sz="2400" i="1" dirty="0">
                <a:sym typeface="Monotype Sorts" charset="2"/>
              </a:rPr>
              <a:t>B</a:t>
            </a:r>
            <a:r>
              <a:rPr lang="en-US" altLang="zh-CN" sz="2400" dirty="0">
                <a:sym typeface="Monotype Sorts" charset="2"/>
              </a:rPr>
              <a:t>}</a:t>
            </a:r>
            <a:r>
              <a:rPr lang="en-US" altLang="zh-CN" sz="2400" i="1" dirty="0">
                <a:sym typeface="Monotype Sorts" charset="2"/>
              </a:rPr>
              <a:t> </a:t>
            </a:r>
            <a:r>
              <a:rPr lang="en-US" altLang="zh-CN" sz="2400" dirty="0">
                <a:sym typeface="Monotype Sorts" charset="2"/>
              </a:rPr>
              <a:t>and </a:t>
            </a:r>
            <a:r>
              <a:rPr lang="en-US" altLang="zh-CN" sz="2400" i="1" dirty="0">
                <a:sym typeface="Monotype Sorts" charset="2"/>
              </a:rPr>
              <a:t>B </a:t>
            </a:r>
            <a:r>
              <a:rPr lang="en-US" altLang="zh-CN" sz="2400" dirty="0">
                <a:sym typeface="Symbol" panose="05050102010706020507" charset="2"/>
              </a:rPr>
              <a:t></a:t>
            </a:r>
            <a:r>
              <a:rPr lang="en-US" altLang="zh-CN" sz="2400" dirty="0">
                <a:sym typeface="Monotype Sorts" charset="2"/>
              </a:rPr>
              <a:t> </a:t>
            </a:r>
            <a:r>
              <a:rPr lang="en-US" altLang="zh-CN" sz="2400" i="1" dirty="0">
                <a:sym typeface="Monotype Sorts" charset="2"/>
              </a:rPr>
              <a:t>BC</a:t>
            </a:r>
          </a:p>
          <a:p>
            <a:pPr lvl="1" defTabSz="914400">
              <a:tabLst>
                <a:tab pos="2054225" algn="l"/>
              </a:tabLst>
            </a:pPr>
            <a:r>
              <a:rPr lang="en-US" altLang="zh-CN" sz="2400" dirty="0">
                <a:sym typeface="Monotype Sorts" charset="2"/>
              </a:rPr>
              <a:t>Dependency preserving</a:t>
            </a:r>
          </a:p>
          <a:p>
            <a:pPr defTabSz="914400">
              <a:tabLst>
                <a:tab pos="2054225" algn="l"/>
              </a:tabLst>
            </a:pPr>
            <a:r>
              <a:rPr lang="en-US" altLang="zh-CN" sz="2400" i="1" dirty="0">
                <a:sym typeface="Monotype Sorts" charset="2"/>
              </a:rPr>
              <a:t>R</a:t>
            </a:r>
            <a:r>
              <a:rPr lang="en-US" altLang="zh-CN" sz="2400" i="1" baseline="-25000" dirty="0">
                <a:sym typeface="Monotype Sorts" charset="2"/>
              </a:rPr>
              <a:t>1 </a:t>
            </a:r>
            <a:r>
              <a:rPr lang="en-US" altLang="zh-CN" sz="2400" i="1" dirty="0">
                <a:sym typeface="Monotype Sorts" charset="2"/>
              </a:rPr>
              <a:t>= (A, B),   R</a:t>
            </a:r>
            <a:r>
              <a:rPr lang="en-US" altLang="zh-CN" sz="2400" baseline="-25000" dirty="0">
                <a:sym typeface="Monotype Sorts" charset="2"/>
              </a:rPr>
              <a:t>2</a:t>
            </a:r>
            <a:r>
              <a:rPr lang="en-US" altLang="zh-CN" sz="2400" i="1" dirty="0">
                <a:sym typeface="Monotype Sorts" charset="2"/>
              </a:rPr>
              <a:t> = (A, C)</a:t>
            </a:r>
          </a:p>
          <a:p>
            <a:pPr lvl="1" defTabSz="914400">
              <a:tabLst>
                <a:tab pos="2054225" algn="l"/>
              </a:tabLst>
            </a:pPr>
            <a:r>
              <a:rPr lang="en-US" altLang="zh-CN" sz="2400" dirty="0">
                <a:sym typeface="Monotype Sorts" charset="2"/>
              </a:rPr>
              <a:t>Lossless-join decomposition:</a:t>
            </a:r>
          </a:p>
          <a:p>
            <a:pPr lvl="1" defTabSz="914400">
              <a:buNone/>
              <a:tabLst>
                <a:tab pos="2054225" algn="l"/>
              </a:tabLst>
            </a:pPr>
            <a:r>
              <a:rPr lang="en-US" altLang="zh-CN" sz="2400" dirty="0">
                <a:sym typeface="Monotype Sorts" charset="2"/>
              </a:rPr>
              <a:t>		 </a:t>
            </a:r>
            <a:r>
              <a:rPr lang="en-US" altLang="zh-CN" sz="2400" i="1" dirty="0">
                <a:sym typeface="Monotype Sorts" charset="2"/>
              </a:rPr>
              <a:t>R</a:t>
            </a:r>
            <a:r>
              <a:rPr lang="en-US" altLang="zh-CN" sz="2400" baseline="-25000" dirty="0">
                <a:sym typeface="Monotype Sorts" charset="2"/>
              </a:rPr>
              <a:t>1  </a:t>
            </a:r>
            <a:r>
              <a:rPr lang="en-US" altLang="zh-CN" sz="2400" dirty="0">
                <a:sym typeface="Symbol" panose="05050102010706020507" charset="2"/>
              </a:rPr>
              <a:t> </a:t>
            </a:r>
            <a:r>
              <a:rPr lang="en-US" altLang="zh-CN" sz="2400" i="1" dirty="0">
                <a:sym typeface="Monotype Sorts" charset="2"/>
              </a:rPr>
              <a:t>R</a:t>
            </a:r>
            <a:r>
              <a:rPr lang="en-US" altLang="zh-CN" sz="2400" baseline="-25000" dirty="0">
                <a:sym typeface="Monotype Sorts" charset="2"/>
              </a:rPr>
              <a:t>2</a:t>
            </a:r>
            <a:r>
              <a:rPr lang="en-US" altLang="zh-CN" sz="2400" i="1" dirty="0">
                <a:sym typeface="Monotype Sorts" charset="2"/>
              </a:rPr>
              <a:t> =</a:t>
            </a:r>
            <a:r>
              <a:rPr lang="en-US" altLang="zh-CN" sz="2400" dirty="0">
                <a:sym typeface="Monotype Sorts" charset="2"/>
              </a:rPr>
              <a:t> {</a:t>
            </a:r>
            <a:r>
              <a:rPr lang="en-US" altLang="zh-CN" sz="2400" i="1" dirty="0">
                <a:sym typeface="Monotype Sorts" charset="2"/>
              </a:rPr>
              <a:t>A</a:t>
            </a:r>
            <a:r>
              <a:rPr lang="en-US" altLang="zh-CN" sz="2400" dirty="0">
                <a:sym typeface="Monotype Sorts" charset="2"/>
              </a:rPr>
              <a:t>}</a:t>
            </a:r>
            <a:r>
              <a:rPr lang="en-US" altLang="zh-CN" sz="2400" i="1" dirty="0">
                <a:sym typeface="Monotype Sorts" charset="2"/>
              </a:rPr>
              <a:t> </a:t>
            </a:r>
            <a:r>
              <a:rPr lang="en-US" altLang="zh-CN" sz="2400" dirty="0">
                <a:sym typeface="Monotype Sorts" charset="2"/>
              </a:rPr>
              <a:t>and </a:t>
            </a:r>
            <a:r>
              <a:rPr lang="en-US" altLang="zh-CN" sz="2400" i="1" dirty="0">
                <a:sym typeface="Monotype Sorts" charset="2"/>
              </a:rPr>
              <a:t>A </a:t>
            </a:r>
            <a:r>
              <a:rPr lang="en-US" altLang="zh-CN" sz="2400" dirty="0">
                <a:sym typeface="Symbol" panose="05050102010706020507" charset="2"/>
              </a:rPr>
              <a:t></a:t>
            </a:r>
            <a:r>
              <a:rPr lang="en-US" altLang="zh-CN" sz="2400" dirty="0">
                <a:sym typeface="Monotype Sorts" charset="2"/>
              </a:rPr>
              <a:t> A</a:t>
            </a:r>
            <a:r>
              <a:rPr lang="en-US" altLang="zh-CN" sz="2400" i="1" dirty="0">
                <a:sym typeface="Monotype Sorts" charset="2"/>
              </a:rPr>
              <a:t>B</a:t>
            </a:r>
          </a:p>
          <a:p>
            <a:pPr lvl="1" defTabSz="914400">
              <a:tabLst>
                <a:tab pos="2054225" algn="l"/>
              </a:tabLst>
            </a:pPr>
            <a:r>
              <a:rPr lang="en-US" altLang="zh-CN" sz="2400" dirty="0">
                <a:solidFill>
                  <a:srgbClr val="C00000"/>
                </a:solidFill>
                <a:sym typeface="Monotype Sorts" charset="2"/>
              </a:rPr>
              <a:t>Not dependency preserving </a:t>
            </a:r>
            <a:br>
              <a:rPr lang="en-US" altLang="zh-CN" sz="2400" dirty="0">
                <a:sym typeface="Monotype Sorts" charset="2"/>
              </a:rPr>
            </a:br>
            <a:r>
              <a:rPr lang="en-US" altLang="zh-CN" sz="2400" dirty="0">
                <a:sym typeface="Monotype Sorts" charset="2"/>
              </a:rPr>
              <a:t>(cannot check </a:t>
            </a:r>
            <a:r>
              <a:rPr lang="en-US" altLang="zh-CN" sz="2400" i="1" dirty="0">
                <a:sym typeface="Monotype Sorts" charset="2"/>
              </a:rPr>
              <a:t>B </a:t>
            </a:r>
            <a:r>
              <a:rPr lang="en-US" altLang="zh-CN" sz="2400" dirty="0">
                <a:sym typeface="Symbol" panose="05050102010706020507" charset="2"/>
              </a:rPr>
              <a:t></a:t>
            </a:r>
            <a:r>
              <a:rPr lang="en-US" altLang="zh-CN" sz="2400" dirty="0">
                <a:sym typeface="Monotype Sorts" charset="2"/>
              </a:rPr>
              <a:t> </a:t>
            </a:r>
            <a:r>
              <a:rPr lang="en-US" altLang="zh-CN" sz="2400" i="1" dirty="0">
                <a:sym typeface="Monotype Sorts" charset="2"/>
              </a:rPr>
              <a:t>C </a:t>
            </a:r>
            <a:r>
              <a:rPr lang="en-US" altLang="zh-CN" sz="2400" dirty="0">
                <a:sym typeface="Monotype Sorts" charset="2"/>
              </a:rPr>
              <a:t>without computing </a:t>
            </a:r>
            <a:r>
              <a:rPr lang="en-US" altLang="zh-CN" sz="2400" i="1" dirty="0">
                <a:sym typeface="Monotype Sorts" charset="2"/>
              </a:rPr>
              <a:t>R</a:t>
            </a:r>
            <a:r>
              <a:rPr lang="en-US" altLang="zh-CN" sz="2400" i="1" baseline="-25000" dirty="0">
                <a:sym typeface="Monotype Sorts" charset="2"/>
              </a:rPr>
              <a:t>1 </a:t>
            </a:r>
            <a:r>
              <a:rPr lang="en-US" altLang="zh-CN" sz="2400" dirty="0">
                <a:sym typeface="Monotype Sorts" charset="2"/>
              </a:rPr>
              <a:t>    </a:t>
            </a:r>
            <a:r>
              <a:rPr lang="en-US" altLang="zh-CN" sz="2400" i="1" dirty="0">
                <a:sym typeface="Monotype Sorts" charset="2"/>
              </a:rPr>
              <a:t>R</a:t>
            </a:r>
            <a:r>
              <a:rPr lang="en-US" altLang="zh-CN" sz="2400" baseline="-25000" dirty="0">
                <a:sym typeface="Monotype Sorts" charset="2"/>
              </a:rPr>
              <a:t>2</a:t>
            </a:r>
            <a:r>
              <a:rPr lang="en-US" altLang="zh-CN" sz="2400" dirty="0">
                <a:sym typeface="Monotype Sorts" charset="2"/>
              </a:rPr>
              <a:t>)</a:t>
            </a:r>
          </a:p>
        </p:txBody>
      </p:sp>
      <p:pic>
        <p:nvPicPr>
          <p:cNvPr id="98307" name="Picture 4"/>
          <p:cNvPicPr>
            <a:picLocks noChangeAspect="1"/>
          </p:cNvPicPr>
          <p:nvPr/>
        </p:nvPicPr>
        <p:blipFill>
          <a:blip r:embed="rId3"/>
          <a:stretch>
            <a:fillRect/>
          </a:stretch>
        </p:blipFill>
        <p:spPr>
          <a:xfrm>
            <a:off x="6797040" y="6020435"/>
            <a:ext cx="234950" cy="23495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26019">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726019">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726019">
                                            <p:txEl>
                                              <p:pRg st="4" end="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726019">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726019">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726019">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726019">
                                            <p:txEl>
                                              <p:pRg st="8" end="8"/>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72601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6019" grpId="0" uiExpand="1"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8066" name="Rectangle 2"/>
          <p:cNvSpPr>
            <a:spLocks noGrp="1" noChangeArrowheads="1"/>
          </p:cNvSpPr>
          <p:nvPr>
            <p:ph type="title"/>
          </p:nvPr>
        </p:nvSpPr>
        <p:spPr>
          <a:xfrm>
            <a:off x="709930" y="67310"/>
            <a:ext cx="7993380" cy="653415"/>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Dependency Preservation</a:t>
            </a:r>
          </a:p>
        </p:txBody>
      </p:sp>
      <p:sp>
        <p:nvSpPr>
          <p:cNvPr id="100354" name="Rectangle 3"/>
          <p:cNvSpPr>
            <a:spLocks noGrp="1"/>
          </p:cNvSpPr>
          <p:nvPr>
            <p:ph idx="1"/>
          </p:nvPr>
        </p:nvSpPr>
        <p:spPr>
          <a:xfrm>
            <a:off x="307975" y="1094105"/>
            <a:ext cx="8578215" cy="4756150"/>
          </a:xfrm>
        </p:spPr>
        <p:txBody>
          <a:bodyPr wrap="square" lIns="91440" tIns="45720" rIns="91440" bIns="45720" anchor="t"/>
          <a:lstStyle/>
          <a:p>
            <a:r>
              <a:rPr lang="en-US" altLang="zh-CN" sz="2400" dirty="0"/>
              <a:t> Let </a:t>
            </a:r>
            <a:r>
              <a:rPr lang="en-US" altLang="zh-CN" sz="2400" i="1" dirty="0"/>
              <a:t>F</a:t>
            </a:r>
            <a:r>
              <a:rPr lang="en-US" altLang="zh-CN" sz="2400" i="1" baseline="-25000" dirty="0"/>
              <a:t>i</a:t>
            </a:r>
            <a:r>
              <a:rPr lang="en-US" altLang="zh-CN" sz="2400" i="1" dirty="0"/>
              <a:t> </a:t>
            </a:r>
            <a:r>
              <a:rPr lang="en-US" altLang="zh-CN" sz="2400" dirty="0"/>
              <a:t>be the set of dependencies </a:t>
            </a:r>
            <a:r>
              <a:rPr lang="en-US" altLang="zh-CN" sz="2400" i="1" dirty="0"/>
              <a:t>F </a:t>
            </a:r>
            <a:r>
              <a:rPr lang="en-US" altLang="zh-CN" sz="2400" i="1" baseline="30000" dirty="0"/>
              <a:t>+</a:t>
            </a:r>
            <a:r>
              <a:rPr lang="en-US" altLang="zh-CN" sz="2400" dirty="0"/>
              <a:t> that include only attributes in </a:t>
            </a:r>
            <a:r>
              <a:rPr lang="en-US" altLang="zh-CN" sz="2400" i="1" dirty="0"/>
              <a:t>R</a:t>
            </a:r>
            <a:r>
              <a:rPr lang="en-US" altLang="zh-CN" sz="2400" i="1" baseline="-25000" dirty="0"/>
              <a:t>i</a:t>
            </a:r>
            <a:r>
              <a:rPr lang="en-US" altLang="zh-CN" sz="2400" i="1" dirty="0"/>
              <a:t>. </a:t>
            </a:r>
          </a:p>
          <a:p>
            <a:pPr lvl="1"/>
            <a:r>
              <a:rPr lang="en-US" altLang="zh-CN" sz="2400" dirty="0"/>
              <a:t> A  decomposition is </a:t>
            </a:r>
            <a:r>
              <a:rPr lang="en-US" altLang="zh-CN" sz="2400" b="1" dirty="0">
                <a:solidFill>
                  <a:srgbClr val="000099"/>
                </a:solidFill>
              </a:rPr>
              <a:t>dependency preserving</a:t>
            </a:r>
            <a:r>
              <a:rPr lang="en-US" altLang="zh-CN" sz="2400" dirty="0"/>
              <a:t>,  if</a:t>
            </a:r>
          </a:p>
          <a:p>
            <a:pPr lvl="2">
              <a:buNone/>
            </a:pPr>
            <a:r>
              <a:rPr lang="en-US" altLang="zh-CN" sz="2400" dirty="0"/>
              <a:t>         (</a:t>
            </a:r>
            <a:r>
              <a:rPr lang="en-US" altLang="zh-CN" sz="2400" i="1" dirty="0"/>
              <a:t>F</a:t>
            </a:r>
            <a:r>
              <a:rPr lang="en-US" altLang="zh-CN" sz="2400" baseline="-25000" dirty="0"/>
              <a:t>1</a:t>
            </a:r>
            <a:r>
              <a:rPr lang="en-US" altLang="zh-CN" sz="2400" i="1" dirty="0"/>
              <a:t> </a:t>
            </a:r>
            <a:r>
              <a:rPr lang="en-US" altLang="zh-CN" sz="2400" dirty="0">
                <a:sym typeface="Symbol" panose="05050102010706020507" charset="2"/>
              </a:rPr>
              <a:t></a:t>
            </a:r>
            <a:r>
              <a:rPr lang="en-US" altLang="zh-CN" sz="2400" i="1" dirty="0">
                <a:sym typeface="Symbol" panose="05050102010706020507" charset="2"/>
              </a:rPr>
              <a:t> F</a:t>
            </a:r>
            <a:r>
              <a:rPr lang="en-US" altLang="zh-CN" sz="2400" baseline="-25000" dirty="0">
                <a:sym typeface="Symbol" panose="05050102010706020507" charset="2"/>
              </a:rPr>
              <a:t>2 </a:t>
            </a:r>
            <a:r>
              <a:rPr lang="en-US" altLang="zh-CN" sz="2400" dirty="0">
                <a:sym typeface="Symbol" panose="05050102010706020507" charset="2"/>
              </a:rPr>
              <a:t></a:t>
            </a:r>
            <a:r>
              <a:rPr lang="en-US" altLang="zh-CN" sz="2400" i="1" dirty="0">
                <a:sym typeface="Symbol" panose="05050102010706020507" charset="2"/>
              </a:rPr>
              <a:t> …</a:t>
            </a:r>
            <a:r>
              <a:rPr lang="en-US" altLang="zh-CN" sz="2400" dirty="0">
                <a:sym typeface="Symbol" panose="05050102010706020507" charset="2"/>
              </a:rPr>
              <a:t> </a:t>
            </a:r>
            <a:r>
              <a:rPr lang="en-US" altLang="zh-CN" sz="2400" i="1" dirty="0">
                <a:sym typeface="Symbol" panose="05050102010706020507" charset="2"/>
              </a:rPr>
              <a:t> F</a:t>
            </a:r>
            <a:r>
              <a:rPr lang="en-US" altLang="zh-CN" sz="2400" baseline="-25000" dirty="0">
                <a:sym typeface="Symbol" panose="05050102010706020507" charset="2"/>
              </a:rPr>
              <a:t>n </a:t>
            </a:r>
            <a:r>
              <a:rPr lang="en-US" altLang="zh-CN" sz="2400" dirty="0">
                <a:sym typeface="Symbol" panose="05050102010706020507" charset="2"/>
              </a:rPr>
              <a:t>)</a:t>
            </a:r>
            <a:r>
              <a:rPr lang="en-US" altLang="zh-CN" sz="2400" baseline="30000" dirty="0">
                <a:sym typeface="Symbol" panose="05050102010706020507" charset="2"/>
              </a:rPr>
              <a:t>+</a:t>
            </a:r>
            <a:r>
              <a:rPr lang="en-US" altLang="zh-CN" sz="2400" dirty="0">
                <a:sym typeface="Symbol" panose="05050102010706020507" charset="2"/>
              </a:rPr>
              <a:t> = </a:t>
            </a:r>
            <a:r>
              <a:rPr lang="en-US" altLang="zh-CN" sz="2400" i="1" dirty="0">
                <a:sym typeface="Symbol" panose="05050102010706020507" charset="2"/>
              </a:rPr>
              <a:t>F </a:t>
            </a:r>
            <a:r>
              <a:rPr lang="en-US" altLang="zh-CN" sz="2400" i="1" baseline="30000" dirty="0">
                <a:sym typeface="Symbol" panose="05050102010706020507" charset="2"/>
              </a:rPr>
              <a:t>+</a:t>
            </a:r>
          </a:p>
          <a:p>
            <a:pPr lvl="1"/>
            <a:r>
              <a:rPr lang="en-US" altLang="zh-CN" sz="2400" dirty="0"/>
              <a:t>If it is not, then checking updates for violation of functional dependencies may require computing joins, which</a:t>
            </a:r>
            <a:r>
              <a:rPr lang="en-US" altLang="zh-CN" sz="2400" dirty="0">
                <a:solidFill>
                  <a:srgbClr val="C00000"/>
                </a:solidFill>
              </a:rPr>
              <a:t> is expensive</a:t>
            </a:r>
            <a:r>
              <a:rPr lang="en-US" altLang="zh-CN" sz="2400" dirty="0"/>
              <a: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0114" name="Rectangle 2"/>
          <p:cNvSpPr>
            <a:spLocks noGrp="1" noChangeArrowheads="1"/>
          </p:cNvSpPr>
          <p:nvPr>
            <p:ph type="title"/>
          </p:nvPr>
        </p:nvSpPr>
        <p:spPr>
          <a:xfrm>
            <a:off x="697865" y="86995"/>
            <a:ext cx="8432165"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6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Testing for Dependency Preservation</a:t>
            </a:r>
          </a:p>
        </p:txBody>
      </p:sp>
      <p:sp>
        <p:nvSpPr>
          <p:cNvPr id="102402" name="Rectangle 3"/>
          <p:cNvSpPr>
            <a:spLocks noGrp="1"/>
          </p:cNvSpPr>
          <p:nvPr>
            <p:ph type="body"/>
          </p:nvPr>
        </p:nvSpPr>
        <p:spPr>
          <a:xfrm>
            <a:off x="17780" y="897255"/>
            <a:ext cx="9112250" cy="5694045"/>
          </a:xfrm>
        </p:spPr>
        <p:txBody>
          <a:bodyPr wrap="square" lIns="91440" tIns="45720" rIns="91440" bIns="45720" anchor="t"/>
          <a:lstStyle/>
          <a:p>
            <a:pPr marL="342900" indent="-342900" algn="l">
              <a:buFont typeface="Arial" panose="020B0604020202020204" pitchFamily="34" charset="0"/>
              <a:buChar char="•"/>
            </a:pPr>
            <a:r>
              <a:rPr lang="en-US" altLang="zh-CN" sz="2400" dirty="0">
                <a:solidFill>
                  <a:schemeClr val="tx1"/>
                </a:solidFill>
                <a:sym typeface="Symbol" panose="05050102010706020507" charset="2"/>
              </a:rPr>
              <a:t>To check if a dependency </a:t>
            </a:r>
            <a:r>
              <a:rPr lang="en-US" altLang="zh-CN" sz="2400" dirty="0">
                <a:solidFill>
                  <a:srgbClr val="000099"/>
                </a:solidFill>
                <a:sym typeface="Symbol" panose="05050102010706020507" charset="2"/>
              </a:rPr>
              <a:t>   </a:t>
            </a:r>
            <a:r>
              <a:rPr lang="en-US" altLang="zh-CN" sz="2400" dirty="0">
                <a:solidFill>
                  <a:schemeClr val="tx1"/>
                </a:solidFill>
                <a:sym typeface="Symbol" panose="05050102010706020507" charset="2"/>
              </a:rPr>
              <a:t>is preserved in a decomposition of </a:t>
            </a:r>
            <a:r>
              <a:rPr lang="en-US" altLang="zh-CN" sz="2400" i="1" dirty="0">
                <a:solidFill>
                  <a:schemeClr val="tx1"/>
                </a:solidFill>
                <a:sym typeface="Symbol" panose="05050102010706020507" charset="2"/>
              </a:rPr>
              <a:t>R</a:t>
            </a:r>
            <a:r>
              <a:rPr lang="en-US" altLang="zh-CN" sz="2400" dirty="0">
                <a:solidFill>
                  <a:schemeClr val="tx1"/>
                </a:solidFill>
                <a:sym typeface="Symbol" panose="05050102010706020507" charset="2"/>
              </a:rPr>
              <a:t> into </a:t>
            </a:r>
            <a:r>
              <a:rPr lang="en-US" altLang="zh-CN" sz="2400" i="1" dirty="0">
                <a:solidFill>
                  <a:schemeClr val="tx1"/>
                </a:solidFill>
                <a:sym typeface="Symbol" panose="05050102010706020507" charset="2"/>
              </a:rPr>
              <a:t>R</a:t>
            </a:r>
            <a:r>
              <a:rPr lang="en-US" altLang="zh-CN" sz="2400" baseline="-25000" dirty="0">
                <a:solidFill>
                  <a:schemeClr val="tx1"/>
                </a:solidFill>
                <a:sym typeface="Symbol" panose="05050102010706020507" charset="2"/>
              </a:rPr>
              <a:t>1</a:t>
            </a:r>
            <a:r>
              <a:rPr lang="en-US" altLang="zh-CN" sz="2400" dirty="0">
                <a:solidFill>
                  <a:schemeClr val="tx1"/>
                </a:solidFill>
                <a:sym typeface="Symbol" panose="05050102010706020507" charset="2"/>
              </a:rPr>
              <a:t>, </a:t>
            </a:r>
            <a:r>
              <a:rPr lang="en-US" altLang="zh-CN" sz="2400" i="1" dirty="0">
                <a:solidFill>
                  <a:schemeClr val="tx1"/>
                </a:solidFill>
                <a:sym typeface="Symbol" panose="05050102010706020507" charset="2"/>
              </a:rPr>
              <a:t>R</a:t>
            </a:r>
            <a:r>
              <a:rPr lang="en-US" altLang="zh-CN" sz="2400" baseline="-25000" dirty="0">
                <a:solidFill>
                  <a:schemeClr val="tx1"/>
                </a:solidFill>
                <a:sym typeface="Symbol" panose="05050102010706020507" charset="2"/>
              </a:rPr>
              <a:t>2</a:t>
            </a:r>
            <a:r>
              <a:rPr lang="en-US" altLang="zh-CN" sz="2400" dirty="0">
                <a:solidFill>
                  <a:schemeClr val="tx1"/>
                </a:solidFill>
                <a:sym typeface="Symbol" panose="05050102010706020507" charset="2"/>
              </a:rPr>
              <a:t>, …, </a:t>
            </a:r>
            <a:r>
              <a:rPr lang="en-US" altLang="zh-CN" sz="2400" i="1" dirty="0">
                <a:solidFill>
                  <a:schemeClr val="tx1"/>
                </a:solidFill>
                <a:sym typeface="Symbol" panose="05050102010706020507" charset="2"/>
              </a:rPr>
              <a:t>R</a:t>
            </a:r>
            <a:r>
              <a:rPr lang="en-US" altLang="zh-CN" sz="2400" baseline="-25000" dirty="0">
                <a:solidFill>
                  <a:schemeClr val="tx1"/>
                </a:solidFill>
                <a:sym typeface="Symbol" panose="05050102010706020507" charset="2"/>
              </a:rPr>
              <a:t>n</a:t>
            </a:r>
            <a:r>
              <a:rPr lang="en-US" altLang="zh-CN" sz="2400" dirty="0">
                <a:solidFill>
                  <a:schemeClr val="tx1"/>
                </a:solidFill>
                <a:sym typeface="Symbol" panose="05050102010706020507" charset="2"/>
              </a:rPr>
              <a:t> </a:t>
            </a:r>
          </a:p>
          <a:p>
            <a:pPr marL="342900" lvl="1" indent="-342900" algn="l">
              <a:buFont typeface="Arial" panose="020B0604020202020204" pitchFamily="34" charset="0"/>
              <a:buChar char="•"/>
            </a:pPr>
            <a:r>
              <a:rPr lang="en-US" altLang="zh-CN" sz="2400" dirty="0">
                <a:solidFill>
                  <a:schemeClr val="tx1"/>
                </a:solidFill>
                <a:sym typeface="Symbol" panose="05050102010706020507" charset="2"/>
              </a:rPr>
              <a:t>apply the following test (with attribute closure done with respect to </a:t>
            </a:r>
            <a:r>
              <a:rPr lang="en-US" altLang="zh-CN" sz="2400" i="1" dirty="0">
                <a:solidFill>
                  <a:schemeClr val="tx1"/>
                </a:solidFill>
                <a:sym typeface="Symbol" panose="05050102010706020507" charset="2"/>
              </a:rPr>
              <a:t>F</a:t>
            </a:r>
            <a:r>
              <a:rPr lang="en-US" altLang="zh-CN" sz="2400" dirty="0">
                <a:solidFill>
                  <a:schemeClr val="tx1"/>
                </a:solidFill>
                <a:sym typeface="Symbol" panose="05050102010706020507" charset="2"/>
              </a:rPr>
              <a:t>)</a:t>
            </a:r>
          </a:p>
          <a:p>
            <a:pPr marL="1173480" lvl="3" indent="-361950" algn="l">
              <a:buFont typeface="Arial" panose="020B0604020202020204" pitchFamily="34" charset="0"/>
              <a:buChar char="•"/>
            </a:pPr>
            <a:r>
              <a:rPr lang="en-US" altLang="zh-CN" sz="2000" i="1" dirty="0">
                <a:solidFill>
                  <a:srgbClr val="000099"/>
                </a:solidFill>
              </a:rPr>
              <a:t>result </a:t>
            </a:r>
            <a:r>
              <a:rPr lang="en-US" altLang="zh-CN" sz="2000" dirty="0">
                <a:solidFill>
                  <a:srgbClr val="000099"/>
                </a:solidFill>
              </a:rPr>
              <a:t>= </a:t>
            </a:r>
            <a:r>
              <a:rPr lang="en-US" altLang="zh-CN" sz="2000" dirty="0">
                <a:solidFill>
                  <a:srgbClr val="000099"/>
                </a:solidFill>
                <a:sym typeface="Symbol" panose="05050102010706020507" charset="2"/>
              </a:rPr>
              <a:t></a:t>
            </a:r>
            <a:br>
              <a:rPr lang="en-US" altLang="zh-CN" sz="2000" dirty="0">
                <a:solidFill>
                  <a:srgbClr val="000099"/>
                </a:solidFill>
                <a:sym typeface="Symbol" panose="05050102010706020507" charset="2"/>
              </a:rPr>
            </a:br>
            <a:r>
              <a:rPr lang="en-US" altLang="zh-CN" sz="2000" b="1" dirty="0">
                <a:solidFill>
                  <a:srgbClr val="000099"/>
                </a:solidFill>
                <a:sym typeface="Symbol" panose="05050102010706020507" charset="2"/>
              </a:rPr>
              <a:t>while</a:t>
            </a:r>
            <a:r>
              <a:rPr lang="en-US" altLang="zh-CN" sz="2000" dirty="0">
                <a:solidFill>
                  <a:srgbClr val="000099"/>
                </a:solidFill>
                <a:sym typeface="Symbol" panose="05050102010706020507" charset="2"/>
              </a:rPr>
              <a:t> (changes to </a:t>
            </a:r>
            <a:r>
              <a:rPr lang="en-US" altLang="zh-CN" sz="2000" i="1" dirty="0">
                <a:solidFill>
                  <a:srgbClr val="000099"/>
                </a:solidFill>
                <a:sym typeface="Symbol" panose="05050102010706020507" charset="2"/>
              </a:rPr>
              <a:t>result</a:t>
            </a:r>
            <a:r>
              <a:rPr lang="en-US" altLang="zh-CN" sz="2000" dirty="0">
                <a:solidFill>
                  <a:srgbClr val="000099"/>
                </a:solidFill>
                <a:sym typeface="Symbol" panose="05050102010706020507" charset="2"/>
              </a:rPr>
              <a:t>) do</a:t>
            </a:r>
            <a:br>
              <a:rPr lang="en-US" altLang="zh-CN" sz="2000" dirty="0">
                <a:solidFill>
                  <a:srgbClr val="000099"/>
                </a:solidFill>
                <a:sym typeface="Symbol" panose="05050102010706020507" charset="2"/>
              </a:rPr>
            </a:br>
            <a:r>
              <a:rPr lang="en-US" altLang="zh-CN" sz="2000" dirty="0">
                <a:solidFill>
                  <a:srgbClr val="000099"/>
                </a:solidFill>
                <a:sym typeface="Symbol" panose="05050102010706020507" charset="2"/>
              </a:rPr>
              <a:t>	</a:t>
            </a:r>
            <a:r>
              <a:rPr lang="en-US" altLang="zh-CN" sz="2000" b="1" dirty="0">
                <a:solidFill>
                  <a:srgbClr val="000099"/>
                </a:solidFill>
                <a:sym typeface="Symbol" panose="05050102010706020507" charset="2"/>
              </a:rPr>
              <a:t>for each</a:t>
            </a:r>
            <a:r>
              <a:rPr lang="en-US" altLang="zh-CN" sz="2000" dirty="0">
                <a:solidFill>
                  <a:srgbClr val="000099"/>
                </a:solidFill>
                <a:sym typeface="Symbol" panose="05050102010706020507" charset="2"/>
              </a:rPr>
              <a:t> </a:t>
            </a:r>
            <a:r>
              <a:rPr lang="en-US" altLang="zh-CN" sz="2000" i="1" dirty="0">
                <a:solidFill>
                  <a:srgbClr val="000099"/>
                </a:solidFill>
                <a:sym typeface="Symbol" panose="05050102010706020507" charset="2"/>
              </a:rPr>
              <a:t>R</a:t>
            </a:r>
            <a:r>
              <a:rPr lang="en-US" altLang="zh-CN" sz="2000" i="1" baseline="-25000" dirty="0">
                <a:solidFill>
                  <a:srgbClr val="000099"/>
                </a:solidFill>
                <a:sym typeface="Symbol" panose="05050102010706020507" charset="2"/>
              </a:rPr>
              <a:t>i</a:t>
            </a:r>
            <a:r>
              <a:rPr lang="en-US" altLang="zh-CN" sz="2000" i="1" dirty="0">
                <a:solidFill>
                  <a:srgbClr val="000099"/>
                </a:solidFill>
                <a:sym typeface="Symbol" panose="05050102010706020507" charset="2"/>
              </a:rPr>
              <a:t> </a:t>
            </a:r>
            <a:r>
              <a:rPr lang="en-US" altLang="zh-CN" sz="2000" dirty="0">
                <a:solidFill>
                  <a:srgbClr val="000099"/>
                </a:solidFill>
                <a:sym typeface="Symbol" panose="05050102010706020507" charset="2"/>
              </a:rPr>
              <a:t>in the decomposition</a:t>
            </a:r>
            <a:br>
              <a:rPr lang="en-US" altLang="zh-CN" sz="2000" dirty="0">
                <a:solidFill>
                  <a:srgbClr val="000099"/>
                </a:solidFill>
                <a:sym typeface="Symbol" panose="05050102010706020507" charset="2"/>
              </a:rPr>
            </a:br>
            <a:r>
              <a:rPr lang="en-US" altLang="zh-CN" sz="2000" dirty="0">
                <a:solidFill>
                  <a:srgbClr val="000099"/>
                </a:solidFill>
                <a:sym typeface="Symbol" panose="05050102010706020507" charset="2"/>
              </a:rPr>
              <a:t>		</a:t>
            </a:r>
            <a:r>
              <a:rPr lang="en-US" altLang="zh-CN" sz="2000" i="1" dirty="0">
                <a:solidFill>
                  <a:srgbClr val="000099"/>
                </a:solidFill>
                <a:sym typeface="Symbol" panose="05050102010706020507" charset="2"/>
              </a:rPr>
              <a:t>t</a:t>
            </a:r>
            <a:r>
              <a:rPr lang="en-US" altLang="zh-CN" sz="2000" dirty="0">
                <a:solidFill>
                  <a:srgbClr val="000099"/>
                </a:solidFill>
                <a:sym typeface="Symbol" panose="05050102010706020507" charset="2"/>
              </a:rPr>
              <a:t> = (</a:t>
            </a:r>
            <a:r>
              <a:rPr lang="en-US" altLang="zh-CN" sz="2000" i="1" dirty="0">
                <a:solidFill>
                  <a:srgbClr val="000099"/>
                </a:solidFill>
                <a:sym typeface="Symbol" panose="05050102010706020507" charset="2"/>
              </a:rPr>
              <a:t>result </a:t>
            </a:r>
            <a:r>
              <a:rPr lang="en-US" altLang="zh-CN" sz="2000" dirty="0">
                <a:solidFill>
                  <a:srgbClr val="000099"/>
                </a:solidFill>
                <a:sym typeface="Symbol" panose="05050102010706020507" charset="2"/>
              </a:rPr>
              <a:t> </a:t>
            </a:r>
            <a:r>
              <a:rPr lang="en-US" altLang="zh-CN" sz="2000" i="1" dirty="0">
                <a:solidFill>
                  <a:srgbClr val="000099"/>
                </a:solidFill>
                <a:sym typeface="Symbol" panose="05050102010706020507" charset="2"/>
              </a:rPr>
              <a:t>R</a:t>
            </a:r>
            <a:r>
              <a:rPr lang="en-US" altLang="zh-CN" sz="2000" i="1" baseline="-25000" dirty="0">
                <a:solidFill>
                  <a:srgbClr val="000099"/>
                </a:solidFill>
                <a:sym typeface="Symbol" panose="05050102010706020507" charset="2"/>
              </a:rPr>
              <a:t>i</a:t>
            </a:r>
            <a:r>
              <a:rPr lang="en-US" altLang="zh-CN" sz="2000" dirty="0">
                <a:solidFill>
                  <a:srgbClr val="000099"/>
                </a:solidFill>
                <a:sym typeface="Symbol" panose="05050102010706020507" charset="2"/>
              </a:rPr>
              <a:t>)</a:t>
            </a:r>
            <a:r>
              <a:rPr lang="en-US" altLang="zh-CN" sz="2000" baseline="30000" dirty="0">
                <a:solidFill>
                  <a:srgbClr val="000099"/>
                </a:solidFill>
                <a:sym typeface="Symbol" panose="05050102010706020507" charset="2"/>
              </a:rPr>
              <a:t>+ </a:t>
            </a:r>
            <a:r>
              <a:rPr lang="en-US" altLang="zh-CN" sz="2000" dirty="0">
                <a:solidFill>
                  <a:srgbClr val="000099"/>
                </a:solidFill>
                <a:sym typeface="Symbol" panose="05050102010706020507" charset="2"/>
              </a:rPr>
              <a:t> </a:t>
            </a:r>
            <a:r>
              <a:rPr lang="en-US" altLang="zh-CN" sz="2000" i="1" dirty="0">
                <a:solidFill>
                  <a:srgbClr val="000099"/>
                </a:solidFill>
                <a:sym typeface="Symbol" panose="05050102010706020507" charset="2"/>
              </a:rPr>
              <a:t>R</a:t>
            </a:r>
            <a:r>
              <a:rPr lang="en-US" altLang="zh-CN" sz="2000" i="1" baseline="-25000" dirty="0">
                <a:solidFill>
                  <a:srgbClr val="000099"/>
                </a:solidFill>
                <a:sym typeface="Symbol" panose="05050102010706020507" charset="2"/>
              </a:rPr>
              <a:t>i</a:t>
            </a:r>
            <a:br>
              <a:rPr lang="en-US" altLang="zh-CN" sz="2000" i="1" baseline="-25000" dirty="0">
                <a:solidFill>
                  <a:srgbClr val="000099"/>
                </a:solidFill>
                <a:sym typeface="Symbol" panose="05050102010706020507" charset="2"/>
              </a:rPr>
            </a:br>
            <a:r>
              <a:rPr lang="en-US" altLang="zh-CN" sz="2000" i="1" baseline="-25000" dirty="0">
                <a:solidFill>
                  <a:srgbClr val="000099"/>
                </a:solidFill>
                <a:sym typeface="Symbol" panose="05050102010706020507" charset="2"/>
              </a:rPr>
              <a:t>		</a:t>
            </a:r>
            <a:r>
              <a:rPr lang="en-US" altLang="zh-CN" sz="2000" i="1" dirty="0">
                <a:solidFill>
                  <a:srgbClr val="000099"/>
                </a:solidFill>
                <a:sym typeface="Symbol" panose="05050102010706020507" charset="2"/>
              </a:rPr>
              <a:t>result  =  result  </a:t>
            </a:r>
            <a:r>
              <a:rPr lang="en-US" altLang="zh-CN" sz="2000" dirty="0">
                <a:solidFill>
                  <a:srgbClr val="000099"/>
                </a:solidFill>
                <a:sym typeface="Symbol" panose="05050102010706020507" charset="2"/>
              </a:rPr>
              <a:t> </a:t>
            </a:r>
            <a:r>
              <a:rPr lang="en-US" altLang="zh-CN" sz="2000" i="1" dirty="0">
                <a:solidFill>
                  <a:srgbClr val="000099"/>
                </a:solidFill>
                <a:sym typeface="Symbol" panose="05050102010706020507" charset="2"/>
              </a:rPr>
              <a:t>t</a:t>
            </a:r>
          </a:p>
          <a:p>
            <a:pPr marL="1069975" lvl="2" indent="-346075" algn="l">
              <a:buFont typeface="Arial" panose="020B0604020202020204" pitchFamily="34" charset="0"/>
              <a:buChar char="•"/>
            </a:pPr>
            <a:r>
              <a:rPr lang="en-US" altLang="zh-CN" sz="2000" i="1" dirty="0">
                <a:solidFill>
                  <a:srgbClr val="000099"/>
                </a:solidFill>
                <a:sym typeface="Symbol" panose="05050102010706020507" charset="2"/>
              </a:rPr>
              <a:t>If result contains all attributes in , then the functional dependency   is preserved.</a:t>
            </a:r>
          </a:p>
          <a:p>
            <a:pPr marL="342900" indent="-342900" algn="l">
              <a:buFont typeface="Arial" panose="020B0604020202020204" pitchFamily="34" charset="0"/>
              <a:buChar char="•"/>
            </a:pPr>
            <a:r>
              <a:rPr lang="en-US" altLang="zh-CN" sz="2400" dirty="0">
                <a:solidFill>
                  <a:schemeClr val="tx1"/>
                </a:solidFill>
                <a:sym typeface="Symbol" panose="05050102010706020507" charset="2"/>
              </a:rPr>
              <a:t>We </a:t>
            </a:r>
            <a:r>
              <a:rPr lang="en-US" altLang="zh-CN" sz="2400" dirty="0">
                <a:solidFill>
                  <a:srgbClr val="C00000"/>
                </a:solidFill>
                <a:sym typeface="Symbol" panose="05050102010706020507" charset="2"/>
              </a:rPr>
              <a:t>apply the test on all dependencies in </a:t>
            </a:r>
            <a:r>
              <a:rPr lang="en-US" altLang="zh-CN" sz="2400" i="1" dirty="0">
                <a:solidFill>
                  <a:srgbClr val="C00000"/>
                </a:solidFill>
                <a:sym typeface="Symbol" panose="05050102010706020507" charset="2"/>
              </a:rPr>
              <a:t>F</a:t>
            </a:r>
            <a:r>
              <a:rPr lang="en-US" altLang="zh-CN" sz="2400" dirty="0">
                <a:solidFill>
                  <a:srgbClr val="C00000"/>
                </a:solidFill>
                <a:sym typeface="Symbol" panose="05050102010706020507" charset="2"/>
              </a:rPr>
              <a:t>  </a:t>
            </a:r>
            <a:r>
              <a:rPr lang="en-US" altLang="zh-CN" sz="2400" dirty="0">
                <a:solidFill>
                  <a:schemeClr val="tx1"/>
                </a:solidFill>
                <a:sym typeface="Symbol" panose="05050102010706020507" charset="2"/>
              </a:rPr>
              <a:t>to check if a decomposition is dependency preserving</a:t>
            </a:r>
          </a:p>
          <a:p>
            <a:pPr marL="342900" indent="-342900" algn="l">
              <a:buFont typeface="Arial" panose="020B0604020202020204" pitchFamily="34" charset="0"/>
              <a:buChar char="•"/>
            </a:pPr>
            <a:r>
              <a:rPr lang="en-US" altLang="zh-CN" sz="2400" dirty="0">
                <a:solidFill>
                  <a:schemeClr val="tx1"/>
                </a:solidFill>
                <a:sym typeface="Symbol" panose="05050102010706020507" charset="2"/>
              </a:rPr>
              <a:t>This procedure takes polynomial time, instead of the exponential time required to compute </a:t>
            </a:r>
            <a:r>
              <a:rPr lang="en-US" altLang="zh-CN" sz="2400" i="1" dirty="0">
                <a:solidFill>
                  <a:schemeClr val="tx1"/>
                </a:solidFill>
                <a:sym typeface="Symbol" panose="05050102010706020507" charset="2"/>
              </a:rPr>
              <a:t>F</a:t>
            </a:r>
            <a:r>
              <a:rPr lang="en-US" altLang="zh-CN" sz="2400" i="1" baseline="30000" dirty="0">
                <a:solidFill>
                  <a:schemeClr val="tx1"/>
                </a:solidFill>
                <a:sym typeface="Symbol" panose="05050102010706020507" charset="2"/>
              </a:rPr>
              <a:t>+</a:t>
            </a:r>
            <a:r>
              <a:rPr lang="en-US" altLang="zh-CN" sz="2400" i="1" dirty="0">
                <a:solidFill>
                  <a:schemeClr val="tx1"/>
                </a:solidFill>
                <a:sym typeface="Symbol" panose="05050102010706020507" charset="2"/>
              </a:rPr>
              <a:t> </a:t>
            </a:r>
            <a:r>
              <a:rPr lang="en-US" altLang="zh-CN" sz="2400" dirty="0">
                <a:solidFill>
                  <a:schemeClr val="tx1"/>
                </a:solidFill>
                <a:sym typeface="Symbol" panose="05050102010706020507" charset="2"/>
              </a:rPr>
              <a:t>and</a:t>
            </a:r>
            <a:r>
              <a:rPr lang="en-US" altLang="zh-CN" sz="2400" i="1" dirty="0">
                <a:solidFill>
                  <a:schemeClr val="tx1"/>
                </a:solidFill>
                <a:sym typeface="Symbol" panose="05050102010706020507" charset="2"/>
              </a:rPr>
              <a:t> </a:t>
            </a:r>
            <a:r>
              <a:rPr lang="en-US" altLang="zh-CN" sz="2400" dirty="0">
                <a:solidFill>
                  <a:schemeClr val="tx1"/>
                </a:solidFill>
              </a:rPr>
              <a:t>(</a:t>
            </a:r>
            <a:r>
              <a:rPr lang="en-US" altLang="zh-CN" sz="2400" i="1" dirty="0">
                <a:solidFill>
                  <a:schemeClr val="tx1"/>
                </a:solidFill>
              </a:rPr>
              <a:t>F</a:t>
            </a:r>
            <a:r>
              <a:rPr lang="en-US" altLang="zh-CN" sz="2400" baseline="-25000" dirty="0">
                <a:solidFill>
                  <a:schemeClr val="tx1"/>
                </a:solidFill>
              </a:rPr>
              <a:t>1</a:t>
            </a:r>
            <a:r>
              <a:rPr lang="en-US" altLang="zh-CN" sz="2400" i="1" dirty="0">
                <a:solidFill>
                  <a:schemeClr val="tx1"/>
                </a:solidFill>
              </a:rPr>
              <a:t> </a:t>
            </a:r>
            <a:r>
              <a:rPr lang="en-US" altLang="zh-CN" sz="2400" dirty="0">
                <a:solidFill>
                  <a:schemeClr val="tx1"/>
                </a:solidFill>
                <a:sym typeface="Symbol" panose="05050102010706020507" charset="2"/>
              </a:rPr>
              <a:t></a:t>
            </a:r>
            <a:r>
              <a:rPr lang="en-US" altLang="zh-CN" sz="2400" i="1" dirty="0">
                <a:solidFill>
                  <a:schemeClr val="tx1"/>
                </a:solidFill>
                <a:sym typeface="Symbol" panose="05050102010706020507" charset="2"/>
              </a:rPr>
              <a:t> F</a:t>
            </a:r>
            <a:r>
              <a:rPr lang="en-US" altLang="zh-CN" sz="2400" baseline="-25000" dirty="0">
                <a:solidFill>
                  <a:schemeClr val="tx1"/>
                </a:solidFill>
                <a:sym typeface="Symbol" panose="05050102010706020507" charset="2"/>
              </a:rPr>
              <a:t>2</a:t>
            </a:r>
            <a:r>
              <a:rPr lang="en-US" altLang="zh-CN" sz="2400" dirty="0">
                <a:solidFill>
                  <a:schemeClr val="tx1"/>
                </a:solidFill>
                <a:sym typeface="Symbol" panose="05050102010706020507" charset="2"/>
              </a:rPr>
              <a:t> </a:t>
            </a:r>
            <a:r>
              <a:rPr lang="en-US" altLang="zh-CN" sz="2400" i="1" dirty="0">
                <a:solidFill>
                  <a:schemeClr val="tx1"/>
                </a:solidFill>
                <a:sym typeface="Symbol" panose="05050102010706020507" charset="2"/>
              </a:rPr>
              <a:t> … </a:t>
            </a:r>
            <a:r>
              <a:rPr lang="en-US" altLang="zh-CN" sz="2400" dirty="0">
                <a:solidFill>
                  <a:schemeClr val="tx1"/>
                </a:solidFill>
                <a:sym typeface="Symbol" panose="05050102010706020507" charset="2"/>
              </a:rPr>
              <a:t></a:t>
            </a:r>
            <a:r>
              <a:rPr lang="en-US" altLang="zh-CN" sz="2400" i="1" dirty="0">
                <a:solidFill>
                  <a:schemeClr val="tx1"/>
                </a:solidFill>
                <a:sym typeface="Symbol" panose="05050102010706020507" charset="2"/>
              </a:rPr>
              <a:t> F</a:t>
            </a:r>
            <a:r>
              <a:rPr lang="en-US" altLang="zh-CN" sz="2400" baseline="-25000" dirty="0">
                <a:solidFill>
                  <a:schemeClr val="tx1"/>
                </a:solidFill>
                <a:sym typeface="Symbol" panose="05050102010706020507" charset="2"/>
              </a:rPr>
              <a:t>n</a:t>
            </a:r>
            <a:r>
              <a:rPr lang="en-US" altLang="zh-CN" sz="2400" dirty="0">
                <a:solidFill>
                  <a:schemeClr val="tx1"/>
                </a:solidFill>
                <a:sym typeface="Symbol" panose="05050102010706020507" charset="2"/>
              </a:rPr>
              <a:t>)</a:t>
            </a:r>
            <a:r>
              <a:rPr lang="en-US" altLang="zh-CN" sz="2400" baseline="30000" dirty="0">
                <a:solidFill>
                  <a:schemeClr val="tx1"/>
                </a:solidFill>
                <a:sym typeface="Symbol" panose="05050102010706020507" charset="2"/>
              </a:rPr>
              <a:t>+</a:t>
            </a:r>
            <a:r>
              <a:rPr lang="en-US" altLang="zh-CN" sz="2400" dirty="0">
                <a:solidFill>
                  <a:schemeClr val="tx1"/>
                </a:solidFill>
                <a:sym typeface="Symbol" panose="05050102010706020507" charset="2"/>
              </a:rPr>
              <a:t> </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2162"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Example</a:t>
            </a:r>
          </a:p>
        </p:txBody>
      </p:sp>
      <p:sp>
        <p:nvSpPr>
          <p:cNvPr id="104450" name="Rectangle 3"/>
          <p:cNvSpPr>
            <a:spLocks noGrp="1"/>
          </p:cNvSpPr>
          <p:nvPr>
            <p:ph idx="1"/>
          </p:nvPr>
        </p:nvSpPr>
        <p:spPr>
          <a:xfrm>
            <a:off x="292100" y="3442728"/>
            <a:ext cx="8483600" cy="2830830"/>
          </a:xfrm>
        </p:spPr>
        <p:txBody>
          <a:bodyPr wrap="square" lIns="91440" tIns="45720" rIns="91440" bIns="45720" anchor="t"/>
          <a:lstStyle/>
          <a:p>
            <a:pPr defTabSz="914400">
              <a:tabLst>
                <a:tab pos="744855" algn="l"/>
              </a:tabLst>
            </a:pPr>
            <a:r>
              <a:rPr lang="en-US" altLang="zh-CN" sz="1800" i="1" dirty="0"/>
              <a:t>R = </a:t>
            </a:r>
            <a:r>
              <a:rPr lang="en-US" altLang="zh-CN" sz="1800" dirty="0"/>
              <a:t>( </a:t>
            </a:r>
            <a:r>
              <a:rPr lang="en-US" altLang="zh-CN" sz="1800" i="1" dirty="0"/>
              <a:t>A, B, C </a:t>
            </a:r>
            <a:r>
              <a:rPr lang="en-US" altLang="zh-CN" sz="1800" dirty="0"/>
              <a:t>)</a:t>
            </a:r>
            <a:r>
              <a:rPr lang="zh-CN" altLang="en-US" sz="1800" dirty="0"/>
              <a:t>，   </a:t>
            </a:r>
            <a:r>
              <a:rPr lang="en-US" altLang="zh-CN" sz="1800" i="1" dirty="0"/>
              <a:t>F = </a:t>
            </a:r>
            <a:r>
              <a:rPr lang="en-US" altLang="zh-CN" sz="1800" dirty="0"/>
              <a:t>{ </a:t>
            </a:r>
            <a:r>
              <a:rPr lang="en-US" altLang="zh-CN" sz="1800" i="1" dirty="0"/>
              <a:t>A</a:t>
            </a:r>
            <a:r>
              <a:rPr lang="en-US" altLang="zh-CN" sz="1800" dirty="0"/>
              <a:t> </a:t>
            </a:r>
            <a:r>
              <a:rPr lang="en-US" altLang="zh-CN" sz="1800" dirty="0">
                <a:sym typeface="Symbol" panose="05050102010706020507" charset="2"/>
              </a:rPr>
              <a:t></a:t>
            </a:r>
            <a:r>
              <a:rPr lang="en-US" altLang="zh-CN" sz="1800" dirty="0">
                <a:sym typeface="Monotype Sorts" charset="2"/>
              </a:rPr>
              <a:t> </a:t>
            </a:r>
            <a:r>
              <a:rPr lang="en-US" altLang="zh-CN" sz="1800" i="1" dirty="0">
                <a:sym typeface="Monotype Sorts" charset="2"/>
              </a:rPr>
              <a:t>B</a:t>
            </a:r>
            <a:r>
              <a:rPr lang="zh-CN" altLang="en-US" sz="1800" i="1" dirty="0">
                <a:sym typeface="Monotype Sorts" charset="2"/>
              </a:rPr>
              <a:t>，</a:t>
            </a:r>
            <a:r>
              <a:rPr lang="en-US" altLang="zh-CN" sz="1800" i="1" dirty="0">
                <a:sym typeface="Monotype Sorts" charset="2"/>
              </a:rPr>
              <a:t>	 B </a:t>
            </a:r>
            <a:r>
              <a:rPr lang="en-US" altLang="zh-CN" sz="1800" dirty="0">
                <a:sym typeface="Symbol" panose="05050102010706020507" charset="2"/>
              </a:rPr>
              <a:t></a:t>
            </a:r>
            <a:r>
              <a:rPr lang="en-US" altLang="zh-CN" sz="1800" i="1" dirty="0">
                <a:sym typeface="Monotype Sorts" charset="2"/>
              </a:rPr>
              <a:t> C </a:t>
            </a:r>
            <a:r>
              <a:rPr lang="en-US" altLang="zh-CN" sz="1800" dirty="0">
                <a:sym typeface="Monotype Sorts" charset="2"/>
              </a:rPr>
              <a:t>}</a:t>
            </a:r>
            <a:br>
              <a:rPr lang="en-US" altLang="zh-CN" sz="1800" dirty="0">
                <a:sym typeface="Monotype Sorts" charset="2"/>
              </a:rPr>
            </a:br>
            <a:r>
              <a:rPr lang="en-US" altLang="zh-CN" sz="1800" dirty="0">
                <a:sym typeface="Monotype Sorts" charset="2"/>
              </a:rPr>
              <a:t>Key = { </a:t>
            </a:r>
            <a:r>
              <a:rPr lang="en-US" altLang="zh-CN" sz="1800" i="1" dirty="0">
                <a:sym typeface="Monotype Sorts" charset="2"/>
              </a:rPr>
              <a:t>A </a:t>
            </a:r>
            <a:r>
              <a:rPr lang="en-US" altLang="zh-CN" sz="1800" dirty="0">
                <a:sym typeface="Monotype Sorts" charset="2"/>
              </a:rPr>
              <a:t>}</a:t>
            </a:r>
          </a:p>
          <a:p>
            <a:pPr defTabSz="914400">
              <a:tabLst>
                <a:tab pos="744855" algn="l"/>
              </a:tabLst>
            </a:pPr>
            <a:r>
              <a:rPr lang="en-US" altLang="zh-CN" sz="1800" i="1" dirty="0">
                <a:sym typeface="Monotype Sorts" charset="2"/>
              </a:rPr>
              <a:t>R</a:t>
            </a:r>
            <a:r>
              <a:rPr lang="en-US" altLang="zh-CN" sz="1800" dirty="0">
                <a:sym typeface="Monotype Sorts" charset="2"/>
              </a:rPr>
              <a:t> is not in BCNF</a:t>
            </a:r>
          </a:p>
          <a:p>
            <a:pPr defTabSz="914400">
              <a:tabLst>
                <a:tab pos="744855" algn="l"/>
              </a:tabLst>
            </a:pPr>
            <a:r>
              <a:rPr lang="en-US" altLang="zh-CN" sz="1800" dirty="0">
                <a:sym typeface="Monotype Sorts" charset="2"/>
              </a:rPr>
              <a:t>Decomposition </a:t>
            </a:r>
            <a:r>
              <a:rPr lang="en-US" altLang="zh-CN" sz="1800" i="1" dirty="0">
                <a:sym typeface="Monotype Sorts" charset="2"/>
              </a:rPr>
              <a:t>R</a:t>
            </a:r>
            <a:r>
              <a:rPr lang="en-US" altLang="zh-CN" sz="1800" baseline="-25000" dirty="0">
                <a:sym typeface="Monotype Sorts" charset="2"/>
              </a:rPr>
              <a:t>1</a:t>
            </a:r>
            <a:r>
              <a:rPr lang="en-US" altLang="zh-CN" sz="1800" dirty="0">
                <a:sym typeface="Monotype Sorts" charset="2"/>
              </a:rPr>
              <a:t> = (</a:t>
            </a:r>
            <a:r>
              <a:rPr lang="en-US" altLang="zh-CN" sz="1800" i="1" dirty="0">
                <a:sym typeface="Monotype Sorts" charset="2"/>
              </a:rPr>
              <a:t>A, B),  R</a:t>
            </a:r>
            <a:r>
              <a:rPr lang="en-US" altLang="zh-CN" sz="1800" baseline="-25000" dirty="0">
                <a:sym typeface="Monotype Sorts" charset="2"/>
              </a:rPr>
              <a:t>2</a:t>
            </a:r>
            <a:r>
              <a:rPr lang="en-US" altLang="zh-CN" sz="1800" dirty="0">
                <a:sym typeface="Monotype Sorts" charset="2"/>
              </a:rPr>
              <a:t> = </a:t>
            </a:r>
            <a:r>
              <a:rPr lang="en-US" altLang="zh-CN" sz="1800" i="1" dirty="0">
                <a:sym typeface="Monotype Sorts" charset="2"/>
              </a:rPr>
              <a:t>(B, C)</a:t>
            </a:r>
          </a:p>
          <a:p>
            <a:pPr lvl="1" defTabSz="914400">
              <a:tabLst>
                <a:tab pos="744855" algn="l"/>
              </a:tabLst>
            </a:pPr>
            <a:r>
              <a:rPr lang="en-US" altLang="zh-CN" sz="1800" i="1" dirty="0">
                <a:sym typeface="Monotype Sorts" charset="2"/>
              </a:rPr>
              <a:t>R</a:t>
            </a:r>
            <a:r>
              <a:rPr lang="en-US" altLang="zh-CN" sz="1800" baseline="-25000" dirty="0">
                <a:sym typeface="Monotype Sorts" charset="2"/>
              </a:rPr>
              <a:t>1</a:t>
            </a:r>
            <a:r>
              <a:rPr lang="en-US" altLang="zh-CN" sz="1800" i="1" baseline="-25000" dirty="0">
                <a:sym typeface="Monotype Sorts" charset="2"/>
              </a:rPr>
              <a:t> </a:t>
            </a:r>
            <a:r>
              <a:rPr lang="en-US" altLang="zh-CN" sz="1800" dirty="0">
                <a:sym typeface="Monotype Sorts" charset="2"/>
              </a:rPr>
              <a:t>and </a:t>
            </a:r>
            <a:r>
              <a:rPr lang="en-US" altLang="zh-CN" sz="1800" i="1" dirty="0">
                <a:sym typeface="Monotype Sorts" charset="2"/>
              </a:rPr>
              <a:t>R</a:t>
            </a:r>
            <a:r>
              <a:rPr lang="en-US" altLang="zh-CN" sz="1800" baseline="-25000" dirty="0">
                <a:sym typeface="Monotype Sorts" charset="2"/>
              </a:rPr>
              <a:t>2</a:t>
            </a:r>
            <a:r>
              <a:rPr lang="en-US" altLang="zh-CN" sz="1800" dirty="0">
                <a:sym typeface="Monotype Sorts" charset="2"/>
              </a:rPr>
              <a:t> in BCNF</a:t>
            </a:r>
          </a:p>
          <a:p>
            <a:pPr lvl="1" defTabSz="914400">
              <a:tabLst>
                <a:tab pos="744855" algn="l"/>
              </a:tabLst>
            </a:pPr>
            <a:r>
              <a:rPr lang="en-US" altLang="zh-CN" sz="1800" dirty="0">
                <a:sym typeface="Monotype Sorts" charset="2"/>
              </a:rPr>
              <a:t>Lossless-join decomposition</a:t>
            </a:r>
          </a:p>
          <a:p>
            <a:pPr lvl="1" defTabSz="914400">
              <a:tabLst>
                <a:tab pos="744855" algn="l"/>
              </a:tabLst>
            </a:pPr>
            <a:r>
              <a:rPr lang="en-US" altLang="zh-CN" sz="1800" dirty="0">
                <a:sym typeface="Monotype Sorts" charset="2"/>
              </a:rPr>
              <a:t>Dependency preserving</a:t>
            </a:r>
          </a:p>
          <a:p>
            <a:pPr marL="342900" lvl="1" indent="-342900">
              <a:buClr>
                <a:schemeClr val="tx2"/>
              </a:buClr>
              <a:buSzPct val="90000"/>
              <a:buFont typeface="Monotype Sorts" charset="0"/>
              <a:buChar char="n"/>
              <a:tabLst>
                <a:tab pos="744855" algn="l"/>
              </a:tabLst>
            </a:pPr>
            <a:r>
              <a:rPr lang="en-US" altLang="zh-CN" sz="1800" dirty="0">
                <a:solidFill>
                  <a:srgbClr val="C00000"/>
                </a:solidFill>
                <a:sym typeface="Monotype Sorts" charset="2"/>
              </a:rPr>
              <a:t>Decomposition R</a:t>
            </a:r>
            <a:r>
              <a:rPr lang="en-US" altLang="zh-CN" sz="1800" baseline="-25000" dirty="0">
                <a:solidFill>
                  <a:srgbClr val="C00000"/>
                </a:solidFill>
                <a:sym typeface="Monotype Sorts" charset="2"/>
              </a:rPr>
              <a:t>1</a:t>
            </a:r>
            <a:r>
              <a:rPr lang="en-US" altLang="zh-CN" sz="1800" dirty="0">
                <a:solidFill>
                  <a:srgbClr val="C00000"/>
                </a:solidFill>
                <a:sym typeface="Monotype Sorts" charset="2"/>
              </a:rPr>
              <a:t> = (A, B),</a:t>
            </a:r>
            <a:r>
              <a:rPr lang="en-US" altLang="zh-CN" sz="1800" i="1" dirty="0">
                <a:solidFill>
                  <a:srgbClr val="C00000"/>
                </a:solidFill>
                <a:sym typeface="Monotype Sorts" charset="2"/>
              </a:rPr>
              <a:t> R</a:t>
            </a:r>
            <a:r>
              <a:rPr lang="en-US" altLang="zh-CN" sz="1800" baseline="-25000" dirty="0">
                <a:solidFill>
                  <a:srgbClr val="C00000"/>
                </a:solidFill>
                <a:sym typeface="Monotype Sorts" charset="2"/>
              </a:rPr>
              <a:t>2</a:t>
            </a:r>
            <a:r>
              <a:rPr lang="en-US" altLang="zh-CN" sz="1800" dirty="0">
                <a:solidFill>
                  <a:srgbClr val="C00000"/>
                </a:solidFill>
                <a:sym typeface="Monotype Sorts" charset="2"/>
              </a:rPr>
              <a:t> = </a:t>
            </a:r>
            <a:r>
              <a:rPr lang="zh-CN" altLang="en-US" sz="1800" dirty="0">
                <a:solidFill>
                  <a:srgbClr val="C00000"/>
                </a:solidFill>
                <a:sym typeface="Monotype Sorts" charset="2"/>
              </a:rPr>
              <a:t>（</a:t>
            </a:r>
            <a:r>
              <a:rPr lang="en-US" altLang="zh-CN" sz="1800" dirty="0">
                <a:solidFill>
                  <a:srgbClr val="C00000"/>
                </a:solidFill>
                <a:sym typeface="Monotype Sorts" charset="2"/>
              </a:rPr>
              <a:t>A , C)</a:t>
            </a:r>
            <a:r>
              <a:rPr lang="zh-CN" altLang="en-US" sz="1800" dirty="0">
                <a:solidFill>
                  <a:srgbClr val="C00000"/>
                </a:solidFill>
                <a:sym typeface="Monotype Sorts" charset="2"/>
              </a:rPr>
              <a:t>？</a:t>
            </a:r>
            <a:endParaRPr lang="en-US" altLang="zh-CN" sz="1800" dirty="0">
              <a:solidFill>
                <a:srgbClr val="C00000"/>
              </a:solidFill>
              <a:sym typeface="Monotype Sorts" charset="2"/>
            </a:endParaRPr>
          </a:p>
        </p:txBody>
      </p:sp>
      <p:sp>
        <p:nvSpPr>
          <p:cNvPr id="104451" name="文本框 1"/>
          <p:cNvSpPr txBox="1"/>
          <p:nvPr/>
        </p:nvSpPr>
        <p:spPr>
          <a:xfrm>
            <a:off x="493713" y="1022350"/>
            <a:ext cx="8223250" cy="2306955"/>
          </a:xfrm>
          <a:prstGeom prst="rect">
            <a:avLst/>
          </a:prstGeom>
          <a:noFill/>
          <a:ln w="19050" cap="flat" cmpd="sng">
            <a:solidFill>
              <a:srgbClr val="7030A0"/>
            </a:solidFill>
            <a:prstDash val="solid"/>
            <a:round/>
            <a:headEnd type="none" w="med" len="med"/>
            <a:tailEnd type="none" w="med" len="med"/>
          </a:ln>
        </p:spPr>
        <p:txBody>
          <a:bodyPr wrap="square" anchor="t">
            <a:spAutoFit/>
          </a:bodyPr>
          <a:lstStyle/>
          <a:p>
            <a:pPr lvl="1" indent="0" algn="l"/>
            <a:r>
              <a:rPr lang="en-US" altLang="zh-CN" sz="1800" i="1" dirty="0">
                <a:latin typeface="Courier New" panose="02070309020205020404" charset="0"/>
              </a:rPr>
              <a:t>result </a:t>
            </a:r>
            <a:r>
              <a:rPr lang="en-US" altLang="zh-CN" sz="1800" dirty="0">
                <a:latin typeface="Courier New" panose="02070309020205020404" charset="0"/>
              </a:rPr>
              <a:t>= </a:t>
            </a:r>
            <a:r>
              <a:rPr lang="en-US" altLang="zh-CN" sz="1800" dirty="0">
                <a:latin typeface="Courier New" panose="02070309020205020404" charset="0"/>
                <a:sym typeface="Symbol" panose="05050102010706020507" charset="2"/>
              </a:rPr>
              <a:t></a:t>
            </a:r>
            <a:br>
              <a:rPr lang="en-US" altLang="zh-CN" sz="1800" dirty="0">
                <a:latin typeface="Courier New" panose="02070309020205020404" charset="0"/>
                <a:sym typeface="Symbol" panose="05050102010706020507" charset="2"/>
              </a:rPr>
            </a:br>
            <a:r>
              <a:rPr lang="en-US" altLang="zh-CN" sz="1800" b="1" dirty="0">
                <a:latin typeface="Courier New" panose="02070309020205020404" charset="0"/>
                <a:sym typeface="Symbol" panose="05050102010706020507" charset="2"/>
              </a:rPr>
              <a:t>while</a:t>
            </a:r>
            <a:r>
              <a:rPr lang="en-US" altLang="zh-CN" sz="1800" dirty="0">
                <a:latin typeface="Courier New" panose="02070309020205020404" charset="0"/>
                <a:sym typeface="Symbol" panose="05050102010706020507" charset="2"/>
              </a:rPr>
              <a:t> (changes to </a:t>
            </a:r>
            <a:r>
              <a:rPr lang="en-US" altLang="zh-CN" sz="1800" i="1" dirty="0">
                <a:latin typeface="Courier New" panose="02070309020205020404" charset="0"/>
                <a:sym typeface="Symbol" panose="05050102010706020507" charset="2"/>
              </a:rPr>
              <a:t>result</a:t>
            </a:r>
            <a:r>
              <a:rPr lang="en-US" altLang="zh-CN" sz="1800" dirty="0">
                <a:latin typeface="Courier New" panose="02070309020205020404" charset="0"/>
                <a:sym typeface="Symbol" panose="05050102010706020507" charset="2"/>
              </a:rPr>
              <a:t>) do</a:t>
            </a:r>
            <a:br>
              <a:rPr lang="en-US" altLang="zh-CN" sz="1800" dirty="0">
                <a:latin typeface="Courier New" panose="02070309020205020404" charset="0"/>
                <a:sym typeface="Symbol" panose="05050102010706020507" charset="2"/>
              </a:rPr>
            </a:br>
            <a:r>
              <a:rPr lang="en-US" altLang="zh-CN" sz="1800" dirty="0">
                <a:latin typeface="Courier New" panose="02070309020205020404" charset="0"/>
                <a:sym typeface="Symbol" panose="05050102010706020507" charset="2"/>
              </a:rPr>
              <a:t>	</a:t>
            </a:r>
            <a:r>
              <a:rPr lang="en-US" altLang="zh-CN" sz="1800" b="1" dirty="0">
                <a:latin typeface="Courier New" panose="02070309020205020404" charset="0"/>
                <a:sym typeface="Symbol" panose="05050102010706020507" charset="2"/>
              </a:rPr>
              <a:t>for each</a:t>
            </a:r>
            <a:r>
              <a:rPr lang="en-US" altLang="zh-CN" sz="1800" dirty="0">
                <a:latin typeface="Courier New" panose="02070309020205020404" charset="0"/>
                <a:sym typeface="Symbol" panose="05050102010706020507" charset="2"/>
              </a:rPr>
              <a:t> </a:t>
            </a:r>
            <a:r>
              <a:rPr lang="en-US" altLang="zh-CN" sz="1800" i="1" dirty="0">
                <a:latin typeface="Courier New" panose="02070309020205020404" charset="0"/>
                <a:sym typeface="Symbol" panose="05050102010706020507" charset="2"/>
              </a:rPr>
              <a:t>R</a:t>
            </a:r>
            <a:r>
              <a:rPr lang="en-US" altLang="zh-CN" sz="1800" i="1" baseline="-25000" dirty="0">
                <a:latin typeface="Courier New" panose="02070309020205020404" charset="0"/>
                <a:sym typeface="Symbol" panose="05050102010706020507" charset="2"/>
              </a:rPr>
              <a:t>i</a:t>
            </a:r>
            <a:r>
              <a:rPr lang="en-US" altLang="zh-CN" sz="1800" i="1" dirty="0">
                <a:latin typeface="Courier New" panose="02070309020205020404" charset="0"/>
                <a:sym typeface="Symbol" panose="05050102010706020507" charset="2"/>
              </a:rPr>
              <a:t> </a:t>
            </a:r>
            <a:r>
              <a:rPr lang="en-US" altLang="zh-CN" sz="1800" dirty="0">
                <a:latin typeface="Courier New" panose="02070309020205020404" charset="0"/>
                <a:sym typeface="Symbol" panose="05050102010706020507" charset="2"/>
              </a:rPr>
              <a:t>in the decomposition</a:t>
            </a:r>
            <a:br>
              <a:rPr lang="en-US" altLang="zh-CN" sz="1800" dirty="0">
                <a:latin typeface="Courier New" panose="02070309020205020404" charset="0"/>
                <a:sym typeface="Symbol" panose="05050102010706020507" charset="2"/>
              </a:rPr>
            </a:br>
            <a:r>
              <a:rPr lang="en-US" altLang="zh-CN" sz="1800" dirty="0">
                <a:latin typeface="Courier New" panose="02070309020205020404" charset="0"/>
                <a:sym typeface="Symbol" panose="05050102010706020507" charset="2"/>
              </a:rPr>
              <a:t>		</a:t>
            </a:r>
            <a:r>
              <a:rPr lang="en-US" altLang="zh-CN" sz="1800" i="1" dirty="0">
                <a:latin typeface="Courier New" panose="02070309020205020404" charset="0"/>
                <a:sym typeface="Symbol" panose="05050102010706020507" charset="2"/>
              </a:rPr>
              <a:t>t</a:t>
            </a:r>
            <a:r>
              <a:rPr lang="en-US" altLang="zh-CN" sz="1800" dirty="0">
                <a:latin typeface="Courier New" panose="02070309020205020404" charset="0"/>
                <a:sym typeface="Symbol" panose="05050102010706020507" charset="2"/>
              </a:rPr>
              <a:t> = (</a:t>
            </a:r>
            <a:r>
              <a:rPr lang="en-US" altLang="zh-CN" sz="1800" i="1" dirty="0">
                <a:latin typeface="Courier New" panose="02070309020205020404" charset="0"/>
                <a:sym typeface="Symbol" panose="05050102010706020507" charset="2"/>
              </a:rPr>
              <a:t>result </a:t>
            </a:r>
            <a:r>
              <a:rPr lang="en-US" altLang="zh-CN" sz="1800" dirty="0">
                <a:latin typeface="Courier New" panose="02070309020205020404" charset="0"/>
                <a:sym typeface="Symbol" panose="05050102010706020507" charset="2"/>
              </a:rPr>
              <a:t> </a:t>
            </a:r>
            <a:r>
              <a:rPr lang="en-US" altLang="zh-CN" sz="1800" i="1" dirty="0">
                <a:latin typeface="Courier New" panose="02070309020205020404" charset="0"/>
                <a:sym typeface="Symbol" panose="05050102010706020507" charset="2"/>
              </a:rPr>
              <a:t>R</a:t>
            </a:r>
            <a:r>
              <a:rPr lang="en-US" altLang="zh-CN" sz="1800" i="1" baseline="-25000" dirty="0">
                <a:latin typeface="Courier New" panose="02070309020205020404" charset="0"/>
                <a:sym typeface="Symbol" panose="05050102010706020507" charset="2"/>
              </a:rPr>
              <a:t>i</a:t>
            </a:r>
            <a:r>
              <a:rPr lang="en-US" altLang="zh-CN" sz="1800" dirty="0">
                <a:latin typeface="Courier New" panose="02070309020205020404" charset="0"/>
                <a:sym typeface="Symbol" panose="05050102010706020507" charset="2"/>
              </a:rPr>
              <a:t>)</a:t>
            </a:r>
            <a:r>
              <a:rPr lang="en-US" altLang="zh-CN" sz="1800" baseline="30000" dirty="0">
                <a:latin typeface="Courier New" panose="02070309020205020404" charset="0"/>
                <a:sym typeface="Symbol" panose="05050102010706020507" charset="2"/>
              </a:rPr>
              <a:t>+ </a:t>
            </a:r>
            <a:r>
              <a:rPr lang="en-US" altLang="zh-CN" sz="1800" dirty="0">
                <a:latin typeface="Courier New" panose="02070309020205020404" charset="0"/>
                <a:sym typeface="Symbol" panose="05050102010706020507" charset="2"/>
              </a:rPr>
              <a:t> </a:t>
            </a:r>
            <a:r>
              <a:rPr lang="en-US" altLang="zh-CN" sz="1800" i="1" dirty="0">
                <a:latin typeface="Courier New" panose="02070309020205020404" charset="0"/>
                <a:sym typeface="Symbol" panose="05050102010706020507" charset="2"/>
              </a:rPr>
              <a:t>R</a:t>
            </a:r>
            <a:r>
              <a:rPr lang="en-US" altLang="zh-CN" sz="1800" i="1" baseline="-25000" dirty="0">
                <a:latin typeface="Courier New" panose="02070309020205020404" charset="0"/>
                <a:sym typeface="Symbol" panose="05050102010706020507" charset="2"/>
              </a:rPr>
              <a:t>i</a:t>
            </a:r>
            <a:br>
              <a:rPr lang="en-US" altLang="zh-CN" sz="1800" i="1" baseline="-25000" dirty="0">
                <a:latin typeface="Courier New" panose="02070309020205020404" charset="0"/>
                <a:sym typeface="Symbol" panose="05050102010706020507" charset="2"/>
              </a:rPr>
            </a:br>
            <a:r>
              <a:rPr lang="en-US" altLang="zh-CN" sz="1800" i="1" baseline="-25000" dirty="0">
                <a:latin typeface="Courier New" panose="02070309020205020404" charset="0"/>
                <a:sym typeface="Symbol" panose="05050102010706020507" charset="2"/>
              </a:rPr>
              <a:t>		</a:t>
            </a:r>
            <a:r>
              <a:rPr lang="en-US" altLang="zh-CN" sz="1800" i="1" dirty="0">
                <a:latin typeface="Courier New" panose="02070309020205020404" charset="0"/>
                <a:sym typeface="Symbol" panose="05050102010706020507" charset="2"/>
              </a:rPr>
              <a:t>result  =  result  </a:t>
            </a:r>
            <a:r>
              <a:rPr lang="en-US" altLang="zh-CN" sz="1800" dirty="0">
                <a:latin typeface="Courier New" panose="02070309020205020404" charset="0"/>
                <a:sym typeface="Symbol" panose="05050102010706020507" charset="2"/>
              </a:rPr>
              <a:t> </a:t>
            </a:r>
            <a:r>
              <a:rPr lang="en-US" altLang="zh-CN" sz="1800" i="1" dirty="0">
                <a:latin typeface="Courier New" panose="02070309020205020404" charset="0"/>
                <a:sym typeface="Symbol" panose="05050102010706020507" charset="2"/>
              </a:rPr>
              <a:t>t</a:t>
            </a:r>
          </a:p>
          <a:p>
            <a:pPr lvl="1" indent="0" algn="l"/>
            <a:r>
              <a:rPr lang="en-US" altLang="zh-CN" sz="1800" dirty="0">
                <a:latin typeface="Courier New" panose="02070309020205020404" charset="0"/>
                <a:sym typeface="Symbol" panose="05050102010706020507" charset="2"/>
              </a:rPr>
              <a:t>If </a:t>
            </a:r>
            <a:r>
              <a:rPr lang="en-US" altLang="zh-CN" sz="1800" i="1" dirty="0">
                <a:latin typeface="Courier New" panose="02070309020205020404" charset="0"/>
                <a:sym typeface="Symbol" panose="05050102010706020507" charset="2"/>
              </a:rPr>
              <a:t>result</a:t>
            </a:r>
            <a:r>
              <a:rPr lang="en-US" altLang="zh-CN" sz="1800" dirty="0">
                <a:latin typeface="Courier New" panose="02070309020205020404" charset="0"/>
                <a:sym typeface="Symbol" panose="05050102010706020507" charset="2"/>
              </a:rPr>
              <a:t> contains all attributes in , then the functional dependency    is preserved.</a:t>
            </a:r>
          </a:p>
          <a:p>
            <a:endParaRPr lang="zh-CN" altLang="en-US" sz="1800">
              <a:latin typeface="Courier New" panose="02070309020205020404"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noProof="1">
                <a:effectLst>
                  <a:outerShdw blurRad="38100" dist="38100" dir="2700000">
                    <a:srgbClr val="C0C0C0"/>
                  </a:outerShdw>
                </a:effectLst>
              </a:rPr>
              <a:t>Example</a:t>
            </a:r>
            <a:endParaRPr lang="zh-CN" altLang="en-US" dirty="0"/>
          </a:p>
        </p:txBody>
      </p:sp>
      <p:pic>
        <p:nvPicPr>
          <p:cNvPr id="6" name="内容占位符 5"/>
          <p:cNvPicPr>
            <a:picLocks noGrp="1" noChangeAspect="1"/>
          </p:cNvPicPr>
          <p:nvPr>
            <p:ph idx="1"/>
          </p:nvPr>
        </p:nvPicPr>
        <p:blipFill>
          <a:blip r:embed="rId2"/>
          <a:srcRect l="14438" t="57585" r="19892"/>
          <a:stretch>
            <a:fillRect/>
          </a:stretch>
        </p:blipFill>
        <p:spPr>
          <a:xfrm>
            <a:off x="193675" y="3129280"/>
            <a:ext cx="8804910" cy="3197225"/>
          </a:xfrm>
          <a:prstGeom prst="rect">
            <a:avLst/>
          </a:prstGeom>
        </p:spPr>
      </p:pic>
      <p:sp>
        <p:nvSpPr>
          <p:cNvPr id="104451" name="文本框 1"/>
          <p:cNvSpPr txBox="1"/>
          <p:nvPr/>
        </p:nvSpPr>
        <p:spPr>
          <a:xfrm>
            <a:off x="493713" y="815314"/>
            <a:ext cx="8223250" cy="2306955"/>
          </a:xfrm>
          <a:prstGeom prst="rect">
            <a:avLst/>
          </a:prstGeom>
          <a:noFill/>
          <a:ln w="19050" cap="flat" cmpd="sng">
            <a:solidFill>
              <a:srgbClr val="7030A0"/>
            </a:solidFill>
            <a:prstDash val="solid"/>
            <a:round/>
            <a:headEnd type="none" w="med" len="med"/>
            <a:tailEnd type="none" w="med" len="med"/>
          </a:ln>
        </p:spPr>
        <p:txBody>
          <a:bodyPr wrap="square" anchor="t">
            <a:spAutoFit/>
          </a:bodyPr>
          <a:lstStyle/>
          <a:p>
            <a:pPr lvl="1" indent="0" algn="l"/>
            <a:r>
              <a:rPr lang="en-US" altLang="zh-CN" sz="1800" i="1" dirty="0">
                <a:latin typeface="Courier New" panose="02070309020205020404" charset="0"/>
              </a:rPr>
              <a:t>result </a:t>
            </a:r>
            <a:r>
              <a:rPr lang="en-US" altLang="zh-CN" sz="1800" dirty="0">
                <a:latin typeface="Courier New" panose="02070309020205020404" charset="0"/>
              </a:rPr>
              <a:t>= </a:t>
            </a:r>
            <a:r>
              <a:rPr lang="en-US" altLang="zh-CN" sz="1800" dirty="0">
                <a:latin typeface="Courier New" panose="02070309020205020404" charset="0"/>
                <a:sym typeface="Symbol" panose="05050102010706020507" charset="2"/>
              </a:rPr>
              <a:t></a:t>
            </a:r>
            <a:br>
              <a:rPr lang="en-US" altLang="zh-CN" sz="1800" dirty="0">
                <a:latin typeface="Courier New" panose="02070309020205020404" charset="0"/>
                <a:sym typeface="Symbol" panose="05050102010706020507" charset="2"/>
              </a:rPr>
            </a:br>
            <a:r>
              <a:rPr lang="en-US" altLang="zh-CN" sz="1800" b="1" dirty="0">
                <a:latin typeface="Courier New" panose="02070309020205020404" charset="0"/>
                <a:sym typeface="Symbol" panose="05050102010706020507" charset="2"/>
              </a:rPr>
              <a:t>while</a:t>
            </a:r>
            <a:r>
              <a:rPr lang="en-US" altLang="zh-CN" sz="1800" dirty="0">
                <a:latin typeface="Courier New" panose="02070309020205020404" charset="0"/>
                <a:sym typeface="Symbol" panose="05050102010706020507" charset="2"/>
              </a:rPr>
              <a:t> (changes to </a:t>
            </a:r>
            <a:r>
              <a:rPr lang="en-US" altLang="zh-CN" sz="1800" i="1" dirty="0">
                <a:latin typeface="Courier New" panose="02070309020205020404" charset="0"/>
                <a:sym typeface="Symbol" panose="05050102010706020507" charset="2"/>
              </a:rPr>
              <a:t>result</a:t>
            </a:r>
            <a:r>
              <a:rPr lang="en-US" altLang="zh-CN" sz="1800" dirty="0">
                <a:latin typeface="Courier New" panose="02070309020205020404" charset="0"/>
                <a:sym typeface="Symbol" panose="05050102010706020507" charset="2"/>
              </a:rPr>
              <a:t>) do</a:t>
            </a:r>
            <a:br>
              <a:rPr lang="en-US" altLang="zh-CN" sz="1800" dirty="0">
                <a:latin typeface="Courier New" panose="02070309020205020404" charset="0"/>
                <a:sym typeface="Symbol" panose="05050102010706020507" charset="2"/>
              </a:rPr>
            </a:br>
            <a:r>
              <a:rPr lang="en-US" altLang="zh-CN" sz="1800" dirty="0">
                <a:latin typeface="Courier New" panose="02070309020205020404" charset="0"/>
                <a:sym typeface="Symbol" panose="05050102010706020507" charset="2"/>
              </a:rPr>
              <a:t>	</a:t>
            </a:r>
            <a:r>
              <a:rPr lang="en-US" altLang="zh-CN" sz="1800" b="1" dirty="0">
                <a:latin typeface="Courier New" panose="02070309020205020404" charset="0"/>
                <a:sym typeface="Symbol" panose="05050102010706020507" charset="2"/>
              </a:rPr>
              <a:t>for each</a:t>
            </a:r>
            <a:r>
              <a:rPr lang="en-US" altLang="zh-CN" sz="1800" dirty="0">
                <a:latin typeface="Courier New" panose="02070309020205020404" charset="0"/>
                <a:sym typeface="Symbol" panose="05050102010706020507" charset="2"/>
              </a:rPr>
              <a:t> </a:t>
            </a:r>
            <a:r>
              <a:rPr lang="en-US" altLang="zh-CN" sz="1800" i="1" dirty="0">
                <a:latin typeface="Courier New" panose="02070309020205020404" charset="0"/>
                <a:sym typeface="Symbol" panose="05050102010706020507" charset="2"/>
              </a:rPr>
              <a:t>R</a:t>
            </a:r>
            <a:r>
              <a:rPr lang="en-US" altLang="zh-CN" sz="1800" i="1" baseline="-25000" dirty="0">
                <a:latin typeface="Courier New" panose="02070309020205020404" charset="0"/>
                <a:sym typeface="Symbol" panose="05050102010706020507" charset="2"/>
              </a:rPr>
              <a:t>i</a:t>
            </a:r>
            <a:r>
              <a:rPr lang="en-US" altLang="zh-CN" sz="1800" i="1" dirty="0">
                <a:latin typeface="Courier New" panose="02070309020205020404" charset="0"/>
                <a:sym typeface="Symbol" panose="05050102010706020507" charset="2"/>
              </a:rPr>
              <a:t> </a:t>
            </a:r>
            <a:r>
              <a:rPr lang="en-US" altLang="zh-CN" sz="1800" dirty="0">
                <a:latin typeface="Courier New" panose="02070309020205020404" charset="0"/>
                <a:sym typeface="Symbol" panose="05050102010706020507" charset="2"/>
              </a:rPr>
              <a:t>in the decomposition</a:t>
            </a:r>
            <a:br>
              <a:rPr lang="en-US" altLang="zh-CN" sz="1800" dirty="0">
                <a:latin typeface="Courier New" panose="02070309020205020404" charset="0"/>
                <a:sym typeface="Symbol" panose="05050102010706020507" charset="2"/>
              </a:rPr>
            </a:br>
            <a:r>
              <a:rPr lang="en-US" altLang="zh-CN" sz="1800" dirty="0">
                <a:latin typeface="Courier New" panose="02070309020205020404" charset="0"/>
                <a:sym typeface="Symbol" panose="05050102010706020507" charset="2"/>
              </a:rPr>
              <a:t>		</a:t>
            </a:r>
            <a:r>
              <a:rPr lang="en-US" altLang="zh-CN" sz="1800" i="1" dirty="0">
                <a:latin typeface="Courier New" panose="02070309020205020404" charset="0"/>
                <a:sym typeface="Symbol" panose="05050102010706020507" charset="2"/>
              </a:rPr>
              <a:t>t</a:t>
            </a:r>
            <a:r>
              <a:rPr lang="en-US" altLang="zh-CN" sz="1800" dirty="0">
                <a:latin typeface="Courier New" panose="02070309020205020404" charset="0"/>
                <a:sym typeface="Symbol" panose="05050102010706020507" charset="2"/>
              </a:rPr>
              <a:t> = (</a:t>
            </a:r>
            <a:r>
              <a:rPr lang="en-US" altLang="zh-CN" sz="1800" i="1" dirty="0">
                <a:latin typeface="Courier New" panose="02070309020205020404" charset="0"/>
                <a:sym typeface="Symbol" panose="05050102010706020507" charset="2"/>
              </a:rPr>
              <a:t>result </a:t>
            </a:r>
            <a:r>
              <a:rPr lang="en-US" altLang="zh-CN" sz="1800" dirty="0">
                <a:latin typeface="Courier New" panose="02070309020205020404" charset="0"/>
                <a:sym typeface="Symbol" panose="05050102010706020507" charset="2"/>
              </a:rPr>
              <a:t> </a:t>
            </a:r>
            <a:r>
              <a:rPr lang="en-US" altLang="zh-CN" sz="1800" i="1" dirty="0">
                <a:latin typeface="Courier New" panose="02070309020205020404" charset="0"/>
                <a:sym typeface="Symbol" panose="05050102010706020507" charset="2"/>
              </a:rPr>
              <a:t>R</a:t>
            </a:r>
            <a:r>
              <a:rPr lang="en-US" altLang="zh-CN" sz="1800" i="1" baseline="-25000" dirty="0">
                <a:latin typeface="Courier New" panose="02070309020205020404" charset="0"/>
                <a:sym typeface="Symbol" panose="05050102010706020507" charset="2"/>
              </a:rPr>
              <a:t>i</a:t>
            </a:r>
            <a:r>
              <a:rPr lang="en-US" altLang="zh-CN" sz="1800" dirty="0">
                <a:latin typeface="Courier New" panose="02070309020205020404" charset="0"/>
                <a:sym typeface="Symbol" panose="05050102010706020507" charset="2"/>
              </a:rPr>
              <a:t>)</a:t>
            </a:r>
            <a:r>
              <a:rPr lang="en-US" altLang="zh-CN" sz="1800" baseline="30000" dirty="0">
                <a:latin typeface="Courier New" panose="02070309020205020404" charset="0"/>
                <a:sym typeface="Symbol" panose="05050102010706020507" charset="2"/>
              </a:rPr>
              <a:t>+ </a:t>
            </a:r>
            <a:r>
              <a:rPr lang="en-US" altLang="zh-CN" sz="1800" dirty="0">
                <a:latin typeface="Courier New" panose="02070309020205020404" charset="0"/>
                <a:sym typeface="Symbol" panose="05050102010706020507" charset="2"/>
              </a:rPr>
              <a:t> </a:t>
            </a:r>
            <a:r>
              <a:rPr lang="en-US" altLang="zh-CN" sz="1800" i="1" dirty="0">
                <a:latin typeface="Courier New" panose="02070309020205020404" charset="0"/>
                <a:sym typeface="Symbol" panose="05050102010706020507" charset="2"/>
              </a:rPr>
              <a:t>R</a:t>
            </a:r>
            <a:r>
              <a:rPr lang="en-US" altLang="zh-CN" sz="1800" i="1" baseline="-25000" dirty="0">
                <a:latin typeface="Courier New" panose="02070309020205020404" charset="0"/>
                <a:sym typeface="Symbol" panose="05050102010706020507" charset="2"/>
              </a:rPr>
              <a:t>i</a:t>
            </a:r>
            <a:br>
              <a:rPr lang="en-US" altLang="zh-CN" sz="1800" i="1" baseline="-25000" dirty="0">
                <a:latin typeface="Courier New" panose="02070309020205020404" charset="0"/>
                <a:sym typeface="Symbol" panose="05050102010706020507" charset="2"/>
              </a:rPr>
            </a:br>
            <a:r>
              <a:rPr lang="en-US" altLang="zh-CN" sz="1800" i="1" baseline="-25000" dirty="0">
                <a:latin typeface="Courier New" panose="02070309020205020404" charset="0"/>
                <a:sym typeface="Symbol" panose="05050102010706020507" charset="2"/>
              </a:rPr>
              <a:t>		</a:t>
            </a:r>
            <a:r>
              <a:rPr lang="en-US" altLang="zh-CN" sz="1800" i="1" dirty="0">
                <a:latin typeface="Courier New" panose="02070309020205020404" charset="0"/>
                <a:sym typeface="Symbol" panose="05050102010706020507" charset="2"/>
              </a:rPr>
              <a:t>result  =  result  </a:t>
            </a:r>
            <a:r>
              <a:rPr lang="en-US" altLang="zh-CN" sz="1800" dirty="0">
                <a:latin typeface="Courier New" panose="02070309020205020404" charset="0"/>
                <a:sym typeface="Symbol" panose="05050102010706020507" charset="2"/>
              </a:rPr>
              <a:t> </a:t>
            </a:r>
            <a:r>
              <a:rPr lang="en-US" altLang="zh-CN" sz="1800" i="1" dirty="0">
                <a:latin typeface="Courier New" panose="02070309020205020404" charset="0"/>
                <a:sym typeface="Symbol" panose="05050102010706020507" charset="2"/>
              </a:rPr>
              <a:t>t</a:t>
            </a:r>
          </a:p>
          <a:p>
            <a:pPr lvl="1" indent="0" algn="l"/>
            <a:r>
              <a:rPr lang="en-US" altLang="zh-CN" sz="1800" dirty="0">
                <a:latin typeface="Courier New" panose="02070309020205020404" charset="0"/>
                <a:sym typeface="Symbol" panose="05050102010706020507" charset="2"/>
              </a:rPr>
              <a:t>If </a:t>
            </a:r>
            <a:r>
              <a:rPr lang="en-US" altLang="zh-CN" sz="1800" i="1" dirty="0">
                <a:latin typeface="Courier New" panose="02070309020205020404" charset="0"/>
                <a:sym typeface="Symbol" panose="05050102010706020507" charset="2"/>
              </a:rPr>
              <a:t>result</a:t>
            </a:r>
            <a:r>
              <a:rPr lang="en-US" altLang="zh-CN" sz="1800" dirty="0">
                <a:latin typeface="Courier New" panose="02070309020205020404" charset="0"/>
                <a:sym typeface="Symbol" panose="05050102010706020507" charset="2"/>
              </a:rPr>
              <a:t> contains all attributes in , then the functional dependency    is preserved.</a:t>
            </a:r>
          </a:p>
          <a:p>
            <a:endParaRPr lang="zh-CN" altLang="en-US" sz="1800">
              <a:latin typeface="Courier New" panose="02070309020205020404"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4210"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Testing for BCNF</a:t>
            </a:r>
          </a:p>
        </p:txBody>
      </p:sp>
      <p:sp>
        <p:nvSpPr>
          <p:cNvPr id="734211" name="Rectangle 3"/>
          <p:cNvSpPr>
            <a:spLocks noGrp="1"/>
          </p:cNvSpPr>
          <p:nvPr>
            <p:ph idx="1"/>
          </p:nvPr>
        </p:nvSpPr>
        <p:spPr>
          <a:xfrm>
            <a:off x="157163" y="1042988"/>
            <a:ext cx="8820150" cy="5270500"/>
          </a:xfrm>
        </p:spPr>
        <p:txBody>
          <a:bodyPr wrap="square" lIns="91440" tIns="45720" rIns="91440" bIns="45720" anchor="t"/>
          <a:lstStyle/>
          <a:p>
            <a:pPr>
              <a:lnSpc>
                <a:spcPct val="90000"/>
              </a:lnSpc>
            </a:pPr>
            <a:r>
              <a:rPr lang="en-US" altLang="zh-CN" sz="2000" dirty="0"/>
              <a:t>To check if a non-trivial dependency </a:t>
            </a:r>
            <a:r>
              <a:rPr lang="en-US" altLang="zh-CN" sz="2000" dirty="0">
                <a:sym typeface="Symbol" panose="05050102010706020507" charset="2"/>
              </a:rPr>
              <a:t></a:t>
            </a:r>
            <a:r>
              <a:rPr lang="en-US" altLang="zh-CN" sz="2000" i="1" dirty="0">
                <a:sym typeface="Symbol" panose="05050102010706020507" charset="2"/>
              </a:rPr>
              <a:t></a:t>
            </a:r>
            <a:r>
              <a:rPr lang="en-US" altLang="zh-CN" sz="2000" i="1" dirty="0">
                <a:sym typeface="Greek Symbols" pitchFamily="18" charset="2"/>
              </a:rPr>
              <a:t>  </a:t>
            </a:r>
            <a:r>
              <a:rPr lang="en-US" altLang="zh-CN" sz="2000" dirty="0"/>
              <a:t>causes a violation of BCNF</a:t>
            </a:r>
          </a:p>
          <a:p>
            <a:pPr lvl="1">
              <a:lnSpc>
                <a:spcPct val="90000"/>
              </a:lnSpc>
              <a:buNone/>
            </a:pPr>
            <a:r>
              <a:rPr lang="en-US" altLang="zh-CN" sz="2000" dirty="0"/>
              <a:t>1.  compute </a:t>
            </a:r>
            <a:r>
              <a:rPr lang="en-US" altLang="zh-CN" sz="2000" dirty="0">
                <a:sym typeface="Symbol" panose="05050102010706020507" charset="2"/>
              </a:rPr>
              <a:t></a:t>
            </a:r>
            <a:r>
              <a:rPr lang="en-US" altLang="zh-CN" sz="2000" baseline="30000" dirty="0"/>
              <a:t>+</a:t>
            </a:r>
            <a:r>
              <a:rPr lang="en-US" altLang="zh-CN" sz="2000" dirty="0"/>
              <a:t> (the attribute closure of </a:t>
            </a:r>
            <a:r>
              <a:rPr lang="en-US" altLang="zh-CN" sz="2000" dirty="0">
                <a:sym typeface="Symbol" panose="05050102010706020507" charset="2"/>
              </a:rPr>
              <a:t></a:t>
            </a:r>
            <a:r>
              <a:rPr lang="en-US" altLang="zh-CN" sz="2000" dirty="0"/>
              <a:t>), and </a:t>
            </a:r>
          </a:p>
          <a:p>
            <a:pPr lvl="1">
              <a:lnSpc>
                <a:spcPct val="90000"/>
              </a:lnSpc>
              <a:buNone/>
            </a:pPr>
            <a:r>
              <a:rPr lang="en-US" altLang="zh-CN" sz="2000" dirty="0"/>
              <a:t>2.  verify that it includes all attributes of </a:t>
            </a:r>
            <a:r>
              <a:rPr lang="en-US" altLang="zh-CN" sz="2000" i="1" dirty="0"/>
              <a:t>R</a:t>
            </a:r>
            <a:r>
              <a:rPr lang="en-US" altLang="zh-CN" sz="2000" dirty="0"/>
              <a:t>, that is, it is a superkey of </a:t>
            </a:r>
            <a:r>
              <a:rPr lang="en-US" altLang="zh-CN" sz="2000" i="1" dirty="0"/>
              <a:t>R</a:t>
            </a:r>
            <a:r>
              <a:rPr lang="en-US" altLang="zh-CN" sz="2000" dirty="0"/>
              <a:t>.</a:t>
            </a:r>
          </a:p>
          <a:p>
            <a:pPr>
              <a:lnSpc>
                <a:spcPct val="90000"/>
              </a:lnSpc>
            </a:pPr>
            <a:r>
              <a:rPr lang="en-US" altLang="zh-CN" sz="2000" b="1" dirty="0">
                <a:solidFill>
                  <a:srgbClr val="000099"/>
                </a:solidFill>
              </a:rPr>
              <a:t>Simplified test</a:t>
            </a:r>
            <a:r>
              <a:rPr lang="en-US" altLang="zh-CN" sz="2000" dirty="0"/>
              <a:t>: To check if a relation schema </a:t>
            </a:r>
            <a:r>
              <a:rPr lang="en-US" altLang="zh-CN" sz="2000" i="1" dirty="0"/>
              <a:t>R</a:t>
            </a:r>
            <a:r>
              <a:rPr lang="en-US" altLang="zh-CN" sz="2000" dirty="0"/>
              <a:t> is in BCNF, it suffices to check only the dependencies in the given set </a:t>
            </a:r>
            <a:r>
              <a:rPr lang="en-US" altLang="zh-CN" sz="2000" i="1" dirty="0"/>
              <a:t>F</a:t>
            </a:r>
            <a:r>
              <a:rPr lang="en-US" altLang="zh-CN" sz="2000" dirty="0"/>
              <a:t> for violation of BCNF, </a:t>
            </a:r>
            <a:r>
              <a:rPr lang="en-US" altLang="zh-CN" sz="2000" dirty="0">
                <a:solidFill>
                  <a:srgbClr val="C00000"/>
                </a:solidFill>
              </a:rPr>
              <a:t>rather than checking all dependencies in </a:t>
            </a:r>
            <a:r>
              <a:rPr lang="en-US" altLang="zh-CN" sz="2000" i="1" dirty="0">
                <a:solidFill>
                  <a:srgbClr val="C00000"/>
                </a:solidFill>
              </a:rPr>
              <a:t>F</a:t>
            </a:r>
            <a:r>
              <a:rPr lang="en-US" altLang="zh-CN" sz="2000" baseline="30000" dirty="0">
                <a:solidFill>
                  <a:srgbClr val="C00000"/>
                </a:solidFill>
              </a:rPr>
              <a:t>+</a:t>
            </a:r>
            <a:r>
              <a:rPr lang="en-US" altLang="zh-CN" sz="2000" dirty="0"/>
              <a:t>.</a:t>
            </a:r>
          </a:p>
          <a:p>
            <a:pPr lvl="1">
              <a:lnSpc>
                <a:spcPct val="90000"/>
              </a:lnSpc>
            </a:pPr>
            <a:r>
              <a:rPr lang="en-US" altLang="zh-CN" sz="2000" dirty="0"/>
              <a:t>If none of the dependencies in </a:t>
            </a:r>
            <a:r>
              <a:rPr lang="en-US" altLang="zh-CN" sz="2000" i="1" dirty="0"/>
              <a:t>F</a:t>
            </a:r>
            <a:r>
              <a:rPr lang="en-US" altLang="zh-CN" sz="2000" dirty="0"/>
              <a:t> causes a violation of BCNF, then none of the dependencies in </a:t>
            </a:r>
            <a:r>
              <a:rPr lang="en-US" altLang="zh-CN" sz="2000" i="1" dirty="0"/>
              <a:t>F</a:t>
            </a:r>
            <a:r>
              <a:rPr lang="en-US" altLang="zh-CN" sz="2000" baseline="30000" dirty="0"/>
              <a:t>+</a:t>
            </a:r>
            <a:r>
              <a:rPr lang="en-US" altLang="zh-CN" sz="2000" dirty="0"/>
              <a:t> will cause a violation of BCNF either.</a:t>
            </a:r>
          </a:p>
          <a:p>
            <a:pPr>
              <a:lnSpc>
                <a:spcPct val="90000"/>
              </a:lnSpc>
            </a:pPr>
            <a:r>
              <a:rPr lang="en-US" altLang="zh-CN" sz="2000" dirty="0"/>
              <a:t>However, </a:t>
            </a:r>
            <a:r>
              <a:rPr lang="en-US" altLang="zh-CN" sz="2000" b="1" dirty="0">
                <a:solidFill>
                  <a:srgbClr val="000099"/>
                </a:solidFill>
              </a:rPr>
              <a:t>simplified test using only </a:t>
            </a:r>
            <a:r>
              <a:rPr lang="en-US" altLang="zh-CN" sz="2000" b="1" i="1" dirty="0">
                <a:solidFill>
                  <a:srgbClr val="000099"/>
                </a:solidFill>
              </a:rPr>
              <a:t>F</a:t>
            </a:r>
            <a:r>
              <a:rPr lang="en-US" altLang="zh-CN" sz="2000" b="1" dirty="0">
                <a:solidFill>
                  <a:srgbClr val="000099"/>
                </a:solidFill>
              </a:rPr>
              <a:t> is</a:t>
            </a:r>
            <a:r>
              <a:rPr lang="en-US" altLang="zh-CN" sz="2000" dirty="0"/>
              <a:t> </a:t>
            </a:r>
            <a:r>
              <a:rPr lang="en-US" altLang="zh-CN" sz="2000" b="1" dirty="0">
                <a:solidFill>
                  <a:srgbClr val="000099"/>
                </a:solidFill>
              </a:rPr>
              <a:t>incorrect</a:t>
            </a:r>
            <a:r>
              <a:rPr lang="en-US" altLang="zh-CN" sz="2000" dirty="0"/>
              <a:t> </a:t>
            </a:r>
            <a:r>
              <a:rPr lang="en-US" altLang="zh-CN" sz="2000" b="1" dirty="0">
                <a:solidFill>
                  <a:srgbClr val="000099"/>
                </a:solidFill>
              </a:rPr>
              <a:t>when testing a relation in a decomposition of R</a:t>
            </a:r>
          </a:p>
          <a:p>
            <a:pPr lvl="1">
              <a:lnSpc>
                <a:spcPct val="90000"/>
              </a:lnSpc>
            </a:pPr>
            <a:r>
              <a:rPr lang="en-US" altLang="zh-CN" sz="2000" dirty="0"/>
              <a:t>Consider </a:t>
            </a:r>
            <a:r>
              <a:rPr lang="en-US" altLang="zh-CN" sz="2000" i="1" dirty="0"/>
              <a:t>R =</a:t>
            </a:r>
            <a:r>
              <a:rPr lang="en-US" altLang="zh-CN" sz="2000" dirty="0"/>
              <a:t> (</a:t>
            </a:r>
            <a:r>
              <a:rPr lang="en-US" altLang="zh-CN" sz="2000" i="1" dirty="0"/>
              <a:t>A, B, C, D, E</a:t>
            </a:r>
            <a:r>
              <a:rPr lang="en-US" altLang="zh-CN" sz="2000" dirty="0"/>
              <a:t>), with </a:t>
            </a:r>
            <a:r>
              <a:rPr lang="en-US" altLang="zh-CN" sz="2000" i="1" dirty="0"/>
              <a:t>F</a:t>
            </a:r>
            <a:r>
              <a:rPr lang="en-US" altLang="zh-CN" sz="2000" dirty="0"/>
              <a:t> = { </a:t>
            </a:r>
            <a:r>
              <a:rPr lang="en-US" altLang="zh-CN" sz="2000" i="1" dirty="0"/>
              <a:t>A </a:t>
            </a:r>
            <a:r>
              <a:rPr lang="en-US" altLang="zh-CN" sz="2000" i="1" dirty="0">
                <a:sym typeface="Symbol" panose="05050102010706020507" charset="2"/>
              </a:rPr>
              <a:t> </a:t>
            </a:r>
            <a:r>
              <a:rPr lang="en-US" altLang="zh-CN" sz="2000" i="1" dirty="0"/>
              <a:t>B, BC </a:t>
            </a:r>
            <a:r>
              <a:rPr lang="en-US" altLang="zh-CN" sz="2000" i="1" dirty="0">
                <a:sym typeface="Symbol" panose="05050102010706020507" charset="2"/>
              </a:rPr>
              <a:t> D</a:t>
            </a:r>
            <a:r>
              <a:rPr lang="en-US" altLang="zh-CN" sz="2000" dirty="0"/>
              <a:t>}</a:t>
            </a:r>
          </a:p>
          <a:p>
            <a:pPr lvl="2">
              <a:lnSpc>
                <a:spcPct val="90000"/>
              </a:lnSpc>
            </a:pPr>
            <a:r>
              <a:rPr lang="en-US" altLang="zh-CN" sz="2000" dirty="0"/>
              <a:t>Decompose </a:t>
            </a:r>
            <a:r>
              <a:rPr lang="en-US" altLang="zh-CN" sz="2000" i="1" dirty="0"/>
              <a:t>R</a:t>
            </a:r>
            <a:r>
              <a:rPr lang="en-US" altLang="zh-CN" sz="2000" dirty="0"/>
              <a:t> into </a:t>
            </a:r>
            <a:r>
              <a:rPr lang="en-US" altLang="zh-CN" sz="2000" i="1" dirty="0"/>
              <a:t>R</a:t>
            </a:r>
            <a:r>
              <a:rPr lang="en-US" altLang="zh-CN" sz="2000" baseline="-25000" dirty="0"/>
              <a:t>1 </a:t>
            </a:r>
            <a:r>
              <a:rPr lang="en-US" altLang="zh-CN" sz="2000" dirty="0"/>
              <a:t>=</a:t>
            </a:r>
            <a:r>
              <a:rPr lang="en-US" altLang="zh-CN" sz="2000" baseline="-25000" dirty="0"/>
              <a:t> </a:t>
            </a:r>
            <a:r>
              <a:rPr lang="en-US" altLang="zh-CN" sz="2000" dirty="0"/>
              <a:t>(</a:t>
            </a:r>
            <a:r>
              <a:rPr lang="en-US" altLang="zh-CN" sz="2000" i="1" dirty="0"/>
              <a:t>A,B</a:t>
            </a:r>
            <a:r>
              <a:rPr lang="en-US" altLang="zh-CN" sz="2000" dirty="0"/>
              <a:t>) and </a:t>
            </a:r>
            <a:r>
              <a:rPr lang="en-US" altLang="zh-CN" sz="2000" i="1" dirty="0"/>
              <a:t>R</a:t>
            </a:r>
            <a:r>
              <a:rPr lang="en-US" altLang="zh-CN" sz="2000" baseline="-25000" dirty="0"/>
              <a:t>2 </a:t>
            </a:r>
            <a:r>
              <a:rPr lang="en-US" altLang="zh-CN" sz="2000" dirty="0"/>
              <a:t>=</a:t>
            </a:r>
            <a:r>
              <a:rPr lang="en-US" altLang="zh-CN" sz="2000" baseline="-25000" dirty="0"/>
              <a:t> </a:t>
            </a:r>
            <a:r>
              <a:rPr lang="en-US" altLang="zh-CN" sz="2000" dirty="0"/>
              <a:t>(</a:t>
            </a:r>
            <a:r>
              <a:rPr lang="en-US" altLang="zh-CN" sz="2000" i="1" dirty="0"/>
              <a:t>A,C,D, E</a:t>
            </a:r>
            <a:r>
              <a:rPr lang="en-US" altLang="zh-CN" sz="2000" dirty="0"/>
              <a:t>) </a:t>
            </a:r>
          </a:p>
          <a:p>
            <a:pPr lvl="2">
              <a:lnSpc>
                <a:spcPct val="90000"/>
              </a:lnSpc>
            </a:pPr>
            <a:r>
              <a:rPr lang="en-US" altLang="zh-CN" sz="2000" dirty="0"/>
              <a:t>Neither of the dependencies in </a:t>
            </a:r>
            <a:r>
              <a:rPr lang="en-US" altLang="zh-CN" sz="2000" i="1" dirty="0"/>
              <a:t>F</a:t>
            </a:r>
            <a:r>
              <a:rPr lang="en-US" altLang="zh-CN" sz="2000" dirty="0"/>
              <a:t> contain only attributes from</a:t>
            </a:r>
            <a:br>
              <a:rPr lang="en-US" altLang="zh-CN" sz="2000" dirty="0"/>
            </a:br>
            <a:r>
              <a:rPr lang="en-US" altLang="zh-CN" sz="2000" dirty="0"/>
              <a:t> </a:t>
            </a:r>
            <a:r>
              <a:rPr lang="en-US" altLang="zh-CN" sz="2000" dirty="0">
                <a:solidFill>
                  <a:srgbClr val="C00000"/>
                </a:solidFill>
              </a:rPr>
              <a:t>(</a:t>
            </a:r>
            <a:r>
              <a:rPr lang="en-US" altLang="zh-CN" sz="2000" i="1" dirty="0">
                <a:solidFill>
                  <a:srgbClr val="C00000"/>
                </a:solidFill>
              </a:rPr>
              <a:t>A,C,D,E</a:t>
            </a:r>
            <a:r>
              <a:rPr lang="en-US" altLang="zh-CN" sz="2000" dirty="0">
                <a:solidFill>
                  <a:srgbClr val="C00000"/>
                </a:solidFill>
              </a:rPr>
              <a:t>) </a:t>
            </a:r>
            <a:r>
              <a:rPr lang="en-US" altLang="zh-CN" sz="2000" dirty="0"/>
              <a:t>so we might be mislead into thinking </a:t>
            </a:r>
            <a:r>
              <a:rPr lang="en-US" altLang="zh-CN" sz="2000" i="1" dirty="0"/>
              <a:t>R</a:t>
            </a:r>
            <a:r>
              <a:rPr lang="en-US" altLang="zh-CN" sz="2000" baseline="-25000" dirty="0"/>
              <a:t>2</a:t>
            </a:r>
            <a:r>
              <a:rPr lang="en-US" altLang="zh-CN" sz="2000" dirty="0"/>
              <a:t> satisfies BCNF.  </a:t>
            </a:r>
          </a:p>
          <a:p>
            <a:pPr lvl="2">
              <a:lnSpc>
                <a:spcPct val="90000"/>
              </a:lnSpc>
            </a:pPr>
            <a:r>
              <a:rPr lang="en-US" altLang="zh-CN" sz="2000" dirty="0"/>
              <a:t>In fact, dependency </a:t>
            </a:r>
            <a:r>
              <a:rPr lang="en-US" altLang="zh-CN" sz="2000" i="1" dirty="0"/>
              <a:t>AC</a:t>
            </a:r>
            <a:r>
              <a:rPr lang="en-US" altLang="zh-CN" sz="2000" dirty="0"/>
              <a:t> </a:t>
            </a:r>
            <a:r>
              <a:rPr lang="en-US" altLang="zh-CN" sz="2000" dirty="0">
                <a:sym typeface="Symbol" panose="05050102010706020507" charset="2"/>
              </a:rPr>
              <a:t></a:t>
            </a:r>
            <a:r>
              <a:rPr lang="en-US" altLang="zh-CN" sz="2000" dirty="0"/>
              <a:t> </a:t>
            </a:r>
            <a:r>
              <a:rPr lang="en-US" altLang="zh-CN" sz="2000" i="1" dirty="0"/>
              <a:t>D</a:t>
            </a:r>
            <a:r>
              <a:rPr lang="en-US" altLang="zh-CN" sz="2000" dirty="0"/>
              <a:t> in </a:t>
            </a:r>
            <a:r>
              <a:rPr lang="en-US" altLang="zh-CN" sz="2000" i="1" dirty="0"/>
              <a:t>F</a:t>
            </a:r>
            <a:r>
              <a:rPr lang="en-US" altLang="zh-CN" sz="2000" baseline="30000" dirty="0"/>
              <a:t>+</a:t>
            </a:r>
            <a:r>
              <a:rPr lang="en-US" altLang="zh-CN" sz="2000" dirty="0"/>
              <a:t> shows </a:t>
            </a:r>
            <a:r>
              <a:rPr lang="en-US" altLang="zh-CN" sz="2000" i="1" dirty="0"/>
              <a:t>R</a:t>
            </a:r>
            <a:r>
              <a:rPr lang="en-US" altLang="zh-CN" sz="2000" baseline="-25000" dirty="0"/>
              <a:t>2</a:t>
            </a:r>
            <a:r>
              <a:rPr lang="en-US" altLang="zh-CN" sz="2000" dirty="0"/>
              <a:t> is not in BCNF. </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258"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6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Testing Decomposition for BCNF</a:t>
            </a:r>
          </a:p>
        </p:txBody>
      </p:sp>
      <p:sp>
        <p:nvSpPr>
          <p:cNvPr id="108546" name="Rectangle 3"/>
          <p:cNvSpPr>
            <a:spLocks noGrp="1"/>
          </p:cNvSpPr>
          <p:nvPr>
            <p:ph idx="1"/>
          </p:nvPr>
        </p:nvSpPr>
        <p:spPr>
          <a:xfrm>
            <a:off x="111125" y="1163638"/>
            <a:ext cx="8861425" cy="5256212"/>
          </a:xfrm>
        </p:spPr>
        <p:txBody>
          <a:bodyPr wrap="square" lIns="91440" tIns="45720" rIns="91440" bIns="45720" anchor="t"/>
          <a:lstStyle/>
          <a:p>
            <a:r>
              <a:rPr lang="en-US" altLang="zh-CN" sz="2000" dirty="0"/>
              <a:t>To check if a relation </a:t>
            </a:r>
            <a:r>
              <a:rPr lang="en-US" altLang="zh-CN" sz="2000" i="1" dirty="0"/>
              <a:t>R</a:t>
            </a:r>
            <a:r>
              <a:rPr lang="en-US" altLang="zh-CN" sz="2000" i="1" baseline="-25000" dirty="0"/>
              <a:t>i</a:t>
            </a:r>
            <a:r>
              <a:rPr lang="en-US" altLang="zh-CN" sz="2000" dirty="0"/>
              <a:t> in a decomposition of </a:t>
            </a:r>
            <a:r>
              <a:rPr lang="en-US" altLang="zh-CN" sz="2000" i="1" dirty="0"/>
              <a:t>R</a:t>
            </a:r>
            <a:r>
              <a:rPr lang="en-US" altLang="zh-CN" sz="2000" dirty="0"/>
              <a:t> is in BCNF, </a:t>
            </a:r>
          </a:p>
          <a:p>
            <a:pPr lvl="1"/>
            <a:r>
              <a:rPr lang="en-US" altLang="zh-CN" sz="2000" dirty="0"/>
              <a:t>Either test R</a:t>
            </a:r>
            <a:r>
              <a:rPr lang="en-US" altLang="zh-CN" sz="2000" baseline="-25000" dirty="0"/>
              <a:t>i </a:t>
            </a:r>
            <a:r>
              <a:rPr lang="en-US" altLang="zh-CN" sz="2000" dirty="0"/>
              <a:t>for BCNF with respect to the </a:t>
            </a:r>
            <a:r>
              <a:rPr lang="en-US" altLang="zh-CN" sz="2000" b="1" dirty="0">
                <a:solidFill>
                  <a:srgbClr val="000099"/>
                </a:solidFill>
              </a:rPr>
              <a:t>restriction</a:t>
            </a:r>
            <a:r>
              <a:rPr lang="en-US" altLang="zh-CN" sz="2000" dirty="0"/>
              <a:t> of F to R</a:t>
            </a:r>
            <a:r>
              <a:rPr lang="en-US" altLang="zh-CN" sz="2000" baseline="-25000" dirty="0"/>
              <a:t>i</a:t>
            </a:r>
            <a:r>
              <a:rPr lang="en-US" altLang="zh-CN" sz="2000" dirty="0"/>
              <a:t>  (that is, all FDs in F</a:t>
            </a:r>
            <a:r>
              <a:rPr lang="en-US" altLang="zh-CN" sz="2000" baseline="30000" dirty="0"/>
              <a:t>+</a:t>
            </a:r>
            <a:r>
              <a:rPr lang="en-US" altLang="zh-CN" sz="2000" dirty="0"/>
              <a:t> that contain only attributes from R</a:t>
            </a:r>
            <a:r>
              <a:rPr lang="en-US" altLang="zh-CN" sz="2000" baseline="-25000" dirty="0"/>
              <a:t>i</a:t>
            </a:r>
            <a:r>
              <a:rPr lang="en-US" altLang="zh-CN" sz="2000" dirty="0"/>
              <a:t>)</a:t>
            </a:r>
          </a:p>
          <a:p>
            <a:pPr lvl="1"/>
            <a:r>
              <a:rPr lang="en-US" altLang="zh-CN" sz="2000" dirty="0"/>
              <a:t>or </a:t>
            </a:r>
            <a:r>
              <a:rPr lang="en-US" altLang="zh-CN" sz="2000" b="1" i="1" u="sng" dirty="0">
                <a:solidFill>
                  <a:srgbClr val="C00000"/>
                </a:solidFill>
              </a:rPr>
              <a:t>use the original set of dependencies F </a:t>
            </a:r>
            <a:r>
              <a:rPr lang="en-US" altLang="zh-CN" sz="2000" dirty="0"/>
              <a:t>that hold on </a:t>
            </a:r>
            <a:r>
              <a:rPr lang="en-US" altLang="zh-CN" sz="2000" i="1" dirty="0"/>
              <a:t>R</a:t>
            </a:r>
            <a:r>
              <a:rPr lang="en-US" altLang="zh-CN" sz="2000" dirty="0"/>
              <a:t>, but with the following test: </a:t>
            </a:r>
            <a:r>
              <a:rPr lang="zh-CN" altLang="en-US" sz="2000" dirty="0">
                <a:solidFill>
                  <a:srgbClr val="0070C0"/>
                </a:solidFill>
              </a:rPr>
              <a:t>按照</a:t>
            </a:r>
            <a:r>
              <a:rPr lang="en-US" altLang="zh-CN" sz="2000" dirty="0">
                <a:solidFill>
                  <a:srgbClr val="0070C0"/>
                </a:solidFill>
              </a:rPr>
              <a:t>BCNF</a:t>
            </a:r>
            <a:r>
              <a:rPr lang="zh-CN" altLang="en-US" sz="2000" dirty="0">
                <a:solidFill>
                  <a:srgbClr val="0070C0"/>
                </a:solidFill>
              </a:rPr>
              <a:t>的定义判断</a:t>
            </a:r>
            <a:r>
              <a:rPr lang="en-US" altLang="zh-CN" sz="2000" i="1" dirty="0">
                <a:solidFill>
                  <a:srgbClr val="0070C0"/>
                </a:solidFill>
                <a:sym typeface="+mn-ea"/>
              </a:rPr>
              <a:t>R</a:t>
            </a:r>
            <a:r>
              <a:rPr lang="en-US" altLang="zh-CN" sz="2000" i="1" baseline="-25000" dirty="0">
                <a:solidFill>
                  <a:srgbClr val="0070C0"/>
                </a:solidFill>
                <a:sym typeface="+mn-ea"/>
              </a:rPr>
              <a:t>i</a:t>
            </a:r>
            <a:r>
              <a:rPr lang="en-US" altLang="zh-CN" sz="2000" dirty="0">
                <a:solidFill>
                  <a:srgbClr val="0070C0"/>
                </a:solidFill>
                <a:sym typeface="+mn-ea"/>
              </a:rPr>
              <a:t> </a:t>
            </a:r>
            <a:r>
              <a:rPr lang="zh-CN" altLang="en-US" sz="2000" dirty="0">
                <a:solidFill>
                  <a:srgbClr val="0070C0"/>
                </a:solidFill>
              </a:rPr>
              <a:t>是否违反</a:t>
            </a:r>
            <a:r>
              <a:rPr lang="en-US" altLang="zh-CN" sz="2000" dirty="0">
                <a:solidFill>
                  <a:srgbClr val="0070C0"/>
                </a:solidFill>
              </a:rPr>
              <a:t>BCNF</a:t>
            </a:r>
            <a:r>
              <a:rPr lang="zh-CN" altLang="en-US" sz="2000" dirty="0">
                <a:solidFill>
                  <a:srgbClr val="0070C0"/>
                </a:solidFill>
              </a:rPr>
              <a:t>的定义</a:t>
            </a:r>
            <a:endParaRPr lang="en-US" altLang="zh-CN" sz="2000" dirty="0">
              <a:solidFill>
                <a:srgbClr val="0070C0"/>
              </a:solidFill>
            </a:endParaRPr>
          </a:p>
          <a:p>
            <a:pPr lvl="3"/>
            <a:r>
              <a:rPr lang="en-US" altLang="zh-CN" sz="2000" dirty="0"/>
              <a:t>for every set of attributes </a:t>
            </a:r>
            <a:r>
              <a:rPr lang="en-US" altLang="zh-CN" sz="2000" dirty="0">
                <a:sym typeface="Symbol" panose="05050102010706020507" charset="2"/>
              </a:rPr>
              <a:t>  </a:t>
            </a:r>
            <a:r>
              <a:rPr lang="en-US" altLang="zh-CN" sz="2000" i="1" dirty="0"/>
              <a:t>R</a:t>
            </a:r>
            <a:r>
              <a:rPr lang="en-US" altLang="zh-CN" sz="2000" i="1" baseline="-25000" dirty="0"/>
              <a:t>i</a:t>
            </a:r>
            <a:r>
              <a:rPr lang="en-US" altLang="zh-CN" sz="2000" dirty="0"/>
              <a:t>, check that </a:t>
            </a:r>
            <a:r>
              <a:rPr lang="en-US" altLang="zh-CN" sz="2000" dirty="0">
                <a:sym typeface="Symbol" panose="05050102010706020507" charset="2"/>
              </a:rPr>
              <a:t></a:t>
            </a:r>
            <a:r>
              <a:rPr lang="en-US" altLang="zh-CN" sz="2000" baseline="30000" dirty="0"/>
              <a:t>+</a:t>
            </a:r>
            <a:r>
              <a:rPr lang="en-US" altLang="zh-CN" sz="2000" dirty="0"/>
              <a:t> (the attribute closure of </a:t>
            </a:r>
            <a:r>
              <a:rPr lang="en-US" altLang="zh-CN" sz="2000" dirty="0">
                <a:sym typeface="Symbol" panose="05050102010706020507" charset="2"/>
              </a:rPr>
              <a:t> </a:t>
            </a:r>
            <a:r>
              <a:rPr lang="en-US" altLang="zh-CN" sz="2000" b="1" i="1" dirty="0">
                <a:solidFill>
                  <a:srgbClr val="FF0000"/>
                </a:solidFill>
                <a:sym typeface="Symbol" panose="05050102010706020507" charset="2"/>
              </a:rPr>
              <a:t>in F</a:t>
            </a:r>
            <a:r>
              <a:rPr lang="en-US" altLang="zh-CN" sz="2000" dirty="0"/>
              <a:t>) either includes no attribute of </a:t>
            </a:r>
            <a:r>
              <a:rPr lang="en-US" altLang="zh-CN" sz="2000" i="1" dirty="0"/>
              <a:t>R</a:t>
            </a:r>
            <a:r>
              <a:rPr lang="en-US" altLang="zh-CN" sz="2000" i="1" baseline="-25000" dirty="0"/>
              <a:t>i</a:t>
            </a:r>
            <a:r>
              <a:rPr lang="en-US" altLang="zh-CN" sz="2000" dirty="0"/>
              <a:t>- </a:t>
            </a:r>
            <a:r>
              <a:rPr lang="en-US" altLang="zh-CN" sz="2000" dirty="0">
                <a:sym typeface="Symbol" panose="05050102010706020507" charset="2"/>
              </a:rPr>
              <a:t></a:t>
            </a:r>
            <a:r>
              <a:rPr lang="en-US" altLang="zh-CN" sz="2000" dirty="0"/>
              <a:t>, or includes all attributes of </a:t>
            </a:r>
            <a:r>
              <a:rPr lang="en-US" altLang="zh-CN" sz="2000" i="1" dirty="0"/>
              <a:t>R</a:t>
            </a:r>
            <a:r>
              <a:rPr lang="en-US" altLang="zh-CN" sz="2000" i="1" baseline="-25000" dirty="0"/>
              <a:t>i</a:t>
            </a:r>
            <a:r>
              <a:rPr lang="en-US" altLang="zh-CN" sz="2000" dirty="0"/>
              <a:t>.</a:t>
            </a:r>
          </a:p>
          <a:p>
            <a:pPr lvl="2"/>
            <a:r>
              <a:rPr lang="en-US" altLang="zh-CN" sz="2000" dirty="0"/>
              <a:t>If the condition is violated by some </a:t>
            </a:r>
            <a:r>
              <a:rPr lang="en-US" altLang="zh-CN" sz="2000" dirty="0">
                <a:sym typeface="Symbol" panose="05050102010706020507" charset="2"/>
              </a:rPr>
              <a:t> </a:t>
            </a:r>
            <a:r>
              <a:rPr lang="en-US" altLang="zh-CN" sz="2000" i="1" dirty="0">
                <a:sym typeface="Symbol" panose="05050102010706020507" charset="2"/>
              </a:rPr>
              <a:t></a:t>
            </a:r>
            <a:r>
              <a:rPr lang="en-US" altLang="zh-CN" sz="2000" dirty="0"/>
              <a:t>  in </a:t>
            </a:r>
            <a:r>
              <a:rPr lang="en-US" altLang="zh-CN" sz="2000" i="1" dirty="0"/>
              <a:t>F</a:t>
            </a:r>
            <a:r>
              <a:rPr lang="en-US" altLang="zh-CN" sz="2000" dirty="0"/>
              <a:t>, the dependency</a:t>
            </a:r>
            <a:br>
              <a:rPr lang="en-US" altLang="zh-CN" sz="2000" dirty="0"/>
            </a:br>
            <a:r>
              <a:rPr lang="en-US" altLang="zh-CN" sz="2000" dirty="0"/>
              <a:t>      </a:t>
            </a:r>
            <a:r>
              <a:rPr lang="en-US" altLang="zh-CN" sz="2000" dirty="0">
                <a:sym typeface="Symbol" panose="05050102010706020507" charset="2"/>
              </a:rPr>
              <a:t> (</a:t>
            </a:r>
            <a:r>
              <a:rPr lang="en-US" altLang="zh-CN" sz="2000" baseline="30000" dirty="0">
                <a:sym typeface="Symbol" panose="05050102010706020507" charset="2"/>
              </a:rPr>
              <a:t>+ </a:t>
            </a:r>
            <a:r>
              <a:rPr lang="en-US" altLang="zh-CN" sz="2000" dirty="0">
                <a:sym typeface="Symbol" panose="05050102010706020507" charset="2"/>
              </a:rPr>
              <a:t>- )  </a:t>
            </a:r>
            <a:r>
              <a:rPr lang="en-US" altLang="zh-CN" sz="2000" i="1" dirty="0"/>
              <a:t>R</a:t>
            </a:r>
            <a:r>
              <a:rPr lang="en-US" altLang="zh-CN" sz="2000" i="1" baseline="-25000" dirty="0"/>
              <a:t>i</a:t>
            </a:r>
            <a:br>
              <a:rPr lang="en-US" altLang="zh-CN" sz="2000" baseline="30000" dirty="0"/>
            </a:br>
            <a:r>
              <a:rPr lang="en-US" altLang="zh-CN" sz="2000" dirty="0"/>
              <a:t>can be shown to hold on </a:t>
            </a:r>
            <a:r>
              <a:rPr lang="en-US" altLang="zh-CN" sz="2000" i="1" dirty="0"/>
              <a:t>R</a:t>
            </a:r>
            <a:r>
              <a:rPr lang="en-US" altLang="zh-CN" sz="2000" i="1" baseline="-25000" dirty="0"/>
              <a:t>i</a:t>
            </a:r>
            <a:r>
              <a:rPr lang="en-US" altLang="zh-CN" sz="2000" dirty="0"/>
              <a:t>, and </a:t>
            </a:r>
            <a:r>
              <a:rPr lang="en-US" altLang="zh-CN" sz="2000" i="1" dirty="0"/>
              <a:t>R</a:t>
            </a:r>
            <a:r>
              <a:rPr lang="en-US" altLang="zh-CN" sz="2000" i="1" baseline="-25000" dirty="0"/>
              <a:t>i</a:t>
            </a:r>
            <a:r>
              <a:rPr lang="en-US" altLang="zh-CN" sz="2000" dirty="0"/>
              <a:t> violates BCNF.</a:t>
            </a:r>
          </a:p>
          <a:p>
            <a:pPr lvl="2"/>
            <a:r>
              <a:rPr lang="en-US" altLang="zh-CN" sz="2000" dirty="0"/>
              <a:t>We use above dependency to decompose </a:t>
            </a:r>
            <a:r>
              <a:rPr lang="en-US" altLang="zh-CN" sz="2000" i="1" dirty="0"/>
              <a:t>R</a:t>
            </a:r>
            <a:r>
              <a:rPr lang="en-US" altLang="zh-CN" sz="2000" i="1" baseline="-25000" dirty="0"/>
              <a:t>i</a:t>
            </a:r>
            <a:endParaRPr lang="en-US" altLang="zh-CN" sz="2000" i="1" dirty="0"/>
          </a:p>
        </p:txBody>
      </p:sp>
      <p:sp>
        <p:nvSpPr>
          <p:cNvPr id="108547" name="文本框 1"/>
          <p:cNvSpPr txBox="1"/>
          <p:nvPr/>
        </p:nvSpPr>
        <p:spPr>
          <a:xfrm>
            <a:off x="561975" y="5583238"/>
            <a:ext cx="7856538" cy="533400"/>
          </a:xfrm>
          <a:prstGeom prst="rect">
            <a:avLst/>
          </a:prstGeom>
          <a:noFill/>
          <a:ln w="9525" cap="flat" cmpd="sng">
            <a:solidFill>
              <a:srgbClr val="0066CC"/>
            </a:solidFill>
            <a:prstDash val="solid"/>
            <a:round/>
            <a:headEnd type="none" w="med" len="med"/>
            <a:tailEnd type="none" w="med" len="med"/>
          </a:ln>
        </p:spPr>
        <p:txBody>
          <a:bodyPr wrap="square" anchor="t">
            <a:spAutoFit/>
          </a:bodyPr>
          <a:lstStyle/>
          <a:p>
            <a:pPr lvl="1" indent="0">
              <a:lnSpc>
                <a:spcPct val="90000"/>
              </a:lnSpc>
            </a:pPr>
            <a:r>
              <a:rPr lang="en-US" altLang="zh-CN" i="1" dirty="0">
                <a:latin typeface="Courier New" panose="02070309020205020404" charset="0"/>
              </a:rPr>
              <a:t>R =</a:t>
            </a:r>
            <a:r>
              <a:rPr lang="en-US" altLang="zh-CN" dirty="0">
                <a:latin typeface="Courier New" panose="02070309020205020404" charset="0"/>
              </a:rPr>
              <a:t> (</a:t>
            </a:r>
            <a:r>
              <a:rPr lang="en-US" altLang="zh-CN" i="1" dirty="0">
                <a:latin typeface="Courier New" panose="02070309020205020404" charset="0"/>
              </a:rPr>
              <a:t>A, B, C, D, E</a:t>
            </a:r>
            <a:r>
              <a:rPr lang="en-US" altLang="zh-CN" dirty="0">
                <a:latin typeface="Courier New" panose="02070309020205020404" charset="0"/>
              </a:rPr>
              <a:t>), </a:t>
            </a:r>
            <a:r>
              <a:rPr lang="en-US" altLang="zh-CN" i="1" dirty="0">
                <a:latin typeface="Courier New" panose="02070309020205020404" charset="0"/>
              </a:rPr>
              <a:t>F</a:t>
            </a:r>
            <a:r>
              <a:rPr lang="en-US" altLang="zh-CN" dirty="0">
                <a:latin typeface="Courier New" panose="02070309020205020404" charset="0"/>
              </a:rPr>
              <a:t> = { </a:t>
            </a:r>
            <a:r>
              <a:rPr lang="en-US" altLang="zh-CN" i="1" dirty="0">
                <a:latin typeface="Courier New" panose="02070309020205020404" charset="0"/>
              </a:rPr>
              <a:t>A </a:t>
            </a:r>
            <a:r>
              <a:rPr lang="en-US" altLang="zh-CN" i="1" dirty="0">
                <a:latin typeface="Courier New" panose="02070309020205020404" charset="0"/>
                <a:sym typeface="Symbol" panose="05050102010706020507" charset="2"/>
              </a:rPr>
              <a:t> </a:t>
            </a:r>
            <a:r>
              <a:rPr lang="en-US" altLang="zh-CN" i="1" dirty="0">
                <a:latin typeface="Courier New" panose="02070309020205020404" charset="0"/>
              </a:rPr>
              <a:t>B, BC </a:t>
            </a:r>
            <a:r>
              <a:rPr lang="en-US" altLang="zh-CN" i="1" dirty="0">
                <a:latin typeface="Courier New" panose="02070309020205020404" charset="0"/>
                <a:sym typeface="Symbol" panose="05050102010706020507" charset="2"/>
              </a:rPr>
              <a:t> D</a:t>
            </a:r>
            <a:r>
              <a:rPr lang="en-US" altLang="zh-CN" dirty="0">
                <a:latin typeface="Courier New" panose="02070309020205020404" charset="0"/>
              </a:rPr>
              <a:t>}</a:t>
            </a:r>
          </a:p>
          <a:p>
            <a:pPr lvl="1" indent="0">
              <a:lnSpc>
                <a:spcPct val="90000"/>
              </a:lnSpc>
            </a:pPr>
            <a:r>
              <a:rPr lang="en-US" altLang="zh-CN" dirty="0">
                <a:latin typeface="Courier New" panose="02070309020205020404" charset="0"/>
              </a:rPr>
              <a:t>Decompose </a:t>
            </a:r>
            <a:r>
              <a:rPr lang="en-US" altLang="zh-CN" i="1" dirty="0">
                <a:latin typeface="Courier New" panose="02070309020205020404" charset="0"/>
              </a:rPr>
              <a:t>R</a:t>
            </a:r>
            <a:r>
              <a:rPr lang="en-US" altLang="zh-CN" dirty="0">
                <a:latin typeface="Courier New" panose="02070309020205020404" charset="0"/>
              </a:rPr>
              <a:t> into </a:t>
            </a:r>
            <a:r>
              <a:rPr lang="en-US" altLang="zh-CN" i="1" dirty="0">
                <a:latin typeface="Courier New" panose="02070309020205020404" charset="0"/>
              </a:rPr>
              <a:t>R</a:t>
            </a:r>
            <a:r>
              <a:rPr lang="en-US" altLang="zh-CN" baseline="-25000" dirty="0">
                <a:latin typeface="Courier New" panose="02070309020205020404" charset="0"/>
              </a:rPr>
              <a:t>1 </a:t>
            </a:r>
            <a:r>
              <a:rPr lang="en-US" altLang="zh-CN" dirty="0">
                <a:latin typeface="Courier New" panose="02070309020205020404" charset="0"/>
              </a:rPr>
              <a:t>=</a:t>
            </a:r>
            <a:r>
              <a:rPr lang="en-US" altLang="zh-CN" baseline="-25000" dirty="0">
                <a:latin typeface="Courier New" panose="02070309020205020404" charset="0"/>
              </a:rPr>
              <a:t> </a:t>
            </a:r>
            <a:r>
              <a:rPr lang="en-US" altLang="zh-CN" dirty="0">
                <a:latin typeface="Courier New" panose="02070309020205020404" charset="0"/>
              </a:rPr>
              <a:t>(</a:t>
            </a:r>
            <a:r>
              <a:rPr lang="en-US" altLang="zh-CN" i="1" dirty="0">
                <a:latin typeface="Courier New" panose="02070309020205020404" charset="0"/>
              </a:rPr>
              <a:t>A,B</a:t>
            </a:r>
            <a:r>
              <a:rPr lang="en-US" altLang="zh-CN" dirty="0">
                <a:latin typeface="Courier New" panose="02070309020205020404" charset="0"/>
              </a:rPr>
              <a:t>) and </a:t>
            </a:r>
            <a:r>
              <a:rPr lang="en-US" altLang="zh-CN" i="1" dirty="0">
                <a:latin typeface="Courier New" panose="02070309020205020404" charset="0"/>
              </a:rPr>
              <a:t>R</a:t>
            </a:r>
            <a:r>
              <a:rPr lang="en-US" altLang="zh-CN" baseline="-25000" dirty="0">
                <a:latin typeface="Courier New" panose="02070309020205020404" charset="0"/>
              </a:rPr>
              <a:t>2 </a:t>
            </a:r>
            <a:r>
              <a:rPr lang="en-US" altLang="zh-CN" dirty="0">
                <a:latin typeface="Courier New" panose="02070309020205020404" charset="0"/>
              </a:rPr>
              <a:t>=</a:t>
            </a:r>
            <a:r>
              <a:rPr lang="en-US" altLang="zh-CN" baseline="-25000" dirty="0">
                <a:latin typeface="Courier New" panose="02070309020205020404" charset="0"/>
              </a:rPr>
              <a:t> </a:t>
            </a:r>
            <a:r>
              <a:rPr lang="en-US" altLang="zh-CN" dirty="0">
                <a:latin typeface="Courier New" panose="02070309020205020404" charset="0"/>
              </a:rPr>
              <a:t>(</a:t>
            </a:r>
            <a:r>
              <a:rPr lang="en-US" altLang="zh-CN" i="1" dirty="0">
                <a:latin typeface="Courier New" panose="02070309020205020404" charset="0"/>
              </a:rPr>
              <a:t>A,C,D, E</a:t>
            </a:r>
            <a:r>
              <a:rPr lang="en-US" altLang="zh-CN" dirty="0">
                <a:latin typeface="Courier New" panose="02070309020205020404" charset="0"/>
              </a:rPr>
              <a:t>) </a:t>
            </a:r>
            <a:endParaRPr lang="zh-CN" altLang="en-US">
              <a:latin typeface="Courier New" panose="02070309020205020404"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8306"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BCNF Decomposition Algorithm</a:t>
            </a:r>
          </a:p>
        </p:txBody>
      </p:sp>
      <p:sp>
        <p:nvSpPr>
          <p:cNvPr id="110594" name="Rectangle 3"/>
          <p:cNvSpPr>
            <a:spLocks noGrp="1"/>
          </p:cNvSpPr>
          <p:nvPr>
            <p:ph idx="1"/>
          </p:nvPr>
        </p:nvSpPr>
        <p:spPr>
          <a:xfrm>
            <a:off x="160655" y="1149350"/>
            <a:ext cx="8561705" cy="3873500"/>
          </a:xfrm>
        </p:spPr>
        <p:txBody>
          <a:bodyPr wrap="square" lIns="91440" tIns="45720" rIns="91440" bIns="45720" anchor="t"/>
          <a:lstStyle/>
          <a:p>
            <a:pPr defTabSz="914400">
              <a:buNone/>
              <a:tabLst>
                <a:tab pos="565150" algn="l"/>
                <a:tab pos="803275" algn="l"/>
                <a:tab pos="1489075" algn="l"/>
                <a:tab pos="1771650" algn="l"/>
              </a:tabLst>
            </a:pPr>
            <a:r>
              <a:rPr lang="en-US" altLang="zh-CN" sz="2000" i="1" dirty="0"/>
              <a:t>	result </a:t>
            </a:r>
            <a:r>
              <a:rPr lang="en-US" altLang="zh-CN" sz="2000" dirty="0"/>
              <a:t>:= {</a:t>
            </a:r>
            <a:r>
              <a:rPr lang="en-US" altLang="zh-CN" sz="2000" i="1" dirty="0"/>
              <a:t>R </a:t>
            </a:r>
            <a:r>
              <a:rPr lang="en-US" altLang="zh-CN" sz="2000" dirty="0"/>
              <a:t>};</a:t>
            </a:r>
            <a:br>
              <a:rPr lang="en-US" altLang="zh-CN" sz="2000" dirty="0"/>
            </a:br>
            <a:r>
              <a:rPr lang="en-US" altLang="zh-CN" sz="2000" i="1" dirty="0"/>
              <a:t>done </a:t>
            </a:r>
            <a:r>
              <a:rPr lang="en-US" altLang="zh-CN" sz="2000" dirty="0"/>
              <a:t>:= false;</a:t>
            </a:r>
            <a:br>
              <a:rPr lang="en-US" altLang="zh-CN" sz="2000" dirty="0"/>
            </a:br>
            <a:r>
              <a:rPr lang="en-US" altLang="zh-CN" sz="2000" b="1" dirty="0"/>
              <a:t>while (not </a:t>
            </a:r>
            <a:r>
              <a:rPr lang="en-US" altLang="zh-CN" sz="2000" i="1" dirty="0"/>
              <a:t>done) </a:t>
            </a:r>
            <a:r>
              <a:rPr lang="en-US" altLang="zh-CN" sz="2000" b="1" dirty="0"/>
              <a:t>do</a:t>
            </a:r>
            <a:br>
              <a:rPr lang="en-US" altLang="zh-CN" sz="2000" b="1" dirty="0"/>
            </a:br>
            <a:r>
              <a:rPr lang="en-US" altLang="zh-CN" sz="2000" b="1" dirty="0"/>
              <a:t>	if </a:t>
            </a:r>
            <a:r>
              <a:rPr lang="en-US" altLang="zh-CN" sz="2000" dirty="0"/>
              <a:t>(there is a schema </a:t>
            </a:r>
            <a:r>
              <a:rPr lang="en-US" altLang="zh-CN" sz="2000" i="1" dirty="0"/>
              <a:t>R</a:t>
            </a:r>
            <a:r>
              <a:rPr lang="en-US" altLang="zh-CN" sz="2000" i="1" baseline="-25000" dirty="0"/>
              <a:t>i</a:t>
            </a:r>
            <a:r>
              <a:rPr lang="en-US" altLang="zh-CN" sz="2000" i="1" dirty="0"/>
              <a:t> </a:t>
            </a:r>
            <a:r>
              <a:rPr lang="en-US" altLang="zh-CN" sz="2000" dirty="0"/>
              <a:t>in </a:t>
            </a:r>
            <a:r>
              <a:rPr lang="en-US" altLang="zh-CN" sz="2000" i="1" dirty="0"/>
              <a:t>result </a:t>
            </a:r>
            <a:r>
              <a:rPr lang="en-US" altLang="zh-CN" sz="2000" dirty="0"/>
              <a:t> that is not in BCNF)</a:t>
            </a:r>
            <a:br>
              <a:rPr lang="en-US" altLang="zh-CN" sz="2000" dirty="0"/>
            </a:br>
            <a:r>
              <a:rPr lang="en-US" altLang="zh-CN" sz="2000" dirty="0"/>
              <a:t>		</a:t>
            </a:r>
            <a:r>
              <a:rPr lang="en-US" altLang="zh-CN" sz="2000" b="1" dirty="0"/>
              <a:t>then begin</a:t>
            </a:r>
            <a:br>
              <a:rPr lang="en-US" altLang="zh-CN" sz="2000" b="1" dirty="0"/>
            </a:br>
            <a:r>
              <a:rPr lang="en-US" altLang="zh-CN" sz="2000" b="1" dirty="0"/>
              <a:t>			</a:t>
            </a:r>
            <a:r>
              <a:rPr lang="en-US" altLang="zh-CN" sz="2000" dirty="0"/>
              <a:t>let </a:t>
            </a:r>
            <a:r>
              <a:rPr lang="en-US" altLang="zh-CN" sz="2000" dirty="0">
                <a:sym typeface="Symbol" panose="05050102010706020507" charset="2"/>
              </a:rPr>
              <a:t></a:t>
            </a:r>
            <a:r>
              <a:rPr lang="en-US" altLang="zh-CN" sz="2000" dirty="0">
                <a:sym typeface="Monotype Sorts" charset="2"/>
              </a:rPr>
              <a:t> </a:t>
            </a:r>
            <a:r>
              <a:rPr lang="en-US" altLang="zh-CN" sz="2000" i="1" dirty="0">
                <a:sym typeface="Symbol" panose="05050102010706020507" charset="2"/>
              </a:rPr>
              <a:t></a:t>
            </a:r>
            <a:r>
              <a:rPr lang="en-US" altLang="zh-CN" sz="2000" i="1" dirty="0">
                <a:sym typeface="Greek Symbols" pitchFamily="18" charset="2"/>
              </a:rPr>
              <a:t> </a:t>
            </a:r>
            <a:r>
              <a:rPr lang="en-US" altLang="zh-CN" sz="2000" dirty="0">
                <a:sym typeface="Greek Symbols" pitchFamily="18" charset="2"/>
              </a:rPr>
              <a:t> be a nontrivial functional dependency that </a:t>
            </a:r>
            <a:br>
              <a:rPr lang="en-US" altLang="zh-CN" sz="2000" dirty="0">
                <a:sym typeface="Greek Symbols" pitchFamily="18" charset="2"/>
              </a:rPr>
            </a:br>
            <a:r>
              <a:rPr lang="en-US" altLang="zh-CN" sz="2000" dirty="0">
                <a:sym typeface="Greek Symbols" pitchFamily="18" charset="2"/>
              </a:rPr>
              <a:t>                       holds on </a:t>
            </a:r>
            <a:r>
              <a:rPr lang="en-US" altLang="zh-CN" sz="2000" i="1" dirty="0">
                <a:sym typeface="Greek Symbols" pitchFamily="18" charset="2"/>
              </a:rPr>
              <a:t>R</a:t>
            </a:r>
            <a:r>
              <a:rPr lang="en-US" altLang="zh-CN" sz="2000" i="1" baseline="-25000" dirty="0">
                <a:sym typeface="Greek Symbols" pitchFamily="18" charset="2"/>
              </a:rPr>
              <a:t>i</a:t>
            </a:r>
            <a:r>
              <a:rPr lang="en-US" altLang="zh-CN" sz="2000" i="1" dirty="0">
                <a:sym typeface="Greek Symbols" pitchFamily="18" charset="2"/>
              </a:rPr>
              <a:t>  </a:t>
            </a:r>
            <a:r>
              <a:rPr lang="en-US" altLang="zh-CN" sz="2000" dirty="0">
                <a:sym typeface="Greek Symbols" pitchFamily="18" charset="2"/>
              </a:rPr>
              <a:t>such that </a:t>
            </a:r>
            <a:r>
              <a:rPr lang="en-US" altLang="zh-CN" sz="2000" dirty="0">
                <a:sym typeface="Symbol" panose="05050102010706020507" charset="2"/>
              </a:rPr>
              <a:t></a:t>
            </a:r>
            <a:r>
              <a:rPr lang="en-US" altLang="zh-CN" sz="2000" dirty="0">
                <a:sym typeface="Greek Symbols" pitchFamily="18" charset="2"/>
              </a:rPr>
              <a:t> </a:t>
            </a:r>
            <a:r>
              <a:rPr lang="en-US" altLang="zh-CN" sz="2000" dirty="0">
                <a:sym typeface="Symbol" panose="05050102010706020507" charset="2"/>
              </a:rPr>
              <a:t></a:t>
            </a:r>
            <a:r>
              <a:rPr lang="en-US" altLang="zh-CN" sz="2000" dirty="0">
                <a:sym typeface="Monotype Sorts" charset="2"/>
              </a:rPr>
              <a:t> </a:t>
            </a:r>
            <a:r>
              <a:rPr lang="en-US" altLang="zh-CN" sz="2000" i="1" dirty="0">
                <a:sym typeface="Greek Symbols" pitchFamily="18" charset="2"/>
              </a:rPr>
              <a:t>R</a:t>
            </a:r>
            <a:r>
              <a:rPr lang="en-US" altLang="zh-CN" sz="2000" i="1" baseline="-25000" dirty="0">
                <a:sym typeface="Greek Symbols" pitchFamily="18" charset="2"/>
              </a:rPr>
              <a:t>i</a:t>
            </a:r>
            <a:r>
              <a:rPr lang="en-US" altLang="zh-CN" sz="2000" i="1" dirty="0">
                <a:sym typeface="Greek Symbols" pitchFamily="18" charset="2"/>
              </a:rPr>
              <a:t> </a:t>
            </a:r>
            <a:r>
              <a:rPr lang="en-US" altLang="zh-CN" sz="2000" dirty="0">
                <a:sym typeface="Greek Symbols" pitchFamily="18" charset="2"/>
              </a:rPr>
              <a:t>is not in </a:t>
            </a:r>
            <a:r>
              <a:rPr lang="en-US" altLang="zh-CN" sz="2000" i="1" dirty="0">
                <a:sym typeface="Greek Symbols" pitchFamily="18" charset="2"/>
              </a:rPr>
              <a:t>F </a:t>
            </a:r>
            <a:r>
              <a:rPr lang="en-US" altLang="zh-CN" sz="2000" baseline="30000" dirty="0">
                <a:sym typeface="Greek Symbols" pitchFamily="18" charset="2"/>
              </a:rPr>
              <a:t>+</a:t>
            </a:r>
            <a:r>
              <a:rPr lang="en-US" altLang="zh-CN" sz="2000" dirty="0">
                <a:sym typeface="Greek Symbols" pitchFamily="18" charset="2"/>
              </a:rPr>
              <a:t>, </a:t>
            </a:r>
            <a:br>
              <a:rPr lang="en-US" altLang="zh-CN" sz="2000" dirty="0">
                <a:sym typeface="Greek Symbols" pitchFamily="18" charset="2"/>
              </a:rPr>
            </a:br>
            <a:r>
              <a:rPr lang="en-US" altLang="zh-CN" sz="2000" dirty="0">
                <a:sym typeface="Greek Symbols" pitchFamily="18" charset="2"/>
              </a:rPr>
              <a:t>				   and </a:t>
            </a:r>
            <a:r>
              <a:rPr lang="en-US" altLang="zh-CN" sz="2000" dirty="0">
                <a:sym typeface="Symbol" panose="05050102010706020507" charset="2"/>
              </a:rPr>
              <a:t></a:t>
            </a:r>
            <a:r>
              <a:rPr lang="en-US" altLang="zh-CN" sz="2000" dirty="0">
                <a:sym typeface="Greek Symbols" pitchFamily="18" charset="2"/>
              </a:rPr>
              <a:t> </a:t>
            </a:r>
            <a:r>
              <a:rPr lang="en-US" altLang="zh-CN" sz="2000" dirty="0">
                <a:sym typeface="Symbol" panose="05050102010706020507" charset="2"/>
              </a:rPr>
              <a:t> </a:t>
            </a:r>
            <a:r>
              <a:rPr lang="en-US" altLang="zh-CN" sz="2000" i="1" dirty="0">
                <a:sym typeface="Symbol" panose="05050102010706020507" charset="2"/>
              </a:rPr>
              <a:t></a:t>
            </a:r>
            <a:r>
              <a:rPr lang="en-US" altLang="zh-CN" sz="2000" i="1" dirty="0">
                <a:sym typeface="Greek Symbols" pitchFamily="18" charset="2"/>
              </a:rPr>
              <a:t>  = </a:t>
            </a:r>
            <a:r>
              <a:rPr lang="en-US" altLang="zh-CN" sz="2000" dirty="0">
                <a:sym typeface="Symbol" panose="05050102010706020507" charset="2"/>
              </a:rPr>
              <a:t>;</a:t>
            </a:r>
            <a:br>
              <a:rPr lang="en-US" altLang="zh-CN" sz="2000" dirty="0">
                <a:sym typeface="Symbol" panose="05050102010706020507" charset="2"/>
              </a:rPr>
            </a:br>
            <a:r>
              <a:rPr lang="en-US" altLang="zh-CN" sz="2000" dirty="0">
                <a:sym typeface="Symbol" panose="05050102010706020507" charset="2"/>
              </a:rPr>
              <a:t>			   </a:t>
            </a:r>
            <a:r>
              <a:rPr lang="en-US" altLang="zh-CN" sz="2000" i="1" dirty="0">
                <a:sym typeface="Symbol" panose="05050102010706020507" charset="2"/>
              </a:rPr>
              <a:t>result </a:t>
            </a:r>
            <a:r>
              <a:rPr lang="en-US" altLang="zh-CN" sz="2000" dirty="0">
                <a:sym typeface="Symbol" panose="05050102010706020507" charset="2"/>
              </a:rPr>
              <a:t>:= (</a:t>
            </a:r>
            <a:r>
              <a:rPr lang="en-US" altLang="zh-CN" sz="2000" i="1" dirty="0">
                <a:sym typeface="Symbol" panose="05050102010706020507" charset="2"/>
              </a:rPr>
              <a:t>result – R</a:t>
            </a:r>
            <a:r>
              <a:rPr lang="en-US" altLang="zh-CN" sz="2000" i="1" baseline="-25000" dirty="0">
                <a:sym typeface="Symbol" panose="05050102010706020507" charset="2"/>
              </a:rPr>
              <a:t>i </a:t>
            </a:r>
            <a:r>
              <a:rPr lang="en-US" altLang="zh-CN" sz="2000" i="1" dirty="0">
                <a:sym typeface="Symbol" panose="05050102010706020507" charset="2"/>
              </a:rPr>
              <a:t>) </a:t>
            </a:r>
            <a:r>
              <a:rPr lang="en-US" altLang="zh-CN" sz="2000" dirty="0">
                <a:sym typeface="Symbol" panose="05050102010706020507" charset="2"/>
              </a:rPr>
              <a:t> (</a:t>
            </a:r>
            <a:r>
              <a:rPr lang="en-US" altLang="zh-CN" sz="2000" i="1" dirty="0">
                <a:sym typeface="Symbol" panose="05050102010706020507" charset="2"/>
              </a:rPr>
              <a:t>R</a:t>
            </a:r>
            <a:r>
              <a:rPr lang="en-US" altLang="zh-CN" sz="2000" i="1" baseline="-25000" dirty="0">
                <a:sym typeface="Symbol" panose="05050102010706020507" charset="2"/>
              </a:rPr>
              <a:t>i</a:t>
            </a:r>
            <a:r>
              <a:rPr lang="en-US" altLang="zh-CN" sz="2000" i="1" dirty="0">
                <a:sym typeface="Symbol" panose="05050102010706020507" charset="2"/>
              </a:rPr>
              <a:t> – </a:t>
            </a:r>
            <a:r>
              <a:rPr lang="en-US" altLang="zh-CN" sz="2000" dirty="0">
                <a:sym typeface="Greek Symbols" pitchFamily="18" charset="2"/>
              </a:rPr>
              <a:t>) </a:t>
            </a:r>
            <a:r>
              <a:rPr lang="en-US" altLang="zh-CN" sz="2000" dirty="0">
                <a:sym typeface="Symbol" panose="05050102010706020507" charset="2"/>
              </a:rPr>
              <a:t> (</a:t>
            </a:r>
            <a:r>
              <a:rPr lang="en-US" altLang="zh-CN" sz="2000" dirty="0">
                <a:sym typeface="Greek Symbols" pitchFamily="18" charset="2"/>
              </a:rPr>
              <a:t>, </a:t>
            </a:r>
            <a:r>
              <a:rPr lang="en-US" altLang="zh-CN" sz="2000" i="1" dirty="0">
                <a:sym typeface="Symbol" panose="05050102010706020507" charset="2"/>
              </a:rPr>
              <a:t></a:t>
            </a:r>
            <a:r>
              <a:rPr lang="en-US" altLang="zh-CN" sz="2000" i="1" dirty="0">
                <a:sym typeface="Greek Symbols" pitchFamily="18" charset="2"/>
              </a:rPr>
              <a:t> );</a:t>
            </a:r>
            <a:br>
              <a:rPr lang="en-US" altLang="zh-CN" sz="2000" i="1" dirty="0">
                <a:sym typeface="Greek Symbols" pitchFamily="18" charset="2"/>
              </a:rPr>
            </a:br>
            <a:r>
              <a:rPr lang="en-US" altLang="zh-CN" sz="2000" i="1" dirty="0">
                <a:sym typeface="Greek Symbols" pitchFamily="18" charset="2"/>
              </a:rPr>
              <a:t>	    	</a:t>
            </a:r>
            <a:r>
              <a:rPr lang="en-US" altLang="zh-CN" sz="2000" b="1" dirty="0">
                <a:sym typeface="Greek Symbols" pitchFamily="18" charset="2"/>
              </a:rPr>
              <a:t>end</a:t>
            </a:r>
            <a:br>
              <a:rPr lang="en-US" altLang="zh-CN" sz="2000" b="1" dirty="0">
                <a:sym typeface="Greek Symbols" pitchFamily="18" charset="2"/>
              </a:rPr>
            </a:br>
            <a:r>
              <a:rPr lang="en-US" altLang="zh-CN" sz="2000" b="1" dirty="0">
                <a:sym typeface="Greek Symbols" pitchFamily="18" charset="2"/>
              </a:rPr>
              <a:t>		else</a:t>
            </a:r>
            <a:r>
              <a:rPr lang="en-US" altLang="zh-CN" sz="2000" i="1" dirty="0">
                <a:sym typeface="Greek Symbols" pitchFamily="18" charset="2"/>
              </a:rPr>
              <a:t> done </a:t>
            </a:r>
            <a:r>
              <a:rPr lang="en-US" altLang="zh-CN" sz="2000" dirty="0">
                <a:sym typeface="Greek Symbols" pitchFamily="18" charset="2"/>
              </a:rPr>
              <a:t>:= </a:t>
            </a:r>
            <a:r>
              <a:rPr lang="en-US" altLang="zh-CN" sz="2000" b="1" dirty="0">
                <a:sym typeface="Greek Symbols" pitchFamily="18" charset="2"/>
              </a:rPr>
              <a:t>true; </a:t>
            </a:r>
          </a:p>
          <a:p>
            <a:pPr defTabSz="914400">
              <a:buNone/>
              <a:tabLst>
                <a:tab pos="565150" algn="l"/>
                <a:tab pos="803275" algn="l"/>
                <a:tab pos="1489075" algn="l"/>
                <a:tab pos="1771650" algn="l"/>
              </a:tabLst>
            </a:pPr>
            <a:r>
              <a:rPr lang="en-US" altLang="zh-CN" sz="2000" dirty="0">
                <a:sym typeface="Greek Symbols" pitchFamily="18" charset="2"/>
              </a:rPr>
              <a:t>     Note:  each </a:t>
            </a:r>
            <a:r>
              <a:rPr lang="en-US" altLang="zh-CN" sz="2000" i="1" dirty="0">
                <a:sym typeface="Greek Symbols" pitchFamily="18" charset="2"/>
              </a:rPr>
              <a:t>R</a:t>
            </a:r>
            <a:r>
              <a:rPr lang="en-US" altLang="zh-CN" sz="2000" i="1" baseline="-25000" dirty="0">
                <a:sym typeface="Greek Symbols" pitchFamily="18" charset="2"/>
              </a:rPr>
              <a:t>i</a:t>
            </a:r>
            <a:r>
              <a:rPr lang="en-US" altLang="zh-CN" sz="2000" i="1" dirty="0">
                <a:sym typeface="Greek Symbols" pitchFamily="18" charset="2"/>
              </a:rPr>
              <a:t> </a:t>
            </a:r>
            <a:r>
              <a:rPr lang="en-US" altLang="zh-CN" sz="2000" dirty="0">
                <a:sym typeface="Greek Symbols" pitchFamily="18" charset="2"/>
              </a:rPr>
              <a:t>is in BCNF, and decomposition is lossless-join.</a:t>
            </a:r>
            <a:endParaRPr lang="en-US" altLang="zh-CN" sz="2000" dirty="0">
              <a:solidFill>
                <a:srgbClr val="002060"/>
              </a:solidFill>
              <a:sym typeface="Greek Symbols" pitchFamily="18" charset="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2720" y="3409315"/>
            <a:ext cx="8672195" cy="2856230"/>
          </a:xfrm>
        </p:spPr>
        <p:txBody>
          <a:bodyPr/>
          <a:lstStyle/>
          <a:p>
            <a:pPr marL="342900" marR="0" lvl="0" indent="-342900" algn="l" defTabSz="914400" rtl="0" eaLnBrk="0" fontAlgn="base" latinLnBrk="0" hangingPunct="0">
              <a:lnSpc>
                <a:spcPct val="130000"/>
              </a:lnSpc>
              <a:spcBef>
                <a:spcPct val="20000"/>
              </a:spcBef>
              <a:spcAft>
                <a:spcPct val="0"/>
              </a:spcAft>
              <a:buClr>
                <a:srgbClr val="FF3300"/>
              </a:buClr>
              <a:buSzPct val="125000"/>
              <a:buFont typeface="Times New Roman" panose="02020603050405020304" charset="0"/>
              <a:buChar char="♠"/>
              <a:defRPr/>
            </a:pPr>
            <a:r>
              <a:rPr kumimoji="0" lang="zh-CN" altLang="en-US" sz="2000" i="1" noProof="0" dirty="0">
                <a:ln>
                  <a:noFill/>
                </a:ln>
                <a:effectLst/>
                <a:uLnTx/>
                <a:uFillTx/>
                <a:latin typeface="微软雅黑" panose="020B0503020204020204" charset="-122"/>
                <a:ea typeface="微软雅黑" panose="020B0503020204020204" charset="-122"/>
                <a:cs typeface="+mn-cs"/>
                <a:sym typeface="+mn-ea"/>
              </a:rPr>
              <a:t>给定关系 </a:t>
            </a:r>
            <a:r>
              <a:rPr kumimoji="0" lang="en-US" altLang="zh-CN" sz="2000" i="1" noProof="0" dirty="0">
                <a:ln>
                  <a:noFill/>
                </a:ln>
                <a:effectLst/>
                <a:uLnTx/>
                <a:uFillTx/>
                <a:latin typeface="微软雅黑" panose="020B0503020204020204" charset="-122"/>
                <a:ea typeface="微软雅黑" panose="020B0503020204020204" charset="-122"/>
                <a:cs typeface="+mn-cs"/>
                <a:sym typeface="+mn-ea"/>
              </a:rPr>
              <a:t>R </a:t>
            </a:r>
            <a:r>
              <a:rPr kumimoji="0" lang="en-US" altLang="zh-CN" sz="2000" noProof="0" dirty="0">
                <a:ln>
                  <a:noFill/>
                </a:ln>
                <a:effectLst/>
                <a:uLnTx/>
                <a:uFillTx/>
                <a:latin typeface="微软雅黑" panose="020B0503020204020204" charset="-122"/>
                <a:ea typeface="微软雅黑" panose="020B0503020204020204" charset="-122"/>
                <a:cs typeface="+mn-cs"/>
                <a:sym typeface="+mn-ea"/>
              </a:rPr>
              <a:t>(</a:t>
            </a:r>
            <a:r>
              <a:rPr kumimoji="0" lang="en-US" altLang="zh-CN" sz="2000" i="1" noProof="0" dirty="0">
                <a:ln>
                  <a:noFill/>
                </a:ln>
                <a:effectLst/>
                <a:uLnTx/>
                <a:uFillTx/>
                <a:latin typeface="微软雅黑" panose="020B0503020204020204" charset="-122"/>
                <a:ea typeface="微软雅黑" panose="020B0503020204020204" charset="-122"/>
                <a:cs typeface="+mn-cs"/>
                <a:sym typeface="+mn-ea"/>
              </a:rPr>
              <a:t>A,B,C,D,E</a:t>
            </a:r>
            <a:r>
              <a:rPr kumimoji="0" lang="en-US" altLang="zh-CN" sz="2000" noProof="0" dirty="0">
                <a:ln>
                  <a:noFill/>
                </a:ln>
                <a:effectLst/>
                <a:uLnTx/>
                <a:uFillTx/>
                <a:latin typeface="微软雅黑" panose="020B0503020204020204" charset="-122"/>
                <a:ea typeface="微软雅黑" panose="020B0503020204020204" charset="-122"/>
                <a:cs typeface="+mn-cs"/>
                <a:sym typeface="+mn-ea"/>
              </a:rPr>
              <a:t>)</a:t>
            </a:r>
            <a:r>
              <a:rPr kumimoji="0" lang="zh-CN" altLang="en-US" sz="2000" noProof="0" dirty="0">
                <a:ln>
                  <a:noFill/>
                </a:ln>
                <a:effectLst/>
                <a:uLnTx/>
                <a:uFillTx/>
                <a:latin typeface="微软雅黑" panose="020B0503020204020204" charset="-122"/>
                <a:ea typeface="微软雅黑" panose="020B0503020204020204" charset="-122"/>
                <a:cs typeface="+mn-cs"/>
                <a:sym typeface="+mn-ea"/>
              </a:rPr>
              <a:t>，函数依赖的集合</a:t>
            </a:r>
            <a:r>
              <a:rPr kumimoji="0" lang="en-US" altLang="zh-CN" sz="2000" noProof="0" dirty="0">
                <a:ln>
                  <a:noFill/>
                </a:ln>
                <a:effectLst/>
                <a:uLnTx/>
                <a:uFillTx/>
                <a:latin typeface="微软雅黑" panose="020B0503020204020204" charset="-122"/>
                <a:ea typeface="微软雅黑" panose="020B0503020204020204" charset="-122"/>
                <a:cs typeface="+mn-cs"/>
                <a:sym typeface="+mn-ea"/>
              </a:rPr>
              <a:t>F={</a:t>
            </a:r>
            <a:r>
              <a:rPr kumimoji="0" lang="en-US" altLang="zh-CN" sz="2000" i="1" noProof="0" dirty="0">
                <a:ln>
                  <a:noFill/>
                </a:ln>
                <a:effectLst/>
                <a:uLnTx/>
                <a:uFillTx/>
                <a:latin typeface="微软雅黑" panose="020B0503020204020204" charset="-122"/>
                <a:ea typeface="微软雅黑" panose="020B0503020204020204" charset="-122"/>
                <a:cs typeface="+mn-cs"/>
                <a:sym typeface="+mn-ea"/>
              </a:rPr>
              <a:t>A → B, BC → D</a:t>
            </a:r>
            <a:r>
              <a:rPr kumimoji="0" lang="en-US" altLang="zh-CN" sz="2000" noProof="0" dirty="0">
                <a:ln>
                  <a:noFill/>
                </a:ln>
                <a:effectLst/>
                <a:uLnTx/>
                <a:uFillTx/>
                <a:latin typeface="微软雅黑" panose="020B0503020204020204" charset="-122"/>
                <a:ea typeface="微软雅黑" panose="020B0503020204020204" charset="-122"/>
                <a:cs typeface="+mn-cs"/>
                <a:sym typeface="+mn-ea"/>
              </a:rPr>
              <a:t>}</a:t>
            </a:r>
            <a:endParaRPr kumimoji="0" lang="en-US" altLang="zh-CN" sz="2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a:p>
            <a:pPr marL="342900" marR="0" lvl="0" indent="-342900" algn="l" defTabSz="914400" rtl="0" eaLnBrk="0" fontAlgn="base" latinLnBrk="0" hangingPunct="0">
              <a:lnSpc>
                <a:spcPct val="130000"/>
              </a:lnSpc>
              <a:spcBef>
                <a:spcPct val="20000"/>
              </a:spcBef>
              <a:spcAft>
                <a:spcPct val="0"/>
              </a:spcAft>
              <a:buClr>
                <a:srgbClr val="FF3300"/>
              </a:buClr>
              <a:buSzPct val="125000"/>
              <a:buFont typeface="Times New Roman" panose="02020603050405020304" charset="0"/>
              <a:buChar char="♠"/>
              <a:defRPr/>
            </a:pPr>
            <a:r>
              <a:rPr kumimoji="0" lang="zh-CN" altLang="en-US" sz="2000" noProof="0" dirty="0">
                <a:ln>
                  <a:noFill/>
                </a:ln>
                <a:effectLst/>
                <a:uLnTx/>
                <a:uFillTx/>
                <a:latin typeface="微软雅黑" panose="020B0503020204020204" charset="-122"/>
                <a:ea typeface="微软雅黑" panose="020B0503020204020204" charset="-122"/>
                <a:cs typeface="+mn-cs"/>
                <a:sym typeface="+mn-ea"/>
              </a:rPr>
              <a:t>判定表不是</a:t>
            </a:r>
            <a:r>
              <a:rPr kumimoji="0" lang="en-US" altLang="zh-CN" sz="2000" noProof="0" dirty="0">
                <a:ln>
                  <a:noFill/>
                </a:ln>
                <a:effectLst/>
                <a:uLnTx/>
                <a:uFillTx/>
                <a:latin typeface="微软雅黑" panose="020B0503020204020204" charset="-122"/>
                <a:ea typeface="微软雅黑" panose="020B0503020204020204" charset="-122"/>
                <a:cs typeface="+mn-cs"/>
                <a:sym typeface="+mn-ea"/>
              </a:rPr>
              <a:t>BCNF</a:t>
            </a:r>
            <a:r>
              <a:rPr kumimoji="0" lang="zh-CN" altLang="en-US" sz="2000" noProof="0" dirty="0">
                <a:ln>
                  <a:noFill/>
                </a:ln>
                <a:effectLst/>
                <a:uLnTx/>
                <a:uFillTx/>
                <a:latin typeface="微软雅黑" panose="020B0503020204020204" charset="-122"/>
                <a:ea typeface="微软雅黑" panose="020B0503020204020204" charset="-122"/>
                <a:cs typeface="+mn-cs"/>
                <a:sym typeface="+mn-ea"/>
              </a:rPr>
              <a:t>范式，因为</a:t>
            </a:r>
            <a:r>
              <a:rPr kumimoji="0" lang="en-US" altLang="zh-CN" sz="2000" i="1" noProof="0" dirty="0">
                <a:ln>
                  <a:noFill/>
                </a:ln>
                <a:effectLst/>
                <a:uLnTx/>
                <a:uFillTx/>
                <a:latin typeface="微软雅黑" panose="020B0503020204020204" charset="-122"/>
                <a:ea typeface="微软雅黑" panose="020B0503020204020204" charset="-122"/>
                <a:cs typeface="+mn-cs"/>
                <a:sym typeface="+mn-ea"/>
              </a:rPr>
              <a:t>A → B, A</a:t>
            </a:r>
            <a:r>
              <a:rPr kumimoji="0" lang="zh-CN" altLang="en-US" sz="2000" noProof="0" dirty="0">
                <a:ln>
                  <a:noFill/>
                </a:ln>
                <a:effectLst/>
                <a:uLnTx/>
                <a:uFillTx/>
                <a:latin typeface="微软雅黑" panose="020B0503020204020204" charset="-122"/>
                <a:ea typeface="微软雅黑" panose="020B0503020204020204" charset="-122"/>
                <a:cs typeface="+mn-cs"/>
                <a:sym typeface="+mn-ea"/>
              </a:rPr>
              <a:t>不是键</a:t>
            </a:r>
            <a:endParaRPr kumimoji="0" lang="en-US" altLang="zh-CN" sz="2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a:p>
            <a:pPr marL="342900" marR="0" lvl="0" indent="-342900" algn="l" defTabSz="914400" rtl="0" eaLnBrk="0" fontAlgn="base" latinLnBrk="0" hangingPunct="0">
              <a:lnSpc>
                <a:spcPct val="130000"/>
              </a:lnSpc>
              <a:spcBef>
                <a:spcPct val="20000"/>
              </a:spcBef>
              <a:spcAft>
                <a:spcPct val="0"/>
              </a:spcAft>
              <a:buClr>
                <a:srgbClr val="FF3300"/>
              </a:buClr>
              <a:buSzPct val="125000"/>
              <a:buFont typeface="Times New Roman" panose="02020603050405020304" charset="0"/>
              <a:buChar char="♠"/>
              <a:defRPr/>
            </a:pPr>
            <a:r>
              <a:rPr kumimoji="0" lang="zh-CN" altLang="en-US" sz="2000" noProof="0" dirty="0">
                <a:ln>
                  <a:noFill/>
                </a:ln>
                <a:effectLst/>
                <a:uLnTx/>
                <a:uFillTx/>
                <a:latin typeface="微软雅黑" panose="020B0503020204020204" charset="-122"/>
                <a:ea typeface="微软雅黑" panose="020B0503020204020204" charset="-122"/>
                <a:cs typeface="+mn-cs"/>
                <a:sym typeface="+mn-ea"/>
              </a:rPr>
              <a:t>分解</a:t>
            </a:r>
            <a:r>
              <a:rPr kumimoji="0" lang="en-US" altLang="zh-CN" sz="2000" noProof="0" dirty="0">
                <a:ln>
                  <a:noFill/>
                </a:ln>
                <a:effectLst/>
                <a:uLnTx/>
                <a:uFillTx/>
                <a:latin typeface="微软雅黑" panose="020B0503020204020204" charset="-122"/>
                <a:ea typeface="微软雅黑" panose="020B0503020204020204" charset="-122"/>
                <a:cs typeface="+mn-cs"/>
                <a:sym typeface="+mn-ea"/>
              </a:rPr>
              <a:t>R1=(A,B)</a:t>
            </a:r>
            <a:r>
              <a:rPr kumimoji="0" lang="zh-CN" altLang="en-US" sz="2000" noProof="0" dirty="0">
                <a:ln>
                  <a:noFill/>
                </a:ln>
                <a:effectLst/>
                <a:uLnTx/>
                <a:uFillTx/>
                <a:latin typeface="微软雅黑" panose="020B0503020204020204" charset="-122"/>
                <a:ea typeface="微软雅黑" panose="020B0503020204020204" charset="-122"/>
                <a:cs typeface="+mn-cs"/>
                <a:sym typeface="+mn-ea"/>
              </a:rPr>
              <a:t>，</a:t>
            </a:r>
            <a:r>
              <a:rPr kumimoji="0" lang="en-US" altLang="zh-CN" sz="2000" noProof="0" dirty="0">
                <a:ln>
                  <a:noFill/>
                </a:ln>
                <a:effectLst/>
                <a:uLnTx/>
                <a:uFillTx/>
                <a:latin typeface="微软雅黑" panose="020B0503020204020204" charset="-122"/>
                <a:ea typeface="微软雅黑" panose="020B0503020204020204" charset="-122"/>
                <a:cs typeface="+mn-cs"/>
                <a:sym typeface="+mn-ea"/>
              </a:rPr>
              <a:t>R2=(A,C,D,E)</a:t>
            </a:r>
            <a:endParaRPr kumimoji="0" lang="en-US" altLang="zh-CN" sz="2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a:p>
            <a:pPr marL="342900" marR="0" lvl="0" indent="-342900" algn="l" defTabSz="914400" rtl="0" eaLnBrk="0" fontAlgn="base" latinLnBrk="0" hangingPunct="0">
              <a:lnSpc>
                <a:spcPct val="130000"/>
              </a:lnSpc>
              <a:spcBef>
                <a:spcPct val="20000"/>
              </a:spcBef>
              <a:spcAft>
                <a:spcPct val="0"/>
              </a:spcAft>
              <a:buClr>
                <a:srgbClr val="FF3300"/>
              </a:buClr>
              <a:buSzPct val="125000"/>
              <a:buFont typeface="Times New Roman" panose="02020603050405020304" charset="0"/>
              <a:buChar char="♠"/>
              <a:defRPr/>
            </a:pPr>
            <a:r>
              <a:rPr kumimoji="0" lang="en-US" altLang="zh-CN" sz="2000" noProof="0" dirty="0">
                <a:ln>
                  <a:noFill/>
                </a:ln>
                <a:effectLst/>
                <a:uLnTx/>
                <a:uFillTx/>
                <a:latin typeface="微软雅黑" panose="020B0503020204020204" charset="-122"/>
                <a:ea typeface="微软雅黑" panose="020B0503020204020204" charset="-122"/>
                <a:cs typeface="+mn-cs"/>
                <a:sym typeface="+mn-ea"/>
              </a:rPr>
              <a:t>R2</a:t>
            </a:r>
            <a:r>
              <a:rPr kumimoji="0" lang="zh-CN" altLang="en-US" sz="2000" noProof="0" dirty="0">
                <a:ln>
                  <a:noFill/>
                </a:ln>
                <a:effectLst/>
                <a:uLnTx/>
                <a:uFillTx/>
                <a:latin typeface="微软雅黑" panose="020B0503020204020204" charset="-122"/>
                <a:ea typeface="微软雅黑" panose="020B0503020204020204" charset="-122"/>
                <a:cs typeface="+mn-cs"/>
                <a:sym typeface="+mn-ea"/>
              </a:rPr>
              <a:t>满足</a:t>
            </a:r>
            <a:r>
              <a:rPr kumimoji="0" lang="en-US" altLang="zh-CN" sz="2000" noProof="0" dirty="0">
                <a:ln>
                  <a:noFill/>
                </a:ln>
                <a:effectLst/>
                <a:uLnTx/>
                <a:uFillTx/>
                <a:latin typeface="微软雅黑" panose="020B0503020204020204" charset="-122"/>
                <a:ea typeface="微软雅黑" panose="020B0503020204020204" charset="-122"/>
                <a:cs typeface="+mn-cs"/>
                <a:sym typeface="+mn-ea"/>
              </a:rPr>
              <a:t>BCNF</a:t>
            </a:r>
            <a:r>
              <a:rPr kumimoji="0" lang="zh-CN" altLang="en-US" sz="2000" noProof="0" dirty="0">
                <a:ln>
                  <a:noFill/>
                </a:ln>
                <a:effectLst/>
                <a:uLnTx/>
                <a:uFillTx/>
                <a:latin typeface="微软雅黑" panose="020B0503020204020204" charset="-122"/>
                <a:ea typeface="微软雅黑" panose="020B0503020204020204" charset="-122"/>
                <a:cs typeface="+mn-cs"/>
                <a:sym typeface="+mn-ea"/>
              </a:rPr>
              <a:t>吗？</a:t>
            </a:r>
            <a:endParaRPr kumimoji="0" lang="en-US" altLang="zh-CN" sz="2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a:p>
            <a:pPr marL="342900" marR="0" lvl="0" indent="-342900" algn="l" defTabSz="914400" rtl="0" eaLnBrk="0" fontAlgn="base" latinLnBrk="0" hangingPunct="0">
              <a:lnSpc>
                <a:spcPct val="130000"/>
              </a:lnSpc>
              <a:spcBef>
                <a:spcPct val="20000"/>
              </a:spcBef>
              <a:spcAft>
                <a:spcPct val="0"/>
              </a:spcAft>
              <a:buClr>
                <a:srgbClr val="FF3300"/>
              </a:buClr>
              <a:buSzPct val="125000"/>
              <a:buFont typeface="Times New Roman" panose="02020603050405020304" charset="0"/>
              <a:buChar char="♠"/>
              <a:defRPr/>
            </a:pPr>
            <a:r>
              <a:rPr kumimoji="0" lang="en-US" altLang="zh-CN" sz="2000" noProof="0" dirty="0">
                <a:ln>
                  <a:noFill/>
                </a:ln>
                <a:effectLst/>
                <a:uLnTx/>
                <a:uFillTx/>
                <a:latin typeface="微软雅黑" panose="020B0503020204020204" charset="-122"/>
                <a:ea typeface="微软雅黑" panose="020B0503020204020204" charset="-122"/>
                <a:cs typeface="+mn-cs"/>
                <a:sym typeface="+mn-ea"/>
              </a:rPr>
              <a:t>(AC)</a:t>
            </a:r>
            <a:r>
              <a:rPr kumimoji="0" lang="en-US" altLang="zh-CN" sz="2000" baseline="-25000" noProof="0" dirty="0">
                <a:ln>
                  <a:noFill/>
                </a:ln>
                <a:effectLst/>
                <a:uLnTx/>
                <a:uFillTx/>
                <a:latin typeface="微软雅黑" panose="020B0503020204020204" charset="-122"/>
                <a:ea typeface="微软雅黑" panose="020B0503020204020204" charset="-122"/>
                <a:cs typeface="+mn-cs"/>
                <a:sym typeface="+mn-ea"/>
              </a:rPr>
              <a:t>F</a:t>
            </a:r>
            <a:r>
              <a:rPr kumimoji="0" lang="en-US" altLang="zh-CN" sz="2000" baseline="30000" noProof="0" dirty="0">
                <a:ln>
                  <a:noFill/>
                </a:ln>
                <a:effectLst/>
                <a:uLnTx/>
                <a:uFillTx/>
                <a:latin typeface="微软雅黑" panose="020B0503020204020204" charset="-122"/>
                <a:ea typeface="微软雅黑" panose="020B0503020204020204" charset="-122"/>
                <a:cs typeface="+mn-cs"/>
                <a:sym typeface="+mn-ea"/>
              </a:rPr>
              <a:t>+</a:t>
            </a:r>
            <a:r>
              <a:rPr kumimoji="0" lang="en-US" altLang="zh-CN" sz="2000" noProof="0" dirty="0">
                <a:ln>
                  <a:noFill/>
                </a:ln>
                <a:effectLst/>
                <a:uLnTx/>
                <a:uFillTx/>
                <a:latin typeface="微软雅黑" panose="020B0503020204020204" charset="-122"/>
                <a:ea typeface="微软雅黑" panose="020B0503020204020204" charset="-122"/>
                <a:cs typeface="+mn-cs"/>
                <a:sym typeface="+mn-ea"/>
              </a:rPr>
              <a:t>=ACBD</a:t>
            </a:r>
            <a:r>
              <a:rPr kumimoji="0" lang="zh-CN" altLang="en-US" sz="2000" noProof="0" dirty="0">
                <a:ln>
                  <a:noFill/>
                </a:ln>
                <a:effectLst/>
                <a:uLnTx/>
                <a:uFillTx/>
                <a:latin typeface="微软雅黑" panose="020B0503020204020204" charset="-122"/>
                <a:ea typeface="微软雅黑" panose="020B0503020204020204" charset="-122"/>
                <a:cs typeface="+mn-cs"/>
                <a:sym typeface="+mn-ea"/>
              </a:rPr>
              <a:t>，在</a:t>
            </a:r>
            <a:r>
              <a:rPr kumimoji="0" lang="en-US" altLang="zh-CN" sz="2000" noProof="0" dirty="0">
                <a:ln>
                  <a:noFill/>
                </a:ln>
                <a:effectLst/>
                <a:uLnTx/>
                <a:uFillTx/>
                <a:latin typeface="微软雅黑" panose="020B0503020204020204" charset="-122"/>
                <a:ea typeface="微软雅黑" panose="020B0503020204020204" charset="-122"/>
                <a:cs typeface="+mn-cs"/>
                <a:sym typeface="+mn-ea"/>
              </a:rPr>
              <a:t>R2</a:t>
            </a:r>
            <a:r>
              <a:rPr kumimoji="0" lang="zh-CN" altLang="en-US" sz="2000" noProof="0" dirty="0">
                <a:ln>
                  <a:noFill/>
                </a:ln>
                <a:effectLst/>
                <a:uLnTx/>
                <a:uFillTx/>
                <a:latin typeface="微软雅黑" panose="020B0503020204020204" charset="-122"/>
                <a:ea typeface="微软雅黑" panose="020B0503020204020204" charset="-122"/>
                <a:cs typeface="+mn-cs"/>
                <a:sym typeface="+mn-ea"/>
              </a:rPr>
              <a:t>中，存在</a:t>
            </a:r>
            <a:r>
              <a:rPr kumimoji="0" lang="en-US" altLang="zh-CN" sz="2000" i="1" noProof="0" dirty="0">
                <a:ln>
                  <a:noFill/>
                </a:ln>
                <a:effectLst/>
                <a:uLnTx/>
                <a:uFillTx/>
                <a:latin typeface="微软雅黑" panose="020B0503020204020204" charset="-122"/>
                <a:ea typeface="微软雅黑" panose="020B0503020204020204" charset="-122"/>
                <a:cs typeface="+mn-cs"/>
                <a:sym typeface="+mn-ea"/>
              </a:rPr>
              <a:t>AC → D</a:t>
            </a:r>
            <a:r>
              <a:rPr kumimoji="0" lang="zh-CN" altLang="en-US" sz="2000" i="1" noProof="0" dirty="0">
                <a:ln>
                  <a:noFill/>
                </a:ln>
                <a:effectLst/>
                <a:uLnTx/>
                <a:uFillTx/>
                <a:latin typeface="微软雅黑" panose="020B0503020204020204" charset="-122"/>
                <a:ea typeface="微软雅黑" panose="020B0503020204020204" charset="-122"/>
                <a:cs typeface="+mn-cs"/>
                <a:sym typeface="+mn-ea"/>
              </a:rPr>
              <a:t>，</a:t>
            </a:r>
            <a:r>
              <a:rPr kumimoji="0" lang="zh-CN" altLang="en-US" sz="2000" noProof="0" dirty="0">
                <a:ln>
                  <a:noFill/>
                </a:ln>
                <a:effectLst/>
                <a:uLnTx/>
                <a:uFillTx/>
                <a:latin typeface="微软雅黑" panose="020B0503020204020204" charset="-122"/>
                <a:ea typeface="微软雅黑" panose="020B0503020204020204" charset="-122"/>
                <a:cs typeface="+mn-cs"/>
                <a:sym typeface="+mn-ea"/>
              </a:rPr>
              <a:t>但是</a:t>
            </a:r>
            <a:r>
              <a:rPr kumimoji="0" lang="en-US" altLang="zh-CN" sz="2000" noProof="0" dirty="0">
                <a:ln>
                  <a:noFill/>
                </a:ln>
                <a:effectLst/>
                <a:uLnTx/>
                <a:uFillTx/>
                <a:latin typeface="微软雅黑" panose="020B0503020204020204" charset="-122"/>
                <a:ea typeface="微软雅黑" panose="020B0503020204020204" charset="-122"/>
                <a:cs typeface="+mn-cs"/>
                <a:sym typeface="+mn-ea"/>
              </a:rPr>
              <a:t>AC</a:t>
            </a:r>
            <a:r>
              <a:rPr kumimoji="0" lang="zh-CN" altLang="en-US" sz="2000" noProof="0" dirty="0">
                <a:ln>
                  <a:noFill/>
                </a:ln>
                <a:effectLst/>
                <a:uLnTx/>
                <a:uFillTx/>
                <a:latin typeface="微软雅黑" panose="020B0503020204020204" charset="-122"/>
                <a:ea typeface="微软雅黑" panose="020B0503020204020204" charset="-122"/>
                <a:cs typeface="+mn-cs"/>
                <a:sym typeface="+mn-ea"/>
              </a:rPr>
              <a:t>无法决定</a:t>
            </a:r>
            <a:r>
              <a:rPr kumimoji="0" lang="en-US" altLang="zh-CN" sz="2000" noProof="0" dirty="0">
                <a:ln>
                  <a:noFill/>
                </a:ln>
                <a:effectLst/>
                <a:uLnTx/>
                <a:uFillTx/>
                <a:latin typeface="微软雅黑" panose="020B0503020204020204" charset="-122"/>
                <a:ea typeface="微软雅黑" panose="020B0503020204020204" charset="-122"/>
                <a:cs typeface="+mn-cs"/>
                <a:sym typeface="+mn-ea"/>
              </a:rPr>
              <a:t>R2</a:t>
            </a:r>
            <a:r>
              <a:rPr kumimoji="0" lang="zh-CN" altLang="en-US" sz="2000" noProof="0" dirty="0">
                <a:ln>
                  <a:noFill/>
                </a:ln>
                <a:effectLst/>
                <a:uLnTx/>
                <a:uFillTx/>
                <a:latin typeface="微软雅黑" panose="020B0503020204020204" charset="-122"/>
                <a:ea typeface="微软雅黑" panose="020B0503020204020204" charset="-122"/>
                <a:cs typeface="+mn-cs"/>
                <a:sym typeface="+mn-ea"/>
              </a:rPr>
              <a:t>的所有属性</a:t>
            </a:r>
            <a:endParaRPr kumimoji="0" lang="en-US" altLang="zh-CN" sz="20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a:p>
            <a:pPr marL="342900" marR="0" lvl="0" indent="-342900" algn="l" defTabSz="914400" rtl="0" eaLnBrk="0" fontAlgn="base" latinLnBrk="0" hangingPunct="0">
              <a:lnSpc>
                <a:spcPct val="130000"/>
              </a:lnSpc>
              <a:spcBef>
                <a:spcPct val="20000"/>
              </a:spcBef>
              <a:spcAft>
                <a:spcPct val="0"/>
              </a:spcAft>
              <a:buClr>
                <a:srgbClr val="FF3300"/>
              </a:buClr>
              <a:buSzPct val="125000"/>
              <a:buFont typeface="Times New Roman" panose="02020603050405020304" charset="0"/>
              <a:buChar char="♠"/>
              <a:defRPr/>
            </a:pPr>
            <a:r>
              <a:rPr kumimoji="0" lang="zh-CN" altLang="en-US" sz="2000" noProof="0" dirty="0">
                <a:ln>
                  <a:noFill/>
                </a:ln>
                <a:effectLst/>
                <a:uLnTx/>
                <a:uFillTx/>
                <a:latin typeface="微软雅黑" panose="020B0503020204020204" charset="-122"/>
                <a:ea typeface="微软雅黑" panose="020B0503020204020204" charset="-122"/>
                <a:cs typeface="+mn-cs"/>
                <a:sym typeface="+mn-ea"/>
              </a:rPr>
              <a:t>继续分解，</a:t>
            </a:r>
            <a:r>
              <a:rPr kumimoji="0" lang="en-US" altLang="zh-CN" sz="2000" noProof="0" dirty="0">
                <a:ln>
                  <a:noFill/>
                </a:ln>
                <a:effectLst/>
                <a:uLnTx/>
                <a:uFillTx/>
                <a:latin typeface="微软雅黑" panose="020B0503020204020204" charset="-122"/>
                <a:ea typeface="微软雅黑" panose="020B0503020204020204" charset="-122"/>
                <a:cs typeface="+mn-cs"/>
                <a:sym typeface="+mn-ea"/>
              </a:rPr>
              <a:t>R3=(ACD), R4=(ACE)</a:t>
            </a:r>
            <a:endParaRPr lang="zh-CN" altLang="en-US" sz="2000" dirty="0"/>
          </a:p>
        </p:txBody>
      </p:sp>
      <p:sp>
        <p:nvSpPr>
          <p:cNvPr id="110594" name="Rectangle 3"/>
          <p:cNvSpPr>
            <a:spLocks noGrp="1"/>
          </p:cNvSpPr>
          <p:nvPr/>
        </p:nvSpPr>
        <p:spPr>
          <a:xfrm>
            <a:off x="1418278" y="132810"/>
            <a:ext cx="7001103" cy="3024457"/>
          </a:xfrm>
          <a:prstGeom prst="rect">
            <a:avLst/>
          </a:prstGeom>
          <a:noFill/>
          <a:ln w="9525">
            <a:solidFill>
              <a:schemeClr val="tx2"/>
            </a:solidFill>
          </a:ln>
        </p:spPr>
        <p:txBody>
          <a:bodyPr wrap="square" lIns="91440" tIns="45720" rIns="91440" bIns="45720" anchor="t"/>
          <a:lstStyle>
            <a:lvl1pPr marL="342900" indent="-342900" algn="l" rtl="0" eaLnBrk="0" fontAlgn="base" hangingPunct="0">
              <a:spcBef>
                <a:spcPct val="35000"/>
              </a:spcBef>
              <a:spcAft>
                <a:spcPct val="0"/>
              </a:spcAft>
              <a:buClr>
                <a:schemeClr val="tx2"/>
              </a:buClr>
              <a:buSzPct val="90000"/>
              <a:buFont typeface="Monotype Sorts" charset="0"/>
              <a:buChar char="n"/>
              <a:defRPr kumimoji="1" sz="3200">
                <a:solidFill>
                  <a:schemeClr val="tx1"/>
                </a:solidFill>
                <a:latin typeface="Arial" panose="020B0604020202020204"/>
                <a:ea typeface="+mn-ea"/>
                <a:cs typeface="Arial" panose="020B0604020202020204"/>
              </a:defRPr>
            </a:lvl1pPr>
            <a:lvl2pPr marL="742950" indent="-285750" algn="l" rtl="0" eaLnBrk="0" fontAlgn="base" hangingPunct="0">
              <a:spcBef>
                <a:spcPct val="35000"/>
              </a:spcBef>
              <a:spcAft>
                <a:spcPct val="0"/>
              </a:spcAft>
              <a:buClr>
                <a:schemeClr val="folHlink"/>
              </a:buClr>
              <a:buSzPct val="80000"/>
              <a:buFont typeface="Monotype Sorts" charset="0"/>
              <a:buChar char="l"/>
              <a:defRPr kumimoji="1" sz="3200">
                <a:solidFill>
                  <a:schemeClr val="tx1"/>
                </a:solidFill>
                <a:latin typeface="Arial" panose="020B0604020202020204"/>
                <a:ea typeface="+mn-ea"/>
                <a:cs typeface="Arial" panose="020B0604020202020204"/>
              </a:defRPr>
            </a:lvl2pPr>
            <a:lvl3pPr marL="1085850" indent="-228600" algn="l" rtl="0" eaLnBrk="0" fontAlgn="base" hangingPunct="0">
              <a:spcBef>
                <a:spcPct val="35000"/>
              </a:spcBef>
              <a:spcAft>
                <a:spcPct val="0"/>
              </a:spcAft>
              <a:buClr>
                <a:srgbClr val="33CC33"/>
              </a:buClr>
              <a:buSzPct val="75000"/>
              <a:buFont typeface="Webdings" panose="05030102010509060703" charset="0"/>
              <a:buChar char="4"/>
              <a:defRPr kumimoji="1" sz="3200">
                <a:solidFill>
                  <a:schemeClr val="tx1"/>
                </a:solidFill>
                <a:latin typeface="Arial" panose="020B0604020202020204"/>
                <a:ea typeface="+mn-ea"/>
                <a:cs typeface="Arial" panose="020B0604020202020204"/>
              </a:defRPr>
            </a:lvl3pPr>
            <a:lvl4pPr marL="1428750" indent="-228600" algn="l" rtl="0" eaLnBrk="0" fontAlgn="base" hangingPunct="0">
              <a:spcBef>
                <a:spcPct val="35000"/>
              </a:spcBef>
              <a:spcAft>
                <a:spcPct val="0"/>
              </a:spcAft>
              <a:buClr>
                <a:schemeClr val="hlink"/>
              </a:buClr>
              <a:buFont typeface="Times New Roman" panose="02020603050405020304" charset="0"/>
              <a:buChar char="–"/>
              <a:defRPr kumimoji="1" sz="3200">
                <a:solidFill>
                  <a:schemeClr val="tx1"/>
                </a:solidFill>
                <a:latin typeface="Arial" panose="020B0604020202020204"/>
                <a:ea typeface="+mn-ea"/>
                <a:cs typeface="Arial" panose="020B0604020202020204"/>
              </a:defRPr>
            </a:lvl4pPr>
            <a:lvl5pPr marL="1771650" indent="-228600" algn="l" rtl="0" eaLnBrk="0" fontAlgn="base" hangingPunct="0">
              <a:spcBef>
                <a:spcPct val="35000"/>
              </a:spcBef>
              <a:spcAft>
                <a:spcPct val="0"/>
              </a:spcAft>
              <a:buClr>
                <a:schemeClr val="tx2"/>
              </a:buClr>
              <a:buSzPct val="75000"/>
              <a:buChar char="»"/>
              <a:defRPr kumimoji="1" sz="3200">
                <a:solidFill>
                  <a:schemeClr val="tx1"/>
                </a:solidFill>
                <a:latin typeface="Arial" panose="020B0604020202020204"/>
                <a:ea typeface="+mn-ea"/>
                <a:cs typeface="Arial" panose="020B0604020202020204"/>
              </a:defRPr>
            </a:lvl5pPr>
            <a:lvl6pPr marL="2228850" indent="-228600" algn="l" rtl="0" eaLnBrk="0" fontAlgn="base" hangingPunct="0">
              <a:spcBef>
                <a:spcPct val="35000"/>
              </a:spcBef>
              <a:spcAft>
                <a:spcPct val="0"/>
              </a:spcAft>
              <a:buClr>
                <a:schemeClr val="tx2"/>
              </a:buClr>
              <a:buSzPct val="75000"/>
              <a:buChar char="»"/>
              <a:defRPr kumimoji="1" sz="3200">
                <a:solidFill>
                  <a:schemeClr val="tx1"/>
                </a:solidFill>
                <a:latin typeface="+mn-lt"/>
                <a:ea typeface="+mn-ea"/>
              </a:defRPr>
            </a:lvl6pPr>
            <a:lvl7pPr marL="2686050" indent="-228600" algn="l" rtl="0" eaLnBrk="0" fontAlgn="base" hangingPunct="0">
              <a:spcBef>
                <a:spcPct val="35000"/>
              </a:spcBef>
              <a:spcAft>
                <a:spcPct val="0"/>
              </a:spcAft>
              <a:buClr>
                <a:schemeClr val="tx2"/>
              </a:buClr>
              <a:buSzPct val="75000"/>
              <a:buChar char="»"/>
              <a:defRPr kumimoji="1" sz="3200">
                <a:solidFill>
                  <a:schemeClr val="tx1"/>
                </a:solidFill>
                <a:latin typeface="+mn-lt"/>
                <a:ea typeface="+mn-ea"/>
              </a:defRPr>
            </a:lvl7pPr>
            <a:lvl8pPr marL="3143250" indent="-228600" algn="l" rtl="0" eaLnBrk="0" fontAlgn="base" hangingPunct="0">
              <a:spcBef>
                <a:spcPct val="35000"/>
              </a:spcBef>
              <a:spcAft>
                <a:spcPct val="0"/>
              </a:spcAft>
              <a:buClr>
                <a:schemeClr val="tx2"/>
              </a:buClr>
              <a:buSzPct val="75000"/>
              <a:buChar char="»"/>
              <a:defRPr kumimoji="1" sz="3200">
                <a:solidFill>
                  <a:schemeClr val="tx1"/>
                </a:solidFill>
                <a:latin typeface="+mn-lt"/>
                <a:ea typeface="+mn-ea"/>
              </a:defRPr>
            </a:lvl8pPr>
            <a:lvl9pPr marL="3600450" indent="-228600" algn="l" rtl="0" eaLnBrk="0" fontAlgn="base" hangingPunct="0">
              <a:spcBef>
                <a:spcPct val="35000"/>
              </a:spcBef>
              <a:spcAft>
                <a:spcPct val="0"/>
              </a:spcAft>
              <a:buClr>
                <a:schemeClr val="tx2"/>
              </a:buClr>
              <a:buSzPct val="75000"/>
              <a:buChar char="»"/>
              <a:defRPr kumimoji="1" sz="3200">
                <a:solidFill>
                  <a:schemeClr val="tx1"/>
                </a:solidFill>
                <a:latin typeface="+mn-lt"/>
                <a:ea typeface="+mn-ea"/>
              </a:defRPr>
            </a:lvl9pPr>
          </a:lstStyle>
          <a:p>
            <a:pPr defTabSz="914400">
              <a:buNone/>
              <a:tabLst>
                <a:tab pos="565150" algn="l"/>
                <a:tab pos="803275" algn="l"/>
                <a:tab pos="1489075" algn="l"/>
                <a:tab pos="1771650" algn="l"/>
              </a:tabLst>
            </a:pPr>
            <a:r>
              <a:rPr lang="en-US" altLang="zh-CN" sz="1800" i="1" dirty="0"/>
              <a:t>	result </a:t>
            </a:r>
            <a:r>
              <a:rPr lang="en-US" altLang="zh-CN" sz="1800" dirty="0"/>
              <a:t>:= {</a:t>
            </a:r>
            <a:r>
              <a:rPr lang="en-US" altLang="zh-CN" sz="1800" i="1" dirty="0"/>
              <a:t>R </a:t>
            </a:r>
            <a:r>
              <a:rPr lang="en-US" altLang="zh-CN" sz="1800" dirty="0"/>
              <a:t>};</a:t>
            </a:r>
            <a:br>
              <a:rPr lang="en-US" altLang="zh-CN" sz="1800" dirty="0"/>
            </a:br>
            <a:r>
              <a:rPr lang="en-US" altLang="zh-CN" sz="1800" i="1" dirty="0"/>
              <a:t>done </a:t>
            </a:r>
            <a:r>
              <a:rPr lang="en-US" altLang="zh-CN" sz="1800" dirty="0"/>
              <a:t>:= false;</a:t>
            </a:r>
            <a:br>
              <a:rPr lang="en-US" altLang="zh-CN" sz="1800" dirty="0"/>
            </a:br>
            <a:r>
              <a:rPr lang="en-US" altLang="zh-CN" sz="1800" b="1" dirty="0"/>
              <a:t>while (not </a:t>
            </a:r>
            <a:r>
              <a:rPr lang="en-US" altLang="zh-CN" sz="1800" i="1" dirty="0"/>
              <a:t>done) </a:t>
            </a:r>
            <a:r>
              <a:rPr lang="en-US" altLang="zh-CN" sz="1800" b="1" dirty="0"/>
              <a:t>do</a:t>
            </a:r>
            <a:br>
              <a:rPr lang="en-US" altLang="zh-CN" sz="1800" b="1" dirty="0"/>
            </a:br>
            <a:r>
              <a:rPr lang="en-US" altLang="zh-CN" sz="1800" b="1" dirty="0"/>
              <a:t>	if </a:t>
            </a:r>
            <a:r>
              <a:rPr lang="en-US" altLang="zh-CN" sz="1800" dirty="0"/>
              <a:t>(there is a schema </a:t>
            </a:r>
            <a:r>
              <a:rPr lang="en-US" altLang="zh-CN" sz="1800" i="1" dirty="0"/>
              <a:t>R</a:t>
            </a:r>
            <a:r>
              <a:rPr lang="en-US" altLang="zh-CN" sz="1800" i="1" baseline="-25000" dirty="0"/>
              <a:t>i</a:t>
            </a:r>
            <a:r>
              <a:rPr lang="en-US" altLang="zh-CN" sz="1800" i="1" dirty="0"/>
              <a:t> </a:t>
            </a:r>
            <a:r>
              <a:rPr lang="en-US" altLang="zh-CN" sz="1800" dirty="0"/>
              <a:t>in </a:t>
            </a:r>
            <a:r>
              <a:rPr lang="en-US" altLang="zh-CN" sz="1800" i="1" dirty="0"/>
              <a:t>result </a:t>
            </a:r>
            <a:r>
              <a:rPr lang="en-US" altLang="zh-CN" sz="1800" dirty="0"/>
              <a:t> that is not in BCNF)</a:t>
            </a:r>
            <a:br>
              <a:rPr lang="en-US" altLang="zh-CN" sz="1800" dirty="0"/>
            </a:br>
            <a:r>
              <a:rPr lang="en-US" altLang="zh-CN" sz="1800" dirty="0"/>
              <a:t>		</a:t>
            </a:r>
            <a:r>
              <a:rPr lang="en-US" altLang="zh-CN" sz="1800" b="1" dirty="0"/>
              <a:t>then begin</a:t>
            </a:r>
            <a:br>
              <a:rPr lang="en-US" altLang="zh-CN" sz="1800" b="1" dirty="0"/>
            </a:br>
            <a:r>
              <a:rPr lang="en-US" altLang="zh-CN" sz="1800" b="1" dirty="0"/>
              <a:t>			</a:t>
            </a:r>
            <a:r>
              <a:rPr lang="en-US" altLang="zh-CN" sz="1800" dirty="0"/>
              <a:t>let </a:t>
            </a:r>
            <a:r>
              <a:rPr lang="en-US" altLang="zh-CN" sz="1800" dirty="0">
                <a:sym typeface="Symbol" panose="05050102010706020507" charset="2"/>
              </a:rPr>
              <a:t></a:t>
            </a:r>
            <a:r>
              <a:rPr lang="en-US" altLang="zh-CN" sz="1800" dirty="0">
                <a:sym typeface="Monotype Sorts" charset="2"/>
              </a:rPr>
              <a:t> </a:t>
            </a:r>
            <a:r>
              <a:rPr lang="en-US" altLang="zh-CN" sz="1800" i="1" dirty="0">
                <a:sym typeface="Symbol" panose="05050102010706020507" charset="2"/>
              </a:rPr>
              <a:t></a:t>
            </a:r>
            <a:r>
              <a:rPr lang="en-US" altLang="zh-CN" sz="1800" i="1" dirty="0">
                <a:sym typeface="Greek Symbols" pitchFamily="18" charset="2"/>
              </a:rPr>
              <a:t> </a:t>
            </a:r>
            <a:r>
              <a:rPr lang="en-US" altLang="zh-CN" sz="1800" dirty="0">
                <a:sym typeface="Greek Symbols" pitchFamily="18" charset="2"/>
              </a:rPr>
              <a:t> be a nontrivial functional dependency that </a:t>
            </a:r>
            <a:br>
              <a:rPr lang="en-US" altLang="zh-CN" sz="1800" dirty="0">
                <a:sym typeface="Greek Symbols" pitchFamily="18" charset="2"/>
              </a:rPr>
            </a:br>
            <a:r>
              <a:rPr lang="en-US" altLang="zh-CN" sz="1800" dirty="0">
                <a:sym typeface="Greek Symbols" pitchFamily="18" charset="2"/>
              </a:rPr>
              <a:t>                       holds on </a:t>
            </a:r>
            <a:r>
              <a:rPr lang="en-US" altLang="zh-CN" sz="1800" i="1" dirty="0">
                <a:sym typeface="Greek Symbols" pitchFamily="18" charset="2"/>
              </a:rPr>
              <a:t>R</a:t>
            </a:r>
            <a:r>
              <a:rPr lang="en-US" altLang="zh-CN" sz="1800" i="1" baseline="-25000" dirty="0">
                <a:sym typeface="Greek Symbols" pitchFamily="18" charset="2"/>
              </a:rPr>
              <a:t>i</a:t>
            </a:r>
            <a:r>
              <a:rPr lang="en-US" altLang="zh-CN" sz="1800" i="1" dirty="0">
                <a:sym typeface="Greek Symbols" pitchFamily="18" charset="2"/>
              </a:rPr>
              <a:t>  </a:t>
            </a:r>
            <a:r>
              <a:rPr lang="en-US" altLang="zh-CN" sz="1800" dirty="0">
                <a:sym typeface="Greek Symbols" pitchFamily="18" charset="2"/>
              </a:rPr>
              <a:t>such that </a:t>
            </a:r>
            <a:r>
              <a:rPr lang="en-US" altLang="zh-CN" sz="1800" dirty="0">
                <a:sym typeface="Symbol" panose="05050102010706020507" charset="2"/>
              </a:rPr>
              <a:t></a:t>
            </a:r>
            <a:r>
              <a:rPr lang="en-US" altLang="zh-CN" sz="1800" dirty="0">
                <a:sym typeface="Greek Symbols" pitchFamily="18" charset="2"/>
              </a:rPr>
              <a:t> </a:t>
            </a:r>
            <a:r>
              <a:rPr lang="en-US" altLang="zh-CN" sz="1800" dirty="0">
                <a:sym typeface="Symbol" panose="05050102010706020507" charset="2"/>
              </a:rPr>
              <a:t></a:t>
            </a:r>
            <a:r>
              <a:rPr lang="en-US" altLang="zh-CN" sz="1800" dirty="0">
                <a:sym typeface="Monotype Sorts" charset="2"/>
              </a:rPr>
              <a:t> </a:t>
            </a:r>
            <a:r>
              <a:rPr lang="en-US" altLang="zh-CN" sz="1800" i="1" dirty="0">
                <a:sym typeface="Greek Symbols" pitchFamily="18" charset="2"/>
              </a:rPr>
              <a:t>R</a:t>
            </a:r>
            <a:r>
              <a:rPr lang="en-US" altLang="zh-CN" sz="1800" i="1" baseline="-25000" dirty="0">
                <a:sym typeface="Greek Symbols" pitchFamily="18" charset="2"/>
              </a:rPr>
              <a:t>i</a:t>
            </a:r>
            <a:r>
              <a:rPr lang="en-US" altLang="zh-CN" sz="1800" i="1" dirty="0">
                <a:sym typeface="Greek Symbols" pitchFamily="18" charset="2"/>
              </a:rPr>
              <a:t> </a:t>
            </a:r>
            <a:r>
              <a:rPr lang="en-US" altLang="zh-CN" sz="1800" dirty="0">
                <a:sym typeface="Greek Symbols" pitchFamily="18" charset="2"/>
              </a:rPr>
              <a:t>is not in </a:t>
            </a:r>
            <a:r>
              <a:rPr lang="en-US" altLang="zh-CN" sz="1800" i="1" dirty="0">
                <a:sym typeface="Greek Symbols" pitchFamily="18" charset="2"/>
              </a:rPr>
              <a:t>F </a:t>
            </a:r>
            <a:r>
              <a:rPr lang="en-US" altLang="zh-CN" sz="1800" baseline="30000" dirty="0">
                <a:sym typeface="Greek Symbols" pitchFamily="18" charset="2"/>
              </a:rPr>
              <a:t>+</a:t>
            </a:r>
            <a:r>
              <a:rPr lang="en-US" altLang="zh-CN" sz="1800" dirty="0">
                <a:sym typeface="Greek Symbols" pitchFamily="18" charset="2"/>
              </a:rPr>
              <a:t>, </a:t>
            </a:r>
            <a:br>
              <a:rPr lang="en-US" altLang="zh-CN" sz="1800" dirty="0">
                <a:sym typeface="Greek Symbols" pitchFamily="18" charset="2"/>
              </a:rPr>
            </a:br>
            <a:r>
              <a:rPr lang="en-US" altLang="zh-CN" sz="1800" dirty="0">
                <a:sym typeface="Greek Symbols" pitchFamily="18" charset="2"/>
              </a:rPr>
              <a:t>				   and </a:t>
            </a:r>
            <a:r>
              <a:rPr lang="en-US" altLang="zh-CN" sz="1800" dirty="0">
                <a:sym typeface="Symbol" panose="05050102010706020507" charset="2"/>
              </a:rPr>
              <a:t></a:t>
            </a:r>
            <a:r>
              <a:rPr lang="en-US" altLang="zh-CN" sz="1800" dirty="0">
                <a:sym typeface="Greek Symbols" pitchFamily="18" charset="2"/>
              </a:rPr>
              <a:t> </a:t>
            </a:r>
            <a:r>
              <a:rPr lang="en-US" altLang="zh-CN" sz="1800" dirty="0">
                <a:sym typeface="Symbol" panose="05050102010706020507" charset="2"/>
              </a:rPr>
              <a:t> </a:t>
            </a:r>
            <a:r>
              <a:rPr lang="en-US" altLang="zh-CN" sz="1800" i="1" dirty="0">
                <a:sym typeface="Symbol" panose="05050102010706020507" charset="2"/>
              </a:rPr>
              <a:t></a:t>
            </a:r>
            <a:r>
              <a:rPr lang="en-US" altLang="zh-CN" sz="1800" i="1" dirty="0">
                <a:sym typeface="Greek Symbols" pitchFamily="18" charset="2"/>
              </a:rPr>
              <a:t>  = </a:t>
            </a:r>
            <a:r>
              <a:rPr lang="en-US" altLang="zh-CN" sz="1800" dirty="0">
                <a:sym typeface="Symbol" panose="05050102010706020507" charset="2"/>
              </a:rPr>
              <a:t>;</a:t>
            </a:r>
            <a:br>
              <a:rPr lang="en-US" altLang="zh-CN" sz="1800" dirty="0">
                <a:sym typeface="Symbol" panose="05050102010706020507" charset="2"/>
              </a:rPr>
            </a:br>
            <a:r>
              <a:rPr lang="en-US" altLang="zh-CN" sz="1800" dirty="0">
                <a:sym typeface="Symbol" panose="05050102010706020507" charset="2"/>
              </a:rPr>
              <a:t>			   </a:t>
            </a:r>
            <a:r>
              <a:rPr lang="en-US" altLang="zh-CN" sz="1800" i="1" dirty="0">
                <a:sym typeface="Symbol" panose="05050102010706020507" charset="2"/>
              </a:rPr>
              <a:t>result </a:t>
            </a:r>
            <a:r>
              <a:rPr lang="en-US" altLang="zh-CN" sz="1800" dirty="0">
                <a:sym typeface="Symbol" panose="05050102010706020507" charset="2"/>
              </a:rPr>
              <a:t>:= (</a:t>
            </a:r>
            <a:r>
              <a:rPr lang="en-US" altLang="zh-CN" sz="1800" i="1" dirty="0">
                <a:sym typeface="Symbol" panose="05050102010706020507" charset="2"/>
              </a:rPr>
              <a:t>result – R</a:t>
            </a:r>
            <a:r>
              <a:rPr lang="en-US" altLang="zh-CN" sz="1800" i="1" baseline="-25000" dirty="0">
                <a:sym typeface="Symbol" panose="05050102010706020507" charset="2"/>
              </a:rPr>
              <a:t>i </a:t>
            </a:r>
            <a:r>
              <a:rPr lang="en-US" altLang="zh-CN" sz="1800" i="1" dirty="0">
                <a:sym typeface="Symbol" panose="05050102010706020507" charset="2"/>
              </a:rPr>
              <a:t>) </a:t>
            </a:r>
            <a:r>
              <a:rPr lang="en-US" altLang="zh-CN" sz="1800" dirty="0">
                <a:sym typeface="Symbol" panose="05050102010706020507" charset="2"/>
              </a:rPr>
              <a:t> (</a:t>
            </a:r>
            <a:r>
              <a:rPr lang="en-US" altLang="zh-CN" sz="1800" i="1" dirty="0">
                <a:sym typeface="Symbol" panose="05050102010706020507" charset="2"/>
              </a:rPr>
              <a:t>R</a:t>
            </a:r>
            <a:r>
              <a:rPr lang="en-US" altLang="zh-CN" sz="1800" i="1" baseline="-25000" dirty="0">
                <a:sym typeface="Symbol" panose="05050102010706020507" charset="2"/>
              </a:rPr>
              <a:t>i</a:t>
            </a:r>
            <a:r>
              <a:rPr lang="en-US" altLang="zh-CN" sz="1800" i="1" dirty="0">
                <a:sym typeface="Symbol" panose="05050102010706020507" charset="2"/>
              </a:rPr>
              <a:t> – </a:t>
            </a:r>
            <a:r>
              <a:rPr lang="en-US" altLang="zh-CN" sz="1800" dirty="0">
                <a:sym typeface="Greek Symbols" pitchFamily="18" charset="2"/>
              </a:rPr>
              <a:t>) </a:t>
            </a:r>
            <a:r>
              <a:rPr lang="en-US" altLang="zh-CN" sz="1800" dirty="0">
                <a:sym typeface="Symbol" panose="05050102010706020507" charset="2"/>
              </a:rPr>
              <a:t> (</a:t>
            </a:r>
            <a:r>
              <a:rPr lang="en-US" altLang="zh-CN" sz="1800" dirty="0">
                <a:sym typeface="Greek Symbols" pitchFamily="18" charset="2"/>
              </a:rPr>
              <a:t>, </a:t>
            </a:r>
            <a:r>
              <a:rPr lang="en-US" altLang="zh-CN" sz="1800" i="1" dirty="0">
                <a:sym typeface="Symbol" panose="05050102010706020507" charset="2"/>
              </a:rPr>
              <a:t></a:t>
            </a:r>
            <a:r>
              <a:rPr lang="en-US" altLang="zh-CN" sz="1800" i="1" dirty="0">
                <a:sym typeface="Greek Symbols" pitchFamily="18" charset="2"/>
              </a:rPr>
              <a:t> );</a:t>
            </a:r>
            <a:br>
              <a:rPr lang="en-US" altLang="zh-CN" sz="1800" i="1" dirty="0">
                <a:sym typeface="Greek Symbols" pitchFamily="18" charset="2"/>
              </a:rPr>
            </a:br>
            <a:r>
              <a:rPr lang="en-US" altLang="zh-CN" sz="1800" i="1" dirty="0">
                <a:sym typeface="Greek Symbols" pitchFamily="18" charset="2"/>
              </a:rPr>
              <a:t>	    	</a:t>
            </a:r>
            <a:r>
              <a:rPr lang="en-US" altLang="zh-CN" sz="1800" b="1" dirty="0">
                <a:sym typeface="Greek Symbols" pitchFamily="18" charset="2"/>
              </a:rPr>
              <a:t>end</a:t>
            </a:r>
            <a:br>
              <a:rPr lang="en-US" altLang="zh-CN" sz="1800" b="1" dirty="0">
                <a:sym typeface="Greek Symbols" pitchFamily="18" charset="2"/>
              </a:rPr>
            </a:br>
            <a:r>
              <a:rPr lang="en-US" altLang="zh-CN" sz="1800" b="1" dirty="0">
                <a:sym typeface="Greek Symbols" pitchFamily="18" charset="2"/>
              </a:rPr>
              <a:t>		else</a:t>
            </a:r>
            <a:r>
              <a:rPr lang="en-US" altLang="zh-CN" sz="1800" i="1" dirty="0">
                <a:sym typeface="Greek Symbols" pitchFamily="18" charset="2"/>
              </a:rPr>
              <a:t> done </a:t>
            </a:r>
            <a:r>
              <a:rPr lang="en-US" altLang="zh-CN" sz="1800" dirty="0">
                <a:sym typeface="Greek Symbols" pitchFamily="18" charset="2"/>
              </a:rPr>
              <a:t>:= </a:t>
            </a:r>
            <a:r>
              <a:rPr lang="en-US" altLang="zh-CN" sz="1800" b="1" dirty="0">
                <a:sym typeface="Greek Symbols" pitchFamily="18" charset="2"/>
              </a:rPr>
              <a:t>true; </a:t>
            </a:r>
            <a:r>
              <a:rPr lang="en-US" altLang="zh-CN" sz="1800" dirty="0">
                <a:sym typeface="Greek Symbols" pitchFamily="18" charset="2"/>
              </a:rPr>
              <a:t>   </a:t>
            </a:r>
            <a:endParaRPr lang="en-US" altLang="zh-CN" sz="1800" dirty="0">
              <a:solidFill>
                <a:srgbClr val="002060"/>
              </a:solidFill>
              <a:sym typeface="Greek Symbols" pitchFamily="18" charset="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0354"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Example of BCNF Decomposition</a:t>
            </a:r>
          </a:p>
        </p:txBody>
      </p:sp>
      <p:sp>
        <p:nvSpPr>
          <p:cNvPr id="112642" name="Rectangle 3"/>
          <p:cNvSpPr>
            <a:spLocks noGrp="1"/>
          </p:cNvSpPr>
          <p:nvPr>
            <p:ph idx="1"/>
          </p:nvPr>
        </p:nvSpPr>
        <p:spPr>
          <a:xfrm>
            <a:off x="445135" y="1066800"/>
            <a:ext cx="7870825" cy="4252595"/>
          </a:xfrm>
        </p:spPr>
        <p:txBody>
          <a:bodyPr wrap="square" lIns="91440" tIns="45720" rIns="91440" bIns="45720" anchor="t"/>
          <a:lstStyle/>
          <a:p>
            <a:pPr defTabSz="914400">
              <a:tabLst>
                <a:tab pos="744855" algn="l"/>
              </a:tabLst>
            </a:pPr>
            <a:r>
              <a:rPr lang="en-US" altLang="zh-CN" sz="2400" i="1" dirty="0"/>
              <a:t>R = </a:t>
            </a:r>
            <a:r>
              <a:rPr lang="en-US" altLang="zh-CN" sz="2400" dirty="0"/>
              <a:t>(</a:t>
            </a:r>
            <a:r>
              <a:rPr lang="en-US" altLang="zh-CN" sz="2400" i="1" dirty="0"/>
              <a:t>A, B, C </a:t>
            </a:r>
            <a:r>
              <a:rPr lang="en-US" altLang="zh-CN" sz="2400" dirty="0"/>
              <a:t>)</a:t>
            </a:r>
            <a:br>
              <a:rPr lang="en-US" altLang="zh-CN" sz="2400" i="1" dirty="0"/>
            </a:br>
            <a:r>
              <a:rPr lang="en-US" altLang="zh-CN" sz="2400" i="1" dirty="0"/>
              <a:t>F = </a:t>
            </a:r>
            <a:r>
              <a:rPr lang="en-US" altLang="zh-CN" sz="2400" dirty="0"/>
              <a:t>{</a:t>
            </a:r>
            <a:r>
              <a:rPr lang="en-US" altLang="zh-CN" sz="2400" i="1" dirty="0"/>
              <a:t>A</a:t>
            </a:r>
            <a:r>
              <a:rPr lang="en-US" altLang="zh-CN" sz="2400" dirty="0"/>
              <a:t> </a:t>
            </a:r>
            <a:r>
              <a:rPr lang="en-US" altLang="zh-CN" sz="2400" dirty="0">
                <a:sym typeface="Symbol" panose="05050102010706020507" charset="2"/>
              </a:rPr>
              <a:t></a:t>
            </a:r>
            <a:r>
              <a:rPr lang="en-US" altLang="zh-CN" sz="2400" dirty="0">
                <a:sym typeface="Monotype Sorts" charset="2"/>
              </a:rPr>
              <a:t> </a:t>
            </a:r>
            <a:r>
              <a:rPr lang="en-US" altLang="zh-CN" sz="2400" i="1" dirty="0">
                <a:sym typeface="Monotype Sorts" charset="2"/>
              </a:rPr>
              <a:t>B</a:t>
            </a:r>
            <a:r>
              <a:rPr lang="zh-CN" altLang="en-US" sz="2400" i="1" dirty="0">
                <a:sym typeface="Monotype Sorts" charset="2"/>
              </a:rPr>
              <a:t>，</a:t>
            </a:r>
            <a:r>
              <a:rPr lang="en-US" altLang="zh-CN" sz="2400" i="1" dirty="0">
                <a:sym typeface="Monotype Sorts" charset="2"/>
              </a:rPr>
              <a:t>B </a:t>
            </a:r>
            <a:r>
              <a:rPr lang="en-US" altLang="zh-CN" sz="2400" dirty="0">
                <a:sym typeface="Symbol" panose="05050102010706020507" charset="2"/>
              </a:rPr>
              <a:t></a:t>
            </a:r>
            <a:r>
              <a:rPr lang="en-US" altLang="zh-CN" sz="2400" i="1" dirty="0">
                <a:sym typeface="Monotype Sorts" charset="2"/>
              </a:rPr>
              <a:t> C</a:t>
            </a:r>
            <a:r>
              <a:rPr lang="en-US" altLang="zh-CN" sz="2400" dirty="0">
                <a:sym typeface="Monotype Sorts" charset="2"/>
              </a:rPr>
              <a:t>}</a:t>
            </a:r>
            <a:br>
              <a:rPr lang="en-US" altLang="zh-CN" sz="2400" dirty="0">
                <a:sym typeface="Monotype Sorts" charset="2"/>
              </a:rPr>
            </a:br>
            <a:r>
              <a:rPr lang="en-US" altLang="zh-CN" sz="2400" dirty="0">
                <a:sym typeface="Monotype Sorts" charset="2"/>
              </a:rPr>
              <a:t>Key = {</a:t>
            </a:r>
            <a:r>
              <a:rPr lang="en-US" altLang="zh-CN" sz="2400" i="1" dirty="0">
                <a:sym typeface="Monotype Sorts" charset="2"/>
              </a:rPr>
              <a:t>A</a:t>
            </a:r>
            <a:r>
              <a:rPr lang="en-US" altLang="zh-CN" sz="2400" dirty="0">
                <a:sym typeface="Monotype Sorts" charset="2"/>
              </a:rPr>
              <a:t>}</a:t>
            </a:r>
          </a:p>
          <a:p>
            <a:pPr defTabSz="914400">
              <a:tabLst>
                <a:tab pos="744855" algn="l"/>
              </a:tabLst>
            </a:pPr>
            <a:r>
              <a:rPr lang="en-US" altLang="zh-CN" sz="2400" i="1" dirty="0">
                <a:sym typeface="Monotype Sorts" charset="2"/>
              </a:rPr>
              <a:t>R</a:t>
            </a:r>
            <a:r>
              <a:rPr lang="en-US" altLang="zh-CN" sz="2400" dirty="0">
                <a:sym typeface="Monotype Sorts" charset="2"/>
              </a:rPr>
              <a:t> is not in BCNF (</a:t>
            </a:r>
            <a:r>
              <a:rPr lang="en-US" altLang="zh-CN" sz="2400" i="1" dirty="0">
                <a:sym typeface="Monotype Sorts" charset="2"/>
              </a:rPr>
              <a:t>B </a:t>
            </a:r>
            <a:r>
              <a:rPr lang="en-US" altLang="zh-CN" sz="2400" dirty="0">
                <a:sym typeface="Symbol" panose="05050102010706020507" charset="2"/>
              </a:rPr>
              <a:t></a:t>
            </a:r>
            <a:r>
              <a:rPr lang="en-US" altLang="zh-CN" sz="2400" i="1" dirty="0">
                <a:sym typeface="Monotype Sorts" charset="2"/>
              </a:rPr>
              <a:t> C </a:t>
            </a:r>
            <a:r>
              <a:rPr lang="en-US" altLang="zh-CN" sz="2400" dirty="0">
                <a:sym typeface="Monotype Sorts" charset="2"/>
              </a:rPr>
              <a:t>but</a:t>
            </a:r>
            <a:r>
              <a:rPr lang="en-US" altLang="zh-CN" sz="2400" i="1" dirty="0">
                <a:sym typeface="Monotype Sorts" charset="2"/>
              </a:rPr>
              <a:t> B </a:t>
            </a:r>
            <a:r>
              <a:rPr lang="en-US" altLang="zh-CN" sz="2400" dirty="0">
                <a:sym typeface="Monotype Sorts" charset="2"/>
              </a:rPr>
              <a:t>is not  superkey)</a:t>
            </a:r>
          </a:p>
          <a:p>
            <a:pPr defTabSz="914400">
              <a:tabLst>
                <a:tab pos="744855" algn="l"/>
              </a:tabLst>
            </a:pPr>
            <a:r>
              <a:rPr lang="en-US" altLang="zh-CN" sz="2400" dirty="0">
                <a:sym typeface="Monotype Sorts" charset="2"/>
              </a:rPr>
              <a:t>Decomposition</a:t>
            </a:r>
          </a:p>
          <a:p>
            <a:pPr lvl="1" defTabSz="914400">
              <a:tabLst>
                <a:tab pos="744855" algn="l"/>
              </a:tabLst>
            </a:pPr>
            <a:r>
              <a:rPr lang="en-US" altLang="zh-CN" sz="2400" i="1" dirty="0">
                <a:sym typeface="Monotype Sorts" charset="2"/>
              </a:rPr>
              <a:t>R</a:t>
            </a:r>
            <a:r>
              <a:rPr lang="en-US" altLang="zh-CN" sz="2400" baseline="-25000" dirty="0">
                <a:sym typeface="Monotype Sorts" charset="2"/>
              </a:rPr>
              <a:t>1</a:t>
            </a:r>
            <a:r>
              <a:rPr lang="en-US" altLang="zh-CN" sz="2400" dirty="0">
                <a:sym typeface="Monotype Sorts" charset="2"/>
              </a:rPr>
              <a:t> = (</a:t>
            </a:r>
            <a:r>
              <a:rPr lang="en-US" altLang="zh-CN" sz="2400" i="1" dirty="0">
                <a:sym typeface="Monotype Sorts" charset="2"/>
              </a:rPr>
              <a:t>B, C)</a:t>
            </a:r>
            <a:endParaRPr lang="en-US" altLang="zh-CN" sz="2400" dirty="0">
              <a:sym typeface="Monotype Sorts" charset="2"/>
            </a:endParaRPr>
          </a:p>
          <a:p>
            <a:pPr lvl="1" defTabSz="914400">
              <a:tabLst>
                <a:tab pos="744855" algn="l"/>
              </a:tabLst>
            </a:pPr>
            <a:r>
              <a:rPr lang="en-US" altLang="zh-CN" sz="2400" i="1" dirty="0">
                <a:sym typeface="Monotype Sorts" charset="2"/>
              </a:rPr>
              <a:t>R</a:t>
            </a:r>
            <a:r>
              <a:rPr lang="en-US" altLang="zh-CN" sz="2400" baseline="-25000" dirty="0">
                <a:sym typeface="Monotype Sorts" charset="2"/>
              </a:rPr>
              <a:t>2</a:t>
            </a:r>
            <a:r>
              <a:rPr lang="en-US" altLang="zh-CN" sz="2400" dirty="0">
                <a:sym typeface="Monotype Sorts" charset="2"/>
              </a:rPr>
              <a:t> = </a:t>
            </a:r>
            <a:r>
              <a:rPr lang="en-US" altLang="zh-CN" sz="2400" i="1" dirty="0">
                <a:sym typeface="Monotype Sorts" charset="2"/>
              </a:rPr>
              <a:t>(A,B)</a:t>
            </a:r>
          </a:p>
          <a:p>
            <a:pPr lvl="1" defTabSz="914400">
              <a:buNone/>
              <a:tabLst>
                <a:tab pos="744855" algn="l"/>
              </a:tabLst>
            </a:pPr>
            <a:endParaRPr lang="zh-CN" altLang="en-US" sz="2400" dirty="0">
              <a:sym typeface="Monotype Sorts" charset="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2402"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Example of BCNF Decomposition</a:t>
            </a:r>
          </a:p>
        </p:txBody>
      </p:sp>
      <p:sp>
        <p:nvSpPr>
          <p:cNvPr id="742403" name="Rectangle 3"/>
          <p:cNvSpPr>
            <a:spLocks noGrp="1"/>
          </p:cNvSpPr>
          <p:nvPr>
            <p:ph idx="1"/>
          </p:nvPr>
        </p:nvSpPr>
        <p:spPr>
          <a:xfrm>
            <a:off x="171450" y="1093788"/>
            <a:ext cx="8828088" cy="5270500"/>
          </a:xfrm>
        </p:spPr>
        <p:txBody>
          <a:bodyPr wrap="square" lIns="91440" tIns="45720" rIns="91440" bIns="45720" anchor="t"/>
          <a:lstStyle/>
          <a:p>
            <a:pPr defTabSz="914400">
              <a:lnSpc>
                <a:spcPct val="90000"/>
              </a:lnSpc>
              <a:tabLst>
                <a:tab pos="744855" algn="l"/>
                <a:tab pos="2574925" algn="l"/>
              </a:tabLst>
            </a:pPr>
            <a:r>
              <a:rPr lang="en-US" altLang="zh-CN" sz="2000" i="1" dirty="0"/>
              <a:t>class </a:t>
            </a:r>
            <a:r>
              <a:rPr lang="en-US" altLang="zh-CN" sz="2000" dirty="0"/>
              <a:t>(</a:t>
            </a:r>
            <a:r>
              <a:rPr lang="en-US" altLang="zh-CN" sz="2000" i="1" dirty="0"/>
              <a:t>course_id</a:t>
            </a:r>
            <a:r>
              <a:rPr lang="en-US" altLang="zh-CN" sz="2000" dirty="0"/>
              <a:t>, </a:t>
            </a:r>
            <a:r>
              <a:rPr lang="en-US" altLang="zh-CN" sz="2000" i="1" dirty="0"/>
              <a:t>title</a:t>
            </a:r>
            <a:r>
              <a:rPr lang="en-US" altLang="zh-CN" sz="2000" dirty="0"/>
              <a:t>, </a:t>
            </a:r>
            <a:r>
              <a:rPr lang="en-US" altLang="zh-CN" sz="2000" i="1" dirty="0"/>
              <a:t>dept_name</a:t>
            </a:r>
            <a:r>
              <a:rPr lang="en-US" altLang="zh-CN" sz="2000" dirty="0"/>
              <a:t>, </a:t>
            </a:r>
            <a:r>
              <a:rPr lang="en-US" altLang="zh-CN" sz="2000" i="1" dirty="0"/>
              <a:t>credits</a:t>
            </a:r>
            <a:r>
              <a:rPr lang="en-US" altLang="zh-CN" sz="2000" dirty="0"/>
              <a:t>, </a:t>
            </a:r>
            <a:r>
              <a:rPr lang="en-US" altLang="zh-CN" sz="2000" i="1" dirty="0"/>
              <a:t>sec_id</a:t>
            </a:r>
            <a:r>
              <a:rPr lang="en-US" altLang="zh-CN" sz="2000" dirty="0"/>
              <a:t>, </a:t>
            </a:r>
            <a:r>
              <a:rPr lang="en-US" altLang="zh-CN" sz="2000" i="1" dirty="0"/>
              <a:t>semester</a:t>
            </a:r>
            <a:r>
              <a:rPr lang="en-US" altLang="zh-CN" sz="2000" dirty="0"/>
              <a:t>, </a:t>
            </a:r>
            <a:r>
              <a:rPr lang="en-US" altLang="zh-CN" sz="2000" i="1" dirty="0"/>
              <a:t>year</a:t>
            </a:r>
            <a:r>
              <a:rPr lang="en-US" altLang="zh-CN" sz="2000" dirty="0"/>
              <a:t>, </a:t>
            </a:r>
            <a:r>
              <a:rPr lang="en-US" altLang="zh-CN" sz="2000" i="1" dirty="0"/>
              <a:t>building</a:t>
            </a:r>
            <a:r>
              <a:rPr lang="en-US" altLang="zh-CN" sz="2000" dirty="0"/>
              <a:t>, </a:t>
            </a:r>
            <a:r>
              <a:rPr lang="en-US" altLang="zh-CN" sz="2000" i="1" dirty="0"/>
              <a:t>room_number</a:t>
            </a:r>
            <a:r>
              <a:rPr lang="en-US" altLang="zh-CN" sz="2000" dirty="0"/>
              <a:t>, </a:t>
            </a:r>
            <a:r>
              <a:rPr lang="en-US" altLang="zh-CN" sz="2000" i="1" dirty="0"/>
              <a:t>capacity</a:t>
            </a:r>
            <a:r>
              <a:rPr lang="en-US" altLang="zh-CN" sz="2000" dirty="0"/>
              <a:t>, </a:t>
            </a:r>
            <a:r>
              <a:rPr lang="en-US" altLang="zh-CN" sz="2000" i="1" dirty="0"/>
              <a:t>time_slot_id</a:t>
            </a:r>
            <a:r>
              <a:rPr lang="en-US" altLang="zh-CN" sz="2000" dirty="0"/>
              <a:t>)</a:t>
            </a:r>
          </a:p>
          <a:p>
            <a:pPr defTabSz="914400">
              <a:lnSpc>
                <a:spcPct val="90000"/>
              </a:lnSpc>
              <a:tabLst>
                <a:tab pos="744855" algn="l"/>
                <a:tab pos="2574925" algn="l"/>
              </a:tabLst>
            </a:pPr>
            <a:r>
              <a:rPr lang="en-US" altLang="zh-CN" sz="2000" dirty="0"/>
              <a:t>Functional dependencies:</a:t>
            </a:r>
          </a:p>
          <a:p>
            <a:pPr lvl="1" defTabSz="914400">
              <a:lnSpc>
                <a:spcPct val="90000"/>
              </a:lnSpc>
              <a:tabLst>
                <a:tab pos="744855" algn="l"/>
                <a:tab pos="2574925" algn="l"/>
              </a:tabLst>
            </a:pPr>
            <a:r>
              <a:rPr lang="en-US" altLang="zh-CN" sz="2000" i="1" dirty="0"/>
              <a:t>course_id</a:t>
            </a:r>
            <a:r>
              <a:rPr lang="en-US" altLang="zh-CN" sz="2000" dirty="0"/>
              <a:t>→ </a:t>
            </a:r>
            <a:r>
              <a:rPr lang="en-US" altLang="zh-CN" sz="2000" i="1" dirty="0"/>
              <a:t>title</a:t>
            </a:r>
            <a:r>
              <a:rPr lang="en-US" altLang="zh-CN" sz="2000" dirty="0"/>
              <a:t>, </a:t>
            </a:r>
            <a:r>
              <a:rPr lang="en-US" altLang="zh-CN" sz="2000" i="1" dirty="0"/>
              <a:t>dept_name</a:t>
            </a:r>
            <a:r>
              <a:rPr lang="en-US" altLang="zh-CN" sz="2000" dirty="0"/>
              <a:t>, </a:t>
            </a:r>
            <a:r>
              <a:rPr lang="en-US" altLang="zh-CN" sz="2000" i="1" dirty="0"/>
              <a:t>credits</a:t>
            </a:r>
          </a:p>
          <a:p>
            <a:pPr lvl="1" defTabSz="914400">
              <a:lnSpc>
                <a:spcPct val="90000"/>
              </a:lnSpc>
              <a:tabLst>
                <a:tab pos="744855" algn="l"/>
                <a:tab pos="2574925" algn="l"/>
              </a:tabLst>
            </a:pPr>
            <a:r>
              <a:rPr lang="en-US" altLang="zh-CN" sz="2000" i="1" dirty="0"/>
              <a:t>building</a:t>
            </a:r>
            <a:r>
              <a:rPr lang="en-US" altLang="zh-CN" sz="2000" dirty="0"/>
              <a:t>, </a:t>
            </a:r>
            <a:r>
              <a:rPr lang="en-US" altLang="zh-CN" sz="2000" i="1" dirty="0"/>
              <a:t>room_number</a:t>
            </a:r>
            <a:r>
              <a:rPr lang="en-US" altLang="zh-CN" sz="2000" dirty="0"/>
              <a:t>→</a:t>
            </a:r>
            <a:r>
              <a:rPr lang="en-US" altLang="zh-CN" sz="2000" i="1" dirty="0"/>
              <a:t>capacity</a:t>
            </a:r>
          </a:p>
          <a:p>
            <a:pPr lvl="1" defTabSz="914400">
              <a:lnSpc>
                <a:spcPct val="90000"/>
              </a:lnSpc>
              <a:tabLst>
                <a:tab pos="744855" algn="l"/>
                <a:tab pos="2574925" algn="l"/>
              </a:tabLst>
            </a:pPr>
            <a:r>
              <a:rPr lang="en-US" altLang="zh-CN" sz="2000" i="1" dirty="0"/>
              <a:t>course_id</a:t>
            </a:r>
            <a:r>
              <a:rPr lang="en-US" altLang="zh-CN" sz="2000" dirty="0"/>
              <a:t>, </a:t>
            </a:r>
            <a:r>
              <a:rPr lang="en-US" altLang="zh-CN" sz="2000" i="1" dirty="0"/>
              <a:t>sec_id</a:t>
            </a:r>
            <a:r>
              <a:rPr lang="en-US" altLang="zh-CN" sz="2000" dirty="0"/>
              <a:t>, </a:t>
            </a:r>
            <a:r>
              <a:rPr lang="en-US" altLang="zh-CN" sz="2000" i="1" dirty="0"/>
              <a:t>semester</a:t>
            </a:r>
            <a:r>
              <a:rPr lang="en-US" altLang="zh-CN" sz="2000" dirty="0"/>
              <a:t>, </a:t>
            </a:r>
            <a:r>
              <a:rPr lang="en-US" altLang="zh-CN" sz="2000" i="1" dirty="0"/>
              <a:t>year</a:t>
            </a:r>
            <a:r>
              <a:rPr lang="en-US" altLang="zh-CN" sz="2000" dirty="0"/>
              <a:t>→</a:t>
            </a:r>
            <a:r>
              <a:rPr lang="en-US" altLang="zh-CN" sz="2000" i="1" dirty="0"/>
              <a:t>building</a:t>
            </a:r>
            <a:r>
              <a:rPr lang="en-US" altLang="zh-CN" sz="2000" dirty="0"/>
              <a:t>, </a:t>
            </a:r>
            <a:r>
              <a:rPr lang="en-US" altLang="zh-CN" sz="2000" i="1" dirty="0"/>
              <a:t>room_number</a:t>
            </a:r>
            <a:r>
              <a:rPr lang="en-US" altLang="zh-CN" sz="2000" dirty="0"/>
              <a:t>, </a:t>
            </a:r>
            <a:r>
              <a:rPr lang="en-US" altLang="zh-CN" sz="2000" i="1" dirty="0"/>
              <a:t>time_slot_id</a:t>
            </a:r>
          </a:p>
          <a:p>
            <a:pPr defTabSz="914400">
              <a:lnSpc>
                <a:spcPct val="90000"/>
              </a:lnSpc>
              <a:tabLst>
                <a:tab pos="744855" algn="l"/>
                <a:tab pos="2574925" algn="l"/>
              </a:tabLst>
            </a:pPr>
            <a:r>
              <a:rPr lang="en-US" altLang="zh-CN" sz="2000" dirty="0"/>
              <a:t>A candidate key {</a:t>
            </a:r>
            <a:r>
              <a:rPr lang="en-US" altLang="zh-CN" sz="2000" i="1" dirty="0"/>
              <a:t>course_id</a:t>
            </a:r>
            <a:r>
              <a:rPr lang="en-US" altLang="zh-CN" sz="2000" dirty="0"/>
              <a:t>, </a:t>
            </a:r>
            <a:r>
              <a:rPr lang="en-US" altLang="zh-CN" sz="2000" i="1" dirty="0"/>
              <a:t>sec_id</a:t>
            </a:r>
            <a:r>
              <a:rPr lang="en-US" altLang="zh-CN" sz="2000" dirty="0"/>
              <a:t>, </a:t>
            </a:r>
            <a:r>
              <a:rPr lang="en-US" altLang="zh-CN" sz="2000" i="1" dirty="0"/>
              <a:t>semester</a:t>
            </a:r>
            <a:r>
              <a:rPr lang="en-US" altLang="zh-CN" sz="2000" dirty="0"/>
              <a:t>, </a:t>
            </a:r>
            <a:r>
              <a:rPr lang="en-US" altLang="zh-CN" sz="2000" i="1" dirty="0"/>
              <a:t>year</a:t>
            </a:r>
            <a:r>
              <a:rPr lang="en-US" altLang="zh-CN" sz="2000" dirty="0"/>
              <a:t>}.</a:t>
            </a:r>
          </a:p>
          <a:p>
            <a:pPr defTabSz="914400">
              <a:lnSpc>
                <a:spcPct val="90000"/>
              </a:lnSpc>
              <a:tabLst>
                <a:tab pos="744855" algn="l"/>
                <a:tab pos="2574925" algn="l"/>
              </a:tabLst>
            </a:pPr>
            <a:r>
              <a:rPr lang="en-US" altLang="zh-CN" sz="2000" dirty="0"/>
              <a:t>BCNF Decomposition:</a:t>
            </a:r>
          </a:p>
          <a:p>
            <a:pPr lvl="1" defTabSz="914400">
              <a:lnSpc>
                <a:spcPct val="90000"/>
              </a:lnSpc>
              <a:tabLst>
                <a:tab pos="744855" algn="l"/>
                <a:tab pos="2574925" algn="l"/>
              </a:tabLst>
            </a:pPr>
            <a:r>
              <a:rPr lang="en-US" altLang="zh-CN" sz="2000" i="1" dirty="0">
                <a:solidFill>
                  <a:srgbClr val="0066CC"/>
                </a:solidFill>
              </a:rPr>
              <a:t>course_id</a:t>
            </a:r>
            <a:r>
              <a:rPr lang="en-US" altLang="zh-CN" sz="2000" dirty="0">
                <a:solidFill>
                  <a:srgbClr val="0066CC"/>
                </a:solidFill>
              </a:rPr>
              <a:t>→ </a:t>
            </a:r>
            <a:r>
              <a:rPr lang="en-US" altLang="zh-CN" sz="2000" i="1" dirty="0">
                <a:solidFill>
                  <a:srgbClr val="0066CC"/>
                </a:solidFill>
              </a:rPr>
              <a:t>title</a:t>
            </a:r>
            <a:r>
              <a:rPr lang="en-US" altLang="zh-CN" sz="2000" dirty="0">
                <a:solidFill>
                  <a:srgbClr val="0066CC"/>
                </a:solidFill>
              </a:rPr>
              <a:t>, </a:t>
            </a:r>
            <a:r>
              <a:rPr lang="en-US" altLang="zh-CN" sz="2000" i="1" dirty="0">
                <a:solidFill>
                  <a:srgbClr val="0066CC"/>
                </a:solidFill>
              </a:rPr>
              <a:t>dept_name</a:t>
            </a:r>
            <a:r>
              <a:rPr lang="en-US" altLang="zh-CN" sz="2000" dirty="0">
                <a:solidFill>
                  <a:srgbClr val="0066CC"/>
                </a:solidFill>
              </a:rPr>
              <a:t>, </a:t>
            </a:r>
            <a:r>
              <a:rPr lang="en-US" altLang="zh-CN" sz="2000" i="1" dirty="0">
                <a:solidFill>
                  <a:srgbClr val="0066CC"/>
                </a:solidFill>
              </a:rPr>
              <a:t>credits</a:t>
            </a:r>
            <a:r>
              <a:rPr lang="en-US" altLang="zh-CN" sz="2000" i="1" dirty="0"/>
              <a:t>  </a:t>
            </a:r>
            <a:r>
              <a:rPr lang="en-US" altLang="zh-CN" sz="2000" dirty="0"/>
              <a:t>holds</a:t>
            </a:r>
          </a:p>
          <a:p>
            <a:pPr lvl="2" defTabSz="914400">
              <a:lnSpc>
                <a:spcPct val="90000"/>
              </a:lnSpc>
              <a:tabLst>
                <a:tab pos="744855" algn="l"/>
                <a:tab pos="2574925" algn="l"/>
              </a:tabLst>
            </a:pPr>
            <a:r>
              <a:rPr lang="en-US" altLang="zh-CN" sz="2000" dirty="0"/>
              <a:t>but </a:t>
            </a:r>
            <a:r>
              <a:rPr lang="en-US" altLang="zh-CN" sz="2000" i="1" dirty="0"/>
              <a:t>course_id </a:t>
            </a:r>
            <a:r>
              <a:rPr lang="en-US" altLang="zh-CN" sz="2000" dirty="0"/>
              <a:t>is not a superkey.</a:t>
            </a:r>
          </a:p>
          <a:p>
            <a:pPr lvl="1" defTabSz="914400">
              <a:lnSpc>
                <a:spcPct val="90000"/>
              </a:lnSpc>
              <a:tabLst>
                <a:tab pos="744855" algn="l"/>
                <a:tab pos="2574925" algn="l"/>
              </a:tabLst>
            </a:pPr>
            <a:r>
              <a:rPr lang="en-US" altLang="zh-CN" sz="2000" dirty="0"/>
              <a:t> We replace </a:t>
            </a:r>
            <a:r>
              <a:rPr lang="en-US" altLang="zh-CN" sz="2000" i="1" dirty="0"/>
              <a:t>class </a:t>
            </a:r>
            <a:r>
              <a:rPr lang="en-US" altLang="zh-CN" sz="2000" dirty="0"/>
              <a:t>by:</a:t>
            </a:r>
          </a:p>
          <a:p>
            <a:pPr lvl="2" defTabSz="914400">
              <a:lnSpc>
                <a:spcPct val="90000"/>
              </a:lnSpc>
              <a:tabLst>
                <a:tab pos="744855" algn="l"/>
                <a:tab pos="2574925" algn="l"/>
              </a:tabLst>
            </a:pPr>
            <a:r>
              <a:rPr lang="en-US" altLang="zh-CN" sz="2000" i="1" dirty="0">
                <a:solidFill>
                  <a:srgbClr val="0066CC"/>
                </a:solidFill>
              </a:rPr>
              <a:t>course</a:t>
            </a:r>
            <a:r>
              <a:rPr lang="en-US" altLang="zh-CN" sz="2000" dirty="0">
                <a:solidFill>
                  <a:srgbClr val="0066CC"/>
                </a:solidFill>
              </a:rPr>
              <a:t>(</a:t>
            </a:r>
            <a:r>
              <a:rPr lang="en-US" altLang="zh-CN" sz="2000" i="1" dirty="0">
                <a:solidFill>
                  <a:srgbClr val="0066CC"/>
                </a:solidFill>
              </a:rPr>
              <a:t>course_id</a:t>
            </a:r>
            <a:r>
              <a:rPr lang="en-US" altLang="zh-CN" sz="2000" dirty="0">
                <a:solidFill>
                  <a:srgbClr val="0066CC"/>
                </a:solidFill>
              </a:rPr>
              <a:t>, </a:t>
            </a:r>
            <a:r>
              <a:rPr lang="en-US" altLang="zh-CN" sz="2000" i="1" dirty="0">
                <a:solidFill>
                  <a:srgbClr val="0066CC"/>
                </a:solidFill>
              </a:rPr>
              <a:t>title</a:t>
            </a:r>
            <a:r>
              <a:rPr lang="en-US" altLang="zh-CN" sz="2000" dirty="0">
                <a:solidFill>
                  <a:srgbClr val="0066CC"/>
                </a:solidFill>
              </a:rPr>
              <a:t>, </a:t>
            </a:r>
            <a:r>
              <a:rPr lang="en-US" altLang="zh-CN" sz="2000" i="1" dirty="0">
                <a:solidFill>
                  <a:srgbClr val="0066CC"/>
                </a:solidFill>
              </a:rPr>
              <a:t>dept_name</a:t>
            </a:r>
            <a:r>
              <a:rPr lang="en-US" altLang="zh-CN" sz="2000" dirty="0">
                <a:solidFill>
                  <a:srgbClr val="0066CC"/>
                </a:solidFill>
              </a:rPr>
              <a:t>, </a:t>
            </a:r>
            <a:r>
              <a:rPr lang="en-US" altLang="zh-CN" sz="2000" i="1" dirty="0">
                <a:solidFill>
                  <a:srgbClr val="0066CC"/>
                </a:solidFill>
              </a:rPr>
              <a:t>credits</a:t>
            </a:r>
            <a:r>
              <a:rPr lang="en-US" altLang="zh-CN" sz="2000" dirty="0">
                <a:solidFill>
                  <a:srgbClr val="0066CC"/>
                </a:solidFill>
              </a:rPr>
              <a:t>)</a:t>
            </a:r>
          </a:p>
          <a:p>
            <a:pPr lvl="2" defTabSz="914400">
              <a:lnSpc>
                <a:spcPct val="90000"/>
              </a:lnSpc>
              <a:tabLst>
                <a:tab pos="744855" algn="l"/>
                <a:tab pos="2574925" algn="l"/>
              </a:tabLst>
            </a:pPr>
            <a:r>
              <a:rPr lang="en-US" altLang="zh-CN" sz="2000" i="1" dirty="0"/>
              <a:t>class-1 </a:t>
            </a:r>
            <a:r>
              <a:rPr lang="en-US" altLang="zh-CN" sz="2000" dirty="0"/>
              <a:t>(</a:t>
            </a:r>
            <a:r>
              <a:rPr lang="en-US" altLang="zh-CN" sz="2000" i="1" dirty="0"/>
              <a:t>course_id</a:t>
            </a:r>
            <a:r>
              <a:rPr lang="en-US" altLang="zh-CN" sz="2000" dirty="0"/>
              <a:t>, </a:t>
            </a:r>
            <a:r>
              <a:rPr lang="en-US" altLang="zh-CN" sz="2000" i="1" dirty="0"/>
              <a:t>sec_id</a:t>
            </a:r>
            <a:r>
              <a:rPr lang="en-US" altLang="zh-CN" sz="2000" dirty="0"/>
              <a:t>, </a:t>
            </a:r>
            <a:r>
              <a:rPr lang="en-US" altLang="zh-CN" sz="2000" i="1" dirty="0"/>
              <a:t>semester</a:t>
            </a:r>
            <a:r>
              <a:rPr lang="en-US" altLang="zh-CN" sz="2000" dirty="0"/>
              <a:t>, </a:t>
            </a:r>
            <a:r>
              <a:rPr lang="en-US" altLang="zh-CN" sz="2000" i="1" dirty="0"/>
              <a:t>year</a:t>
            </a:r>
            <a:r>
              <a:rPr lang="en-US" altLang="zh-CN" sz="2000" dirty="0"/>
              <a:t>, </a:t>
            </a:r>
            <a:r>
              <a:rPr lang="en-US" altLang="zh-CN" sz="2000" i="1" dirty="0"/>
              <a:t>building</a:t>
            </a:r>
            <a:r>
              <a:rPr lang="en-US" altLang="zh-CN" sz="2000" dirty="0"/>
              <a:t>,           </a:t>
            </a:r>
            <a:br>
              <a:rPr lang="en-US" altLang="zh-CN" sz="2000" dirty="0"/>
            </a:br>
            <a:r>
              <a:rPr lang="en-US" altLang="zh-CN" sz="2000" dirty="0"/>
              <a:t>             </a:t>
            </a:r>
            <a:r>
              <a:rPr lang="en-US" altLang="zh-CN" sz="2000" i="1" dirty="0"/>
              <a:t>room_number, capacity</a:t>
            </a:r>
            <a:r>
              <a:rPr lang="en-US" altLang="zh-CN" sz="2000" dirty="0"/>
              <a:t>, </a:t>
            </a:r>
            <a:r>
              <a:rPr lang="en-US" altLang="zh-CN" sz="2000" i="1" dirty="0"/>
              <a:t>time_slot_id</a:t>
            </a:r>
            <a:r>
              <a:rPr lang="en-US" altLang="zh-CN" sz="2000"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4240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42403">
                                            <p:txEl>
                                              <p:pRg st="6" end="6"/>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742403">
                                            <p:txEl>
                                              <p:pRg st="7" end="7"/>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74240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742403">
                                            <p:txEl>
                                              <p:pRg st="9" end="9"/>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742403">
                                            <p:txEl>
                                              <p:pRg st="10" end="1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74240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2403"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3778"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BCNF Decomposition (Cont.)</a:t>
            </a:r>
          </a:p>
        </p:txBody>
      </p:sp>
      <p:sp>
        <p:nvSpPr>
          <p:cNvPr id="116738" name="Rectangle 3"/>
          <p:cNvSpPr>
            <a:spLocks noGrp="1"/>
          </p:cNvSpPr>
          <p:nvPr>
            <p:ph idx="1"/>
          </p:nvPr>
        </p:nvSpPr>
        <p:spPr>
          <a:xfrm>
            <a:off x="312738" y="1093788"/>
            <a:ext cx="8532812" cy="4903787"/>
          </a:xfrm>
        </p:spPr>
        <p:txBody>
          <a:bodyPr wrap="square" lIns="91440" tIns="45720" rIns="91440" bIns="45720" anchor="t"/>
          <a:lstStyle/>
          <a:p>
            <a:r>
              <a:rPr lang="en-US" altLang="zh-CN" sz="2000" i="1" dirty="0"/>
              <a:t>course </a:t>
            </a:r>
            <a:r>
              <a:rPr lang="en-US" altLang="zh-CN" sz="2000" dirty="0"/>
              <a:t>is in BCNF</a:t>
            </a:r>
          </a:p>
          <a:p>
            <a:pPr lvl="1"/>
            <a:r>
              <a:rPr lang="en-US" altLang="zh-CN" sz="2000" dirty="0"/>
              <a:t>How do we know this?</a:t>
            </a:r>
          </a:p>
          <a:p>
            <a:r>
              <a:rPr lang="en-US" altLang="zh-CN" sz="2000" i="1" dirty="0"/>
              <a:t>building</a:t>
            </a:r>
            <a:r>
              <a:rPr lang="en-US" altLang="zh-CN" sz="2000" dirty="0"/>
              <a:t>, </a:t>
            </a:r>
            <a:r>
              <a:rPr lang="en-US" altLang="zh-CN" sz="2000" i="1" dirty="0"/>
              <a:t>room_number</a:t>
            </a:r>
            <a:r>
              <a:rPr lang="en-US" altLang="zh-CN" sz="2000" dirty="0"/>
              <a:t>→</a:t>
            </a:r>
            <a:r>
              <a:rPr lang="en-US" altLang="zh-CN" sz="2000" i="1" dirty="0"/>
              <a:t>capacity  </a:t>
            </a:r>
            <a:r>
              <a:rPr lang="en-US" altLang="zh-CN" sz="2000" dirty="0"/>
              <a:t>holds on </a:t>
            </a:r>
            <a:r>
              <a:rPr lang="en-US" altLang="zh-CN" sz="2000" i="1" dirty="0"/>
              <a:t>class-1</a:t>
            </a:r>
            <a:endParaRPr lang="en-US" altLang="zh-CN" sz="2000" dirty="0"/>
          </a:p>
          <a:p>
            <a:pPr lvl="1"/>
            <a:r>
              <a:rPr lang="en-US" altLang="zh-CN" sz="2000" dirty="0"/>
              <a:t> but {</a:t>
            </a:r>
            <a:r>
              <a:rPr lang="en-US" altLang="zh-CN" sz="2000" i="1" dirty="0"/>
              <a:t>building</a:t>
            </a:r>
            <a:r>
              <a:rPr lang="en-US" altLang="zh-CN" sz="2000" dirty="0"/>
              <a:t>, </a:t>
            </a:r>
            <a:r>
              <a:rPr lang="en-US" altLang="zh-CN" sz="2000" i="1" dirty="0"/>
              <a:t>room_number</a:t>
            </a:r>
            <a:r>
              <a:rPr lang="en-US" altLang="zh-CN" sz="2000" dirty="0"/>
              <a:t>} is not a superkey for </a:t>
            </a:r>
            <a:r>
              <a:rPr lang="en-US" altLang="zh-CN" sz="2000" i="1" dirty="0"/>
              <a:t>class-1</a:t>
            </a:r>
            <a:r>
              <a:rPr lang="en-US" altLang="zh-CN" sz="2000" dirty="0"/>
              <a:t>.</a:t>
            </a:r>
          </a:p>
          <a:p>
            <a:pPr lvl="1"/>
            <a:r>
              <a:rPr lang="en-US" altLang="zh-CN" sz="2000" dirty="0"/>
              <a:t>We replace </a:t>
            </a:r>
            <a:r>
              <a:rPr lang="en-US" altLang="zh-CN" sz="2000" i="1" dirty="0"/>
              <a:t>class-1 </a:t>
            </a:r>
            <a:r>
              <a:rPr lang="en-US" altLang="zh-CN" sz="2000" dirty="0"/>
              <a:t>by:</a:t>
            </a:r>
          </a:p>
          <a:p>
            <a:pPr lvl="2"/>
            <a:r>
              <a:rPr lang="en-US" altLang="zh-CN" sz="2000" i="1" dirty="0"/>
              <a:t>classroom </a:t>
            </a:r>
            <a:r>
              <a:rPr lang="en-US" altLang="zh-CN" sz="2000" dirty="0"/>
              <a:t>(</a:t>
            </a:r>
            <a:r>
              <a:rPr lang="en-US" altLang="zh-CN" sz="2000" i="1" dirty="0"/>
              <a:t>building</a:t>
            </a:r>
            <a:r>
              <a:rPr lang="en-US" altLang="zh-CN" sz="2000" dirty="0"/>
              <a:t>, </a:t>
            </a:r>
            <a:r>
              <a:rPr lang="en-US" altLang="zh-CN" sz="2000" i="1" dirty="0"/>
              <a:t>room_number</a:t>
            </a:r>
            <a:r>
              <a:rPr lang="en-US" altLang="zh-CN" sz="2000" dirty="0"/>
              <a:t>, </a:t>
            </a:r>
            <a:r>
              <a:rPr lang="en-US" altLang="zh-CN" sz="2000" i="1" dirty="0"/>
              <a:t>capacity</a:t>
            </a:r>
            <a:r>
              <a:rPr lang="en-US" altLang="zh-CN" sz="2000" dirty="0"/>
              <a:t>)</a:t>
            </a:r>
          </a:p>
          <a:p>
            <a:pPr lvl="2"/>
            <a:r>
              <a:rPr lang="en-US" altLang="zh-CN" sz="2000" i="1" dirty="0"/>
              <a:t>section </a:t>
            </a:r>
            <a:r>
              <a:rPr lang="en-US" altLang="zh-CN" sz="2000" dirty="0"/>
              <a:t>(</a:t>
            </a:r>
            <a:r>
              <a:rPr lang="en-US" altLang="zh-CN" sz="2000" i="1" dirty="0"/>
              <a:t>course_id</a:t>
            </a:r>
            <a:r>
              <a:rPr lang="en-US" altLang="zh-CN" sz="2000" dirty="0"/>
              <a:t>, </a:t>
            </a:r>
            <a:r>
              <a:rPr lang="en-US" altLang="zh-CN" sz="2000" i="1" dirty="0"/>
              <a:t>sec_id</a:t>
            </a:r>
            <a:r>
              <a:rPr lang="en-US" altLang="zh-CN" sz="2000" dirty="0"/>
              <a:t>, </a:t>
            </a:r>
            <a:r>
              <a:rPr lang="en-US" altLang="zh-CN" sz="2000" i="1" dirty="0"/>
              <a:t>semester</a:t>
            </a:r>
            <a:r>
              <a:rPr lang="en-US" altLang="zh-CN" sz="2000" dirty="0"/>
              <a:t>, </a:t>
            </a:r>
            <a:r>
              <a:rPr lang="en-US" altLang="zh-CN" sz="2000" i="1" dirty="0"/>
              <a:t>year</a:t>
            </a:r>
            <a:r>
              <a:rPr lang="en-US" altLang="zh-CN" sz="2000" dirty="0"/>
              <a:t>, </a:t>
            </a:r>
            <a:r>
              <a:rPr lang="en-US" altLang="zh-CN" sz="2000" i="1" dirty="0"/>
              <a:t>building</a:t>
            </a:r>
            <a:r>
              <a:rPr lang="en-US" altLang="zh-CN" sz="2000" dirty="0"/>
              <a:t>, </a:t>
            </a:r>
            <a:r>
              <a:rPr lang="en-US" altLang="zh-CN" sz="2000" i="1" dirty="0"/>
              <a:t>room_number</a:t>
            </a:r>
            <a:r>
              <a:rPr lang="en-US" altLang="zh-CN" sz="2000" dirty="0"/>
              <a:t>, </a:t>
            </a:r>
            <a:r>
              <a:rPr lang="en-US" altLang="zh-CN" sz="2000" i="1" dirty="0"/>
              <a:t>time_slot_id</a:t>
            </a:r>
            <a:r>
              <a:rPr lang="en-US" altLang="zh-CN" sz="2000" dirty="0"/>
              <a:t>)</a:t>
            </a:r>
          </a:p>
          <a:p>
            <a:r>
              <a:rPr lang="en-US" altLang="zh-CN" sz="2000" i="1" dirty="0"/>
              <a:t>classroom </a:t>
            </a:r>
            <a:r>
              <a:rPr lang="en-US" altLang="zh-CN" sz="2000" dirty="0"/>
              <a:t>and </a:t>
            </a:r>
            <a:r>
              <a:rPr lang="en-US" altLang="zh-CN" sz="2000" i="1" dirty="0"/>
              <a:t>section </a:t>
            </a:r>
            <a:r>
              <a:rPr lang="en-US" altLang="zh-CN" sz="2000" dirty="0"/>
              <a:t>are in BCNF.</a:t>
            </a:r>
          </a:p>
          <a:p>
            <a:endParaRPr lang="zh-CN" altLang="en-US" sz="20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4450" name="Rectangle 2"/>
          <p:cNvSpPr>
            <a:spLocks noGrp="1" noChangeArrowheads="1"/>
          </p:cNvSpPr>
          <p:nvPr>
            <p:ph type="title"/>
          </p:nvPr>
        </p:nvSpPr>
        <p:spPr>
          <a:xfrm>
            <a:off x="952500" y="66675"/>
            <a:ext cx="7831138" cy="623888"/>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BCNF and Dependency Preservation</a:t>
            </a:r>
          </a:p>
        </p:txBody>
      </p:sp>
      <p:sp>
        <p:nvSpPr>
          <p:cNvPr id="118786" name="Text Box 3"/>
          <p:cNvSpPr>
            <a:spLocks noGrp="1"/>
          </p:cNvSpPr>
          <p:nvPr>
            <p:ph idx="1"/>
          </p:nvPr>
        </p:nvSpPr>
        <p:spPr>
          <a:xfrm>
            <a:off x="942975" y="2035175"/>
            <a:ext cx="6724650" cy="4114800"/>
          </a:xfrm>
        </p:spPr>
        <p:txBody>
          <a:bodyPr wrap="square" lIns="91440" tIns="45720" rIns="91440" bIns="45720" anchor="t"/>
          <a:lstStyle/>
          <a:p>
            <a:pPr defTabSz="914400">
              <a:tabLst>
                <a:tab pos="744855" algn="l"/>
                <a:tab pos="2679700" algn="l"/>
              </a:tabLst>
            </a:pPr>
            <a:r>
              <a:rPr lang="en-US" altLang="zh-CN" sz="2000" i="1" dirty="0"/>
              <a:t>R = </a:t>
            </a:r>
            <a:r>
              <a:rPr lang="en-US" altLang="zh-CN" sz="2000" dirty="0"/>
              <a:t>(</a:t>
            </a:r>
            <a:r>
              <a:rPr lang="en-US" altLang="zh-CN" sz="2000" i="1" dirty="0"/>
              <a:t>J, K, L </a:t>
            </a:r>
            <a:r>
              <a:rPr lang="en-US" altLang="zh-CN" sz="2000" dirty="0"/>
              <a:t>)</a:t>
            </a:r>
            <a:br>
              <a:rPr lang="en-US" altLang="zh-CN" sz="2000" i="1" dirty="0"/>
            </a:br>
            <a:r>
              <a:rPr lang="en-US" altLang="zh-CN" sz="2000" i="1" dirty="0"/>
              <a:t>F = </a:t>
            </a:r>
            <a:r>
              <a:rPr lang="en-US" altLang="zh-CN" sz="2000" dirty="0"/>
              <a:t>{</a:t>
            </a:r>
            <a:r>
              <a:rPr lang="en-US" altLang="zh-CN" sz="2000" i="1" dirty="0"/>
              <a:t>JK </a:t>
            </a:r>
            <a:r>
              <a:rPr lang="en-US" altLang="zh-CN" sz="2000" dirty="0">
                <a:sym typeface="Symbol" panose="05050102010706020507" charset="2"/>
              </a:rPr>
              <a:t></a:t>
            </a:r>
            <a:r>
              <a:rPr lang="en-US" altLang="zh-CN" sz="2000" dirty="0">
                <a:sym typeface="Monotype Sorts" charset="2"/>
              </a:rPr>
              <a:t> </a:t>
            </a:r>
            <a:r>
              <a:rPr lang="en-US" altLang="zh-CN" sz="2000" i="1" dirty="0">
                <a:sym typeface="Monotype Sorts" charset="2"/>
              </a:rPr>
              <a:t>L</a:t>
            </a:r>
            <a:r>
              <a:rPr lang="zh-CN" altLang="en-US" sz="2000" i="1" dirty="0">
                <a:sym typeface="Monotype Sorts" charset="2"/>
              </a:rPr>
              <a:t>，</a:t>
            </a:r>
            <a:r>
              <a:rPr lang="en-US" altLang="zh-CN" sz="2000" i="1" dirty="0">
                <a:sym typeface="Monotype Sorts" charset="2"/>
              </a:rPr>
              <a:t>  L </a:t>
            </a:r>
            <a:r>
              <a:rPr lang="en-US" altLang="zh-CN" sz="2000" dirty="0">
                <a:sym typeface="Symbol" panose="05050102010706020507" charset="2"/>
              </a:rPr>
              <a:t></a:t>
            </a:r>
            <a:r>
              <a:rPr lang="en-US" altLang="zh-CN" sz="2000" dirty="0">
                <a:sym typeface="Monotype Sorts" charset="2"/>
              </a:rPr>
              <a:t> </a:t>
            </a:r>
            <a:r>
              <a:rPr lang="en-US" altLang="zh-CN" sz="2000" i="1" dirty="0">
                <a:sym typeface="Monotype Sorts" charset="2"/>
              </a:rPr>
              <a:t>K </a:t>
            </a:r>
            <a:r>
              <a:rPr lang="en-US" altLang="zh-CN" sz="2000" dirty="0">
                <a:sym typeface="Monotype Sorts" charset="2"/>
              </a:rPr>
              <a:t>}</a:t>
            </a:r>
            <a:br>
              <a:rPr lang="en-US" altLang="zh-CN" sz="2000" dirty="0">
                <a:sym typeface="Monotype Sorts" charset="2"/>
              </a:rPr>
            </a:br>
            <a:r>
              <a:rPr lang="en-US" altLang="zh-CN" sz="2000" dirty="0">
                <a:sym typeface="Monotype Sorts" charset="2"/>
              </a:rPr>
              <a:t>Two candidate keys = </a:t>
            </a:r>
            <a:r>
              <a:rPr lang="en-US" altLang="zh-CN" sz="2000" i="1" dirty="0">
                <a:sym typeface="Monotype Sorts" charset="2"/>
              </a:rPr>
              <a:t>JK </a:t>
            </a:r>
            <a:r>
              <a:rPr lang="en-US" altLang="zh-CN" sz="2000" dirty="0">
                <a:sym typeface="Monotype Sorts" charset="2"/>
              </a:rPr>
              <a:t>and </a:t>
            </a:r>
            <a:r>
              <a:rPr lang="en-US" altLang="zh-CN" sz="2000" i="1" dirty="0">
                <a:sym typeface="Monotype Sorts" charset="2"/>
              </a:rPr>
              <a:t>JL</a:t>
            </a:r>
          </a:p>
          <a:p>
            <a:pPr defTabSz="914400">
              <a:tabLst>
                <a:tab pos="744855" algn="l"/>
                <a:tab pos="2679700" algn="l"/>
              </a:tabLst>
            </a:pPr>
            <a:r>
              <a:rPr lang="en-US" altLang="zh-CN" sz="2000" i="1" dirty="0">
                <a:sym typeface="Monotype Sorts" charset="2"/>
              </a:rPr>
              <a:t>R </a:t>
            </a:r>
            <a:r>
              <a:rPr lang="en-US" altLang="zh-CN" sz="2000" dirty="0">
                <a:sym typeface="Monotype Sorts" charset="2"/>
              </a:rPr>
              <a:t>is not in BCNF</a:t>
            </a:r>
          </a:p>
          <a:p>
            <a:pPr defTabSz="914400">
              <a:tabLst>
                <a:tab pos="744855" algn="l"/>
                <a:tab pos="2679700" algn="l"/>
              </a:tabLst>
            </a:pPr>
            <a:r>
              <a:rPr lang="en-US" altLang="zh-CN" sz="2000" dirty="0">
                <a:sym typeface="Monotype Sorts" charset="2"/>
              </a:rPr>
              <a:t>Any decomposition of </a:t>
            </a:r>
            <a:r>
              <a:rPr lang="en-US" altLang="zh-CN" sz="2000" i="1" dirty="0">
                <a:sym typeface="Monotype Sorts" charset="2"/>
              </a:rPr>
              <a:t>R</a:t>
            </a:r>
            <a:r>
              <a:rPr lang="en-US" altLang="zh-CN" sz="2000" dirty="0">
                <a:sym typeface="Monotype Sorts" charset="2"/>
              </a:rPr>
              <a:t> will fail to preserve</a:t>
            </a:r>
          </a:p>
          <a:p>
            <a:pPr defTabSz="914400">
              <a:buNone/>
              <a:tabLst>
                <a:tab pos="744855" algn="l"/>
                <a:tab pos="2679700" algn="l"/>
              </a:tabLst>
            </a:pPr>
            <a:r>
              <a:rPr lang="en-US" altLang="zh-CN" sz="2000" dirty="0"/>
              <a:t>			</a:t>
            </a:r>
            <a:r>
              <a:rPr lang="en-US" altLang="zh-CN" sz="2000" i="1" dirty="0"/>
              <a:t>JK </a:t>
            </a:r>
            <a:r>
              <a:rPr lang="en-US" altLang="zh-CN" sz="2000" dirty="0">
                <a:sym typeface="Symbol" panose="05050102010706020507" charset="2"/>
              </a:rPr>
              <a:t></a:t>
            </a:r>
            <a:r>
              <a:rPr lang="en-US" altLang="zh-CN" sz="2000" dirty="0">
                <a:sym typeface="Monotype Sorts" charset="2"/>
              </a:rPr>
              <a:t> </a:t>
            </a:r>
            <a:r>
              <a:rPr lang="en-US" altLang="zh-CN" sz="2000" i="1" dirty="0">
                <a:sym typeface="Monotype Sorts" charset="2"/>
              </a:rPr>
              <a:t>L</a:t>
            </a:r>
          </a:p>
          <a:p>
            <a:pPr defTabSz="914400">
              <a:buNone/>
              <a:tabLst>
                <a:tab pos="744855" algn="l"/>
                <a:tab pos="2679700" algn="l"/>
              </a:tabLst>
            </a:pPr>
            <a:r>
              <a:rPr lang="en-US" altLang="zh-CN" sz="2000" dirty="0">
                <a:sym typeface="Monotype Sorts" charset="2"/>
              </a:rPr>
              <a:t>      This implies that testing for </a:t>
            </a:r>
            <a:r>
              <a:rPr lang="en-US" altLang="zh-CN" sz="2000" i="1" dirty="0"/>
              <a:t>JK </a:t>
            </a:r>
            <a:r>
              <a:rPr lang="en-US" altLang="zh-CN" sz="2000" dirty="0">
                <a:sym typeface="Symbol" panose="05050102010706020507" charset="2"/>
              </a:rPr>
              <a:t></a:t>
            </a:r>
            <a:r>
              <a:rPr lang="en-US" altLang="zh-CN" sz="2000" dirty="0">
                <a:sym typeface="Monotype Sorts" charset="2"/>
              </a:rPr>
              <a:t> </a:t>
            </a:r>
            <a:r>
              <a:rPr lang="en-US" altLang="zh-CN" sz="2000" i="1" dirty="0">
                <a:sym typeface="Monotype Sorts" charset="2"/>
              </a:rPr>
              <a:t>L </a:t>
            </a:r>
            <a:r>
              <a:rPr lang="en-US" altLang="zh-CN" sz="2000" dirty="0">
                <a:sym typeface="Monotype Sorts" charset="2"/>
              </a:rPr>
              <a:t>requires a join</a:t>
            </a:r>
            <a:endParaRPr lang="en-US" altLang="zh-CN" sz="2000" dirty="0"/>
          </a:p>
          <a:p>
            <a:pPr defTabSz="914400">
              <a:tabLst>
                <a:tab pos="744855" algn="l"/>
                <a:tab pos="2679700" algn="l"/>
              </a:tabLst>
            </a:pPr>
            <a:endParaRPr lang="zh-CN" altLang="en-US" sz="2000" dirty="0"/>
          </a:p>
        </p:txBody>
      </p:sp>
      <p:sp>
        <p:nvSpPr>
          <p:cNvPr id="118787" name="Text Box 4"/>
          <p:cNvSpPr/>
          <p:nvPr/>
        </p:nvSpPr>
        <p:spPr>
          <a:xfrm>
            <a:off x="192088" y="1069975"/>
            <a:ext cx="8774112" cy="965200"/>
          </a:xfrm>
          <a:prstGeom prst="rect">
            <a:avLst/>
          </a:prstGeom>
          <a:noFill/>
          <a:ln w="9525">
            <a:noFill/>
          </a:ln>
        </p:spPr>
        <p:txBody>
          <a:bodyPr wrap="square" lIns="91440" tIns="45720" rIns="91440" bIns="45720" anchor="t"/>
          <a:lstStyle/>
          <a:p>
            <a:pPr marL="342900" indent="-342900" defTabSz="914400" eaLnBrk="0" hangingPunct="0">
              <a:spcBef>
                <a:spcPct val="35000"/>
              </a:spcBef>
              <a:buClr>
                <a:schemeClr val="tx2"/>
              </a:buClr>
              <a:buFont typeface="Monotype Sorts" charset="0"/>
              <a:buChar char="n"/>
              <a:tabLst>
                <a:tab pos="744855" algn="l"/>
                <a:tab pos="2679700" algn="l"/>
              </a:tabLst>
            </a:pPr>
            <a:r>
              <a:rPr lang="en-US" altLang="zh-CN" sz="2400" dirty="0">
                <a:latin typeface="Arial" panose="020B0604020202020204"/>
              </a:rPr>
              <a:t>It is not always possible to get a BCNF decomposition that is dependency preserving</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6498"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Third Normal Form: Motivation</a:t>
            </a:r>
          </a:p>
        </p:txBody>
      </p:sp>
      <p:sp>
        <p:nvSpPr>
          <p:cNvPr id="120834" name="Rectangle 3"/>
          <p:cNvSpPr>
            <a:spLocks noGrp="1"/>
          </p:cNvSpPr>
          <p:nvPr>
            <p:ph idx="1"/>
          </p:nvPr>
        </p:nvSpPr>
        <p:spPr>
          <a:xfrm>
            <a:off x="56515" y="1094105"/>
            <a:ext cx="8963025" cy="5114925"/>
          </a:xfrm>
        </p:spPr>
        <p:txBody>
          <a:bodyPr wrap="square" lIns="91440" tIns="45720" rIns="91440" bIns="45720" anchor="t"/>
          <a:lstStyle/>
          <a:p>
            <a:pPr>
              <a:buFont typeface="Wingdings" panose="05000000000000000000" pitchFamily="2" charset="2"/>
              <a:buChar char="n"/>
            </a:pPr>
            <a:r>
              <a:rPr lang="en-US" altLang="zh-CN" sz="2400" dirty="0"/>
              <a:t>There are some situations where </a:t>
            </a:r>
          </a:p>
          <a:p>
            <a:pPr lvl="1">
              <a:buFont typeface="Wingdings" panose="05000000000000000000" pitchFamily="2" charset="2"/>
              <a:buChar char="n"/>
            </a:pPr>
            <a:r>
              <a:rPr lang="en-US" altLang="zh-CN" sz="2400" b="1" dirty="0">
                <a:solidFill>
                  <a:srgbClr val="7030A0"/>
                </a:solidFill>
              </a:rPr>
              <a:t>BCNF is not dependency preserving</a:t>
            </a:r>
            <a:r>
              <a:rPr lang="en-US" altLang="zh-CN" sz="2400" dirty="0"/>
              <a:t>, and </a:t>
            </a:r>
          </a:p>
          <a:p>
            <a:pPr lvl="1">
              <a:buFont typeface="Wingdings" panose="05000000000000000000" pitchFamily="2" charset="2"/>
              <a:buChar char="n"/>
            </a:pPr>
            <a:r>
              <a:rPr lang="en-US" altLang="zh-CN" sz="2400" dirty="0"/>
              <a:t>efficient checking for FD violation on updates is important</a:t>
            </a:r>
          </a:p>
          <a:p>
            <a:pPr>
              <a:buFont typeface="Wingdings" panose="05000000000000000000" pitchFamily="2" charset="2"/>
              <a:buChar char="n"/>
            </a:pPr>
            <a:r>
              <a:rPr lang="en-US" altLang="zh-CN" sz="2400" b="1" i="1" u="sng" dirty="0">
                <a:solidFill>
                  <a:srgbClr val="C00000"/>
                </a:solidFill>
                <a:effectLst>
                  <a:outerShdw blurRad="38100" dist="38100" dir="2700000" algn="tl">
                    <a:srgbClr val="000000">
                      <a:alpha val="43137"/>
                    </a:srgbClr>
                  </a:outerShdw>
                </a:effectLst>
              </a:rPr>
              <a:t>Solution:</a:t>
            </a:r>
            <a:r>
              <a:rPr lang="en-US" altLang="zh-CN" sz="2400" dirty="0"/>
              <a:t> define a weaker normal form, called Third                    Normal Form (3NF)</a:t>
            </a:r>
          </a:p>
          <a:p>
            <a:pPr lvl="1">
              <a:buFont typeface="Wingdings" panose="05000000000000000000" pitchFamily="2" charset="2"/>
              <a:buChar char="n"/>
            </a:pPr>
            <a:r>
              <a:rPr lang="en-US" altLang="zh-CN" sz="2400" dirty="0"/>
              <a:t>Allows some redundancy (with resultant problems; we </a:t>
            </a:r>
            <a:r>
              <a:rPr lang="en-US" altLang="zh-CN" sz="2400" dirty="0">
                <a:sym typeface="Greek Symbols" pitchFamily="18" charset="2"/>
              </a:rPr>
              <a:t>will see examples later)</a:t>
            </a:r>
            <a:endParaRPr lang="en-US" altLang="zh-CN" sz="2400" dirty="0"/>
          </a:p>
          <a:p>
            <a:pPr lvl="1">
              <a:buFont typeface="Wingdings" panose="05000000000000000000" pitchFamily="2" charset="2"/>
              <a:buChar char="n"/>
            </a:pPr>
            <a:r>
              <a:rPr lang="en-US" altLang="zh-CN" sz="2400" dirty="0"/>
              <a:t>But functional dependencies can be checked on individual relations without computing a join.</a:t>
            </a:r>
          </a:p>
          <a:p>
            <a:pPr lvl="1">
              <a:buFont typeface="Wingdings" panose="05000000000000000000" pitchFamily="2" charset="2"/>
              <a:buChar char="n"/>
            </a:pPr>
            <a:r>
              <a:rPr lang="en-US" altLang="zh-CN" sz="2400" b="1" i="1" u="sng" dirty="0">
                <a:solidFill>
                  <a:srgbClr val="C00000"/>
                </a:solidFill>
                <a:effectLst>
                  <a:outerShdw blurRad="38100" dist="38100" dir="2700000" algn="tl">
                    <a:srgbClr val="000000">
                      <a:alpha val="43137"/>
                    </a:srgbClr>
                  </a:outerShdw>
                </a:effectLst>
              </a:rPr>
              <a:t>There is always a lossless-join, dependency-preserving decomposition into 3NF.</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8546"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3NF Example</a:t>
            </a:r>
          </a:p>
        </p:txBody>
      </p:sp>
      <p:sp>
        <p:nvSpPr>
          <p:cNvPr id="122882" name="Rectangle 3"/>
          <p:cNvSpPr>
            <a:spLocks noGrp="1"/>
          </p:cNvSpPr>
          <p:nvPr>
            <p:ph idx="1"/>
          </p:nvPr>
        </p:nvSpPr>
        <p:spPr>
          <a:xfrm>
            <a:off x="0" y="1094105"/>
            <a:ext cx="9144635" cy="4846320"/>
          </a:xfrm>
        </p:spPr>
        <p:txBody>
          <a:bodyPr wrap="square" lIns="91440" tIns="45720" rIns="91440" bIns="45720" anchor="t"/>
          <a:lstStyle/>
          <a:p>
            <a:pPr defTabSz="914400">
              <a:buFont typeface="Wingdings" panose="05000000000000000000" pitchFamily="2" charset="2"/>
              <a:buChar char="n"/>
              <a:tabLst>
                <a:tab pos="1027430" algn="l"/>
                <a:tab pos="2456180" algn="l"/>
              </a:tabLst>
            </a:pPr>
            <a:r>
              <a:rPr lang="en-US" altLang="zh-CN" sz="2400" dirty="0"/>
              <a:t>Relation </a:t>
            </a:r>
            <a:r>
              <a:rPr lang="en-US" altLang="zh-CN" sz="2400" i="1" dirty="0"/>
              <a:t>dept_advisor</a:t>
            </a:r>
            <a:r>
              <a:rPr lang="en-US" altLang="zh-CN" sz="2400" dirty="0"/>
              <a:t>:</a:t>
            </a:r>
          </a:p>
          <a:p>
            <a:pPr lvl="1">
              <a:buFont typeface="Wingdings" panose="05000000000000000000" pitchFamily="2" charset="2"/>
              <a:buChar char="u"/>
              <a:tabLst>
                <a:tab pos="1027430" algn="l"/>
                <a:tab pos="2456180" algn="l"/>
              </a:tabLst>
            </a:pPr>
            <a:r>
              <a:rPr lang="en-US" altLang="zh-CN" sz="2400" i="1" dirty="0"/>
              <a:t>dept_advisor </a:t>
            </a:r>
            <a:r>
              <a:rPr lang="en-US" altLang="zh-CN" sz="2400" dirty="0"/>
              <a:t>(</a:t>
            </a:r>
            <a:r>
              <a:rPr lang="en-US" altLang="zh-CN" sz="2400" i="1" dirty="0"/>
              <a:t>s_ID, i_ID, dept_name)</a:t>
            </a:r>
            <a:br>
              <a:rPr lang="en-US" altLang="zh-CN" sz="2400" i="1" dirty="0"/>
            </a:br>
            <a:r>
              <a:rPr lang="en-US" altLang="zh-CN" sz="2400" i="1" dirty="0"/>
              <a:t>F = </a:t>
            </a:r>
            <a:r>
              <a:rPr lang="en-US" altLang="zh-CN" sz="2400" dirty="0"/>
              <a:t>{ </a:t>
            </a:r>
            <a:r>
              <a:rPr lang="en-US" altLang="zh-CN" sz="2400" i="1" dirty="0">
                <a:solidFill>
                  <a:srgbClr val="C00000"/>
                </a:solidFill>
              </a:rPr>
              <a:t>s_ID, dept_name</a:t>
            </a:r>
            <a:r>
              <a:rPr lang="en-US" altLang="zh-CN" sz="2400" i="1" dirty="0"/>
              <a:t> </a:t>
            </a:r>
            <a:r>
              <a:rPr lang="en-US" altLang="zh-CN" sz="2400" dirty="0">
                <a:sym typeface="Symbol" panose="05050102010706020507" charset="2"/>
              </a:rPr>
              <a:t></a:t>
            </a:r>
            <a:r>
              <a:rPr lang="en-US" altLang="zh-CN" sz="2400" i="1" dirty="0"/>
              <a:t> </a:t>
            </a:r>
            <a:r>
              <a:rPr lang="en-US" altLang="zh-CN" sz="2400" i="1" dirty="0">
                <a:solidFill>
                  <a:srgbClr val="00B050"/>
                </a:solidFill>
              </a:rPr>
              <a:t>i_ID</a:t>
            </a:r>
            <a:r>
              <a:rPr lang="en-US" altLang="zh-CN" sz="2400" i="1" dirty="0"/>
              <a:t>, </a:t>
            </a:r>
            <a:r>
              <a:rPr lang="en-US" altLang="zh-CN" sz="2400" i="1" dirty="0">
                <a:solidFill>
                  <a:srgbClr val="C00000"/>
                </a:solidFill>
              </a:rPr>
              <a:t> i_ID</a:t>
            </a:r>
            <a:r>
              <a:rPr lang="en-US" altLang="zh-CN" sz="2400" i="1" dirty="0"/>
              <a:t> </a:t>
            </a:r>
            <a:r>
              <a:rPr lang="en-US" altLang="zh-CN" sz="2400" dirty="0">
                <a:sym typeface="Symbol" panose="05050102010706020507" charset="2"/>
              </a:rPr>
              <a:t></a:t>
            </a:r>
            <a:r>
              <a:rPr lang="en-US" altLang="zh-CN" sz="2400" i="1" dirty="0">
                <a:sym typeface="Wingdings" panose="05000000000000000000" pitchFamily="2" charset="2"/>
              </a:rPr>
              <a:t> </a:t>
            </a:r>
            <a:r>
              <a:rPr lang="en-US" altLang="zh-CN" sz="2400" i="1" dirty="0">
                <a:solidFill>
                  <a:srgbClr val="00B050"/>
                </a:solidFill>
                <a:sym typeface="Wingdings" panose="05000000000000000000" pitchFamily="2" charset="2"/>
              </a:rPr>
              <a:t>dept_name </a:t>
            </a:r>
            <a:r>
              <a:rPr lang="en-US" altLang="zh-CN" sz="2400" dirty="0">
                <a:sym typeface="Monotype Sorts" charset="2"/>
              </a:rPr>
              <a:t>}</a:t>
            </a:r>
          </a:p>
          <a:p>
            <a:pPr lvl="1">
              <a:buFont typeface="Wingdings" panose="05000000000000000000" pitchFamily="2" charset="2"/>
              <a:buChar char="u"/>
              <a:tabLst>
                <a:tab pos="1027430" algn="l"/>
                <a:tab pos="2456180" algn="l"/>
              </a:tabLst>
            </a:pPr>
            <a:r>
              <a:rPr lang="en-US" altLang="zh-CN" sz="2400" dirty="0">
                <a:sym typeface="Monotype Sorts" charset="2"/>
              </a:rPr>
              <a:t>Two candidate keys:  </a:t>
            </a:r>
            <a:r>
              <a:rPr lang="en-US" altLang="zh-CN" sz="2400" b="1" i="1" u="sng" dirty="0">
                <a:solidFill>
                  <a:srgbClr val="5A2781"/>
                </a:solidFill>
                <a:effectLst>
                  <a:outerShdw blurRad="38100" dist="38100" dir="2700000" algn="tl">
                    <a:srgbClr val="000000">
                      <a:alpha val="43137"/>
                    </a:srgbClr>
                  </a:outerShdw>
                </a:effectLst>
                <a:sym typeface="Monotype Sorts" charset="2"/>
              </a:rPr>
              <a:t>s_ID, dept_name</a:t>
            </a:r>
            <a:r>
              <a:rPr lang="en-US" altLang="zh-CN" sz="2400" i="1" dirty="0">
                <a:sym typeface="Monotype Sorts" charset="2"/>
              </a:rPr>
              <a:t>, </a:t>
            </a:r>
            <a:r>
              <a:rPr lang="en-US" altLang="zh-CN" sz="2400" dirty="0">
                <a:sym typeface="Monotype Sorts" charset="2"/>
              </a:rPr>
              <a:t>and </a:t>
            </a:r>
            <a:r>
              <a:rPr lang="en-US" altLang="zh-CN" sz="2400" i="1" dirty="0">
                <a:sym typeface="Monotype Sorts" charset="2"/>
              </a:rPr>
              <a:t> </a:t>
            </a:r>
            <a:r>
              <a:rPr lang="en-US" altLang="zh-CN" sz="2400" b="1" i="1" u="sng" dirty="0">
                <a:solidFill>
                  <a:srgbClr val="5A2781"/>
                </a:solidFill>
                <a:effectLst>
                  <a:outerShdw blurRad="38100" dist="38100" dir="2700000" algn="tl">
                    <a:srgbClr val="000000">
                      <a:alpha val="43137"/>
                    </a:srgbClr>
                  </a:outerShdw>
                </a:effectLst>
                <a:sym typeface="Monotype Sorts" charset="2"/>
              </a:rPr>
              <a:t>i_ID, s_ID</a:t>
            </a:r>
          </a:p>
          <a:p>
            <a:pPr lvl="1" defTabSz="914400">
              <a:buFont typeface="Wingdings" panose="05000000000000000000" pitchFamily="2" charset="2"/>
              <a:buChar char="u"/>
              <a:tabLst>
                <a:tab pos="1027430" algn="l"/>
                <a:tab pos="2456180" algn="l"/>
              </a:tabLst>
            </a:pPr>
            <a:r>
              <a:rPr lang="en-US" altLang="zh-CN" sz="2400" i="1" dirty="0">
                <a:sym typeface="Monotype Sorts" charset="2"/>
              </a:rPr>
              <a:t>R</a:t>
            </a:r>
            <a:r>
              <a:rPr lang="en-US" altLang="zh-CN" sz="2400" dirty="0">
                <a:sym typeface="Monotype Sorts" charset="2"/>
              </a:rPr>
              <a:t> is in 3NF</a:t>
            </a:r>
          </a:p>
          <a:p>
            <a:pPr lvl="2" defTabSz="914400">
              <a:buFont typeface="Wingdings" panose="05000000000000000000" pitchFamily="2" charset="2"/>
              <a:buChar char="p"/>
              <a:tabLst>
                <a:tab pos="1027430" algn="l"/>
                <a:tab pos="2456180" algn="l"/>
              </a:tabLst>
            </a:pPr>
            <a:r>
              <a:rPr lang="en-US" altLang="zh-CN" sz="2400" i="1" dirty="0"/>
              <a:t>s_ID, dept_name </a:t>
            </a:r>
            <a:r>
              <a:rPr lang="en-US" altLang="zh-CN" sz="2400" dirty="0">
                <a:sym typeface="Symbol" panose="05050102010706020507" charset="2"/>
              </a:rPr>
              <a:t></a:t>
            </a:r>
            <a:r>
              <a:rPr lang="en-US" altLang="zh-CN" sz="2400" i="1" dirty="0"/>
              <a:t> i_ID</a:t>
            </a:r>
            <a:r>
              <a:rPr lang="en-US" altLang="zh-CN" sz="2400" i="1" dirty="0">
                <a:sym typeface="Monotype Sorts" charset="2"/>
              </a:rPr>
              <a:t>   </a:t>
            </a:r>
            <a:endParaRPr lang="en-US" altLang="zh-CN" sz="2400" i="1" dirty="0"/>
          </a:p>
          <a:p>
            <a:pPr lvl="3" defTabSz="914400">
              <a:buFont typeface="Wingdings" panose="05000000000000000000" pitchFamily="2" charset="2"/>
              <a:buChar char="Ø"/>
              <a:tabLst>
                <a:tab pos="1027430" algn="l"/>
                <a:tab pos="2456180" algn="l"/>
              </a:tabLst>
            </a:pPr>
            <a:r>
              <a:rPr lang="en-US" altLang="zh-CN" sz="2400" i="1" dirty="0">
                <a:solidFill>
                  <a:srgbClr val="00B050"/>
                </a:solidFill>
                <a:sym typeface="+mn-ea"/>
              </a:rPr>
              <a:t> i_ID</a:t>
            </a:r>
            <a:r>
              <a:rPr lang="en-US" altLang="zh-CN" sz="2400" i="1" dirty="0">
                <a:solidFill>
                  <a:srgbClr val="00B050"/>
                </a:solidFill>
                <a:sym typeface="Monotype Sorts" charset="2"/>
              </a:rPr>
              <a:t> </a:t>
            </a:r>
            <a:r>
              <a:rPr lang="en-US" altLang="zh-CN" sz="2400" dirty="0">
                <a:sym typeface="Monotype Sorts" charset="2"/>
              </a:rPr>
              <a:t>is contained in a candidate key </a:t>
            </a:r>
            <a:r>
              <a:rPr lang="en-US" altLang="zh-CN" sz="2400" dirty="0">
                <a:solidFill>
                  <a:srgbClr val="00B050"/>
                </a:solidFill>
                <a:sym typeface="Monotype Sorts" charset="2"/>
              </a:rPr>
              <a:t>{ </a:t>
            </a:r>
            <a:r>
              <a:rPr lang="en-US" altLang="zh-CN" sz="2400" i="1" dirty="0">
                <a:solidFill>
                  <a:srgbClr val="00B050"/>
                </a:solidFill>
                <a:sym typeface="Monotype Sorts" charset="2"/>
              </a:rPr>
              <a:t> </a:t>
            </a:r>
            <a:r>
              <a:rPr lang="en-US" altLang="zh-CN" sz="2400" b="1" i="1" dirty="0">
                <a:solidFill>
                  <a:srgbClr val="00B050"/>
                </a:solidFill>
                <a:effectLst>
                  <a:outerShdw blurRad="38100" dist="38100" dir="2700000" algn="tl">
                    <a:srgbClr val="000000">
                      <a:alpha val="43137"/>
                    </a:srgbClr>
                  </a:outerShdw>
                </a:effectLst>
                <a:sym typeface="Monotype Sorts" charset="2"/>
              </a:rPr>
              <a:t>i_ID</a:t>
            </a:r>
            <a:r>
              <a:rPr lang="en-US" altLang="zh-CN" sz="2400" b="1" i="1" dirty="0">
                <a:solidFill>
                  <a:srgbClr val="5A2781"/>
                </a:solidFill>
                <a:effectLst>
                  <a:outerShdw blurRad="38100" dist="38100" dir="2700000" algn="tl">
                    <a:srgbClr val="000000">
                      <a:alpha val="43137"/>
                    </a:srgbClr>
                  </a:outerShdw>
                </a:effectLst>
                <a:sym typeface="Monotype Sorts" charset="2"/>
              </a:rPr>
              <a:t>, s_ID</a:t>
            </a:r>
            <a:r>
              <a:rPr lang="en-US" altLang="zh-CN" sz="2400" dirty="0">
                <a:sym typeface="Monotype Sorts" charset="2"/>
              </a:rPr>
              <a:t> }</a:t>
            </a:r>
          </a:p>
          <a:p>
            <a:pPr lvl="2" defTabSz="914400">
              <a:buFont typeface="Wingdings" panose="05000000000000000000" pitchFamily="2" charset="2"/>
              <a:buChar char="p"/>
              <a:tabLst>
                <a:tab pos="1027430" algn="l"/>
                <a:tab pos="2456180" algn="l"/>
              </a:tabLst>
            </a:pPr>
            <a:r>
              <a:rPr lang="en-US" altLang="zh-CN" sz="2400" dirty="0">
                <a:sym typeface="Monotype Sorts" charset="2"/>
              </a:rPr>
              <a:t> </a:t>
            </a:r>
            <a:r>
              <a:rPr lang="en-US" altLang="zh-CN" sz="2400" i="1" dirty="0"/>
              <a:t>i_ID </a:t>
            </a:r>
            <a:r>
              <a:rPr lang="en-US" altLang="zh-CN" sz="2400" dirty="0">
                <a:sym typeface="Symbol" panose="05050102010706020507" charset="2"/>
              </a:rPr>
              <a:t></a:t>
            </a:r>
            <a:r>
              <a:rPr lang="en-US" altLang="zh-CN" sz="2400" i="1" dirty="0">
                <a:sym typeface="Wingdings" panose="05000000000000000000" pitchFamily="2" charset="2"/>
              </a:rPr>
              <a:t> dept_name</a:t>
            </a:r>
            <a:r>
              <a:rPr lang="en-US" altLang="zh-CN" sz="2400" i="1" dirty="0">
                <a:sym typeface="Monotype Sorts" charset="2"/>
              </a:rPr>
              <a:t> 	</a:t>
            </a:r>
          </a:p>
          <a:p>
            <a:pPr lvl="3" defTabSz="914400">
              <a:buFont typeface="Wingdings" panose="05000000000000000000" pitchFamily="2" charset="2"/>
              <a:buChar char="Ø"/>
              <a:tabLst>
                <a:tab pos="1027430" algn="l"/>
                <a:tab pos="2456180" algn="l"/>
              </a:tabLst>
            </a:pPr>
            <a:r>
              <a:rPr lang="en-US" altLang="zh-CN" sz="2400" i="1" dirty="0">
                <a:solidFill>
                  <a:srgbClr val="00B050"/>
                </a:solidFill>
                <a:sym typeface="Monotype Sorts" charset="2"/>
              </a:rPr>
              <a:t>dept_name </a:t>
            </a:r>
            <a:r>
              <a:rPr lang="en-US" altLang="zh-CN" sz="2400" dirty="0">
                <a:sym typeface="Monotype Sorts" charset="2"/>
              </a:rPr>
              <a:t>is contained in a candidate key {  </a:t>
            </a:r>
            <a:r>
              <a:rPr lang="en-US" altLang="zh-CN" sz="2400" b="1" i="1" dirty="0">
                <a:solidFill>
                  <a:srgbClr val="5A2781"/>
                </a:solidFill>
                <a:effectLst>
                  <a:outerShdw blurRad="38100" dist="38100" dir="2700000" algn="tl">
                    <a:srgbClr val="000000">
                      <a:alpha val="43137"/>
                    </a:srgbClr>
                  </a:outerShdw>
                </a:effectLst>
                <a:sym typeface="Monotype Sorts" charset="2"/>
              </a:rPr>
              <a:t>s_ID, </a:t>
            </a:r>
            <a:r>
              <a:rPr lang="en-US" altLang="zh-CN" sz="2400" b="1" i="1" dirty="0" err="1">
                <a:solidFill>
                  <a:srgbClr val="00B050"/>
                </a:solidFill>
                <a:effectLst>
                  <a:outerShdw blurRad="38100" dist="38100" dir="2700000" algn="tl">
                    <a:srgbClr val="000000">
                      <a:alpha val="43137"/>
                    </a:srgbClr>
                  </a:outerShdw>
                </a:effectLst>
                <a:sym typeface="Monotype Sorts" charset="2"/>
              </a:rPr>
              <a:t>dept_name</a:t>
            </a:r>
            <a:r>
              <a:rPr lang="en-US" altLang="zh-CN" sz="2400" dirty="0">
                <a:sym typeface="Monotype Sorts" charset="2"/>
              </a:rPr>
              <a:t>}</a:t>
            </a:r>
          </a:p>
          <a:p>
            <a:pPr defTabSz="914400">
              <a:buNone/>
              <a:tabLst>
                <a:tab pos="1027430" algn="l"/>
                <a:tab pos="2456180" algn="l"/>
              </a:tabLst>
            </a:pPr>
            <a:endParaRPr lang="en-US" altLang="zh-CN" sz="2400" dirty="0">
              <a:sym typeface="Symbol" panose="05050102010706020507" charset="2"/>
            </a:endParaRPr>
          </a:p>
          <a:p>
            <a:pPr defTabSz="914400">
              <a:tabLst>
                <a:tab pos="1027430" algn="l"/>
                <a:tab pos="2456180" algn="l"/>
              </a:tabLst>
            </a:pPr>
            <a:endParaRPr lang="zh-CN" altLang="en-US" sz="2400" dirty="0">
              <a:sym typeface="Monotype Sorts" charset="2"/>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0594" name="Rectangle 2"/>
          <p:cNvSpPr>
            <a:spLocks noGrp="1" noChangeArrowheads="1"/>
          </p:cNvSpPr>
          <p:nvPr>
            <p:ph type="title"/>
          </p:nvPr>
        </p:nvSpPr>
        <p:spPr>
          <a:xfrm>
            <a:off x="781050" y="66675"/>
            <a:ext cx="80772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Redundancy  in 3NF</a:t>
            </a:r>
          </a:p>
        </p:txBody>
      </p:sp>
      <p:sp>
        <p:nvSpPr>
          <p:cNvPr id="750595" name="Rectangle 3"/>
          <p:cNvSpPr>
            <a:spLocks noChangeArrowheads="1"/>
          </p:cNvSpPr>
          <p:nvPr/>
        </p:nvSpPr>
        <p:spPr bwMode="auto">
          <a:xfrm>
            <a:off x="4760913" y="1987550"/>
            <a:ext cx="609600" cy="381000"/>
          </a:xfrm>
          <a:prstGeom prst="rect">
            <a:avLst/>
          </a:prstGeom>
          <a:solidFill>
            <a:schemeClr val="accent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rPr>
              <a:t>J</a:t>
            </a:r>
          </a:p>
        </p:txBody>
      </p:sp>
      <p:sp>
        <p:nvSpPr>
          <p:cNvPr id="124931" name="Rectangle 4"/>
          <p:cNvSpPr/>
          <p:nvPr/>
        </p:nvSpPr>
        <p:spPr>
          <a:xfrm>
            <a:off x="4760913" y="2416175"/>
            <a:ext cx="609600" cy="1524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algn="ctr" eaLnBrk="0" hangingPunct="0">
              <a:lnSpc>
                <a:spcPct val="80000"/>
              </a:lnSpc>
            </a:pPr>
            <a:r>
              <a:rPr lang="en-US" altLang="zh-CN" sz="1800" i="1" dirty="0">
                <a:latin typeface="Helvetica" panose="020B0604020202030204" charset="0"/>
              </a:rPr>
              <a:t>j</a:t>
            </a:r>
            <a:r>
              <a:rPr lang="en-US" altLang="zh-CN" sz="1800" baseline="-25000" dirty="0">
                <a:latin typeface="Helvetica" panose="020B0604020202030204" charset="0"/>
              </a:rPr>
              <a:t>1</a:t>
            </a:r>
          </a:p>
          <a:p>
            <a:pPr algn="ctr" eaLnBrk="0" hangingPunct="0">
              <a:lnSpc>
                <a:spcPct val="80000"/>
              </a:lnSpc>
            </a:pPr>
            <a:endParaRPr lang="en-US" altLang="zh-CN" sz="1800" dirty="0">
              <a:latin typeface="Helvetica" panose="020B0604020202030204" charset="0"/>
            </a:endParaRPr>
          </a:p>
          <a:p>
            <a:pPr algn="ctr" eaLnBrk="0" hangingPunct="0">
              <a:lnSpc>
                <a:spcPct val="80000"/>
              </a:lnSpc>
            </a:pPr>
            <a:r>
              <a:rPr lang="en-US" altLang="zh-CN" sz="1800" i="1" dirty="0">
                <a:latin typeface="Helvetica" panose="020B0604020202030204" charset="0"/>
              </a:rPr>
              <a:t>j</a:t>
            </a:r>
            <a:r>
              <a:rPr lang="en-US" altLang="zh-CN" sz="1800" baseline="-25000" dirty="0">
                <a:latin typeface="Helvetica" panose="020B0604020202030204" charset="0"/>
              </a:rPr>
              <a:t>2</a:t>
            </a:r>
          </a:p>
          <a:p>
            <a:pPr algn="ctr" eaLnBrk="0" hangingPunct="0">
              <a:lnSpc>
                <a:spcPct val="80000"/>
              </a:lnSpc>
            </a:pPr>
            <a:endParaRPr lang="en-US" altLang="zh-CN" sz="1800" baseline="-25000" dirty="0">
              <a:latin typeface="Helvetica" panose="020B0604020202030204" charset="0"/>
            </a:endParaRPr>
          </a:p>
          <a:p>
            <a:pPr algn="ctr" eaLnBrk="0" hangingPunct="0">
              <a:lnSpc>
                <a:spcPct val="80000"/>
              </a:lnSpc>
            </a:pPr>
            <a:r>
              <a:rPr lang="en-US" altLang="zh-CN" sz="1800" i="1" dirty="0">
                <a:latin typeface="Helvetica" panose="020B0604020202030204" charset="0"/>
              </a:rPr>
              <a:t>j</a:t>
            </a:r>
            <a:r>
              <a:rPr lang="en-US" altLang="zh-CN" sz="1800" baseline="-25000" dirty="0">
                <a:latin typeface="Helvetica" panose="020B0604020202030204" charset="0"/>
              </a:rPr>
              <a:t>3</a:t>
            </a:r>
          </a:p>
          <a:p>
            <a:pPr algn="ctr" eaLnBrk="0" hangingPunct="0">
              <a:lnSpc>
                <a:spcPct val="80000"/>
              </a:lnSpc>
            </a:pPr>
            <a:endParaRPr lang="en-US" altLang="zh-CN" sz="1800" i="1" dirty="0">
              <a:latin typeface="Helvetica" panose="020B0604020202030204" charset="0"/>
            </a:endParaRPr>
          </a:p>
          <a:p>
            <a:pPr algn="ctr" eaLnBrk="0" hangingPunct="0">
              <a:lnSpc>
                <a:spcPct val="80000"/>
              </a:lnSpc>
            </a:pPr>
            <a:r>
              <a:rPr lang="en-US" altLang="zh-CN" sz="1800" i="1" dirty="0">
                <a:latin typeface="Helvetica" panose="020B0604020202030204" charset="0"/>
              </a:rPr>
              <a:t>null</a:t>
            </a:r>
            <a:endParaRPr lang="en-US" altLang="zh-CN" i="1" dirty="0">
              <a:latin typeface="Helvetica" panose="020B0604020202030204" charset="0"/>
            </a:endParaRPr>
          </a:p>
        </p:txBody>
      </p:sp>
      <p:sp>
        <p:nvSpPr>
          <p:cNvPr id="750597" name="Rectangle 5"/>
          <p:cNvSpPr>
            <a:spLocks noChangeArrowheads="1"/>
          </p:cNvSpPr>
          <p:nvPr/>
        </p:nvSpPr>
        <p:spPr bwMode="auto">
          <a:xfrm>
            <a:off x="5370513" y="1987550"/>
            <a:ext cx="457200" cy="381000"/>
          </a:xfrm>
          <a:prstGeom prst="rect">
            <a:avLst/>
          </a:prstGeom>
          <a:solidFill>
            <a:schemeClr val="accent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rPr>
              <a:t>L</a:t>
            </a:r>
          </a:p>
        </p:txBody>
      </p:sp>
      <p:sp>
        <p:nvSpPr>
          <p:cNvPr id="124933" name="Rectangle 6"/>
          <p:cNvSpPr/>
          <p:nvPr/>
        </p:nvSpPr>
        <p:spPr>
          <a:xfrm>
            <a:off x="5370513" y="2416175"/>
            <a:ext cx="457200" cy="1524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algn="ctr" eaLnBrk="0" hangingPunct="0">
              <a:lnSpc>
                <a:spcPct val="80000"/>
              </a:lnSpc>
            </a:pPr>
            <a:r>
              <a:rPr lang="en-US" altLang="zh-CN" sz="1800" i="1" dirty="0">
                <a:latin typeface="Helvetica" panose="020B0604020202030204" charset="0"/>
              </a:rPr>
              <a:t>l</a:t>
            </a:r>
            <a:r>
              <a:rPr lang="en-US" altLang="zh-CN" sz="1800" baseline="-25000" dirty="0">
                <a:latin typeface="Helvetica" panose="020B0604020202030204" charset="0"/>
              </a:rPr>
              <a:t>1</a:t>
            </a:r>
          </a:p>
          <a:p>
            <a:pPr algn="ctr" eaLnBrk="0" hangingPunct="0">
              <a:lnSpc>
                <a:spcPct val="80000"/>
              </a:lnSpc>
            </a:pPr>
            <a:endParaRPr lang="en-US" altLang="zh-CN" sz="1800" baseline="-25000" dirty="0">
              <a:latin typeface="Helvetica" panose="020B0604020202030204" charset="0"/>
            </a:endParaRPr>
          </a:p>
          <a:p>
            <a:pPr algn="ctr" eaLnBrk="0" hangingPunct="0">
              <a:lnSpc>
                <a:spcPct val="80000"/>
              </a:lnSpc>
            </a:pPr>
            <a:r>
              <a:rPr lang="en-US" altLang="zh-CN" sz="1800" i="1" dirty="0">
                <a:latin typeface="Helvetica" panose="020B0604020202030204" charset="0"/>
              </a:rPr>
              <a:t>l</a:t>
            </a:r>
            <a:r>
              <a:rPr lang="en-US" altLang="zh-CN" sz="1800" baseline="-25000" dirty="0">
                <a:latin typeface="Helvetica" panose="020B0604020202030204" charset="0"/>
              </a:rPr>
              <a:t>1</a:t>
            </a:r>
          </a:p>
          <a:p>
            <a:pPr algn="ctr" eaLnBrk="0" hangingPunct="0">
              <a:lnSpc>
                <a:spcPct val="80000"/>
              </a:lnSpc>
            </a:pPr>
            <a:endParaRPr lang="en-US" altLang="zh-CN" sz="1800" baseline="-25000" dirty="0">
              <a:latin typeface="Helvetica" panose="020B0604020202030204" charset="0"/>
            </a:endParaRPr>
          </a:p>
          <a:p>
            <a:pPr algn="ctr" eaLnBrk="0" hangingPunct="0">
              <a:lnSpc>
                <a:spcPct val="80000"/>
              </a:lnSpc>
            </a:pPr>
            <a:r>
              <a:rPr lang="en-US" altLang="zh-CN" sz="1800" i="1" dirty="0">
                <a:latin typeface="Helvetica" panose="020B0604020202030204" charset="0"/>
              </a:rPr>
              <a:t>l</a:t>
            </a:r>
            <a:r>
              <a:rPr lang="en-US" altLang="zh-CN" sz="1800" baseline="-25000" dirty="0">
                <a:latin typeface="Helvetica" panose="020B0604020202030204" charset="0"/>
              </a:rPr>
              <a:t>1</a:t>
            </a:r>
          </a:p>
          <a:p>
            <a:pPr algn="ctr" eaLnBrk="0" hangingPunct="0">
              <a:lnSpc>
                <a:spcPct val="80000"/>
              </a:lnSpc>
            </a:pPr>
            <a:endParaRPr lang="en-US" altLang="zh-CN" sz="1800" i="1" dirty="0">
              <a:latin typeface="Helvetica" panose="020B0604020202030204" charset="0"/>
            </a:endParaRPr>
          </a:p>
          <a:p>
            <a:pPr algn="ctr" eaLnBrk="0" hangingPunct="0">
              <a:lnSpc>
                <a:spcPct val="80000"/>
              </a:lnSpc>
            </a:pPr>
            <a:r>
              <a:rPr lang="en-US" altLang="zh-CN" sz="1800" i="1" dirty="0">
                <a:latin typeface="Helvetica" panose="020B0604020202030204" charset="0"/>
              </a:rPr>
              <a:t>l</a:t>
            </a:r>
            <a:r>
              <a:rPr lang="en-US" altLang="zh-CN" sz="1800" baseline="-25000" dirty="0">
                <a:latin typeface="Helvetica" panose="020B0604020202030204" charset="0"/>
              </a:rPr>
              <a:t>2</a:t>
            </a:r>
          </a:p>
        </p:txBody>
      </p:sp>
      <p:sp>
        <p:nvSpPr>
          <p:cNvPr id="750599" name="Rectangle 7"/>
          <p:cNvSpPr>
            <a:spLocks noChangeArrowheads="1"/>
          </p:cNvSpPr>
          <p:nvPr/>
        </p:nvSpPr>
        <p:spPr bwMode="auto">
          <a:xfrm>
            <a:off x="5827713" y="1987550"/>
            <a:ext cx="457200" cy="381000"/>
          </a:xfrm>
          <a:prstGeom prst="rect">
            <a:avLst/>
          </a:prstGeom>
          <a:solidFill>
            <a:schemeClr val="accent1"/>
          </a:solidFill>
          <a:ln w="9525">
            <a:solidFill>
              <a:schemeClr val="tx1"/>
            </a:solidFill>
            <a:miter lim="800000"/>
          </a:ln>
          <a:effec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800" b="0" i="1"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sym typeface="+mn-ea"/>
              </a:rPr>
              <a:t>K</a:t>
            </a:r>
          </a:p>
        </p:txBody>
      </p:sp>
      <p:sp>
        <p:nvSpPr>
          <p:cNvPr id="124935" name="Rectangle 8"/>
          <p:cNvSpPr/>
          <p:nvPr/>
        </p:nvSpPr>
        <p:spPr>
          <a:xfrm>
            <a:off x="5822950" y="2416175"/>
            <a:ext cx="457200" cy="15240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algn="ctr" eaLnBrk="0" hangingPunct="0">
              <a:lnSpc>
                <a:spcPct val="80000"/>
              </a:lnSpc>
            </a:pPr>
            <a:r>
              <a:rPr lang="en-US" altLang="zh-CN" sz="1800" i="1" dirty="0">
                <a:latin typeface="Helvetica" panose="020B0604020202030204" charset="0"/>
              </a:rPr>
              <a:t>k</a:t>
            </a:r>
            <a:r>
              <a:rPr lang="en-US" altLang="zh-CN" sz="1800" baseline="-25000" dirty="0">
                <a:latin typeface="Helvetica" panose="020B0604020202030204" charset="0"/>
              </a:rPr>
              <a:t>1</a:t>
            </a:r>
          </a:p>
          <a:p>
            <a:pPr algn="ctr" eaLnBrk="0" hangingPunct="0">
              <a:lnSpc>
                <a:spcPct val="80000"/>
              </a:lnSpc>
            </a:pPr>
            <a:endParaRPr lang="en-US" altLang="zh-CN" sz="1800" baseline="-25000" dirty="0">
              <a:latin typeface="Helvetica" panose="020B0604020202030204" charset="0"/>
            </a:endParaRPr>
          </a:p>
          <a:p>
            <a:pPr algn="ctr" eaLnBrk="0" hangingPunct="0">
              <a:lnSpc>
                <a:spcPct val="80000"/>
              </a:lnSpc>
            </a:pPr>
            <a:r>
              <a:rPr lang="en-US" altLang="zh-CN" sz="1800" i="1" dirty="0">
                <a:latin typeface="Helvetica" panose="020B0604020202030204" charset="0"/>
              </a:rPr>
              <a:t>k</a:t>
            </a:r>
            <a:r>
              <a:rPr lang="en-US" altLang="zh-CN" sz="1800" baseline="-25000" dirty="0">
                <a:latin typeface="Helvetica" panose="020B0604020202030204" charset="0"/>
              </a:rPr>
              <a:t>1</a:t>
            </a:r>
          </a:p>
          <a:p>
            <a:pPr algn="ctr" eaLnBrk="0" hangingPunct="0">
              <a:lnSpc>
                <a:spcPct val="80000"/>
              </a:lnSpc>
            </a:pPr>
            <a:endParaRPr lang="en-US" altLang="zh-CN" sz="1800" baseline="-25000" dirty="0">
              <a:latin typeface="Helvetica" panose="020B0604020202030204" charset="0"/>
            </a:endParaRPr>
          </a:p>
          <a:p>
            <a:pPr algn="ctr" eaLnBrk="0" hangingPunct="0">
              <a:lnSpc>
                <a:spcPct val="80000"/>
              </a:lnSpc>
            </a:pPr>
            <a:r>
              <a:rPr lang="en-US" altLang="zh-CN" sz="1800" i="1" dirty="0">
                <a:latin typeface="Helvetica" panose="020B0604020202030204" charset="0"/>
              </a:rPr>
              <a:t>k</a:t>
            </a:r>
            <a:r>
              <a:rPr lang="en-US" altLang="zh-CN" sz="1800" baseline="-25000" dirty="0">
                <a:latin typeface="Helvetica" panose="020B0604020202030204" charset="0"/>
              </a:rPr>
              <a:t>1</a:t>
            </a:r>
          </a:p>
          <a:p>
            <a:pPr algn="ctr" eaLnBrk="0" hangingPunct="0">
              <a:lnSpc>
                <a:spcPct val="80000"/>
              </a:lnSpc>
            </a:pPr>
            <a:endParaRPr lang="en-US" altLang="zh-CN" sz="1800" i="1" dirty="0">
              <a:latin typeface="Helvetica" panose="020B0604020202030204" charset="0"/>
            </a:endParaRPr>
          </a:p>
          <a:p>
            <a:pPr algn="ctr" eaLnBrk="0" hangingPunct="0">
              <a:lnSpc>
                <a:spcPct val="80000"/>
              </a:lnSpc>
            </a:pPr>
            <a:r>
              <a:rPr lang="en-US" altLang="zh-CN" sz="1800" i="1" dirty="0">
                <a:latin typeface="Helvetica" panose="020B0604020202030204" charset="0"/>
              </a:rPr>
              <a:t>k</a:t>
            </a:r>
            <a:r>
              <a:rPr lang="en-US" altLang="zh-CN" sz="1800" baseline="-25000" dirty="0">
                <a:latin typeface="Helvetica" panose="020B0604020202030204" charset="0"/>
              </a:rPr>
              <a:t>2</a:t>
            </a:r>
          </a:p>
        </p:txBody>
      </p:sp>
      <p:sp>
        <p:nvSpPr>
          <p:cNvPr id="124936" name="Rectangle 9"/>
          <p:cNvSpPr/>
          <p:nvPr/>
        </p:nvSpPr>
        <p:spPr>
          <a:xfrm>
            <a:off x="102870" y="4102735"/>
            <a:ext cx="8987155" cy="2429510"/>
          </a:xfrm>
          <a:prstGeom prst="rect">
            <a:avLst/>
          </a:prstGeom>
          <a:noFill/>
          <a:ln w="9525">
            <a:noFill/>
          </a:ln>
        </p:spPr>
        <p:txBody>
          <a:bodyPr anchor="t"/>
          <a:lstStyle/>
          <a:p>
            <a:pPr marL="342900" indent="-342900" eaLnBrk="0" hangingPunct="0">
              <a:spcBef>
                <a:spcPct val="35000"/>
              </a:spcBef>
              <a:buClr>
                <a:schemeClr val="tx2"/>
              </a:buClr>
              <a:buFont typeface="Wingdings" panose="05000000000000000000" pitchFamily="2" charset="2"/>
              <a:buChar char="n"/>
            </a:pPr>
            <a:r>
              <a:rPr lang="en-US" altLang="zh-CN" sz="2400" dirty="0">
                <a:latin typeface="Arial" panose="020B0604020202020204" pitchFamily="34" charset="0"/>
                <a:cs typeface="Arial" panose="020B0604020202020204" pitchFamily="34" charset="0"/>
                <a:sym typeface="Monotype Sorts" charset="2"/>
              </a:rPr>
              <a:t>repetition of information (e.g., the relationship </a:t>
            </a:r>
            <a:r>
              <a:rPr lang="en-US" altLang="zh-CN" sz="2400" i="1" dirty="0">
                <a:latin typeface="Arial" panose="020B0604020202020204" pitchFamily="34" charset="0"/>
                <a:cs typeface="Arial" panose="020B0604020202020204" pitchFamily="34" charset="0"/>
                <a:sym typeface="Monotype Sorts" charset="2"/>
              </a:rPr>
              <a:t>l</a:t>
            </a:r>
            <a:r>
              <a:rPr lang="en-US" altLang="zh-CN" sz="2400" baseline="-25000" dirty="0">
                <a:latin typeface="Arial" panose="020B0604020202020204" pitchFamily="34" charset="0"/>
                <a:cs typeface="Arial" panose="020B0604020202020204" pitchFamily="34" charset="0"/>
                <a:sym typeface="Monotype Sorts" charset="2"/>
              </a:rPr>
              <a:t>1</a:t>
            </a:r>
            <a:r>
              <a:rPr lang="en-US" altLang="zh-CN" sz="2400" dirty="0">
                <a:latin typeface="Arial" panose="020B0604020202020204" pitchFamily="34" charset="0"/>
                <a:cs typeface="Arial" panose="020B0604020202020204" pitchFamily="34" charset="0"/>
                <a:sym typeface="Monotype Sorts" charset="2"/>
              </a:rPr>
              <a:t>, </a:t>
            </a:r>
            <a:r>
              <a:rPr lang="en-US" altLang="zh-CN" sz="2400" i="1" dirty="0">
                <a:latin typeface="Arial" panose="020B0604020202020204" pitchFamily="34" charset="0"/>
                <a:cs typeface="Arial" panose="020B0604020202020204" pitchFamily="34" charset="0"/>
                <a:sym typeface="Monotype Sorts" charset="2"/>
              </a:rPr>
              <a:t>k</a:t>
            </a:r>
            <a:r>
              <a:rPr lang="en-US" altLang="zh-CN" sz="2400" baseline="-25000" dirty="0">
                <a:latin typeface="Arial" panose="020B0604020202020204" pitchFamily="34" charset="0"/>
                <a:cs typeface="Arial" panose="020B0604020202020204" pitchFamily="34" charset="0"/>
                <a:sym typeface="Monotype Sorts" charset="2"/>
              </a:rPr>
              <a:t>1</a:t>
            </a:r>
            <a:r>
              <a:rPr lang="en-US" altLang="zh-CN" sz="2400" dirty="0">
                <a:latin typeface="Arial" panose="020B0604020202020204" pitchFamily="34" charset="0"/>
                <a:cs typeface="Arial" panose="020B0604020202020204" pitchFamily="34" charset="0"/>
                <a:sym typeface="Monotype Sorts" charset="2"/>
              </a:rPr>
              <a:t>) </a:t>
            </a:r>
          </a:p>
          <a:p>
            <a:pPr marL="800100" lvl="1" indent="-342900" eaLnBrk="0" hangingPunct="0">
              <a:spcBef>
                <a:spcPct val="35000"/>
              </a:spcBef>
              <a:buClr>
                <a:schemeClr val="folHlink"/>
              </a:buClr>
              <a:buSzPct val="80000"/>
              <a:buFont typeface="Wingdings" panose="05000000000000000000" pitchFamily="2" charset="2"/>
              <a:buChar char="u"/>
            </a:pPr>
            <a:r>
              <a:rPr lang="en-US" altLang="zh-CN" sz="2000" dirty="0">
                <a:latin typeface="Arial" panose="020B0604020202020204" pitchFamily="34" charset="0"/>
                <a:cs typeface="Arial" panose="020B0604020202020204" pitchFamily="34" charset="0"/>
                <a:sym typeface="Monotype Sorts" charset="2"/>
              </a:rPr>
              <a:t>(</a:t>
            </a:r>
            <a:r>
              <a:rPr lang="en-US" altLang="zh-CN" sz="2000" i="1" dirty="0">
                <a:latin typeface="Arial" panose="020B0604020202020204" pitchFamily="34" charset="0"/>
                <a:cs typeface="Arial" panose="020B0604020202020204" pitchFamily="34" charset="0"/>
                <a:sym typeface="Monotype Sorts" charset="2"/>
              </a:rPr>
              <a:t>i_ID, dept_name)</a:t>
            </a:r>
            <a:endParaRPr lang="en-US" altLang="zh-CN" sz="2000" dirty="0">
              <a:latin typeface="Arial" panose="020B0604020202020204" pitchFamily="34" charset="0"/>
              <a:cs typeface="Arial" panose="020B0604020202020204" pitchFamily="34" charset="0"/>
              <a:sym typeface="Monotype Sorts" charset="2"/>
            </a:endParaRPr>
          </a:p>
          <a:p>
            <a:pPr marL="342900" indent="-342900" eaLnBrk="0" hangingPunct="0">
              <a:spcBef>
                <a:spcPct val="35000"/>
              </a:spcBef>
              <a:buClr>
                <a:schemeClr val="tx2"/>
              </a:buClr>
              <a:buFont typeface="Wingdings" panose="05000000000000000000" pitchFamily="2" charset="2"/>
              <a:buChar char="n"/>
            </a:pPr>
            <a:r>
              <a:rPr lang="en-US" altLang="zh-CN" sz="2400" dirty="0">
                <a:latin typeface="Arial" panose="020B0604020202020204" pitchFamily="34" charset="0"/>
                <a:cs typeface="Arial" panose="020B0604020202020204" pitchFamily="34" charset="0"/>
                <a:sym typeface="Monotype Sorts" charset="2"/>
              </a:rPr>
              <a:t>need to use null values (e.g., to represent the relationship</a:t>
            </a:r>
            <a:br>
              <a:rPr lang="en-US" altLang="zh-CN" sz="2400" dirty="0">
                <a:latin typeface="Arial" panose="020B0604020202020204" pitchFamily="34" charset="0"/>
                <a:cs typeface="Arial" panose="020B0604020202020204" pitchFamily="34" charset="0"/>
                <a:sym typeface="Monotype Sorts" charset="2"/>
              </a:rPr>
            </a:br>
            <a:r>
              <a:rPr lang="en-US" altLang="zh-CN" sz="2400" dirty="0">
                <a:latin typeface="Arial" panose="020B0604020202020204" pitchFamily="34" charset="0"/>
                <a:cs typeface="Arial" panose="020B0604020202020204" pitchFamily="34" charset="0"/>
                <a:sym typeface="Monotype Sorts" charset="2"/>
              </a:rPr>
              <a:t>     </a:t>
            </a:r>
            <a:r>
              <a:rPr lang="en-US" altLang="zh-CN" sz="2400" i="1" dirty="0">
                <a:latin typeface="Arial" panose="020B0604020202020204" pitchFamily="34" charset="0"/>
                <a:cs typeface="Arial" panose="020B0604020202020204" pitchFamily="34" charset="0"/>
                <a:sym typeface="Monotype Sorts" charset="2"/>
              </a:rPr>
              <a:t>l</a:t>
            </a:r>
            <a:r>
              <a:rPr lang="en-US" altLang="zh-CN" sz="2400" baseline="-25000" dirty="0">
                <a:latin typeface="Arial" panose="020B0604020202020204" pitchFamily="34" charset="0"/>
                <a:cs typeface="Arial" panose="020B0604020202020204" pitchFamily="34" charset="0"/>
                <a:sym typeface="Monotype Sorts" charset="2"/>
              </a:rPr>
              <a:t>2</a:t>
            </a:r>
            <a:r>
              <a:rPr lang="en-US" altLang="zh-CN" sz="2400" dirty="0">
                <a:latin typeface="Arial" panose="020B0604020202020204" pitchFamily="34" charset="0"/>
                <a:cs typeface="Arial" panose="020B0604020202020204" pitchFamily="34" charset="0"/>
                <a:sym typeface="Monotype Sorts" charset="2"/>
              </a:rPr>
              <a:t>, </a:t>
            </a:r>
            <a:r>
              <a:rPr lang="en-US" altLang="zh-CN" sz="2400" i="1" dirty="0">
                <a:latin typeface="Arial" panose="020B0604020202020204" pitchFamily="34" charset="0"/>
                <a:cs typeface="Arial" panose="020B0604020202020204" pitchFamily="34" charset="0"/>
                <a:sym typeface="Monotype Sorts" charset="2"/>
              </a:rPr>
              <a:t>k</a:t>
            </a:r>
            <a:r>
              <a:rPr lang="en-US" altLang="zh-CN" sz="2400" baseline="-25000" dirty="0">
                <a:latin typeface="Arial" panose="020B0604020202020204" pitchFamily="34" charset="0"/>
                <a:cs typeface="Arial" panose="020B0604020202020204" pitchFamily="34" charset="0"/>
                <a:sym typeface="Monotype Sorts" charset="2"/>
              </a:rPr>
              <a:t>2</a:t>
            </a:r>
            <a:r>
              <a:rPr lang="en-US" altLang="zh-CN" sz="2400" dirty="0">
                <a:latin typeface="Arial" panose="020B0604020202020204" pitchFamily="34" charset="0"/>
                <a:cs typeface="Arial" panose="020B0604020202020204" pitchFamily="34" charset="0"/>
                <a:sym typeface="Monotype Sorts" charset="2"/>
              </a:rPr>
              <a:t> where there is no corresponding value for </a:t>
            </a:r>
            <a:r>
              <a:rPr lang="en-US" altLang="zh-CN" sz="2400" i="1" dirty="0">
                <a:latin typeface="Arial" panose="020B0604020202020204" pitchFamily="34" charset="0"/>
                <a:cs typeface="Arial" panose="020B0604020202020204" pitchFamily="34" charset="0"/>
                <a:sym typeface="Monotype Sorts" charset="2"/>
              </a:rPr>
              <a:t>J</a:t>
            </a:r>
            <a:r>
              <a:rPr lang="en-US" altLang="zh-CN" sz="2400" dirty="0">
                <a:latin typeface="Arial" panose="020B0604020202020204" pitchFamily="34" charset="0"/>
                <a:cs typeface="Arial" panose="020B0604020202020204" pitchFamily="34" charset="0"/>
                <a:sym typeface="Monotype Sorts" charset="2"/>
              </a:rPr>
              <a:t>).</a:t>
            </a:r>
          </a:p>
          <a:p>
            <a:pPr marL="800100" lvl="1" indent="-342900" eaLnBrk="0" hangingPunct="0">
              <a:spcBef>
                <a:spcPct val="35000"/>
              </a:spcBef>
              <a:buClr>
                <a:schemeClr val="folHlink"/>
              </a:buClr>
              <a:buSzPct val="80000"/>
              <a:buFont typeface="Wingdings" panose="05000000000000000000" pitchFamily="2" charset="2"/>
              <a:buChar char="u"/>
            </a:pPr>
            <a:r>
              <a:rPr lang="en-US" altLang="zh-CN" sz="2000" dirty="0">
                <a:latin typeface="Arial" panose="020B0604020202020204" pitchFamily="34" charset="0"/>
                <a:cs typeface="Arial" panose="020B0604020202020204" pitchFamily="34" charset="0"/>
                <a:sym typeface="Monotype Sorts" charset="2"/>
              </a:rPr>
              <a:t>(</a:t>
            </a:r>
            <a:r>
              <a:rPr lang="en-US" altLang="zh-CN" sz="2000" i="1" dirty="0">
                <a:latin typeface="Arial" panose="020B0604020202020204" pitchFamily="34" charset="0"/>
                <a:cs typeface="Arial" panose="020B0604020202020204" pitchFamily="34" charset="0"/>
                <a:sym typeface="Monotype Sorts" charset="2"/>
              </a:rPr>
              <a:t>i_ID, dept_nameI) </a:t>
            </a:r>
            <a:r>
              <a:rPr lang="en-US" altLang="zh-CN" sz="2000" dirty="0">
                <a:latin typeface="Arial" panose="020B0604020202020204" pitchFamily="34" charset="0"/>
                <a:cs typeface="Arial" panose="020B0604020202020204" pitchFamily="34" charset="0"/>
                <a:sym typeface="Monotype Sorts" charset="2"/>
              </a:rPr>
              <a:t>if there is no separate relation mapping instructors to departments</a:t>
            </a:r>
          </a:p>
        </p:txBody>
      </p:sp>
      <p:sp>
        <p:nvSpPr>
          <p:cNvPr id="124937" name="Rectangle 10"/>
          <p:cNvSpPr>
            <a:spLocks noGrp="1"/>
          </p:cNvSpPr>
          <p:nvPr>
            <p:ph idx="1"/>
          </p:nvPr>
        </p:nvSpPr>
        <p:spPr>
          <a:xfrm>
            <a:off x="155575" y="948055"/>
            <a:ext cx="8620125" cy="4876800"/>
          </a:xfrm>
        </p:spPr>
        <p:txBody>
          <a:bodyPr wrap="square" lIns="91440" tIns="45720" rIns="91440" bIns="45720" anchor="t"/>
          <a:lstStyle/>
          <a:p>
            <a:pPr>
              <a:buFont typeface="Wingdings" panose="05000000000000000000" pitchFamily="2" charset="2"/>
              <a:buChar char="n"/>
            </a:pPr>
            <a:r>
              <a:rPr lang="en-US" altLang="zh-CN" sz="2400" dirty="0">
                <a:sym typeface="Symbol" panose="05050102010706020507" charset="2"/>
              </a:rPr>
              <a:t>There is some redundancy in this schema</a:t>
            </a:r>
            <a:endParaRPr lang="en-US" altLang="zh-CN" sz="2400" dirty="0"/>
          </a:p>
          <a:p>
            <a:pPr>
              <a:buFont typeface="Wingdings" panose="05000000000000000000" pitchFamily="2" charset="2"/>
              <a:buChar char="n"/>
            </a:pPr>
            <a:r>
              <a:rPr lang="en-US" altLang="zh-CN" sz="2400" dirty="0"/>
              <a:t>Example of problems due to redundancy in 3NF</a:t>
            </a:r>
          </a:p>
          <a:p>
            <a:pPr lvl="1">
              <a:buFont typeface="Wingdings" panose="05000000000000000000" pitchFamily="2" charset="2"/>
              <a:buChar char="u"/>
            </a:pPr>
            <a:r>
              <a:rPr lang="en-US" altLang="zh-CN" sz="2400" i="1" dirty="0"/>
              <a:t>R = </a:t>
            </a:r>
            <a:r>
              <a:rPr lang="en-US" altLang="zh-CN" sz="2400" dirty="0"/>
              <a:t>(</a:t>
            </a:r>
            <a:r>
              <a:rPr lang="en-US" altLang="zh-CN" sz="2400" i="1" dirty="0"/>
              <a:t>J, K, L)</a:t>
            </a:r>
            <a:br>
              <a:rPr lang="en-US" altLang="zh-CN" sz="2400" i="1" dirty="0"/>
            </a:br>
            <a:r>
              <a:rPr lang="en-US" altLang="zh-CN" sz="2400" i="1" dirty="0"/>
              <a:t>F = </a:t>
            </a:r>
            <a:r>
              <a:rPr lang="en-US" altLang="zh-CN" sz="2400" dirty="0"/>
              <a:t>{</a:t>
            </a:r>
            <a:r>
              <a:rPr lang="en-US" altLang="zh-CN" sz="2400" i="1" dirty="0"/>
              <a:t>JK </a:t>
            </a:r>
            <a:r>
              <a:rPr lang="en-US" altLang="zh-CN" sz="2400" dirty="0">
                <a:sym typeface="Symbol" panose="05050102010706020507" charset="2"/>
              </a:rPr>
              <a:t></a:t>
            </a:r>
            <a:r>
              <a:rPr lang="en-US" altLang="zh-CN" sz="2400" dirty="0">
                <a:sym typeface="Monotype Sorts" charset="2"/>
              </a:rPr>
              <a:t> </a:t>
            </a:r>
            <a:r>
              <a:rPr lang="en-US" altLang="zh-CN" sz="2400" i="1" dirty="0">
                <a:sym typeface="Monotype Sorts" charset="2"/>
              </a:rPr>
              <a:t>L, L </a:t>
            </a:r>
            <a:r>
              <a:rPr lang="en-US" altLang="zh-CN" sz="2400" dirty="0">
                <a:sym typeface="Symbol" panose="05050102010706020507" charset="2"/>
              </a:rPr>
              <a:t></a:t>
            </a:r>
            <a:r>
              <a:rPr lang="en-US" altLang="zh-CN" sz="2400" dirty="0">
                <a:sym typeface="Monotype Sorts" charset="2"/>
              </a:rPr>
              <a:t> </a:t>
            </a:r>
            <a:r>
              <a:rPr lang="en-US" altLang="zh-CN" sz="2400" i="1" dirty="0">
                <a:sym typeface="Monotype Sorts" charset="2"/>
              </a:rPr>
              <a:t>K </a:t>
            </a:r>
            <a:r>
              <a:rPr lang="en-US" altLang="zh-CN" sz="2400" dirty="0">
                <a:sym typeface="Monotype Sorts" charset="2"/>
              </a:rPr>
              <a:t>}</a:t>
            </a:r>
            <a:endParaRPr lang="en-US" altLang="zh-CN" sz="2400" dirty="0"/>
          </a:p>
        </p:txBody>
      </p:sp>
      <p:sp>
        <p:nvSpPr>
          <p:cNvPr id="2" name="矩形 1"/>
          <p:cNvSpPr/>
          <p:nvPr/>
        </p:nvSpPr>
        <p:spPr>
          <a:xfrm>
            <a:off x="4624705" y="3572510"/>
            <a:ext cx="1779905" cy="300990"/>
          </a:xfrm>
          <a:prstGeom prst="rect">
            <a:avLst/>
          </a:prstGeom>
          <a:noFill/>
          <a:ln w="12700" cap="flat" cmpd="sng" algn="ctr">
            <a:solidFill>
              <a:schemeClr val="tx2"/>
            </a:solidFill>
            <a:prstDash val="dash"/>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altLang="en-US" sz="1600" b="0" i="0" u="none" strike="noStrike" cap="none" normalizeH="0" baseline="0">
              <a:ln>
                <a:noFill/>
              </a:ln>
              <a:solidFill>
                <a:schemeClr val="tx1"/>
              </a:solidFill>
              <a:effectLst/>
              <a:latin typeface="Helvetica" panose="020B060402020203020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2642"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Testing for 3NF</a:t>
            </a:r>
          </a:p>
        </p:txBody>
      </p:sp>
      <p:sp>
        <p:nvSpPr>
          <p:cNvPr id="126978" name="Rectangle 3"/>
          <p:cNvSpPr>
            <a:spLocks noGrp="1"/>
          </p:cNvSpPr>
          <p:nvPr>
            <p:ph idx="1"/>
          </p:nvPr>
        </p:nvSpPr>
        <p:spPr>
          <a:xfrm>
            <a:off x="146050" y="1093788"/>
            <a:ext cx="8699500" cy="4903787"/>
          </a:xfrm>
        </p:spPr>
        <p:txBody>
          <a:bodyPr wrap="square" lIns="91440" tIns="45720" rIns="91440" bIns="45720" anchor="t"/>
          <a:lstStyle/>
          <a:p>
            <a:pPr>
              <a:buFont typeface="Wingdings" panose="05000000000000000000" pitchFamily="2" charset="2"/>
              <a:buChar char="n"/>
            </a:pPr>
            <a:r>
              <a:rPr lang="en-US" altLang="zh-CN" sz="2400" dirty="0"/>
              <a:t>Optimization:</a:t>
            </a:r>
            <a:r>
              <a:rPr lang="en-US" altLang="zh-CN" sz="2400" b="1" i="1" dirty="0">
                <a:solidFill>
                  <a:srgbClr val="5A2781"/>
                </a:solidFill>
                <a:effectLst>
                  <a:outerShdw blurRad="38100" dist="38100" dir="2700000" algn="tl">
                    <a:srgbClr val="000000">
                      <a:alpha val="43137"/>
                    </a:srgbClr>
                  </a:outerShdw>
                </a:effectLst>
              </a:rPr>
              <a:t> Need to check only FDs in F, need not check all FDs in F</a:t>
            </a:r>
            <a:r>
              <a:rPr lang="en-US" altLang="zh-CN" sz="2400" b="1" i="1" baseline="30000" dirty="0">
                <a:solidFill>
                  <a:srgbClr val="5A2781"/>
                </a:solidFill>
                <a:effectLst>
                  <a:outerShdw blurRad="38100" dist="38100" dir="2700000" algn="tl">
                    <a:srgbClr val="000000">
                      <a:alpha val="43137"/>
                    </a:srgbClr>
                  </a:outerShdw>
                </a:effectLst>
              </a:rPr>
              <a:t>+</a:t>
            </a:r>
            <a:r>
              <a:rPr lang="en-US" altLang="zh-CN" sz="2400" dirty="0"/>
              <a:t>.</a:t>
            </a:r>
          </a:p>
          <a:p>
            <a:pPr>
              <a:buFont typeface="Wingdings" panose="05000000000000000000" pitchFamily="2" charset="2"/>
              <a:buChar char="n"/>
            </a:pPr>
            <a:r>
              <a:rPr lang="en-US" altLang="zh-CN" sz="2400" dirty="0"/>
              <a:t>Use attribute closure to check for each dependency </a:t>
            </a:r>
            <a:r>
              <a:rPr lang="en-US" altLang="zh-CN" sz="2400" dirty="0">
                <a:sym typeface="Symbol" panose="05050102010706020507" charset="2"/>
              </a:rPr>
              <a:t>  , if  </a:t>
            </a:r>
            <a:r>
              <a:rPr lang="en-US" altLang="zh-CN" sz="2400" dirty="0"/>
              <a:t>is a superkey.</a:t>
            </a:r>
          </a:p>
          <a:p>
            <a:pPr>
              <a:buFont typeface="Wingdings" panose="05000000000000000000" pitchFamily="2" charset="2"/>
              <a:buChar char="n"/>
            </a:pPr>
            <a:r>
              <a:rPr lang="en-US" altLang="zh-CN" sz="2400" dirty="0"/>
              <a:t>If </a:t>
            </a:r>
            <a:r>
              <a:rPr lang="en-US" altLang="zh-CN" sz="2400" dirty="0">
                <a:sym typeface="Symbol" panose="05050102010706020507" charset="2"/>
              </a:rPr>
              <a:t> </a:t>
            </a:r>
            <a:r>
              <a:rPr lang="en-US" altLang="zh-CN" sz="2400" dirty="0"/>
              <a:t>is not a superkey, we have to </a:t>
            </a:r>
            <a:r>
              <a:rPr lang="en-US" altLang="zh-CN" sz="2400" dirty="0">
                <a:solidFill>
                  <a:srgbClr val="C00000"/>
                </a:solidFill>
              </a:rPr>
              <a:t>verify if each attribute in </a:t>
            </a:r>
            <a:r>
              <a:rPr lang="en-US" altLang="zh-CN" sz="2400" dirty="0">
                <a:solidFill>
                  <a:srgbClr val="C00000"/>
                </a:solidFill>
                <a:sym typeface="Symbol" panose="05050102010706020507" charset="2"/>
              </a:rPr>
              <a:t></a:t>
            </a:r>
            <a:r>
              <a:rPr lang="en-US" altLang="zh-CN" sz="2400" dirty="0">
                <a:solidFill>
                  <a:srgbClr val="C00000"/>
                </a:solidFill>
              </a:rPr>
              <a:t> is contained in a candidate key of </a:t>
            </a:r>
            <a:r>
              <a:rPr lang="en-US" altLang="zh-CN" sz="2400" i="1" dirty="0">
                <a:solidFill>
                  <a:srgbClr val="C00000"/>
                </a:solidFill>
              </a:rPr>
              <a:t>R</a:t>
            </a:r>
          </a:p>
          <a:p>
            <a:pPr lvl="1">
              <a:buFont typeface="Wingdings" panose="05000000000000000000" pitchFamily="2" charset="2"/>
              <a:buChar char="u"/>
            </a:pPr>
            <a:r>
              <a:rPr lang="en-US" altLang="zh-CN" sz="2400" dirty="0">
                <a:solidFill>
                  <a:srgbClr val="C00000"/>
                </a:solidFill>
              </a:rPr>
              <a:t>this test is rather more expensive</a:t>
            </a:r>
            <a:r>
              <a:rPr lang="en-US" altLang="zh-CN" sz="2400" dirty="0"/>
              <a:t>, since it involve finding candidate keys</a:t>
            </a:r>
          </a:p>
          <a:p>
            <a:pPr lvl="1">
              <a:buFont typeface="Wingdings" panose="05000000000000000000" pitchFamily="2" charset="2"/>
              <a:buChar char="u"/>
            </a:pPr>
            <a:r>
              <a:rPr lang="en-US" altLang="zh-CN" sz="2400" b="1" i="1" dirty="0">
                <a:solidFill>
                  <a:srgbClr val="5A2781"/>
                </a:solidFill>
                <a:effectLst>
                  <a:outerShdw blurRad="38100" dist="38100" dir="2700000" algn="tl">
                    <a:srgbClr val="000000">
                      <a:alpha val="43137"/>
                    </a:srgbClr>
                  </a:outerShdw>
                </a:effectLst>
              </a:rPr>
              <a:t>testing for 3NF has been shown to be NP-hard</a:t>
            </a:r>
          </a:p>
          <a:p>
            <a:pPr lvl="1">
              <a:buFont typeface="Wingdings" panose="05000000000000000000" pitchFamily="2" charset="2"/>
              <a:buChar char="u"/>
            </a:pPr>
            <a:r>
              <a:rPr lang="en-US" altLang="zh-CN" sz="2400" dirty="0"/>
              <a:t>Interestingly, decomposition into third normal form (described shortly) can be done in polynomial time </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4690"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3NF Decomposition Algorithm</a:t>
            </a:r>
          </a:p>
        </p:txBody>
      </p:sp>
      <p:sp>
        <p:nvSpPr>
          <p:cNvPr id="129026" name="Rectangle 3"/>
          <p:cNvSpPr>
            <a:spLocks noGrp="1"/>
          </p:cNvSpPr>
          <p:nvPr>
            <p:ph idx="1"/>
          </p:nvPr>
        </p:nvSpPr>
        <p:spPr>
          <a:xfrm>
            <a:off x="45720" y="903605"/>
            <a:ext cx="8844915" cy="5682615"/>
          </a:xfrm>
        </p:spPr>
        <p:txBody>
          <a:bodyPr wrap="square" lIns="91440" tIns="45720" rIns="91440" bIns="45720" anchor="t"/>
          <a:lstStyle/>
          <a:p>
            <a:pPr defTabSz="914400">
              <a:lnSpc>
                <a:spcPct val="90000"/>
              </a:lnSpc>
              <a:buNone/>
              <a:tabLst>
                <a:tab pos="462280" algn="l"/>
                <a:tab pos="1027430" algn="l"/>
                <a:tab pos="1310005" algn="l"/>
                <a:tab pos="1711325" algn="l"/>
              </a:tabLst>
            </a:pPr>
            <a:r>
              <a:rPr lang="en-US" altLang="zh-CN" sz="2000" dirty="0"/>
              <a:t>	Let </a:t>
            </a:r>
            <a:r>
              <a:rPr lang="en-US" altLang="zh-CN" sz="2000" i="1" dirty="0"/>
              <a:t>F</a:t>
            </a:r>
            <a:r>
              <a:rPr lang="en-US" altLang="zh-CN" sz="2000" i="1" baseline="-25000" dirty="0"/>
              <a:t>c</a:t>
            </a:r>
            <a:r>
              <a:rPr lang="en-US" altLang="zh-CN" sz="2000" i="1" dirty="0"/>
              <a:t> </a:t>
            </a:r>
            <a:r>
              <a:rPr lang="en-US" altLang="zh-CN" sz="2000" dirty="0"/>
              <a:t>be a canonical cover for </a:t>
            </a:r>
            <a:r>
              <a:rPr lang="en-US" altLang="zh-CN" sz="2000" i="1" dirty="0"/>
              <a:t>F;</a:t>
            </a:r>
            <a:br>
              <a:rPr lang="en-US" altLang="zh-CN" sz="2000" i="1" dirty="0"/>
            </a:br>
            <a:r>
              <a:rPr lang="en-US" altLang="zh-CN" sz="2000" i="1" dirty="0"/>
              <a:t>i </a:t>
            </a:r>
            <a:r>
              <a:rPr lang="en-US" altLang="zh-CN" sz="2000" dirty="0"/>
              <a:t>:= 0;</a:t>
            </a:r>
            <a:br>
              <a:rPr lang="en-US" altLang="zh-CN" sz="2000" dirty="0"/>
            </a:br>
            <a:r>
              <a:rPr lang="en-US" altLang="zh-CN" sz="2000" b="1" dirty="0"/>
              <a:t>for each </a:t>
            </a:r>
            <a:r>
              <a:rPr lang="en-US" altLang="zh-CN" sz="2000" dirty="0"/>
              <a:t> functional dependency </a:t>
            </a:r>
            <a:r>
              <a:rPr lang="en-US" altLang="zh-CN" sz="2000" dirty="0">
                <a:sym typeface="Symbol" panose="05050102010706020507" charset="2"/>
              </a:rPr>
              <a:t></a:t>
            </a:r>
            <a:r>
              <a:rPr lang="en-US" altLang="zh-CN" sz="2000" dirty="0">
                <a:sym typeface="Greek Symbols" pitchFamily="18" charset="2"/>
              </a:rPr>
              <a:t> </a:t>
            </a:r>
            <a:r>
              <a:rPr lang="en-US" altLang="zh-CN" sz="2000" dirty="0">
                <a:sym typeface="Symbol" panose="05050102010706020507" charset="2"/>
              </a:rPr>
              <a:t></a:t>
            </a:r>
            <a:r>
              <a:rPr lang="en-US" altLang="zh-CN" sz="2000" dirty="0">
                <a:sym typeface="Monotype Sorts" charset="2"/>
              </a:rPr>
              <a:t> </a:t>
            </a:r>
            <a:r>
              <a:rPr lang="en-US" altLang="zh-CN" sz="2000" i="1" dirty="0">
                <a:sym typeface="Symbol" panose="05050102010706020507" charset="2"/>
              </a:rPr>
              <a:t></a:t>
            </a:r>
            <a:r>
              <a:rPr lang="en-US" altLang="zh-CN" sz="2000" i="1" dirty="0">
                <a:sym typeface="Greek Symbols" pitchFamily="18" charset="2"/>
              </a:rPr>
              <a:t> </a:t>
            </a:r>
            <a:r>
              <a:rPr lang="en-US" altLang="zh-CN" sz="2000" dirty="0">
                <a:sym typeface="Greek Symbols" pitchFamily="18" charset="2"/>
              </a:rPr>
              <a:t>in </a:t>
            </a:r>
            <a:r>
              <a:rPr lang="en-US" altLang="zh-CN" sz="2000" i="1" dirty="0">
                <a:sym typeface="Greek Symbols" pitchFamily="18" charset="2"/>
              </a:rPr>
              <a:t>F</a:t>
            </a:r>
            <a:r>
              <a:rPr lang="en-US" altLang="zh-CN" sz="2000" i="1" baseline="-25000" dirty="0">
                <a:sym typeface="Greek Symbols" pitchFamily="18" charset="2"/>
              </a:rPr>
              <a:t>c</a:t>
            </a:r>
            <a:r>
              <a:rPr lang="en-US" altLang="zh-CN" sz="2000" i="1" dirty="0">
                <a:sym typeface="Greek Symbols" pitchFamily="18" charset="2"/>
              </a:rPr>
              <a:t> </a:t>
            </a:r>
            <a:r>
              <a:rPr lang="en-US" altLang="zh-CN" sz="2000" b="1" dirty="0">
                <a:sym typeface="Greek Symbols" pitchFamily="18" charset="2"/>
              </a:rPr>
              <a:t>do</a:t>
            </a:r>
            <a:br>
              <a:rPr lang="en-US" altLang="zh-CN" sz="2000" b="1" dirty="0">
                <a:sym typeface="Greek Symbols" pitchFamily="18" charset="2"/>
              </a:rPr>
            </a:br>
            <a:r>
              <a:rPr lang="en-US" altLang="zh-CN" sz="2000" b="1" dirty="0">
                <a:sym typeface="Greek Symbols" pitchFamily="18" charset="2"/>
              </a:rPr>
              <a:t>	if </a:t>
            </a:r>
            <a:r>
              <a:rPr lang="en-US" altLang="zh-CN" sz="2000" dirty="0">
                <a:sym typeface="Greek Symbols" pitchFamily="18" charset="2"/>
              </a:rPr>
              <a:t>none of the schemas </a:t>
            </a:r>
            <a:r>
              <a:rPr lang="en-US" altLang="zh-CN" sz="2000" i="1" dirty="0">
                <a:sym typeface="Greek Symbols" pitchFamily="18" charset="2"/>
              </a:rPr>
              <a:t>R</a:t>
            </a:r>
            <a:r>
              <a:rPr lang="en-US" altLang="zh-CN" sz="2000" i="1" baseline="-25000" dirty="0">
                <a:sym typeface="Greek Symbols" pitchFamily="18" charset="2"/>
              </a:rPr>
              <a:t>j</a:t>
            </a:r>
            <a:r>
              <a:rPr lang="en-US" altLang="zh-CN" sz="2000" i="1" dirty="0">
                <a:sym typeface="Greek Symbols" pitchFamily="18" charset="2"/>
              </a:rPr>
              <a:t>, </a:t>
            </a:r>
            <a:r>
              <a:rPr lang="en-US" altLang="zh-CN" sz="2000" dirty="0">
                <a:sym typeface="Greek Symbols" pitchFamily="18" charset="2"/>
              </a:rPr>
              <a:t>1 </a:t>
            </a:r>
            <a:r>
              <a:rPr lang="en-US" altLang="zh-CN" sz="2000" dirty="0">
                <a:sym typeface="Symbol" panose="05050102010706020507" charset="2"/>
              </a:rPr>
              <a:t> </a:t>
            </a:r>
            <a:r>
              <a:rPr lang="en-US" altLang="zh-CN" sz="2000" i="1" dirty="0">
                <a:sym typeface="Symbol" panose="05050102010706020507" charset="2"/>
              </a:rPr>
              <a:t>j </a:t>
            </a:r>
            <a:r>
              <a:rPr lang="en-US" altLang="zh-CN" sz="2000" dirty="0">
                <a:sym typeface="Greek Symbols" pitchFamily="18" charset="2"/>
              </a:rPr>
              <a:t> </a:t>
            </a:r>
            <a:r>
              <a:rPr lang="en-US" altLang="zh-CN" sz="2000" dirty="0">
                <a:sym typeface="Symbol" panose="05050102010706020507" charset="2"/>
              </a:rPr>
              <a:t></a:t>
            </a:r>
            <a:r>
              <a:rPr lang="en-US" altLang="zh-CN" sz="2000" i="1" dirty="0">
                <a:sym typeface="Symbol" panose="05050102010706020507" charset="2"/>
              </a:rPr>
              <a:t> i </a:t>
            </a:r>
            <a:r>
              <a:rPr lang="en-US" altLang="zh-CN" sz="2000" dirty="0">
                <a:sym typeface="Symbol" panose="05050102010706020507" charset="2"/>
              </a:rPr>
              <a:t>contains  </a:t>
            </a:r>
            <a:r>
              <a:rPr lang="en-US" altLang="zh-CN" sz="2000" dirty="0">
                <a:sym typeface="Greek Symbols" pitchFamily="18" charset="2"/>
              </a:rPr>
              <a:t> </a:t>
            </a:r>
            <a:r>
              <a:rPr lang="en-US" altLang="zh-CN" sz="2000" i="1" dirty="0">
                <a:sym typeface="Symbol" panose="05050102010706020507" charset="2"/>
              </a:rPr>
              <a:t></a:t>
            </a:r>
            <a:r>
              <a:rPr lang="en-US" altLang="zh-CN" sz="2000" i="1" dirty="0">
                <a:sym typeface="Greek Symbols" pitchFamily="18" charset="2"/>
              </a:rPr>
              <a:t> </a:t>
            </a:r>
            <a:br>
              <a:rPr lang="en-US" altLang="zh-CN" sz="2000" dirty="0">
                <a:sym typeface="Greek Symbols" pitchFamily="18" charset="2"/>
              </a:rPr>
            </a:br>
            <a:r>
              <a:rPr lang="en-US" altLang="zh-CN" sz="2000" dirty="0">
                <a:sym typeface="Greek Symbols" pitchFamily="18" charset="2"/>
              </a:rPr>
              <a:t>		</a:t>
            </a:r>
            <a:r>
              <a:rPr lang="en-US" altLang="zh-CN" sz="2000" b="1" dirty="0">
                <a:sym typeface="Greek Symbols" pitchFamily="18" charset="2"/>
              </a:rPr>
              <a:t>then begin</a:t>
            </a:r>
            <a:br>
              <a:rPr lang="en-US" altLang="zh-CN" sz="2000" b="1" dirty="0">
                <a:sym typeface="Greek Symbols" pitchFamily="18" charset="2"/>
              </a:rPr>
            </a:br>
            <a:r>
              <a:rPr lang="en-US" altLang="zh-CN" sz="2000" b="1" dirty="0">
                <a:sym typeface="Greek Symbols" pitchFamily="18" charset="2"/>
              </a:rPr>
              <a:t>				</a:t>
            </a:r>
            <a:r>
              <a:rPr lang="en-US" altLang="zh-CN" sz="2000" i="1" dirty="0">
                <a:sym typeface="Greek Symbols" pitchFamily="18" charset="2"/>
              </a:rPr>
              <a:t>i </a:t>
            </a:r>
            <a:r>
              <a:rPr lang="en-US" altLang="zh-CN" sz="2000" dirty="0">
                <a:sym typeface="Greek Symbols" pitchFamily="18" charset="2"/>
              </a:rPr>
              <a:t>:= </a:t>
            </a:r>
            <a:r>
              <a:rPr lang="en-US" altLang="zh-CN" sz="2000" i="1" dirty="0">
                <a:sym typeface="Greek Symbols" pitchFamily="18" charset="2"/>
              </a:rPr>
              <a:t>i  + </a:t>
            </a:r>
            <a:r>
              <a:rPr lang="en-US" altLang="zh-CN" sz="2000" dirty="0">
                <a:sym typeface="Greek Symbols" pitchFamily="18" charset="2"/>
              </a:rPr>
              <a:t>1;</a:t>
            </a:r>
            <a:br>
              <a:rPr lang="en-US" altLang="zh-CN" sz="2000" dirty="0">
                <a:sym typeface="Greek Symbols" pitchFamily="18" charset="2"/>
              </a:rPr>
            </a:br>
            <a:r>
              <a:rPr lang="en-US" altLang="zh-CN" sz="2000" dirty="0">
                <a:sym typeface="Greek Symbols" pitchFamily="18" charset="2"/>
              </a:rPr>
              <a:t>				</a:t>
            </a:r>
            <a:r>
              <a:rPr lang="en-US" altLang="zh-CN" sz="2000" i="1" dirty="0">
                <a:sym typeface="Greek Symbols" pitchFamily="18" charset="2"/>
              </a:rPr>
              <a:t>R</a:t>
            </a:r>
            <a:r>
              <a:rPr lang="en-US" altLang="zh-CN" sz="2000" i="1" baseline="-25000" dirty="0">
                <a:sym typeface="Greek Symbols" pitchFamily="18" charset="2"/>
              </a:rPr>
              <a:t>i </a:t>
            </a:r>
            <a:r>
              <a:rPr lang="en-US" altLang="zh-CN" sz="2000" dirty="0">
                <a:sym typeface="Greek Symbols" pitchFamily="18" charset="2"/>
              </a:rPr>
              <a:t> := </a:t>
            </a:r>
            <a:r>
              <a:rPr lang="en-US" altLang="zh-CN" sz="2000" dirty="0">
                <a:sym typeface="Symbol" panose="05050102010706020507" charset="2"/>
              </a:rPr>
              <a:t></a:t>
            </a:r>
            <a:r>
              <a:rPr lang="en-US" altLang="zh-CN" sz="2000" dirty="0">
                <a:sym typeface="Greek Symbols" pitchFamily="18" charset="2"/>
              </a:rPr>
              <a:t> </a:t>
            </a:r>
            <a:r>
              <a:rPr lang="en-US" altLang="zh-CN" sz="2000" i="1" dirty="0">
                <a:sym typeface="Symbol" panose="05050102010706020507" charset="2"/>
              </a:rPr>
              <a:t></a:t>
            </a:r>
            <a:r>
              <a:rPr lang="en-US" altLang="zh-CN" sz="2000" i="1" dirty="0">
                <a:sym typeface="Greek Symbols" pitchFamily="18" charset="2"/>
              </a:rPr>
              <a:t> </a:t>
            </a:r>
            <a:br>
              <a:rPr lang="en-US" altLang="zh-CN" sz="2000" i="1" dirty="0">
                <a:sym typeface="Greek Symbols" pitchFamily="18" charset="2"/>
              </a:rPr>
            </a:br>
            <a:r>
              <a:rPr lang="en-US" altLang="zh-CN" sz="2000" i="1" dirty="0">
                <a:sym typeface="Greek Symbols" pitchFamily="18" charset="2"/>
              </a:rPr>
              <a:t>			</a:t>
            </a:r>
            <a:r>
              <a:rPr lang="en-US" altLang="zh-CN" sz="2000" b="1" dirty="0">
                <a:sym typeface="Greek Symbols" pitchFamily="18" charset="2"/>
              </a:rPr>
              <a:t>end</a:t>
            </a:r>
            <a:br>
              <a:rPr lang="en-US" altLang="zh-CN" sz="2000" b="1" dirty="0">
                <a:sym typeface="Greek Symbols" pitchFamily="18" charset="2"/>
              </a:rPr>
            </a:br>
            <a:r>
              <a:rPr lang="en-US" altLang="zh-CN" sz="2000" b="1" dirty="0">
                <a:sym typeface="Greek Symbols" pitchFamily="18" charset="2"/>
              </a:rPr>
              <a:t>if</a:t>
            </a:r>
            <a:r>
              <a:rPr lang="en-US" altLang="zh-CN" sz="2000" dirty="0">
                <a:sym typeface="Greek Symbols" pitchFamily="18" charset="2"/>
              </a:rPr>
              <a:t> none of the schemas </a:t>
            </a:r>
            <a:r>
              <a:rPr lang="en-US" altLang="zh-CN" sz="2000" i="1" dirty="0">
                <a:sym typeface="Greek Symbols" pitchFamily="18" charset="2"/>
              </a:rPr>
              <a:t>R</a:t>
            </a:r>
            <a:r>
              <a:rPr lang="en-US" altLang="zh-CN" sz="2000" i="1" baseline="-25000" dirty="0">
                <a:sym typeface="Greek Symbols" pitchFamily="18" charset="2"/>
              </a:rPr>
              <a:t>j</a:t>
            </a:r>
            <a:r>
              <a:rPr lang="en-US" altLang="zh-CN" sz="2000" i="1" dirty="0">
                <a:sym typeface="Greek Symbols" pitchFamily="18" charset="2"/>
              </a:rPr>
              <a:t>, </a:t>
            </a:r>
            <a:r>
              <a:rPr lang="en-US" altLang="zh-CN" sz="2000" dirty="0">
                <a:sym typeface="Greek Symbols" pitchFamily="18" charset="2"/>
              </a:rPr>
              <a:t>1 </a:t>
            </a:r>
            <a:r>
              <a:rPr lang="en-US" altLang="zh-CN" sz="2000" dirty="0">
                <a:sym typeface="Symbol" panose="05050102010706020507" charset="2"/>
              </a:rPr>
              <a:t> </a:t>
            </a:r>
            <a:r>
              <a:rPr lang="en-US" altLang="zh-CN" sz="2000" i="1" dirty="0">
                <a:sym typeface="Symbol" panose="05050102010706020507" charset="2"/>
              </a:rPr>
              <a:t>j </a:t>
            </a:r>
            <a:r>
              <a:rPr lang="en-US" altLang="zh-CN" sz="2000" dirty="0">
                <a:sym typeface="Greek Symbols" pitchFamily="18" charset="2"/>
              </a:rPr>
              <a:t> </a:t>
            </a:r>
            <a:r>
              <a:rPr lang="en-US" altLang="zh-CN" sz="2000" dirty="0">
                <a:sym typeface="Symbol" panose="05050102010706020507" charset="2"/>
              </a:rPr>
              <a:t></a:t>
            </a:r>
            <a:r>
              <a:rPr lang="en-US" altLang="zh-CN" sz="2000" i="1" dirty="0">
                <a:sym typeface="Symbol" panose="05050102010706020507" charset="2"/>
              </a:rPr>
              <a:t> i </a:t>
            </a:r>
            <a:r>
              <a:rPr lang="en-US" altLang="zh-CN" sz="2000" dirty="0">
                <a:sym typeface="Symbol" panose="05050102010706020507" charset="2"/>
              </a:rPr>
              <a:t>contains a candidate key for </a:t>
            </a:r>
            <a:r>
              <a:rPr lang="en-US" altLang="zh-CN" sz="2000" i="1" dirty="0">
                <a:sym typeface="Symbol" panose="05050102010706020507" charset="2"/>
              </a:rPr>
              <a:t>R</a:t>
            </a:r>
            <a:br>
              <a:rPr lang="en-US" altLang="zh-CN" sz="2000" i="1" dirty="0">
                <a:sym typeface="Symbol" panose="05050102010706020507" charset="2"/>
              </a:rPr>
            </a:br>
            <a:r>
              <a:rPr lang="en-US" altLang="zh-CN" sz="2000" i="1" dirty="0">
                <a:sym typeface="Symbol" panose="05050102010706020507" charset="2"/>
              </a:rPr>
              <a:t>	</a:t>
            </a:r>
            <a:r>
              <a:rPr lang="en-US" altLang="zh-CN" sz="2000" b="1" dirty="0">
                <a:sym typeface="Symbol" panose="05050102010706020507" charset="2"/>
              </a:rPr>
              <a:t>then begin</a:t>
            </a:r>
            <a:br>
              <a:rPr lang="en-US" altLang="zh-CN" sz="2000" b="1" dirty="0">
                <a:sym typeface="Symbol" panose="05050102010706020507" charset="2"/>
              </a:rPr>
            </a:br>
            <a:r>
              <a:rPr lang="en-US" altLang="zh-CN" sz="2000" b="1" dirty="0">
                <a:sym typeface="Symbol" panose="05050102010706020507" charset="2"/>
              </a:rPr>
              <a:t>			</a:t>
            </a:r>
            <a:r>
              <a:rPr lang="en-US" altLang="zh-CN" sz="2000" i="1" dirty="0">
                <a:sym typeface="Symbol" panose="05050102010706020507" charset="2"/>
              </a:rPr>
              <a:t>i </a:t>
            </a:r>
            <a:r>
              <a:rPr lang="en-US" altLang="zh-CN" sz="2000" dirty="0">
                <a:sym typeface="Symbol" panose="05050102010706020507" charset="2"/>
              </a:rPr>
              <a:t>:=</a:t>
            </a:r>
            <a:r>
              <a:rPr lang="en-US" altLang="zh-CN" sz="2000" i="1" dirty="0">
                <a:sym typeface="Symbol" panose="05050102010706020507" charset="2"/>
              </a:rPr>
              <a:t> i </a:t>
            </a:r>
            <a:r>
              <a:rPr lang="en-US" altLang="zh-CN" sz="2000" dirty="0">
                <a:sym typeface="Symbol" panose="05050102010706020507" charset="2"/>
              </a:rPr>
              <a:t> + 1;</a:t>
            </a:r>
            <a:br>
              <a:rPr lang="en-US" altLang="zh-CN" sz="2000" dirty="0">
                <a:sym typeface="Symbol" panose="05050102010706020507" charset="2"/>
              </a:rPr>
            </a:br>
            <a:r>
              <a:rPr lang="en-US" altLang="zh-CN" sz="2000" dirty="0">
                <a:sym typeface="Symbol" panose="05050102010706020507" charset="2"/>
              </a:rPr>
              <a:t>			</a:t>
            </a:r>
            <a:r>
              <a:rPr lang="en-US" altLang="zh-CN" sz="2000" i="1" dirty="0">
                <a:sym typeface="Symbol" panose="05050102010706020507" charset="2"/>
              </a:rPr>
              <a:t>R</a:t>
            </a:r>
            <a:r>
              <a:rPr lang="en-US" altLang="zh-CN" sz="2000" i="1" baseline="-25000" dirty="0">
                <a:sym typeface="Symbol" panose="05050102010706020507" charset="2"/>
              </a:rPr>
              <a:t>i</a:t>
            </a:r>
            <a:r>
              <a:rPr lang="en-US" altLang="zh-CN" sz="2000" dirty="0">
                <a:sym typeface="Symbol" panose="05050102010706020507" charset="2"/>
              </a:rPr>
              <a:t> := any candidate key for </a:t>
            </a:r>
            <a:r>
              <a:rPr lang="en-US" altLang="zh-CN" sz="2000" i="1" dirty="0">
                <a:sym typeface="Symbol" panose="05050102010706020507" charset="2"/>
              </a:rPr>
              <a:t>R;</a:t>
            </a:r>
            <a:br>
              <a:rPr lang="en-US" altLang="zh-CN" sz="2000" i="1" dirty="0">
                <a:sym typeface="Symbol" panose="05050102010706020507" charset="2"/>
              </a:rPr>
            </a:br>
            <a:r>
              <a:rPr lang="en-US" altLang="zh-CN" sz="2000" i="1" dirty="0">
                <a:sym typeface="Symbol" panose="05050102010706020507" charset="2"/>
              </a:rPr>
              <a:t>		</a:t>
            </a:r>
            <a:r>
              <a:rPr lang="en-US" altLang="zh-CN" sz="2000" b="1" dirty="0">
                <a:sym typeface="Symbol" panose="05050102010706020507" charset="2"/>
              </a:rPr>
              <a:t>end </a:t>
            </a:r>
            <a:br>
              <a:rPr lang="en-US" altLang="zh-CN" sz="2000" b="1" dirty="0">
                <a:sym typeface="Symbol" panose="05050102010706020507" charset="2"/>
              </a:rPr>
            </a:br>
            <a:r>
              <a:rPr lang="en-US" altLang="zh-CN" sz="2000" dirty="0">
                <a:sym typeface="Symbol" panose="05050102010706020507" charset="2"/>
              </a:rPr>
              <a:t>/* Optionally, remove redundant relations */</a:t>
            </a:r>
          </a:p>
          <a:p>
            <a:pPr defTabSz="914400">
              <a:lnSpc>
                <a:spcPct val="90000"/>
              </a:lnSpc>
              <a:buNone/>
              <a:tabLst>
                <a:tab pos="462280" algn="l"/>
                <a:tab pos="1027430" algn="l"/>
                <a:tab pos="1310005" algn="l"/>
                <a:tab pos="1711325" algn="l"/>
              </a:tabLst>
            </a:pPr>
            <a:r>
              <a:rPr lang="en-US" altLang="zh-CN" sz="2000" b="1" dirty="0">
                <a:sym typeface="Symbol" panose="05050102010706020507" charset="2"/>
              </a:rPr>
              <a:t>      repeat</a:t>
            </a:r>
            <a:br>
              <a:rPr lang="en-US" altLang="zh-CN" sz="2000" b="1" dirty="0">
                <a:sym typeface="Symbol" panose="05050102010706020507" charset="2"/>
              </a:rPr>
            </a:br>
            <a:r>
              <a:rPr lang="en-US" altLang="zh-CN" sz="2000" b="1" dirty="0">
                <a:sym typeface="Symbol" panose="05050102010706020507" charset="2"/>
              </a:rPr>
              <a:t>if </a:t>
            </a:r>
            <a:r>
              <a:rPr lang="en-US" altLang="zh-CN" sz="2000" dirty="0">
                <a:sym typeface="Symbol" panose="05050102010706020507" charset="2"/>
              </a:rPr>
              <a:t>any schema </a:t>
            </a:r>
            <a:r>
              <a:rPr lang="en-US" altLang="zh-CN" sz="2000" i="1" dirty="0">
                <a:sym typeface="Symbol" panose="05050102010706020507" charset="2"/>
              </a:rPr>
              <a:t>R</a:t>
            </a:r>
            <a:r>
              <a:rPr lang="en-US" altLang="zh-CN" sz="2000" i="1" baseline="-25000" dirty="0">
                <a:sym typeface="Symbol" panose="05050102010706020507" charset="2"/>
              </a:rPr>
              <a:t>j </a:t>
            </a:r>
            <a:r>
              <a:rPr lang="en-US" altLang="zh-CN" sz="2000" dirty="0">
                <a:sym typeface="Symbol" panose="05050102010706020507" charset="2"/>
              </a:rPr>
              <a:t>is contained in another schema </a:t>
            </a:r>
            <a:r>
              <a:rPr lang="en-US" altLang="zh-CN" sz="2000" i="1" dirty="0">
                <a:sym typeface="Symbol" panose="05050102010706020507" charset="2"/>
              </a:rPr>
              <a:t>R</a:t>
            </a:r>
            <a:r>
              <a:rPr lang="en-US" altLang="zh-CN" sz="2000" i="1" baseline="-25000" dirty="0">
                <a:sym typeface="Symbol" panose="05050102010706020507" charset="2"/>
              </a:rPr>
              <a:t>k</a:t>
            </a:r>
            <a:br>
              <a:rPr lang="en-US" altLang="zh-CN" sz="2000" i="1" baseline="-25000" dirty="0">
                <a:sym typeface="Symbol" panose="05050102010706020507" charset="2"/>
              </a:rPr>
            </a:br>
            <a:r>
              <a:rPr lang="en-US" altLang="zh-CN" sz="2000" i="1" baseline="-25000" dirty="0">
                <a:sym typeface="Symbol" panose="05050102010706020507" charset="2"/>
              </a:rPr>
              <a:t>        </a:t>
            </a:r>
            <a:r>
              <a:rPr lang="en-US" altLang="zh-CN" sz="2000" b="1" dirty="0">
                <a:sym typeface="Greek Symbols" pitchFamily="18" charset="2"/>
              </a:rPr>
              <a:t>then /* </a:t>
            </a:r>
            <a:r>
              <a:rPr lang="en-US" altLang="zh-CN" sz="2000" dirty="0">
                <a:sym typeface="Greek Symbols" pitchFamily="18" charset="2"/>
              </a:rPr>
              <a:t>delete </a:t>
            </a:r>
            <a:r>
              <a:rPr lang="en-US" altLang="zh-CN" sz="2000" i="1" dirty="0">
                <a:sym typeface="Symbol" panose="05050102010706020507" charset="2"/>
              </a:rPr>
              <a:t>R</a:t>
            </a:r>
            <a:r>
              <a:rPr lang="en-US" altLang="zh-CN" sz="2000" i="1" baseline="-25000" dirty="0">
                <a:sym typeface="Symbol" panose="05050102010706020507" charset="2"/>
              </a:rPr>
              <a:t>j  </a:t>
            </a:r>
            <a:r>
              <a:rPr lang="en-US" altLang="zh-CN" sz="2000" b="1" dirty="0">
                <a:sym typeface="Greek Symbols" pitchFamily="18" charset="2"/>
              </a:rPr>
              <a:t>*/</a:t>
            </a:r>
            <a:br>
              <a:rPr lang="en-US" altLang="zh-CN" sz="2000" b="1" dirty="0">
                <a:sym typeface="Greek Symbols" pitchFamily="18" charset="2"/>
              </a:rPr>
            </a:br>
            <a:r>
              <a:rPr lang="en-US" altLang="zh-CN" sz="2000" b="1" dirty="0">
                <a:sym typeface="Greek Symbols" pitchFamily="18" charset="2"/>
              </a:rPr>
              <a:t>           </a:t>
            </a:r>
            <a:r>
              <a:rPr lang="en-US" altLang="zh-CN" sz="2000" i="1" dirty="0">
                <a:sym typeface="Symbol" panose="05050102010706020507" charset="2"/>
              </a:rPr>
              <a:t>R</a:t>
            </a:r>
            <a:r>
              <a:rPr lang="en-US" altLang="zh-CN" sz="2000" i="1" baseline="-25000" dirty="0">
                <a:sym typeface="Symbol" panose="05050102010706020507" charset="2"/>
              </a:rPr>
              <a:t>j </a:t>
            </a:r>
            <a:r>
              <a:rPr lang="en-US" altLang="zh-CN" sz="2000" i="1" dirty="0">
                <a:sym typeface="Symbol" panose="05050102010706020507" charset="2"/>
              </a:rPr>
              <a:t>= R;;</a:t>
            </a:r>
            <a:br>
              <a:rPr lang="en-US" altLang="zh-CN" sz="2000" i="1" dirty="0">
                <a:sym typeface="Symbol" panose="05050102010706020507" charset="2"/>
              </a:rPr>
            </a:br>
            <a:r>
              <a:rPr lang="en-US" altLang="zh-CN" sz="2000" i="1" dirty="0">
                <a:sym typeface="Symbol" panose="05050102010706020507" charset="2"/>
              </a:rPr>
              <a:t>           i=i-1;</a:t>
            </a:r>
            <a:br>
              <a:rPr lang="en-US" altLang="zh-CN" sz="2000" dirty="0">
                <a:sym typeface="Greek Symbols" pitchFamily="18" charset="2"/>
              </a:rPr>
            </a:br>
            <a:r>
              <a:rPr lang="en-US" altLang="zh-CN" sz="2000" b="1" dirty="0">
                <a:sym typeface="Symbol" panose="05050102010706020507" charset="2"/>
              </a:rPr>
              <a:t>return </a:t>
            </a:r>
            <a:r>
              <a:rPr lang="en-US" altLang="zh-CN" sz="2000" i="1" dirty="0">
                <a:sym typeface="Symbol" panose="05050102010706020507" charset="2"/>
              </a:rPr>
              <a:t>(R</a:t>
            </a:r>
            <a:r>
              <a:rPr lang="en-US" altLang="zh-CN" sz="2000" baseline="-25000" dirty="0">
                <a:sym typeface="Symbol" panose="05050102010706020507" charset="2"/>
              </a:rPr>
              <a:t>1</a:t>
            </a:r>
            <a:r>
              <a:rPr lang="en-US" altLang="zh-CN" sz="2000" dirty="0">
                <a:sym typeface="Symbol" panose="05050102010706020507" charset="2"/>
              </a:rPr>
              <a:t>, </a:t>
            </a:r>
            <a:r>
              <a:rPr lang="en-US" altLang="zh-CN" sz="2000" i="1" dirty="0">
                <a:sym typeface="Symbol" panose="05050102010706020507" charset="2"/>
              </a:rPr>
              <a:t>R</a:t>
            </a:r>
            <a:r>
              <a:rPr lang="en-US" altLang="zh-CN" sz="2000" baseline="-25000" dirty="0">
                <a:sym typeface="Symbol" panose="05050102010706020507" charset="2"/>
              </a:rPr>
              <a:t>2</a:t>
            </a:r>
            <a:r>
              <a:rPr lang="en-US" altLang="zh-CN" sz="2000" dirty="0">
                <a:sym typeface="Symbol" panose="05050102010706020507" charset="2"/>
              </a:rPr>
              <a:t>, ..., </a:t>
            </a:r>
            <a:r>
              <a:rPr lang="en-US" altLang="zh-CN" sz="2000" i="1" dirty="0">
                <a:sym typeface="Symbol" panose="05050102010706020507" charset="2"/>
              </a:rPr>
              <a:t>R</a:t>
            </a:r>
            <a:r>
              <a:rPr lang="en-US" altLang="zh-CN" sz="2000" i="1" baseline="-25000" dirty="0">
                <a:sym typeface="Symbol" panose="05050102010706020507" charset="2"/>
              </a:rPr>
              <a:t>i</a:t>
            </a:r>
            <a:r>
              <a:rPr lang="en-US" altLang="zh-CN" sz="2000" i="1" dirty="0">
                <a:sym typeface="Symbol" panose="05050102010706020507" charset="2"/>
              </a:rPr>
              <a:t>)</a:t>
            </a:r>
            <a:r>
              <a:rPr lang="en-US" altLang="zh-CN" sz="2000" i="1" dirty="0">
                <a:sym typeface="Greek Symbols" pitchFamily="18" charset="2"/>
              </a:rPr>
              <a:t>		    </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6738" name="Rectangle 2"/>
          <p:cNvSpPr>
            <a:spLocks noGrp="1" noChangeArrowheads="1"/>
          </p:cNvSpPr>
          <p:nvPr>
            <p:ph type="title"/>
          </p:nvPr>
        </p:nvSpPr>
        <p:spPr>
          <a:xfrm>
            <a:off x="598805" y="173355"/>
            <a:ext cx="8545195"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6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3NF Decomposition Algorithm (Cont.)</a:t>
            </a:r>
          </a:p>
        </p:txBody>
      </p:sp>
      <p:sp>
        <p:nvSpPr>
          <p:cNvPr id="131074" name="Rectangle 3"/>
          <p:cNvSpPr>
            <a:spLocks noGrp="1"/>
          </p:cNvSpPr>
          <p:nvPr>
            <p:ph idx="1"/>
          </p:nvPr>
        </p:nvSpPr>
        <p:spPr>
          <a:xfrm>
            <a:off x="300355" y="1094105"/>
            <a:ext cx="8542655" cy="4903470"/>
          </a:xfrm>
        </p:spPr>
        <p:txBody>
          <a:bodyPr wrap="square" lIns="91440" tIns="45720" rIns="91440" bIns="45720" anchor="t"/>
          <a:lstStyle/>
          <a:p>
            <a:pPr>
              <a:lnSpc>
                <a:spcPct val="90000"/>
              </a:lnSpc>
              <a:spcBef>
                <a:spcPct val="50000"/>
              </a:spcBef>
              <a:buFont typeface="Wingdings" panose="05000000000000000000" pitchFamily="2" charset="2"/>
              <a:buChar char="n"/>
            </a:pPr>
            <a:r>
              <a:rPr lang="en-US" altLang="zh-CN" sz="2800" dirty="0">
                <a:sym typeface="Monotype Sorts" charset="2"/>
              </a:rPr>
              <a:t>Above algorithm ensures:</a:t>
            </a:r>
          </a:p>
          <a:p>
            <a:pPr lvl="1">
              <a:lnSpc>
                <a:spcPct val="90000"/>
              </a:lnSpc>
              <a:spcBef>
                <a:spcPct val="50000"/>
              </a:spcBef>
              <a:buFont typeface="Wingdings" panose="05000000000000000000" pitchFamily="2" charset="2"/>
              <a:buChar char="u"/>
            </a:pPr>
            <a:r>
              <a:rPr lang="en-US" altLang="zh-CN" sz="2800" dirty="0">
                <a:solidFill>
                  <a:srgbClr val="000099"/>
                </a:solidFill>
                <a:sym typeface="Monotype Sorts" charset="2"/>
              </a:rPr>
              <a:t>each relation schema </a:t>
            </a:r>
            <a:r>
              <a:rPr lang="en-US" altLang="zh-CN" sz="2800" i="1" dirty="0">
                <a:solidFill>
                  <a:srgbClr val="000099"/>
                </a:solidFill>
                <a:sym typeface="Monotype Sorts" charset="2"/>
              </a:rPr>
              <a:t>R</a:t>
            </a:r>
            <a:r>
              <a:rPr lang="en-US" altLang="zh-CN" sz="2800" i="1" baseline="-25000" dirty="0">
                <a:solidFill>
                  <a:srgbClr val="000099"/>
                </a:solidFill>
                <a:sym typeface="Monotype Sorts" charset="2"/>
              </a:rPr>
              <a:t>i</a:t>
            </a:r>
            <a:r>
              <a:rPr lang="en-US" altLang="zh-CN" sz="2800" i="1" dirty="0">
                <a:solidFill>
                  <a:srgbClr val="000099"/>
                </a:solidFill>
                <a:sym typeface="Monotype Sorts" charset="2"/>
              </a:rPr>
              <a:t> </a:t>
            </a:r>
            <a:r>
              <a:rPr lang="en-US" altLang="zh-CN" sz="2800" dirty="0">
                <a:solidFill>
                  <a:srgbClr val="000099"/>
                </a:solidFill>
                <a:sym typeface="Monotype Sorts" charset="2"/>
              </a:rPr>
              <a:t>is in 3NF</a:t>
            </a:r>
          </a:p>
          <a:p>
            <a:pPr lvl="1">
              <a:lnSpc>
                <a:spcPct val="90000"/>
              </a:lnSpc>
              <a:spcBef>
                <a:spcPct val="50000"/>
              </a:spcBef>
              <a:buFont typeface="Wingdings" panose="05000000000000000000" pitchFamily="2" charset="2"/>
              <a:buChar char="u"/>
            </a:pPr>
            <a:r>
              <a:rPr lang="en-US" altLang="zh-CN" sz="2800" dirty="0">
                <a:solidFill>
                  <a:srgbClr val="C00000"/>
                </a:solidFill>
                <a:sym typeface="Monotype Sorts" charset="2"/>
              </a:rPr>
              <a:t>decomposition is dependency preserving and lossless-join</a:t>
            </a:r>
          </a:p>
          <a:p>
            <a:pPr lvl="1">
              <a:lnSpc>
                <a:spcPct val="90000"/>
              </a:lnSpc>
              <a:spcBef>
                <a:spcPct val="50000"/>
              </a:spcBef>
              <a:buFont typeface="Wingdings" panose="05000000000000000000" pitchFamily="2" charset="2"/>
              <a:buChar char="u"/>
            </a:pPr>
            <a:r>
              <a:rPr lang="en-US" altLang="zh-CN" sz="2800" dirty="0">
                <a:sym typeface="Monotype Sorts" charset="2"/>
              </a:rPr>
              <a:t>Proof of correctness is at end of this presentation (click here)</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8786"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6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3NF Decomposition: An Example</a:t>
            </a:r>
          </a:p>
        </p:txBody>
      </p:sp>
      <p:sp>
        <p:nvSpPr>
          <p:cNvPr id="133122" name="Rectangle 3"/>
          <p:cNvSpPr>
            <a:spLocks noGrp="1"/>
          </p:cNvSpPr>
          <p:nvPr>
            <p:ph idx="1"/>
          </p:nvPr>
        </p:nvSpPr>
        <p:spPr>
          <a:xfrm>
            <a:off x="49300" y="1163638"/>
            <a:ext cx="9094699" cy="5159375"/>
          </a:xfrm>
        </p:spPr>
        <p:txBody>
          <a:bodyPr wrap="square" lIns="91440" tIns="45720" rIns="91440" bIns="45720" anchor="t"/>
          <a:lstStyle/>
          <a:p>
            <a:pPr defTabSz="914400">
              <a:buFont typeface="Wingdings" panose="05000000000000000000" pitchFamily="2" charset="2"/>
              <a:buChar char="n"/>
              <a:tabLst>
                <a:tab pos="1027430" algn="l"/>
                <a:tab pos="2857500" algn="ctr"/>
                <a:tab pos="3037205" algn="l"/>
              </a:tabLst>
            </a:pPr>
            <a:r>
              <a:rPr lang="en-US" altLang="zh-CN" sz="2400" dirty="0"/>
              <a:t>Relation schema:</a:t>
            </a:r>
          </a:p>
          <a:p>
            <a:pPr lvl="1" defTabSz="914400">
              <a:buFont typeface="Wingdings" panose="05000000000000000000" pitchFamily="2" charset="2"/>
              <a:buChar char="u"/>
              <a:tabLst>
                <a:tab pos="1027430" algn="l"/>
                <a:tab pos="2857500" algn="ctr"/>
                <a:tab pos="3037205" algn="l"/>
              </a:tabLst>
            </a:pPr>
            <a:r>
              <a:rPr lang="en-US" altLang="zh-CN" sz="2000" i="1" dirty="0"/>
              <a:t>cust_banker_branch = </a:t>
            </a:r>
            <a:r>
              <a:rPr lang="en-US" altLang="zh-CN" sz="2000" dirty="0"/>
              <a:t>(</a:t>
            </a:r>
            <a:r>
              <a:rPr lang="en-US" altLang="zh-CN" sz="2000" i="1" u="sng" dirty="0"/>
              <a:t>customer_id, employee_id</a:t>
            </a:r>
            <a:r>
              <a:rPr lang="en-US" altLang="zh-CN" sz="2000" i="1" dirty="0"/>
              <a:t>, branch_name, type </a:t>
            </a:r>
            <a:r>
              <a:rPr lang="en-US" altLang="zh-CN" sz="2000" dirty="0"/>
              <a:t>)</a:t>
            </a:r>
            <a:endParaRPr lang="en-US" altLang="zh-CN" sz="2000" i="1" dirty="0"/>
          </a:p>
          <a:p>
            <a:pPr defTabSz="914400">
              <a:buFont typeface="Wingdings" panose="05000000000000000000" pitchFamily="2" charset="2"/>
              <a:buChar char="n"/>
              <a:tabLst>
                <a:tab pos="1027430" algn="l"/>
                <a:tab pos="2857500" algn="ctr"/>
                <a:tab pos="3037205" algn="l"/>
              </a:tabLst>
            </a:pPr>
            <a:r>
              <a:rPr lang="en-US" altLang="zh-CN" sz="2400" dirty="0"/>
              <a:t>The functional dependencies for this relation schema are:</a:t>
            </a:r>
          </a:p>
          <a:p>
            <a:pPr marL="800100" lvl="1" indent="-342900" defTabSz="914400">
              <a:buFont typeface="Monotype Sorts" charset="2"/>
              <a:buAutoNum type="arabicPeriod"/>
              <a:tabLst>
                <a:tab pos="1027430" algn="l"/>
                <a:tab pos="2857500" algn="ctr"/>
                <a:tab pos="3037205" algn="l"/>
              </a:tabLst>
            </a:pPr>
            <a:r>
              <a:rPr lang="en-US" altLang="zh-CN" sz="2000" b="1" i="1" dirty="0">
                <a:solidFill>
                  <a:srgbClr val="7030A0"/>
                </a:solidFill>
                <a:effectLst>
                  <a:outerShdw blurRad="38100" dist="38100" dir="2700000" algn="tl">
                    <a:srgbClr val="000000">
                      <a:alpha val="43137"/>
                    </a:srgbClr>
                  </a:outerShdw>
                </a:effectLst>
              </a:rPr>
              <a:t>customer_id, employee_id </a:t>
            </a:r>
            <a:r>
              <a:rPr lang="en-US" altLang="zh-CN" sz="2000" b="1" dirty="0">
                <a:solidFill>
                  <a:srgbClr val="7030A0"/>
                </a:solidFill>
                <a:effectLst>
                  <a:outerShdw blurRad="38100" dist="38100" dir="2700000" algn="tl">
                    <a:srgbClr val="000000">
                      <a:alpha val="43137"/>
                    </a:srgbClr>
                  </a:outerShdw>
                </a:effectLst>
                <a:sym typeface="Symbol" panose="05050102010706020507" charset="2"/>
              </a:rPr>
              <a:t></a:t>
            </a:r>
            <a:r>
              <a:rPr lang="en-US" altLang="zh-CN" sz="2000" b="1" dirty="0">
                <a:solidFill>
                  <a:srgbClr val="7030A0"/>
                </a:solidFill>
                <a:effectLst>
                  <a:outerShdw blurRad="38100" dist="38100" dir="2700000" algn="tl">
                    <a:srgbClr val="000000">
                      <a:alpha val="43137"/>
                    </a:srgbClr>
                  </a:outerShdw>
                </a:effectLst>
                <a:sym typeface="Monotype Sorts" charset="2"/>
              </a:rPr>
              <a:t> </a:t>
            </a:r>
            <a:r>
              <a:rPr lang="en-US" altLang="zh-CN" sz="2000" b="1" i="1" dirty="0">
                <a:solidFill>
                  <a:srgbClr val="7030A0"/>
                </a:solidFill>
                <a:effectLst>
                  <a:outerShdw blurRad="38100" dist="38100" dir="2700000" algn="tl">
                    <a:srgbClr val="000000">
                      <a:alpha val="43137"/>
                    </a:srgbClr>
                  </a:outerShdw>
                </a:effectLst>
                <a:sym typeface="Monotype Sorts" charset="2"/>
              </a:rPr>
              <a:t>branch_name, type</a:t>
            </a:r>
          </a:p>
          <a:p>
            <a:pPr marL="800100" lvl="1" indent="-342900" defTabSz="914400">
              <a:buFont typeface="Monotype Sorts" charset="2"/>
              <a:buAutoNum type="arabicPeriod"/>
              <a:tabLst>
                <a:tab pos="1027430" algn="l"/>
                <a:tab pos="2857500" algn="ctr"/>
                <a:tab pos="3037205" algn="l"/>
              </a:tabLst>
            </a:pPr>
            <a:r>
              <a:rPr lang="en-US" altLang="zh-CN" sz="2000" b="1" i="1" dirty="0">
                <a:solidFill>
                  <a:srgbClr val="7030A0"/>
                </a:solidFill>
                <a:effectLst>
                  <a:outerShdw blurRad="38100" dist="38100" dir="2700000" algn="tl">
                    <a:srgbClr val="000000">
                      <a:alpha val="43137"/>
                    </a:srgbClr>
                  </a:outerShdw>
                </a:effectLst>
                <a:sym typeface="Monotype Sorts" charset="2"/>
              </a:rPr>
              <a:t>employee_id </a:t>
            </a:r>
            <a:r>
              <a:rPr lang="en-US" altLang="zh-CN" sz="2000" b="1" dirty="0">
                <a:solidFill>
                  <a:srgbClr val="7030A0"/>
                </a:solidFill>
                <a:effectLst>
                  <a:outerShdw blurRad="38100" dist="38100" dir="2700000" algn="tl">
                    <a:srgbClr val="000000">
                      <a:alpha val="43137"/>
                    </a:srgbClr>
                  </a:outerShdw>
                </a:effectLst>
                <a:sym typeface="Symbol" panose="05050102010706020507" charset="2"/>
              </a:rPr>
              <a:t></a:t>
            </a:r>
            <a:r>
              <a:rPr lang="en-US" altLang="zh-CN" sz="2000" b="1" i="1" dirty="0">
                <a:solidFill>
                  <a:srgbClr val="7030A0"/>
                </a:solidFill>
                <a:effectLst>
                  <a:outerShdw blurRad="38100" dist="38100" dir="2700000" algn="tl">
                    <a:srgbClr val="000000">
                      <a:alpha val="43137"/>
                    </a:srgbClr>
                  </a:outerShdw>
                </a:effectLst>
                <a:sym typeface="Monotype Sorts" charset="2"/>
              </a:rPr>
              <a:t> branch_name</a:t>
            </a:r>
          </a:p>
          <a:p>
            <a:pPr marL="800100" lvl="1" indent="-342900" defTabSz="914400">
              <a:buFont typeface="Monotype Sorts" charset="2"/>
              <a:buAutoNum type="arabicPeriod"/>
              <a:tabLst>
                <a:tab pos="1027430" algn="l"/>
                <a:tab pos="2857500" algn="ctr"/>
                <a:tab pos="3037205" algn="l"/>
              </a:tabLst>
            </a:pPr>
            <a:r>
              <a:rPr lang="en-US" altLang="zh-CN" sz="2000" b="1" i="1" dirty="0">
                <a:solidFill>
                  <a:srgbClr val="7030A0"/>
                </a:solidFill>
                <a:effectLst>
                  <a:outerShdw blurRad="38100" dist="38100" dir="2700000" algn="tl">
                    <a:srgbClr val="000000">
                      <a:alpha val="43137"/>
                    </a:srgbClr>
                  </a:outerShdw>
                </a:effectLst>
                <a:sym typeface="Monotype Sorts" charset="2"/>
              </a:rPr>
              <a:t>customer_id, branch_name </a:t>
            </a:r>
            <a:r>
              <a:rPr lang="en-US" altLang="zh-CN" sz="2000" b="1" dirty="0">
                <a:solidFill>
                  <a:srgbClr val="7030A0"/>
                </a:solidFill>
                <a:effectLst>
                  <a:outerShdw blurRad="38100" dist="38100" dir="2700000" algn="tl">
                    <a:srgbClr val="000000">
                      <a:alpha val="43137"/>
                    </a:srgbClr>
                  </a:outerShdw>
                </a:effectLst>
                <a:sym typeface="Symbol" panose="05050102010706020507" charset="2"/>
              </a:rPr>
              <a:t></a:t>
            </a:r>
            <a:r>
              <a:rPr lang="en-US" altLang="zh-CN" sz="2000" b="1" dirty="0">
                <a:solidFill>
                  <a:srgbClr val="7030A0"/>
                </a:solidFill>
                <a:effectLst>
                  <a:outerShdw blurRad="38100" dist="38100" dir="2700000" algn="tl">
                    <a:srgbClr val="000000">
                      <a:alpha val="43137"/>
                    </a:srgbClr>
                  </a:outerShdw>
                </a:effectLst>
                <a:sym typeface="Monotype Sorts" charset="2"/>
              </a:rPr>
              <a:t> </a:t>
            </a:r>
            <a:r>
              <a:rPr lang="en-US" altLang="zh-CN" sz="2000" b="1" i="1" dirty="0">
                <a:solidFill>
                  <a:srgbClr val="7030A0"/>
                </a:solidFill>
                <a:effectLst>
                  <a:outerShdw blurRad="38100" dist="38100" dir="2700000" algn="tl">
                    <a:srgbClr val="000000">
                      <a:alpha val="43137"/>
                    </a:srgbClr>
                  </a:outerShdw>
                </a:effectLst>
                <a:sym typeface="Wingdings" panose="05000000000000000000" pitchFamily="2" charset="2"/>
              </a:rPr>
              <a:t>employee_id</a:t>
            </a:r>
          </a:p>
          <a:p>
            <a:pPr defTabSz="914400">
              <a:buFont typeface="Wingdings" panose="05000000000000000000" pitchFamily="2" charset="2"/>
              <a:buChar char="n"/>
              <a:tabLst>
                <a:tab pos="1027430" algn="l"/>
                <a:tab pos="2857500" algn="ctr"/>
                <a:tab pos="3037205" algn="l"/>
              </a:tabLst>
            </a:pPr>
            <a:r>
              <a:rPr lang="en-US" altLang="zh-CN" sz="2400" dirty="0">
                <a:sym typeface="Wingdings" panose="05000000000000000000" pitchFamily="2" charset="2"/>
              </a:rPr>
              <a:t>We first compute a canonical cover</a:t>
            </a:r>
          </a:p>
          <a:p>
            <a:pPr lvl="1" defTabSz="914400">
              <a:buFont typeface="Wingdings" panose="05000000000000000000" pitchFamily="2" charset="2"/>
              <a:buChar char="u"/>
              <a:tabLst>
                <a:tab pos="1027430" algn="l"/>
                <a:tab pos="2857500" algn="ctr"/>
                <a:tab pos="3037205" algn="l"/>
              </a:tabLst>
            </a:pPr>
            <a:r>
              <a:rPr lang="en-US" altLang="zh-CN" sz="2000" i="1" dirty="0">
                <a:sym typeface="Wingdings" panose="05000000000000000000" pitchFamily="2" charset="2"/>
              </a:rPr>
              <a:t>branch_name </a:t>
            </a:r>
            <a:r>
              <a:rPr lang="en-US" altLang="zh-CN" sz="2000" dirty="0">
                <a:sym typeface="Wingdings" panose="05000000000000000000" pitchFamily="2" charset="2"/>
              </a:rPr>
              <a:t>is extraneous in the r.h.s. of the 1</a:t>
            </a:r>
            <a:r>
              <a:rPr lang="en-US" altLang="zh-CN" sz="2000" baseline="30000" dirty="0">
                <a:sym typeface="Wingdings" panose="05000000000000000000" pitchFamily="2" charset="2"/>
              </a:rPr>
              <a:t>st</a:t>
            </a:r>
            <a:r>
              <a:rPr lang="en-US" altLang="zh-CN" sz="2000" dirty="0">
                <a:sym typeface="Wingdings" panose="05000000000000000000" pitchFamily="2" charset="2"/>
              </a:rPr>
              <a:t> dependency</a:t>
            </a:r>
          </a:p>
          <a:p>
            <a:pPr lvl="1" defTabSz="914400">
              <a:buFont typeface="Wingdings" panose="05000000000000000000" pitchFamily="2" charset="2"/>
              <a:buChar char="u"/>
              <a:tabLst>
                <a:tab pos="1027430" algn="l"/>
                <a:tab pos="2857500" algn="ctr"/>
                <a:tab pos="3037205" algn="l"/>
              </a:tabLst>
            </a:pPr>
            <a:r>
              <a:rPr lang="en-US" altLang="zh-CN" sz="2000" dirty="0">
                <a:sym typeface="Wingdings" panose="05000000000000000000" pitchFamily="2" charset="2"/>
              </a:rPr>
              <a:t>No other attribute is extraneous, so we get </a:t>
            </a:r>
          </a:p>
          <a:p>
            <a:pPr marL="1257300" lvl="2" indent="-342900" defTabSz="914400">
              <a:tabLst>
                <a:tab pos="1027430" algn="l"/>
                <a:tab pos="2857500" algn="ctr"/>
                <a:tab pos="3037205" algn="l"/>
              </a:tabLst>
            </a:pPr>
            <a:r>
              <a:rPr lang="en-US" altLang="zh-CN" sz="2000" dirty="0">
                <a:sym typeface="Wingdings" panose="05000000000000000000" pitchFamily="2" charset="2"/>
              </a:rPr>
              <a:t>F</a:t>
            </a:r>
            <a:r>
              <a:rPr lang="en-US" altLang="zh-CN" sz="2000" baseline="-25000" dirty="0">
                <a:sym typeface="Wingdings" panose="05000000000000000000" pitchFamily="2" charset="2"/>
              </a:rPr>
              <a:t>C </a:t>
            </a:r>
            <a:r>
              <a:rPr lang="en-US" altLang="zh-CN" sz="2000" dirty="0">
                <a:sym typeface="Wingdings" panose="05000000000000000000" pitchFamily="2" charset="2"/>
              </a:rPr>
              <a:t>={ </a:t>
            </a:r>
            <a:r>
              <a:rPr lang="en-US" altLang="zh-CN" sz="2000" i="1" dirty="0"/>
              <a:t> customer_id, employee_id </a:t>
            </a:r>
            <a:r>
              <a:rPr lang="en-US" altLang="zh-CN" sz="2000" dirty="0">
                <a:sym typeface="Symbol" panose="05050102010706020507" charset="2"/>
              </a:rPr>
              <a:t></a:t>
            </a:r>
            <a:r>
              <a:rPr lang="en-US" altLang="zh-CN" sz="2000" i="1" dirty="0">
                <a:sym typeface="Monotype Sorts" charset="2"/>
              </a:rPr>
              <a:t> type</a:t>
            </a:r>
            <a:br>
              <a:rPr lang="en-US" altLang="zh-CN" sz="2000" i="1" dirty="0">
                <a:sym typeface="Monotype Sorts" charset="2"/>
              </a:rPr>
            </a:br>
            <a:r>
              <a:rPr lang="en-US" altLang="zh-CN" sz="2000" i="1" dirty="0">
                <a:sym typeface="Monotype Sorts" charset="2"/>
              </a:rPr>
              <a:t>	          employee_id </a:t>
            </a:r>
            <a:r>
              <a:rPr lang="en-US" altLang="zh-CN" sz="2000" dirty="0">
                <a:sym typeface="Symbol" panose="05050102010706020507" charset="2"/>
              </a:rPr>
              <a:t></a:t>
            </a:r>
            <a:r>
              <a:rPr lang="en-US" altLang="zh-CN" sz="2000" i="1" dirty="0">
                <a:sym typeface="Monotype Sorts" charset="2"/>
              </a:rPr>
              <a:t> branch_name</a:t>
            </a:r>
            <a:br>
              <a:rPr lang="en-US" altLang="zh-CN" sz="2000" i="1" dirty="0">
                <a:sym typeface="Monotype Sorts" charset="2"/>
              </a:rPr>
            </a:br>
            <a:r>
              <a:rPr lang="en-US" altLang="zh-CN" sz="2000" i="1" dirty="0">
                <a:sym typeface="Monotype Sorts" charset="2"/>
              </a:rPr>
              <a:t>          customer_id, branch_name </a:t>
            </a:r>
            <a:r>
              <a:rPr lang="en-US" altLang="zh-CN" sz="2000" dirty="0">
                <a:sym typeface="Symbol" panose="05050102010706020507" charset="2"/>
              </a:rPr>
              <a:t></a:t>
            </a:r>
            <a:r>
              <a:rPr lang="en-US" altLang="zh-CN" sz="2000" dirty="0">
                <a:sym typeface="Monotype Sorts" charset="2"/>
              </a:rPr>
              <a:t> </a:t>
            </a:r>
            <a:r>
              <a:rPr lang="en-US" altLang="zh-CN" sz="2000" i="1" dirty="0">
                <a:sym typeface="Wingdings" panose="05000000000000000000" pitchFamily="2" charset="2"/>
              </a:rPr>
              <a:t>employee_id </a:t>
            </a:r>
            <a:r>
              <a:rPr lang="en-US" altLang="zh-CN" sz="2000" dirty="0">
                <a:sym typeface="Wingdings" panose="05000000000000000000" pitchFamily="2" charset="2"/>
              </a:rPr>
              <a:t> }</a:t>
            </a:r>
            <a:endParaRPr lang="zh-CN" altLang="en-US" sz="2000" dirty="0">
              <a:sym typeface="Wingdings" panose="05000000000000000000" pitchFamily="2" charset="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0834"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3NF Decompsition Example (Cont.)</a:t>
            </a:r>
          </a:p>
        </p:txBody>
      </p:sp>
      <p:sp>
        <p:nvSpPr>
          <p:cNvPr id="760835" name="Rectangle 3"/>
          <p:cNvSpPr>
            <a:spLocks noGrp="1"/>
          </p:cNvSpPr>
          <p:nvPr>
            <p:ph idx="1"/>
          </p:nvPr>
        </p:nvSpPr>
        <p:spPr>
          <a:xfrm>
            <a:off x="136525" y="985838"/>
            <a:ext cx="8918575" cy="5562600"/>
          </a:xfrm>
        </p:spPr>
        <p:txBody>
          <a:bodyPr wrap="square" lIns="91440" tIns="45720" rIns="91440" bIns="45720" anchor="t"/>
          <a:lstStyle/>
          <a:p>
            <a:pPr>
              <a:buFont typeface="Wingdings" panose="05000000000000000000" pitchFamily="2" charset="2"/>
              <a:buChar char="n"/>
            </a:pPr>
            <a:r>
              <a:rPr lang="en-US" altLang="zh-CN" sz="2400" dirty="0">
                <a:sym typeface="Monotype Sorts" charset="2"/>
              </a:rPr>
              <a:t>The </a:t>
            </a:r>
            <a:r>
              <a:rPr lang="en-US" altLang="zh-CN" sz="2400" b="1" dirty="0">
                <a:sym typeface="Monotype Sorts" charset="2"/>
              </a:rPr>
              <a:t>for</a:t>
            </a:r>
            <a:r>
              <a:rPr lang="en-US" altLang="zh-CN" sz="2400" dirty="0">
                <a:sym typeface="Monotype Sorts" charset="2"/>
              </a:rPr>
              <a:t> loop generates following 3NF schema:</a:t>
            </a:r>
          </a:p>
          <a:p>
            <a:pPr>
              <a:buNone/>
            </a:pPr>
            <a:r>
              <a:rPr lang="en-US" altLang="zh-CN" sz="2000" dirty="0">
                <a:sym typeface="Monotype Sorts" charset="2"/>
              </a:rPr>
              <a:t>	            (</a:t>
            </a:r>
            <a:r>
              <a:rPr lang="en-US" altLang="zh-CN" sz="2000" i="1" dirty="0"/>
              <a:t>customer_id, employee_id, type </a:t>
            </a:r>
            <a:r>
              <a:rPr lang="en-US" altLang="zh-CN" sz="2000" dirty="0"/>
              <a:t>)</a:t>
            </a:r>
          </a:p>
          <a:p>
            <a:pPr>
              <a:buNone/>
            </a:pPr>
            <a:r>
              <a:rPr lang="en-US" altLang="zh-CN" sz="2000" dirty="0"/>
              <a:t>                  </a:t>
            </a:r>
            <a:r>
              <a:rPr lang="en-US" altLang="zh-CN" sz="2000" dirty="0">
                <a:sym typeface="Monotype Sorts" charset="2"/>
              </a:rPr>
              <a:t>(</a:t>
            </a:r>
            <a:r>
              <a:rPr lang="en-US" altLang="zh-CN" sz="2000" i="1" u="sng" dirty="0"/>
              <a:t>employee_id</a:t>
            </a:r>
            <a:r>
              <a:rPr lang="en-US" altLang="zh-CN" sz="2000" i="1" dirty="0"/>
              <a:t>, branch_name</a:t>
            </a:r>
            <a:r>
              <a:rPr lang="en-US" altLang="zh-CN" sz="2000" dirty="0"/>
              <a:t>)</a:t>
            </a:r>
          </a:p>
          <a:p>
            <a:pPr>
              <a:buNone/>
            </a:pPr>
            <a:r>
              <a:rPr lang="en-US" altLang="zh-CN" sz="2000" dirty="0"/>
              <a:t>                  (</a:t>
            </a:r>
            <a:r>
              <a:rPr lang="en-US" altLang="zh-CN" sz="2000" i="1" dirty="0"/>
              <a:t>customer_id, branch_name, employee_id)</a:t>
            </a:r>
          </a:p>
          <a:p>
            <a:pPr lvl="1">
              <a:lnSpc>
                <a:spcPct val="80000"/>
              </a:lnSpc>
              <a:buFont typeface="Wingdings" panose="05000000000000000000" pitchFamily="2" charset="2"/>
              <a:buChar char="u"/>
            </a:pPr>
            <a:r>
              <a:rPr lang="en-US" altLang="zh-CN" sz="2000" dirty="0"/>
              <a:t>Observe that</a:t>
            </a:r>
            <a:r>
              <a:rPr lang="en-US" altLang="zh-CN" sz="2000" dirty="0">
                <a:sym typeface="Monotype Sorts" charset="2"/>
              </a:rPr>
              <a:t> (</a:t>
            </a:r>
            <a:r>
              <a:rPr lang="en-US" altLang="zh-CN" sz="2000" i="1" dirty="0"/>
              <a:t>customer_id, employee_id, type </a:t>
            </a:r>
            <a:r>
              <a:rPr lang="en-US" altLang="zh-CN" sz="2000" dirty="0"/>
              <a:t>) contains a candidate key of the original schema, so no further relation schema needs be added</a:t>
            </a:r>
          </a:p>
          <a:p>
            <a:pPr>
              <a:buFont typeface="Wingdings" panose="05000000000000000000" pitchFamily="2" charset="2"/>
              <a:buChar char="n"/>
            </a:pPr>
            <a:r>
              <a:rPr lang="en-US" altLang="zh-CN" sz="2400" dirty="0"/>
              <a:t>At end of for loop, detect and delete schemas, such as  </a:t>
            </a:r>
            <a:r>
              <a:rPr lang="en-US" altLang="zh-CN" sz="2400" dirty="0">
                <a:sym typeface="Monotype Sorts" charset="2"/>
              </a:rPr>
              <a:t>(</a:t>
            </a:r>
            <a:r>
              <a:rPr lang="en-US" altLang="zh-CN" sz="2400" i="1" u="sng" dirty="0"/>
              <a:t>employee_id</a:t>
            </a:r>
            <a:r>
              <a:rPr lang="en-US" altLang="zh-CN" sz="2400" i="1" dirty="0"/>
              <a:t>, branch_name</a:t>
            </a:r>
            <a:r>
              <a:rPr lang="en-US" altLang="zh-CN" sz="2400" dirty="0"/>
              <a:t>), which are subsets of other schemas</a:t>
            </a:r>
          </a:p>
          <a:p>
            <a:pPr lvl="1">
              <a:buFont typeface="Wingdings" panose="05000000000000000000" pitchFamily="2" charset="2"/>
              <a:buChar char="u"/>
            </a:pPr>
            <a:r>
              <a:rPr lang="en-US" altLang="zh-CN" sz="2000" dirty="0"/>
              <a:t>result will not depend on the order in which FDs are considered</a:t>
            </a:r>
          </a:p>
          <a:p>
            <a:pPr>
              <a:buFont typeface="Wingdings" panose="05000000000000000000" pitchFamily="2" charset="2"/>
              <a:buChar char="n"/>
            </a:pPr>
            <a:r>
              <a:rPr lang="en-US" altLang="zh-CN" sz="2400" dirty="0"/>
              <a:t>The resultant simplified 3NF schema is:</a:t>
            </a:r>
          </a:p>
          <a:p>
            <a:pPr>
              <a:buNone/>
            </a:pPr>
            <a:r>
              <a:rPr lang="en-US" altLang="zh-CN" sz="2400" dirty="0">
                <a:sym typeface="Monotype Sorts" charset="2"/>
              </a:rPr>
              <a:t> 		   </a:t>
            </a:r>
            <a:r>
              <a:rPr lang="en-US" altLang="zh-CN" sz="2000" dirty="0">
                <a:sym typeface="Monotype Sorts" charset="2"/>
              </a:rPr>
              <a:t>(</a:t>
            </a:r>
            <a:r>
              <a:rPr lang="en-US" altLang="zh-CN" sz="2000" i="1" dirty="0"/>
              <a:t>customer_id, employee_id, type</a:t>
            </a:r>
            <a:r>
              <a:rPr lang="en-US" altLang="zh-CN" sz="2000" dirty="0"/>
              <a:t>)</a:t>
            </a:r>
          </a:p>
          <a:p>
            <a:pPr>
              <a:buNone/>
            </a:pPr>
            <a:r>
              <a:rPr lang="en-US" altLang="zh-CN" sz="2000" dirty="0"/>
              <a:t>                (</a:t>
            </a:r>
            <a:r>
              <a:rPr lang="en-US" altLang="zh-CN" sz="2000" i="1" dirty="0"/>
              <a:t>customer_id, branch_name, employee_id)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60835">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60835">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60835">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60835">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6083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2882"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Comparison of BCNF and 3NF</a:t>
            </a:r>
          </a:p>
        </p:txBody>
      </p:sp>
      <p:sp>
        <p:nvSpPr>
          <p:cNvPr id="137218" name="Rectangle 3"/>
          <p:cNvSpPr>
            <a:spLocks noGrp="1"/>
          </p:cNvSpPr>
          <p:nvPr>
            <p:ph idx="1"/>
          </p:nvPr>
        </p:nvSpPr>
        <p:spPr>
          <a:xfrm>
            <a:off x="153035" y="1094105"/>
            <a:ext cx="8848090" cy="4903470"/>
          </a:xfrm>
        </p:spPr>
        <p:txBody>
          <a:bodyPr wrap="square" lIns="91440" tIns="45720" rIns="91440" bIns="45720" anchor="t"/>
          <a:lstStyle/>
          <a:p>
            <a:pPr>
              <a:buFont typeface="Wingdings" panose="05000000000000000000" pitchFamily="2" charset="2"/>
              <a:buChar char="n"/>
            </a:pPr>
            <a:r>
              <a:rPr lang="en-US" altLang="zh-CN" sz="2800" dirty="0"/>
              <a:t>It is always possible to decompose a relation into a set of  relations that are in 3NF such that:</a:t>
            </a:r>
          </a:p>
          <a:p>
            <a:pPr lvl="1">
              <a:buFont typeface="Wingdings" panose="05000000000000000000" pitchFamily="2" charset="2"/>
              <a:buChar char="u"/>
            </a:pPr>
            <a:r>
              <a:rPr lang="en-US" altLang="zh-CN" sz="2800" dirty="0"/>
              <a:t>the decomposition is lossless</a:t>
            </a:r>
          </a:p>
          <a:p>
            <a:pPr lvl="1">
              <a:buFont typeface="Wingdings" panose="05000000000000000000" pitchFamily="2" charset="2"/>
              <a:buChar char="u"/>
            </a:pPr>
            <a:r>
              <a:rPr lang="en-US" altLang="zh-CN" sz="2800" dirty="0"/>
              <a:t>the dependencies are preserved</a:t>
            </a:r>
          </a:p>
          <a:p>
            <a:pPr>
              <a:buFont typeface="Wingdings" panose="05000000000000000000" pitchFamily="2" charset="2"/>
              <a:buChar char="n"/>
            </a:pPr>
            <a:r>
              <a:rPr lang="en-US" altLang="zh-CN" sz="2800" dirty="0"/>
              <a:t>It is always possible to decompose a relation into a set of relations that are in BCNF such that:</a:t>
            </a:r>
          </a:p>
          <a:p>
            <a:pPr lvl="1">
              <a:buFont typeface="Wingdings" panose="05000000000000000000" pitchFamily="2" charset="2"/>
              <a:buChar char="u"/>
            </a:pPr>
            <a:r>
              <a:rPr lang="en-US" altLang="zh-CN" sz="2800" dirty="0"/>
              <a:t>the decomposition is lossless</a:t>
            </a:r>
          </a:p>
          <a:p>
            <a:pPr lvl="1">
              <a:buFont typeface="Wingdings" panose="05000000000000000000" pitchFamily="2" charset="2"/>
              <a:buChar char="u"/>
            </a:pPr>
            <a:r>
              <a:rPr lang="en-US" altLang="zh-CN" sz="2800" dirty="0"/>
              <a:t>it may not be possible to preserve dependencies.</a:t>
            </a:r>
          </a:p>
        </p:txBody>
      </p:sp>
      <p:sp>
        <p:nvSpPr>
          <p:cNvPr id="137219" name="Rectangle 4"/>
          <p:cNvSpPr/>
          <p:nvPr/>
        </p:nvSpPr>
        <p:spPr>
          <a:xfrm>
            <a:off x="596900" y="4064000"/>
            <a:ext cx="7283450" cy="2590800"/>
          </a:xfrm>
          <a:prstGeom prst="rect">
            <a:avLst/>
          </a:prstGeom>
          <a:noFill/>
          <a:ln w="9525">
            <a:noFill/>
          </a:ln>
        </p:spPr>
        <p:txBody>
          <a:bodyPr anchor="t"/>
          <a:lstStyle/>
          <a:p>
            <a:pPr marL="342900" indent="-342900" defTabSz="914400" eaLnBrk="0" hangingPunct="0">
              <a:spcBef>
                <a:spcPct val="35000"/>
              </a:spcBef>
              <a:buClr>
                <a:schemeClr val="tx2"/>
              </a:buClr>
              <a:buSzPct val="90000"/>
              <a:buFont typeface="Monotype Sorts" charset="2"/>
              <a:buChar char="n"/>
              <a:tabLst>
                <a:tab pos="684530" algn="l"/>
              </a:tabLst>
            </a:pPr>
            <a:endParaRPr lang="zh-CN" altLang="en-US" sz="1800" i="1" dirty="0">
              <a:latin typeface="Helvetica" panose="020B0604020202030204" charset="0"/>
              <a:sym typeface="Monotype Sorts" charset="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微软雅黑" panose="020B0503020204020204" charset="-122"/>
                <a:ea typeface="微软雅黑" panose="020B0503020204020204" charset="-122"/>
                <a:cs typeface="+mj-cs"/>
                <a:sym typeface="+mn-ea"/>
              </a:rPr>
              <a:t>BCNF</a:t>
            </a:r>
            <a:r>
              <a:rPr lang="zh-CN" altLang="en-US" dirty="0">
                <a:latin typeface="微软雅黑" panose="020B0503020204020204" charset="-122"/>
                <a:ea typeface="微软雅黑" panose="020B0503020204020204" charset="-122"/>
                <a:cs typeface="+mj-cs"/>
                <a:sym typeface="+mn-ea"/>
              </a:rPr>
              <a:t>分解总结</a:t>
            </a:r>
            <a:endParaRPr lang="zh-CN" altLang="en-US"/>
          </a:p>
        </p:txBody>
      </p:sp>
      <p:sp>
        <p:nvSpPr>
          <p:cNvPr id="3" name="内容占位符 2"/>
          <p:cNvSpPr>
            <a:spLocks noGrp="1"/>
          </p:cNvSpPr>
          <p:nvPr>
            <p:ph idx="1"/>
          </p:nvPr>
        </p:nvSpPr>
        <p:spPr>
          <a:xfrm>
            <a:off x="247650" y="1094105"/>
            <a:ext cx="8228330" cy="4903470"/>
          </a:xfrm>
        </p:spPr>
        <p:txBody>
          <a:bodyPr/>
          <a:lstStyle/>
          <a:p>
            <a:pPr eaLnBrk="1" hangingPunct="1">
              <a:lnSpc>
                <a:spcPct val="150000"/>
              </a:lnSpc>
              <a:buSzPct val="125000"/>
              <a:buFont typeface="Wingdings" panose="05000000000000000000" pitchFamily="2" charset="2"/>
              <a:buChar char="n"/>
            </a:pPr>
            <a:r>
              <a:rPr lang="en-US" altLang="zh-CN" sz="2400" dirty="0">
                <a:latin typeface="Arial Unicode MS" panose="020B0604020202020204" pitchFamily="34" charset="-122"/>
                <a:ea typeface="Arial Unicode MS" panose="020B0604020202020204" pitchFamily="34" charset="-122"/>
                <a:cs typeface="Arial Unicode MS" panose="020B0604020202020204" pitchFamily="34" charset="-122"/>
                <a:sym typeface="+mn-ea"/>
              </a:rPr>
              <a:t>BCNF</a:t>
            </a:r>
            <a:r>
              <a:rPr lang="zh-CN" altLang="en-US" sz="2400" dirty="0">
                <a:latin typeface="Arial Unicode MS" panose="020B0604020202020204" pitchFamily="34" charset="-122"/>
                <a:ea typeface="Arial Unicode MS" panose="020B0604020202020204" pitchFamily="34" charset="-122"/>
                <a:cs typeface="Arial Unicode MS" panose="020B0604020202020204" pitchFamily="34" charset="-122"/>
                <a:sym typeface="+mn-ea"/>
              </a:rPr>
              <a:t>分解是采取关系模式的逐步分解的策略，最终的结果和考虑函数依赖的次序相关；</a:t>
            </a:r>
            <a:endParaRPr lang="zh-CN" altLang="en-US" sz="2400" dirty="0">
              <a:latin typeface="Arial Unicode MS" panose="020B0604020202020204" pitchFamily="34" charset="-122"/>
              <a:ea typeface="Arial Unicode MS" panose="020B0604020202020204" pitchFamily="34" charset="-122"/>
              <a:cs typeface="Arial Unicode MS" panose="020B0604020202020204" pitchFamily="34" charset="-122"/>
            </a:endParaRPr>
          </a:p>
          <a:p>
            <a:pPr eaLnBrk="1" hangingPunct="1">
              <a:lnSpc>
                <a:spcPct val="150000"/>
              </a:lnSpc>
              <a:buSzPct val="125000"/>
              <a:buFont typeface="Wingdings" panose="05000000000000000000" pitchFamily="2" charset="2"/>
              <a:buChar char="n"/>
            </a:pPr>
            <a:r>
              <a:rPr lang="en-US" altLang="zh-CN" sz="2400" dirty="0">
                <a:latin typeface="Arial Unicode MS" panose="020B0604020202020204" pitchFamily="34" charset="-122"/>
                <a:ea typeface="Arial Unicode MS" panose="020B0604020202020204" pitchFamily="34" charset="-122"/>
                <a:cs typeface="Arial Unicode MS" panose="020B0604020202020204" pitchFamily="34" charset="-122"/>
                <a:sym typeface="+mn-ea"/>
              </a:rPr>
              <a:t>BCNF</a:t>
            </a:r>
            <a:r>
              <a:rPr lang="zh-CN" altLang="en-US" sz="2400" dirty="0">
                <a:latin typeface="Arial Unicode MS" panose="020B0604020202020204" pitchFamily="34" charset="-122"/>
                <a:ea typeface="Arial Unicode MS" panose="020B0604020202020204" pitchFamily="34" charset="-122"/>
                <a:cs typeface="Arial Unicode MS" panose="020B0604020202020204" pitchFamily="34" charset="-122"/>
                <a:sym typeface="+mn-ea"/>
              </a:rPr>
              <a:t>分解过程中需要检查当前模式是否满足</a:t>
            </a:r>
            <a:r>
              <a:rPr lang="en-US" altLang="zh-CN" sz="2400" dirty="0">
                <a:latin typeface="Arial Unicode MS" panose="020B0604020202020204" pitchFamily="34" charset="-122"/>
                <a:ea typeface="Arial Unicode MS" panose="020B0604020202020204" pitchFamily="34" charset="-122"/>
                <a:cs typeface="Arial Unicode MS" panose="020B0604020202020204" pitchFamily="34" charset="-122"/>
                <a:sym typeface="+mn-ea"/>
              </a:rPr>
              <a:t>BCNF</a:t>
            </a:r>
            <a:r>
              <a:rPr lang="zh-CN" altLang="en-US" sz="2400" dirty="0">
                <a:latin typeface="Arial Unicode MS" panose="020B0604020202020204" pitchFamily="34" charset="-122"/>
                <a:ea typeface="Arial Unicode MS" panose="020B0604020202020204" pitchFamily="34" charset="-122"/>
                <a:cs typeface="Arial Unicode MS" panose="020B0604020202020204" pitchFamily="34" charset="-122"/>
                <a:sym typeface="+mn-ea"/>
              </a:rPr>
              <a:t>的要求，需要测试属性</a:t>
            </a:r>
            <a:r>
              <a:rPr lang="zh-CN" altLang="en-US" sz="2400" dirty="0">
                <a:solidFill>
                  <a:srgbClr val="FF3300"/>
                </a:solidFill>
                <a:latin typeface="Arial Unicode MS" panose="020B0604020202020204" pitchFamily="34" charset="-122"/>
                <a:ea typeface="Arial Unicode MS" panose="020B0604020202020204" pitchFamily="34" charset="-122"/>
                <a:cs typeface="Arial Unicode MS" panose="020B0604020202020204" pitchFamily="34" charset="-122"/>
                <a:sym typeface="+mn-ea"/>
              </a:rPr>
              <a:t>任意子集的闭包</a:t>
            </a:r>
            <a:r>
              <a:rPr lang="zh-CN" altLang="en-US" sz="2400" dirty="0">
                <a:latin typeface="Arial Unicode MS" panose="020B0604020202020204" pitchFamily="34" charset="-122"/>
                <a:ea typeface="Arial Unicode MS" panose="020B0604020202020204" pitchFamily="34" charset="-122"/>
                <a:cs typeface="Arial Unicode MS" panose="020B0604020202020204" pitchFamily="34" charset="-122"/>
                <a:sym typeface="+mn-ea"/>
              </a:rPr>
              <a:t>或者是仅仅包含自身，或者包含当前模式的所有属性，这个测试是指数时间，所以，</a:t>
            </a:r>
            <a:r>
              <a:rPr lang="en-US" altLang="zh-CN" sz="2400" dirty="0">
                <a:latin typeface="Arial Unicode MS" panose="020B0604020202020204" pitchFamily="34" charset="-122"/>
                <a:ea typeface="Arial Unicode MS" panose="020B0604020202020204" pitchFamily="34" charset="-122"/>
                <a:cs typeface="Arial Unicode MS" panose="020B0604020202020204" pitchFamily="34" charset="-122"/>
                <a:sym typeface="+mn-ea"/>
              </a:rPr>
              <a:t>BCNF</a:t>
            </a:r>
            <a:r>
              <a:rPr lang="zh-CN" altLang="en-US" sz="2400" dirty="0">
                <a:latin typeface="Arial Unicode MS" panose="020B0604020202020204" pitchFamily="34" charset="-122"/>
                <a:ea typeface="Arial Unicode MS" panose="020B0604020202020204" pitchFamily="34" charset="-122"/>
                <a:cs typeface="Arial Unicode MS" panose="020B0604020202020204" pitchFamily="34" charset="-122"/>
                <a:sym typeface="+mn-ea"/>
              </a:rPr>
              <a:t>的时间代价为指数的；</a:t>
            </a:r>
            <a:endParaRPr lang="zh-CN" altLang="en-US" sz="2400" dirty="0">
              <a:latin typeface="Arial Unicode MS" panose="020B0604020202020204" pitchFamily="34" charset="-122"/>
              <a:ea typeface="Arial Unicode MS" panose="020B0604020202020204" pitchFamily="34" charset="-122"/>
              <a:cs typeface="Arial Unicode MS" panose="020B0604020202020204" pitchFamily="34" charset="-122"/>
            </a:endParaRPr>
          </a:p>
          <a:p>
            <a:pPr eaLnBrk="1" hangingPunct="1">
              <a:lnSpc>
                <a:spcPct val="150000"/>
              </a:lnSpc>
              <a:buSzPct val="125000"/>
              <a:buFont typeface="Wingdings" panose="05000000000000000000" pitchFamily="2" charset="2"/>
              <a:buChar char="n"/>
            </a:pPr>
            <a:r>
              <a:rPr lang="en-US" altLang="zh-CN" sz="2400" dirty="0">
                <a:latin typeface="Arial Unicode MS" panose="020B0604020202020204" pitchFamily="34" charset="-122"/>
                <a:ea typeface="Arial Unicode MS" panose="020B0604020202020204" pitchFamily="34" charset="-122"/>
                <a:cs typeface="Arial Unicode MS" panose="020B0604020202020204" pitchFamily="34" charset="-122"/>
                <a:sym typeface="+mn-ea"/>
              </a:rPr>
              <a:t>BCNF</a:t>
            </a:r>
            <a:r>
              <a:rPr lang="zh-CN" altLang="en-US" sz="2400" dirty="0">
                <a:latin typeface="Arial Unicode MS" panose="020B0604020202020204" pitchFamily="34" charset="-122"/>
                <a:ea typeface="Arial Unicode MS" panose="020B0604020202020204" pitchFamily="34" charset="-122"/>
                <a:cs typeface="Arial Unicode MS" panose="020B0604020202020204" pitchFamily="34" charset="-122"/>
                <a:sym typeface="+mn-ea"/>
              </a:rPr>
              <a:t>分解过程是无损的</a:t>
            </a:r>
            <a:endParaRPr lang="zh-CN" altLang="en-US" sz="2400" dirty="0">
              <a:latin typeface="Arial Unicode MS" panose="020B0604020202020204" pitchFamily="34" charset="-122"/>
              <a:ea typeface="Arial Unicode MS" panose="020B0604020202020204" pitchFamily="34" charset="-122"/>
              <a:cs typeface="Arial Unicode MS" panose="020B0604020202020204" pitchFamily="34" charset="-122"/>
            </a:endParaRPr>
          </a:p>
          <a:p>
            <a:pPr eaLnBrk="1" hangingPunct="1">
              <a:lnSpc>
                <a:spcPct val="150000"/>
              </a:lnSpc>
              <a:buSzPct val="125000"/>
              <a:buFont typeface="Wingdings" panose="05000000000000000000" pitchFamily="2" charset="2"/>
              <a:buChar char="n"/>
            </a:pPr>
            <a:r>
              <a:rPr lang="en-US" altLang="zh-CN" sz="2400" dirty="0">
                <a:latin typeface="Arial Unicode MS" panose="020B0604020202020204" pitchFamily="34" charset="-122"/>
                <a:ea typeface="Arial Unicode MS" panose="020B0604020202020204" pitchFamily="34" charset="-122"/>
                <a:cs typeface="Arial Unicode MS" panose="020B0604020202020204" pitchFamily="34" charset="-122"/>
                <a:sym typeface="+mn-ea"/>
              </a:rPr>
              <a:t>BCNF</a:t>
            </a:r>
            <a:r>
              <a:rPr lang="zh-CN" altLang="en-US" sz="2400" dirty="0">
                <a:latin typeface="Arial Unicode MS" panose="020B0604020202020204" pitchFamily="34" charset="-122"/>
                <a:ea typeface="Arial Unicode MS" panose="020B0604020202020204" pitchFamily="34" charset="-122"/>
                <a:cs typeface="Arial Unicode MS" panose="020B0604020202020204" pitchFamily="34" charset="-122"/>
                <a:sym typeface="+mn-ea"/>
              </a:rPr>
              <a:t>分解也许不能保持函数依赖</a:t>
            </a:r>
            <a:endParaRPr lang="zh-CN" altLang="en-US" sz="2400" dirty="0">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微软雅黑" panose="020B0503020204020204" charset="-122"/>
                <a:ea typeface="微软雅黑" panose="020B0503020204020204" charset="-122"/>
                <a:cs typeface="+mj-cs"/>
                <a:sym typeface="+mn-ea"/>
              </a:rPr>
              <a:t>3NF</a:t>
            </a:r>
            <a:r>
              <a:rPr lang="zh-CN" altLang="en-US" dirty="0">
                <a:latin typeface="微软雅黑" panose="020B0503020204020204" charset="-122"/>
                <a:ea typeface="微软雅黑" panose="020B0503020204020204" charset="-122"/>
                <a:cs typeface="+mj-cs"/>
                <a:sym typeface="+mn-ea"/>
              </a:rPr>
              <a:t>分解总结</a:t>
            </a:r>
            <a:endParaRPr lang="zh-CN" altLang="en-US"/>
          </a:p>
        </p:txBody>
      </p:sp>
      <p:sp>
        <p:nvSpPr>
          <p:cNvPr id="3" name="内容占位符 2"/>
          <p:cNvSpPr>
            <a:spLocks noGrp="1"/>
          </p:cNvSpPr>
          <p:nvPr>
            <p:ph idx="1"/>
          </p:nvPr>
        </p:nvSpPr>
        <p:spPr>
          <a:xfrm>
            <a:off x="247650" y="1094105"/>
            <a:ext cx="8496935" cy="5323948"/>
          </a:xfrm>
        </p:spPr>
        <p:txBody>
          <a:bodyPr/>
          <a:lstStyle/>
          <a:p>
            <a:pPr eaLnBrk="1" hangingPunct="1">
              <a:lnSpc>
                <a:spcPct val="150000"/>
              </a:lnSpc>
              <a:buSzPct val="125000"/>
              <a:buFont typeface="Wingdings" panose="05000000000000000000" pitchFamily="2" charset="2"/>
              <a:buChar char="n"/>
            </a:pPr>
            <a:r>
              <a:rPr lang="zh-CN" altLang="en-US" sz="2400" dirty="0">
                <a:latin typeface="微软雅黑" panose="020B0503020204020204" charset="-122"/>
                <a:ea typeface="微软雅黑" panose="020B0503020204020204" charset="-122"/>
                <a:cs typeface="+mn-cs"/>
                <a:sym typeface="+mn-ea"/>
              </a:rPr>
              <a:t>基于函数依赖集合的正则覆盖，而不是从属性分解的角度来完成。</a:t>
            </a:r>
            <a:endParaRPr lang="en-US" altLang="zh-CN" sz="2400" dirty="0">
              <a:latin typeface="微软雅黑" panose="020B0503020204020204" charset="-122"/>
              <a:ea typeface="微软雅黑" panose="020B0503020204020204" charset="-122"/>
              <a:cs typeface="+mn-cs"/>
              <a:sym typeface="+mn-ea"/>
            </a:endParaRPr>
          </a:p>
          <a:p>
            <a:pPr lvl="1" eaLnBrk="1" hangingPunct="1">
              <a:lnSpc>
                <a:spcPct val="150000"/>
              </a:lnSpc>
              <a:buSzPct val="125000"/>
              <a:buFont typeface="Wingdings" panose="05000000000000000000" pitchFamily="2" charset="2"/>
              <a:buChar char="u"/>
            </a:pPr>
            <a:r>
              <a:rPr lang="en-US" altLang="zh-CN" sz="2400" dirty="0">
                <a:latin typeface="微软雅黑" panose="020B0503020204020204" charset="-122"/>
                <a:ea typeface="微软雅黑" panose="020B0503020204020204" charset="-122"/>
                <a:cs typeface="+mn-cs"/>
                <a:sym typeface="+mn-ea"/>
              </a:rPr>
              <a:t>3NF</a:t>
            </a:r>
            <a:r>
              <a:rPr lang="zh-CN" altLang="en-US" sz="2400" dirty="0">
                <a:latin typeface="微软雅黑" panose="020B0503020204020204" charset="-122"/>
                <a:ea typeface="微软雅黑" panose="020B0503020204020204" charset="-122"/>
                <a:cs typeface="+mn-cs"/>
                <a:sym typeface="+mn-ea"/>
              </a:rPr>
              <a:t>的分解模式，自然能够保持依赖。</a:t>
            </a:r>
            <a:endParaRPr lang="zh-CN" altLang="en-US" sz="2400" dirty="0">
              <a:latin typeface="微软雅黑" panose="020B0503020204020204" charset="-122"/>
              <a:ea typeface="微软雅黑" panose="020B0503020204020204" charset="-122"/>
              <a:cs typeface="+mn-cs"/>
            </a:endParaRPr>
          </a:p>
          <a:p>
            <a:pPr eaLnBrk="1" hangingPunct="1">
              <a:lnSpc>
                <a:spcPct val="150000"/>
              </a:lnSpc>
              <a:buSzPct val="125000"/>
              <a:buFont typeface="Wingdings" panose="05000000000000000000" pitchFamily="2" charset="2"/>
              <a:buChar char="n"/>
            </a:pPr>
            <a:r>
              <a:rPr lang="zh-CN" altLang="en-US" sz="2400" dirty="0">
                <a:latin typeface="微软雅黑" panose="020B0503020204020204" charset="-122"/>
                <a:ea typeface="微软雅黑" panose="020B0503020204020204" charset="-122"/>
                <a:cs typeface="+mn-cs"/>
                <a:sym typeface="+mn-ea"/>
              </a:rPr>
              <a:t>最终的分解结果和正则覆盖集合相关</a:t>
            </a:r>
            <a:endParaRPr lang="en-US" altLang="zh-CN" sz="2400" dirty="0">
              <a:latin typeface="微软雅黑" panose="020B0503020204020204" charset="-122"/>
              <a:ea typeface="微软雅黑" panose="020B0503020204020204" charset="-122"/>
              <a:cs typeface="+mn-cs"/>
              <a:sym typeface="+mn-ea"/>
            </a:endParaRPr>
          </a:p>
          <a:p>
            <a:pPr lvl="1" eaLnBrk="1" hangingPunct="1">
              <a:lnSpc>
                <a:spcPct val="150000"/>
              </a:lnSpc>
              <a:buSzPct val="125000"/>
              <a:buFont typeface="Wingdings" panose="05000000000000000000" pitchFamily="2" charset="2"/>
              <a:buChar char="u"/>
            </a:pPr>
            <a:r>
              <a:rPr lang="zh-CN" altLang="en-US" sz="2400" dirty="0">
                <a:latin typeface="微软雅黑" panose="020B0503020204020204" charset="-122"/>
                <a:ea typeface="微软雅黑" panose="020B0503020204020204" charset="-122"/>
                <a:cs typeface="+mn-cs"/>
                <a:sym typeface="+mn-ea"/>
              </a:rPr>
              <a:t>一个函数依赖的正则覆盖可能有多个。</a:t>
            </a:r>
            <a:endParaRPr lang="zh-CN" altLang="en-US" sz="2400" dirty="0">
              <a:latin typeface="微软雅黑" panose="020B0503020204020204" charset="-122"/>
              <a:ea typeface="微软雅黑" panose="020B0503020204020204" charset="-122"/>
              <a:cs typeface="+mn-cs"/>
            </a:endParaRPr>
          </a:p>
          <a:p>
            <a:pPr eaLnBrk="1" hangingPunct="1">
              <a:lnSpc>
                <a:spcPct val="150000"/>
              </a:lnSpc>
              <a:buSzPct val="125000"/>
              <a:buFont typeface="Wingdings" panose="05000000000000000000" pitchFamily="2" charset="2"/>
              <a:buChar char="n"/>
            </a:pPr>
            <a:r>
              <a:rPr lang="zh-CN" altLang="en-US" sz="2400" dirty="0">
                <a:latin typeface="微软雅黑" panose="020B0503020204020204" charset="-122"/>
                <a:ea typeface="微软雅黑" panose="020B0503020204020204" charset="-122"/>
                <a:cs typeface="+mn-cs"/>
                <a:sym typeface="+mn-ea"/>
              </a:rPr>
              <a:t>能够满足无损连接和保持依赖</a:t>
            </a:r>
            <a:endParaRPr lang="zh-CN" altLang="en-US" sz="2400" dirty="0">
              <a:latin typeface="微软雅黑" panose="020B0503020204020204" charset="-122"/>
              <a:ea typeface="微软雅黑" panose="020B0503020204020204" charset="-122"/>
              <a:cs typeface="+mn-cs"/>
            </a:endParaRPr>
          </a:p>
          <a:p>
            <a:pPr eaLnBrk="1" hangingPunct="1">
              <a:lnSpc>
                <a:spcPct val="150000"/>
              </a:lnSpc>
              <a:buSzPct val="125000"/>
              <a:buFont typeface="Wingdings" panose="05000000000000000000" pitchFamily="2" charset="2"/>
              <a:buChar char="n"/>
            </a:pPr>
            <a:r>
              <a:rPr lang="zh-CN" altLang="en-US" sz="2400" dirty="0">
                <a:latin typeface="微软雅黑" panose="020B0503020204020204" charset="-122"/>
                <a:ea typeface="微软雅黑" panose="020B0503020204020204" charset="-122"/>
                <a:cs typeface="+mn-cs"/>
                <a:sym typeface="+mn-ea"/>
              </a:rPr>
              <a:t>不考虑候选键计算代价，分解模式满足</a:t>
            </a:r>
            <a:r>
              <a:rPr lang="en-US" altLang="zh-CN" sz="2400" dirty="0">
                <a:latin typeface="微软雅黑" panose="020B0503020204020204" charset="-122"/>
                <a:ea typeface="微软雅黑" panose="020B0503020204020204" charset="-122"/>
                <a:cs typeface="+mn-cs"/>
                <a:sym typeface="+mn-ea"/>
              </a:rPr>
              <a:t>3NF</a:t>
            </a:r>
            <a:r>
              <a:rPr lang="zh-CN" altLang="en-US" sz="2400" dirty="0">
                <a:latin typeface="微软雅黑" panose="020B0503020204020204" charset="-122"/>
                <a:ea typeface="微软雅黑" panose="020B0503020204020204" charset="-122"/>
                <a:cs typeface="+mn-cs"/>
                <a:sym typeface="+mn-ea"/>
              </a:rPr>
              <a:t>是多项式时间的。</a:t>
            </a:r>
            <a:endParaRPr lang="zh-CN" altLang="en-US" sz="2400" dirty="0">
              <a:latin typeface="微软雅黑" panose="020B0503020204020204" charset="-122"/>
              <a:ea typeface="微软雅黑" panose="020B0503020204020204" charset="-122"/>
              <a:cs typeface="+mn-cs"/>
            </a:endParaRPr>
          </a:p>
          <a:p>
            <a:pPr eaLnBrk="1" hangingPunct="1">
              <a:lnSpc>
                <a:spcPct val="150000"/>
              </a:lnSpc>
              <a:buSzPct val="125000"/>
              <a:buFont typeface="Wingdings" panose="05000000000000000000" pitchFamily="2" charset="2"/>
              <a:buChar char="n"/>
            </a:pPr>
            <a:r>
              <a:rPr lang="zh-CN" altLang="en-US" sz="2400" dirty="0">
                <a:latin typeface="微软雅黑" panose="020B0503020204020204" charset="-122"/>
                <a:ea typeface="微软雅黑" panose="020B0503020204020204" charset="-122"/>
                <a:cs typeface="+mn-cs"/>
                <a:sym typeface="+mn-ea"/>
              </a:rPr>
              <a:t>考虑保持函数依赖，最终产生的关系模式可能较多</a:t>
            </a:r>
            <a:endParaRPr lang="zh-CN" altLang="en-US" sz="24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4930"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40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Design Goals</a:t>
            </a:r>
          </a:p>
        </p:txBody>
      </p:sp>
      <p:sp>
        <p:nvSpPr>
          <p:cNvPr id="139266" name="Rectangle 3"/>
          <p:cNvSpPr>
            <a:spLocks noGrp="1"/>
          </p:cNvSpPr>
          <p:nvPr>
            <p:ph idx="1"/>
          </p:nvPr>
        </p:nvSpPr>
        <p:spPr>
          <a:xfrm>
            <a:off x="73660" y="916305"/>
            <a:ext cx="8931910" cy="5417820"/>
          </a:xfrm>
        </p:spPr>
        <p:txBody>
          <a:bodyPr wrap="square" lIns="91440" tIns="45720" rIns="91440" bIns="45720" anchor="t"/>
          <a:lstStyle/>
          <a:p>
            <a:pPr>
              <a:buFont typeface="Wingdings" panose="05000000000000000000" pitchFamily="2" charset="2"/>
              <a:buChar char="n"/>
            </a:pPr>
            <a:r>
              <a:rPr lang="en-US" altLang="zh-CN" sz="2000" dirty="0"/>
              <a:t>Goal for a relational database design is:</a:t>
            </a:r>
          </a:p>
          <a:p>
            <a:pPr lvl="1">
              <a:buFont typeface="Wingdings" panose="05000000000000000000" pitchFamily="2" charset="2"/>
              <a:buChar char="u"/>
            </a:pPr>
            <a:r>
              <a:rPr lang="en-US" altLang="zh-CN" sz="2000" dirty="0"/>
              <a:t>BCNF.</a:t>
            </a:r>
          </a:p>
          <a:p>
            <a:pPr lvl="1">
              <a:buFont typeface="Wingdings" panose="05000000000000000000" pitchFamily="2" charset="2"/>
              <a:buChar char="u"/>
            </a:pPr>
            <a:r>
              <a:rPr lang="en-US" altLang="zh-CN" sz="2000" dirty="0"/>
              <a:t>Lossless join.</a:t>
            </a:r>
          </a:p>
          <a:p>
            <a:pPr lvl="1">
              <a:buFont typeface="Wingdings" panose="05000000000000000000" pitchFamily="2" charset="2"/>
              <a:buChar char="u"/>
            </a:pPr>
            <a:r>
              <a:rPr lang="en-US" altLang="zh-CN" sz="2000" dirty="0"/>
              <a:t>Dependency preservation.</a:t>
            </a:r>
          </a:p>
          <a:p>
            <a:pPr>
              <a:buFont typeface="Wingdings" panose="05000000000000000000" pitchFamily="2" charset="2"/>
              <a:buChar char="n"/>
            </a:pPr>
            <a:r>
              <a:rPr lang="en-US" altLang="zh-CN" sz="2000" dirty="0"/>
              <a:t>If we cannot achieve this, we accept one of</a:t>
            </a:r>
          </a:p>
          <a:p>
            <a:pPr lvl="1">
              <a:buFont typeface="Wingdings" panose="05000000000000000000" pitchFamily="2" charset="2"/>
              <a:buChar char="u"/>
            </a:pPr>
            <a:r>
              <a:rPr lang="en-US" altLang="zh-CN" sz="2000" b="1" dirty="0">
                <a:solidFill>
                  <a:srgbClr val="7030A0"/>
                </a:solidFill>
                <a:effectLst>
                  <a:outerShdw blurRad="38100" dist="38100" dir="2700000" algn="tl">
                    <a:srgbClr val="000000">
                      <a:alpha val="43137"/>
                    </a:srgbClr>
                  </a:outerShdw>
                </a:effectLst>
              </a:rPr>
              <a:t>Lack of dependency preservation </a:t>
            </a:r>
          </a:p>
          <a:p>
            <a:pPr lvl="1">
              <a:buFont typeface="Wingdings" panose="05000000000000000000" pitchFamily="2" charset="2"/>
              <a:buChar char="u"/>
            </a:pPr>
            <a:r>
              <a:rPr lang="en-US" altLang="zh-CN" sz="2000" b="1" dirty="0">
                <a:solidFill>
                  <a:srgbClr val="7030A0"/>
                </a:solidFill>
                <a:effectLst>
                  <a:outerShdw blurRad="38100" dist="38100" dir="2700000" algn="tl">
                    <a:srgbClr val="000000">
                      <a:alpha val="43137"/>
                    </a:srgbClr>
                  </a:outerShdw>
                </a:effectLst>
              </a:rPr>
              <a:t>Redundancy due to use of 3NF</a:t>
            </a:r>
          </a:p>
          <a:p>
            <a:pPr>
              <a:buFont typeface="Wingdings" panose="05000000000000000000" pitchFamily="2" charset="2"/>
              <a:buChar char="n"/>
            </a:pPr>
            <a:r>
              <a:rPr lang="en-US" altLang="zh-CN" sz="2000" dirty="0"/>
              <a:t>Interestingly, SQL does not provide a direct way of specifying functional dependencies other than superkeys.</a:t>
            </a:r>
          </a:p>
          <a:p>
            <a:pPr lvl="1">
              <a:buFont typeface="Wingdings" panose="05000000000000000000" pitchFamily="2" charset="2"/>
              <a:buChar char="u"/>
            </a:pPr>
            <a:r>
              <a:rPr lang="en-US" altLang="zh-CN" sz="2000" dirty="0"/>
              <a:t>Can specify FDs using </a:t>
            </a:r>
            <a:r>
              <a:rPr lang="en-US" altLang="zh-CN" sz="2000" dirty="0">
                <a:solidFill>
                  <a:srgbClr val="C00000"/>
                </a:solidFill>
              </a:rPr>
              <a:t>assertions</a:t>
            </a:r>
            <a:r>
              <a:rPr lang="en-US" altLang="zh-CN" sz="2000" dirty="0"/>
              <a:t>, but they are expensive to test, (and currently not supported by any of the widely used databases!)</a:t>
            </a:r>
          </a:p>
          <a:p>
            <a:pPr>
              <a:buFont typeface="Wingdings" panose="05000000000000000000" pitchFamily="2" charset="2"/>
              <a:buChar char="n"/>
            </a:pPr>
            <a:r>
              <a:rPr lang="en-US" altLang="zh-CN" sz="2000" dirty="0"/>
              <a:t>Even if we had a dependency preserving decomposition, using SQL we would not be able to efficiently test a functional dependency whose left hand side is not a key.</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charset="-122"/>
                <a:ea typeface="微软雅黑" panose="020B0503020204020204" charset="-122"/>
                <a:cs typeface="+mj-cs"/>
                <a:sym typeface="+mn-ea"/>
              </a:rPr>
              <a:t>去规范化</a:t>
            </a:r>
            <a:r>
              <a:rPr lang="en-US" altLang="zh-CN" dirty="0">
                <a:latin typeface="微软雅黑" panose="020B0503020204020204" charset="-122"/>
                <a:ea typeface="微软雅黑" panose="020B0503020204020204" charset="-122"/>
                <a:cs typeface="+mj-cs"/>
                <a:sym typeface="+mn-ea"/>
              </a:rPr>
              <a:t>Denomalization</a:t>
            </a:r>
            <a:r>
              <a:rPr lang="zh-CN" altLang="en-US" dirty="0">
                <a:latin typeface="微软雅黑" panose="020B0503020204020204" charset="-122"/>
                <a:ea typeface="微软雅黑" panose="020B0503020204020204" charset="-122"/>
                <a:cs typeface="+mj-cs"/>
                <a:sym typeface="+mn-ea"/>
              </a:rPr>
              <a:t>设计</a:t>
            </a:r>
            <a:endParaRPr lang="zh-CN" altLang="en-US"/>
          </a:p>
        </p:txBody>
      </p:sp>
      <p:sp>
        <p:nvSpPr>
          <p:cNvPr id="3" name="内容占位符 2"/>
          <p:cNvSpPr>
            <a:spLocks noGrp="1"/>
          </p:cNvSpPr>
          <p:nvPr>
            <p:ph idx="1"/>
          </p:nvPr>
        </p:nvSpPr>
        <p:spPr>
          <a:xfrm>
            <a:off x="217805" y="1094105"/>
            <a:ext cx="8627745" cy="5289442"/>
          </a:xfrm>
        </p:spPr>
        <p:txBody>
          <a:bodyPr/>
          <a:lstStyle/>
          <a:p>
            <a:pPr eaLnBrk="1" hangingPunct="1">
              <a:lnSpc>
                <a:spcPct val="120000"/>
              </a:lnSpc>
              <a:buSzPct val="125000"/>
              <a:buFont typeface="Wingdings" panose="05000000000000000000" pitchFamily="2" charset="2"/>
              <a:buChar char="n"/>
            </a:pPr>
            <a:r>
              <a:rPr lang="zh-CN" altLang="en-US" sz="2000" dirty="0">
                <a:latin typeface="微软雅黑" panose="020B0503020204020204" charset="-122"/>
                <a:ea typeface="微软雅黑" panose="020B0503020204020204" charset="-122"/>
                <a:cs typeface="+mn-cs"/>
                <a:sym typeface="+mn-ea"/>
              </a:rPr>
              <a:t>设计过程中需要回答的问题</a:t>
            </a:r>
            <a:endParaRPr lang="zh-CN" altLang="en-US" sz="2000" dirty="0">
              <a:latin typeface="微软雅黑" panose="020B0503020204020204" charset="-122"/>
              <a:ea typeface="微软雅黑" panose="020B0503020204020204" charset="-122"/>
              <a:cs typeface="+mn-cs"/>
            </a:endParaRPr>
          </a:p>
          <a:p>
            <a:pPr lvl="1" eaLnBrk="1" hangingPunct="1">
              <a:lnSpc>
                <a:spcPct val="120000"/>
              </a:lnSpc>
              <a:buFont typeface="Wingdings" panose="05000000000000000000" pitchFamily="2" charset="2"/>
              <a:buChar char="u"/>
            </a:pPr>
            <a:r>
              <a:rPr lang="zh-CN" altLang="en-US" sz="2000" dirty="0">
                <a:latin typeface="微软雅黑" panose="020B0503020204020204" charset="-122"/>
                <a:ea typeface="微软雅黑" panose="020B0503020204020204" charset="-122"/>
                <a:sym typeface="+mn-ea"/>
              </a:rPr>
              <a:t>数据是否是只读的</a:t>
            </a:r>
            <a:endParaRPr lang="zh-CN" altLang="en-US" sz="2000" dirty="0">
              <a:latin typeface="微软雅黑" panose="020B0503020204020204" charset="-122"/>
              <a:ea typeface="微软雅黑" panose="020B0503020204020204" charset="-122"/>
            </a:endParaRPr>
          </a:p>
          <a:p>
            <a:pPr lvl="1" eaLnBrk="1" hangingPunct="1">
              <a:lnSpc>
                <a:spcPct val="120000"/>
              </a:lnSpc>
              <a:buFont typeface="Wingdings" panose="05000000000000000000" pitchFamily="2" charset="2"/>
              <a:buChar char="u"/>
            </a:pPr>
            <a:r>
              <a:rPr lang="zh-CN" altLang="en-US" sz="2000" dirty="0">
                <a:latin typeface="微软雅黑" panose="020B0503020204020204" charset="-122"/>
                <a:ea typeface="微软雅黑" panose="020B0503020204020204" charset="-122"/>
                <a:sym typeface="+mn-ea"/>
              </a:rPr>
              <a:t>数据是否是更新频繁的</a:t>
            </a:r>
            <a:endParaRPr lang="zh-CN" altLang="en-US" sz="2000" dirty="0">
              <a:latin typeface="微软雅黑" panose="020B0503020204020204" charset="-122"/>
              <a:ea typeface="微软雅黑" panose="020B0503020204020204" charset="-122"/>
            </a:endParaRPr>
          </a:p>
          <a:p>
            <a:pPr lvl="1" eaLnBrk="1" hangingPunct="1">
              <a:lnSpc>
                <a:spcPct val="120000"/>
              </a:lnSpc>
              <a:buFont typeface="Wingdings" panose="05000000000000000000" pitchFamily="2" charset="2"/>
              <a:buChar char="u"/>
            </a:pPr>
            <a:r>
              <a:rPr lang="zh-CN" altLang="en-US" sz="2000" dirty="0">
                <a:latin typeface="微软雅黑" panose="020B0503020204020204" charset="-122"/>
                <a:ea typeface="微软雅黑" panose="020B0503020204020204" charset="-122"/>
                <a:sym typeface="+mn-ea"/>
              </a:rPr>
              <a:t>多个数据表是否经常被同时存取</a:t>
            </a:r>
            <a:endParaRPr lang="zh-CN" altLang="en-US" sz="2000" dirty="0">
              <a:latin typeface="微软雅黑" panose="020B0503020204020204" charset="-122"/>
              <a:ea typeface="微软雅黑" panose="020B0503020204020204" charset="-122"/>
            </a:endParaRPr>
          </a:p>
          <a:p>
            <a:pPr eaLnBrk="1" hangingPunct="1">
              <a:lnSpc>
                <a:spcPct val="120000"/>
              </a:lnSpc>
              <a:buSzPct val="125000"/>
              <a:buFont typeface="Wingdings" panose="05000000000000000000" pitchFamily="2" charset="2"/>
              <a:buChar char="n"/>
            </a:pPr>
            <a:r>
              <a:rPr lang="zh-CN" altLang="en-US" sz="2000" dirty="0">
                <a:latin typeface="微软雅黑" panose="020B0503020204020204" charset="-122"/>
                <a:ea typeface="微软雅黑" panose="020B0503020204020204" charset="-122"/>
                <a:cs typeface="+mn-cs"/>
                <a:sym typeface="+mn-ea"/>
              </a:rPr>
              <a:t>例如</a:t>
            </a:r>
            <a:endParaRPr lang="zh-CN" altLang="en-US" sz="2000" dirty="0">
              <a:latin typeface="微软雅黑" panose="020B0503020204020204" charset="-122"/>
              <a:ea typeface="微软雅黑" panose="020B0503020204020204" charset="-122"/>
              <a:cs typeface="+mn-cs"/>
            </a:endParaRPr>
          </a:p>
          <a:p>
            <a:pPr lvl="1" eaLnBrk="1" hangingPunct="1">
              <a:lnSpc>
                <a:spcPct val="120000"/>
              </a:lnSpc>
              <a:buFont typeface="Wingdings" panose="05000000000000000000" pitchFamily="2" charset="2"/>
              <a:buChar char="u"/>
            </a:pPr>
            <a:r>
              <a:rPr lang="zh-CN" altLang="en-US" sz="2000" dirty="0">
                <a:latin typeface="微软雅黑" panose="020B0503020204020204" charset="-122"/>
                <a:ea typeface="微软雅黑" panose="020B0503020204020204" charset="-122"/>
                <a:sym typeface="+mn-ea"/>
              </a:rPr>
              <a:t>模式</a:t>
            </a:r>
            <a:endParaRPr lang="zh-CN" altLang="en-US" sz="2000" dirty="0">
              <a:latin typeface="微软雅黑" panose="020B0503020204020204" charset="-122"/>
              <a:ea typeface="微软雅黑" panose="020B0503020204020204" charset="-122"/>
            </a:endParaRPr>
          </a:p>
          <a:p>
            <a:pPr lvl="2" eaLnBrk="1" hangingPunct="1">
              <a:lnSpc>
                <a:spcPct val="120000"/>
              </a:lnSpc>
              <a:buFont typeface="Wingdings" panose="05000000000000000000" pitchFamily="2" charset="2"/>
              <a:buChar char="p"/>
            </a:pPr>
            <a:r>
              <a:rPr lang="en-US" altLang="zh-CN" sz="2000" dirty="0">
                <a:latin typeface="微软雅黑" panose="020B0503020204020204" charset="-122"/>
                <a:ea typeface="微软雅黑" panose="020B0503020204020204" charset="-122"/>
                <a:sym typeface="+mn-ea"/>
              </a:rPr>
              <a:t>S(SID,SNAME,DID,AGE,LOCATION)</a:t>
            </a:r>
            <a:endParaRPr lang="en-US" altLang="zh-CN" sz="2000" dirty="0">
              <a:latin typeface="微软雅黑" panose="020B0503020204020204" charset="-122"/>
              <a:ea typeface="微软雅黑" panose="020B0503020204020204" charset="-122"/>
            </a:endParaRPr>
          </a:p>
          <a:p>
            <a:pPr lvl="2" eaLnBrk="1" hangingPunct="1">
              <a:lnSpc>
                <a:spcPct val="120000"/>
              </a:lnSpc>
              <a:buFont typeface="Wingdings" panose="05000000000000000000" pitchFamily="2" charset="2"/>
              <a:buChar char="p"/>
            </a:pPr>
            <a:r>
              <a:rPr lang="en-US" altLang="zh-CN" sz="2000" dirty="0">
                <a:latin typeface="微软雅黑" panose="020B0503020204020204" charset="-122"/>
                <a:ea typeface="微软雅黑" panose="020B0503020204020204" charset="-122"/>
                <a:sym typeface="+mn-ea"/>
              </a:rPr>
              <a:t>D(DID,DNAME,DEAN)</a:t>
            </a:r>
            <a:endParaRPr lang="en-US" altLang="zh-CN" sz="2000" dirty="0">
              <a:latin typeface="微软雅黑" panose="020B0503020204020204" charset="-122"/>
              <a:ea typeface="微软雅黑" panose="020B0503020204020204" charset="-122"/>
            </a:endParaRPr>
          </a:p>
          <a:p>
            <a:pPr lvl="1" eaLnBrk="1" hangingPunct="1">
              <a:lnSpc>
                <a:spcPct val="120000"/>
              </a:lnSpc>
              <a:buFont typeface="Wingdings" panose="05000000000000000000" pitchFamily="2" charset="2"/>
              <a:buChar char="u"/>
            </a:pPr>
            <a:r>
              <a:rPr lang="zh-CN" altLang="en-US" sz="2000" dirty="0">
                <a:latin typeface="微软雅黑" panose="020B0503020204020204" charset="-122"/>
                <a:ea typeface="微软雅黑" panose="020B0503020204020204" charset="-122"/>
                <a:sym typeface="+mn-ea"/>
              </a:rPr>
              <a:t>查询</a:t>
            </a:r>
            <a:endParaRPr lang="zh-CN" altLang="en-US" sz="2000" dirty="0">
              <a:latin typeface="微软雅黑" panose="020B0503020204020204" charset="-122"/>
              <a:ea typeface="微软雅黑" panose="020B0503020204020204" charset="-122"/>
            </a:endParaRPr>
          </a:p>
          <a:p>
            <a:pPr lvl="2" eaLnBrk="1" hangingPunct="1">
              <a:lnSpc>
                <a:spcPct val="120000"/>
              </a:lnSpc>
              <a:buFont typeface="Wingdings" panose="05000000000000000000" pitchFamily="2" charset="2"/>
              <a:buChar char="p"/>
            </a:pPr>
            <a:r>
              <a:rPr lang="zh-CN" altLang="en-US" sz="2000" dirty="0">
                <a:latin typeface="微软雅黑" panose="020B0503020204020204" charset="-122"/>
                <a:ea typeface="微软雅黑" panose="020B0503020204020204" charset="-122"/>
                <a:sym typeface="+mn-ea"/>
              </a:rPr>
              <a:t>每天至少发出查询</a:t>
            </a:r>
            <a:r>
              <a:rPr lang="en-US" altLang="zh-CN" sz="2000" dirty="0">
                <a:latin typeface="微软雅黑" panose="020B0503020204020204" charset="-122"/>
                <a:ea typeface="微软雅黑" panose="020B0503020204020204" charset="-122"/>
                <a:sym typeface="+mn-ea"/>
              </a:rPr>
              <a:t>20000</a:t>
            </a:r>
            <a:r>
              <a:rPr lang="zh-CN" altLang="en-US" sz="2000" dirty="0">
                <a:latin typeface="微软雅黑" panose="020B0503020204020204" charset="-122"/>
                <a:ea typeface="微软雅黑" panose="020B0503020204020204" charset="-122"/>
                <a:sym typeface="+mn-ea"/>
              </a:rPr>
              <a:t>次</a:t>
            </a:r>
            <a:endParaRPr lang="zh-CN" altLang="en-US" sz="2000" dirty="0">
              <a:latin typeface="微软雅黑" panose="020B0503020204020204" charset="-122"/>
              <a:ea typeface="微软雅黑" panose="020B0503020204020204" charset="-122"/>
            </a:endParaRPr>
          </a:p>
          <a:p>
            <a:pPr lvl="2" eaLnBrk="1" hangingPunct="1">
              <a:lnSpc>
                <a:spcPct val="120000"/>
              </a:lnSpc>
              <a:buFont typeface="Wingdings" panose="05000000000000000000" pitchFamily="2" charset="2"/>
              <a:buChar char="p"/>
            </a:pPr>
            <a:r>
              <a:rPr lang="en-US" altLang="zh-CN" sz="2000" dirty="0">
                <a:latin typeface="微软雅黑" panose="020B0503020204020204" charset="-122"/>
                <a:ea typeface="微软雅黑" panose="020B0503020204020204" charset="-122"/>
                <a:sym typeface="+mn-ea"/>
              </a:rPr>
              <a:t>Select SNAME, DNAME From S, D Where S.DID=D.DID</a:t>
            </a:r>
            <a:endParaRPr lang="en-US" altLang="zh-CN" sz="2000" dirty="0">
              <a:latin typeface="微软雅黑" panose="020B0503020204020204" charset="-122"/>
              <a:ea typeface="微软雅黑" panose="020B0503020204020204" charset="-122"/>
            </a:endParaRPr>
          </a:p>
          <a:p>
            <a:endParaRPr lang="zh-CN" altLang="en-US" sz="20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charset="-122"/>
                <a:ea typeface="微软雅黑" panose="020B0503020204020204" charset="-122"/>
                <a:cs typeface="+mj-cs"/>
                <a:sym typeface="+mn-ea"/>
              </a:rPr>
              <a:t>去规范化</a:t>
            </a:r>
            <a:r>
              <a:rPr lang="en-US" altLang="zh-CN" dirty="0">
                <a:latin typeface="微软雅黑" panose="020B0503020204020204" charset="-122"/>
                <a:ea typeface="微软雅黑" panose="020B0503020204020204" charset="-122"/>
                <a:cs typeface="+mj-cs"/>
                <a:sym typeface="+mn-ea"/>
              </a:rPr>
              <a:t>Denomalization</a:t>
            </a:r>
            <a:r>
              <a:rPr lang="zh-CN" altLang="en-US" dirty="0">
                <a:latin typeface="微软雅黑" panose="020B0503020204020204" charset="-122"/>
                <a:ea typeface="微软雅黑" panose="020B0503020204020204" charset="-122"/>
                <a:cs typeface="+mj-cs"/>
                <a:sym typeface="+mn-ea"/>
              </a:rPr>
              <a:t>设计</a:t>
            </a:r>
            <a:endParaRPr lang="zh-CN" altLang="en-US"/>
          </a:p>
        </p:txBody>
      </p:sp>
      <p:sp>
        <p:nvSpPr>
          <p:cNvPr id="3" name="内容占位符 2"/>
          <p:cNvSpPr>
            <a:spLocks noGrp="1"/>
          </p:cNvSpPr>
          <p:nvPr>
            <p:ph idx="1"/>
          </p:nvPr>
        </p:nvSpPr>
        <p:spPr>
          <a:xfrm>
            <a:off x="232410" y="1094105"/>
            <a:ext cx="8721090" cy="5471160"/>
          </a:xfrm>
        </p:spPr>
        <p:txBody>
          <a:bodyPr/>
          <a:lstStyle/>
          <a:p>
            <a:pPr eaLnBrk="1" hangingPunct="1">
              <a:lnSpc>
                <a:spcPct val="100000"/>
              </a:lnSpc>
              <a:buSzPct val="125000"/>
              <a:buFont typeface="Wingdings" panose="05000000000000000000" pitchFamily="2" charset="2"/>
              <a:buChar char="n"/>
            </a:pPr>
            <a:r>
              <a:rPr lang="zh-CN" altLang="en-US" sz="2400" dirty="0">
                <a:latin typeface="微软雅黑" panose="020B0503020204020204" charset="-122"/>
                <a:ea typeface="微软雅黑" panose="020B0503020204020204" charset="-122"/>
                <a:cs typeface="+mn-cs"/>
                <a:sym typeface="+mn-ea"/>
              </a:rPr>
              <a:t>考虑性能问题，违反范式</a:t>
            </a:r>
            <a:endParaRPr lang="zh-CN" altLang="en-US" sz="2400" dirty="0">
              <a:latin typeface="微软雅黑" panose="020B0503020204020204" charset="-122"/>
              <a:ea typeface="微软雅黑" panose="020B0503020204020204" charset="-122"/>
              <a:cs typeface="+mn-cs"/>
            </a:endParaRPr>
          </a:p>
          <a:p>
            <a:pPr lvl="1" eaLnBrk="1" hangingPunct="1">
              <a:lnSpc>
                <a:spcPct val="100000"/>
              </a:lnSpc>
              <a:buFont typeface="Wingdings" panose="05000000000000000000" pitchFamily="2" charset="2"/>
              <a:buChar char="u"/>
            </a:pPr>
            <a:r>
              <a:rPr lang="zh-CN" altLang="en-US" sz="2400" dirty="0">
                <a:latin typeface="微软雅黑" panose="020B0503020204020204" charset="-122"/>
                <a:ea typeface="微软雅黑" panose="020B0503020204020204" charset="-122"/>
                <a:sym typeface="+mn-ea"/>
              </a:rPr>
              <a:t>例如</a:t>
            </a:r>
            <a:endParaRPr lang="zh-CN" altLang="en-US" sz="2400" dirty="0">
              <a:latin typeface="微软雅黑" panose="020B0503020204020204" charset="-122"/>
              <a:ea typeface="微软雅黑" panose="020B0503020204020204" charset="-122"/>
            </a:endParaRPr>
          </a:p>
          <a:p>
            <a:pPr lvl="2" eaLnBrk="1" hangingPunct="1">
              <a:lnSpc>
                <a:spcPct val="100000"/>
              </a:lnSpc>
              <a:buFont typeface="Wingdings" panose="05000000000000000000" pitchFamily="2" charset="2"/>
              <a:buChar char="p"/>
            </a:pPr>
            <a:r>
              <a:rPr lang="zh-CN" altLang="en-US" sz="2400" dirty="0">
                <a:latin typeface="微软雅黑" panose="020B0503020204020204" charset="-122"/>
                <a:ea typeface="微软雅黑" panose="020B0503020204020204" charset="-122"/>
                <a:sym typeface="+mn-ea"/>
              </a:rPr>
              <a:t>在</a:t>
            </a:r>
            <a:r>
              <a:rPr lang="en-US" altLang="zh-CN" sz="2400" dirty="0">
                <a:latin typeface="微软雅黑" panose="020B0503020204020204" charset="-122"/>
                <a:ea typeface="微软雅黑" panose="020B0503020204020204" charset="-122"/>
                <a:sym typeface="+mn-ea"/>
              </a:rPr>
              <a:t>S</a:t>
            </a:r>
            <a:r>
              <a:rPr lang="zh-CN" altLang="en-US" sz="2400" dirty="0">
                <a:latin typeface="微软雅黑" panose="020B0503020204020204" charset="-122"/>
                <a:ea typeface="微软雅黑" panose="020B0503020204020204" charset="-122"/>
                <a:sym typeface="+mn-ea"/>
              </a:rPr>
              <a:t>中增加</a:t>
            </a:r>
            <a:r>
              <a:rPr lang="en-US" altLang="zh-CN" sz="2400" dirty="0">
                <a:latin typeface="微软雅黑" panose="020B0503020204020204" charset="-122"/>
                <a:ea typeface="微软雅黑" panose="020B0503020204020204" charset="-122"/>
                <a:sym typeface="+mn-ea"/>
              </a:rPr>
              <a:t>DNAME</a:t>
            </a:r>
            <a:endParaRPr lang="en-US" altLang="zh-CN" sz="2400" dirty="0">
              <a:latin typeface="微软雅黑" panose="020B0503020204020204" charset="-122"/>
              <a:ea typeface="微软雅黑" panose="020B0503020204020204" charset="-122"/>
            </a:endParaRPr>
          </a:p>
          <a:p>
            <a:pPr lvl="1" eaLnBrk="1" hangingPunct="1">
              <a:lnSpc>
                <a:spcPct val="100000"/>
              </a:lnSpc>
              <a:buFont typeface="Wingdings" panose="05000000000000000000" pitchFamily="2" charset="2"/>
              <a:buChar char="u"/>
            </a:pPr>
            <a:r>
              <a:rPr lang="zh-CN" altLang="en-US" sz="2400" dirty="0">
                <a:latin typeface="微软雅黑" panose="020B0503020204020204" charset="-122"/>
                <a:ea typeface="微软雅黑" panose="020B0503020204020204" charset="-122"/>
                <a:sym typeface="+mn-ea"/>
              </a:rPr>
              <a:t>查询</a:t>
            </a:r>
            <a:endParaRPr lang="zh-CN" altLang="en-US" sz="2400" dirty="0">
              <a:latin typeface="微软雅黑" panose="020B0503020204020204" charset="-122"/>
              <a:ea typeface="微软雅黑" panose="020B0503020204020204" charset="-122"/>
            </a:endParaRPr>
          </a:p>
          <a:p>
            <a:pPr lvl="2" eaLnBrk="1" hangingPunct="1">
              <a:lnSpc>
                <a:spcPct val="100000"/>
              </a:lnSpc>
              <a:buFont typeface="Wingdings" panose="05000000000000000000" pitchFamily="2" charset="2"/>
              <a:buChar char="p"/>
            </a:pPr>
            <a:r>
              <a:rPr lang="en-US" altLang="zh-CN" sz="2400" dirty="0">
                <a:latin typeface="微软雅黑" panose="020B0503020204020204" charset="-122"/>
                <a:ea typeface="微软雅黑" panose="020B0503020204020204" charset="-122"/>
                <a:sym typeface="+mn-ea"/>
              </a:rPr>
              <a:t>Select SNAME</a:t>
            </a:r>
            <a:r>
              <a:rPr lang="zh-CN" altLang="en-US" sz="2400" dirty="0">
                <a:latin typeface="微软雅黑" panose="020B0503020204020204" charset="-122"/>
                <a:ea typeface="微软雅黑" panose="020B0503020204020204" charset="-122"/>
                <a:sym typeface="+mn-ea"/>
              </a:rPr>
              <a:t>， </a:t>
            </a:r>
            <a:r>
              <a:rPr lang="en-US" altLang="zh-CN" sz="2400" dirty="0">
                <a:latin typeface="微软雅黑" panose="020B0503020204020204" charset="-122"/>
                <a:ea typeface="微软雅黑" panose="020B0503020204020204" charset="-122"/>
                <a:sym typeface="+mn-ea"/>
              </a:rPr>
              <a:t>DNAME  from S</a:t>
            </a:r>
            <a:endParaRPr lang="en-US" altLang="zh-CN" sz="2400" dirty="0">
              <a:latin typeface="微软雅黑" panose="020B0503020204020204" charset="-122"/>
              <a:ea typeface="微软雅黑" panose="020B0503020204020204" charset="-122"/>
            </a:endParaRPr>
          </a:p>
          <a:p>
            <a:pPr lvl="1" eaLnBrk="1" hangingPunct="1">
              <a:lnSpc>
                <a:spcPct val="100000"/>
              </a:lnSpc>
              <a:buFont typeface="Wingdings" panose="05000000000000000000" pitchFamily="2" charset="2"/>
              <a:buChar char="u"/>
            </a:pPr>
            <a:r>
              <a:rPr lang="zh-CN" altLang="en-US" sz="2400" dirty="0">
                <a:latin typeface="微软雅黑" panose="020B0503020204020204" charset="-122"/>
                <a:ea typeface="微软雅黑" panose="020B0503020204020204" charset="-122"/>
                <a:sym typeface="+mn-ea"/>
              </a:rPr>
              <a:t>代价</a:t>
            </a:r>
            <a:endParaRPr lang="zh-CN" altLang="en-US" sz="2400" dirty="0">
              <a:latin typeface="微软雅黑" panose="020B0503020204020204" charset="-122"/>
              <a:ea typeface="微软雅黑" panose="020B0503020204020204" charset="-122"/>
            </a:endParaRPr>
          </a:p>
          <a:p>
            <a:pPr lvl="2" eaLnBrk="1" hangingPunct="1">
              <a:lnSpc>
                <a:spcPct val="100000"/>
              </a:lnSpc>
              <a:buFont typeface="Wingdings" panose="05000000000000000000" pitchFamily="2" charset="2"/>
              <a:buChar char="p"/>
            </a:pPr>
            <a:r>
              <a:rPr lang="zh-CN" altLang="en-US" sz="2400" dirty="0">
                <a:latin typeface="微软雅黑" panose="020B0503020204020204" charset="-122"/>
                <a:ea typeface="微软雅黑" panose="020B0503020204020204" charset="-122"/>
                <a:sym typeface="+mn-ea"/>
              </a:rPr>
              <a:t>增加了</a:t>
            </a:r>
            <a:r>
              <a:rPr lang="en-US" altLang="zh-CN" sz="2400" dirty="0">
                <a:latin typeface="微软雅黑" panose="020B0503020204020204" charset="-122"/>
                <a:ea typeface="微软雅黑" panose="020B0503020204020204" charset="-122"/>
                <a:sym typeface="+mn-ea"/>
              </a:rPr>
              <a:t>DNAME</a:t>
            </a:r>
            <a:r>
              <a:rPr lang="zh-CN" altLang="en-US" sz="2400" dirty="0">
                <a:latin typeface="微软雅黑" panose="020B0503020204020204" charset="-122"/>
                <a:ea typeface="微软雅黑" panose="020B0503020204020204" charset="-122"/>
                <a:sym typeface="+mn-ea"/>
              </a:rPr>
              <a:t>的存储代价</a:t>
            </a:r>
            <a:endParaRPr lang="zh-CN" altLang="en-US" sz="2400" dirty="0">
              <a:latin typeface="微软雅黑" panose="020B0503020204020204" charset="-122"/>
              <a:ea typeface="微软雅黑" panose="020B0503020204020204" charset="-122"/>
            </a:endParaRPr>
          </a:p>
          <a:p>
            <a:pPr lvl="2" eaLnBrk="1" hangingPunct="1">
              <a:lnSpc>
                <a:spcPct val="100000"/>
              </a:lnSpc>
              <a:buFont typeface="Wingdings" panose="05000000000000000000" pitchFamily="2" charset="2"/>
              <a:buChar char="p"/>
            </a:pPr>
            <a:r>
              <a:rPr lang="zh-CN" altLang="en-US" sz="2400" dirty="0">
                <a:latin typeface="微软雅黑" panose="020B0503020204020204" charset="-122"/>
                <a:ea typeface="微软雅黑" panose="020B0503020204020204" charset="-122"/>
                <a:sym typeface="+mn-ea"/>
              </a:rPr>
              <a:t>如果</a:t>
            </a:r>
            <a:r>
              <a:rPr lang="en-US" altLang="zh-CN" sz="2400" dirty="0">
                <a:latin typeface="微软雅黑" panose="020B0503020204020204" charset="-122"/>
                <a:ea typeface="微软雅黑" panose="020B0503020204020204" charset="-122"/>
                <a:sym typeface="+mn-ea"/>
              </a:rPr>
              <a:t>DNAME</a:t>
            </a:r>
            <a:r>
              <a:rPr lang="zh-CN" altLang="en-US" sz="2400" dirty="0">
                <a:latin typeface="微软雅黑" panose="020B0503020204020204" charset="-122"/>
                <a:ea typeface="微软雅黑" panose="020B0503020204020204" charset="-122"/>
                <a:sym typeface="+mn-ea"/>
              </a:rPr>
              <a:t>发生变更时，更新代价</a:t>
            </a:r>
            <a:endParaRPr lang="zh-CN" altLang="en-US" sz="2400" dirty="0">
              <a:latin typeface="微软雅黑" panose="020B0503020204020204" charset="-122"/>
              <a:ea typeface="微软雅黑" panose="020B0503020204020204" charset="-122"/>
            </a:endParaRPr>
          </a:p>
          <a:p>
            <a:pPr lvl="1" eaLnBrk="1" hangingPunct="1">
              <a:lnSpc>
                <a:spcPct val="100000"/>
              </a:lnSpc>
              <a:buFont typeface="Wingdings" panose="05000000000000000000" pitchFamily="2" charset="2"/>
              <a:buChar char="u"/>
            </a:pPr>
            <a:r>
              <a:rPr lang="zh-CN" altLang="en-US" sz="2400" dirty="0">
                <a:latin typeface="微软雅黑" panose="020B0503020204020204" charset="-122"/>
                <a:ea typeface="微软雅黑" panose="020B0503020204020204" charset="-122"/>
                <a:sym typeface="+mn-ea"/>
              </a:rPr>
              <a:t>收益</a:t>
            </a:r>
            <a:endParaRPr lang="zh-CN" altLang="en-US" sz="2400" dirty="0">
              <a:latin typeface="微软雅黑" panose="020B0503020204020204" charset="-122"/>
              <a:ea typeface="微软雅黑" panose="020B0503020204020204" charset="-122"/>
            </a:endParaRPr>
          </a:p>
          <a:p>
            <a:pPr lvl="2" eaLnBrk="1" hangingPunct="1">
              <a:lnSpc>
                <a:spcPct val="100000"/>
              </a:lnSpc>
              <a:buFont typeface="Wingdings" panose="05000000000000000000" pitchFamily="2" charset="2"/>
              <a:buChar char="p"/>
            </a:pPr>
            <a:r>
              <a:rPr lang="zh-CN" altLang="en-US" sz="2400" dirty="0">
                <a:solidFill>
                  <a:srgbClr val="C00000"/>
                </a:solidFill>
                <a:latin typeface="微软雅黑" panose="020B0503020204020204" charset="-122"/>
                <a:ea typeface="微软雅黑" panose="020B0503020204020204" charset="-122"/>
                <a:sym typeface="+mn-ea"/>
              </a:rPr>
              <a:t>提高了每天的检索速度</a:t>
            </a:r>
            <a:endParaRPr lang="zh-CN" altLang="en-US" sz="2400" dirty="0">
              <a:solidFill>
                <a:srgbClr val="C00000"/>
              </a:solidFill>
              <a:latin typeface="微软雅黑" panose="020B0503020204020204" charset="-122"/>
              <a:ea typeface="微软雅黑" panose="020B0503020204020204" charset="-122"/>
            </a:endParaRPr>
          </a:p>
          <a:p>
            <a:pPr eaLnBrk="1" hangingPunct="1">
              <a:lnSpc>
                <a:spcPct val="100000"/>
              </a:lnSpc>
              <a:buSzPct val="125000"/>
              <a:buFont typeface="Wingdings" panose="05000000000000000000" pitchFamily="2" charset="2"/>
              <a:buChar char="n"/>
            </a:pPr>
            <a:r>
              <a:rPr lang="zh-CN" altLang="en-US" sz="2400" dirty="0">
                <a:latin typeface="微软雅黑" panose="020B0503020204020204" charset="-122"/>
                <a:ea typeface="微软雅黑" panose="020B0503020204020204" charset="-122"/>
                <a:cs typeface="+mn-cs"/>
                <a:sym typeface="+mn-ea"/>
              </a:rPr>
              <a:t>取舍原则：根据应用系统中数据特性而定</a:t>
            </a:r>
            <a:endParaRPr lang="zh-CN" altLang="en-US" sz="2400" dirty="0">
              <a:latin typeface="微软雅黑" panose="020B0503020204020204" charset="-122"/>
              <a:ea typeface="微软雅黑" panose="020B0503020204020204" charset="-122"/>
              <a:cs typeface="+mn-cs"/>
            </a:endParaRPr>
          </a:p>
          <a:p>
            <a:endParaRPr lang="zh-CN" altLang="en-US" sz="24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rcRect l="13665" t="8984" r="14129" b="1224"/>
          <a:stretch>
            <a:fillRect/>
          </a:stretch>
        </p:blipFill>
        <p:spPr>
          <a:xfrm>
            <a:off x="-155575" y="5080"/>
            <a:ext cx="9394825" cy="6568440"/>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4802"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Multivalued Dependencies</a:t>
            </a:r>
          </a:p>
        </p:txBody>
      </p:sp>
      <p:sp>
        <p:nvSpPr>
          <p:cNvPr id="141314" name="Rectangle 3"/>
          <p:cNvSpPr>
            <a:spLocks noGrp="1"/>
          </p:cNvSpPr>
          <p:nvPr>
            <p:ph idx="1"/>
          </p:nvPr>
        </p:nvSpPr>
        <p:spPr/>
        <p:txBody>
          <a:bodyPr wrap="square" lIns="91440" tIns="45720" rIns="91440" bIns="45720" anchor="t"/>
          <a:lstStyle/>
          <a:p>
            <a:r>
              <a:rPr lang="en-US" altLang="zh-CN" sz="2000" dirty="0"/>
              <a:t>Suppose we record names of children, and phone numbers for instructors:</a:t>
            </a:r>
          </a:p>
          <a:p>
            <a:pPr lvl="1"/>
            <a:r>
              <a:rPr lang="en-US" altLang="zh-CN" sz="2000" i="1" dirty="0"/>
              <a:t>inst_child</a:t>
            </a:r>
            <a:r>
              <a:rPr lang="en-US" altLang="zh-CN" sz="2000" dirty="0"/>
              <a:t>(</a:t>
            </a:r>
            <a:r>
              <a:rPr lang="en-US" altLang="zh-CN" sz="2000" i="1" dirty="0"/>
              <a:t>ID</a:t>
            </a:r>
            <a:r>
              <a:rPr lang="en-US" altLang="zh-CN" sz="2000" dirty="0"/>
              <a:t>, </a:t>
            </a:r>
            <a:r>
              <a:rPr lang="en-US" altLang="zh-CN" sz="2000" i="1" dirty="0"/>
              <a:t>child_name</a:t>
            </a:r>
            <a:r>
              <a:rPr lang="en-US" altLang="zh-CN" sz="2000" dirty="0"/>
              <a:t>)</a:t>
            </a:r>
          </a:p>
          <a:p>
            <a:pPr lvl="1"/>
            <a:r>
              <a:rPr lang="en-US" altLang="zh-CN" sz="2000" i="1" dirty="0"/>
              <a:t>inst_phone</a:t>
            </a:r>
            <a:r>
              <a:rPr lang="en-US" altLang="zh-CN" sz="2000" dirty="0"/>
              <a:t>(</a:t>
            </a:r>
            <a:r>
              <a:rPr lang="en-US" altLang="zh-CN" sz="2000" i="1" dirty="0"/>
              <a:t>ID</a:t>
            </a:r>
            <a:r>
              <a:rPr lang="en-US" altLang="zh-CN" sz="2000" dirty="0"/>
              <a:t>, </a:t>
            </a:r>
            <a:r>
              <a:rPr lang="en-US" altLang="zh-CN" sz="2000" i="1" dirty="0"/>
              <a:t>phone_number</a:t>
            </a:r>
            <a:r>
              <a:rPr lang="en-US" altLang="zh-CN" sz="2000" dirty="0"/>
              <a:t>)</a:t>
            </a:r>
          </a:p>
          <a:p>
            <a:r>
              <a:rPr lang="en-US" altLang="zh-CN" sz="2000" dirty="0"/>
              <a:t>If we were to combine these schemas to get</a:t>
            </a:r>
          </a:p>
          <a:p>
            <a:pPr lvl="1"/>
            <a:r>
              <a:rPr lang="en-US" altLang="zh-CN" sz="2000" i="1" dirty="0"/>
              <a:t>inst_info</a:t>
            </a:r>
            <a:r>
              <a:rPr lang="en-US" altLang="zh-CN" sz="2000" dirty="0"/>
              <a:t>(</a:t>
            </a:r>
            <a:r>
              <a:rPr lang="en-US" altLang="zh-CN" sz="2000" i="1" dirty="0"/>
              <a:t>ID</a:t>
            </a:r>
            <a:r>
              <a:rPr lang="en-US" altLang="zh-CN" sz="2000" dirty="0"/>
              <a:t>, </a:t>
            </a:r>
            <a:r>
              <a:rPr lang="en-US" altLang="zh-CN" sz="2000" i="1" dirty="0"/>
              <a:t>child_name</a:t>
            </a:r>
            <a:r>
              <a:rPr lang="en-US" altLang="zh-CN" sz="2000" dirty="0"/>
              <a:t>, </a:t>
            </a:r>
            <a:r>
              <a:rPr lang="en-US" altLang="zh-CN" sz="2000" i="1" dirty="0"/>
              <a:t>phone_number</a:t>
            </a:r>
            <a:r>
              <a:rPr lang="en-US" altLang="zh-CN" sz="2000" dirty="0"/>
              <a:t>)</a:t>
            </a:r>
          </a:p>
          <a:p>
            <a:pPr lvl="1"/>
            <a:r>
              <a:rPr lang="en-US" altLang="zh-CN" sz="2000" dirty="0"/>
              <a:t>Example data:</a:t>
            </a:r>
            <a:br>
              <a:rPr lang="en-US" altLang="zh-CN" sz="2000" dirty="0"/>
            </a:br>
            <a:r>
              <a:rPr lang="en-US" altLang="zh-CN" sz="2000" dirty="0"/>
              <a:t>(99999, David, 512-555-1234)</a:t>
            </a:r>
            <a:br>
              <a:rPr lang="en-US" altLang="zh-CN" sz="2000" dirty="0"/>
            </a:br>
            <a:r>
              <a:rPr lang="en-US" altLang="zh-CN" sz="2000" dirty="0"/>
              <a:t>(99999, David, 512-555-4321)</a:t>
            </a:r>
            <a:br>
              <a:rPr lang="en-US" altLang="zh-CN" sz="2000" dirty="0"/>
            </a:br>
            <a:r>
              <a:rPr lang="en-US" altLang="zh-CN" sz="2000" dirty="0"/>
              <a:t>(99999, William, 512-555-1234)</a:t>
            </a:r>
            <a:br>
              <a:rPr lang="en-US" altLang="zh-CN" sz="2000" dirty="0"/>
            </a:br>
            <a:r>
              <a:rPr lang="en-US" altLang="zh-CN" sz="2000" dirty="0"/>
              <a:t>(99999, William, 512-555-4321)</a:t>
            </a:r>
          </a:p>
          <a:p>
            <a:r>
              <a:rPr lang="en-US" altLang="zh-CN" sz="2000" dirty="0"/>
              <a:t>This relation is in BCNF</a:t>
            </a:r>
          </a:p>
          <a:p>
            <a:pPr lvl="1"/>
            <a:r>
              <a:rPr lang="en-US" altLang="zh-CN" sz="2000" dirty="0"/>
              <a:t>Why?</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6978"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Multivalued Dependencies (MVDs)</a:t>
            </a:r>
          </a:p>
        </p:txBody>
      </p:sp>
      <p:sp>
        <p:nvSpPr>
          <p:cNvPr id="143362" name="Rectangle 3"/>
          <p:cNvSpPr>
            <a:spLocks noGrp="1"/>
          </p:cNvSpPr>
          <p:nvPr>
            <p:ph idx="1"/>
          </p:nvPr>
        </p:nvSpPr>
        <p:spPr>
          <a:xfrm>
            <a:off x="814388" y="1601788"/>
            <a:ext cx="7605712" cy="4533900"/>
          </a:xfrm>
        </p:spPr>
        <p:txBody>
          <a:bodyPr wrap="square" lIns="91440" tIns="45720" rIns="91440" bIns="45720" anchor="t"/>
          <a:lstStyle/>
          <a:p>
            <a:pPr defTabSz="914400">
              <a:tabLst>
                <a:tab pos="1891030" algn="l"/>
                <a:tab pos="2799080" algn="l"/>
              </a:tabLst>
            </a:pPr>
            <a:r>
              <a:rPr lang="en-US" altLang="zh-CN" sz="2000" dirty="0"/>
              <a:t>Let </a:t>
            </a:r>
            <a:r>
              <a:rPr lang="en-US" altLang="zh-CN" sz="2000" i="1" dirty="0"/>
              <a:t>R</a:t>
            </a:r>
            <a:r>
              <a:rPr lang="en-US" altLang="zh-CN" sz="2000" dirty="0"/>
              <a:t> be a relation schema and let </a:t>
            </a:r>
            <a:r>
              <a:rPr lang="en-US" altLang="zh-CN" sz="2000" dirty="0">
                <a:sym typeface="Symbol" panose="05050102010706020507" charset="2"/>
              </a:rPr>
              <a:t>  </a:t>
            </a:r>
            <a:r>
              <a:rPr lang="en-US" altLang="zh-CN" sz="2000" i="1" dirty="0">
                <a:sym typeface="Symbol" panose="05050102010706020507" charset="2"/>
              </a:rPr>
              <a:t>R</a:t>
            </a:r>
            <a:r>
              <a:rPr lang="en-US" altLang="zh-CN" sz="2000" dirty="0">
                <a:sym typeface="Symbol" panose="05050102010706020507" charset="2"/>
              </a:rPr>
              <a:t> and </a:t>
            </a:r>
            <a:r>
              <a:rPr lang="en-US" altLang="zh-CN" sz="2000" dirty="0">
                <a:sym typeface="Greek Symbols" pitchFamily="18" charset="2"/>
              </a:rPr>
              <a:t> </a:t>
            </a:r>
            <a:r>
              <a:rPr lang="en-US" altLang="zh-CN" sz="2000" dirty="0">
                <a:sym typeface="Symbol" panose="05050102010706020507" charset="2"/>
              </a:rPr>
              <a:t> </a:t>
            </a:r>
            <a:r>
              <a:rPr lang="en-US" altLang="zh-CN" sz="2000" i="1" dirty="0">
                <a:sym typeface="Symbol" panose="05050102010706020507" charset="2"/>
              </a:rPr>
              <a:t>R. </a:t>
            </a:r>
            <a:r>
              <a:rPr lang="en-US" altLang="zh-CN" sz="2000" dirty="0">
                <a:sym typeface="Symbol" panose="05050102010706020507" charset="2"/>
              </a:rPr>
              <a:t>  The </a:t>
            </a:r>
            <a:r>
              <a:rPr lang="en-US" altLang="zh-CN" sz="2000" b="1" dirty="0">
                <a:solidFill>
                  <a:srgbClr val="000099"/>
                </a:solidFill>
                <a:sym typeface="Symbol" panose="05050102010706020507" charset="2"/>
              </a:rPr>
              <a:t>multivalued dependency</a:t>
            </a:r>
            <a:r>
              <a:rPr lang="en-US" altLang="zh-CN" sz="2000" dirty="0">
                <a:sym typeface="Symbol" panose="05050102010706020507" charset="2"/>
              </a:rPr>
              <a:t> </a:t>
            </a:r>
            <a:endParaRPr lang="en-US" altLang="zh-CN" sz="2000" dirty="0"/>
          </a:p>
          <a:p>
            <a:pPr defTabSz="914400">
              <a:buNone/>
              <a:tabLst>
                <a:tab pos="1891030" algn="l"/>
                <a:tab pos="2799080" algn="l"/>
              </a:tabLst>
            </a:pPr>
            <a:r>
              <a:rPr lang="en-US" altLang="zh-CN" sz="2000" dirty="0">
                <a:sym typeface="Greek Symbols" pitchFamily="18" charset="2"/>
              </a:rPr>
              <a:t>			</a:t>
            </a:r>
            <a:r>
              <a:rPr lang="en-US" altLang="zh-CN" sz="2000" dirty="0">
                <a:sym typeface="Symbol" panose="05050102010706020507" charset="2"/>
              </a:rPr>
              <a:t></a:t>
            </a:r>
            <a:r>
              <a:rPr lang="en-US" altLang="zh-CN" sz="2000" dirty="0">
                <a:sym typeface="Greek Symbols" pitchFamily="18" charset="2"/>
              </a:rPr>
              <a:t> </a:t>
            </a:r>
            <a:r>
              <a:rPr lang="en-US" altLang="zh-CN" sz="2000" b="1" dirty="0">
                <a:sym typeface="Symbol" panose="05050102010706020507" charset="2"/>
              </a:rPr>
              <a:t></a:t>
            </a:r>
            <a:r>
              <a:rPr lang="en-US" altLang="zh-CN" sz="2000" dirty="0">
                <a:sym typeface="Monotype Sorts" charset="2"/>
              </a:rPr>
              <a:t> </a:t>
            </a:r>
            <a:r>
              <a:rPr lang="en-US" altLang="zh-CN" sz="2000" dirty="0">
                <a:sym typeface="Symbol" panose="05050102010706020507" charset="2"/>
              </a:rPr>
              <a:t></a:t>
            </a:r>
            <a:endParaRPr lang="en-US" altLang="zh-CN" sz="2000" i="1" dirty="0">
              <a:sym typeface="Greek Symbols" pitchFamily="18" charset="2"/>
            </a:endParaRPr>
          </a:p>
          <a:p>
            <a:pPr defTabSz="914400">
              <a:buNone/>
              <a:tabLst>
                <a:tab pos="1891030" algn="l"/>
                <a:tab pos="2799080" algn="l"/>
              </a:tabLst>
            </a:pPr>
            <a:r>
              <a:rPr lang="en-US" altLang="zh-CN" sz="2000" i="1" dirty="0">
                <a:sym typeface="Greek Symbols" pitchFamily="18" charset="2"/>
              </a:rPr>
              <a:t>	</a:t>
            </a:r>
            <a:r>
              <a:rPr lang="en-US" altLang="zh-CN" sz="2000" dirty="0">
                <a:sym typeface="Greek Symbols" pitchFamily="18" charset="2"/>
              </a:rPr>
              <a:t>holds on </a:t>
            </a:r>
            <a:r>
              <a:rPr lang="en-US" altLang="zh-CN" sz="2000" i="1" dirty="0">
                <a:sym typeface="Greek Symbols" pitchFamily="18" charset="2"/>
              </a:rPr>
              <a:t>R</a:t>
            </a:r>
            <a:r>
              <a:rPr lang="en-US" altLang="zh-CN" sz="2000" dirty="0">
                <a:sym typeface="Greek Symbols" pitchFamily="18" charset="2"/>
              </a:rPr>
              <a:t> if in any legal relation </a:t>
            </a:r>
            <a:r>
              <a:rPr lang="en-US" altLang="zh-CN" sz="2000" i="1" dirty="0">
                <a:sym typeface="Greek Symbols" pitchFamily="18" charset="2"/>
              </a:rPr>
              <a:t>r(R),</a:t>
            </a:r>
            <a:r>
              <a:rPr lang="en-US" altLang="zh-CN" sz="2000" dirty="0">
                <a:sym typeface="Greek Symbols" pitchFamily="18" charset="2"/>
              </a:rPr>
              <a:t> for all pairs for tuples </a:t>
            </a:r>
            <a:r>
              <a:rPr lang="en-US" altLang="zh-CN" sz="2000" i="1" dirty="0">
                <a:sym typeface="Greek Symbols" pitchFamily="18" charset="2"/>
              </a:rPr>
              <a:t>t</a:t>
            </a:r>
            <a:r>
              <a:rPr lang="en-US" altLang="zh-CN" sz="2000" baseline="-25000" dirty="0">
                <a:sym typeface="Greek Symbols" pitchFamily="18" charset="2"/>
              </a:rPr>
              <a:t>1 </a:t>
            </a:r>
            <a:r>
              <a:rPr lang="en-US" altLang="zh-CN" sz="2000" dirty="0">
                <a:sym typeface="Greek Symbols" pitchFamily="18" charset="2"/>
              </a:rPr>
              <a:t>and </a:t>
            </a:r>
            <a:r>
              <a:rPr lang="en-US" altLang="zh-CN" sz="2000" i="1" dirty="0">
                <a:sym typeface="Greek Symbols" pitchFamily="18" charset="2"/>
              </a:rPr>
              <a:t>t</a:t>
            </a:r>
            <a:r>
              <a:rPr lang="en-US" altLang="zh-CN" sz="2000" i="1" baseline="-25000" dirty="0">
                <a:sym typeface="Greek Symbols" pitchFamily="18" charset="2"/>
              </a:rPr>
              <a:t>2</a:t>
            </a:r>
            <a:r>
              <a:rPr lang="en-US" altLang="zh-CN" sz="2000" dirty="0">
                <a:sym typeface="Greek Symbols" pitchFamily="18" charset="2"/>
              </a:rPr>
              <a:t> in </a:t>
            </a:r>
            <a:r>
              <a:rPr lang="en-US" altLang="zh-CN" sz="2000" i="1" dirty="0">
                <a:sym typeface="Greek Symbols" pitchFamily="18" charset="2"/>
              </a:rPr>
              <a:t>r</a:t>
            </a:r>
            <a:r>
              <a:rPr lang="en-US" altLang="zh-CN" sz="2000" dirty="0">
                <a:sym typeface="Greek Symbols" pitchFamily="18" charset="2"/>
              </a:rPr>
              <a:t> such that </a:t>
            </a:r>
            <a:r>
              <a:rPr lang="en-US" altLang="zh-CN" sz="2000" i="1" dirty="0">
                <a:sym typeface="Greek Symbols" pitchFamily="18" charset="2"/>
              </a:rPr>
              <a:t>t</a:t>
            </a:r>
            <a:r>
              <a:rPr lang="en-US" altLang="zh-CN" sz="2000" baseline="-25000" dirty="0">
                <a:sym typeface="Greek Symbols" pitchFamily="18" charset="2"/>
              </a:rPr>
              <a:t>1</a:t>
            </a:r>
            <a:r>
              <a:rPr lang="en-US" altLang="zh-CN" sz="2000" dirty="0">
                <a:sym typeface="Greek Symbols" pitchFamily="18" charset="2"/>
              </a:rPr>
              <a:t>[</a:t>
            </a:r>
            <a:r>
              <a:rPr lang="en-US" altLang="zh-CN" sz="2000" dirty="0">
                <a:sym typeface="Symbol" panose="05050102010706020507" charset="2"/>
              </a:rPr>
              <a:t></a:t>
            </a:r>
            <a:r>
              <a:rPr lang="en-US" altLang="zh-CN" sz="2000" dirty="0">
                <a:sym typeface="Greek Symbols" pitchFamily="18" charset="2"/>
              </a:rPr>
              <a:t>] = </a:t>
            </a:r>
            <a:r>
              <a:rPr lang="en-US" altLang="zh-CN" sz="2000" i="1" dirty="0">
                <a:sym typeface="Greek Symbols" pitchFamily="18" charset="2"/>
              </a:rPr>
              <a:t>t</a:t>
            </a:r>
            <a:r>
              <a:rPr lang="en-US" altLang="zh-CN" sz="2000" i="1" baseline="-25000" dirty="0">
                <a:sym typeface="Greek Symbols" pitchFamily="18" charset="2"/>
              </a:rPr>
              <a:t>2 </a:t>
            </a:r>
            <a:r>
              <a:rPr lang="en-US" altLang="zh-CN" sz="2000" dirty="0">
                <a:sym typeface="Greek Symbols" pitchFamily="18" charset="2"/>
              </a:rPr>
              <a:t>[</a:t>
            </a:r>
            <a:r>
              <a:rPr lang="en-US" altLang="zh-CN" sz="2000" dirty="0">
                <a:sym typeface="Symbol" panose="05050102010706020507" charset="2"/>
              </a:rPr>
              <a:t></a:t>
            </a:r>
            <a:r>
              <a:rPr lang="en-US" altLang="zh-CN" sz="2000" dirty="0">
                <a:sym typeface="Greek Symbols" pitchFamily="18" charset="2"/>
              </a:rPr>
              <a:t>], there exist tuples </a:t>
            </a:r>
            <a:r>
              <a:rPr lang="en-US" altLang="zh-CN" sz="2000" i="1" dirty="0">
                <a:sym typeface="Greek Symbols" pitchFamily="18" charset="2"/>
              </a:rPr>
              <a:t>t</a:t>
            </a:r>
            <a:r>
              <a:rPr lang="en-US" altLang="zh-CN" sz="2000" i="1" baseline="-25000" dirty="0">
                <a:sym typeface="Greek Symbols" pitchFamily="18" charset="2"/>
              </a:rPr>
              <a:t>3</a:t>
            </a:r>
            <a:r>
              <a:rPr lang="en-US" altLang="zh-CN" sz="2000" dirty="0">
                <a:sym typeface="Greek Symbols" pitchFamily="18" charset="2"/>
              </a:rPr>
              <a:t> and </a:t>
            </a:r>
            <a:r>
              <a:rPr lang="en-US" altLang="zh-CN" sz="2000" i="1" dirty="0">
                <a:sym typeface="Greek Symbols" pitchFamily="18" charset="2"/>
              </a:rPr>
              <a:t>t</a:t>
            </a:r>
            <a:r>
              <a:rPr lang="en-US" altLang="zh-CN" sz="2000" baseline="-25000" dirty="0">
                <a:sym typeface="Greek Symbols" pitchFamily="18" charset="2"/>
              </a:rPr>
              <a:t>4</a:t>
            </a:r>
            <a:r>
              <a:rPr lang="en-US" altLang="zh-CN" sz="2000" dirty="0">
                <a:sym typeface="Greek Symbols" pitchFamily="18" charset="2"/>
              </a:rPr>
              <a:t> in </a:t>
            </a:r>
            <a:r>
              <a:rPr lang="en-US" altLang="zh-CN" sz="2000" i="1" dirty="0">
                <a:sym typeface="Greek Symbols" pitchFamily="18" charset="2"/>
              </a:rPr>
              <a:t>r </a:t>
            </a:r>
            <a:r>
              <a:rPr lang="en-US" altLang="zh-CN" sz="2000" dirty="0">
                <a:sym typeface="Greek Symbols" pitchFamily="18" charset="2"/>
              </a:rPr>
              <a:t>such that: </a:t>
            </a:r>
          </a:p>
          <a:p>
            <a:pPr defTabSz="914400">
              <a:buNone/>
              <a:tabLst>
                <a:tab pos="1891030" algn="l"/>
                <a:tab pos="2799080" algn="l"/>
              </a:tabLst>
            </a:pPr>
            <a:r>
              <a:rPr lang="en-US" altLang="zh-CN" sz="2000" dirty="0">
                <a:sym typeface="Greek Symbols" pitchFamily="18" charset="2"/>
              </a:rPr>
              <a:t>		 </a:t>
            </a:r>
            <a:r>
              <a:rPr lang="en-US" altLang="zh-CN" sz="2000" i="1" dirty="0">
                <a:sym typeface="Greek Symbols" pitchFamily="18" charset="2"/>
              </a:rPr>
              <a:t>t</a:t>
            </a:r>
            <a:r>
              <a:rPr lang="en-US" altLang="zh-CN" sz="2000" baseline="-25000" dirty="0">
                <a:sym typeface="Greek Symbols" pitchFamily="18" charset="2"/>
              </a:rPr>
              <a:t>1</a:t>
            </a:r>
            <a:r>
              <a:rPr lang="en-US" altLang="zh-CN" sz="2000" dirty="0">
                <a:sym typeface="Greek Symbols" pitchFamily="18" charset="2"/>
              </a:rPr>
              <a:t>[</a:t>
            </a:r>
            <a:r>
              <a:rPr lang="en-US" altLang="zh-CN" sz="2000" dirty="0">
                <a:sym typeface="Symbol" panose="05050102010706020507" charset="2"/>
              </a:rPr>
              <a:t></a:t>
            </a:r>
            <a:r>
              <a:rPr lang="en-US" altLang="zh-CN" sz="2000" dirty="0">
                <a:sym typeface="Greek Symbols" pitchFamily="18" charset="2"/>
              </a:rPr>
              <a:t>] = </a:t>
            </a:r>
            <a:r>
              <a:rPr lang="en-US" altLang="zh-CN" sz="2000" i="1" dirty="0">
                <a:sym typeface="Greek Symbols" pitchFamily="18" charset="2"/>
              </a:rPr>
              <a:t>t</a:t>
            </a:r>
            <a:r>
              <a:rPr lang="en-US" altLang="zh-CN" sz="2000" i="1" baseline="-25000" dirty="0">
                <a:sym typeface="Greek Symbols" pitchFamily="18" charset="2"/>
              </a:rPr>
              <a:t>2 </a:t>
            </a:r>
            <a:r>
              <a:rPr lang="en-US" altLang="zh-CN" sz="2000" dirty="0">
                <a:sym typeface="Greek Symbols" pitchFamily="18" charset="2"/>
              </a:rPr>
              <a:t>[</a:t>
            </a:r>
            <a:r>
              <a:rPr lang="en-US" altLang="zh-CN" sz="2000" dirty="0">
                <a:sym typeface="Symbol" panose="05050102010706020507" charset="2"/>
              </a:rPr>
              <a:t></a:t>
            </a:r>
            <a:r>
              <a:rPr lang="en-US" altLang="zh-CN" sz="2000" dirty="0">
                <a:sym typeface="Greek Symbols" pitchFamily="18" charset="2"/>
              </a:rPr>
              <a:t>] = </a:t>
            </a:r>
            <a:r>
              <a:rPr lang="en-US" altLang="zh-CN" sz="2000" i="1" dirty="0">
                <a:sym typeface="Greek Symbols" pitchFamily="18" charset="2"/>
              </a:rPr>
              <a:t>t</a:t>
            </a:r>
            <a:r>
              <a:rPr lang="en-US" altLang="zh-CN" sz="2000" baseline="-25000" dirty="0">
                <a:sym typeface="Greek Symbols" pitchFamily="18" charset="2"/>
              </a:rPr>
              <a:t>3</a:t>
            </a:r>
            <a:r>
              <a:rPr lang="en-US" altLang="zh-CN" sz="2000" dirty="0">
                <a:sym typeface="Greek Symbols" pitchFamily="18" charset="2"/>
              </a:rPr>
              <a:t> [</a:t>
            </a:r>
            <a:r>
              <a:rPr lang="en-US" altLang="zh-CN" sz="2000" dirty="0">
                <a:sym typeface="Symbol" panose="05050102010706020507" charset="2"/>
              </a:rPr>
              <a:t></a:t>
            </a:r>
            <a:r>
              <a:rPr lang="en-US" altLang="zh-CN" sz="2000" dirty="0">
                <a:sym typeface="Greek Symbols" pitchFamily="18" charset="2"/>
              </a:rPr>
              <a:t>] = </a:t>
            </a:r>
            <a:r>
              <a:rPr lang="en-US" altLang="zh-CN" sz="2000" i="1" dirty="0">
                <a:sym typeface="Greek Symbols" pitchFamily="18" charset="2"/>
              </a:rPr>
              <a:t>t</a:t>
            </a:r>
            <a:r>
              <a:rPr lang="en-US" altLang="zh-CN" sz="2000" baseline="-25000" dirty="0">
                <a:sym typeface="Greek Symbols" pitchFamily="18" charset="2"/>
              </a:rPr>
              <a:t>4</a:t>
            </a:r>
            <a:r>
              <a:rPr lang="en-US" altLang="zh-CN" sz="2000" i="1" baseline="-25000" dirty="0">
                <a:sym typeface="Greek Symbols" pitchFamily="18" charset="2"/>
              </a:rPr>
              <a:t> </a:t>
            </a:r>
            <a:r>
              <a:rPr lang="en-US" altLang="zh-CN" sz="2000" dirty="0">
                <a:sym typeface="Greek Symbols" pitchFamily="18" charset="2"/>
              </a:rPr>
              <a:t>[</a:t>
            </a:r>
            <a:r>
              <a:rPr lang="en-US" altLang="zh-CN" sz="2000" dirty="0">
                <a:sym typeface="Symbol" panose="05050102010706020507" charset="2"/>
              </a:rPr>
              <a:t></a:t>
            </a:r>
            <a:r>
              <a:rPr lang="en-US" altLang="zh-CN" sz="2000" dirty="0">
                <a:sym typeface="Greek Symbols" pitchFamily="18" charset="2"/>
              </a:rPr>
              <a:t>] </a:t>
            </a:r>
            <a:br>
              <a:rPr lang="en-US" altLang="zh-CN" sz="2000" dirty="0">
                <a:sym typeface="Greek Symbols" pitchFamily="18" charset="2"/>
              </a:rPr>
            </a:br>
            <a:r>
              <a:rPr lang="en-US" altLang="zh-CN" sz="2000" dirty="0">
                <a:sym typeface="Greek Symbols" pitchFamily="18" charset="2"/>
              </a:rPr>
              <a:t>	 </a:t>
            </a:r>
            <a:r>
              <a:rPr lang="en-US" altLang="zh-CN" sz="2000" i="1" dirty="0">
                <a:sym typeface="Greek Symbols" pitchFamily="18" charset="2"/>
              </a:rPr>
              <a:t>t</a:t>
            </a:r>
            <a:r>
              <a:rPr lang="en-US" altLang="zh-CN" sz="2000" baseline="-25000" dirty="0">
                <a:sym typeface="Greek Symbols" pitchFamily="18" charset="2"/>
              </a:rPr>
              <a:t>3</a:t>
            </a:r>
            <a:r>
              <a:rPr lang="en-US" altLang="zh-CN" sz="2000" dirty="0">
                <a:sym typeface="Greek Symbols" pitchFamily="18" charset="2"/>
              </a:rPr>
              <a:t>[</a:t>
            </a:r>
            <a:r>
              <a:rPr lang="en-US" altLang="zh-CN" sz="2000" dirty="0">
                <a:sym typeface="Symbol" panose="05050102010706020507" charset="2"/>
              </a:rPr>
              <a:t></a:t>
            </a:r>
            <a:r>
              <a:rPr lang="en-US" altLang="zh-CN" sz="2000" dirty="0">
                <a:sym typeface="Greek Symbols" pitchFamily="18" charset="2"/>
              </a:rPr>
              <a:t>]         =  </a:t>
            </a:r>
            <a:r>
              <a:rPr lang="en-US" altLang="zh-CN" sz="2000" i="1" dirty="0">
                <a:sym typeface="Greek Symbols" pitchFamily="18" charset="2"/>
              </a:rPr>
              <a:t>t</a:t>
            </a:r>
            <a:r>
              <a:rPr lang="en-US" altLang="zh-CN" sz="2000" baseline="-25000" dirty="0">
                <a:sym typeface="Greek Symbols" pitchFamily="18" charset="2"/>
              </a:rPr>
              <a:t>1 </a:t>
            </a:r>
            <a:r>
              <a:rPr lang="en-US" altLang="zh-CN" sz="2000" dirty="0">
                <a:sym typeface="Greek Symbols" pitchFamily="18" charset="2"/>
              </a:rPr>
              <a:t>[</a:t>
            </a:r>
            <a:r>
              <a:rPr lang="en-US" altLang="zh-CN" sz="2000" dirty="0">
                <a:sym typeface="Symbol" panose="05050102010706020507" charset="2"/>
              </a:rPr>
              <a:t></a:t>
            </a:r>
            <a:r>
              <a:rPr lang="en-US" altLang="zh-CN" sz="2000" dirty="0">
                <a:sym typeface="Greek Symbols" pitchFamily="18" charset="2"/>
              </a:rPr>
              <a:t>] </a:t>
            </a:r>
            <a:br>
              <a:rPr lang="en-US" altLang="zh-CN" sz="2000" dirty="0">
                <a:sym typeface="Greek Symbols" pitchFamily="18" charset="2"/>
              </a:rPr>
            </a:br>
            <a:r>
              <a:rPr lang="en-US" altLang="zh-CN" sz="2000" dirty="0">
                <a:sym typeface="Greek Symbols" pitchFamily="18" charset="2"/>
              </a:rPr>
              <a:t>	 </a:t>
            </a:r>
            <a:r>
              <a:rPr lang="en-US" altLang="zh-CN" sz="2000" i="1" dirty="0">
                <a:sym typeface="Greek Symbols" pitchFamily="18" charset="2"/>
              </a:rPr>
              <a:t>t</a:t>
            </a:r>
            <a:r>
              <a:rPr lang="en-US" altLang="zh-CN" sz="2000" baseline="-25000" dirty="0">
                <a:sym typeface="Greek Symbols" pitchFamily="18" charset="2"/>
              </a:rPr>
              <a:t>3</a:t>
            </a:r>
            <a:r>
              <a:rPr lang="en-US" altLang="zh-CN" sz="2000" dirty="0">
                <a:sym typeface="Greek Symbols" pitchFamily="18" charset="2"/>
              </a:rPr>
              <a:t>[</a:t>
            </a:r>
            <a:r>
              <a:rPr lang="en-US" altLang="zh-CN" sz="2000" i="1" dirty="0">
                <a:sym typeface="Greek Symbols" pitchFamily="18" charset="2"/>
              </a:rPr>
              <a:t>R  – </a:t>
            </a:r>
            <a:r>
              <a:rPr lang="en-US" altLang="zh-CN" sz="2000" dirty="0">
                <a:sym typeface="Symbol" panose="05050102010706020507" charset="2"/>
              </a:rPr>
              <a:t></a:t>
            </a:r>
            <a:r>
              <a:rPr lang="en-US" altLang="zh-CN" sz="2000" dirty="0">
                <a:sym typeface="Greek Symbols" pitchFamily="18" charset="2"/>
              </a:rPr>
              <a:t>] =  </a:t>
            </a:r>
            <a:r>
              <a:rPr lang="en-US" altLang="zh-CN" sz="2000" i="1" dirty="0">
                <a:sym typeface="Greek Symbols" pitchFamily="18" charset="2"/>
              </a:rPr>
              <a:t>t</a:t>
            </a:r>
            <a:r>
              <a:rPr lang="en-US" altLang="zh-CN" sz="2000" baseline="-25000" dirty="0">
                <a:sym typeface="Greek Symbols" pitchFamily="18" charset="2"/>
              </a:rPr>
              <a:t>2</a:t>
            </a:r>
            <a:r>
              <a:rPr lang="en-US" altLang="zh-CN" sz="2000" dirty="0">
                <a:sym typeface="Greek Symbols" pitchFamily="18" charset="2"/>
              </a:rPr>
              <a:t>[</a:t>
            </a:r>
            <a:r>
              <a:rPr lang="en-US" altLang="zh-CN" sz="2000" i="1" dirty="0">
                <a:sym typeface="Greek Symbols" pitchFamily="18" charset="2"/>
              </a:rPr>
              <a:t>R  – </a:t>
            </a:r>
            <a:r>
              <a:rPr lang="en-US" altLang="zh-CN" sz="2000" dirty="0">
                <a:sym typeface="Symbol" panose="05050102010706020507" charset="2"/>
              </a:rPr>
              <a:t></a:t>
            </a:r>
            <a:r>
              <a:rPr lang="en-US" altLang="zh-CN" sz="2000" dirty="0">
                <a:sym typeface="Greek Symbols" pitchFamily="18" charset="2"/>
              </a:rPr>
              <a:t>] </a:t>
            </a:r>
            <a:br>
              <a:rPr lang="en-US" altLang="zh-CN" sz="2000" dirty="0">
                <a:sym typeface="Greek Symbols" pitchFamily="18" charset="2"/>
              </a:rPr>
            </a:br>
            <a:r>
              <a:rPr lang="en-US" altLang="zh-CN" sz="2000" dirty="0">
                <a:sym typeface="Greek Symbols" pitchFamily="18" charset="2"/>
              </a:rPr>
              <a:t>	 </a:t>
            </a:r>
            <a:r>
              <a:rPr lang="en-US" altLang="zh-CN" sz="2000" i="1" dirty="0">
                <a:sym typeface="Greek Symbols" pitchFamily="18" charset="2"/>
              </a:rPr>
              <a:t>t</a:t>
            </a:r>
            <a:r>
              <a:rPr lang="en-US" altLang="zh-CN" sz="2000" baseline="-25000" dirty="0">
                <a:sym typeface="Greek Symbols" pitchFamily="18" charset="2"/>
              </a:rPr>
              <a:t>4 </a:t>
            </a:r>
            <a:r>
              <a:rPr lang="en-US" altLang="zh-CN" sz="2000" dirty="0">
                <a:sym typeface="Greek Symbols" pitchFamily="18" charset="2"/>
              </a:rPr>
              <a:t>[</a:t>
            </a:r>
            <a:r>
              <a:rPr lang="en-US" altLang="zh-CN" sz="2000" dirty="0">
                <a:sym typeface="Symbol" panose="05050102010706020507" charset="2"/>
              </a:rPr>
              <a:t></a:t>
            </a:r>
            <a:r>
              <a:rPr lang="en-US" altLang="zh-CN" sz="2000" dirty="0">
                <a:sym typeface="Greek Symbols" pitchFamily="18" charset="2"/>
              </a:rPr>
              <a:t>]         =  </a:t>
            </a:r>
            <a:r>
              <a:rPr lang="en-US" altLang="zh-CN" sz="2000" i="1" dirty="0">
                <a:sym typeface="Greek Symbols" pitchFamily="18" charset="2"/>
              </a:rPr>
              <a:t>t</a:t>
            </a:r>
            <a:r>
              <a:rPr lang="en-US" altLang="zh-CN" sz="2000" baseline="-25000" dirty="0">
                <a:sym typeface="Greek Symbols" pitchFamily="18" charset="2"/>
              </a:rPr>
              <a:t>2</a:t>
            </a:r>
            <a:r>
              <a:rPr lang="en-US" altLang="zh-CN" sz="2000" dirty="0">
                <a:sym typeface="Greek Symbols" pitchFamily="18" charset="2"/>
              </a:rPr>
              <a:t>[</a:t>
            </a:r>
            <a:r>
              <a:rPr lang="en-US" altLang="zh-CN" sz="2000" dirty="0">
                <a:sym typeface="Symbol" panose="05050102010706020507" charset="2"/>
              </a:rPr>
              <a:t></a:t>
            </a:r>
            <a:r>
              <a:rPr lang="en-US" altLang="zh-CN" sz="2000" dirty="0">
                <a:sym typeface="Greek Symbols" pitchFamily="18" charset="2"/>
              </a:rPr>
              <a:t>] </a:t>
            </a:r>
            <a:br>
              <a:rPr lang="en-US" altLang="zh-CN" sz="2000" dirty="0">
                <a:sym typeface="Greek Symbols" pitchFamily="18" charset="2"/>
              </a:rPr>
            </a:br>
            <a:r>
              <a:rPr lang="en-US" altLang="zh-CN" sz="2000" dirty="0">
                <a:sym typeface="Greek Symbols" pitchFamily="18" charset="2"/>
              </a:rPr>
              <a:t>	 </a:t>
            </a:r>
            <a:r>
              <a:rPr lang="en-US" altLang="zh-CN" sz="2000" i="1" dirty="0">
                <a:sym typeface="Greek Symbols" pitchFamily="18" charset="2"/>
              </a:rPr>
              <a:t>t</a:t>
            </a:r>
            <a:r>
              <a:rPr lang="en-US" altLang="zh-CN" sz="2000" baseline="-25000" dirty="0">
                <a:sym typeface="Greek Symbols" pitchFamily="18" charset="2"/>
              </a:rPr>
              <a:t>4</a:t>
            </a:r>
            <a:r>
              <a:rPr lang="en-US" altLang="zh-CN" sz="2000" dirty="0">
                <a:sym typeface="Greek Symbols" pitchFamily="18" charset="2"/>
              </a:rPr>
              <a:t>[</a:t>
            </a:r>
            <a:r>
              <a:rPr lang="en-US" altLang="zh-CN" sz="2000" i="1" dirty="0">
                <a:sym typeface="Greek Symbols" pitchFamily="18" charset="2"/>
              </a:rPr>
              <a:t>R  – </a:t>
            </a:r>
            <a:r>
              <a:rPr lang="en-US" altLang="zh-CN" sz="2000" dirty="0">
                <a:sym typeface="Symbol" panose="05050102010706020507" charset="2"/>
              </a:rPr>
              <a:t></a:t>
            </a:r>
            <a:r>
              <a:rPr lang="en-US" altLang="zh-CN" sz="2000" dirty="0">
                <a:sym typeface="Greek Symbols" pitchFamily="18" charset="2"/>
              </a:rPr>
              <a:t>] =  </a:t>
            </a:r>
            <a:r>
              <a:rPr lang="en-US" altLang="zh-CN" sz="2000" i="1" dirty="0">
                <a:sym typeface="Greek Symbols" pitchFamily="18" charset="2"/>
              </a:rPr>
              <a:t>t</a:t>
            </a:r>
            <a:r>
              <a:rPr lang="en-US" altLang="zh-CN" sz="2000" baseline="-25000" dirty="0">
                <a:sym typeface="Greek Symbols" pitchFamily="18" charset="2"/>
              </a:rPr>
              <a:t>1</a:t>
            </a:r>
            <a:r>
              <a:rPr lang="en-US" altLang="zh-CN" sz="2000" dirty="0">
                <a:sym typeface="Greek Symbols" pitchFamily="18" charset="2"/>
              </a:rPr>
              <a:t>[</a:t>
            </a:r>
            <a:r>
              <a:rPr lang="en-US" altLang="zh-CN" sz="2000" i="1" dirty="0">
                <a:sym typeface="Greek Symbols" pitchFamily="18" charset="2"/>
              </a:rPr>
              <a:t>R  – </a:t>
            </a:r>
            <a:r>
              <a:rPr lang="en-US" altLang="zh-CN" sz="2000" dirty="0">
                <a:sym typeface="Symbol" panose="05050102010706020507" charset="2"/>
              </a:rPr>
              <a:t></a:t>
            </a:r>
            <a:r>
              <a:rPr lang="en-US" altLang="zh-CN" sz="2000" dirty="0">
                <a:sym typeface="Greek Symbols" pitchFamily="18" charset="2"/>
              </a:rPr>
              <a:t>] </a:t>
            </a:r>
            <a:br>
              <a:rPr lang="en-US" altLang="zh-CN" sz="2000" dirty="0">
                <a:sym typeface="Greek Symbols" pitchFamily="18" charset="2"/>
              </a:rPr>
            </a:br>
            <a:endParaRPr lang="en-US" altLang="zh-CN" sz="2000" dirty="0">
              <a:sym typeface="Greek Symbols" pitchFamily="18" charset="2"/>
            </a:endParaRPr>
          </a:p>
        </p:txBody>
      </p:sp>
      <p:grpSp>
        <p:nvGrpSpPr>
          <p:cNvPr id="143363" name="Group 4"/>
          <p:cNvGrpSpPr/>
          <p:nvPr/>
        </p:nvGrpSpPr>
        <p:grpSpPr>
          <a:xfrm>
            <a:off x="7272338" y="6637338"/>
            <a:ext cx="317500" cy="4762"/>
            <a:chOff x="2640" y="1301"/>
            <a:chExt cx="200" cy="3"/>
          </a:xfrm>
        </p:grpSpPr>
        <p:sp>
          <p:nvSpPr>
            <p:cNvPr id="766981" name="Line 5"/>
            <p:cNvSpPr>
              <a:spLocks noChangeShapeType="1"/>
            </p:cNvSpPr>
            <p:nvPr/>
          </p:nvSpPr>
          <p:spPr bwMode="auto">
            <a:xfrm flipV="1">
              <a:off x="2640" y="1301"/>
              <a:ext cx="136" cy="3"/>
            </a:xfrm>
            <a:prstGeom prst="line">
              <a:avLst/>
            </a:prstGeom>
            <a:noFill/>
            <a:ln w="9525">
              <a:solidFill>
                <a:schemeClr val="tx1"/>
              </a:solidFill>
              <a:round/>
              <a:tailEnd type="triangl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766982" name="Line 6"/>
            <p:cNvSpPr>
              <a:spLocks noChangeShapeType="1"/>
            </p:cNvSpPr>
            <p:nvPr/>
          </p:nvSpPr>
          <p:spPr bwMode="auto">
            <a:xfrm>
              <a:off x="2704" y="1304"/>
              <a:ext cx="136" cy="0"/>
            </a:xfrm>
            <a:prstGeom prst="line">
              <a:avLst/>
            </a:prstGeom>
            <a:noFill/>
            <a:ln w="9525">
              <a:solidFill>
                <a:schemeClr val="tx1"/>
              </a:solidFill>
              <a:round/>
              <a:tailEnd type="triangl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gr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9026"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MVD (Cont.)</a:t>
            </a:r>
          </a:p>
        </p:txBody>
      </p:sp>
      <p:sp>
        <p:nvSpPr>
          <p:cNvPr id="145410" name="Rectangle 3"/>
          <p:cNvSpPr>
            <a:spLocks noGrp="1"/>
          </p:cNvSpPr>
          <p:nvPr>
            <p:ph idx="1"/>
          </p:nvPr>
        </p:nvSpPr>
        <p:spPr>
          <a:xfrm>
            <a:off x="814388" y="1093788"/>
            <a:ext cx="7661275" cy="669925"/>
          </a:xfrm>
        </p:spPr>
        <p:txBody>
          <a:bodyPr wrap="square" lIns="91440" tIns="45720" rIns="91440" bIns="45720" anchor="t"/>
          <a:lstStyle/>
          <a:p>
            <a:r>
              <a:rPr lang="en-US" altLang="zh-CN" dirty="0"/>
              <a:t>Tabular representation of </a:t>
            </a:r>
            <a:r>
              <a:rPr lang="en-US" altLang="zh-CN" dirty="0">
                <a:sym typeface="Symbol" panose="05050102010706020507" charset="2"/>
              </a:rPr>
              <a:t></a:t>
            </a:r>
            <a:r>
              <a:rPr lang="en-US" altLang="zh-CN" dirty="0">
                <a:sym typeface="Greek Symbols" pitchFamily="18" charset="2"/>
              </a:rPr>
              <a:t> </a:t>
            </a:r>
            <a:r>
              <a:rPr lang="en-US" altLang="zh-CN" b="1" dirty="0">
                <a:sym typeface="Symbol" panose="05050102010706020507" charset="2"/>
              </a:rPr>
              <a:t></a:t>
            </a:r>
            <a:r>
              <a:rPr lang="en-US" altLang="zh-CN" i="1" dirty="0">
                <a:sym typeface="Monotype Sorts" charset="2"/>
              </a:rPr>
              <a:t> </a:t>
            </a:r>
            <a:r>
              <a:rPr lang="en-US" altLang="zh-CN" dirty="0">
                <a:sym typeface="Symbol" panose="05050102010706020507" charset="2"/>
              </a:rPr>
              <a:t></a:t>
            </a:r>
          </a:p>
        </p:txBody>
      </p:sp>
      <p:pic>
        <p:nvPicPr>
          <p:cNvPr id="145411" name="Picture 5" descr="8"/>
          <p:cNvPicPr>
            <a:picLocks noChangeAspect="1"/>
          </p:cNvPicPr>
          <p:nvPr/>
        </p:nvPicPr>
        <p:blipFill>
          <a:blip r:embed="rId3"/>
          <a:stretch>
            <a:fillRect/>
          </a:stretch>
        </p:blipFill>
        <p:spPr>
          <a:xfrm>
            <a:off x="1609725" y="2184400"/>
            <a:ext cx="6172200" cy="2170113"/>
          </a:xfrm>
          <a:prstGeom prst="rect">
            <a:avLst/>
          </a:prstGeom>
          <a:noFill/>
          <a:ln w="9525">
            <a:noFill/>
          </a:ln>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1074"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Example</a:t>
            </a:r>
          </a:p>
        </p:txBody>
      </p:sp>
      <p:sp>
        <p:nvSpPr>
          <p:cNvPr id="147458" name="Rectangle 3"/>
          <p:cNvSpPr>
            <a:spLocks noGrp="1"/>
          </p:cNvSpPr>
          <p:nvPr>
            <p:ph idx="1"/>
          </p:nvPr>
        </p:nvSpPr>
        <p:spPr/>
        <p:txBody>
          <a:bodyPr wrap="square" lIns="91440" tIns="45720" rIns="91440" bIns="45720" anchor="t"/>
          <a:lstStyle/>
          <a:p>
            <a:pPr defTabSz="914400">
              <a:tabLst>
                <a:tab pos="1149350" algn="l"/>
                <a:tab pos="3311525" algn="ctr"/>
              </a:tabLst>
            </a:pPr>
            <a:r>
              <a:rPr lang="en-US" altLang="zh-CN" sz="2000" dirty="0"/>
              <a:t>Let </a:t>
            </a:r>
            <a:r>
              <a:rPr lang="en-US" altLang="zh-CN" sz="2000" i="1" dirty="0"/>
              <a:t>R</a:t>
            </a:r>
            <a:r>
              <a:rPr lang="en-US" altLang="zh-CN" sz="2000" dirty="0"/>
              <a:t> be a relation schema with a set of attributes that are partitioned into 3 nonempty subsets.</a:t>
            </a:r>
          </a:p>
          <a:p>
            <a:pPr defTabSz="914400">
              <a:buNone/>
              <a:tabLst>
                <a:tab pos="1149350" algn="l"/>
                <a:tab pos="3311525" algn="ctr"/>
              </a:tabLst>
            </a:pPr>
            <a:r>
              <a:rPr lang="en-US" altLang="zh-CN" sz="2000" dirty="0"/>
              <a:t>			</a:t>
            </a:r>
            <a:r>
              <a:rPr lang="en-US" altLang="zh-CN" sz="2000" i="1" dirty="0"/>
              <a:t>Y, Z, W</a:t>
            </a:r>
          </a:p>
          <a:p>
            <a:pPr defTabSz="914400">
              <a:tabLst>
                <a:tab pos="1149350" algn="l"/>
                <a:tab pos="3311525" algn="ctr"/>
              </a:tabLst>
            </a:pPr>
            <a:r>
              <a:rPr lang="en-US" altLang="zh-CN" sz="2000" dirty="0"/>
              <a:t>We say that </a:t>
            </a:r>
            <a:r>
              <a:rPr lang="en-US" altLang="zh-CN" sz="2000" i="1" dirty="0"/>
              <a:t>Y </a:t>
            </a:r>
            <a:r>
              <a:rPr lang="en-US" altLang="zh-CN" sz="2000" b="1" dirty="0">
                <a:sym typeface="Symbol" panose="05050102010706020507" charset="2"/>
              </a:rPr>
              <a:t></a:t>
            </a:r>
            <a:r>
              <a:rPr lang="en-US" altLang="zh-CN" sz="2000" dirty="0">
                <a:sym typeface="Monotype Sorts" charset="2"/>
              </a:rPr>
              <a:t> </a:t>
            </a:r>
            <a:r>
              <a:rPr lang="en-US" altLang="zh-CN" sz="2000" i="1" dirty="0">
                <a:sym typeface="Monotype Sorts" charset="2"/>
              </a:rPr>
              <a:t>Z </a:t>
            </a:r>
            <a:r>
              <a:rPr lang="en-US" altLang="zh-CN" sz="2000" dirty="0">
                <a:sym typeface="Monotype Sorts" charset="2"/>
              </a:rPr>
              <a:t>(</a:t>
            </a:r>
            <a:r>
              <a:rPr lang="en-US" altLang="zh-CN" sz="2000" i="1" dirty="0">
                <a:sym typeface="Monotype Sorts" charset="2"/>
              </a:rPr>
              <a:t>Y</a:t>
            </a:r>
            <a:r>
              <a:rPr lang="en-US" altLang="zh-CN" sz="2000" dirty="0">
                <a:sym typeface="Monotype Sorts" charset="2"/>
              </a:rPr>
              <a:t> </a:t>
            </a:r>
            <a:r>
              <a:rPr lang="en-US" altLang="zh-CN" sz="2000" b="1" dirty="0">
                <a:solidFill>
                  <a:srgbClr val="000099"/>
                </a:solidFill>
                <a:sym typeface="Monotype Sorts" charset="2"/>
              </a:rPr>
              <a:t>multidetermines</a:t>
            </a:r>
            <a:r>
              <a:rPr lang="en-US" altLang="zh-CN" sz="2000" dirty="0">
                <a:sym typeface="Monotype Sorts" charset="2"/>
              </a:rPr>
              <a:t> </a:t>
            </a:r>
            <a:r>
              <a:rPr lang="en-US" altLang="zh-CN" sz="2000" i="1" dirty="0">
                <a:sym typeface="Monotype Sorts" charset="2"/>
              </a:rPr>
              <a:t>Z </a:t>
            </a:r>
            <a:r>
              <a:rPr lang="en-US" altLang="zh-CN" sz="2000" dirty="0">
                <a:sym typeface="Monotype Sorts" charset="2"/>
              </a:rPr>
              <a:t>)</a:t>
            </a:r>
            <a:br>
              <a:rPr lang="en-US" altLang="zh-CN" sz="2000" i="1" dirty="0">
                <a:sym typeface="Monotype Sorts" charset="2"/>
              </a:rPr>
            </a:br>
            <a:r>
              <a:rPr lang="en-US" altLang="zh-CN" sz="2000" dirty="0">
                <a:sym typeface="Monotype Sorts" charset="2"/>
              </a:rPr>
              <a:t>if and only if for all possible relations </a:t>
            </a:r>
            <a:r>
              <a:rPr lang="en-US" altLang="zh-CN" sz="2000" i="1" dirty="0">
                <a:sym typeface="Monotype Sorts" charset="2"/>
              </a:rPr>
              <a:t>r </a:t>
            </a:r>
            <a:r>
              <a:rPr lang="en-US" altLang="zh-CN" sz="2000" dirty="0">
                <a:sym typeface="Monotype Sorts" charset="2"/>
              </a:rPr>
              <a:t>(</a:t>
            </a:r>
            <a:r>
              <a:rPr lang="en-US" altLang="zh-CN" sz="2000" i="1" dirty="0">
                <a:sym typeface="Monotype Sorts" charset="2"/>
              </a:rPr>
              <a:t>R </a:t>
            </a:r>
            <a:r>
              <a:rPr lang="en-US" altLang="zh-CN" sz="2000" dirty="0">
                <a:sym typeface="Monotype Sorts" charset="2"/>
              </a:rPr>
              <a:t>)</a:t>
            </a:r>
            <a:endParaRPr lang="en-US" altLang="zh-CN" sz="2000" i="1" dirty="0">
              <a:sym typeface="Monotype Sorts" charset="2"/>
            </a:endParaRPr>
          </a:p>
          <a:p>
            <a:pPr defTabSz="914400">
              <a:buNone/>
              <a:tabLst>
                <a:tab pos="1149350" algn="l"/>
                <a:tab pos="3311525" algn="ctr"/>
              </a:tabLst>
            </a:pPr>
            <a:r>
              <a:rPr lang="en-US" altLang="zh-CN" sz="2000" dirty="0">
                <a:sym typeface="Monotype Sorts" charset="2"/>
              </a:rPr>
              <a:t>		&lt; </a:t>
            </a:r>
            <a:r>
              <a:rPr lang="en-US" altLang="zh-CN" sz="2000" i="1" dirty="0">
                <a:sym typeface="Monotype Sorts" charset="2"/>
              </a:rPr>
              <a:t>y</a:t>
            </a:r>
            <a:r>
              <a:rPr lang="en-US" altLang="zh-CN" sz="2000" baseline="-25000" dirty="0">
                <a:sym typeface="Monotype Sorts" charset="2"/>
              </a:rPr>
              <a:t>1</a:t>
            </a:r>
            <a:r>
              <a:rPr lang="en-US" altLang="zh-CN" sz="2000" dirty="0">
                <a:sym typeface="Monotype Sorts" charset="2"/>
              </a:rPr>
              <a:t>, </a:t>
            </a:r>
            <a:r>
              <a:rPr lang="en-US" altLang="zh-CN" sz="2000" i="1" dirty="0">
                <a:sym typeface="Monotype Sorts" charset="2"/>
              </a:rPr>
              <a:t>z</a:t>
            </a:r>
            <a:r>
              <a:rPr lang="en-US" altLang="zh-CN" sz="2000" baseline="-25000" dirty="0">
                <a:sym typeface="Monotype Sorts" charset="2"/>
              </a:rPr>
              <a:t>1</a:t>
            </a:r>
            <a:r>
              <a:rPr lang="en-US" altLang="zh-CN" sz="2000" dirty="0">
                <a:sym typeface="Monotype Sorts" charset="2"/>
              </a:rPr>
              <a:t>, </a:t>
            </a:r>
            <a:r>
              <a:rPr lang="en-US" altLang="zh-CN" sz="2000" i="1" dirty="0">
                <a:sym typeface="Monotype Sorts" charset="2"/>
              </a:rPr>
              <a:t>w</a:t>
            </a:r>
            <a:r>
              <a:rPr lang="en-US" altLang="zh-CN" sz="2000" baseline="-25000" dirty="0">
                <a:sym typeface="Monotype Sorts" charset="2"/>
              </a:rPr>
              <a:t>1</a:t>
            </a:r>
            <a:r>
              <a:rPr lang="en-US" altLang="zh-CN" sz="2000" dirty="0">
                <a:sym typeface="Monotype Sorts" charset="2"/>
              </a:rPr>
              <a:t> &gt; </a:t>
            </a:r>
            <a:r>
              <a:rPr lang="en-US" altLang="zh-CN" sz="2000" dirty="0">
                <a:sym typeface="Symbol" panose="05050102010706020507" charset="2"/>
              </a:rPr>
              <a:t> </a:t>
            </a:r>
            <a:r>
              <a:rPr lang="en-US" altLang="zh-CN" sz="2000" i="1" dirty="0">
                <a:sym typeface="Symbol" panose="05050102010706020507" charset="2"/>
              </a:rPr>
              <a:t>r</a:t>
            </a:r>
            <a:r>
              <a:rPr lang="en-US" altLang="zh-CN" sz="2000" dirty="0">
                <a:sym typeface="Symbol" panose="05050102010706020507" charset="2"/>
              </a:rPr>
              <a:t> and &lt; </a:t>
            </a:r>
            <a:r>
              <a:rPr lang="en-US" altLang="zh-CN" sz="2000" i="1" dirty="0">
                <a:sym typeface="Monotype Sorts" charset="2"/>
              </a:rPr>
              <a:t>y</a:t>
            </a:r>
            <a:r>
              <a:rPr lang="en-US" altLang="zh-CN" sz="2000" baseline="-25000" dirty="0">
                <a:sym typeface="Monotype Sorts" charset="2"/>
              </a:rPr>
              <a:t>1</a:t>
            </a:r>
            <a:r>
              <a:rPr lang="en-US" altLang="zh-CN" sz="2000" dirty="0">
                <a:sym typeface="Monotype Sorts" charset="2"/>
              </a:rPr>
              <a:t>, </a:t>
            </a:r>
            <a:r>
              <a:rPr lang="en-US" altLang="zh-CN" sz="2000" i="1" dirty="0">
                <a:sym typeface="Monotype Sorts" charset="2"/>
              </a:rPr>
              <a:t>z</a:t>
            </a:r>
            <a:r>
              <a:rPr lang="en-US" altLang="zh-CN" sz="2000" baseline="-25000" dirty="0">
                <a:sym typeface="Monotype Sorts" charset="2"/>
              </a:rPr>
              <a:t>2</a:t>
            </a:r>
            <a:r>
              <a:rPr lang="en-US" altLang="zh-CN" sz="2000" dirty="0">
                <a:sym typeface="Monotype Sorts" charset="2"/>
              </a:rPr>
              <a:t>, </a:t>
            </a:r>
            <a:r>
              <a:rPr lang="en-US" altLang="zh-CN" sz="2000" i="1" dirty="0">
                <a:sym typeface="Monotype Sorts" charset="2"/>
              </a:rPr>
              <a:t>w</a:t>
            </a:r>
            <a:r>
              <a:rPr lang="en-US" altLang="zh-CN" sz="2000" baseline="-25000" dirty="0">
                <a:sym typeface="Monotype Sorts" charset="2"/>
              </a:rPr>
              <a:t>2</a:t>
            </a:r>
            <a:r>
              <a:rPr lang="en-US" altLang="zh-CN" sz="2000" dirty="0">
                <a:sym typeface="Monotype Sorts" charset="2"/>
              </a:rPr>
              <a:t> &gt; </a:t>
            </a:r>
            <a:r>
              <a:rPr lang="en-US" altLang="zh-CN" sz="2000" dirty="0">
                <a:sym typeface="Symbol" panose="05050102010706020507" charset="2"/>
              </a:rPr>
              <a:t> </a:t>
            </a:r>
            <a:r>
              <a:rPr lang="en-US" altLang="zh-CN" sz="2000" i="1" dirty="0">
                <a:sym typeface="Symbol" panose="05050102010706020507" charset="2"/>
              </a:rPr>
              <a:t>r</a:t>
            </a:r>
            <a:endParaRPr lang="en-US" altLang="zh-CN" sz="2000" dirty="0">
              <a:sym typeface="Symbol" panose="05050102010706020507" charset="2"/>
            </a:endParaRPr>
          </a:p>
          <a:p>
            <a:pPr defTabSz="914400">
              <a:buNone/>
              <a:tabLst>
                <a:tab pos="1149350" algn="l"/>
                <a:tab pos="3311525" algn="ctr"/>
              </a:tabLst>
            </a:pPr>
            <a:r>
              <a:rPr lang="en-US" altLang="zh-CN" sz="2000" dirty="0">
                <a:sym typeface="Symbol" panose="05050102010706020507" charset="2"/>
              </a:rPr>
              <a:t>	then</a:t>
            </a:r>
          </a:p>
          <a:p>
            <a:pPr defTabSz="914400">
              <a:buNone/>
              <a:tabLst>
                <a:tab pos="1149350" algn="l"/>
                <a:tab pos="3311525" algn="ctr"/>
              </a:tabLst>
            </a:pPr>
            <a:r>
              <a:rPr lang="en-US" altLang="zh-CN" sz="2000" dirty="0">
                <a:sym typeface="Symbol" panose="05050102010706020507" charset="2"/>
              </a:rPr>
              <a:t>		</a:t>
            </a:r>
            <a:r>
              <a:rPr lang="en-US" altLang="zh-CN" sz="2000" dirty="0">
                <a:sym typeface="Monotype Sorts" charset="2"/>
              </a:rPr>
              <a:t>&lt; </a:t>
            </a:r>
            <a:r>
              <a:rPr lang="en-US" altLang="zh-CN" sz="2000" i="1" dirty="0">
                <a:sym typeface="Monotype Sorts" charset="2"/>
              </a:rPr>
              <a:t>y</a:t>
            </a:r>
            <a:r>
              <a:rPr lang="en-US" altLang="zh-CN" sz="2000" baseline="-25000" dirty="0">
                <a:sym typeface="Monotype Sorts" charset="2"/>
              </a:rPr>
              <a:t>1</a:t>
            </a:r>
            <a:r>
              <a:rPr lang="en-US" altLang="zh-CN" sz="2000" dirty="0">
                <a:sym typeface="Monotype Sorts" charset="2"/>
              </a:rPr>
              <a:t>, </a:t>
            </a:r>
            <a:r>
              <a:rPr lang="en-US" altLang="zh-CN" sz="2000" i="1" dirty="0">
                <a:sym typeface="Monotype Sorts" charset="2"/>
              </a:rPr>
              <a:t>z</a:t>
            </a:r>
            <a:r>
              <a:rPr lang="en-US" altLang="zh-CN" sz="2000" baseline="-25000" dirty="0">
                <a:sym typeface="Monotype Sorts" charset="2"/>
              </a:rPr>
              <a:t>1</a:t>
            </a:r>
            <a:r>
              <a:rPr lang="en-US" altLang="zh-CN" sz="2000" dirty="0">
                <a:sym typeface="Monotype Sorts" charset="2"/>
              </a:rPr>
              <a:t>, </a:t>
            </a:r>
            <a:r>
              <a:rPr lang="en-US" altLang="zh-CN" sz="2000" i="1" dirty="0">
                <a:sym typeface="Monotype Sorts" charset="2"/>
              </a:rPr>
              <a:t>w</a:t>
            </a:r>
            <a:r>
              <a:rPr lang="en-US" altLang="zh-CN" sz="2000" baseline="-25000" dirty="0">
                <a:sym typeface="Monotype Sorts" charset="2"/>
              </a:rPr>
              <a:t>2</a:t>
            </a:r>
            <a:r>
              <a:rPr lang="en-US" altLang="zh-CN" sz="2000" dirty="0">
                <a:sym typeface="Monotype Sorts" charset="2"/>
              </a:rPr>
              <a:t> &gt; </a:t>
            </a:r>
            <a:r>
              <a:rPr lang="en-US" altLang="zh-CN" sz="2000" dirty="0">
                <a:sym typeface="Symbol" panose="05050102010706020507" charset="2"/>
              </a:rPr>
              <a:t> </a:t>
            </a:r>
            <a:r>
              <a:rPr lang="en-US" altLang="zh-CN" sz="2000" i="1" dirty="0">
                <a:sym typeface="Symbol" panose="05050102010706020507" charset="2"/>
              </a:rPr>
              <a:t>r</a:t>
            </a:r>
            <a:r>
              <a:rPr lang="en-US" altLang="zh-CN" sz="2000" dirty="0">
                <a:sym typeface="Symbol" panose="05050102010706020507" charset="2"/>
              </a:rPr>
              <a:t> and &lt; </a:t>
            </a:r>
            <a:r>
              <a:rPr lang="en-US" altLang="zh-CN" sz="2000" i="1" dirty="0">
                <a:sym typeface="Monotype Sorts" charset="2"/>
              </a:rPr>
              <a:t>y</a:t>
            </a:r>
            <a:r>
              <a:rPr lang="en-US" altLang="zh-CN" sz="2000" baseline="-25000" dirty="0">
                <a:sym typeface="Monotype Sorts" charset="2"/>
              </a:rPr>
              <a:t>1</a:t>
            </a:r>
            <a:r>
              <a:rPr lang="en-US" altLang="zh-CN" sz="2000" dirty="0">
                <a:sym typeface="Monotype Sorts" charset="2"/>
              </a:rPr>
              <a:t>, </a:t>
            </a:r>
            <a:r>
              <a:rPr lang="en-US" altLang="zh-CN" sz="2000" i="1" dirty="0">
                <a:sym typeface="Monotype Sorts" charset="2"/>
              </a:rPr>
              <a:t>z</a:t>
            </a:r>
            <a:r>
              <a:rPr lang="en-US" altLang="zh-CN" sz="2000" baseline="-25000" dirty="0">
                <a:sym typeface="Monotype Sorts" charset="2"/>
              </a:rPr>
              <a:t>2</a:t>
            </a:r>
            <a:r>
              <a:rPr lang="en-US" altLang="zh-CN" sz="2000" dirty="0">
                <a:sym typeface="Monotype Sorts" charset="2"/>
              </a:rPr>
              <a:t>, </a:t>
            </a:r>
            <a:r>
              <a:rPr lang="en-US" altLang="zh-CN" sz="2000" i="1" dirty="0">
                <a:sym typeface="Monotype Sorts" charset="2"/>
              </a:rPr>
              <a:t>w</a:t>
            </a:r>
            <a:r>
              <a:rPr lang="en-US" altLang="zh-CN" sz="2000" baseline="-25000" dirty="0">
                <a:sym typeface="Monotype Sorts" charset="2"/>
              </a:rPr>
              <a:t>1</a:t>
            </a:r>
            <a:r>
              <a:rPr lang="en-US" altLang="zh-CN" sz="2000" dirty="0">
                <a:sym typeface="Monotype Sorts" charset="2"/>
              </a:rPr>
              <a:t> &gt; </a:t>
            </a:r>
            <a:r>
              <a:rPr lang="en-US" altLang="zh-CN" sz="2000" dirty="0">
                <a:sym typeface="Symbol" panose="05050102010706020507" charset="2"/>
              </a:rPr>
              <a:t> </a:t>
            </a:r>
            <a:r>
              <a:rPr lang="en-US" altLang="zh-CN" sz="2000" i="1" dirty="0">
                <a:sym typeface="Symbol" panose="05050102010706020507" charset="2"/>
              </a:rPr>
              <a:t>r</a:t>
            </a:r>
          </a:p>
          <a:p>
            <a:pPr defTabSz="914400">
              <a:tabLst>
                <a:tab pos="1149350" algn="l"/>
                <a:tab pos="3311525" algn="ctr"/>
              </a:tabLst>
            </a:pPr>
            <a:r>
              <a:rPr lang="en-US" altLang="zh-CN" sz="2000" dirty="0">
                <a:sym typeface="Symbol" panose="05050102010706020507" charset="2"/>
              </a:rPr>
              <a:t>Note that since the behavior of </a:t>
            </a:r>
            <a:r>
              <a:rPr lang="en-US" altLang="zh-CN" sz="2000" i="1" dirty="0">
                <a:sym typeface="Symbol" panose="05050102010706020507" charset="2"/>
              </a:rPr>
              <a:t>Z</a:t>
            </a:r>
            <a:r>
              <a:rPr lang="en-US" altLang="zh-CN" sz="2000" dirty="0">
                <a:sym typeface="Symbol" panose="05050102010706020507" charset="2"/>
              </a:rPr>
              <a:t> and </a:t>
            </a:r>
            <a:r>
              <a:rPr lang="en-US" altLang="zh-CN" sz="2000" i="1" dirty="0">
                <a:sym typeface="Symbol" panose="05050102010706020507" charset="2"/>
              </a:rPr>
              <a:t>W</a:t>
            </a:r>
            <a:r>
              <a:rPr lang="en-US" altLang="zh-CN" sz="2000" dirty="0">
                <a:sym typeface="Symbol" panose="05050102010706020507" charset="2"/>
              </a:rPr>
              <a:t> are identical it follows that </a:t>
            </a:r>
          </a:p>
          <a:p>
            <a:pPr defTabSz="914400">
              <a:buNone/>
              <a:tabLst>
                <a:tab pos="1149350" algn="l"/>
                <a:tab pos="3311525" algn="ctr"/>
              </a:tabLst>
            </a:pPr>
            <a:r>
              <a:rPr lang="en-US" altLang="zh-CN" sz="2000" i="1" dirty="0">
                <a:sym typeface="Symbol" panose="05050102010706020507" charset="2"/>
              </a:rPr>
              <a:t>	Y </a:t>
            </a:r>
            <a:r>
              <a:rPr lang="en-US" altLang="zh-CN" sz="2000" b="1" dirty="0">
                <a:sym typeface="Symbol" panose="05050102010706020507" charset="2"/>
              </a:rPr>
              <a:t></a:t>
            </a:r>
            <a:r>
              <a:rPr lang="en-US" altLang="zh-CN" sz="2000" dirty="0">
                <a:sym typeface="Monotype Sorts" charset="2"/>
              </a:rPr>
              <a:t> </a:t>
            </a:r>
            <a:r>
              <a:rPr lang="en-US" altLang="zh-CN" sz="2000" i="1" dirty="0">
                <a:sym typeface="Monotype Sorts" charset="2"/>
              </a:rPr>
              <a:t>Z </a:t>
            </a:r>
            <a:r>
              <a:rPr lang="en-US" altLang="zh-CN" sz="2000" dirty="0">
                <a:sym typeface="Monotype Sorts" charset="2"/>
              </a:rPr>
              <a:t>if </a:t>
            </a:r>
            <a:r>
              <a:rPr lang="en-US" altLang="zh-CN" sz="2000" i="1" dirty="0">
                <a:sym typeface="Monotype Sorts" charset="2"/>
              </a:rPr>
              <a:t>Y</a:t>
            </a:r>
            <a:r>
              <a:rPr lang="en-US" altLang="zh-CN" sz="2000" dirty="0">
                <a:sym typeface="Monotype Sorts" charset="2"/>
              </a:rPr>
              <a:t> </a:t>
            </a:r>
            <a:r>
              <a:rPr lang="en-US" altLang="zh-CN" sz="2000" b="1" dirty="0">
                <a:sym typeface="Symbol" panose="05050102010706020507" charset="2"/>
              </a:rPr>
              <a:t></a:t>
            </a:r>
            <a:r>
              <a:rPr lang="en-US" altLang="zh-CN" sz="2000" dirty="0">
                <a:sym typeface="Monotype Sorts" charset="2"/>
              </a:rPr>
              <a:t> </a:t>
            </a:r>
            <a:r>
              <a:rPr lang="en-US" altLang="zh-CN" sz="2000" i="1" dirty="0">
                <a:sym typeface="Monotype Sorts" charset="2"/>
              </a:rPr>
              <a:t>W </a:t>
            </a:r>
            <a:endParaRPr lang="en-US" altLang="zh-CN" sz="2000" dirty="0">
              <a:sym typeface="Symbol" panose="05050102010706020507" charset="2"/>
            </a:endParaRPr>
          </a:p>
          <a:p>
            <a:pPr defTabSz="914400">
              <a:buNone/>
              <a:tabLst>
                <a:tab pos="1149350" algn="l"/>
                <a:tab pos="3311525" algn="ctr"/>
              </a:tabLst>
            </a:pPr>
            <a:endParaRPr lang="zh-CN" altLang="en-US" sz="2000" dirty="0">
              <a:sym typeface="Symbol" panose="05050102010706020507" charset="2"/>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3122"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Example (Cont.)</a:t>
            </a:r>
          </a:p>
        </p:txBody>
      </p:sp>
      <p:sp>
        <p:nvSpPr>
          <p:cNvPr id="149506" name="Rectangle 3"/>
          <p:cNvSpPr>
            <a:spLocks noGrp="1"/>
          </p:cNvSpPr>
          <p:nvPr>
            <p:ph idx="1"/>
          </p:nvPr>
        </p:nvSpPr>
        <p:spPr>
          <a:xfrm>
            <a:off x="814388" y="1093788"/>
            <a:ext cx="7958137" cy="4776787"/>
          </a:xfrm>
        </p:spPr>
        <p:txBody>
          <a:bodyPr wrap="square" lIns="91440" tIns="45720" rIns="91440" bIns="45720" anchor="t"/>
          <a:lstStyle/>
          <a:p>
            <a:pPr defTabSz="914400">
              <a:tabLst>
                <a:tab pos="2463800" algn="l"/>
              </a:tabLst>
            </a:pPr>
            <a:r>
              <a:rPr lang="en-US" altLang="zh-CN" sz="2000" dirty="0"/>
              <a:t>In our example:</a:t>
            </a:r>
          </a:p>
          <a:p>
            <a:pPr defTabSz="914400">
              <a:buNone/>
              <a:tabLst>
                <a:tab pos="2463800" algn="l"/>
              </a:tabLst>
            </a:pPr>
            <a:r>
              <a:rPr lang="en-US" altLang="zh-CN" sz="2000" dirty="0"/>
              <a:t>		</a:t>
            </a:r>
            <a:r>
              <a:rPr lang="en-US" altLang="zh-CN" sz="2000" i="1" dirty="0"/>
              <a:t>ID </a:t>
            </a:r>
            <a:r>
              <a:rPr lang="en-US" altLang="zh-CN" sz="2000" b="1" dirty="0">
                <a:sym typeface="Symbol" panose="05050102010706020507" charset="2"/>
              </a:rPr>
              <a:t></a:t>
            </a:r>
            <a:r>
              <a:rPr lang="en-US" altLang="zh-CN" sz="2000" dirty="0">
                <a:sym typeface="Monotype Sorts" charset="2"/>
              </a:rPr>
              <a:t> </a:t>
            </a:r>
            <a:r>
              <a:rPr lang="en-US" altLang="zh-CN" sz="2000" i="1" dirty="0">
                <a:sym typeface="Monotype Sorts" charset="2"/>
              </a:rPr>
              <a:t>child_name</a:t>
            </a:r>
            <a:r>
              <a:rPr lang="en-US" altLang="zh-CN" sz="2000" dirty="0">
                <a:sym typeface="Monotype Sorts" charset="2"/>
              </a:rPr>
              <a:t>	</a:t>
            </a:r>
            <a:br>
              <a:rPr lang="en-US" altLang="zh-CN" sz="2000" dirty="0">
                <a:sym typeface="Monotype Sorts" charset="2"/>
              </a:rPr>
            </a:br>
            <a:r>
              <a:rPr lang="en-US" altLang="zh-CN" sz="2000" dirty="0">
                <a:sym typeface="Monotype Sorts" charset="2"/>
              </a:rPr>
              <a:t>	</a:t>
            </a:r>
            <a:r>
              <a:rPr lang="en-US" altLang="zh-CN" sz="2000" i="1" dirty="0">
                <a:sym typeface="Monotype Sorts" charset="2"/>
              </a:rPr>
              <a:t>ID </a:t>
            </a:r>
            <a:r>
              <a:rPr lang="en-US" altLang="zh-CN" sz="2000" b="1" dirty="0">
                <a:sym typeface="Symbol" panose="05050102010706020507" charset="2"/>
              </a:rPr>
              <a:t></a:t>
            </a:r>
            <a:r>
              <a:rPr lang="en-US" altLang="zh-CN" sz="2000" i="1" dirty="0">
                <a:sym typeface="Monotype Sorts" charset="2"/>
              </a:rPr>
              <a:t> phone_number</a:t>
            </a:r>
          </a:p>
          <a:p>
            <a:pPr defTabSz="914400">
              <a:tabLst>
                <a:tab pos="2463800" algn="l"/>
              </a:tabLst>
            </a:pPr>
            <a:r>
              <a:rPr lang="en-US" altLang="zh-CN" sz="2000" dirty="0">
                <a:sym typeface="Monotype Sorts" charset="2"/>
              </a:rPr>
              <a:t>The above formal definition is supposed to formalize the notion that given a particular value of </a:t>
            </a:r>
            <a:r>
              <a:rPr lang="en-US" altLang="zh-CN" sz="2000" i="1" dirty="0">
                <a:sym typeface="Monotype Sorts" charset="2"/>
              </a:rPr>
              <a:t>Y </a:t>
            </a:r>
            <a:r>
              <a:rPr lang="en-US" altLang="zh-CN" sz="2000" dirty="0">
                <a:sym typeface="Monotype Sorts" charset="2"/>
              </a:rPr>
              <a:t>(</a:t>
            </a:r>
            <a:r>
              <a:rPr lang="en-US" altLang="zh-CN" sz="2000" i="1" dirty="0">
                <a:sym typeface="Monotype Sorts" charset="2"/>
              </a:rPr>
              <a:t>ID</a:t>
            </a:r>
            <a:r>
              <a:rPr lang="en-US" altLang="zh-CN" sz="2000" dirty="0">
                <a:sym typeface="Monotype Sorts" charset="2"/>
              </a:rPr>
              <a:t>) it has associated with it a set of values of </a:t>
            </a:r>
            <a:r>
              <a:rPr lang="en-US" altLang="zh-CN" sz="2000" i="1" dirty="0">
                <a:sym typeface="Monotype Sorts" charset="2"/>
              </a:rPr>
              <a:t>Z (child_name) </a:t>
            </a:r>
            <a:r>
              <a:rPr lang="en-US" altLang="zh-CN" sz="2000" dirty="0">
                <a:sym typeface="Monotype Sorts" charset="2"/>
              </a:rPr>
              <a:t>and a set of values of </a:t>
            </a:r>
            <a:r>
              <a:rPr lang="en-US" altLang="zh-CN" sz="2000" i="1" dirty="0">
                <a:sym typeface="Monotype Sorts" charset="2"/>
              </a:rPr>
              <a:t>W (phone_number)</a:t>
            </a:r>
            <a:r>
              <a:rPr lang="en-US" altLang="zh-CN" sz="2000" dirty="0">
                <a:sym typeface="Monotype Sorts" charset="2"/>
              </a:rPr>
              <a:t>, and these two sets are in some sense independent of each other.</a:t>
            </a:r>
          </a:p>
          <a:p>
            <a:pPr defTabSz="914400">
              <a:tabLst>
                <a:tab pos="2463800" algn="l"/>
              </a:tabLst>
            </a:pPr>
            <a:r>
              <a:rPr lang="en-US" altLang="zh-CN" sz="2000" dirty="0">
                <a:sym typeface="Monotype Sorts" charset="2"/>
              </a:rPr>
              <a:t>Note: </a:t>
            </a:r>
          </a:p>
          <a:p>
            <a:pPr lvl="1" defTabSz="914400">
              <a:tabLst>
                <a:tab pos="2463800" algn="l"/>
              </a:tabLst>
            </a:pPr>
            <a:r>
              <a:rPr lang="en-US" altLang="zh-CN" sz="2000" dirty="0">
                <a:sym typeface="Monotype Sorts" charset="2"/>
              </a:rPr>
              <a:t>If </a:t>
            </a:r>
            <a:r>
              <a:rPr lang="en-US" altLang="zh-CN" sz="2000" i="1" dirty="0">
                <a:sym typeface="Monotype Sorts" charset="2"/>
              </a:rPr>
              <a:t>Y </a:t>
            </a:r>
            <a:r>
              <a:rPr lang="en-US" altLang="zh-CN" sz="2000" dirty="0">
                <a:sym typeface="Symbol" panose="05050102010706020507" charset="2"/>
              </a:rPr>
              <a:t></a:t>
            </a:r>
            <a:r>
              <a:rPr lang="en-US" altLang="zh-CN" sz="2000" dirty="0">
                <a:sym typeface="Monotype Sorts" charset="2"/>
              </a:rPr>
              <a:t> </a:t>
            </a:r>
            <a:r>
              <a:rPr lang="en-US" altLang="zh-CN" sz="2000" i="1" dirty="0">
                <a:sym typeface="Monotype Sorts" charset="2"/>
              </a:rPr>
              <a:t>Z </a:t>
            </a:r>
            <a:r>
              <a:rPr lang="en-US" altLang="zh-CN" sz="2000" dirty="0">
                <a:sym typeface="Monotype Sorts" charset="2"/>
              </a:rPr>
              <a:t> then  </a:t>
            </a:r>
            <a:r>
              <a:rPr lang="en-US" altLang="zh-CN" sz="2000" i="1" dirty="0">
                <a:sym typeface="Monotype Sorts" charset="2"/>
              </a:rPr>
              <a:t>Y </a:t>
            </a:r>
            <a:r>
              <a:rPr lang="en-US" altLang="zh-CN" sz="2000" b="1" dirty="0">
                <a:sym typeface="Symbol" panose="05050102010706020507" charset="2"/>
              </a:rPr>
              <a:t></a:t>
            </a:r>
            <a:r>
              <a:rPr lang="en-US" altLang="zh-CN" sz="2000" dirty="0">
                <a:sym typeface="Monotype Sorts" charset="2"/>
              </a:rPr>
              <a:t> </a:t>
            </a:r>
            <a:r>
              <a:rPr lang="en-US" altLang="zh-CN" sz="2000" i="1" dirty="0">
                <a:sym typeface="Monotype Sorts" charset="2"/>
              </a:rPr>
              <a:t>Z</a:t>
            </a:r>
            <a:endParaRPr lang="en-US" altLang="zh-CN" sz="2000" dirty="0">
              <a:sym typeface="Monotype Sorts" charset="2"/>
            </a:endParaRPr>
          </a:p>
          <a:p>
            <a:pPr lvl="1" defTabSz="914400">
              <a:tabLst>
                <a:tab pos="2463800" algn="l"/>
              </a:tabLst>
            </a:pPr>
            <a:r>
              <a:rPr lang="en-US" altLang="zh-CN" sz="2000" dirty="0">
                <a:sym typeface="Monotype Sorts" charset="2"/>
              </a:rPr>
              <a:t>Indeed we have (in above notation) </a:t>
            </a:r>
            <a:r>
              <a:rPr lang="en-US" altLang="zh-CN" sz="2000" i="1" dirty="0">
                <a:sym typeface="Monotype Sorts" charset="2"/>
              </a:rPr>
              <a:t>Z</a:t>
            </a:r>
            <a:r>
              <a:rPr lang="en-US" altLang="zh-CN" sz="2000" baseline="-25000" dirty="0">
                <a:sym typeface="Monotype Sorts" charset="2"/>
              </a:rPr>
              <a:t>1</a:t>
            </a:r>
            <a:r>
              <a:rPr lang="en-US" altLang="zh-CN" sz="2000" i="1" dirty="0">
                <a:sym typeface="Monotype Sorts" charset="2"/>
              </a:rPr>
              <a:t> = Z</a:t>
            </a:r>
            <a:r>
              <a:rPr lang="en-US" altLang="zh-CN" sz="2000" baseline="-25000" dirty="0">
                <a:sym typeface="Monotype Sorts" charset="2"/>
              </a:rPr>
              <a:t>2</a:t>
            </a:r>
            <a:br>
              <a:rPr lang="en-US" altLang="zh-CN" sz="2000" baseline="-25000" dirty="0">
                <a:sym typeface="Monotype Sorts" charset="2"/>
              </a:rPr>
            </a:br>
            <a:r>
              <a:rPr lang="en-US" altLang="zh-CN" sz="2000" dirty="0">
                <a:sym typeface="Monotype Sorts" charset="2"/>
              </a:rPr>
              <a:t>The claim follows.</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5170"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Use of Multivalued Dependencies</a:t>
            </a:r>
          </a:p>
        </p:txBody>
      </p:sp>
      <p:sp>
        <p:nvSpPr>
          <p:cNvPr id="151554" name="Rectangle 3"/>
          <p:cNvSpPr>
            <a:spLocks noGrp="1"/>
          </p:cNvSpPr>
          <p:nvPr>
            <p:ph idx="1"/>
          </p:nvPr>
        </p:nvSpPr>
        <p:spPr>
          <a:xfrm>
            <a:off x="814388" y="1093788"/>
            <a:ext cx="7453312" cy="4484687"/>
          </a:xfrm>
        </p:spPr>
        <p:txBody>
          <a:bodyPr wrap="square" lIns="91440" tIns="45720" rIns="91440" bIns="45720" anchor="t"/>
          <a:lstStyle/>
          <a:p>
            <a:r>
              <a:rPr lang="en-US" altLang="zh-CN" sz="2000" dirty="0"/>
              <a:t>We use multivalued dependencies in two ways: </a:t>
            </a:r>
          </a:p>
          <a:p>
            <a:pPr lvl="1">
              <a:buNone/>
            </a:pPr>
            <a:r>
              <a:rPr lang="en-US" altLang="zh-CN" sz="2000" dirty="0"/>
              <a:t>1.	To test relations to </a:t>
            </a:r>
            <a:r>
              <a:rPr lang="en-US" altLang="zh-CN" sz="2000" b="1" dirty="0">
                <a:solidFill>
                  <a:srgbClr val="000099"/>
                </a:solidFill>
              </a:rPr>
              <a:t>determine</a:t>
            </a:r>
            <a:r>
              <a:rPr lang="en-US" altLang="zh-CN" sz="2000" dirty="0"/>
              <a:t> whether they are legal under a given set of functional and multivalued dependencies</a:t>
            </a:r>
          </a:p>
          <a:p>
            <a:pPr lvl="1">
              <a:buNone/>
            </a:pPr>
            <a:r>
              <a:rPr lang="en-US" altLang="zh-CN" sz="2000" dirty="0"/>
              <a:t>2.	To specify </a:t>
            </a:r>
            <a:r>
              <a:rPr lang="en-US" altLang="zh-CN" sz="2000" b="1" dirty="0">
                <a:solidFill>
                  <a:srgbClr val="000099"/>
                </a:solidFill>
              </a:rPr>
              <a:t>constraints</a:t>
            </a:r>
            <a:r>
              <a:rPr lang="en-US" altLang="zh-CN" sz="2000" dirty="0"/>
              <a:t> on the set of legal relations.  We shall thus concern ourselves </a:t>
            </a:r>
            <a:r>
              <a:rPr lang="en-US" altLang="zh-CN" sz="2000" i="1" dirty="0"/>
              <a:t>only</a:t>
            </a:r>
            <a:r>
              <a:rPr lang="en-US" altLang="zh-CN" sz="2000" dirty="0"/>
              <a:t> with relations that satisfy a given set of functional and multivalued dependencies.</a:t>
            </a:r>
          </a:p>
          <a:p>
            <a:r>
              <a:rPr lang="en-US" altLang="zh-CN" sz="2000" dirty="0"/>
              <a:t>If a relation </a:t>
            </a:r>
            <a:r>
              <a:rPr lang="en-US" altLang="zh-CN" sz="2000" i="1" dirty="0"/>
              <a:t>r</a:t>
            </a:r>
            <a:r>
              <a:rPr lang="en-US" altLang="zh-CN" sz="2000" dirty="0"/>
              <a:t> fails to satisfy a given multivalued dependency, we can construct a relations </a:t>
            </a:r>
            <a:r>
              <a:rPr lang="en-US" altLang="zh-CN" sz="2000" i="1" dirty="0"/>
              <a:t>r</a:t>
            </a:r>
            <a:r>
              <a:rPr lang="en-US" altLang="zh-CN" sz="2000" i="1" dirty="0">
                <a:sym typeface="Symbol" panose="05050102010706020507" charset="2"/>
              </a:rPr>
              <a:t></a:t>
            </a:r>
            <a:r>
              <a:rPr lang="en-US" altLang="zh-CN" sz="2000" dirty="0">
                <a:sym typeface="Symbol" panose="05050102010706020507" charset="2"/>
              </a:rPr>
              <a:t>  that does satisfy the multivalued dependency by adding tuples to </a:t>
            </a:r>
            <a:r>
              <a:rPr lang="en-US" altLang="zh-CN" sz="2000" i="1" dirty="0">
                <a:sym typeface="Symbol" panose="05050102010706020507" charset="2"/>
              </a:rPr>
              <a:t>r. </a:t>
            </a:r>
            <a:endParaRPr lang="en-US" altLang="zh-CN" sz="2000" dirty="0"/>
          </a:p>
          <a:p>
            <a:pPr>
              <a:buNone/>
            </a:pPr>
            <a:r>
              <a:rPr lang="en-US" altLang="zh-CN" sz="2000" dirty="0"/>
              <a:t>		</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7218"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Theory of MVDs</a:t>
            </a:r>
          </a:p>
        </p:txBody>
      </p:sp>
      <p:sp>
        <p:nvSpPr>
          <p:cNvPr id="153602" name="Rectangle 3"/>
          <p:cNvSpPr>
            <a:spLocks noGrp="1"/>
          </p:cNvSpPr>
          <p:nvPr>
            <p:ph idx="1"/>
          </p:nvPr>
        </p:nvSpPr>
        <p:spPr>
          <a:xfrm>
            <a:off x="668338" y="1093788"/>
            <a:ext cx="7807325" cy="5180012"/>
          </a:xfrm>
        </p:spPr>
        <p:txBody>
          <a:bodyPr wrap="square" lIns="91440" tIns="45720" rIns="91440" bIns="45720" anchor="t"/>
          <a:lstStyle/>
          <a:p>
            <a:r>
              <a:rPr lang="en-US" altLang="zh-CN" sz="2000" dirty="0"/>
              <a:t>From the definition of multivalued dependency, we can derive the following rule:</a:t>
            </a:r>
          </a:p>
          <a:p>
            <a:pPr lvl="1"/>
            <a:r>
              <a:rPr lang="en-US" altLang="zh-CN" sz="2000" dirty="0"/>
              <a:t>If </a:t>
            </a:r>
            <a:r>
              <a:rPr lang="en-US" altLang="zh-CN" sz="2000" dirty="0">
                <a:sym typeface="Symbol" panose="05050102010706020507" charset="2"/>
              </a:rPr>
              <a:t>  </a:t>
            </a:r>
            <a:r>
              <a:rPr lang="en-US" altLang="zh-CN" sz="2000" dirty="0"/>
              <a:t>, then </a:t>
            </a:r>
            <a:r>
              <a:rPr lang="en-US" altLang="zh-CN" sz="2000" dirty="0">
                <a:sym typeface="Symbol" panose="05050102010706020507" charset="2"/>
              </a:rPr>
              <a:t> </a:t>
            </a:r>
            <a:r>
              <a:rPr lang="en-US" altLang="zh-CN" sz="2000" b="1" dirty="0">
                <a:sym typeface="Symbol" panose="05050102010706020507" charset="2"/>
              </a:rPr>
              <a:t></a:t>
            </a:r>
            <a:r>
              <a:rPr lang="en-US" altLang="zh-CN" sz="2000" dirty="0">
                <a:sym typeface="Symbol" panose="05050102010706020507" charset="2"/>
              </a:rPr>
              <a:t> </a:t>
            </a:r>
            <a:endParaRPr lang="en-US" altLang="zh-CN" sz="2000" dirty="0"/>
          </a:p>
          <a:p>
            <a:pPr>
              <a:buNone/>
            </a:pPr>
            <a:r>
              <a:rPr lang="en-US" altLang="zh-CN" sz="2000" dirty="0"/>
              <a:t>	That is, every functional dependency is also a multivalued dependency</a:t>
            </a:r>
          </a:p>
          <a:p>
            <a:r>
              <a:rPr lang="en-US" altLang="zh-CN" sz="2000" dirty="0"/>
              <a:t>The </a:t>
            </a:r>
            <a:r>
              <a:rPr lang="en-US" altLang="zh-CN" sz="2000" b="1" dirty="0">
                <a:solidFill>
                  <a:srgbClr val="000099"/>
                </a:solidFill>
              </a:rPr>
              <a:t>closure</a:t>
            </a:r>
            <a:r>
              <a:rPr lang="en-US" altLang="zh-CN" sz="2000" dirty="0"/>
              <a:t> D</a:t>
            </a:r>
            <a:r>
              <a:rPr lang="en-US" altLang="zh-CN" sz="2000" baseline="30000" dirty="0"/>
              <a:t>+</a:t>
            </a:r>
            <a:r>
              <a:rPr lang="en-US" altLang="zh-CN" sz="2000" dirty="0"/>
              <a:t> of </a:t>
            </a:r>
            <a:r>
              <a:rPr lang="en-US" altLang="zh-CN" sz="2000" i="1" dirty="0"/>
              <a:t>D</a:t>
            </a:r>
            <a:r>
              <a:rPr lang="en-US" altLang="zh-CN" sz="2000" dirty="0"/>
              <a:t> is the set of all functional and multivalued dependencies logically implied by </a:t>
            </a:r>
            <a:r>
              <a:rPr lang="en-US" altLang="zh-CN" sz="2000" i="1" dirty="0"/>
              <a:t>D</a:t>
            </a:r>
            <a:r>
              <a:rPr lang="en-US" altLang="zh-CN" sz="2000" dirty="0"/>
              <a:t>. </a:t>
            </a:r>
          </a:p>
          <a:p>
            <a:pPr lvl="1"/>
            <a:r>
              <a:rPr lang="en-US" altLang="zh-CN" sz="2000" dirty="0"/>
              <a:t>We can compute D</a:t>
            </a:r>
            <a:r>
              <a:rPr lang="en-US" altLang="zh-CN" sz="2000" baseline="30000" dirty="0"/>
              <a:t>+</a:t>
            </a:r>
            <a:r>
              <a:rPr lang="en-US" altLang="zh-CN" sz="2000" dirty="0"/>
              <a:t> from </a:t>
            </a:r>
            <a:r>
              <a:rPr lang="en-US" altLang="zh-CN" sz="2000" i="1" dirty="0"/>
              <a:t>D</a:t>
            </a:r>
            <a:r>
              <a:rPr lang="en-US" altLang="zh-CN" sz="2000" dirty="0"/>
              <a:t>, using the formal definitions of functional dependencies and multivalued dependencies.</a:t>
            </a:r>
          </a:p>
          <a:p>
            <a:pPr lvl="1"/>
            <a:r>
              <a:rPr lang="en-US" altLang="zh-CN" sz="2000" dirty="0"/>
              <a:t>We can manage with such reasoning for very simple multivalued dependencies, which seem to be most common in practice</a:t>
            </a:r>
          </a:p>
          <a:p>
            <a:pPr lvl="1"/>
            <a:r>
              <a:rPr lang="en-US" altLang="zh-CN" sz="2000" dirty="0"/>
              <a:t>For complex dependencies, it is better to reason about sets of dependencies using a system of inference rules (see Appendix C).</a:t>
            </a:r>
          </a:p>
        </p:txBody>
      </p:sp>
      <p:grpSp>
        <p:nvGrpSpPr>
          <p:cNvPr id="153603" name="Group 4"/>
          <p:cNvGrpSpPr/>
          <p:nvPr/>
        </p:nvGrpSpPr>
        <p:grpSpPr>
          <a:xfrm>
            <a:off x="7137400" y="6584950"/>
            <a:ext cx="366713" cy="0"/>
            <a:chOff x="2605" y="829"/>
            <a:chExt cx="231" cy="0"/>
          </a:xfrm>
        </p:grpSpPr>
        <p:sp>
          <p:nvSpPr>
            <p:cNvPr id="777221" name="Line 5"/>
            <p:cNvSpPr>
              <a:spLocks noChangeShapeType="1"/>
            </p:cNvSpPr>
            <p:nvPr/>
          </p:nvSpPr>
          <p:spPr bwMode="auto">
            <a:xfrm>
              <a:off x="2605" y="829"/>
              <a:ext cx="135" cy="0"/>
            </a:xfrm>
            <a:prstGeom prst="line">
              <a:avLst/>
            </a:prstGeom>
            <a:noFill/>
            <a:ln w="9525">
              <a:solidFill>
                <a:schemeClr val="tx1"/>
              </a:solidFill>
              <a:round/>
              <a:tailEnd type="arrow"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777222" name="Line 6"/>
            <p:cNvSpPr>
              <a:spLocks noChangeShapeType="1"/>
            </p:cNvSpPr>
            <p:nvPr/>
          </p:nvSpPr>
          <p:spPr bwMode="auto">
            <a:xfrm>
              <a:off x="2701" y="829"/>
              <a:ext cx="135" cy="0"/>
            </a:xfrm>
            <a:prstGeom prst="line">
              <a:avLst/>
            </a:prstGeom>
            <a:noFill/>
            <a:ln w="9525">
              <a:solidFill>
                <a:schemeClr val="tx1"/>
              </a:solidFill>
              <a:round/>
              <a:tailEnd type="arrow"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gr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9266"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Fourth Normal Form</a:t>
            </a:r>
          </a:p>
        </p:txBody>
      </p:sp>
      <p:sp>
        <p:nvSpPr>
          <p:cNvPr id="155650" name="Rectangle 3"/>
          <p:cNvSpPr>
            <a:spLocks noGrp="1"/>
          </p:cNvSpPr>
          <p:nvPr>
            <p:ph idx="1"/>
          </p:nvPr>
        </p:nvSpPr>
        <p:spPr>
          <a:xfrm>
            <a:off x="927100" y="1163638"/>
            <a:ext cx="7848600" cy="4876800"/>
          </a:xfrm>
        </p:spPr>
        <p:txBody>
          <a:bodyPr wrap="square" lIns="91440" tIns="45720" rIns="91440" bIns="45720" anchor="t"/>
          <a:lstStyle/>
          <a:p>
            <a:r>
              <a:rPr lang="en-US" altLang="zh-CN" sz="2000" dirty="0"/>
              <a:t>A relation schema </a:t>
            </a:r>
            <a:r>
              <a:rPr lang="en-US" altLang="zh-CN" sz="2000" i="1" dirty="0"/>
              <a:t>R</a:t>
            </a:r>
            <a:r>
              <a:rPr lang="en-US" altLang="zh-CN" sz="2000" dirty="0"/>
              <a:t> is in </a:t>
            </a:r>
            <a:r>
              <a:rPr lang="en-US" altLang="zh-CN" sz="2000" b="1" dirty="0">
                <a:solidFill>
                  <a:srgbClr val="000099"/>
                </a:solidFill>
              </a:rPr>
              <a:t>4NF</a:t>
            </a:r>
            <a:r>
              <a:rPr lang="en-US" altLang="zh-CN" sz="2000" dirty="0"/>
              <a:t> with respect to a set </a:t>
            </a:r>
            <a:r>
              <a:rPr lang="en-US" altLang="zh-CN" sz="2000" i="1" dirty="0"/>
              <a:t>D</a:t>
            </a:r>
            <a:r>
              <a:rPr lang="en-US" altLang="zh-CN" sz="2000" dirty="0"/>
              <a:t> of functional and multivalued dependencies if for all multivalued dependencies in </a:t>
            </a:r>
            <a:r>
              <a:rPr lang="en-US" altLang="zh-CN" sz="2000" i="1" dirty="0"/>
              <a:t>D</a:t>
            </a:r>
            <a:r>
              <a:rPr lang="en-US" altLang="zh-CN" sz="2000" baseline="30000" dirty="0"/>
              <a:t>+</a:t>
            </a:r>
            <a:r>
              <a:rPr lang="en-US" altLang="zh-CN" sz="2000" dirty="0"/>
              <a:t> of the form </a:t>
            </a:r>
            <a:r>
              <a:rPr lang="en-US" altLang="zh-CN" sz="2000" dirty="0">
                <a:sym typeface="Symbol" panose="05050102010706020507" charset="2"/>
              </a:rPr>
              <a:t></a:t>
            </a:r>
            <a:r>
              <a:rPr lang="en-US" altLang="zh-CN" sz="2000" dirty="0">
                <a:sym typeface="Greek Symbols" pitchFamily="18" charset="2"/>
              </a:rPr>
              <a:t> </a:t>
            </a:r>
            <a:r>
              <a:rPr lang="en-US" altLang="zh-CN" sz="2000" b="1" dirty="0">
                <a:sym typeface="Symbol" panose="05050102010706020507" charset="2"/>
              </a:rPr>
              <a:t></a:t>
            </a:r>
            <a:r>
              <a:rPr lang="en-US" altLang="zh-CN" sz="2000" i="1" dirty="0">
                <a:sym typeface="Monotype Sorts" charset="2"/>
              </a:rPr>
              <a:t> </a:t>
            </a:r>
            <a:r>
              <a:rPr lang="en-US" altLang="zh-CN" sz="2000" dirty="0">
                <a:sym typeface="Symbol" panose="05050102010706020507" charset="2"/>
              </a:rPr>
              <a:t></a:t>
            </a:r>
            <a:r>
              <a:rPr lang="en-US" altLang="zh-CN" sz="2000" dirty="0">
                <a:sym typeface="Greek Symbols" pitchFamily="18" charset="2"/>
              </a:rPr>
              <a:t>, where </a:t>
            </a:r>
            <a:r>
              <a:rPr lang="en-US" altLang="zh-CN" sz="2000" dirty="0">
                <a:sym typeface="Symbol" panose="05050102010706020507" charset="2"/>
              </a:rPr>
              <a:t></a:t>
            </a:r>
            <a:r>
              <a:rPr lang="en-US" altLang="zh-CN" sz="2000" dirty="0">
                <a:sym typeface="Greek Symbols" pitchFamily="18" charset="2"/>
              </a:rPr>
              <a:t> </a:t>
            </a:r>
            <a:r>
              <a:rPr lang="en-US" altLang="zh-CN" sz="2000" dirty="0">
                <a:sym typeface="Symbol" panose="05050102010706020507" charset="2"/>
              </a:rPr>
              <a:t> </a:t>
            </a:r>
            <a:r>
              <a:rPr lang="en-US" altLang="zh-CN" sz="2000" i="1" dirty="0">
                <a:sym typeface="Symbol" panose="05050102010706020507" charset="2"/>
              </a:rPr>
              <a:t>R</a:t>
            </a:r>
            <a:r>
              <a:rPr lang="en-US" altLang="zh-CN" sz="2000" dirty="0">
                <a:sym typeface="Symbol" panose="05050102010706020507" charset="2"/>
              </a:rPr>
              <a:t> and </a:t>
            </a:r>
            <a:r>
              <a:rPr lang="en-US" altLang="zh-CN" sz="2000" i="1" dirty="0">
                <a:sym typeface="Greek Symbols" pitchFamily="18" charset="2"/>
              </a:rPr>
              <a:t> </a:t>
            </a:r>
            <a:r>
              <a:rPr lang="en-US" altLang="zh-CN" sz="2000" dirty="0">
                <a:sym typeface="Symbol" panose="05050102010706020507" charset="2"/>
              </a:rPr>
              <a:t> </a:t>
            </a:r>
            <a:r>
              <a:rPr lang="en-US" altLang="zh-CN" sz="2000" i="1" dirty="0">
                <a:sym typeface="Symbol" panose="05050102010706020507" charset="2"/>
              </a:rPr>
              <a:t>R, </a:t>
            </a:r>
            <a:r>
              <a:rPr lang="en-US" altLang="zh-CN" sz="2000" dirty="0">
                <a:sym typeface="Symbol" panose="05050102010706020507" charset="2"/>
              </a:rPr>
              <a:t>at least one of the following hold:</a:t>
            </a:r>
          </a:p>
          <a:p>
            <a:pPr lvl="1"/>
            <a:r>
              <a:rPr lang="en-US" altLang="zh-CN" sz="2000" dirty="0">
                <a:sym typeface="Symbol" panose="05050102010706020507" charset="2"/>
              </a:rPr>
              <a:t></a:t>
            </a:r>
            <a:r>
              <a:rPr lang="en-US" altLang="zh-CN" sz="2000" dirty="0">
                <a:sym typeface="Greek Symbols" pitchFamily="18" charset="2"/>
              </a:rPr>
              <a:t> </a:t>
            </a:r>
            <a:r>
              <a:rPr lang="en-US" altLang="zh-CN" sz="2000" b="1" dirty="0">
                <a:sym typeface="Symbol" panose="05050102010706020507" charset="2"/>
              </a:rPr>
              <a:t></a:t>
            </a:r>
            <a:r>
              <a:rPr lang="en-US" altLang="zh-CN" sz="2000" i="1" dirty="0">
                <a:sym typeface="Monotype Sorts" charset="2"/>
              </a:rPr>
              <a:t> </a:t>
            </a:r>
            <a:r>
              <a:rPr lang="en-US" altLang="zh-CN" sz="2000" dirty="0">
                <a:sym typeface="Symbol" panose="05050102010706020507" charset="2"/>
              </a:rPr>
              <a:t></a:t>
            </a:r>
            <a:r>
              <a:rPr lang="en-US" altLang="zh-CN" sz="2000" dirty="0">
                <a:sym typeface="Greek Symbols" pitchFamily="18" charset="2"/>
              </a:rPr>
              <a:t> is trivial (i.e., </a:t>
            </a:r>
            <a:r>
              <a:rPr lang="en-US" altLang="zh-CN" sz="2000" dirty="0">
                <a:sym typeface="Symbol" panose="05050102010706020507" charset="2"/>
              </a:rPr>
              <a:t></a:t>
            </a:r>
            <a:r>
              <a:rPr lang="en-US" altLang="zh-CN" sz="2000" i="1" dirty="0">
                <a:sym typeface="Greek Symbols" pitchFamily="18" charset="2"/>
              </a:rPr>
              <a:t> </a:t>
            </a:r>
            <a:r>
              <a:rPr lang="en-US" altLang="zh-CN" sz="2000" dirty="0">
                <a:sym typeface="Symbol" panose="05050102010706020507" charset="2"/>
              </a:rPr>
              <a:t> </a:t>
            </a:r>
            <a:r>
              <a:rPr lang="en-US" altLang="zh-CN" sz="2000" dirty="0">
                <a:sym typeface="Greek Symbols" pitchFamily="18" charset="2"/>
              </a:rPr>
              <a:t> or </a:t>
            </a:r>
            <a:r>
              <a:rPr lang="en-US" altLang="zh-CN" sz="2000" dirty="0">
                <a:sym typeface="Symbol" panose="05050102010706020507" charset="2"/>
              </a:rPr>
              <a:t></a:t>
            </a:r>
            <a:r>
              <a:rPr lang="en-US" altLang="zh-CN" sz="2000" dirty="0">
                <a:sym typeface="Greek Symbols" pitchFamily="18" charset="2"/>
              </a:rPr>
              <a:t> </a:t>
            </a:r>
            <a:r>
              <a:rPr lang="en-US" altLang="zh-CN" sz="2000" dirty="0">
                <a:sym typeface="Symbol" panose="05050102010706020507" charset="2"/>
              </a:rPr>
              <a:t> </a:t>
            </a:r>
            <a:r>
              <a:rPr lang="en-US" altLang="zh-CN" sz="2000" i="1" dirty="0">
                <a:sym typeface="Greek Symbols" pitchFamily="18" charset="2"/>
              </a:rPr>
              <a:t> = R)</a:t>
            </a:r>
          </a:p>
          <a:p>
            <a:pPr lvl="1"/>
            <a:r>
              <a:rPr lang="en-US" altLang="zh-CN" sz="2000" dirty="0">
                <a:sym typeface="Symbol" panose="05050102010706020507" charset="2"/>
              </a:rPr>
              <a:t></a:t>
            </a:r>
            <a:r>
              <a:rPr lang="en-US" altLang="zh-CN" sz="2000" dirty="0">
                <a:sym typeface="Greek Symbols" pitchFamily="18" charset="2"/>
              </a:rPr>
              <a:t> is a superkey for schema </a:t>
            </a:r>
            <a:r>
              <a:rPr lang="en-US" altLang="zh-CN" sz="2000" i="1" dirty="0">
                <a:sym typeface="Greek Symbols" pitchFamily="18" charset="2"/>
              </a:rPr>
              <a:t>R</a:t>
            </a:r>
          </a:p>
          <a:p>
            <a:r>
              <a:rPr lang="en-US" altLang="zh-CN" sz="2000" dirty="0">
                <a:sym typeface="Greek Symbols" pitchFamily="18" charset="2"/>
              </a:rPr>
              <a:t>If a relation is in 4NF it is in BCNF</a:t>
            </a:r>
          </a:p>
        </p:txBody>
      </p:sp>
      <p:grpSp>
        <p:nvGrpSpPr>
          <p:cNvPr id="155651" name="Group 4"/>
          <p:cNvGrpSpPr/>
          <p:nvPr/>
        </p:nvGrpSpPr>
        <p:grpSpPr>
          <a:xfrm>
            <a:off x="7108825" y="6642100"/>
            <a:ext cx="317500" cy="4763"/>
            <a:chOff x="2640" y="1301"/>
            <a:chExt cx="200" cy="3"/>
          </a:xfrm>
        </p:grpSpPr>
        <p:sp>
          <p:nvSpPr>
            <p:cNvPr id="779269" name="Line 5"/>
            <p:cNvSpPr>
              <a:spLocks noChangeShapeType="1"/>
            </p:cNvSpPr>
            <p:nvPr/>
          </p:nvSpPr>
          <p:spPr bwMode="auto">
            <a:xfrm flipV="1">
              <a:off x="2640" y="1301"/>
              <a:ext cx="136" cy="3"/>
            </a:xfrm>
            <a:prstGeom prst="line">
              <a:avLst/>
            </a:prstGeom>
            <a:noFill/>
            <a:ln w="9525">
              <a:solidFill>
                <a:schemeClr val="tx1"/>
              </a:solidFill>
              <a:round/>
              <a:tailEnd type="triangl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779270" name="Line 6"/>
            <p:cNvSpPr>
              <a:spLocks noChangeShapeType="1"/>
            </p:cNvSpPr>
            <p:nvPr/>
          </p:nvSpPr>
          <p:spPr bwMode="auto">
            <a:xfrm>
              <a:off x="2704" y="1304"/>
              <a:ext cx="136" cy="0"/>
            </a:xfrm>
            <a:prstGeom prst="line">
              <a:avLst/>
            </a:prstGeom>
            <a:noFill/>
            <a:ln w="9525">
              <a:solidFill>
                <a:schemeClr val="tx1"/>
              </a:solidFill>
              <a:round/>
              <a:tailEnd type="triangl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gr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1314" name="Rectangle 2"/>
          <p:cNvSpPr>
            <a:spLocks noGrp="1" noChangeArrowheads="1"/>
          </p:cNvSpPr>
          <p:nvPr>
            <p:ph type="title"/>
          </p:nvPr>
        </p:nvSpPr>
        <p:spPr>
          <a:xfrm>
            <a:off x="873125" y="79375"/>
            <a:ext cx="80772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Restriction of Multivalued Dependencies</a:t>
            </a:r>
          </a:p>
        </p:txBody>
      </p:sp>
      <p:sp>
        <p:nvSpPr>
          <p:cNvPr id="157698" name="Rectangle 3"/>
          <p:cNvSpPr>
            <a:spLocks noGrp="1"/>
          </p:cNvSpPr>
          <p:nvPr>
            <p:ph idx="1"/>
          </p:nvPr>
        </p:nvSpPr>
        <p:spPr/>
        <p:txBody>
          <a:bodyPr wrap="square" lIns="91440" tIns="45720" rIns="91440" bIns="45720" anchor="t"/>
          <a:lstStyle/>
          <a:p>
            <a:r>
              <a:rPr lang="en-US" altLang="zh-CN" dirty="0"/>
              <a:t>The restriction of  D to R</a:t>
            </a:r>
            <a:r>
              <a:rPr lang="en-US" altLang="zh-CN" baseline="-25000" dirty="0"/>
              <a:t>i</a:t>
            </a:r>
            <a:r>
              <a:rPr lang="en-US" altLang="zh-CN" dirty="0"/>
              <a:t> is the set D</a:t>
            </a:r>
            <a:r>
              <a:rPr lang="en-US" altLang="zh-CN" baseline="-25000" dirty="0"/>
              <a:t>i</a:t>
            </a:r>
            <a:r>
              <a:rPr lang="en-US" altLang="zh-CN" dirty="0"/>
              <a:t> consisting of</a:t>
            </a:r>
          </a:p>
          <a:p>
            <a:pPr lvl="1"/>
            <a:r>
              <a:rPr lang="en-US" altLang="zh-CN" dirty="0"/>
              <a:t>All functional dependencies in D</a:t>
            </a:r>
            <a:r>
              <a:rPr lang="en-US" altLang="zh-CN" baseline="30000" dirty="0"/>
              <a:t>+</a:t>
            </a:r>
            <a:r>
              <a:rPr lang="en-US" altLang="zh-CN" dirty="0"/>
              <a:t> that include only attributes of R</a:t>
            </a:r>
            <a:r>
              <a:rPr lang="en-US" altLang="zh-CN" baseline="-25000" dirty="0"/>
              <a:t>i</a:t>
            </a:r>
          </a:p>
          <a:p>
            <a:pPr lvl="1"/>
            <a:r>
              <a:rPr lang="en-US" altLang="zh-CN" dirty="0"/>
              <a:t>All multivalued dependencies of the form</a:t>
            </a:r>
          </a:p>
          <a:p>
            <a:pPr lvl="2">
              <a:buNone/>
            </a:pPr>
            <a:r>
              <a:rPr lang="en-US" altLang="zh-CN" dirty="0">
                <a:sym typeface="Symbol" panose="05050102010706020507" charset="2"/>
              </a:rPr>
              <a:t>   </a:t>
            </a:r>
            <a:r>
              <a:rPr lang="en-US" altLang="zh-CN" dirty="0">
                <a:sym typeface="Greek Symbols" pitchFamily="18" charset="2"/>
              </a:rPr>
              <a:t> </a:t>
            </a:r>
            <a:r>
              <a:rPr lang="en-US" altLang="zh-CN" b="1" dirty="0">
                <a:sym typeface="Symbol" panose="05050102010706020507" charset="2"/>
              </a:rPr>
              <a:t></a:t>
            </a:r>
            <a:r>
              <a:rPr lang="en-US" altLang="zh-CN" i="1" dirty="0">
                <a:sym typeface="Monotype Sorts" charset="2"/>
              </a:rPr>
              <a:t> (</a:t>
            </a:r>
            <a:r>
              <a:rPr lang="en-US" altLang="zh-CN" dirty="0">
                <a:sym typeface="Symbol" panose="05050102010706020507" charset="2"/>
              </a:rPr>
              <a:t> </a:t>
            </a:r>
            <a:r>
              <a:rPr lang="en-US" altLang="zh-CN" dirty="0">
                <a:sym typeface="Greek Symbols" pitchFamily="18" charset="2"/>
              </a:rPr>
              <a:t> </a:t>
            </a:r>
            <a:r>
              <a:rPr lang="en-US" altLang="zh-CN" dirty="0"/>
              <a:t>R</a:t>
            </a:r>
            <a:r>
              <a:rPr lang="en-US" altLang="zh-CN" baseline="-25000" dirty="0"/>
              <a:t>i</a:t>
            </a:r>
            <a:r>
              <a:rPr lang="en-US" altLang="zh-CN" dirty="0"/>
              <a:t>)</a:t>
            </a:r>
            <a:endParaRPr lang="en-US" altLang="zh-CN" baseline="-25000" dirty="0"/>
          </a:p>
          <a:p>
            <a:pPr lvl="1">
              <a:buNone/>
            </a:pPr>
            <a:r>
              <a:rPr lang="en-US" altLang="zh-CN" dirty="0"/>
              <a:t>    where </a:t>
            </a:r>
            <a:r>
              <a:rPr lang="en-US" altLang="zh-CN" dirty="0">
                <a:sym typeface="Symbol" panose="05050102010706020507" charset="2"/>
              </a:rPr>
              <a:t></a:t>
            </a:r>
            <a:r>
              <a:rPr lang="en-US" altLang="zh-CN" dirty="0"/>
              <a:t> </a:t>
            </a:r>
            <a:r>
              <a:rPr lang="en-US" altLang="zh-CN" dirty="0">
                <a:sym typeface="Symbol" panose="05050102010706020507" charset="2"/>
              </a:rPr>
              <a:t></a:t>
            </a:r>
            <a:r>
              <a:rPr lang="en-US" altLang="zh-CN" dirty="0"/>
              <a:t> R</a:t>
            </a:r>
            <a:r>
              <a:rPr lang="en-US" altLang="zh-CN" baseline="-25000" dirty="0"/>
              <a:t>i </a:t>
            </a:r>
            <a:r>
              <a:rPr lang="en-US" altLang="zh-CN" dirty="0"/>
              <a:t> and  </a:t>
            </a:r>
            <a:r>
              <a:rPr lang="en-US" altLang="zh-CN" dirty="0">
                <a:sym typeface="Symbol" panose="05050102010706020507" charset="2"/>
              </a:rPr>
              <a:t></a:t>
            </a:r>
            <a:r>
              <a:rPr lang="en-US" altLang="zh-CN" dirty="0"/>
              <a:t> </a:t>
            </a:r>
            <a:r>
              <a:rPr lang="en-US" altLang="zh-CN" b="1" dirty="0">
                <a:sym typeface="Symbol" panose="05050102010706020507" charset="2"/>
              </a:rPr>
              <a:t></a:t>
            </a:r>
            <a:r>
              <a:rPr lang="en-US" altLang="zh-CN" dirty="0"/>
              <a:t> </a:t>
            </a:r>
            <a:r>
              <a:rPr lang="en-US" altLang="zh-CN" dirty="0">
                <a:sym typeface="Symbol" panose="05050102010706020507" charset="2"/>
              </a:rPr>
              <a:t></a:t>
            </a:r>
            <a:r>
              <a:rPr lang="en-US" altLang="zh-CN" dirty="0"/>
              <a:t> is in D</a:t>
            </a:r>
            <a:r>
              <a:rPr lang="en-US" altLang="zh-CN" baseline="30000" dirty="0"/>
              <a:t>+</a:t>
            </a:r>
            <a:r>
              <a:rPr lang="en-US" altLang="zh-CN" dirty="0"/>
              <a:t> </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3362"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4NF Decomposition Algorithm</a:t>
            </a:r>
          </a:p>
        </p:txBody>
      </p:sp>
      <p:sp>
        <p:nvSpPr>
          <p:cNvPr id="159746" name="Rectangle 3"/>
          <p:cNvSpPr>
            <a:spLocks noGrp="1"/>
          </p:cNvSpPr>
          <p:nvPr>
            <p:ph idx="1"/>
          </p:nvPr>
        </p:nvSpPr>
        <p:spPr>
          <a:xfrm>
            <a:off x="927100" y="1163638"/>
            <a:ext cx="8043863" cy="4876800"/>
          </a:xfrm>
        </p:spPr>
        <p:txBody>
          <a:bodyPr wrap="square" lIns="91440" tIns="45720" rIns="91440" bIns="45720" anchor="t"/>
          <a:lstStyle/>
          <a:p>
            <a:pPr>
              <a:buNone/>
            </a:pPr>
            <a:r>
              <a:rPr lang="en-US" altLang="zh-CN" sz="2000" i="1" dirty="0"/>
              <a:t>     result:</a:t>
            </a:r>
            <a:r>
              <a:rPr lang="en-US" altLang="zh-CN" sz="2000" dirty="0"/>
              <a:t> = {</a:t>
            </a:r>
            <a:r>
              <a:rPr lang="en-US" altLang="zh-CN" sz="2000" i="1" dirty="0"/>
              <a:t>R</a:t>
            </a:r>
            <a:r>
              <a:rPr lang="en-US" altLang="zh-CN" sz="2000" dirty="0"/>
              <a:t>};</a:t>
            </a:r>
            <a:br>
              <a:rPr lang="en-US" altLang="zh-CN" sz="2000" dirty="0"/>
            </a:br>
            <a:r>
              <a:rPr lang="en-US" altLang="zh-CN" sz="2000" i="1" dirty="0"/>
              <a:t>done</a:t>
            </a:r>
            <a:r>
              <a:rPr lang="en-US" altLang="zh-CN" sz="2000" dirty="0"/>
              <a:t> := false;</a:t>
            </a:r>
            <a:br>
              <a:rPr lang="en-US" altLang="zh-CN" sz="2000" dirty="0"/>
            </a:br>
            <a:r>
              <a:rPr lang="en-US" altLang="zh-CN" sz="2000" i="1" dirty="0"/>
              <a:t>compute D</a:t>
            </a:r>
            <a:r>
              <a:rPr lang="en-US" altLang="zh-CN" sz="2000" baseline="30000" dirty="0"/>
              <a:t>+</a:t>
            </a:r>
            <a:r>
              <a:rPr lang="en-US" altLang="zh-CN" sz="2000" dirty="0"/>
              <a:t>;</a:t>
            </a:r>
            <a:br>
              <a:rPr lang="en-US" altLang="zh-CN" sz="2000" dirty="0"/>
            </a:br>
            <a:r>
              <a:rPr lang="en-US" altLang="zh-CN" sz="2000" dirty="0"/>
              <a:t>Let D</a:t>
            </a:r>
            <a:r>
              <a:rPr lang="en-US" altLang="zh-CN" sz="2000" baseline="-25000" dirty="0"/>
              <a:t>i</a:t>
            </a:r>
            <a:r>
              <a:rPr lang="en-US" altLang="zh-CN" sz="2000" dirty="0"/>
              <a:t> denote the restriction of D</a:t>
            </a:r>
            <a:r>
              <a:rPr lang="en-US" altLang="zh-CN" sz="2000" baseline="30000" dirty="0"/>
              <a:t>+</a:t>
            </a:r>
            <a:r>
              <a:rPr lang="en-US" altLang="zh-CN" sz="2000" dirty="0"/>
              <a:t> to R</a:t>
            </a:r>
            <a:r>
              <a:rPr lang="en-US" altLang="zh-CN" sz="2000" baseline="-25000" dirty="0"/>
              <a:t>i</a:t>
            </a:r>
          </a:p>
          <a:p>
            <a:pPr>
              <a:buNone/>
            </a:pPr>
            <a:r>
              <a:rPr lang="en-US" altLang="zh-CN" sz="2000" b="1" dirty="0"/>
              <a:t>      while </a:t>
            </a:r>
            <a:r>
              <a:rPr lang="en-US" altLang="zh-CN" sz="2000" dirty="0"/>
              <a:t>(</a:t>
            </a:r>
            <a:r>
              <a:rPr lang="en-US" altLang="zh-CN" sz="2000" b="1" dirty="0"/>
              <a:t>not </a:t>
            </a:r>
            <a:r>
              <a:rPr lang="en-US" altLang="zh-CN" sz="2000" i="1" dirty="0"/>
              <a:t>done</a:t>
            </a:r>
            <a:r>
              <a:rPr lang="en-US" altLang="zh-CN" sz="2000" dirty="0"/>
              <a:t>) </a:t>
            </a:r>
            <a:br>
              <a:rPr lang="en-US" altLang="zh-CN" sz="2000" dirty="0"/>
            </a:br>
            <a:r>
              <a:rPr lang="en-US" altLang="zh-CN" sz="2000" dirty="0"/>
              <a:t>    </a:t>
            </a:r>
            <a:r>
              <a:rPr lang="en-US" altLang="zh-CN" sz="2000" b="1" dirty="0"/>
              <a:t>if </a:t>
            </a:r>
            <a:r>
              <a:rPr lang="en-US" altLang="zh-CN" sz="2000" dirty="0"/>
              <a:t>(there is a schema </a:t>
            </a:r>
            <a:r>
              <a:rPr lang="en-US" altLang="zh-CN" sz="2000" b="1" dirty="0"/>
              <a:t>R</a:t>
            </a:r>
            <a:r>
              <a:rPr lang="en-US" altLang="zh-CN" sz="2000" baseline="-25000" dirty="0"/>
              <a:t>i</a:t>
            </a:r>
            <a:r>
              <a:rPr lang="en-US" altLang="zh-CN" sz="2000" dirty="0"/>
              <a:t> in </a:t>
            </a:r>
            <a:r>
              <a:rPr lang="en-US" altLang="zh-CN" sz="2000" i="1" dirty="0"/>
              <a:t>result </a:t>
            </a:r>
            <a:r>
              <a:rPr lang="en-US" altLang="zh-CN" sz="2000" dirty="0"/>
              <a:t>that is not in 4NF) </a:t>
            </a:r>
            <a:r>
              <a:rPr lang="en-US" altLang="zh-CN" sz="2000" b="1" dirty="0"/>
              <a:t>then</a:t>
            </a:r>
            <a:br>
              <a:rPr lang="en-US" altLang="zh-CN" sz="2000" b="1" dirty="0"/>
            </a:br>
            <a:r>
              <a:rPr lang="en-US" altLang="zh-CN" sz="2000" b="1" dirty="0"/>
              <a:t>       begin</a:t>
            </a:r>
            <a:endParaRPr lang="en-US" altLang="zh-CN" sz="2000" dirty="0"/>
          </a:p>
          <a:p>
            <a:pPr>
              <a:buNone/>
            </a:pPr>
            <a:r>
              <a:rPr lang="en-US" altLang="zh-CN" sz="2000" dirty="0"/>
              <a:t>		 let </a:t>
            </a:r>
            <a:r>
              <a:rPr lang="en-US" altLang="zh-CN" sz="2000" dirty="0">
                <a:sym typeface="Symbol" panose="05050102010706020507" charset="2"/>
              </a:rPr>
              <a:t> </a:t>
            </a:r>
            <a:r>
              <a:rPr lang="en-US" altLang="zh-CN" sz="2000" b="1" dirty="0">
                <a:sym typeface="Symbol" panose="05050102010706020507" charset="2"/>
              </a:rPr>
              <a:t></a:t>
            </a:r>
            <a:r>
              <a:rPr lang="en-US" altLang="zh-CN" sz="2000" dirty="0">
                <a:sym typeface="Symbol" panose="05050102010706020507" charset="2"/>
              </a:rPr>
              <a:t>  be a nontrivial multivalued dependency that holds</a:t>
            </a:r>
            <a:br>
              <a:rPr lang="en-US" altLang="zh-CN" sz="2000" dirty="0">
                <a:sym typeface="Symbol" panose="05050102010706020507" charset="2"/>
              </a:rPr>
            </a:br>
            <a:r>
              <a:rPr lang="en-US" altLang="zh-CN" sz="2000" dirty="0">
                <a:sym typeface="Symbol" panose="05050102010706020507" charset="2"/>
              </a:rPr>
              <a:t>            on </a:t>
            </a:r>
            <a:r>
              <a:rPr lang="en-US" altLang="zh-CN" sz="2000" i="1" dirty="0">
                <a:sym typeface="Symbol" panose="05050102010706020507" charset="2"/>
              </a:rPr>
              <a:t>R</a:t>
            </a:r>
            <a:r>
              <a:rPr lang="en-US" altLang="zh-CN" sz="2000" baseline="-25000" dirty="0">
                <a:sym typeface="Symbol" panose="05050102010706020507" charset="2"/>
              </a:rPr>
              <a:t>i</a:t>
            </a:r>
            <a:r>
              <a:rPr lang="en-US" altLang="zh-CN" sz="2000" dirty="0">
                <a:sym typeface="Symbol" panose="05050102010706020507" charset="2"/>
              </a:rPr>
              <a:t> such that   </a:t>
            </a:r>
            <a:r>
              <a:rPr lang="en-US" altLang="zh-CN" sz="2000" i="1" dirty="0">
                <a:sym typeface="Symbol" panose="05050102010706020507" charset="2"/>
              </a:rPr>
              <a:t>R</a:t>
            </a:r>
            <a:r>
              <a:rPr lang="en-US" altLang="zh-CN" sz="2000" i="1" baseline="-25000" dirty="0">
                <a:sym typeface="Symbol" panose="05050102010706020507" charset="2"/>
              </a:rPr>
              <a:t>i  </a:t>
            </a:r>
            <a:r>
              <a:rPr lang="en-US" altLang="zh-CN" sz="2000" dirty="0">
                <a:sym typeface="Symbol" panose="05050102010706020507" charset="2"/>
              </a:rPr>
              <a:t>is not in </a:t>
            </a:r>
            <a:r>
              <a:rPr lang="en-US" altLang="zh-CN" sz="2000" i="1" dirty="0"/>
              <a:t>D</a:t>
            </a:r>
            <a:r>
              <a:rPr lang="en-US" altLang="zh-CN" sz="2000" baseline="-25000" dirty="0"/>
              <a:t>i</a:t>
            </a:r>
            <a:r>
              <a:rPr lang="en-US" altLang="zh-CN" sz="2000" dirty="0"/>
              <a:t>, and </a:t>
            </a:r>
            <a:r>
              <a:rPr lang="en-US" altLang="zh-CN" sz="2000" dirty="0">
                <a:sym typeface="Symbol" panose="05050102010706020507" charset="2"/>
              </a:rPr>
              <a:t>; </a:t>
            </a:r>
            <a:br>
              <a:rPr lang="en-US" altLang="zh-CN" sz="2000" dirty="0">
                <a:sym typeface="Symbol" panose="05050102010706020507" charset="2"/>
              </a:rPr>
            </a:br>
            <a:r>
              <a:rPr lang="en-US" altLang="zh-CN" sz="2000" dirty="0">
                <a:sym typeface="Symbol" panose="05050102010706020507" charset="2"/>
              </a:rPr>
              <a:t>          </a:t>
            </a:r>
            <a:r>
              <a:rPr lang="en-US" altLang="zh-CN" sz="2000" i="1" dirty="0">
                <a:sym typeface="Symbol" panose="05050102010706020507" charset="2"/>
              </a:rPr>
              <a:t>result </a:t>
            </a:r>
            <a:r>
              <a:rPr lang="en-US" altLang="zh-CN" sz="2000" dirty="0">
                <a:sym typeface="Symbol" panose="05050102010706020507" charset="2"/>
              </a:rPr>
              <a:t>:=  (</a:t>
            </a:r>
            <a:r>
              <a:rPr lang="en-US" altLang="zh-CN" sz="2000" i="1" dirty="0">
                <a:sym typeface="Symbol" panose="05050102010706020507" charset="2"/>
              </a:rPr>
              <a:t>result </a:t>
            </a:r>
            <a:r>
              <a:rPr lang="en-US" altLang="zh-CN" sz="2000" dirty="0">
                <a:sym typeface="Symbol" panose="05050102010706020507" charset="2"/>
              </a:rPr>
              <a:t>- </a:t>
            </a:r>
            <a:r>
              <a:rPr lang="en-US" altLang="zh-CN" sz="2000" i="1" dirty="0">
                <a:sym typeface="Symbol" panose="05050102010706020507" charset="2"/>
              </a:rPr>
              <a:t>R</a:t>
            </a:r>
            <a:r>
              <a:rPr lang="en-US" altLang="zh-CN" sz="2000" i="1" baseline="-25000" dirty="0">
                <a:sym typeface="Symbol" panose="05050102010706020507" charset="2"/>
              </a:rPr>
              <a:t>i</a:t>
            </a:r>
            <a:r>
              <a:rPr lang="en-US" altLang="zh-CN" sz="2000" dirty="0">
                <a:sym typeface="Symbol" panose="05050102010706020507" charset="2"/>
              </a:rPr>
              <a:t>)  (</a:t>
            </a:r>
            <a:r>
              <a:rPr lang="en-US" altLang="zh-CN" sz="2000" i="1" dirty="0">
                <a:sym typeface="Symbol" panose="05050102010706020507" charset="2"/>
              </a:rPr>
              <a:t>R</a:t>
            </a:r>
            <a:r>
              <a:rPr lang="en-US" altLang="zh-CN" sz="2000" i="1" baseline="-25000" dirty="0">
                <a:sym typeface="Symbol" panose="05050102010706020507" charset="2"/>
              </a:rPr>
              <a:t>i</a:t>
            </a:r>
            <a:r>
              <a:rPr lang="en-US" altLang="zh-CN" sz="2000" baseline="-25000" dirty="0">
                <a:sym typeface="Symbol" panose="05050102010706020507" charset="2"/>
              </a:rPr>
              <a:t> </a:t>
            </a:r>
            <a:r>
              <a:rPr lang="en-US" altLang="zh-CN" sz="2000" dirty="0">
                <a:sym typeface="Symbol" panose="05050102010706020507" charset="2"/>
              </a:rPr>
              <a:t>- )   (, ); </a:t>
            </a:r>
            <a:br>
              <a:rPr lang="en-US" altLang="zh-CN" sz="2000" dirty="0">
                <a:sym typeface="Symbol" panose="05050102010706020507" charset="2"/>
              </a:rPr>
            </a:br>
            <a:r>
              <a:rPr lang="en-US" altLang="zh-CN" sz="2000" b="1" dirty="0">
                <a:sym typeface="Symbol" panose="05050102010706020507" charset="2"/>
              </a:rPr>
              <a:t>       end</a:t>
            </a:r>
            <a:br>
              <a:rPr lang="en-US" altLang="zh-CN" sz="2000" dirty="0">
                <a:sym typeface="Symbol" panose="05050102010706020507" charset="2"/>
              </a:rPr>
            </a:br>
            <a:r>
              <a:rPr lang="en-US" altLang="zh-CN" sz="2000" b="1" dirty="0">
                <a:sym typeface="Symbol" panose="05050102010706020507" charset="2"/>
              </a:rPr>
              <a:t>    else </a:t>
            </a:r>
            <a:r>
              <a:rPr lang="en-US" altLang="zh-CN" sz="2000" i="1" dirty="0">
                <a:sym typeface="Symbol" panose="05050102010706020507" charset="2"/>
              </a:rPr>
              <a:t>done</a:t>
            </a:r>
            <a:r>
              <a:rPr lang="en-US" altLang="zh-CN" sz="2000" dirty="0">
                <a:sym typeface="Symbol" panose="05050102010706020507" charset="2"/>
              </a:rPr>
              <a:t>:= true;</a:t>
            </a:r>
          </a:p>
          <a:p>
            <a:pPr>
              <a:buNone/>
            </a:pPr>
            <a:r>
              <a:rPr lang="en-US" altLang="zh-CN" sz="2000" dirty="0">
                <a:sym typeface="Symbol" panose="05050102010706020507" charset="2"/>
              </a:rPr>
              <a:t>      Note: each </a:t>
            </a:r>
            <a:r>
              <a:rPr lang="en-US" altLang="zh-CN" sz="2000" i="1" dirty="0">
                <a:sym typeface="Symbol" panose="05050102010706020507" charset="2"/>
              </a:rPr>
              <a:t>R</a:t>
            </a:r>
            <a:r>
              <a:rPr lang="en-US" altLang="zh-CN" sz="2000" i="1" baseline="-25000" dirty="0">
                <a:sym typeface="Symbol" panose="05050102010706020507" charset="2"/>
              </a:rPr>
              <a:t>i</a:t>
            </a:r>
            <a:r>
              <a:rPr lang="en-US" altLang="zh-CN" sz="2000" i="1" dirty="0">
                <a:sym typeface="Symbol" panose="05050102010706020507" charset="2"/>
              </a:rPr>
              <a:t> </a:t>
            </a:r>
            <a:r>
              <a:rPr lang="en-US" altLang="zh-CN" sz="2000" dirty="0">
                <a:sym typeface="Symbol" panose="05050102010706020507" charset="2"/>
              </a:rPr>
              <a:t>is in 4NF, and decomposition is lossless-join</a:t>
            </a:r>
          </a:p>
        </p:txBody>
      </p:sp>
      <p:grpSp>
        <p:nvGrpSpPr>
          <p:cNvPr id="159747" name="Group 4"/>
          <p:cNvGrpSpPr/>
          <p:nvPr/>
        </p:nvGrpSpPr>
        <p:grpSpPr>
          <a:xfrm>
            <a:off x="8348663" y="6477000"/>
            <a:ext cx="317500" cy="4763"/>
            <a:chOff x="2640" y="1301"/>
            <a:chExt cx="200" cy="3"/>
          </a:xfrm>
        </p:grpSpPr>
        <p:sp>
          <p:nvSpPr>
            <p:cNvPr id="783365" name="Line 5"/>
            <p:cNvSpPr>
              <a:spLocks noChangeShapeType="1"/>
            </p:cNvSpPr>
            <p:nvPr/>
          </p:nvSpPr>
          <p:spPr bwMode="auto">
            <a:xfrm flipV="1">
              <a:off x="2640" y="1301"/>
              <a:ext cx="136" cy="3"/>
            </a:xfrm>
            <a:prstGeom prst="line">
              <a:avLst/>
            </a:prstGeom>
            <a:noFill/>
            <a:ln w="9525">
              <a:solidFill>
                <a:schemeClr val="tx1"/>
              </a:solidFill>
              <a:round/>
              <a:tailEnd type="triangl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sp>
          <p:nvSpPr>
            <p:cNvPr id="783366" name="Line 6"/>
            <p:cNvSpPr>
              <a:spLocks noChangeShapeType="1"/>
            </p:cNvSpPr>
            <p:nvPr/>
          </p:nvSpPr>
          <p:spPr bwMode="auto">
            <a:xfrm>
              <a:off x="2704" y="1304"/>
              <a:ext cx="136" cy="0"/>
            </a:xfrm>
            <a:prstGeom prst="line">
              <a:avLst/>
            </a:prstGeom>
            <a:noFill/>
            <a:ln w="9525">
              <a:solidFill>
                <a:schemeClr val="tx1"/>
              </a:solidFill>
              <a:round/>
              <a:tailEnd type="triangle" w="med" len="med"/>
            </a:ln>
            <a:effec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tx1"/>
                </a:solidFill>
                <a:effectLst/>
                <a:uLnTx/>
                <a:uFillTx/>
                <a:latin typeface="Helvetica" panose="020B0604020202030204" charset="0"/>
                <a:ea typeface="宋体" panose="02010600030101010101" pitchFamily="2" charset="-122"/>
                <a:cs typeface="+mn-cs"/>
              </a:endParaRPr>
            </a:p>
          </p:txBody>
        </p:sp>
      </p:gr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5410"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Example</a:t>
            </a:r>
          </a:p>
        </p:txBody>
      </p:sp>
      <p:sp>
        <p:nvSpPr>
          <p:cNvPr id="785411" name="Rectangle 3"/>
          <p:cNvSpPr>
            <a:spLocks noGrp="1"/>
          </p:cNvSpPr>
          <p:nvPr>
            <p:ph idx="1"/>
          </p:nvPr>
        </p:nvSpPr>
        <p:spPr>
          <a:xfrm>
            <a:off x="113030" y="910590"/>
            <a:ext cx="8938895" cy="5313045"/>
          </a:xfrm>
        </p:spPr>
        <p:txBody>
          <a:bodyPr wrap="square" lIns="91440" tIns="45720" rIns="91440" bIns="45720" anchor="t"/>
          <a:lstStyle/>
          <a:p>
            <a:pPr>
              <a:lnSpc>
                <a:spcPct val="90000"/>
              </a:lnSpc>
            </a:pPr>
            <a:r>
              <a:rPr lang="en-US" altLang="zh-CN" sz="2000" i="1" dirty="0"/>
              <a:t>R</a:t>
            </a:r>
            <a:r>
              <a:rPr lang="en-US" altLang="zh-CN" sz="2000" dirty="0"/>
              <a:t> =(</a:t>
            </a:r>
            <a:r>
              <a:rPr lang="en-US" altLang="zh-CN" sz="2000" i="1" dirty="0"/>
              <a:t>A, B, C, G, H, I</a:t>
            </a:r>
            <a:r>
              <a:rPr lang="en-US" altLang="zh-CN" sz="2000" dirty="0"/>
              <a:t>)</a:t>
            </a:r>
          </a:p>
          <a:p>
            <a:pPr>
              <a:lnSpc>
                <a:spcPct val="90000"/>
              </a:lnSpc>
              <a:buNone/>
            </a:pPr>
            <a:r>
              <a:rPr lang="en-US" altLang="zh-CN" sz="2000" i="1" dirty="0"/>
              <a:t>	F </a:t>
            </a:r>
            <a:r>
              <a:rPr lang="en-US" altLang="zh-CN" sz="2000" dirty="0"/>
              <a:t>={ </a:t>
            </a:r>
            <a:r>
              <a:rPr lang="en-US" altLang="zh-CN" sz="2000" i="1" dirty="0"/>
              <a:t>A </a:t>
            </a:r>
            <a:r>
              <a:rPr lang="en-US" altLang="zh-CN" sz="2000" b="1" dirty="0">
                <a:sym typeface="Symbol" panose="05050102010706020507" charset="2"/>
              </a:rPr>
              <a:t></a:t>
            </a:r>
            <a:r>
              <a:rPr lang="en-US" altLang="zh-CN" sz="2000" dirty="0">
                <a:sym typeface="Symbol" panose="05050102010706020507" charset="2"/>
              </a:rPr>
              <a:t> </a:t>
            </a:r>
            <a:r>
              <a:rPr lang="en-US" altLang="zh-CN" sz="2000" i="1" dirty="0"/>
              <a:t>B</a:t>
            </a:r>
            <a:endParaRPr lang="en-US" altLang="zh-CN" sz="2000" dirty="0"/>
          </a:p>
          <a:p>
            <a:pPr>
              <a:lnSpc>
                <a:spcPct val="90000"/>
              </a:lnSpc>
              <a:buNone/>
            </a:pPr>
            <a:r>
              <a:rPr lang="en-US" altLang="zh-CN" sz="2000" i="1" dirty="0"/>
              <a:t>		B</a:t>
            </a:r>
            <a:r>
              <a:rPr lang="en-US" altLang="zh-CN" sz="2000" dirty="0"/>
              <a:t> </a:t>
            </a:r>
            <a:r>
              <a:rPr lang="en-US" altLang="zh-CN" sz="2000" b="1" dirty="0">
                <a:sym typeface="Symbol" panose="05050102010706020507" charset="2"/>
              </a:rPr>
              <a:t></a:t>
            </a:r>
            <a:r>
              <a:rPr lang="en-US" altLang="zh-CN" sz="2000" dirty="0"/>
              <a:t> </a:t>
            </a:r>
            <a:r>
              <a:rPr lang="en-US" altLang="zh-CN" sz="2000" i="1" dirty="0"/>
              <a:t>HI</a:t>
            </a:r>
            <a:endParaRPr lang="en-US" altLang="zh-CN" sz="2000" dirty="0"/>
          </a:p>
          <a:p>
            <a:pPr>
              <a:lnSpc>
                <a:spcPct val="90000"/>
              </a:lnSpc>
              <a:buNone/>
            </a:pPr>
            <a:r>
              <a:rPr lang="en-US" altLang="zh-CN" sz="2000" i="1" dirty="0"/>
              <a:t>		CG </a:t>
            </a:r>
            <a:r>
              <a:rPr lang="en-US" altLang="zh-CN" sz="2000" b="1" dirty="0">
                <a:sym typeface="Symbol" panose="05050102010706020507" charset="2"/>
              </a:rPr>
              <a:t></a:t>
            </a:r>
            <a:r>
              <a:rPr lang="en-US" altLang="zh-CN" sz="2000" dirty="0">
                <a:sym typeface="Symbol" panose="05050102010706020507" charset="2"/>
              </a:rPr>
              <a:t> </a:t>
            </a:r>
            <a:r>
              <a:rPr lang="en-US" altLang="zh-CN" sz="2000" i="1" dirty="0"/>
              <a:t>H</a:t>
            </a:r>
            <a:r>
              <a:rPr lang="en-US" altLang="zh-CN" sz="2000" dirty="0"/>
              <a:t> }</a:t>
            </a:r>
          </a:p>
          <a:p>
            <a:pPr>
              <a:lnSpc>
                <a:spcPct val="90000"/>
              </a:lnSpc>
            </a:pPr>
            <a:r>
              <a:rPr lang="en-US" altLang="zh-CN" sz="2000" i="1" dirty="0"/>
              <a:t>R</a:t>
            </a:r>
            <a:r>
              <a:rPr lang="en-US" altLang="zh-CN" sz="2000" dirty="0"/>
              <a:t> is not in 4NF since </a:t>
            </a:r>
            <a:r>
              <a:rPr lang="en-US" altLang="zh-CN" sz="2000" i="1" dirty="0"/>
              <a:t>A</a:t>
            </a:r>
            <a:r>
              <a:rPr lang="en-US" altLang="zh-CN" sz="2000" dirty="0"/>
              <a:t> </a:t>
            </a:r>
            <a:r>
              <a:rPr lang="en-US" altLang="zh-CN" sz="2000" b="1" dirty="0">
                <a:sym typeface="Symbol" panose="05050102010706020507" charset="2"/>
              </a:rPr>
              <a:t></a:t>
            </a:r>
            <a:r>
              <a:rPr lang="en-US" altLang="zh-CN" sz="2000" dirty="0"/>
              <a:t> </a:t>
            </a:r>
            <a:r>
              <a:rPr lang="en-US" altLang="zh-CN" sz="2000" i="1" dirty="0"/>
              <a:t>B</a:t>
            </a:r>
            <a:r>
              <a:rPr lang="en-US" altLang="zh-CN" sz="2000" dirty="0"/>
              <a:t> and </a:t>
            </a:r>
            <a:r>
              <a:rPr lang="en-US" altLang="zh-CN" sz="2000" i="1" dirty="0"/>
              <a:t>A</a:t>
            </a:r>
            <a:r>
              <a:rPr lang="en-US" altLang="zh-CN" sz="2000" dirty="0"/>
              <a:t> is not a superkey for </a:t>
            </a:r>
            <a:r>
              <a:rPr lang="en-US" altLang="zh-CN" sz="2000" i="1" dirty="0"/>
              <a:t>R</a:t>
            </a:r>
            <a:endParaRPr lang="en-US" altLang="zh-CN" sz="2000" dirty="0"/>
          </a:p>
          <a:p>
            <a:pPr>
              <a:lnSpc>
                <a:spcPct val="90000"/>
              </a:lnSpc>
            </a:pPr>
            <a:r>
              <a:rPr lang="en-US" altLang="zh-CN" sz="2000" dirty="0"/>
              <a:t>Decomposition</a:t>
            </a:r>
          </a:p>
          <a:p>
            <a:pPr>
              <a:lnSpc>
                <a:spcPct val="90000"/>
              </a:lnSpc>
              <a:buNone/>
            </a:pPr>
            <a:r>
              <a:rPr lang="en-US" altLang="zh-CN" sz="2000" dirty="0"/>
              <a:t>	a) </a:t>
            </a:r>
            <a:r>
              <a:rPr lang="en-US" altLang="zh-CN" sz="2000" i="1" dirty="0"/>
              <a:t>R</a:t>
            </a:r>
            <a:r>
              <a:rPr lang="en-US" altLang="zh-CN" sz="2000" i="1" baseline="-25000" dirty="0"/>
              <a:t>1</a:t>
            </a:r>
            <a:r>
              <a:rPr lang="en-US" altLang="zh-CN" sz="2000" dirty="0"/>
              <a:t> = (</a:t>
            </a:r>
            <a:r>
              <a:rPr lang="en-US" altLang="zh-CN" sz="2000" i="1" dirty="0"/>
              <a:t>A, B</a:t>
            </a:r>
            <a:r>
              <a:rPr lang="en-US" altLang="zh-CN" sz="2000" dirty="0"/>
              <a:t>) 			(</a:t>
            </a:r>
            <a:r>
              <a:rPr lang="en-US" altLang="zh-CN" sz="2000" i="1" dirty="0"/>
              <a:t>R</a:t>
            </a:r>
            <a:r>
              <a:rPr lang="en-US" altLang="zh-CN" sz="2000" i="1" baseline="-25000" dirty="0"/>
              <a:t>1</a:t>
            </a:r>
            <a:r>
              <a:rPr lang="en-US" altLang="zh-CN" sz="2000" dirty="0"/>
              <a:t> is in 4NF)</a:t>
            </a:r>
          </a:p>
          <a:p>
            <a:pPr>
              <a:lnSpc>
                <a:spcPct val="90000"/>
              </a:lnSpc>
              <a:buNone/>
            </a:pPr>
            <a:r>
              <a:rPr lang="en-US" altLang="zh-CN" sz="2000" dirty="0"/>
              <a:t>	b) </a:t>
            </a:r>
            <a:r>
              <a:rPr lang="en-US" altLang="zh-CN" sz="2000" i="1" dirty="0"/>
              <a:t>R</a:t>
            </a:r>
            <a:r>
              <a:rPr lang="en-US" altLang="zh-CN" sz="2000" baseline="-25000" dirty="0"/>
              <a:t>2</a:t>
            </a:r>
            <a:r>
              <a:rPr lang="en-US" altLang="zh-CN" sz="2000" dirty="0"/>
              <a:t> = (</a:t>
            </a:r>
            <a:r>
              <a:rPr lang="en-US" altLang="zh-CN" sz="2000" i="1" dirty="0"/>
              <a:t>A, C, G, H, I</a:t>
            </a:r>
            <a:r>
              <a:rPr lang="en-US" altLang="zh-CN" sz="2000" dirty="0"/>
              <a:t>)  		(</a:t>
            </a:r>
            <a:r>
              <a:rPr lang="en-US" altLang="zh-CN" sz="2000" i="1" dirty="0"/>
              <a:t>R</a:t>
            </a:r>
            <a:r>
              <a:rPr lang="en-US" altLang="zh-CN" sz="2000" i="1" baseline="-25000" dirty="0"/>
              <a:t>2</a:t>
            </a:r>
            <a:r>
              <a:rPr lang="en-US" altLang="zh-CN" sz="2000" dirty="0"/>
              <a:t> is not in 4NF, decompose into R</a:t>
            </a:r>
            <a:r>
              <a:rPr lang="en-US" altLang="zh-CN" sz="2000" baseline="-25000" dirty="0"/>
              <a:t>3 </a:t>
            </a:r>
            <a:r>
              <a:rPr lang="en-US" altLang="zh-CN" sz="2000" dirty="0"/>
              <a:t>and R</a:t>
            </a:r>
            <a:r>
              <a:rPr lang="en-US" altLang="zh-CN" sz="2000" baseline="-25000" dirty="0"/>
              <a:t>4</a:t>
            </a:r>
            <a:r>
              <a:rPr lang="en-US" altLang="zh-CN" sz="2000" dirty="0"/>
              <a:t>)</a:t>
            </a:r>
          </a:p>
          <a:p>
            <a:pPr>
              <a:lnSpc>
                <a:spcPct val="90000"/>
              </a:lnSpc>
              <a:buNone/>
            </a:pPr>
            <a:r>
              <a:rPr lang="en-US" altLang="zh-CN" sz="2000" dirty="0"/>
              <a:t>	c) </a:t>
            </a:r>
            <a:r>
              <a:rPr lang="en-US" altLang="zh-CN" sz="2000" i="1" dirty="0"/>
              <a:t>R</a:t>
            </a:r>
            <a:r>
              <a:rPr lang="en-US" altLang="zh-CN" sz="2000" baseline="-25000" dirty="0"/>
              <a:t>3</a:t>
            </a:r>
            <a:r>
              <a:rPr lang="en-US" altLang="zh-CN" sz="2000" dirty="0"/>
              <a:t> = (</a:t>
            </a:r>
            <a:r>
              <a:rPr lang="en-US" altLang="zh-CN" sz="2000" i="1" dirty="0"/>
              <a:t>C, G, H</a:t>
            </a:r>
            <a:r>
              <a:rPr lang="en-US" altLang="zh-CN" sz="2000" dirty="0"/>
              <a:t>) 		(</a:t>
            </a:r>
            <a:r>
              <a:rPr lang="en-US" altLang="zh-CN" sz="2000" i="1" dirty="0"/>
              <a:t>R</a:t>
            </a:r>
            <a:r>
              <a:rPr lang="en-US" altLang="zh-CN" sz="2000" baseline="-25000" dirty="0"/>
              <a:t>3</a:t>
            </a:r>
            <a:r>
              <a:rPr lang="en-US" altLang="zh-CN" sz="2000" dirty="0"/>
              <a:t> is in 4NF)</a:t>
            </a:r>
          </a:p>
          <a:p>
            <a:pPr>
              <a:lnSpc>
                <a:spcPct val="90000"/>
              </a:lnSpc>
              <a:buNone/>
            </a:pPr>
            <a:r>
              <a:rPr lang="en-US" altLang="zh-CN" sz="2000" dirty="0"/>
              <a:t>	d) </a:t>
            </a:r>
            <a:r>
              <a:rPr lang="en-US" altLang="zh-CN" sz="2000" i="1" dirty="0"/>
              <a:t>R</a:t>
            </a:r>
            <a:r>
              <a:rPr lang="en-US" altLang="zh-CN" sz="2000" i="1" baseline="-25000" dirty="0"/>
              <a:t>4</a:t>
            </a:r>
            <a:r>
              <a:rPr lang="en-US" altLang="zh-CN" sz="2000" dirty="0"/>
              <a:t> = (</a:t>
            </a:r>
            <a:r>
              <a:rPr lang="en-US" altLang="zh-CN" sz="2000" i="1" dirty="0"/>
              <a:t>A, C, G, I</a:t>
            </a:r>
            <a:r>
              <a:rPr lang="en-US" altLang="zh-CN" sz="2000" dirty="0"/>
              <a:t>)  		(</a:t>
            </a:r>
            <a:r>
              <a:rPr lang="en-US" altLang="zh-CN" sz="2000" i="1" dirty="0"/>
              <a:t>R</a:t>
            </a:r>
            <a:r>
              <a:rPr lang="en-US" altLang="zh-CN" sz="2000" i="1" baseline="-25000" dirty="0"/>
              <a:t>4</a:t>
            </a:r>
            <a:r>
              <a:rPr lang="en-US" altLang="zh-CN" sz="2000" dirty="0"/>
              <a:t> is not in 4NF, decompose into R</a:t>
            </a:r>
            <a:r>
              <a:rPr lang="en-US" altLang="zh-CN" sz="2000" baseline="-25000" dirty="0"/>
              <a:t>5 </a:t>
            </a:r>
            <a:r>
              <a:rPr lang="en-US" altLang="zh-CN" sz="2000" dirty="0"/>
              <a:t>and R</a:t>
            </a:r>
            <a:r>
              <a:rPr lang="en-US" altLang="zh-CN" sz="2000" baseline="-25000" dirty="0"/>
              <a:t>6</a:t>
            </a:r>
            <a:r>
              <a:rPr lang="en-US" altLang="zh-CN" sz="2000" dirty="0"/>
              <a:t>)</a:t>
            </a:r>
          </a:p>
          <a:p>
            <a:pPr lvl="1">
              <a:lnSpc>
                <a:spcPct val="90000"/>
              </a:lnSpc>
            </a:pPr>
            <a:r>
              <a:rPr lang="en-US" altLang="zh-CN" sz="2000" i="1" dirty="0"/>
              <a:t>A</a:t>
            </a:r>
            <a:r>
              <a:rPr lang="en-US" altLang="zh-CN" sz="2000" dirty="0"/>
              <a:t> </a:t>
            </a:r>
            <a:r>
              <a:rPr lang="en-US" altLang="zh-CN" sz="2000" b="1" dirty="0">
                <a:sym typeface="Symbol" panose="05050102010706020507" charset="2"/>
              </a:rPr>
              <a:t></a:t>
            </a:r>
            <a:r>
              <a:rPr lang="en-US" altLang="zh-CN" sz="2000" dirty="0">
                <a:sym typeface="Symbol" panose="05050102010706020507" charset="2"/>
              </a:rPr>
              <a:t> </a:t>
            </a:r>
            <a:r>
              <a:rPr lang="en-US" altLang="zh-CN" sz="2000" i="1" dirty="0"/>
              <a:t>B</a:t>
            </a:r>
            <a:r>
              <a:rPr lang="en-US" altLang="zh-CN" sz="2000" dirty="0"/>
              <a:t> and </a:t>
            </a:r>
            <a:r>
              <a:rPr lang="en-US" altLang="zh-CN" sz="2000" i="1" dirty="0"/>
              <a:t>B</a:t>
            </a:r>
            <a:r>
              <a:rPr lang="en-US" altLang="zh-CN" sz="2000" dirty="0"/>
              <a:t> </a:t>
            </a:r>
            <a:r>
              <a:rPr lang="en-US" altLang="zh-CN" sz="2000" b="1" dirty="0">
                <a:sym typeface="Symbol" panose="05050102010706020507" charset="2"/>
              </a:rPr>
              <a:t></a:t>
            </a:r>
            <a:r>
              <a:rPr lang="en-US" altLang="zh-CN" sz="2000" dirty="0"/>
              <a:t> </a:t>
            </a:r>
            <a:r>
              <a:rPr lang="en-US" altLang="zh-CN" sz="2000" i="1" dirty="0"/>
              <a:t>HI </a:t>
            </a:r>
            <a:r>
              <a:rPr lang="en-US" altLang="zh-CN" sz="2000" i="1" dirty="0">
                <a:sym typeface="Wingdings" panose="05000000000000000000" pitchFamily="2" charset="2"/>
              </a:rPr>
              <a:t> </a:t>
            </a:r>
            <a:r>
              <a:rPr lang="en-US" altLang="zh-CN" sz="2000" i="1" dirty="0"/>
              <a:t>A</a:t>
            </a:r>
            <a:r>
              <a:rPr lang="en-US" altLang="zh-CN" sz="2000" dirty="0"/>
              <a:t> </a:t>
            </a:r>
            <a:r>
              <a:rPr lang="en-US" altLang="zh-CN" sz="2000" b="1" dirty="0">
                <a:sym typeface="Symbol" panose="05050102010706020507" charset="2"/>
              </a:rPr>
              <a:t></a:t>
            </a:r>
            <a:r>
              <a:rPr lang="en-US" altLang="zh-CN" sz="2000" dirty="0">
                <a:sym typeface="Symbol" panose="05050102010706020507" charset="2"/>
              </a:rPr>
              <a:t> </a:t>
            </a:r>
            <a:r>
              <a:rPr lang="en-US" altLang="zh-CN" sz="2000" i="1" dirty="0"/>
              <a:t>HI</a:t>
            </a:r>
            <a:r>
              <a:rPr lang="en-US" altLang="zh-CN" sz="2000" dirty="0"/>
              <a:t>, (MVD transitivity), and</a:t>
            </a:r>
          </a:p>
          <a:p>
            <a:pPr lvl="1">
              <a:lnSpc>
                <a:spcPct val="90000"/>
              </a:lnSpc>
            </a:pPr>
            <a:r>
              <a:rPr lang="en-US" altLang="zh-CN" sz="2000" dirty="0"/>
              <a:t>and hence </a:t>
            </a:r>
            <a:r>
              <a:rPr lang="en-US" altLang="zh-CN" sz="2000" i="1" dirty="0"/>
              <a:t>A</a:t>
            </a:r>
            <a:r>
              <a:rPr lang="en-US" altLang="zh-CN" sz="2000" dirty="0"/>
              <a:t> </a:t>
            </a:r>
            <a:r>
              <a:rPr lang="en-US" altLang="zh-CN" sz="2000" b="1" dirty="0">
                <a:sym typeface="Symbol" panose="05050102010706020507" charset="2"/>
              </a:rPr>
              <a:t></a:t>
            </a:r>
            <a:r>
              <a:rPr lang="en-US" altLang="zh-CN" sz="2000" dirty="0">
                <a:sym typeface="Symbol" panose="05050102010706020507" charset="2"/>
              </a:rPr>
              <a:t> </a:t>
            </a:r>
            <a:r>
              <a:rPr lang="en-US" altLang="zh-CN" sz="2000" i="1" dirty="0"/>
              <a:t>I (MVD restriction to R</a:t>
            </a:r>
            <a:r>
              <a:rPr lang="en-US" altLang="zh-CN" sz="2000" i="1" baseline="-25000" dirty="0"/>
              <a:t>4</a:t>
            </a:r>
            <a:r>
              <a:rPr lang="en-US" altLang="zh-CN" sz="2000" i="1" dirty="0"/>
              <a:t>)</a:t>
            </a:r>
            <a:endParaRPr lang="en-US" altLang="zh-CN" sz="2000" dirty="0"/>
          </a:p>
          <a:p>
            <a:pPr>
              <a:lnSpc>
                <a:spcPct val="90000"/>
              </a:lnSpc>
              <a:buNone/>
            </a:pPr>
            <a:r>
              <a:rPr lang="en-US" altLang="zh-CN" sz="2000" dirty="0"/>
              <a:t>	e) </a:t>
            </a:r>
            <a:r>
              <a:rPr lang="en-US" altLang="zh-CN" sz="2000" i="1" dirty="0"/>
              <a:t>R</a:t>
            </a:r>
            <a:r>
              <a:rPr lang="en-US" altLang="zh-CN" sz="2000" i="1" baseline="-25000" dirty="0"/>
              <a:t>5</a:t>
            </a:r>
            <a:r>
              <a:rPr lang="en-US" altLang="zh-CN" sz="2000" dirty="0"/>
              <a:t> = (</a:t>
            </a:r>
            <a:r>
              <a:rPr lang="en-US" altLang="zh-CN" sz="2000" i="1" dirty="0"/>
              <a:t>A, I</a:t>
            </a:r>
            <a:r>
              <a:rPr lang="en-US" altLang="zh-CN" sz="2000" dirty="0"/>
              <a:t>)  			(</a:t>
            </a:r>
            <a:r>
              <a:rPr lang="en-US" altLang="zh-CN" sz="2000" i="1" dirty="0"/>
              <a:t>R</a:t>
            </a:r>
            <a:r>
              <a:rPr lang="en-US" altLang="zh-CN" sz="2000" i="1" baseline="-25000" dirty="0"/>
              <a:t>5</a:t>
            </a:r>
            <a:r>
              <a:rPr lang="en-US" altLang="zh-CN" sz="2000" dirty="0"/>
              <a:t> is in 4NF)</a:t>
            </a:r>
          </a:p>
          <a:p>
            <a:pPr>
              <a:lnSpc>
                <a:spcPct val="90000"/>
              </a:lnSpc>
              <a:buNone/>
            </a:pPr>
            <a:r>
              <a:rPr lang="en-US" altLang="zh-CN" sz="2000" dirty="0"/>
              <a:t>	f)</a:t>
            </a:r>
            <a:r>
              <a:rPr lang="en-US" altLang="zh-CN" sz="2000" i="1" dirty="0"/>
              <a:t>R</a:t>
            </a:r>
            <a:r>
              <a:rPr lang="en-US" altLang="zh-CN" sz="2000" i="1" baseline="-25000" dirty="0"/>
              <a:t>6</a:t>
            </a:r>
            <a:r>
              <a:rPr lang="en-US" altLang="zh-CN" sz="2000" dirty="0"/>
              <a:t> = (A, C, G)  		(R</a:t>
            </a:r>
            <a:r>
              <a:rPr lang="en-US" altLang="zh-CN" sz="2000" baseline="-25000" dirty="0"/>
              <a:t>6</a:t>
            </a:r>
            <a:r>
              <a:rPr lang="en-US" altLang="zh-CN" sz="2000" dirty="0"/>
              <a:t> is in  4NF)</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854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854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854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78541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78541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78541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78541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78541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785411">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785411">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785411">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785411">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785411">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499"/>
                                          </p:stCondLst>
                                        </p:cTn>
                                        <p:tgtEl>
                                          <p:spTgt spid="785411">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5411" grpId="0" build="p" bldLvl="2"/>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7458" name="Rectangle 2"/>
          <p:cNvSpPr>
            <a:spLocks noGrp="1" noChangeArrowheads="1"/>
          </p:cNvSpPr>
          <p:nvPr>
            <p:ph type="title"/>
          </p:nvPr>
        </p:nvSpPr>
        <p:spPr>
          <a:xfrm>
            <a:off x="552450" y="85725"/>
            <a:ext cx="8077200" cy="6096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Further Normal Forms</a:t>
            </a:r>
          </a:p>
        </p:txBody>
      </p:sp>
      <p:sp>
        <p:nvSpPr>
          <p:cNvPr id="163842" name="Rectangle 3"/>
          <p:cNvSpPr>
            <a:spLocks noGrp="1"/>
          </p:cNvSpPr>
          <p:nvPr>
            <p:ph idx="1"/>
          </p:nvPr>
        </p:nvSpPr>
        <p:spPr>
          <a:xfrm>
            <a:off x="814388" y="1093788"/>
            <a:ext cx="7661275" cy="3400425"/>
          </a:xfrm>
        </p:spPr>
        <p:txBody>
          <a:bodyPr wrap="square" lIns="91440" tIns="45720" rIns="91440" bIns="45720" anchor="t"/>
          <a:lstStyle/>
          <a:p>
            <a:r>
              <a:rPr lang="en-US" altLang="zh-CN" sz="2000" b="1" dirty="0">
                <a:solidFill>
                  <a:srgbClr val="000099"/>
                </a:solidFill>
              </a:rPr>
              <a:t>Join dependencies</a:t>
            </a:r>
            <a:r>
              <a:rPr lang="en-US" altLang="zh-CN" sz="2000" dirty="0"/>
              <a:t> generalize multivalued dependencies</a:t>
            </a:r>
          </a:p>
          <a:p>
            <a:pPr lvl="1"/>
            <a:r>
              <a:rPr lang="en-US" altLang="zh-CN" sz="2000" dirty="0"/>
              <a:t>lead to </a:t>
            </a:r>
            <a:r>
              <a:rPr lang="en-US" altLang="zh-CN" sz="2000" b="1" dirty="0">
                <a:solidFill>
                  <a:srgbClr val="000099"/>
                </a:solidFill>
              </a:rPr>
              <a:t>project-join normal form (PJNF)</a:t>
            </a:r>
            <a:r>
              <a:rPr lang="en-US" altLang="zh-CN" sz="2000" dirty="0"/>
              <a:t> (also called </a:t>
            </a:r>
            <a:r>
              <a:rPr lang="en-US" altLang="zh-CN" sz="2000" b="1" dirty="0">
                <a:solidFill>
                  <a:srgbClr val="000099"/>
                </a:solidFill>
              </a:rPr>
              <a:t>fifth normal form</a:t>
            </a:r>
            <a:r>
              <a:rPr lang="en-US" altLang="zh-CN" sz="2000" dirty="0"/>
              <a:t>)</a:t>
            </a:r>
          </a:p>
          <a:p>
            <a:r>
              <a:rPr lang="en-US" altLang="zh-CN" sz="2000" dirty="0"/>
              <a:t>A class of even more general constraints, leads to a normal form called </a:t>
            </a:r>
            <a:r>
              <a:rPr lang="en-US" altLang="zh-CN" sz="2000" b="1" dirty="0">
                <a:solidFill>
                  <a:srgbClr val="000099"/>
                </a:solidFill>
              </a:rPr>
              <a:t>domain-key normal form</a:t>
            </a:r>
            <a:r>
              <a:rPr lang="en-US" altLang="zh-CN" sz="2000" dirty="0"/>
              <a:t>.</a:t>
            </a:r>
          </a:p>
          <a:p>
            <a:r>
              <a:rPr lang="en-US" altLang="zh-CN" sz="2000" dirty="0"/>
              <a:t>Problem with these generalized constraints:  are hard to reason with, and no set of sound and complete set of inference rules exists.</a:t>
            </a:r>
          </a:p>
          <a:p>
            <a:r>
              <a:rPr lang="en-US" altLang="zh-CN" sz="2000" dirty="0"/>
              <a:t>Hence rarely used</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9506"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Overall Database Design Process</a:t>
            </a:r>
          </a:p>
        </p:txBody>
      </p:sp>
      <p:sp>
        <p:nvSpPr>
          <p:cNvPr id="165890" name="Rectangle 3"/>
          <p:cNvSpPr>
            <a:spLocks noGrp="1"/>
          </p:cNvSpPr>
          <p:nvPr>
            <p:ph idx="1"/>
          </p:nvPr>
        </p:nvSpPr>
        <p:spPr>
          <a:xfrm>
            <a:off x="836613" y="1163638"/>
            <a:ext cx="7959725" cy="4081462"/>
          </a:xfrm>
        </p:spPr>
        <p:txBody>
          <a:bodyPr wrap="square" lIns="91440" tIns="45720" rIns="91440" bIns="45720" anchor="t"/>
          <a:lstStyle/>
          <a:p>
            <a:r>
              <a:rPr lang="en-US" altLang="zh-CN" sz="2000" dirty="0"/>
              <a:t>We have assumed schema </a:t>
            </a:r>
            <a:r>
              <a:rPr lang="en-US" altLang="zh-CN" sz="2000" i="1" dirty="0"/>
              <a:t>R</a:t>
            </a:r>
            <a:r>
              <a:rPr lang="en-US" altLang="zh-CN" sz="2000" dirty="0"/>
              <a:t> is given</a:t>
            </a:r>
          </a:p>
          <a:p>
            <a:pPr lvl="1"/>
            <a:r>
              <a:rPr lang="en-US" altLang="zh-CN" sz="2000" i="1" dirty="0"/>
              <a:t>R</a:t>
            </a:r>
            <a:r>
              <a:rPr lang="en-US" altLang="zh-CN" sz="2000" dirty="0"/>
              <a:t> could have been generated when converting E-R diagram to a set of tables.</a:t>
            </a:r>
          </a:p>
          <a:p>
            <a:pPr lvl="1"/>
            <a:r>
              <a:rPr lang="en-US" altLang="zh-CN" sz="2000" i="1" dirty="0"/>
              <a:t>R</a:t>
            </a:r>
            <a:r>
              <a:rPr lang="en-US" altLang="zh-CN" sz="2000" dirty="0"/>
              <a:t> could have been a single relation containing </a:t>
            </a:r>
            <a:r>
              <a:rPr lang="en-US" altLang="zh-CN" sz="2000" i="1" dirty="0"/>
              <a:t>all</a:t>
            </a:r>
            <a:r>
              <a:rPr lang="en-US" altLang="zh-CN" sz="2000" dirty="0"/>
              <a:t> attributes that are of interest (called </a:t>
            </a:r>
            <a:r>
              <a:rPr lang="en-US" altLang="zh-CN" sz="2000" b="1" dirty="0">
                <a:solidFill>
                  <a:srgbClr val="000099"/>
                </a:solidFill>
              </a:rPr>
              <a:t>universal relation</a:t>
            </a:r>
            <a:r>
              <a:rPr lang="en-US" altLang="zh-CN" sz="2000" dirty="0"/>
              <a:t>).</a:t>
            </a:r>
          </a:p>
          <a:p>
            <a:pPr lvl="1"/>
            <a:r>
              <a:rPr lang="en-US" altLang="zh-CN" sz="2000" dirty="0"/>
              <a:t>Normalization breaks </a:t>
            </a:r>
            <a:r>
              <a:rPr lang="en-US" altLang="zh-CN" sz="2000" i="1" dirty="0"/>
              <a:t>R</a:t>
            </a:r>
            <a:r>
              <a:rPr lang="en-US" altLang="zh-CN" sz="2000" dirty="0"/>
              <a:t> into smaller relations.</a:t>
            </a:r>
          </a:p>
          <a:p>
            <a:pPr lvl="1"/>
            <a:r>
              <a:rPr lang="en-US" altLang="zh-CN" sz="2000" i="1" dirty="0"/>
              <a:t>R</a:t>
            </a:r>
            <a:r>
              <a:rPr lang="en-US" altLang="zh-CN" sz="2000" dirty="0"/>
              <a:t> could have been the result of some ad hoc design of relations, which we then test/convert to normal form.</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1554"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ER Model and Normalization</a:t>
            </a:r>
          </a:p>
        </p:txBody>
      </p:sp>
      <p:sp>
        <p:nvSpPr>
          <p:cNvPr id="167938" name="Rectangle 3"/>
          <p:cNvSpPr>
            <a:spLocks noGrp="1"/>
          </p:cNvSpPr>
          <p:nvPr>
            <p:ph idx="1"/>
          </p:nvPr>
        </p:nvSpPr>
        <p:spPr>
          <a:xfrm>
            <a:off x="811213" y="1163638"/>
            <a:ext cx="7866062" cy="4592637"/>
          </a:xfrm>
        </p:spPr>
        <p:txBody>
          <a:bodyPr wrap="square" lIns="91440" tIns="45720" rIns="91440" bIns="45720" anchor="t"/>
          <a:lstStyle/>
          <a:p>
            <a:r>
              <a:rPr lang="en-US" altLang="zh-CN" sz="2000" dirty="0"/>
              <a:t>When an E-R diagram is carefully designed, identifying all entities correctly, the tables generated from the E-R diagram should not need further normalization.</a:t>
            </a:r>
          </a:p>
          <a:p>
            <a:r>
              <a:rPr lang="en-US" altLang="zh-CN" sz="2000" dirty="0"/>
              <a:t>However, in a real (imperfect) design, there can be functional dependencies from non-key attributes of an entity to other attributes of the entity</a:t>
            </a:r>
          </a:p>
          <a:p>
            <a:pPr lvl="1"/>
            <a:r>
              <a:rPr lang="en-US" altLang="zh-CN" sz="2000" dirty="0"/>
              <a:t>Example: an </a:t>
            </a:r>
            <a:r>
              <a:rPr lang="en-US" altLang="zh-CN" sz="2000" i="1" dirty="0"/>
              <a:t>employee</a:t>
            </a:r>
            <a:r>
              <a:rPr lang="en-US" altLang="zh-CN" sz="2000" dirty="0"/>
              <a:t> entity with attributes </a:t>
            </a:r>
            <a:br>
              <a:rPr lang="en-US" altLang="zh-CN" sz="2000" dirty="0"/>
            </a:br>
            <a:r>
              <a:rPr lang="en-US" altLang="zh-CN" sz="2000" dirty="0"/>
              <a:t>   </a:t>
            </a:r>
            <a:r>
              <a:rPr lang="en-US" altLang="zh-CN" sz="2000" i="1" dirty="0"/>
              <a:t>department_name </a:t>
            </a:r>
            <a:r>
              <a:rPr lang="en-US" altLang="zh-CN" sz="2000" dirty="0"/>
              <a:t>and </a:t>
            </a:r>
            <a:r>
              <a:rPr lang="en-US" altLang="zh-CN" sz="2000" i="1" dirty="0"/>
              <a:t>building</a:t>
            </a:r>
            <a:r>
              <a:rPr lang="en-US" altLang="zh-CN" sz="2000" dirty="0"/>
              <a:t>, </a:t>
            </a:r>
            <a:br>
              <a:rPr lang="en-US" altLang="zh-CN" sz="2000" dirty="0"/>
            </a:br>
            <a:r>
              <a:rPr lang="en-US" altLang="zh-CN" sz="2000" dirty="0"/>
              <a:t>and  a functional dependency </a:t>
            </a:r>
            <a:br>
              <a:rPr lang="en-US" altLang="zh-CN" sz="2000" dirty="0"/>
            </a:br>
            <a:r>
              <a:rPr lang="en-US" altLang="zh-CN" sz="2000" dirty="0"/>
              <a:t>   </a:t>
            </a:r>
            <a:r>
              <a:rPr lang="en-US" altLang="zh-CN" sz="2000" i="1" dirty="0"/>
              <a:t>department_name</a:t>
            </a:r>
            <a:r>
              <a:rPr lang="en-US" altLang="zh-CN" sz="2000" i="1" dirty="0">
                <a:sym typeface="Symbol" panose="05050102010706020507" charset="2"/>
              </a:rPr>
              <a:t> </a:t>
            </a:r>
            <a:r>
              <a:rPr lang="en-US" altLang="zh-CN" sz="2000" i="1" dirty="0"/>
              <a:t>building</a:t>
            </a:r>
          </a:p>
          <a:p>
            <a:pPr lvl="1"/>
            <a:r>
              <a:rPr lang="en-US" altLang="zh-CN" sz="2000" dirty="0"/>
              <a:t>Good design would have made department an entity</a:t>
            </a:r>
          </a:p>
          <a:p>
            <a:r>
              <a:rPr lang="en-US" altLang="zh-CN" sz="2000" dirty="0"/>
              <a:t>Functional dependencies from non-key attributes of a relationship set possible, but rare --- most relationships are binary </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3602"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Denormalization for Performance</a:t>
            </a:r>
          </a:p>
        </p:txBody>
      </p:sp>
      <p:sp>
        <p:nvSpPr>
          <p:cNvPr id="169986" name="Rectangle 3"/>
          <p:cNvSpPr>
            <a:spLocks noGrp="1"/>
          </p:cNvSpPr>
          <p:nvPr>
            <p:ph idx="1"/>
          </p:nvPr>
        </p:nvSpPr>
        <p:spPr>
          <a:xfrm>
            <a:off x="641350" y="1296988"/>
            <a:ext cx="8034338" cy="4876800"/>
          </a:xfrm>
        </p:spPr>
        <p:txBody>
          <a:bodyPr wrap="square" lIns="91440" tIns="45720" rIns="91440" bIns="45720" anchor="t"/>
          <a:lstStyle/>
          <a:p>
            <a:r>
              <a:rPr lang="en-US" altLang="zh-CN" sz="2000" dirty="0"/>
              <a:t>May want to use non-normalized schema for performance</a:t>
            </a:r>
          </a:p>
          <a:p>
            <a:r>
              <a:rPr lang="en-US" altLang="zh-CN" sz="2000" dirty="0"/>
              <a:t>For example, displaying </a:t>
            </a:r>
            <a:r>
              <a:rPr lang="en-US" altLang="zh-CN" sz="2000" i="1" dirty="0"/>
              <a:t>prereqs</a:t>
            </a:r>
            <a:r>
              <a:rPr lang="en-US" altLang="zh-CN" sz="2000" dirty="0"/>
              <a:t> along with </a:t>
            </a:r>
            <a:r>
              <a:rPr lang="en-US" altLang="zh-CN" sz="2000" i="1" dirty="0"/>
              <a:t>course_id, </a:t>
            </a:r>
            <a:r>
              <a:rPr lang="en-US" altLang="zh-CN" sz="2000" dirty="0"/>
              <a:t> and </a:t>
            </a:r>
            <a:r>
              <a:rPr lang="en-US" altLang="zh-CN" sz="2000" i="1" dirty="0"/>
              <a:t>title</a:t>
            </a:r>
            <a:r>
              <a:rPr lang="en-US" altLang="zh-CN" sz="2000" dirty="0"/>
              <a:t> requires join of </a:t>
            </a:r>
            <a:r>
              <a:rPr lang="en-US" altLang="zh-CN" sz="2000" i="1" dirty="0"/>
              <a:t>course</a:t>
            </a:r>
            <a:r>
              <a:rPr lang="en-US" altLang="zh-CN" sz="2000" dirty="0"/>
              <a:t> with </a:t>
            </a:r>
            <a:r>
              <a:rPr lang="en-US" altLang="zh-CN" sz="2000" i="1" dirty="0"/>
              <a:t>prereq</a:t>
            </a:r>
          </a:p>
          <a:p>
            <a:r>
              <a:rPr lang="en-US" altLang="zh-CN" sz="2000" dirty="0"/>
              <a:t>Alternative 1:  Use denormalized relation containing attributes of </a:t>
            </a:r>
            <a:r>
              <a:rPr lang="en-US" altLang="zh-CN" sz="2000" i="1" dirty="0"/>
              <a:t>course</a:t>
            </a:r>
            <a:r>
              <a:rPr lang="en-US" altLang="zh-CN" sz="2000" dirty="0"/>
              <a:t> as well as </a:t>
            </a:r>
            <a:r>
              <a:rPr lang="en-US" altLang="zh-CN" sz="2000" i="1" dirty="0"/>
              <a:t>prereq</a:t>
            </a:r>
            <a:r>
              <a:rPr lang="en-US" altLang="zh-CN" sz="2000" dirty="0"/>
              <a:t> with all above attributes</a:t>
            </a:r>
          </a:p>
          <a:p>
            <a:pPr lvl="1"/>
            <a:r>
              <a:rPr lang="en-US" altLang="zh-CN" sz="2000" dirty="0"/>
              <a:t>faster lookup</a:t>
            </a:r>
          </a:p>
          <a:p>
            <a:pPr lvl="1"/>
            <a:r>
              <a:rPr lang="en-US" altLang="zh-CN" sz="2000" dirty="0"/>
              <a:t>extra space and extra execution time for updates</a:t>
            </a:r>
          </a:p>
          <a:p>
            <a:pPr lvl="1"/>
            <a:r>
              <a:rPr lang="en-US" altLang="zh-CN" sz="2000" dirty="0"/>
              <a:t>extra coding work for programmer and possibility of error in extra code</a:t>
            </a:r>
          </a:p>
          <a:p>
            <a:r>
              <a:rPr lang="en-US" altLang="zh-CN" sz="2000" dirty="0"/>
              <a:t>Alternative 2: use a materialized view defined as</a:t>
            </a:r>
            <a:br>
              <a:rPr lang="en-US" altLang="zh-CN" sz="2000" dirty="0"/>
            </a:br>
            <a:r>
              <a:rPr lang="en-US" altLang="zh-CN" sz="2000" dirty="0"/>
              <a:t>          </a:t>
            </a:r>
            <a:r>
              <a:rPr lang="en-US" altLang="zh-CN" sz="2000" i="1" dirty="0"/>
              <a:t>course</a:t>
            </a:r>
            <a:r>
              <a:rPr lang="en-US" altLang="zh-CN" sz="2000" dirty="0"/>
              <a:t>      </a:t>
            </a:r>
            <a:r>
              <a:rPr lang="en-US" altLang="zh-CN" sz="2000" i="1" dirty="0"/>
              <a:t>prereq</a:t>
            </a:r>
          </a:p>
          <a:p>
            <a:pPr lvl="1"/>
            <a:r>
              <a:rPr lang="en-US" altLang="zh-CN" sz="2000" dirty="0"/>
              <a:t>Benefits and drawbacks same as above, except no extra coding work for programmer and avoids possible errors</a:t>
            </a:r>
          </a:p>
        </p:txBody>
      </p:sp>
      <p:sp>
        <p:nvSpPr>
          <p:cNvPr id="169987" name="Freeform 4"/>
          <p:cNvSpPr/>
          <p:nvPr/>
        </p:nvSpPr>
        <p:spPr>
          <a:xfrm>
            <a:off x="2716213" y="5148263"/>
            <a:ext cx="142875" cy="142875"/>
          </a:xfrm>
          <a:custGeom>
            <a:avLst/>
            <a:gdLst/>
            <a:ahLst/>
            <a:cxnLst>
              <a:cxn ang="0">
                <a:pos x="0" y="0"/>
              </a:cxn>
              <a:cxn ang="0">
                <a:pos x="0" y="142875"/>
              </a:cxn>
              <a:cxn ang="0">
                <a:pos x="142875" y="0"/>
              </a:cxn>
              <a:cxn ang="0">
                <a:pos x="142875" y="142875"/>
              </a:cxn>
              <a:cxn ang="0">
                <a:pos x="0" y="0"/>
              </a:cxn>
            </a:cxnLst>
            <a:rect l="0" t="0" r="0" b="0"/>
            <a:pathLst>
              <a:path w="182" h="182">
                <a:moveTo>
                  <a:pt x="0" y="0"/>
                </a:moveTo>
                <a:lnTo>
                  <a:pt x="0" y="182"/>
                </a:lnTo>
                <a:lnTo>
                  <a:pt x="182" y="0"/>
                </a:lnTo>
                <a:lnTo>
                  <a:pt x="182" y="182"/>
                </a:lnTo>
                <a:lnTo>
                  <a:pt x="0" y="0"/>
                </a:lnTo>
                <a:close/>
              </a:path>
            </a:pathLst>
          </a:custGeom>
          <a:noFill/>
          <a:ln w="12700" cap="flat" cmpd="sng">
            <a:solidFill>
              <a:srgbClr val="000000"/>
            </a:solidFill>
            <a:prstDash val="solid"/>
            <a:round/>
            <a:headEnd type="none" w="med" len="med"/>
            <a:tailEnd type="none" w="med" len="med"/>
          </a:ln>
        </p:spPr>
        <p:txBody>
          <a:bodyPr/>
          <a:lstStyle/>
          <a:p>
            <a:endParaRPr lang="zh-CN" alt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5650"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Other Design Issues</a:t>
            </a:r>
          </a:p>
        </p:txBody>
      </p:sp>
      <p:sp>
        <p:nvSpPr>
          <p:cNvPr id="172034" name="Rectangle 3"/>
          <p:cNvSpPr>
            <a:spLocks noGrp="1"/>
          </p:cNvSpPr>
          <p:nvPr>
            <p:ph idx="1"/>
          </p:nvPr>
        </p:nvSpPr>
        <p:spPr>
          <a:xfrm>
            <a:off x="627063" y="1093788"/>
            <a:ext cx="8108950" cy="4903787"/>
          </a:xfrm>
        </p:spPr>
        <p:txBody>
          <a:bodyPr wrap="square" lIns="91440" tIns="45720" rIns="91440" bIns="45720" anchor="t"/>
          <a:lstStyle/>
          <a:p>
            <a:r>
              <a:rPr lang="en-US" altLang="zh-CN" sz="2000" dirty="0"/>
              <a:t>Some aspects of database design are not caught by normalization</a:t>
            </a:r>
          </a:p>
          <a:p>
            <a:r>
              <a:rPr lang="en-US" altLang="zh-CN" sz="2000" dirty="0"/>
              <a:t>Examples of bad database design, to be avoided: </a:t>
            </a:r>
          </a:p>
          <a:p>
            <a:pPr>
              <a:buNone/>
            </a:pPr>
            <a:r>
              <a:rPr lang="en-US" altLang="zh-CN" sz="2000" dirty="0"/>
              <a:t>	Instead of </a:t>
            </a:r>
            <a:r>
              <a:rPr lang="en-US" altLang="zh-CN" sz="2000" i="1" dirty="0"/>
              <a:t>earnings </a:t>
            </a:r>
            <a:r>
              <a:rPr lang="en-US" altLang="zh-CN" sz="2000" dirty="0"/>
              <a:t>(</a:t>
            </a:r>
            <a:r>
              <a:rPr lang="en-US" altLang="zh-CN" sz="2000" i="1" dirty="0"/>
              <a:t>company_id, year, amount </a:t>
            </a:r>
            <a:r>
              <a:rPr lang="en-US" altLang="zh-CN" sz="2000" dirty="0"/>
              <a:t>), use </a:t>
            </a:r>
          </a:p>
          <a:p>
            <a:pPr lvl="1"/>
            <a:r>
              <a:rPr lang="en-US" altLang="zh-CN" sz="2000" i="1" dirty="0"/>
              <a:t>earnings_2004, earnings_2005, earnings_2006</a:t>
            </a:r>
            <a:r>
              <a:rPr lang="en-US" altLang="zh-CN" sz="2000" dirty="0"/>
              <a:t>, etc., all on the schema (</a:t>
            </a:r>
            <a:r>
              <a:rPr lang="en-US" altLang="zh-CN" sz="2000" i="1" dirty="0"/>
              <a:t>company_id, earnings</a:t>
            </a:r>
            <a:r>
              <a:rPr lang="en-US" altLang="zh-CN" sz="2000" dirty="0"/>
              <a:t>).</a:t>
            </a:r>
          </a:p>
          <a:p>
            <a:pPr lvl="2"/>
            <a:r>
              <a:rPr lang="en-US" altLang="zh-CN" sz="2000" dirty="0"/>
              <a:t>Above are in BCNF, but make querying across years difficult and needs new table each year</a:t>
            </a:r>
          </a:p>
          <a:p>
            <a:pPr lvl="1"/>
            <a:r>
              <a:rPr lang="en-US" altLang="zh-CN" sz="2000" i="1" dirty="0"/>
              <a:t>company_year </a:t>
            </a:r>
            <a:r>
              <a:rPr lang="en-US" altLang="zh-CN" sz="2000" dirty="0"/>
              <a:t>(</a:t>
            </a:r>
            <a:r>
              <a:rPr lang="en-US" altLang="zh-CN" sz="2000" i="1" dirty="0"/>
              <a:t>company_id, earnings_2004, earnings_2005,  </a:t>
            </a:r>
            <a:br>
              <a:rPr lang="en-US" altLang="zh-CN" sz="2000" i="1" dirty="0"/>
            </a:br>
            <a:r>
              <a:rPr lang="en-US" altLang="zh-CN" sz="2000" i="1" dirty="0"/>
              <a:t>                         earnings_2006</a:t>
            </a:r>
            <a:r>
              <a:rPr lang="en-US" altLang="zh-CN" sz="2000" dirty="0"/>
              <a:t>)</a:t>
            </a:r>
          </a:p>
          <a:p>
            <a:pPr lvl="2"/>
            <a:r>
              <a:rPr lang="en-US" altLang="zh-CN" sz="2000" dirty="0"/>
              <a:t>Also in BCNF, but also makes querying across years difficult and requires new attribute each year.</a:t>
            </a:r>
          </a:p>
          <a:p>
            <a:pPr lvl="2"/>
            <a:r>
              <a:rPr lang="en-US" altLang="zh-CN" sz="2000" dirty="0"/>
              <a:t>Is an example of a </a:t>
            </a:r>
            <a:r>
              <a:rPr lang="en-US" altLang="zh-CN" sz="2000" b="1" dirty="0"/>
              <a:t>crosstab</a:t>
            </a:r>
            <a:r>
              <a:rPr lang="en-US" altLang="zh-CN" sz="2000" dirty="0"/>
              <a:t>, where values for one attribute become column names</a:t>
            </a:r>
          </a:p>
          <a:p>
            <a:pPr lvl="2"/>
            <a:r>
              <a:rPr lang="en-US" altLang="zh-CN" sz="2000" dirty="0"/>
              <a:t>Used in spreadsheets, and in data analysis tools</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7698"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Modeling Temporal Data</a:t>
            </a:r>
          </a:p>
        </p:txBody>
      </p:sp>
      <p:sp>
        <p:nvSpPr>
          <p:cNvPr id="174082" name="Rectangle 3"/>
          <p:cNvSpPr>
            <a:spLocks noGrp="1"/>
          </p:cNvSpPr>
          <p:nvPr>
            <p:ph idx="1"/>
          </p:nvPr>
        </p:nvSpPr>
        <p:spPr>
          <a:xfrm>
            <a:off x="158750" y="1094105"/>
            <a:ext cx="8317230" cy="4903470"/>
          </a:xfrm>
        </p:spPr>
        <p:txBody>
          <a:bodyPr wrap="square" lIns="91440" tIns="45720" rIns="91440" bIns="45720" anchor="t"/>
          <a:lstStyle/>
          <a:p>
            <a:pPr>
              <a:lnSpc>
                <a:spcPct val="90000"/>
              </a:lnSpc>
            </a:pPr>
            <a:r>
              <a:rPr lang="en-US" altLang="zh-CN" sz="2000" b="1" dirty="0">
                <a:solidFill>
                  <a:srgbClr val="000099"/>
                </a:solidFill>
              </a:rPr>
              <a:t>Temporal data</a:t>
            </a:r>
            <a:r>
              <a:rPr lang="en-US" altLang="zh-CN" sz="2000" dirty="0"/>
              <a:t> have an association time interval during which the data are </a:t>
            </a:r>
            <a:r>
              <a:rPr lang="en-US" altLang="zh-CN" sz="2000" i="1" dirty="0"/>
              <a:t>valid.</a:t>
            </a:r>
            <a:endParaRPr lang="en-US" altLang="zh-CN" sz="2000" dirty="0"/>
          </a:p>
          <a:p>
            <a:pPr>
              <a:lnSpc>
                <a:spcPct val="90000"/>
              </a:lnSpc>
            </a:pPr>
            <a:r>
              <a:rPr lang="en-US" altLang="zh-CN" sz="2000" dirty="0"/>
              <a:t>A </a:t>
            </a:r>
            <a:r>
              <a:rPr lang="en-US" altLang="zh-CN" sz="2000" b="1" dirty="0">
                <a:solidFill>
                  <a:srgbClr val="000099"/>
                </a:solidFill>
              </a:rPr>
              <a:t>snapshot</a:t>
            </a:r>
            <a:r>
              <a:rPr lang="en-US" altLang="zh-CN" sz="2000" dirty="0"/>
              <a:t> is the value of the data at a particular point in time</a:t>
            </a:r>
          </a:p>
          <a:p>
            <a:pPr>
              <a:lnSpc>
                <a:spcPct val="90000"/>
              </a:lnSpc>
            </a:pPr>
            <a:r>
              <a:rPr lang="en-US" altLang="zh-CN" sz="2000" dirty="0"/>
              <a:t>Several proposals to extend ER model by adding valid time to</a:t>
            </a:r>
          </a:p>
          <a:p>
            <a:pPr lvl="1">
              <a:lnSpc>
                <a:spcPct val="90000"/>
              </a:lnSpc>
            </a:pPr>
            <a:r>
              <a:rPr lang="en-US" altLang="zh-CN" sz="2000" dirty="0"/>
              <a:t>attributes, e.g., address of an instructor at different points in time</a:t>
            </a:r>
          </a:p>
          <a:p>
            <a:pPr lvl="1">
              <a:lnSpc>
                <a:spcPct val="90000"/>
              </a:lnSpc>
            </a:pPr>
            <a:r>
              <a:rPr lang="en-US" altLang="zh-CN" sz="2000" dirty="0"/>
              <a:t>entities, e.g., time duration when a student entity exists</a:t>
            </a:r>
          </a:p>
          <a:p>
            <a:pPr lvl="1">
              <a:lnSpc>
                <a:spcPct val="90000"/>
              </a:lnSpc>
            </a:pPr>
            <a:r>
              <a:rPr lang="en-US" altLang="zh-CN" sz="2000" dirty="0"/>
              <a:t>relationships, e.g., time during which an instructor was associated with a student as an advisor.</a:t>
            </a:r>
          </a:p>
          <a:p>
            <a:pPr>
              <a:lnSpc>
                <a:spcPct val="90000"/>
              </a:lnSpc>
            </a:pPr>
            <a:r>
              <a:rPr lang="en-US" altLang="zh-CN" sz="2000" dirty="0"/>
              <a:t>But no accepted standard</a:t>
            </a:r>
          </a:p>
          <a:p>
            <a:pPr>
              <a:lnSpc>
                <a:spcPct val="90000"/>
              </a:lnSpc>
            </a:pPr>
            <a:r>
              <a:rPr lang="en-US" altLang="zh-CN" sz="2000" dirty="0"/>
              <a:t>Adding a temporal component results in functional dependencies like</a:t>
            </a:r>
          </a:p>
          <a:p>
            <a:pPr>
              <a:lnSpc>
                <a:spcPct val="90000"/>
              </a:lnSpc>
              <a:buNone/>
            </a:pPr>
            <a:r>
              <a:rPr lang="en-US" altLang="zh-CN" sz="2000" i="1" dirty="0"/>
              <a:t>		ID </a:t>
            </a:r>
            <a:r>
              <a:rPr lang="en-US" altLang="zh-CN" sz="2000" dirty="0">
                <a:sym typeface="Symbol" panose="05050102010706020507" charset="2"/>
              </a:rPr>
              <a:t></a:t>
            </a:r>
            <a:r>
              <a:rPr lang="en-US" altLang="zh-CN" sz="2000" i="1" dirty="0"/>
              <a:t> street, city</a:t>
            </a:r>
          </a:p>
          <a:p>
            <a:pPr>
              <a:lnSpc>
                <a:spcPct val="90000"/>
              </a:lnSpc>
              <a:buNone/>
            </a:pPr>
            <a:r>
              <a:rPr lang="en-US" altLang="zh-CN" sz="2000" dirty="0"/>
              <a:t>	not to hold, because the address varies over time</a:t>
            </a:r>
          </a:p>
          <a:p>
            <a:pPr>
              <a:lnSpc>
                <a:spcPct val="90000"/>
              </a:lnSpc>
            </a:pPr>
            <a:r>
              <a:rPr lang="en-US" altLang="zh-CN" sz="2000" dirty="0"/>
              <a:t>A </a:t>
            </a:r>
            <a:r>
              <a:rPr lang="en-US" altLang="zh-CN" sz="2000" b="1" dirty="0">
                <a:solidFill>
                  <a:srgbClr val="000099"/>
                </a:solidFill>
              </a:rPr>
              <a:t>temporal functional dependency</a:t>
            </a:r>
            <a:r>
              <a:rPr lang="en-US" altLang="zh-CN" sz="2000" i="1" dirty="0"/>
              <a:t>  </a:t>
            </a:r>
            <a:r>
              <a:rPr lang="en-US" altLang="zh-CN" sz="2000" dirty="0"/>
              <a:t>X </a:t>
            </a:r>
            <a:r>
              <a:rPr lang="en-US" altLang="zh-CN" sz="2000" dirty="0">
                <a:sym typeface="Wingdings" panose="05000000000000000000" pitchFamily="2" charset="2"/>
              </a:rPr>
              <a:t> Y </a:t>
            </a:r>
            <a:r>
              <a:rPr lang="en-US" altLang="zh-CN" sz="2000" dirty="0"/>
              <a:t>holds on schema </a:t>
            </a:r>
            <a:r>
              <a:rPr lang="en-US" altLang="zh-CN" sz="2000" i="1" dirty="0"/>
              <a:t>R</a:t>
            </a:r>
            <a:r>
              <a:rPr lang="en-US" altLang="zh-CN" sz="2000" dirty="0"/>
              <a:t> if the functional dependency X </a:t>
            </a:r>
            <a:r>
              <a:rPr lang="en-US" altLang="zh-CN" sz="2000" dirty="0">
                <a:sym typeface="Wingdings" panose="05000000000000000000" pitchFamily="2" charset="2"/>
              </a:rPr>
              <a:t> Y </a:t>
            </a:r>
            <a:r>
              <a:rPr lang="en-US" altLang="zh-CN" sz="2000" dirty="0"/>
              <a:t>holds on all snapshots for all legal instances r (</a:t>
            </a:r>
            <a:r>
              <a:rPr lang="en-US" altLang="zh-CN" sz="2000" i="1" dirty="0"/>
              <a:t>R</a:t>
            </a:r>
            <a:r>
              <a:rPr lang="en-US" altLang="zh-CN" sz="2000" dirty="0"/>
              <a:t>).</a:t>
            </a:r>
          </a:p>
          <a:p>
            <a:pPr>
              <a:lnSpc>
                <a:spcPct val="90000"/>
              </a:lnSpc>
            </a:pPr>
            <a:endParaRPr lang="en-US" altLang="zh-CN" sz="2000" dirty="0"/>
          </a:p>
          <a:p>
            <a:pPr>
              <a:lnSpc>
                <a:spcPct val="90000"/>
              </a:lnSpc>
              <a:buNone/>
            </a:pPr>
            <a:endParaRPr lang="zh-CN" altLang="en-US" sz="2000" dirty="0"/>
          </a:p>
        </p:txBody>
      </p:sp>
      <p:sp>
        <p:nvSpPr>
          <p:cNvPr id="174083" name="Text Box 4"/>
          <p:cNvSpPr txBox="1"/>
          <p:nvPr/>
        </p:nvSpPr>
        <p:spPr>
          <a:xfrm>
            <a:off x="5089525" y="3117850"/>
            <a:ext cx="273050" cy="336550"/>
          </a:xfrm>
          <a:prstGeom prst="rect">
            <a:avLst/>
          </a:prstGeom>
          <a:noFill/>
          <a:ln w="9525">
            <a:noFill/>
          </a:ln>
        </p:spPr>
        <p:txBody>
          <a:bodyPr wrap="none" anchor="t">
            <a:spAutoFit/>
          </a:bodyPr>
          <a:lstStyle/>
          <a:p>
            <a:pPr eaLnBrk="0" hangingPunct="0"/>
            <a:r>
              <a:rPr lang="en-US" altLang="zh-CN">
                <a:latin typeface="Greek Symbols" charset="0"/>
              </a:rPr>
              <a:t>t</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9746"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Modeling Temporal Data (Cont.)</a:t>
            </a:r>
          </a:p>
        </p:txBody>
      </p:sp>
      <p:sp>
        <p:nvSpPr>
          <p:cNvPr id="176130" name="Rectangle 3"/>
          <p:cNvSpPr>
            <a:spLocks noGrp="1"/>
          </p:cNvSpPr>
          <p:nvPr>
            <p:ph idx="1"/>
          </p:nvPr>
        </p:nvSpPr>
        <p:spPr/>
        <p:txBody>
          <a:bodyPr wrap="square" lIns="91440" tIns="45720" rIns="91440" bIns="45720" anchor="t"/>
          <a:lstStyle/>
          <a:p>
            <a:r>
              <a:rPr lang="en-US" altLang="zh-CN" sz="2000" dirty="0"/>
              <a:t>In practice, database designers may add start and end time attributes to relations</a:t>
            </a:r>
          </a:p>
          <a:p>
            <a:pPr lvl="1"/>
            <a:r>
              <a:rPr lang="en-US" altLang="zh-CN" sz="2000" dirty="0"/>
              <a:t>E.g., </a:t>
            </a:r>
            <a:r>
              <a:rPr lang="en-US" altLang="zh-CN" sz="2000" i="1" dirty="0"/>
              <a:t>course</a:t>
            </a:r>
            <a:r>
              <a:rPr lang="en-US" altLang="zh-CN" sz="2000" dirty="0"/>
              <a:t>(</a:t>
            </a:r>
            <a:r>
              <a:rPr lang="en-US" altLang="zh-CN" sz="2000" i="1" dirty="0"/>
              <a:t>course_id, course_title</a:t>
            </a:r>
            <a:r>
              <a:rPr lang="en-US" altLang="zh-CN" sz="2000" dirty="0"/>
              <a:t>) </a:t>
            </a:r>
            <a:r>
              <a:rPr lang="en-US" altLang="zh-CN" sz="2000" dirty="0">
                <a:sym typeface="Wingdings" panose="05000000000000000000" pitchFamily="2" charset="2"/>
              </a:rPr>
              <a:t>is replaced by</a:t>
            </a:r>
            <a:endParaRPr lang="en-US" altLang="zh-CN" sz="2000" dirty="0"/>
          </a:p>
          <a:p>
            <a:pPr lvl="2">
              <a:buNone/>
            </a:pPr>
            <a:r>
              <a:rPr lang="en-US" altLang="zh-CN" sz="2000" i="1" dirty="0"/>
              <a:t>     course</a:t>
            </a:r>
            <a:r>
              <a:rPr lang="en-US" altLang="zh-CN" sz="2000" dirty="0"/>
              <a:t>(</a:t>
            </a:r>
            <a:r>
              <a:rPr lang="en-US" altLang="zh-CN" sz="2000" i="1" dirty="0"/>
              <a:t>course_id, course_title, start, end</a:t>
            </a:r>
            <a:r>
              <a:rPr lang="en-US" altLang="zh-CN" sz="2000" dirty="0"/>
              <a:t>)</a:t>
            </a:r>
          </a:p>
          <a:p>
            <a:pPr lvl="2"/>
            <a:r>
              <a:rPr lang="en-US" altLang="zh-CN" sz="2000" dirty="0"/>
              <a:t>Constraint: no two tuples can have overlapping valid times</a:t>
            </a:r>
          </a:p>
          <a:p>
            <a:pPr lvl="3"/>
            <a:r>
              <a:rPr lang="en-US" altLang="zh-CN" sz="2000" dirty="0"/>
              <a:t>Hard to enforce efficiently</a:t>
            </a:r>
          </a:p>
          <a:p>
            <a:r>
              <a:rPr lang="en-US" altLang="zh-CN" sz="2000" dirty="0"/>
              <a:t>Foreign key references may be to current version of data, or to data at a point in time</a:t>
            </a:r>
          </a:p>
          <a:p>
            <a:pPr lvl="1"/>
            <a:r>
              <a:rPr lang="en-US" altLang="zh-CN" sz="2000" dirty="0"/>
              <a:t>E.g., student transcript should refer to course information at the time the course was taken</a:t>
            </a:r>
          </a:p>
          <a:p>
            <a:pPr lvl="1">
              <a:buNone/>
            </a:pPr>
            <a:endParaRPr lang="en-US" altLang="zh-CN" sz="20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1794" name="Rectangle 2"/>
          <p:cNvSpPr>
            <a:spLocks noGrp="1" noChangeArrowheads="1"/>
          </p:cNvSpPr>
          <p:nvPr>
            <p:ph type="ctr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rgbClr val="CC3300"/>
                </a:solidFill>
                <a:effectLst>
                  <a:outerShdw blurRad="38100" dist="38100" dir="2700000">
                    <a:srgbClr val="C0C0C0"/>
                  </a:outerShdw>
                </a:effectLst>
                <a:latin typeface="Arial" panose="020B0604020202020204"/>
                <a:ea typeface="+mj-ea"/>
                <a:cs typeface="Arial" panose="020B0604020202020204"/>
              </a:rPr>
              <a:t>End of Chapter</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3842" name="Rectangle 2"/>
          <p:cNvSpPr>
            <a:spLocks noGrp="1" noChangeArrowheads="1"/>
          </p:cNvSpPr>
          <p:nvPr>
            <p:ph type="ctr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rgbClr val="CC3300"/>
                </a:solidFill>
                <a:effectLst>
                  <a:outerShdw blurRad="38100" dist="38100" dir="2700000">
                    <a:srgbClr val="C0C0C0"/>
                  </a:outerShdw>
                </a:effectLst>
                <a:latin typeface="Arial" panose="020B0604020202020204"/>
                <a:ea typeface="+mj-ea"/>
                <a:cs typeface="Arial" panose="020B0604020202020204"/>
              </a:rPr>
              <a:t>Proof of Correctness of 3NF Decomposition Algorithm</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5890" name="Rectangle 2"/>
          <p:cNvSpPr>
            <a:spLocks noGrp="1" noChangeArrowheads="1"/>
          </p:cNvSpPr>
          <p:nvPr>
            <p:ph type="title"/>
          </p:nvPr>
        </p:nvSpPr>
        <p:spPr>
          <a:xfrm>
            <a:off x="533400" y="-7937"/>
            <a:ext cx="8077200" cy="10668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Correctness of 3NF Decomposition Algorithm</a:t>
            </a:r>
          </a:p>
        </p:txBody>
      </p:sp>
      <p:sp>
        <p:nvSpPr>
          <p:cNvPr id="182274" name="Rectangle 3"/>
          <p:cNvSpPr>
            <a:spLocks noGrp="1"/>
          </p:cNvSpPr>
          <p:nvPr>
            <p:ph idx="1"/>
          </p:nvPr>
        </p:nvSpPr>
        <p:spPr>
          <a:xfrm>
            <a:off x="774700" y="1420813"/>
            <a:ext cx="7543800" cy="3086100"/>
          </a:xfrm>
        </p:spPr>
        <p:txBody>
          <a:bodyPr wrap="square" lIns="91440" tIns="45720" rIns="91440" bIns="45720" anchor="t"/>
          <a:lstStyle/>
          <a:p>
            <a:r>
              <a:rPr lang="en-US" altLang="zh-CN" sz="2400" dirty="0"/>
              <a:t>3NF decomposition algorithm is dependency preserving (since there is a relation for every FD in </a:t>
            </a:r>
            <a:r>
              <a:rPr lang="en-US" altLang="zh-CN" sz="2400" i="1" dirty="0"/>
              <a:t>F</a:t>
            </a:r>
            <a:r>
              <a:rPr lang="en-US" altLang="zh-CN" sz="2400" i="1" baseline="-25000" dirty="0"/>
              <a:t>c</a:t>
            </a:r>
            <a:r>
              <a:rPr lang="en-US" altLang="zh-CN" sz="2400" dirty="0"/>
              <a:t>)</a:t>
            </a:r>
          </a:p>
          <a:p>
            <a:r>
              <a:rPr lang="en-US" altLang="zh-CN" sz="2400" dirty="0"/>
              <a:t>Decomposition is lossless</a:t>
            </a:r>
          </a:p>
          <a:p>
            <a:pPr lvl="1"/>
            <a:r>
              <a:rPr lang="en-US" altLang="zh-CN" sz="2400" dirty="0"/>
              <a:t>A candidate key (</a:t>
            </a:r>
            <a:r>
              <a:rPr lang="en-US" altLang="zh-CN" sz="2400" i="1" dirty="0"/>
              <a:t>C </a:t>
            </a:r>
            <a:r>
              <a:rPr lang="en-US" altLang="zh-CN" sz="2400" dirty="0"/>
              <a:t>) is in one of the relations </a:t>
            </a:r>
            <a:r>
              <a:rPr lang="en-US" altLang="zh-CN" sz="2400" i="1" dirty="0"/>
              <a:t>R</a:t>
            </a:r>
            <a:r>
              <a:rPr lang="en-US" altLang="zh-CN" sz="2400" i="1" baseline="-25000" dirty="0"/>
              <a:t>i</a:t>
            </a:r>
            <a:r>
              <a:rPr lang="en-US" altLang="zh-CN" sz="2400" dirty="0"/>
              <a:t> in decomposition</a:t>
            </a:r>
          </a:p>
          <a:p>
            <a:pPr lvl="1"/>
            <a:r>
              <a:rPr lang="en-US" altLang="zh-CN" sz="2400" dirty="0"/>
              <a:t>Closure of candidate key under </a:t>
            </a:r>
            <a:r>
              <a:rPr lang="en-US" altLang="zh-CN" sz="2400" i="1" dirty="0"/>
              <a:t>F</a:t>
            </a:r>
            <a:r>
              <a:rPr lang="en-US" altLang="zh-CN" sz="2400" i="1" baseline="-25000" dirty="0"/>
              <a:t>c</a:t>
            </a:r>
            <a:r>
              <a:rPr lang="en-US" altLang="zh-CN" sz="2400" dirty="0"/>
              <a:t> must contain all attributes in </a:t>
            </a:r>
            <a:r>
              <a:rPr lang="en-US" altLang="zh-CN" sz="2400" i="1" dirty="0"/>
              <a:t>R</a:t>
            </a:r>
            <a:r>
              <a:rPr lang="en-US" altLang="zh-CN" sz="2400" dirty="0"/>
              <a:t>.  </a:t>
            </a:r>
          </a:p>
          <a:p>
            <a:pPr lvl="1"/>
            <a:r>
              <a:rPr lang="en-US" altLang="zh-CN" sz="2400" dirty="0"/>
              <a:t>Follow the steps of attribute closure algorithm to show there is only one tuple in the join result for each tuple in</a:t>
            </a:r>
            <a:r>
              <a:rPr lang="en-US" altLang="zh-CN" sz="2400" i="1" dirty="0"/>
              <a:t> R</a:t>
            </a:r>
            <a:r>
              <a:rPr lang="en-US" altLang="zh-CN" sz="2400" i="1" baseline="-25000" dirty="0"/>
              <a:t>i</a:t>
            </a:r>
            <a:endParaRPr lang="en-US" altLang="zh-CN" sz="24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7938" name="Rectangle 2"/>
          <p:cNvSpPr>
            <a:spLocks noGrp="1" noChangeArrowheads="1"/>
          </p:cNvSpPr>
          <p:nvPr>
            <p:ph type="title"/>
          </p:nvPr>
        </p:nvSpPr>
        <p:spPr>
          <a:xfrm>
            <a:off x="552450" y="0"/>
            <a:ext cx="8077200" cy="10668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Correctness of 3NF Decomposition Algorithm (Cont</a:t>
            </a:r>
            <a:r>
              <a:rPr kumimoji="1" lang="zh-CN" altLang="en-US"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a:t>
            </a: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d.)</a:t>
            </a:r>
          </a:p>
        </p:txBody>
      </p:sp>
      <p:sp>
        <p:nvSpPr>
          <p:cNvPr id="184322" name="Rectangle 3"/>
          <p:cNvSpPr>
            <a:spLocks noGrp="1"/>
          </p:cNvSpPr>
          <p:nvPr>
            <p:ph idx="1"/>
          </p:nvPr>
        </p:nvSpPr>
        <p:spPr>
          <a:xfrm>
            <a:off x="927100" y="1487488"/>
            <a:ext cx="7889875" cy="3028950"/>
          </a:xfrm>
        </p:spPr>
        <p:txBody>
          <a:bodyPr wrap="square" lIns="91440" tIns="45720" rIns="91440" bIns="45720" anchor="t"/>
          <a:lstStyle/>
          <a:p>
            <a:pPr>
              <a:buNone/>
            </a:pPr>
            <a:r>
              <a:rPr lang="en-US" altLang="zh-CN" sz="2400" dirty="0"/>
              <a:t>Claim: if a relation </a:t>
            </a:r>
            <a:r>
              <a:rPr lang="en-US" altLang="zh-CN" sz="2400" i="1" dirty="0"/>
              <a:t>R</a:t>
            </a:r>
            <a:r>
              <a:rPr lang="en-US" altLang="zh-CN" sz="2400" i="1" baseline="-25000" dirty="0"/>
              <a:t>i</a:t>
            </a:r>
            <a:r>
              <a:rPr lang="en-US" altLang="zh-CN" sz="2400" dirty="0"/>
              <a:t> is in the decomposition generated by the </a:t>
            </a:r>
          </a:p>
          <a:p>
            <a:pPr>
              <a:buNone/>
            </a:pPr>
            <a:r>
              <a:rPr lang="en-US" altLang="zh-CN" sz="2400" dirty="0"/>
              <a:t>above algorithm, then </a:t>
            </a:r>
            <a:r>
              <a:rPr lang="en-US" altLang="zh-CN" sz="2400" i="1" dirty="0"/>
              <a:t>R</a:t>
            </a:r>
            <a:r>
              <a:rPr lang="en-US" altLang="zh-CN" sz="2400" i="1" baseline="-25000" dirty="0"/>
              <a:t>i</a:t>
            </a:r>
            <a:r>
              <a:rPr lang="en-US" altLang="zh-CN" sz="2400" dirty="0"/>
              <a:t> satisfies 3NF.</a:t>
            </a:r>
          </a:p>
          <a:p>
            <a:r>
              <a:rPr lang="en-US" altLang="zh-CN" sz="2400" dirty="0"/>
              <a:t>Let </a:t>
            </a:r>
            <a:r>
              <a:rPr lang="en-US" altLang="zh-CN" sz="2400" i="1" dirty="0"/>
              <a:t>R</a:t>
            </a:r>
            <a:r>
              <a:rPr lang="en-US" altLang="zh-CN" sz="2400" i="1" baseline="-25000" dirty="0"/>
              <a:t>i</a:t>
            </a:r>
            <a:r>
              <a:rPr lang="en-US" altLang="zh-CN" sz="2400" dirty="0"/>
              <a:t> be generated from the dependency </a:t>
            </a:r>
            <a:r>
              <a:rPr lang="en-US" altLang="zh-CN" sz="2400" dirty="0">
                <a:sym typeface="Symbol" panose="05050102010706020507" charset="2"/>
              </a:rPr>
              <a:t>  </a:t>
            </a:r>
            <a:endParaRPr lang="en-US" altLang="zh-CN" sz="2400" dirty="0"/>
          </a:p>
          <a:p>
            <a:r>
              <a:rPr lang="en-US" altLang="zh-CN" sz="2400" dirty="0"/>
              <a:t>Let </a:t>
            </a:r>
            <a:r>
              <a:rPr lang="en-US" altLang="zh-CN" sz="2400" dirty="0">
                <a:sym typeface="Symbol" panose="05050102010706020507" charset="2"/>
              </a:rPr>
              <a:t>  B </a:t>
            </a:r>
            <a:r>
              <a:rPr lang="en-US" altLang="zh-CN" sz="2400" dirty="0"/>
              <a:t>be any non-trivial functional dependency on </a:t>
            </a:r>
            <a:r>
              <a:rPr lang="en-US" altLang="zh-CN" sz="2400" i="1" dirty="0"/>
              <a:t>R</a:t>
            </a:r>
            <a:r>
              <a:rPr lang="en-US" altLang="zh-CN" sz="2400" i="1" baseline="-25000" dirty="0"/>
              <a:t>i</a:t>
            </a:r>
            <a:r>
              <a:rPr lang="en-US" altLang="zh-CN" sz="2400" dirty="0"/>
              <a:t>. (We need only consider FDs whose right-hand side is a single attribute.)</a:t>
            </a:r>
          </a:p>
          <a:p>
            <a:r>
              <a:rPr lang="en-US" altLang="zh-CN" sz="2400" dirty="0"/>
              <a:t>Now, </a:t>
            </a:r>
            <a:r>
              <a:rPr lang="en-US" altLang="zh-CN" sz="2400" i="1" dirty="0"/>
              <a:t>B</a:t>
            </a:r>
            <a:r>
              <a:rPr lang="en-US" altLang="zh-CN" sz="2400" dirty="0"/>
              <a:t> can be in either </a:t>
            </a:r>
            <a:r>
              <a:rPr lang="en-US" altLang="zh-CN" sz="2400" dirty="0">
                <a:sym typeface="Symbol" panose="05050102010706020507" charset="2"/>
              </a:rPr>
              <a:t> </a:t>
            </a:r>
            <a:r>
              <a:rPr lang="en-US" altLang="zh-CN" sz="2400" dirty="0"/>
              <a:t>or </a:t>
            </a:r>
            <a:r>
              <a:rPr lang="en-US" altLang="zh-CN" sz="2400" dirty="0">
                <a:sym typeface="Symbol" panose="05050102010706020507" charset="2"/>
              </a:rPr>
              <a:t> </a:t>
            </a:r>
            <a:r>
              <a:rPr lang="en-US" altLang="zh-CN" sz="2400" dirty="0"/>
              <a:t>but not in both. Consider each case separately.</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986" name="Rectangle 2"/>
          <p:cNvSpPr>
            <a:spLocks noGrp="1" noChangeArrowheads="1"/>
          </p:cNvSpPr>
          <p:nvPr>
            <p:ph type="title"/>
          </p:nvPr>
        </p:nvSpPr>
        <p:spPr>
          <a:xfrm>
            <a:off x="533400" y="-123825"/>
            <a:ext cx="8077200" cy="11811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Correctness of 3NF Decomposition (Cont</a:t>
            </a:r>
            <a:r>
              <a:rPr kumimoji="1" lang="zh-CN" altLang="en-US"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a:t>
            </a: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d.)</a:t>
            </a:r>
          </a:p>
        </p:txBody>
      </p:sp>
      <p:sp>
        <p:nvSpPr>
          <p:cNvPr id="186370" name="Rectangle 3"/>
          <p:cNvSpPr>
            <a:spLocks noGrp="1"/>
          </p:cNvSpPr>
          <p:nvPr>
            <p:ph idx="1"/>
          </p:nvPr>
        </p:nvSpPr>
        <p:spPr>
          <a:xfrm>
            <a:off x="927100" y="1178878"/>
            <a:ext cx="7848600" cy="4876800"/>
          </a:xfrm>
        </p:spPr>
        <p:txBody>
          <a:bodyPr wrap="square" lIns="91440" tIns="45720" rIns="91440" bIns="45720" anchor="t"/>
          <a:lstStyle/>
          <a:p>
            <a:r>
              <a:rPr lang="en-US" altLang="zh-CN" sz="2000" dirty="0"/>
              <a:t>Case 1: If </a:t>
            </a:r>
            <a:r>
              <a:rPr lang="en-US" altLang="zh-CN" sz="2000" i="1" dirty="0"/>
              <a:t>B</a:t>
            </a:r>
            <a:r>
              <a:rPr lang="en-US" altLang="zh-CN" sz="2000" dirty="0"/>
              <a:t> in </a:t>
            </a:r>
            <a:r>
              <a:rPr lang="en-US" altLang="zh-CN" sz="2000" dirty="0">
                <a:sym typeface="Symbol" panose="05050102010706020507" charset="2"/>
              </a:rPr>
              <a:t></a:t>
            </a:r>
            <a:r>
              <a:rPr lang="en-US" altLang="zh-CN" sz="2000" dirty="0"/>
              <a:t>:</a:t>
            </a:r>
          </a:p>
          <a:p>
            <a:pPr lvl="1"/>
            <a:r>
              <a:rPr lang="en-US" altLang="zh-CN" sz="2000" dirty="0"/>
              <a:t>If </a:t>
            </a:r>
            <a:r>
              <a:rPr lang="en-US" altLang="zh-CN" sz="2000" dirty="0">
                <a:sym typeface="Symbol" panose="05050102010706020507" charset="2"/>
              </a:rPr>
              <a:t></a:t>
            </a:r>
            <a:r>
              <a:rPr lang="en-US" altLang="zh-CN" sz="2000" dirty="0"/>
              <a:t> is a superkey, the 2nd condition of 3NF is satisfied</a:t>
            </a:r>
          </a:p>
          <a:p>
            <a:pPr lvl="1"/>
            <a:r>
              <a:rPr lang="en-US" altLang="zh-CN" sz="2000" dirty="0"/>
              <a:t>Otherwise </a:t>
            </a:r>
            <a:r>
              <a:rPr lang="en-US" altLang="zh-CN" sz="2000" dirty="0">
                <a:sym typeface="Symbol" panose="05050102010706020507" charset="2"/>
              </a:rPr>
              <a:t></a:t>
            </a:r>
            <a:r>
              <a:rPr lang="en-US" altLang="zh-CN" sz="2000" dirty="0"/>
              <a:t> must contain some attribute not in </a:t>
            </a:r>
            <a:r>
              <a:rPr lang="en-US" altLang="zh-CN" sz="2000" dirty="0">
                <a:sym typeface="Symbol" panose="05050102010706020507" charset="2"/>
              </a:rPr>
              <a:t></a:t>
            </a:r>
            <a:endParaRPr lang="en-US" altLang="zh-CN" sz="2000" dirty="0"/>
          </a:p>
          <a:p>
            <a:pPr lvl="1"/>
            <a:r>
              <a:rPr lang="en-US" altLang="zh-CN" sz="2000" dirty="0"/>
              <a:t>Since </a:t>
            </a:r>
            <a:r>
              <a:rPr lang="en-US" altLang="zh-CN" sz="2000" dirty="0">
                <a:sym typeface="Symbol" panose="05050102010706020507" charset="2"/>
              </a:rPr>
              <a:t></a:t>
            </a:r>
            <a:r>
              <a:rPr lang="en-US" altLang="zh-CN" sz="2000" dirty="0"/>
              <a:t> </a:t>
            </a:r>
            <a:r>
              <a:rPr lang="en-US" altLang="zh-CN" sz="2000" dirty="0">
                <a:sym typeface="Symbol" panose="05050102010706020507" charset="2"/>
              </a:rPr>
              <a:t></a:t>
            </a:r>
            <a:r>
              <a:rPr lang="en-US" altLang="zh-CN" sz="2000" dirty="0"/>
              <a:t> </a:t>
            </a:r>
            <a:r>
              <a:rPr lang="en-US" altLang="zh-CN" sz="2000" i="1" dirty="0"/>
              <a:t>B</a:t>
            </a:r>
            <a:r>
              <a:rPr lang="en-US" altLang="zh-CN" sz="2000" dirty="0"/>
              <a:t> is in </a:t>
            </a:r>
            <a:r>
              <a:rPr lang="en-US" altLang="zh-CN" sz="2000" i="1" dirty="0"/>
              <a:t>F</a:t>
            </a:r>
            <a:r>
              <a:rPr lang="en-US" altLang="zh-CN" sz="2000" i="1" baseline="30000" dirty="0"/>
              <a:t>+</a:t>
            </a:r>
            <a:r>
              <a:rPr lang="en-US" altLang="zh-CN" sz="2000" dirty="0"/>
              <a:t> it must be derivable from </a:t>
            </a:r>
            <a:r>
              <a:rPr lang="en-US" altLang="zh-CN" sz="2000" i="1" dirty="0"/>
              <a:t>F</a:t>
            </a:r>
            <a:r>
              <a:rPr lang="en-US" altLang="zh-CN" sz="2000" i="1" baseline="-25000" dirty="0"/>
              <a:t>c</a:t>
            </a:r>
            <a:r>
              <a:rPr lang="en-US" altLang="zh-CN" sz="2000" dirty="0"/>
              <a:t>, by using attribute closure on </a:t>
            </a:r>
            <a:r>
              <a:rPr lang="en-US" altLang="zh-CN" sz="2000" dirty="0">
                <a:sym typeface="Symbol" panose="05050102010706020507" charset="2"/>
              </a:rPr>
              <a:t></a:t>
            </a:r>
            <a:r>
              <a:rPr lang="en-US" altLang="zh-CN" sz="2000" dirty="0"/>
              <a:t>.</a:t>
            </a:r>
          </a:p>
          <a:p>
            <a:pPr lvl="1"/>
            <a:r>
              <a:rPr lang="en-US" altLang="zh-CN" sz="2000" dirty="0"/>
              <a:t>Attribute closure not have used </a:t>
            </a:r>
            <a:r>
              <a:rPr lang="en-US" altLang="zh-CN" sz="2000" dirty="0">
                <a:sym typeface="Symbol" panose="05050102010706020507" charset="2"/>
              </a:rPr>
              <a:t> .  If </a:t>
            </a:r>
            <a:r>
              <a:rPr lang="en-US" altLang="zh-CN" sz="2000" dirty="0"/>
              <a:t>it had been used, </a:t>
            </a:r>
            <a:r>
              <a:rPr lang="en-US" altLang="zh-CN" sz="2000" dirty="0">
                <a:sym typeface="Symbol" panose="05050102010706020507" charset="2"/>
              </a:rPr>
              <a:t></a:t>
            </a:r>
            <a:r>
              <a:rPr lang="en-US" altLang="zh-CN" sz="2000" dirty="0"/>
              <a:t> must be contained in the attribute closure of </a:t>
            </a:r>
            <a:r>
              <a:rPr lang="en-US" altLang="zh-CN" sz="2000" dirty="0">
                <a:sym typeface="Symbol" panose="05050102010706020507" charset="2"/>
              </a:rPr>
              <a:t></a:t>
            </a:r>
            <a:r>
              <a:rPr lang="en-US" altLang="zh-CN" sz="2000" dirty="0"/>
              <a:t>, which is not possible, since we assumed </a:t>
            </a:r>
            <a:r>
              <a:rPr lang="en-US" altLang="zh-CN" sz="2000" dirty="0">
                <a:sym typeface="Symbol" panose="05050102010706020507" charset="2"/>
              </a:rPr>
              <a:t></a:t>
            </a:r>
            <a:r>
              <a:rPr lang="en-US" altLang="zh-CN" sz="2000" dirty="0"/>
              <a:t> is not a superkey.</a:t>
            </a:r>
          </a:p>
          <a:p>
            <a:pPr lvl="1"/>
            <a:r>
              <a:rPr lang="en-US" altLang="zh-CN" sz="2000" dirty="0"/>
              <a:t>Now, using </a:t>
            </a:r>
            <a:r>
              <a:rPr lang="en-US" altLang="zh-CN" sz="2000" dirty="0">
                <a:sym typeface="Symbol" panose="05050102010706020507" charset="2"/>
              </a:rPr>
              <a:t></a:t>
            </a:r>
            <a:r>
              <a:rPr lang="en-US" altLang="zh-CN" sz="2000" dirty="0"/>
              <a:t>  (</a:t>
            </a:r>
            <a:r>
              <a:rPr lang="en-US" altLang="zh-CN" sz="2000" dirty="0">
                <a:sym typeface="Symbol" panose="05050102010706020507" charset="2"/>
              </a:rPr>
              <a:t></a:t>
            </a:r>
            <a:r>
              <a:rPr lang="en-US" altLang="zh-CN" sz="2000" dirty="0"/>
              <a:t>- {B}) and </a:t>
            </a:r>
            <a:r>
              <a:rPr lang="en-US" altLang="zh-CN" sz="2000" dirty="0">
                <a:sym typeface="Symbol" panose="05050102010706020507" charset="2"/>
              </a:rPr>
              <a:t></a:t>
            </a:r>
            <a:r>
              <a:rPr lang="en-US" altLang="zh-CN" sz="2000" dirty="0"/>
              <a:t> </a:t>
            </a:r>
            <a:r>
              <a:rPr lang="en-US" altLang="zh-CN" sz="2000" dirty="0">
                <a:sym typeface="Symbol" panose="05050102010706020507" charset="2"/>
              </a:rPr>
              <a:t></a:t>
            </a:r>
            <a:r>
              <a:rPr lang="en-US" altLang="zh-CN" sz="2000" dirty="0"/>
              <a:t> </a:t>
            </a:r>
            <a:r>
              <a:rPr lang="en-US" altLang="zh-CN" sz="2000" i="1" dirty="0"/>
              <a:t>B</a:t>
            </a:r>
            <a:r>
              <a:rPr lang="en-US" altLang="zh-CN" sz="2000" dirty="0"/>
              <a:t>, we can derive </a:t>
            </a:r>
            <a:r>
              <a:rPr lang="en-US" altLang="zh-CN" sz="2000" dirty="0">
                <a:sym typeface="Symbol" panose="05050102010706020507" charset="2"/>
              </a:rPr>
              <a:t> </a:t>
            </a:r>
            <a:r>
              <a:rPr lang="en-US" altLang="zh-CN" sz="2000" i="1" dirty="0">
                <a:sym typeface="Symbol" panose="05050102010706020507" charset="2"/>
              </a:rPr>
              <a:t>B</a:t>
            </a:r>
            <a:endParaRPr lang="en-US" altLang="zh-CN" sz="2000" i="1" dirty="0"/>
          </a:p>
          <a:p>
            <a:pPr lvl="1">
              <a:buNone/>
            </a:pPr>
            <a:r>
              <a:rPr lang="en-US" altLang="zh-CN" sz="2000" dirty="0"/>
              <a:t>	(since </a:t>
            </a:r>
            <a:r>
              <a:rPr lang="en-US" altLang="zh-CN" sz="2000" dirty="0">
                <a:sym typeface="Symbol" panose="05050102010706020507" charset="2"/>
              </a:rPr>
              <a:t>   , and B   since  </a:t>
            </a:r>
            <a:r>
              <a:rPr lang="en-US" altLang="zh-CN" sz="2000" dirty="0"/>
              <a:t> </a:t>
            </a:r>
            <a:r>
              <a:rPr lang="en-US" altLang="zh-CN" sz="2000" i="1" dirty="0"/>
              <a:t>B</a:t>
            </a:r>
            <a:r>
              <a:rPr lang="en-US" altLang="zh-CN" sz="2000" dirty="0"/>
              <a:t> is non-trivial)</a:t>
            </a:r>
          </a:p>
          <a:p>
            <a:pPr lvl="1"/>
            <a:r>
              <a:rPr lang="en-US" altLang="zh-CN" sz="2000" dirty="0"/>
              <a:t>Then, </a:t>
            </a:r>
            <a:r>
              <a:rPr lang="en-US" altLang="zh-CN" sz="2000" i="1" dirty="0"/>
              <a:t>B</a:t>
            </a:r>
            <a:r>
              <a:rPr lang="en-US" altLang="zh-CN" sz="2000" dirty="0"/>
              <a:t> is extraneous in the right-hand side of </a:t>
            </a:r>
            <a:r>
              <a:rPr lang="en-US" altLang="zh-CN" sz="2000" dirty="0">
                <a:sym typeface="Symbol" panose="05050102010706020507" charset="2"/>
              </a:rPr>
              <a:t> ;</a:t>
            </a:r>
            <a:r>
              <a:rPr lang="en-US" altLang="zh-CN" sz="2000" dirty="0"/>
              <a:t> which is not possible since </a:t>
            </a:r>
            <a:r>
              <a:rPr lang="en-US" altLang="zh-CN" sz="2000" dirty="0">
                <a:sym typeface="Symbol" panose="05050102010706020507" charset="2"/>
              </a:rPr>
              <a:t> </a:t>
            </a:r>
            <a:r>
              <a:rPr lang="en-US" altLang="zh-CN" sz="2000" dirty="0"/>
              <a:t> is in F</a:t>
            </a:r>
            <a:r>
              <a:rPr lang="en-US" altLang="zh-CN" sz="2000" baseline="-25000" dirty="0"/>
              <a:t>c</a:t>
            </a:r>
            <a:r>
              <a:rPr lang="en-US" altLang="zh-CN" sz="2000" dirty="0"/>
              <a:t>.</a:t>
            </a:r>
          </a:p>
          <a:p>
            <a:pPr lvl="1"/>
            <a:r>
              <a:rPr lang="en-US" altLang="zh-CN" sz="2000" dirty="0"/>
              <a:t>Thus, if </a:t>
            </a:r>
            <a:r>
              <a:rPr lang="en-US" altLang="zh-CN" sz="2000" i="1" dirty="0"/>
              <a:t>B</a:t>
            </a:r>
            <a:r>
              <a:rPr lang="en-US" altLang="zh-CN" sz="2000" dirty="0"/>
              <a:t> is in </a:t>
            </a:r>
            <a:r>
              <a:rPr lang="en-US" altLang="zh-CN" sz="2000" dirty="0">
                <a:sym typeface="Symbol" panose="05050102010706020507" charset="2"/>
              </a:rPr>
              <a:t></a:t>
            </a:r>
            <a:r>
              <a:rPr lang="en-US" altLang="zh-CN" sz="2000" dirty="0"/>
              <a:t> then </a:t>
            </a:r>
            <a:r>
              <a:rPr lang="en-US" altLang="zh-CN" sz="2000" dirty="0">
                <a:sym typeface="Symbol" panose="05050102010706020507" charset="2"/>
              </a:rPr>
              <a:t></a:t>
            </a:r>
            <a:r>
              <a:rPr lang="en-US" altLang="zh-CN" sz="2000" dirty="0"/>
              <a:t>  must be a superkey, and the second condition of 3NF must be satisfied.</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2034" name="Rectangle 2"/>
          <p:cNvSpPr>
            <a:spLocks noGrp="1" noChangeArrowheads="1"/>
          </p:cNvSpPr>
          <p:nvPr>
            <p:ph type="title"/>
          </p:nvPr>
        </p:nvSpPr>
        <p:spPr>
          <a:xfrm>
            <a:off x="552450" y="47625"/>
            <a:ext cx="8077200" cy="1016000"/>
          </a:xfrm>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Correctness of 3NF Decomposition (Cont</a:t>
            </a:r>
            <a:r>
              <a:rPr kumimoji="1" lang="zh-CN" altLang="en-US"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a:t>
            </a: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d.)</a:t>
            </a:r>
          </a:p>
        </p:txBody>
      </p:sp>
      <p:sp>
        <p:nvSpPr>
          <p:cNvPr id="188418" name="Rectangle 3"/>
          <p:cNvSpPr>
            <a:spLocks noGrp="1"/>
          </p:cNvSpPr>
          <p:nvPr>
            <p:ph idx="1"/>
          </p:nvPr>
        </p:nvSpPr>
        <p:spPr>
          <a:xfrm>
            <a:off x="927100" y="1163638"/>
            <a:ext cx="7848600" cy="2820987"/>
          </a:xfrm>
        </p:spPr>
        <p:txBody>
          <a:bodyPr wrap="square" lIns="91440" tIns="45720" rIns="91440" bIns="45720" anchor="t"/>
          <a:lstStyle/>
          <a:p>
            <a:r>
              <a:rPr lang="en-US" altLang="zh-CN" sz="2400" dirty="0"/>
              <a:t>Case 2:  </a:t>
            </a:r>
            <a:r>
              <a:rPr lang="en-US" altLang="zh-CN" sz="2400" i="1" dirty="0"/>
              <a:t>B</a:t>
            </a:r>
            <a:r>
              <a:rPr lang="en-US" altLang="zh-CN" sz="2400" dirty="0"/>
              <a:t> is in </a:t>
            </a:r>
            <a:r>
              <a:rPr lang="en-US" altLang="zh-CN" sz="2400" dirty="0">
                <a:sym typeface="Symbol" panose="05050102010706020507" charset="2"/>
              </a:rPr>
              <a:t>.</a:t>
            </a:r>
            <a:endParaRPr lang="en-US" altLang="zh-CN" sz="2400" dirty="0"/>
          </a:p>
          <a:p>
            <a:pPr lvl="1"/>
            <a:r>
              <a:rPr lang="en-US" altLang="zh-CN" sz="2400" dirty="0"/>
              <a:t>Since </a:t>
            </a:r>
            <a:r>
              <a:rPr lang="en-US" altLang="zh-CN" sz="2400" dirty="0">
                <a:sym typeface="Symbol" panose="05050102010706020507" charset="2"/>
              </a:rPr>
              <a:t></a:t>
            </a:r>
            <a:r>
              <a:rPr lang="en-US" altLang="zh-CN" sz="2400" dirty="0"/>
              <a:t>  is a candidate key, the third alternative in the definition of 3NF is trivially satisfied.</a:t>
            </a:r>
          </a:p>
          <a:p>
            <a:pPr lvl="1"/>
            <a:r>
              <a:rPr lang="en-US" altLang="zh-CN" sz="2400" dirty="0"/>
              <a:t>In fact, we cannot show that </a:t>
            </a:r>
            <a:r>
              <a:rPr lang="en-US" altLang="zh-CN" sz="2400" dirty="0">
                <a:sym typeface="Symbol" panose="05050102010706020507" charset="2"/>
              </a:rPr>
              <a:t> </a:t>
            </a:r>
            <a:r>
              <a:rPr lang="en-US" altLang="zh-CN" sz="2400" dirty="0"/>
              <a:t>is a superkey.</a:t>
            </a:r>
          </a:p>
          <a:p>
            <a:pPr lvl="1"/>
            <a:r>
              <a:rPr lang="en-US" altLang="zh-CN" sz="2400" dirty="0"/>
              <a:t>This shows exactly why the third alternative is present in the definition of 3NF.</a:t>
            </a:r>
          </a:p>
          <a:p>
            <a:pPr>
              <a:buNone/>
            </a:pPr>
            <a:r>
              <a:rPr lang="en-US" altLang="zh-CN" sz="2400" dirty="0"/>
              <a:t>Q.E.D.</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Figure 8.02</a:t>
            </a:r>
          </a:p>
        </p:txBody>
      </p:sp>
      <p:pic>
        <p:nvPicPr>
          <p:cNvPr id="190466" name="Picture 3" descr="8"/>
          <p:cNvPicPr>
            <a:picLocks noChangeAspect="1"/>
          </p:cNvPicPr>
          <p:nvPr/>
        </p:nvPicPr>
        <p:blipFill>
          <a:blip r:embed="rId3"/>
          <a:stretch>
            <a:fillRect/>
          </a:stretch>
        </p:blipFill>
        <p:spPr>
          <a:xfrm>
            <a:off x="933450" y="1601788"/>
            <a:ext cx="7345363" cy="4405312"/>
          </a:xfrm>
          <a:prstGeom prst="rect">
            <a:avLst/>
          </a:prstGeom>
          <a:noFill/>
          <a:ln w="9525">
            <a:noFill/>
          </a:ln>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8418"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Figure 8.03</a:t>
            </a:r>
          </a:p>
        </p:txBody>
      </p:sp>
      <p:pic>
        <p:nvPicPr>
          <p:cNvPr id="192514" name="Picture 3"/>
          <p:cNvPicPr>
            <a:picLocks noChangeAspect="1"/>
          </p:cNvPicPr>
          <p:nvPr/>
        </p:nvPicPr>
        <p:blipFill>
          <a:blip r:embed="rId3"/>
          <a:stretch>
            <a:fillRect/>
          </a:stretch>
        </p:blipFill>
        <p:spPr>
          <a:xfrm>
            <a:off x="2171700" y="1235075"/>
            <a:ext cx="5630863" cy="5145088"/>
          </a:xfrm>
          <a:prstGeom prst="rect">
            <a:avLst/>
          </a:prstGeom>
          <a:noFill/>
          <a:ln w="9525">
            <a:noFill/>
          </a:ln>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0466"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Figure 8.04</a:t>
            </a:r>
          </a:p>
        </p:txBody>
      </p:sp>
      <p:pic>
        <p:nvPicPr>
          <p:cNvPr id="194562" name="Picture 3" descr="8"/>
          <p:cNvPicPr>
            <a:picLocks noChangeAspect="1"/>
          </p:cNvPicPr>
          <p:nvPr/>
        </p:nvPicPr>
        <p:blipFill>
          <a:blip r:embed="rId3"/>
          <a:stretch>
            <a:fillRect/>
          </a:stretch>
        </p:blipFill>
        <p:spPr>
          <a:xfrm>
            <a:off x="3654425" y="2397125"/>
            <a:ext cx="1833563" cy="2062163"/>
          </a:xfrm>
          <a:prstGeom prst="rect">
            <a:avLst/>
          </a:prstGeom>
          <a:noFill/>
          <a:ln w="9525">
            <a:noFill/>
          </a:ln>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2514"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Figure 8.05</a:t>
            </a:r>
          </a:p>
        </p:txBody>
      </p:sp>
      <p:pic>
        <p:nvPicPr>
          <p:cNvPr id="196610" name="Picture 3" descr="8"/>
          <p:cNvPicPr>
            <a:picLocks noChangeAspect="1"/>
          </p:cNvPicPr>
          <p:nvPr/>
        </p:nvPicPr>
        <p:blipFill>
          <a:blip r:embed="rId3"/>
          <a:stretch>
            <a:fillRect/>
          </a:stretch>
        </p:blipFill>
        <p:spPr>
          <a:xfrm>
            <a:off x="3306763" y="2805113"/>
            <a:ext cx="2528887" cy="1247775"/>
          </a:xfrm>
          <a:prstGeom prst="rect">
            <a:avLst/>
          </a:prstGeom>
          <a:noFill/>
          <a:ln w="9525">
            <a:noFill/>
          </a:ln>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4562"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Figure 8.06</a:t>
            </a:r>
          </a:p>
        </p:txBody>
      </p:sp>
      <p:pic>
        <p:nvPicPr>
          <p:cNvPr id="198658" name="Picture 4" descr="8"/>
          <p:cNvPicPr>
            <a:picLocks noChangeAspect="1"/>
          </p:cNvPicPr>
          <p:nvPr/>
        </p:nvPicPr>
        <p:blipFill>
          <a:blip r:embed="rId3"/>
          <a:stretch>
            <a:fillRect/>
          </a:stretch>
        </p:blipFill>
        <p:spPr>
          <a:xfrm>
            <a:off x="1908175" y="1751013"/>
            <a:ext cx="5475288" cy="2844800"/>
          </a:xfrm>
          <a:prstGeom prst="rect">
            <a:avLst/>
          </a:prstGeom>
          <a:noFill/>
          <a:ln w="9525">
            <a:noFill/>
          </a:ln>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6610"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Figure 8.14</a:t>
            </a:r>
          </a:p>
        </p:txBody>
      </p:sp>
      <p:pic>
        <p:nvPicPr>
          <p:cNvPr id="200706" name="Picture 3" descr="8"/>
          <p:cNvPicPr>
            <a:picLocks noChangeAspect="1"/>
          </p:cNvPicPr>
          <p:nvPr/>
        </p:nvPicPr>
        <p:blipFill>
          <a:blip r:embed="rId3"/>
          <a:stretch>
            <a:fillRect/>
          </a:stretch>
        </p:blipFill>
        <p:spPr>
          <a:xfrm>
            <a:off x="2771775" y="2911475"/>
            <a:ext cx="3598863" cy="1033463"/>
          </a:xfrm>
          <a:prstGeom prst="rect">
            <a:avLst/>
          </a:prstGeom>
          <a:noFill/>
          <a:ln w="9525">
            <a:noFill/>
          </a:ln>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8658"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Figure 8.15</a:t>
            </a:r>
          </a:p>
        </p:txBody>
      </p:sp>
      <p:pic>
        <p:nvPicPr>
          <p:cNvPr id="202754" name="Picture 3" descr="8"/>
          <p:cNvPicPr>
            <a:picLocks noChangeAspect="1"/>
          </p:cNvPicPr>
          <p:nvPr/>
        </p:nvPicPr>
        <p:blipFill>
          <a:blip r:embed="rId3"/>
          <a:stretch>
            <a:fillRect/>
          </a:stretch>
        </p:blipFill>
        <p:spPr>
          <a:xfrm>
            <a:off x="2771775" y="3033713"/>
            <a:ext cx="3598863" cy="790575"/>
          </a:xfrm>
          <a:prstGeom prst="rect">
            <a:avLst/>
          </a:prstGeom>
          <a:noFill/>
          <a:ln w="9525">
            <a:noFill/>
          </a:ln>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0706" name="Rectangle 2"/>
          <p:cNvSpPr>
            <a:spLocks noGrp="1" noChangeArrowheads="1"/>
          </p:cNvSpPr>
          <p:nvPr>
            <p:ph type="title"/>
          </p:nvPr>
        </p:nvSpPr>
        <p:spPr/>
        <p:txBody>
          <a:bodyPr vert="horz" wrap="square" lIns="91440" tIns="45720" rIns="91440" bIns="45720" numCol="1" anchor="b" anchorCtr="0" compatLnSpc="1"/>
          <a:lstStyle/>
          <a:p>
            <a:pPr marL="0" marR="0" indent="0" algn="ctr" defTabSz="914400" rtl="0" eaLnBrk="0" fontAlgn="base" latinLnBrk="0" hangingPunct="0">
              <a:lnSpc>
                <a:spcPct val="100000"/>
              </a:lnSpc>
              <a:spcBef>
                <a:spcPct val="0"/>
              </a:spcBef>
              <a:spcAft>
                <a:spcPct val="0"/>
              </a:spcAft>
              <a:buClrTx/>
              <a:buSzTx/>
              <a:buFontTx/>
              <a:buNone/>
            </a:pPr>
            <a:r>
              <a:rPr kumimoji="1" lang="en-US" altLang="zh-CN" sz="3200" b="1" i="0" u="none" strike="noStrike" kern="0" cap="none" spc="0" normalizeH="0" baseline="0" noProof="1">
                <a:solidFill>
                  <a:schemeClr val="tx2"/>
                </a:solidFill>
                <a:effectLst>
                  <a:outerShdw blurRad="38100" dist="38100" dir="2700000">
                    <a:srgbClr val="C0C0C0"/>
                  </a:outerShdw>
                </a:effectLst>
                <a:latin typeface="Arial" panose="020B0604020202020204"/>
                <a:ea typeface="+mj-ea"/>
                <a:cs typeface="Arial" panose="020B0604020202020204"/>
              </a:rPr>
              <a:t>Figure 8.17</a:t>
            </a:r>
          </a:p>
        </p:txBody>
      </p:sp>
      <p:pic>
        <p:nvPicPr>
          <p:cNvPr id="204802" name="Picture 3" descr="8"/>
          <p:cNvPicPr>
            <a:picLocks noChangeAspect="1"/>
          </p:cNvPicPr>
          <p:nvPr/>
        </p:nvPicPr>
        <p:blipFill>
          <a:blip r:embed="rId3"/>
          <a:stretch>
            <a:fillRect/>
          </a:stretch>
        </p:blipFill>
        <p:spPr>
          <a:xfrm>
            <a:off x="3865563" y="2563813"/>
            <a:ext cx="1412875" cy="1728787"/>
          </a:xfrm>
          <a:prstGeom prst="rect">
            <a:avLst/>
          </a:prstGeom>
          <a:noFill/>
          <a:ln w="9525">
            <a:noFill/>
          </a:ln>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a3695820-a623-4841-a747-a2f93681cd92"/>
  <p:tag name="COMMONDATA" val="eyJoZGlkIjoiZWIxYzZkM2FmYTk4YjgyMWQyYjQ4MGI5NDkwOGIwYmYifQ=="/>
</p:tagLst>
</file>

<file path=ppt/theme/theme1.xml><?xml version="1.0" encoding="utf-8"?>
<a:theme xmlns:a="http://schemas.openxmlformats.org/drawingml/2006/main" name="2_db-5-grey">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2_db-5-grey">
      <a:majorFont>
        <a:latin typeface="Helvetica"/>
        <a:ea typeface="宋体"/>
        <a:cs typeface=""/>
      </a:majorFont>
      <a:minorFont>
        <a:latin typeface="Helvetica"/>
        <a:ea typeface="宋体"/>
        <a:cs typeface=""/>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600" b="0" i="0" u="none" strike="noStrike" cap="none" normalizeH="0" baseline="0">
            <a:ln>
              <a:noFill/>
            </a:ln>
            <a:solidFill>
              <a:schemeClr val="tx1"/>
            </a:solidFill>
            <a:effectLst/>
            <a:latin typeface="Helvetica" panose="020B060402020203020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600" b="0" i="0" u="none" strike="noStrike" cap="none" normalizeH="0" baseline="0">
            <a:ln>
              <a:noFill/>
            </a:ln>
            <a:solidFill>
              <a:schemeClr val="tx1"/>
            </a:solidFill>
            <a:effectLst/>
            <a:latin typeface="Helvetica" panose="020B0604020202030204" charset="0"/>
            <a:ea typeface="宋体" panose="02010600030101010101" pitchFamily="2" charset="-122"/>
          </a:defRPr>
        </a:defPPr>
      </a:lstStyle>
    </a:lnDef>
  </a:objectDefaults>
  <a:extraClrSchemeLst>
    <a:extraClrScheme>
      <a:clrScheme name="2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DB6</Template>
  <TotalTime>25</TotalTime>
  <Words>11354</Words>
  <Application>Microsoft Office PowerPoint</Application>
  <PresentationFormat>全屏显示(4:3)</PresentationFormat>
  <Paragraphs>1157</Paragraphs>
  <Slides>118</Slides>
  <Notes>92</Notes>
  <HiddenSlides>0</HiddenSlides>
  <MMClips>0</MMClips>
  <ScaleCrop>false</ScaleCrop>
  <HeadingPairs>
    <vt:vector size="10" baseType="variant">
      <vt:variant>
        <vt:lpstr>已用的字体</vt:lpstr>
      </vt:variant>
      <vt:variant>
        <vt:i4>14</vt:i4>
      </vt:variant>
      <vt:variant>
        <vt:lpstr>主题</vt:lpstr>
      </vt:variant>
      <vt:variant>
        <vt:i4>1</vt:i4>
      </vt:variant>
      <vt:variant>
        <vt:lpstr>嵌入 OLE 服务器</vt:lpstr>
      </vt:variant>
      <vt:variant>
        <vt:i4>2</vt:i4>
      </vt:variant>
      <vt:variant>
        <vt:lpstr>幻灯片标题</vt:lpstr>
      </vt:variant>
      <vt:variant>
        <vt:i4>118</vt:i4>
      </vt:variant>
      <vt:variant>
        <vt:lpstr>自定义放映</vt:lpstr>
      </vt:variant>
      <vt:variant>
        <vt:i4>1</vt:i4>
      </vt:variant>
    </vt:vector>
  </HeadingPairs>
  <TitlesOfParts>
    <vt:vector size="136" baseType="lpstr">
      <vt:lpstr>Arial Unicode MS</vt:lpstr>
      <vt:lpstr>Greek Symbols</vt:lpstr>
      <vt:lpstr>Monotype Sorts</vt:lpstr>
      <vt:lpstr>隶书</vt:lpstr>
      <vt:lpstr>宋体</vt:lpstr>
      <vt:lpstr>微软雅黑</vt:lpstr>
      <vt:lpstr>Arial</vt:lpstr>
      <vt:lpstr>Courier New</vt:lpstr>
      <vt:lpstr>Helvetica</vt:lpstr>
      <vt:lpstr>Symbol</vt:lpstr>
      <vt:lpstr>Times</vt:lpstr>
      <vt:lpstr>Times New Roman</vt:lpstr>
      <vt:lpstr>Webdings</vt:lpstr>
      <vt:lpstr>Wingdings</vt:lpstr>
      <vt:lpstr>2_db-5-grey</vt:lpstr>
      <vt:lpstr>MS_ClipArt_Gallery.2</vt:lpstr>
      <vt:lpstr>Equations</vt:lpstr>
      <vt:lpstr>Chapter 7:  Relational Database Design</vt:lpstr>
      <vt:lpstr>Chapter 7:  Relational Database Design</vt:lpstr>
      <vt:lpstr>PowerPoint 演示文稿</vt:lpstr>
      <vt:lpstr>Combine Schemas?</vt:lpstr>
      <vt:lpstr>PowerPoint 演示文稿</vt:lpstr>
      <vt:lpstr>A Combined Schema Without Repetition</vt:lpstr>
      <vt:lpstr>What About Smaller Schemas?</vt:lpstr>
      <vt:lpstr>A Lossy Decomposition</vt:lpstr>
      <vt:lpstr>Example of Lossless-Join Decomposition </vt:lpstr>
      <vt:lpstr>First Normal Form</vt:lpstr>
      <vt:lpstr>First Normal Form (Cont’d)</vt:lpstr>
      <vt:lpstr>Goal — Devise a Theory for the Following</vt:lpstr>
      <vt:lpstr>PowerPoint 演示文稿</vt:lpstr>
      <vt:lpstr>Functional Dependencies</vt:lpstr>
      <vt:lpstr>Functional Dependencies (Cont.)</vt:lpstr>
      <vt:lpstr>Functional Dependencies (Cont.)</vt:lpstr>
      <vt:lpstr>Use of Functional Dependencies</vt:lpstr>
      <vt:lpstr>Functional Dependencies (Cont.)</vt:lpstr>
      <vt:lpstr>Closure of a Set of Functional Dependencies</vt:lpstr>
      <vt:lpstr>Boyce-Codd Normal Form</vt:lpstr>
      <vt:lpstr>SQL中的函数依赖</vt:lpstr>
      <vt:lpstr>Decomposing a Schema into BCNF</vt:lpstr>
      <vt:lpstr>BCNF and Dependency Preservation</vt:lpstr>
      <vt:lpstr>Third Normal Form</vt:lpstr>
      <vt:lpstr>Goals of Normalization</vt:lpstr>
      <vt:lpstr>How good is BCNF?</vt:lpstr>
      <vt:lpstr>How good is BCNF? (Cont.)</vt:lpstr>
      <vt:lpstr>How good is BCNF? (Cont.)</vt:lpstr>
      <vt:lpstr>How good is BCNF? (Cont.)</vt:lpstr>
      <vt:lpstr>How good is BCNF? (Cont.)</vt:lpstr>
      <vt:lpstr>How good is BCNF? (Cont.)</vt:lpstr>
      <vt:lpstr>Functional-Dependency Theory</vt:lpstr>
      <vt:lpstr>Closure of a Set of Functional Dependencies</vt:lpstr>
      <vt:lpstr>Closure of a Set of Functional Dependencies</vt:lpstr>
      <vt:lpstr>Closure of a Set of Functional Dependencies</vt:lpstr>
      <vt:lpstr>Example</vt:lpstr>
      <vt:lpstr>Procedure for Computing F+</vt:lpstr>
      <vt:lpstr>Closure of Functional Dependencies (Cont.)</vt:lpstr>
      <vt:lpstr>PowerPoint 演示文稿</vt:lpstr>
      <vt:lpstr>PowerPoint 演示文稿</vt:lpstr>
      <vt:lpstr>PowerPoint 演示文稿</vt:lpstr>
      <vt:lpstr>Closure of Attribute Sets</vt:lpstr>
      <vt:lpstr>Example of Attribute Set Closure</vt:lpstr>
      <vt:lpstr>Example of Attribute Set Closure</vt:lpstr>
      <vt:lpstr>Example of Attribute Set Closure</vt:lpstr>
      <vt:lpstr>Uses of Attribute Closure</vt:lpstr>
      <vt:lpstr>候选键的计算</vt:lpstr>
      <vt:lpstr>候选键的计算</vt:lpstr>
      <vt:lpstr>候选键的计算</vt:lpstr>
      <vt:lpstr>候选键的计算</vt:lpstr>
      <vt:lpstr>候选键的计算：替换法</vt:lpstr>
      <vt:lpstr>候选键的计算：替换法</vt:lpstr>
      <vt:lpstr>Canonical Cover</vt:lpstr>
      <vt:lpstr>Extraneous Attributes</vt:lpstr>
      <vt:lpstr>Testing if an Attribute is Extraneous</vt:lpstr>
      <vt:lpstr>Canonical Cover</vt:lpstr>
      <vt:lpstr>Computing a Canonical Cover</vt:lpstr>
      <vt:lpstr>Lossless-join Decomposition</vt:lpstr>
      <vt:lpstr>Example</vt:lpstr>
      <vt:lpstr>Dependency Preservation</vt:lpstr>
      <vt:lpstr>Testing for Dependency Preservation</vt:lpstr>
      <vt:lpstr>Example</vt:lpstr>
      <vt:lpstr>Example</vt:lpstr>
      <vt:lpstr>Testing for BCNF</vt:lpstr>
      <vt:lpstr>Testing Decomposition for BCNF</vt:lpstr>
      <vt:lpstr>BCNF Decomposition Algorithm</vt:lpstr>
      <vt:lpstr>PowerPoint 演示文稿</vt:lpstr>
      <vt:lpstr>Example of BCNF Decomposition</vt:lpstr>
      <vt:lpstr>Example of BCNF Decomposition</vt:lpstr>
      <vt:lpstr>BCNF Decomposition (Cont.)</vt:lpstr>
      <vt:lpstr>BCNF and Dependency Preservation</vt:lpstr>
      <vt:lpstr>Third Normal Form: Motivation</vt:lpstr>
      <vt:lpstr>3NF Example</vt:lpstr>
      <vt:lpstr>Redundancy  in 3NF</vt:lpstr>
      <vt:lpstr>Testing for 3NF</vt:lpstr>
      <vt:lpstr>3NF Decomposition Algorithm</vt:lpstr>
      <vt:lpstr>3NF Decomposition Algorithm (Cont.)</vt:lpstr>
      <vt:lpstr>3NF Decomposition: An Example</vt:lpstr>
      <vt:lpstr>3NF Decompsition Example (Cont.)</vt:lpstr>
      <vt:lpstr>Comparison of BCNF and 3NF</vt:lpstr>
      <vt:lpstr>BCNF分解总结</vt:lpstr>
      <vt:lpstr>3NF分解总结</vt:lpstr>
      <vt:lpstr>Design Goals</vt:lpstr>
      <vt:lpstr>去规范化Denomalization设计</vt:lpstr>
      <vt:lpstr>去规范化Denomalization设计</vt:lpstr>
      <vt:lpstr>PowerPoint 演示文稿</vt:lpstr>
      <vt:lpstr>Multivalued Dependencies</vt:lpstr>
      <vt:lpstr>Multivalued Dependencies (MVDs)</vt:lpstr>
      <vt:lpstr>MVD (Cont.)</vt:lpstr>
      <vt:lpstr>Example</vt:lpstr>
      <vt:lpstr>Example (Cont.)</vt:lpstr>
      <vt:lpstr>Use of Multivalued Dependencies</vt:lpstr>
      <vt:lpstr>Theory of MVDs</vt:lpstr>
      <vt:lpstr>Fourth Normal Form</vt:lpstr>
      <vt:lpstr>Restriction of Multivalued Dependencies</vt:lpstr>
      <vt:lpstr>4NF Decomposition Algorithm</vt:lpstr>
      <vt:lpstr>Example</vt:lpstr>
      <vt:lpstr>Further Normal Forms</vt:lpstr>
      <vt:lpstr>Overall Database Design Process</vt:lpstr>
      <vt:lpstr>ER Model and Normalization</vt:lpstr>
      <vt:lpstr>Denormalization for Performance</vt:lpstr>
      <vt:lpstr>Other Design Issues</vt:lpstr>
      <vt:lpstr>Modeling Temporal Data</vt:lpstr>
      <vt:lpstr>Modeling Temporal Data (Cont.)</vt:lpstr>
      <vt:lpstr>End of Chapter</vt:lpstr>
      <vt:lpstr>Proof of Correctness of 3NF Decomposition Algorithm</vt:lpstr>
      <vt:lpstr>Correctness of 3NF Decomposition Algorithm</vt:lpstr>
      <vt:lpstr>Correctness of 3NF Decomposition Algorithm (Cont’d.)</vt:lpstr>
      <vt:lpstr>Correctness of 3NF Decomposition (Cont’d.)</vt:lpstr>
      <vt:lpstr>Correctness of 3NF Decomposition (Cont’d.)</vt:lpstr>
      <vt:lpstr>Figure 8.02</vt:lpstr>
      <vt:lpstr>Figure 8.03</vt:lpstr>
      <vt:lpstr>Figure 8.04</vt:lpstr>
      <vt:lpstr>Figure 8.05</vt:lpstr>
      <vt:lpstr>Figure 8.06</vt:lpstr>
      <vt:lpstr>Figure 8.14</vt:lpstr>
      <vt:lpstr>Figure 8.15</vt:lpstr>
      <vt:lpstr>Figure 8.17</vt:lpstr>
      <vt:lpstr>Custom Show 1</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dc:title>
  <dc:creator>Marilyn Turnamian</dc:creator>
  <cp:lastModifiedBy>admin</cp:lastModifiedBy>
  <cp:revision>330</cp:revision>
  <cp:lastPrinted>2005-01-10T21:51:00Z</cp:lastPrinted>
  <dcterms:created xsi:type="dcterms:W3CDTF">1999-11-04T20:50:00Z</dcterms:created>
  <dcterms:modified xsi:type="dcterms:W3CDTF">2025-04-17T02:21:27Z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2052-11.8.2.12089</vt:lpwstr>
  </property>
  <property fmtid="{D5CDD505-2E9C-101B-9397-08002B2CF9AE}" pid="3" name="ICV">
    <vt:lpwstr>9E20273F138A4C58BD81F2A7F54DE48C</vt:lpwstr>
  </property>
</Properties>
</file>