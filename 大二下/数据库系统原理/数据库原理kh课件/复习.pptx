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448" r:id="rId3"/>
    <p:sldId id="449" r:id="rId4"/>
    <p:sldId id="450" r:id="rId5"/>
    <p:sldId id="451" r:id="rId6"/>
    <p:sldId id="452" r:id="rId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CCFF"/>
    <a:srgbClr val="CCEC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74"/>
    <p:restoredTop sz="97962"/>
  </p:normalViewPr>
  <p:slideViewPr>
    <p:cSldViewPr showGuides="1">
      <p:cViewPr varScale="1">
        <p:scale>
          <a:sx n="115" d="100"/>
          <a:sy n="115" d="100"/>
        </p:scale>
        <p:origin x="1782" y="96"/>
      </p:cViewPr>
      <p:guideLst>
        <p:guide orient="horz" pos="2160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页眉占位符 1433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z="1200" strike="noStrike" noProof="1"/>
          </a:p>
        </p:txBody>
      </p:sp>
      <p:sp>
        <p:nvSpPr>
          <p:cNvPr id="14339" name="日期占位符 1433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fontAlgn="base"/>
            <a:endParaRPr lang="zh-CN" altLang="en-US" sz="1200" strike="noStrike" noProof="1"/>
          </a:p>
        </p:txBody>
      </p:sp>
      <p:sp>
        <p:nvSpPr>
          <p:cNvPr id="3076" name="幻灯片图像占位符 14339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文本占位符 14340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4342" name="页脚占位符 14341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fontAlgn="base"/>
            <a:endParaRPr lang="zh-CN" altLang="en-US" sz="1200" strike="noStrike" noProof="1"/>
          </a:p>
        </p:txBody>
      </p:sp>
      <p:sp>
        <p:nvSpPr>
          <p:cNvPr id="14343" name="灯片编号占位符 1434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5125"/>
          <p:cNvGrpSpPr/>
          <p:nvPr/>
        </p:nvGrpSpPr>
        <p:grpSpPr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2051" name="椭圆 5126"/>
            <p:cNvSpPr/>
            <p:nvPr/>
          </p:nvSpPr>
          <p:spPr>
            <a:xfrm>
              <a:off x="144" y="576"/>
              <a:ext cx="1584" cy="1584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/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2" name="矩形 5127"/>
            <p:cNvSpPr/>
            <p:nvPr/>
          </p:nvSpPr>
          <p:spPr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/>
            <a:lstStyle/>
            <a:p>
              <a:pPr lvl="0" algn="ctr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3" name="矩形 5128"/>
            <p:cNvSpPr/>
            <p:nvPr/>
          </p:nvSpPr>
          <p:spPr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pPr lvl="0" algn="ctr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" name="任意多边形 5129"/>
            <p:cNvSpPr/>
            <p:nvPr/>
          </p:nvSpPr>
          <p:spPr>
            <a:xfrm>
              <a:off x="384" y="960"/>
              <a:ext cx="144" cy="913"/>
            </a:xfrm>
            <a:custGeom>
              <a:avLst/>
              <a:gdLst/>
              <a:ahLst/>
              <a:cxnLst/>
              <a:rect l="0" t="0" r="0" b="0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" name="任意多边形 5130"/>
            <p:cNvSpPr/>
            <p:nvPr/>
          </p:nvSpPr>
          <p:spPr>
            <a:xfrm>
              <a:off x="4944" y="762"/>
              <a:ext cx="165" cy="864"/>
            </a:xfrm>
            <a:custGeom>
              <a:avLst/>
              <a:gdLst/>
              <a:ahLst/>
              <a:cxnLst/>
              <a:rect l="0" t="0" r="0" b="0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2" name="副标题 5121"/>
          <p:cNvSpPr>
            <a:spLocks noGrp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lvl1pPr>
            <a:lvl2pPr marL="449580" lvl="1" indent="0" algn="ctr"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lvl2pPr>
            <a:lvl3pPr marL="890905" lvl="2" indent="0" algn="ctr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lvl3pPr>
            <a:lvl4pPr marL="1295400" lvl="3" indent="0" algn="ctr"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lvl4pPr>
            <a:lvl5pPr marL="1682750" lvl="4" indent="0" algn="ctr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5132" name="标题 5131"/>
          <p:cNvSpPr>
            <a:spLocks noGrp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lvl="0">
              <a:buClrTx/>
              <a:buSzTx/>
              <a:buFontTx/>
              <a:defRPr/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123" name="日期占位符 512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>
              <a:defRPr sz="1000"/>
            </a:lvl1pPr>
          </a:lstStyle>
          <a:p>
            <a:pPr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124" name="页脚占位符 512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ctr">
              <a:defRPr sz="1000"/>
            </a:lvl1pPr>
          </a:lstStyle>
          <a:p>
            <a:pPr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125" name="灯片编号占位符 512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r">
              <a:defRPr sz="1000"/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025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6575" y="1981200"/>
            <a:ext cx="3754025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0916" y="96838"/>
            <a:ext cx="1919684" cy="599916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47767" cy="599916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4097"/>
          <p:cNvSpPr/>
          <p:nvPr/>
        </p:nvSpPr>
        <p:spPr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/>
          <a:lstStyle/>
          <a:p>
            <a:pPr lvl="0" algn="ctr"/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7" name="矩形 4098"/>
          <p:cNvSpPr/>
          <p:nvPr/>
        </p:nvSpPr>
        <p:spPr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标题 4099"/>
          <p:cNvSpPr>
            <a:spLocks noGrp="1"/>
          </p:cNvSpPr>
          <p:nvPr>
            <p:ph type="title"/>
          </p:nvPr>
        </p:nvSpPr>
        <p:spPr>
          <a:xfrm>
            <a:off x="931863" y="96838"/>
            <a:ext cx="7158037" cy="141287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文本占位符 4100"/>
          <p:cNvSpPr>
            <a:spLocks noGrp="1"/>
          </p:cNvSpPr>
          <p:nvPr>
            <p:ph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439420"/>
            <a:r>
              <a:rPr lang="zh-CN" altLang="en-US" dirty="0"/>
              <a:t>第二级</a:t>
            </a:r>
            <a:endParaRPr lang="zh-CN" altLang="en-US" dirty="0"/>
          </a:p>
          <a:p>
            <a:pPr lvl="2" indent="-403225"/>
            <a:r>
              <a:rPr lang="zh-CN" altLang="en-US" dirty="0"/>
              <a:t>第三级</a:t>
            </a:r>
            <a:endParaRPr lang="zh-CN" altLang="en-US" dirty="0"/>
          </a:p>
          <a:p>
            <a:pPr lvl="3" indent="-386080"/>
            <a:r>
              <a:rPr lang="zh-CN" altLang="en-US" dirty="0"/>
              <a:t>第四级</a:t>
            </a:r>
            <a:endParaRPr lang="zh-CN" altLang="en-US" dirty="0"/>
          </a:p>
          <a:p>
            <a:pPr lvl="4" indent="-38735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2" name="日期占位符 4101"/>
          <p:cNvSpPr>
            <a:spLocks noGrp="1"/>
          </p:cNvSpPr>
          <p:nvPr>
            <p:ph type="dt" sz="half" idx="2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103" name="页脚占位符 4102"/>
          <p:cNvSpPr>
            <a:spLocks noGrp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104" name="灯片编号占位符 4103"/>
          <p:cNvSpPr>
            <a:spLocks noGrp="1"/>
          </p:cNvSpPr>
          <p:nvPr>
            <p:ph type="sldNum" sz="quarter" idx="4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0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3" name="任意多边形 4104"/>
          <p:cNvSpPr/>
          <p:nvPr/>
        </p:nvSpPr>
        <p:spPr>
          <a:xfrm>
            <a:off x="838200" y="561975"/>
            <a:ext cx="152400" cy="1066800"/>
          </a:xfrm>
          <a:custGeom>
            <a:avLst/>
            <a:gdLst/>
            <a:ahLst/>
            <a:cxnLst/>
            <a:rect l="0" t="0" r="0" b="0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4" name="任意多边形 4105"/>
          <p:cNvSpPr/>
          <p:nvPr/>
        </p:nvSpPr>
        <p:spPr>
          <a:xfrm>
            <a:off x="8262938" y="269875"/>
            <a:ext cx="152400" cy="1073150"/>
          </a:xfrm>
          <a:custGeom>
            <a:avLst/>
            <a:gdLst/>
            <a:ahLst/>
            <a:cxnLst/>
            <a:rect l="0" t="0" r="0" b="0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47675" lvl="0" indent="-44767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89000" lvl="1" indent="-43942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294130" lvl="2" indent="-40322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81480" lvl="3" indent="-38608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70100" lvl="4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307465" y="4011930"/>
            <a:ext cx="6473825" cy="1905000"/>
          </a:xfrm>
        </p:spPr>
        <p:txBody>
          <a:bodyPr/>
          <a:lstStyle/>
          <a:p>
            <a:r>
              <a:rPr lang="zh-CN" altLang="en-US" dirty="0"/>
              <a:t>学习通开设课程复习讨论专区，欢迎同学们在讨论专区提问</a:t>
            </a:r>
            <a:r>
              <a:rPr lang="zh-CN" altLang="en-US" dirty="0" smtClean="0"/>
              <a:t>，四位</a:t>
            </a:r>
            <a:r>
              <a:rPr lang="zh-CN" altLang="en-US" dirty="0"/>
              <a:t>老师将统一在讨论区为大家答疑。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anose="02010800040101010101" charset="-122"/>
                <a:ea typeface="华文彩云" panose="02010800040101010101" charset="-122"/>
              </a:rPr>
              <a:t>数据库系统原理总结</a:t>
            </a:r>
            <a:endParaRPr lang="zh-CN" altLang="en-US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彩云" panose="02010800040101010101" charset="-122"/>
              <a:ea typeface="华文彩云" panose="020108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知识点</a:t>
            </a:r>
            <a:endParaRPr lang="zh-CN" altLang="en-US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0820" y="1694180"/>
            <a:ext cx="8742045" cy="5018405"/>
          </a:xfrm>
        </p:spPr>
        <p:txBody>
          <a:bodyPr/>
          <a:lstStyle/>
          <a:p>
            <a:pPr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第</a:t>
            </a:r>
            <a:r>
              <a:rPr lang="en-US" altLang="zh-CN" sz="2400" b="1" dirty="0">
                <a:sym typeface="+mn-ea"/>
              </a:rPr>
              <a:t>1</a:t>
            </a:r>
            <a:r>
              <a:rPr lang="zh-CN" altLang="en-US" sz="2400" b="1" dirty="0">
                <a:sym typeface="+mn-ea"/>
              </a:rPr>
              <a:t>章：基本</a:t>
            </a:r>
            <a:r>
              <a:rPr lang="zh-CN" altLang="en-US" sz="2400" b="1" dirty="0" smtClean="0">
                <a:sym typeface="+mn-ea"/>
              </a:rPr>
              <a:t>概念（</a:t>
            </a:r>
            <a:r>
              <a:rPr lang="en-US" altLang="zh-CN" sz="2400" b="1" dirty="0" smtClean="0">
                <a:sym typeface="+mn-ea"/>
              </a:rPr>
              <a:t>ch01</a:t>
            </a:r>
            <a:r>
              <a:rPr lang="zh-CN" altLang="en-US" sz="2400" b="1" dirty="0" smtClean="0">
                <a:sym typeface="+mn-ea"/>
              </a:rPr>
              <a:t>的</a:t>
            </a:r>
            <a:r>
              <a:rPr lang="en-US" altLang="zh-CN" sz="2400" b="1" smtClean="0">
                <a:sym typeface="+mn-ea"/>
              </a:rPr>
              <a:t>ppt</a:t>
            </a:r>
            <a:r>
              <a:rPr lang="zh-CN" altLang="en-US" sz="2400" b="1" smtClean="0">
                <a:sym typeface="+mn-ea"/>
              </a:rPr>
              <a:t>）</a:t>
            </a:r>
            <a:endParaRPr lang="zh-CN" altLang="en-US" sz="2400" b="1" strike="noStrike" noProof="1"/>
          </a:p>
          <a:p>
            <a:pPr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第</a:t>
            </a:r>
            <a:r>
              <a:rPr lang="en-US" altLang="zh-CN" sz="2400" b="1" dirty="0" smtClean="0">
                <a:sym typeface="+mn-ea"/>
              </a:rPr>
              <a:t>2</a:t>
            </a:r>
            <a:r>
              <a:rPr lang="zh-CN" altLang="en-US" sz="2400" b="1" dirty="0" smtClean="0">
                <a:sym typeface="+mn-ea"/>
              </a:rPr>
              <a:t>章</a:t>
            </a:r>
            <a:r>
              <a:rPr lang="zh-CN" altLang="en-US" sz="2400" b="1" dirty="0">
                <a:sym typeface="+mn-ea"/>
              </a:rPr>
              <a:t>：关系代数表达式</a:t>
            </a:r>
            <a:endParaRPr lang="zh-CN" altLang="en-US" sz="24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100" b="1" dirty="0">
                <a:sym typeface="+mn-ea"/>
              </a:rPr>
              <a:t>基本运算</a:t>
            </a:r>
            <a:endParaRPr lang="zh-CN" altLang="en-US" sz="21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100" b="1" dirty="0">
                <a:sym typeface="+mn-ea"/>
              </a:rPr>
              <a:t>附加的关系代数运算</a:t>
            </a:r>
            <a:endParaRPr lang="zh-CN" altLang="en-US" sz="21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100" b="1" dirty="0">
                <a:sym typeface="+mn-ea"/>
              </a:rPr>
              <a:t>扩展的关系代数运算</a:t>
            </a:r>
            <a:endParaRPr lang="zh-CN" altLang="en-US" sz="2100" b="1" strike="noStrike" noProof="1">
              <a:sym typeface="+mn-ea"/>
            </a:endParaRPr>
          </a:p>
          <a:p>
            <a:pPr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第</a:t>
            </a:r>
            <a:r>
              <a:rPr lang="en-US" altLang="zh-CN" sz="2400" b="1" dirty="0">
                <a:sym typeface="+mn-ea"/>
              </a:rPr>
              <a:t>3,4,5</a:t>
            </a:r>
            <a:r>
              <a:rPr lang="zh-CN" altLang="en-US" sz="2400" b="1" dirty="0">
                <a:sym typeface="+mn-ea"/>
              </a:rPr>
              <a:t>章：</a:t>
            </a:r>
            <a:r>
              <a:rPr lang="en-US" altLang="zh-CN" sz="2400" b="1" dirty="0">
                <a:sym typeface="+mn-ea"/>
              </a:rPr>
              <a:t>SQL</a:t>
            </a:r>
            <a:r>
              <a:rPr lang="zh-CN" altLang="en-US" sz="2400" b="1" dirty="0">
                <a:sym typeface="+mn-ea"/>
              </a:rPr>
              <a:t>语句</a:t>
            </a:r>
            <a:endParaRPr lang="zh-CN" altLang="en-US" sz="24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en-US" altLang="zh-CN" sz="2100" b="1" dirty="0">
                <a:sym typeface="+mn-ea"/>
              </a:rPr>
              <a:t>DDL</a:t>
            </a:r>
            <a:r>
              <a:rPr lang="zh-CN" altLang="en-US" sz="2100" b="1" dirty="0">
                <a:sym typeface="+mn-ea"/>
              </a:rPr>
              <a:t>、</a:t>
            </a:r>
            <a:r>
              <a:rPr lang="en-US" altLang="zh-CN" sz="2100" b="1" dirty="0">
                <a:sym typeface="+mn-ea"/>
              </a:rPr>
              <a:t>DML</a:t>
            </a:r>
            <a:r>
              <a:rPr lang="zh-CN" altLang="en-US" sz="2100" b="1" dirty="0">
                <a:sym typeface="+mn-ea"/>
              </a:rPr>
              <a:t>、</a:t>
            </a:r>
            <a:r>
              <a:rPr lang="en-US" altLang="zh-CN" sz="2100" b="1" dirty="0">
                <a:sym typeface="+mn-ea"/>
              </a:rPr>
              <a:t>DCL</a:t>
            </a:r>
            <a:endParaRPr lang="en-US" altLang="zh-CN" sz="21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en-US" altLang="zh-CN" sz="2100" b="1" dirty="0">
                <a:sym typeface="+mn-ea"/>
              </a:rPr>
              <a:t>SQL</a:t>
            </a:r>
            <a:r>
              <a:rPr lang="zh-CN" altLang="en-US" sz="2100" b="1" dirty="0">
                <a:sym typeface="+mn-ea"/>
              </a:rPr>
              <a:t>与集合运算、空值</a:t>
            </a:r>
            <a:endParaRPr lang="zh-CN" altLang="en-US" sz="21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100" b="1" dirty="0">
                <a:sym typeface="+mn-ea"/>
              </a:rPr>
              <a:t>聚集函数、</a:t>
            </a:r>
            <a:r>
              <a:rPr lang="en-US" altLang="zh-CN" sz="2100" b="1" dirty="0">
                <a:sym typeface="+mn-ea"/>
              </a:rPr>
              <a:t>having </a:t>
            </a:r>
            <a:r>
              <a:rPr lang="zh-CN" altLang="en-US" sz="2100" b="1" dirty="0">
                <a:sym typeface="+mn-ea"/>
              </a:rPr>
              <a:t>、</a:t>
            </a:r>
            <a:r>
              <a:rPr lang="en-US" altLang="zh-CN" sz="2100" b="1" dirty="0">
                <a:sym typeface="+mn-ea"/>
              </a:rPr>
              <a:t>not exists</a:t>
            </a:r>
            <a:endParaRPr lang="en-US" altLang="zh-CN" sz="21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100" b="1" dirty="0">
                <a:sym typeface="+mn-ea"/>
              </a:rPr>
              <a:t>嵌套子查询</a:t>
            </a:r>
            <a:endParaRPr lang="zh-CN" altLang="en-US" sz="21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100" b="1" dirty="0">
                <a:sym typeface="+mn-ea"/>
              </a:rPr>
              <a:t>视图、可更新视图</a:t>
            </a:r>
            <a:endParaRPr lang="zh-CN" altLang="en-US" sz="21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100" b="1" dirty="0" smtClean="0">
                <a:sym typeface="+mn-ea"/>
              </a:rPr>
              <a:t>完整性约束</a:t>
            </a:r>
            <a:endParaRPr lang="en-US" altLang="zh-CN" sz="2100" b="1" dirty="0" smtClean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100" b="1" dirty="0" smtClean="0">
                <a:solidFill>
                  <a:srgbClr val="002060"/>
                </a:solidFill>
                <a:sym typeface="+mn-ea"/>
              </a:rPr>
              <a:t>函数、过程、</a:t>
            </a:r>
            <a:r>
              <a:rPr lang="zh-CN" altLang="en-US" sz="2100" b="1" dirty="0" smtClean="0">
                <a:sym typeface="+mn-ea"/>
              </a:rPr>
              <a:t>触发器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知识点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240" y="1694180"/>
            <a:ext cx="8468360" cy="5018405"/>
          </a:xfrm>
        </p:spPr>
        <p:txBody>
          <a:bodyPr/>
          <a:lstStyle/>
          <a:p>
            <a:pPr fontAlgn="base">
              <a:lnSpc>
                <a:spcPct val="90000"/>
              </a:lnSpc>
            </a:pPr>
            <a:r>
              <a:rPr lang="zh-CN" altLang="en-US" sz="2400" b="1" dirty="0" smtClean="0">
                <a:sym typeface="+mn-ea"/>
              </a:rPr>
              <a:t>第</a:t>
            </a:r>
            <a:r>
              <a:rPr lang="en-US" altLang="zh-CN" sz="2400" b="1" dirty="0" smtClean="0">
                <a:sym typeface="+mn-ea"/>
              </a:rPr>
              <a:t>6</a:t>
            </a:r>
            <a:r>
              <a:rPr lang="zh-CN" altLang="en-US" sz="2400" b="1" dirty="0" smtClean="0">
                <a:sym typeface="+mn-ea"/>
              </a:rPr>
              <a:t>章</a:t>
            </a:r>
            <a:r>
              <a:rPr lang="zh-CN" altLang="en-US" sz="2400" b="1" dirty="0">
                <a:sym typeface="+mn-ea"/>
              </a:rPr>
              <a:t>：</a:t>
            </a:r>
            <a:r>
              <a:rPr lang="en-US" altLang="zh-CN" sz="2400" b="1" dirty="0">
                <a:sym typeface="+mn-ea"/>
              </a:rPr>
              <a:t>ER</a:t>
            </a:r>
            <a:r>
              <a:rPr lang="zh-CN" altLang="en-US" sz="2400" b="1" dirty="0">
                <a:sym typeface="+mn-ea"/>
              </a:rPr>
              <a:t>模型设计，关系模型转换，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ER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图画完整</a:t>
            </a:r>
            <a:endParaRPr lang="zh-CN" altLang="en-US" sz="24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实体集（弱实体集）、属性集、联系集（聚集、描述性属性）</a:t>
            </a:r>
            <a:endParaRPr lang="zh-CN" altLang="en-US" sz="24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映射基数、参与约束、主键</a:t>
            </a:r>
            <a:endParaRPr lang="zh-CN" altLang="en-US" sz="24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转换为关系模式</a:t>
            </a:r>
            <a:endParaRPr lang="zh-CN" altLang="en-US" sz="2400" b="1" dirty="0">
              <a:sym typeface="+mn-ea"/>
            </a:endParaRPr>
          </a:p>
          <a:p>
            <a:pPr lvl="2"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强实体集（简单属性、复杂属性）、弱实体集、联系集（</a:t>
            </a:r>
            <a:r>
              <a:rPr lang="en-US" altLang="zh-CN" sz="2400" b="1" dirty="0">
                <a:sym typeface="+mn-ea"/>
              </a:rPr>
              <a:t>1:1</a:t>
            </a:r>
            <a:r>
              <a:rPr lang="zh-CN" altLang="en-US" sz="2400" b="1" dirty="0">
                <a:sym typeface="+mn-ea"/>
              </a:rPr>
              <a:t>、</a:t>
            </a:r>
            <a:r>
              <a:rPr lang="en-US" altLang="zh-CN" sz="2400" b="1" dirty="0">
                <a:sym typeface="+mn-ea"/>
              </a:rPr>
              <a:t>1:n</a:t>
            </a:r>
            <a:r>
              <a:rPr lang="zh-CN" altLang="en-US" sz="2400" b="1" dirty="0">
                <a:sym typeface="+mn-ea"/>
              </a:rPr>
              <a:t>、</a:t>
            </a:r>
            <a:r>
              <a:rPr lang="en-US" altLang="zh-CN" sz="2400" b="1" dirty="0">
                <a:sym typeface="+mn-ea"/>
              </a:rPr>
              <a:t>m:n</a:t>
            </a:r>
            <a:r>
              <a:rPr lang="zh-CN" altLang="en-US" sz="2400" b="1" dirty="0">
                <a:sym typeface="+mn-ea"/>
              </a:rPr>
              <a:t>）</a:t>
            </a:r>
            <a:endParaRPr lang="zh-CN" altLang="en-US" sz="2400" b="1" strike="noStrike" noProof="1"/>
          </a:p>
          <a:p>
            <a:pPr fontAlgn="base">
              <a:lnSpc>
                <a:spcPct val="90000"/>
              </a:lnSpc>
            </a:pPr>
            <a:r>
              <a:rPr lang="zh-CN" altLang="en-US" sz="2400" b="1" dirty="0" smtClean="0">
                <a:sym typeface="+mn-ea"/>
              </a:rPr>
              <a:t>第</a:t>
            </a:r>
            <a:r>
              <a:rPr lang="en-US" altLang="zh-CN" sz="2400" b="1" dirty="0" smtClean="0">
                <a:sym typeface="+mn-ea"/>
              </a:rPr>
              <a:t>7</a:t>
            </a:r>
            <a:r>
              <a:rPr lang="zh-CN" altLang="en-US" sz="2400" b="1" dirty="0" smtClean="0">
                <a:sym typeface="+mn-ea"/>
              </a:rPr>
              <a:t>章</a:t>
            </a:r>
            <a:r>
              <a:rPr lang="zh-CN" altLang="en-US" sz="2400" b="1" dirty="0">
                <a:sym typeface="+mn-ea"/>
              </a:rPr>
              <a:t>：数据的规范化</a:t>
            </a:r>
            <a:endParaRPr lang="zh-CN" altLang="en-US" sz="2400" b="1" strike="noStrike" noProof="1"/>
          </a:p>
          <a:p>
            <a:pPr lvl="1" algn="l"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函数依赖，属性闭包，正则</a:t>
            </a:r>
            <a:r>
              <a:rPr lang="zh-CN" altLang="en-US" sz="2400" b="1" dirty="0" smtClean="0">
                <a:sym typeface="+mn-ea"/>
              </a:rPr>
              <a:t>覆盖，</a:t>
            </a:r>
            <a:r>
              <a:rPr lang="zh-CN" altLang="en-US" sz="2400" b="1" dirty="0" smtClean="0">
                <a:solidFill>
                  <a:srgbClr val="002060"/>
                </a:solidFill>
                <a:sym typeface="+mn-ea"/>
              </a:rPr>
              <a:t>知道多值依赖的概念</a:t>
            </a:r>
            <a:endParaRPr lang="zh-CN" altLang="en-US" sz="2400" b="1" dirty="0">
              <a:solidFill>
                <a:srgbClr val="002060"/>
              </a:solidFill>
            </a:endParaRPr>
          </a:p>
          <a:p>
            <a:pPr lvl="1" fontAlgn="base">
              <a:lnSpc>
                <a:spcPct val="90000"/>
              </a:lnSpc>
            </a:pPr>
            <a:r>
              <a:rPr lang="en-US" altLang="zh-CN" sz="2400" b="1" dirty="0">
                <a:sym typeface="+mn-ea"/>
              </a:rPr>
              <a:t>BCNF</a:t>
            </a:r>
            <a:r>
              <a:rPr lang="zh-CN" altLang="en-US" sz="2400" b="1" dirty="0">
                <a:sym typeface="+mn-ea"/>
              </a:rPr>
              <a:t>的判定与分解（</a:t>
            </a:r>
            <a:r>
              <a:rPr lang="en-US" altLang="zh-CN" sz="2400" b="1" dirty="0">
                <a:sym typeface="+mn-ea"/>
              </a:rPr>
              <a:t>NP</a:t>
            </a:r>
            <a:r>
              <a:rPr lang="zh-CN" altLang="en-US" sz="2400" b="1" dirty="0">
                <a:sym typeface="+mn-ea"/>
              </a:rPr>
              <a:t>问题），</a:t>
            </a:r>
            <a:r>
              <a:rPr lang="en-US" altLang="zh-CN" sz="2400" b="1" dirty="0">
                <a:sym typeface="+mn-ea"/>
              </a:rPr>
              <a:t>3NF</a:t>
            </a:r>
            <a:r>
              <a:rPr lang="zh-CN" altLang="en-US" sz="2400" b="1" dirty="0">
                <a:sym typeface="+mn-ea"/>
              </a:rPr>
              <a:t>的判定（</a:t>
            </a:r>
            <a:r>
              <a:rPr lang="en-US" altLang="zh-CN" sz="2400" b="1" dirty="0">
                <a:sym typeface="+mn-ea"/>
              </a:rPr>
              <a:t>NP</a:t>
            </a:r>
            <a:r>
              <a:rPr lang="zh-CN" altLang="en-US" sz="2400" b="1" dirty="0" smtClean="0">
                <a:sym typeface="+mn-ea"/>
              </a:rPr>
              <a:t>问题：</a:t>
            </a:r>
            <a:r>
              <a:rPr lang="zh-CN" altLang="en-US" sz="2400" b="1" dirty="0" smtClean="0">
                <a:solidFill>
                  <a:srgbClr val="C00000"/>
                </a:solidFill>
                <a:sym typeface="+mn-ea"/>
              </a:rPr>
              <a:t>左右部属性方法解决</a:t>
            </a:r>
            <a:r>
              <a:rPr lang="zh-CN" altLang="en-US" sz="2400" b="1" dirty="0">
                <a:sym typeface="+mn-ea"/>
              </a:rPr>
              <a:t>）与</a:t>
            </a:r>
            <a:r>
              <a:rPr lang="zh-CN" altLang="en-US" sz="2400" b="1" dirty="0" smtClean="0">
                <a:sym typeface="+mn-ea"/>
              </a:rPr>
              <a:t>分解</a:t>
            </a:r>
            <a:endParaRPr lang="en-US" altLang="zh-CN" sz="2400" b="1" dirty="0" smtClean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400" b="1" strike="noStrike" noProof="1" smtClean="0">
                <a:sym typeface="+mn-ea"/>
              </a:rPr>
              <a:t>阿姆斯特朗公理和规则：会用、能证明</a:t>
            </a:r>
            <a:endParaRPr lang="zh-CN" altLang="en-US" sz="2400" b="1" strike="noStrike" noProof="1"/>
          </a:p>
          <a:p>
            <a:pPr lvl="1"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无损连接和保持依赖的证明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知识点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第</a:t>
            </a:r>
            <a:r>
              <a:rPr lang="en-US" altLang="zh-CN" sz="2400" b="1" dirty="0" smtClean="0">
                <a:sym typeface="+mn-ea"/>
              </a:rPr>
              <a:t>17</a:t>
            </a:r>
            <a:r>
              <a:rPr lang="zh-CN" altLang="en-US" sz="2400" b="1" dirty="0" smtClean="0">
                <a:sym typeface="+mn-ea"/>
              </a:rPr>
              <a:t>章</a:t>
            </a:r>
            <a:r>
              <a:rPr lang="zh-CN" altLang="en-US" sz="2400" b="1" dirty="0">
                <a:sym typeface="+mn-ea"/>
              </a:rPr>
              <a:t>：事务</a:t>
            </a:r>
            <a:endParaRPr lang="zh-CN" altLang="en-US" sz="24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事务的概念、模型、事务的</a:t>
            </a:r>
            <a:r>
              <a:rPr lang="en-US" altLang="zh-CN" sz="2400" b="1" dirty="0">
                <a:sym typeface="+mn-ea"/>
              </a:rPr>
              <a:t>ACID</a:t>
            </a:r>
            <a:r>
              <a:rPr lang="zh-CN" altLang="en-US" sz="2400" b="1" dirty="0">
                <a:sym typeface="+mn-ea"/>
              </a:rPr>
              <a:t>特性</a:t>
            </a:r>
            <a:endParaRPr lang="zh-CN" altLang="en-US" sz="2400" b="1" dirty="0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可串行化：冲突、</a:t>
            </a:r>
            <a:r>
              <a:rPr lang="zh-CN" altLang="en-US" sz="2400" b="1" dirty="0">
                <a:solidFill>
                  <a:srgbClr val="002060"/>
                </a:solidFill>
                <a:sym typeface="+mn-ea"/>
              </a:rPr>
              <a:t>视图可串行化判别</a:t>
            </a:r>
            <a:endParaRPr lang="zh-CN" altLang="en-US" sz="2400" b="1" dirty="0">
              <a:solidFill>
                <a:srgbClr val="002060"/>
              </a:solidFill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事务隔离性和原子性</a:t>
            </a:r>
            <a:endParaRPr lang="zh-CN" altLang="en-US" sz="2400" b="1" dirty="0">
              <a:sym typeface="+mn-ea"/>
            </a:endParaRPr>
          </a:p>
          <a:p>
            <a:pPr lvl="2"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可恢复调度、无级联调度</a:t>
            </a:r>
            <a:endParaRPr lang="zh-CN" altLang="en-US" sz="2400" b="1" strike="noStrike" noProof="1"/>
          </a:p>
          <a:p>
            <a:pPr fontAlgn="base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第</a:t>
            </a:r>
            <a:r>
              <a:rPr lang="en-US" altLang="zh-CN" sz="2400" b="1" dirty="0" smtClean="0">
                <a:sym typeface="+mn-ea"/>
              </a:rPr>
              <a:t>18</a:t>
            </a:r>
            <a:r>
              <a:rPr lang="zh-CN" altLang="en-US" sz="2400" b="1" dirty="0" smtClean="0">
                <a:sym typeface="+mn-ea"/>
              </a:rPr>
              <a:t>章</a:t>
            </a:r>
            <a:r>
              <a:rPr lang="zh-CN" altLang="en-US" sz="2400" b="1" dirty="0">
                <a:sym typeface="+mn-ea"/>
              </a:rPr>
              <a:t>：并发控制</a:t>
            </a:r>
            <a:endParaRPr lang="zh-CN" altLang="en-US" sz="2400" b="1" strike="noStrike" noProof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400" b="1" dirty="0">
                <a:solidFill>
                  <a:srgbClr val="002060"/>
                </a:solidFill>
                <a:sym typeface="+mn-ea"/>
              </a:rPr>
              <a:t>两阶段锁，严格两阶段锁，强两阶段锁</a:t>
            </a:r>
            <a:endParaRPr lang="zh-CN" altLang="en-US" sz="2400" b="1" strike="noStrike" noProof="1">
              <a:solidFill>
                <a:srgbClr val="002060"/>
              </a:solidFill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2400" b="1" dirty="0">
                <a:solidFill>
                  <a:srgbClr val="002060"/>
                </a:solidFill>
                <a:sym typeface="+mn-ea"/>
              </a:rPr>
              <a:t>死锁的检测与恢复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本门课程成绩</a:t>
            </a:r>
            <a:endParaRPr lang="zh-CN" altLang="en-US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平时成绩：</a:t>
            </a:r>
            <a:r>
              <a:rPr lang="en-US" altLang="zh-CN" dirty="0">
                <a:solidFill>
                  <a:srgbClr val="002060"/>
                </a:solidFill>
              </a:rPr>
              <a:t>30%</a:t>
            </a:r>
            <a:endParaRPr lang="en-US" altLang="zh-CN" dirty="0"/>
          </a:p>
          <a:p>
            <a:pPr lvl="1"/>
            <a:r>
              <a:rPr lang="zh-CN" altLang="en-US" dirty="0"/>
              <a:t>学习通统计数据</a:t>
            </a:r>
            <a:r>
              <a:rPr lang="zh-CN" altLang="en-US" dirty="0" smtClean="0"/>
              <a:t>：讨论</a:t>
            </a:r>
            <a:r>
              <a:rPr lang="zh-CN" altLang="en-US" dirty="0"/>
              <a:t>参与情况</a:t>
            </a:r>
            <a:endParaRPr lang="zh-CN" altLang="en-US" dirty="0"/>
          </a:p>
          <a:p>
            <a:pPr lvl="1"/>
            <a:r>
              <a:rPr lang="zh-CN" altLang="en-US" dirty="0" smtClean="0"/>
              <a:t>五次学习</a:t>
            </a:r>
            <a:r>
              <a:rPr lang="zh-CN" altLang="en-US" smtClean="0"/>
              <a:t>通作业：张小利老师发布</a:t>
            </a:r>
            <a:endParaRPr lang="zh-CN" altLang="en-US" dirty="0"/>
          </a:p>
          <a:p>
            <a:pPr lvl="0"/>
            <a:r>
              <a:rPr lang="zh-CN" altLang="en-US" dirty="0"/>
              <a:t>闭卷考试：</a:t>
            </a:r>
            <a:r>
              <a:rPr lang="en-US" altLang="zh-CN" dirty="0">
                <a:solidFill>
                  <a:srgbClr val="002060"/>
                </a:solidFill>
              </a:rPr>
              <a:t>70%</a:t>
            </a:r>
            <a:endParaRPr lang="en-US" altLang="zh-CN" dirty="0"/>
          </a:p>
          <a:p>
            <a:pPr lvl="1"/>
            <a:r>
              <a:rPr lang="zh-CN" altLang="en-US" dirty="0"/>
              <a:t>考试范围：前面所列知识点</a:t>
            </a:r>
            <a:r>
              <a:rPr lang="en-US" altLang="zh-CN" dirty="0"/>
              <a:t>+</a:t>
            </a:r>
            <a:r>
              <a:rPr lang="zh-CN" altLang="en-US" dirty="0"/>
              <a:t>不超过</a:t>
            </a:r>
            <a:r>
              <a:rPr lang="en-US" altLang="zh-CN" dirty="0"/>
              <a:t>10</a:t>
            </a:r>
            <a:r>
              <a:rPr lang="zh-CN" altLang="en-US" dirty="0"/>
              <a:t>分的发挥题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22222"/>
      </a:accent4>
      <a:accent5>
        <a:srgbClr val="E2CAAA"/>
      </a:accent5>
      <a:accent6>
        <a:srgbClr val="B7B789"/>
      </a:accent6>
      <a:hlink>
        <a:srgbClr val="999933"/>
      </a:hlink>
      <a:folHlink>
        <a:srgbClr val="B2B2B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8F8F8"/>
        </a:dk1>
        <a:lt1>
          <a:srgbClr val="330000"/>
        </a:lt1>
        <a:dk2>
          <a:srgbClr val="FFFFFF"/>
        </a:dk2>
        <a:lt2>
          <a:srgbClr val="080808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6D6D6"/>
        </a:accent4>
        <a:accent5>
          <a:srgbClr val="FFCAAA"/>
        </a:accent5>
        <a:accent6>
          <a:srgbClr val="B72D00"/>
        </a:accent6>
        <a:hlink>
          <a:srgbClr val="CC6600"/>
        </a:hlink>
        <a:folHlink>
          <a:srgbClr val="B2B2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800000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666666"/>
        </a:accent2>
        <a:accent3>
          <a:srgbClr val="C1AAAA"/>
        </a:accent3>
        <a:accent4>
          <a:srgbClr val="D6D6D6"/>
        </a:accent4>
        <a:accent5>
          <a:srgbClr val="E2CAAA"/>
        </a:accent5>
        <a:accent6>
          <a:srgbClr val="5B5B5B"/>
        </a:accent6>
        <a:hlink>
          <a:srgbClr val="CC6600"/>
        </a:hlink>
        <a:folHlink>
          <a:srgbClr val="95A58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A4BEE0"/>
        </a:dk1>
        <a:lt1>
          <a:srgbClr val="013253"/>
        </a:lt1>
        <a:dk2>
          <a:srgbClr val="FFFFFF"/>
        </a:dk2>
        <a:lt2>
          <a:srgbClr val="5F5F5F"/>
        </a:lt2>
        <a:accent1>
          <a:srgbClr val="588480"/>
        </a:accent1>
        <a:accent2>
          <a:srgbClr val="6600FF"/>
        </a:accent2>
        <a:accent3>
          <a:srgbClr val="AAADB4"/>
        </a:accent3>
        <a:accent4>
          <a:srgbClr val="8DA3C1"/>
        </a:accent4>
        <a:accent5>
          <a:srgbClr val="B5C2C1"/>
        </a:accent5>
        <a:accent6>
          <a:srgbClr val="5B00E5"/>
        </a:accent6>
        <a:hlink>
          <a:srgbClr val="CCCC00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3D4A1C"/>
        </a:lt1>
        <a:dk2>
          <a:srgbClr val="FFFFFF"/>
        </a:dk2>
        <a:lt2>
          <a:srgbClr val="003300"/>
        </a:lt2>
        <a:accent1>
          <a:srgbClr val="99CC00"/>
        </a:accent1>
        <a:accent2>
          <a:srgbClr val="669900"/>
        </a:accent2>
        <a:accent3>
          <a:srgbClr val="AFB2AA"/>
        </a:accent3>
        <a:accent4>
          <a:srgbClr val="D6D6D6"/>
        </a:accent4>
        <a:accent5>
          <a:srgbClr val="CAE2AA"/>
        </a:accent5>
        <a:accent6>
          <a:srgbClr val="5B8900"/>
        </a:accent6>
        <a:hlink>
          <a:srgbClr val="CC9900"/>
        </a:hlink>
        <a:folHlink>
          <a:srgbClr val="B2B2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5D8C"/>
        </a:lt1>
        <a:dk2>
          <a:srgbClr val="FFFFFF"/>
        </a:dk2>
        <a:lt2>
          <a:srgbClr val="333333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6D6D6"/>
        </a:accent4>
        <a:accent5>
          <a:srgbClr val="AAE2CA"/>
        </a:accent5>
        <a:accent6>
          <a:srgbClr val="0089B7"/>
        </a:accent6>
        <a:hlink>
          <a:srgbClr val="FFCC00"/>
        </a:hlink>
        <a:folHlink>
          <a:srgbClr val="D8D4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9AA"/>
        </a:accent5>
        <a:accent6>
          <a:srgbClr val="A661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A9A88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22222"/>
        </a:accent4>
        <a:accent5>
          <a:srgbClr val="E2CAAA"/>
        </a:accent5>
        <a:accent6>
          <a:srgbClr val="B7B789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0</TotalTime>
  <Words>579</Words>
  <Application>WPS 演示</Application>
  <PresentationFormat>全屏显示(4:3)</PresentationFormat>
  <Paragraphs>52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华文彩云</vt:lpstr>
      <vt:lpstr>黑体</vt:lpstr>
      <vt:lpstr>微软雅黑</vt:lpstr>
      <vt:lpstr>Arial Unicode MS</vt:lpstr>
      <vt:lpstr>Axis</vt:lpstr>
      <vt:lpstr>数据库系统原理总结</vt:lpstr>
      <vt:lpstr>知识点</vt:lpstr>
      <vt:lpstr>知识点</vt:lpstr>
      <vt:lpstr>知识点</vt:lpstr>
      <vt:lpstr>本门课程成绩</vt:lpstr>
    </vt:vector>
  </TitlesOfParts>
  <Company>jlu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面向机器学习的数据库技术</dc:title>
  <dc:creator>qiuxm</dc:creator>
  <cp:lastModifiedBy>akang</cp:lastModifiedBy>
  <cp:revision>26</cp:revision>
  <dcterms:created xsi:type="dcterms:W3CDTF">2021-07-19T01:27:00Z</dcterms:created>
  <dcterms:modified xsi:type="dcterms:W3CDTF">2024-11-12T05:27:05Z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2052-11.8.2.12089</vt:lpwstr>
  </property>
  <property fmtid="{D5CDD505-2E9C-101B-9397-08002B2CF9AE}" pid="3" name="ICV">
    <vt:lpwstr>B37BB359BFE6465399F6E99A3F89505B</vt:lpwstr>
  </property>
</Properties>
</file>