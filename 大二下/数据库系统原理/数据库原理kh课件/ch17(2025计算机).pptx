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320" r:id="rId2"/>
    <p:sldId id="256" r:id="rId3"/>
    <p:sldId id="409" r:id="rId4"/>
    <p:sldId id="257" r:id="rId5"/>
    <p:sldId id="259" r:id="rId6"/>
    <p:sldId id="345" r:id="rId7"/>
    <p:sldId id="260" r:id="rId8"/>
    <p:sldId id="258" r:id="rId9"/>
    <p:sldId id="261" r:id="rId10"/>
    <p:sldId id="262" r:id="rId11"/>
    <p:sldId id="265" r:id="rId12"/>
    <p:sldId id="266" r:id="rId13"/>
    <p:sldId id="267" r:id="rId14"/>
    <p:sldId id="380" r:id="rId15"/>
    <p:sldId id="268" r:id="rId16"/>
    <p:sldId id="269" r:id="rId17"/>
    <p:sldId id="270" r:id="rId18"/>
    <p:sldId id="373" r:id="rId19"/>
    <p:sldId id="271" r:id="rId20"/>
    <p:sldId id="272" r:id="rId21"/>
    <p:sldId id="273" r:id="rId22"/>
    <p:sldId id="381" r:id="rId23"/>
    <p:sldId id="382" r:id="rId24"/>
    <p:sldId id="383" r:id="rId25"/>
    <p:sldId id="386" r:id="rId26"/>
    <p:sldId id="384" r:id="rId27"/>
    <p:sldId id="326" r:id="rId28"/>
    <p:sldId id="385" r:id="rId29"/>
    <p:sldId id="329" r:id="rId30"/>
    <p:sldId id="277" r:id="rId31"/>
    <p:sldId id="278" r:id="rId32"/>
    <p:sldId id="279" r:id="rId33"/>
    <p:sldId id="332" r:id="rId34"/>
    <p:sldId id="410" r:id="rId35"/>
    <p:sldId id="411" r:id="rId36"/>
    <p:sldId id="412" r:id="rId37"/>
    <p:sldId id="413" r:id="rId38"/>
    <p:sldId id="414" r:id="rId39"/>
    <p:sldId id="415" r:id="rId40"/>
    <p:sldId id="416" r:id="rId41"/>
    <p:sldId id="341" r:id="rId42"/>
    <p:sldId id="282" r:id="rId43"/>
    <p:sldId id="281" r:id="rId44"/>
    <p:sldId id="378" r:id="rId45"/>
    <p:sldId id="374" r:id="rId46"/>
    <p:sldId id="375" r:id="rId47"/>
    <p:sldId id="379" r:id="rId48"/>
    <p:sldId id="376" r:id="rId49"/>
    <p:sldId id="319" r:id="rId50"/>
  </p:sldIdLst>
  <p:sldSz cx="9144000" cy="6858000" type="screen4x3"/>
  <p:notesSz cx="7010400" cy="9296400"/>
  <p:custDataLst>
    <p:tags r:id="rId53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9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84" y="882"/>
      </p:cViewPr>
      <p:guideLst>
        <p:guide orient="horz" pos="689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t" anchorCtr="0" compatLnSpc="1"/>
          <a:lstStyle>
            <a:lvl1pPr defTabSz="930275">
              <a:defRPr sz="13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t" anchorCtr="0" compatLnSpc="1"/>
          <a:lstStyle>
            <a:lvl1pPr algn="r" defTabSz="930275">
              <a:defRPr sz="13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b" anchorCtr="0" compatLnSpc="1"/>
          <a:lstStyle>
            <a:lvl1pPr defTabSz="930275">
              <a:defRPr sz="13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3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b" anchorCtr="0" compatLnSpc="1"/>
          <a:lstStyle/>
          <a:p>
            <a:pPr lvl="0" algn="r" defTabSz="930275"/>
            <a:fld id="{9A0DB2DC-4C9A-4742-B13C-FB6460FD3503}" type="slidenum">
              <a:rPr lang="en-US" altLang="zh-CN" sz="1300" dirty="0"/>
              <a:t>‹#›</a:t>
            </a:fld>
            <a:endParaRPr lang="en-US" altLang="zh-CN" sz="13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67" tIns="46584" rIns="93167" bIns="46584" numCol="1" anchor="ctr" anchorCtr="0" compatLnSpc="1"/>
          <a:lstStyle>
            <a:lvl1pPr defTabSz="930275">
              <a:defRPr sz="1300">
                <a:latin typeface="Times New Roman" panose="02020603050405020304" charset="0"/>
              </a:defRPr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67" tIns="46584" rIns="93167" bIns="46584" numCol="1" anchor="ctr" anchorCtr="0" compatLnSpc="1"/>
          <a:lstStyle>
            <a:lvl1pPr algn="r" defTabSz="930275">
              <a:defRPr sz="1300">
                <a:latin typeface="Times New Roman" panose="02020603050405020304" charset="0"/>
              </a:defRPr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67" tIns="46584" rIns="93167" bIns="46584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67" tIns="46584" rIns="93167" bIns="46584" numCol="1" anchor="b" anchorCtr="0" compatLnSpc="1"/>
          <a:lstStyle>
            <a:lvl1pPr defTabSz="930275">
              <a:defRPr sz="1300">
                <a:latin typeface="Times New Roman" panose="02020603050405020304" charset="0"/>
              </a:defRPr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67" tIns="46584" rIns="93167" bIns="46584" numCol="1" anchor="b" anchorCtr="0" compatLnSpc="1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‹#›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2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5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6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163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7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8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204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9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10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11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12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13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14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15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16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17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18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19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20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21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4710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25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27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28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none" lIns="93167" tIns="46584" rIns="93167" bIns="46584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29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30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31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32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655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33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675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41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696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42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43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44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45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46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47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819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48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839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67" tIns="46584" rIns="93167" bIns="46584" anchor="b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49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67" tIns="46584" rIns="93167" bIns="46584" anchor="ctr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jpeg"/><Relationship Id="rId4" Type="http://schemas.openxmlformats.org/officeDocument/2006/relationships/hyperlink" Target="http://www.db-book.com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Rectangle 2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3" imgW="0" imgH="0" progId="MS_ClipArt_Gallery.2">
                  <p:embed/>
                </p:oleObj>
              </mc:Choice>
              <mc:Fallback>
                <p:oleObj r:id="rId3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b="1" dirty="0">
                <a:solidFill>
                  <a:srgbClr val="CC3300"/>
                </a:solidFill>
                <a:latin typeface="Helvetica" panose="020B0604020202030204" charset="0"/>
              </a:rPr>
              <a:t>Database System Concepts, 6</a:t>
            </a:r>
            <a:r>
              <a:rPr lang="en-US" altLang="zh-CN" b="1" baseline="30000" dirty="0">
                <a:solidFill>
                  <a:srgbClr val="CC3300"/>
                </a:solidFill>
                <a:latin typeface="Helvetica" panose="020B0604020202030204" charset="0"/>
              </a:rPr>
              <a:t>th</a:t>
            </a:r>
            <a:r>
              <a:rPr lang="en-US" altLang="zh-CN" b="1" dirty="0">
                <a:solidFill>
                  <a:srgbClr val="CC3300"/>
                </a:solidFill>
                <a:latin typeface="Helvetica" panose="020B0604020202030204" charset="0"/>
              </a:rPr>
              <a:t> Ed</a:t>
            </a:r>
            <a:r>
              <a:rPr lang="en-US" altLang="zh-CN" dirty="0">
                <a:solidFill>
                  <a:srgbClr val="CC3300"/>
                </a:solidFill>
                <a:latin typeface="Helvetica" panose="020B0604020202030204" charset="0"/>
              </a:rPr>
              <a:t>.</a:t>
            </a:r>
          </a:p>
          <a:p>
            <a:pPr lvl="0" algn="ctr">
              <a:spcBef>
                <a:spcPct val="50000"/>
              </a:spcBef>
            </a:pP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  <a:t>©Silberschatz, Korth and Sudarshan</a:t>
            </a:r>
            <a:b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</a:b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  <a:t>See </a:t>
            </a: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  <a:hlinkClick r:id="rId4"/>
              </a:rPr>
              <a:t>www.db-book.com</a:t>
            </a: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  <a:t> for conditions on re-use </a:t>
            </a:r>
          </a:p>
        </p:txBody>
      </p:sp>
      <p:pic>
        <p:nvPicPr>
          <p:cNvPr id="87044" name="Picture 8" descr="Cover-6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6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95972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panose="020B0604020202030204" charset="0"/>
              </a:rPr>
              <a:t>©Silberschatz, Korth and Sudarshan</a:t>
            </a:r>
          </a:p>
        </p:txBody>
      </p:sp>
      <p:sp>
        <p:nvSpPr>
          <p:cNvPr id="595973" name="Text Box 5"/>
          <p:cNvSpPr txBox="1">
            <a:spLocks noChangeArrowheads="1"/>
          </p:cNvSpPr>
          <p:nvPr/>
        </p:nvSpPr>
        <p:spPr bwMode="auto">
          <a:xfrm>
            <a:off x="4446588" y="6613525"/>
            <a:ext cx="51435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panose="020B0604020202030204" charset="0"/>
              </a:rPr>
              <a:t>14.</a:t>
            </a:r>
            <a:fld id="{9A0DB2DC-4C9A-4742-B13C-FB6460FD3503}" type="slidenum">
              <a:rPr lang="en-US" altLang="zh-CN" sz="1000" b="1" dirty="0">
                <a:solidFill>
                  <a:srgbClr val="000099"/>
                </a:solidFill>
                <a:latin typeface="Helvetica" panose="020B0604020202030204" charset="0"/>
              </a:rPr>
              <a:t>‹#›</a:t>
            </a:fld>
            <a:endParaRPr lang="en-US" altLang="zh-CN" sz="1000" b="1" dirty="0">
              <a:solidFill>
                <a:srgbClr val="000099"/>
              </a:solidFill>
              <a:latin typeface="Helvetica" panose="020B0604020202030204" charset="0"/>
            </a:endParaRPr>
          </a:p>
        </p:txBody>
      </p:sp>
      <p:sp>
        <p:nvSpPr>
          <p:cNvPr id="5959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Text Box 7"/>
          <p:cNvSpPr txBox="1"/>
          <p:nvPr/>
        </p:nvSpPr>
        <p:spPr>
          <a:xfrm>
            <a:off x="0" y="6613525"/>
            <a:ext cx="2574925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panose="020B0604020202030204" charset="0"/>
              </a:rPr>
              <a:t>Database System Concepts - 6</a:t>
            </a:r>
            <a:r>
              <a:rPr lang="en-US" altLang="zh-CN" sz="1000" b="1" baseline="30000" dirty="0">
                <a:solidFill>
                  <a:srgbClr val="000099"/>
                </a:solidFill>
                <a:latin typeface="Helvetica" panose="020B0604020202030204" charset="0"/>
              </a:rPr>
              <a:t>th</a:t>
            </a:r>
            <a:r>
              <a:rPr lang="en-US" altLang="zh-CN" sz="1000" b="1" dirty="0">
                <a:solidFill>
                  <a:srgbClr val="000099"/>
                </a:solidFill>
                <a:latin typeface="Helvetica" panose="020B0604020202030204" charset="0"/>
              </a:rPr>
              <a:t> Edition</a:t>
            </a:r>
          </a:p>
        </p:txBody>
      </p:sp>
      <p:sp>
        <p:nvSpPr>
          <p:cNvPr id="1031" name="Freeform 8"/>
          <p:cNvSpPr/>
          <p:nvPr/>
        </p:nvSpPr>
        <p:spPr>
          <a:xfrm>
            <a:off x="8916988" y="5445125"/>
            <a:ext cx="227012" cy="47625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2" y="48"/>
              </a:cxn>
              <a:cxn ang="0">
                <a:pos x="9" y="34"/>
              </a:cxn>
              <a:cxn ang="0">
                <a:pos x="17" y="25"/>
              </a:cxn>
              <a:cxn ang="0">
                <a:pos x="30" y="17"/>
              </a:cxn>
              <a:cxn ang="0">
                <a:pos x="45" y="10"/>
              </a:cxn>
              <a:cxn ang="0">
                <a:pos x="57" y="6"/>
              </a:cxn>
              <a:cxn ang="0">
                <a:pos x="70" y="2"/>
              </a:cxn>
              <a:cxn ang="0">
                <a:pos x="85" y="0"/>
              </a:cxn>
              <a:cxn ang="0">
                <a:pos x="100" y="0"/>
              </a:cxn>
              <a:cxn ang="0">
                <a:pos x="118" y="0"/>
              </a:cxn>
              <a:cxn ang="0">
                <a:pos x="137" y="0"/>
              </a:cxn>
              <a:cxn ang="0">
                <a:pos x="154" y="2"/>
              </a:cxn>
              <a:cxn ang="0">
                <a:pos x="173" y="6"/>
              </a:cxn>
              <a:cxn ang="0">
                <a:pos x="192" y="8"/>
              </a:cxn>
              <a:cxn ang="0">
                <a:pos x="209" y="12"/>
              </a:cxn>
              <a:cxn ang="0">
                <a:pos x="224" y="15"/>
              </a:cxn>
              <a:cxn ang="0">
                <a:pos x="239" y="19"/>
              </a:cxn>
              <a:cxn ang="0">
                <a:pos x="254" y="23"/>
              </a:cxn>
              <a:cxn ang="0">
                <a:pos x="266" y="25"/>
              </a:cxn>
              <a:cxn ang="0">
                <a:pos x="273" y="27"/>
              </a:cxn>
              <a:cxn ang="0">
                <a:pos x="283" y="31"/>
              </a:cxn>
              <a:cxn ang="0">
                <a:pos x="279" y="44"/>
              </a:cxn>
              <a:cxn ang="0">
                <a:pos x="273" y="42"/>
              </a:cxn>
              <a:cxn ang="0">
                <a:pos x="260" y="40"/>
              </a:cxn>
              <a:cxn ang="0">
                <a:pos x="241" y="36"/>
              </a:cxn>
              <a:cxn ang="0">
                <a:pos x="230" y="34"/>
              </a:cxn>
              <a:cxn ang="0">
                <a:pos x="218" y="32"/>
              </a:cxn>
              <a:cxn ang="0">
                <a:pos x="207" y="31"/>
              </a:cxn>
              <a:cxn ang="0">
                <a:pos x="196" y="29"/>
              </a:cxn>
              <a:cxn ang="0">
                <a:pos x="182" y="27"/>
              </a:cxn>
              <a:cxn ang="0">
                <a:pos x="173" y="25"/>
              </a:cxn>
              <a:cxn ang="0">
                <a:pos x="163" y="23"/>
              </a:cxn>
              <a:cxn ang="0">
                <a:pos x="154" y="21"/>
              </a:cxn>
              <a:cxn ang="0">
                <a:pos x="142" y="19"/>
              </a:cxn>
              <a:cxn ang="0">
                <a:pos x="110" y="15"/>
              </a:cxn>
              <a:cxn ang="0">
                <a:pos x="83" y="21"/>
              </a:cxn>
              <a:cxn ang="0">
                <a:pos x="59" y="29"/>
              </a:cxn>
              <a:cxn ang="0">
                <a:pos x="53" y="31"/>
              </a:cxn>
              <a:cxn ang="0">
                <a:pos x="43" y="34"/>
              </a:cxn>
              <a:cxn ang="0">
                <a:pos x="32" y="38"/>
              </a:cxn>
              <a:cxn ang="0">
                <a:pos x="23" y="44"/>
              </a:cxn>
              <a:cxn ang="0">
                <a:pos x="7" y="55"/>
              </a:cxn>
              <a:cxn ang="0">
                <a:pos x="2" y="61"/>
              </a:cxn>
            </a:cxnLst>
            <a:rect l="0" t="0" r="0" b="0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32" name="Picture 9" descr="Cover-6E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0"/>
        <a:buChar char="n"/>
        <a:defRPr kumimoji="1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0"/>
        <a:buChar char="l"/>
        <a:defRPr kumimoji="1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charset="0"/>
        <a:buChar char="4"/>
        <a:defRPr kumimoji="1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charset="0"/>
        <a:buChar char="–"/>
        <a:defRPr kumimoji="1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>
              <a:buClrTx/>
              <a:buSzTx/>
              <a:buFontTx/>
            </a:pPr>
            <a:r>
              <a:rPr kumimoji="1" lang="en-US" altLang="zh-CN" sz="44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Chapter 17: Transactions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29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8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814705" y="1094105"/>
            <a:ext cx="7713980" cy="4902835"/>
          </a:xfrm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Transaction Concept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Transaction State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Concurrent Executions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Recoverability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Implementation of Isolation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Transaction Definition in SQL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Testing for Serializability.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>
          <a:xfrm>
            <a:off x="179388" y="1078548"/>
            <a:ext cx="8640762" cy="48958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rgbClr val="FF3300"/>
              </a:buClr>
              <a:buSzPct val="125000"/>
            </a:pPr>
            <a:r>
              <a:rPr lang="en-US" altLang="zh-CN" sz="3200" dirty="0"/>
              <a:t> http://research.microsoft.com/~gray/</a:t>
            </a:r>
          </a:p>
          <a:p>
            <a:pPr eaLnBrk="1" hangingPunct="1">
              <a:buClr>
                <a:srgbClr val="FF3300"/>
              </a:buClr>
              <a:buSzPct val="125000"/>
              <a:buFont typeface="Times New Roman" panose="02020603050405020304" charset="0"/>
            </a:pPr>
            <a:endParaRPr lang="en-US" altLang="zh-CN" sz="2600" dirty="0"/>
          </a:p>
        </p:txBody>
      </p:sp>
      <p:pic>
        <p:nvPicPr>
          <p:cNvPr id="5124" name="Picture 4" descr="jimgray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2483" y="1997393"/>
            <a:ext cx="2652712" cy="3960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6"/>
          <p:cNvSpPr/>
          <p:nvPr/>
        </p:nvSpPr>
        <p:spPr>
          <a:xfrm>
            <a:off x="4098925" y="4338233"/>
            <a:ext cx="448691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125000"/>
              <a:buFont typeface="Times New Roman" panose="02020603050405020304" charset="0"/>
              <a:buChar char="♠"/>
              <a:defRPr sz="3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 New Roman" panose="02020603050405020304" charset="0"/>
              <a:buChar char="♣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Font typeface="Times New Roman" panose="02020603050405020304" charset="0"/>
              <a:buChar char="♦"/>
              <a:defRPr sz="2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chemeClr val="tx2"/>
                </a:solidFill>
                <a:latin typeface="Helvetica" panose="020B0604020202030204" charset="0"/>
                <a:ea typeface="宋体" panose="02010600030101010101" pitchFamily="2" charset="-122"/>
              </a:rPr>
              <a:t>TRANSACTION PROCESSING: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chemeClr val="tx2"/>
                </a:solidFill>
                <a:latin typeface="Helvetica" panose="020B0604020202030204" charset="0"/>
                <a:ea typeface="宋体" panose="02010600030101010101" pitchFamily="2" charset="-122"/>
              </a:rPr>
              <a:t>CONCEPTS AND TECHNIQUES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98925" y="1998345"/>
            <a:ext cx="4382135" cy="1436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James Gray(詹姆斯 • 格雷)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1998 解决保障数据的完整性、安全性、并行性，以及从故障恢复方面发挥了十分关键的作用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Transaction Concept</a:t>
            </a: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-635" y="1094105"/>
            <a:ext cx="9118600" cy="5386705"/>
          </a:xfrm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unit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 program execution that accesses and  possibly </a:t>
            </a:r>
            <a:r>
              <a:rPr lang="en-US" altLang="zh-CN" sz="24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 various data items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E.g., transaction to transfer $50 from account A to account B: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1.	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2.	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 –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3.	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4.	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5.	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 +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6.	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Two main issues to deal with: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Failures of various kinds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such as 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failures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crashes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Concurrent execution of multiple transactions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Required  Properties of a Transaction</a:t>
            </a: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55245" y="906780"/>
            <a:ext cx="8909050" cy="5520690"/>
          </a:xfrm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Transaction to transfer $50 from account A to account B:</a:t>
            </a:r>
          </a:p>
          <a:p>
            <a:pPr lvl="1"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1.	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2.	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A –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pPr lvl="1"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3.	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4.	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5.	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B +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pPr lvl="1"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6.	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600" i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Atomicity requirement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If the transaction fails after step 3 and before step 6, money will be 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lost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leading to an inconsistent database state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Failure could be </a:t>
            </a: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software or hardware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system should ensure that updates of a partially executed transaction are not reflected in the database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Durability requirement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— once the user has been notified that the transaction has completed (i.e., the transfer of the $50 has taken place), the updates to the database by the transaction must persist even if there are software or hardware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37565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Required Properties of a Transaction (Cont.)</a:t>
            </a:r>
          </a:p>
        </p:txBody>
      </p:sp>
      <p:sp>
        <p:nvSpPr>
          <p:cNvPr id="528387" name="Rectangle 3"/>
          <p:cNvSpPr>
            <a:spLocks noGrp="1"/>
          </p:cNvSpPr>
          <p:nvPr>
            <p:ph idx="1"/>
          </p:nvPr>
        </p:nvSpPr>
        <p:spPr>
          <a:xfrm>
            <a:off x="184150" y="923925"/>
            <a:ext cx="8751888" cy="558800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Transaction to transfer $50 from account A to account B: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	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read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	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:= 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– 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50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3.	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write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4.	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read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5.	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:= 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 + 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50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	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write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B)</a:t>
            </a:r>
            <a:endParaRPr lang="en-US" altLang="zh-CN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 requirement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in above example: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sum of A and B is unchanged by the execution of the transaction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 general, </a:t>
            </a:r>
            <a:r>
              <a:rPr lang="en-US" altLang="zh-CN" sz="1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 requirements include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Explicitly specified integrity constraints such as primary keys and foreign keys</a:t>
            </a:r>
          </a:p>
          <a:p>
            <a:pPr lvl="2"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integrity constraints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e.g., sum of balances of all accounts, minus sum of loan amounts must equal value of cash-in-hand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6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A transaction, when </a:t>
            </a: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</a:t>
            </a:r>
            <a:r>
              <a:rPr lang="en-US" altLang="zh-CN" sz="16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to execute,  must see a </a:t>
            </a: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database</a:t>
            </a:r>
            <a:r>
              <a:rPr lang="en-US" altLang="zh-CN" sz="16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en-US" altLang="zh-CN" sz="16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transaction execution the database </a:t>
            </a: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temporarily inconsistent</a:t>
            </a:r>
            <a:r>
              <a:rPr lang="en-US" altLang="zh-CN" sz="16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6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When the transaction </a:t>
            </a: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completes successfully</a:t>
            </a:r>
            <a:r>
              <a:rPr lang="en-US" altLang="zh-CN" sz="16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the database must be </a:t>
            </a:r>
            <a:r>
              <a:rPr lang="en-US" altLang="zh-CN" sz="1600" b="1" i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Erroneous transaction logic can lead to inconsistency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 dirty="0">
                <a:effectLst>
                  <a:outerShdw blurRad="38100" dist="38100" dir="2700000">
                    <a:srgbClr val="C0C0C0"/>
                  </a:outerShdw>
                </a:effectLst>
              </a:rPr>
              <a:t>Required Properties of a Transaction (Cont.)</a:t>
            </a: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157480" y="1094105"/>
            <a:ext cx="8807450" cy="5390515"/>
          </a:xfrm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Isolation requirement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— if between steps 3 and 6 (of the fund transfer transaction) , another transaction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is allowed to access the partially updated database, it will see an inconsistent database (the sum 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A + B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will be less than it should be).</a:t>
            </a:r>
          </a:p>
          <a:p>
            <a:pPr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T1                                        T2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1.	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2.	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A –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3.	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read(A), read(B), print(A+B)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4.	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5.	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:=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B +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pPr lvl="1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6.	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Isolation can be ensured trivially by running transactions 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serially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That is, one after the other.   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However, executing multiple transactions concurrently has significant benefits, as we will see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ACID Properties</a:t>
            </a:r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142968" y="2235200"/>
            <a:ext cx="8867682" cy="4093845"/>
          </a:xfrm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99"/>
                </a:solidFill>
              </a:rPr>
              <a:t>Atomicity</a:t>
            </a:r>
            <a:r>
              <a:rPr lang="en-US" altLang="zh-CN" b="1" dirty="0"/>
              <a:t>. </a:t>
            </a:r>
            <a:r>
              <a:rPr lang="en-US" altLang="zh-CN" dirty="0"/>
              <a:t> Either all operations of the transaction are properly reflected in the database or none are.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en-US" altLang="zh-CN" b="1" dirty="0"/>
              <a:t>.</a:t>
            </a:r>
            <a:r>
              <a:rPr lang="en-US" altLang="zh-CN" dirty="0"/>
              <a:t>  Execution of a transaction in isolation preserves the consistency of the database.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99"/>
                </a:solidFill>
              </a:rPr>
              <a:t>Isolation</a:t>
            </a:r>
            <a:r>
              <a:rPr lang="en-US" altLang="zh-CN" b="1" dirty="0"/>
              <a:t>.</a:t>
            </a:r>
            <a:r>
              <a:rPr lang="en-US" altLang="zh-CN" dirty="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dirty="0"/>
              <a:t>That is, for every pair of transactions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and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j</a:t>
            </a:r>
            <a:r>
              <a:rPr lang="en-US" altLang="zh-CN" i="1" dirty="0"/>
              <a:t>, </a:t>
            </a:r>
            <a:r>
              <a:rPr lang="en-US" altLang="zh-CN" dirty="0"/>
              <a:t>it appears to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that either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j</a:t>
            </a:r>
            <a:r>
              <a:rPr lang="en-US" altLang="zh-CN" i="1" dirty="0"/>
              <a:t>, </a:t>
            </a:r>
            <a:r>
              <a:rPr lang="en-US" altLang="zh-CN" dirty="0"/>
              <a:t>finished execution before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i</a:t>
            </a:r>
            <a:r>
              <a:rPr lang="en-US" altLang="zh-CN" dirty="0"/>
              <a:t> started, or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j</a:t>
            </a:r>
            <a:r>
              <a:rPr lang="en-US" altLang="zh-CN" dirty="0"/>
              <a:t> started execution after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i</a:t>
            </a:r>
            <a:r>
              <a:rPr lang="en-US" altLang="zh-CN" dirty="0"/>
              <a:t> finished.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99"/>
                </a:solidFill>
              </a:rPr>
              <a:t>Durability</a:t>
            </a:r>
            <a:r>
              <a:rPr lang="en-US" altLang="zh-CN" b="1" dirty="0"/>
              <a:t>.  </a:t>
            </a:r>
            <a:r>
              <a:rPr lang="en-US" altLang="zh-CN" dirty="0"/>
              <a:t>After a transaction completes successfully, the changes it has made to the database persist, even if there are system failures. </a:t>
            </a:r>
            <a:endParaRPr lang="en-US" altLang="zh-CN" i="1" dirty="0"/>
          </a:p>
        </p:txBody>
      </p:sp>
      <p:sp>
        <p:nvSpPr>
          <p:cNvPr id="19459" name="Text Box 4"/>
          <p:cNvSpPr txBox="1"/>
          <p:nvPr/>
        </p:nvSpPr>
        <p:spPr>
          <a:xfrm>
            <a:off x="125730" y="1103630"/>
            <a:ext cx="8884920" cy="922020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  </a:t>
            </a:r>
            <a:r>
              <a:rPr lang="en-US" altLang="zh-CN" sz="1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is a unit of program execution that accesses and possibly updates various data items. To preserve the integrity of data the database system must ensure: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Transaction State</a:t>
            </a: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107315" y="1106805"/>
            <a:ext cx="8874125" cy="5522595"/>
          </a:xfrm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活跃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initial state; the transaction stays in this state while it is executing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Partially committed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（部分提交）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after the final statement has been executed.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Failed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（失效）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after the discovery that normal execution can no longer proceed.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Aborted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（终止）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 after the transaction has been rolled back and the database restored to its state prior to the start of the transaction.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Two options after it has been aborted: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Restart the transaction</a:t>
            </a:r>
          </a:p>
          <a:p>
            <a:pPr lvl="2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can be done only if no internal logical error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Kill the transaction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Committed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（提交）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 after successful completion.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3144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Transaction State (Cont.)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3" t="3268" r="11909" b="1634"/>
          <a:stretch>
            <a:fillRect/>
          </a:stretch>
        </p:blipFill>
        <p:spPr bwMode="auto">
          <a:xfrm>
            <a:off x="1657350" y="1079500"/>
            <a:ext cx="5657850" cy="518953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533400" y="4438650"/>
            <a:ext cx="1295400" cy="685800"/>
          </a:xfrm>
          <a:prstGeom prst="wedgeRoundRectCallout">
            <a:avLst>
              <a:gd name="adj1" fmla="val 65810"/>
              <a:gd name="adj2" fmla="val -133565"/>
              <a:gd name="adj3" fmla="val 16667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初始状态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485900" y="5600700"/>
            <a:ext cx="1733550" cy="876300"/>
          </a:xfrm>
          <a:prstGeom prst="wedgeRoundRectCallout">
            <a:avLst>
              <a:gd name="adj1" fmla="val 81227"/>
              <a:gd name="adj2" fmla="val -63407"/>
              <a:gd name="adj3" fmla="val 16667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事务无法继</a:t>
            </a:r>
          </a:p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续正常执行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4210050" y="2590800"/>
            <a:ext cx="1733550" cy="895350"/>
          </a:xfrm>
          <a:prstGeom prst="wedgeRoundRectCallout">
            <a:avLst>
              <a:gd name="adj1" fmla="val -42949"/>
              <a:gd name="adj2" fmla="val -102306"/>
              <a:gd name="adj3" fmla="val 16667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最后一条语</a:t>
            </a:r>
          </a:p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句被执行后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6858000" y="2438400"/>
            <a:ext cx="2133600" cy="914400"/>
          </a:xfrm>
          <a:prstGeom prst="wedgeRoundRectCallout">
            <a:avLst>
              <a:gd name="adj1" fmla="val -46505"/>
              <a:gd name="adj2" fmla="val -97398"/>
              <a:gd name="adj3" fmla="val 16667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成功完成，永</a:t>
            </a:r>
          </a:p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久写入数据库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6648450" y="3467100"/>
            <a:ext cx="2266950" cy="1276350"/>
          </a:xfrm>
          <a:prstGeom prst="wedgeRoundRectCallout">
            <a:avLst>
              <a:gd name="adj1" fmla="val -38657"/>
              <a:gd name="adj2" fmla="val 101491"/>
              <a:gd name="adj3" fmla="val 16667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事务回滚，数</a:t>
            </a:r>
          </a:p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据库恢复到事</a:t>
            </a:r>
          </a:p>
          <a:p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ea typeface="幼圆" panose="02010509060101010101" pitchFamily="49" charset="-122"/>
              </a:rPr>
              <a:t>务开始前状态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Concurrent Executions</a:t>
            </a: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132080" y="1002030"/>
            <a:ext cx="8880475" cy="545528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Multiple transactions are allowed to run concurrently in the system.  Advantages are:</a:t>
            </a:r>
          </a:p>
          <a:p>
            <a:pPr lvl="1"/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 processor and disk utilization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, leading to better transaction </a:t>
            </a:r>
            <a:r>
              <a:rPr lang="en-US" altLang="zh-CN" sz="2000" b="1" i="1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</a:t>
            </a:r>
          </a:p>
          <a:p>
            <a:pPr lvl="2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E.g. one transaction can be using the CPU while another is reading from or writing to the disk</a:t>
            </a:r>
          </a:p>
          <a:p>
            <a:pPr lvl="1"/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average response time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for transactions: short transactions need not wait behind long ones.</a:t>
            </a:r>
          </a:p>
          <a:p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Concurrency control schemes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– mechanisms  to achieve isolation</a:t>
            </a:r>
          </a:p>
          <a:p>
            <a:pPr lvl="1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That is, to control the interaction among the concurrent transactions in order to prevent them from destroying the consistency of the database</a:t>
            </a:r>
          </a:p>
          <a:p>
            <a:pPr lvl="2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Will study in Chapter 15, after studying notion of correctness of concurrent executions.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Schedules</a:t>
            </a: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83185" y="973455"/>
            <a:ext cx="8889365" cy="552958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 a sequences of instructions that specify the chronological order in which instructions of concurrent transactions are executed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schedule for a set of transactions must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 of all instructions of those transactions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Must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preserve the order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 which the instructions appear in each individual transaction.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transaction that successfully completes its execution will have a </a:t>
            </a:r>
            <a:r>
              <a:rPr lang="en-US" altLang="zh-CN" sz="2400" b="1" i="1" u="sng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instructions as the last statement 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By default transaction assumed to execute commit instruction as its last step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transaction that fails to successfully complete its execution will have an </a:t>
            </a:r>
            <a:r>
              <a:rPr lang="en-US" altLang="zh-CN" sz="2400" b="1" i="1" u="sng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instruction as the last statement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Schedule 1</a:t>
            </a: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144145" y="1094105"/>
            <a:ext cx="4240530" cy="541909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transfer $50 from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transfer 10% of the balance from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defTabSz="914400"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 example of a 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schedule in which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followed by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defTabSz="914400">
              <a:buNone/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</p:txBody>
      </p:sp>
      <p:pic>
        <p:nvPicPr>
          <p:cNvPr id="29699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675" y="848360"/>
            <a:ext cx="4522470" cy="5665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Schedule 2</a:t>
            </a: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158750" y="1094105"/>
            <a:ext cx="8792845" cy="56896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schedule in which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followed by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defTabSz="914400">
              <a:buNone/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</p:txBody>
      </p:sp>
      <p:pic>
        <p:nvPicPr>
          <p:cNvPr id="31747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845" y="1764030"/>
            <a:ext cx="3786505" cy="47110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Schedule 3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107315" y="1106805"/>
            <a:ext cx="9036050" cy="105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indent="-342900" defTabSz="91440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be the transactions defined previously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The following schedule is not a serial schedule, but it is </a:t>
            </a: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Schedule 1.</a:t>
            </a:r>
          </a:p>
          <a:p>
            <a:pPr marL="342900" indent="-342900" defTabSz="91440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en-US" altLang="zh-CN" sz="2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0" t="4266" r="23801" b="5333"/>
          <a:stretch>
            <a:fillRect/>
          </a:stretch>
        </p:blipFill>
        <p:spPr bwMode="auto">
          <a:xfrm>
            <a:off x="4910138" y="2321878"/>
            <a:ext cx="3176588" cy="39592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7" t="3107" r="23128" b="2663"/>
          <a:stretch>
            <a:fillRect/>
          </a:stretch>
        </p:blipFill>
        <p:spPr bwMode="auto">
          <a:xfrm>
            <a:off x="1085850" y="2318703"/>
            <a:ext cx="3162300" cy="39624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744788" y="2948940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950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681288" y="3501390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2000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2662238" y="2682240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1000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681288" y="3768090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2050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1525588" y="4320540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950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2633663" y="3215640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A=950</a:t>
            </a: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2570163" y="4034790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B=2050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1249363" y="4606290"/>
            <a:ext cx="1117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temp=95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1525588" y="4872990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855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1300163" y="5120640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A=855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1462088" y="5387340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2050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1462088" y="5654040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2145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1274763" y="5920740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B=2145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6481763" y="3234690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A=950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4995863" y="4320540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A=855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6380163" y="5120640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B=2050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5008563" y="5939790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B=2145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Schedule 4</a:t>
            </a:r>
          </a:p>
        </p:txBody>
      </p:sp>
      <p:sp>
        <p:nvSpPr>
          <p:cNvPr id="35842" name="Rectangle 4"/>
          <p:cNvSpPr>
            <a:spLocks noGrp="1"/>
          </p:cNvSpPr>
          <p:nvPr>
            <p:ph idx="1"/>
          </p:nvPr>
        </p:nvSpPr>
        <p:spPr>
          <a:xfrm>
            <a:off x="90170" y="934085"/>
            <a:ext cx="8956675" cy="719455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948180" algn="l"/>
                <a:tab pos="2684780" algn="l"/>
                <a:tab pos="3594100" algn="l"/>
                <a:tab pos="42862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The following concurrent schedule does not preserve the sum  of  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endParaRPr lang="en-US" altLang="zh-CN" sz="2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7" t="2644" r="22644" b="3967"/>
          <a:stretch>
            <a:fillRect/>
          </a:stretch>
        </p:blipFill>
        <p:spPr bwMode="auto">
          <a:xfrm>
            <a:off x="2749550" y="1927225"/>
            <a:ext cx="3467100" cy="429577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2039938" y="2636838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950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1900238" y="237013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1000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6340475" y="292258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1000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6365875" y="3227388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100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6403975" y="3551238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900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407150" y="3875088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FF66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A=900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6378575" y="416083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2000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1720850" y="4427538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A=950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1882775" y="473233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2000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882775" y="501808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2050</a:t>
            </a:r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1574800" y="5322888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FF66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B=2050</a:t>
            </a: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6340475" y="560863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2100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6343650" y="5932488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B=2100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>
          <a:xfrm>
            <a:off x="122555" y="1157605"/>
            <a:ext cx="8808085" cy="4927600"/>
          </a:xfrm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Basic Assumption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– Each transaction preserves database consistency.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Thus, serial execution of a set of transactions preserves database consistency.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(possibly concurrent) schedule is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serializable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if it is equivalent to a serial schedule.  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Different forms of schedule equivalence give rise to the notions of:</a:t>
            </a: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	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 </a:t>
            </a:r>
            <a:r>
              <a:rPr lang="en-US" altLang="zh-CN" sz="24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endParaRPr lang="en-US" altLang="zh-CN" sz="24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2.	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n-US" altLang="zh-CN" sz="24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endParaRPr lang="en-US" altLang="zh-CN" sz="24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Simplified view of transactions</a:t>
            </a:r>
          </a:p>
        </p:txBody>
      </p:sp>
      <p:sp>
        <p:nvSpPr>
          <p:cNvPr id="39938" name="Rectangle 3"/>
          <p:cNvSpPr>
            <a:spLocks noGrp="1"/>
          </p:cNvSpPr>
          <p:nvPr>
            <p:ph idx="1"/>
          </p:nvPr>
        </p:nvSpPr>
        <p:spPr>
          <a:xfrm>
            <a:off x="247650" y="1177925"/>
            <a:ext cx="8608060" cy="4956175"/>
          </a:xfrm>
        </p:spPr>
        <p:txBody>
          <a:bodyPr vert="horz" wrap="square" lIns="91440" tIns="45720" rIns="91440" bIns="45720" anchor="t"/>
          <a:lstStyle/>
          <a:p>
            <a:pPr algn="l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ignore operations other than </a:t>
            </a:r>
            <a:r>
              <a:rPr lang="en-US" altLang="zh-CN" sz="2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instructions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assume that transactions may perform arbitrary computations on data in local buffers in between reads and writes.  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 simplified schedules consist of only </a:t>
            </a:r>
            <a:r>
              <a:rPr lang="en-US" altLang="zh-CN" sz="2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instructions.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Conflicting Instructions </a:t>
            </a:r>
          </a:p>
        </p:txBody>
      </p:sp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184150" y="1106488"/>
            <a:ext cx="8705850" cy="509111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be two Instructions of transactions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respectively.  Instructions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if and only if there exists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some item </a:t>
            </a:r>
            <a:r>
              <a:rPr lang="en-US" altLang="zh-CN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accessed by both </a:t>
            </a:r>
            <a:r>
              <a:rPr lang="en-US" altLang="zh-CN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2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one of these instructions wrote </a:t>
            </a:r>
            <a:r>
              <a:rPr lang="en-US" altLang="zh-CN" sz="2400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	   1.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Q),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).  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don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t conflict.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2.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Q), 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).  They conflict.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3.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Q),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).   They conflict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4.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Q),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).  They conflict</a:t>
            </a:r>
          </a:p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Intuitively, a conflict between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forces a (logical) temporal order between them.  </a:t>
            </a:r>
          </a:p>
          <a:p>
            <a:pPr lvl="1"/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are consecutive in a schedule and they do not conflict, their results would remain the same even if they had been interchanged in the schedule.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Conflict Serializability</a:t>
            </a:r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>
          <a:xfrm>
            <a:off x="207963" y="1179513"/>
            <a:ext cx="8658225" cy="5008562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222500" algn="l"/>
                <a:tab pos="2568575" algn="l"/>
                <a:tab pos="3319780" algn="l"/>
                <a:tab pos="359410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If a schedule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can be transformed into a schedule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S´ 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by a series of swaps of non-conflicting instructions, we say that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S´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 equivalent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222500" algn="l"/>
                <a:tab pos="2568575" algn="l"/>
                <a:tab pos="3319780" algn="l"/>
                <a:tab pos="359410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We say that a schedule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 </a:t>
            </a:r>
            <a:r>
              <a:rPr lang="en-US" altLang="zh-CN" sz="2400" b="1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serializable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if it is conflict equivalent to a serial schedule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Conflict Serializability (Cont.)</a:t>
            </a:r>
          </a:p>
        </p:txBody>
      </p:sp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xfrm>
            <a:off x="89535" y="1094105"/>
            <a:ext cx="8968740" cy="4068445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063750" algn="l"/>
                <a:tab pos="2511425" algn="l"/>
                <a:tab pos="3262630" algn="l"/>
                <a:tab pos="3881755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Schedule 3 can be transformed into Schedule 6 -- a serial schedule where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follows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by a series of swaps of non-conflicting instructions.  Therefore, Schedule 3 is conflict serializable.</a:t>
            </a:r>
          </a:p>
        </p:txBody>
      </p:sp>
      <p:sp>
        <p:nvSpPr>
          <p:cNvPr id="46083" name="Text Box 11"/>
          <p:cNvSpPr txBox="1"/>
          <p:nvPr/>
        </p:nvSpPr>
        <p:spPr>
          <a:xfrm>
            <a:off x="2082800" y="6112828"/>
            <a:ext cx="14557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Helvetica" panose="020B0604020202030204" charset="0"/>
              </a:rPr>
              <a:t>Schedule 3</a:t>
            </a:r>
          </a:p>
        </p:txBody>
      </p:sp>
      <p:sp>
        <p:nvSpPr>
          <p:cNvPr id="46084" name="Text Box 12"/>
          <p:cNvSpPr txBox="1"/>
          <p:nvPr/>
        </p:nvSpPr>
        <p:spPr>
          <a:xfrm>
            <a:off x="5986463" y="6131878"/>
            <a:ext cx="14557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Helvetica" panose="020B0604020202030204" charset="0"/>
              </a:rPr>
              <a:t>Schedule 6</a:t>
            </a:r>
          </a:p>
        </p:txBody>
      </p:sp>
      <p:pic>
        <p:nvPicPr>
          <p:cNvPr id="46085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" y="2193925"/>
            <a:ext cx="4145280" cy="3357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6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450" y="2194560"/>
            <a:ext cx="4441190" cy="32886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6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t="1505" r="18285" b="1505"/>
          <a:stretch>
            <a:fillRect/>
          </a:stretch>
        </p:blipFill>
        <p:spPr bwMode="auto">
          <a:xfrm>
            <a:off x="4754245" y="1685925"/>
            <a:ext cx="4003675" cy="45608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454660" name="Rectangle 4"/>
          <p:cNvSpPr>
            <a:spLocks noChangeArrowheads="1"/>
          </p:cNvSpPr>
          <p:nvPr/>
        </p:nvSpPr>
        <p:spPr bwMode="auto">
          <a:xfrm>
            <a:off x="1111250" y="0"/>
            <a:ext cx="7732713" cy="11811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/>
            <a:r>
              <a:rPr lang="en-US" altLang="zh-CN" sz="32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Schedule 5 -- Schedule  3 After Swapping A Pair of Instructions</a:t>
            </a:r>
          </a:p>
        </p:txBody>
      </p:sp>
      <p:sp>
        <p:nvSpPr>
          <p:cNvPr id="454663" name="Rectangle 7"/>
          <p:cNvSpPr>
            <a:spLocks noChangeArrowheads="1"/>
          </p:cNvSpPr>
          <p:nvPr/>
        </p:nvSpPr>
        <p:spPr bwMode="auto">
          <a:xfrm>
            <a:off x="4855845" y="3714750"/>
            <a:ext cx="3733800" cy="1009650"/>
          </a:xfrm>
          <a:prstGeom prst="rect">
            <a:avLst/>
          </a:prstGeom>
          <a:noFill/>
          <a:ln w="28575">
            <a:solidFill>
              <a:srgbClr val="000099"/>
            </a:solidFill>
            <a:prstDash val="dash"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charset="0"/>
              <a:ea typeface="MS PGothic" panose="020B0600070205080204" charset="-128"/>
              <a:cs typeface="+mn-cs"/>
            </a:endParaRPr>
          </a:p>
        </p:txBody>
      </p:sp>
      <p:pic>
        <p:nvPicPr>
          <p:cNvPr id="45466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2" t="4988" r="19951" b="5463"/>
          <a:stretch>
            <a:fillRect/>
          </a:stretch>
        </p:blipFill>
        <p:spPr bwMode="auto">
          <a:xfrm>
            <a:off x="417195" y="1695450"/>
            <a:ext cx="4105275" cy="45735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454666" name="Rectangle 10"/>
          <p:cNvSpPr>
            <a:spLocks noChangeArrowheads="1"/>
          </p:cNvSpPr>
          <p:nvPr/>
        </p:nvSpPr>
        <p:spPr bwMode="auto">
          <a:xfrm>
            <a:off x="569595" y="3733800"/>
            <a:ext cx="3771900" cy="1047750"/>
          </a:xfrm>
          <a:prstGeom prst="rect">
            <a:avLst/>
          </a:prstGeom>
          <a:noFill/>
          <a:ln w="28575">
            <a:solidFill>
              <a:srgbClr val="000099"/>
            </a:solidFill>
            <a:prstDash val="dash"/>
            <a:miter lim="800000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charset="0"/>
              <a:ea typeface="MS PGothic" panose="020B0600070205080204" charset="-128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6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t="1505" r="18285" b="1505"/>
          <a:stretch>
            <a:fillRect/>
          </a:stretch>
        </p:blipFill>
        <p:spPr bwMode="auto">
          <a:xfrm>
            <a:off x="260350" y="1645920"/>
            <a:ext cx="4003675" cy="45608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45568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t="1505" r="18285" b="1505"/>
          <a:stretch>
            <a:fillRect/>
          </a:stretch>
        </p:blipFill>
        <p:spPr bwMode="auto">
          <a:xfrm>
            <a:off x="4813300" y="1645920"/>
            <a:ext cx="4003675" cy="45608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grpSp>
        <p:nvGrpSpPr>
          <p:cNvPr id="49155" name="Group 11"/>
          <p:cNvGrpSpPr/>
          <p:nvPr/>
        </p:nvGrpSpPr>
        <p:grpSpPr>
          <a:xfrm>
            <a:off x="4914900" y="4189095"/>
            <a:ext cx="3733800" cy="1009650"/>
            <a:chOff x="3096" y="2412"/>
            <a:chExt cx="2352" cy="636"/>
          </a:xfrm>
        </p:grpSpPr>
        <p:sp>
          <p:nvSpPr>
            <p:cNvPr id="455686" name="Text Box 6"/>
            <p:cNvSpPr txBox="1">
              <a:spLocks noChangeArrowheads="1"/>
            </p:cNvSpPr>
            <p:nvPr/>
          </p:nvSpPr>
          <p:spPr bwMode="auto">
            <a:xfrm>
              <a:off x="3102" y="2449"/>
              <a:ext cx="997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b">
              <a:spAutoFit/>
            </a:bodyPr>
            <a:lstStyle/>
            <a:p>
              <a:r>
                <a:rPr lang="en-US" altLang="zh-CN" sz="3200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write(</a:t>
              </a:r>
              <a:r>
                <a:rPr lang="en-US" altLang="zh-CN" sz="3200" i="1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B</a:t>
              </a:r>
              <a:r>
                <a:rPr lang="en-US" altLang="zh-CN" sz="3200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)</a:t>
              </a:r>
            </a:p>
          </p:txBody>
        </p:sp>
        <p:sp>
          <p:nvSpPr>
            <p:cNvPr id="455687" name="Rectangle 7"/>
            <p:cNvSpPr>
              <a:spLocks noChangeArrowheads="1"/>
            </p:cNvSpPr>
            <p:nvPr/>
          </p:nvSpPr>
          <p:spPr bwMode="auto">
            <a:xfrm>
              <a:off x="3120" y="2712"/>
              <a:ext cx="1020" cy="3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30204" charset="0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55688" name="Rectangle 8"/>
            <p:cNvSpPr>
              <a:spLocks noChangeArrowheads="1"/>
            </p:cNvSpPr>
            <p:nvPr/>
          </p:nvSpPr>
          <p:spPr bwMode="auto">
            <a:xfrm>
              <a:off x="4356" y="2412"/>
              <a:ext cx="1020" cy="3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30204" charset="0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55689" name="Text Box 9"/>
            <p:cNvSpPr txBox="1">
              <a:spLocks noChangeArrowheads="1"/>
            </p:cNvSpPr>
            <p:nvPr/>
          </p:nvSpPr>
          <p:spPr bwMode="auto">
            <a:xfrm>
              <a:off x="4338" y="2773"/>
              <a:ext cx="997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b">
              <a:spAutoFit/>
            </a:bodyPr>
            <a:lstStyle/>
            <a:p>
              <a:r>
                <a:rPr lang="en-US" altLang="zh-CN" sz="320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write(</a:t>
              </a:r>
              <a:r>
                <a:rPr lang="en-US" altLang="zh-CN" sz="3200" i="1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A</a:t>
              </a:r>
              <a:r>
                <a:rPr lang="en-US" altLang="zh-CN" sz="320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)</a:t>
              </a:r>
            </a:p>
          </p:txBody>
        </p:sp>
        <p:sp>
          <p:nvSpPr>
            <p:cNvPr id="455690" name="Rectangle 10"/>
            <p:cNvSpPr>
              <a:spLocks noChangeArrowheads="1"/>
            </p:cNvSpPr>
            <p:nvPr/>
          </p:nvSpPr>
          <p:spPr bwMode="auto">
            <a:xfrm>
              <a:off x="3096" y="2412"/>
              <a:ext cx="2352" cy="636"/>
            </a:xfrm>
            <a:prstGeom prst="rect">
              <a:avLst/>
            </a:prstGeom>
            <a:noFill/>
            <a:ln w="28575">
              <a:solidFill>
                <a:srgbClr val="000099"/>
              </a:solidFill>
              <a:prstDash val="dash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30204" charset="0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455692" name="Rectangle 12"/>
          <p:cNvSpPr>
            <a:spLocks noChangeArrowheads="1"/>
          </p:cNvSpPr>
          <p:nvPr/>
        </p:nvSpPr>
        <p:spPr bwMode="auto">
          <a:xfrm>
            <a:off x="946150" y="0"/>
            <a:ext cx="7572375" cy="11811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Schedule 5 -- Schedule  3 After Swapping A Pair of Instructions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7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t="1505" r="18285" b="1505"/>
          <a:stretch>
            <a:fillRect/>
          </a:stretch>
        </p:blipFill>
        <p:spPr bwMode="auto">
          <a:xfrm>
            <a:off x="431800" y="1739265"/>
            <a:ext cx="4003675" cy="45608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grpSp>
        <p:nvGrpSpPr>
          <p:cNvPr id="50178" name="Group 11"/>
          <p:cNvGrpSpPr/>
          <p:nvPr/>
        </p:nvGrpSpPr>
        <p:grpSpPr>
          <a:xfrm>
            <a:off x="542925" y="4282440"/>
            <a:ext cx="3609975" cy="1006475"/>
            <a:chOff x="342" y="2412"/>
            <a:chExt cx="2274" cy="634"/>
          </a:xfrm>
        </p:grpSpPr>
        <p:sp>
          <p:nvSpPr>
            <p:cNvPr id="456709" name="Text Box 5"/>
            <p:cNvSpPr txBox="1">
              <a:spLocks noChangeArrowheads="1"/>
            </p:cNvSpPr>
            <p:nvPr/>
          </p:nvSpPr>
          <p:spPr bwMode="auto">
            <a:xfrm>
              <a:off x="342" y="2449"/>
              <a:ext cx="997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b">
              <a:spAutoFit/>
            </a:bodyPr>
            <a:lstStyle/>
            <a:p>
              <a:r>
                <a:rPr lang="en-US" altLang="zh-CN" sz="3200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write(</a:t>
              </a:r>
              <a:r>
                <a:rPr lang="en-US" altLang="zh-CN" sz="3200" i="1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B</a:t>
              </a:r>
              <a:r>
                <a:rPr lang="en-US" altLang="zh-CN" sz="3200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)</a:t>
              </a:r>
            </a:p>
          </p:txBody>
        </p:sp>
        <p:sp>
          <p:nvSpPr>
            <p:cNvPr id="456710" name="Rectangle 6"/>
            <p:cNvSpPr>
              <a:spLocks noChangeArrowheads="1"/>
            </p:cNvSpPr>
            <p:nvPr/>
          </p:nvSpPr>
          <p:spPr bwMode="auto">
            <a:xfrm>
              <a:off x="360" y="2712"/>
              <a:ext cx="1020" cy="3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30204" charset="0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56711" name="Rectangle 7"/>
            <p:cNvSpPr>
              <a:spLocks noChangeArrowheads="1"/>
            </p:cNvSpPr>
            <p:nvPr/>
          </p:nvSpPr>
          <p:spPr bwMode="auto">
            <a:xfrm>
              <a:off x="1596" y="2412"/>
              <a:ext cx="1020" cy="3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30204" charset="0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56712" name="Text Box 8"/>
            <p:cNvSpPr txBox="1">
              <a:spLocks noChangeArrowheads="1"/>
            </p:cNvSpPr>
            <p:nvPr/>
          </p:nvSpPr>
          <p:spPr bwMode="auto">
            <a:xfrm>
              <a:off x="1578" y="2773"/>
              <a:ext cx="997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b">
              <a:spAutoFit/>
            </a:bodyPr>
            <a:lstStyle/>
            <a:p>
              <a:r>
                <a:rPr lang="en-US" altLang="zh-CN" sz="3200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write(</a:t>
              </a:r>
              <a:r>
                <a:rPr lang="en-US" altLang="zh-CN" sz="3200" i="1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A</a:t>
              </a:r>
              <a:r>
                <a:rPr lang="en-US" altLang="zh-CN" sz="3200" dirty="0"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Helvetica" panose="020B0604020202030204" charset="0"/>
                </a:rPr>
                <a:t>)</a:t>
              </a:r>
            </a:p>
          </p:txBody>
        </p:sp>
      </p:grpSp>
      <p:pic>
        <p:nvPicPr>
          <p:cNvPr id="45671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4611" r="21616" b="10663"/>
          <a:stretch>
            <a:fillRect/>
          </a:stretch>
        </p:blipFill>
        <p:spPr bwMode="auto">
          <a:xfrm>
            <a:off x="4718050" y="1736090"/>
            <a:ext cx="4014788" cy="45466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456717" name="Rectangle 13"/>
          <p:cNvSpPr>
            <a:spLocks noChangeArrowheads="1"/>
          </p:cNvSpPr>
          <p:nvPr/>
        </p:nvSpPr>
        <p:spPr bwMode="auto">
          <a:xfrm>
            <a:off x="533400" y="3234690"/>
            <a:ext cx="3752850" cy="1619250"/>
          </a:xfrm>
          <a:prstGeom prst="rect">
            <a:avLst/>
          </a:prstGeom>
          <a:noFill/>
          <a:ln w="28575">
            <a:solidFill>
              <a:srgbClr val="000099"/>
            </a:solidFill>
            <a:prstDash val="dash"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charset="0"/>
              <a:ea typeface="MS PGothic" panose="020B0600070205080204" charset="-128"/>
              <a:cs typeface="+mn-cs"/>
            </a:endParaRPr>
          </a:p>
        </p:txBody>
      </p:sp>
      <p:sp>
        <p:nvSpPr>
          <p:cNvPr id="45671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171450" y="133350"/>
            <a:ext cx="8734425" cy="895350"/>
          </a:xfr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0">
            <a:noAutofit/>
          </a:bodyPr>
          <a:lstStyle/>
          <a:p>
            <a:pPr lvl="0" algn="ctr" defTabSz="914400">
              <a:buClrTx/>
              <a:buSzTx/>
              <a:buFontTx/>
            </a:pPr>
            <a:r>
              <a:rPr kumimoji="0" lang="en-US" altLang="zh-CN" b="0" kern="120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Schedule 6 -- A Serial Schedule That is Equivalent to Schedule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Conflict Serializability (Cont.)</a:t>
            </a:r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208280" y="1042035"/>
            <a:ext cx="8721725" cy="456565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222500" algn="l"/>
                <a:tab pos="2568575" algn="l"/>
                <a:tab pos="3319780" algn="l"/>
                <a:tab pos="359410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Example of a schedule that is not conflict serializable: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222500" algn="l"/>
                <a:tab pos="2568575" algn="l"/>
                <a:tab pos="3319780" algn="l"/>
                <a:tab pos="359410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are unable to swap instructions in the above schedule to obtain either the serial schedule &lt;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&gt;, or the serial schedule &lt;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&gt;.</a:t>
            </a:r>
          </a:p>
        </p:txBody>
      </p:sp>
      <p:pic>
        <p:nvPicPr>
          <p:cNvPr id="5120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035" y="1751965"/>
            <a:ext cx="5633720" cy="21101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152400"/>
            <a:ext cx="8458200" cy="7620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Other Notions of Serializability</a:t>
            </a:r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>
          <a:xfrm>
            <a:off x="114300" y="1108075"/>
            <a:ext cx="5029200" cy="4321175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Schedule 8 (from text) given below produces same outcome as the serial schedule &lt;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&gt;, yet is not </a:t>
            </a:r>
            <a:r>
              <a:rPr lang="en-US" altLang="zh-CN" sz="2400" dirty="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conflict equivalent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or </a:t>
            </a:r>
            <a:r>
              <a:rPr lang="en-US" altLang="zh-CN" sz="2400" dirty="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view equivalent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to it.</a:t>
            </a: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Determining such equivalence requires analysis of operations other than 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 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write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003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3" t="1270" r="23238" b="1778"/>
          <a:stretch>
            <a:fillRect/>
          </a:stretch>
        </p:blipFill>
        <p:spPr bwMode="auto">
          <a:xfrm>
            <a:off x="5260975" y="1101725"/>
            <a:ext cx="3654425" cy="474503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400391" name="Text Box 7"/>
          <p:cNvSpPr txBox="1">
            <a:spLocks noChangeArrowheads="1"/>
          </p:cNvSpPr>
          <p:nvPr/>
        </p:nvSpPr>
        <p:spPr bwMode="auto">
          <a:xfrm>
            <a:off x="7216775" y="155098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1000</a:t>
            </a:r>
          </a:p>
        </p:txBody>
      </p:sp>
      <p:sp>
        <p:nvSpPr>
          <p:cNvPr id="400392" name="Text Box 8"/>
          <p:cNvSpPr txBox="1">
            <a:spLocks noChangeArrowheads="1"/>
          </p:cNvSpPr>
          <p:nvPr/>
        </p:nvSpPr>
        <p:spPr bwMode="auto">
          <a:xfrm>
            <a:off x="7242175" y="1912938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950</a:t>
            </a:r>
          </a:p>
        </p:txBody>
      </p:sp>
      <p:sp>
        <p:nvSpPr>
          <p:cNvPr id="400393" name="Text Box 9"/>
          <p:cNvSpPr txBox="1">
            <a:spLocks noChangeArrowheads="1"/>
          </p:cNvSpPr>
          <p:nvPr/>
        </p:nvSpPr>
        <p:spPr bwMode="auto">
          <a:xfrm>
            <a:off x="7245350" y="2274888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FF66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A=950</a:t>
            </a:r>
          </a:p>
        </p:txBody>
      </p:sp>
      <p:sp>
        <p:nvSpPr>
          <p:cNvPr id="400394" name="Text Box 10"/>
          <p:cNvSpPr txBox="1">
            <a:spLocks noChangeArrowheads="1"/>
          </p:cNvSpPr>
          <p:nvPr/>
        </p:nvSpPr>
        <p:spPr bwMode="auto">
          <a:xfrm>
            <a:off x="6245225" y="267493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2000</a:t>
            </a:r>
          </a:p>
        </p:txBody>
      </p:sp>
      <p:sp>
        <p:nvSpPr>
          <p:cNvPr id="400395" name="Text Box 11"/>
          <p:cNvSpPr txBox="1">
            <a:spLocks noChangeArrowheads="1"/>
          </p:cNvSpPr>
          <p:nvPr/>
        </p:nvSpPr>
        <p:spPr bwMode="auto">
          <a:xfrm>
            <a:off x="6226175" y="299878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1990</a:t>
            </a:r>
          </a:p>
        </p:txBody>
      </p:sp>
      <p:sp>
        <p:nvSpPr>
          <p:cNvPr id="400396" name="Text Box 12"/>
          <p:cNvSpPr txBox="1">
            <a:spLocks noChangeArrowheads="1"/>
          </p:cNvSpPr>
          <p:nvPr/>
        </p:nvSpPr>
        <p:spPr bwMode="auto">
          <a:xfrm>
            <a:off x="5943600" y="3379788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FF66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B=1990</a:t>
            </a:r>
          </a:p>
        </p:txBody>
      </p:sp>
      <p:sp>
        <p:nvSpPr>
          <p:cNvPr id="400397" name="Text Box 13"/>
          <p:cNvSpPr txBox="1">
            <a:spLocks noChangeArrowheads="1"/>
          </p:cNvSpPr>
          <p:nvPr/>
        </p:nvSpPr>
        <p:spPr bwMode="auto">
          <a:xfrm>
            <a:off x="7216775" y="370363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1990</a:t>
            </a:r>
          </a:p>
        </p:txBody>
      </p:sp>
      <p:sp>
        <p:nvSpPr>
          <p:cNvPr id="400398" name="Text Box 14"/>
          <p:cNvSpPr txBox="1">
            <a:spLocks noChangeArrowheads="1"/>
          </p:cNvSpPr>
          <p:nvPr/>
        </p:nvSpPr>
        <p:spPr bwMode="auto">
          <a:xfrm>
            <a:off x="7235825" y="4046538"/>
            <a:ext cx="692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2040</a:t>
            </a:r>
          </a:p>
        </p:txBody>
      </p:sp>
      <p:sp>
        <p:nvSpPr>
          <p:cNvPr id="400399" name="Text Box 15"/>
          <p:cNvSpPr txBox="1">
            <a:spLocks noChangeArrowheads="1"/>
          </p:cNvSpPr>
          <p:nvPr/>
        </p:nvSpPr>
        <p:spPr bwMode="auto">
          <a:xfrm>
            <a:off x="7239000" y="4427538"/>
            <a:ext cx="990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B=2040</a:t>
            </a:r>
          </a:p>
        </p:txBody>
      </p:sp>
      <p:sp>
        <p:nvSpPr>
          <p:cNvPr id="400400" name="Text Box 16"/>
          <p:cNvSpPr txBox="1">
            <a:spLocks noChangeArrowheads="1"/>
          </p:cNvSpPr>
          <p:nvPr/>
        </p:nvSpPr>
        <p:spPr bwMode="auto">
          <a:xfrm>
            <a:off x="6346825" y="4808538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950</a:t>
            </a:r>
          </a:p>
        </p:txBody>
      </p:sp>
      <p:sp>
        <p:nvSpPr>
          <p:cNvPr id="400401" name="Text Box 17"/>
          <p:cNvSpPr txBox="1">
            <a:spLocks noChangeArrowheads="1"/>
          </p:cNvSpPr>
          <p:nvPr/>
        </p:nvSpPr>
        <p:spPr bwMode="auto">
          <a:xfrm>
            <a:off x="6365875" y="5151438"/>
            <a:ext cx="56515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960</a:t>
            </a:r>
          </a:p>
        </p:txBody>
      </p:sp>
      <p:sp>
        <p:nvSpPr>
          <p:cNvPr id="400402" name="Text Box 18"/>
          <p:cNvSpPr txBox="1">
            <a:spLocks noChangeArrowheads="1"/>
          </p:cNvSpPr>
          <p:nvPr/>
        </p:nvSpPr>
        <p:spPr bwMode="auto">
          <a:xfrm>
            <a:off x="6064250" y="5532438"/>
            <a:ext cx="863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A=960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3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03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0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0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0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0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0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0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0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91" grpId="0"/>
      <p:bldP spid="400392" grpId="0"/>
      <p:bldP spid="400393" grpId="0"/>
      <p:bldP spid="400394" grpId="0"/>
      <p:bldP spid="400395" grpId="0"/>
      <p:bldP spid="400396" grpId="0"/>
      <p:bldP spid="400397" grpId="0"/>
      <p:bldP spid="400398" grpId="0"/>
      <p:bldP spid="400399" grpId="0"/>
      <p:bldP spid="400400" grpId="0"/>
      <p:bldP spid="400401" grpId="0"/>
      <p:bldP spid="40040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Precedence Graph</a:t>
            </a:r>
          </a:p>
        </p:txBody>
      </p:sp>
      <p:sp>
        <p:nvSpPr>
          <p:cNvPr id="54274" name="Rectangle 3"/>
          <p:cNvSpPr>
            <a:spLocks noGrp="1"/>
          </p:cNvSpPr>
          <p:nvPr>
            <p:ph idx="1"/>
          </p:nvPr>
        </p:nvSpPr>
        <p:spPr>
          <a:xfrm>
            <a:off x="141605" y="1094105"/>
            <a:ext cx="8776335" cy="356044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Consider some schedule of a set of transactions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...,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 graph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— a direct graph where the vertices are the transactions (names).</a:t>
            </a:r>
          </a:p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We draw an arc from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if the two transaction conflict, and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accessed the data item on which the conflict arose earlier.</a:t>
            </a:r>
          </a:p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We may label the arc by the item that was accessed.</a:t>
            </a:r>
          </a:p>
          <a:p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4275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875" y="4653915"/>
            <a:ext cx="2589213" cy="1625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400" dirty="0">
                <a:effectLst>
                  <a:outerShdw blurRad="38100" dist="38100" dir="2700000">
                    <a:srgbClr val="C0C0C0"/>
                  </a:outerShdw>
                </a:effectLst>
              </a:rPr>
              <a:t>Example Schedule (Schedule A) + Precedence Graph</a:t>
            </a:r>
          </a:p>
        </p:txBody>
      </p:sp>
      <p:sp>
        <p:nvSpPr>
          <p:cNvPr id="56322" name="Rectangle 3"/>
          <p:cNvSpPr>
            <a:spLocks noGrp="1"/>
          </p:cNvSpPr>
          <p:nvPr>
            <p:ph idx="1"/>
          </p:nvPr>
        </p:nvSpPr>
        <p:spPr>
          <a:xfrm>
            <a:off x="666750" y="1038225"/>
            <a:ext cx="6724650" cy="4114800"/>
          </a:xfrm>
        </p:spPr>
        <p:txBody>
          <a:bodyPr vert="horz" wrap="square" lIns="91440" tIns="45720" rIns="91440" bIns="45720" anchor="t"/>
          <a:lstStyle/>
          <a:p>
            <a:pPr marL="346075" indent="0" defTabSz="914400">
              <a:lnSpc>
                <a:spcPct val="110000"/>
              </a:lnSpc>
              <a:buNone/>
              <a:tabLst>
                <a:tab pos="635000" algn="l"/>
                <a:tab pos="1485900" algn="l"/>
                <a:tab pos="1717675" algn="l"/>
                <a:tab pos="2684780" algn="l"/>
                <a:tab pos="2973705" algn="l"/>
                <a:tab pos="3767455" algn="l"/>
                <a:tab pos="3940175" algn="l"/>
                <a:tab pos="4805680" algn="l"/>
                <a:tab pos="4978400" algn="l"/>
              </a:tabLst>
            </a:pPr>
            <a:r>
              <a:rPr lang="en-US" altLang="zh-CN" sz="1600" dirty="0">
                <a:ea typeface="宋体" panose="02010600030101010101" pitchFamily="2" charset="-122"/>
              </a:rPr>
              <a:t>	</a:t>
            </a:r>
            <a:r>
              <a:rPr lang="en-US" altLang="zh-CN" sz="1600" i="1" dirty="0">
                <a:ea typeface="宋体" panose="02010600030101010101" pitchFamily="2" charset="-122"/>
              </a:rPr>
              <a:t>T</a:t>
            </a:r>
            <a:r>
              <a:rPr lang="en-US" altLang="zh-CN" sz="1600" baseline="-25000" dirty="0">
                <a:ea typeface="宋体" panose="02010600030101010101" pitchFamily="2" charset="-122"/>
              </a:rPr>
              <a:t>1		 </a:t>
            </a:r>
            <a:r>
              <a:rPr lang="en-US" altLang="zh-CN" sz="1600" i="1" dirty="0">
                <a:ea typeface="宋体" panose="02010600030101010101" pitchFamily="2" charset="-122"/>
              </a:rPr>
              <a:t>T</a:t>
            </a:r>
            <a:r>
              <a:rPr lang="en-US" altLang="zh-CN" sz="1600" baseline="-25000" dirty="0">
                <a:ea typeface="宋体" panose="02010600030101010101" pitchFamily="2" charset="-122"/>
              </a:rPr>
              <a:t>2		 </a:t>
            </a:r>
            <a:r>
              <a:rPr lang="en-US" altLang="zh-CN" sz="1600" i="1" dirty="0">
                <a:ea typeface="宋体" panose="02010600030101010101" pitchFamily="2" charset="-122"/>
              </a:rPr>
              <a:t>T</a:t>
            </a:r>
            <a:r>
              <a:rPr lang="en-US" altLang="zh-CN" sz="1600" baseline="-25000" dirty="0">
                <a:ea typeface="宋体" panose="02010600030101010101" pitchFamily="2" charset="-122"/>
              </a:rPr>
              <a:t>3		 </a:t>
            </a:r>
            <a:r>
              <a:rPr lang="en-US" altLang="zh-CN" sz="1600" i="1" dirty="0">
                <a:ea typeface="宋体" panose="02010600030101010101" pitchFamily="2" charset="-122"/>
              </a:rPr>
              <a:t>T</a:t>
            </a:r>
            <a:r>
              <a:rPr lang="en-US" altLang="zh-CN" sz="1600" baseline="-25000" dirty="0">
                <a:ea typeface="宋体" panose="02010600030101010101" pitchFamily="2" charset="-122"/>
              </a:rPr>
              <a:t>4		 </a:t>
            </a:r>
            <a:r>
              <a:rPr lang="en-US" altLang="zh-CN" sz="1600" i="1" dirty="0">
                <a:ea typeface="宋体" panose="02010600030101010101" pitchFamily="2" charset="-122"/>
              </a:rPr>
              <a:t>T</a:t>
            </a:r>
            <a:r>
              <a:rPr lang="en-US" altLang="zh-CN" sz="1600" baseline="-25000" dirty="0">
                <a:ea typeface="宋体" panose="02010600030101010101" pitchFamily="2" charset="-122"/>
              </a:rPr>
              <a:t>5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read(X)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read(Y)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read(Z)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				read(V)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				read(W)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				read(W)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read(Y)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write(Y)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write(Z)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read(U)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		read(Y)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		write(Y)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		read(Z)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						write(Z)</a:t>
            </a:r>
          </a:p>
          <a:p>
            <a:pPr marL="346075" indent="0" defTabSz="914400">
              <a:lnSpc>
                <a:spcPct val="110000"/>
              </a:lnSpc>
              <a:buNone/>
              <a:tabLst>
                <a:tab pos="635000" algn="l"/>
                <a:tab pos="1485900" algn="l"/>
                <a:tab pos="1717675" algn="l"/>
                <a:tab pos="2684780" algn="l"/>
                <a:tab pos="2973705" algn="l"/>
                <a:tab pos="3767455" algn="l"/>
                <a:tab pos="3940175" algn="l"/>
                <a:tab pos="4805680" algn="l"/>
                <a:tab pos="4978400" algn="l"/>
              </a:tabLst>
            </a:pPr>
            <a:r>
              <a:rPr lang="en-US" altLang="zh-CN" sz="1600" dirty="0">
                <a:ea typeface="宋体" panose="02010600030101010101" pitchFamily="2" charset="-122"/>
              </a:rPr>
              <a:t>read(U)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write(U)</a:t>
            </a:r>
            <a:endParaRPr lang="en-US" altLang="zh-CN" sz="1600" baseline="-25000" dirty="0">
              <a:ea typeface="宋体" panose="02010600030101010101" pitchFamily="2" charset="-122"/>
            </a:endParaRPr>
          </a:p>
        </p:txBody>
      </p:sp>
      <p:grpSp>
        <p:nvGrpSpPr>
          <p:cNvPr id="56323" name="Group 13"/>
          <p:cNvGrpSpPr/>
          <p:nvPr/>
        </p:nvGrpSpPr>
        <p:grpSpPr>
          <a:xfrm>
            <a:off x="976313" y="1074738"/>
            <a:ext cx="5443537" cy="4806950"/>
            <a:chOff x="997" y="485"/>
            <a:chExt cx="3429" cy="3028"/>
          </a:xfrm>
        </p:grpSpPr>
        <p:sp>
          <p:nvSpPr>
            <p:cNvPr id="459780" name="Line 4"/>
            <p:cNvSpPr>
              <a:spLocks noChangeShapeType="1"/>
            </p:cNvSpPr>
            <p:nvPr/>
          </p:nvSpPr>
          <p:spPr bwMode="auto">
            <a:xfrm>
              <a:off x="1019" y="682"/>
              <a:ext cx="34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30204" charset="0"/>
                <a:ea typeface="MS PGothic" panose="020B0600070205080204" charset="-128"/>
                <a:cs typeface="+mn-cs"/>
              </a:endParaRPr>
            </a:p>
          </p:txBody>
        </p:sp>
        <p:grpSp>
          <p:nvGrpSpPr>
            <p:cNvPr id="56335" name="Group 11"/>
            <p:cNvGrpSpPr/>
            <p:nvPr/>
          </p:nvGrpSpPr>
          <p:grpSpPr>
            <a:xfrm>
              <a:off x="997" y="485"/>
              <a:ext cx="3427" cy="3028"/>
              <a:chOff x="1005" y="485"/>
              <a:chExt cx="3427" cy="3696"/>
            </a:xfrm>
          </p:grpSpPr>
          <p:sp>
            <p:nvSpPr>
              <p:cNvPr id="459781" name="Line 5"/>
              <p:cNvSpPr>
                <a:spLocks noChangeShapeType="1"/>
              </p:cNvSpPr>
              <p:nvPr/>
            </p:nvSpPr>
            <p:spPr bwMode="auto">
              <a:xfrm>
                <a:off x="1005" y="485"/>
                <a:ext cx="0" cy="36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" panose="020B0604020202030204" charset="0"/>
                  <a:ea typeface="MS PGothic" panose="020B0600070205080204" charset="-128"/>
                  <a:cs typeface="+mn-cs"/>
                </a:endParaRPr>
              </a:p>
            </p:txBody>
          </p:sp>
          <p:sp>
            <p:nvSpPr>
              <p:cNvPr id="459782" name="Line 6"/>
              <p:cNvSpPr>
                <a:spLocks noChangeShapeType="1"/>
              </p:cNvSpPr>
              <p:nvPr/>
            </p:nvSpPr>
            <p:spPr bwMode="auto">
              <a:xfrm>
                <a:off x="1721" y="485"/>
                <a:ext cx="0" cy="36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" panose="020B0604020202030204" charset="0"/>
                  <a:ea typeface="MS PGothic" panose="020B0600070205080204" charset="-128"/>
                  <a:cs typeface="+mn-cs"/>
                </a:endParaRPr>
              </a:p>
            </p:txBody>
          </p:sp>
          <p:sp>
            <p:nvSpPr>
              <p:cNvPr id="459783" name="Line 7"/>
              <p:cNvSpPr>
                <a:spLocks noChangeShapeType="1"/>
              </p:cNvSpPr>
              <p:nvPr/>
            </p:nvSpPr>
            <p:spPr bwMode="auto">
              <a:xfrm>
                <a:off x="2428" y="485"/>
                <a:ext cx="0" cy="36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" panose="020B0604020202030204" charset="0"/>
                  <a:ea typeface="MS PGothic" panose="020B0600070205080204" charset="-128"/>
                  <a:cs typeface="+mn-cs"/>
                </a:endParaRPr>
              </a:p>
            </p:txBody>
          </p:sp>
          <p:sp>
            <p:nvSpPr>
              <p:cNvPr id="459784" name="Line 8"/>
              <p:cNvSpPr>
                <a:spLocks noChangeShapeType="1"/>
              </p:cNvSpPr>
              <p:nvPr/>
            </p:nvSpPr>
            <p:spPr bwMode="auto">
              <a:xfrm>
                <a:off x="3099" y="485"/>
                <a:ext cx="0" cy="3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" panose="020B0604020202030204" charset="0"/>
                  <a:ea typeface="MS PGothic" panose="020B0600070205080204" charset="-128"/>
                  <a:cs typeface="+mn-cs"/>
                </a:endParaRPr>
              </a:p>
            </p:txBody>
          </p:sp>
          <p:sp>
            <p:nvSpPr>
              <p:cNvPr id="459785" name="Line 9"/>
              <p:cNvSpPr>
                <a:spLocks noChangeShapeType="1"/>
              </p:cNvSpPr>
              <p:nvPr/>
            </p:nvSpPr>
            <p:spPr bwMode="auto">
              <a:xfrm>
                <a:off x="3761" y="485"/>
                <a:ext cx="0" cy="36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" panose="020B0604020202030204" charset="0"/>
                  <a:ea typeface="MS PGothic" panose="020B0600070205080204" charset="-128"/>
                  <a:cs typeface="+mn-cs"/>
                </a:endParaRPr>
              </a:p>
            </p:txBody>
          </p:sp>
          <p:sp>
            <p:nvSpPr>
              <p:cNvPr id="459786" name="Line 10"/>
              <p:cNvSpPr>
                <a:spLocks noChangeShapeType="1"/>
              </p:cNvSpPr>
              <p:nvPr/>
            </p:nvSpPr>
            <p:spPr bwMode="auto">
              <a:xfrm>
                <a:off x="4432" y="485"/>
                <a:ext cx="0" cy="36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" panose="020B0604020202030204" charset="0"/>
                  <a:ea typeface="MS PGothic" panose="020B0600070205080204" charset="-128"/>
                  <a:cs typeface="+mn-cs"/>
                </a:endParaRPr>
              </a:p>
            </p:txBody>
          </p:sp>
        </p:grpSp>
      </p:grpSp>
      <p:grpSp>
        <p:nvGrpSpPr>
          <p:cNvPr id="56324" name="Group 33"/>
          <p:cNvGrpSpPr/>
          <p:nvPr/>
        </p:nvGrpSpPr>
        <p:grpSpPr>
          <a:xfrm>
            <a:off x="6527800" y="2316163"/>
            <a:ext cx="2446338" cy="2306637"/>
            <a:chOff x="4112" y="1459"/>
            <a:chExt cx="1541" cy="1453"/>
          </a:xfrm>
        </p:grpSpPr>
        <p:sp>
          <p:nvSpPr>
            <p:cNvPr id="459791" name="Text Box 15"/>
            <p:cNvSpPr txBox="1">
              <a:spLocks noChangeArrowheads="1"/>
            </p:cNvSpPr>
            <p:nvPr/>
          </p:nvSpPr>
          <p:spPr bwMode="auto">
            <a:xfrm>
              <a:off x="4262" y="2613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Helvetica" panose="020B0604020202030204" charset="0"/>
                </a:rPr>
                <a:t>T</a:t>
              </a:r>
              <a:r>
                <a:rPr lang="en-US" altLang="zh-CN" sz="2400" baseline="-25000" dirty="0">
                  <a:latin typeface="Helvetica" panose="020B0604020202030204" charset="0"/>
                </a:rPr>
                <a:t>3</a:t>
              </a:r>
              <a:endParaRPr lang="en-US" altLang="zh-CN" sz="2400" i="1" dirty="0">
                <a:latin typeface="Helvetica" panose="020B0604020202030204" charset="0"/>
              </a:endParaRPr>
            </a:p>
          </p:txBody>
        </p:sp>
        <p:sp>
          <p:nvSpPr>
            <p:cNvPr id="56327" name="弧 16"/>
            <p:cNvSpPr/>
            <p:nvPr/>
          </p:nvSpPr>
          <p:spPr>
            <a:xfrm rot="10800000">
              <a:off x="4531" y="2670"/>
              <a:ext cx="873" cy="242"/>
            </a:xfrm>
            <a:custGeom>
              <a:avLst/>
              <a:gdLst/>
              <a:ahLst/>
              <a:cxnLst>
                <a:cxn ang="0">
                  <a:pos x="0" y="167"/>
                </a:cxn>
                <a:cxn ang="0">
                  <a:pos x="873" y="78"/>
                </a:cxn>
                <a:cxn ang="0">
                  <a:pos x="493" y="242"/>
                </a:cxn>
              </a:cxnLst>
              <a:rect l="0" t="0" r="0" b="0"/>
              <a:pathLst>
                <a:path w="36403" h="21600" fill="none">
                  <a:moveTo>
                    <a:pt x="-1" y="14913"/>
                  </a:moveTo>
                  <a:cubicBezTo>
                    <a:pt x="2895" y="6020"/>
                    <a:pt x="11185" y="-1"/>
                    <a:pt x="20539" y="-1"/>
                  </a:cubicBezTo>
                  <a:cubicBezTo>
                    <a:pt x="26563" y="-1"/>
                    <a:pt x="32314" y="2516"/>
                    <a:pt x="36403" y="6940"/>
                  </a:cubicBezTo>
                </a:path>
                <a:path w="36403" h="21600" stroke="0">
                  <a:moveTo>
                    <a:pt x="-1" y="14913"/>
                  </a:moveTo>
                  <a:cubicBezTo>
                    <a:pt x="2895" y="6020"/>
                    <a:pt x="11185" y="-1"/>
                    <a:pt x="20539" y="-1"/>
                  </a:cubicBezTo>
                  <a:cubicBezTo>
                    <a:pt x="26563" y="-1"/>
                    <a:pt x="32314" y="2516"/>
                    <a:pt x="36403" y="6940"/>
                  </a:cubicBezTo>
                  <a:lnTo>
                    <a:pt x="20539" y="21600"/>
                  </a:lnTo>
                  <a:lnTo>
                    <a:pt x="-1" y="14913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stealth" w="lg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9793" name="Text Box 17"/>
            <p:cNvSpPr txBox="1">
              <a:spLocks noChangeArrowheads="1"/>
            </p:cNvSpPr>
            <p:nvPr/>
          </p:nvSpPr>
          <p:spPr bwMode="auto">
            <a:xfrm>
              <a:off x="5347" y="2522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Helvetica" panose="020B0604020202030204" charset="0"/>
                </a:rPr>
                <a:t>T</a:t>
              </a:r>
              <a:r>
                <a:rPr lang="en-US" altLang="zh-CN" sz="2400" baseline="-25000" dirty="0">
                  <a:latin typeface="Helvetica" panose="020B0604020202030204" charset="0"/>
                </a:rPr>
                <a:t>4</a:t>
              </a:r>
              <a:endParaRPr lang="en-US" altLang="zh-CN" sz="2400" i="1" dirty="0">
                <a:latin typeface="Helvetica" panose="020B0604020202030204" charset="0"/>
              </a:endParaRPr>
            </a:p>
          </p:txBody>
        </p:sp>
        <p:sp>
          <p:nvSpPr>
            <p:cNvPr id="459794" name="Text Box 18"/>
            <p:cNvSpPr txBox="1">
              <a:spLocks noChangeArrowheads="1"/>
            </p:cNvSpPr>
            <p:nvPr/>
          </p:nvSpPr>
          <p:spPr bwMode="auto">
            <a:xfrm>
              <a:off x="4131" y="1505"/>
              <a:ext cx="30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Helvetica" panose="020B0604020202030204" charset="0"/>
                </a:rPr>
                <a:t>T</a:t>
              </a:r>
              <a:r>
                <a:rPr lang="en-US" altLang="zh-CN" sz="2400" baseline="-25000" dirty="0">
                  <a:latin typeface="Helvetica" panose="020B0604020202030204" charset="0"/>
                </a:rPr>
                <a:t>1</a:t>
              </a:r>
              <a:endParaRPr lang="en-US" altLang="zh-CN" sz="2400" i="1" dirty="0">
                <a:latin typeface="Helvetica" panose="020B0604020202030204" charset="0"/>
              </a:endParaRPr>
            </a:p>
          </p:txBody>
        </p:sp>
        <p:sp>
          <p:nvSpPr>
            <p:cNvPr id="56330" name="弧 19"/>
            <p:cNvSpPr/>
            <p:nvPr/>
          </p:nvSpPr>
          <p:spPr>
            <a:xfrm rot="-5400000" flipV="1">
              <a:off x="5112" y="1994"/>
              <a:ext cx="744" cy="310"/>
            </a:xfrm>
            <a:custGeom>
              <a:avLst/>
              <a:gdLst/>
              <a:ahLst/>
              <a:cxnLst>
                <a:cxn ang="0">
                  <a:pos x="0" y="123"/>
                </a:cxn>
                <a:cxn ang="0">
                  <a:pos x="744" y="113"/>
                </a:cxn>
                <a:cxn ang="0">
                  <a:pos x="378" y="310"/>
                </a:cxn>
              </a:cxnLst>
              <a:rect l="0" t="0" r="0" b="0"/>
              <a:pathLst>
                <a:path w="33913" h="21600" fill="none">
                  <a:moveTo>
                    <a:pt x="0" y="8547"/>
                  </a:moveTo>
                  <a:cubicBezTo>
                    <a:pt x="4083" y="3162"/>
                    <a:pt x="10452" y="-1"/>
                    <a:pt x="17210" y="-1"/>
                  </a:cubicBezTo>
                  <a:cubicBezTo>
                    <a:pt x="23680" y="-1"/>
                    <a:pt x="29810" y="2900"/>
                    <a:pt x="33912" y="7904"/>
                  </a:cubicBezTo>
                </a:path>
                <a:path w="33913" h="21600" stroke="0">
                  <a:moveTo>
                    <a:pt x="0" y="8547"/>
                  </a:moveTo>
                  <a:cubicBezTo>
                    <a:pt x="4083" y="3162"/>
                    <a:pt x="10452" y="-1"/>
                    <a:pt x="17210" y="-1"/>
                  </a:cubicBezTo>
                  <a:cubicBezTo>
                    <a:pt x="23680" y="-1"/>
                    <a:pt x="29810" y="2900"/>
                    <a:pt x="33912" y="7904"/>
                  </a:cubicBezTo>
                  <a:lnTo>
                    <a:pt x="17210" y="21600"/>
                  </a:lnTo>
                  <a:lnTo>
                    <a:pt x="0" y="8547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stealth" w="lg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9796" name="Text Box 20"/>
            <p:cNvSpPr txBox="1">
              <a:spLocks noChangeArrowheads="1"/>
            </p:cNvSpPr>
            <p:nvPr/>
          </p:nvSpPr>
          <p:spPr bwMode="auto">
            <a:xfrm>
              <a:off x="5303" y="1505"/>
              <a:ext cx="30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Helvetica" panose="020B0604020202030204" charset="0"/>
                </a:rPr>
                <a:t>T</a:t>
              </a:r>
              <a:r>
                <a:rPr lang="en-US" altLang="zh-CN" sz="2400" baseline="-25000" dirty="0">
                  <a:latin typeface="Helvetica" panose="020B0604020202030204" charset="0"/>
                </a:rPr>
                <a:t>2</a:t>
              </a:r>
              <a:endParaRPr lang="en-US" altLang="zh-CN" sz="2400" i="1" dirty="0">
                <a:latin typeface="Helvetica" panose="020B0604020202030204" charset="0"/>
              </a:endParaRPr>
            </a:p>
          </p:txBody>
        </p:sp>
        <p:sp>
          <p:nvSpPr>
            <p:cNvPr id="56332" name="弧 21"/>
            <p:cNvSpPr/>
            <p:nvPr/>
          </p:nvSpPr>
          <p:spPr>
            <a:xfrm rot="-10800000" flipV="1">
              <a:off x="4384" y="1459"/>
              <a:ext cx="952" cy="278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952" y="150"/>
                </a:cxn>
                <a:cxn ang="0">
                  <a:pos x="492" y="278"/>
                </a:cxn>
              </a:cxnLst>
              <a:rect l="0" t="0" r="0" b="0"/>
              <a:pathLst>
                <a:path w="39702" h="21600" fill="none">
                  <a:moveTo>
                    <a:pt x="-1" y="14913"/>
                  </a:moveTo>
                  <a:cubicBezTo>
                    <a:pt x="2895" y="6020"/>
                    <a:pt x="11185" y="-1"/>
                    <a:pt x="20539" y="-1"/>
                  </a:cubicBezTo>
                  <a:cubicBezTo>
                    <a:pt x="28596" y="-1"/>
                    <a:pt x="35984" y="4484"/>
                    <a:pt x="39701" y="11633"/>
                  </a:cubicBezTo>
                </a:path>
                <a:path w="39702" h="21600" stroke="0">
                  <a:moveTo>
                    <a:pt x="-1" y="14913"/>
                  </a:moveTo>
                  <a:cubicBezTo>
                    <a:pt x="2895" y="6020"/>
                    <a:pt x="11185" y="-1"/>
                    <a:pt x="20539" y="-1"/>
                  </a:cubicBezTo>
                  <a:cubicBezTo>
                    <a:pt x="28596" y="-1"/>
                    <a:pt x="35984" y="4484"/>
                    <a:pt x="39701" y="11633"/>
                  </a:cubicBezTo>
                  <a:lnTo>
                    <a:pt x="20539" y="21600"/>
                  </a:lnTo>
                  <a:lnTo>
                    <a:pt x="-1" y="14913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stealth" w="lg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3" name="弧 22"/>
            <p:cNvSpPr/>
            <p:nvPr/>
          </p:nvSpPr>
          <p:spPr>
            <a:xfrm rot="-5400000">
              <a:off x="3772" y="2060"/>
              <a:ext cx="927" cy="247"/>
            </a:xfrm>
            <a:custGeom>
              <a:avLst/>
              <a:gdLst/>
              <a:ahLst/>
              <a:cxnLst>
                <a:cxn ang="0">
                  <a:pos x="1" y="247"/>
                </a:cxn>
                <a:cxn ang="0">
                  <a:pos x="927" y="165"/>
                </a:cxn>
                <a:cxn ang="0">
                  <a:pos x="474" y="232"/>
                </a:cxn>
              </a:cxnLst>
              <a:rect l="0" t="0" r="0" b="0"/>
              <a:pathLst>
                <a:path w="42266" h="22982" fill="none">
                  <a:moveTo>
                    <a:pt x="44" y="22981"/>
                  </a:moveTo>
                  <a:cubicBezTo>
                    <a:pt x="14" y="22521"/>
                    <a:pt x="0" y="2206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08" y="0"/>
                    <a:pt x="39499" y="6218"/>
                    <a:pt x="42265" y="15316"/>
                  </a:cubicBezTo>
                </a:path>
                <a:path w="42266" h="22982" stroke="0">
                  <a:moveTo>
                    <a:pt x="44" y="22981"/>
                  </a:moveTo>
                  <a:cubicBezTo>
                    <a:pt x="14" y="22521"/>
                    <a:pt x="0" y="2206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08" y="0"/>
                    <a:pt x="39499" y="6218"/>
                    <a:pt x="42265" y="15316"/>
                  </a:cubicBezTo>
                  <a:lnTo>
                    <a:pt x="21600" y="21600"/>
                  </a:lnTo>
                  <a:lnTo>
                    <a:pt x="44" y="22981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stealth" w="lg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9808" name="Text Box 32"/>
          <p:cNvSpPr txBox="1">
            <a:spLocks noChangeArrowheads="1"/>
          </p:cNvSpPr>
          <p:nvPr/>
        </p:nvSpPr>
        <p:spPr bwMode="auto">
          <a:xfrm>
            <a:off x="7464425" y="5372100"/>
            <a:ext cx="4873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i="1" dirty="0">
                <a:latin typeface="Helvetica" panose="020B0604020202030204" charset="0"/>
              </a:rPr>
              <a:t>T</a:t>
            </a:r>
            <a:r>
              <a:rPr lang="en-US" altLang="zh-CN" sz="2400" baseline="-25000" dirty="0">
                <a:latin typeface="Helvetica" panose="020B0604020202030204" charset="0"/>
              </a:rPr>
              <a:t>5</a:t>
            </a:r>
            <a:endParaRPr lang="en-US" altLang="zh-CN" sz="2400" i="1" dirty="0">
              <a:latin typeface="Helvetica" panose="020B06040202020302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42963" y="1174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36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Testing for Conflict Serializability</a:t>
            </a:r>
          </a:p>
        </p:txBody>
      </p:sp>
      <p:sp>
        <p:nvSpPr>
          <p:cNvPr id="58370" name="Rectangle 3"/>
          <p:cNvSpPr>
            <a:spLocks noGrp="1"/>
          </p:cNvSpPr>
          <p:nvPr>
            <p:ph idx="1"/>
          </p:nvPr>
        </p:nvSpPr>
        <p:spPr>
          <a:xfrm>
            <a:off x="127318" y="1106488"/>
            <a:ext cx="5097462" cy="52482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 dirty="0"/>
              <a:t>A schedule is conflict serializable if and only if its precedence graph is acyclic.</a:t>
            </a:r>
          </a:p>
          <a:p>
            <a:r>
              <a:rPr lang="en-US" altLang="zh-CN" sz="2000" dirty="0"/>
              <a:t>Cycle-detection algorithms exist which take order </a:t>
            </a:r>
            <a:r>
              <a:rPr lang="en-US" altLang="zh-CN" sz="2000" i="1" dirty="0"/>
              <a:t>n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 time, where </a:t>
            </a:r>
            <a:r>
              <a:rPr lang="en-US" altLang="zh-CN" sz="2000" i="1" dirty="0"/>
              <a:t>n </a:t>
            </a:r>
            <a:r>
              <a:rPr lang="en-US" altLang="zh-CN" sz="2000" dirty="0"/>
              <a:t>is the number of vertices in the graph.  </a:t>
            </a:r>
          </a:p>
          <a:p>
            <a:pPr lvl="1"/>
            <a:r>
              <a:rPr lang="en-US" altLang="zh-CN" sz="2000" dirty="0"/>
              <a:t>(Better algorithms take order </a:t>
            </a:r>
            <a:r>
              <a:rPr lang="en-US" altLang="zh-CN" sz="2000" i="1" dirty="0"/>
              <a:t>n</a:t>
            </a:r>
            <a:r>
              <a:rPr lang="en-US" altLang="zh-CN" sz="2000" dirty="0"/>
              <a:t> + </a:t>
            </a:r>
            <a:r>
              <a:rPr lang="en-US" altLang="zh-CN" sz="2000" i="1" dirty="0"/>
              <a:t>e</a:t>
            </a:r>
            <a:r>
              <a:rPr lang="en-US" altLang="zh-CN" sz="2000" dirty="0"/>
              <a:t> where </a:t>
            </a:r>
            <a:r>
              <a:rPr lang="en-US" altLang="zh-CN" sz="2000" i="1" dirty="0"/>
              <a:t>e</a:t>
            </a:r>
            <a:r>
              <a:rPr lang="en-US" altLang="zh-CN" sz="2000" dirty="0"/>
              <a:t> is the number of edges.)</a:t>
            </a:r>
          </a:p>
          <a:p>
            <a:r>
              <a:rPr lang="en-US" altLang="zh-CN" sz="2000" dirty="0"/>
              <a:t>If precedence graph is acyclic, the serializability order can be obtained by a </a:t>
            </a:r>
            <a:r>
              <a:rPr lang="en-US" altLang="zh-CN" sz="2000" i="1" dirty="0">
                <a:solidFill>
                  <a:srgbClr val="000099"/>
                </a:solidFill>
              </a:rPr>
              <a:t>topological sorting</a:t>
            </a:r>
            <a:r>
              <a:rPr lang="en-US" altLang="zh-CN" sz="2000" dirty="0"/>
              <a:t> of the graph. </a:t>
            </a:r>
          </a:p>
          <a:p>
            <a:pPr lvl="1"/>
            <a:r>
              <a:rPr lang="en-US" altLang="zh-CN" sz="2000" dirty="0"/>
              <a:t>That is, a linear order consistent with the partial order of the graph.</a:t>
            </a:r>
          </a:p>
          <a:p>
            <a:pPr lvl="1"/>
            <a:r>
              <a:rPr lang="en-US" altLang="zh-CN" sz="2000" dirty="0"/>
              <a:t>For example, a serializability order for the schedule (a)  would be one of either (b) or (c)</a:t>
            </a:r>
            <a:br>
              <a:rPr lang="en-US" altLang="zh-CN" sz="2000" dirty="0"/>
            </a:br>
            <a:endParaRPr lang="en-US" altLang="zh-CN" sz="2000" dirty="0">
              <a:sym typeface="Monotype Sorts" charset="2"/>
            </a:endParaRPr>
          </a:p>
        </p:txBody>
      </p:sp>
      <p:pic>
        <p:nvPicPr>
          <p:cNvPr id="5837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045" y="916305"/>
            <a:ext cx="3176905" cy="5743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Recoverable Schedules</a:t>
            </a:r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xfrm>
            <a:off x="107315" y="1158875"/>
            <a:ext cx="9036685" cy="487680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395855" algn="l"/>
                <a:tab pos="2857500" algn="l"/>
                <a:tab pos="3549650" algn="l"/>
                <a:tab pos="3997325" algn="l"/>
              </a:tabLst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Recoverable</a:t>
            </a:r>
            <a:r>
              <a:rPr lang="en-US" altLang="zh-CN" sz="2400" b="1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— if a transaction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reads a data item previously written by a transaction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then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commit operation of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appear before the commit operation of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395855" algn="l"/>
                <a:tab pos="2857500" algn="l"/>
                <a:tab pos="3549650" algn="l"/>
                <a:tab pos="399732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schedule is not recoverable if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commits immediately after the read(A) operation.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defTabSz="914400">
              <a:tabLst>
                <a:tab pos="2395855" algn="l"/>
                <a:tab pos="2857500" algn="l"/>
                <a:tab pos="3549650" algn="l"/>
                <a:tab pos="399732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395855" algn="l"/>
                <a:tab pos="2857500" algn="l"/>
                <a:tab pos="3549650" algn="l"/>
                <a:tab pos="399732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395855" algn="l"/>
                <a:tab pos="2857500" algn="l"/>
                <a:tab pos="3549650" algn="l"/>
                <a:tab pos="399732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395855" algn="l"/>
                <a:tab pos="2857500" algn="l"/>
                <a:tab pos="3549650" algn="l"/>
                <a:tab pos="399732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should abort,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would have read (and possibly shown to the user) an inconsistent database state.  Hence,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must ensure that schedules are recoverable.</a:t>
            </a:r>
          </a:p>
        </p:txBody>
      </p:sp>
      <p:pic>
        <p:nvPicPr>
          <p:cNvPr id="60419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303" y="3355975"/>
            <a:ext cx="3032125" cy="157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Cascading Rollbacks</a:t>
            </a:r>
          </a:p>
        </p:txBody>
      </p:sp>
      <p:sp>
        <p:nvSpPr>
          <p:cNvPr id="62466" name="Rectangle 3"/>
          <p:cNvSpPr>
            <a:spLocks noGrp="1"/>
          </p:cNvSpPr>
          <p:nvPr>
            <p:ph idx="1"/>
          </p:nvPr>
        </p:nvSpPr>
        <p:spPr>
          <a:xfrm>
            <a:off x="88900" y="1094105"/>
            <a:ext cx="8921115" cy="508762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659255" algn="l"/>
                <a:tab pos="2120900" algn="l"/>
                <a:tab pos="2684780" algn="l"/>
                <a:tab pos="3030855" algn="l"/>
                <a:tab pos="3767455" algn="l"/>
                <a:tab pos="4056380" algn="l"/>
              </a:tabLst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Cascading rollback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fails,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must also be rolled back.</a:t>
            </a:r>
          </a:p>
          <a:p>
            <a:pPr defTabSz="914400">
              <a:tabLst>
                <a:tab pos="1659255" algn="l"/>
                <a:tab pos="2120900" algn="l"/>
                <a:tab pos="2684780" algn="l"/>
                <a:tab pos="3030855" algn="l"/>
                <a:tab pos="3767455" algn="l"/>
                <a:tab pos="405638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Can lead to the undoing of a significant amount of work</a:t>
            </a:r>
          </a:p>
        </p:txBody>
      </p:sp>
      <p:pic>
        <p:nvPicPr>
          <p:cNvPr id="62467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975" y="2719070"/>
            <a:ext cx="3806825" cy="21383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Cascadeless Schedules</a:t>
            </a: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xfrm>
            <a:off x="635" y="948690"/>
            <a:ext cx="9143365" cy="517779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Cascadeless</a:t>
            </a:r>
            <a:r>
              <a:rPr lang="en-US" altLang="zh-CN" sz="2400" b="1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— for each pair of transactions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such that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reads a data item previously written by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the commit operation of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appears before the read operation of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zh-CN" sz="2400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Every cascadeless schedule is also recoverable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is desirable to restrict the schedules to those that are cascadeless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Example of  a schedule that is NOT cascadeless</a:t>
            </a:r>
          </a:p>
          <a:p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4515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8" y="4164013"/>
            <a:ext cx="3806825" cy="2138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Concurrency Control</a:t>
            </a:r>
          </a:p>
        </p:txBody>
      </p:sp>
      <p:sp>
        <p:nvSpPr>
          <p:cNvPr id="66562" name="Rectangle 3"/>
          <p:cNvSpPr>
            <a:spLocks noGrp="1"/>
          </p:cNvSpPr>
          <p:nvPr>
            <p:ph idx="1"/>
          </p:nvPr>
        </p:nvSpPr>
        <p:spPr>
          <a:xfrm>
            <a:off x="117475" y="840105"/>
            <a:ext cx="8877935" cy="577342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 database must provide a mechanism that will ensure that all possible schedules are both:</a:t>
            </a:r>
          </a:p>
          <a:p>
            <a:pPr lvl="1"/>
            <a:r>
              <a:rPr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 serializable. </a:t>
            </a:r>
          </a:p>
          <a:p>
            <a:pPr lvl="1"/>
            <a:r>
              <a:rPr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Recoverable and preferably cascadeless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A policy in which only one transaction can execute at a time generates serial schedules, but provides a poor degree of concurrency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Concurrency-control schemes tradeoff between the amount of concurrency they allow and the amount of overhead that they incur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Testing a schedule for serializability </a:t>
            </a:r>
            <a:r>
              <a:rPr lang="en-US" altLang="zh-CN" sz="2200" i="1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it has executed is a little too late! 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Tests for serializability help us understand why a concurrency control protocol is correct</a:t>
            </a:r>
          </a:p>
          <a:p>
            <a:r>
              <a:rPr lang="en-US" altLang="zh-CN" sz="2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– to develop concurrency control protocols that will assure serializability.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隔离性的实现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202565" y="1094105"/>
            <a:ext cx="8642985" cy="490347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为保证数据库的一致性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调度必须是</a:t>
            </a:r>
            <a:r>
              <a:rPr lang="zh-CN" altLang="en-US" sz="2600" dirty="0">
                <a:solidFill>
                  <a:srgbClr val="C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冲突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或</a:t>
            </a:r>
            <a:r>
              <a:rPr lang="zh-CN" altLang="en-US" sz="2600" dirty="0">
                <a:solidFill>
                  <a:srgbClr val="C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视图可串行化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的、</a:t>
            </a:r>
            <a:r>
              <a:rPr lang="zh-CN" altLang="en-US" sz="2600" dirty="0">
                <a:solidFill>
                  <a:srgbClr val="C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可恢复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的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并且最好是</a:t>
            </a:r>
            <a:r>
              <a:rPr lang="zh-CN" altLang="en-US" sz="2600" dirty="0">
                <a:solidFill>
                  <a:srgbClr val="C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无级联回滚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的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一次只允许一个事务执行的策略产生的都是</a:t>
            </a:r>
            <a:r>
              <a:rPr lang="zh-CN" altLang="en-US" sz="2600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串行调度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但</a:t>
            </a:r>
            <a:r>
              <a:rPr lang="zh-CN" altLang="en-US" sz="2600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并发度差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某些方案只允许产生</a:t>
            </a:r>
            <a:r>
              <a:rPr lang="zh-CN" altLang="en-US" sz="2600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冲突可串行化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的调度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而另一些则允许</a:t>
            </a:r>
            <a:r>
              <a:rPr lang="zh-CN" altLang="en-US" sz="2600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非冲突可串行化但视图可串行化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的调度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如果应用环境对并发一致性要求不高</a:t>
            </a:r>
            <a:r>
              <a:rPr lang="en-US" altLang="zh-CN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或者应用程序希望自身来保证数据一致性，则可以</a:t>
            </a:r>
            <a:r>
              <a:rPr lang="zh-CN" altLang="en-US" sz="2600" u="sng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放松数据库的一致性的要求</a:t>
            </a:r>
            <a:r>
              <a:rPr lang="en-US" altLang="zh-CN" sz="2600" u="sng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</a:t>
            </a:r>
            <a:r>
              <a:rPr lang="zh-CN" altLang="en-US" sz="2600" u="sng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设置不同的隔离性级别</a:t>
            </a:r>
            <a:r>
              <a:rPr lang="zh-CN" altLang="en-US" sz="26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事务隔离性级别：丢失修改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895350" y="3814763"/>
            <a:ext cx="5127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T2</a:t>
            </a: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933450" y="1833563"/>
            <a:ext cx="471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T1</a:t>
            </a:r>
          </a:p>
        </p:txBody>
      </p:sp>
      <p:sp>
        <p:nvSpPr>
          <p:cNvPr id="34821" name="Line 6"/>
          <p:cNvSpPr>
            <a:spLocks noChangeShapeType="1"/>
          </p:cNvSpPr>
          <p:nvPr/>
        </p:nvSpPr>
        <p:spPr bwMode="auto">
          <a:xfrm>
            <a:off x="693738" y="3114675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2" name="Text Box 7"/>
          <p:cNvSpPr txBox="1">
            <a:spLocks noChangeArrowheads="1"/>
          </p:cNvSpPr>
          <p:nvPr/>
        </p:nvSpPr>
        <p:spPr bwMode="auto">
          <a:xfrm>
            <a:off x="633413" y="3109913"/>
            <a:ext cx="5889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>
                <a:latin typeface="Comic Sans MS" panose="030F0702030302020204" pitchFamily="66" charset="0"/>
              </a:rPr>
              <a:t>Time</a:t>
            </a:r>
            <a:endParaRPr lang="en-US" altLang="zh-CN" sz="1200">
              <a:latin typeface="Comic Sans MS" panose="030F0702030302020204" pitchFamily="66" charset="0"/>
            </a:endParaRPr>
          </a:p>
        </p:txBody>
      </p:sp>
      <p:sp>
        <p:nvSpPr>
          <p:cNvPr id="686088" name="AutoShape 8"/>
          <p:cNvSpPr>
            <a:spLocks noChangeArrowheads="1"/>
          </p:cNvSpPr>
          <p:nvPr/>
        </p:nvSpPr>
        <p:spPr bwMode="auto">
          <a:xfrm>
            <a:off x="1608138" y="2809875"/>
            <a:ext cx="762000" cy="609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rPr>
              <a:t>X=10</a:t>
            </a:r>
          </a:p>
        </p:txBody>
      </p:sp>
      <p:grpSp>
        <p:nvGrpSpPr>
          <p:cNvPr id="2" name="Group 9"/>
          <p:cNvGrpSpPr/>
          <p:nvPr/>
        </p:nvGrpSpPr>
        <p:grpSpPr bwMode="auto">
          <a:xfrm>
            <a:off x="2070100" y="3190875"/>
            <a:ext cx="1100138" cy="1128713"/>
            <a:chOff x="1147" y="1872"/>
            <a:chExt cx="693" cy="711"/>
          </a:xfrm>
        </p:grpSpPr>
        <p:sp>
          <p:nvSpPr>
            <p:cNvPr id="34825" name="Text Box 10"/>
            <p:cNvSpPr txBox="1">
              <a:spLocks noChangeArrowheads="1"/>
            </p:cNvSpPr>
            <p:nvPr/>
          </p:nvSpPr>
          <p:spPr bwMode="auto">
            <a:xfrm>
              <a:off x="1147" y="2179"/>
              <a:ext cx="6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>
                  <a:latin typeface="Comic Sans MS" panose="030F0702030302020204" pitchFamily="66" charset="0"/>
                </a:rPr>
              </a:br>
              <a:r>
                <a:rPr lang="en-US" altLang="zh-CN" sz="200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34826" name="Line 11"/>
            <p:cNvSpPr>
              <a:spLocks noChangeShapeType="1"/>
            </p:cNvSpPr>
            <p:nvPr/>
          </p:nvSpPr>
          <p:spPr bwMode="auto">
            <a:xfrm>
              <a:off x="1480" y="1872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2616200" y="1773238"/>
            <a:ext cx="1100138" cy="1189037"/>
            <a:chOff x="1491" y="979"/>
            <a:chExt cx="693" cy="749"/>
          </a:xfrm>
        </p:grpSpPr>
        <p:sp>
          <p:nvSpPr>
            <p:cNvPr id="34828" name="Text Box 13"/>
            <p:cNvSpPr txBox="1">
              <a:spLocks noChangeArrowheads="1"/>
            </p:cNvSpPr>
            <p:nvPr/>
          </p:nvSpPr>
          <p:spPr bwMode="auto">
            <a:xfrm>
              <a:off x="1491" y="979"/>
              <a:ext cx="6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>
                  <a:latin typeface="Comic Sans MS" panose="030F0702030302020204" pitchFamily="66" charset="0"/>
                </a:rPr>
              </a:br>
              <a:r>
                <a:rPr lang="en-US" altLang="zh-CN" sz="200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34829" name="Line 14"/>
            <p:cNvSpPr>
              <a:spLocks noChangeShapeType="1"/>
            </p:cNvSpPr>
            <p:nvPr/>
          </p:nvSpPr>
          <p:spPr bwMode="auto">
            <a:xfrm>
              <a:off x="1816" y="1440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>
            <a:off x="3289300" y="3190875"/>
            <a:ext cx="1957388" cy="1128713"/>
            <a:chOff x="1915" y="1872"/>
            <a:chExt cx="1233" cy="711"/>
          </a:xfrm>
        </p:grpSpPr>
        <p:sp>
          <p:nvSpPr>
            <p:cNvPr id="686096" name="Text Box 16"/>
            <p:cNvSpPr txBox="1">
              <a:spLocks noChangeArrowheads="1"/>
            </p:cNvSpPr>
            <p:nvPr/>
          </p:nvSpPr>
          <p:spPr bwMode="auto">
            <a:xfrm>
              <a:off x="1915" y="2179"/>
              <a:ext cx="1233" cy="40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  <a:defRPr/>
              </a:pPr>
              <a:r>
                <a:rPr lang="en-US" altLang="zh-CN" sz="2000">
                  <a:latin typeface="Comic Sans MS" panose="030F0702030302020204" pitchFamily="66" charset="0"/>
                </a:rPr>
                <a:t>Compute X -= 1</a:t>
              </a: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lang="en-US" altLang="zh-CN" sz="2000">
                  <a:latin typeface="Comic Sans MS" panose="030F0702030302020204" pitchFamily="66" charset="0"/>
                </a:rPr>
                <a:t>(9</a:t>
              </a:r>
              <a:r>
                <a:rPr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  <p:sp>
          <p:nvSpPr>
            <p:cNvPr id="34832" name="Line 17"/>
            <p:cNvSpPr>
              <a:spLocks noChangeShapeType="1"/>
            </p:cNvSpPr>
            <p:nvPr/>
          </p:nvSpPr>
          <p:spPr bwMode="auto">
            <a:xfrm>
              <a:off x="2440" y="1872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8"/>
          <p:cNvGrpSpPr/>
          <p:nvPr/>
        </p:nvGrpSpPr>
        <p:grpSpPr bwMode="auto">
          <a:xfrm>
            <a:off x="3944938" y="1770063"/>
            <a:ext cx="2016126" cy="1268412"/>
            <a:chOff x="2328" y="977"/>
            <a:chExt cx="1270" cy="799"/>
          </a:xfrm>
        </p:grpSpPr>
        <p:sp>
          <p:nvSpPr>
            <p:cNvPr id="34834" name="Text Box 19"/>
            <p:cNvSpPr txBox="1">
              <a:spLocks noChangeArrowheads="1"/>
            </p:cNvSpPr>
            <p:nvPr/>
          </p:nvSpPr>
          <p:spPr bwMode="auto">
            <a:xfrm>
              <a:off x="2328" y="977"/>
              <a:ext cx="127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 dirty="0">
                  <a:latin typeface="Comic Sans MS" panose="030F0702030302020204" pitchFamily="66" charset="0"/>
                </a:rPr>
                <a:t>Compute X -= 2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 dirty="0">
                  <a:latin typeface="Comic Sans MS" panose="030F0702030302020204" pitchFamily="66" charset="0"/>
                </a:rPr>
                <a:t>(8)</a:t>
              </a:r>
            </a:p>
          </p:txBody>
        </p:sp>
        <p:sp>
          <p:nvSpPr>
            <p:cNvPr id="34835" name="Line 20"/>
            <p:cNvSpPr>
              <a:spLocks noChangeShapeType="1"/>
            </p:cNvSpPr>
            <p:nvPr/>
          </p:nvSpPr>
          <p:spPr bwMode="auto">
            <a:xfrm>
              <a:off x="2968" y="1392"/>
              <a:ext cx="0" cy="38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1"/>
          <p:cNvGrpSpPr/>
          <p:nvPr/>
        </p:nvGrpSpPr>
        <p:grpSpPr bwMode="auto">
          <a:xfrm>
            <a:off x="5292725" y="2809875"/>
            <a:ext cx="1160463" cy="1295400"/>
            <a:chOff x="3177" y="1632"/>
            <a:chExt cx="731" cy="816"/>
          </a:xfrm>
        </p:grpSpPr>
        <p:sp>
          <p:nvSpPr>
            <p:cNvPr id="34837" name="Text Box 22"/>
            <p:cNvSpPr txBox="1">
              <a:spLocks noChangeArrowheads="1"/>
            </p:cNvSpPr>
            <p:nvPr/>
          </p:nvSpPr>
          <p:spPr bwMode="auto">
            <a:xfrm>
              <a:off x="3177" y="2217"/>
              <a:ext cx="7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Write X</a:t>
              </a:r>
            </a:p>
          </p:txBody>
        </p:sp>
        <p:grpSp>
          <p:nvGrpSpPr>
            <p:cNvPr id="34838" name="Group 23"/>
            <p:cNvGrpSpPr/>
            <p:nvPr/>
          </p:nvGrpSpPr>
          <p:grpSpPr bwMode="auto">
            <a:xfrm>
              <a:off x="3304" y="1632"/>
              <a:ext cx="480" cy="576"/>
              <a:chOff x="3304" y="1632"/>
              <a:chExt cx="480" cy="576"/>
            </a:xfrm>
          </p:grpSpPr>
          <p:sp>
            <p:nvSpPr>
              <p:cNvPr id="686104" name="AutoShape 24"/>
              <p:cNvSpPr>
                <a:spLocks noChangeArrowheads="1"/>
              </p:cNvSpPr>
              <p:nvPr/>
            </p:nvSpPr>
            <p:spPr bwMode="auto">
              <a:xfrm>
                <a:off x="3304" y="1632"/>
                <a:ext cx="480" cy="384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1" lang="en-US" altLang="zh-CN" sz="2400" b="1">
                    <a:latin typeface="Times New Roman" panose="02020603050405020304" charset="0"/>
                    <a:ea typeface="华文新魏" panose="02010800040101010101" pitchFamily="2" charset="-122"/>
                  </a:rPr>
                  <a:t>X=9</a:t>
                </a:r>
              </a:p>
            </p:txBody>
          </p:sp>
          <p:sp>
            <p:nvSpPr>
              <p:cNvPr id="34840" name="Line 25"/>
              <p:cNvSpPr>
                <a:spLocks noChangeShapeType="1"/>
              </p:cNvSpPr>
              <p:nvPr/>
            </p:nvSpPr>
            <p:spPr bwMode="auto">
              <a:xfrm>
                <a:off x="3544" y="2064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26"/>
          <p:cNvGrpSpPr/>
          <p:nvPr/>
        </p:nvGrpSpPr>
        <p:grpSpPr bwMode="auto">
          <a:xfrm>
            <a:off x="6515100" y="1801813"/>
            <a:ext cx="1160463" cy="1581150"/>
            <a:chOff x="4195" y="1187"/>
            <a:chExt cx="731" cy="996"/>
          </a:xfrm>
        </p:grpSpPr>
        <p:sp>
          <p:nvSpPr>
            <p:cNvPr id="686107" name="AutoShape 27"/>
            <p:cNvSpPr>
              <a:spLocks noChangeArrowheads="1"/>
            </p:cNvSpPr>
            <p:nvPr/>
          </p:nvSpPr>
          <p:spPr bwMode="auto">
            <a:xfrm>
              <a:off x="4368" y="1799"/>
              <a:ext cx="480" cy="38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  <a:defRPr/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X = 8</a:t>
              </a:r>
            </a:p>
          </p:txBody>
        </p:sp>
        <p:sp>
          <p:nvSpPr>
            <p:cNvPr id="34843" name="Text Box 28"/>
            <p:cNvSpPr txBox="1">
              <a:spLocks noChangeArrowheads="1"/>
            </p:cNvSpPr>
            <p:nvPr/>
          </p:nvSpPr>
          <p:spPr bwMode="auto">
            <a:xfrm>
              <a:off x="4195" y="1187"/>
              <a:ext cx="7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Write X</a:t>
              </a:r>
            </a:p>
          </p:txBody>
        </p:sp>
        <p:sp>
          <p:nvSpPr>
            <p:cNvPr id="34844" name="Line 29"/>
            <p:cNvSpPr>
              <a:spLocks noChangeShapeType="1"/>
            </p:cNvSpPr>
            <p:nvPr/>
          </p:nvSpPr>
          <p:spPr bwMode="auto">
            <a:xfrm>
              <a:off x="4610" y="1418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6110" name="AutoShape 30"/>
          <p:cNvSpPr>
            <a:spLocks noChangeArrowheads="1"/>
          </p:cNvSpPr>
          <p:nvPr/>
        </p:nvSpPr>
        <p:spPr bwMode="auto">
          <a:xfrm>
            <a:off x="6503988" y="2444433"/>
            <a:ext cx="1304925" cy="1295400"/>
          </a:xfrm>
          <a:prstGeom prst="irregularSeal1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en-US" altLang="zh-CN" sz="2400" b="1" dirty="0">
                <a:latin typeface="Times New Roman" panose="02020603050405020304" charset="0"/>
                <a:ea typeface="华文新魏" panose="02010800040101010101" pitchFamily="2" charset="-122"/>
              </a:rPr>
              <a:t>X=8</a:t>
            </a:r>
          </a:p>
        </p:txBody>
      </p:sp>
      <p:sp>
        <p:nvSpPr>
          <p:cNvPr id="686111" name="Rectangle 31"/>
          <p:cNvSpPr>
            <a:spLocks noChangeArrowheads="1"/>
          </p:cNvSpPr>
          <p:nvPr/>
        </p:nvSpPr>
        <p:spPr bwMode="auto">
          <a:xfrm>
            <a:off x="539750" y="5039360"/>
            <a:ext cx="7704138" cy="1005205"/>
          </a:xfrm>
          <a:prstGeom prst="rect">
            <a:avLst/>
          </a:prstGeom>
          <a:solidFill>
            <a:srgbClr val="92D050">
              <a:alpha val="12157"/>
            </a:srgbClr>
          </a:solidFill>
          <a:ln>
            <a:noFill/>
          </a:ln>
          <a:scene3d>
            <a:camera prst="legacyObliqueTopRight"/>
            <a:lightRig rig="legacyFlat3" dir="b"/>
          </a:scene3d>
          <a:sp3d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92D050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</a:extLst>
        </p:spPr>
        <p:txBody>
          <a:bodyPr lIns="72000" tIns="72000" rIns="108000" bIns="72000" anchor="ctr">
            <a:spAutoFit/>
            <a:flatTx/>
          </a:bodyPr>
          <a:lstStyle/>
          <a:p>
            <a:pPr algn="just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两个事务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读入同一数据并修改，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提交的结果破坏了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提交的结果，导致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的修改丢失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8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0" grpId="0" bldLvl="0" animBg="1"/>
      <p:bldP spid="68611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事务隔离性级别：读脏数据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750888" y="3451225"/>
            <a:ext cx="5127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T2</a:t>
            </a: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788988" y="1470025"/>
            <a:ext cx="471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T1</a:t>
            </a:r>
          </a:p>
        </p:txBody>
      </p:sp>
      <p:sp>
        <p:nvSpPr>
          <p:cNvPr id="35845" name="Line 6"/>
          <p:cNvSpPr>
            <a:spLocks noChangeShapeType="1"/>
          </p:cNvSpPr>
          <p:nvPr/>
        </p:nvSpPr>
        <p:spPr bwMode="auto">
          <a:xfrm>
            <a:off x="549275" y="2751138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6" name="Text Box 7"/>
          <p:cNvSpPr txBox="1">
            <a:spLocks noChangeArrowheads="1"/>
          </p:cNvSpPr>
          <p:nvPr/>
        </p:nvSpPr>
        <p:spPr bwMode="auto">
          <a:xfrm>
            <a:off x="488950" y="2746375"/>
            <a:ext cx="588963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>
                <a:solidFill>
                  <a:schemeClr val="tx2"/>
                </a:solidFill>
                <a:latin typeface="Comic Sans MS" panose="030F0702030302020204" pitchFamily="66" charset="0"/>
              </a:rPr>
              <a:t>Time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687112" name="AutoShape 8"/>
          <p:cNvSpPr>
            <a:spLocks noChangeArrowheads="1"/>
          </p:cNvSpPr>
          <p:nvPr/>
        </p:nvSpPr>
        <p:spPr bwMode="auto">
          <a:xfrm>
            <a:off x="1463675" y="2446338"/>
            <a:ext cx="762000" cy="609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rPr>
              <a:t>X=10</a:t>
            </a:r>
          </a:p>
        </p:txBody>
      </p:sp>
      <p:grpSp>
        <p:nvGrpSpPr>
          <p:cNvPr id="2" name="Group 9"/>
          <p:cNvGrpSpPr/>
          <p:nvPr/>
        </p:nvGrpSpPr>
        <p:grpSpPr bwMode="auto">
          <a:xfrm>
            <a:off x="4852988" y="2824163"/>
            <a:ext cx="1100137" cy="1128712"/>
            <a:chOff x="2978" y="1584"/>
            <a:chExt cx="693" cy="711"/>
          </a:xfrm>
        </p:grpSpPr>
        <p:sp>
          <p:nvSpPr>
            <p:cNvPr id="35849" name="Text Box 10"/>
            <p:cNvSpPr txBox="1">
              <a:spLocks noChangeArrowheads="1"/>
            </p:cNvSpPr>
            <p:nvPr/>
          </p:nvSpPr>
          <p:spPr bwMode="auto">
            <a:xfrm>
              <a:off x="2978" y="1891"/>
              <a:ext cx="6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>
                  <a:latin typeface="Comic Sans MS" panose="030F0702030302020204" pitchFamily="66" charset="0"/>
                </a:rPr>
              </a:br>
              <a:r>
                <a:rPr lang="en-US" altLang="zh-CN" sz="2000">
                  <a:latin typeface="Comic Sans MS" panose="030F0702030302020204" pitchFamily="66" charset="0"/>
                </a:rPr>
                <a:t>(25)</a:t>
              </a:r>
            </a:p>
          </p:txBody>
        </p:sp>
        <p:sp>
          <p:nvSpPr>
            <p:cNvPr id="35850" name="Line 11"/>
            <p:cNvSpPr>
              <a:spLocks noChangeShapeType="1"/>
            </p:cNvSpPr>
            <p:nvPr/>
          </p:nvSpPr>
          <p:spPr bwMode="auto">
            <a:xfrm>
              <a:off x="3312" y="1584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1728788" y="1406525"/>
            <a:ext cx="1100137" cy="1112838"/>
            <a:chOff x="1010" y="691"/>
            <a:chExt cx="693" cy="701"/>
          </a:xfrm>
        </p:grpSpPr>
        <p:sp>
          <p:nvSpPr>
            <p:cNvPr id="35852" name="Text Box 13"/>
            <p:cNvSpPr txBox="1">
              <a:spLocks noChangeArrowheads="1"/>
            </p:cNvSpPr>
            <p:nvPr/>
          </p:nvSpPr>
          <p:spPr bwMode="auto">
            <a:xfrm>
              <a:off x="1010" y="691"/>
              <a:ext cx="6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>
                  <a:latin typeface="Comic Sans MS" panose="030F0702030302020204" pitchFamily="66" charset="0"/>
                </a:rPr>
              </a:br>
              <a:r>
                <a:rPr lang="en-US" altLang="zh-CN" sz="200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35853" name="Line 14"/>
            <p:cNvSpPr>
              <a:spLocks noChangeShapeType="1"/>
            </p:cNvSpPr>
            <p:nvPr/>
          </p:nvSpPr>
          <p:spPr bwMode="auto">
            <a:xfrm>
              <a:off x="1392" y="1104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>
            <a:off x="3254375" y="1268413"/>
            <a:ext cx="1193800" cy="1403350"/>
            <a:chOff x="1971" y="1132"/>
            <a:chExt cx="752" cy="884"/>
          </a:xfrm>
        </p:grpSpPr>
        <p:sp>
          <p:nvSpPr>
            <p:cNvPr id="35855" name="Text Box 16"/>
            <p:cNvSpPr txBox="1">
              <a:spLocks noChangeArrowheads="1"/>
            </p:cNvSpPr>
            <p:nvPr/>
          </p:nvSpPr>
          <p:spPr bwMode="auto">
            <a:xfrm>
              <a:off x="1971" y="1132"/>
              <a:ext cx="75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Compute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X+=15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(25)</a:t>
              </a:r>
            </a:p>
          </p:txBody>
        </p:sp>
        <p:sp>
          <p:nvSpPr>
            <p:cNvPr id="35856" name="Line 17"/>
            <p:cNvSpPr>
              <a:spLocks noChangeShapeType="1"/>
            </p:cNvSpPr>
            <p:nvPr/>
          </p:nvSpPr>
          <p:spPr bwMode="auto">
            <a:xfrm>
              <a:off x="2352" y="1777"/>
              <a:ext cx="0" cy="239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8"/>
          <p:cNvGrpSpPr/>
          <p:nvPr/>
        </p:nvGrpSpPr>
        <p:grpSpPr bwMode="auto">
          <a:xfrm>
            <a:off x="4191000" y="1847850"/>
            <a:ext cx="1160463" cy="1204913"/>
            <a:chOff x="2561" y="1497"/>
            <a:chExt cx="731" cy="759"/>
          </a:xfrm>
        </p:grpSpPr>
        <p:sp>
          <p:nvSpPr>
            <p:cNvPr id="687123" name="AutoShape 19"/>
            <p:cNvSpPr>
              <a:spLocks noChangeArrowheads="1"/>
            </p:cNvSpPr>
            <p:nvPr/>
          </p:nvSpPr>
          <p:spPr bwMode="auto">
            <a:xfrm>
              <a:off x="2688" y="1872"/>
              <a:ext cx="480" cy="38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charset="0"/>
                  <a:ea typeface="华文新魏" panose="02010800040101010101" pitchFamily="2" charset="-122"/>
                </a:rPr>
                <a:t>X=25</a:t>
              </a:r>
            </a:p>
          </p:txBody>
        </p:sp>
        <p:sp>
          <p:nvSpPr>
            <p:cNvPr id="35859" name="Text Box 20"/>
            <p:cNvSpPr txBox="1">
              <a:spLocks noChangeArrowheads="1"/>
            </p:cNvSpPr>
            <p:nvPr/>
          </p:nvSpPr>
          <p:spPr bwMode="auto">
            <a:xfrm>
              <a:off x="2561" y="1497"/>
              <a:ext cx="7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Write X</a:t>
              </a:r>
            </a:p>
          </p:txBody>
        </p:sp>
        <p:sp>
          <p:nvSpPr>
            <p:cNvPr id="35860" name="Line 21"/>
            <p:cNvSpPr>
              <a:spLocks noChangeShapeType="1"/>
            </p:cNvSpPr>
            <p:nvPr/>
          </p:nvSpPr>
          <p:spPr bwMode="auto">
            <a:xfrm>
              <a:off x="2928" y="1728"/>
              <a:ext cx="0" cy="9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2"/>
          <p:cNvGrpSpPr/>
          <p:nvPr/>
        </p:nvGrpSpPr>
        <p:grpSpPr bwMode="auto">
          <a:xfrm>
            <a:off x="5430838" y="1390650"/>
            <a:ext cx="1165225" cy="1662113"/>
            <a:chOff x="3342" y="1209"/>
            <a:chExt cx="734" cy="1047"/>
          </a:xfrm>
        </p:grpSpPr>
        <p:sp>
          <p:nvSpPr>
            <p:cNvPr id="687127" name="AutoShape 23"/>
            <p:cNvSpPr>
              <a:spLocks noChangeArrowheads="1"/>
            </p:cNvSpPr>
            <p:nvPr/>
          </p:nvSpPr>
          <p:spPr bwMode="auto">
            <a:xfrm>
              <a:off x="3456" y="1872"/>
              <a:ext cx="480" cy="38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charset="0"/>
                  <a:ea typeface="华文新魏" panose="02010800040101010101" pitchFamily="2" charset="-122"/>
                </a:rPr>
                <a:t>X=10</a:t>
              </a:r>
            </a:p>
          </p:txBody>
        </p:sp>
        <p:sp>
          <p:nvSpPr>
            <p:cNvPr id="35863" name="Text Box 24"/>
            <p:cNvSpPr txBox="1">
              <a:spLocks noChangeArrowheads="1"/>
            </p:cNvSpPr>
            <p:nvPr/>
          </p:nvSpPr>
          <p:spPr bwMode="auto">
            <a:xfrm>
              <a:off x="3342" y="1209"/>
              <a:ext cx="7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Rollback</a:t>
              </a:r>
            </a:p>
          </p:txBody>
        </p:sp>
        <p:sp>
          <p:nvSpPr>
            <p:cNvPr id="35864" name="Line 25"/>
            <p:cNvSpPr>
              <a:spLocks noChangeShapeType="1"/>
            </p:cNvSpPr>
            <p:nvPr/>
          </p:nvSpPr>
          <p:spPr bwMode="auto">
            <a:xfrm>
              <a:off x="3648" y="1440"/>
              <a:ext cx="0" cy="38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6"/>
          <p:cNvGrpSpPr/>
          <p:nvPr/>
        </p:nvGrpSpPr>
        <p:grpSpPr bwMode="auto">
          <a:xfrm>
            <a:off x="6230938" y="2824163"/>
            <a:ext cx="2216150" cy="1204912"/>
            <a:chOff x="3846" y="1584"/>
            <a:chExt cx="1396" cy="759"/>
          </a:xfrm>
        </p:grpSpPr>
        <p:sp>
          <p:nvSpPr>
            <p:cNvPr id="35866" name="Text Box 27"/>
            <p:cNvSpPr txBox="1">
              <a:spLocks noChangeArrowheads="1"/>
            </p:cNvSpPr>
            <p:nvPr/>
          </p:nvSpPr>
          <p:spPr bwMode="auto">
            <a:xfrm>
              <a:off x="3846" y="1939"/>
              <a:ext cx="13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2000">
                  <a:latin typeface="Comic Sans MS" panose="030F0702030302020204" pitchFamily="66" charset="0"/>
                  <a:ea typeface="华文新魏" panose="02010800040101010101" pitchFamily="2" charset="-122"/>
                </a:rPr>
                <a:t>使用了从未提交到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zh-CN" altLang="en-US" sz="2000">
                  <a:latin typeface="Comic Sans MS" panose="030F0702030302020204" pitchFamily="66" charset="0"/>
                  <a:ea typeface="华文新魏" panose="02010800040101010101" pitchFamily="2" charset="-122"/>
                </a:rPr>
                <a:t>数据库中的数据</a:t>
              </a:r>
            </a:p>
          </p:txBody>
        </p:sp>
        <p:sp>
          <p:nvSpPr>
            <p:cNvPr id="35867" name="Line 28"/>
            <p:cNvSpPr>
              <a:spLocks noChangeShapeType="1"/>
            </p:cNvSpPr>
            <p:nvPr/>
          </p:nvSpPr>
          <p:spPr bwMode="auto">
            <a:xfrm>
              <a:off x="4416" y="1584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7133" name="Rectangle 29"/>
          <p:cNvSpPr>
            <a:spLocks noChangeArrowheads="1"/>
          </p:cNvSpPr>
          <p:nvPr/>
        </p:nvSpPr>
        <p:spPr bwMode="auto">
          <a:xfrm>
            <a:off x="250825" y="4448175"/>
            <a:ext cx="8064500" cy="1860550"/>
          </a:xfrm>
          <a:prstGeom prst="rect">
            <a:avLst/>
          </a:prstGeom>
          <a:solidFill>
            <a:srgbClr val="92D050">
              <a:alpha val="12157"/>
            </a:srgbClr>
          </a:solidFill>
          <a:ln>
            <a:noFill/>
          </a:ln>
          <a:scene3d>
            <a:camera prst="legacyObliqueTopRight"/>
            <a:lightRig rig="legacyFlat3" dir="b"/>
          </a:scene3d>
          <a:sp3d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92D050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</a:extLst>
        </p:spPr>
        <p:txBody>
          <a:bodyPr lIns="72000" tIns="72000" rIns="108000" bIns="72000" anchor="ctr">
            <a:spAutoFit/>
            <a:flatTx/>
          </a:bodyPr>
          <a:lstStyle/>
          <a:p>
            <a:pPr algn="just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事务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修改某一数据，并将其写回磁盘，事务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读取同一数据后，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由于某种原因被撤消，这时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已修改过的数据恢复原值，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读到的数据与数据库中数据不一致，则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读到的数据就是脏数据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8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事务隔离性级别：不能重复读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1039813" y="3798888"/>
            <a:ext cx="5127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T2</a:t>
            </a:r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1077913" y="1817688"/>
            <a:ext cx="471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T1</a:t>
            </a:r>
          </a:p>
        </p:txBody>
      </p:sp>
      <p:sp>
        <p:nvSpPr>
          <p:cNvPr id="36869" name="Line 6"/>
          <p:cNvSpPr>
            <a:spLocks noChangeShapeType="1"/>
          </p:cNvSpPr>
          <p:nvPr/>
        </p:nvSpPr>
        <p:spPr bwMode="auto">
          <a:xfrm>
            <a:off x="838200" y="3098800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777875" y="3094038"/>
            <a:ext cx="588963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>
                <a:solidFill>
                  <a:schemeClr val="tx2"/>
                </a:solidFill>
                <a:latin typeface="Comic Sans MS" panose="030F0702030302020204" pitchFamily="66" charset="0"/>
              </a:rPr>
              <a:t>Time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2087563" y="3163888"/>
            <a:ext cx="1100137" cy="1128712"/>
            <a:chOff x="1059" y="1824"/>
            <a:chExt cx="693" cy="711"/>
          </a:xfrm>
        </p:grpSpPr>
        <p:sp>
          <p:nvSpPr>
            <p:cNvPr id="36872" name="Text Box 9"/>
            <p:cNvSpPr txBox="1">
              <a:spLocks noChangeArrowheads="1"/>
            </p:cNvSpPr>
            <p:nvPr/>
          </p:nvSpPr>
          <p:spPr bwMode="auto">
            <a:xfrm>
              <a:off x="1059" y="2131"/>
              <a:ext cx="6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>
                  <a:latin typeface="Comic Sans MS" panose="030F0702030302020204" pitchFamily="66" charset="0"/>
                </a:rPr>
              </a:br>
              <a:r>
                <a:rPr lang="en-US" altLang="zh-CN" sz="200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36873" name="Line 10"/>
            <p:cNvSpPr>
              <a:spLocks noChangeShapeType="1"/>
            </p:cNvSpPr>
            <p:nvPr/>
          </p:nvSpPr>
          <p:spPr bwMode="auto">
            <a:xfrm>
              <a:off x="1392" y="1824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1"/>
          <p:cNvGrpSpPr/>
          <p:nvPr/>
        </p:nvGrpSpPr>
        <p:grpSpPr bwMode="auto">
          <a:xfrm>
            <a:off x="2011363" y="1746250"/>
            <a:ext cx="1100137" cy="1112838"/>
            <a:chOff x="1011" y="931"/>
            <a:chExt cx="693" cy="701"/>
          </a:xfrm>
        </p:grpSpPr>
        <p:sp>
          <p:nvSpPr>
            <p:cNvPr id="36875" name="Text Box 12"/>
            <p:cNvSpPr txBox="1">
              <a:spLocks noChangeArrowheads="1"/>
            </p:cNvSpPr>
            <p:nvPr/>
          </p:nvSpPr>
          <p:spPr bwMode="auto">
            <a:xfrm>
              <a:off x="1011" y="931"/>
              <a:ext cx="6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>
                  <a:latin typeface="Comic Sans MS" panose="030F0702030302020204" pitchFamily="66" charset="0"/>
                </a:rPr>
              </a:br>
              <a:r>
                <a:rPr lang="en-US" altLang="zh-CN" sz="200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36876" name="Line 13"/>
            <p:cNvSpPr>
              <a:spLocks noChangeShapeType="1"/>
            </p:cNvSpPr>
            <p:nvPr/>
          </p:nvSpPr>
          <p:spPr bwMode="auto">
            <a:xfrm>
              <a:off x="1392" y="1344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4"/>
          <p:cNvGrpSpPr/>
          <p:nvPr/>
        </p:nvGrpSpPr>
        <p:grpSpPr bwMode="auto">
          <a:xfrm>
            <a:off x="3144838" y="1746250"/>
            <a:ext cx="1976437" cy="1265238"/>
            <a:chOff x="1725" y="931"/>
            <a:chExt cx="1245" cy="797"/>
          </a:xfrm>
        </p:grpSpPr>
        <p:sp>
          <p:nvSpPr>
            <p:cNvPr id="36878" name="Text Box 15"/>
            <p:cNvSpPr txBox="1">
              <a:spLocks noChangeArrowheads="1"/>
            </p:cNvSpPr>
            <p:nvPr/>
          </p:nvSpPr>
          <p:spPr bwMode="auto">
            <a:xfrm>
              <a:off x="1725" y="931"/>
              <a:ext cx="124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Compute X+=15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(25)</a:t>
              </a:r>
            </a:p>
          </p:txBody>
        </p:sp>
        <p:sp>
          <p:nvSpPr>
            <p:cNvPr id="36879" name="Line 16"/>
            <p:cNvSpPr>
              <a:spLocks noChangeShapeType="1"/>
            </p:cNvSpPr>
            <p:nvPr/>
          </p:nvSpPr>
          <p:spPr bwMode="auto">
            <a:xfrm>
              <a:off x="2352" y="1344"/>
              <a:ext cx="0" cy="38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7"/>
          <p:cNvGrpSpPr/>
          <p:nvPr/>
        </p:nvGrpSpPr>
        <p:grpSpPr bwMode="auto">
          <a:xfrm>
            <a:off x="4319588" y="2187575"/>
            <a:ext cx="1160462" cy="1204913"/>
            <a:chOff x="2465" y="1209"/>
            <a:chExt cx="731" cy="759"/>
          </a:xfrm>
        </p:grpSpPr>
        <p:sp>
          <p:nvSpPr>
            <p:cNvPr id="688146" name="AutoShape 18"/>
            <p:cNvSpPr>
              <a:spLocks noChangeArrowheads="1"/>
            </p:cNvSpPr>
            <p:nvPr/>
          </p:nvSpPr>
          <p:spPr bwMode="auto">
            <a:xfrm>
              <a:off x="2592" y="1584"/>
              <a:ext cx="480" cy="38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charset="0"/>
                  <a:ea typeface="华文新魏" panose="02010800040101010101" pitchFamily="2" charset="-122"/>
                </a:rPr>
                <a:t>X=25</a:t>
              </a:r>
            </a:p>
          </p:txBody>
        </p:sp>
        <p:sp>
          <p:nvSpPr>
            <p:cNvPr id="36882" name="Text Box 19"/>
            <p:cNvSpPr txBox="1">
              <a:spLocks noChangeArrowheads="1"/>
            </p:cNvSpPr>
            <p:nvPr/>
          </p:nvSpPr>
          <p:spPr bwMode="auto">
            <a:xfrm>
              <a:off x="2465" y="1209"/>
              <a:ext cx="7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Write X</a:t>
              </a:r>
            </a:p>
          </p:txBody>
        </p:sp>
        <p:sp>
          <p:nvSpPr>
            <p:cNvPr id="36883" name="Line 20"/>
            <p:cNvSpPr>
              <a:spLocks noChangeShapeType="1"/>
            </p:cNvSpPr>
            <p:nvPr/>
          </p:nvSpPr>
          <p:spPr bwMode="auto">
            <a:xfrm>
              <a:off x="2832" y="1440"/>
              <a:ext cx="0" cy="9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1"/>
          <p:cNvGrpSpPr/>
          <p:nvPr/>
        </p:nvGrpSpPr>
        <p:grpSpPr bwMode="auto">
          <a:xfrm>
            <a:off x="5399088" y="1730375"/>
            <a:ext cx="1054100" cy="1281113"/>
            <a:chOff x="3145" y="921"/>
            <a:chExt cx="664" cy="807"/>
          </a:xfrm>
        </p:grpSpPr>
        <p:sp>
          <p:nvSpPr>
            <p:cNvPr id="36885" name="Text Box 22"/>
            <p:cNvSpPr txBox="1">
              <a:spLocks noChangeArrowheads="1"/>
            </p:cNvSpPr>
            <p:nvPr/>
          </p:nvSpPr>
          <p:spPr bwMode="auto">
            <a:xfrm>
              <a:off x="3145" y="921"/>
              <a:ext cx="6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Commit</a:t>
              </a:r>
            </a:p>
          </p:txBody>
        </p:sp>
        <p:sp>
          <p:nvSpPr>
            <p:cNvPr id="36886" name="Line 23"/>
            <p:cNvSpPr>
              <a:spLocks noChangeShapeType="1"/>
            </p:cNvSpPr>
            <p:nvPr/>
          </p:nvSpPr>
          <p:spPr bwMode="auto">
            <a:xfrm>
              <a:off x="3456" y="1152"/>
              <a:ext cx="0" cy="57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4"/>
          <p:cNvGrpSpPr/>
          <p:nvPr/>
        </p:nvGrpSpPr>
        <p:grpSpPr bwMode="auto">
          <a:xfrm>
            <a:off x="6202363" y="3163888"/>
            <a:ext cx="1100137" cy="1128712"/>
            <a:chOff x="3651" y="1824"/>
            <a:chExt cx="693" cy="711"/>
          </a:xfrm>
        </p:grpSpPr>
        <p:sp>
          <p:nvSpPr>
            <p:cNvPr id="36888" name="Text Box 25"/>
            <p:cNvSpPr txBox="1">
              <a:spLocks noChangeArrowheads="1"/>
            </p:cNvSpPr>
            <p:nvPr/>
          </p:nvSpPr>
          <p:spPr bwMode="auto">
            <a:xfrm>
              <a:off x="3651" y="2131"/>
              <a:ext cx="6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>
                  <a:latin typeface="Comic Sans MS" panose="030F0702030302020204" pitchFamily="66" charset="0"/>
                </a:rPr>
              </a:br>
              <a:r>
                <a:rPr lang="en-US" altLang="zh-CN" sz="2000">
                  <a:latin typeface="Comic Sans MS" panose="030F0702030302020204" pitchFamily="66" charset="0"/>
                </a:rPr>
                <a:t>(</a:t>
              </a:r>
              <a:r>
                <a:rPr lang="en-US" altLang="zh-CN" sz="2000">
                  <a:solidFill>
                    <a:schemeClr val="folHlink"/>
                  </a:solidFill>
                  <a:latin typeface="Comic Sans MS" panose="030F0702030302020204" pitchFamily="66" charset="0"/>
                </a:rPr>
                <a:t>25</a:t>
              </a:r>
              <a:r>
                <a:rPr lang="en-US" altLang="zh-CN" sz="2000">
                  <a:latin typeface="Comic Sans MS" panose="030F0702030302020204" pitchFamily="66" charset="0"/>
                </a:rPr>
                <a:t>)</a:t>
              </a:r>
            </a:p>
          </p:txBody>
        </p:sp>
        <p:sp>
          <p:nvSpPr>
            <p:cNvPr id="36889" name="Line 26"/>
            <p:cNvSpPr>
              <a:spLocks noChangeShapeType="1"/>
            </p:cNvSpPr>
            <p:nvPr/>
          </p:nvSpPr>
          <p:spPr bwMode="auto">
            <a:xfrm>
              <a:off x="3984" y="1824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8155" name="AutoShape 27"/>
          <p:cNvSpPr>
            <a:spLocks noChangeArrowheads="1"/>
          </p:cNvSpPr>
          <p:nvPr/>
        </p:nvSpPr>
        <p:spPr bwMode="auto">
          <a:xfrm>
            <a:off x="1752600" y="2794000"/>
            <a:ext cx="762000" cy="609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rPr>
              <a:t>X=10</a:t>
            </a:r>
          </a:p>
        </p:txBody>
      </p:sp>
      <p:sp>
        <p:nvSpPr>
          <p:cNvPr id="688156" name="Rectangle 28"/>
          <p:cNvSpPr>
            <a:spLocks noChangeArrowheads="1"/>
          </p:cNvSpPr>
          <p:nvPr/>
        </p:nvSpPr>
        <p:spPr bwMode="auto">
          <a:xfrm>
            <a:off x="468313" y="5086350"/>
            <a:ext cx="8151812" cy="1006475"/>
          </a:xfrm>
          <a:prstGeom prst="rect">
            <a:avLst/>
          </a:prstGeom>
          <a:solidFill>
            <a:srgbClr val="92D050">
              <a:alpha val="12157"/>
            </a:srgbClr>
          </a:solidFill>
          <a:ln>
            <a:noFill/>
          </a:ln>
          <a:scene3d>
            <a:camera prst="legacyObliqueTopRight"/>
            <a:lightRig rig="legacyFlat3" dir="b"/>
          </a:scene3d>
          <a:sp3d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92D050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</a:extLst>
        </p:spPr>
        <p:txBody>
          <a:bodyPr lIns="72000" tIns="72000" rIns="108000" bIns="72000" anchor="ctr">
            <a:spAutoFit/>
            <a:flatTx/>
          </a:bodyPr>
          <a:lstStyle/>
          <a:p>
            <a:pPr algn="just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事务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读取某一数据后，事务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对其做了修改，当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再次读取该数据时，得到与前次不同的值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8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5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事务隔离性级别：发生幻象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606425" y="3390900"/>
            <a:ext cx="515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T2</a:t>
            </a:r>
          </a:p>
        </p:txBody>
      </p:sp>
      <p:sp>
        <p:nvSpPr>
          <p:cNvPr id="37892" name="Text Box 5"/>
          <p:cNvSpPr txBox="1">
            <a:spLocks noChangeArrowheads="1"/>
          </p:cNvSpPr>
          <p:nvPr/>
        </p:nvSpPr>
        <p:spPr bwMode="auto">
          <a:xfrm>
            <a:off x="628650" y="1866900"/>
            <a:ext cx="471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T1</a:t>
            </a:r>
          </a:p>
        </p:txBody>
      </p:sp>
      <p:sp>
        <p:nvSpPr>
          <p:cNvPr id="37893" name="Line 6"/>
          <p:cNvSpPr>
            <a:spLocks noChangeShapeType="1"/>
          </p:cNvSpPr>
          <p:nvPr/>
        </p:nvSpPr>
        <p:spPr bwMode="auto">
          <a:xfrm>
            <a:off x="604838" y="2749550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4" name="Text Box 7"/>
          <p:cNvSpPr txBox="1">
            <a:spLocks noChangeArrowheads="1"/>
          </p:cNvSpPr>
          <p:nvPr/>
        </p:nvSpPr>
        <p:spPr bwMode="auto">
          <a:xfrm>
            <a:off x="531813" y="2744788"/>
            <a:ext cx="5889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>
                <a:solidFill>
                  <a:schemeClr val="tx2"/>
                </a:solidFill>
                <a:latin typeface="Comic Sans MS" panose="030F0702030302020204" pitchFamily="66" charset="0"/>
              </a:rPr>
              <a:t>Time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37895" name="Text Box 8"/>
          <p:cNvSpPr txBox="1">
            <a:spLocks noChangeArrowheads="1"/>
          </p:cNvSpPr>
          <p:nvPr/>
        </p:nvSpPr>
        <p:spPr bwMode="auto">
          <a:xfrm>
            <a:off x="1300163" y="3533775"/>
            <a:ext cx="2157412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Select count (*) </a:t>
            </a:r>
            <a:br>
              <a:rPr lang="en-US" altLang="zh-CN" sz="2000">
                <a:latin typeface="Comic Sans MS" panose="030F0702030302020204" pitchFamily="66" charset="0"/>
              </a:rPr>
            </a:br>
            <a:r>
              <a:rPr lang="en-US" altLang="zh-CN" sz="2000">
                <a:latin typeface="Comic Sans MS" panose="030F0702030302020204" pitchFamily="66" charset="0"/>
              </a:rPr>
              <a:t>where rank &gt; 3</a:t>
            </a:r>
            <a:br>
              <a:rPr lang="en-US" altLang="zh-CN" sz="2000">
                <a:latin typeface="Comic Sans MS" panose="030F0702030302020204" pitchFamily="66" charset="0"/>
              </a:rPr>
            </a:br>
            <a:endParaRPr lang="en-US" altLang="zh-CN" sz="2000">
              <a:latin typeface="Comic Sans MS" panose="030F0702030302020204" pitchFamily="66" charset="0"/>
            </a:endParaRPr>
          </a:p>
          <a:p>
            <a:pPr algn="ctr" eaLnBrk="0" hangingPunct="0">
              <a:lnSpc>
                <a:spcPct val="85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2 rows returned</a:t>
            </a:r>
          </a:p>
        </p:txBody>
      </p:sp>
      <p:grpSp>
        <p:nvGrpSpPr>
          <p:cNvPr id="2" name="Group 9"/>
          <p:cNvGrpSpPr/>
          <p:nvPr/>
        </p:nvGrpSpPr>
        <p:grpSpPr bwMode="auto">
          <a:xfrm>
            <a:off x="3084513" y="1412875"/>
            <a:ext cx="1435100" cy="1130300"/>
            <a:chOff x="2022" y="804"/>
            <a:chExt cx="904" cy="712"/>
          </a:xfrm>
        </p:grpSpPr>
        <p:sp>
          <p:nvSpPr>
            <p:cNvPr id="689162" name="AutoShape 10"/>
            <p:cNvSpPr>
              <a:spLocks noChangeArrowheads="1"/>
            </p:cNvSpPr>
            <p:nvPr/>
          </p:nvSpPr>
          <p:spPr bwMode="auto">
            <a:xfrm>
              <a:off x="2254" y="1132"/>
              <a:ext cx="672" cy="384"/>
            </a:xfrm>
            <a:prstGeom prst="lightningBolt">
              <a:avLst/>
            </a:prstGeom>
            <a:solidFill>
              <a:srgbClr val="92D050">
                <a:alpha val="25000"/>
              </a:srgbClr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  <a:defRPr/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anose="030F0702030302020204" pitchFamily="66" charset="0"/>
                </a:rPr>
                <a:t>Insert</a:t>
              </a:r>
            </a:p>
          </p:txBody>
        </p:sp>
        <p:sp>
          <p:nvSpPr>
            <p:cNvPr id="689163" name="AutoShape 11"/>
            <p:cNvSpPr>
              <a:spLocks noChangeArrowheads="1"/>
            </p:cNvSpPr>
            <p:nvPr/>
          </p:nvSpPr>
          <p:spPr bwMode="auto">
            <a:xfrm>
              <a:off x="2022" y="804"/>
              <a:ext cx="672" cy="28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charset="0"/>
                  <a:ea typeface="华文新魏" panose="02010800040101010101" pitchFamily="2" charset="-122"/>
                </a:rPr>
                <a:t>Jones,</a:t>
              </a:r>
              <a:r>
                <a:rPr kumimoji="1" lang="en-US" altLang="zh-CN" sz="2400" b="1">
                  <a:solidFill>
                    <a:srgbClr val="C00000"/>
                  </a:solidFill>
                  <a:latin typeface="Times New Roman" panose="02020603050405020304" charset="0"/>
                  <a:ea typeface="华文新魏" panose="02010800040101010101" pitchFamily="2" charset="-122"/>
                </a:rPr>
                <a:t>6</a:t>
              </a:r>
              <a:endPara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4503738" y="1911350"/>
            <a:ext cx="2687637" cy="1676400"/>
            <a:chOff x="2974" y="1100"/>
            <a:chExt cx="1693" cy="1056"/>
          </a:xfrm>
        </p:grpSpPr>
        <p:sp>
          <p:nvSpPr>
            <p:cNvPr id="689165" name="Oval 13"/>
            <p:cNvSpPr>
              <a:spLocks noChangeArrowheads="1"/>
            </p:cNvSpPr>
            <p:nvPr/>
          </p:nvSpPr>
          <p:spPr bwMode="auto">
            <a:xfrm>
              <a:off x="2974" y="1100"/>
              <a:ext cx="1693" cy="105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>
                <a:latin typeface="Times New Roman" panose="02020603050405020304" charset="0"/>
                <a:ea typeface="华文新魏" panose="02010800040101010101" pitchFamily="2" charset="-122"/>
              </a:endParaRPr>
            </a:p>
          </p:txBody>
        </p:sp>
        <p:sp>
          <p:nvSpPr>
            <p:cNvPr id="689166" name="AutoShape 14"/>
            <p:cNvSpPr>
              <a:spLocks noChangeArrowheads="1"/>
            </p:cNvSpPr>
            <p:nvPr/>
          </p:nvSpPr>
          <p:spPr bwMode="auto">
            <a:xfrm>
              <a:off x="3880" y="1434"/>
              <a:ext cx="672" cy="28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charset="0"/>
                  <a:ea typeface="华文新魏" panose="02010800040101010101" pitchFamily="2" charset="-122"/>
                </a:rPr>
                <a:t>Smith,</a:t>
              </a:r>
              <a:r>
                <a:rPr kumimoji="1" lang="en-US" altLang="zh-CN" sz="2400" b="1">
                  <a:solidFill>
                    <a:srgbClr val="C00000"/>
                  </a:solidFill>
                  <a:latin typeface="Times New Roman" panose="02020603050405020304" charset="0"/>
                  <a:ea typeface="华文新魏" panose="02010800040101010101" pitchFamily="2" charset="-122"/>
                </a:rPr>
                <a:t>4</a:t>
              </a:r>
              <a:endPara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endParaRPr>
            </a:p>
          </p:txBody>
        </p:sp>
        <p:sp>
          <p:nvSpPr>
            <p:cNvPr id="689167" name="AutoShape 15"/>
            <p:cNvSpPr>
              <a:spLocks noChangeArrowheads="1"/>
            </p:cNvSpPr>
            <p:nvPr/>
          </p:nvSpPr>
          <p:spPr bwMode="auto">
            <a:xfrm>
              <a:off x="3320" y="1762"/>
              <a:ext cx="768" cy="28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charset="0"/>
                  <a:ea typeface="华文新魏" panose="02010800040101010101" pitchFamily="2" charset="-122"/>
                </a:rPr>
                <a:t>Brewer,</a:t>
              </a:r>
              <a:r>
                <a:rPr kumimoji="1" lang="en-US" altLang="zh-CN" sz="2400" b="1">
                  <a:solidFill>
                    <a:srgbClr val="C00000"/>
                  </a:solidFill>
                  <a:latin typeface="Times New Roman" panose="02020603050405020304" charset="0"/>
                  <a:ea typeface="华文新魏" panose="02010800040101010101" pitchFamily="2" charset="-122"/>
                </a:rPr>
                <a:t>7</a:t>
              </a:r>
              <a:endPara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endParaRPr>
            </a:p>
          </p:txBody>
        </p:sp>
        <p:sp>
          <p:nvSpPr>
            <p:cNvPr id="689168" name="AutoShape 16"/>
            <p:cNvSpPr>
              <a:spLocks noChangeArrowheads="1"/>
            </p:cNvSpPr>
            <p:nvPr/>
          </p:nvSpPr>
          <p:spPr bwMode="auto">
            <a:xfrm>
              <a:off x="3166" y="1322"/>
              <a:ext cx="672" cy="28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charset="0"/>
                  <a:ea typeface="华文新魏" panose="02010800040101010101" pitchFamily="2" charset="-122"/>
                </a:rPr>
                <a:t>Jones,</a:t>
              </a:r>
              <a:r>
                <a:rPr kumimoji="1" lang="en-US" altLang="zh-CN" sz="2400" b="1">
                  <a:solidFill>
                    <a:srgbClr val="C00000"/>
                  </a:solidFill>
                  <a:latin typeface="Times New Roman" panose="02020603050405020304" charset="0"/>
                  <a:ea typeface="华文新魏" panose="02010800040101010101" pitchFamily="2" charset="-122"/>
                </a:rPr>
                <a:t>6</a:t>
              </a:r>
              <a:endPara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endParaRPr>
            </a:p>
          </p:txBody>
        </p:sp>
      </p:grpSp>
      <p:sp>
        <p:nvSpPr>
          <p:cNvPr id="689169" name="Oval 17"/>
          <p:cNvSpPr>
            <a:spLocks noChangeArrowheads="1"/>
          </p:cNvSpPr>
          <p:nvPr/>
        </p:nvSpPr>
        <p:spPr bwMode="auto">
          <a:xfrm>
            <a:off x="1042988" y="1911350"/>
            <a:ext cx="2516187" cy="1676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>
              <a:latin typeface="Times New Roman" panose="02020603050405020304" charset="0"/>
              <a:ea typeface="华文新魏" panose="02010800040101010101" pitchFamily="2" charset="-122"/>
            </a:endParaRPr>
          </a:p>
        </p:txBody>
      </p:sp>
      <p:sp>
        <p:nvSpPr>
          <p:cNvPr id="689170" name="AutoShape 18"/>
          <p:cNvSpPr>
            <a:spLocks noChangeArrowheads="1"/>
          </p:cNvSpPr>
          <p:nvPr/>
        </p:nvSpPr>
        <p:spPr bwMode="auto">
          <a:xfrm>
            <a:off x="2170113" y="2247900"/>
            <a:ext cx="10668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rPr>
              <a:t>Smith,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charset="0"/>
                <a:ea typeface="华文新魏" panose="02010800040101010101" pitchFamily="2" charset="-122"/>
              </a:rPr>
              <a:t>4</a:t>
            </a:r>
          </a:p>
        </p:txBody>
      </p:sp>
      <p:sp>
        <p:nvSpPr>
          <p:cNvPr id="689171" name="AutoShape 19"/>
          <p:cNvSpPr>
            <a:spLocks noChangeArrowheads="1"/>
          </p:cNvSpPr>
          <p:nvPr/>
        </p:nvSpPr>
        <p:spPr bwMode="auto">
          <a:xfrm>
            <a:off x="1433513" y="2797175"/>
            <a:ext cx="1219200" cy="4572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en-US" altLang="zh-CN" sz="2400" b="1">
                <a:latin typeface="Times New Roman" panose="02020603050405020304" charset="0"/>
                <a:ea typeface="华文新魏" panose="02010800040101010101" pitchFamily="2" charset="-122"/>
              </a:rPr>
              <a:t>Brewer,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charset="0"/>
                <a:ea typeface="华文新魏" panose="02010800040101010101" pitchFamily="2" charset="-122"/>
              </a:rPr>
              <a:t>7</a:t>
            </a:r>
            <a:endParaRPr kumimoji="1" lang="en-US" altLang="zh-CN" sz="2400" b="1">
              <a:latin typeface="Times New Roman" panose="02020603050405020304" charset="0"/>
              <a:ea typeface="华文新魏" panose="02010800040101010101" pitchFamily="2" charset="-122"/>
            </a:endParaRPr>
          </a:p>
        </p:txBody>
      </p:sp>
      <p:sp>
        <p:nvSpPr>
          <p:cNvPr id="689172" name="Text Box 20"/>
          <p:cNvSpPr txBox="1">
            <a:spLocks noChangeArrowheads="1"/>
          </p:cNvSpPr>
          <p:nvPr/>
        </p:nvSpPr>
        <p:spPr bwMode="auto">
          <a:xfrm>
            <a:off x="4729163" y="3517900"/>
            <a:ext cx="21574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altLang="zh-CN" sz="2000">
                <a:latin typeface="Comic Sans MS" panose="030F0702030302020204" pitchFamily="66" charset="0"/>
              </a:rPr>
              <a:t>Select count (*) </a:t>
            </a:r>
            <a:br>
              <a:rPr lang="en-US" altLang="zh-CN" sz="2000">
                <a:latin typeface="Comic Sans MS" panose="030F0702030302020204" pitchFamily="66" charset="0"/>
              </a:rPr>
            </a:br>
            <a:r>
              <a:rPr lang="en-US" altLang="zh-CN" sz="2000">
                <a:latin typeface="Comic Sans MS" panose="030F0702030302020204" pitchFamily="66" charset="0"/>
              </a:rPr>
              <a:t>where rank &gt; 3</a:t>
            </a:r>
          </a:p>
        </p:txBody>
      </p:sp>
      <p:sp>
        <p:nvSpPr>
          <p:cNvPr id="689173" name="Text Box 21"/>
          <p:cNvSpPr txBox="1">
            <a:spLocks noChangeArrowheads="1"/>
          </p:cNvSpPr>
          <p:nvPr/>
        </p:nvSpPr>
        <p:spPr bwMode="auto">
          <a:xfrm>
            <a:off x="4767263" y="4310063"/>
            <a:ext cx="210185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altLang="zh-CN" sz="2000">
                <a:solidFill>
                  <a:schemeClr val="folHlink"/>
                </a:solidFill>
                <a:latin typeface="Comic Sans MS" panose="030F0702030302020204" pitchFamily="66" charset="0"/>
              </a:rPr>
              <a:t>3</a:t>
            </a:r>
            <a:r>
              <a:rPr lang="en-US" altLang="zh-CN" sz="2000">
                <a:latin typeface="Comic Sans MS" panose="030F0702030302020204" pitchFamily="66" charset="0"/>
              </a:rPr>
              <a:t> rows returned</a:t>
            </a:r>
          </a:p>
        </p:txBody>
      </p:sp>
      <p:sp>
        <p:nvSpPr>
          <p:cNvPr id="689174" name="Rectangle 22"/>
          <p:cNvSpPr>
            <a:spLocks noChangeArrowheads="1"/>
          </p:cNvSpPr>
          <p:nvPr/>
        </p:nvSpPr>
        <p:spPr bwMode="auto">
          <a:xfrm>
            <a:off x="250825" y="5100638"/>
            <a:ext cx="8151813" cy="1433512"/>
          </a:xfrm>
          <a:prstGeom prst="rect">
            <a:avLst/>
          </a:prstGeom>
          <a:solidFill>
            <a:srgbClr val="92D050">
              <a:alpha val="12157"/>
            </a:srgbClr>
          </a:solidFill>
          <a:ln>
            <a:noFill/>
          </a:ln>
          <a:scene3d>
            <a:camera prst="legacyObliqueTopRight"/>
            <a:lightRig rig="legacyFlat3" dir="b"/>
          </a:scene3d>
          <a:sp3d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92D050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</a:extLst>
        </p:spPr>
        <p:txBody>
          <a:bodyPr lIns="72000" tIns="72000" rIns="108000" bIns="72000" anchor="ctr">
            <a:spAutoFit/>
            <a:flatTx/>
          </a:bodyPr>
          <a:lstStyle/>
          <a:p>
            <a:pPr algn="just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事务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按一定条件读取了某些数据后，事务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插入了一些满足这些条件的数据，当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T2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再次按相同条件读取数据时，发现多了一些记录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8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8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8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172" grpId="0"/>
      <p:bldP spid="689173" grpId="0"/>
      <p:bldP spid="68917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事务隔离性级别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381635" y="1094105"/>
            <a:ext cx="8464550" cy="4903470"/>
          </a:xfrm>
        </p:spPr>
        <p:txBody>
          <a:bodyPr/>
          <a:lstStyle/>
          <a:p>
            <a:pPr eaLnBrk="1" hangingPunct="1"/>
            <a:r>
              <a:rPr lang="en-US" altLang="zh-CN" sz="2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SQL</a:t>
            </a:r>
            <a:r>
              <a:rPr lang="zh-CN" altLang="zh-CN" sz="2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zh-CN" altLang="en-US" sz="2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隔离性</a:t>
            </a:r>
            <a:r>
              <a:rPr lang="zh-CN" altLang="zh-CN" sz="2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级别的定义</a:t>
            </a:r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serializable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一个调度的执行必须等价于一个串行调度的结果</a:t>
            </a:r>
            <a:endParaRPr lang="en-US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repeatable read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只允许读取已提交的记录，并要求一个事务对同一记录的两次读取之间，其它事务不能对该记录进行更新</a:t>
            </a:r>
            <a:endParaRPr lang="en-US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read committed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只允许读取已提交的记录，但不要求可重复读</a:t>
            </a:r>
            <a:endParaRPr lang="en-US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read uncommitted</a:t>
            </a:r>
            <a:r>
              <a:rPr lang="zh-CN" altLang="en-US" sz="240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允许读取未提交的记录</a:t>
            </a:r>
          </a:p>
          <a:p>
            <a:pPr eaLnBrk="1" hangingPunct="1"/>
            <a:endParaRPr lang="en-US" altLang="zh-CN" sz="26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事务隔离性级别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694276" name="Rectangle 4"/>
          <p:cNvSpPr>
            <a:spLocks noChangeArrowheads="1"/>
          </p:cNvSpPr>
          <p:nvPr/>
        </p:nvSpPr>
        <p:spPr bwMode="auto">
          <a:xfrm>
            <a:off x="809625" y="1592263"/>
            <a:ext cx="2032000" cy="4873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ctr" eaLnBrk="0" hangingPunct="0"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行楷" panose="02010800040101010101" pitchFamily="2" charset="-122"/>
              </a:rPr>
              <a:t>隔离性</a:t>
            </a:r>
            <a:r>
              <a:rPr kumimoji="1" lang="zh-CN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行楷" panose="02010800040101010101" pitchFamily="2" charset="-122"/>
              </a:rPr>
              <a:t>级别</a:t>
            </a:r>
            <a:endParaRPr kumimoji="1"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694277" name="Rectangle 5"/>
          <p:cNvSpPr>
            <a:spLocks noChangeArrowheads="1"/>
          </p:cNvSpPr>
          <p:nvPr/>
        </p:nvSpPr>
        <p:spPr bwMode="auto">
          <a:xfrm>
            <a:off x="4481513" y="1557338"/>
            <a:ext cx="2032000" cy="4873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ctr" eaLnBrk="0" hangingPunct="0"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行楷" panose="02010800040101010101" pitchFamily="2" charset="-122"/>
              </a:rPr>
              <a:t>不一致现象</a:t>
            </a:r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846138" y="2308225"/>
            <a:ext cx="250666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US" altLang="zh-CN" sz="2300">
                <a:latin typeface="Comic Sans MS" panose="030F0702030302020204" pitchFamily="66" charset="0"/>
              </a:rPr>
              <a:t>Read uncommitted</a:t>
            </a:r>
            <a:endParaRPr lang="en-US" altLang="zh-CN" sz="2400">
              <a:latin typeface="Comic Sans MS" panose="030F0702030302020204" pitchFamily="66" charset="0"/>
            </a:endParaRPr>
          </a:p>
        </p:txBody>
      </p:sp>
      <p:sp>
        <p:nvSpPr>
          <p:cNvPr id="39942" name="Rectangle 7"/>
          <p:cNvSpPr>
            <a:spLocks noChangeArrowheads="1"/>
          </p:cNvSpPr>
          <p:nvPr/>
        </p:nvSpPr>
        <p:spPr bwMode="auto">
          <a:xfrm>
            <a:off x="4546600" y="2322513"/>
            <a:ext cx="15240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读脏数据</a:t>
            </a:r>
          </a:p>
          <a:p>
            <a:pPr eaLnBrk="0" hangingPunct="0"/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不能重复读</a:t>
            </a:r>
          </a:p>
          <a:p>
            <a:pPr eaLnBrk="0" hangingPunct="0"/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幻象</a:t>
            </a:r>
          </a:p>
        </p:txBody>
      </p:sp>
      <p:sp>
        <p:nvSpPr>
          <p:cNvPr id="39943" name="Rectangle 8"/>
          <p:cNvSpPr>
            <a:spLocks noChangeArrowheads="1"/>
          </p:cNvSpPr>
          <p:nvPr/>
        </p:nvSpPr>
        <p:spPr bwMode="auto">
          <a:xfrm>
            <a:off x="820738" y="3679825"/>
            <a:ext cx="220186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US" altLang="zh-CN" sz="2300">
                <a:latin typeface="Comic Sans MS" panose="030F0702030302020204" pitchFamily="66" charset="0"/>
              </a:rPr>
              <a:t>Read committed</a:t>
            </a:r>
          </a:p>
        </p:txBody>
      </p:sp>
      <p:sp>
        <p:nvSpPr>
          <p:cNvPr id="39944" name="Rectangle 9"/>
          <p:cNvSpPr>
            <a:spLocks noChangeArrowheads="1"/>
          </p:cNvSpPr>
          <p:nvPr/>
        </p:nvSpPr>
        <p:spPr bwMode="auto">
          <a:xfrm>
            <a:off x="803275" y="4594225"/>
            <a:ext cx="221773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US" altLang="zh-CN" sz="2300">
                <a:latin typeface="Comic Sans MS" panose="030F0702030302020204" pitchFamily="66" charset="0"/>
              </a:rPr>
              <a:t>Repeatable read</a:t>
            </a:r>
          </a:p>
        </p:txBody>
      </p:sp>
      <p:sp>
        <p:nvSpPr>
          <p:cNvPr id="39945" name="Rectangle 10"/>
          <p:cNvSpPr>
            <a:spLocks noChangeArrowheads="1"/>
          </p:cNvSpPr>
          <p:nvPr/>
        </p:nvSpPr>
        <p:spPr bwMode="auto">
          <a:xfrm>
            <a:off x="782638" y="5127625"/>
            <a:ext cx="16160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US" altLang="zh-CN" sz="2300">
                <a:latin typeface="Comic Sans MS" panose="030F0702030302020204" pitchFamily="66" charset="0"/>
              </a:rPr>
              <a:t>Serializable</a:t>
            </a:r>
          </a:p>
        </p:txBody>
      </p:sp>
      <p:sp>
        <p:nvSpPr>
          <p:cNvPr id="694283" name="Rectangle 11"/>
          <p:cNvSpPr>
            <a:spLocks noChangeArrowheads="1"/>
          </p:cNvSpPr>
          <p:nvPr/>
        </p:nvSpPr>
        <p:spPr bwMode="auto">
          <a:xfrm>
            <a:off x="4346575" y="5110163"/>
            <a:ext cx="406400" cy="350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ctr" eaLnBrk="0" hangingPunct="0">
              <a:defRPr/>
            </a:pPr>
            <a:r>
              <a:rPr lang="en-US" altLang="zh-CN" sz="23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zh-CN" sz="2300">
                <a:latin typeface="Comic Sans MS" panose="030F0702030302020204" pitchFamily="66" charset="0"/>
              </a:rPr>
              <a:t>--</a:t>
            </a:r>
          </a:p>
        </p:txBody>
      </p:sp>
      <p:sp>
        <p:nvSpPr>
          <p:cNvPr id="39947" name="Line 12"/>
          <p:cNvSpPr>
            <a:spLocks noChangeShapeType="1"/>
          </p:cNvSpPr>
          <p:nvPr/>
        </p:nvSpPr>
        <p:spPr bwMode="auto">
          <a:xfrm>
            <a:off x="4140200" y="1616075"/>
            <a:ext cx="0" cy="3886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9948" name="Group 13"/>
          <p:cNvGrpSpPr/>
          <p:nvPr/>
        </p:nvGrpSpPr>
        <p:grpSpPr bwMode="auto">
          <a:xfrm>
            <a:off x="250825" y="2143125"/>
            <a:ext cx="7985125" cy="2878138"/>
            <a:chOff x="432" y="1388"/>
            <a:chExt cx="4656" cy="1813"/>
          </a:xfrm>
        </p:grpSpPr>
        <p:sp>
          <p:nvSpPr>
            <p:cNvPr id="39949" name="Line 14"/>
            <p:cNvSpPr>
              <a:spLocks noChangeShapeType="1"/>
            </p:cNvSpPr>
            <p:nvPr/>
          </p:nvSpPr>
          <p:spPr bwMode="auto">
            <a:xfrm>
              <a:off x="432" y="1388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15"/>
            <p:cNvSpPr>
              <a:spLocks noChangeShapeType="1"/>
            </p:cNvSpPr>
            <p:nvPr/>
          </p:nvSpPr>
          <p:spPr bwMode="auto">
            <a:xfrm>
              <a:off x="432" y="2269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Line 16"/>
            <p:cNvSpPr>
              <a:spLocks noChangeShapeType="1"/>
            </p:cNvSpPr>
            <p:nvPr/>
          </p:nvSpPr>
          <p:spPr bwMode="auto">
            <a:xfrm>
              <a:off x="432" y="2821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Line 17"/>
            <p:cNvSpPr>
              <a:spLocks noChangeShapeType="1"/>
            </p:cNvSpPr>
            <p:nvPr/>
          </p:nvSpPr>
          <p:spPr bwMode="auto">
            <a:xfrm>
              <a:off x="432" y="3201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53" name="Rectangle 18"/>
          <p:cNvSpPr>
            <a:spLocks noChangeArrowheads="1"/>
          </p:cNvSpPr>
          <p:nvPr/>
        </p:nvSpPr>
        <p:spPr bwMode="auto">
          <a:xfrm>
            <a:off x="4591050" y="3589338"/>
            <a:ext cx="1524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不能重复读</a:t>
            </a:r>
          </a:p>
          <a:p>
            <a:pPr eaLnBrk="0" hangingPunct="0"/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幻象</a:t>
            </a:r>
          </a:p>
        </p:txBody>
      </p:sp>
      <p:sp>
        <p:nvSpPr>
          <p:cNvPr id="39954" name="Rectangle 19"/>
          <p:cNvSpPr>
            <a:spLocks noChangeArrowheads="1"/>
          </p:cNvSpPr>
          <p:nvPr/>
        </p:nvSpPr>
        <p:spPr bwMode="auto">
          <a:xfrm>
            <a:off x="4591050" y="4464050"/>
            <a:ext cx="609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幻象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Weak Levels of Consistency</a:t>
            </a:r>
          </a:p>
        </p:txBody>
      </p:sp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14630" y="1151255"/>
            <a:ext cx="8755380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Some applications are willing to live with weak levels of consistency, allowing schedules that are </a:t>
            </a:r>
            <a:r>
              <a:rPr lang="en-US" altLang="zh-CN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serializable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E.g., a read-only transaction that wants to get an approximate total balance of all accounts 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E.g., database statistics computed for query optimization can be approximate (why?)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Such transactions need not be serializable with respect to other transactions</a:t>
            </a:r>
          </a:p>
          <a:p>
            <a:r>
              <a:rPr lang="en-US" altLang="zh-C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Tradeoff accuracy for performance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36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Levels of Consistency in SQL-92</a:t>
            </a:r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xfrm>
            <a:off x="116205" y="1094105"/>
            <a:ext cx="9027795" cy="512445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Serializable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— default</a:t>
            </a:r>
          </a:p>
          <a:p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Repeatable read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only committed records to be read, repeated reads of same record must return same value.  However, a transaction may not be serializable – it may find some records inserted by a transaction but not find others.</a:t>
            </a:r>
          </a:p>
          <a:p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committed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only committed records can be read, but successive reads of record may return different (but committed) values.</a:t>
            </a:r>
          </a:p>
          <a:p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uncommitted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—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even uncommitted records may be read. 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59" name="Rectangle 5"/>
          <p:cNvSpPr/>
          <p:nvPr/>
        </p:nvSpPr>
        <p:spPr>
          <a:xfrm>
            <a:off x="106680" y="4053840"/>
            <a:ext cx="8930005" cy="242062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Lower degrees of consistency useful for gathering approximate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information about the database 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Warning: some database systems do not ensure serializable schedules by default</a:t>
            </a:r>
          </a:p>
          <a:p>
            <a:pPr marL="742950" lvl="1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E.g., Oracle and PostgreSQL by default support a level of consistency called snapshot isolation (not part of the SQL standard)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Transaction Definition in SQL</a:t>
            </a:r>
          </a:p>
        </p:txBody>
      </p:sp>
      <p:sp>
        <p:nvSpPr>
          <p:cNvPr id="72706" name="Rectangle 3"/>
          <p:cNvSpPr>
            <a:spLocks noGrp="1"/>
          </p:cNvSpPr>
          <p:nvPr>
            <p:ph idx="1"/>
          </p:nvPr>
        </p:nvSpPr>
        <p:spPr>
          <a:xfrm>
            <a:off x="130810" y="1094105"/>
            <a:ext cx="8811895" cy="508698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manipulation language must include a construct for specifying the set of actions that comprise a transaction.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SQL, a transaction begins implicitly.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transaction in SQL ends by:</a:t>
            </a: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Commit work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commits current transaction and begins a new one.</a:t>
            </a: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Rollback work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causes current transaction to abort.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almost all database systems, by default, every SQL statement also commits implicitly if it executes successfully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Implicit commit can be turned off by a database directive</a:t>
            </a:r>
          </a:p>
          <a:p>
            <a:pPr lvl="2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E.g. in JDBC, connection.setAutoCommit(false);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659063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Other Notions of Serializability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View Serializability</a:t>
            </a:r>
          </a:p>
        </p:txBody>
      </p:sp>
      <p:sp>
        <p:nvSpPr>
          <p:cNvPr id="76802" name="Rectangle 3"/>
          <p:cNvSpPr>
            <a:spLocks noGrp="1"/>
          </p:cNvSpPr>
          <p:nvPr>
            <p:ph idx="1"/>
          </p:nvPr>
        </p:nvSpPr>
        <p:spPr>
          <a:xfrm>
            <a:off x="57785" y="899160"/>
            <a:ext cx="9018905" cy="558609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S´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be two schedules with the same set of transactions.  </a:t>
            </a:r>
          </a:p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S´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equivalent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the following three conditions are met, for each data item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Q,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If in schedule S, transaction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the initial value of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then in schedule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also transaction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must read the initial value of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Q.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If in schedule S transaction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executes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Q)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that value was produced by transaction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(if any), then in schedule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also transaction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must read the value of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that was produced by the same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(Q) operation of transaction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transaction (if any) that performs the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operation in schedule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must also perform the final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 operation in schedule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As can be seen, view equivalence is also based purely on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reads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alone.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View Serializability (Cont.)</a:t>
            </a:r>
          </a:p>
        </p:txBody>
      </p:sp>
      <p:sp>
        <p:nvSpPr>
          <p:cNvPr id="78850" name="Rectangle 3"/>
          <p:cNvSpPr>
            <a:spLocks noGrp="1"/>
          </p:cNvSpPr>
          <p:nvPr>
            <p:ph idx="1"/>
          </p:nvPr>
        </p:nvSpPr>
        <p:spPr>
          <a:xfrm>
            <a:off x="142240" y="1106805"/>
            <a:ext cx="9001125" cy="544195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schedule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serializable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it is view equivalent to a serial schedule.</a:t>
            </a:r>
          </a:p>
          <a:p>
            <a:pPr defTabSz="914400"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Every conflict serializable schedule is also view serializable.</a:t>
            </a:r>
          </a:p>
          <a:p>
            <a:pPr defTabSz="914400"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Below is a schedule which is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view-serializable but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 serializable.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buNone/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defTabSz="914400">
              <a:buNone/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What serial schedule is above equivalent to?</a:t>
            </a:r>
          </a:p>
          <a:p>
            <a:pPr defTabSz="914400">
              <a:tabLst>
                <a:tab pos="1891030" algn="l"/>
                <a:tab pos="2338705" algn="l"/>
                <a:tab pos="2914650" algn="l"/>
                <a:tab pos="3203575" algn="l"/>
                <a:tab pos="3881755" algn="l"/>
                <a:tab pos="4286250" algn="l"/>
              </a:tabLst>
            </a:pPr>
            <a:r>
              <a:rPr lang="en-US" altLang="zh-CN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Every view serializable schedule that is not conflict serializable has </a:t>
            </a:r>
            <a:r>
              <a:rPr lang="en-US" altLang="zh-CN" sz="2400" b="1" i="1" u="sng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blind writes</a:t>
            </a:r>
            <a:r>
              <a:rPr lang="en-US" altLang="zh-CN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8851" name="Picture 4" descr="New PDF from Images Output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655" y="2927350"/>
            <a:ext cx="4876800" cy="21977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Test for View Serializability</a:t>
            </a:r>
          </a:p>
        </p:txBody>
      </p:sp>
      <p:sp>
        <p:nvSpPr>
          <p:cNvPr id="80898" name="Rectangle 3"/>
          <p:cNvSpPr>
            <a:spLocks noGrp="1"/>
          </p:cNvSpPr>
          <p:nvPr>
            <p:ph idx="1"/>
          </p:nvPr>
        </p:nvSpPr>
        <p:spPr>
          <a:xfrm>
            <a:off x="120650" y="1106805"/>
            <a:ext cx="8832850" cy="478472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precedence graph test for conflict serializability cannot be used directly to test for view serializability.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Extension to test for view serializability has cost exponential in the size of the precedence graph.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problem of checking if a schedule is view serializable falls in the class of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-complete problems. 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Thus, existence of an efficient algorithm is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extremely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unlikely.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However ,practical algorithms that just check some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for view serializability can still be used.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More Complex Notions of Serializability</a:t>
            </a:r>
          </a:p>
        </p:txBody>
      </p:sp>
      <p:sp>
        <p:nvSpPr>
          <p:cNvPr id="82946" name="Rectangle 3"/>
          <p:cNvSpPr>
            <a:spLocks noGrp="1"/>
          </p:cNvSpPr>
          <p:nvPr>
            <p:ph idx="1"/>
          </p:nvPr>
        </p:nvSpPr>
        <p:spPr>
          <a:xfrm>
            <a:off x="27940" y="878840"/>
            <a:ext cx="9025890" cy="5459095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schedule below produces the same outcome as the serial schedule &lt;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&gt;, yet is not conflict equivalent or view equivalent to it.  </a:t>
            </a:r>
          </a:p>
          <a:p>
            <a:pPr defTabSz="914400"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we start with A = 1000 and B = 2000, the final result is 960 and 2040</a:t>
            </a: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Determining such equivalence requires analysis of operations other than read and write.</a:t>
            </a: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2947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13" y="1684973"/>
            <a:ext cx="2754312" cy="2832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>
              <a:buClrTx/>
              <a:buSzTx/>
              <a:buFontTx/>
            </a:pP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MS PGothic" panose="020B0600070205080204" charset="-128"/>
                <a:cs typeface="MS PGothic" panose="020B0600070205080204" charset="-128"/>
              </a:rPr>
              <a:t>End of Chapter 14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1f9f54c-851e-4d24-b940-2d1a83a563c2"/>
  <p:tag name="COMMONDATA" val="eyJoZGlkIjoiZWIxYzZkM2FmYTk4YjgyMWQyYjQ4MGI5NDkwOGIwYmY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302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3020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11</TotalTime>
  <Words>3888</Words>
  <Application>Microsoft Office PowerPoint</Application>
  <PresentationFormat>全屏显示(4:3)</PresentationFormat>
  <Paragraphs>429</Paragraphs>
  <Slides>49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2" baseType="lpstr">
      <vt:lpstr>Monotype Sorts</vt:lpstr>
      <vt:lpstr>黑体</vt:lpstr>
      <vt:lpstr>华文新魏</vt:lpstr>
      <vt:lpstr>宋体</vt:lpstr>
      <vt:lpstr>Arial</vt:lpstr>
      <vt:lpstr>Comic Sans MS</vt:lpstr>
      <vt:lpstr>Helvetica</vt:lpstr>
      <vt:lpstr>Tahoma</vt:lpstr>
      <vt:lpstr>Times New Roman</vt:lpstr>
      <vt:lpstr>Webdings</vt:lpstr>
      <vt:lpstr>Wingdings</vt:lpstr>
      <vt:lpstr>2_db-5-grey</vt:lpstr>
      <vt:lpstr>MS_ClipArt_Gallery.2</vt:lpstr>
      <vt:lpstr>Chapter 17: Transactions </vt:lpstr>
      <vt:lpstr>Outline</vt:lpstr>
      <vt:lpstr>PowerPoint 演示文稿</vt:lpstr>
      <vt:lpstr>Transaction Concept</vt:lpstr>
      <vt:lpstr>Required  Properties of a Transaction</vt:lpstr>
      <vt:lpstr>Required Properties of a Transaction (Cont.)</vt:lpstr>
      <vt:lpstr>Required Properties of a Transaction (Cont.)</vt:lpstr>
      <vt:lpstr>ACID Properties</vt:lpstr>
      <vt:lpstr>Transaction State</vt:lpstr>
      <vt:lpstr>Transaction State (Cont.)</vt:lpstr>
      <vt:lpstr>Concurrent Executions</vt:lpstr>
      <vt:lpstr>Schedules</vt:lpstr>
      <vt:lpstr>Schedule 1</vt:lpstr>
      <vt:lpstr>Schedule 2</vt:lpstr>
      <vt:lpstr>Schedule 3</vt:lpstr>
      <vt:lpstr>Schedule 4</vt:lpstr>
      <vt:lpstr>Serializability</vt:lpstr>
      <vt:lpstr>Simplified view of transactions</vt:lpstr>
      <vt:lpstr>Conflicting Instructions </vt:lpstr>
      <vt:lpstr>Conflict Serializability</vt:lpstr>
      <vt:lpstr>Conflict Serializability (Cont.)</vt:lpstr>
      <vt:lpstr>PowerPoint 演示文稿</vt:lpstr>
      <vt:lpstr>PowerPoint 演示文稿</vt:lpstr>
      <vt:lpstr>Schedule 6 -- A Serial Schedule That is Equivalent to Schedule 3</vt:lpstr>
      <vt:lpstr>Conflict Serializability (Cont.)</vt:lpstr>
      <vt:lpstr>Other Notions of Serializability</vt:lpstr>
      <vt:lpstr>Precedence Graph</vt:lpstr>
      <vt:lpstr>Example Schedule (Schedule A) + Precedence Graph</vt:lpstr>
      <vt:lpstr>Testing for Conflict Serializability</vt:lpstr>
      <vt:lpstr>Recoverable Schedules</vt:lpstr>
      <vt:lpstr>Cascading Rollbacks</vt:lpstr>
      <vt:lpstr>Cascadeless Schedules</vt:lpstr>
      <vt:lpstr>Concurrency Control</vt:lpstr>
      <vt:lpstr>隔离性的实现</vt:lpstr>
      <vt:lpstr>事务隔离性级别：丢失修改</vt:lpstr>
      <vt:lpstr>事务隔离性级别：读脏数据</vt:lpstr>
      <vt:lpstr>事务隔离性级别：不能重复读</vt:lpstr>
      <vt:lpstr>事务隔离性级别：发生幻象</vt:lpstr>
      <vt:lpstr>事务隔离性级别</vt:lpstr>
      <vt:lpstr>事务隔离性级别</vt:lpstr>
      <vt:lpstr>Weak Levels of Consistency</vt:lpstr>
      <vt:lpstr>Levels of Consistency in SQL-92</vt:lpstr>
      <vt:lpstr>Transaction Definition in SQL</vt:lpstr>
      <vt:lpstr>Other Notions of Serializability</vt:lpstr>
      <vt:lpstr>View Serializability</vt:lpstr>
      <vt:lpstr>View Serializability (Cont.)</vt:lpstr>
      <vt:lpstr>Test for View Serializability</vt:lpstr>
      <vt:lpstr>More Complex Notions of Serializability</vt:lpstr>
      <vt:lpstr>End of Chapter 14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admin</cp:lastModifiedBy>
  <cp:revision>617</cp:revision>
  <cp:lastPrinted>1999-06-28T19:27:00Z</cp:lastPrinted>
  <dcterms:created xsi:type="dcterms:W3CDTF">2009-12-21T15:40:00Z</dcterms:created>
  <dcterms:modified xsi:type="dcterms:W3CDTF">2025-04-17T02:32:45Z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2052-11.8.2.12089</vt:lpwstr>
  </property>
  <property fmtid="{D5CDD505-2E9C-101B-9397-08002B2CF9AE}" pid="3" name="ICV">
    <vt:lpwstr>5D98EBD19BDD42B7ABA0A214B4B7D624</vt:lpwstr>
  </property>
</Properties>
</file>