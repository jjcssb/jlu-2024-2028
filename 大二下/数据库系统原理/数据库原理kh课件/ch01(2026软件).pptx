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3"/>
  </p:handoutMasterIdLst>
  <p:sldIdLst>
    <p:sldId id="256" r:id="rId3"/>
    <p:sldId id="330" r:id="rId5"/>
    <p:sldId id="287" r:id="rId6"/>
    <p:sldId id="383" r:id="rId7"/>
    <p:sldId id="288" r:id="rId8"/>
    <p:sldId id="289" r:id="rId9"/>
    <p:sldId id="290" r:id="rId10"/>
    <p:sldId id="384" r:id="rId11"/>
    <p:sldId id="343" r:id="rId12"/>
    <p:sldId id="344" r:id="rId13"/>
    <p:sldId id="291" r:id="rId14"/>
    <p:sldId id="292" r:id="rId15"/>
    <p:sldId id="293" r:id="rId16"/>
    <p:sldId id="294" r:id="rId17"/>
    <p:sldId id="469" r:id="rId18"/>
    <p:sldId id="431" r:id="rId19"/>
    <p:sldId id="432" r:id="rId20"/>
    <p:sldId id="295" r:id="rId21"/>
    <p:sldId id="296" r:id="rId22"/>
    <p:sldId id="298" r:id="rId23"/>
    <p:sldId id="325" r:id="rId24"/>
    <p:sldId id="319" r:id="rId25"/>
    <p:sldId id="300" r:id="rId26"/>
    <p:sldId id="301" r:id="rId27"/>
    <p:sldId id="302" r:id="rId28"/>
    <p:sldId id="304" r:id="rId29"/>
    <p:sldId id="305" r:id="rId30"/>
    <p:sldId id="329" r:id="rId31"/>
    <p:sldId id="307" r:id="rId32"/>
    <p:sldId id="380" r:id="rId33"/>
    <p:sldId id="381" r:id="rId34"/>
    <p:sldId id="382" r:id="rId35"/>
    <p:sldId id="472" r:id="rId36"/>
    <p:sldId id="473" r:id="rId37"/>
    <p:sldId id="474" r:id="rId38"/>
    <p:sldId id="475" r:id="rId39"/>
    <p:sldId id="476" r:id="rId40"/>
    <p:sldId id="477" r:id="rId41"/>
    <p:sldId id="308" r:id="rId42"/>
    <p:sldId id="309" r:id="rId43"/>
    <p:sldId id="323" r:id="rId44"/>
    <p:sldId id="322" r:id="rId45"/>
    <p:sldId id="321" r:id="rId46"/>
    <p:sldId id="311" r:id="rId47"/>
    <p:sldId id="392" r:id="rId48"/>
    <p:sldId id="393" r:id="rId49"/>
    <p:sldId id="394" r:id="rId50"/>
    <p:sldId id="395" r:id="rId51"/>
    <p:sldId id="313" r:id="rId52"/>
    <p:sldId id="314" r:id="rId53"/>
    <p:sldId id="386" r:id="rId54"/>
    <p:sldId id="430" r:id="rId55"/>
    <p:sldId id="387" r:id="rId56"/>
    <p:sldId id="388" r:id="rId57"/>
    <p:sldId id="389" r:id="rId58"/>
    <p:sldId id="390" r:id="rId59"/>
    <p:sldId id="377" r:id="rId60"/>
    <p:sldId id="378" r:id="rId61"/>
    <p:sldId id="315" r:id="rId62"/>
  </p:sldIdLst>
  <p:sldSz cx="9144000" cy="6858000" type="screen4x3"/>
  <p:notesSz cx="7010400" cy="9296400"/>
  <p:custShowLst>
    <p:custShow name="Custom Show 1" id="0">
      <p:sldLst>
        <p:sld r:id="rId6"/>
        <p:sld r:id="rId53"/>
        <p:sld r:id="rId9"/>
        <p:sld r:id="rId52"/>
        <p:sld r:id="rId45"/>
        <p:sld r:id="rId22"/>
        <p:sld r:id="rId8"/>
        <p:sld r:id="rId47"/>
        <p:sld r:id="rId45"/>
      </p:sldLst>
    </p:custShow>
  </p:custShowLst>
  <p:custDataLst>
    <p:tags r:id="rId68"/>
  </p:custDataLst>
  <p:defaultTextStyle>
    <a:defPPr>
      <a:defRPr lang="en-US"/>
    </a:defPPr>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pitchFamily="34" charset="-128"/>
        <a:cs typeface="+mn-cs"/>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pitchFamily="34" charset="-128"/>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pitchFamily="34" charset="-128"/>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pitchFamily="34" charset="-128"/>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pitchFamily="34" charset="-128"/>
        <a:cs typeface="+mn-cs"/>
      </a:defRPr>
    </a:lvl5pPr>
    <a:lvl6pPr marL="2286000" lvl="5"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pitchFamily="34" charset="-128"/>
        <a:cs typeface="+mn-cs"/>
      </a:defRPr>
    </a:lvl6pPr>
    <a:lvl7pPr marL="2743200" lvl="6"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pitchFamily="34" charset="-128"/>
        <a:cs typeface="+mn-cs"/>
      </a:defRPr>
    </a:lvl7pPr>
    <a:lvl8pPr marL="3200400" lvl="7"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pitchFamily="34" charset="-128"/>
        <a:cs typeface="+mn-cs"/>
      </a:defRPr>
    </a:lvl8pPr>
    <a:lvl9pPr marL="3657600" lvl="8"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679" userDrawn="1">
          <p15:clr>
            <a:srgbClr val="A4A3A4"/>
          </p15:clr>
        </p15:guide>
        <p15:guide id="2" pos="52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 Sudarshan" initials="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FF0000"/>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8164"/>
  </p:normalViewPr>
  <p:slideViewPr>
    <p:cSldViewPr snapToGrid="0" showGuides="1">
      <p:cViewPr varScale="1">
        <p:scale>
          <a:sx n="37" d="100"/>
          <a:sy n="37" d="100"/>
        </p:scale>
        <p:origin x="1080" y="60"/>
      </p:cViewPr>
      <p:guideLst>
        <p:guide orient="horz" pos="679"/>
        <p:guide pos="521"/>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6198" cy="7619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8" Type="http://schemas.openxmlformats.org/officeDocument/2006/relationships/tags" Target="tags/tag2.xml"/><Relationship Id="rId67" Type="http://schemas.openxmlformats.org/officeDocument/2006/relationships/commentAuthors" Target="commentAuthors.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handoutMaster" Target="handoutMasters/handoutMaster1.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bwMode="auto">
          <a:xfrm>
            <a:off x="0" y="0"/>
            <a:ext cx="3036888" cy="463550"/>
          </a:xfrm>
          <a:prstGeom prst="rect">
            <a:avLst/>
          </a:prstGeom>
          <a:noFill/>
          <a:ln w="9525">
            <a:noFill/>
            <a:miter lim="800000"/>
          </a:ln>
          <a:effectLst/>
        </p:spPr>
        <p:txBody>
          <a:bodyPr vert="horz" wrap="none" lIns="93171" tIns="46586" rIns="93171" bIns="46586" numCol="1" anchor="t" anchorCtr="0" compatLnSpc="1"/>
          <a:lstStyle>
            <a:lvl1pPr defTabSz="930275" eaLnBrk="0" hangingPunct="0">
              <a:defRPr sz="1200">
                <a:latin typeface="Helvetica" charset="0"/>
                <a:ea typeface="MS PGothic" panose="020B0600070205080204" pitchFamily="34" charset="-128"/>
                <a:cs typeface="MS PGothic" panose="020B0600070205080204" pitchFamily="34" charset="-128"/>
              </a:defRPr>
            </a:lvl1pPr>
          </a:lstStyle>
          <a:p>
            <a:pPr marL="0" marR="0" lvl="0" indent="0" algn="l" defTabSz="930275"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S PGothic" panose="020B0600070205080204" pitchFamily="34" charset="-128"/>
            </a:endParaRPr>
          </a:p>
        </p:txBody>
      </p:sp>
      <p:sp>
        <p:nvSpPr>
          <p:cNvPr id="58371" name="Rectangle 3"/>
          <p:cNvSpPr>
            <a:spLocks noGrp="1" noChangeArrowheads="1"/>
          </p:cNvSpPr>
          <p:nvPr>
            <p:ph type="dt" sz="quarter" idx="1"/>
          </p:nvPr>
        </p:nvSpPr>
        <p:spPr bwMode="auto">
          <a:xfrm>
            <a:off x="3973513" y="0"/>
            <a:ext cx="3036888" cy="463550"/>
          </a:xfrm>
          <a:prstGeom prst="rect">
            <a:avLst/>
          </a:prstGeom>
          <a:noFill/>
          <a:ln w="9525">
            <a:noFill/>
            <a:miter lim="800000"/>
          </a:ln>
          <a:effectLst/>
        </p:spPr>
        <p:txBody>
          <a:bodyPr vert="horz" wrap="none" lIns="93171" tIns="46586" rIns="93171" bIns="46586" numCol="1" anchor="t" anchorCtr="0" compatLnSpc="1"/>
          <a:lstStyle>
            <a:lvl1pPr algn="r" defTabSz="930275" eaLnBrk="0" hangingPunct="0">
              <a:defRPr sz="1200">
                <a:latin typeface="Helvetica" charset="0"/>
                <a:ea typeface="MS PGothic" panose="020B0600070205080204" pitchFamily="34" charset="-128"/>
                <a:cs typeface="MS PGothic" panose="020B0600070205080204" pitchFamily="34" charset="-128"/>
              </a:defRPr>
            </a:lvl1pPr>
          </a:lstStyle>
          <a:p>
            <a:pPr marL="0" marR="0" lvl="0" indent="0" algn="r" defTabSz="930275"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S PGothic" panose="020B0600070205080204" pitchFamily="34" charset="-128"/>
            </a:endParaRPr>
          </a:p>
        </p:txBody>
      </p:sp>
      <p:sp>
        <p:nvSpPr>
          <p:cNvPr id="58372" name="Rectangle 4"/>
          <p:cNvSpPr>
            <a:spLocks noGrp="1" noChangeArrowheads="1"/>
          </p:cNvSpPr>
          <p:nvPr>
            <p:ph type="ftr" sz="quarter" idx="2"/>
          </p:nvPr>
        </p:nvSpPr>
        <p:spPr bwMode="auto">
          <a:xfrm>
            <a:off x="0" y="8832850"/>
            <a:ext cx="3036888" cy="463550"/>
          </a:xfrm>
          <a:prstGeom prst="rect">
            <a:avLst/>
          </a:prstGeom>
          <a:noFill/>
          <a:ln w="9525">
            <a:noFill/>
            <a:miter lim="800000"/>
          </a:ln>
          <a:effectLst/>
        </p:spPr>
        <p:txBody>
          <a:bodyPr vert="horz" wrap="none" lIns="93171" tIns="46586" rIns="93171" bIns="46586" numCol="1" anchor="b" anchorCtr="0" compatLnSpc="1"/>
          <a:lstStyle>
            <a:lvl1pPr defTabSz="930275" eaLnBrk="0" hangingPunct="0">
              <a:defRPr sz="1200">
                <a:latin typeface="Helvetica" charset="0"/>
                <a:ea typeface="MS PGothic" panose="020B0600070205080204" pitchFamily="34" charset="-128"/>
                <a:cs typeface="MS PGothic" panose="020B0600070205080204" pitchFamily="34" charset="-128"/>
              </a:defRPr>
            </a:lvl1pPr>
          </a:lstStyle>
          <a:p>
            <a:pPr marL="0" marR="0" lvl="0" indent="0" algn="l" defTabSz="930275"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S PGothic" panose="020B0600070205080204" pitchFamily="34" charset="-128"/>
            </a:endParaRPr>
          </a:p>
        </p:txBody>
      </p:sp>
      <p:sp>
        <p:nvSpPr>
          <p:cNvPr id="58373" name="Rectangle 5"/>
          <p:cNvSpPr>
            <a:spLocks noGrp="1" noChangeArrowheads="1"/>
          </p:cNvSpPr>
          <p:nvPr>
            <p:ph type="sldNum" sz="quarter" idx="3"/>
          </p:nvPr>
        </p:nvSpPr>
        <p:spPr bwMode="auto">
          <a:xfrm>
            <a:off x="3973513" y="8832850"/>
            <a:ext cx="3036888" cy="463550"/>
          </a:xfrm>
          <a:prstGeom prst="rect">
            <a:avLst/>
          </a:prstGeom>
          <a:noFill/>
          <a:ln w="9525">
            <a:noFill/>
            <a:miter lim="800000"/>
          </a:ln>
          <a:effectLst/>
        </p:spPr>
        <p:txBody>
          <a:bodyPr vert="horz" wrap="none" lIns="93171" tIns="46586" rIns="93171" bIns="46586" numCol="1" anchor="b" anchorCtr="0" compatLnSpc="1"/>
          <a:lstStyle/>
          <a:p>
            <a:pPr lvl="0" algn="r" defTabSz="930275" fontAlgn="base">
              <a:buNone/>
            </a:pPr>
            <a:fld id="{9A0DB2DC-4C9A-4742-B13C-FB6460FD3503}" type="slidenum">
              <a:rPr lang="en-US" altLang="zh-CN" sz="1200" strike="noStrike" noProof="1" dirty="0">
                <a:latin typeface="Helvetica" charset="0"/>
                <a:ea typeface="MS PGothic" panose="020B0600070205080204" pitchFamily="34" charset="-128"/>
                <a:cs typeface="+mn-cs"/>
              </a:rPr>
            </a:fld>
            <a:endParaRPr lang="en-US" altLang="zh-CN" sz="1200"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3036888" cy="463550"/>
          </a:xfrm>
          <a:prstGeom prst="rect">
            <a:avLst/>
          </a:prstGeom>
          <a:noFill/>
          <a:ln w="9525">
            <a:noFill/>
            <a:miter lim="800000"/>
          </a:ln>
          <a:effectLst/>
        </p:spPr>
        <p:txBody>
          <a:bodyPr vert="horz" wrap="none" lIns="93171" tIns="46586" rIns="93171" bIns="46586" numCol="1" anchor="t" anchorCtr="0" compatLnSpc="1"/>
          <a:lstStyle>
            <a:lvl1pPr defTabSz="930275" eaLnBrk="0" hangingPunct="0">
              <a:defRPr sz="1200">
                <a:latin typeface="Helvetica" charset="0"/>
                <a:ea typeface="MS PGothic" panose="020B0600070205080204" pitchFamily="34" charset="-128"/>
                <a:cs typeface="MS PGothic" panose="020B0600070205080204" pitchFamily="34" charset="-128"/>
              </a:defRPr>
            </a:lvl1pPr>
          </a:lstStyle>
          <a:p>
            <a:pPr marL="0" marR="0" lvl="0" indent="0" algn="l" defTabSz="930275"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S PGothic" panose="020B0600070205080204" pitchFamily="34" charset="-128"/>
            </a:endParaRPr>
          </a:p>
        </p:txBody>
      </p:sp>
      <p:sp>
        <p:nvSpPr>
          <p:cNvPr id="52227" name="Rectangle 3"/>
          <p:cNvSpPr>
            <a:spLocks noGrp="1" noChangeArrowheads="1"/>
          </p:cNvSpPr>
          <p:nvPr>
            <p:ph type="dt" idx="1"/>
          </p:nvPr>
        </p:nvSpPr>
        <p:spPr bwMode="auto">
          <a:xfrm>
            <a:off x="3973513" y="0"/>
            <a:ext cx="3036888" cy="463550"/>
          </a:xfrm>
          <a:prstGeom prst="rect">
            <a:avLst/>
          </a:prstGeom>
          <a:noFill/>
          <a:ln w="9525">
            <a:noFill/>
            <a:miter lim="800000"/>
          </a:ln>
          <a:effectLst/>
        </p:spPr>
        <p:txBody>
          <a:bodyPr vert="horz" wrap="none" lIns="93171" tIns="46586" rIns="93171" bIns="46586" numCol="1" anchor="t" anchorCtr="0" compatLnSpc="1"/>
          <a:lstStyle>
            <a:lvl1pPr algn="r" defTabSz="930275" eaLnBrk="0" hangingPunct="0">
              <a:defRPr sz="1200">
                <a:latin typeface="Helvetica" charset="0"/>
                <a:ea typeface="MS PGothic" panose="020B0600070205080204" pitchFamily="34" charset="-128"/>
                <a:cs typeface="MS PGothic" panose="020B0600070205080204" pitchFamily="34" charset="-128"/>
              </a:defRPr>
            </a:lvl1pPr>
          </a:lstStyle>
          <a:p>
            <a:pPr marL="0" marR="0" lvl="0" indent="0" algn="r" defTabSz="930275"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S PGothic" panose="020B0600070205080204" pitchFamily="34" charset="-128"/>
            </a:endParaRPr>
          </a:p>
        </p:txBody>
      </p:sp>
      <p:sp>
        <p:nvSpPr>
          <p:cNvPr id="4100" name="Rectangle 4"/>
          <p:cNvSpPr>
            <a:spLocks noGrp="1" noRot="1" noChangeAspect="1" noTextEdit="1"/>
          </p:cNvSpPr>
          <p:nvPr>
            <p:ph type="sldImg"/>
          </p:nvPr>
        </p:nvSpPr>
        <p:spPr>
          <a:xfrm>
            <a:off x="1181100" y="698500"/>
            <a:ext cx="4648200" cy="3486150"/>
          </a:xfrm>
          <a:prstGeom prst="rect">
            <a:avLst/>
          </a:prstGeom>
          <a:noFill/>
          <a:ln w="9525" cap="flat" cmpd="sng">
            <a:solidFill>
              <a:srgbClr val="000000"/>
            </a:solidFill>
            <a:prstDash val="solid"/>
            <a:miter/>
            <a:headEnd type="none" w="med" len="med"/>
            <a:tailEnd type="none" w="med" len="med"/>
          </a:ln>
        </p:spPr>
      </p:sp>
      <p:sp>
        <p:nvSpPr>
          <p:cNvPr id="52229" name="Rectangle 5"/>
          <p:cNvSpPr>
            <a:spLocks noGrp="1" noChangeArrowheads="1"/>
          </p:cNvSpPr>
          <p:nvPr>
            <p:ph type="body" sz="quarter" idx="3"/>
          </p:nvPr>
        </p:nvSpPr>
        <p:spPr bwMode="auto">
          <a:xfrm>
            <a:off x="935038" y="4416425"/>
            <a:ext cx="5140325" cy="4181475"/>
          </a:xfrm>
          <a:prstGeom prst="rect">
            <a:avLst/>
          </a:prstGeom>
          <a:noFill/>
          <a:ln w="9525">
            <a:noFill/>
            <a:miter lim="800000"/>
          </a:ln>
          <a:effectLst/>
        </p:spPr>
        <p:txBody>
          <a:bodyPr vert="horz" wrap="none" lIns="93171" tIns="46586" rIns="93171" bIns="4658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rPr>
              <a:t>Click to edit Master text styles</a:t>
            </a: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rPr>
              <a:t>Second level</a:t>
            </a: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rPr>
              <a:t>Third level</a:t>
            </a: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rPr>
              <a:t>Fourth level</a:t>
            </a: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rPr>
              <a:t>Fifth level</a:t>
            </a: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
        <p:nvSpPr>
          <p:cNvPr id="52230" name="Rectangle 6"/>
          <p:cNvSpPr>
            <a:spLocks noGrp="1" noChangeArrowheads="1"/>
          </p:cNvSpPr>
          <p:nvPr>
            <p:ph type="ftr" sz="quarter" idx="4"/>
          </p:nvPr>
        </p:nvSpPr>
        <p:spPr bwMode="auto">
          <a:xfrm>
            <a:off x="0" y="8832850"/>
            <a:ext cx="3036888" cy="463550"/>
          </a:xfrm>
          <a:prstGeom prst="rect">
            <a:avLst/>
          </a:prstGeom>
          <a:noFill/>
          <a:ln w="9525">
            <a:noFill/>
            <a:miter lim="800000"/>
          </a:ln>
          <a:effectLst/>
        </p:spPr>
        <p:txBody>
          <a:bodyPr vert="horz" wrap="none" lIns="93171" tIns="46586" rIns="93171" bIns="46586" numCol="1" anchor="b" anchorCtr="0" compatLnSpc="1"/>
          <a:lstStyle>
            <a:lvl1pPr defTabSz="930275" eaLnBrk="0" hangingPunct="0">
              <a:defRPr sz="1200">
                <a:latin typeface="Helvetica" charset="0"/>
                <a:ea typeface="MS PGothic" panose="020B0600070205080204" pitchFamily="34" charset="-128"/>
                <a:cs typeface="MS PGothic" panose="020B0600070205080204" pitchFamily="34" charset="-128"/>
              </a:defRPr>
            </a:lvl1pPr>
          </a:lstStyle>
          <a:p>
            <a:pPr marL="0" marR="0" lvl="0" indent="0" algn="l" defTabSz="930275"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S PGothic" panose="020B0600070205080204" pitchFamily="34" charset="-128"/>
            </a:endParaRPr>
          </a:p>
        </p:txBody>
      </p:sp>
      <p:sp>
        <p:nvSpPr>
          <p:cNvPr id="52231" name="Rectangle 7"/>
          <p:cNvSpPr>
            <a:spLocks noGrp="1" noChangeArrowheads="1"/>
          </p:cNvSpPr>
          <p:nvPr>
            <p:ph type="sldNum" sz="quarter" idx="5"/>
          </p:nvPr>
        </p:nvSpPr>
        <p:spPr bwMode="auto">
          <a:xfrm>
            <a:off x="3973513" y="8832850"/>
            <a:ext cx="3036888" cy="463550"/>
          </a:xfrm>
          <a:prstGeom prst="rect">
            <a:avLst/>
          </a:prstGeom>
          <a:noFill/>
          <a:ln w="9525">
            <a:noFill/>
            <a:miter lim="800000"/>
          </a:ln>
          <a:effectLst/>
        </p:spPr>
        <p:txBody>
          <a:bodyPr vert="horz" wrap="none" lIns="93171" tIns="46586" rIns="93171" bIns="46586" numCol="1" anchor="b" anchorCtr="0" compatLnSpc="1"/>
          <a:lstStyle/>
          <a:p>
            <a:pPr lvl="0" algn="r" defTabSz="930275" fontAlgn="base">
              <a:buNone/>
            </a:pPr>
            <a:fld id="{9A0DB2DC-4C9A-4742-B13C-FB6460FD3503}" type="slidenum">
              <a:rPr lang="en-US" altLang="zh-CN" sz="1200" strike="noStrike" noProof="1" dirty="0">
                <a:latin typeface="Helvetica" charset="0"/>
                <a:ea typeface="MS PGothic" panose="020B0600070205080204" pitchFamily="34" charset="-128"/>
                <a:cs typeface="+mn-cs"/>
              </a:rPr>
            </a:fld>
            <a:endParaRPr lang="en-US" altLang="zh-CN"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71" tIns="46586" rIns="93171" bIns="46586" anchor="b" anchorCtr="0"/>
          <a:lstStyle/>
          <a:p>
            <a:pPr lvl="0" algn="r" defTabSz="930275" eaLnBrk="1" hangingPunct="1"/>
            <a:fld id="{9A0DB2DC-4C9A-4742-B13C-FB6460FD3503}" type="slidenum">
              <a:rPr lang="en-US" altLang="zh-CN" sz="1800" dirty="0">
                <a:latin typeface="Helvetica" charset="0"/>
                <a:ea typeface="宋体" panose="02010600030101010101" pitchFamily="2" charset="-122"/>
              </a:rPr>
            </a:fld>
            <a:endParaRPr lang="en-US" altLang="zh-CN" sz="1800" dirty="0">
              <a:latin typeface="Helvetica" charset="0"/>
              <a:ea typeface="宋体" panose="02010600030101010101" pitchFamily="2" charset="-122"/>
            </a:endParaRPr>
          </a:p>
        </p:txBody>
      </p:sp>
      <p:sp>
        <p:nvSpPr>
          <p:cNvPr id="6146" name="Rectangle 2"/>
          <p:cNvSpPr>
            <a:spLocks noGrp="1" noRot="1" noChangeAspect="1" noTextEdit="1"/>
          </p:cNvSpPr>
          <p:nvPr>
            <p:ph type="sldImg"/>
          </p:nvPr>
        </p:nvSpPr>
        <p:spPr/>
      </p:sp>
      <p:sp>
        <p:nvSpPr>
          <p:cNvPr id="6147"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8194" name="Rectangle 2"/>
          <p:cNvSpPr>
            <a:spLocks noGrp="1" noRot="1" noChangeAspect="1" noTextEdit="1"/>
          </p:cNvSpPr>
          <p:nvPr>
            <p:ph type="sldImg"/>
          </p:nvPr>
        </p:nvSpPr>
        <p:spPr>
          <a:xfrm>
            <a:off x="1181100" y="696913"/>
            <a:ext cx="4648200" cy="3486150"/>
          </a:xfrm>
        </p:spPr>
      </p:sp>
      <p:sp>
        <p:nvSpPr>
          <p:cNvPr id="8195" name="Rectangle 3"/>
          <p:cNvSpPr>
            <a:spLocks noGrp="1"/>
          </p:cNvSpPr>
          <p:nvPr>
            <p:ph type="body"/>
          </p:nvPr>
        </p:nvSpPr>
        <p:spPr>
          <a:xfrm>
            <a:off x="933450" y="4416425"/>
            <a:ext cx="5143500" cy="4183063"/>
          </a:xfrm>
        </p:spPr>
        <p:txBody>
          <a:bodyPr wrap="none" lIns="93171" tIns="46586" rIns="93171" bIns="46586" anchor="t" anchorCtr="0"/>
          <a:lstStyle/>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10242" name="Rectangle 2"/>
          <p:cNvSpPr>
            <a:spLocks noGrp="1" noRot="1" noChangeAspect="1" noTextEdit="1"/>
          </p:cNvSpPr>
          <p:nvPr>
            <p:ph type="sldImg"/>
          </p:nvPr>
        </p:nvSpPr>
        <p:spPr/>
      </p:sp>
      <p:sp>
        <p:nvSpPr>
          <p:cNvPr id="10243"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12290" name="Rectangle 2"/>
          <p:cNvSpPr>
            <a:spLocks noGrp="1" noRot="1" noChangeAspect="1" noTextEdit="1"/>
          </p:cNvSpPr>
          <p:nvPr>
            <p:ph type="sldImg"/>
          </p:nvPr>
        </p:nvSpPr>
        <p:spPr/>
      </p:sp>
      <p:sp>
        <p:nvSpPr>
          <p:cNvPr id="12291"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14338" name="Rectangle 2"/>
          <p:cNvSpPr>
            <a:spLocks noGrp="1" noRot="1" noChangeAspect="1" noTextEdit="1"/>
          </p:cNvSpPr>
          <p:nvPr>
            <p:ph type="sldImg"/>
          </p:nvPr>
        </p:nvSpPr>
        <p:spPr/>
      </p:sp>
      <p:sp>
        <p:nvSpPr>
          <p:cNvPr id="14339"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16386" name="Rectangle 2"/>
          <p:cNvSpPr>
            <a:spLocks noGrp="1" noRot="1" noChangeAspect="1" noTextEdit="1"/>
          </p:cNvSpPr>
          <p:nvPr>
            <p:ph type="sldImg"/>
          </p:nvPr>
        </p:nvSpPr>
        <p:spPr/>
      </p:sp>
      <p:sp>
        <p:nvSpPr>
          <p:cNvPr id="16387"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20482" name="Rectangle 2"/>
          <p:cNvSpPr>
            <a:spLocks noGrp="1" noRot="1" noChangeAspect="1" noTextEdit="1"/>
          </p:cNvSpPr>
          <p:nvPr>
            <p:ph type="sldImg"/>
          </p:nvPr>
        </p:nvSpPr>
        <p:spPr/>
      </p:sp>
      <p:sp>
        <p:nvSpPr>
          <p:cNvPr id="20483"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22530" name="Rectangle 2"/>
          <p:cNvSpPr>
            <a:spLocks noGrp="1" noRot="1" noChangeAspect="1" noTextEdit="1"/>
          </p:cNvSpPr>
          <p:nvPr>
            <p:ph type="sldImg"/>
          </p:nvPr>
        </p:nvSpPr>
        <p:spPr/>
      </p:sp>
      <p:sp>
        <p:nvSpPr>
          <p:cNvPr id="22531"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24578" name="Rectangle 2"/>
          <p:cNvSpPr>
            <a:spLocks noGrp="1" noRot="1" noChangeAspect="1" noTextEdit="1"/>
          </p:cNvSpPr>
          <p:nvPr>
            <p:ph type="sldImg"/>
          </p:nvPr>
        </p:nvSpPr>
        <p:spPr/>
      </p:sp>
      <p:sp>
        <p:nvSpPr>
          <p:cNvPr id="24579"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26626" name="Rectangle 2"/>
          <p:cNvSpPr>
            <a:spLocks noGrp="1" noRot="1" noChangeAspect="1" noTextEdit="1"/>
          </p:cNvSpPr>
          <p:nvPr>
            <p:ph type="sldImg"/>
          </p:nvPr>
        </p:nvSpPr>
        <p:spPr/>
      </p:sp>
      <p:sp>
        <p:nvSpPr>
          <p:cNvPr id="26627"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28674" name="Rectangle 2"/>
          <p:cNvSpPr>
            <a:spLocks noGrp="1" noRot="1" noChangeAspect="1" noTextEdit="1"/>
          </p:cNvSpPr>
          <p:nvPr>
            <p:ph type="sldImg"/>
          </p:nvPr>
        </p:nvSpPr>
        <p:spPr/>
      </p:sp>
      <p:sp>
        <p:nvSpPr>
          <p:cNvPr id="28675"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30722" name="Rectangle 2"/>
          <p:cNvSpPr>
            <a:spLocks noGrp="1" noRot="1" noChangeAspect="1" noTextEdit="1"/>
          </p:cNvSpPr>
          <p:nvPr>
            <p:ph type="sldImg"/>
          </p:nvPr>
        </p:nvSpPr>
        <p:spPr/>
      </p:sp>
      <p:sp>
        <p:nvSpPr>
          <p:cNvPr id="30723"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32770" name="Rectangle 2"/>
          <p:cNvSpPr>
            <a:spLocks noGrp="1" noRot="1" noChangeAspect="1" noTextEdit="1"/>
          </p:cNvSpPr>
          <p:nvPr>
            <p:ph type="sldImg"/>
          </p:nvPr>
        </p:nvSpPr>
        <p:spPr/>
      </p:sp>
      <p:sp>
        <p:nvSpPr>
          <p:cNvPr id="32771"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34818" name="Rectangle 2"/>
          <p:cNvSpPr>
            <a:spLocks noGrp="1" noRot="1" noChangeAspect="1" noTextEdit="1"/>
          </p:cNvSpPr>
          <p:nvPr>
            <p:ph type="sldImg"/>
          </p:nvPr>
        </p:nvSpPr>
        <p:spPr/>
      </p:sp>
      <p:sp>
        <p:nvSpPr>
          <p:cNvPr id="34819"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36866" name="Rectangle 2"/>
          <p:cNvSpPr>
            <a:spLocks noGrp="1" noRot="1" noChangeAspect="1" noTextEdit="1"/>
          </p:cNvSpPr>
          <p:nvPr>
            <p:ph type="sldImg"/>
          </p:nvPr>
        </p:nvSpPr>
        <p:spPr/>
      </p:sp>
      <p:sp>
        <p:nvSpPr>
          <p:cNvPr id="36867" name="Rectangle 3"/>
          <p:cNvSpPr>
            <a:spLocks noGrp="1"/>
          </p:cNvSpPr>
          <p:nvPr>
            <p:ph type="body"/>
          </p:nvPr>
        </p:nvSpPr>
        <p:spPr/>
        <p:txBody>
          <a:bodyPr wrap="none" lIns="93171" tIns="46586" rIns="93171" bIns="46586" anchor="t" anchorCtr="0"/>
          <a:lstStyle/>
          <a:p>
            <a:pPr lvl="0"/>
            <a:r>
              <a:rPr lang="en-US" altLang="zh-CN" dirty="0"/>
              <a:t>SQL is NOT a Turing machine equivalent language</a:t>
            </a:r>
            <a:endParaRPr lang="en-US" altLang="zh-CN" dirty="0"/>
          </a:p>
          <a:p>
            <a:pPr lvl="0"/>
            <a:r>
              <a:rPr lang="en-US" altLang="zh-CN" dirty="0"/>
              <a:t>SQL</a:t>
            </a:r>
            <a:r>
              <a:rPr lang="zh-CN" altLang="en-US" dirty="0"/>
              <a:t>不像一个通用的图灵机那么强大，即有一些计算可以用通用的程序设计语言来表达，但无法通过</a:t>
            </a:r>
            <a:r>
              <a:rPr lang="en-US" altLang="zh-CN" dirty="0"/>
              <a:t>SQL</a:t>
            </a:r>
            <a:r>
              <a:rPr lang="zh-CN" altLang="en-US" dirty="0"/>
              <a:t>来表达</a:t>
            </a: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38914" name="Rectangle 2"/>
          <p:cNvSpPr>
            <a:spLocks noGrp="1" noRot="1" noChangeAspect="1" noTextEdit="1"/>
          </p:cNvSpPr>
          <p:nvPr>
            <p:ph type="sldImg"/>
          </p:nvPr>
        </p:nvSpPr>
        <p:spPr/>
      </p:sp>
      <p:sp>
        <p:nvSpPr>
          <p:cNvPr id="38915"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40962" name="Rectangle 2"/>
          <p:cNvSpPr>
            <a:spLocks noGrp="1" noRot="1" noChangeAspect="1" noTextEdit="1"/>
          </p:cNvSpPr>
          <p:nvPr>
            <p:ph type="sldImg"/>
          </p:nvPr>
        </p:nvSpPr>
        <p:spPr/>
      </p:sp>
      <p:sp>
        <p:nvSpPr>
          <p:cNvPr id="40963"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43010" name="Rectangle 2"/>
          <p:cNvSpPr>
            <a:spLocks noGrp="1" noRot="1" noChangeAspect="1" noTextEdit="1"/>
          </p:cNvSpPr>
          <p:nvPr>
            <p:ph type="sldImg"/>
          </p:nvPr>
        </p:nvSpPr>
        <p:spPr/>
      </p:sp>
      <p:sp>
        <p:nvSpPr>
          <p:cNvPr id="43011"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45058" name="Rectangle 2"/>
          <p:cNvSpPr>
            <a:spLocks noGrp="1" noRot="1" noChangeAspect="1" noTextEdit="1"/>
          </p:cNvSpPr>
          <p:nvPr>
            <p:ph type="sldImg"/>
          </p:nvPr>
        </p:nvSpPr>
        <p:spPr/>
      </p:sp>
      <p:sp>
        <p:nvSpPr>
          <p:cNvPr id="45059"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47106" name="Rectangle 2"/>
          <p:cNvSpPr>
            <a:spLocks noGrp="1" noRot="1" noChangeAspect="1" noTextEdit="1"/>
          </p:cNvSpPr>
          <p:nvPr>
            <p:ph type="sldImg"/>
          </p:nvPr>
        </p:nvSpPr>
        <p:spPr/>
      </p:sp>
      <p:sp>
        <p:nvSpPr>
          <p:cNvPr id="47107"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49154" name="Rectangle 2"/>
          <p:cNvSpPr>
            <a:spLocks noGrp="1" noRot="1" noChangeAspect="1" noTextEdit="1"/>
          </p:cNvSpPr>
          <p:nvPr>
            <p:ph type="sldImg"/>
          </p:nvPr>
        </p:nvSpPr>
        <p:spPr/>
      </p:sp>
      <p:sp>
        <p:nvSpPr>
          <p:cNvPr id="49155"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51202" name="Rectangle 2"/>
          <p:cNvSpPr>
            <a:spLocks noGrp="1" noRot="1" noChangeAspect="1" noTextEdit="1"/>
          </p:cNvSpPr>
          <p:nvPr>
            <p:ph type="sldImg"/>
          </p:nvPr>
        </p:nvSpPr>
        <p:spPr/>
      </p:sp>
      <p:sp>
        <p:nvSpPr>
          <p:cNvPr id="51203"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txBox="1">
            <a:spLocks noGrp="1"/>
          </p:cNvSpPr>
          <p:nvPr>
            <p:ph type="sldNum" sz="quarter"/>
          </p:nvPr>
        </p:nvSpPr>
        <p:spPr>
          <a:xfrm>
            <a:off x="3965575" y="8820150"/>
            <a:ext cx="3032125" cy="463550"/>
          </a:xfrm>
          <a:prstGeom prst="rect">
            <a:avLst/>
          </a:prstGeom>
          <a:noFill/>
          <a:ln w="9525">
            <a:noFill/>
          </a:ln>
        </p:spPr>
        <p:txBody>
          <a:bodyPr vert="horz" wrap="none" lIns="93027" tIns="46514" rIns="93027" bIns="46514" anchor="b" anchorCtr="0"/>
          <a:lstStyle/>
          <a:p>
            <a:pPr lvl="0" algn="r" defTabSz="930275"/>
            <a:fld id="{9A0DB2DC-4C9A-4742-B13C-FB6460FD3503}" type="slidenum">
              <a:rPr lang="en-US" altLang="zh-CN" sz="1300" dirty="0"/>
            </a:fld>
            <a:endParaRPr lang="en-US" altLang="zh-CN" sz="1300" dirty="0"/>
          </a:p>
        </p:txBody>
      </p:sp>
      <p:sp>
        <p:nvSpPr>
          <p:cNvPr id="53250" name="Rectangle 2"/>
          <p:cNvSpPr>
            <a:spLocks noGrp="1" noRot="1" noChangeAspect="1" noTextEdit="1"/>
          </p:cNvSpPr>
          <p:nvPr>
            <p:ph type="sldImg"/>
          </p:nvPr>
        </p:nvSpPr>
        <p:spPr/>
      </p:sp>
      <p:sp>
        <p:nvSpPr>
          <p:cNvPr id="53251" name="Rectangle 3"/>
          <p:cNvSpPr>
            <a:spLocks noGrp="1"/>
          </p:cNvSpPr>
          <p:nvPr>
            <p:ph type="body"/>
          </p:nvPr>
        </p:nvSpPr>
        <p:spPr/>
        <p:txBody>
          <a:bodyPr wrap="none" lIns="93027" tIns="46514" rIns="93027" bIns="46514" anchor="t" anchorCtr="0"/>
          <a:lstStyle/>
          <a:p>
            <a:pPr lvl="0"/>
            <a:r>
              <a:rPr lang="en-US" altLang="zh-CN" dirty="0"/>
              <a:t>cache</a:t>
            </a:r>
            <a:r>
              <a:rPr lang="zh-CN" altLang="en-US" dirty="0">
                <a:ea typeface="宋体" panose="02010600030101010101" pitchFamily="2" charset="-122"/>
              </a:rPr>
              <a:t>：高速缓冲存储器：与数据库无关</a:t>
            </a:r>
            <a:endParaRPr lang="zh-CN" altLang="en-US" dirty="0">
              <a:ea typeface="宋体" panose="02010600030101010101" pitchFamily="2" charset="-122"/>
            </a:endParaRPr>
          </a:p>
          <a:p>
            <a:pPr lvl="0"/>
            <a:r>
              <a:rPr lang="en-US" altLang="zh-CN" dirty="0"/>
              <a:t>flash memory</a:t>
            </a:r>
            <a:r>
              <a:rPr lang="zh-CN" altLang="en-US" dirty="0">
                <a:ea typeface="宋体" panose="02010600030101010101" pitchFamily="2" charset="-122"/>
              </a:rPr>
              <a:t>：快闪存储器：</a:t>
            </a:r>
            <a:r>
              <a:rPr lang="en-US" altLang="zh-CN" dirty="0"/>
              <a:t>USB</a:t>
            </a:r>
            <a:r>
              <a:rPr lang="zh-CN" altLang="en-US" dirty="0">
                <a:ea typeface="宋体" panose="02010600030101010101" pitchFamily="2" charset="-122"/>
              </a:rPr>
              <a:t>口存取，与数据库无关</a:t>
            </a:r>
            <a:endParaRPr lang="zh-CN" altLang="en-US" dirty="0">
              <a:ea typeface="宋体" panose="02010600030101010101" pitchFamily="2" charset="-122"/>
            </a:endParaRPr>
          </a:p>
          <a:p>
            <a:pPr lvl="0"/>
            <a:r>
              <a:rPr lang="en-US" altLang="zh-CN" dirty="0"/>
              <a:t>Optical disk</a:t>
            </a:r>
            <a:r>
              <a:rPr lang="zh-CN" altLang="en-US" dirty="0">
                <a:ea typeface="宋体" panose="02010600030101010101" pitchFamily="2" charset="-122"/>
              </a:rPr>
              <a:t>：光盘</a:t>
            </a:r>
            <a:endParaRPr lang="zh-CN" altLang="en-US" dirty="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txBox="1">
            <a:spLocks noGrp="1"/>
          </p:cNvSpPr>
          <p:nvPr>
            <p:ph type="sldNum" sz="quarter"/>
          </p:nvPr>
        </p:nvSpPr>
        <p:spPr>
          <a:xfrm>
            <a:off x="3965575" y="8820150"/>
            <a:ext cx="3032125" cy="463550"/>
          </a:xfrm>
          <a:prstGeom prst="rect">
            <a:avLst/>
          </a:prstGeom>
          <a:noFill/>
          <a:ln w="9525">
            <a:noFill/>
          </a:ln>
        </p:spPr>
        <p:txBody>
          <a:bodyPr vert="horz" wrap="none" lIns="93027" tIns="46514" rIns="93027" bIns="46514" anchor="b" anchorCtr="0"/>
          <a:lstStyle/>
          <a:p>
            <a:pPr lvl="0" algn="r" defTabSz="930275"/>
            <a:fld id="{9A0DB2DC-4C9A-4742-B13C-FB6460FD3503}" type="slidenum">
              <a:rPr lang="en-US" altLang="zh-CN" sz="1300" dirty="0"/>
            </a:fld>
            <a:endParaRPr lang="en-US" altLang="zh-CN" sz="1300" dirty="0"/>
          </a:p>
        </p:txBody>
      </p:sp>
      <p:sp>
        <p:nvSpPr>
          <p:cNvPr id="55298" name="Rectangle 2"/>
          <p:cNvSpPr>
            <a:spLocks noGrp="1" noRot="1" noChangeAspect="1" noTextEdit="1"/>
          </p:cNvSpPr>
          <p:nvPr>
            <p:ph type="sldImg"/>
          </p:nvPr>
        </p:nvSpPr>
        <p:spPr/>
      </p:sp>
      <p:sp>
        <p:nvSpPr>
          <p:cNvPr id="55299" name="Rectangle 3"/>
          <p:cNvSpPr>
            <a:spLocks noGrp="1"/>
          </p:cNvSpPr>
          <p:nvPr>
            <p:ph type="body"/>
          </p:nvPr>
        </p:nvSpPr>
        <p:spPr/>
        <p:txBody>
          <a:bodyPr wrap="none" lIns="93027" tIns="46514" rIns="93027" bIns="46514" anchor="t" anchorCtr="0"/>
          <a:lstStyle/>
          <a:p>
            <a:pPr lvl="0"/>
            <a:r>
              <a:rPr lang="zh-CN" altLang="zh-CN" dirty="0">
                <a:ea typeface="宋体" panose="02010600030101010101" pitchFamily="2" charset="-122"/>
              </a:rPr>
              <a:t>磁盘驱动器两个主要的移动部件：磁盘组合与磁头组合</a:t>
            </a:r>
            <a:endParaRPr lang="zh-CN" altLang="zh-CN" dirty="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文本占位符 10241"/>
          <p:cNvSpPr>
            <a:spLocks noGrp="1"/>
          </p:cNvSpPr>
          <p:nvPr>
            <p:ph type="body"/>
          </p:nvPr>
        </p:nvSpPr>
        <p:spPr/>
        <p:txBody>
          <a:bodyPr wrap="square" lIns="92075" tIns="46038" rIns="92075" bIns="46038" anchor="t" anchorCtr="0"/>
          <a:lstStyle/>
          <a:p>
            <a:pPr lvl="0"/>
            <a:r>
              <a:rPr lang="en-US" altLang="zh-CN">
                <a:ea typeface="宋体" panose="02010600030101010101" pitchFamily="2" charset="-122"/>
              </a:rPr>
              <a:t>Overview of Primary Components</a:t>
            </a:r>
            <a:endParaRPr lang="en-US" altLang="zh-CN">
              <a:ea typeface="宋体" panose="02010600030101010101" pitchFamily="2" charset="-122"/>
            </a:endParaRPr>
          </a:p>
          <a:p>
            <a:pPr lvl="1" indent="0"/>
            <a:r>
              <a:rPr lang="en-US" altLang="zh-CN">
                <a:ea typeface="宋体" panose="02010600030101010101" pitchFamily="2" charset="-122"/>
              </a:rPr>
              <a:t>The Oracle architecture includes a number of primary components, which are discussed further in this lesson.</a:t>
            </a:r>
            <a:endParaRPr lang="en-US" altLang="zh-CN">
              <a:ea typeface="宋体" panose="02010600030101010101" pitchFamily="2" charset="-122"/>
            </a:endParaRPr>
          </a:p>
          <a:p>
            <a:pPr lvl="2" indent="0"/>
            <a:r>
              <a:rPr lang="en-US" altLang="zh-CN">
                <a:ea typeface="宋体" panose="02010600030101010101" pitchFamily="2" charset="-122"/>
              </a:rPr>
              <a:t>Oracle server: There are several files, processes, and memory structures in an Oracle server; however, not all of them are used when processing a SQL statement. Some are used to improve the performance of the database, ensure that the database can be recovered in the event of a software or hardware error, or perform other tasks necessary to maintain the database. The Oracle server consists of an Oracle instance and an Oracle database.</a:t>
            </a:r>
            <a:endParaRPr lang="en-US" altLang="zh-CN">
              <a:ea typeface="宋体" panose="02010600030101010101" pitchFamily="2" charset="-122"/>
            </a:endParaRPr>
          </a:p>
          <a:p>
            <a:pPr lvl="2" indent="0"/>
            <a:r>
              <a:rPr lang="en-US" altLang="zh-CN">
                <a:ea typeface="宋体" panose="02010600030101010101" pitchFamily="2" charset="-122"/>
              </a:rPr>
              <a:t>Oracle instance: An Oracle instance is the combination of the background processes and memory structures. The instance must be started to access the data in the database. Every time an instance is started, a System Global Area (SGA) is allocated and Oracle background processes are started. Background processes perform functions on behalf of the invoking process. They consolidate functions that would otherwise be handled by multiple Oracle programs running for each user. The background processes perform input/output (I/O) and monitor other Oracle processes to provide increased parallelism for better performance and reliability. </a:t>
            </a:r>
            <a:endParaRPr lang="en-US" altLang="zh-CN">
              <a:ea typeface="宋体" panose="02010600030101010101" pitchFamily="2" charset="-122"/>
            </a:endParaRPr>
          </a:p>
          <a:p>
            <a:pPr lvl="2" indent="0"/>
            <a:r>
              <a:rPr lang="en-US" altLang="zh-CN">
                <a:ea typeface="宋体" panose="02010600030101010101" pitchFamily="2" charset="-122"/>
              </a:rPr>
              <a:t>Oracle database: An Oracle database consists of operating system files, also known as database files, that provide the actual physical storage for database information. The database files are used to ensure that the data is kept consistent and can be recovered in the event of a failure of the instance.</a:t>
            </a:r>
            <a:endParaRPr lang="en-US" altLang="zh-CN" b="1">
              <a:ea typeface="宋体" panose="02010600030101010101" pitchFamily="2" charset="-122"/>
            </a:endParaRPr>
          </a:p>
          <a:p>
            <a:pPr lvl="2" indent="0"/>
            <a:r>
              <a:rPr lang="en-US" altLang="zh-CN">
                <a:ea typeface="宋体" panose="02010600030101010101" pitchFamily="2" charset="-122"/>
              </a:rPr>
              <a:t>Other key files: </a:t>
            </a:r>
            <a:r>
              <a:rPr lang="en-US" altLang="zh-CN" err="1">
                <a:ea typeface="宋体" panose="02010600030101010101" pitchFamily="2" charset="-122"/>
              </a:rPr>
              <a:t>Nondatabase</a:t>
            </a:r>
            <a:r>
              <a:rPr lang="en-US" altLang="zh-CN">
                <a:ea typeface="宋体" panose="02010600030101010101" pitchFamily="2" charset="-122"/>
              </a:rPr>
              <a:t> files are used to configure the instance, authenticate privileged users, and recover the database in the event of a disk failure.</a:t>
            </a:r>
            <a:endParaRPr lang="en-US" altLang="zh-CN">
              <a:ea typeface="宋体" panose="02010600030101010101" pitchFamily="2" charset="-122"/>
            </a:endParaRPr>
          </a:p>
          <a:p>
            <a:pPr lvl="2" indent="0"/>
            <a:r>
              <a:rPr lang="en-US" altLang="zh-CN">
                <a:ea typeface="宋体" panose="02010600030101010101" pitchFamily="2" charset="-122"/>
              </a:rPr>
              <a:t>User and server processes: The user and server processes are the primary processes involved when a SQL statement is executed; however, other processes may help the server complete the processing of the SQL statement.</a:t>
            </a:r>
            <a:endParaRPr lang="en-US" altLang="zh-CN">
              <a:ea typeface="宋体" panose="02010600030101010101" pitchFamily="2" charset="-122"/>
            </a:endParaRPr>
          </a:p>
          <a:p>
            <a:pPr lvl="2" indent="0"/>
            <a:r>
              <a:rPr lang="en-US" altLang="zh-CN">
                <a:ea typeface="宋体" panose="02010600030101010101" pitchFamily="2" charset="-122"/>
              </a:rPr>
              <a:t>Other processes: Many other processes exist that are used by other options within Oracle, such as Advanced Queuing, Real Application Clusters, Shared Server, Advanced Replication, and so on. These processes are discussed within their respective courses.</a:t>
            </a:r>
            <a:endParaRPr lang="en-US" altLang="zh-CN">
              <a:ea typeface="宋体" panose="02010600030101010101" pitchFamily="2" charset="-122"/>
            </a:endParaRPr>
          </a:p>
        </p:txBody>
      </p:sp>
      <p:sp>
        <p:nvSpPr>
          <p:cNvPr id="57346" name="幻灯片图像占位符 10242"/>
          <p:cNvSpPr>
            <a:spLocks noGrp="1" noRot="1" noChangeAspect="1" noTextEdit="1"/>
          </p:cNvSpPr>
          <p:nvPr>
            <p:ph type="sldImg"/>
          </p:nvPr>
        </p:nvSpPr>
        <p:spPr>
          <a:xfrm>
            <a:off x="461963" y="177800"/>
            <a:ext cx="6072187" cy="4552950"/>
          </a:xfrm>
          <a:ln>
            <a:solidFill>
              <a:schemeClr val="tx1"/>
            </a:solid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fld>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59394" name="Rectangle 2"/>
          <p:cNvSpPr>
            <a:spLocks noGrp="1" noRot="1" noChangeAspect="1" noTextEdit="1"/>
          </p:cNvSpPr>
          <p:nvPr>
            <p:ph type="sldImg"/>
          </p:nvPr>
        </p:nvSpPr>
        <p:spPr/>
      </p:sp>
      <p:sp>
        <p:nvSpPr>
          <p:cNvPr id="59395"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61442" name="Rectangle 2"/>
          <p:cNvSpPr>
            <a:spLocks noGrp="1" noRot="1" noChangeAspect="1" noTextEdit="1"/>
          </p:cNvSpPr>
          <p:nvPr>
            <p:ph type="sldImg"/>
          </p:nvPr>
        </p:nvSpPr>
        <p:spPr/>
      </p:sp>
      <p:sp>
        <p:nvSpPr>
          <p:cNvPr id="61443"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63490" name="Rectangle 2"/>
          <p:cNvSpPr>
            <a:spLocks noGrp="1" noRot="1" noChangeAspect="1" noTextEdit="1"/>
          </p:cNvSpPr>
          <p:nvPr>
            <p:ph type="sldImg"/>
          </p:nvPr>
        </p:nvSpPr>
        <p:spPr/>
      </p:sp>
      <p:sp>
        <p:nvSpPr>
          <p:cNvPr id="63491"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65538" name="Rectangle 2"/>
          <p:cNvSpPr>
            <a:spLocks noGrp="1" noRot="1" noChangeAspect="1" noTextEdit="1"/>
          </p:cNvSpPr>
          <p:nvPr>
            <p:ph type="sldImg"/>
          </p:nvPr>
        </p:nvSpPr>
        <p:spPr/>
      </p:sp>
      <p:sp>
        <p:nvSpPr>
          <p:cNvPr id="65539"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67586" name="Rectangle 2"/>
          <p:cNvSpPr>
            <a:spLocks noGrp="1" noRot="1" noChangeAspect="1" noTextEdit="1"/>
          </p:cNvSpPr>
          <p:nvPr>
            <p:ph type="sldImg"/>
          </p:nvPr>
        </p:nvSpPr>
        <p:spPr/>
      </p:sp>
      <p:sp>
        <p:nvSpPr>
          <p:cNvPr id="67587"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69634" name="Rectangle 2"/>
          <p:cNvSpPr>
            <a:spLocks noGrp="1" noRot="1" noChangeAspect="1" noTextEdit="1"/>
          </p:cNvSpPr>
          <p:nvPr>
            <p:ph type="sldImg"/>
          </p:nvPr>
        </p:nvSpPr>
        <p:spPr/>
      </p:sp>
      <p:sp>
        <p:nvSpPr>
          <p:cNvPr id="69635"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71682" name="Rectangle 2"/>
          <p:cNvSpPr>
            <a:spLocks noGrp="1" noRot="1" noChangeAspect="1" noTextEdit="1"/>
          </p:cNvSpPr>
          <p:nvPr>
            <p:ph type="sldImg"/>
          </p:nvPr>
        </p:nvSpPr>
        <p:spPr/>
      </p:sp>
      <p:sp>
        <p:nvSpPr>
          <p:cNvPr id="71683"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73730" name="Rectangle 2"/>
          <p:cNvSpPr>
            <a:spLocks noGrp="1" noRot="1" noChangeAspect="1" noTextEdit="1"/>
          </p:cNvSpPr>
          <p:nvPr>
            <p:ph type="sldImg"/>
          </p:nvPr>
        </p:nvSpPr>
        <p:spPr/>
      </p:sp>
      <p:sp>
        <p:nvSpPr>
          <p:cNvPr id="73731"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a:fld id="{9A0DB2DC-4C9A-4742-B13C-FB6460FD3503}" type="slidenum">
              <a:rPr lang="en-US" altLang="zh-CN" dirty="0"/>
            </a:fld>
            <a:endParaRPr lang="en-US" altLang="zh-CN" dirty="0"/>
          </a:p>
        </p:txBody>
      </p:sp>
      <p:sp>
        <p:nvSpPr>
          <p:cNvPr id="78850" name="Rectangle 2"/>
          <p:cNvSpPr>
            <a:spLocks noGrp="1" noRot="1" noChangeAspect="1" noTextEdit="1"/>
          </p:cNvSpPr>
          <p:nvPr>
            <p:ph type="sldImg"/>
          </p:nvPr>
        </p:nvSpPr>
        <p:spPr/>
      </p:sp>
      <p:sp>
        <p:nvSpPr>
          <p:cNvPr id="78851" name="Rectangle 3"/>
          <p:cNvSpPr>
            <a:spLocks noGrp="1"/>
          </p:cNvSpPr>
          <p:nvPr>
            <p:ph type="body"/>
          </p:nvPr>
        </p:nvSpPr>
        <p:spPr/>
        <p:txBody>
          <a:bodyPr wrap="none" lIns="93171" tIns="46586" rIns="93171" bIns="46586" anchor="t" anchorCtr="0"/>
          <a:lstStyle/>
          <a:p>
            <a:pPr lvl="0"/>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image" Target="../media/image1.jpeg"/><Relationship Id="rId3" Type="http://schemas.openxmlformats.org/officeDocument/2006/relationships/hyperlink" Target="http://www.db-book.com/" TargetMode="External"/><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accent1"/>
        </a:solidFill>
        <a:effectLst/>
      </p:bgPr>
    </p:bg>
    <p:spTree>
      <p:nvGrpSpPr>
        <p:cNvPr id="1" name=""/>
        <p:cNvGrpSpPr/>
        <p:nvPr/>
      </p:nvGrpSpPr>
      <p:grpSpPr>
        <a:xfrm>
          <a:off x="0" y="0"/>
          <a:ext cx="0" cy="0"/>
          <a:chOff x="0" y="0"/>
          <a:chExt cx="0" cy="0"/>
        </a:xfrm>
      </p:grpSpPr>
      <p:graphicFrame>
        <p:nvGraphicFramePr>
          <p:cNvPr id="2050" name="Rectangle 2"/>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spid="_x0000_s3082" name="" r:id="rId2" imgW="0" imgH="0" progId="MS_ClipArt_Gallery.2">
                  <p:embed/>
                </p:oleObj>
              </mc:Choice>
              <mc:Fallback>
                <p:oleObj name="" r:id="rId2" imgW="0" imgH="0" progId="MS_ClipArt_Gallery.2">
                  <p:embed/>
                  <p:pic>
                    <p:nvPicPr>
                      <p:cNvPr id="0" name="图片 3075"/>
                      <p:cNvPicPr/>
                      <p:nvPr/>
                    </p:nvPicPr>
                    <p:blipFill>
                      <a:blip/>
                      <a:stretch>
                        <a:fillRect/>
                      </a:stretch>
                    </p:blipFill>
                    <p:spPr>
                      <a:xfrm>
                        <a:off x="1524000" y="1397000"/>
                        <a:ext cx="6096000" cy="4064000"/>
                      </a:xfrm>
                      <a:prstGeom prst="rect">
                        <a:avLst/>
                      </a:prstGeom>
                      <a:noFill/>
                      <a:ln w="38100">
                        <a:noFill/>
                        <a:miter/>
                      </a:ln>
                    </p:spPr>
                  </p:pic>
                </p:oleObj>
              </mc:Fallback>
            </mc:AlternateContent>
          </a:graphicData>
        </a:graphic>
      </p:graphicFrame>
      <p:sp>
        <p:nvSpPr>
          <p:cNvPr id="3" name="Text Box 7"/>
          <p:cNvSpPr txBox="1">
            <a:spLocks noChangeArrowheads="1"/>
          </p:cNvSpPr>
          <p:nvPr/>
        </p:nvSpPr>
        <p:spPr bwMode="auto">
          <a:xfrm>
            <a:off x="2674938" y="5726113"/>
            <a:ext cx="3694113" cy="793750"/>
          </a:xfrm>
          <a:prstGeom prst="rect">
            <a:avLst/>
          </a:prstGeom>
          <a:noFill/>
          <a:ln>
            <a:noFill/>
          </a:ln>
        </p:spPr>
        <p:txBody>
          <a:bodyPr wrap="none">
            <a:spAutoFit/>
          </a:bodyPr>
          <a:lstStyle>
            <a:lvl1pPr>
              <a:defRPr sz="1600">
                <a:solidFill>
                  <a:schemeClr val="tx1"/>
                </a:solidFill>
                <a:latin typeface="Helvetica" charset="0"/>
                <a:ea typeface="MS PGothic" panose="020B0600070205080204" pitchFamily="34" charset="-128"/>
              </a:defRPr>
            </a:lvl1pPr>
            <a:lvl2pPr marL="742950" indent="-285750">
              <a:defRPr sz="1600">
                <a:solidFill>
                  <a:schemeClr val="tx1"/>
                </a:solidFill>
                <a:latin typeface="Helvetica" charset="0"/>
                <a:ea typeface="MS PGothic" panose="020B0600070205080204" pitchFamily="34" charset="-128"/>
              </a:defRPr>
            </a:lvl2pPr>
            <a:lvl3pPr marL="1143000" indent="-228600">
              <a:defRPr sz="1600">
                <a:solidFill>
                  <a:schemeClr val="tx1"/>
                </a:solidFill>
                <a:latin typeface="Helvetica" charset="0"/>
                <a:ea typeface="MS PGothic" panose="020B0600070205080204" pitchFamily="34" charset="-128"/>
              </a:defRPr>
            </a:lvl3pPr>
            <a:lvl4pPr marL="1600200" indent="-228600">
              <a:defRPr sz="1600">
                <a:solidFill>
                  <a:schemeClr val="tx1"/>
                </a:solidFill>
                <a:latin typeface="Helvetica" charset="0"/>
                <a:ea typeface="MS PGothic" panose="020B0600070205080204" pitchFamily="34" charset="-128"/>
              </a:defRPr>
            </a:lvl4pPr>
            <a:lvl5pPr marL="2057400" indent="-228600">
              <a:defRPr sz="1600">
                <a:solidFill>
                  <a:schemeClr val="tx1"/>
                </a:solidFill>
                <a:latin typeface="Helvetica"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charset="0"/>
                <a:ea typeface="MS PGothic"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1600" b="1" i="0" u="none" strike="noStrike" kern="1200" cap="none" spc="0" normalizeH="0" baseline="0" noProof="0">
                <a:ln>
                  <a:noFill/>
                </a:ln>
                <a:solidFill>
                  <a:srgbClr val="CC3300"/>
                </a:solidFill>
                <a:effectLst/>
                <a:uLnTx/>
                <a:uFillTx/>
                <a:latin typeface="Helvetica" charset="0"/>
                <a:ea typeface="MS PGothic" panose="020B0600070205080204" pitchFamily="34" charset="-128"/>
                <a:cs typeface="+mn-cs"/>
              </a:rPr>
              <a:t>Database System Concepts, 6</a:t>
            </a:r>
            <a:r>
              <a:rPr kumimoji="0" lang="en-US" altLang="zh-CN" sz="1600" b="1" i="0" u="none" strike="noStrike" kern="1200" cap="none" spc="0" normalizeH="0" baseline="30000" noProof="0">
                <a:ln>
                  <a:noFill/>
                </a:ln>
                <a:solidFill>
                  <a:srgbClr val="CC3300"/>
                </a:solidFill>
                <a:effectLst/>
                <a:uLnTx/>
                <a:uFillTx/>
                <a:latin typeface="Helvetica" charset="0"/>
                <a:ea typeface="MS PGothic" panose="020B0600070205080204" pitchFamily="34" charset="-128"/>
                <a:cs typeface="+mn-cs"/>
              </a:rPr>
              <a:t>th</a:t>
            </a:r>
            <a:r>
              <a:rPr kumimoji="0" lang="en-US" altLang="zh-CN" sz="1600" b="1" i="0" u="none" strike="noStrike" kern="1200" cap="none" spc="0" normalizeH="0" baseline="0" noProof="0">
                <a:ln>
                  <a:noFill/>
                </a:ln>
                <a:solidFill>
                  <a:srgbClr val="CC3300"/>
                </a:solidFill>
                <a:effectLst/>
                <a:uLnTx/>
                <a:uFillTx/>
                <a:latin typeface="Helvetica" charset="0"/>
                <a:ea typeface="MS PGothic" panose="020B0600070205080204" pitchFamily="34" charset="-128"/>
                <a:cs typeface="+mn-cs"/>
              </a:rPr>
              <a:t> Ed</a:t>
            </a:r>
            <a:r>
              <a:rPr kumimoji="0" lang="en-US" altLang="zh-CN" sz="1600" b="0" i="0" u="none" strike="noStrike" kern="1200" cap="none" spc="0" normalizeH="0" baseline="0" noProof="0">
                <a:ln>
                  <a:noFill/>
                </a:ln>
                <a:solidFill>
                  <a:srgbClr val="CC3300"/>
                </a:solidFill>
                <a:effectLst/>
                <a:uLnTx/>
                <a:uFillTx/>
                <a:latin typeface="Helvetica" charset="0"/>
                <a:ea typeface="MS PGothic" panose="020B0600070205080204" pitchFamily="34" charset="-128"/>
                <a:cs typeface="+mn-cs"/>
              </a:rPr>
              <a:t>.</a:t>
            </a:r>
            <a:endParaRPr kumimoji="0" lang="en-US" altLang="zh-CN" sz="1600" b="0" i="0" u="none" strike="noStrike" kern="1200" cap="none" spc="0" normalizeH="0" baseline="0" noProof="0">
              <a:ln>
                <a:noFill/>
              </a:ln>
              <a:solidFill>
                <a:srgbClr val="CC3300"/>
              </a:solidFill>
              <a:effectLst/>
              <a:uLnTx/>
              <a:uFillTx/>
              <a:latin typeface="Helvetica" charset="0"/>
              <a:ea typeface="MS PGothic" panose="020B0600070205080204" pitchFamily="34" charset="-128"/>
              <a:cs typeface="+mn-cs"/>
            </a:endParaRP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1200" b="1" i="0" u="none" strike="noStrike" kern="1200" cap="none" spc="0" normalizeH="0" baseline="0" noProof="0">
                <a:ln>
                  <a:noFill/>
                </a:ln>
                <a:solidFill>
                  <a:srgbClr val="CC3300"/>
                </a:solidFill>
                <a:effectLst/>
                <a:uLnTx/>
                <a:uFillTx/>
                <a:latin typeface="Helvetica" charset="0"/>
                <a:ea typeface="MS PGothic" panose="020B0600070205080204" pitchFamily="34" charset="-128"/>
                <a:cs typeface="+mn-cs"/>
              </a:rPr>
              <a:t>©Silberschatz, Korth and Sudarshan</a:t>
            </a:r>
            <a:br>
              <a:rPr kumimoji="0" lang="en-US" altLang="zh-CN" sz="1200" b="1" i="0" u="none" strike="noStrike" kern="1200" cap="none" spc="0" normalizeH="0" baseline="0" noProof="0">
                <a:ln>
                  <a:noFill/>
                </a:ln>
                <a:solidFill>
                  <a:srgbClr val="CC3300"/>
                </a:solidFill>
                <a:effectLst/>
                <a:uLnTx/>
                <a:uFillTx/>
                <a:latin typeface="Helvetica" charset="0"/>
                <a:ea typeface="MS PGothic" panose="020B0600070205080204" pitchFamily="34" charset="-128"/>
                <a:cs typeface="+mn-cs"/>
              </a:rPr>
            </a:br>
            <a:r>
              <a:rPr kumimoji="0" lang="en-US" altLang="zh-CN" sz="1200" b="1" i="0" u="none" strike="noStrike" kern="1200" cap="none" spc="0" normalizeH="0" baseline="0" noProof="0">
                <a:ln>
                  <a:noFill/>
                </a:ln>
                <a:solidFill>
                  <a:srgbClr val="CC3300"/>
                </a:solidFill>
                <a:effectLst/>
                <a:uLnTx/>
                <a:uFillTx/>
                <a:latin typeface="Helvetica" charset="0"/>
                <a:ea typeface="MS PGothic" panose="020B0600070205080204" pitchFamily="34" charset="-128"/>
                <a:cs typeface="+mn-cs"/>
              </a:rPr>
              <a:t>See </a:t>
            </a:r>
            <a:r>
              <a:rPr kumimoji="0" lang="en-US" altLang="zh-CN" sz="1200" b="1" i="0" u="none" strike="noStrike" kern="1200" cap="none" spc="0" normalizeH="0" baseline="0" noProof="0">
                <a:ln>
                  <a:noFill/>
                </a:ln>
                <a:solidFill>
                  <a:srgbClr val="CC3300"/>
                </a:solidFill>
                <a:effectLst/>
                <a:uLnTx/>
                <a:uFillTx/>
                <a:latin typeface="Helvetica" charset="0"/>
                <a:ea typeface="MS PGothic" panose="020B0600070205080204" pitchFamily="34" charset="-128"/>
                <a:cs typeface="+mn-cs"/>
                <a:hlinkClick r:id="rId3"/>
              </a:rPr>
              <a:t>www.db-book.com</a:t>
            </a:r>
            <a:r>
              <a:rPr kumimoji="0" lang="en-US" altLang="zh-CN" sz="1200" b="1" i="0" u="none" strike="noStrike" kern="1200" cap="none" spc="0" normalizeH="0" baseline="0" noProof="0">
                <a:ln>
                  <a:noFill/>
                </a:ln>
                <a:solidFill>
                  <a:srgbClr val="CC3300"/>
                </a:solidFill>
                <a:effectLst/>
                <a:uLnTx/>
                <a:uFillTx/>
                <a:latin typeface="Helvetica" charset="0"/>
                <a:ea typeface="MS PGothic" panose="020B0600070205080204" pitchFamily="34" charset="-128"/>
                <a:cs typeface="+mn-cs"/>
              </a:rPr>
              <a:t> for conditions on re-use </a:t>
            </a:r>
            <a:endParaRPr kumimoji="0" lang="en-US" altLang="zh-CN" sz="1200" b="1" i="0" u="none" strike="noStrike" kern="1200" cap="none" spc="0" normalizeH="0" baseline="0" noProof="0">
              <a:ln>
                <a:noFill/>
              </a:ln>
              <a:solidFill>
                <a:srgbClr val="CC3300"/>
              </a:solidFill>
              <a:effectLst/>
              <a:uLnTx/>
              <a:uFillTx/>
              <a:latin typeface="Helvetica" charset="0"/>
              <a:ea typeface="MS PGothic" panose="020B0600070205080204" pitchFamily="34" charset="-128"/>
              <a:cs typeface="+mn-cs"/>
            </a:endParaRPr>
          </a:p>
        </p:txBody>
      </p:sp>
      <p:pic>
        <p:nvPicPr>
          <p:cNvPr id="2052" name="Picture 8" descr="Cover-6Ed"/>
          <p:cNvPicPr>
            <a:picLocks noChangeAspect="1"/>
          </p:cNvPicPr>
          <p:nvPr/>
        </p:nvPicPr>
        <p:blipFill>
          <a:blip r:embed="rId4"/>
          <a:stretch>
            <a:fillRect/>
          </a:stretch>
        </p:blipFill>
        <p:spPr>
          <a:xfrm>
            <a:off x="0" y="0"/>
            <a:ext cx="1392238" cy="1700213"/>
          </a:xfrm>
          <a:prstGeom prst="rect">
            <a:avLst/>
          </a:prstGeom>
          <a:noFill/>
          <a:ln w="9525">
            <a:noFill/>
          </a:ln>
        </p:spPr>
      </p:pic>
      <p:sp>
        <p:nvSpPr>
          <p:cNvPr id="310274" name="Rectangle 2"/>
          <p:cNvSpPr>
            <a:spLocks noGrp="1" noChangeArrowheads="1"/>
          </p:cNvSpPr>
          <p:nvPr>
            <p:ph type="ctrTitle"/>
          </p:nvPr>
        </p:nvSpPr>
        <p:spPr>
          <a:xfrm>
            <a:off x="685800" y="2286000"/>
            <a:ext cx="7772400" cy="1143000"/>
          </a:xfrm>
        </p:spPr>
        <p:txBody>
          <a:bodyPr/>
          <a:lstStyle>
            <a:lvl1pPr>
              <a:defRPr>
                <a:solidFill>
                  <a:srgbClr val="CC3300"/>
                </a:solidFill>
              </a:defRPr>
            </a:lvl1pPr>
          </a:lstStyle>
          <a:p>
            <a:pPr fontAlgn="base"/>
            <a:r>
              <a:rPr lang="en-US" strike="noStrike" noProof="1"/>
              <a:t>Click to edit Master title style</a:t>
            </a:r>
            <a:endParaRPr lang="en-US" strike="noStrike" noProof="1"/>
          </a:p>
        </p:txBody>
      </p:sp>
      <p:sp>
        <p:nvSpPr>
          <p:cNvPr id="310275" name="Rectangle 3"/>
          <p:cNvSpPr>
            <a:spLocks noGrp="1" noChangeArrowheads="1"/>
          </p:cNvSpPr>
          <p:nvPr>
            <p:ph type="subTitle" idx="1"/>
          </p:nvPr>
        </p:nvSpPr>
        <p:spPr>
          <a:xfrm>
            <a:off x="1371600" y="3886200"/>
            <a:ext cx="6400800" cy="1752600"/>
          </a:xfrm>
        </p:spPr>
        <p:txBody>
          <a:bodyPr/>
          <a:lstStyle>
            <a:lvl1pPr marL="0" indent="0" algn="ctr">
              <a:buFont typeface="Monotype Sorts" charset="2"/>
              <a:buNone/>
              <a:defRPr/>
            </a:lvl1pPr>
          </a:lstStyle>
          <a:p>
            <a:pPr fontAlgn="base"/>
            <a:r>
              <a:rPr lang="en-US" strike="noStrike" noProof="1"/>
              <a:t>Click to edit Master subtitle style</a:t>
            </a:r>
            <a:endParaRPr lang="en-US" strike="noStrike" noProof="1"/>
          </a:p>
        </p:txBody>
      </p:sp>
      <p:sp>
        <p:nvSpPr>
          <p:cNvPr id="5" name="Rectangle 4"/>
          <p:cNvSpPr>
            <a:spLocks noGrp="1" noChangeArrowheads="1"/>
          </p:cNvSpPr>
          <p:nvPr>
            <p:ph type="ftr" sz="quarter" idx="3"/>
          </p:nvPr>
        </p:nvSpPr>
        <p:spPr bwMode="auto">
          <a:xfrm>
            <a:off x="2862263" y="5780088"/>
            <a:ext cx="3448050" cy="457200"/>
          </a:xfrm>
          <a:prstGeom prst="rect">
            <a:avLst/>
          </a:prstGeom>
          <a:ln>
            <a:miter lim="800000"/>
          </a:ln>
        </p:spPr>
        <p:txBody>
          <a:bodyPr vert="horz" wrap="square" lIns="91440" tIns="45720" rIns="91440" bIns="45720" numCol="1" anchor="t" anchorCtr="0" compatLnSpc="1"/>
          <a:lstStyle>
            <a:lvl1pPr algn="ctr" eaLnBrk="0" hangingPunct="0">
              <a:spcBef>
                <a:spcPct val="50000"/>
              </a:spcBef>
              <a:defRPr>
                <a:solidFill>
                  <a:srgbClr val="578963"/>
                </a:solidFill>
                <a:latin typeface="Times New Roman" panose="02020603050405020304" pitchFamily="18" charset="0"/>
                <a:ea typeface="MS PGothic" panose="020B0600070205080204" pitchFamily="34" charset="-128"/>
                <a:cs typeface="MS PGothic" panose="020B0600070205080204" pitchFamily="34" charset="-128"/>
              </a:defRPr>
            </a:lvl1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1600" b="0" i="0" u="none" strike="noStrike" kern="1200" cap="none" spc="0" normalizeH="0" baseline="0" noProof="0">
              <a:ln>
                <a:noFill/>
              </a:ln>
              <a:solidFill>
                <a:srgbClr val="578963"/>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
        <p:nvSpPr>
          <p:cNvPr id="6" name="Rectangle 5"/>
          <p:cNvSpPr>
            <a:spLocks noGrp="1" noChangeArrowheads="1"/>
          </p:cNvSpPr>
          <p:nvPr>
            <p:ph type="sldNum" sz="quarter" idx="4"/>
          </p:nvPr>
        </p:nvSpPr>
        <p:spPr bwMode="auto">
          <a:xfrm>
            <a:off x="6596063" y="6218238"/>
            <a:ext cx="1905000" cy="457200"/>
          </a:xfrm>
          <a:prstGeom prst="rect">
            <a:avLst/>
          </a:prstGeom>
          <a:ln>
            <a:miter lim="800000"/>
          </a:ln>
        </p:spPr>
        <p:txBody>
          <a:bodyPr vert="horz" wrap="square" lIns="91440" tIns="45720" rIns="91440" bIns="45720" numCol="1" anchor="t" anchorCtr="0" compatLnSpc="1"/>
          <a:lstStyle/>
          <a:p>
            <a:pPr lvl="0" algn="r" fontAlgn="base">
              <a:spcBef>
                <a:spcPct val="50000"/>
              </a:spcBef>
              <a:buNone/>
            </a:pPr>
            <a:fld id="{9A0DB2DC-4C9A-4742-B13C-FB6460FD3503}" type="slidenum">
              <a:rPr lang="en-US" altLang="zh-CN" sz="1400" strike="noStrike" noProof="1" dirty="0">
                <a:solidFill>
                  <a:srgbClr val="578963"/>
                </a:solidFill>
                <a:latin typeface="Times New Roman" panose="02020603050405020304" pitchFamily="18" charset="0"/>
                <a:ea typeface="MS PGothic" panose="020B0600070205080204" pitchFamily="34" charset="-128"/>
                <a:cs typeface="+mn-cs"/>
              </a:rPr>
            </a:fld>
            <a:endParaRPr lang="en-US" altLang="zh-CN" sz="1400" strike="noStrike" noProof="1">
              <a:solidFill>
                <a:srgbClr val="578963"/>
              </a:solidFill>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US" strike="noStrike" noProof="1"/>
          </a:p>
        </p:txBody>
      </p:sp>
      <p:sp>
        <p:nvSpPr>
          <p:cNvPr id="3" name="Content Placeholder 2"/>
          <p:cNvSpPr>
            <a:spLocks noGrp="1"/>
          </p:cNvSpPr>
          <p:nvPr>
            <p:ph idx="1"/>
          </p:nvPr>
        </p:nvSpPr>
        <p:spPr/>
        <p:txBody>
          <a:body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pPr fontAlgn="base"/>
            <a:r>
              <a:rPr lang="en-US" strike="noStrike" noProof="1"/>
              <a:t>Click to edit Master title style</a:t>
            </a:r>
            <a:endParaRPr lang="en-US" strike="noStrike" noProof="1"/>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en-US" strike="noStrike" noProof="1"/>
              <a:t>Click to edit Master text styles</a:t>
            </a:r>
            <a:endParaRPr 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US" strike="noStrike" noProof="1"/>
          </a:p>
        </p:txBody>
      </p:sp>
      <p:sp>
        <p:nvSpPr>
          <p:cNvPr id="3" name="Content Placeholder 2"/>
          <p:cNvSpPr>
            <a:spLocks noGrp="1"/>
          </p:cNvSpPr>
          <p:nvPr>
            <p:ph sz="half" idx="1"/>
          </p:nvPr>
        </p:nvSpPr>
        <p:spPr>
          <a:xfrm>
            <a:off x="814388" y="1093788"/>
            <a:ext cx="3754437" cy="4903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4" name="Content Placeholder 3"/>
          <p:cNvSpPr>
            <a:spLocks noGrp="1"/>
          </p:cNvSpPr>
          <p:nvPr>
            <p:ph sz="half" idx="2"/>
          </p:nvPr>
        </p:nvSpPr>
        <p:spPr>
          <a:xfrm>
            <a:off x="4721225" y="1093788"/>
            <a:ext cx="3754438" cy="4903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pPr fontAlgn="base"/>
            <a:r>
              <a:rPr lang="en-US" strike="noStrike" noProof="1"/>
              <a:t>Click to edit Master title style</a:t>
            </a:r>
            <a:endParaRPr lang="en-US" strike="noStrike" noProof="1"/>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endParaRPr lang="en-US" strike="noStrike" noProof="1"/>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endParaRPr lang="en-US" strike="noStrike" noProof="1"/>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pPr fontAlgn="base"/>
            <a:r>
              <a:rPr lang="en-US" strike="noStrike" noProof="1"/>
              <a:t>Click to edit Master title style</a:t>
            </a:r>
            <a:endParaRPr lang="en-US" strike="noStrike" noProof="1"/>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a:t>Click to edit Master text styles</a:t>
            </a:r>
            <a:endParaRPr 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pPr fontAlgn="base"/>
            <a:r>
              <a:rPr lang="en-US" strike="noStrike" noProof="1"/>
              <a:t>Click to edit Master title style</a:t>
            </a:r>
            <a:endParaRPr lang="en-US" strike="noStrike" noProof="1"/>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defRPr/>
            </a:pPr>
            <a:endParaRPr kumimoji="0" lang="en-US" sz="3200" b="0" i="0" u="none" strike="noStrike" kern="0" cap="none" spc="0" normalizeH="0" baseline="0" noProof="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a:t>Click to edit Master text styles</a:t>
            </a:r>
            <a:endParaRPr 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pPr fontAlgn="base"/>
            <a:r>
              <a:rPr lang="en-US" strike="noStrike" noProof="1"/>
              <a:t>Click to edit Master title style</a:t>
            </a:r>
            <a:endParaRPr lang="en-US" strike="noStrike" noProof="1"/>
          </a:p>
        </p:txBody>
      </p:sp>
      <p:sp>
        <p:nvSpPr>
          <p:cNvPr id="3" name="Vertical Text Placeholder 2"/>
          <p:cNvSpPr>
            <a:spLocks noGrp="1"/>
          </p:cNvSpPr>
          <p:nvPr>
            <p:ph type="body" orient="vert" idx="1"/>
          </p:nvPr>
        </p:nvSpPr>
        <p:spPr>
          <a:xfrm>
            <a:off x="768350" y="117475"/>
            <a:ext cx="5905500" cy="5880100"/>
          </a:xfrm>
        </p:spPr>
        <p:txBody>
          <a:bodyPr vert="eaVert"/>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a:xfrm>
            <a:off x="8821271" y="6517146"/>
            <a:ext cx="431249" cy="476250"/>
          </a:xfrm>
        </p:spPr>
        <p:txBody>
          <a:bodyPr/>
          <a:lstStyle/>
          <a:p>
            <a:fld id="{87BBDC00-B9E2-4EFD-9306-2934E87247C6}" type="slidenum">
              <a:rPr lang="zh-CN" altLang="en-US" smtClean="0"/>
            </a:fld>
            <a:endParaRPr lang="zh-CN" altLang="en-US"/>
          </a:p>
        </p:txBody>
      </p:sp>
      <p:sp>
        <p:nvSpPr>
          <p:cNvPr id="5" name="Rectangle 7"/>
          <p:cNvSpPr>
            <a:spLocks noGrp="1" noChangeArrowheads="1"/>
          </p:cNvSpPr>
          <p:nvPr>
            <p:ph type="title"/>
          </p:nvPr>
        </p:nvSpPr>
        <p:spPr bwMode="auto">
          <a:xfrm>
            <a:off x="787913" y="109584"/>
            <a:ext cx="7568173" cy="678470"/>
          </a:xfrm>
          <a:prstGeom prst="rect">
            <a:avLst/>
          </a:prstGeom>
          <a:noFill/>
          <a:ln>
            <a:noFill/>
          </a:ln>
          <a:effectLst/>
        </p:spPr>
        <p:txBody>
          <a:bodyPr vert="horz" wrap="square" lIns="91440" tIns="45720" rIns="91440" bIns="45720" numCol="1" anchor="ctr" anchorCtr="0" compatLnSpc="1"/>
          <a:lstStyle/>
          <a:p>
            <a:pPr lvl="0"/>
            <a:r>
              <a:rPr lang="zh-CN" altLang="en-US" dirty="0"/>
              <a:t>单击此处编辑母版标题样式</a:t>
            </a:r>
            <a:endParaRPr lang="zh-CN" altLang="en-US" dirty="0"/>
          </a:p>
        </p:txBody>
      </p:sp>
      <p:sp>
        <p:nvSpPr>
          <p:cNvPr id="8" name="Rectangle 4"/>
          <p:cNvSpPr>
            <a:spLocks noGrp="1" noChangeArrowheads="1"/>
          </p:cNvSpPr>
          <p:nvPr>
            <p:ph idx="1"/>
          </p:nvPr>
        </p:nvSpPr>
        <p:spPr bwMode="auto">
          <a:xfrm>
            <a:off x="342900" y="1125538"/>
            <a:ext cx="8155641" cy="5005387"/>
          </a:xfrm>
          <a:prstGeom prst="rect">
            <a:avLst/>
          </a:prstGeom>
          <a:noFill/>
          <a:ln>
            <a:noFill/>
          </a:ln>
        </p:spPr>
        <p:txBody>
          <a:bodyPr vert="horz" wrap="square" lIns="91440" tIns="45720" rIns="91440" bIns="45720" numCol="1" anchor="t" anchorCtr="0" compatLnSpc="1"/>
          <a:lstStyle>
            <a:lvl1pPr>
              <a:defRPr>
                <a:latin typeface="黑体" panose="02010609060101010101" pitchFamily="49" charset="-122"/>
                <a:ea typeface="黑体" panose="02010609060101010101" pitchFamily="49" charset="-122"/>
              </a:defRPr>
            </a:lvl1pPr>
            <a:lvl2pPr>
              <a:defRPr>
                <a:latin typeface="黑体" panose="02010609060101010101" pitchFamily="49" charset="-122"/>
                <a:ea typeface="黑体" panose="02010609060101010101" pitchFamily="49" charset="-122"/>
              </a:defRPr>
            </a:lvl2pPr>
            <a:lvl3pPr>
              <a:defRPr>
                <a:latin typeface="黑体" panose="02010609060101010101" pitchFamily="49" charset="-122"/>
                <a:ea typeface="黑体" panose="02010609060101010101" pitchFamily="49" charset="-122"/>
              </a:defRPr>
            </a:lvl3pPr>
            <a:lvl4pPr>
              <a:defRPr>
                <a:latin typeface="黑体" panose="02010609060101010101" pitchFamily="49" charset="-122"/>
                <a:ea typeface="黑体" panose="02010609060101010101" pitchFamily="49" charset="-122"/>
              </a:defRPr>
            </a:lvl4pPr>
            <a:lvl5pPr>
              <a:defRPr>
                <a:latin typeface="黑体" panose="02010609060101010101" pitchFamily="49" charset="-122"/>
                <a:ea typeface="黑体" panose="02010609060101010101" pitchFamily="49" charset="-122"/>
              </a:defRPr>
            </a:lvl5pPr>
          </a:lstStyle>
          <a:p>
            <a:pPr lvl="0"/>
            <a:r>
              <a:rPr lang="en-US" altLang="zh-CN" dirty="0" err="1"/>
              <a:t>单击此处编辑母版文本样式</a:t>
            </a:r>
            <a:endParaRPr lang="en-US" altLang="zh-CN" dirty="0"/>
          </a:p>
          <a:p>
            <a:pPr lvl="1"/>
            <a:r>
              <a:rPr lang="en-US" altLang="zh-CN" dirty="0" err="1"/>
              <a:t>第二级</a:t>
            </a:r>
            <a:endParaRPr lang="en-US" altLang="zh-CN" dirty="0"/>
          </a:p>
          <a:p>
            <a:pPr lvl="2"/>
            <a:r>
              <a:rPr lang="en-US" altLang="zh-CN" dirty="0" err="1"/>
              <a:t>第三级</a:t>
            </a:r>
            <a:endParaRPr lang="en-US" altLang="zh-CN" dirty="0"/>
          </a:p>
          <a:p>
            <a:pPr lvl="3"/>
            <a:r>
              <a:rPr lang="en-US" altLang="zh-CN" dirty="0" err="1"/>
              <a:t>第四级</a:t>
            </a:r>
            <a:endParaRPr lang="en-US" altLang="zh-CN" dirty="0"/>
          </a:p>
          <a:p>
            <a:pPr lvl="4"/>
            <a:r>
              <a:rPr lang="en-US" altLang="zh-CN" dirty="0" err="1"/>
              <a:t>第五级</a:t>
            </a:r>
            <a:endParaRPr lang="en-US" altLang="zh-CN" dirty="0"/>
          </a:p>
        </p:txBody>
      </p:sp>
      <p:sp>
        <p:nvSpPr>
          <p:cNvPr id="9" name="Rectangle 6"/>
          <p:cNvSpPr>
            <a:spLocks noGrp="1" noChangeArrowheads="1"/>
          </p:cNvSpPr>
          <p:nvPr>
            <p:ph type="ftr" sz="quarter" idx="3"/>
          </p:nvPr>
        </p:nvSpPr>
        <p:spPr bwMode="auto">
          <a:xfrm>
            <a:off x="3067925" y="6548437"/>
            <a:ext cx="2889647" cy="309563"/>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900">
                <a:latin typeface="黑体" panose="02010609060101010101" pitchFamily="49" charset="-122"/>
                <a:ea typeface="黑体" panose="02010609060101010101" pitchFamily="49" charset="-122"/>
                <a:cs typeface="+mn-cs"/>
              </a:defRPr>
            </a:lvl1pPr>
          </a:lstStyle>
          <a:p>
            <a:pPr>
              <a:defRPr/>
            </a:pPr>
            <a:r>
              <a:rPr lang="zh-CN" altLang="en-US"/>
              <a:t>数据库系统</a:t>
            </a:r>
            <a:r>
              <a:rPr lang="en-US" altLang="zh-CN"/>
              <a:t>-</a:t>
            </a:r>
            <a:r>
              <a:rPr lang="zh-CN" altLang="en-US"/>
              <a:t>存储系统</a:t>
            </a:r>
            <a:endParaRPr lang="en-US" altLang="zh-CN" sz="1200"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p:cNvSpPr>
            <a:spLocks noGrp="1"/>
          </p:cNvSpPr>
          <p:nvPr>
            <p:ph type="body"/>
          </p:nvPr>
        </p:nvSpPr>
        <p:spPr>
          <a:xfrm>
            <a:off x="814388" y="1093788"/>
            <a:ext cx="7661275" cy="4903787"/>
          </a:xfrm>
          <a:prstGeom prst="rect">
            <a:avLst/>
          </a:prstGeom>
          <a:noFill/>
          <a:ln w="9525">
            <a:noFill/>
          </a:ln>
        </p:spPr>
        <p:txBody>
          <a:bodyPr anchor="t" anchorCtr="0"/>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7" name="Text Box 4"/>
          <p:cNvSpPr txBox="1">
            <a:spLocks noChangeArrowheads="1"/>
          </p:cNvSpPr>
          <p:nvPr/>
        </p:nvSpPr>
        <p:spPr bwMode="auto">
          <a:xfrm>
            <a:off x="6762750" y="6613525"/>
            <a:ext cx="2381250" cy="244475"/>
          </a:xfrm>
          <a:prstGeom prst="rect">
            <a:avLst/>
          </a:prstGeom>
          <a:noFill/>
          <a:ln>
            <a:noFill/>
          </a:ln>
        </p:spPr>
        <p:txBody>
          <a:bodyPr wrap="none">
            <a:spAutoFit/>
          </a:bodyPr>
          <a:lstStyle>
            <a:lvl1pPr>
              <a:defRPr sz="1600">
                <a:solidFill>
                  <a:schemeClr val="tx1"/>
                </a:solidFill>
                <a:latin typeface="Helvetica" charset="0"/>
                <a:ea typeface="MS PGothic" panose="020B0600070205080204" pitchFamily="34" charset="-128"/>
              </a:defRPr>
            </a:lvl1pPr>
            <a:lvl2pPr marL="742950" indent="-285750">
              <a:defRPr sz="1600">
                <a:solidFill>
                  <a:schemeClr val="tx1"/>
                </a:solidFill>
                <a:latin typeface="Helvetica" charset="0"/>
                <a:ea typeface="MS PGothic" panose="020B0600070205080204" pitchFamily="34" charset="-128"/>
              </a:defRPr>
            </a:lvl2pPr>
            <a:lvl3pPr marL="1143000" indent="-228600">
              <a:defRPr sz="1600">
                <a:solidFill>
                  <a:schemeClr val="tx1"/>
                </a:solidFill>
                <a:latin typeface="Helvetica" charset="0"/>
                <a:ea typeface="MS PGothic" panose="020B0600070205080204" pitchFamily="34" charset="-128"/>
              </a:defRPr>
            </a:lvl3pPr>
            <a:lvl4pPr marL="1600200" indent="-228600">
              <a:defRPr sz="1600">
                <a:solidFill>
                  <a:schemeClr val="tx1"/>
                </a:solidFill>
                <a:latin typeface="Helvetica" charset="0"/>
                <a:ea typeface="MS PGothic" panose="020B0600070205080204" pitchFamily="34" charset="-128"/>
              </a:defRPr>
            </a:lvl4pPr>
            <a:lvl5pPr marL="2057400" indent="-228600">
              <a:defRPr sz="1600">
                <a:solidFill>
                  <a:schemeClr val="tx1"/>
                </a:solidFill>
                <a:latin typeface="Helvetica"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charset="0"/>
                <a:ea typeface="MS PGothic"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a:ln>
                  <a:noFill/>
                </a:ln>
                <a:solidFill>
                  <a:schemeClr val="tx2"/>
                </a:solidFill>
                <a:effectLst/>
                <a:uLnTx/>
                <a:uFillTx/>
                <a:latin typeface="Helvetica" charset="0"/>
                <a:ea typeface="MS PGothic" panose="020B0600070205080204" pitchFamily="34" charset="-128"/>
                <a:cs typeface="+mn-cs"/>
              </a:rPr>
              <a:t>©Silberschatz, Korth and Sudarshan</a:t>
            </a:r>
            <a:endParaRPr kumimoji="0" lang="en-US" altLang="zh-CN" sz="1000" b="1" i="0" u="none" strike="noStrike" kern="1200" cap="none" spc="0" normalizeH="0" baseline="0" noProof="0">
              <a:ln>
                <a:noFill/>
              </a:ln>
              <a:solidFill>
                <a:schemeClr val="tx2"/>
              </a:solidFill>
              <a:effectLst/>
              <a:uLnTx/>
              <a:uFillTx/>
              <a:latin typeface="Helvetica" charset="0"/>
              <a:ea typeface="MS PGothic" panose="020B0600070205080204" pitchFamily="34" charset="-128"/>
              <a:cs typeface="+mn-cs"/>
            </a:endParaRPr>
          </a:p>
        </p:txBody>
      </p:sp>
      <p:sp>
        <p:nvSpPr>
          <p:cNvPr id="1028" name="Text Box 5"/>
          <p:cNvSpPr txBox="1"/>
          <p:nvPr/>
        </p:nvSpPr>
        <p:spPr>
          <a:xfrm>
            <a:off x="4481513" y="6613525"/>
            <a:ext cx="444500" cy="244475"/>
          </a:xfrm>
          <a:prstGeom prst="rect">
            <a:avLst/>
          </a:prstGeom>
          <a:noFill/>
          <a:ln w="9525">
            <a:noFill/>
          </a:ln>
        </p:spPr>
        <p:txBody>
          <a:bodyPr wrap="none" anchor="t" anchorCtr="0">
            <a:spAutoFit/>
          </a:bodyPr>
          <a:lstStyle/>
          <a:p>
            <a:pPr lvl="0" algn="ctr" eaLnBrk="0" hangingPunct="0">
              <a:spcBef>
                <a:spcPct val="50000"/>
              </a:spcBef>
            </a:pPr>
            <a:r>
              <a:rPr lang="en-US" altLang="zh-CN" sz="1000" b="1" dirty="0">
                <a:solidFill>
                  <a:schemeClr val="tx2"/>
                </a:solidFill>
                <a:latin typeface="Helvetica" charset="0"/>
              </a:rPr>
              <a:t>1.</a:t>
            </a:r>
            <a:fld id="{9A0DB2DC-4C9A-4742-B13C-FB6460FD3503}" type="slidenum">
              <a:rPr lang="en-US" altLang="zh-CN" sz="1000" b="1" dirty="0">
                <a:solidFill>
                  <a:schemeClr val="tx2"/>
                </a:solidFill>
                <a:latin typeface="Helvetica" charset="0"/>
              </a:rPr>
            </a:fld>
            <a:endParaRPr lang="en-US" altLang="zh-CN" sz="1000" b="1" dirty="0">
              <a:solidFill>
                <a:schemeClr val="tx2"/>
              </a:solidFill>
              <a:latin typeface="Helvetica" charset="0"/>
            </a:endParaRPr>
          </a:p>
        </p:txBody>
      </p:sp>
      <p:sp>
        <p:nvSpPr>
          <p:cNvPr id="309254" name="Rectangle 6"/>
          <p:cNvSpPr>
            <a:spLocks noGrp="1" noChangeArrowheads="1"/>
          </p:cNvSpPr>
          <p:nvPr>
            <p:ph type="title"/>
          </p:nvPr>
        </p:nvSpPr>
        <p:spPr bwMode="auto">
          <a:xfrm>
            <a:off x="768350" y="117475"/>
            <a:ext cx="8077200" cy="609600"/>
          </a:xfrm>
          <a:prstGeom prst="rect">
            <a:avLst/>
          </a:prstGeom>
          <a:noFill/>
          <a:ln w="9525">
            <a:noFill/>
            <a:miter lim="800000"/>
          </a:ln>
        </p:spPr>
        <p:txBody>
          <a:bodyPr vert="horz" wrap="square" lIns="91440" tIns="45720" rIns="91440" bIns="45720" numCol="1" anchor="b" anchorCtr="0" compatLnSpc="1"/>
          <a:lstStyle/>
          <a:p>
            <a:pPr lvl="0" fontAlgn="base"/>
            <a:r>
              <a:rPr lang="en-US" strike="noStrike" noProof="1"/>
              <a:t>Click to edit Master title style</a:t>
            </a:r>
            <a:endParaRPr lang="en-US" strike="noStrike" noProof="1"/>
          </a:p>
        </p:txBody>
      </p:sp>
      <p:sp>
        <p:nvSpPr>
          <p:cNvPr id="1030" name="Text Box 7"/>
          <p:cNvSpPr txBox="1">
            <a:spLocks noChangeArrowheads="1"/>
          </p:cNvSpPr>
          <p:nvPr/>
        </p:nvSpPr>
        <p:spPr bwMode="auto">
          <a:xfrm>
            <a:off x="0" y="6613525"/>
            <a:ext cx="2571750" cy="244475"/>
          </a:xfrm>
          <a:prstGeom prst="rect">
            <a:avLst/>
          </a:prstGeom>
          <a:noFill/>
          <a:ln>
            <a:noFill/>
          </a:ln>
        </p:spPr>
        <p:txBody>
          <a:bodyPr wrap="none">
            <a:spAutoFit/>
          </a:bodyPr>
          <a:lstStyle>
            <a:lvl1pPr>
              <a:defRPr sz="1600">
                <a:solidFill>
                  <a:schemeClr val="tx1"/>
                </a:solidFill>
                <a:latin typeface="Helvetica" charset="0"/>
                <a:ea typeface="MS PGothic" panose="020B0600070205080204" pitchFamily="34" charset="-128"/>
              </a:defRPr>
            </a:lvl1pPr>
            <a:lvl2pPr marL="742950" indent="-285750">
              <a:defRPr sz="1600">
                <a:solidFill>
                  <a:schemeClr val="tx1"/>
                </a:solidFill>
                <a:latin typeface="Helvetica" charset="0"/>
                <a:ea typeface="MS PGothic" panose="020B0600070205080204" pitchFamily="34" charset="-128"/>
              </a:defRPr>
            </a:lvl2pPr>
            <a:lvl3pPr marL="1143000" indent="-228600">
              <a:defRPr sz="1600">
                <a:solidFill>
                  <a:schemeClr val="tx1"/>
                </a:solidFill>
                <a:latin typeface="Helvetica" charset="0"/>
                <a:ea typeface="MS PGothic" panose="020B0600070205080204" pitchFamily="34" charset="-128"/>
              </a:defRPr>
            </a:lvl3pPr>
            <a:lvl4pPr marL="1600200" indent="-228600">
              <a:defRPr sz="1600">
                <a:solidFill>
                  <a:schemeClr val="tx1"/>
                </a:solidFill>
                <a:latin typeface="Helvetica" charset="0"/>
                <a:ea typeface="MS PGothic" panose="020B0600070205080204" pitchFamily="34" charset="-128"/>
              </a:defRPr>
            </a:lvl4pPr>
            <a:lvl5pPr marL="2057400" indent="-228600">
              <a:defRPr sz="1600">
                <a:solidFill>
                  <a:schemeClr val="tx1"/>
                </a:solidFill>
                <a:latin typeface="Helvetica"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charset="0"/>
                <a:ea typeface="MS PGothic" panose="020B0600070205080204" pitchFamily="34" charset="-128"/>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a:ln>
                  <a:noFill/>
                </a:ln>
                <a:solidFill>
                  <a:schemeClr val="tx2"/>
                </a:solidFill>
                <a:effectLst/>
                <a:uLnTx/>
                <a:uFillTx/>
                <a:latin typeface="Helvetica" charset="0"/>
                <a:ea typeface="MS PGothic" panose="020B0600070205080204" pitchFamily="34" charset="-128"/>
                <a:cs typeface="+mn-cs"/>
              </a:rPr>
              <a:t>Database System Concepts - 6</a:t>
            </a:r>
            <a:r>
              <a:rPr kumimoji="0" lang="en-US" altLang="zh-CN" sz="1000" b="1" i="0" u="none" strike="noStrike" kern="1200" cap="none" spc="0" normalizeH="0" baseline="30000" noProof="0">
                <a:ln>
                  <a:noFill/>
                </a:ln>
                <a:solidFill>
                  <a:schemeClr val="tx2"/>
                </a:solidFill>
                <a:effectLst/>
                <a:uLnTx/>
                <a:uFillTx/>
                <a:latin typeface="Helvetica" charset="0"/>
                <a:ea typeface="MS PGothic" panose="020B0600070205080204" pitchFamily="34" charset="-128"/>
                <a:cs typeface="+mn-cs"/>
              </a:rPr>
              <a:t>th</a:t>
            </a:r>
            <a:r>
              <a:rPr kumimoji="0" lang="en-US" altLang="zh-CN" sz="1000" b="1" i="0" u="none" strike="noStrike" kern="1200" cap="none" spc="0" normalizeH="0" baseline="0" noProof="0">
                <a:ln>
                  <a:noFill/>
                </a:ln>
                <a:solidFill>
                  <a:schemeClr val="tx2"/>
                </a:solidFill>
                <a:effectLst/>
                <a:uLnTx/>
                <a:uFillTx/>
                <a:latin typeface="Helvetica" charset="0"/>
                <a:ea typeface="MS PGothic" panose="020B0600070205080204" pitchFamily="34" charset="-128"/>
                <a:cs typeface="+mn-cs"/>
              </a:rPr>
              <a:t> Edition</a:t>
            </a:r>
            <a:endParaRPr kumimoji="0" lang="en-US" altLang="zh-CN" sz="1000" b="1" i="0" u="none" strike="noStrike" kern="1200" cap="none" spc="0" normalizeH="0" baseline="0" noProof="0">
              <a:ln>
                <a:noFill/>
              </a:ln>
              <a:solidFill>
                <a:schemeClr val="tx2"/>
              </a:solidFill>
              <a:effectLst/>
              <a:uLnTx/>
              <a:uFillTx/>
              <a:latin typeface="Helvetica" charset="0"/>
              <a:ea typeface="MS PGothic" panose="020B0600070205080204" pitchFamily="34" charset="-128"/>
              <a:cs typeface="+mn-cs"/>
            </a:endParaRPr>
          </a:p>
        </p:txBody>
      </p:sp>
      <p:sp>
        <p:nvSpPr>
          <p:cNvPr id="1031" name="Freeform 8"/>
          <p:cNvSpPr/>
          <p:nvPr/>
        </p:nvSpPr>
        <p:spPr>
          <a:xfrm>
            <a:off x="8916988" y="5445125"/>
            <a:ext cx="227012" cy="47625"/>
          </a:xfrm>
          <a:custGeom>
            <a:avLst/>
            <a:gdLst/>
            <a:ahLst/>
            <a:cxnLst>
              <a:cxn ang="0">
                <a:pos x="0" y="35963902"/>
              </a:cxn>
              <a:cxn ang="0">
                <a:pos x="1268878" y="29258145"/>
              </a:cxn>
              <a:cxn ang="0">
                <a:pos x="5710347" y="20724682"/>
              </a:cxn>
              <a:cxn ang="0">
                <a:pos x="10785858" y="15238439"/>
              </a:cxn>
              <a:cxn ang="0">
                <a:pos x="19033961" y="10362732"/>
              </a:cxn>
              <a:cxn ang="0">
                <a:pos x="28550941" y="6095219"/>
              </a:cxn>
              <a:cxn ang="0">
                <a:pos x="36164206" y="3656975"/>
              </a:cxn>
              <a:cxn ang="0">
                <a:pos x="44412309" y="1218732"/>
              </a:cxn>
              <a:cxn ang="0">
                <a:pos x="53929289" y="0"/>
              </a:cxn>
              <a:cxn ang="0">
                <a:pos x="63446270" y="0"/>
              </a:cxn>
              <a:cxn ang="0">
                <a:pos x="74866965" y="0"/>
              </a:cxn>
              <a:cxn ang="0">
                <a:pos x="86921700" y="0"/>
              </a:cxn>
              <a:cxn ang="0">
                <a:pos x="97707558" y="1218732"/>
              </a:cxn>
              <a:cxn ang="0">
                <a:pos x="109762293" y="3656975"/>
              </a:cxn>
              <a:cxn ang="0">
                <a:pos x="121817029" y="4876488"/>
              </a:cxn>
              <a:cxn ang="0">
                <a:pos x="132602887" y="7314732"/>
              </a:cxn>
              <a:cxn ang="0">
                <a:pos x="142119867" y="9143219"/>
              </a:cxn>
              <a:cxn ang="0">
                <a:pos x="151636847" y="11581463"/>
              </a:cxn>
              <a:cxn ang="0">
                <a:pos x="161153827" y="14019707"/>
              </a:cxn>
              <a:cxn ang="0">
                <a:pos x="168767890" y="15238439"/>
              </a:cxn>
              <a:cxn ang="0">
                <a:pos x="173209359" y="16457951"/>
              </a:cxn>
              <a:cxn ang="0">
                <a:pos x="179553747" y="18896195"/>
              </a:cxn>
              <a:cxn ang="0">
                <a:pos x="177015992" y="26819902"/>
              </a:cxn>
              <a:cxn ang="0">
                <a:pos x="173209359" y="25601170"/>
              </a:cxn>
              <a:cxn ang="0">
                <a:pos x="164961257" y="24382439"/>
              </a:cxn>
              <a:cxn ang="0">
                <a:pos x="152906521" y="21944195"/>
              </a:cxn>
              <a:cxn ang="0">
                <a:pos x="145927296" y="20724682"/>
              </a:cxn>
              <a:cxn ang="0">
                <a:pos x="138313234" y="19505951"/>
              </a:cxn>
              <a:cxn ang="0">
                <a:pos x="131334009" y="18896195"/>
              </a:cxn>
              <a:cxn ang="0">
                <a:pos x="124355581" y="17676682"/>
              </a:cxn>
              <a:cxn ang="0">
                <a:pos x="115472641" y="16457951"/>
              </a:cxn>
              <a:cxn ang="0">
                <a:pos x="109762293" y="15238439"/>
              </a:cxn>
              <a:cxn ang="0">
                <a:pos x="103417905" y="14019707"/>
              </a:cxn>
              <a:cxn ang="0">
                <a:pos x="97707558" y="12800195"/>
              </a:cxn>
              <a:cxn ang="0">
                <a:pos x="90094292" y="11581463"/>
              </a:cxn>
              <a:cxn ang="0">
                <a:pos x="69791454" y="9143219"/>
              </a:cxn>
              <a:cxn ang="0">
                <a:pos x="52660412" y="12800195"/>
              </a:cxn>
              <a:cxn ang="0">
                <a:pos x="37433084" y="17676682"/>
              </a:cxn>
              <a:cxn ang="0">
                <a:pos x="33626451" y="18896195"/>
              </a:cxn>
              <a:cxn ang="0">
                <a:pos x="27282063" y="20724682"/>
              </a:cxn>
              <a:cxn ang="0">
                <a:pos x="20302838" y="23162926"/>
              </a:cxn>
              <a:cxn ang="0">
                <a:pos x="14592491" y="26819902"/>
              </a:cxn>
              <a:cxn ang="0">
                <a:pos x="4441470" y="33525658"/>
              </a:cxn>
              <a:cxn ang="0">
                <a:pos x="1268878" y="37182633"/>
              </a:cxn>
            </a:cxnLst>
            <a:rect l="0" t="0" r="0" b="0"/>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w="9525">
            <a:noFill/>
          </a:ln>
        </p:spPr>
        <p:txBody>
          <a:bodyPr/>
          <a:lstStyle/>
          <a:p>
            <a:endParaRPr lang="zh-CN" altLang="en-US"/>
          </a:p>
        </p:txBody>
      </p:sp>
      <p:pic>
        <p:nvPicPr>
          <p:cNvPr id="1032" name="Picture 9" descr="Cover-6Ed"/>
          <p:cNvPicPr>
            <a:picLocks noChangeAspect="1"/>
          </p:cNvPicPr>
          <p:nvPr/>
        </p:nvPicPr>
        <p:blipFill>
          <a:blip r:embed="rId13"/>
          <a:stretch>
            <a:fillRect/>
          </a:stretch>
        </p:blipFill>
        <p:spPr>
          <a:xfrm>
            <a:off x="-3175" y="0"/>
            <a:ext cx="668338" cy="8159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Helvetica"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Helvetica"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Helvetica"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Helvetica" charset="0"/>
          <a:ea typeface="MS PGothic" panose="020B0600070205080204" pitchFamily="34" charset="-128"/>
          <a:cs typeface="MS PGothic" panose="020B0600070205080204" pitchFamily="34" charset="-128"/>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chemeClr val="tx2"/>
        </a:buClr>
        <a:buSzPct val="90000"/>
        <a:buFont typeface="Monotype Sorts" charset="0"/>
        <a:buChar char="n"/>
        <a:defRPr>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chemeClr val="folHlink"/>
        </a:buClr>
        <a:buSzPct val="80000"/>
        <a:buFont typeface="Monotype Sorts" charset="0"/>
        <a:buChar char="l"/>
        <a:defRPr>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宋体" panose="02010600030101010101" pitchFamily="2" charset="-122"/>
          <a:cs typeface="+mn-cs"/>
        </a:defRPr>
      </a:lvl1pPr>
      <a:lvl2pPr marL="457200" algn="l" defTabSz="457200" rtl="0" eaLnBrk="1" latinLnBrk="0" hangingPunct="1">
        <a:defRPr sz="1800" kern="1200">
          <a:solidFill>
            <a:schemeClr val="tx1"/>
          </a:solidFill>
          <a:latin typeface="+mn-lt"/>
          <a:ea typeface="宋体" panose="02010600030101010101" pitchFamily="2" charset="-122"/>
          <a:cs typeface="+mn-cs"/>
        </a:defRPr>
      </a:lvl2pPr>
      <a:lvl3pPr marL="914400" algn="l" defTabSz="457200" rtl="0" eaLnBrk="1" latinLnBrk="0" hangingPunct="1">
        <a:defRPr sz="1800" kern="1200">
          <a:solidFill>
            <a:schemeClr val="tx1"/>
          </a:solidFill>
          <a:latin typeface="+mn-lt"/>
          <a:ea typeface="宋体" panose="02010600030101010101" pitchFamily="2" charset="-122"/>
          <a:cs typeface="+mn-cs"/>
        </a:defRPr>
      </a:lvl3pPr>
      <a:lvl4pPr marL="1371600" algn="l" defTabSz="457200" rtl="0" eaLnBrk="1" latinLnBrk="0" hangingPunct="1">
        <a:defRPr sz="1800" kern="1200">
          <a:solidFill>
            <a:schemeClr val="tx1"/>
          </a:solidFill>
          <a:latin typeface="+mn-lt"/>
          <a:ea typeface="宋体" panose="02010600030101010101" pitchFamily="2" charset="-122"/>
          <a:cs typeface="+mn-cs"/>
        </a:defRPr>
      </a:lvl4pPr>
      <a:lvl5pPr marL="1828800" algn="l" defTabSz="457200" rtl="0" eaLnBrk="1" latinLnBrk="0" hangingPunct="1">
        <a:defRPr sz="1800" kern="1200">
          <a:solidFill>
            <a:schemeClr val="tx1"/>
          </a:solidFill>
          <a:latin typeface="+mn-lt"/>
          <a:ea typeface="宋体" panose="02010600030101010101" pitchFamily="2" charset="-122"/>
          <a:cs typeface="+mn-cs"/>
        </a:defRPr>
      </a:lvl5pPr>
      <a:lvl6pPr marL="2286000" algn="l" defTabSz="457200" rtl="0" eaLnBrk="1" latinLnBrk="0" hangingPunct="1">
        <a:defRPr sz="1800" kern="1200">
          <a:solidFill>
            <a:schemeClr val="tx1"/>
          </a:solidFill>
          <a:latin typeface="+mn-lt"/>
          <a:ea typeface="宋体" panose="02010600030101010101" pitchFamily="2" charset="-122"/>
          <a:cs typeface="+mn-cs"/>
        </a:defRPr>
      </a:lvl6pPr>
      <a:lvl7pPr marL="2743200" algn="l" defTabSz="457200" rtl="0" eaLnBrk="1" latinLnBrk="0" hangingPunct="1">
        <a:defRPr sz="1800" kern="1200">
          <a:solidFill>
            <a:schemeClr val="tx1"/>
          </a:solidFill>
          <a:latin typeface="+mn-lt"/>
          <a:ea typeface="宋体" panose="02010600030101010101" pitchFamily="2" charset="-122"/>
          <a:cs typeface="+mn-cs"/>
        </a:defRPr>
      </a:lvl7pPr>
      <a:lvl8pPr marL="3200400" algn="l" defTabSz="457200" rtl="0" eaLnBrk="1" latinLnBrk="0" hangingPunct="1">
        <a:defRPr sz="1800" kern="1200">
          <a:solidFill>
            <a:schemeClr val="tx1"/>
          </a:solidFill>
          <a:latin typeface="+mn-lt"/>
          <a:ea typeface="宋体" panose="02010600030101010101" pitchFamily="2" charset="-122"/>
          <a:cs typeface="+mn-cs"/>
        </a:defRPr>
      </a:lvl8pPr>
      <a:lvl9pPr marL="3657600" algn="l" defTabSz="457200" rtl="0" eaLnBrk="1" latinLnBrk="0" hangingPunct="1">
        <a:defRPr sz="1800" kern="1200">
          <a:solidFill>
            <a:schemeClr val="tx1"/>
          </a:solidFill>
          <a:latin typeface="+mn-lt"/>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wmf"/></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5.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emf"/><Relationship Id="rId1" Type="http://schemas.openxmlformats.org/officeDocument/2006/relationships/image" Target="../media/image7.emf"/></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emf"/><Relationship Id="rId1" Type="http://schemas.openxmlformats.org/officeDocument/2006/relationships/image" Target="../media/image9.e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11.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11.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12.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9" Type="http://schemas.openxmlformats.org/officeDocument/2006/relationships/notesSlide" Target="../notesSlides/notesSlide23.xml"/><Relationship Id="rId8" Type="http://schemas.openxmlformats.org/officeDocument/2006/relationships/slideLayout" Target="../slideLayouts/slideLayout6.xml"/><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6.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3.emf"/></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4.emf"/></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image" Target="../media/image25.emf"/></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6.em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7.emf"/></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8.emf"/></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image" Target="../media/image29.e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image" Target="../media/image30.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image" Target="../media/image31.e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1.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2.png"/><Relationship Id="rId1" Type="http://schemas.openxmlformats.org/officeDocument/2006/relationships/tags" Target="../tags/tag1.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ctrTitle"/>
          </p:nvPr>
        </p:nvSpPr>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4800" b="1" i="0" u="none" strike="noStrike" kern="0" cap="none" spc="0" normalizeH="0" baseline="0" noProof="1">
                <a:ln>
                  <a:noFill/>
                </a:ln>
                <a:solidFill>
                  <a:srgbClr val="CC3300"/>
                </a:solidFill>
                <a:effectLst>
                  <a:outerShdw blurRad="38100" dist="38100" dir="2700000">
                    <a:srgbClr val="C0C0C0"/>
                  </a:outerShdw>
                </a:effectLst>
                <a:uLnTx/>
                <a:uFillTx/>
                <a:latin typeface="Arial" panose="020B0604020202020204" pitchFamily="34" charset="0"/>
                <a:ea typeface="MS PGothic" panose="020B0600070205080204" pitchFamily="34" charset="-128"/>
                <a:cs typeface="Arial" panose="020B0604020202020204" pitchFamily="34" charset="0"/>
              </a:rPr>
              <a:t>Chapter 1: Introduction </a:t>
            </a:r>
            <a:endParaRPr kumimoji="1" lang="en-US" altLang="zh-CN" sz="4800" b="1" i="0" u="none" strike="noStrike" kern="0" cap="none" spc="0" normalizeH="0" baseline="0" noProof="1">
              <a:ln>
                <a:noFill/>
              </a:ln>
              <a:solidFill>
                <a:srgbClr val="CC3300"/>
              </a:solidFill>
              <a:effectLst>
                <a:outerShdw blurRad="38100" dist="38100" dir="2700000">
                  <a:srgbClr val="C0C0C0"/>
                </a:outerShdw>
              </a:effectLst>
              <a:uLnTx/>
              <a:uFillTx/>
              <a:latin typeface="Arial" panose="020B0604020202020204" pitchFamily="34" charset="0"/>
              <a:ea typeface="MS PGothic" panose="020B0600070205080204" pitchFamily="34" charset="-128"/>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a:xfrm>
            <a:off x="809625" y="215900"/>
            <a:ext cx="8077200" cy="609600"/>
          </a:xfrm>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4800" b="1" i="0" u="none" strike="noStrike" kern="0" cap="none" spc="0" normalizeH="0" baseline="0" noProof="1">
                <a:ln>
                  <a:noFill/>
                </a:ln>
                <a:solidFill>
                  <a:schemeClr val="tx2"/>
                </a:solidFill>
                <a:effectLst>
                  <a:outerShdw blurRad="38100" dist="38100" dir="2700000">
                    <a:srgbClr val="C0C0C0"/>
                  </a:outerShdw>
                </a:effectLst>
                <a:uLnTx/>
                <a:uFillTx/>
                <a:latin typeface="Arial" panose="020B0604020202020204" pitchFamily="34" charset="0"/>
                <a:ea typeface="MS PGothic" panose="020B0600070205080204" pitchFamily="34" charset="-128"/>
                <a:cs typeface="Arial" panose="020B0604020202020204" pitchFamily="34" charset="0"/>
              </a:rPr>
              <a:t>Outline</a:t>
            </a:r>
            <a:endParaRPr kumimoji="1" lang="en-US" altLang="zh-CN" sz="4800" b="1" i="0" u="none" strike="noStrike" kern="0" cap="none" spc="0" normalizeH="0" baseline="0" noProof="1">
              <a:ln>
                <a:noFill/>
              </a:ln>
              <a:solidFill>
                <a:schemeClr val="tx2"/>
              </a:solidFill>
              <a:effectLst>
                <a:outerShdw blurRad="38100" dist="38100" dir="2700000">
                  <a:srgbClr val="C0C0C0"/>
                </a:outerShdw>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7170" name="Rectangle 3"/>
          <p:cNvSpPr>
            <a:spLocks noGrp="1"/>
          </p:cNvSpPr>
          <p:nvPr>
            <p:ph idx="1"/>
          </p:nvPr>
        </p:nvSpPr>
        <p:spPr>
          <a:xfrm>
            <a:off x="288925" y="1163638"/>
            <a:ext cx="7940675" cy="4857750"/>
          </a:xfrm>
        </p:spPr>
        <p:txBody>
          <a:bodyPr vert="horz" wrap="square" lIns="91440" tIns="45720" rIns="91440" bIns="45720" anchor="t" anchorCtr="0"/>
          <a:lstStyle/>
          <a:p>
            <a:r>
              <a:rPr lang="en-US" altLang="zh-CN" sz="2800" b="1" dirty="0">
                <a:latin typeface="Arial" panose="020B0604020202020204" pitchFamily="34" charset="0"/>
              </a:rPr>
              <a:t>The Need for Databases</a:t>
            </a:r>
            <a:endParaRPr lang="en-US" altLang="zh-CN" sz="2800" b="1" dirty="0">
              <a:latin typeface="Arial" panose="020B0604020202020204" pitchFamily="34" charset="0"/>
            </a:endParaRPr>
          </a:p>
          <a:p>
            <a:r>
              <a:rPr lang="en-US" altLang="zh-CN" sz="2800" b="1" dirty="0">
                <a:latin typeface="Arial" panose="020B0604020202020204" pitchFamily="34" charset="0"/>
              </a:rPr>
              <a:t>Data Models</a:t>
            </a:r>
            <a:endParaRPr lang="en-US" altLang="zh-CN" sz="2800" b="1" dirty="0">
              <a:latin typeface="Arial" panose="020B0604020202020204" pitchFamily="34" charset="0"/>
            </a:endParaRPr>
          </a:p>
          <a:p>
            <a:r>
              <a:rPr lang="en-US" altLang="zh-CN" sz="2800" b="1" dirty="0">
                <a:latin typeface="Arial" panose="020B0604020202020204" pitchFamily="34" charset="0"/>
              </a:rPr>
              <a:t>Relational  Databases</a:t>
            </a:r>
            <a:endParaRPr lang="en-US" altLang="zh-CN" sz="2800" b="1" dirty="0">
              <a:latin typeface="Arial" panose="020B0604020202020204" pitchFamily="34" charset="0"/>
            </a:endParaRPr>
          </a:p>
          <a:p>
            <a:r>
              <a:rPr lang="en-US" altLang="zh-CN" sz="2800" b="1" dirty="0">
                <a:latin typeface="Arial" panose="020B0604020202020204" pitchFamily="34" charset="0"/>
              </a:rPr>
              <a:t>Database Design</a:t>
            </a:r>
            <a:endParaRPr lang="en-US" altLang="zh-CN" sz="2800" b="1" dirty="0">
              <a:latin typeface="Arial" panose="020B0604020202020204" pitchFamily="34" charset="0"/>
            </a:endParaRPr>
          </a:p>
          <a:p>
            <a:r>
              <a:rPr lang="en-US" altLang="zh-CN" sz="2800" b="1" dirty="0">
                <a:latin typeface="Arial" panose="020B0604020202020204" pitchFamily="34" charset="0"/>
              </a:rPr>
              <a:t>Storage Manager</a:t>
            </a:r>
            <a:endParaRPr lang="en-US" altLang="zh-CN" sz="2800" b="1" dirty="0">
              <a:latin typeface="Arial" panose="020B0604020202020204" pitchFamily="34" charset="0"/>
            </a:endParaRPr>
          </a:p>
          <a:p>
            <a:r>
              <a:rPr lang="en-US" altLang="zh-CN" sz="2800" b="1" dirty="0">
                <a:latin typeface="Arial" panose="020B0604020202020204" pitchFamily="34" charset="0"/>
              </a:rPr>
              <a:t>Query Processing</a:t>
            </a:r>
            <a:endParaRPr lang="en-US" altLang="zh-CN" sz="2800" b="1" dirty="0">
              <a:latin typeface="Arial" panose="020B0604020202020204" pitchFamily="34" charset="0"/>
            </a:endParaRPr>
          </a:p>
          <a:p>
            <a:r>
              <a:rPr lang="en-US" altLang="zh-CN" sz="2800" b="1" dirty="0">
                <a:latin typeface="Arial" panose="020B0604020202020204" pitchFamily="34" charset="0"/>
              </a:rPr>
              <a:t>Transaction Manager</a:t>
            </a:r>
            <a:endParaRPr lang="en-US" altLang="zh-CN" sz="2800" b="1" dirty="0">
              <a:latin typeface="Arial" panose="020B0604020202020204" pitchFamily="34" charset="0"/>
            </a:endParaRPr>
          </a:p>
          <a:p>
            <a:pPr>
              <a:buNone/>
            </a:pPr>
            <a:endParaRPr lang="en-US" altLang="zh-CN" sz="2800" b="1" dirty="0">
              <a:latin typeface="Arial" panose="020B0604020202020204" pitchFamily="34" charset="0"/>
            </a:endParaRPr>
          </a:p>
          <a:p>
            <a:endParaRPr lang="en-US" altLang="zh-CN" sz="2800" b="1" dirty="0">
              <a:latin typeface="Arial" panose="020B0604020202020204" pitchFamily="34" charset="0"/>
            </a:endParaRPr>
          </a:p>
          <a:p>
            <a:endParaRPr lang="zh-CN" altLang="en-US" sz="2800" b="1" dirty="0">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p:cNvSpPr>
          <p:nvPr>
            <p:ph type="title" idx="4294967295"/>
          </p:nvPr>
        </p:nvSpPr>
        <p:spPr>
          <a:xfrm>
            <a:off x="866775" y="66675"/>
            <a:ext cx="8077200" cy="609600"/>
          </a:xfrm>
        </p:spPr>
        <p:txBody>
          <a:bodyPr wrap="square" lIns="91440" tIns="45720" rIns="91440" bIns="45720" anchor="b" anchorCtr="0"/>
          <a:lstStyle/>
          <a:p>
            <a:r>
              <a:rPr lang="en-US" altLang="zh-CN" dirty="0">
                <a:effectLst/>
                <a:latin typeface="Arial" panose="020B0604020202020204" pitchFamily="34" charset="0"/>
              </a:rPr>
              <a:t>Database Management System (DBMS)</a:t>
            </a:r>
            <a:endParaRPr lang="en-US" altLang="zh-CN" dirty="0">
              <a:effectLst/>
              <a:latin typeface="Arial" panose="020B0604020202020204" pitchFamily="34" charset="0"/>
            </a:endParaRPr>
          </a:p>
        </p:txBody>
      </p:sp>
      <p:sp>
        <p:nvSpPr>
          <p:cNvPr id="9218" name="Rectangle 3"/>
          <p:cNvSpPr>
            <a:spLocks noGrp="1"/>
          </p:cNvSpPr>
          <p:nvPr>
            <p:ph type="body" idx="4294967295"/>
          </p:nvPr>
        </p:nvSpPr>
        <p:spPr>
          <a:xfrm>
            <a:off x="209550" y="1093788"/>
            <a:ext cx="8801100" cy="5291137"/>
          </a:xfrm>
        </p:spPr>
        <p:txBody>
          <a:bodyPr vert="horz" wrap="square" lIns="91440" tIns="45720" rIns="91440" bIns="45720" anchor="t" anchorCtr="0"/>
          <a:lstStyle/>
          <a:p>
            <a:r>
              <a:rPr lang="en-US" altLang="zh-CN" b="1" dirty="0">
                <a:latin typeface="Arial" panose="020B0604020202020204" pitchFamily="34" charset="0"/>
              </a:rPr>
              <a:t>DBMS contains information about a particular enterprise</a:t>
            </a:r>
            <a:endParaRPr lang="en-US" altLang="zh-CN" b="1" dirty="0">
              <a:latin typeface="Arial" panose="020B0604020202020204" pitchFamily="34" charset="0"/>
            </a:endParaRPr>
          </a:p>
          <a:p>
            <a:pPr lvl="1"/>
            <a:r>
              <a:rPr lang="en-US" altLang="zh-CN" b="1" dirty="0">
                <a:latin typeface="Arial" panose="020B0604020202020204" pitchFamily="34" charset="0"/>
              </a:rPr>
              <a:t>Collection of interrelated data</a:t>
            </a:r>
            <a:endParaRPr lang="en-US" altLang="zh-CN" b="1" dirty="0">
              <a:latin typeface="Arial" panose="020B0604020202020204" pitchFamily="34" charset="0"/>
            </a:endParaRPr>
          </a:p>
          <a:p>
            <a:pPr lvl="1"/>
            <a:r>
              <a:rPr lang="en-US" altLang="zh-CN" b="1" dirty="0">
                <a:latin typeface="Arial" panose="020B0604020202020204" pitchFamily="34" charset="0"/>
              </a:rPr>
              <a:t>Set of programs to access the data </a:t>
            </a:r>
            <a:endParaRPr lang="en-US" altLang="zh-CN" b="1" dirty="0">
              <a:latin typeface="Arial" panose="020B0604020202020204" pitchFamily="34" charset="0"/>
            </a:endParaRPr>
          </a:p>
          <a:p>
            <a:pPr lvl="1"/>
            <a:r>
              <a:rPr lang="en-US" altLang="zh-CN" b="1" dirty="0">
                <a:latin typeface="Arial" panose="020B0604020202020204" pitchFamily="34" charset="0"/>
              </a:rPr>
              <a:t>An environment that is both </a:t>
            </a:r>
            <a:r>
              <a:rPr lang="en-US" altLang="zh-CN" b="1" i="1" dirty="0">
                <a:latin typeface="Arial" panose="020B0604020202020204" pitchFamily="34" charset="0"/>
              </a:rPr>
              <a:t>convenient</a:t>
            </a:r>
            <a:r>
              <a:rPr lang="en-US" altLang="zh-CN" b="1" dirty="0">
                <a:latin typeface="Arial" panose="020B0604020202020204" pitchFamily="34" charset="0"/>
              </a:rPr>
              <a:t> and </a:t>
            </a:r>
            <a:r>
              <a:rPr lang="en-US" altLang="zh-CN" b="1" i="1" dirty="0">
                <a:latin typeface="Arial" panose="020B0604020202020204" pitchFamily="34" charset="0"/>
              </a:rPr>
              <a:t>efficient</a:t>
            </a:r>
            <a:r>
              <a:rPr lang="en-US" altLang="zh-CN" b="1" dirty="0">
                <a:latin typeface="Arial" panose="020B0604020202020204" pitchFamily="34" charset="0"/>
              </a:rPr>
              <a:t> to use</a:t>
            </a:r>
            <a:endParaRPr lang="en-US" altLang="zh-CN" b="1" dirty="0">
              <a:latin typeface="Arial" panose="020B0604020202020204" pitchFamily="34" charset="0"/>
            </a:endParaRPr>
          </a:p>
          <a:p>
            <a:r>
              <a:rPr lang="en-US" altLang="zh-CN" b="1" dirty="0">
                <a:latin typeface="Arial" panose="020B0604020202020204" pitchFamily="34" charset="0"/>
              </a:rPr>
              <a:t>Database Applications:</a:t>
            </a:r>
            <a:endParaRPr lang="en-US" altLang="zh-CN" b="1" dirty="0">
              <a:latin typeface="Arial" panose="020B0604020202020204" pitchFamily="34" charset="0"/>
            </a:endParaRPr>
          </a:p>
          <a:p>
            <a:pPr lvl="1"/>
            <a:r>
              <a:rPr lang="en-US" altLang="zh-CN" b="1" dirty="0">
                <a:latin typeface="Arial" panose="020B0604020202020204" pitchFamily="34" charset="0"/>
              </a:rPr>
              <a:t>Banking: transactions</a:t>
            </a:r>
            <a:endParaRPr lang="en-US" altLang="zh-CN" b="1" dirty="0">
              <a:latin typeface="Arial" panose="020B0604020202020204" pitchFamily="34" charset="0"/>
            </a:endParaRPr>
          </a:p>
          <a:p>
            <a:pPr lvl="1"/>
            <a:r>
              <a:rPr lang="en-US" altLang="zh-CN" b="1" dirty="0">
                <a:latin typeface="Arial" panose="020B0604020202020204" pitchFamily="34" charset="0"/>
              </a:rPr>
              <a:t>Airlines: reservations, schedules</a:t>
            </a:r>
            <a:endParaRPr lang="en-US" altLang="zh-CN" b="1" dirty="0">
              <a:latin typeface="Arial" panose="020B0604020202020204" pitchFamily="34" charset="0"/>
            </a:endParaRPr>
          </a:p>
          <a:p>
            <a:pPr lvl="1"/>
            <a:r>
              <a:rPr lang="en-US" altLang="zh-CN" b="1" dirty="0">
                <a:latin typeface="Arial" panose="020B0604020202020204" pitchFamily="34" charset="0"/>
              </a:rPr>
              <a:t>Universities:  registration, grades</a:t>
            </a:r>
            <a:endParaRPr lang="en-US" altLang="zh-CN" b="1" dirty="0">
              <a:latin typeface="Arial" panose="020B0604020202020204" pitchFamily="34" charset="0"/>
            </a:endParaRPr>
          </a:p>
          <a:p>
            <a:pPr lvl="1"/>
            <a:r>
              <a:rPr lang="en-US" altLang="zh-CN" b="1" dirty="0">
                <a:latin typeface="Arial" panose="020B0604020202020204" pitchFamily="34" charset="0"/>
              </a:rPr>
              <a:t>Sales: customers, products, purchases</a:t>
            </a:r>
            <a:endParaRPr lang="en-US" altLang="zh-CN" b="1" dirty="0">
              <a:latin typeface="Arial" panose="020B0604020202020204" pitchFamily="34" charset="0"/>
            </a:endParaRPr>
          </a:p>
          <a:p>
            <a:pPr lvl="1"/>
            <a:r>
              <a:rPr lang="en-US" altLang="zh-CN" b="1" dirty="0">
                <a:latin typeface="Arial" panose="020B0604020202020204" pitchFamily="34" charset="0"/>
              </a:rPr>
              <a:t>Online retailers: order tracking, customized recommendations</a:t>
            </a:r>
            <a:endParaRPr lang="en-US" altLang="zh-CN" b="1" dirty="0">
              <a:latin typeface="Arial" panose="020B0604020202020204" pitchFamily="34" charset="0"/>
            </a:endParaRPr>
          </a:p>
          <a:p>
            <a:pPr lvl="1"/>
            <a:r>
              <a:rPr lang="en-US" altLang="zh-CN" b="1" dirty="0">
                <a:latin typeface="Arial" panose="020B0604020202020204" pitchFamily="34" charset="0"/>
              </a:rPr>
              <a:t>Manufacturing: production, inventory, orders, supply chain</a:t>
            </a:r>
            <a:endParaRPr lang="en-US" altLang="zh-CN" b="1" dirty="0">
              <a:latin typeface="Arial" panose="020B0604020202020204" pitchFamily="34" charset="0"/>
            </a:endParaRPr>
          </a:p>
          <a:p>
            <a:pPr lvl="1"/>
            <a:r>
              <a:rPr lang="en-US" altLang="zh-CN" b="1" dirty="0">
                <a:latin typeface="Arial" panose="020B0604020202020204" pitchFamily="34" charset="0"/>
              </a:rPr>
              <a:t>Human resources:  employee records, salaries, tax deductions</a:t>
            </a:r>
            <a:endParaRPr lang="en-US" altLang="zh-CN" b="1" dirty="0">
              <a:latin typeface="Arial" panose="020B0604020202020204" pitchFamily="34" charset="0"/>
            </a:endParaRPr>
          </a:p>
          <a:p>
            <a:r>
              <a:rPr lang="en-US" altLang="zh-CN" b="1" dirty="0">
                <a:latin typeface="Arial" panose="020B0604020202020204" pitchFamily="34" charset="0"/>
              </a:rPr>
              <a:t>Databases can be very large.</a:t>
            </a:r>
            <a:endParaRPr lang="en-US" altLang="zh-CN" b="1" dirty="0">
              <a:latin typeface="Arial" panose="020B0604020202020204" pitchFamily="34" charset="0"/>
            </a:endParaRPr>
          </a:p>
          <a:p>
            <a:r>
              <a:rPr lang="en-US" altLang="zh-CN" b="1" dirty="0">
                <a:latin typeface="Arial" panose="020B0604020202020204" pitchFamily="34" charset="0"/>
              </a:rPr>
              <a:t>Databases touch all aspects of our lives</a:t>
            </a:r>
            <a:endParaRPr lang="en-US" altLang="zh-CN" b="1" dirty="0">
              <a:latin typeface="Arial" panose="020B0604020202020204" pitchFamily="34" charset="0"/>
            </a:endParaRPr>
          </a:p>
          <a:p>
            <a:endParaRPr lang="en-US" altLang="zh-CN" b="1" dirty="0">
              <a:latin typeface="Arial" panose="020B0604020202020204" pitchFamily="34" charset="0"/>
            </a:endParaRPr>
          </a:p>
          <a:p>
            <a:endParaRPr lang="en-US" altLang="zh-CN" b="1" dirty="0">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l="5719" t="27061" r="3524" b="22405"/>
          <a:stretch>
            <a:fillRect/>
          </a:stretch>
        </p:blipFill>
        <p:spPr>
          <a:xfrm>
            <a:off x="-1" y="1750979"/>
            <a:ext cx="9105089" cy="3891064"/>
          </a:xfrm>
          <a:prstGeom prst="rect">
            <a:avLst/>
          </a:prstGeom>
        </p:spPr>
      </p:pic>
      <p:sp>
        <p:nvSpPr>
          <p:cNvPr id="4" name="Rectangle 2"/>
          <p:cNvSpPr txBox="1"/>
          <p:nvPr/>
        </p:nvSpPr>
        <p:spPr bwMode="auto">
          <a:xfrm>
            <a:off x="866775" y="66675"/>
            <a:ext cx="8077200" cy="609600"/>
          </a:xfrm>
          <a:prstGeom prst="rect">
            <a:avLst/>
          </a:prstGeom>
          <a:noFill/>
          <a:ln w="9525">
            <a:noFill/>
            <a:miter lim="800000"/>
          </a:ln>
        </p:spPr>
        <p:txBody>
          <a:bodyPr vert="horz" wrap="square" lIns="91440" tIns="45720" rIns="91440" bIns="45720" numCol="1" anchor="b" anchorCtr="0" compatLnSpc="1"/>
          <a:lstStyle>
            <a:lvl1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Helvetica"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Helvetica"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Helvetica"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Helvetica" charset="0"/>
                <a:ea typeface="MS PGothic" panose="020B0600070205080204" pitchFamily="34" charset="-128"/>
                <a:cs typeface="MS PGothic" panose="020B0600070205080204" pitchFamily="34" charset="-128"/>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a:lstStyle>
          <a:p>
            <a:r>
              <a:rPr lang="zh-CN" altLang="en-US" sz="4000" kern="0" dirty="0">
                <a:effectLst/>
                <a:latin typeface="黑体" panose="02010609060101010101" pitchFamily="49" charset="-122"/>
                <a:ea typeface="黑体" panose="02010609060101010101" pitchFamily="49" charset="-122"/>
              </a:rPr>
              <a:t>数据库的基本概念</a:t>
            </a:r>
            <a:endParaRPr lang="zh-CN" altLang="en-US" sz="4000" kern="0" dirty="0">
              <a:effectLst/>
              <a:latin typeface="黑体" panose="02010609060101010101" pitchFamily="49" charset="-122"/>
              <a:ea typeface="黑体" panose="02010609060101010101"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p:cNvSpPr>
          <p:nvPr>
            <p:ph type="title" idx="4294967295"/>
          </p:nvPr>
        </p:nvSpPr>
        <p:spPr>
          <a:xfrm>
            <a:off x="768350" y="173038"/>
            <a:ext cx="8077200" cy="609600"/>
          </a:xfrm>
        </p:spPr>
        <p:txBody>
          <a:bodyPr wrap="square" lIns="91440" tIns="45720" rIns="91440" bIns="45720" anchor="b" anchorCtr="0"/>
          <a:lstStyle/>
          <a:p>
            <a:r>
              <a:rPr lang="en-US" altLang="zh-CN" sz="4000" dirty="0">
                <a:effectLst/>
                <a:latin typeface="Arial" panose="020B0604020202020204" pitchFamily="34" charset="0"/>
              </a:rPr>
              <a:t>University Database Example</a:t>
            </a:r>
            <a:endParaRPr lang="en-US" altLang="zh-CN" sz="4000" dirty="0">
              <a:effectLst/>
              <a:latin typeface="Arial" panose="020B0604020202020204" pitchFamily="34" charset="0"/>
            </a:endParaRPr>
          </a:p>
        </p:txBody>
      </p:sp>
      <p:sp>
        <p:nvSpPr>
          <p:cNvPr id="11266" name="Rectangle 3"/>
          <p:cNvSpPr>
            <a:spLocks noGrp="1"/>
          </p:cNvSpPr>
          <p:nvPr>
            <p:ph type="body" idx="4294967295"/>
          </p:nvPr>
        </p:nvSpPr>
        <p:spPr>
          <a:xfrm>
            <a:off x="115888" y="1093788"/>
            <a:ext cx="8847137" cy="4903787"/>
          </a:xfrm>
        </p:spPr>
        <p:txBody>
          <a:bodyPr vert="horz" wrap="square" lIns="91440" tIns="45720" rIns="91440" bIns="45720" anchor="t" anchorCtr="0"/>
          <a:lstStyle/>
          <a:p>
            <a:r>
              <a:rPr lang="en-US" altLang="zh-CN" sz="2800" b="1" dirty="0">
                <a:latin typeface="Arial" panose="020B0604020202020204" pitchFamily="34" charset="0"/>
              </a:rPr>
              <a:t>Application program examples</a:t>
            </a:r>
            <a:endParaRPr lang="en-US" altLang="zh-CN" sz="2800" b="1" dirty="0">
              <a:latin typeface="Arial" panose="020B0604020202020204" pitchFamily="34" charset="0"/>
            </a:endParaRPr>
          </a:p>
          <a:p>
            <a:pPr lvl="1"/>
            <a:r>
              <a:rPr lang="en-US" altLang="zh-CN" sz="2800" b="1" dirty="0">
                <a:latin typeface="Arial" panose="020B0604020202020204" pitchFamily="34" charset="0"/>
              </a:rPr>
              <a:t>Add new students, instructors, and courses</a:t>
            </a:r>
            <a:endParaRPr lang="en-US" altLang="zh-CN" sz="2800" b="1" dirty="0">
              <a:latin typeface="Arial" panose="020B0604020202020204" pitchFamily="34" charset="0"/>
            </a:endParaRPr>
          </a:p>
          <a:p>
            <a:pPr lvl="1"/>
            <a:r>
              <a:rPr lang="en-US" altLang="zh-CN" sz="2800" b="1" dirty="0">
                <a:latin typeface="Arial" panose="020B0604020202020204" pitchFamily="34" charset="0"/>
              </a:rPr>
              <a:t>Register students for courses, and generate class rosters</a:t>
            </a:r>
            <a:endParaRPr lang="en-US" altLang="zh-CN" sz="2800" b="1" dirty="0">
              <a:latin typeface="Arial" panose="020B0604020202020204" pitchFamily="34" charset="0"/>
            </a:endParaRPr>
          </a:p>
          <a:p>
            <a:pPr lvl="1"/>
            <a:r>
              <a:rPr lang="en-US" altLang="zh-CN" sz="2800" b="1" dirty="0">
                <a:latin typeface="Arial" panose="020B0604020202020204" pitchFamily="34" charset="0"/>
              </a:rPr>
              <a:t>Assign grades to students, compute grade point averages (GPA) and generate transcripts</a:t>
            </a:r>
            <a:endParaRPr lang="en-US" altLang="zh-CN" sz="2800" b="1" dirty="0">
              <a:latin typeface="Arial" panose="020B0604020202020204" pitchFamily="34" charset="0"/>
            </a:endParaRPr>
          </a:p>
          <a:p>
            <a:r>
              <a:rPr lang="en-US" altLang="zh-CN" sz="2800" b="1" dirty="0">
                <a:solidFill>
                  <a:srgbClr val="000099"/>
                </a:solidFill>
                <a:latin typeface="Arial" panose="020B0604020202020204" pitchFamily="34" charset="0"/>
              </a:rPr>
              <a:t>In the early days, database applications were built directly on top of file systems</a:t>
            </a:r>
            <a:endParaRPr lang="en-US" altLang="zh-CN" sz="2800" b="1" dirty="0">
              <a:solidFill>
                <a:srgbClr val="000099"/>
              </a:solidFill>
              <a:latin typeface="Arial" panose="020B0604020202020204" pitchFamily="34" charset="0"/>
            </a:endParaRPr>
          </a:p>
          <a:p>
            <a:pPr>
              <a:buNone/>
            </a:pPr>
            <a:endParaRPr lang="en-US" altLang="zh-CN" sz="2800" b="1" dirty="0">
              <a:latin typeface="Arial" panose="020B0604020202020204" pitchFamily="34" charset="0"/>
            </a:endParaRPr>
          </a:p>
          <a:p>
            <a:endParaRPr lang="en-US" altLang="zh-CN" sz="2800" b="1" dirty="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p:cNvSpPr>
          <p:nvPr>
            <p:ph type="title" idx="4294967295"/>
          </p:nvPr>
        </p:nvSpPr>
        <p:spPr>
          <a:xfrm>
            <a:off x="901700" y="28575"/>
            <a:ext cx="8077200" cy="609600"/>
          </a:xfrm>
        </p:spPr>
        <p:txBody>
          <a:bodyPr wrap="square" lIns="91440" tIns="45720" rIns="91440" bIns="45720" anchor="b" anchorCtr="0"/>
          <a:lstStyle/>
          <a:p>
            <a:r>
              <a:rPr lang="en-US" altLang="zh-CN" sz="2800" dirty="0">
                <a:effectLst/>
                <a:latin typeface="Arial" panose="020B0604020202020204" pitchFamily="34" charset="0"/>
              </a:rPr>
              <a:t>Drawbacks of using file systems to store data</a:t>
            </a:r>
            <a:endParaRPr lang="en-US" altLang="zh-CN" sz="2800" dirty="0">
              <a:effectLst/>
              <a:latin typeface="Arial" panose="020B0604020202020204" pitchFamily="34" charset="0"/>
            </a:endParaRPr>
          </a:p>
        </p:txBody>
      </p:sp>
      <p:sp>
        <p:nvSpPr>
          <p:cNvPr id="13314" name="Rectangle 3"/>
          <p:cNvSpPr>
            <a:spLocks noGrp="1"/>
          </p:cNvSpPr>
          <p:nvPr>
            <p:ph type="body" idx="4294967295"/>
          </p:nvPr>
        </p:nvSpPr>
        <p:spPr>
          <a:xfrm>
            <a:off x="125413" y="879475"/>
            <a:ext cx="8936037" cy="5468938"/>
          </a:xfrm>
        </p:spPr>
        <p:txBody>
          <a:bodyPr vert="horz" wrap="square" lIns="91440" tIns="45720" rIns="91440" bIns="45720" anchor="t" anchorCtr="0"/>
          <a:lstStyle/>
          <a:p>
            <a:r>
              <a:rPr lang="en-US" altLang="zh-CN" sz="2400" b="1" dirty="0">
                <a:solidFill>
                  <a:srgbClr val="000099"/>
                </a:solidFill>
                <a:latin typeface="Arial" panose="020B0604020202020204" pitchFamily="34" charset="0"/>
              </a:rPr>
              <a:t>Data redundancy and inconsistency</a:t>
            </a:r>
            <a:endParaRPr lang="en-US" altLang="zh-CN" sz="2400" b="1" dirty="0">
              <a:solidFill>
                <a:srgbClr val="000099"/>
              </a:solidFill>
              <a:latin typeface="Arial" panose="020B0604020202020204" pitchFamily="34" charset="0"/>
            </a:endParaRPr>
          </a:p>
          <a:p>
            <a:pPr lvl="1"/>
            <a:r>
              <a:rPr lang="en-US" altLang="zh-CN" sz="2400" dirty="0">
                <a:latin typeface="Arial" panose="020B0604020202020204" pitchFamily="34" charset="0"/>
              </a:rPr>
              <a:t>Multiple file formats, duplication of information in different files</a:t>
            </a:r>
            <a:endParaRPr lang="en-US" altLang="zh-CN" sz="2400" dirty="0">
              <a:latin typeface="Arial" panose="020B0604020202020204" pitchFamily="34" charset="0"/>
            </a:endParaRPr>
          </a:p>
          <a:p>
            <a:r>
              <a:rPr lang="en-US" altLang="zh-CN" sz="2400" b="1" dirty="0">
                <a:solidFill>
                  <a:srgbClr val="000099"/>
                </a:solidFill>
                <a:latin typeface="Arial" panose="020B0604020202020204" pitchFamily="34" charset="0"/>
              </a:rPr>
              <a:t>Difficulty in accessing data </a:t>
            </a:r>
            <a:endParaRPr lang="en-US" altLang="zh-CN" sz="2400" dirty="0">
              <a:latin typeface="Arial" panose="020B0604020202020204" pitchFamily="34" charset="0"/>
            </a:endParaRPr>
          </a:p>
          <a:p>
            <a:pPr lvl="1"/>
            <a:r>
              <a:rPr lang="en-US" altLang="zh-CN" sz="2400" dirty="0">
                <a:latin typeface="Arial" panose="020B0604020202020204" pitchFamily="34" charset="0"/>
              </a:rPr>
              <a:t>Need to write a new program to carry out each new task</a:t>
            </a:r>
            <a:endParaRPr lang="en-US" altLang="zh-CN" sz="2400" dirty="0">
              <a:latin typeface="Arial" panose="020B0604020202020204" pitchFamily="34" charset="0"/>
            </a:endParaRPr>
          </a:p>
          <a:p>
            <a:r>
              <a:rPr lang="en-US" altLang="zh-CN" sz="2400" b="1" dirty="0">
                <a:solidFill>
                  <a:srgbClr val="000099"/>
                </a:solidFill>
                <a:latin typeface="Arial" panose="020B0604020202020204" pitchFamily="34" charset="0"/>
              </a:rPr>
              <a:t>Data isolation </a:t>
            </a:r>
            <a:endParaRPr lang="en-US" altLang="zh-CN" sz="2400" dirty="0">
              <a:latin typeface="Arial" panose="020B0604020202020204" pitchFamily="34" charset="0"/>
            </a:endParaRPr>
          </a:p>
          <a:p>
            <a:pPr lvl="1"/>
            <a:r>
              <a:rPr lang="en-US" altLang="zh-CN" sz="2400" dirty="0">
                <a:latin typeface="Arial" panose="020B0604020202020204" pitchFamily="34" charset="0"/>
              </a:rPr>
              <a:t>Multiple files and formats</a:t>
            </a:r>
            <a:endParaRPr lang="en-US" altLang="zh-CN" sz="2400" dirty="0">
              <a:latin typeface="Arial" panose="020B0604020202020204" pitchFamily="34" charset="0"/>
            </a:endParaRPr>
          </a:p>
          <a:p>
            <a:r>
              <a:rPr lang="en-US" altLang="zh-CN" sz="2400" b="1" dirty="0">
                <a:solidFill>
                  <a:srgbClr val="000099"/>
                </a:solidFill>
                <a:latin typeface="Arial" panose="020B0604020202020204" pitchFamily="34" charset="0"/>
              </a:rPr>
              <a:t>Integrity problems</a:t>
            </a:r>
            <a:endParaRPr lang="en-US" altLang="zh-CN" sz="2400" b="1" dirty="0">
              <a:solidFill>
                <a:srgbClr val="000099"/>
              </a:solidFill>
              <a:latin typeface="Arial" panose="020B0604020202020204" pitchFamily="34" charset="0"/>
            </a:endParaRPr>
          </a:p>
          <a:p>
            <a:pPr lvl="1"/>
            <a:r>
              <a:rPr lang="en-US" altLang="zh-CN" sz="2400" dirty="0">
                <a:latin typeface="Arial" panose="020B0604020202020204" pitchFamily="34" charset="0"/>
              </a:rPr>
              <a:t>Integrity constraints  (e.g., account balance &gt; 0) become </a:t>
            </a:r>
            <a:r>
              <a:rPr lang="zh-CN" altLang="en-US" sz="2400" dirty="0">
                <a:latin typeface="Arial" panose="020B0604020202020204" pitchFamily="34" charset="0"/>
              </a:rPr>
              <a:t>“</a:t>
            </a:r>
            <a:r>
              <a:rPr lang="en-US" altLang="zh-CN" sz="2400" dirty="0">
                <a:latin typeface="Arial" panose="020B0604020202020204" pitchFamily="34" charset="0"/>
              </a:rPr>
              <a:t>buried</a:t>
            </a:r>
            <a:r>
              <a:rPr lang="zh-CN" altLang="en-US" sz="2400" dirty="0">
                <a:latin typeface="Arial" panose="020B0604020202020204" pitchFamily="34" charset="0"/>
              </a:rPr>
              <a:t>”</a:t>
            </a:r>
            <a:r>
              <a:rPr lang="en-US" altLang="zh-CN" sz="2400" dirty="0">
                <a:latin typeface="Arial" panose="020B0604020202020204" pitchFamily="34" charset="0"/>
              </a:rPr>
              <a:t> in program code rather than being stated explicitly</a:t>
            </a:r>
            <a:endParaRPr lang="en-US" altLang="zh-CN" sz="2400" dirty="0">
              <a:latin typeface="Arial" panose="020B0604020202020204" pitchFamily="34" charset="0"/>
            </a:endParaRPr>
          </a:p>
          <a:p>
            <a:pPr lvl="1"/>
            <a:r>
              <a:rPr lang="en-US" altLang="zh-CN" sz="2400" dirty="0">
                <a:latin typeface="Arial" panose="020B0604020202020204" pitchFamily="34" charset="0"/>
              </a:rPr>
              <a:t>Hard to add new constraints or change existing ones</a:t>
            </a:r>
            <a:endParaRPr lang="en-US" altLang="zh-CN" sz="2400" dirty="0">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p:cNvSpPr>
          <p:nvPr>
            <p:ph type="title" idx="4294967295"/>
          </p:nvPr>
        </p:nvSpPr>
        <p:spPr>
          <a:xfrm>
            <a:off x="827088" y="76200"/>
            <a:ext cx="8077200" cy="609600"/>
          </a:xfrm>
        </p:spPr>
        <p:txBody>
          <a:bodyPr wrap="square" lIns="91440" tIns="45720" rIns="91440" bIns="45720" anchor="b" anchorCtr="0"/>
          <a:lstStyle/>
          <a:p>
            <a:r>
              <a:rPr lang="en-US" altLang="zh-CN" sz="2400" dirty="0">
                <a:effectLst/>
                <a:latin typeface="Arial" panose="020B0604020202020204" pitchFamily="34" charset="0"/>
              </a:rPr>
              <a:t>Drawbacks of using file systems to store data (Cont.)</a:t>
            </a:r>
            <a:endParaRPr lang="en-US" altLang="zh-CN" sz="2400" dirty="0">
              <a:effectLst/>
              <a:latin typeface="Arial" panose="020B0604020202020204" pitchFamily="34" charset="0"/>
            </a:endParaRPr>
          </a:p>
        </p:txBody>
      </p:sp>
      <p:sp>
        <p:nvSpPr>
          <p:cNvPr id="15362" name="Rectangle 3"/>
          <p:cNvSpPr>
            <a:spLocks noGrp="1"/>
          </p:cNvSpPr>
          <p:nvPr>
            <p:ph type="body" idx="4294967295"/>
          </p:nvPr>
        </p:nvSpPr>
        <p:spPr>
          <a:xfrm>
            <a:off x="133350" y="903288"/>
            <a:ext cx="8818563" cy="5738812"/>
          </a:xfrm>
        </p:spPr>
        <p:txBody>
          <a:bodyPr vert="horz" wrap="square" lIns="91440" tIns="45720" rIns="91440" bIns="45720" anchor="t" anchorCtr="0"/>
          <a:lstStyle/>
          <a:p>
            <a:r>
              <a:rPr lang="en-US" altLang="zh-CN" sz="2000" b="1" dirty="0">
                <a:solidFill>
                  <a:srgbClr val="000099"/>
                </a:solidFill>
                <a:latin typeface="Arial" panose="020B0604020202020204" pitchFamily="34" charset="0"/>
              </a:rPr>
              <a:t>Atomicity of updates</a:t>
            </a:r>
            <a:endParaRPr lang="en-US" altLang="zh-CN" sz="2000" b="1" dirty="0">
              <a:solidFill>
                <a:srgbClr val="000099"/>
              </a:solidFill>
              <a:latin typeface="Arial" panose="020B0604020202020204" pitchFamily="34" charset="0"/>
            </a:endParaRPr>
          </a:p>
          <a:p>
            <a:pPr lvl="1"/>
            <a:r>
              <a:rPr lang="en-US" altLang="zh-CN" sz="2000" dirty="0">
                <a:latin typeface="Arial" panose="020B0604020202020204" pitchFamily="34" charset="0"/>
              </a:rPr>
              <a:t>Failures may leave database in an inconsistent state with partial updates carried out</a:t>
            </a:r>
            <a:endParaRPr lang="en-US" altLang="zh-CN" sz="2000" dirty="0">
              <a:latin typeface="Arial" panose="020B0604020202020204" pitchFamily="34" charset="0"/>
            </a:endParaRPr>
          </a:p>
          <a:p>
            <a:pPr lvl="1"/>
            <a:r>
              <a:rPr lang="en-US" altLang="zh-CN" sz="2000" dirty="0">
                <a:latin typeface="Arial" panose="020B0604020202020204" pitchFamily="34" charset="0"/>
              </a:rPr>
              <a:t>Example: Transfer of funds from one account to another should either complete or not happen at all</a:t>
            </a:r>
            <a:endParaRPr lang="en-US" altLang="zh-CN" sz="2000" dirty="0">
              <a:latin typeface="Arial" panose="020B0604020202020204" pitchFamily="34" charset="0"/>
            </a:endParaRPr>
          </a:p>
          <a:p>
            <a:pPr algn="l"/>
            <a:r>
              <a:rPr lang="en-US" altLang="zh-CN" sz="2000" b="1" dirty="0">
                <a:solidFill>
                  <a:srgbClr val="000099"/>
                </a:solidFill>
                <a:latin typeface="Arial" panose="020B0604020202020204" pitchFamily="34" charset="0"/>
              </a:rPr>
              <a:t>Concurrent access by multiple users</a:t>
            </a:r>
            <a:endParaRPr lang="en-US" altLang="zh-CN" sz="2000" b="1" dirty="0">
              <a:solidFill>
                <a:srgbClr val="000099"/>
              </a:solidFill>
              <a:latin typeface="Arial" panose="020B0604020202020204" pitchFamily="34" charset="0"/>
            </a:endParaRPr>
          </a:p>
          <a:p>
            <a:pPr lvl="1"/>
            <a:r>
              <a:rPr lang="en-US" altLang="zh-CN" sz="2000" b="1" dirty="0">
                <a:latin typeface="Arial" panose="020B0604020202020204" pitchFamily="34" charset="0"/>
              </a:rPr>
              <a:t>Concurrent access needed for performance</a:t>
            </a:r>
            <a:endParaRPr lang="en-US" altLang="zh-CN" sz="2000" b="1" dirty="0">
              <a:latin typeface="Arial" panose="020B0604020202020204" pitchFamily="34" charset="0"/>
            </a:endParaRPr>
          </a:p>
          <a:p>
            <a:pPr lvl="1"/>
            <a:r>
              <a:rPr lang="en-US" altLang="zh-CN" sz="2000" b="1" dirty="0">
                <a:latin typeface="Arial" panose="020B0604020202020204" pitchFamily="34" charset="0"/>
              </a:rPr>
              <a:t>Uncontrolled concurrent accesses can lead to inconsistencies</a:t>
            </a:r>
            <a:endParaRPr lang="en-US" altLang="zh-CN" sz="2000" b="1" dirty="0">
              <a:latin typeface="Arial" panose="020B0604020202020204" pitchFamily="34" charset="0"/>
            </a:endParaRPr>
          </a:p>
          <a:p>
            <a:pPr lvl="2"/>
            <a:r>
              <a:rPr lang="en-US" altLang="zh-CN" sz="2000" b="1" dirty="0">
                <a:latin typeface="Arial" panose="020B0604020202020204" pitchFamily="34" charset="0"/>
              </a:rPr>
              <a:t>Example: Two people reading a balance (say 100) and updating it by withdrawing money (say 50 each) at the same time</a:t>
            </a:r>
            <a:endParaRPr lang="en-US" altLang="zh-CN" sz="2000" b="1" dirty="0">
              <a:latin typeface="Arial" panose="020B0604020202020204" pitchFamily="34" charset="0"/>
            </a:endParaRPr>
          </a:p>
          <a:p>
            <a:pPr algn="l"/>
            <a:r>
              <a:rPr lang="en-US" altLang="zh-CN" sz="2000" b="1" dirty="0">
                <a:solidFill>
                  <a:srgbClr val="000099"/>
                </a:solidFill>
                <a:latin typeface="Arial" panose="020B0604020202020204" pitchFamily="34" charset="0"/>
              </a:rPr>
              <a:t>Security problems</a:t>
            </a:r>
            <a:endParaRPr lang="en-US" altLang="zh-CN" sz="2000" b="1" dirty="0">
              <a:solidFill>
                <a:srgbClr val="000099"/>
              </a:solidFill>
              <a:latin typeface="Arial" panose="020B0604020202020204" pitchFamily="34" charset="0"/>
            </a:endParaRPr>
          </a:p>
          <a:p>
            <a:pPr lvl="1"/>
            <a:r>
              <a:rPr lang="en-US" altLang="zh-CN" sz="2000" b="1" dirty="0">
                <a:latin typeface="Arial" panose="020B0604020202020204" pitchFamily="34" charset="0"/>
              </a:rPr>
              <a:t>Hard to provide user access to some, but not all, data</a:t>
            </a:r>
            <a:endParaRPr lang="en-US" altLang="zh-CN" sz="2000" b="1" dirty="0">
              <a:latin typeface="Arial" panose="020B0604020202020204" pitchFamily="34" charset="0"/>
            </a:endParaRPr>
          </a:p>
          <a:p>
            <a:pPr>
              <a:buNone/>
            </a:pPr>
            <a:r>
              <a:rPr lang="en-US" altLang="zh-CN" sz="2000" b="1" dirty="0">
                <a:solidFill>
                  <a:srgbClr val="FF0000"/>
                </a:solidFill>
                <a:latin typeface="Arial" panose="020B0604020202020204" pitchFamily="34" charset="0"/>
              </a:rPr>
              <a:t>Database systems offer solutions to all the above problems</a:t>
            </a:r>
            <a:endParaRPr lang="en-US" altLang="zh-CN" sz="2000" b="1" dirty="0">
              <a:solidFill>
                <a:srgbClr val="FF0000"/>
              </a:solidFill>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l="3923" t="24136" r="3523" b="18950"/>
          <a:stretch>
            <a:fillRect/>
          </a:stretch>
        </p:blipFill>
        <p:spPr>
          <a:xfrm>
            <a:off x="77820" y="1536970"/>
            <a:ext cx="9027269" cy="4163439"/>
          </a:xfrm>
          <a:prstGeom prst="rect">
            <a:avLst/>
          </a:prstGeom>
        </p:spPr>
      </p:pic>
      <p:sp>
        <p:nvSpPr>
          <p:cNvPr id="3" name="Rectangle 2"/>
          <p:cNvSpPr txBox="1"/>
          <p:nvPr/>
        </p:nvSpPr>
        <p:spPr bwMode="auto">
          <a:xfrm>
            <a:off x="827088" y="76200"/>
            <a:ext cx="8077200" cy="609600"/>
          </a:xfrm>
          <a:prstGeom prst="rect">
            <a:avLst/>
          </a:prstGeom>
          <a:noFill/>
          <a:ln w="9525">
            <a:noFill/>
            <a:miter lim="800000"/>
          </a:ln>
        </p:spPr>
        <p:txBody>
          <a:bodyPr vert="horz" wrap="square" lIns="91440" tIns="45720" rIns="91440" bIns="45720" numCol="1" anchor="b" anchorCtr="0" compatLnSpc="1"/>
          <a:lstStyle>
            <a:lvl1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Helvetica"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Helvetica"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Helvetica"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Helvetica" charset="0"/>
                <a:ea typeface="MS PGothic" panose="020B0600070205080204" pitchFamily="34" charset="-128"/>
                <a:cs typeface="MS PGothic" panose="020B0600070205080204" pitchFamily="34" charset="-128"/>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a:lstStyle>
          <a:p>
            <a:r>
              <a:rPr lang="zh-CN" altLang="en-US" sz="3600" kern="0" dirty="0">
                <a:effectLst/>
                <a:latin typeface="黑体" panose="02010609060101010101" pitchFamily="49" charset="-122"/>
                <a:ea typeface="黑体" panose="02010609060101010101" pitchFamily="49" charset="-122"/>
              </a:rPr>
              <a:t>数据管理的三个阶段</a:t>
            </a:r>
            <a:endParaRPr lang="zh-CN" altLang="en-US" sz="3600" kern="0" dirty="0">
              <a:effectLst/>
              <a:latin typeface="黑体" panose="02010609060101010101" pitchFamily="49" charset="-122"/>
              <a:ea typeface="黑体" panose="02010609060101010101"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a:xfrm>
            <a:off x="768350" y="0"/>
            <a:ext cx="8077200" cy="908050"/>
          </a:xfrm>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4800" b="1" i="0" u="none" strike="noStrike" kern="0" cap="none" spc="0" normalizeH="0" baseline="0" noProof="1">
                <a:ln>
                  <a:noFill/>
                </a:ln>
                <a:solidFill>
                  <a:schemeClr val="tx2"/>
                </a:solidFill>
                <a:effectLst>
                  <a:outerShdw blurRad="38100" dist="38100" dir="2700000">
                    <a:srgbClr val="C0C0C0"/>
                  </a:outerShdw>
                </a:effectLst>
                <a:uLnTx/>
                <a:uFillTx/>
                <a:latin typeface="黑体" panose="02010609060101010101" pitchFamily="49" charset="-122"/>
                <a:ea typeface="黑体" panose="02010609060101010101" pitchFamily="49" charset="-122"/>
                <a:cs typeface="MS PGothic" panose="020B0600070205080204" pitchFamily="34" charset="-128"/>
              </a:rPr>
              <a:t>文件系统阶段</a:t>
            </a:r>
            <a:endParaRPr kumimoji="1" lang="zh-CN" altLang="en-US" sz="4800" b="1" i="0" u="none" strike="noStrike" kern="0" cap="none" spc="0" normalizeH="0" baseline="0" noProof="1">
              <a:ln>
                <a:noFill/>
              </a:ln>
              <a:solidFill>
                <a:schemeClr val="tx2"/>
              </a:solidFill>
              <a:effectLst>
                <a:outerShdw blurRad="38100" dist="38100" dir="2700000">
                  <a:srgbClr val="C0C0C0"/>
                </a:outerShdw>
              </a:effectLst>
              <a:uLnTx/>
              <a:uFillTx/>
              <a:latin typeface="黑体" panose="02010609060101010101" pitchFamily="49" charset="-122"/>
              <a:ea typeface="黑体" panose="02010609060101010101" pitchFamily="49" charset="-122"/>
              <a:cs typeface="MS PGothic" panose="020B0600070205080204" pitchFamily="34" charset="-128"/>
            </a:endParaRPr>
          </a:p>
        </p:txBody>
      </p:sp>
      <p:grpSp>
        <p:nvGrpSpPr>
          <p:cNvPr id="17410" name="Group 3"/>
          <p:cNvGrpSpPr/>
          <p:nvPr/>
        </p:nvGrpSpPr>
        <p:grpSpPr>
          <a:xfrm>
            <a:off x="871538" y="1535113"/>
            <a:ext cx="7407275" cy="4719637"/>
            <a:chOff x="432" y="660"/>
            <a:chExt cx="4993" cy="3300"/>
          </a:xfrm>
        </p:grpSpPr>
        <p:sp>
          <p:nvSpPr>
            <p:cNvPr id="203780" name="Rectangle 4"/>
            <p:cNvSpPr>
              <a:spLocks noChangeArrowheads="1"/>
            </p:cNvSpPr>
            <p:nvPr/>
          </p:nvSpPr>
          <p:spPr bwMode="auto">
            <a:xfrm>
              <a:off x="3292" y="1044"/>
              <a:ext cx="549" cy="287"/>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charset="0"/>
                <a:buNone/>
                <a:defRPr/>
              </a:pPr>
              <a:r>
                <a:rPr kumimoji="0" lang="zh-CN" altLang="en-US" sz="2000" b="1"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补贴</a:t>
              </a:r>
              <a:endParaRPr kumimoji="0" lang="zh-CN" altLang="en-US" sz="2000" b="1"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03781" name="Rectangle 5"/>
            <p:cNvSpPr>
              <a:spLocks noChangeArrowheads="1"/>
            </p:cNvSpPr>
            <p:nvPr/>
          </p:nvSpPr>
          <p:spPr bwMode="auto">
            <a:xfrm>
              <a:off x="2744" y="1044"/>
              <a:ext cx="548" cy="287"/>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1200" cap="none" spc="0" normalizeH="0" baseline="0" noProof="1">
                  <a:ln>
                    <a:noFill/>
                  </a:ln>
                  <a:solidFill>
                    <a:srgbClr val="000099"/>
                  </a:solidFill>
                  <a:effectLst>
                    <a:outerShdw blurRad="38100" dist="38100" dir="2700000">
                      <a:srgbClr val="C0C0C0"/>
                    </a:outerShdw>
                  </a:effectLst>
                  <a:uLnTx/>
                  <a:uFillTx/>
                  <a:latin typeface="Arial" panose="020B0604020202020204" pitchFamily="34" charset="0"/>
                  <a:ea typeface="幼圆" panose="02010509060101010101" pitchFamily="49" charset="-122"/>
                  <a:cs typeface="+mn-cs"/>
                </a:rPr>
                <a:t>系别</a:t>
              </a:r>
              <a:endParaRPr kumimoji="0" lang="zh-CN" altLang="en-US" sz="2000" b="1" i="0" u="none" strike="noStrike" kern="1200" cap="none" spc="0" normalizeH="0" baseline="0" noProof="1">
                <a:ln>
                  <a:noFill/>
                </a:ln>
                <a:solidFill>
                  <a:srgbClr val="000099"/>
                </a:solidFill>
                <a:effectLst>
                  <a:outerShdw blurRad="38100" dist="38100" dir="2700000">
                    <a:srgbClr val="C0C0C0"/>
                  </a:outerShdw>
                </a:effectLst>
                <a:uLnTx/>
                <a:uFillTx/>
                <a:latin typeface="Arial" panose="020B0604020202020204" pitchFamily="34" charset="0"/>
                <a:ea typeface="幼圆" panose="02010509060101010101" pitchFamily="49" charset="-122"/>
                <a:cs typeface="+mn-cs"/>
              </a:endParaRPr>
            </a:p>
          </p:txBody>
        </p:sp>
        <p:sp>
          <p:nvSpPr>
            <p:cNvPr id="203782" name="Rectangle 6"/>
            <p:cNvSpPr>
              <a:spLocks noChangeArrowheads="1"/>
            </p:cNvSpPr>
            <p:nvPr/>
          </p:nvSpPr>
          <p:spPr bwMode="auto">
            <a:xfrm>
              <a:off x="2195" y="1044"/>
              <a:ext cx="549" cy="287"/>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charset="0"/>
                <a:buNone/>
                <a:defRPr/>
              </a:pPr>
              <a:r>
                <a:rPr kumimoji="0" lang="zh-CN" altLang="en-US" sz="2000" b="1" i="0" u="none" strike="noStrike" kern="1200" cap="none" spc="0" normalizeH="0" baseline="0" noProof="0">
                  <a:ln>
                    <a:noFill/>
                  </a:ln>
                  <a:solidFill>
                    <a:srgbClr val="336600"/>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姓名</a:t>
              </a:r>
              <a:endParaRPr kumimoji="0" lang="zh-CN" altLang="en-US" sz="2000" b="1" i="0" u="none" strike="noStrike" kern="1200" cap="none" spc="0" normalizeH="0" baseline="0" noProof="0">
                <a:ln>
                  <a:noFill/>
                </a:ln>
                <a:solidFill>
                  <a:srgbClr val="336600"/>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03783" name="Rectangle 7"/>
            <p:cNvSpPr>
              <a:spLocks noChangeArrowheads="1"/>
            </p:cNvSpPr>
            <p:nvPr/>
          </p:nvSpPr>
          <p:spPr bwMode="auto">
            <a:xfrm>
              <a:off x="1647" y="1044"/>
              <a:ext cx="549" cy="287"/>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charset="0"/>
                <a:buNone/>
                <a:defRPr/>
              </a:pPr>
              <a:r>
                <a:rPr kumimoji="0" lang="zh-CN" altLang="en-US" sz="2000" b="1" i="0" u="none" strike="noStrike" kern="1200" cap="none" spc="0" normalizeH="0" baseline="0" noProof="0">
                  <a:ln>
                    <a:noFill/>
                  </a:ln>
                  <a:solidFill>
                    <a:srgbClr val="FF3300"/>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学号</a:t>
              </a:r>
              <a:endParaRPr kumimoji="0" lang="zh-CN" altLang="en-US" sz="2000" b="1" i="0" u="none" strike="noStrike" kern="1200" cap="none" spc="0" normalizeH="0" baseline="0" noProof="0">
                <a:ln>
                  <a:noFill/>
                </a:ln>
                <a:solidFill>
                  <a:srgbClr val="FF3300"/>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17415" name="Line 8"/>
            <p:cNvSpPr/>
            <p:nvPr/>
          </p:nvSpPr>
          <p:spPr>
            <a:xfrm>
              <a:off x="1647" y="1044"/>
              <a:ext cx="2196" cy="0"/>
            </a:xfrm>
            <a:prstGeom prst="line">
              <a:avLst/>
            </a:prstGeom>
            <a:ln w="28575" cap="sq" cmpd="sng">
              <a:solidFill>
                <a:schemeClr val="tx1"/>
              </a:solidFill>
              <a:prstDash val="solid"/>
              <a:miter/>
              <a:headEnd type="none" w="med" len="med"/>
              <a:tailEnd type="none" w="med" len="med"/>
            </a:ln>
          </p:spPr>
        </p:sp>
        <p:sp>
          <p:nvSpPr>
            <p:cNvPr id="17416" name="Line 9"/>
            <p:cNvSpPr/>
            <p:nvPr/>
          </p:nvSpPr>
          <p:spPr>
            <a:xfrm>
              <a:off x="1647" y="1332"/>
              <a:ext cx="2196" cy="0"/>
            </a:xfrm>
            <a:prstGeom prst="line">
              <a:avLst/>
            </a:prstGeom>
            <a:ln w="28575" cap="sq" cmpd="sng">
              <a:solidFill>
                <a:schemeClr val="tx1"/>
              </a:solidFill>
              <a:prstDash val="solid"/>
              <a:miter/>
              <a:headEnd type="none" w="med" len="med"/>
              <a:tailEnd type="none" w="med" len="med"/>
            </a:ln>
          </p:spPr>
        </p:sp>
        <p:sp>
          <p:nvSpPr>
            <p:cNvPr id="17417" name="Line 10"/>
            <p:cNvSpPr/>
            <p:nvPr/>
          </p:nvSpPr>
          <p:spPr>
            <a:xfrm>
              <a:off x="1647" y="1044"/>
              <a:ext cx="0" cy="287"/>
            </a:xfrm>
            <a:prstGeom prst="line">
              <a:avLst/>
            </a:prstGeom>
            <a:ln w="28575" cap="sq" cmpd="sng">
              <a:solidFill>
                <a:schemeClr val="tx1"/>
              </a:solidFill>
              <a:prstDash val="solid"/>
              <a:miter/>
              <a:headEnd type="none" w="med" len="med"/>
              <a:tailEnd type="none" w="med" len="med"/>
            </a:ln>
          </p:spPr>
        </p:sp>
        <p:sp>
          <p:nvSpPr>
            <p:cNvPr id="17418" name="Line 11"/>
            <p:cNvSpPr/>
            <p:nvPr/>
          </p:nvSpPr>
          <p:spPr>
            <a:xfrm>
              <a:off x="2195" y="1044"/>
              <a:ext cx="0" cy="287"/>
            </a:xfrm>
            <a:prstGeom prst="line">
              <a:avLst/>
            </a:prstGeom>
            <a:ln w="12700" cap="flat" cmpd="sng">
              <a:solidFill>
                <a:schemeClr val="tx1"/>
              </a:solidFill>
              <a:prstDash val="solid"/>
              <a:miter/>
              <a:headEnd type="none" w="med" len="med"/>
              <a:tailEnd type="none" w="med" len="med"/>
            </a:ln>
          </p:spPr>
        </p:sp>
        <p:sp>
          <p:nvSpPr>
            <p:cNvPr id="17419" name="Line 12"/>
            <p:cNvSpPr/>
            <p:nvPr/>
          </p:nvSpPr>
          <p:spPr>
            <a:xfrm>
              <a:off x="2744" y="1044"/>
              <a:ext cx="0" cy="287"/>
            </a:xfrm>
            <a:prstGeom prst="line">
              <a:avLst/>
            </a:prstGeom>
            <a:ln w="12700" cap="flat" cmpd="sng">
              <a:solidFill>
                <a:schemeClr val="tx1"/>
              </a:solidFill>
              <a:prstDash val="solid"/>
              <a:miter/>
              <a:headEnd type="none" w="med" len="med"/>
              <a:tailEnd type="none" w="med" len="med"/>
            </a:ln>
          </p:spPr>
        </p:sp>
        <p:sp>
          <p:nvSpPr>
            <p:cNvPr id="17420" name="Line 13"/>
            <p:cNvSpPr/>
            <p:nvPr/>
          </p:nvSpPr>
          <p:spPr>
            <a:xfrm>
              <a:off x="3292" y="1044"/>
              <a:ext cx="0" cy="287"/>
            </a:xfrm>
            <a:prstGeom prst="line">
              <a:avLst/>
            </a:prstGeom>
            <a:ln w="12700" cap="flat" cmpd="sng">
              <a:solidFill>
                <a:schemeClr val="tx1"/>
              </a:solidFill>
              <a:prstDash val="solid"/>
              <a:miter/>
              <a:headEnd type="none" w="med" len="med"/>
              <a:tailEnd type="none" w="med" len="med"/>
            </a:ln>
          </p:spPr>
        </p:sp>
        <p:sp>
          <p:nvSpPr>
            <p:cNvPr id="17421" name="Line 14"/>
            <p:cNvSpPr/>
            <p:nvPr/>
          </p:nvSpPr>
          <p:spPr>
            <a:xfrm>
              <a:off x="3841" y="1044"/>
              <a:ext cx="0" cy="287"/>
            </a:xfrm>
            <a:prstGeom prst="line">
              <a:avLst/>
            </a:prstGeom>
            <a:ln w="28575" cap="sq" cmpd="sng">
              <a:solidFill>
                <a:schemeClr val="tx1"/>
              </a:solidFill>
              <a:prstDash val="solid"/>
              <a:miter/>
              <a:headEnd type="none" w="med" len="med"/>
              <a:tailEnd type="none" w="med" len="med"/>
            </a:ln>
          </p:spPr>
        </p:sp>
        <p:sp>
          <p:nvSpPr>
            <p:cNvPr id="203791" name="Rectangle 15"/>
            <p:cNvSpPr>
              <a:spLocks noChangeArrowheads="1"/>
            </p:cNvSpPr>
            <p:nvPr/>
          </p:nvSpPr>
          <p:spPr bwMode="auto">
            <a:xfrm>
              <a:off x="438" y="1044"/>
              <a:ext cx="912" cy="384"/>
            </a:xfrm>
            <a:prstGeom prst="rect">
              <a:avLst/>
            </a:prstGeom>
            <a:solidFill>
              <a:schemeClr val="accent1"/>
            </a:solidFill>
            <a:ln w="9525">
              <a:miter lim="800000"/>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1">
                  <a:ln>
                    <a:noFill/>
                  </a:ln>
                  <a:solidFill>
                    <a:schemeClr val="bg1"/>
                  </a:solidFill>
                  <a:effectLst>
                    <a:outerShdw blurRad="38100" dist="38100" dir="2700000">
                      <a:srgbClr val="C0C0C0"/>
                    </a:outerShdw>
                  </a:effectLst>
                  <a:uLnTx/>
                  <a:uFillTx/>
                  <a:latin typeface="Tahoma" panose="020B0604030504040204" pitchFamily="34" charset="0"/>
                  <a:ea typeface="幼圆" panose="02010509060101010101" pitchFamily="49" charset="-122"/>
                  <a:cs typeface="+mn-cs"/>
                </a:rPr>
                <a:t>劳资科</a:t>
              </a:r>
              <a:endParaRPr kumimoji="0" lang="zh-CN" altLang="en-US" sz="2000" b="1" i="0" u="none" strike="noStrike" kern="1200" cap="none" spc="0" normalizeH="0" baseline="0" noProof="1">
                <a:ln>
                  <a:noFill/>
                </a:ln>
                <a:solidFill>
                  <a:schemeClr val="bg1"/>
                </a:solidFill>
                <a:effectLst>
                  <a:outerShdw blurRad="38100" dist="38100" dir="2700000">
                    <a:srgbClr val="C0C0C0"/>
                  </a:outerShdw>
                </a:effectLst>
                <a:uLnTx/>
                <a:uFillTx/>
                <a:latin typeface="Tahoma" panose="020B0604030504040204" pitchFamily="34" charset="0"/>
                <a:ea typeface="幼圆" panose="02010509060101010101" pitchFamily="49" charset="-122"/>
                <a:cs typeface="+mn-cs"/>
              </a:endParaRPr>
            </a:p>
          </p:txBody>
        </p:sp>
        <p:pic>
          <p:nvPicPr>
            <p:cNvPr id="17423" name="Picture 16" descr="j0211470"/>
            <p:cNvPicPr>
              <a:picLocks noChangeAspect="1"/>
            </p:cNvPicPr>
            <p:nvPr/>
          </p:nvPicPr>
          <p:blipFill>
            <a:blip r:embed="rId1"/>
            <a:stretch>
              <a:fillRect/>
            </a:stretch>
          </p:blipFill>
          <p:spPr>
            <a:xfrm flipV="1">
              <a:off x="630" y="660"/>
              <a:ext cx="528" cy="506"/>
            </a:xfrm>
            <a:prstGeom prst="rect">
              <a:avLst/>
            </a:prstGeom>
            <a:noFill/>
            <a:ln w="9525">
              <a:noFill/>
            </a:ln>
          </p:spPr>
        </p:pic>
        <p:grpSp>
          <p:nvGrpSpPr>
            <p:cNvPr id="17424" name="Group 17"/>
            <p:cNvGrpSpPr/>
            <p:nvPr/>
          </p:nvGrpSpPr>
          <p:grpSpPr>
            <a:xfrm>
              <a:off x="432" y="2376"/>
              <a:ext cx="3943" cy="768"/>
              <a:chOff x="432" y="1524"/>
              <a:chExt cx="3943" cy="768"/>
            </a:xfrm>
          </p:grpSpPr>
          <p:sp>
            <p:nvSpPr>
              <p:cNvPr id="203794" name="Rectangle 18"/>
              <p:cNvSpPr>
                <a:spLocks noChangeArrowheads="1"/>
              </p:cNvSpPr>
              <p:nvPr/>
            </p:nvSpPr>
            <p:spPr bwMode="auto">
              <a:xfrm>
                <a:off x="3827" y="1908"/>
                <a:ext cx="548" cy="289"/>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charset="0"/>
                  <a:buNone/>
                  <a:defRPr/>
                </a:pPr>
                <a:r>
                  <a:rPr kumimoji="0" lang="zh-CN" altLang="en-US" sz="2000" b="1"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住址</a:t>
                </a:r>
                <a:endParaRPr kumimoji="0" lang="zh-CN" altLang="en-US" sz="2000" b="1"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03795" name="Rectangle 19"/>
              <p:cNvSpPr>
                <a:spLocks noChangeArrowheads="1"/>
              </p:cNvSpPr>
              <p:nvPr/>
            </p:nvSpPr>
            <p:spPr bwMode="auto">
              <a:xfrm>
                <a:off x="3279" y="1908"/>
                <a:ext cx="548" cy="289"/>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1200" cap="none" spc="0" normalizeH="0" baseline="0" noProof="1">
                    <a:ln>
                      <a:noFill/>
                    </a:ln>
                    <a:solidFill>
                      <a:srgbClr val="990033"/>
                    </a:solidFill>
                    <a:effectLst>
                      <a:outerShdw blurRad="38100" dist="38100" dir="2700000">
                        <a:srgbClr val="C0C0C0"/>
                      </a:outerShdw>
                    </a:effectLst>
                    <a:uLnTx/>
                    <a:uFillTx/>
                    <a:latin typeface="Arial" panose="020B0604020202020204" pitchFamily="34" charset="0"/>
                    <a:ea typeface="幼圆" panose="02010509060101010101" pitchFamily="49" charset="-122"/>
                    <a:cs typeface="+mn-cs"/>
                  </a:rPr>
                  <a:t>性别</a:t>
                </a:r>
                <a:endParaRPr kumimoji="0" lang="zh-CN" altLang="en-US" sz="2000" b="1" i="0" u="none" strike="noStrike" kern="1200" cap="none" spc="0" normalizeH="0" baseline="0" noProof="1">
                  <a:ln>
                    <a:noFill/>
                  </a:ln>
                  <a:solidFill>
                    <a:srgbClr val="990033"/>
                  </a:solidFill>
                  <a:effectLst>
                    <a:outerShdw blurRad="38100" dist="38100" dir="2700000">
                      <a:srgbClr val="C0C0C0"/>
                    </a:outerShdw>
                  </a:effectLst>
                  <a:uLnTx/>
                  <a:uFillTx/>
                  <a:latin typeface="Arial" panose="020B0604020202020204" pitchFamily="34" charset="0"/>
                  <a:ea typeface="幼圆" panose="02010509060101010101" pitchFamily="49" charset="-122"/>
                  <a:cs typeface="+mn-cs"/>
                </a:endParaRPr>
              </a:p>
            </p:txBody>
          </p:sp>
          <p:sp>
            <p:nvSpPr>
              <p:cNvPr id="203796" name="Rectangle 20"/>
              <p:cNvSpPr>
                <a:spLocks noChangeArrowheads="1"/>
              </p:cNvSpPr>
              <p:nvPr/>
            </p:nvSpPr>
            <p:spPr bwMode="auto">
              <a:xfrm>
                <a:off x="2733" y="1908"/>
                <a:ext cx="549" cy="289"/>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1200" cap="none" spc="0" normalizeH="0" baseline="0" noProof="1">
                    <a:ln>
                      <a:noFill/>
                    </a:ln>
                    <a:solidFill>
                      <a:srgbClr val="000099"/>
                    </a:solidFill>
                    <a:effectLst>
                      <a:outerShdw blurRad="38100" dist="38100" dir="2700000">
                        <a:srgbClr val="C0C0C0"/>
                      </a:outerShdw>
                    </a:effectLst>
                    <a:uLnTx/>
                    <a:uFillTx/>
                    <a:latin typeface="Arial" panose="020B0604020202020204" pitchFamily="34" charset="0"/>
                    <a:ea typeface="幼圆" panose="02010509060101010101" pitchFamily="49" charset="-122"/>
                    <a:cs typeface="+mn-cs"/>
                  </a:rPr>
                  <a:t>系别</a:t>
                </a:r>
                <a:endParaRPr kumimoji="0" lang="zh-CN" altLang="en-US" sz="2000" b="1" i="0" u="none" strike="noStrike" kern="1200" cap="none" spc="0" normalizeH="0" baseline="0" noProof="1">
                  <a:ln>
                    <a:noFill/>
                  </a:ln>
                  <a:solidFill>
                    <a:srgbClr val="000099"/>
                  </a:solidFill>
                  <a:effectLst>
                    <a:outerShdw blurRad="38100" dist="38100" dir="2700000">
                      <a:srgbClr val="C0C0C0"/>
                    </a:outerShdw>
                  </a:effectLst>
                  <a:uLnTx/>
                  <a:uFillTx/>
                  <a:latin typeface="Arial" panose="020B0604020202020204" pitchFamily="34" charset="0"/>
                  <a:ea typeface="幼圆" panose="02010509060101010101" pitchFamily="49" charset="-122"/>
                  <a:cs typeface="+mn-cs"/>
                </a:endParaRPr>
              </a:p>
            </p:txBody>
          </p:sp>
          <p:sp>
            <p:nvSpPr>
              <p:cNvPr id="203797" name="Rectangle 21"/>
              <p:cNvSpPr>
                <a:spLocks noChangeArrowheads="1"/>
              </p:cNvSpPr>
              <p:nvPr/>
            </p:nvSpPr>
            <p:spPr bwMode="auto">
              <a:xfrm>
                <a:off x="2182" y="1908"/>
                <a:ext cx="551" cy="289"/>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charset="0"/>
                  <a:buNone/>
                  <a:defRPr/>
                </a:pPr>
                <a:r>
                  <a:rPr kumimoji="0" lang="zh-CN" altLang="en-US" sz="2000" b="1" i="0" u="none" strike="noStrike" kern="1200" cap="none" spc="0" normalizeH="0" baseline="0" noProof="0">
                    <a:ln>
                      <a:noFill/>
                    </a:ln>
                    <a:solidFill>
                      <a:srgbClr val="336600"/>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姓名</a:t>
                </a:r>
                <a:endParaRPr kumimoji="0" lang="zh-CN" altLang="en-US" sz="2000" b="1" i="0" u="none" strike="noStrike" kern="1200" cap="none" spc="0" normalizeH="0" baseline="0" noProof="0">
                  <a:ln>
                    <a:noFill/>
                  </a:ln>
                  <a:solidFill>
                    <a:srgbClr val="336600"/>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03798" name="Rectangle 22"/>
              <p:cNvSpPr>
                <a:spLocks noChangeArrowheads="1"/>
              </p:cNvSpPr>
              <p:nvPr/>
            </p:nvSpPr>
            <p:spPr bwMode="auto">
              <a:xfrm>
                <a:off x="1633" y="1908"/>
                <a:ext cx="549" cy="289"/>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charset="0"/>
                  <a:buNone/>
                  <a:defRPr/>
                </a:pPr>
                <a:r>
                  <a:rPr kumimoji="0" lang="zh-CN" altLang="en-US" sz="2000" b="1" i="0" u="none" strike="noStrike" kern="1200" cap="none" spc="0" normalizeH="0" baseline="0" noProof="0">
                    <a:ln>
                      <a:noFill/>
                    </a:ln>
                    <a:solidFill>
                      <a:srgbClr val="FF3300"/>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学号</a:t>
                </a:r>
                <a:endParaRPr kumimoji="0" lang="zh-CN" altLang="en-US" sz="2000" b="1" i="0" u="none" strike="noStrike" kern="1200" cap="none" spc="0" normalizeH="0" baseline="0" noProof="0">
                  <a:ln>
                    <a:noFill/>
                  </a:ln>
                  <a:solidFill>
                    <a:srgbClr val="FF3300"/>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17430" name="Line 23"/>
              <p:cNvSpPr/>
              <p:nvPr/>
            </p:nvSpPr>
            <p:spPr>
              <a:xfrm>
                <a:off x="1633" y="1908"/>
                <a:ext cx="2744" cy="0"/>
              </a:xfrm>
              <a:prstGeom prst="line">
                <a:avLst/>
              </a:prstGeom>
              <a:ln w="28575" cap="sq" cmpd="sng">
                <a:solidFill>
                  <a:schemeClr val="tx1"/>
                </a:solidFill>
                <a:prstDash val="solid"/>
                <a:miter/>
                <a:headEnd type="none" w="med" len="med"/>
                <a:tailEnd type="none" w="med" len="med"/>
              </a:ln>
            </p:spPr>
          </p:sp>
          <p:sp>
            <p:nvSpPr>
              <p:cNvPr id="17431" name="Line 24"/>
              <p:cNvSpPr/>
              <p:nvPr/>
            </p:nvSpPr>
            <p:spPr>
              <a:xfrm>
                <a:off x="1633" y="2197"/>
                <a:ext cx="2744" cy="0"/>
              </a:xfrm>
              <a:prstGeom prst="line">
                <a:avLst/>
              </a:prstGeom>
              <a:ln w="28575" cap="sq" cmpd="sng">
                <a:solidFill>
                  <a:schemeClr val="tx1"/>
                </a:solidFill>
                <a:prstDash val="solid"/>
                <a:miter/>
                <a:headEnd type="none" w="med" len="med"/>
                <a:tailEnd type="none" w="med" len="med"/>
              </a:ln>
            </p:spPr>
          </p:sp>
          <p:sp>
            <p:nvSpPr>
              <p:cNvPr id="17432" name="Line 25"/>
              <p:cNvSpPr/>
              <p:nvPr/>
            </p:nvSpPr>
            <p:spPr>
              <a:xfrm>
                <a:off x="1633" y="1908"/>
                <a:ext cx="0" cy="289"/>
              </a:xfrm>
              <a:prstGeom prst="line">
                <a:avLst/>
              </a:prstGeom>
              <a:ln w="28575" cap="sq" cmpd="sng">
                <a:solidFill>
                  <a:schemeClr val="tx1"/>
                </a:solidFill>
                <a:prstDash val="solid"/>
                <a:miter/>
                <a:headEnd type="none" w="med" len="med"/>
                <a:tailEnd type="none" w="med" len="med"/>
              </a:ln>
            </p:spPr>
          </p:sp>
          <p:sp>
            <p:nvSpPr>
              <p:cNvPr id="17433" name="Line 26"/>
              <p:cNvSpPr/>
              <p:nvPr/>
            </p:nvSpPr>
            <p:spPr>
              <a:xfrm>
                <a:off x="2182" y="1908"/>
                <a:ext cx="0" cy="289"/>
              </a:xfrm>
              <a:prstGeom prst="line">
                <a:avLst/>
              </a:prstGeom>
              <a:ln w="12700" cap="flat" cmpd="sng">
                <a:solidFill>
                  <a:schemeClr val="tx1"/>
                </a:solidFill>
                <a:prstDash val="solid"/>
                <a:miter/>
                <a:headEnd type="none" w="med" len="med"/>
                <a:tailEnd type="none" w="med" len="med"/>
              </a:ln>
            </p:spPr>
          </p:sp>
          <p:sp>
            <p:nvSpPr>
              <p:cNvPr id="17434" name="Line 27"/>
              <p:cNvSpPr/>
              <p:nvPr/>
            </p:nvSpPr>
            <p:spPr>
              <a:xfrm>
                <a:off x="2732" y="1908"/>
                <a:ext cx="0" cy="289"/>
              </a:xfrm>
              <a:prstGeom prst="line">
                <a:avLst/>
              </a:prstGeom>
              <a:ln w="12700" cap="flat" cmpd="sng">
                <a:solidFill>
                  <a:schemeClr val="tx1"/>
                </a:solidFill>
                <a:prstDash val="solid"/>
                <a:miter/>
                <a:headEnd type="none" w="med" len="med"/>
                <a:tailEnd type="none" w="med" len="med"/>
              </a:ln>
            </p:spPr>
          </p:sp>
          <p:sp>
            <p:nvSpPr>
              <p:cNvPr id="17435" name="Line 28"/>
              <p:cNvSpPr/>
              <p:nvPr/>
            </p:nvSpPr>
            <p:spPr>
              <a:xfrm>
                <a:off x="3279" y="1908"/>
                <a:ext cx="0" cy="289"/>
              </a:xfrm>
              <a:prstGeom prst="line">
                <a:avLst/>
              </a:prstGeom>
              <a:ln w="12700" cap="flat" cmpd="sng">
                <a:solidFill>
                  <a:schemeClr val="tx1"/>
                </a:solidFill>
                <a:prstDash val="solid"/>
                <a:miter/>
                <a:headEnd type="none" w="med" len="med"/>
                <a:tailEnd type="none" w="med" len="med"/>
              </a:ln>
            </p:spPr>
          </p:sp>
          <p:sp>
            <p:nvSpPr>
              <p:cNvPr id="17436" name="Line 29"/>
              <p:cNvSpPr/>
              <p:nvPr/>
            </p:nvSpPr>
            <p:spPr>
              <a:xfrm>
                <a:off x="3827" y="1908"/>
                <a:ext cx="0" cy="289"/>
              </a:xfrm>
              <a:prstGeom prst="line">
                <a:avLst/>
              </a:prstGeom>
              <a:ln w="12700" cap="flat" cmpd="sng">
                <a:solidFill>
                  <a:schemeClr val="tx1"/>
                </a:solidFill>
                <a:prstDash val="solid"/>
                <a:miter/>
                <a:headEnd type="none" w="med" len="med"/>
                <a:tailEnd type="none" w="med" len="med"/>
              </a:ln>
            </p:spPr>
          </p:sp>
          <p:sp>
            <p:nvSpPr>
              <p:cNvPr id="17437" name="Line 30"/>
              <p:cNvSpPr/>
              <p:nvPr/>
            </p:nvSpPr>
            <p:spPr>
              <a:xfrm>
                <a:off x="4375" y="1908"/>
                <a:ext cx="0" cy="289"/>
              </a:xfrm>
              <a:prstGeom prst="line">
                <a:avLst/>
              </a:prstGeom>
              <a:ln w="28575" cap="sq" cmpd="sng">
                <a:solidFill>
                  <a:schemeClr val="tx1"/>
                </a:solidFill>
                <a:prstDash val="solid"/>
                <a:miter/>
                <a:headEnd type="none" w="med" len="med"/>
                <a:tailEnd type="none" w="med" len="med"/>
              </a:ln>
            </p:spPr>
          </p:sp>
          <p:sp>
            <p:nvSpPr>
              <p:cNvPr id="203807" name="Rectangle 31"/>
              <p:cNvSpPr>
                <a:spLocks noChangeArrowheads="1"/>
              </p:cNvSpPr>
              <p:nvPr/>
            </p:nvSpPr>
            <p:spPr bwMode="auto">
              <a:xfrm>
                <a:off x="432" y="1908"/>
                <a:ext cx="912" cy="384"/>
              </a:xfrm>
              <a:prstGeom prst="rect">
                <a:avLst/>
              </a:prstGeom>
              <a:solidFill>
                <a:schemeClr val="accent1"/>
              </a:solidFill>
              <a:ln w="9525">
                <a:miter lim="800000"/>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1">
                    <a:ln>
                      <a:noFill/>
                    </a:ln>
                    <a:solidFill>
                      <a:schemeClr val="bg1"/>
                    </a:solidFill>
                    <a:effectLst>
                      <a:outerShdw blurRad="38100" dist="38100" dir="2700000">
                        <a:srgbClr val="C0C0C0"/>
                      </a:outerShdw>
                    </a:effectLst>
                    <a:uLnTx/>
                    <a:uFillTx/>
                    <a:latin typeface="Tahoma" panose="020B0604030504040204" pitchFamily="34" charset="0"/>
                    <a:ea typeface="幼圆" panose="02010509060101010101" pitchFamily="49" charset="-122"/>
                    <a:cs typeface="+mn-cs"/>
                  </a:rPr>
                  <a:t>房产科</a:t>
                </a:r>
                <a:endParaRPr kumimoji="0" lang="zh-CN" altLang="en-US" sz="2000" b="1" i="0" u="none" strike="noStrike" kern="1200" cap="none" spc="0" normalizeH="0" baseline="0" noProof="1">
                  <a:ln>
                    <a:noFill/>
                  </a:ln>
                  <a:solidFill>
                    <a:schemeClr val="bg1"/>
                  </a:solidFill>
                  <a:effectLst>
                    <a:outerShdw blurRad="38100" dist="38100" dir="2700000">
                      <a:srgbClr val="C0C0C0"/>
                    </a:outerShdw>
                  </a:effectLst>
                  <a:uLnTx/>
                  <a:uFillTx/>
                  <a:latin typeface="Tahoma" panose="020B0604030504040204" pitchFamily="34" charset="0"/>
                  <a:ea typeface="幼圆" panose="02010509060101010101" pitchFamily="49" charset="-122"/>
                  <a:cs typeface="+mn-cs"/>
                </a:endParaRPr>
              </a:p>
            </p:txBody>
          </p:sp>
          <p:pic>
            <p:nvPicPr>
              <p:cNvPr id="17439" name="Picture 32" descr="j0211470"/>
              <p:cNvPicPr>
                <a:picLocks noChangeAspect="1"/>
              </p:cNvPicPr>
              <p:nvPr/>
            </p:nvPicPr>
            <p:blipFill>
              <a:blip r:embed="rId1"/>
              <a:stretch>
                <a:fillRect/>
              </a:stretch>
            </p:blipFill>
            <p:spPr>
              <a:xfrm flipV="1">
                <a:off x="624" y="1524"/>
                <a:ext cx="528" cy="506"/>
              </a:xfrm>
              <a:prstGeom prst="rect">
                <a:avLst/>
              </a:prstGeom>
              <a:noFill/>
              <a:ln w="9525">
                <a:noFill/>
              </a:ln>
            </p:spPr>
          </p:pic>
        </p:grpSp>
        <p:grpSp>
          <p:nvGrpSpPr>
            <p:cNvPr id="17440" name="Group 33"/>
            <p:cNvGrpSpPr/>
            <p:nvPr/>
          </p:nvGrpSpPr>
          <p:grpSpPr>
            <a:xfrm>
              <a:off x="432" y="1512"/>
              <a:ext cx="3944" cy="768"/>
              <a:chOff x="432" y="2388"/>
              <a:chExt cx="3944" cy="768"/>
            </a:xfrm>
          </p:grpSpPr>
          <p:sp>
            <p:nvSpPr>
              <p:cNvPr id="203810" name="Rectangle 34"/>
              <p:cNvSpPr>
                <a:spLocks noChangeArrowheads="1"/>
              </p:cNvSpPr>
              <p:nvPr/>
            </p:nvSpPr>
            <p:spPr bwMode="auto">
              <a:xfrm>
                <a:off x="3827" y="2773"/>
                <a:ext cx="549" cy="287"/>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charset="0"/>
                  <a:buNone/>
                  <a:defRPr/>
                </a:pPr>
                <a:r>
                  <a:rPr kumimoji="0" lang="zh-CN" altLang="en-US" sz="2000" b="1" i="0" u="none" strike="noStrike" kern="1200" cap="none" spc="0" normalizeH="0" baseline="0" noProof="0">
                    <a:ln>
                      <a:noFill/>
                    </a:ln>
                    <a:solidFill>
                      <a:srgbClr val="9900FF"/>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学位</a:t>
                </a:r>
                <a:endParaRPr kumimoji="0" lang="zh-CN" altLang="en-US" sz="2000" b="1" i="0" u="none" strike="noStrike" kern="1200" cap="none" spc="0" normalizeH="0" baseline="0" noProof="0">
                  <a:ln>
                    <a:noFill/>
                  </a:ln>
                  <a:solidFill>
                    <a:srgbClr val="9900FF"/>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03811" name="Rectangle 35"/>
              <p:cNvSpPr>
                <a:spLocks noChangeArrowheads="1"/>
              </p:cNvSpPr>
              <p:nvPr/>
            </p:nvSpPr>
            <p:spPr bwMode="auto">
              <a:xfrm>
                <a:off x="3278" y="2773"/>
                <a:ext cx="549" cy="287"/>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charset="0"/>
                  <a:buNone/>
                  <a:defRPr/>
                </a:pPr>
                <a:r>
                  <a:rPr kumimoji="0" lang="zh-CN" altLang="en-US" sz="2000" b="1"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学分</a:t>
                </a:r>
                <a:endParaRPr kumimoji="0" lang="zh-CN" altLang="en-US" sz="2000" b="1"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03812" name="Rectangle 36"/>
              <p:cNvSpPr>
                <a:spLocks noChangeArrowheads="1"/>
              </p:cNvSpPr>
              <p:nvPr/>
            </p:nvSpPr>
            <p:spPr bwMode="auto">
              <a:xfrm>
                <a:off x="2733" y="2773"/>
                <a:ext cx="548" cy="287"/>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1200" cap="none" spc="0" normalizeH="0" baseline="0" noProof="1">
                    <a:ln>
                      <a:noFill/>
                    </a:ln>
                    <a:solidFill>
                      <a:srgbClr val="000099"/>
                    </a:solidFill>
                    <a:effectLst>
                      <a:outerShdw blurRad="38100" dist="38100" dir="2700000">
                        <a:srgbClr val="C0C0C0"/>
                      </a:outerShdw>
                    </a:effectLst>
                    <a:uLnTx/>
                    <a:uFillTx/>
                    <a:latin typeface="Arial" panose="020B0604020202020204" pitchFamily="34" charset="0"/>
                    <a:ea typeface="幼圆" panose="02010509060101010101" pitchFamily="49" charset="-122"/>
                    <a:cs typeface="+mn-cs"/>
                  </a:rPr>
                  <a:t>系别</a:t>
                </a:r>
                <a:endParaRPr kumimoji="0" lang="zh-CN" altLang="en-US" sz="2000" b="1" i="0" u="none" strike="noStrike" kern="1200" cap="none" spc="0" normalizeH="0" baseline="0" noProof="1">
                  <a:ln>
                    <a:noFill/>
                  </a:ln>
                  <a:solidFill>
                    <a:srgbClr val="000099"/>
                  </a:solidFill>
                  <a:effectLst>
                    <a:outerShdw blurRad="38100" dist="38100" dir="2700000">
                      <a:srgbClr val="C0C0C0"/>
                    </a:outerShdw>
                  </a:effectLst>
                  <a:uLnTx/>
                  <a:uFillTx/>
                  <a:latin typeface="Arial" panose="020B0604020202020204" pitchFamily="34" charset="0"/>
                  <a:ea typeface="幼圆" panose="02010509060101010101" pitchFamily="49" charset="-122"/>
                  <a:cs typeface="+mn-cs"/>
                </a:endParaRPr>
              </a:p>
            </p:txBody>
          </p:sp>
          <p:sp>
            <p:nvSpPr>
              <p:cNvPr id="203813" name="Rectangle 37"/>
              <p:cNvSpPr>
                <a:spLocks noChangeArrowheads="1"/>
              </p:cNvSpPr>
              <p:nvPr/>
            </p:nvSpPr>
            <p:spPr bwMode="auto">
              <a:xfrm>
                <a:off x="2183" y="2773"/>
                <a:ext cx="550" cy="287"/>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charset="0"/>
                  <a:buNone/>
                  <a:defRPr/>
                </a:pPr>
                <a:r>
                  <a:rPr kumimoji="0" lang="zh-CN" altLang="en-US" sz="2000" b="1" i="0" u="none" strike="noStrike" kern="1200" cap="none" spc="0" normalizeH="0" baseline="0" noProof="0">
                    <a:ln>
                      <a:noFill/>
                    </a:ln>
                    <a:solidFill>
                      <a:srgbClr val="336600"/>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姓名</a:t>
                </a:r>
                <a:endParaRPr kumimoji="0" lang="zh-CN" altLang="en-US" sz="2000" b="1" i="0" u="none" strike="noStrike" kern="1200" cap="none" spc="0" normalizeH="0" baseline="0" noProof="0">
                  <a:ln>
                    <a:noFill/>
                  </a:ln>
                  <a:solidFill>
                    <a:srgbClr val="336600"/>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03814" name="Rectangle 38"/>
              <p:cNvSpPr>
                <a:spLocks noChangeArrowheads="1"/>
              </p:cNvSpPr>
              <p:nvPr/>
            </p:nvSpPr>
            <p:spPr bwMode="auto">
              <a:xfrm>
                <a:off x="1633" y="2773"/>
                <a:ext cx="550" cy="287"/>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charset="0"/>
                  <a:buNone/>
                  <a:defRPr/>
                </a:pPr>
                <a:r>
                  <a:rPr kumimoji="0" lang="zh-CN" altLang="en-US" sz="2000" b="1" i="0" u="none" strike="noStrike" kern="1200" cap="none" spc="0" normalizeH="0" baseline="0" noProof="0">
                    <a:ln>
                      <a:noFill/>
                    </a:ln>
                    <a:solidFill>
                      <a:srgbClr val="FF3300"/>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学号</a:t>
                </a:r>
                <a:endParaRPr kumimoji="0" lang="zh-CN" altLang="en-US" sz="2000" b="1" i="0" u="none" strike="noStrike" kern="1200" cap="none" spc="0" normalizeH="0" baseline="0" noProof="0">
                  <a:ln>
                    <a:noFill/>
                  </a:ln>
                  <a:solidFill>
                    <a:srgbClr val="FF3300"/>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17446" name="Line 39"/>
              <p:cNvSpPr/>
              <p:nvPr/>
            </p:nvSpPr>
            <p:spPr>
              <a:xfrm>
                <a:off x="1633" y="2773"/>
                <a:ext cx="2745" cy="0"/>
              </a:xfrm>
              <a:prstGeom prst="line">
                <a:avLst/>
              </a:prstGeom>
              <a:ln w="28575" cap="sq" cmpd="sng">
                <a:solidFill>
                  <a:schemeClr val="tx1"/>
                </a:solidFill>
                <a:prstDash val="solid"/>
                <a:miter/>
                <a:headEnd type="none" w="med" len="med"/>
                <a:tailEnd type="none" w="med" len="med"/>
              </a:ln>
            </p:spPr>
          </p:sp>
          <p:sp>
            <p:nvSpPr>
              <p:cNvPr id="17447" name="Line 40"/>
              <p:cNvSpPr/>
              <p:nvPr/>
            </p:nvSpPr>
            <p:spPr>
              <a:xfrm>
                <a:off x="1633" y="3060"/>
                <a:ext cx="2745" cy="0"/>
              </a:xfrm>
              <a:prstGeom prst="line">
                <a:avLst/>
              </a:prstGeom>
              <a:ln w="28575" cap="sq" cmpd="sng">
                <a:solidFill>
                  <a:schemeClr val="tx1"/>
                </a:solidFill>
                <a:prstDash val="solid"/>
                <a:miter/>
                <a:headEnd type="none" w="med" len="med"/>
                <a:tailEnd type="none" w="med" len="med"/>
              </a:ln>
            </p:spPr>
          </p:sp>
          <p:sp>
            <p:nvSpPr>
              <p:cNvPr id="17448" name="Line 41"/>
              <p:cNvSpPr/>
              <p:nvPr/>
            </p:nvSpPr>
            <p:spPr>
              <a:xfrm>
                <a:off x="1633" y="2773"/>
                <a:ext cx="0" cy="287"/>
              </a:xfrm>
              <a:prstGeom prst="line">
                <a:avLst/>
              </a:prstGeom>
              <a:ln w="28575" cap="sq" cmpd="sng">
                <a:solidFill>
                  <a:schemeClr val="tx1"/>
                </a:solidFill>
                <a:prstDash val="solid"/>
                <a:miter/>
                <a:headEnd type="none" w="med" len="med"/>
                <a:tailEnd type="none" w="med" len="med"/>
              </a:ln>
            </p:spPr>
          </p:sp>
          <p:sp>
            <p:nvSpPr>
              <p:cNvPr id="17449" name="Line 42"/>
              <p:cNvSpPr/>
              <p:nvPr/>
            </p:nvSpPr>
            <p:spPr>
              <a:xfrm>
                <a:off x="2183" y="2773"/>
                <a:ext cx="0" cy="287"/>
              </a:xfrm>
              <a:prstGeom prst="line">
                <a:avLst/>
              </a:prstGeom>
              <a:ln w="12700" cap="flat" cmpd="sng">
                <a:solidFill>
                  <a:schemeClr val="tx1"/>
                </a:solidFill>
                <a:prstDash val="solid"/>
                <a:miter/>
                <a:headEnd type="none" w="med" len="med"/>
                <a:tailEnd type="none" w="med" len="med"/>
              </a:ln>
            </p:spPr>
          </p:sp>
          <p:sp>
            <p:nvSpPr>
              <p:cNvPr id="17450" name="Line 43"/>
              <p:cNvSpPr/>
              <p:nvPr/>
            </p:nvSpPr>
            <p:spPr>
              <a:xfrm>
                <a:off x="2732" y="2773"/>
                <a:ext cx="0" cy="287"/>
              </a:xfrm>
              <a:prstGeom prst="line">
                <a:avLst/>
              </a:prstGeom>
              <a:ln w="12700" cap="flat" cmpd="sng">
                <a:solidFill>
                  <a:schemeClr val="tx1"/>
                </a:solidFill>
                <a:prstDash val="solid"/>
                <a:miter/>
                <a:headEnd type="none" w="med" len="med"/>
                <a:tailEnd type="none" w="med" len="med"/>
              </a:ln>
            </p:spPr>
          </p:sp>
          <p:sp>
            <p:nvSpPr>
              <p:cNvPr id="17451" name="Line 44"/>
              <p:cNvSpPr/>
              <p:nvPr/>
            </p:nvSpPr>
            <p:spPr>
              <a:xfrm>
                <a:off x="3278" y="2773"/>
                <a:ext cx="0" cy="287"/>
              </a:xfrm>
              <a:prstGeom prst="line">
                <a:avLst/>
              </a:prstGeom>
              <a:ln w="12700" cap="flat" cmpd="sng">
                <a:solidFill>
                  <a:schemeClr val="tx1"/>
                </a:solidFill>
                <a:prstDash val="solid"/>
                <a:miter/>
                <a:headEnd type="none" w="med" len="med"/>
                <a:tailEnd type="none" w="med" len="med"/>
              </a:ln>
            </p:spPr>
          </p:sp>
          <p:sp>
            <p:nvSpPr>
              <p:cNvPr id="17452" name="Line 45"/>
              <p:cNvSpPr/>
              <p:nvPr/>
            </p:nvSpPr>
            <p:spPr>
              <a:xfrm>
                <a:off x="3827" y="2773"/>
                <a:ext cx="0" cy="287"/>
              </a:xfrm>
              <a:prstGeom prst="line">
                <a:avLst/>
              </a:prstGeom>
              <a:ln w="12700" cap="flat" cmpd="sng">
                <a:solidFill>
                  <a:schemeClr val="tx1"/>
                </a:solidFill>
                <a:prstDash val="solid"/>
                <a:miter/>
                <a:headEnd type="none" w="med" len="med"/>
                <a:tailEnd type="none" w="med" len="med"/>
              </a:ln>
            </p:spPr>
          </p:sp>
          <p:sp>
            <p:nvSpPr>
              <p:cNvPr id="17453" name="Line 46"/>
              <p:cNvSpPr/>
              <p:nvPr/>
            </p:nvSpPr>
            <p:spPr>
              <a:xfrm>
                <a:off x="4376" y="2773"/>
                <a:ext cx="0" cy="287"/>
              </a:xfrm>
              <a:prstGeom prst="line">
                <a:avLst/>
              </a:prstGeom>
              <a:ln w="28575" cap="sq" cmpd="sng">
                <a:solidFill>
                  <a:schemeClr val="tx1"/>
                </a:solidFill>
                <a:prstDash val="solid"/>
                <a:miter/>
                <a:headEnd type="none" w="med" len="med"/>
                <a:tailEnd type="none" w="med" len="med"/>
              </a:ln>
            </p:spPr>
          </p:sp>
          <p:sp>
            <p:nvSpPr>
              <p:cNvPr id="203823" name="Rectangle 47"/>
              <p:cNvSpPr>
                <a:spLocks noChangeArrowheads="1"/>
              </p:cNvSpPr>
              <p:nvPr/>
            </p:nvSpPr>
            <p:spPr bwMode="auto">
              <a:xfrm>
                <a:off x="432" y="2773"/>
                <a:ext cx="912" cy="383"/>
              </a:xfrm>
              <a:prstGeom prst="rect">
                <a:avLst/>
              </a:prstGeom>
              <a:solidFill>
                <a:schemeClr val="accent1"/>
              </a:solidFill>
              <a:ln w="9525">
                <a:miter lim="800000"/>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000" b="1" i="0" u="none" strike="noStrike" kern="1200" cap="none" spc="0" normalizeH="0" baseline="0" noProof="0">
                    <a:ln>
                      <a:noFill/>
                    </a:ln>
                    <a:solidFill>
                      <a:schemeClr val="bg1"/>
                    </a:solidFill>
                    <a:effectLst>
                      <a:outerShdw blurRad="38100" dist="38100" dir="2700000" algn="tl">
                        <a:srgbClr val="000000"/>
                      </a:outerShdw>
                    </a:effectLst>
                    <a:uLnTx/>
                    <a:uFillTx/>
                    <a:latin typeface="Tahoma" panose="020B0604030504040204" pitchFamily="34" charset="0"/>
                    <a:ea typeface="幼圆" panose="02010509060101010101" pitchFamily="49" charset="-122"/>
                    <a:cs typeface="幼圆" panose="02010509060101010101" pitchFamily="49" charset="-122"/>
                  </a:rPr>
                  <a:t>学籍科</a:t>
                </a:r>
                <a:endParaRPr kumimoji="1" lang="zh-CN" altLang="en-US" sz="2000" b="1" i="0" u="none" strike="noStrike" kern="1200" cap="none" spc="0" normalizeH="0" baseline="0" noProof="0">
                  <a:ln>
                    <a:noFill/>
                  </a:ln>
                  <a:solidFill>
                    <a:schemeClr val="bg1"/>
                  </a:solidFill>
                  <a:effectLst>
                    <a:outerShdw blurRad="38100" dist="38100" dir="2700000" algn="tl">
                      <a:srgbClr val="000000"/>
                    </a:outerShdw>
                  </a:effectLst>
                  <a:uLnTx/>
                  <a:uFillTx/>
                  <a:latin typeface="Tahoma" panose="020B0604030504040204" pitchFamily="34" charset="0"/>
                  <a:ea typeface="幼圆" panose="02010509060101010101" pitchFamily="49" charset="-122"/>
                  <a:cs typeface="幼圆" panose="02010509060101010101" pitchFamily="49" charset="-122"/>
                </a:endParaRPr>
              </a:p>
            </p:txBody>
          </p:sp>
          <p:pic>
            <p:nvPicPr>
              <p:cNvPr id="17455" name="Picture 48" descr="j0211470"/>
              <p:cNvPicPr>
                <a:picLocks noChangeAspect="1"/>
              </p:cNvPicPr>
              <p:nvPr/>
            </p:nvPicPr>
            <p:blipFill>
              <a:blip r:embed="rId1"/>
              <a:stretch>
                <a:fillRect/>
              </a:stretch>
            </p:blipFill>
            <p:spPr>
              <a:xfrm flipV="1">
                <a:off x="624" y="2388"/>
                <a:ext cx="528" cy="506"/>
              </a:xfrm>
              <a:prstGeom prst="rect">
                <a:avLst/>
              </a:prstGeom>
              <a:noFill/>
              <a:ln w="9525">
                <a:noFill/>
              </a:ln>
            </p:spPr>
          </p:pic>
        </p:grpSp>
        <p:grpSp>
          <p:nvGrpSpPr>
            <p:cNvPr id="17456" name="Group 49"/>
            <p:cNvGrpSpPr/>
            <p:nvPr/>
          </p:nvGrpSpPr>
          <p:grpSpPr>
            <a:xfrm>
              <a:off x="432" y="3240"/>
              <a:ext cx="4993" cy="720"/>
              <a:chOff x="432" y="3240"/>
              <a:chExt cx="4993" cy="720"/>
            </a:xfrm>
          </p:grpSpPr>
          <p:sp>
            <p:nvSpPr>
              <p:cNvPr id="203826" name="Rectangle 50"/>
              <p:cNvSpPr>
                <a:spLocks noChangeArrowheads="1"/>
              </p:cNvSpPr>
              <p:nvPr/>
            </p:nvSpPr>
            <p:spPr bwMode="auto">
              <a:xfrm>
                <a:off x="4327" y="3624"/>
                <a:ext cx="549" cy="291"/>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幼圆" panose="02010509060101010101" pitchFamily="49" charset="-122"/>
                    <a:cs typeface="+mn-cs"/>
                  </a:rPr>
                  <a:t>年龄</a:t>
                </a:r>
                <a:endPar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幼圆" panose="02010509060101010101" pitchFamily="49" charset="-122"/>
                  <a:cs typeface="+mn-cs"/>
                </a:endParaRPr>
              </a:p>
            </p:txBody>
          </p:sp>
          <p:sp>
            <p:nvSpPr>
              <p:cNvPr id="203827" name="Rectangle 51"/>
              <p:cNvSpPr>
                <a:spLocks noChangeArrowheads="1"/>
              </p:cNvSpPr>
              <p:nvPr/>
            </p:nvSpPr>
            <p:spPr bwMode="auto">
              <a:xfrm>
                <a:off x="4876" y="3624"/>
                <a:ext cx="549" cy="291"/>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charset="0"/>
                  <a:buNone/>
                  <a:defRPr/>
                </a:pPr>
                <a:r>
                  <a:rPr kumimoji="0" lang="zh-CN" altLang="en-US" sz="2000" b="1"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出身</a:t>
                </a:r>
                <a:endParaRPr kumimoji="0" lang="zh-CN" altLang="en-US" sz="2000" b="1"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03828" name="Rectangle 52"/>
              <p:cNvSpPr>
                <a:spLocks noChangeArrowheads="1"/>
              </p:cNvSpPr>
              <p:nvPr/>
            </p:nvSpPr>
            <p:spPr bwMode="auto">
              <a:xfrm>
                <a:off x="3778" y="3624"/>
                <a:ext cx="549" cy="291"/>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charset="0"/>
                  <a:buNone/>
                  <a:defRPr/>
                </a:pPr>
                <a:r>
                  <a:rPr kumimoji="0" lang="zh-CN" altLang="en-US" sz="2000" b="1" i="0" u="none" strike="noStrike" kern="1200" cap="none" spc="0" normalizeH="0" baseline="0" noProof="0">
                    <a:ln>
                      <a:noFill/>
                    </a:ln>
                    <a:solidFill>
                      <a:srgbClr val="9900FF"/>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学位</a:t>
                </a:r>
                <a:endParaRPr kumimoji="0" lang="zh-CN" altLang="en-US" sz="2000" b="1" i="0" u="none" strike="noStrike" kern="1200" cap="none" spc="0" normalizeH="0" baseline="0" noProof="0">
                  <a:ln>
                    <a:noFill/>
                  </a:ln>
                  <a:solidFill>
                    <a:srgbClr val="9900FF"/>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03829" name="Rectangle 53"/>
              <p:cNvSpPr>
                <a:spLocks noChangeArrowheads="1"/>
              </p:cNvSpPr>
              <p:nvPr/>
            </p:nvSpPr>
            <p:spPr bwMode="auto">
              <a:xfrm>
                <a:off x="3230" y="3624"/>
                <a:ext cx="548" cy="291"/>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1200" cap="none" spc="0" normalizeH="0" baseline="0" noProof="1">
                    <a:ln>
                      <a:noFill/>
                    </a:ln>
                    <a:solidFill>
                      <a:srgbClr val="990033"/>
                    </a:solidFill>
                    <a:effectLst>
                      <a:outerShdw blurRad="38100" dist="38100" dir="2700000">
                        <a:srgbClr val="C0C0C0"/>
                      </a:outerShdw>
                    </a:effectLst>
                    <a:uLnTx/>
                    <a:uFillTx/>
                    <a:latin typeface="Arial" panose="020B0604020202020204" pitchFamily="34" charset="0"/>
                    <a:ea typeface="幼圆" panose="02010509060101010101" pitchFamily="49" charset="-122"/>
                    <a:cs typeface="+mn-cs"/>
                  </a:rPr>
                  <a:t>性别</a:t>
                </a:r>
                <a:endParaRPr kumimoji="0" lang="zh-CN" altLang="en-US" sz="2000" b="1" i="0" u="none" strike="noStrike" kern="1200" cap="none" spc="0" normalizeH="0" baseline="0" noProof="1">
                  <a:ln>
                    <a:noFill/>
                  </a:ln>
                  <a:solidFill>
                    <a:srgbClr val="990033"/>
                  </a:solidFill>
                  <a:effectLst>
                    <a:outerShdw blurRad="38100" dist="38100" dir="2700000">
                      <a:srgbClr val="C0C0C0"/>
                    </a:outerShdw>
                  </a:effectLst>
                  <a:uLnTx/>
                  <a:uFillTx/>
                  <a:latin typeface="Arial" panose="020B0604020202020204" pitchFamily="34" charset="0"/>
                  <a:ea typeface="幼圆" panose="02010509060101010101" pitchFamily="49" charset="-122"/>
                  <a:cs typeface="+mn-cs"/>
                </a:endParaRPr>
              </a:p>
            </p:txBody>
          </p:sp>
          <p:sp>
            <p:nvSpPr>
              <p:cNvPr id="203830" name="Rectangle 54"/>
              <p:cNvSpPr>
                <a:spLocks noChangeArrowheads="1"/>
              </p:cNvSpPr>
              <p:nvPr/>
            </p:nvSpPr>
            <p:spPr bwMode="auto">
              <a:xfrm>
                <a:off x="2681" y="3624"/>
                <a:ext cx="549" cy="291"/>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1200" cap="none" spc="0" normalizeH="0" baseline="0" noProof="1">
                    <a:ln>
                      <a:noFill/>
                    </a:ln>
                    <a:solidFill>
                      <a:srgbClr val="000099"/>
                    </a:solidFill>
                    <a:effectLst>
                      <a:outerShdw blurRad="38100" dist="38100" dir="2700000">
                        <a:srgbClr val="C0C0C0"/>
                      </a:outerShdw>
                    </a:effectLst>
                    <a:uLnTx/>
                    <a:uFillTx/>
                    <a:latin typeface="Arial" panose="020B0604020202020204" pitchFamily="34" charset="0"/>
                    <a:ea typeface="幼圆" panose="02010509060101010101" pitchFamily="49" charset="-122"/>
                    <a:cs typeface="+mn-cs"/>
                  </a:rPr>
                  <a:t>系别</a:t>
                </a:r>
                <a:endParaRPr kumimoji="0" lang="zh-CN" altLang="en-US" sz="2000" b="1" i="0" u="none" strike="noStrike" kern="1200" cap="none" spc="0" normalizeH="0" baseline="0" noProof="1">
                  <a:ln>
                    <a:noFill/>
                  </a:ln>
                  <a:solidFill>
                    <a:srgbClr val="000099"/>
                  </a:solidFill>
                  <a:effectLst>
                    <a:outerShdw blurRad="38100" dist="38100" dir="2700000">
                      <a:srgbClr val="C0C0C0"/>
                    </a:outerShdw>
                  </a:effectLst>
                  <a:uLnTx/>
                  <a:uFillTx/>
                  <a:latin typeface="Arial" panose="020B0604020202020204" pitchFamily="34" charset="0"/>
                  <a:ea typeface="幼圆" panose="02010509060101010101" pitchFamily="49" charset="-122"/>
                  <a:cs typeface="+mn-cs"/>
                </a:endParaRPr>
              </a:p>
            </p:txBody>
          </p:sp>
          <p:sp>
            <p:nvSpPr>
              <p:cNvPr id="203831" name="Rectangle 55"/>
              <p:cNvSpPr>
                <a:spLocks noChangeArrowheads="1"/>
              </p:cNvSpPr>
              <p:nvPr/>
            </p:nvSpPr>
            <p:spPr bwMode="auto">
              <a:xfrm>
                <a:off x="2133" y="3624"/>
                <a:ext cx="548" cy="291"/>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charset="0"/>
                  <a:buNone/>
                  <a:defRPr/>
                </a:pPr>
                <a:r>
                  <a:rPr kumimoji="0" lang="zh-CN" altLang="en-US" sz="2000" b="1" i="0" u="none" strike="noStrike" kern="1200" cap="none" spc="0" normalizeH="0" baseline="0" noProof="0">
                    <a:ln>
                      <a:noFill/>
                    </a:ln>
                    <a:solidFill>
                      <a:srgbClr val="336600"/>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姓名</a:t>
                </a:r>
                <a:endParaRPr kumimoji="0" lang="zh-CN" altLang="en-US" sz="2000" b="1" i="0" u="none" strike="noStrike" kern="1200" cap="none" spc="0" normalizeH="0" baseline="0" noProof="0">
                  <a:ln>
                    <a:noFill/>
                  </a:ln>
                  <a:solidFill>
                    <a:srgbClr val="336600"/>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03832" name="Rectangle 56"/>
              <p:cNvSpPr>
                <a:spLocks noChangeArrowheads="1"/>
              </p:cNvSpPr>
              <p:nvPr/>
            </p:nvSpPr>
            <p:spPr bwMode="auto">
              <a:xfrm>
                <a:off x="1584" y="3624"/>
                <a:ext cx="549" cy="291"/>
              </a:xfrm>
              <a:prstGeom prst="rect">
                <a:avLst/>
              </a:prstGeom>
              <a:noFill/>
              <a:ln>
                <a:noFill/>
              </a:ln>
              <a:effectLst/>
            </p:spPr>
            <p:txBody>
              <a:bodyPr lIns="0" tIns="0" rIns="0" bIns="0" anchor="ctr" anchorCtr="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charset="0"/>
                  <a:buNone/>
                  <a:defRPr/>
                </a:pPr>
                <a:r>
                  <a:rPr kumimoji="0" lang="zh-CN" altLang="en-US" sz="2000" b="1" i="0" u="none" strike="noStrike" kern="1200" cap="none" spc="0" normalizeH="0" baseline="0" noProof="0">
                    <a:ln>
                      <a:noFill/>
                    </a:ln>
                    <a:solidFill>
                      <a:srgbClr val="FF3300"/>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学号</a:t>
                </a:r>
                <a:endParaRPr kumimoji="0" lang="zh-CN" altLang="en-US" sz="2000" b="1" i="0" u="none" strike="noStrike" kern="1200" cap="none" spc="0" normalizeH="0" baseline="0" noProof="0">
                  <a:ln>
                    <a:noFill/>
                  </a:ln>
                  <a:solidFill>
                    <a:srgbClr val="FF3300"/>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17464" name="Line 57"/>
              <p:cNvSpPr/>
              <p:nvPr/>
            </p:nvSpPr>
            <p:spPr>
              <a:xfrm>
                <a:off x="1584" y="3624"/>
                <a:ext cx="3841" cy="0"/>
              </a:xfrm>
              <a:prstGeom prst="line">
                <a:avLst/>
              </a:prstGeom>
              <a:ln w="28575" cap="sq" cmpd="sng">
                <a:solidFill>
                  <a:schemeClr val="tx1"/>
                </a:solidFill>
                <a:prstDash val="solid"/>
                <a:miter/>
                <a:headEnd type="none" w="med" len="med"/>
                <a:tailEnd type="none" w="med" len="med"/>
              </a:ln>
            </p:spPr>
          </p:sp>
          <p:sp>
            <p:nvSpPr>
              <p:cNvPr id="17465" name="Line 58"/>
              <p:cNvSpPr/>
              <p:nvPr/>
            </p:nvSpPr>
            <p:spPr>
              <a:xfrm>
                <a:off x="1584" y="3912"/>
                <a:ext cx="3841" cy="0"/>
              </a:xfrm>
              <a:prstGeom prst="line">
                <a:avLst/>
              </a:prstGeom>
              <a:ln w="28575" cap="sq" cmpd="sng">
                <a:solidFill>
                  <a:schemeClr val="tx1"/>
                </a:solidFill>
                <a:prstDash val="solid"/>
                <a:miter/>
                <a:headEnd type="none" w="med" len="med"/>
                <a:tailEnd type="none" w="med" len="med"/>
              </a:ln>
            </p:spPr>
          </p:sp>
          <p:sp>
            <p:nvSpPr>
              <p:cNvPr id="17466" name="Line 59"/>
              <p:cNvSpPr/>
              <p:nvPr/>
            </p:nvSpPr>
            <p:spPr>
              <a:xfrm>
                <a:off x="1584" y="3624"/>
                <a:ext cx="0" cy="290"/>
              </a:xfrm>
              <a:prstGeom prst="line">
                <a:avLst/>
              </a:prstGeom>
              <a:ln w="28575" cap="sq" cmpd="sng">
                <a:solidFill>
                  <a:schemeClr val="tx1"/>
                </a:solidFill>
                <a:prstDash val="solid"/>
                <a:miter/>
                <a:headEnd type="none" w="med" len="med"/>
                <a:tailEnd type="none" w="med" len="med"/>
              </a:ln>
            </p:spPr>
          </p:sp>
          <p:sp>
            <p:nvSpPr>
              <p:cNvPr id="17467" name="Line 60"/>
              <p:cNvSpPr/>
              <p:nvPr/>
            </p:nvSpPr>
            <p:spPr>
              <a:xfrm>
                <a:off x="2133" y="3624"/>
                <a:ext cx="0" cy="290"/>
              </a:xfrm>
              <a:prstGeom prst="line">
                <a:avLst/>
              </a:prstGeom>
              <a:ln w="12700" cap="flat" cmpd="sng">
                <a:solidFill>
                  <a:schemeClr val="tx1"/>
                </a:solidFill>
                <a:prstDash val="solid"/>
                <a:miter/>
                <a:headEnd type="none" w="med" len="med"/>
                <a:tailEnd type="none" w="med" len="med"/>
              </a:ln>
            </p:spPr>
          </p:sp>
          <p:sp>
            <p:nvSpPr>
              <p:cNvPr id="17468" name="Line 61"/>
              <p:cNvSpPr/>
              <p:nvPr/>
            </p:nvSpPr>
            <p:spPr>
              <a:xfrm>
                <a:off x="2681" y="3624"/>
                <a:ext cx="0" cy="290"/>
              </a:xfrm>
              <a:prstGeom prst="line">
                <a:avLst/>
              </a:prstGeom>
              <a:ln w="12700" cap="flat" cmpd="sng">
                <a:solidFill>
                  <a:schemeClr val="tx1"/>
                </a:solidFill>
                <a:prstDash val="solid"/>
                <a:miter/>
                <a:headEnd type="none" w="med" len="med"/>
                <a:tailEnd type="none" w="med" len="med"/>
              </a:ln>
            </p:spPr>
          </p:sp>
          <p:sp>
            <p:nvSpPr>
              <p:cNvPr id="17469" name="Line 62"/>
              <p:cNvSpPr/>
              <p:nvPr/>
            </p:nvSpPr>
            <p:spPr>
              <a:xfrm>
                <a:off x="3230" y="3624"/>
                <a:ext cx="0" cy="290"/>
              </a:xfrm>
              <a:prstGeom prst="line">
                <a:avLst/>
              </a:prstGeom>
              <a:ln w="12700" cap="flat" cmpd="sng">
                <a:solidFill>
                  <a:schemeClr val="tx1"/>
                </a:solidFill>
                <a:prstDash val="solid"/>
                <a:miter/>
                <a:headEnd type="none" w="med" len="med"/>
                <a:tailEnd type="none" w="med" len="med"/>
              </a:ln>
            </p:spPr>
          </p:sp>
          <p:sp>
            <p:nvSpPr>
              <p:cNvPr id="17470" name="Line 63"/>
              <p:cNvSpPr/>
              <p:nvPr/>
            </p:nvSpPr>
            <p:spPr>
              <a:xfrm>
                <a:off x="3778" y="3624"/>
                <a:ext cx="0" cy="290"/>
              </a:xfrm>
              <a:prstGeom prst="line">
                <a:avLst/>
              </a:prstGeom>
              <a:ln w="12700" cap="flat" cmpd="sng">
                <a:solidFill>
                  <a:schemeClr val="tx1"/>
                </a:solidFill>
                <a:prstDash val="solid"/>
                <a:miter/>
                <a:headEnd type="none" w="med" len="med"/>
                <a:tailEnd type="none" w="med" len="med"/>
              </a:ln>
            </p:spPr>
          </p:sp>
          <p:sp>
            <p:nvSpPr>
              <p:cNvPr id="17471" name="Line 64"/>
              <p:cNvSpPr/>
              <p:nvPr/>
            </p:nvSpPr>
            <p:spPr>
              <a:xfrm>
                <a:off x="4327" y="3624"/>
                <a:ext cx="0" cy="290"/>
              </a:xfrm>
              <a:prstGeom prst="line">
                <a:avLst/>
              </a:prstGeom>
              <a:ln w="12700" cap="flat" cmpd="sng">
                <a:solidFill>
                  <a:schemeClr val="tx1"/>
                </a:solidFill>
                <a:prstDash val="solid"/>
                <a:miter/>
                <a:headEnd type="none" w="med" len="med"/>
                <a:tailEnd type="none" w="med" len="med"/>
              </a:ln>
            </p:spPr>
          </p:sp>
          <p:sp>
            <p:nvSpPr>
              <p:cNvPr id="17472" name="Line 65"/>
              <p:cNvSpPr/>
              <p:nvPr/>
            </p:nvSpPr>
            <p:spPr>
              <a:xfrm>
                <a:off x="5425" y="3624"/>
                <a:ext cx="0" cy="290"/>
              </a:xfrm>
              <a:prstGeom prst="line">
                <a:avLst/>
              </a:prstGeom>
              <a:ln w="28575" cap="sq" cmpd="sng">
                <a:solidFill>
                  <a:schemeClr val="tx1"/>
                </a:solidFill>
                <a:prstDash val="solid"/>
                <a:miter/>
                <a:headEnd type="none" w="med" len="med"/>
                <a:tailEnd type="none" w="med" len="med"/>
              </a:ln>
            </p:spPr>
          </p:sp>
          <p:sp>
            <p:nvSpPr>
              <p:cNvPr id="17473" name="Line 66"/>
              <p:cNvSpPr/>
              <p:nvPr/>
            </p:nvSpPr>
            <p:spPr>
              <a:xfrm>
                <a:off x="4876" y="3624"/>
                <a:ext cx="0" cy="290"/>
              </a:xfrm>
              <a:prstGeom prst="line">
                <a:avLst/>
              </a:prstGeom>
              <a:ln w="12700" cap="flat" cmpd="sng">
                <a:solidFill>
                  <a:schemeClr val="tx1"/>
                </a:solidFill>
                <a:prstDash val="solid"/>
                <a:miter/>
                <a:headEnd type="none" w="med" len="med"/>
                <a:tailEnd type="none" w="med" len="med"/>
              </a:ln>
            </p:spPr>
          </p:sp>
          <p:sp>
            <p:nvSpPr>
              <p:cNvPr id="203843" name="Rectangle 67"/>
              <p:cNvSpPr>
                <a:spLocks noChangeArrowheads="1"/>
              </p:cNvSpPr>
              <p:nvPr/>
            </p:nvSpPr>
            <p:spPr bwMode="auto">
              <a:xfrm>
                <a:off x="432" y="3624"/>
                <a:ext cx="912" cy="336"/>
              </a:xfrm>
              <a:prstGeom prst="rect">
                <a:avLst/>
              </a:prstGeom>
              <a:solidFill>
                <a:schemeClr val="accent1"/>
              </a:solidFill>
              <a:ln w="9525">
                <a:miter lim="800000"/>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000" b="1" i="0" u="none" strike="noStrike" kern="1200" cap="none" spc="0" normalizeH="0" baseline="0" noProof="0">
                    <a:ln>
                      <a:noFill/>
                    </a:ln>
                    <a:solidFill>
                      <a:schemeClr val="bg1"/>
                    </a:solidFill>
                    <a:effectLst>
                      <a:outerShdw blurRad="38100" dist="38100" dir="2700000" algn="tl">
                        <a:srgbClr val="000000"/>
                      </a:outerShdw>
                    </a:effectLst>
                    <a:uLnTx/>
                    <a:uFillTx/>
                    <a:latin typeface="Tahoma" panose="020B0604030504040204" pitchFamily="34" charset="0"/>
                    <a:ea typeface="幼圆" panose="02010509060101010101" pitchFamily="49" charset="-122"/>
                    <a:cs typeface="幼圆" panose="02010509060101010101" pitchFamily="49" charset="-122"/>
                  </a:rPr>
                  <a:t>人事科</a:t>
                </a:r>
                <a:endParaRPr kumimoji="1" lang="zh-CN" altLang="en-US" sz="2000" b="1" i="0" u="none" strike="noStrike" kern="1200" cap="none" spc="0" normalizeH="0" baseline="0" noProof="0">
                  <a:ln>
                    <a:noFill/>
                  </a:ln>
                  <a:solidFill>
                    <a:schemeClr val="bg1"/>
                  </a:solidFill>
                  <a:effectLst>
                    <a:outerShdw blurRad="38100" dist="38100" dir="2700000" algn="tl">
                      <a:srgbClr val="000000"/>
                    </a:outerShdw>
                  </a:effectLst>
                  <a:uLnTx/>
                  <a:uFillTx/>
                  <a:latin typeface="Tahoma" panose="020B0604030504040204" pitchFamily="34" charset="0"/>
                  <a:ea typeface="幼圆" panose="02010509060101010101" pitchFamily="49" charset="-122"/>
                  <a:cs typeface="幼圆" panose="02010509060101010101" pitchFamily="49" charset="-122"/>
                </a:endParaRPr>
              </a:p>
            </p:txBody>
          </p:sp>
          <p:pic>
            <p:nvPicPr>
              <p:cNvPr id="17475" name="Picture 68" descr="j0211470"/>
              <p:cNvPicPr>
                <a:picLocks noChangeAspect="1"/>
              </p:cNvPicPr>
              <p:nvPr/>
            </p:nvPicPr>
            <p:blipFill>
              <a:blip r:embed="rId1"/>
              <a:stretch>
                <a:fillRect/>
              </a:stretch>
            </p:blipFill>
            <p:spPr>
              <a:xfrm flipV="1">
                <a:off x="624" y="3240"/>
                <a:ext cx="528" cy="506"/>
              </a:xfrm>
              <a:prstGeom prst="rect">
                <a:avLst/>
              </a:prstGeom>
              <a:noFill/>
              <a:ln w="9525">
                <a:noFill/>
              </a:ln>
            </p:spPr>
          </p:pic>
        </p:grpSp>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a:xfrm>
            <a:off x="768350" y="201613"/>
            <a:ext cx="8077200" cy="609600"/>
          </a:xfrm>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4400" b="1" i="0" u="none" strike="noStrike" kern="0" cap="none" spc="0" normalizeH="0" baseline="0" noProof="1">
                <a:ln>
                  <a:noFill/>
                </a:ln>
                <a:solidFill>
                  <a:schemeClr val="tx2"/>
                </a:solidFill>
                <a:effectLst>
                  <a:outerShdw blurRad="38100" dist="38100" dir="2700000">
                    <a:srgbClr val="C0C0C0"/>
                  </a:outerShdw>
                </a:effectLst>
                <a:uLnTx/>
                <a:uFillTx/>
                <a:latin typeface="黑体" panose="02010609060101010101" pitchFamily="49" charset="-122"/>
                <a:ea typeface="黑体" panose="02010609060101010101" pitchFamily="49" charset="-122"/>
                <a:cs typeface="MS PGothic" panose="020B0600070205080204" pitchFamily="34" charset="-128"/>
              </a:rPr>
              <a:t>数据库系统的特点</a:t>
            </a:r>
            <a:endParaRPr kumimoji="1" lang="zh-CN" altLang="en-US" sz="4400" b="1" i="0" u="none" strike="noStrike" kern="0" cap="none" spc="0" normalizeH="0" baseline="0" noProof="1">
              <a:ln>
                <a:noFill/>
              </a:ln>
              <a:solidFill>
                <a:schemeClr val="tx2"/>
              </a:solidFill>
              <a:effectLst>
                <a:outerShdw blurRad="38100" dist="38100" dir="2700000">
                  <a:srgbClr val="C0C0C0"/>
                </a:outerShdw>
              </a:effectLst>
              <a:uLnTx/>
              <a:uFillTx/>
              <a:latin typeface="黑体" panose="02010609060101010101" pitchFamily="49" charset="-122"/>
              <a:ea typeface="黑体" panose="02010609060101010101" pitchFamily="49" charset="-122"/>
              <a:cs typeface="MS PGothic" panose="020B0600070205080204" pitchFamily="34" charset="-128"/>
            </a:endParaRPr>
          </a:p>
        </p:txBody>
      </p:sp>
      <p:grpSp>
        <p:nvGrpSpPr>
          <p:cNvPr id="18434" name="Group 3"/>
          <p:cNvGrpSpPr/>
          <p:nvPr/>
        </p:nvGrpSpPr>
        <p:grpSpPr>
          <a:xfrm>
            <a:off x="501650" y="1358900"/>
            <a:ext cx="8121650" cy="5270500"/>
            <a:chOff x="548" y="813"/>
            <a:chExt cx="5116" cy="3320"/>
          </a:xfrm>
        </p:grpSpPr>
        <p:sp>
          <p:nvSpPr>
            <p:cNvPr id="18435" name="Oval 4"/>
            <p:cNvSpPr/>
            <p:nvPr/>
          </p:nvSpPr>
          <p:spPr>
            <a:xfrm>
              <a:off x="1584" y="1728"/>
              <a:ext cx="3024" cy="1776"/>
            </a:xfrm>
            <a:prstGeom prst="ellipse">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eaLnBrk="0" hangingPunct="0">
                <a:buClrTx/>
                <a:buFontTx/>
              </a:pPr>
              <a:endParaRPr lang="zh-CN" altLang="en-US" dirty="0">
                <a:latin typeface="Helvetica" charset="0"/>
              </a:endParaRPr>
            </a:p>
          </p:txBody>
        </p:sp>
        <p:sp>
          <p:nvSpPr>
            <p:cNvPr id="18436" name="Oval 5"/>
            <p:cNvSpPr/>
            <p:nvPr/>
          </p:nvSpPr>
          <p:spPr>
            <a:xfrm>
              <a:off x="2592" y="2448"/>
              <a:ext cx="384" cy="336"/>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pPr>
              <a:r>
                <a:rPr lang="zh-CN" altLang="en-US" sz="2000" dirty="0">
                  <a:solidFill>
                    <a:srgbClr val="1C1C1C"/>
                  </a:solidFill>
                  <a:latin typeface="Tahoma" panose="020B0604030504040204" pitchFamily="34" charset="0"/>
                  <a:ea typeface="华文新魏" panose="02010800040101010101" charset="-122"/>
                </a:rPr>
                <a:t>学号</a:t>
              </a:r>
              <a:endParaRPr lang="zh-CN" altLang="en-US" sz="2000" dirty="0">
                <a:solidFill>
                  <a:srgbClr val="1C1C1C"/>
                </a:solidFill>
                <a:latin typeface="Tahoma" panose="020B0604030504040204" pitchFamily="34" charset="0"/>
                <a:ea typeface="华文新魏" panose="02010800040101010101" charset="-122"/>
              </a:endParaRPr>
            </a:p>
          </p:txBody>
        </p:sp>
        <p:sp>
          <p:nvSpPr>
            <p:cNvPr id="18437" name="Oval 6"/>
            <p:cNvSpPr/>
            <p:nvPr/>
          </p:nvSpPr>
          <p:spPr>
            <a:xfrm>
              <a:off x="3216" y="2448"/>
              <a:ext cx="384" cy="336"/>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pPr>
              <a:r>
                <a:rPr lang="zh-CN" altLang="en-US" sz="2000" dirty="0">
                  <a:solidFill>
                    <a:srgbClr val="1C1C1C"/>
                  </a:solidFill>
                  <a:latin typeface="Tahoma" panose="020B0604030504040204" pitchFamily="34" charset="0"/>
                  <a:ea typeface="华文新魏" panose="02010800040101010101" charset="-122"/>
                </a:rPr>
                <a:t>姓名</a:t>
              </a:r>
              <a:endParaRPr lang="zh-CN" altLang="en-US" sz="2000" dirty="0">
                <a:solidFill>
                  <a:srgbClr val="1C1C1C"/>
                </a:solidFill>
                <a:latin typeface="Tahoma" panose="020B0604030504040204" pitchFamily="34" charset="0"/>
                <a:ea typeface="华文新魏" panose="02010800040101010101" charset="-122"/>
              </a:endParaRPr>
            </a:p>
          </p:txBody>
        </p:sp>
        <p:sp>
          <p:nvSpPr>
            <p:cNvPr id="18438" name="Oval 7"/>
            <p:cNvSpPr/>
            <p:nvPr/>
          </p:nvSpPr>
          <p:spPr>
            <a:xfrm>
              <a:off x="2496" y="3024"/>
              <a:ext cx="384" cy="336"/>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pPr>
              <a:r>
                <a:rPr lang="zh-CN" altLang="en-US" sz="2000" dirty="0">
                  <a:solidFill>
                    <a:srgbClr val="1C1C1C"/>
                  </a:solidFill>
                  <a:latin typeface="Tahoma" panose="020B0604030504040204" pitchFamily="34" charset="0"/>
                  <a:ea typeface="华文新魏" panose="02010800040101010101" charset="-122"/>
                </a:rPr>
                <a:t>性别</a:t>
              </a:r>
              <a:endParaRPr lang="zh-CN" altLang="en-US" sz="2000" dirty="0">
                <a:solidFill>
                  <a:srgbClr val="1C1C1C"/>
                </a:solidFill>
                <a:latin typeface="Tahoma" panose="020B0604030504040204" pitchFamily="34" charset="0"/>
                <a:ea typeface="华文新魏" panose="02010800040101010101" charset="-122"/>
              </a:endParaRPr>
            </a:p>
          </p:txBody>
        </p:sp>
        <p:sp>
          <p:nvSpPr>
            <p:cNvPr id="18439" name="Oval 8"/>
            <p:cNvSpPr/>
            <p:nvPr/>
          </p:nvSpPr>
          <p:spPr>
            <a:xfrm>
              <a:off x="2496" y="1824"/>
              <a:ext cx="384" cy="336"/>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pPr>
              <a:r>
                <a:rPr lang="zh-CN" altLang="en-US" sz="2000" dirty="0">
                  <a:solidFill>
                    <a:srgbClr val="1C1C1C"/>
                  </a:solidFill>
                  <a:latin typeface="Tahoma" panose="020B0604030504040204" pitchFamily="34" charset="0"/>
                  <a:ea typeface="华文新魏" panose="02010800040101010101" charset="-122"/>
                </a:rPr>
                <a:t>系别</a:t>
              </a:r>
              <a:endParaRPr lang="zh-CN" altLang="en-US" sz="2000" dirty="0">
                <a:solidFill>
                  <a:srgbClr val="1C1C1C"/>
                </a:solidFill>
                <a:latin typeface="Tahoma" panose="020B0604030504040204" pitchFamily="34" charset="0"/>
                <a:ea typeface="华文新魏" panose="02010800040101010101" charset="-122"/>
              </a:endParaRPr>
            </a:p>
          </p:txBody>
        </p:sp>
        <p:sp>
          <p:nvSpPr>
            <p:cNvPr id="18440" name="Oval 9"/>
            <p:cNvSpPr/>
            <p:nvPr/>
          </p:nvSpPr>
          <p:spPr>
            <a:xfrm>
              <a:off x="3360" y="1872"/>
              <a:ext cx="384" cy="336"/>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pPr>
              <a:r>
                <a:rPr lang="zh-CN" altLang="en-US" sz="2000" dirty="0">
                  <a:solidFill>
                    <a:srgbClr val="1C1C1C"/>
                  </a:solidFill>
                  <a:latin typeface="Tahoma" panose="020B0604030504040204" pitchFamily="34" charset="0"/>
                  <a:ea typeface="华文新魏" panose="02010800040101010101" charset="-122"/>
                </a:rPr>
                <a:t>年龄</a:t>
              </a:r>
              <a:endParaRPr lang="zh-CN" altLang="en-US" sz="2000" dirty="0">
                <a:solidFill>
                  <a:srgbClr val="1C1C1C"/>
                </a:solidFill>
                <a:latin typeface="Tahoma" panose="020B0604030504040204" pitchFamily="34" charset="0"/>
                <a:ea typeface="华文新魏" panose="02010800040101010101" charset="-122"/>
              </a:endParaRPr>
            </a:p>
          </p:txBody>
        </p:sp>
        <p:sp>
          <p:nvSpPr>
            <p:cNvPr id="18441" name="Oval 10"/>
            <p:cNvSpPr/>
            <p:nvPr/>
          </p:nvSpPr>
          <p:spPr>
            <a:xfrm>
              <a:off x="1872" y="2784"/>
              <a:ext cx="384" cy="336"/>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pPr>
              <a:r>
                <a:rPr lang="zh-CN" altLang="en-US" sz="2000" dirty="0">
                  <a:solidFill>
                    <a:srgbClr val="1C1C1C"/>
                  </a:solidFill>
                  <a:latin typeface="Tahoma" panose="020B0604030504040204" pitchFamily="34" charset="0"/>
                  <a:ea typeface="华文新魏" panose="02010800040101010101" charset="-122"/>
                </a:rPr>
                <a:t>住址</a:t>
              </a:r>
              <a:endParaRPr lang="zh-CN" altLang="en-US" sz="2000" dirty="0">
                <a:solidFill>
                  <a:srgbClr val="1C1C1C"/>
                </a:solidFill>
                <a:latin typeface="Tahoma" panose="020B0604030504040204" pitchFamily="34" charset="0"/>
                <a:ea typeface="华文新魏" panose="02010800040101010101" charset="-122"/>
              </a:endParaRPr>
            </a:p>
          </p:txBody>
        </p:sp>
        <p:sp>
          <p:nvSpPr>
            <p:cNvPr id="18442" name="Oval 11"/>
            <p:cNvSpPr/>
            <p:nvPr/>
          </p:nvSpPr>
          <p:spPr>
            <a:xfrm>
              <a:off x="3360" y="3024"/>
              <a:ext cx="384" cy="336"/>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pPr>
              <a:r>
                <a:rPr lang="zh-CN" altLang="en-US" sz="2000" dirty="0">
                  <a:solidFill>
                    <a:srgbClr val="1C1C1C"/>
                  </a:solidFill>
                  <a:latin typeface="Tahoma" panose="020B0604030504040204" pitchFamily="34" charset="0"/>
                  <a:ea typeface="华文新魏" panose="02010800040101010101" charset="-122"/>
                </a:rPr>
                <a:t>出身</a:t>
              </a:r>
              <a:endParaRPr lang="zh-CN" altLang="en-US" sz="2000" dirty="0">
                <a:solidFill>
                  <a:srgbClr val="1C1C1C"/>
                </a:solidFill>
                <a:latin typeface="Tahoma" panose="020B0604030504040204" pitchFamily="34" charset="0"/>
                <a:ea typeface="华文新魏" panose="02010800040101010101" charset="-122"/>
              </a:endParaRPr>
            </a:p>
          </p:txBody>
        </p:sp>
        <p:sp>
          <p:nvSpPr>
            <p:cNvPr id="18443" name="Oval 12"/>
            <p:cNvSpPr/>
            <p:nvPr/>
          </p:nvSpPr>
          <p:spPr>
            <a:xfrm>
              <a:off x="3936" y="2160"/>
              <a:ext cx="384" cy="336"/>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pPr>
              <a:r>
                <a:rPr lang="zh-CN" altLang="en-US" sz="2000" dirty="0">
                  <a:solidFill>
                    <a:srgbClr val="1C1C1C"/>
                  </a:solidFill>
                  <a:latin typeface="Tahoma" panose="020B0604030504040204" pitchFamily="34" charset="0"/>
                  <a:ea typeface="华文新魏" panose="02010800040101010101" charset="-122"/>
                </a:rPr>
                <a:t>学位</a:t>
              </a:r>
              <a:endParaRPr lang="zh-CN" altLang="en-US" sz="2000" dirty="0">
                <a:solidFill>
                  <a:srgbClr val="1C1C1C"/>
                </a:solidFill>
                <a:latin typeface="Tahoma" panose="020B0604030504040204" pitchFamily="34" charset="0"/>
                <a:ea typeface="华文新魏" panose="02010800040101010101" charset="-122"/>
              </a:endParaRPr>
            </a:p>
          </p:txBody>
        </p:sp>
        <p:sp>
          <p:nvSpPr>
            <p:cNvPr id="18444" name="Oval 13"/>
            <p:cNvSpPr/>
            <p:nvPr/>
          </p:nvSpPr>
          <p:spPr>
            <a:xfrm>
              <a:off x="3936" y="2784"/>
              <a:ext cx="384" cy="336"/>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pPr>
              <a:r>
                <a:rPr lang="zh-CN" altLang="en-US" sz="2000" dirty="0">
                  <a:solidFill>
                    <a:srgbClr val="1C1C1C"/>
                  </a:solidFill>
                  <a:latin typeface="Tahoma" panose="020B0604030504040204" pitchFamily="34" charset="0"/>
                  <a:ea typeface="华文新魏" panose="02010800040101010101" charset="-122"/>
                </a:rPr>
                <a:t>学分</a:t>
              </a:r>
              <a:endParaRPr lang="zh-CN" altLang="en-US" sz="2000" dirty="0">
                <a:solidFill>
                  <a:srgbClr val="1C1C1C"/>
                </a:solidFill>
                <a:latin typeface="Tahoma" panose="020B0604030504040204" pitchFamily="34" charset="0"/>
                <a:ea typeface="华文新魏" panose="02010800040101010101" charset="-122"/>
              </a:endParaRPr>
            </a:p>
          </p:txBody>
        </p:sp>
        <p:sp>
          <p:nvSpPr>
            <p:cNvPr id="18445" name="Oval 14"/>
            <p:cNvSpPr/>
            <p:nvPr/>
          </p:nvSpPr>
          <p:spPr>
            <a:xfrm>
              <a:off x="1872" y="2112"/>
              <a:ext cx="384" cy="336"/>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cap="flat" cmpd="sng">
              <a:solidFill>
                <a:schemeClr val="tx1"/>
              </a:solidFill>
              <a:prstDash val="solid"/>
              <a:miter/>
              <a:headEnd type="none" w="med" len="med"/>
              <a:tailEnd type="none" w="med" len="med"/>
            </a:ln>
          </p:spPr>
          <p:txBody>
            <a:bodyPr wrap="none" anchor="ctr" anchorCtr="0"/>
            <a:lstStyle/>
            <a:p>
              <a:pPr algn="ctr" eaLnBrk="0" hangingPunct="0">
                <a:buClrTx/>
                <a:buFontTx/>
              </a:pPr>
              <a:r>
                <a:rPr lang="zh-CN" altLang="en-US" sz="2000" dirty="0">
                  <a:solidFill>
                    <a:srgbClr val="1C1C1C"/>
                  </a:solidFill>
                  <a:latin typeface="Tahoma" panose="020B0604030504040204" pitchFamily="34" charset="0"/>
                  <a:ea typeface="华文新魏" panose="02010800040101010101" charset="-122"/>
                </a:rPr>
                <a:t>补贴</a:t>
              </a:r>
              <a:endParaRPr lang="zh-CN" altLang="en-US" sz="2000" dirty="0">
                <a:solidFill>
                  <a:srgbClr val="1C1C1C"/>
                </a:solidFill>
                <a:latin typeface="Tahoma" panose="020B0604030504040204" pitchFamily="34" charset="0"/>
                <a:ea typeface="华文新魏" panose="02010800040101010101" charset="-122"/>
              </a:endParaRPr>
            </a:p>
          </p:txBody>
        </p:sp>
        <p:sp>
          <p:nvSpPr>
            <p:cNvPr id="18446" name="Freeform 15"/>
            <p:cNvSpPr/>
            <p:nvPr/>
          </p:nvSpPr>
          <p:spPr>
            <a:xfrm>
              <a:off x="2367" y="1790"/>
              <a:ext cx="3297" cy="1650"/>
            </a:xfrm>
            <a:custGeom>
              <a:avLst/>
              <a:gdLst/>
              <a:ahLst/>
              <a:cxnLst>
                <a:cxn ang="0">
                  <a:pos x="2536" y="1627"/>
                </a:cxn>
                <a:cxn ang="0">
                  <a:pos x="2402" y="1650"/>
                </a:cxn>
                <a:cxn ang="0">
                  <a:pos x="2178" y="1627"/>
                </a:cxn>
                <a:cxn ang="0">
                  <a:pos x="2062" y="1579"/>
                </a:cxn>
                <a:cxn ang="0">
                  <a:pos x="1945" y="1508"/>
                </a:cxn>
                <a:cxn ang="0">
                  <a:pos x="1679" y="1335"/>
                </a:cxn>
                <a:cxn ang="0">
                  <a:pos x="1638" y="1279"/>
                </a:cxn>
                <a:cxn ang="0">
                  <a:pos x="1488" y="1074"/>
                </a:cxn>
                <a:cxn ang="0">
                  <a:pos x="1381" y="1035"/>
                </a:cxn>
                <a:cxn ang="0">
                  <a:pos x="923" y="1027"/>
                </a:cxn>
                <a:cxn ang="0">
                  <a:pos x="466" y="995"/>
                </a:cxn>
                <a:cxn ang="0">
                  <a:pos x="158" y="909"/>
                </a:cxn>
                <a:cxn ang="0">
                  <a:pos x="101" y="869"/>
                </a:cxn>
                <a:cxn ang="0">
                  <a:pos x="16" y="751"/>
                </a:cxn>
                <a:cxn ang="0">
                  <a:pos x="16" y="546"/>
                </a:cxn>
                <a:cxn ang="0">
                  <a:pos x="117" y="175"/>
                </a:cxn>
                <a:cxn ang="0">
                  <a:pos x="258" y="41"/>
                </a:cxn>
                <a:cxn ang="0">
                  <a:pos x="449" y="25"/>
                </a:cxn>
                <a:cxn ang="0">
                  <a:pos x="500" y="41"/>
                </a:cxn>
                <a:cxn ang="0">
                  <a:pos x="523" y="48"/>
                </a:cxn>
                <a:cxn ang="0">
                  <a:pos x="574" y="64"/>
                </a:cxn>
                <a:cxn ang="0">
                  <a:pos x="682" y="143"/>
                </a:cxn>
                <a:cxn ang="0">
                  <a:pos x="773" y="285"/>
                </a:cxn>
                <a:cxn ang="0">
                  <a:pos x="981" y="514"/>
                </a:cxn>
                <a:cxn ang="0">
                  <a:pos x="1047" y="546"/>
                </a:cxn>
                <a:cxn ang="0">
                  <a:pos x="1156" y="577"/>
                </a:cxn>
                <a:cxn ang="0">
                  <a:pos x="1256" y="593"/>
                </a:cxn>
                <a:cxn ang="0">
                  <a:pos x="1412" y="577"/>
                </a:cxn>
                <a:cxn ang="0">
                  <a:pos x="1480" y="546"/>
                </a:cxn>
                <a:cxn ang="0">
                  <a:pos x="1870" y="325"/>
                </a:cxn>
                <a:cxn ang="0">
                  <a:pos x="2370" y="348"/>
                </a:cxn>
                <a:cxn ang="0">
                  <a:pos x="2428" y="372"/>
                </a:cxn>
                <a:cxn ang="0">
                  <a:pos x="2643" y="459"/>
                </a:cxn>
                <a:cxn ang="0">
                  <a:pos x="2810" y="506"/>
                </a:cxn>
                <a:cxn ang="0">
                  <a:pos x="3034" y="617"/>
                </a:cxn>
                <a:cxn ang="0">
                  <a:pos x="3151" y="695"/>
                </a:cxn>
                <a:cxn ang="0">
                  <a:pos x="3259" y="814"/>
                </a:cxn>
                <a:cxn ang="0">
                  <a:pos x="3309" y="861"/>
                </a:cxn>
                <a:cxn ang="0">
                  <a:pos x="3384" y="1074"/>
                </a:cxn>
                <a:cxn ang="0">
                  <a:pos x="3376" y="1374"/>
                </a:cxn>
                <a:cxn ang="0">
                  <a:pos x="3293" y="1477"/>
                </a:cxn>
                <a:cxn ang="0">
                  <a:pos x="2943" y="1563"/>
                </a:cxn>
                <a:cxn ang="0">
                  <a:pos x="2685" y="1595"/>
                </a:cxn>
                <a:cxn ang="0">
                  <a:pos x="2536" y="1627"/>
                </a:cxn>
              </a:cxnLst>
              <a:rect l="0" t="0" r="0" b="0"/>
              <a:pathLst>
                <a:path w="3212" h="1650">
                  <a:moveTo>
                    <a:pt x="2407" y="1627"/>
                  </a:moveTo>
                  <a:cubicBezTo>
                    <a:pt x="2366" y="1639"/>
                    <a:pt x="2322" y="1643"/>
                    <a:pt x="2280" y="1650"/>
                  </a:cubicBezTo>
                  <a:cubicBezTo>
                    <a:pt x="2197" y="1645"/>
                    <a:pt x="2143" y="1638"/>
                    <a:pt x="2067" y="1627"/>
                  </a:cubicBezTo>
                  <a:cubicBezTo>
                    <a:pt x="2029" y="1614"/>
                    <a:pt x="1993" y="1597"/>
                    <a:pt x="1957" y="1579"/>
                  </a:cubicBezTo>
                  <a:cubicBezTo>
                    <a:pt x="1920" y="1560"/>
                    <a:pt x="1884" y="1521"/>
                    <a:pt x="1846" y="1508"/>
                  </a:cubicBezTo>
                  <a:cubicBezTo>
                    <a:pt x="1741" y="1472"/>
                    <a:pt x="1673" y="1410"/>
                    <a:pt x="1594" y="1335"/>
                  </a:cubicBezTo>
                  <a:cubicBezTo>
                    <a:pt x="1560" y="1302"/>
                    <a:pt x="1580" y="1310"/>
                    <a:pt x="1555" y="1279"/>
                  </a:cubicBezTo>
                  <a:cubicBezTo>
                    <a:pt x="1502" y="1215"/>
                    <a:pt x="1472" y="1134"/>
                    <a:pt x="1413" y="1074"/>
                  </a:cubicBezTo>
                  <a:cubicBezTo>
                    <a:pt x="1388" y="1048"/>
                    <a:pt x="1342" y="1046"/>
                    <a:pt x="1310" y="1035"/>
                  </a:cubicBezTo>
                  <a:cubicBezTo>
                    <a:pt x="1161" y="1041"/>
                    <a:pt x="1023" y="1036"/>
                    <a:pt x="876" y="1027"/>
                  </a:cubicBezTo>
                  <a:cubicBezTo>
                    <a:pt x="732" y="1019"/>
                    <a:pt x="584" y="1024"/>
                    <a:pt x="442" y="995"/>
                  </a:cubicBezTo>
                  <a:cubicBezTo>
                    <a:pt x="339" y="974"/>
                    <a:pt x="248" y="938"/>
                    <a:pt x="150" y="909"/>
                  </a:cubicBezTo>
                  <a:cubicBezTo>
                    <a:pt x="87" y="846"/>
                    <a:pt x="168" y="922"/>
                    <a:pt x="95" y="869"/>
                  </a:cubicBezTo>
                  <a:cubicBezTo>
                    <a:pt x="58" y="842"/>
                    <a:pt x="31" y="793"/>
                    <a:pt x="16" y="751"/>
                  </a:cubicBezTo>
                  <a:cubicBezTo>
                    <a:pt x="0" y="653"/>
                    <a:pt x="6" y="713"/>
                    <a:pt x="16" y="546"/>
                  </a:cubicBezTo>
                  <a:cubicBezTo>
                    <a:pt x="23" y="422"/>
                    <a:pt x="38" y="280"/>
                    <a:pt x="111" y="175"/>
                  </a:cubicBezTo>
                  <a:cubicBezTo>
                    <a:pt x="128" y="117"/>
                    <a:pt x="187" y="58"/>
                    <a:pt x="245" y="41"/>
                  </a:cubicBezTo>
                  <a:cubicBezTo>
                    <a:pt x="304" y="0"/>
                    <a:pt x="346" y="20"/>
                    <a:pt x="426" y="25"/>
                  </a:cubicBezTo>
                  <a:cubicBezTo>
                    <a:pt x="442" y="30"/>
                    <a:pt x="458" y="36"/>
                    <a:pt x="474" y="41"/>
                  </a:cubicBezTo>
                  <a:cubicBezTo>
                    <a:pt x="482" y="43"/>
                    <a:pt x="489" y="46"/>
                    <a:pt x="497" y="48"/>
                  </a:cubicBezTo>
                  <a:cubicBezTo>
                    <a:pt x="513" y="53"/>
                    <a:pt x="545" y="64"/>
                    <a:pt x="545" y="64"/>
                  </a:cubicBezTo>
                  <a:cubicBezTo>
                    <a:pt x="579" y="90"/>
                    <a:pt x="620" y="109"/>
                    <a:pt x="647" y="143"/>
                  </a:cubicBezTo>
                  <a:cubicBezTo>
                    <a:pt x="682" y="187"/>
                    <a:pt x="703" y="240"/>
                    <a:pt x="734" y="285"/>
                  </a:cubicBezTo>
                  <a:cubicBezTo>
                    <a:pt x="769" y="389"/>
                    <a:pt x="830" y="467"/>
                    <a:pt x="931" y="514"/>
                  </a:cubicBezTo>
                  <a:cubicBezTo>
                    <a:pt x="952" y="524"/>
                    <a:pt x="971" y="539"/>
                    <a:pt x="994" y="546"/>
                  </a:cubicBezTo>
                  <a:cubicBezTo>
                    <a:pt x="1028" y="556"/>
                    <a:pt x="1062" y="570"/>
                    <a:pt x="1097" y="577"/>
                  </a:cubicBezTo>
                  <a:cubicBezTo>
                    <a:pt x="1128" y="583"/>
                    <a:pt x="1192" y="593"/>
                    <a:pt x="1192" y="593"/>
                  </a:cubicBezTo>
                  <a:cubicBezTo>
                    <a:pt x="1241" y="590"/>
                    <a:pt x="1295" y="598"/>
                    <a:pt x="1341" y="577"/>
                  </a:cubicBezTo>
                  <a:cubicBezTo>
                    <a:pt x="1363" y="567"/>
                    <a:pt x="1405" y="546"/>
                    <a:pt x="1405" y="546"/>
                  </a:cubicBezTo>
                  <a:cubicBezTo>
                    <a:pt x="1523" y="425"/>
                    <a:pt x="1608" y="359"/>
                    <a:pt x="1775" y="325"/>
                  </a:cubicBezTo>
                  <a:cubicBezTo>
                    <a:pt x="1903" y="328"/>
                    <a:pt x="2103" y="315"/>
                    <a:pt x="2249" y="348"/>
                  </a:cubicBezTo>
                  <a:cubicBezTo>
                    <a:pt x="2277" y="354"/>
                    <a:pt x="2276" y="360"/>
                    <a:pt x="2304" y="372"/>
                  </a:cubicBezTo>
                  <a:cubicBezTo>
                    <a:pt x="2373" y="402"/>
                    <a:pt x="2442" y="425"/>
                    <a:pt x="2509" y="459"/>
                  </a:cubicBezTo>
                  <a:cubicBezTo>
                    <a:pt x="2557" y="484"/>
                    <a:pt x="2617" y="483"/>
                    <a:pt x="2667" y="506"/>
                  </a:cubicBezTo>
                  <a:cubicBezTo>
                    <a:pt x="2738" y="539"/>
                    <a:pt x="2816" y="572"/>
                    <a:pt x="2880" y="617"/>
                  </a:cubicBezTo>
                  <a:cubicBezTo>
                    <a:pt x="2910" y="638"/>
                    <a:pt x="2954" y="684"/>
                    <a:pt x="2991" y="695"/>
                  </a:cubicBezTo>
                  <a:cubicBezTo>
                    <a:pt x="3035" y="726"/>
                    <a:pt x="3057" y="775"/>
                    <a:pt x="3093" y="814"/>
                  </a:cubicBezTo>
                  <a:cubicBezTo>
                    <a:pt x="3108" y="831"/>
                    <a:pt x="3125" y="845"/>
                    <a:pt x="3141" y="861"/>
                  </a:cubicBezTo>
                  <a:cubicBezTo>
                    <a:pt x="3193" y="912"/>
                    <a:pt x="3201" y="1008"/>
                    <a:pt x="3212" y="1074"/>
                  </a:cubicBezTo>
                  <a:cubicBezTo>
                    <a:pt x="3209" y="1174"/>
                    <a:pt x="3209" y="1274"/>
                    <a:pt x="3204" y="1374"/>
                  </a:cubicBezTo>
                  <a:cubicBezTo>
                    <a:pt x="3201" y="1432"/>
                    <a:pt x="3169" y="1453"/>
                    <a:pt x="3125" y="1477"/>
                  </a:cubicBezTo>
                  <a:cubicBezTo>
                    <a:pt x="3018" y="1536"/>
                    <a:pt x="2917" y="1553"/>
                    <a:pt x="2793" y="1563"/>
                  </a:cubicBezTo>
                  <a:cubicBezTo>
                    <a:pt x="2712" y="1577"/>
                    <a:pt x="2630" y="1579"/>
                    <a:pt x="2549" y="1595"/>
                  </a:cubicBezTo>
                  <a:cubicBezTo>
                    <a:pt x="2499" y="1605"/>
                    <a:pt x="2459" y="1627"/>
                    <a:pt x="2407" y="1627"/>
                  </a:cubicBezTo>
                  <a:close/>
                </a:path>
              </a:pathLst>
            </a:custGeom>
            <a:noFill/>
            <a:ln w="28575" cap="flat" cmpd="sng">
              <a:solidFill>
                <a:srgbClr val="800080"/>
              </a:solidFill>
              <a:prstDash val="dash"/>
              <a:miter/>
              <a:headEnd type="none" w="med" len="med"/>
              <a:tailEnd type="none" w="med" len="med"/>
            </a:ln>
          </p:spPr>
          <p:txBody>
            <a:bodyPr/>
            <a:lstStyle/>
            <a:p>
              <a:endParaRPr lang="zh-CN" altLang="en-US"/>
            </a:p>
          </p:txBody>
        </p:sp>
        <p:sp>
          <p:nvSpPr>
            <p:cNvPr id="18447" name="Rectangle 16"/>
            <p:cNvSpPr/>
            <p:nvPr/>
          </p:nvSpPr>
          <p:spPr>
            <a:xfrm>
              <a:off x="4608" y="2880"/>
              <a:ext cx="912" cy="384"/>
            </a:xfrm>
            <a:prstGeom prst="rect">
              <a:avLst/>
            </a:prstGeom>
            <a:solidFill>
              <a:schemeClr val="accent1"/>
            </a:solidFill>
            <a:ln w="9525"/>
            <a:scene3d>
              <a:camera prst="legacyObliqueTopRight">
                <a:rot lat="0" lon="0" rev="0"/>
              </a:camera>
              <a:lightRig rig="legacyFlat3" dir="b"/>
            </a:scene3d>
            <a:sp3d extrusionH="430200" prstMaterial="legacyMatte">
              <a:bevelT w="13500" h="13500" prst="angle"/>
              <a:bevelB w="13500" h="13500" prst="angle"/>
              <a:extrusionClr>
                <a:schemeClr val="accent1"/>
              </a:extrusionClr>
            </a:sp3d>
          </p:spPr>
          <p:txBody>
            <a:bodyPr wrap="none" anchor="ctr" anchorCtr="0">
              <a:flatTx/>
            </a:bodyPr>
            <a:lstStyle/>
            <a:p>
              <a:pPr algn="ctr" eaLnBrk="0" hangingPunct="0">
                <a:buClrTx/>
                <a:buFontTx/>
              </a:pPr>
              <a:r>
                <a:rPr lang="zh-CN" altLang="en-US" sz="3200" dirty="0">
                  <a:solidFill>
                    <a:schemeClr val="bg1"/>
                  </a:solidFill>
                  <a:latin typeface="Tahoma" panose="020B0604030504040204" pitchFamily="34" charset="0"/>
                  <a:ea typeface="隶书" panose="02010509060101010101" pitchFamily="49" charset="-122"/>
                </a:rPr>
                <a:t>学籍科</a:t>
              </a:r>
              <a:endParaRPr lang="zh-CN" altLang="en-US" sz="3200" dirty="0">
                <a:solidFill>
                  <a:schemeClr val="bg1"/>
                </a:solidFill>
                <a:latin typeface="Tahoma" panose="020B0604030504040204" pitchFamily="34" charset="0"/>
                <a:ea typeface="隶书" panose="02010509060101010101" pitchFamily="49" charset="-122"/>
              </a:endParaRPr>
            </a:p>
          </p:txBody>
        </p:sp>
        <p:pic>
          <p:nvPicPr>
            <p:cNvPr id="18448" name="Picture 17" descr="j0211470"/>
            <p:cNvPicPr>
              <a:picLocks noChangeAspect="1"/>
            </p:cNvPicPr>
            <p:nvPr/>
          </p:nvPicPr>
          <p:blipFill>
            <a:blip r:embed="rId1"/>
            <a:stretch>
              <a:fillRect/>
            </a:stretch>
          </p:blipFill>
          <p:spPr>
            <a:xfrm flipV="1">
              <a:off x="4800" y="2496"/>
              <a:ext cx="528" cy="506"/>
            </a:xfrm>
            <a:prstGeom prst="rect">
              <a:avLst/>
            </a:prstGeom>
            <a:noFill/>
            <a:ln w="9525">
              <a:noFill/>
            </a:ln>
          </p:spPr>
        </p:pic>
        <p:sp>
          <p:nvSpPr>
            <p:cNvPr id="18449" name="Rectangle 18"/>
            <p:cNvSpPr/>
            <p:nvPr/>
          </p:nvSpPr>
          <p:spPr>
            <a:xfrm>
              <a:off x="1200" y="3552"/>
              <a:ext cx="912" cy="384"/>
            </a:xfrm>
            <a:prstGeom prst="rect">
              <a:avLst/>
            </a:prstGeom>
            <a:solidFill>
              <a:schemeClr val="accent1"/>
            </a:solidFill>
            <a:ln w="9525"/>
            <a:scene3d>
              <a:camera prst="legacyObliqueTopRight">
                <a:rot lat="0" lon="0" rev="0"/>
              </a:camera>
              <a:lightRig rig="legacyFlat3" dir="b"/>
            </a:scene3d>
            <a:sp3d extrusionH="430200" prstMaterial="legacyMatte">
              <a:bevelT w="13500" h="13500" prst="angle"/>
              <a:bevelB w="13500" h="13500" prst="angle"/>
              <a:extrusionClr>
                <a:schemeClr val="accent1"/>
              </a:extrusionClr>
            </a:sp3d>
          </p:spPr>
          <p:txBody>
            <a:bodyPr wrap="none" anchor="ctr" anchorCtr="0">
              <a:flatTx/>
            </a:bodyPr>
            <a:lstStyle/>
            <a:p>
              <a:pPr algn="ctr" eaLnBrk="0" hangingPunct="0">
                <a:buClrTx/>
                <a:buFontTx/>
              </a:pPr>
              <a:r>
                <a:rPr lang="zh-CN" altLang="en-US" sz="3200" dirty="0">
                  <a:solidFill>
                    <a:schemeClr val="bg1"/>
                  </a:solidFill>
                  <a:latin typeface="Tahoma" panose="020B0604030504040204" pitchFamily="34" charset="0"/>
                  <a:ea typeface="隶书" panose="02010509060101010101" pitchFamily="49" charset="-122"/>
                </a:rPr>
                <a:t>房产科</a:t>
              </a:r>
              <a:endParaRPr lang="zh-CN" altLang="en-US" sz="3200" dirty="0">
                <a:solidFill>
                  <a:schemeClr val="bg1"/>
                </a:solidFill>
                <a:latin typeface="Tahoma" panose="020B0604030504040204" pitchFamily="34" charset="0"/>
                <a:ea typeface="隶书" panose="02010509060101010101" pitchFamily="49" charset="-122"/>
              </a:endParaRPr>
            </a:p>
          </p:txBody>
        </p:sp>
        <p:pic>
          <p:nvPicPr>
            <p:cNvPr id="18450" name="Picture 19" descr="j0211470"/>
            <p:cNvPicPr>
              <a:picLocks noChangeAspect="1"/>
            </p:cNvPicPr>
            <p:nvPr/>
          </p:nvPicPr>
          <p:blipFill>
            <a:blip r:embed="rId1"/>
            <a:stretch>
              <a:fillRect/>
            </a:stretch>
          </p:blipFill>
          <p:spPr>
            <a:xfrm flipV="1">
              <a:off x="1392" y="3168"/>
              <a:ext cx="528" cy="506"/>
            </a:xfrm>
            <a:prstGeom prst="rect">
              <a:avLst/>
            </a:prstGeom>
            <a:noFill/>
            <a:ln w="9525">
              <a:noFill/>
            </a:ln>
          </p:spPr>
        </p:pic>
        <p:sp>
          <p:nvSpPr>
            <p:cNvPr id="18451" name="Rectangle 20"/>
            <p:cNvSpPr/>
            <p:nvPr/>
          </p:nvSpPr>
          <p:spPr>
            <a:xfrm>
              <a:off x="3504" y="1248"/>
              <a:ext cx="912" cy="336"/>
            </a:xfrm>
            <a:prstGeom prst="rect">
              <a:avLst/>
            </a:prstGeom>
            <a:solidFill>
              <a:schemeClr val="accent1"/>
            </a:solidFill>
            <a:ln w="9525"/>
            <a:scene3d>
              <a:camera prst="legacyObliqueTopRight">
                <a:rot lat="0" lon="0" rev="0"/>
              </a:camera>
              <a:lightRig rig="legacyFlat3" dir="b"/>
            </a:scene3d>
            <a:sp3d extrusionH="430200" prstMaterial="legacyMatte">
              <a:bevelT w="13500" h="13500" prst="angle"/>
              <a:bevelB w="13500" h="13500" prst="angle"/>
              <a:extrusionClr>
                <a:schemeClr val="accent1"/>
              </a:extrusionClr>
            </a:sp3d>
          </p:spPr>
          <p:txBody>
            <a:bodyPr wrap="none" anchor="ctr" anchorCtr="0">
              <a:flatTx/>
            </a:bodyPr>
            <a:lstStyle/>
            <a:p>
              <a:pPr algn="ctr" eaLnBrk="0" hangingPunct="0">
                <a:buClrTx/>
                <a:buFontTx/>
              </a:pPr>
              <a:r>
                <a:rPr lang="zh-CN" altLang="en-US" sz="3200" dirty="0">
                  <a:solidFill>
                    <a:schemeClr val="bg1"/>
                  </a:solidFill>
                  <a:latin typeface="Tahoma" panose="020B0604030504040204" pitchFamily="34" charset="0"/>
                  <a:ea typeface="隶书" panose="02010509060101010101" pitchFamily="49" charset="-122"/>
                </a:rPr>
                <a:t>人事科</a:t>
              </a:r>
              <a:endParaRPr lang="zh-CN" altLang="en-US" sz="3200" dirty="0">
                <a:solidFill>
                  <a:schemeClr val="bg1"/>
                </a:solidFill>
                <a:latin typeface="Tahoma" panose="020B0604030504040204" pitchFamily="34" charset="0"/>
                <a:ea typeface="隶书" panose="02010509060101010101" pitchFamily="49" charset="-122"/>
              </a:endParaRPr>
            </a:p>
          </p:txBody>
        </p:sp>
        <p:pic>
          <p:nvPicPr>
            <p:cNvPr id="18452" name="Picture 21" descr="j0211470"/>
            <p:cNvPicPr>
              <a:picLocks noChangeAspect="1"/>
            </p:cNvPicPr>
            <p:nvPr/>
          </p:nvPicPr>
          <p:blipFill>
            <a:blip r:embed="rId1"/>
            <a:stretch>
              <a:fillRect/>
            </a:stretch>
          </p:blipFill>
          <p:spPr>
            <a:xfrm flipV="1">
              <a:off x="3696" y="864"/>
              <a:ext cx="528" cy="506"/>
            </a:xfrm>
            <a:prstGeom prst="rect">
              <a:avLst/>
            </a:prstGeom>
            <a:noFill/>
            <a:ln w="9525">
              <a:noFill/>
            </a:ln>
          </p:spPr>
        </p:pic>
        <p:sp>
          <p:nvSpPr>
            <p:cNvPr id="18453" name="Freeform 22"/>
            <p:cNvSpPr/>
            <p:nvPr/>
          </p:nvSpPr>
          <p:spPr>
            <a:xfrm>
              <a:off x="2304" y="813"/>
              <a:ext cx="2344" cy="2659"/>
            </a:xfrm>
            <a:custGeom>
              <a:avLst/>
              <a:gdLst/>
              <a:ahLst/>
              <a:cxnLst>
                <a:cxn ang="0">
                  <a:pos x="1680" y="8"/>
                </a:cxn>
                <a:cxn ang="0">
                  <a:pos x="1475" y="31"/>
                </a:cxn>
                <a:cxn ang="0">
                  <a:pos x="1404" y="55"/>
                </a:cxn>
                <a:cxn ang="0">
                  <a:pos x="1380" y="63"/>
                </a:cxn>
                <a:cxn ang="0">
                  <a:pos x="1293" y="94"/>
                </a:cxn>
                <a:cxn ang="0">
                  <a:pos x="1136" y="213"/>
                </a:cxn>
                <a:cxn ang="0">
                  <a:pos x="1104" y="268"/>
                </a:cxn>
                <a:cxn ang="0">
                  <a:pos x="1088" y="315"/>
                </a:cxn>
                <a:cxn ang="0">
                  <a:pos x="1104" y="505"/>
                </a:cxn>
                <a:cxn ang="0">
                  <a:pos x="1167" y="710"/>
                </a:cxn>
                <a:cxn ang="0">
                  <a:pos x="1136" y="899"/>
                </a:cxn>
                <a:cxn ang="0">
                  <a:pos x="1041" y="1041"/>
                </a:cxn>
                <a:cxn ang="0">
                  <a:pos x="962" y="1120"/>
                </a:cxn>
                <a:cxn ang="0">
                  <a:pos x="796" y="1160"/>
                </a:cxn>
                <a:cxn ang="0">
                  <a:pos x="702" y="1096"/>
                </a:cxn>
                <a:cxn ang="0">
                  <a:pos x="512" y="986"/>
                </a:cxn>
                <a:cxn ang="0">
                  <a:pos x="339" y="970"/>
                </a:cxn>
                <a:cxn ang="0">
                  <a:pos x="244" y="994"/>
                </a:cxn>
                <a:cxn ang="0">
                  <a:pos x="220" y="1002"/>
                </a:cxn>
                <a:cxn ang="0">
                  <a:pos x="102" y="1049"/>
                </a:cxn>
                <a:cxn ang="0">
                  <a:pos x="31" y="1096"/>
                </a:cxn>
                <a:cxn ang="0">
                  <a:pos x="7" y="1144"/>
                </a:cxn>
                <a:cxn ang="0">
                  <a:pos x="110" y="1381"/>
                </a:cxn>
                <a:cxn ang="0">
                  <a:pos x="276" y="1483"/>
                </a:cxn>
                <a:cxn ang="0">
                  <a:pos x="307" y="1530"/>
                </a:cxn>
                <a:cxn ang="0">
                  <a:pos x="252" y="1641"/>
                </a:cxn>
                <a:cxn ang="0">
                  <a:pos x="157" y="1759"/>
                </a:cxn>
                <a:cxn ang="0">
                  <a:pos x="118" y="1830"/>
                </a:cxn>
                <a:cxn ang="0">
                  <a:pos x="86" y="1941"/>
                </a:cxn>
                <a:cxn ang="0">
                  <a:pos x="94" y="2272"/>
                </a:cxn>
                <a:cxn ang="0">
                  <a:pos x="126" y="2485"/>
                </a:cxn>
                <a:cxn ang="0">
                  <a:pos x="189" y="2548"/>
                </a:cxn>
                <a:cxn ang="0">
                  <a:pos x="591" y="2651"/>
                </a:cxn>
                <a:cxn ang="0">
                  <a:pos x="686" y="2659"/>
                </a:cxn>
                <a:cxn ang="0">
                  <a:pos x="1286" y="2627"/>
                </a:cxn>
                <a:cxn ang="0">
                  <a:pos x="1380" y="2596"/>
                </a:cxn>
                <a:cxn ang="0">
                  <a:pos x="1459" y="2556"/>
                </a:cxn>
                <a:cxn ang="0">
                  <a:pos x="1530" y="2462"/>
                </a:cxn>
                <a:cxn ang="0">
                  <a:pos x="1767" y="2422"/>
                </a:cxn>
                <a:cxn ang="0">
                  <a:pos x="1933" y="2367"/>
                </a:cxn>
                <a:cxn ang="0">
                  <a:pos x="1964" y="2343"/>
                </a:cxn>
                <a:cxn ang="0">
                  <a:pos x="2012" y="2296"/>
                </a:cxn>
                <a:cxn ang="0">
                  <a:pos x="2083" y="2170"/>
                </a:cxn>
                <a:cxn ang="0">
                  <a:pos x="2059" y="1783"/>
                </a:cxn>
                <a:cxn ang="0">
                  <a:pos x="2004" y="1420"/>
                </a:cxn>
                <a:cxn ang="0">
                  <a:pos x="1917" y="1278"/>
                </a:cxn>
                <a:cxn ang="0">
                  <a:pos x="1940" y="1175"/>
                </a:cxn>
                <a:cxn ang="0">
                  <a:pos x="1988" y="1128"/>
                </a:cxn>
                <a:cxn ang="0">
                  <a:pos x="2035" y="1096"/>
                </a:cxn>
                <a:cxn ang="0">
                  <a:pos x="2075" y="1057"/>
                </a:cxn>
                <a:cxn ang="0">
                  <a:pos x="2114" y="1018"/>
                </a:cxn>
                <a:cxn ang="0">
                  <a:pos x="2201" y="931"/>
                </a:cxn>
                <a:cxn ang="0">
                  <a:pos x="2288" y="797"/>
                </a:cxn>
                <a:cxn ang="0">
                  <a:pos x="2311" y="718"/>
                </a:cxn>
                <a:cxn ang="0">
                  <a:pos x="2327" y="670"/>
                </a:cxn>
                <a:cxn ang="0">
                  <a:pos x="2319" y="363"/>
                </a:cxn>
                <a:cxn ang="0">
                  <a:pos x="1940" y="39"/>
                </a:cxn>
                <a:cxn ang="0">
                  <a:pos x="1791" y="0"/>
                </a:cxn>
                <a:cxn ang="0">
                  <a:pos x="1680" y="8"/>
                </a:cxn>
              </a:cxnLst>
              <a:rect l="0" t="0" r="0" b="0"/>
              <a:pathLst>
                <a:path w="2344" h="2659">
                  <a:moveTo>
                    <a:pt x="1680" y="8"/>
                  </a:moveTo>
                  <a:cubicBezTo>
                    <a:pt x="1516" y="16"/>
                    <a:pt x="1584" y="3"/>
                    <a:pt x="1475" y="31"/>
                  </a:cubicBezTo>
                  <a:cubicBezTo>
                    <a:pt x="1451" y="37"/>
                    <a:pt x="1428" y="47"/>
                    <a:pt x="1404" y="55"/>
                  </a:cubicBezTo>
                  <a:cubicBezTo>
                    <a:pt x="1396" y="58"/>
                    <a:pt x="1380" y="63"/>
                    <a:pt x="1380" y="63"/>
                  </a:cubicBezTo>
                  <a:cubicBezTo>
                    <a:pt x="1352" y="83"/>
                    <a:pt x="1326" y="87"/>
                    <a:pt x="1293" y="94"/>
                  </a:cubicBezTo>
                  <a:cubicBezTo>
                    <a:pt x="1233" y="125"/>
                    <a:pt x="1183" y="165"/>
                    <a:pt x="1136" y="213"/>
                  </a:cubicBezTo>
                  <a:cubicBezTo>
                    <a:pt x="1125" y="224"/>
                    <a:pt x="1109" y="255"/>
                    <a:pt x="1104" y="268"/>
                  </a:cubicBezTo>
                  <a:cubicBezTo>
                    <a:pt x="1098" y="283"/>
                    <a:pt x="1088" y="315"/>
                    <a:pt x="1088" y="315"/>
                  </a:cubicBezTo>
                  <a:cubicBezTo>
                    <a:pt x="1093" y="405"/>
                    <a:pt x="1090" y="433"/>
                    <a:pt x="1104" y="505"/>
                  </a:cubicBezTo>
                  <a:cubicBezTo>
                    <a:pt x="1118" y="575"/>
                    <a:pt x="1150" y="641"/>
                    <a:pt x="1167" y="710"/>
                  </a:cubicBezTo>
                  <a:cubicBezTo>
                    <a:pt x="1162" y="764"/>
                    <a:pt x="1165" y="847"/>
                    <a:pt x="1136" y="899"/>
                  </a:cubicBezTo>
                  <a:cubicBezTo>
                    <a:pt x="1109" y="947"/>
                    <a:pt x="1074" y="1000"/>
                    <a:pt x="1041" y="1041"/>
                  </a:cubicBezTo>
                  <a:cubicBezTo>
                    <a:pt x="1010" y="1080"/>
                    <a:pt x="1014" y="1102"/>
                    <a:pt x="962" y="1120"/>
                  </a:cubicBezTo>
                  <a:cubicBezTo>
                    <a:pt x="907" y="1139"/>
                    <a:pt x="854" y="1152"/>
                    <a:pt x="796" y="1160"/>
                  </a:cubicBezTo>
                  <a:cubicBezTo>
                    <a:pt x="761" y="1148"/>
                    <a:pt x="733" y="1117"/>
                    <a:pt x="702" y="1096"/>
                  </a:cubicBezTo>
                  <a:cubicBezTo>
                    <a:pt x="643" y="1056"/>
                    <a:pt x="580" y="1009"/>
                    <a:pt x="512" y="986"/>
                  </a:cubicBezTo>
                  <a:cubicBezTo>
                    <a:pt x="452" y="944"/>
                    <a:pt x="431" y="964"/>
                    <a:pt x="339" y="970"/>
                  </a:cubicBezTo>
                  <a:cubicBezTo>
                    <a:pt x="274" y="981"/>
                    <a:pt x="307" y="973"/>
                    <a:pt x="244" y="994"/>
                  </a:cubicBezTo>
                  <a:cubicBezTo>
                    <a:pt x="236" y="997"/>
                    <a:pt x="220" y="1002"/>
                    <a:pt x="220" y="1002"/>
                  </a:cubicBezTo>
                  <a:cubicBezTo>
                    <a:pt x="185" y="1027"/>
                    <a:pt x="137" y="1026"/>
                    <a:pt x="102" y="1049"/>
                  </a:cubicBezTo>
                  <a:cubicBezTo>
                    <a:pt x="47" y="1086"/>
                    <a:pt x="71" y="1071"/>
                    <a:pt x="31" y="1096"/>
                  </a:cubicBezTo>
                  <a:cubicBezTo>
                    <a:pt x="25" y="1113"/>
                    <a:pt x="9" y="1126"/>
                    <a:pt x="7" y="1144"/>
                  </a:cubicBezTo>
                  <a:cubicBezTo>
                    <a:pt x="0" y="1222"/>
                    <a:pt x="44" y="1337"/>
                    <a:pt x="110" y="1381"/>
                  </a:cubicBezTo>
                  <a:cubicBezTo>
                    <a:pt x="148" y="1436"/>
                    <a:pt x="222" y="1447"/>
                    <a:pt x="276" y="1483"/>
                  </a:cubicBezTo>
                  <a:cubicBezTo>
                    <a:pt x="286" y="1499"/>
                    <a:pt x="305" y="1511"/>
                    <a:pt x="307" y="1530"/>
                  </a:cubicBezTo>
                  <a:cubicBezTo>
                    <a:pt x="313" y="1577"/>
                    <a:pt x="277" y="1609"/>
                    <a:pt x="252" y="1641"/>
                  </a:cubicBezTo>
                  <a:cubicBezTo>
                    <a:pt x="220" y="1682"/>
                    <a:pt x="195" y="1723"/>
                    <a:pt x="157" y="1759"/>
                  </a:cubicBezTo>
                  <a:cubicBezTo>
                    <a:pt x="148" y="1786"/>
                    <a:pt x="134" y="1806"/>
                    <a:pt x="118" y="1830"/>
                  </a:cubicBezTo>
                  <a:cubicBezTo>
                    <a:pt x="105" y="1869"/>
                    <a:pt x="94" y="1901"/>
                    <a:pt x="86" y="1941"/>
                  </a:cubicBezTo>
                  <a:cubicBezTo>
                    <a:pt x="71" y="2114"/>
                    <a:pt x="76" y="2003"/>
                    <a:pt x="94" y="2272"/>
                  </a:cubicBezTo>
                  <a:cubicBezTo>
                    <a:pt x="100" y="2355"/>
                    <a:pt x="100" y="2409"/>
                    <a:pt x="126" y="2485"/>
                  </a:cubicBezTo>
                  <a:cubicBezTo>
                    <a:pt x="135" y="2510"/>
                    <a:pt x="169" y="2532"/>
                    <a:pt x="189" y="2548"/>
                  </a:cubicBezTo>
                  <a:cubicBezTo>
                    <a:pt x="296" y="2633"/>
                    <a:pt x="460" y="2638"/>
                    <a:pt x="591" y="2651"/>
                  </a:cubicBezTo>
                  <a:cubicBezTo>
                    <a:pt x="623" y="2654"/>
                    <a:pt x="654" y="2656"/>
                    <a:pt x="686" y="2659"/>
                  </a:cubicBezTo>
                  <a:cubicBezTo>
                    <a:pt x="887" y="2655"/>
                    <a:pt x="1087" y="2655"/>
                    <a:pt x="1286" y="2627"/>
                  </a:cubicBezTo>
                  <a:cubicBezTo>
                    <a:pt x="1313" y="2618"/>
                    <a:pt x="1354" y="2609"/>
                    <a:pt x="1380" y="2596"/>
                  </a:cubicBezTo>
                  <a:cubicBezTo>
                    <a:pt x="1407" y="2582"/>
                    <a:pt x="1430" y="2566"/>
                    <a:pt x="1459" y="2556"/>
                  </a:cubicBezTo>
                  <a:cubicBezTo>
                    <a:pt x="1474" y="2534"/>
                    <a:pt x="1511" y="2477"/>
                    <a:pt x="1530" y="2462"/>
                  </a:cubicBezTo>
                  <a:cubicBezTo>
                    <a:pt x="1590" y="2414"/>
                    <a:pt x="1708" y="2425"/>
                    <a:pt x="1767" y="2422"/>
                  </a:cubicBezTo>
                  <a:cubicBezTo>
                    <a:pt x="1827" y="2412"/>
                    <a:pt x="1882" y="2404"/>
                    <a:pt x="1933" y="2367"/>
                  </a:cubicBezTo>
                  <a:cubicBezTo>
                    <a:pt x="1944" y="2359"/>
                    <a:pt x="1954" y="2352"/>
                    <a:pt x="1964" y="2343"/>
                  </a:cubicBezTo>
                  <a:cubicBezTo>
                    <a:pt x="1981" y="2328"/>
                    <a:pt x="2012" y="2296"/>
                    <a:pt x="2012" y="2296"/>
                  </a:cubicBezTo>
                  <a:cubicBezTo>
                    <a:pt x="2033" y="2252"/>
                    <a:pt x="2067" y="2216"/>
                    <a:pt x="2083" y="2170"/>
                  </a:cubicBezTo>
                  <a:cubicBezTo>
                    <a:pt x="2078" y="2035"/>
                    <a:pt x="2066" y="1916"/>
                    <a:pt x="2059" y="1783"/>
                  </a:cubicBezTo>
                  <a:cubicBezTo>
                    <a:pt x="2052" y="1651"/>
                    <a:pt x="2043" y="1543"/>
                    <a:pt x="2004" y="1420"/>
                  </a:cubicBezTo>
                  <a:cubicBezTo>
                    <a:pt x="1987" y="1368"/>
                    <a:pt x="1947" y="1323"/>
                    <a:pt x="1917" y="1278"/>
                  </a:cubicBezTo>
                  <a:cubicBezTo>
                    <a:pt x="1922" y="1233"/>
                    <a:pt x="1913" y="1206"/>
                    <a:pt x="1940" y="1175"/>
                  </a:cubicBezTo>
                  <a:cubicBezTo>
                    <a:pt x="1955" y="1158"/>
                    <a:pt x="1972" y="1144"/>
                    <a:pt x="1988" y="1128"/>
                  </a:cubicBezTo>
                  <a:cubicBezTo>
                    <a:pt x="2002" y="1115"/>
                    <a:pt x="2035" y="1096"/>
                    <a:pt x="2035" y="1096"/>
                  </a:cubicBezTo>
                  <a:cubicBezTo>
                    <a:pt x="2083" y="1026"/>
                    <a:pt x="2016" y="1118"/>
                    <a:pt x="2075" y="1057"/>
                  </a:cubicBezTo>
                  <a:cubicBezTo>
                    <a:pt x="2124" y="1007"/>
                    <a:pt x="2053" y="1056"/>
                    <a:pt x="2114" y="1018"/>
                  </a:cubicBezTo>
                  <a:cubicBezTo>
                    <a:pt x="2136" y="986"/>
                    <a:pt x="2169" y="953"/>
                    <a:pt x="2201" y="931"/>
                  </a:cubicBezTo>
                  <a:cubicBezTo>
                    <a:pt x="2230" y="886"/>
                    <a:pt x="2258" y="841"/>
                    <a:pt x="2288" y="797"/>
                  </a:cubicBezTo>
                  <a:cubicBezTo>
                    <a:pt x="2297" y="771"/>
                    <a:pt x="2303" y="744"/>
                    <a:pt x="2311" y="718"/>
                  </a:cubicBezTo>
                  <a:cubicBezTo>
                    <a:pt x="2316" y="702"/>
                    <a:pt x="2327" y="670"/>
                    <a:pt x="2327" y="670"/>
                  </a:cubicBezTo>
                  <a:cubicBezTo>
                    <a:pt x="2338" y="569"/>
                    <a:pt x="2344" y="463"/>
                    <a:pt x="2319" y="363"/>
                  </a:cubicBezTo>
                  <a:cubicBezTo>
                    <a:pt x="2274" y="184"/>
                    <a:pt x="2118" y="59"/>
                    <a:pt x="1940" y="39"/>
                  </a:cubicBezTo>
                  <a:cubicBezTo>
                    <a:pt x="1917" y="33"/>
                    <a:pt x="1812" y="0"/>
                    <a:pt x="1791" y="0"/>
                  </a:cubicBezTo>
                  <a:cubicBezTo>
                    <a:pt x="1754" y="0"/>
                    <a:pt x="1717" y="5"/>
                    <a:pt x="1680" y="8"/>
                  </a:cubicBezTo>
                  <a:close/>
                </a:path>
              </a:pathLst>
            </a:custGeom>
            <a:noFill/>
            <a:ln w="28575" cap="flat" cmpd="sng">
              <a:solidFill>
                <a:srgbClr val="3366FF"/>
              </a:solidFill>
              <a:prstDash val="dash"/>
              <a:miter/>
              <a:headEnd type="none" w="med" len="med"/>
              <a:tailEnd type="none" w="med" len="med"/>
            </a:ln>
          </p:spPr>
          <p:txBody>
            <a:bodyPr/>
            <a:lstStyle/>
            <a:p>
              <a:endParaRPr lang="zh-CN" altLang="en-US"/>
            </a:p>
          </p:txBody>
        </p:sp>
        <p:sp>
          <p:nvSpPr>
            <p:cNvPr id="18454" name="Rectangle 23"/>
            <p:cNvSpPr/>
            <p:nvPr/>
          </p:nvSpPr>
          <p:spPr>
            <a:xfrm>
              <a:off x="672" y="1728"/>
              <a:ext cx="912" cy="384"/>
            </a:xfrm>
            <a:prstGeom prst="rect">
              <a:avLst/>
            </a:prstGeom>
            <a:solidFill>
              <a:schemeClr val="accent1"/>
            </a:solidFill>
            <a:ln w="9525"/>
            <a:scene3d>
              <a:camera prst="legacyObliqueTopRight">
                <a:rot lat="0" lon="0" rev="0"/>
              </a:camera>
              <a:lightRig rig="legacyFlat3" dir="b"/>
            </a:scene3d>
            <a:sp3d extrusionH="430200" prstMaterial="legacyMatte">
              <a:bevelT w="13500" h="13500" prst="angle"/>
              <a:bevelB w="13500" h="13500" prst="angle"/>
              <a:extrusionClr>
                <a:schemeClr val="accent1"/>
              </a:extrusionClr>
            </a:sp3d>
          </p:spPr>
          <p:txBody>
            <a:bodyPr wrap="none" anchor="ctr" anchorCtr="0">
              <a:flatTx/>
            </a:bodyPr>
            <a:lstStyle/>
            <a:p>
              <a:pPr algn="ctr" eaLnBrk="0" hangingPunct="0">
                <a:buClrTx/>
                <a:buFontTx/>
              </a:pPr>
              <a:r>
                <a:rPr lang="zh-CN" altLang="en-US" sz="3200" dirty="0">
                  <a:solidFill>
                    <a:schemeClr val="bg1"/>
                  </a:solidFill>
                  <a:latin typeface="Tahoma" panose="020B0604030504040204" pitchFamily="34" charset="0"/>
                  <a:ea typeface="隶书" panose="02010509060101010101" pitchFamily="49" charset="-122"/>
                </a:rPr>
                <a:t>劳资科</a:t>
              </a:r>
              <a:endParaRPr lang="zh-CN" altLang="en-US" sz="3200" dirty="0">
                <a:solidFill>
                  <a:schemeClr val="bg1"/>
                </a:solidFill>
                <a:latin typeface="Tahoma" panose="020B0604030504040204" pitchFamily="34" charset="0"/>
                <a:ea typeface="隶书" panose="02010509060101010101" pitchFamily="49" charset="-122"/>
              </a:endParaRPr>
            </a:p>
          </p:txBody>
        </p:sp>
        <p:pic>
          <p:nvPicPr>
            <p:cNvPr id="18455" name="Picture 24" descr="j0211470"/>
            <p:cNvPicPr>
              <a:picLocks noChangeAspect="1"/>
            </p:cNvPicPr>
            <p:nvPr/>
          </p:nvPicPr>
          <p:blipFill>
            <a:blip r:embed="rId1"/>
            <a:stretch>
              <a:fillRect/>
            </a:stretch>
          </p:blipFill>
          <p:spPr>
            <a:xfrm flipV="1">
              <a:off x="864" y="1344"/>
              <a:ext cx="528" cy="506"/>
            </a:xfrm>
            <a:prstGeom prst="rect">
              <a:avLst/>
            </a:prstGeom>
            <a:noFill/>
            <a:ln w="9525">
              <a:noFill/>
            </a:ln>
          </p:spPr>
        </p:pic>
        <p:sp>
          <p:nvSpPr>
            <p:cNvPr id="18456" name="Freeform 25"/>
            <p:cNvSpPr/>
            <p:nvPr/>
          </p:nvSpPr>
          <p:spPr>
            <a:xfrm>
              <a:off x="548" y="1196"/>
              <a:ext cx="3224" cy="1731"/>
            </a:xfrm>
            <a:custGeom>
              <a:avLst/>
              <a:gdLst/>
              <a:ahLst/>
              <a:cxnLst>
                <a:cxn ang="0">
                  <a:pos x="28" y="556"/>
                </a:cxn>
                <a:cxn ang="0">
                  <a:pos x="28" y="769"/>
                </a:cxn>
                <a:cxn ang="0">
                  <a:pos x="60" y="919"/>
                </a:cxn>
                <a:cxn ang="0">
                  <a:pos x="328" y="1005"/>
                </a:cxn>
                <a:cxn ang="0">
                  <a:pos x="525" y="1013"/>
                </a:cxn>
                <a:cxn ang="0">
                  <a:pos x="667" y="1021"/>
                </a:cxn>
                <a:cxn ang="0">
                  <a:pos x="999" y="1076"/>
                </a:cxn>
                <a:cxn ang="0">
                  <a:pos x="1180" y="1147"/>
                </a:cxn>
                <a:cxn ang="0">
                  <a:pos x="1275" y="1203"/>
                </a:cxn>
                <a:cxn ang="0">
                  <a:pos x="1314" y="1234"/>
                </a:cxn>
                <a:cxn ang="0">
                  <a:pos x="1385" y="1289"/>
                </a:cxn>
                <a:cxn ang="0">
                  <a:pos x="1432" y="1305"/>
                </a:cxn>
                <a:cxn ang="0">
                  <a:pos x="1464" y="1321"/>
                </a:cxn>
                <a:cxn ang="0">
                  <a:pos x="1488" y="1337"/>
                </a:cxn>
                <a:cxn ang="0">
                  <a:pos x="1646" y="1384"/>
                </a:cxn>
                <a:cxn ang="0">
                  <a:pos x="1788" y="1439"/>
                </a:cxn>
                <a:cxn ang="0">
                  <a:pos x="1843" y="1463"/>
                </a:cxn>
                <a:cxn ang="0">
                  <a:pos x="1898" y="1487"/>
                </a:cxn>
                <a:cxn ang="0">
                  <a:pos x="1930" y="1503"/>
                </a:cxn>
                <a:cxn ang="0">
                  <a:pos x="1953" y="1518"/>
                </a:cxn>
                <a:cxn ang="0">
                  <a:pos x="2001" y="1534"/>
                </a:cxn>
                <a:cxn ang="0">
                  <a:pos x="2174" y="1621"/>
                </a:cxn>
                <a:cxn ang="0">
                  <a:pos x="2332" y="1668"/>
                </a:cxn>
                <a:cxn ang="0">
                  <a:pos x="2821" y="1731"/>
                </a:cxn>
                <a:cxn ang="0">
                  <a:pos x="3097" y="1708"/>
                </a:cxn>
                <a:cxn ang="0">
                  <a:pos x="3200" y="1605"/>
                </a:cxn>
                <a:cxn ang="0">
                  <a:pos x="3224" y="1526"/>
                </a:cxn>
                <a:cxn ang="0">
                  <a:pos x="3168" y="1353"/>
                </a:cxn>
                <a:cxn ang="0">
                  <a:pos x="3097" y="1274"/>
                </a:cxn>
                <a:cxn ang="0">
                  <a:pos x="3058" y="1234"/>
                </a:cxn>
                <a:cxn ang="0">
                  <a:pos x="2995" y="1171"/>
                </a:cxn>
                <a:cxn ang="0">
                  <a:pos x="2766" y="990"/>
                </a:cxn>
                <a:cxn ang="0">
                  <a:pos x="2703" y="927"/>
                </a:cxn>
                <a:cxn ang="0">
                  <a:pos x="2419" y="611"/>
                </a:cxn>
                <a:cxn ang="0">
                  <a:pos x="2300" y="532"/>
                </a:cxn>
                <a:cxn ang="0">
                  <a:pos x="2087" y="406"/>
                </a:cxn>
                <a:cxn ang="0">
                  <a:pos x="2016" y="358"/>
                </a:cxn>
                <a:cxn ang="0">
                  <a:pos x="1969" y="343"/>
                </a:cxn>
                <a:cxn ang="0">
                  <a:pos x="1630" y="193"/>
                </a:cxn>
                <a:cxn ang="0">
                  <a:pos x="1567" y="161"/>
                </a:cxn>
                <a:cxn ang="0">
                  <a:pos x="1543" y="145"/>
                </a:cxn>
                <a:cxn ang="0">
                  <a:pos x="1425" y="106"/>
                </a:cxn>
                <a:cxn ang="0">
                  <a:pos x="1188" y="35"/>
                </a:cxn>
                <a:cxn ang="0">
                  <a:pos x="849" y="11"/>
                </a:cxn>
                <a:cxn ang="0">
                  <a:pos x="383" y="35"/>
                </a:cxn>
                <a:cxn ang="0">
                  <a:pos x="288" y="106"/>
                </a:cxn>
                <a:cxn ang="0">
                  <a:pos x="154" y="224"/>
                </a:cxn>
                <a:cxn ang="0">
                  <a:pos x="4" y="532"/>
                </a:cxn>
                <a:cxn ang="0">
                  <a:pos x="12" y="571"/>
                </a:cxn>
                <a:cxn ang="0">
                  <a:pos x="36" y="587"/>
                </a:cxn>
                <a:cxn ang="0">
                  <a:pos x="28" y="556"/>
                </a:cxn>
              </a:cxnLst>
              <a:rect l="0" t="0" r="0" b="0"/>
              <a:pathLst>
                <a:path w="3224" h="1731">
                  <a:moveTo>
                    <a:pt x="28" y="556"/>
                  </a:moveTo>
                  <a:cubicBezTo>
                    <a:pt x="0" y="638"/>
                    <a:pt x="16" y="581"/>
                    <a:pt x="28" y="769"/>
                  </a:cubicBezTo>
                  <a:cubicBezTo>
                    <a:pt x="31" y="812"/>
                    <a:pt x="35" y="881"/>
                    <a:pt x="60" y="919"/>
                  </a:cubicBezTo>
                  <a:cubicBezTo>
                    <a:pt x="109" y="994"/>
                    <a:pt x="252" y="1001"/>
                    <a:pt x="328" y="1005"/>
                  </a:cubicBezTo>
                  <a:cubicBezTo>
                    <a:pt x="394" y="1009"/>
                    <a:pt x="459" y="1010"/>
                    <a:pt x="525" y="1013"/>
                  </a:cubicBezTo>
                  <a:cubicBezTo>
                    <a:pt x="572" y="1015"/>
                    <a:pt x="620" y="1017"/>
                    <a:pt x="667" y="1021"/>
                  </a:cubicBezTo>
                  <a:cubicBezTo>
                    <a:pt x="776" y="1029"/>
                    <a:pt x="894" y="1043"/>
                    <a:pt x="999" y="1076"/>
                  </a:cubicBezTo>
                  <a:cubicBezTo>
                    <a:pt x="1060" y="1095"/>
                    <a:pt x="1117" y="1133"/>
                    <a:pt x="1180" y="1147"/>
                  </a:cubicBezTo>
                  <a:cubicBezTo>
                    <a:pt x="1213" y="1170"/>
                    <a:pt x="1243" y="1182"/>
                    <a:pt x="1275" y="1203"/>
                  </a:cubicBezTo>
                  <a:cubicBezTo>
                    <a:pt x="1308" y="1254"/>
                    <a:pt x="1269" y="1204"/>
                    <a:pt x="1314" y="1234"/>
                  </a:cubicBezTo>
                  <a:cubicBezTo>
                    <a:pt x="1339" y="1251"/>
                    <a:pt x="1356" y="1276"/>
                    <a:pt x="1385" y="1289"/>
                  </a:cubicBezTo>
                  <a:cubicBezTo>
                    <a:pt x="1400" y="1296"/>
                    <a:pt x="1417" y="1298"/>
                    <a:pt x="1432" y="1305"/>
                  </a:cubicBezTo>
                  <a:cubicBezTo>
                    <a:pt x="1443" y="1310"/>
                    <a:pt x="1454" y="1315"/>
                    <a:pt x="1464" y="1321"/>
                  </a:cubicBezTo>
                  <a:cubicBezTo>
                    <a:pt x="1472" y="1326"/>
                    <a:pt x="1479" y="1333"/>
                    <a:pt x="1488" y="1337"/>
                  </a:cubicBezTo>
                  <a:cubicBezTo>
                    <a:pt x="1530" y="1359"/>
                    <a:pt x="1598" y="1372"/>
                    <a:pt x="1646" y="1384"/>
                  </a:cubicBezTo>
                  <a:cubicBezTo>
                    <a:pt x="1689" y="1414"/>
                    <a:pt x="1741" y="1419"/>
                    <a:pt x="1788" y="1439"/>
                  </a:cubicBezTo>
                  <a:cubicBezTo>
                    <a:pt x="1871" y="1474"/>
                    <a:pt x="1776" y="1441"/>
                    <a:pt x="1843" y="1463"/>
                  </a:cubicBezTo>
                  <a:cubicBezTo>
                    <a:pt x="1889" y="1495"/>
                    <a:pt x="1841" y="1466"/>
                    <a:pt x="1898" y="1487"/>
                  </a:cubicBezTo>
                  <a:cubicBezTo>
                    <a:pt x="1909" y="1491"/>
                    <a:pt x="1920" y="1497"/>
                    <a:pt x="1930" y="1503"/>
                  </a:cubicBezTo>
                  <a:cubicBezTo>
                    <a:pt x="1938" y="1507"/>
                    <a:pt x="1945" y="1514"/>
                    <a:pt x="1953" y="1518"/>
                  </a:cubicBezTo>
                  <a:cubicBezTo>
                    <a:pt x="1968" y="1525"/>
                    <a:pt x="2001" y="1534"/>
                    <a:pt x="2001" y="1534"/>
                  </a:cubicBezTo>
                  <a:cubicBezTo>
                    <a:pt x="2048" y="1567"/>
                    <a:pt x="2117" y="1606"/>
                    <a:pt x="2174" y="1621"/>
                  </a:cubicBezTo>
                  <a:cubicBezTo>
                    <a:pt x="2220" y="1652"/>
                    <a:pt x="2278" y="1656"/>
                    <a:pt x="2332" y="1668"/>
                  </a:cubicBezTo>
                  <a:cubicBezTo>
                    <a:pt x="2492" y="1703"/>
                    <a:pt x="2658" y="1716"/>
                    <a:pt x="2821" y="1731"/>
                  </a:cubicBezTo>
                  <a:cubicBezTo>
                    <a:pt x="2977" y="1725"/>
                    <a:pt x="2990" y="1730"/>
                    <a:pt x="3097" y="1708"/>
                  </a:cubicBezTo>
                  <a:cubicBezTo>
                    <a:pt x="3137" y="1681"/>
                    <a:pt x="3178" y="1650"/>
                    <a:pt x="3200" y="1605"/>
                  </a:cubicBezTo>
                  <a:cubicBezTo>
                    <a:pt x="3212" y="1581"/>
                    <a:pt x="3216" y="1551"/>
                    <a:pt x="3224" y="1526"/>
                  </a:cubicBezTo>
                  <a:cubicBezTo>
                    <a:pt x="3216" y="1468"/>
                    <a:pt x="3201" y="1403"/>
                    <a:pt x="3168" y="1353"/>
                  </a:cubicBezTo>
                  <a:cubicBezTo>
                    <a:pt x="3149" y="1324"/>
                    <a:pt x="3119" y="1300"/>
                    <a:pt x="3097" y="1274"/>
                  </a:cubicBezTo>
                  <a:cubicBezTo>
                    <a:pt x="3062" y="1232"/>
                    <a:pt x="3105" y="1265"/>
                    <a:pt x="3058" y="1234"/>
                  </a:cubicBezTo>
                  <a:cubicBezTo>
                    <a:pt x="3040" y="1208"/>
                    <a:pt x="3021" y="1189"/>
                    <a:pt x="2995" y="1171"/>
                  </a:cubicBezTo>
                  <a:cubicBezTo>
                    <a:pt x="2955" y="1111"/>
                    <a:pt x="2828" y="1034"/>
                    <a:pt x="2766" y="990"/>
                  </a:cubicBezTo>
                  <a:cubicBezTo>
                    <a:pt x="2739" y="970"/>
                    <a:pt x="2732" y="945"/>
                    <a:pt x="2703" y="927"/>
                  </a:cubicBezTo>
                  <a:cubicBezTo>
                    <a:pt x="2615" y="810"/>
                    <a:pt x="2537" y="699"/>
                    <a:pt x="2419" y="611"/>
                  </a:cubicBezTo>
                  <a:cubicBezTo>
                    <a:pt x="2381" y="583"/>
                    <a:pt x="2345" y="547"/>
                    <a:pt x="2300" y="532"/>
                  </a:cubicBezTo>
                  <a:cubicBezTo>
                    <a:pt x="2235" y="482"/>
                    <a:pt x="2158" y="446"/>
                    <a:pt x="2087" y="406"/>
                  </a:cubicBezTo>
                  <a:cubicBezTo>
                    <a:pt x="2021" y="369"/>
                    <a:pt x="2094" y="393"/>
                    <a:pt x="2016" y="358"/>
                  </a:cubicBezTo>
                  <a:cubicBezTo>
                    <a:pt x="2001" y="351"/>
                    <a:pt x="1969" y="343"/>
                    <a:pt x="1969" y="343"/>
                  </a:cubicBezTo>
                  <a:cubicBezTo>
                    <a:pt x="1876" y="273"/>
                    <a:pt x="1736" y="242"/>
                    <a:pt x="1630" y="193"/>
                  </a:cubicBezTo>
                  <a:cubicBezTo>
                    <a:pt x="1609" y="183"/>
                    <a:pt x="1587" y="174"/>
                    <a:pt x="1567" y="161"/>
                  </a:cubicBezTo>
                  <a:cubicBezTo>
                    <a:pt x="1559" y="156"/>
                    <a:pt x="1552" y="149"/>
                    <a:pt x="1543" y="145"/>
                  </a:cubicBezTo>
                  <a:cubicBezTo>
                    <a:pt x="1506" y="127"/>
                    <a:pt x="1463" y="120"/>
                    <a:pt x="1425" y="106"/>
                  </a:cubicBezTo>
                  <a:cubicBezTo>
                    <a:pt x="1346" y="77"/>
                    <a:pt x="1270" y="52"/>
                    <a:pt x="1188" y="35"/>
                  </a:cubicBezTo>
                  <a:cubicBezTo>
                    <a:pt x="1079" y="13"/>
                    <a:pt x="958" y="15"/>
                    <a:pt x="849" y="11"/>
                  </a:cubicBezTo>
                  <a:cubicBezTo>
                    <a:pt x="560" y="17"/>
                    <a:pt x="557" y="0"/>
                    <a:pt x="383" y="35"/>
                  </a:cubicBezTo>
                  <a:cubicBezTo>
                    <a:pt x="349" y="58"/>
                    <a:pt x="322" y="84"/>
                    <a:pt x="288" y="106"/>
                  </a:cubicBezTo>
                  <a:cubicBezTo>
                    <a:pt x="256" y="158"/>
                    <a:pt x="194" y="179"/>
                    <a:pt x="154" y="224"/>
                  </a:cubicBezTo>
                  <a:cubicBezTo>
                    <a:pt x="84" y="302"/>
                    <a:pt x="29" y="431"/>
                    <a:pt x="4" y="532"/>
                  </a:cubicBezTo>
                  <a:cubicBezTo>
                    <a:pt x="7" y="545"/>
                    <a:pt x="5" y="560"/>
                    <a:pt x="12" y="571"/>
                  </a:cubicBezTo>
                  <a:cubicBezTo>
                    <a:pt x="17" y="579"/>
                    <a:pt x="29" y="594"/>
                    <a:pt x="36" y="587"/>
                  </a:cubicBezTo>
                  <a:cubicBezTo>
                    <a:pt x="44" y="580"/>
                    <a:pt x="31" y="566"/>
                    <a:pt x="28" y="556"/>
                  </a:cubicBezTo>
                  <a:close/>
                </a:path>
              </a:pathLst>
            </a:custGeom>
            <a:noFill/>
            <a:ln w="28575" cap="flat" cmpd="sng">
              <a:solidFill>
                <a:srgbClr val="808000"/>
              </a:solidFill>
              <a:prstDash val="dash"/>
              <a:miter/>
              <a:headEnd type="none" w="med" len="med"/>
              <a:tailEnd type="none" w="med" len="med"/>
            </a:ln>
          </p:spPr>
          <p:txBody>
            <a:bodyPr/>
            <a:lstStyle/>
            <a:p>
              <a:endParaRPr lang="zh-CN" altLang="en-US"/>
            </a:p>
          </p:txBody>
        </p:sp>
        <p:sp>
          <p:nvSpPr>
            <p:cNvPr id="18457" name="Freeform 26"/>
            <p:cNvSpPr/>
            <p:nvPr/>
          </p:nvSpPr>
          <p:spPr>
            <a:xfrm>
              <a:off x="939" y="1759"/>
              <a:ext cx="2754" cy="2374"/>
            </a:xfrm>
            <a:custGeom>
              <a:avLst/>
              <a:gdLst/>
              <a:ahLst/>
              <a:cxnLst>
                <a:cxn ang="0">
                  <a:pos x="142" y="1720"/>
                </a:cxn>
                <a:cxn ang="0">
                  <a:pos x="197" y="1665"/>
                </a:cxn>
                <a:cxn ang="0">
                  <a:pos x="363" y="1507"/>
                </a:cxn>
                <a:cxn ang="0">
                  <a:pos x="434" y="1460"/>
                </a:cxn>
                <a:cxn ang="0">
                  <a:pos x="599" y="1310"/>
                </a:cxn>
                <a:cxn ang="0">
                  <a:pos x="702" y="1168"/>
                </a:cxn>
                <a:cxn ang="0">
                  <a:pos x="891" y="1066"/>
                </a:cxn>
                <a:cxn ang="0">
                  <a:pos x="1128" y="963"/>
                </a:cxn>
                <a:cxn ang="0">
                  <a:pos x="1199" y="916"/>
                </a:cxn>
                <a:cxn ang="0">
                  <a:pos x="1294" y="829"/>
                </a:cxn>
                <a:cxn ang="0">
                  <a:pos x="1349" y="750"/>
                </a:cxn>
                <a:cxn ang="0">
                  <a:pos x="1373" y="679"/>
                </a:cxn>
                <a:cxn ang="0">
                  <a:pos x="1420" y="497"/>
                </a:cxn>
                <a:cxn ang="0">
                  <a:pos x="1507" y="190"/>
                </a:cxn>
                <a:cxn ang="0">
                  <a:pos x="1665" y="56"/>
                </a:cxn>
                <a:cxn ang="0">
                  <a:pos x="1822" y="0"/>
                </a:cxn>
                <a:cxn ang="0">
                  <a:pos x="1980" y="71"/>
                </a:cxn>
                <a:cxn ang="0">
                  <a:pos x="2012" y="119"/>
                </a:cxn>
                <a:cxn ang="0">
                  <a:pos x="2028" y="142"/>
                </a:cxn>
                <a:cxn ang="0">
                  <a:pos x="2067" y="348"/>
                </a:cxn>
                <a:cxn ang="0">
                  <a:pos x="2083" y="466"/>
                </a:cxn>
                <a:cxn ang="0">
                  <a:pos x="2122" y="505"/>
                </a:cxn>
                <a:cxn ang="0">
                  <a:pos x="2383" y="600"/>
                </a:cxn>
                <a:cxn ang="0">
                  <a:pos x="2517" y="663"/>
                </a:cxn>
                <a:cxn ang="0">
                  <a:pos x="2596" y="703"/>
                </a:cxn>
                <a:cxn ang="0">
                  <a:pos x="2714" y="766"/>
                </a:cxn>
                <a:cxn ang="0">
                  <a:pos x="2753" y="853"/>
                </a:cxn>
                <a:cxn ang="0">
                  <a:pos x="2714" y="1050"/>
                </a:cxn>
                <a:cxn ang="0">
                  <a:pos x="2517" y="1208"/>
                </a:cxn>
                <a:cxn ang="0">
                  <a:pos x="2398" y="1286"/>
                </a:cxn>
                <a:cxn ang="0">
                  <a:pos x="2177" y="1373"/>
                </a:cxn>
                <a:cxn ang="0">
                  <a:pos x="2154" y="1389"/>
                </a:cxn>
                <a:cxn ang="0">
                  <a:pos x="2106" y="1405"/>
                </a:cxn>
                <a:cxn ang="0">
                  <a:pos x="2035" y="1444"/>
                </a:cxn>
                <a:cxn ang="0">
                  <a:pos x="1941" y="1563"/>
                </a:cxn>
                <a:cxn ang="0">
                  <a:pos x="1870" y="1634"/>
                </a:cxn>
                <a:cxn ang="0">
                  <a:pos x="1736" y="1728"/>
                </a:cxn>
                <a:cxn ang="0">
                  <a:pos x="1633" y="1815"/>
                </a:cxn>
                <a:cxn ang="0">
                  <a:pos x="1436" y="2012"/>
                </a:cxn>
                <a:cxn ang="0">
                  <a:pos x="1262" y="2178"/>
                </a:cxn>
                <a:cxn ang="0">
                  <a:pos x="1168" y="2233"/>
                </a:cxn>
                <a:cxn ang="0">
                  <a:pos x="883" y="2336"/>
                </a:cxn>
                <a:cxn ang="0">
                  <a:pos x="284" y="2265"/>
                </a:cxn>
                <a:cxn ang="0">
                  <a:pos x="94" y="2107"/>
                </a:cxn>
                <a:cxn ang="0">
                  <a:pos x="31" y="2028"/>
                </a:cxn>
                <a:cxn ang="0">
                  <a:pos x="87" y="1776"/>
                </a:cxn>
                <a:cxn ang="0">
                  <a:pos x="150" y="1720"/>
                </a:cxn>
                <a:cxn ang="0">
                  <a:pos x="173" y="1713"/>
                </a:cxn>
                <a:cxn ang="0">
                  <a:pos x="142" y="1720"/>
                </a:cxn>
              </a:cxnLst>
              <a:rect l="0" t="0" r="0" b="0"/>
              <a:pathLst>
                <a:path w="2754" h="2374">
                  <a:moveTo>
                    <a:pt x="142" y="1720"/>
                  </a:moveTo>
                  <a:cubicBezTo>
                    <a:pt x="178" y="1668"/>
                    <a:pt x="132" y="1730"/>
                    <a:pt x="197" y="1665"/>
                  </a:cubicBezTo>
                  <a:cubicBezTo>
                    <a:pt x="253" y="1609"/>
                    <a:pt x="299" y="1554"/>
                    <a:pt x="363" y="1507"/>
                  </a:cubicBezTo>
                  <a:cubicBezTo>
                    <a:pt x="386" y="1490"/>
                    <a:pt x="414" y="1480"/>
                    <a:pt x="434" y="1460"/>
                  </a:cubicBezTo>
                  <a:cubicBezTo>
                    <a:pt x="487" y="1407"/>
                    <a:pt x="542" y="1358"/>
                    <a:pt x="599" y="1310"/>
                  </a:cubicBezTo>
                  <a:cubicBezTo>
                    <a:pt x="646" y="1270"/>
                    <a:pt x="660" y="1210"/>
                    <a:pt x="702" y="1168"/>
                  </a:cubicBezTo>
                  <a:cubicBezTo>
                    <a:pt x="753" y="1117"/>
                    <a:pt x="823" y="1087"/>
                    <a:pt x="891" y="1066"/>
                  </a:cubicBezTo>
                  <a:cubicBezTo>
                    <a:pt x="962" y="1019"/>
                    <a:pt x="1057" y="1012"/>
                    <a:pt x="1128" y="963"/>
                  </a:cubicBezTo>
                  <a:cubicBezTo>
                    <a:pt x="1151" y="947"/>
                    <a:pt x="1178" y="935"/>
                    <a:pt x="1199" y="916"/>
                  </a:cubicBezTo>
                  <a:cubicBezTo>
                    <a:pt x="1233" y="886"/>
                    <a:pt x="1257" y="854"/>
                    <a:pt x="1294" y="829"/>
                  </a:cubicBezTo>
                  <a:cubicBezTo>
                    <a:pt x="1339" y="766"/>
                    <a:pt x="1321" y="793"/>
                    <a:pt x="1349" y="750"/>
                  </a:cubicBezTo>
                  <a:cubicBezTo>
                    <a:pt x="1350" y="749"/>
                    <a:pt x="1369" y="691"/>
                    <a:pt x="1373" y="679"/>
                  </a:cubicBezTo>
                  <a:cubicBezTo>
                    <a:pt x="1393" y="619"/>
                    <a:pt x="1407" y="559"/>
                    <a:pt x="1420" y="497"/>
                  </a:cubicBezTo>
                  <a:cubicBezTo>
                    <a:pt x="1440" y="398"/>
                    <a:pt x="1447" y="276"/>
                    <a:pt x="1507" y="190"/>
                  </a:cubicBezTo>
                  <a:cubicBezTo>
                    <a:pt x="1531" y="118"/>
                    <a:pt x="1595" y="76"/>
                    <a:pt x="1665" y="56"/>
                  </a:cubicBezTo>
                  <a:cubicBezTo>
                    <a:pt x="1710" y="25"/>
                    <a:pt x="1770" y="13"/>
                    <a:pt x="1822" y="0"/>
                  </a:cubicBezTo>
                  <a:cubicBezTo>
                    <a:pt x="1917" y="12"/>
                    <a:pt x="1907" y="24"/>
                    <a:pt x="1980" y="71"/>
                  </a:cubicBezTo>
                  <a:cubicBezTo>
                    <a:pt x="1991" y="87"/>
                    <a:pt x="2001" y="103"/>
                    <a:pt x="2012" y="119"/>
                  </a:cubicBezTo>
                  <a:cubicBezTo>
                    <a:pt x="2017" y="127"/>
                    <a:pt x="2028" y="142"/>
                    <a:pt x="2028" y="142"/>
                  </a:cubicBezTo>
                  <a:cubicBezTo>
                    <a:pt x="2048" y="210"/>
                    <a:pt x="2060" y="277"/>
                    <a:pt x="2067" y="348"/>
                  </a:cubicBezTo>
                  <a:cubicBezTo>
                    <a:pt x="2068" y="362"/>
                    <a:pt x="2071" y="438"/>
                    <a:pt x="2083" y="466"/>
                  </a:cubicBezTo>
                  <a:cubicBezTo>
                    <a:pt x="2096" y="497"/>
                    <a:pt x="2098" y="485"/>
                    <a:pt x="2122" y="505"/>
                  </a:cubicBezTo>
                  <a:cubicBezTo>
                    <a:pt x="2195" y="566"/>
                    <a:pt x="2294" y="570"/>
                    <a:pt x="2383" y="600"/>
                  </a:cubicBezTo>
                  <a:cubicBezTo>
                    <a:pt x="2423" y="628"/>
                    <a:pt x="2474" y="639"/>
                    <a:pt x="2517" y="663"/>
                  </a:cubicBezTo>
                  <a:cubicBezTo>
                    <a:pt x="2597" y="707"/>
                    <a:pt x="2532" y="687"/>
                    <a:pt x="2596" y="703"/>
                  </a:cubicBezTo>
                  <a:cubicBezTo>
                    <a:pt x="2634" y="728"/>
                    <a:pt x="2676" y="741"/>
                    <a:pt x="2714" y="766"/>
                  </a:cubicBezTo>
                  <a:cubicBezTo>
                    <a:pt x="2754" y="824"/>
                    <a:pt x="2743" y="794"/>
                    <a:pt x="2753" y="853"/>
                  </a:cubicBezTo>
                  <a:cubicBezTo>
                    <a:pt x="2749" y="909"/>
                    <a:pt x="2752" y="998"/>
                    <a:pt x="2714" y="1050"/>
                  </a:cubicBezTo>
                  <a:cubicBezTo>
                    <a:pt x="2665" y="1118"/>
                    <a:pt x="2589" y="1165"/>
                    <a:pt x="2517" y="1208"/>
                  </a:cubicBezTo>
                  <a:cubicBezTo>
                    <a:pt x="2481" y="1229"/>
                    <a:pt x="2438" y="1272"/>
                    <a:pt x="2398" y="1286"/>
                  </a:cubicBezTo>
                  <a:cubicBezTo>
                    <a:pt x="2323" y="1312"/>
                    <a:pt x="2255" y="1354"/>
                    <a:pt x="2177" y="1373"/>
                  </a:cubicBezTo>
                  <a:cubicBezTo>
                    <a:pt x="2169" y="1378"/>
                    <a:pt x="2163" y="1385"/>
                    <a:pt x="2154" y="1389"/>
                  </a:cubicBezTo>
                  <a:cubicBezTo>
                    <a:pt x="2139" y="1396"/>
                    <a:pt x="2106" y="1405"/>
                    <a:pt x="2106" y="1405"/>
                  </a:cubicBezTo>
                  <a:cubicBezTo>
                    <a:pt x="2083" y="1421"/>
                    <a:pt x="2055" y="1426"/>
                    <a:pt x="2035" y="1444"/>
                  </a:cubicBezTo>
                  <a:cubicBezTo>
                    <a:pt x="1992" y="1482"/>
                    <a:pt x="1972" y="1515"/>
                    <a:pt x="1941" y="1563"/>
                  </a:cubicBezTo>
                  <a:cubicBezTo>
                    <a:pt x="1923" y="1591"/>
                    <a:pt x="1894" y="1610"/>
                    <a:pt x="1870" y="1634"/>
                  </a:cubicBezTo>
                  <a:cubicBezTo>
                    <a:pt x="1830" y="1674"/>
                    <a:pt x="1781" y="1698"/>
                    <a:pt x="1736" y="1728"/>
                  </a:cubicBezTo>
                  <a:cubicBezTo>
                    <a:pt x="1692" y="1757"/>
                    <a:pt x="1673" y="1788"/>
                    <a:pt x="1633" y="1815"/>
                  </a:cubicBezTo>
                  <a:cubicBezTo>
                    <a:pt x="1593" y="1875"/>
                    <a:pt x="1497" y="1972"/>
                    <a:pt x="1436" y="2012"/>
                  </a:cubicBezTo>
                  <a:cubicBezTo>
                    <a:pt x="1395" y="2074"/>
                    <a:pt x="1336" y="2153"/>
                    <a:pt x="1262" y="2178"/>
                  </a:cubicBezTo>
                  <a:cubicBezTo>
                    <a:pt x="1230" y="2200"/>
                    <a:pt x="1204" y="2220"/>
                    <a:pt x="1168" y="2233"/>
                  </a:cubicBezTo>
                  <a:cubicBezTo>
                    <a:pt x="1085" y="2295"/>
                    <a:pt x="985" y="2321"/>
                    <a:pt x="883" y="2336"/>
                  </a:cubicBezTo>
                  <a:cubicBezTo>
                    <a:pt x="774" y="2374"/>
                    <a:pt x="428" y="2351"/>
                    <a:pt x="284" y="2265"/>
                  </a:cubicBezTo>
                  <a:cubicBezTo>
                    <a:pt x="212" y="2222"/>
                    <a:pt x="163" y="2153"/>
                    <a:pt x="94" y="2107"/>
                  </a:cubicBezTo>
                  <a:cubicBezTo>
                    <a:pt x="76" y="2077"/>
                    <a:pt x="56" y="2053"/>
                    <a:pt x="31" y="2028"/>
                  </a:cubicBezTo>
                  <a:cubicBezTo>
                    <a:pt x="0" y="1938"/>
                    <a:pt x="39" y="1852"/>
                    <a:pt x="87" y="1776"/>
                  </a:cubicBezTo>
                  <a:cubicBezTo>
                    <a:pt x="112" y="1736"/>
                    <a:pt x="94" y="1757"/>
                    <a:pt x="150" y="1720"/>
                  </a:cubicBezTo>
                  <a:cubicBezTo>
                    <a:pt x="157" y="1716"/>
                    <a:pt x="181" y="1713"/>
                    <a:pt x="173" y="1713"/>
                  </a:cubicBezTo>
                  <a:cubicBezTo>
                    <a:pt x="162" y="1713"/>
                    <a:pt x="152" y="1718"/>
                    <a:pt x="142" y="1720"/>
                  </a:cubicBezTo>
                  <a:close/>
                </a:path>
              </a:pathLst>
            </a:custGeom>
            <a:noFill/>
            <a:ln w="28575" cap="flat" cmpd="sng">
              <a:solidFill>
                <a:srgbClr val="FF00FF"/>
              </a:solidFill>
              <a:prstDash val="dash"/>
              <a:miter/>
              <a:headEnd type="none" w="med" len="med"/>
              <a:tailEnd type="none" w="med" len="med"/>
            </a:ln>
          </p:spPr>
          <p:txBody>
            <a:bodyPr/>
            <a:lstStyle/>
            <a:p>
              <a:endParaRPr lang="zh-CN" altLang="en-US"/>
            </a:p>
          </p:txBody>
        </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p:cNvSpPr>
          <p:nvPr>
            <p:ph type="title" idx="4294967295"/>
          </p:nvPr>
        </p:nvSpPr>
        <p:spPr/>
        <p:txBody>
          <a:bodyPr wrap="square" lIns="91440" tIns="45720" rIns="91440" bIns="45720" anchor="b" anchorCtr="0"/>
          <a:lstStyle/>
          <a:p>
            <a:r>
              <a:rPr lang="en-US" altLang="zh-CN" sz="4400" dirty="0">
                <a:effectLst/>
                <a:latin typeface="Arial" panose="020B0604020202020204" pitchFamily="34" charset="0"/>
                <a:ea typeface="黑体" panose="02010609060101010101" pitchFamily="49" charset="-122"/>
              </a:rPr>
              <a:t>Levels of Abstraction</a:t>
            </a:r>
            <a:endParaRPr lang="en-US" altLang="zh-CN" sz="4400" dirty="0">
              <a:effectLst/>
              <a:latin typeface="Arial" panose="020B0604020202020204" pitchFamily="34" charset="0"/>
              <a:ea typeface="黑体" panose="02010609060101010101" pitchFamily="49" charset="-122"/>
            </a:endParaRPr>
          </a:p>
        </p:txBody>
      </p:sp>
      <p:sp>
        <p:nvSpPr>
          <p:cNvPr id="19458" name="Rectangle 3"/>
          <p:cNvSpPr>
            <a:spLocks noGrp="1"/>
          </p:cNvSpPr>
          <p:nvPr>
            <p:ph type="body" idx="4294967295"/>
          </p:nvPr>
        </p:nvSpPr>
        <p:spPr>
          <a:xfrm>
            <a:off x="225425" y="1077913"/>
            <a:ext cx="8751888" cy="5497512"/>
          </a:xfrm>
        </p:spPr>
        <p:txBody>
          <a:bodyPr vert="horz" wrap="square" lIns="91440" tIns="45720" rIns="91440" bIns="45720" anchor="t" anchorCtr="0"/>
          <a:lstStyle/>
          <a:p>
            <a:pPr defTabSz="914400">
              <a:tabLst>
                <a:tab pos="1821180" algn="l"/>
                <a:tab pos="3659505" algn="l"/>
                <a:tab pos="3943350" algn="l"/>
              </a:tabLst>
            </a:pPr>
            <a:r>
              <a:rPr lang="en-US" altLang="zh-CN" sz="2400" b="1" dirty="0">
                <a:solidFill>
                  <a:srgbClr val="000099"/>
                </a:solidFill>
                <a:latin typeface="Arial" panose="020B0604020202020204" pitchFamily="34" charset="0"/>
              </a:rPr>
              <a:t>Physical level:</a:t>
            </a:r>
            <a:r>
              <a:rPr lang="en-US" altLang="zh-CN" sz="2400" dirty="0">
                <a:latin typeface="Arial" panose="020B0604020202020204" pitchFamily="34" charset="0"/>
              </a:rPr>
              <a:t> describes how a record (e.g., instructor) is stored.</a:t>
            </a:r>
            <a:endParaRPr lang="en-US" altLang="zh-CN" sz="2400" dirty="0">
              <a:latin typeface="Arial" panose="020B0604020202020204" pitchFamily="34" charset="0"/>
            </a:endParaRPr>
          </a:p>
          <a:p>
            <a:pPr defTabSz="914400">
              <a:tabLst>
                <a:tab pos="1821180" algn="l"/>
                <a:tab pos="3659505" algn="l"/>
                <a:tab pos="3943350" algn="l"/>
              </a:tabLst>
            </a:pPr>
            <a:r>
              <a:rPr lang="en-US" altLang="zh-CN" sz="2400" b="1" dirty="0">
                <a:solidFill>
                  <a:srgbClr val="000099"/>
                </a:solidFill>
                <a:latin typeface="Arial" panose="020B0604020202020204" pitchFamily="34" charset="0"/>
              </a:rPr>
              <a:t>Logical level:</a:t>
            </a:r>
            <a:r>
              <a:rPr lang="en-US" altLang="zh-CN" sz="2400" dirty="0">
                <a:latin typeface="Arial" panose="020B0604020202020204" pitchFamily="34" charset="0"/>
              </a:rPr>
              <a:t> describes data stored in database, and the relationships among the data.</a:t>
            </a:r>
            <a:endParaRPr lang="en-US" altLang="zh-CN" sz="2400" dirty="0">
              <a:latin typeface="Arial" panose="020B0604020202020204" pitchFamily="34" charset="0"/>
            </a:endParaRPr>
          </a:p>
          <a:p>
            <a:pPr lvl="1" defTabSz="914400">
              <a:buNone/>
              <a:tabLst>
                <a:tab pos="1821180" algn="l"/>
                <a:tab pos="3659505" algn="l"/>
                <a:tab pos="3943350" algn="l"/>
              </a:tabLst>
            </a:pPr>
            <a:r>
              <a:rPr lang="en-US" altLang="zh-CN" sz="2400" b="1" dirty="0">
                <a:latin typeface="Arial" panose="020B0604020202020204" pitchFamily="34" charset="0"/>
              </a:rPr>
              <a:t>	type</a:t>
            </a:r>
            <a:r>
              <a:rPr lang="en-US" altLang="zh-CN" sz="2400" dirty="0">
                <a:latin typeface="Arial" panose="020B0604020202020204" pitchFamily="34" charset="0"/>
              </a:rPr>
              <a:t> </a:t>
            </a:r>
            <a:r>
              <a:rPr lang="en-US" altLang="zh-CN" sz="2400" i="1" dirty="0">
                <a:latin typeface="Arial" panose="020B0604020202020204" pitchFamily="34" charset="0"/>
              </a:rPr>
              <a:t>instructor</a:t>
            </a:r>
            <a:r>
              <a:rPr lang="en-US" altLang="zh-CN" sz="2400" dirty="0">
                <a:latin typeface="Arial" panose="020B0604020202020204" pitchFamily="34" charset="0"/>
              </a:rPr>
              <a:t> = </a:t>
            </a:r>
            <a:r>
              <a:rPr lang="en-US" altLang="zh-CN" sz="2400" b="1" dirty="0">
                <a:latin typeface="Arial" panose="020B0604020202020204" pitchFamily="34" charset="0"/>
              </a:rPr>
              <a:t>record</a:t>
            </a:r>
            <a:endParaRPr lang="en-US" altLang="zh-CN" sz="2400" dirty="0">
              <a:latin typeface="Arial" panose="020B0604020202020204" pitchFamily="34" charset="0"/>
            </a:endParaRPr>
          </a:p>
          <a:p>
            <a:pPr lvl="1" defTabSz="914400">
              <a:buFontTx/>
              <a:buNone/>
              <a:tabLst>
                <a:tab pos="1821180" algn="l"/>
                <a:tab pos="3659505" algn="l"/>
                <a:tab pos="3943350" algn="l"/>
              </a:tabLst>
            </a:pPr>
            <a:r>
              <a:rPr lang="en-US" altLang="zh-CN" sz="2400" dirty="0">
                <a:latin typeface="Arial" panose="020B0604020202020204" pitchFamily="34" charset="0"/>
              </a:rPr>
              <a:t>		</a:t>
            </a:r>
            <a:r>
              <a:rPr lang="en-US" altLang="zh-CN" sz="2400" i="1" dirty="0">
                <a:latin typeface="Arial" panose="020B0604020202020204" pitchFamily="34" charset="0"/>
              </a:rPr>
              <a:t>ID</a:t>
            </a:r>
            <a:r>
              <a:rPr lang="en-US" altLang="zh-CN" sz="2400" dirty="0">
                <a:latin typeface="Arial" panose="020B0604020202020204" pitchFamily="34" charset="0"/>
              </a:rPr>
              <a:t> : string; </a:t>
            </a:r>
            <a:br>
              <a:rPr lang="en-US" altLang="zh-CN" sz="2400" dirty="0">
                <a:latin typeface="Arial" panose="020B0604020202020204" pitchFamily="34" charset="0"/>
              </a:rPr>
            </a:br>
            <a:r>
              <a:rPr lang="en-US" altLang="zh-CN" sz="2400" dirty="0">
                <a:latin typeface="Arial" panose="020B0604020202020204" pitchFamily="34" charset="0"/>
              </a:rPr>
              <a:t>	</a:t>
            </a:r>
            <a:r>
              <a:rPr lang="en-US" altLang="zh-CN" sz="2400" i="1" dirty="0">
                <a:latin typeface="Arial" panose="020B0604020202020204" pitchFamily="34" charset="0"/>
              </a:rPr>
              <a:t>name</a:t>
            </a:r>
            <a:r>
              <a:rPr lang="en-US" altLang="zh-CN" sz="2400" dirty="0">
                <a:latin typeface="Arial" panose="020B0604020202020204" pitchFamily="34" charset="0"/>
              </a:rPr>
              <a:t> : string;</a:t>
            </a:r>
            <a:br>
              <a:rPr lang="en-US" altLang="zh-CN" sz="2400" dirty="0">
                <a:latin typeface="Arial" panose="020B0604020202020204" pitchFamily="34" charset="0"/>
              </a:rPr>
            </a:br>
            <a:r>
              <a:rPr lang="en-US" altLang="zh-CN" sz="2400" dirty="0">
                <a:latin typeface="Arial" panose="020B0604020202020204" pitchFamily="34" charset="0"/>
              </a:rPr>
              <a:t>	</a:t>
            </a:r>
            <a:r>
              <a:rPr lang="en-US" altLang="zh-CN" sz="2400" i="1" dirty="0">
                <a:latin typeface="Arial" panose="020B0604020202020204" pitchFamily="34" charset="0"/>
              </a:rPr>
              <a:t>dept_name</a:t>
            </a:r>
            <a:r>
              <a:rPr lang="en-US" altLang="zh-CN" sz="2400" dirty="0">
                <a:latin typeface="Arial" panose="020B0604020202020204" pitchFamily="34" charset="0"/>
              </a:rPr>
              <a:t> : string;</a:t>
            </a:r>
            <a:br>
              <a:rPr lang="en-US" altLang="zh-CN" sz="2400" dirty="0">
                <a:latin typeface="Arial" panose="020B0604020202020204" pitchFamily="34" charset="0"/>
              </a:rPr>
            </a:br>
            <a:r>
              <a:rPr lang="en-US" altLang="zh-CN" sz="2400" dirty="0">
                <a:latin typeface="Arial" panose="020B0604020202020204" pitchFamily="34" charset="0"/>
              </a:rPr>
              <a:t>	</a:t>
            </a:r>
            <a:r>
              <a:rPr lang="en-US" altLang="zh-CN" sz="2400" i="1" dirty="0">
                <a:latin typeface="Arial" panose="020B0604020202020204" pitchFamily="34" charset="0"/>
              </a:rPr>
              <a:t>salary</a:t>
            </a:r>
            <a:r>
              <a:rPr lang="en-US" altLang="zh-CN" sz="2400" dirty="0">
                <a:latin typeface="Arial" panose="020B0604020202020204" pitchFamily="34" charset="0"/>
              </a:rPr>
              <a:t> : integer;</a:t>
            </a:r>
            <a:endParaRPr lang="en-US" altLang="zh-CN" sz="2400" dirty="0">
              <a:latin typeface="Arial" panose="020B0604020202020204" pitchFamily="34" charset="0"/>
            </a:endParaRPr>
          </a:p>
          <a:p>
            <a:pPr lvl="4" defTabSz="914400">
              <a:buNone/>
              <a:tabLst>
                <a:tab pos="1821180" algn="l"/>
                <a:tab pos="3659505" algn="l"/>
                <a:tab pos="3943350" algn="l"/>
              </a:tabLst>
            </a:pPr>
            <a:r>
              <a:rPr lang="en-US" altLang="zh-CN" sz="2400" b="1" dirty="0">
                <a:latin typeface="Arial" panose="020B0604020202020204" pitchFamily="34" charset="0"/>
              </a:rPr>
              <a:t>end</a:t>
            </a:r>
            <a:r>
              <a:rPr lang="en-US" altLang="zh-CN" sz="2400" dirty="0">
                <a:latin typeface="Arial" panose="020B0604020202020204" pitchFamily="34" charset="0"/>
              </a:rPr>
              <a:t>;</a:t>
            </a:r>
            <a:endParaRPr lang="en-US" altLang="zh-CN" sz="2400" dirty="0">
              <a:latin typeface="Arial" panose="020B0604020202020204" pitchFamily="34" charset="0"/>
            </a:endParaRPr>
          </a:p>
          <a:p>
            <a:pPr defTabSz="914400">
              <a:tabLst>
                <a:tab pos="1821180" algn="l"/>
                <a:tab pos="3659505" algn="l"/>
                <a:tab pos="3943350" algn="l"/>
              </a:tabLst>
            </a:pPr>
            <a:r>
              <a:rPr lang="en-US" altLang="zh-CN" sz="2400" b="1" dirty="0">
                <a:solidFill>
                  <a:srgbClr val="000099"/>
                </a:solidFill>
                <a:latin typeface="Arial" panose="020B0604020202020204" pitchFamily="34" charset="0"/>
              </a:rPr>
              <a:t>View level:</a:t>
            </a:r>
            <a:r>
              <a:rPr lang="en-US" altLang="zh-CN" sz="2400" dirty="0">
                <a:latin typeface="Arial" panose="020B0604020202020204" pitchFamily="34" charset="0"/>
              </a:rPr>
              <a:t> application programs hide details of data types.  Views can also hide information (such as an employee</a:t>
            </a:r>
            <a:r>
              <a:rPr lang="zh-CN" altLang="en-US" sz="2400" dirty="0">
                <a:latin typeface="Arial" panose="020B0604020202020204" pitchFamily="34" charset="0"/>
              </a:rPr>
              <a:t>’</a:t>
            </a:r>
            <a:r>
              <a:rPr lang="en-US" altLang="zh-CN" sz="2400" dirty="0">
                <a:latin typeface="Arial" panose="020B0604020202020204" pitchFamily="34" charset="0"/>
              </a:rPr>
              <a:t>s salary) for security purposes. </a:t>
            </a:r>
            <a:endParaRPr lang="en-US" altLang="zh-CN" sz="2400" dirty="0">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idx="4294967295"/>
          </p:nvPr>
        </p:nvSpPr>
        <p:spPr>
          <a:xfrm>
            <a:off x="768350" y="228600"/>
            <a:ext cx="8077200" cy="609600"/>
          </a:xfrm>
        </p:spPr>
        <p:txBody>
          <a:bodyPr wrap="square" lIns="91440" tIns="45720" rIns="91440" bIns="45720" anchor="b" anchorCtr="0"/>
          <a:lstStyle/>
          <a:p>
            <a:r>
              <a:rPr lang="en-US" altLang="zh-CN" sz="4400" dirty="0">
                <a:effectLst/>
                <a:latin typeface="Arial" panose="020B0604020202020204" pitchFamily="34" charset="0"/>
              </a:rPr>
              <a:t>View of Data</a:t>
            </a:r>
            <a:endParaRPr lang="en-US" altLang="zh-CN" sz="4400" dirty="0">
              <a:effectLst/>
              <a:latin typeface="Arial" panose="020B0604020202020204" pitchFamily="34" charset="0"/>
            </a:endParaRPr>
          </a:p>
        </p:txBody>
      </p:sp>
      <p:sp>
        <p:nvSpPr>
          <p:cNvPr id="21506" name="Text Box 3"/>
          <p:cNvSpPr txBox="1"/>
          <p:nvPr/>
        </p:nvSpPr>
        <p:spPr>
          <a:xfrm>
            <a:off x="330200" y="1085850"/>
            <a:ext cx="6621463" cy="522288"/>
          </a:xfrm>
          <a:prstGeom prst="rect">
            <a:avLst/>
          </a:prstGeom>
          <a:noFill/>
          <a:ln w="9525">
            <a:noFill/>
          </a:ln>
        </p:spPr>
        <p:txBody>
          <a:bodyPr wrap="none" anchor="ctr" anchorCtr="0">
            <a:spAutoFit/>
          </a:bodyPr>
          <a:lstStyle/>
          <a:p>
            <a:pPr algn="ctr" eaLnBrk="0" hangingPunct="0">
              <a:spcBef>
                <a:spcPct val="50000"/>
              </a:spcBef>
              <a:buClrTx/>
              <a:buFontTx/>
            </a:pPr>
            <a:r>
              <a:rPr lang="en-US" altLang="zh-CN" sz="2800" b="1" dirty="0">
                <a:latin typeface="Arial" panose="020B0604020202020204" pitchFamily="34" charset="0"/>
              </a:rPr>
              <a:t>An architecture for a database system </a:t>
            </a:r>
            <a:endParaRPr lang="en-US" altLang="zh-CN" sz="2800" b="1" dirty="0">
              <a:latin typeface="Arial" panose="020B0604020202020204" pitchFamily="34" charset="0"/>
            </a:endParaRPr>
          </a:p>
        </p:txBody>
      </p:sp>
      <p:pic>
        <p:nvPicPr>
          <p:cNvPr id="21507" name="Picture 8"/>
          <p:cNvPicPr>
            <a:picLocks noChangeAspect="1"/>
          </p:cNvPicPr>
          <p:nvPr/>
        </p:nvPicPr>
        <p:blipFill>
          <a:blip r:embed="rId1"/>
          <a:stretch>
            <a:fillRect/>
          </a:stretch>
        </p:blipFill>
        <p:spPr>
          <a:xfrm>
            <a:off x="1169988" y="1795463"/>
            <a:ext cx="7402512" cy="4333875"/>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type="title" idx="4294967295"/>
          </p:nvPr>
        </p:nvSpPr>
        <p:spPr/>
        <p:txBody>
          <a:bodyPr wrap="square" lIns="91440" tIns="45720" rIns="91440" bIns="45720" anchor="b" anchorCtr="0"/>
          <a:lstStyle/>
          <a:p>
            <a:r>
              <a:rPr lang="en-US" altLang="zh-CN" sz="4400" dirty="0">
                <a:effectLst/>
                <a:latin typeface="Arial" panose="020B0604020202020204" pitchFamily="34" charset="0"/>
              </a:rPr>
              <a:t>Instances and Schemas</a:t>
            </a:r>
            <a:endParaRPr lang="en-US" altLang="zh-CN" sz="4400" dirty="0">
              <a:effectLst/>
              <a:latin typeface="Arial" panose="020B0604020202020204" pitchFamily="34" charset="0"/>
            </a:endParaRPr>
          </a:p>
        </p:txBody>
      </p:sp>
      <p:sp>
        <p:nvSpPr>
          <p:cNvPr id="36867" name="Rectangle 3"/>
          <p:cNvSpPr>
            <a:spLocks noGrp="1" noChangeArrowheads="1"/>
          </p:cNvSpPr>
          <p:nvPr>
            <p:ph type="body" idx="4294967295"/>
          </p:nvPr>
        </p:nvSpPr>
        <p:spPr>
          <a:xfrm>
            <a:off x="139700" y="1077913"/>
            <a:ext cx="9004300" cy="539273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defRPr/>
            </a:pPr>
            <a:r>
              <a:rPr kumimoji="1" lang="en-US" altLang="zh-CN"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Similar to types and variables in programming languages</a:t>
            </a:r>
            <a:endParaRPr kumimoji="1" lang="en-US" altLang="zh-CN"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defRPr/>
            </a:pPr>
            <a:r>
              <a:rPr kumimoji="1" lang="en-US" altLang="zh-CN" sz="2000" b="1" i="0" u="none" strike="noStrike" kern="0" cap="none" spc="0" normalizeH="0" baseline="0" noProof="1">
                <a:ln>
                  <a:noFill/>
                </a:ln>
                <a:solidFill>
                  <a:srgbClr val="000099"/>
                </a:solidFill>
                <a:effectLst>
                  <a:outerShdw blurRad="38100" dist="38100" dir="2700000">
                    <a:srgbClr val="C0C0C0"/>
                  </a:outerShdw>
                </a:effectLst>
                <a:uLnTx/>
                <a:uFillTx/>
                <a:latin typeface="Arial" panose="020B0604020202020204" pitchFamily="34" charset="0"/>
                <a:ea typeface="MS PGothic" panose="020B0600070205080204" pitchFamily="34" charset="-128"/>
                <a:cs typeface="Arial" panose="020B0604020202020204" pitchFamily="34" charset="0"/>
              </a:rPr>
              <a:t>Logical Schema</a:t>
            </a:r>
            <a:r>
              <a:rPr kumimoji="1" lang="en-US" altLang="zh-CN" sz="2000" b="0" i="0" u="none" strike="noStrike" kern="0" cap="none" spc="0" normalizeH="0" baseline="0" noProof="1">
                <a:ln>
                  <a:noFill/>
                </a:ln>
                <a:solidFill>
                  <a:srgbClr val="000099"/>
                </a:solidFill>
                <a:effectLst/>
                <a:uLnTx/>
                <a:uFillTx/>
                <a:latin typeface="Arial" panose="020B0604020202020204" pitchFamily="34" charset="0"/>
                <a:ea typeface="MS PGothic" panose="020B0600070205080204" pitchFamily="34" charset="-128"/>
                <a:cs typeface="Arial" panose="020B0604020202020204" pitchFamily="34" charset="0"/>
              </a:rPr>
              <a:t> </a:t>
            </a:r>
            <a:r>
              <a:rPr kumimoji="1" lang="en-US" altLang="zh-CN"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the overall logical structure of the database </a:t>
            </a:r>
            <a:endParaRPr kumimoji="1" lang="en-US" altLang="zh-CN"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defRPr/>
            </a:pPr>
            <a:r>
              <a:rPr kumimoji="1" lang="en-US" altLang="zh-CN"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Example: The database consists of information about a set of customers and accounts in a bank and the relationship between them</a:t>
            </a:r>
            <a:endParaRPr kumimoji="1" lang="en-US" altLang="zh-CN"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defRPr/>
            </a:pPr>
            <a:r>
              <a:rPr kumimoji="1" lang="en-US" altLang="zh-CN"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Analogous to type information of a variable in a program</a:t>
            </a:r>
            <a:endParaRPr kumimoji="1" lang="en-US" altLang="zh-CN"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defRPr/>
            </a:pPr>
            <a:r>
              <a:rPr kumimoji="1" lang="en-US" altLang="zh-CN" sz="2000" b="1" i="0" u="none" strike="noStrike" kern="0" cap="none" spc="0" normalizeH="0" baseline="0" noProof="1">
                <a:ln>
                  <a:noFill/>
                </a:ln>
                <a:solidFill>
                  <a:srgbClr val="000099"/>
                </a:solidFill>
                <a:effectLst>
                  <a:outerShdw blurRad="38100" dist="38100" dir="2700000">
                    <a:srgbClr val="C0C0C0"/>
                  </a:outerShdw>
                </a:effectLst>
                <a:uLnTx/>
                <a:uFillTx/>
                <a:latin typeface="Arial" panose="020B0604020202020204" pitchFamily="34" charset="0"/>
                <a:ea typeface="MS PGothic" panose="020B0600070205080204" pitchFamily="34" charset="-128"/>
                <a:cs typeface="Arial" panose="020B0604020202020204" pitchFamily="34" charset="0"/>
              </a:rPr>
              <a:t>Physical schema</a:t>
            </a:r>
            <a:r>
              <a:rPr kumimoji="1" lang="en-US" altLang="zh-CN"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the overall physical  structure of the database </a:t>
            </a:r>
            <a:endParaRPr kumimoji="1" lang="en-US" altLang="zh-CN"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defRPr/>
            </a:pPr>
            <a:r>
              <a:rPr kumimoji="1" lang="en-US" altLang="zh-CN" sz="2000" b="1" i="0" u="none" strike="noStrike" kern="0" cap="none" spc="0" normalizeH="0" baseline="0" noProof="1">
                <a:ln>
                  <a:noFill/>
                </a:ln>
                <a:solidFill>
                  <a:srgbClr val="000099"/>
                </a:solidFill>
                <a:effectLst/>
                <a:uLnTx/>
                <a:uFillTx/>
                <a:latin typeface="Arial" panose="020B0604020202020204" pitchFamily="34" charset="0"/>
                <a:ea typeface="MS PGothic" panose="020B0600070205080204" pitchFamily="34" charset="-128"/>
                <a:cs typeface="Arial" panose="020B0604020202020204" pitchFamily="34" charset="0"/>
              </a:rPr>
              <a:t>Instance</a:t>
            </a:r>
            <a:r>
              <a:rPr kumimoji="1" lang="en-US" altLang="zh-CN"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 the actual content of the database at a particular point in time </a:t>
            </a:r>
            <a:endParaRPr kumimoji="1" lang="en-US" altLang="zh-CN"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defRPr/>
            </a:pPr>
            <a:r>
              <a:rPr kumimoji="1" lang="en-US" altLang="zh-CN"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Analogous to the value of a variable</a:t>
            </a:r>
            <a:endParaRPr kumimoji="1" lang="en-US" altLang="zh-CN"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defRPr/>
            </a:pPr>
            <a:r>
              <a:rPr kumimoji="1" lang="en-US" altLang="zh-CN" sz="2000" b="1" i="0" u="none" strike="noStrike" kern="0" cap="none" spc="0" normalizeH="0" baseline="0" noProof="1">
                <a:ln>
                  <a:noFill/>
                </a:ln>
                <a:solidFill>
                  <a:srgbClr val="000099"/>
                </a:solidFill>
                <a:effectLst/>
                <a:uLnTx/>
                <a:uFillTx/>
                <a:latin typeface="Arial" panose="020B0604020202020204" pitchFamily="34" charset="0"/>
                <a:ea typeface="MS PGothic" panose="020B0600070205080204" pitchFamily="34" charset="-128"/>
                <a:cs typeface="Arial" panose="020B0604020202020204" pitchFamily="34" charset="0"/>
              </a:rPr>
              <a:t>Physical Data Independence</a:t>
            </a:r>
            <a:r>
              <a:rPr kumimoji="1" lang="en-US" altLang="zh-CN"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 the ability to modify the physical schema without changing the logical schema</a:t>
            </a:r>
            <a:endParaRPr kumimoji="1" lang="en-US" altLang="zh-CN"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defRPr/>
            </a:pPr>
            <a:r>
              <a:rPr kumimoji="1" lang="en-US" altLang="zh-CN"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Applications depend on the logical schema</a:t>
            </a:r>
            <a:endParaRPr kumimoji="1" lang="en-US" altLang="zh-CN"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defRPr/>
            </a:pPr>
            <a:r>
              <a:rPr kumimoji="1" lang="en-US" altLang="zh-CN"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In general, the interfaces between the various levels and components should be well defined so that changes in some parts do not seriously influence others.</a:t>
            </a:r>
            <a:endParaRPr kumimoji="1" lang="en-US" altLang="zh-CN"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defRPr/>
            </a:pPr>
            <a:endParaRPr kumimoji="1" lang="zh-CN" altLang="en-US" sz="2000" b="0" i="0" u="none" strike="noStrike" kern="0" cap="none" spc="0" normalizeH="0" baseline="0" noProof="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p:cNvSpPr>
          <p:nvPr>
            <p:ph type="title" idx="4294967295"/>
          </p:nvPr>
        </p:nvSpPr>
        <p:spPr/>
        <p:txBody>
          <a:bodyPr wrap="square" lIns="91440" tIns="45720" rIns="91440" bIns="45720" anchor="b" anchorCtr="0"/>
          <a:lstStyle/>
          <a:p>
            <a:r>
              <a:rPr lang="en-US" altLang="zh-CN" sz="4400" dirty="0">
                <a:effectLst/>
                <a:latin typeface="Arial" panose="020B0604020202020204" pitchFamily="34" charset="0"/>
              </a:rPr>
              <a:t>Data Models</a:t>
            </a:r>
            <a:endParaRPr lang="en-US" altLang="zh-CN" sz="4400" dirty="0">
              <a:effectLst/>
              <a:latin typeface="Arial" panose="020B0604020202020204" pitchFamily="34" charset="0"/>
            </a:endParaRPr>
          </a:p>
        </p:txBody>
      </p:sp>
      <p:sp>
        <p:nvSpPr>
          <p:cNvPr id="25602" name="Rectangle 3"/>
          <p:cNvSpPr>
            <a:spLocks noGrp="1"/>
          </p:cNvSpPr>
          <p:nvPr>
            <p:ph type="body" idx="4294967295"/>
          </p:nvPr>
        </p:nvSpPr>
        <p:spPr>
          <a:xfrm>
            <a:off x="242888" y="827088"/>
            <a:ext cx="8734425" cy="5591175"/>
          </a:xfrm>
        </p:spPr>
        <p:txBody>
          <a:bodyPr vert="horz" wrap="square" lIns="91440" tIns="45720" rIns="91440" bIns="45720" anchor="t" anchorCtr="0"/>
          <a:lstStyle/>
          <a:p>
            <a:r>
              <a:rPr lang="en-US" altLang="zh-CN" sz="2400" dirty="0">
                <a:latin typeface="Arial" panose="020B0604020202020204" pitchFamily="34" charset="0"/>
              </a:rPr>
              <a:t>A collection of tools for describing </a:t>
            </a:r>
            <a:endParaRPr lang="en-US" altLang="zh-CN" sz="2400" dirty="0">
              <a:latin typeface="Arial" panose="020B0604020202020204" pitchFamily="34" charset="0"/>
            </a:endParaRPr>
          </a:p>
          <a:p>
            <a:pPr lvl="1">
              <a:lnSpc>
                <a:spcPct val="80000"/>
              </a:lnSpc>
            </a:pPr>
            <a:r>
              <a:rPr lang="en-US" altLang="zh-CN" sz="2400" dirty="0">
                <a:latin typeface="Arial" panose="020B0604020202020204" pitchFamily="34" charset="0"/>
              </a:rPr>
              <a:t>Data </a:t>
            </a:r>
            <a:endParaRPr lang="en-US" altLang="zh-CN" sz="2400" dirty="0">
              <a:latin typeface="Arial" panose="020B0604020202020204" pitchFamily="34" charset="0"/>
            </a:endParaRPr>
          </a:p>
          <a:p>
            <a:pPr lvl="1">
              <a:lnSpc>
                <a:spcPct val="80000"/>
              </a:lnSpc>
            </a:pPr>
            <a:r>
              <a:rPr lang="en-US" altLang="zh-CN" sz="2400" dirty="0">
                <a:latin typeface="Arial" panose="020B0604020202020204" pitchFamily="34" charset="0"/>
              </a:rPr>
              <a:t>Data relationships</a:t>
            </a:r>
            <a:endParaRPr lang="en-US" altLang="zh-CN" sz="2400" dirty="0">
              <a:latin typeface="Arial" panose="020B0604020202020204" pitchFamily="34" charset="0"/>
            </a:endParaRPr>
          </a:p>
          <a:p>
            <a:pPr lvl="1">
              <a:lnSpc>
                <a:spcPct val="80000"/>
              </a:lnSpc>
            </a:pPr>
            <a:r>
              <a:rPr lang="en-US" altLang="zh-CN" sz="2400" dirty="0">
                <a:latin typeface="Arial" panose="020B0604020202020204" pitchFamily="34" charset="0"/>
              </a:rPr>
              <a:t>Data semantics</a:t>
            </a:r>
            <a:endParaRPr lang="en-US" altLang="zh-CN" sz="2400" dirty="0">
              <a:latin typeface="Arial" panose="020B0604020202020204" pitchFamily="34" charset="0"/>
            </a:endParaRPr>
          </a:p>
          <a:p>
            <a:pPr lvl="1">
              <a:lnSpc>
                <a:spcPct val="80000"/>
              </a:lnSpc>
            </a:pPr>
            <a:r>
              <a:rPr lang="en-US" altLang="zh-CN" sz="2400" dirty="0">
                <a:latin typeface="Arial" panose="020B0604020202020204" pitchFamily="34" charset="0"/>
              </a:rPr>
              <a:t>Data constraints</a:t>
            </a:r>
            <a:endParaRPr lang="en-US" altLang="zh-CN" sz="2400" dirty="0">
              <a:latin typeface="Arial" panose="020B0604020202020204" pitchFamily="34" charset="0"/>
            </a:endParaRPr>
          </a:p>
          <a:p>
            <a:r>
              <a:rPr lang="en-US" altLang="zh-CN" sz="2400" dirty="0">
                <a:latin typeface="Arial" panose="020B0604020202020204" pitchFamily="34" charset="0"/>
              </a:rPr>
              <a:t>Relational model</a:t>
            </a:r>
            <a:endParaRPr lang="en-US" altLang="zh-CN" sz="2400" dirty="0">
              <a:latin typeface="Arial" panose="020B0604020202020204" pitchFamily="34" charset="0"/>
            </a:endParaRPr>
          </a:p>
          <a:p>
            <a:r>
              <a:rPr lang="en-US" altLang="zh-CN" sz="2400" dirty="0">
                <a:latin typeface="Arial" panose="020B0604020202020204" pitchFamily="34" charset="0"/>
              </a:rPr>
              <a:t>Entity-Relationship data model (mainly for database design) </a:t>
            </a:r>
            <a:endParaRPr lang="en-US" altLang="zh-CN" sz="2400" dirty="0">
              <a:latin typeface="Arial" panose="020B0604020202020204" pitchFamily="34" charset="0"/>
            </a:endParaRPr>
          </a:p>
          <a:p>
            <a:r>
              <a:rPr lang="en-US" altLang="zh-CN" sz="2400" dirty="0">
                <a:latin typeface="Arial" panose="020B0604020202020204" pitchFamily="34" charset="0"/>
              </a:rPr>
              <a:t>Object-based data models (Object-oriented and Object-relational)</a:t>
            </a:r>
            <a:endParaRPr lang="en-US" altLang="zh-CN" sz="2400" dirty="0">
              <a:latin typeface="Arial" panose="020B0604020202020204" pitchFamily="34" charset="0"/>
            </a:endParaRPr>
          </a:p>
          <a:p>
            <a:r>
              <a:rPr lang="en-US" altLang="zh-CN" sz="2400" dirty="0">
                <a:latin typeface="Arial" panose="020B0604020202020204" pitchFamily="34" charset="0"/>
              </a:rPr>
              <a:t>Semistructured data model  (XML)</a:t>
            </a:r>
            <a:endParaRPr lang="en-US" altLang="zh-CN" sz="2400" dirty="0">
              <a:latin typeface="Arial" panose="020B0604020202020204" pitchFamily="34" charset="0"/>
            </a:endParaRPr>
          </a:p>
          <a:p>
            <a:r>
              <a:rPr lang="en-US" altLang="zh-CN" sz="2400" dirty="0">
                <a:latin typeface="Arial" panose="020B0604020202020204" pitchFamily="34" charset="0"/>
              </a:rPr>
              <a:t>Other older models:</a:t>
            </a:r>
            <a:endParaRPr lang="en-US" altLang="zh-CN" sz="2400" dirty="0">
              <a:latin typeface="Arial" panose="020B0604020202020204" pitchFamily="34" charset="0"/>
            </a:endParaRPr>
          </a:p>
          <a:p>
            <a:pPr lvl="1">
              <a:lnSpc>
                <a:spcPct val="60000"/>
              </a:lnSpc>
            </a:pPr>
            <a:r>
              <a:rPr lang="en-US" altLang="zh-CN" sz="2400" dirty="0">
                <a:latin typeface="Arial" panose="020B0604020202020204" pitchFamily="34" charset="0"/>
              </a:rPr>
              <a:t>Network model  </a:t>
            </a:r>
            <a:endParaRPr lang="en-US" altLang="zh-CN" sz="2400" dirty="0">
              <a:latin typeface="Arial" panose="020B0604020202020204" pitchFamily="34" charset="0"/>
            </a:endParaRPr>
          </a:p>
          <a:p>
            <a:pPr lvl="1">
              <a:lnSpc>
                <a:spcPct val="60000"/>
              </a:lnSpc>
            </a:pPr>
            <a:r>
              <a:rPr lang="en-US" altLang="zh-CN" sz="2400" dirty="0">
                <a:latin typeface="Arial" panose="020B0604020202020204" pitchFamily="34" charset="0"/>
              </a:rPr>
              <a:t>Hierarchical model</a:t>
            </a:r>
            <a:endParaRPr lang="en-US" altLang="zh-CN" sz="2400" dirty="0">
              <a:latin typeface="Arial" panose="020B0604020202020204" pitchFamily="34" charset="0"/>
            </a:endParaRPr>
          </a:p>
          <a:p>
            <a:endParaRPr lang="en-US" altLang="zh-CN" sz="2400" dirty="0">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l="8310" t="23603" r="7114" b="16555"/>
          <a:stretch>
            <a:fillRect/>
          </a:stretch>
        </p:blipFill>
        <p:spPr>
          <a:xfrm>
            <a:off x="65888" y="1498059"/>
            <a:ext cx="9078112" cy="4817393"/>
          </a:xfrm>
          <a:prstGeom prst="rect">
            <a:avLst/>
          </a:prstGeom>
        </p:spPr>
      </p:pic>
      <p:sp>
        <p:nvSpPr>
          <p:cNvPr id="3" name="文本框 2"/>
          <p:cNvSpPr txBox="1"/>
          <p:nvPr/>
        </p:nvSpPr>
        <p:spPr>
          <a:xfrm>
            <a:off x="808343" y="97275"/>
            <a:ext cx="8160562" cy="597534"/>
          </a:xfrm>
          <a:prstGeom prst="rect">
            <a:avLst/>
          </a:prstGeom>
          <a:noFill/>
          <a:ln w="9525">
            <a:noFill/>
            <a:miter lim="800000"/>
          </a:ln>
        </p:spPr>
        <p:txBody>
          <a:bodyPr vert="horz" wrap="square" lIns="91440" tIns="45720" rIns="91440" bIns="45720" numCol="1" anchor="b" anchorCtr="0" compatLnSpc="1"/>
          <a:lstStyle>
            <a:lvl1pPr marR="0" algn="ctr" eaLnBrk="0" hangingPunct="0">
              <a:buClrTx/>
              <a:buSzTx/>
              <a:buFontTx/>
              <a:defRPr kumimoji="1" sz="4800" b="1" strike="noStrike" kern="0" cap="none" spc="0" normalizeH="0">
                <a:ln>
                  <a:noFill/>
                </a:ln>
                <a:solidFill>
                  <a:schemeClr val="tx2"/>
                </a:solidFill>
                <a:effectLst>
                  <a:outerShdw blurRad="38100" dist="38100" dir="2700000">
                    <a:srgbClr val="C0C0C0"/>
                  </a:outerShdw>
                </a:effectLst>
                <a:uLnTx/>
                <a:uFillTx/>
                <a:latin typeface="黑体" panose="02010609060101010101" pitchFamily="49" charset="-122"/>
                <a:ea typeface="黑体" panose="02010609060101010101" pitchFamily="49" charset="-122"/>
                <a:cs typeface="MS PGothic" panose="020B0600070205080204" pitchFamily="34" charset="-128"/>
              </a:defRPr>
            </a:lvl1pPr>
            <a:lvl2pPr algn="ctr" eaLnBrk="0" hangingPunct="0">
              <a:defRPr sz="3200" b="1">
                <a:solidFill>
                  <a:schemeClr val="tx2"/>
                </a:solidFill>
                <a:effectLst>
                  <a:outerShdw blurRad="38100" dist="38100" dir="2700000" algn="tl">
                    <a:srgbClr val="DDDDDD"/>
                  </a:outerShdw>
                </a:effectLst>
                <a:cs typeface="MS PGothic" panose="020B0600070205080204" pitchFamily="34" charset="-128"/>
              </a:defRPr>
            </a:lvl2pPr>
            <a:lvl3pPr algn="ctr" eaLnBrk="0" hangingPunct="0">
              <a:defRPr sz="3200" b="1">
                <a:solidFill>
                  <a:schemeClr val="tx2"/>
                </a:solidFill>
                <a:effectLst>
                  <a:outerShdw blurRad="38100" dist="38100" dir="2700000" algn="tl">
                    <a:srgbClr val="DDDDDD"/>
                  </a:outerShdw>
                </a:effectLst>
                <a:cs typeface="MS PGothic" panose="020B0600070205080204" pitchFamily="34" charset="-128"/>
              </a:defRPr>
            </a:lvl3pPr>
            <a:lvl4pPr algn="ctr" eaLnBrk="0" hangingPunct="0">
              <a:defRPr sz="3200" b="1">
                <a:solidFill>
                  <a:schemeClr val="tx2"/>
                </a:solidFill>
                <a:effectLst>
                  <a:outerShdw blurRad="38100" dist="38100" dir="2700000" algn="tl">
                    <a:srgbClr val="DDDDDD"/>
                  </a:outerShdw>
                </a:effectLst>
                <a:cs typeface="MS PGothic" panose="020B0600070205080204" pitchFamily="34" charset="-128"/>
              </a:defRPr>
            </a:lvl4pPr>
            <a:lvl5pPr algn="ctr" eaLnBrk="0" hangingPunct="0">
              <a:defRPr sz="3200" b="1">
                <a:solidFill>
                  <a:schemeClr val="tx2"/>
                </a:solidFill>
                <a:effectLst>
                  <a:outerShdw blurRad="38100" dist="38100" dir="2700000" algn="tl">
                    <a:srgbClr val="DDDDDD"/>
                  </a:outerShdw>
                </a:effectLst>
                <a:cs typeface="MS PGothic" panose="020B0600070205080204" pitchFamily="34" charset="-128"/>
              </a:defRPr>
            </a:lvl5pPr>
            <a:lvl6pPr marL="457200" algn="ctr" eaLnBrk="0" hangingPunct="0">
              <a:defRPr kumimoji="1" sz="3200" b="1">
                <a:solidFill>
                  <a:schemeClr val="tx2"/>
                </a:solidFill>
                <a:effectLst>
                  <a:outerShdw blurRad="38100" dist="38100" dir="2700000" algn="tl">
                    <a:srgbClr val="DDDDDD"/>
                  </a:outerShdw>
                </a:effectLst>
              </a:defRPr>
            </a:lvl6pPr>
            <a:lvl7pPr marL="914400" algn="ctr" eaLnBrk="0" hangingPunct="0">
              <a:defRPr kumimoji="1" sz="3200" b="1">
                <a:solidFill>
                  <a:schemeClr val="tx2"/>
                </a:solidFill>
                <a:effectLst>
                  <a:outerShdw blurRad="38100" dist="38100" dir="2700000" algn="tl">
                    <a:srgbClr val="DDDDDD"/>
                  </a:outerShdw>
                </a:effectLst>
              </a:defRPr>
            </a:lvl7pPr>
            <a:lvl8pPr marL="1371600" algn="ctr" eaLnBrk="0" hangingPunct="0">
              <a:defRPr kumimoji="1" sz="3200" b="1">
                <a:solidFill>
                  <a:schemeClr val="tx2"/>
                </a:solidFill>
                <a:effectLst>
                  <a:outerShdw blurRad="38100" dist="38100" dir="2700000" algn="tl">
                    <a:srgbClr val="DDDDDD"/>
                  </a:outerShdw>
                </a:effectLst>
              </a:defRPr>
            </a:lvl8pPr>
            <a:lvl9pPr marL="1828800" algn="ctr" eaLnBrk="0" hangingPunct="0">
              <a:defRPr kumimoji="1" sz="3200" b="1">
                <a:solidFill>
                  <a:schemeClr val="tx2"/>
                </a:solidFill>
                <a:effectLst>
                  <a:outerShdw blurRad="38100" dist="38100" dir="2700000" algn="tl">
                    <a:srgbClr val="DDDDDD"/>
                  </a:outerShdw>
                </a:effectLst>
              </a:defRPr>
            </a:lvl9pPr>
          </a:lstStyle>
          <a:p>
            <a:r>
              <a:rPr lang="zh-CN" altLang="en-US" sz="3600" dirty="0"/>
              <a:t>数据库模型：层次数据库和网状数据库</a:t>
            </a:r>
            <a:endParaRPr lang="zh-CN" altLang="en-US" sz="3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lum contrast="100000"/>
          </a:blip>
          <a:stretch>
            <a:fillRect/>
          </a:stretch>
        </p:blipFill>
        <p:spPr>
          <a:xfrm>
            <a:off x="54" y="4163718"/>
            <a:ext cx="3712956" cy="1976161"/>
          </a:xfrm>
          <a:prstGeom prst="rect">
            <a:avLst/>
          </a:prstGeom>
        </p:spPr>
      </p:pic>
      <p:pic>
        <p:nvPicPr>
          <p:cNvPr id="10" name="图片 9"/>
          <p:cNvPicPr>
            <a:picLocks noChangeAspect="1"/>
          </p:cNvPicPr>
          <p:nvPr/>
        </p:nvPicPr>
        <p:blipFill>
          <a:blip r:embed="rId2"/>
          <a:stretch>
            <a:fillRect/>
          </a:stretch>
        </p:blipFill>
        <p:spPr>
          <a:xfrm>
            <a:off x="3974465" y="2589530"/>
            <a:ext cx="4745990" cy="3771900"/>
          </a:xfrm>
          <a:prstGeom prst="rect">
            <a:avLst/>
          </a:prstGeom>
        </p:spPr>
      </p:pic>
      <p:sp>
        <p:nvSpPr>
          <p:cNvPr id="4" name="内容占位符 2"/>
          <p:cNvSpPr>
            <a:spLocks noGrp="1"/>
          </p:cNvSpPr>
          <p:nvPr/>
        </p:nvSpPr>
        <p:spPr>
          <a:xfrm>
            <a:off x="187960" y="1028700"/>
            <a:ext cx="8785225" cy="1715135"/>
          </a:xfrm>
          <a:prstGeom prst="rect">
            <a:avLst/>
          </a:prstGeom>
          <a:noFill/>
          <a:ln>
            <a:noFill/>
          </a:ln>
          <a:effectLst/>
        </p:spPr>
        <p:txBody>
          <a:bodyPr vert="horz" wrap="square" lIns="91440" tIns="45720" rIns="91440" bIns="45720" numCol="1" anchor="t" anchorCtr="0" compatLnSpc="1"/>
          <a:lstStyle>
            <a:lvl1pPr marL="316230" indent="-316230" algn="l" rtl="0" eaLnBrk="1" fontAlgn="base" hangingPunct="1">
              <a:spcBef>
                <a:spcPct val="20000"/>
              </a:spcBef>
              <a:spcAft>
                <a:spcPct val="0"/>
              </a:spcAft>
              <a:buFont typeface="Wingdings" panose="05000000000000000000" pitchFamily="2" charset="2"/>
              <a:buChar char="p"/>
              <a:defRPr kumimoji="1" sz="3200" b="0">
                <a:solidFill>
                  <a:schemeClr val="tx1"/>
                </a:solidFill>
                <a:effectLst/>
                <a:latin typeface="黑体" panose="02010609060101010101" pitchFamily="49" charset="-122"/>
                <a:ea typeface="黑体" panose="02010609060101010101" pitchFamily="49" charset="-122"/>
                <a:cs typeface="Arial" panose="020B0604020202020204"/>
              </a:defRPr>
            </a:lvl1pPr>
            <a:lvl2pPr marL="685800" indent="-263525" algn="l" rtl="0" eaLnBrk="1" fontAlgn="base" hangingPunct="1">
              <a:spcBef>
                <a:spcPct val="20000"/>
              </a:spcBef>
              <a:spcAft>
                <a:spcPct val="0"/>
              </a:spcAft>
              <a:buChar char="–"/>
              <a:defRPr kumimoji="1" sz="2800" b="0">
                <a:solidFill>
                  <a:schemeClr val="tx1"/>
                </a:solidFill>
                <a:effectLst/>
                <a:latin typeface="黑体" panose="02010609060101010101" pitchFamily="49" charset="-122"/>
                <a:ea typeface="黑体" panose="02010609060101010101" pitchFamily="49" charset="-122"/>
                <a:cs typeface="Arial" panose="020B0604020202020204"/>
              </a:defRPr>
            </a:lvl2pPr>
            <a:lvl3pPr marL="1055370" indent="-210820" algn="l" rtl="0" eaLnBrk="1" fontAlgn="base" hangingPunct="1">
              <a:spcBef>
                <a:spcPct val="20000"/>
              </a:spcBef>
              <a:spcAft>
                <a:spcPct val="0"/>
              </a:spcAft>
              <a:buChar char="•"/>
              <a:defRPr kumimoji="1" sz="2400" b="0">
                <a:solidFill>
                  <a:schemeClr val="tx1"/>
                </a:solidFill>
                <a:effectLst/>
                <a:latin typeface="黑体" panose="02010609060101010101" pitchFamily="49" charset="-122"/>
                <a:ea typeface="黑体" panose="02010609060101010101" pitchFamily="49" charset="-122"/>
                <a:cs typeface="Arial" panose="020B0604020202020204"/>
              </a:defRPr>
            </a:lvl3pPr>
            <a:lvl4pPr marL="147701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4pPr>
            <a:lvl5pPr marL="189928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5pPr>
            <a:lvl6pPr marL="232092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6pPr>
            <a:lvl7pPr marL="274320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7pPr>
            <a:lvl8pPr marL="316547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8pPr>
            <a:lvl9pPr marL="358711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9pPr>
          </a:lstStyle>
          <a:p>
            <a:pPr>
              <a:buFont typeface="Wingdings" panose="05000000000000000000" pitchFamily="2" charset="2"/>
              <a:buChar char="Ø"/>
            </a:pPr>
            <a:r>
              <a:rPr lang="zh-CN" altLang="en-US" sz="2400" b="1" dirty="0">
                <a:solidFill>
                  <a:srgbClr val="6F1787"/>
                </a:solidFill>
                <a:latin typeface="微软雅黑" panose="020B0503020204020204" pitchFamily="82" charset="2"/>
                <a:ea typeface="微软雅黑" panose="020B0503020204020204" pitchFamily="82" charset="2"/>
              </a:rPr>
              <a:t>层次模型用树形结构来表示各类实体以及实体间的联系</a:t>
            </a:r>
            <a:endParaRPr lang="en-US" altLang="zh-CN" sz="2400" b="1" dirty="0">
              <a:solidFill>
                <a:srgbClr val="6F1787"/>
              </a:solidFill>
              <a:latin typeface="微软雅黑" panose="020B0503020204020204" pitchFamily="82" charset="2"/>
              <a:ea typeface="微软雅黑" panose="020B0503020204020204" pitchFamily="82" charset="2"/>
            </a:endParaRPr>
          </a:p>
          <a:p>
            <a:pPr lvl="1">
              <a:buSzPct val="50000"/>
              <a:buFont typeface="Wingdings" panose="05000000000000000000" pitchFamily="2" charset="2"/>
              <a:buChar char="l"/>
            </a:pPr>
            <a:r>
              <a:rPr lang="zh-CN" altLang="en-US" sz="1800" dirty="0">
                <a:latin typeface="微软雅黑" panose="020B0503020204020204" pitchFamily="82" charset="2"/>
                <a:ea typeface="微软雅黑" panose="020B0503020204020204" pitchFamily="82" charset="2"/>
              </a:rPr>
              <a:t>除根节点以外，其他结点有且只有一个父亲结点</a:t>
            </a:r>
            <a:endParaRPr lang="en-US" altLang="zh-CN" sz="18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b="1" dirty="0">
                <a:solidFill>
                  <a:srgbClr val="6F1787"/>
                </a:solidFill>
                <a:latin typeface="微软雅黑" panose="020B0503020204020204" pitchFamily="82" charset="2"/>
                <a:ea typeface="微软雅黑" panose="020B0503020204020204" pitchFamily="82" charset="2"/>
              </a:rPr>
              <a:t>典型代表是</a:t>
            </a:r>
            <a:r>
              <a:rPr lang="en-GB" altLang="zh-CN" sz="2400" b="1" dirty="0">
                <a:solidFill>
                  <a:srgbClr val="6F1787"/>
                </a:solidFill>
                <a:latin typeface="微软雅黑" panose="020B0503020204020204" pitchFamily="82" charset="2"/>
                <a:ea typeface="微软雅黑" panose="020B0503020204020204" pitchFamily="82" charset="2"/>
              </a:rPr>
              <a:t>IBM</a:t>
            </a:r>
            <a:r>
              <a:rPr lang="zh-CN" altLang="en-US" sz="2400" b="1" dirty="0">
                <a:solidFill>
                  <a:srgbClr val="6F1787"/>
                </a:solidFill>
                <a:latin typeface="微软雅黑" panose="020B0503020204020204" pitchFamily="82" charset="2"/>
                <a:ea typeface="微软雅黑" panose="020B0503020204020204" pitchFamily="82" charset="2"/>
              </a:rPr>
              <a:t>公司的</a:t>
            </a:r>
            <a:r>
              <a:rPr lang="en-GB" altLang="zh-CN" sz="2400" b="1" dirty="0">
                <a:solidFill>
                  <a:srgbClr val="6F1787"/>
                </a:solidFill>
                <a:latin typeface="微软雅黑" panose="020B0503020204020204" pitchFamily="82" charset="2"/>
                <a:ea typeface="微软雅黑" panose="020B0503020204020204" pitchFamily="82" charset="2"/>
              </a:rPr>
              <a:t>IMS </a:t>
            </a:r>
            <a:r>
              <a:rPr lang="zh-CN" altLang="en-GB" sz="2400" b="1" dirty="0">
                <a:solidFill>
                  <a:srgbClr val="6F1787"/>
                </a:solidFill>
                <a:latin typeface="微软雅黑" panose="020B0503020204020204" pitchFamily="82" charset="2"/>
                <a:ea typeface="微软雅黑" panose="020B0503020204020204" pitchFamily="82" charset="2"/>
              </a:rPr>
              <a:t>（</a:t>
            </a:r>
            <a:r>
              <a:rPr lang="en-GB" altLang="zh-CN" sz="2400" b="1" dirty="0">
                <a:solidFill>
                  <a:srgbClr val="6F1787"/>
                </a:solidFill>
                <a:latin typeface="微软雅黑" panose="020B0503020204020204" pitchFamily="82" charset="2"/>
                <a:ea typeface="微软雅黑" panose="020B0503020204020204" pitchFamily="82" charset="2"/>
              </a:rPr>
              <a:t>Information Management System</a:t>
            </a:r>
            <a:r>
              <a:rPr lang="zh-CN" altLang="en-US" sz="2400" b="1" dirty="0">
                <a:solidFill>
                  <a:srgbClr val="6F1787"/>
                </a:solidFill>
                <a:latin typeface="微软雅黑" panose="020B0503020204020204" pitchFamily="82" charset="2"/>
                <a:ea typeface="微软雅黑" panose="020B0503020204020204" pitchFamily="82" charset="2"/>
              </a:rPr>
              <a:t>，</a:t>
            </a:r>
            <a:r>
              <a:rPr lang="en-US" altLang="zh-CN" sz="2400" b="1" dirty="0">
                <a:solidFill>
                  <a:srgbClr val="6F1787"/>
                </a:solidFill>
                <a:latin typeface="微软雅黑" panose="020B0503020204020204" pitchFamily="82" charset="2"/>
                <a:ea typeface="微软雅黑" panose="020B0503020204020204" pitchFamily="82" charset="2"/>
              </a:rPr>
              <a:t>IMS</a:t>
            </a:r>
            <a:r>
              <a:rPr lang="zh-CN" altLang="en-GB" sz="2400" b="1" dirty="0">
                <a:solidFill>
                  <a:srgbClr val="6F1787"/>
                </a:solidFill>
                <a:latin typeface="微软雅黑" panose="020B0503020204020204" pitchFamily="82" charset="2"/>
                <a:ea typeface="微软雅黑" panose="020B0503020204020204" pitchFamily="82" charset="2"/>
              </a:rPr>
              <a:t>）</a:t>
            </a:r>
            <a:r>
              <a:rPr lang="zh-CN" altLang="en-US" sz="2400" b="1" dirty="0">
                <a:solidFill>
                  <a:srgbClr val="6F1787"/>
                </a:solidFill>
                <a:latin typeface="微软雅黑" panose="020B0503020204020204" pitchFamily="82" charset="2"/>
                <a:ea typeface="微软雅黑" panose="020B0503020204020204" pitchFamily="82" charset="2"/>
              </a:rPr>
              <a:t>数据库</a:t>
            </a:r>
            <a:endParaRPr lang="en-US" altLang="zh-CN" sz="2400" b="1" dirty="0">
              <a:solidFill>
                <a:srgbClr val="6F1787"/>
              </a:solidFill>
              <a:latin typeface="微软雅黑" panose="020B0503020204020204" pitchFamily="82" charset="2"/>
              <a:ea typeface="微软雅黑" panose="020B0503020204020204" pitchFamily="82" charset="2"/>
            </a:endParaRPr>
          </a:p>
          <a:p>
            <a:pPr lvl="1"/>
            <a:endParaRPr lang="en-US" altLang="zh-CN" dirty="0">
              <a:latin typeface="微软雅黑" panose="020B0503020204020204" pitchFamily="82" charset="2"/>
              <a:ea typeface="微软雅黑" panose="020B0503020204020204" pitchFamily="82" charset="2"/>
            </a:endParaRPr>
          </a:p>
          <a:p>
            <a:pPr marL="422275" lvl="1" indent="0">
              <a:buNone/>
            </a:pPr>
            <a:endParaRPr lang="zh-CN" altLang="en-US" sz="2400" dirty="0">
              <a:latin typeface="微软雅黑" panose="020B0503020204020204" pitchFamily="82" charset="2"/>
              <a:ea typeface="微软雅黑" panose="020B0503020204020204" pitchFamily="82" charset="2"/>
              <a:cs typeface="Arial" panose="020B0604020202020204" pitchFamily="34" charset="0"/>
            </a:endParaRPr>
          </a:p>
          <a:p>
            <a:pPr lvl="1"/>
            <a:endParaRPr lang="en-US" altLang="zh-CN" sz="2000" dirty="0">
              <a:latin typeface="微软雅黑" panose="020B0503020204020204" pitchFamily="82" charset="2"/>
              <a:ea typeface="微软雅黑" panose="020B0503020204020204" pitchFamily="82" charset="2"/>
              <a:cs typeface="Arial" panose="020B0604020202020204" pitchFamily="34" charset="0"/>
            </a:endParaRPr>
          </a:p>
          <a:p>
            <a:endParaRPr lang="en-US" altLang="zh-CN" sz="2400" dirty="0">
              <a:latin typeface="微软雅黑" panose="020B0503020204020204" pitchFamily="82" charset="2"/>
              <a:ea typeface="微软雅黑" panose="020B0503020204020204" pitchFamily="82" charset="2"/>
              <a:cs typeface="Arial" panose="020B0604020202020204" pitchFamily="34" charset="0"/>
            </a:endParaRPr>
          </a:p>
        </p:txBody>
      </p:sp>
      <p:sp>
        <p:nvSpPr>
          <p:cNvPr id="2" name="标题 1"/>
          <p:cNvSpPr>
            <a:spLocks noGrp="1"/>
          </p:cNvSpPr>
          <p:nvPr/>
        </p:nvSpPr>
        <p:spPr>
          <a:xfrm>
            <a:off x="971550" y="53975"/>
            <a:ext cx="8172450" cy="678180"/>
          </a:xfrm>
          <a:prstGeom prst="rect">
            <a:avLst/>
          </a:prstGeom>
          <a:noFill/>
          <a:ln>
            <a:noFill/>
          </a:ln>
          <a:effectLst/>
        </p:spPr>
        <p:txBody>
          <a:bodyPr vert="horz" wrap="square" lIns="91440" tIns="45720" rIns="91440" bIns="45720" numCol="1" anchor="ctr" anchorCtr="0" compatLnSpc="1"/>
          <a:lstStyle>
            <a:lvl1pPr algn="ctr" rtl="0" eaLnBrk="1" fontAlgn="base" hangingPunct="1">
              <a:spcBef>
                <a:spcPct val="0"/>
              </a:spcBef>
              <a:spcAft>
                <a:spcPct val="0"/>
              </a:spcAft>
              <a:defRPr kumimoji="1" sz="4800" b="1" i="0">
                <a:solidFill>
                  <a:schemeClr val="tx2"/>
                </a:solidFill>
                <a:effectLst/>
                <a:latin typeface="Arial" panose="020B0604020202020204"/>
                <a:ea typeface="黑体" panose="02010609060101010101" pitchFamily="49" charset="-122"/>
                <a:cs typeface="Arial" panose="020B0604020202020204"/>
              </a:defRPr>
            </a:lvl1pPr>
            <a:lvl2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2pPr>
            <a:lvl3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3pPr>
            <a:lvl4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4pPr>
            <a:lvl5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5pPr>
            <a:lvl6pPr marL="42227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6pPr>
            <a:lvl7pPr marL="84391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7pPr>
            <a:lvl8pPr marL="1266190"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8pPr>
            <a:lvl9pPr marL="168846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9pPr>
          </a:lstStyle>
          <a:p>
            <a:r>
              <a:rPr kumimoji="1" lang="zh-CN" altLang="en-US" sz="3600" dirty="0">
                <a:latin typeface="微软雅黑" panose="020B0503020204020204" pitchFamily="82" charset="2"/>
                <a:ea typeface="微软雅黑" panose="020B0503020204020204" pitchFamily="82" charset="2"/>
              </a:rPr>
              <a:t>数据库模型：层次模型与层次数据库</a:t>
            </a:r>
            <a:endParaRPr kumimoji="1" lang="zh-CN" altLang="en-US" sz="3600" dirty="0">
              <a:latin typeface="微软雅黑" panose="020B0503020204020204" pitchFamily="82" charset="2"/>
              <a:ea typeface="微软雅黑" panose="020B0503020204020204" pitchFamily="82" charset="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 name="图片 25"/>
          <p:cNvPicPr>
            <a:picLocks noChangeAspect="1"/>
          </p:cNvPicPr>
          <p:nvPr/>
        </p:nvPicPr>
        <p:blipFill>
          <a:blip r:embed="rId1"/>
          <a:stretch>
            <a:fillRect/>
          </a:stretch>
        </p:blipFill>
        <p:spPr>
          <a:xfrm>
            <a:off x="4779010" y="2026285"/>
            <a:ext cx="4263390" cy="1438910"/>
          </a:xfrm>
          <a:prstGeom prst="rect">
            <a:avLst/>
          </a:prstGeom>
        </p:spPr>
      </p:pic>
      <p:pic>
        <p:nvPicPr>
          <p:cNvPr id="6" name="图片 5"/>
          <p:cNvPicPr>
            <a:picLocks noChangeAspect="1"/>
          </p:cNvPicPr>
          <p:nvPr/>
        </p:nvPicPr>
        <p:blipFill>
          <a:blip r:embed="rId2"/>
          <a:stretch>
            <a:fillRect/>
          </a:stretch>
        </p:blipFill>
        <p:spPr>
          <a:xfrm>
            <a:off x="137160" y="3524885"/>
            <a:ext cx="6823075" cy="3277235"/>
          </a:xfrm>
          <a:prstGeom prst="rect">
            <a:avLst/>
          </a:prstGeom>
        </p:spPr>
      </p:pic>
      <p:sp>
        <p:nvSpPr>
          <p:cNvPr id="4" name="内容占位符 2"/>
          <p:cNvSpPr>
            <a:spLocks noGrp="1"/>
          </p:cNvSpPr>
          <p:nvPr/>
        </p:nvSpPr>
        <p:spPr>
          <a:xfrm>
            <a:off x="137160" y="1057275"/>
            <a:ext cx="8868410" cy="1506220"/>
          </a:xfrm>
          <a:prstGeom prst="rect">
            <a:avLst/>
          </a:prstGeom>
          <a:noFill/>
          <a:ln>
            <a:noFill/>
          </a:ln>
          <a:effectLst/>
        </p:spPr>
        <p:txBody>
          <a:bodyPr vert="horz" wrap="square" lIns="91440" tIns="45720" rIns="91440" bIns="45720" numCol="1" anchor="t" anchorCtr="0" compatLnSpc="1"/>
          <a:lstStyle>
            <a:lvl1pPr marL="316230" indent="-316230" algn="l" rtl="0" eaLnBrk="1" fontAlgn="base" hangingPunct="1">
              <a:spcBef>
                <a:spcPct val="20000"/>
              </a:spcBef>
              <a:spcAft>
                <a:spcPct val="0"/>
              </a:spcAft>
              <a:buFont typeface="Wingdings" panose="05000000000000000000" pitchFamily="2" charset="2"/>
              <a:buChar char="p"/>
              <a:defRPr kumimoji="1" sz="3200" b="0">
                <a:solidFill>
                  <a:schemeClr val="tx1"/>
                </a:solidFill>
                <a:effectLst/>
                <a:latin typeface="黑体" panose="02010609060101010101" pitchFamily="49" charset="-122"/>
                <a:ea typeface="黑体" panose="02010609060101010101" pitchFamily="49" charset="-122"/>
                <a:cs typeface="Arial" panose="020B0604020202020204"/>
              </a:defRPr>
            </a:lvl1pPr>
            <a:lvl2pPr marL="685800" indent="-263525" algn="l" rtl="0" eaLnBrk="1" fontAlgn="base" hangingPunct="1">
              <a:spcBef>
                <a:spcPct val="20000"/>
              </a:spcBef>
              <a:spcAft>
                <a:spcPct val="0"/>
              </a:spcAft>
              <a:buChar char="–"/>
              <a:defRPr kumimoji="1" sz="2800" b="0">
                <a:solidFill>
                  <a:schemeClr val="tx1"/>
                </a:solidFill>
                <a:effectLst/>
                <a:latin typeface="黑体" panose="02010609060101010101" pitchFamily="49" charset="-122"/>
                <a:ea typeface="黑体" panose="02010609060101010101" pitchFamily="49" charset="-122"/>
                <a:cs typeface="Arial" panose="020B0604020202020204"/>
              </a:defRPr>
            </a:lvl2pPr>
            <a:lvl3pPr marL="1055370" indent="-210820" algn="l" rtl="0" eaLnBrk="1" fontAlgn="base" hangingPunct="1">
              <a:spcBef>
                <a:spcPct val="20000"/>
              </a:spcBef>
              <a:spcAft>
                <a:spcPct val="0"/>
              </a:spcAft>
              <a:buChar char="•"/>
              <a:defRPr kumimoji="1" sz="2400" b="0">
                <a:solidFill>
                  <a:schemeClr val="tx1"/>
                </a:solidFill>
                <a:effectLst/>
                <a:latin typeface="黑体" panose="02010609060101010101" pitchFamily="49" charset="-122"/>
                <a:ea typeface="黑体" panose="02010609060101010101" pitchFamily="49" charset="-122"/>
                <a:cs typeface="Arial" panose="020B0604020202020204"/>
              </a:defRPr>
            </a:lvl3pPr>
            <a:lvl4pPr marL="147701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4pPr>
            <a:lvl5pPr marL="189928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5pPr>
            <a:lvl6pPr marL="232092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6pPr>
            <a:lvl7pPr marL="274320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7pPr>
            <a:lvl8pPr marL="316547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8pPr>
            <a:lvl9pPr marL="358711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9pPr>
          </a:lstStyle>
          <a:p>
            <a:pPr>
              <a:buFont typeface="Wingdings" panose="05000000000000000000" pitchFamily="2" charset="2"/>
              <a:buChar char="Ø"/>
            </a:pPr>
            <a:r>
              <a:rPr lang="zh-CN" altLang="zh-CN" sz="2400" b="1" dirty="0">
                <a:solidFill>
                  <a:srgbClr val="6F1787"/>
                </a:solidFill>
                <a:latin typeface="微软雅黑" panose="020B0503020204020204" pitchFamily="82" charset="2"/>
                <a:ea typeface="微软雅黑" panose="020B0503020204020204" pitchFamily="82" charset="2"/>
              </a:rPr>
              <a:t>美国通用电气公司发布了世界上第一个网状数据库系统</a:t>
            </a:r>
            <a:r>
              <a:rPr lang="en-US" altLang="zh-CN" sz="2400" b="1" dirty="0">
                <a:solidFill>
                  <a:srgbClr val="6F1787"/>
                </a:solidFill>
                <a:latin typeface="微软雅黑" panose="020B0503020204020204" pitchFamily="82" charset="2"/>
                <a:ea typeface="微软雅黑" panose="020B0503020204020204" pitchFamily="82" charset="2"/>
              </a:rPr>
              <a:t>——IDS</a:t>
            </a:r>
            <a:r>
              <a:rPr lang="zh-CN" altLang="zh-CN" sz="2400" b="1" dirty="0">
                <a:solidFill>
                  <a:srgbClr val="6F1787"/>
                </a:solidFill>
                <a:latin typeface="微软雅黑" panose="020B0503020204020204" pitchFamily="82" charset="2"/>
                <a:ea typeface="微软雅黑" panose="020B0503020204020204" pitchFamily="82" charset="2"/>
              </a:rPr>
              <a:t>（</a:t>
            </a:r>
            <a:r>
              <a:rPr lang="en-US" altLang="zh-CN" sz="2400" b="1" dirty="0">
                <a:solidFill>
                  <a:srgbClr val="6F1787"/>
                </a:solidFill>
                <a:latin typeface="微软雅黑" panose="020B0503020204020204" pitchFamily="82" charset="2"/>
                <a:ea typeface="微软雅黑" panose="020B0503020204020204" pitchFamily="82" charset="2"/>
              </a:rPr>
              <a:t>Integrated Data Storage</a:t>
            </a:r>
            <a:r>
              <a:rPr lang="zh-CN" altLang="zh-CN" sz="2400" b="1" dirty="0">
                <a:solidFill>
                  <a:srgbClr val="6F1787"/>
                </a:solidFill>
                <a:latin typeface="微软雅黑" panose="020B0503020204020204" pitchFamily="82" charset="2"/>
                <a:ea typeface="微软雅黑" panose="020B0503020204020204" pitchFamily="82" charset="2"/>
              </a:rPr>
              <a:t>，集成数据存储）</a:t>
            </a:r>
            <a:endParaRPr lang="en-US" altLang="zh-CN" sz="2400" b="1" dirty="0">
              <a:solidFill>
                <a:srgbClr val="6F1787"/>
              </a:solidFill>
              <a:latin typeface="微软雅黑" panose="020B0503020204020204" pitchFamily="82" charset="2"/>
              <a:ea typeface="微软雅黑" panose="020B0503020204020204" pitchFamily="82" charset="2"/>
            </a:endParaRPr>
          </a:p>
          <a:p>
            <a:pPr lvl="1">
              <a:buSzPct val="50000"/>
              <a:buFont typeface="Wingdings" panose="05000000000000000000" pitchFamily="2" charset="2"/>
              <a:buChar char="l"/>
            </a:pPr>
            <a:r>
              <a:rPr lang="zh-CN" altLang="en-US" sz="1800" dirty="0">
                <a:latin typeface="微软雅黑" panose="020B0503020204020204" pitchFamily="82" charset="2"/>
                <a:ea typeface="微软雅黑" panose="020B0503020204020204" pitchFamily="82" charset="2"/>
              </a:rPr>
              <a:t>允许一个以上的结点无父亲</a:t>
            </a:r>
            <a:endParaRPr lang="en-US" altLang="zh-CN" sz="1800" dirty="0">
              <a:latin typeface="微软雅黑" panose="020B0503020204020204" pitchFamily="82" charset="2"/>
              <a:ea typeface="微软雅黑" panose="020B0503020204020204" pitchFamily="82" charset="2"/>
            </a:endParaRPr>
          </a:p>
          <a:p>
            <a:pPr lvl="1">
              <a:buSzPct val="50000"/>
              <a:buFont typeface="Wingdings" panose="05000000000000000000" pitchFamily="2" charset="2"/>
              <a:buChar char="l"/>
            </a:pPr>
            <a:r>
              <a:rPr lang="zh-CN" altLang="en-US" sz="1800" dirty="0">
                <a:latin typeface="微软雅黑" panose="020B0503020204020204" pitchFamily="82" charset="2"/>
                <a:ea typeface="微软雅黑" panose="020B0503020204020204" pitchFamily="82" charset="2"/>
              </a:rPr>
              <a:t>一个结点可以有多于一个的父亲</a:t>
            </a:r>
            <a:endParaRPr lang="en-US" altLang="zh-CN" sz="1800" dirty="0">
              <a:latin typeface="微软雅黑" panose="020B0503020204020204" pitchFamily="82" charset="2"/>
              <a:ea typeface="微软雅黑" panose="020B0503020204020204" pitchFamily="82" charset="2"/>
              <a:cs typeface="Arial" panose="020B0604020202020204" pitchFamily="34" charset="0"/>
            </a:endParaRPr>
          </a:p>
        </p:txBody>
      </p:sp>
      <p:sp>
        <p:nvSpPr>
          <p:cNvPr id="2" name="标题 1"/>
          <p:cNvSpPr>
            <a:spLocks noGrp="1"/>
          </p:cNvSpPr>
          <p:nvPr/>
        </p:nvSpPr>
        <p:spPr>
          <a:xfrm>
            <a:off x="971550" y="53975"/>
            <a:ext cx="8033385" cy="678180"/>
          </a:xfrm>
          <a:prstGeom prst="rect">
            <a:avLst/>
          </a:prstGeom>
          <a:noFill/>
          <a:ln>
            <a:noFill/>
          </a:ln>
          <a:effectLst/>
        </p:spPr>
        <p:txBody>
          <a:bodyPr vert="horz" wrap="square" lIns="91440" tIns="45720" rIns="91440" bIns="45720" numCol="1" anchor="ctr" anchorCtr="0" compatLnSpc="1"/>
          <a:lstStyle>
            <a:lvl1pPr algn="ctr" rtl="0" eaLnBrk="1" fontAlgn="base" hangingPunct="1">
              <a:spcBef>
                <a:spcPct val="0"/>
              </a:spcBef>
              <a:spcAft>
                <a:spcPct val="0"/>
              </a:spcAft>
              <a:defRPr kumimoji="1" sz="4800" b="1" i="0">
                <a:solidFill>
                  <a:schemeClr val="tx2"/>
                </a:solidFill>
                <a:effectLst/>
                <a:latin typeface="Arial" panose="020B0604020202020204"/>
                <a:ea typeface="黑体" panose="02010609060101010101" pitchFamily="49" charset="-122"/>
                <a:cs typeface="Arial" panose="020B0604020202020204"/>
              </a:defRPr>
            </a:lvl1pPr>
            <a:lvl2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2pPr>
            <a:lvl3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3pPr>
            <a:lvl4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4pPr>
            <a:lvl5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5pPr>
            <a:lvl6pPr marL="42227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6pPr>
            <a:lvl7pPr marL="84391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7pPr>
            <a:lvl8pPr marL="1266190"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8pPr>
            <a:lvl9pPr marL="168846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9pPr>
          </a:lstStyle>
          <a:p>
            <a:r>
              <a:rPr kumimoji="1" lang="zh-CN" altLang="en-US" sz="3600" dirty="0">
                <a:latin typeface="微软雅黑" panose="020B0503020204020204" pitchFamily="82" charset="2"/>
                <a:ea typeface="微软雅黑" panose="020B0503020204020204" pitchFamily="82" charset="2"/>
              </a:rPr>
              <a:t>数据库模型：网状模型和网状数据库</a:t>
            </a:r>
            <a:endParaRPr kumimoji="1" lang="zh-CN" altLang="en-US" sz="3600" dirty="0">
              <a:latin typeface="微软雅黑" panose="020B0503020204020204" pitchFamily="82" charset="2"/>
              <a:ea typeface="微软雅黑" panose="020B0503020204020204" pitchFamily="82" charset="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p:cNvSpPr>
          <p:nvPr>
            <p:ph type="title" idx="4294967295"/>
          </p:nvPr>
        </p:nvSpPr>
        <p:spPr/>
        <p:txBody>
          <a:bodyPr wrap="square" lIns="91440" tIns="45720" rIns="91440" bIns="45720" anchor="b" anchorCtr="0"/>
          <a:lstStyle/>
          <a:p>
            <a:r>
              <a:rPr lang="en-US" altLang="zh-CN" sz="4400" dirty="0">
                <a:effectLst/>
                <a:latin typeface="Arial" panose="020B0604020202020204" pitchFamily="34" charset="0"/>
              </a:rPr>
              <a:t>Relational Model</a:t>
            </a:r>
            <a:endParaRPr lang="en-US" altLang="zh-CN" sz="4400" dirty="0">
              <a:effectLst/>
              <a:latin typeface="Arial" panose="020B0604020202020204" pitchFamily="34" charset="0"/>
            </a:endParaRPr>
          </a:p>
        </p:txBody>
      </p:sp>
      <p:sp>
        <p:nvSpPr>
          <p:cNvPr id="27650" name="Rectangle 3"/>
          <p:cNvSpPr>
            <a:spLocks noGrp="1"/>
          </p:cNvSpPr>
          <p:nvPr>
            <p:ph type="body" idx="4294967295"/>
          </p:nvPr>
        </p:nvSpPr>
        <p:spPr>
          <a:xfrm>
            <a:off x="101600" y="958850"/>
            <a:ext cx="7661275" cy="896938"/>
          </a:xfrm>
        </p:spPr>
        <p:txBody>
          <a:bodyPr vert="horz" wrap="square" lIns="91440" tIns="45720" rIns="91440" bIns="45720" anchor="t" anchorCtr="0"/>
          <a:lstStyle/>
          <a:p>
            <a:r>
              <a:rPr lang="en-US" altLang="zh-CN" sz="2400" dirty="0">
                <a:latin typeface="Arial" panose="020B0604020202020204" pitchFamily="34" charset="0"/>
              </a:rPr>
              <a:t>All the data is stored in various tables.</a:t>
            </a:r>
            <a:endParaRPr lang="en-US" altLang="zh-CN" sz="2400" dirty="0">
              <a:latin typeface="Arial" panose="020B0604020202020204" pitchFamily="34" charset="0"/>
            </a:endParaRPr>
          </a:p>
          <a:p>
            <a:r>
              <a:rPr lang="en-US" altLang="zh-CN" sz="2400" dirty="0">
                <a:latin typeface="Arial" panose="020B0604020202020204" pitchFamily="34" charset="0"/>
              </a:rPr>
              <a:t>Example of tabular data in the relational model</a:t>
            </a:r>
            <a:endParaRPr lang="en-US" altLang="zh-CN" sz="2400" dirty="0">
              <a:latin typeface="Arial" panose="020B0604020202020204" pitchFamily="34" charset="0"/>
            </a:endParaRPr>
          </a:p>
        </p:txBody>
      </p:sp>
      <p:sp>
        <p:nvSpPr>
          <p:cNvPr id="27651" name="Line 31"/>
          <p:cNvSpPr/>
          <p:nvPr/>
        </p:nvSpPr>
        <p:spPr>
          <a:xfrm flipH="1">
            <a:off x="6508750" y="2114550"/>
            <a:ext cx="857250" cy="638175"/>
          </a:xfrm>
          <a:prstGeom prst="line">
            <a:avLst/>
          </a:prstGeom>
          <a:ln w="9525" cap="flat" cmpd="sng">
            <a:solidFill>
              <a:schemeClr val="tx1"/>
            </a:solidFill>
            <a:prstDash val="solid"/>
            <a:round/>
            <a:headEnd type="none" w="med" len="med"/>
            <a:tailEnd type="triangle" w="med" len="med"/>
          </a:ln>
        </p:spPr>
      </p:sp>
      <p:sp>
        <p:nvSpPr>
          <p:cNvPr id="27652" name="Text Box 32"/>
          <p:cNvSpPr txBox="1"/>
          <p:nvPr/>
        </p:nvSpPr>
        <p:spPr>
          <a:xfrm>
            <a:off x="6910388" y="1827213"/>
            <a:ext cx="984250" cy="336550"/>
          </a:xfrm>
          <a:prstGeom prst="rect">
            <a:avLst/>
          </a:prstGeom>
          <a:noFill/>
          <a:ln w="9525">
            <a:noFill/>
          </a:ln>
        </p:spPr>
        <p:txBody>
          <a:bodyPr wrap="none" anchor="t" anchorCtr="0">
            <a:spAutoFit/>
          </a:bodyPr>
          <a:lstStyle/>
          <a:p>
            <a:pPr eaLnBrk="0" hangingPunct="0">
              <a:buClrTx/>
              <a:buFontTx/>
            </a:pPr>
            <a:r>
              <a:rPr lang="en-US" altLang="zh-CN" dirty="0">
                <a:latin typeface="Helvetica" charset="0"/>
              </a:rPr>
              <a:t>Columns</a:t>
            </a:r>
            <a:endParaRPr lang="en-US" altLang="zh-CN" dirty="0">
              <a:latin typeface="Helvetica" charset="0"/>
            </a:endParaRPr>
          </a:p>
        </p:txBody>
      </p:sp>
      <p:sp>
        <p:nvSpPr>
          <p:cNvPr id="27653" name="Line 33"/>
          <p:cNvSpPr/>
          <p:nvPr/>
        </p:nvSpPr>
        <p:spPr>
          <a:xfrm flipH="1">
            <a:off x="5624513" y="2143125"/>
            <a:ext cx="1509712" cy="623888"/>
          </a:xfrm>
          <a:prstGeom prst="line">
            <a:avLst/>
          </a:prstGeom>
          <a:ln w="9525" cap="flat" cmpd="sng">
            <a:solidFill>
              <a:schemeClr val="tx1"/>
            </a:solidFill>
            <a:prstDash val="solid"/>
            <a:round/>
            <a:headEnd type="none" w="med" len="med"/>
            <a:tailEnd type="triangle" w="med" len="med"/>
          </a:ln>
        </p:spPr>
      </p:sp>
      <p:pic>
        <p:nvPicPr>
          <p:cNvPr id="27654" name="Picture 37" descr="1"/>
          <p:cNvPicPr>
            <a:picLocks noChangeAspect="1"/>
          </p:cNvPicPr>
          <p:nvPr/>
        </p:nvPicPr>
        <p:blipFill>
          <a:blip r:embed="rId1"/>
          <a:srcRect b="43330"/>
          <a:stretch>
            <a:fillRect/>
          </a:stretch>
        </p:blipFill>
        <p:spPr>
          <a:xfrm>
            <a:off x="1666875" y="2763838"/>
            <a:ext cx="5526088" cy="3744912"/>
          </a:xfrm>
          <a:prstGeom prst="rect">
            <a:avLst/>
          </a:prstGeom>
          <a:noFill/>
          <a:ln w="9525">
            <a:noFill/>
          </a:ln>
        </p:spPr>
      </p:pic>
      <p:sp>
        <p:nvSpPr>
          <p:cNvPr id="27655" name="Text Box 38"/>
          <p:cNvSpPr txBox="1"/>
          <p:nvPr/>
        </p:nvSpPr>
        <p:spPr>
          <a:xfrm>
            <a:off x="7748588" y="3095625"/>
            <a:ext cx="688975" cy="336550"/>
          </a:xfrm>
          <a:prstGeom prst="rect">
            <a:avLst/>
          </a:prstGeom>
          <a:noFill/>
          <a:ln w="9525">
            <a:noFill/>
          </a:ln>
        </p:spPr>
        <p:txBody>
          <a:bodyPr wrap="none" anchor="t" anchorCtr="0">
            <a:spAutoFit/>
          </a:bodyPr>
          <a:lstStyle/>
          <a:p>
            <a:pPr eaLnBrk="0" hangingPunct="0">
              <a:buClrTx/>
              <a:buFontTx/>
            </a:pPr>
            <a:r>
              <a:rPr lang="en-US" altLang="zh-CN" dirty="0">
                <a:latin typeface="Helvetica" charset="0"/>
              </a:rPr>
              <a:t>Rows</a:t>
            </a:r>
            <a:endParaRPr lang="en-US" altLang="zh-CN" dirty="0">
              <a:latin typeface="Helvetica" charset="0"/>
            </a:endParaRPr>
          </a:p>
        </p:txBody>
      </p:sp>
      <p:sp>
        <p:nvSpPr>
          <p:cNvPr id="27656" name="Line 39"/>
          <p:cNvSpPr/>
          <p:nvPr/>
        </p:nvSpPr>
        <p:spPr>
          <a:xfrm flipH="1">
            <a:off x="7219950" y="3270250"/>
            <a:ext cx="527050" cy="28575"/>
          </a:xfrm>
          <a:prstGeom prst="line">
            <a:avLst/>
          </a:prstGeom>
          <a:ln w="9525" cap="flat" cmpd="sng">
            <a:solidFill>
              <a:schemeClr val="tx1"/>
            </a:solidFill>
            <a:prstDash val="solid"/>
            <a:round/>
            <a:headEnd type="none" w="med" len="med"/>
            <a:tailEnd type="triangle" w="med" len="med"/>
          </a:ln>
        </p:spPr>
      </p:sp>
      <p:sp>
        <p:nvSpPr>
          <p:cNvPr id="27657" name="Line 40"/>
          <p:cNvSpPr/>
          <p:nvPr/>
        </p:nvSpPr>
        <p:spPr>
          <a:xfrm flipH="1">
            <a:off x="7232650" y="3346450"/>
            <a:ext cx="527050" cy="2416175"/>
          </a:xfrm>
          <a:prstGeom prst="line">
            <a:avLst/>
          </a:prstGeom>
          <a:ln w="9525" cap="flat" cmpd="sng">
            <a:solidFill>
              <a:schemeClr val="tx1"/>
            </a:solidFill>
            <a:prstDash val="solid"/>
            <a:round/>
            <a:headEnd type="none" w="med" len="med"/>
            <a:tailEnd type="triangle" w="med" len="me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p:cNvSpPr>
          <p:nvPr>
            <p:ph type="title" idx="4294967295"/>
          </p:nvPr>
        </p:nvSpPr>
        <p:spPr/>
        <p:txBody>
          <a:bodyPr wrap="square" lIns="91440" tIns="45720" rIns="91440" bIns="45720" anchor="b" anchorCtr="0"/>
          <a:lstStyle/>
          <a:p>
            <a:r>
              <a:rPr lang="en-US" altLang="zh-CN" dirty="0">
                <a:effectLst/>
              </a:rPr>
              <a:t>A Sample Relational Database</a:t>
            </a:r>
            <a:endParaRPr lang="en-US" altLang="zh-CN" dirty="0">
              <a:effectLst/>
            </a:endParaRPr>
          </a:p>
        </p:txBody>
      </p:sp>
      <p:pic>
        <p:nvPicPr>
          <p:cNvPr id="29698" name="Picture 3" descr="1"/>
          <p:cNvPicPr>
            <a:picLocks noChangeAspect="1"/>
          </p:cNvPicPr>
          <p:nvPr/>
        </p:nvPicPr>
        <p:blipFill>
          <a:blip r:embed="rId1"/>
          <a:stretch>
            <a:fillRect/>
          </a:stretch>
        </p:blipFill>
        <p:spPr>
          <a:xfrm>
            <a:off x="2774950" y="1408113"/>
            <a:ext cx="4170363" cy="4986337"/>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p:cNvSpPr>
          <p:nvPr>
            <p:ph type="title" idx="4294967295"/>
          </p:nvPr>
        </p:nvSpPr>
        <p:spPr>
          <a:xfrm>
            <a:off x="552450" y="123825"/>
            <a:ext cx="8077200" cy="609600"/>
          </a:xfrm>
        </p:spPr>
        <p:txBody>
          <a:bodyPr wrap="square" lIns="91440" tIns="45720" rIns="91440" bIns="45720" anchor="b" anchorCtr="0"/>
          <a:lstStyle/>
          <a:p>
            <a:r>
              <a:rPr lang="en-US" altLang="zh-CN" dirty="0">
                <a:effectLst/>
              </a:rPr>
              <a:t>Data Definition Language (DDL)</a:t>
            </a:r>
            <a:endParaRPr lang="en-US" altLang="zh-CN" dirty="0">
              <a:effectLst/>
            </a:endParaRPr>
          </a:p>
        </p:txBody>
      </p:sp>
      <p:sp>
        <p:nvSpPr>
          <p:cNvPr id="31746" name="Rectangle 3"/>
          <p:cNvSpPr>
            <a:spLocks noGrp="1"/>
          </p:cNvSpPr>
          <p:nvPr>
            <p:ph type="body" idx="4294967295"/>
          </p:nvPr>
        </p:nvSpPr>
        <p:spPr>
          <a:xfrm>
            <a:off x="174625" y="904875"/>
            <a:ext cx="8818563" cy="5287963"/>
          </a:xfrm>
        </p:spPr>
        <p:txBody>
          <a:bodyPr vert="horz" wrap="square" lIns="91440" tIns="45720" rIns="91440" bIns="45720" anchor="t" anchorCtr="0"/>
          <a:lstStyle/>
          <a:p>
            <a:r>
              <a:rPr lang="en-US" altLang="zh-CN" sz="2000" dirty="0">
                <a:latin typeface="Arial" panose="020B0604020202020204" pitchFamily="34" charset="0"/>
                <a:cs typeface="Arial" panose="020B0604020202020204" pitchFamily="34" charset="0"/>
              </a:rPr>
              <a:t>Specification notation for defining the database schema</a:t>
            </a:r>
            <a:endParaRPr lang="en-US" altLang="zh-CN" sz="2000" dirty="0">
              <a:latin typeface="Arial" panose="020B0604020202020204" pitchFamily="34" charset="0"/>
              <a:cs typeface="Arial" panose="020B0604020202020204" pitchFamily="34" charset="0"/>
            </a:endParaRPr>
          </a:p>
          <a:p>
            <a:pPr lvl="1">
              <a:buNone/>
            </a:pPr>
            <a:r>
              <a:rPr lang="en-US" altLang="zh-CN" sz="2000" dirty="0">
                <a:latin typeface="Arial" panose="020B0604020202020204" pitchFamily="34" charset="0"/>
                <a:cs typeface="Arial" panose="020B0604020202020204" pitchFamily="34" charset="0"/>
              </a:rPr>
              <a:t>Example:	</a:t>
            </a:r>
            <a:r>
              <a:rPr lang="en-US" altLang="zh-CN" sz="2000" b="1" dirty="0">
                <a:latin typeface="Arial" panose="020B0604020202020204" pitchFamily="34" charset="0"/>
                <a:cs typeface="Arial" panose="020B0604020202020204" pitchFamily="34" charset="0"/>
              </a:rPr>
              <a:t>create table</a:t>
            </a:r>
            <a:r>
              <a:rPr lang="en-US" altLang="zh-CN" sz="2000" dirty="0">
                <a:latin typeface="Arial" panose="020B0604020202020204" pitchFamily="34" charset="0"/>
                <a:cs typeface="Arial" panose="020B0604020202020204" pitchFamily="34" charset="0"/>
              </a:rPr>
              <a:t> </a:t>
            </a:r>
            <a:r>
              <a:rPr lang="en-US" altLang="zh-CN" sz="2000" i="1" dirty="0">
                <a:latin typeface="Arial" panose="020B0604020202020204" pitchFamily="34" charset="0"/>
                <a:cs typeface="Arial" panose="020B0604020202020204" pitchFamily="34" charset="0"/>
              </a:rPr>
              <a:t>instructor</a:t>
            </a:r>
            <a:r>
              <a:rPr lang="en-US" altLang="zh-CN" sz="2000" dirty="0">
                <a:latin typeface="Arial" panose="020B0604020202020204" pitchFamily="34" charset="0"/>
                <a:cs typeface="Arial" panose="020B0604020202020204" pitchFamily="34" charset="0"/>
              </a:rPr>
              <a:t> (</a:t>
            </a:r>
            <a:br>
              <a:rPr lang="en-US" altLang="zh-CN" sz="2000" dirty="0">
                <a:latin typeface="Arial" panose="020B0604020202020204" pitchFamily="34" charset="0"/>
                <a:cs typeface="Arial" panose="020B0604020202020204" pitchFamily="34" charset="0"/>
              </a:rPr>
            </a:br>
            <a:r>
              <a:rPr lang="en-US" altLang="zh-CN" sz="2000" dirty="0">
                <a:latin typeface="Arial" panose="020B0604020202020204" pitchFamily="34" charset="0"/>
                <a:cs typeface="Arial" panose="020B0604020202020204" pitchFamily="34" charset="0"/>
              </a:rPr>
              <a:t>                             </a:t>
            </a:r>
            <a:r>
              <a:rPr lang="en-US" altLang="zh-CN" sz="2000" i="1" dirty="0">
                <a:latin typeface="Arial" panose="020B0604020202020204" pitchFamily="34" charset="0"/>
                <a:cs typeface="Arial" panose="020B0604020202020204" pitchFamily="34" charset="0"/>
              </a:rPr>
              <a:t>ID</a:t>
            </a:r>
            <a:r>
              <a:rPr lang="en-US" altLang="zh-CN" sz="2000"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char</a:t>
            </a:r>
            <a:r>
              <a:rPr lang="en-US" altLang="zh-CN" sz="2000" dirty="0">
                <a:latin typeface="Arial" panose="020B0604020202020204" pitchFamily="34" charset="0"/>
                <a:cs typeface="Arial" panose="020B0604020202020204" pitchFamily="34" charset="0"/>
              </a:rPr>
              <a:t>(5),</a:t>
            </a:r>
            <a:br>
              <a:rPr lang="en-US" altLang="zh-CN" sz="2000" dirty="0">
                <a:latin typeface="Arial" panose="020B0604020202020204" pitchFamily="34" charset="0"/>
                <a:cs typeface="Arial" panose="020B0604020202020204" pitchFamily="34" charset="0"/>
              </a:rPr>
            </a:br>
            <a:r>
              <a:rPr lang="en-US" altLang="zh-CN" sz="2000" dirty="0">
                <a:latin typeface="Arial" panose="020B0604020202020204" pitchFamily="34" charset="0"/>
                <a:cs typeface="Arial" panose="020B0604020202020204" pitchFamily="34" charset="0"/>
              </a:rPr>
              <a:t>                             </a:t>
            </a:r>
            <a:r>
              <a:rPr lang="en-US" altLang="zh-CN" sz="2000" i="1" dirty="0">
                <a:latin typeface="Arial" panose="020B0604020202020204" pitchFamily="34" charset="0"/>
                <a:cs typeface="Arial" panose="020B0604020202020204" pitchFamily="34" charset="0"/>
              </a:rPr>
              <a:t>name           </a:t>
            </a:r>
            <a:r>
              <a:rPr lang="en-US" altLang="zh-CN" sz="2000" b="1" dirty="0">
                <a:latin typeface="Arial" panose="020B0604020202020204" pitchFamily="34" charset="0"/>
                <a:cs typeface="Arial" panose="020B0604020202020204" pitchFamily="34" charset="0"/>
              </a:rPr>
              <a:t>varchar</a:t>
            </a:r>
            <a:r>
              <a:rPr lang="en-US" altLang="zh-CN" sz="2000" dirty="0">
                <a:latin typeface="Arial" panose="020B0604020202020204" pitchFamily="34" charset="0"/>
                <a:cs typeface="Arial" panose="020B0604020202020204" pitchFamily="34" charset="0"/>
              </a:rPr>
              <a:t>(20)</a:t>
            </a:r>
            <a:r>
              <a:rPr lang="en-US" altLang="zh-CN" sz="2000" b="1" dirty="0">
                <a:latin typeface="Arial" panose="020B0604020202020204" pitchFamily="34" charset="0"/>
                <a:cs typeface="Arial" panose="020B0604020202020204" pitchFamily="34" charset="0"/>
              </a:rPr>
              <a:t>,</a:t>
            </a:r>
            <a:br>
              <a:rPr lang="en-US" altLang="zh-CN" sz="2000" b="1" i="1" dirty="0">
                <a:latin typeface="Arial" panose="020B0604020202020204" pitchFamily="34" charset="0"/>
                <a:cs typeface="Arial" panose="020B0604020202020204" pitchFamily="34" charset="0"/>
              </a:rPr>
            </a:br>
            <a:r>
              <a:rPr lang="en-US" altLang="zh-CN" sz="2000" b="1" i="1" dirty="0">
                <a:latin typeface="Arial" panose="020B0604020202020204" pitchFamily="34" charset="0"/>
                <a:cs typeface="Arial" panose="020B0604020202020204" pitchFamily="34" charset="0"/>
              </a:rPr>
              <a:t>                             </a:t>
            </a:r>
            <a:r>
              <a:rPr lang="en-US" altLang="zh-CN" sz="2000" i="1" dirty="0">
                <a:latin typeface="Arial" panose="020B0604020202020204" pitchFamily="34" charset="0"/>
                <a:cs typeface="Arial" panose="020B0604020202020204" pitchFamily="34" charset="0"/>
              </a:rPr>
              <a:t>dept_name  </a:t>
            </a:r>
            <a:r>
              <a:rPr lang="en-US" altLang="zh-CN" sz="2000" b="1" dirty="0">
                <a:latin typeface="Arial" panose="020B0604020202020204" pitchFamily="34" charset="0"/>
                <a:cs typeface="Arial" panose="020B0604020202020204" pitchFamily="34" charset="0"/>
              </a:rPr>
              <a:t>varchar</a:t>
            </a:r>
            <a:r>
              <a:rPr lang="en-US" altLang="zh-CN" sz="2000" dirty="0">
                <a:latin typeface="Arial" panose="020B0604020202020204" pitchFamily="34" charset="0"/>
                <a:cs typeface="Arial" panose="020B0604020202020204" pitchFamily="34" charset="0"/>
              </a:rPr>
              <a:t>(20),</a:t>
            </a:r>
            <a:br>
              <a:rPr lang="en-US" altLang="zh-CN" sz="2000" dirty="0">
                <a:latin typeface="Arial" panose="020B0604020202020204" pitchFamily="34" charset="0"/>
                <a:cs typeface="Arial" panose="020B0604020202020204" pitchFamily="34" charset="0"/>
              </a:rPr>
            </a:br>
            <a:r>
              <a:rPr lang="en-US" altLang="zh-CN" sz="2000" dirty="0">
                <a:latin typeface="Arial" panose="020B0604020202020204" pitchFamily="34" charset="0"/>
                <a:cs typeface="Arial" panose="020B0604020202020204" pitchFamily="34" charset="0"/>
              </a:rPr>
              <a:t>                             </a:t>
            </a:r>
            <a:r>
              <a:rPr lang="en-US" altLang="zh-CN" sz="2000" i="1" dirty="0">
                <a:latin typeface="Arial" panose="020B0604020202020204" pitchFamily="34" charset="0"/>
                <a:cs typeface="Arial" panose="020B0604020202020204" pitchFamily="34" charset="0"/>
              </a:rPr>
              <a:t>salary</a:t>
            </a:r>
            <a:r>
              <a:rPr lang="en-US" altLang="zh-CN" sz="2000"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numeric</a:t>
            </a:r>
            <a:r>
              <a:rPr lang="en-US" altLang="zh-CN" sz="2000" dirty="0">
                <a:latin typeface="Arial" panose="020B0604020202020204" pitchFamily="34" charset="0"/>
                <a:cs typeface="Arial" panose="020B0604020202020204" pitchFamily="34" charset="0"/>
              </a:rPr>
              <a:t>(8,2))</a:t>
            </a:r>
            <a:endParaRPr lang="en-US" altLang="zh-CN" sz="2000" dirty="0">
              <a:latin typeface="Arial" panose="020B0604020202020204" pitchFamily="34" charset="0"/>
              <a:cs typeface="Arial" panose="020B0604020202020204" pitchFamily="34" charset="0"/>
            </a:endParaRPr>
          </a:p>
          <a:p>
            <a:r>
              <a:rPr lang="en-US" altLang="zh-CN" sz="2000" dirty="0">
                <a:latin typeface="Arial" panose="020B0604020202020204" pitchFamily="34" charset="0"/>
                <a:cs typeface="Arial" panose="020B0604020202020204" pitchFamily="34" charset="0"/>
              </a:rPr>
              <a:t>DDL compiler generates a set of table templates stored in a </a:t>
            </a:r>
            <a:r>
              <a:rPr lang="en-US" altLang="zh-CN" sz="2000" b="1" i="1" dirty="0">
                <a:solidFill>
                  <a:srgbClr val="0066CC"/>
                </a:solidFill>
                <a:latin typeface="Arial" panose="020B0604020202020204" pitchFamily="34" charset="0"/>
                <a:cs typeface="Arial" panose="020B0604020202020204" pitchFamily="34" charset="0"/>
              </a:rPr>
              <a:t>data dictionary</a:t>
            </a:r>
            <a:endParaRPr lang="en-US" altLang="zh-CN" sz="2000" b="1" i="1" dirty="0">
              <a:solidFill>
                <a:srgbClr val="0066CC"/>
              </a:solidFill>
              <a:latin typeface="Arial" panose="020B0604020202020204" pitchFamily="34" charset="0"/>
              <a:cs typeface="Arial" panose="020B0604020202020204" pitchFamily="34" charset="0"/>
            </a:endParaRPr>
          </a:p>
          <a:p>
            <a:r>
              <a:rPr lang="en-US" altLang="zh-CN" sz="2000" dirty="0">
                <a:latin typeface="Arial" panose="020B0604020202020204" pitchFamily="34" charset="0"/>
                <a:cs typeface="Arial" panose="020B0604020202020204" pitchFamily="34" charset="0"/>
              </a:rPr>
              <a:t>Data dictionary contains metadata (i.e., data about data)</a:t>
            </a:r>
            <a:endParaRPr lang="en-US" altLang="zh-CN" sz="2000" dirty="0">
              <a:latin typeface="Arial" panose="020B0604020202020204" pitchFamily="34" charset="0"/>
              <a:cs typeface="Arial" panose="020B0604020202020204" pitchFamily="34" charset="0"/>
            </a:endParaRPr>
          </a:p>
          <a:p>
            <a:pPr lvl="1"/>
            <a:r>
              <a:rPr lang="en-US" altLang="zh-CN" sz="2000" b="1" dirty="0">
                <a:solidFill>
                  <a:srgbClr val="C00000"/>
                </a:solidFill>
                <a:latin typeface="Arial" panose="020B0604020202020204" pitchFamily="34" charset="0"/>
                <a:cs typeface="Arial" panose="020B0604020202020204" pitchFamily="34" charset="0"/>
              </a:rPr>
              <a:t>Database schema </a:t>
            </a:r>
            <a:endParaRPr lang="en-US" altLang="zh-CN" sz="2000" dirty="0">
              <a:latin typeface="Arial" panose="020B0604020202020204" pitchFamily="34" charset="0"/>
              <a:cs typeface="Arial" panose="020B0604020202020204" pitchFamily="34" charset="0"/>
            </a:endParaRPr>
          </a:p>
          <a:p>
            <a:pPr lvl="1"/>
            <a:r>
              <a:rPr lang="en-US" altLang="zh-CN" sz="2000" b="1" dirty="0">
                <a:solidFill>
                  <a:srgbClr val="C00000"/>
                </a:solidFill>
                <a:latin typeface="Arial" panose="020B0604020202020204" pitchFamily="34" charset="0"/>
                <a:cs typeface="Arial" panose="020B0604020202020204" pitchFamily="34" charset="0"/>
              </a:rPr>
              <a:t>Integrity constraints</a:t>
            </a:r>
            <a:endParaRPr lang="en-US" altLang="zh-CN" sz="2000" b="1" dirty="0">
              <a:solidFill>
                <a:srgbClr val="C00000"/>
              </a:solidFill>
              <a:latin typeface="Arial" panose="020B0604020202020204" pitchFamily="34" charset="0"/>
              <a:cs typeface="Arial" panose="020B0604020202020204" pitchFamily="34" charset="0"/>
            </a:endParaRPr>
          </a:p>
          <a:p>
            <a:pPr lvl="2"/>
            <a:r>
              <a:rPr lang="en-US" altLang="zh-CN" sz="2000" dirty="0">
                <a:latin typeface="Arial" panose="020B0604020202020204" pitchFamily="34" charset="0"/>
                <a:cs typeface="Arial" panose="020B0604020202020204" pitchFamily="34" charset="0"/>
              </a:rPr>
              <a:t>Primary key (ID uniquely identifies instructors)</a:t>
            </a:r>
            <a:endParaRPr lang="en-US" altLang="zh-CN" sz="2000" dirty="0">
              <a:latin typeface="Arial" panose="020B0604020202020204" pitchFamily="34" charset="0"/>
              <a:cs typeface="Arial" panose="020B0604020202020204" pitchFamily="34" charset="0"/>
            </a:endParaRPr>
          </a:p>
          <a:p>
            <a:pPr lvl="1" algn="l"/>
            <a:r>
              <a:rPr lang="en-US" altLang="zh-CN" sz="2000" b="1" dirty="0">
                <a:solidFill>
                  <a:srgbClr val="C00000"/>
                </a:solidFill>
                <a:latin typeface="Arial" panose="020B0604020202020204" pitchFamily="34" charset="0"/>
                <a:cs typeface="Arial" panose="020B0604020202020204" pitchFamily="34" charset="0"/>
              </a:rPr>
              <a:t>Authorization</a:t>
            </a:r>
            <a:endParaRPr lang="en-US" altLang="zh-CN" sz="2000" b="1" dirty="0">
              <a:solidFill>
                <a:srgbClr val="C00000"/>
              </a:solidFill>
              <a:latin typeface="Arial" panose="020B0604020202020204" pitchFamily="34" charset="0"/>
              <a:cs typeface="Arial" panose="020B0604020202020204" pitchFamily="34" charset="0"/>
            </a:endParaRPr>
          </a:p>
          <a:p>
            <a:pPr lvl="2"/>
            <a:r>
              <a:rPr lang="en-US" altLang="zh-CN" sz="2000" dirty="0">
                <a:latin typeface="Arial" panose="020B0604020202020204" pitchFamily="34" charset="0"/>
                <a:cs typeface="Arial" panose="020B0604020202020204" pitchFamily="34" charset="0"/>
              </a:rPr>
              <a:t>Who can access what</a:t>
            </a:r>
            <a:endParaRPr lang="en-US" altLang="zh-CN" sz="2000" dirty="0">
              <a:latin typeface="Arial" panose="020B0604020202020204" pitchFamily="34" charset="0"/>
              <a:cs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p:cNvSpPr>
          <p:nvPr>
            <p:ph type="title" idx="4294967295"/>
          </p:nvPr>
        </p:nvSpPr>
        <p:spPr/>
        <p:txBody>
          <a:bodyPr wrap="square" lIns="91440" tIns="45720" rIns="91440" bIns="45720" anchor="b" anchorCtr="0"/>
          <a:lstStyle/>
          <a:p>
            <a:r>
              <a:rPr lang="en-US" altLang="zh-CN" dirty="0">
                <a:effectLst/>
              </a:rPr>
              <a:t>Data Manipulation Language (DML)</a:t>
            </a:r>
            <a:endParaRPr lang="en-US" altLang="zh-CN" dirty="0">
              <a:effectLst/>
            </a:endParaRPr>
          </a:p>
        </p:txBody>
      </p:sp>
      <p:sp>
        <p:nvSpPr>
          <p:cNvPr id="33794" name="Rectangle 3"/>
          <p:cNvSpPr>
            <a:spLocks noGrp="1"/>
          </p:cNvSpPr>
          <p:nvPr>
            <p:ph type="body" idx="4294967295"/>
          </p:nvPr>
        </p:nvSpPr>
        <p:spPr>
          <a:xfrm>
            <a:off x="242888" y="1019175"/>
            <a:ext cx="8647112" cy="5295900"/>
          </a:xfrm>
        </p:spPr>
        <p:txBody>
          <a:bodyPr vert="horz" wrap="square" lIns="91440" tIns="45720" rIns="91440" bIns="45720" anchor="t" anchorCtr="0"/>
          <a:lstStyle/>
          <a:p>
            <a:r>
              <a:rPr lang="en-US" altLang="zh-CN" sz="2400" dirty="0">
                <a:latin typeface="Arial" panose="020B0604020202020204" pitchFamily="34" charset="0"/>
                <a:cs typeface="Arial" panose="020B0604020202020204" pitchFamily="34" charset="0"/>
              </a:rPr>
              <a:t>Language for accessing and manipulating the data organized by the appropriate data model</a:t>
            </a:r>
            <a:endParaRPr lang="en-US" altLang="zh-CN" sz="2400" dirty="0">
              <a:latin typeface="Arial" panose="020B0604020202020204" pitchFamily="34" charset="0"/>
              <a:cs typeface="Arial" panose="020B0604020202020204" pitchFamily="34" charset="0"/>
            </a:endParaRPr>
          </a:p>
          <a:p>
            <a:pPr lvl="1"/>
            <a:r>
              <a:rPr lang="en-US" altLang="zh-CN" sz="2400" dirty="0">
                <a:latin typeface="Arial" panose="020B0604020202020204" pitchFamily="34" charset="0"/>
                <a:cs typeface="Arial" panose="020B0604020202020204" pitchFamily="34" charset="0"/>
              </a:rPr>
              <a:t>DML also known as query language</a:t>
            </a:r>
            <a:endParaRPr lang="en-US" altLang="zh-CN" sz="2400" dirty="0">
              <a:latin typeface="Arial" panose="020B0604020202020204" pitchFamily="34" charset="0"/>
              <a:cs typeface="Arial" panose="020B0604020202020204" pitchFamily="34" charset="0"/>
            </a:endParaRPr>
          </a:p>
          <a:p>
            <a:r>
              <a:rPr lang="en-US" altLang="zh-CN" sz="2400" dirty="0">
                <a:latin typeface="Arial" panose="020B0604020202020204" pitchFamily="34" charset="0"/>
                <a:cs typeface="Arial" panose="020B0604020202020204" pitchFamily="34" charset="0"/>
              </a:rPr>
              <a:t>Two classes of languages </a:t>
            </a:r>
            <a:endParaRPr lang="en-US" altLang="zh-CN" sz="2400" dirty="0">
              <a:latin typeface="Arial" panose="020B0604020202020204" pitchFamily="34" charset="0"/>
              <a:cs typeface="Arial" panose="020B0604020202020204" pitchFamily="34" charset="0"/>
            </a:endParaRPr>
          </a:p>
          <a:p>
            <a:pPr lvl="1"/>
            <a:r>
              <a:rPr lang="en-US" altLang="zh-CN" sz="2400" b="1" dirty="0">
                <a:solidFill>
                  <a:srgbClr val="000099"/>
                </a:solidFill>
                <a:latin typeface="Arial" panose="020B0604020202020204" pitchFamily="34" charset="0"/>
                <a:cs typeface="Arial" panose="020B0604020202020204" pitchFamily="34" charset="0"/>
              </a:rPr>
              <a:t>Pure</a:t>
            </a:r>
            <a:r>
              <a:rPr lang="en-US" altLang="zh-CN" sz="2400" b="1" dirty="0">
                <a:solidFill>
                  <a:schemeClr val="tx2"/>
                </a:solidFill>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 used for proving properties about computational power and for optimization</a:t>
            </a:r>
            <a:endParaRPr lang="en-US" altLang="zh-CN" sz="2400" dirty="0">
              <a:latin typeface="Arial" panose="020B0604020202020204" pitchFamily="34" charset="0"/>
              <a:cs typeface="Arial" panose="020B0604020202020204" pitchFamily="34" charset="0"/>
            </a:endParaRPr>
          </a:p>
          <a:p>
            <a:pPr lvl="2"/>
            <a:r>
              <a:rPr lang="en-US" altLang="zh-CN" sz="2400" dirty="0">
                <a:solidFill>
                  <a:srgbClr val="C00000"/>
                </a:solidFill>
                <a:latin typeface="Arial" panose="020B0604020202020204" pitchFamily="34" charset="0"/>
                <a:cs typeface="Arial" panose="020B0604020202020204" pitchFamily="34" charset="0"/>
              </a:rPr>
              <a:t>Relational Algebra</a:t>
            </a:r>
            <a:endParaRPr lang="en-US" altLang="zh-CN" sz="2400" dirty="0">
              <a:solidFill>
                <a:srgbClr val="C00000"/>
              </a:solidFill>
              <a:latin typeface="Arial" panose="020B0604020202020204" pitchFamily="34" charset="0"/>
              <a:cs typeface="Arial" panose="020B0604020202020204" pitchFamily="34" charset="0"/>
            </a:endParaRPr>
          </a:p>
          <a:p>
            <a:pPr lvl="2"/>
            <a:r>
              <a:rPr lang="en-US" altLang="zh-CN" sz="2400" dirty="0">
                <a:latin typeface="Arial" panose="020B0604020202020204" pitchFamily="34" charset="0"/>
                <a:cs typeface="Arial" panose="020B0604020202020204" pitchFamily="34" charset="0"/>
              </a:rPr>
              <a:t>Tuple relational calculus</a:t>
            </a:r>
            <a:endParaRPr lang="en-US" altLang="zh-CN" sz="2400" dirty="0">
              <a:latin typeface="Arial" panose="020B0604020202020204" pitchFamily="34" charset="0"/>
              <a:cs typeface="Arial" panose="020B0604020202020204" pitchFamily="34" charset="0"/>
            </a:endParaRPr>
          </a:p>
          <a:p>
            <a:pPr lvl="2"/>
            <a:r>
              <a:rPr lang="en-US" altLang="zh-CN" sz="2400" dirty="0">
                <a:latin typeface="Arial" panose="020B0604020202020204" pitchFamily="34" charset="0"/>
                <a:cs typeface="Arial" panose="020B0604020202020204" pitchFamily="34" charset="0"/>
              </a:rPr>
              <a:t>Domain relational calculus</a:t>
            </a:r>
            <a:endParaRPr lang="en-US" altLang="zh-CN" sz="2400" dirty="0">
              <a:latin typeface="Arial" panose="020B0604020202020204" pitchFamily="34" charset="0"/>
              <a:cs typeface="Arial" panose="020B0604020202020204" pitchFamily="34" charset="0"/>
            </a:endParaRPr>
          </a:p>
          <a:p>
            <a:pPr lvl="1"/>
            <a:r>
              <a:rPr lang="en-US" altLang="zh-CN" sz="2400" b="1" dirty="0">
                <a:solidFill>
                  <a:srgbClr val="000099"/>
                </a:solidFill>
                <a:latin typeface="Arial" panose="020B0604020202020204" pitchFamily="34" charset="0"/>
                <a:cs typeface="Arial" panose="020B0604020202020204" pitchFamily="34" charset="0"/>
              </a:rPr>
              <a:t>Commercial</a:t>
            </a:r>
            <a:r>
              <a:rPr lang="en-US" altLang="zh-CN" sz="2400" b="1" dirty="0">
                <a:solidFill>
                  <a:schemeClr val="tx2"/>
                </a:solidFill>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 used in commercial systems</a:t>
            </a:r>
            <a:endParaRPr lang="en-US" altLang="zh-CN" sz="2400" dirty="0">
              <a:latin typeface="Arial" panose="020B0604020202020204" pitchFamily="34" charset="0"/>
              <a:cs typeface="Arial" panose="020B0604020202020204" pitchFamily="34" charset="0"/>
            </a:endParaRPr>
          </a:p>
          <a:p>
            <a:pPr lvl="2"/>
            <a:r>
              <a:rPr lang="en-US" altLang="zh-CN" sz="2400" dirty="0">
                <a:solidFill>
                  <a:srgbClr val="C00000"/>
                </a:solidFill>
                <a:latin typeface="Arial" panose="020B0604020202020204" pitchFamily="34" charset="0"/>
                <a:cs typeface="Arial" panose="020B0604020202020204" pitchFamily="34" charset="0"/>
              </a:rPr>
              <a:t>SQL</a:t>
            </a:r>
            <a:r>
              <a:rPr lang="en-US" altLang="zh-CN" sz="2400" dirty="0">
                <a:latin typeface="Arial" panose="020B0604020202020204" pitchFamily="34" charset="0"/>
                <a:cs typeface="Arial" panose="020B0604020202020204" pitchFamily="34" charset="0"/>
              </a:rPr>
              <a:t> is the most widely used commercial language</a:t>
            </a:r>
            <a:endParaRPr lang="en-US" altLang="zh-CN" sz="2400" dirty="0">
              <a:latin typeface="Arial" panose="020B0604020202020204" pitchFamily="34" charset="0"/>
              <a:cs typeface="Arial" panose="020B0604020202020204" pitchFamily="34" charset="0"/>
            </a:endParaRPr>
          </a:p>
          <a:p>
            <a:pPr lvl="1">
              <a:buNone/>
            </a:pPr>
            <a:endParaRPr lang="zh-CN" altLang="en-US" sz="2400" dirty="0">
              <a:latin typeface="Arial" panose="020B0604020202020204" pitchFamily="34" charset="0"/>
              <a:cs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p:cNvSpPr>
          <p:nvPr>
            <p:ph type="title" idx="4294967295"/>
          </p:nvPr>
        </p:nvSpPr>
        <p:spPr>
          <a:xfrm>
            <a:off x="552450" y="80963"/>
            <a:ext cx="8077200" cy="609600"/>
          </a:xfrm>
        </p:spPr>
        <p:txBody>
          <a:bodyPr wrap="square" lIns="91440" tIns="45720" rIns="91440" bIns="45720" anchor="b" anchorCtr="0"/>
          <a:lstStyle/>
          <a:p>
            <a:r>
              <a:rPr lang="en-US" altLang="zh-CN" dirty="0">
                <a:effectLst/>
              </a:rPr>
              <a:t>SQL</a:t>
            </a:r>
            <a:endParaRPr lang="en-US" altLang="zh-CN" dirty="0">
              <a:effectLst/>
            </a:endParaRPr>
          </a:p>
        </p:txBody>
      </p:sp>
      <p:sp>
        <p:nvSpPr>
          <p:cNvPr id="35842" name="Rectangle 3"/>
          <p:cNvSpPr>
            <a:spLocks noGrp="1"/>
          </p:cNvSpPr>
          <p:nvPr>
            <p:ph type="body" idx="4294967295"/>
          </p:nvPr>
        </p:nvSpPr>
        <p:spPr>
          <a:xfrm>
            <a:off x="260350" y="1125538"/>
            <a:ext cx="8647113" cy="5194300"/>
          </a:xfrm>
        </p:spPr>
        <p:txBody>
          <a:bodyPr vert="horz" wrap="square" lIns="91440" tIns="45720" rIns="91440" bIns="45720" anchor="t" anchorCtr="0"/>
          <a:lstStyle/>
          <a:p>
            <a:r>
              <a:rPr lang="en-US" altLang="zh-CN" sz="2400" dirty="0">
                <a:latin typeface="Arial" panose="020B0604020202020204" pitchFamily="34" charset="0"/>
                <a:cs typeface="Arial" panose="020B0604020202020204" pitchFamily="34" charset="0"/>
              </a:rPr>
              <a:t>The most widely used commercial language</a:t>
            </a:r>
            <a:endParaRPr lang="en-US" altLang="zh-CN" sz="2400" dirty="0">
              <a:latin typeface="Arial" panose="020B0604020202020204" pitchFamily="34" charset="0"/>
              <a:cs typeface="Arial" panose="020B0604020202020204" pitchFamily="34" charset="0"/>
            </a:endParaRPr>
          </a:p>
          <a:p>
            <a:r>
              <a:rPr lang="en-US" altLang="zh-CN" sz="2400" dirty="0">
                <a:latin typeface="Arial" panose="020B0604020202020204" pitchFamily="34" charset="0"/>
                <a:cs typeface="Arial" panose="020B0604020202020204" pitchFamily="34" charset="0"/>
              </a:rPr>
              <a:t>SQL is NOT a Turing machine equivalent language</a:t>
            </a:r>
            <a:endParaRPr lang="en-US" altLang="zh-CN" sz="2400" dirty="0">
              <a:latin typeface="Arial" panose="020B0604020202020204" pitchFamily="34" charset="0"/>
              <a:cs typeface="Arial" panose="020B0604020202020204" pitchFamily="34" charset="0"/>
            </a:endParaRPr>
          </a:p>
          <a:p>
            <a:r>
              <a:rPr lang="en-US" altLang="zh-CN" sz="2400" dirty="0">
                <a:latin typeface="Arial" panose="020B0604020202020204" pitchFamily="34" charset="0"/>
                <a:cs typeface="Arial" panose="020B0604020202020204" pitchFamily="34" charset="0"/>
              </a:rPr>
              <a:t>To be able to compute complex functions SQL is usually embedded in some higher-level language</a:t>
            </a:r>
            <a:endParaRPr lang="en-US" altLang="zh-CN" sz="2400" dirty="0">
              <a:latin typeface="Arial" panose="020B0604020202020204" pitchFamily="34" charset="0"/>
              <a:cs typeface="Arial" panose="020B0604020202020204" pitchFamily="34" charset="0"/>
            </a:endParaRPr>
          </a:p>
          <a:p>
            <a:r>
              <a:rPr lang="en-US" altLang="zh-CN" sz="2400" dirty="0">
                <a:latin typeface="Arial" panose="020B0604020202020204" pitchFamily="34" charset="0"/>
                <a:cs typeface="Arial" panose="020B0604020202020204" pitchFamily="34" charset="0"/>
              </a:rPr>
              <a:t>Application programs generally access databases through one of</a:t>
            </a:r>
            <a:endParaRPr lang="en-US" altLang="zh-CN" sz="2400" dirty="0">
              <a:latin typeface="Arial" panose="020B0604020202020204" pitchFamily="34" charset="0"/>
              <a:cs typeface="Arial" panose="020B0604020202020204" pitchFamily="34" charset="0"/>
            </a:endParaRPr>
          </a:p>
          <a:p>
            <a:pPr lvl="1"/>
            <a:r>
              <a:rPr lang="en-US" altLang="zh-CN" sz="2400" dirty="0">
                <a:latin typeface="Arial" panose="020B0604020202020204" pitchFamily="34" charset="0"/>
                <a:cs typeface="Arial" panose="020B0604020202020204" pitchFamily="34" charset="0"/>
              </a:rPr>
              <a:t>Language extensions to allow </a:t>
            </a:r>
            <a:r>
              <a:rPr lang="en-US" altLang="zh-CN" sz="2400" dirty="0">
                <a:solidFill>
                  <a:srgbClr val="C00000"/>
                </a:solidFill>
                <a:latin typeface="Arial" panose="020B0604020202020204" pitchFamily="34" charset="0"/>
                <a:cs typeface="Arial" panose="020B0604020202020204" pitchFamily="34" charset="0"/>
              </a:rPr>
              <a:t>embedded SQL</a:t>
            </a:r>
            <a:endParaRPr lang="en-US" altLang="zh-CN" sz="2400" dirty="0">
              <a:latin typeface="Arial" panose="020B0604020202020204" pitchFamily="34" charset="0"/>
              <a:cs typeface="Arial" panose="020B0604020202020204" pitchFamily="34" charset="0"/>
            </a:endParaRPr>
          </a:p>
          <a:p>
            <a:pPr lvl="1"/>
            <a:r>
              <a:rPr lang="en-US" altLang="zh-CN" sz="2400" dirty="0">
                <a:solidFill>
                  <a:srgbClr val="C00000"/>
                </a:solidFill>
                <a:latin typeface="Arial" panose="020B0604020202020204" pitchFamily="34" charset="0"/>
                <a:cs typeface="Arial" panose="020B0604020202020204" pitchFamily="34" charset="0"/>
              </a:rPr>
              <a:t>Application program interface</a:t>
            </a:r>
            <a:r>
              <a:rPr lang="en-US" altLang="zh-CN" sz="2400" dirty="0">
                <a:latin typeface="Arial" panose="020B0604020202020204" pitchFamily="34" charset="0"/>
                <a:cs typeface="Arial" panose="020B0604020202020204" pitchFamily="34" charset="0"/>
              </a:rPr>
              <a:t> (e.g., ODBC/JDBC) which allow SQL queries to be sent to a database</a:t>
            </a:r>
            <a:endParaRPr lang="en-US" altLang="zh-CN" sz="2400" dirty="0">
              <a:latin typeface="Arial" panose="020B0604020202020204" pitchFamily="34" charset="0"/>
              <a:cs typeface="Arial" panose="020B0604020202020204" pitchFamily="34" charset="0"/>
            </a:endParaRPr>
          </a:p>
          <a:p>
            <a:pPr>
              <a:buNone/>
            </a:pPr>
            <a:endParaRPr lang="en-US" altLang="zh-CN" sz="2400" b="1" dirty="0">
              <a:latin typeface="Arial" panose="020B0604020202020204" pitchFamily="34" charset="0"/>
              <a:cs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p:cNvSpPr>
          <p:nvPr>
            <p:ph type="title" idx="4294967295"/>
          </p:nvPr>
        </p:nvSpPr>
        <p:spPr/>
        <p:txBody>
          <a:bodyPr wrap="square" lIns="91440" tIns="45720" rIns="91440" bIns="45720" anchor="b" anchorCtr="0"/>
          <a:lstStyle/>
          <a:p>
            <a:r>
              <a:rPr lang="en-US" altLang="zh-CN" dirty="0">
                <a:effectLst/>
              </a:rPr>
              <a:t>Database Design</a:t>
            </a:r>
            <a:endParaRPr lang="en-US" altLang="zh-CN" dirty="0">
              <a:effectLst/>
            </a:endParaRPr>
          </a:p>
        </p:txBody>
      </p:sp>
      <p:sp>
        <p:nvSpPr>
          <p:cNvPr id="37890" name="Rectangle 3"/>
          <p:cNvSpPr>
            <a:spLocks noGrp="1"/>
          </p:cNvSpPr>
          <p:nvPr>
            <p:ph type="body" idx="4294967295"/>
          </p:nvPr>
        </p:nvSpPr>
        <p:spPr>
          <a:xfrm>
            <a:off x="260350" y="1935163"/>
            <a:ext cx="8716963" cy="4225925"/>
          </a:xfrm>
        </p:spPr>
        <p:txBody>
          <a:bodyPr vert="horz" wrap="square" lIns="91440" tIns="45720" rIns="91440" bIns="45720" anchor="t" anchorCtr="0"/>
          <a:lstStyle/>
          <a:p>
            <a:r>
              <a:rPr lang="en-US" altLang="zh-CN" sz="2400" b="1" dirty="0">
                <a:solidFill>
                  <a:srgbClr val="000099"/>
                </a:solidFill>
                <a:latin typeface="Arial" panose="020B0604020202020204" pitchFamily="34" charset="0"/>
                <a:cs typeface="Arial" panose="020B0604020202020204" pitchFamily="34" charset="0"/>
              </a:rPr>
              <a:t>Logical Design</a:t>
            </a:r>
            <a:r>
              <a:rPr lang="en-US" altLang="zh-CN" sz="2400" dirty="0">
                <a:latin typeface="Arial" panose="020B0604020202020204" pitchFamily="34" charset="0"/>
                <a:cs typeface="Arial" panose="020B0604020202020204" pitchFamily="34" charset="0"/>
              </a:rPr>
              <a:t> –  Deciding on the database schema. Database design requires that we find a </a:t>
            </a:r>
            <a:r>
              <a:rPr lang="zh-CN" altLang="en-US" sz="2400" dirty="0">
                <a:latin typeface="Arial" panose="020B0604020202020204" pitchFamily="34" charset="0"/>
                <a:cs typeface="Arial" panose="020B0604020202020204" pitchFamily="34" charset="0"/>
              </a:rPr>
              <a:t>“</a:t>
            </a:r>
            <a:r>
              <a:rPr lang="en-US" altLang="zh-CN" sz="2400" dirty="0">
                <a:latin typeface="Arial" panose="020B0604020202020204" pitchFamily="34" charset="0"/>
                <a:cs typeface="Arial" panose="020B0604020202020204" pitchFamily="34" charset="0"/>
              </a:rPr>
              <a:t>good</a:t>
            </a:r>
            <a:r>
              <a:rPr lang="zh-CN" altLang="en-US" sz="2400" dirty="0">
                <a:latin typeface="Arial" panose="020B0604020202020204" pitchFamily="34" charset="0"/>
                <a:cs typeface="Arial" panose="020B0604020202020204" pitchFamily="34" charset="0"/>
              </a:rPr>
              <a:t>”</a:t>
            </a:r>
            <a:r>
              <a:rPr lang="en-US" altLang="zh-CN" sz="2400" dirty="0">
                <a:latin typeface="Arial" panose="020B0604020202020204" pitchFamily="34" charset="0"/>
                <a:cs typeface="Arial" panose="020B0604020202020204" pitchFamily="34" charset="0"/>
              </a:rPr>
              <a:t> collection of relation schemas.</a:t>
            </a:r>
            <a:endParaRPr lang="en-US" altLang="zh-CN" sz="2400" dirty="0">
              <a:latin typeface="Arial" panose="020B0604020202020204" pitchFamily="34" charset="0"/>
              <a:cs typeface="Arial" panose="020B0604020202020204" pitchFamily="34" charset="0"/>
            </a:endParaRPr>
          </a:p>
          <a:p>
            <a:pPr lvl="1"/>
            <a:r>
              <a:rPr lang="en-US" altLang="zh-CN" sz="2400" dirty="0">
                <a:latin typeface="Arial" panose="020B0604020202020204" pitchFamily="34" charset="0"/>
                <a:cs typeface="Arial" panose="020B0604020202020204" pitchFamily="34" charset="0"/>
              </a:rPr>
              <a:t>Business decision – What attributes should we record in the database?</a:t>
            </a:r>
            <a:endParaRPr lang="en-US" altLang="zh-CN" sz="2400" dirty="0">
              <a:latin typeface="Arial" panose="020B0604020202020204" pitchFamily="34" charset="0"/>
              <a:cs typeface="Arial" panose="020B0604020202020204" pitchFamily="34" charset="0"/>
            </a:endParaRPr>
          </a:p>
          <a:p>
            <a:pPr lvl="1"/>
            <a:r>
              <a:rPr lang="en-US" altLang="zh-CN" sz="2400" dirty="0">
                <a:latin typeface="Arial" panose="020B0604020202020204" pitchFamily="34" charset="0"/>
                <a:cs typeface="Arial" panose="020B0604020202020204" pitchFamily="34" charset="0"/>
              </a:rPr>
              <a:t>Computer Science decision –  What relation schemas should we have and how should the attributes be distributed among the various relation schemas?</a:t>
            </a:r>
            <a:endParaRPr lang="en-US" altLang="zh-CN" sz="2400" dirty="0">
              <a:latin typeface="Arial" panose="020B0604020202020204" pitchFamily="34" charset="0"/>
              <a:cs typeface="Arial" panose="020B0604020202020204" pitchFamily="34" charset="0"/>
            </a:endParaRPr>
          </a:p>
          <a:p>
            <a:r>
              <a:rPr lang="en-US" altLang="zh-CN" sz="2400" b="1" dirty="0">
                <a:solidFill>
                  <a:srgbClr val="000099"/>
                </a:solidFill>
                <a:latin typeface="Arial" panose="020B0604020202020204" pitchFamily="34" charset="0"/>
                <a:cs typeface="Arial" panose="020B0604020202020204" pitchFamily="34" charset="0"/>
              </a:rPr>
              <a:t>Physical Design</a:t>
            </a:r>
            <a:r>
              <a:rPr lang="en-US" altLang="zh-CN" sz="2400" dirty="0">
                <a:latin typeface="Arial" panose="020B0604020202020204" pitchFamily="34" charset="0"/>
                <a:cs typeface="Arial" panose="020B0604020202020204" pitchFamily="34" charset="0"/>
              </a:rPr>
              <a:t> – Deciding on the physical layout of the database                </a:t>
            </a:r>
            <a:endParaRPr lang="en-US" altLang="zh-CN" sz="2400" dirty="0">
              <a:latin typeface="Arial" panose="020B0604020202020204" pitchFamily="34" charset="0"/>
              <a:cs typeface="Arial" panose="020B0604020202020204" pitchFamily="34" charset="0"/>
            </a:endParaRPr>
          </a:p>
          <a:p>
            <a:pPr>
              <a:buNone/>
            </a:pPr>
            <a:endParaRPr lang="en-US" altLang="zh-CN" sz="2400" dirty="0">
              <a:latin typeface="Arial" panose="020B0604020202020204" pitchFamily="34" charset="0"/>
              <a:cs typeface="Arial" panose="020B0604020202020204" pitchFamily="34" charset="0"/>
            </a:endParaRPr>
          </a:p>
          <a:p>
            <a:pPr>
              <a:buNone/>
            </a:pPr>
            <a:r>
              <a:rPr lang="en-US" altLang="zh-CN" sz="2400" dirty="0">
                <a:latin typeface="Arial" panose="020B0604020202020204" pitchFamily="34" charset="0"/>
                <a:cs typeface="Arial" panose="020B0604020202020204" pitchFamily="34" charset="0"/>
                <a:sym typeface="Symbol" panose="05050102010706020507" pitchFamily="18" charset="2"/>
              </a:rPr>
              <a:t>     </a:t>
            </a:r>
            <a:endParaRPr lang="en-US" altLang="zh-CN" sz="2400" dirty="0">
              <a:latin typeface="Arial" panose="020B0604020202020204" pitchFamily="34" charset="0"/>
              <a:cs typeface="Arial" panose="020B0604020202020204" pitchFamily="34" charset="0"/>
              <a:sym typeface="Symbol" panose="05050102010706020507" pitchFamily="18" charset="2"/>
            </a:endParaRPr>
          </a:p>
        </p:txBody>
      </p:sp>
      <p:sp>
        <p:nvSpPr>
          <p:cNvPr id="37891" name="Rectangle 3"/>
          <p:cNvSpPr/>
          <p:nvPr/>
        </p:nvSpPr>
        <p:spPr>
          <a:xfrm>
            <a:off x="157163" y="1074738"/>
            <a:ext cx="8899525" cy="461962"/>
          </a:xfrm>
          <a:prstGeom prst="rect">
            <a:avLst/>
          </a:prstGeom>
          <a:noFill/>
          <a:ln w="9525">
            <a:noFill/>
          </a:ln>
        </p:spPr>
        <p:txBody>
          <a:bodyPr anchor="t" anchorCtr="0">
            <a:spAutoFit/>
          </a:bodyPr>
          <a:lstStyle/>
          <a:p>
            <a:pPr eaLnBrk="0" hangingPunct="0">
              <a:buClrTx/>
              <a:buFont typeface="Monotype Sorts" charset="0"/>
            </a:pPr>
            <a:r>
              <a:rPr lang="en-US" altLang="zh-CN" sz="2400" dirty="0">
                <a:latin typeface="Arial" panose="020B0604020202020204" pitchFamily="34" charset="0"/>
                <a:cs typeface="Arial" panose="020B0604020202020204" pitchFamily="34" charset="0"/>
              </a:rPr>
              <a:t>The process of designing the general structure of the database:</a:t>
            </a:r>
            <a:endParaRPr lang="en-US" altLang="zh-CN" sz="2400" dirty="0">
              <a:latin typeface="Arial" panose="020B0604020202020204" pitchFamily="34" charset="0"/>
              <a:cs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p:cNvSpPr>
          <p:nvPr>
            <p:ph type="title" idx="4294967295"/>
          </p:nvPr>
        </p:nvSpPr>
        <p:spPr/>
        <p:txBody>
          <a:bodyPr wrap="square" lIns="91440" tIns="45720" rIns="91440" bIns="45720" anchor="b" anchorCtr="0"/>
          <a:lstStyle/>
          <a:p>
            <a:r>
              <a:rPr lang="en-US" altLang="zh-CN" dirty="0">
                <a:effectLst/>
              </a:rPr>
              <a:t>Database Design (Cont.)</a:t>
            </a:r>
            <a:endParaRPr lang="en-US" altLang="zh-CN" dirty="0">
              <a:effectLst/>
            </a:endParaRPr>
          </a:p>
        </p:txBody>
      </p:sp>
      <p:sp>
        <p:nvSpPr>
          <p:cNvPr id="39938" name="Rectangle 3"/>
          <p:cNvSpPr>
            <a:spLocks noGrp="1"/>
          </p:cNvSpPr>
          <p:nvPr>
            <p:ph type="body" idx="4294967295"/>
          </p:nvPr>
        </p:nvSpPr>
        <p:spPr>
          <a:xfrm>
            <a:off x="814388" y="1093788"/>
            <a:ext cx="7661275" cy="865187"/>
          </a:xfrm>
        </p:spPr>
        <p:txBody>
          <a:bodyPr vert="horz" wrap="square" lIns="91440" tIns="45720" rIns="91440" bIns="45720" anchor="t" anchorCtr="0"/>
          <a:lstStyle/>
          <a:p>
            <a:r>
              <a:rPr lang="en-US" altLang="zh-CN" sz="2400" dirty="0"/>
              <a:t>Is there any problem with this relation?</a:t>
            </a:r>
            <a:endParaRPr lang="en-US" altLang="zh-CN" sz="2400" dirty="0"/>
          </a:p>
        </p:txBody>
      </p:sp>
      <p:pic>
        <p:nvPicPr>
          <p:cNvPr id="39939" name="Picture 5" descr="1"/>
          <p:cNvPicPr>
            <a:picLocks noChangeAspect="1"/>
          </p:cNvPicPr>
          <p:nvPr/>
        </p:nvPicPr>
        <p:blipFill>
          <a:blip r:embed="rId1"/>
          <a:stretch>
            <a:fillRect/>
          </a:stretch>
        </p:blipFill>
        <p:spPr>
          <a:xfrm>
            <a:off x="1223963" y="1719263"/>
            <a:ext cx="7023100" cy="3757612"/>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p:cNvSpPr>
          <p:nvPr>
            <p:ph type="title" idx="4294967295"/>
          </p:nvPr>
        </p:nvSpPr>
        <p:spPr/>
        <p:txBody>
          <a:bodyPr wrap="square" lIns="91440" tIns="45720" rIns="91440" bIns="45720" anchor="b" anchorCtr="0"/>
          <a:lstStyle/>
          <a:p>
            <a:r>
              <a:rPr lang="en-US" altLang="zh-CN" dirty="0">
                <a:effectLst/>
              </a:rPr>
              <a:t>Design Approaches</a:t>
            </a:r>
            <a:endParaRPr lang="en-US" altLang="zh-CN" dirty="0">
              <a:effectLst/>
            </a:endParaRPr>
          </a:p>
        </p:txBody>
      </p:sp>
      <p:sp>
        <p:nvSpPr>
          <p:cNvPr id="41986" name="Rectangle 3"/>
          <p:cNvSpPr>
            <a:spLocks noGrp="1"/>
          </p:cNvSpPr>
          <p:nvPr>
            <p:ph type="body" idx="4294967295"/>
          </p:nvPr>
        </p:nvSpPr>
        <p:spPr>
          <a:xfrm>
            <a:off x="225425" y="1093788"/>
            <a:ext cx="8664575" cy="4903787"/>
          </a:xfrm>
        </p:spPr>
        <p:txBody>
          <a:bodyPr vert="horz" wrap="square" lIns="91440" tIns="45720" rIns="91440" bIns="45720" anchor="t" anchorCtr="0"/>
          <a:lstStyle/>
          <a:p>
            <a:r>
              <a:rPr lang="en-US" altLang="zh-CN" sz="2400" dirty="0"/>
              <a:t>Need to come up with a methodology to ensure that each of the relations in the database is </a:t>
            </a:r>
            <a:r>
              <a:rPr lang="zh-CN" altLang="en-US" sz="2400" dirty="0"/>
              <a:t>“</a:t>
            </a:r>
            <a:r>
              <a:rPr lang="en-US" altLang="zh-CN" sz="2400" dirty="0"/>
              <a:t>good</a:t>
            </a:r>
            <a:r>
              <a:rPr lang="zh-CN" altLang="en-US" sz="2400" dirty="0"/>
              <a:t>”</a:t>
            </a:r>
            <a:endParaRPr lang="en-US" altLang="zh-CN" sz="2400" dirty="0"/>
          </a:p>
          <a:p>
            <a:r>
              <a:rPr lang="en-US" altLang="zh-CN" sz="2400" dirty="0"/>
              <a:t>Two ways of doing so:</a:t>
            </a:r>
            <a:endParaRPr lang="en-US" altLang="zh-CN" sz="2400" dirty="0"/>
          </a:p>
          <a:p>
            <a:pPr lvl="1"/>
            <a:r>
              <a:rPr lang="en-US" altLang="zh-CN" sz="2400" b="1" dirty="0">
                <a:solidFill>
                  <a:srgbClr val="000099"/>
                </a:solidFill>
              </a:rPr>
              <a:t>Entity Relationship Model (Chapter 6)</a:t>
            </a:r>
            <a:endParaRPr lang="en-US" altLang="zh-CN" sz="2400" b="1" dirty="0">
              <a:solidFill>
                <a:srgbClr val="000099"/>
              </a:solidFill>
            </a:endParaRPr>
          </a:p>
          <a:p>
            <a:pPr lvl="2"/>
            <a:r>
              <a:rPr lang="en-US" altLang="zh-CN" sz="2400" dirty="0"/>
              <a:t>Models an enterprise as a collection of </a:t>
            </a:r>
            <a:r>
              <a:rPr lang="en-US" altLang="zh-CN" sz="2400" i="1" dirty="0"/>
              <a:t>entities </a:t>
            </a:r>
            <a:r>
              <a:rPr lang="en-US" altLang="zh-CN" sz="2400" dirty="0"/>
              <a:t>and </a:t>
            </a:r>
            <a:r>
              <a:rPr lang="en-US" altLang="zh-CN" sz="2400" i="1" dirty="0"/>
              <a:t>relationships</a:t>
            </a:r>
            <a:endParaRPr lang="en-US" altLang="zh-CN" sz="2400" i="1" dirty="0"/>
          </a:p>
          <a:p>
            <a:pPr lvl="2"/>
            <a:r>
              <a:rPr lang="en-US" altLang="zh-CN" sz="2400" dirty="0"/>
              <a:t>Represented diagrammatically by an </a:t>
            </a:r>
            <a:r>
              <a:rPr lang="en-US" altLang="zh-CN" sz="2400" i="1" dirty="0"/>
              <a:t>entity-relationship diagram:</a:t>
            </a:r>
            <a:endParaRPr lang="en-US" altLang="zh-CN" sz="2400" i="1" dirty="0"/>
          </a:p>
          <a:p>
            <a:pPr lvl="1"/>
            <a:r>
              <a:rPr lang="en-US" altLang="zh-CN" sz="2400" b="1" dirty="0">
                <a:solidFill>
                  <a:srgbClr val="000099"/>
                </a:solidFill>
              </a:rPr>
              <a:t>Normalization Theory (Chapter 7)</a:t>
            </a:r>
            <a:endParaRPr lang="en-US" altLang="zh-CN" sz="2400" b="1" dirty="0">
              <a:solidFill>
                <a:srgbClr val="000099"/>
              </a:solidFill>
            </a:endParaRPr>
          </a:p>
          <a:p>
            <a:pPr lvl="2"/>
            <a:r>
              <a:rPr lang="en-US" altLang="zh-CN" sz="2400" dirty="0"/>
              <a:t>Formalize what designs are bad, and test for them</a:t>
            </a:r>
            <a:endParaRPr lang="en-US" altLang="zh-CN" sz="2400" dirty="0"/>
          </a:p>
          <a:p>
            <a:pPr lvl="1">
              <a:buNone/>
            </a:pPr>
            <a:endParaRPr lang="zh-CN" alt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p:cNvSpPr>
          <p:nvPr>
            <p:ph type="title" idx="4294967295"/>
          </p:nvPr>
        </p:nvSpPr>
        <p:spPr/>
        <p:txBody>
          <a:bodyPr wrap="square" lIns="91440" tIns="45720" rIns="91440" bIns="45720" anchor="b" anchorCtr="0"/>
          <a:lstStyle/>
          <a:p>
            <a:r>
              <a:rPr lang="en-US" altLang="zh-CN" dirty="0">
                <a:effectLst/>
              </a:rPr>
              <a:t>Object-Relational Data Models</a:t>
            </a:r>
            <a:endParaRPr lang="en-US" altLang="zh-CN" dirty="0">
              <a:effectLst/>
            </a:endParaRPr>
          </a:p>
        </p:txBody>
      </p:sp>
      <p:sp>
        <p:nvSpPr>
          <p:cNvPr id="44035" name="Rectangle 3"/>
          <p:cNvSpPr>
            <a:spLocks noGrp="1"/>
          </p:cNvSpPr>
          <p:nvPr>
            <p:ph type="body" idx="4294967295"/>
          </p:nvPr>
        </p:nvSpPr>
        <p:spPr>
          <a:xfrm>
            <a:off x="122238" y="1108075"/>
            <a:ext cx="8837613" cy="4903788"/>
          </a:xfrm>
        </p:spPr>
        <p:txBody>
          <a:bodyPr vert="horz" wrap="square" lIns="91440" tIns="45720" rIns="91440" bIns="45720" anchor="t" anchorCtr="0"/>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0" lang="en-US" altLang="zh-CN" sz="2400" b="1" i="0" u="none" strike="noStrike" kern="0" cap="none" spc="0" normalizeH="0" baseline="0" noProof="1">
                <a:solidFill>
                  <a:schemeClr val="tx2"/>
                </a:solidFill>
                <a:effectLst>
                  <a:outerShdw blurRad="38100" dist="38100" dir="2700000" algn="tl">
                    <a:srgbClr val="000000">
                      <a:alpha val="43137"/>
                    </a:srgbClr>
                  </a:outerShdw>
                </a:effectLst>
                <a:latin typeface="+mn-lt"/>
                <a:ea typeface="MS PGothic" panose="020B0600070205080204" pitchFamily="34" charset="-128"/>
                <a:cs typeface="MS PGothic" panose="020B0600070205080204" pitchFamily="34" charset="-128"/>
              </a:rPr>
              <a:t>Relational model</a:t>
            </a:r>
            <a:r>
              <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rPr>
              <a:t>: flat, </a:t>
            </a:r>
            <a:r>
              <a:rPr kumimoji="0" lang="zh-CN" altLang="en-US"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rPr>
              <a:t>“</a:t>
            </a:r>
            <a:r>
              <a:rPr kumimoji="0" lang="en-US" altLang="zh-CN" sz="2400" b="1" i="1" u="sng" strike="noStrike" kern="0" cap="none" spc="0" normalizeH="0" baseline="0" noProof="1">
                <a:solidFill>
                  <a:srgbClr val="002060"/>
                </a:solidFill>
                <a:effectLst>
                  <a:outerShdw blurRad="38100" dist="38100" dir="2700000" algn="tl">
                    <a:srgbClr val="000000">
                      <a:alpha val="43137"/>
                    </a:srgbClr>
                  </a:outerShdw>
                </a:effectLst>
                <a:latin typeface="+mn-lt"/>
                <a:ea typeface="MS PGothic" panose="020B0600070205080204" pitchFamily="34" charset="-128"/>
                <a:cs typeface="MS PGothic" panose="020B0600070205080204" pitchFamily="34" charset="-128"/>
              </a:rPr>
              <a:t>atomic</a:t>
            </a:r>
            <a:r>
              <a:rPr kumimoji="0" lang="zh-CN" altLang="en-US"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rPr>
              <a:t>”</a:t>
            </a:r>
            <a:r>
              <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rPr>
              <a:t> values</a:t>
            </a:r>
            <a:endPar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0" lang="en-US" altLang="zh-CN" sz="2400" b="1" i="0" u="none" strike="noStrike" kern="0" cap="none" spc="0" normalizeH="0" baseline="0" noProof="1">
                <a:solidFill>
                  <a:schemeClr val="tx2"/>
                </a:solidFill>
                <a:effectLst>
                  <a:outerShdw blurRad="38100" dist="38100" dir="2700000" algn="tl">
                    <a:srgbClr val="000000">
                      <a:alpha val="43137"/>
                    </a:srgbClr>
                  </a:outerShdw>
                </a:effectLst>
                <a:latin typeface="+mn-lt"/>
                <a:ea typeface="MS PGothic" panose="020B0600070205080204" pitchFamily="34" charset="-128"/>
                <a:cs typeface="MS PGothic" panose="020B0600070205080204" pitchFamily="34" charset="-128"/>
              </a:rPr>
              <a:t>Object Relational Data Models</a:t>
            </a:r>
            <a:endPar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rPr>
              <a:t>Extend the relational data model by including object orientation and constructs to deal with added data types.</a:t>
            </a:r>
            <a:endPar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rPr>
              <a:t>Allow attributes of tuples to have </a:t>
            </a:r>
            <a:r>
              <a:rPr kumimoji="0" lang="en-US" altLang="zh-CN" sz="2400" b="1" i="1" u="sng" strike="noStrike" kern="0" cap="none" spc="0" normalizeH="0" baseline="0" noProof="1">
                <a:solidFill>
                  <a:srgbClr val="002060"/>
                </a:solidFill>
                <a:effectLst>
                  <a:outerShdw blurRad="38100" dist="38100" dir="2700000" algn="tl">
                    <a:srgbClr val="000000">
                      <a:alpha val="43137"/>
                    </a:srgbClr>
                  </a:outerShdw>
                </a:effectLst>
                <a:latin typeface="+mn-lt"/>
                <a:ea typeface="MS PGothic" panose="020B0600070205080204" pitchFamily="34" charset="-128"/>
                <a:cs typeface="MS PGothic" panose="020B0600070205080204" pitchFamily="34" charset="-128"/>
              </a:rPr>
              <a:t>complex </a:t>
            </a:r>
            <a:r>
              <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rPr>
              <a:t>types, including non-atomic values such as nested relations.</a:t>
            </a:r>
            <a:endPar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rPr>
              <a:t>Preserve relational foundations, in particular the declarative access to data, while extending modeling power.</a:t>
            </a:r>
            <a:endPar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rPr>
              <a:t>Provide upward compatibility with existing relational languages.</a:t>
            </a:r>
            <a:endPar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p:cNvSpPr>
          <p:nvPr>
            <p:ph type="title" idx="4294967295"/>
          </p:nvPr>
        </p:nvSpPr>
        <p:spPr/>
        <p:txBody>
          <a:bodyPr wrap="square" lIns="91440" tIns="45720" rIns="91440" bIns="45720" anchor="b" anchorCtr="0"/>
          <a:lstStyle/>
          <a:p>
            <a:r>
              <a:rPr lang="en-US" altLang="zh-CN" dirty="0">
                <a:effectLst/>
              </a:rPr>
              <a:t>XML:  Extensible Markup Language</a:t>
            </a:r>
            <a:endParaRPr lang="en-US" altLang="zh-CN" dirty="0">
              <a:effectLst/>
            </a:endParaRPr>
          </a:p>
        </p:txBody>
      </p:sp>
      <p:sp>
        <p:nvSpPr>
          <p:cNvPr id="46083" name="Rectangle 3"/>
          <p:cNvSpPr>
            <a:spLocks noGrp="1"/>
          </p:cNvSpPr>
          <p:nvPr>
            <p:ph type="body" idx="4294967295"/>
          </p:nvPr>
        </p:nvSpPr>
        <p:spPr>
          <a:xfrm>
            <a:off x="365125" y="1077913"/>
            <a:ext cx="8594725" cy="5167313"/>
          </a:xfrm>
        </p:spPr>
        <p:txBody>
          <a:bodyPr vert="horz" wrap="square" lIns="91440" tIns="45720" rIns="91440" bIns="45720" anchor="t" anchorCtr="0"/>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rPr>
              <a:t>Defined by the WWW Consortium (</a:t>
            </a:r>
            <a:r>
              <a:rPr kumimoji="0" lang="en-US" altLang="zh-CN" sz="2400" b="1" i="1" u="sng" strike="noStrike" kern="0" cap="none" spc="0" normalizeH="0" baseline="0" noProof="1">
                <a:solidFill>
                  <a:srgbClr val="002060"/>
                </a:solidFill>
                <a:effectLst>
                  <a:outerShdw blurRad="38100" dist="38100" dir="2700000" algn="tl">
                    <a:srgbClr val="000000">
                      <a:alpha val="43137"/>
                    </a:srgbClr>
                  </a:outerShdw>
                </a:effectLst>
                <a:latin typeface="+mn-lt"/>
                <a:ea typeface="MS PGothic" panose="020B0600070205080204" pitchFamily="34" charset="-128"/>
                <a:cs typeface="MS PGothic" panose="020B0600070205080204" pitchFamily="34" charset="-128"/>
              </a:rPr>
              <a:t>W3C</a:t>
            </a:r>
            <a:r>
              <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rPr>
              <a:t>)</a:t>
            </a:r>
            <a:endPar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rPr>
              <a:t>Originally intended as a document markup language not a database language</a:t>
            </a:r>
            <a:endPar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rPr>
              <a:t>The ability to specify new tags, and to create nested tag structures made XML a great way to exchange </a:t>
            </a:r>
            <a:r>
              <a:rPr kumimoji="0" lang="en-US" altLang="zh-CN" sz="2400" b="1"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rPr>
              <a:t>data</a:t>
            </a:r>
            <a:r>
              <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rPr>
              <a:t>, not just documents</a:t>
            </a:r>
            <a:endPar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0" lang="en-US" altLang="zh-CN" sz="2400" b="1" i="0" u="none" strike="noStrike" kern="0" cap="none" spc="0" normalizeH="0" baseline="0" noProof="1">
                <a:solidFill>
                  <a:srgbClr val="002060"/>
                </a:solidFill>
                <a:latin typeface="+mn-lt"/>
                <a:ea typeface="MS PGothic" panose="020B0600070205080204" pitchFamily="34" charset="-128"/>
                <a:cs typeface="MS PGothic" panose="020B0600070205080204" pitchFamily="34" charset="-128"/>
              </a:rPr>
              <a:t>XML has become the basis for all new generation data interchange formats.</a:t>
            </a:r>
            <a:endParaRPr kumimoji="0" lang="en-US" altLang="zh-CN" sz="2400" b="1" i="0" u="none" strike="noStrike" kern="0" cap="none" spc="0" normalizeH="0" baseline="0" noProof="1">
              <a:solidFill>
                <a:srgbClr val="002060"/>
              </a:solidFill>
              <a:latin typeface="+mn-lt"/>
              <a:ea typeface="MS PGothic" panose="020B0600070205080204" pitchFamily="34" charset="-128"/>
              <a:cs typeface="MS PGothic" panose="020B0600070205080204" pitchFamily="34" charset="-128"/>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rPr>
              <a:t>A wide variety of tools is available for parsing, browsing and querying XML documents/data</a:t>
            </a:r>
            <a:endParaRPr kumimoji="0" lang="en-US" altLang="zh-CN" sz="2400" b="0" i="0" u="none" strike="noStrike" kern="0" cap="none" spc="0" normalizeH="0" baseline="0" noProof="1">
              <a:solidFill>
                <a:schemeClr val="tx1"/>
              </a:solidFill>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p:cNvSpPr>
          <p:nvPr>
            <p:ph type="title" idx="4294967295"/>
          </p:nvPr>
        </p:nvSpPr>
        <p:spPr/>
        <p:txBody>
          <a:bodyPr wrap="square" lIns="91440" tIns="45720" rIns="91440" bIns="45720" anchor="b" anchorCtr="0"/>
          <a:lstStyle/>
          <a:p>
            <a:r>
              <a:rPr lang="en-US" altLang="zh-CN" dirty="0">
                <a:effectLst/>
              </a:rPr>
              <a:t>Database Engine</a:t>
            </a:r>
            <a:endParaRPr lang="en-US" altLang="zh-CN" dirty="0">
              <a:effectLst/>
            </a:endParaRPr>
          </a:p>
        </p:txBody>
      </p:sp>
      <p:sp>
        <p:nvSpPr>
          <p:cNvPr id="48130" name="Rectangle 3"/>
          <p:cNvSpPr>
            <a:spLocks noGrp="1"/>
          </p:cNvSpPr>
          <p:nvPr>
            <p:ph type="body" idx="4294967295"/>
          </p:nvPr>
        </p:nvSpPr>
        <p:spPr>
          <a:xfrm>
            <a:off x="827088" y="1077913"/>
            <a:ext cx="7316787" cy="5167312"/>
          </a:xfrm>
        </p:spPr>
        <p:txBody>
          <a:bodyPr vert="horz" wrap="square" lIns="91440" tIns="45720" rIns="91440" bIns="45720" anchor="t" anchorCtr="0"/>
          <a:lstStyle/>
          <a:p>
            <a:r>
              <a:rPr lang="en-US" altLang="zh-CN" sz="2800" b="1" dirty="0"/>
              <a:t>Storage manager</a:t>
            </a:r>
            <a:endParaRPr lang="en-US" altLang="zh-CN" sz="2800" b="1" dirty="0"/>
          </a:p>
          <a:p>
            <a:r>
              <a:rPr lang="en-US" altLang="zh-CN" sz="2800" b="1" dirty="0"/>
              <a:t>Query processing</a:t>
            </a:r>
            <a:endParaRPr lang="en-US" altLang="zh-CN" sz="2800" b="1" dirty="0"/>
          </a:p>
          <a:p>
            <a:r>
              <a:rPr lang="en-US" altLang="zh-CN" sz="2800" b="1" dirty="0"/>
              <a:t>Transaction manager</a:t>
            </a:r>
            <a:endParaRPr lang="en-US" altLang="zh-CN" sz="2800"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p:cNvSpPr>
          <p:nvPr>
            <p:ph type="title" idx="4294967295"/>
          </p:nvPr>
        </p:nvSpPr>
        <p:spPr/>
        <p:txBody>
          <a:bodyPr wrap="square" lIns="91440" tIns="45720" rIns="91440" bIns="45720" anchor="b" anchorCtr="0"/>
          <a:lstStyle/>
          <a:p>
            <a:r>
              <a:rPr lang="en-US" altLang="zh-CN" dirty="0">
                <a:effectLst/>
              </a:rPr>
              <a:t>Storage Management</a:t>
            </a:r>
            <a:endParaRPr lang="en-US" altLang="zh-CN" dirty="0">
              <a:effectLst/>
            </a:endParaRPr>
          </a:p>
        </p:txBody>
      </p:sp>
      <p:sp>
        <p:nvSpPr>
          <p:cNvPr id="50178" name="Rectangle 3"/>
          <p:cNvSpPr>
            <a:spLocks noGrp="1"/>
          </p:cNvSpPr>
          <p:nvPr>
            <p:ph type="body" idx="4294967295"/>
          </p:nvPr>
        </p:nvSpPr>
        <p:spPr>
          <a:xfrm>
            <a:off x="192088" y="1093788"/>
            <a:ext cx="8818562" cy="5411787"/>
          </a:xfrm>
        </p:spPr>
        <p:txBody>
          <a:bodyPr vert="horz" wrap="square" lIns="91440" tIns="45720" rIns="91440" bIns="45720" anchor="t" anchorCtr="0"/>
          <a:lstStyle/>
          <a:p>
            <a:r>
              <a:rPr lang="en-US" altLang="zh-CN" sz="2400" b="1" dirty="0">
                <a:solidFill>
                  <a:srgbClr val="000099"/>
                </a:solidFill>
              </a:rPr>
              <a:t>Storage manager</a:t>
            </a:r>
            <a:r>
              <a:rPr lang="en-US" altLang="zh-CN" sz="2400" dirty="0"/>
              <a:t> is a program module that provides the interface between the low-level data stored in the database and the application programs and queries submitted to the system.</a:t>
            </a:r>
            <a:endParaRPr lang="en-US" altLang="zh-CN" sz="2400" dirty="0"/>
          </a:p>
          <a:p>
            <a:r>
              <a:rPr lang="en-US" altLang="zh-CN" sz="2400" dirty="0"/>
              <a:t>The storage manager is responsible to the following tasks: </a:t>
            </a:r>
            <a:endParaRPr lang="en-US" altLang="zh-CN" sz="2400" dirty="0"/>
          </a:p>
          <a:p>
            <a:pPr lvl="1"/>
            <a:r>
              <a:rPr lang="en-US" altLang="zh-CN" sz="2400" b="1" dirty="0">
                <a:solidFill>
                  <a:srgbClr val="000099"/>
                </a:solidFill>
              </a:rPr>
              <a:t>Interaction with the OS file manager </a:t>
            </a:r>
            <a:endParaRPr lang="en-US" altLang="zh-CN" sz="2400" b="1" dirty="0">
              <a:solidFill>
                <a:srgbClr val="000099"/>
              </a:solidFill>
            </a:endParaRPr>
          </a:p>
          <a:p>
            <a:pPr lvl="1"/>
            <a:r>
              <a:rPr lang="en-US" altLang="zh-CN" sz="2400" b="1" dirty="0">
                <a:solidFill>
                  <a:srgbClr val="000099"/>
                </a:solidFill>
              </a:rPr>
              <a:t>Efficient storing, retrieving and updating of data</a:t>
            </a:r>
            <a:endParaRPr lang="en-US" altLang="zh-CN" sz="2400" b="1" dirty="0">
              <a:solidFill>
                <a:srgbClr val="000099"/>
              </a:solidFill>
            </a:endParaRPr>
          </a:p>
          <a:p>
            <a:r>
              <a:rPr lang="en-US" altLang="zh-CN" sz="2400" dirty="0"/>
              <a:t>Issues:</a:t>
            </a:r>
            <a:endParaRPr lang="en-US" altLang="zh-CN" sz="2400" dirty="0"/>
          </a:p>
          <a:p>
            <a:pPr lvl="1"/>
            <a:r>
              <a:rPr lang="en-US" altLang="zh-CN" sz="2400" dirty="0"/>
              <a:t>Storage access</a:t>
            </a:r>
            <a:endParaRPr lang="en-US" altLang="zh-CN" sz="2400" dirty="0"/>
          </a:p>
          <a:p>
            <a:pPr lvl="1"/>
            <a:r>
              <a:rPr lang="en-US" altLang="zh-CN" sz="2400" dirty="0"/>
              <a:t>File organization</a:t>
            </a:r>
            <a:endParaRPr lang="en-US" altLang="zh-CN" sz="2400" dirty="0"/>
          </a:p>
          <a:p>
            <a:pPr lvl="1"/>
            <a:r>
              <a:rPr lang="en-US" altLang="zh-CN" sz="2400" dirty="0"/>
              <a:t>Indexing and hashing</a:t>
            </a:r>
            <a:endParaRPr lang="en-US" altLang="zh-CN" sz="2400" dirty="0"/>
          </a:p>
          <a:p>
            <a:pPr lvl="1">
              <a:buNone/>
            </a:pPr>
            <a:endParaRPr lang="en-US" altLang="zh-CN"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a:xfrm>
            <a:off x="635000" y="158750"/>
            <a:ext cx="7772400" cy="682625"/>
          </a:xfrm>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sz="3200" b="1" i="0" u="none" strike="noStrike" kern="0" cap="none" spc="0" normalizeH="0" baseline="0" noProof="0">
                <a:ln>
                  <a:noFill/>
                </a:ln>
                <a:solidFill>
                  <a:schemeClr val="tx2"/>
                </a:solidFill>
                <a:effectLst>
                  <a:outerShdw blurRad="38100" dist="38100" dir="2700000" algn="tl">
                    <a:srgbClr val="DDDDDD"/>
                  </a:outerShdw>
                </a:effectLst>
                <a:uLnTx/>
                <a:uFillTx/>
                <a:latin typeface="+mj-lt"/>
                <a:ea typeface="+mj-ea"/>
                <a:cs typeface="+mj-cs"/>
              </a:rPr>
              <a:t>Storage Hierarchy</a:t>
            </a:r>
            <a:endParaRPr kumimoji="1" lang="en-US" sz="3200" b="1" i="0" u="none" strike="noStrike" kern="0" cap="none" spc="0" normalizeH="0" baseline="0" noProof="0">
              <a:ln>
                <a:noFill/>
              </a:ln>
              <a:solidFill>
                <a:schemeClr val="tx2"/>
              </a:solidFill>
              <a:effectLst>
                <a:outerShdw blurRad="38100" dist="38100" dir="2700000" algn="tl">
                  <a:srgbClr val="DDDDDD"/>
                </a:outerShdw>
              </a:effectLst>
              <a:uLnTx/>
              <a:uFillTx/>
              <a:latin typeface="+mj-lt"/>
              <a:ea typeface="+mj-ea"/>
              <a:cs typeface="+mj-cs"/>
            </a:endParaRPr>
          </a:p>
        </p:txBody>
      </p:sp>
      <p:pic>
        <p:nvPicPr>
          <p:cNvPr id="52226" name="Picture 9"/>
          <p:cNvPicPr>
            <a:picLocks noChangeAspect="1"/>
          </p:cNvPicPr>
          <p:nvPr/>
        </p:nvPicPr>
        <p:blipFill>
          <a:blip r:embed="rId1"/>
          <a:stretch>
            <a:fillRect/>
          </a:stretch>
        </p:blipFill>
        <p:spPr>
          <a:xfrm>
            <a:off x="1422400" y="1085850"/>
            <a:ext cx="6337300" cy="5376863"/>
          </a:xfrm>
          <a:prstGeom prst="rect">
            <a:avLst/>
          </a:prstGeom>
          <a:noFill/>
          <a:ln w="9525">
            <a:noFill/>
          </a:ln>
        </p:spPr>
      </p:pic>
      <p:sp>
        <p:nvSpPr>
          <p:cNvPr id="2" name="线形标注 1(带边框和强调线) 1"/>
          <p:cNvSpPr/>
          <p:nvPr/>
        </p:nvSpPr>
        <p:spPr>
          <a:xfrm>
            <a:off x="6823075" y="690245"/>
            <a:ext cx="1786255" cy="547370"/>
          </a:xfrm>
          <a:prstGeom prst="accentBorderCallout1">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r>
              <a:rPr lang="zh-CN" altLang="en-US" dirty="0">
                <a:solidFill>
                  <a:srgbClr val="000099"/>
                </a:solidFill>
                <a:ea typeface="宋体" panose="02010600030101010101" pitchFamily="2" charset="-122"/>
                <a:sym typeface="+mn-ea"/>
              </a:rPr>
              <a:t>高速缓冲存储器：</a:t>
            </a:r>
            <a:endParaRPr lang="zh-CN" altLang="en-US" dirty="0">
              <a:solidFill>
                <a:srgbClr val="000099"/>
              </a:solidFill>
              <a:ea typeface="宋体" panose="02010600030101010101" pitchFamily="2" charset="-122"/>
              <a:sym typeface="+mn-ea"/>
            </a:endParaRPr>
          </a:p>
          <a:p>
            <a:pPr marL="0" marR="0" indent="0" algn="l" defTabSz="914400" rtl="0" eaLnBrk="0" fontAlgn="base" latinLnBrk="0" hangingPunct="0">
              <a:lnSpc>
                <a:spcPct val="100000"/>
              </a:lnSpc>
              <a:spcBef>
                <a:spcPct val="0"/>
              </a:spcBef>
              <a:spcAft>
                <a:spcPct val="0"/>
              </a:spcAft>
              <a:buClrTx/>
              <a:buSzTx/>
              <a:buFontTx/>
              <a:buNone/>
            </a:pPr>
            <a:r>
              <a:rPr lang="zh-CN" altLang="en-US" dirty="0">
                <a:solidFill>
                  <a:srgbClr val="000099"/>
                </a:solidFill>
                <a:ea typeface="宋体" panose="02010600030101010101" pitchFamily="2" charset="-122"/>
                <a:sym typeface="+mn-ea"/>
              </a:rPr>
              <a:t>与数据库无关</a:t>
            </a:r>
            <a:endParaRPr kumimoji="0" lang="zh-CN" altLang="en-US" sz="1600" b="0" i="0" u="none" strike="noStrike" cap="none" normalizeH="0" baseline="0" dirty="0">
              <a:ln>
                <a:noFill/>
              </a:ln>
              <a:solidFill>
                <a:srgbClr val="000099"/>
              </a:solidFill>
              <a:effectLst/>
              <a:latin typeface="Helvetica" charset="0"/>
              <a:ea typeface="宋体" panose="02010600030101010101" pitchFamily="2" charset="-122"/>
              <a:sym typeface="+mn-ea"/>
            </a:endParaRPr>
          </a:p>
        </p:txBody>
      </p:sp>
      <p:sp>
        <p:nvSpPr>
          <p:cNvPr id="3" name="线形标注 1(带边框和强调线) 2"/>
          <p:cNvSpPr/>
          <p:nvPr/>
        </p:nvSpPr>
        <p:spPr>
          <a:xfrm>
            <a:off x="7350125" y="2347595"/>
            <a:ext cx="1518285" cy="806450"/>
          </a:xfrm>
          <a:prstGeom prst="accentBorderCallout1">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r>
              <a:rPr lang="zh-CN" altLang="en-US" dirty="0">
                <a:solidFill>
                  <a:srgbClr val="000099"/>
                </a:solidFill>
                <a:ea typeface="宋体" panose="02010600030101010101" pitchFamily="2" charset="-122"/>
                <a:sym typeface="+mn-ea"/>
              </a:rPr>
              <a:t>快闪存储器：</a:t>
            </a:r>
            <a:endParaRPr lang="zh-CN" altLang="en-US" dirty="0">
              <a:solidFill>
                <a:srgbClr val="000099"/>
              </a:solidFill>
              <a:ea typeface="宋体" panose="02010600030101010101" pitchFamily="2" charset="-122"/>
              <a:sym typeface="+mn-ea"/>
            </a:endParaRPr>
          </a:p>
          <a:p>
            <a:pPr marL="0" marR="0" indent="0" algn="l" defTabSz="914400" rtl="0" eaLnBrk="0" fontAlgn="base" latinLnBrk="0" hangingPunct="0">
              <a:lnSpc>
                <a:spcPct val="100000"/>
              </a:lnSpc>
              <a:spcBef>
                <a:spcPct val="0"/>
              </a:spcBef>
              <a:spcAft>
                <a:spcPct val="0"/>
              </a:spcAft>
              <a:buClrTx/>
              <a:buSzTx/>
              <a:buFontTx/>
              <a:buNone/>
            </a:pPr>
            <a:r>
              <a:rPr lang="en-US" altLang="zh-CN" dirty="0">
                <a:solidFill>
                  <a:srgbClr val="000099"/>
                </a:solidFill>
                <a:sym typeface="+mn-ea"/>
              </a:rPr>
              <a:t>USB</a:t>
            </a:r>
            <a:r>
              <a:rPr lang="zh-CN" altLang="en-US" dirty="0">
                <a:solidFill>
                  <a:srgbClr val="000099"/>
                </a:solidFill>
                <a:ea typeface="宋体" panose="02010600030101010101" pitchFamily="2" charset="-122"/>
                <a:sym typeface="+mn-ea"/>
              </a:rPr>
              <a:t>口存取，</a:t>
            </a:r>
            <a:endParaRPr lang="zh-CN" altLang="en-US" dirty="0">
              <a:solidFill>
                <a:srgbClr val="000099"/>
              </a:solidFill>
              <a:ea typeface="宋体" panose="02010600030101010101" pitchFamily="2" charset="-122"/>
              <a:sym typeface="+mn-ea"/>
            </a:endParaRPr>
          </a:p>
          <a:p>
            <a:pPr marL="0" marR="0" indent="0" algn="l" defTabSz="914400" rtl="0" eaLnBrk="0" fontAlgn="base" latinLnBrk="0" hangingPunct="0">
              <a:lnSpc>
                <a:spcPct val="100000"/>
              </a:lnSpc>
              <a:spcBef>
                <a:spcPct val="0"/>
              </a:spcBef>
              <a:spcAft>
                <a:spcPct val="0"/>
              </a:spcAft>
              <a:buClrTx/>
              <a:buSzTx/>
              <a:buFontTx/>
              <a:buNone/>
            </a:pPr>
            <a:r>
              <a:rPr lang="zh-CN" altLang="en-US" dirty="0">
                <a:solidFill>
                  <a:srgbClr val="000099"/>
                </a:solidFill>
                <a:ea typeface="宋体" panose="02010600030101010101" pitchFamily="2" charset="-122"/>
                <a:sym typeface="+mn-ea"/>
              </a:rPr>
              <a:t>与数据库无关</a:t>
            </a:r>
            <a:endParaRPr kumimoji="0" lang="zh-CN" altLang="en-US" sz="1600" b="0" i="0" u="none" strike="noStrike" cap="none" normalizeH="0" baseline="0" dirty="0">
              <a:ln>
                <a:noFill/>
              </a:ln>
              <a:solidFill>
                <a:srgbClr val="000099"/>
              </a:solidFill>
              <a:effectLst/>
              <a:latin typeface="Helvetica" charset="0"/>
              <a:ea typeface="宋体" panose="02010600030101010101" pitchFamily="2" charset="-122"/>
              <a:sym typeface="+mn-ea"/>
            </a:endParaRPr>
          </a:p>
        </p:txBody>
      </p:sp>
      <p:pic>
        <p:nvPicPr>
          <p:cNvPr id="4" name="图片 3"/>
          <p:cNvPicPr>
            <a:picLocks noChangeAspect="1"/>
          </p:cNvPicPr>
          <p:nvPr/>
        </p:nvPicPr>
        <p:blipFill>
          <a:blip r:embed="rId2"/>
          <a:stretch>
            <a:fillRect/>
          </a:stretch>
        </p:blipFill>
        <p:spPr>
          <a:xfrm>
            <a:off x="7843520" y="4758055"/>
            <a:ext cx="845820" cy="805815"/>
          </a:xfrm>
          <a:prstGeom prst="rect">
            <a:avLst/>
          </a:prstGeom>
        </p:spPr>
      </p:pic>
      <p:pic>
        <p:nvPicPr>
          <p:cNvPr id="7" name="图片 6"/>
          <p:cNvPicPr>
            <a:picLocks noChangeAspect="1"/>
          </p:cNvPicPr>
          <p:nvPr/>
        </p:nvPicPr>
        <p:blipFill>
          <a:blip r:embed="rId3"/>
          <a:srcRect l="-196" t="37105" b="31025"/>
          <a:stretch>
            <a:fillRect/>
          </a:stretch>
        </p:blipFill>
        <p:spPr>
          <a:xfrm>
            <a:off x="398145" y="3843655"/>
            <a:ext cx="1167765" cy="805180"/>
          </a:xfrm>
          <a:prstGeom prst="rect">
            <a:avLst/>
          </a:prstGeom>
        </p:spPr>
      </p:pic>
      <p:pic>
        <p:nvPicPr>
          <p:cNvPr id="8" name="图片 7"/>
          <p:cNvPicPr>
            <a:picLocks noChangeAspect="1"/>
          </p:cNvPicPr>
          <p:nvPr/>
        </p:nvPicPr>
        <p:blipFill>
          <a:blip r:embed="rId4"/>
          <a:stretch>
            <a:fillRect/>
          </a:stretch>
        </p:blipFill>
        <p:spPr>
          <a:xfrm>
            <a:off x="7232650" y="3843655"/>
            <a:ext cx="1778000" cy="805180"/>
          </a:xfrm>
          <a:prstGeom prst="rect">
            <a:avLst/>
          </a:prstGeom>
        </p:spPr>
      </p:pic>
      <p:pic>
        <p:nvPicPr>
          <p:cNvPr id="9" name="图片 8"/>
          <p:cNvPicPr>
            <a:picLocks noChangeAspect="1"/>
          </p:cNvPicPr>
          <p:nvPr/>
        </p:nvPicPr>
        <p:blipFill>
          <a:blip r:embed="rId5"/>
          <a:stretch>
            <a:fillRect/>
          </a:stretch>
        </p:blipFill>
        <p:spPr>
          <a:xfrm>
            <a:off x="146685" y="5570220"/>
            <a:ext cx="1275715" cy="892810"/>
          </a:xfrm>
          <a:prstGeom prst="rect">
            <a:avLst/>
          </a:prstGeom>
        </p:spPr>
      </p:pic>
      <p:pic>
        <p:nvPicPr>
          <p:cNvPr id="10" name="图片 9"/>
          <p:cNvPicPr>
            <a:picLocks noChangeAspect="1"/>
          </p:cNvPicPr>
          <p:nvPr/>
        </p:nvPicPr>
        <p:blipFill>
          <a:blip r:embed="rId6"/>
          <a:srcRect t="-330" r="1357" b="50515"/>
          <a:stretch>
            <a:fillRect/>
          </a:stretch>
        </p:blipFill>
        <p:spPr>
          <a:xfrm rot="16200000">
            <a:off x="8029575" y="5701030"/>
            <a:ext cx="764540" cy="771525"/>
          </a:xfrm>
          <a:prstGeom prst="rect">
            <a:avLst/>
          </a:prstGeom>
        </p:spPr>
      </p:pic>
      <p:pic>
        <p:nvPicPr>
          <p:cNvPr id="5" name="图片 4"/>
          <p:cNvPicPr>
            <a:picLocks noChangeAspect="1"/>
          </p:cNvPicPr>
          <p:nvPr/>
        </p:nvPicPr>
        <p:blipFill>
          <a:blip r:embed="rId7"/>
          <a:stretch>
            <a:fillRect/>
          </a:stretch>
        </p:blipFill>
        <p:spPr>
          <a:xfrm>
            <a:off x="7315835" y="3159760"/>
            <a:ext cx="1564640" cy="8216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subTnLst>
                                    <p:set>
                                      <p:cBhvr override="childStyle">
                                        <p:cTn dur="65" fill="hold" display="1" masterRel="nextClick" afterEffect="1"/>
                                        <p:tgtEl>
                                          <p:spTgt spid="7"/>
                                        </p:tgtEl>
                                        <p:attrNameLst>
                                          <p:attrName>style.visibility</p:attrName>
                                        </p:attrNameLst>
                                      </p:cBhvr>
                                      <p:to>
                                        <p:strVal val="hidden"/>
                                      </p:to>
                                    </p:set>
                                  </p:sub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subTnLst>
                                    <p:set>
                                      <p:cBhvr override="childStyle">
                                        <p:cTn dur="65" fill="hold" display="1" masterRel="nextClick" afterEffect="1"/>
                                        <p:tgtEl>
                                          <p:spTgt spid="5"/>
                                        </p:tgtEl>
                                        <p:attrNameLst>
                                          <p:attrName>style.visibility</p:attrName>
                                        </p:attrNameLst>
                                      </p:cBhvr>
                                      <p:to>
                                        <p:strVal val="hidden"/>
                                      </p:to>
                                    </p:set>
                                  </p:sub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subTnLst>
                                    <p:set>
                                      <p:cBhvr override="childStyle">
                                        <p:cTn dur="65" fill="hold" display="1" masterRel="nextClick" afterEffect="1"/>
                                        <p:tgtEl>
                                          <p:spTgt spid="8"/>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500"/>
                                        <p:tgtEl>
                                          <p:spTgt spid="4"/>
                                        </p:tgtEl>
                                      </p:cBhvr>
                                    </p:animEffect>
                                  </p:childTnLst>
                                  <p:subTnLst>
                                    <p:set>
                                      <p:cBhvr override="childStyle">
                                        <p:cTn dur="65" fill="hold" display="1" masterRel="nextClick" afterEffect="1"/>
                                        <p:tgtEl>
                                          <p:spTgt spid="4"/>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childTnLst>
                                  <p:subTnLst>
                                    <p:set>
                                      <p:cBhvr override="childStyle">
                                        <p:cTn dur="65" fill="hold" display="1" masterRel="nextClick" afterEffect="1"/>
                                        <p:tgtEl>
                                          <p:spTgt spid="9"/>
                                        </p:tgtEl>
                                        <p:attrNameLst>
                                          <p:attrName>style.visibility</p:attrName>
                                        </p:attrNameLst>
                                      </p:cBhvr>
                                      <p:to>
                                        <p:strVal val="hidden"/>
                                      </p:to>
                                    </p:set>
                                  </p:subTnLst>
                                </p:cTn>
                              </p:par>
                              <p:par>
                                <p:cTn id="30" presetID="1" presetClass="entr" presetSubtype="0" fill="hold" nodeType="withEffect">
                                  <p:stCondLst>
                                    <p:cond delay="0"/>
                                  </p:stCondLst>
                                  <p:childTnLst>
                                    <p:set>
                                      <p:cBhvr>
                                        <p:cTn id="31" dur="1" fill="hold">
                                          <p:stCondLst>
                                            <p:cond delay="0"/>
                                          </p:stCondLst>
                                        </p:cTn>
                                        <p:tgtEl>
                                          <p:spTgt spid="10"/>
                                        </p:tgtEl>
                                        <p:attrNameLst>
                                          <p:attrName>style.visibility</p:attrName>
                                        </p:attrNameLst>
                                      </p:cBhvr>
                                      <p:to>
                                        <p:strVal val="visible"/>
                                      </p:to>
                                    </p:set>
                                  </p:childTnLst>
                                  <p:subTnLst>
                                    <p:set>
                                      <p:cBhvr override="childStyle">
                                        <p:cTn dur="65" fill="hold" display="1" masterRel="nextClick" afterEffect="1"/>
                                        <p:tgtEl>
                                          <p:spTgt spid="1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P spid="3" grpId="0" bldLvl="0" animBg="1"/>
      <p:bldP spid="3"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a:xfrm>
            <a:off x="685800" y="90170"/>
            <a:ext cx="8449310" cy="735330"/>
          </a:xfrm>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sz="4000" b="1" i="0" u="none" strike="noStrike" kern="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mj-ea"/>
                <a:cs typeface="Arial" panose="020B0604020202020204" pitchFamily="34" charset="0"/>
              </a:rPr>
              <a:t>Magnetic </a:t>
            </a:r>
            <a:r>
              <a:rPr kumimoji="1" lang="en-US" sz="4000" b="1" i="0" u="none" strike="noStrike" kern="0" cap="none" spc="0" normalizeH="0" baseline="0" noProof="0">
                <a:ln>
                  <a:noFill/>
                </a:ln>
                <a:solidFill>
                  <a:schemeClr val="tx2"/>
                </a:solidFill>
                <a:effectLst>
                  <a:outerShdw blurRad="38100" dist="38100" dir="2700000" algn="tl">
                    <a:srgbClr val="DDDDDD"/>
                  </a:outerShdw>
                </a:effectLst>
                <a:uLnTx/>
                <a:uFillTx/>
                <a:latin typeface="+mj-lt"/>
                <a:ea typeface="+mj-ea"/>
                <a:cs typeface="+mj-cs"/>
              </a:rPr>
              <a:t>Hard Disk Mechanism</a:t>
            </a:r>
            <a:endParaRPr kumimoji="1" lang="en-US" sz="4000" b="1" i="0" u="none" strike="noStrike" kern="0" cap="none" spc="0" normalizeH="0" baseline="0" noProof="0">
              <a:ln>
                <a:noFill/>
              </a:ln>
              <a:solidFill>
                <a:schemeClr val="tx2"/>
              </a:solidFill>
              <a:effectLst>
                <a:outerShdw blurRad="38100" dist="38100" dir="2700000" algn="tl">
                  <a:srgbClr val="DDDDDD"/>
                </a:outerShdw>
              </a:effectLst>
              <a:uLnTx/>
              <a:uFillTx/>
              <a:latin typeface="+mj-lt"/>
              <a:ea typeface="+mj-ea"/>
              <a:cs typeface="+mj-cs"/>
            </a:endParaRPr>
          </a:p>
        </p:txBody>
      </p:sp>
      <p:pic>
        <p:nvPicPr>
          <p:cNvPr id="54275" name="Picture 10"/>
          <p:cNvPicPr>
            <a:picLocks noChangeAspect="1"/>
          </p:cNvPicPr>
          <p:nvPr/>
        </p:nvPicPr>
        <p:blipFill>
          <a:blip r:embed="rId1"/>
          <a:stretch>
            <a:fillRect/>
          </a:stretch>
        </p:blipFill>
        <p:spPr>
          <a:xfrm>
            <a:off x="245745" y="1216025"/>
            <a:ext cx="6587490" cy="5000625"/>
          </a:xfrm>
          <a:prstGeom prst="rect">
            <a:avLst/>
          </a:prstGeom>
          <a:noFill/>
          <a:ln w="9525">
            <a:noFill/>
          </a:ln>
        </p:spPr>
      </p:pic>
      <p:pic>
        <p:nvPicPr>
          <p:cNvPr id="5" name="图片 4"/>
          <p:cNvPicPr>
            <a:picLocks noChangeAspect="1"/>
          </p:cNvPicPr>
          <p:nvPr/>
        </p:nvPicPr>
        <p:blipFill>
          <a:blip r:embed="rId2"/>
          <a:stretch>
            <a:fillRect/>
          </a:stretch>
        </p:blipFill>
        <p:spPr>
          <a:xfrm>
            <a:off x="7029450" y="3801745"/>
            <a:ext cx="2106295" cy="2935605"/>
          </a:xfrm>
          <a:prstGeom prst="rect">
            <a:avLst/>
          </a:prstGeom>
        </p:spPr>
      </p:pic>
      <p:pic>
        <p:nvPicPr>
          <p:cNvPr id="6" name="图片 5"/>
          <p:cNvPicPr>
            <a:picLocks noChangeAspect="1"/>
          </p:cNvPicPr>
          <p:nvPr/>
        </p:nvPicPr>
        <p:blipFill>
          <a:blip r:embed="rId3"/>
          <a:stretch>
            <a:fillRect/>
          </a:stretch>
        </p:blipFill>
        <p:spPr>
          <a:xfrm>
            <a:off x="6827520" y="892810"/>
            <a:ext cx="2316480" cy="298704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321" name="组合 9618"/>
          <p:cNvGrpSpPr/>
          <p:nvPr/>
        </p:nvGrpSpPr>
        <p:grpSpPr>
          <a:xfrm>
            <a:off x="5264150" y="3538538"/>
            <a:ext cx="207963" cy="990600"/>
            <a:chOff x="3148" y="2229"/>
            <a:chExt cx="131" cy="624"/>
          </a:xfrm>
        </p:grpSpPr>
        <p:sp>
          <p:nvSpPr>
            <p:cNvPr id="56322" name="直接连接符 9617"/>
            <p:cNvSpPr/>
            <p:nvPr/>
          </p:nvSpPr>
          <p:spPr>
            <a:xfrm rot="5400000">
              <a:off x="3057" y="2631"/>
              <a:ext cx="444" cy="0"/>
            </a:xfrm>
            <a:prstGeom prst="line">
              <a:avLst/>
            </a:prstGeom>
            <a:ln w="28575" cap="flat" cmpd="sng">
              <a:solidFill>
                <a:schemeClr val="tx1"/>
              </a:solidFill>
              <a:prstDash val="solid"/>
              <a:round/>
              <a:headEnd type="stealth" w="med" len="lg"/>
              <a:tailEnd type="none" w="sm" len="sm"/>
            </a:ln>
          </p:spPr>
        </p:sp>
        <p:sp>
          <p:nvSpPr>
            <p:cNvPr id="56323" name="直接连接符 9616"/>
            <p:cNvSpPr/>
            <p:nvPr/>
          </p:nvSpPr>
          <p:spPr>
            <a:xfrm rot="-5400000" flipV="1">
              <a:off x="2926" y="2451"/>
              <a:ext cx="444" cy="0"/>
            </a:xfrm>
            <a:prstGeom prst="line">
              <a:avLst/>
            </a:prstGeom>
            <a:ln w="28575" cap="flat" cmpd="sng">
              <a:solidFill>
                <a:schemeClr val="tx1"/>
              </a:solidFill>
              <a:prstDash val="solid"/>
              <a:round/>
              <a:headEnd type="stealth" w="med" len="lg"/>
              <a:tailEnd type="none" w="sm" len="sm"/>
            </a:ln>
          </p:spPr>
        </p:sp>
      </p:grpSp>
      <p:sp>
        <p:nvSpPr>
          <p:cNvPr id="56324" name="直接连接符 9615"/>
          <p:cNvSpPr/>
          <p:nvPr/>
        </p:nvSpPr>
        <p:spPr>
          <a:xfrm flipH="1" flipV="1">
            <a:off x="2200275" y="2847975"/>
            <a:ext cx="704850" cy="0"/>
          </a:xfrm>
          <a:prstGeom prst="line">
            <a:avLst/>
          </a:prstGeom>
          <a:ln w="28575" cap="flat" cmpd="sng">
            <a:solidFill>
              <a:schemeClr val="tx1"/>
            </a:solidFill>
            <a:prstDash val="solid"/>
            <a:round/>
            <a:headEnd type="stealth" w="med" len="lg"/>
            <a:tailEnd type="none" w="sm" len="sm"/>
          </a:ln>
        </p:spPr>
      </p:sp>
      <p:sp>
        <p:nvSpPr>
          <p:cNvPr id="56325" name="直接连接符 9614"/>
          <p:cNvSpPr/>
          <p:nvPr/>
        </p:nvSpPr>
        <p:spPr>
          <a:xfrm rot="-5400000" flipV="1">
            <a:off x="1504950" y="2079625"/>
            <a:ext cx="704850" cy="0"/>
          </a:xfrm>
          <a:prstGeom prst="line">
            <a:avLst/>
          </a:prstGeom>
          <a:ln w="28575" cap="flat" cmpd="sng">
            <a:solidFill>
              <a:schemeClr val="tx1"/>
            </a:solidFill>
            <a:prstDash val="solid"/>
            <a:round/>
            <a:headEnd type="stealth" w="med" len="lg"/>
            <a:tailEnd type="none" w="sm" len="sm"/>
          </a:ln>
        </p:spPr>
      </p:sp>
      <p:sp>
        <p:nvSpPr>
          <p:cNvPr id="9219" name="标题 9218"/>
          <p:cNvSpPr>
            <a:spLocks noGrp="1"/>
          </p:cNvSpPr>
          <p:nvPr>
            <p:ph type="title"/>
          </p:nvPr>
        </p:nvSpPr>
        <p:spPr>
          <a:xfrm>
            <a:off x="490855" y="51435"/>
            <a:ext cx="8653145" cy="881380"/>
          </a:xfrm>
        </p:spPr>
        <p:txBody>
          <a:bodyPr vert="horz" wrap="square" lIns="92075" tIns="46038" rIns="92075" bIns="46038" anchor="t"/>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4000" b="1" i="0" u="none" strike="noStrike" kern="0" cap="none" spc="0" normalizeH="0" baseline="0" noProof="1">
                <a:solidFill>
                  <a:schemeClr val="tx2"/>
                </a:solidFill>
                <a:effectLst>
                  <a:outerShdw blurRad="38100" dist="38100" dir="2700000" algn="tl">
                    <a:srgbClr val="DDDDDD"/>
                  </a:outerShdw>
                </a:effectLst>
                <a:latin typeface="Arial" panose="020B0604020202020204" pitchFamily="34" charset="0"/>
                <a:ea typeface="宋体" panose="02010600030101010101" pitchFamily="2" charset="-122"/>
                <a:cs typeface="Arial" panose="020B0604020202020204" pitchFamily="34" charset="0"/>
              </a:rPr>
              <a:t>Overview of Primary Components</a:t>
            </a:r>
            <a:endParaRPr kumimoji="0" lang="en-US" altLang="zh-CN" sz="4000" b="1" i="0" u="none" strike="noStrike" kern="0" cap="none" spc="0" normalizeH="0" baseline="0" noProof="1">
              <a:solidFill>
                <a:schemeClr val="tx2"/>
              </a:solidFill>
              <a:effectLst>
                <a:outerShdw blurRad="38100" dist="38100" dir="2700000" algn="tl">
                  <a:srgbClr val="DDDDDD"/>
                </a:outerShdw>
              </a:effectLst>
              <a:latin typeface="Arial" panose="020B0604020202020204" pitchFamily="34" charset="0"/>
              <a:ea typeface="宋体" panose="02010600030101010101" pitchFamily="2" charset="-122"/>
              <a:cs typeface="Arial" panose="020B0604020202020204" pitchFamily="34" charset="0"/>
            </a:endParaRPr>
          </a:p>
        </p:txBody>
      </p:sp>
      <p:sp>
        <p:nvSpPr>
          <p:cNvPr id="56327" name="矩形 9428"/>
          <p:cNvSpPr/>
          <p:nvPr/>
        </p:nvSpPr>
        <p:spPr>
          <a:xfrm>
            <a:off x="2909888" y="1162050"/>
            <a:ext cx="4949825" cy="2667000"/>
          </a:xfrm>
          <a:prstGeom prst="rect">
            <a:avLst/>
          </a:prstGeom>
          <a:solidFill>
            <a:schemeClr val="accent2"/>
          </a:solidFill>
          <a:ln w="12700" cap="flat" cmpd="sng">
            <a:solidFill>
              <a:schemeClr val="bg2"/>
            </a:solidFill>
            <a:prstDash val="solid"/>
            <a:miter/>
            <a:headEnd type="none" w="med" len="med"/>
            <a:tailEnd type="none" w="med" len="med"/>
          </a:ln>
        </p:spPr>
        <p:txBody>
          <a:bodyPr wrap="none" lIns="92075" tIns="46038" rIns="92075" bIns="46038" anchor="ctr" anchorCtr="0"/>
          <a:lstStyle/>
          <a:p>
            <a:pPr algn="ctr" defTabSz="822325" eaLnBrk="0" hangingPunct="0">
              <a:lnSpc>
                <a:spcPct val="80000"/>
              </a:lnSpc>
              <a:spcBef>
                <a:spcPct val="40000"/>
              </a:spcBef>
            </a:pPr>
            <a:r>
              <a:rPr lang="en-US" altLang="zh-CN" sz="1800" b="1">
                <a:solidFill>
                  <a:schemeClr val="bg2"/>
                </a:solidFill>
                <a:latin typeface="Arial" panose="020B0604020202020204" pitchFamily="34" charset="0"/>
                <a:ea typeface="宋体" panose="02010600030101010101" pitchFamily="2" charset="-122"/>
              </a:rPr>
              <a:t>Instance</a:t>
            </a:r>
            <a:endParaRPr lang="en-US" altLang="zh-CN" sz="1800">
              <a:latin typeface="Arial" panose="020B0604020202020204" pitchFamily="34" charset="0"/>
              <a:ea typeface="宋体" panose="02010600030101010101" pitchFamily="2" charset="-122"/>
            </a:endParaRPr>
          </a:p>
          <a:p>
            <a:pPr algn="ctr" defTabSz="822325" eaLnBrk="0" hangingPunct="0">
              <a:lnSpc>
                <a:spcPct val="80000"/>
              </a:lnSpc>
              <a:spcBef>
                <a:spcPct val="40000"/>
              </a:spcBef>
            </a:pPr>
            <a:endParaRPr lang="en-US" altLang="zh-CN" sz="1800">
              <a:latin typeface="Arial" panose="020B0604020202020204" pitchFamily="34" charset="0"/>
              <a:ea typeface="宋体" panose="02010600030101010101" pitchFamily="2" charset="-122"/>
            </a:endParaRPr>
          </a:p>
          <a:p>
            <a:pPr algn="ctr" defTabSz="822325" eaLnBrk="0" hangingPunct="0">
              <a:lnSpc>
                <a:spcPct val="80000"/>
              </a:lnSpc>
              <a:spcBef>
                <a:spcPct val="40000"/>
              </a:spcBef>
            </a:pPr>
            <a:endParaRPr lang="en-US" altLang="zh-CN" sz="1800">
              <a:latin typeface="Arial" panose="020B0604020202020204" pitchFamily="34" charset="0"/>
              <a:ea typeface="宋体" panose="02010600030101010101" pitchFamily="2" charset="-122"/>
            </a:endParaRPr>
          </a:p>
          <a:p>
            <a:pPr algn="ctr" defTabSz="822325" eaLnBrk="0" hangingPunct="0">
              <a:lnSpc>
                <a:spcPct val="80000"/>
              </a:lnSpc>
              <a:spcBef>
                <a:spcPct val="40000"/>
              </a:spcBef>
            </a:pPr>
            <a:endParaRPr lang="en-US" altLang="zh-CN" sz="1800">
              <a:latin typeface="Arial" panose="020B0604020202020204" pitchFamily="34" charset="0"/>
              <a:ea typeface="宋体" panose="02010600030101010101" pitchFamily="2" charset="-122"/>
            </a:endParaRPr>
          </a:p>
          <a:p>
            <a:pPr algn="ctr" defTabSz="822325" eaLnBrk="0" hangingPunct="0">
              <a:lnSpc>
                <a:spcPct val="80000"/>
              </a:lnSpc>
              <a:spcBef>
                <a:spcPct val="40000"/>
              </a:spcBef>
            </a:pPr>
            <a:endParaRPr lang="en-US" altLang="zh-CN" sz="1800">
              <a:latin typeface="Arial" panose="020B0604020202020204" pitchFamily="34" charset="0"/>
              <a:ea typeface="宋体" panose="02010600030101010101" pitchFamily="2" charset="-122"/>
            </a:endParaRPr>
          </a:p>
          <a:p>
            <a:pPr algn="ctr" defTabSz="822325" eaLnBrk="0" hangingPunct="0">
              <a:lnSpc>
                <a:spcPct val="80000"/>
              </a:lnSpc>
              <a:spcBef>
                <a:spcPct val="40000"/>
              </a:spcBef>
            </a:pPr>
            <a:endParaRPr lang="en-US" altLang="zh-CN" sz="1800">
              <a:latin typeface="Arial" panose="020B0604020202020204" pitchFamily="34" charset="0"/>
              <a:ea typeface="宋体" panose="02010600030101010101" pitchFamily="2" charset="-122"/>
            </a:endParaRPr>
          </a:p>
          <a:p>
            <a:pPr algn="ctr" defTabSz="822325" eaLnBrk="0" hangingPunct="0">
              <a:lnSpc>
                <a:spcPct val="80000"/>
              </a:lnSpc>
              <a:spcBef>
                <a:spcPct val="40000"/>
              </a:spcBef>
            </a:pPr>
            <a:endParaRPr lang="en-US" altLang="zh-CN" sz="1800">
              <a:latin typeface="Arial" panose="020B0604020202020204" pitchFamily="34" charset="0"/>
              <a:ea typeface="宋体" panose="02010600030101010101" pitchFamily="2" charset="-122"/>
            </a:endParaRPr>
          </a:p>
          <a:p>
            <a:pPr algn="ctr" defTabSz="822325" eaLnBrk="0" hangingPunct="0">
              <a:lnSpc>
                <a:spcPct val="80000"/>
              </a:lnSpc>
              <a:spcBef>
                <a:spcPct val="40000"/>
              </a:spcBef>
            </a:pPr>
            <a:endParaRPr lang="zh-CN" altLang="en-US" sz="1800" dirty="0">
              <a:latin typeface="Arial" panose="020B0604020202020204" pitchFamily="34" charset="0"/>
              <a:ea typeface="宋体" panose="02010600030101010101" pitchFamily="2" charset="-122"/>
            </a:endParaRPr>
          </a:p>
        </p:txBody>
      </p:sp>
      <p:sp>
        <p:nvSpPr>
          <p:cNvPr id="56328" name="矩形 9429"/>
          <p:cNvSpPr/>
          <p:nvPr/>
        </p:nvSpPr>
        <p:spPr>
          <a:xfrm>
            <a:off x="3025775" y="1481138"/>
            <a:ext cx="4610100" cy="1804987"/>
          </a:xfrm>
          <a:prstGeom prst="rect">
            <a:avLst/>
          </a:prstGeom>
          <a:solidFill>
            <a:schemeClr val="accent1"/>
          </a:solidFill>
          <a:ln w="12700">
            <a:noFill/>
          </a:ln>
        </p:spPr>
        <p:txBody>
          <a:bodyPr wrap="none" lIns="92075" tIns="46038" rIns="92075" bIns="46038" anchor="ctr" anchorCtr="0"/>
          <a:lstStyle/>
          <a:p>
            <a:pPr algn="ctr" defTabSz="822325" eaLnBrk="0" hangingPunct="0">
              <a:spcBef>
                <a:spcPct val="50000"/>
              </a:spcBef>
            </a:pPr>
            <a:r>
              <a:rPr lang="en-US" altLang="zh-CN" sz="1800" b="1">
                <a:solidFill>
                  <a:schemeClr val="bg2"/>
                </a:solidFill>
                <a:latin typeface="Arial" panose="020B0604020202020204" pitchFamily="34" charset="0"/>
                <a:ea typeface="宋体" panose="02010600030101010101" pitchFamily="2" charset="-122"/>
              </a:rPr>
              <a:t>SGA</a:t>
            </a:r>
            <a:endParaRPr lang="en-US" altLang="zh-CN" sz="1800" b="1">
              <a:solidFill>
                <a:schemeClr val="bg2"/>
              </a:solidFill>
              <a:latin typeface="Arial" panose="020B0604020202020204" pitchFamily="34" charset="0"/>
              <a:ea typeface="宋体" panose="02010600030101010101" pitchFamily="2" charset="-122"/>
            </a:endParaRPr>
          </a:p>
          <a:p>
            <a:pPr algn="ctr" defTabSz="822325" eaLnBrk="0" hangingPunct="0">
              <a:spcBef>
                <a:spcPct val="50000"/>
              </a:spcBef>
            </a:pPr>
            <a:endParaRPr lang="en-US" altLang="zh-CN" sz="1800" b="1">
              <a:solidFill>
                <a:schemeClr val="bg2"/>
              </a:solidFill>
              <a:latin typeface="Arial" panose="020B0604020202020204" pitchFamily="34" charset="0"/>
              <a:ea typeface="宋体" panose="02010600030101010101" pitchFamily="2" charset="-122"/>
            </a:endParaRPr>
          </a:p>
          <a:p>
            <a:pPr algn="ctr" defTabSz="822325" eaLnBrk="0" hangingPunct="0">
              <a:spcBef>
                <a:spcPct val="50000"/>
              </a:spcBef>
            </a:pPr>
            <a:endParaRPr lang="en-US" altLang="zh-CN" sz="1800" b="1">
              <a:solidFill>
                <a:schemeClr val="bg2"/>
              </a:solidFill>
              <a:latin typeface="Arial" panose="020B0604020202020204" pitchFamily="34" charset="0"/>
              <a:ea typeface="宋体" panose="02010600030101010101" pitchFamily="2" charset="-122"/>
            </a:endParaRPr>
          </a:p>
          <a:p>
            <a:pPr algn="ctr" defTabSz="822325" eaLnBrk="0" hangingPunct="0">
              <a:spcBef>
                <a:spcPct val="50000"/>
              </a:spcBef>
            </a:pPr>
            <a:endParaRPr lang="zh-CN" altLang="en-US" sz="1800" b="1" dirty="0">
              <a:solidFill>
                <a:schemeClr val="bg2"/>
              </a:solidFill>
              <a:latin typeface="Arial" panose="020B0604020202020204" pitchFamily="34" charset="0"/>
              <a:ea typeface="宋体" panose="02010600030101010101" pitchFamily="2" charset="-122"/>
            </a:endParaRPr>
          </a:p>
        </p:txBody>
      </p:sp>
      <p:sp>
        <p:nvSpPr>
          <p:cNvPr id="56329" name="矩形 9430"/>
          <p:cNvSpPr/>
          <p:nvPr/>
        </p:nvSpPr>
        <p:spPr>
          <a:xfrm>
            <a:off x="6207125" y="2011363"/>
            <a:ext cx="1325563" cy="1139825"/>
          </a:xfrm>
          <a:prstGeom prst="rect">
            <a:avLst/>
          </a:prstGeom>
          <a:solidFill>
            <a:srgbClr val="FF9BCE"/>
          </a:solidFill>
          <a:ln w="12700">
            <a:noFill/>
          </a:ln>
        </p:spPr>
        <p:txBody>
          <a:bodyPr wrap="none" lIns="92075" tIns="46038" rIns="92075" bIns="46038" anchor="ctr" anchorCtr="0"/>
          <a:lstStyle/>
          <a:p>
            <a:pPr algn="ctr" defTabSz="822325" eaLnBrk="0" hangingPunct="0">
              <a:spcBef>
                <a:spcPct val="50000"/>
              </a:spcBef>
            </a:pPr>
            <a:r>
              <a:rPr lang="en-US" altLang="zh-CN" b="1">
                <a:solidFill>
                  <a:schemeClr val="bg2"/>
                </a:solidFill>
                <a:latin typeface="Arial" panose="020B0604020202020204" pitchFamily="34" charset="0"/>
                <a:ea typeface="宋体" panose="02010600030101010101" pitchFamily="2" charset="-122"/>
              </a:rPr>
              <a:t>Redo log</a:t>
            </a:r>
            <a:br>
              <a:rPr lang="en-US" altLang="zh-CN" b="1">
                <a:solidFill>
                  <a:schemeClr val="bg2"/>
                </a:solidFill>
                <a:latin typeface="Arial" panose="020B0604020202020204" pitchFamily="34" charset="0"/>
                <a:ea typeface="宋体" panose="02010600030101010101" pitchFamily="2" charset="-122"/>
              </a:rPr>
            </a:br>
            <a:r>
              <a:rPr lang="en-US" altLang="zh-CN" b="1">
                <a:solidFill>
                  <a:schemeClr val="bg2"/>
                </a:solidFill>
                <a:latin typeface="Arial" panose="020B0604020202020204" pitchFamily="34" charset="0"/>
                <a:ea typeface="宋体" panose="02010600030101010101" pitchFamily="2" charset="-122"/>
              </a:rPr>
              <a:t>buffer cache</a:t>
            </a:r>
            <a:endParaRPr lang="en-US" altLang="zh-CN" b="1">
              <a:solidFill>
                <a:schemeClr val="bg2"/>
              </a:solidFill>
              <a:latin typeface="Arial" panose="020B0604020202020204" pitchFamily="34" charset="0"/>
              <a:ea typeface="宋体" panose="02010600030101010101" pitchFamily="2" charset="-122"/>
            </a:endParaRPr>
          </a:p>
        </p:txBody>
      </p:sp>
      <p:sp>
        <p:nvSpPr>
          <p:cNvPr id="56330" name="矩形 9432"/>
          <p:cNvSpPr/>
          <p:nvPr/>
        </p:nvSpPr>
        <p:spPr>
          <a:xfrm>
            <a:off x="3157538" y="1574800"/>
            <a:ext cx="1573212" cy="1614488"/>
          </a:xfrm>
          <a:prstGeom prst="rect">
            <a:avLst/>
          </a:prstGeom>
          <a:solidFill>
            <a:srgbClr val="FFE88A"/>
          </a:solidFill>
          <a:ln w="12700">
            <a:noFill/>
          </a:ln>
        </p:spPr>
        <p:txBody>
          <a:bodyPr wrap="none" lIns="92075" tIns="46038" rIns="92075" bIns="46038" anchor="ctr" anchorCtr="0"/>
          <a:lstStyle/>
          <a:p>
            <a:pPr algn="ctr" defTabSz="822325" eaLnBrk="0" hangingPunct="0">
              <a:spcBef>
                <a:spcPct val="50000"/>
              </a:spcBef>
            </a:pPr>
            <a:endParaRPr lang="zh-CN" altLang="en-US" b="1" dirty="0">
              <a:solidFill>
                <a:schemeClr val="bg2"/>
              </a:solidFill>
              <a:latin typeface="Arial" panose="020B0604020202020204" pitchFamily="34" charset="0"/>
              <a:ea typeface="宋体" panose="02010600030101010101" pitchFamily="2" charset="-122"/>
            </a:endParaRPr>
          </a:p>
          <a:p>
            <a:pPr algn="ctr" defTabSz="822325" eaLnBrk="0" hangingPunct="0">
              <a:spcBef>
                <a:spcPct val="50000"/>
              </a:spcBef>
            </a:pPr>
            <a:endParaRPr lang="zh-CN" altLang="en-US" b="1" dirty="0">
              <a:solidFill>
                <a:schemeClr val="bg2"/>
              </a:solidFill>
              <a:latin typeface="Arial" panose="020B0604020202020204" pitchFamily="34" charset="0"/>
              <a:ea typeface="宋体" panose="02010600030101010101" pitchFamily="2" charset="-122"/>
            </a:endParaRPr>
          </a:p>
          <a:p>
            <a:pPr algn="ctr" defTabSz="822325" eaLnBrk="0" hangingPunct="0">
              <a:spcBef>
                <a:spcPct val="50000"/>
              </a:spcBef>
            </a:pPr>
            <a:r>
              <a:rPr lang="en-US" altLang="zh-CN" b="1">
                <a:solidFill>
                  <a:schemeClr val="bg2"/>
                </a:solidFill>
                <a:latin typeface="Arial" panose="020B0604020202020204" pitchFamily="34" charset="0"/>
                <a:ea typeface="宋体" panose="02010600030101010101" pitchFamily="2" charset="-122"/>
              </a:rPr>
              <a:t>Shared pool</a:t>
            </a:r>
            <a:endParaRPr lang="en-US" altLang="zh-CN" b="1">
              <a:solidFill>
                <a:schemeClr val="bg2"/>
              </a:solidFill>
              <a:latin typeface="Arial" panose="020B0604020202020204" pitchFamily="34" charset="0"/>
              <a:ea typeface="宋体" panose="02010600030101010101" pitchFamily="2" charset="-122"/>
            </a:endParaRPr>
          </a:p>
          <a:p>
            <a:pPr algn="ctr" defTabSz="822325" eaLnBrk="0" hangingPunct="0">
              <a:spcBef>
                <a:spcPct val="50000"/>
              </a:spcBef>
            </a:pPr>
            <a:endParaRPr lang="en-US" altLang="zh-CN" b="1">
              <a:solidFill>
                <a:schemeClr val="bg2"/>
              </a:solidFill>
              <a:latin typeface="Arial" panose="020B0604020202020204" pitchFamily="34" charset="0"/>
              <a:ea typeface="宋体" panose="02010600030101010101" pitchFamily="2" charset="-122"/>
            </a:endParaRPr>
          </a:p>
          <a:p>
            <a:pPr algn="ctr" defTabSz="822325" eaLnBrk="0" hangingPunct="0">
              <a:spcBef>
                <a:spcPct val="50000"/>
              </a:spcBef>
            </a:pPr>
            <a:endParaRPr lang="en-US" altLang="zh-CN" b="1">
              <a:solidFill>
                <a:schemeClr val="bg2"/>
              </a:solidFill>
              <a:latin typeface="Arial" panose="020B0604020202020204" pitchFamily="34" charset="0"/>
              <a:ea typeface="宋体" panose="02010600030101010101" pitchFamily="2" charset="-122"/>
            </a:endParaRPr>
          </a:p>
          <a:p>
            <a:pPr algn="ctr" defTabSz="822325" eaLnBrk="0" hangingPunct="0">
              <a:spcBef>
                <a:spcPct val="50000"/>
              </a:spcBef>
            </a:pPr>
            <a:endParaRPr lang="en-US" altLang="zh-CN" b="1">
              <a:solidFill>
                <a:schemeClr val="bg2"/>
              </a:solidFill>
              <a:latin typeface="Arial" panose="020B0604020202020204" pitchFamily="34" charset="0"/>
              <a:ea typeface="宋体" panose="02010600030101010101" pitchFamily="2" charset="-122"/>
            </a:endParaRPr>
          </a:p>
          <a:p>
            <a:pPr algn="ctr" defTabSz="822325" eaLnBrk="0" hangingPunct="0">
              <a:spcBef>
                <a:spcPct val="50000"/>
              </a:spcBef>
            </a:pPr>
            <a:endParaRPr lang="en-US" altLang="zh-CN" b="1">
              <a:solidFill>
                <a:schemeClr val="bg2"/>
              </a:solidFill>
              <a:latin typeface="Arial" panose="020B0604020202020204" pitchFamily="34" charset="0"/>
              <a:ea typeface="宋体" panose="02010600030101010101" pitchFamily="2" charset="-122"/>
            </a:endParaRPr>
          </a:p>
          <a:p>
            <a:pPr algn="ctr" defTabSz="822325" eaLnBrk="0" hangingPunct="0">
              <a:spcBef>
                <a:spcPct val="50000"/>
              </a:spcBef>
            </a:pPr>
            <a:endParaRPr lang="zh-CN" altLang="en-US" b="1" dirty="0">
              <a:solidFill>
                <a:schemeClr val="bg2"/>
              </a:solidFill>
              <a:latin typeface="Arial" panose="020B0604020202020204" pitchFamily="34" charset="0"/>
              <a:ea typeface="宋体" panose="02010600030101010101" pitchFamily="2" charset="-122"/>
            </a:endParaRPr>
          </a:p>
        </p:txBody>
      </p:sp>
      <p:sp>
        <p:nvSpPr>
          <p:cNvPr id="56331" name="矩形 9433"/>
          <p:cNvSpPr/>
          <p:nvPr/>
        </p:nvSpPr>
        <p:spPr>
          <a:xfrm>
            <a:off x="3278188" y="2611438"/>
            <a:ext cx="1327150" cy="539750"/>
          </a:xfrm>
          <a:prstGeom prst="rect">
            <a:avLst/>
          </a:prstGeom>
          <a:solidFill>
            <a:srgbClr val="FF9BCE"/>
          </a:solidFill>
          <a:ln w="12700">
            <a:noFill/>
          </a:ln>
        </p:spPr>
        <p:txBody>
          <a:bodyPr wrap="none" lIns="92075" tIns="46038" rIns="92075" bIns="46038" anchor="ctr" anchorCtr="0"/>
          <a:lstStyle/>
          <a:p>
            <a:pPr algn="ctr" defTabSz="822325" eaLnBrk="0" hangingPunct="0">
              <a:spcBef>
                <a:spcPct val="50000"/>
              </a:spcBef>
            </a:pPr>
            <a:r>
              <a:rPr lang="en-US" altLang="zh-CN" b="1">
                <a:solidFill>
                  <a:schemeClr val="bg2"/>
                </a:solidFill>
                <a:latin typeface="Arial" panose="020B0604020202020204" pitchFamily="34" charset="0"/>
                <a:ea typeface="宋体" panose="02010600030101010101" pitchFamily="2" charset="-122"/>
              </a:rPr>
              <a:t>Data </a:t>
            </a:r>
            <a:r>
              <a:rPr lang="en-US" altLang="zh-CN" b="1" err="1">
                <a:solidFill>
                  <a:schemeClr val="bg2"/>
                </a:solidFill>
                <a:latin typeface="Arial" panose="020B0604020202020204" pitchFamily="34" charset="0"/>
                <a:ea typeface="宋体" panose="02010600030101010101" pitchFamily="2" charset="-122"/>
              </a:rPr>
              <a:t>Dict</a:t>
            </a:r>
            <a:r>
              <a:rPr lang="en-US" altLang="zh-CN" b="1">
                <a:solidFill>
                  <a:schemeClr val="bg2"/>
                </a:solidFill>
                <a:latin typeface="Arial" panose="020B0604020202020204" pitchFamily="34" charset="0"/>
                <a:ea typeface="宋体" panose="02010600030101010101" pitchFamily="2" charset="-122"/>
              </a:rPr>
              <a:t>.</a:t>
            </a:r>
            <a:br>
              <a:rPr lang="en-US" altLang="zh-CN" b="1">
                <a:solidFill>
                  <a:schemeClr val="bg2"/>
                </a:solidFill>
                <a:latin typeface="Arial" panose="020B0604020202020204" pitchFamily="34" charset="0"/>
                <a:ea typeface="宋体" panose="02010600030101010101" pitchFamily="2" charset="-122"/>
              </a:rPr>
            </a:br>
            <a:r>
              <a:rPr lang="en-US" altLang="zh-CN" b="1">
                <a:solidFill>
                  <a:schemeClr val="bg2"/>
                </a:solidFill>
                <a:latin typeface="Arial" panose="020B0604020202020204" pitchFamily="34" charset="0"/>
                <a:ea typeface="宋体" panose="02010600030101010101" pitchFamily="2" charset="-122"/>
              </a:rPr>
              <a:t>cache</a:t>
            </a:r>
            <a:endParaRPr lang="en-US" altLang="zh-CN" b="1">
              <a:solidFill>
                <a:schemeClr val="bg2"/>
              </a:solidFill>
              <a:latin typeface="Arial" panose="020B0604020202020204" pitchFamily="34" charset="0"/>
              <a:ea typeface="宋体" panose="02010600030101010101" pitchFamily="2" charset="-122"/>
            </a:endParaRPr>
          </a:p>
        </p:txBody>
      </p:sp>
      <p:sp>
        <p:nvSpPr>
          <p:cNvPr id="56332" name="矩形 9434"/>
          <p:cNvSpPr/>
          <p:nvPr/>
        </p:nvSpPr>
        <p:spPr>
          <a:xfrm>
            <a:off x="3278188" y="2003425"/>
            <a:ext cx="1327150" cy="538163"/>
          </a:xfrm>
          <a:prstGeom prst="rect">
            <a:avLst/>
          </a:prstGeom>
          <a:solidFill>
            <a:srgbClr val="FF9BCE"/>
          </a:solidFill>
          <a:ln w="12700">
            <a:noFill/>
          </a:ln>
        </p:spPr>
        <p:txBody>
          <a:bodyPr wrap="none" lIns="92075" tIns="46038" rIns="92075" bIns="46038" anchor="ctr" anchorCtr="0"/>
          <a:lstStyle/>
          <a:p>
            <a:pPr algn="ctr" defTabSz="822325" eaLnBrk="0" hangingPunct="0"/>
            <a:r>
              <a:rPr lang="en-US" altLang="zh-CN" b="1">
                <a:solidFill>
                  <a:schemeClr val="bg2"/>
                </a:solidFill>
                <a:latin typeface="Arial" panose="020B0604020202020204" pitchFamily="34" charset="0"/>
                <a:ea typeface="宋体" panose="02010600030101010101" pitchFamily="2" charset="-122"/>
              </a:rPr>
              <a:t>Library</a:t>
            </a:r>
            <a:endParaRPr lang="en-US" altLang="zh-CN" b="1">
              <a:solidFill>
                <a:schemeClr val="bg2"/>
              </a:solidFill>
              <a:latin typeface="Arial" panose="020B0604020202020204" pitchFamily="34" charset="0"/>
              <a:ea typeface="宋体" panose="02010600030101010101" pitchFamily="2" charset="-122"/>
            </a:endParaRPr>
          </a:p>
          <a:p>
            <a:pPr algn="ctr" defTabSz="822325" eaLnBrk="0" hangingPunct="0"/>
            <a:r>
              <a:rPr lang="en-US" altLang="zh-CN" b="1">
                <a:solidFill>
                  <a:schemeClr val="bg2"/>
                </a:solidFill>
                <a:latin typeface="Arial" panose="020B0604020202020204" pitchFamily="34" charset="0"/>
                <a:ea typeface="宋体" panose="02010600030101010101" pitchFamily="2" charset="-122"/>
              </a:rPr>
              <a:t>cache</a:t>
            </a:r>
            <a:endParaRPr lang="en-US" altLang="zh-CN" b="1">
              <a:solidFill>
                <a:schemeClr val="bg2"/>
              </a:solidFill>
              <a:latin typeface="Arial" panose="020B0604020202020204" pitchFamily="34" charset="0"/>
              <a:ea typeface="宋体" panose="02010600030101010101" pitchFamily="2" charset="-122"/>
            </a:endParaRPr>
          </a:p>
        </p:txBody>
      </p:sp>
      <p:sp>
        <p:nvSpPr>
          <p:cNvPr id="56333" name="椭圆 9437"/>
          <p:cNvSpPr/>
          <p:nvPr/>
        </p:nvSpPr>
        <p:spPr>
          <a:xfrm>
            <a:off x="4603750" y="3348038"/>
            <a:ext cx="723900" cy="427037"/>
          </a:xfrm>
          <a:prstGeom prst="ellipse">
            <a:avLst/>
          </a:prstGeom>
          <a:solidFill>
            <a:srgbClr val="FFE88A"/>
          </a:solidFill>
          <a:ln w="12700">
            <a:noFill/>
          </a:ln>
        </p:spPr>
        <p:txBody>
          <a:bodyPr wrap="none" lIns="92075" tIns="46038" rIns="92075" bIns="46038" anchor="ctr" anchorCtr="0"/>
          <a:lstStyle/>
          <a:p>
            <a:pPr algn="ctr" defTabSz="822325" eaLnBrk="0" hangingPunct="0">
              <a:spcBef>
                <a:spcPct val="50000"/>
              </a:spcBef>
            </a:pPr>
            <a:r>
              <a:rPr lang="en-US" altLang="zh-CN" b="1">
                <a:solidFill>
                  <a:schemeClr val="bg2"/>
                </a:solidFill>
                <a:latin typeface="Arial" panose="020B0604020202020204" pitchFamily="34" charset="0"/>
                <a:ea typeface="宋体" panose="02010600030101010101" pitchFamily="2" charset="-122"/>
              </a:rPr>
              <a:t>DBWR</a:t>
            </a:r>
            <a:endParaRPr lang="en-US" altLang="zh-CN" b="1">
              <a:solidFill>
                <a:schemeClr val="bg2"/>
              </a:solidFill>
              <a:latin typeface="Arial" panose="020B0604020202020204" pitchFamily="34" charset="0"/>
              <a:ea typeface="宋体" panose="02010600030101010101" pitchFamily="2" charset="-122"/>
            </a:endParaRPr>
          </a:p>
        </p:txBody>
      </p:sp>
      <p:sp>
        <p:nvSpPr>
          <p:cNvPr id="56334" name="椭圆 9438"/>
          <p:cNvSpPr/>
          <p:nvPr/>
        </p:nvSpPr>
        <p:spPr>
          <a:xfrm>
            <a:off x="3795713" y="3348038"/>
            <a:ext cx="723900" cy="427037"/>
          </a:xfrm>
          <a:prstGeom prst="ellipse">
            <a:avLst/>
          </a:prstGeom>
          <a:solidFill>
            <a:srgbClr val="FFE88A"/>
          </a:solidFill>
          <a:ln w="12700">
            <a:noFill/>
          </a:ln>
        </p:spPr>
        <p:txBody>
          <a:bodyPr wrap="none" lIns="92075" tIns="46038" rIns="92075" bIns="46038" anchor="ctr" anchorCtr="0"/>
          <a:lstStyle/>
          <a:p>
            <a:pPr algn="ctr" defTabSz="822325" eaLnBrk="0" hangingPunct="0">
              <a:spcBef>
                <a:spcPct val="50000"/>
              </a:spcBef>
            </a:pPr>
            <a:r>
              <a:rPr lang="en-US" altLang="zh-CN" b="1">
                <a:solidFill>
                  <a:schemeClr val="bg2"/>
                </a:solidFill>
                <a:latin typeface="Arial" panose="020B0604020202020204" pitchFamily="34" charset="0"/>
                <a:ea typeface="宋体" panose="02010600030101010101" pitchFamily="2" charset="-122"/>
              </a:rPr>
              <a:t>SMON</a:t>
            </a:r>
            <a:endParaRPr lang="en-US" altLang="zh-CN" b="1">
              <a:solidFill>
                <a:schemeClr val="bg2"/>
              </a:solidFill>
              <a:latin typeface="Arial" panose="020B0604020202020204" pitchFamily="34" charset="0"/>
              <a:ea typeface="宋体" panose="02010600030101010101" pitchFamily="2" charset="-122"/>
            </a:endParaRPr>
          </a:p>
        </p:txBody>
      </p:sp>
      <p:sp>
        <p:nvSpPr>
          <p:cNvPr id="56335" name="椭圆 9439"/>
          <p:cNvSpPr/>
          <p:nvPr/>
        </p:nvSpPr>
        <p:spPr>
          <a:xfrm>
            <a:off x="2990850" y="3348038"/>
            <a:ext cx="723900" cy="427037"/>
          </a:xfrm>
          <a:prstGeom prst="ellipse">
            <a:avLst/>
          </a:prstGeom>
          <a:solidFill>
            <a:srgbClr val="FFE88A"/>
          </a:solidFill>
          <a:ln w="12700">
            <a:noFill/>
          </a:ln>
        </p:spPr>
        <p:txBody>
          <a:bodyPr wrap="none" lIns="92075" tIns="46038" rIns="92075" bIns="46038" anchor="ctr" anchorCtr="0"/>
          <a:lstStyle/>
          <a:p>
            <a:pPr algn="ctr" defTabSz="822325" eaLnBrk="0" hangingPunct="0">
              <a:spcBef>
                <a:spcPct val="50000"/>
              </a:spcBef>
            </a:pPr>
            <a:r>
              <a:rPr lang="en-US" altLang="zh-CN" b="1">
                <a:solidFill>
                  <a:schemeClr val="bg2"/>
                </a:solidFill>
                <a:latin typeface="Arial" panose="020B0604020202020204" pitchFamily="34" charset="0"/>
                <a:ea typeface="宋体" panose="02010600030101010101" pitchFamily="2" charset="-122"/>
              </a:rPr>
              <a:t>PMON</a:t>
            </a:r>
            <a:endParaRPr lang="en-US" altLang="zh-CN" b="1">
              <a:solidFill>
                <a:schemeClr val="bg2"/>
              </a:solidFill>
              <a:latin typeface="Arial" panose="020B0604020202020204" pitchFamily="34" charset="0"/>
              <a:ea typeface="宋体" panose="02010600030101010101" pitchFamily="2" charset="-122"/>
            </a:endParaRPr>
          </a:p>
        </p:txBody>
      </p:sp>
      <p:sp>
        <p:nvSpPr>
          <p:cNvPr id="56336" name="椭圆 9440"/>
          <p:cNvSpPr/>
          <p:nvPr/>
        </p:nvSpPr>
        <p:spPr>
          <a:xfrm>
            <a:off x="6203950" y="3348038"/>
            <a:ext cx="719138" cy="427037"/>
          </a:xfrm>
          <a:prstGeom prst="ellipse">
            <a:avLst/>
          </a:prstGeom>
          <a:solidFill>
            <a:srgbClr val="FFE88A"/>
          </a:solidFill>
          <a:ln w="12700">
            <a:noFill/>
          </a:ln>
        </p:spPr>
        <p:txBody>
          <a:bodyPr wrap="none" lIns="92075" tIns="46038" rIns="92075" bIns="46038" anchor="ctr" anchorCtr="0"/>
          <a:lstStyle/>
          <a:p>
            <a:pPr algn="ctr" defTabSz="822325" eaLnBrk="0" hangingPunct="0">
              <a:spcBef>
                <a:spcPct val="50000"/>
              </a:spcBef>
            </a:pPr>
            <a:r>
              <a:rPr lang="en-US" altLang="zh-CN" b="1">
                <a:solidFill>
                  <a:schemeClr val="bg2"/>
                </a:solidFill>
                <a:latin typeface="Arial" panose="020B0604020202020204" pitchFamily="34" charset="0"/>
                <a:ea typeface="宋体" panose="02010600030101010101" pitchFamily="2" charset="-122"/>
              </a:rPr>
              <a:t>CKPT</a:t>
            </a:r>
            <a:endParaRPr lang="en-US" altLang="zh-CN" b="1">
              <a:solidFill>
                <a:schemeClr val="bg2"/>
              </a:solidFill>
              <a:latin typeface="Arial" panose="020B0604020202020204" pitchFamily="34" charset="0"/>
              <a:ea typeface="宋体" panose="02010600030101010101" pitchFamily="2" charset="-122"/>
            </a:endParaRPr>
          </a:p>
        </p:txBody>
      </p:sp>
      <p:sp>
        <p:nvSpPr>
          <p:cNvPr id="56337" name="椭圆 9441"/>
          <p:cNvSpPr/>
          <p:nvPr/>
        </p:nvSpPr>
        <p:spPr>
          <a:xfrm>
            <a:off x="5394325" y="3348038"/>
            <a:ext cx="723900" cy="427037"/>
          </a:xfrm>
          <a:prstGeom prst="ellipse">
            <a:avLst/>
          </a:prstGeom>
          <a:solidFill>
            <a:srgbClr val="FFE88A"/>
          </a:solidFill>
          <a:ln w="12700">
            <a:noFill/>
          </a:ln>
        </p:spPr>
        <p:txBody>
          <a:bodyPr wrap="none" lIns="92075" tIns="46038" rIns="92075" bIns="46038" anchor="ctr" anchorCtr="0"/>
          <a:lstStyle/>
          <a:p>
            <a:pPr algn="ctr" defTabSz="822325" eaLnBrk="0" hangingPunct="0">
              <a:spcBef>
                <a:spcPct val="50000"/>
              </a:spcBef>
            </a:pPr>
            <a:r>
              <a:rPr lang="en-US" altLang="zh-CN" b="1">
                <a:solidFill>
                  <a:schemeClr val="bg2"/>
                </a:solidFill>
                <a:latin typeface="Arial" panose="020B0604020202020204" pitchFamily="34" charset="0"/>
                <a:ea typeface="宋体" panose="02010600030101010101" pitchFamily="2" charset="-122"/>
              </a:rPr>
              <a:t>LGWR</a:t>
            </a:r>
            <a:endParaRPr lang="en-US" altLang="zh-CN" b="1">
              <a:solidFill>
                <a:schemeClr val="bg2"/>
              </a:solidFill>
              <a:latin typeface="Arial" panose="020B0604020202020204" pitchFamily="34" charset="0"/>
              <a:ea typeface="宋体" panose="02010600030101010101" pitchFamily="2" charset="-122"/>
            </a:endParaRPr>
          </a:p>
        </p:txBody>
      </p:sp>
      <p:sp>
        <p:nvSpPr>
          <p:cNvPr id="56338" name="椭圆 9442"/>
          <p:cNvSpPr/>
          <p:nvPr/>
        </p:nvSpPr>
        <p:spPr>
          <a:xfrm>
            <a:off x="7018338" y="3348038"/>
            <a:ext cx="719137" cy="427037"/>
          </a:xfrm>
          <a:prstGeom prst="ellipse">
            <a:avLst/>
          </a:prstGeom>
          <a:solidFill>
            <a:srgbClr val="FFE88A"/>
          </a:solidFill>
          <a:ln w="12700">
            <a:noFill/>
          </a:ln>
        </p:spPr>
        <p:txBody>
          <a:bodyPr wrap="none" lIns="92075" tIns="46038" rIns="92075" bIns="46038" anchor="ctr" anchorCtr="0"/>
          <a:lstStyle/>
          <a:p>
            <a:pPr algn="ctr" defTabSz="822325" eaLnBrk="0" hangingPunct="0">
              <a:spcBef>
                <a:spcPct val="50000"/>
              </a:spcBef>
            </a:pPr>
            <a:r>
              <a:rPr lang="en-US" altLang="zh-CN" b="1">
                <a:solidFill>
                  <a:schemeClr val="bg2"/>
                </a:solidFill>
                <a:latin typeface="Arial" panose="020B0604020202020204" pitchFamily="34" charset="0"/>
                <a:ea typeface="宋体" panose="02010600030101010101" pitchFamily="2" charset="-122"/>
              </a:rPr>
              <a:t>Others</a:t>
            </a:r>
            <a:endParaRPr lang="en-US" altLang="zh-CN" b="1">
              <a:solidFill>
                <a:schemeClr val="bg2"/>
              </a:solidFill>
              <a:latin typeface="Arial" panose="020B0604020202020204" pitchFamily="34" charset="0"/>
              <a:ea typeface="宋体" panose="02010600030101010101" pitchFamily="2" charset="-122"/>
            </a:endParaRPr>
          </a:p>
        </p:txBody>
      </p:sp>
      <p:sp>
        <p:nvSpPr>
          <p:cNvPr id="56339" name="椭圆 9444"/>
          <p:cNvSpPr/>
          <p:nvPr/>
        </p:nvSpPr>
        <p:spPr>
          <a:xfrm>
            <a:off x="1212850" y="1235075"/>
            <a:ext cx="1295400" cy="762000"/>
          </a:xfrm>
          <a:prstGeom prst="ellipse">
            <a:avLst/>
          </a:prstGeom>
          <a:solidFill>
            <a:srgbClr val="FFE88A"/>
          </a:solidFill>
          <a:ln w="12700">
            <a:noFill/>
          </a:ln>
        </p:spPr>
        <p:txBody>
          <a:bodyPr wrap="none" lIns="92075" tIns="46038" rIns="92075" bIns="46038" anchor="ctr" anchorCtr="0"/>
          <a:lstStyle/>
          <a:p>
            <a:pPr algn="ctr" defTabSz="822325" eaLnBrk="0" hangingPunct="0">
              <a:spcBef>
                <a:spcPct val="50000"/>
              </a:spcBef>
            </a:pPr>
            <a:r>
              <a:rPr lang="en-US" altLang="zh-CN" b="1">
                <a:solidFill>
                  <a:schemeClr val="bg2"/>
                </a:solidFill>
                <a:latin typeface="Arial" panose="020B0604020202020204" pitchFamily="34" charset="0"/>
                <a:ea typeface="宋体" panose="02010600030101010101" pitchFamily="2" charset="-122"/>
              </a:rPr>
              <a:t>User</a:t>
            </a:r>
            <a:br>
              <a:rPr lang="en-US" altLang="zh-CN" b="1">
                <a:solidFill>
                  <a:schemeClr val="bg2"/>
                </a:solidFill>
                <a:latin typeface="Arial" panose="020B0604020202020204" pitchFamily="34" charset="0"/>
                <a:ea typeface="宋体" panose="02010600030101010101" pitchFamily="2" charset="-122"/>
              </a:rPr>
            </a:br>
            <a:r>
              <a:rPr lang="en-US" altLang="zh-CN" b="1">
                <a:solidFill>
                  <a:schemeClr val="bg2"/>
                </a:solidFill>
                <a:latin typeface="Arial" panose="020B0604020202020204" pitchFamily="34" charset="0"/>
                <a:ea typeface="宋体" panose="02010600030101010101" pitchFamily="2" charset="-122"/>
              </a:rPr>
              <a:t>process</a:t>
            </a:r>
            <a:endParaRPr lang="en-US" altLang="zh-CN" b="1">
              <a:solidFill>
                <a:schemeClr val="bg2"/>
              </a:solidFill>
              <a:latin typeface="Arial" panose="020B0604020202020204" pitchFamily="34" charset="0"/>
              <a:ea typeface="宋体" panose="02010600030101010101" pitchFamily="2" charset="-122"/>
            </a:endParaRPr>
          </a:p>
        </p:txBody>
      </p:sp>
      <p:sp>
        <p:nvSpPr>
          <p:cNvPr id="56340" name="椭圆 9446"/>
          <p:cNvSpPr/>
          <p:nvPr/>
        </p:nvSpPr>
        <p:spPr>
          <a:xfrm>
            <a:off x="1217613" y="2446338"/>
            <a:ext cx="1295400" cy="762000"/>
          </a:xfrm>
          <a:prstGeom prst="ellipse">
            <a:avLst/>
          </a:prstGeom>
          <a:solidFill>
            <a:srgbClr val="FF9BCE"/>
          </a:solidFill>
          <a:ln w="12700" cap="flat" cmpd="sng">
            <a:solidFill>
              <a:schemeClr val="bg2"/>
            </a:solidFill>
            <a:prstDash val="solid"/>
            <a:round/>
            <a:headEnd type="none" w="med" len="med"/>
            <a:tailEnd type="none" w="med" len="med"/>
          </a:ln>
        </p:spPr>
        <p:txBody>
          <a:bodyPr wrap="none" lIns="92075" tIns="46038" rIns="92075" bIns="46038" anchor="ctr" anchorCtr="0"/>
          <a:lstStyle/>
          <a:p>
            <a:pPr algn="ctr" defTabSz="822325" eaLnBrk="0" hangingPunct="0"/>
            <a:r>
              <a:rPr lang="en-US" altLang="zh-CN" b="1">
                <a:solidFill>
                  <a:schemeClr val="bg2"/>
                </a:solidFill>
                <a:latin typeface="Arial" panose="020B0604020202020204" pitchFamily="34" charset="0"/>
                <a:ea typeface="宋体" panose="02010600030101010101" pitchFamily="2" charset="-122"/>
              </a:rPr>
              <a:t>Server</a:t>
            </a:r>
            <a:br>
              <a:rPr lang="en-US" altLang="zh-CN" b="1">
                <a:solidFill>
                  <a:schemeClr val="bg2"/>
                </a:solidFill>
                <a:latin typeface="Arial" panose="020B0604020202020204" pitchFamily="34" charset="0"/>
                <a:ea typeface="宋体" panose="02010600030101010101" pitchFamily="2" charset="-122"/>
              </a:rPr>
            </a:br>
            <a:r>
              <a:rPr lang="en-US" altLang="zh-CN" b="1">
                <a:solidFill>
                  <a:schemeClr val="bg2"/>
                </a:solidFill>
                <a:latin typeface="Arial" panose="020B0604020202020204" pitchFamily="34" charset="0"/>
                <a:ea typeface="宋体" panose="02010600030101010101" pitchFamily="2" charset="-122"/>
              </a:rPr>
              <a:t>process</a:t>
            </a:r>
            <a:endParaRPr lang="en-US" altLang="zh-CN" b="1">
              <a:solidFill>
                <a:schemeClr val="bg2"/>
              </a:solidFill>
              <a:latin typeface="Arial" panose="020B0604020202020204" pitchFamily="34" charset="0"/>
              <a:ea typeface="宋体" panose="02010600030101010101" pitchFamily="2" charset="-122"/>
            </a:endParaRPr>
          </a:p>
        </p:txBody>
      </p:sp>
      <p:sp>
        <p:nvSpPr>
          <p:cNvPr id="56341" name="矩形 9447"/>
          <p:cNvSpPr/>
          <p:nvPr/>
        </p:nvSpPr>
        <p:spPr>
          <a:xfrm>
            <a:off x="2044700" y="3084513"/>
            <a:ext cx="592138" cy="311150"/>
          </a:xfrm>
          <a:prstGeom prst="rect">
            <a:avLst/>
          </a:prstGeom>
          <a:solidFill>
            <a:srgbClr val="95CAFF"/>
          </a:solidFill>
          <a:ln w="25400">
            <a:noFill/>
          </a:ln>
        </p:spPr>
        <p:txBody>
          <a:bodyPr wrap="none" lIns="92075" tIns="46038" rIns="92075" bIns="46038" anchor="ctr" anchorCtr="0"/>
          <a:lstStyle/>
          <a:p>
            <a:pPr algn="ctr" defTabSz="822325" eaLnBrk="0" hangingPunct="0">
              <a:spcBef>
                <a:spcPct val="50000"/>
              </a:spcBef>
            </a:pPr>
            <a:r>
              <a:rPr lang="en-US" altLang="zh-CN" sz="1800" b="1">
                <a:solidFill>
                  <a:schemeClr val="bg2"/>
                </a:solidFill>
                <a:latin typeface="Arial" panose="020B0604020202020204" pitchFamily="34" charset="0"/>
                <a:ea typeface="宋体" panose="02010600030101010101" pitchFamily="2" charset="-122"/>
              </a:rPr>
              <a:t>PGA</a:t>
            </a:r>
            <a:endParaRPr lang="en-US" altLang="zh-CN" sz="1800" b="1">
              <a:solidFill>
                <a:schemeClr val="bg2"/>
              </a:solidFill>
              <a:latin typeface="Arial" panose="020B0604020202020204" pitchFamily="34" charset="0"/>
              <a:ea typeface="宋体" panose="02010600030101010101" pitchFamily="2" charset="-122"/>
            </a:endParaRPr>
          </a:p>
        </p:txBody>
      </p:sp>
      <p:grpSp>
        <p:nvGrpSpPr>
          <p:cNvPr id="56342" name="组合 9606"/>
          <p:cNvGrpSpPr/>
          <p:nvPr/>
        </p:nvGrpSpPr>
        <p:grpSpPr>
          <a:xfrm>
            <a:off x="6943725" y="4338638"/>
            <a:ext cx="1252538" cy="885825"/>
            <a:chOff x="1069" y="1183"/>
            <a:chExt cx="532" cy="412"/>
          </a:xfrm>
        </p:grpSpPr>
        <p:sp>
          <p:nvSpPr>
            <p:cNvPr id="56343" name="矩形 9607"/>
            <p:cNvSpPr/>
            <p:nvPr/>
          </p:nvSpPr>
          <p:spPr>
            <a:xfrm>
              <a:off x="1069" y="1267"/>
              <a:ext cx="532" cy="246"/>
            </a:xfrm>
            <a:prstGeom prst="rect">
              <a:avLst/>
            </a:prstGeom>
            <a:solidFill>
              <a:srgbClr val="3366FF"/>
            </a:solidFill>
            <a:ln w="9525">
              <a:noFill/>
            </a:ln>
          </p:spPr>
          <p:txBody>
            <a:bodyPr anchor="t" anchorCtr="0"/>
            <a:lstStyle/>
            <a:p>
              <a:pPr eaLnBrk="0" hangingPunct="0"/>
              <a:endParaRPr lang="zh-CN" altLang="en-US" sz="2400">
                <a:latin typeface="Helvetica" charset="0"/>
              </a:endParaRPr>
            </a:p>
          </p:txBody>
        </p:sp>
        <p:sp>
          <p:nvSpPr>
            <p:cNvPr id="56344" name="椭圆 9608"/>
            <p:cNvSpPr/>
            <p:nvPr/>
          </p:nvSpPr>
          <p:spPr>
            <a:xfrm>
              <a:off x="1069" y="1183"/>
              <a:ext cx="532" cy="158"/>
            </a:xfrm>
            <a:prstGeom prst="ellipse">
              <a:avLst/>
            </a:prstGeom>
            <a:solidFill>
              <a:srgbClr val="6699FF"/>
            </a:solidFill>
            <a:ln w="9525">
              <a:noFill/>
            </a:ln>
          </p:spPr>
          <p:txBody>
            <a:bodyPr anchor="t" anchorCtr="0"/>
            <a:lstStyle/>
            <a:p>
              <a:pPr eaLnBrk="0" hangingPunct="0"/>
              <a:endParaRPr lang="zh-CN" altLang="en-US" sz="2400">
                <a:latin typeface="Helvetica" charset="0"/>
              </a:endParaRPr>
            </a:p>
          </p:txBody>
        </p:sp>
        <p:sp>
          <p:nvSpPr>
            <p:cNvPr id="56345" name="椭圆 9609"/>
            <p:cNvSpPr/>
            <p:nvPr/>
          </p:nvSpPr>
          <p:spPr>
            <a:xfrm>
              <a:off x="1069" y="1437"/>
              <a:ext cx="532" cy="158"/>
            </a:xfrm>
            <a:prstGeom prst="ellipse">
              <a:avLst/>
            </a:prstGeom>
            <a:solidFill>
              <a:srgbClr val="3366FF"/>
            </a:solidFill>
            <a:ln w="9525">
              <a:noFill/>
            </a:ln>
          </p:spPr>
          <p:txBody>
            <a:bodyPr anchor="t" anchorCtr="0"/>
            <a:lstStyle/>
            <a:p>
              <a:pPr eaLnBrk="0" hangingPunct="0"/>
              <a:endParaRPr lang="zh-CN" altLang="en-US" sz="2400">
                <a:latin typeface="Helvetica" charset="0"/>
              </a:endParaRPr>
            </a:p>
          </p:txBody>
        </p:sp>
      </p:grpSp>
      <p:grpSp>
        <p:nvGrpSpPr>
          <p:cNvPr id="56346" name="组合 9610"/>
          <p:cNvGrpSpPr/>
          <p:nvPr/>
        </p:nvGrpSpPr>
        <p:grpSpPr>
          <a:xfrm>
            <a:off x="2571750" y="4338638"/>
            <a:ext cx="1254125" cy="1619250"/>
            <a:chOff x="1426" y="2774"/>
            <a:chExt cx="790" cy="1020"/>
          </a:xfrm>
        </p:grpSpPr>
        <p:grpSp>
          <p:nvGrpSpPr>
            <p:cNvPr id="56347" name="组合 9602"/>
            <p:cNvGrpSpPr/>
            <p:nvPr/>
          </p:nvGrpSpPr>
          <p:grpSpPr>
            <a:xfrm>
              <a:off x="1427" y="3236"/>
              <a:ext cx="789" cy="558"/>
              <a:chOff x="1069" y="1183"/>
              <a:chExt cx="532" cy="412"/>
            </a:xfrm>
          </p:grpSpPr>
          <p:sp>
            <p:nvSpPr>
              <p:cNvPr id="56348" name="矩形 9603"/>
              <p:cNvSpPr/>
              <p:nvPr/>
            </p:nvSpPr>
            <p:spPr>
              <a:xfrm>
                <a:off x="1069" y="1267"/>
                <a:ext cx="532" cy="246"/>
              </a:xfrm>
              <a:prstGeom prst="rect">
                <a:avLst/>
              </a:prstGeom>
              <a:solidFill>
                <a:srgbClr val="3366FF"/>
              </a:solidFill>
              <a:ln w="9525">
                <a:noFill/>
              </a:ln>
            </p:spPr>
            <p:txBody>
              <a:bodyPr anchor="t" anchorCtr="0"/>
              <a:lstStyle/>
              <a:p>
                <a:pPr eaLnBrk="0" hangingPunct="0"/>
                <a:endParaRPr lang="zh-CN" altLang="en-US" sz="2400">
                  <a:latin typeface="Helvetica" charset="0"/>
                </a:endParaRPr>
              </a:p>
            </p:txBody>
          </p:sp>
          <p:sp>
            <p:nvSpPr>
              <p:cNvPr id="56349" name="椭圆 9604"/>
              <p:cNvSpPr/>
              <p:nvPr/>
            </p:nvSpPr>
            <p:spPr>
              <a:xfrm>
                <a:off x="1069" y="1183"/>
                <a:ext cx="532" cy="158"/>
              </a:xfrm>
              <a:prstGeom prst="ellipse">
                <a:avLst/>
              </a:prstGeom>
              <a:solidFill>
                <a:srgbClr val="6699FF"/>
              </a:solidFill>
              <a:ln w="9525">
                <a:noFill/>
              </a:ln>
            </p:spPr>
            <p:txBody>
              <a:bodyPr anchor="t" anchorCtr="0"/>
              <a:lstStyle/>
              <a:p>
                <a:pPr eaLnBrk="0" hangingPunct="0"/>
                <a:endParaRPr lang="zh-CN" altLang="en-US" sz="2400">
                  <a:latin typeface="Helvetica" charset="0"/>
                </a:endParaRPr>
              </a:p>
            </p:txBody>
          </p:sp>
          <p:sp>
            <p:nvSpPr>
              <p:cNvPr id="56350" name="椭圆 9605"/>
              <p:cNvSpPr/>
              <p:nvPr/>
            </p:nvSpPr>
            <p:spPr>
              <a:xfrm>
                <a:off x="1069" y="1437"/>
                <a:ext cx="532" cy="158"/>
              </a:xfrm>
              <a:prstGeom prst="ellipse">
                <a:avLst/>
              </a:prstGeom>
              <a:solidFill>
                <a:srgbClr val="3366FF"/>
              </a:solidFill>
              <a:ln w="9525">
                <a:noFill/>
              </a:ln>
            </p:spPr>
            <p:txBody>
              <a:bodyPr anchor="t" anchorCtr="0"/>
              <a:lstStyle/>
              <a:p>
                <a:pPr eaLnBrk="0" hangingPunct="0"/>
                <a:endParaRPr lang="zh-CN" altLang="en-US" sz="2400">
                  <a:latin typeface="Helvetica" charset="0"/>
                </a:endParaRPr>
              </a:p>
            </p:txBody>
          </p:sp>
        </p:grpSp>
        <p:grpSp>
          <p:nvGrpSpPr>
            <p:cNvPr id="56351" name="组合 9598"/>
            <p:cNvGrpSpPr/>
            <p:nvPr/>
          </p:nvGrpSpPr>
          <p:grpSpPr>
            <a:xfrm>
              <a:off x="1426" y="2774"/>
              <a:ext cx="789" cy="558"/>
              <a:chOff x="1069" y="1183"/>
              <a:chExt cx="532" cy="412"/>
            </a:xfrm>
          </p:grpSpPr>
          <p:sp>
            <p:nvSpPr>
              <p:cNvPr id="56352" name="矩形 9599"/>
              <p:cNvSpPr/>
              <p:nvPr/>
            </p:nvSpPr>
            <p:spPr>
              <a:xfrm>
                <a:off x="1069" y="1267"/>
                <a:ext cx="532" cy="246"/>
              </a:xfrm>
              <a:prstGeom prst="rect">
                <a:avLst/>
              </a:prstGeom>
              <a:solidFill>
                <a:srgbClr val="3366FF"/>
              </a:solidFill>
              <a:ln w="9525">
                <a:noFill/>
              </a:ln>
            </p:spPr>
            <p:txBody>
              <a:bodyPr anchor="t" anchorCtr="0"/>
              <a:lstStyle/>
              <a:p>
                <a:pPr eaLnBrk="0" hangingPunct="0"/>
                <a:endParaRPr lang="zh-CN" altLang="en-US" sz="2400">
                  <a:latin typeface="Helvetica" charset="0"/>
                </a:endParaRPr>
              </a:p>
            </p:txBody>
          </p:sp>
          <p:sp>
            <p:nvSpPr>
              <p:cNvPr id="56353" name="椭圆 9600"/>
              <p:cNvSpPr/>
              <p:nvPr/>
            </p:nvSpPr>
            <p:spPr>
              <a:xfrm>
                <a:off x="1069" y="1183"/>
                <a:ext cx="532" cy="158"/>
              </a:xfrm>
              <a:prstGeom prst="ellipse">
                <a:avLst/>
              </a:prstGeom>
              <a:solidFill>
                <a:srgbClr val="6699FF"/>
              </a:solidFill>
              <a:ln w="9525">
                <a:noFill/>
              </a:ln>
            </p:spPr>
            <p:txBody>
              <a:bodyPr anchor="t" anchorCtr="0"/>
              <a:lstStyle/>
              <a:p>
                <a:pPr eaLnBrk="0" hangingPunct="0"/>
                <a:endParaRPr lang="zh-CN" altLang="en-US" sz="2400">
                  <a:latin typeface="Helvetica" charset="0"/>
                </a:endParaRPr>
              </a:p>
            </p:txBody>
          </p:sp>
          <p:sp>
            <p:nvSpPr>
              <p:cNvPr id="56354" name="椭圆 9601"/>
              <p:cNvSpPr/>
              <p:nvPr/>
            </p:nvSpPr>
            <p:spPr>
              <a:xfrm>
                <a:off x="1069" y="1437"/>
                <a:ext cx="532" cy="158"/>
              </a:xfrm>
              <a:prstGeom prst="ellipse">
                <a:avLst/>
              </a:prstGeom>
              <a:solidFill>
                <a:srgbClr val="3366FF"/>
              </a:solidFill>
              <a:ln w="9525">
                <a:noFill/>
              </a:ln>
            </p:spPr>
            <p:txBody>
              <a:bodyPr anchor="t" anchorCtr="0"/>
              <a:lstStyle/>
              <a:p>
                <a:pPr eaLnBrk="0" hangingPunct="0"/>
                <a:endParaRPr lang="zh-CN" altLang="en-US" sz="2400">
                  <a:latin typeface="Helvetica" charset="0"/>
                </a:endParaRPr>
              </a:p>
            </p:txBody>
          </p:sp>
        </p:grpSp>
      </p:grpSp>
      <p:sp>
        <p:nvSpPr>
          <p:cNvPr id="56355" name="矩形 9426"/>
          <p:cNvSpPr/>
          <p:nvPr/>
        </p:nvSpPr>
        <p:spPr>
          <a:xfrm>
            <a:off x="3905250" y="4276725"/>
            <a:ext cx="2959100" cy="1839913"/>
          </a:xfrm>
          <a:prstGeom prst="rect">
            <a:avLst/>
          </a:prstGeom>
          <a:solidFill>
            <a:srgbClr val="FFE88A"/>
          </a:solidFill>
          <a:ln w="12700">
            <a:noFill/>
          </a:ln>
        </p:spPr>
        <p:txBody>
          <a:bodyPr wrap="none" lIns="92075" tIns="46038" rIns="92075" bIns="46038" anchor="ctr" anchorCtr="0"/>
          <a:lstStyle/>
          <a:p>
            <a:pPr algn="ctr" defTabSz="822325" eaLnBrk="0" hangingPunct="0">
              <a:spcBef>
                <a:spcPct val="50000"/>
              </a:spcBef>
            </a:pPr>
            <a:endParaRPr lang="zh-CN" altLang="en-US" b="1" dirty="0">
              <a:solidFill>
                <a:schemeClr val="bg2"/>
              </a:solidFill>
              <a:latin typeface="Arial" panose="020B0604020202020204" pitchFamily="34" charset="0"/>
              <a:ea typeface="宋体" panose="02010600030101010101" pitchFamily="2" charset="-122"/>
            </a:endParaRPr>
          </a:p>
        </p:txBody>
      </p:sp>
      <p:grpSp>
        <p:nvGrpSpPr>
          <p:cNvPr id="56356" name="组合 9582"/>
          <p:cNvGrpSpPr/>
          <p:nvPr/>
        </p:nvGrpSpPr>
        <p:grpSpPr>
          <a:xfrm>
            <a:off x="4951413" y="4876800"/>
            <a:ext cx="844550" cy="654050"/>
            <a:chOff x="1070" y="1910"/>
            <a:chExt cx="532" cy="412"/>
          </a:xfrm>
        </p:grpSpPr>
        <p:sp>
          <p:nvSpPr>
            <p:cNvPr id="56357" name="矩形 9583"/>
            <p:cNvSpPr/>
            <p:nvPr/>
          </p:nvSpPr>
          <p:spPr>
            <a:xfrm>
              <a:off x="1070" y="1994"/>
              <a:ext cx="532" cy="246"/>
            </a:xfrm>
            <a:prstGeom prst="rect">
              <a:avLst/>
            </a:prstGeom>
            <a:solidFill>
              <a:srgbClr val="969696"/>
            </a:solidFill>
            <a:ln w="9525">
              <a:noFill/>
            </a:ln>
          </p:spPr>
          <p:txBody>
            <a:bodyPr anchor="t" anchorCtr="0"/>
            <a:lstStyle/>
            <a:p>
              <a:pPr eaLnBrk="0" hangingPunct="0"/>
              <a:endParaRPr lang="zh-CN" altLang="en-US" sz="2400">
                <a:latin typeface="Helvetica" charset="0"/>
              </a:endParaRPr>
            </a:p>
          </p:txBody>
        </p:sp>
        <p:sp>
          <p:nvSpPr>
            <p:cNvPr id="56358" name="椭圆 9584"/>
            <p:cNvSpPr/>
            <p:nvPr/>
          </p:nvSpPr>
          <p:spPr>
            <a:xfrm>
              <a:off x="1070" y="1910"/>
              <a:ext cx="532" cy="158"/>
            </a:xfrm>
            <a:prstGeom prst="ellipse">
              <a:avLst/>
            </a:prstGeom>
            <a:solidFill>
              <a:schemeClr val="accent1"/>
            </a:solidFill>
            <a:ln w="9525">
              <a:noFill/>
            </a:ln>
          </p:spPr>
          <p:txBody>
            <a:bodyPr anchor="t" anchorCtr="0"/>
            <a:lstStyle/>
            <a:p>
              <a:pPr eaLnBrk="0" hangingPunct="0"/>
              <a:endParaRPr lang="zh-CN" altLang="en-US" sz="2400">
                <a:latin typeface="Helvetica" charset="0"/>
              </a:endParaRPr>
            </a:p>
          </p:txBody>
        </p:sp>
        <p:sp>
          <p:nvSpPr>
            <p:cNvPr id="56359" name="椭圆 9585"/>
            <p:cNvSpPr/>
            <p:nvPr/>
          </p:nvSpPr>
          <p:spPr>
            <a:xfrm>
              <a:off x="1070" y="2164"/>
              <a:ext cx="532" cy="158"/>
            </a:xfrm>
            <a:prstGeom prst="ellipse">
              <a:avLst/>
            </a:prstGeom>
            <a:solidFill>
              <a:srgbClr val="969696"/>
            </a:solidFill>
            <a:ln w="9525">
              <a:noFill/>
            </a:ln>
          </p:spPr>
          <p:txBody>
            <a:bodyPr anchor="t" anchorCtr="0"/>
            <a:lstStyle/>
            <a:p>
              <a:pPr eaLnBrk="0" hangingPunct="0"/>
              <a:endParaRPr lang="zh-CN" altLang="en-US" sz="2400">
                <a:latin typeface="Helvetica" charset="0"/>
              </a:endParaRPr>
            </a:p>
          </p:txBody>
        </p:sp>
      </p:grpSp>
      <p:grpSp>
        <p:nvGrpSpPr>
          <p:cNvPr id="56360" name="组合 9586"/>
          <p:cNvGrpSpPr/>
          <p:nvPr/>
        </p:nvGrpSpPr>
        <p:grpSpPr>
          <a:xfrm>
            <a:off x="4959350" y="4324350"/>
            <a:ext cx="844550" cy="654050"/>
            <a:chOff x="1070" y="1910"/>
            <a:chExt cx="532" cy="412"/>
          </a:xfrm>
        </p:grpSpPr>
        <p:sp>
          <p:nvSpPr>
            <p:cNvPr id="56361" name="矩形 9587"/>
            <p:cNvSpPr/>
            <p:nvPr/>
          </p:nvSpPr>
          <p:spPr>
            <a:xfrm>
              <a:off x="1070" y="1994"/>
              <a:ext cx="532" cy="246"/>
            </a:xfrm>
            <a:prstGeom prst="rect">
              <a:avLst/>
            </a:prstGeom>
            <a:solidFill>
              <a:srgbClr val="969696"/>
            </a:solidFill>
            <a:ln w="9525">
              <a:noFill/>
            </a:ln>
          </p:spPr>
          <p:txBody>
            <a:bodyPr anchor="t" anchorCtr="0"/>
            <a:lstStyle/>
            <a:p>
              <a:pPr eaLnBrk="0" hangingPunct="0"/>
              <a:endParaRPr lang="zh-CN" altLang="en-US" sz="2400">
                <a:latin typeface="Helvetica" charset="0"/>
              </a:endParaRPr>
            </a:p>
          </p:txBody>
        </p:sp>
        <p:sp>
          <p:nvSpPr>
            <p:cNvPr id="56362" name="椭圆 9588"/>
            <p:cNvSpPr/>
            <p:nvPr/>
          </p:nvSpPr>
          <p:spPr>
            <a:xfrm>
              <a:off x="1070" y="1910"/>
              <a:ext cx="532" cy="158"/>
            </a:xfrm>
            <a:prstGeom prst="ellipse">
              <a:avLst/>
            </a:prstGeom>
            <a:solidFill>
              <a:schemeClr val="accent1"/>
            </a:solidFill>
            <a:ln w="9525">
              <a:noFill/>
            </a:ln>
          </p:spPr>
          <p:txBody>
            <a:bodyPr anchor="t" anchorCtr="0"/>
            <a:lstStyle/>
            <a:p>
              <a:pPr eaLnBrk="0" hangingPunct="0"/>
              <a:endParaRPr lang="zh-CN" altLang="en-US" sz="2400">
                <a:latin typeface="Helvetica" charset="0"/>
              </a:endParaRPr>
            </a:p>
          </p:txBody>
        </p:sp>
        <p:sp>
          <p:nvSpPr>
            <p:cNvPr id="56363" name="椭圆 9589"/>
            <p:cNvSpPr/>
            <p:nvPr/>
          </p:nvSpPr>
          <p:spPr>
            <a:xfrm>
              <a:off x="1070" y="2164"/>
              <a:ext cx="532" cy="158"/>
            </a:xfrm>
            <a:prstGeom prst="ellipse">
              <a:avLst/>
            </a:prstGeom>
            <a:solidFill>
              <a:srgbClr val="969696"/>
            </a:solidFill>
            <a:ln w="9525">
              <a:noFill/>
            </a:ln>
          </p:spPr>
          <p:txBody>
            <a:bodyPr anchor="t" anchorCtr="0"/>
            <a:lstStyle/>
            <a:p>
              <a:pPr eaLnBrk="0" hangingPunct="0"/>
              <a:endParaRPr lang="zh-CN" altLang="en-US" sz="2400">
                <a:latin typeface="Helvetica" charset="0"/>
              </a:endParaRPr>
            </a:p>
          </p:txBody>
        </p:sp>
      </p:grpSp>
      <p:grpSp>
        <p:nvGrpSpPr>
          <p:cNvPr id="56364" name="组合 9578"/>
          <p:cNvGrpSpPr/>
          <p:nvPr/>
        </p:nvGrpSpPr>
        <p:grpSpPr>
          <a:xfrm>
            <a:off x="4030663" y="5403850"/>
            <a:ext cx="844550" cy="654050"/>
            <a:chOff x="1070" y="1910"/>
            <a:chExt cx="532" cy="412"/>
          </a:xfrm>
        </p:grpSpPr>
        <p:sp>
          <p:nvSpPr>
            <p:cNvPr id="56365" name="矩形 9579"/>
            <p:cNvSpPr/>
            <p:nvPr/>
          </p:nvSpPr>
          <p:spPr>
            <a:xfrm>
              <a:off x="1070" y="1994"/>
              <a:ext cx="532" cy="246"/>
            </a:xfrm>
            <a:prstGeom prst="rect">
              <a:avLst/>
            </a:prstGeom>
            <a:solidFill>
              <a:srgbClr val="969696"/>
            </a:solidFill>
            <a:ln w="9525">
              <a:noFill/>
            </a:ln>
          </p:spPr>
          <p:txBody>
            <a:bodyPr anchor="t" anchorCtr="0"/>
            <a:lstStyle/>
            <a:p>
              <a:pPr eaLnBrk="0" hangingPunct="0"/>
              <a:endParaRPr lang="zh-CN" altLang="en-US" sz="2400">
                <a:latin typeface="Helvetica" charset="0"/>
              </a:endParaRPr>
            </a:p>
          </p:txBody>
        </p:sp>
        <p:sp>
          <p:nvSpPr>
            <p:cNvPr id="56366" name="椭圆 9580"/>
            <p:cNvSpPr/>
            <p:nvPr/>
          </p:nvSpPr>
          <p:spPr>
            <a:xfrm>
              <a:off x="1070" y="1910"/>
              <a:ext cx="532" cy="158"/>
            </a:xfrm>
            <a:prstGeom prst="ellipse">
              <a:avLst/>
            </a:prstGeom>
            <a:solidFill>
              <a:schemeClr val="accent1"/>
            </a:solidFill>
            <a:ln w="9525">
              <a:noFill/>
            </a:ln>
          </p:spPr>
          <p:txBody>
            <a:bodyPr anchor="t" anchorCtr="0"/>
            <a:lstStyle/>
            <a:p>
              <a:pPr eaLnBrk="0" hangingPunct="0"/>
              <a:endParaRPr lang="zh-CN" altLang="en-US" sz="2400">
                <a:latin typeface="Helvetica" charset="0"/>
              </a:endParaRPr>
            </a:p>
          </p:txBody>
        </p:sp>
        <p:sp>
          <p:nvSpPr>
            <p:cNvPr id="56367" name="椭圆 9581"/>
            <p:cNvSpPr/>
            <p:nvPr/>
          </p:nvSpPr>
          <p:spPr>
            <a:xfrm>
              <a:off x="1070" y="2164"/>
              <a:ext cx="532" cy="158"/>
            </a:xfrm>
            <a:prstGeom prst="ellipse">
              <a:avLst/>
            </a:prstGeom>
            <a:solidFill>
              <a:srgbClr val="969696"/>
            </a:solidFill>
            <a:ln w="9525">
              <a:noFill/>
            </a:ln>
          </p:spPr>
          <p:txBody>
            <a:bodyPr anchor="t" anchorCtr="0"/>
            <a:lstStyle/>
            <a:p>
              <a:pPr eaLnBrk="0" hangingPunct="0"/>
              <a:endParaRPr lang="zh-CN" altLang="en-US" sz="2400">
                <a:latin typeface="Helvetica" charset="0"/>
              </a:endParaRPr>
            </a:p>
          </p:txBody>
        </p:sp>
      </p:grpSp>
      <p:grpSp>
        <p:nvGrpSpPr>
          <p:cNvPr id="56368" name="组合 9574"/>
          <p:cNvGrpSpPr/>
          <p:nvPr/>
        </p:nvGrpSpPr>
        <p:grpSpPr>
          <a:xfrm>
            <a:off x="4030663" y="4868863"/>
            <a:ext cx="844550" cy="654050"/>
            <a:chOff x="1070" y="1910"/>
            <a:chExt cx="532" cy="412"/>
          </a:xfrm>
        </p:grpSpPr>
        <p:sp>
          <p:nvSpPr>
            <p:cNvPr id="56369" name="矩形 9575"/>
            <p:cNvSpPr/>
            <p:nvPr/>
          </p:nvSpPr>
          <p:spPr>
            <a:xfrm>
              <a:off x="1070" y="1994"/>
              <a:ext cx="532" cy="246"/>
            </a:xfrm>
            <a:prstGeom prst="rect">
              <a:avLst/>
            </a:prstGeom>
            <a:solidFill>
              <a:srgbClr val="969696"/>
            </a:solidFill>
            <a:ln w="9525">
              <a:noFill/>
            </a:ln>
          </p:spPr>
          <p:txBody>
            <a:bodyPr anchor="t" anchorCtr="0"/>
            <a:lstStyle/>
            <a:p>
              <a:pPr eaLnBrk="0" hangingPunct="0"/>
              <a:endParaRPr lang="zh-CN" altLang="en-US" sz="2400">
                <a:latin typeface="Helvetica" charset="0"/>
              </a:endParaRPr>
            </a:p>
          </p:txBody>
        </p:sp>
        <p:sp>
          <p:nvSpPr>
            <p:cNvPr id="56370" name="椭圆 9576"/>
            <p:cNvSpPr/>
            <p:nvPr/>
          </p:nvSpPr>
          <p:spPr>
            <a:xfrm>
              <a:off x="1070" y="1910"/>
              <a:ext cx="532" cy="158"/>
            </a:xfrm>
            <a:prstGeom prst="ellipse">
              <a:avLst/>
            </a:prstGeom>
            <a:solidFill>
              <a:schemeClr val="accent1"/>
            </a:solidFill>
            <a:ln w="9525">
              <a:noFill/>
            </a:ln>
          </p:spPr>
          <p:txBody>
            <a:bodyPr anchor="t" anchorCtr="0"/>
            <a:lstStyle/>
            <a:p>
              <a:pPr eaLnBrk="0" hangingPunct="0"/>
              <a:endParaRPr lang="zh-CN" altLang="en-US" sz="2400">
                <a:latin typeface="Helvetica" charset="0"/>
              </a:endParaRPr>
            </a:p>
          </p:txBody>
        </p:sp>
        <p:sp>
          <p:nvSpPr>
            <p:cNvPr id="56371" name="椭圆 9577"/>
            <p:cNvSpPr/>
            <p:nvPr/>
          </p:nvSpPr>
          <p:spPr>
            <a:xfrm>
              <a:off x="1070" y="2164"/>
              <a:ext cx="532" cy="158"/>
            </a:xfrm>
            <a:prstGeom prst="ellipse">
              <a:avLst/>
            </a:prstGeom>
            <a:solidFill>
              <a:srgbClr val="969696"/>
            </a:solidFill>
            <a:ln w="9525">
              <a:noFill/>
            </a:ln>
          </p:spPr>
          <p:txBody>
            <a:bodyPr anchor="t" anchorCtr="0"/>
            <a:lstStyle/>
            <a:p>
              <a:pPr eaLnBrk="0" hangingPunct="0"/>
              <a:endParaRPr lang="zh-CN" altLang="en-US" sz="2400">
                <a:latin typeface="Helvetica" charset="0"/>
              </a:endParaRPr>
            </a:p>
          </p:txBody>
        </p:sp>
      </p:grpSp>
      <p:grpSp>
        <p:nvGrpSpPr>
          <p:cNvPr id="56372" name="组合 9570"/>
          <p:cNvGrpSpPr/>
          <p:nvPr/>
        </p:nvGrpSpPr>
        <p:grpSpPr>
          <a:xfrm>
            <a:off x="4038600" y="4324350"/>
            <a:ext cx="844550" cy="654050"/>
            <a:chOff x="1070" y="1910"/>
            <a:chExt cx="532" cy="412"/>
          </a:xfrm>
        </p:grpSpPr>
        <p:sp>
          <p:nvSpPr>
            <p:cNvPr id="56373" name="矩形 9571"/>
            <p:cNvSpPr/>
            <p:nvPr/>
          </p:nvSpPr>
          <p:spPr>
            <a:xfrm>
              <a:off x="1070" y="1994"/>
              <a:ext cx="532" cy="246"/>
            </a:xfrm>
            <a:prstGeom prst="rect">
              <a:avLst/>
            </a:prstGeom>
            <a:solidFill>
              <a:srgbClr val="969696"/>
            </a:solidFill>
            <a:ln w="9525">
              <a:noFill/>
            </a:ln>
          </p:spPr>
          <p:txBody>
            <a:bodyPr anchor="t" anchorCtr="0"/>
            <a:lstStyle/>
            <a:p>
              <a:pPr eaLnBrk="0" hangingPunct="0"/>
              <a:endParaRPr lang="zh-CN" altLang="en-US" sz="2400">
                <a:latin typeface="Helvetica" charset="0"/>
              </a:endParaRPr>
            </a:p>
          </p:txBody>
        </p:sp>
        <p:sp>
          <p:nvSpPr>
            <p:cNvPr id="56374" name="椭圆 9572"/>
            <p:cNvSpPr/>
            <p:nvPr/>
          </p:nvSpPr>
          <p:spPr>
            <a:xfrm>
              <a:off x="1070" y="1910"/>
              <a:ext cx="532" cy="158"/>
            </a:xfrm>
            <a:prstGeom prst="ellipse">
              <a:avLst/>
            </a:prstGeom>
            <a:solidFill>
              <a:schemeClr val="accent1"/>
            </a:solidFill>
            <a:ln w="9525">
              <a:noFill/>
            </a:ln>
          </p:spPr>
          <p:txBody>
            <a:bodyPr anchor="t" anchorCtr="0"/>
            <a:lstStyle/>
            <a:p>
              <a:pPr eaLnBrk="0" hangingPunct="0"/>
              <a:endParaRPr lang="zh-CN" altLang="en-US" sz="2400">
                <a:latin typeface="Helvetica" charset="0"/>
              </a:endParaRPr>
            </a:p>
          </p:txBody>
        </p:sp>
        <p:sp>
          <p:nvSpPr>
            <p:cNvPr id="56375" name="椭圆 9573"/>
            <p:cNvSpPr/>
            <p:nvPr/>
          </p:nvSpPr>
          <p:spPr>
            <a:xfrm>
              <a:off x="1070" y="2164"/>
              <a:ext cx="532" cy="158"/>
            </a:xfrm>
            <a:prstGeom prst="ellipse">
              <a:avLst/>
            </a:prstGeom>
            <a:solidFill>
              <a:srgbClr val="969696"/>
            </a:solidFill>
            <a:ln w="9525">
              <a:noFill/>
            </a:ln>
          </p:spPr>
          <p:txBody>
            <a:bodyPr anchor="t" anchorCtr="0"/>
            <a:lstStyle/>
            <a:p>
              <a:pPr eaLnBrk="0" hangingPunct="0"/>
              <a:endParaRPr lang="zh-CN" altLang="en-US" sz="2400">
                <a:latin typeface="Helvetica" charset="0"/>
              </a:endParaRPr>
            </a:p>
          </p:txBody>
        </p:sp>
      </p:grpSp>
      <p:sp>
        <p:nvSpPr>
          <p:cNvPr id="56376" name="矩形 9472"/>
          <p:cNvSpPr/>
          <p:nvPr/>
        </p:nvSpPr>
        <p:spPr>
          <a:xfrm>
            <a:off x="4914900" y="4581525"/>
            <a:ext cx="973138" cy="268288"/>
          </a:xfrm>
          <a:prstGeom prst="rect">
            <a:avLst/>
          </a:prstGeom>
          <a:noFill/>
          <a:ln w="9525">
            <a:noFill/>
          </a:ln>
        </p:spPr>
        <p:txBody>
          <a:bodyPr wrap="none" lIns="115888" tIns="57150" rIns="115888" bIns="57150" anchor="t" anchorCtr="0">
            <a:spAutoFit/>
          </a:bodyPr>
          <a:lstStyle/>
          <a:p>
            <a:pPr algn="ctr" defTabSz="1428750" eaLnBrk="0" hangingPunct="0">
              <a:buSzTx/>
            </a:pPr>
            <a:r>
              <a:rPr lang="en-US" altLang="zh-CN" sz="1000" b="1">
                <a:solidFill>
                  <a:srgbClr val="002060"/>
                </a:solidFill>
                <a:latin typeface="Arial" panose="020B0604020202020204" pitchFamily="34" charset="0"/>
                <a:ea typeface="宋体" panose="02010600030101010101" pitchFamily="2" charset="-122"/>
              </a:rPr>
              <a:t>Control files</a:t>
            </a:r>
            <a:endParaRPr lang="en-US" altLang="zh-CN" sz="1000" b="1">
              <a:solidFill>
                <a:srgbClr val="002060"/>
              </a:solidFill>
              <a:latin typeface="Arial" panose="020B0604020202020204" pitchFamily="34" charset="0"/>
              <a:ea typeface="宋体" panose="02010600030101010101" pitchFamily="2" charset="-122"/>
            </a:endParaRPr>
          </a:p>
        </p:txBody>
      </p:sp>
      <p:sp>
        <p:nvSpPr>
          <p:cNvPr id="56377" name="矩形 9473"/>
          <p:cNvSpPr/>
          <p:nvPr/>
        </p:nvSpPr>
        <p:spPr>
          <a:xfrm>
            <a:off x="4029075" y="4581525"/>
            <a:ext cx="831850" cy="268288"/>
          </a:xfrm>
          <a:prstGeom prst="rect">
            <a:avLst/>
          </a:prstGeom>
          <a:noFill/>
          <a:ln w="9525">
            <a:noFill/>
          </a:ln>
        </p:spPr>
        <p:txBody>
          <a:bodyPr wrap="none" lIns="115888" tIns="57150" rIns="115888" bIns="57150" anchor="t" anchorCtr="0">
            <a:spAutoFit/>
          </a:bodyPr>
          <a:lstStyle/>
          <a:p>
            <a:pPr algn="ctr" defTabSz="1428750" eaLnBrk="0" hangingPunct="0">
              <a:buSzTx/>
            </a:pPr>
            <a:r>
              <a:rPr lang="en-US" altLang="zh-CN" sz="1000" b="1">
                <a:solidFill>
                  <a:srgbClr val="002060"/>
                </a:solidFill>
                <a:latin typeface="Arial" panose="020B0604020202020204" pitchFamily="34" charset="0"/>
                <a:ea typeface="宋体" panose="02010600030101010101" pitchFamily="2" charset="-122"/>
              </a:rPr>
              <a:t>Data files </a:t>
            </a:r>
            <a:endParaRPr lang="en-US" altLang="zh-CN" sz="1000" b="1">
              <a:solidFill>
                <a:srgbClr val="002060"/>
              </a:solidFill>
              <a:latin typeface="Arial" panose="020B0604020202020204" pitchFamily="34" charset="0"/>
              <a:ea typeface="宋体" panose="02010600030101010101" pitchFamily="2" charset="-122"/>
            </a:endParaRPr>
          </a:p>
        </p:txBody>
      </p:sp>
      <p:sp>
        <p:nvSpPr>
          <p:cNvPr id="56378" name="矩形 9488"/>
          <p:cNvSpPr/>
          <p:nvPr/>
        </p:nvSpPr>
        <p:spPr>
          <a:xfrm>
            <a:off x="6991350" y="4632325"/>
            <a:ext cx="1157288" cy="606425"/>
          </a:xfrm>
          <a:prstGeom prst="rect">
            <a:avLst/>
          </a:prstGeom>
          <a:noFill/>
          <a:ln w="9525">
            <a:noFill/>
          </a:ln>
        </p:spPr>
        <p:txBody>
          <a:bodyPr wrap="none" lIns="115888" tIns="57150" rIns="115888" bIns="57150" anchor="t" anchorCtr="0">
            <a:spAutoFit/>
          </a:bodyPr>
          <a:lstStyle/>
          <a:p>
            <a:pPr algn="ctr" defTabSz="1428750" eaLnBrk="0" hangingPunct="0">
              <a:buSzTx/>
            </a:pPr>
            <a:r>
              <a:rPr lang="en-US" altLang="zh-CN" b="1">
                <a:solidFill>
                  <a:srgbClr val="002060"/>
                </a:solidFill>
                <a:latin typeface="Arial" panose="020B0604020202020204" pitchFamily="34" charset="0"/>
                <a:ea typeface="宋体" panose="02010600030101010101" pitchFamily="2" charset="-122"/>
              </a:rPr>
              <a:t>Archived </a:t>
            </a:r>
            <a:endParaRPr lang="en-US" altLang="zh-CN" b="1">
              <a:solidFill>
                <a:srgbClr val="002060"/>
              </a:solidFill>
              <a:latin typeface="Arial" panose="020B0604020202020204" pitchFamily="34" charset="0"/>
              <a:ea typeface="宋体" panose="02010600030101010101" pitchFamily="2" charset="-122"/>
            </a:endParaRPr>
          </a:p>
          <a:p>
            <a:pPr algn="ctr" defTabSz="1428750" eaLnBrk="0" hangingPunct="0">
              <a:buSzTx/>
            </a:pPr>
            <a:r>
              <a:rPr lang="en-US" altLang="zh-CN" b="1">
                <a:solidFill>
                  <a:srgbClr val="002060"/>
                </a:solidFill>
                <a:latin typeface="Arial" panose="020B0604020202020204" pitchFamily="34" charset="0"/>
                <a:ea typeface="宋体" panose="02010600030101010101" pitchFamily="2" charset="-122"/>
              </a:rPr>
              <a:t>log files</a:t>
            </a:r>
            <a:endParaRPr lang="en-US" altLang="zh-CN" b="1">
              <a:solidFill>
                <a:srgbClr val="002060"/>
              </a:solidFill>
              <a:latin typeface="Arial" panose="020B0604020202020204" pitchFamily="34" charset="0"/>
              <a:ea typeface="宋体" panose="02010600030101010101" pitchFamily="2" charset="-122"/>
            </a:endParaRPr>
          </a:p>
        </p:txBody>
      </p:sp>
      <p:sp>
        <p:nvSpPr>
          <p:cNvPr id="56379" name="矩形 9489"/>
          <p:cNvSpPr/>
          <p:nvPr/>
        </p:nvSpPr>
        <p:spPr>
          <a:xfrm>
            <a:off x="2605088" y="4632325"/>
            <a:ext cx="1225550" cy="603250"/>
          </a:xfrm>
          <a:prstGeom prst="rect">
            <a:avLst/>
          </a:prstGeom>
          <a:noFill/>
          <a:ln w="9525">
            <a:noFill/>
          </a:ln>
        </p:spPr>
        <p:txBody>
          <a:bodyPr wrap="none" lIns="115888" tIns="57150" rIns="115888" bIns="57150" anchor="t" anchorCtr="0">
            <a:spAutoFit/>
          </a:bodyPr>
          <a:lstStyle/>
          <a:p>
            <a:pPr algn="ctr" defTabSz="1428750" eaLnBrk="0" hangingPunct="0"/>
            <a:r>
              <a:rPr lang="en-US" altLang="zh-CN" b="1">
                <a:solidFill>
                  <a:srgbClr val="002060"/>
                </a:solidFill>
                <a:latin typeface="Arial" panose="020B0604020202020204" pitchFamily="34" charset="0"/>
                <a:ea typeface="宋体" panose="02010600030101010101" pitchFamily="2" charset="-122"/>
              </a:rPr>
              <a:t>Parameter</a:t>
            </a:r>
            <a:endParaRPr lang="en-US" altLang="zh-CN" b="1">
              <a:solidFill>
                <a:srgbClr val="002060"/>
              </a:solidFill>
              <a:latin typeface="Arial" panose="020B0604020202020204" pitchFamily="34" charset="0"/>
              <a:ea typeface="宋体" panose="02010600030101010101" pitchFamily="2" charset="-122"/>
            </a:endParaRPr>
          </a:p>
          <a:p>
            <a:pPr algn="ctr" defTabSz="1428750" eaLnBrk="0" hangingPunct="0"/>
            <a:r>
              <a:rPr lang="en-US" altLang="zh-CN" b="1">
                <a:solidFill>
                  <a:srgbClr val="002060"/>
                </a:solidFill>
                <a:latin typeface="Arial" panose="020B0604020202020204" pitchFamily="34" charset="0"/>
                <a:ea typeface="宋体" panose="02010600030101010101" pitchFamily="2" charset="-122"/>
              </a:rPr>
              <a:t>file</a:t>
            </a:r>
            <a:endParaRPr lang="en-US" altLang="zh-CN" b="1">
              <a:solidFill>
                <a:srgbClr val="002060"/>
              </a:solidFill>
              <a:latin typeface="Arial" panose="020B0604020202020204" pitchFamily="34" charset="0"/>
              <a:ea typeface="宋体" panose="02010600030101010101" pitchFamily="2" charset="-122"/>
            </a:endParaRPr>
          </a:p>
        </p:txBody>
      </p:sp>
      <p:sp>
        <p:nvSpPr>
          <p:cNvPr id="56380" name="矩形 9490"/>
          <p:cNvSpPr/>
          <p:nvPr/>
        </p:nvSpPr>
        <p:spPr>
          <a:xfrm>
            <a:off x="2595563" y="5389563"/>
            <a:ext cx="1190625" cy="606425"/>
          </a:xfrm>
          <a:prstGeom prst="rect">
            <a:avLst/>
          </a:prstGeom>
          <a:noFill/>
          <a:ln w="9525">
            <a:noFill/>
          </a:ln>
        </p:spPr>
        <p:txBody>
          <a:bodyPr wrap="none" lIns="115888" tIns="57150" rIns="115888" bIns="57150" anchor="t" anchorCtr="0">
            <a:spAutoFit/>
          </a:bodyPr>
          <a:lstStyle/>
          <a:p>
            <a:pPr algn="ctr" defTabSz="1428750" eaLnBrk="0" hangingPunct="0">
              <a:buSzTx/>
            </a:pPr>
            <a:r>
              <a:rPr lang="en-US" altLang="zh-CN" b="1">
                <a:solidFill>
                  <a:srgbClr val="002060"/>
                </a:solidFill>
                <a:latin typeface="Arial" panose="020B0604020202020204" pitchFamily="34" charset="0"/>
                <a:ea typeface="宋体" panose="02010600030101010101" pitchFamily="2" charset="-122"/>
              </a:rPr>
              <a:t>Password</a:t>
            </a:r>
            <a:endParaRPr lang="en-US" altLang="zh-CN" b="1">
              <a:solidFill>
                <a:srgbClr val="002060"/>
              </a:solidFill>
              <a:latin typeface="Arial" panose="020B0604020202020204" pitchFamily="34" charset="0"/>
              <a:ea typeface="宋体" panose="02010600030101010101" pitchFamily="2" charset="-122"/>
            </a:endParaRPr>
          </a:p>
          <a:p>
            <a:pPr algn="ctr" defTabSz="1428750" eaLnBrk="0" hangingPunct="0">
              <a:buSzTx/>
            </a:pPr>
            <a:r>
              <a:rPr lang="en-US" altLang="zh-CN" b="1">
                <a:solidFill>
                  <a:srgbClr val="002060"/>
                </a:solidFill>
                <a:latin typeface="Arial" panose="020B0604020202020204" pitchFamily="34" charset="0"/>
                <a:ea typeface="宋体" panose="02010600030101010101" pitchFamily="2" charset="-122"/>
              </a:rPr>
              <a:t>file</a:t>
            </a:r>
            <a:endParaRPr lang="en-US" altLang="zh-CN" b="1">
              <a:solidFill>
                <a:srgbClr val="002060"/>
              </a:solidFill>
              <a:latin typeface="Arial" panose="020B0604020202020204" pitchFamily="34" charset="0"/>
              <a:ea typeface="宋体" panose="02010600030101010101" pitchFamily="2" charset="-122"/>
            </a:endParaRPr>
          </a:p>
        </p:txBody>
      </p:sp>
      <p:grpSp>
        <p:nvGrpSpPr>
          <p:cNvPr id="56381" name="组合 9594"/>
          <p:cNvGrpSpPr/>
          <p:nvPr/>
        </p:nvGrpSpPr>
        <p:grpSpPr>
          <a:xfrm>
            <a:off x="5953125" y="4324350"/>
            <a:ext cx="844550" cy="654050"/>
            <a:chOff x="1070" y="1910"/>
            <a:chExt cx="532" cy="412"/>
          </a:xfrm>
        </p:grpSpPr>
        <p:sp>
          <p:nvSpPr>
            <p:cNvPr id="56382" name="矩形 9595"/>
            <p:cNvSpPr/>
            <p:nvPr/>
          </p:nvSpPr>
          <p:spPr>
            <a:xfrm>
              <a:off x="1070" y="1994"/>
              <a:ext cx="532" cy="246"/>
            </a:xfrm>
            <a:prstGeom prst="rect">
              <a:avLst/>
            </a:prstGeom>
            <a:solidFill>
              <a:srgbClr val="969696"/>
            </a:solidFill>
            <a:ln w="9525">
              <a:noFill/>
            </a:ln>
          </p:spPr>
          <p:txBody>
            <a:bodyPr anchor="t" anchorCtr="0"/>
            <a:lstStyle/>
            <a:p>
              <a:pPr eaLnBrk="0" hangingPunct="0"/>
              <a:endParaRPr lang="zh-CN" altLang="en-US" sz="2400">
                <a:latin typeface="Helvetica" charset="0"/>
              </a:endParaRPr>
            </a:p>
          </p:txBody>
        </p:sp>
        <p:sp>
          <p:nvSpPr>
            <p:cNvPr id="56383" name="椭圆 9596"/>
            <p:cNvSpPr/>
            <p:nvPr/>
          </p:nvSpPr>
          <p:spPr>
            <a:xfrm>
              <a:off x="1070" y="1910"/>
              <a:ext cx="532" cy="158"/>
            </a:xfrm>
            <a:prstGeom prst="ellipse">
              <a:avLst/>
            </a:prstGeom>
            <a:solidFill>
              <a:schemeClr val="accent1"/>
            </a:solidFill>
            <a:ln w="9525">
              <a:noFill/>
            </a:ln>
          </p:spPr>
          <p:txBody>
            <a:bodyPr anchor="t" anchorCtr="0"/>
            <a:lstStyle/>
            <a:p>
              <a:pPr eaLnBrk="0" hangingPunct="0"/>
              <a:endParaRPr lang="zh-CN" altLang="en-US" sz="2400">
                <a:latin typeface="Helvetica" charset="0"/>
              </a:endParaRPr>
            </a:p>
          </p:txBody>
        </p:sp>
        <p:sp>
          <p:nvSpPr>
            <p:cNvPr id="56384" name="椭圆 9597"/>
            <p:cNvSpPr/>
            <p:nvPr/>
          </p:nvSpPr>
          <p:spPr>
            <a:xfrm>
              <a:off x="1070" y="2164"/>
              <a:ext cx="532" cy="158"/>
            </a:xfrm>
            <a:prstGeom prst="ellipse">
              <a:avLst/>
            </a:prstGeom>
            <a:solidFill>
              <a:srgbClr val="969696"/>
            </a:solidFill>
            <a:ln w="9525">
              <a:noFill/>
            </a:ln>
          </p:spPr>
          <p:txBody>
            <a:bodyPr anchor="t" anchorCtr="0"/>
            <a:lstStyle/>
            <a:p>
              <a:pPr eaLnBrk="0" hangingPunct="0"/>
              <a:endParaRPr lang="zh-CN" altLang="en-US" sz="2400">
                <a:latin typeface="Helvetica" charset="0"/>
              </a:endParaRPr>
            </a:p>
          </p:txBody>
        </p:sp>
      </p:grpSp>
      <p:sp>
        <p:nvSpPr>
          <p:cNvPr id="56385" name="矩形 9474"/>
          <p:cNvSpPr/>
          <p:nvPr/>
        </p:nvSpPr>
        <p:spPr>
          <a:xfrm>
            <a:off x="5834063" y="4581525"/>
            <a:ext cx="1065212" cy="268288"/>
          </a:xfrm>
          <a:prstGeom prst="rect">
            <a:avLst/>
          </a:prstGeom>
          <a:noFill/>
          <a:ln w="9525">
            <a:noFill/>
          </a:ln>
        </p:spPr>
        <p:txBody>
          <a:bodyPr wrap="none" lIns="115888" tIns="57150" rIns="115888" bIns="57150" anchor="t" anchorCtr="0">
            <a:spAutoFit/>
          </a:bodyPr>
          <a:lstStyle/>
          <a:p>
            <a:pPr algn="ctr" defTabSz="1428750" eaLnBrk="0" hangingPunct="0">
              <a:buSzTx/>
            </a:pPr>
            <a:r>
              <a:rPr lang="en-US" altLang="zh-CN" sz="1000" b="1">
                <a:solidFill>
                  <a:srgbClr val="002060"/>
                </a:solidFill>
                <a:latin typeface="Arial" panose="020B0604020202020204" pitchFamily="34" charset="0"/>
                <a:ea typeface="宋体" panose="02010600030101010101" pitchFamily="2" charset="-122"/>
              </a:rPr>
              <a:t>Redo log files</a:t>
            </a:r>
            <a:endParaRPr lang="en-US" altLang="zh-CN" sz="1000" b="1">
              <a:solidFill>
                <a:srgbClr val="002060"/>
              </a:solidFill>
              <a:latin typeface="Arial" panose="020B0604020202020204" pitchFamily="34" charset="0"/>
              <a:ea typeface="宋体" panose="02010600030101010101" pitchFamily="2" charset="-122"/>
            </a:endParaRPr>
          </a:p>
        </p:txBody>
      </p:sp>
      <p:sp>
        <p:nvSpPr>
          <p:cNvPr id="56386" name="矩形 9621"/>
          <p:cNvSpPr/>
          <p:nvPr/>
        </p:nvSpPr>
        <p:spPr>
          <a:xfrm>
            <a:off x="5665788" y="5724525"/>
            <a:ext cx="1133475" cy="358775"/>
          </a:xfrm>
          <a:prstGeom prst="rect">
            <a:avLst/>
          </a:prstGeom>
          <a:noFill/>
          <a:ln w="9525">
            <a:noFill/>
          </a:ln>
        </p:spPr>
        <p:txBody>
          <a:bodyPr wrap="none" lIns="115888" tIns="57150" rIns="115888" bIns="57150" anchor="t" anchorCtr="0">
            <a:spAutoFit/>
          </a:bodyPr>
          <a:lstStyle/>
          <a:p>
            <a:pPr algn="ctr" defTabSz="1428750" eaLnBrk="0" hangingPunct="0"/>
            <a:r>
              <a:rPr lang="en-US" altLang="zh-CN" b="1">
                <a:solidFill>
                  <a:schemeClr val="tx2"/>
                </a:solidFill>
                <a:latin typeface="Arial" panose="020B0604020202020204" pitchFamily="34" charset="0"/>
                <a:ea typeface="宋体" panose="02010600030101010101" pitchFamily="2" charset="-122"/>
              </a:rPr>
              <a:t>Database</a:t>
            </a:r>
            <a:endParaRPr lang="en-US" altLang="zh-CN" b="1">
              <a:solidFill>
                <a:schemeClr val="tx2"/>
              </a:solidFill>
              <a:latin typeface="Arial" panose="020B0604020202020204" pitchFamily="34" charset="0"/>
              <a:ea typeface="宋体" panose="02010600030101010101" pitchFamily="2" charset="-122"/>
            </a:endParaRPr>
          </a:p>
        </p:txBody>
      </p:sp>
      <p:sp>
        <p:nvSpPr>
          <p:cNvPr id="56387" name="矩形 9622"/>
          <p:cNvSpPr/>
          <p:nvPr/>
        </p:nvSpPr>
        <p:spPr>
          <a:xfrm>
            <a:off x="4848225" y="2024063"/>
            <a:ext cx="1325563" cy="1139825"/>
          </a:xfrm>
          <a:prstGeom prst="rect">
            <a:avLst/>
          </a:prstGeom>
          <a:solidFill>
            <a:srgbClr val="FF9BCE"/>
          </a:solidFill>
          <a:ln w="12700">
            <a:noFill/>
          </a:ln>
        </p:spPr>
        <p:txBody>
          <a:bodyPr wrap="none" lIns="92075" tIns="46038" rIns="92075" bIns="46038" anchor="ctr" anchorCtr="0"/>
          <a:lstStyle/>
          <a:p>
            <a:pPr algn="ctr" defTabSz="822325" eaLnBrk="0" hangingPunct="0">
              <a:spcBef>
                <a:spcPct val="50000"/>
              </a:spcBef>
            </a:pPr>
            <a:r>
              <a:rPr lang="en-US" altLang="zh-CN" b="1">
                <a:solidFill>
                  <a:schemeClr val="bg2"/>
                </a:solidFill>
                <a:latin typeface="Arial" panose="020B0604020202020204" pitchFamily="34" charset="0"/>
                <a:ea typeface="宋体" panose="02010600030101010101" pitchFamily="2" charset="-122"/>
              </a:rPr>
              <a:t>Database</a:t>
            </a:r>
            <a:br>
              <a:rPr lang="en-US" altLang="zh-CN" b="1">
                <a:solidFill>
                  <a:schemeClr val="bg2"/>
                </a:solidFill>
                <a:latin typeface="Arial" panose="020B0604020202020204" pitchFamily="34" charset="0"/>
                <a:ea typeface="宋体" panose="02010600030101010101" pitchFamily="2" charset="-122"/>
              </a:rPr>
            </a:br>
            <a:r>
              <a:rPr lang="en-US" altLang="zh-CN" b="1">
                <a:solidFill>
                  <a:schemeClr val="bg2"/>
                </a:solidFill>
                <a:latin typeface="Arial" panose="020B0604020202020204" pitchFamily="34" charset="0"/>
                <a:ea typeface="宋体" panose="02010600030101010101" pitchFamily="2" charset="-122"/>
              </a:rPr>
              <a:t>buffer cache</a:t>
            </a:r>
            <a:endParaRPr lang="en-US" altLang="zh-CN" b="1">
              <a:solidFill>
                <a:schemeClr val="bg2"/>
              </a:solidFill>
              <a:latin typeface="Arial" panose="020B0604020202020204" pitchFamily="34" charset="0"/>
              <a:ea typeface="宋体" panose="02010600030101010101" pitchFamily="2" charset="-122"/>
            </a:endParaRPr>
          </a:p>
        </p:txBody>
      </p:sp>
      <p:sp>
        <p:nvSpPr>
          <p:cNvPr id="56388" name="圆角矩形 1"/>
          <p:cNvSpPr/>
          <p:nvPr/>
        </p:nvSpPr>
        <p:spPr>
          <a:xfrm>
            <a:off x="2444750" y="4019550"/>
            <a:ext cx="5842000" cy="2344738"/>
          </a:xfrm>
          <a:prstGeom prst="roundRect">
            <a:avLst>
              <a:gd name="adj" fmla="val 16667"/>
            </a:avLst>
          </a:prstGeom>
          <a:noFill/>
          <a:ln w="9525" cap="flat" cmpd="sng">
            <a:solidFill>
              <a:schemeClr val="tx1"/>
            </a:solidFill>
            <a:prstDash val="dashDot"/>
            <a:round/>
            <a:headEnd type="none" w="med" len="med"/>
            <a:tailEnd type="none" w="med" len="med"/>
          </a:ln>
        </p:spPr>
        <p:txBody>
          <a:bodyPr wrap="none" lIns="91440" tIns="45720" rIns="91440" bIns="45720" anchor="t" anchorCtr="0"/>
          <a:lstStyle/>
          <a:p>
            <a:pPr eaLnBrk="0" hangingPunct="0">
              <a:buClrTx/>
              <a:buFontTx/>
            </a:pPr>
            <a:endParaRPr lang="en-US" altLang="en-US">
              <a:latin typeface="Helvetica"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6"/>
          <p:cNvSpPr/>
          <p:nvPr/>
        </p:nvSpPr>
        <p:spPr>
          <a:xfrm>
            <a:off x="908720" y="1689894"/>
            <a:ext cx="7326560" cy="3987005"/>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solidFill>
                <a:srgbClr val="6F1787"/>
              </a:solidFill>
              <a:latin typeface="微软雅黑" panose="020B0503020204020204" pitchFamily="82" charset="2"/>
              <a:ea typeface="OPPOSans M" panose="00020600040101010101" pitchFamily="18" charset="-122"/>
            </a:endParaRPr>
          </a:p>
        </p:txBody>
      </p:sp>
      <p:sp>
        <p:nvSpPr>
          <p:cNvPr id="8" name="Shape6"/>
          <p:cNvSpPr/>
          <p:nvPr/>
        </p:nvSpPr>
        <p:spPr>
          <a:xfrm>
            <a:off x="908721" y="1757961"/>
            <a:ext cx="7326558" cy="3836462"/>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solidFill>
                <a:srgbClr val="6F1787"/>
              </a:solidFill>
              <a:latin typeface="微软雅黑" panose="020B0503020204020204" pitchFamily="82" charset="2"/>
              <a:ea typeface="OPPOSans M" panose="00020600040101010101" pitchFamily="18" charset="-122"/>
            </a:endParaRPr>
          </a:p>
        </p:txBody>
      </p:sp>
      <p:sp>
        <p:nvSpPr>
          <p:cNvPr id="2" name="灯片编号占位符 1"/>
          <p:cNvSpPr>
            <a:spLocks noGrp="1"/>
          </p:cNvSpPr>
          <p:nvPr>
            <p:ph type="sldNum" sz="quarter" idx="10"/>
          </p:nvPr>
        </p:nvSpPr>
        <p:spPr/>
        <p:txBody>
          <a:bodyPr/>
          <a:lstStyle/>
          <a:p>
            <a:fld id="{87BBDC00-B9E2-4EFD-9306-2934E87247C6}" type="slidenum">
              <a:rPr lang="zh-CN" altLang="en-US" sz="1200" smtClean="0">
                <a:latin typeface="微软雅黑" panose="020B0503020204020204" pitchFamily="82" charset="2"/>
                <a:ea typeface="微软雅黑" panose="020B0503020204020204" pitchFamily="82" charset="2"/>
              </a:rPr>
            </a:fld>
            <a:endParaRPr lang="zh-CN" altLang="en-US" sz="1200">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kumimoji="1" lang="zh-CN" altLang="en-US" sz="2700" dirty="0">
                <a:latin typeface="微软雅黑" panose="020B0503020204020204" pitchFamily="82" charset="2"/>
                <a:ea typeface="微软雅黑" panose="020B0503020204020204" pitchFamily="82" charset="2"/>
              </a:rPr>
              <a:t>存储结构</a:t>
            </a:r>
            <a:endParaRPr kumimoji="1" lang="zh-CN" altLang="en-US" sz="2700" dirty="0">
              <a:latin typeface="微软雅黑" panose="020B0503020204020204" pitchFamily="82" charset="2"/>
              <a:ea typeface="微软雅黑" panose="020B0503020204020204" pitchFamily="82" charset="2"/>
            </a:endParaRPr>
          </a:p>
        </p:txBody>
      </p:sp>
      <p:pic>
        <p:nvPicPr>
          <p:cNvPr id="6" name="图片 5"/>
          <p:cNvPicPr>
            <a:picLocks noChangeAspect="1"/>
          </p:cNvPicPr>
          <p:nvPr/>
        </p:nvPicPr>
        <p:blipFill>
          <a:blip r:embed="rId1"/>
          <a:stretch>
            <a:fillRect/>
          </a:stretch>
        </p:blipFill>
        <p:spPr>
          <a:xfrm>
            <a:off x="1125265" y="1810392"/>
            <a:ext cx="6611624" cy="3745525"/>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87BBDC00-B9E2-4EFD-9306-2934E87247C6}" type="slidenum">
              <a:rPr lang="zh-CN" altLang="en-US" sz="1200" smtClean="0">
                <a:latin typeface="微软雅黑" panose="020B0503020204020204" pitchFamily="82" charset="2"/>
                <a:ea typeface="微软雅黑" panose="020B0503020204020204" pitchFamily="82" charset="2"/>
              </a:rPr>
            </a:fld>
            <a:endParaRPr lang="zh-CN" altLang="en-US" sz="1200">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kumimoji="1" lang="zh-CN" altLang="en-US" sz="2700" dirty="0">
                <a:latin typeface="微软雅黑" panose="020B0503020204020204" pitchFamily="82" charset="2"/>
                <a:ea typeface="微软雅黑" panose="020B0503020204020204" pitchFamily="82" charset="2"/>
              </a:rPr>
              <a:t>存储结构</a:t>
            </a:r>
            <a:endParaRPr kumimoji="1" lang="zh-CN" altLang="en-US" sz="2700" dirty="0">
              <a:latin typeface="微软雅黑" panose="020B0503020204020204" pitchFamily="82" charset="2"/>
              <a:ea typeface="微软雅黑" panose="020B0503020204020204" pitchFamily="82" charset="2"/>
            </a:endParaRPr>
          </a:p>
        </p:txBody>
      </p:sp>
      <p:sp>
        <p:nvSpPr>
          <p:cNvPr id="4" name="内容占位符 3"/>
          <p:cNvSpPr>
            <a:spLocks noGrp="1"/>
          </p:cNvSpPr>
          <p:nvPr>
            <p:ph idx="1"/>
          </p:nvPr>
        </p:nvSpPr>
        <p:spPr>
          <a:xfrm>
            <a:off x="161290" y="885825"/>
            <a:ext cx="8821420" cy="1662430"/>
          </a:xfrm>
        </p:spPr>
        <p:txBody>
          <a:bodyPr/>
          <a:lstStyle/>
          <a:p>
            <a:r>
              <a:rPr lang="zh-CN" altLang="zh-CN" sz="1800" b="1" dirty="0">
                <a:solidFill>
                  <a:srgbClr val="701988"/>
                </a:solidFill>
                <a:latin typeface="微软雅黑" panose="020B0503020204020204" pitchFamily="82" charset="2"/>
                <a:ea typeface="微软雅黑" panose="020B0503020204020204" pitchFamily="82" charset="2"/>
              </a:rPr>
              <a:t>数据块</a:t>
            </a:r>
            <a:endParaRPr lang="en-US" altLang="zh-CN" sz="1800" b="1" dirty="0">
              <a:solidFill>
                <a:srgbClr val="701988"/>
              </a:solidFill>
              <a:latin typeface="微软雅黑" panose="020B0503020204020204" pitchFamily="82" charset="2"/>
              <a:ea typeface="微软雅黑" panose="020B0503020204020204" pitchFamily="82" charset="2"/>
            </a:endParaRPr>
          </a:p>
          <a:p>
            <a:pPr lvl="1"/>
            <a:r>
              <a:rPr kumimoji="1" lang="zh-CN" altLang="en-US" sz="1350" dirty="0">
                <a:latin typeface="微软雅黑" panose="020B0503020204020204" pitchFamily="82" charset="2"/>
                <a:ea typeface="微软雅黑" panose="020B0503020204020204" pitchFamily="82" charset="2"/>
              </a:rPr>
              <a:t>存储介质上的数据最小存储单位</a:t>
            </a:r>
            <a:endParaRPr kumimoji="1" lang="en-US" altLang="zh-CN" sz="1350" dirty="0">
              <a:latin typeface="微软雅黑" panose="020B0503020204020204" pitchFamily="82" charset="2"/>
              <a:ea typeface="微软雅黑" panose="020B0503020204020204" pitchFamily="82" charset="2"/>
            </a:endParaRPr>
          </a:p>
          <a:p>
            <a:r>
              <a:rPr lang="zh-CN" altLang="en-US" sz="1800" b="1" dirty="0">
                <a:solidFill>
                  <a:srgbClr val="701988"/>
                </a:solidFill>
                <a:latin typeface="微软雅黑" panose="020B0503020204020204" pitchFamily="82" charset="2"/>
                <a:ea typeface="微软雅黑" panose="020B0503020204020204" pitchFamily="82" charset="2"/>
              </a:rPr>
              <a:t>页面</a:t>
            </a:r>
            <a:endParaRPr lang="en-US" altLang="zh-CN" sz="1800" b="1" dirty="0">
              <a:solidFill>
                <a:srgbClr val="701988"/>
              </a:solidFill>
              <a:latin typeface="微软雅黑" panose="020B0503020204020204" pitchFamily="82" charset="2"/>
              <a:ea typeface="微软雅黑" panose="020B0503020204020204" pitchFamily="82" charset="2"/>
            </a:endParaRPr>
          </a:p>
          <a:p>
            <a:pPr lvl="1"/>
            <a:r>
              <a:rPr kumimoji="1" lang="zh-CN" altLang="en-US" sz="1350" dirty="0">
                <a:latin typeface="微软雅黑" panose="020B0503020204020204" pitchFamily="82" charset="2"/>
                <a:ea typeface="微软雅黑" panose="020B0503020204020204" pitchFamily="82" charset="2"/>
              </a:rPr>
              <a:t>统一大小来</a:t>
            </a:r>
            <a:r>
              <a:rPr lang="zh-CN" altLang="en-US" sz="1350" dirty="0">
                <a:latin typeface="微软雅黑" panose="020B0503020204020204" pitchFamily="82" charset="2"/>
                <a:ea typeface="微软雅黑" panose="020B0503020204020204" pitchFamily="82" charset="2"/>
              </a:rPr>
              <a:t>管理数据</a:t>
            </a:r>
            <a:endParaRPr lang="en-US" altLang="zh-CN" sz="1350" dirty="0">
              <a:latin typeface="微软雅黑" panose="020B0503020204020204" pitchFamily="82" charset="2"/>
              <a:ea typeface="微软雅黑" panose="020B0503020204020204" pitchFamily="82" charset="2"/>
            </a:endParaRPr>
          </a:p>
          <a:p>
            <a:pPr lvl="1"/>
            <a:r>
              <a:rPr lang="zh-CN" altLang="en-US" sz="1350" dirty="0">
                <a:latin typeface="微软雅黑" panose="020B0503020204020204" pitchFamily="82" charset="2"/>
                <a:ea typeface="微软雅黑" panose="020B0503020204020204" pitchFamily="82" charset="2"/>
              </a:rPr>
              <a:t>一般为</a:t>
            </a:r>
            <a:r>
              <a:rPr lang="en-US" altLang="zh-CN" sz="1350" dirty="0">
                <a:latin typeface="微软雅黑" panose="020B0503020204020204" pitchFamily="82" charset="2"/>
                <a:ea typeface="微软雅黑" panose="020B0503020204020204" pitchFamily="82" charset="2"/>
              </a:rPr>
              <a:t>8KB</a:t>
            </a:r>
            <a:r>
              <a:rPr lang="zh-CN" altLang="en-US" sz="1350" dirty="0">
                <a:latin typeface="微软雅黑" panose="020B0503020204020204" pitchFamily="82" charset="2"/>
                <a:ea typeface="微软雅黑" panose="020B0503020204020204" pitchFamily="82" charset="2"/>
              </a:rPr>
              <a:t>、</a:t>
            </a:r>
            <a:r>
              <a:rPr lang="en-US" altLang="zh-CN" sz="1350" dirty="0">
                <a:latin typeface="微软雅黑" panose="020B0503020204020204" pitchFamily="82" charset="2"/>
                <a:ea typeface="微软雅黑" panose="020B0503020204020204" pitchFamily="82" charset="2"/>
              </a:rPr>
              <a:t>16KB</a:t>
            </a:r>
            <a:endParaRPr lang="en-US" altLang="zh-CN" sz="1350" dirty="0">
              <a:latin typeface="微软雅黑" panose="020B0503020204020204" pitchFamily="82" charset="2"/>
              <a:ea typeface="微软雅黑" panose="020B0503020204020204" pitchFamily="82" charset="2"/>
            </a:endParaRPr>
          </a:p>
          <a:p>
            <a:endParaRPr kumimoji="1" lang="zh-CN" altLang="en-US" sz="1800" dirty="0">
              <a:latin typeface="微软雅黑" panose="020B0503020204020204" pitchFamily="82" charset="2"/>
              <a:ea typeface="微软雅黑" panose="020B0503020204020204" pitchFamily="82" charset="2"/>
            </a:endParaRPr>
          </a:p>
        </p:txBody>
      </p:sp>
      <p:pic>
        <p:nvPicPr>
          <p:cNvPr id="7" name="图片 6"/>
          <p:cNvPicPr>
            <a:picLocks noChangeAspect="1"/>
          </p:cNvPicPr>
          <p:nvPr/>
        </p:nvPicPr>
        <p:blipFill>
          <a:blip r:embed="rId1">
            <a:lum bright="6000" contrast="100000"/>
          </a:blip>
          <a:stretch>
            <a:fillRect/>
          </a:stretch>
        </p:blipFill>
        <p:spPr>
          <a:xfrm>
            <a:off x="86360" y="2481580"/>
            <a:ext cx="8658860" cy="4027170"/>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18"/>
          <p:cNvSpPr/>
          <p:nvPr/>
        </p:nvSpPr>
        <p:spPr>
          <a:xfrm>
            <a:off x="521693" y="3123201"/>
            <a:ext cx="7982111" cy="2344148"/>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微软雅黑" panose="020B0503020204020204" pitchFamily="82" charset="2"/>
              <a:ea typeface="微软雅黑" panose="020B0503020204020204" pitchFamily="82" charset="2"/>
              <a:sym typeface="+mn-ea"/>
            </a:endParaRPr>
          </a:p>
        </p:txBody>
      </p:sp>
      <p:sp>
        <p:nvSpPr>
          <p:cNvPr id="8" name="Shape18"/>
          <p:cNvSpPr/>
          <p:nvPr/>
        </p:nvSpPr>
        <p:spPr>
          <a:xfrm>
            <a:off x="521693" y="1692429"/>
            <a:ext cx="7982111" cy="120882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微软雅黑" panose="020B0503020204020204" pitchFamily="82" charset="2"/>
              <a:ea typeface="微软雅黑" panose="020B0503020204020204" pitchFamily="82" charset="2"/>
              <a:sym typeface="+mn-ea"/>
            </a:endParaRPr>
          </a:p>
        </p:txBody>
      </p:sp>
      <p:sp>
        <p:nvSpPr>
          <p:cNvPr id="2" name="灯片编号占位符 1"/>
          <p:cNvSpPr>
            <a:spLocks noGrp="1"/>
          </p:cNvSpPr>
          <p:nvPr>
            <p:ph type="sldNum" sz="quarter" idx="10"/>
          </p:nvPr>
        </p:nvSpPr>
        <p:spPr/>
        <p:txBody>
          <a:bodyPr/>
          <a:lstStyle/>
          <a:p>
            <a:fld id="{87BBDC00-B9E2-4EFD-9306-2934E87247C6}" type="slidenum">
              <a:rPr lang="zh-CN" altLang="en-US" sz="1200" smtClean="0">
                <a:latin typeface="微软雅黑" panose="020B0503020204020204" pitchFamily="82" charset="2"/>
                <a:ea typeface="微软雅黑" panose="020B0503020204020204" pitchFamily="82" charset="2"/>
              </a:rPr>
            </a:fld>
            <a:endParaRPr lang="zh-CN" altLang="en-US" sz="1200">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kumimoji="1" lang="zh-CN" altLang="en-US" sz="2700" dirty="0">
                <a:latin typeface="微软雅黑" panose="020B0503020204020204" pitchFamily="82" charset="2"/>
                <a:ea typeface="微软雅黑" panose="020B0503020204020204" pitchFamily="82" charset="2"/>
              </a:rPr>
              <a:t>数据表空间管理</a:t>
            </a:r>
            <a:endParaRPr kumimoji="1" lang="zh-CN" altLang="en-US" sz="2700" dirty="0">
              <a:latin typeface="微软雅黑" panose="020B0503020204020204" pitchFamily="82" charset="2"/>
              <a:ea typeface="微软雅黑" panose="020B0503020204020204" pitchFamily="82" charset="2"/>
            </a:endParaRPr>
          </a:p>
        </p:txBody>
      </p:sp>
      <p:sp>
        <p:nvSpPr>
          <p:cNvPr id="4" name="内容占位符 3"/>
          <p:cNvSpPr>
            <a:spLocks noGrp="1"/>
          </p:cNvSpPr>
          <p:nvPr>
            <p:ph idx="1"/>
          </p:nvPr>
        </p:nvSpPr>
        <p:spPr>
          <a:xfrm>
            <a:off x="640196" y="1749519"/>
            <a:ext cx="8891295" cy="3754040"/>
          </a:xfrm>
        </p:spPr>
        <p:txBody>
          <a:bodyPr/>
          <a:lstStyle/>
          <a:p>
            <a:r>
              <a:rPr kumimoji="1" lang="zh-CN" altLang="en-US" sz="1800" b="1" dirty="0">
                <a:solidFill>
                  <a:srgbClr val="701988"/>
                </a:solidFill>
                <a:latin typeface="微软雅黑" panose="020B0503020204020204" pitchFamily="82" charset="2"/>
                <a:ea typeface="微软雅黑" panose="020B0503020204020204" pitchFamily="82" charset="2"/>
              </a:rPr>
              <a:t>数据表空间由段（</a:t>
            </a:r>
            <a:r>
              <a:rPr kumimoji="1" lang="en-GB" altLang="zh-CN" sz="1800" b="1" dirty="0">
                <a:solidFill>
                  <a:srgbClr val="701988"/>
                </a:solidFill>
                <a:latin typeface="微软雅黑" panose="020B0503020204020204" pitchFamily="82" charset="2"/>
                <a:ea typeface="微软雅黑" panose="020B0503020204020204" pitchFamily="82" charset="2"/>
              </a:rPr>
              <a:t>segment</a:t>
            </a:r>
            <a:r>
              <a:rPr kumimoji="1" lang="zh-CN" altLang="en-GB" sz="1800" b="1" dirty="0">
                <a:solidFill>
                  <a:srgbClr val="701988"/>
                </a:solidFill>
                <a:latin typeface="微软雅黑" panose="020B0503020204020204" pitchFamily="82" charset="2"/>
                <a:ea typeface="微软雅黑" panose="020B0503020204020204" pitchFamily="82" charset="2"/>
              </a:rPr>
              <a:t>）、</a:t>
            </a:r>
            <a:r>
              <a:rPr kumimoji="1" lang="zh-CN" altLang="en-US" sz="1800" b="1" dirty="0">
                <a:solidFill>
                  <a:srgbClr val="701988"/>
                </a:solidFill>
                <a:latin typeface="微软雅黑" panose="020B0503020204020204" pitchFamily="82" charset="2"/>
                <a:ea typeface="微软雅黑" panose="020B0503020204020204" pitchFamily="82" charset="2"/>
              </a:rPr>
              <a:t>区（</a:t>
            </a:r>
            <a:r>
              <a:rPr kumimoji="1" lang="en-GB" altLang="zh-CN" sz="1800" b="1" dirty="0">
                <a:solidFill>
                  <a:srgbClr val="701988"/>
                </a:solidFill>
                <a:latin typeface="微软雅黑" panose="020B0503020204020204" pitchFamily="82" charset="2"/>
                <a:ea typeface="微软雅黑" panose="020B0503020204020204" pitchFamily="82" charset="2"/>
              </a:rPr>
              <a:t>extent</a:t>
            </a:r>
            <a:r>
              <a:rPr kumimoji="1" lang="zh-CN" altLang="en-GB" sz="1800" b="1" dirty="0">
                <a:solidFill>
                  <a:srgbClr val="701988"/>
                </a:solidFill>
                <a:latin typeface="微软雅黑" panose="020B0503020204020204" pitchFamily="82" charset="2"/>
                <a:ea typeface="微软雅黑" panose="020B0503020204020204" pitchFamily="82" charset="2"/>
              </a:rPr>
              <a:t>）、</a:t>
            </a:r>
            <a:r>
              <a:rPr kumimoji="1" lang="zh-CN" altLang="en-US" sz="1800" b="1" dirty="0">
                <a:solidFill>
                  <a:srgbClr val="701988"/>
                </a:solidFill>
                <a:latin typeface="微软雅黑" panose="020B0503020204020204" pitchFamily="82" charset="2"/>
                <a:ea typeface="微软雅黑" panose="020B0503020204020204" pitchFamily="82" charset="2"/>
              </a:rPr>
              <a:t>页（</a:t>
            </a:r>
            <a:r>
              <a:rPr kumimoji="1" lang="en-GB" altLang="zh-CN" sz="1800" b="1" dirty="0">
                <a:solidFill>
                  <a:srgbClr val="701988"/>
                </a:solidFill>
                <a:latin typeface="微软雅黑" panose="020B0503020204020204" pitchFamily="82" charset="2"/>
                <a:ea typeface="微软雅黑" panose="020B0503020204020204" pitchFamily="82" charset="2"/>
              </a:rPr>
              <a:t>page</a:t>
            </a:r>
            <a:r>
              <a:rPr kumimoji="1" lang="zh-CN" altLang="en-GB" sz="1800" b="1" dirty="0">
                <a:solidFill>
                  <a:srgbClr val="701988"/>
                </a:solidFill>
                <a:latin typeface="微软雅黑" panose="020B0503020204020204" pitchFamily="82" charset="2"/>
                <a:ea typeface="微软雅黑" panose="020B0503020204020204" pitchFamily="82" charset="2"/>
              </a:rPr>
              <a:t>）</a:t>
            </a:r>
            <a:r>
              <a:rPr kumimoji="1" lang="zh-CN" altLang="en-US" sz="1800" b="1" dirty="0">
                <a:solidFill>
                  <a:srgbClr val="701988"/>
                </a:solidFill>
                <a:latin typeface="微软雅黑" panose="020B0503020204020204" pitchFamily="82" charset="2"/>
                <a:ea typeface="微软雅黑" panose="020B0503020204020204" pitchFamily="82" charset="2"/>
              </a:rPr>
              <a:t>组成。</a:t>
            </a:r>
            <a:endParaRPr kumimoji="1" lang="en-US" altLang="zh-CN" sz="1800" b="1" dirty="0">
              <a:solidFill>
                <a:srgbClr val="701988"/>
              </a:solidFill>
              <a:latin typeface="微软雅黑" panose="020B0503020204020204" pitchFamily="82" charset="2"/>
              <a:ea typeface="微软雅黑" panose="020B0503020204020204" pitchFamily="82" charset="2"/>
            </a:endParaRPr>
          </a:p>
          <a:p>
            <a:pPr lvl="1"/>
            <a:r>
              <a:rPr lang="zh-CN" altLang="en-US" sz="1500" dirty="0">
                <a:latin typeface="微软雅黑" panose="020B0503020204020204" pitchFamily="82" charset="2"/>
                <a:ea typeface="微软雅黑" panose="020B0503020204020204" pitchFamily="82" charset="2"/>
              </a:rPr>
              <a:t>数据段、索引段、回滚段分别存储</a:t>
            </a:r>
            <a:endParaRPr kumimoji="1" lang="zh-CN" altLang="en-US" sz="1500" dirty="0">
              <a:latin typeface="微软雅黑" panose="020B0503020204020204" pitchFamily="82" charset="2"/>
              <a:ea typeface="微软雅黑" panose="020B0503020204020204" pitchFamily="82" charset="2"/>
            </a:endParaRPr>
          </a:p>
          <a:p>
            <a:pPr lvl="1"/>
            <a:r>
              <a:rPr kumimoji="1" lang="zh-CN" altLang="en-US" sz="1500" dirty="0">
                <a:latin typeface="微软雅黑" panose="020B0503020204020204" pitchFamily="82" charset="2"/>
                <a:ea typeface="微软雅黑" panose="020B0503020204020204" pitchFamily="82" charset="2"/>
              </a:rPr>
              <a:t>一次申请一个区（多个连续页），让相邻页的物理位置也相邻，方便实现顺序</a:t>
            </a:r>
            <a:r>
              <a:rPr kumimoji="1" lang="en-GB" altLang="zh-CN" sz="1500" dirty="0">
                <a:latin typeface="微软雅黑" panose="020B0503020204020204" pitchFamily="82" charset="2"/>
                <a:ea typeface="微软雅黑" panose="020B0503020204020204" pitchFamily="82" charset="2"/>
              </a:rPr>
              <a:t>I/O</a:t>
            </a:r>
            <a:r>
              <a:rPr kumimoji="1" lang="zh-CN" altLang="en-GB" sz="1500" dirty="0">
                <a:latin typeface="微软雅黑" panose="020B0503020204020204" pitchFamily="82" charset="2"/>
                <a:ea typeface="微软雅黑" panose="020B0503020204020204" pitchFamily="82" charset="2"/>
              </a:rPr>
              <a:t>。</a:t>
            </a:r>
            <a:endParaRPr kumimoji="1" lang="en-US" altLang="zh-CN" sz="1500" dirty="0">
              <a:latin typeface="微软雅黑" panose="020B0503020204020204" pitchFamily="82" charset="2"/>
              <a:ea typeface="微软雅黑" panose="020B0503020204020204" pitchFamily="82" charset="2"/>
            </a:endParaRPr>
          </a:p>
        </p:txBody>
      </p:sp>
      <p:pic>
        <p:nvPicPr>
          <p:cNvPr id="7" name="图片 6"/>
          <p:cNvPicPr>
            <a:picLocks noChangeAspect="1"/>
          </p:cNvPicPr>
          <p:nvPr/>
        </p:nvPicPr>
        <p:blipFill>
          <a:blip r:embed="rId1"/>
          <a:stretch>
            <a:fillRect/>
          </a:stretch>
        </p:blipFill>
        <p:spPr>
          <a:xfrm>
            <a:off x="640196" y="3339162"/>
            <a:ext cx="7774578" cy="1826409"/>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p:cNvSpPr/>
          <p:nvPr/>
        </p:nvSpPr>
        <p:spPr>
          <a:xfrm>
            <a:off x="521693" y="3123201"/>
            <a:ext cx="7982111" cy="2344148"/>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微软雅黑" panose="020B0503020204020204" pitchFamily="82" charset="2"/>
              <a:ea typeface="微软雅黑" panose="020B0503020204020204" pitchFamily="82" charset="2"/>
              <a:sym typeface="+mn-ea"/>
            </a:endParaRPr>
          </a:p>
        </p:txBody>
      </p:sp>
      <p:sp>
        <p:nvSpPr>
          <p:cNvPr id="9" name="Shape18"/>
          <p:cNvSpPr/>
          <p:nvPr/>
        </p:nvSpPr>
        <p:spPr>
          <a:xfrm>
            <a:off x="521693" y="1692429"/>
            <a:ext cx="7982111" cy="120882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微软雅黑" panose="020B0503020204020204" pitchFamily="82" charset="2"/>
              <a:ea typeface="微软雅黑" panose="020B0503020204020204" pitchFamily="82" charset="2"/>
              <a:sym typeface="+mn-ea"/>
            </a:endParaRPr>
          </a:p>
        </p:txBody>
      </p:sp>
      <p:sp>
        <p:nvSpPr>
          <p:cNvPr id="2" name="灯片编号占位符 1"/>
          <p:cNvSpPr>
            <a:spLocks noGrp="1"/>
          </p:cNvSpPr>
          <p:nvPr>
            <p:ph type="sldNum" sz="quarter" idx="10"/>
          </p:nvPr>
        </p:nvSpPr>
        <p:spPr/>
        <p:txBody>
          <a:bodyPr/>
          <a:lstStyle/>
          <a:p>
            <a:fld id="{87BBDC00-B9E2-4EFD-9306-2934E87247C6}" type="slidenum">
              <a:rPr lang="zh-CN" altLang="en-US" sz="1200" smtClean="0">
                <a:latin typeface="微软雅黑" panose="020B0503020204020204" pitchFamily="82" charset="2"/>
                <a:ea typeface="微软雅黑" panose="020B0503020204020204" pitchFamily="82" charset="2"/>
              </a:rPr>
            </a:fld>
            <a:endParaRPr lang="zh-CN" altLang="en-US" sz="1200">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kumimoji="1" lang="zh-CN" altLang="en-US" sz="2700" dirty="0">
                <a:latin typeface="微软雅黑" panose="020B0503020204020204" pitchFamily="82" charset="2"/>
                <a:ea typeface="微软雅黑" panose="020B0503020204020204" pitchFamily="82" charset="2"/>
              </a:rPr>
              <a:t>申请新页面</a:t>
            </a:r>
            <a:endParaRPr kumimoji="1" lang="zh-CN" altLang="en-US" sz="2700" dirty="0">
              <a:latin typeface="微软雅黑" panose="020B0503020204020204" pitchFamily="82" charset="2"/>
              <a:ea typeface="微软雅黑" panose="020B0503020204020204" pitchFamily="82" charset="2"/>
            </a:endParaRPr>
          </a:p>
        </p:txBody>
      </p:sp>
      <p:sp>
        <p:nvSpPr>
          <p:cNvPr id="4" name="内容占位符 3"/>
          <p:cNvSpPr>
            <a:spLocks noGrp="1"/>
          </p:cNvSpPr>
          <p:nvPr>
            <p:ph idx="1"/>
          </p:nvPr>
        </p:nvSpPr>
        <p:spPr>
          <a:xfrm>
            <a:off x="787913" y="1811880"/>
            <a:ext cx="8155641" cy="3754040"/>
          </a:xfrm>
        </p:spPr>
        <p:txBody>
          <a:bodyPr/>
          <a:lstStyle/>
          <a:p>
            <a:r>
              <a:rPr kumimoji="1" lang="zh-CN" altLang="en-US" sz="1800" b="1" dirty="0">
                <a:solidFill>
                  <a:srgbClr val="701988"/>
                </a:solidFill>
                <a:latin typeface="微软雅黑" panose="020B0503020204020204" pitchFamily="82" charset="2"/>
                <a:ea typeface="微软雅黑" panose="020B0503020204020204" pitchFamily="82" charset="2"/>
              </a:rPr>
              <a:t>假设所有的页面都满时，要继续插入记录的话就需要申请新的页面</a:t>
            </a:r>
            <a:endParaRPr kumimoji="1" lang="en-US" altLang="zh-CN" sz="1800" b="1" dirty="0">
              <a:solidFill>
                <a:srgbClr val="701988"/>
              </a:solidFill>
              <a:latin typeface="微软雅黑" panose="020B0503020204020204" pitchFamily="82" charset="2"/>
              <a:ea typeface="微软雅黑" panose="020B0503020204020204" pitchFamily="82" charset="2"/>
            </a:endParaRPr>
          </a:p>
          <a:p>
            <a:r>
              <a:rPr kumimoji="1" lang="zh-CN" altLang="en-US" sz="1800" b="1" dirty="0">
                <a:solidFill>
                  <a:srgbClr val="701988"/>
                </a:solidFill>
                <a:latin typeface="微软雅黑" panose="020B0503020204020204" pitchFamily="82" charset="2"/>
                <a:ea typeface="微软雅黑" panose="020B0503020204020204" pitchFamily="82" charset="2"/>
              </a:rPr>
              <a:t>每次申请固定数量的区（</a:t>
            </a:r>
            <a:r>
              <a:rPr kumimoji="1" lang="en-GB" altLang="zh-CN" sz="1800" b="1" dirty="0">
                <a:solidFill>
                  <a:srgbClr val="701988"/>
                </a:solidFill>
                <a:latin typeface="微软雅黑" panose="020B0503020204020204" pitchFamily="82" charset="2"/>
                <a:ea typeface="微软雅黑" panose="020B0503020204020204" pitchFamily="82" charset="2"/>
              </a:rPr>
              <a:t>extent</a:t>
            </a:r>
            <a:r>
              <a:rPr kumimoji="1" lang="zh-CN" altLang="en-GB" sz="1800" b="1" dirty="0">
                <a:solidFill>
                  <a:srgbClr val="701988"/>
                </a:solidFill>
                <a:latin typeface="微软雅黑" panose="020B0503020204020204" pitchFamily="82" charset="2"/>
                <a:ea typeface="微软雅黑" panose="020B0503020204020204" pitchFamily="82" charset="2"/>
              </a:rPr>
              <a:t>）</a:t>
            </a:r>
            <a:endParaRPr kumimoji="1" lang="en-US" altLang="zh-CN" sz="1800" b="1" dirty="0">
              <a:solidFill>
                <a:srgbClr val="701988"/>
              </a:solidFill>
              <a:latin typeface="微软雅黑" panose="020B0503020204020204" pitchFamily="82" charset="2"/>
              <a:ea typeface="微软雅黑" panose="020B0503020204020204" pitchFamily="82" charset="2"/>
            </a:endParaRPr>
          </a:p>
          <a:p>
            <a:pPr lvl="1"/>
            <a:r>
              <a:rPr lang="zh-CN" altLang="en-US" sz="1800" dirty="0">
                <a:latin typeface="微软雅黑" panose="020B0503020204020204" pitchFamily="82" charset="2"/>
                <a:ea typeface="微软雅黑" panose="020B0503020204020204" pitchFamily="82" charset="2"/>
              </a:rPr>
              <a:t>为了页面尽量连续</a:t>
            </a:r>
            <a:endParaRPr kumimoji="1" lang="zh-CN" altLang="en-US" sz="1800" dirty="0">
              <a:latin typeface="微软雅黑" panose="020B0503020204020204" pitchFamily="82" charset="2"/>
              <a:ea typeface="微软雅黑" panose="020B0503020204020204" pitchFamily="82" charset="2"/>
            </a:endParaRPr>
          </a:p>
        </p:txBody>
      </p:sp>
      <p:pic>
        <p:nvPicPr>
          <p:cNvPr id="7" name="图片 6"/>
          <p:cNvPicPr>
            <a:picLocks noChangeAspect="1"/>
          </p:cNvPicPr>
          <p:nvPr/>
        </p:nvPicPr>
        <p:blipFill>
          <a:blip r:embed="rId1"/>
          <a:stretch>
            <a:fillRect/>
          </a:stretch>
        </p:blipFill>
        <p:spPr>
          <a:xfrm>
            <a:off x="2025183" y="3429000"/>
            <a:ext cx="4804242" cy="1736141"/>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p:cNvSpPr/>
          <p:nvPr/>
        </p:nvSpPr>
        <p:spPr>
          <a:xfrm>
            <a:off x="521693" y="2753889"/>
            <a:ext cx="7982111" cy="271346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微软雅黑" panose="020B0503020204020204" pitchFamily="82" charset="2"/>
              <a:ea typeface="微软雅黑" panose="020B0503020204020204" pitchFamily="82" charset="2"/>
              <a:sym typeface="+mn-ea"/>
            </a:endParaRPr>
          </a:p>
        </p:txBody>
      </p:sp>
      <p:sp>
        <p:nvSpPr>
          <p:cNvPr id="8" name="Shape18"/>
          <p:cNvSpPr/>
          <p:nvPr/>
        </p:nvSpPr>
        <p:spPr>
          <a:xfrm>
            <a:off x="521693" y="1730529"/>
            <a:ext cx="7982111" cy="83354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微软雅黑" panose="020B0503020204020204" pitchFamily="82" charset="2"/>
              <a:ea typeface="微软雅黑" panose="020B0503020204020204" pitchFamily="82" charset="2"/>
              <a:sym typeface="+mn-ea"/>
            </a:endParaRPr>
          </a:p>
        </p:txBody>
      </p:sp>
      <p:sp>
        <p:nvSpPr>
          <p:cNvPr id="2" name="灯片编号占位符 1"/>
          <p:cNvSpPr>
            <a:spLocks noGrp="1"/>
          </p:cNvSpPr>
          <p:nvPr>
            <p:ph type="sldNum" sz="quarter" idx="10"/>
          </p:nvPr>
        </p:nvSpPr>
        <p:spPr/>
        <p:txBody>
          <a:bodyPr/>
          <a:lstStyle/>
          <a:p>
            <a:fld id="{87BBDC00-B9E2-4EFD-9306-2934E87247C6}" type="slidenum">
              <a:rPr lang="zh-CN" altLang="en-US" sz="1200" smtClean="0">
                <a:latin typeface="微软雅黑" panose="020B0503020204020204" pitchFamily="82" charset="2"/>
                <a:ea typeface="微软雅黑" panose="020B0503020204020204" pitchFamily="82" charset="2"/>
              </a:rPr>
            </a:fld>
            <a:endParaRPr lang="zh-CN" altLang="en-US" sz="1200">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kumimoji="1" lang="zh-CN" altLang="en-US" sz="2700" dirty="0">
                <a:latin typeface="微软雅黑" panose="020B0503020204020204" pitchFamily="82" charset="2"/>
                <a:ea typeface="微软雅黑" panose="020B0503020204020204" pitchFamily="82" charset="2"/>
              </a:rPr>
              <a:t>页面组织</a:t>
            </a:r>
            <a:endParaRPr kumimoji="1" lang="zh-CN" altLang="en-US" sz="2700" dirty="0">
              <a:latin typeface="微软雅黑" panose="020B0503020204020204" pitchFamily="82" charset="2"/>
              <a:ea typeface="微软雅黑" panose="020B0503020204020204" pitchFamily="82" charset="2"/>
            </a:endParaRPr>
          </a:p>
        </p:txBody>
      </p:sp>
      <p:sp>
        <p:nvSpPr>
          <p:cNvPr id="4" name="内容占位符 3"/>
          <p:cNvSpPr>
            <a:spLocks noGrp="1"/>
          </p:cNvSpPr>
          <p:nvPr>
            <p:ph idx="1"/>
          </p:nvPr>
        </p:nvSpPr>
        <p:spPr>
          <a:xfrm>
            <a:off x="988359" y="1815193"/>
            <a:ext cx="8155641" cy="3754040"/>
          </a:xfrm>
        </p:spPr>
        <p:txBody>
          <a:bodyPr/>
          <a:lstStyle/>
          <a:p>
            <a:r>
              <a:rPr lang="zh-CN" altLang="zh-CN" sz="1800" b="1" dirty="0">
                <a:solidFill>
                  <a:srgbClr val="701988"/>
                </a:solidFill>
                <a:latin typeface="微软雅黑" panose="020B0503020204020204" pitchFamily="82" charset="2"/>
                <a:ea typeface="微软雅黑" panose="020B0503020204020204" pitchFamily="82" charset="2"/>
              </a:rPr>
              <a:t>页面大小为</a:t>
            </a:r>
            <a:r>
              <a:rPr lang="en-US" altLang="zh-CN" sz="1800" b="1" dirty="0">
                <a:solidFill>
                  <a:srgbClr val="701988"/>
                </a:solidFill>
                <a:latin typeface="微软雅黑" panose="020B0503020204020204" pitchFamily="82" charset="2"/>
                <a:ea typeface="微软雅黑" panose="020B0503020204020204" pitchFamily="82" charset="2"/>
              </a:rPr>
              <a:t>8KB</a:t>
            </a:r>
            <a:r>
              <a:rPr lang="zh-CN" altLang="zh-CN" sz="1800" b="1" dirty="0">
                <a:solidFill>
                  <a:srgbClr val="701988"/>
                </a:solidFill>
                <a:latin typeface="微软雅黑" panose="020B0503020204020204" pitchFamily="82" charset="2"/>
                <a:ea typeface="微软雅黑" panose="020B0503020204020204" pitchFamily="82" charset="2"/>
              </a:rPr>
              <a:t>或者</a:t>
            </a:r>
            <a:r>
              <a:rPr lang="en-US" altLang="zh-CN" sz="1800" b="1" dirty="0">
                <a:solidFill>
                  <a:srgbClr val="701988"/>
                </a:solidFill>
                <a:latin typeface="微软雅黑" panose="020B0503020204020204" pitchFamily="82" charset="2"/>
                <a:ea typeface="微软雅黑" panose="020B0503020204020204" pitchFamily="82" charset="2"/>
              </a:rPr>
              <a:t>16KB</a:t>
            </a:r>
            <a:r>
              <a:rPr lang="zh-CN" altLang="zh-CN" sz="1800" b="1" dirty="0">
                <a:solidFill>
                  <a:srgbClr val="701988"/>
                </a:solidFill>
                <a:latin typeface="微软雅黑" panose="020B0503020204020204" pitchFamily="82" charset="2"/>
                <a:ea typeface="微软雅黑" panose="020B0503020204020204" pitchFamily="82" charset="2"/>
              </a:rPr>
              <a:t>，一般为</a:t>
            </a:r>
            <a:r>
              <a:rPr lang="en-US" altLang="zh-CN" sz="1800" b="1" dirty="0">
                <a:solidFill>
                  <a:srgbClr val="701988"/>
                </a:solidFill>
                <a:latin typeface="微软雅黑" panose="020B0503020204020204" pitchFamily="82" charset="2"/>
                <a:ea typeface="微软雅黑" panose="020B0503020204020204" pitchFamily="82" charset="2"/>
              </a:rPr>
              <a:t>2</a:t>
            </a:r>
            <a:r>
              <a:rPr lang="zh-CN" altLang="zh-CN" sz="1800" b="1" dirty="0">
                <a:solidFill>
                  <a:srgbClr val="701988"/>
                </a:solidFill>
                <a:latin typeface="微软雅黑" panose="020B0503020204020204" pitchFamily="82" charset="2"/>
                <a:ea typeface="微软雅黑" panose="020B0503020204020204" pitchFamily="82" charset="2"/>
              </a:rPr>
              <a:t>的整数次幂 </a:t>
            </a:r>
            <a:endParaRPr lang="en-US" altLang="zh-CN" sz="1800" b="1" dirty="0">
              <a:solidFill>
                <a:srgbClr val="701988"/>
              </a:solidFill>
              <a:latin typeface="微软雅黑" panose="020B0503020204020204" pitchFamily="82" charset="2"/>
              <a:ea typeface="微软雅黑" panose="020B0503020204020204" pitchFamily="82" charset="2"/>
            </a:endParaRPr>
          </a:p>
          <a:p>
            <a:r>
              <a:rPr lang="zh-CN" altLang="zh-CN" sz="1800" b="1" dirty="0">
                <a:solidFill>
                  <a:srgbClr val="701988"/>
                </a:solidFill>
                <a:latin typeface="微软雅黑" panose="020B0503020204020204" pitchFamily="82" charset="2"/>
                <a:ea typeface="微软雅黑" panose="020B0503020204020204" pitchFamily="82" charset="2"/>
              </a:rPr>
              <a:t>一个页面往往包含了多条记录</a:t>
            </a:r>
            <a:endParaRPr lang="en-US" altLang="zh-CN" sz="1800" b="1" dirty="0">
              <a:solidFill>
                <a:srgbClr val="701988"/>
              </a:solidFill>
              <a:latin typeface="微软雅黑" panose="020B0503020204020204" pitchFamily="82" charset="2"/>
              <a:ea typeface="微软雅黑" panose="020B0503020204020204" pitchFamily="82" charset="2"/>
            </a:endParaRPr>
          </a:p>
          <a:p>
            <a:endParaRPr kumimoji="1" lang="zh-CN" altLang="en-US" sz="1800" b="1" dirty="0">
              <a:solidFill>
                <a:srgbClr val="701988"/>
              </a:solidFill>
              <a:latin typeface="微软雅黑" panose="020B0503020204020204" pitchFamily="82" charset="2"/>
              <a:ea typeface="微软雅黑" panose="020B0503020204020204" pitchFamily="82" charset="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21430" y="2864297"/>
            <a:ext cx="5652173" cy="2495379"/>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p:cNvSpPr/>
          <p:nvPr/>
        </p:nvSpPr>
        <p:spPr>
          <a:xfrm>
            <a:off x="394335" y="3224530"/>
            <a:ext cx="8568690" cy="245872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微软雅黑" panose="020B0503020204020204" pitchFamily="82" charset="2"/>
              <a:ea typeface="微软雅黑" panose="020B0503020204020204" pitchFamily="82" charset="2"/>
              <a:sym typeface="+mn-ea"/>
            </a:endParaRPr>
          </a:p>
        </p:txBody>
      </p:sp>
      <p:sp>
        <p:nvSpPr>
          <p:cNvPr id="8" name="Shape18"/>
          <p:cNvSpPr/>
          <p:nvPr/>
        </p:nvSpPr>
        <p:spPr>
          <a:xfrm>
            <a:off x="394335" y="1174115"/>
            <a:ext cx="8568690" cy="196469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微软雅黑" panose="020B0503020204020204" pitchFamily="82" charset="2"/>
              <a:ea typeface="微软雅黑" panose="020B0503020204020204" pitchFamily="82" charset="2"/>
              <a:sym typeface="+mn-ea"/>
            </a:endParaRPr>
          </a:p>
        </p:txBody>
      </p:sp>
      <p:sp>
        <p:nvSpPr>
          <p:cNvPr id="2" name="灯片编号占位符 1"/>
          <p:cNvSpPr>
            <a:spLocks noGrp="1"/>
          </p:cNvSpPr>
          <p:nvPr>
            <p:ph type="sldNum" sz="quarter" idx="10"/>
          </p:nvPr>
        </p:nvSpPr>
        <p:spPr/>
        <p:txBody>
          <a:bodyPr/>
          <a:lstStyle/>
          <a:p>
            <a:fld id="{87BBDC00-B9E2-4EFD-9306-2934E87247C6}" type="slidenum">
              <a:rPr lang="zh-CN" altLang="en-US" sz="1200" smtClean="0">
                <a:latin typeface="微软雅黑" panose="020B0503020204020204" pitchFamily="82" charset="2"/>
                <a:ea typeface="微软雅黑" panose="020B0503020204020204" pitchFamily="82" charset="2"/>
              </a:rPr>
            </a:fld>
            <a:endParaRPr lang="zh-CN" altLang="en-US" sz="1200">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kumimoji="1" lang="zh-CN" altLang="en-US" sz="2700" dirty="0">
                <a:latin typeface="微软雅黑" panose="020B0503020204020204" pitchFamily="82" charset="2"/>
                <a:ea typeface="微软雅黑" panose="020B0503020204020204" pitchFamily="82" charset="2"/>
              </a:rPr>
              <a:t>页面组织： 定长记录 </a:t>
            </a:r>
            <a:r>
              <a:rPr kumimoji="1" lang="en-US" altLang="zh-CN" sz="2700" dirty="0">
                <a:latin typeface="微软雅黑" panose="020B0503020204020204" pitchFamily="82" charset="2"/>
                <a:ea typeface="微软雅黑" panose="020B0503020204020204" pitchFamily="82" charset="2"/>
              </a:rPr>
              <a:t>vs</a:t>
            </a:r>
            <a:r>
              <a:rPr kumimoji="1" lang="zh-CN" altLang="en-US" sz="2700" dirty="0">
                <a:latin typeface="微软雅黑" panose="020B0503020204020204" pitchFamily="82" charset="2"/>
                <a:ea typeface="微软雅黑" panose="020B0503020204020204" pitchFamily="82" charset="2"/>
              </a:rPr>
              <a:t> 变长记录</a:t>
            </a:r>
            <a:endParaRPr kumimoji="1" lang="zh-CN" altLang="en-US" sz="2700" dirty="0">
              <a:latin typeface="微软雅黑" panose="020B0503020204020204" pitchFamily="82" charset="2"/>
              <a:ea typeface="微软雅黑" panose="020B0503020204020204" pitchFamily="82" charset="2"/>
            </a:endParaRPr>
          </a:p>
        </p:txBody>
      </p:sp>
      <p:sp>
        <p:nvSpPr>
          <p:cNvPr id="4" name="内容占位符 3"/>
          <p:cNvSpPr>
            <a:spLocks noGrp="1"/>
          </p:cNvSpPr>
          <p:nvPr>
            <p:ph idx="1"/>
          </p:nvPr>
        </p:nvSpPr>
        <p:spPr>
          <a:xfrm>
            <a:off x="431165" y="1400810"/>
            <a:ext cx="8531860" cy="4195445"/>
          </a:xfrm>
        </p:spPr>
        <p:txBody>
          <a:bodyPr/>
          <a:lstStyle/>
          <a:p>
            <a:r>
              <a:rPr kumimoji="1" lang="zh-CN" altLang="en-US" sz="1800" dirty="0">
                <a:solidFill>
                  <a:srgbClr val="701988"/>
                </a:solidFill>
                <a:latin typeface="微软雅黑" panose="020B0503020204020204" pitchFamily="82" charset="2"/>
                <a:ea typeface="微软雅黑" panose="020B0503020204020204" pitchFamily="82" charset="2"/>
              </a:rPr>
              <a:t> </a:t>
            </a:r>
            <a:r>
              <a:rPr kumimoji="1" lang="zh-CN" altLang="en-US" sz="1800" b="1" dirty="0">
                <a:solidFill>
                  <a:srgbClr val="701988"/>
                </a:solidFill>
                <a:latin typeface="微软雅黑" panose="020B0503020204020204" pitchFamily="82" charset="2"/>
                <a:ea typeface="微软雅黑" panose="020B0503020204020204" pitchFamily="82" charset="2"/>
              </a:rPr>
              <a:t>定长记录：长度固定，页面中记录数目固定，易于定位一个页面的记录位置</a:t>
            </a:r>
            <a:endParaRPr kumimoji="1" lang="en-US" altLang="zh-CN" sz="1800" b="1" dirty="0">
              <a:solidFill>
                <a:srgbClr val="701988"/>
              </a:solidFill>
              <a:latin typeface="微软雅黑" panose="020B0503020204020204" pitchFamily="82" charset="2"/>
              <a:ea typeface="微软雅黑" panose="020B0503020204020204" pitchFamily="82" charset="2"/>
            </a:endParaRPr>
          </a:p>
          <a:p>
            <a:pPr lvl="1"/>
            <a:r>
              <a:rPr lang="zh-CN" altLang="en-US" sz="1500" dirty="0">
                <a:latin typeface="微软雅黑" panose="020B0503020204020204" pitchFamily="82" charset="2"/>
                <a:ea typeface="微软雅黑" panose="020B0503020204020204" pitchFamily="82" charset="2"/>
              </a:rPr>
              <a:t>例如年龄</a:t>
            </a:r>
            <a:r>
              <a:rPr lang="en-US" altLang="zh-CN" sz="1500" dirty="0">
                <a:latin typeface="微软雅黑" panose="020B0503020204020204" pitchFamily="82" charset="2"/>
                <a:ea typeface="微软雅黑" panose="020B0503020204020204" pitchFamily="82" charset="2"/>
              </a:rPr>
              <a:t>short</a:t>
            </a:r>
            <a:r>
              <a:rPr lang="zh-CN" altLang="en-US" sz="1500" dirty="0">
                <a:latin typeface="微软雅黑" panose="020B0503020204020204" pitchFamily="82" charset="2"/>
                <a:ea typeface="微软雅黑" panose="020B0503020204020204" pitchFamily="82" charset="2"/>
              </a:rPr>
              <a:t>，学号</a:t>
            </a:r>
            <a:r>
              <a:rPr lang="en-US" altLang="zh-CN" sz="1500" dirty="0">
                <a:latin typeface="微软雅黑" panose="020B0503020204020204" pitchFamily="82" charset="2"/>
                <a:ea typeface="微软雅黑" panose="020B0503020204020204" pitchFamily="82" charset="2"/>
              </a:rPr>
              <a:t>char</a:t>
            </a:r>
            <a:r>
              <a:rPr lang="zh-CN" altLang="en-US" sz="1500" dirty="0">
                <a:latin typeface="微软雅黑" panose="020B0503020204020204" pitchFamily="82" charset="2"/>
                <a:ea typeface="微软雅黑" panose="020B0503020204020204" pitchFamily="82" charset="2"/>
              </a:rPr>
              <a:t>（</a:t>
            </a:r>
            <a:r>
              <a:rPr lang="en-US" altLang="zh-CN" sz="1500" dirty="0">
                <a:latin typeface="微软雅黑" panose="020B0503020204020204" pitchFamily="82" charset="2"/>
                <a:ea typeface="微软雅黑" panose="020B0503020204020204" pitchFamily="82" charset="2"/>
              </a:rPr>
              <a:t>10</a:t>
            </a:r>
            <a:r>
              <a:rPr lang="zh-CN" altLang="en-US" sz="1500" dirty="0">
                <a:latin typeface="微软雅黑" panose="020B0503020204020204" pitchFamily="82" charset="2"/>
                <a:ea typeface="微软雅黑" panose="020B0503020204020204" pitchFamily="82" charset="2"/>
              </a:rPr>
              <a:t>）</a:t>
            </a:r>
            <a:endParaRPr kumimoji="1" lang="en-US" altLang="zh-CN" sz="1500" dirty="0">
              <a:latin typeface="微软雅黑" panose="020B0503020204020204" pitchFamily="82" charset="2"/>
              <a:ea typeface="微软雅黑" panose="020B0503020204020204" pitchFamily="82" charset="2"/>
            </a:endParaRPr>
          </a:p>
          <a:p>
            <a:r>
              <a:rPr lang="zh-CN" altLang="en-US" sz="1800" b="1" dirty="0">
                <a:solidFill>
                  <a:srgbClr val="701988"/>
                </a:solidFill>
                <a:latin typeface="微软雅黑" panose="020B0503020204020204" pitchFamily="82" charset="2"/>
                <a:ea typeface="微软雅黑" panose="020B0503020204020204" pitchFamily="82" charset="2"/>
              </a:rPr>
              <a:t> 变长记录：长度可变，</a:t>
            </a:r>
            <a:r>
              <a:rPr kumimoji="1" lang="zh-CN" altLang="en-US" sz="1800" b="1" dirty="0">
                <a:solidFill>
                  <a:srgbClr val="701988"/>
                </a:solidFill>
                <a:latin typeface="微软雅黑" panose="020B0503020204020204" pitchFamily="82" charset="2"/>
                <a:ea typeface="微软雅黑" panose="020B0503020204020204" pitchFamily="82" charset="2"/>
              </a:rPr>
              <a:t>页面中记录数目不固定，</a:t>
            </a:r>
            <a:r>
              <a:rPr lang="zh-CN" altLang="en-US" sz="1800" b="1" dirty="0">
                <a:solidFill>
                  <a:srgbClr val="701988"/>
                </a:solidFill>
                <a:latin typeface="微软雅黑" panose="020B0503020204020204" pitchFamily="82" charset="2"/>
                <a:ea typeface="微软雅黑" panose="020B0503020204020204" pitchFamily="82" charset="2"/>
              </a:rPr>
              <a:t>难以直接计算并定位记录位置</a:t>
            </a:r>
            <a:endParaRPr lang="en-US" altLang="zh-CN" sz="1800" b="1" dirty="0">
              <a:solidFill>
                <a:srgbClr val="701988"/>
              </a:solidFill>
              <a:latin typeface="微软雅黑" panose="020B0503020204020204" pitchFamily="82" charset="2"/>
              <a:ea typeface="微软雅黑" panose="020B0503020204020204" pitchFamily="82" charset="2"/>
            </a:endParaRPr>
          </a:p>
          <a:p>
            <a:pPr lvl="1"/>
            <a:r>
              <a:rPr kumimoji="1" lang="zh-CN" altLang="en-US" sz="1500" dirty="0">
                <a:latin typeface="微软雅黑" panose="020B0503020204020204" pitchFamily="82" charset="2"/>
                <a:ea typeface="微软雅黑" panose="020B0503020204020204" pitchFamily="82" charset="2"/>
              </a:rPr>
              <a:t>例如姓名</a:t>
            </a:r>
            <a:r>
              <a:rPr kumimoji="1" lang="en-US" altLang="zh-CN" sz="1500" dirty="0">
                <a:latin typeface="微软雅黑" panose="020B0503020204020204" pitchFamily="82" charset="2"/>
                <a:ea typeface="微软雅黑" panose="020B0503020204020204" pitchFamily="82" charset="2"/>
              </a:rPr>
              <a:t>varchar</a:t>
            </a:r>
            <a:r>
              <a:rPr kumimoji="1" lang="zh-CN" altLang="en-US" sz="1500" dirty="0">
                <a:latin typeface="微软雅黑" panose="020B0503020204020204" pitchFamily="82" charset="2"/>
                <a:ea typeface="微软雅黑" panose="020B0503020204020204" pitchFamily="82" charset="2"/>
              </a:rPr>
              <a:t>，院系</a:t>
            </a:r>
            <a:r>
              <a:rPr kumimoji="1" lang="en-US" altLang="zh-CN" sz="1500" dirty="0">
                <a:latin typeface="微软雅黑" panose="020B0503020204020204" pitchFamily="82" charset="2"/>
                <a:ea typeface="微软雅黑" panose="020B0503020204020204" pitchFamily="82" charset="2"/>
              </a:rPr>
              <a:t>varchar</a:t>
            </a:r>
            <a:endParaRPr kumimoji="1" lang="zh-CN" altLang="en-US" sz="1500" dirty="0">
              <a:latin typeface="微软雅黑" panose="020B0503020204020204" pitchFamily="82" charset="2"/>
              <a:ea typeface="微软雅黑" panose="020B0503020204020204" pitchFamily="82" charset="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71386" y="3400219"/>
            <a:ext cx="8214842" cy="2107967"/>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p:cNvSpPr>
          <p:nvPr>
            <p:ph type="title" idx="4294967295"/>
          </p:nvPr>
        </p:nvSpPr>
        <p:spPr>
          <a:xfrm>
            <a:off x="1116013" y="117475"/>
            <a:ext cx="6931025" cy="609600"/>
          </a:xfrm>
        </p:spPr>
        <p:txBody>
          <a:bodyPr wrap="square" lIns="91440" tIns="45720" rIns="91440" bIns="45720" anchor="b" anchorCtr="0"/>
          <a:lstStyle/>
          <a:p>
            <a:r>
              <a:rPr lang="en-US" altLang="zh-CN" sz="4000" dirty="0">
                <a:effectLst/>
                <a:latin typeface="Arial" panose="020B0604020202020204" pitchFamily="34" charset="0"/>
                <a:cs typeface="Arial" panose="020B0604020202020204" pitchFamily="34" charset="0"/>
              </a:rPr>
              <a:t>Query Processing</a:t>
            </a:r>
            <a:endParaRPr lang="en-US" altLang="zh-CN" sz="4000" dirty="0">
              <a:effectLst/>
              <a:latin typeface="Arial" panose="020B0604020202020204" pitchFamily="34" charset="0"/>
              <a:cs typeface="Arial" panose="020B0604020202020204" pitchFamily="34" charset="0"/>
            </a:endParaRPr>
          </a:p>
        </p:txBody>
      </p:sp>
      <p:sp>
        <p:nvSpPr>
          <p:cNvPr id="58370" name="Rectangle 3"/>
          <p:cNvSpPr>
            <a:spLocks noGrp="1"/>
          </p:cNvSpPr>
          <p:nvPr>
            <p:ph type="body" idx="4294967295"/>
          </p:nvPr>
        </p:nvSpPr>
        <p:spPr>
          <a:xfrm>
            <a:off x="462280" y="1084580"/>
            <a:ext cx="6544945" cy="1759585"/>
          </a:xfrm>
        </p:spPr>
        <p:txBody>
          <a:bodyPr vert="horz" wrap="square" lIns="91440" tIns="45720" rIns="91440" bIns="45720" anchor="t" anchorCtr="0"/>
          <a:lstStyle/>
          <a:p>
            <a:pPr>
              <a:buNone/>
            </a:pPr>
            <a:r>
              <a:rPr lang="en-US" altLang="zh-CN" sz="2800" dirty="0">
                <a:latin typeface="Arial" panose="020B0604020202020204" pitchFamily="34" charset="0"/>
                <a:cs typeface="Arial" panose="020B0604020202020204" pitchFamily="34" charset="0"/>
              </a:rPr>
              <a:t>1.	Parsing and translation</a:t>
            </a:r>
            <a:endParaRPr lang="en-US" altLang="zh-CN" sz="2800" dirty="0">
              <a:latin typeface="Arial" panose="020B0604020202020204" pitchFamily="34" charset="0"/>
              <a:cs typeface="Arial" panose="020B0604020202020204" pitchFamily="34" charset="0"/>
            </a:endParaRPr>
          </a:p>
          <a:p>
            <a:pPr>
              <a:buNone/>
            </a:pPr>
            <a:r>
              <a:rPr lang="en-US" altLang="zh-CN" sz="2800" dirty="0">
                <a:latin typeface="Arial" panose="020B0604020202020204" pitchFamily="34" charset="0"/>
                <a:cs typeface="Arial" panose="020B0604020202020204" pitchFamily="34" charset="0"/>
              </a:rPr>
              <a:t>2.	Optimization</a:t>
            </a:r>
            <a:endParaRPr lang="en-US" altLang="zh-CN" sz="2800" dirty="0">
              <a:latin typeface="Arial" panose="020B0604020202020204" pitchFamily="34" charset="0"/>
              <a:cs typeface="Arial" panose="020B0604020202020204" pitchFamily="34" charset="0"/>
            </a:endParaRPr>
          </a:p>
          <a:p>
            <a:pPr>
              <a:buNone/>
            </a:pPr>
            <a:r>
              <a:rPr lang="en-US" altLang="zh-CN" sz="2800" dirty="0">
                <a:latin typeface="Arial" panose="020B0604020202020204" pitchFamily="34" charset="0"/>
                <a:cs typeface="Arial" panose="020B0604020202020204" pitchFamily="34" charset="0"/>
              </a:rPr>
              <a:t>3.	Evaluation</a:t>
            </a:r>
            <a:endParaRPr lang="en-US" altLang="zh-CN" sz="2800" dirty="0">
              <a:latin typeface="Arial" panose="020B0604020202020204" pitchFamily="34" charset="0"/>
              <a:cs typeface="Arial" panose="020B0604020202020204" pitchFamily="34" charset="0"/>
            </a:endParaRPr>
          </a:p>
        </p:txBody>
      </p:sp>
      <p:pic>
        <p:nvPicPr>
          <p:cNvPr id="58371" name="Picture 8"/>
          <p:cNvPicPr>
            <a:picLocks noChangeAspect="1"/>
          </p:cNvPicPr>
          <p:nvPr/>
        </p:nvPicPr>
        <p:blipFill>
          <a:blip r:embed="rId1"/>
          <a:stretch>
            <a:fillRect/>
          </a:stretch>
        </p:blipFill>
        <p:spPr>
          <a:xfrm>
            <a:off x="1020763" y="2629218"/>
            <a:ext cx="6805612" cy="4087812"/>
          </a:xfrm>
          <a:prstGeom prst="rect">
            <a:avLst/>
          </a:prstGeom>
          <a:noFill/>
          <a:ln w="9525">
            <a:noFill/>
          </a:ln>
        </p:spPr>
      </p:pic>
    </p:spTree>
  </p:cSld>
  <p:clrMapOvr>
    <a:masterClrMapping/>
  </p:clrMapOvr>
  <p:transition advTm="1520"/>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p:cNvSpPr>
          <p:nvPr>
            <p:ph type="title" idx="4294967295"/>
          </p:nvPr>
        </p:nvSpPr>
        <p:spPr>
          <a:xfrm>
            <a:off x="1422400" y="139700"/>
            <a:ext cx="6611938" cy="582613"/>
          </a:xfrm>
        </p:spPr>
        <p:txBody>
          <a:bodyPr wrap="square" lIns="91440" tIns="45720" rIns="91440" bIns="45720" anchor="b" anchorCtr="0"/>
          <a:lstStyle/>
          <a:p>
            <a:r>
              <a:rPr lang="en-US" altLang="zh-CN" sz="4000" dirty="0">
                <a:effectLst/>
                <a:latin typeface="Arial" panose="020B0604020202020204" pitchFamily="34" charset="0"/>
                <a:cs typeface="Arial" panose="020B0604020202020204" pitchFamily="34" charset="0"/>
              </a:rPr>
              <a:t>Query Processing (Cont.)</a:t>
            </a:r>
            <a:endParaRPr lang="en-US" altLang="zh-CN" sz="4000" dirty="0">
              <a:effectLst/>
              <a:latin typeface="Arial" panose="020B0604020202020204" pitchFamily="34" charset="0"/>
              <a:cs typeface="Arial" panose="020B0604020202020204" pitchFamily="34" charset="0"/>
            </a:endParaRPr>
          </a:p>
        </p:txBody>
      </p:sp>
      <p:sp>
        <p:nvSpPr>
          <p:cNvPr id="60418" name="Rectangle 3"/>
          <p:cNvSpPr>
            <a:spLocks noGrp="1"/>
          </p:cNvSpPr>
          <p:nvPr>
            <p:ph type="body" idx="4294967295"/>
          </p:nvPr>
        </p:nvSpPr>
        <p:spPr>
          <a:xfrm>
            <a:off x="277813" y="1077913"/>
            <a:ext cx="8664575" cy="5238750"/>
          </a:xfrm>
        </p:spPr>
        <p:txBody>
          <a:bodyPr vert="horz" wrap="square" lIns="91440" tIns="45720" rIns="91440" bIns="45720" anchor="t" anchorCtr="0"/>
          <a:lstStyle/>
          <a:p>
            <a:r>
              <a:rPr lang="en-US" altLang="zh-CN" sz="2800" dirty="0">
                <a:latin typeface="Arial" panose="020B0604020202020204" pitchFamily="34" charset="0"/>
                <a:cs typeface="Arial" panose="020B0604020202020204" pitchFamily="34" charset="0"/>
              </a:rPr>
              <a:t>Alternative ways of evaluating a given query</a:t>
            </a:r>
            <a:endParaRPr lang="en-US" altLang="zh-CN" sz="2800" dirty="0">
              <a:latin typeface="Arial" panose="020B0604020202020204" pitchFamily="34" charset="0"/>
              <a:cs typeface="Arial" panose="020B0604020202020204" pitchFamily="34" charset="0"/>
            </a:endParaRPr>
          </a:p>
          <a:p>
            <a:pPr lvl="1"/>
            <a:r>
              <a:rPr lang="en-US" altLang="zh-CN" sz="2800" dirty="0">
                <a:latin typeface="Arial" panose="020B0604020202020204" pitchFamily="34" charset="0"/>
                <a:cs typeface="Arial" panose="020B0604020202020204" pitchFamily="34" charset="0"/>
              </a:rPr>
              <a:t>Equivalent expressions</a:t>
            </a:r>
            <a:endParaRPr lang="en-US" altLang="zh-CN" sz="2800" dirty="0">
              <a:latin typeface="Arial" panose="020B0604020202020204" pitchFamily="34" charset="0"/>
              <a:cs typeface="Arial" panose="020B0604020202020204" pitchFamily="34" charset="0"/>
            </a:endParaRPr>
          </a:p>
          <a:p>
            <a:pPr lvl="1"/>
            <a:r>
              <a:rPr lang="en-US" altLang="zh-CN" sz="2800" dirty="0">
                <a:latin typeface="Arial" panose="020B0604020202020204" pitchFamily="34" charset="0"/>
                <a:cs typeface="Arial" panose="020B0604020202020204" pitchFamily="34" charset="0"/>
              </a:rPr>
              <a:t>Different algorithms for each operation</a:t>
            </a:r>
            <a:endParaRPr lang="en-US" altLang="zh-CN" sz="2800" dirty="0">
              <a:latin typeface="Arial" panose="020B0604020202020204" pitchFamily="34" charset="0"/>
              <a:cs typeface="Arial" panose="020B0604020202020204" pitchFamily="34" charset="0"/>
            </a:endParaRPr>
          </a:p>
          <a:p>
            <a:r>
              <a:rPr lang="en-US" altLang="zh-CN" sz="2800" dirty="0">
                <a:latin typeface="Arial" panose="020B0604020202020204" pitchFamily="34" charset="0"/>
                <a:cs typeface="Arial" panose="020B0604020202020204" pitchFamily="34" charset="0"/>
              </a:rPr>
              <a:t>Cost difference between a good and a bad way of evaluating a query can be enormous</a:t>
            </a:r>
            <a:endParaRPr lang="en-US" altLang="zh-CN" sz="2800" dirty="0">
              <a:latin typeface="Arial" panose="020B0604020202020204" pitchFamily="34" charset="0"/>
              <a:cs typeface="Arial" panose="020B0604020202020204" pitchFamily="34" charset="0"/>
            </a:endParaRPr>
          </a:p>
          <a:p>
            <a:r>
              <a:rPr lang="en-US" altLang="zh-CN" sz="2800" dirty="0">
                <a:latin typeface="Arial" panose="020B0604020202020204" pitchFamily="34" charset="0"/>
                <a:cs typeface="Arial" panose="020B0604020202020204" pitchFamily="34" charset="0"/>
              </a:rPr>
              <a:t>Need to estimate the cost of operations</a:t>
            </a:r>
            <a:endParaRPr lang="en-US" altLang="zh-CN" sz="2800" dirty="0">
              <a:latin typeface="Arial" panose="020B0604020202020204" pitchFamily="34" charset="0"/>
              <a:cs typeface="Arial" panose="020B0604020202020204" pitchFamily="34" charset="0"/>
            </a:endParaRPr>
          </a:p>
          <a:p>
            <a:pPr lvl="1"/>
            <a:r>
              <a:rPr lang="en-US" altLang="zh-CN" sz="2800" dirty="0">
                <a:latin typeface="Arial" panose="020B0604020202020204" pitchFamily="34" charset="0"/>
                <a:cs typeface="Arial" panose="020B0604020202020204" pitchFamily="34" charset="0"/>
              </a:rPr>
              <a:t>Depends critically on statistical information about relations which the database must maintain</a:t>
            </a:r>
            <a:endParaRPr lang="en-US" altLang="zh-CN" sz="2800" dirty="0">
              <a:latin typeface="Arial" panose="020B0604020202020204" pitchFamily="34" charset="0"/>
              <a:cs typeface="Arial" panose="020B0604020202020204" pitchFamily="34" charset="0"/>
            </a:endParaRPr>
          </a:p>
          <a:p>
            <a:pPr lvl="1"/>
            <a:r>
              <a:rPr lang="en-US" altLang="zh-CN" sz="2800" dirty="0">
                <a:latin typeface="Arial" panose="020B0604020202020204" pitchFamily="34" charset="0"/>
                <a:cs typeface="Arial" panose="020B0604020202020204" pitchFamily="34" charset="0"/>
              </a:rPr>
              <a:t>Need to estimate statistics for intermediate results to compute cost of complex expressions</a:t>
            </a:r>
            <a:endParaRPr lang="en-US" altLang="zh-CN" sz="2800" dirty="0">
              <a:latin typeface="Arial" panose="020B0604020202020204" pitchFamily="34" charset="0"/>
              <a:cs typeface="Arial" panose="020B0604020202020204" pitchFamily="34" charset="0"/>
            </a:endParaRPr>
          </a:p>
          <a:p>
            <a:pPr lvl="1"/>
            <a:endParaRPr lang="en-US" altLang="zh-CN" sz="2800" dirty="0">
              <a:latin typeface="Arial" panose="020B0604020202020204" pitchFamily="34" charset="0"/>
              <a:cs typeface="Arial" panose="020B060402020202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p:cNvSpPr>
          <p:nvPr>
            <p:ph type="title" idx="4294967295"/>
          </p:nvPr>
        </p:nvSpPr>
        <p:spPr/>
        <p:txBody>
          <a:bodyPr wrap="square" lIns="91440" tIns="45720" rIns="91440" bIns="45720" anchor="b" anchorCtr="0"/>
          <a:lstStyle/>
          <a:p>
            <a:r>
              <a:rPr lang="en-US" altLang="zh-CN" dirty="0">
                <a:effectLst/>
              </a:rPr>
              <a:t>Transaction Management	</a:t>
            </a:r>
            <a:endParaRPr lang="en-US" altLang="zh-CN" dirty="0">
              <a:effectLst/>
            </a:endParaRPr>
          </a:p>
        </p:txBody>
      </p:sp>
      <p:sp>
        <p:nvSpPr>
          <p:cNvPr id="78851" name="Rectangle 3"/>
          <p:cNvSpPr>
            <a:spLocks noGrp="1"/>
          </p:cNvSpPr>
          <p:nvPr>
            <p:ph type="body" idx="4294967295"/>
          </p:nvPr>
        </p:nvSpPr>
        <p:spPr>
          <a:xfrm>
            <a:off x="225425" y="1077913"/>
            <a:ext cx="8767763" cy="5010150"/>
          </a:xfrm>
        </p:spPr>
        <p:txBody>
          <a:bodyPr vert="horz" wrap="square" lIns="91440" tIns="45720" rIns="91440" bIns="45720" anchor="t" anchorCtr="0"/>
          <a:lstStyle/>
          <a:p>
            <a:r>
              <a:rPr lang="en-US" altLang="zh-CN" sz="2400" dirty="0"/>
              <a:t>What if the system fails?</a:t>
            </a:r>
            <a:endParaRPr lang="en-US" altLang="zh-CN" sz="2400" dirty="0"/>
          </a:p>
          <a:p>
            <a:r>
              <a:rPr lang="en-US" altLang="zh-CN" sz="2400" dirty="0"/>
              <a:t>What if more than one user is concurrently updating the same data?</a:t>
            </a:r>
            <a:endParaRPr lang="en-US" altLang="zh-CN" sz="2400" dirty="0"/>
          </a:p>
          <a:p>
            <a:r>
              <a:rPr lang="en-US" altLang="zh-CN" sz="2400" dirty="0"/>
              <a:t>A </a:t>
            </a:r>
            <a:r>
              <a:rPr lang="en-US" altLang="zh-CN" sz="2400" b="1" dirty="0">
                <a:solidFill>
                  <a:srgbClr val="000099"/>
                </a:solidFill>
              </a:rPr>
              <a:t>transaction</a:t>
            </a:r>
            <a:r>
              <a:rPr lang="en-US" altLang="zh-CN" sz="2400" dirty="0"/>
              <a:t> is a collection of operations that performs a single logical function in a database application</a:t>
            </a:r>
            <a:endParaRPr lang="en-US" altLang="zh-CN" sz="2400" dirty="0"/>
          </a:p>
          <a:p>
            <a:r>
              <a:rPr lang="en-US" altLang="zh-CN" sz="2400" b="1" dirty="0">
                <a:solidFill>
                  <a:srgbClr val="000099"/>
                </a:solidFill>
              </a:rPr>
              <a:t>Transaction-management component</a:t>
            </a:r>
            <a:r>
              <a:rPr lang="en-US" altLang="zh-CN" sz="2400" dirty="0"/>
              <a:t> ensures that the database remains in a consistent (correct) state despite system failures (e.g., power failures and operating system crashes) and transaction failures.</a:t>
            </a:r>
            <a:endParaRPr lang="en-US" altLang="zh-CN" sz="2400" dirty="0"/>
          </a:p>
          <a:p>
            <a:r>
              <a:rPr lang="en-US" altLang="zh-CN" sz="2400" b="1" dirty="0">
                <a:solidFill>
                  <a:srgbClr val="000099"/>
                </a:solidFill>
              </a:rPr>
              <a:t>Concurrency-control manager</a:t>
            </a:r>
            <a:r>
              <a:rPr lang="en-US" altLang="zh-CN" sz="2400" dirty="0"/>
              <a:t> controls the interaction among the concurrent transactions, to ensure the consistency of the database.</a:t>
            </a:r>
            <a:r>
              <a:rPr lang="en-US" altLang="zh-CN" sz="2400" b="1" dirty="0">
                <a:solidFill>
                  <a:schemeClr val="tx2"/>
                </a:solidFill>
              </a:rPr>
              <a:t> </a:t>
            </a:r>
            <a:endParaRPr lang="en-US" altLang="zh-CN" sz="2400" b="1" dirty="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8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p:cNvSpPr>
          <p:nvPr>
            <p:ph type="title" idx="4294967295"/>
          </p:nvPr>
        </p:nvSpPr>
        <p:spPr>
          <a:xfrm>
            <a:off x="768350" y="234950"/>
            <a:ext cx="8077200" cy="609600"/>
          </a:xfrm>
        </p:spPr>
        <p:txBody>
          <a:bodyPr wrap="square" lIns="91440" tIns="45720" rIns="91440" bIns="45720" anchor="b" anchorCtr="0"/>
          <a:lstStyle/>
          <a:p>
            <a:r>
              <a:rPr lang="en-US" altLang="zh-CN" dirty="0">
                <a:effectLst/>
              </a:rPr>
              <a:t>Database Users and Administrators</a:t>
            </a:r>
            <a:endParaRPr lang="en-US" altLang="zh-CN" dirty="0">
              <a:effectLst/>
            </a:endParaRPr>
          </a:p>
        </p:txBody>
      </p:sp>
      <p:sp>
        <p:nvSpPr>
          <p:cNvPr id="64514" name="Text Box 7"/>
          <p:cNvSpPr txBox="1"/>
          <p:nvPr/>
        </p:nvSpPr>
        <p:spPr>
          <a:xfrm>
            <a:off x="3606800" y="5745163"/>
            <a:ext cx="1717675" cy="457200"/>
          </a:xfrm>
          <a:prstGeom prst="rect">
            <a:avLst/>
          </a:prstGeom>
          <a:noFill/>
          <a:ln w="9525">
            <a:noFill/>
          </a:ln>
        </p:spPr>
        <p:txBody>
          <a:bodyPr anchor="t" anchorCtr="0">
            <a:spAutoFit/>
          </a:bodyPr>
          <a:lstStyle/>
          <a:p>
            <a:pPr eaLnBrk="0" hangingPunct="0">
              <a:buClrTx/>
              <a:buFontTx/>
            </a:pPr>
            <a:r>
              <a:rPr lang="en-US" altLang="zh-CN" sz="2400" b="1" dirty="0">
                <a:solidFill>
                  <a:srgbClr val="000099"/>
                </a:solidFill>
                <a:latin typeface="Helvetica" charset="0"/>
              </a:rPr>
              <a:t>Database</a:t>
            </a:r>
            <a:endParaRPr lang="en-US" altLang="zh-CN" sz="2400" b="1" dirty="0">
              <a:solidFill>
                <a:srgbClr val="000099"/>
              </a:solidFill>
              <a:latin typeface="Helvetica" charset="0"/>
            </a:endParaRPr>
          </a:p>
        </p:txBody>
      </p:sp>
      <p:pic>
        <p:nvPicPr>
          <p:cNvPr id="64515" name="Picture 9" descr="1"/>
          <p:cNvPicPr>
            <a:picLocks noChangeAspect="1"/>
          </p:cNvPicPr>
          <p:nvPr/>
        </p:nvPicPr>
        <p:blipFill>
          <a:blip r:embed="rId1"/>
          <a:stretch>
            <a:fillRect/>
          </a:stretch>
        </p:blipFill>
        <p:spPr>
          <a:xfrm>
            <a:off x="693738" y="1919288"/>
            <a:ext cx="7720012" cy="3368675"/>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p:cNvSpPr>
          <p:nvPr>
            <p:ph type="title" idx="4294967295"/>
          </p:nvPr>
        </p:nvSpPr>
        <p:spPr>
          <a:xfrm>
            <a:off x="333375" y="2465388"/>
            <a:ext cx="3563938" cy="962025"/>
          </a:xfrm>
        </p:spPr>
        <p:txBody>
          <a:bodyPr wrap="square" lIns="91440" tIns="45720" rIns="91440" bIns="45720" anchor="b" anchorCtr="0"/>
          <a:lstStyle/>
          <a:p>
            <a:r>
              <a:rPr lang="en-US" altLang="zh-CN" dirty="0">
                <a:effectLst/>
              </a:rPr>
              <a:t>Database System Internals</a:t>
            </a:r>
            <a:endParaRPr lang="en-US" altLang="zh-CN" dirty="0">
              <a:effectLst/>
            </a:endParaRPr>
          </a:p>
        </p:txBody>
      </p:sp>
      <p:sp>
        <p:nvSpPr>
          <p:cNvPr id="66562" name="Rectangle 10"/>
          <p:cNvSpPr/>
          <p:nvPr/>
        </p:nvSpPr>
        <p:spPr>
          <a:xfrm>
            <a:off x="6388100" y="2544763"/>
            <a:ext cx="1231900" cy="211137"/>
          </a:xfrm>
          <a:prstGeom prst="rect">
            <a:avLst/>
          </a:prstGeom>
          <a:solidFill>
            <a:schemeClr val="accent1"/>
          </a:solidFill>
          <a:ln w="9525">
            <a:noFill/>
          </a:ln>
        </p:spPr>
        <p:txBody>
          <a:bodyPr wrap="none" anchor="ctr" anchorCtr="0"/>
          <a:lstStyle/>
          <a:p>
            <a:pPr eaLnBrk="0" hangingPunct="0">
              <a:buClrTx/>
              <a:buFontTx/>
            </a:pPr>
            <a:endParaRPr lang="zh-CN" altLang="en-US" dirty="0">
              <a:latin typeface="Helvetica" charset="0"/>
            </a:endParaRPr>
          </a:p>
        </p:txBody>
      </p:sp>
      <p:sp>
        <p:nvSpPr>
          <p:cNvPr id="66563" name="Rectangle 11"/>
          <p:cNvSpPr/>
          <p:nvPr/>
        </p:nvSpPr>
        <p:spPr>
          <a:xfrm>
            <a:off x="6527800" y="4144963"/>
            <a:ext cx="1231900" cy="211137"/>
          </a:xfrm>
          <a:prstGeom prst="rect">
            <a:avLst/>
          </a:prstGeom>
          <a:solidFill>
            <a:schemeClr val="accent1"/>
          </a:solidFill>
          <a:ln w="9525">
            <a:noFill/>
          </a:ln>
        </p:spPr>
        <p:txBody>
          <a:bodyPr wrap="none" anchor="ctr" anchorCtr="0"/>
          <a:lstStyle/>
          <a:p>
            <a:pPr eaLnBrk="0" hangingPunct="0">
              <a:buClrTx/>
              <a:buFontTx/>
            </a:pPr>
            <a:endParaRPr lang="zh-CN" altLang="en-US" dirty="0">
              <a:latin typeface="Helvetica" charset="0"/>
            </a:endParaRPr>
          </a:p>
        </p:txBody>
      </p:sp>
      <p:sp>
        <p:nvSpPr>
          <p:cNvPr id="66564" name="Rectangle 12"/>
          <p:cNvSpPr/>
          <p:nvPr/>
        </p:nvSpPr>
        <p:spPr>
          <a:xfrm>
            <a:off x="6477000" y="5084763"/>
            <a:ext cx="1231900" cy="211137"/>
          </a:xfrm>
          <a:prstGeom prst="rect">
            <a:avLst/>
          </a:prstGeom>
          <a:solidFill>
            <a:schemeClr val="accent1"/>
          </a:solidFill>
          <a:ln w="9525">
            <a:noFill/>
          </a:ln>
        </p:spPr>
        <p:txBody>
          <a:bodyPr wrap="none" anchor="ctr" anchorCtr="0"/>
          <a:lstStyle/>
          <a:p>
            <a:pPr eaLnBrk="0" hangingPunct="0">
              <a:buClrTx/>
              <a:buFontTx/>
            </a:pPr>
            <a:endParaRPr lang="zh-CN" altLang="en-US" dirty="0">
              <a:latin typeface="Helvetica" charset="0"/>
            </a:endParaRPr>
          </a:p>
        </p:txBody>
      </p:sp>
      <p:pic>
        <p:nvPicPr>
          <p:cNvPr id="66565" name="Picture 14"/>
          <p:cNvPicPr>
            <a:picLocks noChangeAspect="1"/>
          </p:cNvPicPr>
          <p:nvPr/>
        </p:nvPicPr>
        <p:blipFill>
          <a:blip r:embed="rId1"/>
          <a:stretch>
            <a:fillRect/>
          </a:stretch>
        </p:blipFill>
        <p:spPr>
          <a:xfrm>
            <a:off x="4540250" y="152400"/>
            <a:ext cx="4603750" cy="6621463"/>
          </a:xfrm>
          <a:prstGeom prst="rect">
            <a:avLst/>
          </a:prstGeom>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p:cNvSpPr>
          <p:nvPr>
            <p:ph type="title" idx="4294967295"/>
          </p:nvPr>
        </p:nvSpPr>
        <p:spPr>
          <a:xfrm>
            <a:off x="638175" y="66675"/>
            <a:ext cx="8077200" cy="609600"/>
          </a:xfrm>
        </p:spPr>
        <p:txBody>
          <a:bodyPr wrap="square" lIns="91440" tIns="45720" rIns="91440" bIns="45720" anchor="b" anchorCtr="0"/>
          <a:lstStyle/>
          <a:p>
            <a:r>
              <a:rPr lang="en-US" altLang="zh-CN" dirty="0">
                <a:effectLst/>
              </a:rPr>
              <a:t>Database Architecture</a:t>
            </a:r>
            <a:endParaRPr lang="en-US" altLang="zh-CN" dirty="0">
              <a:effectLst/>
            </a:endParaRPr>
          </a:p>
        </p:txBody>
      </p:sp>
      <p:sp>
        <p:nvSpPr>
          <p:cNvPr id="68610" name="Rectangle 3"/>
          <p:cNvSpPr>
            <a:spLocks noGrp="1"/>
          </p:cNvSpPr>
          <p:nvPr>
            <p:ph type="body" idx="4294967295"/>
          </p:nvPr>
        </p:nvSpPr>
        <p:spPr>
          <a:xfrm>
            <a:off x="854075" y="1152525"/>
            <a:ext cx="7607300" cy="2990850"/>
          </a:xfrm>
        </p:spPr>
        <p:txBody>
          <a:bodyPr vert="horz" wrap="square" lIns="91440" tIns="45720" rIns="91440" bIns="45720" anchor="t" anchorCtr="0"/>
          <a:lstStyle/>
          <a:p>
            <a:pPr>
              <a:buNone/>
            </a:pPr>
            <a:r>
              <a:rPr lang="en-US" altLang="zh-CN" dirty="0"/>
              <a:t>The architecture of a database systems is greatly influenced by</a:t>
            </a:r>
            <a:endParaRPr lang="en-US" altLang="zh-CN" dirty="0"/>
          </a:p>
          <a:p>
            <a:pPr>
              <a:buNone/>
            </a:pPr>
            <a:r>
              <a:rPr lang="en-US" altLang="zh-CN" dirty="0"/>
              <a:t> the underlying computer system on which the database is running:</a:t>
            </a:r>
            <a:endParaRPr lang="en-US" altLang="zh-CN" dirty="0"/>
          </a:p>
          <a:p>
            <a:r>
              <a:rPr lang="en-US" altLang="zh-CN" dirty="0"/>
              <a:t>Centralized</a:t>
            </a:r>
            <a:endParaRPr lang="en-US" altLang="zh-CN" dirty="0"/>
          </a:p>
          <a:p>
            <a:r>
              <a:rPr lang="en-US" altLang="zh-CN" dirty="0"/>
              <a:t>Client-server</a:t>
            </a:r>
            <a:endParaRPr lang="en-US" altLang="zh-CN" dirty="0"/>
          </a:p>
          <a:p>
            <a:r>
              <a:rPr lang="en-US" altLang="zh-CN" dirty="0"/>
              <a:t>Parallel (multi-processor)</a:t>
            </a:r>
            <a:endParaRPr lang="en-US" altLang="zh-CN" dirty="0"/>
          </a:p>
          <a:p>
            <a:r>
              <a:rPr lang="en-US" altLang="zh-CN" dirty="0"/>
              <a:t>Distributed</a:t>
            </a:r>
            <a:r>
              <a:rPr lang="en-US" altLang="zh-CN" dirty="0">
                <a:sym typeface="Symbol" panose="05050102010706020507" pitchFamily="18" charset="2"/>
              </a:rPr>
              <a:t>     </a:t>
            </a:r>
            <a:endParaRPr lang="en-US" altLang="zh-CN" dirty="0">
              <a:sym typeface="Symbol" panose="05050102010706020507" pitchFamily="18" charset="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l="3523" t="27594" r="3923" b="25598"/>
          <a:stretch>
            <a:fillRect/>
          </a:stretch>
        </p:blipFill>
        <p:spPr>
          <a:xfrm>
            <a:off x="38912" y="1789889"/>
            <a:ext cx="9027267" cy="3424138"/>
          </a:xfrm>
          <a:prstGeom prst="rect">
            <a:avLst/>
          </a:prstGeom>
        </p:spPr>
      </p:pic>
      <p:sp>
        <p:nvSpPr>
          <p:cNvPr id="3" name="标题 5"/>
          <p:cNvSpPr txBox="1"/>
          <p:nvPr/>
        </p:nvSpPr>
        <p:spPr bwMode="auto">
          <a:xfrm>
            <a:off x="971551" y="128441"/>
            <a:ext cx="7588790" cy="678470"/>
          </a:xfrm>
          <a:prstGeom prst="rect">
            <a:avLst/>
          </a:prstGeom>
          <a:noFill/>
          <a:ln>
            <a:noFill/>
          </a:ln>
          <a:effectLst/>
        </p:spPr>
        <p:txBody>
          <a:bodyPr vert="horz" wrap="square" lIns="91440" tIns="45720" rIns="91440" bIns="45720" numCol="1" anchor="ctr" anchorCtr="0" compatLnSpc="1"/>
          <a:lstStyle>
            <a:lvl1pPr algn="ctr" rtl="0" eaLnBrk="1" fontAlgn="base" hangingPunct="1">
              <a:spcBef>
                <a:spcPct val="0"/>
              </a:spcBef>
              <a:spcAft>
                <a:spcPct val="0"/>
              </a:spcAft>
              <a:defRPr kumimoji="1" sz="4800" b="1" i="0">
                <a:solidFill>
                  <a:schemeClr val="tx2"/>
                </a:solidFill>
                <a:effectLst/>
                <a:latin typeface="Arial" panose="020B0604020202020204"/>
                <a:ea typeface="黑体" panose="02010609060101010101" pitchFamily="49" charset="-122"/>
                <a:cs typeface="Arial" panose="020B0604020202020204"/>
              </a:defRPr>
            </a:lvl1pPr>
            <a:lvl2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2pPr>
            <a:lvl3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3pPr>
            <a:lvl4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4pPr>
            <a:lvl5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5pPr>
            <a:lvl6pPr marL="42227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6pPr>
            <a:lvl7pPr marL="84391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7pPr>
            <a:lvl8pPr marL="1266190"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8pPr>
            <a:lvl9pPr marL="168846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9pPr>
          </a:lstStyle>
          <a:p>
            <a:r>
              <a:rPr kumimoji="1" lang="zh-CN" altLang="en-US" sz="3600" dirty="0">
                <a:latin typeface="微软雅黑" panose="020B0503020204020204" pitchFamily="82" charset="2"/>
                <a:ea typeface="微软雅黑" panose="020B0503020204020204" pitchFamily="82" charset="2"/>
              </a:rPr>
              <a:t>数据库架构：</a:t>
            </a:r>
            <a:r>
              <a:rPr lang="zh-CN" altLang="en-US" sz="3600" dirty="0">
                <a:latin typeface="微软雅黑" panose="020B0503020204020204" charset="-122"/>
                <a:ea typeface="微软雅黑" panose="020B0503020204020204" charset="-122"/>
              </a:rPr>
              <a:t>分布式数据库</a:t>
            </a:r>
            <a:endParaRPr lang="zh-CN" altLang="en-US" sz="3500" kern="0" dirty="0">
              <a:latin typeface="微软雅黑" panose="020B0503020204020204" charset="-122"/>
              <a:ea typeface="微软雅黑" panose="020B050302020402020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l="6117" t="25731" r="1529" b="20014"/>
          <a:stretch>
            <a:fillRect/>
          </a:stretch>
        </p:blipFill>
        <p:spPr>
          <a:xfrm>
            <a:off x="58370" y="1653702"/>
            <a:ext cx="9007813" cy="3968885"/>
          </a:xfrm>
          <a:prstGeom prst="rect">
            <a:avLst/>
          </a:prstGeom>
        </p:spPr>
      </p:pic>
      <p:sp>
        <p:nvSpPr>
          <p:cNvPr id="3" name="标题 5"/>
          <p:cNvSpPr txBox="1"/>
          <p:nvPr/>
        </p:nvSpPr>
        <p:spPr bwMode="auto">
          <a:xfrm>
            <a:off x="971551" y="128441"/>
            <a:ext cx="7822254" cy="678470"/>
          </a:xfrm>
          <a:prstGeom prst="rect">
            <a:avLst/>
          </a:prstGeom>
          <a:noFill/>
          <a:ln>
            <a:noFill/>
          </a:ln>
          <a:effectLst/>
        </p:spPr>
        <p:txBody>
          <a:bodyPr vert="horz" wrap="square" lIns="91440" tIns="45720" rIns="91440" bIns="45720" numCol="1" anchor="ctr" anchorCtr="0" compatLnSpc="1"/>
          <a:lstStyle>
            <a:lvl1pPr algn="ctr" rtl="0" eaLnBrk="1" fontAlgn="base" hangingPunct="1">
              <a:spcBef>
                <a:spcPct val="0"/>
              </a:spcBef>
              <a:spcAft>
                <a:spcPct val="0"/>
              </a:spcAft>
              <a:defRPr kumimoji="1" sz="4800" b="1" i="0">
                <a:solidFill>
                  <a:schemeClr val="tx2"/>
                </a:solidFill>
                <a:effectLst/>
                <a:latin typeface="Arial" panose="020B0604020202020204"/>
                <a:ea typeface="黑体" panose="02010609060101010101" pitchFamily="49" charset="-122"/>
                <a:cs typeface="Arial" panose="020B0604020202020204"/>
              </a:defRPr>
            </a:lvl1pPr>
            <a:lvl2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2pPr>
            <a:lvl3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3pPr>
            <a:lvl4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4pPr>
            <a:lvl5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5pPr>
            <a:lvl6pPr marL="42227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6pPr>
            <a:lvl7pPr marL="84391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7pPr>
            <a:lvl8pPr marL="1266190"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8pPr>
            <a:lvl9pPr marL="168846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9pPr>
          </a:lstStyle>
          <a:p>
            <a:r>
              <a:rPr kumimoji="1" lang="zh-CN" altLang="en-US" sz="3600" dirty="0">
                <a:latin typeface="微软雅黑" panose="020B0503020204020204" pitchFamily="82" charset="2"/>
                <a:ea typeface="微软雅黑" panose="020B0503020204020204" pitchFamily="82" charset="2"/>
              </a:rPr>
              <a:t>数据库架构：</a:t>
            </a:r>
            <a:r>
              <a:rPr lang="zh-CN" altLang="en-US" sz="3600" dirty="0">
                <a:latin typeface="微软雅黑" panose="020B0503020204020204" charset="-122"/>
                <a:ea typeface="微软雅黑" panose="020B0503020204020204" charset="-122"/>
              </a:rPr>
              <a:t>云托管数据库</a:t>
            </a:r>
            <a:endParaRPr lang="zh-CN" altLang="en-US" sz="3500" kern="0" dirty="0">
              <a:latin typeface="微软雅黑" panose="020B0503020204020204" charset="-122"/>
              <a:ea typeface="微软雅黑" panose="020B050302020402020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l="5120" t="28391" r="4920" b="25864"/>
          <a:stretch>
            <a:fillRect/>
          </a:stretch>
        </p:blipFill>
        <p:spPr>
          <a:xfrm>
            <a:off x="194553" y="1848255"/>
            <a:ext cx="8774350" cy="3346316"/>
          </a:xfrm>
          <a:prstGeom prst="rect">
            <a:avLst/>
          </a:prstGeom>
        </p:spPr>
      </p:pic>
      <p:sp>
        <p:nvSpPr>
          <p:cNvPr id="3" name="标题 5"/>
          <p:cNvSpPr txBox="1"/>
          <p:nvPr/>
        </p:nvSpPr>
        <p:spPr bwMode="auto">
          <a:xfrm>
            <a:off x="971550" y="128441"/>
            <a:ext cx="7997353" cy="678470"/>
          </a:xfrm>
          <a:prstGeom prst="rect">
            <a:avLst/>
          </a:prstGeom>
          <a:noFill/>
          <a:ln>
            <a:noFill/>
          </a:ln>
          <a:effectLst/>
        </p:spPr>
        <p:txBody>
          <a:bodyPr vert="horz" wrap="square" lIns="91440" tIns="45720" rIns="91440" bIns="45720" numCol="1" anchor="ctr" anchorCtr="0" compatLnSpc="1"/>
          <a:lstStyle>
            <a:lvl1pPr algn="ctr" rtl="0" eaLnBrk="1" fontAlgn="base" hangingPunct="1">
              <a:spcBef>
                <a:spcPct val="0"/>
              </a:spcBef>
              <a:spcAft>
                <a:spcPct val="0"/>
              </a:spcAft>
              <a:defRPr kumimoji="1" sz="4800" b="1" i="0">
                <a:solidFill>
                  <a:schemeClr val="tx2"/>
                </a:solidFill>
                <a:effectLst/>
                <a:latin typeface="Arial" panose="020B0604020202020204"/>
                <a:ea typeface="黑体" panose="02010609060101010101" pitchFamily="49" charset="-122"/>
                <a:cs typeface="Arial" panose="020B0604020202020204"/>
              </a:defRPr>
            </a:lvl1pPr>
            <a:lvl2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2pPr>
            <a:lvl3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3pPr>
            <a:lvl4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4pPr>
            <a:lvl5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5pPr>
            <a:lvl6pPr marL="42227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6pPr>
            <a:lvl7pPr marL="84391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7pPr>
            <a:lvl8pPr marL="1266190"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8pPr>
            <a:lvl9pPr marL="168846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9pPr>
          </a:lstStyle>
          <a:p>
            <a:r>
              <a:rPr kumimoji="1" lang="zh-CN" altLang="en-US" sz="3600" dirty="0">
                <a:latin typeface="微软雅黑" panose="020B0503020204020204" pitchFamily="82" charset="2"/>
                <a:ea typeface="微软雅黑" panose="020B0503020204020204" pitchFamily="82" charset="2"/>
              </a:rPr>
              <a:t>数据库架构：</a:t>
            </a:r>
            <a:r>
              <a:rPr lang="zh-CN" altLang="en-US" sz="3600" dirty="0">
                <a:latin typeface="微软雅黑" panose="020B0503020204020204" charset="-122"/>
                <a:ea typeface="微软雅黑" panose="020B0503020204020204" charset="-122"/>
              </a:rPr>
              <a:t>云原生数据库</a:t>
            </a:r>
            <a:endParaRPr lang="zh-CN" altLang="en-US" sz="3500" kern="0" dirty="0">
              <a:latin typeface="微软雅黑" panose="020B0503020204020204" charset="-122"/>
              <a:ea typeface="微软雅黑" panose="020B050302020402020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l="9906" t="23869" r="9110" b="18950"/>
          <a:stretch>
            <a:fillRect/>
          </a:stretch>
        </p:blipFill>
        <p:spPr>
          <a:xfrm>
            <a:off x="17465" y="1517514"/>
            <a:ext cx="9107079" cy="4822715"/>
          </a:xfrm>
          <a:prstGeom prst="rect">
            <a:avLst/>
          </a:prstGeom>
        </p:spPr>
      </p:pic>
      <p:sp>
        <p:nvSpPr>
          <p:cNvPr id="3" name="标题 5"/>
          <p:cNvSpPr txBox="1"/>
          <p:nvPr/>
        </p:nvSpPr>
        <p:spPr bwMode="auto">
          <a:xfrm>
            <a:off x="971551" y="128441"/>
            <a:ext cx="7822254" cy="678470"/>
          </a:xfrm>
          <a:prstGeom prst="rect">
            <a:avLst/>
          </a:prstGeom>
          <a:noFill/>
          <a:ln>
            <a:noFill/>
          </a:ln>
          <a:effectLst/>
        </p:spPr>
        <p:txBody>
          <a:bodyPr vert="horz" wrap="square" lIns="91440" tIns="45720" rIns="91440" bIns="45720" numCol="1" anchor="ctr" anchorCtr="0" compatLnSpc="1"/>
          <a:lstStyle>
            <a:lvl1pPr algn="ctr" rtl="0" eaLnBrk="1" fontAlgn="base" hangingPunct="1">
              <a:spcBef>
                <a:spcPct val="0"/>
              </a:spcBef>
              <a:spcAft>
                <a:spcPct val="0"/>
              </a:spcAft>
              <a:defRPr kumimoji="1" sz="4800" b="1" i="0">
                <a:solidFill>
                  <a:schemeClr val="tx2"/>
                </a:solidFill>
                <a:effectLst/>
                <a:latin typeface="Arial" panose="020B0604020202020204"/>
                <a:ea typeface="黑体" panose="02010609060101010101" pitchFamily="49" charset="-122"/>
                <a:cs typeface="Arial" panose="020B0604020202020204"/>
              </a:defRPr>
            </a:lvl1pPr>
            <a:lvl2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2pPr>
            <a:lvl3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3pPr>
            <a:lvl4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4pPr>
            <a:lvl5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5pPr>
            <a:lvl6pPr marL="42227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6pPr>
            <a:lvl7pPr marL="84391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7pPr>
            <a:lvl8pPr marL="1266190"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8pPr>
            <a:lvl9pPr marL="168846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9pPr>
          </a:lstStyle>
          <a:p>
            <a:r>
              <a:rPr kumimoji="1" lang="zh-CN" altLang="en-US" sz="3600" dirty="0">
                <a:latin typeface="微软雅黑" panose="020B0503020204020204" pitchFamily="82" charset="2"/>
                <a:ea typeface="微软雅黑" panose="020B0503020204020204" pitchFamily="82" charset="2"/>
              </a:rPr>
              <a:t>数据库架构：</a:t>
            </a:r>
            <a:r>
              <a:rPr lang="zh-CN" altLang="en-US" sz="3600" dirty="0">
                <a:latin typeface="微软雅黑" panose="020B0503020204020204" charset="-122"/>
                <a:ea typeface="微软雅黑" panose="020B0503020204020204" charset="-122"/>
              </a:rPr>
              <a:t>云原生数据库</a:t>
            </a:r>
            <a:endParaRPr lang="zh-CN" altLang="en-US" sz="3500" kern="0" dirty="0">
              <a:latin typeface="微软雅黑" panose="020B0503020204020204" charset="-122"/>
              <a:ea typeface="微软雅黑" panose="020B050302020402020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7" name="Rectangle 2"/>
          <p:cNvSpPr>
            <a:spLocks noGrp="1"/>
          </p:cNvSpPr>
          <p:nvPr>
            <p:ph type="title" idx="4294967295"/>
          </p:nvPr>
        </p:nvSpPr>
        <p:spPr/>
        <p:txBody>
          <a:bodyPr wrap="square" lIns="91440" tIns="45720" rIns="91440" bIns="45720" anchor="b" anchorCtr="0"/>
          <a:lstStyle/>
          <a:p>
            <a:r>
              <a:rPr lang="en-US" altLang="zh-CN" dirty="0">
                <a:effectLst/>
              </a:rPr>
              <a:t>History of Database Systems</a:t>
            </a:r>
            <a:endParaRPr lang="en-US" altLang="zh-CN" dirty="0">
              <a:effectLst/>
            </a:endParaRPr>
          </a:p>
        </p:txBody>
      </p:sp>
      <p:sp>
        <p:nvSpPr>
          <p:cNvPr id="70658" name="Rectangle 3"/>
          <p:cNvSpPr>
            <a:spLocks noGrp="1"/>
          </p:cNvSpPr>
          <p:nvPr>
            <p:ph type="body" idx="4294967295"/>
          </p:nvPr>
        </p:nvSpPr>
        <p:spPr/>
        <p:txBody>
          <a:bodyPr vert="horz" wrap="square" lIns="91440" tIns="45720" rIns="91440" bIns="45720" anchor="t" anchorCtr="0"/>
          <a:lstStyle/>
          <a:p>
            <a:r>
              <a:rPr lang="en-US" altLang="zh-CN" dirty="0"/>
              <a:t>1950s and early 1960s:</a:t>
            </a:r>
            <a:endParaRPr lang="en-US" altLang="zh-CN" dirty="0"/>
          </a:p>
          <a:p>
            <a:pPr lvl="1"/>
            <a:r>
              <a:rPr lang="en-US" altLang="zh-CN" dirty="0"/>
              <a:t>Data processing using magnetic tapes for storage</a:t>
            </a:r>
            <a:endParaRPr lang="en-US" altLang="zh-CN" dirty="0"/>
          </a:p>
          <a:p>
            <a:pPr lvl="2"/>
            <a:r>
              <a:rPr lang="en-US" altLang="zh-CN" dirty="0"/>
              <a:t>Tapes provided only sequential access</a:t>
            </a:r>
            <a:endParaRPr lang="en-US" altLang="zh-CN" dirty="0"/>
          </a:p>
          <a:p>
            <a:pPr lvl="1"/>
            <a:r>
              <a:rPr lang="en-US" altLang="zh-CN" dirty="0"/>
              <a:t>Punched cards for input</a:t>
            </a:r>
            <a:endParaRPr lang="en-US" altLang="zh-CN" dirty="0"/>
          </a:p>
          <a:p>
            <a:r>
              <a:rPr lang="en-US" altLang="zh-CN" dirty="0"/>
              <a:t>Late 1960s and 1970s:</a:t>
            </a:r>
            <a:endParaRPr lang="en-US" altLang="zh-CN" dirty="0"/>
          </a:p>
          <a:p>
            <a:pPr lvl="1"/>
            <a:r>
              <a:rPr lang="en-US" altLang="zh-CN" dirty="0"/>
              <a:t>Hard disks allowed direct access to data</a:t>
            </a:r>
            <a:endParaRPr lang="en-US" altLang="zh-CN" dirty="0"/>
          </a:p>
          <a:p>
            <a:pPr lvl="1"/>
            <a:r>
              <a:rPr lang="en-US" altLang="zh-CN" dirty="0"/>
              <a:t>Network and hierarchical data models in widespread use</a:t>
            </a:r>
            <a:endParaRPr lang="en-US" altLang="zh-CN" dirty="0"/>
          </a:p>
          <a:p>
            <a:pPr lvl="1"/>
            <a:r>
              <a:rPr lang="en-US" altLang="zh-CN" dirty="0"/>
              <a:t>Ted Codd defines the relational data model</a:t>
            </a:r>
            <a:endParaRPr lang="en-US" altLang="zh-CN" dirty="0"/>
          </a:p>
          <a:p>
            <a:pPr lvl="2"/>
            <a:r>
              <a:rPr lang="en-US" altLang="zh-CN" dirty="0"/>
              <a:t>Would win the ACM Turing Award for this work</a:t>
            </a:r>
            <a:endParaRPr lang="en-US" altLang="zh-CN" dirty="0"/>
          </a:p>
          <a:p>
            <a:pPr lvl="2"/>
            <a:r>
              <a:rPr lang="en-US" altLang="zh-CN" dirty="0"/>
              <a:t>IBM Research begins System R prototype</a:t>
            </a:r>
            <a:endParaRPr lang="en-US" altLang="zh-CN" dirty="0"/>
          </a:p>
          <a:p>
            <a:pPr lvl="2"/>
            <a:r>
              <a:rPr lang="en-US" altLang="zh-CN" dirty="0"/>
              <a:t>UC Berkeley begins Ingres prototype</a:t>
            </a:r>
            <a:endParaRPr lang="en-US" altLang="zh-CN" dirty="0"/>
          </a:p>
          <a:p>
            <a:pPr lvl="1"/>
            <a:r>
              <a:rPr lang="en-US" altLang="zh-CN" dirty="0"/>
              <a:t>High-performance (for the era) transaction processing</a:t>
            </a:r>
            <a:endParaRPr lang="en-US" altLang="zh-CN" dirty="0"/>
          </a:p>
          <a:p>
            <a:pPr>
              <a:buNone/>
            </a:pPr>
            <a:endParaRPr lang="en-US" altLang="zh-CN" dirty="0"/>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2705" name="Rectangle 2"/>
          <p:cNvSpPr>
            <a:spLocks noGrp="1"/>
          </p:cNvSpPr>
          <p:nvPr>
            <p:ph type="title" idx="4294967295"/>
          </p:nvPr>
        </p:nvSpPr>
        <p:spPr/>
        <p:txBody>
          <a:bodyPr wrap="square" lIns="91440" tIns="45720" rIns="91440" bIns="45720" anchor="b" anchorCtr="0"/>
          <a:lstStyle/>
          <a:p>
            <a:r>
              <a:rPr lang="en-US" altLang="zh-CN" dirty="0">
                <a:effectLst/>
              </a:rPr>
              <a:t>History (cont.)</a:t>
            </a:r>
            <a:endParaRPr lang="en-US" altLang="zh-CN" dirty="0">
              <a:effectLst/>
            </a:endParaRPr>
          </a:p>
        </p:txBody>
      </p:sp>
      <p:sp>
        <p:nvSpPr>
          <p:cNvPr id="72706" name="Rectangle 3"/>
          <p:cNvSpPr>
            <a:spLocks noGrp="1"/>
          </p:cNvSpPr>
          <p:nvPr>
            <p:ph type="body" idx="4294967295"/>
          </p:nvPr>
        </p:nvSpPr>
        <p:spPr>
          <a:xfrm>
            <a:off x="814388" y="1093788"/>
            <a:ext cx="7661275" cy="5224462"/>
          </a:xfrm>
        </p:spPr>
        <p:txBody>
          <a:bodyPr vert="horz" wrap="square" lIns="91440" tIns="45720" rIns="91440" bIns="45720" anchor="t" anchorCtr="0"/>
          <a:lstStyle/>
          <a:p>
            <a:pPr>
              <a:lnSpc>
                <a:spcPct val="90000"/>
              </a:lnSpc>
            </a:pPr>
            <a:r>
              <a:rPr lang="en-US" altLang="zh-CN" dirty="0"/>
              <a:t>1980s:</a:t>
            </a:r>
            <a:endParaRPr lang="en-US" altLang="zh-CN" dirty="0"/>
          </a:p>
          <a:p>
            <a:pPr lvl="1">
              <a:lnSpc>
                <a:spcPct val="90000"/>
              </a:lnSpc>
            </a:pPr>
            <a:r>
              <a:rPr lang="en-US" altLang="zh-CN" dirty="0"/>
              <a:t>Research relational prototypes evolve into commercial systems</a:t>
            </a:r>
            <a:endParaRPr lang="en-US" altLang="zh-CN" dirty="0"/>
          </a:p>
          <a:p>
            <a:pPr lvl="2">
              <a:lnSpc>
                <a:spcPct val="90000"/>
              </a:lnSpc>
            </a:pPr>
            <a:r>
              <a:rPr lang="en-US" altLang="zh-CN" dirty="0"/>
              <a:t>SQL becomes industrial standard</a:t>
            </a:r>
            <a:endParaRPr lang="en-US" altLang="zh-CN" dirty="0"/>
          </a:p>
          <a:p>
            <a:pPr lvl="1">
              <a:lnSpc>
                <a:spcPct val="90000"/>
              </a:lnSpc>
            </a:pPr>
            <a:r>
              <a:rPr lang="en-US" altLang="zh-CN" dirty="0"/>
              <a:t>Parallel and distributed database systems</a:t>
            </a:r>
            <a:endParaRPr lang="en-US" altLang="zh-CN" dirty="0"/>
          </a:p>
          <a:p>
            <a:pPr lvl="1">
              <a:lnSpc>
                <a:spcPct val="90000"/>
              </a:lnSpc>
            </a:pPr>
            <a:r>
              <a:rPr lang="en-US" altLang="zh-CN" dirty="0"/>
              <a:t>Object-oriented database systems</a:t>
            </a:r>
            <a:endParaRPr lang="en-US" altLang="zh-CN" dirty="0"/>
          </a:p>
          <a:p>
            <a:pPr>
              <a:lnSpc>
                <a:spcPct val="90000"/>
              </a:lnSpc>
            </a:pPr>
            <a:r>
              <a:rPr lang="en-US" altLang="zh-CN" dirty="0"/>
              <a:t>1990s:</a:t>
            </a:r>
            <a:endParaRPr lang="en-US" altLang="zh-CN" dirty="0"/>
          </a:p>
          <a:p>
            <a:pPr lvl="1">
              <a:lnSpc>
                <a:spcPct val="90000"/>
              </a:lnSpc>
            </a:pPr>
            <a:r>
              <a:rPr lang="en-US" altLang="zh-CN" dirty="0"/>
              <a:t>Large decision support and data-mining applications</a:t>
            </a:r>
            <a:endParaRPr lang="en-US" altLang="zh-CN" dirty="0"/>
          </a:p>
          <a:p>
            <a:pPr lvl="1">
              <a:lnSpc>
                <a:spcPct val="90000"/>
              </a:lnSpc>
            </a:pPr>
            <a:r>
              <a:rPr lang="en-US" altLang="zh-CN" dirty="0"/>
              <a:t>Large multi-terabyte data warehouses</a:t>
            </a:r>
            <a:endParaRPr lang="en-US" altLang="zh-CN" dirty="0"/>
          </a:p>
          <a:p>
            <a:pPr lvl="1">
              <a:lnSpc>
                <a:spcPct val="90000"/>
              </a:lnSpc>
            </a:pPr>
            <a:r>
              <a:rPr lang="en-US" altLang="zh-CN" dirty="0"/>
              <a:t>Emergence of Web commerce</a:t>
            </a:r>
            <a:endParaRPr lang="en-US" altLang="zh-CN" dirty="0"/>
          </a:p>
          <a:p>
            <a:pPr>
              <a:lnSpc>
                <a:spcPct val="90000"/>
              </a:lnSpc>
            </a:pPr>
            <a:r>
              <a:rPr lang="en-US" altLang="zh-CN" dirty="0"/>
              <a:t>Early 2000s:</a:t>
            </a:r>
            <a:endParaRPr lang="en-US" altLang="zh-CN" dirty="0"/>
          </a:p>
          <a:p>
            <a:pPr lvl="1">
              <a:lnSpc>
                <a:spcPct val="90000"/>
              </a:lnSpc>
            </a:pPr>
            <a:r>
              <a:rPr lang="en-US" altLang="zh-CN" dirty="0"/>
              <a:t>XML and XQuery standards</a:t>
            </a:r>
            <a:endParaRPr lang="en-US" altLang="zh-CN" dirty="0"/>
          </a:p>
          <a:p>
            <a:pPr lvl="1">
              <a:lnSpc>
                <a:spcPct val="90000"/>
              </a:lnSpc>
            </a:pPr>
            <a:r>
              <a:rPr lang="en-US" altLang="zh-CN" dirty="0"/>
              <a:t>Automated database administration</a:t>
            </a:r>
            <a:endParaRPr lang="en-US" altLang="zh-CN" dirty="0"/>
          </a:p>
          <a:p>
            <a:pPr>
              <a:lnSpc>
                <a:spcPct val="90000"/>
              </a:lnSpc>
            </a:pPr>
            <a:r>
              <a:rPr lang="en-US" altLang="zh-CN" dirty="0"/>
              <a:t>Later 2000s:</a:t>
            </a:r>
            <a:endParaRPr lang="en-US" altLang="zh-CN" dirty="0"/>
          </a:p>
          <a:p>
            <a:pPr lvl="1">
              <a:lnSpc>
                <a:spcPct val="90000"/>
              </a:lnSpc>
            </a:pPr>
            <a:r>
              <a:rPr lang="en-US" altLang="zh-CN" dirty="0"/>
              <a:t>Giant data storage systems</a:t>
            </a:r>
            <a:endParaRPr lang="en-US" altLang="zh-CN" dirty="0"/>
          </a:p>
          <a:p>
            <a:pPr lvl="2">
              <a:lnSpc>
                <a:spcPct val="90000"/>
              </a:lnSpc>
            </a:pPr>
            <a:r>
              <a:rPr lang="en-US" altLang="zh-CN" dirty="0"/>
              <a:t>Google BigTable, Yahoo PNuts, Amazon, ..</a:t>
            </a:r>
            <a:endParaRPr lang="en-US" altLang="zh-CN" dirty="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62635" y="194310"/>
            <a:ext cx="7875905" cy="584835"/>
          </a:xfrm>
          <a:prstGeom prst="rect">
            <a:avLst/>
          </a:prstGeom>
          <a:noFill/>
          <a:ln w="9525">
            <a:noFill/>
            <a:miter lim="800000"/>
          </a:ln>
        </p:spPr>
        <p:txBody>
          <a:bodyPr vert="horz" wrap="square" lIns="91440" tIns="45720" rIns="91440" bIns="45720" numCol="1" anchor="b" anchorCtr="0" compatLnSpc="1"/>
          <a:lstStyle>
            <a:lvl1pPr algn="ctr" eaLnBrk="0" hangingPunct="0">
              <a:defRPr sz="3200" b="1">
                <a:solidFill>
                  <a:schemeClr val="tx2"/>
                </a:solidFill>
                <a:effectLst/>
                <a:latin typeface="+mj-lt"/>
                <a:cs typeface="MS PGothic" panose="020B0600070205080204" pitchFamily="34" charset="-128"/>
              </a:defRPr>
            </a:lvl1pPr>
            <a:lvl2pPr algn="ctr" eaLnBrk="0" hangingPunct="0">
              <a:defRPr sz="3200" b="1">
                <a:solidFill>
                  <a:schemeClr val="tx2"/>
                </a:solidFill>
                <a:effectLst>
                  <a:outerShdw blurRad="38100" dist="38100" dir="2700000" algn="tl">
                    <a:srgbClr val="DDDDDD"/>
                  </a:outerShdw>
                </a:effectLst>
                <a:cs typeface="MS PGothic" panose="020B0600070205080204" pitchFamily="34" charset="-128"/>
              </a:defRPr>
            </a:lvl2pPr>
            <a:lvl3pPr algn="ctr" eaLnBrk="0" hangingPunct="0">
              <a:defRPr sz="3200" b="1">
                <a:solidFill>
                  <a:schemeClr val="tx2"/>
                </a:solidFill>
                <a:effectLst>
                  <a:outerShdw blurRad="38100" dist="38100" dir="2700000" algn="tl">
                    <a:srgbClr val="DDDDDD"/>
                  </a:outerShdw>
                </a:effectLst>
                <a:cs typeface="MS PGothic" panose="020B0600070205080204" pitchFamily="34" charset="-128"/>
              </a:defRPr>
            </a:lvl3pPr>
            <a:lvl4pPr algn="ctr" eaLnBrk="0" hangingPunct="0">
              <a:defRPr sz="3200" b="1">
                <a:solidFill>
                  <a:schemeClr val="tx2"/>
                </a:solidFill>
                <a:effectLst>
                  <a:outerShdw blurRad="38100" dist="38100" dir="2700000" algn="tl">
                    <a:srgbClr val="DDDDDD"/>
                  </a:outerShdw>
                </a:effectLst>
                <a:cs typeface="MS PGothic" panose="020B0600070205080204" pitchFamily="34" charset="-128"/>
              </a:defRPr>
            </a:lvl4pPr>
            <a:lvl5pPr algn="ctr" eaLnBrk="0" hangingPunct="0">
              <a:defRPr sz="3200" b="1">
                <a:solidFill>
                  <a:schemeClr val="tx2"/>
                </a:solidFill>
                <a:effectLst>
                  <a:outerShdw blurRad="38100" dist="38100" dir="2700000" algn="tl">
                    <a:srgbClr val="DDDDDD"/>
                  </a:outerShdw>
                </a:effectLst>
                <a:cs typeface="MS PGothic" panose="020B0600070205080204" pitchFamily="34" charset="-128"/>
              </a:defRPr>
            </a:lvl5pPr>
            <a:lvl6pPr marL="457200" algn="ctr" eaLnBrk="0" hangingPunct="0">
              <a:defRPr kumimoji="1" sz="3200" b="1">
                <a:solidFill>
                  <a:schemeClr val="tx2"/>
                </a:solidFill>
                <a:effectLst>
                  <a:outerShdw blurRad="38100" dist="38100" dir="2700000" algn="tl">
                    <a:srgbClr val="DDDDDD"/>
                  </a:outerShdw>
                </a:effectLst>
              </a:defRPr>
            </a:lvl6pPr>
            <a:lvl7pPr marL="914400" algn="ctr" eaLnBrk="0" hangingPunct="0">
              <a:defRPr kumimoji="1" sz="3200" b="1">
                <a:solidFill>
                  <a:schemeClr val="tx2"/>
                </a:solidFill>
                <a:effectLst>
                  <a:outerShdw blurRad="38100" dist="38100" dir="2700000" algn="tl">
                    <a:srgbClr val="DDDDDD"/>
                  </a:outerShdw>
                </a:effectLst>
              </a:defRPr>
            </a:lvl7pPr>
            <a:lvl8pPr marL="1371600" algn="ctr" eaLnBrk="0" hangingPunct="0">
              <a:defRPr kumimoji="1" sz="3200" b="1">
                <a:solidFill>
                  <a:schemeClr val="tx2"/>
                </a:solidFill>
                <a:effectLst>
                  <a:outerShdw blurRad="38100" dist="38100" dir="2700000" algn="tl">
                    <a:srgbClr val="DDDDDD"/>
                  </a:outerShdw>
                </a:effectLst>
              </a:defRPr>
            </a:lvl8pPr>
            <a:lvl9pPr marL="1828800" algn="ctr" eaLnBrk="0" hangingPunct="0">
              <a:defRPr kumimoji="1" sz="3200" b="1">
                <a:solidFill>
                  <a:schemeClr val="tx2"/>
                </a:solidFill>
                <a:effectLst>
                  <a:outerShdw blurRad="38100" dist="38100" dir="2700000" algn="tl">
                    <a:srgbClr val="DDDDDD"/>
                  </a:outerShdw>
                </a:effectLst>
              </a:defRPr>
            </a:lvl9pPr>
          </a:lstStyle>
          <a:p>
            <a:r>
              <a:rPr lang="zh-CN" altLang="en-US" sz="4000" dirty="0">
                <a:latin typeface="Arial" panose="020B0604020202020204" pitchFamily="34" charset="0"/>
                <a:ea typeface="黑体" panose="02010609060101010101" pitchFamily="49" charset="-122"/>
                <a:cs typeface="Arial" panose="020B0604020202020204" pitchFamily="34" charset="0"/>
              </a:rPr>
              <a:t>数据库模型： </a:t>
            </a:r>
            <a:r>
              <a:rPr lang="en-US" altLang="zh-CN" sz="4000" dirty="0">
                <a:latin typeface="Arial" panose="020B0604020202020204" pitchFamily="34" charset="0"/>
                <a:ea typeface="黑体" panose="02010609060101010101" pitchFamily="49" charset="-122"/>
                <a:cs typeface="Arial" panose="020B0604020202020204" pitchFamily="34" charset="0"/>
              </a:rPr>
              <a:t>NoSQL</a:t>
            </a:r>
            <a:r>
              <a:rPr lang="zh-CN" altLang="en-US" sz="4000" dirty="0">
                <a:latin typeface="Arial" panose="020B0604020202020204" pitchFamily="34" charset="0"/>
                <a:ea typeface="黑体" panose="02010609060101010101" pitchFamily="49" charset="-122"/>
                <a:cs typeface="Arial" panose="020B0604020202020204" pitchFamily="34" charset="0"/>
              </a:rPr>
              <a:t>数据库类型</a:t>
            </a:r>
            <a:endParaRPr lang="zh-CN" altLang="en-US" sz="4000" dirty="0">
              <a:latin typeface="Arial" panose="020B0604020202020204" pitchFamily="34" charset="0"/>
              <a:ea typeface="黑体" panose="02010609060101010101" pitchFamily="49" charset="-122"/>
              <a:cs typeface="Arial" panose="020B0604020202020204" pitchFamily="34" charset="0"/>
            </a:endParaRPr>
          </a:p>
        </p:txBody>
      </p:sp>
      <p:sp>
        <p:nvSpPr>
          <p:cNvPr id="4" name="Content Placeholder 3"/>
          <p:cNvSpPr>
            <a:spLocks noGrp="1"/>
          </p:cNvSpPr>
          <p:nvPr/>
        </p:nvSpPr>
        <p:spPr>
          <a:xfrm>
            <a:off x="60960" y="1166495"/>
            <a:ext cx="8971280" cy="5469890"/>
          </a:xfrm>
          <a:prstGeom prst="rect">
            <a:avLst/>
          </a:prstGeom>
          <a:noFill/>
          <a:ln>
            <a:noFill/>
          </a:ln>
          <a:effectLst/>
        </p:spPr>
        <p:txBody>
          <a:bodyPr vert="horz" wrap="square" lIns="91440" tIns="45720" rIns="91440" bIns="45720" numCol="1" anchor="t" anchorCtr="0" compatLnSpc="1"/>
          <a:lstStyle>
            <a:lvl1pPr marL="316230" indent="-316230" algn="l" rtl="0" eaLnBrk="1" fontAlgn="base" hangingPunct="1">
              <a:spcBef>
                <a:spcPct val="20000"/>
              </a:spcBef>
              <a:spcAft>
                <a:spcPct val="0"/>
              </a:spcAft>
              <a:buFont typeface="Wingdings" panose="05000000000000000000" pitchFamily="2" charset="2"/>
              <a:buChar char="p"/>
              <a:defRPr kumimoji="1" sz="3200" b="0">
                <a:solidFill>
                  <a:schemeClr val="tx1"/>
                </a:solidFill>
                <a:effectLst/>
                <a:latin typeface="黑体" panose="02010609060101010101" pitchFamily="49" charset="-122"/>
                <a:ea typeface="黑体" panose="02010609060101010101" pitchFamily="49" charset="-122"/>
                <a:cs typeface="Arial" panose="020B0604020202020204"/>
              </a:defRPr>
            </a:lvl1pPr>
            <a:lvl2pPr marL="685800" indent="-263525" algn="l" rtl="0" eaLnBrk="1" fontAlgn="base" hangingPunct="1">
              <a:spcBef>
                <a:spcPct val="20000"/>
              </a:spcBef>
              <a:spcAft>
                <a:spcPct val="0"/>
              </a:spcAft>
              <a:buChar char="–"/>
              <a:defRPr kumimoji="1" sz="2800" b="0">
                <a:solidFill>
                  <a:schemeClr val="tx1"/>
                </a:solidFill>
                <a:effectLst/>
                <a:latin typeface="黑体" panose="02010609060101010101" pitchFamily="49" charset="-122"/>
                <a:ea typeface="黑体" panose="02010609060101010101" pitchFamily="49" charset="-122"/>
                <a:cs typeface="Arial" panose="020B0604020202020204"/>
              </a:defRPr>
            </a:lvl2pPr>
            <a:lvl3pPr marL="1055370" indent="-210820" algn="l" rtl="0" eaLnBrk="1" fontAlgn="base" hangingPunct="1">
              <a:spcBef>
                <a:spcPct val="20000"/>
              </a:spcBef>
              <a:spcAft>
                <a:spcPct val="0"/>
              </a:spcAft>
              <a:buChar char="•"/>
              <a:defRPr kumimoji="1" sz="2400" b="0">
                <a:solidFill>
                  <a:schemeClr val="tx1"/>
                </a:solidFill>
                <a:effectLst/>
                <a:latin typeface="黑体" panose="02010609060101010101" pitchFamily="49" charset="-122"/>
                <a:ea typeface="黑体" panose="02010609060101010101" pitchFamily="49" charset="-122"/>
                <a:cs typeface="Arial" panose="020B0604020202020204"/>
              </a:defRPr>
            </a:lvl3pPr>
            <a:lvl4pPr marL="147701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4pPr>
            <a:lvl5pPr marL="189928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5pPr>
            <a:lvl6pPr marL="232092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6pPr>
            <a:lvl7pPr marL="274320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7pPr>
            <a:lvl8pPr marL="316547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8pPr>
            <a:lvl9pPr marL="358711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9pPr>
          </a:lstStyle>
          <a:p>
            <a:pPr>
              <a:lnSpc>
                <a:spcPct val="110000"/>
              </a:lnSpc>
            </a:pPr>
            <a:r>
              <a:rPr kumimoji="1" lang="zh-CN" altLang="en-US" sz="2400" b="1" dirty="0">
                <a:solidFill>
                  <a:srgbClr val="6F1787"/>
                </a:solidFill>
                <a:latin typeface="微软雅黑" panose="020B0503020204020204" charset="-122"/>
                <a:ea typeface="微软雅黑" panose="020B0503020204020204" charset="-122"/>
              </a:rPr>
              <a:t>键值数据库</a:t>
            </a:r>
            <a:endParaRPr kumimoji="1" lang="en-US" altLang="zh-CN" sz="2400" b="1" dirty="0">
              <a:solidFill>
                <a:srgbClr val="6F1787"/>
              </a:solidFill>
              <a:latin typeface="微软雅黑" panose="020B0503020204020204" charset="-122"/>
              <a:ea typeface="微软雅黑" panose="020B0503020204020204" charset="-122"/>
            </a:endParaRPr>
          </a:p>
          <a:p>
            <a:pPr lvl="1">
              <a:lnSpc>
                <a:spcPct val="110000"/>
              </a:lnSpc>
            </a:pPr>
            <a:r>
              <a:rPr lang="zh-CN" altLang="en-US" sz="2400" dirty="0">
                <a:latin typeface="微软雅黑" panose="020B0503020204020204" charset="-122"/>
                <a:ea typeface="微软雅黑" panose="020B0503020204020204" charset="-122"/>
              </a:rPr>
              <a:t>以键值对格式存储数据的数据库，数据访问简单高效</a:t>
            </a:r>
            <a:endParaRPr lang="en-US" altLang="zh-CN" sz="2400" dirty="0">
              <a:latin typeface="微软雅黑" panose="020B0503020204020204" charset="-122"/>
              <a:ea typeface="微软雅黑" panose="020B0503020204020204" charset="-122"/>
            </a:endParaRPr>
          </a:p>
          <a:p>
            <a:pPr>
              <a:lnSpc>
                <a:spcPct val="110000"/>
              </a:lnSpc>
            </a:pPr>
            <a:r>
              <a:rPr kumimoji="1" lang="zh-CN" altLang="en-US" sz="2400" b="1" dirty="0">
                <a:solidFill>
                  <a:srgbClr val="6F1787"/>
                </a:solidFill>
                <a:latin typeface="微软雅黑" panose="020B0503020204020204" charset="-122"/>
                <a:ea typeface="微软雅黑" panose="020B0503020204020204" charset="-122"/>
              </a:rPr>
              <a:t>列族数据库</a:t>
            </a:r>
            <a:endParaRPr kumimoji="1" lang="en-US" altLang="zh-CN" sz="2400" b="1" dirty="0">
              <a:solidFill>
                <a:srgbClr val="6F1787"/>
              </a:solidFill>
              <a:latin typeface="微软雅黑" panose="020B0503020204020204" charset="-122"/>
              <a:ea typeface="微软雅黑" panose="020B0503020204020204" charset="-122"/>
            </a:endParaRPr>
          </a:p>
          <a:p>
            <a:pPr lvl="1">
              <a:lnSpc>
                <a:spcPct val="110000"/>
              </a:lnSpc>
            </a:pPr>
            <a:r>
              <a:rPr kumimoji="1" lang="zh-CN" altLang="en-US" sz="2400" dirty="0">
                <a:latin typeface="微软雅黑" panose="020B0503020204020204" charset="-122"/>
                <a:ea typeface="微软雅黑" panose="020B0503020204020204" charset="-122"/>
              </a:rPr>
              <a:t>数据列按访问关联性划分成不同族，一个族可视为关系表</a:t>
            </a:r>
            <a:endParaRPr kumimoji="1" lang="en-US" altLang="zh-CN" sz="2400" dirty="0">
              <a:latin typeface="微软雅黑" panose="020B0503020204020204" charset="-122"/>
              <a:ea typeface="微软雅黑" panose="020B0503020204020204" charset="-122"/>
            </a:endParaRPr>
          </a:p>
          <a:p>
            <a:pPr>
              <a:lnSpc>
                <a:spcPct val="110000"/>
              </a:lnSpc>
            </a:pPr>
            <a:r>
              <a:rPr lang="zh-CN" altLang="en-US" sz="2400" b="1" dirty="0">
                <a:solidFill>
                  <a:srgbClr val="6F1787"/>
                </a:solidFill>
                <a:latin typeface="微软雅黑" panose="020B0503020204020204" charset="-122"/>
                <a:ea typeface="微软雅黑" panose="020B0503020204020204" charset="-122"/>
              </a:rPr>
              <a:t>文档数据库</a:t>
            </a:r>
            <a:endParaRPr lang="en-US" altLang="zh-CN" sz="2400" b="1" dirty="0">
              <a:solidFill>
                <a:srgbClr val="6F1787"/>
              </a:solidFill>
              <a:latin typeface="微软雅黑" panose="020B0503020204020204" charset="-122"/>
              <a:ea typeface="微软雅黑" panose="020B0503020204020204" charset="-122"/>
            </a:endParaRPr>
          </a:p>
          <a:p>
            <a:pPr lvl="1">
              <a:lnSpc>
                <a:spcPct val="110000"/>
              </a:lnSpc>
            </a:pPr>
            <a:r>
              <a:rPr kumimoji="1" lang="zh-CN" altLang="en-US" sz="2400" dirty="0">
                <a:latin typeface="微软雅黑" panose="020B0503020204020204" charset="-122"/>
                <a:ea typeface="微软雅黑" panose="020B0503020204020204" charset="-122"/>
              </a:rPr>
              <a:t>以</a:t>
            </a:r>
            <a:r>
              <a:rPr kumimoji="1" lang="en-US" altLang="zh-CN" sz="2400" dirty="0">
                <a:latin typeface="微软雅黑" panose="020B0503020204020204" charset="-122"/>
                <a:ea typeface="微软雅黑" panose="020B0503020204020204" charset="-122"/>
              </a:rPr>
              <a:t>JSON</a:t>
            </a:r>
            <a:r>
              <a:rPr lang="zh-CN" altLang="en-US" sz="2400" dirty="0">
                <a:latin typeface="微软雅黑" panose="020B0503020204020204" charset="-122"/>
                <a:ea typeface="微软雅黑" panose="020B0503020204020204" charset="-122"/>
              </a:rPr>
              <a:t>等文档格式存取数据，避免应用中数据转换的代价</a:t>
            </a:r>
            <a:endParaRPr lang="en-US" altLang="zh-CN" sz="2400" dirty="0">
              <a:latin typeface="微软雅黑" panose="020B0503020204020204" charset="-122"/>
              <a:ea typeface="微软雅黑" panose="020B0503020204020204" charset="-122"/>
            </a:endParaRPr>
          </a:p>
          <a:p>
            <a:pPr>
              <a:lnSpc>
                <a:spcPct val="110000"/>
              </a:lnSpc>
            </a:pPr>
            <a:r>
              <a:rPr lang="zh-CN" altLang="en-US" sz="2400" b="1" dirty="0">
                <a:solidFill>
                  <a:srgbClr val="6F1787"/>
                </a:solidFill>
                <a:latin typeface="微软雅黑" panose="020B0503020204020204" charset="-122"/>
                <a:ea typeface="微软雅黑" panose="020B0503020204020204" charset="-122"/>
              </a:rPr>
              <a:t>图数据库</a:t>
            </a:r>
            <a:endParaRPr lang="en-US" altLang="zh-CN" sz="2400" b="1" dirty="0">
              <a:solidFill>
                <a:srgbClr val="6F1787"/>
              </a:solidFill>
              <a:latin typeface="微软雅黑" panose="020B0503020204020204" charset="-122"/>
              <a:ea typeface="微软雅黑" panose="020B0503020204020204" charset="-122"/>
            </a:endParaRPr>
          </a:p>
          <a:p>
            <a:pPr lvl="1">
              <a:lnSpc>
                <a:spcPct val="110000"/>
              </a:lnSpc>
            </a:pPr>
            <a:r>
              <a:rPr kumimoji="1" lang="zh-CN" altLang="en-US" sz="2400" dirty="0">
                <a:latin typeface="微软雅黑" panose="020B0503020204020204" charset="-122"/>
                <a:ea typeface="微软雅黑" panose="020B0503020204020204" charset="-122"/>
              </a:rPr>
              <a:t>以包含边、节点及属性的图结构来存储数据和建模关联</a:t>
            </a:r>
            <a:r>
              <a:rPr lang="zh-CN" altLang="en-US" sz="2400" dirty="0">
                <a:latin typeface="微软雅黑" panose="020B0503020204020204" charset="-122"/>
                <a:ea typeface="微软雅黑" panose="020B0503020204020204" charset="-122"/>
              </a:rPr>
              <a:t>信息</a:t>
            </a:r>
            <a:endParaRPr lang="en-US" altLang="zh-CN" sz="2400" dirty="0">
              <a:latin typeface="微软雅黑" panose="020B0503020204020204" charset="-122"/>
              <a:ea typeface="微软雅黑" panose="020B0503020204020204" charset="-122"/>
            </a:endParaRPr>
          </a:p>
          <a:p>
            <a:pPr>
              <a:lnSpc>
                <a:spcPct val="110000"/>
              </a:lnSpc>
            </a:pPr>
            <a:r>
              <a:rPr lang="zh-CN" altLang="en-US" sz="2400" b="1" dirty="0">
                <a:solidFill>
                  <a:srgbClr val="6F1787"/>
                </a:solidFill>
                <a:latin typeface="微软雅黑" panose="020B0503020204020204" charset="-122"/>
                <a:ea typeface="微软雅黑" panose="020B0503020204020204" charset="-122"/>
              </a:rPr>
              <a:t>向量数据库</a:t>
            </a:r>
            <a:endParaRPr lang="en-US" altLang="zh-CN" sz="2400" b="1" dirty="0">
              <a:solidFill>
                <a:srgbClr val="6F1787"/>
              </a:solidFill>
              <a:latin typeface="微软雅黑" panose="020B0503020204020204" charset="-122"/>
              <a:ea typeface="微软雅黑" panose="020B0503020204020204" charset="-122"/>
            </a:endParaRPr>
          </a:p>
          <a:p>
            <a:pPr lvl="1">
              <a:lnSpc>
                <a:spcPct val="110000"/>
              </a:lnSpc>
            </a:pPr>
            <a:r>
              <a:rPr lang="zh-CN" altLang="en-US" sz="2400" dirty="0">
                <a:latin typeface="微软雅黑" panose="020B0503020204020204" charset="-122"/>
                <a:ea typeface="微软雅黑" panose="020B0503020204020204" charset="-122"/>
              </a:rPr>
              <a:t>非结构化数据（文本、图片）转换的向量数据（</a:t>
            </a:r>
            <a:r>
              <a:rPr lang="en-US" altLang="zh-CN" sz="2400" dirty="0">
                <a:latin typeface="微软雅黑" panose="020B0503020204020204" charset="-122"/>
                <a:ea typeface="微软雅黑" panose="020B0503020204020204" charset="-122"/>
              </a:rPr>
              <a:t>embedding</a:t>
            </a:r>
            <a:r>
              <a:rPr lang="zh-CN" altLang="en-US" sz="2400" dirty="0">
                <a:latin typeface="微软雅黑" panose="020B0503020204020204" charset="-122"/>
                <a:ea typeface="微软雅黑" panose="020B0503020204020204" charset="-122"/>
              </a:rPr>
              <a:t>、</a:t>
            </a:r>
            <a:r>
              <a:rPr lang="en-US" altLang="zh-CN" sz="2400" dirty="0">
                <a:latin typeface="微软雅黑" panose="020B0503020204020204" charset="-122"/>
                <a:ea typeface="微软雅黑" panose="020B0503020204020204" charset="-122"/>
              </a:rPr>
              <a:t>vector</a:t>
            </a:r>
            <a:r>
              <a:rPr lang="zh-CN" altLang="en-US" sz="2400" dirty="0">
                <a:latin typeface="微软雅黑" panose="020B0503020204020204" charset="-122"/>
                <a:ea typeface="微软雅黑" panose="020B0503020204020204" charset="-122"/>
              </a:rPr>
              <a:t>）</a:t>
            </a:r>
            <a:endParaRPr kumimoji="1" lang="en-US" altLang="zh-CN" sz="2400" dirty="0">
              <a:latin typeface="微软雅黑" panose="020B0503020204020204" charset="-122"/>
              <a:ea typeface="微软雅黑" panose="020B050302020402020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24880" t="54872" r="57467" b="4416"/>
          <a:stretch>
            <a:fillRect/>
          </a:stretch>
        </p:blipFill>
        <p:spPr bwMode="auto">
          <a:xfrm>
            <a:off x="3225800" y="3885565"/>
            <a:ext cx="1899285" cy="233997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77314" t="53483" r="3583"/>
          <a:stretch>
            <a:fillRect/>
          </a:stretch>
        </p:blipFill>
        <p:spPr bwMode="auto">
          <a:xfrm>
            <a:off x="1866900" y="208915"/>
            <a:ext cx="1956435" cy="254508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49963" t="54871" r="28404"/>
          <a:stretch>
            <a:fillRect/>
          </a:stretch>
        </p:blipFill>
        <p:spPr bwMode="auto">
          <a:xfrm>
            <a:off x="552450" y="3885565"/>
            <a:ext cx="1904365" cy="212217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preview"/>
          <p:cNvPicPr>
            <a:picLocks noChangeAspect="1" noChangeArrowheads="1"/>
          </p:cNvPicPr>
          <p:nvPr/>
        </p:nvPicPr>
        <p:blipFill rotWithShape="1">
          <a:blip r:embed="rId2">
            <a:extLst>
              <a:ext uri="{28A0092B-C50C-407E-A947-70E740481C1C}">
                <a14:useLocalDpi xmlns:a14="http://schemas.microsoft.com/office/drawing/2010/main" val="0"/>
              </a:ext>
            </a:extLst>
          </a:blip>
          <a:srcRect l="41045" t="31293" r="32798" b="6000"/>
          <a:stretch>
            <a:fillRect/>
          </a:stretch>
        </p:blipFill>
        <p:spPr bwMode="auto">
          <a:xfrm>
            <a:off x="6162675" y="4150360"/>
            <a:ext cx="2233930" cy="2656205"/>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p:cNvSpPr txBox="1"/>
          <p:nvPr/>
        </p:nvSpPr>
        <p:spPr>
          <a:xfrm>
            <a:off x="6977158" y="3641314"/>
            <a:ext cx="964482" cy="369332"/>
          </a:xfrm>
          <a:prstGeom prst="rect">
            <a:avLst/>
          </a:prstGeom>
          <a:noFill/>
        </p:spPr>
        <p:txBody>
          <a:bodyPr wrap="square">
            <a:spAutoFit/>
          </a:bodyPr>
          <a:p>
            <a:r>
              <a:rPr lang="en-US" altLang="zh-CN" sz="1800" b="1" dirty="0">
                <a:latin typeface="Abadi MT Condensed Light" panose="020B0306030101010103" pitchFamily="34" charset="0"/>
              </a:rPr>
              <a:t>vector</a:t>
            </a:r>
            <a:endParaRPr lang="zh-CN" altLang="en-US" b="1" dirty="0">
              <a:latin typeface="Abadi MT Condensed Light" panose="020B0306030101010103" pitchFamily="34" charset="0"/>
            </a:endParaRPr>
          </a:p>
        </p:txBody>
      </p:sp>
      <p:pic>
        <p:nvPicPr>
          <p:cNvPr id="3" name="图片 2"/>
          <p:cNvPicPr>
            <a:picLocks noChangeAspect="1"/>
          </p:cNvPicPr>
          <p:nvPr/>
        </p:nvPicPr>
        <p:blipFill>
          <a:blip r:embed="rId3"/>
          <a:stretch>
            <a:fillRect/>
          </a:stretch>
        </p:blipFill>
        <p:spPr>
          <a:xfrm>
            <a:off x="4255135" y="233045"/>
            <a:ext cx="4479290" cy="3268345"/>
          </a:xfrm>
          <a:prstGeom prst="rect">
            <a:avLst/>
          </a:prstGeom>
        </p:spPr>
      </p:pic>
      <p:sp>
        <p:nvSpPr>
          <p:cNvPr id="4" name="文本框 3"/>
          <p:cNvSpPr txBox="1"/>
          <p:nvPr/>
        </p:nvSpPr>
        <p:spPr>
          <a:xfrm>
            <a:off x="1399540" y="2753995"/>
            <a:ext cx="2713355" cy="583565"/>
          </a:xfrm>
          <a:prstGeom prst="rect">
            <a:avLst/>
          </a:prstGeom>
          <a:noFill/>
        </p:spPr>
        <p:txBody>
          <a:bodyPr wrap="square" rtlCol="0">
            <a:spAutoFit/>
          </a:bodyPr>
          <a:p>
            <a:pPr lvl="0" algn="l">
              <a:buClrTx/>
              <a:buSzTx/>
              <a:buFontTx/>
            </a:pPr>
            <a:r>
              <a:rPr lang="zh-CN" altLang="en-US" b="1">
                <a:solidFill>
                  <a:srgbClr val="C00000"/>
                </a:solidFill>
                <a:latin typeface="Arial" panose="020B0604020202020204" pitchFamily="34" charset="0"/>
                <a:ea typeface="幼圆" panose="02010509060101010101" pitchFamily="49" charset="-122"/>
                <a:cs typeface="Arial" panose="020B0604020202020204" pitchFamily="34" charset="0"/>
                <a:sym typeface="+mn-ea"/>
              </a:rPr>
              <a:t>常见应用：缓存、会话存储、配置存储等（如</a:t>
            </a:r>
            <a:r>
              <a:rPr lang="zh-CN" altLang="en-US" b="1">
                <a:solidFill>
                  <a:srgbClr val="C00000"/>
                </a:solidFill>
                <a:latin typeface="Arial" panose="020B0604020202020204" pitchFamily="34" charset="0"/>
                <a:ea typeface="幼圆" panose="02010509060101010101" pitchFamily="49" charset="-122"/>
                <a:cs typeface="Arial" panose="020B0604020202020204" pitchFamily="34" charset="0"/>
                <a:sym typeface="+mn-ea"/>
              </a:rPr>
              <a:t> Redis</a:t>
            </a:r>
            <a:r>
              <a:rPr lang="zh-CN" altLang="en-US" b="1">
                <a:solidFill>
                  <a:srgbClr val="C00000"/>
                </a:solidFill>
                <a:latin typeface="Arial" panose="020B0604020202020204" pitchFamily="34" charset="0"/>
                <a:ea typeface="幼圆" panose="02010509060101010101" pitchFamily="49" charset="-122"/>
                <a:cs typeface="Arial" panose="020B0604020202020204" pitchFamily="34" charset="0"/>
                <a:sym typeface="+mn-ea"/>
              </a:rPr>
              <a:t>）</a:t>
            </a:r>
            <a:endParaRPr lang="zh-CN" altLang="en-US" b="1">
              <a:solidFill>
                <a:srgbClr val="C00000"/>
              </a:solidFill>
              <a:latin typeface="Arial" panose="020B0604020202020204" pitchFamily="34" charset="0"/>
              <a:ea typeface="幼圆" panose="02010509060101010101" pitchFamily="49" charset="-122"/>
              <a:cs typeface="Arial" panose="020B0604020202020204" pitchFamily="34" charset="0"/>
              <a:sym typeface="+mn-ea"/>
            </a:endParaRPr>
          </a:p>
        </p:txBody>
      </p:sp>
      <p:sp>
        <p:nvSpPr>
          <p:cNvPr id="5" name="文本框 4"/>
          <p:cNvSpPr txBox="1"/>
          <p:nvPr/>
        </p:nvSpPr>
        <p:spPr>
          <a:xfrm>
            <a:off x="4824730" y="22860"/>
            <a:ext cx="3488055" cy="337185"/>
          </a:xfrm>
          <a:prstGeom prst="rect">
            <a:avLst/>
          </a:prstGeom>
          <a:noFill/>
        </p:spPr>
        <p:txBody>
          <a:bodyPr wrap="square" rtlCol="0">
            <a:spAutoFit/>
          </a:bodyPr>
          <a:p>
            <a:pPr lvl="0" algn="l">
              <a:buClrTx/>
              <a:buSzTx/>
              <a:buFontTx/>
            </a:pPr>
            <a:r>
              <a:rPr lang="zh-CN" altLang="en-US" b="1">
                <a:solidFill>
                  <a:srgbClr val="C00000"/>
                </a:solidFill>
                <a:latin typeface="幼圆" panose="02010509060101010101" pitchFamily="49" charset="-122"/>
                <a:ea typeface="幼圆" panose="02010509060101010101" pitchFamily="49" charset="-122"/>
                <a:sym typeface="+mn-ea"/>
              </a:rPr>
              <a:t>适合</a:t>
            </a:r>
            <a:r>
              <a:rPr lang="zh-CN" altLang="en-US" b="1">
                <a:solidFill>
                  <a:srgbClr val="C00000"/>
                </a:solidFill>
                <a:latin typeface="幼圆" panose="02010509060101010101" pitchFamily="49" charset="-122"/>
                <a:ea typeface="幼圆" panose="02010509060101010101" pitchFamily="49" charset="-122"/>
                <a:sym typeface="+mn-ea"/>
              </a:rPr>
              <a:t>大规模分布式存储和高效查询</a:t>
            </a:r>
            <a:endParaRPr lang="zh-CN" altLang="en-US" b="1">
              <a:solidFill>
                <a:srgbClr val="C00000"/>
              </a:solidFill>
              <a:latin typeface="幼圆" panose="02010509060101010101" pitchFamily="49" charset="-122"/>
              <a:ea typeface="幼圆" panose="02010509060101010101" pitchFamily="49" charset="-122"/>
              <a:sym typeface="+mn-ea"/>
            </a:endParaRPr>
          </a:p>
        </p:txBody>
      </p:sp>
      <p:sp>
        <p:nvSpPr>
          <p:cNvPr id="6" name="文本框 5"/>
          <p:cNvSpPr txBox="1"/>
          <p:nvPr/>
        </p:nvSpPr>
        <p:spPr>
          <a:xfrm>
            <a:off x="98425" y="6204585"/>
            <a:ext cx="3048000" cy="337185"/>
          </a:xfrm>
          <a:prstGeom prst="rect">
            <a:avLst/>
          </a:prstGeom>
          <a:noFill/>
        </p:spPr>
        <p:txBody>
          <a:bodyPr wrap="square" rtlCol="0">
            <a:spAutoFit/>
          </a:bodyPr>
          <a:p>
            <a:pPr lvl="0" algn="l">
              <a:buClrTx/>
              <a:buSzTx/>
              <a:buFontTx/>
            </a:pPr>
            <a:r>
              <a:rPr lang="zh-CN" altLang="en-US" b="1">
                <a:solidFill>
                  <a:srgbClr val="C00000"/>
                </a:solidFill>
                <a:latin typeface="幼圆" panose="02010509060101010101" pitchFamily="49" charset="-122"/>
                <a:ea typeface="幼圆" panose="02010509060101010101" pitchFamily="49" charset="-122"/>
                <a:sym typeface="+mn-ea"/>
              </a:rPr>
              <a:t>用于自然语言处理或语义搜索</a:t>
            </a:r>
            <a:endParaRPr lang="zh-CN" altLang="en-US" b="1">
              <a:solidFill>
                <a:srgbClr val="C00000"/>
              </a:solidFill>
              <a:latin typeface="幼圆" panose="02010509060101010101" pitchFamily="49" charset="-122"/>
              <a:ea typeface="幼圆" panose="02010509060101010101" pitchFamily="49" charset="-122"/>
              <a:sym typeface="+mn-ea"/>
            </a:endParaRPr>
          </a:p>
        </p:txBody>
      </p:sp>
      <p:sp>
        <p:nvSpPr>
          <p:cNvPr id="8" name="文本框 7"/>
          <p:cNvSpPr txBox="1"/>
          <p:nvPr/>
        </p:nvSpPr>
        <p:spPr>
          <a:xfrm>
            <a:off x="4629785" y="3885565"/>
            <a:ext cx="1326515" cy="337185"/>
          </a:xfrm>
          <a:prstGeom prst="rect">
            <a:avLst/>
          </a:prstGeom>
          <a:noFill/>
        </p:spPr>
        <p:txBody>
          <a:bodyPr wrap="square" rtlCol="0">
            <a:spAutoFit/>
          </a:bodyPr>
          <a:p>
            <a:pPr lvl="0" algn="l">
              <a:buClrTx/>
              <a:buSzTx/>
              <a:buFontTx/>
            </a:pPr>
            <a:r>
              <a:rPr lang="zh-CN" altLang="en-US" b="1">
                <a:solidFill>
                  <a:srgbClr val="C00000"/>
                </a:solidFill>
                <a:latin typeface="幼圆" panose="02010509060101010101" pitchFamily="49" charset="-122"/>
                <a:ea typeface="幼圆" panose="02010509060101010101" pitchFamily="49" charset="-122"/>
                <a:sym typeface="+mn-ea"/>
              </a:rPr>
              <a:t>图神经网络</a:t>
            </a:r>
            <a:endParaRPr lang="zh-CN" altLang="en-US" b="1">
              <a:solidFill>
                <a:srgbClr val="C00000"/>
              </a:solidFill>
              <a:latin typeface="幼圆" panose="02010509060101010101" pitchFamily="49" charset="-122"/>
              <a:ea typeface="幼圆" panose="02010509060101010101" pitchFamily="49" charset="-122"/>
              <a:sym typeface="+mn-ea"/>
            </a:endParaRPr>
          </a:p>
        </p:txBody>
      </p:sp>
      <p:sp>
        <p:nvSpPr>
          <p:cNvPr id="11" name="文本框 10"/>
          <p:cNvSpPr txBox="1"/>
          <p:nvPr/>
        </p:nvSpPr>
        <p:spPr>
          <a:xfrm>
            <a:off x="7795895" y="3688080"/>
            <a:ext cx="1014730" cy="337185"/>
          </a:xfrm>
          <a:prstGeom prst="rect">
            <a:avLst/>
          </a:prstGeom>
          <a:noFill/>
        </p:spPr>
        <p:txBody>
          <a:bodyPr wrap="square" rtlCol="0">
            <a:spAutoFit/>
          </a:bodyPr>
          <a:p>
            <a:r>
              <a:rPr lang="zh-CN" altLang="en-US" b="1">
                <a:solidFill>
                  <a:srgbClr val="C00000"/>
                </a:solidFill>
                <a:latin typeface="幼圆" panose="02010509060101010101" pitchFamily="49" charset="-122"/>
                <a:ea typeface="幼圆" panose="02010509060101010101" pitchFamily="49" charset="-122"/>
              </a:rPr>
              <a:t>特征向量</a:t>
            </a:r>
            <a:endParaRPr lang="zh-CN" altLang="en-US" b="1">
              <a:solidFill>
                <a:srgbClr val="C00000"/>
              </a:solidFill>
              <a:latin typeface="幼圆" panose="02010509060101010101" pitchFamily="49" charset="-122"/>
              <a:ea typeface="幼圆" panose="02010509060101010101" pitchFamily="49"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l="3524" t="26263" r="3524" b="20811"/>
          <a:stretch>
            <a:fillRect/>
          </a:stretch>
        </p:blipFill>
        <p:spPr>
          <a:xfrm>
            <a:off x="38911" y="1692613"/>
            <a:ext cx="9066178" cy="3871608"/>
          </a:xfrm>
          <a:prstGeom prst="rect">
            <a:avLst/>
          </a:prstGeom>
        </p:spPr>
      </p:pic>
      <p:sp>
        <p:nvSpPr>
          <p:cNvPr id="3" name="标题 5"/>
          <p:cNvSpPr txBox="1"/>
          <p:nvPr/>
        </p:nvSpPr>
        <p:spPr bwMode="auto">
          <a:xfrm>
            <a:off x="971550" y="128441"/>
            <a:ext cx="7958441" cy="678470"/>
          </a:xfrm>
          <a:prstGeom prst="rect">
            <a:avLst/>
          </a:prstGeom>
          <a:noFill/>
          <a:ln>
            <a:noFill/>
          </a:ln>
          <a:effectLst/>
        </p:spPr>
        <p:txBody>
          <a:bodyPr vert="horz" wrap="square" lIns="91440" tIns="45720" rIns="91440" bIns="45720" numCol="1" anchor="ctr" anchorCtr="0" compatLnSpc="1"/>
          <a:lstStyle>
            <a:lvl1pPr algn="ctr" rtl="0" eaLnBrk="1" fontAlgn="base" hangingPunct="1">
              <a:spcBef>
                <a:spcPct val="0"/>
              </a:spcBef>
              <a:spcAft>
                <a:spcPct val="0"/>
              </a:spcAft>
              <a:defRPr kumimoji="1" sz="4800" b="1" i="0">
                <a:solidFill>
                  <a:schemeClr val="tx2"/>
                </a:solidFill>
                <a:effectLst/>
                <a:latin typeface="Arial" panose="020B0604020202020204"/>
                <a:ea typeface="黑体" panose="02010609060101010101" pitchFamily="49" charset="-122"/>
                <a:cs typeface="Arial" panose="020B0604020202020204"/>
              </a:defRPr>
            </a:lvl1pPr>
            <a:lvl2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2pPr>
            <a:lvl3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3pPr>
            <a:lvl4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4pPr>
            <a:lvl5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5pPr>
            <a:lvl6pPr marL="42227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6pPr>
            <a:lvl7pPr marL="84391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7pPr>
            <a:lvl8pPr marL="1266190"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8pPr>
            <a:lvl9pPr marL="168846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9pPr>
          </a:lstStyle>
          <a:p>
            <a:r>
              <a:rPr kumimoji="1" lang="zh-CN" altLang="en-US" sz="3600" dirty="0">
                <a:latin typeface="微软雅黑" panose="020B0503020204020204" pitchFamily="82" charset="2"/>
                <a:ea typeface="微软雅黑" panose="020B0503020204020204" pitchFamily="82" charset="2"/>
              </a:rPr>
              <a:t>数据库模型： </a:t>
            </a:r>
            <a:r>
              <a:rPr lang="en-US" altLang="zh-CN" sz="3600" dirty="0">
                <a:latin typeface="微软雅黑" panose="020B0503020204020204" charset="-122"/>
                <a:ea typeface="微软雅黑" panose="020B0503020204020204" charset="-122"/>
              </a:rPr>
              <a:t>NoSQL</a:t>
            </a:r>
            <a:r>
              <a:rPr lang="zh-CN" altLang="en-US" sz="3600" dirty="0">
                <a:latin typeface="微软雅黑" panose="020B0503020204020204" charset="-122"/>
                <a:ea typeface="微软雅黑" panose="020B0503020204020204" charset="-122"/>
              </a:rPr>
              <a:t>数据库主要特点</a:t>
            </a:r>
            <a:endParaRPr lang="zh-CN" altLang="en-US" sz="3500" b="0" kern="0" dirty="0">
              <a:latin typeface="微软雅黑" panose="020B0503020204020204" charset="-122"/>
              <a:ea typeface="微软雅黑" panose="020B0503020204020204"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168163" y="1602184"/>
          <a:ext cx="8606185" cy="4143817"/>
        </p:xfrm>
        <a:graphic>
          <a:graphicData uri="http://schemas.openxmlformats.org/drawingml/2006/table">
            <a:tbl>
              <a:tblPr firstRow="1" firstCol="1" bandRow="1">
                <a:tableStyleId>{5940675A-B579-460E-94D1-54222C63F5DA}</a:tableStyleId>
              </a:tblPr>
              <a:tblGrid>
                <a:gridCol w="1618319"/>
                <a:gridCol w="2370883"/>
                <a:gridCol w="4616983"/>
              </a:tblGrid>
              <a:tr h="572198">
                <a:tc gridSpan="2">
                  <a:txBody>
                    <a:bodyPr/>
                    <a:lstStyle/>
                    <a:p>
                      <a:pPr indent="127000" algn="ctr">
                        <a:lnSpc>
                          <a:spcPct val="150000"/>
                        </a:lnSpc>
                      </a:pPr>
                      <a:r>
                        <a:rPr lang="zh-CN" altLang="en-US" sz="2400" kern="100" dirty="0">
                          <a:solidFill>
                            <a:schemeClr val="tx1"/>
                          </a:solidFill>
                          <a:effectLst/>
                          <a:latin typeface="Arial" panose="020B0604020202020204" pitchFamily="34" charset="0"/>
                          <a:ea typeface="黑体" panose="02010609060101010101" pitchFamily="49" charset="-122"/>
                        </a:rPr>
                        <a:t>主要</a:t>
                      </a:r>
                      <a:r>
                        <a:rPr lang="zh-CN" sz="2400" kern="100" dirty="0">
                          <a:solidFill>
                            <a:schemeClr val="tx1"/>
                          </a:solidFill>
                          <a:effectLst/>
                          <a:latin typeface="Arial" panose="020B0604020202020204" pitchFamily="34" charset="0"/>
                          <a:ea typeface="黑体" panose="02010609060101010101" pitchFamily="49" charset="-122"/>
                        </a:rPr>
                        <a:t>类型</a:t>
                      </a:r>
                      <a:endParaRPr lang="zh-CN" sz="2400" kern="100" dirty="0">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txBody>
                  <a:tcPr marL="68580" marR="68580" marT="0" marB="0" anchor="ctr"/>
                </a:tc>
                <a:tc hMerge="1">
                  <a:tcPr/>
                </a:tc>
                <a:tc>
                  <a:txBody>
                    <a:bodyPr/>
                    <a:lstStyle/>
                    <a:p>
                      <a:pPr indent="127000" algn="ctr">
                        <a:lnSpc>
                          <a:spcPct val="150000"/>
                        </a:lnSpc>
                      </a:pPr>
                      <a:r>
                        <a:rPr lang="en-US" sz="2400" kern="100" dirty="0">
                          <a:solidFill>
                            <a:schemeClr val="tx1"/>
                          </a:solidFill>
                          <a:effectLst/>
                          <a:latin typeface="Arial" panose="020B0604020202020204" pitchFamily="34" charset="0"/>
                          <a:ea typeface="黑体" panose="02010609060101010101" pitchFamily="49" charset="-122"/>
                          <a:cs typeface="Arial" panose="020B0604020202020204" pitchFamily="34" charset="0"/>
                        </a:rPr>
                        <a:t>NoSQL</a:t>
                      </a:r>
                      <a:r>
                        <a:rPr lang="zh-CN" sz="2400" kern="100" dirty="0">
                          <a:solidFill>
                            <a:schemeClr val="tx1"/>
                          </a:solidFill>
                          <a:effectLst/>
                          <a:latin typeface="Arial" panose="020B0604020202020204" pitchFamily="34" charset="0"/>
                          <a:ea typeface="黑体" panose="02010609060101010101" pitchFamily="49" charset="-122"/>
                          <a:cs typeface="Arial" panose="020B0604020202020204" pitchFamily="34" charset="0"/>
                        </a:rPr>
                        <a:t>数据库产品（示例）</a:t>
                      </a:r>
                      <a:endParaRPr lang="zh-CN" sz="2400" kern="100" dirty="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68580" marR="68580" marT="0" marB="0" anchor="ctr"/>
                </a:tc>
              </a:tr>
              <a:tr h="463270">
                <a:tc rowSpan="3">
                  <a:txBody>
                    <a:bodyPr/>
                    <a:lstStyle/>
                    <a:p>
                      <a:pPr indent="127000" algn="just">
                        <a:lnSpc>
                          <a:spcPct val="150000"/>
                        </a:lnSpc>
                      </a:pPr>
                      <a:r>
                        <a:rPr lang="zh-CN" sz="1800" kern="100" dirty="0">
                          <a:solidFill>
                            <a:schemeClr val="tx1"/>
                          </a:solidFill>
                          <a:effectLst/>
                          <a:latin typeface="Arial" panose="020B0604020202020204" pitchFamily="34" charset="0"/>
                          <a:ea typeface="黑体" panose="02010609060101010101" pitchFamily="49" charset="-122"/>
                        </a:rPr>
                        <a:t>键值数据库</a:t>
                      </a:r>
                      <a:endParaRPr lang="zh-CN" sz="1800" kern="100" dirty="0">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txBody>
                  <a:tcPr marL="68580" marR="68580" marT="0" marB="0" anchor="ctr"/>
                </a:tc>
                <a:tc>
                  <a:txBody>
                    <a:bodyPr/>
                    <a:lstStyle/>
                    <a:p>
                      <a:pPr indent="127000" algn="just">
                        <a:lnSpc>
                          <a:spcPct val="150000"/>
                        </a:lnSpc>
                      </a:pPr>
                      <a:r>
                        <a:rPr lang="zh-CN" sz="1800" b="1" kern="100" dirty="0">
                          <a:solidFill>
                            <a:schemeClr val="tx1"/>
                          </a:solidFill>
                          <a:effectLst/>
                          <a:latin typeface="Arial" panose="020B0604020202020204" pitchFamily="34" charset="0"/>
                          <a:ea typeface="黑体" panose="02010609060101010101" pitchFamily="49" charset="-122"/>
                        </a:rPr>
                        <a:t>内存键值存储</a:t>
                      </a:r>
                      <a:endParaRPr lang="zh-CN" sz="1800" b="1" kern="100" dirty="0">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txBody>
                  <a:tcPr marL="68580" marR="68580" marT="0" marB="0" anchor="ctr"/>
                </a:tc>
                <a:tc>
                  <a:txBody>
                    <a:bodyPr/>
                    <a:lstStyle/>
                    <a:p>
                      <a:pPr indent="127000" algn="just">
                        <a:lnSpc>
                          <a:spcPct val="150000"/>
                        </a:lnSpc>
                      </a:pPr>
                      <a:r>
                        <a:rPr lang="en-US" sz="1800" b="0" kern="100" dirty="0">
                          <a:solidFill>
                            <a:schemeClr val="tx1"/>
                          </a:solidFill>
                          <a:effectLst/>
                          <a:latin typeface="Arial" panose="020B0604020202020204" pitchFamily="34" charset="0"/>
                          <a:ea typeface="黑体" panose="02010609060101010101" pitchFamily="49" charset="-122"/>
                          <a:cs typeface="Arial" panose="020B0604020202020204" pitchFamily="34" charset="0"/>
                        </a:rPr>
                        <a:t>Redis, Memcached</a:t>
                      </a:r>
                      <a:endParaRPr lang="en-US" sz="1800" b="0" kern="100" dirty="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68580" marR="68580" marT="0" marB="0" anchor="ctr"/>
                </a:tc>
              </a:tr>
              <a:tr h="463270">
                <a:tc vMerge="1">
                  <a:tcPr/>
                </a:tc>
                <a:tc>
                  <a:txBody>
                    <a:bodyPr/>
                    <a:lstStyle/>
                    <a:p>
                      <a:pPr indent="127000" algn="just">
                        <a:lnSpc>
                          <a:spcPct val="150000"/>
                        </a:lnSpc>
                      </a:pPr>
                      <a:r>
                        <a:rPr lang="zh-CN" sz="1800" b="1" kern="100" dirty="0">
                          <a:solidFill>
                            <a:schemeClr val="tx1"/>
                          </a:solidFill>
                          <a:effectLst/>
                          <a:latin typeface="Arial" panose="020B0604020202020204" pitchFamily="34" charset="0"/>
                          <a:ea typeface="黑体" panose="02010609060101010101" pitchFamily="49" charset="-122"/>
                        </a:rPr>
                        <a:t>最终一致性键值存储</a:t>
                      </a:r>
                      <a:endParaRPr lang="zh-CN" sz="1800" b="1" kern="100" dirty="0">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txBody>
                  <a:tcPr marL="68580" marR="68580" marT="0" marB="0" anchor="ctr"/>
                </a:tc>
                <a:tc>
                  <a:txBody>
                    <a:bodyPr/>
                    <a:lstStyle/>
                    <a:p>
                      <a:pPr indent="127000" algn="just">
                        <a:lnSpc>
                          <a:spcPct val="150000"/>
                        </a:lnSpc>
                      </a:pPr>
                      <a:r>
                        <a:rPr lang="en-US" sz="1800" b="0" kern="100" dirty="0">
                          <a:solidFill>
                            <a:schemeClr val="tx1"/>
                          </a:solidFill>
                          <a:effectLst/>
                          <a:latin typeface="Arial" panose="020B0604020202020204" pitchFamily="34" charset="0"/>
                          <a:ea typeface="黑体" panose="02010609060101010101" pitchFamily="49" charset="-122"/>
                          <a:cs typeface="Arial" panose="020B0604020202020204" pitchFamily="34" charset="0"/>
                        </a:rPr>
                        <a:t>Dynamo</a:t>
                      </a:r>
                      <a:endParaRPr lang="en-US" sz="1800" b="0" kern="100" dirty="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68580" marR="68580" marT="0" marB="0" anchor="ctr"/>
                </a:tc>
              </a:tr>
              <a:tr h="463270">
                <a:tc vMerge="1">
                  <a:tcPr/>
                </a:tc>
                <a:tc>
                  <a:txBody>
                    <a:bodyPr/>
                    <a:lstStyle/>
                    <a:p>
                      <a:pPr indent="127000" algn="just">
                        <a:lnSpc>
                          <a:spcPct val="150000"/>
                        </a:lnSpc>
                      </a:pPr>
                      <a:r>
                        <a:rPr lang="zh-CN" sz="1800" b="1" kern="100" dirty="0">
                          <a:solidFill>
                            <a:schemeClr val="tx1"/>
                          </a:solidFill>
                          <a:effectLst/>
                          <a:latin typeface="Arial" panose="020B0604020202020204" pitchFamily="34" charset="0"/>
                          <a:ea typeface="黑体" panose="02010609060101010101" pitchFamily="49" charset="-122"/>
                        </a:rPr>
                        <a:t>持久化键值存储</a:t>
                      </a:r>
                      <a:endParaRPr lang="zh-CN" sz="1800" b="1" kern="100" dirty="0">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txBody>
                  <a:tcPr marL="68580" marR="68580" marT="0" marB="0" anchor="ctr"/>
                </a:tc>
                <a:tc>
                  <a:txBody>
                    <a:bodyPr/>
                    <a:lstStyle/>
                    <a:p>
                      <a:pPr indent="127000" algn="just">
                        <a:lnSpc>
                          <a:spcPct val="150000"/>
                        </a:lnSpc>
                      </a:pPr>
                      <a:r>
                        <a:rPr lang="en-US" sz="1800" b="0" kern="100" dirty="0" err="1">
                          <a:solidFill>
                            <a:schemeClr val="tx1"/>
                          </a:solidFill>
                          <a:effectLst/>
                          <a:latin typeface="Arial" panose="020B0604020202020204" pitchFamily="34" charset="0"/>
                          <a:ea typeface="黑体" panose="02010609060101010101" pitchFamily="49" charset="-122"/>
                          <a:cs typeface="Arial" panose="020B0604020202020204" pitchFamily="34" charset="0"/>
                        </a:rPr>
                        <a:t>LevelDB</a:t>
                      </a:r>
                      <a:r>
                        <a:rPr lang="zh-CN" altLang="en-US" sz="1800" b="0" kern="100" dirty="0">
                          <a:solidFill>
                            <a:schemeClr val="tx1"/>
                          </a:solidFill>
                          <a:effectLst/>
                          <a:latin typeface="Arial" panose="020B0604020202020204" pitchFamily="34" charset="0"/>
                          <a:ea typeface="黑体" panose="02010609060101010101" pitchFamily="49" charset="-122"/>
                          <a:cs typeface="Arial" panose="020B0604020202020204" pitchFamily="34" charset="0"/>
                        </a:rPr>
                        <a:t>、</a:t>
                      </a:r>
                      <a:r>
                        <a:rPr lang="en-US" altLang="zh-CN" sz="1800" b="0" kern="100" dirty="0" err="1">
                          <a:solidFill>
                            <a:schemeClr val="tx1"/>
                          </a:solidFill>
                          <a:effectLst/>
                          <a:latin typeface="Arial" panose="020B0604020202020204" pitchFamily="34" charset="0"/>
                          <a:ea typeface="黑体" panose="02010609060101010101" pitchFamily="49" charset="-122"/>
                          <a:cs typeface="Arial" panose="020B0604020202020204" pitchFamily="34" charset="0"/>
                        </a:rPr>
                        <a:t>RocksDB</a:t>
                      </a:r>
                      <a:endParaRPr lang="zh-CN" sz="1800" b="0" kern="100" dirty="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68580" marR="68580" marT="0" marB="0" anchor="ctr"/>
                </a:tc>
              </a:tr>
              <a:tr h="574271">
                <a:tc gridSpan="2">
                  <a:txBody>
                    <a:bodyPr/>
                    <a:lstStyle/>
                    <a:p>
                      <a:pPr indent="127000" algn="just">
                        <a:lnSpc>
                          <a:spcPct val="150000"/>
                        </a:lnSpc>
                      </a:pPr>
                      <a:r>
                        <a:rPr lang="zh-CN" sz="1800" kern="100" dirty="0">
                          <a:solidFill>
                            <a:schemeClr val="tx1"/>
                          </a:solidFill>
                          <a:effectLst/>
                          <a:latin typeface="Arial" panose="020B0604020202020204" pitchFamily="34" charset="0"/>
                          <a:ea typeface="黑体" panose="02010609060101010101" pitchFamily="49" charset="-122"/>
                        </a:rPr>
                        <a:t>列族数据库</a:t>
                      </a:r>
                      <a:endParaRPr lang="zh-CN" sz="1800" kern="100" dirty="0">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txBody>
                  <a:tcPr marL="68580" marR="68580" marT="0" marB="0" anchor="ctr"/>
                </a:tc>
                <a:tc hMerge="1">
                  <a:tcPr/>
                </a:tc>
                <a:tc>
                  <a:txBody>
                    <a:bodyPr/>
                    <a:lstStyle/>
                    <a:p>
                      <a:pPr indent="127000" algn="just">
                        <a:lnSpc>
                          <a:spcPct val="150000"/>
                        </a:lnSpc>
                      </a:pPr>
                      <a:r>
                        <a:rPr lang="en-US" sz="1800" b="0" kern="100" dirty="0">
                          <a:solidFill>
                            <a:schemeClr val="tx1"/>
                          </a:solidFill>
                          <a:effectLst/>
                          <a:latin typeface="Arial" panose="020B0604020202020204" pitchFamily="34" charset="0"/>
                          <a:ea typeface="黑体" panose="02010609060101010101" pitchFamily="49" charset="-122"/>
                          <a:cs typeface="Arial" panose="020B0604020202020204" pitchFamily="34" charset="0"/>
                        </a:rPr>
                        <a:t>Cassandra, </a:t>
                      </a:r>
                      <a:r>
                        <a:rPr lang="en-US" sz="1800" b="0" kern="100" dirty="0" err="1">
                          <a:solidFill>
                            <a:schemeClr val="tx1"/>
                          </a:solidFill>
                          <a:effectLst/>
                          <a:latin typeface="Arial" panose="020B0604020202020204" pitchFamily="34" charset="0"/>
                          <a:ea typeface="黑体" panose="02010609060101010101" pitchFamily="49" charset="-122"/>
                          <a:cs typeface="Arial" panose="020B0604020202020204" pitchFamily="34" charset="0"/>
                        </a:rPr>
                        <a:t>Hbase</a:t>
                      </a:r>
                      <a:r>
                        <a:rPr lang="en-US" sz="1800" b="0" kern="100" dirty="0">
                          <a:solidFill>
                            <a:schemeClr val="tx1"/>
                          </a:solidFill>
                          <a:effectLst/>
                          <a:latin typeface="Arial" panose="020B0604020202020204" pitchFamily="34" charset="0"/>
                          <a:ea typeface="黑体" panose="02010609060101010101" pitchFamily="49" charset="-122"/>
                          <a:cs typeface="Arial" panose="020B0604020202020204" pitchFamily="34" charset="0"/>
                        </a:rPr>
                        <a:t>, Google </a:t>
                      </a:r>
                      <a:r>
                        <a:rPr lang="en-US" sz="1800" b="0" kern="100" dirty="0" err="1">
                          <a:solidFill>
                            <a:schemeClr val="tx1"/>
                          </a:solidFill>
                          <a:effectLst/>
                          <a:latin typeface="Arial" panose="020B0604020202020204" pitchFamily="34" charset="0"/>
                          <a:ea typeface="黑体" panose="02010609060101010101" pitchFamily="49" charset="-122"/>
                          <a:cs typeface="Arial" panose="020B0604020202020204" pitchFamily="34" charset="0"/>
                        </a:rPr>
                        <a:t>BigTable</a:t>
                      </a:r>
                      <a:endParaRPr lang="zh-CN" sz="1800" b="0" kern="100" dirty="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68580" marR="68580" marT="0" marB="0" anchor="ctr"/>
                </a:tc>
              </a:tr>
              <a:tr h="535846">
                <a:tc gridSpan="2">
                  <a:txBody>
                    <a:bodyPr/>
                    <a:lstStyle/>
                    <a:p>
                      <a:pPr indent="127000" algn="just">
                        <a:lnSpc>
                          <a:spcPct val="150000"/>
                        </a:lnSpc>
                      </a:pPr>
                      <a:r>
                        <a:rPr lang="zh-CN" sz="1800" kern="100" dirty="0">
                          <a:solidFill>
                            <a:schemeClr val="tx1"/>
                          </a:solidFill>
                          <a:effectLst/>
                          <a:latin typeface="Arial" panose="020B0604020202020204" pitchFamily="34" charset="0"/>
                          <a:ea typeface="黑体" panose="02010609060101010101" pitchFamily="49" charset="-122"/>
                        </a:rPr>
                        <a:t>文档数据库</a:t>
                      </a:r>
                      <a:endParaRPr lang="zh-CN" sz="1800" kern="100" dirty="0">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txBody>
                  <a:tcPr marL="68580" marR="68580" marT="0" marB="0" anchor="ctr"/>
                </a:tc>
                <a:tc hMerge="1">
                  <a:tcPr/>
                </a:tc>
                <a:tc>
                  <a:txBody>
                    <a:bodyPr/>
                    <a:lstStyle/>
                    <a:p>
                      <a:pPr indent="127000" algn="just">
                        <a:lnSpc>
                          <a:spcPct val="150000"/>
                        </a:lnSpc>
                      </a:pPr>
                      <a:r>
                        <a:rPr lang="en-US" sz="1800" b="0" kern="100" dirty="0">
                          <a:solidFill>
                            <a:schemeClr val="tx1"/>
                          </a:solidFill>
                          <a:effectLst/>
                          <a:latin typeface="Arial" panose="020B0604020202020204" pitchFamily="34" charset="0"/>
                          <a:ea typeface="黑体" panose="02010609060101010101" pitchFamily="49" charset="-122"/>
                          <a:cs typeface="Arial" panose="020B0604020202020204" pitchFamily="34" charset="0"/>
                        </a:rPr>
                        <a:t>MongoDB</a:t>
                      </a:r>
                      <a:endParaRPr lang="en-US" sz="1800" b="0" kern="100" dirty="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68580" marR="68580" marT="0" marB="0" anchor="ctr"/>
                </a:tc>
              </a:tr>
              <a:tr h="535846">
                <a:tc gridSpan="2">
                  <a:txBody>
                    <a:bodyPr/>
                    <a:lstStyle/>
                    <a:p>
                      <a:pPr indent="127000" algn="just">
                        <a:lnSpc>
                          <a:spcPct val="150000"/>
                        </a:lnSpc>
                      </a:pPr>
                      <a:r>
                        <a:rPr lang="zh-CN" sz="1800" kern="100" dirty="0">
                          <a:solidFill>
                            <a:schemeClr val="tx1"/>
                          </a:solidFill>
                          <a:effectLst/>
                          <a:latin typeface="Arial" panose="020B0604020202020204" pitchFamily="34" charset="0"/>
                          <a:ea typeface="黑体" panose="02010609060101010101" pitchFamily="49" charset="-122"/>
                        </a:rPr>
                        <a:t>图数据库</a:t>
                      </a:r>
                      <a:endParaRPr lang="zh-CN" sz="1800" kern="100" dirty="0">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txBody>
                  <a:tcPr marL="68580" marR="68580" marT="0" marB="0" anchor="ctr"/>
                </a:tc>
                <a:tc hMerge="1">
                  <a:tcPr/>
                </a:tc>
                <a:tc>
                  <a:txBody>
                    <a:bodyPr/>
                    <a:lstStyle/>
                    <a:p>
                      <a:pPr indent="127000" algn="just">
                        <a:lnSpc>
                          <a:spcPct val="150000"/>
                        </a:lnSpc>
                      </a:pPr>
                      <a:r>
                        <a:rPr lang="en-US" sz="1800" b="0" kern="100" dirty="0">
                          <a:solidFill>
                            <a:schemeClr val="tx1"/>
                          </a:solidFill>
                          <a:effectLst/>
                          <a:latin typeface="Arial" panose="020B0604020202020204" pitchFamily="34" charset="0"/>
                          <a:ea typeface="黑体" panose="02010609060101010101" pitchFamily="49" charset="-122"/>
                          <a:cs typeface="Arial" panose="020B0604020202020204" pitchFamily="34" charset="0"/>
                        </a:rPr>
                        <a:t>Neo4J</a:t>
                      </a:r>
                      <a:endParaRPr lang="en-US" sz="1800" b="0" kern="100" dirty="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68580" marR="68580" marT="0" marB="0" anchor="ctr"/>
                </a:tc>
              </a:tr>
              <a:tr h="535846">
                <a:tc gridSpan="2">
                  <a:txBody>
                    <a:bodyPr/>
                    <a:lstStyle/>
                    <a:p>
                      <a:pPr indent="127000" algn="just">
                        <a:lnSpc>
                          <a:spcPct val="150000"/>
                        </a:lnSpc>
                      </a:pPr>
                      <a:r>
                        <a:rPr lang="zh-CN" altLang="en-US" sz="1800" kern="100" dirty="0">
                          <a:solidFill>
                            <a:schemeClr val="tx1"/>
                          </a:solidFill>
                          <a:effectLst/>
                          <a:latin typeface="Arial" panose="020B0604020202020204" pitchFamily="34" charset="0"/>
                          <a:ea typeface="黑体" panose="02010609060101010101" pitchFamily="49" charset="-122"/>
                        </a:rPr>
                        <a:t>向量数据库</a:t>
                      </a:r>
                      <a:endParaRPr lang="zh-CN" altLang="en-US" sz="1800" kern="100" dirty="0">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txBody>
                  <a:tcPr marL="68580" marR="68580" marT="0" marB="0" anchor="ctr"/>
                </a:tc>
                <a:tc hMerge="1">
                  <a:tcPr/>
                </a:tc>
                <a:tc>
                  <a:txBody>
                    <a:bodyPr/>
                    <a:lstStyle/>
                    <a:p>
                      <a:pPr indent="127000" algn="just">
                        <a:lnSpc>
                          <a:spcPct val="150000"/>
                        </a:lnSpc>
                      </a:pPr>
                      <a:r>
                        <a:rPr lang="en-US" altLang="zh-CN" sz="1800" b="0" kern="100" dirty="0">
                          <a:solidFill>
                            <a:schemeClr val="tx1"/>
                          </a:solidFill>
                          <a:effectLst/>
                          <a:latin typeface="Arial" panose="020B0604020202020204" pitchFamily="34" charset="0"/>
                          <a:ea typeface="黑体" panose="02010609060101010101" pitchFamily="49" charset="-122"/>
                          <a:cs typeface="Arial" panose="020B0604020202020204" pitchFamily="34" charset="0"/>
                        </a:rPr>
                        <a:t>Milvus</a:t>
                      </a:r>
                      <a:endParaRPr lang="en-US" altLang="zh-CN" sz="1800" b="0" kern="100" dirty="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68580" marR="68580" marT="0" marB="0" anchor="ctr"/>
                </a:tc>
              </a:tr>
            </a:tbl>
          </a:graphicData>
        </a:graphic>
      </p:graphicFrame>
      <p:sp>
        <p:nvSpPr>
          <p:cNvPr id="3" name="标题 5"/>
          <p:cNvSpPr txBox="1"/>
          <p:nvPr/>
        </p:nvSpPr>
        <p:spPr bwMode="auto">
          <a:xfrm>
            <a:off x="971550" y="128441"/>
            <a:ext cx="7958441" cy="678470"/>
          </a:xfrm>
          <a:prstGeom prst="rect">
            <a:avLst/>
          </a:prstGeom>
          <a:noFill/>
          <a:ln>
            <a:noFill/>
          </a:ln>
          <a:effectLst/>
        </p:spPr>
        <p:txBody>
          <a:bodyPr vert="horz" wrap="square" lIns="91440" tIns="45720" rIns="91440" bIns="45720" numCol="1" anchor="ctr" anchorCtr="0" compatLnSpc="1"/>
          <a:lstStyle>
            <a:lvl1pPr algn="ctr" rtl="0" eaLnBrk="1" fontAlgn="base" hangingPunct="1">
              <a:spcBef>
                <a:spcPct val="0"/>
              </a:spcBef>
              <a:spcAft>
                <a:spcPct val="0"/>
              </a:spcAft>
              <a:defRPr kumimoji="1" sz="4800" b="1" i="0">
                <a:solidFill>
                  <a:schemeClr val="tx2"/>
                </a:solidFill>
                <a:effectLst/>
                <a:latin typeface="Arial" panose="020B0604020202020204"/>
                <a:ea typeface="黑体" panose="02010609060101010101" pitchFamily="49" charset="-122"/>
                <a:cs typeface="Arial" panose="020B0604020202020204"/>
              </a:defRPr>
            </a:lvl1pPr>
            <a:lvl2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2pPr>
            <a:lvl3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3pPr>
            <a:lvl4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4pPr>
            <a:lvl5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5pPr>
            <a:lvl6pPr marL="42227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6pPr>
            <a:lvl7pPr marL="84391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7pPr>
            <a:lvl8pPr marL="1266190"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8pPr>
            <a:lvl9pPr marL="168846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9pPr>
          </a:lstStyle>
          <a:p>
            <a:r>
              <a:rPr kumimoji="1" lang="zh-CN" altLang="en-US" sz="3600" dirty="0">
                <a:latin typeface="微软雅黑" panose="020B0503020204020204" pitchFamily="82" charset="2"/>
                <a:ea typeface="微软雅黑" panose="020B0503020204020204" pitchFamily="82" charset="2"/>
              </a:rPr>
              <a:t>数据库模型：</a:t>
            </a:r>
            <a:r>
              <a:rPr lang="zh-CN" altLang="en-US" sz="3600" dirty="0">
                <a:latin typeface="微软雅黑" panose="020B0503020204020204" charset="-122"/>
                <a:ea typeface="微软雅黑" panose="020B0503020204020204" charset="-122"/>
              </a:rPr>
              <a:t>常见的</a:t>
            </a:r>
            <a:r>
              <a:rPr lang="en-US" altLang="zh-CN" sz="3600" dirty="0">
                <a:latin typeface="微软雅黑" panose="020B0503020204020204" charset="-122"/>
                <a:ea typeface="微软雅黑" panose="020B0503020204020204" charset="-122"/>
              </a:rPr>
              <a:t>NoSQL</a:t>
            </a:r>
            <a:r>
              <a:rPr lang="zh-CN" altLang="en-US" sz="3600" dirty="0">
                <a:latin typeface="微软雅黑" panose="020B0503020204020204" charset="-122"/>
                <a:ea typeface="微软雅黑" panose="020B0503020204020204" charset="-122"/>
              </a:rPr>
              <a:t>数据库</a:t>
            </a:r>
            <a:endParaRPr lang="zh-CN" altLang="en-US" sz="3500" kern="0" dirty="0">
              <a:latin typeface="微软雅黑" panose="020B0503020204020204" charset="-122"/>
              <a:ea typeface="微软雅黑" panose="020B0503020204020204"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t="22008" r="1131" b="16556"/>
          <a:stretch>
            <a:fillRect/>
          </a:stretch>
        </p:blipFill>
        <p:spPr>
          <a:xfrm>
            <a:off x="38914" y="1660701"/>
            <a:ext cx="9085634" cy="4234259"/>
          </a:xfrm>
          <a:prstGeom prst="rect">
            <a:avLst/>
          </a:prstGeom>
        </p:spPr>
      </p:pic>
      <p:sp>
        <p:nvSpPr>
          <p:cNvPr id="3" name="标题 1"/>
          <p:cNvSpPr txBox="1"/>
          <p:nvPr/>
        </p:nvSpPr>
        <p:spPr>
          <a:xfrm>
            <a:off x="971550" y="53752"/>
            <a:ext cx="7861165" cy="1210844"/>
          </a:xfrm>
          <a:prstGeom prst="rect">
            <a:avLst/>
          </a:prstGeom>
        </p:spPr>
        <p:txBody>
          <a:bodyPr/>
          <a:lstStyle>
            <a:lvl1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Helvetica"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Helvetica"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Helvetica"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Helvetica" charset="0"/>
                <a:ea typeface="MS PGothic" panose="020B0600070205080204" pitchFamily="34" charset="-128"/>
                <a:cs typeface="MS PGothic" panose="020B0600070205080204" pitchFamily="34" charset="-128"/>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a:lstStyle>
          <a:p>
            <a:r>
              <a:rPr kumimoji="1" lang="zh-CN" altLang="en-US" kern="0" dirty="0">
                <a:latin typeface="微软雅黑" panose="020B0503020204020204" pitchFamily="82" charset="2"/>
                <a:ea typeface="微软雅黑" panose="020B0503020204020204" pitchFamily="82" charset="2"/>
              </a:rPr>
              <a:t>数据库各类应用： </a:t>
            </a:r>
            <a:r>
              <a:rPr lang="en-US" altLang="zh-CN" kern="0" dirty="0">
                <a:latin typeface="微软雅黑" panose="020B0503020204020204" pitchFamily="82" charset="2"/>
                <a:ea typeface="微软雅黑" panose="020B0503020204020204" pitchFamily="82" charset="2"/>
              </a:rPr>
              <a:t>OLTP</a:t>
            </a:r>
            <a:r>
              <a:rPr lang="zh-CN" altLang="en-US" kern="0" dirty="0">
                <a:latin typeface="微软雅黑" panose="020B0503020204020204" pitchFamily="82" charset="2"/>
                <a:ea typeface="微软雅黑" panose="020B0503020204020204" pitchFamily="82" charset="2"/>
              </a:rPr>
              <a:t>、</a:t>
            </a:r>
            <a:r>
              <a:rPr lang="en-US" altLang="zh-CN" kern="0" dirty="0">
                <a:latin typeface="微软雅黑" panose="020B0503020204020204" pitchFamily="82" charset="2"/>
                <a:ea typeface="微软雅黑" panose="020B0503020204020204" pitchFamily="82" charset="2"/>
              </a:rPr>
              <a:t>OLAP</a:t>
            </a:r>
            <a:r>
              <a:rPr lang="zh-CN" altLang="en-US" kern="0" dirty="0">
                <a:latin typeface="微软雅黑" panose="020B0503020204020204" pitchFamily="82" charset="2"/>
                <a:ea typeface="微软雅黑" panose="020B0503020204020204" pitchFamily="82" charset="2"/>
              </a:rPr>
              <a:t>与</a:t>
            </a:r>
            <a:endParaRPr lang="en-US" altLang="zh-CN" kern="0" dirty="0">
              <a:latin typeface="微软雅黑" panose="020B0503020204020204" pitchFamily="82" charset="2"/>
              <a:ea typeface="微软雅黑" panose="020B0503020204020204" pitchFamily="82" charset="2"/>
            </a:endParaRPr>
          </a:p>
          <a:p>
            <a:r>
              <a:rPr lang="en-US" altLang="zh-CN" kern="0" dirty="0">
                <a:latin typeface="微软雅黑" panose="020B0503020204020204" pitchFamily="82" charset="2"/>
                <a:ea typeface="微软雅黑" panose="020B0503020204020204" pitchFamily="82" charset="2"/>
              </a:rPr>
              <a:t>HTAP</a:t>
            </a:r>
            <a:r>
              <a:rPr lang="zh-CN" altLang="en-US" kern="0" dirty="0">
                <a:latin typeface="微软雅黑" panose="020B0503020204020204" pitchFamily="82" charset="2"/>
                <a:ea typeface="微软雅黑" panose="020B0503020204020204" pitchFamily="82" charset="2"/>
              </a:rPr>
              <a:t>数据库</a:t>
            </a:r>
            <a:endParaRPr lang="en-US" altLang="zh-CN" kern="0" dirty="0">
              <a:latin typeface="微软雅黑" panose="020B0503020204020204" pitchFamily="82" charset="2"/>
              <a:ea typeface="微软雅黑" panose="020B0503020204020204" pitchFamily="82" charset="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l="2726" t="26529" r="2327" b="25864"/>
          <a:stretch>
            <a:fillRect/>
          </a:stretch>
        </p:blipFill>
        <p:spPr>
          <a:xfrm>
            <a:off x="19454" y="1926074"/>
            <a:ext cx="9105525" cy="3424136"/>
          </a:xfrm>
          <a:prstGeom prst="rect">
            <a:avLst/>
          </a:prstGeom>
        </p:spPr>
      </p:pic>
      <p:sp>
        <p:nvSpPr>
          <p:cNvPr id="3" name="标题 2"/>
          <p:cNvSpPr txBox="1"/>
          <p:nvPr/>
        </p:nvSpPr>
        <p:spPr>
          <a:xfrm>
            <a:off x="1050552" y="109584"/>
            <a:ext cx="7431968" cy="678470"/>
          </a:xfrm>
          <a:prstGeom prst="rect">
            <a:avLst/>
          </a:prstGeom>
        </p:spPr>
        <p:txBody>
          <a:bodyPr/>
          <a:lstStyle>
            <a:lvl1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Helvetica"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Helvetica"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Helvetica"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200" b="1">
                <a:solidFill>
                  <a:schemeClr val="tx2"/>
                </a:solidFill>
                <a:effectLst>
                  <a:outerShdw blurRad="38100" dist="38100" dir="2700000" algn="tl">
                    <a:srgbClr val="DDDDDD"/>
                  </a:outerShdw>
                </a:effectLst>
                <a:latin typeface="Helvetica" charset="0"/>
                <a:ea typeface="MS PGothic" panose="020B0600070205080204" pitchFamily="34" charset="-128"/>
                <a:cs typeface="MS PGothic" panose="020B0600070205080204" pitchFamily="34" charset="-128"/>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a:lstStyle>
          <a:p>
            <a:r>
              <a:rPr kumimoji="1" lang="zh-CN" altLang="en-US" sz="3600" kern="0">
                <a:latin typeface="微软雅黑" panose="020B0503020204020204" pitchFamily="82" charset="2"/>
                <a:ea typeface="微软雅黑" panose="020B0503020204020204" pitchFamily="82" charset="2"/>
              </a:rPr>
              <a:t>数据库各类应用</a:t>
            </a:r>
            <a:endParaRPr kumimoji="1" lang="zh-CN" altLang="en-US" sz="3600" kern="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7" name="图片 1"/>
          <p:cNvPicPr>
            <a:picLocks noChangeAspect="1"/>
          </p:cNvPicPr>
          <p:nvPr>
            <p:custDataLst>
              <p:tags r:id="rId1"/>
            </p:custDataLst>
          </p:nvPr>
        </p:nvPicPr>
        <p:blipFill>
          <a:blip r:embed="rId2"/>
          <a:srcRect b="49110"/>
          <a:stretch>
            <a:fillRect/>
          </a:stretch>
        </p:blipFill>
        <p:spPr>
          <a:xfrm>
            <a:off x="1228725" y="0"/>
            <a:ext cx="7272338" cy="6858000"/>
          </a:xfrm>
          <a:prstGeom prst="rect">
            <a:avLst/>
          </a:prstGeom>
          <a:noFill/>
          <a:ln w="9525">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1" name="图片 1"/>
          <p:cNvPicPr>
            <a:picLocks noChangeAspect="1"/>
          </p:cNvPicPr>
          <p:nvPr/>
        </p:nvPicPr>
        <p:blipFill>
          <a:blip r:embed="rId1"/>
          <a:srcRect t="51591"/>
          <a:stretch>
            <a:fillRect/>
          </a:stretch>
        </p:blipFill>
        <p:spPr>
          <a:xfrm>
            <a:off x="1003300" y="115888"/>
            <a:ext cx="7145338" cy="6410325"/>
          </a:xfrm>
          <a:prstGeom prst="rect">
            <a:avLst/>
          </a:prstGeom>
          <a:noFill/>
          <a:ln w="9525">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p:cNvSpPr>
          <p:nvPr>
            <p:ph type="ctrTitle" idx="4294967295"/>
          </p:nvPr>
        </p:nvSpPr>
        <p:spPr>
          <a:xfrm>
            <a:off x="685800" y="2286000"/>
            <a:ext cx="7772400" cy="1143000"/>
          </a:xfrm>
        </p:spPr>
        <p:txBody>
          <a:bodyPr wrap="square" lIns="91440" tIns="45720" rIns="91440" bIns="45720" numCol="1" anchor="b" anchorCtr="0" compatLnSpc="1"/>
          <a:lstStyle>
            <a:lvl1pPr lvl="0">
              <a:buClrTx/>
              <a:buSzTx/>
              <a:buFontTx/>
              <a:defRPr/>
            </a:lvl1p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1">
                <a:ln>
                  <a:noFill/>
                </a:ln>
                <a:solidFill>
                  <a:schemeClr val="tx2"/>
                </a:solidFill>
                <a:effectLst>
                  <a:outerShdw blurRad="38100" dist="38100" dir="2700000" algn="tl">
                    <a:srgbClr val="DDDDDD"/>
                  </a:outerShdw>
                </a:effectLst>
                <a:uLnTx/>
                <a:uFillTx/>
                <a:latin typeface="+mj-lt"/>
                <a:ea typeface="MS PGothic" panose="020B0600070205080204" pitchFamily="34" charset="-128"/>
                <a:cs typeface="MS PGothic" panose="020B0600070205080204" pitchFamily="34" charset="-128"/>
              </a:rPr>
              <a:t>End of Chapter 1</a:t>
            </a:r>
            <a:endParaRPr kumimoji="1" lang="en-US" altLang="zh-CN" sz="3200" b="1" i="0" u="none" strike="noStrike" kern="0" cap="none" spc="0" normalizeH="0" baseline="0" noProof="1">
              <a:ln>
                <a:noFill/>
              </a:ln>
              <a:solidFill>
                <a:schemeClr val="tx2"/>
              </a:solidFill>
              <a:effectLst>
                <a:outerShdw blurRad="38100" dist="38100" dir="2700000" algn="tl">
                  <a:srgbClr val="DDDDDD"/>
                </a:outerShdw>
              </a:effectLst>
              <a:uLnTx/>
              <a:uFillTx/>
              <a:latin typeface="+mj-lt"/>
              <a:ea typeface="MS PGothic" panose="020B0600070205080204" pitchFamily="34" charset="-128"/>
              <a:cs typeface="MS PGothic" panose="020B0600070205080204" pitchFamily="34" charset="-128"/>
            </a:endParaRPr>
          </a:p>
        </p:txBody>
      </p:sp>
    </p:spTree>
  </p:cSld>
  <p:clrMapOvr>
    <a:masterClrMapping/>
  </p:clrMapOvr>
</p:sld>
</file>

<file path=ppt/tags/tag1.xml><?xml version="1.0" encoding="utf-8"?>
<p:tagLst xmlns:p="http://schemas.openxmlformats.org/presentationml/2006/main">
  <p:tag name="KSO_WM_UNIT_PLACING_PICTURE_USER_VIEWPORT" val="{&quot;height&quot;:10969,&quot;width&quot;:5919}"/>
</p:tagLst>
</file>

<file path=ppt/tags/tag2.xml><?xml version="1.0" encoding="utf-8"?>
<p:tagLst xmlns:p="http://schemas.openxmlformats.org/presentationml/2006/main">
  <p:tag name="KSO_WPP_MARK_KEY" val="62c557b2-f51d-4b56-a23f-747d40a40363"/>
  <p:tag name="COMMONDATA" val="eyJoZGlkIjoiZWIxYzZkM2FmYTk4YjgyMWQyYjQ4MGI5NDkwOGIwYmYifQ=="/>
</p:tagLst>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DB6</Template>
  <TotalTime>0</TotalTime>
  <Words>11556</Words>
  <Application>WPS 演示</Application>
  <PresentationFormat>全屏显示(4:3)</PresentationFormat>
  <Paragraphs>616</Paragraphs>
  <Slides>59</Slides>
  <Notes>36</Notes>
  <HiddenSlides>0</HiddenSlides>
  <MMClips>0</MMClips>
  <ScaleCrop>false</ScaleCrop>
  <HeadingPairs>
    <vt:vector size="10" baseType="variant">
      <vt:variant>
        <vt:lpstr>已用的字体</vt:lpstr>
      </vt:variant>
      <vt:variant>
        <vt:i4>25</vt:i4>
      </vt:variant>
      <vt:variant>
        <vt:lpstr>主题</vt:lpstr>
      </vt:variant>
      <vt:variant>
        <vt:i4>1</vt:i4>
      </vt:variant>
      <vt:variant>
        <vt:lpstr>嵌入 OLE 服务器</vt:lpstr>
      </vt:variant>
      <vt:variant>
        <vt:i4>1</vt:i4>
      </vt:variant>
      <vt:variant>
        <vt:lpstr>幻灯片标题</vt:lpstr>
      </vt:variant>
      <vt:variant>
        <vt:i4>59</vt:i4>
      </vt:variant>
      <vt:variant>
        <vt:lpstr>自定义放映</vt:lpstr>
      </vt:variant>
      <vt:variant>
        <vt:i4>1</vt:i4>
      </vt:variant>
    </vt:vector>
  </HeadingPairs>
  <TitlesOfParts>
    <vt:vector size="87" baseType="lpstr">
      <vt:lpstr>Arial</vt:lpstr>
      <vt:lpstr>宋体</vt:lpstr>
      <vt:lpstr>Wingdings</vt:lpstr>
      <vt:lpstr>Helvetica</vt:lpstr>
      <vt:lpstr>MS PGothic</vt:lpstr>
      <vt:lpstr>Monotype Sorts</vt:lpstr>
      <vt:lpstr>Webdings</vt:lpstr>
      <vt:lpstr>Times New Roman</vt:lpstr>
      <vt:lpstr>Monotype Sorts</vt:lpstr>
      <vt:lpstr>黑体</vt:lpstr>
      <vt:lpstr>Wingdings</vt:lpstr>
      <vt:lpstr>幼圆</vt:lpstr>
      <vt:lpstr>Tahoma</vt:lpstr>
      <vt:lpstr>华文新魏</vt:lpstr>
      <vt:lpstr>隶书</vt:lpstr>
      <vt:lpstr>微软雅黑</vt:lpstr>
      <vt:lpstr>Arial Unicode MS</vt:lpstr>
      <vt:lpstr>Webdings</vt:lpstr>
      <vt:lpstr>Arial</vt:lpstr>
      <vt:lpstr>微软雅黑</vt:lpstr>
      <vt:lpstr>华文楷体</vt:lpstr>
      <vt:lpstr>Symbol</vt:lpstr>
      <vt:lpstr>Abadi MT Condensed Light</vt:lpstr>
      <vt:lpstr>Yu Gothic UI Light</vt:lpstr>
      <vt:lpstr>OPPOSans M</vt:lpstr>
      <vt:lpstr>2_db-5-grey</vt:lpstr>
      <vt:lpstr>MS_ClipArt_Gallery.2</vt:lpstr>
      <vt:lpstr>Chapter 1: Introduction </vt:lpstr>
      <vt:lpstr>Outline</vt:lpstr>
      <vt:lpstr>Database Management System (DBMS)</vt:lpstr>
      <vt:lpstr>PowerPoint 演示文稿</vt:lpstr>
      <vt:lpstr>University Database Example</vt:lpstr>
      <vt:lpstr>Drawbacks of using file systems to store data</vt:lpstr>
      <vt:lpstr>Drawbacks of using file systems to store data (Cont.)</vt:lpstr>
      <vt:lpstr>PowerPoint 演示文稿</vt:lpstr>
      <vt:lpstr>文件系统阶段</vt:lpstr>
      <vt:lpstr>数据库系统的特点</vt:lpstr>
      <vt:lpstr>Levels of Abstraction</vt:lpstr>
      <vt:lpstr>View of Data</vt:lpstr>
      <vt:lpstr>Instances and Schemas</vt:lpstr>
      <vt:lpstr>Data Models</vt:lpstr>
      <vt:lpstr>PowerPoint 演示文稿</vt:lpstr>
      <vt:lpstr>PowerPoint 演示文稿</vt:lpstr>
      <vt:lpstr>PowerPoint 演示文稿</vt:lpstr>
      <vt:lpstr>Relational Model</vt:lpstr>
      <vt:lpstr>A Sample Relational Database</vt:lpstr>
      <vt:lpstr>Data Definition Language (DDL)</vt:lpstr>
      <vt:lpstr>Data Manipulation Language (DML)</vt:lpstr>
      <vt:lpstr>SQL</vt:lpstr>
      <vt:lpstr>Database Design</vt:lpstr>
      <vt:lpstr>Database Design (Cont.)</vt:lpstr>
      <vt:lpstr>Design Approaches</vt:lpstr>
      <vt:lpstr>Object-Relational Data Models</vt:lpstr>
      <vt:lpstr>XML:  Extensible Markup Language</vt:lpstr>
      <vt:lpstr>Database Engine</vt:lpstr>
      <vt:lpstr>Storage Management</vt:lpstr>
      <vt:lpstr>Storage Hierarchy</vt:lpstr>
      <vt:lpstr>Magnetic Hard Disk Mechanism</vt:lpstr>
      <vt:lpstr>Overview of Primary Components</vt:lpstr>
      <vt:lpstr>存储结构</vt:lpstr>
      <vt:lpstr>存储结构</vt:lpstr>
      <vt:lpstr>数据表空间管理</vt:lpstr>
      <vt:lpstr>申请新页面</vt:lpstr>
      <vt:lpstr>页面组织</vt:lpstr>
      <vt:lpstr>页面组织： 定长记录 vs 变长记录</vt:lpstr>
      <vt:lpstr>Query Processing</vt:lpstr>
      <vt:lpstr>Query Processing (Cont.)</vt:lpstr>
      <vt:lpstr>Transaction Management	</vt:lpstr>
      <vt:lpstr>Database Users and Administrators</vt:lpstr>
      <vt:lpstr>Database System Internals</vt:lpstr>
      <vt:lpstr>Database Architecture</vt:lpstr>
      <vt:lpstr>PowerPoint 演示文稿</vt:lpstr>
      <vt:lpstr>PowerPoint 演示文稿</vt:lpstr>
      <vt:lpstr>PowerPoint 演示文稿</vt:lpstr>
      <vt:lpstr>PowerPoint 演示文稿</vt:lpstr>
      <vt:lpstr>History of Database Systems</vt:lpstr>
      <vt:lpstr>History (cont.)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End of Chapter 1</vt:lpstr>
      <vt:lpstr>Custom Show 1</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Marilyn Turnamian</dc:creator>
  <cp:lastModifiedBy>康辉</cp:lastModifiedBy>
  <cp:revision>221</cp:revision>
  <cp:lastPrinted>2005-01-10T21:51:00Z</cp:lastPrinted>
  <dcterms:created xsi:type="dcterms:W3CDTF">1999-11-04T20:50:00Z</dcterms:created>
  <dcterms:modified xsi:type="dcterms:W3CDTF">2025-09-04T23:21:52Z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2052-12.1.0.21541</vt:lpwstr>
  </property>
  <property fmtid="{D5CDD505-2E9C-101B-9397-08002B2CF9AE}" pid="3" name="ICV">
    <vt:lpwstr>C64F5B48CD6D44B987166E01904F509A</vt:lpwstr>
  </property>
</Properties>
</file>