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0"/>
  </p:handoutMasterIdLst>
  <p:sldIdLst>
    <p:sldId id="256" r:id="rId3"/>
    <p:sldId id="358" r:id="rId5"/>
    <p:sldId id="503" r:id="rId6"/>
    <p:sldId id="504" r:id="rId7"/>
    <p:sldId id="341" r:id="rId8"/>
    <p:sldId id="259" r:id="rId9"/>
    <p:sldId id="260" r:id="rId10"/>
    <p:sldId id="261" r:id="rId11"/>
    <p:sldId id="597" r:id="rId12"/>
    <p:sldId id="262" r:id="rId13"/>
    <p:sldId id="263" r:id="rId14"/>
    <p:sldId id="334" r:id="rId15"/>
    <p:sldId id="265" r:id="rId16"/>
    <p:sldId id="266" r:id="rId17"/>
    <p:sldId id="267" r:id="rId18"/>
    <p:sldId id="268" r:id="rId19"/>
    <p:sldId id="351" r:id="rId20"/>
    <p:sldId id="599" r:id="rId21"/>
    <p:sldId id="269" r:id="rId22"/>
    <p:sldId id="270" r:id="rId23"/>
    <p:sldId id="271" r:id="rId24"/>
    <p:sldId id="349" r:id="rId25"/>
    <p:sldId id="350" r:id="rId26"/>
    <p:sldId id="335" r:id="rId27"/>
    <p:sldId id="336" r:id="rId28"/>
    <p:sldId id="278" r:id="rId29"/>
    <p:sldId id="423" r:id="rId30"/>
    <p:sldId id="424" r:id="rId31"/>
    <p:sldId id="425" r:id="rId32"/>
    <p:sldId id="279" r:id="rId33"/>
    <p:sldId id="280" r:id="rId34"/>
    <p:sldId id="281" r:id="rId35"/>
    <p:sldId id="282" r:id="rId36"/>
    <p:sldId id="345" r:id="rId37"/>
    <p:sldId id="283" r:id="rId38"/>
    <p:sldId id="284" r:id="rId39"/>
    <p:sldId id="285" r:id="rId40"/>
    <p:sldId id="427" r:id="rId41"/>
    <p:sldId id="426" r:id="rId42"/>
    <p:sldId id="286" r:id="rId43"/>
    <p:sldId id="287" r:id="rId44"/>
    <p:sldId id="596" r:id="rId45"/>
    <p:sldId id="288" r:id="rId46"/>
    <p:sldId id="289" r:id="rId47"/>
    <p:sldId id="429" r:id="rId48"/>
    <p:sldId id="430" r:id="rId49"/>
    <p:sldId id="431" r:id="rId50"/>
    <p:sldId id="432" r:id="rId51"/>
    <p:sldId id="290" r:id="rId52"/>
    <p:sldId id="433" r:id="rId53"/>
    <p:sldId id="434" r:id="rId54"/>
    <p:sldId id="435" r:id="rId55"/>
    <p:sldId id="436" r:id="rId56"/>
    <p:sldId id="437" r:id="rId57"/>
    <p:sldId id="438" r:id="rId58"/>
    <p:sldId id="439" r:id="rId59"/>
    <p:sldId id="291" r:id="rId60"/>
    <p:sldId id="441" r:id="rId61"/>
    <p:sldId id="292" r:id="rId62"/>
    <p:sldId id="348" r:id="rId63"/>
    <p:sldId id="442" r:id="rId64"/>
    <p:sldId id="352" r:id="rId65"/>
    <p:sldId id="443" r:id="rId66"/>
    <p:sldId id="293" r:id="rId67"/>
    <p:sldId id="294" r:id="rId68"/>
    <p:sldId id="444" r:id="rId69"/>
    <p:sldId id="445" r:id="rId70"/>
    <p:sldId id="446" r:id="rId71"/>
    <p:sldId id="295" r:id="rId72"/>
    <p:sldId id="296" r:id="rId73"/>
    <p:sldId id="297" r:id="rId74"/>
    <p:sldId id="298" r:id="rId75"/>
    <p:sldId id="447" r:id="rId76"/>
    <p:sldId id="448" r:id="rId77"/>
    <p:sldId id="449" r:id="rId78"/>
    <p:sldId id="502" r:id="rId79"/>
    <p:sldId id="450" r:id="rId80"/>
    <p:sldId id="299" r:id="rId81"/>
    <p:sldId id="300" r:id="rId82"/>
    <p:sldId id="301" r:id="rId83"/>
    <p:sldId id="302" r:id="rId84"/>
    <p:sldId id="353" r:id="rId85"/>
    <p:sldId id="303" r:id="rId86"/>
    <p:sldId id="305" r:id="rId87"/>
    <p:sldId id="306" r:id="rId88"/>
    <p:sldId id="354" r:id="rId89"/>
    <p:sldId id="343" r:id="rId90"/>
    <p:sldId id="308" r:id="rId91"/>
    <p:sldId id="339" r:id="rId92"/>
    <p:sldId id="309" r:id="rId93"/>
    <p:sldId id="310" r:id="rId94"/>
    <p:sldId id="311" r:id="rId95"/>
    <p:sldId id="312" r:id="rId96"/>
    <p:sldId id="313" r:id="rId97"/>
    <p:sldId id="356" r:id="rId98"/>
    <p:sldId id="315" r:id="rId99"/>
  </p:sldIdLst>
  <p:sldSz cx="9144000" cy="6858000" type="screen4x3"/>
  <p:notesSz cx="7086600" cy="9372600"/>
  <p:custShowLst>
    <p:custShow name="Custom Show 1" id="0">
      <p:sldLst>
        <p:sld r:id="rId34"/>
        <p:sld r:id="rId11"/>
        <p:sld r:id="rId14"/>
        <p:sld r:id="rId44"/>
        <p:sld r:id="rId43"/>
        <p:sld r:id="rId16"/>
        <p:sld r:id="rId33"/>
        <p:sld r:id="rId33"/>
        <p:sld r:id="rId47"/>
        <p:sld r:id="rId94"/>
        <p:sld r:id="rId97"/>
        <p:sld r:id="rId22"/>
        <p:sld r:id="rId73"/>
        <p:sld r:id="rId74"/>
        <p:sld r:id="rId46"/>
        <p:sld r:id="rId95"/>
        <p:sld r:id="rId96"/>
      </p:sldLst>
    </p:custShow>
  </p:custShowLst>
  <p:custDataLst>
    <p:tags r:id="rId104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Helvetica" panose="020B060402020203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Helvetica" panose="020B060402020203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Helvetica" panose="020B060402020203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Helvetica" panose="020B060402020203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Helvetica" panose="020B060402020203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Helvetica" panose="020B060402020203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Helvetica" panose="020B060402020203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Helvetica" panose="020B060402020203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Helvetica" panose="020B0604020202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9" userDrawn="1">
          <p15:clr>
            <a:srgbClr val="A4A3A4"/>
          </p15:clr>
        </p15:guide>
        <p15:guide id="2" pos="5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75"/>
    <p:restoredTop sz="78850" autoAdjust="0"/>
  </p:normalViewPr>
  <p:slideViewPr>
    <p:cSldViewPr snapToGrid="0" showGuides="1">
      <p:cViewPr varScale="1">
        <p:scale>
          <a:sx n="88" d="100"/>
          <a:sy n="88" d="100"/>
        </p:scale>
        <p:origin x="2280" y="78"/>
      </p:cViewPr>
      <p:guideLst>
        <p:guide orient="horz" pos="679"/>
        <p:guide pos="5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687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4" Type="http://schemas.openxmlformats.org/officeDocument/2006/relationships/tags" Target="tags/tag1.xml"/><Relationship Id="rId103" Type="http://schemas.openxmlformats.org/officeDocument/2006/relationships/tableStyles" Target="tableStyles.xml"/><Relationship Id="rId102" Type="http://schemas.openxmlformats.org/officeDocument/2006/relationships/viewProps" Target="viewProps.xml"/><Relationship Id="rId101" Type="http://schemas.openxmlformats.org/officeDocument/2006/relationships/presProps" Target="presProps.xml"/><Relationship Id="rId100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896" tIns="46949" rIns="93896" bIns="46949" numCol="1" anchor="t" anchorCtr="0" compatLnSpc="1"/>
          <a:lstStyle>
            <a:lvl1pPr defTabSz="938530">
              <a:defRPr sz="1200"/>
            </a:lvl1pPr>
          </a:lstStyle>
          <a:p>
            <a:pPr marL="0" marR="0" lvl="0" indent="0" algn="l" defTabSz="9385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anose="020B0604020202030204" pitchFamily="34" charset="0"/>
              <a:ea typeface="+mn-ea"/>
              <a:cs typeface="+mn-cs"/>
            </a:endParaRP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896" tIns="46949" rIns="93896" bIns="46949" numCol="1" anchor="t" anchorCtr="0" compatLnSpc="1"/>
          <a:lstStyle>
            <a:lvl1pPr algn="r" defTabSz="938530">
              <a:defRPr sz="1200"/>
            </a:lvl1pPr>
          </a:lstStyle>
          <a:p>
            <a:pPr marL="0" marR="0" lvl="0" indent="0" algn="r" defTabSz="9385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anose="020B0604020202030204" pitchFamily="34" charset="0"/>
              <a:ea typeface="+mn-ea"/>
              <a:cs typeface="+mn-cs"/>
            </a:endParaRPr>
          </a:p>
        </p:txBody>
      </p:sp>
      <p:sp>
        <p:nvSpPr>
          <p:cNvPr id="583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896" tIns="46949" rIns="93896" bIns="46949" numCol="1" anchor="b" anchorCtr="0" compatLnSpc="1"/>
          <a:lstStyle>
            <a:lvl1pPr defTabSz="938530">
              <a:defRPr sz="1200"/>
            </a:lvl1pPr>
          </a:lstStyle>
          <a:p>
            <a:pPr marL="0" marR="0" lvl="0" indent="0" algn="l" defTabSz="9385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anose="020B0604020202030204" pitchFamily="34" charset="0"/>
              <a:ea typeface="+mn-ea"/>
              <a:cs typeface="+mn-cs"/>
            </a:endParaRPr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896" tIns="46949" rIns="93896" bIns="46949" numCol="1" anchor="b" anchorCtr="0" compatLnSpc="1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896" tIns="46949" rIns="93896" bIns="46949" numCol="1" anchor="t" anchorCtr="0" compatLnSpc="1"/>
          <a:lstStyle>
            <a:lvl1pPr defTabSz="938530">
              <a:defRPr sz="1200"/>
            </a:lvl1pPr>
          </a:lstStyle>
          <a:p>
            <a:pPr marL="0" marR="0" lvl="0" indent="0" algn="l" defTabSz="9385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anose="020B0604020202030204" pitchFamily="34" charset="0"/>
              <a:ea typeface="+mn-ea"/>
              <a:cs typeface="+mn-cs"/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896" tIns="46949" rIns="93896" bIns="46949" numCol="1" anchor="t" anchorCtr="0" compatLnSpc="1"/>
          <a:lstStyle>
            <a:lvl1pPr algn="r" defTabSz="938530">
              <a:defRPr sz="1200"/>
            </a:lvl1pPr>
          </a:lstStyle>
          <a:p>
            <a:pPr marL="0" marR="0" lvl="0" indent="0" algn="r" defTabSz="9385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anose="020B0604020202030204" pitchFamily="34" charset="0"/>
              <a:ea typeface="+mn-ea"/>
              <a:cs typeface="+mn-cs"/>
            </a:endParaRPr>
          </a:p>
        </p:txBody>
      </p:sp>
      <p:sp>
        <p:nvSpPr>
          <p:cNvPr id="71684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200150" y="704850"/>
            <a:ext cx="4686300" cy="35147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896" tIns="46949" rIns="93896" bIns="46949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Click to edit Master text styles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896" tIns="46949" rIns="93896" bIns="46949" numCol="1" anchor="b" anchorCtr="0" compatLnSpc="1"/>
          <a:lstStyle>
            <a:lvl1pPr defTabSz="938530">
              <a:defRPr sz="1200"/>
            </a:lvl1pPr>
          </a:lstStyle>
          <a:p>
            <a:pPr marL="0" marR="0" lvl="0" indent="0" algn="l" defTabSz="9385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anose="020B0604020202030204" pitchFamily="34" charset="0"/>
              <a:ea typeface="+mn-ea"/>
              <a:cs typeface="+mn-cs"/>
            </a:endParaRPr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896" tIns="46949" rIns="93896" bIns="46949" numCol="1" anchor="b" anchorCtr="0" compatLnSpc="1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72707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1738" y="704850"/>
            <a:ext cx="4686300" cy="3514725"/>
          </a:xfrm>
        </p:spPr>
      </p:sp>
      <p:sp>
        <p:nvSpPr>
          <p:cNvPr id="72708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73731" name="Rectangle 2"/>
          <p:cNvSpPr/>
          <p:nvPr/>
        </p:nvSpPr>
        <p:spPr>
          <a:xfrm>
            <a:off x="4016375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/>
          <a:lstStyle/>
          <a:p>
            <a:pPr lvl="0"/>
            <a:endParaRPr lang="en-US" altLang="en-US" dirty="0"/>
          </a:p>
        </p:txBody>
      </p:sp>
      <p:sp>
        <p:nvSpPr>
          <p:cNvPr id="73732" name="Rectangle 3"/>
          <p:cNvSpPr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914" tIns="45642" rIns="92914" bIns="45642" anchor="b"/>
          <a:lstStyle/>
          <a:p>
            <a:pPr lvl="0" algn="r" defTabSz="930275"/>
            <a:r>
              <a:rPr lang="en-US" altLang="en-US" sz="1300" dirty="0">
                <a:latin typeface="Times New Roman" panose="02020603050405020304" pitchFamily="18" charset="0"/>
              </a:rPr>
              <a:t>1</a:t>
            </a:r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73733" name="Rectangle 4"/>
          <p:cNvSpPr/>
          <p:nvPr/>
        </p:nvSpPr>
        <p:spPr>
          <a:xfrm>
            <a:off x="0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/>
          <a:lstStyle/>
          <a:p>
            <a:pPr lvl="0"/>
            <a:endParaRPr lang="en-US" altLang="en-US" dirty="0"/>
          </a:p>
        </p:txBody>
      </p:sp>
      <p:sp>
        <p:nvSpPr>
          <p:cNvPr id="73734" name="Rectangle 5"/>
          <p:cNvSpPr/>
          <p:nvPr/>
        </p:nvSpPr>
        <p:spPr>
          <a:xfrm>
            <a:off x="0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/>
          <a:lstStyle/>
          <a:p>
            <a:pPr lvl="0"/>
            <a:endParaRPr lang="en-US" altLang="en-US" dirty="0"/>
          </a:p>
        </p:txBody>
      </p:sp>
      <p:sp>
        <p:nvSpPr>
          <p:cNvPr id="73735" name="Rectangle 6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  <a:ln w="12700"/>
        </p:spPr>
      </p:sp>
      <p:sp>
        <p:nvSpPr>
          <p:cNvPr id="73736" name="Rectangle 7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2914" tIns="45642" rIns="92914" bIns="45642" anchor="ctr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75779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75780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7680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76804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77827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77828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78851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78852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7987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9876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8089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0900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8192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81924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82947" name="Rectangle 2"/>
          <p:cNvSpPr/>
          <p:nvPr/>
        </p:nvSpPr>
        <p:spPr>
          <a:xfrm>
            <a:off x="4016375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/>
          <a:lstStyle/>
          <a:p>
            <a:pPr lvl="0"/>
            <a:endParaRPr lang="en-US" altLang="en-US" dirty="0"/>
          </a:p>
        </p:txBody>
      </p:sp>
      <p:sp>
        <p:nvSpPr>
          <p:cNvPr id="82948" name="Rectangle 3"/>
          <p:cNvSpPr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914" tIns="45642" rIns="92914" bIns="45642" anchor="b"/>
          <a:lstStyle/>
          <a:p>
            <a:pPr lvl="0" algn="r" defTabSz="930275"/>
            <a:r>
              <a:rPr lang="en-US" altLang="en-US" sz="1300" dirty="0">
                <a:latin typeface="Times New Roman" panose="02020603050405020304" pitchFamily="18" charset="0"/>
              </a:rPr>
              <a:t>2</a:t>
            </a:r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82949" name="Rectangle 4"/>
          <p:cNvSpPr/>
          <p:nvPr/>
        </p:nvSpPr>
        <p:spPr>
          <a:xfrm>
            <a:off x="0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/>
          <a:lstStyle/>
          <a:p>
            <a:pPr lvl="0"/>
            <a:endParaRPr lang="en-US" altLang="en-US" dirty="0"/>
          </a:p>
        </p:txBody>
      </p:sp>
      <p:sp>
        <p:nvSpPr>
          <p:cNvPr id="82950" name="Rectangle 5"/>
          <p:cNvSpPr/>
          <p:nvPr/>
        </p:nvSpPr>
        <p:spPr>
          <a:xfrm>
            <a:off x="0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/>
          <a:lstStyle/>
          <a:p>
            <a:pPr lvl="0"/>
            <a:endParaRPr lang="en-US" altLang="en-US" dirty="0"/>
          </a:p>
        </p:txBody>
      </p:sp>
      <p:sp>
        <p:nvSpPr>
          <p:cNvPr id="82951" name="Rectangle 6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  <a:ln w="12700"/>
        </p:spPr>
      </p:sp>
      <p:sp>
        <p:nvSpPr>
          <p:cNvPr id="82952" name="Rectangle 7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2914" tIns="45642" rIns="92914" bIns="45642" anchor="ctr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83971" name="Rectangle 2"/>
          <p:cNvSpPr/>
          <p:nvPr/>
        </p:nvSpPr>
        <p:spPr>
          <a:xfrm>
            <a:off x="4016375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/>
          <a:lstStyle/>
          <a:p>
            <a:pPr lvl="0"/>
            <a:endParaRPr lang="en-US" altLang="en-US" dirty="0"/>
          </a:p>
        </p:txBody>
      </p:sp>
      <p:sp>
        <p:nvSpPr>
          <p:cNvPr id="83972" name="Rectangle 3"/>
          <p:cNvSpPr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914" tIns="45642" rIns="92914" bIns="45642" anchor="b"/>
          <a:lstStyle/>
          <a:p>
            <a:pPr lvl="0" algn="r" defTabSz="930275"/>
            <a:r>
              <a:rPr lang="en-US" altLang="en-US" sz="1300" dirty="0">
                <a:latin typeface="Times New Roman" panose="02020603050405020304" pitchFamily="18" charset="0"/>
              </a:rPr>
              <a:t>3</a:t>
            </a:r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83973" name="Rectangle 4"/>
          <p:cNvSpPr/>
          <p:nvPr/>
        </p:nvSpPr>
        <p:spPr>
          <a:xfrm>
            <a:off x="0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/>
          <a:lstStyle/>
          <a:p>
            <a:pPr lvl="0"/>
            <a:endParaRPr lang="en-US" altLang="en-US" dirty="0"/>
          </a:p>
        </p:txBody>
      </p:sp>
      <p:sp>
        <p:nvSpPr>
          <p:cNvPr id="83974" name="Rectangle 5"/>
          <p:cNvSpPr/>
          <p:nvPr/>
        </p:nvSpPr>
        <p:spPr>
          <a:xfrm>
            <a:off x="0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/>
          <a:lstStyle/>
          <a:p>
            <a:pPr lvl="0"/>
            <a:endParaRPr lang="en-US" altLang="en-US" dirty="0"/>
          </a:p>
        </p:txBody>
      </p:sp>
      <p:sp>
        <p:nvSpPr>
          <p:cNvPr id="83975" name="Rectangle 6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  <a:ln w="12700"/>
        </p:spPr>
      </p:sp>
      <p:sp>
        <p:nvSpPr>
          <p:cNvPr id="83976" name="Rectangle 7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2914" tIns="45642" rIns="92914" bIns="45642" anchor="ctr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84995" name="Rectangle 2"/>
          <p:cNvSpPr/>
          <p:nvPr/>
        </p:nvSpPr>
        <p:spPr>
          <a:xfrm>
            <a:off x="4016375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/>
          <a:lstStyle/>
          <a:p>
            <a:pPr lvl="0"/>
            <a:endParaRPr lang="en-US" altLang="en-US" dirty="0"/>
          </a:p>
        </p:txBody>
      </p:sp>
      <p:sp>
        <p:nvSpPr>
          <p:cNvPr id="84996" name="Rectangle 3"/>
          <p:cNvSpPr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914" tIns="45642" rIns="92914" bIns="45642" anchor="b"/>
          <a:lstStyle/>
          <a:p>
            <a:pPr lvl="0" algn="r" defTabSz="930275"/>
            <a:r>
              <a:rPr lang="en-US" altLang="en-US" sz="1300" dirty="0">
                <a:latin typeface="Times New Roman" panose="02020603050405020304" pitchFamily="18" charset="0"/>
              </a:rPr>
              <a:t>4</a:t>
            </a:r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84997" name="Rectangle 4"/>
          <p:cNvSpPr/>
          <p:nvPr/>
        </p:nvSpPr>
        <p:spPr>
          <a:xfrm>
            <a:off x="0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/>
          <a:lstStyle/>
          <a:p>
            <a:pPr lvl="0"/>
            <a:endParaRPr lang="en-US" altLang="en-US" dirty="0"/>
          </a:p>
        </p:txBody>
      </p:sp>
      <p:sp>
        <p:nvSpPr>
          <p:cNvPr id="84998" name="Rectangle 5"/>
          <p:cNvSpPr/>
          <p:nvPr/>
        </p:nvSpPr>
        <p:spPr>
          <a:xfrm>
            <a:off x="0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/>
          <a:lstStyle/>
          <a:p>
            <a:pPr lvl="0"/>
            <a:endParaRPr lang="en-US" altLang="en-US" dirty="0"/>
          </a:p>
        </p:txBody>
      </p:sp>
      <p:sp>
        <p:nvSpPr>
          <p:cNvPr id="84999" name="Rectangle 6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  <a:ln w="12700"/>
        </p:spPr>
      </p:sp>
      <p:sp>
        <p:nvSpPr>
          <p:cNvPr id="85000" name="Rectangle 7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2914" tIns="45642" rIns="92914" bIns="45642" anchor="ctr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86019" name="Rectangle 2"/>
          <p:cNvSpPr/>
          <p:nvPr/>
        </p:nvSpPr>
        <p:spPr>
          <a:xfrm>
            <a:off x="4016375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/>
          <a:lstStyle/>
          <a:p>
            <a:pPr lvl="0"/>
            <a:endParaRPr lang="en-US" altLang="en-US" dirty="0"/>
          </a:p>
        </p:txBody>
      </p:sp>
      <p:sp>
        <p:nvSpPr>
          <p:cNvPr id="86020" name="Rectangle 3"/>
          <p:cNvSpPr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914" tIns="45642" rIns="92914" bIns="45642" anchor="b"/>
          <a:lstStyle/>
          <a:p>
            <a:pPr lvl="0" algn="r" defTabSz="930275"/>
            <a:r>
              <a:rPr lang="en-US" altLang="en-US" sz="1300" dirty="0">
                <a:latin typeface="Times New Roman" panose="02020603050405020304" pitchFamily="18" charset="0"/>
              </a:rPr>
              <a:t>5</a:t>
            </a:r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86021" name="Rectangle 4"/>
          <p:cNvSpPr/>
          <p:nvPr/>
        </p:nvSpPr>
        <p:spPr>
          <a:xfrm>
            <a:off x="0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/>
          <a:lstStyle/>
          <a:p>
            <a:pPr lvl="0"/>
            <a:endParaRPr lang="en-US" altLang="en-US" dirty="0"/>
          </a:p>
        </p:txBody>
      </p:sp>
      <p:sp>
        <p:nvSpPr>
          <p:cNvPr id="86022" name="Rectangle 5"/>
          <p:cNvSpPr/>
          <p:nvPr/>
        </p:nvSpPr>
        <p:spPr>
          <a:xfrm>
            <a:off x="0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/>
          <a:lstStyle/>
          <a:p>
            <a:pPr lvl="0"/>
            <a:endParaRPr lang="en-US" altLang="en-US" dirty="0"/>
          </a:p>
        </p:txBody>
      </p:sp>
      <p:sp>
        <p:nvSpPr>
          <p:cNvPr id="86023" name="Rectangle 6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  <a:ln w="12700"/>
        </p:spPr>
      </p:sp>
      <p:sp>
        <p:nvSpPr>
          <p:cNvPr id="86024" name="Rectangle 7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2914" tIns="45642" rIns="92914" bIns="45642" anchor="ctr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87043" name="Rectangle 2"/>
          <p:cNvSpPr/>
          <p:nvPr/>
        </p:nvSpPr>
        <p:spPr>
          <a:xfrm>
            <a:off x="4016375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/>
          <a:lstStyle/>
          <a:p>
            <a:pPr lvl="0"/>
            <a:endParaRPr lang="en-US" altLang="en-US" dirty="0"/>
          </a:p>
        </p:txBody>
      </p:sp>
      <p:sp>
        <p:nvSpPr>
          <p:cNvPr id="87044" name="Rectangle 3"/>
          <p:cNvSpPr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914" tIns="45642" rIns="92914" bIns="45642" anchor="b"/>
          <a:lstStyle/>
          <a:p>
            <a:pPr lvl="0" algn="r" defTabSz="930275"/>
            <a:r>
              <a:rPr lang="en-US" altLang="en-US" sz="1300" dirty="0">
                <a:latin typeface="Times New Roman" panose="02020603050405020304" pitchFamily="18" charset="0"/>
              </a:rPr>
              <a:t>5</a:t>
            </a:r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87045" name="Rectangle 4"/>
          <p:cNvSpPr/>
          <p:nvPr/>
        </p:nvSpPr>
        <p:spPr>
          <a:xfrm>
            <a:off x="0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/>
          <a:lstStyle/>
          <a:p>
            <a:pPr lvl="0"/>
            <a:endParaRPr lang="en-US" altLang="en-US" dirty="0"/>
          </a:p>
        </p:txBody>
      </p:sp>
      <p:sp>
        <p:nvSpPr>
          <p:cNvPr id="87046" name="Rectangle 5"/>
          <p:cNvSpPr/>
          <p:nvPr/>
        </p:nvSpPr>
        <p:spPr>
          <a:xfrm>
            <a:off x="0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/>
          <a:lstStyle/>
          <a:p>
            <a:pPr lvl="0"/>
            <a:endParaRPr lang="en-US" altLang="en-US" dirty="0"/>
          </a:p>
        </p:txBody>
      </p:sp>
      <p:sp>
        <p:nvSpPr>
          <p:cNvPr id="87047" name="Rectangle 6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  <a:ln w="12700"/>
        </p:spPr>
      </p:sp>
      <p:sp>
        <p:nvSpPr>
          <p:cNvPr id="87048" name="Rectangle 7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2914" tIns="45642" rIns="92914" bIns="45642" anchor="ctr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88067" name="Rectangle 2"/>
          <p:cNvSpPr/>
          <p:nvPr/>
        </p:nvSpPr>
        <p:spPr>
          <a:xfrm>
            <a:off x="4016375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/>
          <a:lstStyle/>
          <a:p>
            <a:pPr lvl="0"/>
            <a:endParaRPr lang="en-US" altLang="en-US" dirty="0"/>
          </a:p>
        </p:txBody>
      </p:sp>
      <p:sp>
        <p:nvSpPr>
          <p:cNvPr id="88068" name="Rectangle 3"/>
          <p:cNvSpPr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914" tIns="45642" rIns="92914" bIns="45642" anchor="b"/>
          <a:lstStyle/>
          <a:p>
            <a:pPr lvl="0" algn="r" defTabSz="930275"/>
            <a:r>
              <a:rPr lang="en-US" altLang="en-US" sz="1300" dirty="0">
                <a:latin typeface="Times New Roman" panose="02020603050405020304" pitchFamily="18" charset="0"/>
              </a:rPr>
              <a:t>6</a:t>
            </a:r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88069" name="Rectangle 4"/>
          <p:cNvSpPr/>
          <p:nvPr/>
        </p:nvSpPr>
        <p:spPr>
          <a:xfrm>
            <a:off x="0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/>
          <a:lstStyle/>
          <a:p>
            <a:pPr lvl="0"/>
            <a:endParaRPr lang="en-US" altLang="en-US" dirty="0"/>
          </a:p>
        </p:txBody>
      </p:sp>
      <p:sp>
        <p:nvSpPr>
          <p:cNvPr id="88070" name="Rectangle 5"/>
          <p:cNvSpPr/>
          <p:nvPr/>
        </p:nvSpPr>
        <p:spPr>
          <a:xfrm>
            <a:off x="0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/>
          <a:lstStyle/>
          <a:p>
            <a:pPr lvl="0"/>
            <a:endParaRPr lang="en-US" altLang="en-US" dirty="0"/>
          </a:p>
        </p:txBody>
      </p:sp>
      <p:sp>
        <p:nvSpPr>
          <p:cNvPr id="88071" name="Rectangle 6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  <a:ln w="12700"/>
        </p:spPr>
      </p:sp>
      <p:sp>
        <p:nvSpPr>
          <p:cNvPr id="88072" name="Rectangle 7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2914" tIns="45642" rIns="92914" bIns="45642" anchor="ctr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89091" name="Rectangle 2"/>
          <p:cNvSpPr/>
          <p:nvPr/>
        </p:nvSpPr>
        <p:spPr>
          <a:xfrm>
            <a:off x="4016375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/>
          <a:lstStyle/>
          <a:p>
            <a:pPr lvl="0"/>
            <a:endParaRPr lang="en-US" altLang="en-US" dirty="0"/>
          </a:p>
        </p:txBody>
      </p:sp>
      <p:sp>
        <p:nvSpPr>
          <p:cNvPr id="89092" name="Rectangle 3"/>
          <p:cNvSpPr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914" tIns="45642" rIns="92914" bIns="45642" anchor="b"/>
          <a:lstStyle/>
          <a:p>
            <a:pPr lvl="0" algn="r" defTabSz="930275"/>
            <a:r>
              <a:rPr lang="en-US" altLang="en-US" sz="1300" dirty="0">
                <a:latin typeface="Times New Roman" panose="02020603050405020304" pitchFamily="18" charset="0"/>
              </a:rPr>
              <a:t>8</a:t>
            </a:r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89093" name="Rectangle 4"/>
          <p:cNvSpPr/>
          <p:nvPr/>
        </p:nvSpPr>
        <p:spPr>
          <a:xfrm>
            <a:off x="0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/>
          <a:lstStyle/>
          <a:p>
            <a:pPr lvl="0"/>
            <a:endParaRPr lang="en-US" altLang="en-US" dirty="0"/>
          </a:p>
        </p:txBody>
      </p:sp>
      <p:sp>
        <p:nvSpPr>
          <p:cNvPr id="89094" name="Rectangle 5"/>
          <p:cNvSpPr/>
          <p:nvPr/>
        </p:nvSpPr>
        <p:spPr>
          <a:xfrm>
            <a:off x="0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/>
          <a:lstStyle/>
          <a:p>
            <a:pPr lvl="0"/>
            <a:endParaRPr lang="en-US" altLang="en-US" dirty="0"/>
          </a:p>
        </p:txBody>
      </p:sp>
      <p:sp>
        <p:nvSpPr>
          <p:cNvPr id="89095" name="Rectangle 6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  <a:ln w="12700"/>
        </p:spPr>
      </p:sp>
      <p:sp>
        <p:nvSpPr>
          <p:cNvPr id="89096" name="Rectangle 7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2914" tIns="45642" rIns="92914" bIns="45642" anchor="ctr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9011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0116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92163" name="Rectangle 2"/>
          <p:cNvSpPr/>
          <p:nvPr/>
        </p:nvSpPr>
        <p:spPr>
          <a:xfrm>
            <a:off x="4016375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/>
          <a:lstStyle/>
          <a:p>
            <a:pPr lvl="0"/>
            <a:endParaRPr lang="en-US" altLang="en-US" dirty="0"/>
          </a:p>
        </p:txBody>
      </p:sp>
      <p:sp>
        <p:nvSpPr>
          <p:cNvPr id="92164" name="Rectangle 3"/>
          <p:cNvSpPr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914" tIns="45642" rIns="92914" bIns="45642" anchor="b"/>
          <a:lstStyle/>
          <a:p>
            <a:pPr lvl="0" algn="r" defTabSz="930275"/>
            <a:r>
              <a:rPr lang="en-US" altLang="en-US" sz="1300" dirty="0">
                <a:latin typeface="Times New Roman" panose="02020603050405020304" pitchFamily="18" charset="0"/>
              </a:rPr>
              <a:t>9</a:t>
            </a:r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92165" name="Rectangle 4"/>
          <p:cNvSpPr/>
          <p:nvPr/>
        </p:nvSpPr>
        <p:spPr>
          <a:xfrm>
            <a:off x="0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/>
          <a:lstStyle/>
          <a:p>
            <a:pPr lvl="0"/>
            <a:endParaRPr lang="en-US" altLang="en-US" dirty="0"/>
          </a:p>
        </p:txBody>
      </p:sp>
      <p:sp>
        <p:nvSpPr>
          <p:cNvPr id="92166" name="Rectangle 5"/>
          <p:cNvSpPr/>
          <p:nvPr/>
        </p:nvSpPr>
        <p:spPr>
          <a:xfrm>
            <a:off x="0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/>
          <a:lstStyle/>
          <a:p>
            <a:pPr lvl="0"/>
            <a:endParaRPr lang="en-US" altLang="en-US" dirty="0"/>
          </a:p>
        </p:txBody>
      </p:sp>
      <p:sp>
        <p:nvSpPr>
          <p:cNvPr id="92167" name="Rectangle 6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  <a:ln w="12700"/>
        </p:spPr>
      </p:sp>
      <p:sp>
        <p:nvSpPr>
          <p:cNvPr id="92168" name="Rectangle 7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2914" tIns="45642" rIns="92914" bIns="45642" anchor="ctr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93187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93188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94211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94212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95235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95236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96259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96260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97283" name="Rectangle 2"/>
          <p:cNvSpPr/>
          <p:nvPr/>
        </p:nvSpPr>
        <p:spPr>
          <a:xfrm>
            <a:off x="4016375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/>
          <a:lstStyle/>
          <a:p>
            <a:pPr lvl="0"/>
            <a:endParaRPr lang="en-US" altLang="en-US" dirty="0"/>
          </a:p>
        </p:txBody>
      </p:sp>
      <p:sp>
        <p:nvSpPr>
          <p:cNvPr id="97284" name="Rectangle 3"/>
          <p:cNvSpPr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914" tIns="45642" rIns="92914" bIns="45642" anchor="b"/>
          <a:lstStyle/>
          <a:p>
            <a:pPr lvl="0" algn="r" defTabSz="930275"/>
            <a:r>
              <a:rPr lang="en-US" altLang="en-US" sz="1300" dirty="0">
                <a:latin typeface="Times New Roman" panose="02020603050405020304" pitchFamily="18" charset="0"/>
              </a:rPr>
              <a:t>7</a:t>
            </a:r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97285" name="Rectangle 4"/>
          <p:cNvSpPr/>
          <p:nvPr/>
        </p:nvSpPr>
        <p:spPr>
          <a:xfrm>
            <a:off x="0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/>
          <a:lstStyle/>
          <a:p>
            <a:pPr lvl="0"/>
            <a:endParaRPr lang="en-US" altLang="en-US" dirty="0"/>
          </a:p>
        </p:txBody>
      </p:sp>
      <p:sp>
        <p:nvSpPr>
          <p:cNvPr id="97286" name="Rectangle 5"/>
          <p:cNvSpPr/>
          <p:nvPr/>
        </p:nvSpPr>
        <p:spPr>
          <a:xfrm>
            <a:off x="0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/>
          <a:lstStyle/>
          <a:p>
            <a:pPr lvl="0"/>
            <a:endParaRPr lang="en-US" altLang="en-US" dirty="0"/>
          </a:p>
        </p:txBody>
      </p:sp>
      <p:sp>
        <p:nvSpPr>
          <p:cNvPr id="97287" name="Rectangle 6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  <a:ln w="12700"/>
        </p:spPr>
      </p:sp>
      <p:sp>
        <p:nvSpPr>
          <p:cNvPr id="97288" name="Rectangle 7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2914" tIns="45642" rIns="92914" bIns="45642" anchor="ctr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98307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98308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99331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99332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00355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00356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01379" name="Rectangle 2"/>
          <p:cNvSpPr/>
          <p:nvPr/>
        </p:nvSpPr>
        <p:spPr>
          <a:xfrm>
            <a:off x="4016375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/>
          <a:lstStyle/>
          <a:p>
            <a:pPr lvl="0"/>
            <a:endParaRPr lang="en-US" altLang="en-US" dirty="0"/>
          </a:p>
        </p:txBody>
      </p:sp>
      <p:sp>
        <p:nvSpPr>
          <p:cNvPr id="101380" name="Rectangle 3"/>
          <p:cNvSpPr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914" tIns="45642" rIns="92914" bIns="45642" anchor="b"/>
          <a:lstStyle/>
          <a:p>
            <a:pPr lvl="0" algn="r" defTabSz="930275"/>
            <a:r>
              <a:rPr lang="en-US" altLang="en-US" sz="1300" dirty="0">
                <a:latin typeface="Times New Roman" panose="02020603050405020304" pitchFamily="18" charset="0"/>
              </a:rPr>
              <a:t>9</a:t>
            </a:r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101381" name="Rectangle 4"/>
          <p:cNvSpPr/>
          <p:nvPr/>
        </p:nvSpPr>
        <p:spPr>
          <a:xfrm>
            <a:off x="0" y="8905875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/>
          <a:lstStyle/>
          <a:p>
            <a:pPr lvl="0"/>
            <a:endParaRPr lang="en-US" altLang="en-US" dirty="0"/>
          </a:p>
        </p:txBody>
      </p:sp>
      <p:sp>
        <p:nvSpPr>
          <p:cNvPr id="101382" name="Rectangle 5"/>
          <p:cNvSpPr/>
          <p:nvPr/>
        </p:nvSpPr>
        <p:spPr>
          <a:xfrm>
            <a:off x="0" y="0"/>
            <a:ext cx="3070225" cy="466725"/>
          </a:xfrm>
          <a:prstGeom prst="rect">
            <a:avLst/>
          </a:prstGeom>
          <a:noFill/>
          <a:ln w="12700">
            <a:noFill/>
          </a:ln>
        </p:spPr>
        <p:txBody>
          <a:bodyPr wrap="none" lIns="92290" tIns="46145" rIns="92290" bIns="46145" anchor="ctr"/>
          <a:lstStyle/>
          <a:p>
            <a:pPr lvl="0"/>
            <a:endParaRPr lang="en-US" altLang="en-US" dirty="0"/>
          </a:p>
        </p:txBody>
      </p:sp>
      <p:sp>
        <p:nvSpPr>
          <p:cNvPr id="101383" name="Rectangle 6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  <a:ln w="12700"/>
        </p:spPr>
      </p:sp>
      <p:sp>
        <p:nvSpPr>
          <p:cNvPr id="101384" name="Rectangle 7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2914" tIns="45642" rIns="92914" bIns="45642" anchor="ctr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0240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02404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03427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03428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04451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04452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05475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05476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06499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06500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0752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07524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0854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8548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09571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09572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10595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10596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11619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11620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1264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12644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13667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13668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14691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14692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15715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15716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16739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16740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1776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17764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18787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18788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19811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19812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r>
              <a:rPr lang="zh-CN" altLang="en-US" dirty="0"/>
              <a:t>1. False. A column function produces a summary row for a set </a:t>
            </a:r>
            <a:endParaRPr lang="zh-CN" altLang="en-US" dirty="0"/>
          </a:p>
          <a:p>
            <a:pPr algn="l"/>
            <a:r>
              <a:rPr lang="zh-CN" altLang="en-US" dirty="0"/>
              <a:t>of rows.</a:t>
            </a:r>
            <a:endParaRPr lang="zh-CN" altLang="en-US" dirty="0"/>
          </a:p>
          <a:p>
            <a:pPr algn="l"/>
            <a:r>
              <a:rPr lang="zh-CN" altLang="en-US" dirty="0"/>
              <a:t>2. False. A GROUP BY is required and all three columns not </a:t>
            </a:r>
            <a:endParaRPr lang="zh-CN" altLang="en-US" dirty="0"/>
          </a:p>
          <a:p>
            <a:pPr algn="l"/>
            <a:r>
              <a:rPr lang="zh-CN" altLang="en-US" dirty="0"/>
              <a:t>in column functions must be listed in the GROUP BY </a:t>
            </a:r>
            <a:endParaRPr lang="zh-CN" altLang="en-US" dirty="0"/>
          </a:p>
          <a:p>
            <a:pPr algn="l"/>
            <a:r>
              <a:rPr lang="zh-CN" altLang="en-US" dirty="0"/>
              <a:t>clause.</a:t>
            </a:r>
            <a:endParaRPr lang="zh-CN" altLang="en-US" dirty="0"/>
          </a:p>
          <a:p>
            <a:pPr algn="l"/>
            <a:r>
              <a:rPr lang="zh-CN" altLang="en-US" dirty="0"/>
              <a:t>3. e</a:t>
            </a:r>
            <a:endParaRPr lang="zh-CN" altLang="en-US" dirty="0"/>
          </a:p>
          <a:p>
            <a:pPr algn="l"/>
            <a:r>
              <a:rPr lang="zh-CN" altLang="en-US" dirty="0"/>
              <a:t>4. False. Column functions may not be used in a WHERE </a:t>
            </a:r>
            <a:endParaRPr lang="zh-CN" altLang="en-US" dirty="0"/>
          </a:p>
          <a:p>
            <a:pPr algn="l"/>
            <a:r>
              <a:rPr lang="zh-CN" altLang="en-US" dirty="0"/>
              <a:t>clause.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r>
              <a:rPr lang="zh-CN" altLang="en-US"/>
              <a:t>1. True</a:t>
            </a:r>
            <a:endParaRPr lang="zh-CN" altLang="en-US"/>
          </a:p>
          <a:p>
            <a:pPr algn="l"/>
            <a:r>
              <a:rPr lang="zh-CN" altLang="en-US"/>
              <a:t>2. b</a:t>
            </a:r>
            <a:endParaRPr lang="zh-CN" altLang="en-US"/>
          </a:p>
          <a:p>
            <a:pPr algn="l"/>
            <a:r>
              <a:rPr lang="zh-CN" altLang="en-US"/>
              <a:t>3. IN</a:t>
            </a:r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20835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20836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2185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1860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2288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22884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23907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23908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24931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24932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25955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25956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26979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26980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2800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28004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29027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29028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30051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30052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31075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31076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32099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32100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3312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33124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34147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34148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35171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35172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36195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36196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3721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7220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3896" tIns="46949" rIns="93896" bIns="46949" anchor="b"/>
          <a:lstStyle/>
          <a:p>
            <a:pPr lvl="0" algn="r" defTabSz="938530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13824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09675" y="711200"/>
            <a:ext cx="4667250" cy="3500438"/>
          </a:xfrm>
        </p:spPr>
      </p:sp>
      <p:sp>
        <p:nvSpPr>
          <p:cNvPr id="138244" name="Rectangle 3"/>
          <p:cNvSpPr>
            <a:spLocks noGrp="1"/>
          </p:cNvSpPr>
          <p:nvPr>
            <p:ph type="body" idx="1"/>
          </p:nvPr>
        </p:nvSpPr>
        <p:spPr>
          <a:xfrm>
            <a:off x="942975" y="4452938"/>
            <a:ext cx="5200650" cy="4214812"/>
          </a:xfrm>
        </p:spPr>
        <p:txBody>
          <a:bodyPr wrap="none" lIns="93896" tIns="46949" rIns="93896" bIns="46949" anchor="t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image" Target="../media/image1.jpeg"/><Relationship Id="rId3" Type="http://schemas.openxmlformats.org/officeDocument/2006/relationships/hyperlink" Target="http://www.db-book.com/" TargetMode="External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Rectangle 6"/>
          <p:cNvGraphicFramePr/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2" imgW="0" imgH="0" progId="MS_ClipArt_Gallery.2">
                  <p:embed/>
                </p:oleObj>
              </mc:Choice>
              <mc:Fallback>
                <p:oleObj name="" r:id="rId2" imgW="0" imgH="0" progId="MS_ClipArt_Gallery.2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2674938" y="5726113"/>
            <a:ext cx="3694113" cy="793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Helvetica" panose="020B0604020202030204" pitchFamily="34" charset="0"/>
                <a:ea typeface="+mn-ea"/>
                <a:cs typeface="+mn-cs"/>
              </a:rPr>
              <a:t>Database System Concepts, 6</a:t>
            </a:r>
            <a:r>
              <a:rPr kumimoji="0" lang="en-US" sz="1600" b="1" i="0" u="none" strike="noStrike" kern="1200" cap="none" spc="0" normalizeH="0" baseline="3000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Helvetica" panose="020B0604020202030204" pitchFamily="34" charset="0"/>
                <a:ea typeface="+mn-ea"/>
                <a:cs typeface="+mn-cs"/>
              </a:rPr>
              <a:t>th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Helvetica" panose="020B0604020202030204" pitchFamily="34" charset="0"/>
                <a:ea typeface="+mn-ea"/>
                <a:cs typeface="+mn-cs"/>
              </a:rPr>
              <a:t> Ed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Helvetica" panose="020B0604020202030204" pitchFamily="34" charset="0"/>
                <a:ea typeface="+mn-ea"/>
                <a:cs typeface="+mn-cs"/>
              </a:rPr>
              <a:t>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Helvetica" panose="020B060402020203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Helvetica" panose="020B0604020202030204" pitchFamily="34" charset="0"/>
                <a:ea typeface="+mn-ea"/>
                <a:cs typeface="+mn-cs"/>
              </a:rPr>
              <a:t>©Silberschatz, Korth and Sudarshan</a:t>
            </a:r>
            <a:b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Helvetica" panose="020B0604020202030204" pitchFamily="34" charset="0"/>
                <a:ea typeface="+mn-ea"/>
                <a:cs typeface="+mn-cs"/>
              </a:rPr>
            </a:b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Helvetica" panose="020B0604020202030204" pitchFamily="34" charset="0"/>
                <a:ea typeface="+mn-ea"/>
                <a:cs typeface="+mn-cs"/>
              </a:rPr>
              <a:t>See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Helvetica" panose="020B0604020202030204" pitchFamily="34" charset="0"/>
                <a:ea typeface="+mn-ea"/>
                <a:cs typeface="+mn-cs"/>
                <a:hlinkClick r:id="rId3"/>
              </a:rPr>
              <a:t>www.db-book.com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Helvetica" panose="020B0604020202030204" pitchFamily="34" charset="0"/>
                <a:ea typeface="+mn-ea"/>
                <a:cs typeface="+mn-cs"/>
              </a:rPr>
              <a:t> for conditions on re-use 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Helvetica" panose="020B0604020202030204" pitchFamily="34" charset="0"/>
              <a:ea typeface="+mn-ea"/>
              <a:cs typeface="+mn-cs"/>
            </a:endParaRPr>
          </a:p>
        </p:txBody>
      </p:sp>
      <p:pic>
        <p:nvPicPr>
          <p:cNvPr id="3077" name="Picture 8" descr="Cover-6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92238" cy="17002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23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CC33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32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05" y="109220"/>
            <a:ext cx="8077200" cy="609600"/>
          </a:xfrm>
          <a:noFill/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Monotype Sorts" pitchFamily="2" charset="2"/>
              <a:buNone/>
              <a:defRPr/>
            </a:pPr>
            <a:endParaRPr kumimoji="1" 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body" idx="1"/>
          </p:nvPr>
        </p:nvSpPr>
        <p:spPr>
          <a:xfrm>
            <a:off x="814388" y="1093788"/>
            <a:ext cx="7661275" cy="49037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1027" name="Text Box 4"/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Helvetica" panose="020B0604020202030204" pitchFamily="34" charset="0"/>
                <a:ea typeface="+mn-ea"/>
                <a:cs typeface="+mn-cs"/>
              </a:rPr>
              <a:t>©Silberschatz, Korth and Sudarshan</a:t>
            </a: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Helvetica" panose="020B0604020202030204" pitchFamily="34" charset="0"/>
              <a:ea typeface="+mn-ea"/>
              <a:cs typeface="+mn-cs"/>
            </a:endParaRPr>
          </a:p>
        </p:txBody>
      </p:sp>
      <p:sp>
        <p:nvSpPr>
          <p:cNvPr id="1028" name="Text Box 5"/>
          <p:cNvSpPr txBox="1">
            <a:spLocks noChangeArrowheads="1"/>
          </p:cNvSpPr>
          <p:nvPr/>
        </p:nvSpPr>
        <p:spPr bwMode="auto">
          <a:xfrm>
            <a:off x="4481513" y="6613525"/>
            <a:ext cx="444500" cy="244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lvl="0" algn="ctr">
              <a:spcBef>
                <a:spcPct val="50000"/>
              </a:spcBef>
            </a:pPr>
            <a:r>
              <a:rPr lang="en-US" altLang="en-US" sz="1000" b="1" dirty="0">
                <a:solidFill>
                  <a:srgbClr val="000099"/>
                </a:solidFill>
                <a:latin typeface="Helvetica" panose="020B0604020202030204" pitchFamily="34" charset="0"/>
              </a:rPr>
              <a:t>3.</a:t>
            </a:r>
            <a:fld id="{9A0DB2DC-4C9A-4742-B13C-FB6460FD3503}" type="slidenum">
              <a:rPr lang="en-US" altLang="en-US" sz="1000" b="1" dirty="0">
                <a:solidFill>
                  <a:srgbClr val="000099"/>
                </a:solidFill>
                <a:latin typeface="Helvetica" panose="020B0604020202030204" pitchFamily="34" charset="0"/>
              </a:rPr>
            </a:fld>
            <a:endParaRPr lang="en-US" altLang="en-US" sz="1000" b="1" dirty="0">
              <a:solidFill>
                <a:srgbClr val="000099"/>
              </a:solidFill>
              <a:latin typeface="Helvetica" panose="020B0604020202030204" pitchFamily="34" charset="0"/>
            </a:endParaRPr>
          </a:p>
        </p:txBody>
      </p:sp>
      <p:sp>
        <p:nvSpPr>
          <p:cNvPr id="52224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30" name="Text Box 7"/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Helvetica" panose="020B0604020202030204" pitchFamily="34" charset="0"/>
                <a:ea typeface="+mn-ea"/>
                <a:cs typeface="+mn-cs"/>
              </a:rPr>
              <a:t>Database System Concepts - 6</a:t>
            </a:r>
            <a:r>
              <a:rPr kumimoji="0" lang="en-US" sz="1000" b="1" i="0" u="none" strike="noStrike" kern="1200" cap="none" spc="0" normalizeH="0" baseline="3000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Helvetica" panose="020B0604020202030204" pitchFamily="34" charset="0"/>
                <a:ea typeface="+mn-ea"/>
                <a:cs typeface="+mn-cs"/>
              </a:rPr>
              <a:t>th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Helvetica" panose="020B0604020202030204" pitchFamily="34" charset="0"/>
                <a:ea typeface="+mn-ea"/>
                <a:cs typeface="+mn-cs"/>
              </a:rPr>
              <a:t> Edition</a:t>
            </a: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Helvetica" panose="020B0604020202030204" pitchFamily="34" charset="0"/>
              <a:ea typeface="+mn-ea"/>
              <a:cs typeface="+mn-cs"/>
            </a:endParaRPr>
          </a:p>
        </p:txBody>
      </p:sp>
      <p:sp>
        <p:nvSpPr>
          <p:cNvPr id="1031" name="Freeform 8"/>
          <p:cNvSpPr/>
          <p:nvPr/>
        </p:nvSpPr>
        <p:spPr bwMode="auto">
          <a:xfrm>
            <a:off x="8916988" y="5445125"/>
            <a:ext cx="227013" cy="47625"/>
          </a:xfrm>
          <a:custGeom>
            <a:avLst/>
            <a:gdLst>
              <a:gd name="T0" fmla="*/ 0 w 285"/>
              <a:gd name="T1" fmla="*/ 2147483646 h 61"/>
              <a:gd name="T2" fmla="*/ 1010703623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951510025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951510025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1010703623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anose="020B0604020202030204" pitchFamily="34" charset="0"/>
              <a:ea typeface="+mn-ea"/>
              <a:cs typeface="+mn-cs"/>
            </a:endParaRPr>
          </a:p>
        </p:txBody>
      </p:sp>
      <p:pic>
        <p:nvPicPr>
          <p:cNvPr id="4104" name="Picture 9" descr="Cover-6Ed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3175" y="0"/>
            <a:ext cx="668338" cy="8159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elvetica" panose="020B0604020202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elvetica" panose="020B0604020202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elvetica" panose="020B0604020202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elvetica" panose="020B060402020203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elvetica" panose="020B060402020203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elvetica" panose="020B060402020203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elvetica" panose="020B060402020203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elvetica" panose="020B060402020203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pitchFamily="2" charset="2"/>
        <a:buChar char="n"/>
        <a:defRPr kumimoji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80000"/>
        <a:buFont typeface="Monotype Sorts" pitchFamily="2" charset="2"/>
        <a:buChar char="l"/>
        <a:defRPr kumimoji="1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e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e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wmf"/><Relationship Id="rId1" Type="http://schemas.openxmlformats.org/officeDocument/2006/relationships/oleObject" Target="../embeddings/oleObject2.bin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e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e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emf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jpeg"/><Relationship Id="rId1" Type="http://schemas.openxmlformats.org/officeDocument/2006/relationships/image" Target="../media/image16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emf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emf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emf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emf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emf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emf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emf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emf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emf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emf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emf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emf"/><Relationship Id="rId1" Type="http://schemas.openxmlformats.org/officeDocument/2006/relationships/image" Target="../media/image31.emf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emf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emf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emf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emf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1" Type="http://schemas.openxmlformats.org/officeDocument/2006/relationships/image" Target="../media/image36.emf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emf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emf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emf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emf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Rectangle 2"/>
          <p:cNvSpPr>
            <a:spLocks noGrp="1" noChangeArrowheads="1"/>
          </p:cNvSpPr>
          <p:nvPr>
            <p:ph type="ctr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Chapter 3: Introduction to SQL</a:t>
            </a:r>
            <a:endParaRPr kumimoji="1" lang="en-US" sz="3200" b="1" i="0" u="none" strike="noStrike" kern="0" cap="none" spc="0" normalizeH="0" baseline="0" noProof="0" dirty="0">
              <a:ln>
                <a:noFill/>
              </a:ln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0488" tIns="44450" rIns="90488" bIns="4445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Outline</a:t>
            </a:r>
            <a:endParaRPr kumimoji="1" 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809625" y="1104900"/>
            <a:ext cx="7413625" cy="4732338"/>
          </a:xfrm>
        </p:spPr>
        <p:txBody>
          <a:bodyPr vert="horz" wrap="square" lIns="90488" tIns="44450" rIns="90488" bIns="44450" anchor="t"/>
          <a:lstStyle/>
          <a:p>
            <a:r>
              <a:rPr lang="en-US" altLang="en-US" dirty="0"/>
              <a:t>Overview of The SQL Query Language</a:t>
            </a:r>
            <a:endParaRPr lang="en-US" altLang="en-US" dirty="0"/>
          </a:p>
          <a:p>
            <a:r>
              <a:rPr lang="en-US" altLang="en-US" dirty="0"/>
              <a:t>Data Definition</a:t>
            </a:r>
            <a:endParaRPr lang="en-US" altLang="en-US" dirty="0"/>
          </a:p>
          <a:p>
            <a:r>
              <a:rPr lang="en-US" altLang="en-US" dirty="0"/>
              <a:t>Basic Query Structure</a:t>
            </a:r>
            <a:endParaRPr lang="en-US" altLang="en-US" dirty="0"/>
          </a:p>
          <a:p>
            <a:r>
              <a:rPr lang="en-US" altLang="en-US" dirty="0"/>
              <a:t>Additional Basic Operations</a:t>
            </a:r>
            <a:endParaRPr lang="en-US" altLang="en-US" dirty="0"/>
          </a:p>
          <a:p>
            <a:r>
              <a:rPr lang="en-US" altLang="en-US" dirty="0"/>
              <a:t>Set Operations</a:t>
            </a:r>
            <a:endParaRPr lang="en-US" altLang="en-US" dirty="0"/>
          </a:p>
          <a:p>
            <a:r>
              <a:rPr lang="en-US" altLang="en-US" dirty="0"/>
              <a:t>Null Values</a:t>
            </a:r>
            <a:endParaRPr lang="en-US" altLang="en-US" dirty="0"/>
          </a:p>
          <a:p>
            <a:r>
              <a:rPr lang="en-US" altLang="en-US" dirty="0"/>
              <a:t>Aggregate Functions</a:t>
            </a:r>
            <a:endParaRPr lang="en-US" altLang="en-US" dirty="0"/>
          </a:p>
          <a:p>
            <a:r>
              <a:rPr lang="en-US" altLang="en-US" dirty="0"/>
              <a:t>Nested Subqueries</a:t>
            </a:r>
            <a:endParaRPr lang="en-US" altLang="en-US" dirty="0"/>
          </a:p>
          <a:p>
            <a:r>
              <a:rPr lang="en-US" altLang="en-US" dirty="0"/>
              <a:t>Modification of the Database</a:t>
            </a:r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l="27868" t="25872" r="19344" b="21060"/>
          <a:stretch>
            <a:fillRect/>
          </a:stretch>
        </p:blipFill>
        <p:spPr>
          <a:xfrm>
            <a:off x="9227" y="794476"/>
            <a:ext cx="9123238" cy="51566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SQL</a:t>
            </a:r>
            <a:r>
              <a:rPr lang="zh-CN" altLang="en-US" sz="4000" dirty="0"/>
              <a:t>查询语言概览</a:t>
            </a:r>
            <a:endParaRPr lang="zh-CN" altLang="en-US" sz="4000" dirty="0"/>
          </a:p>
        </p:txBody>
      </p:sp>
      <p:sp>
        <p:nvSpPr>
          <p:cNvPr id="4" name="Shape6"/>
          <p:cNvSpPr/>
          <p:nvPr/>
        </p:nvSpPr>
        <p:spPr>
          <a:xfrm>
            <a:off x="1299480" y="1602416"/>
            <a:ext cx="8558895" cy="4893634"/>
          </a:xfrm>
          <a:prstGeom prst="roundRect">
            <a:avLst>
              <a:gd name="adj" fmla="val 10529"/>
            </a:avLst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>
              <a:solidFill>
                <a:srgbClr val="6F1787"/>
              </a:solidFill>
              <a:latin typeface="微软雅黑" panose="020B0503020204020204" pitchFamily="82" charset="2"/>
              <a:ea typeface="OPPOSans M" panose="00020600040101010101" pitchFamily="18" charset="-122"/>
            </a:endParaRPr>
          </a:p>
        </p:txBody>
      </p:sp>
      <p:pic>
        <p:nvPicPr>
          <p:cNvPr id="5" name="图片 4" descr="图示&#10;&#10;描述已自动生成"/>
          <p:cNvPicPr>
            <a:picLocks noChangeAspect="1"/>
          </p:cNvPicPr>
          <p:nvPr/>
        </p:nvPicPr>
        <p:blipFill rotWithShape="1"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009"/>
          <a:stretch>
            <a:fillRect/>
          </a:stretch>
        </p:blipFill>
        <p:spPr>
          <a:xfrm>
            <a:off x="-25262" y="1244184"/>
            <a:ext cx="9367581" cy="52518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Data Definition Language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195" name="Rectangle 3"/>
          <p:cNvSpPr>
            <a:spLocks noGrp="1"/>
          </p:cNvSpPr>
          <p:nvPr>
            <p:ph idx="1"/>
          </p:nvPr>
        </p:nvSpPr>
        <p:spPr>
          <a:xfrm>
            <a:off x="914400" y="1898650"/>
            <a:ext cx="7596188" cy="2633663"/>
          </a:xfrm>
        </p:spPr>
        <p:txBody>
          <a:bodyPr vert="horz" wrap="square" lIns="91440" tIns="45720" rIns="91440" bIns="45720" anchor="t"/>
          <a:lstStyle/>
          <a:p>
            <a:r>
              <a:rPr lang="en-US" altLang="en-US" dirty="0"/>
              <a:t>The schema for each relation.</a:t>
            </a:r>
            <a:endParaRPr lang="en-US" altLang="en-US" dirty="0"/>
          </a:p>
          <a:p>
            <a:r>
              <a:rPr lang="en-US" altLang="en-US" dirty="0"/>
              <a:t>The domain of values associated with each attribute.</a:t>
            </a:r>
            <a:endParaRPr lang="en-US" altLang="en-US" dirty="0"/>
          </a:p>
          <a:p>
            <a:r>
              <a:rPr lang="en-US" altLang="en-US" dirty="0"/>
              <a:t>Integrity constraints</a:t>
            </a:r>
            <a:endParaRPr lang="en-US" altLang="en-US" dirty="0"/>
          </a:p>
          <a:p>
            <a:r>
              <a:rPr lang="en-US" altLang="en-US" dirty="0"/>
              <a:t>And as we will see later, also other information such as </a:t>
            </a:r>
            <a:endParaRPr lang="en-US" altLang="en-US" dirty="0"/>
          </a:p>
          <a:p>
            <a:pPr lvl="1"/>
            <a:r>
              <a:rPr lang="en-US" altLang="en-US" dirty="0"/>
              <a:t>The set of indices to be maintained for each relations.</a:t>
            </a:r>
            <a:endParaRPr lang="en-US" altLang="en-US" dirty="0"/>
          </a:p>
          <a:p>
            <a:pPr lvl="1"/>
            <a:r>
              <a:rPr lang="en-US" altLang="en-US" dirty="0"/>
              <a:t>Security and authorization information for each relation.</a:t>
            </a:r>
            <a:endParaRPr lang="en-US" altLang="en-US" dirty="0"/>
          </a:p>
          <a:p>
            <a:pPr lvl="1"/>
            <a:r>
              <a:rPr lang="en-US" altLang="en-US" dirty="0"/>
              <a:t>The physical storage structure of each relation on disk.</a:t>
            </a:r>
            <a:endParaRPr lang="en-US" altLang="en-US" dirty="0"/>
          </a:p>
        </p:txBody>
      </p:sp>
      <p:sp>
        <p:nvSpPr>
          <p:cNvPr id="8196" name="Text Box 4"/>
          <p:cNvSpPr txBox="1"/>
          <p:nvPr/>
        </p:nvSpPr>
        <p:spPr>
          <a:xfrm>
            <a:off x="378460" y="1054735"/>
            <a:ext cx="8387715" cy="67564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>
                <a:solidFill>
                  <a:schemeClr val="bg1">
                    <a:lumMod val="50000"/>
                  </a:schemeClr>
                </a:solidFill>
                <a:latin typeface="Helvetica" panose="020B0604020202030204" pitchFamily="34" charset="0"/>
              </a:rPr>
              <a:t>The SQL </a:t>
            </a:r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  <a:latin typeface="Helvetica" panose="020B0604020202030204" pitchFamily="34" charset="0"/>
              </a:rPr>
              <a:t>data-definition language (DDL)</a:t>
            </a:r>
            <a:r>
              <a:rPr lang="en-US" altLang="en-US" dirty="0">
                <a:solidFill>
                  <a:schemeClr val="bg1">
                    <a:lumMod val="50000"/>
                  </a:schemeClr>
                </a:solidFill>
                <a:latin typeface="Helvetica" panose="020B0604020202030204" pitchFamily="34" charset="0"/>
              </a:rPr>
              <a:t> allows the specification of information about relations, including:</a:t>
            </a:r>
            <a:endParaRPr lang="en-US" altLang="en-US" dirty="0">
              <a:solidFill>
                <a:schemeClr val="bg1">
                  <a:lumMod val="50000"/>
                </a:schemeClr>
              </a:solidFill>
              <a:latin typeface="Helvetica" panose="020B0604020202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Domain Types in SQL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219" name="Rectangle 3"/>
          <p:cNvSpPr>
            <a:spLocks noGrp="1"/>
          </p:cNvSpPr>
          <p:nvPr>
            <p:ph idx="1"/>
          </p:nvPr>
        </p:nvSpPr>
        <p:spPr>
          <a:xfrm>
            <a:off x="193040" y="1106805"/>
            <a:ext cx="8874125" cy="4876800"/>
          </a:xfrm>
        </p:spPr>
        <p:txBody>
          <a:bodyPr vert="horz" wrap="square" lIns="91440" tIns="45720" rIns="91440" bIns="45720" anchor="t"/>
          <a:lstStyle/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0099"/>
                </a:solidFill>
              </a:rPr>
              <a:t>char(n).</a:t>
            </a:r>
            <a:r>
              <a:rPr lang="en-US" altLang="en-US" sz="2000" dirty="0"/>
              <a:t>  Fixed length character string, with user-specified length </a:t>
            </a:r>
            <a:r>
              <a:rPr lang="en-US" altLang="en-US" sz="2000" i="1" dirty="0"/>
              <a:t>n.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0099"/>
                </a:solidFill>
              </a:rPr>
              <a:t>varchar(n).</a:t>
            </a:r>
            <a:r>
              <a:rPr lang="en-US" altLang="en-US" sz="2000" b="1" dirty="0"/>
              <a:t> </a:t>
            </a:r>
            <a:r>
              <a:rPr lang="en-US" altLang="en-US" sz="2000" dirty="0"/>
              <a:t> Variable length character strings, with user-specified maximum length </a:t>
            </a:r>
            <a:r>
              <a:rPr lang="en-US" altLang="en-US" sz="2000" i="1" dirty="0"/>
              <a:t>n.</a:t>
            </a:r>
            <a:endParaRPr lang="en-US" altLang="en-US" sz="2000" i="1" dirty="0"/>
          </a:p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0099"/>
                </a:solidFill>
              </a:rPr>
              <a:t>int.</a:t>
            </a:r>
            <a:r>
              <a:rPr lang="en-US" altLang="en-US" sz="2000" b="1" dirty="0"/>
              <a:t>  </a:t>
            </a:r>
            <a:r>
              <a:rPr lang="en-US" altLang="en-US" sz="2000" dirty="0"/>
              <a:t>Integer (a finite subset of the integers that is machine-dependent).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0099"/>
                </a:solidFill>
              </a:rPr>
              <a:t>smallint.</a:t>
            </a:r>
            <a:r>
              <a:rPr lang="en-US" altLang="en-US" sz="2000" dirty="0"/>
              <a:t>  Small integer (a machine-dependent subset of the integer domain type).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0099"/>
                </a:solidFill>
              </a:rPr>
              <a:t>numeric(p,d).</a:t>
            </a:r>
            <a:r>
              <a:rPr lang="en-US" altLang="en-US" sz="2000" dirty="0"/>
              <a:t>  Fixed point number, with user-specified precision of </a:t>
            </a:r>
            <a:r>
              <a:rPr lang="en-US" altLang="en-US" sz="2000" i="1" dirty="0"/>
              <a:t>p</a:t>
            </a:r>
            <a:r>
              <a:rPr lang="en-US" altLang="en-US" sz="2000" dirty="0"/>
              <a:t> digits, with </a:t>
            </a:r>
            <a:r>
              <a:rPr lang="en-US" altLang="en-US" sz="2000" i="1" dirty="0"/>
              <a:t>d</a:t>
            </a:r>
            <a:r>
              <a:rPr lang="en-US" altLang="en-US" sz="2000" dirty="0"/>
              <a:t> digits to the right of decimal point.  (ex., </a:t>
            </a:r>
            <a:r>
              <a:rPr lang="en-US" altLang="en-US" sz="2000" b="1" dirty="0"/>
              <a:t>numeric</a:t>
            </a:r>
            <a:r>
              <a:rPr lang="en-US" altLang="en-US" sz="2000" dirty="0"/>
              <a:t>(3,1), allows 44.5 to be stores exactly, but not 444.5 or 0.32)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0099"/>
                </a:solidFill>
              </a:rPr>
              <a:t>real, double precision.</a:t>
            </a:r>
            <a:r>
              <a:rPr lang="en-US" altLang="en-US" sz="2000" dirty="0"/>
              <a:t>  Floating point and double-precision floating point numbers, with machine-dependent precision.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0099"/>
                </a:solidFill>
              </a:rPr>
              <a:t>float(n).</a:t>
            </a:r>
            <a:r>
              <a:rPr lang="en-US" altLang="en-US" sz="2000" dirty="0"/>
              <a:t>  Floating point number, with user-specified precision of at least </a:t>
            </a:r>
            <a:r>
              <a:rPr lang="en-US" altLang="en-US" sz="2000" i="1" dirty="0"/>
              <a:t>n</a:t>
            </a:r>
            <a:r>
              <a:rPr lang="en-US" altLang="en-US" sz="2000" dirty="0"/>
              <a:t> digits.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More are covered in Chapter 4.</a:t>
            </a:r>
            <a:endParaRPr lang="en-US" altLang="en-US" sz="2000" dirty="0"/>
          </a:p>
          <a:p>
            <a:pPr>
              <a:lnSpc>
                <a:spcPct val="90000"/>
              </a:lnSpc>
              <a:buNone/>
            </a:pPr>
            <a:endParaRPr lang="en-US" altLang="en-US" sz="2000" dirty="0"/>
          </a:p>
          <a:p>
            <a:pPr>
              <a:lnSpc>
                <a:spcPct val="90000"/>
              </a:lnSpc>
              <a:buNone/>
            </a:pPr>
            <a:endParaRPr lang="en-US" altLang="en-US" sz="20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Create Table Construct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243" name="Rectangle 3"/>
          <p:cNvSpPr>
            <a:spLocks noGrp="1"/>
          </p:cNvSpPr>
          <p:nvPr>
            <p:ph idx="1"/>
          </p:nvPr>
        </p:nvSpPr>
        <p:spPr>
          <a:xfrm>
            <a:off x="239395" y="1028065"/>
            <a:ext cx="8696325" cy="5227955"/>
          </a:xfrm>
        </p:spPr>
        <p:txBody>
          <a:bodyPr vert="horz" wrap="square" lIns="91440" tIns="45720" rIns="91440" bIns="45720" anchor="t"/>
          <a:lstStyle/>
          <a:p>
            <a:pPr defTabSz="0">
              <a:tabLst>
                <a:tab pos="1489075" algn="l"/>
                <a:tab pos="1949450" algn="l"/>
                <a:tab pos="3037205" algn="l"/>
              </a:tabLst>
            </a:pPr>
            <a:r>
              <a:rPr lang="en-US" altLang="en-US" dirty="0"/>
              <a:t>An SQL relation is defined using the </a:t>
            </a:r>
            <a:r>
              <a:rPr lang="en-US" altLang="en-US" b="1" dirty="0">
                <a:solidFill>
                  <a:srgbClr val="000099"/>
                </a:solidFill>
              </a:rPr>
              <a:t>create table</a:t>
            </a:r>
            <a:r>
              <a:rPr lang="en-US" altLang="en-US" b="1" dirty="0"/>
              <a:t> </a:t>
            </a:r>
            <a:r>
              <a:rPr lang="en-US" altLang="en-US" dirty="0"/>
              <a:t>command:</a:t>
            </a:r>
            <a:endParaRPr lang="en-US" altLang="en-US" dirty="0"/>
          </a:p>
          <a:p>
            <a:pPr defTabSz="0">
              <a:buNone/>
              <a:tabLst>
                <a:tab pos="1489075" algn="l"/>
                <a:tab pos="1949450" algn="l"/>
                <a:tab pos="3037205" algn="l"/>
              </a:tabLst>
            </a:pPr>
            <a:r>
              <a:rPr lang="en-US" altLang="en-US" dirty="0"/>
              <a:t>		</a:t>
            </a:r>
            <a:r>
              <a:rPr lang="en-US" altLang="en-US" sz="2000" b="1" dirty="0"/>
              <a:t>create table </a:t>
            </a:r>
            <a:r>
              <a:rPr lang="en-US" altLang="en-US" sz="2000" i="1" dirty="0"/>
              <a:t>r </a:t>
            </a:r>
            <a:r>
              <a:rPr lang="en-US" altLang="en-US" sz="2000" dirty="0"/>
              <a:t>(</a:t>
            </a:r>
            <a:r>
              <a:rPr lang="en-US" altLang="en-US" sz="2000" i="1" dirty="0"/>
              <a:t>A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 </a:t>
            </a:r>
            <a:r>
              <a:rPr lang="en-US" altLang="en-US" sz="2000" i="1" dirty="0"/>
              <a:t>D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</a:t>
            </a:r>
            <a:r>
              <a:rPr lang="en-US" altLang="en-US" sz="2000" i="1" dirty="0"/>
              <a:t>A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</a:t>
            </a:r>
            <a:r>
              <a:rPr lang="en-US" altLang="en-US" sz="2000" i="1" dirty="0"/>
              <a:t>D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, ..., </a:t>
            </a:r>
            <a:r>
              <a:rPr lang="en-US" altLang="en-US" sz="2000" i="1" dirty="0"/>
              <a:t>A</a:t>
            </a:r>
            <a:r>
              <a:rPr lang="en-US" altLang="en-US" sz="2000" i="1" baseline="-25000" dirty="0"/>
              <a:t>n</a:t>
            </a:r>
            <a:r>
              <a:rPr lang="en-US" altLang="en-US" sz="2000" i="1" dirty="0"/>
              <a:t> D</a:t>
            </a:r>
            <a:r>
              <a:rPr lang="en-US" altLang="en-US" sz="2000" i="1" baseline="-25000" dirty="0"/>
              <a:t>n</a:t>
            </a:r>
            <a:r>
              <a:rPr lang="en-US" altLang="en-US" sz="2000" i="1" dirty="0"/>
              <a:t>,</a:t>
            </a:r>
            <a:br>
              <a:rPr lang="en-US" altLang="en-US" sz="2000" i="1" dirty="0"/>
            </a:br>
            <a:r>
              <a:rPr lang="en-US" altLang="en-US" sz="2000" i="1" dirty="0"/>
              <a:t>			</a:t>
            </a:r>
            <a:r>
              <a:rPr lang="en-US" altLang="en-US" sz="2000" dirty="0"/>
              <a:t>(integrity-constraint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),</a:t>
            </a:r>
            <a:br>
              <a:rPr lang="en-US" altLang="en-US" sz="2000" dirty="0"/>
            </a:br>
            <a:r>
              <a:rPr lang="en-US" altLang="en-US" sz="2000" dirty="0"/>
              <a:t>			...,</a:t>
            </a:r>
            <a:br>
              <a:rPr lang="en-US" altLang="en-US" sz="2000" dirty="0"/>
            </a:br>
            <a:r>
              <a:rPr lang="en-US" altLang="en-US" sz="2000" dirty="0"/>
              <a:t>			(integrity-constraint</a:t>
            </a:r>
            <a:r>
              <a:rPr lang="en-US" altLang="en-US" sz="2000" baseline="-25000" dirty="0"/>
              <a:t>k</a:t>
            </a:r>
            <a:r>
              <a:rPr lang="en-US" altLang="en-US" sz="2000" dirty="0"/>
              <a:t>))</a:t>
            </a:r>
            <a:endParaRPr lang="en-US" altLang="en-US" sz="2000" dirty="0"/>
          </a:p>
          <a:p>
            <a:pPr lvl="1" defTabSz="0">
              <a:tabLst>
                <a:tab pos="1489075" algn="l"/>
                <a:tab pos="1949450" algn="l"/>
                <a:tab pos="3037205" algn="l"/>
              </a:tabLst>
            </a:pPr>
            <a:r>
              <a:rPr lang="en-US" altLang="en-US" i="1" dirty="0"/>
              <a:t>r</a:t>
            </a:r>
            <a:r>
              <a:rPr lang="en-US" altLang="en-US" dirty="0"/>
              <a:t> is the name of the relation</a:t>
            </a:r>
            <a:endParaRPr lang="en-US" altLang="en-US" dirty="0"/>
          </a:p>
          <a:p>
            <a:pPr lvl="1" defTabSz="0">
              <a:tabLst>
                <a:tab pos="1489075" algn="l"/>
                <a:tab pos="1949450" algn="l"/>
                <a:tab pos="3037205" algn="l"/>
              </a:tabLst>
            </a:pPr>
            <a:r>
              <a:rPr lang="en-US" altLang="en-US" dirty="0"/>
              <a:t>each </a:t>
            </a:r>
            <a:r>
              <a:rPr lang="en-US" altLang="en-US" i="1" dirty="0"/>
              <a:t>A</a:t>
            </a:r>
            <a:r>
              <a:rPr lang="en-US" altLang="en-US" i="1" baseline="-25000" dirty="0"/>
              <a:t>i</a:t>
            </a:r>
            <a:r>
              <a:rPr lang="en-US" altLang="en-US" dirty="0"/>
              <a:t> is an attribute name in the schema of relation </a:t>
            </a:r>
            <a:r>
              <a:rPr lang="en-US" altLang="en-US" i="1" dirty="0"/>
              <a:t>r</a:t>
            </a:r>
            <a:endParaRPr lang="en-US" altLang="en-US" i="1" dirty="0"/>
          </a:p>
          <a:p>
            <a:pPr lvl="1" defTabSz="0">
              <a:tabLst>
                <a:tab pos="1489075" algn="l"/>
                <a:tab pos="1949450" algn="l"/>
                <a:tab pos="3037205" algn="l"/>
              </a:tabLst>
            </a:pPr>
            <a:r>
              <a:rPr lang="en-US" altLang="en-US" i="1" dirty="0"/>
              <a:t>D</a:t>
            </a:r>
            <a:r>
              <a:rPr lang="en-US" altLang="en-US" i="1" baseline="-25000" dirty="0"/>
              <a:t>i</a:t>
            </a:r>
            <a:r>
              <a:rPr lang="en-US" altLang="en-US" dirty="0"/>
              <a:t> is the data type of values in the domain of attribute </a:t>
            </a:r>
            <a:r>
              <a:rPr lang="en-US" altLang="en-US" i="1" dirty="0"/>
              <a:t>A</a:t>
            </a:r>
            <a:r>
              <a:rPr lang="en-US" altLang="en-US" i="1" baseline="-25000" dirty="0"/>
              <a:t>i</a:t>
            </a:r>
            <a:endParaRPr lang="en-US" altLang="en-US" dirty="0"/>
          </a:p>
          <a:p>
            <a:pPr defTabSz="0">
              <a:tabLst>
                <a:tab pos="1489075" algn="l"/>
                <a:tab pos="1949450" algn="l"/>
                <a:tab pos="3037205" algn="l"/>
              </a:tabLst>
            </a:pPr>
            <a:r>
              <a:rPr lang="en-US" altLang="en-US" dirty="0"/>
              <a:t>Example:	 </a:t>
            </a:r>
            <a:r>
              <a:rPr lang="en-US" altLang="en-US" sz="2000" b="1" dirty="0"/>
              <a:t>create table</a:t>
            </a:r>
            <a:r>
              <a:rPr lang="en-US" altLang="en-US" sz="2000" dirty="0"/>
              <a:t> </a:t>
            </a:r>
            <a:r>
              <a:rPr lang="en-US" altLang="en-US" sz="2000" i="1" dirty="0"/>
              <a:t>instructor</a:t>
            </a:r>
            <a:r>
              <a:rPr lang="en-US" altLang="en-US" sz="2000" dirty="0"/>
              <a:t> (</a:t>
            </a:r>
            <a:br>
              <a:rPr lang="en-US" altLang="en-US" sz="2000" dirty="0"/>
            </a:br>
            <a:r>
              <a:rPr lang="en-US" altLang="en-US" sz="2000" dirty="0"/>
              <a:t>                             </a:t>
            </a:r>
            <a:r>
              <a:rPr lang="en-US" altLang="en-US" sz="2000" i="1" dirty="0"/>
              <a:t>ID</a:t>
            </a:r>
            <a:r>
              <a:rPr lang="en-US" altLang="en-US" sz="2000" dirty="0"/>
              <a:t>                </a:t>
            </a:r>
            <a:r>
              <a:rPr lang="en-US" altLang="en-US" sz="2000" b="1" dirty="0"/>
              <a:t>char</a:t>
            </a:r>
            <a:r>
              <a:rPr lang="en-US" altLang="en-US" sz="2000" dirty="0"/>
              <a:t>(5),</a:t>
            </a:r>
            <a:br>
              <a:rPr lang="en-US" altLang="en-US" sz="2000" dirty="0"/>
            </a:br>
            <a:r>
              <a:rPr lang="en-US" altLang="en-US" sz="2000" dirty="0"/>
              <a:t>                             </a:t>
            </a:r>
            <a:r>
              <a:rPr lang="en-US" altLang="en-US" sz="2000" i="1" dirty="0"/>
              <a:t>name           </a:t>
            </a:r>
            <a:r>
              <a:rPr lang="en-US" altLang="en-US" sz="2000" b="1" dirty="0"/>
              <a:t>varchar</a:t>
            </a:r>
            <a:r>
              <a:rPr lang="en-US" altLang="en-US" sz="2000" dirty="0"/>
              <a:t>(20)</a:t>
            </a:r>
            <a:r>
              <a:rPr lang="en-US" altLang="en-US" sz="2000" b="1" dirty="0"/>
              <a:t>,</a:t>
            </a:r>
            <a:br>
              <a:rPr lang="en-US" altLang="en-US" sz="2000" b="1" i="1" dirty="0"/>
            </a:br>
            <a:r>
              <a:rPr lang="en-US" altLang="en-US" sz="2000" b="1" i="1" dirty="0"/>
              <a:t>                             </a:t>
            </a:r>
            <a:r>
              <a:rPr lang="en-US" altLang="en-US" sz="2000" i="1" dirty="0"/>
              <a:t>dept_name  </a:t>
            </a:r>
            <a:r>
              <a:rPr lang="en-US" altLang="en-US" sz="2000" b="1" dirty="0"/>
              <a:t>varchar</a:t>
            </a:r>
            <a:r>
              <a:rPr lang="en-US" altLang="en-US" sz="2000" dirty="0"/>
              <a:t>(20),</a:t>
            </a:r>
            <a:br>
              <a:rPr lang="en-US" altLang="en-US" sz="2000" dirty="0"/>
            </a:br>
            <a:r>
              <a:rPr lang="en-US" altLang="en-US" sz="2000" dirty="0"/>
              <a:t>                             </a:t>
            </a:r>
            <a:r>
              <a:rPr lang="en-US" altLang="en-US" sz="2000" i="1" dirty="0"/>
              <a:t>salary</a:t>
            </a:r>
            <a:r>
              <a:rPr lang="en-US" altLang="en-US" sz="2000" dirty="0"/>
              <a:t>           </a:t>
            </a:r>
            <a:r>
              <a:rPr lang="en-US" altLang="en-US" sz="2000" b="1" dirty="0"/>
              <a:t>numeric</a:t>
            </a:r>
            <a:r>
              <a:rPr lang="en-US" altLang="en-US" sz="2000" dirty="0"/>
              <a:t>(8,2))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9525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Integrity Constraints in Create Table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823913" y="1098550"/>
            <a:ext cx="6638925" cy="1254125"/>
          </a:xfrm>
        </p:spPr>
        <p:txBody>
          <a:bodyPr vert="horz" wrap="square" lIns="91440" tIns="45720" rIns="91440" bIns="45720" anchor="t"/>
          <a:lstStyle/>
          <a:p>
            <a:r>
              <a:rPr lang="en-US" altLang="en-US" b="1" dirty="0"/>
              <a:t>not null</a:t>
            </a:r>
            <a:endParaRPr lang="en-US" altLang="en-US" b="1" dirty="0"/>
          </a:p>
          <a:p>
            <a:r>
              <a:rPr lang="en-US" altLang="en-US" b="1" dirty="0"/>
              <a:t>primary key</a:t>
            </a:r>
            <a:r>
              <a:rPr lang="en-US" altLang="en-US" dirty="0"/>
              <a:t> (</a:t>
            </a:r>
            <a:r>
              <a:rPr lang="en-US" altLang="en-US" i="1" dirty="0"/>
              <a:t>A</a:t>
            </a:r>
            <a:r>
              <a:rPr lang="en-US" altLang="en-US" baseline="-25000" dirty="0"/>
              <a:t>1</a:t>
            </a:r>
            <a:r>
              <a:rPr lang="en-US" altLang="en-US" dirty="0"/>
              <a:t>, ..., </a:t>
            </a:r>
            <a:r>
              <a:rPr lang="en-US" altLang="en-US" i="1" dirty="0"/>
              <a:t>A</a:t>
            </a:r>
            <a:r>
              <a:rPr lang="en-US" altLang="en-US" i="1" baseline="-25000" dirty="0"/>
              <a:t>n </a:t>
            </a:r>
            <a:r>
              <a:rPr lang="en-US" altLang="en-US" dirty="0"/>
              <a:t>)</a:t>
            </a:r>
            <a:endParaRPr lang="en-US" altLang="en-US" dirty="0"/>
          </a:p>
          <a:p>
            <a:r>
              <a:rPr lang="en-US" altLang="en-US" b="1" dirty="0"/>
              <a:t>foreign key </a:t>
            </a:r>
            <a:r>
              <a:rPr lang="en-US" altLang="en-US" dirty="0"/>
              <a:t>(</a:t>
            </a:r>
            <a:r>
              <a:rPr lang="en-US" altLang="en-US" i="1" dirty="0"/>
              <a:t>A</a:t>
            </a:r>
            <a:r>
              <a:rPr lang="en-US" altLang="en-US" baseline="-25000" dirty="0"/>
              <a:t>m</a:t>
            </a:r>
            <a:r>
              <a:rPr lang="en-US" altLang="en-US" dirty="0"/>
              <a:t>, ..., </a:t>
            </a:r>
            <a:r>
              <a:rPr lang="en-US" altLang="en-US" i="1" dirty="0"/>
              <a:t>A</a:t>
            </a:r>
            <a:r>
              <a:rPr lang="en-US" altLang="en-US" i="1" baseline="-25000" dirty="0"/>
              <a:t>n </a:t>
            </a:r>
            <a:r>
              <a:rPr lang="en-US" altLang="en-US" dirty="0"/>
              <a:t>) </a:t>
            </a:r>
            <a:r>
              <a:rPr lang="en-US" altLang="en-US" b="1" dirty="0"/>
              <a:t>references </a:t>
            </a:r>
            <a:r>
              <a:rPr lang="en-US" altLang="en-US" i="1" dirty="0"/>
              <a:t>r</a:t>
            </a:r>
            <a:endParaRPr lang="en-US" altLang="en-US" dirty="0"/>
          </a:p>
        </p:txBody>
      </p:sp>
      <p:sp>
        <p:nvSpPr>
          <p:cNvPr id="11268" name="Rectangle 4"/>
          <p:cNvSpPr/>
          <p:nvPr/>
        </p:nvSpPr>
        <p:spPr>
          <a:xfrm>
            <a:off x="771525" y="2577148"/>
            <a:ext cx="7319963" cy="251460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/>
          <a:lstStyle/>
          <a:p>
            <a:pPr defTabSz="0">
              <a:tabLst>
                <a:tab pos="1428750" algn="l"/>
                <a:tab pos="1711325" algn="l"/>
                <a:tab pos="3319780" algn="l"/>
              </a:tabLst>
            </a:pPr>
            <a:r>
              <a:rPr lang="en-US" altLang="en-US" i="1" dirty="0">
                <a:latin typeface="Helvetica" panose="020B0604020202030204" pitchFamily="34" charset="0"/>
              </a:rPr>
              <a:t>Example:</a:t>
            </a:r>
            <a:endParaRPr lang="en-US" altLang="en-US" i="1" dirty="0">
              <a:latin typeface="Helvetica" panose="020B0604020202030204" pitchFamily="34" charset="0"/>
            </a:endParaRPr>
          </a:p>
          <a:p>
            <a:pPr defTabSz="0">
              <a:tabLst>
                <a:tab pos="1428750" algn="l"/>
                <a:tab pos="1711325" algn="l"/>
                <a:tab pos="3319780" algn="l"/>
              </a:tabLst>
            </a:pPr>
            <a:endParaRPr lang="en-US" altLang="en-US" b="1" dirty="0">
              <a:latin typeface="Helvetica" panose="020B0604020202030204" pitchFamily="34" charset="0"/>
            </a:endParaRPr>
          </a:p>
          <a:p>
            <a:pPr defTabSz="0">
              <a:tabLst>
                <a:tab pos="1428750" algn="l"/>
                <a:tab pos="1711325" algn="l"/>
                <a:tab pos="3319780" algn="l"/>
              </a:tabLst>
            </a:pPr>
            <a:r>
              <a:rPr lang="en-US" altLang="en-US" dirty="0">
                <a:latin typeface="Helvetica" panose="020B0604020202030204" pitchFamily="34" charset="0"/>
              </a:rPr>
              <a:t>	</a:t>
            </a:r>
            <a:r>
              <a:rPr lang="en-US" altLang="en-US" b="1" dirty="0">
                <a:latin typeface="Helvetica" panose="020B0604020202030204" pitchFamily="34" charset="0"/>
              </a:rPr>
              <a:t>create table</a:t>
            </a:r>
            <a:r>
              <a:rPr lang="en-US" altLang="en-US" dirty="0">
                <a:latin typeface="Helvetica" panose="020B0604020202030204" pitchFamily="34" charset="0"/>
              </a:rPr>
              <a:t> </a:t>
            </a:r>
            <a:r>
              <a:rPr lang="en-US" altLang="en-US" i="1" dirty="0">
                <a:latin typeface="Helvetica" panose="020B0604020202030204" pitchFamily="34" charset="0"/>
              </a:rPr>
              <a:t>instructor</a:t>
            </a:r>
            <a:r>
              <a:rPr lang="en-US" altLang="en-US" dirty="0">
                <a:latin typeface="Helvetica" panose="020B0604020202030204" pitchFamily="34" charset="0"/>
              </a:rPr>
              <a:t> (</a:t>
            </a:r>
            <a:br>
              <a:rPr lang="en-US" altLang="en-US" dirty="0">
                <a:latin typeface="Helvetica" panose="020B0604020202030204" pitchFamily="34" charset="0"/>
              </a:rPr>
            </a:br>
            <a:r>
              <a:rPr lang="en-US" altLang="en-US" dirty="0">
                <a:latin typeface="Helvetica" panose="020B0604020202030204" pitchFamily="34" charset="0"/>
              </a:rPr>
              <a:t>                             </a:t>
            </a:r>
            <a:r>
              <a:rPr lang="en-US" altLang="en-US" i="1" dirty="0">
                <a:latin typeface="Helvetica" panose="020B0604020202030204" pitchFamily="34" charset="0"/>
              </a:rPr>
              <a:t>ID</a:t>
            </a:r>
            <a:r>
              <a:rPr lang="en-US" altLang="en-US" dirty="0">
                <a:latin typeface="Helvetica" panose="020B0604020202030204" pitchFamily="34" charset="0"/>
              </a:rPr>
              <a:t>                </a:t>
            </a:r>
            <a:r>
              <a:rPr lang="en-US" altLang="en-US" b="1" dirty="0">
                <a:latin typeface="Helvetica" panose="020B0604020202030204" pitchFamily="34" charset="0"/>
              </a:rPr>
              <a:t>char</a:t>
            </a:r>
            <a:r>
              <a:rPr lang="en-US" altLang="en-US" dirty="0">
                <a:latin typeface="Helvetica" panose="020B0604020202030204" pitchFamily="34" charset="0"/>
              </a:rPr>
              <a:t>(5),</a:t>
            </a:r>
            <a:br>
              <a:rPr lang="en-US" altLang="en-US" dirty="0">
                <a:latin typeface="Helvetica" panose="020B0604020202030204" pitchFamily="34" charset="0"/>
              </a:rPr>
            </a:br>
            <a:r>
              <a:rPr lang="en-US" altLang="en-US" dirty="0">
                <a:latin typeface="Helvetica" panose="020B0604020202030204" pitchFamily="34" charset="0"/>
              </a:rPr>
              <a:t>                             </a:t>
            </a:r>
            <a:r>
              <a:rPr lang="en-US" altLang="en-US" i="1" dirty="0">
                <a:latin typeface="Helvetica" panose="020B0604020202030204" pitchFamily="34" charset="0"/>
              </a:rPr>
              <a:t>name           </a:t>
            </a:r>
            <a:r>
              <a:rPr lang="en-US" altLang="en-US" b="1" dirty="0">
                <a:latin typeface="Helvetica" panose="020B0604020202030204" pitchFamily="34" charset="0"/>
              </a:rPr>
              <a:t>varchar</a:t>
            </a:r>
            <a:r>
              <a:rPr lang="en-US" altLang="en-US" dirty="0">
                <a:latin typeface="Helvetica" panose="020B0604020202030204" pitchFamily="34" charset="0"/>
              </a:rPr>
              <a:t>(20) </a:t>
            </a:r>
            <a:r>
              <a:rPr lang="en-US" altLang="en-US" b="1" dirty="0">
                <a:latin typeface="Helvetica" panose="020B0604020202030204" pitchFamily="34" charset="0"/>
              </a:rPr>
              <a:t>not null,</a:t>
            </a:r>
            <a:br>
              <a:rPr lang="en-US" altLang="en-US" b="1" i="1" dirty="0">
                <a:latin typeface="Helvetica" panose="020B0604020202030204" pitchFamily="34" charset="0"/>
              </a:rPr>
            </a:br>
            <a:r>
              <a:rPr lang="en-US" altLang="en-US" b="1" i="1" dirty="0">
                <a:latin typeface="Helvetica" panose="020B0604020202030204" pitchFamily="34" charset="0"/>
              </a:rPr>
              <a:t>                             </a:t>
            </a:r>
            <a:r>
              <a:rPr lang="en-US" altLang="en-US" i="1" dirty="0">
                <a:latin typeface="Helvetica" panose="020B0604020202030204" pitchFamily="34" charset="0"/>
              </a:rPr>
              <a:t>dept_name  </a:t>
            </a:r>
            <a:r>
              <a:rPr lang="en-US" altLang="en-US" b="1" dirty="0">
                <a:latin typeface="Helvetica" panose="020B0604020202030204" pitchFamily="34" charset="0"/>
              </a:rPr>
              <a:t>varchar</a:t>
            </a:r>
            <a:r>
              <a:rPr lang="en-US" altLang="en-US" dirty="0">
                <a:latin typeface="Helvetica" panose="020B0604020202030204" pitchFamily="34" charset="0"/>
              </a:rPr>
              <a:t>(20),</a:t>
            </a:r>
            <a:br>
              <a:rPr lang="en-US" altLang="en-US" dirty="0">
                <a:latin typeface="Helvetica" panose="020B0604020202030204" pitchFamily="34" charset="0"/>
              </a:rPr>
            </a:br>
            <a:r>
              <a:rPr lang="en-US" altLang="en-US" dirty="0">
                <a:latin typeface="Helvetica" panose="020B0604020202030204" pitchFamily="34" charset="0"/>
              </a:rPr>
              <a:t>                             </a:t>
            </a:r>
            <a:r>
              <a:rPr lang="en-US" altLang="en-US" i="1" dirty="0">
                <a:latin typeface="Helvetica" panose="020B0604020202030204" pitchFamily="34" charset="0"/>
              </a:rPr>
              <a:t>salary</a:t>
            </a:r>
            <a:r>
              <a:rPr lang="en-US" altLang="en-US" dirty="0">
                <a:latin typeface="Helvetica" panose="020B0604020202030204" pitchFamily="34" charset="0"/>
              </a:rPr>
              <a:t>           </a:t>
            </a:r>
            <a:r>
              <a:rPr lang="en-US" altLang="en-US" b="1" dirty="0">
                <a:latin typeface="Helvetica" panose="020B0604020202030204" pitchFamily="34" charset="0"/>
              </a:rPr>
              <a:t>numeric</a:t>
            </a:r>
            <a:r>
              <a:rPr lang="en-US" altLang="en-US" dirty="0">
                <a:latin typeface="Helvetica" panose="020B0604020202030204" pitchFamily="34" charset="0"/>
              </a:rPr>
              <a:t>(8,2),</a:t>
            </a:r>
            <a:br>
              <a:rPr lang="en-US" altLang="en-US" dirty="0">
                <a:latin typeface="Helvetica" panose="020B0604020202030204" pitchFamily="34" charset="0"/>
              </a:rPr>
            </a:br>
            <a:r>
              <a:rPr lang="en-US" altLang="en-US" sz="1600" dirty="0">
                <a:latin typeface="Helvetica" panose="020B0604020202030204" pitchFamily="34" charset="0"/>
              </a:rPr>
              <a:t>                                </a:t>
            </a:r>
            <a:r>
              <a:rPr lang="en-US" altLang="en-US" b="1" dirty="0">
                <a:latin typeface="Helvetica" panose="020B0604020202030204" pitchFamily="34" charset="0"/>
              </a:rPr>
              <a:t>primary key </a:t>
            </a:r>
            <a:r>
              <a:rPr lang="en-US" altLang="en-US" dirty="0">
                <a:latin typeface="Helvetica" panose="020B0604020202030204" pitchFamily="34" charset="0"/>
              </a:rPr>
              <a:t>(</a:t>
            </a:r>
            <a:r>
              <a:rPr lang="en-US" altLang="en-US" i="1" dirty="0">
                <a:latin typeface="Helvetica" panose="020B0604020202030204" pitchFamily="34" charset="0"/>
              </a:rPr>
              <a:t>ID</a:t>
            </a:r>
            <a:r>
              <a:rPr lang="en-US" altLang="en-US" dirty="0">
                <a:latin typeface="Helvetica" panose="020B0604020202030204" pitchFamily="34" charset="0"/>
              </a:rPr>
              <a:t>),</a:t>
            </a:r>
            <a:br>
              <a:rPr lang="en-US" altLang="en-US" dirty="0">
                <a:latin typeface="Helvetica" panose="020B0604020202030204" pitchFamily="34" charset="0"/>
              </a:rPr>
            </a:br>
            <a:r>
              <a:rPr lang="en-US" altLang="en-US" dirty="0">
                <a:latin typeface="Helvetica" panose="020B0604020202030204" pitchFamily="34" charset="0"/>
              </a:rPr>
              <a:t>                             </a:t>
            </a:r>
            <a:r>
              <a:rPr lang="en-US" altLang="en-US" b="1" dirty="0">
                <a:latin typeface="Helvetica" panose="020B0604020202030204" pitchFamily="34" charset="0"/>
              </a:rPr>
              <a:t>foreign key </a:t>
            </a:r>
            <a:r>
              <a:rPr lang="en-US" altLang="en-US" i="1" dirty="0">
                <a:latin typeface="Helvetica" panose="020B0604020202030204" pitchFamily="34" charset="0"/>
              </a:rPr>
              <a:t>(dept_name</a:t>
            </a:r>
            <a:r>
              <a:rPr lang="en-US" altLang="en-US" dirty="0">
                <a:latin typeface="Helvetica" panose="020B0604020202030204" pitchFamily="34" charset="0"/>
              </a:rPr>
              <a:t>) </a:t>
            </a:r>
            <a:r>
              <a:rPr lang="en-US" altLang="en-US" b="1" dirty="0">
                <a:latin typeface="Helvetica" panose="020B0604020202030204" pitchFamily="34" charset="0"/>
              </a:rPr>
              <a:t>references </a:t>
            </a:r>
            <a:r>
              <a:rPr lang="en-US" altLang="en-US" i="1" dirty="0">
                <a:latin typeface="Helvetica" panose="020B0604020202030204" pitchFamily="34" charset="0"/>
              </a:rPr>
              <a:t>department);</a:t>
            </a:r>
            <a:endParaRPr lang="en-US" altLang="en-US" i="1" dirty="0">
              <a:latin typeface="Helvetica" panose="020B0604020202030204" pitchFamily="34" charset="0"/>
            </a:endParaRPr>
          </a:p>
        </p:txBody>
      </p:sp>
      <p:sp>
        <p:nvSpPr>
          <p:cNvPr id="11269" name="Rectangle 5"/>
          <p:cNvSpPr/>
          <p:nvPr/>
        </p:nvSpPr>
        <p:spPr>
          <a:xfrm>
            <a:off x="804863" y="5229225"/>
            <a:ext cx="7410450" cy="685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spcBef>
                <a:spcPct val="35000"/>
              </a:spcBef>
              <a:buClr>
                <a:schemeClr val="tx2"/>
              </a:buClr>
              <a:buFont typeface="Monotype Sorts" pitchFamily="2" charset="2"/>
              <a:buNone/>
            </a:pPr>
            <a:r>
              <a:rPr lang="en-US" altLang="en-US" b="1" dirty="0">
                <a:latin typeface="Helvetica" panose="020B0604020202030204" pitchFamily="34" charset="0"/>
              </a:rPr>
              <a:t>primary key </a:t>
            </a:r>
            <a:r>
              <a:rPr lang="en-US" altLang="en-US" dirty="0">
                <a:latin typeface="Helvetica" panose="020B0604020202030204" pitchFamily="34" charset="0"/>
              </a:rPr>
              <a:t>declaration on an attribute automatically ensures</a:t>
            </a:r>
            <a:r>
              <a:rPr lang="en-US" altLang="en-US" b="1" dirty="0">
                <a:latin typeface="Helvetica" panose="020B0604020202030204" pitchFamily="34" charset="0"/>
              </a:rPr>
              <a:t> not null</a:t>
            </a:r>
            <a:endParaRPr lang="en-US" altLang="en-US" b="1" dirty="0">
              <a:latin typeface="Helvetica" panose="020B0604020202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810" y="1171575"/>
            <a:ext cx="9102725" cy="53333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And a Few More Relation Definitions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291" name="AutoShape 3"/>
          <p:cNvSpPr>
            <a:spLocks noGrp="1" noChangeAspect="1"/>
          </p:cNvSpPr>
          <p:nvPr>
            <p:ph idx="1"/>
          </p:nvPr>
        </p:nvSpPr>
        <p:spPr>
          <a:xfrm>
            <a:off x="160020" y="885825"/>
            <a:ext cx="8851265" cy="5497830"/>
          </a:xfrm>
        </p:spPr>
        <p:txBody>
          <a:bodyPr vert="horz" wrap="square" lIns="91440" tIns="45720" rIns="91440" bIns="45720" anchor="t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b="1" dirty="0"/>
              <a:t>create table</a:t>
            </a:r>
            <a:r>
              <a:rPr lang="en-US" altLang="en-US" dirty="0"/>
              <a:t> </a:t>
            </a:r>
            <a:r>
              <a:rPr lang="en-US" altLang="en-US" i="1" dirty="0"/>
              <a:t>student</a:t>
            </a:r>
            <a:r>
              <a:rPr lang="en-US" altLang="en-US" dirty="0"/>
              <a:t> (</a:t>
            </a:r>
            <a:br>
              <a:rPr lang="en-US" altLang="en-US" dirty="0"/>
            </a:br>
            <a:r>
              <a:rPr lang="en-US" altLang="en-US" dirty="0"/>
              <a:t>      </a:t>
            </a:r>
            <a:r>
              <a:rPr lang="en-US" altLang="en-US" sz="1800" i="1" dirty="0"/>
              <a:t>ID</a:t>
            </a:r>
            <a:r>
              <a:rPr lang="en-US" altLang="en-US" sz="1800" dirty="0"/>
              <a:t>                    </a:t>
            </a:r>
            <a:r>
              <a:rPr lang="en-US" altLang="en-US" sz="1800" b="1" dirty="0"/>
              <a:t>varchar</a:t>
            </a:r>
            <a:r>
              <a:rPr lang="en-US" altLang="en-US" sz="1800" dirty="0"/>
              <a:t>(5),</a:t>
            </a:r>
            <a:br>
              <a:rPr lang="en-US" altLang="en-US" sz="1800" dirty="0"/>
            </a:br>
            <a:r>
              <a:rPr lang="en-US" altLang="en-US" sz="1800" dirty="0"/>
              <a:t>        </a:t>
            </a:r>
            <a:r>
              <a:rPr lang="en-US" altLang="en-US" sz="1800" i="1" dirty="0"/>
              <a:t>name</a:t>
            </a:r>
            <a:r>
              <a:rPr lang="en-US" altLang="en-US" sz="1800" dirty="0"/>
              <a:t>               </a:t>
            </a:r>
            <a:r>
              <a:rPr lang="en-US" altLang="en-US" sz="1800" b="1" dirty="0"/>
              <a:t>varchar</a:t>
            </a:r>
            <a:r>
              <a:rPr lang="en-US" altLang="en-US" sz="1800" dirty="0"/>
              <a:t>(20) not null,</a:t>
            </a:r>
            <a:br>
              <a:rPr lang="en-US" altLang="en-US" sz="1800" dirty="0"/>
            </a:br>
            <a:r>
              <a:rPr lang="en-US" altLang="en-US" sz="1800" dirty="0"/>
              <a:t>        </a:t>
            </a:r>
            <a:r>
              <a:rPr lang="en-US" altLang="en-US" sz="1800" i="1" dirty="0"/>
              <a:t>dept_name</a:t>
            </a:r>
            <a:r>
              <a:rPr lang="en-US" altLang="en-US" sz="1800" dirty="0"/>
              <a:t>      </a:t>
            </a:r>
            <a:r>
              <a:rPr lang="en-US" altLang="en-US" sz="1800" b="1" dirty="0"/>
              <a:t>varchar</a:t>
            </a:r>
            <a:r>
              <a:rPr lang="en-US" altLang="en-US" sz="1800" dirty="0"/>
              <a:t>(20),</a:t>
            </a:r>
            <a:br>
              <a:rPr lang="en-US" altLang="en-US" sz="1800" dirty="0"/>
            </a:br>
            <a:r>
              <a:rPr lang="en-US" altLang="en-US" sz="1800" dirty="0"/>
              <a:t>        </a:t>
            </a:r>
            <a:r>
              <a:rPr lang="en-US" altLang="en-US" sz="1800" i="1" dirty="0"/>
              <a:t>tot_cred</a:t>
            </a:r>
            <a:r>
              <a:rPr lang="en-US" altLang="en-US" sz="1800" dirty="0"/>
              <a:t>           </a:t>
            </a:r>
            <a:r>
              <a:rPr lang="en-US" altLang="en-US" sz="1800" b="1" dirty="0"/>
              <a:t>numeric</a:t>
            </a:r>
            <a:r>
              <a:rPr lang="en-US" altLang="en-US" sz="1800" dirty="0"/>
              <a:t>(3,0),</a:t>
            </a:r>
            <a:br>
              <a:rPr lang="en-US" altLang="en-US" sz="1800" dirty="0"/>
            </a:br>
            <a:r>
              <a:rPr lang="en-US" altLang="en-US" sz="1800" dirty="0"/>
              <a:t>        </a:t>
            </a:r>
            <a:r>
              <a:rPr lang="en-US" altLang="en-US" sz="1800" b="1" dirty="0"/>
              <a:t>primary key </a:t>
            </a:r>
            <a:r>
              <a:rPr lang="en-US" altLang="en-US" sz="1800" i="1" dirty="0"/>
              <a:t>(ID),</a:t>
            </a:r>
            <a:endParaRPr lang="en-US" altLang="en-US" sz="1800" i="1" dirty="0"/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800" b="1" dirty="0"/>
              <a:t>             foreign key </a:t>
            </a:r>
            <a:r>
              <a:rPr lang="en-US" altLang="en-US" sz="1800" i="1" dirty="0"/>
              <a:t>(dept_name</a:t>
            </a:r>
            <a:r>
              <a:rPr lang="en-US" altLang="en-US" sz="1800" dirty="0"/>
              <a:t>) </a:t>
            </a:r>
            <a:r>
              <a:rPr lang="en-US" altLang="en-US" sz="1800" b="1" dirty="0"/>
              <a:t>references </a:t>
            </a:r>
            <a:r>
              <a:rPr lang="en-US" altLang="en-US" sz="1800" i="1" dirty="0"/>
              <a:t>department</a:t>
            </a:r>
            <a:r>
              <a:rPr lang="en-US" altLang="en-US" sz="1800" dirty="0"/>
              <a:t>);</a:t>
            </a:r>
            <a:endParaRPr lang="en-US" altLang="en-US" sz="1800" dirty="0"/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b="1" dirty="0"/>
              <a:t>create table</a:t>
            </a:r>
            <a:r>
              <a:rPr lang="en-US" altLang="en-US" dirty="0"/>
              <a:t> </a:t>
            </a:r>
            <a:r>
              <a:rPr lang="en-US" altLang="en-US" i="1" dirty="0"/>
              <a:t>takes</a:t>
            </a:r>
            <a:r>
              <a:rPr lang="en-US" altLang="en-US" dirty="0"/>
              <a:t> (</a:t>
            </a:r>
            <a:br>
              <a:rPr lang="en-US" altLang="en-US" dirty="0"/>
            </a:br>
            <a:r>
              <a:rPr lang="en-US" altLang="en-US" sz="1800" dirty="0"/>
              <a:t>        </a:t>
            </a:r>
            <a:r>
              <a:rPr lang="en-US" altLang="en-US" sz="1800" i="1" dirty="0"/>
              <a:t>ID</a:t>
            </a:r>
            <a:r>
              <a:rPr lang="en-US" altLang="en-US" sz="1800" dirty="0"/>
              <a:t>                   </a:t>
            </a:r>
            <a:r>
              <a:rPr lang="en-US" altLang="en-US" sz="1800" b="1" dirty="0"/>
              <a:t>varchar</a:t>
            </a:r>
            <a:r>
              <a:rPr lang="en-US" altLang="en-US" sz="1800" dirty="0"/>
              <a:t>(5),</a:t>
            </a:r>
            <a:br>
              <a:rPr lang="en-US" altLang="en-US" sz="1800" dirty="0"/>
            </a:br>
            <a:r>
              <a:rPr lang="en-US" altLang="en-US" sz="1800" dirty="0"/>
              <a:t>        </a:t>
            </a:r>
            <a:r>
              <a:rPr lang="en-US" altLang="en-US" sz="1800" i="1" dirty="0"/>
              <a:t>course_id</a:t>
            </a:r>
            <a:r>
              <a:rPr lang="en-US" altLang="en-US" sz="1800" dirty="0"/>
              <a:t>       </a:t>
            </a:r>
            <a:r>
              <a:rPr lang="en-US" altLang="en-US" sz="1800" b="1" dirty="0"/>
              <a:t>varchar</a:t>
            </a:r>
            <a:r>
              <a:rPr lang="en-US" altLang="en-US" sz="1800" dirty="0"/>
              <a:t>(8),</a:t>
            </a:r>
            <a:br>
              <a:rPr lang="en-US" altLang="en-US" sz="1800" dirty="0"/>
            </a:br>
            <a:r>
              <a:rPr lang="en-US" altLang="en-US" sz="1800" dirty="0"/>
              <a:t>        </a:t>
            </a:r>
            <a:r>
              <a:rPr lang="en-US" altLang="en-US" sz="1800" i="1" dirty="0"/>
              <a:t>sec_id</a:t>
            </a:r>
            <a:r>
              <a:rPr lang="en-US" altLang="en-US" sz="1800" dirty="0"/>
              <a:t>            </a:t>
            </a:r>
            <a:r>
              <a:rPr lang="en-US" altLang="en-US" sz="1800" b="1" dirty="0"/>
              <a:t>varchar</a:t>
            </a:r>
            <a:r>
              <a:rPr lang="en-US" altLang="en-US" sz="1800" dirty="0"/>
              <a:t>(8),</a:t>
            </a:r>
            <a:br>
              <a:rPr lang="en-US" altLang="en-US" sz="1800" dirty="0"/>
            </a:br>
            <a:r>
              <a:rPr lang="en-US" altLang="en-US" sz="1800" dirty="0"/>
              <a:t>        </a:t>
            </a:r>
            <a:r>
              <a:rPr lang="en-US" altLang="en-US" sz="1800" i="1" dirty="0"/>
              <a:t>semester</a:t>
            </a:r>
            <a:r>
              <a:rPr lang="en-US" altLang="en-US" sz="1800" dirty="0"/>
              <a:t>        </a:t>
            </a:r>
            <a:r>
              <a:rPr lang="en-US" altLang="en-US" sz="1800" b="1" dirty="0"/>
              <a:t>varchar</a:t>
            </a:r>
            <a:r>
              <a:rPr lang="en-US" altLang="en-US" sz="1800" dirty="0"/>
              <a:t>(6),</a:t>
            </a:r>
            <a:br>
              <a:rPr lang="en-US" altLang="en-US" sz="1800" dirty="0"/>
            </a:br>
            <a:r>
              <a:rPr lang="en-US" altLang="en-US" sz="1800" dirty="0"/>
              <a:t>        </a:t>
            </a:r>
            <a:r>
              <a:rPr lang="en-US" altLang="en-US" sz="1800" i="1" dirty="0"/>
              <a:t>year</a:t>
            </a:r>
            <a:r>
              <a:rPr lang="en-US" altLang="en-US" sz="1800" dirty="0"/>
              <a:t>                </a:t>
            </a:r>
            <a:r>
              <a:rPr lang="en-US" altLang="en-US" sz="1800" b="1" dirty="0"/>
              <a:t>numeric</a:t>
            </a:r>
            <a:r>
              <a:rPr lang="en-US" altLang="en-US" sz="1800" dirty="0"/>
              <a:t>(4,0),</a:t>
            </a:r>
            <a:br>
              <a:rPr lang="en-US" altLang="en-US" sz="1800" dirty="0"/>
            </a:br>
            <a:r>
              <a:rPr lang="en-US" altLang="en-US" sz="1800" dirty="0"/>
              <a:t>        </a:t>
            </a:r>
            <a:r>
              <a:rPr lang="en-US" altLang="en-US" sz="1800" i="1" dirty="0"/>
              <a:t>grade</a:t>
            </a:r>
            <a:r>
              <a:rPr lang="en-US" altLang="en-US" sz="1800" dirty="0"/>
              <a:t>              </a:t>
            </a:r>
            <a:r>
              <a:rPr lang="en-US" altLang="en-US" sz="1800" b="1" dirty="0"/>
              <a:t>varchar</a:t>
            </a:r>
            <a:r>
              <a:rPr lang="en-US" altLang="en-US" sz="1800" dirty="0"/>
              <a:t>(2), </a:t>
            </a:r>
            <a:endParaRPr lang="en-US" altLang="en-US" sz="1800" dirty="0"/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800" b="1" dirty="0"/>
              <a:t>             primary key </a:t>
            </a:r>
            <a:r>
              <a:rPr lang="en-US" altLang="en-US" sz="1800" i="1" dirty="0"/>
              <a:t>(ID, course_id, sec_id, semester, year)</a:t>
            </a:r>
            <a:r>
              <a:rPr lang="en-US" altLang="en-US" sz="1800" dirty="0"/>
              <a:t> ,</a:t>
            </a:r>
            <a:endParaRPr lang="en-US" altLang="en-US" sz="1800" dirty="0"/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800" b="1" dirty="0"/>
              <a:t>             foreign key </a:t>
            </a:r>
            <a:r>
              <a:rPr lang="en-US" altLang="en-US" sz="1800" dirty="0"/>
              <a:t>(</a:t>
            </a:r>
            <a:r>
              <a:rPr lang="en-US" altLang="en-US" sz="1800" i="1" dirty="0"/>
              <a:t>ID</a:t>
            </a:r>
            <a:r>
              <a:rPr lang="en-US" altLang="en-US" sz="1800" dirty="0"/>
              <a:t>) </a:t>
            </a:r>
            <a:r>
              <a:rPr lang="en-US" altLang="en-US" sz="1800" b="1" dirty="0"/>
              <a:t>references </a:t>
            </a:r>
            <a:r>
              <a:rPr lang="en-US" altLang="en-US" sz="1800" b="1" i="1" dirty="0"/>
              <a:t> </a:t>
            </a:r>
            <a:r>
              <a:rPr lang="en-US" altLang="en-US" sz="1800" i="1" dirty="0"/>
              <a:t>student,</a:t>
            </a:r>
            <a:br>
              <a:rPr lang="en-US" altLang="en-US" sz="1800" dirty="0"/>
            </a:br>
            <a:r>
              <a:rPr lang="en-US" altLang="en-US" sz="1800" dirty="0"/>
              <a:t>        </a:t>
            </a:r>
            <a:r>
              <a:rPr lang="en-US" altLang="en-US" sz="1800" b="1" dirty="0"/>
              <a:t>foreign key </a:t>
            </a:r>
            <a:r>
              <a:rPr lang="en-US" altLang="en-US" sz="1800" dirty="0"/>
              <a:t>(</a:t>
            </a:r>
            <a:r>
              <a:rPr lang="en-US" altLang="en-US" sz="1800" i="1" dirty="0"/>
              <a:t>course_id, sec_id, semester, year</a:t>
            </a:r>
            <a:r>
              <a:rPr lang="en-US" altLang="en-US" sz="1800" dirty="0"/>
              <a:t>) </a:t>
            </a:r>
            <a:r>
              <a:rPr lang="en-US" altLang="en-US" sz="1800" b="1" dirty="0"/>
              <a:t>references </a:t>
            </a:r>
            <a:r>
              <a:rPr lang="en-US" altLang="en-US" sz="1800" i="1" dirty="0"/>
              <a:t>section</a:t>
            </a:r>
            <a:r>
              <a:rPr lang="en-US" altLang="en-US" sz="1800" dirty="0"/>
              <a:t>);</a:t>
            </a:r>
            <a:endParaRPr lang="en-US" altLang="en-US" sz="1800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Note: </a:t>
            </a:r>
            <a:r>
              <a:rPr lang="en-US" altLang="en-US" i="1" dirty="0"/>
              <a:t>sec_id</a:t>
            </a:r>
            <a:r>
              <a:rPr lang="en-US" altLang="en-US" dirty="0"/>
              <a:t> can be dropped from primary key above, to ensure a student cannot be registered for two sections of the same course in the same semester</a:t>
            </a: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And more still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en-US" altLang="en-US" b="1" dirty="0"/>
              <a:t>create table</a:t>
            </a:r>
            <a:r>
              <a:rPr lang="en-US" altLang="en-US" dirty="0"/>
              <a:t> </a:t>
            </a:r>
            <a:r>
              <a:rPr lang="en-US" altLang="en-US" i="1" dirty="0"/>
              <a:t>course</a:t>
            </a:r>
            <a:r>
              <a:rPr lang="en-US" altLang="en-US" dirty="0"/>
              <a:t> (</a:t>
            </a:r>
            <a:br>
              <a:rPr lang="en-US" altLang="en-US" dirty="0"/>
            </a:br>
            <a:r>
              <a:rPr lang="en-US" altLang="en-US" dirty="0"/>
              <a:t>        </a:t>
            </a:r>
            <a:r>
              <a:rPr lang="en-US" altLang="en-US" i="1" dirty="0"/>
              <a:t>course_id</a:t>
            </a:r>
            <a:r>
              <a:rPr lang="en-US" altLang="en-US" dirty="0"/>
              <a:t>        </a:t>
            </a:r>
            <a:r>
              <a:rPr lang="en-US" altLang="en-US" b="1" dirty="0"/>
              <a:t>varchar</a:t>
            </a:r>
            <a:r>
              <a:rPr lang="en-US" altLang="en-US" dirty="0"/>
              <a:t>(8),</a:t>
            </a:r>
            <a:br>
              <a:rPr lang="en-US" altLang="en-US" dirty="0"/>
            </a:br>
            <a:r>
              <a:rPr lang="en-US" altLang="en-US" dirty="0"/>
              <a:t>        </a:t>
            </a:r>
            <a:r>
              <a:rPr lang="en-US" altLang="en-US" i="1" dirty="0"/>
              <a:t>title</a:t>
            </a:r>
            <a:r>
              <a:rPr lang="en-US" altLang="en-US" dirty="0"/>
              <a:t>                  </a:t>
            </a:r>
            <a:r>
              <a:rPr lang="en-US" altLang="en-US" b="1" dirty="0"/>
              <a:t>varchar(</a:t>
            </a:r>
            <a:r>
              <a:rPr lang="en-US" altLang="en-US" dirty="0"/>
              <a:t>50),</a:t>
            </a:r>
            <a:br>
              <a:rPr lang="en-US" altLang="en-US" dirty="0"/>
            </a:br>
            <a:r>
              <a:rPr lang="en-US" altLang="en-US" dirty="0"/>
              <a:t>        </a:t>
            </a:r>
            <a:r>
              <a:rPr lang="en-US" altLang="en-US" i="1" dirty="0"/>
              <a:t>dept_name</a:t>
            </a:r>
            <a:r>
              <a:rPr lang="en-US" altLang="en-US" dirty="0"/>
              <a:t>      </a:t>
            </a:r>
            <a:r>
              <a:rPr lang="en-US" altLang="en-US" b="1" dirty="0"/>
              <a:t>varchar</a:t>
            </a:r>
            <a:r>
              <a:rPr lang="en-US" altLang="en-US" dirty="0"/>
              <a:t>(20),</a:t>
            </a:r>
            <a:br>
              <a:rPr lang="en-US" altLang="en-US" dirty="0"/>
            </a:br>
            <a:r>
              <a:rPr lang="en-US" altLang="en-US" dirty="0"/>
              <a:t>        </a:t>
            </a:r>
            <a:r>
              <a:rPr lang="en-US" altLang="en-US" i="1" dirty="0"/>
              <a:t>credits</a:t>
            </a:r>
            <a:r>
              <a:rPr lang="en-US" altLang="en-US" dirty="0"/>
              <a:t>             </a:t>
            </a:r>
            <a:r>
              <a:rPr lang="en-US" altLang="en-US" b="1" dirty="0"/>
              <a:t>numeric</a:t>
            </a:r>
            <a:r>
              <a:rPr lang="en-US" altLang="en-US" dirty="0"/>
              <a:t>(2,0),</a:t>
            </a:r>
            <a:endParaRPr lang="en-US" altLang="en-US" dirty="0"/>
          </a:p>
          <a:p>
            <a:pPr>
              <a:spcBef>
                <a:spcPct val="0"/>
              </a:spcBef>
              <a:buNone/>
            </a:pPr>
            <a:r>
              <a:rPr lang="en-US" altLang="en-US" dirty="0"/>
              <a:t>             </a:t>
            </a:r>
            <a:r>
              <a:rPr lang="en-US" altLang="en-US" b="1" dirty="0"/>
              <a:t>primary key </a:t>
            </a:r>
            <a:r>
              <a:rPr lang="en-US" altLang="en-US" i="1" dirty="0"/>
              <a:t>(course_id),</a:t>
            </a:r>
            <a:endParaRPr lang="en-US" altLang="en-US" i="1" dirty="0"/>
          </a:p>
          <a:p>
            <a:pPr>
              <a:spcBef>
                <a:spcPct val="0"/>
              </a:spcBef>
              <a:buNone/>
            </a:pPr>
            <a:r>
              <a:rPr lang="en-US" altLang="en-US" b="1" dirty="0"/>
              <a:t>     </a:t>
            </a:r>
            <a:r>
              <a:rPr lang="en-US" altLang="en-US" dirty="0"/>
              <a:t>        </a:t>
            </a:r>
            <a:r>
              <a:rPr lang="en-US" altLang="en-US" b="1" dirty="0"/>
              <a:t>foreign key </a:t>
            </a:r>
            <a:r>
              <a:rPr lang="en-US" altLang="en-US" i="1" dirty="0"/>
              <a:t>(dept_name</a:t>
            </a:r>
            <a:r>
              <a:rPr lang="en-US" altLang="en-US" dirty="0"/>
              <a:t>) </a:t>
            </a:r>
            <a:r>
              <a:rPr lang="en-US" altLang="en-US" b="1" dirty="0"/>
              <a:t>references </a:t>
            </a:r>
            <a:r>
              <a:rPr lang="en-US" altLang="en-US" i="1" dirty="0"/>
              <a:t>department</a:t>
            </a:r>
            <a:r>
              <a:rPr lang="en-US" altLang="en-US" dirty="0"/>
              <a:t>);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Updates to tables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339" name="Rectangle 3"/>
          <p:cNvSpPr>
            <a:spLocks noGrp="1"/>
          </p:cNvSpPr>
          <p:nvPr>
            <p:ph idx="1"/>
          </p:nvPr>
        </p:nvSpPr>
        <p:spPr>
          <a:xfrm>
            <a:off x="132080" y="898525"/>
            <a:ext cx="8821420" cy="5617845"/>
          </a:xfrm>
        </p:spPr>
        <p:txBody>
          <a:bodyPr vert="horz" wrap="square" lIns="91440" tIns="45720" rIns="91440" bIns="45720" anchor="t"/>
          <a:lstStyle/>
          <a:p>
            <a:pPr defTabSz="0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b="1" dirty="0">
                <a:solidFill>
                  <a:srgbClr val="000099"/>
                </a:solidFill>
              </a:rPr>
              <a:t>Insert  </a:t>
            </a:r>
            <a:endParaRPr lang="en-US" altLang="en-US" dirty="0"/>
          </a:p>
          <a:p>
            <a:pPr lvl="1" defTabSz="0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800" b="1" dirty="0"/>
              <a:t>insert into </a:t>
            </a:r>
            <a:r>
              <a:rPr lang="en-US" altLang="en-US" sz="1800" i="1" dirty="0"/>
              <a:t>instructor </a:t>
            </a:r>
            <a:r>
              <a:rPr lang="en-US" altLang="en-US" sz="1800" b="1" dirty="0"/>
              <a:t>values </a:t>
            </a:r>
            <a:r>
              <a:rPr lang="en-US" altLang="en-US" sz="1800" dirty="0"/>
              <a:t>(‘10211’, ’Smith’, ’Biology’, 66000);</a:t>
            </a:r>
            <a:endParaRPr lang="en-US" altLang="en-US" sz="1800" dirty="0"/>
          </a:p>
          <a:p>
            <a:pPr defTabSz="0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b="1" dirty="0">
                <a:solidFill>
                  <a:srgbClr val="000099"/>
                </a:solidFill>
              </a:rPr>
              <a:t>Delete </a:t>
            </a:r>
            <a:endParaRPr lang="en-US" altLang="en-US" b="1" dirty="0">
              <a:solidFill>
                <a:srgbClr val="000099"/>
              </a:solidFill>
            </a:endParaRPr>
          </a:p>
          <a:p>
            <a:pPr lvl="1" defTabSz="0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b="1" dirty="0">
                <a:solidFill>
                  <a:srgbClr val="000099"/>
                </a:solidFill>
              </a:rPr>
              <a:t> </a:t>
            </a:r>
            <a:r>
              <a:rPr lang="en-US" altLang="en-US" sz="1800" dirty="0"/>
              <a:t>Remove all tuples from the </a:t>
            </a:r>
            <a:r>
              <a:rPr lang="en-US" altLang="en-US" sz="1800" i="1" dirty="0"/>
              <a:t>student</a:t>
            </a:r>
            <a:r>
              <a:rPr lang="en-US" altLang="en-US" sz="1800" dirty="0"/>
              <a:t> relation</a:t>
            </a:r>
            <a:endParaRPr lang="en-US" altLang="en-US" sz="1800" dirty="0"/>
          </a:p>
          <a:p>
            <a:pPr lvl="2" defTabSz="0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800" b="1" dirty="0"/>
              <a:t>delete from </a:t>
            </a:r>
            <a:r>
              <a:rPr lang="en-US" altLang="en-US" sz="1800" i="1" dirty="0"/>
              <a:t>student  </a:t>
            </a:r>
            <a:endParaRPr lang="en-US" altLang="en-US" sz="1800" i="1" dirty="0"/>
          </a:p>
          <a:p>
            <a:pPr defTabSz="0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b="1" dirty="0">
                <a:solidFill>
                  <a:srgbClr val="000099"/>
                </a:solidFill>
              </a:rPr>
              <a:t>Drop Table</a:t>
            </a:r>
            <a:endParaRPr lang="en-US" altLang="en-US" b="1" dirty="0">
              <a:solidFill>
                <a:srgbClr val="000099"/>
              </a:solidFill>
            </a:endParaRPr>
          </a:p>
          <a:p>
            <a:pPr lvl="1" defTabSz="0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800" b="1" dirty="0"/>
              <a:t>drop table </a:t>
            </a:r>
            <a:r>
              <a:rPr lang="en-US" altLang="en-US" sz="1800" i="1" dirty="0"/>
              <a:t>r</a:t>
            </a:r>
            <a:endParaRPr lang="en-US" altLang="en-US" sz="1800" i="1" dirty="0"/>
          </a:p>
          <a:p>
            <a:pPr defTabSz="0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b="1" dirty="0">
                <a:solidFill>
                  <a:srgbClr val="000099"/>
                </a:solidFill>
              </a:rPr>
              <a:t>Alter </a:t>
            </a:r>
            <a:r>
              <a:rPr lang="en-US" altLang="en-US" dirty="0"/>
              <a:t> </a:t>
            </a:r>
            <a:endParaRPr lang="en-US" altLang="en-US" dirty="0"/>
          </a:p>
          <a:p>
            <a:pPr lvl="1" defTabSz="0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800" b="1" dirty="0"/>
              <a:t>alter table </a:t>
            </a:r>
            <a:r>
              <a:rPr lang="en-US" altLang="en-US" sz="1800" i="1" dirty="0"/>
              <a:t>r </a:t>
            </a:r>
            <a:r>
              <a:rPr lang="en-US" altLang="en-US" sz="1800" b="1" dirty="0"/>
              <a:t>add </a:t>
            </a:r>
            <a:r>
              <a:rPr lang="en-US" altLang="en-US" sz="1800" i="1" dirty="0"/>
              <a:t>A D</a:t>
            </a:r>
            <a:endParaRPr lang="en-US" altLang="en-US" sz="1800" i="1" dirty="0"/>
          </a:p>
          <a:p>
            <a:pPr lvl="2" defTabSz="0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i="1" dirty="0"/>
              <a:t> </a:t>
            </a:r>
            <a:r>
              <a:rPr lang="en-US" altLang="en-US" sz="1600" dirty="0"/>
              <a:t>where </a:t>
            </a:r>
            <a:r>
              <a:rPr lang="en-US" altLang="en-US" sz="1600" i="1" dirty="0"/>
              <a:t>A</a:t>
            </a:r>
            <a:r>
              <a:rPr lang="en-US" altLang="en-US" sz="1600" dirty="0"/>
              <a:t> is the name of the attribute to be added to relation </a:t>
            </a:r>
            <a:r>
              <a:rPr lang="en-US" altLang="en-US" sz="1600" i="1" dirty="0"/>
              <a:t>r </a:t>
            </a:r>
            <a:r>
              <a:rPr lang="en-US" altLang="en-US" sz="1600" dirty="0"/>
              <a:t> and </a:t>
            </a:r>
            <a:r>
              <a:rPr lang="en-US" altLang="en-US" sz="1600" i="1" dirty="0"/>
              <a:t>D</a:t>
            </a:r>
            <a:r>
              <a:rPr lang="en-US" altLang="en-US" sz="1600" dirty="0"/>
              <a:t> is the domain of </a:t>
            </a:r>
            <a:r>
              <a:rPr lang="en-US" altLang="en-US" sz="1600" i="1" dirty="0"/>
              <a:t>A.</a:t>
            </a:r>
            <a:endParaRPr lang="en-US" altLang="en-US" sz="1600" dirty="0"/>
          </a:p>
          <a:p>
            <a:pPr lvl="2" defTabSz="0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600" dirty="0">
                <a:solidFill>
                  <a:schemeClr val="tx2"/>
                </a:solidFill>
              </a:rPr>
              <a:t>All exiting tuples in the relation are assigned </a:t>
            </a:r>
            <a:r>
              <a:rPr lang="en-US" altLang="en-US" sz="1600" i="1" dirty="0">
                <a:solidFill>
                  <a:schemeClr val="tx2"/>
                </a:solidFill>
              </a:rPr>
              <a:t>null</a:t>
            </a:r>
            <a:r>
              <a:rPr lang="en-US" altLang="en-US" sz="1600" dirty="0">
                <a:solidFill>
                  <a:schemeClr val="tx2"/>
                </a:solidFill>
              </a:rPr>
              <a:t> as the value for the new attribute.  </a:t>
            </a:r>
            <a:endParaRPr lang="en-US" altLang="en-US" sz="1600" dirty="0"/>
          </a:p>
          <a:p>
            <a:pPr lvl="1" defTabSz="0">
              <a:lnSpc>
                <a:spcPct val="110000"/>
              </a:lnSpc>
              <a:tabLst>
                <a:tab pos="2232025" algn="l"/>
              </a:tabLst>
            </a:pPr>
            <a:r>
              <a:rPr lang="en-US" altLang="en-US" b="1" dirty="0"/>
              <a:t>alter table </a:t>
            </a:r>
            <a:r>
              <a:rPr lang="en-US" altLang="en-US" i="1" dirty="0"/>
              <a:t>r</a:t>
            </a:r>
            <a:r>
              <a:rPr lang="en-US" altLang="en-US" b="1" dirty="0"/>
              <a:t> drop</a:t>
            </a:r>
            <a:r>
              <a:rPr lang="en-US" altLang="en-US" i="1" dirty="0"/>
              <a:t> A     </a:t>
            </a:r>
            <a:endParaRPr lang="en-US" altLang="en-US" i="1" dirty="0"/>
          </a:p>
          <a:p>
            <a:pPr lvl="2" defTabSz="0">
              <a:lnSpc>
                <a:spcPct val="110000"/>
              </a:lnSpc>
              <a:tabLst>
                <a:tab pos="2232025" algn="l"/>
              </a:tabLst>
            </a:pPr>
            <a:r>
              <a:rPr lang="en-US" altLang="en-US" dirty="0"/>
              <a:t>where </a:t>
            </a:r>
            <a:r>
              <a:rPr lang="en-US" altLang="en-US" i="1" dirty="0"/>
              <a:t>A</a:t>
            </a:r>
            <a:r>
              <a:rPr lang="en-US" altLang="en-US" dirty="0"/>
              <a:t> is the name of an attribute of relation</a:t>
            </a:r>
            <a:r>
              <a:rPr lang="en-US" altLang="en-US" i="1" dirty="0"/>
              <a:t> r</a:t>
            </a:r>
            <a:endParaRPr lang="en-US" altLang="en-US" i="1" dirty="0"/>
          </a:p>
          <a:p>
            <a:pPr lvl="2" defTabSz="0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dirty="0">
                <a:solidFill>
                  <a:srgbClr val="FF0000"/>
                </a:solidFill>
              </a:rPr>
              <a:t>Dropping of attributes not supported by many databases.</a:t>
            </a:r>
            <a:endParaRPr lang="en-US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0488" tIns="44450" rIns="90488" bIns="4445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Basic Query Structure 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363" name="Rectangle 3"/>
          <p:cNvSpPr>
            <a:spLocks noGrp="1"/>
          </p:cNvSpPr>
          <p:nvPr>
            <p:ph idx="1"/>
          </p:nvPr>
        </p:nvSpPr>
        <p:spPr>
          <a:xfrm>
            <a:off x="739775" y="1106488"/>
            <a:ext cx="7640638" cy="4881562"/>
          </a:xfrm>
        </p:spPr>
        <p:txBody>
          <a:bodyPr vert="horz" wrap="square" lIns="90488" tIns="44450" rIns="90488" bIns="44450" anchor="t"/>
          <a:lstStyle/>
          <a:p>
            <a:pPr defTabSz="0">
              <a:tabLst>
                <a:tab pos="2056130" algn="l"/>
              </a:tabLst>
            </a:pPr>
            <a:r>
              <a:rPr lang="en-US" altLang="en-US" dirty="0"/>
              <a:t>A typical SQL query has the form: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b="1" dirty="0"/>
              <a:t>select </a:t>
            </a:r>
            <a:r>
              <a:rPr lang="en-US" altLang="en-US" i="1" dirty="0"/>
              <a:t>A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A</a:t>
            </a:r>
            <a:r>
              <a:rPr lang="en-US" altLang="en-US" baseline="-25000" dirty="0"/>
              <a:t>2</a:t>
            </a:r>
            <a:r>
              <a:rPr lang="en-US" altLang="en-US" dirty="0"/>
              <a:t>, ..., </a:t>
            </a:r>
            <a:r>
              <a:rPr lang="en-US" altLang="en-US" i="1" dirty="0"/>
              <a:t>A</a:t>
            </a:r>
            <a:r>
              <a:rPr lang="en-US" altLang="en-US" i="1" baseline="-25000" dirty="0"/>
              <a:t>n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b="1" dirty="0"/>
              <a:t>from</a:t>
            </a:r>
            <a:r>
              <a:rPr lang="en-US" altLang="en-US" dirty="0"/>
              <a:t> 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, ..., 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m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b="1" dirty="0"/>
              <a:t>where </a:t>
            </a:r>
            <a:r>
              <a:rPr lang="en-US" altLang="en-US" i="1" dirty="0"/>
              <a:t>P</a:t>
            </a:r>
            <a:br>
              <a:rPr lang="en-US" altLang="en-US" i="1" dirty="0"/>
            </a:br>
            <a:endParaRPr lang="en-US" altLang="en-US" dirty="0"/>
          </a:p>
          <a:p>
            <a:pPr lvl="1" defTabSz="0">
              <a:tabLst>
                <a:tab pos="2056130" algn="l"/>
              </a:tabLst>
            </a:pPr>
            <a:r>
              <a:rPr lang="en-US" altLang="en-US" i="1" dirty="0"/>
              <a:t>A</a:t>
            </a:r>
            <a:r>
              <a:rPr lang="en-US" altLang="en-US" i="1" baseline="-25000" dirty="0"/>
              <a:t>i </a:t>
            </a:r>
            <a:r>
              <a:rPr lang="en-US" altLang="en-US" dirty="0"/>
              <a:t>represents an attribute</a:t>
            </a:r>
            <a:endParaRPr lang="en-US" altLang="en-US" dirty="0"/>
          </a:p>
          <a:p>
            <a:pPr lvl="1" defTabSz="0">
              <a:tabLst>
                <a:tab pos="2056130" algn="l"/>
              </a:tabLst>
            </a:pPr>
            <a:r>
              <a:rPr lang="en-US" altLang="en-US" i="1" dirty="0"/>
              <a:t>R</a:t>
            </a:r>
            <a:r>
              <a:rPr lang="en-US" altLang="en-US" i="1" baseline="-25000" dirty="0"/>
              <a:t>i </a:t>
            </a:r>
            <a:r>
              <a:rPr lang="en-US" altLang="en-US" dirty="0"/>
              <a:t>represents a relation</a:t>
            </a:r>
            <a:endParaRPr lang="en-US" altLang="en-US" dirty="0"/>
          </a:p>
          <a:p>
            <a:pPr lvl="1" defTabSz="0">
              <a:tabLst>
                <a:tab pos="2056130" algn="l"/>
              </a:tabLst>
            </a:pPr>
            <a:r>
              <a:rPr lang="en-US" altLang="en-US" i="1" dirty="0"/>
              <a:t>P</a:t>
            </a:r>
            <a:r>
              <a:rPr lang="en-US" altLang="en-US" dirty="0"/>
              <a:t> is a predicate.</a:t>
            </a:r>
            <a:endParaRPr lang="en-US" altLang="en-US" dirty="0"/>
          </a:p>
          <a:p>
            <a:pPr defTabSz="0">
              <a:tabLst>
                <a:tab pos="2056130" algn="l"/>
              </a:tabLst>
            </a:pPr>
            <a:r>
              <a:rPr lang="en-US" altLang="en-US" dirty="0"/>
              <a:t>The result of an SQL query is a relation.</a:t>
            </a:r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0488" tIns="44450" rIns="90488" bIns="4445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The select Clause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6387" name="Rectangle 3"/>
          <p:cNvSpPr>
            <a:spLocks noGrp="1"/>
          </p:cNvSpPr>
          <p:nvPr>
            <p:ph idx="1"/>
          </p:nvPr>
        </p:nvSpPr>
        <p:spPr>
          <a:xfrm>
            <a:off x="739775" y="1106488"/>
            <a:ext cx="8066088" cy="5165725"/>
          </a:xfrm>
        </p:spPr>
        <p:txBody>
          <a:bodyPr vert="horz" wrap="square" lIns="90488" tIns="44450" rIns="90488" bIns="44450" anchor="t"/>
          <a:lstStyle/>
          <a:p>
            <a:pPr defTabSz="0">
              <a:tabLst>
                <a:tab pos="2056130" algn="l"/>
              </a:tabLst>
            </a:pPr>
            <a:r>
              <a:rPr lang="en-US" altLang="en-US" dirty="0"/>
              <a:t>The </a:t>
            </a:r>
            <a:r>
              <a:rPr lang="en-US" altLang="en-US" b="1" dirty="0"/>
              <a:t>select</a:t>
            </a:r>
            <a:r>
              <a:rPr lang="en-US" altLang="en-US" dirty="0"/>
              <a:t> clause lists the attributes desired in the result of a query</a:t>
            </a:r>
            <a:endParaRPr lang="en-US" altLang="en-US" dirty="0"/>
          </a:p>
          <a:p>
            <a:pPr lvl="1" defTabSz="0">
              <a:tabLst>
                <a:tab pos="2056130" algn="l"/>
              </a:tabLst>
            </a:pPr>
            <a:r>
              <a:rPr lang="en-US" altLang="en-US" dirty="0">
                <a:solidFill>
                  <a:schemeClr val="bg1">
                    <a:lumMod val="50000"/>
                  </a:schemeClr>
                </a:solidFill>
              </a:rPr>
              <a:t>corresponds to the projection operation of the relational algebra</a:t>
            </a:r>
            <a:endParaRPr lang="en-US" altLang="en-US" dirty="0">
              <a:solidFill>
                <a:srgbClr val="FF0000"/>
              </a:solidFill>
            </a:endParaRPr>
          </a:p>
          <a:p>
            <a:pPr defTabSz="0">
              <a:lnSpc>
                <a:spcPct val="110000"/>
              </a:lnSpc>
              <a:tabLst>
                <a:tab pos="2056130" algn="l"/>
              </a:tabLst>
            </a:pPr>
            <a:r>
              <a:rPr lang="en-US" altLang="en-US" dirty="0"/>
              <a:t>Example: find the names of all instructors:</a:t>
            </a:r>
            <a:br>
              <a:rPr lang="en-US" altLang="en-US" dirty="0"/>
            </a:br>
            <a:r>
              <a:rPr lang="en-US" altLang="en-US" dirty="0"/>
              <a:t>		</a:t>
            </a:r>
            <a:r>
              <a:rPr lang="en-US" altLang="en-US" b="1" dirty="0"/>
              <a:t>select </a:t>
            </a:r>
            <a:r>
              <a:rPr lang="en-US" altLang="en-US" i="1" dirty="0"/>
              <a:t>name</a:t>
            </a:r>
            <a:br>
              <a:rPr lang="en-US" altLang="en-US" dirty="0"/>
            </a:br>
            <a:r>
              <a:rPr lang="en-US" altLang="en-US" dirty="0"/>
              <a:t>		</a:t>
            </a:r>
            <a:r>
              <a:rPr lang="en-US" altLang="en-US" b="1" dirty="0"/>
              <a:t>from </a:t>
            </a:r>
            <a:r>
              <a:rPr lang="en-US" altLang="en-US" i="1" dirty="0"/>
              <a:t>instructor</a:t>
            </a:r>
            <a:endParaRPr lang="en-US" altLang="en-US" i="1" dirty="0"/>
          </a:p>
          <a:p>
            <a:pPr defTabSz="0">
              <a:tabLst>
                <a:tab pos="2056130" algn="l"/>
              </a:tabLst>
            </a:pPr>
            <a:r>
              <a:rPr lang="en-US" altLang="en-US" dirty="0">
                <a:solidFill>
                  <a:schemeClr val="bg1">
                    <a:lumMod val="50000"/>
                  </a:schemeClr>
                </a:solidFill>
              </a:rPr>
              <a:t>NOTE:</a:t>
            </a:r>
            <a:r>
              <a:rPr lang="en-US" altLang="en-US" dirty="0"/>
              <a:t>  SQL names are case insensitive (i.e., you may use upper- or lower-case letters.)  </a:t>
            </a:r>
            <a:endParaRPr lang="en-US" altLang="en-US" dirty="0"/>
          </a:p>
          <a:p>
            <a:pPr lvl="1" defTabSz="0">
              <a:tabLst>
                <a:tab pos="2056130" algn="l"/>
              </a:tabLst>
            </a:pPr>
            <a:r>
              <a:rPr lang="en-US" altLang="en-US" dirty="0"/>
              <a:t>E.g.,  </a:t>
            </a:r>
            <a:r>
              <a:rPr lang="en-US" altLang="en-US" i="1" dirty="0"/>
              <a:t>Name</a:t>
            </a:r>
            <a:r>
              <a:rPr lang="en-US" altLang="en-US" dirty="0"/>
              <a:t> ≡ </a:t>
            </a:r>
            <a:r>
              <a:rPr lang="en-US" altLang="en-US" i="1" dirty="0"/>
              <a:t>NAME</a:t>
            </a:r>
            <a:r>
              <a:rPr lang="en-US" altLang="en-US" dirty="0"/>
              <a:t> ≡ </a:t>
            </a:r>
            <a:r>
              <a:rPr lang="en-US" altLang="en-US" i="1" dirty="0"/>
              <a:t>name</a:t>
            </a:r>
            <a:endParaRPr lang="en-US" altLang="en-US" i="1" dirty="0"/>
          </a:p>
          <a:p>
            <a:pPr lvl="1" defTabSz="0">
              <a:tabLst>
                <a:tab pos="2056130" algn="l"/>
              </a:tabLst>
            </a:pPr>
            <a:r>
              <a:rPr lang="en-US" altLang="en-US" dirty="0"/>
              <a:t>Some people use upper case wherever we use bold font.</a:t>
            </a:r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0488" tIns="44450" rIns="90488" bIns="4445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The select Clause (Cont.)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254635" y="1106805"/>
            <a:ext cx="8637270" cy="5202555"/>
          </a:xfrm>
        </p:spPr>
        <p:txBody>
          <a:bodyPr vert="horz" wrap="square" lIns="90488" tIns="44450" rIns="90488" bIns="44450" anchor="t"/>
          <a:lstStyle/>
          <a:p>
            <a:pPr defTabSz="0">
              <a:tabLst>
                <a:tab pos="2056130" algn="l"/>
              </a:tabLst>
            </a:pPr>
            <a:r>
              <a:rPr lang="en-US" altLang="en-US" dirty="0">
                <a:solidFill>
                  <a:schemeClr val="bg1">
                    <a:lumMod val="50000"/>
                  </a:schemeClr>
                </a:solidFill>
              </a:rPr>
              <a:t>SQL allows duplicates in relations as well as in query results.</a:t>
            </a:r>
            <a:endParaRPr lang="en-US" altLang="en-US" dirty="0">
              <a:solidFill>
                <a:schemeClr val="bg1">
                  <a:lumMod val="50000"/>
                </a:schemeClr>
              </a:solidFill>
            </a:endParaRPr>
          </a:p>
          <a:p>
            <a:pPr defTabSz="0">
              <a:tabLst>
                <a:tab pos="2056130" algn="l"/>
              </a:tabLst>
            </a:pPr>
            <a:r>
              <a:rPr lang="en-US" altLang="en-US" dirty="0"/>
              <a:t>To force the elimination of duplicates, insert the keyword </a:t>
            </a:r>
            <a:r>
              <a:rPr lang="en-US" altLang="en-US" b="1" dirty="0">
                <a:solidFill>
                  <a:srgbClr val="000099"/>
                </a:solidFill>
              </a:rPr>
              <a:t>distinct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after select</a:t>
            </a:r>
            <a:r>
              <a:rPr lang="en-US" altLang="en-US" b="1" dirty="0"/>
              <a:t>.</a:t>
            </a:r>
            <a:endParaRPr lang="en-US" altLang="en-US" b="1" dirty="0"/>
          </a:p>
          <a:p>
            <a:pPr defTabSz="0">
              <a:tabLst>
                <a:tab pos="2056130" algn="l"/>
              </a:tabLst>
            </a:pPr>
            <a:r>
              <a:rPr lang="en-US" altLang="en-US" dirty="0"/>
              <a:t>Find the department names of all instructors, and remove duplicates</a:t>
            </a:r>
            <a:endParaRPr lang="en-US" altLang="en-US" dirty="0"/>
          </a:p>
          <a:p>
            <a:pPr defTabSz="0">
              <a:buNone/>
              <a:tabLst>
                <a:tab pos="2056130" algn="l"/>
              </a:tabLst>
            </a:pPr>
            <a:r>
              <a:rPr lang="en-US" altLang="en-US" dirty="0"/>
              <a:t>		</a:t>
            </a:r>
            <a:r>
              <a:rPr lang="en-US" altLang="en-US" b="1" dirty="0"/>
              <a:t>select distinct </a:t>
            </a:r>
            <a:r>
              <a:rPr lang="en-US" altLang="en-US" i="1" dirty="0"/>
              <a:t>dept_name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b="1" dirty="0"/>
              <a:t>from </a:t>
            </a:r>
            <a:r>
              <a:rPr lang="en-US" altLang="en-US" i="1" dirty="0"/>
              <a:t>instructor</a:t>
            </a:r>
            <a:endParaRPr lang="en-US" altLang="en-US" i="1" dirty="0"/>
          </a:p>
          <a:p>
            <a:pPr defTabSz="0">
              <a:tabLst>
                <a:tab pos="2056130" algn="l"/>
              </a:tabLst>
            </a:pPr>
            <a:r>
              <a:rPr lang="en-US" altLang="en-US" dirty="0"/>
              <a:t>The keyword </a:t>
            </a:r>
            <a:r>
              <a:rPr lang="en-US" altLang="en-US" b="1" dirty="0"/>
              <a:t>all </a:t>
            </a:r>
            <a:r>
              <a:rPr lang="en-US" altLang="en-US" dirty="0"/>
              <a:t>specifies that duplicates should not be removed.</a:t>
            </a:r>
            <a:endParaRPr lang="en-US" altLang="en-US" dirty="0"/>
          </a:p>
          <a:p>
            <a:pPr defTabSz="0">
              <a:buNone/>
              <a:tabLst>
                <a:tab pos="2056130" algn="l"/>
              </a:tabLst>
            </a:pPr>
            <a:r>
              <a:rPr lang="en-US" altLang="en-US" dirty="0"/>
              <a:t>		</a:t>
            </a:r>
            <a:r>
              <a:rPr lang="en-US" altLang="en-US" b="1" dirty="0"/>
              <a:t>select all</a:t>
            </a:r>
            <a:r>
              <a:rPr lang="en-US" altLang="en-US" dirty="0"/>
              <a:t> </a:t>
            </a:r>
            <a:r>
              <a:rPr lang="en-US" altLang="en-US" i="1" dirty="0"/>
              <a:t>dept_name</a:t>
            </a:r>
            <a:br>
              <a:rPr lang="en-US" altLang="en-US" i="1" dirty="0"/>
            </a:br>
            <a:r>
              <a:rPr lang="en-US" altLang="en-US" i="1" dirty="0"/>
              <a:t>	</a:t>
            </a:r>
            <a:r>
              <a:rPr lang="en-US" altLang="en-US" b="1" dirty="0"/>
              <a:t>from </a:t>
            </a:r>
            <a:r>
              <a:rPr lang="en-US" altLang="en-US" i="1" dirty="0"/>
              <a:t>instructor</a:t>
            </a:r>
            <a:endParaRPr lang="en-US" altLang="en-US" i="1" dirty="0"/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0488" tIns="44450" rIns="90488" bIns="4445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The select Clause (Cont.)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8435" name="Rectangle 3"/>
          <p:cNvSpPr>
            <a:spLocks noGrp="1"/>
          </p:cNvSpPr>
          <p:nvPr>
            <p:ph idx="1"/>
          </p:nvPr>
        </p:nvSpPr>
        <p:spPr>
          <a:xfrm>
            <a:off x="124460" y="826135"/>
            <a:ext cx="8928100" cy="5688965"/>
          </a:xfrm>
        </p:spPr>
        <p:txBody>
          <a:bodyPr vert="horz" wrap="square" lIns="90488" tIns="44450" rIns="90488" bIns="44450" anchor="t"/>
          <a:lstStyle/>
          <a:p>
            <a:pPr defTabSz="0">
              <a:tabLst>
                <a:tab pos="2056130" algn="l"/>
              </a:tabLst>
            </a:pPr>
            <a:r>
              <a:rPr lang="en-US" altLang="en-US" dirty="0"/>
              <a:t>An asterisk in the select clause denotes “all attributes”</a:t>
            </a:r>
            <a:endParaRPr lang="en-US" altLang="en-US" dirty="0"/>
          </a:p>
          <a:p>
            <a:pPr defTabSz="0">
              <a:buNone/>
              <a:tabLst>
                <a:tab pos="2056130" algn="l"/>
              </a:tabLst>
            </a:pPr>
            <a:r>
              <a:rPr lang="en-US" altLang="en-US" b="1" dirty="0"/>
              <a:t>			select </a:t>
            </a:r>
            <a:r>
              <a:rPr lang="en-US" altLang="en-US" dirty="0"/>
              <a:t>*</a:t>
            </a:r>
            <a:br>
              <a:rPr lang="en-US" altLang="en-US" dirty="0"/>
            </a:br>
            <a:r>
              <a:rPr lang="en-US" altLang="en-US" dirty="0"/>
              <a:t>		</a:t>
            </a:r>
            <a:r>
              <a:rPr lang="en-US" altLang="en-US" b="1" dirty="0"/>
              <a:t>from </a:t>
            </a:r>
            <a:r>
              <a:rPr lang="en-US" altLang="en-US" i="1" dirty="0"/>
              <a:t>instructor</a:t>
            </a:r>
            <a:endParaRPr lang="en-US" altLang="en-US" i="1" dirty="0"/>
          </a:p>
          <a:p>
            <a:pPr defTabSz="0">
              <a:tabLst>
                <a:tab pos="2056130" algn="l"/>
              </a:tabLst>
            </a:pPr>
            <a:r>
              <a:rPr lang="en-US" altLang="en-US" dirty="0"/>
              <a:t>An attribute can be a literal  with  no </a:t>
            </a:r>
            <a:r>
              <a:rPr lang="en-US" altLang="en-US" b="1" dirty="0"/>
              <a:t>from  </a:t>
            </a:r>
            <a:r>
              <a:rPr lang="en-US" altLang="en-US" dirty="0"/>
              <a:t>clause</a:t>
            </a:r>
            <a:endParaRPr lang="en-US" altLang="en-US" dirty="0"/>
          </a:p>
          <a:p>
            <a:pPr defTabSz="0">
              <a:buNone/>
              <a:tabLst>
                <a:tab pos="2056130" algn="l"/>
              </a:tabLst>
            </a:pPr>
            <a:r>
              <a:rPr lang="en-US" altLang="en-US" b="1" dirty="0"/>
              <a:t>			select  </a:t>
            </a:r>
            <a:r>
              <a:rPr lang="en-US" altLang="en-US" dirty="0"/>
              <a:t>‘437’</a:t>
            </a:r>
            <a:endParaRPr lang="en-US" altLang="en-US" dirty="0"/>
          </a:p>
          <a:p>
            <a:pPr lvl="1" defTabSz="0">
              <a:tabLst>
                <a:tab pos="2056130" algn="l"/>
              </a:tabLst>
            </a:pPr>
            <a:r>
              <a:rPr lang="en-US" altLang="en-US" dirty="0"/>
              <a:t>Results is a table with one column and a single row with value “437”</a:t>
            </a:r>
            <a:endParaRPr lang="en-US" altLang="en-US" dirty="0"/>
          </a:p>
          <a:p>
            <a:pPr lvl="1" defTabSz="0">
              <a:tabLst>
                <a:tab pos="2056130" algn="l"/>
              </a:tabLst>
            </a:pPr>
            <a:r>
              <a:rPr lang="en-US" altLang="en-US" dirty="0"/>
              <a:t>Can give the column a name using:</a:t>
            </a:r>
            <a:endParaRPr lang="en-US" altLang="en-US" dirty="0"/>
          </a:p>
          <a:p>
            <a:pPr lvl="1" defTabSz="0">
              <a:buNone/>
              <a:tabLst>
                <a:tab pos="2056130" algn="l"/>
              </a:tabLst>
            </a:pPr>
            <a:r>
              <a:rPr lang="en-US" altLang="en-US" dirty="0"/>
              <a:t>                    </a:t>
            </a:r>
            <a:r>
              <a:rPr lang="en-US" altLang="en-US" b="1" dirty="0"/>
              <a:t>select </a:t>
            </a:r>
            <a:r>
              <a:rPr lang="en-US" altLang="en-US" dirty="0"/>
              <a:t>‘437’ </a:t>
            </a:r>
            <a:r>
              <a:rPr lang="en-US" altLang="en-US" b="1" dirty="0"/>
              <a:t>as </a:t>
            </a:r>
            <a:r>
              <a:rPr lang="en-US" altLang="en-US" i="1" dirty="0"/>
              <a:t>FOO</a:t>
            </a:r>
            <a:r>
              <a:rPr lang="en-US" altLang="en-US" dirty="0"/>
              <a:t>	</a:t>
            </a:r>
            <a:endParaRPr lang="en-US" altLang="en-US" i="1" dirty="0"/>
          </a:p>
          <a:p>
            <a:pPr defTabSz="0">
              <a:tabLst>
                <a:tab pos="2056130" algn="l"/>
              </a:tabLst>
            </a:pPr>
            <a:r>
              <a:rPr lang="en-US" altLang="en-US" dirty="0"/>
              <a:t>An attribute can be a literal with </a:t>
            </a:r>
            <a:r>
              <a:rPr lang="en-US" altLang="en-US" b="1" dirty="0"/>
              <a:t>from  </a:t>
            </a:r>
            <a:r>
              <a:rPr lang="en-US" altLang="en-US" dirty="0"/>
              <a:t>clause</a:t>
            </a:r>
            <a:endParaRPr lang="en-US" altLang="en-US" dirty="0"/>
          </a:p>
          <a:p>
            <a:pPr defTabSz="0">
              <a:buNone/>
              <a:tabLst>
                <a:tab pos="2056130" algn="l"/>
              </a:tabLst>
            </a:pPr>
            <a:r>
              <a:rPr lang="en-US" altLang="en-US" b="1" dirty="0"/>
              <a:t>			select  </a:t>
            </a:r>
            <a:r>
              <a:rPr lang="en-US" altLang="en-US" dirty="0"/>
              <a:t>‘A’</a:t>
            </a:r>
            <a:br>
              <a:rPr lang="en-US" altLang="en-US" dirty="0"/>
            </a:br>
            <a:r>
              <a:rPr lang="en-US" altLang="en-US" dirty="0"/>
              <a:t>		</a:t>
            </a:r>
            <a:r>
              <a:rPr lang="en-US" altLang="en-US" b="1" dirty="0"/>
              <a:t>from </a:t>
            </a:r>
            <a:r>
              <a:rPr lang="en-US" altLang="en-US" i="1" dirty="0"/>
              <a:t>instructor</a:t>
            </a:r>
            <a:endParaRPr lang="en-US" altLang="en-US" i="1" dirty="0"/>
          </a:p>
          <a:p>
            <a:pPr lvl="1" defTabSz="0">
              <a:tabLst>
                <a:tab pos="2056130" algn="l"/>
              </a:tabLst>
            </a:pPr>
            <a:r>
              <a:rPr lang="en-US" altLang="en-US" dirty="0"/>
              <a:t>Result is a table with one column and </a:t>
            </a:r>
            <a:r>
              <a:rPr lang="en-US" altLang="en-US" i="1" dirty="0"/>
              <a:t>N</a:t>
            </a:r>
            <a:r>
              <a:rPr lang="en-US" altLang="en-US" dirty="0"/>
              <a:t> rows (number of tuples in the </a:t>
            </a:r>
            <a:r>
              <a:rPr lang="en-US" altLang="en-US" i="1" dirty="0"/>
              <a:t>instructors</a:t>
            </a:r>
            <a:r>
              <a:rPr lang="en-US" altLang="en-US" dirty="0"/>
              <a:t> table), each row with value “A”</a:t>
            </a:r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0488" tIns="44450" rIns="90488" bIns="4445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The select Clause (Cont.)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9459" name="Rectangle 3"/>
          <p:cNvSpPr>
            <a:spLocks noGrp="1"/>
          </p:cNvSpPr>
          <p:nvPr>
            <p:ph idx="1"/>
          </p:nvPr>
        </p:nvSpPr>
        <p:spPr>
          <a:xfrm>
            <a:off x="158115" y="974725"/>
            <a:ext cx="8733790" cy="5178425"/>
          </a:xfrm>
        </p:spPr>
        <p:txBody>
          <a:bodyPr vert="horz" wrap="square" lIns="90488" tIns="44450" rIns="90488" bIns="44450" anchor="t"/>
          <a:lstStyle/>
          <a:p>
            <a:pPr defTabSz="0">
              <a:tabLst>
                <a:tab pos="2056130" algn="l"/>
              </a:tabLst>
            </a:pPr>
            <a:r>
              <a:rPr lang="en-US" altLang="en-US" dirty="0"/>
              <a:t>The </a:t>
            </a:r>
            <a:r>
              <a:rPr lang="en-US" altLang="en-US" b="1" dirty="0">
                <a:solidFill>
                  <a:srgbClr val="000099"/>
                </a:solidFill>
              </a:rPr>
              <a:t>select</a:t>
            </a:r>
            <a:r>
              <a:rPr lang="en-US" altLang="en-US" dirty="0"/>
              <a:t> clause can contain arithmetic expressions involving the operation, +, –, </a:t>
            </a:r>
            <a:r>
              <a:rPr lang="en-US" altLang="en-US" dirty="0">
                <a:latin typeface="Symbol" panose="05050102010706020507" charset="2"/>
              </a:rPr>
              <a:t></a:t>
            </a:r>
            <a:r>
              <a:rPr lang="en-US" altLang="en-US" dirty="0"/>
              <a:t>, and /, and operating on constants or attributes of tuples.</a:t>
            </a:r>
            <a:endParaRPr lang="en-US" altLang="en-US" dirty="0"/>
          </a:p>
          <a:p>
            <a:pPr lvl="1" defTabSz="0">
              <a:tabLst>
                <a:tab pos="2056130" algn="l"/>
              </a:tabLst>
            </a:pPr>
            <a:r>
              <a:rPr lang="en-US" altLang="en-US" dirty="0"/>
              <a:t>The query: </a:t>
            </a:r>
            <a:endParaRPr lang="en-US" altLang="en-US" dirty="0"/>
          </a:p>
          <a:p>
            <a:pPr lvl="1" defTabSz="0">
              <a:buNone/>
              <a:tabLst>
                <a:tab pos="2056130" algn="l"/>
              </a:tabLst>
            </a:pPr>
            <a:r>
              <a:rPr lang="en-US" altLang="en-US" b="1" dirty="0"/>
              <a:t>	                  select</a:t>
            </a:r>
            <a:r>
              <a:rPr lang="en-US" altLang="en-US" dirty="0"/>
              <a:t> </a:t>
            </a:r>
            <a:r>
              <a:rPr lang="en-US" altLang="en-US" i="1" dirty="0"/>
              <a:t>ID, name, salary/12</a:t>
            </a:r>
            <a:br>
              <a:rPr lang="en-US" altLang="en-US" dirty="0"/>
            </a:br>
            <a:r>
              <a:rPr lang="en-US" altLang="en-US" dirty="0"/>
              <a:t>                  </a:t>
            </a:r>
            <a:r>
              <a:rPr lang="en-US" altLang="en-US" b="1" dirty="0"/>
              <a:t>from </a:t>
            </a:r>
            <a:r>
              <a:rPr lang="en-US" altLang="en-US" i="1" dirty="0"/>
              <a:t>instructor</a:t>
            </a:r>
            <a:endParaRPr lang="en-US" altLang="en-US" i="1" dirty="0"/>
          </a:p>
          <a:p>
            <a:pPr lvl="1" defTabSz="0">
              <a:buNone/>
              <a:tabLst>
                <a:tab pos="2056130" algn="l"/>
              </a:tabLst>
            </a:pPr>
            <a:r>
              <a:rPr lang="en-US" altLang="en-US" i="1" dirty="0"/>
              <a:t>	</a:t>
            </a:r>
            <a:r>
              <a:rPr lang="en-US" altLang="en-US" dirty="0"/>
              <a:t>would return a relation that is the same as the </a:t>
            </a:r>
            <a:r>
              <a:rPr lang="en-US" altLang="en-US" i="1" dirty="0"/>
              <a:t>instructor </a:t>
            </a:r>
            <a:r>
              <a:rPr lang="en-US" altLang="en-US" dirty="0"/>
              <a:t>relation, except that the value of the attribute </a:t>
            </a:r>
            <a:r>
              <a:rPr lang="en-US" altLang="en-US" i="1" dirty="0"/>
              <a:t>salary </a:t>
            </a:r>
            <a:r>
              <a:rPr lang="en-US" altLang="en-US" dirty="0"/>
              <a:t>is divided by 12.</a:t>
            </a:r>
            <a:endParaRPr lang="en-US" altLang="en-US" dirty="0"/>
          </a:p>
          <a:p>
            <a:pPr lvl="1" defTabSz="0">
              <a:tabLst>
                <a:tab pos="2056130" algn="l"/>
              </a:tabLst>
            </a:pPr>
            <a:r>
              <a:rPr lang="en-US" altLang="en-US" dirty="0"/>
              <a:t>Can rename “s</a:t>
            </a:r>
            <a:r>
              <a:rPr lang="en-US" altLang="en-US" i="1" dirty="0"/>
              <a:t>alary/12” </a:t>
            </a:r>
            <a:r>
              <a:rPr lang="en-US" altLang="en-US" dirty="0"/>
              <a:t>using the </a:t>
            </a:r>
            <a:r>
              <a:rPr lang="en-US" altLang="en-US" b="1" dirty="0"/>
              <a:t>as </a:t>
            </a:r>
            <a:r>
              <a:rPr lang="en-US" altLang="en-US" dirty="0"/>
              <a:t>clause:</a:t>
            </a:r>
            <a:endParaRPr lang="en-US" altLang="en-US" dirty="0"/>
          </a:p>
          <a:p>
            <a:pPr lvl="1" defTabSz="0">
              <a:buNone/>
              <a:tabLst>
                <a:tab pos="2056130" algn="l"/>
              </a:tabLst>
            </a:pPr>
            <a:r>
              <a:rPr lang="en-US" altLang="en-US" i="1" dirty="0"/>
              <a:t>	        </a:t>
            </a:r>
            <a:r>
              <a:rPr lang="en-US" altLang="en-US" b="1" dirty="0"/>
              <a:t>select </a:t>
            </a:r>
            <a:r>
              <a:rPr lang="en-US" altLang="en-US" i="1" dirty="0"/>
              <a:t>ID, name, salary/12  </a:t>
            </a:r>
            <a:r>
              <a:rPr lang="en-US" altLang="en-US" b="1" dirty="0"/>
              <a:t>as </a:t>
            </a:r>
            <a:r>
              <a:rPr lang="en-US" altLang="en-US" i="1" dirty="0"/>
              <a:t>monthly_salary</a:t>
            </a:r>
            <a:br>
              <a:rPr lang="en-US" altLang="en-US" i="1" dirty="0"/>
            </a:br>
            <a:endParaRPr lang="en-US" altLang="en-US" dirty="0"/>
          </a:p>
          <a:p>
            <a:pPr lvl="1" defTabSz="0">
              <a:tabLst>
                <a:tab pos="2056130" algn="l"/>
              </a:tabLst>
            </a:pPr>
            <a:endParaRPr lang="en-US" altLang="en-US" dirty="0"/>
          </a:p>
          <a:p>
            <a:pPr lvl="1" defTabSz="0">
              <a:buNone/>
              <a:tabLst>
                <a:tab pos="2056130" algn="l"/>
              </a:tabLst>
            </a:pPr>
            <a:endParaRPr lang="en-US" altLang="en-US" dirty="0"/>
          </a:p>
          <a:p>
            <a:pPr defTabSz="0">
              <a:buNone/>
              <a:tabLst>
                <a:tab pos="2056130" algn="l"/>
              </a:tabLst>
            </a:pPr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810" y="1045845"/>
            <a:ext cx="9102725" cy="533336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0488" tIns="44450" rIns="90488" bIns="4445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The where Clause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>
          <a:xfrm>
            <a:off x="60960" y="817880"/>
            <a:ext cx="8993505" cy="5881370"/>
          </a:xfrm>
        </p:spPr>
        <p:txBody>
          <a:bodyPr vert="horz" wrap="square" lIns="90488" tIns="44450" rIns="90488" bIns="44450" anchor="t"/>
          <a:lstStyle/>
          <a:p>
            <a:pPr defTabSz="0">
              <a:tabLst>
                <a:tab pos="1311275" algn="l"/>
              </a:tabLst>
            </a:pPr>
            <a:r>
              <a:rPr lang="en-US" altLang="en-US" dirty="0"/>
              <a:t>The </a:t>
            </a:r>
            <a:r>
              <a:rPr lang="en-US" altLang="en-US" b="1" dirty="0">
                <a:solidFill>
                  <a:srgbClr val="000099"/>
                </a:solidFill>
              </a:rPr>
              <a:t>where</a:t>
            </a:r>
            <a:r>
              <a:rPr lang="en-US" altLang="en-US" b="1" dirty="0"/>
              <a:t> </a:t>
            </a:r>
            <a:r>
              <a:rPr lang="en-US" altLang="en-US" dirty="0"/>
              <a:t>clause specifies conditions that the result must satisfy</a:t>
            </a:r>
            <a:endParaRPr lang="en-US" altLang="en-US" dirty="0"/>
          </a:p>
          <a:p>
            <a:pPr lvl="1" defTabSz="0">
              <a:tabLst>
                <a:tab pos="1311275" algn="l"/>
              </a:tabLst>
            </a:pPr>
            <a:r>
              <a:rPr lang="en-US" altLang="en-US" dirty="0">
                <a:solidFill>
                  <a:schemeClr val="bg1">
                    <a:lumMod val="50000"/>
                  </a:schemeClr>
                </a:solidFill>
              </a:rPr>
              <a:t>Corresponds to the selection predicate of the relational algebra.  </a:t>
            </a:r>
            <a:endParaRPr lang="en-US" altLang="en-US" dirty="0"/>
          </a:p>
          <a:p>
            <a:pPr defTabSz="0">
              <a:tabLst>
                <a:tab pos="1311275" algn="l"/>
              </a:tabLst>
            </a:pPr>
            <a:r>
              <a:rPr lang="en-US" altLang="en-US" dirty="0"/>
              <a:t>To find all instructors in Comp. Sci. dept</a:t>
            </a:r>
            <a:endParaRPr lang="en-US" altLang="en-US" dirty="0"/>
          </a:p>
          <a:p>
            <a:pPr defTabSz="0">
              <a:buNone/>
              <a:tabLst>
                <a:tab pos="1311275" algn="l"/>
              </a:tabLst>
            </a:pPr>
            <a:r>
              <a:rPr lang="en-US" altLang="en-US" sz="2000" b="1" dirty="0"/>
              <a:t>		select </a:t>
            </a:r>
            <a:r>
              <a:rPr lang="en-US" altLang="en-US" sz="2000" i="1" dirty="0"/>
              <a:t>name</a:t>
            </a:r>
            <a:br>
              <a:rPr lang="en-US" altLang="en-US" sz="2000" i="1" dirty="0"/>
            </a:br>
            <a:r>
              <a:rPr lang="en-US" altLang="en-US" sz="2000" i="1" dirty="0"/>
              <a:t>	</a:t>
            </a:r>
            <a:r>
              <a:rPr lang="en-US" altLang="en-US" sz="2000" b="1" dirty="0"/>
              <a:t>from </a:t>
            </a:r>
            <a:r>
              <a:rPr lang="en-US" altLang="en-US" sz="2000" i="1" dirty="0"/>
              <a:t>instructor</a:t>
            </a:r>
            <a:br>
              <a:rPr lang="en-US" altLang="en-US" sz="2000" i="1" dirty="0"/>
            </a:br>
            <a:r>
              <a:rPr lang="en-US" altLang="en-US" sz="2000" i="1" dirty="0"/>
              <a:t>	</a:t>
            </a:r>
            <a:r>
              <a:rPr lang="en-US" altLang="en-US" sz="2000" b="1" dirty="0"/>
              <a:t>where </a:t>
            </a:r>
            <a:r>
              <a:rPr lang="en-US" altLang="en-US" sz="2000" i="1" dirty="0"/>
              <a:t>dept_name =</a:t>
            </a:r>
            <a:r>
              <a:rPr lang="en-US" altLang="en-US" sz="2000" dirty="0"/>
              <a:t> </a:t>
            </a:r>
            <a:r>
              <a:rPr lang="en-US" altLang="en-US" sz="2000" i="1" dirty="0"/>
              <a:t>‘</a:t>
            </a:r>
            <a:r>
              <a:rPr lang="en-US" altLang="en-US" sz="2000" dirty="0"/>
              <a:t>Comp. Sci.'</a:t>
            </a:r>
            <a:endParaRPr lang="en-US" altLang="en-US" sz="2000" dirty="0"/>
          </a:p>
          <a:p>
            <a:pPr defTabSz="0">
              <a:tabLst>
                <a:tab pos="1311275" algn="l"/>
              </a:tabLst>
            </a:pPr>
            <a:r>
              <a:rPr lang="en-US" altLang="en-US" dirty="0"/>
              <a:t>Comparison results can be combined using the logical connectives </a:t>
            </a:r>
            <a:r>
              <a:rPr lang="en-US" altLang="en-US" b="1" dirty="0"/>
              <a:t>and, or, </a:t>
            </a:r>
            <a:r>
              <a:rPr lang="en-US" altLang="en-US" dirty="0"/>
              <a:t>and </a:t>
            </a:r>
            <a:r>
              <a:rPr lang="en-US" altLang="en-US" b="1" dirty="0"/>
              <a:t>not </a:t>
            </a:r>
            <a:endParaRPr lang="en-US" altLang="en-US" b="1" dirty="0"/>
          </a:p>
          <a:p>
            <a:pPr lvl="1" defTabSz="0">
              <a:tabLst>
                <a:tab pos="1311275" algn="l"/>
              </a:tabLst>
            </a:pPr>
            <a:r>
              <a:rPr lang="en-US" altLang="en-US" dirty="0"/>
              <a:t>To find all instructors in Comp. Sci. dept with salary &gt; 80000</a:t>
            </a:r>
            <a:endParaRPr lang="en-US" altLang="en-US" dirty="0"/>
          </a:p>
          <a:p>
            <a:pPr lvl="1" defTabSz="0">
              <a:buNone/>
              <a:tabLst>
                <a:tab pos="1311275" algn="l"/>
              </a:tabLst>
            </a:pPr>
            <a:r>
              <a:rPr lang="en-US" altLang="en-US" b="1" dirty="0"/>
              <a:t>		select </a:t>
            </a:r>
            <a:r>
              <a:rPr lang="en-US" altLang="en-US" i="1" dirty="0"/>
              <a:t>name</a:t>
            </a:r>
            <a:br>
              <a:rPr lang="en-US" altLang="en-US" i="1" dirty="0"/>
            </a:br>
            <a:r>
              <a:rPr lang="en-US" altLang="en-US" i="1" dirty="0"/>
              <a:t>	</a:t>
            </a:r>
            <a:r>
              <a:rPr lang="en-US" altLang="en-US" b="1" dirty="0"/>
              <a:t>from </a:t>
            </a:r>
            <a:r>
              <a:rPr lang="en-US" altLang="en-US" i="1" dirty="0"/>
              <a:t>instructor</a:t>
            </a:r>
            <a:br>
              <a:rPr lang="en-US" altLang="en-US" i="1" dirty="0"/>
            </a:br>
            <a:r>
              <a:rPr lang="en-US" altLang="en-US" i="1" dirty="0"/>
              <a:t>	</a:t>
            </a:r>
            <a:r>
              <a:rPr lang="en-US" altLang="en-US" b="1" dirty="0"/>
              <a:t>where </a:t>
            </a:r>
            <a:r>
              <a:rPr lang="en-US" altLang="en-US" i="1" dirty="0"/>
              <a:t>dept_name =</a:t>
            </a:r>
            <a:r>
              <a:rPr lang="en-US" altLang="en-US" dirty="0"/>
              <a:t> </a:t>
            </a:r>
            <a:r>
              <a:rPr lang="en-US" altLang="en-US" i="1" dirty="0"/>
              <a:t>‘</a:t>
            </a:r>
            <a:r>
              <a:rPr lang="en-US" altLang="en-US" dirty="0"/>
              <a:t>Comp. Sci.'</a:t>
            </a:r>
            <a:r>
              <a:rPr lang="en-US" altLang="en-US" i="1" dirty="0"/>
              <a:t>  </a:t>
            </a:r>
            <a:r>
              <a:rPr lang="en-US" altLang="en-US" b="1" dirty="0"/>
              <a:t>and </a:t>
            </a:r>
            <a:r>
              <a:rPr lang="en-US" altLang="en-US" i="1" dirty="0"/>
              <a:t>salary </a:t>
            </a:r>
            <a:r>
              <a:rPr lang="en-US" altLang="en-US" dirty="0"/>
              <a:t>&gt; 80000</a:t>
            </a:r>
            <a:endParaRPr lang="en-US" altLang="en-US" dirty="0"/>
          </a:p>
          <a:p>
            <a:pPr defTabSz="0">
              <a:tabLst>
                <a:tab pos="1311275" algn="l"/>
              </a:tabLst>
            </a:pPr>
            <a:r>
              <a:rPr lang="en-US" altLang="en-US" dirty="0"/>
              <a:t>Comparisons can be applied to results of arithmetic expressions.</a:t>
            </a:r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0488" tIns="44450" rIns="90488" bIns="4445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The from Clause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1507" name="Rectangle 3"/>
          <p:cNvSpPr>
            <a:spLocks noGrp="1"/>
          </p:cNvSpPr>
          <p:nvPr>
            <p:ph idx="1"/>
          </p:nvPr>
        </p:nvSpPr>
        <p:spPr>
          <a:xfrm>
            <a:off x="71755" y="904240"/>
            <a:ext cx="8970010" cy="5226685"/>
          </a:xfrm>
        </p:spPr>
        <p:txBody>
          <a:bodyPr vert="horz" wrap="square" lIns="90488" tIns="44450" rIns="90488" bIns="44450" anchor="t"/>
          <a:lstStyle/>
          <a:p>
            <a:pPr defTabSz="0">
              <a:tabLst>
                <a:tab pos="635000" algn="l"/>
                <a:tab pos="2403475" algn="l"/>
              </a:tabLst>
            </a:pPr>
            <a:r>
              <a:rPr lang="en-US" altLang="en-US" dirty="0"/>
              <a:t>The </a:t>
            </a:r>
            <a:r>
              <a:rPr lang="en-US" altLang="en-US" b="1" dirty="0">
                <a:solidFill>
                  <a:srgbClr val="000099"/>
                </a:solidFill>
              </a:rPr>
              <a:t>from</a:t>
            </a:r>
            <a:r>
              <a:rPr lang="en-US" altLang="en-US" b="1" dirty="0"/>
              <a:t> </a:t>
            </a:r>
            <a:r>
              <a:rPr lang="en-US" altLang="en-US" dirty="0"/>
              <a:t>clause lists the relations involved in the query</a:t>
            </a:r>
            <a:endParaRPr lang="en-US" altLang="en-US" dirty="0"/>
          </a:p>
          <a:p>
            <a:pPr lvl="1" defTabSz="0">
              <a:tabLst>
                <a:tab pos="635000" algn="l"/>
                <a:tab pos="2403475" algn="l"/>
              </a:tabLst>
            </a:pPr>
            <a:r>
              <a:rPr lang="en-US" altLang="en-US" dirty="0"/>
              <a:t>Corresponds to the Cartesian product operation of the relational algebra.</a:t>
            </a:r>
            <a:endParaRPr lang="en-US" altLang="en-US" dirty="0"/>
          </a:p>
          <a:p>
            <a:pPr defTabSz="0">
              <a:tabLst>
                <a:tab pos="635000" algn="l"/>
                <a:tab pos="2403475" algn="l"/>
              </a:tabLst>
            </a:pPr>
            <a:r>
              <a:rPr lang="en-US" altLang="en-US" dirty="0"/>
              <a:t>Find the Cartesian product </a:t>
            </a:r>
            <a:r>
              <a:rPr lang="en-US" altLang="en-US" i="1" dirty="0"/>
              <a:t>instructor X teaches</a:t>
            </a:r>
            <a:endParaRPr lang="en-US" altLang="en-US" dirty="0"/>
          </a:p>
          <a:p>
            <a:pPr defTabSz="0">
              <a:buNone/>
              <a:tabLst>
                <a:tab pos="635000" algn="l"/>
                <a:tab pos="2403475" algn="l"/>
              </a:tabLst>
            </a:pPr>
            <a:r>
              <a:rPr lang="en-US" altLang="en-US" b="1" dirty="0"/>
              <a:t>			select </a:t>
            </a:r>
            <a:r>
              <a:rPr lang="en-US" altLang="en-US" dirty="0">
                <a:latin typeface="Symbol" panose="05050102010706020507" charset="2"/>
              </a:rPr>
              <a:t></a:t>
            </a:r>
            <a:br>
              <a:rPr lang="en-US" altLang="en-US" dirty="0"/>
            </a:br>
            <a:r>
              <a:rPr lang="en-US" altLang="en-US" dirty="0"/>
              <a:t>		</a:t>
            </a:r>
            <a:r>
              <a:rPr lang="en-US" altLang="en-US" b="1" dirty="0"/>
              <a:t>from </a:t>
            </a:r>
            <a:r>
              <a:rPr lang="en-US" altLang="en-US" i="1" dirty="0"/>
              <a:t>instructor, teaches</a:t>
            </a:r>
            <a:endParaRPr lang="en-US" altLang="en-US" i="1" dirty="0"/>
          </a:p>
          <a:p>
            <a:pPr lvl="1" defTabSz="0">
              <a:tabLst>
                <a:tab pos="635000" algn="l"/>
                <a:tab pos="2403475" algn="l"/>
              </a:tabLst>
            </a:pPr>
            <a:r>
              <a:rPr lang="en-US" altLang="en-US" dirty="0"/>
              <a:t>generates every possible instructor – teaches pair, with all attributes from both relations.</a:t>
            </a:r>
            <a:endParaRPr lang="en-US" altLang="en-US" dirty="0"/>
          </a:p>
          <a:p>
            <a:pPr lvl="1" defTabSz="0">
              <a:tabLst>
                <a:tab pos="635000" algn="l"/>
                <a:tab pos="2403475" algn="l"/>
              </a:tabLst>
            </a:pPr>
            <a:r>
              <a:rPr lang="en-US" altLang="en-US" dirty="0">
                <a:solidFill>
                  <a:schemeClr val="bg1">
                    <a:lumMod val="50000"/>
                  </a:schemeClr>
                </a:solidFill>
              </a:rPr>
              <a:t>For common attributes (e.g., </a:t>
            </a:r>
            <a:r>
              <a:rPr lang="en-US" altLang="en-US" i="1" dirty="0">
                <a:solidFill>
                  <a:schemeClr val="bg1">
                    <a:lumMod val="50000"/>
                  </a:schemeClr>
                </a:solidFill>
              </a:rPr>
              <a:t>ID</a:t>
            </a:r>
            <a:r>
              <a:rPr lang="en-US" altLang="en-US" dirty="0">
                <a:solidFill>
                  <a:schemeClr val="bg1">
                    <a:lumMod val="50000"/>
                  </a:schemeClr>
                </a:solidFill>
              </a:rPr>
              <a:t>), the attributes  in the resulting table are renamed using the  relation name (e.g., </a:t>
            </a:r>
            <a:r>
              <a:rPr lang="en-US" altLang="en-US" i="1" dirty="0">
                <a:solidFill>
                  <a:schemeClr val="bg1">
                    <a:lumMod val="50000"/>
                  </a:schemeClr>
                </a:solidFill>
              </a:rPr>
              <a:t>instructor.ID</a:t>
            </a:r>
            <a:r>
              <a:rPr lang="en-US" altLang="en-US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en-US" altLang="en-US" dirty="0">
              <a:solidFill>
                <a:schemeClr val="bg1">
                  <a:lumMod val="50000"/>
                </a:schemeClr>
              </a:solidFill>
            </a:endParaRPr>
          </a:p>
          <a:p>
            <a:pPr defTabSz="0">
              <a:tabLst>
                <a:tab pos="635000" algn="l"/>
                <a:tab pos="2403475" algn="l"/>
              </a:tabLst>
            </a:pPr>
            <a:r>
              <a:rPr lang="en-US" altLang="en-US" dirty="0">
                <a:solidFill>
                  <a:srgbClr val="C00000"/>
                </a:solidFill>
              </a:rPr>
              <a:t>Cartesian product not very useful directly, but useful combined with where-clause condition</a:t>
            </a:r>
            <a:r>
              <a:rPr lang="en-US" altLang="en-US" dirty="0"/>
              <a:t> (selection operation in relational algebra).</a:t>
            </a:r>
            <a:endParaRPr lang="en-US" altLang="en-US" dirty="0"/>
          </a:p>
          <a:p>
            <a:pPr defTabSz="0">
              <a:buNone/>
              <a:tabLst>
                <a:tab pos="635000" algn="l"/>
                <a:tab pos="2403475" algn="l"/>
              </a:tabLst>
            </a:pPr>
            <a:r>
              <a:rPr lang="en-US" altLang="en-US" i="1" dirty="0"/>
              <a:t>	</a:t>
            </a:r>
            <a:endParaRPr lang="en-US" altLang="en-US" i="1" dirty="0"/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Cartesian Product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2531" name="Picture 4" descr="2"/>
          <p:cNvPicPr>
            <a:picLocks noChangeAspect="1"/>
          </p:cNvPicPr>
          <p:nvPr/>
        </p:nvPicPr>
        <p:blipFill>
          <a:blip r:embed="rId1"/>
          <a:srcRect b="56506"/>
          <a:stretch>
            <a:fillRect/>
          </a:stretch>
        </p:blipFill>
        <p:spPr>
          <a:xfrm>
            <a:off x="4721225" y="1155700"/>
            <a:ext cx="3890963" cy="1565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2" name="Text Box 6"/>
          <p:cNvSpPr txBox="1"/>
          <p:nvPr/>
        </p:nvSpPr>
        <p:spPr>
          <a:xfrm>
            <a:off x="1776413" y="833438"/>
            <a:ext cx="1227137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2000" i="1" dirty="0">
                <a:latin typeface="Helvetica" panose="020B0604020202030204" pitchFamily="34" charset="0"/>
              </a:rPr>
              <a:t>instructor</a:t>
            </a:r>
            <a:endParaRPr lang="en-US" altLang="en-US" sz="2000" i="1" dirty="0">
              <a:latin typeface="Helvetica" panose="020B0604020202030204" pitchFamily="34" charset="0"/>
            </a:endParaRPr>
          </a:p>
        </p:txBody>
      </p:sp>
      <p:sp>
        <p:nvSpPr>
          <p:cNvPr id="22533" name="Text Box 7"/>
          <p:cNvSpPr txBox="1"/>
          <p:nvPr/>
        </p:nvSpPr>
        <p:spPr>
          <a:xfrm>
            <a:off x="6135688" y="800100"/>
            <a:ext cx="1073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2000" i="1" dirty="0">
                <a:latin typeface="Helvetica" panose="020B0604020202030204" pitchFamily="34" charset="0"/>
              </a:rPr>
              <a:t>teaches</a:t>
            </a:r>
            <a:endParaRPr lang="en-US" altLang="en-US" sz="2000" i="1" dirty="0">
              <a:latin typeface="Helvetica" panose="020B0604020202030204" pitchFamily="34" charset="0"/>
            </a:endParaRPr>
          </a:p>
        </p:txBody>
      </p:sp>
      <p:pic>
        <p:nvPicPr>
          <p:cNvPr id="22534" name="Picture 8" descr="2"/>
          <p:cNvPicPr>
            <a:picLocks noChangeAspect="1"/>
          </p:cNvPicPr>
          <p:nvPr/>
        </p:nvPicPr>
        <p:blipFill>
          <a:blip r:embed="rId2"/>
          <a:srcRect b="50357"/>
          <a:stretch>
            <a:fillRect/>
          </a:stretch>
        </p:blipFill>
        <p:spPr>
          <a:xfrm>
            <a:off x="514350" y="1230313"/>
            <a:ext cx="3883025" cy="1447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35" name="Picture 15" descr="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" y="2724150"/>
            <a:ext cx="6629400" cy="3886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0488" tIns="44450" rIns="90488" bIns="4445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The Rename Operation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4579" name="Rectangle 3"/>
          <p:cNvSpPr>
            <a:spLocks noGrp="1"/>
          </p:cNvSpPr>
          <p:nvPr>
            <p:ph idx="1"/>
          </p:nvPr>
        </p:nvSpPr>
        <p:spPr>
          <a:xfrm>
            <a:off x="124460" y="933450"/>
            <a:ext cx="8911590" cy="5208270"/>
          </a:xfrm>
        </p:spPr>
        <p:txBody>
          <a:bodyPr vert="horz" wrap="square" lIns="90488" tIns="44450" rIns="90488" bIns="44450" anchor="t"/>
          <a:lstStyle/>
          <a:p>
            <a:pPr defTabSz="0">
              <a:tabLst>
                <a:tab pos="2056130" algn="l"/>
              </a:tabLst>
            </a:pPr>
            <a:r>
              <a:rPr lang="en-US" altLang="en-US" dirty="0"/>
              <a:t>The SQL allows renaming relations and attributes using the </a:t>
            </a:r>
            <a:r>
              <a:rPr lang="en-US" altLang="en-US" b="1" dirty="0"/>
              <a:t>as </a:t>
            </a:r>
            <a:r>
              <a:rPr lang="en-US" altLang="en-US" dirty="0"/>
              <a:t>clause:</a:t>
            </a:r>
            <a:endParaRPr lang="en-US" altLang="en-US" dirty="0"/>
          </a:p>
          <a:p>
            <a:pPr defTabSz="0">
              <a:buNone/>
              <a:tabLst>
                <a:tab pos="2056130" algn="l"/>
              </a:tabLst>
            </a:pPr>
            <a:r>
              <a:rPr lang="en-US" altLang="en-US" i="1" dirty="0"/>
              <a:t>		old-name </a:t>
            </a:r>
            <a:r>
              <a:rPr lang="en-US" altLang="en-US" b="1" dirty="0"/>
              <a:t>as</a:t>
            </a:r>
            <a:r>
              <a:rPr lang="en-US" altLang="en-US" i="1" dirty="0"/>
              <a:t> new-name</a:t>
            </a:r>
            <a:br>
              <a:rPr lang="en-US" altLang="en-US" dirty="0"/>
            </a:br>
            <a:endParaRPr lang="en-US" altLang="en-US" dirty="0"/>
          </a:p>
          <a:p>
            <a:pPr defTabSz="0">
              <a:tabLst>
                <a:tab pos="2056130" algn="l"/>
              </a:tabLst>
            </a:pPr>
            <a:r>
              <a:rPr lang="en-US" altLang="en-US" dirty="0"/>
              <a:t>Find the names of all instructors who have a higher salary than some instructor in ‘Comp. Sci’.</a:t>
            </a:r>
            <a:endParaRPr lang="en-US" altLang="en-US" dirty="0"/>
          </a:p>
          <a:p>
            <a:pPr lvl="1" defTabSz="0">
              <a:tabLst>
                <a:tab pos="2056130" algn="l"/>
              </a:tabLst>
            </a:pPr>
            <a:r>
              <a:rPr lang="en-US" altLang="en-US" b="1" dirty="0"/>
              <a:t>select distinct </a:t>
            </a:r>
            <a:r>
              <a:rPr lang="en-US" altLang="en-US" i="1" dirty="0"/>
              <a:t>T.name</a:t>
            </a:r>
            <a:br>
              <a:rPr lang="en-US" altLang="en-US" i="1" dirty="0"/>
            </a:br>
            <a:r>
              <a:rPr lang="en-US" altLang="en-US" b="1" dirty="0"/>
              <a:t>from </a:t>
            </a:r>
            <a:r>
              <a:rPr lang="en-US" altLang="en-US" i="1" dirty="0"/>
              <a:t>instructor </a:t>
            </a:r>
            <a:r>
              <a:rPr lang="en-US" altLang="en-US" b="1" dirty="0"/>
              <a:t>as </a:t>
            </a:r>
            <a:r>
              <a:rPr lang="en-US" altLang="en-US" i="1" dirty="0"/>
              <a:t>T, instructor </a:t>
            </a:r>
            <a:r>
              <a:rPr lang="en-US" altLang="en-US" b="1" dirty="0"/>
              <a:t>as </a:t>
            </a:r>
            <a:r>
              <a:rPr lang="en-US" altLang="en-US" i="1" dirty="0"/>
              <a:t>S</a:t>
            </a:r>
            <a:br>
              <a:rPr lang="en-US" altLang="en-US" i="1" dirty="0"/>
            </a:br>
            <a:r>
              <a:rPr lang="en-US" altLang="en-US" b="1" dirty="0"/>
              <a:t>where </a:t>
            </a:r>
            <a:r>
              <a:rPr lang="en-US" altLang="en-US" i="1" dirty="0"/>
              <a:t>T.salary &gt; S.salary </a:t>
            </a:r>
            <a:r>
              <a:rPr lang="en-US" altLang="en-US" b="1" dirty="0"/>
              <a:t>and </a:t>
            </a:r>
            <a:r>
              <a:rPr lang="en-US" altLang="en-US" i="1" dirty="0"/>
              <a:t>S.dept_name = ‘Comp. Sci.’</a:t>
            </a:r>
            <a:endParaRPr lang="en-US" altLang="en-US" i="1" dirty="0"/>
          </a:p>
          <a:p>
            <a:pPr lvl="1" defTabSz="0">
              <a:buNone/>
              <a:tabLst>
                <a:tab pos="2056130" algn="l"/>
              </a:tabLst>
            </a:pPr>
            <a:endParaRPr lang="en-US" altLang="en-US" dirty="0"/>
          </a:p>
          <a:p>
            <a:pPr defTabSz="0">
              <a:tabLst>
                <a:tab pos="2056130" algn="l"/>
              </a:tabLst>
            </a:pPr>
            <a:r>
              <a:rPr lang="en-US" altLang="en-US" dirty="0"/>
              <a:t>Keyword </a:t>
            </a:r>
            <a:r>
              <a:rPr lang="en-US" altLang="en-US" b="1" dirty="0"/>
              <a:t>as</a:t>
            </a:r>
            <a:r>
              <a:rPr lang="en-US" altLang="en-US" dirty="0"/>
              <a:t> is optional and may be omitted</a:t>
            </a:r>
            <a:br>
              <a:rPr lang="en-US" altLang="en-US" dirty="0"/>
            </a:br>
            <a:r>
              <a:rPr lang="en-US" altLang="en-US" dirty="0"/>
              <a:t>              </a:t>
            </a:r>
            <a:r>
              <a:rPr lang="en-US" altLang="en-US" i="1" dirty="0"/>
              <a:t>instructor </a:t>
            </a:r>
            <a:r>
              <a:rPr lang="en-US" altLang="en-US" b="1" dirty="0"/>
              <a:t>as </a:t>
            </a:r>
            <a:r>
              <a:rPr lang="en-US" altLang="en-US" i="1" dirty="0"/>
              <a:t>T ≡ instructor</a:t>
            </a:r>
            <a:r>
              <a:rPr lang="en-US" altLang="en-US" b="1" dirty="0"/>
              <a:t> </a:t>
            </a:r>
            <a:r>
              <a:rPr lang="en-US" altLang="en-US" i="1" dirty="0"/>
              <a:t>T</a:t>
            </a:r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Cartesian Product  Example</a:t>
            </a:r>
            <a:endParaRPr kumimoji="1" 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5603" name="Rectangle 4"/>
          <p:cNvSpPr/>
          <p:nvPr/>
        </p:nvSpPr>
        <p:spPr>
          <a:xfrm>
            <a:off x="798513" y="1125538"/>
            <a:ext cx="7029450" cy="4857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spcBef>
                <a:spcPct val="35000"/>
              </a:spcBef>
              <a:buClr>
                <a:schemeClr val="tx2"/>
              </a:buClr>
              <a:buFont typeface="Monotype Sorts" pitchFamily="2" charset="2"/>
              <a:buChar char="n"/>
            </a:pPr>
            <a:r>
              <a:rPr lang="en-US" altLang="en-US" dirty="0">
                <a:latin typeface="Helvetica" panose="020B0604020202030204" pitchFamily="34" charset="0"/>
              </a:rPr>
              <a:t> Relation </a:t>
            </a:r>
            <a:r>
              <a:rPr lang="en-US" altLang="en-US" i="1" dirty="0">
                <a:latin typeface="Helvetica" panose="020B0604020202030204" pitchFamily="34" charset="0"/>
              </a:rPr>
              <a:t>emp-super</a:t>
            </a:r>
            <a:endParaRPr lang="en-US" altLang="en-US" dirty="0">
              <a:latin typeface="Helvetica" panose="020B0604020202030204" pitchFamily="34" charset="0"/>
            </a:endParaRPr>
          </a:p>
        </p:txBody>
      </p:sp>
      <p:sp>
        <p:nvSpPr>
          <p:cNvPr id="25604" name="Rectangle 5"/>
          <p:cNvSpPr/>
          <p:nvPr/>
        </p:nvSpPr>
        <p:spPr>
          <a:xfrm>
            <a:off x="801688" y="3671888"/>
            <a:ext cx="8291512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Font typeface="Monotype Sorts" pitchFamily="2" charset="2"/>
              <a:buChar char="n"/>
            </a:pPr>
            <a:r>
              <a:rPr lang="en-US" altLang="en-US" dirty="0">
                <a:latin typeface="Helvetica" panose="020B0604020202030204" pitchFamily="34" charset="0"/>
              </a:rPr>
              <a:t>   Find the supervisor of “Bob”</a:t>
            </a:r>
            <a:endParaRPr lang="en-US" altLang="en-US" dirty="0">
              <a:latin typeface="Helvetica" panose="020B0604020202030204" pitchFamily="34" charset="0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Font typeface="Monotype Sorts" pitchFamily="2" charset="2"/>
              <a:buChar char="n"/>
            </a:pPr>
            <a:r>
              <a:rPr lang="en-US" altLang="en-US" dirty="0">
                <a:latin typeface="Helvetica" panose="020B0604020202030204" pitchFamily="34" charset="0"/>
              </a:rPr>
              <a:t>   Find the supervisor of the supervisor of “Bob”</a:t>
            </a:r>
            <a:endParaRPr lang="en-US" altLang="en-US" dirty="0">
              <a:latin typeface="Helvetica" panose="020B0604020202030204" pitchFamily="34" charset="0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Font typeface="Monotype Sorts" pitchFamily="2" charset="2"/>
              <a:buChar char="n"/>
            </a:pPr>
            <a:r>
              <a:rPr lang="en-US" altLang="en-US" dirty="0">
                <a:latin typeface="Helvetica" panose="020B0604020202030204" pitchFamily="34" charset="0"/>
              </a:rPr>
              <a:t>   Find  ALL the supervisors (direct and indirect) of “Bob</a:t>
            </a:r>
            <a:endParaRPr lang="en-US" altLang="en-US" dirty="0">
              <a:latin typeface="Helvetica" panose="020B0604020202030204" pitchFamily="34" charset="0"/>
            </a:endParaRPr>
          </a:p>
        </p:txBody>
      </p:sp>
      <p:grpSp>
        <p:nvGrpSpPr>
          <p:cNvPr id="25605" name="Group 5"/>
          <p:cNvGrpSpPr/>
          <p:nvPr/>
        </p:nvGrpSpPr>
        <p:grpSpPr>
          <a:xfrm>
            <a:off x="2228850" y="1673225"/>
            <a:ext cx="2443163" cy="1744663"/>
            <a:chOff x="3555721" y="1565274"/>
            <a:chExt cx="2443162" cy="1744663"/>
          </a:xfrm>
        </p:grpSpPr>
        <p:sp>
          <p:nvSpPr>
            <p:cNvPr id="25606" name="Rectangle 1"/>
            <p:cNvSpPr/>
            <p:nvPr/>
          </p:nvSpPr>
          <p:spPr>
            <a:xfrm>
              <a:off x="3555721" y="1619249"/>
              <a:ext cx="2360612" cy="360363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endParaRPr lang="en-US" altLang="en-US" dirty="0">
                <a:latin typeface="Helvetica" panose="020B0604020202030204" pitchFamily="34" charset="0"/>
              </a:endParaRPr>
            </a:p>
          </p:txBody>
        </p:sp>
        <p:sp>
          <p:nvSpPr>
            <p:cNvPr id="25607" name="Rectangle 6"/>
            <p:cNvSpPr/>
            <p:nvPr/>
          </p:nvSpPr>
          <p:spPr>
            <a:xfrm>
              <a:off x="3566833" y="2020887"/>
              <a:ext cx="2360613" cy="1239837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endParaRPr lang="en-US" altLang="en-US" dirty="0">
                <a:latin typeface="Helvetica" panose="020B0604020202030204" pitchFamily="34" charset="0"/>
              </a:endParaRPr>
            </a:p>
          </p:txBody>
        </p:sp>
        <p:cxnSp>
          <p:nvCxnSpPr>
            <p:cNvPr id="25608" name="Straight Connector 3"/>
            <p:cNvCxnSpPr/>
            <p:nvPr/>
          </p:nvCxnSpPr>
          <p:spPr>
            <a:xfrm>
              <a:off x="4635221" y="1619249"/>
              <a:ext cx="0" cy="360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5609" name="Straight Connector 9"/>
            <p:cNvCxnSpPr/>
            <p:nvPr/>
          </p:nvCxnSpPr>
          <p:spPr>
            <a:xfrm flipH="1">
              <a:off x="4635221" y="2028824"/>
              <a:ext cx="3175" cy="123190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25610" name="TextBox 5"/>
            <p:cNvSpPr txBox="1"/>
            <p:nvPr/>
          </p:nvSpPr>
          <p:spPr>
            <a:xfrm>
              <a:off x="3649383" y="1565274"/>
              <a:ext cx="2349500" cy="4000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en-US" i="1" dirty="0">
                  <a:latin typeface="Helvetica" panose="020B0604020202030204" pitchFamily="34" charset="0"/>
                </a:rPr>
                <a:t> </a:t>
              </a:r>
              <a:r>
                <a:rPr lang="en-US" altLang="en-US" sz="2000" i="1" dirty="0">
                  <a:latin typeface="Palatino Linotype" panose="02040502050505030304" pitchFamily="18" charset="0"/>
                </a:rPr>
                <a:t>person    supervisor</a:t>
              </a:r>
              <a:endParaRPr lang="en-US" altLang="en-US" sz="2000" i="1" dirty="0">
                <a:latin typeface="Palatino Linotype" panose="02040502050505030304" pitchFamily="18" charset="0"/>
              </a:endParaRPr>
            </a:p>
          </p:txBody>
        </p:sp>
        <p:sp>
          <p:nvSpPr>
            <p:cNvPr id="25611" name="TextBox 7"/>
            <p:cNvSpPr txBox="1"/>
            <p:nvPr/>
          </p:nvSpPr>
          <p:spPr>
            <a:xfrm>
              <a:off x="3590646" y="1987549"/>
              <a:ext cx="2330450" cy="1322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en-US" sz="2000" dirty="0">
                  <a:latin typeface="Palatino Linotype" panose="02040502050505030304" pitchFamily="18" charset="0"/>
                </a:rPr>
                <a:t>Bob	   Alice</a:t>
              </a:r>
              <a:endParaRPr lang="en-US" altLang="en-US" sz="2000" dirty="0">
                <a:latin typeface="Palatino Linotype" panose="02040502050505030304" pitchFamily="18" charset="0"/>
              </a:endParaRPr>
            </a:p>
            <a:p>
              <a:r>
                <a:rPr lang="en-US" altLang="en-US" sz="2000" dirty="0">
                  <a:latin typeface="Palatino Linotype" panose="02040502050505030304" pitchFamily="18" charset="0"/>
                </a:rPr>
                <a:t>Mary	   Susan</a:t>
              </a:r>
              <a:endParaRPr lang="en-US" altLang="en-US" sz="2000" dirty="0">
                <a:latin typeface="Palatino Linotype" panose="02040502050505030304" pitchFamily="18" charset="0"/>
              </a:endParaRPr>
            </a:p>
            <a:p>
              <a:r>
                <a:rPr lang="en-US" altLang="en-US" sz="2000" dirty="0">
                  <a:latin typeface="Palatino Linotype" panose="02040502050505030304" pitchFamily="18" charset="0"/>
                </a:rPr>
                <a:t>Alice	   David</a:t>
              </a:r>
              <a:endParaRPr lang="en-US" altLang="en-US" sz="2000" dirty="0">
                <a:latin typeface="Palatino Linotype" panose="02040502050505030304" pitchFamily="18" charset="0"/>
              </a:endParaRPr>
            </a:p>
            <a:p>
              <a:r>
                <a:rPr lang="en-US" altLang="en-US" sz="2000" dirty="0">
                  <a:latin typeface="Palatino Linotype" panose="02040502050505030304" pitchFamily="18" charset="0"/>
                </a:rPr>
                <a:t>David   	   Mary</a:t>
              </a:r>
              <a:endParaRPr lang="en-US" altLang="en-US" sz="2000" dirty="0">
                <a:latin typeface="Palatino Linotype" panose="02040502050505030304" pitchFamily="18" charset="0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String Operations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6627" name="Rectangle 3"/>
          <p:cNvSpPr>
            <a:spLocks noGrp="1"/>
          </p:cNvSpPr>
          <p:nvPr>
            <p:ph idx="1"/>
          </p:nvPr>
        </p:nvSpPr>
        <p:spPr>
          <a:xfrm>
            <a:off x="123190" y="982980"/>
            <a:ext cx="8896350" cy="5490210"/>
          </a:xfrm>
        </p:spPr>
        <p:txBody>
          <a:bodyPr vert="horz" wrap="square" lIns="91440" tIns="45720" rIns="91440" bIns="45720" anchor="t"/>
          <a:lstStyle/>
          <a:p>
            <a:pPr defTabSz="0">
              <a:tabLst>
                <a:tab pos="1889125" algn="l"/>
                <a:tab pos="2403475" algn="l"/>
              </a:tabLst>
            </a:pPr>
            <a:r>
              <a:rPr lang="en-US" altLang="en-US" dirty="0"/>
              <a:t>SQL includes a string-matching operator for comparisons on character strings.  The operator </a:t>
            </a:r>
            <a:r>
              <a:rPr lang="en-US" altLang="en-US" b="1" dirty="0"/>
              <a:t>like</a:t>
            </a:r>
            <a:r>
              <a:rPr lang="en-US" altLang="en-US" dirty="0"/>
              <a:t> uses patterns that are described using two special characters:</a:t>
            </a:r>
            <a:endParaRPr lang="en-US" altLang="en-US" dirty="0"/>
          </a:p>
          <a:p>
            <a:pPr lvl="1" defTabSz="0">
              <a:tabLst>
                <a:tab pos="1889125" algn="l"/>
                <a:tab pos="2403475" algn="l"/>
              </a:tabLst>
            </a:pPr>
            <a:r>
              <a:rPr lang="en-US" altLang="en-US" dirty="0"/>
              <a:t>percent ( % ).  The % character matches any substring.</a:t>
            </a:r>
            <a:endParaRPr lang="en-US" altLang="en-US" dirty="0"/>
          </a:p>
          <a:p>
            <a:pPr lvl="1" defTabSz="0">
              <a:tabLst>
                <a:tab pos="1889125" algn="l"/>
                <a:tab pos="2403475" algn="l"/>
              </a:tabLst>
            </a:pPr>
            <a:r>
              <a:rPr lang="en-US" altLang="en-US" dirty="0"/>
              <a:t>underscore ( _ ).  The _ character matches any character.</a:t>
            </a:r>
            <a:endParaRPr lang="en-US" altLang="en-US" dirty="0"/>
          </a:p>
          <a:p>
            <a:pPr defTabSz="0">
              <a:tabLst>
                <a:tab pos="1889125" algn="l"/>
                <a:tab pos="2403475" algn="l"/>
              </a:tabLst>
            </a:pPr>
            <a:r>
              <a:rPr lang="en-US" altLang="en-US" dirty="0"/>
              <a:t>Find the names of all instructors whose name includes the substring “dar”.</a:t>
            </a:r>
            <a:endParaRPr lang="en-US" altLang="en-US" dirty="0"/>
          </a:p>
          <a:p>
            <a:pPr defTabSz="0">
              <a:buNone/>
              <a:tabLst>
                <a:tab pos="1889125" algn="l"/>
                <a:tab pos="2403475" algn="l"/>
              </a:tabLst>
            </a:pPr>
            <a:r>
              <a:rPr lang="en-US" altLang="en-US" b="1" dirty="0"/>
              <a:t>	</a:t>
            </a:r>
            <a:r>
              <a:rPr lang="en-US" altLang="en-US" sz="2000" b="1" dirty="0"/>
              <a:t>	se</a:t>
            </a:r>
            <a:r>
              <a:rPr lang="en-US" altLang="en-US" sz="2000" dirty="0"/>
              <a:t>le</a:t>
            </a:r>
            <a:r>
              <a:rPr lang="en-US" altLang="en-US" sz="2000" b="1" dirty="0"/>
              <a:t>ct </a:t>
            </a:r>
            <a:r>
              <a:rPr lang="en-US" altLang="en-US" sz="2000" i="1" dirty="0"/>
              <a:t>name</a:t>
            </a:r>
            <a:br>
              <a:rPr lang="en-US" altLang="en-US" sz="2000" i="1" dirty="0"/>
            </a:br>
            <a:r>
              <a:rPr lang="en-US" altLang="en-US" sz="2000" i="1" dirty="0"/>
              <a:t>	</a:t>
            </a:r>
            <a:r>
              <a:rPr lang="en-US" altLang="en-US" sz="2000" b="1" dirty="0"/>
              <a:t>from </a:t>
            </a:r>
            <a:r>
              <a:rPr lang="en-US" altLang="en-US" sz="2000" i="1" dirty="0"/>
              <a:t>instructor</a:t>
            </a:r>
            <a:br>
              <a:rPr lang="en-US" altLang="en-US" sz="2000" i="1" dirty="0"/>
            </a:br>
            <a:r>
              <a:rPr lang="en-US" altLang="en-US" sz="2000" i="1" dirty="0"/>
              <a:t>	</a:t>
            </a:r>
            <a:r>
              <a:rPr lang="en-US" altLang="en-US" sz="2000" b="1" dirty="0"/>
              <a:t>where</a:t>
            </a:r>
            <a:r>
              <a:rPr lang="en-US" altLang="en-US" sz="2000" b="1" i="1" dirty="0"/>
              <a:t> </a:t>
            </a:r>
            <a:r>
              <a:rPr lang="en-US" altLang="en-US" sz="2000" i="1" dirty="0"/>
              <a:t>name </a:t>
            </a:r>
            <a:r>
              <a:rPr lang="en-US" altLang="en-US" sz="2000" b="1" dirty="0"/>
              <a:t>like </a:t>
            </a:r>
            <a:r>
              <a:rPr lang="en-US" altLang="en-US" sz="2000" b="1" dirty="0">
                <a:latin typeface="Century Gothic" panose="020B0502020202020204" charset="0"/>
              </a:rPr>
              <a:t>'</a:t>
            </a:r>
            <a:r>
              <a:rPr lang="en-US" altLang="en-US" sz="2000" dirty="0"/>
              <a:t>%dar%</a:t>
            </a:r>
            <a:r>
              <a:rPr lang="en-US" altLang="en-US" sz="2000" dirty="0">
                <a:latin typeface="Century Gothic" panose="020B0502020202020204" charset="0"/>
              </a:rPr>
              <a:t>' </a:t>
            </a:r>
            <a:endParaRPr lang="en-US" altLang="en-US" sz="2000" dirty="0">
              <a:latin typeface="Century Gothic" panose="020B0502020202020204" charset="0"/>
            </a:endParaRPr>
          </a:p>
          <a:p>
            <a:pPr defTabSz="0">
              <a:tabLst>
                <a:tab pos="1889125" algn="l"/>
                <a:tab pos="2403475" algn="l"/>
              </a:tabLst>
            </a:pPr>
            <a:r>
              <a:rPr lang="en-US" altLang="en-US" dirty="0"/>
              <a:t>Match the string “100%”</a:t>
            </a:r>
            <a:endParaRPr lang="en-US" altLang="en-US" dirty="0"/>
          </a:p>
          <a:p>
            <a:pPr defTabSz="0">
              <a:buNone/>
              <a:tabLst>
                <a:tab pos="1889125" algn="l"/>
                <a:tab pos="2403475" algn="l"/>
              </a:tabLst>
            </a:pPr>
            <a:r>
              <a:rPr lang="en-US" altLang="en-US" dirty="0"/>
              <a:t>			</a:t>
            </a:r>
            <a:r>
              <a:rPr lang="en-US" altLang="en-US" sz="2000" b="1" dirty="0"/>
              <a:t>like </a:t>
            </a:r>
            <a:r>
              <a:rPr lang="en-US" altLang="en-US" sz="2000" b="1" dirty="0">
                <a:latin typeface="Century Gothic" panose="020B0502020202020204" charset="0"/>
              </a:rPr>
              <a:t>‘</a:t>
            </a:r>
            <a:r>
              <a:rPr lang="en-US" altLang="en-US" sz="2000" dirty="0"/>
              <a:t>100 \%</a:t>
            </a:r>
            <a:r>
              <a:rPr lang="en-US" altLang="en-US" sz="2000" dirty="0">
                <a:latin typeface="Century Gothic" panose="020B0502020202020204" charset="0"/>
              </a:rPr>
              <a:t>' </a:t>
            </a:r>
            <a:r>
              <a:rPr lang="en-US" altLang="en-US" sz="2000" dirty="0"/>
              <a:t> </a:t>
            </a:r>
            <a:r>
              <a:rPr lang="en-US" altLang="en-US" sz="2000" b="1" dirty="0"/>
              <a:t>escape  </a:t>
            </a:r>
            <a:r>
              <a:rPr lang="en-US" altLang="en-US" sz="2000" b="1" dirty="0">
                <a:latin typeface="Century Gothic" panose="020B0502020202020204" charset="0"/>
              </a:rPr>
              <a:t>'</a:t>
            </a:r>
            <a:r>
              <a:rPr lang="en-US" altLang="en-US" sz="2000" dirty="0"/>
              <a:t>\</a:t>
            </a:r>
            <a:r>
              <a:rPr lang="en-US" altLang="en-US" sz="2000" dirty="0">
                <a:latin typeface="Century Gothic" panose="020B0502020202020204" charset="0"/>
              </a:rPr>
              <a:t>' </a:t>
            </a:r>
            <a:endParaRPr lang="en-US" altLang="en-US" sz="2000" dirty="0"/>
          </a:p>
          <a:p>
            <a:pPr defTabSz="0">
              <a:buNone/>
              <a:tabLst>
                <a:tab pos="1889125" algn="l"/>
                <a:tab pos="2403475" algn="l"/>
              </a:tabLst>
            </a:pPr>
            <a:r>
              <a:rPr lang="en-US" altLang="en-US" dirty="0"/>
              <a:t>      in that above we use backslash (\) as the escape character.</a:t>
            </a:r>
            <a:endParaRPr lang="en-US" altLang="en-US" dirty="0"/>
          </a:p>
          <a:p>
            <a:pPr defTabSz="0">
              <a:buNone/>
              <a:tabLst>
                <a:tab pos="1889125" algn="l"/>
                <a:tab pos="2403475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1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String Operations (Cont.)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7651" name="Rectangle 3"/>
          <p:cNvSpPr>
            <a:spLocks noGrp="1"/>
          </p:cNvSpPr>
          <p:nvPr>
            <p:ph idx="1"/>
          </p:nvPr>
        </p:nvSpPr>
        <p:spPr>
          <a:xfrm>
            <a:off x="326390" y="1106805"/>
            <a:ext cx="8632825" cy="5181600"/>
          </a:xfrm>
        </p:spPr>
        <p:txBody>
          <a:bodyPr vert="horz" wrap="square" lIns="91440" tIns="45720" rIns="91440" bIns="45720" anchor="t"/>
          <a:lstStyle/>
          <a:p>
            <a:pPr defTabSz="0">
              <a:tabLst>
                <a:tab pos="1889125" algn="l"/>
                <a:tab pos="2403475" algn="l"/>
              </a:tabLst>
            </a:pPr>
            <a:r>
              <a:rPr lang="en-US" altLang="en-US" dirty="0"/>
              <a:t>Patterns are case sensitive. </a:t>
            </a:r>
            <a:endParaRPr lang="en-US" altLang="en-US" dirty="0"/>
          </a:p>
          <a:p>
            <a:pPr defTabSz="0">
              <a:tabLst>
                <a:tab pos="1889125" algn="l"/>
                <a:tab pos="2403475" algn="l"/>
              </a:tabLst>
            </a:pPr>
            <a:r>
              <a:rPr lang="en-US" altLang="en-US" dirty="0"/>
              <a:t>Pattern matching examples:</a:t>
            </a:r>
            <a:endParaRPr lang="en-US" altLang="en-US" dirty="0"/>
          </a:p>
          <a:p>
            <a:pPr lvl="1" defTabSz="0">
              <a:tabLst>
                <a:tab pos="1889125" algn="l"/>
                <a:tab pos="2403475" algn="l"/>
              </a:tabLst>
            </a:pPr>
            <a:r>
              <a:rPr lang="en-US" altLang="en-US" dirty="0"/>
              <a:t>‘Intro%’ matches any string beginning with “Intro”.</a:t>
            </a:r>
            <a:endParaRPr lang="en-US" altLang="en-US" dirty="0"/>
          </a:p>
          <a:p>
            <a:pPr lvl="1" defTabSz="0">
              <a:tabLst>
                <a:tab pos="1889125" algn="l"/>
                <a:tab pos="2403475" algn="l"/>
              </a:tabLst>
            </a:pPr>
            <a:r>
              <a:rPr lang="en-US" altLang="en-US" dirty="0"/>
              <a:t>‘%Comp%’ matches any string containing “Comp” as a substring.</a:t>
            </a:r>
            <a:endParaRPr lang="en-US" altLang="en-US" dirty="0"/>
          </a:p>
          <a:p>
            <a:pPr lvl="1" defTabSz="0">
              <a:tabLst>
                <a:tab pos="1889125" algn="l"/>
                <a:tab pos="2403475" algn="l"/>
              </a:tabLst>
            </a:pPr>
            <a:r>
              <a:rPr lang="en-US" altLang="en-US" dirty="0"/>
              <a:t>‘_ _ _’ matches any string of exactly three characters.</a:t>
            </a:r>
            <a:endParaRPr lang="en-US" altLang="en-US" dirty="0"/>
          </a:p>
          <a:p>
            <a:pPr lvl="1" defTabSz="0">
              <a:tabLst>
                <a:tab pos="1889125" algn="l"/>
                <a:tab pos="2403475" algn="l"/>
              </a:tabLst>
            </a:pPr>
            <a:r>
              <a:rPr lang="en-US" altLang="en-US" dirty="0"/>
              <a:t>‘_ _ _ %’ matches any string of at least three characters.</a:t>
            </a:r>
            <a:endParaRPr lang="en-US" altLang="en-US" dirty="0"/>
          </a:p>
          <a:p>
            <a:pPr lvl="1" defTabSz="0">
              <a:buNone/>
              <a:tabLst>
                <a:tab pos="1889125" algn="l"/>
                <a:tab pos="2403475" algn="l"/>
              </a:tabLst>
            </a:pPr>
            <a:endParaRPr lang="en-US" altLang="en-US" dirty="0"/>
          </a:p>
          <a:p>
            <a:pPr defTabSz="0">
              <a:tabLst>
                <a:tab pos="1889125" algn="l"/>
                <a:tab pos="2403475" algn="l"/>
              </a:tabLst>
            </a:pPr>
            <a:r>
              <a:rPr lang="en-US" altLang="en-US" dirty="0"/>
              <a:t>SQL supports a variety of string operations such as</a:t>
            </a:r>
            <a:endParaRPr lang="en-US" altLang="en-US" dirty="0"/>
          </a:p>
          <a:p>
            <a:pPr lvl="1" defTabSz="0">
              <a:tabLst>
                <a:tab pos="1889125" algn="l"/>
                <a:tab pos="2403475" algn="l"/>
              </a:tabLst>
            </a:pPr>
            <a:r>
              <a:rPr lang="en-US" altLang="en-US" dirty="0"/>
              <a:t>concatenation (using “||”)</a:t>
            </a:r>
            <a:endParaRPr lang="en-US" altLang="en-US" dirty="0"/>
          </a:p>
          <a:p>
            <a:pPr lvl="1" defTabSz="0">
              <a:tabLst>
                <a:tab pos="1889125" algn="l"/>
                <a:tab pos="2403475" algn="l"/>
              </a:tabLst>
            </a:pPr>
            <a:r>
              <a:rPr lang="en-US" altLang="en-US" dirty="0"/>
              <a:t>converting from upper to lower case (and vice versa)</a:t>
            </a:r>
            <a:endParaRPr lang="en-US" altLang="en-US" dirty="0"/>
          </a:p>
          <a:p>
            <a:pPr lvl="1" defTabSz="0">
              <a:tabLst>
                <a:tab pos="1889125" algn="l"/>
                <a:tab pos="2403475" algn="l"/>
              </a:tabLst>
            </a:pPr>
            <a:r>
              <a:rPr lang="en-US" altLang="en-US" dirty="0"/>
              <a:t>finding string length, extracting substrings, etc.</a:t>
            </a:r>
            <a:endParaRPr lang="en-US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Ordering the Display of Tuples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8675" name="Rectangle 3"/>
          <p:cNvSpPr>
            <a:spLocks noGrp="1"/>
          </p:cNvSpPr>
          <p:nvPr>
            <p:ph idx="1"/>
          </p:nvPr>
        </p:nvSpPr>
        <p:spPr>
          <a:xfrm>
            <a:off x="233680" y="1108075"/>
            <a:ext cx="8658860" cy="4202430"/>
          </a:xfrm>
        </p:spPr>
        <p:txBody>
          <a:bodyPr vert="horz" wrap="square" lIns="91440" tIns="45720" rIns="91440" bIns="45720" anchor="t"/>
          <a:lstStyle/>
          <a:p>
            <a:pPr defTabSz="0">
              <a:tabLst>
                <a:tab pos="906780" algn="l"/>
              </a:tabLst>
            </a:pPr>
            <a:r>
              <a:rPr lang="en-US" altLang="en-US" dirty="0"/>
              <a:t>List in alphabetic order the names of all instructors </a:t>
            </a:r>
            <a:endParaRPr lang="en-US" altLang="en-US" dirty="0"/>
          </a:p>
          <a:p>
            <a:pPr defTabSz="0">
              <a:buNone/>
              <a:tabLst>
                <a:tab pos="906780" algn="l"/>
              </a:tabLst>
            </a:pPr>
            <a:r>
              <a:rPr lang="en-US" altLang="en-US" dirty="0"/>
              <a:t>           </a:t>
            </a:r>
            <a:r>
              <a:rPr lang="en-US" altLang="en-US" b="1" dirty="0"/>
              <a:t>select distinct </a:t>
            </a:r>
            <a:r>
              <a:rPr lang="en-US" altLang="en-US" i="1" dirty="0"/>
              <a:t>name</a:t>
            </a:r>
            <a:br>
              <a:rPr lang="en-US" altLang="en-US" i="1" dirty="0"/>
            </a:br>
            <a:r>
              <a:rPr lang="en-US" altLang="en-US" i="1" dirty="0"/>
              <a:t>	</a:t>
            </a:r>
            <a:r>
              <a:rPr lang="en-US" altLang="en-US" b="1" dirty="0"/>
              <a:t>from    </a:t>
            </a:r>
            <a:r>
              <a:rPr lang="en-US" altLang="en-US" i="1" dirty="0"/>
              <a:t>instructor</a:t>
            </a:r>
            <a:br>
              <a:rPr lang="en-US" altLang="en-US" i="1" dirty="0"/>
            </a:br>
            <a:r>
              <a:rPr lang="en-US" altLang="en-US" i="1" dirty="0"/>
              <a:t>	</a:t>
            </a:r>
            <a:r>
              <a:rPr lang="en-US" altLang="en-US" dirty="0"/>
              <a:t>	</a:t>
            </a:r>
            <a:r>
              <a:rPr lang="en-US" altLang="en-US" b="1" dirty="0"/>
              <a:t>order by </a:t>
            </a:r>
            <a:r>
              <a:rPr lang="en-US" altLang="en-US" i="1" dirty="0"/>
              <a:t>name</a:t>
            </a:r>
            <a:endParaRPr lang="en-US" altLang="en-US" dirty="0"/>
          </a:p>
          <a:p>
            <a:pPr defTabSz="0">
              <a:tabLst>
                <a:tab pos="906780" algn="l"/>
              </a:tabLst>
            </a:pPr>
            <a:r>
              <a:rPr lang="en-US" altLang="en-US" dirty="0"/>
              <a:t>We may specify </a:t>
            </a:r>
            <a:r>
              <a:rPr lang="en-US" altLang="en-US" b="1" dirty="0">
                <a:solidFill>
                  <a:srgbClr val="000099"/>
                </a:solidFill>
              </a:rPr>
              <a:t>desc</a:t>
            </a:r>
            <a:r>
              <a:rPr lang="en-US" altLang="en-US" dirty="0"/>
              <a:t> for descending order or </a:t>
            </a:r>
            <a:r>
              <a:rPr lang="en-US" altLang="en-US" b="1" dirty="0">
                <a:solidFill>
                  <a:srgbClr val="000099"/>
                </a:solidFill>
              </a:rPr>
              <a:t>asc</a:t>
            </a:r>
            <a:r>
              <a:rPr lang="en-US" altLang="en-US" dirty="0"/>
              <a:t> for ascending order, for each attribute; ascending order is the default.</a:t>
            </a:r>
            <a:endParaRPr lang="en-US" altLang="en-US" dirty="0"/>
          </a:p>
          <a:p>
            <a:pPr lvl="1" defTabSz="0">
              <a:tabLst>
                <a:tab pos="906780" algn="l"/>
              </a:tabLst>
            </a:pPr>
            <a:r>
              <a:rPr lang="en-US" altLang="en-US" dirty="0"/>
              <a:t>Example:  </a:t>
            </a:r>
            <a:r>
              <a:rPr lang="en-US" altLang="en-US" b="1" dirty="0"/>
              <a:t>order by</a:t>
            </a:r>
            <a:r>
              <a:rPr lang="en-US" altLang="en-US" dirty="0"/>
              <a:t> </a:t>
            </a:r>
            <a:r>
              <a:rPr lang="en-US" altLang="en-US" i="1" dirty="0"/>
              <a:t>name</a:t>
            </a:r>
            <a:r>
              <a:rPr lang="en-US" altLang="en-US" dirty="0"/>
              <a:t> </a:t>
            </a:r>
            <a:r>
              <a:rPr lang="en-US" altLang="en-US" b="1" dirty="0"/>
              <a:t>desc</a:t>
            </a:r>
            <a:endParaRPr lang="en-US" altLang="en-US" b="1" dirty="0"/>
          </a:p>
          <a:p>
            <a:pPr defTabSz="0">
              <a:tabLst>
                <a:tab pos="906780" algn="l"/>
              </a:tabLst>
            </a:pPr>
            <a:r>
              <a:rPr lang="en-US" altLang="en-US" dirty="0"/>
              <a:t>Can sort on multiple attributes</a:t>
            </a:r>
            <a:endParaRPr lang="en-US" altLang="en-US" dirty="0"/>
          </a:p>
          <a:p>
            <a:pPr lvl="1" defTabSz="0">
              <a:tabLst>
                <a:tab pos="906780" algn="l"/>
              </a:tabLst>
            </a:pPr>
            <a:r>
              <a:rPr lang="en-US" altLang="en-US" dirty="0"/>
              <a:t>Example: </a:t>
            </a:r>
            <a:r>
              <a:rPr lang="en-US" altLang="en-US" b="1" dirty="0"/>
              <a:t>order by </a:t>
            </a:r>
            <a:r>
              <a:rPr lang="en-US" altLang="en-US" dirty="0"/>
              <a:t> </a:t>
            </a:r>
            <a:r>
              <a:rPr lang="en-US" altLang="en-US" i="1" dirty="0"/>
              <a:t>dept_name, name</a:t>
            </a:r>
            <a:endParaRPr lang="en-US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73125" y="315595"/>
            <a:ext cx="8126095" cy="588835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08355" y="216535"/>
            <a:ext cx="8128000" cy="589978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894965" y="3966845"/>
            <a:ext cx="5247640" cy="1057275"/>
          </a:xfrm>
          <a:prstGeom prst="rect">
            <a:avLst/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panose="020B0604020202030204" pitchFamily="34" charset="0"/>
            </a:endParaRPr>
          </a:p>
        </p:txBody>
      </p:sp>
      <p:sp>
        <p:nvSpPr>
          <p:cNvPr id="5" name="虚尾箭头 4"/>
          <p:cNvSpPr/>
          <p:nvPr/>
        </p:nvSpPr>
        <p:spPr>
          <a:xfrm rot="5400000">
            <a:off x="2942590" y="4376420"/>
            <a:ext cx="1057275" cy="238125"/>
          </a:xfrm>
          <a:prstGeom prst="striped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panose="020B0604020202030204" pitchFamily="34" charset="0"/>
            </a:endParaRPr>
          </a:p>
        </p:txBody>
      </p:sp>
      <p:sp>
        <p:nvSpPr>
          <p:cNvPr id="6" name="上箭头 5"/>
          <p:cNvSpPr/>
          <p:nvPr/>
        </p:nvSpPr>
        <p:spPr>
          <a:xfrm>
            <a:off x="7114540" y="3909695"/>
            <a:ext cx="704850" cy="1981200"/>
          </a:xfrm>
          <a:prstGeom prst="up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panose="020B0604020202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 animBg="1"/>
      <p:bldP spid="5" grpId="0" animBg="1"/>
      <p:bldP spid="5" grpId="1" animBg="1"/>
      <p:bldP spid="6" grpId="0" animBg="1"/>
      <p:bldP spid="6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37590" y="183515"/>
            <a:ext cx="7821930" cy="550481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0488" tIns="44450" rIns="90488" bIns="4445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Where Clause Predicates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9699" name="Rectangle 3"/>
          <p:cNvSpPr>
            <a:spLocks noGrp="1"/>
          </p:cNvSpPr>
          <p:nvPr>
            <p:ph idx="1"/>
          </p:nvPr>
        </p:nvSpPr>
        <p:spPr>
          <a:xfrm>
            <a:off x="739775" y="1106488"/>
            <a:ext cx="8089900" cy="5038725"/>
          </a:xfrm>
        </p:spPr>
        <p:txBody>
          <a:bodyPr vert="horz" wrap="square" lIns="90488" tIns="44450" rIns="90488" bIns="44450" anchor="t"/>
          <a:lstStyle/>
          <a:p>
            <a:r>
              <a:rPr lang="en-US" altLang="en-US" dirty="0"/>
              <a:t>SQL includes a </a:t>
            </a:r>
            <a:r>
              <a:rPr lang="en-US" altLang="en-US" b="1" dirty="0">
                <a:solidFill>
                  <a:srgbClr val="000099"/>
                </a:solidFill>
              </a:rPr>
              <a:t>between</a:t>
            </a:r>
            <a:r>
              <a:rPr lang="en-US" altLang="en-US" dirty="0"/>
              <a:t> comparison operator</a:t>
            </a:r>
            <a:endParaRPr lang="en-US" altLang="en-US" dirty="0"/>
          </a:p>
          <a:p>
            <a:r>
              <a:rPr lang="en-US" altLang="en-US" dirty="0"/>
              <a:t>Example:  Find the names of all instructors with salary between $90,000 and $100,000 (that is, </a:t>
            </a:r>
            <a:r>
              <a:rPr lang="en-US" altLang="en-US" dirty="0">
                <a:latin typeface="Symbol" panose="05050102010706020507" charset="2"/>
              </a:rPr>
              <a:t> </a:t>
            </a:r>
            <a:r>
              <a:rPr lang="en-US" altLang="en-US" dirty="0"/>
              <a:t>$90,000 and </a:t>
            </a:r>
            <a:r>
              <a:rPr lang="en-US" altLang="en-US" dirty="0">
                <a:latin typeface="Symbol" panose="05050102010706020507" charset="2"/>
              </a:rPr>
              <a:t> </a:t>
            </a:r>
            <a:r>
              <a:rPr lang="en-US" altLang="en-US" dirty="0"/>
              <a:t>$100,000)</a:t>
            </a:r>
            <a:endParaRPr lang="en-US" altLang="en-US" dirty="0"/>
          </a:p>
          <a:p>
            <a:pPr lvl="1"/>
            <a:r>
              <a:rPr lang="en-US" altLang="en-US" b="1" dirty="0"/>
              <a:t>select</a:t>
            </a:r>
            <a:r>
              <a:rPr lang="en-US" altLang="en-US" i="1" dirty="0"/>
              <a:t> name</a:t>
            </a:r>
            <a:br>
              <a:rPr lang="en-US" altLang="en-US" i="1" dirty="0"/>
            </a:br>
            <a:r>
              <a:rPr lang="en-US" altLang="en-US" b="1" dirty="0"/>
              <a:t>from </a:t>
            </a:r>
            <a:r>
              <a:rPr lang="en-US" altLang="en-US" i="1" dirty="0"/>
              <a:t>instructor</a:t>
            </a:r>
            <a:br>
              <a:rPr lang="en-US" altLang="en-US" dirty="0"/>
            </a:br>
            <a:r>
              <a:rPr lang="en-US" altLang="en-US" b="1" dirty="0"/>
              <a:t>where </a:t>
            </a:r>
            <a:r>
              <a:rPr lang="en-US" altLang="en-US" i="1" dirty="0"/>
              <a:t>salary </a:t>
            </a:r>
            <a:r>
              <a:rPr lang="en-US" altLang="en-US" b="1" dirty="0">
                <a:solidFill>
                  <a:srgbClr val="FF0000"/>
                </a:solidFill>
              </a:rPr>
              <a:t>between</a:t>
            </a:r>
            <a:r>
              <a:rPr lang="en-US" altLang="en-US" b="1" dirty="0"/>
              <a:t> </a:t>
            </a:r>
            <a:r>
              <a:rPr lang="en-US" altLang="en-US" dirty="0"/>
              <a:t>90000 </a:t>
            </a:r>
            <a:r>
              <a:rPr lang="en-US" altLang="en-US" b="1" dirty="0">
                <a:solidFill>
                  <a:srgbClr val="FF0000"/>
                </a:solidFill>
              </a:rPr>
              <a:t>and</a:t>
            </a:r>
            <a:r>
              <a:rPr lang="en-US" altLang="en-US" b="1" dirty="0"/>
              <a:t> </a:t>
            </a:r>
            <a:r>
              <a:rPr lang="en-US" altLang="en-US" dirty="0"/>
              <a:t>100000</a:t>
            </a:r>
            <a:endParaRPr lang="en-US" altLang="en-US" dirty="0"/>
          </a:p>
          <a:p>
            <a:r>
              <a:rPr lang="en-US" altLang="en-US" b="1" dirty="0">
                <a:solidFill>
                  <a:srgbClr val="000099"/>
                </a:solidFill>
              </a:rPr>
              <a:t>Tuple comparison</a:t>
            </a:r>
            <a:endParaRPr lang="en-US" altLang="en-US" b="1" dirty="0">
              <a:solidFill>
                <a:srgbClr val="000099"/>
              </a:solidFill>
            </a:endParaRPr>
          </a:p>
          <a:p>
            <a:pPr lvl="1"/>
            <a:r>
              <a:rPr lang="en-US" altLang="en-US" b="1" dirty="0"/>
              <a:t>select </a:t>
            </a:r>
            <a:r>
              <a:rPr lang="en-US" altLang="en-US" i="1" dirty="0"/>
              <a:t>name</a:t>
            </a:r>
            <a:r>
              <a:rPr lang="en-US" altLang="en-US" dirty="0"/>
              <a:t>, </a:t>
            </a:r>
            <a:r>
              <a:rPr lang="en-US" altLang="en-US" i="1" dirty="0"/>
              <a:t>course_id</a:t>
            </a:r>
            <a:br>
              <a:rPr lang="en-US" altLang="en-US" i="1" dirty="0"/>
            </a:br>
            <a:r>
              <a:rPr lang="en-US" altLang="en-US" b="1" dirty="0"/>
              <a:t>from </a:t>
            </a:r>
            <a:r>
              <a:rPr lang="en-US" altLang="en-US" i="1" dirty="0"/>
              <a:t>instructor</a:t>
            </a:r>
            <a:r>
              <a:rPr lang="en-US" altLang="en-US" dirty="0"/>
              <a:t>, </a:t>
            </a:r>
            <a:r>
              <a:rPr lang="en-US" altLang="en-US" i="1" dirty="0"/>
              <a:t>teaches</a:t>
            </a:r>
            <a:br>
              <a:rPr lang="en-US" altLang="en-US" i="1" dirty="0"/>
            </a:br>
            <a:r>
              <a:rPr lang="en-US" altLang="en-US" b="1" dirty="0"/>
              <a:t>where </a:t>
            </a:r>
            <a:r>
              <a:rPr lang="en-US" altLang="en-US" dirty="0"/>
              <a:t>(</a:t>
            </a:r>
            <a:r>
              <a:rPr lang="en-US" altLang="en-US" i="1" dirty="0"/>
              <a:t>instructor</a:t>
            </a:r>
            <a:r>
              <a:rPr lang="en-US" altLang="en-US" dirty="0"/>
              <a:t>.</a:t>
            </a:r>
            <a:r>
              <a:rPr lang="en-US" altLang="en-US" i="1" dirty="0"/>
              <a:t>ID</a:t>
            </a:r>
            <a:r>
              <a:rPr lang="en-US" altLang="en-US" dirty="0"/>
              <a:t>, </a:t>
            </a:r>
            <a:r>
              <a:rPr lang="en-US" altLang="en-US" i="1" dirty="0"/>
              <a:t>dept_name</a:t>
            </a:r>
            <a:r>
              <a:rPr lang="en-US" altLang="en-US" dirty="0"/>
              <a:t>) = (</a:t>
            </a:r>
            <a:r>
              <a:rPr lang="en-US" altLang="en-US" i="1" dirty="0"/>
              <a:t>teaches</a:t>
            </a:r>
            <a:r>
              <a:rPr lang="en-US" altLang="en-US" dirty="0"/>
              <a:t>.</a:t>
            </a:r>
            <a:r>
              <a:rPr lang="en-US" altLang="en-US" i="1" dirty="0"/>
              <a:t>ID</a:t>
            </a:r>
            <a:r>
              <a:rPr lang="en-US" altLang="en-US" dirty="0"/>
              <a:t>, ’Biology’);</a:t>
            </a:r>
            <a:endParaRPr lang="en-US" altLang="en-US" dirty="0"/>
          </a:p>
          <a:p>
            <a:pPr lvl="1"/>
            <a:endParaRPr lang="en-US" altLang="en-US" sz="2000" dirty="0">
              <a:latin typeface="Times New Roman" panose="02020603050405020304" pitchFamily="18" charset="0"/>
            </a:endParaRPr>
          </a:p>
          <a:p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Duplicates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0723" name="Rectangle 3"/>
          <p:cNvSpPr>
            <a:spLocks noGrp="1"/>
          </p:cNvSpPr>
          <p:nvPr>
            <p:ph idx="1"/>
          </p:nvPr>
        </p:nvSpPr>
        <p:spPr>
          <a:xfrm>
            <a:off x="78105" y="1095375"/>
            <a:ext cx="8912225" cy="5203825"/>
          </a:xfrm>
        </p:spPr>
        <p:txBody>
          <a:bodyPr vert="horz" wrap="square" lIns="91440" tIns="45720" rIns="91440" bIns="45720" anchor="t"/>
          <a:lstStyle/>
          <a:p>
            <a:r>
              <a:rPr lang="en-US" altLang="en-US" dirty="0"/>
              <a:t>In relations with duplicates, </a:t>
            </a:r>
            <a:r>
              <a:rPr lang="en-US" altLang="en-US" dirty="0">
                <a:solidFill>
                  <a:srgbClr val="C00000"/>
                </a:solidFill>
              </a:rPr>
              <a:t>SQL can define how many copies of tuples appear in the result</a:t>
            </a:r>
            <a:r>
              <a:rPr lang="en-US" altLang="en-US" dirty="0"/>
              <a:t>.</a:t>
            </a:r>
            <a:endParaRPr lang="en-US" altLang="en-US" dirty="0"/>
          </a:p>
          <a:p>
            <a:r>
              <a:rPr lang="en-US" altLang="en-US" b="1" dirty="0">
                <a:solidFill>
                  <a:srgbClr val="000099"/>
                </a:solidFill>
              </a:rPr>
              <a:t>Multiset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versions of some of the relational algebra operators – given multiset relations 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 and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:</a:t>
            </a:r>
            <a:endParaRPr lang="en-US" altLang="en-US" dirty="0"/>
          </a:p>
          <a:p>
            <a:pPr lvl="1">
              <a:buNone/>
            </a:pPr>
            <a:r>
              <a:rPr lang="en-US" altLang="en-US" sz="2400" dirty="0"/>
              <a:t>1.	 </a:t>
            </a:r>
            <a:r>
              <a:rPr lang="en-US" altLang="en-US" sz="2400" b="1" dirty="0">
                <a:sym typeface="Symbol" panose="05050102010706020507" charset="2"/>
              </a:rPr>
              <a:t></a:t>
            </a:r>
            <a:r>
              <a:rPr lang="en-US" altLang="en-US" sz="2400" b="1" i="1" baseline="-25000" dirty="0">
                <a:sym typeface="Symbol" panose="05050102010706020507" charset="2"/>
              </a:rPr>
              <a:t> </a:t>
            </a:r>
            <a:r>
              <a:rPr lang="en-US" altLang="en-US" sz="2400" b="1" dirty="0">
                <a:sym typeface="Symbol" panose="05050102010706020507" charset="2"/>
              </a:rPr>
              <a:t>(</a:t>
            </a:r>
            <a:r>
              <a:rPr lang="en-US" altLang="en-US" sz="2400" b="1" i="1" dirty="0">
                <a:sym typeface="Symbol" panose="05050102010706020507" charset="2"/>
              </a:rPr>
              <a:t>r</a:t>
            </a:r>
            <a:r>
              <a:rPr lang="en-US" altLang="en-US" sz="2400" b="1" baseline="-25000" dirty="0">
                <a:sym typeface="Symbol" panose="05050102010706020507" charset="2"/>
              </a:rPr>
              <a:t>1</a:t>
            </a:r>
            <a:r>
              <a:rPr lang="en-US" altLang="en-US" sz="2400" b="1" dirty="0">
                <a:sym typeface="Symbol" panose="05050102010706020507" charset="2"/>
              </a:rPr>
              <a:t>):</a:t>
            </a:r>
            <a:r>
              <a:rPr lang="en-US" altLang="en-US" sz="2400" dirty="0"/>
              <a:t> If there are </a:t>
            </a:r>
            <a:r>
              <a:rPr lang="en-US" altLang="en-US" sz="2400" i="1" dirty="0">
                <a:solidFill>
                  <a:srgbClr val="FF0000"/>
                </a:solidFill>
              </a:rPr>
              <a:t>c</a:t>
            </a:r>
            <a:r>
              <a:rPr lang="en-US" altLang="en-US" sz="2400" baseline="-25000" dirty="0">
                <a:solidFill>
                  <a:srgbClr val="FF0000"/>
                </a:solidFill>
              </a:rPr>
              <a:t>1</a:t>
            </a:r>
            <a:r>
              <a:rPr lang="en-US" altLang="en-US" sz="2400" dirty="0"/>
              <a:t> copies of tuple </a:t>
            </a:r>
            <a:r>
              <a:rPr lang="en-US" altLang="en-US" sz="2400" i="1" dirty="0"/>
              <a:t>t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 in </a:t>
            </a:r>
            <a:r>
              <a:rPr lang="en-US" altLang="en-US" sz="2400" i="1" dirty="0"/>
              <a:t>r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and </a:t>
            </a:r>
            <a:r>
              <a:rPr lang="en-US" altLang="en-US" sz="2400" i="1" dirty="0"/>
              <a:t>t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 satisfies selections </a:t>
            </a:r>
            <a:r>
              <a:rPr lang="en-US" altLang="en-US" sz="2400" dirty="0">
                <a:sym typeface="Symbol" panose="05050102010706020507" charset="2"/>
              </a:rPr>
              <a:t></a:t>
            </a:r>
            <a:r>
              <a:rPr lang="en-US" altLang="en-US" sz="2400" i="1" baseline="-25000" dirty="0">
                <a:sym typeface="Symbol" panose="05050102010706020507" charset="2"/>
              </a:rPr>
              <a:t></a:t>
            </a:r>
            <a:r>
              <a:rPr lang="en-US" altLang="en-US" sz="2400" baseline="-25000" dirty="0">
                <a:sym typeface="Symbol" panose="05050102010706020507" charset="2"/>
              </a:rPr>
              <a:t>,</a:t>
            </a:r>
            <a:r>
              <a:rPr lang="en-US" altLang="en-US" sz="2400" dirty="0">
                <a:sym typeface="Symbol" panose="05050102010706020507" charset="2"/>
              </a:rPr>
              <a:t>, then there are </a:t>
            </a:r>
            <a:r>
              <a:rPr lang="en-US" altLang="en-US" sz="2400" i="1" dirty="0">
                <a:solidFill>
                  <a:srgbClr val="FF0000"/>
                </a:solidFill>
                <a:sym typeface="Symbol" panose="05050102010706020507" charset="2"/>
              </a:rPr>
              <a:t>c</a:t>
            </a:r>
            <a:r>
              <a:rPr lang="en-US" altLang="en-US" sz="2400" baseline="-25000" dirty="0">
                <a:solidFill>
                  <a:srgbClr val="FF0000"/>
                </a:solidFill>
                <a:sym typeface="Symbol" panose="05050102010706020507" charset="2"/>
              </a:rPr>
              <a:t>1 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charset="2"/>
              </a:rPr>
              <a:t>copies of </a:t>
            </a:r>
            <a:r>
              <a:rPr lang="en-US" altLang="en-US" sz="2400" i="1" dirty="0">
                <a:solidFill>
                  <a:srgbClr val="FF0000"/>
                </a:solidFill>
                <a:sym typeface="Symbol" panose="05050102010706020507" charset="2"/>
              </a:rPr>
              <a:t>t</a:t>
            </a:r>
            <a:r>
              <a:rPr lang="en-US" altLang="en-US" sz="2400" baseline="-25000" dirty="0">
                <a:solidFill>
                  <a:srgbClr val="FF0000"/>
                </a:solidFill>
                <a:sym typeface="Symbol" panose="05050102010706020507" charset="2"/>
              </a:rPr>
              <a:t>1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charset="2"/>
              </a:rPr>
              <a:t> </a:t>
            </a:r>
            <a:r>
              <a:rPr lang="en-US" altLang="en-US" sz="2400" dirty="0">
                <a:sym typeface="Symbol" panose="05050102010706020507" charset="2"/>
              </a:rPr>
              <a:t>in </a:t>
            </a:r>
            <a:r>
              <a:rPr lang="en-US" altLang="en-US" sz="2400" dirty="0"/>
              <a:t> </a:t>
            </a:r>
            <a:r>
              <a:rPr lang="en-US" altLang="en-US" sz="2400" dirty="0">
                <a:sym typeface="Symbol" panose="05050102010706020507" charset="2"/>
              </a:rPr>
              <a:t></a:t>
            </a:r>
            <a:r>
              <a:rPr lang="en-US" altLang="en-US" sz="2400" i="1" baseline="-25000" dirty="0">
                <a:sym typeface="Symbol" panose="05050102010706020507" charset="2"/>
              </a:rPr>
              <a:t> </a:t>
            </a:r>
            <a:r>
              <a:rPr lang="en-US" altLang="en-US" sz="2400" dirty="0">
                <a:sym typeface="Symbol" panose="05050102010706020507" charset="2"/>
              </a:rPr>
              <a:t>(</a:t>
            </a:r>
            <a:r>
              <a:rPr lang="en-US" altLang="en-US" sz="2400" i="1" dirty="0">
                <a:sym typeface="Symbol" panose="05050102010706020507" charset="2"/>
              </a:rPr>
              <a:t>r</a:t>
            </a:r>
            <a:r>
              <a:rPr lang="en-US" altLang="en-US" sz="2400" baseline="-25000" dirty="0">
                <a:sym typeface="Symbol" panose="05050102010706020507" charset="2"/>
              </a:rPr>
              <a:t>1</a:t>
            </a:r>
            <a:r>
              <a:rPr lang="en-US" altLang="en-US" sz="2400" dirty="0">
                <a:sym typeface="Symbol" panose="05050102010706020507" charset="2"/>
              </a:rPr>
              <a:t>)</a:t>
            </a:r>
            <a:r>
              <a:rPr lang="en-US" altLang="en-US" sz="2400" i="1" dirty="0">
                <a:sym typeface="Symbol" panose="05050102010706020507" charset="2"/>
              </a:rPr>
              <a:t>.</a:t>
            </a:r>
            <a:endParaRPr lang="en-US" altLang="en-US" sz="2400" dirty="0">
              <a:sym typeface="Symbol" panose="05050102010706020507" charset="2"/>
            </a:endParaRPr>
          </a:p>
          <a:p>
            <a:pPr lvl="1">
              <a:buNone/>
            </a:pPr>
            <a:r>
              <a:rPr lang="en-US" altLang="en-US" sz="2400" dirty="0">
                <a:sym typeface="Symbol" panose="05050102010706020507" charset="2"/>
              </a:rPr>
              <a:t>2.	 </a:t>
            </a:r>
            <a:r>
              <a:rPr lang="en-US" altLang="en-US" sz="2400" b="1" dirty="0">
                <a:sym typeface="Symbol" panose="05050102010706020507" charset="2"/>
              </a:rPr>
              <a:t></a:t>
            </a:r>
            <a:r>
              <a:rPr lang="en-US" altLang="en-US" sz="2400" b="1" i="1" baseline="-25000" dirty="0">
                <a:sym typeface="Symbol" panose="05050102010706020507" charset="2"/>
              </a:rPr>
              <a:t>A </a:t>
            </a:r>
            <a:r>
              <a:rPr lang="en-US" altLang="en-US" sz="2400" b="1" dirty="0">
                <a:sym typeface="Symbol" panose="05050102010706020507" charset="2"/>
              </a:rPr>
              <a:t>(</a:t>
            </a:r>
            <a:r>
              <a:rPr lang="en-US" altLang="en-US" sz="2400" b="1" i="1" dirty="0">
                <a:sym typeface="Symbol" panose="05050102010706020507" charset="2"/>
              </a:rPr>
              <a:t>r </a:t>
            </a:r>
            <a:r>
              <a:rPr lang="en-US" altLang="en-US" sz="2400" b="1" dirty="0">
                <a:sym typeface="Symbol" panose="05050102010706020507" charset="2"/>
              </a:rPr>
              <a:t>):</a:t>
            </a:r>
            <a:r>
              <a:rPr lang="en-US" altLang="en-US" sz="2400" dirty="0">
                <a:sym typeface="Symbol" panose="05050102010706020507" charset="2"/>
              </a:rPr>
              <a:t> For each copy of tuple </a:t>
            </a:r>
            <a:r>
              <a:rPr lang="en-US" altLang="en-US" sz="2400" i="1" dirty="0">
                <a:sym typeface="Symbol" panose="05050102010706020507" charset="2"/>
              </a:rPr>
              <a:t>t</a:t>
            </a:r>
            <a:r>
              <a:rPr lang="en-US" altLang="en-US" sz="2400" i="1" baseline="-25000" dirty="0">
                <a:sym typeface="Symbol" panose="05050102010706020507" charset="2"/>
              </a:rPr>
              <a:t>1</a:t>
            </a:r>
            <a:r>
              <a:rPr lang="en-US" altLang="en-US" sz="2400" i="1" dirty="0">
                <a:sym typeface="Symbol" panose="05050102010706020507" charset="2"/>
              </a:rPr>
              <a:t> </a:t>
            </a:r>
            <a:r>
              <a:rPr lang="en-US" altLang="en-US" sz="2400" dirty="0">
                <a:sym typeface="Symbol" panose="05050102010706020507" charset="2"/>
              </a:rPr>
              <a:t>in </a:t>
            </a:r>
            <a:r>
              <a:rPr lang="en-US" altLang="en-US" sz="2400" i="1" dirty="0">
                <a:sym typeface="Symbol" panose="05050102010706020507" charset="2"/>
              </a:rPr>
              <a:t>r</a:t>
            </a:r>
            <a:r>
              <a:rPr lang="en-US" altLang="en-US" sz="2400" baseline="-25000" dirty="0">
                <a:sym typeface="Symbol" panose="05050102010706020507" charset="2"/>
              </a:rPr>
              <a:t>1</a:t>
            </a:r>
            <a:r>
              <a:rPr lang="en-US" altLang="en-US" sz="2400" i="1" dirty="0">
                <a:sym typeface="Symbol" panose="05050102010706020507" charset="2"/>
              </a:rPr>
              <a:t>, </a:t>
            </a:r>
            <a:r>
              <a:rPr lang="en-US" altLang="en-US" sz="2400" dirty="0">
                <a:sym typeface="Symbol" panose="05050102010706020507" charset="2"/>
              </a:rPr>
              <a:t>there is a copy of tuple</a:t>
            </a:r>
            <a:r>
              <a:rPr lang="en-US" altLang="en-US" sz="2400" i="1" dirty="0">
                <a:sym typeface="Symbol" panose="05050102010706020507" charset="2"/>
              </a:rPr>
              <a:t>    </a:t>
            </a:r>
            <a:r>
              <a:rPr lang="en-US" altLang="en-US" sz="2400" dirty="0">
                <a:sym typeface="Symbol" panose="05050102010706020507" charset="2"/>
              </a:rPr>
              <a:t></a:t>
            </a:r>
            <a:r>
              <a:rPr lang="en-US" altLang="en-US" sz="2400" i="1" baseline="-25000" dirty="0">
                <a:sym typeface="Symbol" panose="05050102010706020507" charset="2"/>
              </a:rPr>
              <a:t>A </a:t>
            </a:r>
            <a:r>
              <a:rPr lang="en-US" altLang="en-US" sz="2400" dirty="0">
                <a:sym typeface="Symbol" panose="05050102010706020507" charset="2"/>
              </a:rPr>
              <a:t>(</a:t>
            </a:r>
            <a:r>
              <a:rPr lang="en-US" altLang="en-US" sz="2400" i="1" dirty="0">
                <a:sym typeface="Symbol" panose="05050102010706020507" charset="2"/>
              </a:rPr>
              <a:t>t</a:t>
            </a:r>
            <a:r>
              <a:rPr lang="en-US" altLang="en-US" sz="2400" baseline="-25000" dirty="0">
                <a:sym typeface="Symbol" panose="05050102010706020507" charset="2"/>
              </a:rPr>
              <a:t>1</a:t>
            </a:r>
            <a:r>
              <a:rPr lang="en-US" altLang="en-US" sz="2400" i="1" dirty="0">
                <a:sym typeface="Symbol" panose="05050102010706020507" charset="2"/>
              </a:rPr>
              <a:t>)</a:t>
            </a:r>
            <a:r>
              <a:rPr lang="en-US" altLang="en-US" sz="2400" dirty="0">
                <a:sym typeface="Symbol" panose="05050102010706020507" charset="2"/>
              </a:rPr>
              <a:t> in </a:t>
            </a:r>
            <a:r>
              <a:rPr lang="en-US" altLang="en-US" sz="2400" i="1" baseline="-25000" dirty="0">
                <a:sym typeface="Symbol" panose="05050102010706020507" charset="2"/>
              </a:rPr>
              <a:t>A </a:t>
            </a:r>
            <a:r>
              <a:rPr lang="en-US" altLang="en-US" sz="2400" dirty="0">
                <a:sym typeface="Symbol" panose="05050102010706020507" charset="2"/>
              </a:rPr>
              <a:t>(</a:t>
            </a:r>
            <a:r>
              <a:rPr lang="en-US" altLang="en-US" sz="2400" i="1" dirty="0">
                <a:sym typeface="Symbol" panose="05050102010706020507" charset="2"/>
              </a:rPr>
              <a:t>r</a:t>
            </a:r>
            <a:r>
              <a:rPr lang="en-US" altLang="en-US" sz="2400" baseline="-25000" dirty="0">
                <a:sym typeface="Symbol" panose="05050102010706020507" charset="2"/>
              </a:rPr>
              <a:t>1</a:t>
            </a:r>
            <a:r>
              <a:rPr lang="en-US" altLang="en-US" sz="2400" dirty="0">
                <a:sym typeface="Symbol" panose="05050102010706020507" charset="2"/>
              </a:rPr>
              <a:t>) where </a:t>
            </a:r>
            <a:r>
              <a:rPr lang="en-US" altLang="en-US" sz="2400" i="1" baseline="-25000" dirty="0">
                <a:sym typeface="Symbol" panose="05050102010706020507" charset="2"/>
              </a:rPr>
              <a:t>A </a:t>
            </a:r>
            <a:r>
              <a:rPr lang="en-US" altLang="en-US" sz="2400" dirty="0">
                <a:sym typeface="Symbol" panose="05050102010706020507" charset="2"/>
              </a:rPr>
              <a:t>(</a:t>
            </a:r>
            <a:r>
              <a:rPr lang="en-US" altLang="en-US" sz="2400" i="1" dirty="0">
                <a:sym typeface="Symbol" panose="05050102010706020507" charset="2"/>
              </a:rPr>
              <a:t>t</a:t>
            </a:r>
            <a:r>
              <a:rPr lang="en-US" altLang="en-US" sz="2400" baseline="-25000" dirty="0">
                <a:sym typeface="Symbol" panose="05050102010706020507" charset="2"/>
              </a:rPr>
              <a:t>1</a:t>
            </a:r>
            <a:r>
              <a:rPr lang="en-US" altLang="en-US" sz="2400" dirty="0">
                <a:sym typeface="Symbol" panose="05050102010706020507" charset="2"/>
              </a:rPr>
              <a:t>) denotes the projection of the single tuple </a:t>
            </a:r>
            <a:r>
              <a:rPr lang="en-US" altLang="en-US" sz="2400" i="1" dirty="0">
                <a:sym typeface="Symbol" panose="05050102010706020507" charset="2"/>
              </a:rPr>
              <a:t>t</a:t>
            </a:r>
            <a:r>
              <a:rPr lang="en-US" altLang="en-US" sz="2400" i="1" baseline="-25000" dirty="0">
                <a:sym typeface="Symbol" panose="05050102010706020507" charset="2"/>
              </a:rPr>
              <a:t>1</a:t>
            </a:r>
            <a:r>
              <a:rPr lang="en-US" altLang="en-US" sz="2400" i="1" dirty="0">
                <a:sym typeface="Symbol" panose="05050102010706020507" charset="2"/>
              </a:rPr>
              <a:t>.</a:t>
            </a:r>
            <a:endParaRPr lang="en-US" altLang="en-US" sz="2400" i="1" dirty="0">
              <a:sym typeface="Symbol" panose="05050102010706020507" charset="2"/>
            </a:endParaRPr>
          </a:p>
          <a:p>
            <a:pPr lvl="1">
              <a:buNone/>
            </a:pPr>
            <a:r>
              <a:rPr lang="en-US" altLang="en-US" sz="2400" dirty="0">
                <a:sym typeface="Symbol" panose="05050102010706020507" charset="2"/>
              </a:rPr>
              <a:t>3.	 </a:t>
            </a:r>
            <a:r>
              <a:rPr lang="en-US" altLang="en-US" sz="2400" b="1" i="1" dirty="0">
                <a:sym typeface="Symbol" panose="05050102010706020507" charset="2"/>
              </a:rPr>
              <a:t>r</a:t>
            </a:r>
            <a:r>
              <a:rPr lang="en-US" altLang="en-US" sz="2400" b="1" baseline="-25000" dirty="0">
                <a:sym typeface="Symbol" panose="05050102010706020507" charset="2"/>
              </a:rPr>
              <a:t>1 </a:t>
            </a:r>
            <a:r>
              <a:rPr lang="en-US" altLang="en-US" sz="2400" b="1" dirty="0">
                <a:sym typeface="Symbol" panose="05050102010706020507" charset="2"/>
              </a:rPr>
              <a:t> x </a:t>
            </a:r>
            <a:r>
              <a:rPr lang="en-US" altLang="en-US" sz="2400" b="1" i="1" dirty="0"/>
              <a:t>r</a:t>
            </a:r>
            <a:r>
              <a:rPr lang="en-US" altLang="en-US" sz="2400" b="1" baseline="-25000" dirty="0"/>
              <a:t>2</a:t>
            </a:r>
            <a:r>
              <a:rPr lang="en-US" altLang="en-US" sz="2400" b="1" dirty="0">
                <a:sym typeface="Symbol" panose="05050102010706020507" charset="2"/>
              </a:rPr>
              <a:t>:</a:t>
            </a:r>
            <a:r>
              <a:rPr lang="en-US" altLang="en-US" sz="2400" dirty="0">
                <a:sym typeface="Symbol" panose="05050102010706020507" charset="2"/>
              </a:rPr>
              <a:t> If there are </a:t>
            </a:r>
            <a:r>
              <a:rPr lang="en-US" altLang="en-US" sz="2400" i="1" dirty="0">
                <a:solidFill>
                  <a:srgbClr val="FF0000"/>
                </a:solidFill>
                <a:sym typeface="Symbol" panose="05050102010706020507" charset="2"/>
              </a:rPr>
              <a:t>c</a:t>
            </a:r>
            <a:r>
              <a:rPr lang="en-US" altLang="en-US" sz="2400" baseline="-25000" dirty="0">
                <a:solidFill>
                  <a:srgbClr val="FF0000"/>
                </a:solidFill>
                <a:sym typeface="Symbol" panose="05050102010706020507" charset="2"/>
              </a:rPr>
              <a:t>1</a:t>
            </a:r>
            <a:r>
              <a:rPr lang="en-US" altLang="en-US" sz="2400" dirty="0">
                <a:sym typeface="Symbol" panose="05050102010706020507" charset="2"/>
              </a:rPr>
              <a:t> copies of tuple </a:t>
            </a:r>
            <a:r>
              <a:rPr lang="en-US" altLang="en-US" sz="2400" i="1" dirty="0">
                <a:sym typeface="Symbol" panose="05050102010706020507" charset="2"/>
              </a:rPr>
              <a:t>t</a:t>
            </a:r>
            <a:r>
              <a:rPr lang="en-US" altLang="en-US" sz="2400" i="1" baseline="-25000" dirty="0">
                <a:sym typeface="Symbol" panose="05050102010706020507" charset="2"/>
              </a:rPr>
              <a:t>1</a:t>
            </a:r>
            <a:r>
              <a:rPr lang="en-US" altLang="en-US" sz="2400" i="1" dirty="0">
                <a:sym typeface="Symbol" panose="05050102010706020507" charset="2"/>
              </a:rPr>
              <a:t> </a:t>
            </a:r>
            <a:r>
              <a:rPr lang="en-US" altLang="en-US" sz="2400" dirty="0">
                <a:sym typeface="Symbol" panose="05050102010706020507" charset="2"/>
              </a:rPr>
              <a:t>in </a:t>
            </a:r>
            <a:r>
              <a:rPr lang="en-US" altLang="en-US" sz="2400" i="1" dirty="0">
                <a:sym typeface="Symbol" panose="05050102010706020507" charset="2"/>
              </a:rPr>
              <a:t>r</a:t>
            </a:r>
            <a:r>
              <a:rPr lang="en-US" altLang="en-US" sz="2400" baseline="-25000" dirty="0">
                <a:sym typeface="Symbol" panose="05050102010706020507" charset="2"/>
              </a:rPr>
              <a:t>1</a:t>
            </a:r>
            <a:r>
              <a:rPr lang="en-US" altLang="en-US" sz="2400" dirty="0">
                <a:sym typeface="Symbol" panose="05050102010706020507" charset="2"/>
              </a:rPr>
              <a:t> and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charset="2"/>
              </a:rPr>
              <a:t> </a:t>
            </a:r>
            <a:r>
              <a:rPr lang="en-US" altLang="en-US" sz="2400" i="1" dirty="0">
                <a:solidFill>
                  <a:srgbClr val="FF0000"/>
                </a:solidFill>
                <a:sym typeface="Symbol" panose="05050102010706020507" charset="2"/>
              </a:rPr>
              <a:t>c</a:t>
            </a:r>
            <a:r>
              <a:rPr lang="en-US" altLang="en-US" sz="2400" baseline="-25000" dirty="0">
                <a:solidFill>
                  <a:srgbClr val="FF0000"/>
                </a:solidFill>
                <a:sym typeface="Symbol" panose="05050102010706020507" charset="2"/>
              </a:rPr>
              <a:t>2</a:t>
            </a:r>
            <a:r>
              <a:rPr lang="en-US" altLang="en-US" sz="2400" dirty="0">
                <a:sym typeface="Symbol" panose="05050102010706020507" charset="2"/>
              </a:rPr>
              <a:t> copies of tuple </a:t>
            </a:r>
            <a:r>
              <a:rPr lang="en-US" altLang="en-US" sz="2400" i="1" dirty="0">
                <a:sym typeface="Symbol" panose="05050102010706020507" charset="2"/>
              </a:rPr>
              <a:t>t</a:t>
            </a:r>
            <a:r>
              <a:rPr lang="en-US" altLang="en-US" sz="2400" baseline="-25000" dirty="0">
                <a:sym typeface="Symbol" panose="05050102010706020507" charset="2"/>
              </a:rPr>
              <a:t>2</a:t>
            </a:r>
            <a:r>
              <a:rPr lang="en-US" altLang="en-US" sz="2400" dirty="0">
                <a:sym typeface="Symbol" panose="05050102010706020507" charset="2"/>
              </a:rPr>
              <a:t> in </a:t>
            </a:r>
            <a:r>
              <a:rPr lang="en-US" altLang="en-US" sz="2400" i="1" dirty="0">
                <a:sym typeface="Symbol" panose="05050102010706020507" charset="2"/>
              </a:rPr>
              <a:t>r</a:t>
            </a:r>
            <a:r>
              <a:rPr lang="en-US" altLang="en-US" sz="2400" baseline="-25000" dirty="0">
                <a:sym typeface="Symbol" panose="05050102010706020507" charset="2"/>
              </a:rPr>
              <a:t>2</a:t>
            </a:r>
            <a:r>
              <a:rPr lang="en-US" altLang="en-US" sz="2400" dirty="0">
                <a:sym typeface="Symbol" panose="05050102010706020507" charset="2"/>
              </a:rPr>
              <a:t>, there are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charset="2"/>
              </a:rPr>
              <a:t> </a:t>
            </a:r>
            <a:r>
              <a:rPr lang="en-US" altLang="en-US" sz="2400" i="1" dirty="0">
                <a:solidFill>
                  <a:srgbClr val="FF0000"/>
                </a:solidFill>
                <a:sym typeface="Symbol" panose="05050102010706020507" charset="2"/>
              </a:rPr>
              <a:t>c</a:t>
            </a:r>
            <a:r>
              <a:rPr lang="en-US" altLang="en-US" sz="2400" baseline="-25000" dirty="0">
                <a:solidFill>
                  <a:srgbClr val="FF0000"/>
                </a:solidFill>
                <a:sym typeface="Symbol" panose="05050102010706020507" charset="2"/>
              </a:rPr>
              <a:t>1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charset="2"/>
              </a:rPr>
              <a:t> x </a:t>
            </a:r>
            <a:r>
              <a:rPr lang="en-US" altLang="en-US" sz="2400" i="1" dirty="0">
                <a:solidFill>
                  <a:srgbClr val="FF0000"/>
                </a:solidFill>
                <a:sym typeface="Symbol" panose="05050102010706020507" charset="2"/>
              </a:rPr>
              <a:t>c</a:t>
            </a:r>
            <a:r>
              <a:rPr lang="en-US" altLang="en-US" sz="2400" baseline="-25000" dirty="0">
                <a:solidFill>
                  <a:srgbClr val="FF0000"/>
                </a:solidFill>
                <a:sym typeface="Symbol" panose="05050102010706020507" charset="2"/>
              </a:rPr>
              <a:t>2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charset="2"/>
              </a:rPr>
              <a:t> copies of the tuple </a:t>
            </a:r>
            <a:r>
              <a:rPr lang="en-US" altLang="en-US" sz="2400" i="1" dirty="0">
                <a:solidFill>
                  <a:srgbClr val="FF0000"/>
                </a:solidFill>
                <a:sym typeface="Symbol" panose="05050102010706020507" charset="2"/>
              </a:rPr>
              <a:t>t</a:t>
            </a:r>
            <a:r>
              <a:rPr lang="en-US" altLang="en-US" sz="2400" i="1" baseline="-25000" dirty="0">
                <a:solidFill>
                  <a:srgbClr val="FF0000"/>
                </a:solidFill>
                <a:sym typeface="Symbol" panose="05050102010706020507" charset="2"/>
              </a:rPr>
              <a:t>1</a:t>
            </a:r>
            <a:r>
              <a:rPr lang="en-US" altLang="en-US" sz="2400" i="1" dirty="0">
                <a:solidFill>
                  <a:srgbClr val="FF0000"/>
                </a:solidFill>
                <a:sym typeface="Symbol" panose="05050102010706020507" charset="2"/>
              </a:rPr>
              <a:t>. t</a:t>
            </a:r>
            <a:r>
              <a:rPr lang="en-US" altLang="en-US" sz="2400" baseline="-25000" dirty="0">
                <a:solidFill>
                  <a:srgbClr val="FF0000"/>
                </a:solidFill>
                <a:sym typeface="Symbol" panose="05050102010706020507" charset="2"/>
              </a:rPr>
              <a:t>2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charset="2"/>
              </a:rPr>
              <a:t> </a:t>
            </a:r>
            <a:r>
              <a:rPr lang="en-US" altLang="en-US" sz="2400" dirty="0">
                <a:sym typeface="Symbol" panose="05050102010706020507" charset="2"/>
              </a:rPr>
              <a:t>in </a:t>
            </a:r>
            <a:r>
              <a:rPr lang="en-US" altLang="en-US" sz="2400" i="1" dirty="0">
                <a:sym typeface="Symbol" panose="05050102010706020507" charset="2"/>
              </a:rPr>
              <a:t>r</a:t>
            </a:r>
            <a:r>
              <a:rPr lang="en-US" altLang="en-US" sz="2400" baseline="-25000" dirty="0">
                <a:sym typeface="Symbol" panose="05050102010706020507" charset="2"/>
              </a:rPr>
              <a:t>1 </a:t>
            </a:r>
            <a:r>
              <a:rPr lang="en-US" altLang="en-US" sz="2400" dirty="0">
                <a:sym typeface="Symbol" panose="05050102010706020507" charset="2"/>
              </a:rPr>
              <a:t> x </a:t>
            </a:r>
            <a:r>
              <a:rPr lang="en-US" altLang="en-US" sz="2400" i="1" dirty="0"/>
              <a:t>r</a:t>
            </a:r>
            <a:r>
              <a:rPr lang="en-US" altLang="en-US" sz="2400" baseline="-25000" dirty="0"/>
              <a:t>2</a:t>
            </a:r>
            <a:endParaRPr lang="en-US" altLang="en-US" sz="2400" baseline="-25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Duplicates (Cont.)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052" name="Rectangle 3"/>
          <p:cNvSpPr>
            <a:spLocks noGrp="1"/>
          </p:cNvSpPr>
          <p:nvPr>
            <p:ph idx="1"/>
          </p:nvPr>
        </p:nvSpPr>
        <p:spPr>
          <a:xfrm>
            <a:off x="160655" y="1104900"/>
            <a:ext cx="8745855" cy="5237480"/>
          </a:xfrm>
        </p:spPr>
        <p:txBody>
          <a:bodyPr vert="horz" wrap="square" lIns="91440" tIns="45720" rIns="91440" bIns="45720" anchor="t"/>
          <a:lstStyle/>
          <a:p>
            <a:pPr defTabSz="0">
              <a:tabLst>
                <a:tab pos="1437005" algn="l"/>
                <a:tab pos="2176780" algn="l"/>
              </a:tabLst>
            </a:pPr>
            <a:r>
              <a:rPr lang="en-US" altLang="en-US" dirty="0"/>
              <a:t>Example: Suppose multiset relations 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 (</a:t>
            </a:r>
            <a:r>
              <a:rPr lang="en-US" altLang="en-US" i="1" dirty="0"/>
              <a:t>A, B</a:t>
            </a:r>
            <a:r>
              <a:rPr lang="en-US" altLang="en-US" dirty="0"/>
              <a:t>) and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 (</a:t>
            </a:r>
            <a:r>
              <a:rPr lang="en-US" altLang="en-US" i="1" dirty="0"/>
              <a:t>C</a:t>
            </a:r>
            <a:r>
              <a:rPr lang="en-US" altLang="en-US" dirty="0"/>
              <a:t>) are as follows:</a:t>
            </a:r>
            <a:endParaRPr lang="en-US" altLang="en-US" dirty="0"/>
          </a:p>
          <a:p>
            <a:pPr defTabSz="0">
              <a:buNone/>
              <a:tabLst>
                <a:tab pos="1437005" algn="l"/>
                <a:tab pos="2176780" algn="l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 = {(1, </a:t>
            </a:r>
            <a:r>
              <a:rPr lang="en-US" altLang="en-US" i="1" dirty="0"/>
              <a:t>a</a:t>
            </a:r>
            <a:r>
              <a:rPr lang="en-US" altLang="en-US" dirty="0"/>
              <a:t>) (2,</a:t>
            </a:r>
            <a:r>
              <a:rPr lang="en-US" altLang="en-US" i="1" dirty="0"/>
              <a:t>a</a:t>
            </a:r>
            <a:r>
              <a:rPr lang="en-US" altLang="en-US" dirty="0"/>
              <a:t>)}    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 = {(2), (3), (3)}</a:t>
            </a:r>
            <a:endParaRPr lang="en-US" altLang="en-US" dirty="0"/>
          </a:p>
          <a:p>
            <a:pPr defTabSz="0">
              <a:tabLst>
                <a:tab pos="1437005" algn="l"/>
                <a:tab pos="2176780" algn="l"/>
              </a:tabLst>
            </a:pPr>
            <a:r>
              <a:rPr lang="en-US" altLang="en-US" dirty="0"/>
              <a:t>Then </a:t>
            </a:r>
            <a:r>
              <a:rPr lang="en-US" altLang="en-US" dirty="0">
                <a:sym typeface="Symbol" panose="05050102010706020507" charset="2"/>
              </a:rPr>
              <a:t></a:t>
            </a:r>
            <a:r>
              <a:rPr lang="en-US" altLang="en-US" sz="2000" i="1" baseline="-25000" dirty="0">
                <a:sym typeface="Symbol" panose="05050102010706020507" charset="2"/>
              </a:rPr>
              <a:t>B</a:t>
            </a:r>
            <a:r>
              <a:rPr lang="en-US" altLang="en-US" dirty="0">
                <a:sym typeface="Symbol" panose="05050102010706020507" charset="2"/>
              </a:rPr>
              <a:t>(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) would be {(a), (a)}, while </a:t>
            </a:r>
            <a:r>
              <a:rPr lang="en-US" altLang="en-US" dirty="0">
                <a:sym typeface="Symbol" panose="05050102010706020507" charset="2"/>
              </a:rPr>
              <a:t></a:t>
            </a:r>
            <a:r>
              <a:rPr lang="en-US" altLang="en-US" sz="2000" i="1" baseline="-25000" dirty="0">
                <a:sym typeface="Symbol" panose="05050102010706020507" charset="2"/>
              </a:rPr>
              <a:t>B</a:t>
            </a:r>
            <a:r>
              <a:rPr lang="en-US" altLang="en-US" dirty="0">
                <a:sym typeface="Symbol" panose="05050102010706020507" charset="2"/>
              </a:rPr>
              <a:t>(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) x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 would be</a:t>
            </a:r>
            <a:endParaRPr lang="en-US" altLang="en-US" dirty="0"/>
          </a:p>
          <a:p>
            <a:pPr defTabSz="0">
              <a:buNone/>
              <a:tabLst>
                <a:tab pos="1437005" algn="l"/>
                <a:tab pos="2176780" algn="l"/>
              </a:tabLst>
            </a:pPr>
            <a:r>
              <a:rPr lang="en-US" altLang="en-US" dirty="0"/>
              <a:t>		{(</a:t>
            </a:r>
            <a:r>
              <a:rPr lang="en-US" altLang="en-US" i="1" dirty="0"/>
              <a:t>a</a:t>
            </a:r>
            <a:r>
              <a:rPr lang="en-US" altLang="en-US" dirty="0"/>
              <a:t>,2), (</a:t>
            </a:r>
            <a:r>
              <a:rPr lang="en-US" altLang="en-US" i="1" dirty="0"/>
              <a:t>a</a:t>
            </a:r>
            <a:r>
              <a:rPr lang="en-US" altLang="en-US" dirty="0"/>
              <a:t>,2), (</a:t>
            </a:r>
            <a:r>
              <a:rPr lang="en-US" altLang="en-US" i="1" dirty="0"/>
              <a:t>a</a:t>
            </a:r>
            <a:r>
              <a:rPr lang="en-US" altLang="en-US" dirty="0"/>
              <a:t>,3), (</a:t>
            </a:r>
            <a:r>
              <a:rPr lang="en-US" altLang="en-US" i="1" dirty="0"/>
              <a:t>a</a:t>
            </a:r>
            <a:r>
              <a:rPr lang="en-US" altLang="en-US" dirty="0"/>
              <a:t>,3), (</a:t>
            </a:r>
            <a:r>
              <a:rPr lang="en-US" altLang="en-US" i="1" dirty="0"/>
              <a:t>a</a:t>
            </a:r>
            <a:r>
              <a:rPr lang="en-US" altLang="en-US" dirty="0"/>
              <a:t>,3), (</a:t>
            </a:r>
            <a:r>
              <a:rPr lang="en-US" altLang="en-US" i="1" dirty="0"/>
              <a:t>a</a:t>
            </a:r>
            <a:r>
              <a:rPr lang="en-US" altLang="en-US" dirty="0"/>
              <a:t>,3)}</a:t>
            </a:r>
            <a:endParaRPr lang="en-US" altLang="en-US" dirty="0"/>
          </a:p>
          <a:p>
            <a:pPr defTabSz="0">
              <a:tabLst>
                <a:tab pos="1437005" algn="l"/>
                <a:tab pos="2176780" algn="l"/>
              </a:tabLst>
            </a:pPr>
            <a:r>
              <a:rPr lang="en-US" altLang="en-US" dirty="0">
                <a:solidFill>
                  <a:schemeClr val="bg1">
                    <a:lumMod val="25000"/>
                  </a:schemeClr>
                </a:solidFill>
              </a:rPr>
              <a:t>SQL duplicate semantics: </a:t>
            </a:r>
            <a:endParaRPr lang="en-US" altLang="en-US" dirty="0"/>
          </a:p>
          <a:p>
            <a:pPr defTabSz="0">
              <a:buNone/>
              <a:tabLst>
                <a:tab pos="1437005" algn="l"/>
                <a:tab pos="2176780" algn="l"/>
              </a:tabLst>
            </a:pPr>
            <a:r>
              <a:rPr lang="en-US" altLang="en-US" dirty="0"/>
              <a:t>		</a:t>
            </a:r>
            <a:r>
              <a:rPr lang="en-US" altLang="en-US" b="1" dirty="0"/>
              <a:t>select </a:t>
            </a:r>
            <a:r>
              <a:rPr lang="en-US" altLang="en-US" i="1" dirty="0"/>
              <a:t>A</a:t>
            </a:r>
            <a:r>
              <a:rPr lang="en-US" altLang="en-US" baseline="-25000" dirty="0"/>
              <a:t>1</a:t>
            </a:r>
            <a:r>
              <a:rPr lang="en-US" altLang="en-US" dirty="0"/>
              <a:t>,</a:t>
            </a:r>
            <a:r>
              <a:rPr lang="en-US" altLang="en-US" baseline="-25000" dirty="0"/>
              <a:t>, </a:t>
            </a:r>
            <a:r>
              <a:rPr lang="en-US" altLang="en-US" i="1" dirty="0"/>
              <a:t>A</a:t>
            </a:r>
            <a:r>
              <a:rPr lang="en-US" altLang="en-US" baseline="-25000" dirty="0"/>
              <a:t>2</a:t>
            </a:r>
            <a:r>
              <a:rPr lang="en-US" altLang="en-US" dirty="0"/>
              <a:t>, ..., </a:t>
            </a:r>
            <a:r>
              <a:rPr lang="en-US" altLang="en-US" i="1" dirty="0"/>
              <a:t>A</a:t>
            </a:r>
            <a:r>
              <a:rPr lang="en-US" altLang="en-US" sz="2000" i="1" baseline="-25000" dirty="0"/>
              <a:t>n</a:t>
            </a:r>
            <a:br>
              <a:rPr lang="en-US" altLang="en-US" i="1" dirty="0"/>
            </a:br>
            <a:r>
              <a:rPr lang="en-US" altLang="en-US" i="1" dirty="0"/>
              <a:t>	</a:t>
            </a:r>
            <a:r>
              <a:rPr lang="en-US" altLang="en-US" b="1" dirty="0"/>
              <a:t>from 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, ..., </a:t>
            </a:r>
            <a:r>
              <a:rPr lang="en-US" altLang="en-US" i="1" dirty="0"/>
              <a:t>r</a:t>
            </a:r>
            <a:r>
              <a:rPr lang="en-US" altLang="en-US" sz="2000" i="1" baseline="-25000" dirty="0"/>
              <a:t>m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b="1" dirty="0"/>
              <a:t>where </a:t>
            </a:r>
            <a:r>
              <a:rPr lang="en-US" altLang="en-US" i="1" dirty="0"/>
              <a:t>P</a:t>
            </a:r>
            <a:endParaRPr lang="en-US" altLang="en-US" i="1" dirty="0"/>
          </a:p>
          <a:p>
            <a:pPr defTabSz="0">
              <a:buNone/>
              <a:tabLst>
                <a:tab pos="1437005" algn="l"/>
                <a:tab pos="2176780" algn="l"/>
              </a:tabLst>
            </a:pPr>
            <a:r>
              <a:rPr lang="en-US" altLang="en-US" i="1" dirty="0"/>
              <a:t>	</a:t>
            </a:r>
            <a:r>
              <a:rPr lang="en-US" altLang="en-US" dirty="0"/>
              <a:t>is equivalent to the </a:t>
            </a:r>
            <a:r>
              <a:rPr lang="en-US" altLang="en-US" i="1" dirty="0"/>
              <a:t>multiset</a:t>
            </a:r>
            <a:r>
              <a:rPr lang="en-US" altLang="en-US" dirty="0"/>
              <a:t> version of the expression:</a:t>
            </a:r>
            <a:endParaRPr lang="en-US" altLang="en-US" dirty="0"/>
          </a:p>
          <a:p>
            <a:pPr defTabSz="0">
              <a:buNone/>
              <a:tabLst>
                <a:tab pos="1437005" algn="l"/>
                <a:tab pos="2176780" algn="l"/>
              </a:tabLst>
            </a:pPr>
            <a:r>
              <a:rPr lang="en-US" altLang="en-US" dirty="0"/>
              <a:t>		</a:t>
            </a:r>
            <a:endParaRPr lang="en-US" altLang="en-US" i="1" baseline="-25000" dirty="0"/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2288647" y="5695643"/>
          <a:ext cx="364013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3022600" imgH="355600" progId="Equations">
                  <p:embed/>
                </p:oleObj>
              </mc:Choice>
              <mc:Fallback>
                <p:oleObj name="" r:id="rId1" imgW="3022600" imgH="355600" progId="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88647" y="5695643"/>
                        <a:ext cx="3640138" cy="428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38100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Set Operations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1747" name="Rectangle 3"/>
          <p:cNvSpPr>
            <a:spLocks noGrp="1"/>
          </p:cNvSpPr>
          <p:nvPr>
            <p:ph idx="1"/>
          </p:nvPr>
        </p:nvSpPr>
        <p:spPr>
          <a:xfrm>
            <a:off x="277808" y="1108075"/>
            <a:ext cx="7661275" cy="511175"/>
          </a:xfrm>
        </p:spPr>
        <p:txBody>
          <a:bodyPr vert="horz" wrap="square" lIns="91440" tIns="45720" rIns="91440" bIns="45720" anchor="t"/>
          <a:lstStyle/>
          <a:p>
            <a:pPr defTabSz="0">
              <a:tabLst>
                <a:tab pos="1481455" algn="l"/>
              </a:tabLst>
            </a:pPr>
            <a:r>
              <a:rPr lang="en-US" altLang="en-US" dirty="0"/>
              <a:t>Find courses that ran in Fall 2009 or in Spring 2010</a:t>
            </a:r>
            <a:endParaRPr lang="en-US" altLang="en-US" dirty="0"/>
          </a:p>
        </p:txBody>
      </p:sp>
      <p:sp>
        <p:nvSpPr>
          <p:cNvPr id="31748" name="Text Box 4"/>
          <p:cNvSpPr txBox="1"/>
          <p:nvPr/>
        </p:nvSpPr>
        <p:spPr>
          <a:xfrm>
            <a:off x="282570" y="4222750"/>
            <a:ext cx="8417689" cy="46166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defPPr>
              <a:defRPr lang="en-US"/>
            </a:defPPr>
            <a:lvl1pPr marL="342900" indent="-342900" defTabSz="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tabLst>
                <a:tab pos="1481455" algn="l"/>
              </a:tabLst>
              <a:defRPr kumimoji="1" sz="2400">
                <a:latin typeface="Arial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 sz="2000">
                <a:latin typeface="Arial" panose="020B0604020202020204" pitchFamily="34" charset="0"/>
              </a:defRPr>
            </a:lvl2pPr>
            <a:lvl3pPr marL="108585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1800">
                <a:latin typeface="Arial" panose="020B0604020202020204" pitchFamily="34" charset="0"/>
              </a:defRPr>
            </a:lvl3pPr>
            <a:lvl4pPr marL="142875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1800">
                <a:latin typeface="Arial" panose="020B0604020202020204" pitchFamily="34" charset="0"/>
              </a:defRPr>
            </a:lvl4pPr>
            <a:lvl5pPr marL="177165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800">
                <a:latin typeface="Arial" panose="020B0604020202020204" pitchFamily="34" charset="0"/>
              </a:defRPr>
            </a:lvl5pPr>
            <a:lvl6pPr marL="222885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latin typeface="+mn-lt"/>
              </a:defRPr>
            </a:lvl6pPr>
            <a:lvl7pPr marL="268605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latin typeface="+mn-lt"/>
              </a:defRPr>
            </a:lvl7pPr>
            <a:lvl8pPr marL="314325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latin typeface="+mn-lt"/>
              </a:defRPr>
            </a:lvl8pPr>
            <a:lvl9pPr marL="360045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latin typeface="+mn-lt"/>
              </a:defRPr>
            </a:lvl9pPr>
          </a:lstStyle>
          <a:p>
            <a:r>
              <a:rPr lang="en-US" altLang="en-US" dirty="0"/>
              <a:t>   Find courses that ran in Fall 2009 but not in Spring 2010</a:t>
            </a:r>
            <a:endParaRPr lang="en-US" altLang="en-US" dirty="0"/>
          </a:p>
        </p:txBody>
      </p:sp>
      <p:sp>
        <p:nvSpPr>
          <p:cNvPr id="31749" name="Text Box 5"/>
          <p:cNvSpPr txBox="1"/>
          <p:nvPr/>
        </p:nvSpPr>
        <p:spPr>
          <a:xfrm>
            <a:off x="962553" y="1560513"/>
            <a:ext cx="7540625" cy="9159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lang="en-US" altLang="en-US" dirty="0">
                <a:latin typeface="Helvetica" panose="020B0604020202030204" pitchFamily="34" charset="0"/>
              </a:rPr>
              <a:t>(</a:t>
            </a:r>
            <a:r>
              <a:rPr lang="en-US" altLang="en-US" b="1" dirty="0">
                <a:latin typeface="Helvetica" panose="020B0604020202030204" pitchFamily="34" charset="0"/>
              </a:rPr>
              <a:t>select</a:t>
            </a:r>
            <a:r>
              <a:rPr lang="en-US" altLang="en-US" dirty="0">
                <a:latin typeface="Helvetica" panose="020B0604020202030204" pitchFamily="34" charset="0"/>
              </a:rPr>
              <a:t> </a:t>
            </a:r>
            <a:r>
              <a:rPr lang="en-US" altLang="en-US" i="1" dirty="0">
                <a:latin typeface="Helvetica" panose="020B0604020202030204" pitchFamily="34" charset="0"/>
              </a:rPr>
              <a:t>course_id </a:t>
            </a:r>
            <a:r>
              <a:rPr lang="en-US" altLang="en-US" b="1" dirty="0">
                <a:latin typeface="Helvetica" panose="020B0604020202030204" pitchFamily="34" charset="0"/>
              </a:rPr>
              <a:t>from </a:t>
            </a:r>
            <a:r>
              <a:rPr lang="en-US" altLang="en-US" i="1" dirty="0">
                <a:latin typeface="Helvetica" panose="020B0604020202030204" pitchFamily="34" charset="0"/>
              </a:rPr>
              <a:t>section </a:t>
            </a:r>
            <a:r>
              <a:rPr lang="en-US" altLang="en-US" b="1" dirty="0">
                <a:latin typeface="Helvetica" panose="020B0604020202030204" pitchFamily="34" charset="0"/>
              </a:rPr>
              <a:t>where </a:t>
            </a:r>
            <a:r>
              <a:rPr lang="en-US" altLang="en-US" i="1" dirty="0">
                <a:latin typeface="Helvetica" panose="020B0604020202030204" pitchFamily="34" charset="0"/>
              </a:rPr>
              <a:t>sem = </a:t>
            </a:r>
            <a:r>
              <a:rPr lang="en-US" altLang="en-US" dirty="0">
                <a:latin typeface="Helvetica" panose="020B0604020202030204" pitchFamily="34" charset="0"/>
              </a:rPr>
              <a:t>‘Fall’ </a:t>
            </a:r>
            <a:r>
              <a:rPr lang="en-US" altLang="en-US" b="1" dirty="0">
                <a:latin typeface="Helvetica" panose="020B0604020202030204" pitchFamily="34" charset="0"/>
              </a:rPr>
              <a:t>and </a:t>
            </a:r>
            <a:r>
              <a:rPr lang="en-US" altLang="en-US" i="1" dirty="0">
                <a:latin typeface="Helvetica" panose="020B0604020202030204" pitchFamily="34" charset="0"/>
              </a:rPr>
              <a:t>year = </a:t>
            </a:r>
            <a:r>
              <a:rPr lang="en-US" altLang="en-US" dirty="0">
                <a:latin typeface="Helvetica" panose="020B0604020202030204" pitchFamily="34" charset="0"/>
              </a:rPr>
              <a:t>2009)</a:t>
            </a:r>
            <a:br>
              <a:rPr lang="en-US" altLang="en-US" dirty="0">
                <a:latin typeface="Helvetica" panose="020B0604020202030204" pitchFamily="34" charset="0"/>
              </a:rPr>
            </a:br>
            <a:r>
              <a:rPr lang="en-US" altLang="en-US" dirty="0">
                <a:latin typeface="Helvetica" panose="020B0604020202030204" pitchFamily="34" charset="0"/>
              </a:rPr>
              <a:t> </a:t>
            </a:r>
            <a:r>
              <a:rPr lang="en-US" altLang="en-US" b="1" dirty="0">
                <a:solidFill>
                  <a:srgbClr val="FF0000"/>
                </a:solidFill>
                <a:latin typeface="Helvetica" panose="020B0604020202030204" pitchFamily="34" charset="0"/>
              </a:rPr>
              <a:t>union</a:t>
            </a:r>
            <a:br>
              <a:rPr lang="en-US" altLang="en-US" b="1" dirty="0">
                <a:solidFill>
                  <a:srgbClr val="FF0000"/>
                </a:solidFill>
                <a:latin typeface="Helvetica" panose="020B0604020202030204" pitchFamily="34" charset="0"/>
              </a:rPr>
            </a:br>
            <a:r>
              <a:rPr lang="en-US" altLang="en-US" dirty="0">
                <a:latin typeface="Helvetica" panose="020B0604020202030204" pitchFamily="34" charset="0"/>
              </a:rPr>
              <a:t>(</a:t>
            </a:r>
            <a:r>
              <a:rPr lang="en-US" altLang="en-US" b="1" dirty="0">
                <a:latin typeface="Helvetica" panose="020B0604020202030204" pitchFamily="34" charset="0"/>
              </a:rPr>
              <a:t>select</a:t>
            </a:r>
            <a:r>
              <a:rPr lang="en-US" altLang="en-US" dirty="0">
                <a:latin typeface="Helvetica" panose="020B0604020202030204" pitchFamily="34" charset="0"/>
              </a:rPr>
              <a:t> </a:t>
            </a:r>
            <a:r>
              <a:rPr lang="en-US" altLang="en-US" i="1" dirty="0">
                <a:latin typeface="Helvetica" panose="020B0604020202030204" pitchFamily="34" charset="0"/>
              </a:rPr>
              <a:t>course_id </a:t>
            </a:r>
            <a:r>
              <a:rPr lang="en-US" altLang="en-US" b="1" dirty="0">
                <a:latin typeface="Helvetica" panose="020B0604020202030204" pitchFamily="34" charset="0"/>
              </a:rPr>
              <a:t>from </a:t>
            </a:r>
            <a:r>
              <a:rPr lang="en-US" altLang="en-US" i="1" dirty="0">
                <a:latin typeface="Helvetica" panose="020B0604020202030204" pitchFamily="34" charset="0"/>
              </a:rPr>
              <a:t>section </a:t>
            </a:r>
            <a:r>
              <a:rPr lang="en-US" altLang="en-US" b="1" dirty="0">
                <a:latin typeface="Helvetica" panose="020B0604020202030204" pitchFamily="34" charset="0"/>
              </a:rPr>
              <a:t>where </a:t>
            </a:r>
            <a:r>
              <a:rPr lang="en-US" altLang="en-US" i="1" dirty="0">
                <a:latin typeface="Helvetica" panose="020B0604020202030204" pitchFamily="34" charset="0"/>
              </a:rPr>
              <a:t>sem = </a:t>
            </a:r>
            <a:r>
              <a:rPr lang="en-US" altLang="en-US" dirty="0">
                <a:latin typeface="Helvetica" panose="020B0604020202030204" pitchFamily="34" charset="0"/>
              </a:rPr>
              <a:t>‘Spring’ </a:t>
            </a:r>
            <a:r>
              <a:rPr lang="en-US" altLang="en-US" b="1" dirty="0">
                <a:latin typeface="Helvetica" panose="020B0604020202030204" pitchFamily="34" charset="0"/>
              </a:rPr>
              <a:t>and </a:t>
            </a:r>
            <a:r>
              <a:rPr lang="en-US" altLang="en-US" i="1" dirty="0">
                <a:latin typeface="Helvetica" panose="020B0604020202030204" pitchFamily="34" charset="0"/>
              </a:rPr>
              <a:t>year = </a:t>
            </a:r>
            <a:r>
              <a:rPr lang="en-US" altLang="en-US" dirty="0">
                <a:latin typeface="Helvetica" panose="020B0604020202030204" pitchFamily="34" charset="0"/>
              </a:rPr>
              <a:t>2010)</a:t>
            </a:r>
            <a:endParaRPr lang="en-US" altLang="en-US" dirty="0">
              <a:latin typeface="Helvetica" panose="020B0604020202030204" pitchFamily="34" charset="0"/>
            </a:endParaRPr>
          </a:p>
        </p:txBody>
      </p:sp>
      <p:sp>
        <p:nvSpPr>
          <p:cNvPr id="31750" name="Text Box 6"/>
          <p:cNvSpPr txBox="1"/>
          <p:nvPr/>
        </p:nvSpPr>
        <p:spPr>
          <a:xfrm>
            <a:off x="311145" y="2678113"/>
            <a:ext cx="7930376" cy="46166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342900" indent="-342900" defTabSz="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tabLst>
                <a:tab pos="1481455" algn="l"/>
              </a:tabLst>
              <a:defRPr kumimoji="1" sz="2400">
                <a:latin typeface="Arial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 sz="2000">
                <a:latin typeface="Arial" panose="020B0604020202020204" pitchFamily="34" charset="0"/>
              </a:defRPr>
            </a:lvl2pPr>
            <a:lvl3pPr marL="108585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1800">
                <a:latin typeface="Arial" panose="020B0604020202020204" pitchFamily="34" charset="0"/>
              </a:defRPr>
            </a:lvl3pPr>
            <a:lvl4pPr marL="142875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1800">
                <a:latin typeface="Arial" panose="020B0604020202020204" pitchFamily="34" charset="0"/>
              </a:defRPr>
            </a:lvl4pPr>
            <a:lvl5pPr marL="177165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1800">
                <a:latin typeface="Arial" panose="020B0604020202020204" pitchFamily="34" charset="0"/>
              </a:defRPr>
            </a:lvl5pPr>
            <a:lvl6pPr marL="222885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latin typeface="+mn-lt"/>
              </a:defRPr>
            </a:lvl6pPr>
            <a:lvl7pPr marL="268605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latin typeface="+mn-lt"/>
              </a:defRPr>
            </a:lvl7pPr>
            <a:lvl8pPr marL="314325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latin typeface="+mn-lt"/>
              </a:defRPr>
            </a:lvl8pPr>
            <a:lvl9pPr marL="360045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latin typeface="+mn-lt"/>
              </a:defRPr>
            </a:lvl9pPr>
          </a:lstStyle>
          <a:p>
            <a:r>
              <a:rPr lang="en-US" altLang="en-US" dirty="0"/>
              <a:t>  Find courses that ran in Fall 2009 and in Spring 2010</a:t>
            </a:r>
            <a:endParaRPr lang="en-US" altLang="en-US" dirty="0"/>
          </a:p>
        </p:txBody>
      </p:sp>
      <p:sp>
        <p:nvSpPr>
          <p:cNvPr id="31751" name="Text Box 7"/>
          <p:cNvSpPr txBox="1"/>
          <p:nvPr/>
        </p:nvSpPr>
        <p:spPr>
          <a:xfrm>
            <a:off x="972078" y="3237142"/>
            <a:ext cx="7540625" cy="9159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lang="en-US" altLang="en-US" dirty="0">
                <a:latin typeface="Helvetica" panose="020B0604020202030204" pitchFamily="34" charset="0"/>
              </a:rPr>
              <a:t>(</a:t>
            </a:r>
            <a:r>
              <a:rPr lang="en-US" altLang="en-US" b="1" dirty="0">
                <a:latin typeface="Helvetica" panose="020B0604020202030204" pitchFamily="34" charset="0"/>
              </a:rPr>
              <a:t>select</a:t>
            </a:r>
            <a:r>
              <a:rPr lang="en-US" altLang="en-US" dirty="0">
                <a:latin typeface="Helvetica" panose="020B0604020202030204" pitchFamily="34" charset="0"/>
              </a:rPr>
              <a:t> </a:t>
            </a:r>
            <a:r>
              <a:rPr lang="en-US" altLang="en-US" i="1" dirty="0">
                <a:latin typeface="Helvetica" panose="020B0604020202030204" pitchFamily="34" charset="0"/>
              </a:rPr>
              <a:t>course_id </a:t>
            </a:r>
            <a:r>
              <a:rPr lang="en-US" altLang="en-US" b="1" dirty="0">
                <a:latin typeface="Helvetica" panose="020B0604020202030204" pitchFamily="34" charset="0"/>
              </a:rPr>
              <a:t>from </a:t>
            </a:r>
            <a:r>
              <a:rPr lang="en-US" altLang="en-US" i="1" dirty="0">
                <a:latin typeface="Helvetica" panose="020B0604020202030204" pitchFamily="34" charset="0"/>
              </a:rPr>
              <a:t>section </a:t>
            </a:r>
            <a:r>
              <a:rPr lang="en-US" altLang="en-US" b="1" dirty="0">
                <a:latin typeface="Helvetica" panose="020B0604020202030204" pitchFamily="34" charset="0"/>
              </a:rPr>
              <a:t>where </a:t>
            </a:r>
            <a:r>
              <a:rPr lang="en-US" altLang="en-US" i="1" dirty="0">
                <a:latin typeface="Helvetica" panose="020B0604020202030204" pitchFamily="34" charset="0"/>
              </a:rPr>
              <a:t>sem = </a:t>
            </a:r>
            <a:r>
              <a:rPr lang="en-US" altLang="en-US" dirty="0">
                <a:latin typeface="Helvetica" panose="020B0604020202030204" pitchFamily="34" charset="0"/>
              </a:rPr>
              <a:t>‘Fall’ </a:t>
            </a:r>
            <a:r>
              <a:rPr lang="en-US" altLang="en-US" b="1" dirty="0">
                <a:latin typeface="Helvetica" panose="020B0604020202030204" pitchFamily="34" charset="0"/>
              </a:rPr>
              <a:t>and </a:t>
            </a:r>
            <a:r>
              <a:rPr lang="en-US" altLang="en-US" i="1" dirty="0">
                <a:latin typeface="Helvetica" panose="020B0604020202030204" pitchFamily="34" charset="0"/>
              </a:rPr>
              <a:t>year = </a:t>
            </a:r>
            <a:r>
              <a:rPr lang="en-US" altLang="en-US" dirty="0">
                <a:latin typeface="Helvetica" panose="020B0604020202030204" pitchFamily="34" charset="0"/>
              </a:rPr>
              <a:t>2009)</a:t>
            </a:r>
            <a:br>
              <a:rPr lang="en-US" altLang="en-US" dirty="0">
                <a:latin typeface="Helvetica" panose="020B0604020202030204" pitchFamily="34" charset="0"/>
              </a:rPr>
            </a:br>
            <a:r>
              <a:rPr lang="en-US" altLang="en-US" dirty="0">
                <a:solidFill>
                  <a:srgbClr val="FF0000"/>
                </a:solidFill>
                <a:latin typeface="Helvetica" panose="020B0604020202030204" pitchFamily="34" charset="0"/>
              </a:rPr>
              <a:t> </a:t>
            </a:r>
            <a:r>
              <a:rPr lang="en-US" altLang="en-US" b="1" dirty="0">
                <a:solidFill>
                  <a:srgbClr val="FF0000"/>
                </a:solidFill>
                <a:latin typeface="Helvetica" panose="020B0604020202030204" pitchFamily="34" charset="0"/>
              </a:rPr>
              <a:t>intersect</a:t>
            </a:r>
            <a:br>
              <a:rPr lang="en-US" altLang="en-US" b="1" dirty="0">
                <a:solidFill>
                  <a:srgbClr val="FF0000"/>
                </a:solidFill>
                <a:latin typeface="Helvetica" panose="020B0604020202030204" pitchFamily="34" charset="0"/>
              </a:rPr>
            </a:br>
            <a:r>
              <a:rPr lang="en-US" altLang="en-US" dirty="0">
                <a:latin typeface="Helvetica" panose="020B0604020202030204" pitchFamily="34" charset="0"/>
              </a:rPr>
              <a:t>(</a:t>
            </a:r>
            <a:r>
              <a:rPr lang="en-US" altLang="en-US" b="1" dirty="0">
                <a:latin typeface="Helvetica" panose="020B0604020202030204" pitchFamily="34" charset="0"/>
              </a:rPr>
              <a:t>select</a:t>
            </a:r>
            <a:r>
              <a:rPr lang="en-US" altLang="en-US" dirty="0">
                <a:latin typeface="Helvetica" panose="020B0604020202030204" pitchFamily="34" charset="0"/>
              </a:rPr>
              <a:t> </a:t>
            </a:r>
            <a:r>
              <a:rPr lang="en-US" altLang="en-US" i="1" dirty="0">
                <a:latin typeface="Helvetica" panose="020B0604020202030204" pitchFamily="34" charset="0"/>
              </a:rPr>
              <a:t>course_id </a:t>
            </a:r>
            <a:r>
              <a:rPr lang="en-US" altLang="en-US" b="1" dirty="0">
                <a:latin typeface="Helvetica" panose="020B0604020202030204" pitchFamily="34" charset="0"/>
              </a:rPr>
              <a:t>from </a:t>
            </a:r>
            <a:r>
              <a:rPr lang="en-US" altLang="en-US" i="1" dirty="0">
                <a:latin typeface="Helvetica" panose="020B0604020202030204" pitchFamily="34" charset="0"/>
              </a:rPr>
              <a:t>section </a:t>
            </a:r>
            <a:r>
              <a:rPr lang="en-US" altLang="en-US" b="1" dirty="0">
                <a:latin typeface="Helvetica" panose="020B0604020202030204" pitchFamily="34" charset="0"/>
              </a:rPr>
              <a:t>where </a:t>
            </a:r>
            <a:r>
              <a:rPr lang="en-US" altLang="en-US" i="1" dirty="0">
                <a:latin typeface="Helvetica" panose="020B0604020202030204" pitchFamily="34" charset="0"/>
              </a:rPr>
              <a:t>sem = </a:t>
            </a:r>
            <a:r>
              <a:rPr lang="en-US" altLang="en-US" dirty="0">
                <a:latin typeface="Helvetica" panose="020B0604020202030204" pitchFamily="34" charset="0"/>
              </a:rPr>
              <a:t>‘Spring’ </a:t>
            </a:r>
            <a:r>
              <a:rPr lang="en-US" altLang="en-US" b="1" dirty="0">
                <a:latin typeface="Helvetica" panose="020B0604020202030204" pitchFamily="34" charset="0"/>
              </a:rPr>
              <a:t>and </a:t>
            </a:r>
            <a:r>
              <a:rPr lang="en-US" altLang="en-US" i="1" dirty="0">
                <a:latin typeface="Helvetica" panose="020B0604020202030204" pitchFamily="34" charset="0"/>
              </a:rPr>
              <a:t>year = </a:t>
            </a:r>
            <a:r>
              <a:rPr lang="en-US" altLang="en-US" dirty="0">
                <a:latin typeface="Helvetica" panose="020B0604020202030204" pitchFamily="34" charset="0"/>
              </a:rPr>
              <a:t>2010)</a:t>
            </a:r>
            <a:endParaRPr lang="en-US" altLang="en-US" dirty="0">
              <a:latin typeface="Helvetica" panose="020B0604020202030204" pitchFamily="34" charset="0"/>
            </a:endParaRPr>
          </a:p>
        </p:txBody>
      </p:sp>
      <p:sp>
        <p:nvSpPr>
          <p:cNvPr id="31752" name="Text Box 8"/>
          <p:cNvSpPr txBox="1"/>
          <p:nvPr/>
        </p:nvSpPr>
        <p:spPr>
          <a:xfrm>
            <a:off x="987953" y="4659313"/>
            <a:ext cx="7540625" cy="9159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lang="en-US" altLang="en-US" dirty="0">
                <a:latin typeface="Helvetica" panose="020B0604020202030204" pitchFamily="34" charset="0"/>
              </a:rPr>
              <a:t>(</a:t>
            </a:r>
            <a:r>
              <a:rPr lang="en-US" altLang="en-US" b="1" dirty="0">
                <a:latin typeface="Helvetica" panose="020B0604020202030204" pitchFamily="34" charset="0"/>
              </a:rPr>
              <a:t>select</a:t>
            </a:r>
            <a:r>
              <a:rPr lang="en-US" altLang="en-US" dirty="0">
                <a:latin typeface="Helvetica" panose="020B0604020202030204" pitchFamily="34" charset="0"/>
              </a:rPr>
              <a:t> </a:t>
            </a:r>
            <a:r>
              <a:rPr lang="en-US" altLang="en-US" i="1" dirty="0">
                <a:latin typeface="Helvetica" panose="020B0604020202030204" pitchFamily="34" charset="0"/>
              </a:rPr>
              <a:t>course_id </a:t>
            </a:r>
            <a:r>
              <a:rPr lang="en-US" altLang="en-US" b="1" dirty="0">
                <a:latin typeface="Helvetica" panose="020B0604020202030204" pitchFamily="34" charset="0"/>
              </a:rPr>
              <a:t>from </a:t>
            </a:r>
            <a:r>
              <a:rPr lang="en-US" altLang="en-US" i="1" dirty="0">
                <a:latin typeface="Helvetica" panose="020B0604020202030204" pitchFamily="34" charset="0"/>
              </a:rPr>
              <a:t>section </a:t>
            </a:r>
            <a:r>
              <a:rPr lang="en-US" altLang="en-US" b="1" dirty="0">
                <a:latin typeface="Helvetica" panose="020B0604020202030204" pitchFamily="34" charset="0"/>
              </a:rPr>
              <a:t>where </a:t>
            </a:r>
            <a:r>
              <a:rPr lang="en-US" altLang="en-US" i="1" dirty="0">
                <a:latin typeface="Helvetica" panose="020B0604020202030204" pitchFamily="34" charset="0"/>
              </a:rPr>
              <a:t>sem = </a:t>
            </a:r>
            <a:r>
              <a:rPr lang="en-US" altLang="en-US" dirty="0">
                <a:latin typeface="Helvetica" panose="020B0604020202030204" pitchFamily="34" charset="0"/>
              </a:rPr>
              <a:t>‘Fall’ </a:t>
            </a:r>
            <a:r>
              <a:rPr lang="en-US" altLang="en-US" b="1" dirty="0">
                <a:latin typeface="Helvetica" panose="020B0604020202030204" pitchFamily="34" charset="0"/>
              </a:rPr>
              <a:t>and </a:t>
            </a:r>
            <a:r>
              <a:rPr lang="en-US" altLang="en-US" i="1" dirty="0">
                <a:latin typeface="Helvetica" panose="020B0604020202030204" pitchFamily="34" charset="0"/>
              </a:rPr>
              <a:t>year = </a:t>
            </a:r>
            <a:r>
              <a:rPr lang="en-US" altLang="en-US" dirty="0">
                <a:latin typeface="Helvetica" panose="020B0604020202030204" pitchFamily="34" charset="0"/>
              </a:rPr>
              <a:t>2009)</a:t>
            </a:r>
            <a:br>
              <a:rPr lang="en-US" altLang="en-US" dirty="0">
                <a:latin typeface="Helvetica" panose="020B0604020202030204" pitchFamily="34" charset="0"/>
              </a:rPr>
            </a:br>
            <a:r>
              <a:rPr lang="en-US" altLang="en-US" dirty="0">
                <a:latin typeface="Helvetica" panose="020B0604020202030204" pitchFamily="34" charset="0"/>
              </a:rPr>
              <a:t> </a:t>
            </a:r>
            <a:r>
              <a:rPr lang="en-US" altLang="en-US" b="1" dirty="0">
                <a:solidFill>
                  <a:srgbClr val="FF0000"/>
                </a:solidFill>
                <a:latin typeface="Helvetica" panose="020B0604020202030204" pitchFamily="34" charset="0"/>
              </a:rPr>
              <a:t>except</a:t>
            </a:r>
            <a:br>
              <a:rPr lang="en-US" altLang="en-US" b="1" dirty="0">
                <a:solidFill>
                  <a:srgbClr val="FF0000"/>
                </a:solidFill>
                <a:latin typeface="Helvetica" panose="020B0604020202030204" pitchFamily="34" charset="0"/>
              </a:rPr>
            </a:br>
            <a:r>
              <a:rPr lang="en-US" altLang="en-US" dirty="0">
                <a:latin typeface="Helvetica" panose="020B0604020202030204" pitchFamily="34" charset="0"/>
              </a:rPr>
              <a:t>(</a:t>
            </a:r>
            <a:r>
              <a:rPr lang="en-US" altLang="en-US" b="1" dirty="0">
                <a:latin typeface="Helvetica" panose="020B0604020202030204" pitchFamily="34" charset="0"/>
              </a:rPr>
              <a:t>select</a:t>
            </a:r>
            <a:r>
              <a:rPr lang="en-US" altLang="en-US" dirty="0">
                <a:latin typeface="Helvetica" panose="020B0604020202030204" pitchFamily="34" charset="0"/>
              </a:rPr>
              <a:t> </a:t>
            </a:r>
            <a:r>
              <a:rPr lang="en-US" altLang="en-US" i="1" dirty="0">
                <a:latin typeface="Helvetica" panose="020B0604020202030204" pitchFamily="34" charset="0"/>
              </a:rPr>
              <a:t>course_id </a:t>
            </a:r>
            <a:r>
              <a:rPr lang="en-US" altLang="en-US" b="1" dirty="0">
                <a:latin typeface="Helvetica" panose="020B0604020202030204" pitchFamily="34" charset="0"/>
              </a:rPr>
              <a:t>from </a:t>
            </a:r>
            <a:r>
              <a:rPr lang="en-US" altLang="en-US" i="1" dirty="0">
                <a:latin typeface="Helvetica" panose="020B0604020202030204" pitchFamily="34" charset="0"/>
              </a:rPr>
              <a:t>section </a:t>
            </a:r>
            <a:r>
              <a:rPr lang="en-US" altLang="en-US" b="1" dirty="0">
                <a:latin typeface="Helvetica" panose="020B0604020202030204" pitchFamily="34" charset="0"/>
              </a:rPr>
              <a:t>where </a:t>
            </a:r>
            <a:r>
              <a:rPr lang="en-US" altLang="en-US" i="1" dirty="0">
                <a:latin typeface="Helvetica" panose="020B0604020202030204" pitchFamily="34" charset="0"/>
              </a:rPr>
              <a:t>sem = </a:t>
            </a:r>
            <a:r>
              <a:rPr lang="en-US" altLang="en-US" dirty="0">
                <a:latin typeface="Helvetica" panose="020B0604020202030204" pitchFamily="34" charset="0"/>
              </a:rPr>
              <a:t>‘Spring’ </a:t>
            </a:r>
            <a:r>
              <a:rPr lang="en-US" altLang="en-US" b="1" dirty="0">
                <a:latin typeface="Helvetica" panose="020B0604020202030204" pitchFamily="34" charset="0"/>
              </a:rPr>
              <a:t>and </a:t>
            </a:r>
            <a:r>
              <a:rPr lang="en-US" altLang="en-US" i="1" dirty="0">
                <a:latin typeface="Helvetica" panose="020B0604020202030204" pitchFamily="34" charset="0"/>
              </a:rPr>
              <a:t>year = </a:t>
            </a:r>
            <a:r>
              <a:rPr lang="en-US" altLang="en-US" dirty="0">
                <a:latin typeface="Helvetica" panose="020B0604020202030204" pitchFamily="34" charset="0"/>
              </a:rPr>
              <a:t>2010)</a:t>
            </a:r>
            <a:endParaRPr lang="en-US" altLang="en-US" dirty="0">
              <a:latin typeface="Helvetica" panose="020B060402020203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0488" tIns="44450" rIns="90488" bIns="4445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Set Operations (Cont.)</a:t>
            </a:r>
            <a:endParaRPr kumimoji="1" 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3795" name="Rectangle 3"/>
          <p:cNvSpPr>
            <a:spLocks noGrp="1"/>
          </p:cNvSpPr>
          <p:nvPr>
            <p:ph idx="1"/>
          </p:nvPr>
        </p:nvSpPr>
        <p:spPr>
          <a:xfrm>
            <a:off x="345758" y="974408"/>
            <a:ext cx="8435975" cy="4806950"/>
          </a:xfrm>
        </p:spPr>
        <p:txBody>
          <a:bodyPr vert="horz" wrap="square" lIns="90488" tIns="44450" rIns="90488" bIns="44450" anchor="t"/>
          <a:lstStyle/>
          <a:p>
            <a:pPr defTabSz="0">
              <a:tabLst>
                <a:tab pos="2056130" algn="l"/>
              </a:tabLst>
            </a:pPr>
            <a:r>
              <a:rPr lang="en-US" altLang="en-US" dirty="0"/>
              <a:t>Find the salaries of all instructors that are less than the largest salary.</a:t>
            </a:r>
            <a:endParaRPr lang="en-US" altLang="en-US" dirty="0"/>
          </a:p>
          <a:p>
            <a:pPr lvl="1" defTabSz="0">
              <a:tabLst>
                <a:tab pos="2056130" algn="l"/>
              </a:tabLst>
            </a:pPr>
            <a:r>
              <a:rPr lang="en-US" altLang="en-US" b="1" dirty="0"/>
              <a:t>select distinct </a:t>
            </a:r>
            <a:r>
              <a:rPr lang="en-US" altLang="en-US" i="1" dirty="0"/>
              <a:t>T.salary</a:t>
            </a:r>
            <a:br>
              <a:rPr lang="en-US" altLang="en-US" i="1" dirty="0"/>
            </a:br>
            <a:r>
              <a:rPr lang="en-US" altLang="en-US" b="1" dirty="0"/>
              <a:t>from </a:t>
            </a:r>
            <a:r>
              <a:rPr lang="en-US" altLang="en-US" i="1" dirty="0"/>
              <a:t>instructor </a:t>
            </a:r>
            <a:r>
              <a:rPr lang="en-US" altLang="en-US" b="1" dirty="0"/>
              <a:t>as </a:t>
            </a:r>
            <a:r>
              <a:rPr lang="en-US" altLang="en-US" i="1" dirty="0"/>
              <a:t>T, instructor </a:t>
            </a:r>
            <a:r>
              <a:rPr lang="en-US" altLang="en-US" b="1" dirty="0"/>
              <a:t>as </a:t>
            </a:r>
            <a:r>
              <a:rPr lang="en-US" altLang="en-US" i="1" dirty="0"/>
              <a:t>S</a:t>
            </a:r>
            <a:br>
              <a:rPr lang="en-US" altLang="en-US" i="1" dirty="0"/>
            </a:br>
            <a:r>
              <a:rPr lang="en-US" altLang="en-US" b="1" dirty="0"/>
              <a:t>where </a:t>
            </a:r>
            <a:r>
              <a:rPr lang="en-US" altLang="en-US" i="1" dirty="0"/>
              <a:t>T.salary &lt; S.salary</a:t>
            </a:r>
            <a:endParaRPr lang="en-US" altLang="en-US" i="1" dirty="0"/>
          </a:p>
          <a:p>
            <a:pPr defTabSz="0">
              <a:tabLst>
                <a:tab pos="2056130" algn="l"/>
              </a:tabLst>
            </a:pPr>
            <a:r>
              <a:rPr lang="en-US" altLang="en-US" dirty="0"/>
              <a:t>Find all the salaries of all instructors</a:t>
            </a:r>
            <a:endParaRPr lang="en-US" altLang="en-US" dirty="0"/>
          </a:p>
          <a:p>
            <a:pPr lvl="1" defTabSz="0">
              <a:tabLst>
                <a:tab pos="2056130" algn="l"/>
              </a:tabLst>
            </a:pPr>
            <a:r>
              <a:rPr lang="en-US" altLang="en-US" b="1" dirty="0"/>
              <a:t>select distinct </a:t>
            </a:r>
            <a:r>
              <a:rPr lang="en-US" altLang="en-US" i="1" dirty="0"/>
              <a:t>salary</a:t>
            </a:r>
            <a:br>
              <a:rPr lang="en-US" altLang="en-US" i="1" dirty="0"/>
            </a:br>
            <a:r>
              <a:rPr lang="en-US" altLang="en-US" b="1" dirty="0"/>
              <a:t>from </a:t>
            </a:r>
            <a:r>
              <a:rPr lang="en-US" altLang="en-US" i="1" dirty="0"/>
              <a:t>instructor</a:t>
            </a:r>
            <a:endParaRPr lang="en-US" altLang="en-US" dirty="0"/>
          </a:p>
          <a:p>
            <a:pPr defTabSz="0">
              <a:tabLst>
                <a:tab pos="2056130" algn="l"/>
              </a:tabLst>
            </a:pPr>
            <a:r>
              <a:rPr lang="en-US" altLang="en-US" dirty="0"/>
              <a:t>Find the largest salary of all instructors.</a:t>
            </a:r>
            <a:endParaRPr lang="en-US" altLang="en-US" dirty="0"/>
          </a:p>
          <a:p>
            <a:pPr lvl="1" defTabSz="0">
              <a:tabLst>
                <a:tab pos="2056130" algn="l"/>
              </a:tabLst>
            </a:pPr>
            <a:r>
              <a:rPr lang="en-US" altLang="en-US" dirty="0"/>
              <a:t>  (</a:t>
            </a:r>
            <a:r>
              <a:rPr lang="en-US" altLang="en-US" b="1" dirty="0"/>
              <a:t>select</a:t>
            </a:r>
            <a:r>
              <a:rPr lang="en-US" altLang="en-US" dirty="0"/>
              <a:t>  “second query” )</a:t>
            </a:r>
            <a:br>
              <a:rPr lang="en-US" altLang="en-US" dirty="0"/>
            </a:br>
            <a:r>
              <a:rPr lang="en-US" altLang="en-US" dirty="0"/>
              <a:t> </a:t>
            </a:r>
            <a:r>
              <a:rPr lang="en-US" altLang="en-US" b="1" dirty="0"/>
              <a:t>except</a:t>
            </a:r>
            <a:br>
              <a:rPr lang="en-US" altLang="en-US" b="1" dirty="0"/>
            </a:br>
            <a:r>
              <a:rPr lang="en-US" altLang="en-US" b="1" dirty="0"/>
              <a:t>   </a:t>
            </a:r>
            <a:r>
              <a:rPr lang="en-US" altLang="en-US" dirty="0"/>
              <a:t>(</a:t>
            </a:r>
            <a:r>
              <a:rPr lang="en-US" altLang="en-US" b="1" dirty="0"/>
              <a:t>select</a:t>
            </a:r>
            <a:r>
              <a:rPr lang="en-US" altLang="en-US" dirty="0"/>
              <a:t> “first query”)</a:t>
            </a:r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Set Operations (Cont.)</a:t>
            </a:r>
            <a:endParaRPr kumimoji="1" 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3795" name="Rectangle 3"/>
          <p:cNvSpPr>
            <a:spLocks noGrp="1"/>
          </p:cNvSpPr>
          <p:nvPr>
            <p:ph idx="1"/>
          </p:nvPr>
        </p:nvSpPr>
        <p:spPr>
          <a:xfrm>
            <a:off x="264160" y="1095375"/>
            <a:ext cx="8627745" cy="4904105"/>
          </a:xfrm>
        </p:spPr>
        <p:txBody>
          <a:bodyPr vert="horz" wrap="square" lIns="91440" tIns="45720" rIns="91440" bIns="45720" anchor="t"/>
          <a:lstStyle/>
          <a:p>
            <a:r>
              <a:rPr lang="en-US" altLang="en-US" sz="2400" dirty="0"/>
              <a:t>Set operations </a:t>
            </a:r>
            <a:r>
              <a:rPr lang="en-US" altLang="en-US" sz="2400" b="1" dirty="0">
                <a:solidFill>
                  <a:srgbClr val="000099"/>
                </a:solidFill>
              </a:rPr>
              <a:t>union</a:t>
            </a:r>
            <a:r>
              <a:rPr lang="en-US" altLang="en-US" sz="2400" b="1" dirty="0"/>
              <a:t>, </a:t>
            </a:r>
            <a:r>
              <a:rPr lang="en-US" altLang="en-US" sz="2400" b="1" dirty="0">
                <a:solidFill>
                  <a:srgbClr val="000099"/>
                </a:solidFill>
              </a:rPr>
              <a:t>intersect</a:t>
            </a:r>
            <a:r>
              <a:rPr lang="en-US" altLang="en-US" sz="2400" b="1" dirty="0"/>
              <a:t>, </a:t>
            </a:r>
            <a:r>
              <a:rPr lang="en-US" altLang="en-US" sz="2400" dirty="0"/>
              <a:t>and </a:t>
            </a:r>
            <a:r>
              <a:rPr lang="en-US" altLang="en-US" sz="2400" b="1" dirty="0">
                <a:solidFill>
                  <a:srgbClr val="000099"/>
                </a:solidFill>
              </a:rPr>
              <a:t>except</a:t>
            </a:r>
            <a:r>
              <a:rPr lang="en-US" altLang="en-US" sz="2400" b="1" dirty="0"/>
              <a:t> </a:t>
            </a:r>
            <a:endParaRPr lang="en-US" altLang="en-US" sz="2400" b="1" dirty="0"/>
          </a:p>
          <a:p>
            <a:pPr lvl="1"/>
            <a:r>
              <a:rPr lang="en-US" altLang="en-US" sz="2400" dirty="0">
                <a:solidFill>
                  <a:srgbClr val="FF0000"/>
                </a:solidFill>
                <a:sym typeface="Symbol" panose="05050102010706020507" charset="2"/>
              </a:rPr>
              <a:t>Each of the above operations automatically eliminates duplicates</a:t>
            </a:r>
            <a:endParaRPr lang="en-US" altLang="en-US" sz="2400" dirty="0">
              <a:solidFill>
                <a:srgbClr val="FF0000"/>
              </a:solidFill>
              <a:sym typeface="Symbol" panose="05050102010706020507" charset="2"/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en-US" altLang="en-US" sz="2400" dirty="0">
                <a:sym typeface="Symbol" panose="05050102010706020507" charset="2"/>
              </a:rPr>
              <a:t>To retain all duplicates use the corresponding multiset versions </a:t>
            </a:r>
            <a:r>
              <a:rPr lang="en-US" altLang="en-US" sz="2400" b="1" dirty="0">
                <a:solidFill>
                  <a:srgbClr val="000099"/>
                </a:solidFill>
                <a:sym typeface="Symbol" panose="05050102010706020507" charset="2"/>
              </a:rPr>
              <a:t>union all, intersect all</a:t>
            </a:r>
            <a:r>
              <a:rPr lang="en-US" altLang="en-US" sz="2400" b="1" dirty="0">
                <a:sym typeface="Symbol" panose="05050102010706020507" charset="2"/>
              </a:rPr>
              <a:t> </a:t>
            </a:r>
            <a:r>
              <a:rPr lang="en-US" altLang="en-US" sz="2400" dirty="0">
                <a:sym typeface="Symbol" panose="05050102010706020507" charset="2"/>
              </a:rPr>
              <a:t>and </a:t>
            </a:r>
            <a:r>
              <a:rPr lang="en-US" altLang="en-US" sz="2400" b="1" dirty="0">
                <a:solidFill>
                  <a:srgbClr val="000099"/>
                </a:solidFill>
                <a:sym typeface="Symbol" panose="05050102010706020507" charset="2"/>
              </a:rPr>
              <a:t>except all</a:t>
            </a:r>
            <a:r>
              <a:rPr lang="en-US" altLang="en-US" sz="2400" b="1" dirty="0">
                <a:sym typeface="Symbol" panose="05050102010706020507" charset="2"/>
              </a:rPr>
              <a:t>.</a:t>
            </a:r>
            <a:br>
              <a:rPr lang="en-US" altLang="en-US" sz="2400" b="1" dirty="0">
                <a:sym typeface="Symbol" panose="05050102010706020507" charset="2"/>
              </a:rPr>
            </a:br>
            <a:endParaRPr lang="en-US" altLang="en-US" sz="2400" dirty="0">
              <a:sym typeface="Symbol" panose="05050102010706020507" charset="2"/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en-US" altLang="en-US" sz="2400" dirty="0">
                <a:sym typeface="Symbol" panose="05050102010706020507" charset="2"/>
              </a:rPr>
              <a:t>Suppose a tuple occurs </a:t>
            </a:r>
            <a:r>
              <a:rPr lang="en-US" altLang="en-US" sz="2400" i="1" dirty="0">
                <a:sym typeface="Symbol" panose="05050102010706020507" charset="2"/>
              </a:rPr>
              <a:t>m</a:t>
            </a:r>
            <a:r>
              <a:rPr lang="en-US" altLang="en-US" sz="2400" dirty="0">
                <a:sym typeface="Symbol" panose="05050102010706020507" charset="2"/>
              </a:rPr>
              <a:t> times in </a:t>
            </a:r>
            <a:r>
              <a:rPr lang="en-US" altLang="en-US" sz="2400" i="1" dirty="0">
                <a:sym typeface="Symbol" panose="05050102010706020507" charset="2"/>
              </a:rPr>
              <a:t>r</a:t>
            </a:r>
            <a:r>
              <a:rPr lang="en-US" altLang="en-US" sz="2400" dirty="0">
                <a:sym typeface="Symbol" panose="05050102010706020507" charset="2"/>
              </a:rPr>
              <a:t> and </a:t>
            </a:r>
            <a:r>
              <a:rPr lang="en-US" altLang="en-US" sz="2400" i="1" dirty="0">
                <a:sym typeface="Symbol" panose="05050102010706020507" charset="2"/>
              </a:rPr>
              <a:t>n </a:t>
            </a:r>
            <a:r>
              <a:rPr lang="en-US" altLang="en-US" sz="2400" dirty="0">
                <a:sym typeface="Symbol" panose="05050102010706020507" charset="2"/>
              </a:rPr>
              <a:t>times in </a:t>
            </a:r>
            <a:r>
              <a:rPr lang="en-US" altLang="en-US" sz="2400" i="1" dirty="0">
                <a:sym typeface="Symbol" panose="05050102010706020507" charset="2"/>
              </a:rPr>
              <a:t>s, </a:t>
            </a:r>
            <a:r>
              <a:rPr lang="en-US" altLang="en-US" sz="2400" dirty="0">
                <a:sym typeface="Symbol" panose="05050102010706020507" charset="2"/>
              </a:rPr>
              <a:t>then, it occurs:</a:t>
            </a:r>
            <a:endParaRPr lang="en-US" altLang="en-US" sz="2400" dirty="0">
              <a:sym typeface="Symbol" panose="05050102010706020507" charset="2"/>
            </a:endParaRPr>
          </a:p>
          <a:p>
            <a:pPr lvl="1"/>
            <a:r>
              <a:rPr lang="en-US" altLang="en-US" sz="2400" i="1" dirty="0"/>
              <a:t>m </a:t>
            </a:r>
            <a:r>
              <a:rPr lang="en-US" altLang="en-US" sz="2400" i="1" baseline="-25000" dirty="0"/>
              <a:t> </a:t>
            </a:r>
            <a:r>
              <a:rPr lang="en-US" altLang="en-US" sz="2400" i="1" dirty="0"/>
              <a:t>+ n </a:t>
            </a:r>
            <a:r>
              <a:rPr lang="en-US" altLang="en-US" sz="2400" dirty="0"/>
              <a:t>times in </a:t>
            </a:r>
            <a:r>
              <a:rPr lang="en-US" altLang="en-US" sz="2400" i="1" dirty="0"/>
              <a:t>r </a:t>
            </a:r>
            <a:r>
              <a:rPr lang="en-US" altLang="en-US" sz="2400" b="1" dirty="0"/>
              <a:t>union all </a:t>
            </a:r>
            <a:r>
              <a:rPr lang="en-US" altLang="en-US" sz="2400" i="1" dirty="0"/>
              <a:t>s</a:t>
            </a:r>
            <a:endParaRPr lang="en-US" altLang="en-US" sz="2400" i="1" dirty="0"/>
          </a:p>
          <a:p>
            <a:pPr lvl="1"/>
            <a:r>
              <a:rPr lang="en-US" altLang="en-US" sz="2400" dirty="0"/>
              <a:t>min(</a:t>
            </a:r>
            <a:r>
              <a:rPr lang="en-US" altLang="en-US" sz="2400" i="1" dirty="0"/>
              <a:t>m,n)</a:t>
            </a:r>
            <a:r>
              <a:rPr lang="en-US" altLang="en-US" sz="2400" dirty="0"/>
              <a:t> times in </a:t>
            </a:r>
            <a:r>
              <a:rPr lang="en-US" altLang="en-US" sz="2400" i="1" dirty="0"/>
              <a:t>r</a:t>
            </a:r>
            <a:r>
              <a:rPr lang="en-US" altLang="en-US" sz="2400" dirty="0"/>
              <a:t> </a:t>
            </a:r>
            <a:r>
              <a:rPr lang="en-US" altLang="en-US" sz="2400" b="1" dirty="0"/>
              <a:t>intersect all </a:t>
            </a:r>
            <a:r>
              <a:rPr lang="en-US" altLang="en-US" sz="2400" i="1" dirty="0"/>
              <a:t>s</a:t>
            </a:r>
            <a:endParaRPr lang="en-US" altLang="en-US" sz="2400" i="1" dirty="0"/>
          </a:p>
          <a:p>
            <a:pPr lvl="1"/>
            <a:r>
              <a:rPr lang="en-US" altLang="en-US" sz="2400" dirty="0"/>
              <a:t>max(0, </a:t>
            </a:r>
            <a:r>
              <a:rPr lang="en-US" altLang="en-US" sz="2400" i="1" dirty="0"/>
              <a:t>m – n)</a:t>
            </a:r>
            <a:r>
              <a:rPr lang="en-US" altLang="en-US" sz="2400" dirty="0"/>
              <a:t> times in </a:t>
            </a:r>
            <a:r>
              <a:rPr lang="en-US" altLang="en-US" sz="2400" i="1" dirty="0"/>
              <a:t>r</a:t>
            </a:r>
            <a:r>
              <a:rPr lang="en-US" altLang="en-US" sz="2400" dirty="0"/>
              <a:t> </a:t>
            </a:r>
            <a:r>
              <a:rPr lang="en-US" altLang="en-US" sz="2400" b="1" dirty="0"/>
              <a:t>except all </a:t>
            </a:r>
            <a:r>
              <a:rPr lang="en-US" altLang="en-US" sz="2400" i="1" dirty="0"/>
              <a:t>s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Null Values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4819" name="Rectangle 3"/>
          <p:cNvSpPr>
            <a:spLocks noGrp="1"/>
          </p:cNvSpPr>
          <p:nvPr>
            <p:ph idx="1"/>
          </p:nvPr>
        </p:nvSpPr>
        <p:spPr>
          <a:xfrm>
            <a:off x="232512" y="1106488"/>
            <a:ext cx="8710275" cy="5156200"/>
          </a:xfrm>
        </p:spPr>
        <p:txBody>
          <a:bodyPr vert="horz" wrap="square" lIns="91440" tIns="45720" rIns="91440" bIns="45720" anchor="t"/>
          <a:lstStyle/>
          <a:p>
            <a:r>
              <a:rPr lang="en-US" altLang="en-US" dirty="0"/>
              <a:t>It is possible for tuples to have a null value, denoted by </a:t>
            </a:r>
            <a:r>
              <a:rPr lang="en-US" altLang="en-US" i="1" dirty="0"/>
              <a:t>null</a:t>
            </a:r>
            <a:r>
              <a:rPr lang="en-US" altLang="en-US" dirty="0"/>
              <a:t>, for some of their attributes</a:t>
            </a:r>
            <a:endParaRPr lang="en-US" altLang="en-US" dirty="0"/>
          </a:p>
          <a:p>
            <a:r>
              <a:rPr lang="en-US" altLang="en-US" i="1" dirty="0"/>
              <a:t>null</a:t>
            </a:r>
            <a:r>
              <a:rPr lang="en-US" altLang="en-US" dirty="0"/>
              <a:t> signifies an unknown value or that a value does not exist.</a:t>
            </a:r>
            <a:endParaRPr lang="en-US" altLang="en-US" dirty="0"/>
          </a:p>
          <a:p>
            <a:r>
              <a:rPr lang="en-US" altLang="en-US" dirty="0">
                <a:solidFill>
                  <a:srgbClr val="000099"/>
                </a:solidFill>
              </a:rPr>
              <a:t>The result of any arithmetic expression involving </a:t>
            </a:r>
            <a:r>
              <a:rPr lang="en-US" altLang="en-US" i="1" dirty="0">
                <a:solidFill>
                  <a:srgbClr val="000099"/>
                </a:solidFill>
              </a:rPr>
              <a:t>null</a:t>
            </a:r>
            <a:r>
              <a:rPr lang="en-US" altLang="en-US" dirty="0">
                <a:solidFill>
                  <a:srgbClr val="000099"/>
                </a:solidFill>
              </a:rPr>
              <a:t> is </a:t>
            </a:r>
            <a:r>
              <a:rPr lang="en-US" altLang="en-US" i="1" dirty="0">
                <a:solidFill>
                  <a:srgbClr val="000099"/>
                </a:solidFill>
              </a:rPr>
              <a:t>null</a:t>
            </a:r>
            <a:endParaRPr lang="en-US" altLang="en-US" i="1" dirty="0"/>
          </a:p>
          <a:p>
            <a:pPr lvl="1"/>
            <a:r>
              <a:rPr lang="en-US" altLang="en-US" dirty="0"/>
              <a:t>Example:  5 + </a:t>
            </a:r>
            <a:r>
              <a:rPr lang="en-US" altLang="en-US" i="1" dirty="0"/>
              <a:t>null</a:t>
            </a:r>
            <a:r>
              <a:rPr lang="en-US" altLang="en-US" dirty="0"/>
              <a:t>  returns null</a:t>
            </a:r>
            <a:endParaRPr lang="en-US" altLang="en-US" dirty="0"/>
          </a:p>
          <a:p>
            <a:r>
              <a:rPr lang="en-US" altLang="en-US" dirty="0">
                <a:solidFill>
                  <a:srgbClr val="000099"/>
                </a:solidFill>
              </a:rPr>
              <a:t>The predicate  </a:t>
            </a:r>
            <a:r>
              <a:rPr lang="en-US" altLang="en-US" b="1" dirty="0">
                <a:solidFill>
                  <a:srgbClr val="000099"/>
                </a:solidFill>
              </a:rPr>
              <a:t>is null</a:t>
            </a:r>
            <a:r>
              <a:rPr lang="en-US" altLang="en-US" dirty="0">
                <a:solidFill>
                  <a:srgbClr val="000099"/>
                </a:solidFill>
              </a:rPr>
              <a:t> can be used to check for null values.</a:t>
            </a:r>
            <a:endParaRPr lang="en-US" altLang="en-US" dirty="0">
              <a:solidFill>
                <a:srgbClr val="000099"/>
              </a:solidFill>
            </a:endParaRPr>
          </a:p>
          <a:p>
            <a:pPr lvl="1"/>
            <a:r>
              <a:rPr lang="en-US" altLang="en-US" dirty="0"/>
              <a:t>Example: Find all instructors whose salary is null</a:t>
            </a:r>
            <a:r>
              <a:rPr lang="en-US" altLang="en-US" i="1" dirty="0"/>
              <a:t>.</a:t>
            </a:r>
            <a:endParaRPr lang="en-US" altLang="en-US" i="1" dirty="0"/>
          </a:p>
          <a:p>
            <a:pPr>
              <a:buNone/>
            </a:pPr>
            <a:r>
              <a:rPr lang="en-US" altLang="en-US" b="1" dirty="0"/>
              <a:t>		select</a:t>
            </a:r>
            <a:r>
              <a:rPr lang="en-US" altLang="en-US" i="1" dirty="0"/>
              <a:t> name</a:t>
            </a:r>
            <a:br>
              <a:rPr lang="en-US" altLang="en-US" i="1" dirty="0"/>
            </a:br>
            <a:r>
              <a:rPr lang="en-US" altLang="en-US" i="1" dirty="0"/>
              <a:t>	</a:t>
            </a:r>
            <a:r>
              <a:rPr lang="en-US" altLang="en-US" b="1" dirty="0"/>
              <a:t>from</a:t>
            </a:r>
            <a:r>
              <a:rPr lang="en-US" altLang="en-US" i="1" dirty="0"/>
              <a:t> instructor</a:t>
            </a:r>
            <a:br>
              <a:rPr lang="en-US" altLang="en-US" i="1" dirty="0"/>
            </a:br>
            <a:r>
              <a:rPr lang="en-US" altLang="en-US" i="1" dirty="0"/>
              <a:t>	</a:t>
            </a:r>
            <a:r>
              <a:rPr lang="en-US" altLang="en-US" b="1" dirty="0"/>
              <a:t>where </a:t>
            </a:r>
            <a:r>
              <a:rPr lang="en-US" altLang="en-US" i="1" dirty="0"/>
              <a:t>salary </a:t>
            </a:r>
            <a:r>
              <a:rPr lang="en-US" altLang="en-US" b="1" dirty="0"/>
              <a:t>is null</a:t>
            </a:r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120650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Null Values and Three Valued Logic</a:t>
            </a:r>
            <a:endParaRPr kumimoji="1" 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5843" name="Rectangle 3"/>
          <p:cNvSpPr>
            <a:spLocks noGrp="1"/>
          </p:cNvSpPr>
          <p:nvPr>
            <p:ph idx="1"/>
          </p:nvPr>
        </p:nvSpPr>
        <p:spPr>
          <a:xfrm>
            <a:off x="193040" y="1106805"/>
            <a:ext cx="8755380" cy="5370830"/>
          </a:xfrm>
        </p:spPr>
        <p:txBody>
          <a:bodyPr vert="horz" wrap="square" lIns="91440" tIns="45720" rIns="91440" bIns="45720" anchor="t"/>
          <a:lstStyle/>
          <a:p>
            <a:r>
              <a:rPr lang="en-US" altLang="en-US" dirty="0"/>
              <a:t>Three values – </a:t>
            </a:r>
            <a:r>
              <a:rPr lang="en-US" altLang="en-US" i="1" dirty="0"/>
              <a:t>true</a:t>
            </a:r>
            <a:r>
              <a:rPr lang="en-US" altLang="en-US" dirty="0"/>
              <a:t>, </a:t>
            </a:r>
            <a:r>
              <a:rPr lang="en-US" altLang="en-US" i="1" dirty="0"/>
              <a:t>false</a:t>
            </a:r>
            <a:r>
              <a:rPr lang="en-US" altLang="en-US" dirty="0"/>
              <a:t>, </a:t>
            </a:r>
            <a:r>
              <a:rPr lang="en-US" altLang="en-US" i="1" dirty="0"/>
              <a:t>unknown</a:t>
            </a:r>
            <a:endParaRPr lang="en-US" altLang="en-US" i="1" dirty="0"/>
          </a:p>
          <a:p>
            <a:r>
              <a:rPr lang="en-US" altLang="en-US" dirty="0"/>
              <a:t>Any comparison with </a:t>
            </a:r>
            <a:r>
              <a:rPr lang="en-US" altLang="en-US" i="1" dirty="0"/>
              <a:t>null</a:t>
            </a:r>
            <a:r>
              <a:rPr lang="en-US" altLang="en-US" dirty="0"/>
              <a:t> returns </a:t>
            </a:r>
            <a:r>
              <a:rPr lang="en-US" altLang="en-US" i="1" dirty="0"/>
              <a:t>unknown</a:t>
            </a:r>
            <a:endParaRPr lang="en-US" altLang="en-US" i="1" dirty="0"/>
          </a:p>
          <a:p>
            <a:pPr lvl="1"/>
            <a:r>
              <a:rPr lang="en-US" altLang="en-US" sz="1800" dirty="0"/>
              <a:t>Example</a:t>
            </a:r>
            <a:r>
              <a:rPr lang="en-US" altLang="en-US" sz="1800" i="1" dirty="0"/>
              <a:t>: 5 &lt; null   or   null &lt;&gt; null    or    null = null</a:t>
            </a:r>
            <a:endParaRPr lang="en-US" altLang="en-US" sz="1800" i="1" dirty="0"/>
          </a:p>
          <a:p>
            <a:r>
              <a:rPr lang="en-US" altLang="en-US" dirty="0"/>
              <a:t>Three-valued logic using the value </a:t>
            </a:r>
            <a:r>
              <a:rPr lang="en-US" altLang="en-US" i="1" dirty="0"/>
              <a:t>unknown</a:t>
            </a:r>
            <a:r>
              <a:rPr lang="en-US" altLang="en-US" dirty="0"/>
              <a:t>:</a:t>
            </a:r>
            <a:endParaRPr lang="en-US" altLang="en-US" dirty="0"/>
          </a:p>
          <a:p>
            <a:pPr lvl="1"/>
            <a:r>
              <a:rPr lang="en-US" altLang="en-US" sz="1800" dirty="0"/>
              <a:t>OR: (</a:t>
            </a:r>
            <a:r>
              <a:rPr lang="en-US" altLang="en-US" sz="1800" i="1" dirty="0"/>
              <a:t>unknown</a:t>
            </a:r>
            <a:r>
              <a:rPr lang="en-US" altLang="en-US" sz="1800" dirty="0"/>
              <a:t> </a:t>
            </a:r>
            <a:r>
              <a:rPr lang="en-US" altLang="en-US" sz="1800" b="1" dirty="0"/>
              <a:t>or</a:t>
            </a:r>
            <a:r>
              <a:rPr lang="en-US" altLang="en-US" sz="1800" dirty="0"/>
              <a:t> </a:t>
            </a:r>
            <a:r>
              <a:rPr lang="en-US" altLang="en-US" sz="1800" i="1" dirty="0"/>
              <a:t>true</a:t>
            </a:r>
            <a:r>
              <a:rPr lang="en-US" altLang="en-US" sz="1800" dirty="0"/>
              <a:t>)   = </a:t>
            </a:r>
            <a:r>
              <a:rPr lang="en-US" altLang="en-US" sz="1800" i="1" dirty="0"/>
              <a:t>true</a:t>
            </a:r>
            <a:r>
              <a:rPr lang="en-US" altLang="en-US" sz="1800" dirty="0"/>
              <a:t>,</a:t>
            </a:r>
            <a:br>
              <a:rPr lang="en-US" altLang="en-US" sz="1800" dirty="0"/>
            </a:br>
            <a:r>
              <a:rPr lang="en-US" altLang="en-US" sz="1800" dirty="0"/>
              <a:t>       (</a:t>
            </a:r>
            <a:r>
              <a:rPr lang="en-US" altLang="en-US" sz="1800" i="1" dirty="0"/>
              <a:t>unknown</a:t>
            </a:r>
            <a:r>
              <a:rPr lang="en-US" altLang="en-US" sz="1800" dirty="0"/>
              <a:t> </a:t>
            </a:r>
            <a:r>
              <a:rPr lang="en-US" altLang="en-US" sz="1800" b="1" dirty="0"/>
              <a:t>or</a:t>
            </a:r>
            <a:r>
              <a:rPr lang="en-US" altLang="en-US" sz="1800" dirty="0"/>
              <a:t> </a:t>
            </a:r>
            <a:r>
              <a:rPr lang="en-US" altLang="en-US" sz="1800" i="1" dirty="0"/>
              <a:t>false</a:t>
            </a:r>
            <a:r>
              <a:rPr lang="en-US" altLang="en-US" sz="1800" dirty="0"/>
              <a:t>)  = </a:t>
            </a:r>
            <a:r>
              <a:rPr lang="en-US" altLang="en-US" sz="1800" i="1" dirty="0"/>
              <a:t>unknown</a:t>
            </a:r>
            <a:br>
              <a:rPr lang="en-US" altLang="en-US" sz="1800" dirty="0"/>
            </a:br>
            <a:r>
              <a:rPr lang="en-US" altLang="en-US" sz="1800" dirty="0"/>
              <a:t>       (</a:t>
            </a:r>
            <a:r>
              <a:rPr lang="en-US" altLang="en-US" sz="1800" i="1" dirty="0"/>
              <a:t>unknown </a:t>
            </a:r>
            <a:r>
              <a:rPr lang="en-US" altLang="en-US" sz="1800" b="1" dirty="0"/>
              <a:t>or</a:t>
            </a:r>
            <a:r>
              <a:rPr lang="en-US" altLang="en-US" sz="1800" i="1" dirty="0"/>
              <a:t> unknown) = unknown</a:t>
            </a:r>
            <a:endParaRPr lang="en-US" altLang="en-US" sz="1800" i="1" dirty="0"/>
          </a:p>
          <a:p>
            <a:pPr lvl="1"/>
            <a:r>
              <a:rPr lang="en-US" altLang="en-US" sz="1800" dirty="0"/>
              <a:t>AND:</a:t>
            </a:r>
            <a:r>
              <a:rPr lang="en-US" altLang="en-US" sz="1800" i="1" dirty="0"/>
              <a:t> (true</a:t>
            </a:r>
            <a:r>
              <a:rPr lang="en-US" altLang="en-US" sz="1800" b="1" dirty="0"/>
              <a:t> and </a:t>
            </a:r>
            <a:r>
              <a:rPr lang="en-US" altLang="en-US" sz="1800" i="1" dirty="0"/>
              <a:t>unknown)  = unknown,    </a:t>
            </a:r>
            <a:br>
              <a:rPr lang="en-US" altLang="en-US" sz="1800" i="1" dirty="0"/>
            </a:br>
            <a:r>
              <a:rPr lang="en-US" altLang="en-US" sz="1800" i="1" dirty="0"/>
              <a:t>         (false</a:t>
            </a:r>
            <a:r>
              <a:rPr lang="en-US" altLang="en-US" sz="1800" b="1" dirty="0"/>
              <a:t> and </a:t>
            </a:r>
            <a:r>
              <a:rPr lang="en-US" altLang="en-US" sz="1800" i="1" dirty="0"/>
              <a:t>unknown) = false,</a:t>
            </a:r>
            <a:br>
              <a:rPr lang="en-US" altLang="en-US" sz="1800" i="1" dirty="0"/>
            </a:br>
            <a:r>
              <a:rPr lang="en-US" altLang="en-US" sz="1800" i="1" dirty="0"/>
              <a:t>         (unknown </a:t>
            </a:r>
            <a:r>
              <a:rPr lang="en-US" altLang="en-US" sz="1800" b="1" dirty="0"/>
              <a:t>and</a:t>
            </a:r>
            <a:r>
              <a:rPr lang="en-US" altLang="en-US" sz="1800" i="1" dirty="0"/>
              <a:t> unknown) = unknown</a:t>
            </a:r>
            <a:endParaRPr lang="en-US" altLang="en-US" sz="1800" i="1" dirty="0"/>
          </a:p>
          <a:p>
            <a:pPr lvl="1"/>
            <a:r>
              <a:rPr lang="en-US" altLang="en-US" sz="1800" dirty="0"/>
              <a:t>NOT</a:t>
            </a:r>
            <a:r>
              <a:rPr lang="en-US" altLang="en-US" sz="1800" i="1" dirty="0"/>
              <a:t>:  (</a:t>
            </a:r>
            <a:r>
              <a:rPr lang="en-US" altLang="en-US" sz="1800" b="1" dirty="0"/>
              <a:t>not</a:t>
            </a:r>
            <a:r>
              <a:rPr lang="en-US" altLang="en-US" sz="1800" i="1" dirty="0"/>
              <a:t> unknown) = unknown</a:t>
            </a:r>
            <a:endParaRPr lang="en-US" altLang="en-US" sz="1800" i="1" dirty="0"/>
          </a:p>
          <a:p>
            <a:pPr lvl="1"/>
            <a:r>
              <a:rPr lang="en-US" altLang="en-US" sz="1800" dirty="0"/>
              <a:t>“</a:t>
            </a:r>
            <a:r>
              <a:rPr lang="en-US" altLang="en-US" sz="1800" i="1" dirty="0"/>
              <a:t>P</a:t>
            </a:r>
            <a:r>
              <a:rPr lang="en-US" altLang="en-US" sz="1800" b="1" dirty="0"/>
              <a:t>  is unknown</a:t>
            </a:r>
            <a:r>
              <a:rPr lang="en-US" altLang="en-US" sz="1800" dirty="0"/>
              <a:t>”</a:t>
            </a:r>
            <a:r>
              <a:rPr lang="en-US" altLang="en-US" sz="1800" b="1" dirty="0"/>
              <a:t> </a:t>
            </a:r>
            <a:r>
              <a:rPr lang="en-US" altLang="en-US" sz="1800" dirty="0"/>
              <a:t>evaluates to true if predicate </a:t>
            </a:r>
            <a:r>
              <a:rPr lang="en-US" altLang="en-US" sz="1800" i="1" dirty="0"/>
              <a:t>P</a:t>
            </a:r>
            <a:r>
              <a:rPr lang="en-US" altLang="en-US" sz="1800" dirty="0"/>
              <a:t> evaluates to </a:t>
            </a:r>
            <a:r>
              <a:rPr lang="en-US" altLang="en-US" sz="1800" i="1" dirty="0"/>
              <a:t>unknown</a:t>
            </a:r>
            <a:endParaRPr lang="en-US" altLang="en-US" sz="1800" i="1" dirty="0"/>
          </a:p>
          <a:p>
            <a:r>
              <a:rPr lang="en-US" altLang="en-US" dirty="0">
                <a:solidFill>
                  <a:srgbClr val="FF0000"/>
                </a:solidFill>
              </a:rPr>
              <a:t>Result of </a:t>
            </a:r>
            <a:r>
              <a:rPr lang="en-US" altLang="en-US" b="1" dirty="0">
                <a:solidFill>
                  <a:srgbClr val="FF0000"/>
                </a:solidFill>
              </a:rPr>
              <a:t>where </a:t>
            </a:r>
            <a:r>
              <a:rPr lang="en-US" altLang="en-US" dirty="0">
                <a:solidFill>
                  <a:srgbClr val="FF0000"/>
                </a:solidFill>
              </a:rPr>
              <a:t>clause predicate is treated as </a:t>
            </a:r>
            <a:r>
              <a:rPr lang="en-US" altLang="en-US" i="1" dirty="0">
                <a:solidFill>
                  <a:srgbClr val="FF0000"/>
                </a:solidFill>
              </a:rPr>
              <a:t>false </a:t>
            </a:r>
            <a:r>
              <a:rPr lang="en-US" altLang="en-US" dirty="0">
                <a:solidFill>
                  <a:srgbClr val="FF0000"/>
                </a:solidFill>
              </a:rPr>
              <a:t>if it evaluates to </a:t>
            </a:r>
            <a:r>
              <a:rPr lang="en-US" altLang="en-US" i="1" dirty="0">
                <a:solidFill>
                  <a:srgbClr val="FF0000"/>
                </a:solidFill>
              </a:rPr>
              <a:t>unknown</a:t>
            </a:r>
            <a:endParaRPr lang="en-US" altLang="en-US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16280" y="167005"/>
            <a:ext cx="8178800" cy="588518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25830" y="222250"/>
            <a:ext cx="8060055" cy="577532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Aggregate Functions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6867" name="Rectangle 3"/>
          <p:cNvSpPr>
            <a:spLocks noGrp="1"/>
          </p:cNvSpPr>
          <p:nvPr>
            <p:ph idx="1"/>
          </p:nvPr>
        </p:nvSpPr>
        <p:spPr>
          <a:xfrm>
            <a:off x="233680" y="1094105"/>
            <a:ext cx="8658225" cy="3896995"/>
          </a:xfrm>
        </p:spPr>
        <p:txBody>
          <a:bodyPr vert="horz" wrap="square" lIns="91440" tIns="45720" rIns="91440" bIns="45720" anchor="t"/>
          <a:lstStyle/>
          <a:p>
            <a:pPr defTabSz="0">
              <a:tabLst>
                <a:tab pos="2222500" algn="l"/>
              </a:tabLst>
            </a:pPr>
            <a:r>
              <a:rPr lang="en-US" altLang="en-US" dirty="0"/>
              <a:t>These functions operate on the multiset of values of a column of a relation, and return a value</a:t>
            </a:r>
            <a:endParaRPr lang="en-US" altLang="en-US" dirty="0"/>
          </a:p>
          <a:p>
            <a:pPr defTabSz="0">
              <a:buNone/>
              <a:tabLst>
                <a:tab pos="2222500" algn="l"/>
              </a:tabLst>
            </a:pPr>
            <a:r>
              <a:rPr lang="en-US" altLang="en-US" dirty="0"/>
              <a:t>		</a:t>
            </a:r>
            <a:r>
              <a:rPr lang="en-US" altLang="en-US" b="1" dirty="0"/>
              <a:t>avg: </a:t>
            </a:r>
            <a:r>
              <a:rPr lang="en-US" altLang="en-US" dirty="0"/>
              <a:t>average value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b="1" dirty="0"/>
              <a:t>min:  </a:t>
            </a:r>
            <a:r>
              <a:rPr lang="en-US" altLang="en-US" dirty="0"/>
              <a:t>minimum value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b="1" dirty="0"/>
              <a:t>max:  </a:t>
            </a:r>
            <a:r>
              <a:rPr lang="en-US" altLang="en-US" dirty="0"/>
              <a:t>maximum value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b="1" dirty="0"/>
              <a:t>sum:  </a:t>
            </a:r>
            <a:r>
              <a:rPr lang="en-US" altLang="en-US" dirty="0"/>
              <a:t>sum of values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b="1" dirty="0"/>
              <a:t>count:  </a:t>
            </a:r>
            <a:r>
              <a:rPr lang="en-US" altLang="en-US" dirty="0"/>
              <a:t>number of values</a:t>
            </a:r>
            <a:endParaRPr lang="en-US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Aggregate Functions (Cont.)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7891" name="Rectangle 3"/>
          <p:cNvSpPr>
            <a:spLocks noGrp="1"/>
          </p:cNvSpPr>
          <p:nvPr>
            <p:ph idx="1"/>
          </p:nvPr>
        </p:nvSpPr>
        <p:spPr>
          <a:xfrm>
            <a:off x="197485" y="1108075"/>
            <a:ext cx="8778240" cy="5251450"/>
          </a:xfrm>
        </p:spPr>
        <p:txBody>
          <a:bodyPr vert="horz" wrap="square" lIns="91440" tIns="45720" rIns="91440" bIns="45720" anchor="t"/>
          <a:lstStyle/>
          <a:p>
            <a:pPr defTabSz="0">
              <a:tabLst>
                <a:tab pos="1711325" algn="l"/>
              </a:tabLst>
            </a:pPr>
            <a:r>
              <a:rPr lang="en-US" altLang="en-US" dirty="0"/>
              <a:t>Find the average salary of instructors in the Computer Science department </a:t>
            </a:r>
            <a:endParaRPr lang="en-US" altLang="en-US" dirty="0"/>
          </a:p>
          <a:p>
            <a:pPr lvl="1" defTabSz="0">
              <a:tabLst>
                <a:tab pos="1711325" algn="l"/>
              </a:tabLst>
            </a:pPr>
            <a:r>
              <a:rPr lang="en-US" altLang="en-US" b="1" dirty="0"/>
              <a:t>select avg </a:t>
            </a:r>
            <a:r>
              <a:rPr lang="en-US" altLang="en-US" dirty="0"/>
              <a:t>(</a:t>
            </a:r>
            <a:r>
              <a:rPr lang="en-US" altLang="en-US" i="1" dirty="0"/>
              <a:t>salary</a:t>
            </a:r>
            <a:r>
              <a:rPr lang="en-US" altLang="en-US" dirty="0"/>
              <a:t>)</a:t>
            </a:r>
            <a:br>
              <a:rPr lang="en-US" altLang="en-US" dirty="0"/>
            </a:br>
            <a:r>
              <a:rPr lang="en-US" altLang="en-US" b="1" dirty="0"/>
              <a:t>from </a:t>
            </a:r>
            <a:r>
              <a:rPr lang="en-US" altLang="en-US" i="1" dirty="0"/>
              <a:t>instructor</a:t>
            </a:r>
            <a:br>
              <a:rPr lang="en-US" altLang="en-US" i="1" dirty="0"/>
            </a:br>
            <a:r>
              <a:rPr lang="en-US" altLang="en-US" b="1" dirty="0"/>
              <a:t>where </a:t>
            </a:r>
            <a:r>
              <a:rPr lang="en-US" altLang="en-US" i="1" dirty="0"/>
              <a:t>dept_name</a:t>
            </a:r>
            <a:r>
              <a:rPr lang="en-US" altLang="en-US" dirty="0"/>
              <a:t>= ’Comp. Sci.’;</a:t>
            </a:r>
            <a:endParaRPr lang="en-US" altLang="en-US" dirty="0"/>
          </a:p>
          <a:p>
            <a:pPr defTabSz="0">
              <a:tabLst>
                <a:tab pos="1711325" algn="l"/>
              </a:tabLst>
            </a:pPr>
            <a:r>
              <a:rPr lang="en-US" altLang="en-US" dirty="0"/>
              <a:t>Find the total number of instructors who teach a course in the Spring 2010 semester</a:t>
            </a:r>
            <a:endParaRPr lang="en-US" altLang="en-US" dirty="0"/>
          </a:p>
          <a:p>
            <a:pPr lvl="1" defTabSz="0">
              <a:tabLst>
                <a:tab pos="1711325" algn="l"/>
              </a:tabLst>
            </a:pPr>
            <a:r>
              <a:rPr lang="en-US" altLang="en-US" b="1" dirty="0"/>
              <a:t>select count </a:t>
            </a:r>
            <a:r>
              <a:rPr lang="en-US" altLang="en-US" dirty="0"/>
              <a:t>(</a:t>
            </a:r>
            <a:r>
              <a:rPr lang="en-US" altLang="en-US" b="1" dirty="0"/>
              <a:t>distinct </a:t>
            </a:r>
            <a:r>
              <a:rPr lang="en-US" altLang="en-US" i="1" dirty="0"/>
              <a:t>ID</a:t>
            </a:r>
            <a:r>
              <a:rPr lang="en-US" altLang="en-US" dirty="0"/>
              <a:t>)</a:t>
            </a:r>
            <a:br>
              <a:rPr lang="en-US" altLang="en-US" dirty="0"/>
            </a:br>
            <a:r>
              <a:rPr lang="en-US" altLang="en-US" b="1" dirty="0"/>
              <a:t>from </a:t>
            </a:r>
            <a:r>
              <a:rPr lang="en-US" altLang="en-US" i="1" dirty="0"/>
              <a:t>teaches</a:t>
            </a:r>
            <a:br>
              <a:rPr lang="en-US" altLang="en-US" i="1" dirty="0"/>
            </a:br>
            <a:r>
              <a:rPr lang="en-US" altLang="en-US" b="1" dirty="0"/>
              <a:t>where </a:t>
            </a:r>
            <a:r>
              <a:rPr lang="en-US" altLang="en-US" i="1" dirty="0"/>
              <a:t>semester </a:t>
            </a:r>
            <a:r>
              <a:rPr lang="en-US" altLang="en-US" dirty="0"/>
              <a:t>= ’Spring’ </a:t>
            </a:r>
            <a:r>
              <a:rPr lang="en-US" altLang="en-US" b="1" dirty="0"/>
              <a:t>and </a:t>
            </a:r>
            <a:r>
              <a:rPr lang="en-US" altLang="en-US" i="1" dirty="0"/>
              <a:t>year </a:t>
            </a:r>
            <a:r>
              <a:rPr lang="en-US" altLang="en-US" dirty="0"/>
              <a:t>= 2010;</a:t>
            </a:r>
            <a:endParaRPr lang="en-US" altLang="en-US" dirty="0"/>
          </a:p>
          <a:p>
            <a:pPr defTabSz="0">
              <a:tabLst>
                <a:tab pos="1711325" algn="l"/>
              </a:tabLst>
            </a:pPr>
            <a:r>
              <a:rPr lang="en-US" altLang="en-US" dirty="0"/>
              <a:t>Find the number of tuples in the </a:t>
            </a:r>
            <a:r>
              <a:rPr lang="en-US" altLang="en-US" i="1" dirty="0"/>
              <a:t>course </a:t>
            </a:r>
            <a:r>
              <a:rPr lang="en-US" altLang="en-US" dirty="0"/>
              <a:t>relation</a:t>
            </a:r>
            <a:endParaRPr lang="en-US" altLang="en-US" dirty="0"/>
          </a:p>
          <a:p>
            <a:pPr lvl="1" defTabSz="0">
              <a:tabLst>
                <a:tab pos="1711325" algn="l"/>
              </a:tabLst>
            </a:pPr>
            <a:r>
              <a:rPr lang="en-US" altLang="en-US" b="1" dirty="0"/>
              <a:t>select count </a:t>
            </a:r>
            <a:r>
              <a:rPr lang="en-US" altLang="en-US" dirty="0"/>
              <a:t>(*)</a:t>
            </a:r>
            <a:br>
              <a:rPr lang="en-US" altLang="en-US" dirty="0"/>
            </a:br>
            <a:r>
              <a:rPr lang="en-US" altLang="en-US" b="1" dirty="0"/>
              <a:t>from </a:t>
            </a:r>
            <a:r>
              <a:rPr lang="en-US" altLang="en-US" i="1" dirty="0"/>
              <a:t>course</a:t>
            </a:r>
            <a:r>
              <a:rPr lang="en-US" altLang="en-US" dirty="0"/>
              <a:t>;</a:t>
            </a:r>
            <a:endParaRPr lang="en-US" altLang="en-US" dirty="0"/>
          </a:p>
          <a:p>
            <a:pPr defTabSz="0">
              <a:tabLst>
                <a:tab pos="1711325" algn="l"/>
              </a:tabLst>
            </a:pPr>
            <a:endParaRPr lang="en-US" altLang="en-US" dirty="0"/>
          </a:p>
          <a:p>
            <a:pPr lvl="1" defTabSz="0">
              <a:tabLst>
                <a:tab pos="1711325" algn="l"/>
              </a:tabLst>
            </a:pPr>
            <a:endParaRPr lang="en-US" altLang="en-US" dirty="0"/>
          </a:p>
          <a:p>
            <a:pPr defTabSz="0">
              <a:tabLst>
                <a:tab pos="1711325" algn="l"/>
              </a:tabLst>
            </a:pPr>
            <a:endParaRPr lang="en-US" altLang="en-US" dirty="0"/>
          </a:p>
        </p:txBody>
      </p:sp>
      <p:sp>
        <p:nvSpPr>
          <p:cNvPr id="37892" name="Text Box 4"/>
          <p:cNvSpPr txBox="1"/>
          <p:nvPr/>
        </p:nvSpPr>
        <p:spPr>
          <a:xfrm>
            <a:off x="758825" y="2813050"/>
            <a:ext cx="7681913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dirty="0">
                <a:latin typeface="Helvetica" panose="020B0604020202030204" pitchFamily="34" charset="0"/>
              </a:rPr>
              <a:t>   </a:t>
            </a:r>
            <a:endParaRPr lang="en-US" altLang="en-US" sz="1600" dirty="0">
              <a:latin typeface="Helvetica" panose="020B060402020203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14400" y="107315"/>
            <a:ext cx="7897495" cy="540321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Aggregate Functions – Group By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8915" name="Rectangle 3"/>
          <p:cNvSpPr>
            <a:spLocks noGrp="1"/>
          </p:cNvSpPr>
          <p:nvPr>
            <p:ph idx="1"/>
          </p:nvPr>
        </p:nvSpPr>
        <p:spPr>
          <a:xfrm>
            <a:off x="161925" y="1024255"/>
            <a:ext cx="8884920" cy="1414145"/>
          </a:xfrm>
        </p:spPr>
        <p:txBody>
          <a:bodyPr vert="horz" wrap="square" lIns="91440" tIns="45720" rIns="91440" bIns="45720" anchor="t"/>
          <a:lstStyle/>
          <a:p>
            <a:pPr defTabSz="0">
              <a:tabLst>
                <a:tab pos="625475" algn="l"/>
              </a:tabLst>
            </a:pPr>
            <a:r>
              <a:rPr lang="en-US" altLang="en-US" dirty="0"/>
              <a:t>Find the average salary of instructors in each department</a:t>
            </a:r>
            <a:endParaRPr lang="en-US" altLang="en-US" dirty="0"/>
          </a:p>
          <a:p>
            <a:pPr lvl="1" defTabSz="0">
              <a:tabLst>
                <a:tab pos="625475" algn="l"/>
              </a:tabLst>
            </a:pPr>
            <a:r>
              <a:rPr lang="en-US" altLang="en-US" b="1" dirty="0"/>
              <a:t>select </a:t>
            </a:r>
            <a:r>
              <a:rPr lang="en-US" altLang="en-US" i="1" dirty="0"/>
              <a:t>dept_name</a:t>
            </a:r>
            <a:r>
              <a:rPr lang="en-US" altLang="en-US" dirty="0"/>
              <a:t>, </a:t>
            </a:r>
            <a:r>
              <a:rPr lang="en-US" altLang="en-US" b="1" dirty="0"/>
              <a:t>avg </a:t>
            </a:r>
            <a:r>
              <a:rPr lang="en-US" altLang="en-US" dirty="0"/>
              <a:t>(</a:t>
            </a:r>
            <a:r>
              <a:rPr lang="en-US" altLang="en-US" i="1" dirty="0"/>
              <a:t>salary</a:t>
            </a:r>
            <a:r>
              <a:rPr lang="en-US" altLang="en-US" dirty="0"/>
              <a:t>) </a:t>
            </a:r>
            <a:r>
              <a:rPr lang="en-US" altLang="en-US" b="1" dirty="0"/>
              <a:t>as</a:t>
            </a:r>
            <a:r>
              <a:rPr lang="en-US" altLang="en-US" dirty="0"/>
              <a:t> </a:t>
            </a:r>
            <a:r>
              <a:rPr lang="en-US" altLang="en-US" i="1" dirty="0"/>
              <a:t>avg_salary</a:t>
            </a:r>
            <a:br>
              <a:rPr lang="en-US" altLang="en-US" dirty="0"/>
            </a:br>
            <a:r>
              <a:rPr lang="en-US" altLang="en-US" b="1" dirty="0"/>
              <a:t>from </a:t>
            </a:r>
            <a:r>
              <a:rPr lang="en-US" altLang="en-US" i="1" dirty="0"/>
              <a:t>instructor</a:t>
            </a:r>
            <a:br>
              <a:rPr lang="en-US" altLang="en-US" i="1" dirty="0"/>
            </a:br>
            <a:r>
              <a:rPr lang="en-US" altLang="en-US" b="1" dirty="0"/>
              <a:t>group by </a:t>
            </a:r>
            <a:r>
              <a:rPr lang="en-US" altLang="en-US" i="1" dirty="0"/>
              <a:t>dept_name</a:t>
            </a:r>
            <a:r>
              <a:rPr lang="en-US" altLang="en-US" dirty="0"/>
              <a:t>;</a:t>
            </a:r>
            <a:endParaRPr lang="en-US" altLang="en-US" dirty="0"/>
          </a:p>
          <a:p>
            <a:pPr lvl="1" defTabSz="0">
              <a:tabLst>
                <a:tab pos="625475" algn="l"/>
              </a:tabLst>
            </a:pPr>
            <a:endParaRPr lang="en-US" altLang="en-US" dirty="0"/>
          </a:p>
          <a:p>
            <a:pPr lvl="1" defTabSz="0">
              <a:tabLst>
                <a:tab pos="625475" algn="l"/>
              </a:tabLst>
            </a:pPr>
            <a:endParaRPr lang="en-US" altLang="en-US" dirty="0"/>
          </a:p>
        </p:txBody>
      </p:sp>
      <p:pic>
        <p:nvPicPr>
          <p:cNvPr id="38916" name="Picture 4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463" y="2571750"/>
            <a:ext cx="4056062" cy="36480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8917" name="Picture 5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275" y="3122613"/>
            <a:ext cx="2411413" cy="2670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918" name="Text Box 6"/>
          <p:cNvSpPr txBox="1"/>
          <p:nvPr/>
        </p:nvSpPr>
        <p:spPr>
          <a:xfrm>
            <a:off x="7129463" y="3228975"/>
            <a:ext cx="882650" cy="212725"/>
          </a:xfrm>
          <a:prstGeom prst="rect">
            <a:avLst/>
          </a:prstGeom>
          <a:solidFill>
            <a:srgbClr val="99CCFF"/>
          </a:solidFill>
          <a:ln w="9525">
            <a:noFill/>
          </a:ln>
        </p:spPr>
        <p:txBody>
          <a:bodyPr lIns="0" tIns="0" rIns="0" bIns="0">
            <a:spAutoFit/>
          </a:bodyPr>
          <a:lstStyle/>
          <a:p>
            <a:r>
              <a:rPr lang="en-US" altLang="en-US" sz="1400" i="1" dirty="0">
                <a:latin typeface="Helvetica" panose="020B0604020202030204" pitchFamily="34" charset="0"/>
              </a:rPr>
              <a:t>avg_salary</a:t>
            </a:r>
            <a:endParaRPr lang="en-US" altLang="en-US" sz="1400" i="1" dirty="0">
              <a:latin typeface="Helvetica" panose="020B0604020202030204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Aggregation (Cont.)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9939" name="Text Box 3"/>
          <p:cNvSpPr>
            <a:spLocks noGrp="1"/>
          </p:cNvSpPr>
          <p:nvPr>
            <p:ph idx="1"/>
          </p:nvPr>
        </p:nvSpPr>
        <p:spPr>
          <a:xfrm>
            <a:off x="241935" y="1094105"/>
            <a:ext cx="8595995" cy="4903470"/>
          </a:xfrm>
        </p:spPr>
        <p:txBody>
          <a:bodyPr vert="horz" wrap="square" lIns="91440" tIns="45720" rIns="91440" bIns="45720" anchor="t"/>
          <a:lstStyle/>
          <a:p>
            <a:r>
              <a:rPr lang="en-US" altLang="en-US" dirty="0">
                <a:solidFill>
                  <a:srgbClr val="FF0000"/>
                </a:solidFill>
              </a:rPr>
              <a:t>Attributes in </a:t>
            </a:r>
            <a:r>
              <a:rPr lang="en-US" altLang="en-US" b="1" dirty="0">
                <a:solidFill>
                  <a:srgbClr val="FF0000"/>
                </a:solidFill>
              </a:rPr>
              <a:t>select </a:t>
            </a:r>
            <a:r>
              <a:rPr lang="en-US" altLang="en-US" dirty="0">
                <a:solidFill>
                  <a:srgbClr val="FF0000"/>
                </a:solidFill>
              </a:rPr>
              <a:t>clause outside of aggregate functions must appear in </a:t>
            </a:r>
            <a:r>
              <a:rPr lang="en-US" altLang="en-US" b="1" dirty="0">
                <a:solidFill>
                  <a:srgbClr val="FF0000"/>
                </a:solidFill>
              </a:rPr>
              <a:t>group by</a:t>
            </a:r>
            <a:r>
              <a:rPr lang="en-US" altLang="en-US" dirty="0">
                <a:solidFill>
                  <a:srgbClr val="FF0000"/>
                </a:solidFill>
              </a:rPr>
              <a:t> list</a:t>
            </a:r>
            <a:endParaRPr lang="en-US" altLang="en-US" dirty="0">
              <a:solidFill>
                <a:srgbClr val="FF0000"/>
              </a:solidFill>
            </a:endParaRPr>
          </a:p>
          <a:p>
            <a:pPr lvl="1"/>
            <a:r>
              <a:rPr lang="en-US" altLang="en-US" dirty="0"/>
              <a:t>/* erroneous query */</a:t>
            </a:r>
            <a:br>
              <a:rPr lang="en-US" altLang="en-US" dirty="0"/>
            </a:br>
            <a:r>
              <a:rPr lang="en-US" altLang="en-US" b="1" dirty="0"/>
              <a:t>select </a:t>
            </a:r>
            <a:r>
              <a:rPr lang="en-US" altLang="en-US" i="1" dirty="0"/>
              <a:t>dept_name</a:t>
            </a:r>
            <a:r>
              <a:rPr lang="en-US" altLang="en-US" dirty="0"/>
              <a:t>, </a:t>
            </a:r>
            <a:r>
              <a:rPr lang="en-US" altLang="en-US" i="1" dirty="0">
                <a:solidFill>
                  <a:srgbClr val="C00000"/>
                </a:solidFill>
              </a:rPr>
              <a:t>ID</a:t>
            </a:r>
            <a:r>
              <a:rPr lang="en-US" altLang="en-US" dirty="0"/>
              <a:t>, </a:t>
            </a:r>
            <a:r>
              <a:rPr lang="en-US" altLang="en-US" b="1" dirty="0"/>
              <a:t>avg </a:t>
            </a:r>
            <a:r>
              <a:rPr lang="en-US" altLang="en-US" dirty="0"/>
              <a:t>(</a:t>
            </a:r>
            <a:r>
              <a:rPr lang="en-US" altLang="en-US" i="1" dirty="0"/>
              <a:t>salary</a:t>
            </a:r>
            <a:r>
              <a:rPr lang="en-US" altLang="en-US" dirty="0"/>
              <a:t>)</a:t>
            </a:r>
            <a:br>
              <a:rPr lang="en-US" altLang="en-US" dirty="0"/>
            </a:br>
            <a:r>
              <a:rPr lang="en-US" altLang="en-US" b="1" dirty="0"/>
              <a:t>from </a:t>
            </a:r>
            <a:r>
              <a:rPr lang="en-US" altLang="en-US" i="1" dirty="0"/>
              <a:t>instructor</a:t>
            </a:r>
            <a:br>
              <a:rPr lang="en-US" altLang="en-US" i="1" dirty="0"/>
            </a:br>
            <a:r>
              <a:rPr lang="en-US" altLang="en-US" b="1" dirty="0"/>
              <a:t>group by </a:t>
            </a:r>
            <a:r>
              <a:rPr lang="en-US" altLang="en-US" i="1" dirty="0"/>
              <a:t>dept_name</a:t>
            </a:r>
            <a:r>
              <a:rPr lang="en-US" altLang="en-US" dirty="0"/>
              <a:t>;</a:t>
            </a:r>
            <a:endParaRPr lang="en-US" altLang="en-US" dirty="0"/>
          </a:p>
        </p:txBody>
      </p:sp>
      <p:pic>
        <p:nvPicPr>
          <p:cNvPr id="38916" name="Picture 4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6453" y="2757170"/>
            <a:ext cx="4056062" cy="36480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rcRect l="730" t="4362" r="4203" b="1099"/>
          <a:stretch>
            <a:fillRect/>
          </a:stretch>
        </p:blipFill>
        <p:spPr>
          <a:xfrm>
            <a:off x="683260" y="-57785"/>
            <a:ext cx="8394065" cy="656463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98525" y="211455"/>
            <a:ext cx="8015605" cy="567055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80110" y="227965"/>
            <a:ext cx="7920990" cy="527875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·</a:t>
            </a:r>
            <a:endParaRPr lang="en-US" altLang="zh-CN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160" y="589280"/>
            <a:ext cx="8283575" cy="59791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20021" t="30892" r="23109" b="8275"/>
          <a:stretch>
            <a:fillRect/>
          </a:stretch>
        </p:blipFill>
        <p:spPr>
          <a:xfrm>
            <a:off x="3126740" y="-107950"/>
            <a:ext cx="6017260" cy="40227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Rectangle 2"/>
          <p:cNvSpPr>
            <a:spLocks noGrp="1" noChangeArrowheads="1"/>
          </p:cNvSpPr>
          <p:nvPr>
            <p:ph type="title"/>
          </p:nvPr>
        </p:nvSpPr>
        <p:spPr>
          <a:xfrm>
            <a:off x="923925" y="96838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Aggregate Functions – Having Clause</a:t>
            </a:r>
            <a:endParaRPr kumimoji="1" 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0963" name="Rectangle 3"/>
          <p:cNvSpPr>
            <a:spLocks noGrp="1"/>
          </p:cNvSpPr>
          <p:nvPr>
            <p:ph idx="1"/>
          </p:nvPr>
        </p:nvSpPr>
        <p:spPr>
          <a:xfrm>
            <a:off x="330200" y="1193800"/>
            <a:ext cx="8612505" cy="773430"/>
          </a:xfrm>
        </p:spPr>
        <p:txBody>
          <a:bodyPr vert="horz" wrap="square" lIns="91440" tIns="45720" rIns="91440" bIns="45720" anchor="t"/>
          <a:lstStyle/>
          <a:p>
            <a:pPr defTabSz="0">
              <a:tabLst>
                <a:tab pos="1489075" algn="l"/>
              </a:tabLst>
            </a:pPr>
            <a:r>
              <a:rPr lang="en-US" altLang="en-US" dirty="0"/>
              <a:t>Find the names and average salaries of all departments whose average salary is greater than 42000</a:t>
            </a:r>
            <a:endParaRPr lang="en-US" altLang="en-US" dirty="0"/>
          </a:p>
        </p:txBody>
      </p:sp>
      <p:sp>
        <p:nvSpPr>
          <p:cNvPr id="40964" name="Text Box 4"/>
          <p:cNvSpPr txBox="1"/>
          <p:nvPr/>
        </p:nvSpPr>
        <p:spPr>
          <a:xfrm>
            <a:off x="658813" y="3756978"/>
            <a:ext cx="7842250" cy="1198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lang="en-US" altLang="en-US" sz="2400" dirty="0">
                <a:solidFill>
                  <a:srgbClr val="000099"/>
                </a:solidFill>
                <a:latin typeface="Helvetica" panose="020B0604020202030204" pitchFamily="34" charset="0"/>
              </a:rPr>
              <a:t>Note: </a:t>
            </a:r>
            <a:r>
              <a:rPr lang="en-US" altLang="en-US" sz="2400" dirty="0">
                <a:latin typeface="Helvetica" panose="020B0604020202030204" pitchFamily="34" charset="0"/>
              </a:rPr>
              <a:t> predicates in the </a:t>
            </a:r>
            <a:r>
              <a:rPr lang="en-US" altLang="en-US" sz="2400" b="1" dirty="0">
                <a:latin typeface="Helvetica" panose="020B0604020202030204" pitchFamily="34" charset="0"/>
              </a:rPr>
              <a:t>having</a:t>
            </a:r>
            <a:r>
              <a:rPr lang="en-US" altLang="en-US" sz="2400" dirty="0">
                <a:latin typeface="Helvetica" panose="020B0604020202030204" pitchFamily="34" charset="0"/>
              </a:rPr>
              <a:t> clause are applied after the formation of groups whereas predicates in the </a:t>
            </a:r>
            <a:r>
              <a:rPr lang="en-US" altLang="en-US" sz="2400" b="1" dirty="0">
                <a:latin typeface="Helvetica" panose="020B0604020202030204" pitchFamily="34" charset="0"/>
              </a:rPr>
              <a:t>where</a:t>
            </a:r>
            <a:r>
              <a:rPr lang="en-US" altLang="en-US" sz="2400" dirty="0">
                <a:latin typeface="Helvetica" panose="020B0604020202030204" pitchFamily="34" charset="0"/>
              </a:rPr>
              <a:t> clause are applied before forming groups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40965" name="Text Box 5"/>
          <p:cNvSpPr txBox="1"/>
          <p:nvPr/>
        </p:nvSpPr>
        <p:spPr>
          <a:xfrm>
            <a:off x="923925" y="2085340"/>
            <a:ext cx="6615430" cy="13220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en-US" sz="2000" b="1" dirty="0">
                <a:latin typeface="Helvetica" panose="020B0604020202030204" pitchFamily="34" charset="0"/>
              </a:rPr>
              <a:t>select </a:t>
            </a:r>
            <a:r>
              <a:rPr lang="en-US" altLang="en-US" sz="2000" i="1" dirty="0">
                <a:latin typeface="Helvetica" panose="020B0604020202030204" pitchFamily="34" charset="0"/>
              </a:rPr>
              <a:t>dept_name</a:t>
            </a:r>
            <a:r>
              <a:rPr lang="en-US" altLang="en-US" sz="2000" dirty="0">
                <a:latin typeface="Helvetica" panose="020B0604020202030204" pitchFamily="34" charset="0"/>
              </a:rPr>
              <a:t>, </a:t>
            </a:r>
            <a:r>
              <a:rPr lang="en-US" altLang="en-US" sz="2000" b="1" dirty="0">
                <a:latin typeface="Helvetica" panose="020B0604020202030204" pitchFamily="34" charset="0"/>
              </a:rPr>
              <a:t>avg </a:t>
            </a:r>
            <a:r>
              <a:rPr lang="en-US" altLang="en-US" sz="2000" dirty="0">
                <a:latin typeface="Helvetica" panose="020B0604020202030204" pitchFamily="34" charset="0"/>
              </a:rPr>
              <a:t>(</a:t>
            </a:r>
            <a:r>
              <a:rPr lang="en-US" altLang="en-US" sz="2000" i="1" dirty="0">
                <a:latin typeface="Helvetica" panose="020B0604020202030204" pitchFamily="34" charset="0"/>
              </a:rPr>
              <a:t>salary</a:t>
            </a:r>
            <a:r>
              <a:rPr lang="en-US" altLang="en-US" sz="2000" dirty="0">
                <a:latin typeface="Helvetica" panose="020B0604020202030204" pitchFamily="34" charset="0"/>
              </a:rPr>
              <a:t>)</a:t>
            </a:r>
            <a:endParaRPr lang="en-US" altLang="en-US" sz="2000" dirty="0">
              <a:latin typeface="Helvetica" panose="020B0604020202030204" pitchFamily="34" charset="0"/>
            </a:endParaRPr>
          </a:p>
          <a:p>
            <a:r>
              <a:rPr lang="en-US" altLang="en-US" sz="2000" b="1" dirty="0">
                <a:latin typeface="Helvetica" panose="020B0604020202030204" pitchFamily="34" charset="0"/>
              </a:rPr>
              <a:t>from </a:t>
            </a:r>
            <a:r>
              <a:rPr lang="en-US" altLang="en-US" sz="2000" i="1" dirty="0">
                <a:latin typeface="Helvetica" panose="020B0604020202030204" pitchFamily="34" charset="0"/>
              </a:rPr>
              <a:t>instructor</a:t>
            </a:r>
            <a:endParaRPr lang="en-US" altLang="en-US" sz="2000" i="1" dirty="0">
              <a:latin typeface="Helvetica" panose="020B0604020202030204" pitchFamily="34" charset="0"/>
            </a:endParaRPr>
          </a:p>
          <a:p>
            <a:r>
              <a:rPr lang="en-US" altLang="en-US" sz="2000" b="1" dirty="0">
                <a:latin typeface="Helvetica" panose="020B0604020202030204" pitchFamily="34" charset="0"/>
              </a:rPr>
              <a:t>group by </a:t>
            </a:r>
            <a:r>
              <a:rPr lang="en-US" altLang="en-US" sz="2000" i="1" dirty="0">
                <a:latin typeface="Helvetica" panose="020B0604020202030204" pitchFamily="34" charset="0"/>
              </a:rPr>
              <a:t>dept_name</a:t>
            </a:r>
            <a:endParaRPr lang="en-US" altLang="en-US" sz="2000" i="1" dirty="0">
              <a:latin typeface="Helvetica" panose="020B0604020202030204" pitchFamily="34" charset="0"/>
            </a:endParaRPr>
          </a:p>
          <a:p>
            <a:r>
              <a:rPr lang="en-US" altLang="en-US" sz="2000" b="1" dirty="0">
                <a:solidFill>
                  <a:srgbClr val="FF0000"/>
                </a:solidFill>
                <a:latin typeface="Helvetica" panose="020B0604020202030204" pitchFamily="34" charset="0"/>
              </a:rPr>
              <a:t>having avg </a:t>
            </a:r>
            <a:r>
              <a:rPr lang="en-US" altLang="en-US" sz="2000" dirty="0">
                <a:solidFill>
                  <a:srgbClr val="FF0000"/>
                </a:solidFill>
                <a:latin typeface="Helvetica" panose="020B0604020202030204" pitchFamily="34" charset="0"/>
              </a:rPr>
              <a:t>(</a:t>
            </a:r>
            <a:r>
              <a:rPr lang="en-US" altLang="en-US" sz="2000" i="1" dirty="0">
                <a:solidFill>
                  <a:srgbClr val="FF0000"/>
                </a:solidFill>
                <a:latin typeface="Helvetica" panose="020B0604020202030204" pitchFamily="34" charset="0"/>
              </a:rPr>
              <a:t>salary</a:t>
            </a:r>
            <a:r>
              <a:rPr lang="en-US" altLang="en-US" sz="2000" dirty="0">
                <a:solidFill>
                  <a:srgbClr val="FF0000"/>
                </a:solidFill>
                <a:latin typeface="Helvetica" panose="020B0604020202030204" pitchFamily="34" charset="0"/>
              </a:rPr>
              <a:t>) &gt; 42000</a:t>
            </a:r>
            <a:r>
              <a:rPr lang="en-US" altLang="en-US" sz="2000" dirty="0">
                <a:latin typeface="Helvetica" panose="020B0604020202030204" pitchFamily="34" charset="0"/>
              </a:rPr>
              <a:t>;</a:t>
            </a:r>
            <a:endParaRPr lang="en-US" altLang="en-US" sz="2000" dirty="0">
              <a:latin typeface="Helvetica" panose="020B0604020202030204" pitchFamily="34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66445" y="40005"/>
            <a:ext cx="8239760" cy="590423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56920" y="167640"/>
            <a:ext cx="8313420" cy="588899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89940" y="100965"/>
            <a:ext cx="8211820" cy="593471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0830" y="330835"/>
            <a:ext cx="8802370" cy="515302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67080" y="201295"/>
            <a:ext cx="8206105" cy="562546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58875" y="1191895"/>
            <a:ext cx="6972300" cy="470662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44880" y="208280"/>
            <a:ext cx="7791450" cy="535178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20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Null Values and Aggregates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1987" name="Rectangle 3"/>
          <p:cNvSpPr>
            <a:spLocks noGrp="1"/>
          </p:cNvSpPr>
          <p:nvPr>
            <p:ph idx="1"/>
          </p:nvPr>
        </p:nvSpPr>
        <p:spPr>
          <a:xfrm>
            <a:off x="739775" y="1106488"/>
            <a:ext cx="7840663" cy="4667250"/>
          </a:xfrm>
        </p:spPr>
        <p:txBody>
          <a:bodyPr vert="horz" wrap="square" lIns="91440" tIns="45720" rIns="91440" bIns="45720" anchor="t"/>
          <a:lstStyle/>
          <a:p>
            <a:pPr defTabSz="0">
              <a:tabLst>
                <a:tab pos="1830705" algn="l"/>
                <a:tab pos="2232025" algn="l"/>
              </a:tabLst>
            </a:pPr>
            <a:r>
              <a:rPr lang="en-US" altLang="en-US" dirty="0"/>
              <a:t>Total all salaries</a:t>
            </a:r>
            <a:endParaRPr lang="en-US" altLang="en-US" dirty="0"/>
          </a:p>
          <a:p>
            <a:pPr defTabSz="0">
              <a:buNone/>
              <a:tabLst>
                <a:tab pos="1830705" algn="l"/>
                <a:tab pos="2232025" algn="l"/>
              </a:tabLst>
            </a:pPr>
            <a:r>
              <a:rPr lang="en-US" altLang="en-US" dirty="0"/>
              <a:t>		</a:t>
            </a:r>
            <a:r>
              <a:rPr lang="en-US" altLang="en-US" b="1" dirty="0"/>
              <a:t>select sum</a:t>
            </a:r>
            <a:r>
              <a:rPr lang="en-US" altLang="en-US" dirty="0"/>
              <a:t> (</a:t>
            </a:r>
            <a:r>
              <a:rPr lang="en-US" altLang="en-US" i="1" dirty="0"/>
              <a:t>salary </a:t>
            </a:r>
            <a:r>
              <a:rPr lang="en-US" altLang="en-US" dirty="0"/>
              <a:t>)</a:t>
            </a:r>
            <a:br>
              <a:rPr lang="en-US" altLang="en-US" i="1" dirty="0"/>
            </a:br>
            <a:r>
              <a:rPr lang="en-US" altLang="en-US" i="1" dirty="0"/>
              <a:t>	</a:t>
            </a:r>
            <a:r>
              <a:rPr lang="en-US" altLang="en-US" b="1" dirty="0"/>
              <a:t>from</a:t>
            </a:r>
            <a:r>
              <a:rPr lang="en-US" altLang="en-US" i="1" dirty="0"/>
              <a:t> instructor</a:t>
            </a:r>
            <a:endParaRPr lang="en-US" altLang="en-US" dirty="0"/>
          </a:p>
          <a:p>
            <a:pPr lvl="1" defTabSz="0">
              <a:tabLst>
                <a:tab pos="1830705" algn="l"/>
                <a:tab pos="2232025" algn="l"/>
              </a:tabLst>
            </a:pPr>
            <a:r>
              <a:rPr lang="en-US" altLang="en-US" dirty="0"/>
              <a:t>Above statement ignores null amounts</a:t>
            </a:r>
            <a:endParaRPr lang="en-US" altLang="en-US" dirty="0"/>
          </a:p>
          <a:p>
            <a:pPr lvl="1" defTabSz="0">
              <a:tabLst>
                <a:tab pos="1830705" algn="l"/>
                <a:tab pos="2232025" algn="l"/>
              </a:tabLst>
            </a:pPr>
            <a:r>
              <a:rPr lang="en-US" altLang="en-US" dirty="0"/>
              <a:t>Result is </a:t>
            </a:r>
            <a:r>
              <a:rPr lang="en-US" altLang="en-US" i="1" dirty="0"/>
              <a:t>null</a:t>
            </a:r>
            <a:r>
              <a:rPr lang="en-US" altLang="en-US" dirty="0"/>
              <a:t> if there is no non-null amount</a:t>
            </a:r>
            <a:endParaRPr lang="en-US" altLang="en-US" dirty="0"/>
          </a:p>
          <a:p>
            <a:pPr defTabSz="0">
              <a:tabLst>
                <a:tab pos="1830705" algn="l"/>
                <a:tab pos="2232025" algn="l"/>
              </a:tabLst>
            </a:pPr>
            <a:r>
              <a:rPr lang="en-US" altLang="en-US" dirty="0"/>
              <a:t>All aggregate operations</a:t>
            </a:r>
            <a:r>
              <a:rPr lang="en-US" altLang="en-US" dirty="0">
                <a:solidFill>
                  <a:srgbClr val="C00000"/>
                </a:solidFill>
              </a:rPr>
              <a:t> except </a:t>
            </a:r>
            <a:r>
              <a:rPr lang="en-US" altLang="en-US" b="1" dirty="0">
                <a:solidFill>
                  <a:srgbClr val="C00000"/>
                </a:solidFill>
              </a:rPr>
              <a:t>count(*)</a:t>
            </a:r>
            <a:r>
              <a:rPr lang="en-US" altLang="en-US" dirty="0"/>
              <a:t> ignore tuples with null values on the aggregated attributes</a:t>
            </a:r>
            <a:endParaRPr lang="en-US" altLang="en-US" dirty="0"/>
          </a:p>
          <a:p>
            <a:pPr defTabSz="0">
              <a:tabLst>
                <a:tab pos="1830705" algn="l"/>
                <a:tab pos="2232025" algn="l"/>
              </a:tabLst>
            </a:pPr>
            <a:r>
              <a:rPr lang="en-US" altLang="en-US" dirty="0"/>
              <a:t>What if collection has only null values?</a:t>
            </a:r>
            <a:endParaRPr lang="en-US" altLang="en-US" dirty="0"/>
          </a:p>
          <a:p>
            <a:pPr lvl="1" defTabSz="0">
              <a:tabLst>
                <a:tab pos="1830705" algn="l"/>
                <a:tab pos="2232025" algn="l"/>
              </a:tabLst>
            </a:pPr>
            <a:r>
              <a:rPr lang="en-US" altLang="en-US" dirty="0">
                <a:solidFill>
                  <a:srgbClr val="C00000"/>
                </a:solidFill>
              </a:rPr>
              <a:t>count returns 0</a:t>
            </a:r>
            <a:endParaRPr lang="en-US" altLang="en-US" dirty="0">
              <a:solidFill>
                <a:srgbClr val="C00000"/>
              </a:solidFill>
            </a:endParaRPr>
          </a:p>
          <a:p>
            <a:pPr lvl="1" defTabSz="0">
              <a:tabLst>
                <a:tab pos="1830705" algn="l"/>
                <a:tab pos="2232025" algn="l"/>
              </a:tabLst>
            </a:pPr>
            <a:r>
              <a:rPr lang="en-US" altLang="en-US" dirty="0">
                <a:solidFill>
                  <a:srgbClr val="C00000"/>
                </a:solidFill>
              </a:rPr>
              <a:t>all other aggregates return null</a:t>
            </a:r>
            <a:endParaRPr lang="en-US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14705" y="351790"/>
            <a:ext cx="7437120" cy="528574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Nested Subqueries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3011" name="Rectangle 3"/>
          <p:cNvSpPr>
            <a:spLocks noGrp="1"/>
          </p:cNvSpPr>
          <p:nvPr>
            <p:ph idx="1"/>
          </p:nvPr>
        </p:nvSpPr>
        <p:spPr>
          <a:xfrm>
            <a:off x="110490" y="1040130"/>
            <a:ext cx="8914765" cy="5600065"/>
          </a:xfrm>
        </p:spPr>
        <p:txBody>
          <a:bodyPr vert="horz" wrap="square" lIns="91440" tIns="45720" rIns="91440" bIns="45720" anchor="t"/>
          <a:lstStyle/>
          <a:p>
            <a:r>
              <a:rPr lang="en-US" altLang="en-US" dirty="0"/>
              <a:t>SQL provides a mechanism for the nesting of subqueries. A </a:t>
            </a:r>
            <a:r>
              <a:rPr lang="en-US" altLang="en-US" b="1" dirty="0">
                <a:solidFill>
                  <a:srgbClr val="000099"/>
                </a:solidFill>
              </a:rPr>
              <a:t>subquery</a:t>
            </a:r>
            <a:r>
              <a:rPr lang="en-US" altLang="en-US" dirty="0"/>
              <a:t> is a </a:t>
            </a:r>
            <a:r>
              <a:rPr lang="en-US" altLang="en-US" b="1" dirty="0"/>
              <a:t>select-from-where</a:t>
            </a:r>
            <a:r>
              <a:rPr lang="en-US" altLang="en-US" dirty="0"/>
              <a:t> expression that is nested within another query.</a:t>
            </a:r>
            <a:endParaRPr lang="en-US" altLang="en-US" dirty="0"/>
          </a:p>
          <a:p>
            <a:r>
              <a:rPr lang="en-US" altLang="en-US" dirty="0"/>
              <a:t>The nesting can be done in the following SQL query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b="1" dirty="0"/>
              <a:t>select </a:t>
            </a:r>
            <a:r>
              <a:rPr lang="en-US" altLang="en-US" i="1" dirty="0"/>
              <a:t>A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A</a:t>
            </a:r>
            <a:r>
              <a:rPr lang="en-US" altLang="en-US" baseline="-25000" dirty="0"/>
              <a:t>2</a:t>
            </a:r>
            <a:r>
              <a:rPr lang="en-US" altLang="en-US" dirty="0"/>
              <a:t>, ..., </a:t>
            </a:r>
            <a:r>
              <a:rPr lang="en-US" altLang="en-US" i="1" dirty="0"/>
              <a:t>A</a:t>
            </a:r>
            <a:r>
              <a:rPr lang="en-US" altLang="en-US" i="1" baseline="-25000" dirty="0"/>
              <a:t>n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b="1" dirty="0"/>
              <a:t>from</a:t>
            </a:r>
            <a:r>
              <a:rPr lang="en-US" altLang="en-US" dirty="0"/>
              <a:t> 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, ..., 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m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b="1" dirty="0"/>
              <a:t>where </a:t>
            </a:r>
            <a:r>
              <a:rPr lang="en-US" altLang="en-US" i="1" dirty="0"/>
              <a:t>P</a:t>
            </a:r>
            <a:br>
              <a:rPr lang="en-US" altLang="en-US" i="1" dirty="0"/>
            </a:br>
            <a:r>
              <a:rPr lang="en-US" altLang="en-US" dirty="0"/>
              <a:t>as follows:</a:t>
            </a:r>
            <a:endParaRPr lang="en-US" altLang="en-US" dirty="0"/>
          </a:p>
          <a:p>
            <a:pPr lvl="1"/>
            <a:r>
              <a:rPr lang="en-US" altLang="en-US" i="1" dirty="0"/>
              <a:t>A</a:t>
            </a:r>
            <a:r>
              <a:rPr lang="en-US" altLang="en-US" i="1" baseline="-25000" dirty="0"/>
              <a:t>i   </a:t>
            </a:r>
            <a:r>
              <a:rPr lang="en-US" altLang="en-US" dirty="0"/>
              <a:t>can be </a:t>
            </a:r>
            <a:r>
              <a:rPr lang="en-US" altLang="en-US" dirty="0">
                <a:solidFill>
                  <a:srgbClr val="C00000"/>
                </a:solidFill>
              </a:rPr>
              <a:t>replaced be a subquery</a:t>
            </a:r>
            <a:r>
              <a:rPr lang="en-US" altLang="en-US" dirty="0"/>
              <a:t> that</a:t>
            </a:r>
            <a:r>
              <a:rPr lang="en-US" altLang="en-US" dirty="0">
                <a:solidFill>
                  <a:srgbClr val="0070C0"/>
                </a:solidFill>
              </a:rPr>
              <a:t> generates a single value</a:t>
            </a:r>
            <a:r>
              <a:rPr lang="en-US" altLang="en-US" dirty="0"/>
              <a:t>.</a:t>
            </a:r>
            <a:endParaRPr lang="en-US" altLang="en-US" dirty="0"/>
          </a:p>
          <a:p>
            <a:pPr lvl="1"/>
            <a:r>
              <a:rPr lang="en-US" altLang="en-US" i="1" dirty="0"/>
              <a:t>r</a:t>
            </a:r>
            <a:r>
              <a:rPr lang="en-US" altLang="en-US" i="1" baseline="-25000" dirty="0"/>
              <a:t>i </a:t>
            </a:r>
            <a:r>
              <a:rPr lang="en-US" altLang="en-US" dirty="0"/>
              <a:t> can be</a:t>
            </a:r>
            <a:r>
              <a:rPr lang="en-US" altLang="en-US" dirty="0">
                <a:solidFill>
                  <a:schemeClr val="tx2"/>
                </a:solidFill>
              </a:rPr>
              <a:t> replaced by any valid subquery</a:t>
            </a:r>
            <a:endParaRPr lang="en-US" altLang="en-US" dirty="0"/>
          </a:p>
          <a:p>
            <a:pPr lvl="1"/>
            <a:r>
              <a:rPr lang="en-US" altLang="en-US" i="1" dirty="0"/>
              <a:t>P</a:t>
            </a:r>
            <a:r>
              <a:rPr lang="en-US" altLang="en-US" dirty="0"/>
              <a:t> can be replaced with an expression of the form:</a:t>
            </a:r>
            <a:endParaRPr lang="en-US" altLang="en-US" dirty="0"/>
          </a:p>
          <a:p>
            <a:pPr lvl="1">
              <a:buNone/>
            </a:pPr>
            <a:r>
              <a:rPr lang="en-US" altLang="en-US" dirty="0"/>
              <a:t>                </a:t>
            </a:r>
            <a:r>
              <a:rPr lang="en-US" altLang="en-US" i="1" dirty="0">
                <a:solidFill>
                  <a:schemeClr val="tx2"/>
                </a:solidFill>
              </a:rPr>
              <a:t>B</a:t>
            </a:r>
            <a:r>
              <a:rPr lang="en-US" altLang="en-US" dirty="0">
                <a:solidFill>
                  <a:schemeClr val="tx2"/>
                </a:solidFill>
              </a:rPr>
              <a:t> &lt;operation&gt; (subquery)</a:t>
            </a:r>
            <a:endParaRPr lang="en-US" altLang="en-US" dirty="0">
              <a:solidFill>
                <a:schemeClr val="tx2"/>
              </a:solidFill>
            </a:endParaRPr>
          </a:p>
          <a:p>
            <a:pPr lvl="1">
              <a:buNone/>
            </a:pPr>
            <a:r>
              <a:rPr lang="en-US" altLang="en-US" dirty="0"/>
              <a:t>     Where </a:t>
            </a:r>
            <a:r>
              <a:rPr lang="en-US" altLang="en-US" i="1" dirty="0"/>
              <a:t>B</a:t>
            </a:r>
            <a:r>
              <a:rPr lang="en-US" altLang="en-US" dirty="0"/>
              <a:t> is an attribute and &lt;operation&gt; to be defined later.</a:t>
            </a:r>
            <a:endParaRPr lang="en-US" alt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571750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Subqueries in the Where Clause</a:t>
            </a:r>
            <a:endParaRPr kumimoji="1" 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4035" name="Rectangle 3"/>
          <p:cNvSpPr>
            <a:spLocks noGrp="1"/>
          </p:cNvSpPr>
          <p:nvPr>
            <p:ph idx="1"/>
          </p:nvPr>
        </p:nvSpPr>
        <p:spPr>
          <a:xfrm>
            <a:off x="803275" y="803275"/>
            <a:ext cx="7343775" cy="4586288"/>
          </a:xfrm>
        </p:spPr>
        <p:txBody>
          <a:bodyPr vert="horz" wrap="square" lIns="91440" tIns="45720" rIns="91440" bIns="45720" anchor="t"/>
          <a:lstStyle/>
          <a:p>
            <a:pPr>
              <a:buNone/>
            </a:pPr>
            <a:endParaRPr lang="en-US" altLang="en-US" dirty="0"/>
          </a:p>
          <a:p>
            <a:pPr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 rotWithShape="1">
          <a:blip r:embed="rId1"/>
          <a:srcRect r="10417"/>
          <a:stretch>
            <a:fillRect/>
          </a:stretch>
        </p:blipFill>
        <p:spPr>
          <a:xfrm>
            <a:off x="1546225" y="0"/>
            <a:ext cx="7195439" cy="4223385"/>
          </a:xfrm>
          <a:prstGeom prst="rect">
            <a:avLst/>
          </a:prstGeom>
        </p:spPr>
      </p:pic>
      <p:pic>
        <p:nvPicPr>
          <p:cNvPr id="5" name="内容占位符 3"/>
          <p:cNvPicPr>
            <a:picLocks noChangeAspect="1"/>
          </p:cNvPicPr>
          <p:nvPr/>
        </p:nvPicPr>
        <p:blipFill rotWithShape="1">
          <a:blip r:embed="rId2"/>
          <a:srcRect l="15357" t="12720" r="22184"/>
          <a:stretch>
            <a:fillRect/>
          </a:stretch>
        </p:blipFill>
        <p:spPr>
          <a:xfrm>
            <a:off x="128016" y="3267724"/>
            <a:ext cx="3364992" cy="3341991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65100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Subqueries in the Where Clause</a:t>
            </a:r>
            <a:endParaRPr kumimoji="1" 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5059" name="Rectangle 3"/>
          <p:cNvSpPr>
            <a:spLocks noGrp="1"/>
          </p:cNvSpPr>
          <p:nvPr>
            <p:ph idx="1"/>
          </p:nvPr>
        </p:nvSpPr>
        <p:spPr>
          <a:xfrm>
            <a:off x="803275" y="803275"/>
            <a:ext cx="7343775" cy="4586288"/>
          </a:xfrm>
        </p:spPr>
        <p:txBody>
          <a:bodyPr vert="horz" wrap="square" lIns="91440" tIns="45720" rIns="91440" bIns="45720" anchor="t"/>
          <a:lstStyle/>
          <a:p>
            <a:pPr>
              <a:buNone/>
            </a:pPr>
            <a:endParaRPr lang="en-US" altLang="en-US" dirty="0"/>
          </a:p>
          <a:p>
            <a:r>
              <a:rPr lang="en-US" altLang="en-US" dirty="0"/>
              <a:t>A common use of subqueries is to perform tests:</a:t>
            </a:r>
            <a:endParaRPr lang="en-US" altLang="en-US" dirty="0"/>
          </a:p>
          <a:p>
            <a:pPr lvl="1"/>
            <a:r>
              <a:rPr lang="en-US" altLang="en-US" dirty="0"/>
              <a:t> For set membership</a:t>
            </a:r>
            <a:endParaRPr lang="en-US" altLang="en-US" dirty="0"/>
          </a:p>
          <a:p>
            <a:pPr lvl="1"/>
            <a:r>
              <a:rPr lang="en-US" altLang="en-US" dirty="0"/>
              <a:t> For set comparisons</a:t>
            </a:r>
            <a:endParaRPr lang="en-US" altLang="en-US" dirty="0"/>
          </a:p>
          <a:p>
            <a:pPr lvl="1"/>
            <a:r>
              <a:rPr lang="en-US" altLang="en-US" dirty="0"/>
              <a:t> For set cardinality.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85520" y="231140"/>
            <a:ext cx="7734935" cy="556387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Set Membership </a:t>
            </a:r>
            <a:endParaRPr kumimoji="1" 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6083" name="Rectangle 3"/>
          <p:cNvSpPr>
            <a:spLocks noGrp="1"/>
          </p:cNvSpPr>
          <p:nvPr>
            <p:ph idx="1"/>
          </p:nvPr>
        </p:nvSpPr>
        <p:spPr>
          <a:xfrm>
            <a:off x="811213" y="1109663"/>
            <a:ext cx="7661275" cy="917575"/>
          </a:xfrm>
        </p:spPr>
        <p:txBody>
          <a:bodyPr vert="horz" wrap="square" lIns="91440" tIns="45720" rIns="91440" bIns="45720" anchor="t"/>
          <a:lstStyle/>
          <a:p>
            <a:pPr defTabSz="0">
              <a:tabLst>
                <a:tab pos="1027430" algn="l"/>
              </a:tabLst>
            </a:pPr>
            <a:r>
              <a:rPr lang="en-US" altLang="en-US" dirty="0"/>
              <a:t>Find courses offered in Fall 2009 and in Spring 2010</a:t>
            </a:r>
            <a:endParaRPr lang="en-US" altLang="en-US" dirty="0"/>
          </a:p>
        </p:txBody>
      </p:sp>
      <p:sp>
        <p:nvSpPr>
          <p:cNvPr id="46084" name="Text Box 4"/>
          <p:cNvSpPr txBox="1"/>
          <p:nvPr/>
        </p:nvSpPr>
        <p:spPr>
          <a:xfrm>
            <a:off x="758825" y="3595688"/>
            <a:ext cx="7688263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</a:pPr>
            <a:r>
              <a:rPr lang="en-US" altLang="en-US" dirty="0">
                <a:latin typeface="Helvetica" panose="020B0604020202030204" pitchFamily="34" charset="0"/>
              </a:rPr>
              <a:t>   Find courses offered in Fall 2009 but not in Spring 2010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46085" name="Text Box 5"/>
          <p:cNvSpPr txBox="1"/>
          <p:nvPr/>
        </p:nvSpPr>
        <p:spPr>
          <a:xfrm>
            <a:off x="1612900" y="1698625"/>
            <a:ext cx="6216650" cy="1558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1600" b="1" dirty="0">
                <a:latin typeface="Helvetica" panose="020B0604020202030204" pitchFamily="34" charset="0"/>
              </a:rPr>
              <a:t>select distinct </a:t>
            </a:r>
            <a:r>
              <a:rPr lang="en-US" altLang="en-US" sz="1600" i="1" dirty="0">
                <a:latin typeface="Helvetica" panose="020B0604020202030204" pitchFamily="34" charset="0"/>
              </a:rPr>
              <a:t>course_id</a:t>
            </a:r>
            <a:endParaRPr lang="en-US" altLang="en-US" sz="1600" i="1" dirty="0">
              <a:latin typeface="Helvetica" panose="020B0604020202030204" pitchFamily="34" charset="0"/>
            </a:endParaRPr>
          </a:p>
          <a:p>
            <a:r>
              <a:rPr lang="en-US" altLang="en-US" sz="1600" b="1" dirty="0">
                <a:latin typeface="Helvetica" panose="020B0604020202030204" pitchFamily="34" charset="0"/>
              </a:rPr>
              <a:t>from </a:t>
            </a:r>
            <a:r>
              <a:rPr lang="en-US" altLang="en-US" sz="1600" i="1" dirty="0">
                <a:latin typeface="Helvetica" panose="020B0604020202030204" pitchFamily="34" charset="0"/>
              </a:rPr>
              <a:t>section</a:t>
            </a:r>
            <a:endParaRPr lang="en-US" altLang="en-US" sz="1600" i="1" dirty="0">
              <a:latin typeface="Helvetica" panose="020B0604020202030204" pitchFamily="34" charset="0"/>
            </a:endParaRPr>
          </a:p>
          <a:p>
            <a:r>
              <a:rPr lang="en-US" altLang="en-US" sz="1600" b="1" dirty="0">
                <a:latin typeface="Helvetica" panose="020B0604020202030204" pitchFamily="34" charset="0"/>
              </a:rPr>
              <a:t>where </a:t>
            </a:r>
            <a:r>
              <a:rPr lang="en-US" altLang="en-US" sz="1600" i="1" dirty="0">
                <a:latin typeface="Helvetica" panose="020B0604020202030204" pitchFamily="34" charset="0"/>
              </a:rPr>
              <a:t>semester </a:t>
            </a:r>
            <a:r>
              <a:rPr lang="en-US" altLang="en-US" sz="1600" dirty="0">
                <a:latin typeface="Helvetica" panose="020B0604020202030204" pitchFamily="34" charset="0"/>
              </a:rPr>
              <a:t>= ’Fall’ </a:t>
            </a:r>
            <a:r>
              <a:rPr lang="en-US" altLang="en-US" sz="1600" b="1" dirty="0">
                <a:latin typeface="Helvetica" panose="020B0604020202030204" pitchFamily="34" charset="0"/>
              </a:rPr>
              <a:t>and </a:t>
            </a:r>
            <a:r>
              <a:rPr lang="en-US" altLang="en-US" sz="1600" i="1" dirty="0">
                <a:latin typeface="Helvetica" panose="020B0604020202030204" pitchFamily="34" charset="0"/>
              </a:rPr>
              <a:t>year</a:t>
            </a:r>
            <a:r>
              <a:rPr lang="en-US" altLang="en-US" sz="1600" dirty="0">
                <a:latin typeface="Helvetica" panose="020B0604020202030204" pitchFamily="34" charset="0"/>
              </a:rPr>
              <a:t>= 2009 </a:t>
            </a:r>
            <a:r>
              <a:rPr lang="en-US" altLang="en-US" sz="1600" b="1" dirty="0">
                <a:latin typeface="Helvetica" panose="020B0604020202030204" pitchFamily="34" charset="0"/>
              </a:rPr>
              <a:t>and </a:t>
            </a:r>
            <a:br>
              <a:rPr lang="en-US" altLang="en-US" sz="1600" b="1" dirty="0">
                <a:latin typeface="Helvetica" panose="020B0604020202030204" pitchFamily="34" charset="0"/>
              </a:rPr>
            </a:br>
            <a:r>
              <a:rPr lang="en-US" altLang="en-US" sz="1600" b="1" dirty="0">
                <a:latin typeface="Helvetica" panose="020B0604020202030204" pitchFamily="34" charset="0"/>
              </a:rPr>
              <a:t>           </a:t>
            </a:r>
            <a:r>
              <a:rPr lang="en-US" altLang="en-US" sz="1600" i="1" dirty="0">
                <a:latin typeface="Helvetica" panose="020B0604020202030204" pitchFamily="34" charset="0"/>
              </a:rPr>
              <a:t>course_id </a:t>
            </a:r>
            <a:r>
              <a:rPr lang="en-US" altLang="en-US" sz="1600" b="1" dirty="0">
                <a:latin typeface="Helvetica" panose="020B0604020202030204" pitchFamily="34" charset="0"/>
              </a:rPr>
              <a:t>in </a:t>
            </a:r>
            <a:r>
              <a:rPr lang="en-US" altLang="en-US" sz="1600" dirty="0">
                <a:latin typeface="Helvetica" panose="020B0604020202030204" pitchFamily="34" charset="0"/>
              </a:rPr>
              <a:t>(</a:t>
            </a:r>
            <a:r>
              <a:rPr lang="en-US" altLang="en-US" sz="1600" b="1" dirty="0">
                <a:latin typeface="Helvetica" panose="020B0604020202030204" pitchFamily="34" charset="0"/>
              </a:rPr>
              <a:t>select </a:t>
            </a:r>
            <a:r>
              <a:rPr lang="en-US" altLang="en-US" sz="1600" i="1" dirty="0">
                <a:latin typeface="Helvetica" panose="020B0604020202030204" pitchFamily="34" charset="0"/>
              </a:rPr>
              <a:t>course_id</a:t>
            </a:r>
            <a:endParaRPr lang="en-US" altLang="en-US" sz="1600" i="1" dirty="0">
              <a:latin typeface="Helvetica" panose="020B0604020202030204" pitchFamily="34" charset="0"/>
            </a:endParaRPr>
          </a:p>
          <a:p>
            <a:r>
              <a:rPr lang="en-US" altLang="en-US" sz="1600" b="1" dirty="0">
                <a:latin typeface="Helvetica" panose="020B0604020202030204" pitchFamily="34" charset="0"/>
              </a:rPr>
              <a:t>                                 from </a:t>
            </a:r>
            <a:r>
              <a:rPr lang="en-US" altLang="en-US" sz="1600" i="1" dirty="0">
                <a:latin typeface="Helvetica" panose="020B0604020202030204" pitchFamily="34" charset="0"/>
              </a:rPr>
              <a:t>section</a:t>
            </a:r>
            <a:endParaRPr lang="en-US" altLang="en-US" sz="1600" i="1" dirty="0">
              <a:latin typeface="Helvetica" panose="020B0604020202030204" pitchFamily="34" charset="0"/>
            </a:endParaRPr>
          </a:p>
          <a:p>
            <a:r>
              <a:rPr lang="en-US" altLang="en-US" sz="1600" b="1" dirty="0">
                <a:latin typeface="Helvetica" panose="020B0604020202030204" pitchFamily="34" charset="0"/>
              </a:rPr>
              <a:t>                                 where </a:t>
            </a:r>
            <a:r>
              <a:rPr lang="en-US" altLang="en-US" sz="1600" i="1" dirty="0">
                <a:latin typeface="Helvetica" panose="020B0604020202030204" pitchFamily="34" charset="0"/>
              </a:rPr>
              <a:t>semester </a:t>
            </a:r>
            <a:r>
              <a:rPr lang="en-US" altLang="en-US" sz="1600" dirty="0">
                <a:latin typeface="Helvetica" panose="020B0604020202030204" pitchFamily="34" charset="0"/>
              </a:rPr>
              <a:t>= ’Spring’ </a:t>
            </a:r>
            <a:r>
              <a:rPr lang="en-US" altLang="en-US" sz="1600" b="1" dirty="0">
                <a:latin typeface="Helvetica" panose="020B0604020202030204" pitchFamily="34" charset="0"/>
              </a:rPr>
              <a:t>and </a:t>
            </a:r>
            <a:r>
              <a:rPr lang="en-US" altLang="en-US" sz="1600" i="1" dirty="0">
                <a:latin typeface="Helvetica" panose="020B0604020202030204" pitchFamily="34" charset="0"/>
              </a:rPr>
              <a:t>year</a:t>
            </a:r>
            <a:r>
              <a:rPr lang="en-US" altLang="en-US" sz="1600" dirty="0">
                <a:latin typeface="Helvetica" panose="020B0604020202030204" pitchFamily="34" charset="0"/>
              </a:rPr>
              <a:t>= 2010);</a:t>
            </a:r>
            <a:endParaRPr lang="en-US" altLang="en-US" sz="1600" dirty="0">
              <a:latin typeface="Helvetica" panose="020B0604020202030204" pitchFamily="34" charset="0"/>
            </a:endParaRPr>
          </a:p>
        </p:txBody>
      </p:sp>
      <p:sp>
        <p:nvSpPr>
          <p:cNvPr id="46086" name="Text Box 6"/>
          <p:cNvSpPr txBox="1"/>
          <p:nvPr/>
        </p:nvSpPr>
        <p:spPr>
          <a:xfrm>
            <a:off x="1625600" y="4225925"/>
            <a:ext cx="6586538" cy="1558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1600" b="1" dirty="0">
                <a:latin typeface="Helvetica" panose="020B0604020202030204" pitchFamily="34" charset="0"/>
              </a:rPr>
              <a:t>select distinct </a:t>
            </a:r>
            <a:r>
              <a:rPr lang="en-US" altLang="en-US" sz="1600" i="1" dirty="0">
                <a:latin typeface="Helvetica" panose="020B0604020202030204" pitchFamily="34" charset="0"/>
              </a:rPr>
              <a:t>course_id</a:t>
            </a:r>
            <a:endParaRPr lang="en-US" altLang="en-US" sz="1600" i="1" dirty="0">
              <a:latin typeface="Helvetica" panose="020B0604020202030204" pitchFamily="34" charset="0"/>
            </a:endParaRPr>
          </a:p>
          <a:p>
            <a:r>
              <a:rPr lang="en-US" altLang="en-US" sz="1600" b="1" dirty="0">
                <a:latin typeface="Helvetica" panose="020B0604020202030204" pitchFamily="34" charset="0"/>
              </a:rPr>
              <a:t>from </a:t>
            </a:r>
            <a:r>
              <a:rPr lang="en-US" altLang="en-US" sz="1600" i="1" dirty="0">
                <a:latin typeface="Helvetica" panose="020B0604020202030204" pitchFamily="34" charset="0"/>
              </a:rPr>
              <a:t>section</a:t>
            </a:r>
            <a:endParaRPr lang="en-US" altLang="en-US" sz="1600" i="1" dirty="0">
              <a:latin typeface="Helvetica" panose="020B0604020202030204" pitchFamily="34" charset="0"/>
            </a:endParaRPr>
          </a:p>
          <a:p>
            <a:r>
              <a:rPr lang="en-US" altLang="en-US" sz="1600" b="1" dirty="0">
                <a:latin typeface="Helvetica" panose="020B0604020202030204" pitchFamily="34" charset="0"/>
              </a:rPr>
              <a:t>where </a:t>
            </a:r>
            <a:r>
              <a:rPr lang="en-US" altLang="en-US" sz="1600" i="1" dirty="0">
                <a:latin typeface="Helvetica" panose="020B0604020202030204" pitchFamily="34" charset="0"/>
              </a:rPr>
              <a:t>semester </a:t>
            </a:r>
            <a:r>
              <a:rPr lang="en-US" altLang="en-US" sz="1600" dirty="0">
                <a:latin typeface="Helvetica" panose="020B0604020202030204" pitchFamily="34" charset="0"/>
              </a:rPr>
              <a:t>= ’Fall’ </a:t>
            </a:r>
            <a:r>
              <a:rPr lang="en-US" altLang="en-US" sz="1600" b="1" dirty="0">
                <a:latin typeface="Helvetica" panose="020B0604020202030204" pitchFamily="34" charset="0"/>
              </a:rPr>
              <a:t>and </a:t>
            </a:r>
            <a:r>
              <a:rPr lang="en-US" altLang="en-US" sz="1600" i="1" dirty="0">
                <a:latin typeface="Helvetica" panose="020B0604020202030204" pitchFamily="34" charset="0"/>
              </a:rPr>
              <a:t>year</a:t>
            </a:r>
            <a:r>
              <a:rPr lang="en-US" altLang="en-US" sz="1600" dirty="0">
                <a:latin typeface="Helvetica" panose="020B0604020202030204" pitchFamily="34" charset="0"/>
              </a:rPr>
              <a:t>= 2009 </a:t>
            </a:r>
            <a:r>
              <a:rPr lang="en-US" altLang="en-US" sz="1600" b="1" dirty="0">
                <a:latin typeface="Helvetica" panose="020B0604020202030204" pitchFamily="34" charset="0"/>
              </a:rPr>
              <a:t>and </a:t>
            </a:r>
            <a:br>
              <a:rPr lang="en-US" altLang="en-US" sz="1600" b="1" dirty="0">
                <a:latin typeface="Helvetica" panose="020B0604020202030204" pitchFamily="34" charset="0"/>
              </a:rPr>
            </a:br>
            <a:r>
              <a:rPr lang="en-US" altLang="en-US" sz="1600" b="1" dirty="0">
                <a:latin typeface="Helvetica" panose="020B0604020202030204" pitchFamily="34" charset="0"/>
              </a:rPr>
              <a:t>           </a:t>
            </a:r>
            <a:r>
              <a:rPr lang="en-US" altLang="en-US" sz="1600" i="1" dirty="0">
                <a:latin typeface="Helvetica" panose="020B0604020202030204" pitchFamily="34" charset="0"/>
              </a:rPr>
              <a:t>course_id  </a:t>
            </a:r>
            <a:r>
              <a:rPr lang="en-US" altLang="en-US" sz="1600" b="1" dirty="0">
                <a:latin typeface="Helvetica" panose="020B0604020202030204" pitchFamily="34" charset="0"/>
              </a:rPr>
              <a:t>not in </a:t>
            </a:r>
            <a:r>
              <a:rPr lang="en-US" altLang="en-US" sz="1600" dirty="0">
                <a:latin typeface="Helvetica" panose="020B0604020202030204" pitchFamily="34" charset="0"/>
              </a:rPr>
              <a:t>(</a:t>
            </a:r>
            <a:r>
              <a:rPr lang="en-US" altLang="en-US" sz="1600" b="1" dirty="0">
                <a:latin typeface="Helvetica" panose="020B0604020202030204" pitchFamily="34" charset="0"/>
              </a:rPr>
              <a:t>select </a:t>
            </a:r>
            <a:r>
              <a:rPr lang="en-US" altLang="en-US" sz="1600" i="1" dirty="0">
                <a:latin typeface="Helvetica" panose="020B0604020202030204" pitchFamily="34" charset="0"/>
              </a:rPr>
              <a:t>course_id</a:t>
            </a:r>
            <a:endParaRPr lang="en-US" altLang="en-US" sz="1600" i="1" dirty="0">
              <a:latin typeface="Helvetica" panose="020B0604020202030204" pitchFamily="34" charset="0"/>
            </a:endParaRPr>
          </a:p>
          <a:p>
            <a:r>
              <a:rPr lang="en-US" altLang="en-US" sz="1600" b="1" dirty="0">
                <a:latin typeface="Helvetica" panose="020B0604020202030204" pitchFamily="34" charset="0"/>
              </a:rPr>
              <a:t>                                        from </a:t>
            </a:r>
            <a:r>
              <a:rPr lang="en-US" altLang="en-US" sz="1600" i="1" dirty="0">
                <a:latin typeface="Helvetica" panose="020B0604020202030204" pitchFamily="34" charset="0"/>
              </a:rPr>
              <a:t>section</a:t>
            </a:r>
            <a:endParaRPr lang="en-US" altLang="en-US" sz="1600" i="1" dirty="0">
              <a:latin typeface="Helvetica" panose="020B0604020202030204" pitchFamily="34" charset="0"/>
            </a:endParaRPr>
          </a:p>
          <a:p>
            <a:r>
              <a:rPr lang="en-US" altLang="en-US" sz="1600" b="1" dirty="0">
                <a:latin typeface="Helvetica" panose="020B0604020202030204" pitchFamily="34" charset="0"/>
              </a:rPr>
              <a:t>                                        where </a:t>
            </a:r>
            <a:r>
              <a:rPr lang="en-US" altLang="en-US" sz="1600" i="1" dirty="0">
                <a:latin typeface="Helvetica" panose="020B0604020202030204" pitchFamily="34" charset="0"/>
              </a:rPr>
              <a:t>semester </a:t>
            </a:r>
            <a:r>
              <a:rPr lang="en-US" altLang="en-US" sz="1600" dirty="0">
                <a:latin typeface="Helvetica" panose="020B0604020202030204" pitchFamily="34" charset="0"/>
              </a:rPr>
              <a:t>= ’Spring’ </a:t>
            </a:r>
            <a:r>
              <a:rPr lang="en-US" altLang="en-US" sz="1600" b="1" dirty="0">
                <a:latin typeface="Helvetica" panose="020B0604020202030204" pitchFamily="34" charset="0"/>
              </a:rPr>
              <a:t>and </a:t>
            </a:r>
            <a:r>
              <a:rPr lang="en-US" altLang="en-US" sz="1600" i="1" dirty="0">
                <a:latin typeface="Helvetica" panose="020B0604020202030204" pitchFamily="34" charset="0"/>
              </a:rPr>
              <a:t>year</a:t>
            </a:r>
            <a:r>
              <a:rPr lang="en-US" altLang="en-US" sz="1600" dirty="0">
                <a:latin typeface="Helvetica" panose="020B0604020202030204" pitchFamily="34" charset="0"/>
              </a:rPr>
              <a:t>= 2010);</a:t>
            </a:r>
            <a:endParaRPr lang="en-US" altLang="en-US" sz="1600" dirty="0">
              <a:latin typeface="Helvetica" panose="020B0604020202030204" pitchFamily="34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Set Membership (Cont.)</a:t>
            </a:r>
            <a:endParaRPr kumimoji="1" 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7107" name="Rectangle 3"/>
          <p:cNvSpPr>
            <a:spLocks noGrp="1"/>
          </p:cNvSpPr>
          <p:nvPr>
            <p:ph idx="1"/>
          </p:nvPr>
        </p:nvSpPr>
        <p:spPr>
          <a:xfrm>
            <a:off x="739775" y="1106488"/>
            <a:ext cx="7661275" cy="760412"/>
          </a:xfrm>
        </p:spPr>
        <p:txBody>
          <a:bodyPr vert="horz" wrap="square" lIns="91440" tIns="45720" rIns="91440" bIns="45720" anchor="t"/>
          <a:lstStyle/>
          <a:p>
            <a:pPr defTabSz="916305">
              <a:tabLst>
                <a:tab pos="684530" algn="l"/>
                <a:tab pos="1250950" algn="l"/>
              </a:tabLst>
            </a:pPr>
            <a:r>
              <a:rPr lang="en-US" altLang="en-US" dirty="0"/>
              <a:t>Find the total number of (distinct) students who have taken course sections taught by the instructor with </a:t>
            </a:r>
            <a:r>
              <a:rPr lang="en-US" altLang="en-US" i="1" dirty="0"/>
              <a:t>ID </a:t>
            </a:r>
            <a:r>
              <a:rPr lang="en-US" altLang="en-US" dirty="0"/>
              <a:t>10101</a:t>
            </a:r>
            <a:endParaRPr lang="en-US" altLang="en-US" dirty="0"/>
          </a:p>
          <a:p>
            <a:pPr defTabSz="916305">
              <a:tabLst>
                <a:tab pos="684530" algn="l"/>
                <a:tab pos="1250950" algn="l"/>
              </a:tabLst>
            </a:pPr>
            <a:endParaRPr lang="en-US" altLang="en-US" i="1" dirty="0"/>
          </a:p>
        </p:txBody>
      </p:sp>
      <p:sp>
        <p:nvSpPr>
          <p:cNvPr id="47108" name="Text Box 4"/>
          <p:cNvSpPr txBox="1"/>
          <p:nvPr/>
        </p:nvSpPr>
        <p:spPr>
          <a:xfrm>
            <a:off x="739775" y="5008563"/>
            <a:ext cx="7437438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</a:pPr>
            <a:r>
              <a:rPr lang="en-US" altLang="en-US" dirty="0">
                <a:solidFill>
                  <a:schemeClr val="tx2"/>
                </a:solidFill>
                <a:latin typeface="Helvetica" panose="020B0604020202030204" pitchFamily="34" charset="0"/>
              </a:rPr>
              <a:t>  </a:t>
            </a:r>
            <a:r>
              <a:rPr lang="en-US" altLang="en-US" dirty="0">
                <a:latin typeface="Helvetica" panose="020B0604020202030204" pitchFamily="34" charset="0"/>
              </a:rPr>
              <a:t>Note: Above query can be written in a much simpler manner.  </a:t>
            </a:r>
            <a:br>
              <a:rPr lang="en-US" altLang="en-US" dirty="0">
                <a:latin typeface="Helvetica" panose="020B0604020202030204" pitchFamily="34" charset="0"/>
              </a:rPr>
            </a:br>
            <a:r>
              <a:rPr lang="en-US" altLang="en-US" dirty="0">
                <a:latin typeface="Helvetica" panose="020B0604020202030204" pitchFamily="34" charset="0"/>
              </a:rPr>
              <a:t>     The formulation above is simply to illustrate SQL features.</a:t>
            </a:r>
            <a:endParaRPr lang="en-US" altLang="en-US" dirty="0">
              <a:latin typeface="Helvetica" panose="020B0604020202030204" pitchFamily="34" charset="0"/>
            </a:endParaRPr>
          </a:p>
        </p:txBody>
      </p:sp>
      <p:sp>
        <p:nvSpPr>
          <p:cNvPr id="47109" name="Text Box 5"/>
          <p:cNvSpPr txBox="1"/>
          <p:nvPr/>
        </p:nvSpPr>
        <p:spPr>
          <a:xfrm>
            <a:off x="1756410" y="2797175"/>
            <a:ext cx="5749925" cy="15589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en-US" sz="1600" b="1" dirty="0">
                <a:latin typeface="Helvetica" panose="020B0604020202030204" pitchFamily="34" charset="0"/>
              </a:rPr>
              <a:t>select count </a:t>
            </a:r>
            <a:r>
              <a:rPr lang="en-US" altLang="en-US" sz="1600" dirty="0">
                <a:latin typeface="Helvetica" panose="020B0604020202030204" pitchFamily="34" charset="0"/>
              </a:rPr>
              <a:t>(</a:t>
            </a:r>
            <a:r>
              <a:rPr lang="en-US" altLang="en-US" sz="1600" b="1" dirty="0">
                <a:latin typeface="Helvetica" panose="020B0604020202030204" pitchFamily="34" charset="0"/>
              </a:rPr>
              <a:t>distinct </a:t>
            </a:r>
            <a:r>
              <a:rPr lang="en-US" altLang="en-US" sz="1600" i="1" dirty="0">
                <a:latin typeface="Helvetica" panose="020B0604020202030204" pitchFamily="34" charset="0"/>
              </a:rPr>
              <a:t>ID</a:t>
            </a:r>
            <a:r>
              <a:rPr lang="en-US" altLang="en-US" sz="1600" dirty="0">
                <a:latin typeface="Helvetica" panose="020B0604020202030204" pitchFamily="34" charset="0"/>
              </a:rPr>
              <a:t>)</a:t>
            </a:r>
            <a:endParaRPr lang="en-US" altLang="en-US" sz="1600" dirty="0">
              <a:latin typeface="Helvetica" panose="020B0604020202030204" pitchFamily="34" charset="0"/>
            </a:endParaRPr>
          </a:p>
          <a:p>
            <a:r>
              <a:rPr lang="en-US" altLang="en-US" sz="1600" b="1" dirty="0">
                <a:latin typeface="Helvetica" panose="020B0604020202030204" pitchFamily="34" charset="0"/>
              </a:rPr>
              <a:t>from </a:t>
            </a:r>
            <a:r>
              <a:rPr lang="en-US" altLang="en-US" sz="1600" i="1" dirty="0">
                <a:latin typeface="Helvetica" panose="020B0604020202030204" pitchFamily="34" charset="0"/>
              </a:rPr>
              <a:t>takes</a:t>
            </a:r>
            <a:endParaRPr lang="en-US" altLang="en-US" sz="1600" i="1" dirty="0">
              <a:latin typeface="Helvetica" panose="020B0604020202030204" pitchFamily="34" charset="0"/>
            </a:endParaRPr>
          </a:p>
          <a:p>
            <a:r>
              <a:rPr lang="en-US" altLang="en-US" sz="1600" b="1" dirty="0">
                <a:latin typeface="Helvetica" panose="020B0604020202030204" pitchFamily="34" charset="0"/>
              </a:rPr>
              <a:t>where </a:t>
            </a:r>
            <a:r>
              <a:rPr lang="en-US" altLang="en-US" sz="1600" dirty="0">
                <a:latin typeface="Helvetica" panose="020B0604020202030204" pitchFamily="34" charset="0"/>
              </a:rPr>
              <a:t>(</a:t>
            </a:r>
            <a:r>
              <a:rPr lang="en-US" altLang="en-US" sz="1600" i="1" dirty="0">
                <a:latin typeface="Helvetica" panose="020B0604020202030204" pitchFamily="34" charset="0"/>
              </a:rPr>
              <a:t>course_id</a:t>
            </a:r>
            <a:r>
              <a:rPr lang="en-US" altLang="en-US" sz="1600" dirty="0">
                <a:latin typeface="Helvetica" panose="020B0604020202030204" pitchFamily="34" charset="0"/>
              </a:rPr>
              <a:t>, </a:t>
            </a:r>
            <a:r>
              <a:rPr lang="en-US" altLang="en-US" sz="1600" i="1" dirty="0">
                <a:latin typeface="Helvetica" panose="020B0604020202030204" pitchFamily="34" charset="0"/>
              </a:rPr>
              <a:t>sec_id</a:t>
            </a:r>
            <a:r>
              <a:rPr lang="en-US" altLang="en-US" sz="1600" dirty="0">
                <a:latin typeface="Helvetica" panose="020B0604020202030204" pitchFamily="34" charset="0"/>
              </a:rPr>
              <a:t>, </a:t>
            </a:r>
            <a:r>
              <a:rPr lang="en-US" altLang="en-US" sz="1600" i="1" dirty="0">
                <a:latin typeface="Helvetica" panose="020B0604020202030204" pitchFamily="34" charset="0"/>
              </a:rPr>
              <a:t>semester</a:t>
            </a:r>
            <a:r>
              <a:rPr lang="en-US" altLang="en-US" sz="1600" dirty="0">
                <a:latin typeface="Helvetica" panose="020B0604020202030204" pitchFamily="34" charset="0"/>
              </a:rPr>
              <a:t>, </a:t>
            </a:r>
            <a:r>
              <a:rPr lang="en-US" altLang="en-US" sz="1600" i="1" dirty="0">
                <a:latin typeface="Helvetica" panose="020B0604020202030204" pitchFamily="34" charset="0"/>
              </a:rPr>
              <a:t>year</a:t>
            </a:r>
            <a:r>
              <a:rPr lang="en-US" altLang="en-US" sz="1600" dirty="0">
                <a:latin typeface="Helvetica" panose="020B0604020202030204" pitchFamily="34" charset="0"/>
              </a:rPr>
              <a:t>) </a:t>
            </a:r>
            <a:r>
              <a:rPr lang="en-US" altLang="en-US" sz="1600" b="1" dirty="0">
                <a:latin typeface="Helvetica" panose="020B0604020202030204" pitchFamily="34" charset="0"/>
              </a:rPr>
              <a:t>in </a:t>
            </a:r>
            <a:br>
              <a:rPr lang="en-US" altLang="en-US" sz="1600" b="1" dirty="0">
                <a:latin typeface="Helvetica" panose="020B0604020202030204" pitchFamily="34" charset="0"/>
              </a:rPr>
            </a:br>
            <a:r>
              <a:rPr lang="en-US" altLang="en-US" sz="1600" b="1" dirty="0">
                <a:latin typeface="Helvetica" panose="020B0604020202030204" pitchFamily="34" charset="0"/>
              </a:rPr>
              <a:t>                                </a:t>
            </a:r>
            <a:r>
              <a:rPr lang="en-US" altLang="en-US" sz="1600" dirty="0">
                <a:latin typeface="Helvetica" panose="020B0604020202030204" pitchFamily="34" charset="0"/>
              </a:rPr>
              <a:t>(</a:t>
            </a:r>
            <a:r>
              <a:rPr lang="en-US" altLang="en-US" sz="1600" b="1" dirty="0">
                <a:latin typeface="Helvetica" panose="020B0604020202030204" pitchFamily="34" charset="0"/>
              </a:rPr>
              <a:t>select </a:t>
            </a:r>
            <a:r>
              <a:rPr lang="en-US" altLang="en-US" sz="1600" i="1" dirty="0">
                <a:latin typeface="Helvetica" panose="020B0604020202030204" pitchFamily="34" charset="0"/>
              </a:rPr>
              <a:t>course_id</a:t>
            </a:r>
            <a:r>
              <a:rPr lang="en-US" altLang="en-US" sz="1600" dirty="0">
                <a:latin typeface="Helvetica" panose="020B0604020202030204" pitchFamily="34" charset="0"/>
              </a:rPr>
              <a:t>, </a:t>
            </a:r>
            <a:r>
              <a:rPr lang="en-US" altLang="en-US" sz="1600" i="1" dirty="0">
                <a:latin typeface="Helvetica" panose="020B0604020202030204" pitchFamily="34" charset="0"/>
              </a:rPr>
              <a:t>sec_id</a:t>
            </a:r>
            <a:r>
              <a:rPr lang="en-US" altLang="en-US" sz="1600" dirty="0">
                <a:latin typeface="Helvetica" panose="020B0604020202030204" pitchFamily="34" charset="0"/>
              </a:rPr>
              <a:t>, </a:t>
            </a:r>
            <a:r>
              <a:rPr lang="en-US" altLang="en-US" sz="1600" i="1" dirty="0">
                <a:latin typeface="Helvetica" panose="020B0604020202030204" pitchFamily="34" charset="0"/>
              </a:rPr>
              <a:t>semester</a:t>
            </a:r>
            <a:r>
              <a:rPr lang="en-US" altLang="en-US" sz="1600" dirty="0">
                <a:latin typeface="Helvetica" panose="020B0604020202030204" pitchFamily="34" charset="0"/>
              </a:rPr>
              <a:t>, </a:t>
            </a:r>
            <a:r>
              <a:rPr lang="en-US" altLang="en-US" sz="1600" i="1" dirty="0">
                <a:latin typeface="Helvetica" panose="020B0604020202030204" pitchFamily="34" charset="0"/>
              </a:rPr>
              <a:t>year</a:t>
            </a:r>
            <a:endParaRPr lang="en-US" altLang="en-US" sz="1600" i="1" dirty="0">
              <a:latin typeface="Helvetica" panose="020B0604020202030204" pitchFamily="34" charset="0"/>
            </a:endParaRPr>
          </a:p>
          <a:p>
            <a:r>
              <a:rPr lang="en-US" altLang="en-US" sz="1600" b="1" dirty="0">
                <a:latin typeface="Helvetica" panose="020B0604020202030204" pitchFamily="34" charset="0"/>
              </a:rPr>
              <a:t>                                 from </a:t>
            </a:r>
            <a:r>
              <a:rPr lang="en-US" altLang="en-US" sz="1600" i="1" dirty="0">
                <a:latin typeface="Helvetica" panose="020B0604020202030204" pitchFamily="34" charset="0"/>
              </a:rPr>
              <a:t>teaches</a:t>
            </a:r>
            <a:endParaRPr lang="en-US" altLang="en-US" sz="1600" i="1" dirty="0">
              <a:latin typeface="Helvetica" panose="020B0604020202030204" pitchFamily="34" charset="0"/>
            </a:endParaRPr>
          </a:p>
          <a:p>
            <a:r>
              <a:rPr lang="en-US" altLang="en-US" sz="1600" b="1" dirty="0">
                <a:latin typeface="Helvetica" panose="020B0604020202030204" pitchFamily="34" charset="0"/>
              </a:rPr>
              <a:t>                                 where </a:t>
            </a:r>
            <a:r>
              <a:rPr lang="en-US" altLang="en-US" sz="1600" i="1" dirty="0">
                <a:latin typeface="Helvetica" panose="020B0604020202030204" pitchFamily="34" charset="0"/>
              </a:rPr>
              <a:t>teaches</a:t>
            </a:r>
            <a:r>
              <a:rPr lang="en-US" altLang="en-US" sz="1600" dirty="0">
                <a:latin typeface="Helvetica" panose="020B0604020202030204" pitchFamily="34" charset="0"/>
              </a:rPr>
              <a:t>.</a:t>
            </a:r>
            <a:r>
              <a:rPr lang="en-US" altLang="en-US" sz="1600" i="1" dirty="0">
                <a:latin typeface="Helvetica" panose="020B0604020202030204" pitchFamily="34" charset="0"/>
              </a:rPr>
              <a:t>ID</a:t>
            </a:r>
            <a:r>
              <a:rPr lang="en-US" altLang="en-US" sz="1600" dirty="0">
                <a:latin typeface="Helvetica" panose="020B0604020202030204" pitchFamily="34" charset="0"/>
              </a:rPr>
              <a:t>= 10101);</a:t>
            </a:r>
            <a:endParaRPr lang="en-US" altLang="en-US" sz="1600" dirty="0">
              <a:latin typeface="Helvetica" panose="020B0604020202030204" pitchFamily="34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37260" y="208280"/>
            <a:ext cx="7450455" cy="540131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14705" y="269875"/>
            <a:ext cx="7865110" cy="477075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95680" y="234315"/>
            <a:ext cx="7613650" cy="5387975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142875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Set Comparison – “some” Clause</a:t>
            </a:r>
            <a:endParaRPr kumimoji="1" 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8131" name="Rectangle 3"/>
          <p:cNvSpPr>
            <a:spLocks noGrp="1"/>
          </p:cNvSpPr>
          <p:nvPr>
            <p:ph idx="1"/>
          </p:nvPr>
        </p:nvSpPr>
        <p:spPr>
          <a:xfrm>
            <a:off x="739775" y="1106488"/>
            <a:ext cx="7661275" cy="766762"/>
          </a:xfrm>
        </p:spPr>
        <p:txBody>
          <a:bodyPr vert="horz" wrap="square" lIns="91440" tIns="45720" rIns="91440" bIns="45720" anchor="t"/>
          <a:lstStyle/>
          <a:p>
            <a:pPr defTabSz="916305">
              <a:tabLst>
                <a:tab pos="1830705" algn="l"/>
              </a:tabLst>
            </a:pPr>
            <a:r>
              <a:rPr lang="en-US" altLang="en-US" dirty="0"/>
              <a:t>Find names of instructors with salary greater than that of some (at least one) instructor in the Biology department.</a:t>
            </a:r>
            <a:endParaRPr lang="en-US" altLang="en-US" dirty="0"/>
          </a:p>
        </p:txBody>
      </p:sp>
      <p:sp>
        <p:nvSpPr>
          <p:cNvPr id="48132" name="Text Box 4"/>
          <p:cNvSpPr txBox="1"/>
          <p:nvPr/>
        </p:nvSpPr>
        <p:spPr>
          <a:xfrm>
            <a:off x="739775" y="3483928"/>
            <a:ext cx="7235825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</a:pPr>
            <a:r>
              <a:rPr lang="en-US" altLang="en-US" dirty="0">
                <a:latin typeface="Helvetica" panose="020B0604020202030204" pitchFamily="34" charset="0"/>
              </a:rPr>
              <a:t>  Same query using &gt; </a:t>
            </a:r>
            <a:r>
              <a:rPr lang="en-US" altLang="en-US" b="1" dirty="0">
                <a:latin typeface="Helvetica" panose="020B0604020202030204" pitchFamily="34" charset="0"/>
              </a:rPr>
              <a:t>some</a:t>
            </a:r>
            <a:r>
              <a:rPr lang="en-US" altLang="en-US" dirty="0">
                <a:latin typeface="Helvetica" panose="020B0604020202030204" pitchFamily="34" charset="0"/>
              </a:rPr>
              <a:t> clause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48133" name="Text Box 5"/>
          <p:cNvSpPr txBox="1"/>
          <p:nvPr/>
        </p:nvSpPr>
        <p:spPr>
          <a:xfrm>
            <a:off x="1957388" y="4034790"/>
            <a:ext cx="5657850" cy="1314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1600" b="1" dirty="0">
                <a:latin typeface="Helvetica" panose="020B0604020202030204" pitchFamily="34" charset="0"/>
              </a:rPr>
              <a:t>select </a:t>
            </a:r>
            <a:r>
              <a:rPr lang="en-US" altLang="en-US" sz="1600" i="1" dirty="0">
                <a:latin typeface="Helvetica" panose="020B0604020202030204" pitchFamily="34" charset="0"/>
              </a:rPr>
              <a:t>name</a:t>
            </a:r>
            <a:endParaRPr lang="en-US" altLang="en-US" sz="1600" i="1" dirty="0">
              <a:latin typeface="Helvetica" panose="020B0604020202030204" pitchFamily="34" charset="0"/>
            </a:endParaRPr>
          </a:p>
          <a:p>
            <a:r>
              <a:rPr lang="en-US" altLang="en-US" sz="1600" b="1" dirty="0">
                <a:latin typeface="Helvetica" panose="020B0604020202030204" pitchFamily="34" charset="0"/>
              </a:rPr>
              <a:t>from </a:t>
            </a:r>
            <a:r>
              <a:rPr lang="en-US" altLang="en-US" sz="1600" i="1" dirty="0">
                <a:latin typeface="Helvetica" panose="020B0604020202030204" pitchFamily="34" charset="0"/>
              </a:rPr>
              <a:t>instructor</a:t>
            </a:r>
            <a:endParaRPr lang="en-US" altLang="en-US" sz="1600" i="1" dirty="0">
              <a:latin typeface="Helvetica" panose="020B0604020202030204" pitchFamily="34" charset="0"/>
            </a:endParaRPr>
          </a:p>
          <a:p>
            <a:r>
              <a:rPr lang="en-US" altLang="en-US" sz="1600" b="1" dirty="0">
                <a:latin typeface="Helvetica" panose="020B0604020202030204" pitchFamily="34" charset="0"/>
              </a:rPr>
              <a:t>where </a:t>
            </a:r>
            <a:r>
              <a:rPr lang="en-US" altLang="en-US" sz="1600" i="1" dirty="0">
                <a:latin typeface="Helvetica" panose="020B0604020202030204" pitchFamily="34" charset="0"/>
              </a:rPr>
              <a:t>salary </a:t>
            </a:r>
            <a:r>
              <a:rPr lang="en-US" altLang="en-US" sz="1600" dirty="0">
                <a:latin typeface="Helvetica" panose="020B0604020202030204" pitchFamily="34" charset="0"/>
              </a:rPr>
              <a:t>&gt; </a:t>
            </a:r>
            <a:r>
              <a:rPr lang="en-US" altLang="en-US" sz="1600" b="1" dirty="0">
                <a:latin typeface="Helvetica" panose="020B0604020202030204" pitchFamily="34" charset="0"/>
              </a:rPr>
              <a:t>some </a:t>
            </a:r>
            <a:r>
              <a:rPr lang="en-US" altLang="en-US" sz="1600" dirty="0">
                <a:latin typeface="Helvetica" panose="020B0604020202030204" pitchFamily="34" charset="0"/>
              </a:rPr>
              <a:t>(</a:t>
            </a:r>
            <a:r>
              <a:rPr lang="en-US" altLang="en-US" sz="1600" b="1" dirty="0">
                <a:latin typeface="Helvetica" panose="020B0604020202030204" pitchFamily="34" charset="0"/>
              </a:rPr>
              <a:t>select </a:t>
            </a:r>
            <a:r>
              <a:rPr lang="en-US" altLang="en-US" sz="1600" i="1" dirty="0">
                <a:latin typeface="Helvetica" panose="020B0604020202030204" pitchFamily="34" charset="0"/>
              </a:rPr>
              <a:t>salary</a:t>
            </a:r>
            <a:endParaRPr lang="en-US" altLang="en-US" sz="1600" i="1" dirty="0">
              <a:latin typeface="Helvetica" panose="020B0604020202030204" pitchFamily="34" charset="0"/>
            </a:endParaRPr>
          </a:p>
          <a:p>
            <a:r>
              <a:rPr lang="en-US" altLang="en-US" sz="1600" b="1" dirty="0">
                <a:latin typeface="Helvetica" panose="020B0604020202030204" pitchFamily="34" charset="0"/>
              </a:rPr>
              <a:t>                                     from </a:t>
            </a:r>
            <a:r>
              <a:rPr lang="en-US" altLang="en-US" sz="1600" i="1" dirty="0">
                <a:latin typeface="Helvetica" panose="020B0604020202030204" pitchFamily="34" charset="0"/>
              </a:rPr>
              <a:t>instructor</a:t>
            </a:r>
            <a:endParaRPr lang="en-US" altLang="en-US" sz="1600" i="1" dirty="0">
              <a:latin typeface="Helvetica" panose="020B0604020202030204" pitchFamily="34" charset="0"/>
            </a:endParaRPr>
          </a:p>
          <a:p>
            <a:r>
              <a:rPr lang="en-US" altLang="en-US" sz="1600" b="1" dirty="0">
                <a:latin typeface="Helvetica" panose="020B0604020202030204" pitchFamily="34" charset="0"/>
              </a:rPr>
              <a:t>                                     where </a:t>
            </a:r>
            <a:r>
              <a:rPr lang="en-US" altLang="en-US" sz="1600" i="1" dirty="0">
                <a:latin typeface="Helvetica" panose="020B0604020202030204" pitchFamily="34" charset="0"/>
              </a:rPr>
              <a:t>dept name </a:t>
            </a:r>
            <a:r>
              <a:rPr lang="en-US" altLang="en-US" sz="1600" dirty="0">
                <a:latin typeface="Helvetica" panose="020B0604020202030204" pitchFamily="34" charset="0"/>
              </a:rPr>
              <a:t>= ’Biology’);</a:t>
            </a:r>
            <a:endParaRPr lang="en-US" altLang="en-US" sz="1600" dirty="0">
              <a:latin typeface="Helvetica" panose="020B0604020202030204" pitchFamily="34" charset="0"/>
            </a:endParaRPr>
          </a:p>
        </p:txBody>
      </p:sp>
      <p:sp>
        <p:nvSpPr>
          <p:cNvPr id="48134" name="Text Box 6"/>
          <p:cNvSpPr txBox="1"/>
          <p:nvPr/>
        </p:nvSpPr>
        <p:spPr>
          <a:xfrm>
            <a:off x="1952625" y="2394903"/>
            <a:ext cx="5275263" cy="825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1600" b="1" dirty="0">
                <a:latin typeface="Helvetica" panose="020B0604020202030204" pitchFamily="34" charset="0"/>
              </a:rPr>
              <a:t>select distinct </a:t>
            </a:r>
            <a:r>
              <a:rPr lang="en-US" altLang="en-US" sz="1600" i="1" dirty="0">
                <a:latin typeface="Helvetica" panose="020B0604020202030204" pitchFamily="34" charset="0"/>
              </a:rPr>
              <a:t>T</a:t>
            </a:r>
            <a:r>
              <a:rPr lang="en-US" altLang="en-US" sz="1600" dirty="0">
                <a:latin typeface="Helvetica" panose="020B0604020202030204" pitchFamily="34" charset="0"/>
              </a:rPr>
              <a:t>.</a:t>
            </a:r>
            <a:r>
              <a:rPr lang="en-US" altLang="en-US" sz="1600" i="1" dirty="0">
                <a:latin typeface="Helvetica" panose="020B0604020202030204" pitchFamily="34" charset="0"/>
              </a:rPr>
              <a:t>name</a:t>
            </a:r>
            <a:endParaRPr lang="en-US" altLang="en-US" sz="1600" i="1" dirty="0">
              <a:latin typeface="Helvetica" panose="020B0604020202030204" pitchFamily="34" charset="0"/>
            </a:endParaRPr>
          </a:p>
          <a:p>
            <a:r>
              <a:rPr lang="en-US" altLang="en-US" sz="1600" b="1" dirty="0">
                <a:latin typeface="Helvetica" panose="020B0604020202030204" pitchFamily="34" charset="0"/>
              </a:rPr>
              <a:t>from </a:t>
            </a:r>
            <a:r>
              <a:rPr lang="en-US" altLang="en-US" sz="1600" i="1" dirty="0">
                <a:latin typeface="Helvetica" panose="020B0604020202030204" pitchFamily="34" charset="0"/>
              </a:rPr>
              <a:t>instructor </a:t>
            </a:r>
            <a:r>
              <a:rPr lang="en-US" altLang="en-US" sz="1600" b="1" dirty="0">
                <a:latin typeface="Helvetica" panose="020B0604020202030204" pitchFamily="34" charset="0"/>
              </a:rPr>
              <a:t>as </a:t>
            </a:r>
            <a:r>
              <a:rPr lang="en-US" altLang="en-US" sz="1600" i="1" dirty="0">
                <a:latin typeface="Helvetica" panose="020B0604020202030204" pitchFamily="34" charset="0"/>
              </a:rPr>
              <a:t>T</a:t>
            </a:r>
            <a:r>
              <a:rPr lang="en-US" altLang="en-US" sz="1600" dirty="0">
                <a:latin typeface="Helvetica" panose="020B0604020202030204" pitchFamily="34" charset="0"/>
              </a:rPr>
              <a:t>, </a:t>
            </a:r>
            <a:r>
              <a:rPr lang="en-US" altLang="en-US" sz="1600" i="1" dirty="0">
                <a:latin typeface="Helvetica" panose="020B0604020202030204" pitchFamily="34" charset="0"/>
              </a:rPr>
              <a:t>instructor </a:t>
            </a:r>
            <a:r>
              <a:rPr lang="en-US" altLang="en-US" sz="1600" b="1" dirty="0">
                <a:latin typeface="Helvetica" panose="020B0604020202030204" pitchFamily="34" charset="0"/>
              </a:rPr>
              <a:t>as </a:t>
            </a:r>
            <a:r>
              <a:rPr lang="en-US" altLang="en-US" sz="1600" i="1" dirty="0">
                <a:latin typeface="Helvetica" panose="020B0604020202030204" pitchFamily="34" charset="0"/>
              </a:rPr>
              <a:t>S</a:t>
            </a:r>
            <a:endParaRPr lang="en-US" altLang="en-US" sz="1600" i="1" dirty="0">
              <a:latin typeface="Helvetica" panose="020B0604020202030204" pitchFamily="34" charset="0"/>
            </a:endParaRPr>
          </a:p>
          <a:p>
            <a:r>
              <a:rPr lang="en-US" altLang="en-US" sz="1600" b="1" dirty="0">
                <a:latin typeface="Helvetica" panose="020B0604020202030204" pitchFamily="34" charset="0"/>
              </a:rPr>
              <a:t>where </a:t>
            </a:r>
            <a:r>
              <a:rPr lang="en-US" altLang="en-US" sz="1600" i="1" dirty="0">
                <a:latin typeface="Helvetica" panose="020B0604020202030204" pitchFamily="34" charset="0"/>
              </a:rPr>
              <a:t>T.salary </a:t>
            </a:r>
            <a:r>
              <a:rPr lang="en-US" altLang="en-US" sz="1600" dirty="0">
                <a:latin typeface="Helvetica" panose="020B0604020202030204" pitchFamily="34" charset="0"/>
              </a:rPr>
              <a:t>&gt; </a:t>
            </a:r>
            <a:r>
              <a:rPr lang="en-US" altLang="en-US" sz="1600" i="1" dirty="0">
                <a:latin typeface="Helvetica" panose="020B0604020202030204" pitchFamily="34" charset="0"/>
              </a:rPr>
              <a:t>S.salary </a:t>
            </a:r>
            <a:r>
              <a:rPr lang="en-US" altLang="en-US" sz="1600" b="1" dirty="0">
                <a:latin typeface="Helvetica" panose="020B0604020202030204" pitchFamily="34" charset="0"/>
              </a:rPr>
              <a:t>and </a:t>
            </a:r>
            <a:r>
              <a:rPr lang="en-US" altLang="en-US" sz="1600" i="1" dirty="0">
                <a:latin typeface="Helvetica" panose="020B0604020202030204" pitchFamily="34" charset="0"/>
              </a:rPr>
              <a:t>S.dept name </a:t>
            </a:r>
            <a:r>
              <a:rPr lang="en-US" altLang="en-US" sz="1600" dirty="0">
                <a:latin typeface="Helvetica" panose="020B0604020202030204" pitchFamily="34" charset="0"/>
              </a:rPr>
              <a:t>= ’Biology’;</a:t>
            </a:r>
            <a:endParaRPr lang="en-US" altLang="en-US" sz="1600" dirty="0">
              <a:latin typeface="Helvetica" panose="020B0604020202030204" pitchFamily="34" charset="0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ChangeArrowheads="1"/>
          </p:cNvSpPr>
          <p:nvPr>
            <p:ph type="title"/>
          </p:nvPr>
        </p:nvSpPr>
        <p:spPr>
          <a:xfrm>
            <a:off x="623888" y="38100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Definition of  “some” Clause</a:t>
            </a:r>
            <a:endParaRPr kumimoji="1" 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9155" name="Rectangle 3"/>
          <p:cNvSpPr>
            <a:spLocks noGrp="1"/>
          </p:cNvSpPr>
          <p:nvPr>
            <p:ph idx="1"/>
          </p:nvPr>
        </p:nvSpPr>
        <p:spPr>
          <a:xfrm>
            <a:off x="140335" y="1106805"/>
            <a:ext cx="8642985" cy="714375"/>
          </a:xfrm>
        </p:spPr>
        <p:txBody>
          <a:bodyPr vert="horz" wrap="square" lIns="91440" tIns="45720" rIns="91440" bIns="45720" anchor="t"/>
          <a:lstStyle/>
          <a:p>
            <a:r>
              <a:rPr lang="en-US" altLang="en-US" dirty="0"/>
              <a:t>F &lt;comp&gt; </a:t>
            </a:r>
            <a:r>
              <a:rPr lang="en-US" altLang="en-US" b="1" dirty="0"/>
              <a:t>some </a:t>
            </a:r>
            <a:r>
              <a:rPr lang="en-US" altLang="en-US" i="1" dirty="0"/>
              <a:t>r </a:t>
            </a:r>
            <a:r>
              <a:rPr lang="en-US" altLang="en-US" dirty="0">
                <a:sym typeface="Symbol" panose="05050102010706020507" charset="2"/>
              </a:rPr>
              <a:t></a:t>
            </a:r>
            <a:r>
              <a:rPr lang="en-US" altLang="en-US" i="1" dirty="0">
                <a:sym typeface="Symbol" panose="05050102010706020507" charset="2"/>
              </a:rPr>
              <a:t>t </a:t>
            </a:r>
            <a:r>
              <a:rPr lang="en-US" altLang="en-US" dirty="0">
                <a:sym typeface="Symbol" panose="05050102010706020507" charset="2"/>
              </a:rPr>
              <a:t></a:t>
            </a:r>
            <a:r>
              <a:rPr lang="en-US" altLang="en-US" i="1" dirty="0">
                <a:sym typeface="Symbol" panose="05050102010706020507" charset="2"/>
              </a:rPr>
              <a:t>r </a:t>
            </a:r>
            <a:r>
              <a:rPr lang="en-US" altLang="en-US" dirty="0">
                <a:sym typeface="Symbol" panose="05050102010706020507" charset="2"/>
              </a:rPr>
              <a:t>such that (F &lt;comp&gt; </a:t>
            </a:r>
            <a:r>
              <a:rPr lang="en-US" altLang="en-US" i="1" dirty="0">
                <a:sym typeface="Symbol" panose="05050102010706020507" charset="2"/>
              </a:rPr>
              <a:t>t </a:t>
            </a:r>
            <a:r>
              <a:rPr lang="en-US" altLang="en-US" dirty="0">
                <a:sym typeface="Symbol" panose="05050102010706020507" charset="2"/>
              </a:rPr>
              <a:t>)</a:t>
            </a:r>
            <a:br>
              <a:rPr lang="en-US" altLang="en-US" i="1" dirty="0">
                <a:sym typeface="Symbol" panose="05050102010706020507" charset="2"/>
              </a:rPr>
            </a:br>
            <a:r>
              <a:rPr lang="en-US" altLang="en-US" dirty="0">
                <a:sym typeface="Symbol" panose="05050102010706020507" charset="2"/>
              </a:rPr>
              <a:t>Where &lt;comp&gt; can be:      </a:t>
            </a:r>
            <a:endParaRPr lang="en-US" altLang="en-US" dirty="0"/>
          </a:p>
        </p:txBody>
      </p:sp>
      <p:grpSp>
        <p:nvGrpSpPr>
          <p:cNvPr id="49156" name="Group 1"/>
          <p:cNvGrpSpPr/>
          <p:nvPr/>
        </p:nvGrpSpPr>
        <p:grpSpPr>
          <a:xfrm>
            <a:off x="1512888" y="1952625"/>
            <a:ext cx="7805737" cy="4233863"/>
            <a:chOff x="809625" y="1952625"/>
            <a:chExt cx="7805738" cy="4233863"/>
          </a:xfrm>
        </p:grpSpPr>
        <p:grpSp>
          <p:nvGrpSpPr>
            <p:cNvPr id="49157" name="Group 4"/>
            <p:cNvGrpSpPr/>
            <p:nvPr/>
          </p:nvGrpSpPr>
          <p:grpSpPr>
            <a:xfrm>
              <a:off x="2105025" y="1952625"/>
              <a:ext cx="457200" cy="1066800"/>
              <a:chOff x="2448" y="1296"/>
              <a:chExt cx="288" cy="960"/>
            </a:xfrm>
          </p:grpSpPr>
          <p:sp>
            <p:nvSpPr>
              <p:cNvPr id="49175" name="Rectangle 5"/>
              <p:cNvSpPr/>
              <p:nvPr/>
            </p:nvSpPr>
            <p:spPr>
              <a:xfrm>
                <a:off x="2448" y="1296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en-US" sz="2400" dirty="0">
                    <a:latin typeface="Times New Roman" panose="02020603050405020304" pitchFamily="18" charset="0"/>
                  </a:rPr>
                  <a:t>0</a:t>
                </a:r>
                <a:endParaRPr lang="en-US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176" name="Rectangle 6"/>
              <p:cNvSpPr/>
              <p:nvPr/>
            </p:nvSpPr>
            <p:spPr>
              <a:xfrm>
                <a:off x="2448" y="1584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en-US" sz="2400" dirty="0">
                    <a:latin typeface="Times New Roman" panose="02020603050405020304" pitchFamily="18" charset="0"/>
                  </a:rPr>
                  <a:t>5</a:t>
                </a:r>
                <a:endParaRPr lang="en-US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177" name="Rectangle 7"/>
              <p:cNvSpPr/>
              <p:nvPr/>
            </p:nvSpPr>
            <p:spPr>
              <a:xfrm>
                <a:off x="2448" y="1920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en-US" sz="2400" dirty="0">
                    <a:latin typeface="Times New Roman" panose="02020603050405020304" pitchFamily="18" charset="0"/>
                  </a:rPr>
                  <a:t>6</a:t>
                </a:r>
                <a:endParaRPr lang="en-US" altLang="en-US" sz="24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9158" name="Text Box 8"/>
            <p:cNvSpPr txBox="1"/>
            <p:nvPr/>
          </p:nvSpPr>
          <p:spPr>
            <a:xfrm>
              <a:off x="830263" y="2257425"/>
              <a:ext cx="1350962" cy="36671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Helvetica" panose="020B0604020202030204" pitchFamily="34" charset="0"/>
                </a:rPr>
                <a:t>(5 &lt; </a:t>
              </a:r>
              <a:r>
                <a:rPr lang="en-US" altLang="en-US" b="1" dirty="0">
                  <a:latin typeface="Helvetica" panose="020B0604020202030204" pitchFamily="34" charset="0"/>
                </a:rPr>
                <a:t>some</a:t>
              </a:r>
              <a:endParaRPr lang="en-US" altLang="en-US" dirty="0">
                <a:latin typeface="Helvetica" panose="020B0604020202030204" pitchFamily="34" charset="0"/>
              </a:endParaRPr>
            </a:p>
          </p:txBody>
        </p:sp>
        <p:sp>
          <p:nvSpPr>
            <p:cNvPr id="49159" name="Text Box 9"/>
            <p:cNvSpPr txBox="1"/>
            <p:nvPr/>
          </p:nvSpPr>
          <p:spPr>
            <a:xfrm>
              <a:off x="2638425" y="2257425"/>
              <a:ext cx="914400" cy="36671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Helvetica" panose="020B0604020202030204" pitchFamily="34" charset="0"/>
                </a:rPr>
                <a:t>) = true</a:t>
              </a:r>
              <a:endParaRPr lang="en-US" altLang="en-US" dirty="0">
                <a:latin typeface="Helvetica" panose="020B0604020202030204" pitchFamily="34" charset="0"/>
              </a:endParaRPr>
            </a:p>
          </p:txBody>
        </p:sp>
        <p:sp>
          <p:nvSpPr>
            <p:cNvPr id="49160" name="Rectangle 10"/>
            <p:cNvSpPr/>
            <p:nvPr/>
          </p:nvSpPr>
          <p:spPr>
            <a:xfrm>
              <a:off x="2105025" y="3118035"/>
              <a:ext cx="457200" cy="381000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en-US" sz="2400" dirty="0">
                  <a:latin typeface="Times New Roman" panose="02020603050405020304" pitchFamily="18" charset="0"/>
                </a:rPr>
                <a:t>0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9161" name="Rectangle 11"/>
            <p:cNvSpPr/>
            <p:nvPr/>
          </p:nvSpPr>
          <p:spPr>
            <a:xfrm>
              <a:off x="2105025" y="3476625"/>
              <a:ext cx="457200" cy="296863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en-US" sz="2400" dirty="0">
                  <a:latin typeface="Times New Roman" panose="02020603050405020304" pitchFamily="18" charset="0"/>
                </a:rPr>
                <a:t>5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9162" name="Rectangle 12"/>
            <p:cNvSpPr/>
            <p:nvPr/>
          </p:nvSpPr>
          <p:spPr>
            <a:xfrm>
              <a:off x="2105025" y="3930650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en-US" sz="2400" dirty="0">
                  <a:latin typeface="Times New Roman" panose="02020603050405020304" pitchFamily="18" charset="0"/>
                </a:rPr>
                <a:t>0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9163" name="Text Box 13"/>
            <p:cNvSpPr txBox="1"/>
            <p:nvPr/>
          </p:nvSpPr>
          <p:spPr>
            <a:xfrm>
              <a:off x="2638425" y="3416300"/>
              <a:ext cx="1219200" cy="36671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Helvetica" panose="020B0604020202030204" pitchFamily="34" charset="0"/>
                </a:rPr>
                <a:t>) = false</a:t>
              </a:r>
              <a:endParaRPr lang="en-US" altLang="en-US" dirty="0">
                <a:latin typeface="Helvetica" panose="020B0604020202030204" pitchFamily="34" charset="0"/>
              </a:endParaRPr>
            </a:p>
          </p:txBody>
        </p:sp>
        <p:sp>
          <p:nvSpPr>
            <p:cNvPr id="49164" name="Rectangle 14"/>
            <p:cNvSpPr/>
            <p:nvPr/>
          </p:nvSpPr>
          <p:spPr>
            <a:xfrm>
              <a:off x="2105025" y="4235450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en-US" sz="2400" dirty="0">
                  <a:latin typeface="Times New Roman" panose="02020603050405020304" pitchFamily="18" charset="0"/>
                </a:rPr>
                <a:t>5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9165" name="Rectangle 15"/>
            <p:cNvSpPr/>
            <p:nvPr/>
          </p:nvSpPr>
          <p:spPr>
            <a:xfrm>
              <a:off x="2105025" y="4772025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en-US" sz="2400" dirty="0">
                  <a:latin typeface="Times New Roman" panose="02020603050405020304" pitchFamily="18" charset="0"/>
                </a:rPr>
                <a:t>0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9166" name="Rectangle 16"/>
            <p:cNvSpPr/>
            <p:nvPr/>
          </p:nvSpPr>
          <p:spPr>
            <a:xfrm>
              <a:off x="2105025" y="5076825"/>
              <a:ext cx="457200" cy="309563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en-US" sz="2400" dirty="0">
                  <a:latin typeface="Times New Roman" panose="02020603050405020304" pitchFamily="18" charset="0"/>
                </a:rPr>
                <a:t>5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9167" name="Text Box 17"/>
            <p:cNvSpPr txBox="1"/>
            <p:nvPr/>
          </p:nvSpPr>
          <p:spPr>
            <a:xfrm>
              <a:off x="809625" y="5000625"/>
              <a:ext cx="144780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Helvetica" panose="020B0604020202030204" pitchFamily="34" charset="0"/>
                </a:rPr>
                <a:t>(5 </a:t>
              </a:r>
              <a:r>
                <a:rPr lang="en-US" altLang="en-US" sz="2400" dirty="0">
                  <a:latin typeface="Times New Roman" panose="02020603050405020304" pitchFamily="18" charset="0"/>
                  <a:sym typeface="Symbol" panose="05050102010706020507" charset="2"/>
                </a:rPr>
                <a:t></a:t>
              </a:r>
              <a:r>
                <a:rPr lang="en-US" altLang="en-US" dirty="0">
                  <a:latin typeface="Helvetica" panose="020B0604020202030204" pitchFamily="34" charset="0"/>
                </a:rPr>
                <a:t> </a:t>
              </a:r>
              <a:r>
                <a:rPr lang="en-US" altLang="en-US" b="1" dirty="0">
                  <a:latin typeface="Helvetica" panose="020B0604020202030204" pitchFamily="34" charset="0"/>
                </a:rPr>
                <a:t>some</a:t>
              </a:r>
              <a:endParaRPr lang="en-US" altLang="en-US" b="1" dirty="0">
                <a:latin typeface="Helvetica" panose="020B0604020202030204" pitchFamily="34" charset="0"/>
              </a:endParaRPr>
            </a:p>
          </p:txBody>
        </p:sp>
        <p:sp>
          <p:nvSpPr>
            <p:cNvPr id="49168" name="Text Box 18"/>
            <p:cNvSpPr txBox="1"/>
            <p:nvPr/>
          </p:nvSpPr>
          <p:spPr>
            <a:xfrm>
              <a:off x="2638425" y="5000625"/>
              <a:ext cx="251460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Helvetica" panose="020B0604020202030204" pitchFamily="34" charset="0"/>
                </a:rPr>
                <a:t>) = true (since 0 </a:t>
              </a:r>
              <a:r>
                <a:rPr lang="en-US" altLang="en-US" sz="2400" dirty="0">
                  <a:latin typeface="Times New Roman" panose="02020603050405020304" pitchFamily="18" charset="0"/>
                  <a:sym typeface="Symbol" panose="05050102010706020507" charset="2"/>
                </a:rPr>
                <a:t> </a:t>
              </a:r>
              <a:r>
                <a:rPr lang="en-US" altLang="en-US" dirty="0">
                  <a:latin typeface="Helvetica" panose="020B0604020202030204" pitchFamily="34" charset="0"/>
                  <a:sym typeface="Symbol" panose="05050102010706020507" charset="2"/>
                </a:rPr>
                <a:t>5)</a:t>
              </a:r>
              <a:endParaRPr lang="en-US" altLang="en-US" sz="2400" dirty="0">
                <a:latin typeface="Times New Roman" panose="02020603050405020304" pitchFamily="18" charset="0"/>
                <a:sym typeface="Symbol" panose="05050102010706020507" charset="2"/>
              </a:endParaRPr>
            </a:p>
          </p:txBody>
        </p:sp>
        <p:sp>
          <p:nvSpPr>
            <p:cNvPr id="49169" name="Text Box 19"/>
            <p:cNvSpPr txBox="1"/>
            <p:nvPr/>
          </p:nvSpPr>
          <p:spPr>
            <a:xfrm>
              <a:off x="3738563" y="2486025"/>
              <a:ext cx="4876800" cy="36671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Helvetica" panose="020B0604020202030204" pitchFamily="34" charset="0"/>
                </a:rPr>
                <a:t>(read:  5 &lt; some tuple in the relation) </a:t>
              </a:r>
              <a:endParaRPr lang="en-US" altLang="en-US" dirty="0">
                <a:latin typeface="Helvetica" panose="020B0604020202030204" pitchFamily="34" charset="0"/>
              </a:endParaRPr>
            </a:p>
          </p:txBody>
        </p:sp>
        <p:sp>
          <p:nvSpPr>
            <p:cNvPr id="49170" name="Text Box 20"/>
            <p:cNvSpPr txBox="1"/>
            <p:nvPr/>
          </p:nvSpPr>
          <p:spPr>
            <a:xfrm>
              <a:off x="844550" y="3402013"/>
              <a:ext cx="1377950" cy="366712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Helvetica" panose="020B0604020202030204" pitchFamily="34" charset="0"/>
                </a:rPr>
                <a:t>(5 &lt; </a:t>
              </a:r>
              <a:r>
                <a:rPr lang="en-US" altLang="en-US" b="1" dirty="0">
                  <a:latin typeface="Helvetica" panose="020B0604020202030204" pitchFamily="34" charset="0"/>
                </a:rPr>
                <a:t>some</a:t>
              </a:r>
              <a:endParaRPr lang="en-US" altLang="en-US" dirty="0">
                <a:latin typeface="Helvetica" panose="020B0604020202030204" pitchFamily="34" charset="0"/>
              </a:endParaRPr>
            </a:p>
          </p:txBody>
        </p:sp>
        <p:sp>
          <p:nvSpPr>
            <p:cNvPr id="49171" name="Text Box 21"/>
            <p:cNvSpPr txBox="1"/>
            <p:nvPr/>
          </p:nvSpPr>
          <p:spPr>
            <a:xfrm>
              <a:off x="2638425" y="4159250"/>
              <a:ext cx="1219200" cy="36671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Helvetica" panose="020B0604020202030204" pitchFamily="34" charset="0"/>
                </a:rPr>
                <a:t>) = true</a:t>
              </a:r>
              <a:endParaRPr lang="en-US" altLang="en-US" dirty="0">
                <a:latin typeface="Helvetica" panose="020B0604020202030204" pitchFamily="34" charset="0"/>
              </a:endParaRPr>
            </a:p>
          </p:txBody>
        </p:sp>
        <p:sp>
          <p:nvSpPr>
            <p:cNvPr id="49172" name="Text Box 22"/>
            <p:cNvSpPr txBox="1"/>
            <p:nvPr/>
          </p:nvSpPr>
          <p:spPr>
            <a:xfrm>
              <a:off x="885825" y="4162425"/>
              <a:ext cx="1524000" cy="36671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Helvetica" panose="020B0604020202030204" pitchFamily="34" charset="0"/>
                </a:rPr>
                <a:t>(5 = </a:t>
              </a:r>
              <a:r>
                <a:rPr lang="en-US" altLang="en-US" b="1" dirty="0">
                  <a:latin typeface="Helvetica" panose="020B0604020202030204" pitchFamily="34" charset="0"/>
                </a:rPr>
                <a:t>some</a:t>
              </a:r>
              <a:endParaRPr lang="en-US" altLang="en-US" dirty="0">
                <a:latin typeface="Helvetica" panose="020B0604020202030204" pitchFamily="34" charset="0"/>
              </a:endParaRPr>
            </a:p>
          </p:txBody>
        </p:sp>
        <p:sp>
          <p:nvSpPr>
            <p:cNvPr id="49173" name="Rectangle 23"/>
            <p:cNvSpPr/>
            <p:nvPr/>
          </p:nvSpPr>
          <p:spPr>
            <a:xfrm>
              <a:off x="823913" y="5472113"/>
              <a:ext cx="6800850" cy="714375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8" tIns="44450" rIns="90488" bIns="44450"/>
            <a:lstStyle/>
            <a:p>
              <a:r>
                <a:rPr lang="en-US" altLang="en-US" dirty="0">
                  <a:latin typeface="Arial" panose="020B0604020202020204" pitchFamily="34" charset="0"/>
                </a:rPr>
                <a:t>(= </a:t>
              </a:r>
              <a:r>
                <a:rPr lang="en-US" altLang="en-US" b="1" dirty="0">
                  <a:latin typeface="Arial" panose="020B0604020202020204" pitchFamily="34" charset="0"/>
                </a:rPr>
                <a:t>some</a:t>
              </a:r>
              <a:r>
                <a:rPr lang="en-US" altLang="en-US" dirty="0">
                  <a:latin typeface="Arial" panose="020B0604020202020204" pitchFamily="34" charset="0"/>
                </a:rPr>
                <a:t>) </a:t>
              </a:r>
              <a:r>
                <a:rPr lang="en-US" altLang="en-US" dirty="0">
                  <a:latin typeface="Arial" panose="020B0604020202020204" pitchFamily="34" charset="0"/>
                  <a:sym typeface="Symbol" panose="05050102010706020507" charset="2"/>
                </a:rPr>
                <a:t> </a:t>
              </a:r>
              <a:r>
                <a:rPr lang="en-US" altLang="en-US" b="1" dirty="0">
                  <a:latin typeface="Arial" panose="020B0604020202020204" pitchFamily="34" charset="0"/>
                  <a:sym typeface="Symbol" panose="05050102010706020507" charset="2"/>
                </a:rPr>
                <a:t>in</a:t>
              </a:r>
              <a:endParaRPr lang="en-US" altLang="en-US" b="1" dirty="0">
                <a:latin typeface="Arial" panose="020B0604020202020204" pitchFamily="34" charset="0"/>
                <a:sym typeface="Symbol" panose="05050102010706020507" charset="2"/>
              </a:endParaRPr>
            </a:p>
            <a:p>
              <a:r>
                <a:rPr lang="en-US" altLang="en-US" dirty="0">
                  <a:latin typeface="Arial" panose="020B0604020202020204" pitchFamily="34" charset="0"/>
                  <a:sym typeface="Symbol" panose="05050102010706020507" charset="2"/>
                </a:rPr>
                <a:t>However, ( </a:t>
              </a:r>
              <a:r>
                <a:rPr lang="en-US" altLang="en-US" b="1" dirty="0">
                  <a:latin typeface="Arial" panose="020B0604020202020204" pitchFamily="34" charset="0"/>
                  <a:sym typeface="Symbol" panose="05050102010706020507" charset="2"/>
                </a:rPr>
                <a:t>some</a:t>
              </a:r>
              <a:r>
                <a:rPr lang="en-US" altLang="en-US" dirty="0">
                  <a:latin typeface="Arial" panose="020B0604020202020204" pitchFamily="34" charset="0"/>
                  <a:sym typeface="Symbol" panose="05050102010706020507" charset="2"/>
                </a:rPr>
                <a:t>)  </a:t>
              </a:r>
              <a:r>
                <a:rPr lang="en-US" altLang="en-US" b="1" dirty="0">
                  <a:latin typeface="Arial" panose="020B0604020202020204" pitchFamily="34" charset="0"/>
                  <a:sym typeface="Symbol" panose="05050102010706020507" charset="2"/>
                </a:rPr>
                <a:t>not in</a:t>
              </a:r>
              <a:endParaRPr lang="en-US" altLang="en-US" dirty="0">
                <a:latin typeface="Arial" panose="020B0604020202020204" pitchFamily="34" charset="0"/>
                <a:sym typeface="Symbol" panose="05050102010706020507" charset="2"/>
              </a:endParaRPr>
            </a:p>
          </p:txBody>
        </p:sp>
        <p:sp>
          <p:nvSpPr>
            <p:cNvPr id="49174" name="Line 24"/>
            <p:cNvSpPr/>
            <p:nvPr/>
          </p:nvSpPr>
          <p:spPr>
            <a:xfrm flipH="1">
              <a:off x="2919413" y="5840413"/>
              <a:ext cx="122237" cy="27940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Set Comparison – “all” Clause</a:t>
            </a:r>
            <a:endParaRPr kumimoji="1" 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0179" name="Rectangle 3"/>
          <p:cNvSpPr>
            <a:spLocks noGrp="1"/>
          </p:cNvSpPr>
          <p:nvPr>
            <p:ph idx="1"/>
          </p:nvPr>
        </p:nvSpPr>
        <p:spPr>
          <a:xfrm>
            <a:off x="814388" y="1108075"/>
            <a:ext cx="7661275" cy="976313"/>
          </a:xfrm>
        </p:spPr>
        <p:txBody>
          <a:bodyPr vert="horz" wrap="square" lIns="91440" tIns="45720" rIns="91440" bIns="45720" anchor="t"/>
          <a:lstStyle/>
          <a:p>
            <a:pPr defTabSz="0">
              <a:tabLst>
                <a:tab pos="1370330" algn="l"/>
                <a:tab pos="1830705" algn="l"/>
              </a:tabLst>
            </a:pPr>
            <a:r>
              <a:rPr lang="en-US" altLang="en-US" dirty="0"/>
              <a:t>Find the names of all instructors whose salary is greater than the salary of all instructors in the Biology department.</a:t>
            </a:r>
            <a:endParaRPr lang="en-US" altLang="en-US" dirty="0"/>
          </a:p>
        </p:txBody>
      </p:sp>
      <p:sp>
        <p:nvSpPr>
          <p:cNvPr id="50180" name="Text Box 4"/>
          <p:cNvSpPr txBox="1"/>
          <p:nvPr/>
        </p:nvSpPr>
        <p:spPr>
          <a:xfrm>
            <a:off x="1836738" y="2946718"/>
            <a:ext cx="5018087" cy="1314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1600" b="1" dirty="0">
                <a:latin typeface="Helvetica" panose="020B0604020202030204" pitchFamily="34" charset="0"/>
              </a:rPr>
              <a:t>select </a:t>
            </a:r>
            <a:r>
              <a:rPr lang="en-US" altLang="en-US" sz="1600" i="1" dirty="0">
                <a:latin typeface="Helvetica" panose="020B0604020202030204" pitchFamily="34" charset="0"/>
              </a:rPr>
              <a:t>name</a:t>
            </a:r>
            <a:endParaRPr lang="en-US" altLang="en-US" sz="1600" i="1" dirty="0">
              <a:latin typeface="Helvetica" panose="020B0604020202030204" pitchFamily="34" charset="0"/>
            </a:endParaRPr>
          </a:p>
          <a:p>
            <a:r>
              <a:rPr lang="en-US" altLang="en-US" sz="1600" b="1" dirty="0">
                <a:latin typeface="Helvetica" panose="020B0604020202030204" pitchFamily="34" charset="0"/>
              </a:rPr>
              <a:t>from </a:t>
            </a:r>
            <a:r>
              <a:rPr lang="en-US" altLang="en-US" sz="1600" i="1" dirty="0">
                <a:latin typeface="Helvetica" panose="020B0604020202030204" pitchFamily="34" charset="0"/>
              </a:rPr>
              <a:t>instructor</a:t>
            </a:r>
            <a:endParaRPr lang="en-US" altLang="en-US" sz="1600" i="1" dirty="0">
              <a:latin typeface="Helvetica" panose="020B0604020202030204" pitchFamily="34" charset="0"/>
            </a:endParaRPr>
          </a:p>
          <a:p>
            <a:r>
              <a:rPr lang="en-US" altLang="en-US" sz="1600" b="1" dirty="0">
                <a:latin typeface="Helvetica" panose="020B0604020202030204" pitchFamily="34" charset="0"/>
              </a:rPr>
              <a:t>where </a:t>
            </a:r>
            <a:r>
              <a:rPr lang="en-US" altLang="en-US" sz="1600" i="1" dirty="0">
                <a:latin typeface="Helvetica" panose="020B0604020202030204" pitchFamily="34" charset="0"/>
              </a:rPr>
              <a:t>salary </a:t>
            </a:r>
            <a:r>
              <a:rPr lang="en-US" altLang="en-US" sz="1600" dirty="0">
                <a:latin typeface="Helvetica" panose="020B0604020202030204" pitchFamily="34" charset="0"/>
              </a:rPr>
              <a:t>&gt; </a:t>
            </a:r>
            <a:r>
              <a:rPr lang="en-US" altLang="en-US" sz="1600" b="1" dirty="0">
                <a:latin typeface="Helvetica" panose="020B0604020202030204" pitchFamily="34" charset="0"/>
              </a:rPr>
              <a:t>all </a:t>
            </a:r>
            <a:r>
              <a:rPr lang="en-US" altLang="en-US" sz="1600" dirty="0">
                <a:latin typeface="Helvetica" panose="020B0604020202030204" pitchFamily="34" charset="0"/>
              </a:rPr>
              <a:t>(</a:t>
            </a:r>
            <a:r>
              <a:rPr lang="en-US" altLang="en-US" sz="1600" b="1" dirty="0">
                <a:latin typeface="Helvetica" panose="020B0604020202030204" pitchFamily="34" charset="0"/>
              </a:rPr>
              <a:t>select </a:t>
            </a:r>
            <a:r>
              <a:rPr lang="en-US" altLang="en-US" sz="1600" i="1" dirty="0">
                <a:latin typeface="Helvetica" panose="020B0604020202030204" pitchFamily="34" charset="0"/>
              </a:rPr>
              <a:t>salary</a:t>
            </a:r>
            <a:endParaRPr lang="en-US" altLang="en-US" sz="1600" i="1" dirty="0">
              <a:latin typeface="Helvetica" panose="020B0604020202030204" pitchFamily="34" charset="0"/>
            </a:endParaRPr>
          </a:p>
          <a:p>
            <a:r>
              <a:rPr lang="en-US" altLang="en-US" sz="1600" b="1" dirty="0">
                <a:latin typeface="Helvetica" panose="020B0604020202030204" pitchFamily="34" charset="0"/>
              </a:rPr>
              <a:t>                                from </a:t>
            </a:r>
            <a:r>
              <a:rPr lang="en-US" altLang="en-US" sz="1600" i="1" dirty="0">
                <a:latin typeface="Helvetica" panose="020B0604020202030204" pitchFamily="34" charset="0"/>
              </a:rPr>
              <a:t>instructor</a:t>
            </a:r>
            <a:endParaRPr lang="en-US" altLang="en-US" sz="1600" i="1" dirty="0">
              <a:latin typeface="Helvetica" panose="020B0604020202030204" pitchFamily="34" charset="0"/>
            </a:endParaRPr>
          </a:p>
          <a:p>
            <a:r>
              <a:rPr lang="en-US" altLang="en-US" sz="1600" b="1" dirty="0">
                <a:latin typeface="Helvetica" panose="020B0604020202030204" pitchFamily="34" charset="0"/>
              </a:rPr>
              <a:t>                                where </a:t>
            </a:r>
            <a:r>
              <a:rPr lang="en-US" altLang="en-US" sz="1600" i="1" dirty="0">
                <a:latin typeface="Helvetica" panose="020B0604020202030204" pitchFamily="34" charset="0"/>
              </a:rPr>
              <a:t>dept name </a:t>
            </a:r>
            <a:r>
              <a:rPr lang="en-US" altLang="en-US" sz="1600" dirty="0">
                <a:latin typeface="Helvetica" panose="020B0604020202030204" pitchFamily="34" charset="0"/>
              </a:rPr>
              <a:t>= ’Biology’);</a:t>
            </a:r>
            <a:endParaRPr lang="en-US" altLang="en-US" sz="1600" dirty="0">
              <a:latin typeface="Helvetica" panose="020B0604020202030204" pitchFamily="34" charset="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Definition of “all” Clause</a:t>
            </a:r>
            <a:endParaRPr kumimoji="1" 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1203" name="Rectangle 3"/>
          <p:cNvSpPr>
            <a:spLocks noGrp="1"/>
          </p:cNvSpPr>
          <p:nvPr>
            <p:ph idx="1"/>
          </p:nvPr>
        </p:nvSpPr>
        <p:spPr>
          <a:xfrm>
            <a:off x="823913" y="1122363"/>
            <a:ext cx="6638925" cy="382587"/>
          </a:xfrm>
        </p:spPr>
        <p:txBody>
          <a:bodyPr vert="horz" wrap="square" lIns="90488" tIns="44450" rIns="90488" bIns="44450" anchor="t"/>
          <a:lstStyle/>
          <a:p>
            <a:r>
              <a:rPr lang="en-US" altLang="en-US" dirty="0"/>
              <a:t>F &lt;comp&gt; </a:t>
            </a:r>
            <a:r>
              <a:rPr lang="en-US" altLang="en-US" b="1" dirty="0"/>
              <a:t>all </a:t>
            </a:r>
            <a:r>
              <a:rPr lang="en-US" altLang="en-US" i="1" dirty="0"/>
              <a:t>r </a:t>
            </a:r>
            <a:r>
              <a:rPr lang="en-US" altLang="en-US" dirty="0">
                <a:sym typeface="Symbol" panose="05050102010706020507" charset="2"/>
              </a:rPr>
              <a:t></a:t>
            </a:r>
            <a:r>
              <a:rPr lang="en-US" altLang="en-US" i="1" dirty="0">
                <a:sym typeface="Symbol" panose="05050102010706020507" charset="2"/>
              </a:rPr>
              <a:t>t </a:t>
            </a:r>
            <a:r>
              <a:rPr lang="en-US" altLang="en-US" dirty="0">
                <a:sym typeface="Symbol" panose="05050102010706020507" charset="2"/>
              </a:rPr>
              <a:t></a:t>
            </a:r>
            <a:r>
              <a:rPr lang="en-US" altLang="en-US" i="1" dirty="0">
                <a:sym typeface="Symbol" panose="05050102010706020507" charset="2"/>
              </a:rPr>
              <a:t>r</a:t>
            </a:r>
            <a:r>
              <a:rPr lang="en-US" altLang="en-US" dirty="0">
                <a:sym typeface="Symbol" panose="05050102010706020507" charset="2"/>
              </a:rPr>
              <a:t> (F &lt;comp&gt; </a:t>
            </a:r>
            <a:r>
              <a:rPr lang="en-US" altLang="en-US" i="1" dirty="0">
                <a:sym typeface="Symbol" panose="05050102010706020507" charset="2"/>
              </a:rPr>
              <a:t>t)</a:t>
            </a:r>
            <a:endParaRPr lang="en-US" altLang="en-US" dirty="0"/>
          </a:p>
        </p:txBody>
      </p:sp>
      <p:grpSp>
        <p:nvGrpSpPr>
          <p:cNvPr id="51204" name="Group 1"/>
          <p:cNvGrpSpPr/>
          <p:nvPr/>
        </p:nvGrpSpPr>
        <p:grpSpPr>
          <a:xfrm>
            <a:off x="1365250" y="1752600"/>
            <a:ext cx="6800850" cy="4219575"/>
            <a:chOff x="1238250" y="1752600"/>
            <a:chExt cx="6800850" cy="4219575"/>
          </a:xfrm>
        </p:grpSpPr>
        <p:grpSp>
          <p:nvGrpSpPr>
            <p:cNvPr id="51205" name="Group 4"/>
            <p:cNvGrpSpPr/>
            <p:nvPr/>
          </p:nvGrpSpPr>
          <p:grpSpPr>
            <a:xfrm>
              <a:off x="2619375" y="1752600"/>
              <a:ext cx="457200" cy="1066800"/>
              <a:chOff x="2448" y="1296"/>
              <a:chExt cx="288" cy="960"/>
            </a:xfrm>
          </p:grpSpPr>
          <p:sp>
            <p:nvSpPr>
              <p:cNvPr id="51222" name="Rectangle 5"/>
              <p:cNvSpPr/>
              <p:nvPr/>
            </p:nvSpPr>
            <p:spPr>
              <a:xfrm>
                <a:off x="2448" y="1296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en-US" sz="2400" dirty="0">
                    <a:latin typeface="Times New Roman" panose="02020603050405020304" pitchFamily="18" charset="0"/>
                  </a:rPr>
                  <a:t>0</a:t>
                </a:r>
                <a:endParaRPr lang="en-US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223" name="Rectangle 6"/>
              <p:cNvSpPr/>
              <p:nvPr/>
            </p:nvSpPr>
            <p:spPr>
              <a:xfrm>
                <a:off x="2448" y="1584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en-US" sz="2400" dirty="0">
                    <a:latin typeface="Times New Roman" panose="02020603050405020304" pitchFamily="18" charset="0"/>
                  </a:rPr>
                  <a:t>5</a:t>
                </a:r>
                <a:endParaRPr lang="en-US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224" name="Rectangle 7"/>
              <p:cNvSpPr/>
              <p:nvPr/>
            </p:nvSpPr>
            <p:spPr>
              <a:xfrm>
                <a:off x="2448" y="1920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en-US" sz="2400" dirty="0">
                    <a:latin typeface="Times New Roman" panose="02020603050405020304" pitchFamily="18" charset="0"/>
                  </a:rPr>
                  <a:t>6</a:t>
                </a:r>
                <a:endParaRPr lang="en-US" altLang="en-US" sz="24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1206" name="Text Box 8"/>
            <p:cNvSpPr txBox="1"/>
            <p:nvPr/>
          </p:nvSpPr>
          <p:spPr>
            <a:xfrm>
              <a:off x="1593850" y="2057400"/>
              <a:ext cx="1219200" cy="36671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Helvetica" panose="020B0604020202030204" pitchFamily="34" charset="0"/>
                </a:rPr>
                <a:t>(5 &lt; </a:t>
              </a:r>
              <a:r>
                <a:rPr lang="en-US" altLang="en-US" b="1" dirty="0">
                  <a:latin typeface="Helvetica" panose="020B0604020202030204" pitchFamily="34" charset="0"/>
                </a:rPr>
                <a:t>all</a:t>
              </a:r>
              <a:endParaRPr lang="en-US" altLang="en-US" dirty="0">
                <a:latin typeface="Helvetica" panose="020B0604020202030204" pitchFamily="34" charset="0"/>
              </a:endParaRPr>
            </a:p>
          </p:txBody>
        </p:sp>
        <p:sp>
          <p:nvSpPr>
            <p:cNvPr id="51207" name="Text Box 9"/>
            <p:cNvSpPr txBox="1"/>
            <p:nvPr/>
          </p:nvSpPr>
          <p:spPr>
            <a:xfrm>
              <a:off x="3152775" y="2057400"/>
              <a:ext cx="1219200" cy="36671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Helvetica" panose="020B0604020202030204" pitchFamily="34" charset="0"/>
                </a:rPr>
                <a:t>) = false</a:t>
              </a:r>
              <a:endParaRPr lang="en-US" altLang="en-US" dirty="0">
                <a:latin typeface="Helvetica" panose="020B0604020202030204" pitchFamily="34" charset="0"/>
              </a:endParaRPr>
            </a:p>
          </p:txBody>
        </p:sp>
        <p:sp>
          <p:nvSpPr>
            <p:cNvPr id="51208" name="Rectangle 10"/>
            <p:cNvSpPr/>
            <p:nvPr/>
          </p:nvSpPr>
          <p:spPr>
            <a:xfrm>
              <a:off x="2619375" y="2971800"/>
              <a:ext cx="457200" cy="381000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en-US" sz="2400" dirty="0">
                  <a:latin typeface="Times New Roman" panose="02020603050405020304" pitchFamily="18" charset="0"/>
                </a:rPr>
                <a:t>6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1209" name="Rectangle 11"/>
            <p:cNvSpPr/>
            <p:nvPr/>
          </p:nvSpPr>
          <p:spPr>
            <a:xfrm>
              <a:off x="2619375" y="3276600"/>
              <a:ext cx="457200" cy="296863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en-US" sz="2400" dirty="0">
                  <a:latin typeface="Times New Roman" panose="02020603050405020304" pitchFamily="18" charset="0"/>
                </a:rPr>
                <a:t>10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1210" name="Rectangle 12"/>
            <p:cNvSpPr/>
            <p:nvPr/>
          </p:nvSpPr>
          <p:spPr>
            <a:xfrm>
              <a:off x="2619375" y="3730625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en-US" sz="2400" dirty="0">
                  <a:latin typeface="Times New Roman" panose="02020603050405020304" pitchFamily="18" charset="0"/>
                </a:rPr>
                <a:t>4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1211" name="Text Box 13"/>
            <p:cNvSpPr txBox="1"/>
            <p:nvPr/>
          </p:nvSpPr>
          <p:spPr>
            <a:xfrm>
              <a:off x="3152775" y="3216275"/>
              <a:ext cx="1219200" cy="36671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Helvetica" panose="020B0604020202030204" pitchFamily="34" charset="0"/>
                </a:rPr>
                <a:t>) = true</a:t>
              </a:r>
              <a:endParaRPr lang="en-US" altLang="en-US" dirty="0">
                <a:latin typeface="Helvetica" panose="020B0604020202030204" pitchFamily="34" charset="0"/>
              </a:endParaRPr>
            </a:p>
          </p:txBody>
        </p:sp>
        <p:sp>
          <p:nvSpPr>
            <p:cNvPr id="51212" name="Rectangle 14"/>
            <p:cNvSpPr/>
            <p:nvPr/>
          </p:nvSpPr>
          <p:spPr>
            <a:xfrm>
              <a:off x="2619375" y="4035425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en-US" sz="2400" dirty="0">
                  <a:latin typeface="Times New Roman" panose="02020603050405020304" pitchFamily="18" charset="0"/>
                </a:rPr>
                <a:t>5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1213" name="Rectangle 15"/>
            <p:cNvSpPr/>
            <p:nvPr/>
          </p:nvSpPr>
          <p:spPr>
            <a:xfrm>
              <a:off x="2619375" y="4572000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en-US" sz="2400" dirty="0">
                  <a:latin typeface="Times New Roman" panose="02020603050405020304" pitchFamily="18" charset="0"/>
                </a:rPr>
                <a:t>4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1214" name="Rectangle 16"/>
            <p:cNvSpPr/>
            <p:nvPr/>
          </p:nvSpPr>
          <p:spPr>
            <a:xfrm>
              <a:off x="2619375" y="4876800"/>
              <a:ext cx="457200" cy="309563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en-US" sz="2400" dirty="0">
                  <a:latin typeface="Times New Roman" panose="02020603050405020304" pitchFamily="18" charset="0"/>
                </a:rPr>
                <a:t>6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1215" name="Text Box 17"/>
            <p:cNvSpPr txBox="1"/>
            <p:nvPr/>
          </p:nvSpPr>
          <p:spPr>
            <a:xfrm>
              <a:off x="1704975" y="4800600"/>
              <a:ext cx="167640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Helvetica" panose="020B0604020202030204" pitchFamily="34" charset="0"/>
                </a:rPr>
                <a:t>(5 </a:t>
              </a:r>
              <a:r>
                <a:rPr lang="en-US" altLang="en-US" sz="2400" dirty="0">
                  <a:latin typeface="Times New Roman" panose="02020603050405020304" pitchFamily="18" charset="0"/>
                  <a:sym typeface="Symbol" panose="05050102010706020507" charset="2"/>
                </a:rPr>
                <a:t></a:t>
              </a:r>
              <a:r>
                <a:rPr lang="en-US" altLang="en-US" dirty="0">
                  <a:latin typeface="Helvetica" panose="020B0604020202030204" pitchFamily="34" charset="0"/>
                </a:rPr>
                <a:t> </a:t>
              </a:r>
              <a:r>
                <a:rPr lang="en-US" altLang="en-US" b="1" dirty="0">
                  <a:latin typeface="Helvetica" panose="020B0604020202030204" pitchFamily="34" charset="0"/>
                </a:rPr>
                <a:t>all</a:t>
              </a:r>
              <a:endParaRPr lang="en-US" altLang="en-US" b="1" dirty="0">
                <a:latin typeface="Helvetica" panose="020B0604020202030204" pitchFamily="34" charset="0"/>
              </a:endParaRPr>
            </a:p>
          </p:txBody>
        </p:sp>
        <p:sp>
          <p:nvSpPr>
            <p:cNvPr id="51216" name="Text Box 18"/>
            <p:cNvSpPr txBox="1"/>
            <p:nvPr/>
          </p:nvSpPr>
          <p:spPr>
            <a:xfrm>
              <a:off x="3163888" y="4786313"/>
              <a:ext cx="4572000" cy="45720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Helvetica" panose="020B0604020202030204" pitchFamily="34" charset="0"/>
                </a:rPr>
                <a:t>) = true (since 5 </a:t>
              </a:r>
              <a:r>
                <a:rPr lang="en-US" altLang="en-US" sz="2400" dirty="0">
                  <a:latin typeface="Times New Roman" panose="02020603050405020304" pitchFamily="18" charset="0"/>
                  <a:sym typeface="Symbol" panose="05050102010706020507" charset="2"/>
                </a:rPr>
                <a:t> </a:t>
              </a:r>
              <a:r>
                <a:rPr lang="en-US" altLang="en-US" dirty="0">
                  <a:latin typeface="Helvetica" panose="020B0604020202030204" pitchFamily="34" charset="0"/>
                  <a:sym typeface="Symbol" panose="05050102010706020507" charset="2"/>
                </a:rPr>
                <a:t>4 and 5 </a:t>
              </a:r>
              <a:r>
                <a:rPr lang="en-US" altLang="en-US" sz="2400" dirty="0">
                  <a:latin typeface="Times New Roman" panose="02020603050405020304" pitchFamily="18" charset="0"/>
                  <a:sym typeface="Symbol" panose="05050102010706020507" charset="2"/>
                </a:rPr>
                <a:t></a:t>
              </a:r>
              <a:r>
                <a:rPr lang="en-US" altLang="en-US" dirty="0">
                  <a:latin typeface="Helvetica" panose="020B0604020202030204" pitchFamily="34" charset="0"/>
                  <a:sym typeface="Symbol" panose="05050102010706020507" charset="2"/>
                </a:rPr>
                <a:t> 6)</a:t>
              </a:r>
              <a:endParaRPr lang="en-US" altLang="en-US" sz="2400" dirty="0">
                <a:latin typeface="Times New Roman" panose="02020603050405020304" pitchFamily="18" charset="0"/>
                <a:sym typeface="Symbol" panose="05050102010706020507" charset="2"/>
              </a:endParaRPr>
            </a:p>
          </p:txBody>
        </p:sp>
        <p:sp>
          <p:nvSpPr>
            <p:cNvPr id="51217" name="Text Box 19"/>
            <p:cNvSpPr txBox="1"/>
            <p:nvPr/>
          </p:nvSpPr>
          <p:spPr>
            <a:xfrm>
              <a:off x="1651000" y="3228975"/>
              <a:ext cx="1219200" cy="36671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Helvetica" panose="020B0604020202030204" pitchFamily="34" charset="0"/>
                </a:rPr>
                <a:t>(5 &lt; </a:t>
              </a:r>
              <a:r>
                <a:rPr lang="en-US" altLang="en-US" b="1" dirty="0">
                  <a:latin typeface="Helvetica" panose="020B0604020202030204" pitchFamily="34" charset="0"/>
                </a:rPr>
                <a:t>all</a:t>
              </a:r>
              <a:endParaRPr lang="en-US" altLang="en-US" dirty="0">
                <a:latin typeface="Helvetica" panose="020B0604020202030204" pitchFamily="34" charset="0"/>
              </a:endParaRPr>
            </a:p>
          </p:txBody>
        </p:sp>
        <p:sp>
          <p:nvSpPr>
            <p:cNvPr id="51218" name="Text Box 20"/>
            <p:cNvSpPr txBox="1"/>
            <p:nvPr/>
          </p:nvSpPr>
          <p:spPr>
            <a:xfrm>
              <a:off x="3152775" y="3959225"/>
              <a:ext cx="1219200" cy="36671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Helvetica" panose="020B0604020202030204" pitchFamily="34" charset="0"/>
                </a:rPr>
                <a:t>) = false</a:t>
              </a:r>
              <a:endParaRPr lang="en-US" altLang="en-US" dirty="0">
                <a:latin typeface="Helvetica" panose="020B0604020202030204" pitchFamily="34" charset="0"/>
              </a:endParaRPr>
            </a:p>
          </p:txBody>
        </p:sp>
        <p:sp>
          <p:nvSpPr>
            <p:cNvPr id="51219" name="Text Box 21"/>
            <p:cNvSpPr txBox="1"/>
            <p:nvPr/>
          </p:nvSpPr>
          <p:spPr>
            <a:xfrm>
              <a:off x="1704975" y="3962400"/>
              <a:ext cx="1219200" cy="36671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Helvetica" panose="020B0604020202030204" pitchFamily="34" charset="0"/>
                </a:rPr>
                <a:t>(5 = </a:t>
              </a:r>
              <a:r>
                <a:rPr lang="en-US" altLang="en-US" b="1" dirty="0">
                  <a:latin typeface="Helvetica" panose="020B0604020202030204" pitchFamily="34" charset="0"/>
                </a:rPr>
                <a:t>all</a:t>
              </a:r>
              <a:endParaRPr lang="en-US" altLang="en-US" dirty="0">
                <a:latin typeface="Helvetica" panose="020B0604020202030204" pitchFamily="34" charset="0"/>
              </a:endParaRPr>
            </a:p>
          </p:txBody>
        </p:sp>
        <p:sp>
          <p:nvSpPr>
            <p:cNvPr id="51220" name="Rectangle 22"/>
            <p:cNvSpPr/>
            <p:nvPr/>
          </p:nvSpPr>
          <p:spPr>
            <a:xfrm>
              <a:off x="1238250" y="5257800"/>
              <a:ext cx="6800850" cy="714375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8" tIns="44450" rIns="90488" bIns="44450"/>
            <a:lstStyle/>
            <a:p>
              <a:r>
                <a:rPr lang="en-US" altLang="en-US" dirty="0">
                  <a:latin typeface="Arial" panose="020B0604020202020204" pitchFamily="34" charset="0"/>
                </a:rPr>
                <a:t>(</a:t>
              </a:r>
              <a:r>
                <a:rPr lang="en-US" altLang="en-US" dirty="0">
                  <a:latin typeface="Arial" panose="020B0604020202020204" pitchFamily="34" charset="0"/>
                  <a:sym typeface="Symbol" panose="05050102010706020507" charset="2"/>
                </a:rPr>
                <a:t></a:t>
              </a:r>
              <a:r>
                <a:rPr lang="en-US" altLang="en-US" dirty="0">
                  <a:latin typeface="Arial" panose="020B0604020202020204" pitchFamily="34" charset="0"/>
                </a:rPr>
                <a:t> </a:t>
              </a:r>
              <a:r>
                <a:rPr lang="en-US" altLang="en-US" b="1" dirty="0">
                  <a:latin typeface="Arial" panose="020B0604020202020204" pitchFamily="34" charset="0"/>
                </a:rPr>
                <a:t>all</a:t>
              </a:r>
              <a:r>
                <a:rPr lang="en-US" altLang="en-US" dirty="0">
                  <a:latin typeface="Arial" panose="020B0604020202020204" pitchFamily="34" charset="0"/>
                </a:rPr>
                <a:t>) </a:t>
              </a:r>
              <a:r>
                <a:rPr lang="en-US" altLang="en-US" dirty="0">
                  <a:latin typeface="Arial" panose="020B0604020202020204" pitchFamily="34" charset="0"/>
                  <a:sym typeface="Symbol" panose="05050102010706020507" charset="2"/>
                </a:rPr>
                <a:t> </a:t>
              </a:r>
              <a:r>
                <a:rPr lang="en-US" altLang="en-US" b="1" dirty="0">
                  <a:latin typeface="Arial" panose="020B0604020202020204" pitchFamily="34" charset="0"/>
                  <a:sym typeface="Symbol" panose="05050102010706020507" charset="2"/>
                </a:rPr>
                <a:t>not in</a:t>
              </a:r>
              <a:endParaRPr lang="en-US" altLang="en-US" b="1" dirty="0">
                <a:latin typeface="Arial" panose="020B0604020202020204" pitchFamily="34" charset="0"/>
                <a:sym typeface="Symbol" panose="05050102010706020507" charset="2"/>
              </a:endParaRPr>
            </a:p>
            <a:p>
              <a:r>
                <a:rPr lang="en-US" altLang="en-US" dirty="0">
                  <a:latin typeface="Arial" panose="020B0604020202020204" pitchFamily="34" charset="0"/>
                  <a:sym typeface="Symbol" panose="05050102010706020507" charset="2"/>
                </a:rPr>
                <a:t>However, (= </a:t>
              </a:r>
              <a:r>
                <a:rPr lang="en-US" altLang="en-US" b="1" dirty="0">
                  <a:latin typeface="Arial" panose="020B0604020202020204" pitchFamily="34" charset="0"/>
                  <a:sym typeface="Symbol" panose="05050102010706020507" charset="2"/>
                </a:rPr>
                <a:t>all</a:t>
              </a:r>
              <a:r>
                <a:rPr lang="en-US" altLang="en-US" dirty="0">
                  <a:latin typeface="Arial" panose="020B0604020202020204" pitchFamily="34" charset="0"/>
                  <a:sym typeface="Symbol" panose="05050102010706020507" charset="2"/>
                </a:rPr>
                <a:t>)  </a:t>
              </a:r>
              <a:r>
                <a:rPr lang="en-US" altLang="en-US" b="1" dirty="0">
                  <a:latin typeface="Arial" panose="020B0604020202020204" pitchFamily="34" charset="0"/>
                  <a:sym typeface="Symbol" panose="05050102010706020507" charset="2"/>
                </a:rPr>
                <a:t>in</a:t>
              </a:r>
              <a:endParaRPr lang="en-US" altLang="en-US" b="1" dirty="0">
                <a:latin typeface="Arial" panose="020B0604020202020204" pitchFamily="34" charset="0"/>
                <a:sym typeface="Symbol" panose="05050102010706020507" charset="2"/>
              </a:endParaRPr>
            </a:p>
          </p:txBody>
        </p:sp>
        <p:sp>
          <p:nvSpPr>
            <p:cNvPr id="51221" name="Line 23"/>
            <p:cNvSpPr/>
            <p:nvPr/>
          </p:nvSpPr>
          <p:spPr>
            <a:xfrm flipH="1">
              <a:off x="3016250" y="5603875"/>
              <a:ext cx="109538" cy="22860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rcRect r="6865"/>
          <a:stretch>
            <a:fillRect/>
          </a:stretch>
        </p:blipFill>
        <p:spPr>
          <a:xfrm>
            <a:off x="1991995" y="300990"/>
            <a:ext cx="7090410" cy="569658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25969" t="24058" r="23333" b="16508"/>
          <a:stretch>
            <a:fillRect/>
          </a:stretch>
        </p:blipFill>
        <p:spPr>
          <a:xfrm>
            <a:off x="0" y="1206500"/>
            <a:ext cx="4264660" cy="31248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46785" y="342265"/>
            <a:ext cx="7672070" cy="553847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58190" y="300355"/>
            <a:ext cx="8121015" cy="479806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31545" y="309880"/>
            <a:ext cx="7960360" cy="5696585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14705" y="164465"/>
            <a:ext cx="7903210" cy="490474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Test for Empty Relations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2227" name="Rectangle 3"/>
          <p:cNvSpPr>
            <a:spLocks noGrp="1"/>
          </p:cNvSpPr>
          <p:nvPr>
            <p:ph idx="1"/>
          </p:nvPr>
        </p:nvSpPr>
        <p:spPr>
          <a:xfrm>
            <a:off x="1089025" y="1106488"/>
            <a:ext cx="6683375" cy="4876800"/>
          </a:xfrm>
        </p:spPr>
        <p:txBody>
          <a:bodyPr vert="horz" wrap="square" lIns="91440" tIns="45720" rIns="91440" bIns="45720" anchor="t"/>
          <a:lstStyle/>
          <a:p>
            <a:r>
              <a:rPr lang="en-US" altLang="en-US" dirty="0"/>
              <a:t>The </a:t>
            </a:r>
            <a:r>
              <a:rPr lang="en-US" altLang="en-US" b="1" dirty="0"/>
              <a:t>exists</a:t>
            </a:r>
            <a:r>
              <a:rPr lang="en-US" altLang="en-US" dirty="0"/>
              <a:t> construct returns the value </a:t>
            </a:r>
            <a:r>
              <a:rPr lang="en-US" altLang="en-US" b="1" dirty="0"/>
              <a:t>true</a:t>
            </a:r>
            <a:r>
              <a:rPr lang="en-US" altLang="en-US" dirty="0"/>
              <a:t> if the argument subquery is nonempty.</a:t>
            </a:r>
            <a:endParaRPr lang="en-US" altLang="en-US" dirty="0"/>
          </a:p>
          <a:p>
            <a:r>
              <a:rPr lang="en-US" altLang="en-US" b="1" dirty="0">
                <a:solidFill>
                  <a:srgbClr val="002060"/>
                </a:solidFill>
              </a:rPr>
              <a:t>exists</a:t>
            </a:r>
            <a:r>
              <a:rPr lang="en-US" altLang="en-US" b="1" dirty="0"/>
              <a:t> </a:t>
            </a:r>
            <a:r>
              <a:rPr lang="en-US" altLang="en-US" i="1" dirty="0"/>
              <a:t> r </a:t>
            </a:r>
            <a:r>
              <a:rPr lang="en-US" altLang="en-US" dirty="0">
                <a:sym typeface="Symbol" panose="05050102010706020507" charset="2"/>
              </a:rPr>
              <a:t> </a:t>
            </a:r>
            <a:r>
              <a:rPr lang="en-US" altLang="en-US" i="1" dirty="0">
                <a:sym typeface="Symbol" panose="05050102010706020507" charset="2"/>
              </a:rPr>
              <a:t>r </a:t>
            </a:r>
            <a:r>
              <a:rPr lang="en-US" altLang="en-US" dirty="0">
                <a:sym typeface="Symbol" panose="05050102010706020507" charset="2"/>
              </a:rPr>
              <a:t> </a:t>
            </a:r>
            <a:r>
              <a:rPr lang="en-US" altLang="en-US" i="1" dirty="0"/>
              <a:t>Ø</a:t>
            </a:r>
            <a:endParaRPr lang="en-US" altLang="en-US" dirty="0">
              <a:sym typeface="Symbol" panose="05050102010706020507" charset="2"/>
            </a:endParaRPr>
          </a:p>
          <a:p>
            <a:r>
              <a:rPr lang="en-US" altLang="en-US" b="1" dirty="0">
                <a:sym typeface="Symbol" panose="05050102010706020507" charset="2"/>
              </a:rPr>
              <a:t>not exists </a:t>
            </a:r>
            <a:r>
              <a:rPr lang="en-US" altLang="en-US" i="1" dirty="0"/>
              <a:t>r </a:t>
            </a:r>
            <a:r>
              <a:rPr lang="en-US" altLang="en-US" dirty="0">
                <a:sym typeface="Symbol" panose="05050102010706020507" charset="2"/>
              </a:rPr>
              <a:t> </a:t>
            </a:r>
            <a:r>
              <a:rPr lang="en-US" altLang="en-US" i="1" dirty="0">
                <a:sym typeface="Symbol" panose="05050102010706020507" charset="2"/>
              </a:rPr>
              <a:t>r </a:t>
            </a:r>
            <a:r>
              <a:rPr lang="en-US" altLang="en-US" dirty="0">
                <a:sym typeface="Symbol" panose="05050102010706020507" charset="2"/>
              </a:rPr>
              <a:t>= </a:t>
            </a:r>
            <a:r>
              <a:rPr lang="en-US" altLang="en-US" i="1" dirty="0"/>
              <a:t>Ø</a:t>
            </a:r>
            <a:endParaRPr lang="en-US" altLang="en-US" i="1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Use of “exists” Clause</a:t>
            </a:r>
            <a:endParaRPr kumimoji="1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3251" name="Rectangle 3"/>
          <p:cNvSpPr>
            <a:spLocks noGrp="1"/>
          </p:cNvSpPr>
          <p:nvPr>
            <p:ph idx="1"/>
          </p:nvPr>
        </p:nvSpPr>
        <p:spPr>
          <a:xfrm>
            <a:off x="277495" y="1094105"/>
            <a:ext cx="8614410" cy="4903470"/>
          </a:xfrm>
        </p:spPr>
        <p:txBody>
          <a:bodyPr vert="horz" wrap="square" lIns="91440" tIns="45720" rIns="91440" bIns="45720" anchor="t"/>
          <a:lstStyle/>
          <a:p>
            <a:r>
              <a:rPr lang="en-US" altLang="en-US" dirty="0"/>
              <a:t>Yet another way of specifying the query “Find all courses taught in both the Fall 2009 semester and in the Spring 2010 semester”</a:t>
            </a:r>
            <a:endParaRPr lang="en-US" altLang="en-US" dirty="0"/>
          </a:p>
          <a:p>
            <a:pPr>
              <a:buNone/>
            </a:pPr>
            <a:r>
              <a:rPr lang="en-US" altLang="en-US" b="1" dirty="0"/>
              <a:t>	  </a:t>
            </a:r>
            <a:r>
              <a:rPr lang="en-US" altLang="en-US" sz="1800" b="1" dirty="0"/>
              <a:t>select </a:t>
            </a:r>
            <a:r>
              <a:rPr lang="en-US" altLang="en-US" sz="1800" i="1" dirty="0"/>
              <a:t>course_id</a:t>
            </a:r>
            <a:br>
              <a:rPr lang="en-US" altLang="en-US" sz="1800" i="1" dirty="0"/>
            </a:br>
            <a:r>
              <a:rPr lang="en-US" altLang="en-US" sz="1800" i="1" dirty="0"/>
              <a:t>   </a:t>
            </a:r>
            <a:r>
              <a:rPr lang="en-US" altLang="en-US" sz="1800" b="1" dirty="0"/>
              <a:t>from </a:t>
            </a:r>
            <a:r>
              <a:rPr lang="en-US" altLang="en-US" sz="1800" i="1" dirty="0">
                <a:solidFill>
                  <a:srgbClr val="C00000"/>
                </a:solidFill>
              </a:rPr>
              <a:t>section </a:t>
            </a:r>
            <a:r>
              <a:rPr lang="en-US" altLang="en-US" sz="1800" b="1" dirty="0">
                <a:solidFill>
                  <a:srgbClr val="C00000"/>
                </a:solidFill>
              </a:rPr>
              <a:t>as </a:t>
            </a:r>
            <a:r>
              <a:rPr lang="en-US" altLang="en-US" sz="1800" i="1" dirty="0">
                <a:solidFill>
                  <a:srgbClr val="C00000"/>
                </a:solidFill>
              </a:rPr>
              <a:t>S</a:t>
            </a:r>
            <a:br>
              <a:rPr lang="en-US" altLang="en-US" sz="1800" i="1" dirty="0"/>
            </a:br>
            <a:r>
              <a:rPr lang="en-US" altLang="en-US" sz="1800" i="1" dirty="0"/>
              <a:t>   </a:t>
            </a:r>
            <a:r>
              <a:rPr lang="en-US" altLang="en-US" sz="1800" b="1" dirty="0"/>
              <a:t>where </a:t>
            </a:r>
            <a:r>
              <a:rPr lang="en-US" altLang="en-US" sz="1800" i="1" dirty="0"/>
              <a:t>semester </a:t>
            </a:r>
            <a:r>
              <a:rPr lang="en-US" altLang="en-US" sz="1800" dirty="0"/>
              <a:t>= ’Fall’ </a:t>
            </a:r>
            <a:r>
              <a:rPr lang="en-US" altLang="en-US" sz="1800" b="1" dirty="0"/>
              <a:t>and </a:t>
            </a:r>
            <a:r>
              <a:rPr lang="en-US" altLang="en-US" sz="1800" i="1" dirty="0"/>
              <a:t>year </a:t>
            </a:r>
            <a:r>
              <a:rPr lang="en-US" altLang="en-US" sz="1800" dirty="0"/>
              <a:t>= 2009 </a:t>
            </a:r>
            <a:r>
              <a:rPr lang="en-US" altLang="en-US" sz="1800" b="1" dirty="0"/>
              <a:t>and </a:t>
            </a:r>
            <a:br>
              <a:rPr lang="en-US" altLang="en-US" sz="1800" b="1" dirty="0"/>
            </a:br>
            <a:r>
              <a:rPr lang="en-US" altLang="en-US" sz="1800" b="1" dirty="0"/>
              <a:t>               exists </a:t>
            </a:r>
            <a:r>
              <a:rPr lang="en-US" altLang="en-US" sz="1800" dirty="0"/>
              <a:t>(</a:t>
            </a:r>
            <a:r>
              <a:rPr lang="en-US" altLang="en-US" sz="1800" b="1" dirty="0"/>
              <a:t>select </a:t>
            </a:r>
            <a:r>
              <a:rPr lang="en-US" altLang="en-US" sz="1800" dirty="0"/>
              <a:t>*</a:t>
            </a:r>
            <a:br>
              <a:rPr lang="en-US" altLang="en-US" sz="1800" dirty="0"/>
            </a:br>
            <a:r>
              <a:rPr lang="en-US" altLang="en-US" sz="1800" dirty="0"/>
              <a:t>                            </a:t>
            </a:r>
            <a:r>
              <a:rPr lang="en-US" altLang="en-US" sz="1800" b="1" dirty="0"/>
              <a:t>from </a:t>
            </a:r>
            <a:r>
              <a:rPr lang="en-US" altLang="en-US" sz="1800" i="1" dirty="0">
                <a:solidFill>
                  <a:srgbClr val="002060"/>
                </a:solidFill>
              </a:rPr>
              <a:t>section </a:t>
            </a:r>
            <a:r>
              <a:rPr lang="en-US" altLang="en-US" sz="1800" b="1" dirty="0">
                <a:solidFill>
                  <a:srgbClr val="002060"/>
                </a:solidFill>
              </a:rPr>
              <a:t>as </a:t>
            </a:r>
            <a:r>
              <a:rPr lang="en-US" altLang="en-US" sz="1800" i="1" dirty="0">
                <a:solidFill>
                  <a:srgbClr val="002060"/>
                </a:solidFill>
              </a:rPr>
              <a:t>T</a:t>
            </a:r>
            <a:br>
              <a:rPr lang="en-US" altLang="en-US" sz="1800" i="1" dirty="0">
                <a:solidFill>
                  <a:srgbClr val="002060"/>
                </a:solidFill>
              </a:rPr>
            </a:br>
            <a:r>
              <a:rPr lang="en-US" altLang="en-US" sz="1800" i="1" dirty="0"/>
              <a:t>                            </a:t>
            </a:r>
            <a:r>
              <a:rPr lang="en-US" altLang="en-US" sz="1800" b="1" dirty="0"/>
              <a:t>where </a:t>
            </a:r>
            <a:r>
              <a:rPr lang="en-US" altLang="en-US" sz="1800" i="1" dirty="0"/>
              <a:t>semester </a:t>
            </a:r>
            <a:r>
              <a:rPr lang="en-US" altLang="en-US" sz="1800" dirty="0"/>
              <a:t>= ’Spring’ </a:t>
            </a:r>
            <a:r>
              <a:rPr lang="en-US" altLang="en-US" sz="1800" b="1" dirty="0"/>
              <a:t>and </a:t>
            </a:r>
            <a:r>
              <a:rPr lang="en-US" altLang="en-US" sz="1800" i="1" dirty="0"/>
              <a:t>year</a:t>
            </a:r>
            <a:r>
              <a:rPr lang="en-US" altLang="en-US" sz="1800" dirty="0"/>
              <a:t>= 2010 </a:t>
            </a:r>
            <a:br>
              <a:rPr lang="en-US" altLang="en-US" sz="1800" dirty="0"/>
            </a:br>
            <a:r>
              <a:rPr lang="en-US" altLang="en-US" sz="1800" dirty="0"/>
              <a:t>                                        </a:t>
            </a:r>
            <a:r>
              <a:rPr lang="en-US" altLang="en-US" sz="1800" b="1" dirty="0"/>
              <a:t>and </a:t>
            </a:r>
            <a:r>
              <a:rPr lang="en-US" altLang="en-US" sz="1800" i="1" dirty="0">
                <a:solidFill>
                  <a:srgbClr val="C00000"/>
                </a:solidFill>
              </a:rPr>
              <a:t>S</a:t>
            </a:r>
            <a:r>
              <a:rPr lang="en-US" altLang="en-US" sz="1800" dirty="0">
                <a:solidFill>
                  <a:srgbClr val="C00000"/>
                </a:solidFill>
              </a:rPr>
              <a:t>.</a:t>
            </a:r>
            <a:r>
              <a:rPr lang="en-US" altLang="en-US" sz="1800" i="1" dirty="0">
                <a:solidFill>
                  <a:srgbClr val="C00000"/>
                </a:solidFill>
              </a:rPr>
              <a:t>course_id</a:t>
            </a:r>
            <a:r>
              <a:rPr lang="en-US" altLang="en-US" sz="1800" i="1" dirty="0"/>
              <a:t> </a:t>
            </a:r>
            <a:r>
              <a:rPr lang="en-US" altLang="en-US" sz="1800" dirty="0"/>
              <a:t>=</a:t>
            </a:r>
            <a:r>
              <a:rPr lang="en-US" altLang="en-US" sz="1800" dirty="0">
                <a:solidFill>
                  <a:srgbClr val="002060"/>
                </a:solidFill>
              </a:rPr>
              <a:t> </a:t>
            </a:r>
            <a:r>
              <a:rPr lang="en-US" altLang="en-US" sz="1800" i="1" dirty="0">
                <a:solidFill>
                  <a:srgbClr val="002060"/>
                </a:solidFill>
              </a:rPr>
              <a:t>T</a:t>
            </a:r>
            <a:r>
              <a:rPr lang="en-US" altLang="en-US" sz="1800" dirty="0">
                <a:solidFill>
                  <a:srgbClr val="002060"/>
                </a:solidFill>
              </a:rPr>
              <a:t>.</a:t>
            </a:r>
            <a:r>
              <a:rPr lang="en-US" altLang="en-US" sz="1800" i="1" dirty="0">
                <a:solidFill>
                  <a:srgbClr val="002060"/>
                </a:solidFill>
              </a:rPr>
              <a:t>course_id</a:t>
            </a:r>
            <a:r>
              <a:rPr lang="en-US" altLang="en-US" sz="1800" dirty="0"/>
              <a:t>);</a:t>
            </a:r>
            <a:endParaRPr lang="en-US" altLang="en-US" sz="1800" dirty="0"/>
          </a:p>
          <a:p>
            <a:pPr>
              <a:buNone/>
            </a:pPr>
            <a:endParaRPr lang="en-US" altLang="en-US" sz="1800" dirty="0"/>
          </a:p>
          <a:p>
            <a:r>
              <a:rPr lang="en-US" altLang="en-US" b="1" dirty="0">
                <a:solidFill>
                  <a:srgbClr val="000099"/>
                </a:solidFill>
              </a:rPr>
              <a:t>Correlation name</a:t>
            </a:r>
            <a:r>
              <a:rPr lang="en-US" altLang="en-US" dirty="0"/>
              <a:t> – </a:t>
            </a:r>
            <a:r>
              <a:rPr lang="en-US" altLang="en-US" dirty="0">
                <a:solidFill>
                  <a:srgbClr val="C00000"/>
                </a:solidFill>
              </a:rPr>
              <a:t>variable S</a:t>
            </a:r>
            <a:r>
              <a:rPr lang="en-US" altLang="en-US" dirty="0"/>
              <a:t>  in the outer query</a:t>
            </a:r>
            <a:endParaRPr lang="en-US" altLang="en-US" b="1" dirty="0">
              <a:solidFill>
                <a:srgbClr val="000099"/>
              </a:solidFill>
            </a:endParaRPr>
          </a:p>
          <a:p>
            <a:r>
              <a:rPr lang="en-US" altLang="en-US" b="1" dirty="0">
                <a:solidFill>
                  <a:srgbClr val="000099"/>
                </a:solidFill>
              </a:rPr>
              <a:t>Correlated subquery </a:t>
            </a:r>
            <a:r>
              <a:rPr lang="en-US" altLang="en-US" dirty="0"/>
              <a:t>– the inner query</a:t>
            </a:r>
            <a:endParaRPr lang="en-US" altLang="en-US" dirty="0"/>
          </a:p>
          <a:p>
            <a:pPr>
              <a:buNone/>
            </a:pPr>
            <a:endParaRPr lang="en-US" altLang="en-US" b="1" dirty="0">
              <a:solidFill>
                <a:srgbClr val="000099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Use of “not exists” Clause</a:t>
            </a:r>
            <a:endParaRPr kumimoji="1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4275" name="Rectangle 3"/>
          <p:cNvSpPr>
            <a:spLocks noGrp="1"/>
          </p:cNvSpPr>
          <p:nvPr>
            <p:ph idx="1"/>
          </p:nvPr>
        </p:nvSpPr>
        <p:spPr>
          <a:xfrm>
            <a:off x="202565" y="1106805"/>
            <a:ext cx="8689340" cy="876300"/>
          </a:xfrm>
        </p:spPr>
        <p:txBody>
          <a:bodyPr vert="horz" wrap="square" lIns="91440" tIns="45720" rIns="91440" bIns="45720" anchor="t"/>
          <a:lstStyle/>
          <a:p>
            <a:pPr defTabSz="0">
              <a:tabLst>
                <a:tab pos="462280" algn="l"/>
                <a:tab pos="1027430" algn="l"/>
                <a:tab pos="1548130" algn="l"/>
              </a:tabLst>
            </a:pPr>
            <a:r>
              <a:rPr lang="en-US" altLang="en-US" dirty="0"/>
              <a:t>Find all students who have taken all courses offered in the Biology department.</a:t>
            </a:r>
            <a:endParaRPr lang="en-US" altLang="en-US" dirty="0"/>
          </a:p>
        </p:txBody>
      </p:sp>
      <p:sp>
        <p:nvSpPr>
          <p:cNvPr id="54276" name="Text Box 4"/>
          <p:cNvSpPr txBox="1"/>
          <p:nvPr/>
        </p:nvSpPr>
        <p:spPr>
          <a:xfrm>
            <a:off x="574675" y="2122805"/>
            <a:ext cx="8339455" cy="31381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en-US" sz="2200" b="1" dirty="0">
                <a:solidFill>
                  <a:srgbClr val="002060"/>
                </a:solidFill>
                <a:latin typeface="Helvetica" panose="020B0604020202030204" pitchFamily="34" charset="0"/>
              </a:rPr>
              <a:t>select distinct </a:t>
            </a:r>
            <a:r>
              <a:rPr lang="en-US" altLang="en-US" sz="2200" i="1" dirty="0">
                <a:solidFill>
                  <a:srgbClr val="002060"/>
                </a:solidFill>
                <a:latin typeface="Helvetica" panose="020B0604020202030204" pitchFamily="34" charset="0"/>
              </a:rPr>
              <a:t>S</a:t>
            </a:r>
            <a:r>
              <a:rPr lang="en-US" altLang="en-US" sz="2200" dirty="0">
                <a:solidFill>
                  <a:srgbClr val="002060"/>
                </a:solidFill>
                <a:latin typeface="Helvetica" panose="020B0604020202030204" pitchFamily="34" charset="0"/>
              </a:rPr>
              <a:t>.</a:t>
            </a:r>
            <a:r>
              <a:rPr lang="en-US" altLang="en-US" sz="2200" i="1" dirty="0">
                <a:solidFill>
                  <a:srgbClr val="002060"/>
                </a:solidFill>
                <a:latin typeface="Helvetica" panose="020B0604020202030204" pitchFamily="34" charset="0"/>
              </a:rPr>
              <a:t>ID</a:t>
            </a:r>
            <a:r>
              <a:rPr lang="en-US" altLang="en-US" sz="2200" dirty="0">
                <a:solidFill>
                  <a:srgbClr val="002060"/>
                </a:solidFill>
                <a:latin typeface="Helvetica" panose="020B0604020202030204" pitchFamily="34" charset="0"/>
              </a:rPr>
              <a:t>, </a:t>
            </a:r>
            <a:r>
              <a:rPr lang="en-US" altLang="en-US" sz="2200" i="1" dirty="0">
                <a:solidFill>
                  <a:srgbClr val="002060"/>
                </a:solidFill>
                <a:latin typeface="Helvetica" panose="020B0604020202030204" pitchFamily="34" charset="0"/>
              </a:rPr>
              <a:t>S</a:t>
            </a:r>
            <a:r>
              <a:rPr lang="en-US" altLang="en-US" sz="2200" dirty="0">
                <a:solidFill>
                  <a:srgbClr val="002060"/>
                </a:solidFill>
                <a:latin typeface="Helvetica" panose="020B0604020202030204" pitchFamily="34" charset="0"/>
              </a:rPr>
              <a:t>.</a:t>
            </a:r>
            <a:r>
              <a:rPr lang="en-US" altLang="en-US" sz="2200" i="1" dirty="0">
                <a:solidFill>
                  <a:srgbClr val="002060"/>
                </a:solidFill>
                <a:latin typeface="Helvetica" panose="020B0604020202030204" pitchFamily="34" charset="0"/>
              </a:rPr>
              <a:t>name</a:t>
            </a:r>
            <a:endParaRPr lang="en-US" altLang="en-US" sz="2200" i="1" dirty="0">
              <a:solidFill>
                <a:srgbClr val="002060"/>
              </a:solidFill>
              <a:latin typeface="Helvetica" panose="020B0604020202030204" pitchFamily="34" charset="0"/>
            </a:endParaRPr>
          </a:p>
          <a:p>
            <a:r>
              <a:rPr lang="en-US" altLang="en-US" sz="2200" b="1" dirty="0">
                <a:solidFill>
                  <a:srgbClr val="002060"/>
                </a:solidFill>
                <a:latin typeface="Helvetica" panose="020B0604020202030204" pitchFamily="34" charset="0"/>
              </a:rPr>
              <a:t>from </a:t>
            </a:r>
            <a:r>
              <a:rPr lang="en-US" altLang="en-US" sz="2200" i="1" dirty="0">
                <a:solidFill>
                  <a:srgbClr val="002060"/>
                </a:solidFill>
                <a:latin typeface="Helvetica" panose="020B0604020202030204" pitchFamily="34" charset="0"/>
              </a:rPr>
              <a:t>student </a:t>
            </a:r>
            <a:r>
              <a:rPr lang="en-US" altLang="en-US" sz="2200" b="1" dirty="0">
                <a:solidFill>
                  <a:srgbClr val="002060"/>
                </a:solidFill>
                <a:latin typeface="Helvetica" panose="020B0604020202030204" pitchFamily="34" charset="0"/>
              </a:rPr>
              <a:t>as </a:t>
            </a:r>
            <a:r>
              <a:rPr lang="en-US" altLang="en-US" sz="2200" i="1" dirty="0">
                <a:solidFill>
                  <a:srgbClr val="002060"/>
                </a:solidFill>
                <a:latin typeface="Helvetica" panose="020B0604020202030204" pitchFamily="34" charset="0"/>
              </a:rPr>
              <a:t>S</a:t>
            </a:r>
            <a:endParaRPr lang="en-US" altLang="en-US" sz="2200" i="1" dirty="0">
              <a:solidFill>
                <a:srgbClr val="002060"/>
              </a:solidFill>
              <a:latin typeface="Helvetica" panose="020B0604020202030204" pitchFamily="34" charset="0"/>
            </a:endParaRPr>
          </a:p>
          <a:p>
            <a:r>
              <a:rPr lang="en-US" altLang="en-US" sz="2200" b="1" dirty="0">
                <a:solidFill>
                  <a:srgbClr val="002060"/>
                </a:solidFill>
                <a:latin typeface="Helvetica" panose="020B0604020202030204" pitchFamily="34" charset="0"/>
              </a:rPr>
              <a:t>where not exists </a:t>
            </a:r>
            <a:r>
              <a:rPr lang="en-US" altLang="en-US" sz="2200" dirty="0">
                <a:solidFill>
                  <a:srgbClr val="002060"/>
                </a:solidFill>
                <a:latin typeface="Helvetica" panose="020B0604020202030204" pitchFamily="34" charset="0"/>
              </a:rPr>
              <a:t>( (</a:t>
            </a:r>
            <a:r>
              <a:rPr lang="en-US" altLang="en-US" sz="2200" b="1" dirty="0">
                <a:solidFill>
                  <a:srgbClr val="002060"/>
                </a:solidFill>
                <a:latin typeface="Helvetica" panose="020B0604020202030204" pitchFamily="34" charset="0"/>
              </a:rPr>
              <a:t>select </a:t>
            </a:r>
            <a:r>
              <a:rPr lang="en-US" altLang="en-US" sz="2200" i="1" dirty="0">
                <a:solidFill>
                  <a:srgbClr val="002060"/>
                </a:solidFill>
                <a:latin typeface="Helvetica" panose="020B0604020202030204" pitchFamily="34" charset="0"/>
              </a:rPr>
              <a:t>course_id  </a:t>
            </a:r>
            <a:r>
              <a:rPr lang="en-US" altLang="en-US" sz="2200" b="1" dirty="0">
                <a:solidFill>
                  <a:srgbClr val="002060"/>
                </a:solidFill>
                <a:latin typeface="Helvetica" panose="020B0604020202030204" pitchFamily="34" charset="0"/>
              </a:rPr>
              <a:t>from </a:t>
            </a:r>
            <a:r>
              <a:rPr lang="en-US" altLang="en-US" sz="2200" i="1" dirty="0">
                <a:solidFill>
                  <a:srgbClr val="002060"/>
                </a:solidFill>
                <a:latin typeface="Helvetica" panose="020B0604020202030204" pitchFamily="34" charset="0"/>
              </a:rPr>
              <a:t>course</a:t>
            </a:r>
            <a:endParaRPr lang="en-US" altLang="en-US" sz="2200" i="1" dirty="0">
              <a:solidFill>
                <a:srgbClr val="002060"/>
              </a:solidFill>
              <a:latin typeface="Helvetica" panose="020B0604020202030204" pitchFamily="34" charset="0"/>
            </a:endParaRPr>
          </a:p>
          <a:p>
            <a:r>
              <a:rPr lang="en-US" altLang="en-US" sz="2200" b="1" dirty="0">
                <a:solidFill>
                  <a:srgbClr val="002060"/>
                </a:solidFill>
                <a:latin typeface="Helvetica" panose="020B0604020202030204" pitchFamily="34" charset="0"/>
              </a:rPr>
              <a:t>                                 where </a:t>
            </a:r>
            <a:r>
              <a:rPr lang="en-US" altLang="en-US" sz="2200" i="1" dirty="0">
                <a:solidFill>
                  <a:srgbClr val="002060"/>
                </a:solidFill>
                <a:latin typeface="Helvetica" panose="020B0604020202030204" pitchFamily="34" charset="0"/>
              </a:rPr>
              <a:t>dept_name </a:t>
            </a:r>
            <a:r>
              <a:rPr lang="en-US" altLang="en-US" sz="2200" dirty="0">
                <a:solidFill>
                  <a:srgbClr val="002060"/>
                </a:solidFill>
                <a:latin typeface="Helvetica" panose="020B0604020202030204" pitchFamily="34" charset="0"/>
              </a:rPr>
              <a:t>= ’Biology’)</a:t>
            </a:r>
            <a:endParaRPr lang="en-US" altLang="en-US" sz="2200" dirty="0">
              <a:solidFill>
                <a:srgbClr val="002060"/>
              </a:solidFill>
              <a:latin typeface="Helvetica" panose="020B0604020202030204" pitchFamily="34" charset="0"/>
            </a:endParaRPr>
          </a:p>
          <a:p>
            <a:r>
              <a:rPr lang="en-US" altLang="en-US" sz="2200" b="1" dirty="0">
                <a:solidFill>
                  <a:srgbClr val="002060"/>
                </a:solidFill>
                <a:latin typeface="Helvetica" panose="020B0604020202030204" pitchFamily="34" charset="0"/>
              </a:rPr>
              <a:t>                              </a:t>
            </a:r>
            <a:r>
              <a:rPr lang="en-US" altLang="en-US" sz="2200" b="1" dirty="0">
                <a:solidFill>
                  <a:srgbClr val="C00000"/>
                </a:solidFill>
                <a:latin typeface="Helvetica" panose="020B0604020202030204" pitchFamily="34" charset="0"/>
              </a:rPr>
              <a:t> except</a:t>
            </a:r>
            <a:endParaRPr lang="en-US" altLang="en-US" sz="2200" b="1" dirty="0">
              <a:solidFill>
                <a:srgbClr val="C00000"/>
              </a:solidFill>
              <a:latin typeface="Helvetica" panose="020B0604020202030204" pitchFamily="34" charset="0"/>
            </a:endParaRPr>
          </a:p>
          <a:p>
            <a:r>
              <a:rPr lang="en-US" altLang="en-US" sz="2200" dirty="0">
                <a:solidFill>
                  <a:srgbClr val="002060"/>
                </a:solidFill>
                <a:latin typeface="Helvetica" panose="020B0604020202030204" pitchFamily="34" charset="0"/>
              </a:rPr>
              <a:t>                                 (</a:t>
            </a:r>
            <a:r>
              <a:rPr lang="en-US" altLang="en-US" sz="2200" b="1" dirty="0">
                <a:solidFill>
                  <a:srgbClr val="002060"/>
                </a:solidFill>
                <a:latin typeface="Helvetica" panose="020B0604020202030204" pitchFamily="34" charset="0"/>
              </a:rPr>
              <a:t>select </a:t>
            </a:r>
            <a:r>
              <a:rPr lang="en-US" altLang="en-US" sz="2200" i="1" dirty="0">
                <a:solidFill>
                  <a:srgbClr val="002060"/>
                </a:solidFill>
                <a:latin typeface="Helvetica" panose="020B0604020202030204" pitchFamily="34" charset="0"/>
              </a:rPr>
              <a:t>T</a:t>
            </a:r>
            <a:r>
              <a:rPr lang="en-US" altLang="en-US" sz="2200" dirty="0">
                <a:solidFill>
                  <a:srgbClr val="002060"/>
                </a:solidFill>
                <a:latin typeface="Helvetica" panose="020B0604020202030204" pitchFamily="34" charset="0"/>
              </a:rPr>
              <a:t>.</a:t>
            </a:r>
            <a:r>
              <a:rPr lang="en-US" altLang="en-US" sz="2200" i="1" dirty="0">
                <a:solidFill>
                  <a:srgbClr val="002060"/>
                </a:solidFill>
                <a:latin typeface="Helvetica" panose="020B0604020202030204" pitchFamily="34" charset="0"/>
              </a:rPr>
              <a:t>course_id  </a:t>
            </a:r>
            <a:r>
              <a:rPr lang="en-US" altLang="en-US" sz="2200" b="1" dirty="0">
                <a:solidFill>
                  <a:srgbClr val="002060"/>
                </a:solidFill>
                <a:latin typeface="Helvetica" panose="020B0604020202030204" pitchFamily="34" charset="0"/>
              </a:rPr>
              <a:t>from </a:t>
            </a:r>
            <a:r>
              <a:rPr lang="en-US" altLang="en-US" sz="2200" i="1" dirty="0">
                <a:solidFill>
                  <a:srgbClr val="002060"/>
                </a:solidFill>
                <a:latin typeface="Helvetica" panose="020B0604020202030204" pitchFamily="34" charset="0"/>
              </a:rPr>
              <a:t>takes </a:t>
            </a:r>
            <a:r>
              <a:rPr lang="en-US" altLang="en-US" sz="2200" b="1" dirty="0">
                <a:solidFill>
                  <a:srgbClr val="002060"/>
                </a:solidFill>
                <a:latin typeface="Helvetica" panose="020B0604020202030204" pitchFamily="34" charset="0"/>
              </a:rPr>
              <a:t>as </a:t>
            </a:r>
            <a:r>
              <a:rPr lang="en-US" altLang="en-US" sz="2200" i="1" dirty="0">
                <a:solidFill>
                  <a:srgbClr val="002060"/>
                </a:solidFill>
                <a:latin typeface="Helvetica" panose="020B0604020202030204" pitchFamily="34" charset="0"/>
              </a:rPr>
              <a:t>T</a:t>
            </a:r>
            <a:endParaRPr lang="en-US" altLang="en-US" sz="2200" i="1" dirty="0">
              <a:solidFill>
                <a:srgbClr val="002060"/>
              </a:solidFill>
              <a:latin typeface="Helvetica" panose="020B0604020202030204" pitchFamily="34" charset="0"/>
            </a:endParaRPr>
          </a:p>
          <a:p>
            <a:r>
              <a:rPr lang="en-US" altLang="en-US" sz="2200" b="1" dirty="0">
                <a:solidFill>
                  <a:srgbClr val="002060"/>
                </a:solidFill>
                <a:latin typeface="Helvetica" panose="020B0604020202030204" pitchFamily="34" charset="0"/>
              </a:rPr>
              <a:t>                                   where </a:t>
            </a:r>
            <a:r>
              <a:rPr lang="en-US" altLang="en-US" sz="2200" i="1" dirty="0">
                <a:solidFill>
                  <a:srgbClr val="002060"/>
                </a:solidFill>
                <a:latin typeface="Helvetica" panose="020B0604020202030204" pitchFamily="34" charset="0"/>
              </a:rPr>
              <a:t>S</a:t>
            </a:r>
            <a:r>
              <a:rPr lang="en-US" altLang="en-US" sz="2200" dirty="0">
                <a:solidFill>
                  <a:srgbClr val="002060"/>
                </a:solidFill>
                <a:latin typeface="Helvetica" panose="020B0604020202030204" pitchFamily="34" charset="0"/>
              </a:rPr>
              <a:t>.</a:t>
            </a:r>
            <a:r>
              <a:rPr lang="en-US" altLang="en-US" sz="2200" i="1" dirty="0">
                <a:solidFill>
                  <a:srgbClr val="002060"/>
                </a:solidFill>
                <a:latin typeface="Helvetica" panose="020B0604020202030204" pitchFamily="34" charset="0"/>
              </a:rPr>
              <a:t>ID </a:t>
            </a:r>
            <a:r>
              <a:rPr lang="en-US" altLang="en-US" sz="2200" dirty="0">
                <a:solidFill>
                  <a:srgbClr val="002060"/>
                </a:solidFill>
                <a:latin typeface="Helvetica" panose="020B0604020202030204" pitchFamily="34" charset="0"/>
              </a:rPr>
              <a:t>= </a:t>
            </a:r>
            <a:r>
              <a:rPr lang="en-US" altLang="en-US" sz="2200" i="1" dirty="0">
                <a:solidFill>
                  <a:srgbClr val="002060"/>
                </a:solidFill>
                <a:latin typeface="Helvetica" panose="020B0604020202030204" pitchFamily="34" charset="0"/>
              </a:rPr>
              <a:t>T</a:t>
            </a:r>
            <a:r>
              <a:rPr lang="en-US" altLang="en-US" sz="2200" dirty="0">
                <a:solidFill>
                  <a:srgbClr val="002060"/>
                </a:solidFill>
                <a:latin typeface="Helvetica" panose="020B0604020202030204" pitchFamily="34" charset="0"/>
              </a:rPr>
              <a:t>.</a:t>
            </a:r>
            <a:r>
              <a:rPr lang="en-US" altLang="en-US" sz="2200" i="1" dirty="0">
                <a:solidFill>
                  <a:srgbClr val="002060"/>
                </a:solidFill>
                <a:latin typeface="Helvetica" panose="020B0604020202030204" pitchFamily="34" charset="0"/>
              </a:rPr>
              <a:t>ID</a:t>
            </a:r>
            <a:r>
              <a:rPr lang="en-US" altLang="en-US" sz="2200" dirty="0">
                <a:solidFill>
                  <a:srgbClr val="002060"/>
                </a:solidFill>
                <a:latin typeface="Helvetica" panose="020B0604020202030204" pitchFamily="34" charset="0"/>
              </a:rPr>
              <a:t>));</a:t>
            </a:r>
            <a:endParaRPr lang="en-US" altLang="en-US" sz="2200" dirty="0">
              <a:solidFill>
                <a:srgbClr val="002060"/>
              </a:solidFill>
              <a:latin typeface="Helvetica" panose="020B0604020202030204" pitchFamily="34" charset="0"/>
            </a:endParaRPr>
          </a:p>
          <a:p>
            <a:pPr>
              <a:buChar char="•"/>
            </a:pPr>
            <a:r>
              <a:rPr lang="en-US" altLang="en-US" sz="2200" dirty="0">
                <a:solidFill>
                  <a:srgbClr val="002060"/>
                </a:solidFill>
                <a:latin typeface="Helvetica" panose="020B0604020202030204" pitchFamily="34" charset="0"/>
              </a:rPr>
              <a:t>    First nested query lists all courses offered in Biology</a:t>
            </a:r>
            <a:endParaRPr lang="en-US" altLang="en-US" sz="2200" dirty="0">
              <a:solidFill>
                <a:srgbClr val="002060"/>
              </a:solidFill>
              <a:latin typeface="Helvetica" panose="020B0604020202030204" pitchFamily="34" charset="0"/>
            </a:endParaRPr>
          </a:p>
          <a:p>
            <a:pPr>
              <a:buChar char="•"/>
            </a:pPr>
            <a:r>
              <a:rPr lang="en-US" altLang="en-US" sz="2200" dirty="0">
                <a:solidFill>
                  <a:srgbClr val="002060"/>
                </a:solidFill>
                <a:latin typeface="Helvetica" panose="020B0604020202030204" pitchFamily="34" charset="0"/>
              </a:rPr>
              <a:t>    Second nested query lists all courses a particular student took</a:t>
            </a:r>
            <a:endParaRPr lang="en-US" altLang="en-US" sz="2200" dirty="0">
              <a:solidFill>
                <a:srgbClr val="002060"/>
              </a:solidFill>
              <a:latin typeface="Helvetica" panose="020B0604020202030204" pitchFamily="34" charset="0"/>
            </a:endParaRPr>
          </a:p>
        </p:txBody>
      </p:sp>
      <p:sp>
        <p:nvSpPr>
          <p:cNvPr id="54277" name="Text Box 5"/>
          <p:cNvSpPr txBox="1"/>
          <p:nvPr/>
        </p:nvSpPr>
        <p:spPr>
          <a:xfrm>
            <a:off x="208598" y="5465128"/>
            <a:ext cx="8204200" cy="9588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</a:pPr>
            <a:r>
              <a:rPr lang="en-US" altLang="en-US" sz="2400" dirty="0">
                <a:latin typeface="Helvetica" panose="020B0604020202030204" pitchFamily="34" charset="0"/>
              </a:rPr>
              <a:t>   Note that </a:t>
            </a:r>
            <a:r>
              <a:rPr lang="en-US" altLang="en-US" sz="2400" i="1" dirty="0">
                <a:solidFill>
                  <a:srgbClr val="C00000"/>
                </a:solidFill>
                <a:latin typeface="Helvetica" panose="020B0604020202030204" pitchFamily="34" charset="0"/>
              </a:rPr>
              <a:t>X – Y = Ø   </a:t>
            </a:r>
            <a:r>
              <a:rPr lang="en-US" altLang="en-US" sz="2400" dirty="0">
                <a:solidFill>
                  <a:srgbClr val="C00000"/>
                </a:solidFill>
                <a:latin typeface="Helvetica" panose="020B0604020202030204" pitchFamily="34" charset="0"/>
                <a:sym typeface="Symbol" panose="05050102010706020507" charset="2"/>
              </a:rPr>
              <a:t>   </a:t>
            </a:r>
            <a:r>
              <a:rPr lang="en-US" altLang="en-US" sz="2400" i="1" dirty="0">
                <a:solidFill>
                  <a:srgbClr val="C00000"/>
                </a:solidFill>
                <a:latin typeface="Helvetica" panose="020B0604020202030204" pitchFamily="34" charset="0"/>
                <a:sym typeface="Symbol" panose="05050102010706020507" charset="2"/>
              </a:rPr>
              <a:t>X</a:t>
            </a:r>
            <a:r>
              <a:rPr lang="en-US" altLang="en-US" sz="2400" dirty="0">
                <a:solidFill>
                  <a:srgbClr val="C00000"/>
                </a:solidFill>
                <a:latin typeface="Helvetica" panose="020B0604020202030204" pitchFamily="34" charset="0"/>
                <a:sym typeface="Symbol" panose="05050102010706020507" charset="2"/>
              </a:rPr>
              <a:t> </a:t>
            </a:r>
            <a:r>
              <a:rPr lang="en-US" altLang="en-US" sz="2400" i="1" dirty="0">
                <a:solidFill>
                  <a:srgbClr val="C00000"/>
                </a:solidFill>
                <a:latin typeface="Helvetica" panose="020B0604020202030204" pitchFamily="34" charset="0"/>
                <a:sym typeface="Symbol" panose="05050102010706020507" charset="2"/>
              </a:rPr>
              <a:t>Y</a:t>
            </a:r>
            <a:endParaRPr lang="en-US" altLang="en-US" sz="2400" i="1" dirty="0">
              <a:latin typeface="Helvetica" panose="020B0604020202030204" pitchFamily="34" charset="0"/>
              <a:sym typeface="Symbol" panose="05050102010706020507" charset="2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</a:pPr>
            <a:r>
              <a:rPr lang="en-US" altLang="en-US" sz="2400" i="1" dirty="0">
                <a:latin typeface="Helvetica" panose="020B0604020202030204" pitchFamily="34" charset="0"/>
                <a:sym typeface="Symbol" panose="05050102010706020507" charset="2"/>
              </a:rPr>
              <a:t>   Note: </a:t>
            </a:r>
            <a:r>
              <a:rPr lang="en-US" altLang="en-US" sz="2400" dirty="0">
                <a:latin typeface="Helvetica" panose="020B0604020202030204" pitchFamily="34" charset="0"/>
                <a:sym typeface="Symbol" panose="05050102010706020507" charset="2"/>
              </a:rPr>
              <a:t>Cannot write this query using</a:t>
            </a:r>
            <a:r>
              <a:rPr lang="en-US" altLang="en-US" sz="2400" i="1" dirty="0">
                <a:latin typeface="Helvetica" panose="020B0604020202030204" pitchFamily="34" charset="0"/>
                <a:sym typeface="Symbol" panose="05050102010706020507" charset="2"/>
              </a:rPr>
              <a:t> </a:t>
            </a:r>
            <a:r>
              <a:rPr lang="en-US" altLang="en-US" sz="2400" dirty="0">
                <a:latin typeface="Helvetica" panose="020B0604020202030204" pitchFamily="34" charset="0"/>
                <a:sym typeface="Symbol" panose="05050102010706020507" charset="2"/>
              </a:rPr>
              <a:t>=</a:t>
            </a:r>
            <a:r>
              <a:rPr lang="en-US" altLang="en-US" sz="2400" b="1" dirty="0">
                <a:latin typeface="Helvetica" panose="020B0604020202030204" pitchFamily="34" charset="0"/>
                <a:sym typeface="Symbol" panose="05050102010706020507" charset="2"/>
              </a:rPr>
              <a:t> all</a:t>
            </a:r>
            <a:r>
              <a:rPr lang="en-US" altLang="en-US" sz="2400" i="1" dirty="0">
                <a:latin typeface="Helvetica" panose="020B0604020202030204" pitchFamily="34" charset="0"/>
                <a:sym typeface="Symbol" panose="05050102010706020507" charset="2"/>
              </a:rPr>
              <a:t> </a:t>
            </a:r>
            <a:r>
              <a:rPr lang="en-US" altLang="en-US" sz="2400" dirty="0">
                <a:latin typeface="Helvetica" panose="020B0604020202030204" pitchFamily="34" charset="0"/>
                <a:sym typeface="Symbol" panose="05050102010706020507" charset="2"/>
              </a:rPr>
              <a:t>and its variants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6" name="Rectangle 2"/>
          <p:cNvSpPr>
            <a:spLocks noGrp="1" noChangeArrowheads="1"/>
          </p:cNvSpPr>
          <p:nvPr>
            <p:ph type="title"/>
          </p:nvPr>
        </p:nvSpPr>
        <p:spPr>
          <a:xfrm>
            <a:off x="781050" y="152400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Test for Absence of Duplicate Tuples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5299" name="Rectangle 3"/>
          <p:cNvSpPr>
            <a:spLocks noGrp="1"/>
          </p:cNvSpPr>
          <p:nvPr>
            <p:ph idx="1"/>
          </p:nvPr>
        </p:nvSpPr>
        <p:spPr>
          <a:xfrm>
            <a:off x="128270" y="1113155"/>
            <a:ext cx="8863330" cy="4560570"/>
          </a:xfrm>
        </p:spPr>
        <p:txBody>
          <a:bodyPr vert="horz" wrap="square" lIns="91440" tIns="45720" rIns="91440" bIns="45720" anchor="t"/>
          <a:lstStyle/>
          <a:p>
            <a:pPr defTabSz="0">
              <a:tabLst>
                <a:tab pos="803275" algn="l"/>
                <a:tab pos="1548130" algn="l"/>
              </a:tabLst>
            </a:pPr>
            <a:r>
              <a:rPr lang="en-US" altLang="en-US" sz="2400" dirty="0"/>
              <a:t>The </a:t>
            </a:r>
            <a:r>
              <a:rPr lang="en-US" altLang="en-US" sz="2400" b="1" dirty="0">
                <a:solidFill>
                  <a:srgbClr val="000099"/>
                </a:solidFill>
              </a:rPr>
              <a:t>unique</a:t>
            </a:r>
            <a:r>
              <a:rPr lang="en-US" altLang="en-US" sz="2400" dirty="0"/>
              <a:t> construct tests whether a subquery has any duplicate tuples in its result.</a:t>
            </a:r>
            <a:endParaRPr lang="en-US" altLang="en-US" sz="2400" dirty="0"/>
          </a:p>
          <a:p>
            <a:pPr defTabSz="0">
              <a:tabLst>
                <a:tab pos="803275" algn="l"/>
                <a:tab pos="1548130" algn="l"/>
              </a:tabLst>
            </a:pPr>
            <a:r>
              <a:rPr lang="en-US" altLang="en-US" sz="2400" dirty="0"/>
              <a:t>The </a:t>
            </a:r>
            <a:r>
              <a:rPr lang="en-US" altLang="en-US" sz="2400" b="1" dirty="0">
                <a:solidFill>
                  <a:srgbClr val="000099"/>
                </a:solidFill>
              </a:rPr>
              <a:t>unique</a:t>
            </a:r>
            <a:r>
              <a:rPr lang="en-US" altLang="en-US" sz="2400" dirty="0"/>
              <a:t> construct evaluates to “true” if a given subquery contains no duplicates .</a:t>
            </a:r>
            <a:endParaRPr lang="en-US" altLang="en-US" sz="2400" dirty="0"/>
          </a:p>
          <a:p>
            <a:pPr defTabSz="0">
              <a:tabLst>
                <a:tab pos="803275" algn="l"/>
                <a:tab pos="1548130" algn="l"/>
              </a:tabLst>
            </a:pPr>
            <a:r>
              <a:rPr lang="en-US" altLang="en-US" sz="2400" dirty="0"/>
              <a:t>Find all courses that were offered at most once in 2009</a:t>
            </a:r>
            <a:endParaRPr lang="en-US" altLang="en-US" sz="2400" dirty="0"/>
          </a:p>
          <a:p>
            <a:pPr lvl="1" defTabSz="0">
              <a:buNone/>
              <a:tabLst>
                <a:tab pos="803275" algn="l"/>
                <a:tab pos="1548130" algn="l"/>
              </a:tabLst>
            </a:pPr>
            <a:r>
              <a:rPr lang="en-US" altLang="en-US" sz="2400" b="1" dirty="0"/>
              <a:t>    select </a:t>
            </a:r>
            <a:r>
              <a:rPr lang="en-US" altLang="en-US" sz="2400" i="1" dirty="0"/>
              <a:t>T</a:t>
            </a:r>
            <a:r>
              <a:rPr lang="en-US" altLang="en-US" sz="2400" dirty="0"/>
              <a:t>.</a:t>
            </a:r>
            <a:r>
              <a:rPr lang="en-US" altLang="en-US" sz="2400" i="1" dirty="0"/>
              <a:t>course_id</a:t>
            </a:r>
            <a:br>
              <a:rPr lang="en-US" altLang="en-US" sz="2400" i="1" dirty="0"/>
            </a:br>
            <a:r>
              <a:rPr lang="en-US" altLang="en-US" sz="2400" b="1" dirty="0"/>
              <a:t>from </a:t>
            </a:r>
            <a:r>
              <a:rPr lang="en-US" altLang="en-US" sz="2400" i="1" dirty="0"/>
              <a:t>course </a:t>
            </a:r>
            <a:r>
              <a:rPr lang="en-US" altLang="en-US" sz="2400" b="1" dirty="0"/>
              <a:t>as </a:t>
            </a:r>
            <a:r>
              <a:rPr lang="en-US" altLang="en-US" sz="2400" i="1" dirty="0"/>
              <a:t>T</a:t>
            </a:r>
            <a:br>
              <a:rPr lang="en-US" altLang="en-US" sz="2400" i="1" dirty="0"/>
            </a:br>
            <a:r>
              <a:rPr lang="en-US" altLang="en-US" sz="2400" b="1" dirty="0"/>
              <a:t>where unique </a:t>
            </a:r>
            <a:r>
              <a:rPr lang="en-US" altLang="en-US" sz="2400" dirty="0"/>
              <a:t>(</a:t>
            </a:r>
            <a:r>
              <a:rPr lang="en-US" altLang="en-US" sz="2400" b="1" dirty="0"/>
              <a:t>select </a:t>
            </a:r>
            <a:r>
              <a:rPr lang="en-US" altLang="en-US" sz="2400" i="1" dirty="0"/>
              <a:t>R</a:t>
            </a:r>
            <a:r>
              <a:rPr lang="en-US" altLang="en-US" sz="2400" dirty="0"/>
              <a:t>.</a:t>
            </a:r>
            <a:r>
              <a:rPr lang="en-US" altLang="en-US" sz="2400" i="1" dirty="0"/>
              <a:t>course_id</a:t>
            </a:r>
            <a:br>
              <a:rPr lang="en-US" altLang="en-US" sz="2400" i="1" dirty="0"/>
            </a:br>
            <a:r>
              <a:rPr lang="en-US" altLang="en-US" sz="2400" i="1" dirty="0"/>
              <a:t>                           </a:t>
            </a:r>
            <a:r>
              <a:rPr lang="en-US" altLang="en-US" sz="2400" b="1" dirty="0"/>
              <a:t>from </a:t>
            </a:r>
            <a:r>
              <a:rPr lang="en-US" altLang="en-US" sz="2400" i="1" dirty="0"/>
              <a:t>section </a:t>
            </a:r>
            <a:r>
              <a:rPr lang="en-US" altLang="en-US" sz="2400" b="1" dirty="0"/>
              <a:t>as </a:t>
            </a:r>
            <a:r>
              <a:rPr lang="en-US" altLang="en-US" sz="2400" i="1" dirty="0"/>
              <a:t>R</a:t>
            </a:r>
            <a:br>
              <a:rPr lang="en-US" altLang="en-US" sz="2400" i="1" dirty="0"/>
            </a:br>
            <a:r>
              <a:rPr lang="en-US" altLang="en-US" sz="2400" i="1" dirty="0"/>
              <a:t>                           </a:t>
            </a:r>
            <a:r>
              <a:rPr lang="en-US" altLang="en-US" sz="2400" b="1" dirty="0"/>
              <a:t>where </a:t>
            </a:r>
            <a:r>
              <a:rPr lang="en-US" altLang="en-US" sz="2400" i="1" dirty="0"/>
              <a:t>T</a:t>
            </a:r>
            <a:r>
              <a:rPr lang="en-US" altLang="en-US" sz="2400" dirty="0"/>
              <a:t>.</a:t>
            </a:r>
            <a:r>
              <a:rPr lang="en-US" altLang="en-US" sz="2400" i="1" dirty="0"/>
              <a:t>course_id</a:t>
            </a:r>
            <a:r>
              <a:rPr lang="en-US" altLang="en-US" sz="2400" dirty="0"/>
              <a:t>= </a:t>
            </a:r>
            <a:r>
              <a:rPr lang="en-US" altLang="en-US" sz="2400" i="1" dirty="0"/>
              <a:t>R</a:t>
            </a:r>
            <a:r>
              <a:rPr lang="en-US" altLang="en-US" sz="2400" dirty="0"/>
              <a:t>.</a:t>
            </a:r>
            <a:r>
              <a:rPr lang="en-US" altLang="en-US" sz="2400" i="1" dirty="0"/>
              <a:t>course_id </a:t>
            </a:r>
            <a:br>
              <a:rPr lang="en-US" altLang="en-US" sz="2400" i="1" dirty="0"/>
            </a:br>
            <a:r>
              <a:rPr lang="en-US" altLang="en-US" sz="2400" i="1" dirty="0"/>
              <a:t>                                       </a:t>
            </a:r>
            <a:r>
              <a:rPr lang="en-US" altLang="en-US" sz="2400" b="1" dirty="0"/>
              <a:t>and </a:t>
            </a:r>
            <a:r>
              <a:rPr lang="en-US" altLang="en-US" sz="2400" i="1" dirty="0"/>
              <a:t>R</a:t>
            </a:r>
            <a:r>
              <a:rPr lang="en-US" altLang="en-US" sz="2400" dirty="0"/>
              <a:t>.</a:t>
            </a:r>
            <a:r>
              <a:rPr lang="en-US" altLang="en-US" sz="2400" i="1" dirty="0"/>
              <a:t>year </a:t>
            </a:r>
            <a:r>
              <a:rPr lang="en-US" altLang="en-US" sz="2400" dirty="0"/>
              <a:t>= 2009);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470150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Subqueries in the From Clause</a:t>
            </a:r>
            <a:endParaRPr kumimoji="1" 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6323" name="Rectangle 3"/>
          <p:cNvSpPr>
            <a:spLocks noGrp="1"/>
          </p:cNvSpPr>
          <p:nvPr>
            <p:ph idx="1"/>
          </p:nvPr>
        </p:nvSpPr>
        <p:spPr>
          <a:xfrm>
            <a:off x="739775" y="1106488"/>
            <a:ext cx="7848600" cy="4876800"/>
          </a:xfrm>
        </p:spPr>
        <p:txBody>
          <a:bodyPr vert="horz" wrap="square" lIns="91440" tIns="45720" rIns="91440" bIns="45720" anchor="t"/>
          <a:lstStyle/>
          <a:p>
            <a:pPr defTabSz="0">
              <a:tabLst>
                <a:tab pos="1146175" algn="l"/>
                <a:tab pos="1608455" algn="l"/>
                <a:tab pos="1711325" algn="l"/>
              </a:tabLst>
            </a:pPr>
            <a:endParaRPr lang="en-US" altLang="en-US" dirty="0"/>
          </a:p>
          <a:p>
            <a:pPr defTabSz="0">
              <a:buNone/>
              <a:tabLst>
                <a:tab pos="1146175" algn="l"/>
                <a:tab pos="1608455" algn="l"/>
                <a:tab pos="1711325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Subqueries in the From Clause</a:t>
            </a:r>
            <a:endParaRPr kumimoji="1" lang="en-US" sz="3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7347" name="Rectangle 3"/>
          <p:cNvSpPr>
            <a:spLocks noGrp="1"/>
          </p:cNvSpPr>
          <p:nvPr>
            <p:ph idx="1"/>
          </p:nvPr>
        </p:nvSpPr>
        <p:spPr>
          <a:xfrm>
            <a:off x="52070" y="1106805"/>
            <a:ext cx="8931910" cy="5591175"/>
          </a:xfrm>
        </p:spPr>
        <p:txBody>
          <a:bodyPr vert="horz" wrap="square" lIns="91440" tIns="45720" rIns="91440" bIns="45720" anchor="t"/>
          <a:lstStyle/>
          <a:p>
            <a:pPr defTabSz="0">
              <a:tabLst>
                <a:tab pos="1146175" algn="l"/>
                <a:tab pos="1608455" algn="l"/>
                <a:tab pos="1711325" algn="l"/>
              </a:tabLst>
            </a:pPr>
            <a:r>
              <a:rPr lang="en-US" altLang="en-US" sz="2000" dirty="0"/>
              <a:t>SQL allows a subquery expression to be used in the </a:t>
            </a:r>
            <a:r>
              <a:rPr lang="en-US" altLang="en-US" sz="2000" b="1" dirty="0"/>
              <a:t>from </a:t>
            </a:r>
            <a:r>
              <a:rPr lang="en-US" altLang="en-US" sz="2000" dirty="0"/>
              <a:t>clause</a:t>
            </a:r>
            <a:endParaRPr lang="en-US" altLang="en-US" sz="2000" dirty="0"/>
          </a:p>
          <a:p>
            <a:pPr defTabSz="0">
              <a:tabLst>
                <a:tab pos="1146175" algn="l"/>
                <a:tab pos="1608455" algn="l"/>
                <a:tab pos="1711325" algn="l"/>
              </a:tabLst>
            </a:pPr>
            <a:r>
              <a:rPr lang="en-US" altLang="en-US" sz="2000" dirty="0"/>
              <a:t>Find the average instructors’ salaries of those departments where the average salary is greater than $42,000.”</a:t>
            </a:r>
            <a:endParaRPr lang="en-US" altLang="en-US" sz="2000" dirty="0"/>
          </a:p>
          <a:p>
            <a:pPr lvl="1" defTabSz="0">
              <a:buNone/>
              <a:tabLst>
                <a:tab pos="1146175" algn="l"/>
                <a:tab pos="1608455" algn="l"/>
                <a:tab pos="1711325" algn="l"/>
              </a:tabLst>
            </a:pPr>
            <a:r>
              <a:rPr lang="en-US" altLang="en-US" b="1" dirty="0"/>
              <a:t>    </a:t>
            </a:r>
            <a:r>
              <a:rPr lang="en-US" altLang="en-US" sz="1800" b="1" dirty="0"/>
              <a:t>select </a:t>
            </a:r>
            <a:r>
              <a:rPr lang="en-US" altLang="en-US" sz="1800" i="1" dirty="0"/>
              <a:t>dept_name</a:t>
            </a:r>
            <a:r>
              <a:rPr lang="en-US" altLang="en-US" sz="1800" dirty="0"/>
              <a:t>, </a:t>
            </a:r>
            <a:r>
              <a:rPr lang="en-US" altLang="en-US" sz="1800" i="1" dirty="0"/>
              <a:t>avg_salary</a:t>
            </a:r>
            <a:br>
              <a:rPr lang="en-US" altLang="en-US" sz="1800" i="1" dirty="0"/>
            </a:br>
            <a:r>
              <a:rPr lang="en-US" altLang="en-US" sz="1800" b="1" dirty="0"/>
              <a:t>from </a:t>
            </a:r>
            <a:r>
              <a:rPr lang="en-US" altLang="en-US" sz="1800" dirty="0">
                <a:solidFill>
                  <a:srgbClr val="002060"/>
                </a:solidFill>
              </a:rPr>
              <a:t>(</a:t>
            </a:r>
            <a:r>
              <a:rPr lang="en-US" altLang="en-US" sz="1800" b="1" dirty="0">
                <a:solidFill>
                  <a:srgbClr val="002060"/>
                </a:solidFill>
              </a:rPr>
              <a:t>select </a:t>
            </a:r>
            <a:r>
              <a:rPr lang="en-US" altLang="en-US" sz="1800" i="1" dirty="0">
                <a:solidFill>
                  <a:srgbClr val="002060"/>
                </a:solidFill>
              </a:rPr>
              <a:t>dept_name</a:t>
            </a:r>
            <a:r>
              <a:rPr lang="en-US" altLang="en-US" sz="1800" dirty="0">
                <a:solidFill>
                  <a:srgbClr val="002060"/>
                </a:solidFill>
              </a:rPr>
              <a:t>, </a:t>
            </a:r>
            <a:r>
              <a:rPr lang="en-US" altLang="en-US" sz="1800" b="1" dirty="0">
                <a:solidFill>
                  <a:srgbClr val="002060"/>
                </a:solidFill>
              </a:rPr>
              <a:t>avg </a:t>
            </a:r>
            <a:r>
              <a:rPr lang="en-US" altLang="en-US" sz="1800" dirty="0">
                <a:solidFill>
                  <a:srgbClr val="002060"/>
                </a:solidFill>
              </a:rPr>
              <a:t>(</a:t>
            </a:r>
            <a:r>
              <a:rPr lang="en-US" altLang="en-US" sz="1800" i="1" dirty="0">
                <a:solidFill>
                  <a:srgbClr val="002060"/>
                </a:solidFill>
              </a:rPr>
              <a:t>salary</a:t>
            </a:r>
            <a:r>
              <a:rPr lang="en-US" altLang="en-US" sz="1800" dirty="0">
                <a:solidFill>
                  <a:srgbClr val="002060"/>
                </a:solidFill>
              </a:rPr>
              <a:t>) </a:t>
            </a:r>
            <a:r>
              <a:rPr lang="en-US" altLang="en-US" sz="1800" b="1" dirty="0">
                <a:solidFill>
                  <a:srgbClr val="002060"/>
                </a:solidFill>
              </a:rPr>
              <a:t>as </a:t>
            </a:r>
            <a:r>
              <a:rPr lang="en-US" altLang="en-US" sz="1800" i="1" dirty="0">
                <a:solidFill>
                  <a:srgbClr val="002060"/>
                </a:solidFill>
              </a:rPr>
              <a:t>avg_salary</a:t>
            </a:r>
            <a:br>
              <a:rPr lang="en-US" altLang="en-US" sz="1800" i="1" dirty="0">
                <a:solidFill>
                  <a:srgbClr val="002060"/>
                </a:solidFill>
              </a:rPr>
            </a:br>
            <a:r>
              <a:rPr lang="en-US" altLang="en-US" sz="1800" i="1" dirty="0">
                <a:solidFill>
                  <a:srgbClr val="002060"/>
                </a:solidFill>
              </a:rPr>
              <a:t>           </a:t>
            </a:r>
            <a:r>
              <a:rPr lang="en-US" altLang="en-US" sz="1800" b="1" dirty="0">
                <a:solidFill>
                  <a:srgbClr val="002060"/>
                </a:solidFill>
              </a:rPr>
              <a:t>from </a:t>
            </a:r>
            <a:r>
              <a:rPr lang="en-US" altLang="en-US" sz="1800" i="1" dirty="0">
                <a:solidFill>
                  <a:srgbClr val="002060"/>
                </a:solidFill>
              </a:rPr>
              <a:t>instructor</a:t>
            </a:r>
            <a:br>
              <a:rPr lang="en-US" altLang="en-US" sz="1800" i="1" dirty="0">
                <a:solidFill>
                  <a:srgbClr val="002060"/>
                </a:solidFill>
              </a:rPr>
            </a:br>
            <a:r>
              <a:rPr lang="en-US" altLang="en-US" sz="1800" i="1" dirty="0">
                <a:solidFill>
                  <a:srgbClr val="002060"/>
                </a:solidFill>
              </a:rPr>
              <a:t>           </a:t>
            </a:r>
            <a:r>
              <a:rPr lang="en-US" altLang="en-US" sz="1800" b="1" dirty="0">
                <a:solidFill>
                  <a:srgbClr val="002060"/>
                </a:solidFill>
              </a:rPr>
              <a:t>group by </a:t>
            </a:r>
            <a:r>
              <a:rPr lang="en-US" altLang="en-US" sz="1800" i="1" dirty="0">
                <a:solidFill>
                  <a:srgbClr val="002060"/>
                </a:solidFill>
              </a:rPr>
              <a:t>dept_name</a:t>
            </a:r>
            <a:r>
              <a:rPr lang="en-US" altLang="en-US" sz="1800" dirty="0">
                <a:solidFill>
                  <a:srgbClr val="002060"/>
                </a:solidFill>
              </a:rPr>
              <a:t>)</a:t>
            </a:r>
            <a:br>
              <a:rPr lang="en-US" altLang="en-US" sz="1800" dirty="0"/>
            </a:br>
            <a:r>
              <a:rPr lang="en-US" altLang="en-US" sz="1800" b="1" dirty="0"/>
              <a:t>where </a:t>
            </a:r>
            <a:r>
              <a:rPr lang="en-US" altLang="en-US" sz="1800" i="1" dirty="0"/>
              <a:t>avg_salary </a:t>
            </a:r>
            <a:r>
              <a:rPr lang="en-US" altLang="en-US" sz="1800" dirty="0"/>
              <a:t>&gt; 42000;</a:t>
            </a:r>
            <a:endParaRPr lang="en-US" altLang="en-US" sz="1800" dirty="0"/>
          </a:p>
          <a:p>
            <a:pPr defTabSz="0">
              <a:tabLst>
                <a:tab pos="1146175" algn="l"/>
                <a:tab pos="1608455" algn="l"/>
                <a:tab pos="1711325" algn="l"/>
              </a:tabLst>
            </a:pPr>
            <a:r>
              <a:rPr lang="en-US" altLang="en-US" sz="2000" dirty="0"/>
              <a:t>Note that we do not need to use the </a:t>
            </a:r>
            <a:r>
              <a:rPr lang="en-US" altLang="en-US" sz="2000" b="1" dirty="0"/>
              <a:t>having </a:t>
            </a:r>
            <a:r>
              <a:rPr lang="en-US" altLang="en-US" sz="2000" dirty="0"/>
              <a:t>clause</a:t>
            </a:r>
            <a:endParaRPr lang="en-US" altLang="en-US" sz="2000" dirty="0"/>
          </a:p>
          <a:p>
            <a:pPr defTabSz="0">
              <a:tabLst>
                <a:tab pos="1146175" algn="l"/>
                <a:tab pos="1608455" algn="l"/>
                <a:tab pos="1711325" algn="l"/>
              </a:tabLst>
            </a:pPr>
            <a:r>
              <a:rPr lang="en-US" altLang="en-US" sz="2000" dirty="0"/>
              <a:t>Another way to write above query</a:t>
            </a:r>
            <a:endParaRPr lang="en-US" altLang="en-US" sz="2000" dirty="0"/>
          </a:p>
          <a:p>
            <a:pPr lvl="1" defTabSz="0">
              <a:buNone/>
              <a:tabLst>
                <a:tab pos="1146175" algn="l"/>
                <a:tab pos="1608455" algn="l"/>
                <a:tab pos="1711325" algn="l"/>
              </a:tabLst>
            </a:pPr>
            <a:r>
              <a:rPr lang="en-US" altLang="en-US" b="1" dirty="0"/>
              <a:t>    </a:t>
            </a:r>
            <a:r>
              <a:rPr lang="en-US" altLang="en-US" sz="1800" b="1" dirty="0"/>
              <a:t>select </a:t>
            </a:r>
            <a:r>
              <a:rPr lang="en-US" altLang="en-US" sz="1800" i="1" dirty="0"/>
              <a:t>dept_name</a:t>
            </a:r>
            <a:r>
              <a:rPr lang="en-US" altLang="en-US" sz="1800" dirty="0"/>
              <a:t>, </a:t>
            </a:r>
            <a:r>
              <a:rPr lang="en-US" altLang="en-US" sz="1800" i="1" dirty="0"/>
              <a:t>avg_salary</a:t>
            </a:r>
            <a:br>
              <a:rPr lang="en-US" altLang="en-US" sz="1800" i="1" dirty="0"/>
            </a:br>
            <a:r>
              <a:rPr lang="en-US" altLang="en-US" sz="1800" b="1" dirty="0"/>
              <a:t>from </a:t>
            </a:r>
            <a:r>
              <a:rPr lang="en-US" altLang="en-US" sz="1800" dirty="0">
                <a:solidFill>
                  <a:srgbClr val="002060"/>
                </a:solidFill>
              </a:rPr>
              <a:t>(</a:t>
            </a:r>
            <a:r>
              <a:rPr lang="en-US" altLang="en-US" sz="1800" b="1" dirty="0">
                <a:solidFill>
                  <a:srgbClr val="002060"/>
                </a:solidFill>
              </a:rPr>
              <a:t>select </a:t>
            </a:r>
            <a:r>
              <a:rPr lang="en-US" altLang="en-US" sz="1800" i="1" dirty="0">
                <a:solidFill>
                  <a:srgbClr val="002060"/>
                </a:solidFill>
              </a:rPr>
              <a:t>dept_name</a:t>
            </a:r>
            <a:r>
              <a:rPr lang="en-US" altLang="en-US" sz="1800" dirty="0">
                <a:solidFill>
                  <a:srgbClr val="002060"/>
                </a:solidFill>
              </a:rPr>
              <a:t>, </a:t>
            </a:r>
            <a:r>
              <a:rPr lang="en-US" altLang="en-US" sz="1800" b="1" dirty="0">
                <a:solidFill>
                  <a:srgbClr val="002060"/>
                </a:solidFill>
              </a:rPr>
              <a:t>avg </a:t>
            </a:r>
            <a:r>
              <a:rPr lang="en-US" altLang="en-US" sz="1800" dirty="0">
                <a:solidFill>
                  <a:srgbClr val="002060"/>
                </a:solidFill>
              </a:rPr>
              <a:t>(</a:t>
            </a:r>
            <a:r>
              <a:rPr lang="en-US" altLang="en-US" sz="1800" i="1" dirty="0">
                <a:solidFill>
                  <a:srgbClr val="002060"/>
                </a:solidFill>
              </a:rPr>
              <a:t>salary</a:t>
            </a:r>
            <a:r>
              <a:rPr lang="en-US" altLang="en-US" sz="1800" dirty="0">
                <a:solidFill>
                  <a:srgbClr val="002060"/>
                </a:solidFill>
              </a:rPr>
              <a:t>) </a:t>
            </a:r>
            <a:br>
              <a:rPr lang="en-US" altLang="en-US" sz="1800" i="1" dirty="0">
                <a:solidFill>
                  <a:srgbClr val="002060"/>
                </a:solidFill>
              </a:rPr>
            </a:br>
            <a:r>
              <a:rPr lang="en-US" altLang="en-US" sz="1800" i="1" dirty="0">
                <a:solidFill>
                  <a:srgbClr val="002060"/>
                </a:solidFill>
              </a:rPr>
              <a:t>           </a:t>
            </a:r>
            <a:r>
              <a:rPr lang="en-US" altLang="en-US" sz="1800" b="1" dirty="0">
                <a:solidFill>
                  <a:srgbClr val="002060"/>
                </a:solidFill>
              </a:rPr>
              <a:t>from </a:t>
            </a:r>
            <a:r>
              <a:rPr lang="en-US" altLang="en-US" sz="1800" i="1" dirty="0">
                <a:solidFill>
                  <a:srgbClr val="002060"/>
                </a:solidFill>
              </a:rPr>
              <a:t>instructor</a:t>
            </a:r>
            <a:br>
              <a:rPr lang="en-US" altLang="en-US" sz="1800" i="1" dirty="0">
                <a:solidFill>
                  <a:srgbClr val="002060"/>
                </a:solidFill>
              </a:rPr>
            </a:br>
            <a:r>
              <a:rPr lang="en-US" altLang="en-US" sz="1800" i="1" dirty="0">
                <a:solidFill>
                  <a:srgbClr val="002060"/>
                </a:solidFill>
              </a:rPr>
              <a:t>           </a:t>
            </a:r>
            <a:r>
              <a:rPr lang="en-US" altLang="en-US" sz="1800" b="1" dirty="0">
                <a:solidFill>
                  <a:srgbClr val="002060"/>
                </a:solidFill>
              </a:rPr>
              <a:t>group by </a:t>
            </a:r>
            <a:r>
              <a:rPr lang="en-US" altLang="en-US" sz="1800" i="1" dirty="0">
                <a:solidFill>
                  <a:srgbClr val="002060"/>
                </a:solidFill>
              </a:rPr>
              <a:t>dept_name</a:t>
            </a:r>
            <a:r>
              <a:rPr lang="en-US" altLang="en-US" sz="1800" dirty="0">
                <a:solidFill>
                  <a:srgbClr val="002060"/>
                </a:solidFill>
              </a:rPr>
              <a:t>)</a:t>
            </a:r>
            <a:r>
              <a:rPr lang="en-US" altLang="en-US" sz="1800" dirty="0"/>
              <a:t> </a:t>
            </a:r>
            <a:r>
              <a:rPr lang="en-US" altLang="en-US" sz="1800" b="1" dirty="0"/>
              <a:t>as </a:t>
            </a:r>
            <a:r>
              <a:rPr lang="en-US" altLang="en-US" sz="1800" i="1" dirty="0"/>
              <a:t>dept_avg </a:t>
            </a:r>
            <a:r>
              <a:rPr lang="en-US" altLang="en-US" sz="1800" dirty="0"/>
              <a:t>(</a:t>
            </a:r>
            <a:r>
              <a:rPr lang="en-US" altLang="en-US" sz="1800" i="1" dirty="0"/>
              <a:t>dept_name</a:t>
            </a:r>
            <a:r>
              <a:rPr lang="en-US" altLang="en-US" sz="1800" dirty="0"/>
              <a:t>, </a:t>
            </a:r>
            <a:r>
              <a:rPr lang="en-US" altLang="en-US" sz="1800" i="1" dirty="0"/>
              <a:t>avg_salary</a:t>
            </a:r>
            <a:r>
              <a:rPr lang="en-US" altLang="en-US" sz="1800" dirty="0"/>
              <a:t>)</a:t>
            </a:r>
            <a:endParaRPr lang="en-US" altLang="en-US" sz="1800" dirty="0"/>
          </a:p>
          <a:p>
            <a:pPr lvl="1" defTabSz="0">
              <a:buNone/>
              <a:tabLst>
                <a:tab pos="1146175" algn="l"/>
                <a:tab pos="1608455" algn="l"/>
                <a:tab pos="1711325" algn="l"/>
              </a:tabLst>
            </a:pPr>
            <a:r>
              <a:rPr lang="en-US" altLang="en-US" sz="1800" b="1" dirty="0"/>
              <a:t>    where </a:t>
            </a:r>
            <a:r>
              <a:rPr lang="en-US" altLang="en-US" sz="1800" i="1" dirty="0"/>
              <a:t>avg_salary </a:t>
            </a:r>
            <a:r>
              <a:rPr lang="en-US" altLang="en-US" sz="1800" dirty="0"/>
              <a:t>&gt; 42000;</a:t>
            </a:r>
            <a:endParaRPr lang="en-US" altLang="en-US" sz="18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With Clause</a:t>
            </a:r>
            <a:endParaRPr kumimoji="1" lang="en-US" sz="4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8371" name="Rectangle 3"/>
          <p:cNvSpPr>
            <a:spLocks noGrp="1"/>
          </p:cNvSpPr>
          <p:nvPr>
            <p:ph idx="1"/>
          </p:nvPr>
        </p:nvSpPr>
        <p:spPr>
          <a:xfrm>
            <a:off x="276860" y="1106805"/>
            <a:ext cx="8615045" cy="4903470"/>
          </a:xfrm>
        </p:spPr>
        <p:txBody>
          <a:bodyPr vert="horz" wrap="square" lIns="91440" tIns="45720" rIns="91440" bIns="45720" anchor="t"/>
          <a:lstStyle/>
          <a:p>
            <a:r>
              <a:rPr lang="en-US" altLang="en-US" dirty="0"/>
              <a:t>The </a:t>
            </a:r>
            <a:r>
              <a:rPr lang="en-US" altLang="en-US" b="1" dirty="0">
                <a:solidFill>
                  <a:srgbClr val="000099"/>
                </a:solidFill>
              </a:rPr>
              <a:t>with</a:t>
            </a:r>
            <a:r>
              <a:rPr lang="en-US" altLang="en-US" dirty="0"/>
              <a:t> clause provides a way of defining</a:t>
            </a:r>
            <a:r>
              <a:rPr lang="en-US" altLang="en-US" dirty="0">
                <a:solidFill>
                  <a:srgbClr val="00B050"/>
                </a:solidFill>
              </a:rPr>
              <a:t> a temporary relation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C00000"/>
                </a:solidFill>
              </a:rPr>
              <a:t>whose definition is available only to the query in which the </a:t>
            </a:r>
            <a:r>
              <a:rPr lang="en-US" altLang="en-US" b="1" dirty="0">
                <a:solidFill>
                  <a:srgbClr val="C00000"/>
                </a:solidFill>
              </a:rPr>
              <a:t>with </a:t>
            </a:r>
            <a:r>
              <a:rPr lang="en-US" altLang="en-US" dirty="0">
                <a:solidFill>
                  <a:srgbClr val="C00000"/>
                </a:solidFill>
              </a:rPr>
              <a:t>clause occurs</a:t>
            </a:r>
            <a:r>
              <a:rPr lang="en-US" altLang="en-US" dirty="0"/>
              <a:t>. </a:t>
            </a:r>
            <a:endParaRPr lang="en-US" altLang="en-US" dirty="0"/>
          </a:p>
          <a:p>
            <a:r>
              <a:rPr lang="en-US" altLang="en-US" dirty="0"/>
              <a:t>Find all departments with the maximum budget </a:t>
            </a:r>
            <a:br>
              <a:rPr lang="en-US" altLang="en-US" dirty="0"/>
            </a:br>
            <a:br>
              <a:rPr lang="en-US" altLang="en-US" b="1" dirty="0"/>
            </a:br>
            <a:r>
              <a:rPr lang="en-US" altLang="en-US" b="1" dirty="0"/>
              <a:t>     with </a:t>
            </a:r>
            <a:r>
              <a:rPr lang="en-US" altLang="en-US" i="1" dirty="0"/>
              <a:t>max_budget </a:t>
            </a:r>
            <a:r>
              <a:rPr lang="en-US" altLang="en-US" dirty="0"/>
              <a:t>(</a:t>
            </a:r>
            <a:r>
              <a:rPr lang="en-US" altLang="en-US" i="1" dirty="0"/>
              <a:t>value</a:t>
            </a:r>
            <a:r>
              <a:rPr lang="en-US" altLang="en-US" dirty="0"/>
              <a:t>) </a:t>
            </a:r>
            <a:r>
              <a:rPr lang="en-US" altLang="en-US" b="1" dirty="0"/>
              <a:t>as </a:t>
            </a:r>
            <a:br>
              <a:rPr lang="en-US" altLang="en-US" b="1" dirty="0"/>
            </a:br>
            <a:r>
              <a:rPr lang="en-US" altLang="en-US" b="1" dirty="0"/>
              <a:t>             </a:t>
            </a:r>
            <a:r>
              <a:rPr lang="en-US" altLang="en-US" dirty="0"/>
              <a:t>(</a:t>
            </a:r>
            <a:r>
              <a:rPr lang="en-US" altLang="en-US" b="1" dirty="0"/>
              <a:t>select max</a:t>
            </a:r>
            <a:r>
              <a:rPr lang="en-US" altLang="en-US" dirty="0"/>
              <a:t>(</a:t>
            </a:r>
            <a:r>
              <a:rPr lang="en-US" altLang="en-US" i="1" dirty="0"/>
              <a:t>budget</a:t>
            </a:r>
            <a:r>
              <a:rPr lang="en-US" altLang="en-US" dirty="0"/>
              <a:t>)</a:t>
            </a:r>
            <a:br>
              <a:rPr lang="en-US" altLang="en-US" dirty="0"/>
            </a:br>
            <a:r>
              <a:rPr lang="en-US" altLang="en-US" dirty="0"/>
              <a:t>              </a:t>
            </a:r>
            <a:r>
              <a:rPr lang="en-US" altLang="en-US" b="1" dirty="0"/>
              <a:t>from </a:t>
            </a:r>
            <a:r>
              <a:rPr lang="en-US" altLang="en-US" i="1" dirty="0"/>
              <a:t>department</a:t>
            </a:r>
            <a:r>
              <a:rPr lang="en-US" altLang="en-US" dirty="0"/>
              <a:t>)</a:t>
            </a:r>
            <a:br>
              <a:rPr lang="en-US" altLang="en-US" dirty="0"/>
            </a:br>
            <a:r>
              <a:rPr lang="en-US" altLang="en-US" dirty="0"/>
              <a:t>     </a:t>
            </a:r>
            <a:r>
              <a:rPr lang="en-US" altLang="en-US" b="1" dirty="0"/>
              <a:t>select </a:t>
            </a:r>
            <a:r>
              <a:rPr lang="en-US" altLang="en-US" i="1" dirty="0"/>
              <a:t>department.name</a:t>
            </a:r>
            <a:br>
              <a:rPr lang="en-US" altLang="en-US" i="1" dirty="0"/>
            </a:br>
            <a:r>
              <a:rPr lang="en-US" altLang="en-US" i="1" dirty="0"/>
              <a:t>     </a:t>
            </a:r>
            <a:r>
              <a:rPr lang="en-US" altLang="en-US" b="1" dirty="0"/>
              <a:t>from </a:t>
            </a:r>
            <a:r>
              <a:rPr lang="en-US" altLang="en-US" i="1" dirty="0"/>
              <a:t>department</a:t>
            </a:r>
            <a:r>
              <a:rPr lang="en-US" altLang="en-US" dirty="0"/>
              <a:t>, </a:t>
            </a:r>
            <a:r>
              <a:rPr lang="en-US" altLang="en-US" i="1" dirty="0"/>
              <a:t>max_budget</a:t>
            </a:r>
            <a:br>
              <a:rPr lang="en-US" altLang="en-US" i="1" dirty="0"/>
            </a:br>
            <a:r>
              <a:rPr lang="en-US" altLang="en-US" i="1" dirty="0"/>
              <a:t>     </a:t>
            </a:r>
            <a:r>
              <a:rPr lang="en-US" altLang="en-US" b="1" dirty="0"/>
              <a:t>where </a:t>
            </a:r>
            <a:r>
              <a:rPr lang="en-US" altLang="en-US" i="1" dirty="0"/>
              <a:t>department</a:t>
            </a:r>
            <a:r>
              <a:rPr lang="en-US" altLang="en-US" dirty="0"/>
              <a:t>.</a:t>
            </a:r>
            <a:r>
              <a:rPr lang="en-US" altLang="en-US" i="1" dirty="0"/>
              <a:t>budget </a:t>
            </a:r>
            <a:r>
              <a:rPr lang="en-US" altLang="en-US" dirty="0"/>
              <a:t>= </a:t>
            </a:r>
            <a:r>
              <a:rPr lang="en-US" altLang="en-US" i="1" dirty="0"/>
              <a:t>max_budget.value</a:t>
            </a:r>
            <a:r>
              <a:rPr lang="en-US" altLang="en-US" dirty="0"/>
              <a:t>;</a:t>
            </a:r>
            <a:endParaRPr lang="en-US" altLang="en-US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Complex Queries using With Clause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9395" name="Rectangle 3"/>
          <p:cNvSpPr>
            <a:spLocks noGrp="1"/>
          </p:cNvSpPr>
          <p:nvPr>
            <p:ph idx="1"/>
          </p:nvPr>
        </p:nvSpPr>
        <p:spPr>
          <a:xfrm>
            <a:off x="814388" y="1147763"/>
            <a:ext cx="7661275" cy="996950"/>
          </a:xfrm>
        </p:spPr>
        <p:txBody>
          <a:bodyPr vert="horz" wrap="square" lIns="91440" tIns="45720" rIns="91440" bIns="45720" anchor="t"/>
          <a:lstStyle/>
          <a:p>
            <a:r>
              <a:rPr lang="en-US" altLang="en-US" sz="2000" dirty="0"/>
              <a:t>Find all departments where the total salary is greater than the average of the total salary at all departments</a:t>
            </a:r>
            <a:endParaRPr lang="en-US" altLang="en-US" sz="2000" dirty="0"/>
          </a:p>
        </p:txBody>
      </p:sp>
      <p:sp>
        <p:nvSpPr>
          <p:cNvPr id="59396" name="Text Box 4"/>
          <p:cNvSpPr txBox="1"/>
          <p:nvPr/>
        </p:nvSpPr>
        <p:spPr>
          <a:xfrm>
            <a:off x="1201738" y="2073275"/>
            <a:ext cx="7659687" cy="31692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2000" b="1" dirty="0">
                <a:latin typeface="Helvetica" panose="020B0604020202030204" pitchFamily="34" charset="0"/>
              </a:rPr>
              <a:t>with </a:t>
            </a:r>
            <a:r>
              <a:rPr lang="en-US" altLang="en-US" sz="2000" i="1" dirty="0">
                <a:solidFill>
                  <a:srgbClr val="000099"/>
                </a:solidFill>
                <a:latin typeface="Helvetica" panose="020B0604020202030204" pitchFamily="34" charset="0"/>
              </a:rPr>
              <a:t>dept _total</a:t>
            </a:r>
            <a:r>
              <a:rPr lang="en-US" altLang="en-US" sz="2000" i="1" dirty="0">
                <a:latin typeface="Helvetica" panose="020B0604020202030204" pitchFamily="34" charset="0"/>
              </a:rPr>
              <a:t> </a:t>
            </a:r>
            <a:r>
              <a:rPr lang="en-US" altLang="en-US" sz="2000" dirty="0">
                <a:latin typeface="Helvetica" panose="020B0604020202030204" pitchFamily="34" charset="0"/>
              </a:rPr>
              <a:t>(</a:t>
            </a:r>
            <a:r>
              <a:rPr lang="en-US" altLang="en-US" sz="2000" i="1" dirty="0">
                <a:latin typeface="Helvetica" panose="020B0604020202030204" pitchFamily="34" charset="0"/>
              </a:rPr>
              <a:t>dept_name</a:t>
            </a:r>
            <a:r>
              <a:rPr lang="en-US" altLang="en-US" sz="2000" dirty="0">
                <a:latin typeface="Helvetica" panose="020B0604020202030204" pitchFamily="34" charset="0"/>
              </a:rPr>
              <a:t>, </a:t>
            </a:r>
            <a:r>
              <a:rPr lang="en-US" altLang="en-US" sz="2000" i="1" dirty="0">
                <a:latin typeface="Helvetica" panose="020B0604020202030204" pitchFamily="34" charset="0"/>
              </a:rPr>
              <a:t>value</a:t>
            </a:r>
            <a:r>
              <a:rPr lang="en-US" altLang="en-US" sz="2000" dirty="0">
                <a:latin typeface="Helvetica" panose="020B0604020202030204" pitchFamily="34" charset="0"/>
              </a:rPr>
              <a:t>) </a:t>
            </a:r>
            <a:r>
              <a:rPr lang="en-US" altLang="en-US" sz="2000" b="1" dirty="0">
                <a:latin typeface="Helvetica" panose="020B0604020202030204" pitchFamily="34" charset="0"/>
              </a:rPr>
              <a:t>as</a:t>
            </a:r>
            <a:endParaRPr lang="en-US" altLang="en-US" sz="2000" b="1" dirty="0">
              <a:latin typeface="Helvetica" panose="020B0604020202030204" pitchFamily="34" charset="0"/>
            </a:endParaRPr>
          </a:p>
          <a:p>
            <a:r>
              <a:rPr lang="en-US" altLang="en-US" sz="2000" dirty="0">
                <a:latin typeface="Helvetica" panose="020B0604020202030204" pitchFamily="34" charset="0"/>
              </a:rPr>
              <a:t>        (</a:t>
            </a:r>
            <a:r>
              <a:rPr lang="en-US" altLang="en-US" sz="2000" b="1" dirty="0">
                <a:latin typeface="Helvetica" panose="020B0604020202030204" pitchFamily="34" charset="0"/>
              </a:rPr>
              <a:t>select </a:t>
            </a:r>
            <a:r>
              <a:rPr lang="en-US" altLang="en-US" sz="2000" i="1" dirty="0">
                <a:latin typeface="Helvetica" panose="020B0604020202030204" pitchFamily="34" charset="0"/>
              </a:rPr>
              <a:t>dept_name</a:t>
            </a:r>
            <a:r>
              <a:rPr lang="en-US" altLang="en-US" sz="2000" dirty="0">
                <a:latin typeface="Helvetica" panose="020B0604020202030204" pitchFamily="34" charset="0"/>
              </a:rPr>
              <a:t>, </a:t>
            </a:r>
            <a:r>
              <a:rPr lang="en-US" altLang="en-US" sz="2000" b="1" dirty="0">
                <a:latin typeface="Helvetica" panose="020B0604020202030204" pitchFamily="34" charset="0"/>
              </a:rPr>
              <a:t>sum</a:t>
            </a:r>
            <a:r>
              <a:rPr lang="en-US" altLang="en-US" sz="2000" dirty="0">
                <a:latin typeface="Helvetica" panose="020B0604020202030204" pitchFamily="34" charset="0"/>
              </a:rPr>
              <a:t>(</a:t>
            </a:r>
            <a:r>
              <a:rPr lang="en-US" altLang="en-US" sz="2000" i="1" dirty="0">
                <a:latin typeface="Helvetica" panose="020B0604020202030204" pitchFamily="34" charset="0"/>
              </a:rPr>
              <a:t>salary</a:t>
            </a:r>
            <a:r>
              <a:rPr lang="en-US" altLang="en-US" sz="2000" dirty="0">
                <a:latin typeface="Helvetica" panose="020B0604020202030204" pitchFamily="34" charset="0"/>
              </a:rPr>
              <a:t>)</a:t>
            </a:r>
            <a:endParaRPr lang="en-US" altLang="en-US" sz="2000" dirty="0">
              <a:latin typeface="Helvetica" panose="020B0604020202030204" pitchFamily="34" charset="0"/>
            </a:endParaRPr>
          </a:p>
          <a:p>
            <a:r>
              <a:rPr lang="en-US" altLang="en-US" sz="2000" b="1" dirty="0">
                <a:latin typeface="Helvetica" panose="020B0604020202030204" pitchFamily="34" charset="0"/>
              </a:rPr>
              <a:t>         from </a:t>
            </a:r>
            <a:r>
              <a:rPr lang="en-US" altLang="en-US" sz="2000" i="1" dirty="0">
                <a:latin typeface="Helvetica" panose="020B0604020202030204" pitchFamily="34" charset="0"/>
              </a:rPr>
              <a:t>instructor</a:t>
            </a:r>
            <a:endParaRPr lang="en-US" altLang="en-US" sz="2000" i="1" dirty="0">
              <a:latin typeface="Helvetica" panose="020B0604020202030204" pitchFamily="34" charset="0"/>
            </a:endParaRPr>
          </a:p>
          <a:p>
            <a:r>
              <a:rPr lang="en-US" altLang="en-US" sz="2000" b="1" dirty="0">
                <a:latin typeface="Helvetica" panose="020B0604020202030204" pitchFamily="34" charset="0"/>
              </a:rPr>
              <a:t>         group by </a:t>
            </a:r>
            <a:r>
              <a:rPr lang="en-US" altLang="en-US" sz="2000" i="1" dirty="0">
                <a:latin typeface="Helvetica" panose="020B0604020202030204" pitchFamily="34" charset="0"/>
              </a:rPr>
              <a:t>dept_name</a:t>
            </a:r>
            <a:r>
              <a:rPr lang="en-US" altLang="en-US" sz="2000" dirty="0">
                <a:latin typeface="Helvetica" panose="020B0604020202030204" pitchFamily="34" charset="0"/>
              </a:rPr>
              <a:t>),</a:t>
            </a:r>
            <a:endParaRPr lang="en-US" altLang="en-US" sz="2000" dirty="0">
              <a:latin typeface="Helvetica" panose="020B0604020202030204" pitchFamily="34" charset="0"/>
            </a:endParaRPr>
          </a:p>
          <a:p>
            <a:r>
              <a:rPr lang="en-US" altLang="en-US" sz="2000" i="1" dirty="0">
                <a:latin typeface="Helvetica" panose="020B0604020202030204" pitchFamily="34" charset="0"/>
              </a:rPr>
              <a:t>       </a:t>
            </a:r>
            <a:r>
              <a:rPr lang="en-US" altLang="en-US" sz="2000" i="1" dirty="0">
                <a:solidFill>
                  <a:schemeClr val="tx2"/>
                </a:solidFill>
                <a:latin typeface="Helvetica" panose="020B0604020202030204" pitchFamily="34" charset="0"/>
              </a:rPr>
              <a:t> dept_total_avg</a:t>
            </a:r>
            <a:r>
              <a:rPr lang="en-US" altLang="en-US" sz="2000" dirty="0">
                <a:latin typeface="Helvetica" panose="020B0604020202030204" pitchFamily="34" charset="0"/>
              </a:rPr>
              <a:t>(</a:t>
            </a:r>
            <a:r>
              <a:rPr lang="en-US" altLang="en-US" sz="2000" i="1" dirty="0">
                <a:latin typeface="Helvetica" panose="020B0604020202030204" pitchFamily="34" charset="0"/>
              </a:rPr>
              <a:t>value</a:t>
            </a:r>
            <a:r>
              <a:rPr lang="en-US" altLang="en-US" sz="2000" dirty="0">
                <a:latin typeface="Helvetica" panose="020B0604020202030204" pitchFamily="34" charset="0"/>
              </a:rPr>
              <a:t>) </a:t>
            </a:r>
            <a:r>
              <a:rPr lang="en-US" altLang="en-US" sz="2000" b="1" dirty="0">
                <a:latin typeface="Helvetica" panose="020B0604020202030204" pitchFamily="34" charset="0"/>
              </a:rPr>
              <a:t>as</a:t>
            </a:r>
            <a:endParaRPr lang="en-US" altLang="en-US" sz="2000" b="1" dirty="0">
              <a:latin typeface="Helvetica" panose="020B0604020202030204" pitchFamily="34" charset="0"/>
            </a:endParaRPr>
          </a:p>
          <a:p>
            <a:r>
              <a:rPr lang="en-US" altLang="en-US" sz="2000" dirty="0">
                <a:latin typeface="Helvetica" panose="020B0604020202030204" pitchFamily="34" charset="0"/>
              </a:rPr>
              <a:t>        ( </a:t>
            </a:r>
            <a:r>
              <a:rPr lang="en-US" altLang="en-US" sz="2000" b="1" dirty="0">
                <a:latin typeface="Helvetica" panose="020B0604020202030204" pitchFamily="34" charset="0"/>
              </a:rPr>
              <a:t>select avg</a:t>
            </a:r>
            <a:r>
              <a:rPr lang="en-US" altLang="en-US" sz="2000" dirty="0">
                <a:latin typeface="Helvetica" panose="020B0604020202030204" pitchFamily="34" charset="0"/>
              </a:rPr>
              <a:t>(</a:t>
            </a:r>
            <a:r>
              <a:rPr lang="en-US" altLang="en-US" sz="2000" i="1" dirty="0">
                <a:latin typeface="Helvetica" panose="020B0604020202030204" pitchFamily="34" charset="0"/>
              </a:rPr>
              <a:t>value</a:t>
            </a:r>
            <a:r>
              <a:rPr lang="en-US" altLang="en-US" sz="2000" dirty="0">
                <a:latin typeface="Helvetica" panose="020B0604020202030204" pitchFamily="34" charset="0"/>
              </a:rPr>
              <a:t>)</a:t>
            </a:r>
            <a:endParaRPr lang="en-US" altLang="en-US" sz="2000" dirty="0">
              <a:latin typeface="Helvetica" panose="020B0604020202030204" pitchFamily="34" charset="0"/>
            </a:endParaRPr>
          </a:p>
          <a:p>
            <a:r>
              <a:rPr lang="en-US" altLang="en-US" sz="2000" dirty="0">
                <a:latin typeface="Helvetica" panose="020B0604020202030204" pitchFamily="34" charset="0"/>
              </a:rPr>
              <a:t> </a:t>
            </a:r>
            <a:r>
              <a:rPr lang="en-US" altLang="en-US" sz="2000" b="1" dirty="0">
                <a:latin typeface="Helvetica" panose="020B0604020202030204" pitchFamily="34" charset="0"/>
              </a:rPr>
              <a:t>         from </a:t>
            </a:r>
            <a:r>
              <a:rPr lang="en-US" altLang="en-US" sz="2000" i="1" dirty="0">
                <a:solidFill>
                  <a:srgbClr val="000099"/>
                </a:solidFill>
                <a:latin typeface="Helvetica" panose="020B0604020202030204" pitchFamily="34" charset="0"/>
              </a:rPr>
              <a:t>dept_total</a:t>
            </a:r>
            <a:r>
              <a:rPr lang="en-US" altLang="en-US" sz="2000" i="1" dirty="0">
                <a:latin typeface="Helvetica" panose="020B0604020202030204" pitchFamily="34" charset="0"/>
              </a:rPr>
              <a:t> </a:t>
            </a:r>
            <a:r>
              <a:rPr lang="en-US" altLang="en-US" sz="2000" dirty="0">
                <a:latin typeface="Helvetica" panose="020B0604020202030204" pitchFamily="34" charset="0"/>
              </a:rPr>
              <a:t>)</a:t>
            </a:r>
            <a:endParaRPr lang="en-US" altLang="en-US" sz="2000" dirty="0">
              <a:latin typeface="Helvetica" panose="020B0604020202030204" pitchFamily="34" charset="0"/>
            </a:endParaRPr>
          </a:p>
          <a:p>
            <a:r>
              <a:rPr lang="en-US" altLang="en-US" sz="2000" b="1" dirty="0">
                <a:latin typeface="Helvetica" panose="020B0604020202030204" pitchFamily="34" charset="0"/>
              </a:rPr>
              <a:t>select </a:t>
            </a:r>
            <a:r>
              <a:rPr lang="en-US" altLang="en-US" sz="2000" i="1" dirty="0">
                <a:latin typeface="Helvetica" panose="020B0604020202030204" pitchFamily="34" charset="0"/>
              </a:rPr>
              <a:t>dept_name</a:t>
            </a:r>
            <a:endParaRPr lang="en-US" altLang="en-US" sz="2000" i="1" dirty="0">
              <a:latin typeface="Helvetica" panose="020B0604020202030204" pitchFamily="34" charset="0"/>
            </a:endParaRPr>
          </a:p>
          <a:p>
            <a:r>
              <a:rPr lang="en-US" altLang="en-US" sz="2000" b="1" dirty="0">
                <a:latin typeface="Helvetica" panose="020B0604020202030204" pitchFamily="34" charset="0"/>
              </a:rPr>
              <a:t>from </a:t>
            </a:r>
            <a:r>
              <a:rPr lang="en-US" altLang="en-US" sz="2000" i="1" dirty="0">
                <a:solidFill>
                  <a:srgbClr val="C00000"/>
                </a:solidFill>
                <a:latin typeface="Helvetica" panose="020B0604020202030204" pitchFamily="34" charset="0"/>
              </a:rPr>
              <a:t>dept_total</a:t>
            </a:r>
            <a:r>
              <a:rPr lang="en-US" altLang="en-US" sz="2000" dirty="0">
                <a:latin typeface="Helvetica" panose="020B0604020202030204" pitchFamily="34" charset="0"/>
              </a:rPr>
              <a:t>, </a:t>
            </a:r>
            <a:r>
              <a:rPr lang="en-US" altLang="en-US" sz="2000" i="1" dirty="0">
                <a:solidFill>
                  <a:srgbClr val="002060"/>
                </a:solidFill>
                <a:latin typeface="Helvetica" panose="020B0604020202030204" pitchFamily="34" charset="0"/>
              </a:rPr>
              <a:t>dept_total_avg</a:t>
            </a:r>
            <a:endParaRPr lang="en-US" altLang="en-US" sz="2000" i="1" dirty="0">
              <a:latin typeface="Helvetica" panose="020B0604020202030204" pitchFamily="34" charset="0"/>
            </a:endParaRPr>
          </a:p>
          <a:p>
            <a:r>
              <a:rPr lang="en-US" altLang="en-US" sz="2000" b="1" dirty="0">
                <a:latin typeface="Helvetica" panose="020B0604020202030204" pitchFamily="34" charset="0"/>
              </a:rPr>
              <a:t>where </a:t>
            </a:r>
            <a:r>
              <a:rPr lang="en-US" altLang="en-US" sz="2000" i="1" dirty="0">
                <a:latin typeface="Helvetica" panose="020B0604020202030204" pitchFamily="34" charset="0"/>
              </a:rPr>
              <a:t>dept_total.value </a:t>
            </a:r>
            <a:r>
              <a:rPr lang="en-US" altLang="en-US" sz="2000" dirty="0">
                <a:latin typeface="Helvetica" panose="020B0604020202030204" pitchFamily="34" charset="0"/>
              </a:rPr>
              <a:t>&gt; </a:t>
            </a:r>
            <a:r>
              <a:rPr lang="en-US" altLang="en-US" sz="2000" i="1" dirty="0">
                <a:latin typeface="Helvetica" panose="020B0604020202030204" pitchFamily="34" charset="0"/>
              </a:rPr>
              <a:t>dept_total_avg.value</a:t>
            </a:r>
            <a:r>
              <a:rPr lang="en-US" altLang="en-US" sz="2000" dirty="0">
                <a:latin typeface="Helvetica" panose="020B0604020202030204" pitchFamily="34" charset="0"/>
              </a:rPr>
              <a:t>;</a:t>
            </a:r>
            <a:endParaRPr lang="en-US" altLang="en-US" sz="2000" dirty="0">
              <a:latin typeface="Helvetica" panose="020B0604020202030204" pitchFamily="34" charset="0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1186815" y="2091055"/>
            <a:ext cx="4706620" cy="1255395"/>
          </a:xfrm>
          <a:prstGeom prst="roundRect">
            <a:avLst/>
          </a:prstGeom>
          <a:noFill/>
          <a:ln w="9525" cap="flat" cmpd="sng" algn="ctr">
            <a:solidFill>
              <a:schemeClr val="tx2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panose="020B060402020203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966460" y="2319020"/>
            <a:ext cx="3039110" cy="645160"/>
            <a:chOff x="9396" y="3652"/>
            <a:chExt cx="4786" cy="1016"/>
          </a:xfrm>
        </p:grpSpPr>
        <p:sp>
          <p:nvSpPr>
            <p:cNvPr id="3" name="文本框 2"/>
            <p:cNvSpPr txBox="1"/>
            <p:nvPr/>
          </p:nvSpPr>
          <p:spPr>
            <a:xfrm>
              <a:off x="10536" y="3652"/>
              <a:ext cx="3647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dirty="0">
                  <a:sym typeface="+mn-ea"/>
                </a:rPr>
                <a:t> total salary at all departments</a:t>
              </a:r>
              <a:endParaRPr lang="zh-CN" altLang="en-US"/>
            </a:p>
          </p:txBody>
        </p:sp>
        <p:sp>
          <p:nvSpPr>
            <p:cNvPr id="5" name="虚尾箭头 4"/>
            <p:cNvSpPr/>
            <p:nvPr/>
          </p:nvSpPr>
          <p:spPr>
            <a:xfrm rot="10800000">
              <a:off x="9396" y="3885"/>
              <a:ext cx="1055" cy="540"/>
            </a:xfrm>
            <a:prstGeom prst="striped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30204" pitchFamily="34" charset="0"/>
              </a:endParaRPr>
            </a:p>
          </p:txBody>
        </p:sp>
      </p:grpSp>
      <p:sp>
        <p:nvSpPr>
          <p:cNvPr id="7" name="圆角矩形 6"/>
          <p:cNvSpPr/>
          <p:nvPr/>
        </p:nvSpPr>
        <p:spPr>
          <a:xfrm>
            <a:off x="1184275" y="3346450"/>
            <a:ext cx="4706620" cy="926465"/>
          </a:xfrm>
          <a:prstGeom prst="roundRect">
            <a:avLst/>
          </a:prstGeom>
          <a:noFill/>
          <a:ln w="9525" cap="flat" cmpd="sng" algn="ctr">
            <a:solidFill>
              <a:schemeClr val="tx2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panose="020B060402020203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962015" y="3512185"/>
            <a:ext cx="2552065" cy="645160"/>
            <a:chOff x="9396" y="3652"/>
            <a:chExt cx="4019" cy="1016"/>
          </a:xfrm>
        </p:grpSpPr>
        <p:sp>
          <p:nvSpPr>
            <p:cNvPr id="9" name="文本框 8"/>
            <p:cNvSpPr txBox="1"/>
            <p:nvPr/>
          </p:nvSpPr>
          <p:spPr>
            <a:xfrm>
              <a:off x="10536" y="3652"/>
              <a:ext cx="2879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dirty="0">
                  <a:sym typeface="+mn-ea"/>
                </a:rPr>
                <a:t>average of the </a:t>
              </a:r>
              <a:r>
                <a:rPr lang="en-US" altLang="en-US" i="1" dirty="0">
                  <a:solidFill>
                    <a:srgbClr val="000099"/>
                  </a:solidFill>
                  <a:sym typeface="+mn-ea"/>
                </a:rPr>
                <a:t>dept_total</a:t>
              </a:r>
              <a:endParaRPr lang="zh-CN" altLang="en-US"/>
            </a:p>
          </p:txBody>
        </p:sp>
        <p:sp>
          <p:nvSpPr>
            <p:cNvPr id="10" name="虚尾箭头 9"/>
            <p:cNvSpPr/>
            <p:nvPr/>
          </p:nvSpPr>
          <p:spPr>
            <a:xfrm rot="10800000">
              <a:off x="9396" y="3885"/>
              <a:ext cx="1055" cy="540"/>
            </a:xfrm>
            <a:prstGeom prst="striped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7" grpId="0" animBg="1"/>
      <p:bldP spid="7" grpId="1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470150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Subqueries in the Select Clause</a:t>
            </a:r>
            <a:endParaRPr kumimoji="1" 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0419" name="Rectangle 3"/>
          <p:cNvSpPr>
            <a:spLocks noGrp="1"/>
          </p:cNvSpPr>
          <p:nvPr>
            <p:ph idx="1"/>
          </p:nvPr>
        </p:nvSpPr>
        <p:spPr>
          <a:xfrm>
            <a:off x="-496887" y="931863"/>
            <a:ext cx="2189162" cy="3097212"/>
          </a:xfrm>
        </p:spPr>
        <p:txBody>
          <a:bodyPr vert="horz" wrap="square" lIns="91440" tIns="45720" rIns="91440" bIns="45720" anchor="t"/>
          <a:lstStyle/>
          <a:p>
            <a:pPr defTabSz="0">
              <a:tabLst>
                <a:tab pos="1146175" algn="l"/>
                <a:tab pos="1608455" algn="l"/>
                <a:tab pos="1711325" algn="l"/>
              </a:tabLst>
            </a:pPr>
            <a:endParaRPr lang="en-US" altLang="en-US" dirty="0"/>
          </a:p>
          <a:p>
            <a:pPr defTabSz="0">
              <a:buNone/>
              <a:tabLst>
                <a:tab pos="1146175" algn="l"/>
                <a:tab pos="1608455" algn="l"/>
                <a:tab pos="1711325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Scalar Subquery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1443" name="Rectangle 3"/>
          <p:cNvSpPr>
            <a:spLocks noGrp="1"/>
          </p:cNvSpPr>
          <p:nvPr>
            <p:ph idx="1"/>
          </p:nvPr>
        </p:nvSpPr>
        <p:spPr>
          <a:xfrm>
            <a:off x="202565" y="1094105"/>
            <a:ext cx="8668385" cy="4903470"/>
          </a:xfrm>
        </p:spPr>
        <p:txBody>
          <a:bodyPr vert="horz" wrap="square" lIns="91440" tIns="45720" rIns="91440" bIns="45720" anchor="t"/>
          <a:lstStyle/>
          <a:p>
            <a:r>
              <a:rPr lang="en-US" altLang="en-US" dirty="0"/>
              <a:t>Scalar subquery is one which is used where a single value is expected</a:t>
            </a:r>
            <a:endParaRPr lang="en-US" altLang="en-US" dirty="0"/>
          </a:p>
          <a:p>
            <a:r>
              <a:rPr lang="en-US" altLang="en-US" dirty="0"/>
              <a:t>List all departments along with the number of instructors in each department</a:t>
            </a:r>
            <a:endParaRPr lang="en-US" altLang="en-US" dirty="0"/>
          </a:p>
          <a:p>
            <a:pPr>
              <a:buNone/>
            </a:pPr>
            <a:r>
              <a:rPr lang="en-US" altLang="en-US" b="1" dirty="0"/>
              <a:t>	select </a:t>
            </a:r>
            <a:r>
              <a:rPr lang="en-US" altLang="en-US" i="1" dirty="0"/>
              <a:t>dept_name</a:t>
            </a:r>
            <a:r>
              <a:rPr lang="en-US" altLang="en-US" dirty="0"/>
              <a:t>, ( </a:t>
            </a:r>
            <a:r>
              <a:rPr lang="en-US" altLang="en-US" b="1" dirty="0">
                <a:solidFill>
                  <a:srgbClr val="002060"/>
                </a:solidFill>
              </a:rPr>
              <a:t>select count</a:t>
            </a:r>
            <a:r>
              <a:rPr lang="en-US" altLang="en-US" dirty="0">
                <a:solidFill>
                  <a:srgbClr val="002060"/>
                </a:solidFill>
              </a:rPr>
              <a:t>(*)  </a:t>
            </a:r>
            <a:r>
              <a:rPr lang="en-US" altLang="en-US" b="1" dirty="0">
                <a:solidFill>
                  <a:srgbClr val="002060"/>
                </a:solidFill>
              </a:rPr>
              <a:t>from </a:t>
            </a:r>
            <a:r>
              <a:rPr lang="en-US" altLang="en-US" i="1" dirty="0">
                <a:solidFill>
                  <a:srgbClr val="002060"/>
                </a:solidFill>
              </a:rPr>
              <a:t>instructor </a:t>
            </a:r>
            <a:br>
              <a:rPr lang="en-US" altLang="en-US" i="1" dirty="0">
                <a:solidFill>
                  <a:srgbClr val="002060"/>
                </a:solidFill>
              </a:rPr>
            </a:br>
            <a:r>
              <a:rPr lang="en-US" altLang="en-US" i="1" dirty="0">
                <a:solidFill>
                  <a:srgbClr val="002060"/>
                </a:solidFill>
              </a:rPr>
              <a:t>                                  </a:t>
            </a:r>
            <a:r>
              <a:rPr lang="en-US" altLang="en-US" b="1" dirty="0">
                <a:solidFill>
                  <a:srgbClr val="002060"/>
                </a:solidFill>
              </a:rPr>
              <a:t>where </a:t>
            </a:r>
            <a:r>
              <a:rPr lang="en-US" altLang="en-US" i="1" dirty="0">
                <a:solidFill>
                  <a:srgbClr val="002060"/>
                </a:solidFill>
              </a:rPr>
              <a:t>department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  <a:r>
              <a:rPr lang="en-US" altLang="en-US" i="1" dirty="0">
                <a:solidFill>
                  <a:srgbClr val="002060"/>
                </a:solidFill>
              </a:rPr>
              <a:t>dept_name </a:t>
            </a:r>
            <a:r>
              <a:rPr lang="en-US" altLang="en-US" dirty="0">
                <a:solidFill>
                  <a:srgbClr val="002060"/>
                </a:solidFill>
              </a:rPr>
              <a:t>=                  </a:t>
            </a:r>
            <a:endParaRPr lang="en-US" altLang="en-US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altLang="en-US" dirty="0">
                <a:solidFill>
                  <a:srgbClr val="002060"/>
                </a:solidFill>
              </a:rPr>
              <a:t>                                                  </a:t>
            </a:r>
            <a:r>
              <a:rPr lang="en-US" altLang="en-US" i="1" dirty="0">
                <a:solidFill>
                  <a:srgbClr val="002060"/>
                </a:solidFill>
              </a:rPr>
              <a:t>instructor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  <a:r>
              <a:rPr lang="en-US" altLang="en-US" i="1" dirty="0">
                <a:solidFill>
                  <a:srgbClr val="002060"/>
                </a:solidFill>
              </a:rPr>
              <a:t>dept_name</a:t>
            </a:r>
            <a:r>
              <a:rPr lang="en-US" altLang="en-US" dirty="0"/>
              <a:t>)</a:t>
            </a:r>
            <a:br>
              <a:rPr lang="en-US" altLang="en-US" dirty="0"/>
            </a:br>
            <a:r>
              <a:rPr lang="en-US" altLang="en-US" dirty="0"/>
              <a:t>                                </a:t>
            </a:r>
            <a:r>
              <a:rPr lang="en-US" altLang="en-US" b="1" dirty="0"/>
              <a:t>as </a:t>
            </a:r>
            <a:r>
              <a:rPr lang="en-US" altLang="en-US" i="1" dirty="0">
                <a:solidFill>
                  <a:srgbClr val="C00000"/>
                </a:solidFill>
              </a:rPr>
              <a:t>num_instructors</a:t>
            </a:r>
            <a:br>
              <a:rPr lang="en-US" altLang="en-US" i="1" dirty="0"/>
            </a:br>
            <a:r>
              <a:rPr lang="en-US" altLang="en-US" b="1" dirty="0"/>
              <a:t>from </a:t>
            </a:r>
            <a:r>
              <a:rPr lang="en-US" altLang="en-US" i="1" dirty="0"/>
              <a:t>department</a:t>
            </a:r>
            <a:r>
              <a:rPr lang="en-US" altLang="en-US" dirty="0"/>
              <a:t>;</a:t>
            </a:r>
            <a:endParaRPr lang="en-US" altLang="en-US" dirty="0"/>
          </a:p>
          <a:p>
            <a:r>
              <a:rPr lang="en-US" altLang="en-US" b="1" i="1" u="sng" dirty="0">
                <a:solidFill>
                  <a:srgbClr val="002060"/>
                </a:solidFill>
              </a:rPr>
              <a:t>Runtime error if subquery returns more than one result tuple</a:t>
            </a:r>
            <a:endParaRPr lang="en-US" altLang="en-US" b="1" i="1" u="sng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2"/>
          <p:cNvSpPr>
            <a:spLocks noGrp="1" noChangeArrowheads="1"/>
          </p:cNvSpPr>
          <p:nvPr>
            <p:ph type="title"/>
          </p:nvPr>
        </p:nvSpPr>
        <p:spPr>
          <a:xfrm>
            <a:off x="909638" y="112713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Modification of the Database</a:t>
            </a:r>
            <a:endParaRPr kumimoji="1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2467" name="Rectangle 3"/>
          <p:cNvSpPr>
            <a:spLocks noGrp="1"/>
          </p:cNvSpPr>
          <p:nvPr>
            <p:ph idx="1"/>
          </p:nvPr>
        </p:nvSpPr>
        <p:spPr>
          <a:xfrm>
            <a:off x="962025" y="1363663"/>
            <a:ext cx="7747000" cy="3768725"/>
          </a:xfrm>
        </p:spPr>
        <p:txBody>
          <a:bodyPr vert="horz" wrap="square" lIns="91440" tIns="45720" rIns="91440" bIns="45720" anchor="t"/>
          <a:lstStyle/>
          <a:p>
            <a:pPr defTabSz="0">
              <a:tabLst>
                <a:tab pos="1652905" algn="l"/>
                <a:tab pos="2633980" algn="l"/>
              </a:tabLst>
            </a:pPr>
            <a:r>
              <a:rPr lang="en-US" altLang="en-US" dirty="0"/>
              <a:t>Deletion of tuples from a given relation.</a:t>
            </a:r>
            <a:endParaRPr lang="en-US" altLang="en-US" dirty="0">
              <a:latin typeface="Century Gothic" panose="020B0502020202020204" charset="0"/>
            </a:endParaRPr>
          </a:p>
          <a:p>
            <a:pPr defTabSz="0">
              <a:tabLst>
                <a:tab pos="1652905" algn="l"/>
                <a:tab pos="2633980" algn="l"/>
              </a:tabLst>
            </a:pPr>
            <a:r>
              <a:rPr lang="en-US" altLang="en-US" dirty="0"/>
              <a:t>Insertion of new tuples into a given relation</a:t>
            </a:r>
            <a:endParaRPr lang="en-US" altLang="en-US" dirty="0"/>
          </a:p>
          <a:p>
            <a:pPr defTabSz="0">
              <a:tabLst>
                <a:tab pos="1652905" algn="l"/>
                <a:tab pos="2633980" algn="l"/>
              </a:tabLst>
            </a:pPr>
            <a:r>
              <a:rPr lang="en-US" altLang="en-US" dirty="0"/>
              <a:t>Updating of values in some tuples in a given relation</a:t>
            </a:r>
            <a:endParaRPr lang="en-US" altLang="en-US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62" name="Rectangle 2"/>
          <p:cNvSpPr>
            <a:spLocks noGrp="1" noChangeArrowheads="1"/>
          </p:cNvSpPr>
          <p:nvPr>
            <p:ph type="title"/>
          </p:nvPr>
        </p:nvSpPr>
        <p:spPr>
          <a:xfrm>
            <a:off x="909638" y="33338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Deletion</a:t>
            </a:r>
            <a:endParaRPr kumimoji="1" lang="en-US" sz="4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3491" name="Rectangle 3"/>
          <p:cNvSpPr>
            <a:spLocks noGrp="1"/>
          </p:cNvSpPr>
          <p:nvPr>
            <p:ph idx="1"/>
          </p:nvPr>
        </p:nvSpPr>
        <p:spPr>
          <a:xfrm>
            <a:off x="291465" y="1106805"/>
            <a:ext cx="8853170" cy="5175250"/>
          </a:xfrm>
        </p:spPr>
        <p:txBody>
          <a:bodyPr vert="horz" wrap="square" lIns="91440" tIns="45720" rIns="91440" bIns="45720" anchor="t"/>
          <a:lstStyle/>
          <a:p>
            <a:pPr defTabSz="0">
              <a:tabLst>
                <a:tab pos="1652905" algn="l"/>
                <a:tab pos="2633980" algn="l"/>
              </a:tabLst>
            </a:pPr>
            <a:r>
              <a:rPr lang="en-US" altLang="en-US" dirty="0"/>
              <a:t>Delete all instructors</a:t>
            </a:r>
            <a:endParaRPr lang="en-US" altLang="en-US" dirty="0"/>
          </a:p>
          <a:p>
            <a:pPr defTabSz="0">
              <a:buNone/>
              <a:tabLst>
                <a:tab pos="1652905" algn="l"/>
                <a:tab pos="2633980" algn="l"/>
              </a:tabLst>
            </a:pPr>
            <a:r>
              <a:rPr lang="en-US" altLang="en-US" dirty="0"/>
              <a:t>	    </a:t>
            </a:r>
            <a:r>
              <a:rPr lang="en-US" altLang="en-US" b="1" dirty="0"/>
              <a:t>delete from </a:t>
            </a:r>
            <a:r>
              <a:rPr lang="en-US" altLang="en-US" i="1" dirty="0"/>
              <a:t>instructor</a:t>
            </a:r>
            <a:r>
              <a:rPr lang="en-US" altLang="en-US" dirty="0"/>
              <a:t> </a:t>
            </a:r>
            <a:endParaRPr lang="en-US" altLang="en-US" dirty="0"/>
          </a:p>
          <a:p>
            <a:pPr defTabSz="0">
              <a:tabLst>
                <a:tab pos="1652905" algn="l"/>
                <a:tab pos="2633980" algn="l"/>
              </a:tabLst>
            </a:pPr>
            <a:r>
              <a:rPr lang="en-US" altLang="en-US" dirty="0"/>
              <a:t>Delete all instructors from the Finance department</a:t>
            </a:r>
            <a:br>
              <a:rPr lang="en-US" altLang="en-US" dirty="0"/>
            </a:br>
            <a:r>
              <a:rPr lang="en-US" altLang="en-US" dirty="0"/>
              <a:t>    </a:t>
            </a:r>
            <a:r>
              <a:rPr lang="en-US" altLang="en-US" b="1" dirty="0"/>
              <a:t>delete from </a:t>
            </a:r>
            <a:r>
              <a:rPr lang="en-US" altLang="en-US" i="1" dirty="0"/>
              <a:t>instructor </a:t>
            </a:r>
            <a:r>
              <a:rPr lang="en-US" altLang="en-US" b="1" dirty="0"/>
              <a:t>where </a:t>
            </a:r>
            <a:r>
              <a:rPr lang="en-US" altLang="en-US" i="1" dirty="0"/>
              <a:t>dept_name</a:t>
            </a:r>
            <a:r>
              <a:rPr lang="en-US" altLang="en-US" dirty="0"/>
              <a:t>= ’Finance’;</a:t>
            </a:r>
            <a:endParaRPr lang="en-US" altLang="en-US" dirty="0"/>
          </a:p>
          <a:p>
            <a:pPr defTabSz="0">
              <a:tabLst>
                <a:tab pos="1652905" algn="l"/>
                <a:tab pos="2633980" algn="l"/>
              </a:tabLst>
            </a:pPr>
            <a:r>
              <a:rPr lang="en-US" altLang="en-US" dirty="0"/>
              <a:t>Delete all tuples in the </a:t>
            </a:r>
            <a:r>
              <a:rPr lang="en-US" altLang="en-US" i="1" dirty="0"/>
              <a:t>instructor </a:t>
            </a:r>
            <a:r>
              <a:rPr lang="en-US" altLang="en-US" dirty="0"/>
              <a:t>relation for those instructors associated with a department located in the Watson building.</a:t>
            </a:r>
            <a:endParaRPr lang="en-US" altLang="en-US" dirty="0"/>
          </a:p>
          <a:p>
            <a:pPr defTabSz="0">
              <a:buNone/>
              <a:tabLst>
                <a:tab pos="1652905" algn="l"/>
                <a:tab pos="2633980" algn="l"/>
              </a:tabLst>
            </a:pPr>
            <a:r>
              <a:rPr lang="en-US" altLang="en-US" b="1" dirty="0"/>
              <a:t>	    delete from </a:t>
            </a:r>
            <a:r>
              <a:rPr lang="en-US" altLang="en-US" i="1" dirty="0"/>
              <a:t>instructor</a:t>
            </a:r>
            <a:br>
              <a:rPr lang="en-US" altLang="en-US" i="1" dirty="0"/>
            </a:br>
            <a:r>
              <a:rPr lang="en-US" altLang="en-US" i="1" dirty="0"/>
              <a:t>    </a:t>
            </a:r>
            <a:r>
              <a:rPr lang="en-US" altLang="en-US" b="1" dirty="0"/>
              <a:t>where </a:t>
            </a:r>
            <a:r>
              <a:rPr lang="en-US" altLang="en-US" i="1" dirty="0"/>
              <a:t>dept name </a:t>
            </a:r>
            <a:r>
              <a:rPr lang="en-US" altLang="en-US" b="1" dirty="0"/>
              <a:t>in </a:t>
            </a:r>
            <a:r>
              <a:rPr lang="en-US" altLang="en-US" dirty="0"/>
              <a:t>( </a:t>
            </a:r>
            <a:r>
              <a:rPr lang="en-US" altLang="en-US" b="1" dirty="0"/>
              <a:t>select </a:t>
            </a:r>
            <a:r>
              <a:rPr lang="en-US" altLang="en-US" i="1" dirty="0"/>
              <a:t>dept name</a:t>
            </a:r>
            <a:br>
              <a:rPr lang="en-US" altLang="en-US" i="1" dirty="0"/>
            </a:br>
            <a:r>
              <a:rPr lang="en-US" altLang="en-US" i="1" dirty="0"/>
              <a:t>                                        </a:t>
            </a:r>
            <a:r>
              <a:rPr lang="en-US" altLang="en-US" b="1" dirty="0"/>
              <a:t>from </a:t>
            </a:r>
            <a:r>
              <a:rPr lang="en-US" altLang="en-US" i="1" dirty="0"/>
              <a:t>department</a:t>
            </a:r>
            <a:br>
              <a:rPr lang="en-US" altLang="en-US" i="1" dirty="0"/>
            </a:br>
            <a:r>
              <a:rPr lang="en-US" altLang="en-US" i="1" dirty="0"/>
              <a:t>                                        </a:t>
            </a:r>
            <a:r>
              <a:rPr lang="en-US" altLang="en-US" b="1" dirty="0"/>
              <a:t>where </a:t>
            </a:r>
            <a:r>
              <a:rPr lang="en-US" altLang="en-US" i="1" dirty="0"/>
              <a:t>building </a:t>
            </a:r>
            <a:r>
              <a:rPr lang="en-US" altLang="en-US" dirty="0"/>
              <a:t>= ’Watson’);</a:t>
            </a:r>
            <a:endParaRPr lang="en-US" altLang="en-US" dirty="0"/>
          </a:p>
          <a:p>
            <a:pPr defTabSz="0">
              <a:tabLst>
                <a:tab pos="1652905" algn="l"/>
                <a:tab pos="2633980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Deletion (Cont.)</a:t>
            </a:r>
            <a:endParaRPr kumimoji="1" lang="en-US" sz="4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4515" name="Rectangle 3"/>
          <p:cNvSpPr>
            <a:spLocks noGrp="1"/>
          </p:cNvSpPr>
          <p:nvPr>
            <p:ph idx="1"/>
          </p:nvPr>
        </p:nvSpPr>
        <p:spPr>
          <a:xfrm>
            <a:off x="227330" y="1109980"/>
            <a:ext cx="8665210" cy="1887855"/>
          </a:xfrm>
        </p:spPr>
        <p:txBody>
          <a:bodyPr vert="horz" wrap="square" lIns="91440" tIns="45720" rIns="91440" bIns="45720" anchor="t"/>
          <a:lstStyle/>
          <a:p>
            <a:pPr defTabSz="0">
              <a:tabLst>
                <a:tab pos="1370330" algn="l"/>
                <a:tab pos="3140075" algn="l"/>
              </a:tabLst>
            </a:pPr>
            <a:r>
              <a:rPr lang="en-US" altLang="en-US" dirty="0"/>
              <a:t>Delete all instructors whose salary is less than the average salary of instructors</a:t>
            </a:r>
            <a:endParaRPr lang="en-US" altLang="en-US" dirty="0"/>
          </a:p>
        </p:txBody>
      </p:sp>
      <p:sp>
        <p:nvSpPr>
          <p:cNvPr id="64516" name="Text Box 4"/>
          <p:cNvSpPr txBox="1"/>
          <p:nvPr/>
        </p:nvSpPr>
        <p:spPr>
          <a:xfrm>
            <a:off x="1549400" y="1924050"/>
            <a:ext cx="7415213" cy="1016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en-US" sz="2000" b="1" dirty="0">
                <a:latin typeface="Helvetica" panose="020B0604020202030204" pitchFamily="34" charset="0"/>
              </a:rPr>
              <a:t>delete from </a:t>
            </a:r>
            <a:r>
              <a:rPr lang="en-US" altLang="en-US" sz="2000" i="1" dirty="0">
                <a:latin typeface="Helvetica" panose="020B0604020202030204" pitchFamily="34" charset="0"/>
              </a:rPr>
              <a:t>instructor</a:t>
            </a:r>
            <a:endParaRPr lang="en-US" altLang="en-US" sz="2000" i="1" dirty="0">
              <a:latin typeface="Helvetica" panose="020B0604020202030204" pitchFamily="34" charset="0"/>
            </a:endParaRPr>
          </a:p>
          <a:p>
            <a:r>
              <a:rPr lang="en-US" altLang="en-US" sz="2000" b="1" dirty="0">
                <a:latin typeface="Helvetica" panose="020B0604020202030204" pitchFamily="34" charset="0"/>
              </a:rPr>
              <a:t>where </a:t>
            </a:r>
            <a:r>
              <a:rPr lang="en-US" altLang="en-US" sz="2000" i="1" dirty="0">
                <a:latin typeface="Helvetica" panose="020B0604020202030204" pitchFamily="34" charset="0"/>
              </a:rPr>
              <a:t>salary </a:t>
            </a:r>
            <a:r>
              <a:rPr lang="en-US" altLang="en-US" sz="2000" dirty="0">
                <a:latin typeface="Helvetica" panose="020B0604020202030204" pitchFamily="34" charset="0"/>
              </a:rPr>
              <a:t>&lt; (</a:t>
            </a:r>
            <a:r>
              <a:rPr lang="en-US" altLang="en-US" sz="2000" b="1" dirty="0">
                <a:latin typeface="Helvetica" panose="020B0604020202030204" pitchFamily="34" charset="0"/>
              </a:rPr>
              <a:t>select avg </a:t>
            </a:r>
            <a:r>
              <a:rPr lang="en-US" altLang="en-US" sz="2000" dirty="0">
                <a:latin typeface="Helvetica" panose="020B0604020202030204" pitchFamily="34" charset="0"/>
              </a:rPr>
              <a:t>(</a:t>
            </a:r>
            <a:r>
              <a:rPr lang="en-US" altLang="en-US" sz="2000" i="1" dirty="0">
                <a:latin typeface="Helvetica" panose="020B0604020202030204" pitchFamily="34" charset="0"/>
              </a:rPr>
              <a:t>salary</a:t>
            </a:r>
            <a:r>
              <a:rPr lang="en-US" altLang="en-US" sz="2000" dirty="0">
                <a:latin typeface="Helvetica" panose="020B0604020202030204" pitchFamily="34" charset="0"/>
              </a:rPr>
              <a:t>) </a:t>
            </a:r>
            <a:endParaRPr lang="en-US" altLang="en-US" sz="2000" dirty="0">
              <a:latin typeface="Helvetica" panose="020B0604020202030204" pitchFamily="34" charset="0"/>
            </a:endParaRPr>
          </a:p>
          <a:p>
            <a:r>
              <a:rPr lang="en-US" altLang="en-US" sz="2000" b="1" dirty="0">
                <a:latin typeface="Helvetica" panose="020B0604020202030204" pitchFamily="34" charset="0"/>
              </a:rPr>
              <a:t>                           from </a:t>
            </a:r>
            <a:r>
              <a:rPr lang="en-US" altLang="en-US" sz="2000" i="1" dirty="0">
                <a:latin typeface="Helvetica" panose="020B0604020202030204" pitchFamily="34" charset="0"/>
              </a:rPr>
              <a:t>instructor</a:t>
            </a:r>
            <a:r>
              <a:rPr lang="en-US" altLang="en-US" sz="2000" dirty="0">
                <a:latin typeface="Helvetica" panose="020B0604020202030204" pitchFamily="34" charset="0"/>
              </a:rPr>
              <a:t>);</a:t>
            </a:r>
            <a:endParaRPr lang="en-US" altLang="en-US" sz="2000" dirty="0">
              <a:latin typeface="Helvetica" panose="020B0604020202030204" pitchFamily="34" charset="0"/>
            </a:endParaRPr>
          </a:p>
        </p:txBody>
      </p:sp>
      <p:sp>
        <p:nvSpPr>
          <p:cNvPr id="64517" name="Text Box 5"/>
          <p:cNvSpPr txBox="1"/>
          <p:nvPr/>
        </p:nvSpPr>
        <p:spPr>
          <a:xfrm>
            <a:off x="74930" y="2997835"/>
            <a:ext cx="9003665" cy="28225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793750" lvl="1" indent="-336550">
              <a:spcBef>
                <a:spcPct val="35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Problem</a:t>
            </a:r>
            <a:r>
              <a:rPr lang="en-US" altLang="en-US" sz="2400" dirty="0">
                <a:latin typeface="Arial" panose="020B0604020202020204" pitchFamily="34" charset="0"/>
              </a:rPr>
              <a:t>:  as we delete tuples from deposit, the average salary changes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793750" lvl="1" indent="-336550">
              <a:spcBef>
                <a:spcPct val="35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en-US" sz="2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Solution</a:t>
            </a:r>
            <a:r>
              <a:rPr lang="en-US" altLang="en-US" sz="2400" dirty="0">
                <a:latin typeface="Arial" panose="020B0604020202020204" pitchFamily="34" charset="0"/>
              </a:rPr>
              <a:t> used in SQL: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793750" lvl="1" indent="-336550">
              <a:spcBef>
                <a:spcPct val="35000"/>
              </a:spcBef>
              <a:buClr>
                <a:srgbClr val="CC6600"/>
              </a:buClr>
              <a:buSzPct val="105000"/>
              <a:buFont typeface="Monotype Sorts" pitchFamily="2" charset="2"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1.   First, compute </a:t>
            </a:r>
            <a:r>
              <a:rPr lang="en-US" altLang="en-US" sz="2400" b="1" dirty="0">
                <a:latin typeface="Arial" panose="020B0604020202020204" pitchFamily="34" charset="0"/>
              </a:rPr>
              <a:t>avg</a:t>
            </a:r>
            <a:r>
              <a:rPr lang="en-US" altLang="en-US" sz="2400" dirty="0">
                <a:latin typeface="Arial" panose="020B0604020202020204" pitchFamily="34" charset="0"/>
              </a:rPr>
              <a:t> (salary) and find all tuples to delete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793750" lvl="1" indent="-336550">
              <a:spcBef>
                <a:spcPct val="35000"/>
              </a:spcBef>
              <a:buClr>
                <a:srgbClr val="CC6600"/>
              </a:buClr>
              <a:buSzPct val="105000"/>
              <a:buFont typeface="Monotype Sorts" pitchFamily="2" charset="2"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2.   Next, delete all tuples found above (without 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793750" lvl="1" indent="-336550">
              <a:spcBef>
                <a:spcPct val="35000"/>
              </a:spcBef>
              <a:buClr>
                <a:srgbClr val="CC6600"/>
              </a:buClr>
              <a:buSzPct val="105000"/>
              <a:buFont typeface="Monotype Sorts" pitchFamily="2" charset="2"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             recomputing  </a:t>
            </a:r>
            <a:r>
              <a:rPr lang="en-US" altLang="en-US" sz="2400" b="1" dirty="0">
                <a:latin typeface="Arial" panose="020B0604020202020204" pitchFamily="34" charset="0"/>
              </a:rPr>
              <a:t>avg</a:t>
            </a:r>
            <a:r>
              <a:rPr lang="en-US" altLang="en-US" sz="2400" dirty="0">
                <a:latin typeface="Arial" panose="020B0604020202020204" pitchFamily="34" charset="0"/>
              </a:rPr>
              <a:t> or retesting the tuples) 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 2"/>
          <p:cNvSpPr>
            <a:spLocks noGrp="1" noChangeArrowheads="1"/>
          </p:cNvSpPr>
          <p:nvPr>
            <p:ph type="title"/>
          </p:nvPr>
        </p:nvSpPr>
        <p:spPr>
          <a:xfrm>
            <a:off x="970280" y="113665"/>
            <a:ext cx="8077200" cy="62166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Insertion</a:t>
            </a:r>
            <a:endParaRPr kumimoji="1" lang="en-US" sz="4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5539" name="Rectangle 3"/>
          <p:cNvSpPr>
            <a:spLocks noGrp="1"/>
          </p:cNvSpPr>
          <p:nvPr>
            <p:ph idx="1"/>
          </p:nvPr>
        </p:nvSpPr>
        <p:spPr>
          <a:xfrm>
            <a:off x="129540" y="1106805"/>
            <a:ext cx="8749030" cy="4876800"/>
          </a:xfrm>
        </p:spPr>
        <p:txBody>
          <a:bodyPr vert="horz" wrap="square" lIns="91440" tIns="45720" rIns="91440" bIns="45720" anchor="t"/>
          <a:lstStyle/>
          <a:p>
            <a:pPr defTabSz="0">
              <a:tabLst>
                <a:tab pos="1205230" algn="l"/>
                <a:tab pos="1891030" algn="l"/>
              </a:tabLst>
            </a:pPr>
            <a:r>
              <a:rPr lang="en-US" altLang="en-US" dirty="0"/>
              <a:t>Add a new tuple to </a:t>
            </a:r>
            <a:r>
              <a:rPr lang="en-US" altLang="en-US" i="1" dirty="0"/>
              <a:t>course</a:t>
            </a:r>
            <a:endParaRPr lang="en-US" altLang="en-US" i="1" dirty="0"/>
          </a:p>
          <a:p>
            <a:pPr defTabSz="0">
              <a:buNone/>
              <a:tabLst>
                <a:tab pos="1205230" algn="l"/>
                <a:tab pos="1891030" algn="l"/>
              </a:tabLst>
            </a:pPr>
            <a:r>
              <a:rPr lang="en-US" altLang="en-US" b="1" dirty="0"/>
              <a:t>	      insert into </a:t>
            </a:r>
            <a:r>
              <a:rPr lang="en-US" altLang="en-US" i="1" dirty="0"/>
              <a:t>course</a:t>
            </a:r>
            <a:br>
              <a:rPr lang="en-US" altLang="en-US" i="1" dirty="0"/>
            </a:br>
            <a:r>
              <a:rPr lang="en-US" altLang="en-US" i="1" dirty="0"/>
              <a:t>      </a:t>
            </a:r>
            <a:r>
              <a:rPr lang="en-US" altLang="en-US" b="1" dirty="0"/>
              <a:t>values </a:t>
            </a:r>
            <a:r>
              <a:rPr lang="en-US" altLang="en-US" dirty="0"/>
              <a:t>(’CS-437’, ’Database Systems’, ’Comp. Sci.’, 4);</a:t>
            </a:r>
            <a:endParaRPr lang="en-US" altLang="en-US" dirty="0"/>
          </a:p>
          <a:p>
            <a:pPr defTabSz="0">
              <a:tabLst>
                <a:tab pos="1205230" algn="l"/>
                <a:tab pos="1891030" algn="l"/>
              </a:tabLst>
            </a:pPr>
            <a:r>
              <a:rPr lang="en-US" altLang="en-US" dirty="0"/>
              <a:t>or equivalently</a:t>
            </a:r>
            <a:br>
              <a:rPr lang="en-US" altLang="en-US" dirty="0"/>
            </a:br>
            <a:r>
              <a:rPr lang="en-US" altLang="en-US" dirty="0"/>
              <a:t>      </a:t>
            </a:r>
            <a:r>
              <a:rPr lang="en-US" altLang="en-US" b="1" dirty="0">
                <a:solidFill>
                  <a:schemeClr val="bg1">
                    <a:lumMod val="50000"/>
                  </a:schemeClr>
                </a:solidFill>
              </a:rPr>
              <a:t>insert into </a:t>
            </a:r>
            <a:r>
              <a:rPr lang="en-US" altLang="en-US" i="1" dirty="0">
                <a:solidFill>
                  <a:schemeClr val="bg1">
                    <a:lumMod val="50000"/>
                  </a:schemeClr>
                </a:solidFill>
              </a:rPr>
              <a:t>course </a:t>
            </a:r>
            <a:r>
              <a:rPr lang="en-US" altLang="en-US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altLang="en-US" i="1" dirty="0">
                <a:solidFill>
                  <a:schemeClr val="bg1">
                    <a:lumMod val="50000"/>
                  </a:schemeClr>
                </a:solidFill>
              </a:rPr>
              <a:t>course_id</a:t>
            </a:r>
            <a:r>
              <a:rPr lang="en-US" altLang="en-US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altLang="en-US" i="1" dirty="0">
                <a:solidFill>
                  <a:schemeClr val="bg1">
                    <a:lumMod val="50000"/>
                  </a:schemeClr>
                </a:solidFill>
              </a:rPr>
              <a:t>title</a:t>
            </a:r>
            <a:r>
              <a:rPr lang="en-US" altLang="en-US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altLang="en-US" i="1" dirty="0">
                <a:solidFill>
                  <a:schemeClr val="bg1">
                    <a:lumMod val="50000"/>
                  </a:schemeClr>
                </a:solidFill>
              </a:rPr>
              <a:t>dept_name</a:t>
            </a:r>
            <a:r>
              <a:rPr lang="en-US" altLang="en-US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altLang="en-US" i="1" dirty="0">
                <a:solidFill>
                  <a:schemeClr val="bg1">
                    <a:lumMod val="50000"/>
                  </a:schemeClr>
                </a:solidFill>
              </a:rPr>
              <a:t>credits</a:t>
            </a:r>
            <a:r>
              <a:rPr lang="en-US" altLang="en-US" dirty="0">
                <a:solidFill>
                  <a:schemeClr val="bg1">
                    <a:lumMod val="50000"/>
                  </a:schemeClr>
                </a:solidFill>
              </a:rPr>
              <a:t>)</a:t>
            </a:r>
            <a:br>
              <a:rPr lang="en-US" altLang="en-US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altLang="en-US" dirty="0">
                <a:solidFill>
                  <a:schemeClr val="bg1">
                    <a:lumMod val="50000"/>
                  </a:schemeClr>
                </a:solidFill>
              </a:rPr>
              <a:t>      </a:t>
            </a:r>
            <a:r>
              <a:rPr lang="en-US" altLang="en-US" b="1" dirty="0">
                <a:solidFill>
                  <a:schemeClr val="bg1">
                    <a:lumMod val="50000"/>
                  </a:schemeClr>
                </a:solidFill>
              </a:rPr>
              <a:t>values </a:t>
            </a:r>
            <a:r>
              <a:rPr lang="en-US" altLang="en-US" dirty="0">
                <a:solidFill>
                  <a:schemeClr val="bg1">
                    <a:lumMod val="50000"/>
                  </a:schemeClr>
                </a:solidFill>
              </a:rPr>
              <a:t>(’CS-437’, ’Database Systems’, ’Comp. Sci.’, 4);</a:t>
            </a:r>
            <a:endParaRPr lang="en-US" altLang="en-US" dirty="0">
              <a:solidFill>
                <a:schemeClr val="bg1">
                  <a:lumMod val="50000"/>
                </a:schemeClr>
              </a:solidFill>
            </a:endParaRPr>
          </a:p>
          <a:p>
            <a:pPr defTabSz="0">
              <a:tabLst>
                <a:tab pos="1205230" algn="l"/>
                <a:tab pos="1891030" algn="l"/>
              </a:tabLst>
            </a:pPr>
            <a:r>
              <a:rPr lang="en-US" altLang="en-US" dirty="0"/>
              <a:t>Add a new tuple to </a:t>
            </a:r>
            <a:r>
              <a:rPr lang="en-US" altLang="en-US" i="1" dirty="0"/>
              <a:t>student  </a:t>
            </a:r>
            <a:r>
              <a:rPr lang="en-US" altLang="en-US" dirty="0"/>
              <a:t>with </a:t>
            </a:r>
            <a:r>
              <a:rPr lang="en-US" altLang="en-US" i="1" dirty="0"/>
              <a:t>tot_creds </a:t>
            </a:r>
            <a:r>
              <a:rPr lang="en-US" altLang="en-US" dirty="0">
                <a:solidFill>
                  <a:schemeClr val="tx2"/>
                </a:solidFill>
              </a:rPr>
              <a:t>set to null</a:t>
            </a:r>
            <a:endParaRPr lang="en-US" altLang="en-US" dirty="0"/>
          </a:p>
          <a:p>
            <a:pPr defTabSz="0">
              <a:buNone/>
              <a:tabLst>
                <a:tab pos="1205230" algn="l"/>
                <a:tab pos="1891030" algn="l"/>
              </a:tabLst>
            </a:pPr>
            <a:r>
              <a:rPr lang="en-US" altLang="en-US" b="1" dirty="0"/>
              <a:t>	      insert into </a:t>
            </a:r>
            <a:r>
              <a:rPr lang="en-US" altLang="en-US" i="1" dirty="0"/>
              <a:t>student</a:t>
            </a:r>
            <a:br>
              <a:rPr lang="en-US" altLang="en-US" i="1" dirty="0"/>
            </a:br>
            <a:r>
              <a:rPr lang="en-US" altLang="en-US" i="1" dirty="0"/>
              <a:t>      </a:t>
            </a:r>
            <a:r>
              <a:rPr lang="en-US" altLang="en-US" b="1" dirty="0"/>
              <a:t>values </a:t>
            </a:r>
            <a:r>
              <a:rPr lang="en-US" altLang="en-US" dirty="0"/>
              <a:t>(’3003’, ’Green’, ’Finance’, </a:t>
            </a:r>
            <a:r>
              <a:rPr lang="en-US" altLang="en-US" i="1" dirty="0"/>
              <a:t>null</a:t>
            </a:r>
            <a:r>
              <a:rPr lang="en-US" altLang="en-US" dirty="0"/>
              <a:t>);</a:t>
            </a:r>
            <a:endParaRPr lang="en-US" altLang="en-US" dirty="0"/>
          </a:p>
          <a:p>
            <a:pPr defTabSz="0">
              <a:buNone/>
              <a:tabLst>
                <a:tab pos="1205230" algn="l"/>
                <a:tab pos="1891030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89000" y="44450"/>
            <a:ext cx="8058150" cy="70294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Insertion (Cont.)</a:t>
            </a:r>
            <a:endParaRPr kumimoji="1" lang="en-US" sz="4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6563" name="Rectangle 3"/>
          <p:cNvSpPr>
            <a:spLocks noGrp="1"/>
          </p:cNvSpPr>
          <p:nvPr>
            <p:ph idx="1"/>
          </p:nvPr>
        </p:nvSpPr>
        <p:spPr>
          <a:xfrm>
            <a:off x="277495" y="1106805"/>
            <a:ext cx="8577580" cy="5270500"/>
          </a:xfrm>
        </p:spPr>
        <p:txBody>
          <a:bodyPr vert="horz" wrap="square" lIns="91440" tIns="45720" rIns="91440" bIns="45720" anchor="t"/>
          <a:lstStyle/>
          <a:p>
            <a:pPr defTabSz="0">
              <a:tabLst>
                <a:tab pos="908050" algn="l"/>
              </a:tabLst>
            </a:pPr>
            <a:r>
              <a:rPr lang="en-US" altLang="en-US" dirty="0"/>
              <a:t>Add all instructors to the </a:t>
            </a:r>
            <a:r>
              <a:rPr lang="en-US" altLang="en-US" i="1" dirty="0"/>
              <a:t>student</a:t>
            </a:r>
            <a:r>
              <a:rPr lang="en-US" altLang="en-US" dirty="0"/>
              <a:t>  relation with </a:t>
            </a:r>
            <a:r>
              <a:rPr lang="en-US" altLang="en-US" dirty="0">
                <a:solidFill>
                  <a:schemeClr val="tx2"/>
                </a:solidFill>
              </a:rPr>
              <a:t>tot_creds set to 0</a:t>
            </a:r>
            <a:endParaRPr lang="en-US" altLang="en-US" dirty="0">
              <a:solidFill>
                <a:schemeClr val="tx2"/>
              </a:solidFill>
            </a:endParaRPr>
          </a:p>
          <a:p>
            <a:pPr defTabSz="0">
              <a:buNone/>
              <a:tabLst>
                <a:tab pos="908050" algn="l"/>
              </a:tabLst>
            </a:pPr>
            <a:r>
              <a:rPr lang="en-US" altLang="en-US" dirty="0"/>
              <a:t>	    </a:t>
            </a:r>
            <a:r>
              <a:rPr lang="en-US" altLang="en-US" b="1" dirty="0"/>
              <a:t>insert into </a:t>
            </a:r>
            <a:r>
              <a:rPr lang="en-US" altLang="en-US" i="1" dirty="0"/>
              <a:t>student</a:t>
            </a:r>
            <a:br>
              <a:rPr lang="en-US" altLang="en-US" i="1" dirty="0"/>
            </a:br>
            <a:r>
              <a:rPr lang="en-US" altLang="en-US" i="1" dirty="0"/>
              <a:t>    </a:t>
            </a:r>
            <a:r>
              <a:rPr lang="en-US" altLang="en-US" b="1" dirty="0"/>
              <a:t>select </a:t>
            </a:r>
            <a:r>
              <a:rPr lang="en-US" altLang="en-US" i="1" dirty="0"/>
              <a:t>ID, name, dept_name, </a:t>
            </a:r>
            <a:r>
              <a:rPr lang="en-US" altLang="en-US" i="1" dirty="0">
                <a:solidFill>
                  <a:schemeClr val="tx2"/>
                </a:solidFill>
              </a:rPr>
              <a:t>0</a:t>
            </a:r>
            <a:br>
              <a:rPr lang="en-US" altLang="en-US" i="1" dirty="0"/>
            </a:br>
            <a:r>
              <a:rPr lang="en-US" altLang="en-US" i="1" dirty="0"/>
              <a:t>    </a:t>
            </a:r>
            <a:r>
              <a:rPr lang="en-US" altLang="en-US" b="1" dirty="0"/>
              <a:t>from </a:t>
            </a:r>
            <a:r>
              <a:rPr lang="en-US" altLang="en-US" i="1" dirty="0"/>
              <a:t>  instructor</a:t>
            </a:r>
            <a:endParaRPr lang="en-US" altLang="en-US" i="1" dirty="0"/>
          </a:p>
          <a:p>
            <a:pPr defTabSz="0">
              <a:buNone/>
              <a:tabLst>
                <a:tab pos="908050" algn="l"/>
              </a:tabLst>
            </a:pPr>
            <a:endParaRPr lang="en-US" altLang="en-US" i="1" dirty="0"/>
          </a:p>
          <a:p>
            <a:pPr defTabSz="0">
              <a:tabLst>
                <a:tab pos="908050" algn="l"/>
              </a:tabLst>
            </a:pPr>
            <a:r>
              <a:rPr lang="en-US" altLang="en-US" dirty="0"/>
              <a:t>The </a:t>
            </a:r>
            <a:r>
              <a:rPr lang="en-US" altLang="en-US" b="1" dirty="0">
                <a:solidFill>
                  <a:schemeClr val="bg1">
                    <a:lumMod val="50000"/>
                  </a:schemeClr>
                </a:solidFill>
              </a:rPr>
              <a:t>select from where</a:t>
            </a:r>
            <a:r>
              <a:rPr lang="en-US" altLang="en-US" dirty="0"/>
              <a:t> statement is evaluated fully before any of its results are inserted into the relation.  </a:t>
            </a:r>
            <a:endParaRPr lang="en-US" altLang="en-US" dirty="0"/>
          </a:p>
          <a:p>
            <a:pPr defTabSz="0">
              <a:buNone/>
              <a:tabLst>
                <a:tab pos="908050" algn="l"/>
              </a:tabLst>
            </a:pPr>
            <a:r>
              <a:rPr lang="en-US" altLang="en-US" dirty="0"/>
              <a:t>     </a:t>
            </a:r>
            <a:r>
              <a:rPr lang="en-US" altLang="en-US" dirty="0">
                <a:solidFill>
                  <a:schemeClr val="tx2"/>
                </a:solidFill>
              </a:rPr>
              <a:t>Otherwise queries like</a:t>
            </a:r>
            <a:endParaRPr lang="en-US" altLang="en-US" dirty="0">
              <a:solidFill>
                <a:schemeClr val="tx2"/>
              </a:solidFill>
            </a:endParaRPr>
          </a:p>
          <a:p>
            <a:pPr defTabSz="0">
              <a:buNone/>
              <a:tabLst>
                <a:tab pos="908050" algn="l"/>
              </a:tabLst>
            </a:pPr>
            <a:r>
              <a:rPr lang="en-US" altLang="en-US" dirty="0"/>
              <a:t>       	</a:t>
            </a:r>
            <a:r>
              <a:rPr lang="en-US" altLang="en-US" b="1" dirty="0"/>
              <a:t>insert into</a:t>
            </a:r>
            <a:r>
              <a:rPr lang="en-US" altLang="en-US" dirty="0"/>
              <a:t> </a:t>
            </a:r>
            <a:r>
              <a:rPr lang="en-US" altLang="en-US" i="1" dirty="0"/>
              <a:t>table</a:t>
            </a:r>
            <a:r>
              <a:rPr lang="en-US" altLang="en-US" dirty="0"/>
              <a:t>1 </a:t>
            </a:r>
            <a:r>
              <a:rPr lang="en-US" altLang="en-US" b="1" dirty="0"/>
              <a:t>select</a:t>
            </a:r>
            <a:r>
              <a:rPr lang="en-US" altLang="en-US" dirty="0"/>
              <a:t> * </a:t>
            </a:r>
            <a:r>
              <a:rPr lang="en-US" altLang="en-US" b="1" dirty="0"/>
              <a:t>from</a:t>
            </a:r>
            <a:r>
              <a:rPr lang="en-US" altLang="en-US" dirty="0"/>
              <a:t> </a:t>
            </a:r>
            <a:r>
              <a:rPr lang="en-US" altLang="en-US" i="1" dirty="0"/>
              <a:t>table</a:t>
            </a:r>
            <a:r>
              <a:rPr lang="en-US" altLang="en-US" dirty="0"/>
              <a:t>1</a:t>
            </a:r>
            <a:endParaRPr lang="en-US" altLang="en-US" dirty="0"/>
          </a:p>
          <a:p>
            <a:pPr defTabSz="0">
              <a:buNone/>
              <a:tabLst>
                <a:tab pos="908050" algn="l"/>
              </a:tabLst>
            </a:pPr>
            <a:r>
              <a:rPr lang="en-US" altLang="en-US" dirty="0"/>
              <a:t>       would cause problem</a:t>
            </a:r>
            <a:endParaRPr lang="en-US" altLang="en-US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>
          <a:xfrm>
            <a:off x="881063" y="123825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Updates</a:t>
            </a:r>
            <a:endParaRPr kumimoji="1" lang="en-US" sz="4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7587" name="Rectangle 3"/>
          <p:cNvSpPr>
            <a:spLocks noGrp="1"/>
          </p:cNvSpPr>
          <p:nvPr>
            <p:ph idx="1"/>
          </p:nvPr>
        </p:nvSpPr>
        <p:spPr>
          <a:xfrm>
            <a:off x="221615" y="1154430"/>
            <a:ext cx="8736330" cy="4876800"/>
          </a:xfrm>
        </p:spPr>
        <p:txBody>
          <a:bodyPr vert="horz" wrap="square" lIns="91440" tIns="45720" rIns="91440" bIns="45720" anchor="t"/>
          <a:lstStyle/>
          <a:p>
            <a:pPr defTabSz="0">
              <a:tabLst>
                <a:tab pos="2336800" algn="l"/>
              </a:tabLst>
            </a:pPr>
            <a:r>
              <a:rPr lang="en-US" altLang="en-US" sz="2400" dirty="0"/>
              <a:t>Increase salaries of instructors whose salary is over $100,000 by 3%, and all others by a 5% </a:t>
            </a:r>
            <a:endParaRPr lang="en-US" altLang="en-US" sz="2400" dirty="0"/>
          </a:p>
          <a:p>
            <a:pPr lvl="1" defTabSz="0">
              <a:tabLst>
                <a:tab pos="2336800" algn="l"/>
              </a:tabLst>
            </a:pPr>
            <a:r>
              <a:rPr lang="en-US" altLang="en-US" sz="2400" dirty="0"/>
              <a:t>Write two </a:t>
            </a:r>
            <a:r>
              <a:rPr lang="en-US" altLang="en-US" sz="2400" b="1" dirty="0"/>
              <a:t>update </a:t>
            </a:r>
            <a:r>
              <a:rPr lang="en-US" altLang="en-US" sz="2400" dirty="0"/>
              <a:t>statements:</a:t>
            </a:r>
            <a:endParaRPr lang="en-US" altLang="en-US" sz="2400" dirty="0"/>
          </a:p>
          <a:p>
            <a:pPr lvl="1" defTabSz="0">
              <a:buNone/>
              <a:tabLst>
                <a:tab pos="2336800" algn="l"/>
              </a:tabLst>
            </a:pPr>
            <a:r>
              <a:rPr lang="en-US" altLang="en-US" sz="2400" dirty="0"/>
              <a:t>	           </a:t>
            </a:r>
            <a:r>
              <a:rPr lang="en-US" altLang="en-US" sz="2400" b="1" dirty="0">
                <a:sym typeface="Symbol" panose="05050102010706020507" charset="2"/>
              </a:rPr>
              <a:t>update </a:t>
            </a:r>
            <a:r>
              <a:rPr lang="en-US" altLang="en-US" sz="2400" i="1" dirty="0">
                <a:sym typeface="Symbol" panose="05050102010706020507" charset="2"/>
              </a:rPr>
              <a:t>instructor</a:t>
            </a:r>
            <a:br>
              <a:rPr lang="en-US" altLang="en-US" sz="2400" i="1" dirty="0">
                <a:sym typeface="Symbol" panose="05050102010706020507" charset="2"/>
              </a:rPr>
            </a:br>
            <a:r>
              <a:rPr lang="en-US" altLang="en-US" sz="2400" i="1" dirty="0">
                <a:sym typeface="Symbol" panose="05050102010706020507" charset="2"/>
              </a:rPr>
              <a:t>               </a:t>
            </a:r>
            <a:r>
              <a:rPr lang="en-US" altLang="en-US" sz="2400" b="1" dirty="0">
                <a:sym typeface="Symbol" panose="05050102010706020507" charset="2"/>
              </a:rPr>
              <a:t>set </a:t>
            </a:r>
            <a:r>
              <a:rPr lang="en-US" altLang="en-US" sz="2400" i="1" dirty="0">
                <a:sym typeface="Symbol" panose="05050102010706020507" charset="2"/>
              </a:rPr>
              <a:t>salary </a:t>
            </a:r>
            <a:r>
              <a:rPr lang="en-US" altLang="en-US" sz="2400" dirty="0">
                <a:sym typeface="Symbol" panose="05050102010706020507" charset="2"/>
              </a:rPr>
              <a:t>= </a:t>
            </a:r>
            <a:r>
              <a:rPr lang="en-US" altLang="en-US" sz="2400" i="1" dirty="0">
                <a:sym typeface="Symbol" panose="05050102010706020507" charset="2"/>
              </a:rPr>
              <a:t>salary </a:t>
            </a:r>
            <a:r>
              <a:rPr lang="en-US" altLang="en-US" sz="2400" dirty="0">
                <a:sym typeface="Symbol" panose="05050102010706020507" charset="2"/>
              </a:rPr>
              <a:t>* 1.03</a:t>
            </a:r>
            <a:br>
              <a:rPr lang="en-US" altLang="en-US" sz="2400" dirty="0">
                <a:sym typeface="Symbol" panose="05050102010706020507" charset="2"/>
              </a:rPr>
            </a:br>
            <a:r>
              <a:rPr lang="en-US" altLang="en-US" sz="2400" dirty="0">
                <a:sym typeface="Symbol" panose="05050102010706020507" charset="2"/>
              </a:rPr>
              <a:t>               </a:t>
            </a:r>
            <a:r>
              <a:rPr lang="en-US" altLang="en-US" sz="2400" b="1" dirty="0">
                <a:sym typeface="Symbol" panose="05050102010706020507" charset="2"/>
              </a:rPr>
              <a:t>where </a:t>
            </a:r>
            <a:r>
              <a:rPr lang="en-US" altLang="en-US" sz="2400" i="1" dirty="0">
                <a:sym typeface="Symbol" panose="05050102010706020507" charset="2"/>
              </a:rPr>
              <a:t>salary </a:t>
            </a:r>
            <a:r>
              <a:rPr lang="en-US" altLang="en-US" sz="2400" dirty="0">
                <a:sym typeface="Symbol" panose="05050102010706020507" charset="2"/>
              </a:rPr>
              <a:t>&gt; 100000;</a:t>
            </a:r>
            <a:br>
              <a:rPr lang="en-US" altLang="en-US" sz="2400" dirty="0">
                <a:sym typeface="Symbol" panose="05050102010706020507" charset="2"/>
              </a:rPr>
            </a:br>
            <a:r>
              <a:rPr lang="en-US" altLang="en-US" sz="2400" dirty="0">
                <a:sym typeface="Symbol" panose="05050102010706020507" charset="2"/>
              </a:rPr>
              <a:t>           </a:t>
            </a:r>
            <a:r>
              <a:rPr lang="en-US" altLang="en-US" sz="2400" b="1" dirty="0">
                <a:sym typeface="Symbol" panose="05050102010706020507" charset="2"/>
              </a:rPr>
              <a:t>update </a:t>
            </a:r>
            <a:r>
              <a:rPr lang="en-US" altLang="en-US" sz="2400" i="1" dirty="0">
                <a:sym typeface="Symbol" panose="05050102010706020507" charset="2"/>
              </a:rPr>
              <a:t>instructor</a:t>
            </a:r>
            <a:br>
              <a:rPr lang="en-US" altLang="en-US" sz="2400" i="1" dirty="0">
                <a:sym typeface="Symbol" panose="05050102010706020507" charset="2"/>
              </a:rPr>
            </a:br>
            <a:r>
              <a:rPr lang="en-US" altLang="en-US" sz="2400" i="1" dirty="0">
                <a:sym typeface="Symbol" panose="05050102010706020507" charset="2"/>
              </a:rPr>
              <a:t>                </a:t>
            </a:r>
            <a:r>
              <a:rPr lang="en-US" altLang="en-US" sz="2400" b="1" dirty="0">
                <a:sym typeface="Symbol" panose="05050102010706020507" charset="2"/>
              </a:rPr>
              <a:t>set </a:t>
            </a:r>
            <a:r>
              <a:rPr lang="en-US" altLang="en-US" sz="2400" i="1" dirty="0">
                <a:sym typeface="Symbol" panose="05050102010706020507" charset="2"/>
              </a:rPr>
              <a:t>salary </a:t>
            </a:r>
            <a:r>
              <a:rPr lang="en-US" altLang="en-US" sz="2400" dirty="0">
                <a:sym typeface="Symbol" panose="05050102010706020507" charset="2"/>
              </a:rPr>
              <a:t>= </a:t>
            </a:r>
            <a:r>
              <a:rPr lang="en-US" altLang="en-US" sz="2400" i="1" dirty="0">
                <a:sym typeface="Symbol" panose="05050102010706020507" charset="2"/>
              </a:rPr>
              <a:t>salary </a:t>
            </a:r>
            <a:r>
              <a:rPr lang="en-US" altLang="en-US" sz="2400" dirty="0">
                <a:sym typeface="Symbol" panose="05050102010706020507" charset="2"/>
              </a:rPr>
              <a:t>* 1.05</a:t>
            </a:r>
            <a:br>
              <a:rPr lang="en-US" altLang="en-US" sz="2400" dirty="0">
                <a:sym typeface="Symbol" panose="05050102010706020507" charset="2"/>
              </a:rPr>
            </a:br>
            <a:r>
              <a:rPr lang="en-US" altLang="en-US" sz="2400" dirty="0">
                <a:sym typeface="Symbol" panose="05050102010706020507" charset="2"/>
              </a:rPr>
              <a:t>                </a:t>
            </a:r>
            <a:r>
              <a:rPr lang="en-US" altLang="en-US" sz="2400" b="1" dirty="0">
                <a:sym typeface="Symbol" panose="05050102010706020507" charset="2"/>
              </a:rPr>
              <a:t>where </a:t>
            </a:r>
            <a:r>
              <a:rPr lang="en-US" altLang="en-US" sz="2400" i="1" dirty="0">
                <a:sym typeface="Symbol" panose="05050102010706020507" charset="2"/>
              </a:rPr>
              <a:t>salary </a:t>
            </a:r>
            <a:r>
              <a:rPr lang="en-US" altLang="en-US" sz="2400" dirty="0">
                <a:sym typeface="Symbol" panose="05050102010706020507" charset="2"/>
              </a:rPr>
              <a:t>&lt;= 100000;</a:t>
            </a:r>
            <a:endParaRPr lang="en-US" altLang="en-US" sz="2400" dirty="0">
              <a:sym typeface="Symbol" panose="05050102010706020507" charset="2"/>
            </a:endParaRPr>
          </a:p>
          <a:p>
            <a:pPr lvl="1" defTabSz="0">
              <a:tabLst>
                <a:tab pos="2336800" algn="l"/>
              </a:tabLst>
            </a:pPr>
            <a:r>
              <a:rPr lang="en-US" altLang="en-US" sz="2400" dirty="0">
                <a:sym typeface="Symbol" panose="05050102010706020507" charset="2"/>
              </a:rPr>
              <a:t>The order is important</a:t>
            </a:r>
            <a:endParaRPr lang="en-US" altLang="en-US" sz="2400" dirty="0">
              <a:sym typeface="Symbol" panose="05050102010706020507" charset="2"/>
            </a:endParaRPr>
          </a:p>
          <a:p>
            <a:pPr lvl="1" defTabSz="0">
              <a:tabLst>
                <a:tab pos="2336800" algn="l"/>
              </a:tabLst>
            </a:pPr>
            <a:r>
              <a:rPr lang="en-US" altLang="en-US" sz="2400" dirty="0">
                <a:sym typeface="Symbol" panose="05050102010706020507" charset="2"/>
              </a:rPr>
              <a:t>Can be done better using the </a:t>
            </a:r>
            <a:r>
              <a:rPr lang="en-US" altLang="en-US" sz="2400" b="1" dirty="0">
                <a:sym typeface="Symbol" panose="05050102010706020507" charset="2"/>
              </a:rPr>
              <a:t>case </a:t>
            </a:r>
            <a:r>
              <a:rPr lang="en-US" altLang="en-US" sz="2400" dirty="0">
                <a:sym typeface="Symbol" panose="05050102010706020507" charset="2"/>
              </a:rPr>
              <a:t>statement (next slide)</a:t>
            </a:r>
            <a:endParaRPr lang="en-US" altLang="en-US" sz="2400" dirty="0">
              <a:sym typeface="Symbol" panose="05050102010706020507" charset="2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2"/>
          <p:cNvSpPr>
            <a:spLocks noGrp="1" noChangeArrowheads="1"/>
          </p:cNvSpPr>
          <p:nvPr>
            <p:ph type="title"/>
          </p:nvPr>
        </p:nvSpPr>
        <p:spPr>
          <a:xfrm>
            <a:off x="895350" y="80963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Case Statement for Conditional Updates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8611" name="Rectangle 3"/>
          <p:cNvSpPr>
            <a:spLocks noGrp="1"/>
          </p:cNvSpPr>
          <p:nvPr>
            <p:ph idx="1"/>
          </p:nvPr>
        </p:nvSpPr>
        <p:spPr>
          <a:xfrm>
            <a:off x="421005" y="977265"/>
            <a:ext cx="8442325" cy="4903470"/>
          </a:xfrm>
        </p:spPr>
        <p:txBody>
          <a:bodyPr vert="horz" wrap="square" lIns="91440" tIns="45720" rIns="91440" bIns="45720" anchor="t"/>
          <a:lstStyle/>
          <a:p>
            <a:r>
              <a:rPr lang="en-US" altLang="en-US" dirty="0"/>
              <a:t>Same query as before but with case statement</a:t>
            </a:r>
            <a:endParaRPr lang="en-US" altLang="en-US" dirty="0"/>
          </a:p>
          <a:p>
            <a:pPr>
              <a:buNone/>
            </a:pPr>
            <a:r>
              <a:rPr lang="en-US" altLang="en-US" dirty="0"/>
              <a:t>	</a:t>
            </a:r>
            <a:r>
              <a:rPr lang="en-US" altLang="en-US" sz="2000" b="1" dirty="0"/>
              <a:t>update </a:t>
            </a:r>
            <a:r>
              <a:rPr lang="en-US" altLang="en-US" sz="2000" i="1" dirty="0"/>
              <a:t>instructor</a:t>
            </a:r>
            <a:br>
              <a:rPr lang="en-US" altLang="en-US" sz="2000" i="1" dirty="0"/>
            </a:br>
            <a:r>
              <a:rPr lang="en-US" altLang="en-US" sz="2000" i="1" dirty="0"/>
              <a:t>      </a:t>
            </a:r>
            <a:r>
              <a:rPr lang="en-US" altLang="en-US" sz="2000" b="1" dirty="0"/>
              <a:t>set </a:t>
            </a:r>
            <a:r>
              <a:rPr lang="en-US" altLang="en-US" sz="2000" i="1" dirty="0"/>
              <a:t>salary </a:t>
            </a:r>
            <a:r>
              <a:rPr lang="en-US" altLang="en-US" sz="2000" dirty="0"/>
              <a:t>= </a:t>
            </a:r>
            <a:r>
              <a:rPr lang="en-US" altLang="en-US" sz="2000" b="1" dirty="0"/>
              <a:t>case</a:t>
            </a:r>
            <a:br>
              <a:rPr lang="en-US" altLang="en-US" sz="2000" b="1" dirty="0"/>
            </a:br>
            <a:r>
              <a:rPr lang="en-US" altLang="en-US" sz="2000" b="1" dirty="0"/>
              <a:t>                          when </a:t>
            </a:r>
            <a:r>
              <a:rPr lang="en-US" altLang="en-US" sz="2000" i="1" dirty="0"/>
              <a:t>salary </a:t>
            </a:r>
            <a:r>
              <a:rPr lang="en-US" altLang="en-US" sz="2000" dirty="0"/>
              <a:t>&lt;= 100000 </a:t>
            </a:r>
            <a:r>
              <a:rPr lang="en-US" altLang="en-US" sz="2000" b="1" dirty="0"/>
              <a:t>then </a:t>
            </a:r>
            <a:r>
              <a:rPr lang="en-US" altLang="en-US" sz="2000" i="1" dirty="0"/>
              <a:t>salary </a:t>
            </a:r>
            <a:r>
              <a:rPr lang="en-US" altLang="en-US" sz="2000" dirty="0"/>
              <a:t>* 1.05</a:t>
            </a:r>
            <a:br>
              <a:rPr lang="en-US" altLang="en-US" sz="2000" dirty="0"/>
            </a:br>
            <a:r>
              <a:rPr lang="en-US" altLang="en-US" sz="2000" dirty="0"/>
              <a:t>                                      </a:t>
            </a:r>
            <a:r>
              <a:rPr lang="en-US" altLang="en-US" sz="2000" b="1" dirty="0"/>
              <a:t>else </a:t>
            </a:r>
            <a:r>
              <a:rPr lang="en-US" altLang="en-US" sz="2000" i="1" dirty="0"/>
              <a:t>salary </a:t>
            </a:r>
            <a:r>
              <a:rPr lang="en-US" altLang="en-US" sz="2000" dirty="0"/>
              <a:t>* 1.03</a:t>
            </a:r>
            <a:br>
              <a:rPr lang="en-US" altLang="en-US" sz="2000" dirty="0"/>
            </a:br>
            <a:r>
              <a:rPr lang="en-US" altLang="en-US" sz="2000" dirty="0"/>
              <a:t>                          </a:t>
            </a:r>
            <a:r>
              <a:rPr lang="en-US" altLang="en-US" sz="2000" b="1" dirty="0"/>
              <a:t>end</a:t>
            </a:r>
            <a:endParaRPr lang="en-US" altLang="en-US" sz="2000" dirty="0"/>
          </a:p>
          <a:p>
            <a:pPr>
              <a:buNone/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01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Updates with Scalar Subqueries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9635" name="Rectangle 3"/>
          <p:cNvSpPr>
            <a:spLocks noGrp="1"/>
          </p:cNvSpPr>
          <p:nvPr>
            <p:ph idx="1"/>
          </p:nvPr>
        </p:nvSpPr>
        <p:spPr>
          <a:xfrm>
            <a:off x="161290" y="875030"/>
            <a:ext cx="8851900" cy="5650865"/>
          </a:xfrm>
        </p:spPr>
        <p:txBody>
          <a:bodyPr vert="horz" wrap="square" lIns="91440" tIns="45720" rIns="91440" bIns="45720" anchor="t"/>
          <a:lstStyle/>
          <a:p>
            <a:r>
              <a:rPr lang="en-US" altLang="en-US" dirty="0"/>
              <a:t>Recompute and update tot_creds value for all students</a:t>
            </a:r>
            <a:endParaRPr lang="en-US" altLang="en-US" dirty="0"/>
          </a:p>
          <a:p>
            <a:pPr>
              <a:buNone/>
            </a:pPr>
            <a:r>
              <a:rPr lang="en-US" altLang="en-US" b="1" dirty="0"/>
              <a:t>       </a:t>
            </a:r>
            <a:r>
              <a:rPr lang="en-US" altLang="en-US" sz="2000" b="1" dirty="0"/>
              <a:t>update </a:t>
            </a:r>
            <a:r>
              <a:rPr lang="en-US" altLang="en-US" sz="2000" i="1" dirty="0"/>
              <a:t>student S </a:t>
            </a:r>
            <a:br>
              <a:rPr lang="en-US" altLang="en-US" sz="2000" i="1" dirty="0"/>
            </a:br>
            <a:r>
              <a:rPr lang="en-US" altLang="en-US" sz="2000" i="1" dirty="0"/>
              <a:t>    </a:t>
            </a:r>
            <a:r>
              <a:rPr lang="en-US" altLang="en-US" sz="2000" b="1" dirty="0"/>
              <a:t>set </a:t>
            </a:r>
            <a:r>
              <a:rPr lang="en-US" altLang="en-US" sz="2000" i="1" dirty="0"/>
              <a:t>tot_cred </a:t>
            </a:r>
            <a:r>
              <a:rPr lang="en-US" altLang="en-US" sz="2000" dirty="0"/>
              <a:t>= ( </a:t>
            </a:r>
            <a:r>
              <a:rPr lang="en-US" altLang="en-US" sz="2000" b="1" dirty="0"/>
              <a:t>select sum</a:t>
            </a:r>
            <a:r>
              <a:rPr lang="en-US" altLang="en-US" sz="2000" dirty="0"/>
              <a:t>(</a:t>
            </a:r>
            <a:r>
              <a:rPr lang="en-US" altLang="en-US" sz="2000" i="1" dirty="0"/>
              <a:t>credits</a:t>
            </a:r>
            <a:r>
              <a:rPr lang="en-US" altLang="en-US" sz="2000" dirty="0"/>
              <a:t>)</a:t>
            </a:r>
            <a:br>
              <a:rPr lang="en-US" altLang="en-US" sz="2000" dirty="0"/>
            </a:br>
            <a:r>
              <a:rPr lang="en-US" altLang="en-US" sz="2000" dirty="0"/>
              <a:t>                              </a:t>
            </a:r>
            <a:r>
              <a:rPr lang="en-US" altLang="en-US" sz="2000" b="1" dirty="0"/>
              <a:t>from </a:t>
            </a:r>
            <a:r>
              <a:rPr lang="en-US" altLang="en-US" sz="2000" i="1" dirty="0"/>
              <a:t>takes, course</a:t>
            </a:r>
            <a:br>
              <a:rPr lang="en-US" altLang="en-US" sz="2000" i="1" dirty="0"/>
            </a:br>
            <a:r>
              <a:rPr lang="en-US" altLang="en-US" sz="2000" i="1" dirty="0"/>
              <a:t>                              </a:t>
            </a:r>
            <a:r>
              <a:rPr lang="en-US" altLang="en-US" sz="2000" b="1" dirty="0"/>
              <a:t>where </a:t>
            </a:r>
            <a:r>
              <a:rPr lang="en-US" altLang="en-US" sz="2000" i="1" dirty="0"/>
              <a:t>takes.course_id </a:t>
            </a:r>
            <a:r>
              <a:rPr lang="en-US" altLang="en-US" sz="2000" dirty="0"/>
              <a:t>= </a:t>
            </a:r>
            <a:r>
              <a:rPr lang="en-US" altLang="en-US" sz="2000" i="1" dirty="0"/>
              <a:t>course.course_id </a:t>
            </a:r>
            <a:r>
              <a:rPr lang="en-US" altLang="en-US" sz="2000" b="1" dirty="0"/>
              <a:t>and </a:t>
            </a:r>
            <a:br>
              <a:rPr lang="en-US" altLang="en-US" sz="2000" b="1" dirty="0"/>
            </a:br>
            <a:r>
              <a:rPr lang="en-US" altLang="en-US" sz="2000" b="1" dirty="0"/>
              <a:t>                                         </a:t>
            </a:r>
            <a:r>
              <a:rPr lang="en-US" altLang="en-US" sz="2000" i="1" dirty="0"/>
              <a:t>S</a:t>
            </a:r>
            <a:r>
              <a:rPr lang="en-US" altLang="en-US" sz="2000" dirty="0"/>
              <a:t>.</a:t>
            </a:r>
            <a:r>
              <a:rPr lang="en-US" altLang="en-US" sz="2000" i="1" dirty="0"/>
              <a:t>ID</a:t>
            </a:r>
            <a:r>
              <a:rPr lang="en-US" altLang="en-US" sz="2000" dirty="0"/>
              <a:t>= </a:t>
            </a:r>
            <a:r>
              <a:rPr lang="en-US" altLang="en-US" sz="2000" i="1" dirty="0"/>
              <a:t>takes</a:t>
            </a:r>
            <a:r>
              <a:rPr lang="en-US" altLang="en-US" sz="2000" dirty="0"/>
              <a:t>.</a:t>
            </a:r>
            <a:r>
              <a:rPr lang="en-US" altLang="en-US" sz="2000" i="1" dirty="0"/>
              <a:t>ID.</a:t>
            </a:r>
            <a:r>
              <a:rPr lang="en-US" altLang="en-US" sz="2000" b="1" dirty="0"/>
              <a:t>and  </a:t>
            </a:r>
            <a:r>
              <a:rPr lang="en-US" altLang="en-US" sz="2000" i="1" dirty="0"/>
              <a:t>takes</a:t>
            </a:r>
            <a:r>
              <a:rPr lang="en-US" altLang="en-US" sz="2000" dirty="0"/>
              <a:t>.</a:t>
            </a:r>
            <a:r>
              <a:rPr lang="en-US" altLang="en-US" sz="2000" i="1" dirty="0"/>
              <a:t>grade </a:t>
            </a:r>
            <a:r>
              <a:rPr lang="en-US" altLang="en-US" sz="2000" dirty="0"/>
              <a:t>&lt;&gt; ’F’ </a:t>
            </a:r>
            <a:r>
              <a:rPr lang="en-US" altLang="en-US" sz="2000" b="1" dirty="0"/>
              <a:t>and </a:t>
            </a:r>
            <a:endParaRPr lang="en-US" altLang="en-US" sz="2000" b="1" dirty="0"/>
          </a:p>
          <a:p>
            <a:pPr>
              <a:buNone/>
            </a:pPr>
            <a:r>
              <a:rPr lang="en-US" altLang="en-US" sz="2000" b="1" dirty="0"/>
              <a:t>                                              </a:t>
            </a:r>
            <a:r>
              <a:rPr lang="en-US" altLang="en-US" sz="2000" i="1" dirty="0"/>
              <a:t>takes</a:t>
            </a:r>
            <a:r>
              <a:rPr lang="en-US" altLang="en-US" sz="2000" dirty="0"/>
              <a:t>.</a:t>
            </a:r>
            <a:r>
              <a:rPr lang="en-US" altLang="en-US" sz="2000" i="1" dirty="0"/>
              <a:t>grade </a:t>
            </a:r>
            <a:r>
              <a:rPr lang="en-US" altLang="en-US" sz="2000" b="1" dirty="0"/>
              <a:t>is not null </a:t>
            </a:r>
            <a:r>
              <a:rPr lang="en-US" altLang="en-US" sz="2000" dirty="0"/>
              <a:t>);</a:t>
            </a:r>
            <a:endParaRPr lang="en-US" altLang="en-US" sz="2000" dirty="0"/>
          </a:p>
          <a:p>
            <a:r>
              <a:rPr lang="en-US" altLang="en-US" dirty="0"/>
              <a:t>Sets </a:t>
            </a:r>
            <a:r>
              <a:rPr lang="en-US" altLang="en-US" i="1" dirty="0"/>
              <a:t>tot_creds</a:t>
            </a:r>
            <a:r>
              <a:rPr lang="en-US" altLang="en-US" dirty="0"/>
              <a:t> to null for students who have not taken any course</a:t>
            </a:r>
            <a:endParaRPr lang="en-US" altLang="en-US" dirty="0"/>
          </a:p>
          <a:p>
            <a:r>
              <a:rPr lang="en-US" altLang="en-US" dirty="0"/>
              <a:t>Instead of </a:t>
            </a:r>
            <a:r>
              <a:rPr lang="en-US" altLang="en-US" b="1" dirty="0"/>
              <a:t>sum</a:t>
            </a:r>
            <a:r>
              <a:rPr lang="en-US" altLang="en-US" dirty="0"/>
              <a:t>(</a:t>
            </a:r>
            <a:r>
              <a:rPr lang="en-US" altLang="en-US" i="1" dirty="0"/>
              <a:t>credits</a:t>
            </a:r>
            <a:r>
              <a:rPr lang="en-US" altLang="en-US" dirty="0"/>
              <a:t>), use:</a:t>
            </a:r>
            <a:endParaRPr lang="en-US" altLang="en-US" dirty="0"/>
          </a:p>
          <a:p>
            <a:pPr>
              <a:buNone/>
            </a:pPr>
            <a:r>
              <a:rPr lang="en-US" altLang="en-US" b="1" dirty="0"/>
              <a:t>                  </a:t>
            </a:r>
            <a:r>
              <a:rPr lang="en-US" altLang="en-US" sz="2000" b="1" dirty="0"/>
              <a:t>case </a:t>
            </a:r>
            <a:br>
              <a:rPr lang="en-US" altLang="en-US" sz="2000" b="1" dirty="0"/>
            </a:br>
            <a:r>
              <a:rPr lang="en-US" altLang="en-US" sz="2000" b="1" dirty="0"/>
              <a:t>                 when sum</a:t>
            </a:r>
            <a:r>
              <a:rPr lang="en-US" altLang="en-US" sz="2000" dirty="0"/>
              <a:t>(</a:t>
            </a:r>
            <a:r>
              <a:rPr lang="en-US" altLang="en-US" sz="2000" i="1" dirty="0"/>
              <a:t>credits</a:t>
            </a:r>
            <a:r>
              <a:rPr lang="en-US" altLang="en-US" sz="2000" dirty="0"/>
              <a:t>) </a:t>
            </a:r>
            <a:r>
              <a:rPr lang="en-US" altLang="en-US" sz="2000" b="1" dirty="0"/>
              <a:t>is not null then sum</a:t>
            </a:r>
            <a:r>
              <a:rPr lang="en-US" altLang="en-US" sz="2000" dirty="0"/>
              <a:t>(</a:t>
            </a:r>
            <a:r>
              <a:rPr lang="en-US" altLang="en-US" sz="2000" i="1" dirty="0"/>
              <a:t>credits</a:t>
            </a:r>
            <a:r>
              <a:rPr lang="en-US" altLang="en-US" sz="2000" dirty="0"/>
              <a:t>)</a:t>
            </a:r>
            <a:br>
              <a:rPr lang="en-US" altLang="en-US" sz="2000" dirty="0"/>
            </a:br>
            <a:r>
              <a:rPr lang="en-US" altLang="en-US" sz="2000" dirty="0"/>
              <a:t>                 </a:t>
            </a:r>
            <a:r>
              <a:rPr lang="en-US" altLang="en-US" sz="2000" b="1" dirty="0"/>
              <a:t>else </a:t>
            </a:r>
            <a:r>
              <a:rPr lang="en-US" altLang="en-US" sz="2000" dirty="0"/>
              <a:t>0</a:t>
            </a:r>
            <a:br>
              <a:rPr lang="en-US" altLang="en-US" sz="2000" dirty="0"/>
            </a:br>
            <a:r>
              <a:rPr lang="en-US" altLang="en-US" sz="2000" dirty="0"/>
              <a:t>             </a:t>
            </a:r>
            <a:r>
              <a:rPr lang="en-US" altLang="en-US" sz="2000" b="1" dirty="0"/>
              <a:t>end</a:t>
            </a:r>
            <a:endParaRPr lang="en-US" altLang="en-US" sz="2000" dirty="0"/>
          </a:p>
          <a:p>
            <a:pPr>
              <a:buNone/>
            </a:pPr>
            <a:endParaRPr lang="en-US" altLang="en-US" sz="2000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8" name="Rectangle 2"/>
          <p:cNvSpPr>
            <a:spLocks noGrp="1" noChangeArrowheads="1"/>
          </p:cNvSpPr>
          <p:nvPr>
            <p:ph type="ctr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End of Chapter 3</a:t>
            </a:r>
            <a:endParaRPr kumimoji="1" lang="en-US" sz="3200" b="1" i="0" u="none" strike="noStrike" kern="0" cap="none" spc="0" normalizeH="0" baseline="0" noProof="0" dirty="0">
              <a:ln>
                <a:noFill/>
              </a:ln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OC_GUID" val="{d57cf1c3-0059-48a7-8028-6d952ec6f682}"/>
  <p:tag name="COMMONDATA" val="eyJoZGlkIjoiZWIxYzZkM2FmYTk4YjgyMWQyYjQ4MGI5NDkwOGIwYmYifQ=="/>
</p:tagLst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anose="020B060402020203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anose="020B0604020202030204" pitchFamily="34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0</TotalTime>
  <Words>25411</Words>
  <Application>WPS 演示</Application>
  <PresentationFormat>全屏显示(4:3)</PresentationFormat>
  <Paragraphs>705</Paragraphs>
  <Slides>96</Slides>
  <Notes>67</Notes>
  <HiddenSlides>0</HiddenSlides>
  <MMClips>0</MMClips>
  <ScaleCrop>false</ScaleCrop>
  <HeadingPairs>
    <vt:vector size="10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96</vt:i4>
      </vt:variant>
      <vt:variant>
        <vt:lpstr>自定义放映</vt:lpstr>
      </vt:variant>
      <vt:variant>
        <vt:i4>1</vt:i4>
      </vt:variant>
    </vt:vector>
  </HeadingPairs>
  <TitlesOfParts>
    <vt:vector size="116" baseType="lpstr">
      <vt:lpstr>Arial</vt:lpstr>
      <vt:lpstr>宋体</vt:lpstr>
      <vt:lpstr>Wingdings</vt:lpstr>
      <vt:lpstr>Helvetica</vt:lpstr>
      <vt:lpstr>Monotype Sorts</vt:lpstr>
      <vt:lpstr>Webdings</vt:lpstr>
      <vt:lpstr>Times New Roman</vt:lpstr>
      <vt:lpstr>微软雅黑</vt:lpstr>
      <vt:lpstr>OPPOSans M</vt:lpstr>
      <vt:lpstr>微软雅黑</vt:lpstr>
      <vt:lpstr>Arial Unicode MS</vt:lpstr>
      <vt:lpstr>Calibri</vt:lpstr>
      <vt:lpstr>Symbol</vt:lpstr>
      <vt:lpstr>Wingdings</vt:lpstr>
      <vt:lpstr>Palatino Linotype</vt:lpstr>
      <vt:lpstr>Century Gothic</vt:lpstr>
      <vt:lpstr>2_db-5-grey</vt:lpstr>
      <vt:lpstr>MS_ClipArt_Gallery.2</vt:lpstr>
      <vt:lpstr>Equations</vt:lpstr>
      <vt:lpstr>Chapter 3: Introduction to SQL</vt:lpstr>
      <vt:lpstr>Outline</vt:lpstr>
      <vt:lpstr>PowerPoint 演示文稿</vt:lpstr>
      <vt:lpstr>SQL查询语言概览</vt:lpstr>
      <vt:lpstr>Data Definition Language</vt:lpstr>
      <vt:lpstr>Domain Types in SQL</vt:lpstr>
      <vt:lpstr>Create Table Construct</vt:lpstr>
      <vt:lpstr>Integrity Constraints in Create Table</vt:lpstr>
      <vt:lpstr>PowerPoint 演示文稿</vt:lpstr>
      <vt:lpstr>And a Few More Relation Definitions</vt:lpstr>
      <vt:lpstr>And more still</vt:lpstr>
      <vt:lpstr>Updates to tables</vt:lpstr>
      <vt:lpstr>Basic Query Structure </vt:lpstr>
      <vt:lpstr>The select Clause</vt:lpstr>
      <vt:lpstr>The select Clause (Cont.)</vt:lpstr>
      <vt:lpstr>The select Clause (Cont.)</vt:lpstr>
      <vt:lpstr>The select Clause (Cont.)</vt:lpstr>
      <vt:lpstr>PowerPoint 演示文稿</vt:lpstr>
      <vt:lpstr>The where Clause</vt:lpstr>
      <vt:lpstr>The from Clause</vt:lpstr>
      <vt:lpstr>Cartesian Product</vt:lpstr>
      <vt:lpstr>The Rename Operation</vt:lpstr>
      <vt:lpstr>Cartesian Product  Example</vt:lpstr>
      <vt:lpstr>String Operations</vt:lpstr>
      <vt:lpstr>String Operations (Cont.)</vt:lpstr>
      <vt:lpstr>Ordering the Display of Tuples</vt:lpstr>
      <vt:lpstr>PowerPoint 演示文稿</vt:lpstr>
      <vt:lpstr>PowerPoint 演示文稿</vt:lpstr>
      <vt:lpstr>PowerPoint 演示文稿</vt:lpstr>
      <vt:lpstr>Where Clause Predicates</vt:lpstr>
      <vt:lpstr>Duplicates</vt:lpstr>
      <vt:lpstr>Duplicates (Cont.)</vt:lpstr>
      <vt:lpstr>Set Operations</vt:lpstr>
      <vt:lpstr>Set Operations (Cont.)</vt:lpstr>
      <vt:lpstr>Set Operations (Cont.)</vt:lpstr>
      <vt:lpstr>Null Values</vt:lpstr>
      <vt:lpstr>Null Values and Three Valued Logic</vt:lpstr>
      <vt:lpstr>PowerPoint 演示文稿</vt:lpstr>
      <vt:lpstr>PowerPoint 演示文稿</vt:lpstr>
      <vt:lpstr>Aggregate Functions</vt:lpstr>
      <vt:lpstr>Aggregate Functions (Cont.)</vt:lpstr>
      <vt:lpstr>PowerPoint 演示文稿</vt:lpstr>
      <vt:lpstr>Aggregate Functions – Group By</vt:lpstr>
      <vt:lpstr>Aggregation (Cont.)</vt:lpstr>
      <vt:lpstr>PowerPoint 演示文稿</vt:lpstr>
      <vt:lpstr>PowerPoint 演示文稿</vt:lpstr>
      <vt:lpstr>PowerPoint 演示文稿</vt:lpstr>
      <vt:lpstr>·</vt:lpstr>
      <vt:lpstr>Aggregate Functions – Having Clause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Null Values and Aggregates</vt:lpstr>
      <vt:lpstr>PowerPoint 演示文稿</vt:lpstr>
      <vt:lpstr>Nested Subqueries</vt:lpstr>
      <vt:lpstr>Subqueries in the Where Clause</vt:lpstr>
      <vt:lpstr>PowerPoint 演示文稿</vt:lpstr>
      <vt:lpstr>Subqueries in the Where Clause</vt:lpstr>
      <vt:lpstr>PowerPoint 演示文稿</vt:lpstr>
      <vt:lpstr>Set Membership </vt:lpstr>
      <vt:lpstr>Set Membership (Cont.)</vt:lpstr>
      <vt:lpstr>PowerPoint 演示文稿</vt:lpstr>
      <vt:lpstr>PowerPoint 演示文稿</vt:lpstr>
      <vt:lpstr>PowerPoint 演示文稿</vt:lpstr>
      <vt:lpstr>Set Comparison – “some” Clause</vt:lpstr>
      <vt:lpstr>Definition of  “some” Clause</vt:lpstr>
      <vt:lpstr>Set Comparison – “all” Clause</vt:lpstr>
      <vt:lpstr>Definition of “all” Clause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Test for Empty Relations</vt:lpstr>
      <vt:lpstr>Use of “exists” Clause</vt:lpstr>
      <vt:lpstr>Use of “not exists” Clause</vt:lpstr>
      <vt:lpstr>Test for Absence of Duplicate Tuples</vt:lpstr>
      <vt:lpstr>Subqueries in the From Clause</vt:lpstr>
      <vt:lpstr>Subqueries in the From Clause</vt:lpstr>
      <vt:lpstr>With Clause</vt:lpstr>
      <vt:lpstr>Complex Queries using With Clause</vt:lpstr>
      <vt:lpstr>Subqueries in the Select Clause</vt:lpstr>
      <vt:lpstr>Scalar Subquery</vt:lpstr>
      <vt:lpstr>Modification of the Database</vt:lpstr>
      <vt:lpstr>Deletion</vt:lpstr>
      <vt:lpstr>Deletion (Cont.)</vt:lpstr>
      <vt:lpstr>Insertion</vt:lpstr>
      <vt:lpstr>Insertion (Cont.)</vt:lpstr>
      <vt:lpstr>Updates</vt:lpstr>
      <vt:lpstr>Case Statement for Conditional Updates</vt:lpstr>
      <vt:lpstr>Updates with Scalar Subqueries</vt:lpstr>
      <vt:lpstr>End of Chapter 3</vt:lpstr>
      <vt:lpstr>Custom Show 1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 Introduction</dc:title>
  <dc:creator>Marilyn Turnamian</dc:creator>
  <cp:lastModifiedBy>康辉</cp:lastModifiedBy>
  <cp:revision>400</cp:revision>
  <cp:lastPrinted>2014-01-22T15:39:00Z</cp:lastPrinted>
  <dcterms:created xsi:type="dcterms:W3CDTF">1999-11-04T20:50:00Z</dcterms:created>
  <dcterms:modified xsi:type="dcterms:W3CDTF">2025-09-25T02:02:53Z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ICV">
    <vt:lpwstr>16DD9B5A8BF44BF4B3BBFD8093776E98_13</vt:lpwstr>
  </property>
</Properties>
</file>