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65"/>
  </p:notesMasterIdLst>
  <p:handoutMasterIdLst>
    <p:handoutMasterId r:id="rId66"/>
  </p:handoutMasterIdLst>
  <p:sldIdLst>
    <p:sldId id="475" r:id="rId2"/>
    <p:sldId id="2730" r:id="rId3"/>
    <p:sldId id="476" r:id="rId4"/>
    <p:sldId id="2731" r:id="rId5"/>
    <p:sldId id="2630" r:id="rId6"/>
    <p:sldId id="2793" r:id="rId7"/>
    <p:sldId id="294" r:id="rId8"/>
    <p:sldId id="457" r:id="rId9"/>
    <p:sldId id="260" r:id="rId10"/>
    <p:sldId id="630" r:id="rId11"/>
    <p:sldId id="602" r:id="rId12"/>
    <p:sldId id="603" r:id="rId13"/>
    <p:sldId id="632" r:id="rId14"/>
    <p:sldId id="631" r:id="rId15"/>
    <p:sldId id="538" r:id="rId16"/>
    <p:sldId id="2631" r:id="rId17"/>
    <p:sldId id="2732" r:id="rId18"/>
    <p:sldId id="539" r:id="rId19"/>
    <p:sldId id="601" r:id="rId20"/>
    <p:sldId id="2678" r:id="rId21"/>
    <p:sldId id="562" r:id="rId22"/>
    <p:sldId id="563" r:id="rId23"/>
    <p:sldId id="564" r:id="rId24"/>
    <p:sldId id="599" r:id="rId25"/>
    <p:sldId id="540" r:id="rId26"/>
    <p:sldId id="482" r:id="rId27"/>
    <p:sldId id="600" r:id="rId28"/>
    <p:sldId id="2679" r:id="rId29"/>
    <p:sldId id="2680" r:id="rId30"/>
    <p:sldId id="2681" r:id="rId31"/>
    <p:sldId id="2682" r:id="rId32"/>
    <p:sldId id="2709" r:id="rId33"/>
    <p:sldId id="2710" r:id="rId34"/>
    <p:sldId id="2733" r:id="rId35"/>
    <p:sldId id="2674" r:id="rId36"/>
    <p:sldId id="2675" r:id="rId37"/>
    <p:sldId id="2676" r:id="rId38"/>
    <p:sldId id="2734" r:id="rId39"/>
    <p:sldId id="587" r:id="rId40"/>
    <p:sldId id="2683" r:id="rId41"/>
    <p:sldId id="2651" r:id="rId42"/>
    <p:sldId id="588" r:id="rId43"/>
    <p:sldId id="591" r:id="rId44"/>
    <p:sldId id="2620" r:id="rId45"/>
    <p:sldId id="2626" r:id="rId46"/>
    <p:sldId id="2649" r:id="rId47"/>
    <p:sldId id="2673" r:id="rId48"/>
    <p:sldId id="2735" r:id="rId49"/>
    <p:sldId id="573" r:id="rId50"/>
    <p:sldId id="574" r:id="rId51"/>
    <p:sldId id="575" r:id="rId52"/>
    <p:sldId id="584" r:id="rId53"/>
    <p:sldId id="2782" r:id="rId54"/>
    <p:sldId id="2784" r:id="rId55"/>
    <p:sldId id="2785" r:id="rId56"/>
    <p:sldId id="2786" r:id="rId57"/>
    <p:sldId id="2787" r:id="rId58"/>
    <p:sldId id="2788" r:id="rId59"/>
    <p:sldId id="2789" r:id="rId60"/>
    <p:sldId id="2790" r:id="rId61"/>
    <p:sldId id="2791" r:id="rId62"/>
    <p:sldId id="2792" r:id="rId63"/>
    <p:sldId id="548" r:id="rId64"/>
  </p:sldIdLst>
  <p:sldSz cx="9144000" cy="6858000" type="screen4x3"/>
  <p:notesSz cx="6997700" cy="9283700"/>
  <p:custShowLst>
    <p:custShow name="Custom Show 1" id="0">
      <p:sldLst/>
    </p:custShow>
  </p:custShowLst>
  <p:custDataLst>
    <p:tags r:id="rId67"/>
  </p:custDataLst>
  <p:defaultTextStyle>
    <a:defPPr>
      <a:defRPr lang="en-US"/>
    </a:defPPr>
    <a:lvl1pPr algn="l" rtl="0" eaLnBrk="0" fontAlgn="base" hangingPunct="0">
      <a:spcBef>
        <a:spcPct val="0"/>
      </a:spcBef>
      <a:spcAft>
        <a:spcPct val="0"/>
      </a:spcAft>
      <a:defRPr sz="1600" kern="1200">
        <a:solidFill>
          <a:schemeClr val="tx1"/>
        </a:solidFill>
        <a:latin typeface="Helvetica" panose="020B060402020203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3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3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3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3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3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3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3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3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689">
          <p15:clr>
            <a:srgbClr val="A4A3A4"/>
          </p15:clr>
        </p15:guide>
        <p15:guide id="2" pos="5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 Sudarshan" initials="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DDE2E6"/>
    <a:srgbClr val="55257B"/>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03" autoAdjust="0"/>
    <p:restoredTop sz="84877" autoAdjust="0"/>
  </p:normalViewPr>
  <p:slideViewPr>
    <p:cSldViewPr snapToGrid="0" showGuides="1">
      <p:cViewPr varScale="1">
        <p:scale>
          <a:sx n="101" d="100"/>
          <a:sy n="101" d="100"/>
        </p:scale>
        <p:origin x="1632" y="184"/>
      </p:cViewPr>
      <p:guideLst>
        <p:guide orient="horz" pos="689"/>
        <p:guide pos="536"/>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rts/_rels/chart1.xml.rels><?xml version="1.0" encoding="UTF-8" standalone="yes"?>
<Relationships xmlns="http://schemas.openxmlformats.org/package/2006/relationships"><Relationship Id="rId1" Type="http://schemas.openxmlformats.org/officeDocument/2006/relationships/oleObject" Target="&#24037;&#20316;&#31807;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4416109027688901"/>
          <c:y val="0.11815025383298999"/>
          <c:w val="0.35927848353432201"/>
          <c:h val="0.76369949233402101"/>
        </c:manualLayout>
      </c:layout>
      <c:pieChart>
        <c:varyColors val="1"/>
        <c:ser>
          <c:idx val="0"/>
          <c:order val="0"/>
          <c:spPr>
            <a:ln w="12700">
              <a:solidFill>
                <a:schemeClr val="bg1"/>
              </a:solidFill>
            </a:ln>
            <a:effectLst/>
          </c:spPr>
          <c:explosion val="4"/>
          <c:dPt>
            <c:idx val="0"/>
            <c:bubble3D val="0"/>
            <c:explosion val="0"/>
            <c:spPr>
              <a:solidFill>
                <a:srgbClr val="7886CA"/>
              </a:solidFill>
              <a:ln w="12700">
                <a:solidFill>
                  <a:schemeClr val="bg1"/>
                </a:solidFill>
              </a:ln>
              <a:effectLst/>
            </c:spPr>
            <c:extLst>
              <c:ext xmlns:c16="http://schemas.microsoft.com/office/drawing/2014/chart" uri="{C3380CC4-5D6E-409C-BE32-E72D297353CC}">
                <c16:uniqueId val="{00000001-D0B6-C849-9981-0DB9F2C6DFCF}"/>
              </c:ext>
            </c:extLst>
          </c:dPt>
          <c:dPt>
            <c:idx val="1"/>
            <c:bubble3D val="0"/>
            <c:explosion val="0"/>
            <c:spPr>
              <a:solidFill>
                <a:srgbClr val="92CBF6"/>
              </a:solidFill>
              <a:ln w="12700">
                <a:solidFill>
                  <a:schemeClr val="bg1"/>
                </a:solidFill>
              </a:ln>
              <a:effectLst/>
            </c:spPr>
            <c:extLst>
              <c:ext xmlns:c16="http://schemas.microsoft.com/office/drawing/2014/chart" uri="{C3380CC4-5D6E-409C-BE32-E72D297353CC}">
                <c16:uniqueId val="{00000003-D0B6-C849-9981-0DB9F2C6DFCF}"/>
              </c:ext>
            </c:extLst>
          </c:dPt>
          <c:dPt>
            <c:idx val="2"/>
            <c:bubble3D val="0"/>
            <c:explosion val="0"/>
            <c:spPr>
              <a:solidFill>
                <a:srgbClr val="C9B3E1"/>
              </a:solidFill>
              <a:ln w="12700">
                <a:solidFill>
                  <a:schemeClr val="bg1"/>
                </a:solidFill>
              </a:ln>
              <a:effectLst/>
            </c:spPr>
            <c:extLst>
              <c:ext xmlns:c16="http://schemas.microsoft.com/office/drawing/2014/chart" uri="{C3380CC4-5D6E-409C-BE32-E72D297353CC}">
                <c16:uniqueId val="{00000005-D0B6-C849-9981-0DB9F2C6DFCF}"/>
              </c:ext>
            </c:extLst>
          </c:dPt>
          <c:dPt>
            <c:idx val="3"/>
            <c:bubble3D val="0"/>
            <c:explosion val="0"/>
            <c:spPr>
              <a:solidFill>
                <a:srgbClr val="A1DFC4"/>
              </a:solidFill>
              <a:ln w="12700">
                <a:solidFill>
                  <a:schemeClr val="bg1"/>
                </a:solidFill>
              </a:ln>
              <a:effectLst/>
            </c:spPr>
            <c:extLst>
              <c:ext xmlns:c16="http://schemas.microsoft.com/office/drawing/2014/chart" uri="{C3380CC4-5D6E-409C-BE32-E72D297353CC}">
                <c16:uniqueId val="{00000007-D0B6-C849-9981-0DB9F2C6DFCF}"/>
              </c:ext>
            </c:extLst>
          </c:dPt>
          <c:dPt>
            <c:idx val="4"/>
            <c:bubble3D val="0"/>
            <c:explosion val="0"/>
            <c:spPr>
              <a:solidFill>
                <a:srgbClr val="71D2F1"/>
              </a:solidFill>
              <a:ln w="12700">
                <a:solidFill>
                  <a:schemeClr val="bg1"/>
                </a:solidFill>
              </a:ln>
              <a:effectLst/>
            </c:spPr>
            <c:extLst>
              <c:ext xmlns:c16="http://schemas.microsoft.com/office/drawing/2014/chart" uri="{C3380CC4-5D6E-409C-BE32-E72D297353CC}">
                <c16:uniqueId val="{00000009-D0B6-C849-9981-0DB9F2C6DFCF}"/>
              </c:ext>
            </c:extLst>
          </c:dPt>
          <c:dPt>
            <c:idx val="5"/>
            <c:bubble3D val="0"/>
            <c:spPr>
              <a:solidFill>
                <a:srgbClr val="AAE6F0"/>
              </a:solidFill>
              <a:ln w="12700">
                <a:solidFill>
                  <a:schemeClr val="bg1"/>
                </a:solidFill>
              </a:ln>
              <a:effectLst/>
            </c:spPr>
            <c:extLst>
              <c:ext xmlns:c16="http://schemas.microsoft.com/office/drawing/2014/chart" uri="{C3380CC4-5D6E-409C-BE32-E72D297353CC}">
                <c16:uniqueId val="{0000000B-D0B6-C849-9981-0DB9F2C6DFCF}"/>
              </c:ext>
            </c:extLst>
          </c:dPt>
          <c:dPt>
            <c:idx val="6"/>
            <c:bubble3D val="0"/>
            <c:spPr>
              <a:solidFill>
                <a:srgbClr val="FFDF79"/>
              </a:solidFill>
              <a:ln w="12700">
                <a:solidFill>
                  <a:schemeClr val="bg1"/>
                </a:solidFill>
              </a:ln>
              <a:effectLst/>
            </c:spPr>
            <c:extLst>
              <c:ext xmlns:c16="http://schemas.microsoft.com/office/drawing/2014/chart" uri="{C3380CC4-5D6E-409C-BE32-E72D297353CC}">
                <c16:uniqueId val="{0000000D-D0B6-C849-9981-0DB9F2C6DFCF}"/>
              </c:ext>
            </c:extLst>
          </c:dPt>
          <c:dPt>
            <c:idx val="7"/>
            <c:bubble3D val="0"/>
            <c:spPr>
              <a:solidFill>
                <a:srgbClr val="F3E5BA"/>
              </a:solidFill>
              <a:ln w="12700">
                <a:solidFill>
                  <a:schemeClr val="bg1"/>
                </a:solidFill>
              </a:ln>
              <a:effectLst/>
            </c:spPr>
            <c:extLst>
              <c:ext xmlns:c16="http://schemas.microsoft.com/office/drawing/2014/chart" uri="{C3380CC4-5D6E-409C-BE32-E72D297353CC}">
                <c16:uniqueId val="{0000000F-D0B6-C849-9981-0DB9F2C6DFCF}"/>
              </c:ext>
            </c:extLst>
          </c:dPt>
          <c:dPt>
            <c:idx val="8"/>
            <c:bubble3D val="0"/>
            <c:spPr>
              <a:solidFill>
                <a:srgbClr val="AFC3FF"/>
              </a:solidFill>
              <a:ln w="12700">
                <a:solidFill>
                  <a:schemeClr val="bg1"/>
                </a:solidFill>
              </a:ln>
              <a:effectLst/>
            </c:spPr>
            <c:extLst>
              <c:ext xmlns:c16="http://schemas.microsoft.com/office/drawing/2014/chart" uri="{C3380CC4-5D6E-409C-BE32-E72D297353CC}">
                <c16:uniqueId val="{00000011-D0B6-C849-9981-0DB9F2C6DFCF}"/>
              </c:ext>
            </c:extLst>
          </c:dPt>
          <c:dLbls>
            <c:dLbl>
              <c:idx val="0"/>
              <c:layout>
                <c:manualLayout>
                  <c:x val="5.3600665729946297E-2"/>
                  <c:y val="8.6005245563101296E-2"/>
                </c:manualLayout>
              </c:layout>
              <c:tx>
                <c:rich>
                  <a:bodyPr rot="0" spcFirstLastPara="0" vertOverflow="ellipsis" vert="horz" wrap="square" lIns="38100" tIns="19050" rIns="38100" bIns="19050" anchor="ctr" anchorCtr="1"/>
                  <a:lstStyle/>
                  <a:p>
                    <a:fld id="{98F41997-8D7E-4511-8BF6-42123CAFB60F}" type="CATEGORYNAME">
                      <a:rPr lang="zh-CN" altLang="en-US"/>
                      <a:pPr/>
                      <a:t>[类别名称]</a:t>
                    </a:fld>
                    <a:endParaRPr lang="zh-CN" altLang="en-US"/>
                  </a:p>
                </c:rich>
              </c:tx>
              <c:spPr>
                <a:noFill/>
                <a:ln>
                  <a:noFill/>
                </a:ln>
                <a:effectLst/>
              </c:sp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18664563883688801"/>
                      <c:h val="0.25734429300535899"/>
                    </c:manualLayout>
                  </c15:layout>
                  <c15:dlblFieldTable/>
                  <c15:showDataLabelsRange val="0"/>
                </c:ext>
                <c:ext xmlns:c16="http://schemas.microsoft.com/office/drawing/2014/chart" uri="{C3380CC4-5D6E-409C-BE32-E72D297353CC}">
                  <c16:uniqueId val="{00000001-D0B6-C849-9981-0DB9F2C6DFCF}"/>
                </c:ext>
              </c:extLst>
            </c:dLbl>
            <c:dLbl>
              <c:idx val="1"/>
              <c:layout>
                <c:manualLayout>
                  <c:x val="9.4128346733429097E-2"/>
                  <c:y val="-0.13659656648257301"/>
                </c:manualLayout>
              </c:layout>
              <c:tx>
                <c:rich>
                  <a:bodyPr rot="0" spcFirstLastPara="0" vertOverflow="ellipsis" vert="horz" wrap="square" lIns="38100" tIns="19050" rIns="38100" bIns="19050" anchor="ctr" anchorCtr="1"/>
                  <a:lstStyle/>
                  <a:p>
                    <a:fld id="{736CCF24-795D-4949-805D-3570D7DCDFBD}" type="CATEGORYNAME">
                      <a:rPr lang="zh-CN" altLang="en-US"/>
                      <a:pPr/>
                      <a:t>[类别名称]</a:t>
                    </a:fld>
                    <a:endParaRPr lang="zh-CN" altLang="en-US"/>
                  </a:p>
                </c:rich>
              </c:tx>
              <c:spPr>
                <a:noFill/>
                <a:ln>
                  <a:noFill/>
                </a:ln>
                <a:effectLst/>
              </c:sp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196299723604313"/>
                      <c:h val="0.25734429300535899"/>
                    </c:manualLayout>
                  </c15:layout>
                  <c15:dlblFieldTable/>
                  <c15:showDataLabelsRange val="0"/>
                </c:ext>
                <c:ext xmlns:c16="http://schemas.microsoft.com/office/drawing/2014/chart" uri="{C3380CC4-5D6E-409C-BE32-E72D297353CC}">
                  <c16:uniqueId val="{00000003-D0B6-C849-9981-0DB9F2C6DFCF}"/>
                </c:ext>
              </c:extLst>
            </c:dLbl>
            <c:dLbl>
              <c:idx val="2"/>
              <c:layout>
                <c:manualLayout>
                  <c:x val="0.19100594042948299"/>
                  <c:y val="-3.3593820682167701E-2"/>
                </c:manualLayout>
              </c:layout>
              <c:tx>
                <c:rich>
                  <a:bodyPr rot="0" spcFirstLastPara="0" vertOverflow="ellipsis" vert="horz" wrap="square" lIns="38100" tIns="19050" rIns="38100" bIns="19050" anchor="ctr" anchorCtr="1"/>
                  <a:lstStyle/>
                  <a:p>
                    <a:fld id="{967E54FA-38C2-4A90-96F7-35C07CF8EADF}" type="CATEGORYNAME">
                      <a:rPr lang="zh-CN" altLang="en-US"/>
                      <a:pPr/>
                      <a:t>[类别名称]</a:t>
                    </a:fld>
                    <a:endParaRPr lang="zh-CN" altLang="en-US"/>
                  </a:p>
                </c:rich>
              </c:tx>
              <c:spPr>
                <a:noFill/>
                <a:ln>
                  <a:noFill/>
                </a:ln>
                <a:effectLst/>
              </c:sp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21560789313916401"/>
                      <c:h val="0.25734429300535899"/>
                    </c:manualLayout>
                  </c15:layout>
                  <c15:dlblFieldTable/>
                  <c15:showDataLabelsRange val="0"/>
                </c:ext>
                <c:ext xmlns:c16="http://schemas.microsoft.com/office/drawing/2014/chart" uri="{C3380CC4-5D6E-409C-BE32-E72D297353CC}">
                  <c16:uniqueId val="{00000005-D0B6-C849-9981-0DB9F2C6DFCF}"/>
                </c:ext>
              </c:extLst>
            </c:dLbl>
            <c:dLbl>
              <c:idx val="3"/>
              <c:layout>
                <c:manualLayout>
                  <c:x val="6.7708426836664204E-3"/>
                  <c:y val="-6.0709585103365701E-2"/>
                </c:manualLayout>
              </c:layout>
              <c:tx>
                <c:rich>
                  <a:bodyPr rot="0" spcFirstLastPara="0" vertOverflow="ellipsis" vert="horz" wrap="square" lIns="38100" tIns="19050" rIns="38100" bIns="19050" anchor="ctr" anchorCtr="1"/>
                  <a:lstStyle/>
                  <a:p>
                    <a:fld id="{AAD9306B-66E3-4A29-8FBD-514A99D15080}" type="CATEGORYNAME">
                      <a:rPr lang="zh-CN" altLang="en-US"/>
                      <a:pPr/>
                      <a:t>[类别名称]</a:t>
                    </a:fld>
                    <a:endParaRPr lang="zh-CN" altLang="en-US"/>
                  </a:p>
                </c:rich>
              </c:tx>
              <c:spPr>
                <a:noFill/>
                <a:ln>
                  <a:noFill/>
                </a:ln>
                <a:effectLst/>
              </c:sp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23491606267401399"/>
                      <c:h val="0.25734429300535899"/>
                    </c:manualLayout>
                  </c15:layout>
                  <c15:dlblFieldTable/>
                  <c15:showDataLabelsRange val="0"/>
                </c:ext>
                <c:ext xmlns:c16="http://schemas.microsoft.com/office/drawing/2014/chart" uri="{C3380CC4-5D6E-409C-BE32-E72D297353CC}">
                  <c16:uniqueId val="{00000007-D0B6-C849-9981-0DB9F2C6DFCF}"/>
                </c:ext>
              </c:extLst>
            </c:dLbl>
            <c:dLbl>
              <c:idx val="4"/>
              <c:layout>
                <c:manualLayout>
                  <c:x val="3.33530544112908E-2"/>
                  <c:y val="-1.2050525918240099E-16"/>
                </c:manualLayout>
              </c:layout>
              <c:tx>
                <c:rich>
                  <a:bodyPr rot="0" spcFirstLastPara="0" vertOverflow="ellipsis" vert="horz" wrap="square" lIns="38100" tIns="19050" rIns="38100" bIns="19050" anchor="ctr" anchorCtr="1"/>
                  <a:lstStyle/>
                  <a:p>
                    <a:fld id="{E1D903A9-AF49-47C8-A241-35C439321D73}" type="CATEGORYNAME">
                      <a:rPr lang="zh-CN" altLang="en-US"/>
                      <a:pPr/>
                      <a:t>[类别名称]</a:t>
                    </a:fld>
                    <a:endParaRPr lang="zh-CN" altLang="en-US"/>
                  </a:p>
                </c:rich>
              </c:tx>
              <c:spPr>
                <a:noFill/>
                <a:ln>
                  <a:noFill/>
                </a:ln>
                <a:effectLst/>
              </c:sp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24135211918563099"/>
                      <c:h val="0.25734429300535899"/>
                    </c:manualLayout>
                  </c15:layout>
                  <c15:dlblFieldTable/>
                  <c15:showDataLabelsRange val="0"/>
                </c:ext>
                <c:ext xmlns:c16="http://schemas.microsoft.com/office/drawing/2014/chart" uri="{C3380CC4-5D6E-409C-BE32-E72D297353CC}">
                  <c16:uniqueId val="{00000009-D0B6-C849-9981-0DB9F2C6DFCF}"/>
                </c:ext>
              </c:extLst>
            </c:dLbl>
            <c:dLbl>
              <c:idx val="5"/>
              <c:layout>
                <c:manualLayout>
                  <c:x val="9.0169416946507298E-3"/>
                  <c:y val="7.0827790215640798E-2"/>
                </c:manualLayout>
              </c:layout>
              <c:tx>
                <c:rich>
                  <a:bodyPr rot="0" spcFirstLastPara="0" vertOverflow="ellipsis" vert="horz" wrap="square" lIns="38100" tIns="19050" rIns="38100" bIns="19050" anchor="ctr" anchorCtr="1"/>
                  <a:lstStyle/>
                  <a:p>
                    <a:fld id="{70679A8D-0550-4CD4-82E4-16A8F29C3D4D}" type="CATEGORYNAME">
                      <a:rPr lang="zh-CN" altLang="en-US"/>
                      <a:pPr/>
                      <a:t>[类别名称]</a:t>
                    </a:fld>
                    <a:endParaRPr lang="zh-CN" altLang="en-US"/>
                  </a:p>
                </c:rich>
              </c:tx>
              <c:spPr>
                <a:noFill/>
                <a:ln>
                  <a:noFill/>
                </a:ln>
                <a:effectLst/>
              </c:sp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26793835372769298"/>
                      <c:h val="0.22060353590454501"/>
                    </c:manualLayout>
                  </c15:layout>
                  <c15:dlblFieldTable/>
                  <c15:showDataLabelsRange val="0"/>
                </c:ext>
                <c:ext xmlns:c16="http://schemas.microsoft.com/office/drawing/2014/chart" uri="{C3380CC4-5D6E-409C-BE32-E72D297353CC}">
                  <c16:uniqueId val="{0000000B-D0B6-C849-9981-0DB9F2C6DFCF}"/>
                </c:ext>
              </c:extLst>
            </c:dLbl>
            <c:dLbl>
              <c:idx val="6"/>
              <c:layout>
                <c:manualLayout>
                  <c:x val="-9.5201702986054005E-3"/>
                  <c:y val="8.6005245563101296E-2"/>
                </c:manualLayout>
              </c:layout>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23800425746513501"/>
                      <c:h val="0.14539945632256099"/>
                    </c:manualLayout>
                  </c15:layout>
                </c:ext>
                <c:ext xmlns:c16="http://schemas.microsoft.com/office/drawing/2014/chart" uri="{C3380CC4-5D6E-409C-BE32-E72D297353CC}">
                  <c16:uniqueId val="{0000000D-D0B6-C849-9981-0DB9F2C6DFCF}"/>
                </c:ext>
              </c:extLst>
            </c:dLbl>
            <c:dLbl>
              <c:idx val="7"/>
              <c:layout>
                <c:manualLayout>
                  <c:x val="-1.39454692758585E-2"/>
                  <c:y val="2.5295660459735601E-2"/>
                </c:manualLayout>
              </c:layout>
              <c:tx>
                <c:rich>
                  <a:bodyPr rot="0" spcFirstLastPara="0" vertOverflow="ellipsis" vert="horz" wrap="square" lIns="38100" tIns="19050" rIns="38100" bIns="19050" anchor="ctr" anchorCtr="1"/>
                  <a:lstStyle/>
                  <a:p>
                    <a:fld id="{883E2011-9C94-4783-ACFF-BA37F5164992}" type="CATEGORYNAME">
                      <a:rPr lang="zh-CN" altLang="en-US"/>
                      <a:pPr/>
                      <a:t>[类别名称]</a:t>
                    </a:fld>
                    <a:endParaRPr lang="zh-CN" altLang="en-US"/>
                  </a:p>
                </c:rich>
              </c:tx>
              <c:spPr>
                <a:noFill/>
                <a:ln>
                  <a:noFill/>
                </a:ln>
                <a:effectLst/>
              </c:sp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222043949650781"/>
                      <c:h val="0.25734429300535899"/>
                    </c:manualLayout>
                  </c15:layout>
                  <c15:dlblFieldTable/>
                  <c15:showDataLabelsRange val="0"/>
                </c:ext>
                <c:ext xmlns:c16="http://schemas.microsoft.com/office/drawing/2014/chart" uri="{C3380CC4-5D6E-409C-BE32-E72D297353CC}">
                  <c16:uniqueId val="{0000000F-D0B6-C849-9981-0DB9F2C6DFCF}"/>
                </c:ext>
              </c:extLst>
            </c:dLbl>
            <c:dLbl>
              <c:idx val="8"/>
              <c:layout>
                <c:manualLayout>
                  <c:x val="0.16541295893826899"/>
                  <c:y val="2.0236528367788501E-2"/>
                </c:manualLayout>
              </c:layout>
              <c:tx>
                <c:rich>
                  <a:bodyPr rot="0" spcFirstLastPara="0" vertOverflow="ellipsis" vert="horz" wrap="square" lIns="38100" tIns="19050" rIns="38100" bIns="19050" anchor="ctr" anchorCtr="1"/>
                  <a:lstStyle/>
                  <a:p>
                    <a:fld id="{B1A323FE-4CD8-45E7-92F5-99D397C5FB18}" type="CATEGORYNAME">
                      <a:rPr lang="zh-CN" altLang="en-US"/>
                      <a:pPr/>
                      <a:t>[类别名称]</a:t>
                    </a:fld>
                    <a:endParaRPr lang="zh-CN" altLang="en-US"/>
                  </a:p>
                </c:rich>
              </c:tx>
              <c:spPr>
                <a:noFill/>
                <a:ln>
                  <a:noFill/>
                </a:ln>
                <a:effectLst/>
              </c:sp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10234183071000801"/>
                      <c:h val="0.15212810200485"/>
                    </c:manualLayout>
                  </c15:layout>
                  <c15:dlblFieldTable/>
                  <c15:showDataLabelsRange val="0"/>
                </c:ext>
                <c:ext xmlns:c16="http://schemas.microsoft.com/office/drawing/2014/chart" uri="{C3380CC4-5D6E-409C-BE32-E72D297353CC}">
                  <c16:uniqueId val="{00000011-D0B6-C849-9981-0DB9F2C6DFCF}"/>
                </c:ext>
              </c:extLst>
            </c:dLbl>
            <c:spPr>
              <a:noFill/>
              <a:ln>
                <a:noFill/>
              </a:ln>
              <a:effectLst/>
            </c:spPr>
            <c:txPr>
              <a:bodyPr rot="0" spcFirstLastPara="0" vertOverflow="ellipsis" vert="horz" wrap="square" lIns="38100" tIns="19050" rIns="38100" bIns="19050" anchor="ctr" anchorCtr="1"/>
              <a:lstStyle/>
              <a:p>
                <a:pPr>
                  <a:defRPr lang="zh-CN" sz="800" b="1" i="0" u="none" strike="noStrike" kern="1200" spc="0" baseline="0">
                    <a:solidFill>
                      <a:schemeClr val="tx1">
                        <a:lumMod val="95000"/>
                        <a:lumOff val="5000"/>
                      </a:schemeClr>
                    </a:solidFill>
                    <a:latin typeface="微软雅黑" panose="020B0503020204020204" charset="-122"/>
                    <a:ea typeface="微软雅黑" panose="020B0503020204020204" charset="-122"/>
                    <a:cs typeface="+mn-cs"/>
                  </a:defRPr>
                </a:pPr>
                <a:endParaRPr lang="zh-CN"/>
              </a:p>
            </c:tx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[工作簿1]Sheet1!$B$6:$B$14</c:f>
              <c:strCache>
                <c:ptCount val="9"/>
                <c:pt idx="0">
                  <c:v>查询质量</c:v>
                </c:pt>
                <c:pt idx="1">
                  <c:v>审计质量</c:v>
                </c:pt>
                <c:pt idx="2">
                  <c:v>参数配置</c:v>
                </c:pt>
                <c:pt idx="3">
                  <c:v>数据访问量大</c:v>
                </c:pt>
                <c:pt idx="4">
                  <c:v>索引问题</c:v>
                </c:pt>
                <c:pt idx="5">
                  <c:v>执行计划缓存不足</c:v>
                </c:pt>
                <c:pt idx="6">
                  <c:v>一致性模型问题</c:v>
                </c:pt>
                <c:pt idx="7">
                  <c:v>数据缓存不足</c:v>
                </c:pt>
                <c:pt idx="8">
                  <c:v>其他</c:v>
                </c:pt>
              </c:strCache>
            </c:strRef>
          </c:cat>
          <c:val>
            <c:numRef>
              <c:f>[工作簿1]Sheet1!$C$6:$C$14</c:f>
              <c:numCache>
                <c:formatCode>0%</c:formatCode>
                <c:ptCount val="9"/>
                <c:pt idx="0">
                  <c:v>0.27</c:v>
                </c:pt>
                <c:pt idx="1">
                  <c:v>0.15</c:v>
                </c:pt>
                <c:pt idx="2">
                  <c:v>0.13</c:v>
                </c:pt>
                <c:pt idx="3">
                  <c:v>0.11</c:v>
                </c:pt>
                <c:pt idx="4">
                  <c:v>0.09</c:v>
                </c:pt>
                <c:pt idx="5">
                  <c:v>0.08</c:v>
                </c:pt>
                <c:pt idx="6">
                  <c:v>7.0000000000000007E-2</c:v>
                </c:pt>
                <c:pt idx="7">
                  <c:v>0.04</c:v>
                </c:pt>
                <c:pt idx="8">
                  <c:v>0.06</c:v>
                </c:pt>
              </c:numCache>
            </c:numRef>
          </c:val>
          <c:extLst>
            <c:ext xmlns:c16="http://schemas.microsoft.com/office/drawing/2014/chart" uri="{C3380CC4-5D6E-409C-BE32-E72D297353CC}">
              <c16:uniqueId val="{00000012-D0B6-C849-9981-0DB9F2C6DFCF}"/>
            </c:ext>
          </c:extLst>
        </c:ser>
        <c:dLbls>
          <c:showLegendKey val="0"/>
          <c:showVal val="0"/>
          <c:showCatName val="1"/>
          <c:showSerName val="0"/>
          <c:showPercent val="0"/>
          <c:showBubbleSize val="0"/>
          <c:showLeaderLines val="1"/>
        </c:dLbls>
        <c:firstSliceAng val="0"/>
      </c:pieChart>
      <c:spPr>
        <a:noFill/>
        <a:ln>
          <a:noFill/>
        </a:ln>
        <a:effectLst/>
      </c:spPr>
    </c:plotArea>
    <c:plotVisOnly val="1"/>
    <c:dispBlanksAs val="gap"/>
    <c:showDLblsOverMax val="0"/>
  </c:chart>
  <c:spPr>
    <a:noFill/>
    <a:ln w="9525" cap="flat" cmpd="sng" algn="ctr">
      <a:noFill/>
      <a:round/>
    </a:ln>
    <a:effectLst/>
  </c:spPr>
  <c:txPr>
    <a:bodyPr/>
    <a:lstStyle/>
    <a:p>
      <a:pPr>
        <a:defRPr lang="zh-CN"/>
      </a:pPr>
      <a:endParaRPr lang="zh-CN"/>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7266" name="Rectangle 2"/>
          <p:cNvSpPr>
            <a:spLocks noGrp="1" noChangeArrowheads="1"/>
          </p:cNvSpPr>
          <p:nvPr>
            <p:ph type="hdr" sz="quarter"/>
          </p:nvPr>
        </p:nvSpPr>
        <p:spPr bwMode="auto">
          <a:xfrm>
            <a:off x="0" y="0"/>
            <a:ext cx="3032125" cy="463550"/>
          </a:xfrm>
          <a:prstGeom prst="rect">
            <a:avLst/>
          </a:prstGeom>
          <a:noFill/>
          <a:ln w="9525">
            <a:noFill/>
            <a:miter lim="800000"/>
          </a:ln>
          <a:effectLst/>
        </p:spPr>
        <p:txBody>
          <a:bodyPr vert="horz" wrap="square" lIns="93027" tIns="46514" rIns="93027" bIns="46514" numCol="1" anchor="t" anchorCtr="0" compatLnSpc="1"/>
          <a:lstStyle>
            <a:lvl1pPr defTabSz="930275">
              <a:defRPr sz="1300">
                <a:latin typeface="Helvetica" panose="020B0604020202030204" pitchFamily="34" charset="0"/>
                <a:ea typeface="+mn-ea"/>
                <a:cs typeface="+mn-cs"/>
              </a:defRPr>
            </a:lvl1pPr>
          </a:lstStyle>
          <a:p>
            <a:pPr>
              <a:defRPr/>
            </a:pPr>
            <a:endParaRPr lang="en-US"/>
          </a:p>
        </p:txBody>
      </p:sp>
      <p:sp>
        <p:nvSpPr>
          <p:cNvPr id="267267" name="Rectangle 3"/>
          <p:cNvSpPr>
            <a:spLocks noGrp="1" noChangeArrowheads="1"/>
          </p:cNvSpPr>
          <p:nvPr>
            <p:ph type="dt" sz="quarter" idx="1"/>
          </p:nvPr>
        </p:nvSpPr>
        <p:spPr bwMode="auto">
          <a:xfrm>
            <a:off x="3965575" y="0"/>
            <a:ext cx="3032125" cy="463550"/>
          </a:xfrm>
          <a:prstGeom prst="rect">
            <a:avLst/>
          </a:prstGeom>
          <a:noFill/>
          <a:ln w="9525">
            <a:noFill/>
            <a:miter lim="800000"/>
          </a:ln>
          <a:effectLst/>
        </p:spPr>
        <p:txBody>
          <a:bodyPr vert="horz" wrap="square" lIns="93027" tIns="46514" rIns="93027" bIns="46514" numCol="1" anchor="t" anchorCtr="0" compatLnSpc="1"/>
          <a:lstStyle>
            <a:lvl1pPr algn="r" defTabSz="930275">
              <a:defRPr sz="1300">
                <a:latin typeface="Helvetica" panose="020B0604020202030204" pitchFamily="34" charset="0"/>
                <a:ea typeface="+mn-ea"/>
                <a:cs typeface="+mn-cs"/>
              </a:defRPr>
            </a:lvl1pPr>
          </a:lstStyle>
          <a:p>
            <a:pPr>
              <a:defRPr/>
            </a:pPr>
            <a:endParaRPr lang="en-US"/>
          </a:p>
        </p:txBody>
      </p:sp>
      <p:sp>
        <p:nvSpPr>
          <p:cNvPr id="267268" name="Rectangle 4"/>
          <p:cNvSpPr>
            <a:spLocks noGrp="1" noChangeArrowheads="1"/>
          </p:cNvSpPr>
          <p:nvPr>
            <p:ph type="ftr" sz="quarter" idx="2"/>
          </p:nvPr>
        </p:nvSpPr>
        <p:spPr bwMode="auto">
          <a:xfrm>
            <a:off x="0" y="8820150"/>
            <a:ext cx="3032125" cy="463550"/>
          </a:xfrm>
          <a:prstGeom prst="rect">
            <a:avLst/>
          </a:prstGeom>
          <a:noFill/>
          <a:ln w="9525">
            <a:noFill/>
            <a:miter lim="800000"/>
          </a:ln>
          <a:effectLst/>
        </p:spPr>
        <p:txBody>
          <a:bodyPr vert="horz" wrap="square" lIns="93027" tIns="46514" rIns="93027" bIns="46514" numCol="1" anchor="b" anchorCtr="0" compatLnSpc="1"/>
          <a:lstStyle>
            <a:lvl1pPr defTabSz="930275">
              <a:defRPr sz="1300">
                <a:latin typeface="Helvetica" panose="020B0604020202030204" pitchFamily="34" charset="0"/>
                <a:ea typeface="+mn-ea"/>
                <a:cs typeface="+mn-cs"/>
              </a:defRPr>
            </a:lvl1pPr>
          </a:lstStyle>
          <a:p>
            <a:pPr>
              <a:defRPr/>
            </a:pPr>
            <a:endParaRPr lang="en-US"/>
          </a:p>
        </p:txBody>
      </p:sp>
      <p:sp>
        <p:nvSpPr>
          <p:cNvPr id="267269" name="Rectangle 5"/>
          <p:cNvSpPr>
            <a:spLocks noGrp="1" noChangeArrowheads="1"/>
          </p:cNvSpPr>
          <p:nvPr>
            <p:ph type="sldNum" sz="quarter" idx="3"/>
          </p:nvPr>
        </p:nvSpPr>
        <p:spPr bwMode="auto">
          <a:xfrm>
            <a:off x="3965575" y="8820150"/>
            <a:ext cx="3032125" cy="463550"/>
          </a:xfrm>
          <a:prstGeom prst="rect">
            <a:avLst/>
          </a:prstGeom>
          <a:noFill/>
          <a:ln w="9525">
            <a:noFill/>
            <a:miter lim="800000"/>
          </a:ln>
          <a:effectLst/>
        </p:spPr>
        <p:txBody>
          <a:bodyPr vert="horz" wrap="square" lIns="93027" tIns="46514" rIns="93027" bIns="46514" numCol="1" anchor="b" anchorCtr="0" compatLnSpc="1"/>
          <a:lstStyle>
            <a:lvl1pPr algn="r" defTabSz="930275">
              <a:defRPr sz="1300"/>
            </a:lvl1pPr>
          </a:lstStyle>
          <a:p>
            <a:pPr>
              <a:defRPr/>
            </a:pPr>
            <a:fld id="{A8B4C920-550B-4EA7-9CB5-2D8883A273BF}" type="slidenum">
              <a:rPr lang="en-US" altLang="en-US"/>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0642" name="Rectangle 2"/>
          <p:cNvSpPr>
            <a:spLocks noGrp="1" noChangeArrowheads="1"/>
          </p:cNvSpPr>
          <p:nvPr>
            <p:ph type="hdr" sz="quarter"/>
          </p:nvPr>
        </p:nvSpPr>
        <p:spPr bwMode="auto">
          <a:xfrm>
            <a:off x="0" y="0"/>
            <a:ext cx="3032125" cy="463550"/>
          </a:xfrm>
          <a:prstGeom prst="rect">
            <a:avLst/>
          </a:prstGeom>
          <a:noFill/>
          <a:ln w="9525">
            <a:noFill/>
            <a:miter lim="800000"/>
          </a:ln>
          <a:effectLst/>
        </p:spPr>
        <p:txBody>
          <a:bodyPr vert="horz" wrap="none" lIns="93027" tIns="46514" rIns="93027" bIns="46514" numCol="1" anchor="t" anchorCtr="0" compatLnSpc="1"/>
          <a:lstStyle>
            <a:lvl1pPr defTabSz="930275">
              <a:defRPr sz="1300">
                <a:latin typeface="Helvetica" panose="020B0604020202030204" pitchFamily="34" charset="0"/>
                <a:ea typeface="+mn-ea"/>
                <a:cs typeface="+mn-cs"/>
              </a:defRPr>
            </a:lvl1pPr>
          </a:lstStyle>
          <a:p>
            <a:pPr>
              <a:defRPr/>
            </a:pPr>
            <a:endParaRPr lang="en-US"/>
          </a:p>
        </p:txBody>
      </p:sp>
      <p:sp>
        <p:nvSpPr>
          <p:cNvPr id="240643" name="Rectangle 3"/>
          <p:cNvSpPr>
            <a:spLocks noGrp="1" noChangeArrowheads="1"/>
          </p:cNvSpPr>
          <p:nvPr>
            <p:ph type="dt" idx="1"/>
          </p:nvPr>
        </p:nvSpPr>
        <p:spPr bwMode="auto">
          <a:xfrm>
            <a:off x="3965575" y="0"/>
            <a:ext cx="3032125" cy="463550"/>
          </a:xfrm>
          <a:prstGeom prst="rect">
            <a:avLst/>
          </a:prstGeom>
          <a:noFill/>
          <a:ln w="9525">
            <a:noFill/>
            <a:miter lim="800000"/>
          </a:ln>
          <a:effectLst/>
        </p:spPr>
        <p:txBody>
          <a:bodyPr vert="horz" wrap="none" lIns="93027" tIns="46514" rIns="93027" bIns="46514" numCol="1" anchor="t" anchorCtr="0" compatLnSpc="1"/>
          <a:lstStyle>
            <a:lvl1pPr algn="r" defTabSz="930275">
              <a:defRPr sz="1300">
                <a:latin typeface="Helvetica" panose="020B0604020202030204" pitchFamily="34" charset="0"/>
                <a:ea typeface="+mn-ea"/>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ln>
        </p:spPr>
      </p:sp>
      <p:sp>
        <p:nvSpPr>
          <p:cNvPr id="240645" name="Rectangle 5"/>
          <p:cNvSpPr>
            <a:spLocks noGrp="1" noChangeArrowheads="1"/>
          </p:cNvSpPr>
          <p:nvPr>
            <p:ph type="body" sz="quarter" idx="3"/>
          </p:nvPr>
        </p:nvSpPr>
        <p:spPr bwMode="auto">
          <a:xfrm>
            <a:off x="931863" y="4410075"/>
            <a:ext cx="5133975" cy="4176713"/>
          </a:xfrm>
          <a:prstGeom prst="rect">
            <a:avLst/>
          </a:prstGeom>
          <a:noFill/>
          <a:ln w="9525">
            <a:noFill/>
            <a:miter lim="800000"/>
          </a:ln>
          <a:effectLst/>
        </p:spPr>
        <p:txBody>
          <a:bodyPr vert="horz" wrap="none" lIns="93027" tIns="46514" rIns="93027" bIns="46514" numCol="1" anchor="t" anchorCtr="0" compatLnSpc="1"/>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0646" name="Rectangle 6"/>
          <p:cNvSpPr>
            <a:spLocks noGrp="1" noChangeArrowheads="1"/>
          </p:cNvSpPr>
          <p:nvPr>
            <p:ph type="ftr" sz="quarter" idx="4"/>
          </p:nvPr>
        </p:nvSpPr>
        <p:spPr bwMode="auto">
          <a:xfrm>
            <a:off x="0" y="8820150"/>
            <a:ext cx="3032125" cy="463550"/>
          </a:xfrm>
          <a:prstGeom prst="rect">
            <a:avLst/>
          </a:prstGeom>
          <a:noFill/>
          <a:ln w="9525">
            <a:noFill/>
            <a:miter lim="800000"/>
          </a:ln>
          <a:effectLst/>
        </p:spPr>
        <p:txBody>
          <a:bodyPr vert="horz" wrap="none" lIns="93027" tIns="46514" rIns="93027" bIns="46514" numCol="1" anchor="b" anchorCtr="0" compatLnSpc="1"/>
          <a:lstStyle>
            <a:lvl1pPr defTabSz="930275">
              <a:defRPr sz="1300">
                <a:latin typeface="Helvetica" panose="020B0604020202030204" pitchFamily="34" charset="0"/>
                <a:ea typeface="+mn-ea"/>
                <a:cs typeface="+mn-cs"/>
              </a:defRPr>
            </a:lvl1pPr>
          </a:lstStyle>
          <a:p>
            <a:pPr>
              <a:defRPr/>
            </a:pPr>
            <a:endParaRPr lang="en-US"/>
          </a:p>
        </p:txBody>
      </p:sp>
      <p:sp>
        <p:nvSpPr>
          <p:cNvPr id="240647" name="Rectangle 7"/>
          <p:cNvSpPr>
            <a:spLocks noGrp="1" noChangeArrowheads="1"/>
          </p:cNvSpPr>
          <p:nvPr>
            <p:ph type="sldNum" sz="quarter" idx="5"/>
          </p:nvPr>
        </p:nvSpPr>
        <p:spPr bwMode="auto">
          <a:xfrm>
            <a:off x="3965575" y="8820150"/>
            <a:ext cx="3032125" cy="463550"/>
          </a:xfrm>
          <a:prstGeom prst="rect">
            <a:avLst/>
          </a:prstGeom>
          <a:noFill/>
          <a:ln w="9525">
            <a:noFill/>
            <a:miter lim="800000"/>
          </a:ln>
          <a:effectLst/>
        </p:spPr>
        <p:txBody>
          <a:bodyPr vert="horz" wrap="none" lIns="93027" tIns="46514" rIns="93027" bIns="46514" numCol="1" anchor="b" anchorCtr="0" compatLnSpc="1"/>
          <a:lstStyle>
            <a:lvl1pPr algn="r" defTabSz="930275">
              <a:defRPr sz="1300"/>
            </a:lvl1pPr>
          </a:lstStyle>
          <a:p>
            <a:pPr>
              <a:defRPr/>
            </a:pPr>
            <a:fld id="{AE66C03C-4B0E-4149-8287-A3B340EB818D}" type="slidenum">
              <a:rPr lang="en-US" altLang="en-US"/>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AE66C03C-4B0E-4149-8287-A3B340EB818D}" type="slidenum">
              <a:rPr lang="en-US" altLang="en-US" smtClean="0"/>
              <a:t>5</a:t>
            </a:fld>
            <a:endParaRPr lang="en-US" altLang="en-US"/>
          </a:p>
        </p:txBody>
      </p:sp>
    </p:spTree>
    <p:extLst>
      <p:ext uri="{BB962C8B-B14F-4D97-AF65-F5344CB8AC3E}">
        <p14:creationId xmlns:p14="http://schemas.microsoft.com/office/powerpoint/2010/main" val="20914222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FE4FA5C0-9868-CE46-A0FF-56EEF184B354}" type="slidenum">
              <a:rPr lang="x-none" smtClean="0"/>
              <a:t>7</a:t>
            </a:fld>
            <a:endParaRPr kumimoji="1" lang="x-none"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p:sp>
      <p:sp>
        <p:nvSpPr>
          <p:cNvPr id="9219" name="备注占位符 2"/>
          <p:cNvSpPr>
            <a:spLocks noGrp="1"/>
          </p:cNvSpPr>
          <p:nvPr>
            <p:ph type="body" idx="1"/>
          </p:nvPr>
        </p:nvSpPr>
        <p:spPr/>
        <p:txBody>
          <a:bodyPr wrap="square" lIns="99048" tIns="49524" rIns="99048" bIns="49524" anchor="t"/>
          <a:lstStyle/>
          <a:p>
            <a:pPr lvl="0"/>
            <a:endParaRPr lang="zh-CN" altLang="en-US" dirty="0"/>
          </a:p>
        </p:txBody>
      </p:sp>
      <p:sp>
        <p:nvSpPr>
          <p:cNvPr id="9220"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eaLnBrk="1" hangingPunct="1">
              <a:spcBef>
                <a:spcPct val="0"/>
              </a:spcBef>
            </a:pPr>
            <a:fld id="{9A0DB2DC-4C9A-4742-B13C-FB6460FD3503}" type="slidenum">
              <a:rPr lang="en-US" altLang="zh-CN" sz="1300" dirty="0"/>
              <a:t>8</a:t>
            </a:fld>
            <a:endParaRPr lang="en-US" altLang="zh-CN" sz="13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FE4FA5C0-9868-CE46-A0FF-56EEF184B354}" type="slidenum">
              <a:rPr lang="x-none" smtClean="0"/>
              <a:t>9</a:t>
            </a:fld>
            <a:endParaRPr kumimoji="1" lang="x-none"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r>
              <a:rPr lang="zh-CN" altLang="en-US"/>
              <a:t>本来，以貌取人是根据不足的，但这四位得主，都有一股学者范（“范儿”是一种感觉，很难严格定义），几位学者，虽近髦耋，眉宇中有一股英气，目光坚定自信，相信在年轻时，叫人一看，就知是聪明人。</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r>
              <a:rPr kumimoji="1" lang="en-US" altLang="zh-CN" b="1" dirty="0" err="1">
                <a:latin typeface="Arial" panose="020B0604020202020204" pitchFamily="34" charset="0"/>
                <a:ea typeface="宋体" panose="02010600030101010101" pitchFamily="2" charset="-122"/>
                <a:cs typeface="Arial" panose="020B0604020202020204" pitchFamily="34" charset="0"/>
                <a:sym typeface="+mn-ea"/>
              </a:rPr>
              <a:t>C.W.Bachman</a:t>
            </a:r>
            <a:r>
              <a:rPr kumimoji="1" lang="zh-CN" altLang="en-US" b="1" dirty="0">
                <a:latin typeface="Arial" panose="020B0604020202020204" pitchFamily="34" charset="0"/>
                <a:ea typeface="宋体" panose="02010600030101010101" pitchFamily="2" charset="-122"/>
                <a:cs typeface="Arial" panose="020B0604020202020204" pitchFamily="34" charset="0"/>
                <a:sym typeface="+mn-ea"/>
              </a:rPr>
              <a:t>，</a:t>
            </a:r>
            <a:r>
              <a:rPr lang="zh-CN" altLang="en-US" dirty="0">
                <a:sym typeface="+mn-ea"/>
              </a:rPr>
              <a:t>在上世纪 </a:t>
            </a:r>
            <a:r>
              <a:rPr lang="en-US" altLang="zh-CN" dirty="0">
                <a:sym typeface="+mn-ea"/>
              </a:rPr>
              <a:t>60 </a:t>
            </a:r>
            <a:r>
              <a:rPr lang="zh-CN" altLang="en-US" dirty="0">
                <a:sym typeface="+mn-ea"/>
              </a:rPr>
              <a:t>年代创造了全球首个网状数据库管理系统 </a:t>
            </a:r>
            <a:r>
              <a:rPr lang="en-US" altLang="zh-CN" dirty="0">
                <a:sym typeface="+mn-ea"/>
              </a:rPr>
              <a:t>IDS</a:t>
            </a:r>
            <a:r>
              <a:rPr lang="zh-CN" altLang="en-US" dirty="0">
                <a:sym typeface="+mn-ea"/>
              </a:rPr>
              <a:t>，改变了我们和数据的互动方式，并为我们今天习以为常的数字生活建立了技术基础。</a:t>
            </a:r>
            <a:endParaRPr lang="en-US" altLang="zh-CN" dirty="0"/>
          </a:p>
          <a:p>
            <a:pPr algn="l"/>
            <a:r>
              <a:rPr lang="zh-CN" altLang="en-US" dirty="0">
                <a:sym typeface="+mn-ea"/>
              </a:rPr>
              <a:t>在 </a:t>
            </a:r>
            <a:r>
              <a:rPr lang="en-US" altLang="zh-CN" dirty="0">
                <a:sym typeface="+mn-ea"/>
              </a:rPr>
              <a:t>Bachman </a:t>
            </a:r>
            <a:r>
              <a:rPr lang="zh-CN" altLang="en-US" dirty="0">
                <a:sym typeface="+mn-ea"/>
              </a:rPr>
              <a:t>获奖那年，图灵奖走入了第八个年头，却是首次向一位工程师专业的人颁发该项荣誉，而且 </a:t>
            </a:r>
            <a:r>
              <a:rPr lang="en-US" altLang="zh-CN" dirty="0">
                <a:sym typeface="+mn-ea"/>
              </a:rPr>
              <a:t>Bachman </a:t>
            </a:r>
            <a:r>
              <a:rPr lang="zh-CN" altLang="en-US" dirty="0">
                <a:sym typeface="+mn-ea"/>
              </a:rPr>
              <a:t>也是首位不具备博士头衔的获奖者。</a:t>
            </a:r>
            <a:endParaRPr lang="en-US" altLang="zh-CN" dirty="0"/>
          </a:p>
          <a:p>
            <a:pPr algn="l"/>
            <a:r>
              <a:rPr lang="zh-CN" altLang="en-US" dirty="0">
                <a:sym typeface="+mn-ea"/>
              </a:rPr>
              <a:t>他认为世界正在从“计算机为中心”逐渐转变为“数据库为中心”，这个改变的重要程度不亚于当初天文学从地心说转移至日心说一样。通过数据库任务组（</a:t>
            </a:r>
            <a:r>
              <a:rPr lang="en-US" altLang="zh-CN" dirty="0">
                <a:sym typeface="+mn-ea"/>
              </a:rPr>
              <a:t>Database Task Group</a:t>
            </a:r>
            <a:r>
              <a:rPr lang="zh-CN" altLang="en-US" dirty="0">
                <a:sym typeface="+mn-ea"/>
              </a:rPr>
              <a:t>），他积极推动与促成了数据库标准的制定，并于 </a:t>
            </a:r>
            <a:r>
              <a:rPr lang="en-US" altLang="zh-CN" dirty="0">
                <a:sym typeface="+mn-ea"/>
              </a:rPr>
              <a:t>1971 </a:t>
            </a:r>
            <a:r>
              <a:rPr lang="zh-CN" altLang="en-US" dirty="0">
                <a:sym typeface="+mn-ea"/>
              </a:rPr>
              <a:t>年推出了第一个正式报告，成为数据库历史上具有里程碑意义的文献。</a:t>
            </a:r>
            <a:endParaRPr lang="zh-CN" altLang="en-US" dirty="0"/>
          </a:p>
          <a:p>
            <a:pPr algn="l"/>
            <a:r>
              <a:rPr lang="en-US" altLang="zh-CN" dirty="0">
                <a:sym typeface="+mn-ea"/>
              </a:rPr>
              <a:t>2012 </a:t>
            </a:r>
            <a:r>
              <a:rPr lang="zh-CN" altLang="en-US" dirty="0">
                <a:sym typeface="+mn-ea"/>
              </a:rPr>
              <a:t>年，</a:t>
            </a:r>
            <a:r>
              <a:rPr lang="en-US" altLang="zh-CN" dirty="0">
                <a:sym typeface="+mn-ea"/>
              </a:rPr>
              <a:t>Bachman </a:t>
            </a:r>
            <a:r>
              <a:rPr lang="zh-CN" altLang="en-US" dirty="0">
                <a:sym typeface="+mn-ea"/>
              </a:rPr>
              <a:t>获颁美国科技界最高荣誉奖项</a:t>
            </a:r>
            <a:r>
              <a:rPr lang="en-US" altLang="zh-CN" dirty="0">
                <a:sym typeface="+mn-ea"/>
              </a:rPr>
              <a:t>——</a:t>
            </a:r>
            <a:r>
              <a:rPr lang="zh-CN" altLang="en-US" dirty="0">
                <a:sym typeface="+mn-ea"/>
              </a:rPr>
              <a:t>国家技术创新奖章。</a:t>
            </a:r>
            <a:endParaRPr lang="en-US" altLang="zh-CN" dirty="0"/>
          </a:p>
          <a:p>
            <a:pPr algn="l"/>
            <a:r>
              <a:rPr lang="zh-CN" altLang="en-US" dirty="0">
                <a:sym typeface="+mn-ea"/>
              </a:rPr>
              <a:t>美国时间 </a:t>
            </a:r>
            <a:r>
              <a:rPr lang="en-US" altLang="zh-CN" dirty="0">
                <a:sym typeface="+mn-ea"/>
              </a:rPr>
              <a:t>7 </a:t>
            </a:r>
            <a:r>
              <a:rPr lang="zh-CN" altLang="en-US" dirty="0">
                <a:sym typeface="+mn-ea"/>
              </a:rPr>
              <a:t>月 </a:t>
            </a:r>
            <a:r>
              <a:rPr lang="en-US" altLang="zh-CN" dirty="0">
                <a:sym typeface="+mn-ea"/>
              </a:rPr>
              <a:t>13 </a:t>
            </a:r>
            <a:r>
              <a:rPr lang="zh-CN" altLang="en-US" dirty="0">
                <a:sym typeface="+mn-ea"/>
              </a:rPr>
              <a:t>日，他在麻省列克星顿的，享年 </a:t>
            </a:r>
            <a:r>
              <a:rPr lang="en-US" altLang="zh-CN" dirty="0">
                <a:sym typeface="+mn-ea"/>
              </a:rPr>
              <a:t>92 </a:t>
            </a:r>
            <a:r>
              <a:rPr lang="zh-CN" altLang="en-US" dirty="0">
                <a:sym typeface="+mn-ea"/>
              </a:rPr>
              <a:t>岁。因帕金森氏病家中逝世。</a:t>
            </a:r>
            <a:endParaRPr lang="zh-CN" altLang="en-US" dirty="0"/>
          </a:p>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endParaRPr lang="zh-CN" altLang="en-US"/>
          </a:p>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莱斯利</a:t>
            </a:r>
            <a:r>
              <a:rPr lang="en-US" altLang="zh-CN" dirty="0"/>
              <a:t>·</a:t>
            </a:r>
            <a:r>
              <a:rPr lang="zh-CN" altLang="en-US" dirty="0"/>
              <a:t>兰伯特对分布式和并发系统的理论和实践作出了基础性贡献，发明了因果关系和逻辑时钟、安全性和活动性、复制状态机和顺序一致性等概念；研究的算法已经成为容错分布式系统的标准工程实践；开发了关于并发系统的正式规范和验证的工作，并为应用这些方法的自动化工具的开发作出了贡献；具体贡献包括互斥解和面包房算法、并发编程的基础、分布式系统基础、容错和状态机复制、程序的正式说明和验证、</a:t>
            </a:r>
            <a:r>
              <a:rPr lang="en-US" altLang="zh-CN" dirty="0"/>
              <a:t>LaTeX</a:t>
            </a:r>
            <a:r>
              <a:rPr lang="zh-CN" altLang="en-US" dirty="0"/>
              <a:t>等。</a:t>
            </a:r>
            <a:r>
              <a:rPr lang="zh-CN" altLang="en-US" baseline="30000" dirty="0"/>
              <a:t> </a:t>
            </a:r>
            <a:r>
              <a:rPr lang="en-US" altLang="zh-CN" baseline="30000" dirty="0"/>
              <a:t>[2]</a:t>
            </a:r>
            <a:r>
              <a:rPr lang="en-US" altLang="zh-CN" dirty="0"/>
              <a:t>1978</a:t>
            </a:r>
            <a:r>
              <a:rPr lang="zh-CN" altLang="en-US" dirty="0"/>
              <a:t>年，莱斯利</a:t>
            </a:r>
            <a:r>
              <a:rPr lang="en-US" altLang="zh-CN" dirty="0"/>
              <a:t>·</a:t>
            </a:r>
            <a:r>
              <a:rPr lang="zh-CN" altLang="en-US" dirty="0"/>
              <a:t>兰伯特发表了论文“</a:t>
            </a:r>
            <a:r>
              <a:rPr lang="en-US" altLang="zh-CN" dirty="0"/>
              <a:t>Time, Clocks and the Ordering of Events in a Distributed System”</a:t>
            </a:r>
            <a:r>
              <a:rPr lang="zh-CN" altLang="en-US" dirty="0"/>
              <a:t>，这篇论文提供了一种分布式系统中时间概念的的思考角度，并提出了一种时钟模型（</a:t>
            </a:r>
            <a:r>
              <a:rPr lang="en-US" altLang="zh-CN" dirty="0" err="1"/>
              <a:t>Lamport</a:t>
            </a:r>
            <a:r>
              <a:rPr lang="en-US" altLang="zh-CN" dirty="0"/>
              <a:t> </a:t>
            </a:r>
            <a:r>
              <a:rPr lang="zh-CN" altLang="en-US" dirty="0"/>
              <a:t>逻辑时钟）。</a:t>
            </a:r>
          </a:p>
          <a:p>
            <a:r>
              <a:rPr lang="en-US" altLang="zh-CN" dirty="0"/>
              <a:t>1982</a:t>
            </a:r>
            <a:r>
              <a:rPr lang="zh-CN" altLang="en-US" dirty="0"/>
              <a:t>年，莱斯利</a:t>
            </a:r>
            <a:r>
              <a:rPr lang="en-US" altLang="zh-CN" dirty="0"/>
              <a:t>·</a:t>
            </a:r>
            <a:r>
              <a:rPr lang="zh-CN" altLang="en-US" dirty="0"/>
              <a:t>兰伯特与合作者共同发表了论文“</a:t>
            </a:r>
            <a:r>
              <a:rPr lang="en-US" altLang="zh-CN" dirty="0"/>
              <a:t>Byzantine Generals Problem”</a:t>
            </a:r>
            <a:r>
              <a:rPr lang="zh-CN" altLang="en-US" dirty="0"/>
              <a:t>，论文讨论的是拜占庭将军问题：在一个由若干计算机组成的系统中，如果存在一些恶意的计算机，是否还能够达成共识？这一篇论文给出了一种理论上被证明正确的算法，实现了一定条件下的共识机制。拜占庭共识机制在实时系统中得到了应用，比如航空调度系统。后来，随着比特币的发明，拜占庭共识机制在区块链中也得到了应用。</a:t>
            </a:r>
          </a:p>
          <a:p>
            <a:r>
              <a:rPr lang="en-US" altLang="zh-CN" dirty="0"/>
              <a:t>1989</a:t>
            </a:r>
            <a:r>
              <a:rPr lang="zh-CN" altLang="en-US" dirty="0"/>
              <a:t>年，莱斯利</a:t>
            </a:r>
            <a:r>
              <a:rPr lang="en-US" altLang="zh-CN" dirty="0"/>
              <a:t>·</a:t>
            </a:r>
            <a:r>
              <a:rPr lang="zh-CN" altLang="en-US" dirty="0"/>
              <a:t>兰伯特提出了</a:t>
            </a:r>
            <a:r>
              <a:rPr lang="en-US" altLang="zh-CN" dirty="0" err="1"/>
              <a:t>Paxos</a:t>
            </a:r>
            <a:r>
              <a:rPr lang="zh-CN" altLang="en-US" dirty="0"/>
              <a:t>，用多份拷贝来提高长时间运行的分布式系统的可靠性。这一算法后来在</a:t>
            </a:r>
            <a:r>
              <a:rPr lang="en-US" altLang="zh-CN" dirty="0"/>
              <a:t>Google Chubby</a:t>
            </a:r>
            <a:r>
              <a:rPr lang="zh-CN" altLang="en-US" dirty="0"/>
              <a:t>项目和</a:t>
            </a:r>
            <a:r>
              <a:rPr lang="en-US" altLang="zh-CN" dirty="0"/>
              <a:t>Microsoft Autopilot</a:t>
            </a:r>
            <a:r>
              <a:rPr lang="zh-CN" altLang="en-US" dirty="0"/>
              <a:t>集群管理项目中得到了实现。</a:t>
            </a:r>
          </a:p>
          <a:p>
            <a:endParaRPr lang="zh-CN" altLang="en-US" dirty="0"/>
          </a:p>
        </p:txBody>
      </p:sp>
      <p:sp>
        <p:nvSpPr>
          <p:cNvPr id="4" name="灯片编号占位符 3"/>
          <p:cNvSpPr>
            <a:spLocks noGrp="1"/>
          </p:cNvSpPr>
          <p:nvPr>
            <p:ph type="sldNum" sz="quarter" idx="5"/>
          </p:nvPr>
        </p:nvSpPr>
        <p:spPr/>
        <p:txBody>
          <a:bodyPr/>
          <a:lstStyle/>
          <a:p>
            <a:pPr>
              <a:defRPr/>
            </a:pPr>
            <a:fld id="{AE66C03C-4B0E-4149-8287-A3B340EB818D}" type="slidenum">
              <a:rPr lang="en-US" altLang="en-US" smtClean="0"/>
              <a:t>16</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AE66C03C-4B0E-4149-8287-A3B340EB818D}" type="slidenum">
              <a:rPr lang="en-US" altLang="en-US" smtClean="0"/>
              <a:t>18</a:t>
            </a:fld>
            <a:endParaRPr lang="en-US" altLang="en-US"/>
          </a:p>
        </p:txBody>
      </p:sp>
    </p:spTree>
    <p:extLst>
      <p:ext uri="{BB962C8B-B14F-4D97-AF65-F5344CB8AC3E}">
        <p14:creationId xmlns:p14="http://schemas.microsoft.com/office/powerpoint/2010/main" val="15747389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42900" lvl="0" indent="-342900" algn="l" eaLnBrk="0" hangingPunct="0">
              <a:spcBef>
                <a:spcPct val="35000"/>
              </a:spcBef>
              <a:buClr>
                <a:schemeClr val="tx2"/>
              </a:buClr>
              <a:buSzPct val="90000"/>
              <a:buFont typeface="Monotype Sorts" charset="0"/>
              <a:buChar char="n"/>
            </a:pPr>
            <a:r>
              <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rPr>
              <a:t>这份榜单分析旨在为数据库相关从业人员提供一个技术方向的参考，其中涉及到的排名情况并非基于产品的技术先进程度或市场占有率等因素。排名的数据依据 5 个不同的指标：</a:t>
            </a:r>
          </a:p>
          <a:p>
            <a:pPr marL="800100" lvl="1" indent="-342900" algn="l" eaLnBrk="0" hangingPunct="0">
              <a:spcBef>
                <a:spcPct val="35000"/>
              </a:spcBef>
              <a:buClr>
                <a:schemeClr val="tx2"/>
              </a:buClr>
              <a:buSzPct val="90000"/>
              <a:buFont typeface="Monotype Sorts" charset="0"/>
              <a:buChar char="n"/>
            </a:pPr>
            <a:r>
              <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rPr>
              <a:t>Google 以及 Bing 搜索引擎的关键字搜索数量</a:t>
            </a:r>
          </a:p>
          <a:p>
            <a:pPr marL="800100" lvl="1" indent="-342900" algn="l" eaLnBrk="0" hangingPunct="0">
              <a:spcBef>
                <a:spcPct val="35000"/>
              </a:spcBef>
              <a:buClr>
                <a:schemeClr val="tx2"/>
              </a:buClr>
              <a:buSzPct val="90000"/>
              <a:buFont typeface="Monotype Sorts" charset="0"/>
              <a:buChar char="n"/>
            </a:pPr>
            <a:r>
              <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rPr>
              <a:t>Google 以及 Bing 搜索引擎的关键字搜索数量</a:t>
            </a:r>
          </a:p>
          <a:p>
            <a:pPr marL="800100" lvl="1" indent="-342900" algn="l" eaLnBrk="0" hangingPunct="0">
              <a:spcBef>
                <a:spcPct val="35000"/>
              </a:spcBef>
              <a:buClr>
                <a:schemeClr val="tx2"/>
              </a:buClr>
              <a:buSzPct val="90000"/>
              <a:buFont typeface="Monotype Sorts" charset="0"/>
              <a:buChar char="n"/>
            </a:pPr>
            <a:r>
              <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rPr>
              <a:t>Indeed 网站中的职位搜索量LinkedIn 中提到关键字的个人资料数</a:t>
            </a:r>
          </a:p>
          <a:p>
            <a:pPr marL="800100" lvl="1" indent="-342900" algn="l" eaLnBrk="0" hangingPunct="0">
              <a:spcBef>
                <a:spcPct val="35000"/>
              </a:spcBef>
              <a:buClr>
                <a:schemeClr val="tx2"/>
              </a:buClr>
              <a:buSzPct val="90000"/>
              <a:buFont typeface="Monotype Sorts" charset="0"/>
              <a:buChar char="n"/>
            </a:pPr>
            <a:r>
              <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rPr>
              <a:t>Stackoverflow 上相关的问题和关注者数量</a:t>
            </a:r>
          </a:p>
          <a:p>
            <a:endParaRPr lang="zh-CN" altLang="en-US" dirty="0"/>
          </a:p>
        </p:txBody>
      </p:sp>
      <p:sp>
        <p:nvSpPr>
          <p:cNvPr id="4" name="灯片编号占位符 3"/>
          <p:cNvSpPr>
            <a:spLocks noGrp="1"/>
          </p:cNvSpPr>
          <p:nvPr>
            <p:ph type="sldNum" sz="quarter" idx="5"/>
          </p:nvPr>
        </p:nvSpPr>
        <p:spPr/>
        <p:txBody>
          <a:bodyPr/>
          <a:lstStyle/>
          <a:p>
            <a:pPr>
              <a:defRPr/>
            </a:pPr>
            <a:fld id="{AE66C03C-4B0E-4149-8287-A3B340EB818D}" type="slidenum">
              <a:rPr lang="en-US" altLang="en-US" smtClean="0"/>
              <a:t>21</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r>
              <a:rPr lang="zh-CN" altLang="en-US"/>
              <a:t>Oracle Database 可在本地环境和云端提供市场领先的性能、可扩展性、可靠性和安全性。</a:t>
            </a:r>
          </a:p>
          <a:p>
            <a:pPr algn="l"/>
            <a:r>
              <a:rPr lang="zh-CN" altLang="en-US"/>
              <a:t>Oracle Database 19c 是当下最新的长期支持版本，它拥有超高水平的版本稳定性以及超长的支持和错误修复支持周期，可为您的应用提供一个高度稳定的平台。</a:t>
            </a:r>
          </a:p>
          <a:p>
            <a:pPr algn="l"/>
            <a:endParaRPr lang="zh-CN" altLang="en-US"/>
          </a:p>
          <a:p>
            <a:pPr algn="l"/>
            <a:r>
              <a:rPr lang="zh-CN" altLang="en-US"/>
              <a:t>Oracle Database 21c（创新版，已生产可用）还可带您提前了解 Oracle 的众多增强功能和新功能，包括面向数据库中 JavaScript 和区块链表的多模支持，</a:t>
            </a:r>
          </a:p>
          <a:p>
            <a:pPr algn="l"/>
            <a:r>
              <a:rPr lang="zh-CN" altLang="en-US"/>
              <a:t>以及多工作负载优化（例如将纳入未来的长期支持版的 AutoML 和分片增强功能）。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本月</a:t>
            </a:r>
            <a:r>
              <a:rPr kumimoji="1" lang="en-US" altLang="zh-CN" dirty="0" err="1"/>
              <a:t>PolarDB</a:t>
            </a:r>
            <a:r>
              <a:rPr kumimoji="1" lang="zh-CN" altLang="en-US" dirty="0"/>
              <a:t>首次夺得榜首，刷新榜单总分记录，成功打破了</a:t>
            </a:r>
            <a:r>
              <a:rPr kumimoji="1" lang="en-US" altLang="zh-CN" dirty="0" err="1"/>
              <a:t>OceanBase</a:t>
            </a:r>
            <a:r>
              <a:rPr kumimoji="1" lang="zh-CN" altLang="en-US" dirty="0"/>
              <a:t>连续</a:t>
            </a:r>
            <a:r>
              <a:rPr kumimoji="1" lang="en-US" altLang="zh-CN" dirty="0"/>
              <a:t>14</a:t>
            </a:r>
            <a:r>
              <a:rPr kumimoji="1" lang="zh-CN" altLang="en-US" dirty="0"/>
              <a:t>个月的冠军地位。尽管</a:t>
            </a:r>
            <a:r>
              <a:rPr kumimoji="1" lang="en-US" altLang="zh-CN" dirty="0" err="1"/>
              <a:t>OceanBase</a:t>
            </a:r>
            <a:r>
              <a:rPr kumimoji="1" lang="zh-CN" altLang="en-US" dirty="0"/>
              <a:t>略居第二，但其连续</a:t>
            </a:r>
            <a:r>
              <a:rPr kumimoji="1" lang="en-US" altLang="zh-CN" dirty="0"/>
              <a:t>14</a:t>
            </a:r>
            <a:r>
              <a:rPr kumimoji="1" lang="zh-CN" altLang="en-US" dirty="0"/>
              <a:t>个月的领先地位和强大的品牌影响力不可忽视。</a:t>
            </a:r>
            <a:r>
              <a:rPr kumimoji="1" lang="en-US" altLang="zh-CN" dirty="0" err="1"/>
              <a:t>TiDB</a:t>
            </a:r>
            <a:r>
              <a:rPr kumimoji="1" lang="zh-CN" altLang="en-US" dirty="0"/>
              <a:t>上升一位，夺得探花地位。而</a:t>
            </a:r>
            <a:r>
              <a:rPr kumimoji="1" lang="en-US" altLang="zh-CN" dirty="0" err="1"/>
              <a:t>openGauss</a:t>
            </a:r>
            <a:r>
              <a:rPr kumimoji="1" lang="zh-CN" altLang="en-US" dirty="0"/>
              <a:t>和人大金仓紧随其后，在开源生态和技术创新方面表现卓越，稳居榜单中。</a:t>
            </a:r>
            <a:r>
              <a:rPr kumimoji="1" lang="en-US" altLang="zh-CN" dirty="0" err="1"/>
              <a:t>GaussDB</a:t>
            </a:r>
            <a:r>
              <a:rPr kumimoji="1" lang="zh-CN" altLang="en-US" dirty="0"/>
              <a:t>、</a:t>
            </a:r>
            <a:r>
              <a:rPr kumimoji="1" lang="en-US" altLang="zh-CN" dirty="0"/>
              <a:t>GBASE</a:t>
            </a:r>
            <a:r>
              <a:rPr kumimoji="1" lang="zh-CN" altLang="en-US" dirty="0"/>
              <a:t>、达梦数据、</a:t>
            </a:r>
            <a:r>
              <a:rPr kumimoji="1" lang="en-US" altLang="zh-CN" dirty="0" err="1"/>
              <a:t>GoldenDB</a:t>
            </a:r>
            <a:r>
              <a:rPr kumimoji="1" lang="zh-CN" altLang="en-US" dirty="0"/>
              <a:t>和</a:t>
            </a:r>
            <a:r>
              <a:rPr kumimoji="1" lang="en-US" altLang="zh-CN" dirty="0"/>
              <a:t>TDSQL</a:t>
            </a:r>
            <a:r>
              <a:rPr kumimoji="1" lang="zh-CN" altLang="en-US" dirty="0"/>
              <a:t>等其他参与者也以独特的技术创新和市场表现稳居前十。这些成绩不仅代表了各自品牌的技术实力，同时也反映了数据库行业在满足日益增长的数据管理需求中的重要作用和未来潜力。让我们一起来看看排行榜前十名厂商的得分以及排名情况。</a:t>
            </a:r>
          </a:p>
          <a:p>
            <a:endParaRPr kumimoji="1" lang="zh-CN" altLang="en-US" dirty="0"/>
          </a:p>
          <a:p>
            <a:r>
              <a:rPr kumimoji="1" lang="en-US" altLang="zh-CN" dirty="0" err="1"/>
              <a:t>PolarDB</a:t>
            </a:r>
            <a:r>
              <a:rPr kumimoji="1" lang="zh-CN" altLang="en-US" dirty="0"/>
              <a:t>以</a:t>
            </a:r>
            <a:r>
              <a:rPr kumimoji="1" lang="en-US" altLang="zh-CN" dirty="0"/>
              <a:t>856.07</a:t>
            </a:r>
            <a:r>
              <a:rPr kumimoji="1" lang="zh-CN" altLang="en-US" dirty="0"/>
              <a:t>分的高分，轻松领先第二名达</a:t>
            </a:r>
            <a:r>
              <a:rPr kumimoji="1" lang="en-US" altLang="zh-CN" dirty="0"/>
              <a:t>129.02</a:t>
            </a:r>
            <a:r>
              <a:rPr kumimoji="1" lang="zh-CN" altLang="en-US" dirty="0"/>
              <a:t>分，荣膺</a:t>
            </a:r>
            <a:r>
              <a:rPr kumimoji="1" lang="en-US" altLang="zh-CN" dirty="0"/>
              <a:t>2</a:t>
            </a:r>
            <a:r>
              <a:rPr kumimoji="1" lang="zh-CN" altLang="en-US" dirty="0"/>
              <a:t>月排行榜的冠军宝座。自</a:t>
            </a:r>
            <a:r>
              <a:rPr kumimoji="1" lang="en-US" altLang="zh-CN" dirty="0"/>
              <a:t>23</a:t>
            </a:r>
            <a:r>
              <a:rPr kumimoji="1" lang="zh-CN" altLang="en-US" dirty="0"/>
              <a:t>年</a:t>
            </a:r>
            <a:r>
              <a:rPr kumimoji="1" lang="en-US" altLang="zh-CN" dirty="0"/>
              <a:t>7</a:t>
            </a:r>
            <a:r>
              <a:rPr kumimoji="1" lang="zh-CN" altLang="en-US" dirty="0"/>
              <a:t>月以来，</a:t>
            </a:r>
            <a:r>
              <a:rPr kumimoji="1" lang="en-US" altLang="zh-CN" dirty="0" err="1"/>
              <a:t>PolarDB</a:t>
            </a:r>
            <a:r>
              <a:rPr kumimoji="1" lang="zh-CN" altLang="en-US" dirty="0"/>
              <a:t>一路高歌猛进，多次夺得榜单榜眼，此次更是一举夺魁，彰显了云原生数据库的蓬勃发展态势。本月业内最引人瞩目的无疑是是阿里云</a:t>
            </a:r>
            <a:r>
              <a:rPr kumimoji="1" lang="en-US" altLang="zh-CN" dirty="0" err="1"/>
              <a:t>PolarDB</a:t>
            </a:r>
            <a:r>
              <a:rPr kumimoji="1" lang="zh-CN" altLang="en-US" dirty="0"/>
              <a:t>开发者大会的成功举办，该大会在北京隆重召开，吸引了海量开发者的参与。大会期间，阿里云推出了</a:t>
            </a:r>
            <a:r>
              <a:rPr kumimoji="1" lang="en-US" altLang="zh-CN" dirty="0" err="1"/>
              <a:t>PolarDB</a:t>
            </a:r>
            <a:r>
              <a:rPr kumimoji="1" lang="zh-CN" altLang="en-US" dirty="0"/>
              <a:t>的划时代“三层分离”新版本，该版本利用先进的智能决策技术，不仅将查询性能提升至原来的十倍，还实现了成本的显著降低。得益于这些技术创新，</a:t>
            </a:r>
            <a:r>
              <a:rPr kumimoji="1" lang="en-US" altLang="zh-CN" dirty="0" err="1"/>
              <a:t>PolarDB</a:t>
            </a:r>
            <a:r>
              <a:rPr kumimoji="1" lang="zh-CN" altLang="en-US" dirty="0"/>
              <a:t>已广泛应用于我国的政务、金融、电信、物流、互联网等核心业务系统中。据悉，</a:t>
            </a:r>
            <a:r>
              <a:rPr kumimoji="1" lang="en-US" altLang="zh-CN" dirty="0" err="1"/>
              <a:t>PolarDB</a:t>
            </a:r>
            <a:r>
              <a:rPr kumimoji="1" lang="zh-CN" altLang="en-US" dirty="0"/>
              <a:t>在全球范围内拥有超过</a:t>
            </a:r>
            <a:r>
              <a:rPr kumimoji="1" lang="en-US" altLang="zh-CN" dirty="0"/>
              <a:t>10,000</a:t>
            </a:r>
            <a:r>
              <a:rPr kumimoji="1" lang="zh-CN" altLang="en-US" dirty="0"/>
              <a:t>名企业级用户，部署实例超百万核</a:t>
            </a:r>
            <a:r>
              <a:rPr kumimoji="1" lang="en-US" altLang="zh-CN" dirty="0"/>
              <a:t>CPU</a:t>
            </a:r>
            <a:r>
              <a:rPr kumimoji="1" lang="zh-CN" altLang="en-US" dirty="0"/>
              <a:t>，三年间增长率高达</a:t>
            </a:r>
            <a:r>
              <a:rPr kumimoji="1" lang="en-US" altLang="zh-CN" dirty="0"/>
              <a:t>400%</a:t>
            </a:r>
            <a:r>
              <a:rPr kumimoji="1" lang="zh-CN" altLang="en-US" dirty="0"/>
              <a:t>，成为最受欢迎的国产数据库。</a:t>
            </a:r>
          </a:p>
          <a:p>
            <a:endParaRPr kumimoji="1" lang="zh-CN" altLang="en-US" dirty="0"/>
          </a:p>
          <a:p>
            <a:r>
              <a:rPr kumimoji="1" lang="en-US" altLang="zh-CN" dirty="0" err="1"/>
              <a:t>OceanBase</a:t>
            </a:r>
            <a:r>
              <a:rPr kumimoji="1" lang="zh-CN" altLang="en-US" dirty="0"/>
              <a:t>虽未能守住排行榜首的宝座，以</a:t>
            </a:r>
            <a:r>
              <a:rPr kumimoji="1" lang="en-US" altLang="zh-CN" dirty="0"/>
              <a:t>727.05</a:t>
            </a:r>
            <a:r>
              <a:rPr kumimoji="1" lang="zh-CN" altLang="en-US" dirty="0"/>
              <a:t>分获得榜眼，但其在“墨天轮中国数据库流行度排行”中持续</a:t>
            </a:r>
            <a:r>
              <a:rPr kumimoji="1" lang="en-US" altLang="zh-CN" dirty="0"/>
              <a:t>14</a:t>
            </a:r>
            <a:r>
              <a:rPr kumimoji="1" lang="zh-CN" altLang="en-US" dirty="0"/>
              <a:t>个月雄踞榜首，已足以展示其在中国数据库领域的强大品牌影响力和综合产品实力。</a:t>
            </a:r>
            <a:r>
              <a:rPr kumimoji="1" lang="en-US" altLang="zh-CN" dirty="0" err="1"/>
              <a:t>OceanBase</a:t>
            </a:r>
            <a:r>
              <a:rPr kumimoji="1" lang="zh-CN" altLang="en-US" dirty="0"/>
              <a:t>在墨天轮发布的</a:t>
            </a:r>
            <a:r>
              <a:rPr kumimoji="1" lang="en-US" altLang="zh-CN" dirty="0"/>
              <a:t>2023</a:t>
            </a:r>
            <a:r>
              <a:rPr kumimoji="1" lang="zh-CN" altLang="en-US" dirty="0"/>
              <a:t>年度数据库评选中荣获“年度最具影响力数据库奖”，进一步印证了其行业领先地位。目前，</a:t>
            </a:r>
            <a:r>
              <a:rPr kumimoji="1" lang="en-US" altLang="zh-CN" dirty="0" err="1"/>
              <a:t>OceanBase</a:t>
            </a:r>
            <a:r>
              <a:rPr kumimoji="1" lang="zh-CN" altLang="en-US" dirty="0"/>
              <a:t>已为超过</a:t>
            </a:r>
            <a:r>
              <a:rPr kumimoji="1" lang="en-US" altLang="zh-CN" dirty="0"/>
              <a:t>1000</a:t>
            </a:r>
            <a:r>
              <a:rPr kumimoji="1" lang="zh-CN" altLang="en-US" dirty="0"/>
              <a:t>家行业客户提供服务，年客户增长率达到惊人的</a:t>
            </a:r>
            <a:r>
              <a:rPr kumimoji="1" lang="en-US" altLang="zh-CN" dirty="0"/>
              <a:t>150%</a:t>
            </a:r>
            <a:r>
              <a:rPr kumimoji="1" lang="zh-CN" altLang="en-US" dirty="0"/>
              <a:t>，其中</a:t>
            </a:r>
            <a:r>
              <a:rPr kumimoji="1" lang="en-US" altLang="zh-CN" dirty="0"/>
              <a:t>30%</a:t>
            </a:r>
            <a:r>
              <a:rPr kumimoji="1" lang="zh-CN" altLang="en-US" dirty="0"/>
              <a:t>的客户已将</a:t>
            </a:r>
            <a:r>
              <a:rPr kumimoji="1" lang="en-US" altLang="zh-CN" dirty="0" err="1"/>
              <a:t>OceanBase</a:t>
            </a:r>
            <a:r>
              <a:rPr kumimoji="1" lang="zh-CN" altLang="en-US" dirty="0"/>
              <a:t>应用于其核心系统。</a:t>
            </a:r>
            <a:r>
              <a:rPr kumimoji="1" lang="en-US" altLang="zh-CN" dirty="0" err="1"/>
              <a:t>OceanBase</a:t>
            </a:r>
            <a:r>
              <a:rPr kumimoji="1" lang="zh-CN" altLang="en-US" dirty="0"/>
              <a:t>正在成为核心系统升级的首选数据库。</a:t>
            </a:r>
          </a:p>
          <a:p>
            <a:endParaRPr kumimoji="1" lang="zh-CN" altLang="en-US" dirty="0"/>
          </a:p>
          <a:p>
            <a:r>
              <a:rPr kumimoji="1" lang="en-US" altLang="zh-CN" dirty="0" err="1"/>
              <a:t>TiDB</a:t>
            </a:r>
            <a:r>
              <a:rPr kumimoji="1" lang="zh-CN" altLang="en-US" dirty="0"/>
              <a:t>以</a:t>
            </a:r>
            <a:r>
              <a:rPr kumimoji="1" lang="en-US" altLang="zh-CN" dirty="0"/>
              <a:t>641.97</a:t>
            </a:r>
            <a:r>
              <a:rPr kumimoji="1" lang="zh-CN" altLang="en-US" dirty="0"/>
              <a:t>分优雅攀升至</a:t>
            </a:r>
            <a:r>
              <a:rPr kumimoji="1" lang="en-US" altLang="zh-CN" dirty="0"/>
              <a:t>2</a:t>
            </a:r>
            <a:r>
              <a:rPr kumimoji="1" lang="zh-CN" altLang="en-US" dirty="0"/>
              <a:t>月排行榜的探花位置，展现了其持续的技术进步和市场接受度。值得注意的是，基于</a:t>
            </a:r>
            <a:r>
              <a:rPr kumimoji="1" lang="en-US" altLang="zh-CN" dirty="0" err="1"/>
              <a:t>TiDB</a:t>
            </a:r>
            <a:r>
              <a:rPr kumimoji="1" lang="zh-CN" altLang="en-US" dirty="0"/>
              <a:t>技术的杭州银行新一代核心业务系统于</a:t>
            </a:r>
            <a:r>
              <a:rPr kumimoji="1" lang="en-US" altLang="zh-CN" dirty="0"/>
              <a:t>1</a:t>
            </a:r>
            <a:r>
              <a:rPr kumimoji="1" lang="zh-CN" altLang="en-US" dirty="0"/>
              <a:t>月</a:t>
            </a:r>
            <a:r>
              <a:rPr kumimoji="1" lang="en-US" altLang="zh-CN" dirty="0"/>
              <a:t>5</a:t>
            </a:r>
            <a:r>
              <a:rPr kumimoji="1" lang="zh-CN" altLang="en-US" dirty="0"/>
              <a:t>日成功上线，标志着业界首次将云原生、分布式和全栈国产化技术应用于银行核心系统的实践。这一突破不仅在金融科技领域引起了广泛关注，也证明了</a:t>
            </a:r>
            <a:r>
              <a:rPr kumimoji="1" lang="en-US" altLang="zh-CN" dirty="0" err="1"/>
              <a:t>TiDB</a:t>
            </a:r>
            <a:r>
              <a:rPr kumimoji="1" lang="zh-CN" altLang="en-US" dirty="0"/>
              <a:t>在处理复杂、高要求的金融业务场景中的强大能力。随着更多企业和开发者的加入，</a:t>
            </a:r>
            <a:r>
              <a:rPr kumimoji="1" lang="en-US" altLang="zh-CN" dirty="0" err="1"/>
              <a:t>TiDB</a:t>
            </a:r>
            <a:r>
              <a:rPr kumimoji="1" lang="zh-CN" altLang="en-US" dirty="0"/>
              <a:t>及其背后的</a:t>
            </a:r>
            <a:r>
              <a:rPr kumimoji="1" lang="en-US" altLang="zh-CN" dirty="0" err="1"/>
              <a:t>PingCAP</a:t>
            </a:r>
            <a:r>
              <a:rPr kumimoji="1" lang="zh-CN" altLang="en-US" dirty="0"/>
              <a:t>正成为全球开源社区的关键力量，推动着开源技术的发展和创新。</a:t>
            </a:r>
          </a:p>
          <a:p>
            <a:endParaRPr kumimoji="1" lang="zh-CN" altLang="en-US" dirty="0"/>
          </a:p>
          <a:p>
            <a:r>
              <a:rPr kumimoji="1" lang="en-US" altLang="zh-CN" dirty="0" err="1"/>
              <a:t>openGauss</a:t>
            </a:r>
            <a:r>
              <a:rPr kumimoji="1" lang="zh-CN" altLang="en-US" dirty="0"/>
              <a:t>以</a:t>
            </a:r>
            <a:r>
              <a:rPr kumimoji="1" lang="en-US" altLang="zh-CN" dirty="0"/>
              <a:t>610.16</a:t>
            </a:r>
            <a:r>
              <a:rPr kumimoji="1" lang="zh-CN" altLang="en-US" dirty="0"/>
              <a:t>分的成绩稳居本月排行榜第四位，仅以微小的差距错失前三。在</a:t>
            </a:r>
            <a:r>
              <a:rPr kumimoji="1" lang="en-US" altLang="zh-CN" dirty="0"/>
              <a:t>2023</a:t>
            </a:r>
            <a:r>
              <a:rPr kumimoji="1" lang="zh-CN" altLang="en-US" dirty="0"/>
              <a:t>年的中国数据库市场上，</a:t>
            </a:r>
            <a:r>
              <a:rPr kumimoji="1" lang="en-US" altLang="zh-CN" dirty="0" err="1"/>
              <a:t>openGauss</a:t>
            </a:r>
            <a:r>
              <a:rPr kumimoji="1" lang="zh-CN" altLang="en-US" dirty="0"/>
              <a:t>系列产品的市场份额显著增长至</a:t>
            </a:r>
            <a:r>
              <a:rPr kumimoji="1" lang="en-US" altLang="zh-CN" dirty="0"/>
              <a:t>21.9%</a:t>
            </a:r>
            <a:r>
              <a:rPr kumimoji="1" lang="zh-CN" altLang="en-US" dirty="0"/>
              <a:t>，象征着</a:t>
            </a:r>
            <a:r>
              <a:rPr kumimoji="1" lang="en-US" altLang="zh-CN" dirty="0" err="1"/>
              <a:t>openGauss</a:t>
            </a:r>
            <a:r>
              <a:rPr kumimoji="1" lang="zh-CN" altLang="en-US" dirty="0"/>
              <a:t>已成功跨越生态拐点，正式踏入生态发展期。这一成就不仅反映了</a:t>
            </a:r>
            <a:r>
              <a:rPr kumimoji="1" lang="en-US" altLang="zh-CN" dirty="0" err="1"/>
              <a:t>openGauss</a:t>
            </a:r>
            <a:r>
              <a:rPr kumimoji="1" lang="zh-CN" altLang="en-US" dirty="0"/>
              <a:t>在开源软件采纳度、社区规模扩张，以及商业化进程中取得的突出成果，还凸显了其在推动开源生态系统发展中的积极作用。</a:t>
            </a:r>
          </a:p>
          <a:p>
            <a:endParaRPr kumimoji="1" lang="zh-CN" altLang="en-US" dirty="0"/>
          </a:p>
          <a:p>
            <a:r>
              <a:rPr kumimoji="1" lang="zh-CN" altLang="en-US" dirty="0"/>
              <a:t>人大金仓本月以</a:t>
            </a:r>
            <a:r>
              <a:rPr kumimoji="1" lang="en-US" altLang="zh-CN" dirty="0"/>
              <a:t>588.82</a:t>
            </a:r>
            <a:r>
              <a:rPr kumimoji="1" lang="zh-CN" altLang="en-US" dirty="0"/>
              <a:t>分稳坐排行榜前五，展现了其在数据库领域的持续领先地位。得益于其在技术创新、标准研制、生态建设、行业应用及人才培养等多方面的卓越成就，人大金仓已连续四年被授予“信息技术应用创新工作委员会卓越贡献成员单位”荣誉，这一系列荣誉不仅肯定了人大金仓在推动信息技术应用创新和标准制定方面的重要贡献，也突显了其在促进行业生态发展和人才培育上的积极努力。</a:t>
            </a:r>
          </a:p>
          <a:p>
            <a:endParaRPr kumimoji="1" lang="zh-CN" altLang="en-US" dirty="0"/>
          </a:p>
          <a:p>
            <a:r>
              <a:rPr kumimoji="1" lang="en-US" altLang="zh-CN" dirty="0" err="1"/>
              <a:t>GaussDB</a:t>
            </a:r>
            <a:r>
              <a:rPr kumimoji="1" lang="zh-CN" altLang="en-US" dirty="0"/>
              <a:t>本月攀升两位，荣登排行榜第六。</a:t>
            </a:r>
            <a:r>
              <a:rPr kumimoji="1" lang="en-US" altLang="zh-CN" dirty="0"/>
              <a:t>1</a:t>
            </a:r>
            <a:r>
              <a:rPr kumimoji="1" lang="zh-CN" altLang="en-US" dirty="0"/>
              <a:t>月</a:t>
            </a:r>
            <a:r>
              <a:rPr kumimoji="1" lang="en-US" altLang="zh-CN" dirty="0"/>
              <a:t>16</a:t>
            </a:r>
            <a:r>
              <a:rPr kumimoji="1" lang="zh-CN" altLang="en-US" dirty="0"/>
              <a:t>日，在</a:t>
            </a:r>
            <a:r>
              <a:rPr kumimoji="1" lang="en-US" altLang="zh-CN" dirty="0"/>
              <a:t>2023</a:t>
            </a:r>
            <a:r>
              <a:rPr kumimoji="1" lang="zh-CN" altLang="en-US" dirty="0"/>
              <a:t>年第三届数字经济领航者大会及创新影响力年会上，华为云</a:t>
            </a:r>
            <a:r>
              <a:rPr kumimoji="1" lang="en-US" altLang="zh-CN" dirty="0" err="1"/>
              <a:t>GaussDB</a:t>
            </a:r>
            <a:r>
              <a:rPr kumimoji="1" lang="zh-CN" altLang="en-US" dirty="0"/>
              <a:t>以其卓越的产品性能荣获“</a:t>
            </a:r>
            <a:r>
              <a:rPr kumimoji="1" lang="en-US" altLang="zh-CN" dirty="0"/>
              <a:t>2023</a:t>
            </a:r>
            <a:r>
              <a:rPr kumimoji="1" lang="zh-CN" altLang="en-US" dirty="0"/>
              <a:t>年度国产云数据库应用推荐优秀产品奖”，彰显了其在云数据库领域的技术实力和市场认可。</a:t>
            </a:r>
          </a:p>
          <a:p>
            <a:endParaRPr kumimoji="1" lang="zh-CN" altLang="en-US" dirty="0"/>
          </a:p>
          <a:p>
            <a:r>
              <a:rPr kumimoji="1" lang="en-US" altLang="zh-CN" dirty="0"/>
              <a:t>GBASE</a:t>
            </a:r>
            <a:r>
              <a:rPr kumimoji="1" lang="zh-CN" altLang="en-US" dirty="0"/>
              <a:t>持续展现稳定性，稳坐排行榜第七位。最近，</a:t>
            </a:r>
            <a:r>
              <a:rPr kumimoji="1" lang="en-US" altLang="zh-CN" dirty="0"/>
              <a:t>GBASE</a:t>
            </a:r>
            <a:r>
              <a:rPr kumimoji="1" lang="zh-CN" altLang="en-US" dirty="0"/>
              <a:t>南大通用成功赢得金融行业的</a:t>
            </a:r>
            <a:r>
              <a:rPr kumimoji="1" lang="en-US" altLang="zh-CN" dirty="0"/>
              <a:t>9</a:t>
            </a:r>
            <a:r>
              <a:rPr kumimoji="1" lang="zh-CN" altLang="en-US" dirty="0"/>
              <a:t>个重要项目，刷新了历史记录，这包括与多家银行、保险公司、信托公司及央企的建设项目。此外，</a:t>
            </a:r>
            <a:r>
              <a:rPr kumimoji="1" lang="en-US" altLang="zh-CN" dirty="0"/>
              <a:t>GBASE</a:t>
            </a:r>
            <a:r>
              <a:rPr kumimoji="1" lang="zh-CN" altLang="en-US" dirty="0"/>
              <a:t>也荣获多项重要奖项，包括“</a:t>
            </a:r>
            <a:r>
              <a:rPr kumimoji="1" lang="en-US" altLang="zh-CN" dirty="0"/>
              <a:t>2023</a:t>
            </a:r>
            <a:r>
              <a:rPr kumimoji="1" lang="zh-CN" altLang="en-US" dirty="0"/>
              <a:t>年度信创工委会卓越贡献成员单位”和“大数据产业年度创新服务企业”，同时其为河北银行打造的“湖仓一体”数据平台被评为“大数据产业年度优秀案例”。</a:t>
            </a:r>
          </a:p>
          <a:p>
            <a:endParaRPr kumimoji="1" lang="zh-CN" altLang="en-US" dirty="0"/>
          </a:p>
          <a:p>
            <a:r>
              <a:rPr kumimoji="1" lang="zh-CN" altLang="en-US" dirty="0"/>
              <a:t>达梦数据本月排名下降两位，位列第八。作为国产数据库的领军企业，达梦数据被选为</a:t>
            </a:r>
            <a:r>
              <a:rPr kumimoji="1" lang="en-US" altLang="zh-CN" dirty="0"/>
              <a:t>2023</a:t>
            </a:r>
            <a:r>
              <a:rPr kumimoji="1" lang="zh-CN" altLang="en-US" dirty="0"/>
              <a:t>年国家技术创新示范企业，这反映了行业对其持续自主创新和技术自立的高度认可。达梦数据因技术创新能力和显著的创新成就与市场影响力，在墨天轮</a:t>
            </a:r>
            <a:r>
              <a:rPr kumimoji="1" lang="en-US" altLang="zh-CN" dirty="0"/>
              <a:t>2023</a:t>
            </a:r>
            <a:r>
              <a:rPr kumimoji="1" lang="zh-CN" altLang="en-US" dirty="0"/>
              <a:t>年度数据库评选中获得了“年度卓越表现数据库奖”。</a:t>
            </a:r>
          </a:p>
          <a:p>
            <a:endParaRPr kumimoji="1" lang="zh-CN" altLang="en-US" dirty="0"/>
          </a:p>
          <a:p>
            <a:r>
              <a:rPr kumimoji="1" lang="en-US" altLang="zh-CN" dirty="0" err="1"/>
              <a:t>GoldenDB</a:t>
            </a:r>
            <a:r>
              <a:rPr kumimoji="1" lang="zh-CN" altLang="en-US" dirty="0"/>
              <a:t>本月排名上升至第九，得分</a:t>
            </a:r>
            <a:r>
              <a:rPr kumimoji="1" lang="en-US" altLang="zh-CN" dirty="0"/>
              <a:t>310.58</a:t>
            </a:r>
            <a:r>
              <a:rPr kumimoji="1" lang="zh-CN" altLang="en-US" dirty="0"/>
              <a:t>分。根据沙利文发布的</a:t>
            </a:r>
            <a:r>
              <a:rPr kumimoji="1" lang="en-US" altLang="zh-CN" dirty="0"/>
              <a:t>《2023</a:t>
            </a:r>
            <a:r>
              <a:rPr kumimoji="1" lang="zh-CN" altLang="en-US" dirty="0"/>
              <a:t>中国金融数据库行业研究</a:t>
            </a:r>
            <a:r>
              <a:rPr kumimoji="1" lang="en-US" altLang="zh-CN" dirty="0"/>
              <a:t>》</a:t>
            </a:r>
            <a:r>
              <a:rPr kumimoji="1" lang="zh-CN" altLang="en-US" dirty="0"/>
              <a:t>报告，</a:t>
            </a:r>
            <a:r>
              <a:rPr kumimoji="1" lang="en-US" altLang="zh-CN" dirty="0" err="1"/>
              <a:t>GoldenDB</a:t>
            </a:r>
            <a:r>
              <a:rPr kumimoji="1" lang="zh-CN" altLang="en-US" dirty="0"/>
              <a:t>在金融领域的表现卓越，不仅在银行业金融级分布式数据库市场份额中排名第一，还在银行核心系统（包括次核心及非银核心系统）的市场投产数量中位列行业前列，再次赢得了市场的广泛认可。</a:t>
            </a:r>
          </a:p>
          <a:p>
            <a:endParaRPr kumimoji="1" lang="zh-CN" altLang="en-US" dirty="0"/>
          </a:p>
          <a:p>
            <a:r>
              <a:rPr kumimoji="1" lang="en-US" altLang="zh-CN" dirty="0"/>
              <a:t>TDSQL</a:t>
            </a:r>
            <a:r>
              <a:rPr kumimoji="1" lang="zh-CN" altLang="en-US" dirty="0"/>
              <a:t>保持在排行榜前十，以</a:t>
            </a:r>
            <a:r>
              <a:rPr kumimoji="1" lang="en-US" altLang="zh-CN" dirty="0"/>
              <a:t>285.37</a:t>
            </a:r>
            <a:r>
              <a:rPr kumimoji="1" lang="zh-CN" altLang="en-US" dirty="0"/>
              <a:t>分的成绩展现了其在数据库领域的竞争力。根据</a:t>
            </a:r>
            <a:r>
              <a:rPr kumimoji="1" lang="en-US" altLang="zh-CN" dirty="0"/>
              <a:t>IDC</a:t>
            </a:r>
            <a:r>
              <a:rPr kumimoji="1" lang="zh-CN" altLang="en-US" dirty="0"/>
              <a:t>发布的</a:t>
            </a:r>
            <a:r>
              <a:rPr kumimoji="1" lang="en-US" altLang="zh-CN" dirty="0"/>
              <a:t>《2023</a:t>
            </a:r>
            <a:r>
              <a:rPr kumimoji="1" lang="zh-CN" altLang="en-US" dirty="0"/>
              <a:t>年上半年中国关系型数据库软件市场跟踪报告</a:t>
            </a:r>
            <a:r>
              <a:rPr kumimoji="1" lang="en-US" altLang="zh-CN" dirty="0"/>
              <a:t>》</a:t>
            </a:r>
            <a:r>
              <a:rPr kumimoji="1" lang="zh-CN" altLang="en-US" dirty="0"/>
              <a:t>，腾讯云数据库</a:t>
            </a:r>
            <a:r>
              <a:rPr kumimoji="1" lang="en-US" altLang="zh-CN" dirty="0"/>
              <a:t>TDSQL</a:t>
            </a:r>
            <a:r>
              <a:rPr kumimoji="1" lang="zh-CN" altLang="en-US" dirty="0"/>
              <a:t>在收入同比增长和市场占有率增幅上均领先于其他中国云服务商。目前，已有超过</a:t>
            </a:r>
            <a:r>
              <a:rPr kumimoji="1" lang="en-US" altLang="zh-CN" dirty="0"/>
              <a:t>4000</a:t>
            </a:r>
            <a:r>
              <a:rPr kumimoji="1" lang="zh-CN" altLang="en-US" dirty="0"/>
              <a:t>家来自金融、公共服务和电信等行业的客户采用</a:t>
            </a:r>
            <a:r>
              <a:rPr kumimoji="1" lang="en-US" altLang="zh-CN" dirty="0"/>
              <a:t>TDSQL</a:t>
            </a:r>
            <a:r>
              <a:rPr kumimoji="1" lang="zh-CN" altLang="en-US" dirty="0"/>
              <a:t>，包括超过</a:t>
            </a:r>
            <a:r>
              <a:rPr kumimoji="1" lang="en-US" altLang="zh-CN" dirty="0"/>
              <a:t>30</a:t>
            </a:r>
            <a:r>
              <a:rPr kumimoji="1" lang="zh-CN" altLang="en-US" dirty="0"/>
              <a:t>家金融机构在内的重要客户，证明了其技术实力和市场影响力。</a:t>
            </a:r>
          </a:p>
          <a:p>
            <a:endParaRPr kumimoji="1" lang="zh-CN" altLang="en-US" dirty="0"/>
          </a:p>
          <a:p>
            <a:r>
              <a:rPr kumimoji="1" lang="en-US" altLang="zh-CN" dirty="0"/>
              <a:t>————————————————</a:t>
            </a:r>
          </a:p>
          <a:p>
            <a:endParaRPr kumimoji="1" lang="en-US" altLang="zh-CN" dirty="0"/>
          </a:p>
          <a:p>
            <a:endParaRPr kumimoji="1" lang="en-US" altLang="zh-CN" dirty="0"/>
          </a:p>
          <a:p>
            <a:r>
              <a:rPr kumimoji="1" lang="en-US" altLang="zh-CN" dirty="0"/>
              <a:t>                            </a:t>
            </a:r>
            <a:r>
              <a:rPr kumimoji="1" lang="zh-CN" altLang="en-US" dirty="0"/>
              <a:t>版权声明：本文为博主原创文章，遵循 </a:t>
            </a:r>
            <a:r>
              <a:rPr kumimoji="1" lang="en-US" altLang="zh-CN" dirty="0"/>
              <a:t>CC 4.0 BY-SA </a:t>
            </a:r>
            <a:r>
              <a:rPr kumimoji="1" lang="zh-CN" altLang="en-US" dirty="0"/>
              <a:t>版权协议，转载请附上原文出处链接和本声明。</a:t>
            </a:r>
          </a:p>
          <a:p>
            <a:r>
              <a:rPr kumimoji="1" lang="zh-CN" altLang="en-US" dirty="0"/>
              <a:t>                        </a:t>
            </a:r>
          </a:p>
          <a:p>
            <a:endParaRPr kumimoji="1" lang="zh-CN" altLang="en-US" dirty="0"/>
          </a:p>
          <a:p>
            <a:r>
              <a:rPr kumimoji="1" lang="zh-CN" altLang="en-US" dirty="0"/>
              <a:t>原文链接：</a:t>
            </a:r>
            <a:r>
              <a:rPr kumimoji="1" lang="en-US" altLang="zh-CN" dirty="0"/>
              <a:t>https://</a:t>
            </a:r>
            <a:r>
              <a:rPr kumimoji="1" lang="en-US" altLang="zh-CN" dirty="0" err="1"/>
              <a:t>blog.csdn.net</a:t>
            </a:r>
            <a:r>
              <a:rPr kumimoji="1" lang="en-US" altLang="zh-CN" dirty="0"/>
              <a:t>/Era666/article/details/136208444</a:t>
            </a:r>
            <a:endParaRPr kumimoji="1" lang="zh-CN" altLang="en-US" dirty="0"/>
          </a:p>
        </p:txBody>
      </p:sp>
      <p:sp>
        <p:nvSpPr>
          <p:cNvPr id="4" name="幻灯片编号占位符 3"/>
          <p:cNvSpPr>
            <a:spLocks noGrp="1"/>
          </p:cNvSpPr>
          <p:nvPr>
            <p:ph type="sldNum" sz="quarter" idx="10"/>
          </p:nvPr>
        </p:nvSpPr>
        <p:spPr/>
        <p:txBody>
          <a:bodyPr/>
          <a:lstStyle/>
          <a:p>
            <a:pPr>
              <a:defRPr/>
            </a:pPr>
            <a:fld id="{AE66C03C-4B0E-4149-8287-A3B340EB818D}" type="slidenum">
              <a:rPr lang="en-US" altLang="en-US" smtClean="0"/>
              <a:t>28</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AE66C03C-4B0E-4149-8287-A3B340EB818D}" type="slidenum">
              <a:rPr lang="en-US" altLang="en-US" smtClean="0"/>
              <a:t>34</a:t>
            </a:fld>
            <a:endParaRPr lang="en-US" altLang="en-US"/>
          </a:p>
        </p:txBody>
      </p:sp>
    </p:spTree>
    <p:extLst>
      <p:ext uri="{BB962C8B-B14F-4D97-AF65-F5344CB8AC3E}">
        <p14:creationId xmlns:p14="http://schemas.microsoft.com/office/powerpoint/2010/main" val="42603758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1" dirty="0"/>
          </a:p>
          <a:p>
            <a:r>
              <a:rPr kumimoji="1" lang="en-US" altLang="zh-CN" b="1" dirty="0" err="1"/>
              <a:t>Xxx</a:t>
            </a:r>
            <a:r>
              <a:rPr kumimoji="1" lang="en-US" altLang="zh-CN" b="1" dirty="0"/>
              <a:t> will introduce xxx</a:t>
            </a:r>
            <a:endParaRPr kumimoji="1" lang="zh-CN" altLang="en-US" b="1"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623BED1-D6E5-7F4E-B315-E55710BDAA2B}" type="slidenum">
              <a:rPr kumimoji="1"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44</a:t>
            </a:fld>
            <a:endParaRPr kumimoji="1"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1" dirty="0"/>
          </a:p>
          <a:p>
            <a:r>
              <a:rPr kumimoji="1" lang="en-US" altLang="zh-CN" b="1" dirty="0" err="1"/>
              <a:t>Xxx</a:t>
            </a:r>
            <a:r>
              <a:rPr kumimoji="1" lang="en-US" altLang="zh-CN" b="1" dirty="0"/>
              <a:t> will introduce xxx</a:t>
            </a:r>
            <a:endParaRPr kumimoji="1" lang="zh-CN" altLang="en-US" b="1"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623BED1-D6E5-7F4E-B315-E55710BDAA2B}" type="slidenum">
              <a:rPr kumimoji="1"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45</a:t>
            </a:fld>
            <a:endParaRPr kumimoji="1"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5" name="Text Box 7"/>
          <p:cNvSpPr txBox="1">
            <a:spLocks noChangeArrowheads="1"/>
          </p:cNvSpPr>
          <p:nvPr/>
        </p:nvSpPr>
        <p:spPr bwMode="auto">
          <a:xfrm>
            <a:off x="2674938" y="5726113"/>
            <a:ext cx="3694112" cy="793750"/>
          </a:xfrm>
          <a:prstGeom prst="rect">
            <a:avLst/>
          </a:prstGeom>
          <a:noFill/>
          <a:ln>
            <a:noFill/>
          </a:ln>
        </p:spPr>
        <p:txBody>
          <a:bodyPr wrap="none">
            <a:spAutoFit/>
          </a:bodyPr>
          <a:lstStyle>
            <a:lvl1pPr>
              <a:defRPr sz="1600">
                <a:solidFill>
                  <a:schemeClr val="tx1"/>
                </a:solidFill>
                <a:latin typeface="Helvetica" panose="020B0604020202030204" pitchFamily="34" charset="0"/>
                <a:ea typeface="MS PGothic" panose="020B0600070205080204" pitchFamily="34" charset="-128"/>
              </a:defRPr>
            </a:lvl1pPr>
            <a:lvl2pPr marL="742950" indent="-285750">
              <a:defRPr sz="1600">
                <a:solidFill>
                  <a:schemeClr val="tx1"/>
                </a:solidFill>
                <a:latin typeface="Helvetica" panose="020B0604020202030204" pitchFamily="34" charset="0"/>
                <a:ea typeface="MS PGothic" panose="020B0600070205080204" pitchFamily="34" charset="-128"/>
              </a:defRPr>
            </a:lvl2pPr>
            <a:lvl3pPr marL="1143000" indent="-228600">
              <a:defRPr sz="1600">
                <a:solidFill>
                  <a:schemeClr val="tx1"/>
                </a:solidFill>
                <a:latin typeface="Helvetica" panose="020B0604020202030204" pitchFamily="34" charset="0"/>
                <a:ea typeface="MS PGothic" panose="020B0600070205080204" pitchFamily="34" charset="-128"/>
              </a:defRPr>
            </a:lvl3pPr>
            <a:lvl4pPr marL="1600200" indent="-228600">
              <a:defRPr sz="1600">
                <a:solidFill>
                  <a:schemeClr val="tx1"/>
                </a:solidFill>
                <a:latin typeface="Helvetica" panose="020B0604020202030204" pitchFamily="34" charset="0"/>
                <a:ea typeface="MS PGothic" panose="020B0600070205080204" pitchFamily="34" charset="-128"/>
              </a:defRPr>
            </a:lvl4pPr>
            <a:lvl5pPr marL="2057400" indent="-228600">
              <a:defRPr sz="1600">
                <a:solidFill>
                  <a:schemeClr val="tx1"/>
                </a:solidFill>
                <a:latin typeface="Helvetica" panose="020B060402020203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5130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p>
        </p:txBody>
      </p:sp>
      <p:sp>
        <p:nvSpPr>
          <p:cNvPr id="8" name="Rectangle 5"/>
          <p:cNvSpPr>
            <a:spLocks noGrp="1" noChangeArrowheads="1"/>
          </p:cNvSpPr>
          <p:nvPr>
            <p:ph type="sldNum" sz="quarter" idx="11"/>
          </p:nvPr>
        </p:nvSpPr>
        <p:spPr>
          <a:xfrm>
            <a:off x="6596063" y="6218238"/>
            <a:ext cx="1905000" cy="457200"/>
          </a:xfrm>
        </p:spPr>
        <p:txBody>
          <a:bodyPr/>
          <a:lstStyle>
            <a:lvl1pPr>
              <a:defRPr>
                <a:solidFill>
                  <a:srgbClr val="578963"/>
                </a:solidFill>
              </a:defRPr>
            </a:lvl1pPr>
          </a:lstStyle>
          <a:p>
            <a:pPr>
              <a:defRPr/>
            </a:pPr>
            <a:fld id="{3B69BB99-A72A-4470-971F-83530C443C91}" type="slidenum">
              <a:rPr lang="en-US" altLang="en-US"/>
              <a:t>‹#›</a:t>
            </a:fld>
            <a:endParaRPr lang="en-US" altLang="en-US"/>
          </a:p>
        </p:txBody>
      </p:sp>
      <p:pic>
        <p:nvPicPr>
          <p:cNvPr id="9" name="Picture 8" descr="Cover-6Ed"/>
          <p:cNvPicPr>
            <a:picLocks noChangeAspect="1" noChangeArrowheads="1"/>
          </p:cNvPicPr>
          <p:nvPr userDrawn="1"/>
        </p:nvPicPr>
        <p:blipFill>
          <a:blip r:embed="rId3"/>
          <a:stretch>
            <a:fillRect/>
          </a:stretch>
        </p:blipFill>
        <p:spPr bwMode="auto">
          <a:xfrm>
            <a:off x="13859" y="0"/>
            <a:ext cx="742012" cy="94765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Font typeface="Wingdings" panose="05000000000000000000" pitchFamily="2" charset="2"/>
              <a:buChar cha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p:cNvSpPr>
            <a:spLocks noGrp="1" noChangeArrowheads="1"/>
          </p:cNvSpPr>
          <p:nvPr>
            <p:ph type="sldNum" sz="quarter" idx="10"/>
          </p:nvPr>
        </p:nvSpPr>
        <p:spPr/>
        <p:txBody>
          <a:bodyPr/>
          <a:lstStyle>
            <a:lvl1pPr>
              <a:defRPr/>
            </a:lvl1pPr>
          </a:lstStyle>
          <a:p>
            <a:pPr>
              <a:defRPr/>
            </a:pPr>
            <a:fld id="{547F3CAF-32BF-49A6-93F1-59C9E4B7C957}" type="slidenum">
              <a:rPr lang="en-US" altLang="en-US"/>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4388" y="1093788"/>
            <a:ext cx="3754437"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1093788"/>
            <a:ext cx="3754438"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p:cNvSpPr>
            <a:spLocks noGrp="1" noChangeArrowheads="1"/>
          </p:cNvSpPr>
          <p:nvPr>
            <p:ph type="sldNum" sz="quarter" idx="10"/>
          </p:nvPr>
        </p:nvSpPr>
        <p:spPr/>
        <p:txBody>
          <a:bodyPr/>
          <a:lstStyle>
            <a:lvl1pPr>
              <a:defRPr/>
            </a:lvl1pPr>
          </a:lstStyle>
          <a:p>
            <a:pPr>
              <a:defRPr/>
            </a:pPr>
            <a:fld id="{00852D5F-D37B-4E9D-98AD-511A1ABBD6A9}" type="slidenum">
              <a:rPr lang="en-US" altLang="en-US"/>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p:cNvSpPr>
            <a:spLocks noGrp="1" noChangeArrowheads="1"/>
          </p:cNvSpPr>
          <p:nvPr>
            <p:ph type="sldNum" sz="quarter" idx="10"/>
          </p:nvPr>
        </p:nvSpPr>
        <p:spPr/>
        <p:txBody>
          <a:bodyPr/>
          <a:lstStyle>
            <a:lvl1pPr>
              <a:defRPr/>
            </a:lvl1pPr>
          </a:lstStyle>
          <a:p>
            <a:pPr>
              <a:defRPr/>
            </a:pPr>
            <a:fld id="{C0191CCC-CC48-429B-87C9-7123B48E52D4}" type="slidenum">
              <a:rPr lang="en-US" altLang="en-US"/>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p:cNvSpPr>
            <a:spLocks noGrp="1" noChangeArrowheads="1"/>
          </p:cNvSpPr>
          <p:nvPr>
            <p:ph type="sldNum" sz="quarter" idx="10"/>
          </p:nvPr>
        </p:nvSpPr>
        <p:spPr/>
        <p:txBody>
          <a:bodyPr/>
          <a:lstStyle>
            <a:lvl1pPr>
              <a:defRPr/>
            </a:lvl1pPr>
          </a:lstStyle>
          <a:p>
            <a:pPr>
              <a:defRPr/>
            </a:pPr>
            <a:fld id="{5E9D92F0-DB25-4E6B-A10D-A7937AC7A365}" type="slidenum">
              <a:rPr lang="en-US" altLang="en-US"/>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p:cNvSpPr>
            <a:spLocks noGrp="1" noChangeArrowheads="1"/>
          </p:cNvSpPr>
          <p:nvPr>
            <p:ph type="sldNum" sz="quarter" idx="10"/>
          </p:nvPr>
        </p:nvSpPr>
        <p:spPr/>
        <p:txBody>
          <a:bodyPr/>
          <a:lstStyle>
            <a:lvl1pPr>
              <a:defRPr/>
            </a:lvl1pPr>
          </a:lstStyle>
          <a:p>
            <a:pPr>
              <a:defRPr/>
            </a:pPr>
            <a:fld id="{0E555C8E-F740-4D28-8DA3-D7B8E0F6F578}" type="slidenum">
              <a:rPr lang="en-US" altLang="en-US"/>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p:cNvSpPr>
            <a:spLocks noGrp="1" noChangeArrowheads="1"/>
          </p:cNvSpPr>
          <p:nvPr>
            <p:ph type="sldNum" sz="quarter" idx="10"/>
          </p:nvPr>
        </p:nvSpPr>
        <p:spPr/>
        <p:txBody>
          <a:bodyPr/>
          <a:lstStyle>
            <a:lvl1pPr>
              <a:defRPr/>
            </a:lvl1pPr>
          </a:lstStyle>
          <a:p>
            <a:pPr>
              <a:defRPr/>
            </a:pPr>
            <a:fld id="{2BBBE5B0-1186-4DAB-9E97-511F15F5C63C}" type="slidenum">
              <a:rPr lang="en-US" altLang="en-US"/>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p:cNvSpPr>
            <a:spLocks noGrp="1" noChangeArrowheads="1"/>
          </p:cNvSpPr>
          <p:nvPr>
            <p:ph type="sldNum" sz="quarter" idx="10"/>
          </p:nvPr>
        </p:nvSpPr>
        <p:spPr/>
        <p:txBody>
          <a:bodyPr/>
          <a:lstStyle>
            <a:lvl1pPr>
              <a:defRPr/>
            </a:lvl1pPr>
          </a:lstStyle>
          <a:p>
            <a:pPr>
              <a:defRPr/>
            </a:pPr>
            <a:fld id="{F291DB2E-7BC4-4C22-ACAE-0B8B3F0C5147}" type="slidenum">
              <a:rPr lang="en-US" altLang="en-US"/>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p:cNvSpPr>
            <a:spLocks noGrp="1" noChangeArrowheads="1"/>
          </p:cNvSpPr>
          <p:nvPr>
            <p:ph type="sldNum" sz="quarter" idx="10"/>
          </p:nvPr>
        </p:nvSpPr>
        <p:spPr/>
        <p:txBody>
          <a:bodyPr/>
          <a:lstStyle>
            <a:lvl1pPr>
              <a:defRPr/>
            </a:lvl1pPr>
          </a:lstStyle>
          <a:p>
            <a:pPr>
              <a:defRPr/>
            </a:pPr>
            <a:fld id="{D7E5E31B-1343-4510-8DCD-65E7B6544692}" type="slidenum">
              <a:rPr lang="en-US" altLang="en-US"/>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p:cNvSpPr>
            <a:spLocks noGrp="1" noChangeArrowheads="1"/>
          </p:cNvSpPr>
          <p:nvPr>
            <p:ph type="sldNum" sz="quarter" idx="10"/>
          </p:nvPr>
        </p:nvSpPr>
        <p:spPr/>
        <p:txBody>
          <a:bodyPr/>
          <a:lstStyle>
            <a:lvl1pPr>
              <a:defRPr/>
            </a:lvl1pPr>
          </a:lstStyle>
          <a:p>
            <a:pPr>
              <a:defRPr/>
            </a:pPr>
            <a:fld id="{833574B0-C055-4E38-82A9-667A1DF1F8D0}" type="slidenum">
              <a:rPr lang="en-US" altLang="en-US"/>
              <a:t>‹#›</a:t>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3"/>
          <p:cNvSpPr>
            <a:spLocks noGrp="1" noChangeArrowheads="1"/>
          </p:cNvSpPr>
          <p:nvPr>
            <p:ph type="sldNum" sz="quarter" idx="10"/>
          </p:nvPr>
        </p:nvSpPr>
        <p:spPr/>
        <p:txBody>
          <a:bodyPr/>
          <a:lstStyle>
            <a:lvl1pPr>
              <a:defRPr/>
            </a:lvl1pPr>
          </a:lstStyle>
          <a:p>
            <a:pPr>
              <a:defRPr/>
            </a:pPr>
            <a:fld id="{300D9E99-A0D8-4F2F-B04A-331DF655FEAB}" type="slidenum">
              <a:rPr lang="en-US" altLang="en-US"/>
              <a:t>‹#›</a:t>
            </a:fld>
            <a:endParaRPr lang="en-US"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和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295275"/>
            <a:ext cx="8001000" cy="873125"/>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566738" y="1392238"/>
            <a:ext cx="3924300" cy="4932362"/>
          </a:xfrm>
        </p:spPr>
        <p:txBody>
          <a:bodyPr/>
          <a:lstStyle/>
          <a:p>
            <a:pPr lvl="0" fontAlgn="base"/>
            <a:r>
              <a:rPr lang="zh-CN" altLang="en-US" strike="noStrike" noProof="1"/>
              <a:t>单击此处编辑母版文本样式</a:t>
            </a:r>
          </a:p>
          <a:p>
            <a:pPr lvl="1" fontAlgn="base"/>
            <a:r>
              <a:rPr lang="zh-CN" altLang="en-US" strike="noStrike" noProof="1"/>
              <a:t>二级</a:t>
            </a:r>
          </a:p>
          <a:p>
            <a:pPr lvl="2" fontAlgn="base"/>
            <a:r>
              <a:rPr lang="zh-CN" altLang="en-US" strike="noStrike" noProof="1"/>
              <a:t>三级</a:t>
            </a:r>
          </a:p>
          <a:p>
            <a:pPr lvl="3" fontAlgn="base"/>
            <a:r>
              <a:rPr lang="zh-CN" altLang="en-US" strike="noStrike" noProof="1"/>
              <a:t>四级</a:t>
            </a:r>
          </a:p>
          <a:p>
            <a:pPr lvl="4" fontAlgn="base"/>
            <a:r>
              <a:rPr lang="zh-CN" altLang="en-US" strike="noStrike" noProof="1"/>
              <a:t>五级</a:t>
            </a:r>
          </a:p>
        </p:txBody>
      </p:sp>
      <p:sp>
        <p:nvSpPr>
          <p:cNvPr id="4" name="内容占位符 3"/>
          <p:cNvSpPr>
            <a:spLocks noGrp="1"/>
          </p:cNvSpPr>
          <p:nvPr>
            <p:ph sz="half" idx="2"/>
          </p:nvPr>
        </p:nvSpPr>
        <p:spPr>
          <a:xfrm>
            <a:off x="4643438" y="1392238"/>
            <a:ext cx="3924300" cy="4932362"/>
          </a:xfrm>
        </p:spPr>
        <p:txBody>
          <a:bodyPr/>
          <a:lstStyle/>
          <a:p>
            <a:pPr lvl="0" fontAlgn="base"/>
            <a:r>
              <a:rPr lang="zh-CN" altLang="en-US" strike="noStrike" noProof="1"/>
              <a:t>单击此处编辑母版文本样式</a:t>
            </a:r>
          </a:p>
          <a:p>
            <a:pPr lvl="1" fontAlgn="base"/>
            <a:r>
              <a:rPr lang="zh-CN" altLang="en-US" strike="noStrike" noProof="1"/>
              <a:t>二级</a:t>
            </a:r>
          </a:p>
          <a:p>
            <a:pPr lvl="2" fontAlgn="base"/>
            <a:r>
              <a:rPr lang="zh-CN" altLang="en-US" strike="noStrike" noProof="1"/>
              <a:t>三级</a:t>
            </a:r>
          </a:p>
          <a:p>
            <a:pPr lvl="3" fontAlgn="base"/>
            <a:r>
              <a:rPr lang="zh-CN" altLang="en-US" strike="noStrike" noProof="1"/>
              <a:t>四级</a:t>
            </a:r>
          </a:p>
          <a:p>
            <a:pPr lvl="4" fontAlgn="base"/>
            <a:r>
              <a:rPr lang="zh-CN" altLang="en-US" strike="noStrike" noProof="1"/>
              <a:t>五级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a:xfrm>
            <a:off x="8793480" y="6517146"/>
            <a:ext cx="459040" cy="476250"/>
          </a:xfrm>
        </p:spPr>
        <p:txBody>
          <a:bodyPr/>
          <a:lstStyle/>
          <a:p>
            <a:fld id="{87BBDC00-B9E2-4EFD-9306-2934E87247C6}" type="slidenum">
              <a:rPr lang="zh-CN" altLang="en-US" smtClean="0"/>
              <a:t>‹#›</a:t>
            </a:fld>
            <a:endParaRPr lang="zh-CN" altLang="en-US"/>
          </a:p>
        </p:txBody>
      </p:sp>
      <p:sp>
        <p:nvSpPr>
          <p:cNvPr id="5" name="Rectangle 7"/>
          <p:cNvSpPr>
            <a:spLocks noGrp="1" noChangeArrowheads="1"/>
          </p:cNvSpPr>
          <p:nvPr>
            <p:ph type="title"/>
          </p:nvPr>
        </p:nvSpPr>
        <p:spPr bwMode="auto">
          <a:xfrm>
            <a:off x="787914" y="109584"/>
            <a:ext cx="7568173" cy="678470"/>
          </a:xfrm>
          <a:prstGeom prst="rect">
            <a:avLst/>
          </a:prstGeom>
          <a:noFill/>
          <a:ln>
            <a:noFill/>
          </a:ln>
          <a:effectLst/>
        </p:spPr>
        <p:txBody>
          <a:bodyPr vert="horz" wrap="square" lIns="91440" tIns="45720" rIns="91440" bIns="45720" numCol="1" anchor="ctr" anchorCtr="0" compatLnSpc="1"/>
          <a:lstStyle/>
          <a:p>
            <a:pPr lvl="0"/>
            <a:r>
              <a:rPr lang="zh-CN" altLang="en-US" dirty="0"/>
              <a:t>单击此处编辑母版标题样式</a:t>
            </a:r>
          </a:p>
        </p:txBody>
      </p:sp>
      <p:sp>
        <p:nvSpPr>
          <p:cNvPr id="8" name="Rectangle 4"/>
          <p:cNvSpPr>
            <a:spLocks noGrp="1" noChangeArrowheads="1"/>
          </p:cNvSpPr>
          <p:nvPr>
            <p:ph idx="1"/>
          </p:nvPr>
        </p:nvSpPr>
        <p:spPr bwMode="auto">
          <a:xfrm>
            <a:off x="342900" y="1125538"/>
            <a:ext cx="8155641" cy="5005387"/>
          </a:xfrm>
          <a:prstGeom prst="rect">
            <a:avLst/>
          </a:prstGeom>
          <a:noFill/>
          <a:ln>
            <a:noFill/>
          </a:ln>
        </p:spPr>
        <p:txBody>
          <a:bodyPr vert="horz" wrap="square" lIns="91440" tIns="45720" rIns="91440" bIns="45720" numCol="1" anchor="t" anchorCtr="0" compatLnSpc="1"/>
          <a:lstStyle>
            <a:lvl1pPr>
              <a:defRPr>
                <a:latin typeface="黑体" panose="02010609060101010101" pitchFamily="49" charset="-122"/>
                <a:ea typeface="黑体" panose="02010609060101010101" pitchFamily="49" charset="-122"/>
              </a:defRPr>
            </a:lvl1pPr>
            <a:lvl2pPr>
              <a:defRPr>
                <a:latin typeface="黑体" panose="02010609060101010101" pitchFamily="49" charset="-122"/>
                <a:ea typeface="黑体" panose="02010609060101010101" pitchFamily="49" charset="-122"/>
              </a:defRPr>
            </a:lvl2pPr>
            <a:lvl3pPr>
              <a:defRPr>
                <a:latin typeface="黑体" panose="02010609060101010101" pitchFamily="49" charset="-122"/>
                <a:ea typeface="黑体" panose="02010609060101010101" pitchFamily="49" charset="-122"/>
              </a:defRPr>
            </a:lvl3pPr>
            <a:lvl4pPr>
              <a:defRPr>
                <a:latin typeface="黑体" panose="02010609060101010101" pitchFamily="49" charset="-122"/>
                <a:ea typeface="黑体" panose="02010609060101010101" pitchFamily="49" charset="-122"/>
              </a:defRPr>
            </a:lvl4pPr>
            <a:lvl5pPr>
              <a:defRPr>
                <a:latin typeface="黑体" panose="02010609060101010101" pitchFamily="49" charset="-122"/>
                <a:ea typeface="黑体" panose="02010609060101010101" pitchFamily="49" charset="-122"/>
              </a:defRPr>
            </a:lvl5pPr>
          </a:lstStyle>
          <a:p>
            <a:pPr lvl="0"/>
            <a:r>
              <a:rPr lang="en-US" altLang="zh-CN" dirty="0" err="1"/>
              <a:t>单击此处编辑母版文本样式</a:t>
            </a:r>
            <a:endParaRPr lang="en-US" altLang="zh-CN" dirty="0"/>
          </a:p>
          <a:p>
            <a:pPr lvl="1"/>
            <a:r>
              <a:rPr lang="en-US" altLang="zh-CN" dirty="0" err="1"/>
              <a:t>第二级</a:t>
            </a:r>
            <a:endParaRPr lang="en-US" altLang="zh-CN" dirty="0"/>
          </a:p>
          <a:p>
            <a:pPr lvl="2"/>
            <a:r>
              <a:rPr lang="en-US" altLang="zh-CN" dirty="0" err="1"/>
              <a:t>第三级</a:t>
            </a:r>
            <a:endParaRPr lang="en-US" altLang="zh-CN" dirty="0"/>
          </a:p>
          <a:p>
            <a:pPr lvl="3"/>
            <a:r>
              <a:rPr lang="en-US" altLang="zh-CN" dirty="0" err="1"/>
              <a:t>第四级</a:t>
            </a:r>
            <a:endParaRPr lang="en-US" altLang="zh-CN" dirty="0"/>
          </a:p>
          <a:p>
            <a:pPr lvl="4"/>
            <a:r>
              <a:rPr lang="en-US" altLang="zh-CN" dirty="0" err="1"/>
              <a:t>第五级</a:t>
            </a:r>
            <a:endParaRPr lang="en-US" altLang="zh-CN" dirty="0"/>
          </a:p>
        </p:txBody>
      </p:sp>
      <p:sp>
        <p:nvSpPr>
          <p:cNvPr id="2" name="页脚占位符 4"/>
          <p:cNvSpPr>
            <a:spLocks noGrp="1"/>
          </p:cNvSpPr>
          <p:nvPr>
            <p:ph type="ftr" sz="quarter" idx="3"/>
          </p:nvPr>
        </p:nvSpPr>
        <p:spPr>
          <a:xfrm>
            <a:off x="3276600" y="6593840"/>
            <a:ext cx="2838450" cy="264160"/>
          </a:xfrm>
          <a:prstGeom prst="rect">
            <a:avLst/>
          </a:prstGeom>
        </p:spPr>
        <p:txBody>
          <a:bodyPr vert="horz" lIns="91440" tIns="45720" rIns="91440" bIns="45720" rtlCol="0" anchor="ctr"/>
          <a:lstStyle>
            <a:defPPr>
              <a:defRPr lang="zh-CN"/>
            </a:defPPr>
            <a:lvl1pPr marL="0" algn="ctr" defTabSz="6858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kumimoji="1" lang="zh-CN" altLang="en-US" dirty="0"/>
              <a:t>数据库 </a:t>
            </a:r>
            <a:r>
              <a:rPr kumimoji="1" lang="en-US" altLang="zh-CN" dirty="0"/>
              <a:t>- </a:t>
            </a:r>
            <a:r>
              <a:rPr kumimoji="1" lang="zh-CN" altLang="en-US" dirty="0"/>
              <a:t>概述</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748145" y="1093788"/>
            <a:ext cx="7727518" cy="4903787"/>
          </a:xfrm>
          <a:prstGeom prst="rect">
            <a:avLst/>
          </a:prstGeom>
          <a:noFill/>
          <a:ln>
            <a:noFill/>
          </a:ln>
        </p:spPr>
        <p:txBody>
          <a:bodyPr vert="horz" wrap="square" lIns="91440" tIns="45720" rIns="91440" bIns="45720" numCol="1" anchor="t" anchorCtr="0" compatLnSpc="1"/>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512003" name="Rectangle 3"/>
          <p:cNvSpPr>
            <a:spLocks noGrp="1" noChangeArrowheads="1"/>
          </p:cNvSpPr>
          <p:nvPr>
            <p:ph type="sldNum" sz="quarter" idx="4"/>
          </p:nvPr>
        </p:nvSpPr>
        <p:spPr bwMode="auto">
          <a:xfrm>
            <a:off x="6553200" y="6400800"/>
            <a:ext cx="1905000" cy="457200"/>
          </a:xfrm>
          <a:prstGeom prst="rect">
            <a:avLst/>
          </a:prstGeom>
          <a:noFill/>
          <a:ln w="9525">
            <a:noFill/>
            <a:miter lim="800000"/>
          </a:ln>
        </p:spPr>
        <p:txBody>
          <a:bodyPr vert="horz" wrap="square" lIns="91440" tIns="45720" rIns="91440" bIns="45720" numCol="1" anchor="t" anchorCtr="0" compatLnSpc="1"/>
          <a:lstStyle>
            <a:lvl1pPr algn="r">
              <a:spcBef>
                <a:spcPct val="50000"/>
              </a:spcBef>
              <a:defRPr sz="1400">
                <a:solidFill>
                  <a:srgbClr val="002060"/>
                </a:solidFill>
                <a:latin typeface="Times New Roman" panose="02020603050405020304" pitchFamily="18" charset="0"/>
              </a:defRPr>
            </a:lvl1pPr>
          </a:lstStyle>
          <a:p>
            <a:pPr>
              <a:defRPr/>
            </a:pPr>
            <a:fld id="{8BECA7E0-09BC-41D3-BD93-B7E81A2ACCB7}" type="slidenum">
              <a:rPr lang="en-US" altLang="en-US" smtClean="0"/>
              <a:t>‹#›</a:t>
            </a:fld>
            <a:endParaRPr lang="en-US" altLang="en-US" dirty="0"/>
          </a:p>
        </p:txBody>
      </p:sp>
      <p:sp>
        <p:nvSpPr>
          <p:cNvPr id="1028" name="Text Box 4"/>
          <p:cNvSpPr txBox="1">
            <a:spLocks noChangeArrowheads="1"/>
          </p:cNvSpPr>
          <p:nvPr/>
        </p:nvSpPr>
        <p:spPr bwMode="auto">
          <a:xfrm>
            <a:off x="6762750" y="6613525"/>
            <a:ext cx="2381250" cy="244475"/>
          </a:xfrm>
          <a:prstGeom prst="rect">
            <a:avLst/>
          </a:prstGeom>
          <a:noFill/>
          <a:ln>
            <a:noFill/>
          </a:ln>
        </p:spPr>
        <p:txBody>
          <a:bodyPr wrap="none">
            <a:spAutoFit/>
          </a:bodyPr>
          <a:lstStyle>
            <a:lvl1pPr>
              <a:defRPr sz="1600">
                <a:solidFill>
                  <a:schemeClr val="tx1"/>
                </a:solidFill>
                <a:latin typeface="Helvetica" panose="020B0604020202030204" pitchFamily="34" charset="0"/>
                <a:ea typeface="MS PGothic" panose="020B0600070205080204" pitchFamily="34" charset="-128"/>
              </a:defRPr>
            </a:lvl1pPr>
            <a:lvl2pPr marL="742950" indent="-285750">
              <a:defRPr sz="1600">
                <a:solidFill>
                  <a:schemeClr val="tx1"/>
                </a:solidFill>
                <a:latin typeface="Helvetica" panose="020B0604020202030204" pitchFamily="34" charset="0"/>
                <a:ea typeface="MS PGothic" panose="020B0600070205080204" pitchFamily="34" charset="-128"/>
              </a:defRPr>
            </a:lvl2pPr>
            <a:lvl3pPr marL="1143000" indent="-228600">
              <a:defRPr sz="1600">
                <a:solidFill>
                  <a:schemeClr val="tx1"/>
                </a:solidFill>
                <a:latin typeface="Helvetica" panose="020B0604020202030204" pitchFamily="34" charset="0"/>
                <a:ea typeface="MS PGothic" panose="020B0600070205080204" pitchFamily="34" charset="-128"/>
              </a:defRPr>
            </a:lvl3pPr>
            <a:lvl4pPr marL="1600200" indent="-228600">
              <a:defRPr sz="1600">
                <a:solidFill>
                  <a:schemeClr val="tx1"/>
                </a:solidFill>
                <a:latin typeface="Helvetica" panose="020B0604020202030204" pitchFamily="34" charset="0"/>
                <a:ea typeface="MS PGothic" panose="020B0600070205080204" pitchFamily="34" charset="-128"/>
              </a:defRPr>
            </a:lvl4pPr>
            <a:lvl5pPr marL="2057400" indent="-228600">
              <a:defRPr sz="1600">
                <a:solidFill>
                  <a:schemeClr val="tx1"/>
                </a:solidFill>
                <a:latin typeface="Helvetica" panose="020B060402020203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p>
        </p:txBody>
      </p:sp>
      <p:sp>
        <p:nvSpPr>
          <p:cNvPr id="512005" name="Text Box 5"/>
          <p:cNvSpPr txBox="1">
            <a:spLocks noChangeArrowheads="1"/>
          </p:cNvSpPr>
          <p:nvPr userDrawn="1"/>
        </p:nvSpPr>
        <p:spPr bwMode="auto">
          <a:xfrm>
            <a:off x="4479984" y="6613525"/>
            <a:ext cx="447558" cy="246221"/>
          </a:xfrm>
          <a:prstGeom prst="rect">
            <a:avLst/>
          </a:prstGeom>
          <a:noFill/>
          <a:ln w="9525">
            <a:noFill/>
            <a:miter lim="800000"/>
          </a:ln>
          <a:effectLst/>
        </p:spPr>
        <p:txBody>
          <a:bodyPr wrap="none">
            <a:spAutoFit/>
          </a:bodyPr>
          <a:lstStyle>
            <a:lvl1pPr>
              <a:defRPr sz="1600">
                <a:solidFill>
                  <a:schemeClr val="tx1"/>
                </a:solidFill>
                <a:latin typeface="Helvetica" panose="020B0604020202030204" pitchFamily="34" charset="0"/>
                <a:ea typeface="MS PGothic" panose="020B0600070205080204" pitchFamily="34" charset="-128"/>
              </a:defRPr>
            </a:lvl1pPr>
            <a:lvl2pPr marL="742950" indent="-285750">
              <a:defRPr sz="1600">
                <a:solidFill>
                  <a:schemeClr val="tx1"/>
                </a:solidFill>
                <a:latin typeface="Helvetica" panose="020B0604020202030204" pitchFamily="34" charset="0"/>
                <a:ea typeface="MS PGothic" panose="020B0600070205080204" pitchFamily="34" charset="-128"/>
              </a:defRPr>
            </a:lvl2pPr>
            <a:lvl3pPr marL="1143000" indent="-228600">
              <a:defRPr sz="1600">
                <a:solidFill>
                  <a:schemeClr val="tx1"/>
                </a:solidFill>
                <a:latin typeface="Helvetica" panose="020B0604020202030204" pitchFamily="34" charset="0"/>
                <a:ea typeface="MS PGothic" panose="020B0600070205080204" pitchFamily="34" charset="-128"/>
              </a:defRPr>
            </a:lvl3pPr>
            <a:lvl4pPr marL="1600200" indent="-228600">
              <a:defRPr sz="1600">
                <a:solidFill>
                  <a:schemeClr val="tx1"/>
                </a:solidFill>
                <a:latin typeface="Helvetica" panose="020B0604020202030204" pitchFamily="34" charset="0"/>
                <a:ea typeface="MS PGothic" panose="020B0600070205080204" pitchFamily="34" charset="-128"/>
              </a:defRPr>
            </a:lvl4pPr>
            <a:lvl5pPr marL="2057400" indent="-228600">
              <a:defRPr sz="1600">
                <a:solidFill>
                  <a:schemeClr val="tx1"/>
                </a:solidFill>
                <a:latin typeface="Helvetica" panose="020B060402020203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1.</a:t>
            </a:r>
            <a:fld id="{669DE52E-05EC-4487-BE79-3F9A6A9F8797}" type="slidenum">
              <a:rPr lang="en-US" altLang="en-US" sz="1000" b="1" dirty="0" smtClean="0">
                <a:solidFill>
                  <a:srgbClr val="002060"/>
                </a:solidFill>
              </a:rPr>
              <a:t>‹#›</a:t>
            </a:fld>
            <a:endParaRPr lang="en-US" altLang="en-US" sz="1000" b="1" dirty="0">
              <a:solidFill>
                <a:srgbClr val="002060"/>
              </a:solidFill>
            </a:endParaRPr>
          </a:p>
        </p:txBody>
      </p:sp>
      <p:sp>
        <p:nvSpPr>
          <p:cNvPr id="512006" name="Rectangle 6"/>
          <p:cNvSpPr>
            <a:spLocks noGrp="1" noChangeArrowheads="1"/>
          </p:cNvSpPr>
          <p:nvPr>
            <p:ph type="title"/>
          </p:nvPr>
        </p:nvSpPr>
        <p:spPr bwMode="auto">
          <a:xfrm>
            <a:off x="768350" y="117475"/>
            <a:ext cx="8077200" cy="609600"/>
          </a:xfrm>
          <a:prstGeom prst="rect">
            <a:avLst/>
          </a:prstGeom>
          <a:noFill/>
          <a:ln w="9525">
            <a:noFill/>
            <a:miter lim="800000"/>
          </a:ln>
        </p:spPr>
        <p:txBody>
          <a:bodyPr vert="horz" wrap="square" lIns="91440" tIns="45720" rIns="91440" bIns="45720" numCol="1" anchor="b" anchorCtr="0" compatLnSpc="1"/>
          <a:lstStyle/>
          <a:p>
            <a:pPr lvl="0"/>
            <a:r>
              <a:rPr lang="en-US" dirty="0"/>
              <a:t>Click to edit Master title style</a:t>
            </a:r>
          </a:p>
        </p:txBody>
      </p:sp>
      <p:sp>
        <p:nvSpPr>
          <p:cNvPr id="1031" name="Text Box 7"/>
          <p:cNvSpPr txBox="1">
            <a:spLocks noChangeArrowheads="1"/>
          </p:cNvSpPr>
          <p:nvPr/>
        </p:nvSpPr>
        <p:spPr bwMode="auto">
          <a:xfrm>
            <a:off x="0" y="6613525"/>
            <a:ext cx="2571750" cy="244475"/>
          </a:xfrm>
          <a:prstGeom prst="rect">
            <a:avLst/>
          </a:prstGeom>
          <a:noFill/>
          <a:ln>
            <a:noFill/>
          </a:ln>
        </p:spPr>
        <p:txBody>
          <a:bodyPr wrap="none">
            <a:spAutoFit/>
          </a:bodyPr>
          <a:lstStyle>
            <a:lvl1pPr>
              <a:defRPr sz="1600">
                <a:solidFill>
                  <a:schemeClr val="tx1"/>
                </a:solidFill>
                <a:latin typeface="Helvetica" panose="020B0604020202030204" pitchFamily="34" charset="0"/>
                <a:ea typeface="MS PGothic" panose="020B0600070205080204" pitchFamily="34" charset="-128"/>
                <a:cs typeface="MS PGothic" panose="020B0600070205080204" pitchFamily="34" charset="-128"/>
              </a:defRPr>
            </a:lvl1pPr>
            <a:lvl2pPr marL="742950" indent="-285750">
              <a:defRPr sz="1600">
                <a:solidFill>
                  <a:schemeClr val="tx1"/>
                </a:solidFill>
                <a:latin typeface="Helvetica" panose="020B0604020202030204" pitchFamily="34" charset="0"/>
                <a:ea typeface="MS PGothic" panose="020B0600070205080204" pitchFamily="34" charset="-128"/>
              </a:defRPr>
            </a:lvl2pPr>
            <a:lvl3pPr marL="1143000" indent="-228600">
              <a:defRPr sz="1600">
                <a:solidFill>
                  <a:schemeClr val="tx1"/>
                </a:solidFill>
                <a:latin typeface="Helvetica" panose="020B0604020202030204" pitchFamily="34" charset="0"/>
                <a:ea typeface="MS PGothic" panose="020B0600070205080204" pitchFamily="34" charset="-128"/>
              </a:defRPr>
            </a:lvl3pPr>
            <a:lvl4pPr marL="1600200" indent="-228600">
              <a:defRPr sz="1600">
                <a:solidFill>
                  <a:schemeClr val="tx1"/>
                </a:solidFill>
                <a:latin typeface="Helvetica" panose="020B0604020202030204" pitchFamily="34" charset="0"/>
                <a:ea typeface="MS PGothic" panose="020B0600070205080204" pitchFamily="34" charset="-128"/>
              </a:defRPr>
            </a:lvl4pPr>
            <a:lvl5pPr marL="2057400" indent="-228600">
              <a:defRPr sz="1600">
                <a:solidFill>
                  <a:schemeClr val="tx1"/>
                </a:solidFill>
                <a:latin typeface="Helvetica" panose="020B060402020203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p>
        </p:txBody>
      </p:sp>
      <p:sp>
        <p:nvSpPr>
          <p:cNvPr id="1032" name="Freeform 8"/>
          <p:cNvSpPr/>
          <p:nvPr/>
        </p:nvSpPr>
        <p:spPr bwMode="auto">
          <a:xfrm>
            <a:off x="8916988" y="5445125"/>
            <a:ext cx="227012" cy="47625"/>
          </a:xfrm>
          <a:custGeom>
            <a:avLst/>
            <a:gdLst>
              <a:gd name="T0" fmla="*/ 0 w 285"/>
              <a:gd name="T1" fmla="*/ 2147483646 h 61"/>
              <a:gd name="T2" fmla="*/ 2147483646 w 285"/>
              <a:gd name="T3" fmla="*/ 2147483646 h 61"/>
              <a:gd name="T4" fmla="*/ 2147483646 w 285"/>
              <a:gd name="T5" fmla="*/ 2147483646 h 61"/>
              <a:gd name="T6" fmla="*/ 2147483646 w 285"/>
              <a:gd name="T7" fmla="*/ 2147483646 h 61"/>
              <a:gd name="T8" fmla="*/ 2147483646 w 285"/>
              <a:gd name="T9" fmla="*/ 2147483646 h 61"/>
              <a:gd name="T10" fmla="*/ 2147483646 w 285"/>
              <a:gd name="T11" fmla="*/ 2147483646 h 61"/>
              <a:gd name="T12" fmla="*/ 2147483646 w 285"/>
              <a:gd name="T13" fmla="*/ 2147483646 h 61"/>
              <a:gd name="T14" fmla="*/ 2147483646 w 285"/>
              <a:gd name="T15" fmla="*/ 2147483646 h 61"/>
              <a:gd name="T16" fmla="*/ 2147483646 w 285"/>
              <a:gd name="T17" fmla="*/ 0 h 61"/>
              <a:gd name="T18" fmla="*/ 2147483646 w 285"/>
              <a:gd name="T19" fmla="*/ 0 h 61"/>
              <a:gd name="T20" fmla="*/ 2147483646 w 285"/>
              <a:gd name="T21" fmla="*/ 0 h 61"/>
              <a:gd name="T22" fmla="*/ 2147483646 w 285"/>
              <a:gd name="T23" fmla="*/ 0 h 61"/>
              <a:gd name="T24" fmla="*/ 2147483646 w 285"/>
              <a:gd name="T25" fmla="*/ 2147483646 h 61"/>
              <a:gd name="T26" fmla="*/ 2147483646 w 285"/>
              <a:gd name="T27" fmla="*/ 2147483646 h 61"/>
              <a:gd name="T28" fmla="*/ 2147483646 w 285"/>
              <a:gd name="T29" fmla="*/ 2147483646 h 61"/>
              <a:gd name="T30" fmla="*/ 2147483646 w 285"/>
              <a:gd name="T31" fmla="*/ 2147483646 h 61"/>
              <a:gd name="T32" fmla="*/ 2147483646 w 285"/>
              <a:gd name="T33" fmla="*/ 2147483646 h 61"/>
              <a:gd name="T34" fmla="*/ 2147483646 w 285"/>
              <a:gd name="T35" fmla="*/ 2147483646 h 61"/>
              <a:gd name="T36" fmla="*/ 2147483646 w 285"/>
              <a:gd name="T37" fmla="*/ 2147483646 h 61"/>
              <a:gd name="T38" fmla="*/ 2147483646 w 285"/>
              <a:gd name="T39" fmla="*/ 2147483646 h 61"/>
              <a:gd name="T40" fmla="*/ 2147483646 w 285"/>
              <a:gd name="T41" fmla="*/ 2147483646 h 61"/>
              <a:gd name="T42" fmla="*/ 2147483646 w 285"/>
              <a:gd name="T43" fmla="*/ 2147483646 h 61"/>
              <a:gd name="T44" fmla="*/ 2147483646 w 285"/>
              <a:gd name="T45" fmla="*/ 2147483646 h 61"/>
              <a:gd name="T46" fmla="*/ 2147483646 w 285"/>
              <a:gd name="T47" fmla="*/ 2147483646 h 61"/>
              <a:gd name="T48" fmla="*/ 2147483646 w 285"/>
              <a:gd name="T49" fmla="*/ 2147483646 h 61"/>
              <a:gd name="T50" fmla="*/ 2147483646 w 285"/>
              <a:gd name="T51" fmla="*/ 2147483646 h 61"/>
              <a:gd name="T52" fmla="*/ 2147483646 w 285"/>
              <a:gd name="T53" fmla="*/ 2147483646 h 61"/>
              <a:gd name="T54" fmla="*/ 2147483646 w 285"/>
              <a:gd name="T55" fmla="*/ 2147483646 h 61"/>
              <a:gd name="T56" fmla="*/ 2147483646 w 285"/>
              <a:gd name="T57" fmla="*/ 2147483646 h 61"/>
              <a:gd name="T58" fmla="*/ 2147483646 w 285"/>
              <a:gd name="T59" fmla="*/ 2147483646 h 61"/>
              <a:gd name="T60" fmla="*/ 2147483646 w 285"/>
              <a:gd name="T61" fmla="*/ 2147483646 h 61"/>
              <a:gd name="T62" fmla="*/ 2147483646 w 285"/>
              <a:gd name="T63" fmla="*/ 2147483646 h 61"/>
              <a:gd name="T64" fmla="*/ 2147483646 w 285"/>
              <a:gd name="T65" fmla="*/ 2147483646 h 61"/>
              <a:gd name="T66" fmla="*/ 2147483646 w 285"/>
              <a:gd name="T67" fmla="*/ 2147483646 h 61"/>
              <a:gd name="T68" fmla="*/ 2147483646 w 285"/>
              <a:gd name="T69" fmla="*/ 2147483646 h 61"/>
              <a:gd name="T70" fmla="*/ 2147483646 w 285"/>
              <a:gd name="T71" fmla="*/ 2147483646 h 61"/>
              <a:gd name="T72" fmla="*/ 2147483646 w 285"/>
              <a:gd name="T73" fmla="*/ 2147483646 h 61"/>
              <a:gd name="T74" fmla="*/ 2147483646 w 285"/>
              <a:gd name="T75" fmla="*/ 2147483646 h 61"/>
              <a:gd name="T76" fmla="*/ 2147483646 w 285"/>
              <a:gd name="T77" fmla="*/ 2147483646 h 61"/>
              <a:gd name="T78" fmla="*/ 2147483646 w 285"/>
              <a:gd name="T79" fmla="*/ 2147483646 h 61"/>
              <a:gd name="T80" fmla="*/ 2147483646 w 285"/>
              <a:gd name="T81" fmla="*/ 2147483646 h 61"/>
              <a:gd name="T82" fmla="*/ 2147483646 w 285"/>
              <a:gd name="T83" fmla="*/ 2147483646 h 61"/>
              <a:gd name="T84" fmla="*/ 2147483646 w 285"/>
              <a:gd name="T85" fmla="*/ 2147483646 h 61"/>
              <a:gd name="T86" fmla="*/ 2147483646 w 285"/>
              <a:gd name="T87" fmla="*/ 2147483646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p:spPr>
        <p:txBody>
          <a:bodyPr/>
          <a:lstStyle/>
          <a:p>
            <a:endParaRPr lang="en-IN"/>
          </a:p>
        </p:txBody>
      </p:sp>
      <p:pic>
        <p:nvPicPr>
          <p:cNvPr id="10" name="Picture 8" descr="Cover-6Ed"/>
          <p:cNvPicPr>
            <a:picLocks noChangeAspect="1" noChangeArrowheads="1"/>
          </p:cNvPicPr>
          <p:nvPr userDrawn="1"/>
        </p:nvPicPr>
        <p:blipFill>
          <a:blip r:embed="rId16"/>
          <a:stretch>
            <a:fillRect/>
          </a:stretch>
        </p:blipFill>
        <p:spPr bwMode="auto">
          <a:xfrm>
            <a:off x="5546" y="0"/>
            <a:ext cx="742012" cy="947651"/>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rtl="0" eaLnBrk="0" fontAlgn="base" hangingPunct="0">
        <a:spcBef>
          <a:spcPct val="0"/>
        </a:spcBef>
        <a:spcAft>
          <a:spcPct val="0"/>
        </a:spcAft>
        <a:defRPr kumimoji="1" sz="2800" b="1">
          <a:solidFill>
            <a:srgbClr val="002060"/>
          </a:solidFill>
          <a:effectLst>
            <a:outerShdw blurRad="38100" dist="38100" dir="2700000" algn="tl">
              <a:srgbClr val="DDDDDD"/>
            </a:outerShdw>
          </a:effectLst>
          <a:latin typeface="+mj-lt"/>
          <a:ea typeface="MS PGothic" panose="020B0600070205080204" pitchFamily="34" charset="-128"/>
          <a:cs typeface="MS PGothic" panose="020B0600070205080204" pitchFamily="34" charset="-128"/>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pitchFamily="34" charset="0"/>
          <a:ea typeface="MS PGothic" panose="020B0600070205080204" pitchFamily="34" charset="-128"/>
          <a:cs typeface="MS PGothic" panose="020B0600070205080204" pitchFamily="34" charset="-128"/>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pitchFamily="34" charset="0"/>
          <a:ea typeface="MS PGothic" panose="020B0600070205080204" pitchFamily="34" charset="-128"/>
          <a:cs typeface="MS PGothic" panose="020B0600070205080204" pitchFamily="34" charset="-128"/>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pitchFamily="34" charset="0"/>
          <a:ea typeface="MS PGothic" panose="020B0600070205080204" pitchFamily="34" charset="-128"/>
          <a:cs typeface="MS PGothic" panose="020B0600070205080204" pitchFamily="34" charset="-128"/>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pitchFamily="34" charset="0"/>
          <a:ea typeface="MS PGothic" panose="020B0600070205080204" pitchFamily="34" charset="-128"/>
          <a:cs typeface="MS PGothic" panose="020B0600070205080204" pitchFamily="34" charset="-128"/>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pitchFamily="34"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pitchFamily="34"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pitchFamily="34"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pitchFamily="34" charset="0"/>
        </a:defRPr>
      </a:lvl9pPr>
    </p:titleStyle>
    <p:bodyStyle>
      <a:lvl1pPr marL="342900" indent="-342900" algn="l" rtl="0" eaLnBrk="0" fontAlgn="base" hangingPunct="0">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chemeClr val="folHlink"/>
        </a:buClr>
        <a:buSzPct val="95000"/>
        <a:buFont typeface="Monotype Sorts" pitchFamily="-65" charset="2"/>
        <a:buChar char="l"/>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6.png"/><Relationship Id="rId5" Type="http://schemas.openxmlformats.org/officeDocument/2006/relationships/image" Target="../media/image5.tiff"/><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15.tif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4.png"/><Relationship Id="rId7"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46.png"/><Relationship Id="rId10" Type="http://schemas.openxmlformats.org/officeDocument/2006/relationships/image" Target="../media/image49.png"/><Relationship Id="rId4" Type="http://schemas.openxmlformats.org/officeDocument/2006/relationships/image" Target="../media/image45.png"/><Relationship Id="rId9" Type="http://schemas.openxmlformats.org/officeDocument/2006/relationships/image" Target="../media/image48.png"/></Relationships>
</file>

<file path=ppt/slides/_rels/slide45.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53.png"/><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300" name="Rectangle 4"/>
          <p:cNvSpPr>
            <a:spLocks noGrp="1" noChangeArrowheads="1"/>
          </p:cNvSpPr>
          <p:nvPr>
            <p:ph type="ctrTitle"/>
          </p:nvPr>
        </p:nvSpPr>
        <p:spPr>
          <a:xfrm>
            <a:off x="409892" y="1576705"/>
            <a:ext cx="8403590" cy="158877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800" b="1" i="0" u="none" strike="noStrike" kern="0" cap="none" spc="0" normalizeH="0" baseline="0" noProof="1">
                <a:solidFill>
                  <a:srgbClr val="CC3300"/>
                </a:solidFill>
                <a:effectLst>
                  <a:outerShdw blurRad="38100" dist="38100" dir="2700000">
                    <a:srgbClr val="C0C0C0"/>
                  </a:outerShdw>
                </a:effectLst>
                <a:latin typeface="Arial" panose="020B0604020202020204" pitchFamily="34" charset="0"/>
                <a:ea typeface="MS PGothic" panose="020B0600070205080204" pitchFamily="34" charset="-128"/>
                <a:cs typeface="Arial" panose="020B0604020202020204" pitchFamily="34" charset="0"/>
              </a:rPr>
              <a:t>Database System Concepts</a:t>
            </a:r>
            <a:br>
              <a:rPr kumimoji="1" lang="en-US" altLang="zh-CN" sz="4800" dirty="0">
                <a:solidFill>
                  <a:srgbClr val="CC3300"/>
                </a:solidFill>
                <a:effectLst>
                  <a:outerShdw blurRad="38100" dist="38100" dir="2700000">
                    <a:srgbClr val="C0C0C0"/>
                  </a:outerShdw>
                </a:effectLst>
                <a:latin typeface="Arial" panose="020B0604020202020204" pitchFamily="34" charset="0"/>
                <a:ea typeface="MS PGothic" panose="020B0600070205080204" pitchFamily="34" charset="-128"/>
                <a:cs typeface="Arial" panose="020B0604020202020204" pitchFamily="34" charset="0"/>
              </a:rPr>
            </a:br>
            <a:r>
              <a:rPr kumimoji="1" lang="zh-CN" altLang="en-US" sz="4800" b="1" i="0" u="none" strike="noStrike" kern="0" cap="none" spc="0" normalizeH="0" baseline="0" noProof="1">
                <a:solidFill>
                  <a:srgbClr val="000099"/>
                </a:solidFill>
                <a:effectLst>
                  <a:outerShdw blurRad="38100" dist="38100" dir="2700000">
                    <a:srgbClr val="C0C0C0"/>
                  </a:outerShdw>
                </a:effectLst>
                <a:latin typeface="黑体" panose="02010609060101010101" pitchFamily="49" charset="-122"/>
                <a:ea typeface="黑体" panose="02010609060101010101" pitchFamily="49" charset="-122"/>
                <a:cs typeface="MS PGothic" panose="020B0600070205080204" pitchFamily="34" charset="-128"/>
              </a:rPr>
              <a:t>数据库系统概念</a:t>
            </a:r>
          </a:p>
        </p:txBody>
      </p:sp>
      <p:sp>
        <p:nvSpPr>
          <p:cNvPr id="5122" name="Rectangle 5"/>
          <p:cNvSpPr>
            <a:spLocks noGrp="1"/>
          </p:cNvSpPr>
          <p:nvPr>
            <p:ph type="subTitle" idx="1"/>
          </p:nvPr>
        </p:nvSpPr>
        <p:spPr>
          <a:xfrm>
            <a:off x="748030" y="3854450"/>
            <a:ext cx="7727315" cy="1426845"/>
          </a:xfrm>
        </p:spPr>
        <p:txBody>
          <a:bodyPr vert="horz" wrap="square" lIns="91440" tIns="45720" rIns="91440" bIns="45720" anchor="t"/>
          <a:lstStyle/>
          <a:p>
            <a:pPr marL="0" indent="0" algn="ctr">
              <a:buSzPct val="90000"/>
              <a:buNone/>
            </a:pPr>
            <a:r>
              <a:rPr kumimoji="1" lang="zh-CN" altLang="en-US" sz="2800" dirty="0">
                <a:solidFill>
                  <a:srgbClr val="55257B"/>
                </a:solidFill>
                <a:latin typeface="黑体" panose="02010609060101010101" pitchFamily="49" charset="-122"/>
                <a:ea typeface="黑体" panose="02010609060101010101" pitchFamily="49" charset="-122"/>
                <a:cs typeface="MS PGothic" panose="020B0600070205080204" pitchFamily="34" charset="-128"/>
              </a:rPr>
              <a:t>主讲：康辉 教授</a:t>
            </a:r>
            <a:endParaRPr kumimoji="1" lang="zh-CN" altLang="en-US" sz="2800" dirty="0">
              <a:solidFill>
                <a:srgbClr val="55257B"/>
              </a:solidFill>
              <a:latin typeface="Arial" panose="020B0604020202020204" pitchFamily="34" charset="0"/>
              <a:ea typeface="MS PGothic" panose="020B0600070205080204" pitchFamily="34" charset="-128"/>
              <a:cs typeface="MS PGothic" panose="020B0600070205080204" pitchFamily="34" charset="-128"/>
            </a:endParaRPr>
          </a:p>
          <a:p>
            <a:pPr marL="0" indent="0" algn="ctr">
              <a:buSzPct val="90000"/>
              <a:buNone/>
            </a:pPr>
            <a:r>
              <a:rPr kumimoji="1" lang="en-US" altLang="zh-CN" sz="2800" dirty="0">
                <a:solidFill>
                  <a:srgbClr val="55257B"/>
                </a:solidFill>
                <a:latin typeface="Arial" panose="020B0604020202020204" pitchFamily="34" charset="0"/>
                <a:ea typeface="MS PGothic" panose="020B0600070205080204" pitchFamily="34" charset="-128"/>
                <a:cs typeface="MS PGothic" panose="020B0600070205080204" pitchFamily="34" charset="-128"/>
              </a:rPr>
              <a:t>kanghui@jlu.edu.cn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solidFill>
                  <a:srgbClr val="C00000"/>
                </a:solidFill>
                <a:latin typeface="黑体" panose="02010609060101010101" pitchFamily="49" charset="-122"/>
                <a:ea typeface="黑体" panose="02010609060101010101" pitchFamily="49" charset="-122"/>
              </a:rPr>
              <a:t>提</a:t>
            </a:r>
            <a:r>
              <a:rPr lang="en-US" altLang="zh-CN" sz="4000">
                <a:solidFill>
                  <a:srgbClr val="C00000"/>
                </a:solidFill>
                <a:latin typeface="黑体" panose="02010609060101010101" pitchFamily="49" charset="-122"/>
                <a:ea typeface="黑体" panose="02010609060101010101" pitchFamily="49" charset="-122"/>
              </a:rPr>
              <a:t>  </a:t>
            </a:r>
            <a:r>
              <a:rPr lang="zh-CN" altLang="en-US" sz="4000">
                <a:solidFill>
                  <a:srgbClr val="C00000"/>
                </a:solidFill>
                <a:latin typeface="黑体" panose="02010609060101010101" pitchFamily="49" charset="-122"/>
                <a:ea typeface="黑体" panose="02010609060101010101" pitchFamily="49" charset="-122"/>
              </a:rPr>
              <a:t>纲</a:t>
            </a:r>
          </a:p>
        </p:txBody>
      </p:sp>
      <p:sp>
        <p:nvSpPr>
          <p:cNvPr id="3" name="内容占位符 2"/>
          <p:cNvSpPr>
            <a:spLocks noGrp="1"/>
          </p:cNvSpPr>
          <p:nvPr>
            <p:ph idx="1"/>
          </p:nvPr>
        </p:nvSpPr>
        <p:spPr/>
        <p:txBody>
          <a:bodyPr/>
          <a:lstStyle/>
          <a:p>
            <a:r>
              <a:rPr lang="zh-CN" altLang="en-US" sz="2400" b="1">
                <a:solidFill>
                  <a:srgbClr val="C00000"/>
                </a:solidFill>
                <a:latin typeface="Arial" panose="020B0604020202020204" pitchFamily="34" charset="0"/>
                <a:ea typeface="新宋体" panose="02010609030101010101" charset="-122"/>
              </a:rPr>
              <a:t>课程简介</a:t>
            </a:r>
          </a:p>
          <a:p>
            <a:r>
              <a:rPr lang="zh-CN" altLang="en-US" sz="2400" b="1">
                <a:solidFill>
                  <a:srgbClr val="000099"/>
                </a:solidFill>
                <a:latin typeface="Arial" panose="020B0604020202020204" pitchFamily="34" charset="0"/>
                <a:ea typeface="新宋体" panose="02010609030101010101" charset="-122"/>
              </a:rPr>
              <a:t>数据库概览</a:t>
            </a:r>
          </a:p>
          <a:p>
            <a:pPr lvl="1"/>
            <a:r>
              <a:rPr lang="zh-CN" altLang="en-US" sz="2400" b="1">
                <a:latin typeface="Arial" panose="020B0604020202020204" pitchFamily="34" charset="0"/>
                <a:ea typeface="新宋体" panose="02010609030101010101" charset="-122"/>
              </a:rPr>
              <a:t>学科简介</a:t>
            </a:r>
          </a:p>
          <a:p>
            <a:pPr lvl="1"/>
            <a:r>
              <a:rPr lang="zh-CN" altLang="en-US" sz="2400" b="1">
                <a:latin typeface="Arial" panose="020B0604020202020204" pitchFamily="34" charset="0"/>
                <a:ea typeface="新宋体" panose="02010609030101010101" charset="-122"/>
              </a:rPr>
              <a:t>数据库发展史</a:t>
            </a:r>
          </a:p>
          <a:p>
            <a:pPr lvl="0" algn="l"/>
            <a:r>
              <a:rPr lang="zh-CN" altLang="en-US" sz="2400" b="1">
                <a:solidFill>
                  <a:srgbClr val="000099"/>
                </a:solidFill>
                <a:latin typeface="Arial" panose="020B0604020202020204" pitchFamily="34" charset="0"/>
                <a:ea typeface="新宋体" panose="02010609030101010101" charset="-122"/>
              </a:rPr>
              <a:t>数据库引擎</a:t>
            </a:r>
          </a:p>
          <a:p>
            <a:pPr lvl="1"/>
            <a:r>
              <a:rPr lang="zh-CN" altLang="en-US" sz="2400" b="1">
                <a:latin typeface="Arial" panose="020B0604020202020204" pitchFamily="34" charset="0"/>
                <a:ea typeface="新宋体" panose="02010609030101010101" charset="-122"/>
              </a:rPr>
              <a:t>国外</a:t>
            </a:r>
          </a:p>
          <a:p>
            <a:pPr lvl="1"/>
            <a:r>
              <a:rPr lang="zh-CN" altLang="en-US" sz="2400" b="1">
                <a:latin typeface="Arial" panose="020B0604020202020204" pitchFamily="34" charset="0"/>
                <a:ea typeface="新宋体" panose="02010609030101010101" charset="-122"/>
              </a:rPr>
              <a:t>国内</a:t>
            </a:r>
          </a:p>
          <a:p>
            <a:pPr lvl="0" algn="l"/>
            <a:r>
              <a:rPr lang="zh-CN" altLang="en-US" sz="2400" b="1">
                <a:solidFill>
                  <a:srgbClr val="000099"/>
                </a:solidFill>
                <a:latin typeface="Arial" panose="020B0604020202020204" pitchFamily="34" charset="0"/>
                <a:ea typeface="新宋体" panose="02010609030101010101" charset="-122"/>
              </a:rPr>
              <a:t>数据库生态</a:t>
            </a:r>
          </a:p>
          <a:p>
            <a:pPr lvl="0" algn="l"/>
            <a:r>
              <a:rPr lang="zh-CN" altLang="en-US" sz="2400" b="1">
                <a:solidFill>
                  <a:srgbClr val="000099"/>
                </a:solidFill>
                <a:latin typeface="Arial" panose="020B0604020202020204" pitchFamily="34" charset="0"/>
                <a:ea typeface="新宋体" panose="02010609030101010101" charset="-122"/>
              </a:rPr>
              <a:t>数据库新变化</a:t>
            </a:r>
          </a:p>
          <a:p>
            <a:pPr lvl="0" algn="l"/>
            <a:r>
              <a:rPr lang="zh-CN" altLang="en-US" sz="2400" b="1">
                <a:solidFill>
                  <a:srgbClr val="000099"/>
                </a:solidFill>
                <a:latin typeface="Arial" panose="020B0604020202020204" pitchFamily="34" charset="0"/>
                <a:ea typeface="新宋体" panose="02010609030101010101" charset="-122"/>
              </a:rPr>
              <a:t>数据库学术圈</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a:xfrm>
            <a:off x="768350" y="0"/>
            <a:ext cx="8077200" cy="852488"/>
          </a:xfrm>
        </p:spPr>
        <p:txBody>
          <a:bodyPr vert="horz" wrap="square" lIns="91440" tIns="45720" rIns="91440" bIns="4572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dirty="0">
                <a:ln>
                  <a:noFill/>
                </a:ln>
                <a:solidFill>
                  <a:schemeClr val="tx2"/>
                </a:solidFill>
                <a:effectLst>
                  <a:outerShdw blurRad="38100" dist="38100" dir="2700000" algn="tl">
                    <a:srgbClr val="DDDDDD"/>
                  </a:outerShdw>
                </a:effectLst>
                <a:uLnTx/>
                <a:uFillTx/>
                <a:latin typeface="黑体" panose="02010609060101010101" pitchFamily="49" charset="-122"/>
                <a:ea typeface="黑体" panose="02010609060101010101" pitchFamily="49" charset="-122"/>
                <a:cs typeface="MS PGothic" panose="020B0600070205080204" pitchFamily="34" charset="-128"/>
              </a:rPr>
              <a:t>课程简介</a:t>
            </a:r>
          </a:p>
        </p:txBody>
      </p:sp>
      <p:sp>
        <p:nvSpPr>
          <p:cNvPr id="6146" name="Rectangle 3"/>
          <p:cNvSpPr>
            <a:spLocks noGrp="1"/>
          </p:cNvSpPr>
          <p:nvPr>
            <p:ph idx="1"/>
          </p:nvPr>
        </p:nvSpPr>
        <p:spPr>
          <a:xfrm>
            <a:off x="0" y="955040"/>
            <a:ext cx="8977630" cy="5731510"/>
          </a:xfrm>
        </p:spPr>
        <p:txBody>
          <a:bodyPr vert="horz" wrap="square" lIns="91440" tIns="45720" rIns="91440" bIns="45720" anchor="t"/>
          <a:lstStyle/>
          <a:p>
            <a:r>
              <a:rPr lang="zh-CN" altLang="en-US" sz="2400" b="1" dirty="0">
                <a:solidFill>
                  <a:srgbClr val="000099"/>
                </a:solidFill>
                <a:ea typeface="幼圆" panose="02010509060101010101" pitchFamily="49" charset="-122"/>
              </a:rPr>
              <a:t>课程目标</a:t>
            </a:r>
          </a:p>
          <a:p>
            <a:pPr lvl="1"/>
            <a:r>
              <a:rPr lang="zh-CN" altLang="en-US" sz="2400" b="1" dirty="0">
                <a:ea typeface="幼圆" panose="02010509060101010101" pitchFamily="49" charset="-122"/>
              </a:rPr>
              <a:t>数据库引擎的工作原理 </a:t>
            </a:r>
            <a:endParaRPr lang="en-US" altLang="zh-CN" sz="2400" b="1" dirty="0">
              <a:ea typeface="幼圆" panose="02010509060101010101" pitchFamily="49" charset="-122"/>
            </a:endParaRPr>
          </a:p>
          <a:p>
            <a:pPr lvl="1"/>
            <a:r>
              <a:rPr lang="zh-CN" altLang="en-US" sz="2400" b="1" dirty="0">
                <a:ea typeface="幼圆" panose="02010509060101010101" pitchFamily="49" charset="-122"/>
              </a:rPr>
              <a:t>数据库管理系统软件的设计与应用</a:t>
            </a:r>
          </a:p>
          <a:p>
            <a:r>
              <a:rPr lang="zh-CN" altLang="en-US" sz="2400" b="1" dirty="0">
                <a:solidFill>
                  <a:srgbClr val="000099"/>
                </a:solidFill>
                <a:ea typeface="幼圆" panose="02010509060101010101" pitchFamily="49" charset="-122"/>
              </a:rPr>
              <a:t>先行课程</a:t>
            </a:r>
          </a:p>
          <a:p>
            <a:pPr lvl="1"/>
            <a:r>
              <a:rPr lang="zh-CN" altLang="en-US" sz="2400" b="1" dirty="0">
                <a:ea typeface="幼圆" panose="02010509060101010101" pitchFamily="49" charset="-122"/>
              </a:rPr>
              <a:t>离散数学、数据结构、操作系统 </a:t>
            </a:r>
            <a:endParaRPr lang="en-US" altLang="zh-CN" sz="2400" b="1" dirty="0">
              <a:ea typeface="幼圆" panose="02010509060101010101" pitchFamily="49" charset="-122"/>
            </a:endParaRPr>
          </a:p>
          <a:p>
            <a:r>
              <a:rPr lang="zh-CN" altLang="en-US" sz="2400" b="1" dirty="0">
                <a:solidFill>
                  <a:srgbClr val="000099"/>
                </a:solidFill>
                <a:ea typeface="幼圆" panose="02010509060101010101" pitchFamily="49" charset="-122"/>
              </a:rPr>
              <a:t>进阶课程</a:t>
            </a:r>
          </a:p>
          <a:p>
            <a:pPr lvl="1"/>
            <a:r>
              <a:rPr lang="zh-CN" altLang="en-US" sz="2400" b="1" dirty="0">
                <a:ea typeface="幼圆" panose="02010509060101010101" pitchFamily="49" charset="-122"/>
                <a:cs typeface="+mn-ea"/>
              </a:rPr>
              <a:t>数据库应用程序开发、企业级数据库性能调优（选修）</a:t>
            </a:r>
          </a:p>
          <a:p>
            <a:r>
              <a:rPr lang="zh-CN" altLang="en-US" sz="2400" b="1" dirty="0">
                <a:solidFill>
                  <a:srgbClr val="000099"/>
                </a:solidFill>
                <a:ea typeface="幼圆" panose="02010509060101010101" pitchFamily="49" charset="-122"/>
              </a:rPr>
              <a:t>形式</a:t>
            </a:r>
            <a:r>
              <a:rPr lang="zh-CN" altLang="en-US" sz="2400" b="1" dirty="0">
                <a:ea typeface="幼圆" panose="02010509060101010101" pitchFamily="49" charset="-122"/>
              </a:rPr>
              <a:t>：</a:t>
            </a:r>
          </a:p>
          <a:p>
            <a:pPr lvl="1"/>
            <a:r>
              <a:rPr lang="zh-CN" altLang="en-US" sz="2400" b="1" dirty="0">
                <a:ea typeface="幼圆" panose="02010509060101010101" pitchFamily="49" charset="-122"/>
                <a:cs typeface="+mn-ea"/>
              </a:rPr>
              <a:t>课堂教学（</a:t>
            </a:r>
            <a:r>
              <a:rPr lang="en-US" altLang="zh-CN" sz="2400" b="1" dirty="0">
                <a:ea typeface="幼圆" panose="02010509060101010101" pitchFamily="49" charset="-122"/>
                <a:cs typeface="+mn-ea"/>
              </a:rPr>
              <a:t>40</a:t>
            </a:r>
            <a:r>
              <a:rPr lang="zh-CN" altLang="en-US" sz="2400" b="1" dirty="0">
                <a:ea typeface="幼圆" panose="02010509060101010101" pitchFamily="49" charset="-122"/>
                <a:cs typeface="+mn-ea"/>
              </a:rPr>
              <a:t>学时）+实验（</a:t>
            </a:r>
            <a:r>
              <a:rPr lang="en-US" altLang="zh-CN" sz="2400" b="1" dirty="0">
                <a:ea typeface="幼圆" panose="02010509060101010101" pitchFamily="49" charset="-122"/>
                <a:cs typeface="+mn-ea"/>
              </a:rPr>
              <a:t>12</a:t>
            </a:r>
            <a:r>
              <a:rPr lang="zh-CN" altLang="en-US" sz="2400" b="1" dirty="0">
                <a:ea typeface="幼圆" panose="02010509060101010101" pitchFamily="49" charset="-122"/>
                <a:cs typeface="+mn-ea"/>
              </a:rPr>
              <a:t>学时）</a:t>
            </a:r>
            <a:r>
              <a:rPr lang="en-US" altLang="zh-CN" sz="2400" b="1" dirty="0">
                <a:ea typeface="幼圆" panose="02010509060101010101" pitchFamily="49" charset="-122"/>
                <a:cs typeface="+mn-ea"/>
              </a:rPr>
              <a:t>+</a:t>
            </a:r>
            <a:r>
              <a:rPr lang="zh-CN" altLang="en-US" sz="2400" b="1" dirty="0">
                <a:ea typeface="幼圆" panose="02010509060101010101" pitchFamily="49" charset="-122"/>
                <a:cs typeface="+mn-ea"/>
              </a:rPr>
              <a:t>线上讨论</a:t>
            </a:r>
            <a:endParaRPr lang="en-US" altLang="zh-CN" sz="2400" b="1" dirty="0">
              <a:ea typeface="幼圆" panose="02010509060101010101" pitchFamily="49" charset="-122"/>
              <a:cs typeface="+mn-ea"/>
            </a:endParaRPr>
          </a:p>
          <a:p>
            <a:pPr marL="400050"/>
            <a:r>
              <a:rPr lang="zh-CN" altLang="en-US" sz="2400" b="1" dirty="0">
                <a:solidFill>
                  <a:schemeClr val="tx2"/>
                </a:solidFill>
                <a:ea typeface="幼圆" panose="02010509060101010101" pitchFamily="49" charset="-122"/>
              </a:rPr>
              <a:t>成绩：平时</a:t>
            </a:r>
            <a:r>
              <a:rPr lang="en-US" altLang="zh-CN" sz="2400" b="1" dirty="0">
                <a:solidFill>
                  <a:schemeClr val="tx2"/>
                </a:solidFill>
                <a:ea typeface="幼圆" panose="02010509060101010101" pitchFamily="49" charset="-122"/>
              </a:rPr>
              <a:t>30%</a:t>
            </a:r>
            <a:r>
              <a:rPr lang="zh-CN" altLang="en-US" sz="2400" b="1" dirty="0">
                <a:solidFill>
                  <a:schemeClr val="tx2"/>
                </a:solidFill>
                <a:ea typeface="幼圆" panose="02010509060101010101" pitchFamily="49" charset="-122"/>
              </a:rPr>
              <a:t>（实验报告</a:t>
            </a:r>
            <a:r>
              <a:rPr lang="en-US" altLang="zh-CN" sz="2400" b="1" dirty="0">
                <a:solidFill>
                  <a:schemeClr val="tx2"/>
                </a:solidFill>
                <a:ea typeface="幼圆" panose="02010509060101010101" pitchFamily="49" charset="-122"/>
              </a:rPr>
              <a:t>+</a:t>
            </a:r>
            <a:r>
              <a:rPr lang="zh-CN" altLang="en-US" sz="2400" b="1" dirty="0">
                <a:solidFill>
                  <a:schemeClr val="tx2"/>
                </a:solidFill>
                <a:ea typeface="幼圆" panose="02010509060101010101" pitchFamily="49" charset="-122"/>
              </a:rPr>
              <a:t>作业</a:t>
            </a:r>
            <a:r>
              <a:rPr lang="en-US" altLang="zh-CN" sz="2400" b="1" dirty="0">
                <a:solidFill>
                  <a:schemeClr val="tx2"/>
                </a:solidFill>
                <a:ea typeface="幼圆" panose="02010509060101010101" pitchFamily="49" charset="-122"/>
              </a:rPr>
              <a:t>+</a:t>
            </a:r>
            <a:r>
              <a:rPr lang="zh-CN" altLang="en-US" sz="2400" b="1" dirty="0">
                <a:solidFill>
                  <a:schemeClr val="tx2"/>
                </a:solidFill>
                <a:ea typeface="幼圆" panose="02010509060101010101" pitchFamily="49" charset="-122"/>
              </a:rPr>
              <a:t>线上讨论）</a:t>
            </a:r>
            <a:r>
              <a:rPr lang="en-US" altLang="zh-CN" sz="2400" b="1" dirty="0">
                <a:solidFill>
                  <a:schemeClr val="tx2"/>
                </a:solidFill>
                <a:ea typeface="幼圆" panose="02010509060101010101" pitchFamily="49" charset="-122"/>
              </a:rPr>
              <a:t>+</a:t>
            </a:r>
            <a:r>
              <a:rPr lang="zh-CN" altLang="en-US" sz="2400" b="1" dirty="0">
                <a:solidFill>
                  <a:schemeClr val="tx2"/>
                </a:solidFill>
                <a:ea typeface="幼圆" panose="02010509060101010101" pitchFamily="49" charset="-122"/>
              </a:rPr>
              <a:t>期末考试</a:t>
            </a:r>
            <a:r>
              <a:rPr lang="en-US" altLang="zh-CN" sz="2400" b="1" dirty="0">
                <a:solidFill>
                  <a:schemeClr val="tx2"/>
                </a:solidFill>
                <a:ea typeface="幼圆" panose="02010509060101010101" pitchFamily="49" charset="-122"/>
              </a:rPr>
              <a:t>70%</a:t>
            </a:r>
            <a:endParaRPr lang="zh-CN" altLang="en-US" sz="2400" b="1" dirty="0">
              <a:solidFill>
                <a:schemeClr val="tx2"/>
              </a:solidFill>
              <a:ea typeface="幼圆" panose="02010509060101010101" pitchFamily="49" charset="-122"/>
            </a:endParaRPr>
          </a:p>
          <a:p>
            <a:r>
              <a:rPr lang="zh-CN" altLang="zh-CN" sz="2400" b="1" dirty="0">
                <a:solidFill>
                  <a:schemeClr val="tx2"/>
                </a:solidFill>
                <a:ea typeface="幼圆" panose="02010509060101010101" pitchFamily="49" charset="-122"/>
              </a:rPr>
              <a:t>课程</a:t>
            </a:r>
            <a:r>
              <a:rPr lang="zh-CN" altLang="en-US" sz="2400" b="1" dirty="0">
                <a:solidFill>
                  <a:schemeClr val="tx2"/>
                </a:solidFill>
                <a:ea typeface="幼圆" panose="02010509060101010101" pitchFamily="49" charset="-122"/>
              </a:rPr>
              <a:t>平台</a:t>
            </a:r>
            <a:r>
              <a:rPr lang="zh-CN" altLang="zh-CN" sz="2400" b="1" dirty="0">
                <a:solidFill>
                  <a:schemeClr val="tx2"/>
                </a:solidFill>
                <a:ea typeface="幼圆" panose="02010509060101010101" pitchFamily="49" charset="-122"/>
              </a:rPr>
              <a:t>：</a:t>
            </a:r>
            <a:r>
              <a:rPr lang="zh-CN" altLang="en-US" sz="2400" b="1" dirty="0">
                <a:ea typeface="幼圆" panose="02010509060101010101" pitchFamily="49" charset="-122"/>
                <a:cs typeface="+mn-ea"/>
              </a:rPr>
              <a:t>学习通</a:t>
            </a:r>
            <a:endParaRPr lang="zh-CN" altLang="en-US" sz="2400" b="1" dirty="0">
              <a:solidFill>
                <a:schemeClr val="tx2"/>
              </a:solidFill>
              <a:ea typeface="幼圆" panose="02010509060101010101" pitchFamily="49" charset="-122"/>
            </a:endParaRPr>
          </a:p>
        </p:txBody>
      </p:sp>
      <p:pic>
        <p:nvPicPr>
          <p:cNvPr id="2" name="图片 1">
            <a:extLst>
              <a:ext uri="{FF2B5EF4-FFF2-40B4-BE49-F238E27FC236}">
                <a16:creationId xmlns:a16="http://schemas.microsoft.com/office/drawing/2014/main" id="{EA61502B-0E2F-DA0A-4699-AAE7EB54F5CD}"/>
              </a:ext>
            </a:extLst>
          </p:cNvPr>
          <p:cNvPicPr>
            <a:picLocks noChangeAspect="1"/>
          </p:cNvPicPr>
          <p:nvPr/>
        </p:nvPicPr>
        <p:blipFill>
          <a:blip r:embed="rId2"/>
          <a:srcRect l="16284" t="30185" r="17087" b="36111"/>
          <a:stretch/>
        </p:blipFill>
        <p:spPr>
          <a:xfrm>
            <a:off x="6515099" y="317500"/>
            <a:ext cx="2108201" cy="2311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solidFill>
                  <a:srgbClr val="C00000"/>
                </a:solidFill>
                <a:latin typeface="黑体" panose="02010609060101010101" pitchFamily="49" charset="-122"/>
                <a:ea typeface="黑体" panose="02010609060101010101" pitchFamily="49" charset="-122"/>
              </a:rPr>
              <a:t>提</a:t>
            </a:r>
            <a:r>
              <a:rPr lang="en-US" altLang="zh-CN" sz="4000">
                <a:solidFill>
                  <a:srgbClr val="C00000"/>
                </a:solidFill>
                <a:latin typeface="黑体" panose="02010609060101010101" pitchFamily="49" charset="-122"/>
                <a:ea typeface="黑体" panose="02010609060101010101" pitchFamily="49" charset="-122"/>
              </a:rPr>
              <a:t>  </a:t>
            </a:r>
            <a:r>
              <a:rPr lang="zh-CN" altLang="en-US" sz="4000">
                <a:solidFill>
                  <a:srgbClr val="C00000"/>
                </a:solidFill>
                <a:latin typeface="黑体" panose="02010609060101010101" pitchFamily="49" charset="-122"/>
                <a:ea typeface="黑体" panose="02010609060101010101" pitchFamily="49" charset="-122"/>
              </a:rPr>
              <a:t>纲</a:t>
            </a:r>
          </a:p>
        </p:txBody>
      </p:sp>
      <p:sp>
        <p:nvSpPr>
          <p:cNvPr id="3" name="内容占位符 2"/>
          <p:cNvSpPr>
            <a:spLocks noGrp="1"/>
          </p:cNvSpPr>
          <p:nvPr>
            <p:ph idx="1"/>
          </p:nvPr>
        </p:nvSpPr>
        <p:spPr/>
        <p:txBody>
          <a:bodyPr/>
          <a:lstStyle/>
          <a:p>
            <a:r>
              <a:rPr lang="zh-CN" altLang="en-US" sz="2400" b="1">
                <a:solidFill>
                  <a:schemeClr val="accent5">
                    <a:lumMod val="65000"/>
                  </a:schemeClr>
                </a:solidFill>
                <a:latin typeface="Arial" panose="020B0604020202020204" pitchFamily="34" charset="0"/>
                <a:ea typeface="新宋体" panose="02010609030101010101" charset="-122"/>
              </a:rPr>
              <a:t>课程简介</a:t>
            </a:r>
          </a:p>
          <a:p>
            <a:r>
              <a:rPr lang="zh-CN" altLang="en-US" sz="2400" b="1">
                <a:solidFill>
                  <a:srgbClr val="C00000"/>
                </a:solidFill>
                <a:latin typeface="Arial" panose="020B0604020202020204" pitchFamily="34" charset="0"/>
                <a:ea typeface="新宋体" panose="02010609030101010101" charset="-122"/>
              </a:rPr>
              <a:t>数据库概览</a:t>
            </a:r>
          </a:p>
          <a:p>
            <a:pPr lvl="1"/>
            <a:r>
              <a:rPr lang="zh-CN" altLang="en-US" sz="2400" b="1">
                <a:latin typeface="Arial" panose="020B0604020202020204" pitchFamily="34" charset="0"/>
                <a:ea typeface="新宋体" panose="02010609030101010101" charset="-122"/>
              </a:rPr>
              <a:t>学科简介</a:t>
            </a:r>
          </a:p>
          <a:p>
            <a:pPr lvl="1"/>
            <a:r>
              <a:rPr lang="zh-CN" altLang="en-US" sz="2400" b="1">
                <a:latin typeface="Arial" panose="020B0604020202020204" pitchFamily="34" charset="0"/>
                <a:ea typeface="新宋体" panose="02010609030101010101" charset="-122"/>
              </a:rPr>
              <a:t>数据库发展史</a:t>
            </a:r>
          </a:p>
          <a:p>
            <a:pPr lvl="0" algn="l"/>
            <a:r>
              <a:rPr lang="zh-CN" altLang="en-US" sz="2400" b="1">
                <a:solidFill>
                  <a:srgbClr val="000099"/>
                </a:solidFill>
                <a:latin typeface="Arial" panose="020B0604020202020204" pitchFamily="34" charset="0"/>
                <a:ea typeface="新宋体" panose="02010609030101010101" charset="-122"/>
              </a:rPr>
              <a:t>数据库引擎</a:t>
            </a:r>
          </a:p>
          <a:p>
            <a:pPr lvl="1"/>
            <a:r>
              <a:rPr lang="zh-CN" altLang="en-US" sz="2400" b="1">
                <a:latin typeface="Arial" panose="020B0604020202020204" pitchFamily="34" charset="0"/>
                <a:ea typeface="新宋体" panose="02010609030101010101" charset="-122"/>
              </a:rPr>
              <a:t>国外</a:t>
            </a:r>
          </a:p>
          <a:p>
            <a:pPr lvl="1"/>
            <a:r>
              <a:rPr lang="zh-CN" altLang="en-US" sz="2400" b="1">
                <a:latin typeface="Arial" panose="020B0604020202020204" pitchFamily="34" charset="0"/>
                <a:ea typeface="新宋体" panose="02010609030101010101" charset="-122"/>
              </a:rPr>
              <a:t>国内</a:t>
            </a:r>
          </a:p>
          <a:p>
            <a:pPr lvl="0" algn="l"/>
            <a:r>
              <a:rPr lang="zh-CN" altLang="en-US" sz="2400" b="1">
                <a:solidFill>
                  <a:srgbClr val="000099"/>
                </a:solidFill>
                <a:latin typeface="Arial" panose="020B0604020202020204" pitchFamily="34" charset="0"/>
                <a:ea typeface="新宋体" panose="02010609030101010101" charset="-122"/>
              </a:rPr>
              <a:t>数据库生态</a:t>
            </a:r>
          </a:p>
          <a:p>
            <a:pPr lvl="0" algn="l"/>
            <a:r>
              <a:rPr lang="zh-CN" altLang="en-US" sz="2400" b="1">
                <a:solidFill>
                  <a:srgbClr val="000099"/>
                </a:solidFill>
                <a:latin typeface="Arial" panose="020B0604020202020204" pitchFamily="34" charset="0"/>
                <a:ea typeface="新宋体" panose="02010609030101010101" charset="-122"/>
              </a:rPr>
              <a:t>数据库新变化</a:t>
            </a:r>
          </a:p>
          <a:p>
            <a:pPr lvl="0" algn="l"/>
            <a:r>
              <a:rPr lang="zh-CN" altLang="en-US" sz="2400" b="1">
                <a:solidFill>
                  <a:srgbClr val="000099"/>
                </a:solidFill>
                <a:latin typeface="Arial" panose="020B0604020202020204" pitchFamily="34" charset="0"/>
                <a:ea typeface="新宋体" panose="02010609030101010101" charset="-122"/>
              </a:rPr>
              <a:t>数据库学术圈</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18"/>
          <p:cNvSpPr/>
          <p:nvPr/>
        </p:nvSpPr>
        <p:spPr>
          <a:xfrm>
            <a:off x="4772660" y="1557655"/>
            <a:ext cx="3688080" cy="1372235"/>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50" b="1" dirty="0">
              <a:latin typeface="OPPOSans M" panose="00020600040101010101" pitchFamily="18" charset="-122"/>
              <a:ea typeface="OPPOSans M" panose="00020600040101010101" pitchFamily="18" charset="-122"/>
              <a:sym typeface="+mn-ea"/>
            </a:endParaRPr>
          </a:p>
        </p:txBody>
      </p:sp>
      <p:sp>
        <p:nvSpPr>
          <p:cNvPr id="19" name="Shape18"/>
          <p:cNvSpPr/>
          <p:nvPr/>
        </p:nvSpPr>
        <p:spPr>
          <a:xfrm>
            <a:off x="472440" y="1557655"/>
            <a:ext cx="3774440" cy="1372235"/>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50" b="1" dirty="0">
              <a:latin typeface="OPPOSans M" panose="00020600040101010101" pitchFamily="18" charset="-122"/>
              <a:ea typeface="OPPOSans M" panose="00020600040101010101" pitchFamily="18" charset="-122"/>
              <a:sym typeface="+mn-ea"/>
            </a:endParaRPr>
          </a:p>
        </p:txBody>
      </p:sp>
      <p:sp>
        <p:nvSpPr>
          <p:cNvPr id="3" name="标题 2"/>
          <p:cNvSpPr>
            <a:spLocks noGrp="1"/>
          </p:cNvSpPr>
          <p:nvPr>
            <p:ph type="title"/>
          </p:nvPr>
        </p:nvSpPr>
        <p:spPr>
          <a:xfrm>
            <a:off x="787914" y="259083"/>
            <a:ext cx="7568173" cy="642050"/>
          </a:xfrm>
          <a:noFill/>
          <a:ln w="9525">
            <a:noFill/>
            <a:miter lim="800000"/>
          </a:ln>
        </p:spPr>
        <p:txBody>
          <a:bodyPr vert="horz" wrap="square" lIns="91440" tIns="45720" rIns="91440" bIns="45720" numCol="1" anchor="b" anchorCtr="0" compatLnSpc="1"/>
          <a:lstStyle/>
          <a:p>
            <a:r>
              <a:rPr lang="zh-CN" altLang="en-US" sz="4400" dirty="0">
                <a:solidFill>
                  <a:schemeClr val="tx2"/>
                </a:solidFill>
                <a:latin typeface="黑体" panose="02010609060101010101" pitchFamily="49" charset="-122"/>
                <a:ea typeface="黑体" panose="02010609060101010101" pitchFamily="49" charset="-122"/>
              </a:rPr>
              <a:t>数据库的核心用途</a:t>
            </a:r>
          </a:p>
        </p:txBody>
      </p:sp>
      <p:sp>
        <p:nvSpPr>
          <p:cNvPr id="4" name="内容占位符 3"/>
          <p:cNvSpPr>
            <a:spLocks noGrp="1"/>
          </p:cNvSpPr>
          <p:nvPr>
            <p:ph idx="1"/>
          </p:nvPr>
        </p:nvSpPr>
        <p:spPr>
          <a:xfrm>
            <a:off x="701040" y="1707515"/>
            <a:ext cx="3295650" cy="1099820"/>
          </a:xfrm>
        </p:spPr>
        <p:txBody>
          <a:bodyPr/>
          <a:lstStyle/>
          <a:p>
            <a:pPr>
              <a:buClr>
                <a:srgbClr val="6F1787"/>
              </a:buClr>
              <a:buFont typeface="Wingdings" panose="05000000000000000000" pitchFamily="2" charset="2"/>
              <a:buChar char="Ø"/>
            </a:pPr>
            <a:r>
              <a:rPr lang="zh-CN" altLang="en-US" sz="1800" dirty="0">
                <a:latin typeface="微软雅黑" panose="020B0503020204020204" pitchFamily="82" charset="2"/>
                <a:ea typeface="微软雅黑" panose="020B0503020204020204" pitchFamily="82" charset="2"/>
              </a:rPr>
              <a:t>数据库是数据基础设施</a:t>
            </a:r>
            <a:endParaRPr lang="en-US" altLang="zh-CN" sz="1800" dirty="0">
              <a:latin typeface="微软雅黑" panose="020B0503020204020204" pitchFamily="82" charset="2"/>
              <a:ea typeface="微软雅黑" panose="020B0503020204020204" pitchFamily="82" charset="2"/>
            </a:endParaRPr>
          </a:p>
          <a:p>
            <a:pPr>
              <a:buClr>
                <a:srgbClr val="6F1787"/>
              </a:buClr>
              <a:buFont typeface="Wingdings" panose="05000000000000000000" pitchFamily="2" charset="2"/>
              <a:buChar char="Ø"/>
            </a:pPr>
            <a:r>
              <a:rPr lang="zh-CN" altLang="en-US" sz="1800" dirty="0">
                <a:latin typeface="微软雅黑" panose="020B0503020204020204" pitchFamily="82" charset="2"/>
                <a:ea typeface="微软雅黑" panose="020B0503020204020204" pitchFamily="82" charset="2"/>
              </a:rPr>
              <a:t>数据库是核心基础软件</a:t>
            </a:r>
            <a:endParaRPr lang="en-US" altLang="zh-CN" sz="1800" dirty="0">
              <a:latin typeface="微软雅黑" panose="020B0503020204020204" pitchFamily="82" charset="2"/>
              <a:ea typeface="微软雅黑" panose="020B0503020204020204" pitchFamily="82" charset="2"/>
            </a:endParaRPr>
          </a:p>
          <a:p>
            <a:pPr>
              <a:buClr>
                <a:srgbClr val="6F1787"/>
              </a:buClr>
              <a:buFont typeface="Wingdings" panose="05000000000000000000" pitchFamily="2" charset="2"/>
              <a:buChar char="Ø"/>
            </a:pPr>
            <a:r>
              <a:rPr lang="zh-CN" altLang="en-US" sz="1800" dirty="0">
                <a:latin typeface="微软雅黑" panose="020B0503020204020204" pitchFamily="82" charset="2"/>
                <a:ea typeface="微软雅黑" panose="020B0503020204020204" pitchFamily="82" charset="2"/>
              </a:rPr>
              <a:t>数据库已赋能千行百业</a:t>
            </a:r>
          </a:p>
        </p:txBody>
      </p:sp>
      <p:sp>
        <p:nvSpPr>
          <p:cNvPr id="12" name="灯片编号占位符 11"/>
          <p:cNvSpPr>
            <a:spLocks noGrp="1"/>
          </p:cNvSpPr>
          <p:nvPr>
            <p:ph type="sldNum" sz="quarter" idx="10"/>
          </p:nvPr>
        </p:nvSpPr>
        <p:spPr/>
        <p:txBody>
          <a:bodyPr/>
          <a:lstStyle/>
          <a:p>
            <a:fld id="{87BBDC00-B9E2-4EFD-9306-2934E87247C6}" type="slidenum">
              <a:rPr lang="zh-CN" altLang="en-US" smtClean="0">
                <a:latin typeface="微软雅黑" panose="020B0503020204020204" pitchFamily="82" charset="2"/>
                <a:ea typeface="微软雅黑" panose="020B0503020204020204" pitchFamily="82" charset="2"/>
              </a:rPr>
              <a:t>5</a:t>
            </a:fld>
            <a:endParaRPr lang="zh-CN" altLang="en-US">
              <a:latin typeface="微软雅黑" panose="020B0503020204020204" pitchFamily="82" charset="2"/>
              <a:ea typeface="微软雅黑" panose="020B0503020204020204" pitchFamily="82" charset="2"/>
            </a:endParaRPr>
          </a:p>
        </p:txBody>
      </p:sp>
      <p:grpSp>
        <p:nvGrpSpPr>
          <p:cNvPr id="15" name="组合 14"/>
          <p:cNvGrpSpPr/>
          <p:nvPr/>
        </p:nvGrpSpPr>
        <p:grpSpPr>
          <a:xfrm>
            <a:off x="97790" y="3536950"/>
            <a:ext cx="8951595" cy="2023745"/>
            <a:chOff x="1247292" y="3993122"/>
            <a:chExt cx="7172088" cy="1645181"/>
          </a:xfrm>
        </p:grpSpPr>
        <p:pic>
          <p:nvPicPr>
            <p:cNvPr id="8" name="图片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8807" y="3995928"/>
              <a:ext cx="1040573" cy="1639565"/>
            </a:xfrm>
            <a:prstGeom prst="rect">
              <a:avLst/>
            </a:prstGeom>
            <a:noFill/>
            <a:ln>
              <a:noFill/>
            </a:ln>
          </p:spPr>
        </p:pic>
        <p:grpSp>
          <p:nvGrpSpPr>
            <p:cNvPr id="11" name="组合 10"/>
            <p:cNvGrpSpPr/>
            <p:nvPr/>
          </p:nvGrpSpPr>
          <p:grpSpPr>
            <a:xfrm>
              <a:off x="1247292" y="3993122"/>
              <a:ext cx="5980905" cy="1645181"/>
              <a:chOff x="1247292" y="3993122"/>
              <a:chExt cx="5980905" cy="1645181"/>
            </a:xfrm>
          </p:grpSpPr>
          <p:pic>
            <p:nvPicPr>
              <p:cNvPr id="6" name="图片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3882" y="3993122"/>
                <a:ext cx="1639311" cy="1642375"/>
              </a:xfrm>
              <a:prstGeom prst="rect">
                <a:avLst/>
              </a:prstGeom>
              <a:noFill/>
              <a:ln>
                <a:noFill/>
              </a:ln>
            </p:spPr>
          </p:pic>
          <p:pic>
            <p:nvPicPr>
              <p:cNvPr id="7" name="图片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63803" y="3995928"/>
                <a:ext cx="2264394" cy="1642375"/>
              </a:xfrm>
              <a:prstGeom prst="rect">
                <a:avLst/>
              </a:prstGeom>
              <a:noFill/>
              <a:ln>
                <a:noFill/>
              </a:ln>
            </p:spPr>
          </p:pic>
          <p:pic>
            <p:nvPicPr>
              <p:cNvPr id="2" name="图片 1"/>
              <p:cNvPicPr>
                <a:picLocks noChangeAspect="1"/>
              </p:cNvPicPr>
              <p:nvPr/>
            </p:nvPicPr>
            <p:blipFill rotWithShape="1">
              <a:blip r:embed="rId6"/>
              <a:srcRect l="6745" t="9525" r="6978" b="10689"/>
              <a:stretch>
                <a:fillRect/>
              </a:stretch>
            </p:blipFill>
            <p:spPr>
              <a:xfrm>
                <a:off x="1247292" y="3993122"/>
                <a:ext cx="1775981" cy="1642375"/>
              </a:xfrm>
              <a:prstGeom prst="rect">
                <a:avLst/>
              </a:prstGeom>
            </p:spPr>
          </p:pic>
        </p:grpSp>
      </p:grpSp>
      <p:grpSp>
        <p:nvGrpSpPr>
          <p:cNvPr id="16" name="组合 15"/>
          <p:cNvGrpSpPr/>
          <p:nvPr/>
        </p:nvGrpSpPr>
        <p:grpSpPr>
          <a:xfrm>
            <a:off x="4981575" y="1777365"/>
            <a:ext cx="3183255" cy="1005205"/>
            <a:chOff x="6016998" y="1205566"/>
            <a:chExt cx="4888065" cy="1722124"/>
          </a:xfrm>
        </p:grpSpPr>
        <p:pic>
          <p:nvPicPr>
            <p:cNvPr id="5" name="图片 4"/>
            <p:cNvPicPr>
              <a:picLocks noChangeAspect="1"/>
            </p:cNvPicPr>
            <p:nvPr/>
          </p:nvPicPr>
          <p:blipFill>
            <a:blip r:embed="rId7"/>
            <a:stretch>
              <a:fillRect/>
            </a:stretch>
          </p:blipFill>
          <p:spPr>
            <a:xfrm>
              <a:off x="9297642" y="1262917"/>
              <a:ext cx="1607421" cy="1607421"/>
            </a:xfrm>
            <a:prstGeom prst="rect">
              <a:avLst/>
            </a:prstGeom>
          </p:spPr>
        </p:pic>
        <p:pic>
          <p:nvPicPr>
            <p:cNvPr id="9" name="图片 8"/>
            <p:cNvPicPr>
              <a:picLocks noChangeAspect="1"/>
            </p:cNvPicPr>
            <p:nvPr/>
          </p:nvPicPr>
          <p:blipFill>
            <a:blip r:embed="rId8"/>
            <a:stretch>
              <a:fillRect/>
            </a:stretch>
          </p:blipFill>
          <p:spPr>
            <a:xfrm>
              <a:off x="6016998" y="1205566"/>
              <a:ext cx="1722124" cy="1722124"/>
            </a:xfrm>
            <a:prstGeom prst="rect">
              <a:avLst/>
            </a:prstGeom>
            <a:solidFill>
              <a:srgbClr val="6F1787"/>
            </a:solidFill>
          </p:spPr>
        </p:pic>
        <p:cxnSp>
          <p:nvCxnSpPr>
            <p:cNvPr id="13" name="直线箭头连接符 12"/>
            <p:cNvCxnSpPr/>
            <p:nvPr/>
          </p:nvCxnSpPr>
          <p:spPr bwMode="auto">
            <a:xfrm>
              <a:off x="7699201" y="1903737"/>
              <a:ext cx="1558520"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4" name="直线箭头连接符 13"/>
            <p:cNvCxnSpPr/>
            <p:nvPr/>
          </p:nvCxnSpPr>
          <p:spPr bwMode="auto">
            <a:xfrm flipH="1">
              <a:off x="7656900" y="2501306"/>
              <a:ext cx="1600822"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17" name="文本框 16"/>
            <p:cNvSpPr txBox="1"/>
            <p:nvPr/>
          </p:nvSpPr>
          <p:spPr>
            <a:xfrm>
              <a:off x="7779042" y="1405228"/>
              <a:ext cx="1478680" cy="472143"/>
            </a:xfrm>
            <a:prstGeom prst="rect">
              <a:avLst/>
            </a:prstGeom>
            <a:noFill/>
          </p:spPr>
          <p:txBody>
            <a:bodyPr wrap="square">
              <a:spAutoFit/>
            </a:bodyPr>
            <a:lstStyle/>
            <a:p>
              <a:r>
                <a:rPr kumimoji="1" lang="zh-CN" altLang="en-US" sz="1200" dirty="0">
                  <a:latin typeface="微软雅黑" panose="020B0503020204020204" pitchFamily="82" charset="2"/>
                  <a:ea typeface="微软雅黑" panose="020B0503020204020204" pitchFamily="82" charset="2"/>
                </a:rPr>
                <a:t>插入数据</a:t>
              </a:r>
              <a:endParaRPr lang="zh-CN" altLang="en-US" sz="1200" dirty="0">
                <a:latin typeface="微软雅黑" panose="020B0503020204020204" pitchFamily="82" charset="2"/>
                <a:ea typeface="微软雅黑" panose="020B0503020204020204" pitchFamily="82" charset="2"/>
              </a:endParaRPr>
            </a:p>
          </p:txBody>
        </p:sp>
        <p:sp>
          <p:nvSpPr>
            <p:cNvPr id="18" name="文本框 17"/>
            <p:cNvSpPr txBox="1"/>
            <p:nvPr/>
          </p:nvSpPr>
          <p:spPr>
            <a:xfrm>
              <a:off x="7779042" y="2085839"/>
              <a:ext cx="1478680" cy="472143"/>
            </a:xfrm>
            <a:prstGeom prst="rect">
              <a:avLst/>
            </a:prstGeom>
            <a:noFill/>
          </p:spPr>
          <p:txBody>
            <a:bodyPr wrap="square">
              <a:spAutoFit/>
            </a:bodyPr>
            <a:lstStyle/>
            <a:p>
              <a:r>
                <a:rPr kumimoji="1" lang="zh-CN" altLang="en-US" sz="1200" dirty="0">
                  <a:latin typeface="微软雅黑" panose="020B0503020204020204" pitchFamily="82" charset="2"/>
                  <a:ea typeface="微软雅黑" panose="020B0503020204020204" pitchFamily="82" charset="2"/>
                </a:rPr>
                <a:t>查询结果</a:t>
              </a:r>
              <a:endParaRPr lang="zh-CN" altLang="en-US" sz="1200" dirty="0">
                <a:latin typeface="微软雅黑" panose="020B0503020204020204" pitchFamily="82" charset="2"/>
                <a:ea typeface="微软雅黑" panose="020B0503020204020204" pitchFamily="82" charset="2"/>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DE7298-4C0E-BA0C-DB9C-2006F2BD2C25}"/>
              </a:ext>
            </a:extLst>
          </p:cNvPr>
          <p:cNvSpPr>
            <a:spLocks noGrp="1"/>
          </p:cNvSpPr>
          <p:nvPr>
            <p:ph type="title"/>
          </p:nvPr>
        </p:nvSpPr>
        <p:spPr>
          <a:noFill/>
          <a:ln w="9525">
            <a:noFill/>
            <a:miter lim="800000"/>
          </a:ln>
          <a:effectLst/>
        </p:spPr>
        <p:txBody>
          <a:bodyPr vert="horz" wrap="square" lIns="91440" tIns="45720" rIns="91440" bIns="45720" numCol="1" anchor="b" anchorCtr="0" compatLnSpc="1"/>
          <a:lstStyle/>
          <a:p>
            <a:r>
              <a:rPr lang="en-US" altLang="zh-CN" sz="4400" dirty="0">
                <a:solidFill>
                  <a:schemeClr val="tx2"/>
                </a:solidFill>
                <a:latin typeface="Arial" panose="020B0604020202020204" pitchFamily="34" charset="0"/>
                <a:ea typeface="黑体" panose="02010609060101010101" pitchFamily="49" charset="-122"/>
                <a:cs typeface="Arial" panose="020B0604020202020204" pitchFamily="34" charset="0"/>
              </a:rPr>
              <a:t>SQL+</a:t>
            </a:r>
            <a:r>
              <a:rPr lang="zh-CN" altLang="en-US" sz="4400" dirty="0">
                <a:solidFill>
                  <a:schemeClr val="tx2"/>
                </a:solidFill>
                <a:latin typeface="Arial" panose="020B0604020202020204" pitchFamily="34" charset="0"/>
                <a:ea typeface="黑体" panose="02010609060101010101" pitchFamily="49" charset="-122"/>
                <a:cs typeface="Arial" panose="020B0604020202020204" pitchFamily="34" charset="0"/>
              </a:rPr>
              <a:t>大模型的</a:t>
            </a:r>
            <a:r>
              <a:rPr lang="en-US" altLang="zh-CN" sz="4400" dirty="0">
                <a:solidFill>
                  <a:schemeClr val="tx2"/>
                </a:solidFill>
                <a:latin typeface="Arial" panose="020B0604020202020204" pitchFamily="34" charset="0"/>
                <a:ea typeface="黑体" panose="02010609060101010101" pitchFamily="49" charset="-122"/>
                <a:cs typeface="Arial" panose="020B0604020202020204" pitchFamily="34" charset="0"/>
              </a:rPr>
              <a:t>RAG</a:t>
            </a:r>
            <a:r>
              <a:rPr lang="zh-CN" altLang="en-US" sz="4400" dirty="0">
                <a:solidFill>
                  <a:schemeClr val="tx2"/>
                </a:solidFill>
                <a:latin typeface="Arial" panose="020B0604020202020204" pitchFamily="34" charset="0"/>
                <a:ea typeface="黑体" panose="02010609060101010101" pitchFamily="49" charset="-122"/>
                <a:cs typeface="Arial" panose="020B0604020202020204" pitchFamily="34" charset="0"/>
              </a:rPr>
              <a:t>系统</a:t>
            </a:r>
          </a:p>
        </p:txBody>
      </p:sp>
      <p:pic>
        <p:nvPicPr>
          <p:cNvPr id="7" name="内容占位符 6">
            <a:extLst>
              <a:ext uri="{FF2B5EF4-FFF2-40B4-BE49-F238E27FC236}">
                <a16:creationId xmlns:a16="http://schemas.microsoft.com/office/drawing/2014/main" id="{05ECED2E-6C84-EB58-EFB5-B7FF01E8DED4}"/>
              </a:ext>
            </a:extLst>
          </p:cNvPr>
          <p:cNvPicPr>
            <a:picLocks noGrp="1" noChangeAspect="1"/>
          </p:cNvPicPr>
          <p:nvPr>
            <p:ph idx="1"/>
          </p:nvPr>
        </p:nvPicPr>
        <p:blipFill>
          <a:blip r:embed="rId2"/>
          <a:srcRect t="33508" b="42134"/>
          <a:stretch/>
        </p:blipFill>
        <p:spPr>
          <a:xfrm>
            <a:off x="3608474" y="3429000"/>
            <a:ext cx="5436599" cy="2870200"/>
          </a:xfrm>
        </p:spPr>
      </p:pic>
      <p:pic>
        <p:nvPicPr>
          <p:cNvPr id="9" name="图片 8">
            <a:extLst>
              <a:ext uri="{FF2B5EF4-FFF2-40B4-BE49-F238E27FC236}">
                <a16:creationId xmlns:a16="http://schemas.microsoft.com/office/drawing/2014/main" id="{0D21D0AD-32DD-A4C7-E66E-29AB4E8A4B94}"/>
              </a:ext>
            </a:extLst>
          </p:cNvPr>
          <p:cNvPicPr>
            <a:picLocks noChangeAspect="1"/>
          </p:cNvPicPr>
          <p:nvPr/>
        </p:nvPicPr>
        <p:blipFill>
          <a:blip r:embed="rId3"/>
          <a:srcRect t="33519" r="9112" b="41852"/>
          <a:stretch/>
        </p:blipFill>
        <p:spPr>
          <a:xfrm>
            <a:off x="19824" y="1054100"/>
            <a:ext cx="3805538" cy="2235200"/>
          </a:xfrm>
          <a:prstGeom prst="rect">
            <a:avLst/>
          </a:prstGeom>
        </p:spPr>
      </p:pic>
    </p:spTree>
    <p:extLst>
      <p:ext uri="{BB962C8B-B14F-4D97-AF65-F5344CB8AC3E}">
        <p14:creationId xmlns:p14="http://schemas.microsoft.com/office/powerpoint/2010/main" val="3895576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hape9"/>
          <p:cNvSpPr/>
          <p:nvPr/>
        </p:nvSpPr>
        <p:spPr>
          <a:xfrm>
            <a:off x="419100" y="1059180"/>
            <a:ext cx="8420100" cy="75692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2000" b="1" dirty="0">
                <a:solidFill>
                  <a:srgbClr val="33353C"/>
                </a:solidFill>
                <a:latin typeface="Arial" panose="020B0604020202020204" pitchFamily="34" charset="0"/>
                <a:ea typeface="微软雅黑" panose="020B0503020204020204" pitchFamily="82" charset="2"/>
                <a:cs typeface="Arial" panose="020B0604020202020204" pitchFamily="34" charset="0"/>
              </a:rPr>
              <a:t>数据库是计算机的核心基础软件之一：</a:t>
            </a:r>
            <a:r>
              <a:rPr lang="zh-CN" altLang="en-US" sz="2000" b="1" dirty="0">
                <a:solidFill>
                  <a:srgbClr val="6F1787"/>
                </a:solidFill>
                <a:latin typeface="Arial" panose="020B0604020202020204" pitchFamily="34" charset="0"/>
                <a:ea typeface="微软雅黑" panose="020B0503020204020204" pitchFamily="82" charset="2"/>
                <a:cs typeface="Arial" panose="020B0604020202020204" pitchFamily="34" charset="0"/>
              </a:rPr>
              <a:t>向下发挥算力、向上支撑应用</a:t>
            </a:r>
          </a:p>
        </p:txBody>
      </p:sp>
      <p:grpSp>
        <p:nvGrpSpPr>
          <p:cNvPr id="18" name="Shape6"/>
          <p:cNvGrpSpPr/>
          <p:nvPr/>
        </p:nvGrpSpPr>
        <p:grpSpPr>
          <a:xfrm>
            <a:off x="1333435" y="2062379"/>
            <a:ext cx="6718630" cy="2700462"/>
            <a:chOff x="380794" y="2976852"/>
            <a:chExt cx="11938264" cy="3147072"/>
          </a:xfrm>
          <a:effectLst/>
        </p:grpSpPr>
        <p:sp>
          <p:nvSpPr>
            <p:cNvPr id="19" name="Shape6"/>
            <p:cNvSpPr/>
            <p:nvPr/>
          </p:nvSpPr>
          <p:spPr>
            <a:xfrm>
              <a:off x="380794" y="2976852"/>
              <a:ext cx="11938264" cy="3147072"/>
            </a:xfrm>
            <a:prstGeom prst="roundRect">
              <a:avLst>
                <a:gd name="adj" fmla="val 12145"/>
              </a:avLst>
            </a:prstGeom>
            <a:solidFill>
              <a:schemeClr val="bg1"/>
            </a:solid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90" dirty="0">
                <a:latin typeface="OPPOSans M" panose="00020600040101010101" pitchFamily="18" charset="-122"/>
                <a:ea typeface="OPPOSans M" panose="00020600040101010101" pitchFamily="18" charset="-122"/>
              </a:endParaRPr>
            </a:p>
          </p:txBody>
        </p:sp>
        <p:sp>
          <p:nvSpPr>
            <p:cNvPr id="20" name="Shape6"/>
            <p:cNvSpPr/>
            <p:nvPr/>
          </p:nvSpPr>
          <p:spPr>
            <a:xfrm>
              <a:off x="559526" y="3073346"/>
              <a:ext cx="11597433" cy="2964755"/>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90" dirty="0">
                <a:solidFill>
                  <a:srgbClr val="6F1787"/>
                </a:solidFill>
                <a:latin typeface="OPPOSans M" panose="00020600040101010101" pitchFamily="18" charset="-122"/>
                <a:ea typeface="OPPOSans M" panose="00020600040101010101" pitchFamily="18" charset="-122"/>
              </a:endParaRPr>
            </a:p>
          </p:txBody>
        </p:sp>
      </p:grpSp>
      <p:sp>
        <p:nvSpPr>
          <p:cNvPr id="2" name="标题 1"/>
          <p:cNvSpPr>
            <a:spLocks noGrp="1"/>
          </p:cNvSpPr>
          <p:nvPr>
            <p:ph type="title"/>
          </p:nvPr>
        </p:nvSpPr>
        <p:spPr>
          <a:xfrm>
            <a:off x="892785" y="271500"/>
            <a:ext cx="7568173" cy="508853"/>
          </a:xfrm>
          <a:noFill/>
          <a:ln w="9525">
            <a:noFill/>
            <a:miter lim="800000"/>
          </a:ln>
          <a:effectLst/>
        </p:spPr>
        <p:txBody>
          <a:bodyPr vert="horz" wrap="square" lIns="91440" tIns="45720" rIns="91440" bIns="45720" numCol="1" anchor="b" anchorCtr="0" compatLnSpc="1"/>
          <a:lstStyle/>
          <a:p>
            <a:r>
              <a:rPr lang="zh-CN" altLang="en-US" sz="4000" dirty="0">
                <a:solidFill>
                  <a:schemeClr val="tx2"/>
                </a:solidFill>
                <a:latin typeface="黑体" panose="02010609060101010101" pitchFamily="49" charset="-122"/>
                <a:ea typeface="黑体" panose="02010609060101010101" pitchFamily="49" charset="-122"/>
              </a:rPr>
              <a:t>数据库在计算机系统中的位置</a:t>
            </a:r>
          </a:p>
        </p:txBody>
      </p:sp>
      <p:grpSp>
        <p:nvGrpSpPr>
          <p:cNvPr id="16" name="组合 15"/>
          <p:cNvGrpSpPr/>
          <p:nvPr/>
        </p:nvGrpSpPr>
        <p:grpSpPr>
          <a:xfrm>
            <a:off x="1906021" y="2348529"/>
            <a:ext cx="5646994" cy="2195222"/>
            <a:chOff x="2751628" y="3415260"/>
            <a:chExt cx="5864165" cy="2621977"/>
          </a:xfrm>
        </p:grpSpPr>
        <p:sp>
          <p:nvSpPr>
            <p:cNvPr id="7" name="矩形 6"/>
            <p:cNvSpPr/>
            <p:nvPr/>
          </p:nvSpPr>
          <p:spPr bwMode="auto">
            <a:xfrm rot="5400000">
              <a:off x="1680008" y="4559742"/>
              <a:ext cx="2533616" cy="390377"/>
            </a:xfrm>
            <a:prstGeom prst="rect">
              <a:avLst/>
            </a:prstGeom>
            <a:solidFill>
              <a:schemeClr val="accent1"/>
            </a:solidFill>
            <a:ln w="38100" cap="flat" cmpd="sng" algn="ctr">
              <a:noFill/>
              <a:prstDash val="solid"/>
              <a:round/>
              <a:headEnd type="none" w="med" len="med"/>
              <a:tailEnd type="none" w="med" len="med"/>
            </a:ln>
            <a:effectLst/>
          </p:spPr>
          <p:txBody>
            <a:bodyPr vert="horz" wrap="square" lIns="68580" tIns="34290" rIns="68580" bIns="34290" numCol="1" rtlCol="0" anchor="t" anchorCtr="0" compatLnSpc="1">
              <a:spAutoFit/>
            </a:bodyPr>
            <a:lstStyle/>
            <a:p>
              <a:pPr algn="ctr" defTabSz="685800" eaLnBrk="1" hangingPunct="1">
                <a:spcBef>
                  <a:spcPct val="50000"/>
                </a:spcBef>
              </a:pPr>
              <a:r>
                <a:rPr kumimoji="1" lang="zh-CN" altLang="en-US" sz="2000" dirty="0">
                  <a:latin typeface="微软雅黑" panose="020B0503020204020204" pitchFamily="82" charset="2"/>
                  <a:ea typeface="微软雅黑" panose="020B0503020204020204" pitchFamily="82" charset="2"/>
                </a:rPr>
                <a:t>理论 </a:t>
              </a:r>
              <a:r>
                <a:rPr kumimoji="1" lang="en-US" altLang="zh-CN" sz="2000" dirty="0">
                  <a:latin typeface="微软雅黑" panose="020B0503020204020204" pitchFamily="82" charset="2"/>
                  <a:ea typeface="微软雅黑" panose="020B0503020204020204" pitchFamily="82" charset="2"/>
                </a:rPr>
                <a:t>Theory</a:t>
              </a:r>
              <a:endParaRPr kumimoji="1" lang="zh-CN" altLang="en-US" sz="2000" dirty="0">
                <a:latin typeface="微软雅黑" panose="020B0503020204020204" pitchFamily="82" charset="2"/>
                <a:ea typeface="微软雅黑" panose="020B0503020204020204" pitchFamily="82" charset="2"/>
              </a:endParaRPr>
            </a:p>
          </p:txBody>
        </p:sp>
        <p:sp>
          <p:nvSpPr>
            <p:cNvPr id="8" name="矩形 7"/>
            <p:cNvSpPr/>
            <p:nvPr/>
          </p:nvSpPr>
          <p:spPr bwMode="auto">
            <a:xfrm rot="5400000">
              <a:off x="6647938" y="4559745"/>
              <a:ext cx="2533617" cy="390377"/>
            </a:xfrm>
            <a:prstGeom prst="rect">
              <a:avLst/>
            </a:prstGeom>
            <a:solidFill>
              <a:schemeClr val="accent1"/>
            </a:solidFill>
            <a:ln w="38100" cap="flat" cmpd="sng" algn="ctr">
              <a:noFill/>
              <a:prstDash val="solid"/>
              <a:round/>
              <a:headEnd type="none" w="med" len="med"/>
              <a:tailEnd type="none" w="med" len="med"/>
            </a:ln>
            <a:effectLst/>
          </p:spPr>
          <p:txBody>
            <a:bodyPr vert="horz" wrap="square" lIns="68580" tIns="34290" rIns="68580" bIns="34290" numCol="1" rtlCol="0" anchor="t" anchorCtr="0" compatLnSpc="1">
              <a:spAutoFit/>
            </a:bodyPr>
            <a:lstStyle/>
            <a:p>
              <a:pPr algn="ctr" defTabSz="685800" eaLnBrk="1" hangingPunct="1">
                <a:spcBef>
                  <a:spcPct val="50000"/>
                </a:spcBef>
              </a:pPr>
              <a:r>
                <a:rPr kumimoji="1" lang="zh-CN" altLang="en-US" sz="2000" dirty="0">
                  <a:latin typeface="微软雅黑" panose="020B0503020204020204" pitchFamily="82" charset="2"/>
                  <a:ea typeface="微软雅黑" panose="020B0503020204020204" pitchFamily="82" charset="2"/>
                </a:rPr>
                <a:t>网络 </a:t>
              </a:r>
              <a:r>
                <a:rPr kumimoji="1" lang="en-US" altLang="zh-CN" sz="2000" dirty="0">
                  <a:latin typeface="微软雅黑" panose="020B0503020204020204" pitchFamily="82" charset="2"/>
                  <a:ea typeface="微软雅黑" panose="020B0503020204020204" pitchFamily="82" charset="2"/>
                </a:rPr>
                <a:t>Network</a:t>
              </a:r>
              <a:endParaRPr kumimoji="1" lang="zh-CN" altLang="en-US" sz="2000" dirty="0">
                <a:latin typeface="微软雅黑" panose="020B0503020204020204" pitchFamily="82" charset="2"/>
                <a:ea typeface="微软雅黑" panose="020B0503020204020204" pitchFamily="82" charset="2"/>
              </a:endParaRPr>
            </a:p>
          </p:txBody>
        </p:sp>
        <p:sp>
          <p:nvSpPr>
            <p:cNvPr id="9" name="矩形 8"/>
            <p:cNvSpPr/>
            <p:nvPr/>
          </p:nvSpPr>
          <p:spPr bwMode="auto">
            <a:xfrm rot="5400000">
              <a:off x="7153796" y="4559746"/>
              <a:ext cx="2533616" cy="390377"/>
            </a:xfrm>
            <a:prstGeom prst="rect">
              <a:avLst/>
            </a:prstGeom>
            <a:solidFill>
              <a:schemeClr val="accent1"/>
            </a:solidFill>
            <a:ln w="38100" cap="flat" cmpd="sng" algn="ctr">
              <a:noFill/>
              <a:prstDash val="solid"/>
              <a:round/>
              <a:headEnd type="none" w="med" len="med"/>
              <a:tailEnd type="none" w="med" len="med"/>
            </a:ln>
            <a:effectLst/>
          </p:spPr>
          <p:txBody>
            <a:bodyPr vert="horz" wrap="square" lIns="68580" tIns="34290" rIns="68580" bIns="34290" numCol="1" rtlCol="0" anchor="t" anchorCtr="0" compatLnSpc="1">
              <a:spAutoFit/>
            </a:bodyPr>
            <a:lstStyle/>
            <a:p>
              <a:pPr algn="ctr" defTabSz="685800" eaLnBrk="1" hangingPunct="1">
                <a:spcBef>
                  <a:spcPct val="50000"/>
                </a:spcBef>
              </a:pPr>
              <a:r>
                <a:rPr kumimoji="1" lang="zh-CN" altLang="en-US" sz="2000" dirty="0">
                  <a:latin typeface="微软雅黑" panose="020B0503020204020204" pitchFamily="82" charset="2"/>
                  <a:ea typeface="微软雅黑" panose="020B0503020204020204" pitchFamily="82" charset="2"/>
                </a:rPr>
                <a:t>安全 </a:t>
              </a:r>
              <a:r>
                <a:rPr kumimoji="1" lang="en-US" altLang="zh-CN" sz="2000" dirty="0">
                  <a:latin typeface="微软雅黑" panose="020B0503020204020204" pitchFamily="82" charset="2"/>
                  <a:ea typeface="微软雅黑" panose="020B0503020204020204" pitchFamily="82" charset="2"/>
                </a:rPr>
                <a:t>Security</a:t>
              </a:r>
              <a:endParaRPr kumimoji="1" lang="zh-CN" altLang="en-US" sz="2000" dirty="0">
                <a:latin typeface="微软雅黑" panose="020B0503020204020204" pitchFamily="82" charset="2"/>
                <a:ea typeface="微软雅黑" panose="020B0503020204020204" pitchFamily="82" charset="2"/>
              </a:endParaRPr>
            </a:p>
          </p:txBody>
        </p:sp>
        <p:sp>
          <p:nvSpPr>
            <p:cNvPr id="10" name="矩形 9"/>
            <p:cNvSpPr/>
            <p:nvPr/>
          </p:nvSpPr>
          <p:spPr bwMode="auto">
            <a:xfrm>
              <a:off x="3293223" y="3415260"/>
              <a:ext cx="4275117" cy="448999"/>
            </a:xfrm>
            <a:prstGeom prst="rect">
              <a:avLst/>
            </a:prstGeom>
            <a:solidFill>
              <a:schemeClr val="accent1"/>
            </a:solidFill>
            <a:ln w="38100" cap="flat" cmpd="sng" algn="ctr">
              <a:noFill/>
              <a:prstDash val="solid"/>
              <a:round/>
              <a:headEnd type="none" w="med" len="med"/>
              <a:tailEnd type="none" w="med" len="med"/>
            </a:ln>
            <a:effectLst/>
          </p:spPr>
          <p:txBody>
            <a:bodyPr vert="horz" wrap="square" lIns="68580" tIns="34290" rIns="68580" bIns="34290" numCol="1" rtlCol="0" anchor="t" anchorCtr="0" compatLnSpc="1">
              <a:spAutoFit/>
            </a:bodyPr>
            <a:lstStyle/>
            <a:p>
              <a:pPr algn="ctr" defTabSz="685800" eaLnBrk="1" hangingPunct="1">
                <a:spcBef>
                  <a:spcPct val="50000"/>
                </a:spcBef>
              </a:pPr>
              <a:r>
                <a:rPr kumimoji="1" lang="zh-CN" altLang="en-US" sz="2000" dirty="0">
                  <a:latin typeface="微软雅黑" panose="020B0503020204020204" pitchFamily="82" charset="2"/>
                  <a:ea typeface="微软雅黑" panose="020B0503020204020204" pitchFamily="82" charset="2"/>
                </a:rPr>
                <a:t>应用 </a:t>
              </a:r>
              <a:r>
                <a:rPr kumimoji="1" lang="en-US" altLang="zh-CN" sz="2000" dirty="0">
                  <a:latin typeface="微软雅黑" panose="020B0503020204020204" pitchFamily="82" charset="2"/>
                  <a:ea typeface="微软雅黑" panose="020B0503020204020204" pitchFamily="82" charset="2"/>
                </a:rPr>
                <a:t>Application</a:t>
              </a:r>
              <a:endParaRPr kumimoji="1" lang="zh-CN" altLang="en-US" sz="2000" dirty="0">
                <a:latin typeface="微软雅黑" panose="020B0503020204020204" pitchFamily="82" charset="2"/>
                <a:ea typeface="微软雅黑" panose="020B0503020204020204" pitchFamily="82" charset="2"/>
              </a:endParaRPr>
            </a:p>
          </p:txBody>
        </p:sp>
        <p:sp>
          <p:nvSpPr>
            <p:cNvPr id="12" name="矩形 11"/>
            <p:cNvSpPr/>
            <p:nvPr/>
          </p:nvSpPr>
          <p:spPr bwMode="auto">
            <a:xfrm>
              <a:off x="3293223" y="3958504"/>
              <a:ext cx="4275117" cy="448999"/>
            </a:xfrm>
            <a:prstGeom prst="rect">
              <a:avLst/>
            </a:prstGeom>
            <a:solidFill>
              <a:srgbClr val="0070C0"/>
            </a:solidFill>
            <a:ln w="6350" cap="flat" cmpd="sng" algn="ctr">
              <a:solidFill>
                <a:schemeClr val="bg1"/>
              </a:solidFill>
              <a:prstDash val="solid"/>
              <a:round/>
              <a:headEnd type="none" w="med" len="med"/>
              <a:tailEnd type="none" w="med" len="med"/>
            </a:ln>
            <a:effectLst/>
          </p:spPr>
          <p:txBody>
            <a:bodyPr vert="horz" wrap="square" lIns="68580" tIns="34290" rIns="68580" bIns="34290" numCol="1" rtlCol="0" anchor="t" anchorCtr="0" compatLnSpc="1">
              <a:spAutoFit/>
            </a:bodyPr>
            <a:lstStyle/>
            <a:p>
              <a:pPr algn="ctr" defTabSz="685800" eaLnBrk="1" hangingPunct="1">
                <a:spcBef>
                  <a:spcPct val="50000"/>
                </a:spcBef>
              </a:pPr>
              <a:r>
                <a:rPr kumimoji="1" lang="zh-CN" altLang="en-US" sz="2000" b="1" dirty="0">
                  <a:solidFill>
                    <a:schemeClr val="bg1"/>
                  </a:solidFill>
                  <a:latin typeface="微软雅黑" panose="020B0503020204020204" pitchFamily="82" charset="2"/>
                  <a:ea typeface="微软雅黑" panose="020B0503020204020204" pitchFamily="82" charset="2"/>
                </a:rPr>
                <a:t>数据库 </a:t>
              </a:r>
              <a:r>
                <a:rPr kumimoji="1" lang="en-US" altLang="zh-CN" sz="2000" b="1" dirty="0">
                  <a:solidFill>
                    <a:schemeClr val="bg1"/>
                  </a:solidFill>
                  <a:latin typeface="微软雅黑" panose="020B0503020204020204" pitchFamily="82" charset="2"/>
                  <a:ea typeface="微软雅黑" panose="020B0503020204020204" pitchFamily="82" charset="2"/>
                </a:rPr>
                <a:t>Database</a:t>
              </a:r>
              <a:endParaRPr kumimoji="1" lang="zh-CN" altLang="en-US" sz="2000" b="1" dirty="0">
                <a:solidFill>
                  <a:schemeClr val="bg1"/>
                </a:solidFill>
                <a:latin typeface="微软雅黑" panose="020B0503020204020204" pitchFamily="82" charset="2"/>
                <a:ea typeface="微软雅黑" panose="020B0503020204020204" pitchFamily="82" charset="2"/>
              </a:endParaRPr>
            </a:p>
          </p:txBody>
        </p:sp>
        <p:sp>
          <p:nvSpPr>
            <p:cNvPr id="13" name="矩形 12"/>
            <p:cNvSpPr/>
            <p:nvPr/>
          </p:nvSpPr>
          <p:spPr bwMode="auto">
            <a:xfrm>
              <a:off x="3293223" y="4501747"/>
              <a:ext cx="4275117" cy="448999"/>
            </a:xfrm>
            <a:prstGeom prst="rect">
              <a:avLst/>
            </a:prstGeom>
            <a:solidFill>
              <a:schemeClr val="accent1"/>
            </a:solidFill>
            <a:ln w="38100" cap="flat" cmpd="sng" algn="ctr">
              <a:noFill/>
              <a:prstDash val="solid"/>
              <a:round/>
              <a:headEnd type="none" w="med" len="med"/>
              <a:tailEnd type="none" w="med" len="med"/>
            </a:ln>
            <a:effectLst/>
          </p:spPr>
          <p:txBody>
            <a:bodyPr vert="horz" wrap="square" lIns="68580" tIns="34290" rIns="68580" bIns="34290" numCol="1" rtlCol="0" anchor="t" anchorCtr="0" compatLnSpc="1">
              <a:spAutoFit/>
            </a:bodyPr>
            <a:lstStyle/>
            <a:p>
              <a:pPr algn="ctr" defTabSz="685800" eaLnBrk="1" hangingPunct="1">
                <a:spcBef>
                  <a:spcPct val="50000"/>
                </a:spcBef>
              </a:pPr>
              <a:r>
                <a:rPr kumimoji="1" lang="zh-CN" altLang="en-US" sz="2000" dirty="0">
                  <a:latin typeface="微软雅黑" panose="020B0503020204020204" pitchFamily="82" charset="2"/>
                  <a:ea typeface="微软雅黑" panose="020B0503020204020204" pitchFamily="82" charset="2"/>
                </a:rPr>
                <a:t>编译器 </a:t>
              </a:r>
              <a:r>
                <a:rPr kumimoji="1" lang="en-US" altLang="zh-CN" sz="2000" dirty="0">
                  <a:latin typeface="微软雅黑" panose="020B0503020204020204" pitchFamily="82" charset="2"/>
                  <a:ea typeface="微软雅黑" panose="020B0503020204020204" pitchFamily="82" charset="2"/>
                </a:rPr>
                <a:t>Compiler</a:t>
              </a:r>
              <a:endParaRPr kumimoji="1" lang="zh-CN" altLang="en-US" sz="2000" dirty="0">
                <a:latin typeface="微软雅黑" panose="020B0503020204020204" pitchFamily="82" charset="2"/>
                <a:ea typeface="微软雅黑" panose="020B0503020204020204" pitchFamily="82" charset="2"/>
              </a:endParaRPr>
            </a:p>
          </p:txBody>
        </p:sp>
        <p:sp>
          <p:nvSpPr>
            <p:cNvPr id="14" name="矩形 13"/>
            <p:cNvSpPr/>
            <p:nvPr/>
          </p:nvSpPr>
          <p:spPr bwMode="auto">
            <a:xfrm>
              <a:off x="3293223" y="5044994"/>
              <a:ext cx="4275117" cy="448999"/>
            </a:xfrm>
            <a:prstGeom prst="rect">
              <a:avLst/>
            </a:prstGeom>
            <a:solidFill>
              <a:schemeClr val="accent1"/>
            </a:solidFill>
            <a:ln w="38100" cap="flat" cmpd="sng" algn="ctr">
              <a:noFill/>
              <a:prstDash val="solid"/>
              <a:round/>
              <a:headEnd type="none" w="med" len="med"/>
              <a:tailEnd type="none" w="med" len="med"/>
            </a:ln>
            <a:effectLst/>
          </p:spPr>
          <p:txBody>
            <a:bodyPr vert="horz" wrap="square" lIns="68580" tIns="34290" rIns="68580" bIns="34290" numCol="1" rtlCol="0" anchor="t" anchorCtr="0" compatLnSpc="1">
              <a:spAutoFit/>
            </a:bodyPr>
            <a:lstStyle/>
            <a:p>
              <a:pPr algn="ctr" defTabSz="685800" eaLnBrk="1" hangingPunct="1">
                <a:spcBef>
                  <a:spcPct val="50000"/>
                </a:spcBef>
              </a:pPr>
              <a:r>
                <a:rPr kumimoji="1" lang="zh-CN" altLang="en-US" sz="2000" dirty="0">
                  <a:latin typeface="微软雅黑" panose="020B0503020204020204" pitchFamily="82" charset="2"/>
                  <a:ea typeface="微软雅黑" panose="020B0503020204020204" pitchFamily="82" charset="2"/>
                </a:rPr>
                <a:t>操作系统 </a:t>
              </a:r>
              <a:r>
                <a:rPr kumimoji="1" lang="en-US" altLang="zh-CN" sz="2000" dirty="0">
                  <a:latin typeface="微软雅黑" panose="020B0503020204020204" pitchFamily="82" charset="2"/>
                  <a:ea typeface="微软雅黑" panose="020B0503020204020204" pitchFamily="82" charset="2"/>
                </a:rPr>
                <a:t>OS</a:t>
              </a:r>
              <a:endParaRPr kumimoji="1" lang="zh-CN" altLang="en-US" sz="2000" dirty="0">
                <a:latin typeface="微软雅黑" panose="020B0503020204020204" pitchFamily="82" charset="2"/>
                <a:ea typeface="微软雅黑" panose="020B0503020204020204" pitchFamily="82" charset="2"/>
              </a:endParaRPr>
            </a:p>
          </p:txBody>
        </p:sp>
        <p:sp>
          <p:nvSpPr>
            <p:cNvPr id="15" name="矩形 14"/>
            <p:cNvSpPr/>
            <p:nvPr/>
          </p:nvSpPr>
          <p:spPr bwMode="auto">
            <a:xfrm>
              <a:off x="3293223" y="5588238"/>
              <a:ext cx="4275117" cy="448999"/>
            </a:xfrm>
            <a:prstGeom prst="rect">
              <a:avLst/>
            </a:prstGeom>
            <a:solidFill>
              <a:schemeClr val="accent1"/>
            </a:solidFill>
            <a:ln w="38100" cap="flat" cmpd="sng" algn="ctr">
              <a:noFill/>
              <a:prstDash val="solid"/>
              <a:round/>
              <a:headEnd type="none" w="med" len="med"/>
              <a:tailEnd type="none" w="med" len="med"/>
            </a:ln>
            <a:effectLst/>
          </p:spPr>
          <p:txBody>
            <a:bodyPr vert="horz" wrap="square" lIns="68580" tIns="34290" rIns="68580" bIns="34290" numCol="1" rtlCol="0" anchor="t" anchorCtr="0" compatLnSpc="1">
              <a:spAutoFit/>
            </a:bodyPr>
            <a:lstStyle/>
            <a:p>
              <a:pPr algn="ctr" defTabSz="685800" eaLnBrk="1" hangingPunct="1">
                <a:spcBef>
                  <a:spcPct val="50000"/>
                </a:spcBef>
              </a:pPr>
              <a:r>
                <a:rPr kumimoji="1" lang="zh-CN" altLang="en-US" sz="2000" dirty="0">
                  <a:latin typeface="微软雅黑" panose="020B0503020204020204" pitchFamily="82" charset="2"/>
                  <a:ea typeface="微软雅黑" panose="020B0503020204020204" pitchFamily="82" charset="2"/>
                </a:rPr>
                <a:t>硬件 </a:t>
              </a:r>
              <a:r>
                <a:rPr kumimoji="1" lang="en-US" altLang="zh-CN" sz="2000" dirty="0">
                  <a:latin typeface="微软雅黑" panose="020B0503020204020204" pitchFamily="82" charset="2"/>
                  <a:ea typeface="微软雅黑" panose="020B0503020204020204" pitchFamily="82" charset="2"/>
                </a:rPr>
                <a:t>Hardware</a:t>
              </a:r>
              <a:endParaRPr kumimoji="1" lang="zh-CN" altLang="en-US" sz="2000" dirty="0">
                <a:latin typeface="微软雅黑" panose="020B0503020204020204" pitchFamily="82" charset="2"/>
                <a:ea typeface="微软雅黑" panose="020B0503020204020204" pitchFamily="82" charset="2"/>
              </a:endParaRPr>
            </a:p>
          </p:txBody>
        </p:sp>
      </p:grpSp>
      <p:sp>
        <p:nvSpPr>
          <p:cNvPr id="3" name="文本框 2">
            <a:extLst>
              <a:ext uri="{FF2B5EF4-FFF2-40B4-BE49-F238E27FC236}">
                <a16:creationId xmlns:a16="http://schemas.microsoft.com/office/drawing/2014/main" id="{10826FA5-2004-A7FA-90E8-22C10EE3E1F8}"/>
              </a:ext>
            </a:extLst>
          </p:cNvPr>
          <p:cNvSpPr txBox="1"/>
          <p:nvPr/>
        </p:nvSpPr>
        <p:spPr>
          <a:xfrm>
            <a:off x="203200" y="5003800"/>
            <a:ext cx="8321258" cy="1946687"/>
          </a:xfrm>
          <a:prstGeom prst="rect">
            <a:avLst/>
          </a:prstGeom>
          <a:noFill/>
        </p:spPr>
        <p:txBody>
          <a:bodyPr wrap="square" rtlCol="0">
            <a:spAutoFit/>
          </a:bodyPr>
          <a:lstStyle/>
          <a:p>
            <a:pPr algn="l">
              <a:buFont typeface="Arial" panose="020B0604020202020204" pitchFamily="34" charset="0"/>
              <a:buChar char="•"/>
            </a:pPr>
            <a:r>
              <a:rPr lang="zh-CN" altLang="en-US" sz="1800" b="1" i="0" dirty="0">
                <a:solidFill>
                  <a:srgbClr val="C00000"/>
                </a:solidFill>
                <a:effectLst/>
                <a:latin typeface="Inter"/>
              </a:rPr>
              <a:t>数据驱动时代</a:t>
            </a:r>
            <a:r>
              <a:rPr lang="zh-CN" altLang="en-US" sz="1800" b="0" i="0" dirty="0">
                <a:solidFill>
                  <a:srgbClr val="404040"/>
                </a:solidFill>
                <a:effectLst/>
                <a:latin typeface="Inter"/>
              </a:rPr>
              <a:t>：全球数据量年增长达</a:t>
            </a:r>
            <a:r>
              <a:rPr lang="en-US" altLang="zh-CN" sz="1800" b="0" i="0" dirty="0">
                <a:solidFill>
                  <a:srgbClr val="404040"/>
                </a:solidFill>
                <a:effectLst/>
                <a:latin typeface="Inter"/>
              </a:rPr>
              <a:t>30%</a:t>
            </a:r>
            <a:r>
              <a:rPr lang="zh-CN" altLang="en-US" sz="1800" b="0" i="0" dirty="0">
                <a:solidFill>
                  <a:srgbClr val="404040"/>
                </a:solidFill>
                <a:effectLst/>
                <a:latin typeface="Inter"/>
              </a:rPr>
              <a:t>，预计</a:t>
            </a:r>
            <a:r>
              <a:rPr lang="en-US" altLang="zh-CN" sz="1800" b="0" i="0" dirty="0">
                <a:solidFill>
                  <a:srgbClr val="404040"/>
                </a:solidFill>
                <a:effectLst/>
                <a:latin typeface="Inter"/>
              </a:rPr>
              <a:t>2025</a:t>
            </a:r>
            <a:r>
              <a:rPr lang="zh-CN" altLang="en-US" sz="1800" b="0" i="0" dirty="0">
                <a:solidFill>
                  <a:srgbClr val="404040"/>
                </a:solidFill>
                <a:effectLst/>
                <a:latin typeface="Inter"/>
              </a:rPr>
              <a:t>年达</a:t>
            </a:r>
            <a:r>
              <a:rPr lang="en-US" altLang="zh-CN" sz="1800" b="0" i="0" dirty="0">
                <a:solidFill>
                  <a:srgbClr val="404040"/>
                </a:solidFill>
                <a:effectLst/>
                <a:latin typeface="Inter"/>
              </a:rPr>
              <a:t>175</a:t>
            </a:r>
            <a:r>
              <a:rPr lang="en" altLang="zh-CN" sz="1800" b="0" i="0" dirty="0">
                <a:solidFill>
                  <a:srgbClr val="404040"/>
                </a:solidFill>
                <a:effectLst/>
                <a:latin typeface="Inter"/>
              </a:rPr>
              <a:t>ZB</a:t>
            </a:r>
            <a:r>
              <a:rPr lang="zh-CN" altLang="en" sz="1800" b="0" i="0" dirty="0">
                <a:solidFill>
                  <a:srgbClr val="404040"/>
                </a:solidFill>
                <a:effectLst/>
                <a:latin typeface="Inter"/>
              </a:rPr>
              <a:t>（</a:t>
            </a:r>
            <a:r>
              <a:rPr lang="en" altLang="zh-CN" sz="1800" b="0" i="0" dirty="0">
                <a:solidFill>
                  <a:srgbClr val="404040"/>
                </a:solidFill>
                <a:effectLst/>
                <a:latin typeface="Inter"/>
              </a:rPr>
              <a:t>IDC</a:t>
            </a:r>
            <a:r>
              <a:rPr lang="zh-CN" altLang="en-US" sz="1800" b="0" i="0" dirty="0">
                <a:solidFill>
                  <a:srgbClr val="404040"/>
                </a:solidFill>
                <a:effectLst/>
                <a:latin typeface="Inter"/>
              </a:rPr>
              <a:t>数据）</a:t>
            </a:r>
            <a:endParaRPr lang="en-US" altLang="zh-CN" sz="1800" b="0" i="0" dirty="0">
              <a:solidFill>
                <a:srgbClr val="404040"/>
              </a:solidFill>
              <a:effectLst/>
              <a:latin typeface="Inter"/>
            </a:endParaRPr>
          </a:p>
          <a:p>
            <a:pPr algn="l">
              <a:spcBef>
                <a:spcPts val="300"/>
              </a:spcBef>
              <a:spcAft>
                <a:spcPts val="300"/>
              </a:spcAft>
              <a:buFont typeface="Arial" panose="020B0604020202020204" pitchFamily="34" charset="0"/>
              <a:buChar char="•"/>
            </a:pPr>
            <a:r>
              <a:rPr lang="zh-CN" altLang="en-US" sz="1800" b="1" i="0" dirty="0">
                <a:solidFill>
                  <a:srgbClr val="C00000"/>
                </a:solidFill>
                <a:effectLst/>
                <a:latin typeface="Inter"/>
              </a:rPr>
              <a:t>数据库技术的核心地位</a:t>
            </a:r>
            <a:r>
              <a:rPr lang="zh-CN" altLang="en-US" sz="1800" b="0" i="0" dirty="0">
                <a:solidFill>
                  <a:srgbClr val="404040"/>
                </a:solidFill>
                <a:effectLst/>
                <a:latin typeface="Inter"/>
              </a:rPr>
              <a:t>：</a:t>
            </a:r>
          </a:p>
          <a:p>
            <a:pPr marL="742950" lvl="1" indent="-285750" algn="l">
              <a:spcBef>
                <a:spcPts val="300"/>
              </a:spcBef>
              <a:buFont typeface="Arial" panose="020B0604020202020204" pitchFamily="34" charset="0"/>
              <a:buChar char="•"/>
            </a:pPr>
            <a:r>
              <a:rPr lang="zh-CN" altLang="en-US" sz="1800" b="0" i="0" dirty="0">
                <a:solidFill>
                  <a:srgbClr val="404040"/>
                </a:solidFill>
                <a:effectLst/>
                <a:latin typeface="Inter"/>
              </a:rPr>
              <a:t>企业信息化基石（</a:t>
            </a:r>
            <a:r>
              <a:rPr lang="en" altLang="zh-CN" sz="1800" b="0" i="0" dirty="0">
                <a:solidFill>
                  <a:srgbClr val="404040"/>
                </a:solidFill>
                <a:effectLst/>
                <a:latin typeface="Inter"/>
              </a:rPr>
              <a:t>ERP</a:t>
            </a:r>
            <a:r>
              <a:rPr lang="zh-CN" altLang="en" sz="1800" b="0" i="0" dirty="0">
                <a:solidFill>
                  <a:srgbClr val="404040"/>
                </a:solidFill>
                <a:effectLst/>
                <a:latin typeface="Inter"/>
              </a:rPr>
              <a:t>、</a:t>
            </a:r>
            <a:r>
              <a:rPr lang="en" altLang="zh-CN" sz="1800" b="0" i="0" dirty="0">
                <a:solidFill>
                  <a:srgbClr val="404040"/>
                </a:solidFill>
                <a:effectLst/>
                <a:latin typeface="Inter"/>
              </a:rPr>
              <a:t>CRM</a:t>
            </a:r>
            <a:r>
              <a:rPr lang="zh-CN" altLang="en-US" sz="1800" b="0" i="0" dirty="0">
                <a:solidFill>
                  <a:srgbClr val="404040"/>
                </a:solidFill>
                <a:effectLst/>
                <a:latin typeface="Inter"/>
              </a:rPr>
              <a:t>系统）</a:t>
            </a:r>
          </a:p>
          <a:p>
            <a:pPr marL="742950" lvl="1" indent="-285750" algn="l">
              <a:spcBef>
                <a:spcPts val="300"/>
              </a:spcBef>
              <a:buFont typeface="Arial" panose="020B0604020202020204" pitchFamily="34" charset="0"/>
              <a:buChar char="•"/>
            </a:pPr>
            <a:r>
              <a:rPr lang="zh-CN" altLang="en-US" sz="1800" b="0" i="0" dirty="0">
                <a:solidFill>
                  <a:srgbClr val="404040"/>
                </a:solidFill>
                <a:effectLst/>
                <a:latin typeface="Inter"/>
              </a:rPr>
              <a:t>新兴技术支撑（</a:t>
            </a:r>
            <a:r>
              <a:rPr lang="en" altLang="zh-CN" sz="1800" b="0" i="0" dirty="0">
                <a:solidFill>
                  <a:srgbClr val="404040"/>
                </a:solidFill>
                <a:effectLst/>
                <a:latin typeface="Inter"/>
              </a:rPr>
              <a:t>AI</a:t>
            </a:r>
            <a:r>
              <a:rPr lang="zh-CN" altLang="en-US" sz="1800" b="0" i="0" dirty="0">
                <a:solidFill>
                  <a:srgbClr val="404040"/>
                </a:solidFill>
                <a:effectLst/>
                <a:latin typeface="Inter"/>
              </a:rPr>
              <a:t>训练数据管理、物联网实时处理）</a:t>
            </a:r>
          </a:p>
          <a:p>
            <a:pPr marL="742950" lvl="1" indent="-285750" algn="l">
              <a:spcBef>
                <a:spcPts val="300"/>
              </a:spcBef>
              <a:buFont typeface="Arial" panose="020B0604020202020204" pitchFamily="34" charset="0"/>
              <a:buChar char="•"/>
            </a:pPr>
            <a:r>
              <a:rPr lang="zh-CN" altLang="en-US" sz="1800" b="0" i="0" dirty="0">
                <a:solidFill>
                  <a:srgbClr val="C00000"/>
                </a:solidFill>
                <a:effectLst/>
                <a:latin typeface="Inter"/>
              </a:rPr>
              <a:t>职业需求</a:t>
            </a:r>
            <a:r>
              <a:rPr lang="zh-CN" altLang="en-US" sz="1800" b="0" i="0" dirty="0">
                <a:solidFill>
                  <a:srgbClr val="404040"/>
                </a:solidFill>
                <a:effectLst/>
                <a:latin typeface="Inter"/>
              </a:rPr>
              <a:t>：数据工程师、数据库管理员（</a:t>
            </a:r>
            <a:r>
              <a:rPr lang="en" altLang="zh-CN" sz="1800" b="0" i="0" dirty="0">
                <a:solidFill>
                  <a:srgbClr val="404040"/>
                </a:solidFill>
                <a:effectLst/>
                <a:latin typeface="Inter"/>
              </a:rPr>
              <a:t>DBA</a:t>
            </a:r>
            <a:r>
              <a:rPr lang="zh-CN" altLang="en" sz="1800" b="0" i="0" dirty="0">
                <a:solidFill>
                  <a:srgbClr val="404040"/>
                </a:solidFill>
                <a:effectLst/>
                <a:latin typeface="Inter"/>
              </a:rPr>
              <a:t>）</a:t>
            </a:r>
            <a:r>
              <a:rPr lang="zh-CN" altLang="en-US" sz="1800" b="0" i="0" dirty="0">
                <a:solidFill>
                  <a:srgbClr val="404040"/>
                </a:solidFill>
                <a:effectLst/>
                <a:latin typeface="Inter"/>
              </a:rPr>
              <a:t>等岗位需求增长</a:t>
            </a:r>
            <a:r>
              <a:rPr lang="en-US" altLang="zh-CN" sz="1800" b="0" i="0" dirty="0">
                <a:solidFill>
                  <a:srgbClr val="404040"/>
                </a:solidFill>
                <a:effectLst/>
                <a:latin typeface="Inter"/>
              </a:rPr>
              <a:t>25%</a:t>
            </a:r>
          </a:p>
          <a:p>
            <a:endParaRPr kumimoji="1" lang="zh-CN" alt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4000" dirty="0">
                <a:solidFill>
                  <a:schemeClr val="tx2"/>
                </a:solidFill>
                <a:latin typeface="黑体" panose="02010609060101010101" pitchFamily="49" charset="-122"/>
                <a:ea typeface="黑体" panose="02010609060101010101" pitchFamily="49" charset="-122"/>
              </a:rPr>
              <a:t>数据库学科简介</a:t>
            </a:r>
          </a:p>
        </p:txBody>
      </p:sp>
      <p:sp>
        <p:nvSpPr>
          <p:cNvPr id="8195" name="Rectangle 3"/>
          <p:cNvSpPr>
            <a:spLocks noGrp="1"/>
          </p:cNvSpPr>
          <p:nvPr>
            <p:ph idx="1"/>
          </p:nvPr>
        </p:nvSpPr>
        <p:spPr>
          <a:xfrm>
            <a:off x="179705" y="953135"/>
            <a:ext cx="8665845" cy="5678170"/>
          </a:xfrm>
        </p:spPr>
        <p:txBody>
          <a:bodyPr vert="horz" wrap="square" lIns="91440" tIns="45720" rIns="91440" bIns="45720" anchor="t"/>
          <a:lstStyle/>
          <a:p>
            <a:pPr eaLnBrk="1" hangingPunct="1">
              <a:lnSpc>
                <a:spcPct val="110000"/>
              </a:lnSpc>
              <a:buSzPct val="125000"/>
            </a:pPr>
            <a:r>
              <a:rPr kumimoji="1" lang="zh-CN" altLang="en-US" sz="2400" b="1" dirty="0">
                <a:solidFill>
                  <a:srgbClr val="000099"/>
                </a:solidFill>
                <a:latin typeface="Arial" panose="020B0604020202020204" pitchFamily="34" charset="0"/>
                <a:ea typeface="宋体" panose="02010600030101010101" pitchFamily="2" charset="-122"/>
                <a:cs typeface="Arial" panose="020B0604020202020204" pitchFamily="34" charset="0"/>
              </a:rPr>
              <a:t>一门学科：内容丰富</a:t>
            </a:r>
          </a:p>
          <a:p>
            <a:pPr lvl="1" eaLnBrk="1" hangingPunct="1">
              <a:lnSpc>
                <a:spcPct val="110000"/>
              </a:lnSpc>
            </a:pPr>
            <a:r>
              <a:rPr kumimoji="1" lang="zh-CN" altLang="en-US" sz="2400" b="1" dirty="0">
                <a:latin typeface="Arial" panose="020B0604020202020204" pitchFamily="34" charset="0"/>
                <a:ea typeface="宋体" panose="02010600030101010101" pitchFamily="2" charset="-122"/>
                <a:cs typeface="Arial" panose="020B0604020202020204" pitchFamily="34" charset="0"/>
              </a:rPr>
              <a:t>以</a:t>
            </a:r>
            <a:r>
              <a:rPr kumimoji="1" lang="zh-CN" altLang="en-US" sz="2400" b="1" dirty="0">
                <a:solidFill>
                  <a:srgbClr val="000099"/>
                </a:solidFill>
                <a:latin typeface="Arial" panose="020B0604020202020204" pitchFamily="34" charset="0"/>
                <a:ea typeface="宋体" panose="02010600030101010101" pitchFamily="2" charset="-122"/>
                <a:cs typeface="Arial" panose="020B0604020202020204" pitchFamily="34" charset="0"/>
              </a:rPr>
              <a:t>数据建模</a:t>
            </a:r>
            <a:r>
              <a:rPr kumimoji="1" lang="zh-CN" altLang="en-US" sz="2400" b="1" dirty="0">
                <a:latin typeface="Arial" panose="020B0604020202020204" pitchFamily="34" charset="0"/>
                <a:ea typeface="宋体" panose="02010600030101010101" pitchFamily="2" charset="-122"/>
                <a:cs typeface="Arial" panose="020B0604020202020204" pitchFamily="34" charset="0"/>
              </a:rPr>
              <a:t>和</a:t>
            </a:r>
            <a:r>
              <a:rPr kumimoji="1" lang="zh-CN" altLang="en-US" sz="2400" b="1" dirty="0">
                <a:solidFill>
                  <a:srgbClr val="000099"/>
                </a:solidFill>
                <a:latin typeface="Arial" panose="020B0604020202020204" pitchFamily="34" charset="0"/>
                <a:ea typeface="宋体" panose="02010600030101010101" pitchFamily="2" charset="-122"/>
                <a:cs typeface="Arial" panose="020B0604020202020204" pitchFamily="34" charset="0"/>
              </a:rPr>
              <a:t>数据库管理系统（</a:t>
            </a:r>
            <a:r>
              <a:rPr kumimoji="1" lang="en-US" altLang="zh-CN" sz="2400" b="1" dirty="0">
                <a:solidFill>
                  <a:srgbClr val="000099"/>
                </a:solidFill>
                <a:latin typeface="Arial" panose="020B0604020202020204" pitchFamily="34" charset="0"/>
                <a:ea typeface="宋体" panose="02010600030101010101" pitchFamily="2" charset="-122"/>
                <a:cs typeface="Arial" panose="020B0604020202020204" pitchFamily="34" charset="0"/>
              </a:rPr>
              <a:t>DBMS</a:t>
            </a:r>
            <a:r>
              <a:rPr kumimoji="1" lang="zh-CN" altLang="en-US" sz="2400" b="1" dirty="0">
                <a:solidFill>
                  <a:srgbClr val="000099"/>
                </a:solidFill>
                <a:latin typeface="Arial" panose="020B0604020202020204" pitchFamily="34" charset="0"/>
                <a:ea typeface="宋体" panose="02010600030101010101" pitchFamily="2" charset="-122"/>
                <a:cs typeface="Arial" panose="020B0604020202020204" pitchFamily="34" charset="0"/>
              </a:rPr>
              <a:t>）</a:t>
            </a:r>
            <a:r>
              <a:rPr kumimoji="1" lang="zh-CN" altLang="en-US" sz="2400" b="1" dirty="0">
                <a:latin typeface="Arial" panose="020B0604020202020204" pitchFamily="34" charset="0"/>
                <a:ea typeface="宋体" panose="02010600030101010101" pitchFamily="2" charset="-122"/>
                <a:cs typeface="Arial" panose="020B0604020202020204" pitchFamily="34" charset="0"/>
              </a:rPr>
              <a:t>核心技术为主</a:t>
            </a:r>
          </a:p>
          <a:p>
            <a:pPr eaLnBrk="1" hangingPunct="1">
              <a:lnSpc>
                <a:spcPct val="110000"/>
              </a:lnSpc>
              <a:buSzPct val="125000"/>
            </a:pPr>
            <a:r>
              <a:rPr lang="zh-CN" altLang="en-US" sz="2400" b="1" dirty="0">
                <a:solidFill>
                  <a:srgbClr val="000099"/>
                </a:solidFill>
                <a:latin typeface="Arial" panose="020B0604020202020204" pitchFamily="34" charset="0"/>
                <a:ea typeface="宋体" panose="02010600030101010101" pitchFamily="2" charset="-122"/>
                <a:cs typeface="Arial" panose="020B0604020202020204" pitchFamily="34" charset="0"/>
              </a:rPr>
              <a:t>一个巨大的产业</a:t>
            </a:r>
          </a:p>
          <a:p>
            <a:pPr eaLnBrk="1" hangingPunct="1">
              <a:lnSpc>
                <a:spcPct val="110000"/>
              </a:lnSpc>
              <a:buSzPct val="125000"/>
            </a:pPr>
            <a:r>
              <a:rPr lang="zh-CN" altLang="en-US" sz="2400" b="1" dirty="0">
                <a:solidFill>
                  <a:srgbClr val="000099"/>
                </a:solidFill>
                <a:latin typeface="Arial" panose="020B0604020202020204" pitchFamily="34" charset="0"/>
                <a:ea typeface="宋体" panose="02010600030101010101" pitchFamily="2" charset="-122"/>
                <a:cs typeface="Arial" panose="020B0604020202020204" pitchFamily="34" charset="0"/>
              </a:rPr>
              <a:t>三代演变</a:t>
            </a:r>
          </a:p>
          <a:p>
            <a:pPr lvl="1" eaLnBrk="1" hangingPunct="1">
              <a:lnSpc>
                <a:spcPct val="110000"/>
              </a:lnSpc>
            </a:pPr>
            <a:r>
              <a:rPr kumimoji="1" lang="zh-CN" altLang="en-US" sz="2400" b="1" dirty="0">
                <a:solidFill>
                  <a:srgbClr val="C00000"/>
                </a:solidFill>
                <a:latin typeface="Arial" panose="020B0604020202020204" pitchFamily="34" charset="0"/>
                <a:ea typeface="宋体" panose="02010600030101010101" pitchFamily="2" charset="-122"/>
                <a:cs typeface="Arial" panose="020B0604020202020204" pitchFamily="34" charset="0"/>
              </a:rPr>
              <a:t>层次</a:t>
            </a:r>
            <a:r>
              <a:rPr kumimoji="1" lang="zh-CN" altLang="en-US" sz="2400" b="1" dirty="0">
                <a:latin typeface="Arial" panose="020B0604020202020204" pitchFamily="34" charset="0"/>
                <a:ea typeface="宋体" panose="02010600030101010101" pitchFamily="2" charset="-122"/>
                <a:cs typeface="Arial" panose="020B0604020202020204" pitchFamily="34" charset="0"/>
              </a:rPr>
              <a:t>、</a:t>
            </a:r>
            <a:r>
              <a:rPr kumimoji="1" lang="zh-CN" altLang="en-US" sz="2400" b="1" dirty="0">
                <a:solidFill>
                  <a:srgbClr val="C00000"/>
                </a:solidFill>
                <a:latin typeface="Arial" panose="020B0604020202020204" pitchFamily="34" charset="0"/>
                <a:ea typeface="宋体" panose="02010600030101010101" pitchFamily="2" charset="-122"/>
                <a:cs typeface="Arial" panose="020B0604020202020204" pitchFamily="34" charset="0"/>
              </a:rPr>
              <a:t>网状</a:t>
            </a:r>
            <a:r>
              <a:rPr kumimoji="1" lang="zh-CN" altLang="en-US" sz="2400" b="1" dirty="0">
                <a:latin typeface="Arial" panose="020B0604020202020204" pitchFamily="34" charset="0"/>
                <a:ea typeface="宋体" panose="02010600030101010101" pitchFamily="2" charset="-122"/>
                <a:cs typeface="Arial" panose="020B0604020202020204" pitchFamily="34" charset="0"/>
              </a:rPr>
              <a:t>、</a:t>
            </a:r>
            <a:r>
              <a:rPr kumimoji="1" lang="zh-CN" altLang="en-US" sz="2400" b="1" dirty="0">
                <a:solidFill>
                  <a:srgbClr val="C00000"/>
                </a:solidFill>
                <a:latin typeface="Arial" panose="020B0604020202020204" pitchFamily="34" charset="0"/>
                <a:ea typeface="宋体" panose="02010600030101010101" pitchFamily="2" charset="-122"/>
                <a:cs typeface="Arial" panose="020B0604020202020204" pitchFamily="34" charset="0"/>
              </a:rPr>
              <a:t>关系</a:t>
            </a:r>
          </a:p>
          <a:p>
            <a:pPr eaLnBrk="1" hangingPunct="1">
              <a:lnSpc>
                <a:spcPct val="110000"/>
              </a:lnSpc>
              <a:buSzPct val="125000"/>
            </a:pPr>
            <a:r>
              <a:rPr lang="zh-CN" altLang="en-US" sz="2400" b="1" dirty="0">
                <a:solidFill>
                  <a:srgbClr val="000099"/>
                </a:solidFill>
                <a:latin typeface="Arial" panose="020B0604020202020204" pitchFamily="34" charset="0"/>
                <a:ea typeface="宋体" panose="02010600030101010101" pitchFamily="2" charset="-122"/>
                <a:cs typeface="Arial" panose="020B0604020202020204" pitchFamily="34" charset="0"/>
              </a:rPr>
              <a:t>五位图灵奖获得者</a:t>
            </a:r>
          </a:p>
          <a:p>
            <a:pPr lvl="1" eaLnBrk="1" hangingPunct="1">
              <a:lnSpc>
                <a:spcPct val="110000"/>
              </a:lnSpc>
            </a:pPr>
            <a:r>
              <a:rPr kumimoji="1" lang="en-US" altLang="zh-CN" sz="2400" b="1" dirty="0" err="1">
                <a:latin typeface="Arial" panose="020B0604020202020204" pitchFamily="34" charset="0"/>
                <a:ea typeface="宋体" panose="02010600030101010101" pitchFamily="2" charset="-122"/>
                <a:cs typeface="Arial" panose="020B0604020202020204" pitchFamily="34" charset="0"/>
              </a:rPr>
              <a:t>C.W.Bachman</a:t>
            </a:r>
            <a:r>
              <a:rPr kumimoji="1" lang="zh-CN" altLang="en-US" sz="2400" b="1" dirty="0">
                <a:latin typeface="Arial" panose="020B0604020202020204" pitchFamily="34" charset="0"/>
                <a:ea typeface="宋体" panose="02010600030101010101" pitchFamily="2" charset="-122"/>
                <a:cs typeface="Arial" panose="020B0604020202020204" pitchFamily="34" charset="0"/>
              </a:rPr>
              <a:t>、</a:t>
            </a:r>
            <a:r>
              <a:rPr kumimoji="1" lang="en-US" altLang="zh-CN" sz="2400" b="1" dirty="0" err="1">
                <a:latin typeface="Arial" panose="020B0604020202020204" pitchFamily="34" charset="0"/>
                <a:ea typeface="宋体" panose="02010600030101010101" pitchFamily="2" charset="-122"/>
                <a:cs typeface="Arial" panose="020B0604020202020204" pitchFamily="34" charset="0"/>
              </a:rPr>
              <a:t>E.F.Codd</a:t>
            </a:r>
            <a:r>
              <a:rPr kumimoji="1" lang="zh-CN" altLang="en-US" sz="2400" b="1" dirty="0">
                <a:latin typeface="Arial" panose="020B0604020202020204" pitchFamily="34" charset="0"/>
                <a:ea typeface="宋体" panose="02010600030101010101" pitchFamily="2" charset="-122"/>
                <a:cs typeface="Arial" panose="020B0604020202020204" pitchFamily="34" charset="0"/>
              </a:rPr>
              <a:t>、</a:t>
            </a:r>
            <a:r>
              <a:rPr kumimoji="1" lang="en-US" altLang="zh-CN" sz="2400" b="1" dirty="0">
                <a:latin typeface="Arial" panose="020B0604020202020204" pitchFamily="34" charset="0"/>
                <a:ea typeface="宋体" panose="02010600030101010101" pitchFamily="2" charset="-122"/>
                <a:cs typeface="Arial" panose="020B0604020202020204" pitchFamily="34" charset="0"/>
              </a:rPr>
              <a:t>Jame Gray</a:t>
            </a:r>
            <a:r>
              <a:rPr kumimoji="1" lang="zh-CN" altLang="en-US" sz="2400" b="1" dirty="0">
                <a:latin typeface="Arial" panose="020B0604020202020204" pitchFamily="34" charset="0"/>
                <a:ea typeface="宋体" panose="02010600030101010101" pitchFamily="2" charset="-122"/>
                <a:cs typeface="Arial" panose="020B0604020202020204" pitchFamily="34" charset="0"/>
              </a:rPr>
              <a:t>、</a:t>
            </a:r>
            <a:r>
              <a:rPr kumimoji="1" lang="en-US" altLang="zh-CN" sz="2400" b="1" dirty="0">
                <a:latin typeface="Arial" panose="020B0604020202020204" pitchFamily="34" charset="0"/>
                <a:ea typeface="宋体" panose="02010600030101010101" pitchFamily="2" charset="-122"/>
                <a:cs typeface="Arial" panose="020B0604020202020204" pitchFamily="34" charset="0"/>
              </a:rPr>
              <a:t> Michael </a:t>
            </a:r>
            <a:r>
              <a:rPr kumimoji="1" lang="en-US" altLang="zh-CN" sz="2400" b="1" dirty="0" err="1">
                <a:latin typeface="Arial" panose="020B0604020202020204" pitchFamily="34" charset="0"/>
                <a:ea typeface="宋体" panose="02010600030101010101" pitchFamily="2" charset="-122"/>
                <a:cs typeface="Arial" panose="020B0604020202020204" pitchFamily="34" charset="0"/>
              </a:rPr>
              <a:t>Stonebrake</a:t>
            </a:r>
            <a:r>
              <a:rPr kumimoji="1" lang="zh-CN" altLang="en-US" sz="2400" b="1" dirty="0">
                <a:latin typeface="Arial" panose="020B0604020202020204" pitchFamily="34" charset="0"/>
                <a:ea typeface="宋体" panose="02010600030101010101" pitchFamily="2" charset="-122"/>
                <a:cs typeface="Arial" panose="020B0604020202020204" pitchFamily="34" charset="0"/>
              </a:rPr>
              <a:t>、</a:t>
            </a:r>
            <a:r>
              <a:rPr lang="en-US" altLang="zh-CN" sz="2400" dirty="0"/>
              <a:t> </a:t>
            </a:r>
            <a:r>
              <a:rPr lang="en-US" altLang="zh-CN" sz="2400" b="1" dirty="0">
                <a:latin typeface="Arial" panose="020B0604020202020204" pitchFamily="34" charset="0"/>
                <a:ea typeface="宋体" panose="02010600030101010101" pitchFamily="2" charset="-122"/>
                <a:cs typeface="Arial" panose="020B0604020202020204" pitchFamily="34" charset="0"/>
              </a:rPr>
              <a:t>Leslie </a:t>
            </a:r>
            <a:r>
              <a:rPr lang="en-US" altLang="zh-CN" sz="2400" b="1" dirty="0" err="1">
                <a:latin typeface="Arial" panose="020B0604020202020204" pitchFamily="34" charset="0"/>
                <a:ea typeface="宋体" panose="02010600030101010101" pitchFamily="2" charset="-122"/>
                <a:cs typeface="Arial" panose="020B0604020202020204" pitchFamily="34" charset="0"/>
              </a:rPr>
              <a:t>Lamport</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lvl="0" eaLnBrk="1" hangingPunct="1">
              <a:lnSpc>
                <a:spcPct val="110000"/>
              </a:lnSpc>
            </a:pPr>
            <a:r>
              <a:rPr lang="en-US" altLang="zh-CN" sz="2400">
                <a:solidFill>
                  <a:srgbClr val="000099"/>
                </a:solidFill>
                <a:latin typeface="黑体" panose="02010609060101010101" pitchFamily="49" charset="-122"/>
                <a:ea typeface="黑体" panose="02010609060101010101" pitchFamily="49" charset="-122"/>
                <a:cs typeface="黑体" panose="02010609060101010101" pitchFamily="49" charset="-122"/>
                <a:sym typeface="+mn-ea"/>
              </a:rPr>
              <a:t>60</a:t>
            </a:r>
            <a:r>
              <a:rPr lang="zh-CN" altLang="en-US" sz="2400">
                <a:solidFill>
                  <a:srgbClr val="000099"/>
                </a:solidFill>
                <a:latin typeface="黑体" panose="02010609060101010101" pitchFamily="49" charset="-122"/>
                <a:ea typeface="黑体" panose="02010609060101010101" pitchFamily="49" charset="-122"/>
                <a:cs typeface="黑体" panose="02010609060101010101" pitchFamily="49" charset="-122"/>
                <a:sym typeface="+mn-ea"/>
              </a:rPr>
              <a:t>年来</a:t>
            </a:r>
          </a:p>
          <a:p>
            <a:pPr lvl="1" eaLnBrk="1" hangingPunct="1">
              <a:lnSpc>
                <a:spcPct val="110000"/>
              </a:lnSpc>
            </a:pPr>
            <a:r>
              <a:rPr lang="zh-CN" altLang="en-US" sz="2400">
                <a:solidFill>
                  <a:srgbClr val="000099"/>
                </a:solidFill>
                <a:latin typeface="黑体" panose="02010609060101010101" pitchFamily="49" charset="-122"/>
                <a:ea typeface="黑体" panose="02010609060101010101" pitchFamily="49" charset="-122"/>
                <a:cs typeface="黑体" panose="02010609060101010101" pitchFamily="49" charset="-122"/>
                <a:sym typeface="+mn-ea"/>
              </a:rPr>
              <a:t>数据库技术顶天立地，蓬勃发展</a:t>
            </a:r>
          </a:p>
          <a:p>
            <a:pPr lvl="1" eaLnBrk="1" hangingPunct="1">
              <a:lnSpc>
                <a:spcPct val="110000"/>
              </a:lnSpc>
            </a:pPr>
            <a:r>
              <a:rPr lang="zh-CN" altLang="en-US" sz="2400">
                <a:solidFill>
                  <a:srgbClr val="000099"/>
                </a:solidFill>
                <a:latin typeface="黑体" panose="02010609060101010101" pitchFamily="49" charset="-122"/>
                <a:ea typeface="黑体" panose="02010609060101010101" pitchFamily="49" charset="-122"/>
                <a:cs typeface="黑体" panose="02010609060101010101" pitchFamily="49" charset="-122"/>
                <a:sym typeface="+mn-ea"/>
              </a:rPr>
              <a:t>数据库产业波澜壮阔，根繁叶茂！</a:t>
            </a:r>
            <a:endParaRPr kumimoji="1" lang="en-US" altLang="zh-CN" sz="2400" b="1" dirty="0">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Shape6"/>
          <p:cNvSpPr/>
          <p:nvPr/>
        </p:nvSpPr>
        <p:spPr>
          <a:xfrm>
            <a:off x="472132" y="2189272"/>
            <a:ext cx="8195618" cy="2428448"/>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90" dirty="0">
              <a:solidFill>
                <a:srgbClr val="6F1787"/>
              </a:solidFill>
              <a:latin typeface="微软雅黑" panose="020B0503020204020204" pitchFamily="82" charset="2"/>
              <a:ea typeface="微软雅黑" panose="020B0503020204020204" pitchFamily="82" charset="2"/>
            </a:endParaRPr>
          </a:p>
        </p:txBody>
      </p:sp>
      <p:sp>
        <p:nvSpPr>
          <p:cNvPr id="271" name="Shape6"/>
          <p:cNvSpPr/>
          <p:nvPr/>
        </p:nvSpPr>
        <p:spPr>
          <a:xfrm>
            <a:off x="472134" y="2229340"/>
            <a:ext cx="8195616" cy="2342660"/>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90" dirty="0">
                <a:solidFill>
                  <a:srgbClr val="6F1787"/>
                </a:solidFill>
                <a:latin typeface="Calibri" panose="020F0502020204030204" charset="0"/>
                <a:ea typeface="微软雅黑" panose="020B0503020204020204" pitchFamily="82" charset="2"/>
              </a:rPr>
              <a:t>①</a:t>
            </a:r>
          </a:p>
        </p:txBody>
      </p:sp>
      <p:sp>
        <p:nvSpPr>
          <p:cNvPr id="2"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4000" dirty="0">
                <a:solidFill>
                  <a:schemeClr val="tx2"/>
                </a:solidFill>
                <a:latin typeface="黑体" panose="02010609060101010101" pitchFamily="49" charset="-122"/>
                <a:ea typeface="黑体" panose="02010609060101010101" pitchFamily="49" charset="-122"/>
              </a:rPr>
              <a:t>数据库发展史概览</a:t>
            </a:r>
          </a:p>
        </p:txBody>
      </p:sp>
      <p:grpSp>
        <p:nvGrpSpPr>
          <p:cNvPr id="137" name="组合 136"/>
          <p:cNvGrpSpPr/>
          <p:nvPr/>
        </p:nvGrpSpPr>
        <p:grpSpPr>
          <a:xfrm>
            <a:off x="447675" y="1639221"/>
            <a:ext cx="8220076" cy="470728"/>
            <a:chOff x="1061441" y="1238407"/>
            <a:chExt cx="10827299" cy="760494"/>
          </a:xfrm>
          <a:solidFill>
            <a:srgbClr val="FFFFFF">
              <a:lumMod val="95000"/>
            </a:srgbClr>
          </a:solidFill>
        </p:grpSpPr>
        <p:sp>
          <p:nvSpPr>
            <p:cNvPr id="138" name="矩形 137"/>
            <p:cNvSpPr/>
            <p:nvPr/>
          </p:nvSpPr>
          <p:spPr>
            <a:xfrm>
              <a:off x="10275216" y="1238854"/>
              <a:ext cx="1613524" cy="759600"/>
            </a:xfrm>
            <a:prstGeom prst="rect">
              <a:avLst/>
            </a:prstGeom>
            <a:grpFill/>
            <a:ln w="28575"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1500" kern="0">
                <a:solidFill>
                  <a:srgbClr val="666666"/>
                </a:solidFill>
                <a:latin typeface="微软雅黑" panose="020B0503020204020204" pitchFamily="82" charset="2"/>
                <a:ea typeface="微软雅黑" panose="020B0503020204020204" pitchFamily="82" charset="2"/>
              </a:endParaRPr>
            </a:p>
          </p:txBody>
        </p:sp>
        <p:sp>
          <p:nvSpPr>
            <p:cNvPr id="139" name="五边形 138"/>
            <p:cNvSpPr/>
            <p:nvPr/>
          </p:nvSpPr>
          <p:spPr>
            <a:xfrm>
              <a:off x="8575336" y="1238407"/>
              <a:ext cx="2010707" cy="760494"/>
            </a:xfrm>
            <a:prstGeom prst="homePlate">
              <a:avLst>
                <a:gd name="adj" fmla="val 26448"/>
              </a:avLst>
            </a:prstGeom>
            <a:grpFill/>
            <a:ln w="28575"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1500" kern="0">
                <a:solidFill>
                  <a:srgbClr val="666666"/>
                </a:solidFill>
                <a:latin typeface="微软雅黑" panose="020B0503020204020204" pitchFamily="82" charset="2"/>
                <a:ea typeface="微软雅黑" panose="020B0503020204020204" pitchFamily="82" charset="2"/>
              </a:endParaRPr>
            </a:p>
          </p:txBody>
        </p:sp>
        <p:sp>
          <p:nvSpPr>
            <p:cNvPr id="140" name="五边形 139"/>
            <p:cNvSpPr/>
            <p:nvPr/>
          </p:nvSpPr>
          <p:spPr>
            <a:xfrm>
              <a:off x="6967790" y="1238407"/>
              <a:ext cx="2010707" cy="760494"/>
            </a:xfrm>
            <a:prstGeom prst="homePlate">
              <a:avLst>
                <a:gd name="adj" fmla="val 26448"/>
              </a:avLst>
            </a:prstGeom>
            <a:grpFill/>
            <a:ln w="28575"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1500" kern="0">
                <a:solidFill>
                  <a:srgbClr val="666666"/>
                </a:solidFill>
                <a:latin typeface="微软雅黑" panose="020B0503020204020204" pitchFamily="82" charset="2"/>
                <a:ea typeface="微软雅黑" panose="020B0503020204020204" pitchFamily="82" charset="2"/>
              </a:endParaRPr>
            </a:p>
          </p:txBody>
        </p:sp>
        <p:sp>
          <p:nvSpPr>
            <p:cNvPr id="141" name="五边形 140"/>
            <p:cNvSpPr/>
            <p:nvPr/>
          </p:nvSpPr>
          <p:spPr>
            <a:xfrm>
              <a:off x="5360244" y="1238407"/>
              <a:ext cx="2010707" cy="760494"/>
            </a:xfrm>
            <a:prstGeom prst="homePlate">
              <a:avLst>
                <a:gd name="adj" fmla="val 26448"/>
              </a:avLst>
            </a:prstGeom>
            <a:grpFill/>
            <a:ln w="28575"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1500" kern="0">
                <a:solidFill>
                  <a:srgbClr val="666666"/>
                </a:solidFill>
                <a:latin typeface="微软雅黑" panose="020B0503020204020204" pitchFamily="82" charset="2"/>
                <a:ea typeface="微软雅黑" panose="020B0503020204020204" pitchFamily="82" charset="2"/>
              </a:endParaRPr>
            </a:p>
          </p:txBody>
        </p:sp>
        <p:sp>
          <p:nvSpPr>
            <p:cNvPr id="142" name="五边形 141"/>
            <p:cNvSpPr/>
            <p:nvPr/>
          </p:nvSpPr>
          <p:spPr>
            <a:xfrm>
              <a:off x="3752698" y="1238407"/>
              <a:ext cx="2010707" cy="760494"/>
            </a:xfrm>
            <a:prstGeom prst="homePlate">
              <a:avLst>
                <a:gd name="adj" fmla="val 26448"/>
              </a:avLst>
            </a:prstGeom>
            <a:grpFill/>
            <a:ln w="28575"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1500" kern="0">
                <a:solidFill>
                  <a:srgbClr val="666666"/>
                </a:solidFill>
                <a:latin typeface="微软雅黑" panose="020B0503020204020204" pitchFamily="82" charset="2"/>
                <a:ea typeface="微软雅黑" panose="020B0503020204020204" pitchFamily="82" charset="2"/>
              </a:endParaRPr>
            </a:p>
          </p:txBody>
        </p:sp>
        <p:sp>
          <p:nvSpPr>
            <p:cNvPr id="143" name="五边形 142"/>
            <p:cNvSpPr/>
            <p:nvPr/>
          </p:nvSpPr>
          <p:spPr>
            <a:xfrm>
              <a:off x="2145152" y="1238407"/>
              <a:ext cx="2010707" cy="760494"/>
            </a:xfrm>
            <a:prstGeom prst="homePlate">
              <a:avLst>
                <a:gd name="adj" fmla="val 26448"/>
              </a:avLst>
            </a:prstGeom>
            <a:grpFill/>
            <a:ln w="28575"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1500" kern="0">
                <a:solidFill>
                  <a:srgbClr val="666666"/>
                </a:solidFill>
                <a:latin typeface="微软雅黑" panose="020B0503020204020204" pitchFamily="82" charset="2"/>
                <a:ea typeface="微软雅黑" panose="020B0503020204020204" pitchFamily="82" charset="2"/>
              </a:endParaRPr>
            </a:p>
          </p:txBody>
        </p:sp>
        <p:sp>
          <p:nvSpPr>
            <p:cNvPr id="144" name="五边形 143"/>
            <p:cNvSpPr/>
            <p:nvPr/>
          </p:nvSpPr>
          <p:spPr>
            <a:xfrm>
              <a:off x="1061441" y="1238407"/>
              <a:ext cx="1486872" cy="760494"/>
            </a:xfrm>
            <a:prstGeom prst="homePlate">
              <a:avLst>
                <a:gd name="adj" fmla="val 26448"/>
              </a:avLst>
            </a:prstGeom>
            <a:grpFill/>
            <a:ln w="28575"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1500" kern="0">
                <a:solidFill>
                  <a:srgbClr val="666666"/>
                </a:solidFill>
                <a:latin typeface="微软雅黑" panose="020B0503020204020204" pitchFamily="82" charset="2"/>
                <a:ea typeface="微软雅黑" panose="020B0503020204020204" pitchFamily="82" charset="2"/>
              </a:endParaRPr>
            </a:p>
          </p:txBody>
        </p:sp>
      </p:grpSp>
      <p:sp>
        <p:nvSpPr>
          <p:cNvPr id="145" name="文本框 144"/>
          <p:cNvSpPr txBox="1"/>
          <p:nvPr/>
        </p:nvSpPr>
        <p:spPr>
          <a:xfrm>
            <a:off x="652477" y="1713629"/>
            <a:ext cx="582691" cy="161583"/>
          </a:xfrm>
          <a:prstGeom prst="rect">
            <a:avLst/>
          </a:prstGeom>
          <a:noFill/>
        </p:spPr>
        <p:txBody>
          <a:bodyPr wrap="none" lIns="20240" tIns="0" rIns="20240" bIns="0">
            <a:spAutoFit/>
          </a:bodyPr>
          <a:lstStyle/>
          <a:p>
            <a:pPr algn="ctr" defTabSz="514350">
              <a:defRPr/>
            </a:pPr>
            <a:r>
              <a:rPr lang="en-US" altLang="zh-CN" sz="1050" b="1" dirty="0">
                <a:solidFill>
                  <a:srgbClr val="282828"/>
                </a:solidFill>
                <a:latin typeface="微软雅黑" panose="020B0503020204020204" pitchFamily="82" charset="2"/>
                <a:ea typeface="微软雅黑" panose="020B0503020204020204" pitchFamily="82" charset="2"/>
              </a:rPr>
              <a:t>60s </a:t>
            </a:r>
            <a:r>
              <a:rPr lang="zh-CN" altLang="en-US" sz="1050" dirty="0">
                <a:solidFill>
                  <a:srgbClr val="282828"/>
                </a:solidFill>
                <a:latin typeface="微软雅黑" panose="020B0503020204020204" pitchFamily="82" charset="2"/>
                <a:ea typeface="微软雅黑" panose="020B0503020204020204" pitchFamily="82" charset="2"/>
              </a:rPr>
              <a:t>诞生</a:t>
            </a:r>
          </a:p>
        </p:txBody>
      </p:sp>
      <p:sp>
        <p:nvSpPr>
          <p:cNvPr id="146" name="文本框 145"/>
          <p:cNvSpPr txBox="1"/>
          <p:nvPr/>
        </p:nvSpPr>
        <p:spPr>
          <a:xfrm>
            <a:off x="1785940" y="1689799"/>
            <a:ext cx="715419" cy="392415"/>
          </a:xfrm>
          <a:prstGeom prst="rect">
            <a:avLst/>
          </a:prstGeom>
          <a:noFill/>
        </p:spPr>
        <p:txBody>
          <a:bodyPr wrap="none" lIns="20240" tIns="0" rIns="20240" bIns="0">
            <a:spAutoFit/>
          </a:bodyPr>
          <a:lstStyle/>
          <a:p>
            <a:pPr algn="ctr" defTabSz="514350">
              <a:defRPr/>
            </a:pPr>
            <a:r>
              <a:rPr lang="en-US" altLang="zh-CN" sz="1050" b="1" dirty="0">
                <a:solidFill>
                  <a:srgbClr val="282828"/>
                </a:solidFill>
                <a:latin typeface="微软雅黑" panose="020B0503020204020204" pitchFamily="82" charset="2"/>
                <a:ea typeface="微软雅黑" panose="020B0503020204020204" pitchFamily="82" charset="2"/>
              </a:rPr>
              <a:t>70s </a:t>
            </a:r>
            <a:r>
              <a:rPr lang="zh-CN" altLang="en-US" sz="1050" dirty="0">
                <a:solidFill>
                  <a:srgbClr val="282828"/>
                </a:solidFill>
                <a:latin typeface="微软雅黑" panose="020B0503020204020204" pitchFamily="82" charset="2"/>
                <a:ea typeface="微软雅黑" panose="020B0503020204020204" pitchFamily="82" charset="2"/>
              </a:rPr>
              <a:t>兴起</a:t>
            </a:r>
            <a:endParaRPr lang="en-US" altLang="zh-CN" sz="1050" dirty="0">
              <a:solidFill>
                <a:srgbClr val="282828"/>
              </a:solidFill>
              <a:latin typeface="微软雅黑" panose="020B0503020204020204" pitchFamily="82" charset="2"/>
              <a:ea typeface="微软雅黑" panose="020B0503020204020204" pitchFamily="82" charset="2"/>
            </a:endParaRPr>
          </a:p>
          <a:p>
            <a:pPr marL="96520" indent="-96520" defTabSz="514350">
              <a:buFont typeface="Arial" panose="020B0604020202020204" pitchFamily="34" charset="0"/>
              <a:buChar char="•"/>
              <a:defRPr/>
            </a:pPr>
            <a:r>
              <a:rPr lang="zh-CN" altLang="en-US" sz="750" dirty="0">
                <a:solidFill>
                  <a:srgbClr val="FFFFFF">
                    <a:lumMod val="50000"/>
                  </a:srgbClr>
                </a:solidFill>
                <a:latin typeface="微软雅黑" panose="020B0503020204020204" pitchFamily="82" charset="2"/>
                <a:ea typeface="微软雅黑" panose="020B0503020204020204" pitchFamily="82" charset="2"/>
              </a:rPr>
              <a:t>关系型数据库</a:t>
            </a:r>
            <a:endParaRPr lang="en-US" altLang="zh-CN" sz="750" dirty="0">
              <a:solidFill>
                <a:srgbClr val="FFFFFF">
                  <a:lumMod val="50000"/>
                </a:srgbClr>
              </a:solidFill>
              <a:latin typeface="微软雅黑" panose="020B0503020204020204" pitchFamily="82" charset="2"/>
              <a:ea typeface="微软雅黑" panose="020B0503020204020204" pitchFamily="82" charset="2"/>
            </a:endParaRPr>
          </a:p>
          <a:p>
            <a:pPr marL="96520" indent="-96520" defTabSz="514350">
              <a:buFont typeface="Arial" panose="020B0604020202020204" pitchFamily="34" charset="0"/>
              <a:buChar char="•"/>
              <a:defRPr/>
            </a:pPr>
            <a:r>
              <a:rPr lang="en-US" altLang="zh-CN" sz="750" dirty="0">
                <a:solidFill>
                  <a:srgbClr val="FFFFFF">
                    <a:lumMod val="50000"/>
                  </a:srgbClr>
                </a:solidFill>
                <a:latin typeface="微软雅黑" panose="020B0503020204020204" pitchFamily="82" charset="2"/>
                <a:ea typeface="微软雅黑" panose="020B0503020204020204" pitchFamily="82" charset="2"/>
              </a:rPr>
              <a:t>SQL</a:t>
            </a:r>
            <a:r>
              <a:rPr lang="zh-CN" altLang="en-US" sz="750" dirty="0">
                <a:solidFill>
                  <a:srgbClr val="FFFFFF">
                    <a:lumMod val="50000"/>
                  </a:srgbClr>
                </a:solidFill>
                <a:latin typeface="微软雅黑" panose="020B0503020204020204" pitchFamily="82" charset="2"/>
                <a:ea typeface="微软雅黑" panose="020B0503020204020204" pitchFamily="82" charset="2"/>
              </a:rPr>
              <a:t>语言</a:t>
            </a:r>
            <a:endParaRPr lang="en-US" altLang="zh-CN" sz="750" dirty="0">
              <a:solidFill>
                <a:srgbClr val="FFFFFF">
                  <a:lumMod val="50000"/>
                </a:srgbClr>
              </a:solidFill>
              <a:latin typeface="微软雅黑" panose="020B0503020204020204" pitchFamily="82" charset="2"/>
              <a:ea typeface="微软雅黑" panose="020B0503020204020204" pitchFamily="82" charset="2"/>
            </a:endParaRPr>
          </a:p>
        </p:txBody>
      </p:sp>
      <p:sp>
        <p:nvSpPr>
          <p:cNvPr id="147" name="文本框 146"/>
          <p:cNvSpPr txBox="1"/>
          <p:nvPr/>
        </p:nvSpPr>
        <p:spPr>
          <a:xfrm>
            <a:off x="3100988" y="1689799"/>
            <a:ext cx="582691" cy="276999"/>
          </a:xfrm>
          <a:prstGeom prst="rect">
            <a:avLst/>
          </a:prstGeom>
          <a:noFill/>
        </p:spPr>
        <p:txBody>
          <a:bodyPr wrap="none" lIns="20240" tIns="0" rIns="20240" bIns="0">
            <a:spAutoFit/>
          </a:bodyPr>
          <a:lstStyle/>
          <a:p>
            <a:pPr algn="ctr" defTabSz="514350">
              <a:defRPr/>
            </a:pPr>
            <a:r>
              <a:rPr lang="en-US" altLang="zh-CN" sz="1050" b="1" dirty="0">
                <a:solidFill>
                  <a:srgbClr val="282828"/>
                </a:solidFill>
                <a:latin typeface="微软雅黑" panose="020B0503020204020204" pitchFamily="82" charset="2"/>
                <a:ea typeface="微软雅黑" panose="020B0503020204020204" pitchFamily="82" charset="2"/>
              </a:rPr>
              <a:t>80s </a:t>
            </a:r>
            <a:r>
              <a:rPr lang="zh-CN" altLang="en-US" sz="1050" dirty="0">
                <a:solidFill>
                  <a:srgbClr val="282828"/>
                </a:solidFill>
                <a:latin typeface="微软雅黑" panose="020B0503020204020204" pitchFamily="82" charset="2"/>
                <a:ea typeface="微软雅黑" panose="020B0503020204020204" pitchFamily="82" charset="2"/>
              </a:rPr>
              <a:t>发展</a:t>
            </a:r>
            <a:endParaRPr lang="en-US" altLang="zh-CN" sz="1050" dirty="0">
              <a:solidFill>
                <a:srgbClr val="282828"/>
              </a:solidFill>
              <a:latin typeface="微软雅黑" panose="020B0503020204020204" pitchFamily="82" charset="2"/>
              <a:ea typeface="微软雅黑" panose="020B0503020204020204" pitchFamily="82" charset="2"/>
            </a:endParaRPr>
          </a:p>
          <a:p>
            <a:pPr marL="96520" indent="-96520" defTabSz="514350">
              <a:buFont typeface="Arial" panose="020B0604020202020204" pitchFamily="34" charset="0"/>
              <a:buChar char="•"/>
              <a:defRPr/>
            </a:pPr>
            <a:r>
              <a:rPr lang="en-US" altLang="zh-CN" sz="750" dirty="0">
                <a:solidFill>
                  <a:srgbClr val="FFFFFF">
                    <a:lumMod val="50000"/>
                  </a:srgbClr>
                </a:solidFill>
                <a:latin typeface="微软雅黑" panose="020B0503020204020204" pitchFamily="82" charset="2"/>
                <a:ea typeface="微软雅黑" panose="020B0503020204020204" pitchFamily="82" charset="2"/>
              </a:rPr>
              <a:t>OLTP</a:t>
            </a:r>
            <a:endParaRPr lang="zh-CN" altLang="en-US" sz="750" dirty="0">
              <a:solidFill>
                <a:srgbClr val="FFFFFF">
                  <a:lumMod val="50000"/>
                </a:srgbClr>
              </a:solidFill>
              <a:latin typeface="微软雅黑" panose="020B0503020204020204" pitchFamily="82" charset="2"/>
              <a:ea typeface="微软雅黑" panose="020B0503020204020204" pitchFamily="82" charset="2"/>
            </a:endParaRPr>
          </a:p>
        </p:txBody>
      </p:sp>
      <p:sp>
        <p:nvSpPr>
          <p:cNvPr id="148" name="文本框 147"/>
          <p:cNvSpPr txBox="1"/>
          <p:nvPr/>
        </p:nvSpPr>
        <p:spPr>
          <a:xfrm>
            <a:off x="4252531" y="1689799"/>
            <a:ext cx="582691" cy="392415"/>
          </a:xfrm>
          <a:prstGeom prst="rect">
            <a:avLst/>
          </a:prstGeom>
          <a:noFill/>
        </p:spPr>
        <p:txBody>
          <a:bodyPr wrap="none" lIns="20240" tIns="0" rIns="20240" bIns="0">
            <a:spAutoFit/>
          </a:bodyPr>
          <a:lstStyle/>
          <a:p>
            <a:pPr algn="ctr" defTabSz="514350">
              <a:defRPr/>
            </a:pPr>
            <a:r>
              <a:rPr lang="en-US" altLang="zh-CN" sz="1050" b="1" dirty="0">
                <a:solidFill>
                  <a:srgbClr val="282828"/>
                </a:solidFill>
                <a:latin typeface="微软雅黑" panose="020B0503020204020204" pitchFamily="82" charset="2"/>
                <a:ea typeface="微软雅黑" panose="020B0503020204020204" pitchFamily="82" charset="2"/>
              </a:rPr>
              <a:t>90s </a:t>
            </a:r>
            <a:r>
              <a:rPr lang="zh-CN" altLang="en-US" sz="1050" dirty="0">
                <a:solidFill>
                  <a:srgbClr val="282828"/>
                </a:solidFill>
                <a:latin typeface="微软雅黑" panose="020B0503020204020204" pitchFamily="82" charset="2"/>
                <a:ea typeface="微软雅黑" panose="020B0503020204020204" pitchFamily="82" charset="2"/>
              </a:rPr>
              <a:t>分析</a:t>
            </a:r>
            <a:endParaRPr lang="en-US" altLang="zh-CN" sz="1050" dirty="0">
              <a:solidFill>
                <a:srgbClr val="282828"/>
              </a:solidFill>
              <a:latin typeface="微软雅黑" panose="020B0503020204020204" pitchFamily="82" charset="2"/>
              <a:ea typeface="微软雅黑" panose="020B0503020204020204" pitchFamily="82" charset="2"/>
            </a:endParaRPr>
          </a:p>
          <a:p>
            <a:pPr marL="96520" indent="-96520" defTabSz="514350">
              <a:buFont typeface="Arial" panose="020B0604020202020204" pitchFamily="34" charset="0"/>
              <a:buChar char="•"/>
              <a:defRPr/>
            </a:pPr>
            <a:r>
              <a:rPr lang="en-US" altLang="zh-CN" sz="750" dirty="0">
                <a:solidFill>
                  <a:srgbClr val="FFFFFF">
                    <a:lumMod val="50000"/>
                  </a:srgbClr>
                </a:solidFill>
                <a:latin typeface="微软雅黑" panose="020B0503020204020204" pitchFamily="82" charset="2"/>
                <a:ea typeface="微软雅黑" panose="020B0503020204020204" pitchFamily="82" charset="2"/>
              </a:rPr>
              <a:t>OLAP</a:t>
            </a:r>
          </a:p>
          <a:p>
            <a:pPr marL="96520" indent="-96520" algn="ctr" defTabSz="514350">
              <a:buFont typeface="Arial" panose="020B0604020202020204" pitchFamily="34" charset="0"/>
              <a:buChar char="•"/>
              <a:defRPr/>
            </a:pPr>
            <a:endParaRPr lang="en-US" altLang="zh-CN" sz="750" dirty="0">
              <a:solidFill>
                <a:srgbClr val="FFFFFF">
                  <a:lumMod val="50000"/>
                </a:srgbClr>
              </a:solidFill>
              <a:latin typeface="微软雅黑" panose="020B0503020204020204" pitchFamily="82" charset="2"/>
              <a:ea typeface="微软雅黑" panose="020B0503020204020204" pitchFamily="82" charset="2"/>
            </a:endParaRPr>
          </a:p>
        </p:txBody>
      </p:sp>
      <p:sp>
        <p:nvSpPr>
          <p:cNvPr id="149" name="文本框 148"/>
          <p:cNvSpPr txBox="1"/>
          <p:nvPr/>
        </p:nvSpPr>
        <p:spPr>
          <a:xfrm>
            <a:off x="5422859" y="1689799"/>
            <a:ext cx="717343" cy="276999"/>
          </a:xfrm>
          <a:prstGeom prst="rect">
            <a:avLst/>
          </a:prstGeom>
          <a:noFill/>
        </p:spPr>
        <p:txBody>
          <a:bodyPr wrap="none" lIns="20240" tIns="0" rIns="20240" bIns="0">
            <a:spAutoFit/>
          </a:bodyPr>
          <a:lstStyle/>
          <a:p>
            <a:pPr algn="ctr" defTabSz="514350">
              <a:defRPr/>
            </a:pPr>
            <a:r>
              <a:rPr lang="en-US" altLang="zh-CN" sz="1050" b="1" dirty="0">
                <a:solidFill>
                  <a:srgbClr val="282828"/>
                </a:solidFill>
                <a:latin typeface="微软雅黑" panose="020B0503020204020204" pitchFamily="82" charset="2"/>
                <a:ea typeface="微软雅黑" panose="020B0503020204020204" pitchFamily="82" charset="2"/>
              </a:rPr>
              <a:t>00s </a:t>
            </a:r>
            <a:r>
              <a:rPr lang="zh-CN" altLang="en-US" sz="1050" dirty="0">
                <a:solidFill>
                  <a:srgbClr val="282828"/>
                </a:solidFill>
                <a:latin typeface="微软雅黑" panose="020B0503020204020204" pitchFamily="82" charset="2"/>
                <a:ea typeface="微软雅黑" panose="020B0503020204020204" pitchFamily="82" charset="2"/>
              </a:rPr>
              <a:t>大数据</a:t>
            </a:r>
            <a:endParaRPr lang="en-US" altLang="zh-CN" sz="1050" dirty="0">
              <a:solidFill>
                <a:srgbClr val="FFFFFF">
                  <a:lumMod val="50000"/>
                </a:srgbClr>
              </a:solidFill>
              <a:latin typeface="微软雅黑" panose="020B0503020204020204" pitchFamily="82" charset="2"/>
              <a:ea typeface="微软雅黑" panose="020B0503020204020204" pitchFamily="82" charset="2"/>
            </a:endParaRPr>
          </a:p>
          <a:p>
            <a:pPr marL="96520" indent="-96520" defTabSz="514350">
              <a:buFont typeface="Arial" panose="020B0604020202020204" pitchFamily="34" charset="0"/>
              <a:buChar char="•"/>
              <a:defRPr/>
            </a:pPr>
            <a:r>
              <a:rPr lang="en-US" altLang="zh-CN" sz="750" dirty="0">
                <a:solidFill>
                  <a:srgbClr val="FFFFFF">
                    <a:lumMod val="50000"/>
                  </a:srgbClr>
                </a:solidFill>
                <a:latin typeface="微软雅黑" panose="020B0503020204020204" pitchFamily="82" charset="2"/>
                <a:ea typeface="微软雅黑" panose="020B0503020204020204" pitchFamily="82" charset="2"/>
              </a:rPr>
              <a:t>NoSQL</a:t>
            </a:r>
          </a:p>
        </p:txBody>
      </p:sp>
      <p:sp>
        <p:nvSpPr>
          <p:cNvPr id="150" name="文本框 149"/>
          <p:cNvSpPr txBox="1"/>
          <p:nvPr/>
        </p:nvSpPr>
        <p:spPr>
          <a:xfrm>
            <a:off x="6654212" y="1689799"/>
            <a:ext cx="717343" cy="392415"/>
          </a:xfrm>
          <a:prstGeom prst="rect">
            <a:avLst/>
          </a:prstGeom>
          <a:noFill/>
        </p:spPr>
        <p:txBody>
          <a:bodyPr wrap="none" lIns="20240" tIns="0" rIns="20240" bIns="0">
            <a:spAutoFit/>
          </a:bodyPr>
          <a:lstStyle/>
          <a:p>
            <a:pPr algn="ctr" defTabSz="514350">
              <a:defRPr/>
            </a:pPr>
            <a:r>
              <a:rPr lang="en-US" altLang="zh-CN" sz="1050" b="1" dirty="0">
                <a:solidFill>
                  <a:srgbClr val="282828"/>
                </a:solidFill>
                <a:latin typeface="微软雅黑" panose="020B0503020204020204" pitchFamily="82" charset="2"/>
                <a:ea typeface="微软雅黑" panose="020B0503020204020204" pitchFamily="82" charset="2"/>
              </a:rPr>
              <a:t>10s</a:t>
            </a:r>
            <a:r>
              <a:rPr lang="zh-CN" altLang="en-US" sz="1050" b="1" dirty="0">
                <a:solidFill>
                  <a:srgbClr val="282828"/>
                </a:solidFill>
                <a:latin typeface="微软雅黑" panose="020B0503020204020204" pitchFamily="82" charset="2"/>
                <a:ea typeface="微软雅黑" panose="020B0503020204020204" pitchFamily="82" charset="2"/>
              </a:rPr>
              <a:t> </a:t>
            </a:r>
            <a:r>
              <a:rPr lang="zh-CN" altLang="en-US" sz="1050" dirty="0">
                <a:solidFill>
                  <a:srgbClr val="282828"/>
                </a:solidFill>
                <a:latin typeface="微软雅黑" panose="020B0503020204020204" pitchFamily="82" charset="2"/>
                <a:ea typeface="微软雅黑" panose="020B0503020204020204" pitchFamily="82" charset="2"/>
              </a:rPr>
              <a:t>云演进</a:t>
            </a:r>
            <a:endParaRPr lang="en-US" altLang="zh-CN" sz="1050" dirty="0">
              <a:solidFill>
                <a:srgbClr val="282828"/>
              </a:solidFill>
              <a:latin typeface="微软雅黑" panose="020B0503020204020204" pitchFamily="82" charset="2"/>
              <a:ea typeface="微软雅黑" panose="020B0503020204020204" pitchFamily="82" charset="2"/>
            </a:endParaRPr>
          </a:p>
          <a:p>
            <a:pPr marL="96520" indent="-96520" defTabSz="514350">
              <a:buFont typeface="Arial" panose="020B0604020202020204" pitchFamily="34" charset="0"/>
              <a:buChar char="•"/>
              <a:defRPr/>
            </a:pPr>
            <a:r>
              <a:rPr lang="zh-CN" altLang="en-US" sz="750" dirty="0">
                <a:solidFill>
                  <a:srgbClr val="FFFFFF">
                    <a:lumMod val="50000"/>
                  </a:srgbClr>
                </a:solidFill>
                <a:latin typeface="微软雅黑" panose="020B0503020204020204" pitchFamily="82" charset="2"/>
                <a:ea typeface="微软雅黑" panose="020B0503020204020204" pitchFamily="82" charset="2"/>
              </a:rPr>
              <a:t>云原生</a:t>
            </a:r>
            <a:endParaRPr lang="en-US" altLang="zh-CN" sz="750" dirty="0">
              <a:solidFill>
                <a:srgbClr val="FFFFFF">
                  <a:lumMod val="50000"/>
                </a:srgbClr>
              </a:solidFill>
              <a:latin typeface="微软雅黑" panose="020B0503020204020204" pitchFamily="82" charset="2"/>
              <a:ea typeface="微软雅黑" panose="020B0503020204020204" pitchFamily="82" charset="2"/>
            </a:endParaRPr>
          </a:p>
          <a:p>
            <a:pPr marL="96520" indent="-96520" defTabSz="514350">
              <a:buFont typeface="Arial" panose="020B0604020202020204" pitchFamily="34" charset="0"/>
              <a:buChar char="•"/>
              <a:defRPr/>
            </a:pPr>
            <a:r>
              <a:rPr lang="zh-CN" altLang="en-US" sz="750" dirty="0">
                <a:solidFill>
                  <a:srgbClr val="FFFFFF">
                    <a:lumMod val="50000"/>
                  </a:srgbClr>
                </a:solidFill>
                <a:latin typeface="微软雅黑" panose="020B0503020204020204" pitchFamily="82" charset="2"/>
                <a:ea typeface="微软雅黑" panose="020B0503020204020204" pitchFamily="82" charset="2"/>
              </a:rPr>
              <a:t>分布式</a:t>
            </a:r>
            <a:endParaRPr lang="en-US" altLang="zh-CN" sz="750" dirty="0">
              <a:solidFill>
                <a:srgbClr val="FFFFFF">
                  <a:lumMod val="50000"/>
                </a:srgbClr>
              </a:solidFill>
              <a:latin typeface="微软雅黑" panose="020B0503020204020204" pitchFamily="82" charset="2"/>
              <a:ea typeface="微软雅黑" panose="020B0503020204020204" pitchFamily="82" charset="2"/>
            </a:endParaRPr>
          </a:p>
        </p:txBody>
      </p:sp>
      <p:sp>
        <p:nvSpPr>
          <p:cNvPr id="151" name="文本框 150"/>
          <p:cNvSpPr txBox="1"/>
          <p:nvPr/>
        </p:nvSpPr>
        <p:spPr>
          <a:xfrm>
            <a:off x="7873172" y="1724405"/>
            <a:ext cx="717344" cy="161583"/>
          </a:xfrm>
          <a:prstGeom prst="rect">
            <a:avLst/>
          </a:prstGeom>
          <a:noFill/>
        </p:spPr>
        <p:txBody>
          <a:bodyPr wrap="none" lIns="20240" tIns="0" rIns="20240" bIns="0">
            <a:spAutoFit/>
          </a:bodyPr>
          <a:lstStyle/>
          <a:p>
            <a:pPr algn="ctr" defTabSz="514350">
              <a:defRPr/>
            </a:pPr>
            <a:r>
              <a:rPr lang="en-US" altLang="zh-CN" sz="1050" b="1" dirty="0">
                <a:solidFill>
                  <a:srgbClr val="282828"/>
                </a:solidFill>
                <a:latin typeface="微软雅黑" panose="020B0503020204020204" pitchFamily="82" charset="2"/>
                <a:ea typeface="微软雅黑" panose="020B0503020204020204" pitchFamily="82" charset="2"/>
              </a:rPr>
              <a:t>20s</a:t>
            </a:r>
            <a:r>
              <a:rPr lang="zh-CN" altLang="en-US" sz="1050" b="1" dirty="0">
                <a:solidFill>
                  <a:srgbClr val="282828"/>
                </a:solidFill>
                <a:latin typeface="微软雅黑" panose="020B0503020204020204" pitchFamily="82" charset="2"/>
                <a:ea typeface="微软雅黑" panose="020B0503020204020204" pitchFamily="82" charset="2"/>
              </a:rPr>
              <a:t> </a:t>
            </a:r>
            <a:r>
              <a:rPr lang="zh-CN" altLang="en-US" sz="1050" dirty="0">
                <a:solidFill>
                  <a:srgbClr val="282828"/>
                </a:solidFill>
                <a:latin typeface="微软雅黑" panose="020B0503020204020204" pitchFamily="82" charset="2"/>
                <a:ea typeface="微软雅黑" panose="020B0503020204020204" pitchFamily="82" charset="2"/>
              </a:rPr>
              <a:t>？？？</a:t>
            </a:r>
            <a:endParaRPr lang="en-US" altLang="zh-CN" sz="1050" dirty="0">
              <a:solidFill>
                <a:srgbClr val="282828"/>
              </a:solidFill>
              <a:latin typeface="微软雅黑" panose="020B0503020204020204" pitchFamily="82" charset="2"/>
              <a:ea typeface="微软雅黑" panose="020B0503020204020204" pitchFamily="82" charset="2"/>
            </a:endParaRPr>
          </a:p>
        </p:txBody>
      </p:sp>
      <p:grpSp>
        <p:nvGrpSpPr>
          <p:cNvPr id="201" name="组合 39"/>
          <p:cNvGrpSpPr/>
          <p:nvPr/>
        </p:nvGrpSpPr>
        <p:grpSpPr bwMode="auto">
          <a:xfrm>
            <a:off x="0" y="4726769"/>
            <a:ext cx="9144000" cy="1751875"/>
            <a:chOff x="322854" y="4955890"/>
            <a:chExt cx="11551713" cy="1534619"/>
          </a:xfrm>
        </p:grpSpPr>
        <p:pic>
          <p:nvPicPr>
            <p:cNvPr id="202" name="Picture 2" descr="“jim gray turing award”的图片搜索结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2295" y="5484822"/>
              <a:ext cx="2157888" cy="980776"/>
            </a:xfrm>
            <a:prstGeom prst="rect">
              <a:avLst/>
            </a:prstGeom>
            <a:noFill/>
            <a:ln>
              <a:noFill/>
            </a:ln>
          </p:spPr>
        </p:pic>
        <p:pic>
          <p:nvPicPr>
            <p:cNvPr id="203" name="Picture 4" descr="“Edgar F.Codd  turing award”的图片搜索结果"/>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7038" y="5484822"/>
              <a:ext cx="2157888" cy="980776"/>
            </a:xfrm>
            <a:prstGeom prst="rect">
              <a:avLst/>
            </a:prstGeom>
            <a:noFill/>
            <a:ln>
              <a:noFill/>
            </a:ln>
          </p:spPr>
        </p:pic>
        <p:pic>
          <p:nvPicPr>
            <p:cNvPr id="204" name="Picture 10" descr="Image may contain: 1 pers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6679" y="5511270"/>
              <a:ext cx="2157888" cy="979239"/>
            </a:xfrm>
            <a:prstGeom prst="rect">
              <a:avLst/>
            </a:prstGeom>
            <a:noFill/>
            <a:ln>
              <a:noFill/>
            </a:ln>
          </p:spPr>
        </p:pic>
        <p:pic>
          <p:nvPicPr>
            <p:cNvPr id="205" name="Picture 12" descr="“michael stonebraker turing award”的图片搜索结果"/>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08899" y="5511270"/>
              <a:ext cx="2188092" cy="974273"/>
            </a:xfrm>
            <a:prstGeom prst="rect">
              <a:avLst/>
            </a:prstGeom>
            <a:noFill/>
            <a:ln>
              <a:noFill/>
            </a:ln>
          </p:spPr>
        </p:pic>
        <p:sp>
          <p:nvSpPr>
            <p:cNvPr id="206" name="矩形 205"/>
            <p:cNvSpPr/>
            <p:nvPr/>
          </p:nvSpPr>
          <p:spPr>
            <a:xfrm>
              <a:off x="4902413" y="4955890"/>
              <a:ext cx="2156977" cy="495311"/>
            </a:xfrm>
            <a:prstGeom prst="rect">
              <a:avLst/>
            </a:prstGeom>
            <a:solidFill>
              <a:srgbClr val="FFFFFF">
                <a:lumMod val="95000"/>
              </a:srgb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r>
                <a:rPr lang="zh-CN" altLang="en-US" sz="750" b="1" kern="0" dirty="0">
                  <a:solidFill>
                    <a:srgbClr val="990000"/>
                  </a:solidFill>
                  <a:latin typeface="微软雅黑" panose="020B0503020204020204" pitchFamily="82" charset="2"/>
                  <a:ea typeface="微软雅黑" panose="020B0503020204020204" pitchFamily="82" charset="2"/>
                </a:rPr>
                <a:t>事务处理</a:t>
              </a:r>
              <a:endParaRPr lang="en-US" altLang="zh-CN" sz="750" b="1" kern="0" dirty="0">
                <a:solidFill>
                  <a:srgbClr val="990000"/>
                </a:solidFill>
                <a:latin typeface="微软雅黑" panose="020B0503020204020204" pitchFamily="82" charset="2"/>
                <a:ea typeface="微软雅黑" panose="020B0503020204020204" pitchFamily="82" charset="2"/>
              </a:endParaRPr>
            </a:p>
            <a:p>
              <a:pPr algn="ctr" defTabSz="514350" eaLnBrk="1" fontAlgn="auto" hangingPunct="1">
                <a:spcBef>
                  <a:spcPts val="0"/>
                </a:spcBef>
                <a:spcAft>
                  <a:spcPts val="0"/>
                </a:spcAft>
                <a:defRPr/>
              </a:pPr>
              <a:r>
                <a:rPr lang="zh-CN" altLang="en-US" sz="750" b="1" kern="0" dirty="0">
                  <a:solidFill>
                    <a:srgbClr val="990000"/>
                  </a:solidFill>
                  <a:latin typeface="微软雅黑" panose="020B0503020204020204" pitchFamily="82" charset="2"/>
                  <a:ea typeface="微软雅黑" panose="020B0503020204020204" pitchFamily="82" charset="2"/>
                </a:rPr>
                <a:t>图灵奖：</a:t>
              </a:r>
              <a:r>
                <a:rPr lang="en-US" altLang="zh-CN" sz="750" b="1" kern="0" dirty="0">
                  <a:solidFill>
                    <a:srgbClr val="990000"/>
                  </a:solidFill>
                  <a:latin typeface="微软雅黑" panose="020B0503020204020204" pitchFamily="82" charset="2"/>
                  <a:ea typeface="微软雅黑" panose="020B0503020204020204" pitchFamily="82" charset="2"/>
                </a:rPr>
                <a:t>Jim Gray</a:t>
              </a:r>
            </a:p>
          </p:txBody>
        </p:sp>
        <p:sp>
          <p:nvSpPr>
            <p:cNvPr id="207" name="矩形 206"/>
            <p:cNvSpPr/>
            <p:nvPr/>
          </p:nvSpPr>
          <p:spPr>
            <a:xfrm>
              <a:off x="2576220" y="4955890"/>
              <a:ext cx="2159118" cy="495311"/>
            </a:xfrm>
            <a:prstGeom prst="rect">
              <a:avLst/>
            </a:prstGeom>
            <a:solidFill>
              <a:srgbClr val="FFFFFF">
                <a:lumMod val="95000"/>
              </a:srgb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r>
                <a:rPr lang="zh-CN" altLang="en-US" sz="750" b="1" kern="0" dirty="0">
                  <a:solidFill>
                    <a:srgbClr val="990000"/>
                  </a:solidFill>
                  <a:latin typeface="微软雅黑" panose="020B0503020204020204" pitchFamily="82" charset="2"/>
                  <a:ea typeface="微软雅黑" panose="020B0503020204020204" pitchFamily="82" charset="2"/>
                </a:rPr>
                <a:t>关系代数</a:t>
              </a:r>
              <a:endParaRPr lang="en-US" altLang="zh-CN" sz="750" b="1" kern="0" dirty="0">
                <a:solidFill>
                  <a:srgbClr val="990000"/>
                </a:solidFill>
                <a:latin typeface="微软雅黑" panose="020B0503020204020204" pitchFamily="82" charset="2"/>
                <a:ea typeface="微软雅黑" panose="020B0503020204020204" pitchFamily="82" charset="2"/>
              </a:endParaRPr>
            </a:p>
            <a:p>
              <a:pPr algn="ctr" defTabSz="514350" eaLnBrk="1" fontAlgn="auto" hangingPunct="1">
                <a:spcBef>
                  <a:spcPts val="0"/>
                </a:spcBef>
                <a:spcAft>
                  <a:spcPts val="0"/>
                </a:spcAft>
                <a:defRPr/>
              </a:pPr>
              <a:r>
                <a:rPr lang="zh-CN" altLang="en-US" sz="750" b="1" kern="0" dirty="0">
                  <a:solidFill>
                    <a:srgbClr val="990000"/>
                  </a:solidFill>
                  <a:latin typeface="微软雅黑" panose="020B0503020204020204" pitchFamily="82" charset="2"/>
                  <a:ea typeface="微软雅黑" panose="020B0503020204020204" pitchFamily="82" charset="2"/>
                </a:rPr>
                <a:t>图灵奖：</a:t>
              </a:r>
              <a:r>
                <a:rPr lang="en-US" altLang="zh-CN" sz="750" b="1" kern="0" dirty="0">
                  <a:solidFill>
                    <a:srgbClr val="990000"/>
                  </a:solidFill>
                  <a:latin typeface="微软雅黑" panose="020B0503020204020204" pitchFamily="82" charset="2"/>
                  <a:ea typeface="微软雅黑" panose="020B0503020204020204" pitchFamily="82" charset="2"/>
                </a:rPr>
                <a:t> Edgar Codd</a:t>
              </a:r>
            </a:p>
          </p:txBody>
        </p:sp>
        <p:sp>
          <p:nvSpPr>
            <p:cNvPr id="208" name="矩形 207"/>
            <p:cNvSpPr/>
            <p:nvPr/>
          </p:nvSpPr>
          <p:spPr>
            <a:xfrm>
              <a:off x="9709022" y="4981291"/>
              <a:ext cx="2156977" cy="495311"/>
            </a:xfrm>
            <a:prstGeom prst="rect">
              <a:avLst/>
            </a:prstGeom>
            <a:solidFill>
              <a:srgbClr val="FFFFFF">
                <a:lumMod val="95000"/>
              </a:srgb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r>
                <a:rPr lang="zh-CN" altLang="en-US" sz="750" b="1" kern="0" dirty="0">
                  <a:solidFill>
                    <a:srgbClr val="990000"/>
                  </a:solidFill>
                  <a:latin typeface="微软雅黑" panose="020B0503020204020204" pitchFamily="82" charset="2"/>
                  <a:ea typeface="微软雅黑" panose="020B0503020204020204" pitchFamily="82" charset="2"/>
                </a:rPr>
                <a:t>分布式一致性仲裁算法</a:t>
              </a:r>
              <a:endParaRPr lang="en-US" altLang="zh-CN" sz="750" b="1" kern="0" dirty="0">
                <a:solidFill>
                  <a:srgbClr val="990000"/>
                </a:solidFill>
                <a:latin typeface="微软雅黑" panose="020B0503020204020204" pitchFamily="82" charset="2"/>
                <a:ea typeface="微软雅黑" panose="020B0503020204020204" pitchFamily="82" charset="2"/>
              </a:endParaRPr>
            </a:p>
            <a:p>
              <a:pPr algn="ctr" defTabSz="514350" eaLnBrk="1" fontAlgn="auto" hangingPunct="1">
                <a:spcBef>
                  <a:spcPts val="0"/>
                </a:spcBef>
                <a:spcAft>
                  <a:spcPts val="0"/>
                </a:spcAft>
                <a:defRPr/>
              </a:pPr>
              <a:r>
                <a:rPr lang="zh-CN" altLang="en-US" sz="750" b="1" kern="0" dirty="0">
                  <a:solidFill>
                    <a:srgbClr val="990000"/>
                  </a:solidFill>
                  <a:latin typeface="微软雅黑" panose="020B0503020204020204" pitchFamily="82" charset="2"/>
                  <a:ea typeface="微软雅黑" panose="020B0503020204020204" pitchFamily="82" charset="2"/>
                </a:rPr>
                <a:t>图灵奖：</a:t>
              </a:r>
              <a:r>
                <a:rPr lang="en-US" altLang="zh-CN" sz="750" b="1" kern="0" dirty="0">
                  <a:solidFill>
                    <a:srgbClr val="990000"/>
                  </a:solidFill>
                  <a:latin typeface="微软雅黑" panose="020B0503020204020204" pitchFamily="82" charset="2"/>
                  <a:ea typeface="微软雅黑" panose="020B0503020204020204" pitchFamily="82" charset="2"/>
                </a:rPr>
                <a:t> Leslie Lamport</a:t>
              </a:r>
            </a:p>
          </p:txBody>
        </p:sp>
        <p:sp>
          <p:nvSpPr>
            <p:cNvPr id="209" name="矩形 208"/>
            <p:cNvSpPr/>
            <p:nvPr/>
          </p:nvSpPr>
          <p:spPr>
            <a:xfrm>
              <a:off x="7307860" y="4979175"/>
              <a:ext cx="2225519" cy="495311"/>
            </a:xfrm>
            <a:prstGeom prst="rect">
              <a:avLst/>
            </a:prstGeom>
            <a:solidFill>
              <a:srgbClr val="FFFFFF">
                <a:lumMod val="95000"/>
              </a:srgb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r>
                <a:rPr lang="zh-CN" altLang="en-US" sz="750" b="1" kern="0" dirty="0">
                  <a:solidFill>
                    <a:srgbClr val="990000"/>
                  </a:solidFill>
                  <a:latin typeface="微软雅黑" panose="020B0503020204020204" pitchFamily="82" charset="2"/>
                  <a:ea typeface="微软雅黑" panose="020B0503020204020204" pitchFamily="82" charset="2"/>
                </a:rPr>
                <a:t>数据库系统</a:t>
              </a:r>
              <a:br>
                <a:rPr lang="en-US" altLang="zh-CN" sz="750" b="1" kern="0" dirty="0">
                  <a:solidFill>
                    <a:srgbClr val="990000"/>
                  </a:solidFill>
                  <a:latin typeface="微软雅黑" panose="020B0503020204020204" pitchFamily="82" charset="2"/>
                  <a:ea typeface="微软雅黑" panose="020B0503020204020204" pitchFamily="82" charset="2"/>
                </a:rPr>
              </a:br>
              <a:r>
                <a:rPr lang="zh-CN" altLang="en-US" sz="750" b="1" kern="0" dirty="0">
                  <a:solidFill>
                    <a:srgbClr val="990000"/>
                  </a:solidFill>
                  <a:latin typeface="微软雅黑" panose="020B0503020204020204" pitchFamily="82" charset="2"/>
                  <a:ea typeface="微软雅黑" panose="020B0503020204020204" pitchFamily="82" charset="2"/>
                </a:rPr>
                <a:t>图灵奖</a:t>
              </a:r>
              <a:r>
                <a:rPr lang="en-US" altLang="zh-CN" sz="750" b="1" kern="0" dirty="0" err="1">
                  <a:solidFill>
                    <a:srgbClr val="990000"/>
                  </a:solidFill>
                  <a:latin typeface="微软雅黑" panose="020B0503020204020204" pitchFamily="82" charset="2"/>
                  <a:ea typeface="微软雅黑" panose="020B0503020204020204" pitchFamily="82" charset="2"/>
                </a:rPr>
                <a:t>Mike.Stonebraker</a:t>
              </a:r>
              <a:endParaRPr lang="zh-CN" altLang="en-US" sz="750" b="1" kern="0" dirty="0">
                <a:solidFill>
                  <a:srgbClr val="990000"/>
                </a:solidFill>
                <a:latin typeface="微软雅黑" panose="020B0503020204020204" pitchFamily="82" charset="2"/>
                <a:ea typeface="微软雅黑" panose="020B0503020204020204" pitchFamily="82" charset="2"/>
              </a:endParaRPr>
            </a:p>
          </p:txBody>
        </p:sp>
        <p:sp>
          <p:nvSpPr>
            <p:cNvPr id="210" name="矩形 209"/>
            <p:cNvSpPr/>
            <p:nvPr/>
          </p:nvSpPr>
          <p:spPr>
            <a:xfrm>
              <a:off x="322854" y="4955890"/>
              <a:ext cx="2193390" cy="495311"/>
            </a:xfrm>
            <a:prstGeom prst="rect">
              <a:avLst/>
            </a:prstGeom>
            <a:solidFill>
              <a:srgbClr val="FFFFFF">
                <a:lumMod val="95000"/>
              </a:srgb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r>
                <a:rPr lang="zh-CN" altLang="en-US" sz="750" b="1" kern="0" dirty="0">
                  <a:solidFill>
                    <a:srgbClr val="990000"/>
                  </a:solidFill>
                  <a:latin typeface="微软雅黑" panose="020B0503020204020204" pitchFamily="82" charset="2"/>
                  <a:ea typeface="微软雅黑" panose="020B0503020204020204" pitchFamily="82" charset="2"/>
                </a:rPr>
                <a:t>数据库概念</a:t>
              </a:r>
              <a:endParaRPr lang="en-US" altLang="zh-CN" sz="750" b="1" kern="0" dirty="0">
                <a:solidFill>
                  <a:srgbClr val="990000"/>
                </a:solidFill>
                <a:latin typeface="微软雅黑" panose="020B0503020204020204" pitchFamily="82" charset="2"/>
                <a:ea typeface="微软雅黑" panose="020B0503020204020204" pitchFamily="82" charset="2"/>
              </a:endParaRPr>
            </a:p>
            <a:p>
              <a:pPr algn="ctr" defTabSz="514350" eaLnBrk="1" fontAlgn="auto" hangingPunct="1">
                <a:spcBef>
                  <a:spcPts val="0"/>
                </a:spcBef>
                <a:spcAft>
                  <a:spcPts val="0"/>
                </a:spcAft>
                <a:defRPr/>
              </a:pPr>
              <a:r>
                <a:rPr lang="zh-CN" altLang="en-US" sz="750" b="1" kern="0" dirty="0">
                  <a:solidFill>
                    <a:srgbClr val="990000"/>
                  </a:solidFill>
                  <a:latin typeface="微软雅黑" panose="020B0503020204020204" pitchFamily="82" charset="2"/>
                  <a:ea typeface="微软雅黑" panose="020B0503020204020204" pitchFamily="82" charset="2"/>
                </a:rPr>
                <a:t>图灵奖</a:t>
              </a:r>
              <a:r>
                <a:rPr lang="en-US" altLang="zh-CN" sz="750" b="1" kern="0" dirty="0">
                  <a:solidFill>
                    <a:srgbClr val="990000"/>
                  </a:solidFill>
                  <a:latin typeface="微软雅黑" panose="020B0503020204020204" pitchFamily="82" charset="2"/>
                  <a:ea typeface="微软雅黑" panose="020B0503020204020204" pitchFamily="82" charset="2"/>
                </a:rPr>
                <a:t>Charles</a:t>
              </a:r>
              <a:r>
                <a:rPr lang="zh-CN" altLang="en-US" sz="750" b="1" kern="0" dirty="0">
                  <a:solidFill>
                    <a:srgbClr val="990000"/>
                  </a:solidFill>
                  <a:latin typeface="微软雅黑" panose="020B0503020204020204" pitchFamily="82" charset="2"/>
                  <a:ea typeface="微软雅黑" panose="020B0503020204020204" pitchFamily="82" charset="2"/>
                </a:rPr>
                <a:t> </a:t>
              </a:r>
              <a:r>
                <a:rPr lang="en-US" altLang="zh-CN" sz="750" b="1" kern="0" dirty="0">
                  <a:solidFill>
                    <a:srgbClr val="990000"/>
                  </a:solidFill>
                  <a:latin typeface="微软雅黑" panose="020B0503020204020204" pitchFamily="82" charset="2"/>
                  <a:ea typeface="微软雅黑" panose="020B0503020204020204" pitchFamily="82" charset="2"/>
                </a:rPr>
                <a:t>Bachman</a:t>
              </a:r>
            </a:p>
          </p:txBody>
        </p:sp>
        <p:pic>
          <p:nvPicPr>
            <p:cNvPr id="211" name="图片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6452" y="5498104"/>
              <a:ext cx="1220260" cy="851816"/>
            </a:xfrm>
            <a:prstGeom prst="rect">
              <a:avLst/>
            </a:prstGeom>
            <a:noFill/>
            <a:ln>
              <a:noFill/>
            </a:ln>
          </p:spPr>
        </p:pic>
      </p:grpSp>
      <p:grpSp>
        <p:nvGrpSpPr>
          <p:cNvPr id="4" name="组合 3"/>
          <p:cNvGrpSpPr/>
          <p:nvPr/>
        </p:nvGrpSpPr>
        <p:grpSpPr>
          <a:xfrm>
            <a:off x="595699" y="2255347"/>
            <a:ext cx="7862910" cy="2268201"/>
            <a:chOff x="428274" y="1842318"/>
            <a:chExt cx="11263923" cy="3249287"/>
          </a:xfrm>
        </p:grpSpPr>
        <p:grpSp>
          <p:nvGrpSpPr>
            <p:cNvPr id="152" name="组合 151"/>
            <p:cNvGrpSpPr/>
            <p:nvPr/>
          </p:nvGrpSpPr>
          <p:grpSpPr bwMode="auto">
            <a:xfrm>
              <a:off x="2392550" y="1866965"/>
              <a:ext cx="2181731" cy="513478"/>
              <a:chOff x="2489382" y="1665452"/>
              <a:chExt cx="2199197" cy="529587"/>
            </a:xfrm>
          </p:grpSpPr>
          <p:sp>
            <p:nvSpPr>
              <p:cNvPr id="153" name="矩形 152"/>
              <p:cNvSpPr/>
              <p:nvPr/>
            </p:nvSpPr>
            <p:spPr>
              <a:xfrm>
                <a:off x="3459266" y="1976848"/>
                <a:ext cx="828002" cy="158877"/>
              </a:xfrm>
              <a:prstGeom prst="rect">
                <a:avLst/>
              </a:prstGeom>
              <a:solidFill>
                <a:schemeClr val="bg1">
                  <a:lumMod val="50000"/>
                </a:scheme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154" name="矩形 153"/>
              <p:cNvSpPr/>
              <p:nvPr/>
            </p:nvSpPr>
            <p:spPr>
              <a:xfrm>
                <a:off x="2639736" y="1726883"/>
                <a:ext cx="1027060" cy="160994"/>
              </a:xfrm>
              <a:prstGeom prst="rect">
                <a:avLst/>
              </a:prstGeom>
              <a:solidFill>
                <a:schemeClr val="bg1">
                  <a:lumMod val="50000"/>
                </a:scheme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grpSp>
            <p:nvGrpSpPr>
              <p:cNvPr id="155" name="组合 83"/>
              <p:cNvGrpSpPr/>
              <p:nvPr/>
            </p:nvGrpSpPr>
            <p:grpSpPr bwMode="auto">
              <a:xfrm>
                <a:off x="2489382" y="1665452"/>
                <a:ext cx="2199197" cy="529587"/>
                <a:chOff x="2489382" y="1665452"/>
                <a:chExt cx="2199197" cy="529587"/>
              </a:xfrm>
            </p:grpSpPr>
            <p:sp>
              <p:nvSpPr>
                <p:cNvPr id="156" name="椭圆 155"/>
                <p:cNvSpPr/>
                <p:nvPr/>
              </p:nvSpPr>
              <p:spPr>
                <a:xfrm>
                  <a:off x="2489382" y="1665452"/>
                  <a:ext cx="288000" cy="288095"/>
                </a:xfrm>
                <a:prstGeom prst="ellipse">
                  <a:avLst/>
                </a:prstGeom>
                <a:solidFill>
                  <a:srgbClr val="666666">
                    <a:lumMod val="60000"/>
                    <a:lumOff val="40000"/>
                  </a:srgbClr>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157" name="椭圆 156"/>
                <p:cNvSpPr/>
                <p:nvPr/>
              </p:nvSpPr>
              <p:spPr>
                <a:xfrm>
                  <a:off x="3275031" y="1906944"/>
                  <a:ext cx="288000" cy="288095"/>
                </a:xfrm>
                <a:prstGeom prst="ellipse">
                  <a:avLst/>
                </a:prstGeom>
                <a:solidFill>
                  <a:srgbClr val="DDDDDD">
                    <a:lumMod val="75000"/>
                  </a:srgbClr>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158" name="文本框 157"/>
                <p:cNvSpPr txBox="1"/>
                <p:nvPr/>
              </p:nvSpPr>
              <p:spPr>
                <a:xfrm>
                  <a:off x="2858932" y="1748362"/>
                  <a:ext cx="1046120" cy="136420"/>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zh-CN" altLang="en-US" sz="600" b="1" kern="0" dirty="0">
                      <a:solidFill>
                        <a:schemeClr val="bg1"/>
                      </a:solidFill>
                      <a:latin typeface="微软雅黑" panose="020B0503020204020204" pitchFamily="82" charset="2"/>
                      <a:ea typeface="微软雅黑" panose="020B0503020204020204" pitchFamily="82" charset="2"/>
                    </a:rPr>
                    <a:t>实体关系型</a:t>
                  </a:r>
                </a:p>
              </p:txBody>
            </p:sp>
            <p:sp>
              <p:nvSpPr>
                <p:cNvPr id="159" name="文本框 158"/>
                <p:cNvSpPr txBox="1"/>
                <p:nvPr/>
              </p:nvSpPr>
              <p:spPr>
                <a:xfrm>
                  <a:off x="3642459" y="1994090"/>
                  <a:ext cx="1046120" cy="136420"/>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zh-CN" altLang="en-US" sz="600" b="1" kern="0" dirty="0">
                      <a:solidFill>
                        <a:schemeClr val="bg1"/>
                      </a:solidFill>
                      <a:latin typeface="微软雅黑" panose="020B0503020204020204" pitchFamily="82" charset="2"/>
                      <a:ea typeface="微软雅黑" panose="020B0503020204020204" pitchFamily="82" charset="2"/>
                    </a:rPr>
                    <a:t>面向对象型</a:t>
                  </a:r>
                </a:p>
              </p:txBody>
            </p:sp>
          </p:grpSp>
        </p:grpSp>
        <p:grpSp>
          <p:nvGrpSpPr>
            <p:cNvPr id="160" name="组合 159"/>
            <p:cNvGrpSpPr/>
            <p:nvPr/>
          </p:nvGrpSpPr>
          <p:grpSpPr bwMode="auto">
            <a:xfrm>
              <a:off x="5270691" y="3559388"/>
              <a:ext cx="5096619" cy="1514548"/>
              <a:chOff x="5391306" y="3362583"/>
              <a:chExt cx="5136007" cy="1561766"/>
            </a:xfrm>
          </p:grpSpPr>
          <p:sp>
            <p:nvSpPr>
              <p:cNvPr id="161" name="Striped Right Arrow 45"/>
              <p:cNvSpPr/>
              <p:nvPr/>
            </p:nvSpPr>
            <p:spPr>
              <a:xfrm rot="3757964" flipH="1" flipV="1">
                <a:off x="5689683" y="3665524"/>
                <a:ext cx="965783" cy="359902"/>
              </a:xfrm>
              <a:custGeom>
                <a:avLst/>
                <a:gdLst>
                  <a:gd name="T0" fmla="*/ 702 w 2164"/>
                  <a:gd name="T1" fmla="*/ 1977 h 1977"/>
                  <a:gd name="T2" fmla="*/ 0 w 2164"/>
                  <a:gd name="T3" fmla="*/ 1275 h 1977"/>
                  <a:gd name="T4" fmla="*/ 702 w 2164"/>
                  <a:gd name="T5" fmla="*/ 573 h 1977"/>
                  <a:gd name="T6" fmla="*/ 702 w 2164"/>
                  <a:gd name="T7" fmla="*/ 1006 h 1977"/>
                  <a:gd name="T8" fmla="*/ 2054 w 2164"/>
                  <a:gd name="T9" fmla="*/ 131 h 1977"/>
                  <a:gd name="T10" fmla="*/ 2092 w 2164"/>
                  <a:gd name="T11" fmla="*/ 0 h 1977"/>
                  <a:gd name="T12" fmla="*/ 2130 w 2164"/>
                  <a:gd name="T13" fmla="*/ 131 h 1977"/>
                  <a:gd name="T14" fmla="*/ 2164 w 2164"/>
                  <a:gd name="T15" fmla="*/ 370 h 1977"/>
                  <a:gd name="T16" fmla="*/ 702 w 2164"/>
                  <a:gd name="T17" fmla="*/ 1542 h 1977"/>
                  <a:gd name="T18" fmla="*/ 702 w 2164"/>
                  <a:gd name="T19" fmla="*/ 1977 h 1977"/>
                  <a:gd name="T20" fmla="*/ 702 w 2164"/>
                  <a:gd name="T21" fmla="*/ 1977 h 1977"/>
                  <a:gd name="T22" fmla="*/ 112 w 2164"/>
                  <a:gd name="T23" fmla="*/ 1275 h 1977"/>
                  <a:gd name="T24" fmla="*/ 622 w 2164"/>
                  <a:gd name="T25" fmla="*/ 1785 h 1977"/>
                  <a:gd name="T26" fmla="*/ 622 w 2164"/>
                  <a:gd name="T27" fmla="*/ 1468 h 1977"/>
                  <a:gd name="T28" fmla="*/ 659 w 2164"/>
                  <a:gd name="T29" fmla="*/ 1465 h 1977"/>
                  <a:gd name="T30" fmla="*/ 2085 w 2164"/>
                  <a:gd name="T31" fmla="*/ 370 h 1977"/>
                  <a:gd name="T32" fmla="*/ 2080 w 2164"/>
                  <a:gd name="T33" fmla="*/ 286 h 1977"/>
                  <a:gd name="T34" fmla="*/ 665 w 2164"/>
                  <a:gd name="T35" fmla="*/ 1089 h 1977"/>
                  <a:gd name="T36" fmla="*/ 622 w 2164"/>
                  <a:gd name="T37" fmla="*/ 1092 h 1977"/>
                  <a:gd name="T38" fmla="*/ 622 w 2164"/>
                  <a:gd name="T39" fmla="*/ 765 h 1977"/>
                  <a:gd name="T40" fmla="*/ 112 w 2164"/>
                  <a:gd name="T41" fmla="*/ 1275 h 1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4" h="1977">
                    <a:moveTo>
                      <a:pt x="702" y="1977"/>
                    </a:moveTo>
                    <a:lnTo>
                      <a:pt x="0" y="1275"/>
                    </a:lnTo>
                    <a:lnTo>
                      <a:pt x="702" y="573"/>
                    </a:lnTo>
                    <a:lnTo>
                      <a:pt x="702" y="1006"/>
                    </a:lnTo>
                    <a:cubicBezTo>
                      <a:pt x="1369" y="943"/>
                      <a:pt x="1921" y="587"/>
                      <a:pt x="2054" y="131"/>
                    </a:cubicBezTo>
                    <a:lnTo>
                      <a:pt x="2092" y="0"/>
                    </a:lnTo>
                    <a:lnTo>
                      <a:pt x="2130" y="131"/>
                    </a:lnTo>
                    <a:cubicBezTo>
                      <a:pt x="2153" y="210"/>
                      <a:pt x="2164" y="290"/>
                      <a:pt x="2164" y="370"/>
                    </a:cubicBezTo>
                    <a:cubicBezTo>
                      <a:pt x="2164" y="967"/>
                      <a:pt x="1538" y="1466"/>
                      <a:pt x="702" y="1542"/>
                    </a:cubicBezTo>
                    <a:lnTo>
                      <a:pt x="702" y="1977"/>
                    </a:lnTo>
                    <a:lnTo>
                      <a:pt x="702" y="1977"/>
                    </a:lnTo>
                    <a:close/>
                    <a:moveTo>
                      <a:pt x="112" y="1275"/>
                    </a:moveTo>
                    <a:lnTo>
                      <a:pt x="622" y="1785"/>
                    </a:lnTo>
                    <a:lnTo>
                      <a:pt x="622" y="1468"/>
                    </a:lnTo>
                    <a:lnTo>
                      <a:pt x="659" y="1465"/>
                    </a:lnTo>
                    <a:cubicBezTo>
                      <a:pt x="1472" y="1404"/>
                      <a:pt x="2085" y="933"/>
                      <a:pt x="2085" y="370"/>
                    </a:cubicBezTo>
                    <a:cubicBezTo>
                      <a:pt x="2085" y="342"/>
                      <a:pt x="2083" y="314"/>
                      <a:pt x="2080" y="286"/>
                    </a:cubicBezTo>
                    <a:cubicBezTo>
                      <a:pt x="1877" y="723"/>
                      <a:pt x="1329" y="1039"/>
                      <a:pt x="665" y="1089"/>
                    </a:cubicBezTo>
                    <a:lnTo>
                      <a:pt x="622" y="1092"/>
                    </a:lnTo>
                    <a:lnTo>
                      <a:pt x="622" y="765"/>
                    </a:lnTo>
                    <a:lnTo>
                      <a:pt x="112" y="1275"/>
                    </a:lnTo>
                    <a:close/>
                  </a:path>
                </a:pathLst>
              </a:custGeom>
              <a:solidFill>
                <a:srgbClr val="6F1787"/>
              </a:solidFill>
              <a:ln w="12700" cap="flat" cmpd="sng" algn="ctr">
                <a:noFill/>
                <a:prstDash val="solid"/>
                <a:miter lim="800000"/>
              </a:ln>
              <a:effectLst/>
            </p:spPr>
            <p:txBody>
              <a:bodyPr lIns="51410" tIns="25705" rIns="51410" bIns="25705"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514350" fontAlgn="auto">
                  <a:spcBef>
                    <a:spcPts val="0"/>
                  </a:spcBef>
                  <a:spcAft>
                    <a:spcPts val="0"/>
                  </a:spcAft>
                  <a:defRPr/>
                </a:pPr>
                <a:endParaRPr lang="zh-CN" altLang="en-US" sz="790" dirty="0">
                  <a:solidFill>
                    <a:srgbClr val="FFFFFF"/>
                  </a:solidFill>
                  <a:latin typeface="微软雅黑" panose="020B0503020204020204" pitchFamily="82" charset="2"/>
                  <a:ea typeface="微软雅黑" panose="020B0503020204020204" pitchFamily="82" charset="2"/>
                </a:endParaRPr>
              </a:p>
            </p:txBody>
          </p:sp>
          <p:sp>
            <p:nvSpPr>
              <p:cNvPr id="162" name="矩形 52"/>
              <p:cNvSpPr>
                <a:spLocks noChangeArrowheads="1"/>
              </p:cNvSpPr>
              <p:nvPr/>
            </p:nvSpPr>
            <p:spPr bwMode="auto">
              <a:xfrm>
                <a:off x="5391306" y="4192552"/>
                <a:ext cx="421024" cy="179114"/>
              </a:xfrm>
              <a:prstGeom prst="rect">
                <a:avLst/>
              </a:prstGeom>
              <a:solidFill>
                <a:srgbClr val="666666"/>
              </a:solidFill>
              <a:ln>
                <a:noFill/>
              </a:ln>
            </p:spPr>
            <p:txBody>
              <a:bodyPr lIns="0" tIns="0" rIns="0" bIns="0">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defRPr/>
                </a:pPr>
                <a:r>
                  <a:rPr lang="zh-CN" altLang="en-US" sz="790" kern="0">
                    <a:solidFill>
                      <a:srgbClr val="FFFFFF"/>
                    </a:solidFill>
                    <a:latin typeface="微软雅黑" panose="020B0503020204020204" pitchFamily="82" charset="2"/>
                    <a:ea typeface="微软雅黑" panose="020B0503020204020204" pitchFamily="82" charset="2"/>
                  </a:rPr>
                  <a:t>扩展</a:t>
                </a:r>
              </a:p>
            </p:txBody>
          </p:sp>
          <p:grpSp>
            <p:nvGrpSpPr>
              <p:cNvPr id="163" name="组合 8"/>
              <p:cNvGrpSpPr/>
              <p:nvPr/>
            </p:nvGrpSpPr>
            <p:grpSpPr bwMode="auto">
              <a:xfrm>
                <a:off x="5799901" y="4256351"/>
                <a:ext cx="4727412" cy="667998"/>
                <a:chOff x="6104383" y="5387112"/>
                <a:chExt cx="4727890" cy="716800"/>
              </a:xfrm>
            </p:grpSpPr>
            <p:sp>
              <p:nvSpPr>
                <p:cNvPr id="164" name="矩形 163"/>
                <p:cNvSpPr/>
                <p:nvPr/>
              </p:nvSpPr>
              <p:spPr>
                <a:xfrm>
                  <a:off x="6591358" y="5505291"/>
                  <a:ext cx="4240915" cy="270447"/>
                </a:xfrm>
                <a:prstGeom prst="rect">
                  <a:avLst/>
                </a:prstGeom>
                <a:solidFill>
                  <a:srgbClr val="61B230">
                    <a:lumMod val="75000"/>
                  </a:srgb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165" name="椭圆 164"/>
                <p:cNvSpPr/>
                <p:nvPr/>
              </p:nvSpPr>
              <p:spPr>
                <a:xfrm>
                  <a:off x="6324580" y="5387112"/>
                  <a:ext cx="461567" cy="493169"/>
                </a:xfrm>
                <a:prstGeom prst="ellipse">
                  <a:avLst/>
                </a:prstGeom>
                <a:solidFill>
                  <a:srgbClr val="61B230">
                    <a:lumMod val="75000"/>
                  </a:srgbClr>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166" name="矩形 165"/>
                <p:cNvSpPr/>
                <p:nvPr/>
              </p:nvSpPr>
              <p:spPr>
                <a:xfrm>
                  <a:off x="6104383" y="5880281"/>
                  <a:ext cx="745283" cy="192199"/>
                </a:xfrm>
                <a:prstGeom prst="rect">
                  <a:avLst/>
                </a:prstGeom>
                <a:noFill/>
              </p:spPr>
              <p:txBody>
                <a:bodyPr lIns="0" tIns="0" rIns="0" bIns="0">
                  <a:spAutoFit/>
                </a:bodyPr>
                <a:lstStyle/>
                <a:p>
                  <a:pPr algn="ctr" defTabSz="514350" eaLnBrk="1" fontAlgn="auto" hangingPunct="1">
                    <a:spcBef>
                      <a:spcPts val="0"/>
                    </a:spcBef>
                    <a:spcAft>
                      <a:spcPts val="0"/>
                    </a:spcAft>
                    <a:defRPr/>
                  </a:pPr>
                  <a:r>
                    <a:rPr lang="en-US" altLang="zh-CN" sz="790" b="1" kern="0" dirty="0">
                      <a:solidFill>
                        <a:schemeClr val="bg2">
                          <a:lumMod val="50000"/>
                        </a:schemeClr>
                      </a:solidFill>
                      <a:latin typeface="微软雅黑" panose="020B0503020204020204" pitchFamily="82" charset="2"/>
                      <a:ea typeface="微软雅黑" panose="020B0503020204020204" pitchFamily="82" charset="2"/>
                    </a:rPr>
                    <a:t>NoSQL</a:t>
                  </a:r>
                  <a:endParaRPr lang="zh-CN" altLang="en-US" sz="790" b="1" kern="0" dirty="0">
                    <a:solidFill>
                      <a:schemeClr val="bg2">
                        <a:lumMod val="50000"/>
                      </a:schemeClr>
                    </a:solidFill>
                    <a:latin typeface="微软雅黑" panose="020B0503020204020204" pitchFamily="82" charset="2"/>
                    <a:ea typeface="微软雅黑" panose="020B0503020204020204" pitchFamily="82" charset="2"/>
                  </a:endParaRPr>
                </a:p>
              </p:txBody>
            </p:sp>
            <p:sp>
              <p:nvSpPr>
                <p:cNvPr id="167" name="矩形 166"/>
                <p:cNvSpPr/>
                <p:nvPr/>
              </p:nvSpPr>
              <p:spPr>
                <a:xfrm>
                  <a:off x="6902598" y="5800740"/>
                  <a:ext cx="584370" cy="292718"/>
                </a:xfrm>
                <a:prstGeom prst="rect">
                  <a:avLst/>
                </a:prstGeom>
                <a:noFill/>
              </p:spPr>
              <p:txBody>
                <a:bodyPr lIns="0" tIns="0" rIns="0" bIns="0">
                  <a:spAutoFit/>
                </a:bodyPr>
                <a:lstStyle/>
                <a:p>
                  <a:pPr algn="ctr" defTabSz="514350" eaLnBrk="1" fontAlgn="auto" hangingPunct="1">
                    <a:spcBef>
                      <a:spcPts val="0"/>
                    </a:spcBef>
                    <a:spcAft>
                      <a:spcPts val="0"/>
                    </a:spcAft>
                    <a:defRPr/>
                  </a:pPr>
                  <a:r>
                    <a:rPr lang="en-US" altLang="zh-CN" sz="600" kern="0" dirty="0">
                      <a:solidFill>
                        <a:schemeClr val="bg2">
                          <a:lumMod val="50000"/>
                        </a:schemeClr>
                      </a:solidFill>
                      <a:latin typeface="微软雅黑" panose="020B0503020204020204" pitchFamily="82" charset="2"/>
                      <a:ea typeface="微软雅黑" panose="020B0503020204020204" pitchFamily="82" charset="2"/>
                    </a:rPr>
                    <a:t>Google</a:t>
                  </a:r>
                </a:p>
                <a:p>
                  <a:pPr algn="ctr" defTabSz="514350" eaLnBrk="1" fontAlgn="auto" hangingPunct="1">
                    <a:spcBef>
                      <a:spcPts val="0"/>
                    </a:spcBef>
                    <a:spcAft>
                      <a:spcPts val="0"/>
                    </a:spcAft>
                    <a:defRPr/>
                  </a:pPr>
                  <a:r>
                    <a:rPr lang="en-US" altLang="zh-CN" sz="600" kern="0" dirty="0">
                      <a:solidFill>
                        <a:schemeClr val="bg2">
                          <a:lumMod val="50000"/>
                        </a:schemeClr>
                      </a:solidFill>
                      <a:latin typeface="微软雅黑" panose="020B0503020204020204" pitchFamily="82" charset="2"/>
                      <a:ea typeface="微软雅黑" panose="020B0503020204020204" pitchFamily="82" charset="2"/>
                    </a:rPr>
                    <a:t>Big Table</a:t>
                  </a:r>
                  <a:endParaRPr lang="zh-CN" altLang="en-US" sz="600" kern="0" dirty="0">
                    <a:solidFill>
                      <a:schemeClr val="bg2">
                        <a:lumMod val="50000"/>
                      </a:schemeClr>
                    </a:solidFill>
                    <a:latin typeface="微软雅黑" panose="020B0503020204020204" pitchFamily="82" charset="2"/>
                    <a:ea typeface="微软雅黑" panose="020B0503020204020204" pitchFamily="82" charset="2"/>
                  </a:endParaRPr>
                </a:p>
              </p:txBody>
            </p:sp>
            <p:sp>
              <p:nvSpPr>
                <p:cNvPr id="168" name="矩形 167"/>
                <p:cNvSpPr/>
                <p:nvPr/>
              </p:nvSpPr>
              <p:spPr>
                <a:xfrm>
                  <a:off x="7590715" y="5800738"/>
                  <a:ext cx="584370" cy="146359"/>
                </a:xfrm>
                <a:prstGeom prst="rect">
                  <a:avLst/>
                </a:prstGeom>
                <a:noFill/>
              </p:spPr>
              <p:txBody>
                <a:bodyPr lIns="0" tIns="0" rIns="0" bIns="0">
                  <a:spAutoFit/>
                </a:bodyPr>
                <a:lstStyle/>
                <a:p>
                  <a:pPr algn="ctr" defTabSz="514350" eaLnBrk="1" fontAlgn="auto" hangingPunct="1">
                    <a:spcBef>
                      <a:spcPts val="0"/>
                    </a:spcBef>
                    <a:spcAft>
                      <a:spcPts val="0"/>
                    </a:spcAft>
                    <a:defRPr/>
                  </a:pPr>
                  <a:r>
                    <a:rPr lang="en-US" altLang="zh-CN" sz="600" kern="0" dirty="0">
                      <a:solidFill>
                        <a:schemeClr val="bg2">
                          <a:lumMod val="50000"/>
                        </a:schemeClr>
                      </a:solidFill>
                      <a:latin typeface="微软雅黑" panose="020B0503020204020204" pitchFamily="82" charset="2"/>
                      <a:ea typeface="微软雅黑" panose="020B0503020204020204" pitchFamily="82" charset="2"/>
                    </a:rPr>
                    <a:t>CouchDB</a:t>
                  </a:r>
                  <a:endParaRPr lang="zh-CN" altLang="en-US" sz="600" kern="0" dirty="0">
                    <a:solidFill>
                      <a:schemeClr val="bg2">
                        <a:lumMod val="50000"/>
                      </a:schemeClr>
                    </a:solidFill>
                    <a:latin typeface="微软雅黑" panose="020B0503020204020204" pitchFamily="82" charset="2"/>
                    <a:ea typeface="微软雅黑" panose="020B0503020204020204" pitchFamily="82" charset="2"/>
                  </a:endParaRPr>
                </a:p>
              </p:txBody>
            </p:sp>
            <p:sp>
              <p:nvSpPr>
                <p:cNvPr id="169" name="矩形 168"/>
                <p:cNvSpPr/>
                <p:nvPr/>
              </p:nvSpPr>
              <p:spPr>
                <a:xfrm>
                  <a:off x="7558955" y="5957551"/>
                  <a:ext cx="645772" cy="146359"/>
                </a:xfrm>
                <a:prstGeom prst="rect">
                  <a:avLst/>
                </a:prstGeom>
                <a:noFill/>
              </p:spPr>
              <p:txBody>
                <a:bodyPr lIns="0" tIns="0" rIns="0" bIns="0">
                  <a:spAutoFit/>
                </a:bodyPr>
                <a:lstStyle/>
                <a:p>
                  <a:pPr algn="ctr" defTabSz="514350" eaLnBrk="1" fontAlgn="auto" hangingPunct="1">
                    <a:spcBef>
                      <a:spcPts val="0"/>
                    </a:spcBef>
                    <a:spcAft>
                      <a:spcPts val="0"/>
                    </a:spcAft>
                    <a:defRPr/>
                  </a:pPr>
                  <a:r>
                    <a:rPr lang="en-US" altLang="zh-CN" sz="600" kern="0" dirty="0">
                      <a:solidFill>
                        <a:schemeClr val="bg2">
                          <a:lumMod val="50000"/>
                        </a:schemeClr>
                      </a:solidFill>
                      <a:latin typeface="微软雅黑" panose="020B0503020204020204" pitchFamily="82" charset="2"/>
                      <a:ea typeface="微软雅黑" panose="020B0503020204020204" pitchFamily="82" charset="2"/>
                    </a:rPr>
                    <a:t>MongoDB</a:t>
                  </a:r>
                  <a:endParaRPr lang="zh-CN" altLang="en-US" sz="600" kern="0" dirty="0">
                    <a:solidFill>
                      <a:schemeClr val="bg2">
                        <a:lumMod val="50000"/>
                      </a:schemeClr>
                    </a:solidFill>
                    <a:latin typeface="微软雅黑" panose="020B0503020204020204" pitchFamily="82" charset="2"/>
                    <a:ea typeface="微软雅黑" panose="020B0503020204020204" pitchFamily="82" charset="2"/>
                  </a:endParaRPr>
                </a:p>
              </p:txBody>
            </p:sp>
            <p:sp>
              <p:nvSpPr>
                <p:cNvPr id="170" name="矩形 169"/>
                <p:cNvSpPr/>
                <p:nvPr/>
              </p:nvSpPr>
              <p:spPr>
                <a:xfrm>
                  <a:off x="8363532" y="5800740"/>
                  <a:ext cx="734690" cy="146359"/>
                </a:xfrm>
                <a:prstGeom prst="rect">
                  <a:avLst/>
                </a:prstGeom>
                <a:noFill/>
              </p:spPr>
              <p:txBody>
                <a:bodyPr wrap="square" lIns="0" tIns="0" rIns="0" bIns="0">
                  <a:spAutoFit/>
                </a:bodyPr>
                <a:lstStyle/>
                <a:p>
                  <a:pPr algn="ctr" defTabSz="514350" eaLnBrk="1" fontAlgn="auto" hangingPunct="1">
                    <a:spcBef>
                      <a:spcPts val="0"/>
                    </a:spcBef>
                    <a:spcAft>
                      <a:spcPts val="0"/>
                    </a:spcAft>
                    <a:defRPr/>
                  </a:pPr>
                  <a:r>
                    <a:rPr lang="en-US" altLang="zh-CN" sz="600" kern="0" dirty="0">
                      <a:solidFill>
                        <a:schemeClr val="bg2">
                          <a:lumMod val="50000"/>
                        </a:schemeClr>
                      </a:solidFill>
                      <a:latin typeface="微软雅黑" panose="020B0503020204020204" pitchFamily="82" charset="2"/>
                      <a:ea typeface="微软雅黑" panose="020B0503020204020204" pitchFamily="82" charset="2"/>
                    </a:rPr>
                    <a:t>Cassandra</a:t>
                  </a:r>
                  <a:endParaRPr lang="zh-CN" altLang="en-US" sz="600" kern="0" dirty="0">
                    <a:solidFill>
                      <a:schemeClr val="bg2">
                        <a:lumMod val="50000"/>
                      </a:schemeClr>
                    </a:solidFill>
                    <a:latin typeface="微软雅黑" panose="020B0503020204020204" pitchFamily="82" charset="2"/>
                    <a:ea typeface="微软雅黑" panose="020B0503020204020204" pitchFamily="82" charset="2"/>
                  </a:endParaRPr>
                </a:p>
              </p:txBody>
            </p:sp>
            <p:sp>
              <p:nvSpPr>
                <p:cNvPr id="171" name="矩形 170"/>
                <p:cNvSpPr/>
                <p:nvPr/>
              </p:nvSpPr>
              <p:spPr>
                <a:xfrm>
                  <a:off x="8539257" y="5957553"/>
                  <a:ext cx="387462" cy="146359"/>
                </a:xfrm>
                <a:prstGeom prst="rect">
                  <a:avLst/>
                </a:prstGeom>
                <a:noFill/>
              </p:spPr>
              <p:txBody>
                <a:bodyPr lIns="0" tIns="0" rIns="0" bIns="0">
                  <a:spAutoFit/>
                </a:bodyPr>
                <a:lstStyle/>
                <a:p>
                  <a:pPr algn="ctr" defTabSz="514350" eaLnBrk="1" fontAlgn="auto" hangingPunct="1">
                    <a:spcBef>
                      <a:spcPts val="0"/>
                    </a:spcBef>
                    <a:spcAft>
                      <a:spcPts val="0"/>
                    </a:spcAft>
                    <a:defRPr/>
                  </a:pPr>
                  <a:r>
                    <a:rPr lang="en-US" altLang="zh-CN" sz="600" kern="0" dirty="0">
                      <a:solidFill>
                        <a:schemeClr val="bg2">
                          <a:lumMod val="50000"/>
                        </a:schemeClr>
                      </a:solidFill>
                      <a:latin typeface="微软雅黑" panose="020B0503020204020204" pitchFamily="82" charset="2"/>
                      <a:ea typeface="微软雅黑" panose="020B0503020204020204" pitchFamily="82" charset="2"/>
                    </a:rPr>
                    <a:t>Redis</a:t>
                  </a:r>
                  <a:endParaRPr lang="zh-CN" altLang="en-US" sz="600" kern="0" dirty="0">
                    <a:solidFill>
                      <a:schemeClr val="bg2">
                        <a:lumMod val="50000"/>
                      </a:schemeClr>
                    </a:solidFill>
                    <a:latin typeface="微软雅黑" panose="020B0503020204020204" pitchFamily="82" charset="2"/>
                    <a:ea typeface="微软雅黑" panose="020B0503020204020204" pitchFamily="82" charset="2"/>
                  </a:endParaRPr>
                </a:p>
              </p:txBody>
            </p:sp>
            <p:sp>
              <p:nvSpPr>
                <p:cNvPr id="172" name="矩形 171"/>
                <p:cNvSpPr/>
                <p:nvPr/>
              </p:nvSpPr>
              <p:spPr>
                <a:xfrm>
                  <a:off x="9352293" y="5800737"/>
                  <a:ext cx="567425" cy="146359"/>
                </a:xfrm>
                <a:prstGeom prst="rect">
                  <a:avLst/>
                </a:prstGeom>
                <a:noFill/>
              </p:spPr>
              <p:txBody>
                <a:bodyPr wrap="square" lIns="0" tIns="0" rIns="0" bIns="0">
                  <a:spAutoFit/>
                </a:bodyPr>
                <a:lstStyle/>
                <a:p>
                  <a:pPr algn="ctr" defTabSz="514350" eaLnBrk="1" fontAlgn="auto" hangingPunct="1">
                    <a:spcBef>
                      <a:spcPts val="0"/>
                    </a:spcBef>
                    <a:spcAft>
                      <a:spcPts val="0"/>
                    </a:spcAft>
                    <a:defRPr/>
                  </a:pPr>
                  <a:r>
                    <a:rPr lang="en-US" altLang="zh-CN" sz="600" kern="0" dirty="0">
                      <a:solidFill>
                        <a:schemeClr val="bg2">
                          <a:lumMod val="50000"/>
                        </a:schemeClr>
                      </a:solidFill>
                      <a:latin typeface="微软雅黑" panose="020B0503020204020204" pitchFamily="82" charset="2"/>
                      <a:ea typeface="微软雅黑" panose="020B0503020204020204" pitchFamily="82" charset="2"/>
                    </a:rPr>
                    <a:t>Neo4J</a:t>
                  </a:r>
                  <a:endParaRPr lang="zh-CN" altLang="en-US" sz="600" kern="0" dirty="0">
                    <a:solidFill>
                      <a:schemeClr val="bg2">
                        <a:lumMod val="50000"/>
                      </a:schemeClr>
                    </a:solidFill>
                    <a:latin typeface="微软雅黑" panose="020B0503020204020204" pitchFamily="82" charset="2"/>
                    <a:ea typeface="微软雅黑" panose="020B0503020204020204" pitchFamily="82" charset="2"/>
                  </a:endParaRPr>
                </a:p>
              </p:txBody>
            </p:sp>
          </p:grpSp>
        </p:grpSp>
        <p:grpSp>
          <p:nvGrpSpPr>
            <p:cNvPr id="173" name="组合 172"/>
            <p:cNvGrpSpPr/>
            <p:nvPr/>
          </p:nvGrpSpPr>
          <p:grpSpPr bwMode="auto">
            <a:xfrm>
              <a:off x="6461864" y="3641543"/>
              <a:ext cx="3922253" cy="791270"/>
              <a:chOff x="6592194" y="3494859"/>
              <a:chExt cx="3953419" cy="815054"/>
            </a:xfrm>
          </p:grpSpPr>
          <p:grpSp>
            <p:nvGrpSpPr>
              <p:cNvPr id="174" name="组合 92"/>
              <p:cNvGrpSpPr/>
              <p:nvPr/>
            </p:nvGrpSpPr>
            <p:grpSpPr bwMode="auto">
              <a:xfrm>
                <a:off x="6659955" y="3494859"/>
                <a:ext cx="3885658" cy="704509"/>
                <a:chOff x="6659955" y="3447359"/>
                <a:chExt cx="3885658" cy="704509"/>
              </a:xfrm>
            </p:grpSpPr>
            <p:sp>
              <p:nvSpPr>
                <p:cNvPr id="181" name="Striped Right Arrow 45"/>
                <p:cNvSpPr/>
                <p:nvPr/>
              </p:nvSpPr>
              <p:spPr>
                <a:xfrm rot="16200000" flipH="1">
                  <a:off x="6725745" y="3808975"/>
                  <a:ext cx="327924" cy="357861"/>
                </a:xfrm>
                <a:custGeom>
                  <a:avLst/>
                  <a:gdLst>
                    <a:gd name="T0" fmla="*/ 702 w 2164"/>
                    <a:gd name="T1" fmla="*/ 1977 h 1977"/>
                    <a:gd name="T2" fmla="*/ 0 w 2164"/>
                    <a:gd name="T3" fmla="*/ 1275 h 1977"/>
                    <a:gd name="T4" fmla="*/ 702 w 2164"/>
                    <a:gd name="T5" fmla="*/ 573 h 1977"/>
                    <a:gd name="T6" fmla="*/ 702 w 2164"/>
                    <a:gd name="T7" fmla="*/ 1006 h 1977"/>
                    <a:gd name="T8" fmla="*/ 2054 w 2164"/>
                    <a:gd name="T9" fmla="*/ 131 h 1977"/>
                    <a:gd name="T10" fmla="*/ 2092 w 2164"/>
                    <a:gd name="T11" fmla="*/ 0 h 1977"/>
                    <a:gd name="T12" fmla="*/ 2130 w 2164"/>
                    <a:gd name="T13" fmla="*/ 131 h 1977"/>
                    <a:gd name="T14" fmla="*/ 2164 w 2164"/>
                    <a:gd name="T15" fmla="*/ 370 h 1977"/>
                    <a:gd name="T16" fmla="*/ 702 w 2164"/>
                    <a:gd name="T17" fmla="*/ 1542 h 1977"/>
                    <a:gd name="T18" fmla="*/ 702 w 2164"/>
                    <a:gd name="T19" fmla="*/ 1977 h 1977"/>
                    <a:gd name="T20" fmla="*/ 702 w 2164"/>
                    <a:gd name="T21" fmla="*/ 1977 h 1977"/>
                    <a:gd name="T22" fmla="*/ 112 w 2164"/>
                    <a:gd name="T23" fmla="*/ 1275 h 1977"/>
                    <a:gd name="T24" fmla="*/ 622 w 2164"/>
                    <a:gd name="T25" fmla="*/ 1785 h 1977"/>
                    <a:gd name="T26" fmla="*/ 622 w 2164"/>
                    <a:gd name="T27" fmla="*/ 1468 h 1977"/>
                    <a:gd name="T28" fmla="*/ 659 w 2164"/>
                    <a:gd name="T29" fmla="*/ 1465 h 1977"/>
                    <a:gd name="T30" fmla="*/ 2085 w 2164"/>
                    <a:gd name="T31" fmla="*/ 370 h 1977"/>
                    <a:gd name="T32" fmla="*/ 2080 w 2164"/>
                    <a:gd name="T33" fmla="*/ 286 h 1977"/>
                    <a:gd name="T34" fmla="*/ 665 w 2164"/>
                    <a:gd name="T35" fmla="*/ 1089 h 1977"/>
                    <a:gd name="T36" fmla="*/ 622 w 2164"/>
                    <a:gd name="T37" fmla="*/ 1092 h 1977"/>
                    <a:gd name="T38" fmla="*/ 622 w 2164"/>
                    <a:gd name="T39" fmla="*/ 765 h 1977"/>
                    <a:gd name="T40" fmla="*/ 112 w 2164"/>
                    <a:gd name="T41" fmla="*/ 1275 h 1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4" h="1977">
                      <a:moveTo>
                        <a:pt x="702" y="1977"/>
                      </a:moveTo>
                      <a:lnTo>
                        <a:pt x="0" y="1275"/>
                      </a:lnTo>
                      <a:lnTo>
                        <a:pt x="702" y="573"/>
                      </a:lnTo>
                      <a:lnTo>
                        <a:pt x="702" y="1006"/>
                      </a:lnTo>
                      <a:cubicBezTo>
                        <a:pt x="1369" y="943"/>
                        <a:pt x="1921" y="587"/>
                        <a:pt x="2054" y="131"/>
                      </a:cubicBezTo>
                      <a:lnTo>
                        <a:pt x="2092" y="0"/>
                      </a:lnTo>
                      <a:lnTo>
                        <a:pt x="2130" y="131"/>
                      </a:lnTo>
                      <a:cubicBezTo>
                        <a:pt x="2153" y="210"/>
                        <a:pt x="2164" y="290"/>
                        <a:pt x="2164" y="370"/>
                      </a:cubicBezTo>
                      <a:cubicBezTo>
                        <a:pt x="2164" y="967"/>
                        <a:pt x="1538" y="1466"/>
                        <a:pt x="702" y="1542"/>
                      </a:cubicBezTo>
                      <a:lnTo>
                        <a:pt x="702" y="1977"/>
                      </a:lnTo>
                      <a:lnTo>
                        <a:pt x="702" y="1977"/>
                      </a:lnTo>
                      <a:close/>
                      <a:moveTo>
                        <a:pt x="112" y="1275"/>
                      </a:moveTo>
                      <a:lnTo>
                        <a:pt x="622" y="1785"/>
                      </a:lnTo>
                      <a:lnTo>
                        <a:pt x="622" y="1468"/>
                      </a:lnTo>
                      <a:lnTo>
                        <a:pt x="659" y="1465"/>
                      </a:lnTo>
                      <a:cubicBezTo>
                        <a:pt x="1472" y="1404"/>
                        <a:pt x="2085" y="933"/>
                        <a:pt x="2085" y="370"/>
                      </a:cubicBezTo>
                      <a:cubicBezTo>
                        <a:pt x="2085" y="342"/>
                        <a:pt x="2083" y="314"/>
                        <a:pt x="2080" y="286"/>
                      </a:cubicBezTo>
                      <a:cubicBezTo>
                        <a:pt x="1877" y="723"/>
                        <a:pt x="1329" y="1039"/>
                        <a:pt x="665" y="1089"/>
                      </a:cubicBezTo>
                      <a:lnTo>
                        <a:pt x="622" y="1092"/>
                      </a:lnTo>
                      <a:lnTo>
                        <a:pt x="622" y="765"/>
                      </a:lnTo>
                      <a:lnTo>
                        <a:pt x="112" y="1275"/>
                      </a:lnTo>
                      <a:close/>
                    </a:path>
                  </a:pathLst>
                </a:custGeom>
                <a:solidFill>
                  <a:srgbClr val="0070C0"/>
                </a:solidFill>
                <a:ln w="12700" cap="flat" cmpd="sng" algn="ctr">
                  <a:noFill/>
                  <a:prstDash val="solid"/>
                  <a:miter lim="800000"/>
                </a:ln>
                <a:effectLst/>
              </p:spPr>
              <p:txBody>
                <a:bodyPr lIns="51410" tIns="25705" rIns="51410" bIns="25705"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514350" fontAlgn="auto">
                    <a:spcBef>
                      <a:spcPts val="0"/>
                    </a:spcBef>
                    <a:spcAft>
                      <a:spcPts val="0"/>
                    </a:spcAft>
                    <a:defRPr/>
                  </a:pPr>
                  <a:endParaRPr lang="zh-CN" altLang="en-US" sz="790">
                    <a:solidFill>
                      <a:srgbClr val="FFFFFF"/>
                    </a:solidFill>
                    <a:latin typeface="微软雅黑" panose="020B0503020204020204" pitchFamily="82" charset="2"/>
                    <a:ea typeface="微软雅黑" panose="020B0503020204020204" pitchFamily="82" charset="2"/>
                  </a:endParaRPr>
                </a:p>
              </p:txBody>
            </p:sp>
            <p:sp>
              <p:nvSpPr>
                <p:cNvPr id="183" name="Striped Right Arrow 45"/>
                <p:cNvSpPr/>
                <p:nvPr/>
              </p:nvSpPr>
              <p:spPr>
                <a:xfrm rot="5400000" flipH="1" flipV="1">
                  <a:off x="6713051" y="3432378"/>
                  <a:ext cx="357543" cy="387506"/>
                </a:xfrm>
                <a:custGeom>
                  <a:avLst/>
                  <a:gdLst>
                    <a:gd name="T0" fmla="*/ 702 w 2164"/>
                    <a:gd name="T1" fmla="*/ 1977 h 1977"/>
                    <a:gd name="T2" fmla="*/ 0 w 2164"/>
                    <a:gd name="T3" fmla="*/ 1275 h 1977"/>
                    <a:gd name="T4" fmla="*/ 702 w 2164"/>
                    <a:gd name="T5" fmla="*/ 573 h 1977"/>
                    <a:gd name="T6" fmla="*/ 702 w 2164"/>
                    <a:gd name="T7" fmla="*/ 1006 h 1977"/>
                    <a:gd name="T8" fmla="*/ 2054 w 2164"/>
                    <a:gd name="T9" fmla="*/ 131 h 1977"/>
                    <a:gd name="T10" fmla="*/ 2092 w 2164"/>
                    <a:gd name="T11" fmla="*/ 0 h 1977"/>
                    <a:gd name="T12" fmla="*/ 2130 w 2164"/>
                    <a:gd name="T13" fmla="*/ 131 h 1977"/>
                    <a:gd name="T14" fmla="*/ 2164 w 2164"/>
                    <a:gd name="T15" fmla="*/ 370 h 1977"/>
                    <a:gd name="T16" fmla="*/ 702 w 2164"/>
                    <a:gd name="T17" fmla="*/ 1542 h 1977"/>
                    <a:gd name="T18" fmla="*/ 702 w 2164"/>
                    <a:gd name="T19" fmla="*/ 1977 h 1977"/>
                    <a:gd name="T20" fmla="*/ 702 w 2164"/>
                    <a:gd name="T21" fmla="*/ 1977 h 1977"/>
                    <a:gd name="T22" fmla="*/ 112 w 2164"/>
                    <a:gd name="T23" fmla="*/ 1275 h 1977"/>
                    <a:gd name="T24" fmla="*/ 622 w 2164"/>
                    <a:gd name="T25" fmla="*/ 1785 h 1977"/>
                    <a:gd name="T26" fmla="*/ 622 w 2164"/>
                    <a:gd name="T27" fmla="*/ 1468 h 1977"/>
                    <a:gd name="T28" fmla="*/ 659 w 2164"/>
                    <a:gd name="T29" fmla="*/ 1465 h 1977"/>
                    <a:gd name="T30" fmla="*/ 2085 w 2164"/>
                    <a:gd name="T31" fmla="*/ 370 h 1977"/>
                    <a:gd name="T32" fmla="*/ 2080 w 2164"/>
                    <a:gd name="T33" fmla="*/ 286 h 1977"/>
                    <a:gd name="T34" fmla="*/ 665 w 2164"/>
                    <a:gd name="T35" fmla="*/ 1089 h 1977"/>
                    <a:gd name="T36" fmla="*/ 622 w 2164"/>
                    <a:gd name="T37" fmla="*/ 1092 h 1977"/>
                    <a:gd name="T38" fmla="*/ 622 w 2164"/>
                    <a:gd name="T39" fmla="*/ 765 h 1977"/>
                    <a:gd name="T40" fmla="*/ 112 w 2164"/>
                    <a:gd name="T41" fmla="*/ 1275 h 1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4" h="1977">
                      <a:moveTo>
                        <a:pt x="702" y="1977"/>
                      </a:moveTo>
                      <a:lnTo>
                        <a:pt x="0" y="1275"/>
                      </a:lnTo>
                      <a:lnTo>
                        <a:pt x="702" y="573"/>
                      </a:lnTo>
                      <a:lnTo>
                        <a:pt x="702" y="1006"/>
                      </a:lnTo>
                      <a:cubicBezTo>
                        <a:pt x="1369" y="943"/>
                        <a:pt x="1921" y="587"/>
                        <a:pt x="2054" y="131"/>
                      </a:cubicBezTo>
                      <a:lnTo>
                        <a:pt x="2092" y="0"/>
                      </a:lnTo>
                      <a:lnTo>
                        <a:pt x="2130" y="131"/>
                      </a:lnTo>
                      <a:cubicBezTo>
                        <a:pt x="2153" y="210"/>
                        <a:pt x="2164" y="290"/>
                        <a:pt x="2164" y="370"/>
                      </a:cubicBezTo>
                      <a:cubicBezTo>
                        <a:pt x="2164" y="967"/>
                        <a:pt x="1538" y="1466"/>
                        <a:pt x="702" y="1542"/>
                      </a:cubicBezTo>
                      <a:lnTo>
                        <a:pt x="702" y="1977"/>
                      </a:lnTo>
                      <a:lnTo>
                        <a:pt x="702" y="1977"/>
                      </a:lnTo>
                      <a:close/>
                      <a:moveTo>
                        <a:pt x="112" y="1275"/>
                      </a:moveTo>
                      <a:lnTo>
                        <a:pt x="622" y="1785"/>
                      </a:lnTo>
                      <a:lnTo>
                        <a:pt x="622" y="1468"/>
                      </a:lnTo>
                      <a:lnTo>
                        <a:pt x="659" y="1465"/>
                      </a:lnTo>
                      <a:cubicBezTo>
                        <a:pt x="1472" y="1404"/>
                        <a:pt x="2085" y="933"/>
                        <a:pt x="2085" y="370"/>
                      </a:cubicBezTo>
                      <a:cubicBezTo>
                        <a:pt x="2085" y="342"/>
                        <a:pt x="2083" y="314"/>
                        <a:pt x="2080" y="286"/>
                      </a:cubicBezTo>
                      <a:cubicBezTo>
                        <a:pt x="1877" y="723"/>
                        <a:pt x="1329" y="1039"/>
                        <a:pt x="665" y="1089"/>
                      </a:cubicBezTo>
                      <a:lnTo>
                        <a:pt x="622" y="1092"/>
                      </a:lnTo>
                      <a:lnTo>
                        <a:pt x="622" y="765"/>
                      </a:lnTo>
                      <a:lnTo>
                        <a:pt x="112" y="1275"/>
                      </a:lnTo>
                      <a:close/>
                    </a:path>
                  </a:pathLst>
                </a:custGeom>
                <a:solidFill>
                  <a:srgbClr val="30B5C5"/>
                </a:solidFill>
                <a:ln w="12700" cap="flat" cmpd="sng" algn="ctr">
                  <a:noFill/>
                  <a:prstDash val="solid"/>
                  <a:miter lim="800000"/>
                </a:ln>
                <a:effectLst/>
              </p:spPr>
              <p:txBody>
                <a:bodyPr lIns="51410" tIns="25705" rIns="51410" bIns="25705"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514350" fontAlgn="auto">
                    <a:spcBef>
                      <a:spcPts val="0"/>
                    </a:spcBef>
                    <a:spcAft>
                      <a:spcPts val="0"/>
                    </a:spcAft>
                    <a:defRPr/>
                  </a:pPr>
                  <a:endParaRPr lang="zh-CN" altLang="en-US" sz="790">
                    <a:solidFill>
                      <a:srgbClr val="15B0E8"/>
                    </a:solidFill>
                    <a:latin typeface="微软雅黑" panose="020B0503020204020204" pitchFamily="82" charset="2"/>
                    <a:ea typeface="微软雅黑" panose="020B0503020204020204" pitchFamily="82" charset="2"/>
                  </a:endParaRPr>
                </a:p>
              </p:txBody>
            </p:sp>
            <p:sp>
              <p:nvSpPr>
                <p:cNvPr id="176" name="矩形 175"/>
                <p:cNvSpPr/>
                <p:nvPr/>
              </p:nvSpPr>
              <p:spPr>
                <a:xfrm>
                  <a:off x="7322740" y="3754127"/>
                  <a:ext cx="3222873" cy="239069"/>
                </a:xfrm>
                <a:prstGeom prst="rect">
                  <a:avLst/>
                </a:prstGeom>
                <a:solidFill>
                  <a:srgbClr val="C00000"/>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177" name="椭圆 176"/>
                <p:cNvSpPr/>
                <p:nvPr/>
              </p:nvSpPr>
              <p:spPr>
                <a:xfrm>
                  <a:off x="7026286" y="3680080"/>
                  <a:ext cx="383273" cy="387163"/>
                </a:xfrm>
                <a:prstGeom prst="ellipse">
                  <a:avLst/>
                </a:prstGeom>
                <a:solidFill>
                  <a:srgbClr val="C00000"/>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178" name="文本框 177"/>
                <p:cNvSpPr txBox="1"/>
                <p:nvPr/>
              </p:nvSpPr>
              <p:spPr>
                <a:xfrm>
                  <a:off x="7430733" y="3489232"/>
                  <a:ext cx="1446269" cy="170307"/>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en-US" altLang="zh-CN" sz="750" b="1" kern="0" dirty="0">
                      <a:solidFill>
                        <a:srgbClr val="C00000"/>
                      </a:solidFill>
                      <a:latin typeface="微软雅黑" panose="020B0503020204020204" pitchFamily="82" charset="2"/>
                      <a:ea typeface="微软雅黑" panose="020B0503020204020204" pitchFamily="82" charset="2"/>
                    </a:rPr>
                    <a:t>NewSQL</a:t>
                  </a:r>
                  <a:endParaRPr lang="zh-CN" altLang="en-US" sz="750" b="1" kern="0" dirty="0">
                    <a:solidFill>
                      <a:srgbClr val="C00000"/>
                    </a:solidFill>
                    <a:latin typeface="微软雅黑" panose="020B0503020204020204" pitchFamily="82" charset="2"/>
                    <a:ea typeface="微软雅黑" panose="020B0503020204020204" pitchFamily="82" charset="2"/>
                  </a:endParaRPr>
                </a:p>
              </p:txBody>
            </p:sp>
            <p:sp>
              <p:nvSpPr>
                <p:cNvPr id="179" name="文本框 178"/>
                <p:cNvSpPr txBox="1"/>
                <p:nvPr/>
              </p:nvSpPr>
              <p:spPr>
                <a:xfrm>
                  <a:off x="8665252" y="3984733"/>
                  <a:ext cx="1880361" cy="136246"/>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en-US" altLang="zh-CN" sz="600" kern="0" dirty="0" err="1">
                      <a:solidFill>
                        <a:srgbClr val="C00000"/>
                      </a:solidFill>
                      <a:latin typeface="微软雅黑" panose="020B0503020204020204" pitchFamily="82" charset="2"/>
                      <a:ea typeface="微软雅黑" panose="020B0503020204020204" pitchFamily="82" charset="2"/>
                    </a:rPr>
                    <a:t>GaussDB</a:t>
                  </a:r>
                  <a:r>
                    <a:rPr lang="zh-CN" altLang="en-US" sz="600" kern="0" dirty="0">
                      <a:solidFill>
                        <a:srgbClr val="C00000"/>
                      </a:solidFill>
                      <a:latin typeface="微软雅黑" panose="020B0503020204020204" pitchFamily="82" charset="2"/>
                      <a:ea typeface="微软雅黑" panose="020B0503020204020204" pitchFamily="82" charset="2"/>
                    </a:rPr>
                    <a:t>  </a:t>
                  </a:r>
                  <a:r>
                    <a:rPr lang="en-US" altLang="zh-CN" sz="600" kern="0" dirty="0" err="1">
                      <a:solidFill>
                        <a:srgbClr val="C00000"/>
                      </a:solidFill>
                      <a:latin typeface="微软雅黑" panose="020B0503020204020204" pitchFamily="82" charset="2"/>
                      <a:ea typeface="微软雅黑" panose="020B0503020204020204" pitchFamily="82" charset="2"/>
                    </a:rPr>
                    <a:t>Oceanbase</a:t>
                  </a:r>
                  <a:r>
                    <a:rPr lang="zh-CN" altLang="en-US" sz="600" kern="0" dirty="0">
                      <a:solidFill>
                        <a:srgbClr val="C00000"/>
                      </a:solidFill>
                      <a:latin typeface="微软雅黑" panose="020B0503020204020204" pitchFamily="82" charset="2"/>
                      <a:ea typeface="微软雅黑" panose="020B0503020204020204" pitchFamily="82" charset="2"/>
                    </a:rPr>
                    <a:t> </a:t>
                  </a:r>
                  <a:r>
                    <a:rPr lang="en-US" altLang="zh-CN" sz="600" kern="0" dirty="0">
                      <a:solidFill>
                        <a:srgbClr val="C00000"/>
                      </a:solidFill>
                      <a:latin typeface="微软雅黑" panose="020B0503020204020204" pitchFamily="82" charset="2"/>
                      <a:ea typeface="微软雅黑" panose="020B0503020204020204" pitchFamily="82" charset="2"/>
                    </a:rPr>
                    <a:t>TIDB</a:t>
                  </a:r>
                  <a:endParaRPr lang="zh-CN" altLang="en-US" sz="600" kern="0" dirty="0">
                    <a:solidFill>
                      <a:srgbClr val="C00000"/>
                    </a:solidFill>
                    <a:latin typeface="微软雅黑" panose="020B0503020204020204" pitchFamily="82" charset="2"/>
                    <a:ea typeface="微软雅黑" panose="020B0503020204020204" pitchFamily="82" charset="2"/>
                  </a:endParaRPr>
                </a:p>
              </p:txBody>
            </p:sp>
            <p:sp>
              <p:nvSpPr>
                <p:cNvPr id="180" name="文本框 179"/>
                <p:cNvSpPr txBox="1"/>
                <p:nvPr/>
              </p:nvSpPr>
              <p:spPr>
                <a:xfrm>
                  <a:off x="7570491" y="3976269"/>
                  <a:ext cx="982532" cy="136246"/>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en-US" altLang="zh-CN" sz="600" kern="0" dirty="0">
                      <a:solidFill>
                        <a:srgbClr val="C00000"/>
                      </a:solidFill>
                      <a:latin typeface="微软雅黑" panose="020B0503020204020204" pitchFamily="82" charset="2"/>
                      <a:ea typeface="微软雅黑" panose="020B0503020204020204" pitchFamily="82" charset="2"/>
                    </a:rPr>
                    <a:t>Google Spanner</a:t>
                  </a:r>
                  <a:endParaRPr lang="zh-CN" altLang="en-US" sz="600" kern="0" dirty="0">
                    <a:solidFill>
                      <a:srgbClr val="C00000"/>
                    </a:solidFill>
                    <a:latin typeface="微软雅黑" panose="020B0503020204020204" pitchFamily="82" charset="2"/>
                    <a:ea typeface="微软雅黑" panose="020B0503020204020204" pitchFamily="82" charset="2"/>
                  </a:endParaRPr>
                </a:p>
              </p:txBody>
            </p:sp>
            <p:sp>
              <p:nvSpPr>
                <p:cNvPr id="182" name="矩形 181"/>
                <p:cNvSpPr/>
                <p:nvPr/>
              </p:nvSpPr>
              <p:spPr>
                <a:xfrm>
                  <a:off x="6659955" y="3460054"/>
                  <a:ext cx="635258" cy="178919"/>
                </a:xfrm>
                <a:prstGeom prst="rect">
                  <a:avLst/>
                </a:prstGeom>
                <a:solidFill>
                  <a:srgbClr val="666666"/>
                </a:solidFill>
              </p:spPr>
              <p:txBody>
                <a:bodyPr lIns="0" tIns="0" rIns="0" bIns="0">
                  <a:spAutoFit/>
                </a:bodyPr>
                <a:lstStyle/>
                <a:p>
                  <a:pPr algn="ctr" defTabSz="514350" eaLnBrk="1" fontAlgn="auto" hangingPunct="1">
                    <a:spcBef>
                      <a:spcPts val="0"/>
                    </a:spcBef>
                    <a:spcAft>
                      <a:spcPts val="0"/>
                    </a:spcAft>
                    <a:defRPr/>
                  </a:pPr>
                  <a:r>
                    <a:rPr lang="zh-CN" altLang="en-US" sz="790" kern="0" dirty="0">
                      <a:solidFill>
                        <a:srgbClr val="FFFFFF"/>
                      </a:solidFill>
                      <a:latin typeface="微软雅黑" panose="020B0503020204020204" pitchFamily="82" charset="2"/>
                      <a:ea typeface="微软雅黑" panose="020B0503020204020204" pitchFamily="82" charset="2"/>
                    </a:rPr>
                    <a:t>高可扩展</a:t>
                  </a:r>
                </a:p>
              </p:txBody>
            </p:sp>
          </p:grpSp>
          <p:sp>
            <p:nvSpPr>
              <p:cNvPr id="175" name="矩形 88"/>
              <p:cNvSpPr>
                <a:spLocks noChangeArrowheads="1"/>
              </p:cNvSpPr>
              <p:nvPr/>
            </p:nvSpPr>
            <p:spPr bwMode="auto">
              <a:xfrm>
                <a:off x="6592194" y="4130994"/>
                <a:ext cx="634277" cy="178919"/>
              </a:xfrm>
              <a:prstGeom prst="rect">
                <a:avLst/>
              </a:prstGeom>
              <a:solidFill>
                <a:srgbClr val="666666"/>
              </a:solidFill>
              <a:ln>
                <a:noFill/>
              </a:ln>
            </p:spPr>
            <p:txBody>
              <a:bodyPr lIns="0" tIns="0" rIns="0" bIns="0">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defRPr/>
                </a:pPr>
                <a:r>
                  <a:rPr lang="en-US" altLang="zh-CN" sz="790" kern="0">
                    <a:solidFill>
                      <a:srgbClr val="FFFFFF"/>
                    </a:solidFill>
                    <a:latin typeface="微软雅黑" panose="020B0503020204020204" pitchFamily="82" charset="2"/>
                    <a:ea typeface="微软雅黑" panose="020B0503020204020204" pitchFamily="82" charset="2"/>
                  </a:rPr>
                  <a:t>ACID</a:t>
                </a:r>
                <a:endParaRPr lang="zh-CN" altLang="en-US" sz="790" kern="0">
                  <a:solidFill>
                    <a:srgbClr val="FFFFFF"/>
                  </a:solidFill>
                  <a:latin typeface="微软雅黑" panose="020B0503020204020204" pitchFamily="82" charset="2"/>
                  <a:ea typeface="微软雅黑" panose="020B0503020204020204" pitchFamily="82" charset="2"/>
                </a:endParaRPr>
              </a:p>
            </p:txBody>
          </p:sp>
        </p:grpSp>
        <p:grpSp>
          <p:nvGrpSpPr>
            <p:cNvPr id="184" name="组合 183"/>
            <p:cNvGrpSpPr/>
            <p:nvPr/>
          </p:nvGrpSpPr>
          <p:grpSpPr bwMode="auto">
            <a:xfrm>
              <a:off x="445080" y="2729605"/>
              <a:ext cx="867643" cy="938035"/>
              <a:chOff x="527713" y="2553698"/>
              <a:chExt cx="873865" cy="967875"/>
            </a:xfrm>
          </p:grpSpPr>
          <p:sp>
            <p:nvSpPr>
              <p:cNvPr id="185" name="矩形 184"/>
              <p:cNvSpPr/>
              <p:nvPr/>
            </p:nvSpPr>
            <p:spPr>
              <a:xfrm>
                <a:off x="578496" y="2983904"/>
                <a:ext cx="823082" cy="537669"/>
              </a:xfrm>
              <a:prstGeom prst="rect">
                <a:avLst/>
              </a:prstGeom>
            </p:spPr>
            <p:txBody>
              <a:bodyPr lIns="0" tIns="0" rIns="0" bIns="0">
                <a:spAutoFit/>
              </a:bodyPr>
              <a:lstStyle/>
              <a:p>
                <a:pPr defTabSz="514350" eaLnBrk="1" fontAlgn="auto" hangingPunct="1">
                  <a:spcBef>
                    <a:spcPts val="0"/>
                  </a:spcBef>
                  <a:spcAft>
                    <a:spcPts val="0"/>
                  </a:spcAft>
                  <a:defRPr/>
                </a:pPr>
                <a:r>
                  <a:rPr lang="zh-CN" altLang="en-US" sz="790" b="1" kern="0" dirty="0">
                    <a:solidFill>
                      <a:srgbClr val="FFDF4F">
                        <a:lumMod val="50000"/>
                      </a:srgbClr>
                    </a:solidFill>
                    <a:latin typeface="微软雅黑" panose="020B0503020204020204" pitchFamily="82" charset="2"/>
                    <a:ea typeface="微软雅黑" panose="020B0503020204020204" pitchFamily="82" charset="2"/>
                  </a:rPr>
                  <a:t>层次型数据库</a:t>
                </a:r>
                <a:endParaRPr lang="en-US" altLang="zh-CN" sz="790" b="1" kern="0" dirty="0">
                  <a:solidFill>
                    <a:srgbClr val="FFDF4F">
                      <a:lumMod val="50000"/>
                    </a:srgbClr>
                  </a:solidFill>
                  <a:latin typeface="微软雅黑" panose="020B0503020204020204" pitchFamily="82" charset="2"/>
                  <a:ea typeface="微软雅黑" panose="020B0503020204020204" pitchFamily="82" charset="2"/>
                </a:endParaRPr>
              </a:p>
              <a:p>
                <a:pPr defTabSz="514350" eaLnBrk="1" fontAlgn="auto" hangingPunct="1">
                  <a:spcBef>
                    <a:spcPts val="0"/>
                  </a:spcBef>
                  <a:spcAft>
                    <a:spcPts val="0"/>
                  </a:spcAft>
                  <a:defRPr/>
                </a:pPr>
                <a:r>
                  <a:rPr lang="en-US" altLang="zh-CN" sz="790" kern="0" dirty="0">
                    <a:solidFill>
                      <a:srgbClr val="FFDF4F">
                        <a:lumMod val="50000"/>
                      </a:srgbClr>
                    </a:solidFill>
                    <a:latin typeface="微软雅黑" panose="020B0503020204020204" pitchFamily="82" charset="2"/>
                    <a:ea typeface="微软雅黑" panose="020B0503020204020204" pitchFamily="82" charset="2"/>
                  </a:rPr>
                  <a:t>IBM</a:t>
                </a:r>
                <a:endParaRPr lang="zh-CN" altLang="en-US" sz="790" kern="0" dirty="0">
                  <a:solidFill>
                    <a:srgbClr val="FFDF4F">
                      <a:lumMod val="50000"/>
                    </a:srgbClr>
                  </a:solidFill>
                  <a:latin typeface="微软雅黑" panose="020B0503020204020204" pitchFamily="82" charset="2"/>
                  <a:ea typeface="微软雅黑" panose="020B0503020204020204" pitchFamily="82" charset="2"/>
                </a:endParaRPr>
              </a:p>
            </p:txBody>
          </p:sp>
          <p:sp>
            <p:nvSpPr>
              <p:cNvPr id="186" name="矩形 185"/>
              <p:cNvSpPr/>
              <p:nvPr/>
            </p:nvSpPr>
            <p:spPr>
              <a:xfrm>
                <a:off x="686405" y="2617275"/>
                <a:ext cx="520511" cy="161063"/>
              </a:xfrm>
              <a:prstGeom prst="rect">
                <a:avLst/>
              </a:prstGeom>
              <a:solidFill>
                <a:srgbClr val="666666">
                  <a:lumMod val="60000"/>
                  <a:lumOff val="40000"/>
                </a:srgb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187" name="椭圆 186"/>
              <p:cNvSpPr/>
              <p:nvPr/>
            </p:nvSpPr>
            <p:spPr>
              <a:xfrm>
                <a:off x="527713" y="2553698"/>
                <a:ext cx="287762" cy="288218"/>
              </a:xfrm>
              <a:prstGeom prst="ellipse">
                <a:avLst/>
              </a:prstGeom>
              <a:solidFill>
                <a:srgbClr val="666666">
                  <a:lumMod val="60000"/>
                  <a:lumOff val="40000"/>
                </a:srgbClr>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grpSp>
        <p:grpSp>
          <p:nvGrpSpPr>
            <p:cNvPr id="188" name="组合 187"/>
            <p:cNvGrpSpPr/>
            <p:nvPr/>
          </p:nvGrpSpPr>
          <p:grpSpPr bwMode="auto">
            <a:xfrm>
              <a:off x="428274" y="3791041"/>
              <a:ext cx="846632" cy="854249"/>
              <a:chOff x="509493" y="3648398"/>
              <a:chExt cx="854139" cy="880521"/>
            </a:xfrm>
          </p:grpSpPr>
          <p:sp>
            <p:nvSpPr>
              <p:cNvPr id="189" name="矩形 188"/>
              <p:cNvSpPr/>
              <p:nvPr/>
            </p:nvSpPr>
            <p:spPr>
              <a:xfrm>
                <a:off x="509493" y="3991802"/>
                <a:ext cx="854139" cy="537117"/>
              </a:xfrm>
              <a:prstGeom prst="rect">
                <a:avLst/>
              </a:prstGeom>
            </p:spPr>
            <p:txBody>
              <a:bodyPr wrap="square" lIns="0" tIns="0" rIns="0" bIns="0">
                <a:spAutoFit/>
              </a:bodyPr>
              <a:lstStyle/>
              <a:p>
                <a:pPr defTabSz="514350" eaLnBrk="1" fontAlgn="auto" hangingPunct="1">
                  <a:spcBef>
                    <a:spcPts val="0"/>
                  </a:spcBef>
                  <a:spcAft>
                    <a:spcPts val="0"/>
                  </a:spcAft>
                  <a:defRPr/>
                </a:pPr>
                <a:r>
                  <a:rPr lang="zh-CN" altLang="en-US" sz="790" b="1" kern="0" dirty="0">
                    <a:solidFill>
                      <a:srgbClr val="660066"/>
                    </a:solidFill>
                    <a:latin typeface="微软雅黑" panose="020B0503020204020204" pitchFamily="82" charset="2"/>
                    <a:ea typeface="微软雅黑" panose="020B0503020204020204" pitchFamily="82" charset="2"/>
                  </a:rPr>
                  <a:t>网状型数据库</a:t>
                </a:r>
                <a:endParaRPr lang="en-US" altLang="zh-CN" sz="790" b="1" kern="0" dirty="0">
                  <a:solidFill>
                    <a:srgbClr val="660066"/>
                  </a:solidFill>
                  <a:latin typeface="微软雅黑" panose="020B0503020204020204" pitchFamily="82" charset="2"/>
                  <a:ea typeface="微软雅黑" panose="020B0503020204020204" pitchFamily="82" charset="2"/>
                </a:endParaRPr>
              </a:p>
              <a:p>
                <a:pPr defTabSz="514350" eaLnBrk="1" fontAlgn="auto" hangingPunct="1">
                  <a:spcBef>
                    <a:spcPts val="0"/>
                  </a:spcBef>
                  <a:spcAft>
                    <a:spcPts val="0"/>
                  </a:spcAft>
                  <a:defRPr/>
                </a:pPr>
                <a:r>
                  <a:rPr lang="en-US" altLang="zh-CN" sz="790" kern="0" dirty="0">
                    <a:solidFill>
                      <a:srgbClr val="660066"/>
                    </a:solidFill>
                    <a:latin typeface="微软雅黑" panose="020B0503020204020204" pitchFamily="82" charset="2"/>
                    <a:ea typeface="微软雅黑" panose="020B0503020204020204" pitchFamily="82" charset="2"/>
                  </a:rPr>
                  <a:t>CODASTY</a:t>
                </a:r>
                <a:endParaRPr lang="zh-CN" altLang="en-US" sz="790" kern="0" dirty="0">
                  <a:solidFill>
                    <a:srgbClr val="660066"/>
                  </a:solidFill>
                  <a:latin typeface="微软雅黑" panose="020B0503020204020204" pitchFamily="82" charset="2"/>
                  <a:ea typeface="微软雅黑" panose="020B0503020204020204" pitchFamily="82" charset="2"/>
                </a:endParaRPr>
              </a:p>
            </p:txBody>
          </p:sp>
          <p:sp>
            <p:nvSpPr>
              <p:cNvPr id="190" name="矩形 189"/>
              <p:cNvSpPr/>
              <p:nvPr/>
            </p:nvSpPr>
            <p:spPr>
              <a:xfrm>
                <a:off x="715080" y="3727169"/>
                <a:ext cx="521387" cy="158780"/>
              </a:xfrm>
              <a:prstGeom prst="rect">
                <a:avLst/>
              </a:prstGeom>
              <a:solidFill>
                <a:srgbClr val="666666">
                  <a:lumMod val="50000"/>
                </a:srgb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191" name="椭圆 190"/>
              <p:cNvSpPr/>
              <p:nvPr/>
            </p:nvSpPr>
            <p:spPr>
              <a:xfrm>
                <a:off x="558240" y="3648398"/>
                <a:ext cx="288246" cy="305754"/>
              </a:xfrm>
              <a:prstGeom prst="ellipse">
                <a:avLst/>
              </a:prstGeom>
              <a:solidFill>
                <a:srgbClr val="666666">
                  <a:lumMod val="50000"/>
                </a:srgbClr>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grpSp>
        <p:sp>
          <p:nvSpPr>
            <p:cNvPr id="192" name="矩形 191"/>
            <p:cNvSpPr/>
            <p:nvPr/>
          </p:nvSpPr>
          <p:spPr>
            <a:xfrm>
              <a:off x="5877833" y="4517485"/>
              <a:ext cx="4470569" cy="479664"/>
            </a:xfrm>
            <a:prstGeom prst="rect">
              <a:avLst/>
            </a:prstGeom>
          </p:spPr>
          <p:txBody>
            <a:bodyPr>
              <a:spAutoFit/>
            </a:bodyPr>
            <a:lstStyle/>
            <a:p>
              <a:pPr algn="r" defTabSz="514350">
                <a:defRPr/>
              </a:pPr>
              <a:r>
                <a:rPr lang="zh-CN" altLang="en-US" sz="790" dirty="0">
                  <a:solidFill>
                    <a:srgbClr val="FFFFFF"/>
                  </a:solidFill>
                  <a:latin typeface="微软雅黑" panose="020B0503020204020204" pitchFamily="82" charset="2"/>
                  <a:ea typeface="微软雅黑" panose="020B0503020204020204" pitchFamily="82" charset="2"/>
                </a:rPr>
                <a:t>通常不支持事务及</a:t>
              </a:r>
              <a:r>
                <a:rPr lang="en-US" altLang="zh-CN" sz="790" dirty="0">
                  <a:solidFill>
                    <a:srgbClr val="FFFFFF"/>
                  </a:solidFill>
                  <a:latin typeface="微软雅黑" panose="020B0503020204020204" pitchFamily="82" charset="2"/>
                  <a:ea typeface="微软雅黑" panose="020B0503020204020204" pitchFamily="82" charset="2"/>
                </a:rPr>
                <a:t>SQL</a:t>
              </a:r>
              <a:r>
                <a:rPr lang="zh-CN" altLang="en-US" sz="790" dirty="0">
                  <a:solidFill>
                    <a:srgbClr val="FFFFFF"/>
                  </a:solidFill>
                  <a:latin typeface="微软雅黑" panose="020B0503020204020204" pitchFamily="82" charset="2"/>
                  <a:ea typeface="微软雅黑" panose="020B0503020204020204" pitchFamily="82" charset="2"/>
                </a:rPr>
                <a:t>，性能、容量、可扩展性突出：</a:t>
              </a:r>
              <a:r>
                <a:rPr lang="en-US" altLang="zh-CN" sz="790" dirty="0">
                  <a:solidFill>
                    <a:srgbClr val="FFFFFF"/>
                  </a:solidFill>
                  <a:latin typeface="微软雅黑" panose="020B0503020204020204" pitchFamily="82" charset="2"/>
                  <a:ea typeface="微软雅黑" panose="020B0503020204020204" pitchFamily="82" charset="2"/>
                </a:rPr>
                <a:t>KV</a:t>
              </a:r>
              <a:r>
                <a:rPr lang="zh-CN" altLang="en-US" sz="790" dirty="0">
                  <a:solidFill>
                    <a:srgbClr val="FFFFFF"/>
                  </a:solidFill>
                  <a:latin typeface="微软雅黑" panose="020B0503020204020204" pitchFamily="82" charset="2"/>
                  <a:ea typeface="微软雅黑" panose="020B0503020204020204" pitchFamily="82" charset="2"/>
                </a:rPr>
                <a:t>、文档、图</a:t>
              </a:r>
            </a:p>
          </p:txBody>
        </p:sp>
        <p:grpSp>
          <p:nvGrpSpPr>
            <p:cNvPr id="193" name="组合 192"/>
            <p:cNvGrpSpPr/>
            <p:nvPr/>
          </p:nvGrpSpPr>
          <p:grpSpPr bwMode="auto">
            <a:xfrm>
              <a:off x="10450604" y="1903935"/>
              <a:ext cx="1241593" cy="3187670"/>
              <a:chOff x="10611925" y="1702816"/>
              <a:chExt cx="1251546" cy="3286546"/>
            </a:xfrm>
          </p:grpSpPr>
          <p:grpSp>
            <p:nvGrpSpPr>
              <p:cNvPr id="194" name="组合 11"/>
              <p:cNvGrpSpPr/>
              <p:nvPr/>
            </p:nvGrpSpPr>
            <p:grpSpPr bwMode="auto">
              <a:xfrm>
                <a:off x="10638091" y="1702816"/>
                <a:ext cx="1183776" cy="3286546"/>
                <a:chOff x="10693899" y="1649533"/>
                <a:chExt cx="1183897" cy="5026520"/>
              </a:xfrm>
            </p:grpSpPr>
            <p:sp>
              <p:nvSpPr>
                <p:cNvPr id="196" name="矩形 195"/>
                <p:cNvSpPr/>
                <p:nvPr/>
              </p:nvSpPr>
              <p:spPr>
                <a:xfrm>
                  <a:off x="10693899" y="1649533"/>
                  <a:ext cx="1183897" cy="5026520"/>
                </a:xfrm>
                <a:prstGeom prst="rect">
                  <a:avLst/>
                </a:prstGeom>
                <a:solidFill>
                  <a:srgbClr val="F2F2F2">
                    <a:alpha val="69804"/>
                  </a:srgbClr>
                </a:solidFill>
                <a:ln w="3175" cap="flat" cmpd="sng" algn="ctr">
                  <a:solidFill>
                    <a:srgbClr val="666666">
                      <a:lumMod val="85000"/>
                    </a:srgbClr>
                  </a:solid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197" name="文本框 135"/>
                <p:cNvSpPr txBox="1">
                  <a:spLocks noChangeArrowheads="1"/>
                </p:cNvSpPr>
                <p:nvPr/>
              </p:nvSpPr>
              <p:spPr bwMode="auto">
                <a:xfrm>
                  <a:off x="10796452" y="1887049"/>
                  <a:ext cx="960106" cy="573575"/>
                </a:xfrm>
                <a:prstGeom prst="rect">
                  <a:avLst/>
                </a:prstGeom>
                <a:noFill/>
                <a:ln>
                  <a:noFill/>
                </a:ln>
              </p:spPr>
              <p:txBody>
                <a:bodyPr wrap="square">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defRPr/>
                  </a:pPr>
                  <a:r>
                    <a:rPr lang="zh-CN" altLang="en-US" sz="1050" b="1" kern="0" dirty="0">
                      <a:solidFill>
                        <a:srgbClr val="6F1787"/>
                      </a:solidFill>
                      <a:latin typeface="微软雅黑" panose="020B0503020204020204" pitchFamily="82" charset="2"/>
                      <a:ea typeface="微软雅黑" panose="020B0503020204020204" pitchFamily="82" charset="2"/>
                    </a:rPr>
                    <a:t>云原生</a:t>
                  </a:r>
                </a:p>
              </p:txBody>
            </p:sp>
            <p:sp>
              <p:nvSpPr>
                <p:cNvPr id="198" name="文本框 136"/>
                <p:cNvSpPr txBox="1">
                  <a:spLocks noChangeArrowheads="1"/>
                </p:cNvSpPr>
                <p:nvPr/>
              </p:nvSpPr>
              <p:spPr bwMode="auto">
                <a:xfrm>
                  <a:off x="10796452" y="2401911"/>
                  <a:ext cx="994234" cy="573575"/>
                </a:xfrm>
                <a:prstGeom prst="rect">
                  <a:avLst/>
                </a:prstGeom>
                <a:noFill/>
                <a:ln>
                  <a:noFill/>
                </a:ln>
              </p:spPr>
              <p:txBody>
                <a:bodyPr wrap="square">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defRPr/>
                  </a:pPr>
                  <a:r>
                    <a:rPr lang="zh-CN" altLang="en-US" sz="1050" b="1" kern="0" dirty="0">
                      <a:solidFill>
                        <a:srgbClr val="6F1787"/>
                      </a:solidFill>
                      <a:latin typeface="微软雅黑" panose="020B0503020204020204" pitchFamily="82" charset="2"/>
                      <a:ea typeface="微软雅黑" panose="020B0503020204020204" pitchFamily="82" charset="2"/>
                    </a:rPr>
                    <a:t>智能化</a:t>
                  </a:r>
                </a:p>
              </p:txBody>
            </p:sp>
            <p:sp>
              <p:nvSpPr>
                <p:cNvPr id="199" name="文本框 137"/>
                <p:cNvSpPr txBox="1">
                  <a:spLocks noChangeArrowheads="1"/>
                </p:cNvSpPr>
                <p:nvPr/>
              </p:nvSpPr>
              <p:spPr bwMode="auto">
                <a:xfrm>
                  <a:off x="10796452" y="2973372"/>
                  <a:ext cx="995301" cy="573575"/>
                </a:xfrm>
                <a:prstGeom prst="rect">
                  <a:avLst/>
                </a:prstGeom>
                <a:noFill/>
                <a:ln>
                  <a:noFill/>
                </a:ln>
              </p:spPr>
              <p:txBody>
                <a:bodyPr wrap="square">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defRPr/>
                  </a:pPr>
                  <a:r>
                    <a:rPr lang="zh-CN" altLang="en-US" sz="1050" b="1" kern="0" dirty="0">
                      <a:solidFill>
                        <a:srgbClr val="6F1787"/>
                      </a:solidFill>
                      <a:latin typeface="微软雅黑" panose="020B0503020204020204" pitchFamily="82" charset="2"/>
                      <a:ea typeface="微软雅黑" panose="020B0503020204020204" pitchFamily="82" charset="2"/>
                    </a:rPr>
                    <a:t>分布式</a:t>
                  </a:r>
                  <a:endParaRPr lang="en-US" altLang="zh-CN" sz="1050" b="1" kern="0" dirty="0">
                    <a:solidFill>
                      <a:srgbClr val="6F1787"/>
                    </a:solidFill>
                    <a:latin typeface="微软雅黑" panose="020B0503020204020204" pitchFamily="82" charset="2"/>
                    <a:ea typeface="微软雅黑" panose="020B0503020204020204" pitchFamily="82" charset="2"/>
                  </a:endParaRPr>
                </a:p>
              </p:txBody>
            </p:sp>
            <p:sp>
              <p:nvSpPr>
                <p:cNvPr id="200" name="文本框 139"/>
                <p:cNvSpPr txBox="1">
                  <a:spLocks noChangeArrowheads="1"/>
                </p:cNvSpPr>
                <p:nvPr/>
              </p:nvSpPr>
              <p:spPr bwMode="auto">
                <a:xfrm>
                  <a:off x="10796452" y="3495381"/>
                  <a:ext cx="1004577" cy="573575"/>
                </a:xfrm>
                <a:prstGeom prst="rect">
                  <a:avLst/>
                </a:prstGeom>
                <a:noFill/>
                <a:ln>
                  <a:noFill/>
                </a:ln>
              </p:spPr>
              <p:txBody>
                <a:bodyPr wrap="square">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defRPr/>
                  </a:pPr>
                  <a:r>
                    <a:rPr lang="zh-CN" altLang="en-US" sz="1050" b="1" kern="0" dirty="0">
                      <a:solidFill>
                        <a:srgbClr val="6F1787"/>
                      </a:solidFill>
                      <a:latin typeface="微软雅黑" panose="020B0503020204020204" pitchFamily="82" charset="2"/>
                      <a:ea typeface="微软雅黑" panose="020B0503020204020204" pitchFamily="82" charset="2"/>
                    </a:rPr>
                    <a:t>端边云</a:t>
                  </a:r>
                </a:p>
              </p:txBody>
            </p:sp>
          </p:grpSp>
          <p:sp>
            <p:nvSpPr>
              <p:cNvPr id="195" name="文本框 117"/>
              <p:cNvSpPr txBox="1">
                <a:spLocks noChangeArrowheads="1"/>
              </p:cNvSpPr>
              <p:nvPr/>
            </p:nvSpPr>
            <p:spPr bwMode="auto">
              <a:xfrm>
                <a:off x="10611925" y="3648454"/>
                <a:ext cx="1251546" cy="1179440"/>
              </a:xfrm>
              <a:prstGeom prst="rect">
                <a:avLst/>
              </a:prstGeom>
              <a:noFill/>
              <a:ln>
                <a:noFill/>
              </a:ln>
            </p:spPr>
            <p:txBody>
              <a:bodyPr>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lnSpc>
                    <a:spcPct val="150000"/>
                  </a:lnSpc>
                  <a:defRPr/>
                </a:pPr>
                <a:r>
                  <a:rPr lang="zh-CN" altLang="en-US" sz="790" b="1" kern="0" dirty="0">
                    <a:solidFill>
                      <a:srgbClr val="282828"/>
                    </a:solidFill>
                    <a:latin typeface="微软雅黑" panose="020B0503020204020204" pitchFamily="82" charset="2"/>
                    <a:ea typeface="微软雅黑" panose="020B0503020204020204" pitchFamily="82" charset="2"/>
                  </a:rPr>
                  <a:t>软硬协同</a:t>
                </a:r>
                <a:endParaRPr lang="en-US" altLang="zh-CN" sz="790" b="1" kern="0" dirty="0">
                  <a:solidFill>
                    <a:srgbClr val="282828"/>
                  </a:solidFill>
                  <a:latin typeface="微软雅黑" panose="020B0503020204020204" pitchFamily="82" charset="2"/>
                  <a:ea typeface="微软雅黑" panose="020B0503020204020204" pitchFamily="82" charset="2"/>
                </a:endParaRPr>
              </a:p>
              <a:p>
                <a:pPr algn="ctr" defTabSz="513080" eaLnBrk="1" hangingPunct="1">
                  <a:lnSpc>
                    <a:spcPct val="150000"/>
                  </a:lnSpc>
                  <a:defRPr/>
                </a:pPr>
                <a:r>
                  <a:rPr lang="zh-CN" altLang="en-US" sz="790" b="1" kern="0" dirty="0">
                    <a:solidFill>
                      <a:srgbClr val="282828"/>
                    </a:solidFill>
                    <a:latin typeface="微软雅黑" panose="020B0503020204020204" pitchFamily="82" charset="2"/>
                    <a:ea typeface="微软雅黑" panose="020B0503020204020204" pitchFamily="82" charset="2"/>
                  </a:rPr>
                  <a:t>安全隐私</a:t>
                </a:r>
                <a:endParaRPr lang="en-US" altLang="zh-CN" sz="790" b="1" kern="0" dirty="0">
                  <a:solidFill>
                    <a:srgbClr val="282828"/>
                  </a:solidFill>
                  <a:latin typeface="微软雅黑" panose="020B0503020204020204" pitchFamily="82" charset="2"/>
                  <a:ea typeface="微软雅黑" panose="020B0503020204020204" pitchFamily="82" charset="2"/>
                </a:endParaRPr>
              </a:p>
              <a:p>
                <a:pPr algn="ctr" defTabSz="513080" eaLnBrk="1" hangingPunct="1">
                  <a:lnSpc>
                    <a:spcPct val="150000"/>
                  </a:lnSpc>
                  <a:defRPr/>
                </a:pPr>
                <a:r>
                  <a:rPr lang="zh-CN" altLang="en-US" sz="790" b="1" kern="0" dirty="0">
                    <a:solidFill>
                      <a:srgbClr val="282828"/>
                    </a:solidFill>
                    <a:latin typeface="微软雅黑" panose="020B0503020204020204" pitchFamily="82" charset="2"/>
                    <a:ea typeface="微软雅黑" panose="020B0503020204020204" pitchFamily="82" charset="2"/>
                  </a:rPr>
                  <a:t>多模处理</a:t>
                </a:r>
                <a:endParaRPr lang="en-US" altLang="zh-CN" sz="790" b="1" kern="0" dirty="0">
                  <a:solidFill>
                    <a:srgbClr val="282828"/>
                  </a:solidFill>
                  <a:latin typeface="微软雅黑" panose="020B0503020204020204" pitchFamily="82" charset="2"/>
                  <a:ea typeface="微软雅黑" panose="020B0503020204020204" pitchFamily="82" charset="2"/>
                </a:endParaRPr>
              </a:p>
              <a:p>
                <a:pPr algn="ctr" defTabSz="513080" eaLnBrk="1" hangingPunct="1">
                  <a:lnSpc>
                    <a:spcPct val="150000"/>
                  </a:lnSpc>
                  <a:defRPr/>
                </a:pPr>
                <a:r>
                  <a:rPr lang="zh-CN" altLang="en-US" sz="790" b="1" kern="0" dirty="0">
                    <a:solidFill>
                      <a:srgbClr val="282828"/>
                    </a:solidFill>
                    <a:latin typeface="微软雅黑" panose="020B0503020204020204" pitchFamily="82" charset="2"/>
                    <a:ea typeface="微软雅黑" panose="020B0503020204020204" pitchFamily="82" charset="2"/>
                  </a:rPr>
                  <a:t>智能管理</a:t>
                </a:r>
                <a:endParaRPr lang="en-US" altLang="zh-CN" sz="790" b="1" kern="0" dirty="0">
                  <a:solidFill>
                    <a:srgbClr val="282828"/>
                  </a:solidFill>
                  <a:latin typeface="微软雅黑" panose="020B0503020204020204" pitchFamily="82" charset="2"/>
                  <a:ea typeface="微软雅黑" panose="020B0503020204020204" pitchFamily="82" charset="2"/>
                </a:endParaRPr>
              </a:p>
            </p:txBody>
          </p:sp>
        </p:grpSp>
        <p:grpSp>
          <p:nvGrpSpPr>
            <p:cNvPr id="212" name="组合 211"/>
            <p:cNvGrpSpPr/>
            <p:nvPr/>
          </p:nvGrpSpPr>
          <p:grpSpPr bwMode="auto">
            <a:xfrm>
              <a:off x="8684076" y="2598156"/>
              <a:ext cx="1700042" cy="766108"/>
              <a:chOff x="8832226" y="2419448"/>
              <a:chExt cx="1713387" cy="788479"/>
            </a:xfrm>
          </p:grpSpPr>
          <p:sp>
            <p:nvSpPr>
              <p:cNvPr id="213" name="椭圆 212"/>
              <p:cNvSpPr/>
              <p:nvPr/>
            </p:nvSpPr>
            <p:spPr>
              <a:xfrm>
                <a:off x="9156649" y="2666772"/>
                <a:ext cx="287956" cy="287489"/>
              </a:xfrm>
              <a:prstGeom prst="ellipse">
                <a:avLst/>
              </a:prstGeom>
              <a:solidFill>
                <a:srgbClr val="E9002F">
                  <a:lumMod val="60000"/>
                  <a:lumOff val="40000"/>
                </a:srgbClr>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grpSp>
            <p:nvGrpSpPr>
              <p:cNvPr id="214" name="组合 161"/>
              <p:cNvGrpSpPr/>
              <p:nvPr/>
            </p:nvGrpSpPr>
            <p:grpSpPr bwMode="auto">
              <a:xfrm>
                <a:off x="8832226" y="2419448"/>
                <a:ext cx="1713387" cy="788479"/>
                <a:chOff x="8832226" y="2419448"/>
                <a:chExt cx="1713387" cy="788479"/>
              </a:xfrm>
            </p:grpSpPr>
            <p:sp>
              <p:nvSpPr>
                <p:cNvPr id="215" name="Striped Right Arrow 45"/>
                <p:cNvSpPr/>
                <p:nvPr/>
              </p:nvSpPr>
              <p:spPr>
                <a:xfrm rot="16200000" flipH="1">
                  <a:off x="9147323" y="2927585"/>
                  <a:ext cx="249439" cy="311246"/>
                </a:xfrm>
                <a:custGeom>
                  <a:avLst/>
                  <a:gdLst>
                    <a:gd name="T0" fmla="*/ 702 w 2164"/>
                    <a:gd name="T1" fmla="*/ 1977 h 1977"/>
                    <a:gd name="T2" fmla="*/ 0 w 2164"/>
                    <a:gd name="T3" fmla="*/ 1275 h 1977"/>
                    <a:gd name="T4" fmla="*/ 702 w 2164"/>
                    <a:gd name="T5" fmla="*/ 573 h 1977"/>
                    <a:gd name="T6" fmla="*/ 702 w 2164"/>
                    <a:gd name="T7" fmla="*/ 1006 h 1977"/>
                    <a:gd name="T8" fmla="*/ 2054 w 2164"/>
                    <a:gd name="T9" fmla="*/ 131 h 1977"/>
                    <a:gd name="T10" fmla="*/ 2092 w 2164"/>
                    <a:gd name="T11" fmla="*/ 0 h 1977"/>
                    <a:gd name="T12" fmla="*/ 2130 w 2164"/>
                    <a:gd name="T13" fmla="*/ 131 h 1977"/>
                    <a:gd name="T14" fmla="*/ 2164 w 2164"/>
                    <a:gd name="T15" fmla="*/ 370 h 1977"/>
                    <a:gd name="T16" fmla="*/ 702 w 2164"/>
                    <a:gd name="T17" fmla="*/ 1542 h 1977"/>
                    <a:gd name="T18" fmla="*/ 702 w 2164"/>
                    <a:gd name="T19" fmla="*/ 1977 h 1977"/>
                    <a:gd name="T20" fmla="*/ 702 w 2164"/>
                    <a:gd name="T21" fmla="*/ 1977 h 1977"/>
                    <a:gd name="T22" fmla="*/ 112 w 2164"/>
                    <a:gd name="T23" fmla="*/ 1275 h 1977"/>
                    <a:gd name="T24" fmla="*/ 622 w 2164"/>
                    <a:gd name="T25" fmla="*/ 1785 h 1977"/>
                    <a:gd name="T26" fmla="*/ 622 w 2164"/>
                    <a:gd name="T27" fmla="*/ 1468 h 1977"/>
                    <a:gd name="T28" fmla="*/ 659 w 2164"/>
                    <a:gd name="T29" fmla="*/ 1465 h 1977"/>
                    <a:gd name="T30" fmla="*/ 2085 w 2164"/>
                    <a:gd name="T31" fmla="*/ 370 h 1977"/>
                    <a:gd name="T32" fmla="*/ 2080 w 2164"/>
                    <a:gd name="T33" fmla="*/ 286 h 1977"/>
                    <a:gd name="T34" fmla="*/ 665 w 2164"/>
                    <a:gd name="T35" fmla="*/ 1089 h 1977"/>
                    <a:gd name="T36" fmla="*/ 622 w 2164"/>
                    <a:gd name="T37" fmla="*/ 1092 h 1977"/>
                    <a:gd name="T38" fmla="*/ 622 w 2164"/>
                    <a:gd name="T39" fmla="*/ 765 h 1977"/>
                    <a:gd name="T40" fmla="*/ 112 w 2164"/>
                    <a:gd name="T41" fmla="*/ 1275 h 1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4" h="1977">
                      <a:moveTo>
                        <a:pt x="702" y="1977"/>
                      </a:moveTo>
                      <a:lnTo>
                        <a:pt x="0" y="1275"/>
                      </a:lnTo>
                      <a:lnTo>
                        <a:pt x="702" y="573"/>
                      </a:lnTo>
                      <a:lnTo>
                        <a:pt x="702" y="1006"/>
                      </a:lnTo>
                      <a:cubicBezTo>
                        <a:pt x="1369" y="943"/>
                        <a:pt x="1921" y="587"/>
                        <a:pt x="2054" y="131"/>
                      </a:cubicBezTo>
                      <a:lnTo>
                        <a:pt x="2092" y="0"/>
                      </a:lnTo>
                      <a:lnTo>
                        <a:pt x="2130" y="131"/>
                      </a:lnTo>
                      <a:cubicBezTo>
                        <a:pt x="2153" y="210"/>
                        <a:pt x="2164" y="290"/>
                        <a:pt x="2164" y="370"/>
                      </a:cubicBezTo>
                      <a:cubicBezTo>
                        <a:pt x="2164" y="967"/>
                        <a:pt x="1538" y="1466"/>
                        <a:pt x="702" y="1542"/>
                      </a:cubicBezTo>
                      <a:lnTo>
                        <a:pt x="702" y="1977"/>
                      </a:lnTo>
                      <a:lnTo>
                        <a:pt x="702" y="1977"/>
                      </a:lnTo>
                      <a:close/>
                      <a:moveTo>
                        <a:pt x="112" y="1275"/>
                      </a:moveTo>
                      <a:lnTo>
                        <a:pt x="622" y="1785"/>
                      </a:lnTo>
                      <a:lnTo>
                        <a:pt x="622" y="1468"/>
                      </a:lnTo>
                      <a:lnTo>
                        <a:pt x="659" y="1465"/>
                      </a:lnTo>
                      <a:cubicBezTo>
                        <a:pt x="1472" y="1404"/>
                        <a:pt x="2085" y="933"/>
                        <a:pt x="2085" y="370"/>
                      </a:cubicBezTo>
                      <a:cubicBezTo>
                        <a:pt x="2085" y="342"/>
                        <a:pt x="2083" y="314"/>
                        <a:pt x="2080" y="286"/>
                      </a:cubicBezTo>
                      <a:cubicBezTo>
                        <a:pt x="1877" y="723"/>
                        <a:pt x="1329" y="1039"/>
                        <a:pt x="665" y="1089"/>
                      </a:cubicBezTo>
                      <a:lnTo>
                        <a:pt x="622" y="1092"/>
                      </a:lnTo>
                      <a:lnTo>
                        <a:pt x="622" y="765"/>
                      </a:lnTo>
                      <a:lnTo>
                        <a:pt x="112" y="1275"/>
                      </a:lnTo>
                      <a:close/>
                    </a:path>
                  </a:pathLst>
                </a:custGeom>
                <a:solidFill>
                  <a:srgbClr val="0070C0"/>
                </a:solidFill>
                <a:ln w="12700" cap="flat" cmpd="sng" algn="ctr">
                  <a:noFill/>
                  <a:prstDash val="solid"/>
                  <a:miter lim="800000"/>
                </a:ln>
                <a:effectLst/>
              </p:spPr>
              <p:txBody>
                <a:bodyPr lIns="51410" tIns="25705" rIns="51410" bIns="25705"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514350" fontAlgn="auto">
                    <a:spcBef>
                      <a:spcPts val="0"/>
                    </a:spcBef>
                    <a:spcAft>
                      <a:spcPts val="0"/>
                    </a:spcAft>
                    <a:defRPr/>
                  </a:pPr>
                  <a:endParaRPr lang="zh-CN" altLang="en-US" sz="790">
                    <a:solidFill>
                      <a:srgbClr val="FFFFFF"/>
                    </a:solidFill>
                    <a:latin typeface="微软雅黑" panose="020B0503020204020204" pitchFamily="82" charset="2"/>
                    <a:ea typeface="微软雅黑" panose="020B0503020204020204" pitchFamily="82" charset="2"/>
                  </a:endParaRPr>
                </a:p>
              </p:txBody>
            </p:sp>
            <p:grpSp>
              <p:nvGrpSpPr>
                <p:cNvPr id="216" name="组合 93"/>
                <p:cNvGrpSpPr/>
                <p:nvPr/>
              </p:nvGrpSpPr>
              <p:grpSpPr bwMode="auto">
                <a:xfrm>
                  <a:off x="8832226" y="2419448"/>
                  <a:ext cx="1713387" cy="772066"/>
                  <a:chOff x="8832226" y="2419448"/>
                  <a:chExt cx="1713387" cy="772066"/>
                </a:xfrm>
              </p:grpSpPr>
              <p:sp>
                <p:nvSpPr>
                  <p:cNvPr id="217" name="Striped Right Arrow 45"/>
                  <p:cNvSpPr/>
                  <p:nvPr/>
                </p:nvSpPr>
                <p:spPr>
                  <a:xfrm rot="5400000" flipH="1" flipV="1">
                    <a:off x="9111329" y="2388544"/>
                    <a:ext cx="249439" cy="311247"/>
                  </a:xfrm>
                  <a:custGeom>
                    <a:avLst/>
                    <a:gdLst>
                      <a:gd name="T0" fmla="*/ 702 w 2164"/>
                      <a:gd name="T1" fmla="*/ 1977 h 1977"/>
                      <a:gd name="T2" fmla="*/ 0 w 2164"/>
                      <a:gd name="T3" fmla="*/ 1275 h 1977"/>
                      <a:gd name="T4" fmla="*/ 702 w 2164"/>
                      <a:gd name="T5" fmla="*/ 573 h 1977"/>
                      <a:gd name="T6" fmla="*/ 702 w 2164"/>
                      <a:gd name="T7" fmla="*/ 1006 h 1977"/>
                      <a:gd name="T8" fmla="*/ 2054 w 2164"/>
                      <a:gd name="T9" fmla="*/ 131 h 1977"/>
                      <a:gd name="T10" fmla="*/ 2092 w 2164"/>
                      <a:gd name="T11" fmla="*/ 0 h 1977"/>
                      <a:gd name="T12" fmla="*/ 2130 w 2164"/>
                      <a:gd name="T13" fmla="*/ 131 h 1977"/>
                      <a:gd name="T14" fmla="*/ 2164 w 2164"/>
                      <a:gd name="T15" fmla="*/ 370 h 1977"/>
                      <a:gd name="T16" fmla="*/ 702 w 2164"/>
                      <a:gd name="T17" fmla="*/ 1542 h 1977"/>
                      <a:gd name="T18" fmla="*/ 702 w 2164"/>
                      <a:gd name="T19" fmla="*/ 1977 h 1977"/>
                      <a:gd name="T20" fmla="*/ 702 w 2164"/>
                      <a:gd name="T21" fmla="*/ 1977 h 1977"/>
                      <a:gd name="T22" fmla="*/ 112 w 2164"/>
                      <a:gd name="T23" fmla="*/ 1275 h 1977"/>
                      <a:gd name="T24" fmla="*/ 622 w 2164"/>
                      <a:gd name="T25" fmla="*/ 1785 h 1977"/>
                      <a:gd name="T26" fmla="*/ 622 w 2164"/>
                      <a:gd name="T27" fmla="*/ 1468 h 1977"/>
                      <a:gd name="T28" fmla="*/ 659 w 2164"/>
                      <a:gd name="T29" fmla="*/ 1465 h 1977"/>
                      <a:gd name="T30" fmla="*/ 2085 w 2164"/>
                      <a:gd name="T31" fmla="*/ 370 h 1977"/>
                      <a:gd name="T32" fmla="*/ 2080 w 2164"/>
                      <a:gd name="T33" fmla="*/ 286 h 1977"/>
                      <a:gd name="T34" fmla="*/ 665 w 2164"/>
                      <a:gd name="T35" fmla="*/ 1089 h 1977"/>
                      <a:gd name="T36" fmla="*/ 622 w 2164"/>
                      <a:gd name="T37" fmla="*/ 1092 h 1977"/>
                      <a:gd name="T38" fmla="*/ 622 w 2164"/>
                      <a:gd name="T39" fmla="*/ 765 h 1977"/>
                      <a:gd name="T40" fmla="*/ 112 w 2164"/>
                      <a:gd name="T41" fmla="*/ 1275 h 1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4" h="1977">
                        <a:moveTo>
                          <a:pt x="702" y="1977"/>
                        </a:moveTo>
                        <a:lnTo>
                          <a:pt x="0" y="1275"/>
                        </a:lnTo>
                        <a:lnTo>
                          <a:pt x="702" y="573"/>
                        </a:lnTo>
                        <a:lnTo>
                          <a:pt x="702" y="1006"/>
                        </a:lnTo>
                        <a:cubicBezTo>
                          <a:pt x="1369" y="943"/>
                          <a:pt x="1921" y="587"/>
                          <a:pt x="2054" y="131"/>
                        </a:cubicBezTo>
                        <a:lnTo>
                          <a:pt x="2092" y="0"/>
                        </a:lnTo>
                        <a:lnTo>
                          <a:pt x="2130" y="131"/>
                        </a:lnTo>
                        <a:cubicBezTo>
                          <a:pt x="2153" y="210"/>
                          <a:pt x="2164" y="290"/>
                          <a:pt x="2164" y="370"/>
                        </a:cubicBezTo>
                        <a:cubicBezTo>
                          <a:pt x="2164" y="967"/>
                          <a:pt x="1538" y="1466"/>
                          <a:pt x="702" y="1542"/>
                        </a:cubicBezTo>
                        <a:lnTo>
                          <a:pt x="702" y="1977"/>
                        </a:lnTo>
                        <a:lnTo>
                          <a:pt x="702" y="1977"/>
                        </a:lnTo>
                        <a:close/>
                        <a:moveTo>
                          <a:pt x="112" y="1275"/>
                        </a:moveTo>
                        <a:lnTo>
                          <a:pt x="622" y="1785"/>
                        </a:lnTo>
                        <a:lnTo>
                          <a:pt x="622" y="1468"/>
                        </a:lnTo>
                        <a:lnTo>
                          <a:pt x="659" y="1465"/>
                        </a:lnTo>
                        <a:cubicBezTo>
                          <a:pt x="1472" y="1404"/>
                          <a:pt x="2085" y="933"/>
                          <a:pt x="2085" y="370"/>
                        </a:cubicBezTo>
                        <a:cubicBezTo>
                          <a:pt x="2085" y="342"/>
                          <a:pt x="2083" y="314"/>
                          <a:pt x="2080" y="286"/>
                        </a:cubicBezTo>
                        <a:cubicBezTo>
                          <a:pt x="1877" y="723"/>
                          <a:pt x="1329" y="1039"/>
                          <a:pt x="665" y="1089"/>
                        </a:cubicBezTo>
                        <a:lnTo>
                          <a:pt x="622" y="1092"/>
                        </a:lnTo>
                        <a:lnTo>
                          <a:pt x="622" y="765"/>
                        </a:lnTo>
                        <a:lnTo>
                          <a:pt x="112" y="1275"/>
                        </a:lnTo>
                        <a:close/>
                      </a:path>
                    </a:pathLst>
                  </a:custGeom>
                  <a:solidFill>
                    <a:srgbClr val="30B5C5"/>
                  </a:solidFill>
                  <a:ln w="12700" cap="flat" cmpd="sng" algn="ctr">
                    <a:noFill/>
                    <a:prstDash val="solid"/>
                    <a:miter lim="800000"/>
                  </a:ln>
                  <a:effectLst/>
                </p:spPr>
                <p:txBody>
                  <a:bodyPr lIns="51410" tIns="25705" rIns="51410" bIns="25705"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514350" fontAlgn="auto">
                      <a:spcBef>
                        <a:spcPts val="0"/>
                      </a:spcBef>
                      <a:spcAft>
                        <a:spcPts val="0"/>
                      </a:spcAft>
                      <a:defRPr/>
                    </a:pPr>
                    <a:endParaRPr lang="zh-CN" altLang="en-US" sz="790">
                      <a:solidFill>
                        <a:srgbClr val="15B0E8"/>
                      </a:solidFill>
                      <a:latin typeface="微软雅黑" panose="020B0503020204020204" pitchFamily="82" charset="2"/>
                      <a:ea typeface="微软雅黑" panose="020B0503020204020204" pitchFamily="82" charset="2"/>
                    </a:endParaRPr>
                  </a:p>
                </p:txBody>
              </p:sp>
              <p:sp>
                <p:nvSpPr>
                  <p:cNvPr id="218" name="矩形 217"/>
                  <p:cNvSpPr/>
                  <p:nvPr/>
                </p:nvSpPr>
                <p:spPr>
                  <a:xfrm>
                    <a:off x="9306979" y="2730189"/>
                    <a:ext cx="1238634" cy="171225"/>
                  </a:xfrm>
                  <a:prstGeom prst="rect">
                    <a:avLst/>
                  </a:prstGeom>
                  <a:solidFill>
                    <a:srgbClr val="E9002F">
                      <a:lumMod val="60000"/>
                      <a:lumOff val="40000"/>
                    </a:srgb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219" name="矩形 218"/>
                  <p:cNvSpPr/>
                  <p:nvPr/>
                </p:nvSpPr>
                <p:spPr>
                  <a:xfrm>
                    <a:off x="8832226" y="2519073"/>
                    <a:ext cx="421347" cy="672441"/>
                  </a:xfrm>
                  <a:prstGeom prst="rect">
                    <a:avLst/>
                  </a:prstGeom>
                </p:spPr>
                <p:txBody>
                  <a:bodyPr>
                    <a:spAutoFit/>
                  </a:bodyPr>
                  <a:lstStyle/>
                  <a:p>
                    <a:pPr defTabSz="514350" eaLnBrk="1" fontAlgn="auto" hangingPunct="1">
                      <a:spcBef>
                        <a:spcPts val="0"/>
                      </a:spcBef>
                      <a:spcAft>
                        <a:spcPts val="0"/>
                      </a:spcAft>
                      <a:defRPr/>
                    </a:pPr>
                    <a:r>
                      <a:rPr lang="zh-CN" altLang="en-US" sz="790" b="1" kern="0" dirty="0">
                        <a:solidFill>
                          <a:srgbClr val="7F0000">
                            <a:lumMod val="40000"/>
                            <a:lumOff val="60000"/>
                          </a:srgbClr>
                        </a:solidFill>
                        <a:latin typeface="微软雅黑" panose="020B0503020204020204" pitchFamily="82" charset="2"/>
                        <a:ea typeface="微软雅黑" panose="020B0503020204020204" pitchFamily="82" charset="2"/>
                      </a:rPr>
                      <a:t>云原生</a:t>
                    </a:r>
                    <a:endParaRPr lang="en-US" altLang="zh-CN" sz="790" b="1" kern="0" dirty="0">
                      <a:solidFill>
                        <a:srgbClr val="7F0000">
                          <a:lumMod val="40000"/>
                          <a:lumOff val="60000"/>
                        </a:srgbClr>
                      </a:solidFill>
                      <a:latin typeface="微软雅黑" panose="020B0503020204020204" pitchFamily="82" charset="2"/>
                      <a:ea typeface="微软雅黑" panose="020B0503020204020204" pitchFamily="82" charset="2"/>
                    </a:endParaRPr>
                  </a:p>
                </p:txBody>
              </p:sp>
              <p:sp>
                <p:nvSpPr>
                  <p:cNvPr id="220" name="文本框 219"/>
                  <p:cNvSpPr txBox="1"/>
                  <p:nvPr/>
                </p:nvSpPr>
                <p:spPr>
                  <a:xfrm>
                    <a:off x="9705038" y="2905642"/>
                    <a:ext cx="760117" cy="178770"/>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en-US" altLang="zh-CN" sz="790" kern="0" dirty="0">
                        <a:solidFill>
                          <a:srgbClr val="7F0000">
                            <a:lumMod val="40000"/>
                            <a:lumOff val="60000"/>
                          </a:srgbClr>
                        </a:solidFill>
                        <a:latin typeface="微软雅黑" panose="020B0503020204020204" pitchFamily="82" charset="2"/>
                        <a:ea typeface="微软雅黑" panose="020B0503020204020204" pitchFamily="82" charset="2"/>
                      </a:rPr>
                      <a:t>Aurora</a:t>
                    </a:r>
                    <a:endParaRPr lang="zh-CN" altLang="en-US" sz="790" kern="0" dirty="0">
                      <a:solidFill>
                        <a:srgbClr val="7F0000">
                          <a:lumMod val="40000"/>
                          <a:lumOff val="60000"/>
                        </a:srgbClr>
                      </a:solidFill>
                      <a:latin typeface="微软雅黑" panose="020B0503020204020204" pitchFamily="82" charset="2"/>
                      <a:ea typeface="微软雅黑" panose="020B0503020204020204" pitchFamily="82" charset="2"/>
                    </a:endParaRPr>
                  </a:p>
                </p:txBody>
              </p:sp>
              <p:sp>
                <p:nvSpPr>
                  <p:cNvPr id="221" name="文本框 220"/>
                  <p:cNvSpPr txBox="1"/>
                  <p:nvPr/>
                </p:nvSpPr>
                <p:spPr>
                  <a:xfrm>
                    <a:off x="9688098" y="2537827"/>
                    <a:ext cx="762238" cy="178770"/>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en-US" altLang="zh-CN" sz="790" kern="0" dirty="0">
                        <a:solidFill>
                          <a:srgbClr val="7F0000">
                            <a:lumMod val="40000"/>
                            <a:lumOff val="60000"/>
                          </a:srgbClr>
                        </a:solidFill>
                        <a:latin typeface="微软雅黑" panose="020B0503020204020204" pitchFamily="82" charset="2"/>
                        <a:ea typeface="微软雅黑" panose="020B0503020204020204" pitchFamily="82" charset="2"/>
                      </a:rPr>
                      <a:t>Snowflake</a:t>
                    </a:r>
                    <a:endParaRPr lang="zh-CN" altLang="en-US" sz="790" kern="0" dirty="0">
                      <a:solidFill>
                        <a:srgbClr val="7F0000">
                          <a:lumMod val="40000"/>
                          <a:lumOff val="60000"/>
                        </a:srgbClr>
                      </a:solidFill>
                      <a:latin typeface="微软雅黑" panose="020B0503020204020204" pitchFamily="82" charset="2"/>
                      <a:ea typeface="微软雅黑" panose="020B0503020204020204" pitchFamily="82" charset="2"/>
                    </a:endParaRPr>
                  </a:p>
                </p:txBody>
              </p:sp>
            </p:grpSp>
          </p:grpSp>
        </p:grpSp>
        <p:grpSp>
          <p:nvGrpSpPr>
            <p:cNvPr id="222" name="组合 221"/>
            <p:cNvGrpSpPr/>
            <p:nvPr/>
          </p:nvGrpSpPr>
          <p:grpSpPr bwMode="auto">
            <a:xfrm>
              <a:off x="5888336" y="1842318"/>
              <a:ext cx="4495781" cy="659305"/>
              <a:chOff x="6014439" y="1640028"/>
              <a:chExt cx="4531175" cy="679380"/>
            </a:xfrm>
          </p:grpSpPr>
          <p:sp>
            <p:nvSpPr>
              <p:cNvPr id="223" name="矩形 222"/>
              <p:cNvSpPr/>
              <p:nvPr/>
            </p:nvSpPr>
            <p:spPr>
              <a:xfrm>
                <a:off x="7170524" y="1775481"/>
                <a:ext cx="3375090" cy="173549"/>
              </a:xfrm>
              <a:prstGeom prst="rect">
                <a:avLst/>
              </a:prstGeom>
              <a:solidFill>
                <a:srgbClr val="666666">
                  <a:lumMod val="60000"/>
                  <a:lumOff val="40000"/>
                </a:srgb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grpSp>
            <p:nvGrpSpPr>
              <p:cNvPr id="224" name="组合 112"/>
              <p:cNvGrpSpPr/>
              <p:nvPr/>
            </p:nvGrpSpPr>
            <p:grpSpPr bwMode="auto">
              <a:xfrm>
                <a:off x="6014439" y="1640028"/>
                <a:ext cx="4088645" cy="679380"/>
                <a:chOff x="6014439" y="1640028"/>
                <a:chExt cx="4088645" cy="679380"/>
              </a:xfrm>
            </p:grpSpPr>
            <p:sp>
              <p:nvSpPr>
                <p:cNvPr id="225" name="矩形 224"/>
                <p:cNvSpPr/>
                <p:nvPr/>
              </p:nvSpPr>
              <p:spPr>
                <a:xfrm>
                  <a:off x="6238880" y="1735268"/>
                  <a:ext cx="957053" cy="178987"/>
                </a:xfrm>
                <a:prstGeom prst="rect">
                  <a:avLst/>
                </a:prstGeom>
                <a:noFill/>
              </p:spPr>
              <p:txBody>
                <a:bodyPr lIns="0" tIns="0" rIns="0" bIns="0">
                  <a:spAutoFit/>
                </a:bodyPr>
                <a:lstStyle/>
                <a:p>
                  <a:pPr algn="ctr" defTabSz="514350" eaLnBrk="1" fontAlgn="auto" hangingPunct="1">
                    <a:spcBef>
                      <a:spcPts val="0"/>
                    </a:spcBef>
                    <a:spcAft>
                      <a:spcPts val="0"/>
                    </a:spcAft>
                    <a:defRPr/>
                  </a:pPr>
                  <a:r>
                    <a:rPr lang="zh-CN" altLang="en-US" sz="790" kern="0" dirty="0">
                      <a:solidFill>
                        <a:srgbClr val="1D1D1A"/>
                      </a:solidFill>
                      <a:latin typeface="微软雅黑" panose="020B0503020204020204" pitchFamily="82" charset="2"/>
                      <a:ea typeface="微软雅黑" panose="020B0503020204020204" pitchFamily="82" charset="2"/>
                    </a:rPr>
                    <a:t>大数据</a:t>
                  </a:r>
                </a:p>
              </p:txBody>
            </p:sp>
            <p:sp>
              <p:nvSpPr>
                <p:cNvPr id="226" name="椭圆 225"/>
                <p:cNvSpPr/>
                <p:nvPr/>
              </p:nvSpPr>
              <p:spPr>
                <a:xfrm>
                  <a:off x="7043482" y="1640028"/>
                  <a:ext cx="404419" cy="416940"/>
                </a:xfrm>
                <a:prstGeom prst="ellipse">
                  <a:avLst/>
                </a:prstGeom>
                <a:solidFill>
                  <a:srgbClr val="666666">
                    <a:lumMod val="60000"/>
                    <a:lumOff val="40000"/>
                  </a:srgbClr>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227" name="文本框 226"/>
                <p:cNvSpPr txBox="1"/>
                <p:nvPr/>
              </p:nvSpPr>
              <p:spPr>
                <a:xfrm>
                  <a:off x="7562238" y="1781829"/>
                  <a:ext cx="1397464" cy="178987"/>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en-US" altLang="zh-CN" sz="790" kern="0" dirty="0">
                      <a:solidFill>
                        <a:srgbClr val="FFFFFF"/>
                      </a:solidFill>
                      <a:latin typeface="微软雅黑" panose="020B0503020204020204" pitchFamily="82" charset="2"/>
                      <a:ea typeface="微软雅黑" panose="020B0503020204020204" pitchFamily="82" charset="2"/>
                    </a:rPr>
                    <a:t>Hadoop</a:t>
                  </a:r>
                  <a:r>
                    <a:rPr lang="zh-CN" altLang="en-US" sz="790" kern="0" dirty="0">
                      <a:solidFill>
                        <a:srgbClr val="FFFFFF"/>
                      </a:solidFill>
                      <a:latin typeface="微软雅黑" panose="020B0503020204020204" pitchFamily="82" charset="2"/>
                      <a:ea typeface="微软雅黑" panose="020B0503020204020204" pitchFamily="82" charset="2"/>
                    </a:rPr>
                    <a:t>、</a:t>
                  </a:r>
                  <a:r>
                    <a:rPr lang="en-US" altLang="zh-CN" sz="790" kern="0" dirty="0">
                      <a:solidFill>
                        <a:srgbClr val="FFFFFF"/>
                      </a:solidFill>
                      <a:latin typeface="微软雅黑" panose="020B0503020204020204" pitchFamily="82" charset="2"/>
                      <a:ea typeface="微软雅黑" panose="020B0503020204020204" pitchFamily="82" charset="2"/>
                    </a:rPr>
                    <a:t>Hive</a:t>
                  </a:r>
                  <a:endParaRPr lang="zh-CN" altLang="en-US" sz="790" kern="0" dirty="0">
                    <a:solidFill>
                      <a:srgbClr val="FFFFFF"/>
                    </a:solidFill>
                    <a:latin typeface="微软雅黑" panose="020B0503020204020204" pitchFamily="82" charset="2"/>
                    <a:ea typeface="微软雅黑" panose="020B0503020204020204" pitchFamily="82" charset="2"/>
                  </a:endParaRPr>
                </a:p>
              </p:txBody>
            </p:sp>
            <p:sp>
              <p:nvSpPr>
                <p:cNvPr id="228" name="文本框 227"/>
                <p:cNvSpPr txBox="1"/>
                <p:nvPr/>
              </p:nvSpPr>
              <p:spPr>
                <a:xfrm>
                  <a:off x="8705620" y="1775480"/>
                  <a:ext cx="1397464" cy="178987"/>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en-US" altLang="zh-CN" sz="790" kern="0" dirty="0">
                      <a:solidFill>
                        <a:srgbClr val="FFFFFF"/>
                      </a:solidFill>
                      <a:latin typeface="微软雅黑" panose="020B0503020204020204" pitchFamily="82" charset="2"/>
                      <a:ea typeface="微软雅黑" panose="020B0503020204020204" pitchFamily="82" charset="2"/>
                    </a:rPr>
                    <a:t>Spark</a:t>
                  </a:r>
                  <a:r>
                    <a:rPr lang="zh-CN" altLang="en-US" sz="790" kern="0" dirty="0">
                      <a:solidFill>
                        <a:srgbClr val="FFFFFF"/>
                      </a:solidFill>
                      <a:latin typeface="微软雅黑" panose="020B0503020204020204" pitchFamily="82" charset="2"/>
                      <a:ea typeface="微软雅黑" panose="020B0503020204020204" pitchFamily="82" charset="2"/>
                    </a:rPr>
                    <a:t>、</a:t>
                  </a:r>
                  <a:r>
                    <a:rPr lang="en-US" altLang="zh-CN" sz="790" kern="0" dirty="0">
                      <a:solidFill>
                        <a:srgbClr val="FFFFFF"/>
                      </a:solidFill>
                      <a:latin typeface="微软雅黑" panose="020B0503020204020204" pitchFamily="82" charset="2"/>
                      <a:ea typeface="微软雅黑" panose="020B0503020204020204" pitchFamily="82" charset="2"/>
                    </a:rPr>
                    <a:t>Spark</a:t>
                  </a:r>
                  <a:r>
                    <a:rPr lang="zh-CN" altLang="en-US" sz="790" kern="0" dirty="0">
                      <a:solidFill>
                        <a:srgbClr val="FFFFFF"/>
                      </a:solidFill>
                      <a:latin typeface="微软雅黑" panose="020B0503020204020204" pitchFamily="82" charset="2"/>
                      <a:ea typeface="微软雅黑" panose="020B0503020204020204" pitchFamily="82" charset="2"/>
                    </a:rPr>
                    <a:t> </a:t>
                  </a:r>
                  <a:r>
                    <a:rPr lang="en-US" altLang="zh-CN" sz="790" kern="0" dirty="0">
                      <a:solidFill>
                        <a:srgbClr val="FFFFFF"/>
                      </a:solidFill>
                      <a:latin typeface="微软雅黑" panose="020B0503020204020204" pitchFamily="82" charset="2"/>
                      <a:ea typeface="微软雅黑" panose="020B0503020204020204" pitchFamily="82" charset="2"/>
                    </a:rPr>
                    <a:t>SQL</a:t>
                  </a:r>
                  <a:endParaRPr lang="zh-CN" altLang="en-US" sz="790" kern="0" dirty="0">
                    <a:solidFill>
                      <a:srgbClr val="FFFFFF"/>
                    </a:solidFill>
                    <a:latin typeface="微软雅黑" panose="020B0503020204020204" pitchFamily="82" charset="2"/>
                    <a:ea typeface="微软雅黑" panose="020B0503020204020204" pitchFamily="82" charset="2"/>
                  </a:endParaRPr>
                </a:p>
              </p:txBody>
            </p:sp>
            <p:sp>
              <p:nvSpPr>
                <p:cNvPr id="229" name="Striped Right Arrow 45"/>
                <p:cNvSpPr/>
                <p:nvPr/>
              </p:nvSpPr>
              <p:spPr>
                <a:xfrm rot="21119314" flipH="1" flipV="1">
                  <a:off x="6014439" y="2008290"/>
                  <a:ext cx="1113737" cy="311118"/>
                </a:xfrm>
                <a:custGeom>
                  <a:avLst/>
                  <a:gdLst>
                    <a:gd name="T0" fmla="*/ 702 w 2164"/>
                    <a:gd name="T1" fmla="*/ 1977 h 1977"/>
                    <a:gd name="T2" fmla="*/ 0 w 2164"/>
                    <a:gd name="T3" fmla="*/ 1275 h 1977"/>
                    <a:gd name="T4" fmla="*/ 702 w 2164"/>
                    <a:gd name="T5" fmla="*/ 573 h 1977"/>
                    <a:gd name="T6" fmla="*/ 702 w 2164"/>
                    <a:gd name="T7" fmla="*/ 1006 h 1977"/>
                    <a:gd name="T8" fmla="*/ 2054 w 2164"/>
                    <a:gd name="T9" fmla="*/ 131 h 1977"/>
                    <a:gd name="T10" fmla="*/ 2092 w 2164"/>
                    <a:gd name="T11" fmla="*/ 0 h 1977"/>
                    <a:gd name="T12" fmla="*/ 2130 w 2164"/>
                    <a:gd name="T13" fmla="*/ 131 h 1977"/>
                    <a:gd name="T14" fmla="*/ 2164 w 2164"/>
                    <a:gd name="T15" fmla="*/ 370 h 1977"/>
                    <a:gd name="T16" fmla="*/ 702 w 2164"/>
                    <a:gd name="T17" fmla="*/ 1542 h 1977"/>
                    <a:gd name="T18" fmla="*/ 702 w 2164"/>
                    <a:gd name="T19" fmla="*/ 1977 h 1977"/>
                    <a:gd name="T20" fmla="*/ 702 w 2164"/>
                    <a:gd name="T21" fmla="*/ 1977 h 1977"/>
                    <a:gd name="T22" fmla="*/ 112 w 2164"/>
                    <a:gd name="T23" fmla="*/ 1275 h 1977"/>
                    <a:gd name="T24" fmla="*/ 622 w 2164"/>
                    <a:gd name="T25" fmla="*/ 1785 h 1977"/>
                    <a:gd name="T26" fmla="*/ 622 w 2164"/>
                    <a:gd name="T27" fmla="*/ 1468 h 1977"/>
                    <a:gd name="T28" fmla="*/ 659 w 2164"/>
                    <a:gd name="T29" fmla="*/ 1465 h 1977"/>
                    <a:gd name="T30" fmla="*/ 2085 w 2164"/>
                    <a:gd name="T31" fmla="*/ 370 h 1977"/>
                    <a:gd name="T32" fmla="*/ 2080 w 2164"/>
                    <a:gd name="T33" fmla="*/ 286 h 1977"/>
                    <a:gd name="T34" fmla="*/ 665 w 2164"/>
                    <a:gd name="T35" fmla="*/ 1089 h 1977"/>
                    <a:gd name="T36" fmla="*/ 622 w 2164"/>
                    <a:gd name="T37" fmla="*/ 1092 h 1977"/>
                    <a:gd name="T38" fmla="*/ 622 w 2164"/>
                    <a:gd name="T39" fmla="*/ 765 h 1977"/>
                    <a:gd name="T40" fmla="*/ 112 w 2164"/>
                    <a:gd name="T41" fmla="*/ 1275 h 1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4" h="1977">
                      <a:moveTo>
                        <a:pt x="702" y="1977"/>
                      </a:moveTo>
                      <a:lnTo>
                        <a:pt x="0" y="1275"/>
                      </a:lnTo>
                      <a:lnTo>
                        <a:pt x="702" y="573"/>
                      </a:lnTo>
                      <a:lnTo>
                        <a:pt x="702" y="1006"/>
                      </a:lnTo>
                      <a:cubicBezTo>
                        <a:pt x="1369" y="943"/>
                        <a:pt x="1921" y="587"/>
                        <a:pt x="2054" y="131"/>
                      </a:cubicBezTo>
                      <a:lnTo>
                        <a:pt x="2092" y="0"/>
                      </a:lnTo>
                      <a:lnTo>
                        <a:pt x="2130" y="131"/>
                      </a:lnTo>
                      <a:cubicBezTo>
                        <a:pt x="2153" y="210"/>
                        <a:pt x="2164" y="290"/>
                        <a:pt x="2164" y="370"/>
                      </a:cubicBezTo>
                      <a:cubicBezTo>
                        <a:pt x="2164" y="967"/>
                        <a:pt x="1538" y="1466"/>
                        <a:pt x="702" y="1542"/>
                      </a:cubicBezTo>
                      <a:lnTo>
                        <a:pt x="702" y="1977"/>
                      </a:lnTo>
                      <a:lnTo>
                        <a:pt x="702" y="1977"/>
                      </a:lnTo>
                      <a:close/>
                      <a:moveTo>
                        <a:pt x="112" y="1275"/>
                      </a:moveTo>
                      <a:lnTo>
                        <a:pt x="622" y="1785"/>
                      </a:lnTo>
                      <a:lnTo>
                        <a:pt x="622" y="1468"/>
                      </a:lnTo>
                      <a:lnTo>
                        <a:pt x="659" y="1465"/>
                      </a:lnTo>
                      <a:cubicBezTo>
                        <a:pt x="1472" y="1404"/>
                        <a:pt x="2085" y="933"/>
                        <a:pt x="2085" y="370"/>
                      </a:cubicBezTo>
                      <a:cubicBezTo>
                        <a:pt x="2085" y="342"/>
                        <a:pt x="2083" y="314"/>
                        <a:pt x="2080" y="286"/>
                      </a:cubicBezTo>
                      <a:cubicBezTo>
                        <a:pt x="1877" y="723"/>
                        <a:pt x="1329" y="1039"/>
                        <a:pt x="665" y="1089"/>
                      </a:cubicBezTo>
                      <a:lnTo>
                        <a:pt x="622" y="1092"/>
                      </a:lnTo>
                      <a:lnTo>
                        <a:pt x="622" y="765"/>
                      </a:lnTo>
                      <a:lnTo>
                        <a:pt x="112" y="1275"/>
                      </a:lnTo>
                      <a:close/>
                    </a:path>
                  </a:pathLst>
                </a:custGeom>
                <a:solidFill>
                  <a:srgbClr val="30B5C5"/>
                </a:solidFill>
                <a:ln w="12700" cap="flat" cmpd="sng" algn="ctr">
                  <a:noFill/>
                  <a:prstDash val="solid"/>
                  <a:miter lim="800000"/>
                </a:ln>
                <a:effectLst/>
              </p:spPr>
              <p:txBody>
                <a:bodyPr lIns="51410" tIns="25705" rIns="51410" bIns="25705"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514350" fontAlgn="auto">
                    <a:spcBef>
                      <a:spcPts val="0"/>
                    </a:spcBef>
                    <a:spcAft>
                      <a:spcPts val="0"/>
                    </a:spcAft>
                    <a:defRPr/>
                  </a:pPr>
                  <a:endParaRPr lang="zh-CN" altLang="en-US" sz="790">
                    <a:solidFill>
                      <a:srgbClr val="15B0E8"/>
                    </a:solidFill>
                    <a:latin typeface="微软雅黑" panose="020B0503020204020204" pitchFamily="82" charset="2"/>
                    <a:ea typeface="微软雅黑" panose="020B0503020204020204" pitchFamily="82" charset="2"/>
                  </a:endParaRPr>
                </a:p>
              </p:txBody>
            </p:sp>
          </p:grpSp>
        </p:grpSp>
        <p:grpSp>
          <p:nvGrpSpPr>
            <p:cNvPr id="230" name="组合 229"/>
            <p:cNvGrpSpPr/>
            <p:nvPr/>
          </p:nvGrpSpPr>
          <p:grpSpPr bwMode="auto">
            <a:xfrm>
              <a:off x="9333700" y="2088786"/>
              <a:ext cx="1175171" cy="418996"/>
              <a:chOff x="9486426" y="1893564"/>
              <a:chExt cx="1184892" cy="431194"/>
            </a:xfrm>
          </p:grpSpPr>
          <p:sp>
            <p:nvSpPr>
              <p:cNvPr id="231" name="矩形 230"/>
              <p:cNvSpPr/>
              <p:nvPr/>
            </p:nvSpPr>
            <p:spPr>
              <a:xfrm>
                <a:off x="9954551" y="2018272"/>
                <a:ext cx="576153" cy="152186"/>
              </a:xfrm>
              <a:prstGeom prst="rect">
                <a:avLst/>
              </a:prstGeom>
              <a:solidFill>
                <a:srgbClr val="00B0F0"/>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232" name="椭圆 231"/>
              <p:cNvSpPr/>
              <p:nvPr/>
            </p:nvSpPr>
            <p:spPr>
              <a:xfrm>
                <a:off x="9797803" y="1954861"/>
                <a:ext cx="288076" cy="287463"/>
              </a:xfrm>
              <a:prstGeom prst="ellipse">
                <a:avLst/>
              </a:prstGeom>
              <a:solidFill>
                <a:srgbClr val="00B0F0"/>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grpSp>
            <p:nvGrpSpPr>
              <p:cNvPr id="233" name="组合 96"/>
              <p:cNvGrpSpPr/>
              <p:nvPr/>
            </p:nvGrpSpPr>
            <p:grpSpPr bwMode="auto">
              <a:xfrm>
                <a:off x="9486426" y="1893564"/>
                <a:ext cx="1184892" cy="431194"/>
                <a:chOff x="9486426" y="1893564"/>
                <a:chExt cx="1184892" cy="431194"/>
              </a:xfrm>
            </p:grpSpPr>
            <p:sp>
              <p:nvSpPr>
                <p:cNvPr id="234" name="Striped Right Arrow 45"/>
                <p:cNvSpPr/>
                <p:nvPr/>
              </p:nvSpPr>
              <p:spPr>
                <a:xfrm rot="3892742" flipH="1" flipV="1">
                  <a:off x="9517406" y="1862584"/>
                  <a:ext cx="249417" cy="311377"/>
                </a:xfrm>
                <a:custGeom>
                  <a:avLst/>
                  <a:gdLst>
                    <a:gd name="T0" fmla="*/ 702 w 2164"/>
                    <a:gd name="T1" fmla="*/ 1977 h 1977"/>
                    <a:gd name="T2" fmla="*/ 0 w 2164"/>
                    <a:gd name="T3" fmla="*/ 1275 h 1977"/>
                    <a:gd name="T4" fmla="*/ 702 w 2164"/>
                    <a:gd name="T5" fmla="*/ 573 h 1977"/>
                    <a:gd name="T6" fmla="*/ 702 w 2164"/>
                    <a:gd name="T7" fmla="*/ 1006 h 1977"/>
                    <a:gd name="T8" fmla="*/ 2054 w 2164"/>
                    <a:gd name="T9" fmla="*/ 131 h 1977"/>
                    <a:gd name="T10" fmla="*/ 2092 w 2164"/>
                    <a:gd name="T11" fmla="*/ 0 h 1977"/>
                    <a:gd name="T12" fmla="*/ 2130 w 2164"/>
                    <a:gd name="T13" fmla="*/ 131 h 1977"/>
                    <a:gd name="T14" fmla="*/ 2164 w 2164"/>
                    <a:gd name="T15" fmla="*/ 370 h 1977"/>
                    <a:gd name="T16" fmla="*/ 702 w 2164"/>
                    <a:gd name="T17" fmla="*/ 1542 h 1977"/>
                    <a:gd name="T18" fmla="*/ 702 w 2164"/>
                    <a:gd name="T19" fmla="*/ 1977 h 1977"/>
                    <a:gd name="T20" fmla="*/ 702 w 2164"/>
                    <a:gd name="T21" fmla="*/ 1977 h 1977"/>
                    <a:gd name="T22" fmla="*/ 112 w 2164"/>
                    <a:gd name="T23" fmla="*/ 1275 h 1977"/>
                    <a:gd name="T24" fmla="*/ 622 w 2164"/>
                    <a:gd name="T25" fmla="*/ 1785 h 1977"/>
                    <a:gd name="T26" fmla="*/ 622 w 2164"/>
                    <a:gd name="T27" fmla="*/ 1468 h 1977"/>
                    <a:gd name="T28" fmla="*/ 659 w 2164"/>
                    <a:gd name="T29" fmla="*/ 1465 h 1977"/>
                    <a:gd name="T30" fmla="*/ 2085 w 2164"/>
                    <a:gd name="T31" fmla="*/ 370 h 1977"/>
                    <a:gd name="T32" fmla="*/ 2080 w 2164"/>
                    <a:gd name="T33" fmla="*/ 286 h 1977"/>
                    <a:gd name="T34" fmla="*/ 665 w 2164"/>
                    <a:gd name="T35" fmla="*/ 1089 h 1977"/>
                    <a:gd name="T36" fmla="*/ 622 w 2164"/>
                    <a:gd name="T37" fmla="*/ 1092 h 1977"/>
                    <a:gd name="T38" fmla="*/ 622 w 2164"/>
                    <a:gd name="T39" fmla="*/ 765 h 1977"/>
                    <a:gd name="T40" fmla="*/ 112 w 2164"/>
                    <a:gd name="T41" fmla="*/ 1275 h 1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4" h="1977">
                      <a:moveTo>
                        <a:pt x="702" y="1977"/>
                      </a:moveTo>
                      <a:lnTo>
                        <a:pt x="0" y="1275"/>
                      </a:lnTo>
                      <a:lnTo>
                        <a:pt x="702" y="573"/>
                      </a:lnTo>
                      <a:lnTo>
                        <a:pt x="702" y="1006"/>
                      </a:lnTo>
                      <a:cubicBezTo>
                        <a:pt x="1369" y="943"/>
                        <a:pt x="1921" y="587"/>
                        <a:pt x="2054" y="131"/>
                      </a:cubicBezTo>
                      <a:lnTo>
                        <a:pt x="2092" y="0"/>
                      </a:lnTo>
                      <a:lnTo>
                        <a:pt x="2130" y="131"/>
                      </a:lnTo>
                      <a:cubicBezTo>
                        <a:pt x="2153" y="210"/>
                        <a:pt x="2164" y="290"/>
                        <a:pt x="2164" y="370"/>
                      </a:cubicBezTo>
                      <a:cubicBezTo>
                        <a:pt x="2164" y="967"/>
                        <a:pt x="1538" y="1466"/>
                        <a:pt x="702" y="1542"/>
                      </a:cubicBezTo>
                      <a:lnTo>
                        <a:pt x="702" y="1977"/>
                      </a:lnTo>
                      <a:lnTo>
                        <a:pt x="702" y="1977"/>
                      </a:lnTo>
                      <a:close/>
                      <a:moveTo>
                        <a:pt x="112" y="1275"/>
                      </a:moveTo>
                      <a:lnTo>
                        <a:pt x="622" y="1785"/>
                      </a:lnTo>
                      <a:lnTo>
                        <a:pt x="622" y="1468"/>
                      </a:lnTo>
                      <a:lnTo>
                        <a:pt x="659" y="1465"/>
                      </a:lnTo>
                      <a:cubicBezTo>
                        <a:pt x="1472" y="1404"/>
                        <a:pt x="2085" y="933"/>
                        <a:pt x="2085" y="370"/>
                      </a:cubicBezTo>
                      <a:cubicBezTo>
                        <a:pt x="2085" y="342"/>
                        <a:pt x="2083" y="314"/>
                        <a:pt x="2080" y="286"/>
                      </a:cubicBezTo>
                      <a:cubicBezTo>
                        <a:pt x="1877" y="723"/>
                        <a:pt x="1329" y="1039"/>
                        <a:pt x="665" y="1089"/>
                      </a:cubicBezTo>
                      <a:lnTo>
                        <a:pt x="622" y="1092"/>
                      </a:lnTo>
                      <a:lnTo>
                        <a:pt x="622" y="765"/>
                      </a:lnTo>
                      <a:lnTo>
                        <a:pt x="112" y="1275"/>
                      </a:lnTo>
                      <a:close/>
                    </a:path>
                  </a:pathLst>
                </a:custGeom>
                <a:solidFill>
                  <a:srgbClr val="30B5C5"/>
                </a:solidFill>
                <a:ln w="12700" cap="flat" cmpd="sng" algn="ctr">
                  <a:noFill/>
                  <a:prstDash val="solid"/>
                  <a:miter lim="800000"/>
                </a:ln>
                <a:effectLst/>
              </p:spPr>
              <p:txBody>
                <a:bodyPr lIns="51410" tIns="25705" rIns="51410" bIns="25705"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514350" fontAlgn="auto">
                    <a:spcBef>
                      <a:spcPts val="0"/>
                    </a:spcBef>
                    <a:spcAft>
                      <a:spcPts val="0"/>
                    </a:spcAft>
                    <a:defRPr/>
                  </a:pPr>
                  <a:endParaRPr lang="zh-CN" altLang="en-US" sz="790">
                    <a:solidFill>
                      <a:srgbClr val="15B0E8"/>
                    </a:solidFill>
                    <a:latin typeface="微软雅黑" panose="020B0503020204020204" pitchFamily="82" charset="2"/>
                    <a:ea typeface="微软雅黑" panose="020B0503020204020204" pitchFamily="82" charset="2"/>
                  </a:endParaRPr>
                </a:p>
              </p:txBody>
            </p:sp>
            <p:sp>
              <p:nvSpPr>
                <p:cNvPr id="235" name="Striped Right Arrow 45"/>
                <p:cNvSpPr/>
                <p:nvPr/>
              </p:nvSpPr>
              <p:spPr>
                <a:xfrm rot="5400000" flipV="1">
                  <a:off x="9571346" y="2079238"/>
                  <a:ext cx="179665" cy="311376"/>
                </a:xfrm>
                <a:custGeom>
                  <a:avLst/>
                  <a:gdLst>
                    <a:gd name="T0" fmla="*/ 702 w 2164"/>
                    <a:gd name="T1" fmla="*/ 1977 h 1977"/>
                    <a:gd name="T2" fmla="*/ 0 w 2164"/>
                    <a:gd name="T3" fmla="*/ 1275 h 1977"/>
                    <a:gd name="T4" fmla="*/ 702 w 2164"/>
                    <a:gd name="T5" fmla="*/ 573 h 1977"/>
                    <a:gd name="T6" fmla="*/ 702 w 2164"/>
                    <a:gd name="T7" fmla="*/ 1006 h 1977"/>
                    <a:gd name="T8" fmla="*/ 2054 w 2164"/>
                    <a:gd name="T9" fmla="*/ 131 h 1977"/>
                    <a:gd name="T10" fmla="*/ 2092 w 2164"/>
                    <a:gd name="T11" fmla="*/ 0 h 1977"/>
                    <a:gd name="T12" fmla="*/ 2130 w 2164"/>
                    <a:gd name="T13" fmla="*/ 131 h 1977"/>
                    <a:gd name="T14" fmla="*/ 2164 w 2164"/>
                    <a:gd name="T15" fmla="*/ 370 h 1977"/>
                    <a:gd name="T16" fmla="*/ 702 w 2164"/>
                    <a:gd name="T17" fmla="*/ 1542 h 1977"/>
                    <a:gd name="T18" fmla="*/ 702 w 2164"/>
                    <a:gd name="T19" fmla="*/ 1977 h 1977"/>
                    <a:gd name="T20" fmla="*/ 702 w 2164"/>
                    <a:gd name="T21" fmla="*/ 1977 h 1977"/>
                    <a:gd name="T22" fmla="*/ 112 w 2164"/>
                    <a:gd name="T23" fmla="*/ 1275 h 1977"/>
                    <a:gd name="T24" fmla="*/ 622 w 2164"/>
                    <a:gd name="T25" fmla="*/ 1785 h 1977"/>
                    <a:gd name="T26" fmla="*/ 622 w 2164"/>
                    <a:gd name="T27" fmla="*/ 1468 h 1977"/>
                    <a:gd name="T28" fmla="*/ 659 w 2164"/>
                    <a:gd name="T29" fmla="*/ 1465 h 1977"/>
                    <a:gd name="T30" fmla="*/ 2085 w 2164"/>
                    <a:gd name="T31" fmla="*/ 370 h 1977"/>
                    <a:gd name="T32" fmla="*/ 2080 w 2164"/>
                    <a:gd name="T33" fmla="*/ 286 h 1977"/>
                    <a:gd name="T34" fmla="*/ 665 w 2164"/>
                    <a:gd name="T35" fmla="*/ 1089 h 1977"/>
                    <a:gd name="T36" fmla="*/ 622 w 2164"/>
                    <a:gd name="T37" fmla="*/ 1092 h 1977"/>
                    <a:gd name="T38" fmla="*/ 622 w 2164"/>
                    <a:gd name="T39" fmla="*/ 765 h 1977"/>
                    <a:gd name="T40" fmla="*/ 112 w 2164"/>
                    <a:gd name="T41" fmla="*/ 1275 h 1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4" h="1977">
                      <a:moveTo>
                        <a:pt x="702" y="1977"/>
                      </a:moveTo>
                      <a:lnTo>
                        <a:pt x="0" y="1275"/>
                      </a:lnTo>
                      <a:lnTo>
                        <a:pt x="702" y="573"/>
                      </a:lnTo>
                      <a:lnTo>
                        <a:pt x="702" y="1006"/>
                      </a:lnTo>
                      <a:cubicBezTo>
                        <a:pt x="1369" y="943"/>
                        <a:pt x="1921" y="587"/>
                        <a:pt x="2054" y="131"/>
                      </a:cubicBezTo>
                      <a:lnTo>
                        <a:pt x="2092" y="0"/>
                      </a:lnTo>
                      <a:lnTo>
                        <a:pt x="2130" y="131"/>
                      </a:lnTo>
                      <a:cubicBezTo>
                        <a:pt x="2153" y="210"/>
                        <a:pt x="2164" y="290"/>
                        <a:pt x="2164" y="370"/>
                      </a:cubicBezTo>
                      <a:cubicBezTo>
                        <a:pt x="2164" y="967"/>
                        <a:pt x="1538" y="1466"/>
                        <a:pt x="702" y="1542"/>
                      </a:cubicBezTo>
                      <a:lnTo>
                        <a:pt x="702" y="1977"/>
                      </a:lnTo>
                      <a:lnTo>
                        <a:pt x="702" y="1977"/>
                      </a:lnTo>
                      <a:close/>
                      <a:moveTo>
                        <a:pt x="112" y="1275"/>
                      </a:moveTo>
                      <a:lnTo>
                        <a:pt x="622" y="1785"/>
                      </a:lnTo>
                      <a:lnTo>
                        <a:pt x="622" y="1468"/>
                      </a:lnTo>
                      <a:lnTo>
                        <a:pt x="659" y="1465"/>
                      </a:lnTo>
                      <a:cubicBezTo>
                        <a:pt x="1472" y="1404"/>
                        <a:pt x="2085" y="933"/>
                        <a:pt x="2085" y="370"/>
                      </a:cubicBezTo>
                      <a:cubicBezTo>
                        <a:pt x="2085" y="342"/>
                        <a:pt x="2083" y="314"/>
                        <a:pt x="2080" y="286"/>
                      </a:cubicBezTo>
                      <a:cubicBezTo>
                        <a:pt x="1877" y="723"/>
                        <a:pt x="1329" y="1039"/>
                        <a:pt x="665" y="1089"/>
                      </a:cubicBezTo>
                      <a:lnTo>
                        <a:pt x="622" y="1092"/>
                      </a:lnTo>
                      <a:lnTo>
                        <a:pt x="622" y="765"/>
                      </a:lnTo>
                      <a:lnTo>
                        <a:pt x="112" y="1275"/>
                      </a:lnTo>
                      <a:close/>
                    </a:path>
                  </a:pathLst>
                </a:custGeom>
                <a:solidFill>
                  <a:srgbClr val="30B5C5"/>
                </a:solidFill>
                <a:ln w="12700" cap="flat" cmpd="sng" algn="ctr">
                  <a:noFill/>
                  <a:prstDash val="solid"/>
                  <a:miter lim="800000"/>
                </a:ln>
                <a:effectLst/>
              </p:spPr>
              <p:txBody>
                <a:bodyPr lIns="51410" tIns="25705" rIns="51410" bIns="25705"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514350" fontAlgn="auto">
                    <a:spcBef>
                      <a:spcPts val="0"/>
                    </a:spcBef>
                    <a:spcAft>
                      <a:spcPts val="0"/>
                    </a:spcAft>
                    <a:defRPr/>
                  </a:pPr>
                  <a:endParaRPr lang="zh-CN" altLang="en-US" sz="790">
                    <a:solidFill>
                      <a:srgbClr val="15B0E8"/>
                    </a:solidFill>
                    <a:latin typeface="微软雅黑" panose="020B0503020204020204" pitchFamily="82" charset="2"/>
                    <a:ea typeface="微软雅黑" panose="020B0503020204020204" pitchFamily="82" charset="2"/>
                  </a:endParaRPr>
                </a:p>
              </p:txBody>
            </p:sp>
            <p:sp>
              <p:nvSpPr>
                <p:cNvPr id="236" name="矩形 235"/>
                <p:cNvSpPr/>
                <p:nvPr/>
              </p:nvSpPr>
              <p:spPr>
                <a:xfrm>
                  <a:off x="9960039" y="1978427"/>
                  <a:ext cx="711279" cy="272243"/>
                </a:xfrm>
                <a:prstGeom prst="rect">
                  <a:avLst/>
                </a:prstGeom>
              </p:spPr>
              <p:txBody>
                <a:bodyPr wrap="none">
                  <a:spAutoFit/>
                </a:bodyPr>
                <a:lstStyle/>
                <a:p>
                  <a:pPr defTabSz="514350" eaLnBrk="1" fontAlgn="auto" hangingPunct="1">
                    <a:spcBef>
                      <a:spcPts val="0"/>
                    </a:spcBef>
                    <a:spcAft>
                      <a:spcPts val="0"/>
                    </a:spcAft>
                    <a:defRPr/>
                  </a:pPr>
                  <a:r>
                    <a:rPr lang="zh-CN" altLang="en-US" sz="600" kern="0" dirty="0">
                      <a:solidFill>
                        <a:schemeClr val="bg1"/>
                      </a:solidFill>
                      <a:latin typeface="微软雅黑" panose="020B0503020204020204" pitchFamily="82" charset="2"/>
                      <a:ea typeface="微软雅黑" panose="020B0503020204020204" pitchFamily="82" charset="2"/>
                    </a:rPr>
                    <a:t>湖仓一体</a:t>
                  </a:r>
                </a:p>
              </p:txBody>
            </p:sp>
          </p:grpSp>
        </p:grpSp>
        <p:grpSp>
          <p:nvGrpSpPr>
            <p:cNvPr id="237" name="组合 236"/>
            <p:cNvGrpSpPr/>
            <p:nvPr/>
          </p:nvGrpSpPr>
          <p:grpSpPr bwMode="auto">
            <a:xfrm>
              <a:off x="3083726" y="2392765"/>
              <a:ext cx="7300391" cy="866749"/>
              <a:chOff x="3186183" y="2206304"/>
              <a:chExt cx="7359430" cy="894926"/>
            </a:xfrm>
          </p:grpSpPr>
          <p:sp>
            <p:nvSpPr>
              <p:cNvPr id="238" name="矩形 237"/>
              <p:cNvSpPr/>
              <p:nvPr/>
            </p:nvSpPr>
            <p:spPr>
              <a:xfrm>
                <a:off x="3622454" y="2308097"/>
                <a:ext cx="6923159" cy="173896"/>
              </a:xfrm>
              <a:prstGeom prst="rect">
                <a:avLst/>
              </a:prstGeom>
              <a:solidFill>
                <a:srgbClr val="7030A0"/>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15B0E8"/>
                  </a:solidFill>
                  <a:latin typeface="微软雅黑" panose="020B0503020204020204" pitchFamily="82" charset="2"/>
                  <a:ea typeface="微软雅黑" panose="020B0503020204020204" pitchFamily="82" charset="2"/>
                </a:endParaRPr>
              </a:p>
            </p:txBody>
          </p:sp>
          <p:sp>
            <p:nvSpPr>
              <p:cNvPr id="239" name="椭圆 238"/>
              <p:cNvSpPr/>
              <p:nvPr/>
            </p:nvSpPr>
            <p:spPr>
              <a:xfrm>
                <a:off x="3510209" y="2206304"/>
                <a:ext cx="376972" cy="364757"/>
              </a:xfrm>
              <a:prstGeom prst="ellipse">
                <a:avLst/>
              </a:prstGeom>
              <a:solidFill>
                <a:srgbClr val="7030A0"/>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240" name="文本框 239"/>
              <p:cNvSpPr txBox="1"/>
              <p:nvPr/>
            </p:nvSpPr>
            <p:spPr>
              <a:xfrm>
                <a:off x="3186183" y="2231752"/>
                <a:ext cx="302849" cy="358687"/>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zh-CN" altLang="en-US" sz="790" b="1" kern="0" dirty="0">
                    <a:solidFill>
                      <a:srgbClr val="7030A0"/>
                    </a:solidFill>
                    <a:latin typeface="微软雅黑" panose="020B0503020204020204" pitchFamily="82" charset="2"/>
                    <a:ea typeface="微软雅黑" panose="020B0503020204020204" pitchFamily="82" charset="2"/>
                  </a:rPr>
                  <a:t>分析型</a:t>
                </a:r>
              </a:p>
            </p:txBody>
          </p:sp>
          <p:sp>
            <p:nvSpPr>
              <p:cNvPr id="241" name="椭圆 240"/>
              <p:cNvSpPr/>
              <p:nvPr/>
            </p:nvSpPr>
            <p:spPr>
              <a:xfrm>
                <a:off x="7085092" y="2255079"/>
                <a:ext cx="288024" cy="288412"/>
              </a:xfrm>
              <a:prstGeom prst="ellipse">
                <a:avLst/>
              </a:prstGeom>
              <a:solidFill>
                <a:srgbClr val="30B5C5"/>
              </a:solidFill>
              <a:ln w="38100"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15B0E8"/>
                  </a:solidFill>
                  <a:latin typeface="微软雅黑" panose="020B0503020204020204" pitchFamily="82" charset="2"/>
                  <a:ea typeface="微软雅黑" panose="020B0503020204020204" pitchFamily="82" charset="2"/>
                </a:endParaRPr>
              </a:p>
            </p:txBody>
          </p:sp>
          <p:sp>
            <p:nvSpPr>
              <p:cNvPr id="242" name="文本框 241"/>
              <p:cNvSpPr txBox="1"/>
              <p:nvPr/>
            </p:nvSpPr>
            <p:spPr>
              <a:xfrm>
                <a:off x="3618219" y="2549854"/>
                <a:ext cx="1046204" cy="179345"/>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defTabSz="514350" eaLnBrk="1" fontAlgn="auto" hangingPunct="1">
                  <a:spcBef>
                    <a:spcPts val="0"/>
                  </a:spcBef>
                  <a:spcAft>
                    <a:spcPts val="0"/>
                  </a:spcAft>
                  <a:defRPr/>
                </a:pPr>
                <a:r>
                  <a:rPr lang="en-US" altLang="zh-CN" sz="790" kern="0" dirty="0">
                    <a:solidFill>
                      <a:srgbClr val="7030A0"/>
                    </a:solidFill>
                    <a:latin typeface="微软雅黑" panose="020B0503020204020204" pitchFamily="82" charset="2"/>
                    <a:ea typeface="微软雅黑" panose="020B0503020204020204" pitchFamily="82" charset="2"/>
                  </a:rPr>
                  <a:t>Teradata</a:t>
                </a:r>
                <a:endParaRPr lang="zh-CN" altLang="en-US" sz="790" kern="0" dirty="0">
                  <a:solidFill>
                    <a:srgbClr val="7030A0"/>
                  </a:solidFill>
                  <a:latin typeface="微软雅黑" panose="020B0503020204020204" pitchFamily="82" charset="2"/>
                  <a:ea typeface="微软雅黑" panose="020B0503020204020204" pitchFamily="82" charset="2"/>
                </a:endParaRPr>
              </a:p>
            </p:txBody>
          </p:sp>
          <p:sp>
            <p:nvSpPr>
              <p:cNvPr id="243" name="文本框 242"/>
              <p:cNvSpPr txBox="1"/>
              <p:nvPr/>
            </p:nvSpPr>
            <p:spPr>
              <a:xfrm>
                <a:off x="7483243" y="2511682"/>
                <a:ext cx="762417" cy="179345"/>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en-US" altLang="zh-CN" sz="790" kern="0" dirty="0" err="1">
                    <a:solidFill>
                      <a:srgbClr val="7030A0"/>
                    </a:solidFill>
                    <a:latin typeface="微软雅黑" panose="020B0503020204020204" pitchFamily="82" charset="2"/>
                    <a:ea typeface="微软雅黑" panose="020B0503020204020204" pitchFamily="82" charset="2"/>
                  </a:rPr>
                  <a:t>Cstore</a:t>
                </a:r>
                <a:endParaRPr lang="zh-CN" altLang="en-US" sz="790" kern="0" dirty="0">
                  <a:solidFill>
                    <a:srgbClr val="7030A0"/>
                  </a:solidFill>
                  <a:latin typeface="微软雅黑" panose="020B0503020204020204" pitchFamily="82" charset="2"/>
                  <a:ea typeface="微软雅黑" panose="020B0503020204020204" pitchFamily="82" charset="2"/>
                </a:endParaRPr>
              </a:p>
            </p:txBody>
          </p:sp>
          <p:sp>
            <p:nvSpPr>
              <p:cNvPr id="244" name="矩形 243"/>
              <p:cNvSpPr/>
              <p:nvPr/>
            </p:nvSpPr>
            <p:spPr>
              <a:xfrm>
                <a:off x="7299950" y="2318699"/>
                <a:ext cx="3045428" cy="179345"/>
              </a:xfrm>
              <a:prstGeom prst="rect">
                <a:avLst/>
              </a:prstGeom>
              <a:noFill/>
            </p:spPr>
            <p:txBody>
              <a:bodyPr lIns="0" tIns="0" rIns="0" bIns="0">
                <a:spAutoFit/>
              </a:bodyPr>
              <a:lstStyle/>
              <a:p>
                <a:pPr algn="ctr" defTabSz="514350" eaLnBrk="1" fontAlgn="auto" hangingPunct="1">
                  <a:spcBef>
                    <a:spcPts val="0"/>
                  </a:spcBef>
                  <a:spcAft>
                    <a:spcPts val="0"/>
                  </a:spcAft>
                  <a:defRPr/>
                </a:pPr>
                <a:r>
                  <a:rPr lang="zh-CN" altLang="en-US" sz="790" kern="0" dirty="0">
                    <a:solidFill>
                      <a:srgbClr val="FFFFFF"/>
                    </a:solidFill>
                    <a:latin typeface="微软雅黑" panose="020B0503020204020204" pitchFamily="82" charset="2"/>
                    <a:ea typeface="微软雅黑" panose="020B0503020204020204" pitchFamily="82" charset="2"/>
                  </a:rPr>
                  <a:t>列式分析、向量化、内存分析、编译执行</a:t>
                </a:r>
              </a:p>
            </p:txBody>
          </p:sp>
          <p:sp>
            <p:nvSpPr>
              <p:cNvPr id="245" name="Striped Right Arrow 45"/>
              <p:cNvSpPr/>
              <p:nvPr/>
            </p:nvSpPr>
            <p:spPr>
              <a:xfrm rot="5695148" flipV="1">
                <a:off x="3358459" y="2580980"/>
                <a:ext cx="483515" cy="556986"/>
              </a:xfrm>
              <a:custGeom>
                <a:avLst/>
                <a:gdLst>
                  <a:gd name="T0" fmla="*/ 702 w 2164"/>
                  <a:gd name="T1" fmla="*/ 1977 h 1977"/>
                  <a:gd name="T2" fmla="*/ 0 w 2164"/>
                  <a:gd name="T3" fmla="*/ 1275 h 1977"/>
                  <a:gd name="T4" fmla="*/ 702 w 2164"/>
                  <a:gd name="T5" fmla="*/ 573 h 1977"/>
                  <a:gd name="T6" fmla="*/ 702 w 2164"/>
                  <a:gd name="T7" fmla="*/ 1006 h 1977"/>
                  <a:gd name="T8" fmla="*/ 2054 w 2164"/>
                  <a:gd name="T9" fmla="*/ 131 h 1977"/>
                  <a:gd name="T10" fmla="*/ 2092 w 2164"/>
                  <a:gd name="T11" fmla="*/ 0 h 1977"/>
                  <a:gd name="T12" fmla="*/ 2130 w 2164"/>
                  <a:gd name="T13" fmla="*/ 131 h 1977"/>
                  <a:gd name="T14" fmla="*/ 2164 w 2164"/>
                  <a:gd name="T15" fmla="*/ 370 h 1977"/>
                  <a:gd name="T16" fmla="*/ 702 w 2164"/>
                  <a:gd name="T17" fmla="*/ 1542 h 1977"/>
                  <a:gd name="T18" fmla="*/ 702 w 2164"/>
                  <a:gd name="T19" fmla="*/ 1977 h 1977"/>
                  <a:gd name="T20" fmla="*/ 702 w 2164"/>
                  <a:gd name="T21" fmla="*/ 1977 h 1977"/>
                  <a:gd name="T22" fmla="*/ 112 w 2164"/>
                  <a:gd name="T23" fmla="*/ 1275 h 1977"/>
                  <a:gd name="T24" fmla="*/ 622 w 2164"/>
                  <a:gd name="T25" fmla="*/ 1785 h 1977"/>
                  <a:gd name="T26" fmla="*/ 622 w 2164"/>
                  <a:gd name="T27" fmla="*/ 1468 h 1977"/>
                  <a:gd name="T28" fmla="*/ 659 w 2164"/>
                  <a:gd name="T29" fmla="*/ 1465 h 1977"/>
                  <a:gd name="T30" fmla="*/ 2085 w 2164"/>
                  <a:gd name="T31" fmla="*/ 370 h 1977"/>
                  <a:gd name="T32" fmla="*/ 2080 w 2164"/>
                  <a:gd name="T33" fmla="*/ 286 h 1977"/>
                  <a:gd name="T34" fmla="*/ 665 w 2164"/>
                  <a:gd name="T35" fmla="*/ 1089 h 1977"/>
                  <a:gd name="T36" fmla="*/ 622 w 2164"/>
                  <a:gd name="T37" fmla="*/ 1092 h 1977"/>
                  <a:gd name="T38" fmla="*/ 622 w 2164"/>
                  <a:gd name="T39" fmla="*/ 765 h 1977"/>
                  <a:gd name="T40" fmla="*/ 112 w 2164"/>
                  <a:gd name="T41" fmla="*/ 1275 h 1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4" h="1977">
                    <a:moveTo>
                      <a:pt x="702" y="1977"/>
                    </a:moveTo>
                    <a:lnTo>
                      <a:pt x="0" y="1275"/>
                    </a:lnTo>
                    <a:lnTo>
                      <a:pt x="702" y="573"/>
                    </a:lnTo>
                    <a:lnTo>
                      <a:pt x="702" y="1006"/>
                    </a:lnTo>
                    <a:cubicBezTo>
                      <a:pt x="1369" y="943"/>
                      <a:pt x="1921" y="587"/>
                      <a:pt x="2054" y="131"/>
                    </a:cubicBezTo>
                    <a:lnTo>
                      <a:pt x="2092" y="0"/>
                    </a:lnTo>
                    <a:lnTo>
                      <a:pt x="2130" y="131"/>
                    </a:lnTo>
                    <a:cubicBezTo>
                      <a:pt x="2153" y="210"/>
                      <a:pt x="2164" y="290"/>
                      <a:pt x="2164" y="370"/>
                    </a:cubicBezTo>
                    <a:cubicBezTo>
                      <a:pt x="2164" y="967"/>
                      <a:pt x="1538" y="1466"/>
                      <a:pt x="702" y="1542"/>
                    </a:cubicBezTo>
                    <a:lnTo>
                      <a:pt x="702" y="1977"/>
                    </a:lnTo>
                    <a:lnTo>
                      <a:pt x="702" y="1977"/>
                    </a:lnTo>
                    <a:close/>
                    <a:moveTo>
                      <a:pt x="112" y="1275"/>
                    </a:moveTo>
                    <a:lnTo>
                      <a:pt x="622" y="1785"/>
                    </a:lnTo>
                    <a:lnTo>
                      <a:pt x="622" y="1468"/>
                    </a:lnTo>
                    <a:lnTo>
                      <a:pt x="659" y="1465"/>
                    </a:lnTo>
                    <a:cubicBezTo>
                      <a:pt x="1472" y="1404"/>
                      <a:pt x="2085" y="933"/>
                      <a:pt x="2085" y="370"/>
                    </a:cubicBezTo>
                    <a:cubicBezTo>
                      <a:pt x="2085" y="342"/>
                      <a:pt x="2083" y="314"/>
                      <a:pt x="2080" y="286"/>
                    </a:cubicBezTo>
                    <a:cubicBezTo>
                      <a:pt x="1877" y="723"/>
                      <a:pt x="1329" y="1039"/>
                      <a:pt x="665" y="1089"/>
                    </a:cubicBezTo>
                    <a:lnTo>
                      <a:pt x="622" y="1092"/>
                    </a:lnTo>
                    <a:lnTo>
                      <a:pt x="622" y="765"/>
                    </a:lnTo>
                    <a:lnTo>
                      <a:pt x="112" y="1275"/>
                    </a:lnTo>
                    <a:close/>
                  </a:path>
                </a:pathLst>
              </a:custGeom>
              <a:solidFill>
                <a:srgbClr val="0070C0"/>
              </a:solidFill>
              <a:ln w="12700" cap="flat" cmpd="sng" algn="ctr">
                <a:noFill/>
                <a:prstDash val="solid"/>
                <a:miter lim="800000"/>
              </a:ln>
              <a:effectLst/>
            </p:spPr>
            <p:txBody>
              <a:bodyPr lIns="51410" tIns="25705" rIns="51410" bIns="25705"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514350" fontAlgn="auto">
                  <a:spcBef>
                    <a:spcPts val="0"/>
                  </a:spcBef>
                  <a:spcAft>
                    <a:spcPts val="0"/>
                  </a:spcAft>
                  <a:defRPr/>
                </a:pPr>
                <a:endParaRPr lang="zh-CN" altLang="en-US" sz="790">
                  <a:solidFill>
                    <a:srgbClr val="FFFFFF"/>
                  </a:solidFill>
                  <a:latin typeface="微软雅黑" panose="020B0503020204020204" pitchFamily="82" charset="2"/>
                  <a:ea typeface="微软雅黑" panose="020B0503020204020204" pitchFamily="82" charset="2"/>
                </a:endParaRPr>
              </a:p>
            </p:txBody>
          </p:sp>
          <p:sp>
            <p:nvSpPr>
              <p:cNvPr id="246" name="矩形 153"/>
              <p:cNvSpPr>
                <a:spLocks noChangeArrowheads="1"/>
              </p:cNvSpPr>
              <p:nvPr/>
            </p:nvSpPr>
            <p:spPr bwMode="auto">
              <a:xfrm>
                <a:off x="3736404" y="2914975"/>
                <a:ext cx="421024" cy="179345"/>
              </a:xfrm>
              <a:prstGeom prst="rect">
                <a:avLst/>
              </a:prstGeom>
              <a:solidFill>
                <a:srgbClr val="666666"/>
              </a:solidFill>
              <a:ln>
                <a:noFill/>
              </a:ln>
            </p:spPr>
            <p:txBody>
              <a:bodyPr lIns="0" tIns="0" rIns="0" bIns="0">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defRPr/>
                </a:pPr>
                <a:r>
                  <a:rPr lang="zh-CN" altLang="en-US" sz="790" kern="0" dirty="0">
                    <a:solidFill>
                      <a:srgbClr val="FFFFFF"/>
                    </a:solidFill>
                    <a:latin typeface="微软雅黑" panose="020B0503020204020204" pitchFamily="82" charset="2"/>
                    <a:ea typeface="微软雅黑" panose="020B0503020204020204" pitchFamily="82" charset="2"/>
                  </a:rPr>
                  <a:t>分析</a:t>
                </a:r>
              </a:p>
            </p:txBody>
          </p:sp>
        </p:grpSp>
        <p:grpSp>
          <p:nvGrpSpPr>
            <p:cNvPr id="247" name="组合 246"/>
            <p:cNvGrpSpPr/>
            <p:nvPr/>
          </p:nvGrpSpPr>
          <p:grpSpPr bwMode="auto">
            <a:xfrm>
              <a:off x="1119448" y="2869277"/>
              <a:ext cx="9264670" cy="1210037"/>
              <a:chOff x="1206624" y="2697684"/>
              <a:chExt cx="9338989" cy="1248484"/>
            </a:xfrm>
          </p:grpSpPr>
          <p:sp>
            <p:nvSpPr>
              <p:cNvPr id="248" name="矩形 247"/>
              <p:cNvSpPr/>
              <p:nvPr/>
            </p:nvSpPr>
            <p:spPr>
              <a:xfrm>
                <a:off x="2608530" y="3511445"/>
                <a:ext cx="952957" cy="160072"/>
              </a:xfrm>
              <a:prstGeom prst="rect">
                <a:avLst/>
              </a:prstGeom>
              <a:noFill/>
              <a:ln w="19050">
                <a:noFill/>
              </a:ln>
            </p:spPr>
            <p:txBody>
              <a:bodyPr lIns="0" tIns="0" rIns="0" bIns="0">
                <a:spAutoFit/>
              </a:bodyPr>
              <a:lstStyle/>
              <a:p>
                <a:pPr algn="ctr" defTabSz="514350" eaLnBrk="1" fontAlgn="auto" hangingPunct="1">
                  <a:lnSpc>
                    <a:spcPct val="130000"/>
                  </a:lnSpc>
                  <a:spcBef>
                    <a:spcPts val="0"/>
                  </a:spcBef>
                  <a:spcAft>
                    <a:spcPts val="0"/>
                  </a:spcAft>
                  <a:defRPr/>
                </a:pPr>
                <a:r>
                  <a:rPr lang="en-US" altLang="zh-CN" sz="600" kern="0" dirty="0">
                    <a:solidFill>
                      <a:srgbClr val="0070C0"/>
                    </a:solidFill>
                    <a:latin typeface="微软雅黑" panose="020B0503020204020204" pitchFamily="82" charset="2"/>
                    <a:ea typeface="微软雅黑" panose="020B0503020204020204" pitchFamily="82" charset="2"/>
                  </a:rPr>
                  <a:t>ORACLE</a:t>
                </a:r>
                <a:endParaRPr lang="zh-CN" altLang="en-US" sz="600" kern="0" dirty="0">
                  <a:solidFill>
                    <a:srgbClr val="0070C0"/>
                  </a:solidFill>
                  <a:latin typeface="微软雅黑" panose="020B0503020204020204" pitchFamily="82" charset="2"/>
                  <a:ea typeface="微软雅黑" panose="020B0503020204020204" pitchFamily="82" charset="2"/>
                </a:endParaRPr>
              </a:p>
            </p:txBody>
          </p:sp>
          <p:grpSp>
            <p:nvGrpSpPr>
              <p:cNvPr id="249" name="组合 116"/>
              <p:cNvGrpSpPr/>
              <p:nvPr/>
            </p:nvGrpSpPr>
            <p:grpSpPr bwMode="auto">
              <a:xfrm>
                <a:off x="1206624" y="2697684"/>
                <a:ext cx="9338989" cy="1248484"/>
                <a:chOff x="1206624" y="2697684"/>
                <a:chExt cx="9338989" cy="1248484"/>
              </a:xfrm>
            </p:grpSpPr>
            <p:grpSp>
              <p:nvGrpSpPr>
                <p:cNvPr id="250" name="组合 70"/>
                <p:cNvGrpSpPr/>
                <p:nvPr/>
              </p:nvGrpSpPr>
              <p:grpSpPr bwMode="auto">
                <a:xfrm>
                  <a:off x="1206624" y="2697684"/>
                  <a:ext cx="9338989" cy="1108327"/>
                  <a:chOff x="1206624" y="2697684"/>
                  <a:chExt cx="9338989" cy="1108327"/>
                </a:xfrm>
              </p:grpSpPr>
              <p:cxnSp>
                <p:nvCxnSpPr>
                  <p:cNvPr id="264" name="肘形连接符 263"/>
                  <p:cNvCxnSpPr>
                    <a:stCxn id="190" idx="3"/>
                    <a:endCxn id="267" idx="2"/>
                  </p:cNvCxnSpPr>
                  <p:nvPr/>
                </p:nvCxnSpPr>
                <p:spPr>
                  <a:xfrm flipV="1">
                    <a:off x="1236272" y="3312244"/>
                    <a:ext cx="673424" cy="493767"/>
                  </a:xfrm>
                  <a:prstGeom prst="bentConnector3">
                    <a:avLst>
                      <a:gd name="adj1" fmla="val 50000"/>
                    </a:avLst>
                  </a:prstGeom>
                  <a:noFill/>
                  <a:ln w="19050" cap="flat" cmpd="sng" algn="ctr">
                    <a:solidFill>
                      <a:srgbClr val="0070C0"/>
                    </a:solidFill>
                    <a:prstDash val="sysDot"/>
                    <a:miter lim="800000"/>
                  </a:ln>
                  <a:effectLst/>
                </p:spPr>
              </p:cxnSp>
              <p:sp>
                <p:nvSpPr>
                  <p:cNvPr id="265" name="矩形 264"/>
                  <p:cNvSpPr/>
                  <p:nvPr/>
                </p:nvSpPr>
                <p:spPr>
                  <a:xfrm>
                    <a:off x="2278172" y="3157544"/>
                    <a:ext cx="8267441" cy="345426"/>
                  </a:xfrm>
                  <a:prstGeom prst="rect">
                    <a:avLst/>
                  </a:prstGeom>
                  <a:solidFill>
                    <a:srgbClr val="0070C0"/>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cxnSp>
                <p:nvCxnSpPr>
                  <p:cNvPr id="266" name="肘形连接符 265"/>
                  <p:cNvCxnSpPr>
                    <a:stCxn id="186" idx="3"/>
                    <a:endCxn id="267" idx="2"/>
                  </p:cNvCxnSpPr>
                  <p:nvPr/>
                </p:nvCxnSpPr>
                <p:spPr>
                  <a:xfrm>
                    <a:off x="1206624" y="2697684"/>
                    <a:ext cx="703071" cy="614560"/>
                  </a:xfrm>
                  <a:prstGeom prst="bentConnector3">
                    <a:avLst/>
                  </a:prstGeom>
                  <a:noFill/>
                  <a:ln w="19050" cap="flat" cmpd="sng" algn="ctr">
                    <a:solidFill>
                      <a:srgbClr val="0070C0"/>
                    </a:solidFill>
                    <a:prstDash val="sysDot"/>
                    <a:miter lim="800000"/>
                  </a:ln>
                  <a:effectLst/>
                </p:spPr>
              </p:cxnSp>
              <p:sp>
                <p:nvSpPr>
                  <p:cNvPr id="267" name="椭圆 266"/>
                  <p:cNvSpPr/>
                  <p:nvPr/>
                </p:nvSpPr>
                <p:spPr>
                  <a:xfrm>
                    <a:off x="1909695" y="3077015"/>
                    <a:ext cx="470126" cy="472576"/>
                  </a:xfrm>
                  <a:prstGeom prst="ellipse">
                    <a:avLst/>
                  </a:prstGeom>
                  <a:solidFill>
                    <a:srgbClr val="0070C0"/>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268" name="矩形 22"/>
                  <p:cNvSpPr>
                    <a:spLocks noChangeArrowheads="1"/>
                  </p:cNvSpPr>
                  <p:nvPr/>
                </p:nvSpPr>
                <p:spPr bwMode="auto">
                  <a:xfrm>
                    <a:off x="1436218" y="2921547"/>
                    <a:ext cx="294106" cy="358431"/>
                  </a:xfrm>
                  <a:prstGeom prst="rect">
                    <a:avLst/>
                  </a:prstGeom>
                  <a:solidFill>
                    <a:srgbClr val="666666"/>
                  </a:solidFill>
                  <a:ln>
                    <a:noFill/>
                  </a:ln>
                </p:spPr>
                <p:txBody>
                  <a:bodyPr lIns="0" tIns="0" rIns="0" bIns="0">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defRPr/>
                    </a:pPr>
                    <a:r>
                      <a:rPr lang="zh-CN" altLang="en-US" sz="790" kern="0">
                        <a:solidFill>
                          <a:srgbClr val="FFFFFF"/>
                        </a:solidFill>
                        <a:latin typeface="微软雅黑" panose="020B0503020204020204" pitchFamily="82" charset="2"/>
                        <a:ea typeface="微软雅黑" panose="020B0503020204020204" pitchFamily="82" charset="2"/>
                      </a:rPr>
                      <a:t>关系模型</a:t>
                    </a:r>
                  </a:p>
                </p:txBody>
              </p:sp>
            </p:grpSp>
            <p:sp>
              <p:nvSpPr>
                <p:cNvPr id="251" name="矩形 250"/>
                <p:cNvSpPr/>
                <p:nvPr/>
              </p:nvSpPr>
              <p:spPr>
                <a:xfrm>
                  <a:off x="2032521" y="3587737"/>
                  <a:ext cx="290123" cy="358431"/>
                </a:xfrm>
                <a:prstGeom prst="rect">
                  <a:avLst/>
                </a:prstGeom>
                <a:noFill/>
              </p:spPr>
              <p:txBody>
                <a:bodyPr lIns="0" tIns="0" rIns="0" bIns="0">
                  <a:spAutoFit/>
                </a:bodyPr>
                <a:lstStyle/>
                <a:p>
                  <a:pPr defTabSz="514350" eaLnBrk="1" fontAlgn="auto" hangingPunct="1">
                    <a:spcBef>
                      <a:spcPts val="0"/>
                    </a:spcBef>
                    <a:spcAft>
                      <a:spcPts val="0"/>
                    </a:spcAft>
                    <a:defRPr/>
                  </a:pPr>
                  <a:r>
                    <a:rPr lang="zh-CN" altLang="en-US" sz="790" b="1" kern="0" dirty="0">
                      <a:solidFill>
                        <a:srgbClr val="0070C0"/>
                      </a:solidFill>
                      <a:latin typeface="微软雅黑" panose="020B0503020204020204" pitchFamily="82" charset="2"/>
                      <a:ea typeface="微软雅黑" panose="020B0503020204020204" pitchFamily="82" charset="2"/>
                    </a:rPr>
                    <a:t>关系型</a:t>
                  </a:r>
                </a:p>
              </p:txBody>
            </p:sp>
            <p:sp>
              <p:nvSpPr>
                <p:cNvPr id="252" name="矩形 251"/>
                <p:cNvSpPr/>
                <p:nvPr/>
              </p:nvSpPr>
              <p:spPr>
                <a:xfrm>
                  <a:off x="3478901" y="3538993"/>
                  <a:ext cx="408711" cy="272947"/>
                </a:xfrm>
                <a:prstGeom prst="rect">
                  <a:avLst/>
                </a:prstGeom>
                <a:noFill/>
              </p:spPr>
              <p:txBody>
                <a:bodyPr lIns="0" tIns="0" rIns="0" bIns="0">
                  <a:spAutoFit/>
                </a:bodyPr>
                <a:lstStyle/>
                <a:p>
                  <a:pPr algn="ctr" defTabSz="514350" eaLnBrk="1" fontAlgn="auto" hangingPunct="1">
                    <a:spcBef>
                      <a:spcPts val="0"/>
                    </a:spcBef>
                    <a:spcAft>
                      <a:spcPts val="0"/>
                    </a:spcAft>
                    <a:defRPr/>
                  </a:pPr>
                  <a:r>
                    <a:rPr lang="en-US" altLang="zh-CN" sz="600" kern="0" dirty="0">
                      <a:solidFill>
                        <a:srgbClr val="0070C0"/>
                      </a:solidFill>
                      <a:latin typeface="微软雅黑" panose="020B0503020204020204" pitchFamily="82" charset="2"/>
                      <a:ea typeface="微软雅黑" panose="020B0503020204020204" pitchFamily="82" charset="2"/>
                    </a:rPr>
                    <a:t>IBM</a:t>
                  </a:r>
                </a:p>
                <a:p>
                  <a:pPr algn="ctr" defTabSz="514350" eaLnBrk="1" fontAlgn="auto" hangingPunct="1">
                    <a:spcBef>
                      <a:spcPts val="0"/>
                    </a:spcBef>
                    <a:spcAft>
                      <a:spcPts val="0"/>
                    </a:spcAft>
                    <a:defRPr/>
                  </a:pPr>
                  <a:r>
                    <a:rPr lang="en-US" altLang="zh-CN" sz="600" kern="0" dirty="0">
                      <a:solidFill>
                        <a:srgbClr val="0070C0"/>
                      </a:solidFill>
                      <a:latin typeface="微软雅黑" panose="020B0503020204020204" pitchFamily="82" charset="2"/>
                      <a:ea typeface="微软雅黑" panose="020B0503020204020204" pitchFamily="82" charset="2"/>
                    </a:rPr>
                    <a:t>DB2</a:t>
                  </a:r>
                  <a:endParaRPr lang="zh-CN" altLang="en-US" sz="600" kern="0" dirty="0">
                    <a:solidFill>
                      <a:srgbClr val="0070C0"/>
                    </a:solidFill>
                    <a:latin typeface="微软雅黑" panose="020B0503020204020204" pitchFamily="82" charset="2"/>
                    <a:ea typeface="微软雅黑" panose="020B0503020204020204" pitchFamily="82" charset="2"/>
                  </a:endParaRPr>
                </a:p>
              </p:txBody>
            </p:sp>
            <p:sp>
              <p:nvSpPr>
                <p:cNvPr id="253" name="矩形 252"/>
                <p:cNvSpPr/>
                <p:nvPr/>
              </p:nvSpPr>
              <p:spPr>
                <a:xfrm>
                  <a:off x="3955379" y="3536877"/>
                  <a:ext cx="584481" cy="272947"/>
                </a:xfrm>
                <a:prstGeom prst="rect">
                  <a:avLst/>
                </a:prstGeom>
                <a:noFill/>
              </p:spPr>
              <p:txBody>
                <a:bodyPr lIns="0" tIns="0" rIns="0" bIns="0">
                  <a:spAutoFit/>
                </a:bodyPr>
                <a:lstStyle/>
                <a:p>
                  <a:pPr algn="ctr" defTabSz="514350" eaLnBrk="1" fontAlgn="auto" hangingPunct="1">
                    <a:spcBef>
                      <a:spcPts val="0"/>
                    </a:spcBef>
                    <a:spcAft>
                      <a:spcPts val="0"/>
                    </a:spcAft>
                    <a:defRPr/>
                  </a:pPr>
                  <a:r>
                    <a:rPr lang="en-US" altLang="zh-CN" sz="600" kern="0" dirty="0">
                      <a:solidFill>
                        <a:srgbClr val="0070C0"/>
                      </a:solidFill>
                      <a:latin typeface="微软雅黑" panose="020B0503020204020204" pitchFamily="82" charset="2"/>
                      <a:ea typeface="微软雅黑" panose="020B0503020204020204" pitchFamily="82" charset="2"/>
                    </a:rPr>
                    <a:t>SAP</a:t>
                  </a:r>
                </a:p>
                <a:p>
                  <a:pPr algn="ctr" defTabSz="514350" eaLnBrk="1" fontAlgn="auto" hangingPunct="1">
                    <a:spcBef>
                      <a:spcPts val="0"/>
                    </a:spcBef>
                    <a:spcAft>
                      <a:spcPts val="0"/>
                    </a:spcAft>
                    <a:defRPr/>
                  </a:pPr>
                  <a:r>
                    <a:rPr lang="en-US" altLang="zh-CN" sz="600" kern="0" dirty="0">
                      <a:solidFill>
                        <a:srgbClr val="0070C0"/>
                      </a:solidFill>
                      <a:latin typeface="微软雅黑" panose="020B0503020204020204" pitchFamily="82" charset="2"/>
                      <a:ea typeface="微软雅黑" panose="020B0503020204020204" pitchFamily="82" charset="2"/>
                    </a:rPr>
                    <a:t>Sybase</a:t>
                  </a:r>
                  <a:endParaRPr lang="zh-CN" altLang="en-US" sz="600" kern="0" dirty="0">
                    <a:solidFill>
                      <a:srgbClr val="0070C0"/>
                    </a:solidFill>
                    <a:latin typeface="微软雅黑" panose="020B0503020204020204" pitchFamily="82" charset="2"/>
                    <a:ea typeface="微软雅黑" panose="020B0503020204020204" pitchFamily="82" charset="2"/>
                  </a:endParaRPr>
                </a:p>
              </p:txBody>
            </p:sp>
            <p:sp>
              <p:nvSpPr>
                <p:cNvPr id="254" name="矩形 253"/>
                <p:cNvSpPr/>
                <p:nvPr/>
              </p:nvSpPr>
              <p:spPr>
                <a:xfrm>
                  <a:off x="4548331" y="3532638"/>
                  <a:ext cx="584481" cy="272947"/>
                </a:xfrm>
                <a:prstGeom prst="rect">
                  <a:avLst/>
                </a:prstGeom>
                <a:noFill/>
              </p:spPr>
              <p:txBody>
                <a:bodyPr lIns="0" tIns="0" rIns="0" bIns="0">
                  <a:spAutoFit/>
                </a:bodyPr>
                <a:lstStyle/>
                <a:p>
                  <a:pPr algn="ctr" defTabSz="514350" eaLnBrk="1" fontAlgn="auto" hangingPunct="1">
                    <a:spcBef>
                      <a:spcPts val="0"/>
                    </a:spcBef>
                    <a:spcAft>
                      <a:spcPts val="0"/>
                    </a:spcAft>
                    <a:defRPr/>
                  </a:pPr>
                  <a:r>
                    <a:rPr lang="en-US" altLang="zh-CN" sz="600" kern="0" dirty="0">
                      <a:solidFill>
                        <a:srgbClr val="0070C0"/>
                      </a:solidFill>
                      <a:latin typeface="微软雅黑" panose="020B0503020204020204" pitchFamily="82" charset="2"/>
                      <a:ea typeface="微软雅黑" panose="020B0503020204020204" pitchFamily="82" charset="2"/>
                    </a:rPr>
                    <a:t>Informix</a:t>
                  </a:r>
                </a:p>
                <a:p>
                  <a:pPr algn="ctr" defTabSz="514350" eaLnBrk="1" fontAlgn="auto" hangingPunct="1">
                    <a:spcBef>
                      <a:spcPts val="0"/>
                    </a:spcBef>
                    <a:spcAft>
                      <a:spcPts val="0"/>
                    </a:spcAft>
                    <a:defRPr/>
                  </a:pPr>
                  <a:r>
                    <a:rPr lang="en-US" altLang="zh-CN" sz="600" kern="0" dirty="0" err="1">
                      <a:solidFill>
                        <a:srgbClr val="0070C0"/>
                      </a:solidFill>
                      <a:latin typeface="微软雅黑" panose="020B0503020204020204" pitchFamily="82" charset="2"/>
                      <a:ea typeface="微软雅黑" panose="020B0503020204020204" pitchFamily="82" charset="2"/>
                    </a:rPr>
                    <a:t>SQLSever</a:t>
                  </a:r>
                  <a:endParaRPr lang="zh-CN" altLang="en-US" sz="600" kern="0" dirty="0">
                    <a:solidFill>
                      <a:srgbClr val="0070C0"/>
                    </a:solidFill>
                    <a:latin typeface="微软雅黑" panose="020B0503020204020204" pitchFamily="82" charset="2"/>
                    <a:ea typeface="微软雅黑" panose="020B0503020204020204" pitchFamily="82" charset="2"/>
                  </a:endParaRPr>
                </a:p>
              </p:txBody>
            </p:sp>
            <p:sp>
              <p:nvSpPr>
                <p:cNvPr id="255" name="椭圆 254"/>
                <p:cNvSpPr/>
                <p:nvPr/>
              </p:nvSpPr>
              <p:spPr>
                <a:xfrm>
                  <a:off x="5575408" y="3176617"/>
                  <a:ext cx="288005" cy="290326"/>
                </a:xfrm>
                <a:prstGeom prst="ellipse">
                  <a:avLst/>
                </a:prstGeom>
                <a:solidFill>
                  <a:srgbClr val="0070C0"/>
                </a:solidFill>
                <a:ln w="38100"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256" name="矩形 54"/>
                <p:cNvSpPr>
                  <a:spLocks noChangeArrowheads="1"/>
                </p:cNvSpPr>
                <p:nvPr/>
              </p:nvSpPr>
              <p:spPr bwMode="auto">
                <a:xfrm>
                  <a:off x="5854485" y="3234019"/>
                  <a:ext cx="862916" cy="179217"/>
                </a:xfrm>
                <a:prstGeom prst="rect">
                  <a:avLst/>
                </a:prstGeom>
                <a:noFill/>
                <a:ln>
                  <a:noFill/>
                </a:ln>
              </p:spPr>
              <p:txBody>
                <a:bodyPr lIns="0" tIns="0" rIns="0" bIns="0">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defRPr/>
                  </a:pPr>
                  <a:r>
                    <a:rPr lang="zh-CN" altLang="en-US" sz="790" kern="0">
                      <a:solidFill>
                        <a:srgbClr val="FFFFFF"/>
                      </a:solidFill>
                      <a:latin typeface="微软雅黑" panose="020B0503020204020204" pitchFamily="82" charset="2"/>
                      <a:ea typeface="微软雅黑" panose="020B0503020204020204" pitchFamily="82" charset="2"/>
                    </a:rPr>
                    <a:t>互联网兴起</a:t>
                  </a:r>
                </a:p>
              </p:txBody>
            </p:sp>
            <p:grpSp>
              <p:nvGrpSpPr>
                <p:cNvPr id="257" name="组合 79"/>
                <p:cNvGrpSpPr/>
                <p:nvPr/>
              </p:nvGrpSpPr>
              <p:grpSpPr bwMode="auto">
                <a:xfrm>
                  <a:off x="2551354" y="3182974"/>
                  <a:ext cx="2335874" cy="668386"/>
                  <a:chOff x="2551354" y="3182974"/>
                  <a:chExt cx="2335874" cy="668386"/>
                </a:xfrm>
              </p:grpSpPr>
              <p:sp>
                <p:nvSpPr>
                  <p:cNvPr id="261" name="矩形 25"/>
                  <p:cNvSpPr>
                    <a:spLocks noChangeArrowheads="1"/>
                  </p:cNvSpPr>
                  <p:nvPr/>
                </p:nvSpPr>
                <p:spPr bwMode="auto">
                  <a:xfrm>
                    <a:off x="3302066" y="3241719"/>
                    <a:ext cx="1585162" cy="179217"/>
                  </a:xfrm>
                  <a:prstGeom prst="rect">
                    <a:avLst/>
                  </a:prstGeom>
                  <a:noFill/>
                  <a:ln>
                    <a:noFill/>
                  </a:ln>
                </p:spPr>
                <p:txBody>
                  <a:bodyPr lIns="0" tIns="0" rIns="0" bIns="0">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513080" eaLnBrk="1" hangingPunct="1">
                      <a:defRPr/>
                    </a:pPr>
                    <a:r>
                      <a:rPr lang="en-US" altLang="zh-CN" sz="790" kern="0">
                        <a:solidFill>
                          <a:srgbClr val="FFFFFF"/>
                        </a:solidFill>
                        <a:latin typeface="微软雅黑" panose="020B0503020204020204" pitchFamily="82" charset="2"/>
                        <a:ea typeface="微软雅黑" panose="020B0503020204020204" pitchFamily="82" charset="2"/>
                      </a:rPr>
                      <a:t>System R</a:t>
                    </a:r>
                    <a:r>
                      <a:rPr lang="zh-CN" altLang="en-US" sz="790" kern="0">
                        <a:solidFill>
                          <a:srgbClr val="FFFFFF"/>
                        </a:solidFill>
                        <a:latin typeface="微软雅黑" panose="020B0503020204020204" pitchFamily="82" charset="2"/>
                        <a:ea typeface="微软雅黑" panose="020B0503020204020204" pitchFamily="82" charset="2"/>
                      </a:rPr>
                      <a:t>（</a:t>
                    </a:r>
                    <a:r>
                      <a:rPr lang="en-US" altLang="zh-CN" sz="790" kern="0">
                        <a:solidFill>
                          <a:srgbClr val="FFFFFF"/>
                        </a:solidFill>
                        <a:latin typeface="微软雅黑" panose="020B0503020204020204" pitchFamily="82" charset="2"/>
                        <a:ea typeface="微软雅黑" panose="020B0503020204020204" pitchFamily="82" charset="2"/>
                      </a:rPr>
                      <a:t>SQL</a:t>
                    </a:r>
                    <a:r>
                      <a:rPr lang="zh-CN" altLang="en-US" sz="790" kern="0">
                        <a:solidFill>
                          <a:srgbClr val="FFFFFF"/>
                        </a:solidFill>
                        <a:latin typeface="微软雅黑" panose="020B0503020204020204" pitchFamily="82" charset="2"/>
                        <a:ea typeface="微软雅黑" panose="020B0503020204020204" pitchFamily="82" charset="2"/>
                      </a:rPr>
                      <a:t>）</a:t>
                    </a:r>
                  </a:p>
                </p:txBody>
              </p:sp>
              <p:sp>
                <p:nvSpPr>
                  <p:cNvPr id="262" name="矩形 261"/>
                  <p:cNvSpPr/>
                  <p:nvPr/>
                </p:nvSpPr>
                <p:spPr>
                  <a:xfrm>
                    <a:off x="2551354" y="3714887"/>
                    <a:ext cx="955075" cy="136473"/>
                  </a:xfrm>
                  <a:prstGeom prst="rect">
                    <a:avLst/>
                  </a:prstGeom>
                  <a:noFill/>
                </p:spPr>
                <p:txBody>
                  <a:bodyPr lIns="0" tIns="0" rIns="0" bIns="0">
                    <a:spAutoFit/>
                  </a:bodyPr>
                  <a:lstStyle/>
                  <a:p>
                    <a:pPr algn="ctr" defTabSz="514350" eaLnBrk="1" fontAlgn="auto" hangingPunct="1">
                      <a:spcBef>
                        <a:spcPts val="0"/>
                      </a:spcBef>
                      <a:spcAft>
                        <a:spcPts val="0"/>
                      </a:spcAft>
                      <a:defRPr/>
                    </a:pPr>
                    <a:r>
                      <a:rPr lang="en-US" altLang="zh-CN" sz="600" kern="0" dirty="0">
                        <a:solidFill>
                          <a:srgbClr val="0070C0"/>
                        </a:solidFill>
                        <a:latin typeface="微软雅黑" panose="020B0503020204020204" pitchFamily="82" charset="2"/>
                        <a:ea typeface="微软雅黑" panose="020B0503020204020204" pitchFamily="82" charset="2"/>
                      </a:rPr>
                      <a:t>1</a:t>
                    </a:r>
                    <a:r>
                      <a:rPr lang="en-US" altLang="zh-CN" sz="600" kern="0" baseline="30000" dirty="0">
                        <a:solidFill>
                          <a:srgbClr val="0070C0"/>
                        </a:solidFill>
                        <a:latin typeface="微软雅黑" panose="020B0503020204020204" pitchFamily="82" charset="2"/>
                        <a:ea typeface="微软雅黑" panose="020B0503020204020204" pitchFamily="82" charset="2"/>
                      </a:rPr>
                      <a:t>st </a:t>
                    </a:r>
                    <a:r>
                      <a:rPr lang="zh-CN" altLang="en-US" sz="600" kern="0" dirty="0">
                        <a:solidFill>
                          <a:srgbClr val="0070C0"/>
                        </a:solidFill>
                        <a:latin typeface="微软雅黑" panose="020B0503020204020204" pitchFamily="82" charset="2"/>
                        <a:ea typeface="微软雅黑" panose="020B0503020204020204" pitchFamily="82" charset="2"/>
                      </a:rPr>
                      <a:t>商用</a:t>
                    </a:r>
                  </a:p>
                </p:txBody>
              </p:sp>
              <p:sp>
                <p:nvSpPr>
                  <p:cNvPr id="263" name="椭圆 262"/>
                  <p:cNvSpPr/>
                  <p:nvPr/>
                </p:nvSpPr>
                <p:spPr>
                  <a:xfrm>
                    <a:off x="2849947" y="3182974"/>
                    <a:ext cx="288005" cy="288207"/>
                  </a:xfrm>
                  <a:prstGeom prst="ellipse">
                    <a:avLst/>
                  </a:prstGeom>
                  <a:solidFill>
                    <a:srgbClr val="0070C0"/>
                  </a:solidFill>
                  <a:ln w="38100"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grpSp>
            <p:sp>
              <p:nvSpPr>
                <p:cNvPr id="258" name="椭圆 257"/>
                <p:cNvSpPr/>
                <p:nvPr/>
              </p:nvSpPr>
              <p:spPr>
                <a:xfrm>
                  <a:off x="6829077" y="3178736"/>
                  <a:ext cx="288005" cy="290327"/>
                </a:xfrm>
                <a:prstGeom prst="ellipse">
                  <a:avLst/>
                </a:prstGeom>
                <a:solidFill>
                  <a:srgbClr val="0070C0"/>
                </a:solidFill>
                <a:ln w="38100"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259" name="矩形 155"/>
                <p:cNvSpPr>
                  <a:spLocks noChangeArrowheads="1"/>
                </p:cNvSpPr>
                <p:nvPr/>
              </p:nvSpPr>
              <p:spPr bwMode="auto">
                <a:xfrm>
                  <a:off x="7291799" y="3226324"/>
                  <a:ext cx="2511707" cy="179217"/>
                </a:xfrm>
                <a:prstGeom prst="rect">
                  <a:avLst/>
                </a:prstGeom>
                <a:noFill/>
                <a:ln>
                  <a:noFill/>
                </a:ln>
              </p:spPr>
              <p:txBody>
                <a:bodyPr lIns="0" tIns="0" rIns="0" bIns="0">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defRPr/>
                  </a:pPr>
                  <a:r>
                    <a:rPr lang="zh-CN" altLang="en-US" sz="790" kern="0">
                      <a:solidFill>
                        <a:srgbClr val="FFFFFF"/>
                      </a:solidFill>
                      <a:latin typeface="微软雅黑" panose="020B0503020204020204" pitchFamily="82" charset="2"/>
                      <a:ea typeface="微软雅黑" panose="020B0503020204020204" pitchFamily="82" charset="2"/>
                    </a:rPr>
                    <a:t>内存计算、</a:t>
                  </a:r>
                  <a:r>
                    <a:rPr lang="en-US" altLang="zh-CN" sz="790" kern="0">
                      <a:solidFill>
                        <a:srgbClr val="FFFFFF"/>
                      </a:solidFill>
                      <a:latin typeface="微软雅黑" panose="020B0503020204020204" pitchFamily="82" charset="2"/>
                      <a:ea typeface="微软雅黑" panose="020B0503020204020204" pitchFamily="82" charset="2"/>
                    </a:rPr>
                    <a:t>HTAP</a:t>
                  </a:r>
                  <a:r>
                    <a:rPr lang="zh-CN" altLang="en-US" sz="790" kern="0">
                      <a:solidFill>
                        <a:srgbClr val="FFFFFF"/>
                      </a:solidFill>
                      <a:latin typeface="微软雅黑" panose="020B0503020204020204" pitchFamily="82" charset="2"/>
                      <a:ea typeface="微软雅黑" panose="020B0503020204020204" pitchFamily="82" charset="2"/>
                    </a:rPr>
                    <a:t>、</a:t>
                  </a:r>
                  <a:r>
                    <a:rPr lang="en-US" altLang="zh-CN" sz="790" kern="0">
                      <a:solidFill>
                        <a:srgbClr val="FFFFFF"/>
                      </a:solidFill>
                      <a:latin typeface="微软雅黑" panose="020B0503020204020204" pitchFamily="82" charset="2"/>
                      <a:ea typeface="微软雅黑" panose="020B0503020204020204" pitchFamily="82" charset="2"/>
                    </a:rPr>
                    <a:t>NVM</a:t>
                  </a:r>
                  <a:r>
                    <a:rPr lang="zh-CN" altLang="en-US" sz="790" kern="0">
                      <a:solidFill>
                        <a:srgbClr val="FFFFFF"/>
                      </a:solidFill>
                      <a:latin typeface="微软雅黑" panose="020B0503020204020204" pitchFamily="82" charset="2"/>
                      <a:ea typeface="微软雅黑" panose="020B0503020204020204" pitchFamily="82" charset="2"/>
                    </a:rPr>
                    <a:t>、</a:t>
                  </a:r>
                  <a:r>
                    <a:rPr lang="en-US" altLang="zh-CN" sz="790" kern="0">
                      <a:solidFill>
                        <a:srgbClr val="FFFFFF"/>
                      </a:solidFill>
                      <a:latin typeface="微软雅黑" panose="020B0503020204020204" pitchFamily="82" charset="2"/>
                      <a:ea typeface="微软雅黑" panose="020B0503020204020204" pitchFamily="82" charset="2"/>
                    </a:rPr>
                    <a:t>RDMA</a:t>
                  </a: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260" name="矩形 259"/>
                <p:cNvSpPr/>
                <p:nvPr/>
              </p:nvSpPr>
              <p:spPr>
                <a:xfrm>
                  <a:off x="4084557" y="2981652"/>
                  <a:ext cx="1948270" cy="179217"/>
                </a:xfrm>
                <a:prstGeom prst="rect">
                  <a:avLst/>
                </a:prstGeom>
                <a:noFill/>
              </p:spPr>
              <p:txBody>
                <a:bodyPr lIns="0" tIns="0" rIns="0" bIns="0">
                  <a:spAutoFit/>
                </a:bodyPr>
                <a:lstStyle/>
                <a:p>
                  <a:pPr algn="ctr" defTabSz="514350" eaLnBrk="1" fontAlgn="auto" hangingPunct="1">
                    <a:spcBef>
                      <a:spcPts val="0"/>
                    </a:spcBef>
                    <a:spcAft>
                      <a:spcPts val="0"/>
                    </a:spcAft>
                    <a:defRPr/>
                  </a:pPr>
                  <a:r>
                    <a:rPr lang="en-US" altLang="zh-CN" sz="790" kern="0" dirty="0">
                      <a:solidFill>
                        <a:srgbClr val="0070C0"/>
                      </a:solidFill>
                      <a:latin typeface="微软雅黑" panose="020B0503020204020204" pitchFamily="82" charset="2"/>
                      <a:ea typeface="微软雅黑" panose="020B0503020204020204" pitchFamily="82" charset="2"/>
                    </a:rPr>
                    <a:t>PostgreSQL</a:t>
                  </a:r>
                  <a:r>
                    <a:rPr lang="zh-CN" altLang="en-US" sz="790" kern="0" dirty="0">
                      <a:solidFill>
                        <a:srgbClr val="0070C0"/>
                      </a:solidFill>
                      <a:latin typeface="微软雅黑" panose="020B0503020204020204" pitchFamily="82" charset="2"/>
                      <a:ea typeface="微软雅黑" panose="020B0503020204020204" pitchFamily="82" charset="2"/>
                    </a:rPr>
                    <a:t>         </a:t>
                  </a:r>
                  <a:r>
                    <a:rPr lang="en-US" altLang="zh-CN" sz="790" kern="0" dirty="0">
                      <a:solidFill>
                        <a:srgbClr val="0070C0"/>
                      </a:solidFill>
                      <a:latin typeface="微软雅黑" panose="020B0503020204020204" pitchFamily="82" charset="2"/>
                      <a:ea typeface="微软雅黑" panose="020B0503020204020204" pitchFamily="82" charset="2"/>
                    </a:rPr>
                    <a:t>MySQL</a:t>
                  </a:r>
                  <a:endParaRPr lang="zh-CN" altLang="en-US" sz="790" kern="0" dirty="0">
                    <a:solidFill>
                      <a:srgbClr val="0070C0"/>
                    </a:solidFill>
                    <a:latin typeface="微软雅黑" panose="020B0503020204020204" pitchFamily="82" charset="2"/>
                    <a:ea typeface="微软雅黑" panose="020B0503020204020204" pitchFamily="82" charset="2"/>
                  </a:endParaRPr>
                </a:p>
              </p:txBody>
            </p:sp>
          </p:grpSp>
        </p:grpSp>
      </p:grpSp>
      <p:sp>
        <p:nvSpPr>
          <p:cNvPr id="3" name="页脚占位符 2"/>
          <p:cNvSpPr>
            <a:spLocks noGrp="1"/>
          </p:cNvSpPr>
          <p:nvPr>
            <p:ph type="ftr" sz="quarter" idx="3"/>
          </p:nvPr>
        </p:nvSpPr>
        <p:spPr>
          <a:xfrm>
            <a:off x="3028950" y="5767589"/>
            <a:ext cx="3086100" cy="233161"/>
          </a:xfrm>
        </p:spPr>
        <p:txBody>
          <a:bodyPr/>
          <a:lstStyle/>
          <a:p>
            <a:endParaRPr kumimoji="1" lang="zh-CN" altLang="en-US" dirty="0">
              <a:latin typeface="微软雅黑" panose="020B0503020204020204" pitchFamily="82" charset="2"/>
              <a:ea typeface="微软雅黑" panose="020B0503020204020204" pitchFamily="82" charset="2"/>
            </a:endParaRPr>
          </a:p>
        </p:txBody>
      </p:sp>
      <p:sp>
        <p:nvSpPr>
          <p:cNvPr id="5" name="灯片编号占位符 4"/>
          <p:cNvSpPr>
            <a:spLocks noGrp="1"/>
          </p:cNvSpPr>
          <p:nvPr>
            <p:ph type="sldNum" sz="quarter" idx="12"/>
          </p:nvPr>
        </p:nvSpPr>
        <p:spPr/>
        <p:txBody>
          <a:bodyPr/>
          <a:lstStyle/>
          <a:p>
            <a:fld id="{4B0D34C0-35A8-654C-9FBA-7B4E017BD630}" type="slidenum">
              <a:rPr lang="en-US" altLang="zh-CN" smtClean="0">
                <a:latin typeface="微软雅黑" panose="020B0503020204020204" pitchFamily="82" charset="2"/>
                <a:ea typeface="微软雅黑" panose="020B0503020204020204" pitchFamily="82" charset="2"/>
              </a:rPr>
              <a:t>9</a:t>
            </a:fld>
            <a:endParaRPr kumimoji="1" lang="zh-CN" altLang="en-US">
              <a:latin typeface="微软雅黑" panose="020B0503020204020204" pitchFamily="82" charset="2"/>
              <a:ea typeface="微软雅黑" panose="020B0503020204020204" pitchFamily="82" charset="2"/>
            </a:endParaRPr>
          </a:p>
        </p:txBody>
      </p:sp>
      <p:sp>
        <p:nvSpPr>
          <p:cNvPr id="6" name="椭圆 5"/>
          <p:cNvSpPr/>
          <p:nvPr/>
        </p:nvSpPr>
        <p:spPr>
          <a:xfrm>
            <a:off x="595630" y="2884170"/>
            <a:ext cx="200025" cy="190500"/>
          </a:xfrm>
          <a:prstGeom prst="ellipse">
            <a:avLst/>
          </a:prstGeom>
          <a:solidFill>
            <a:schemeClr val="accent6">
              <a:lumMod val="60000"/>
              <a:lumOff val="40000"/>
            </a:schemeClr>
          </a:solidFill>
          <a:ln w="9525" cap="flat" cmpd="sng" algn="ctr">
            <a:solidFill>
              <a:schemeClr val="tx1"/>
            </a:solidFill>
            <a:prstDash val="solid"/>
            <a:round/>
            <a:headEnd type="none" w="med" len="med"/>
            <a:tailEnd type="none" w="med" len="med"/>
          </a:ln>
        </p:spPr>
        <p:txBody>
          <a:bodyPr vert="horz" wrap="none" lIns="0" tIns="0" rIns="0" bIns="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a:t>
            </a:r>
          </a:p>
        </p:txBody>
      </p:sp>
      <p:sp>
        <p:nvSpPr>
          <p:cNvPr id="7" name="文本框 6"/>
          <p:cNvSpPr txBox="1"/>
          <p:nvPr/>
        </p:nvSpPr>
        <p:spPr>
          <a:xfrm>
            <a:off x="133350" y="1049655"/>
            <a:ext cx="8878570" cy="398780"/>
          </a:xfrm>
          <a:prstGeom prst="rect">
            <a:avLst/>
          </a:prstGeom>
          <a:noFill/>
        </p:spPr>
        <p:txBody>
          <a:bodyPr wrap="square" rtlCol="0">
            <a:spAutoFit/>
          </a:bodyPr>
          <a:lstStyle/>
          <a:p>
            <a:r>
              <a:rPr lang="en-US" altLang="zh-CN" sz="2000">
                <a:solidFill>
                  <a:srgbClr val="000099"/>
                </a:solidFill>
                <a:latin typeface="黑体" panose="02010609060101010101" pitchFamily="49" charset="-122"/>
                <a:ea typeface="黑体" panose="02010609060101010101" pitchFamily="49" charset="-122"/>
                <a:cs typeface="黑体" panose="02010609060101010101" pitchFamily="49" charset="-122"/>
              </a:rPr>
              <a:t>60</a:t>
            </a:r>
            <a:r>
              <a:rPr lang="zh-CN"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年来，数据库技术顶天立地，蓬勃发展，数据库产业波澜壮阔，根繁叶茂！</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ln>
        </p:spPr>
        <p:txBody>
          <a:bodyPr vert="horz" wrap="square" lIns="91440" tIns="45720" rIns="91440" bIns="45720" numCol="1" rtlCol="0" anchor="b" anchorCtr="0" compatLnSpc="1">
            <a:normAutofit fontScale="90000"/>
          </a:bodyPr>
          <a:lstStyle/>
          <a:p>
            <a:pPr lvl="0" algn="ctr">
              <a:buClrTx/>
              <a:buSzTx/>
              <a:buFontTx/>
            </a:pPr>
            <a:r>
              <a:rPr lang="zh-CN" altLang="en-US" sz="4000" dirty="0">
                <a:solidFill>
                  <a:schemeClr val="tx2"/>
                </a:solidFill>
                <a:latin typeface="黑体" panose="02010609060101010101" pitchFamily="49" charset="-122"/>
                <a:ea typeface="黑体" panose="02010609060101010101" pitchFamily="49" charset="-122"/>
                <a:sym typeface="+mn-ea"/>
              </a:rPr>
              <a:t>数据库界的四位图灵奖得主</a:t>
            </a:r>
          </a:p>
        </p:txBody>
      </p:sp>
      <p:pic>
        <p:nvPicPr>
          <p:cNvPr id="100" name="图片 99"/>
          <p:cNvPicPr/>
          <p:nvPr>
            <p:custDataLst>
              <p:tags r:id="rId1"/>
            </p:custDataLst>
          </p:nvPr>
        </p:nvPicPr>
        <p:blipFill>
          <a:blip r:embed="rId4"/>
          <a:stretch>
            <a:fillRect/>
          </a:stretch>
        </p:blipFill>
        <p:spPr>
          <a:xfrm>
            <a:off x="113983" y="1228408"/>
            <a:ext cx="8886825" cy="5248275"/>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err="1">
                <a:latin typeface="Arial" panose="020B0604020202020204" pitchFamily="34" charset="0"/>
                <a:ea typeface="宋体" panose="02010600030101010101" pitchFamily="2" charset="-122"/>
                <a:cs typeface="Arial" panose="020B0604020202020204" pitchFamily="34" charset="0"/>
              </a:rPr>
              <a:t>C.W.Bachman</a:t>
            </a:r>
            <a:endParaRPr lang="zh-CN" altLang="en-US" sz="3600" dirty="0"/>
          </a:p>
        </p:txBody>
      </p:sp>
      <p:pic>
        <p:nvPicPr>
          <p:cNvPr id="5" name="内容占位符 4"/>
          <p:cNvPicPr>
            <a:picLocks noGrp="1" noChangeAspect="1"/>
          </p:cNvPicPr>
          <p:nvPr>
            <p:ph idx="1"/>
          </p:nvPr>
        </p:nvPicPr>
        <p:blipFill>
          <a:blip r:embed="rId3"/>
          <a:stretch>
            <a:fillRect/>
          </a:stretch>
        </p:blipFill>
        <p:spPr>
          <a:xfrm>
            <a:off x="7179282" y="4443306"/>
            <a:ext cx="1893570" cy="1183481"/>
          </a:xfrm>
        </p:spPr>
      </p:pic>
      <p:pic>
        <p:nvPicPr>
          <p:cNvPr id="7" name="图片 6"/>
          <p:cNvPicPr>
            <a:picLocks noChangeAspect="1"/>
          </p:cNvPicPr>
          <p:nvPr/>
        </p:nvPicPr>
        <p:blipFill>
          <a:blip r:embed="rId4"/>
          <a:stretch>
            <a:fillRect/>
          </a:stretch>
        </p:blipFill>
        <p:spPr>
          <a:xfrm>
            <a:off x="7474033" y="1409703"/>
            <a:ext cx="1197043" cy="1794163"/>
          </a:xfrm>
          <a:prstGeom prst="rect">
            <a:avLst/>
          </a:prstGeom>
        </p:spPr>
      </p:pic>
      <p:sp>
        <p:nvSpPr>
          <p:cNvPr id="8" name="Rectangle 3"/>
          <p:cNvSpPr txBox="1"/>
          <p:nvPr/>
        </p:nvSpPr>
        <p:spPr bwMode="auto">
          <a:xfrm>
            <a:off x="137794" y="1056005"/>
            <a:ext cx="7041487" cy="5407025"/>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chemeClr val="folHlink"/>
              </a:buClr>
              <a:buSzPct val="110000"/>
              <a:buFont typeface="Arial" panose="020B0604020202020204" pitchFamily="34" charset="0"/>
              <a:buChar char="•"/>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ingdings" panose="05000000000000000000" pitchFamily="2" charset="2"/>
              <a:buChar char="§"/>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Font typeface="Wingdings" panose="05000000000000000000" pitchFamily="2" charset="2"/>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r>
              <a:rPr lang="zh-CN" altLang="en-US" sz="2000"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网状数据库之父</a:t>
            </a:r>
            <a:endParaRPr lang="en-US" altLang="zh-CN" sz="2000" b="1" dirty="0">
              <a:latin typeface="Arial" panose="020B0604020202020204" pitchFamily="34" charset="0"/>
              <a:ea typeface="宋体" panose="02010600030101010101" pitchFamily="2" charset="-122"/>
              <a:cs typeface="Arial" panose="020B0604020202020204" pitchFamily="34" charset="0"/>
            </a:endParaRPr>
          </a:p>
          <a:p>
            <a:pPr lvl="1"/>
            <a:r>
              <a:rPr lang="en-US" altLang="zh-CN" sz="1600" b="1" dirty="0">
                <a:latin typeface="Arial" panose="020B0604020202020204" pitchFamily="34" charset="0"/>
                <a:ea typeface="宋体" panose="02010600030101010101" pitchFamily="2" charset="-122"/>
                <a:cs typeface="Arial" panose="020B0604020202020204" pitchFamily="34" charset="0"/>
                <a:sym typeface="+mn-ea"/>
              </a:rPr>
              <a:t>查理士·巴赫曼 （Charles William Bachman）</a:t>
            </a:r>
          </a:p>
          <a:p>
            <a:pPr lvl="1"/>
            <a:r>
              <a:rPr lang="zh-CN" altLang="en-US" sz="1600" b="1" dirty="0">
                <a:latin typeface="Arial" panose="020B0604020202020204" pitchFamily="34" charset="0"/>
                <a:ea typeface="宋体" panose="02010600030101010101" pitchFamily="2" charset="-122"/>
                <a:cs typeface="Arial" panose="020B0604020202020204" pitchFamily="34" charset="0"/>
              </a:rPr>
              <a:t>改变了我们和数据的互动方式，为数字生活建立了技术基础。</a:t>
            </a:r>
          </a:p>
          <a:p>
            <a:r>
              <a:rPr lang="en-US" altLang="zh-CN" sz="2000" b="1" dirty="0">
                <a:latin typeface="Arial" panose="020B0604020202020204" pitchFamily="34" charset="0"/>
                <a:ea typeface="宋体" panose="02010600030101010101" pitchFamily="2" charset="-122"/>
                <a:cs typeface="Arial" panose="020B0604020202020204" pitchFamily="34" charset="0"/>
              </a:rPr>
              <a:t>1973</a:t>
            </a:r>
            <a:r>
              <a:rPr lang="zh-CN" altLang="en-US" sz="2000" b="1" dirty="0">
                <a:latin typeface="Arial" panose="020B0604020202020204" pitchFamily="34" charset="0"/>
                <a:ea typeface="宋体" panose="02010600030101010101" pitchFamily="2" charset="-122"/>
                <a:cs typeface="Arial" panose="020B0604020202020204" pitchFamily="34" charset="0"/>
              </a:rPr>
              <a:t>年</a:t>
            </a:r>
            <a:r>
              <a:rPr lang="en-US" altLang="zh-CN" sz="2000" b="1" dirty="0">
                <a:latin typeface="Arial" panose="020B0604020202020204" pitchFamily="34" charset="0"/>
                <a:ea typeface="宋体" panose="02010600030101010101" pitchFamily="2" charset="-122"/>
                <a:cs typeface="Arial" panose="020B0604020202020204" pitchFamily="34" charset="0"/>
              </a:rPr>
              <a:t>, 49</a:t>
            </a:r>
            <a:r>
              <a:rPr lang="zh-CN" altLang="zh-CN" sz="2000" b="1" dirty="0">
                <a:latin typeface="Arial" panose="020B0604020202020204" pitchFamily="34" charset="0"/>
                <a:ea typeface="宋体" panose="02010600030101010101" pitchFamily="2" charset="-122"/>
                <a:cs typeface="Arial" panose="020B0604020202020204" pitchFamily="34" charset="0"/>
              </a:rPr>
              <a:t>岁</a:t>
            </a:r>
            <a:r>
              <a:rPr lang="en-US" altLang="zh-CN" sz="2000" b="1" dirty="0">
                <a:latin typeface="Arial" panose="020B0604020202020204" pitchFamily="34" charset="0"/>
                <a:ea typeface="宋体" panose="02010600030101010101" pitchFamily="2" charset="-122"/>
                <a:cs typeface="Arial" panose="020B0604020202020204" pitchFamily="34" charset="0"/>
                <a:sym typeface="+mn-ea"/>
              </a:rPr>
              <a:t>获得</a:t>
            </a:r>
            <a:r>
              <a:rPr lang="zh-CN" altLang="en-US" sz="2000"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sym typeface="+mn-ea"/>
              </a:rPr>
              <a:t>数据库界的第一枚图灵奖</a:t>
            </a:r>
            <a:endParaRPr lang="en-US" altLang="zh-CN" sz="2000" b="1" dirty="0">
              <a:latin typeface="Arial" panose="020B0604020202020204" pitchFamily="34" charset="0"/>
              <a:ea typeface="宋体" panose="02010600030101010101" pitchFamily="2" charset="-122"/>
              <a:cs typeface="Arial" panose="020B0604020202020204" pitchFamily="34" charset="0"/>
            </a:endParaRPr>
          </a:p>
          <a:p>
            <a:pPr lvl="1"/>
            <a:r>
              <a:rPr lang="zh-CN" altLang="en-US" sz="1600" b="1" dirty="0">
                <a:latin typeface="Arial" panose="020B0604020202020204" pitchFamily="34" charset="0"/>
                <a:ea typeface="宋体" panose="02010600030101010101" pitchFamily="2" charset="-122"/>
                <a:cs typeface="Arial" panose="020B0604020202020204" pitchFamily="34" charset="0"/>
              </a:rPr>
              <a:t>首次向一位工程师专业的人颁发该项荣誉，而且 </a:t>
            </a:r>
            <a:r>
              <a:rPr lang="en-US" altLang="zh-CN" sz="1600" b="1" dirty="0">
                <a:latin typeface="Arial" panose="020B0604020202020204" pitchFamily="34" charset="0"/>
                <a:ea typeface="宋体" panose="02010600030101010101" pitchFamily="2" charset="-122"/>
                <a:cs typeface="Arial" panose="020B0604020202020204" pitchFamily="34" charset="0"/>
              </a:rPr>
              <a:t>Bachman </a:t>
            </a:r>
            <a:r>
              <a:rPr lang="zh-CN" altLang="en-US" sz="1600" b="1" dirty="0">
                <a:latin typeface="Arial" panose="020B0604020202020204" pitchFamily="34" charset="0"/>
                <a:ea typeface="宋体" panose="02010600030101010101" pitchFamily="2" charset="-122"/>
                <a:cs typeface="Arial" panose="020B0604020202020204" pitchFamily="34" charset="0"/>
              </a:rPr>
              <a:t>也是首位不具备博士头衔的获奖者。</a:t>
            </a:r>
            <a:endParaRPr lang="en-US" altLang="zh-CN" sz="1600" b="1" dirty="0">
              <a:latin typeface="Arial" panose="020B0604020202020204" pitchFamily="34" charset="0"/>
              <a:ea typeface="宋体" panose="02010600030101010101" pitchFamily="2" charset="-122"/>
              <a:cs typeface="Arial" panose="020B0604020202020204" pitchFamily="34" charset="0"/>
            </a:endParaRPr>
          </a:p>
          <a:p>
            <a:r>
              <a:rPr lang="zh-CN" altLang="en-US" sz="2000" b="1" dirty="0">
                <a:latin typeface="Arial" panose="020B0604020202020204" pitchFamily="34" charset="0"/>
                <a:ea typeface="宋体" panose="02010600030101010101" pitchFamily="2" charset="-122"/>
                <a:cs typeface="Arial" panose="020B0604020202020204" pitchFamily="34" charset="0"/>
              </a:rPr>
              <a:t>世界正在从“计算机为中心”逐渐变为“</a:t>
            </a:r>
            <a:r>
              <a:rPr lang="zh-CN" altLang="en-US" sz="2000"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数据库为中心</a:t>
            </a:r>
            <a:r>
              <a:rPr lang="zh-CN" altLang="en-US" sz="2000" b="1" dirty="0">
                <a:latin typeface="Arial" panose="020B0604020202020204" pitchFamily="34" charset="0"/>
                <a:ea typeface="宋体" panose="02010600030101010101" pitchFamily="2" charset="-122"/>
                <a:cs typeface="Arial" panose="020B0604020202020204" pitchFamily="34" charset="0"/>
              </a:rPr>
              <a:t>”</a:t>
            </a:r>
            <a:endParaRPr lang="en-US" altLang="zh-CN" sz="2000" b="1" dirty="0">
              <a:latin typeface="Arial" panose="020B0604020202020204" pitchFamily="34" charset="0"/>
              <a:ea typeface="宋体" panose="02010600030101010101" pitchFamily="2" charset="-122"/>
              <a:cs typeface="Arial" panose="020B0604020202020204" pitchFamily="34" charset="0"/>
            </a:endParaRPr>
          </a:p>
          <a:p>
            <a:pPr lvl="1"/>
            <a:r>
              <a:rPr lang="zh-CN" altLang="en-US" sz="1600" b="1" dirty="0">
                <a:latin typeface="Arial" panose="020B0604020202020204" pitchFamily="34" charset="0"/>
                <a:ea typeface="宋体" panose="02010600030101010101" pitchFamily="2" charset="-122"/>
                <a:cs typeface="Arial" panose="020B0604020202020204" pitchFamily="34" charset="0"/>
              </a:rPr>
              <a:t>通过数据库任务组（</a:t>
            </a:r>
            <a:r>
              <a:rPr lang="en-US" altLang="zh-CN" sz="1600" b="1" dirty="0">
                <a:latin typeface="Arial" panose="020B0604020202020204" pitchFamily="34" charset="0"/>
                <a:ea typeface="宋体" panose="02010600030101010101" pitchFamily="2" charset="-122"/>
                <a:cs typeface="Arial" panose="020B0604020202020204" pitchFamily="34" charset="0"/>
              </a:rPr>
              <a:t>Database Task Group</a:t>
            </a:r>
            <a:r>
              <a:rPr lang="zh-CN" altLang="en-US" sz="1600" b="1" dirty="0">
                <a:latin typeface="Arial" panose="020B0604020202020204" pitchFamily="34" charset="0"/>
                <a:ea typeface="宋体" panose="02010600030101010101" pitchFamily="2" charset="-122"/>
                <a:cs typeface="Arial" panose="020B0604020202020204" pitchFamily="34" charset="0"/>
              </a:rPr>
              <a:t>），积极推动与促成了数据库标准的制定，</a:t>
            </a:r>
            <a:endParaRPr lang="en-US" altLang="zh-CN" sz="1600" b="1" dirty="0">
              <a:latin typeface="Arial" panose="020B0604020202020204" pitchFamily="34" charset="0"/>
              <a:ea typeface="宋体" panose="02010600030101010101" pitchFamily="2" charset="-122"/>
              <a:cs typeface="Arial" panose="020B0604020202020204" pitchFamily="34" charset="0"/>
            </a:endParaRPr>
          </a:p>
          <a:p>
            <a:pPr lvl="1"/>
            <a:r>
              <a:rPr lang="zh-CN" altLang="en-US" sz="1600" b="1" dirty="0">
                <a:latin typeface="Arial" panose="020B0604020202020204" pitchFamily="34" charset="0"/>
                <a:ea typeface="宋体" panose="02010600030101010101" pitchFamily="2" charset="-122"/>
                <a:cs typeface="Arial" panose="020B0604020202020204" pitchFamily="34" charset="0"/>
              </a:rPr>
              <a:t> </a:t>
            </a:r>
            <a:r>
              <a:rPr lang="en-US" altLang="zh-CN" sz="1600" b="1" dirty="0">
                <a:latin typeface="Arial" panose="020B0604020202020204" pitchFamily="34" charset="0"/>
                <a:ea typeface="宋体" panose="02010600030101010101" pitchFamily="2" charset="-122"/>
                <a:cs typeface="Arial" panose="020B0604020202020204" pitchFamily="34" charset="0"/>
              </a:rPr>
              <a:t>1971 </a:t>
            </a:r>
            <a:r>
              <a:rPr lang="zh-CN" altLang="en-US" sz="1600" b="1" dirty="0">
                <a:latin typeface="Arial" panose="020B0604020202020204" pitchFamily="34" charset="0"/>
                <a:ea typeface="宋体" panose="02010600030101010101" pitchFamily="2" charset="-122"/>
                <a:cs typeface="Arial" panose="020B0604020202020204" pitchFamily="34" charset="0"/>
              </a:rPr>
              <a:t>年推出了第一个正式报告，成为数据库历史上具有里程碑意义的文献。</a:t>
            </a:r>
          </a:p>
          <a:p>
            <a:r>
              <a:rPr lang="en-US" altLang="zh-CN" sz="2000" b="1" dirty="0">
                <a:latin typeface="Arial" panose="020B0604020202020204" pitchFamily="34" charset="0"/>
                <a:ea typeface="宋体" panose="02010600030101010101" pitchFamily="2" charset="-122"/>
                <a:cs typeface="Arial" panose="020B0604020202020204" pitchFamily="34" charset="0"/>
              </a:rPr>
              <a:t>2012 </a:t>
            </a:r>
            <a:r>
              <a:rPr lang="zh-CN" altLang="en-US" sz="2000" b="1" dirty="0">
                <a:latin typeface="Arial" panose="020B0604020202020204" pitchFamily="34" charset="0"/>
                <a:ea typeface="宋体" panose="02010600030101010101" pitchFamily="2" charset="-122"/>
                <a:cs typeface="Arial" panose="020B0604020202020204" pitchFamily="34" charset="0"/>
              </a:rPr>
              <a:t>年，</a:t>
            </a:r>
            <a:r>
              <a:rPr lang="en-US" altLang="zh-CN" sz="2000" b="1" dirty="0">
                <a:latin typeface="Arial" panose="020B0604020202020204" pitchFamily="34" charset="0"/>
                <a:ea typeface="宋体" panose="02010600030101010101" pitchFamily="2" charset="-122"/>
                <a:cs typeface="Arial" panose="020B0604020202020204" pitchFamily="34" charset="0"/>
              </a:rPr>
              <a:t>Bachman </a:t>
            </a:r>
            <a:r>
              <a:rPr lang="zh-CN" altLang="en-US" sz="2000" b="1" dirty="0">
                <a:latin typeface="Arial" panose="020B0604020202020204" pitchFamily="34" charset="0"/>
                <a:ea typeface="宋体" panose="02010600030101010101" pitchFamily="2" charset="-122"/>
                <a:cs typeface="Arial" panose="020B0604020202020204" pitchFamily="34" charset="0"/>
              </a:rPr>
              <a:t>获颁美国科技界最高荣誉奖项</a:t>
            </a:r>
            <a:r>
              <a:rPr lang="en-US" altLang="zh-CN" sz="2000" b="1" dirty="0">
                <a:latin typeface="Arial" panose="020B0604020202020204" pitchFamily="34" charset="0"/>
                <a:ea typeface="宋体" panose="02010600030101010101" pitchFamily="2" charset="-122"/>
                <a:cs typeface="Arial" panose="020B0604020202020204" pitchFamily="34" charset="0"/>
              </a:rPr>
              <a:t>——</a:t>
            </a:r>
            <a:r>
              <a:rPr lang="zh-CN" altLang="en-US" sz="2000"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国家技术创新奖章</a:t>
            </a:r>
            <a:r>
              <a:rPr lang="zh-CN" altLang="en-US" sz="2000" b="1" dirty="0">
                <a:latin typeface="Arial" panose="020B0604020202020204" pitchFamily="34" charset="0"/>
                <a:ea typeface="宋体" panose="02010600030101010101" pitchFamily="2" charset="-122"/>
                <a:cs typeface="Arial" panose="020B0604020202020204" pitchFamily="34" charset="0"/>
              </a:rPr>
              <a:t>。</a:t>
            </a:r>
            <a:endParaRPr lang="en-US" altLang="zh-CN" sz="2000" b="1" dirty="0">
              <a:latin typeface="Arial" panose="020B0604020202020204" pitchFamily="34" charset="0"/>
              <a:ea typeface="宋体" panose="02010600030101010101" pitchFamily="2" charset="-122"/>
              <a:cs typeface="Arial" panose="020B0604020202020204" pitchFamily="34" charset="0"/>
            </a:endParaRPr>
          </a:p>
          <a:p>
            <a:r>
              <a:rPr lang="zh-CN" altLang="en-US" sz="2000" b="1" dirty="0">
                <a:latin typeface="Arial" panose="020B0604020202020204" pitchFamily="34" charset="0"/>
                <a:ea typeface="宋体" panose="02010600030101010101" pitchFamily="2" charset="-122"/>
                <a:cs typeface="Arial" panose="020B0604020202020204" pitchFamily="34" charset="0"/>
              </a:rPr>
              <a:t>美国时间</a:t>
            </a:r>
            <a:r>
              <a:rPr lang="en-US" altLang="zh-CN" sz="2000" b="1" dirty="0">
                <a:latin typeface="Arial" panose="020B0604020202020204" pitchFamily="34" charset="0"/>
                <a:ea typeface="宋体" panose="02010600030101010101" pitchFamily="2" charset="-122"/>
                <a:cs typeface="Arial" panose="020B0604020202020204" pitchFamily="34" charset="0"/>
              </a:rPr>
              <a:t>2022</a:t>
            </a:r>
            <a:r>
              <a:rPr lang="zh-CN" altLang="en-US" sz="2000" b="1" dirty="0">
                <a:latin typeface="Arial" panose="020B0604020202020204" pitchFamily="34" charset="0"/>
                <a:ea typeface="宋体" panose="02010600030101010101" pitchFamily="2" charset="-122"/>
                <a:cs typeface="Arial" panose="020B0604020202020204" pitchFamily="34" charset="0"/>
              </a:rPr>
              <a:t>年 </a:t>
            </a:r>
            <a:r>
              <a:rPr lang="en-US" altLang="zh-CN" sz="2000" b="1" dirty="0">
                <a:latin typeface="Arial" panose="020B0604020202020204" pitchFamily="34" charset="0"/>
                <a:ea typeface="宋体" panose="02010600030101010101" pitchFamily="2" charset="-122"/>
                <a:cs typeface="Arial" panose="020B0604020202020204" pitchFamily="34" charset="0"/>
              </a:rPr>
              <a:t>7 </a:t>
            </a:r>
            <a:r>
              <a:rPr lang="zh-CN" altLang="en-US" sz="2000" b="1" dirty="0">
                <a:latin typeface="Arial" panose="020B0604020202020204" pitchFamily="34" charset="0"/>
                <a:ea typeface="宋体" panose="02010600030101010101" pitchFamily="2" charset="-122"/>
                <a:cs typeface="Arial" panose="020B0604020202020204" pitchFamily="34" charset="0"/>
              </a:rPr>
              <a:t>月 </a:t>
            </a:r>
            <a:r>
              <a:rPr lang="en-US" altLang="zh-CN" sz="2000" b="1" dirty="0">
                <a:latin typeface="Arial" panose="020B0604020202020204" pitchFamily="34" charset="0"/>
                <a:ea typeface="宋体" panose="02010600030101010101" pitchFamily="2" charset="-122"/>
                <a:cs typeface="Arial" panose="020B0604020202020204" pitchFamily="34" charset="0"/>
              </a:rPr>
              <a:t>13 </a:t>
            </a:r>
            <a:r>
              <a:rPr lang="zh-CN" altLang="en-US" sz="2000" b="1" dirty="0">
                <a:latin typeface="Arial" panose="020B0604020202020204" pitchFamily="34" charset="0"/>
                <a:ea typeface="宋体" panose="02010600030101010101" pitchFamily="2" charset="-122"/>
                <a:cs typeface="Arial" panose="020B0604020202020204" pitchFamily="34" charset="0"/>
              </a:rPr>
              <a:t>日，因帕金森氏病家中逝世，享年 </a:t>
            </a:r>
            <a:r>
              <a:rPr lang="en-US" altLang="zh-CN" sz="2000" b="1" dirty="0">
                <a:latin typeface="Arial" panose="020B0604020202020204" pitchFamily="34" charset="0"/>
                <a:ea typeface="宋体" panose="02010600030101010101" pitchFamily="2" charset="-122"/>
                <a:cs typeface="Arial" panose="020B0604020202020204" pitchFamily="34" charset="0"/>
              </a:rPr>
              <a:t>92 </a:t>
            </a:r>
            <a:r>
              <a:rPr lang="zh-CN" altLang="en-US" sz="2000" b="1" dirty="0">
                <a:latin typeface="Arial" panose="020B0604020202020204" pitchFamily="34" charset="0"/>
                <a:ea typeface="宋体" panose="02010600030101010101" pitchFamily="2" charset="-122"/>
                <a:cs typeface="Arial" panose="020B0604020202020204" pitchFamily="34" charset="0"/>
              </a:rPr>
              <a:t>岁。 </a:t>
            </a:r>
          </a:p>
          <a:p>
            <a:pPr lvl="1" eaLnBrk="1" hangingPunct="1">
              <a:lnSpc>
                <a:spcPct val="110000"/>
              </a:lnSpc>
            </a:pPr>
            <a:endParaRPr lang="en-US" altLang="zh-CN" sz="2000" b="1" kern="0" dirty="0">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17980" y="323850"/>
            <a:ext cx="5716270" cy="609600"/>
          </a:xfrm>
        </p:spPr>
        <p:txBody>
          <a:bodyPr/>
          <a:lstStyle/>
          <a:p>
            <a:r>
              <a:rPr lang="en-US" altLang="zh-CN" sz="4400"/>
              <a:t>E.F.Codd</a:t>
            </a:r>
            <a:endParaRPr lang="en-US" altLang="zh-CN" sz="4400" dirty="0"/>
          </a:p>
        </p:txBody>
      </p:sp>
      <p:sp>
        <p:nvSpPr>
          <p:cNvPr id="3" name="内容占位符 2"/>
          <p:cNvSpPr>
            <a:spLocks noGrp="1"/>
          </p:cNvSpPr>
          <p:nvPr>
            <p:ph idx="1"/>
          </p:nvPr>
        </p:nvSpPr>
        <p:spPr>
          <a:xfrm>
            <a:off x="122555" y="1675130"/>
            <a:ext cx="8909685" cy="4903470"/>
          </a:xfrm>
        </p:spPr>
        <p:txBody>
          <a:bodyPr/>
          <a:lstStyle/>
          <a:p>
            <a:pPr marL="0" lvl="1" latinLnBrk="0">
              <a:lnSpc>
                <a:spcPts val="3000"/>
              </a:lnSpc>
              <a:spcBef>
                <a:spcPts val="0"/>
              </a:spcBef>
            </a:pPr>
            <a:r>
              <a:rPr lang="zh-CN" altLang="en-US" dirty="0">
                <a:latin typeface="Arial" panose="020B0604020202020204" pitchFamily="34" charset="0"/>
                <a:ea typeface="宋体" panose="02010600030101010101" pitchFamily="2" charset="-122"/>
                <a:cs typeface="Arial" panose="020B0604020202020204" pitchFamily="34" charset="0"/>
              </a:rPr>
              <a:t>埃德加</a:t>
            </a:r>
            <a:r>
              <a:rPr lang="en-US" altLang="zh-CN" dirty="0">
                <a:latin typeface="Arial" panose="020B0604020202020204" pitchFamily="34" charset="0"/>
                <a:ea typeface="宋体" panose="02010600030101010101" pitchFamily="2" charset="-122"/>
                <a:cs typeface="Arial" panose="020B0604020202020204" pitchFamily="34" charset="0"/>
              </a:rPr>
              <a:t>·</a:t>
            </a:r>
            <a:r>
              <a:rPr lang="zh-CN" altLang="en-US" dirty="0">
                <a:latin typeface="Arial" panose="020B0604020202020204" pitchFamily="34" charset="0"/>
                <a:ea typeface="宋体" panose="02010600030101010101" pitchFamily="2" charset="-122"/>
                <a:cs typeface="Arial" panose="020B0604020202020204" pitchFamily="34" charset="0"/>
              </a:rPr>
              <a:t>弗兰克</a:t>
            </a:r>
            <a:r>
              <a:rPr lang="en-US" altLang="zh-CN" dirty="0">
                <a:latin typeface="Arial" panose="020B0604020202020204" pitchFamily="34" charset="0"/>
                <a:ea typeface="宋体" panose="02010600030101010101" pitchFamily="2" charset="-122"/>
                <a:cs typeface="Arial" panose="020B0604020202020204" pitchFamily="34" charset="0"/>
              </a:rPr>
              <a:t>·</a:t>
            </a:r>
            <a:r>
              <a:rPr lang="zh-CN" altLang="en-US" dirty="0">
                <a:latin typeface="Arial" panose="020B0604020202020204" pitchFamily="34" charset="0"/>
                <a:ea typeface="宋体" panose="02010600030101010101" pitchFamily="2" charset="-122"/>
                <a:cs typeface="Arial" panose="020B0604020202020204" pitchFamily="34" charset="0"/>
              </a:rPr>
              <a:t>科德（</a:t>
            </a:r>
            <a:r>
              <a:rPr lang="en-US" altLang="zh-CN" dirty="0">
                <a:latin typeface="Arial" panose="020B0604020202020204" pitchFamily="34" charset="0"/>
                <a:ea typeface="宋体" panose="02010600030101010101" pitchFamily="2" charset="-122"/>
                <a:cs typeface="Arial" panose="020B0604020202020204" pitchFamily="34" charset="0"/>
              </a:rPr>
              <a:t>Edgar Frank Codd</a:t>
            </a:r>
            <a:r>
              <a:rPr lang="zh-CN" altLang="en-US" dirty="0">
                <a:latin typeface="Arial" panose="020B0604020202020204" pitchFamily="34" charset="0"/>
                <a:ea typeface="宋体" panose="02010600030101010101" pitchFamily="2" charset="-122"/>
                <a:cs typeface="Arial" panose="020B0604020202020204" pitchFamily="34" charset="0"/>
              </a:rPr>
              <a:t>，</a:t>
            </a:r>
            <a:r>
              <a:rPr lang="en-US" altLang="zh-CN" dirty="0">
                <a:latin typeface="Arial" panose="020B0604020202020204" pitchFamily="34" charset="0"/>
                <a:ea typeface="宋体" panose="02010600030101010101" pitchFamily="2" charset="-122"/>
                <a:cs typeface="Arial" panose="020B0604020202020204" pitchFamily="34" charset="0"/>
              </a:rPr>
              <a:t>1923</a:t>
            </a:r>
            <a:r>
              <a:rPr lang="zh-CN" altLang="en-US" dirty="0">
                <a:latin typeface="Arial" panose="020B0604020202020204" pitchFamily="34" charset="0"/>
                <a:ea typeface="宋体" panose="02010600030101010101" pitchFamily="2" charset="-122"/>
                <a:cs typeface="Arial" panose="020B0604020202020204" pitchFamily="34" charset="0"/>
              </a:rPr>
              <a:t>－</a:t>
            </a:r>
            <a:r>
              <a:rPr lang="en-US" altLang="zh-CN" dirty="0">
                <a:latin typeface="Arial" panose="020B0604020202020204" pitchFamily="34" charset="0"/>
                <a:ea typeface="宋体" panose="02010600030101010101" pitchFamily="2" charset="-122"/>
                <a:cs typeface="Arial" panose="020B0604020202020204" pitchFamily="34" charset="0"/>
              </a:rPr>
              <a:t>2003</a:t>
            </a:r>
            <a:r>
              <a:rPr lang="zh-CN" altLang="en-US" dirty="0">
                <a:latin typeface="Arial" panose="020B0604020202020204" pitchFamily="34" charset="0"/>
                <a:ea typeface="宋体" panose="02010600030101010101" pitchFamily="2" charset="-122"/>
                <a:cs typeface="Arial" panose="020B0604020202020204" pitchFamily="34" charset="0"/>
              </a:rPr>
              <a:t>）：</a:t>
            </a:r>
            <a:r>
              <a:rPr lang="zh-CN" altLang="en-US" dirty="0">
                <a:latin typeface="Arial" panose="020B0604020202020204" pitchFamily="34" charset="0"/>
                <a:ea typeface="宋体" panose="02010600030101010101" pitchFamily="2" charset="-122"/>
                <a:cs typeface="Arial" panose="020B0604020202020204" pitchFamily="34" charset="0"/>
                <a:sym typeface="+mn-ea"/>
              </a:rPr>
              <a:t>“</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sym typeface="+mn-ea"/>
              </a:rPr>
              <a:t>关系数据库之父</a:t>
            </a:r>
            <a:r>
              <a:rPr lang="zh-CN" altLang="en-US" dirty="0">
                <a:latin typeface="Arial" panose="020B0604020202020204" pitchFamily="34" charset="0"/>
                <a:ea typeface="宋体" panose="02010600030101010101" pitchFamily="2" charset="-122"/>
                <a:cs typeface="Arial" panose="020B0604020202020204" pitchFamily="34" charset="0"/>
                <a:sym typeface="+mn-ea"/>
              </a:rPr>
              <a:t>”</a:t>
            </a:r>
            <a:endParaRPr lang="zh-CN" altLang="en-US" dirty="0">
              <a:latin typeface="Arial" panose="020B0604020202020204" pitchFamily="34" charset="0"/>
              <a:ea typeface="宋体" panose="02010600030101010101" pitchFamily="2" charset="-122"/>
              <a:cs typeface="Arial" panose="020B0604020202020204" pitchFamily="34" charset="0"/>
            </a:endParaRPr>
          </a:p>
          <a:p>
            <a:pPr latinLnBrk="0">
              <a:lnSpc>
                <a:spcPts val="3000"/>
              </a:lnSpc>
              <a:spcBef>
                <a:spcPts val="0"/>
              </a:spcBef>
            </a:pPr>
            <a:r>
              <a:rPr lang="zh-CN" altLang="en-US" dirty="0">
                <a:latin typeface="Arial" panose="020B0604020202020204" pitchFamily="34" charset="0"/>
                <a:ea typeface="宋体" panose="02010600030101010101" pitchFamily="2" charset="-122"/>
                <a:cs typeface="Arial" panose="020B0604020202020204" pitchFamily="34" charset="0"/>
              </a:rPr>
              <a:t>英国人，</a:t>
            </a:r>
            <a:r>
              <a:rPr lang="zh-CN" altLang="en-US"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哲学博士</a:t>
            </a:r>
            <a:r>
              <a:rPr lang="zh-CN" altLang="en-US" dirty="0">
                <a:latin typeface="Arial" panose="020B0604020202020204" pitchFamily="34" charset="0"/>
                <a:ea typeface="宋体" panose="02010600030101010101" pitchFamily="2" charset="-122"/>
                <a:cs typeface="Arial" panose="020B0604020202020204" pitchFamily="34" charset="0"/>
              </a:rPr>
              <a:t>，</a:t>
            </a:r>
            <a:r>
              <a:rPr lang="en-US" altLang="zh-CN" dirty="0">
                <a:latin typeface="Arial" panose="020B0604020202020204" pitchFamily="34" charset="0"/>
                <a:ea typeface="宋体" panose="02010600030101010101" pitchFamily="2" charset="-122"/>
                <a:cs typeface="Arial" panose="020B0604020202020204" pitchFamily="34" charset="0"/>
              </a:rPr>
              <a:t>IBM</a:t>
            </a:r>
            <a:r>
              <a:rPr lang="zh-CN" altLang="en-US" dirty="0">
                <a:latin typeface="Arial" panose="020B0604020202020204" pitchFamily="34" charset="0"/>
                <a:ea typeface="宋体" panose="02010600030101010101" pitchFamily="2" charset="-122"/>
                <a:cs typeface="Arial" panose="020B0604020202020204" pitchFamily="34" charset="0"/>
              </a:rPr>
              <a:t>公司研究员，</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sym typeface="+mn-ea"/>
              </a:rPr>
              <a:t>1981年获图灵奖</a:t>
            </a:r>
            <a:endParaRPr lang="zh-CN" altLang="en-US" dirty="0">
              <a:latin typeface="Arial" panose="020B0604020202020204" pitchFamily="34" charset="0"/>
              <a:ea typeface="宋体" panose="02010600030101010101" pitchFamily="2" charset="-122"/>
              <a:cs typeface="Arial" panose="020B0604020202020204" pitchFamily="34" charset="0"/>
            </a:endParaRPr>
          </a:p>
          <a:p>
            <a:pPr lvl="0" latinLnBrk="0">
              <a:lnSpc>
                <a:spcPts val="3000"/>
              </a:lnSpc>
              <a:spcBef>
                <a:spcPts val="0"/>
              </a:spcBef>
            </a:pPr>
            <a:r>
              <a:rPr lang="en-US" altLang="zh-CN" dirty="0">
                <a:latin typeface="Arial" panose="020B0604020202020204" pitchFamily="34" charset="0"/>
                <a:ea typeface="宋体" panose="02010600030101010101" pitchFamily="2" charset="-122"/>
                <a:cs typeface="Arial" panose="020B0604020202020204" pitchFamily="34" charset="0"/>
              </a:rPr>
              <a:t>1970</a:t>
            </a:r>
            <a:r>
              <a:rPr lang="zh-CN" altLang="en-US" dirty="0">
                <a:latin typeface="Arial" panose="020B0604020202020204" pitchFamily="34" charset="0"/>
                <a:ea typeface="宋体" panose="02010600030101010101" pitchFamily="2" charset="-122"/>
                <a:cs typeface="Arial" panose="020B0604020202020204" pitchFamily="34" charset="0"/>
              </a:rPr>
              <a:t>年，发表</a:t>
            </a:r>
            <a:r>
              <a:rPr lang="zh-CN" altLang="en-US" dirty="0">
                <a:latin typeface="Arial" panose="020B0604020202020204" pitchFamily="34" charset="0"/>
                <a:ea typeface="宋体" panose="02010600030101010101" pitchFamily="2" charset="-122"/>
                <a:cs typeface="Arial" panose="020B0604020202020204" pitchFamily="34" charset="0"/>
                <a:sym typeface="+mn-ea"/>
              </a:rPr>
              <a:t>论文</a:t>
            </a:r>
            <a:r>
              <a:rPr lang="zh-CN" altLang="en-US" dirty="0">
                <a:latin typeface="Arial" panose="020B0604020202020204" pitchFamily="34" charset="0"/>
                <a:ea typeface="宋体" panose="02010600030101010101" pitchFamily="2" charset="-122"/>
                <a:cs typeface="Arial" panose="020B0604020202020204" pitchFamily="34" charset="0"/>
              </a:rPr>
              <a:t>“大型共享数据库的关系模型”，文中首次提出数据库关系模型。</a:t>
            </a:r>
          </a:p>
          <a:p>
            <a:pPr lvl="1" latinLnBrk="0">
              <a:lnSpc>
                <a:spcPts val="3000"/>
              </a:lnSpc>
              <a:spcBef>
                <a:spcPts val="0"/>
              </a:spcBef>
            </a:pPr>
            <a:r>
              <a:rPr lang="en-US" altLang="zh-CN"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ACM</a:t>
            </a:r>
            <a:r>
              <a:rPr lang="zh-CN" altLang="en-US"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从</a:t>
            </a:r>
            <a:r>
              <a:rPr lang="en-US" altLang="zh-CN"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1958</a:t>
            </a:r>
            <a:r>
              <a:rPr lang="zh-CN" altLang="en-US"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年以来的</a:t>
            </a:r>
            <a:r>
              <a:rPr lang="en-US" altLang="zh-CN"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25</a:t>
            </a:r>
            <a:r>
              <a:rPr lang="zh-CN" altLang="en-US"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 年中最具里程碑意义的</a:t>
            </a:r>
            <a:r>
              <a:rPr lang="en-US" altLang="zh-CN"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25</a:t>
            </a:r>
            <a:r>
              <a:rPr lang="zh-CN" altLang="en-US"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 篇论文之一</a:t>
            </a:r>
          </a:p>
          <a:p>
            <a:pPr lvl="1" latinLnBrk="0">
              <a:lnSpc>
                <a:spcPts val="3000"/>
              </a:lnSpc>
              <a:spcBef>
                <a:spcPts val="0"/>
              </a:spcBef>
            </a:pPr>
            <a:r>
              <a:rPr lang="zh-CN" altLang="en-US" dirty="0">
                <a:latin typeface="Arial" panose="020B0604020202020204" pitchFamily="34" charset="0"/>
                <a:ea typeface="宋体" panose="02010600030101010101" pitchFamily="2" charset="-122"/>
                <a:cs typeface="Arial" panose="020B0604020202020204" pitchFamily="34" charset="0"/>
              </a:rPr>
              <a:t>第二次世界大战爆发以后，</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rPr>
              <a:t>应征入伍</a:t>
            </a:r>
            <a:r>
              <a:rPr lang="zh-CN" altLang="en-US" dirty="0">
                <a:latin typeface="Arial" panose="020B0604020202020204" pitchFamily="34" charset="0"/>
                <a:ea typeface="宋体" panose="02010600030101010101" pitchFamily="2" charset="-122"/>
                <a:cs typeface="Arial" panose="020B0604020202020204" pitchFamily="34" charset="0"/>
              </a:rPr>
              <a:t>在皇家空军服役，</a:t>
            </a:r>
            <a:r>
              <a:rPr lang="en-US" altLang="zh-CN" dirty="0">
                <a:latin typeface="Arial" panose="020B0604020202020204" pitchFamily="34" charset="0"/>
                <a:ea typeface="宋体" panose="02010600030101010101" pitchFamily="2" charset="-122"/>
                <a:cs typeface="Arial" panose="020B0604020202020204" pitchFamily="34" charset="0"/>
              </a:rPr>
              <a:t>1942</a:t>
            </a:r>
            <a:r>
              <a:rPr lang="zh-CN" altLang="en-US" dirty="0">
                <a:latin typeface="Arial" panose="020B0604020202020204" pitchFamily="34" charset="0"/>
                <a:ea typeface="宋体" panose="02010600030101010101" pitchFamily="2" charset="-122"/>
                <a:cs typeface="Arial" panose="020B0604020202020204" pitchFamily="34" charset="0"/>
              </a:rPr>
              <a:t> 至</a:t>
            </a:r>
            <a:r>
              <a:rPr lang="en-US" altLang="zh-CN" dirty="0">
                <a:latin typeface="Arial" panose="020B0604020202020204" pitchFamily="34" charset="0"/>
                <a:ea typeface="宋体" panose="02010600030101010101" pitchFamily="2" charset="-122"/>
                <a:cs typeface="Arial" panose="020B0604020202020204" pitchFamily="34" charset="0"/>
              </a:rPr>
              <a:t>1945</a:t>
            </a:r>
            <a:r>
              <a:rPr lang="zh-CN" altLang="en-US" dirty="0">
                <a:latin typeface="Arial" panose="020B0604020202020204" pitchFamily="34" charset="0"/>
                <a:ea typeface="宋体" panose="02010600030101010101" pitchFamily="2" charset="-122"/>
                <a:cs typeface="Arial" panose="020B0604020202020204" pitchFamily="34" charset="0"/>
              </a:rPr>
              <a:t> 年期间</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rPr>
              <a:t>任</a:t>
            </a:r>
            <a:r>
              <a:rPr lang="zh-CN" altLang="en-US" b="1" dirty="0">
                <a:solidFill>
                  <a:srgbClr val="C0000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机长</a:t>
            </a:r>
            <a:r>
              <a:rPr lang="zh-CN" altLang="en-US" dirty="0">
                <a:latin typeface="Arial" panose="020B0604020202020204" pitchFamily="34" charset="0"/>
                <a:ea typeface="宋体" panose="02010600030101010101" pitchFamily="2" charset="-122"/>
                <a:cs typeface="Arial" panose="020B0604020202020204" pitchFamily="34" charset="0"/>
              </a:rPr>
              <a:t>，参与了许多重大空战，为反法西斯战争立下了汗马功劳。</a:t>
            </a:r>
          </a:p>
          <a:p>
            <a:pPr lvl="1" latinLnBrk="0">
              <a:lnSpc>
                <a:spcPts val="3000"/>
              </a:lnSpc>
              <a:spcBef>
                <a:spcPts val="0"/>
              </a:spcBef>
            </a:pPr>
            <a:r>
              <a:rPr lang="zh-CN" altLang="en-US" dirty="0">
                <a:latin typeface="Arial" panose="020B0604020202020204" pitchFamily="34" charset="0"/>
                <a:ea typeface="宋体" panose="02010600030101010101" pitchFamily="2" charset="-122"/>
                <a:cs typeface="Arial" panose="020B0604020202020204" pitchFamily="34" charset="0"/>
              </a:rPr>
              <a:t>二战结束以后，</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rPr>
              <a:t>牛津大学学习数学</a:t>
            </a:r>
            <a:r>
              <a:rPr lang="zh-CN" altLang="en-US" dirty="0">
                <a:latin typeface="Arial" panose="020B0604020202020204" pitchFamily="34" charset="0"/>
                <a:ea typeface="宋体" panose="02010600030101010101" pitchFamily="2" charset="-122"/>
                <a:cs typeface="Arial" panose="020B0604020202020204" pitchFamily="34" charset="0"/>
              </a:rPr>
              <a:t>，于</a:t>
            </a:r>
            <a:r>
              <a:rPr lang="en-US" altLang="zh-CN" dirty="0">
                <a:latin typeface="Arial" panose="020B0604020202020204" pitchFamily="34" charset="0"/>
                <a:ea typeface="宋体" panose="02010600030101010101" pitchFamily="2" charset="-122"/>
                <a:cs typeface="Arial" panose="020B0604020202020204" pitchFamily="34" charset="0"/>
              </a:rPr>
              <a:t>1948</a:t>
            </a:r>
            <a:r>
              <a:rPr lang="zh-CN" altLang="en-US" dirty="0">
                <a:latin typeface="Arial" panose="020B0604020202020204" pitchFamily="34" charset="0"/>
                <a:ea typeface="宋体" panose="02010600030101010101" pitchFamily="2" charset="-122"/>
                <a:cs typeface="Arial" panose="020B0604020202020204" pitchFamily="34" charset="0"/>
              </a:rPr>
              <a:t> 年取得学士学位以后到美国谋求发展。</a:t>
            </a:r>
          </a:p>
          <a:p>
            <a:pPr lvl="1" latinLnBrk="0">
              <a:lnSpc>
                <a:spcPts val="3000"/>
              </a:lnSpc>
              <a:spcBef>
                <a:spcPts val="0"/>
              </a:spcBef>
            </a:pPr>
            <a:r>
              <a:rPr lang="zh-CN" altLang="en-US" dirty="0">
                <a:latin typeface="Arial" panose="020B0604020202020204" pitchFamily="34" charset="0"/>
                <a:ea typeface="宋体" panose="02010600030101010101" pitchFamily="2" charset="-122"/>
                <a:cs typeface="Arial" panose="020B0604020202020204" pitchFamily="34" charset="0"/>
              </a:rPr>
              <a:t>先后在美国和加拿大工作，参加</a:t>
            </a:r>
            <a:r>
              <a:rPr lang="en-US" altLang="zh-CN" dirty="0">
                <a:latin typeface="Arial" panose="020B0604020202020204" pitchFamily="34" charset="0"/>
                <a:ea typeface="宋体" panose="02010600030101010101" pitchFamily="2" charset="-122"/>
                <a:cs typeface="Arial" panose="020B0604020202020204" pitchFamily="34" charset="0"/>
              </a:rPr>
              <a:t>IBM</a:t>
            </a:r>
            <a:r>
              <a:rPr lang="zh-CN" altLang="en-US" dirty="0">
                <a:latin typeface="Arial" panose="020B0604020202020204" pitchFamily="34" charset="0"/>
                <a:ea typeface="宋体" panose="02010600030101010101" pitchFamily="2" charset="-122"/>
                <a:cs typeface="Arial" panose="020B0604020202020204" pitchFamily="34" charset="0"/>
              </a:rPr>
              <a:t> 第一台科学计算机</a:t>
            </a:r>
            <a:r>
              <a:rPr lang="en-US" altLang="zh-CN" dirty="0">
                <a:latin typeface="Arial" panose="020B0604020202020204" pitchFamily="34" charset="0"/>
                <a:ea typeface="宋体" panose="02010600030101010101" pitchFamily="2" charset="-122"/>
                <a:cs typeface="Arial" panose="020B0604020202020204" pitchFamily="34" charset="0"/>
              </a:rPr>
              <a:t>701</a:t>
            </a:r>
            <a:r>
              <a:rPr lang="zh-CN" altLang="en-US" dirty="0">
                <a:latin typeface="Arial" panose="020B0604020202020204" pitchFamily="34" charset="0"/>
                <a:ea typeface="宋体" panose="02010600030101010101" pitchFamily="2" charset="-122"/>
                <a:cs typeface="Arial" panose="020B0604020202020204" pitchFamily="34" charset="0"/>
              </a:rPr>
              <a:t>、第一台大型晶体管计算机</a:t>
            </a:r>
            <a:r>
              <a:rPr lang="en-US" altLang="zh-CN" dirty="0">
                <a:latin typeface="Arial" panose="020B0604020202020204" pitchFamily="34" charset="0"/>
                <a:ea typeface="宋体" panose="02010600030101010101" pitchFamily="2" charset="-122"/>
                <a:cs typeface="Arial" panose="020B0604020202020204" pitchFamily="34" charset="0"/>
              </a:rPr>
              <a:t>STRETCH</a:t>
            </a:r>
            <a:r>
              <a:rPr lang="zh-CN" altLang="en-US" dirty="0">
                <a:latin typeface="Arial" panose="020B0604020202020204" pitchFamily="34" charset="0"/>
                <a:ea typeface="宋体" panose="02010600030101010101" pitchFamily="2" charset="-122"/>
                <a:cs typeface="Arial" panose="020B0604020202020204" pitchFamily="34" charset="0"/>
              </a:rPr>
              <a:t> 的逻辑设计</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rPr>
              <a:t>，主持了第一个有多道程序设计能力的操作系统的开发</a:t>
            </a:r>
            <a:r>
              <a:rPr lang="zh-CN" altLang="en-US" dirty="0">
                <a:latin typeface="Arial" panose="020B0604020202020204" pitchFamily="34" charset="0"/>
                <a:ea typeface="宋体" panose="02010600030101010101" pitchFamily="2" charset="-122"/>
                <a:cs typeface="Arial" panose="020B0604020202020204" pitchFamily="34" charset="0"/>
              </a:rPr>
              <a:t>。</a:t>
            </a:r>
            <a:endPar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endParaRPr>
          </a:p>
          <a:p>
            <a:pPr lvl="1" latinLnBrk="0">
              <a:lnSpc>
                <a:spcPts val="3000"/>
              </a:lnSpc>
              <a:spcBef>
                <a:spcPts val="0"/>
              </a:spcBef>
            </a:pPr>
            <a:r>
              <a:rPr lang="zh-CN" altLang="en-US" dirty="0">
                <a:latin typeface="Arial" panose="020B0604020202020204" pitchFamily="34" charset="0"/>
                <a:ea typeface="宋体" panose="02010600030101010101" pitchFamily="2" charset="-122"/>
                <a:cs typeface="Arial" panose="020B0604020202020204" pitchFamily="34" charset="0"/>
              </a:rPr>
              <a:t>他自觉硬件知识缺乏，于是在</a:t>
            </a:r>
            <a:r>
              <a:rPr lang="en-US" altLang="zh-CN" dirty="0">
                <a:latin typeface="Arial" panose="020B0604020202020204" pitchFamily="34" charset="0"/>
                <a:ea typeface="宋体" panose="02010600030101010101" pitchFamily="2" charset="-122"/>
                <a:cs typeface="Arial" panose="020B0604020202020204" pitchFamily="34" charset="0"/>
              </a:rPr>
              <a:t>60</a:t>
            </a:r>
            <a:r>
              <a:rPr lang="zh-CN" altLang="en-US" dirty="0">
                <a:latin typeface="Arial" panose="020B0604020202020204" pitchFamily="34" charset="0"/>
                <a:ea typeface="宋体" panose="02010600030101010101" pitchFamily="2" charset="-122"/>
                <a:cs typeface="Arial" panose="020B0604020202020204" pitchFamily="34" charset="0"/>
              </a:rPr>
              <a:t> 年代初，到</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rPr>
              <a:t>密歇根大学进修计算机与通信专业</a:t>
            </a:r>
            <a:r>
              <a:rPr lang="zh-CN" altLang="en-US" dirty="0">
                <a:latin typeface="Arial" panose="020B0604020202020204" pitchFamily="34" charset="0"/>
                <a:ea typeface="宋体" panose="02010600030101010101" pitchFamily="2" charset="-122"/>
                <a:cs typeface="Arial" panose="020B0604020202020204" pitchFamily="34" charset="0"/>
              </a:rPr>
              <a:t>( 当时他已年近40 ) ，并于1963 年获得</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rPr>
              <a:t>硕士学位， </a:t>
            </a:r>
            <a:r>
              <a:rPr lang="zh-CN" altLang="en-US" dirty="0">
                <a:latin typeface="Arial" panose="020B0604020202020204" pitchFamily="34" charset="0"/>
                <a:ea typeface="宋体" panose="02010600030101010101" pitchFamily="2" charset="-122"/>
                <a:cs typeface="Arial" panose="020B0604020202020204" pitchFamily="34" charset="0"/>
              </a:rPr>
              <a:t>1965 年取得</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rPr>
              <a:t>博士学位。</a:t>
            </a:r>
          </a:p>
        </p:txBody>
      </p:sp>
      <p:pic>
        <p:nvPicPr>
          <p:cNvPr id="101" name="图片 100"/>
          <p:cNvPicPr/>
          <p:nvPr/>
        </p:nvPicPr>
        <p:blipFill>
          <a:blip r:embed="rId3"/>
          <a:srcRect l="30717" t="10009" r="54884" b="33202"/>
          <a:stretch>
            <a:fillRect/>
          </a:stretch>
        </p:blipFill>
        <p:spPr>
          <a:xfrm>
            <a:off x="8890" y="1905"/>
            <a:ext cx="1231265" cy="1486535"/>
          </a:xfrm>
          <a:prstGeom prst="rect">
            <a:avLst/>
          </a:prstGeom>
          <a:noFill/>
          <a:ln w="9525">
            <a:noFill/>
          </a:ln>
        </p:spPr>
      </p:pic>
      <p:pic>
        <p:nvPicPr>
          <p:cNvPr id="102" name="图片 101"/>
          <p:cNvPicPr/>
          <p:nvPr/>
        </p:nvPicPr>
        <p:blipFill>
          <a:blip r:embed="rId4"/>
          <a:srcRect l="21011"/>
          <a:stretch>
            <a:fillRect/>
          </a:stretch>
        </p:blipFill>
        <p:spPr>
          <a:xfrm>
            <a:off x="7731125" y="5715"/>
            <a:ext cx="1412875" cy="1544320"/>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147955" y="2433320"/>
            <a:ext cx="8697595" cy="3848735"/>
          </a:xfrm>
        </p:spPr>
        <p:txBody>
          <a:bodyPr/>
          <a:lstStyle/>
          <a:p>
            <a:pPr algn="l"/>
            <a:r>
              <a:rPr lang="zh-CN" altLang="en-US" sz="2400">
                <a:latin typeface="Arial" panose="020B0604020202020204" pitchFamily="34" charset="0"/>
                <a:ea typeface="宋体" panose="02010600030101010101" pitchFamily="2" charset="-122"/>
                <a:cs typeface="Arial" panose="020B0604020202020204" pitchFamily="34" charset="0"/>
                <a:sym typeface="+mn-ea"/>
              </a:rPr>
              <a:t>明争取代暗斗  </a:t>
            </a:r>
          </a:p>
          <a:p>
            <a:pPr lvl="1" algn="l"/>
            <a:r>
              <a:rPr lang="zh-CN" altLang="en-US" sz="2400">
                <a:latin typeface="Arial" panose="020B0604020202020204" pitchFamily="34" charset="0"/>
                <a:ea typeface="宋体" panose="02010600030101010101" pitchFamily="2" charset="-122"/>
                <a:cs typeface="Arial" panose="020B0604020202020204" pitchFamily="34" charset="0"/>
                <a:sym typeface="+mn-ea"/>
              </a:rPr>
              <a:t>1974年ACM牵头组织了一次有思想交锋的研讨会。</a:t>
            </a:r>
            <a:endParaRPr lang="zh-CN" altLang="en-US" sz="2400">
              <a:latin typeface="Arial" panose="020B0604020202020204" pitchFamily="34" charset="0"/>
              <a:ea typeface="宋体" panose="02010600030101010101" pitchFamily="2" charset="-122"/>
              <a:cs typeface="Arial" panose="020B0604020202020204" pitchFamily="34" charset="0"/>
            </a:endParaRPr>
          </a:p>
          <a:p>
            <a:pPr algn="l"/>
            <a:r>
              <a:rPr lang="zh-CN" altLang="en-US" sz="2400" b="1">
                <a:solidFill>
                  <a:srgbClr val="C0000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sym typeface="+mn-ea"/>
              </a:rPr>
              <a:t>正方</a:t>
            </a:r>
            <a:r>
              <a:rPr lang="zh-CN" altLang="en-US" sz="2400">
                <a:latin typeface="Arial" panose="020B0604020202020204" pitchFamily="34" charset="0"/>
                <a:ea typeface="宋体" panose="02010600030101010101" pitchFamily="2" charset="-122"/>
                <a:cs typeface="Arial" panose="020B0604020202020204" pitchFamily="34" charset="0"/>
                <a:sym typeface="+mn-ea"/>
              </a:rPr>
              <a:t>：E.F.Codd及其支持者；</a:t>
            </a:r>
            <a:endParaRPr lang="zh-CN" altLang="en-US" sz="2400">
              <a:latin typeface="Arial" panose="020B0604020202020204" pitchFamily="34" charset="0"/>
              <a:ea typeface="宋体" panose="02010600030101010101" pitchFamily="2" charset="-122"/>
              <a:cs typeface="Arial" panose="020B0604020202020204" pitchFamily="34" charset="0"/>
            </a:endParaRPr>
          </a:p>
          <a:p>
            <a:pPr algn="l"/>
            <a:r>
              <a:rPr lang="zh-CN" altLang="en-US" sz="2400" b="1">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sym typeface="+mn-ea"/>
              </a:rPr>
              <a:t>反方</a:t>
            </a:r>
            <a:r>
              <a:rPr lang="zh-CN" altLang="en-US" sz="2400">
                <a:latin typeface="Arial" panose="020B0604020202020204" pitchFamily="34" charset="0"/>
                <a:ea typeface="宋体" panose="02010600030101010101" pitchFamily="2" charset="-122"/>
                <a:cs typeface="Arial" panose="020B0604020202020204" pitchFamily="34" charset="0"/>
                <a:sym typeface="+mn-ea"/>
              </a:rPr>
              <a:t>：Bachman及其支持者；</a:t>
            </a:r>
            <a:endParaRPr lang="zh-CN" altLang="en-US" sz="2400">
              <a:latin typeface="Arial" panose="020B0604020202020204" pitchFamily="34" charset="0"/>
              <a:ea typeface="宋体" panose="02010600030101010101" pitchFamily="2" charset="-122"/>
              <a:cs typeface="Arial" panose="020B0604020202020204" pitchFamily="34" charset="0"/>
            </a:endParaRPr>
          </a:p>
          <a:p>
            <a:pPr algn="l"/>
            <a:r>
              <a:rPr lang="zh-CN" altLang="en-US" sz="2400">
                <a:latin typeface="Arial" panose="020B0604020202020204" pitchFamily="34" charset="0"/>
                <a:ea typeface="宋体" panose="02010600030101010101" pitchFamily="2" charset="-122"/>
                <a:cs typeface="Arial" panose="020B0604020202020204" pitchFamily="34" charset="0"/>
                <a:sym typeface="+mn-ea"/>
              </a:rPr>
              <a:t>Bachman何许人也？数据库界第一个（当时唯一的）图灵奖获得者。轻量级对重量级</a:t>
            </a:r>
          </a:p>
          <a:p>
            <a:pPr lvl="1" algn="l"/>
            <a:r>
              <a:rPr lang="zh-CN" altLang="en-US" sz="2400">
                <a:latin typeface="Arial" panose="020B0604020202020204" pitchFamily="34" charset="0"/>
                <a:ea typeface="宋体" panose="02010600030101010101" pitchFamily="2" charset="-122"/>
                <a:cs typeface="Arial" panose="020B0604020202020204" pitchFamily="34" charset="0"/>
                <a:sym typeface="+mn-ea"/>
              </a:rPr>
              <a:t>E.F.Codd足够坚强，坚持下来了。这次的辩论改善了作为新生事物的关系数据库的生存环境，推动了关系数据库的发展。 </a:t>
            </a:r>
            <a:endParaRPr lang="zh-CN" altLang="en-US" sz="2400">
              <a:latin typeface="Arial" panose="020B0604020202020204" pitchFamily="34" charset="0"/>
              <a:ea typeface="宋体" panose="02010600030101010101" pitchFamily="2" charset="-122"/>
              <a:cs typeface="Arial" panose="020B0604020202020204" pitchFamily="34" charset="0"/>
            </a:endParaRPr>
          </a:p>
        </p:txBody>
      </p:sp>
      <p:pic>
        <p:nvPicPr>
          <p:cNvPr id="102" name="图片 101"/>
          <p:cNvPicPr/>
          <p:nvPr/>
        </p:nvPicPr>
        <p:blipFill>
          <a:blip r:embed="rId2"/>
          <a:srcRect l="21011"/>
          <a:stretch>
            <a:fillRect/>
          </a:stretch>
        </p:blipFill>
        <p:spPr>
          <a:xfrm>
            <a:off x="5264785" y="287020"/>
            <a:ext cx="1484630" cy="1793240"/>
          </a:xfrm>
          <a:prstGeom prst="rect">
            <a:avLst/>
          </a:prstGeom>
          <a:noFill/>
          <a:ln w="9525">
            <a:noFill/>
          </a:ln>
        </p:spPr>
      </p:pic>
      <p:pic>
        <p:nvPicPr>
          <p:cNvPr id="7" name="图片 6"/>
          <p:cNvPicPr>
            <a:picLocks noChangeAspect="1"/>
          </p:cNvPicPr>
          <p:nvPr/>
        </p:nvPicPr>
        <p:blipFill>
          <a:blip r:embed="rId3"/>
          <a:stretch>
            <a:fillRect/>
          </a:stretch>
        </p:blipFill>
        <p:spPr>
          <a:xfrm>
            <a:off x="2595245" y="287020"/>
            <a:ext cx="1196975" cy="17938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a:latin typeface="Arial" panose="020B0604020202020204" pitchFamily="34" charset="0"/>
                <a:cs typeface="Arial" panose="020B0604020202020204" pitchFamily="34" charset="0"/>
              </a:rPr>
              <a:t>Gim Gray</a:t>
            </a:r>
          </a:p>
        </p:txBody>
      </p:sp>
      <p:sp>
        <p:nvSpPr>
          <p:cNvPr id="3" name="内容占位符 2"/>
          <p:cNvSpPr>
            <a:spLocks noGrp="1"/>
          </p:cNvSpPr>
          <p:nvPr>
            <p:ph idx="1"/>
          </p:nvPr>
        </p:nvSpPr>
        <p:spPr>
          <a:xfrm>
            <a:off x="38100" y="1094105"/>
            <a:ext cx="9042400" cy="3434715"/>
          </a:xfrm>
        </p:spPr>
        <p:txBody>
          <a:bodyPr/>
          <a:lstStyle/>
          <a:p>
            <a:r>
              <a:rPr lang="zh-CN" altLang="en-US" dirty="0">
                <a:latin typeface="Arial" panose="020B0604020202020204" pitchFamily="34" charset="0"/>
                <a:ea typeface="宋体" panose="02010600030101010101" pitchFamily="2" charset="-122"/>
                <a:cs typeface="Arial" panose="020B0604020202020204" pitchFamily="34" charset="0"/>
              </a:rPr>
              <a:t>生于 1944年，1966年在</a:t>
            </a:r>
            <a:r>
              <a:rPr lang="zh-CN" altLang="en-US" b="1" dirty="0">
                <a:solidFill>
                  <a:schemeClr val="tx2"/>
                </a:solidFill>
                <a:effectLst/>
                <a:latin typeface="Arial" panose="020B0604020202020204" pitchFamily="34" charset="0"/>
                <a:ea typeface="宋体" panose="02010600030101010101" pitchFamily="2" charset="-122"/>
                <a:cs typeface="Arial" panose="020B0604020202020204" pitchFamily="34" charset="0"/>
              </a:rPr>
              <a:t>加州大学伯克利分校</a:t>
            </a:r>
            <a:r>
              <a:rPr lang="zh-CN" altLang="en-US" dirty="0">
                <a:latin typeface="Arial" panose="020B0604020202020204" pitchFamily="34" charset="0"/>
                <a:ea typeface="宋体" panose="02010600030101010101" pitchFamily="2" charset="-122"/>
                <a:cs typeface="Arial" panose="020B0604020202020204" pitchFamily="34" charset="0"/>
              </a:rPr>
              <a:t>获得工程</a:t>
            </a:r>
            <a:r>
              <a:rPr lang="zh-CN" altLang="en-US" b="1" dirty="0">
                <a:solidFill>
                  <a:schemeClr val="tx2"/>
                </a:solidFill>
                <a:effectLst/>
                <a:latin typeface="Arial" panose="020B0604020202020204" pitchFamily="34" charset="0"/>
                <a:ea typeface="宋体" panose="02010600030101010101" pitchFamily="2" charset="-122"/>
                <a:cs typeface="Arial" panose="020B0604020202020204" pitchFamily="34" charset="0"/>
              </a:rPr>
              <a:t>数学学士学位</a:t>
            </a:r>
            <a:r>
              <a:rPr lang="zh-CN" altLang="en-US" dirty="0">
                <a:latin typeface="Arial" panose="020B0604020202020204" pitchFamily="34" charset="0"/>
                <a:ea typeface="宋体" panose="02010600030101010101" pitchFamily="2" charset="-122"/>
                <a:cs typeface="Arial" panose="020B0604020202020204" pitchFamily="34" charset="0"/>
              </a:rPr>
              <a:t>， 1969年获得</a:t>
            </a:r>
            <a:r>
              <a:rPr lang="zh-CN" altLang="en-US"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计算机科学博士学位</a:t>
            </a:r>
            <a:r>
              <a:rPr lang="zh-CN" altLang="en-US" dirty="0">
                <a:latin typeface="Arial" panose="020B0604020202020204" pitchFamily="34" charset="0"/>
                <a:ea typeface="宋体" panose="02010600030101010101" pitchFamily="2" charset="-122"/>
                <a:cs typeface="Arial" panose="020B0604020202020204" pitchFamily="34" charset="0"/>
              </a:rPr>
              <a:t>，是加州大学伯克利分校计算机科学学院的</a:t>
            </a:r>
            <a:r>
              <a:rPr lang="zh-CN" altLang="en-US"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第一个博士</a:t>
            </a:r>
            <a:r>
              <a:rPr lang="zh-CN" altLang="en-US" dirty="0">
                <a:latin typeface="Arial" panose="020B0604020202020204" pitchFamily="34" charset="0"/>
                <a:ea typeface="宋体" panose="02010600030101010101" pitchFamily="2" charset="-122"/>
                <a:cs typeface="Arial" panose="020B0604020202020204" pitchFamily="34" charset="0"/>
              </a:rPr>
              <a:t>，其博士论文是有关优先文法语法分析理论的研究。</a:t>
            </a:r>
          </a:p>
          <a:p>
            <a:r>
              <a:rPr lang="zh-CN" altLang="en-US"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美国科学院、工程院两院院士，ACM和IEEE两会会士</a:t>
            </a:r>
            <a:r>
              <a:rPr lang="zh-CN" altLang="en-US" dirty="0">
                <a:latin typeface="Arial" panose="020B0604020202020204" pitchFamily="34" charset="0"/>
                <a:ea typeface="宋体" panose="02010600030101010101" pitchFamily="2" charset="-122"/>
                <a:cs typeface="Arial" panose="020B0604020202020204" pitchFamily="34" charset="0"/>
              </a:rPr>
              <a:t>。</a:t>
            </a:r>
          </a:p>
          <a:p>
            <a:r>
              <a:rPr lang="zh-CN" altLang="en-US" dirty="0">
                <a:latin typeface="Arial" panose="020B0604020202020204" pitchFamily="34" charset="0"/>
                <a:ea typeface="宋体" panose="02010600030101010101" pitchFamily="2" charset="-122"/>
                <a:cs typeface="Arial" panose="020B0604020202020204" pitchFamily="34" charset="0"/>
              </a:rPr>
              <a:t>先后在贝尔实验室、IBM、Tandem、DEC、微软等公司工作。</a:t>
            </a:r>
          </a:p>
          <a:p>
            <a:r>
              <a:rPr lang="zh-CN" altLang="en-US" dirty="0">
                <a:latin typeface="Arial" panose="020B0604020202020204" pitchFamily="34" charset="0"/>
                <a:ea typeface="宋体" panose="02010600030101010101" pitchFamily="2" charset="-122"/>
                <a:cs typeface="Arial" panose="020B0604020202020204" pitchFamily="34" charset="0"/>
                <a:sym typeface="+mn-ea"/>
              </a:rPr>
              <a:t>技术领域公认的权威：</a:t>
            </a:r>
            <a:r>
              <a:rPr lang="zh-CN" altLang="en-US"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数据库事务处理技术</a:t>
            </a:r>
            <a:r>
              <a:rPr lang="zh-CN" altLang="en-US" dirty="0">
                <a:latin typeface="Arial" panose="020B0604020202020204" pitchFamily="34" charset="0"/>
                <a:ea typeface="宋体" panose="02010600030101010101" pitchFamily="2" charset="-122"/>
                <a:cs typeface="Arial" panose="020B0604020202020204" pitchFamily="34" charset="0"/>
              </a:rPr>
              <a:t>上的创造性思维和开拓性工作。</a:t>
            </a:r>
          </a:p>
          <a:p>
            <a:r>
              <a:rPr lang="zh-CN" altLang="en-US" dirty="0">
                <a:latin typeface="Arial" panose="020B0604020202020204" pitchFamily="34" charset="0"/>
                <a:ea typeface="宋体" panose="02010600030101010101" pitchFamily="2" charset="-122"/>
                <a:cs typeface="Arial" panose="020B0604020202020204" pitchFamily="34" charset="0"/>
              </a:rPr>
              <a:t>1998 年他成为</a:t>
            </a:r>
            <a:r>
              <a:rPr lang="zh-CN" altLang="en-US"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第3位因在推动数据库技术的发展中做出重大贡献而获得图灵奖的学者</a:t>
            </a:r>
            <a:r>
              <a:rPr lang="zh-CN" altLang="en-US" dirty="0">
                <a:latin typeface="Arial" panose="020B0604020202020204" pitchFamily="34" charset="0"/>
                <a:ea typeface="宋体" panose="02010600030101010101" pitchFamily="2" charset="-122"/>
                <a:cs typeface="Arial" panose="020B0604020202020204" pitchFamily="34" charset="0"/>
              </a:rPr>
              <a:t>。</a:t>
            </a:r>
          </a:p>
          <a:p>
            <a:r>
              <a:rPr lang="zh-CN" altLang="en-US" dirty="0">
                <a:latin typeface="Arial" panose="020B0604020202020204" pitchFamily="34" charset="0"/>
                <a:ea typeface="宋体" panose="02010600030101010101" pitchFamily="2" charset="-122"/>
                <a:cs typeface="Arial" panose="020B0604020202020204" pitchFamily="34" charset="0"/>
              </a:rPr>
              <a:t>在IBM期间，他参与和主持过IMS、System R、SQL/DS、DB2等项目的开发</a:t>
            </a:r>
          </a:p>
          <a:p>
            <a:r>
              <a:rPr lang="zh-CN" altLang="en-US" dirty="0">
                <a:latin typeface="Arial" panose="020B0604020202020204" pitchFamily="34" charset="0"/>
                <a:ea typeface="宋体" panose="02010600030101010101" pitchFamily="2" charset="-122"/>
                <a:cs typeface="Arial" panose="020B0604020202020204" pitchFamily="34" charset="0"/>
              </a:rPr>
              <a:t>任职于微软研究院期间，主要关注应用数据库技术来处理各学科的</a:t>
            </a:r>
            <a:r>
              <a:rPr lang="zh-CN" altLang="en-US"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海量信息</a:t>
            </a:r>
            <a:r>
              <a:rPr lang="zh-CN" altLang="en-US" dirty="0">
                <a:latin typeface="Arial" panose="020B0604020202020204" pitchFamily="34" charset="0"/>
                <a:ea typeface="宋体" panose="02010600030101010101" pitchFamily="2" charset="-122"/>
                <a:cs typeface="Arial" panose="020B0604020202020204" pitchFamily="34" charset="0"/>
              </a:rPr>
              <a:t>。</a:t>
            </a:r>
          </a:p>
          <a:p>
            <a:r>
              <a:rPr lang="zh-CN" altLang="en-US"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大数据浪潮当之无愧的先行者</a:t>
            </a:r>
            <a:r>
              <a:rPr lang="zh-CN" altLang="en-US" dirty="0">
                <a:latin typeface="Arial" panose="020B0604020202020204" pitchFamily="34" charset="0"/>
                <a:ea typeface="宋体" panose="02010600030101010101" pitchFamily="2" charset="-122"/>
                <a:cs typeface="Arial" panose="020B0604020202020204" pitchFamily="34" charset="0"/>
              </a:rPr>
              <a:t>。</a:t>
            </a:r>
          </a:p>
        </p:txBody>
      </p:sp>
      <p:pic>
        <p:nvPicPr>
          <p:cNvPr id="103" name="图片 102"/>
          <p:cNvPicPr/>
          <p:nvPr/>
        </p:nvPicPr>
        <p:blipFill>
          <a:blip r:embed="rId2"/>
          <a:stretch>
            <a:fillRect/>
          </a:stretch>
        </p:blipFill>
        <p:spPr>
          <a:xfrm>
            <a:off x="4859655" y="4719320"/>
            <a:ext cx="3128645" cy="2000885"/>
          </a:xfrm>
          <a:prstGeom prst="rect">
            <a:avLst/>
          </a:prstGeom>
          <a:noFill/>
          <a:ln w="9525">
            <a:noFill/>
          </a:ln>
        </p:spPr>
      </p:pic>
      <p:pic>
        <p:nvPicPr>
          <p:cNvPr id="104" name="图片 103"/>
          <p:cNvPicPr/>
          <p:nvPr/>
        </p:nvPicPr>
        <p:blipFill>
          <a:blip r:embed="rId3"/>
          <a:srcRect/>
          <a:stretch>
            <a:fillRect/>
          </a:stretch>
        </p:blipFill>
        <p:spPr>
          <a:xfrm>
            <a:off x="1289685" y="4718685"/>
            <a:ext cx="3138170" cy="2001520"/>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50900" y="167005"/>
            <a:ext cx="5340350" cy="609600"/>
          </a:xfrm>
        </p:spPr>
        <p:txBody>
          <a:bodyPr vert="horz" wrap="square" lIns="91440" tIns="45720" rIns="91440" bIns="45720" numCol="1" anchor="ctr" anchorCtr="0" compatLnSpc="1">
            <a:normAutofit fontScale="90000"/>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000099"/>
                </a:solidFill>
                <a:effectLst/>
                <a:uLnTx/>
                <a:uFillTx/>
                <a:latin typeface="+mj-lt"/>
                <a:ea typeface="+mj-ea"/>
                <a:cs typeface="+mj-cs"/>
              </a:rPr>
              <a:t>Michael </a:t>
            </a:r>
            <a:r>
              <a:rPr kumimoji="1" lang="en-US" altLang="zh-CN" sz="4400" b="1" i="0" u="none" strike="noStrike" kern="0" cap="none" spc="0" normalizeH="0" baseline="0" noProof="0" dirty="0" err="1">
                <a:ln>
                  <a:noFill/>
                </a:ln>
                <a:solidFill>
                  <a:srgbClr val="000099"/>
                </a:solidFill>
                <a:effectLst/>
                <a:uLnTx/>
                <a:uFillTx/>
                <a:latin typeface="+mj-lt"/>
                <a:ea typeface="+mj-ea"/>
                <a:cs typeface="+mj-cs"/>
              </a:rPr>
              <a:t>Stonebrake</a:t>
            </a:r>
            <a:endParaRPr kumimoji="1" lang="zh-CN" altLang="en-US" sz="4200" b="1" i="0" u="none" strike="noStrike" kern="0" cap="none" spc="0" normalizeH="0" baseline="0" noProof="0" dirty="0">
              <a:ln>
                <a:noFill/>
              </a:ln>
              <a:solidFill>
                <a:srgbClr val="000099"/>
              </a:solidFill>
              <a:effectLst/>
              <a:uLnTx/>
              <a:uFillTx/>
              <a:latin typeface="+mj-lt"/>
              <a:ea typeface="+mj-ea"/>
              <a:cs typeface="+mj-cs"/>
            </a:endParaRPr>
          </a:p>
        </p:txBody>
      </p:sp>
      <p:sp>
        <p:nvSpPr>
          <p:cNvPr id="10243" name="内容占位符 2"/>
          <p:cNvSpPr>
            <a:spLocks noGrp="1"/>
          </p:cNvSpPr>
          <p:nvPr>
            <p:ph idx="1"/>
          </p:nvPr>
        </p:nvSpPr>
        <p:spPr>
          <a:xfrm>
            <a:off x="203200" y="1341755"/>
            <a:ext cx="6125845" cy="4903470"/>
          </a:xfrm>
        </p:spPr>
        <p:txBody>
          <a:bodyPr vert="horz" wrap="square" lIns="91440" tIns="45720" rIns="91440" bIns="45720" anchor="t"/>
          <a:lstStyle/>
          <a:p>
            <a:pPr>
              <a:buSzPct val="125000"/>
            </a:pPr>
            <a:r>
              <a:rPr kumimoji="1" lang="zh-CN" altLang="en-US" sz="2000" dirty="0">
                <a:latin typeface="微软雅黑" panose="020B0503020204020204" charset="-122"/>
                <a:ea typeface="微软雅黑" panose="020B0503020204020204" charset="-122"/>
                <a:cs typeface="+mn-cs"/>
              </a:rPr>
              <a:t>迈克尔·斯通布雷克，生于 1943年 10 月 11日， </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SybaseASE/ MS SQL Server 奠基人</a:t>
            </a:r>
            <a:r>
              <a:rPr kumimoji="1" lang="zh-CN" altLang="en-US" sz="2000" dirty="0">
                <a:latin typeface="微软雅黑" panose="020B0503020204020204" charset="-122"/>
                <a:ea typeface="微软雅黑" panose="020B0503020204020204" charset="-122"/>
                <a:cs typeface="+mn-cs"/>
              </a:rPr>
              <a:t>。</a:t>
            </a:r>
          </a:p>
          <a:p>
            <a:pPr>
              <a:buSzPct val="125000"/>
            </a:pPr>
            <a:r>
              <a:rPr kumimoji="1" lang="zh-CN" altLang="en-US" sz="2000" dirty="0">
                <a:latin typeface="微软雅黑" panose="020B0503020204020204" charset="-122"/>
                <a:ea typeface="微软雅黑" panose="020B0503020204020204" charset="-122"/>
                <a:cs typeface="+mn-cs"/>
              </a:rPr>
              <a:t>1966 ，</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普林斯顿大学获得学士学位</a:t>
            </a:r>
            <a:r>
              <a:rPr kumimoji="1" lang="zh-CN" altLang="en-US" sz="2000" dirty="0">
                <a:latin typeface="微软雅黑" panose="020B0503020204020204" charset="-122"/>
                <a:ea typeface="微软雅黑" panose="020B0503020204020204" charset="-122"/>
                <a:cs typeface="+mn-cs"/>
              </a:rPr>
              <a:t>，1967年和 1971 ，密歇根大学获得</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硕士和博士学位</a:t>
            </a:r>
            <a:r>
              <a:rPr kumimoji="1" lang="zh-CN" altLang="en-US" sz="2000" dirty="0">
                <a:latin typeface="微软雅黑" panose="020B0503020204020204" charset="-122"/>
                <a:ea typeface="微软雅黑" panose="020B0503020204020204" charset="-122"/>
                <a:cs typeface="+mn-cs"/>
              </a:rPr>
              <a:t>。</a:t>
            </a:r>
          </a:p>
          <a:p>
            <a:pPr>
              <a:buSzPct val="125000"/>
            </a:pPr>
            <a:r>
              <a:rPr kumimoji="1" lang="zh-CN" altLang="en-US" sz="2000" dirty="0">
                <a:latin typeface="微软雅黑" panose="020B0503020204020204" charset="-122"/>
                <a:ea typeface="微软雅黑" panose="020B0503020204020204" charset="-122"/>
                <a:cs typeface="+mn-cs"/>
              </a:rPr>
              <a:t>在</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加州大学伯克利分校计算机科学系任教29年</a:t>
            </a:r>
            <a:r>
              <a:rPr kumimoji="1" lang="zh-CN" altLang="en-US" sz="2000" dirty="0">
                <a:latin typeface="微软雅黑" panose="020B0503020204020204" charset="-122"/>
                <a:ea typeface="微软雅黑" panose="020B0503020204020204" charset="-122"/>
                <a:cs typeface="+mn-cs"/>
              </a:rPr>
              <a:t>，领导开发了</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关系数据库系统</a:t>
            </a:r>
            <a:r>
              <a:rPr kumimoji="1" lang="zh-CN" altLang="en-US" sz="2000" dirty="0">
                <a:latin typeface="微软雅黑" panose="020B0503020204020204" charset="-122"/>
                <a:ea typeface="微软雅黑" panose="020B0503020204020204" charset="-122"/>
                <a:cs typeface="+mn-cs"/>
              </a:rPr>
              <a:t>Ingres、</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对象–关系数据库系统</a:t>
            </a:r>
            <a:r>
              <a:rPr kumimoji="1" lang="zh-CN" altLang="en-US" sz="2000" dirty="0">
                <a:latin typeface="微软雅黑" panose="020B0503020204020204" charset="-122"/>
                <a:ea typeface="微软雅黑" panose="020B0503020204020204" charset="-122"/>
                <a:cs typeface="+mn-cs"/>
              </a:rPr>
              <a:t>Postgres，</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联邦数据库系统</a:t>
            </a:r>
            <a:r>
              <a:rPr kumimoji="1" lang="zh-CN" altLang="en-US" sz="2000" dirty="0">
                <a:latin typeface="微软雅黑" panose="020B0503020204020204" charset="-122"/>
                <a:ea typeface="微软雅黑" panose="020B0503020204020204" charset="-122"/>
                <a:cs typeface="+mn-cs"/>
              </a:rPr>
              <a:t>Mariposa，</a:t>
            </a:r>
          </a:p>
          <a:p>
            <a:pPr>
              <a:buSzPct val="125000"/>
            </a:pPr>
            <a:r>
              <a:rPr kumimoji="1" lang="zh-CN" altLang="en-US" sz="2000" dirty="0">
                <a:latin typeface="微软雅黑" panose="020B0503020204020204" charset="-122"/>
                <a:ea typeface="微软雅黑" panose="020B0503020204020204" charset="-122"/>
                <a:cs typeface="+mn-cs"/>
              </a:rPr>
              <a:t>1992 ，Ingres 系统获得著名的 </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ACM 系统软件奖</a:t>
            </a:r>
            <a:endParaRPr kumimoji="1" lang="zh-CN" altLang="en-US" sz="2000" dirty="0">
              <a:latin typeface="微软雅黑" panose="020B0503020204020204" charset="-122"/>
              <a:ea typeface="微软雅黑" panose="020B0503020204020204" charset="-122"/>
              <a:cs typeface="+mn-cs"/>
            </a:endParaRPr>
          </a:p>
          <a:p>
            <a:pPr>
              <a:buSzPct val="125000"/>
            </a:pPr>
            <a:r>
              <a:rPr kumimoji="1" lang="zh-CN" altLang="en-US" sz="2000" dirty="0">
                <a:latin typeface="微软雅黑" panose="020B0503020204020204" charset="-122"/>
                <a:ea typeface="微软雅黑" panose="020B0503020204020204" charset="-122"/>
                <a:cs typeface="+mn-cs"/>
              </a:rPr>
              <a:t>1994，获 </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ACM SIGMOD 授予最佳年度创新奖</a:t>
            </a:r>
            <a:r>
              <a:rPr kumimoji="1" lang="zh-CN" altLang="en-US" sz="2000" dirty="0">
                <a:latin typeface="微软雅黑" panose="020B0503020204020204" charset="-122"/>
                <a:ea typeface="微软雅黑" panose="020B0503020204020204" charset="-122"/>
                <a:cs typeface="+mn-cs"/>
              </a:rPr>
              <a:t>、</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IEEE 的冯·诺依曼奖章、第一届SIGMOD Edgar F. Codd创新奖</a:t>
            </a:r>
            <a:r>
              <a:rPr kumimoji="1" lang="zh-CN" altLang="en-US" sz="2000" dirty="0">
                <a:latin typeface="微软雅黑" panose="020B0503020204020204" charset="-122"/>
                <a:ea typeface="微软雅黑" panose="020B0503020204020204" charset="-122"/>
                <a:cs typeface="+mn-cs"/>
              </a:rPr>
              <a:t>。</a:t>
            </a:r>
          </a:p>
          <a:p>
            <a:pPr>
              <a:buSzPct val="125000"/>
            </a:pPr>
            <a:r>
              <a:rPr kumimoji="1" lang="zh-CN" altLang="en-US" sz="2000" dirty="0">
                <a:latin typeface="微软雅黑" panose="020B0503020204020204" charset="-122"/>
                <a:ea typeface="微软雅黑" panose="020B0503020204020204" charset="-122"/>
                <a:cs typeface="+mn-cs"/>
              </a:rPr>
              <a:t>1994， </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ACM会士</a:t>
            </a:r>
            <a:r>
              <a:rPr kumimoji="1" lang="zh-CN" altLang="en-US" sz="2000" dirty="0">
                <a:latin typeface="微软雅黑" panose="020B0503020204020204" charset="-122"/>
                <a:ea typeface="微软雅黑" panose="020B0503020204020204" charset="-122"/>
                <a:cs typeface="+mn-cs"/>
              </a:rPr>
              <a:t>， 1997，</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美国国家工程院院士</a:t>
            </a:r>
            <a:endParaRPr kumimoji="1" lang="zh-CN" altLang="en-US" sz="2000" dirty="0">
              <a:latin typeface="微软雅黑" panose="020B0503020204020204" charset="-122"/>
              <a:ea typeface="微软雅黑" panose="020B0503020204020204" charset="-122"/>
              <a:cs typeface="+mn-cs"/>
            </a:endParaRPr>
          </a:p>
          <a:p>
            <a:pPr>
              <a:buSzPct val="125000"/>
            </a:pPr>
            <a:r>
              <a:rPr kumimoji="1" lang="zh-CN" altLang="en-US" sz="2000" dirty="0">
                <a:latin typeface="微软雅黑" panose="020B0503020204020204" charset="-122"/>
                <a:ea typeface="微软雅黑" panose="020B0503020204020204" charset="-122"/>
                <a:cs typeface="+mn-cs"/>
              </a:rPr>
              <a:t>2015，</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第4位图灵奖得主，</a:t>
            </a:r>
            <a:r>
              <a:rPr kumimoji="1" lang="zh-CN" altLang="en-US" sz="2000" dirty="0">
                <a:latin typeface="微软雅黑" panose="020B0503020204020204" charset="-122"/>
                <a:ea typeface="微软雅黑" panose="020B0503020204020204" charset="-122"/>
                <a:cs typeface="+mn-cs"/>
              </a:rPr>
              <a:t>目前</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麻省理工学院客座教授</a:t>
            </a:r>
            <a:endParaRPr kumimoji="1" lang="zh-CN" altLang="en-US" sz="2000" dirty="0">
              <a:latin typeface="微软雅黑" panose="020B0503020204020204" charset="-122"/>
              <a:ea typeface="微软雅黑" panose="020B0503020204020204" charset="-122"/>
              <a:cs typeface="+mn-cs"/>
            </a:endParaRPr>
          </a:p>
        </p:txBody>
      </p:sp>
      <p:pic>
        <p:nvPicPr>
          <p:cNvPr id="10245" name="Picture 6"/>
          <p:cNvPicPr>
            <a:picLocks noChangeAspect="1"/>
          </p:cNvPicPr>
          <p:nvPr/>
        </p:nvPicPr>
        <p:blipFill>
          <a:blip r:embed="rId2"/>
          <a:stretch>
            <a:fillRect/>
          </a:stretch>
        </p:blipFill>
        <p:spPr>
          <a:xfrm>
            <a:off x="6504940" y="0"/>
            <a:ext cx="2647950" cy="6858000"/>
          </a:xfrm>
          <a:prstGeom prst="rect">
            <a:avLst/>
          </a:prstGeom>
          <a:noFill/>
          <a:ln w="1270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莱斯利</a:t>
            </a:r>
            <a:r>
              <a:rPr lang="en-US" altLang="zh-CN" dirty="0"/>
              <a:t>·</a:t>
            </a:r>
            <a:r>
              <a:rPr lang="zh-CN" altLang="en-US" dirty="0"/>
              <a:t>兰伯特</a:t>
            </a:r>
            <a:r>
              <a:rPr lang="en-US" altLang="zh-CN" dirty="0"/>
              <a:t>Leslie </a:t>
            </a:r>
            <a:r>
              <a:rPr lang="en-US" altLang="zh-CN" dirty="0" err="1"/>
              <a:t>Lamport</a:t>
            </a:r>
            <a:endParaRPr lang="zh-CN" altLang="en-US" dirty="0"/>
          </a:p>
        </p:txBody>
      </p:sp>
      <p:sp>
        <p:nvSpPr>
          <p:cNvPr id="3" name="内容占位符 2"/>
          <p:cNvSpPr>
            <a:spLocks noGrp="1"/>
          </p:cNvSpPr>
          <p:nvPr>
            <p:ph idx="1"/>
          </p:nvPr>
        </p:nvSpPr>
        <p:spPr>
          <a:xfrm>
            <a:off x="71210" y="1093789"/>
            <a:ext cx="9072790" cy="3807958"/>
          </a:xfrm>
        </p:spPr>
        <p:txBody>
          <a:bodyPr/>
          <a:lstStyle/>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1941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年出生，</a:t>
            </a:r>
            <a:r>
              <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2013</a:t>
            </a:r>
            <a:r>
              <a:rPr lang="zh-CN" altLang="en-US"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年获图灵奖</a:t>
            </a:r>
            <a:endPar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美国国家科学院、工程院院士，美国艺术与科学院院士</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ACM Fellow</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（国际计算机协会会士），微软研究院研究科学家。</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对</a:t>
            </a:r>
            <a:r>
              <a:rPr lang="zh-CN" altLang="en-US"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分布式和并发系统</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的理论和实践作出了基础性贡献</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发明了</a:t>
            </a:r>
            <a:r>
              <a:rPr lang="zh-CN" altLang="en-US" sz="2000" b="1" i="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因果关系</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和</a:t>
            </a:r>
            <a:r>
              <a:rPr lang="zh-CN" altLang="en-US" sz="2000" b="1" i="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逻辑时钟</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b="1" i="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安全性</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和</a:t>
            </a:r>
            <a:r>
              <a:rPr lang="zh-CN" altLang="en-US" sz="2000" b="1" i="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活动性</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b="1" i="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复制状态机</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和</a:t>
            </a:r>
            <a:r>
              <a:rPr lang="zh-CN" altLang="en-US" sz="2000" b="1" i="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顺序一致性</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研究的算法已经成为</a:t>
            </a:r>
            <a:r>
              <a:rPr lang="zh-CN" altLang="en-US"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容错分布式系统的标准工程实践</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拜占庭共识机制</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在实时系统中得到了应用，比如航空调度系统、区块链。</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互斥解和面包房算法、并发编程的基础、分布式系统基础、容错和状态机复制、程序的正式说明和验证、</a:t>
            </a:r>
            <a:r>
              <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LaTeX</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等</a:t>
            </a:r>
          </a:p>
        </p:txBody>
      </p:sp>
      <p:grpSp>
        <p:nvGrpSpPr>
          <p:cNvPr id="14" name="组合 13"/>
          <p:cNvGrpSpPr/>
          <p:nvPr/>
        </p:nvGrpSpPr>
        <p:grpSpPr>
          <a:xfrm>
            <a:off x="71211" y="5229992"/>
            <a:ext cx="9072789" cy="1601667"/>
            <a:chOff x="71211" y="4901748"/>
            <a:chExt cx="9072789" cy="1601667"/>
          </a:xfrm>
        </p:grpSpPr>
        <p:pic>
          <p:nvPicPr>
            <p:cNvPr id="9" name="图片 8"/>
            <p:cNvPicPr>
              <a:picLocks noChangeAspect="1"/>
            </p:cNvPicPr>
            <p:nvPr/>
          </p:nvPicPr>
          <p:blipFill>
            <a:blip r:embed="rId3"/>
            <a:stretch>
              <a:fillRect/>
            </a:stretch>
          </p:blipFill>
          <p:spPr>
            <a:xfrm>
              <a:off x="1895763" y="4907610"/>
              <a:ext cx="2836985" cy="1595804"/>
            </a:xfrm>
            <a:prstGeom prst="rect">
              <a:avLst/>
            </a:prstGeom>
          </p:spPr>
        </p:pic>
        <p:pic>
          <p:nvPicPr>
            <p:cNvPr id="13" name="图片 12"/>
            <p:cNvPicPr>
              <a:picLocks noChangeAspect="1"/>
            </p:cNvPicPr>
            <p:nvPr/>
          </p:nvPicPr>
          <p:blipFill>
            <a:blip r:embed="rId4"/>
            <a:stretch>
              <a:fillRect/>
            </a:stretch>
          </p:blipFill>
          <p:spPr>
            <a:xfrm>
              <a:off x="6747896" y="4901748"/>
              <a:ext cx="2396104" cy="1595805"/>
            </a:xfrm>
            <a:prstGeom prst="rect">
              <a:avLst/>
            </a:prstGeom>
          </p:spPr>
        </p:pic>
        <p:pic>
          <p:nvPicPr>
            <p:cNvPr id="7" name="图片 6"/>
            <p:cNvPicPr>
              <a:picLocks noChangeAspect="1"/>
            </p:cNvPicPr>
            <p:nvPr/>
          </p:nvPicPr>
          <p:blipFill>
            <a:blip r:embed="rId5"/>
            <a:stretch>
              <a:fillRect/>
            </a:stretch>
          </p:blipFill>
          <p:spPr>
            <a:xfrm>
              <a:off x="71211" y="4907610"/>
              <a:ext cx="2249960" cy="1595805"/>
            </a:xfrm>
            <a:prstGeom prst="rect">
              <a:avLst/>
            </a:prstGeom>
          </p:spPr>
        </p:pic>
        <p:pic>
          <p:nvPicPr>
            <p:cNvPr id="11" name="图片 10"/>
            <p:cNvPicPr>
              <a:picLocks noChangeAspect="1"/>
            </p:cNvPicPr>
            <p:nvPr/>
          </p:nvPicPr>
          <p:blipFill>
            <a:blip r:embed="rId6"/>
            <a:stretch>
              <a:fillRect/>
            </a:stretch>
          </p:blipFill>
          <p:spPr>
            <a:xfrm>
              <a:off x="4764445" y="4907610"/>
              <a:ext cx="2096295" cy="1566498"/>
            </a:xfrm>
            <a:prstGeom prst="rect">
              <a:avLst/>
            </a:prstGeom>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solidFill>
                  <a:srgbClr val="C00000"/>
                </a:solidFill>
                <a:latin typeface="黑体" panose="02010609060101010101" pitchFamily="49" charset="-122"/>
                <a:ea typeface="黑体" panose="02010609060101010101" pitchFamily="49" charset="-122"/>
              </a:rPr>
              <a:t>提</a:t>
            </a:r>
            <a:r>
              <a:rPr lang="en-US" altLang="zh-CN" sz="4000">
                <a:solidFill>
                  <a:srgbClr val="C00000"/>
                </a:solidFill>
                <a:latin typeface="黑体" panose="02010609060101010101" pitchFamily="49" charset="-122"/>
                <a:ea typeface="黑体" panose="02010609060101010101" pitchFamily="49" charset="-122"/>
              </a:rPr>
              <a:t>  </a:t>
            </a:r>
            <a:r>
              <a:rPr lang="zh-CN" altLang="en-US" sz="4000">
                <a:solidFill>
                  <a:srgbClr val="C00000"/>
                </a:solidFill>
                <a:latin typeface="黑体" panose="02010609060101010101" pitchFamily="49" charset="-122"/>
                <a:ea typeface="黑体" panose="02010609060101010101" pitchFamily="49" charset="-122"/>
              </a:rPr>
              <a:t>纲</a:t>
            </a:r>
          </a:p>
        </p:txBody>
      </p:sp>
      <p:sp>
        <p:nvSpPr>
          <p:cNvPr id="3" name="内容占位符 2"/>
          <p:cNvSpPr>
            <a:spLocks noGrp="1"/>
          </p:cNvSpPr>
          <p:nvPr>
            <p:ph idx="1"/>
          </p:nvPr>
        </p:nvSpPr>
        <p:spPr/>
        <p:txBody>
          <a:bodyPr/>
          <a:lstStyle/>
          <a:p>
            <a:r>
              <a:rPr lang="zh-CN" altLang="en-US" sz="2400" b="1">
                <a:solidFill>
                  <a:schemeClr val="accent5">
                    <a:lumMod val="65000"/>
                  </a:schemeClr>
                </a:solidFill>
                <a:latin typeface="Arial" panose="020B0604020202020204" pitchFamily="34" charset="0"/>
                <a:ea typeface="新宋体" panose="02010609030101010101" charset="-122"/>
              </a:rPr>
              <a:t>课程简介</a:t>
            </a:r>
          </a:p>
          <a:p>
            <a:r>
              <a:rPr lang="zh-CN" altLang="en-US" sz="2400" b="1">
                <a:solidFill>
                  <a:schemeClr val="accent5">
                    <a:lumMod val="65000"/>
                  </a:schemeClr>
                </a:solidFill>
                <a:latin typeface="Arial" panose="020B0604020202020204" pitchFamily="34" charset="0"/>
                <a:ea typeface="新宋体" panose="02010609030101010101" charset="-122"/>
              </a:rPr>
              <a:t>数据库概览</a:t>
            </a:r>
          </a:p>
          <a:p>
            <a:pPr lvl="1"/>
            <a:r>
              <a:rPr lang="zh-CN" altLang="en-US" sz="2400" b="1">
                <a:solidFill>
                  <a:schemeClr val="accent5">
                    <a:lumMod val="65000"/>
                  </a:schemeClr>
                </a:solidFill>
                <a:latin typeface="Arial" panose="020B0604020202020204" pitchFamily="34" charset="0"/>
                <a:ea typeface="新宋体" panose="02010609030101010101" charset="-122"/>
              </a:rPr>
              <a:t>学科简介</a:t>
            </a:r>
          </a:p>
          <a:p>
            <a:pPr lvl="1"/>
            <a:r>
              <a:rPr lang="zh-CN" altLang="en-US" sz="2400" b="1">
                <a:solidFill>
                  <a:schemeClr val="accent5">
                    <a:lumMod val="65000"/>
                  </a:schemeClr>
                </a:solidFill>
                <a:latin typeface="Arial" panose="020B0604020202020204" pitchFamily="34" charset="0"/>
                <a:ea typeface="新宋体" panose="02010609030101010101" charset="-122"/>
              </a:rPr>
              <a:t>数据库发展史</a:t>
            </a:r>
          </a:p>
          <a:p>
            <a:pPr lvl="0" algn="l"/>
            <a:r>
              <a:rPr lang="zh-CN" altLang="en-US" sz="2400" b="1">
                <a:solidFill>
                  <a:srgbClr val="C00000"/>
                </a:solidFill>
                <a:latin typeface="Arial" panose="020B0604020202020204" pitchFamily="34" charset="0"/>
                <a:ea typeface="新宋体" panose="02010609030101010101" charset="-122"/>
              </a:rPr>
              <a:t>数据库引擎</a:t>
            </a:r>
          </a:p>
          <a:p>
            <a:pPr lvl="1"/>
            <a:r>
              <a:rPr lang="zh-CN" altLang="en-US" sz="2400" b="1">
                <a:latin typeface="Arial" panose="020B0604020202020204" pitchFamily="34" charset="0"/>
                <a:ea typeface="新宋体" panose="02010609030101010101" charset="-122"/>
              </a:rPr>
              <a:t>国外</a:t>
            </a:r>
          </a:p>
          <a:p>
            <a:pPr lvl="1"/>
            <a:r>
              <a:rPr lang="zh-CN" altLang="en-US" sz="2400" b="1">
                <a:latin typeface="Arial" panose="020B0604020202020204" pitchFamily="34" charset="0"/>
                <a:ea typeface="新宋体" panose="02010609030101010101" charset="-122"/>
              </a:rPr>
              <a:t>国内</a:t>
            </a:r>
          </a:p>
          <a:p>
            <a:pPr lvl="0" algn="l"/>
            <a:r>
              <a:rPr lang="zh-CN" altLang="en-US" sz="2400" b="1">
                <a:solidFill>
                  <a:srgbClr val="000099"/>
                </a:solidFill>
                <a:latin typeface="Arial" panose="020B0604020202020204" pitchFamily="34" charset="0"/>
                <a:ea typeface="新宋体" panose="02010609030101010101" charset="-122"/>
              </a:rPr>
              <a:t>数据库生态</a:t>
            </a:r>
          </a:p>
          <a:p>
            <a:pPr lvl="0" algn="l"/>
            <a:r>
              <a:rPr lang="zh-CN" altLang="en-US" sz="2400" b="1">
                <a:solidFill>
                  <a:srgbClr val="000099"/>
                </a:solidFill>
                <a:latin typeface="Arial" panose="020B0604020202020204" pitchFamily="34" charset="0"/>
                <a:ea typeface="新宋体" panose="02010609030101010101" charset="-122"/>
              </a:rPr>
              <a:t>数据库新变化</a:t>
            </a:r>
          </a:p>
          <a:p>
            <a:pPr lvl="0" algn="l"/>
            <a:r>
              <a:rPr lang="zh-CN" altLang="en-US" sz="2400" b="1">
                <a:solidFill>
                  <a:srgbClr val="000099"/>
                </a:solidFill>
                <a:latin typeface="Arial" panose="020B0604020202020204" pitchFamily="34" charset="0"/>
                <a:ea typeface="新宋体" panose="02010609030101010101" charset="-122"/>
              </a:rPr>
              <a:t>数据库学术圈</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90" name="Rectangle 2"/>
          <p:cNvSpPr>
            <a:spLocks noGrp="1"/>
          </p:cNvSpPr>
          <p:nvPr>
            <p:ph type="title"/>
          </p:nvPr>
        </p:nvSpPr>
        <p:spPr>
          <a:xfrm>
            <a:off x="768350" y="183515"/>
            <a:ext cx="8077200" cy="609600"/>
          </a:xfrm>
          <a:noFill/>
          <a:ln w="9525">
            <a:noFill/>
            <a:miter lim="800000"/>
          </a:ln>
        </p:spPr>
        <p:txBody>
          <a:bodyPr vert="horz" wrap="square" lIns="91440" tIns="45720" rIns="91440" bIns="45720" numCol="1" anchor="b" anchorCtr="0" compatLnSpc="1"/>
          <a:lstStyle/>
          <a:p>
            <a:r>
              <a:rPr lang="zh-CN" altLang="en-US" sz="4000" dirty="0">
                <a:solidFill>
                  <a:schemeClr val="tx2"/>
                </a:solidFill>
                <a:latin typeface="黑体" panose="02010609060101010101" pitchFamily="49" charset="-122"/>
                <a:ea typeface="黑体" panose="02010609060101010101" pitchFamily="49" charset="-122"/>
              </a:rPr>
              <a:t>数据库技术现状</a:t>
            </a:r>
          </a:p>
        </p:txBody>
      </p:sp>
      <p:sp>
        <p:nvSpPr>
          <p:cNvPr id="12291" name="Rectangle 3"/>
          <p:cNvSpPr>
            <a:spLocks noGrp="1"/>
          </p:cNvSpPr>
          <p:nvPr>
            <p:ph idx="1"/>
          </p:nvPr>
        </p:nvSpPr>
        <p:spPr>
          <a:xfrm>
            <a:off x="180108" y="1093788"/>
            <a:ext cx="8665441" cy="5154612"/>
          </a:xfrm>
        </p:spPr>
        <p:txBody>
          <a:bodyPr vert="horz" wrap="square" lIns="91440" tIns="45720" rIns="91440" bIns="45720" anchor="t"/>
          <a:lstStyle/>
          <a:p>
            <a:pPr eaLnBrk="1" hangingPunct="1">
              <a:lnSpc>
                <a:spcPct val="120000"/>
              </a:lnSpc>
              <a:buSzPct val="125000"/>
            </a:pPr>
            <a:r>
              <a:rPr kumimoji="1"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市场</a:t>
            </a:r>
            <a:endParaRPr kumimoji="1" lang="zh-CN" altLang="en-US" sz="2000" dirty="0">
              <a:latin typeface="微软雅黑" panose="020B0503020204020204" charset="-122"/>
              <a:ea typeface="微软雅黑" panose="020B0503020204020204" charset="-122"/>
              <a:cs typeface="+mn-cs"/>
            </a:endParaRPr>
          </a:p>
          <a:p>
            <a:pPr lvl="1"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数据库已经与操作系统、应用服务器一起成为</a:t>
            </a:r>
            <a:r>
              <a:rPr kumimoji="1"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IT基础设施</a:t>
            </a:r>
            <a:r>
              <a:rPr kumimoji="1" lang="zh-CN" altLang="en-US" sz="2000" dirty="0">
                <a:latin typeface="微软雅黑" panose="020B0503020204020204" charset="-122"/>
                <a:ea typeface="微软雅黑" panose="020B0503020204020204" charset="-122"/>
                <a:cs typeface="楷体_GB2312" panose="02010609030101010101" charset="-122"/>
              </a:rPr>
              <a:t>的重要组成部分。</a:t>
            </a:r>
          </a:p>
          <a:p>
            <a:pPr lvl="1" eaLnBrk="1" hangingPunct="1">
              <a:lnSpc>
                <a:spcPct val="120000"/>
              </a:lnSpc>
            </a:pPr>
            <a:r>
              <a:rPr kumimoji="1"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IDC数据显示</a:t>
            </a:r>
            <a:r>
              <a:rPr kumimoji="1" lang="en-US" altLang="zh-CN" sz="2000" dirty="0">
                <a:latin typeface="微软雅黑" panose="020B0503020204020204" charset="-122"/>
                <a:ea typeface="微软雅黑" panose="020B0503020204020204" charset="-122"/>
                <a:cs typeface="楷体_GB2312" panose="02010609030101010101" charset="-122"/>
              </a:rPr>
              <a:t>，2021年全球大数据市场的IT总投资规模为2176.1亿美元，并有望在2026年增至4491.1亿美元，五年预测期内（2021-2026）实现约15.6%的复合增长率（CAGR）。</a:t>
            </a:r>
          </a:p>
          <a:p>
            <a:pPr eaLnBrk="1" hangingPunct="1">
              <a:lnSpc>
                <a:spcPct val="120000"/>
              </a:lnSpc>
              <a:buSzPct val="125000"/>
            </a:pPr>
            <a:r>
              <a:rPr kumimoji="1"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应用领域广泛</a:t>
            </a:r>
          </a:p>
          <a:p>
            <a:pPr lvl="1"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银行、电信、制造等几乎每个行业的数据都是存储在关系数据库中。</a:t>
            </a:r>
          </a:p>
          <a:p>
            <a:pPr eaLnBrk="1" hangingPunct="1">
              <a:lnSpc>
                <a:spcPct val="120000"/>
              </a:lnSpc>
              <a:buSzPct val="125000"/>
            </a:pPr>
            <a:r>
              <a:rPr kumimoji="1"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大量的相关的行业</a:t>
            </a:r>
            <a:endParaRPr kumimoji="1" lang="zh-CN" altLang="en-US" sz="2000" dirty="0">
              <a:latin typeface="微软雅黑" panose="020B0503020204020204" charset="-122"/>
              <a:ea typeface="微软雅黑" panose="020B0503020204020204" charset="-122"/>
              <a:cs typeface="+mn-cs"/>
            </a:endParaRPr>
          </a:p>
          <a:p>
            <a:pPr lvl="1"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数据仓库</a:t>
            </a:r>
            <a:r>
              <a:rPr kumimoji="1" lang="en-US" altLang="zh-CN" sz="2000" dirty="0">
                <a:latin typeface="微软雅黑" panose="020B0503020204020204" charset="-122"/>
                <a:ea typeface="微软雅黑" panose="020B0503020204020204" charset="-122"/>
                <a:cs typeface="楷体_GB2312" panose="02010609030101010101" charset="-122"/>
              </a:rPr>
              <a:t>, </a:t>
            </a:r>
            <a:r>
              <a:rPr kumimoji="1" lang="zh-CN" altLang="en-US" sz="2000" dirty="0">
                <a:latin typeface="微软雅黑" panose="020B0503020204020204" charset="-122"/>
                <a:ea typeface="微软雅黑" panose="020B0503020204020204" charset="-122"/>
                <a:cs typeface="楷体_GB2312" panose="02010609030101010101" charset="-122"/>
              </a:rPr>
              <a:t>文本管理</a:t>
            </a:r>
            <a:r>
              <a:rPr kumimoji="1" lang="en-US" altLang="zh-CN" sz="2000" dirty="0">
                <a:latin typeface="微软雅黑" panose="020B0503020204020204" charset="-122"/>
                <a:ea typeface="微软雅黑" panose="020B0503020204020204" charset="-122"/>
                <a:cs typeface="楷体_GB2312" panose="02010609030101010101" charset="-122"/>
              </a:rPr>
              <a:t>, </a:t>
            </a:r>
            <a:r>
              <a:rPr kumimoji="1" lang="zh-CN" altLang="en-US" sz="2000" dirty="0">
                <a:latin typeface="微软雅黑" panose="020B0503020204020204" charset="-122"/>
                <a:ea typeface="微软雅黑" panose="020B0503020204020204" charset="-122"/>
                <a:cs typeface="楷体_GB2312" panose="02010609030101010101" charset="-122"/>
              </a:rPr>
              <a:t>海量存储</a:t>
            </a:r>
            <a:r>
              <a:rPr kumimoji="1" lang="en-US" altLang="zh-CN" sz="2000" dirty="0">
                <a:latin typeface="微软雅黑" panose="020B0503020204020204" charset="-122"/>
                <a:ea typeface="微软雅黑" panose="020B0503020204020204" charset="-122"/>
                <a:cs typeface="楷体_GB2312" panose="02010609030101010101" charset="-122"/>
              </a:rPr>
              <a:t>, </a:t>
            </a:r>
            <a:r>
              <a:rPr kumimoji="1" lang="zh-CN" altLang="en-US" sz="2000" dirty="0">
                <a:latin typeface="微软雅黑" panose="020B0503020204020204" charset="-122"/>
                <a:ea typeface="微软雅黑" panose="020B0503020204020204" charset="-122"/>
                <a:cs typeface="楷体_GB2312" panose="02010609030101010101" charset="-122"/>
              </a:rPr>
              <a:t>备份</a:t>
            </a:r>
            <a:r>
              <a:rPr kumimoji="1" lang="en-US" altLang="zh-CN" sz="2000" dirty="0">
                <a:latin typeface="微软雅黑" panose="020B0503020204020204" charset="-122"/>
                <a:ea typeface="微软雅黑" panose="020B0503020204020204" charset="-122"/>
                <a:cs typeface="楷体_GB2312" panose="02010609030101010101" charset="-122"/>
              </a:rPr>
              <a:t>, </a:t>
            </a:r>
            <a:r>
              <a:rPr kumimoji="1" lang="zh-CN" altLang="en-US" sz="2000" dirty="0">
                <a:latin typeface="微软雅黑" panose="020B0503020204020204" charset="-122"/>
                <a:ea typeface="微软雅黑" panose="020B0503020204020204" charset="-122"/>
                <a:cs typeface="楷体_GB2312" panose="02010609030101010101" charset="-122"/>
              </a:rPr>
              <a:t>报表</a:t>
            </a:r>
            <a:r>
              <a:rPr kumimoji="1" lang="en-US" altLang="zh-CN" sz="2000" dirty="0">
                <a:latin typeface="微软雅黑" panose="020B0503020204020204" charset="-122"/>
                <a:ea typeface="微软雅黑" panose="020B0503020204020204" charset="-122"/>
                <a:cs typeface="楷体_GB2312" panose="02010609030101010101" charset="-122"/>
              </a:rPr>
              <a:t>, </a:t>
            </a:r>
            <a:r>
              <a:rPr kumimoji="1" lang="zh-CN" altLang="en-US" sz="2000" dirty="0">
                <a:latin typeface="微软雅黑" panose="020B0503020204020204" charset="-122"/>
                <a:ea typeface="微软雅黑" panose="020B0503020204020204" charset="-122"/>
                <a:cs typeface="楷体_GB2312" panose="02010609030101010101" charset="-122"/>
              </a:rPr>
              <a:t>商业智能</a:t>
            </a:r>
            <a:r>
              <a:rPr kumimoji="1" lang="en-US" altLang="zh-CN" sz="2000" dirty="0">
                <a:latin typeface="微软雅黑" panose="020B0503020204020204" charset="-122"/>
                <a:ea typeface="微软雅黑" panose="020B0503020204020204" charset="-122"/>
                <a:cs typeface="楷体_GB2312" panose="02010609030101010101" charset="-122"/>
              </a:rPr>
              <a:t>business intelligence, ERP, CRM</a:t>
            </a:r>
            <a:r>
              <a:rPr kumimoji="1" lang="zh-CN" altLang="en-US" sz="2000" dirty="0">
                <a:latin typeface="微软雅黑" panose="020B0503020204020204" charset="-122"/>
                <a:ea typeface="微软雅黑" panose="020B0503020204020204" charset="-122"/>
                <a:cs typeface="楷体_GB2312" panose="02010609030101010101" charset="-122"/>
              </a:rPr>
              <a:t>等  </a:t>
            </a:r>
          </a:p>
          <a:p>
            <a:pPr eaLnBrk="1" hangingPunct="1">
              <a:lnSpc>
                <a:spcPct val="120000"/>
              </a:lnSpc>
              <a:buSzPct val="125000"/>
            </a:pPr>
            <a:endParaRPr kumimoji="1" lang="en-US" altLang="zh-CN" sz="2000" dirty="0">
              <a:latin typeface="微软雅黑" panose="020B0503020204020204" charset="-122"/>
              <a:ea typeface="微软雅黑" panose="020B0503020204020204" charset="-122"/>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a:xfrm>
            <a:off x="768350" y="150495"/>
            <a:ext cx="8077200" cy="609600"/>
          </a:xfrm>
          <a:noFill/>
          <a:ln w="9525">
            <a:noFill/>
            <a:miter lim="800000"/>
          </a:ln>
        </p:spPr>
        <p:txBody>
          <a:bodyPr vert="horz" wrap="square" lIns="91440" tIns="45720" rIns="91440" bIns="45720" numCol="1" anchor="b" anchorCtr="0" compatLnSpc="1"/>
          <a:lstStyle/>
          <a:p>
            <a:r>
              <a:rPr lang="zh-CN" altLang="en-US" sz="4000" dirty="0">
                <a:solidFill>
                  <a:schemeClr val="tx2"/>
                </a:solidFill>
                <a:latin typeface="黑体" panose="02010609060101010101" pitchFamily="49" charset="-122"/>
                <a:ea typeface="黑体" panose="02010609060101010101" pitchFamily="49" charset="-122"/>
              </a:rPr>
              <a:t>数据库产品目前进展</a:t>
            </a:r>
          </a:p>
        </p:txBody>
      </p:sp>
      <p:sp>
        <p:nvSpPr>
          <p:cNvPr id="19459" name="Rectangle 3"/>
          <p:cNvSpPr>
            <a:spLocks noGrp="1"/>
          </p:cNvSpPr>
          <p:nvPr>
            <p:ph idx="1"/>
          </p:nvPr>
        </p:nvSpPr>
        <p:spPr>
          <a:xfrm>
            <a:off x="177800" y="1093788"/>
            <a:ext cx="8826500" cy="5345112"/>
          </a:xfrm>
        </p:spPr>
        <p:txBody>
          <a:bodyPr vert="horz" wrap="square" lIns="91440" tIns="45720" rIns="91440" bIns="45720" anchor="t"/>
          <a:lstStyle/>
          <a:p>
            <a:pPr eaLnBrk="1" hangingPunct="1">
              <a:lnSpc>
                <a:spcPct val="130000"/>
              </a:lnSpc>
              <a:buSzPct val="125000"/>
            </a:pPr>
            <a:r>
              <a:rPr kumimoji="1" lang="zh-CN" altLang="en-US" sz="2400" dirty="0">
                <a:solidFill>
                  <a:srgbClr val="C00000"/>
                </a:solidFill>
                <a:latin typeface="微软雅黑" panose="020B0503020204020204" charset="-122"/>
                <a:ea typeface="微软雅黑" panose="020B0503020204020204" charset="-122"/>
                <a:cs typeface="+mn-cs"/>
              </a:rPr>
              <a:t>系统稳定</a:t>
            </a:r>
            <a:r>
              <a:rPr kumimoji="1" lang="en-US" altLang="zh-CN" sz="2400" dirty="0">
                <a:solidFill>
                  <a:srgbClr val="C00000"/>
                </a:solidFill>
                <a:latin typeface="微软雅黑" panose="020B0503020204020204" charset="-122"/>
                <a:ea typeface="微软雅黑" panose="020B0503020204020204" charset="-122"/>
                <a:cs typeface="+mn-cs"/>
              </a:rPr>
              <a:t>, </a:t>
            </a:r>
            <a:r>
              <a:rPr kumimoji="1" lang="zh-CN" altLang="en-US" sz="2400" dirty="0">
                <a:solidFill>
                  <a:srgbClr val="C00000"/>
                </a:solidFill>
                <a:latin typeface="微软雅黑" panose="020B0503020204020204" charset="-122"/>
                <a:ea typeface="微软雅黑" panose="020B0503020204020204" charset="-122"/>
                <a:cs typeface="+mn-cs"/>
              </a:rPr>
              <a:t>可靠</a:t>
            </a:r>
            <a:endParaRPr kumimoji="1" lang="en-US" altLang="zh-CN" sz="2400" dirty="0">
              <a:solidFill>
                <a:srgbClr val="C00000"/>
              </a:solidFill>
              <a:latin typeface="微软雅黑" panose="020B0503020204020204" charset="-122"/>
              <a:ea typeface="微软雅黑" panose="020B0503020204020204" charset="-122"/>
              <a:cs typeface="+mn-cs"/>
            </a:endParaRPr>
          </a:p>
          <a:p>
            <a:pPr lvl="1" eaLnBrk="1" hangingPunct="1">
              <a:lnSpc>
                <a:spcPct val="130000"/>
              </a:lnSpc>
              <a:buSzPct val="125000"/>
            </a:pPr>
            <a:r>
              <a:rPr lang="en" altLang="zh-CN" sz="2400" b="0" i="0" dirty="0">
                <a:solidFill>
                  <a:srgbClr val="404040"/>
                </a:solidFill>
                <a:effectLst/>
                <a:latin typeface="Inter"/>
              </a:rPr>
              <a:t>MySQL</a:t>
            </a:r>
            <a:r>
              <a:rPr lang="zh-CN" altLang="en" sz="2400" b="0" i="0" dirty="0">
                <a:solidFill>
                  <a:srgbClr val="404040"/>
                </a:solidFill>
                <a:effectLst/>
                <a:latin typeface="Inter"/>
              </a:rPr>
              <a:t>、</a:t>
            </a:r>
            <a:r>
              <a:rPr lang="en" altLang="zh-CN" sz="2400" b="0" i="0" dirty="0">
                <a:solidFill>
                  <a:srgbClr val="404040"/>
                </a:solidFill>
                <a:effectLst/>
                <a:latin typeface="Inter"/>
              </a:rPr>
              <a:t>PostgreSQL</a:t>
            </a:r>
            <a:r>
              <a:rPr lang="zh-CN" altLang="en" sz="2400" b="0" i="0" dirty="0">
                <a:solidFill>
                  <a:srgbClr val="404040"/>
                </a:solidFill>
                <a:effectLst/>
                <a:latin typeface="Inter"/>
              </a:rPr>
              <a:t>、</a:t>
            </a:r>
            <a:r>
              <a:rPr lang="en" altLang="zh-CN" sz="2400" b="0" i="0" dirty="0">
                <a:solidFill>
                  <a:srgbClr val="404040"/>
                </a:solidFill>
                <a:effectLst/>
                <a:latin typeface="Inter"/>
              </a:rPr>
              <a:t>Oracle</a:t>
            </a:r>
            <a:r>
              <a:rPr lang="zh-CN" altLang="en-US" sz="2400" b="0" i="0" dirty="0">
                <a:solidFill>
                  <a:srgbClr val="404040"/>
                </a:solidFill>
                <a:effectLst/>
                <a:latin typeface="Inter"/>
              </a:rPr>
              <a:t>、</a:t>
            </a:r>
            <a:r>
              <a:rPr lang="en-US" altLang="zh-CN" sz="2400" b="0" i="0" dirty="0">
                <a:solidFill>
                  <a:srgbClr val="404040"/>
                </a:solidFill>
                <a:effectLst/>
                <a:latin typeface="Inter"/>
              </a:rPr>
              <a:t>IBMDB2</a:t>
            </a:r>
            <a:r>
              <a:rPr lang="zh-CN" altLang="en-US" sz="2400" b="0" i="0" dirty="0">
                <a:solidFill>
                  <a:srgbClr val="404040"/>
                </a:solidFill>
                <a:effectLst/>
                <a:latin typeface="Inter"/>
              </a:rPr>
              <a:t>等仍是企业核心系统的基石，尤其在需要强一致性和复杂事的场景</a:t>
            </a:r>
            <a:endParaRPr kumimoji="1" lang="zh-CN" altLang="en-US" sz="2400" dirty="0">
              <a:latin typeface="微软雅黑" panose="020B0503020204020204" charset="-122"/>
              <a:ea typeface="微软雅黑" panose="020B0503020204020204" charset="-122"/>
              <a:cs typeface="+mn-cs"/>
            </a:endParaRPr>
          </a:p>
          <a:p>
            <a:pPr lvl="1" eaLnBrk="1" hangingPunct="1">
              <a:lnSpc>
                <a:spcPct val="130000"/>
              </a:lnSpc>
              <a:buSzPct val="125000"/>
            </a:pPr>
            <a:r>
              <a:rPr kumimoji="1" lang="zh-CN" altLang="en-US" sz="2400" dirty="0">
                <a:latin typeface="微软雅黑" panose="020B0503020204020204" charset="-122"/>
                <a:ea typeface="微软雅黑" panose="020B0503020204020204" charset="-122"/>
                <a:cs typeface="+mn-cs"/>
              </a:rPr>
              <a:t>支持高效率的</a:t>
            </a:r>
            <a:r>
              <a:rPr kumimoji="1" lang="zh-CN" altLang="en-US" sz="24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关系数据库查询</a:t>
            </a:r>
            <a:r>
              <a:rPr kumimoji="1" lang="zh-CN" altLang="en-US" sz="2400" dirty="0">
                <a:latin typeface="微软雅黑" panose="020B0503020204020204" charset="-122"/>
                <a:ea typeface="微软雅黑" panose="020B0503020204020204" charset="-122"/>
                <a:cs typeface="+mn-cs"/>
              </a:rPr>
              <a:t>，</a:t>
            </a:r>
            <a:r>
              <a:rPr kumimoji="1" lang="zh-CN" altLang="en-US" sz="24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优化</a:t>
            </a:r>
            <a:endParaRPr kumimoji="1" lang="zh-CN" altLang="en-US" sz="2400" dirty="0">
              <a:latin typeface="微软雅黑" panose="020B0503020204020204" charset="-122"/>
              <a:ea typeface="微软雅黑" panose="020B0503020204020204" charset="-122"/>
              <a:cs typeface="+mn-cs"/>
            </a:endParaRPr>
          </a:p>
          <a:p>
            <a:pPr lvl="1" eaLnBrk="1" hangingPunct="1">
              <a:lnSpc>
                <a:spcPct val="130000"/>
              </a:lnSpc>
              <a:buSzPct val="125000"/>
            </a:pPr>
            <a:r>
              <a:rPr kumimoji="1" lang="zh-CN" altLang="en-US" sz="2400" dirty="0">
                <a:latin typeface="微软雅黑" panose="020B0503020204020204" charset="-122"/>
                <a:ea typeface="微软雅黑" panose="020B0503020204020204" charset="-122"/>
                <a:cs typeface="+mn-cs"/>
              </a:rPr>
              <a:t>支持可靠的数据库的</a:t>
            </a:r>
            <a:r>
              <a:rPr kumimoji="1" lang="zh-CN" altLang="en-US" sz="24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安全性</a:t>
            </a:r>
            <a:endParaRPr kumimoji="1" lang="zh-CN" altLang="en-US" sz="2400" dirty="0">
              <a:latin typeface="微软雅黑" panose="020B0503020204020204" charset="-122"/>
              <a:ea typeface="微软雅黑" panose="020B0503020204020204" charset="-122"/>
              <a:cs typeface="+mn-cs"/>
            </a:endParaRPr>
          </a:p>
          <a:p>
            <a:pPr>
              <a:lnSpc>
                <a:spcPct val="130000"/>
              </a:lnSpc>
              <a:spcBef>
                <a:spcPts val="300"/>
              </a:spcBef>
            </a:pPr>
            <a:r>
              <a:rPr lang="zh-CN" altLang="en-US" sz="2400" dirty="0">
                <a:solidFill>
                  <a:srgbClr val="C00000"/>
                </a:solidFill>
                <a:latin typeface="微软雅黑" panose="020B0503020204020204" charset="-122"/>
                <a:ea typeface="微软雅黑" panose="020B0503020204020204" charset="-122"/>
                <a:cs typeface="+mn-cs"/>
              </a:rPr>
              <a:t>增强功能：</a:t>
            </a:r>
            <a:r>
              <a:rPr lang="zh-CN" altLang="en-US" sz="2400" dirty="0">
                <a:latin typeface="微软雅黑" panose="020B0503020204020204" charset="-122"/>
                <a:ea typeface="微软雅黑" panose="020B0503020204020204" charset="-122"/>
                <a:cs typeface="+mn-cs"/>
              </a:rPr>
              <a:t>现代</a:t>
            </a:r>
            <a:r>
              <a:rPr lang="en" altLang="zh-CN" sz="2400" dirty="0">
                <a:latin typeface="微软雅黑" panose="020B0503020204020204" charset="-122"/>
                <a:ea typeface="微软雅黑" panose="020B0503020204020204" charset="-122"/>
                <a:cs typeface="+mn-cs"/>
              </a:rPr>
              <a:t>RDBMS</a:t>
            </a:r>
            <a:r>
              <a:rPr lang="zh-CN" altLang="en-US" sz="2400" dirty="0">
                <a:latin typeface="微软雅黑" panose="020B0503020204020204" charset="-122"/>
                <a:ea typeface="微软雅黑" panose="020B0503020204020204" charset="-122"/>
                <a:cs typeface="+mn-cs"/>
              </a:rPr>
              <a:t>支持</a:t>
            </a:r>
            <a:r>
              <a:rPr lang="en" altLang="zh-CN" sz="2400" dirty="0">
                <a:solidFill>
                  <a:srgbClr val="000099"/>
                </a:solidFill>
                <a:latin typeface="微软雅黑" panose="020B0503020204020204" charset="-122"/>
                <a:ea typeface="微软雅黑" panose="020B0503020204020204" charset="-122"/>
                <a:cs typeface="+mn-cs"/>
              </a:rPr>
              <a:t>JSON</a:t>
            </a:r>
            <a:r>
              <a:rPr lang="zh-CN" altLang="en-US" sz="2400" dirty="0">
                <a:solidFill>
                  <a:srgbClr val="000099"/>
                </a:solidFill>
                <a:latin typeface="微软雅黑" panose="020B0503020204020204" charset="-122"/>
                <a:ea typeface="微软雅黑" panose="020B0503020204020204" charset="-122"/>
                <a:cs typeface="+mn-cs"/>
              </a:rPr>
              <a:t>文档存储</a:t>
            </a:r>
            <a:r>
              <a:rPr lang="zh-CN" altLang="en-US" sz="2400" dirty="0">
                <a:latin typeface="微软雅黑" panose="020B0503020204020204" charset="-122"/>
                <a:ea typeface="微软雅黑" panose="020B0503020204020204" charset="-122"/>
                <a:cs typeface="+mn-cs"/>
              </a:rPr>
              <a:t>（如</a:t>
            </a:r>
            <a:r>
              <a:rPr lang="en" altLang="zh-CN" sz="2400" dirty="0">
                <a:latin typeface="微软雅黑" panose="020B0503020204020204" charset="-122"/>
                <a:ea typeface="微软雅黑" panose="020B0503020204020204" charset="-122"/>
                <a:cs typeface="+mn-cs"/>
              </a:rPr>
              <a:t>PostgreSQL</a:t>
            </a:r>
            <a:r>
              <a:rPr lang="zh-CN" altLang="en-US" sz="2400" dirty="0">
                <a:latin typeface="微软雅黑" panose="020B0503020204020204" charset="-122"/>
                <a:ea typeface="微软雅黑" panose="020B0503020204020204" charset="-122"/>
                <a:cs typeface="+mn-cs"/>
              </a:rPr>
              <a:t>的</a:t>
            </a:r>
            <a:r>
              <a:rPr lang="en" altLang="zh-CN" sz="2400" dirty="0">
                <a:latin typeface="微软雅黑" panose="020B0503020204020204" charset="-122"/>
                <a:ea typeface="微软雅黑" panose="020B0503020204020204" charset="-122"/>
                <a:cs typeface="+mn-cs"/>
              </a:rPr>
              <a:t>JSONB</a:t>
            </a:r>
            <a:r>
              <a:rPr lang="zh-CN" altLang="en" sz="2400" dirty="0">
                <a:latin typeface="微软雅黑" panose="020B0503020204020204" charset="-122"/>
                <a:ea typeface="微软雅黑" panose="020B0503020204020204" charset="-122"/>
                <a:cs typeface="+mn-cs"/>
              </a:rPr>
              <a:t>）、</a:t>
            </a:r>
            <a:r>
              <a:rPr lang="zh-CN" altLang="en-US" sz="2400" dirty="0">
                <a:solidFill>
                  <a:srgbClr val="000099"/>
                </a:solidFill>
                <a:latin typeface="微软雅黑" panose="020B0503020204020204" charset="-122"/>
                <a:ea typeface="微软雅黑" panose="020B0503020204020204" charset="-122"/>
                <a:cs typeface="+mn-cs"/>
              </a:rPr>
              <a:t>时序数据处理</a:t>
            </a:r>
            <a:r>
              <a:rPr lang="zh-CN" altLang="en-US" sz="2400" dirty="0">
                <a:latin typeface="微软雅黑" panose="020B0503020204020204" charset="-122"/>
                <a:ea typeface="微软雅黑" panose="020B0503020204020204" charset="-122"/>
                <a:cs typeface="+mn-cs"/>
              </a:rPr>
              <a:t>（如</a:t>
            </a:r>
            <a:r>
              <a:rPr lang="en" altLang="zh-CN" sz="2400" dirty="0" err="1">
                <a:latin typeface="微软雅黑" panose="020B0503020204020204" charset="-122"/>
                <a:ea typeface="微软雅黑" panose="020B0503020204020204" charset="-122"/>
                <a:cs typeface="+mn-cs"/>
              </a:rPr>
              <a:t>TimescaleDB</a:t>
            </a:r>
            <a:r>
              <a:rPr lang="zh-CN" altLang="en-US" sz="2400" dirty="0">
                <a:latin typeface="微软雅黑" panose="020B0503020204020204" charset="-122"/>
                <a:ea typeface="微软雅黑" panose="020B0503020204020204" charset="-122"/>
                <a:cs typeface="+mn-cs"/>
              </a:rPr>
              <a:t>扩展）和</a:t>
            </a:r>
            <a:r>
              <a:rPr lang="zh-CN" altLang="en-US" sz="2400" dirty="0">
                <a:solidFill>
                  <a:srgbClr val="000099"/>
                </a:solidFill>
                <a:latin typeface="微软雅黑" panose="020B0503020204020204" charset="-122"/>
                <a:ea typeface="微软雅黑" panose="020B0503020204020204" charset="-122"/>
                <a:cs typeface="+mn-cs"/>
              </a:rPr>
              <a:t>空间数据</a:t>
            </a:r>
            <a:r>
              <a:rPr lang="zh-CN" altLang="en-US" sz="2400" dirty="0">
                <a:latin typeface="微软雅黑" panose="020B0503020204020204" charset="-122"/>
                <a:ea typeface="微软雅黑" panose="020B0503020204020204" charset="-122"/>
                <a:cs typeface="+mn-cs"/>
              </a:rPr>
              <a:t>（</a:t>
            </a:r>
            <a:r>
              <a:rPr lang="en" altLang="zh-CN" sz="2400" dirty="0" err="1">
                <a:latin typeface="微软雅黑" panose="020B0503020204020204" charset="-122"/>
                <a:ea typeface="微软雅黑" panose="020B0503020204020204" charset="-122"/>
                <a:cs typeface="+mn-cs"/>
              </a:rPr>
              <a:t>PostGIS</a:t>
            </a:r>
            <a:r>
              <a:rPr lang="zh-CN" altLang="en" sz="2400" dirty="0">
                <a:latin typeface="微软雅黑" panose="020B0503020204020204" charset="-122"/>
                <a:ea typeface="微软雅黑" panose="020B0503020204020204" charset="-122"/>
                <a:cs typeface="+mn-cs"/>
              </a:rPr>
              <a:t>），</a:t>
            </a:r>
            <a:r>
              <a:rPr lang="zh-CN" altLang="en-US" sz="2400" dirty="0">
                <a:latin typeface="微软雅黑" panose="020B0503020204020204" charset="-122"/>
                <a:ea typeface="微软雅黑" panose="020B0503020204020204" charset="-122"/>
                <a:cs typeface="+mn-cs"/>
              </a:rPr>
              <a:t>扩展了适用场景。</a:t>
            </a:r>
          </a:p>
          <a:p>
            <a:pPr algn="l">
              <a:lnSpc>
                <a:spcPct val="130000"/>
              </a:lnSpc>
              <a:spcBef>
                <a:spcPts val="300"/>
              </a:spcBef>
              <a:buFont typeface="Arial" panose="020B0604020202020204" pitchFamily="34" charset="0"/>
              <a:buChar char="•"/>
            </a:pPr>
            <a:r>
              <a:rPr lang="zh-CN" altLang="en-US" sz="2400" dirty="0">
                <a:solidFill>
                  <a:srgbClr val="C00000"/>
                </a:solidFill>
                <a:latin typeface="微软雅黑" panose="020B0503020204020204" charset="-122"/>
                <a:ea typeface="微软雅黑" panose="020B0503020204020204" charset="-122"/>
                <a:cs typeface="+mn-cs"/>
              </a:rPr>
              <a:t>云化改造：</a:t>
            </a:r>
            <a:r>
              <a:rPr lang="zh-CN" altLang="en-US" sz="2400" dirty="0">
                <a:latin typeface="微软雅黑" panose="020B0503020204020204" charset="-122"/>
                <a:ea typeface="微软雅黑" panose="020B0503020204020204" charset="-122"/>
                <a:cs typeface="+mn-cs"/>
              </a:rPr>
              <a:t>传统数据库向</a:t>
            </a:r>
            <a:r>
              <a:rPr lang="zh-CN" altLang="en-US" sz="2400" dirty="0">
                <a:solidFill>
                  <a:srgbClr val="000099"/>
                </a:solidFill>
                <a:latin typeface="微软雅黑" panose="020B0503020204020204" charset="-122"/>
                <a:ea typeface="微软雅黑" panose="020B0503020204020204" charset="-122"/>
                <a:cs typeface="+mn-cs"/>
              </a:rPr>
              <a:t>云托管服务转型</a:t>
            </a:r>
            <a:r>
              <a:rPr lang="zh-CN" altLang="en-US" sz="2400" dirty="0">
                <a:latin typeface="微软雅黑" panose="020B0503020204020204" charset="-122"/>
                <a:ea typeface="微软雅黑" panose="020B0503020204020204" charset="-122"/>
                <a:cs typeface="+mn-cs"/>
              </a:rPr>
              <a:t>（如</a:t>
            </a:r>
            <a:r>
              <a:rPr lang="en" altLang="zh-CN" sz="2400" dirty="0">
                <a:latin typeface="微软雅黑" panose="020B0503020204020204" charset="-122"/>
                <a:ea typeface="微软雅黑" panose="020B0503020204020204" charset="-122"/>
                <a:cs typeface="+mn-cs"/>
              </a:rPr>
              <a:t>Amazon RDS</a:t>
            </a:r>
            <a:r>
              <a:rPr lang="zh-CN" altLang="en" sz="2400" dirty="0">
                <a:latin typeface="微软雅黑" panose="020B0503020204020204" charset="-122"/>
                <a:ea typeface="微软雅黑" panose="020B0503020204020204" charset="-122"/>
                <a:cs typeface="+mn-cs"/>
              </a:rPr>
              <a:t>、</a:t>
            </a:r>
            <a:r>
              <a:rPr lang="en" altLang="zh-CN" sz="2400" dirty="0">
                <a:latin typeface="微软雅黑" panose="020B0503020204020204" charset="-122"/>
                <a:ea typeface="微软雅黑" panose="020B0503020204020204" charset="-122"/>
                <a:cs typeface="+mn-cs"/>
              </a:rPr>
              <a:t>Azure SQL</a:t>
            </a:r>
            <a:r>
              <a:rPr lang="zh-CN" altLang="en" sz="2400" dirty="0">
                <a:latin typeface="微软雅黑" panose="020B0503020204020204" charset="-122"/>
                <a:ea typeface="微软雅黑" panose="020B0503020204020204" charset="-122"/>
                <a:cs typeface="+mn-cs"/>
              </a:rPr>
              <a:t>），</a:t>
            </a:r>
            <a:r>
              <a:rPr lang="zh-CN" altLang="en-US" sz="2400" dirty="0">
                <a:latin typeface="微软雅黑" panose="020B0503020204020204" charset="-122"/>
                <a:ea typeface="微软雅黑" panose="020B0503020204020204" charset="-122"/>
                <a:cs typeface="+mn-cs"/>
              </a:rPr>
              <a:t>提供自动化备份、弹性扩缩容等特性。</a:t>
            </a:r>
          </a:p>
          <a:p>
            <a:pPr eaLnBrk="1" hangingPunct="1">
              <a:lnSpc>
                <a:spcPct val="130000"/>
              </a:lnSpc>
              <a:buSzPct val="125000"/>
            </a:pPr>
            <a:endParaRPr kumimoji="1" lang="en-US" altLang="zh-CN" sz="2400" dirty="0">
              <a:latin typeface="微软雅黑" panose="020B0503020204020204" charset="-122"/>
              <a:ea typeface="微软雅黑" panose="020B0503020204020204" charset="-122"/>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数据库产业图谱</a:t>
            </a:r>
          </a:p>
        </p:txBody>
      </p:sp>
      <p:grpSp>
        <p:nvGrpSpPr>
          <p:cNvPr id="3" name="组合 2"/>
          <p:cNvGrpSpPr/>
          <p:nvPr/>
        </p:nvGrpSpPr>
        <p:grpSpPr>
          <a:xfrm>
            <a:off x="278130" y="1119505"/>
            <a:ext cx="8567420" cy="5389245"/>
            <a:chOff x="438" y="1740"/>
            <a:chExt cx="13492" cy="8510"/>
          </a:xfrm>
        </p:grpSpPr>
        <p:pic>
          <p:nvPicPr>
            <p:cNvPr id="100" name="图片 99"/>
            <p:cNvPicPr/>
            <p:nvPr/>
          </p:nvPicPr>
          <p:blipFill>
            <a:blip r:embed="rId2"/>
            <a:srcRect l="4245" t="-254" r="5974" b="5400"/>
            <a:stretch>
              <a:fillRect/>
            </a:stretch>
          </p:blipFill>
          <p:spPr>
            <a:xfrm>
              <a:off x="438" y="1858"/>
              <a:ext cx="13492" cy="8393"/>
            </a:xfrm>
            <a:prstGeom prst="rect">
              <a:avLst/>
            </a:prstGeom>
            <a:noFill/>
            <a:ln w="9525">
              <a:noFill/>
            </a:ln>
          </p:spPr>
        </p:pic>
        <p:sp>
          <p:nvSpPr>
            <p:cNvPr id="2" name="矩形 1"/>
            <p:cNvSpPr/>
            <p:nvPr/>
          </p:nvSpPr>
          <p:spPr>
            <a:xfrm>
              <a:off x="5893" y="1740"/>
              <a:ext cx="2941" cy="636"/>
            </a:xfrm>
            <a:prstGeom prst="rect">
              <a:avLst/>
            </a:prstGeom>
            <a:solidFill>
              <a:schemeClr val="accent1"/>
            </a:solidFill>
            <a:ln w="9525" cap="flat" cmpd="sng" algn="ctr">
              <a:no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600" b="0" i="0" u="none" strike="noStrike" cap="none" normalizeH="0" baseline="0">
                <a:ln>
                  <a:noFill/>
                </a:ln>
                <a:solidFill>
                  <a:schemeClr val="tx1"/>
                </a:solidFill>
                <a:effectLst/>
                <a:latin typeface="Helvetica" panose="020B0604020202030204" pitchFamily="34" charset="0"/>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4000" dirty="0">
                <a:solidFill>
                  <a:schemeClr val="tx2"/>
                </a:solidFill>
                <a:latin typeface="黑体" panose="02010609060101010101" pitchFamily="49" charset="-122"/>
                <a:ea typeface="黑体" panose="02010609060101010101" pitchFamily="49" charset="-122"/>
              </a:rPr>
              <a:t>全球数据库引擎</a:t>
            </a:r>
          </a:p>
        </p:txBody>
      </p:sp>
      <p:sp>
        <p:nvSpPr>
          <p:cNvPr id="2" name="矩形 1"/>
          <p:cNvSpPr/>
          <p:nvPr/>
        </p:nvSpPr>
        <p:spPr>
          <a:xfrm>
            <a:off x="-635" y="4422775"/>
            <a:ext cx="9144635" cy="2061210"/>
          </a:xfrm>
          <a:prstGeom prst="rect">
            <a:avLst/>
          </a:prstGeom>
          <a:noFill/>
          <a:ln w="9525">
            <a:noFill/>
          </a:ln>
        </p:spPr>
        <p:txBody>
          <a:bodyPr vert="horz" wrap="square" lIns="91440" tIns="45720" rIns="91440" bIns="45720" rtlCol="0" anchor="t">
            <a:noAutofit/>
          </a:bodyPr>
          <a:lstStyle/>
          <a:p>
            <a:pPr marL="342900" lvl="0" indent="-342900" algn="l" eaLnBrk="0" hangingPunct="0">
              <a:spcBef>
                <a:spcPct val="35000"/>
              </a:spcBef>
              <a:buClr>
                <a:schemeClr val="tx2"/>
              </a:buClr>
              <a:buSzPct val="90000"/>
              <a:buFont typeface="Monotype Sorts" charset="0"/>
              <a:buChar char="n"/>
            </a:pPr>
            <a:endParaRPr kumimoji="1" lang="zh-CN" altLang="en-US" sz="800" b="1" kern="0" dirty="0">
              <a:latin typeface="Arial" panose="020B0604020202020204" pitchFamily="34" charset="0"/>
              <a:ea typeface="宋体" panose="02010600030101010101" pitchFamily="2" charset="-122"/>
              <a:cs typeface="Arial" panose="020B0604020202020204" pitchFamily="34" charset="0"/>
              <a:sym typeface="+mn-ea"/>
            </a:endParaRPr>
          </a:p>
        </p:txBody>
      </p:sp>
      <p:sp>
        <p:nvSpPr>
          <p:cNvPr id="5" name="文本框 4"/>
          <p:cNvSpPr txBox="1"/>
          <p:nvPr/>
        </p:nvSpPr>
        <p:spPr>
          <a:xfrm>
            <a:off x="172084" y="4503420"/>
            <a:ext cx="5809615" cy="2009775"/>
          </a:xfrm>
          <a:prstGeom prst="rect">
            <a:avLst/>
          </a:prstGeom>
          <a:noFill/>
        </p:spPr>
        <p:txBody>
          <a:bodyPr wrap="square" rtlCol="0">
            <a:spAutoFit/>
          </a:bodyPr>
          <a:lstStyle/>
          <a:p>
            <a:pPr marL="342900" indent="-342900">
              <a:spcBef>
                <a:spcPct val="35000"/>
              </a:spcBef>
              <a:buClr>
                <a:schemeClr val="tx2"/>
              </a:buClr>
              <a:buSzPct val="90000"/>
              <a:buFont typeface="Monotype Sorts" charset="0"/>
              <a:buChar char="n"/>
            </a:pPr>
            <a:r>
              <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rPr>
              <a:t>排名的数据依据：</a:t>
            </a:r>
          </a:p>
          <a:p>
            <a:pPr marL="800100" lvl="1" indent="-342900">
              <a:spcBef>
                <a:spcPct val="35000"/>
              </a:spcBef>
              <a:buClr>
                <a:schemeClr val="tx2"/>
              </a:buClr>
              <a:buSzPct val="90000"/>
              <a:buFont typeface="Monotype Sorts" charset="0"/>
              <a:buChar char="n"/>
            </a:pPr>
            <a:r>
              <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rPr>
              <a:t>Google 以及 Bing 搜索引擎的关键字搜索数量</a:t>
            </a:r>
          </a:p>
          <a:p>
            <a:pPr marL="800100" lvl="1" indent="-342900">
              <a:spcBef>
                <a:spcPct val="35000"/>
              </a:spcBef>
              <a:buClr>
                <a:schemeClr val="tx2"/>
              </a:buClr>
              <a:buSzPct val="90000"/>
              <a:buFont typeface="Monotype Sorts" charset="0"/>
              <a:buChar char="n"/>
            </a:pPr>
            <a:r>
              <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rPr>
              <a:t>Indeed 网站中的职位搜索量</a:t>
            </a:r>
            <a:endParaRPr kumimoji="1" lang="en-US" altLang="zh-CN" sz="1700" b="1" kern="0" dirty="0">
              <a:latin typeface="Arial" panose="020B0604020202020204" pitchFamily="34" charset="0"/>
              <a:ea typeface="宋体" panose="02010600030101010101" pitchFamily="2" charset="-122"/>
              <a:cs typeface="Arial" panose="020B0604020202020204" pitchFamily="34" charset="0"/>
              <a:sym typeface="+mn-ea"/>
            </a:endParaRPr>
          </a:p>
          <a:p>
            <a:pPr marL="800100" lvl="1" indent="-342900">
              <a:spcBef>
                <a:spcPct val="35000"/>
              </a:spcBef>
              <a:buClr>
                <a:schemeClr val="tx2"/>
              </a:buClr>
              <a:buSzPct val="90000"/>
              <a:buFont typeface="Monotype Sorts" charset="0"/>
              <a:buChar char="n"/>
            </a:pPr>
            <a:r>
              <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rPr>
              <a:t>LinkedIn 中提到关键字的个人资料数</a:t>
            </a:r>
          </a:p>
          <a:p>
            <a:pPr marL="800100" lvl="1" indent="-342900">
              <a:spcBef>
                <a:spcPct val="35000"/>
              </a:spcBef>
              <a:buClr>
                <a:schemeClr val="tx2"/>
              </a:buClr>
              <a:buSzPct val="90000"/>
              <a:buFont typeface="Monotype Sorts" charset="0"/>
              <a:buChar char="n"/>
            </a:pPr>
            <a:r>
              <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rPr>
              <a:t>Stackoverflow 上相关的问题和关注者数量</a:t>
            </a:r>
          </a:p>
          <a:p>
            <a:endParaRPr kumimoji="1" lang="zh-CN" altLang="en-US" dirty="0"/>
          </a:p>
        </p:txBody>
      </p:sp>
      <p:sp>
        <p:nvSpPr>
          <p:cNvPr id="8" name="线形标注 1 (带强调线) 7"/>
          <p:cNvSpPr/>
          <p:nvPr/>
        </p:nvSpPr>
        <p:spPr bwMode="auto">
          <a:xfrm>
            <a:off x="6724016" y="4837369"/>
            <a:ext cx="2247900" cy="1011616"/>
          </a:xfrm>
          <a:prstGeom prst="accentCallout1">
            <a:avLst>
              <a:gd name="adj1" fmla="val 18750"/>
              <a:gd name="adj2" fmla="val -8333"/>
              <a:gd name="adj3" fmla="val -49202"/>
              <a:gd name="adj4" fmla="val -33395"/>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r>
              <a:rPr kumimoji="1" lang="zh-CN" altLang="en-US" b="1" kern="0" dirty="0">
                <a:solidFill>
                  <a:srgbClr val="0000FF"/>
                </a:solidFill>
                <a:latin typeface="Arial" panose="020B0604020202020204" pitchFamily="34" charset="0"/>
                <a:ea typeface="宋体" panose="02010600030101010101" pitchFamily="2" charset="-122"/>
                <a:cs typeface="Arial" panose="020B0604020202020204" pitchFamily="34" charset="0"/>
                <a:sym typeface="+mn-ea"/>
              </a:rPr>
              <a:t>排名情况并非基于产品</a:t>
            </a:r>
            <a:endParaRPr kumimoji="1" lang="en-US" altLang="zh-CN" b="1" kern="0" dirty="0">
              <a:solidFill>
                <a:srgbClr val="0000FF"/>
              </a:solidFill>
              <a:latin typeface="Arial" panose="020B0604020202020204" pitchFamily="34" charset="0"/>
              <a:ea typeface="宋体" panose="02010600030101010101" pitchFamily="2" charset="-122"/>
              <a:cs typeface="Arial" panose="020B0604020202020204" pitchFamily="34" charset="0"/>
              <a:sym typeface="+mn-ea"/>
            </a:endParaRPr>
          </a:p>
          <a:p>
            <a:r>
              <a:rPr kumimoji="1" lang="zh-CN" altLang="en-US" b="1" kern="0" dirty="0">
                <a:solidFill>
                  <a:srgbClr val="0000FF"/>
                </a:solidFill>
                <a:latin typeface="Arial" panose="020B0604020202020204" pitchFamily="34" charset="0"/>
                <a:ea typeface="宋体" panose="02010600030101010101" pitchFamily="2" charset="-122"/>
                <a:cs typeface="Arial" panose="020B0604020202020204" pitchFamily="34" charset="0"/>
                <a:sym typeface="+mn-ea"/>
              </a:rPr>
              <a:t>的技术先进程度或市场</a:t>
            </a:r>
            <a:endParaRPr kumimoji="1" lang="en-US" altLang="zh-CN" b="1" kern="0" dirty="0">
              <a:solidFill>
                <a:srgbClr val="0000FF"/>
              </a:solidFill>
              <a:latin typeface="Arial" panose="020B0604020202020204" pitchFamily="34" charset="0"/>
              <a:ea typeface="宋体" panose="02010600030101010101" pitchFamily="2" charset="-122"/>
              <a:cs typeface="Arial" panose="020B0604020202020204" pitchFamily="34" charset="0"/>
              <a:sym typeface="+mn-ea"/>
            </a:endParaRPr>
          </a:p>
          <a:p>
            <a:r>
              <a:rPr kumimoji="1" lang="zh-CN" altLang="en-US" b="1" kern="0" dirty="0">
                <a:solidFill>
                  <a:srgbClr val="0000FF"/>
                </a:solidFill>
                <a:latin typeface="Arial" panose="020B0604020202020204" pitchFamily="34" charset="0"/>
                <a:ea typeface="宋体" panose="02010600030101010101" pitchFamily="2" charset="-122"/>
                <a:cs typeface="Arial" panose="020B0604020202020204" pitchFamily="34" charset="0"/>
                <a:sym typeface="+mn-ea"/>
              </a:rPr>
              <a:t>占有率等因素</a:t>
            </a:r>
            <a:endParaRPr kumimoji="1" lang="zh-CN" altLang="en-US" dirty="0">
              <a:solidFill>
                <a:srgbClr val="0000FF"/>
              </a:solidFill>
            </a:endParaRPr>
          </a:p>
          <a:p>
            <a:pPr marL="0" marR="0" indent="0" algn="l" defTabSz="914400" rtl="0" eaLnBrk="0" fontAlgn="base" latinLnBrk="0" hangingPunct="0">
              <a:lnSpc>
                <a:spcPct val="100000"/>
              </a:lnSpc>
              <a:spcBef>
                <a:spcPct val="0"/>
              </a:spcBef>
              <a:spcAft>
                <a:spcPct val="0"/>
              </a:spcAft>
              <a:buClrTx/>
              <a:buSzTx/>
              <a:buFontTx/>
              <a:buNone/>
            </a:pPr>
            <a:endParaRPr kumimoji="0" lang="zh-CN" altLang="en-US" sz="1600" b="0" i="0" u="none" strike="noStrike" cap="none" normalizeH="0" baseline="0" dirty="0">
              <a:ln>
                <a:noFill/>
              </a:ln>
              <a:solidFill>
                <a:schemeClr val="tx1"/>
              </a:solidFill>
              <a:effectLst/>
              <a:latin typeface="Helvetica" panose="020B0604020202030204" pitchFamily="34" charset="0"/>
            </a:endParaRPr>
          </a:p>
        </p:txBody>
      </p:sp>
      <p:pic>
        <p:nvPicPr>
          <p:cNvPr id="2050" name="Picture 2">
            <a:extLst>
              <a:ext uri="{FF2B5EF4-FFF2-40B4-BE49-F238E27FC236}">
                <a16:creationId xmlns:a16="http://schemas.microsoft.com/office/drawing/2014/main" id="{0495D04E-9A7B-55B2-94CF-3AE17ECC0E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2279"/>
          <a:stretch/>
        </p:blipFill>
        <p:spPr bwMode="auto">
          <a:xfrm>
            <a:off x="0" y="1009015"/>
            <a:ext cx="9144000" cy="33289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338" name="Rectangle 2"/>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4000" dirty="0">
                <a:solidFill>
                  <a:schemeClr val="tx2"/>
                </a:solidFill>
                <a:latin typeface="黑体" panose="02010609060101010101" pitchFamily="49" charset="-122"/>
                <a:ea typeface="黑体" panose="02010609060101010101" pitchFamily="49" charset="-122"/>
              </a:rPr>
              <a:t>主流商业数据库产品</a:t>
            </a:r>
          </a:p>
        </p:txBody>
      </p:sp>
      <p:sp>
        <p:nvSpPr>
          <p:cNvPr id="14339" name="Rectangle 3"/>
          <p:cNvSpPr>
            <a:spLocks noGrp="1"/>
          </p:cNvSpPr>
          <p:nvPr>
            <p:ph idx="1"/>
          </p:nvPr>
        </p:nvSpPr>
        <p:spPr>
          <a:xfrm>
            <a:off x="179388" y="1412875"/>
            <a:ext cx="8785225" cy="4895850"/>
          </a:xfrm>
        </p:spPr>
        <p:txBody>
          <a:bodyPr vert="horz" wrap="square" lIns="91440" tIns="45720" rIns="91440" bIns="45720" anchor="t"/>
          <a:lstStyle/>
          <a:p>
            <a:pPr eaLnBrk="1" hangingPunct="1">
              <a:lnSpc>
                <a:spcPct val="120000"/>
              </a:lnSpc>
              <a:buSzPct val="125000"/>
            </a:pPr>
            <a:r>
              <a:rPr kumimoji="1" lang="en-US" altLang="zh-CN" sz="19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Oracle</a:t>
            </a:r>
          </a:p>
          <a:p>
            <a:pPr lvl="1" eaLnBrk="1" hangingPunct="1">
              <a:lnSpc>
                <a:spcPct val="120000"/>
              </a:lnSpc>
            </a:pPr>
            <a:r>
              <a:rPr kumimoji="1" lang="en-US" altLang="zh-CN" sz="1800" b="1" dirty="0">
                <a:latin typeface="微软雅黑" panose="020B0503020204020204" charset="-122"/>
                <a:ea typeface="微软雅黑" panose="020B0503020204020204" charset="-122"/>
                <a:cs typeface="楷体_GB2312" panose="02010609030101010101" charset="-122"/>
              </a:rPr>
              <a:t>Oracle</a:t>
            </a:r>
            <a:r>
              <a:rPr kumimoji="1" lang="zh-CN" altLang="en-US" sz="1800" b="1" dirty="0">
                <a:latin typeface="微软雅黑" panose="020B0503020204020204" charset="-122"/>
                <a:ea typeface="微软雅黑" panose="020B0503020204020204" charset="-122"/>
                <a:cs typeface="楷体_GB2312" panose="02010609030101010101" charset="-122"/>
              </a:rPr>
              <a:t>公司位于美国加州，是全球第二大软件企业</a:t>
            </a:r>
            <a:endParaRPr kumimoji="1" lang="en-US" altLang="zh-CN" sz="1800" b="1" dirty="0">
              <a:latin typeface="微软雅黑" panose="020B0503020204020204" charset="-122"/>
              <a:ea typeface="微软雅黑" panose="020B0503020204020204" charset="-122"/>
              <a:cs typeface="楷体_GB2312" panose="02010609030101010101" charset="-122"/>
            </a:endParaRPr>
          </a:p>
          <a:p>
            <a:pPr lvl="1" eaLnBrk="1" hangingPunct="1">
              <a:lnSpc>
                <a:spcPct val="120000"/>
              </a:lnSpc>
            </a:pPr>
            <a:r>
              <a:rPr kumimoji="1" lang="en-US" altLang="zh-CN" sz="1800" b="1" dirty="0">
                <a:latin typeface="微软雅黑" panose="020B0503020204020204" charset="-122"/>
                <a:ea typeface="微软雅黑" panose="020B0503020204020204" charset="-122"/>
                <a:cs typeface="楷体_GB2312" panose="02010609030101010101" charset="-122"/>
              </a:rPr>
              <a:t>RDBMS</a:t>
            </a:r>
            <a:r>
              <a:rPr kumimoji="1" lang="zh-CN" altLang="en-US" sz="1800" b="1" dirty="0">
                <a:latin typeface="微软雅黑" panose="020B0503020204020204" charset="-122"/>
                <a:ea typeface="微软雅黑" panose="020B0503020204020204" charset="-122"/>
                <a:cs typeface="楷体_GB2312" panose="02010609030101010101" charset="-122"/>
              </a:rPr>
              <a:t>市场，</a:t>
            </a:r>
            <a:r>
              <a:rPr kumimoji="1" lang="en-US" altLang="zh-CN" sz="1800" b="1" dirty="0">
                <a:latin typeface="微软雅黑" panose="020B0503020204020204" charset="-122"/>
                <a:ea typeface="微软雅黑" panose="020B0503020204020204" charset="-122"/>
                <a:cs typeface="楷体_GB2312" panose="02010609030101010101" charset="-122"/>
              </a:rPr>
              <a:t>Oracle</a:t>
            </a:r>
            <a:r>
              <a:rPr kumimoji="1" lang="zh-CN" altLang="en-US" sz="1800" b="1" dirty="0">
                <a:latin typeface="微软雅黑" panose="020B0503020204020204" charset="-122"/>
                <a:ea typeface="微软雅黑" panose="020B0503020204020204" charset="-122"/>
                <a:cs typeface="楷体_GB2312" panose="02010609030101010101" charset="-122"/>
              </a:rPr>
              <a:t>的市场份额连续几年排名第一</a:t>
            </a:r>
          </a:p>
          <a:p>
            <a:pPr algn="l" eaLnBrk="1" hangingPunct="1">
              <a:lnSpc>
                <a:spcPct val="120000"/>
              </a:lnSpc>
              <a:buSzPct val="125000"/>
            </a:pPr>
            <a:r>
              <a:rPr kumimoji="1" lang="en-US" altLang="zh-CN" sz="19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IBM DB2 Universal Database</a:t>
            </a:r>
          </a:p>
          <a:p>
            <a:pPr lvl="1" eaLnBrk="1" hangingPunct="1">
              <a:lnSpc>
                <a:spcPct val="120000"/>
              </a:lnSpc>
            </a:pPr>
            <a:r>
              <a:rPr kumimoji="1" lang="en-US" altLang="zh-CN" sz="1800" b="1" dirty="0">
                <a:latin typeface="微软雅黑" panose="020B0503020204020204" charset="-122"/>
                <a:ea typeface="微软雅黑" panose="020B0503020204020204" charset="-122"/>
                <a:cs typeface="楷体_GB2312" panose="02010609030101010101" charset="-122"/>
              </a:rPr>
              <a:t>DB2</a:t>
            </a:r>
            <a:r>
              <a:rPr kumimoji="1" lang="zh-CN" altLang="en-US" sz="1800" b="1" dirty="0">
                <a:latin typeface="微软雅黑" panose="020B0503020204020204" charset="-122"/>
                <a:ea typeface="微软雅黑" panose="020B0503020204020204" charset="-122"/>
                <a:cs typeface="楷体_GB2312" panose="02010609030101010101" charset="-122"/>
              </a:rPr>
              <a:t>起源于</a:t>
            </a:r>
            <a:r>
              <a:rPr kumimoji="1" lang="en-US" altLang="zh-CN" sz="1800" b="1" dirty="0">
                <a:latin typeface="微软雅黑" panose="020B0503020204020204" charset="-122"/>
                <a:ea typeface="微软雅黑" panose="020B0503020204020204" charset="-122"/>
                <a:cs typeface="楷体_GB2312" panose="02010609030101010101" charset="-122"/>
              </a:rPr>
              <a:t>IBM</a:t>
            </a:r>
            <a:r>
              <a:rPr kumimoji="1" lang="zh-CN" altLang="en-US" sz="1800" b="1" dirty="0">
                <a:latin typeface="微软雅黑" panose="020B0503020204020204" charset="-122"/>
                <a:ea typeface="微软雅黑" panose="020B0503020204020204" charset="-122"/>
                <a:cs typeface="楷体_GB2312" panose="02010609030101010101" charset="-122"/>
              </a:rPr>
              <a:t>的</a:t>
            </a:r>
            <a:r>
              <a:rPr kumimoji="1" lang="en-US" altLang="zh-CN" sz="1800" b="1" dirty="0">
                <a:latin typeface="微软雅黑" panose="020B0503020204020204" charset="-122"/>
                <a:ea typeface="微软雅黑" panose="020B0503020204020204" charset="-122"/>
                <a:cs typeface="楷体_GB2312" panose="02010609030101010101" charset="-122"/>
              </a:rPr>
              <a:t>Almaden </a:t>
            </a:r>
            <a:r>
              <a:rPr kumimoji="1" lang="zh-CN" altLang="en-US" sz="1800" b="1" dirty="0">
                <a:latin typeface="微软雅黑" panose="020B0503020204020204" charset="-122"/>
                <a:ea typeface="微软雅黑" panose="020B0503020204020204" charset="-122"/>
                <a:cs typeface="楷体_GB2312" panose="02010609030101010101" charset="-122"/>
              </a:rPr>
              <a:t>实验室的</a:t>
            </a:r>
            <a:r>
              <a:rPr kumimoji="1" lang="en-US" altLang="zh-CN" sz="1800" b="1" dirty="0">
                <a:latin typeface="微软雅黑" panose="020B0503020204020204" charset="-122"/>
                <a:ea typeface="微软雅黑" panose="020B0503020204020204" charset="-122"/>
                <a:cs typeface="楷体_GB2312" panose="02010609030101010101" charset="-122"/>
              </a:rPr>
              <a:t>System R</a:t>
            </a:r>
            <a:r>
              <a:rPr kumimoji="1" lang="zh-CN" altLang="en-US" sz="1800" b="1" dirty="0">
                <a:latin typeface="微软雅黑" panose="020B0503020204020204" charset="-122"/>
                <a:ea typeface="微软雅黑" panose="020B0503020204020204" charset="-122"/>
                <a:cs typeface="楷体_GB2312" panose="02010609030101010101" charset="-122"/>
              </a:rPr>
              <a:t>项目，第一个</a:t>
            </a:r>
            <a:r>
              <a:rPr kumimoji="1" lang="en-US" altLang="zh-CN" sz="1800" b="1" dirty="0">
                <a:latin typeface="微软雅黑" panose="020B0503020204020204" charset="-122"/>
                <a:ea typeface="微软雅黑" panose="020B0503020204020204" charset="-122"/>
                <a:cs typeface="楷体_GB2312" panose="02010609030101010101" charset="-122"/>
              </a:rPr>
              <a:t>DB2</a:t>
            </a:r>
            <a:r>
              <a:rPr kumimoji="1" lang="zh-CN" altLang="en-US" sz="1800" b="1" dirty="0">
                <a:latin typeface="微软雅黑" panose="020B0503020204020204" charset="-122"/>
                <a:ea typeface="微软雅黑" panose="020B0503020204020204" charset="-122"/>
                <a:cs typeface="楷体_GB2312" panose="02010609030101010101" charset="-122"/>
              </a:rPr>
              <a:t>产品于</a:t>
            </a:r>
            <a:r>
              <a:rPr kumimoji="1" lang="en-US" altLang="zh-CN" sz="1800" b="1" dirty="0">
                <a:latin typeface="微软雅黑" panose="020B0503020204020204" charset="-122"/>
                <a:ea typeface="微软雅黑" panose="020B0503020204020204" charset="-122"/>
                <a:cs typeface="楷体_GB2312" panose="02010609030101010101" charset="-122"/>
              </a:rPr>
              <a:t>1984</a:t>
            </a:r>
            <a:r>
              <a:rPr kumimoji="1" lang="zh-CN" altLang="en-US" sz="1800" b="1" dirty="0">
                <a:latin typeface="微软雅黑" panose="020B0503020204020204" charset="-122"/>
                <a:ea typeface="微软雅黑" panose="020B0503020204020204" charset="-122"/>
                <a:cs typeface="楷体_GB2312" panose="02010609030101010101" charset="-122"/>
              </a:rPr>
              <a:t>年推出。</a:t>
            </a:r>
          </a:p>
          <a:p>
            <a:pPr lvl="1" eaLnBrk="1" hangingPunct="1">
              <a:lnSpc>
                <a:spcPct val="120000"/>
              </a:lnSpc>
            </a:pPr>
            <a:r>
              <a:rPr kumimoji="1" lang="en-US" altLang="zh-CN" sz="1800" b="1" dirty="0">
                <a:latin typeface="微软雅黑" panose="020B0503020204020204" charset="-122"/>
                <a:ea typeface="微软雅黑" panose="020B0503020204020204" charset="-122"/>
                <a:cs typeface="楷体_GB2312" panose="02010609030101010101" charset="-122"/>
              </a:rPr>
              <a:t>DB2 </a:t>
            </a:r>
            <a:r>
              <a:rPr kumimoji="1" lang="zh-CN" altLang="en-US" sz="1800" b="1" dirty="0">
                <a:latin typeface="微软雅黑" panose="020B0503020204020204" charset="-122"/>
                <a:ea typeface="微软雅黑" panose="020B0503020204020204" charset="-122"/>
                <a:cs typeface="楷体_GB2312" panose="02010609030101010101" charset="-122"/>
              </a:rPr>
              <a:t>包含专利技术最多</a:t>
            </a:r>
          </a:p>
          <a:p>
            <a:pPr algn="l" eaLnBrk="1" hangingPunct="1">
              <a:lnSpc>
                <a:spcPct val="120000"/>
              </a:lnSpc>
              <a:buSzPct val="125000"/>
            </a:pPr>
            <a:r>
              <a:rPr kumimoji="1" lang="en-US" altLang="zh-CN" sz="19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SQL Server</a:t>
            </a:r>
          </a:p>
          <a:p>
            <a:pPr lvl="1" eaLnBrk="1" hangingPunct="1">
              <a:lnSpc>
                <a:spcPct val="120000"/>
              </a:lnSpc>
            </a:pPr>
            <a:r>
              <a:rPr kumimoji="1" lang="en-US" altLang="zh-CN" sz="1800" b="1" dirty="0">
                <a:latin typeface="微软雅黑" panose="020B0503020204020204" charset="-122"/>
                <a:ea typeface="微软雅黑" panose="020B0503020204020204" charset="-122"/>
                <a:cs typeface="楷体_GB2312" panose="02010609030101010101" charset="-122"/>
              </a:rPr>
              <a:t>SQL Server</a:t>
            </a:r>
            <a:r>
              <a:rPr kumimoji="1" lang="zh-CN" altLang="en-US" sz="1800" b="1" dirty="0">
                <a:latin typeface="微软雅黑" panose="020B0503020204020204" charset="-122"/>
                <a:ea typeface="微软雅黑" panose="020B0503020204020204" charset="-122"/>
                <a:cs typeface="楷体_GB2312" panose="02010609030101010101" charset="-122"/>
              </a:rPr>
              <a:t>最初在</a:t>
            </a:r>
            <a:r>
              <a:rPr kumimoji="1" lang="en-US" altLang="zh-CN" sz="1800" b="1" dirty="0">
                <a:latin typeface="微软雅黑" panose="020B0503020204020204" charset="-122"/>
                <a:ea typeface="微软雅黑" panose="020B0503020204020204" charset="-122"/>
                <a:cs typeface="楷体_GB2312" panose="02010609030101010101" charset="-122"/>
              </a:rPr>
              <a:t>20</a:t>
            </a:r>
            <a:r>
              <a:rPr kumimoji="1" lang="zh-CN" altLang="en-US" sz="1800" b="1" dirty="0">
                <a:latin typeface="微软雅黑" panose="020B0503020204020204" charset="-122"/>
                <a:ea typeface="微软雅黑" panose="020B0503020204020204" charset="-122"/>
                <a:cs typeface="楷体_GB2312" panose="02010609030101010101" charset="-122"/>
              </a:rPr>
              <a:t>世纪</a:t>
            </a:r>
            <a:r>
              <a:rPr kumimoji="1" lang="en-US" altLang="zh-CN" sz="1800" b="1" dirty="0">
                <a:latin typeface="微软雅黑" panose="020B0503020204020204" charset="-122"/>
                <a:ea typeface="微软雅黑" panose="020B0503020204020204" charset="-122"/>
                <a:cs typeface="楷体_GB2312" panose="02010609030101010101" charset="-122"/>
              </a:rPr>
              <a:t>80</a:t>
            </a:r>
            <a:r>
              <a:rPr kumimoji="1" lang="zh-CN" altLang="en-US" sz="1800" b="1" dirty="0">
                <a:latin typeface="微软雅黑" panose="020B0503020204020204" charset="-122"/>
                <a:ea typeface="微软雅黑" panose="020B0503020204020204" charset="-122"/>
                <a:cs typeface="楷体_GB2312" panose="02010609030101010101" charset="-122"/>
              </a:rPr>
              <a:t>年代在</a:t>
            </a:r>
            <a:r>
              <a:rPr kumimoji="1" lang="en-US" altLang="zh-CN" sz="1800" b="1" dirty="0">
                <a:latin typeface="微软雅黑" panose="020B0503020204020204" charset="-122"/>
                <a:ea typeface="微软雅黑" panose="020B0503020204020204" charset="-122"/>
                <a:cs typeface="楷体_GB2312" panose="02010609030101010101" charset="-122"/>
              </a:rPr>
              <a:t>Sybase</a:t>
            </a:r>
            <a:r>
              <a:rPr kumimoji="1" lang="zh-CN" altLang="en-US" sz="1800" b="1" dirty="0">
                <a:latin typeface="微软雅黑" panose="020B0503020204020204" charset="-122"/>
                <a:ea typeface="微软雅黑" panose="020B0503020204020204" charset="-122"/>
                <a:cs typeface="楷体_GB2312" panose="02010609030101010101" charset="-122"/>
              </a:rPr>
              <a:t>的基础上为</a:t>
            </a:r>
            <a:r>
              <a:rPr kumimoji="1" lang="en-US" altLang="zh-CN" sz="1800" b="1" dirty="0">
                <a:latin typeface="微软雅黑" panose="020B0503020204020204" charset="-122"/>
                <a:ea typeface="微软雅黑" panose="020B0503020204020204" charset="-122"/>
                <a:cs typeface="楷体_GB2312" panose="02010609030101010101" charset="-122"/>
              </a:rPr>
              <a:t>Unix</a:t>
            </a:r>
            <a:r>
              <a:rPr kumimoji="1" lang="zh-CN" altLang="en-US" sz="1800" b="1" dirty="0">
                <a:latin typeface="微软雅黑" panose="020B0503020204020204" charset="-122"/>
                <a:ea typeface="微软雅黑" panose="020B0503020204020204" charset="-122"/>
                <a:cs typeface="楷体_GB2312" panose="02010609030101010101" charset="-122"/>
              </a:rPr>
              <a:t>系统开发的，后来微软把它移植到</a:t>
            </a:r>
            <a:r>
              <a:rPr kumimoji="1" lang="en-US" altLang="zh-CN" sz="1800" b="1" dirty="0">
                <a:latin typeface="微软雅黑" panose="020B0503020204020204" charset="-122"/>
                <a:ea typeface="微软雅黑" panose="020B0503020204020204" charset="-122"/>
                <a:cs typeface="楷体_GB2312" panose="02010609030101010101" charset="-122"/>
              </a:rPr>
              <a:t>NT</a:t>
            </a:r>
            <a:r>
              <a:rPr kumimoji="1" lang="zh-CN" altLang="en-US" sz="1800" b="1" dirty="0">
                <a:latin typeface="微软雅黑" panose="020B0503020204020204" charset="-122"/>
                <a:ea typeface="微软雅黑" panose="020B0503020204020204" charset="-122"/>
                <a:cs typeface="楷体_GB2312" panose="02010609030101010101" charset="-122"/>
              </a:rPr>
              <a:t>系统中。</a:t>
            </a:r>
            <a:r>
              <a:rPr kumimoji="1" lang="en-US" altLang="zh-CN" sz="1800" b="1" dirty="0">
                <a:latin typeface="微软雅黑" panose="020B0503020204020204" charset="-122"/>
                <a:ea typeface="微软雅黑" panose="020B0503020204020204" charset="-122"/>
                <a:cs typeface="楷体_GB2312" panose="02010609030101010101" charset="-122"/>
              </a:rPr>
              <a:t>1994</a:t>
            </a:r>
            <a:r>
              <a:rPr kumimoji="1" lang="zh-CN" altLang="en-US" sz="1800" b="1" dirty="0">
                <a:latin typeface="微软雅黑" panose="020B0503020204020204" charset="-122"/>
                <a:ea typeface="微软雅黑" panose="020B0503020204020204" charset="-122"/>
                <a:cs typeface="楷体_GB2312" panose="02010609030101010101" charset="-122"/>
              </a:rPr>
              <a:t>年开始，微软独立开发针对</a:t>
            </a:r>
            <a:r>
              <a:rPr kumimoji="1" lang="en-US" altLang="zh-CN" sz="1800" b="1" dirty="0">
                <a:latin typeface="微软雅黑" panose="020B0503020204020204" charset="-122"/>
                <a:ea typeface="微软雅黑" panose="020B0503020204020204" charset="-122"/>
                <a:cs typeface="楷体_GB2312" panose="02010609030101010101" charset="-122"/>
              </a:rPr>
              <a:t>SQL Server</a:t>
            </a:r>
            <a:r>
              <a:rPr kumimoji="1" lang="zh-CN" altLang="en-US" sz="1800" b="1" dirty="0">
                <a:latin typeface="微软雅黑" panose="020B0503020204020204" charset="-122"/>
                <a:ea typeface="微软雅黑" panose="020B0503020204020204" charset="-122"/>
                <a:cs typeface="楷体_GB2312" panose="02010609030101010101" charset="-122"/>
              </a:rPr>
              <a:t>版本。</a:t>
            </a:r>
          </a:p>
          <a:p>
            <a:pPr lvl="1" eaLnBrk="1" hangingPunct="1">
              <a:lnSpc>
                <a:spcPct val="120000"/>
              </a:lnSpc>
            </a:pPr>
            <a:r>
              <a:rPr kumimoji="1" lang="en-US" altLang="zh-CN" sz="1800" b="1" dirty="0">
                <a:latin typeface="微软雅黑" panose="020B0503020204020204" charset="-122"/>
                <a:ea typeface="微软雅黑" panose="020B0503020204020204" charset="-122"/>
                <a:cs typeface="楷体_GB2312" panose="02010609030101010101" charset="-122"/>
              </a:rPr>
              <a:t>SQL Server</a:t>
            </a:r>
            <a:r>
              <a:rPr kumimoji="1" lang="zh-CN" altLang="en-US" sz="1800" b="1" dirty="0">
                <a:latin typeface="微软雅黑" panose="020B0503020204020204" charset="-122"/>
                <a:ea typeface="微软雅黑" panose="020B0503020204020204" charset="-122"/>
                <a:cs typeface="楷体_GB2312" panose="02010609030101010101" charset="-122"/>
              </a:rPr>
              <a:t>在</a:t>
            </a:r>
            <a:r>
              <a:rPr kumimoji="1" lang="en-US" altLang="zh-CN" sz="1800" b="1" dirty="0">
                <a:latin typeface="微软雅黑" panose="020B0503020204020204" charset="-122"/>
                <a:ea typeface="微软雅黑" panose="020B0503020204020204" charset="-122"/>
                <a:cs typeface="楷体_GB2312" panose="02010609030101010101" charset="-122"/>
              </a:rPr>
              <a:t>window</a:t>
            </a:r>
            <a:r>
              <a:rPr kumimoji="1" lang="zh-CN" altLang="en-US" sz="1800" b="1" dirty="0">
                <a:latin typeface="微软雅黑" panose="020B0503020204020204" charset="-122"/>
                <a:ea typeface="微软雅黑" panose="020B0503020204020204" charset="-122"/>
                <a:cs typeface="楷体_GB2312" panose="02010609030101010101" charset="-122"/>
              </a:rPr>
              <a:t>环境中操作方便、便于和开发工具集成</a:t>
            </a:r>
          </a:p>
          <a:p>
            <a:pPr eaLnBrk="1" hangingPunct="1">
              <a:lnSpc>
                <a:spcPct val="110000"/>
              </a:lnSpc>
              <a:buSzPct val="125000"/>
            </a:pPr>
            <a:endParaRPr kumimoji="1" lang="en-US" altLang="zh-CN" sz="1900" b="1" dirty="0">
              <a:latin typeface="微软雅黑" panose="020B0503020204020204" charset="-122"/>
              <a:ea typeface="微软雅黑" panose="020B0503020204020204" charset="-122"/>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4000" dirty="0">
                <a:solidFill>
                  <a:schemeClr val="tx2"/>
                </a:solidFill>
                <a:latin typeface="Arial" panose="020B0604020202020204" pitchFamily="34" charset="0"/>
                <a:ea typeface="黑体" panose="02010609060101010101" pitchFamily="49" charset="-122"/>
                <a:cs typeface="Arial" panose="020B0604020202020204" pitchFamily="34" charset="0"/>
              </a:rPr>
              <a:t>主流商业数据库</a:t>
            </a:r>
            <a:r>
              <a:rPr lang="en-US" altLang="zh-CN" sz="4000" dirty="0">
                <a:solidFill>
                  <a:schemeClr val="tx2"/>
                </a:solidFill>
                <a:latin typeface="Arial" panose="020B0604020202020204" pitchFamily="34" charset="0"/>
                <a:ea typeface="黑体" panose="02010609060101010101" pitchFamily="49" charset="-122"/>
                <a:cs typeface="Arial" panose="020B0604020202020204" pitchFamily="34" charset="0"/>
              </a:rPr>
              <a:t>Oracle</a:t>
            </a:r>
            <a:endParaRPr lang="zh-CN" altLang="en-US" sz="4000" dirty="0">
              <a:solidFill>
                <a:schemeClr val="tx2"/>
              </a:solidFill>
              <a:latin typeface="Arial" panose="020B0604020202020204" pitchFamily="34" charset="0"/>
              <a:ea typeface="黑体" panose="02010609060101010101" pitchFamily="49" charset="-122"/>
              <a:cs typeface="Arial" panose="020B0604020202020204" pitchFamily="34" charset="0"/>
            </a:endParaRPr>
          </a:p>
        </p:txBody>
      </p:sp>
      <p:pic>
        <p:nvPicPr>
          <p:cNvPr id="15363" name="图片 5"/>
          <p:cNvPicPr>
            <a:picLocks noChangeAspect="1"/>
          </p:cNvPicPr>
          <p:nvPr/>
        </p:nvPicPr>
        <p:blipFill>
          <a:blip r:embed="rId3"/>
          <a:srcRect l="4600" t="2616" r="10572" b="10503"/>
          <a:stretch>
            <a:fillRect/>
          </a:stretch>
        </p:blipFill>
        <p:spPr>
          <a:xfrm>
            <a:off x="1569085" y="960755"/>
            <a:ext cx="6132830" cy="3244850"/>
          </a:xfrm>
          <a:prstGeom prst="rect">
            <a:avLst/>
          </a:prstGeom>
          <a:noFill/>
          <a:ln w="9525">
            <a:noFill/>
          </a:ln>
        </p:spPr>
      </p:pic>
      <p:sp>
        <p:nvSpPr>
          <p:cNvPr id="15364" name="矩形 6"/>
          <p:cNvSpPr/>
          <p:nvPr/>
        </p:nvSpPr>
        <p:spPr>
          <a:xfrm>
            <a:off x="193675" y="4271963"/>
            <a:ext cx="8137525" cy="2122805"/>
          </a:xfrm>
          <a:prstGeom prst="rect">
            <a:avLst/>
          </a:prstGeom>
          <a:noFill/>
          <a:ln w="9525">
            <a:noFill/>
          </a:ln>
        </p:spPr>
        <p:txBody>
          <a:bodyPr>
            <a:spAutoFit/>
          </a:bodyPr>
          <a:lstStyle/>
          <a:p>
            <a:pPr marL="514350" indent="-514350">
              <a:lnSpc>
                <a:spcPct val="110000"/>
              </a:lnSpc>
              <a:buFont typeface="Arial" panose="020B0604020202020204" pitchFamily="34" charset="0"/>
              <a:buChar char="•"/>
            </a:pPr>
            <a:r>
              <a:rPr lang="zh-CN" altLang="en-US" sz="2000" b="1" dirty="0">
                <a:solidFill>
                  <a:srgbClr val="00206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原生的区块链</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支持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Native Blockchain Tables</a:t>
            </a:r>
          </a:p>
          <a:p>
            <a:pPr marL="514350" indent="-514350">
              <a:lnSpc>
                <a:spcPct val="110000"/>
              </a:lnSpc>
              <a:buFont typeface="Arial" panose="020B0604020202020204" pitchFamily="34" charset="0"/>
              <a:buChar char="•"/>
            </a:pPr>
            <a:r>
              <a:rPr lang="zh-CN" altLang="en-US" sz="2000" b="1" dirty="0">
                <a:solidFill>
                  <a:srgbClr val="00206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持久化内存存储</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支持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Persistent Memory Store</a:t>
            </a:r>
          </a:p>
          <a:p>
            <a:pPr marL="514350" indent="-514350">
              <a:lnSpc>
                <a:spcPct val="110000"/>
              </a:lnSpc>
              <a:buFont typeface="Arial" panose="020B0604020202020204" pitchFamily="34" charset="0"/>
              <a:buChar char="•"/>
            </a:pPr>
            <a:r>
              <a:rPr lang="zh-CN" altLang="en-US" sz="2000" b="1" dirty="0">
                <a:solidFill>
                  <a:srgbClr val="00206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原生的 JSON 数据类型</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支持</a:t>
            </a:r>
          </a:p>
          <a:p>
            <a:pPr marL="514350" indent="-514350">
              <a:lnSpc>
                <a:spcPct val="110000"/>
              </a:lnSpc>
              <a:buFont typeface="Arial" panose="020B0604020202020204" pitchFamily="34" charset="0"/>
              <a:buChar char="•"/>
            </a:pPr>
            <a:r>
              <a:rPr lang="zh-CN" altLang="en-US" sz="2000" b="1" dirty="0">
                <a:solidFill>
                  <a:srgbClr val="00206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自动化的In-Memory </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管理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Self-Managing In-Memory</a:t>
            </a:r>
          </a:p>
          <a:p>
            <a:pPr marL="514350" indent="-514350">
              <a:lnSpc>
                <a:spcPct val="110000"/>
              </a:lnSpc>
              <a:buFont typeface="Arial" panose="020B0604020202020204" pitchFamily="34" charset="0"/>
              <a:buChar char="•"/>
            </a:pPr>
            <a:r>
              <a:rPr lang="zh-CN" altLang="en-US" sz="2000" b="1" dirty="0">
                <a:solidFill>
                  <a:srgbClr val="00206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机器学习算法和AutoML</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支持</a:t>
            </a:r>
          </a:p>
          <a:p>
            <a:pPr marL="514350" indent="-514350">
              <a:lnSpc>
                <a:spcPct val="110000"/>
              </a:lnSpc>
              <a:buFont typeface="Arial" panose="020B0604020202020204" pitchFamily="34" charset="0"/>
              <a:buChar char="•"/>
            </a:pPr>
            <a:r>
              <a:rPr lang="zh-CN" altLang="en-US" sz="2000" b="1" dirty="0">
                <a:solidFill>
                  <a:srgbClr val="00206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In-Memory 的 Spatial 和 Text</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支持</a:t>
            </a:r>
          </a:p>
        </p:txBody>
      </p:sp>
      <p:sp>
        <p:nvSpPr>
          <p:cNvPr id="3" name="文本框 2"/>
          <p:cNvSpPr txBox="1"/>
          <p:nvPr/>
        </p:nvSpPr>
        <p:spPr>
          <a:xfrm>
            <a:off x="7446010" y="3208020"/>
            <a:ext cx="1697990" cy="337185"/>
          </a:xfrm>
          <a:prstGeom prst="rect">
            <a:avLst/>
          </a:prstGeom>
          <a:noFill/>
        </p:spPr>
        <p:txBody>
          <a:bodyPr wrap="square" rtlCol="0">
            <a:spAutoFit/>
          </a:bodyPr>
          <a:lstStyle/>
          <a:p>
            <a:r>
              <a:rPr lang="zh-CN" altLang="en-US">
                <a:solidFill>
                  <a:schemeClr val="accent5">
                    <a:lumMod val="85000"/>
                  </a:schemeClr>
                </a:solidFill>
              </a:rPr>
              <a:t>长期支持的版本</a:t>
            </a:r>
          </a:p>
        </p:txBody>
      </p:sp>
      <p:sp>
        <p:nvSpPr>
          <p:cNvPr id="4" name="文本框 3"/>
          <p:cNvSpPr txBox="1"/>
          <p:nvPr/>
        </p:nvSpPr>
        <p:spPr>
          <a:xfrm>
            <a:off x="6633210" y="3545205"/>
            <a:ext cx="2348865" cy="337185"/>
          </a:xfrm>
          <a:prstGeom prst="rect">
            <a:avLst/>
          </a:prstGeom>
          <a:noFill/>
        </p:spPr>
        <p:txBody>
          <a:bodyPr wrap="square" rtlCol="0">
            <a:spAutoFit/>
          </a:bodyPr>
          <a:lstStyle/>
          <a:p>
            <a:r>
              <a:rPr lang="zh-CN" altLang="en-US">
                <a:solidFill>
                  <a:schemeClr val="accent5">
                    <a:lumMod val="85000"/>
                  </a:schemeClr>
                </a:solidFill>
              </a:rPr>
              <a:t>创新版，已生产可用</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6"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4000" dirty="0">
                <a:solidFill>
                  <a:schemeClr val="tx2"/>
                </a:solidFill>
                <a:latin typeface="Arial" panose="020B0604020202020204" pitchFamily="34" charset="0"/>
                <a:ea typeface="黑体" panose="02010609060101010101" pitchFamily="49" charset="-122"/>
                <a:cs typeface="Arial" panose="020B0604020202020204" pitchFamily="34" charset="0"/>
              </a:rPr>
              <a:t>主流商业数据库 </a:t>
            </a:r>
            <a:r>
              <a:rPr lang="en-US" altLang="zh-CN" sz="4000" dirty="0">
                <a:solidFill>
                  <a:schemeClr val="tx2"/>
                </a:solidFill>
                <a:latin typeface="Arial" panose="020B0604020202020204" pitchFamily="34" charset="0"/>
                <a:ea typeface="黑体" panose="02010609060101010101" pitchFamily="49" charset="-122"/>
                <a:cs typeface="Arial" panose="020B0604020202020204" pitchFamily="34" charset="0"/>
              </a:rPr>
              <a:t>SQL Server</a:t>
            </a:r>
            <a:endParaRPr lang="zh-CN" altLang="en-US" sz="4000" dirty="0">
              <a:solidFill>
                <a:schemeClr val="tx2"/>
              </a:solidFill>
              <a:latin typeface="Arial" panose="020B0604020202020204" pitchFamily="34" charset="0"/>
              <a:ea typeface="黑体" panose="02010609060101010101" pitchFamily="49" charset="-122"/>
              <a:cs typeface="Arial" panose="020B0604020202020204" pitchFamily="34" charset="0"/>
            </a:endParaRPr>
          </a:p>
        </p:txBody>
      </p:sp>
      <p:pic>
        <p:nvPicPr>
          <p:cNvPr id="16388" name="图片 3"/>
          <p:cNvPicPr>
            <a:picLocks noChangeAspect="1"/>
          </p:cNvPicPr>
          <p:nvPr/>
        </p:nvPicPr>
        <p:blipFill>
          <a:blip r:embed="rId2"/>
          <a:stretch>
            <a:fillRect/>
          </a:stretch>
        </p:blipFill>
        <p:spPr>
          <a:xfrm>
            <a:off x="179705" y="1271905"/>
            <a:ext cx="8910320" cy="2301875"/>
          </a:xfrm>
          <a:prstGeom prst="rect">
            <a:avLst/>
          </a:prstGeom>
          <a:noFill/>
          <a:ln w="9525">
            <a:noFill/>
          </a:ln>
        </p:spPr>
      </p:pic>
      <p:pic>
        <p:nvPicPr>
          <p:cNvPr id="16389" name="图片 4"/>
          <p:cNvPicPr>
            <a:picLocks noChangeAspect="1"/>
          </p:cNvPicPr>
          <p:nvPr/>
        </p:nvPicPr>
        <p:blipFill>
          <a:blip r:embed="rId3"/>
          <a:stretch>
            <a:fillRect/>
          </a:stretch>
        </p:blipFill>
        <p:spPr>
          <a:xfrm>
            <a:off x="179388" y="4149725"/>
            <a:ext cx="5400675" cy="2165350"/>
          </a:xfrm>
          <a:prstGeom prst="rect">
            <a:avLst/>
          </a:prstGeom>
          <a:noFill/>
          <a:ln w="9525">
            <a:noFill/>
          </a:ln>
        </p:spPr>
      </p:pic>
      <p:pic>
        <p:nvPicPr>
          <p:cNvPr id="16390" name="Picture 12" descr="叫板Oracle,SQL Server2016哪来的信心?"/>
          <p:cNvPicPr>
            <a:picLocks noChangeAspect="1"/>
          </p:cNvPicPr>
          <p:nvPr/>
        </p:nvPicPr>
        <p:blipFill>
          <a:blip r:embed="rId4"/>
          <a:stretch>
            <a:fillRect/>
          </a:stretch>
        </p:blipFill>
        <p:spPr>
          <a:xfrm>
            <a:off x="5795963" y="4149725"/>
            <a:ext cx="3168650" cy="2139950"/>
          </a:xfrm>
          <a:prstGeom prst="rect">
            <a:avLst/>
          </a:prstGeom>
          <a:noFill/>
          <a:ln w="9525">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852345" y="161343"/>
            <a:ext cx="3858201" cy="658813"/>
          </a:xfrm>
          <a:noFill/>
          <a:ln w="9525">
            <a:noFill/>
            <a:miter lim="800000"/>
          </a:ln>
        </p:spPr>
        <p:txBody>
          <a:bodyPr vert="horz" wrap="square" lIns="91440" tIns="45720" rIns="91440" bIns="45720" numCol="1" anchor="b" anchorCtr="0" compatLnSpc="1"/>
          <a:lstStyle/>
          <a:p>
            <a:pPr algn="l"/>
            <a:r>
              <a:rPr lang="zh-CN" altLang="en-US" sz="3600" dirty="0">
                <a:solidFill>
                  <a:schemeClr val="tx2"/>
                </a:solidFill>
                <a:latin typeface="黑体" panose="02010609060101010101" pitchFamily="49" charset="-122"/>
                <a:ea typeface="黑体" panose="02010609060101010101" pitchFamily="49" charset="-122"/>
              </a:rPr>
              <a:t>主流商业数据库</a:t>
            </a:r>
          </a:p>
        </p:txBody>
      </p:sp>
      <p:pic>
        <p:nvPicPr>
          <p:cNvPr id="17412" name="图片 2"/>
          <p:cNvPicPr>
            <a:picLocks noChangeAspect="1"/>
          </p:cNvPicPr>
          <p:nvPr/>
        </p:nvPicPr>
        <p:blipFill>
          <a:blip r:embed="rId2"/>
          <a:stretch>
            <a:fillRect/>
          </a:stretch>
        </p:blipFill>
        <p:spPr>
          <a:xfrm>
            <a:off x="179388" y="1341438"/>
            <a:ext cx="8785225" cy="5367337"/>
          </a:xfrm>
          <a:prstGeom prst="rect">
            <a:avLst/>
          </a:prstGeom>
          <a:noFill/>
          <a:ln w="9525">
            <a:noFill/>
          </a:ln>
        </p:spPr>
      </p:pic>
      <p:pic>
        <p:nvPicPr>
          <p:cNvPr id="17413" name="图片 3"/>
          <p:cNvPicPr>
            <a:picLocks noChangeAspect="1"/>
          </p:cNvPicPr>
          <p:nvPr/>
        </p:nvPicPr>
        <p:blipFill>
          <a:blip r:embed="rId3"/>
          <a:stretch>
            <a:fillRect/>
          </a:stretch>
        </p:blipFill>
        <p:spPr>
          <a:xfrm>
            <a:off x="4641850" y="101600"/>
            <a:ext cx="4322762" cy="1239838"/>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89" name="Rectangle 2"/>
          <p:cNvSpPr>
            <a:spLocks noGrp="1"/>
          </p:cNvSpPr>
          <p:nvPr>
            <p:ph type="title"/>
          </p:nvPr>
        </p:nvSpPr>
        <p:spPr>
          <a:xfrm>
            <a:off x="469900" y="38100"/>
            <a:ext cx="8645525" cy="1052513"/>
          </a:xfrm>
        </p:spPr>
        <p:txBody>
          <a:bodyPr vert="horz" wrap="square" lIns="91440" tIns="45720" rIns="91440" bIns="45720" anchor="b"/>
          <a:lstStyle/>
          <a:p>
            <a:pPr marL="0" marR="0" indent="0" algn="ctr" defTabSz="914400" rtl="0" eaLnBrk="0" fontAlgn="base" latinLnBrk="0" hangingPunct="0">
              <a:lnSpc>
                <a:spcPct val="70000"/>
              </a:lnSpc>
              <a:spcBef>
                <a:spcPct val="0"/>
              </a:spcBef>
              <a:spcAft>
                <a:spcPct val="0"/>
              </a:spcAft>
              <a:buClrTx/>
              <a:buSzTx/>
              <a:buFontTx/>
              <a:buNone/>
            </a:pPr>
            <a:r>
              <a:rPr kumimoji="1" lang="zh-CN" altLang="en-US" sz="32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主流数据库产品 </a:t>
            </a: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Adaptive Server Enterprise (ASE)</a:t>
            </a:r>
            <a:r>
              <a:rPr kumimoji="1" lang="en-US" altLang="zh-CN" sz="36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 - Sybase</a:t>
            </a:r>
          </a:p>
        </p:txBody>
      </p:sp>
      <p:sp>
        <p:nvSpPr>
          <p:cNvPr id="13314" name="Rectangle 3"/>
          <p:cNvSpPr>
            <a:spLocks noGrp="1"/>
          </p:cNvSpPr>
          <p:nvPr>
            <p:ph idx="1"/>
          </p:nvPr>
        </p:nvSpPr>
        <p:spPr>
          <a:xfrm>
            <a:off x="209550" y="1285875"/>
            <a:ext cx="8778875" cy="5189538"/>
          </a:xfrm>
        </p:spPr>
        <p:txBody>
          <a:bodyPr vert="horz" wrap="square" lIns="91440" tIns="45720" rIns="91440" bIns="45720" anchor="t"/>
          <a:lstStyle/>
          <a:p>
            <a:r>
              <a:rPr lang="en-US" altLang="zh-CN" sz="2400" b="1">
                <a:solidFill>
                  <a:srgbClr val="000099"/>
                </a:solidFill>
                <a:latin typeface="Arial" panose="020B0604020202020204" pitchFamily="34" charset="0"/>
                <a:ea typeface="宋体" panose="02010600030101010101" pitchFamily="2" charset="-122"/>
              </a:rPr>
              <a:t>Sybase</a:t>
            </a:r>
            <a:r>
              <a:rPr lang="zh-CN" altLang="en-US" sz="2400" b="1">
                <a:solidFill>
                  <a:srgbClr val="000099"/>
                </a:solidFill>
                <a:latin typeface="Arial" panose="020B0604020202020204" pitchFamily="34" charset="0"/>
                <a:ea typeface="宋体" panose="02010600030101010101" pitchFamily="2" charset="-122"/>
              </a:rPr>
              <a:t>公司</a:t>
            </a:r>
            <a:r>
              <a:rPr lang="zh-CN" altLang="en-US" sz="2400" b="1">
                <a:latin typeface="Arial" panose="020B0604020202020204" pitchFamily="34" charset="0"/>
                <a:ea typeface="宋体" panose="02010600030101010101" pitchFamily="2" charset="-122"/>
              </a:rPr>
              <a:t>是</a:t>
            </a:r>
            <a:r>
              <a:rPr lang="en-US" altLang="zh-CN" sz="2400" b="1">
                <a:latin typeface="Arial" panose="020B0604020202020204" pitchFamily="34" charset="0"/>
                <a:ea typeface="宋体" panose="02010600030101010101" pitchFamily="2" charset="-122"/>
              </a:rPr>
              <a:t>1984</a:t>
            </a:r>
            <a:r>
              <a:rPr lang="zh-CN" altLang="en-US" sz="2400" b="1">
                <a:latin typeface="Arial" panose="020B0604020202020204" pitchFamily="34" charset="0"/>
                <a:ea typeface="宋体" panose="02010600030101010101" pitchFamily="2" charset="-122"/>
              </a:rPr>
              <a:t>年成立的，属于后起之秀。</a:t>
            </a:r>
          </a:p>
          <a:p>
            <a:pPr lvl="1"/>
            <a:r>
              <a:rPr lang="zh-CN" altLang="en-US" sz="2400" b="1">
                <a:latin typeface="Arial" panose="020B0604020202020204" pitchFamily="34" charset="0"/>
                <a:ea typeface="宋体" panose="02010600030101010101" pitchFamily="2" charset="-122"/>
              </a:rPr>
              <a:t>推出支持企业范围的“</a:t>
            </a:r>
            <a:r>
              <a:rPr lang="zh-CN" altLang="en-US" sz="2400" b="1">
                <a:solidFill>
                  <a:srgbClr val="990033"/>
                </a:solidFill>
                <a:latin typeface="Arial" panose="020B0604020202020204" pitchFamily="34" charset="0"/>
                <a:ea typeface="宋体" panose="02010600030101010101" pitchFamily="2" charset="-122"/>
              </a:rPr>
              <a:t>客户</a:t>
            </a:r>
            <a:r>
              <a:rPr lang="en-US" altLang="zh-CN" sz="2400" b="1">
                <a:solidFill>
                  <a:srgbClr val="990033"/>
                </a:solidFill>
                <a:latin typeface="Arial" panose="020B0604020202020204" pitchFamily="34" charset="0"/>
                <a:ea typeface="宋体" panose="02010600030101010101" pitchFamily="2" charset="-122"/>
              </a:rPr>
              <a:t>/</a:t>
            </a:r>
            <a:r>
              <a:rPr lang="zh-CN" altLang="en-US" sz="2400" b="1">
                <a:solidFill>
                  <a:srgbClr val="990033"/>
                </a:solidFill>
                <a:latin typeface="Arial" panose="020B0604020202020204" pitchFamily="34" charset="0"/>
                <a:ea typeface="宋体" panose="02010600030101010101" pitchFamily="2" charset="-122"/>
              </a:rPr>
              <a:t>服务器体系结构</a:t>
            </a:r>
            <a:r>
              <a:rPr lang="zh-CN" altLang="en-US" sz="2400" b="1">
                <a:latin typeface="Arial" panose="020B0604020202020204" pitchFamily="34" charset="0"/>
                <a:ea typeface="宋体" panose="02010600030101010101" pitchFamily="2" charset="-122"/>
              </a:rPr>
              <a:t>”的数据库。</a:t>
            </a:r>
          </a:p>
          <a:p>
            <a:pPr lvl="1"/>
            <a:r>
              <a:rPr lang="en-US" altLang="zh-CN" sz="2400" b="1">
                <a:latin typeface="Arial" panose="020B0604020202020204" pitchFamily="34" charset="0"/>
                <a:ea typeface="宋体" panose="02010600030101010101" pitchFamily="2" charset="-122"/>
              </a:rPr>
              <a:t>1987</a:t>
            </a:r>
            <a:r>
              <a:rPr lang="zh-CN" altLang="en-US" sz="2400" b="1">
                <a:latin typeface="Arial" panose="020B0604020202020204" pitchFamily="34" charset="0"/>
                <a:ea typeface="宋体" panose="02010600030101010101" pitchFamily="2" charset="-122"/>
              </a:rPr>
              <a:t>年推出</a:t>
            </a:r>
            <a:r>
              <a:rPr lang="en-US" altLang="zh-CN" sz="2400" b="1">
                <a:latin typeface="Arial" panose="020B0604020202020204" pitchFamily="34" charset="0"/>
                <a:ea typeface="宋体" panose="02010600030101010101" pitchFamily="2" charset="-122"/>
              </a:rPr>
              <a:t>Sybase SQL Server</a:t>
            </a:r>
            <a:r>
              <a:rPr lang="zh-CN" altLang="en-US" sz="2400" b="1">
                <a:latin typeface="Arial" panose="020B0604020202020204" pitchFamily="34" charset="0"/>
                <a:ea typeface="宋体" panose="02010600030101010101" pitchFamily="2" charset="-122"/>
              </a:rPr>
              <a:t>，称为</a:t>
            </a:r>
            <a:r>
              <a:rPr lang="zh-CN" altLang="en-US" sz="2400" b="1">
                <a:solidFill>
                  <a:srgbClr val="000099"/>
                </a:solidFill>
                <a:latin typeface="Arial" panose="020B0604020202020204" pitchFamily="34" charset="0"/>
                <a:ea typeface="宋体" panose="02010600030101010101" pitchFamily="2" charset="-122"/>
              </a:rPr>
              <a:t>大学版</a:t>
            </a:r>
            <a:r>
              <a:rPr lang="en-US" altLang="zh-CN" sz="2400" b="1">
                <a:solidFill>
                  <a:srgbClr val="000099"/>
                </a:solidFill>
                <a:latin typeface="Arial" panose="020B0604020202020204" pitchFamily="34" charset="0"/>
                <a:ea typeface="宋体" panose="02010600030101010101" pitchFamily="2" charset="-122"/>
              </a:rPr>
              <a:t>INGRES</a:t>
            </a:r>
            <a:r>
              <a:rPr lang="zh-CN" altLang="en-US" sz="2400" b="1">
                <a:latin typeface="Arial" panose="020B0604020202020204" pitchFamily="34" charset="0"/>
                <a:ea typeface="宋体" panose="02010600030101010101" pitchFamily="2" charset="-122"/>
              </a:rPr>
              <a:t>的第三代产品。</a:t>
            </a:r>
          </a:p>
          <a:p>
            <a:r>
              <a:rPr lang="en-US" altLang="zh-CN" sz="2400" b="1">
                <a:solidFill>
                  <a:srgbClr val="006600"/>
                </a:solidFill>
                <a:latin typeface="Arial" panose="020B0604020202020204" pitchFamily="34" charset="0"/>
                <a:ea typeface="宋体" panose="02010600030101010101" pitchFamily="2" charset="-122"/>
              </a:rPr>
              <a:t>Sybase System 11.5</a:t>
            </a:r>
            <a:r>
              <a:rPr lang="zh-CN" altLang="en-US" sz="2400" b="1">
                <a:latin typeface="Arial" panose="020B0604020202020204" pitchFamily="34" charset="0"/>
                <a:ea typeface="宋体" panose="02010600030101010101" pitchFamily="2" charset="-122"/>
              </a:rPr>
              <a:t>是其最新产品</a:t>
            </a:r>
            <a:r>
              <a:rPr lang="en-US" altLang="zh-CN" sz="2400" b="1">
                <a:latin typeface="Arial" panose="020B0604020202020204" pitchFamily="34" charset="0"/>
                <a:ea typeface="宋体" panose="02010600030101010101" pitchFamily="2" charset="-122"/>
              </a:rPr>
              <a:t>, </a:t>
            </a:r>
            <a:r>
              <a:rPr lang="zh-CN" altLang="en-US" sz="2400" b="1">
                <a:latin typeface="Arial" panose="020B0604020202020204" pitchFamily="34" charset="0"/>
                <a:ea typeface="宋体" panose="02010600030101010101" pitchFamily="2" charset="-122"/>
              </a:rPr>
              <a:t>支持企业内部各种数据库应用需求</a:t>
            </a:r>
            <a:r>
              <a:rPr lang="en-US" altLang="zh-CN" sz="2400" b="1">
                <a:latin typeface="Arial" panose="020B0604020202020204" pitchFamily="34" charset="0"/>
                <a:ea typeface="宋体" panose="02010600030101010101" pitchFamily="2" charset="-122"/>
              </a:rPr>
              <a:t>, </a:t>
            </a:r>
            <a:r>
              <a:rPr lang="zh-CN" altLang="en-US" sz="2400" b="1">
                <a:latin typeface="Arial" panose="020B0604020202020204" pitchFamily="34" charset="0"/>
                <a:ea typeface="宋体" panose="02010600030101010101" pitchFamily="2" charset="-122"/>
              </a:rPr>
              <a:t>如数据仓库、联机事务处理、决策支持系统和小平台应用</a:t>
            </a:r>
            <a:r>
              <a:rPr lang="en-US" altLang="zh-CN" sz="2400" b="1">
                <a:latin typeface="Arial" panose="020B0604020202020204" pitchFamily="34" charset="0"/>
                <a:ea typeface="宋体" panose="02010600030101010101" pitchFamily="2" charset="-122"/>
              </a:rPr>
              <a:t>, </a:t>
            </a:r>
            <a:r>
              <a:rPr lang="zh-CN" altLang="en-US" sz="2400" b="1">
                <a:latin typeface="Arial" panose="020B0604020202020204" pitchFamily="34" charset="0"/>
                <a:ea typeface="宋体" panose="02010600030101010101" pitchFamily="2" charset="-122"/>
              </a:rPr>
              <a:t>具有丰富的开发工具等。</a:t>
            </a:r>
          </a:p>
          <a:p>
            <a:r>
              <a:rPr lang="zh-CN" altLang="en-US" sz="2400" b="1">
                <a:latin typeface="Arial" panose="020B0604020202020204" pitchFamily="34" charset="0"/>
                <a:ea typeface="宋体" panose="02010600030101010101" pitchFamily="2" charset="-122"/>
              </a:rPr>
              <a:t>和</a:t>
            </a:r>
            <a:r>
              <a:rPr lang="en-US" altLang="zh-CN" sz="2400" b="1">
                <a:latin typeface="Arial" panose="020B0604020202020204" pitchFamily="34" charset="0"/>
                <a:ea typeface="宋体" panose="02010600030101010101" pitchFamily="2" charset="-122"/>
              </a:rPr>
              <a:t>Oracle,DB2</a:t>
            </a:r>
            <a:r>
              <a:rPr lang="zh-CN" altLang="en-US" sz="2400" b="1">
                <a:latin typeface="Arial" panose="020B0604020202020204" pitchFamily="34" charset="0"/>
                <a:ea typeface="宋体" panose="02010600030101010101" pitchFamily="2" charset="-122"/>
              </a:rPr>
              <a:t>相比，价格低廉</a:t>
            </a:r>
          </a:p>
          <a:p>
            <a:r>
              <a:rPr lang="zh-CN" altLang="en-US" sz="2400" b="1">
                <a:latin typeface="Arial" panose="020B0604020202020204" pitchFamily="34" charset="0"/>
                <a:ea typeface="宋体" panose="02010600030101010101" pitchFamily="2" charset="-122"/>
              </a:rPr>
              <a:t>华尔街一半的交易都使用了</a:t>
            </a:r>
            <a:r>
              <a:rPr lang="en-US" altLang="zh-CN" sz="2400" b="1">
                <a:latin typeface="Arial" panose="020B0604020202020204" pitchFamily="34" charset="0"/>
                <a:ea typeface="宋体" panose="02010600030101010101" pitchFamily="2" charset="-122"/>
              </a:rPr>
              <a:t>Sybase</a:t>
            </a:r>
            <a:r>
              <a:rPr lang="zh-CN" altLang="en-US" sz="2400" b="1">
                <a:latin typeface="Arial" panose="020B0604020202020204" pitchFamily="34" charset="0"/>
                <a:ea typeface="宋体" panose="02010600030101010101" pitchFamily="2" charset="-122"/>
              </a:rPr>
              <a:t>公司的数据库软件 </a:t>
            </a:r>
          </a:p>
          <a:p>
            <a:r>
              <a:rPr lang="zh-CN" altLang="en-US" sz="2400" b="1">
                <a:solidFill>
                  <a:srgbClr val="000099"/>
                </a:solidFill>
                <a:latin typeface="Arial" panose="020B0604020202020204" pitchFamily="34" charset="0"/>
                <a:ea typeface="宋体" panose="02010600030101010101" pitchFamily="2" charset="-122"/>
              </a:rPr>
              <a:t>移动数据管理</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4000" dirty="0">
                <a:solidFill>
                  <a:schemeClr val="tx2"/>
                </a:solidFill>
                <a:latin typeface="黑体" panose="02010609060101010101" pitchFamily="49" charset="-122"/>
                <a:ea typeface="黑体" panose="02010609060101010101" pitchFamily="49" charset="-122"/>
              </a:rPr>
              <a:t>开源数据库产品</a:t>
            </a:r>
          </a:p>
        </p:txBody>
      </p:sp>
      <p:sp>
        <p:nvSpPr>
          <p:cNvPr id="18435" name="Rectangle 3"/>
          <p:cNvSpPr>
            <a:spLocks noGrp="1"/>
          </p:cNvSpPr>
          <p:nvPr>
            <p:ph idx="1"/>
          </p:nvPr>
        </p:nvSpPr>
        <p:spPr>
          <a:xfrm>
            <a:off x="111125" y="1094105"/>
            <a:ext cx="8880475" cy="5253990"/>
          </a:xfrm>
        </p:spPr>
        <p:txBody>
          <a:bodyPr vert="horz" wrap="square" lIns="91440" tIns="45720" rIns="91440" bIns="45720" anchor="t"/>
          <a:lstStyle/>
          <a:p>
            <a:pPr eaLnBrk="1" hangingPunct="1">
              <a:lnSpc>
                <a:spcPct val="120000"/>
              </a:lnSpc>
              <a:buSzPct val="125000"/>
            </a:pPr>
            <a:r>
              <a:rPr kumimoji="1" lang="en-US" altLang="zh-CN" sz="21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MySQL</a:t>
            </a:r>
            <a:r>
              <a:rPr kumimoji="1" lang="zh-CN" altLang="en-US" sz="2100" dirty="0">
                <a:latin typeface="微软雅黑" panose="020B0503020204020204" charset="-122"/>
                <a:ea typeface="微软雅黑" panose="020B0503020204020204" charset="-122"/>
                <a:cs typeface="+mn-cs"/>
              </a:rPr>
              <a:t>数据库： </a:t>
            </a:r>
            <a:r>
              <a:rPr kumimoji="1" lang="en-US" altLang="zh-CN" sz="2100" dirty="0">
                <a:latin typeface="微软雅黑" panose="020B0503020204020204" charset="-122"/>
                <a:ea typeface="微软雅黑" panose="020B0503020204020204" charset="-122"/>
                <a:cs typeface="+mn-cs"/>
              </a:rPr>
              <a:t>Most </a:t>
            </a:r>
            <a:r>
              <a:rPr kumimoji="1" lang="en-US" altLang="zh-CN" sz="2100" dirty="0">
                <a:solidFill>
                  <a:srgbClr val="FF0000"/>
                </a:solidFill>
                <a:latin typeface="微软雅黑" panose="020B0503020204020204" charset="-122"/>
                <a:ea typeface="微软雅黑" panose="020B0503020204020204" charset="-122"/>
                <a:cs typeface="+mn-cs"/>
              </a:rPr>
              <a:t>Popular</a:t>
            </a:r>
            <a:r>
              <a:rPr kumimoji="1" lang="en-US" altLang="zh-CN" sz="2100" dirty="0">
                <a:latin typeface="微软雅黑" panose="020B0503020204020204" charset="-122"/>
                <a:ea typeface="微软雅黑" panose="020B0503020204020204" charset="-122"/>
                <a:cs typeface="+mn-cs"/>
              </a:rPr>
              <a:t> </a:t>
            </a:r>
            <a:endParaRPr kumimoji="1" lang="zh-CN" altLang="en-US" sz="2100" dirty="0">
              <a:latin typeface="微软雅黑" panose="020B0503020204020204" charset="-122"/>
              <a:ea typeface="微软雅黑" panose="020B0503020204020204" charset="-122"/>
              <a:cs typeface="+mn-cs"/>
            </a:endParaRPr>
          </a:p>
          <a:p>
            <a:pPr lvl="1"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开放源码系统  </a:t>
            </a:r>
            <a:r>
              <a:rPr kumimoji="1" lang="en-US" altLang="zh-CN" sz="2000" dirty="0">
                <a:latin typeface="微软雅黑" panose="020B0503020204020204" charset="-122"/>
                <a:ea typeface="微软雅黑" panose="020B0503020204020204" charset="-122"/>
                <a:cs typeface="楷体_GB2312" panose="02010609030101010101" charset="-122"/>
              </a:rPr>
              <a:t>www.mysql.com</a:t>
            </a:r>
          </a:p>
          <a:p>
            <a:pPr lvl="1"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版权协议</a:t>
            </a:r>
            <a:r>
              <a:rPr kumimoji="1" lang="en-US" altLang="zh-CN" sz="2000" dirty="0">
                <a:latin typeface="微软雅黑" panose="020B0503020204020204" charset="-122"/>
                <a:ea typeface="微软雅黑" panose="020B0503020204020204" charset="-122"/>
                <a:cs typeface="楷体_GB2312" panose="02010609030101010101" charset="-122"/>
              </a:rPr>
              <a:t>GPL</a:t>
            </a:r>
          </a:p>
          <a:p>
            <a:pPr lvl="1"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应用广泛，主要应用于网站后台</a:t>
            </a:r>
          </a:p>
          <a:p>
            <a:pPr eaLnBrk="1" hangingPunct="1">
              <a:lnSpc>
                <a:spcPct val="120000"/>
              </a:lnSpc>
              <a:buSzPct val="125000"/>
            </a:pPr>
            <a:r>
              <a:rPr kumimoji="1" lang="en-US" altLang="zh-CN" sz="21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Postgresql</a:t>
            </a:r>
            <a:r>
              <a:rPr kumimoji="1" lang="zh-CN" altLang="en-US" sz="2100" dirty="0">
                <a:latin typeface="微软雅黑" panose="020B0503020204020204" charset="-122"/>
                <a:ea typeface="微软雅黑" panose="020B0503020204020204" charset="-122"/>
                <a:cs typeface="+mn-cs"/>
              </a:rPr>
              <a:t>数据库： </a:t>
            </a:r>
            <a:r>
              <a:rPr kumimoji="1" lang="en-US" altLang="zh-CN" sz="2100" dirty="0">
                <a:latin typeface="微软雅黑" panose="020B0503020204020204" charset="-122"/>
                <a:ea typeface="微软雅黑" panose="020B0503020204020204" charset="-122"/>
                <a:cs typeface="+mn-cs"/>
              </a:rPr>
              <a:t>Most </a:t>
            </a:r>
            <a:r>
              <a:rPr kumimoji="1" lang="en-US" altLang="zh-CN" sz="2100" dirty="0">
                <a:solidFill>
                  <a:srgbClr val="FF0000"/>
                </a:solidFill>
                <a:latin typeface="微软雅黑" panose="020B0503020204020204" charset="-122"/>
                <a:ea typeface="微软雅黑" panose="020B0503020204020204" charset="-122"/>
                <a:cs typeface="+mn-cs"/>
              </a:rPr>
              <a:t>Advanced</a:t>
            </a:r>
            <a:r>
              <a:rPr kumimoji="1" lang="en-US" altLang="zh-CN" sz="2100" dirty="0">
                <a:latin typeface="微软雅黑" panose="020B0503020204020204" charset="-122"/>
                <a:ea typeface="微软雅黑" panose="020B0503020204020204" charset="-122"/>
                <a:cs typeface="+mn-cs"/>
              </a:rPr>
              <a:t> </a:t>
            </a:r>
            <a:endParaRPr kumimoji="1" lang="zh-CN" altLang="en-US" sz="2100" dirty="0">
              <a:latin typeface="微软雅黑" panose="020B0503020204020204" charset="-122"/>
              <a:ea typeface="微软雅黑" panose="020B0503020204020204" charset="-122"/>
              <a:cs typeface="+mn-cs"/>
            </a:endParaRPr>
          </a:p>
          <a:p>
            <a:pPr lvl="1"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起源于</a:t>
            </a:r>
            <a:r>
              <a:rPr kumimoji="1" lang="en-US" altLang="zh-CN" sz="2000" dirty="0">
                <a:latin typeface="微软雅黑" panose="020B0503020204020204" charset="-122"/>
                <a:ea typeface="微软雅黑" panose="020B0503020204020204" charset="-122"/>
                <a:cs typeface="楷体_GB2312" panose="02010609030101010101" charset="-122"/>
              </a:rPr>
              <a:t>California Berkeley</a:t>
            </a:r>
          </a:p>
          <a:p>
            <a:pPr lvl="1"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版权协议是</a:t>
            </a:r>
            <a:r>
              <a:rPr kumimoji="1" lang="en-US" altLang="zh-CN" sz="2000" dirty="0">
                <a:latin typeface="微软雅黑" panose="020B0503020204020204" charset="-122"/>
                <a:ea typeface="微软雅黑" panose="020B0503020204020204" charset="-122"/>
                <a:cs typeface="楷体_GB2312" panose="02010609030101010101" charset="-122"/>
              </a:rPr>
              <a:t>BSD,</a:t>
            </a:r>
            <a:r>
              <a:rPr kumimoji="1" lang="zh-CN" altLang="en-US" sz="2000" dirty="0">
                <a:latin typeface="微软雅黑" panose="020B0503020204020204" charset="-122"/>
                <a:ea typeface="微软雅黑" panose="020B0503020204020204" charset="-122"/>
                <a:cs typeface="楷体_GB2312" panose="02010609030101010101" charset="-122"/>
              </a:rPr>
              <a:t>便于商业开发</a:t>
            </a:r>
          </a:p>
          <a:p>
            <a:pPr lvl="1" eaLnBrk="1" hangingPunct="1">
              <a:lnSpc>
                <a:spcPct val="120000"/>
              </a:lnSpc>
            </a:pPr>
            <a:r>
              <a:rPr kumimoji="1" lang="en-US" altLang="zh-CN" sz="2000" dirty="0">
                <a:latin typeface="微软雅黑" panose="020B0503020204020204" charset="-122"/>
                <a:ea typeface="微软雅黑" panose="020B0503020204020204" charset="-122"/>
                <a:cs typeface="楷体_GB2312" panose="02010609030101010101" charset="-122"/>
              </a:rPr>
              <a:t>PostgreSQL </a:t>
            </a:r>
            <a:r>
              <a:rPr kumimoji="1" lang="zh-CN" altLang="en-US" sz="2000" dirty="0">
                <a:latin typeface="微软雅黑" panose="020B0503020204020204" charset="-122"/>
                <a:ea typeface="微软雅黑" panose="020B0503020204020204" charset="-122"/>
                <a:cs typeface="楷体_GB2312" panose="02010609030101010101" charset="-122"/>
              </a:rPr>
              <a:t>拥有大型商用 </a:t>
            </a:r>
            <a:r>
              <a:rPr kumimoji="1" lang="en-US" altLang="zh-CN" sz="2000" dirty="0">
                <a:latin typeface="微软雅黑" panose="020B0503020204020204" charset="-122"/>
                <a:ea typeface="微软雅黑" panose="020B0503020204020204" charset="-122"/>
                <a:cs typeface="楷体_GB2312" panose="02010609030101010101" charset="-122"/>
              </a:rPr>
              <a:t>DBMS </a:t>
            </a:r>
            <a:r>
              <a:rPr kumimoji="1" lang="zh-CN" altLang="en-US" sz="2000" dirty="0">
                <a:latin typeface="微软雅黑" panose="020B0503020204020204" charset="-122"/>
                <a:ea typeface="微软雅黑" panose="020B0503020204020204" charset="-122"/>
                <a:cs typeface="楷体_GB2312" panose="02010609030101010101" charset="-122"/>
              </a:rPr>
              <a:t>里大多数特性，例如：</a:t>
            </a:r>
          </a:p>
          <a:p>
            <a:pPr lvl="2"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事务、子查询、触发器、视图和复杂的锁定等</a:t>
            </a:r>
          </a:p>
          <a:p>
            <a:pPr lvl="1"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独有的特性：</a:t>
            </a:r>
          </a:p>
          <a:p>
            <a:pPr lvl="2"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用户定义类型、继承、规则和多版本并行控制、减少锁的争用等。</a:t>
            </a:r>
          </a:p>
          <a:p>
            <a:pPr lvl="1" eaLnBrk="1" hangingPunct="1">
              <a:lnSpc>
                <a:spcPct val="120000"/>
              </a:lnSpc>
            </a:pPr>
            <a:endParaRPr kumimoji="1" lang="zh-CN" altLang="en-US" sz="2000" dirty="0">
              <a:latin typeface="微软雅黑" panose="020B0503020204020204" charset="-122"/>
              <a:ea typeface="微软雅黑" panose="020B0503020204020204" charset="-122"/>
              <a:cs typeface="楷体_GB2312" panose="02010609030101010101" charset="-122"/>
            </a:endParaRPr>
          </a:p>
          <a:p>
            <a:pPr eaLnBrk="1" hangingPunct="1">
              <a:lnSpc>
                <a:spcPct val="120000"/>
              </a:lnSpc>
              <a:buSzPct val="125000"/>
            </a:pPr>
            <a:endParaRPr kumimoji="1" lang="en-US" altLang="zh-CN" sz="2100" dirty="0">
              <a:latin typeface="微软雅黑" panose="020B0503020204020204" charset="-122"/>
              <a:ea typeface="微软雅黑" panose="020B0503020204020204" charset="-122"/>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z="3600" dirty="0">
                <a:latin typeface="Arial" panose="020B0604020202020204" pitchFamily="34" charset="0"/>
                <a:ea typeface="黑体" panose="02010609060101010101" pitchFamily="49" charset="-122"/>
                <a:cs typeface="Arial" panose="020B0604020202020204" pitchFamily="34" charset="0"/>
              </a:rPr>
              <a:t>墨天轮国产</a:t>
            </a:r>
            <a:r>
              <a:rPr kumimoji="1" lang="en-US" altLang="zh-CN" sz="3600" dirty="0">
                <a:latin typeface="Arial" panose="020B0604020202020204" pitchFamily="34" charset="0"/>
                <a:ea typeface="黑体" panose="02010609060101010101" pitchFamily="49" charset="-122"/>
                <a:cs typeface="Arial" panose="020B0604020202020204" pitchFamily="34" charset="0"/>
              </a:rPr>
              <a:t>DB</a:t>
            </a:r>
            <a:r>
              <a:rPr kumimoji="1" lang="zh-CN" altLang="en-US" sz="3600" dirty="0">
                <a:latin typeface="Arial" panose="020B0604020202020204" pitchFamily="34" charset="0"/>
                <a:ea typeface="黑体" panose="02010609060101010101" pitchFamily="49" charset="-122"/>
                <a:cs typeface="Arial" panose="020B0604020202020204" pitchFamily="34" charset="0"/>
              </a:rPr>
              <a:t>排名</a:t>
            </a:r>
          </a:p>
        </p:txBody>
      </p:sp>
      <p:pic>
        <p:nvPicPr>
          <p:cNvPr id="101" name="图片 100"/>
          <p:cNvPicPr/>
          <p:nvPr/>
        </p:nvPicPr>
        <p:blipFill>
          <a:blip r:embed="rId3"/>
          <a:stretch>
            <a:fillRect/>
          </a:stretch>
        </p:blipFill>
        <p:spPr>
          <a:xfrm>
            <a:off x="22860" y="1086703"/>
            <a:ext cx="9144000" cy="4303594"/>
          </a:xfrm>
          <a:prstGeom prst="rect">
            <a:avLst/>
          </a:prstGeom>
          <a:noFill/>
          <a:ln w="9525">
            <a:noFill/>
          </a:ln>
        </p:spPr>
      </p:pic>
      <p:sp>
        <p:nvSpPr>
          <p:cNvPr id="3" name="矩形 2"/>
          <p:cNvSpPr/>
          <p:nvPr/>
        </p:nvSpPr>
        <p:spPr>
          <a:xfrm>
            <a:off x="321945" y="1602105"/>
            <a:ext cx="8797290" cy="367665"/>
          </a:xfrm>
          <a:prstGeom prst="rect">
            <a:avLst/>
          </a:prstGeom>
          <a:noFill/>
          <a:ln w="19050" cap="flat" cmpd="sng" algn="ctr">
            <a:solidFill>
              <a:schemeClr val="tx2"/>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600" b="0" i="0" u="none" strike="noStrike" cap="none" normalizeH="0" baseline="0">
              <a:ln>
                <a:noFill/>
              </a:ln>
              <a:solidFill>
                <a:schemeClr val="tx1"/>
              </a:solidFill>
              <a:effectLst/>
              <a:latin typeface="Helvetica" panose="020B060402020203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信创：信息技术应用创新产业</a:t>
            </a:r>
          </a:p>
        </p:txBody>
      </p:sp>
      <p:sp>
        <p:nvSpPr>
          <p:cNvPr id="26627" name="内容占位符 2"/>
          <p:cNvSpPr>
            <a:spLocks noGrp="1"/>
          </p:cNvSpPr>
          <p:nvPr>
            <p:ph idx="1"/>
          </p:nvPr>
        </p:nvSpPr>
        <p:spPr>
          <a:xfrm>
            <a:off x="295275" y="1094105"/>
            <a:ext cx="8550275" cy="4903470"/>
          </a:xfrm>
        </p:spPr>
        <p:txBody>
          <a:bodyPr vert="horz" wrap="square" lIns="91440" tIns="45720" rIns="91440" bIns="45720" anchor="t"/>
          <a:lstStyle/>
          <a:p>
            <a:pPr lvl="0" eaLnBrk="1" hangingPunct="1">
              <a:lnSpc>
                <a:spcPct val="90000"/>
              </a:lnSpc>
              <a:buSzPct val="125000"/>
            </a:pPr>
            <a:r>
              <a:rPr lang="zh-CN" altLang="en-US" sz="2400" dirty="0">
                <a:latin typeface="Arial" panose="020B0604020202020204" pitchFamily="34" charset="0"/>
                <a:ea typeface="宋体" panose="02010600030101010101" pitchFamily="2" charset="-122"/>
                <a:cs typeface="Arial" panose="020B0604020202020204" pitchFamily="34" charset="0"/>
                <a:sym typeface="+mn-ea"/>
              </a:rPr>
              <a:t>2016 年3月4日，24 家专业从事软硬件关键技术研究及应用的国内单位，共同发起成立了一个非营利性社会组织，并将其命名为“</a:t>
            </a:r>
            <a:r>
              <a:rPr lang="zh-CN" altLang="en-US" sz="2400" b="1" dirty="0">
                <a:solidFill>
                  <a:srgbClr val="000099"/>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sym typeface="+mn-ea"/>
              </a:rPr>
              <a:t>信息技术应用创新工作委员会</a:t>
            </a:r>
            <a:r>
              <a:rPr lang="zh-CN" altLang="en-US" sz="2400" dirty="0">
                <a:latin typeface="Arial" panose="020B0604020202020204" pitchFamily="34" charset="0"/>
                <a:ea typeface="宋体" panose="02010600030101010101" pitchFamily="2" charset="-122"/>
                <a:cs typeface="Arial" panose="020B0604020202020204" pitchFamily="34" charset="0"/>
                <a:sym typeface="+mn-ea"/>
              </a:rPr>
              <a:t>”。</a:t>
            </a:r>
            <a:endParaRPr kumimoji="1" lang="zh-CN" altLang="en-US" sz="2400" dirty="0">
              <a:latin typeface="Arial" panose="020B0604020202020204" pitchFamily="34" charset="0"/>
              <a:ea typeface="宋体" panose="02010600030101010101" pitchFamily="2" charset="-122"/>
              <a:cs typeface="Arial" panose="020B0604020202020204" pitchFamily="34" charset="0"/>
            </a:endParaRPr>
          </a:p>
          <a:p>
            <a:pPr lvl="1" eaLnBrk="1" hangingPunct="1">
              <a:lnSpc>
                <a:spcPct val="90000"/>
              </a:lnSpc>
              <a:buSzPct val="125000"/>
            </a:pPr>
            <a:r>
              <a:rPr lang="zh-CN" altLang="en-US" sz="2400" dirty="0">
                <a:latin typeface="Arial" panose="020B0604020202020204" pitchFamily="34" charset="0"/>
                <a:ea typeface="宋体" panose="02010600030101010101" pitchFamily="2" charset="-122"/>
                <a:cs typeface="Arial" panose="020B0604020202020204" pitchFamily="34" charset="0"/>
                <a:sym typeface="+mn-ea"/>
              </a:rPr>
              <a:t>简称“信创工委会”</a:t>
            </a:r>
            <a:endParaRPr kumimoji="1" lang="zh-CN" altLang="en-US" sz="2400" dirty="0">
              <a:latin typeface="Arial" panose="020B0604020202020204" pitchFamily="34" charset="0"/>
              <a:ea typeface="宋体" panose="02010600030101010101" pitchFamily="2" charset="-122"/>
              <a:cs typeface="Arial" panose="020B0604020202020204" pitchFamily="34" charset="0"/>
            </a:endParaRPr>
          </a:p>
          <a:p>
            <a:pPr eaLnBrk="1" hangingPunct="1">
              <a:lnSpc>
                <a:spcPct val="90000"/>
              </a:lnSpc>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实现信息技术领域的自主可控，保障国家信息安全。</a:t>
            </a:r>
          </a:p>
          <a:p>
            <a:pPr lvl="1" eaLnBrk="1" hangingPunct="1">
              <a:lnSpc>
                <a:spcPct val="90000"/>
              </a:lnSpc>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通过行业应用拉动构建国产化信息技术软硬件底层架构体系和全周期生态体系</a:t>
            </a:r>
          </a:p>
          <a:p>
            <a:pPr lvl="1" eaLnBrk="1" hangingPunct="1">
              <a:lnSpc>
                <a:spcPct val="90000"/>
              </a:lnSpc>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解决核心技术关键环节</a:t>
            </a:r>
            <a:r>
              <a:rPr lang="zh-CN" altLang="en-US" sz="2400" b="1" dirty="0">
                <a:solidFill>
                  <a:srgbClr val="000099"/>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“卡脖子”</a:t>
            </a:r>
            <a:r>
              <a:rPr kumimoji="1" lang="zh-CN" altLang="en-US" sz="2400" dirty="0">
                <a:latin typeface="Arial" panose="020B0604020202020204" pitchFamily="34" charset="0"/>
                <a:ea typeface="宋体" panose="02010600030101010101" pitchFamily="2" charset="-122"/>
                <a:cs typeface="Arial" panose="020B0604020202020204" pitchFamily="34" charset="0"/>
              </a:rPr>
              <a:t>问题。</a:t>
            </a:r>
          </a:p>
          <a:p>
            <a:pPr lvl="0" eaLnBrk="1" hangingPunct="1">
              <a:lnSpc>
                <a:spcPct val="90000"/>
              </a:lnSpc>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信创产业是数字经济、信息安全发展的基础，也是“新基建”的重要内容</a:t>
            </a:r>
          </a:p>
          <a:p>
            <a:pPr>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信创产业分为硬件、软件、实际应用和信息安全四大板块</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信创：信息技术应用创新产业</a:t>
            </a:r>
          </a:p>
        </p:txBody>
      </p:sp>
      <p:sp>
        <p:nvSpPr>
          <p:cNvPr id="26627" name="内容占位符 2"/>
          <p:cNvSpPr>
            <a:spLocks noGrp="1"/>
          </p:cNvSpPr>
          <p:nvPr>
            <p:ph idx="1"/>
          </p:nvPr>
        </p:nvSpPr>
        <p:spPr>
          <a:xfrm>
            <a:off x="295275" y="1094105"/>
            <a:ext cx="8550275" cy="5558790"/>
          </a:xfrm>
        </p:spPr>
        <p:txBody>
          <a:bodyPr vert="horz" wrap="square" lIns="91440" tIns="45720" rIns="91440" bIns="45720" anchor="t"/>
          <a:lstStyle/>
          <a:p>
            <a:pPr>
              <a:buSzPct val="125000"/>
            </a:pPr>
            <a:r>
              <a:rPr kumimoji="1" lang="zh-CN" altLang="en-US" sz="2800" dirty="0">
                <a:latin typeface="Arial" panose="020B0604020202020204" pitchFamily="34" charset="0"/>
                <a:ea typeface="宋体" panose="02010600030101010101" pitchFamily="2" charset="-122"/>
                <a:cs typeface="Arial" panose="020B0604020202020204" pitchFamily="34" charset="0"/>
              </a:rPr>
              <a:t>信创产业分为硬件、软件、实际应用和信息安全四大板块</a:t>
            </a:r>
          </a:p>
          <a:p>
            <a:pPr lvl="1">
              <a:buSzPct val="125000"/>
            </a:pPr>
            <a:r>
              <a:rPr kumimoji="1" lang="zh-CN" altLang="en-US"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基础硬件</a:t>
            </a:r>
            <a:r>
              <a:rPr kumimoji="1" lang="zh-CN" altLang="en-US" sz="2800" dirty="0">
                <a:latin typeface="Arial" panose="020B0604020202020204" pitchFamily="34" charset="0"/>
                <a:ea typeface="宋体" panose="02010600030101010101" pitchFamily="2" charset="-122"/>
                <a:cs typeface="Arial" panose="020B0604020202020204" pitchFamily="34" charset="0"/>
              </a:rPr>
              <a:t>：</a:t>
            </a:r>
          </a:p>
          <a:p>
            <a:pPr lvl="2">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芯片、整机、存储设备、</a:t>
            </a:r>
            <a:r>
              <a:rPr kumimoji="1" lang="en-US" altLang="zh-CN" sz="2400" dirty="0">
                <a:latin typeface="Arial" panose="020B0604020202020204" pitchFamily="34" charset="0"/>
                <a:ea typeface="宋体" panose="02010600030101010101" pitchFamily="2" charset="-122"/>
                <a:cs typeface="Arial" panose="020B0604020202020204" pitchFamily="34" charset="0"/>
              </a:rPr>
              <a:t>I/O</a:t>
            </a:r>
            <a:r>
              <a:rPr kumimoji="1" lang="zh-CN" altLang="en-US" sz="2400" dirty="0">
                <a:latin typeface="Arial" panose="020B0604020202020204" pitchFamily="34" charset="0"/>
                <a:ea typeface="宋体" panose="02010600030101010101" pitchFamily="2" charset="-122"/>
                <a:cs typeface="Arial" panose="020B0604020202020204" pitchFamily="34" charset="0"/>
              </a:rPr>
              <a:t>固件</a:t>
            </a:r>
          </a:p>
          <a:p>
            <a:pPr lvl="1" algn="l">
              <a:buSzPct val="125000"/>
            </a:pPr>
            <a:r>
              <a:rPr kumimoji="1" lang="zh-CN" altLang="en-US"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基础软件：</a:t>
            </a:r>
          </a:p>
          <a:p>
            <a:pPr lvl="2">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操作系统、数据库、中间件、虚拟化软件</a:t>
            </a:r>
          </a:p>
          <a:p>
            <a:pPr lvl="1" algn="l">
              <a:buSzPct val="125000"/>
            </a:pPr>
            <a:r>
              <a:rPr kumimoji="1" lang="zh-CN" altLang="en-US"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应用软件：</a:t>
            </a:r>
          </a:p>
          <a:p>
            <a:pPr lvl="2">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办公软件、业务软件</a:t>
            </a:r>
          </a:p>
          <a:p>
            <a:pPr lvl="1" algn="l">
              <a:buSzPct val="125000"/>
            </a:pPr>
            <a:r>
              <a:rPr kumimoji="1" lang="zh-CN" altLang="en-US"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云计算：</a:t>
            </a:r>
          </a:p>
          <a:p>
            <a:pPr lvl="2">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云基础设施、云服务</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626"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数据库系统市场的变化</a:t>
            </a:r>
          </a:p>
        </p:txBody>
      </p:sp>
      <p:sp>
        <p:nvSpPr>
          <p:cNvPr id="26627" name="内容占位符 2"/>
          <p:cNvSpPr>
            <a:spLocks noGrp="1"/>
          </p:cNvSpPr>
          <p:nvPr>
            <p:ph idx="1"/>
          </p:nvPr>
        </p:nvSpPr>
        <p:spPr>
          <a:xfrm>
            <a:off x="295275" y="1094105"/>
            <a:ext cx="8550275" cy="4903470"/>
          </a:xfrm>
        </p:spPr>
        <p:txBody>
          <a:bodyPr vert="horz" wrap="square" lIns="91440" tIns="45720" rIns="91440" bIns="45720" anchor="t"/>
          <a:lstStyle/>
          <a:p>
            <a:pPr>
              <a:lnSpc>
                <a:spcPct val="90000"/>
              </a:lnSpc>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由于应用环境变化、政策变化等，国内数据库厂商近几年发展迅速</a:t>
            </a:r>
            <a:endParaRPr kumimoji="1" lang="en-US" altLang="zh-CN" sz="2400" dirty="0">
              <a:latin typeface="Arial" panose="020B0604020202020204" pitchFamily="34" charset="0"/>
              <a:ea typeface="宋体" panose="02010600030101010101" pitchFamily="2" charset="-122"/>
              <a:cs typeface="Arial" panose="020B0604020202020204" pitchFamily="34" charset="0"/>
            </a:endParaRPr>
          </a:p>
          <a:p>
            <a:pPr eaLnBrk="1" hangingPunct="1">
              <a:lnSpc>
                <a:spcPct val="90000"/>
              </a:lnSpc>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传统的数据库公司</a:t>
            </a:r>
            <a:endParaRPr kumimoji="1" lang="en-US" altLang="zh-CN" sz="2400" dirty="0">
              <a:latin typeface="Arial" panose="020B0604020202020204" pitchFamily="34" charset="0"/>
              <a:ea typeface="宋体" panose="02010600030101010101" pitchFamily="2" charset="-122"/>
              <a:cs typeface="Arial" panose="020B0604020202020204" pitchFamily="34" charset="0"/>
            </a:endParaRPr>
          </a:p>
          <a:p>
            <a:pPr lvl="1" eaLnBrk="1" hangingPunct="1">
              <a:lnSpc>
                <a:spcPct val="90000"/>
              </a:lnSpc>
            </a:pPr>
            <a:r>
              <a:rPr kumimoji="1" lang="zh-CN" altLang="en-US" sz="2400" dirty="0">
                <a:solidFill>
                  <a:schemeClr val="tx2"/>
                </a:solidFill>
                <a:latin typeface="Arial" panose="020B0604020202020204" pitchFamily="34" charset="0"/>
                <a:ea typeface="宋体" panose="02010600030101010101" pitchFamily="2" charset="-122"/>
                <a:cs typeface="Arial" panose="020B0604020202020204" pitchFamily="34" charset="0"/>
              </a:rPr>
              <a:t>人民大学</a:t>
            </a:r>
            <a:r>
              <a:rPr kumimoji="1" lang="zh-CN" altLang="en-US" sz="2400" dirty="0">
                <a:latin typeface="Arial" panose="020B0604020202020204" pitchFamily="34" charset="0"/>
                <a:ea typeface="宋体" panose="02010600030101010101" pitchFamily="2" charset="-122"/>
                <a:cs typeface="Arial" panose="020B0604020202020204" pitchFamily="34" charset="0"/>
              </a:rPr>
              <a:t>、华中科技大学、南京大学</a:t>
            </a:r>
            <a:r>
              <a:rPr kumimoji="1" lang="en-US" altLang="zh-CN" sz="2400" dirty="0">
                <a:latin typeface="Arial" panose="020B0604020202020204" pitchFamily="34" charset="0"/>
                <a:ea typeface="宋体" panose="02010600030101010101" pitchFamily="2" charset="-122"/>
                <a:cs typeface="Arial" panose="020B0604020202020204" pitchFamily="34" charset="0"/>
              </a:rPr>
              <a:t>…</a:t>
            </a:r>
          </a:p>
          <a:p>
            <a:pPr eaLnBrk="1" hangingPunct="1">
              <a:lnSpc>
                <a:spcPct val="90000"/>
              </a:lnSpc>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互联网公司数据库</a:t>
            </a:r>
            <a:endParaRPr kumimoji="1" lang="en-US" altLang="zh-CN" sz="2400" dirty="0">
              <a:latin typeface="Arial" panose="020B0604020202020204" pitchFamily="34" charset="0"/>
              <a:ea typeface="宋体" panose="02010600030101010101" pitchFamily="2" charset="-122"/>
              <a:cs typeface="Arial" panose="020B0604020202020204" pitchFamily="34" charset="0"/>
            </a:endParaRPr>
          </a:p>
          <a:p>
            <a:pPr lvl="1" eaLnBrk="1" hangingPunct="1">
              <a:lnSpc>
                <a:spcPct val="90000"/>
              </a:lnSpc>
            </a:pPr>
            <a:r>
              <a:rPr kumimoji="1" lang="en-US" altLang="zh-CN" sz="2400" dirty="0">
                <a:solidFill>
                  <a:schemeClr val="tx2"/>
                </a:solidFill>
                <a:latin typeface="Arial" panose="020B0604020202020204" pitchFamily="34" charset="0"/>
                <a:ea typeface="宋体" panose="02010600030101010101" pitchFamily="2" charset="-122"/>
                <a:cs typeface="Arial" panose="020B0604020202020204" pitchFamily="34" charset="0"/>
              </a:rPr>
              <a:t>Oceanbase</a:t>
            </a:r>
            <a:r>
              <a:rPr kumimoji="1" lang="en-US" altLang="zh-CN" sz="2400" dirty="0">
                <a:latin typeface="Arial" panose="020B0604020202020204" pitchFamily="34" charset="0"/>
                <a:ea typeface="宋体" panose="02010600030101010101" pitchFamily="2" charset="-122"/>
                <a:cs typeface="Arial" panose="020B0604020202020204" pitchFamily="34" charset="0"/>
              </a:rPr>
              <a:t>, </a:t>
            </a:r>
            <a:r>
              <a:rPr kumimoji="1" lang="en-US" altLang="zh-CN" sz="2400" dirty="0">
                <a:solidFill>
                  <a:schemeClr val="tx2"/>
                </a:solidFill>
                <a:latin typeface="Arial" panose="020B0604020202020204" pitchFamily="34" charset="0"/>
                <a:ea typeface="宋体" panose="02010600030101010101" pitchFamily="2" charset="-122"/>
                <a:cs typeface="Arial" panose="020B0604020202020204" pitchFamily="34" charset="0"/>
              </a:rPr>
              <a:t>PolarDB</a:t>
            </a:r>
            <a:r>
              <a:rPr kumimoji="1" lang="en-US" altLang="zh-CN" sz="2400" dirty="0">
                <a:latin typeface="Arial" panose="020B0604020202020204" pitchFamily="34" charset="0"/>
                <a:ea typeface="宋体" panose="02010600030101010101" pitchFamily="2" charset="-122"/>
                <a:cs typeface="Arial" panose="020B0604020202020204" pitchFamily="34" charset="0"/>
              </a:rPr>
              <a:t>, AliSQL, TDSQL…</a:t>
            </a:r>
          </a:p>
          <a:p>
            <a:pPr eaLnBrk="1" hangingPunct="1">
              <a:lnSpc>
                <a:spcPct val="90000"/>
              </a:lnSpc>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电信公司数据库</a:t>
            </a:r>
            <a:endParaRPr kumimoji="1" lang="en-US" altLang="zh-CN" sz="2400" dirty="0">
              <a:latin typeface="Arial" panose="020B0604020202020204" pitchFamily="34" charset="0"/>
              <a:ea typeface="宋体" panose="02010600030101010101" pitchFamily="2" charset="-122"/>
              <a:cs typeface="Arial" panose="020B0604020202020204" pitchFamily="34" charset="0"/>
            </a:endParaRPr>
          </a:p>
          <a:p>
            <a:pPr lvl="1" eaLnBrk="1" hangingPunct="1">
              <a:lnSpc>
                <a:spcPct val="90000"/>
              </a:lnSpc>
            </a:pPr>
            <a:r>
              <a:rPr kumimoji="1" lang="zh-CN" altLang="en-US" sz="2400" dirty="0">
                <a:latin typeface="Arial" panose="020B0604020202020204" pitchFamily="34" charset="0"/>
                <a:ea typeface="宋体" panose="02010600030101010101" pitchFamily="2" charset="-122"/>
                <a:cs typeface="Arial" panose="020B0604020202020204" pitchFamily="34" charset="0"/>
              </a:rPr>
              <a:t>高斯、</a:t>
            </a:r>
            <a:r>
              <a:rPr kumimoji="1" lang="en-US" altLang="zh-CN" sz="2400" dirty="0">
                <a:latin typeface="Arial" panose="020B0604020202020204" pitchFamily="34" charset="0"/>
                <a:ea typeface="宋体" panose="02010600030101010101" pitchFamily="2" charset="-122"/>
                <a:cs typeface="Arial" panose="020B0604020202020204" pitchFamily="34" charset="0"/>
              </a:rPr>
              <a:t>GoldenDB..</a:t>
            </a:r>
          </a:p>
          <a:p>
            <a:pPr eaLnBrk="1" hangingPunct="1">
              <a:lnSpc>
                <a:spcPct val="90000"/>
              </a:lnSpc>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创业公司</a:t>
            </a:r>
            <a:endParaRPr kumimoji="1" lang="en-US" altLang="zh-CN" sz="2400" dirty="0">
              <a:latin typeface="Arial" panose="020B0604020202020204" pitchFamily="34" charset="0"/>
              <a:ea typeface="宋体" panose="02010600030101010101" pitchFamily="2" charset="-122"/>
              <a:cs typeface="Arial" panose="020B0604020202020204" pitchFamily="34" charset="0"/>
            </a:endParaRPr>
          </a:p>
          <a:p>
            <a:pPr lvl="1" eaLnBrk="1" hangingPunct="1">
              <a:lnSpc>
                <a:spcPct val="90000"/>
              </a:lnSpc>
            </a:pPr>
            <a:r>
              <a:rPr kumimoji="1" lang="en-US" altLang="zh-CN" sz="2400" dirty="0">
                <a:solidFill>
                  <a:schemeClr val="tx2"/>
                </a:solidFill>
                <a:latin typeface="Arial" panose="020B0604020202020204" pitchFamily="34" charset="0"/>
                <a:ea typeface="宋体" panose="02010600030101010101" pitchFamily="2" charset="-122"/>
                <a:cs typeface="Arial" panose="020B0604020202020204" pitchFamily="34" charset="0"/>
              </a:rPr>
              <a:t>TiDB</a:t>
            </a:r>
            <a:r>
              <a:rPr kumimoji="1" lang="zh-CN" altLang="en-US" sz="2400" dirty="0">
                <a:latin typeface="Arial" panose="020B0604020202020204" pitchFamily="34" charset="0"/>
                <a:ea typeface="宋体" panose="02010600030101010101" pitchFamily="2" charset="-122"/>
                <a:cs typeface="Arial" panose="020B0604020202020204" pitchFamily="34" charset="0"/>
              </a:rPr>
              <a:t>、偶数科技</a:t>
            </a:r>
            <a:r>
              <a:rPr kumimoji="1" lang="en-US" altLang="zh-CN" sz="2400" dirty="0">
                <a:latin typeface="Arial" panose="020B0604020202020204" pitchFamily="34" charset="0"/>
                <a:ea typeface="宋体" panose="02010600030101010101" pitchFamily="2" charset="-122"/>
                <a:cs typeface="Arial" panose="020B0604020202020204" pitchFamily="34" charset="0"/>
              </a:rPr>
              <a:t>…</a:t>
            </a:r>
            <a:endParaRPr kumimoji="1" lang="zh-CN" altLang="en-US" sz="2400" dirty="0">
              <a:latin typeface="Arial" panose="020B0604020202020204" pitchFamily="34" charset="0"/>
              <a:ea typeface="宋体" panose="02010600030101010101" pitchFamily="2" charset="-122"/>
              <a:cs typeface="Arial" panose="020B0604020202020204" pitchFamily="34" charset="0"/>
            </a:endParaRPr>
          </a:p>
          <a:p>
            <a:pPr>
              <a:lnSpc>
                <a:spcPct val="90000"/>
              </a:lnSpc>
              <a:buSzPct val="125000"/>
            </a:pPr>
            <a:endParaRPr kumimoji="1" lang="en-US" altLang="zh-CN" sz="2400" dirty="0">
              <a:latin typeface="Arial" panose="020B0604020202020204" pitchFamily="34" charset="0"/>
              <a:ea typeface="宋体" panose="02010600030101010101" pitchFamily="2" charset="-122"/>
              <a:cs typeface="Arial" panose="020B0604020202020204" pitchFamily="34" charset="0"/>
            </a:endParaRPr>
          </a:p>
          <a:p>
            <a:pPr>
              <a:buSzPct val="125000"/>
            </a:pPr>
            <a:endParaRPr kumimoji="1" lang="zh-CN" altLang="en-US" sz="2400" dirty="0">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sym typeface="+mn-ea"/>
              </a:rPr>
              <a:t>数据库市场挑战与趋势</a:t>
            </a:r>
          </a:p>
        </p:txBody>
      </p:sp>
      <p:sp>
        <p:nvSpPr>
          <p:cNvPr id="3" name="内容占位符 2"/>
          <p:cNvSpPr>
            <a:spLocks noGrp="1"/>
          </p:cNvSpPr>
          <p:nvPr>
            <p:ph idx="1"/>
          </p:nvPr>
        </p:nvSpPr>
        <p:spPr>
          <a:xfrm>
            <a:off x="504825" y="1424305"/>
            <a:ext cx="7970520" cy="4573270"/>
          </a:xfrm>
        </p:spPr>
        <p:txBody>
          <a:bodyPr/>
          <a:lstStyle/>
          <a:p>
            <a:r>
              <a:rPr lang="zh-CN" altLang="en-US" sz="2800">
                <a:latin typeface="Arial" panose="020B0604020202020204" pitchFamily="34" charset="0"/>
                <a:ea typeface="宋体" panose="02010600030101010101" pitchFamily="2" charset="-122"/>
                <a:cs typeface="Arial" panose="020B0604020202020204" pitchFamily="34" charset="0"/>
              </a:rPr>
              <a:t>分布式改造、国产化、数据迁移、跨库管理、软硬结合</a:t>
            </a:r>
          </a:p>
          <a:p>
            <a:r>
              <a:rPr lang="zh-CN" altLang="en-US" sz="2800">
                <a:latin typeface="Arial" panose="020B0604020202020204" pitchFamily="34" charset="0"/>
                <a:ea typeface="宋体" panose="02010600030101010101" pitchFamily="2" charset="-122"/>
                <a:cs typeface="Arial" panose="020B0604020202020204" pitchFamily="34" charset="0"/>
              </a:rPr>
              <a:t>“多场景、融合、云、湖、仓一体、开源、人工智能”将成为中国数据库市场未来发展的必然趋势。</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4753" name="图片 1"/>
          <p:cNvPicPr>
            <a:picLocks noChangeAspect="1"/>
          </p:cNvPicPr>
          <p:nvPr/>
        </p:nvPicPr>
        <p:blipFill>
          <a:blip r:embed="rId2"/>
          <a:srcRect l="24307" t="21774" r="23886" b="14508"/>
          <a:stretch>
            <a:fillRect/>
          </a:stretch>
        </p:blipFill>
        <p:spPr>
          <a:xfrm>
            <a:off x="166688" y="-14287"/>
            <a:ext cx="8896350" cy="6838950"/>
          </a:xfrm>
          <a:prstGeom prst="rect">
            <a:avLst/>
          </a:prstGeom>
          <a:noFill/>
          <a:ln w="9525">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solidFill>
                  <a:srgbClr val="C00000"/>
                </a:solidFill>
                <a:latin typeface="黑体" panose="02010609060101010101" pitchFamily="49" charset="-122"/>
                <a:ea typeface="黑体" panose="02010609060101010101" pitchFamily="49" charset="-122"/>
              </a:rPr>
              <a:t>提</a:t>
            </a:r>
            <a:r>
              <a:rPr lang="en-US" altLang="zh-CN" sz="4000">
                <a:solidFill>
                  <a:srgbClr val="C00000"/>
                </a:solidFill>
                <a:latin typeface="黑体" panose="02010609060101010101" pitchFamily="49" charset="-122"/>
                <a:ea typeface="黑体" panose="02010609060101010101" pitchFamily="49" charset="-122"/>
              </a:rPr>
              <a:t>  </a:t>
            </a:r>
            <a:r>
              <a:rPr lang="zh-CN" altLang="en-US" sz="4000">
                <a:solidFill>
                  <a:srgbClr val="C00000"/>
                </a:solidFill>
                <a:latin typeface="黑体" panose="02010609060101010101" pitchFamily="49" charset="-122"/>
                <a:ea typeface="黑体" panose="02010609060101010101" pitchFamily="49" charset="-122"/>
              </a:rPr>
              <a:t>纲</a:t>
            </a:r>
          </a:p>
        </p:txBody>
      </p:sp>
      <p:sp>
        <p:nvSpPr>
          <p:cNvPr id="3" name="内容占位符 2"/>
          <p:cNvSpPr>
            <a:spLocks noGrp="1"/>
          </p:cNvSpPr>
          <p:nvPr>
            <p:ph idx="1"/>
          </p:nvPr>
        </p:nvSpPr>
        <p:spPr/>
        <p:txBody>
          <a:bodyPr/>
          <a:lstStyle/>
          <a:p>
            <a:r>
              <a:rPr lang="zh-CN" altLang="en-US" sz="2400" b="1">
                <a:solidFill>
                  <a:schemeClr val="accent5">
                    <a:lumMod val="65000"/>
                  </a:schemeClr>
                </a:solidFill>
                <a:latin typeface="Arial" panose="020B0604020202020204" pitchFamily="34" charset="0"/>
                <a:ea typeface="新宋体" panose="02010609030101010101" charset="-122"/>
              </a:rPr>
              <a:t>课程简介</a:t>
            </a:r>
          </a:p>
          <a:p>
            <a:r>
              <a:rPr lang="zh-CN" altLang="en-US" sz="2400" b="1">
                <a:solidFill>
                  <a:schemeClr val="accent5">
                    <a:lumMod val="65000"/>
                  </a:schemeClr>
                </a:solidFill>
                <a:latin typeface="Arial" panose="020B0604020202020204" pitchFamily="34" charset="0"/>
                <a:ea typeface="新宋体" panose="02010609030101010101" charset="-122"/>
              </a:rPr>
              <a:t>数据库概览</a:t>
            </a:r>
          </a:p>
          <a:p>
            <a:pPr lvl="1"/>
            <a:r>
              <a:rPr lang="zh-CN" altLang="en-US" sz="2400" b="1">
                <a:solidFill>
                  <a:schemeClr val="accent5">
                    <a:lumMod val="65000"/>
                  </a:schemeClr>
                </a:solidFill>
                <a:latin typeface="Arial" panose="020B0604020202020204" pitchFamily="34" charset="0"/>
                <a:ea typeface="新宋体" panose="02010609030101010101" charset="-122"/>
              </a:rPr>
              <a:t>学科简介</a:t>
            </a:r>
          </a:p>
          <a:p>
            <a:pPr lvl="1"/>
            <a:r>
              <a:rPr lang="zh-CN" altLang="en-US" sz="2400" b="1">
                <a:solidFill>
                  <a:schemeClr val="accent5">
                    <a:lumMod val="65000"/>
                  </a:schemeClr>
                </a:solidFill>
                <a:latin typeface="Arial" panose="020B0604020202020204" pitchFamily="34" charset="0"/>
                <a:ea typeface="新宋体" panose="02010609030101010101" charset="-122"/>
              </a:rPr>
              <a:t>数据库发展史</a:t>
            </a:r>
          </a:p>
          <a:p>
            <a:pPr lvl="0" algn="l"/>
            <a:r>
              <a:rPr lang="zh-CN" altLang="en-US" sz="2400" b="1">
                <a:solidFill>
                  <a:schemeClr val="accent5">
                    <a:lumMod val="65000"/>
                  </a:schemeClr>
                </a:solidFill>
                <a:latin typeface="Arial" panose="020B0604020202020204" pitchFamily="34" charset="0"/>
                <a:ea typeface="新宋体" panose="02010609030101010101" charset="-122"/>
              </a:rPr>
              <a:t>数据库引擎</a:t>
            </a:r>
          </a:p>
          <a:p>
            <a:pPr lvl="1"/>
            <a:r>
              <a:rPr lang="zh-CN" altLang="en-US" sz="2400" b="1">
                <a:solidFill>
                  <a:schemeClr val="accent5">
                    <a:lumMod val="65000"/>
                  </a:schemeClr>
                </a:solidFill>
                <a:latin typeface="Arial" panose="020B0604020202020204" pitchFamily="34" charset="0"/>
                <a:ea typeface="新宋体" panose="02010609030101010101" charset="-122"/>
              </a:rPr>
              <a:t>国外</a:t>
            </a:r>
          </a:p>
          <a:p>
            <a:pPr lvl="1"/>
            <a:r>
              <a:rPr lang="zh-CN" altLang="en-US" sz="2400" b="1">
                <a:solidFill>
                  <a:schemeClr val="accent5">
                    <a:lumMod val="65000"/>
                  </a:schemeClr>
                </a:solidFill>
                <a:latin typeface="Arial" panose="020B0604020202020204" pitchFamily="34" charset="0"/>
                <a:ea typeface="新宋体" panose="02010609030101010101" charset="-122"/>
              </a:rPr>
              <a:t>国内</a:t>
            </a:r>
          </a:p>
          <a:p>
            <a:pPr lvl="0" algn="l"/>
            <a:r>
              <a:rPr lang="zh-CN" altLang="en-US" sz="2400" b="1">
                <a:solidFill>
                  <a:srgbClr val="C00000"/>
                </a:solidFill>
                <a:latin typeface="Arial" panose="020B0604020202020204" pitchFamily="34" charset="0"/>
                <a:ea typeface="新宋体" panose="02010609030101010101" charset="-122"/>
              </a:rPr>
              <a:t>数据库生态</a:t>
            </a:r>
            <a:endParaRPr lang="zh-CN" altLang="en-US" sz="2400" b="1">
              <a:solidFill>
                <a:srgbClr val="000099"/>
              </a:solidFill>
              <a:latin typeface="Arial" panose="020B0604020202020204" pitchFamily="34" charset="0"/>
              <a:ea typeface="新宋体" panose="02010609030101010101" charset="-122"/>
            </a:endParaRPr>
          </a:p>
          <a:p>
            <a:pPr lvl="0" algn="l"/>
            <a:r>
              <a:rPr lang="zh-CN" altLang="en-US" sz="2400" b="1">
                <a:solidFill>
                  <a:srgbClr val="000099"/>
                </a:solidFill>
                <a:latin typeface="Arial" panose="020B0604020202020204" pitchFamily="34" charset="0"/>
                <a:ea typeface="新宋体" panose="02010609030101010101" charset="-122"/>
              </a:rPr>
              <a:t>数据库新变化</a:t>
            </a:r>
          </a:p>
          <a:p>
            <a:pPr lvl="0" algn="l"/>
            <a:r>
              <a:rPr lang="zh-CN" altLang="en-US" sz="2400" b="1">
                <a:solidFill>
                  <a:srgbClr val="000099"/>
                </a:solidFill>
                <a:latin typeface="Arial" panose="020B0604020202020204" pitchFamily="34" charset="0"/>
                <a:ea typeface="新宋体" panose="02010609030101010101" charset="-122"/>
              </a:rPr>
              <a:t>数据库学术圈</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8350" y="234705"/>
            <a:ext cx="8077200" cy="609600"/>
          </a:xfrm>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数据库生态</a:t>
            </a:r>
          </a:p>
        </p:txBody>
      </p:sp>
      <p:pic>
        <p:nvPicPr>
          <p:cNvPr id="4" name="图片 3"/>
          <p:cNvPicPr>
            <a:picLocks noChangeAspect="1"/>
          </p:cNvPicPr>
          <p:nvPr/>
        </p:nvPicPr>
        <p:blipFill rotWithShape="1">
          <a:blip r:embed="rId2"/>
          <a:srcRect l="4359" t="14769" b="5876"/>
          <a:stretch>
            <a:fillRect/>
          </a:stretch>
        </p:blipFill>
        <p:spPr>
          <a:xfrm>
            <a:off x="635" y="1383030"/>
            <a:ext cx="9143365" cy="431419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数据库周围工具</a:t>
            </a:r>
          </a:p>
        </p:txBody>
      </p:sp>
      <p:pic>
        <p:nvPicPr>
          <p:cNvPr id="4" name="图片 3"/>
          <p:cNvPicPr>
            <a:picLocks noChangeAspect="1"/>
          </p:cNvPicPr>
          <p:nvPr/>
        </p:nvPicPr>
        <p:blipFill rotWithShape="1">
          <a:blip r:embed="rId2"/>
          <a:srcRect t="12945" b="4507"/>
          <a:stretch>
            <a:fillRect/>
          </a:stretch>
        </p:blipFill>
        <p:spPr>
          <a:xfrm>
            <a:off x="0" y="1523999"/>
            <a:ext cx="9144000" cy="424375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多方向交叉融合创新</a:t>
            </a:r>
          </a:p>
        </p:txBody>
      </p:sp>
      <p:pic>
        <p:nvPicPr>
          <p:cNvPr id="4" name="图片 3"/>
          <p:cNvPicPr>
            <a:picLocks noChangeAspect="1"/>
          </p:cNvPicPr>
          <p:nvPr/>
        </p:nvPicPr>
        <p:blipFill rotWithShape="1">
          <a:blip r:embed="rId2"/>
          <a:srcRect l="7834" t="12494" r="7157" b="5876"/>
          <a:stretch>
            <a:fillRect/>
          </a:stretch>
        </p:blipFill>
        <p:spPr>
          <a:xfrm>
            <a:off x="51037" y="1266336"/>
            <a:ext cx="9083061" cy="4903787"/>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solidFill>
                  <a:srgbClr val="C00000"/>
                </a:solidFill>
                <a:latin typeface="黑体" panose="02010609060101010101" pitchFamily="49" charset="-122"/>
                <a:ea typeface="黑体" panose="02010609060101010101" pitchFamily="49" charset="-122"/>
              </a:rPr>
              <a:t>提</a:t>
            </a:r>
            <a:r>
              <a:rPr lang="en-US" altLang="zh-CN" sz="4000">
                <a:solidFill>
                  <a:srgbClr val="C00000"/>
                </a:solidFill>
                <a:latin typeface="黑体" panose="02010609060101010101" pitchFamily="49" charset="-122"/>
                <a:ea typeface="黑体" panose="02010609060101010101" pitchFamily="49" charset="-122"/>
              </a:rPr>
              <a:t>  </a:t>
            </a:r>
            <a:r>
              <a:rPr lang="zh-CN" altLang="en-US" sz="4000">
                <a:solidFill>
                  <a:srgbClr val="C00000"/>
                </a:solidFill>
                <a:latin typeface="黑体" panose="02010609060101010101" pitchFamily="49" charset="-122"/>
                <a:ea typeface="黑体" panose="02010609060101010101" pitchFamily="49" charset="-122"/>
              </a:rPr>
              <a:t>纲</a:t>
            </a:r>
          </a:p>
        </p:txBody>
      </p:sp>
      <p:sp>
        <p:nvSpPr>
          <p:cNvPr id="3" name="内容占位符 2"/>
          <p:cNvSpPr>
            <a:spLocks noGrp="1"/>
          </p:cNvSpPr>
          <p:nvPr>
            <p:ph idx="1"/>
          </p:nvPr>
        </p:nvSpPr>
        <p:spPr/>
        <p:txBody>
          <a:bodyPr/>
          <a:lstStyle/>
          <a:p>
            <a:r>
              <a:rPr lang="zh-CN" altLang="en-US" sz="2400" b="1">
                <a:solidFill>
                  <a:schemeClr val="accent5">
                    <a:lumMod val="65000"/>
                  </a:schemeClr>
                </a:solidFill>
                <a:latin typeface="Arial" panose="020B0604020202020204" pitchFamily="34" charset="0"/>
                <a:ea typeface="新宋体" panose="02010609030101010101" charset="-122"/>
              </a:rPr>
              <a:t>课程简介</a:t>
            </a:r>
          </a:p>
          <a:p>
            <a:r>
              <a:rPr lang="zh-CN" altLang="en-US" sz="2400" b="1">
                <a:solidFill>
                  <a:schemeClr val="accent5">
                    <a:lumMod val="65000"/>
                  </a:schemeClr>
                </a:solidFill>
                <a:latin typeface="Arial" panose="020B0604020202020204" pitchFamily="34" charset="0"/>
                <a:ea typeface="新宋体" panose="02010609030101010101" charset="-122"/>
              </a:rPr>
              <a:t>数据库概览</a:t>
            </a:r>
          </a:p>
          <a:p>
            <a:pPr lvl="1"/>
            <a:r>
              <a:rPr lang="zh-CN" altLang="en-US" sz="2400" b="1">
                <a:solidFill>
                  <a:schemeClr val="accent5">
                    <a:lumMod val="65000"/>
                  </a:schemeClr>
                </a:solidFill>
                <a:latin typeface="Arial" panose="020B0604020202020204" pitchFamily="34" charset="0"/>
                <a:ea typeface="新宋体" panose="02010609030101010101" charset="-122"/>
              </a:rPr>
              <a:t>学科简介</a:t>
            </a:r>
          </a:p>
          <a:p>
            <a:pPr lvl="1"/>
            <a:r>
              <a:rPr lang="zh-CN" altLang="en-US" sz="2400" b="1">
                <a:solidFill>
                  <a:schemeClr val="accent5">
                    <a:lumMod val="65000"/>
                  </a:schemeClr>
                </a:solidFill>
                <a:latin typeface="Arial" panose="020B0604020202020204" pitchFamily="34" charset="0"/>
                <a:ea typeface="新宋体" panose="02010609030101010101" charset="-122"/>
              </a:rPr>
              <a:t>数据库发展史</a:t>
            </a:r>
          </a:p>
          <a:p>
            <a:pPr lvl="0" algn="l"/>
            <a:r>
              <a:rPr lang="zh-CN" altLang="en-US" sz="2400" b="1">
                <a:solidFill>
                  <a:schemeClr val="accent5">
                    <a:lumMod val="65000"/>
                  </a:schemeClr>
                </a:solidFill>
                <a:latin typeface="Arial" panose="020B0604020202020204" pitchFamily="34" charset="0"/>
                <a:ea typeface="新宋体" panose="02010609030101010101" charset="-122"/>
              </a:rPr>
              <a:t>数据库引擎</a:t>
            </a:r>
          </a:p>
          <a:p>
            <a:pPr lvl="1"/>
            <a:r>
              <a:rPr lang="zh-CN" altLang="en-US" sz="2400" b="1">
                <a:solidFill>
                  <a:schemeClr val="accent5">
                    <a:lumMod val="65000"/>
                  </a:schemeClr>
                </a:solidFill>
                <a:latin typeface="Arial" panose="020B0604020202020204" pitchFamily="34" charset="0"/>
                <a:ea typeface="新宋体" panose="02010609030101010101" charset="-122"/>
              </a:rPr>
              <a:t>国外</a:t>
            </a:r>
          </a:p>
          <a:p>
            <a:pPr lvl="1"/>
            <a:r>
              <a:rPr lang="zh-CN" altLang="en-US" sz="2400" b="1">
                <a:solidFill>
                  <a:schemeClr val="accent5">
                    <a:lumMod val="65000"/>
                  </a:schemeClr>
                </a:solidFill>
                <a:latin typeface="Arial" panose="020B0604020202020204" pitchFamily="34" charset="0"/>
                <a:ea typeface="新宋体" panose="02010609030101010101" charset="-122"/>
              </a:rPr>
              <a:t>国内</a:t>
            </a:r>
          </a:p>
          <a:p>
            <a:pPr lvl="0" algn="l"/>
            <a:r>
              <a:rPr lang="zh-CN" altLang="en-US" sz="2400" b="1">
                <a:solidFill>
                  <a:schemeClr val="accent5">
                    <a:lumMod val="65000"/>
                  </a:schemeClr>
                </a:solidFill>
                <a:latin typeface="Arial" panose="020B0604020202020204" pitchFamily="34" charset="0"/>
                <a:ea typeface="新宋体" panose="02010609030101010101" charset="-122"/>
              </a:rPr>
              <a:t>数据库生态</a:t>
            </a:r>
          </a:p>
          <a:p>
            <a:pPr lvl="0" algn="l"/>
            <a:r>
              <a:rPr lang="zh-CN" altLang="en-US" sz="2400" b="1">
                <a:solidFill>
                  <a:srgbClr val="C00000"/>
                </a:solidFill>
                <a:latin typeface="Arial" panose="020B0604020202020204" pitchFamily="34" charset="0"/>
                <a:ea typeface="新宋体" panose="02010609030101010101" charset="-122"/>
              </a:rPr>
              <a:t>数据库新变化</a:t>
            </a:r>
          </a:p>
          <a:p>
            <a:pPr lvl="0" algn="l"/>
            <a:r>
              <a:rPr lang="zh-CN" altLang="en-US" sz="2400" b="1">
                <a:solidFill>
                  <a:srgbClr val="000099"/>
                </a:solidFill>
                <a:latin typeface="Arial" panose="020B0604020202020204" pitchFamily="34" charset="0"/>
                <a:ea typeface="新宋体" panose="02010609030101010101" charset="-122"/>
              </a:rPr>
              <a:t>数据库学术圈</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7" name="内容占位符 2"/>
          <p:cNvSpPr>
            <a:spLocks noGrp="1"/>
          </p:cNvSpPr>
          <p:nvPr>
            <p:ph idx="1"/>
          </p:nvPr>
        </p:nvSpPr>
        <p:spPr>
          <a:xfrm>
            <a:off x="748030" y="1360805"/>
            <a:ext cx="7727315" cy="4636770"/>
          </a:xfrm>
        </p:spPr>
        <p:txBody>
          <a:bodyPr vert="horz" wrap="square" lIns="91440" tIns="45720" rIns="91440" bIns="45720" anchor="t"/>
          <a:lstStyle/>
          <a:p>
            <a:pPr>
              <a:buSzPct val="125000"/>
            </a:pPr>
            <a:r>
              <a:rPr kumimoji="1" lang="zh-CN" altLang="en-US" sz="2800" dirty="0">
                <a:latin typeface="微软雅黑" panose="020B0503020204020204" charset="-122"/>
                <a:ea typeface="微软雅黑" panose="020B0503020204020204" charset="-122"/>
                <a:cs typeface="+mn-cs"/>
              </a:rPr>
              <a:t>上层需求的变化</a:t>
            </a:r>
            <a:endParaRPr kumimoji="1" lang="en-US" altLang="zh-CN" sz="2800" dirty="0">
              <a:latin typeface="微软雅黑" panose="020B0503020204020204" charset="-122"/>
              <a:ea typeface="微软雅黑" panose="020B0503020204020204" charset="-122"/>
              <a:cs typeface="+mn-cs"/>
            </a:endParaRPr>
          </a:p>
          <a:p>
            <a:pPr>
              <a:lnSpc>
                <a:spcPct val="110000"/>
              </a:lnSpc>
              <a:buSzPct val="125000"/>
            </a:pPr>
            <a:r>
              <a:rPr kumimoji="1" lang="zh-CN" altLang="en-US" sz="2800" dirty="0">
                <a:latin typeface="微软雅黑" panose="020B0503020204020204" charset="-122"/>
                <a:ea typeface="微软雅黑" panose="020B0503020204020204" charset="-122"/>
                <a:cs typeface="+mn-cs"/>
              </a:rPr>
              <a:t>底层支持的变化</a:t>
            </a:r>
            <a:endParaRPr kumimoji="1" lang="en-US" altLang="zh-CN" sz="2800" dirty="0">
              <a:latin typeface="微软雅黑" panose="020B0503020204020204" charset="-122"/>
              <a:ea typeface="微软雅黑" panose="020B0503020204020204" charset="-122"/>
              <a:cs typeface="+mn-cs"/>
            </a:endParaRPr>
          </a:p>
          <a:p>
            <a:pPr>
              <a:buSzPct val="125000"/>
            </a:pPr>
            <a:r>
              <a:rPr kumimoji="1" lang="zh-CN" altLang="en-US" sz="2800" dirty="0">
                <a:latin typeface="微软雅黑" panose="020B0503020204020204" charset="-122"/>
                <a:ea typeface="微软雅黑" panose="020B0503020204020204" charset="-122"/>
                <a:cs typeface="+mn-cs"/>
              </a:rPr>
              <a:t>市场变化</a:t>
            </a:r>
          </a:p>
        </p:txBody>
      </p:sp>
      <p:sp>
        <p:nvSpPr>
          <p:cNvPr id="4" name="矩形 3"/>
          <p:cNvSpPr/>
          <p:nvPr/>
        </p:nvSpPr>
        <p:spPr bwMode="auto">
          <a:xfrm>
            <a:off x="1440872" y="101599"/>
            <a:ext cx="6748607" cy="758826"/>
          </a:xfrm>
          <a:prstGeom prst="rect">
            <a:avLst/>
          </a:prstGeom>
          <a:noFill/>
          <a:ln w="9525">
            <a:noFill/>
            <a:miter lim="800000"/>
          </a:ln>
        </p:spPr>
        <p:txBody>
          <a:bodyPr vert="horz" wrap="square" lIns="91440" tIns="45720" rIns="91440" bIns="45720" numCol="1" anchor="b" anchorCtr="0" compatLnSpc="1"/>
          <a:lstStyle/>
          <a:p>
            <a:pPr algn="ctr"/>
            <a:r>
              <a:rPr kumimoji="1" lang="zh-CN" altLang="en-US" sz="3600" b="1" kern="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数据库系统发展新的变化</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8"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数据库系统底层变化</a:t>
            </a:r>
          </a:p>
        </p:txBody>
      </p:sp>
      <p:sp>
        <p:nvSpPr>
          <p:cNvPr id="3" name="内容占位符 2"/>
          <p:cNvSpPr>
            <a:spLocks noGrp="1"/>
          </p:cNvSpPr>
          <p:nvPr>
            <p:ph idx="1"/>
          </p:nvPr>
        </p:nvSpPr>
        <p:spPr>
          <a:xfrm>
            <a:off x="139700" y="1094105"/>
            <a:ext cx="8857615" cy="5424805"/>
          </a:xfrm>
          <a:noFill/>
          <a:ln>
            <a:noFill/>
          </a:ln>
        </p:spPr>
        <p:txBody>
          <a:bodyPr vert="horz" wrap="square" lIns="91440" tIns="45720" rIns="91440" bIns="45720" numCol="1" anchor="t" anchorCtr="0" compatLnSpc="1"/>
          <a:lstStyle/>
          <a:p>
            <a:pPr eaLnBrk="1" hangingPunct="1">
              <a:lnSpc>
                <a:spcPct val="120000"/>
              </a:lnSpc>
              <a:buSzPct val="125000"/>
            </a:pP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数据处理硬件发展</a:t>
            </a:r>
          </a:p>
          <a:p>
            <a:pPr lvl="1" eaLnBrk="1" hangingPunct="1">
              <a:lnSpc>
                <a:spcPct val="120000"/>
              </a:lnSpc>
            </a:pPr>
            <a:r>
              <a:rPr lang="en-US" altLang="zh-CN" sz="2000" dirty="0">
                <a:latin typeface="微软雅黑" panose="020B0503020204020204" charset="-122"/>
                <a:ea typeface="微软雅黑" panose="020B0503020204020204" charset="-122"/>
              </a:rPr>
              <a:t>CPU</a:t>
            </a:r>
            <a:r>
              <a:rPr lang="zh-CN" altLang="en-US" sz="2000" dirty="0">
                <a:latin typeface="微软雅黑" panose="020B0503020204020204" charset="-122"/>
                <a:ea typeface="微软雅黑" panose="020B0503020204020204" charset="-122"/>
              </a:rPr>
              <a:t>主频不再提高，并行度提高</a:t>
            </a:r>
            <a:endParaRPr lang="en-US" altLang="zh-CN" sz="2000" dirty="0">
              <a:latin typeface="微软雅黑" panose="020B0503020204020204" charset="-122"/>
              <a:ea typeface="微软雅黑" panose="020B0503020204020204" charset="-122"/>
            </a:endParaRPr>
          </a:p>
          <a:p>
            <a:pPr lvl="1" eaLnBrk="1" hangingPunct="1">
              <a:lnSpc>
                <a:spcPct val="120000"/>
              </a:lnSpc>
            </a:pPr>
            <a:r>
              <a:rPr lang="zh-CN" altLang="en-US" sz="2000" dirty="0">
                <a:latin typeface="微软雅黑" panose="020B0503020204020204" charset="-122"/>
                <a:ea typeface="微软雅黑" panose="020B0503020204020204" charset="-122"/>
              </a:rPr>
              <a:t>分布和并行数据处理技术</a:t>
            </a:r>
          </a:p>
          <a:p>
            <a:pPr eaLnBrk="1" hangingPunct="1">
              <a:lnSpc>
                <a:spcPct val="120000"/>
              </a:lnSpc>
              <a:buSzPct val="125000"/>
            </a:pP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内存技术的发展</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lvl="1" eaLnBrk="1" hangingPunct="1">
              <a:lnSpc>
                <a:spcPct val="120000"/>
              </a:lnSpc>
            </a:pPr>
            <a:r>
              <a:rPr lang="zh-CN" altLang="en-US" sz="2000" dirty="0">
                <a:latin typeface="微软雅黑" panose="020B0503020204020204" charset="-122"/>
                <a:ea typeface="微软雅黑" panose="020B0503020204020204" charset="-122"/>
              </a:rPr>
              <a:t>极大减少了传统</a:t>
            </a:r>
            <a:r>
              <a:rPr lang="en-US" altLang="zh-CN" sz="2000" dirty="0">
                <a:latin typeface="微软雅黑" panose="020B0503020204020204" charset="-122"/>
                <a:ea typeface="微软雅黑" panose="020B0503020204020204" charset="-122"/>
              </a:rPr>
              <a:t>Disk</a:t>
            </a:r>
            <a:r>
              <a:rPr lang="zh-CN" altLang="en-US" sz="2000" dirty="0">
                <a:latin typeface="微软雅黑" panose="020B0503020204020204" charset="-122"/>
                <a:ea typeface="微软雅黑" panose="020B0503020204020204" charset="-122"/>
              </a:rPr>
              <a:t>为核心的</a:t>
            </a:r>
            <a:r>
              <a:rPr lang="en-US" altLang="zh-CN" sz="2000" dirty="0">
                <a:latin typeface="微软雅黑" panose="020B0503020204020204" charset="-122"/>
                <a:ea typeface="微软雅黑" panose="020B0503020204020204" charset="-122"/>
              </a:rPr>
              <a:t>IO</a:t>
            </a:r>
            <a:r>
              <a:rPr lang="zh-CN" altLang="en-US" sz="2000" dirty="0">
                <a:latin typeface="微软雅黑" panose="020B0503020204020204" charset="-122"/>
                <a:ea typeface="微软雅黑" panose="020B0503020204020204" charset="-122"/>
              </a:rPr>
              <a:t>代价</a:t>
            </a:r>
            <a:endParaRPr lang="en-US" altLang="zh-CN" sz="2000" dirty="0">
              <a:latin typeface="微软雅黑" panose="020B0503020204020204" charset="-122"/>
              <a:ea typeface="微软雅黑" panose="020B0503020204020204" charset="-122"/>
            </a:endParaRPr>
          </a:p>
          <a:p>
            <a:pPr lvl="1" eaLnBrk="1" hangingPunct="1">
              <a:lnSpc>
                <a:spcPct val="120000"/>
              </a:lnSpc>
            </a:pPr>
            <a:r>
              <a:rPr lang="zh-CN" altLang="en-US" sz="2000" dirty="0">
                <a:latin typeface="微软雅黑" panose="020B0503020204020204" charset="-122"/>
                <a:ea typeface="微软雅黑" panose="020B0503020204020204" charset="-122"/>
              </a:rPr>
              <a:t>非易失性内存的引入，将提升数据库部件，如</a:t>
            </a:r>
            <a:r>
              <a:rPr lang="en-US" altLang="zh-CN" sz="2000" dirty="0">
                <a:latin typeface="微软雅黑" panose="020B0503020204020204" charset="-122"/>
                <a:ea typeface="微软雅黑" panose="020B0503020204020204" charset="-122"/>
              </a:rPr>
              <a:t>Log</a:t>
            </a:r>
            <a:r>
              <a:rPr lang="zh-CN" altLang="en-US" sz="2000" dirty="0">
                <a:latin typeface="微软雅黑" panose="020B0503020204020204" charset="-122"/>
                <a:ea typeface="微软雅黑" panose="020B0503020204020204" charset="-122"/>
              </a:rPr>
              <a:t>的性能</a:t>
            </a:r>
            <a:endParaRPr lang="en-US" altLang="zh-CN" sz="2000" dirty="0">
              <a:latin typeface="微软雅黑" panose="020B0503020204020204" charset="-122"/>
              <a:ea typeface="微软雅黑" panose="020B0503020204020204" charset="-122"/>
            </a:endParaRPr>
          </a:p>
          <a:p>
            <a:pPr lvl="1" eaLnBrk="1" hangingPunct="1">
              <a:lnSpc>
                <a:spcPct val="120000"/>
              </a:lnSpc>
            </a:pPr>
            <a:r>
              <a:rPr lang="zh-CN" altLang="en-US" sz="2000" dirty="0">
                <a:latin typeface="微软雅黑" panose="020B0503020204020204" charset="-122"/>
                <a:ea typeface="微软雅黑" panose="020B0503020204020204" charset="-122"/>
              </a:rPr>
              <a:t>网络技术如</a:t>
            </a:r>
            <a:r>
              <a:rPr lang="en-US" altLang="zh-CN" sz="2000" dirty="0">
                <a:latin typeface="微软雅黑" panose="020B0503020204020204" charset="-122"/>
                <a:ea typeface="微软雅黑" panose="020B0503020204020204" charset="-122"/>
              </a:rPr>
              <a:t>RDMA</a:t>
            </a:r>
            <a:r>
              <a:rPr lang="zh-CN" altLang="en-US" sz="2000" dirty="0">
                <a:latin typeface="微软雅黑" panose="020B0503020204020204" charset="-122"/>
                <a:ea typeface="微软雅黑" panose="020B0503020204020204" charset="-122"/>
              </a:rPr>
              <a:t>的发展</a:t>
            </a:r>
            <a:endParaRPr lang="en-US" altLang="zh-CN" sz="2000" dirty="0">
              <a:latin typeface="微软雅黑" panose="020B0503020204020204" charset="-122"/>
              <a:ea typeface="微软雅黑" panose="020B0503020204020204" charset="-122"/>
            </a:endParaRPr>
          </a:p>
          <a:p>
            <a:pPr lvl="1" eaLnBrk="1" hangingPunct="1">
              <a:lnSpc>
                <a:spcPct val="120000"/>
              </a:lnSpc>
            </a:pPr>
            <a:r>
              <a:rPr lang="zh-CN" altLang="en-US" sz="2000" dirty="0">
                <a:latin typeface="微软雅黑" panose="020B0503020204020204" charset="-122"/>
                <a:ea typeface="微软雅黑" panose="020B0503020204020204" charset="-122"/>
              </a:rPr>
              <a:t>将影响分布式数据管理和事务</a:t>
            </a:r>
            <a:endParaRPr lang="en-US" altLang="zh-CN" sz="2000" dirty="0">
              <a:latin typeface="微软雅黑" panose="020B0503020204020204" charset="-122"/>
              <a:ea typeface="微软雅黑" panose="020B0503020204020204" charset="-122"/>
            </a:endParaRPr>
          </a:p>
          <a:p>
            <a:pPr eaLnBrk="1" hangingPunct="1">
              <a:lnSpc>
                <a:spcPct val="120000"/>
              </a:lnSpc>
              <a:buSzPct val="125000"/>
            </a:pP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其他部件参与数据处理，如</a:t>
            </a: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GPU</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a:t>
            </a: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FPGA</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等</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120000"/>
              </a:lnSpc>
              <a:buSzPct val="125000"/>
            </a:pP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新的计算体系不断发展</a:t>
            </a:r>
          </a:p>
          <a:p>
            <a:pPr lvl="1" eaLnBrk="1" hangingPunct="1">
              <a:lnSpc>
                <a:spcPct val="120000"/>
              </a:lnSpc>
            </a:pPr>
            <a:r>
              <a:rPr lang="zh-CN" altLang="en-US" sz="2000" dirty="0">
                <a:latin typeface="微软雅黑" panose="020B0503020204020204" charset="-122"/>
                <a:ea typeface="微软雅黑" panose="020B0503020204020204" charset="-122"/>
              </a:rPr>
              <a:t>如</a:t>
            </a:r>
            <a:r>
              <a:rPr lang="en-US" altLang="zh-CN" sz="2000" dirty="0">
                <a:latin typeface="微软雅黑" panose="020B0503020204020204" charset="-122"/>
                <a:ea typeface="微软雅黑" panose="020B0503020204020204" charset="-122"/>
              </a:rPr>
              <a:t>P2P</a:t>
            </a:r>
            <a:r>
              <a:rPr lang="zh-CN" altLang="en-US" sz="2000" dirty="0">
                <a:latin typeface="微软雅黑" panose="020B0503020204020204" charset="-122"/>
                <a:ea typeface="微软雅黑" panose="020B0503020204020204" charset="-122"/>
              </a:rPr>
              <a:t>环境、移动计算环境、云计算平台</a:t>
            </a:r>
          </a:p>
          <a:p>
            <a:pPr eaLnBrk="1" hangingPunct="1">
              <a:lnSpc>
                <a:spcPct val="120000"/>
              </a:lnSpc>
              <a:buSzPct val="125000"/>
            </a:pPr>
            <a:endPar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87BBDC00-B9E2-4EFD-9306-2934E87247C6}" type="slidenum">
              <a:rPr lang="zh-CN" altLang="en-US" smtClean="0">
                <a:latin typeface="微软雅黑" panose="020B0503020204020204" pitchFamily="82" charset="2"/>
                <a:ea typeface="微软雅黑" panose="020B0503020204020204" pitchFamily="82" charset="2"/>
              </a:rPr>
              <a:t>41</a:t>
            </a:fld>
            <a:endParaRPr lang="zh-CN" altLang="en-US">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影响数据库发展的因素</a:t>
            </a:r>
          </a:p>
        </p:txBody>
      </p:sp>
      <p:sp>
        <p:nvSpPr>
          <p:cNvPr id="5" name="页脚占位符 4"/>
          <p:cNvSpPr>
            <a:spLocks noGrp="1"/>
          </p:cNvSpPr>
          <p:nvPr>
            <p:ph type="ftr" sz="quarter" idx="3"/>
          </p:nvPr>
        </p:nvSpPr>
        <p:spPr/>
        <p:txBody>
          <a:bodyPr/>
          <a:lstStyle/>
          <a:p>
            <a:r>
              <a:rPr kumimoji="1" lang="zh-CN" altLang="en-US">
                <a:latin typeface="微软雅黑" panose="020B0503020204020204" pitchFamily="82" charset="2"/>
                <a:ea typeface="微软雅黑" panose="020B0503020204020204" pitchFamily="82" charset="2"/>
              </a:rPr>
              <a:t>数据库 </a:t>
            </a:r>
            <a:r>
              <a:rPr kumimoji="1" lang="en-US" altLang="zh-CN">
                <a:latin typeface="微软雅黑" panose="020B0503020204020204" pitchFamily="82" charset="2"/>
                <a:ea typeface="微软雅黑" panose="020B0503020204020204" pitchFamily="82" charset="2"/>
              </a:rPr>
              <a:t>- </a:t>
            </a:r>
            <a:r>
              <a:rPr kumimoji="1" lang="zh-CN" altLang="en-US">
                <a:latin typeface="微软雅黑" panose="020B0503020204020204" pitchFamily="82" charset="2"/>
                <a:ea typeface="微软雅黑" panose="020B0503020204020204" pitchFamily="82" charset="2"/>
              </a:rPr>
              <a:t>概述</a:t>
            </a:r>
            <a:endParaRPr kumimoji="1" lang="zh-CN" altLang="en-US" dirty="0">
              <a:latin typeface="微软雅黑" panose="020B0503020204020204" pitchFamily="82" charset="2"/>
              <a:ea typeface="微软雅黑" panose="020B0503020204020204" pitchFamily="82" charset="2"/>
            </a:endParaRPr>
          </a:p>
        </p:txBody>
      </p:sp>
      <p:pic>
        <p:nvPicPr>
          <p:cNvPr id="4" name="图片 3"/>
          <p:cNvPicPr>
            <a:picLocks noChangeAspect="1"/>
          </p:cNvPicPr>
          <p:nvPr/>
        </p:nvPicPr>
        <p:blipFill rotWithShape="1">
          <a:blip r:embed="rId2"/>
          <a:srcRect l="8616" t="13401" r="6410" b="5421"/>
          <a:stretch>
            <a:fillRect/>
          </a:stretch>
        </p:blipFill>
        <p:spPr>
          <a:xfrm>
            <a:off x="107974" y="1058419"/>
            <a:ext cx="8942291" cy="4803119"/>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数据库面对的大数据</a:t>
            </a:r>
          </a:p>
        </p:txBody>
      </p:sp>
      <p:sp>
        <p:nvSpPr>
          <p:cNvPr id="3" name="内容占位符 2"/>
          <p:cNvSpPr>
            <a:spLocks noGrp="1"/>
          </p:cNvSpPr>
          <p:nvPr>
            <p:ph idx="1"/>
          </p:nvPr>
        </p:nvSpPr>
        <p:spPr>
          <a:xfrm>
            <a:off x="179388" y="4292600"/>
            <a:ext cx="8785225" cy="1944688"/>
          </a:xfrm>
        </p:spPr>
        <p:txBody>
          <a:bodyPr vert="horz" wrap="square" lIns="91440" tIns="45720" rIns="91440" bIns="45720" numCol="1" anchor="t" anchorCtr="0" compatLnSpc="1">
            <a:normAutofit fontScale="62500" lnSpcReduction="20000"/>
          </a:bodyPr>
          <a:lstStyle/>
          <a:p>
            <a:pPr marL="342900" marR="0" lvl="0" indent="-342900" algn="l" defTabSz="914400" rtl="0" eaLnBrk="0" fontAlgn="base" latinLnBrk="0" hangingPunct="0">
              <a:lnSpc>
                <a:spcPct val="130000"/>
              </a:lnSpc>
              <a:spcBef>
                <a:spcPct val="20000"/>
              </a:spcBef>
              <a:spcAft>
                <a:spcPct val="0"/>
              </a:spcAft>
              <a:buClr>
                <a:srgbClr val="FF3300"/>
              </a:buClr>
              <a:buSzPct val="125000"/>
              <a:buFont typeface="Times New Roman" panose="02020603050405020304" pitchFamily="18" charset="0"/>
              <a:buChar char="♠"/>
              <a:defRPr/>
            </a:pPr>
            <a:r>
              <a:rPr kumimoji="1" lang="zh-CN" altLang="en-US"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大数据的</a:t>
            </a:r>
            <a:r>
              <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4V(</a:t>
            </a:r>
            <a:r>
              <a:rPr kumimoji="1" lang="zh-CN" altLang="en-US"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量大、变化快、类型多变、数据质量不高</a:t>
            </a:r>
            <a:r>
              <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a:t>
            </a:r>
            <a:r>
              <a:rPr kumimoji="1" lang="zh-CN" altLang="en-US"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特性对数据库产生影响</a:t>
            </a:r>
            <a:endPar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30000"/>
              </a:lnSpc>
              <a:spcBef>
                <a:spcPct val="20000"/>
              </a:spcBef>
              <a:spcAft>
                <a:spcPct val="0"/>
              </a:spcAft>
              <a:buClr>
                <a:srgbClr val="FF3300"/>
              </a:buClr>
              <a:buSzPct val="125000"/>
              <a:buFont typeface="Times New Roman" panose="02020603050405020304" pitchFamily="18" charset="0"/>
              <a:buChar char="♠"/>
              <a:defRPr/>
            </a:pPr>
            <a:r>
              <a:rPr kumimoji="1" lang="zh-CN" altLang="en-US"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数据库技术（结构化数据）是大数据相关技术的一项基础技术</a:t>
            </a:r>
            <a:endPar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30000"/>
              </a:lnSpc>
              <a:spcBef>
                <a:spcPct val="20000"/>
              </a:spcBef>
              <a:spcAft>
                <a:spcPct val="0"/>
              </a:spcAft>
              <a:buClr>
                <a:srgbClr val="FF3300"/>
              </a:buClr>
              <a:buSzPct val="125000"/>
              <a:buFont typeface="Times New Roman" panose="02020603050405020304" pitchFamily="18" charset="0"/>
              <a:buChar char="♠"/>
              <a:defRPr/>
            </a:pPr>
            <a:r>
              <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20%</a:t>
            </a:r>
            <a:r>
              <a:rPr kumimoji="1" lang="zh-CN" altLang="en-US"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左右的结构化数据质量普遍偏高，数量增加也很快</a:t>
            </a:r>
            <a:endPar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30000"/>
              </a:lnSpc>
              <a:spcBef>
                <a:spcPct val="20000"/>
              </a:spcBef>
              <a:spcAft>
                <a:spcPct val="0"/>
              </a:spcAft>
              <a:buClr>
                <a:srgbClr val="FF3300"/>
              </a:buClr>
              <a:buSzPct val="125000"/>
              <a:buFont typeface="Times New Roman" panose="02020603050405020304" pitchFamily="18" charset="0"/>
              <a:buChar char="♠"/>
              <a:defRPr/>
            </a:pPr>
            <a:r>
              <a:rPr kumimoji="1" lang="zh-CN" altLang="en-US"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结构化数据管理有自身的特色技术</a:t>
            </a:r>
            <a:r>
              <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a:t>
            </a:r>
            <a:r>
              <a:rPr kumimoji="1" lang="zh-CN" altLang="en-US"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描述性查询、查询优化、事务等</a:t>
            </a:r>
            <a:r>
              <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a:t>
            </a:r>
          </a:p>
          <a:p>
            <a:pPr marL="342900" marR="0" lvl="0" indent="-342900" algn="l" defTabSz="914400" rtl="0" eaLnBrk="0" fontAlgn="base" latinLnBrk="0" hangingPunct="0">
              <a:lnSpc>
                <a:spcPct val="130000"/>
              </a:lnSpc>
              <a:spcBef>
                <a:spcPct val="20000"/>
              </a:spcBef>
              <a:spcAft>
                <a:spcPct val="0"/>
              </a:spcAft>
              <a:buClr>
                <a:srgbClr val="FF3300"/>
              </a:buClr>
              <a:buSzPct val="125000"/>
              <a:buFont typeface="Times New Roman" panose="02020603050405020304" pitchFamily="18" charset="0"/>
              <a:buChar char="♠"/>
              <a:defRPr/>
            </a:pPr>
            <a:r>
              <a:rPr kumimoji="1" lang="zh-CN" altLang="en-US"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结构化数据管理和非结构化数据管理技术互为补充</a:t>
            </a:r>
          </a:p>
        </p:txBody>
      </p:sp>
      <p:sp>
        <p:nvSpPr>
          <p:cNvPr id="22532" name="Text Box 145"/>
          <p:cNvSpPr txBox="1"/>
          <p:nvPr/>
        </p:nvSpPr>
        <p:spPr>
          <a:xfrm>
            <a:off x="5326063" y="3444875"/>
            <a:ext cx="2736850" cy="307975"/>
          </a:xfrm>
          <a:prstGeom prst="rect">
            <a:avLst/>
          </a:prstGeom>
          <a:noFill/>
          <a:ln w="25400">
            <a:noFill/>
          </a:ln>
        </p:spPr>
        <p:txBody>
          <a:bodyPr lIns="0" tIns="0" rIns="0" bIns="0">
            <a:spAutoFit/>
          </a:bodyPr>
          <a:lstStyle>
            <a:lvl1pPr marL="342900" indent="-342900" algn="l" rtl="0" eaLnBrk="0" fontAlgn="base" hangingPunct="0">
              <a:lnSpc>
                <a:spcPct val="130000"/>
              </a:lnSpc>
              <a:spcBef>
                <a:spcPct val="20000"/>
              </a:spcBef>
              <a:spcAft>
                <a:spcPct val="0"/>
              </a:spcAft>
              <a:buClr>
                <a:srgbClr val="FF3300"/>
              </a:buClr>
              <a:buSzPct val="125000"/>
              <a:buFont typeface="Times New Roman" panose="02020603050405020304" pitchFamily="18" charset="0"/>
              <a:buChar char="♠"/>
              <a:defRPr kumimoji="1" sz="3000" b="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lr>
                <a:schemeClr val="accent2"/>
              </a:buClr>
              <a:buFont typeface="Times New Roman" panose="02020603050405020304" pitchFamily="18" charset="0"/>
              <a:buChar char="♣"/>
              <a:defRPr kumimoji="1" sz="2800">
                <a:solidFill>
                  <a:schemeClr val="tx1"/>
                </a:solidFill>
                <a:latin typeface="+mn-lt"/>
                <a:ea typeface="+mj-ea"/>
                <a:cs typeface="楷体_GB2312" panose="02010609030101010101" charset="-122"/>
              </a:defRPr>
            </a:lvl2pPr>
            <a:lvl3pPr marL="1143000" indent="-228600" algn="l" rtl="0" eaLnBrk="0" fontAlgn="base" hangingPunct="0">
              <a:lnSpc>
                <a:spcPct val="130000"/>
              </a:lnSpc>
              <a:spcBef>
                <a:spcPct val="20000"/>
              </a:spcBef>
              <a:spcAft>
                <a:spcPct val="0"/>
              </a:spcAft>
              <a:buClr>
                <a:srgbClr val="D60093"/>
              </a:buClr>
              <a:buFont typeface="Times New Roman" panose="02020603050405020304" pitchFamily="18" charset="0"/>
              <a:buChar char="♦"/>
              <a:defRPr kumimoji="1" sz="2600">
                <a:solidFill>
                  <a:schemeClr val="tx1"/>
                </a:solidFill>
                <a:latin typeface="+mn-lt"/>
                <a:ea typeface="+mj-ea"/>
                <a:cs typeface="楷体_GB2312" panose="02010609030101010101" charset="-122"/>
              </a:defRPr>
            </a:lvl3pPr>
            <a:lvl4pPr marL="16002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4pPr>
            <a:lvl5pPr marL="20574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5pPr>
          </a:lstStyle>
          <a:p>
            <a:pPr marL="0" lvl="0" indent="0" algn="ctr" defTabSz="803275" eaLnBrk="1" hangingPunct="1">
              <a:lnSpc>
                <a:spcPct val="100000"/>
              </a:lnSpc>
              <a:spcBef>
                <a:spcPct val="50000"/>
              </a:spcBef>
              <a:spcAft>
                <a:spcPct val="15000"/>
              </a:spcAft>
              <a:buClrTx/>
              <a:buSzTx/>
              <a:buFontTx/>
              <a:buNone/>
            </a:pPr>
            <a:r>
              <a:rPr lang="en-US" altLang="zh-CN" sz="2000" b="1" dirty="0">
                <a:solidFill>
                  <a:srgbClr val="FF0000"/>
                </a:solidFill>
                <a:latin typeface="黑体" panose="02010609060101010101" pitchFamily="49" charset="-122"/>
                <a:cs typeface="Arial" panose="020B0604020202020204" pitchFamily="34" charset="0"/>
              </a:rPr>
              <a:t>80%</a:t>
            </a:r>
            <a:r>
              <a:rPr lang="zh-CN" altLang="en-US" sz="2000" b="1" dirty="0">
                <a:solidFill>
                  <a:srgbClr val="FF0000"/>
                </a:solidFill>
                <a:latin typeface="黑体" panose="02010609060101010101" pitchFamily="49" charset="-122"/>
                <a:cs typeface="Arial" panose="020B0604020202020204" pitchFamily="34" charset="0"/>
              </a:rPr>
              <a:t>以上</a:t>
            </a:r>
            <a:r>
              <a:rPr lang="zh-CN" altLang="en-US" sz="2000" b="1" dirty="0">
                <a:solidFill>
                  <a:srgbClr val="002060"/>
                </a:solidFill>
                <a:latin typeface="黑体" panose="02010609060101010101" pitchFamily="49" charset="-122"/>
                <a:cs typeface="Arial" panose="020B0604020202020204" pitchFamily="34" charset="0"/>
              </a:rPr>
              <a:t>为非结构化数据</a:t>
            </a:r>
            <a:endParaRPr lang="zh-CN" altLang="en-US" sz="2000" b="1" dirty="0">
              <a:solidFill>
                <a:srgbClr val="002060"/>
              </a:solidFill>
              <a:latin typeface="黑体" panose="02010609060101010101" pitchFamily="49" charset="-122"/>
              <a:ea typeface="Arial" panose="020B0604020202020204" pitchFamily="34" charset="0"/>
            </a:endParaRPr>
          </a:p>
        </p:txBody>
      </p:sp>
      <p:pic>
        <p:nvPicPr>
          <p:cNvPr id="22533" name="Picture 15" descr="http://www.inventionmachine.com/Portals/56687/images/Unstructured%20Text.jpg"/>
          <p:cNvPicPr>
            <a:picLocks noChangeAspect="1"/>
          </p:cNvPicPr>
          <p:nvPr/>
        </p:nvPicPr>
        <p:blipFill>
          <a:blip r:embed="rId2"/>
          <a:stretch>
            <a:fillRect/>
          </a:stretch>
        </p:blipFill>
        <p:spPr>
          <a:xfrm>
            <a:off x="4330700" y="1484313"/>
            <a:ext cx="4727575" cy="1584325"/>
          </a:xfrm>
          <a:prstGeom prst="rect">
            <a:avLst/>
          </a:prstGeom>
          <a:noFill/>
          <a:ln w="9525">
            <a:noFill/>
          </a:ln>
        </p:spPr>
      </p:pic>
      <p:sp>
        <p:nvSpPr>
          <p:cNvPr id="22534" name="Text Box 145"/>
          <p:cNvSpPr txBox="1"/>
          <p:nvPr/>
        </p:nvSpPr>
        <p:spPr>
          <a:xfrm>
            <a:off x="261938" y="3360738"/>
            <a:ext cx="4464050" cy="615950"/>
          </a:xfrm>
          <a:prstGeom prst="rect">
            <a:avLst/>
          </a:prstGeom>
          <a:noFill/>
          <a:ln w="25400">
            <a:noFill/>
          </a:ln>
        </p:spPr>
        <p:txBody>
          <a:bodyPr lIns="0" tIns="0" rIns="0" bIns="0">
            <a:spAutoFit/>
          </a:bodyPr>
          <a:lstStyle>
            <a:lvl1pPr marL="342900" indent="-342900" algn="l" rtl="0" eaLnBrk="0" fontAlgn="base" hangingPunct="0">
              <a:lnSpc>
                <a:spcPct val="130000"/>
              </a:lnSpc>
              <a:spcBef>
                <a:spcPct val="20000"/>
              </a:spcBef>
              <a:spcAft>
                <a:spcPct val="0"/>
              </a:spcAft>
              <a:buClr>
                <a:srgbClr val="FF3300"/>
              </a:buClr>
              <a:buSzPct val="125000"/>
              <a:buFont typeface="Times New Roman" panose="02020603050405020304" pitchFamily="18" charset="0"/>
              <a:buChar char="♠"/>
              <a:defRPr kumimoji="1" sz="3000" b="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lr>
                <a:schemeClr val="accent2"/>
              </a:buClr>
              <a:buFont typeface="Times New Roman" panose="02020603050405020304" pitchFamily="18" charset="0"/>
              <a:buChar char="♣"/>
              <a:defRPr kumimoji="1" sz="2800">
                <a:solidFill>
                  <a:schemeClr val="tx1"/>
                </a:solidFill>
                <a:latin typeface="+mn-lt"/>
                <a:ea typeface="+mj-ea"/>
                <a:cs typeface="楷体_GB2312" panose="02010609030101010101" charset="-122"/>
              </a:defRPr>
            </a:lvl2pPr>
            <a:lvl3pPr marL="1143000" indent="-228600" algn="l" rtl="0" eaLnBrk="0" fontAlgn="base" hangingPunct="0">
              <a:lnSpc>
                <a:spcPct val="130000"/>
              </a:lnSpc>
              <a:spcBef>
                <a:spcPct val="20000"/>
              </a:spcBef>
              <a:spcAft>
                <a:spcPct val="0"/>
              </a:spcAft>
              <a:buClr>
                <a:srgbClr val="D60093"/>
              </a:buClr>
              <a:buFont typeface="Times New Roman" panose="02020603050405020304" pitchFamily="18" charset="0"/>
              <a:buChar char="♦"/>
              <a:defRPr kumimoji="1" sz="2600">
                <a:solidFill>
                  <a:schemeClr val="tx1"/>
                </a:solidFill>
                <a:latin typeface="+mn-lt"/>
                <a:ea typeface="+mj-ea"/>
                <a:cs typeface="楷体_GB2312" panose="02010609030101010101" charset="-122"/>
              </a:defRPr>
            </a:lvl3pPr>
            <a:lvl4pPr marL="16002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4pPr>
            <a:lvl5pPr marL="20574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5pPr>
          </a:lstStyle>
          <a:p>
            <a:pPr marL="0" lvl="0" indent="0" defTabSz="803275" eaLnBrk="1" hangingPunct="1">
              <a:lnSpc>
                <a:spcPct val="100000"/>
              </a:lnSpc>
              <a:spcBef>
                <a:spcPct val="50000"/>
              </a:spcBef>
              <a:spcAft>
                <a:spcPct val="15000"/>
              </a:spcAft>
              <a:buClrTx/>
              <a:buSzTx/>
              <a:buFontTx/>
              <a:buNone/>
            </a:pPr>
            <a:r>
              <a:rPr lang="en-US" altLang="zh-CN" sz="2000" b="1" dirty="0">
                <a:solidFill>
                  <a:srgbClr val="002060"/>
                </a:solidFill>
                <a:latin typeface="黑体" panose="02010609060101010101" pitchFamily="49" charset="-122"/>
                <a:cs typeface="Arial" panose="020B0604020202020204" pitchFamily="34" charset="0"/>
              </a:rPr>
              <a:t>IDC</a:t>
            </a:r>
            <a:r>
              <a:rPr lang="zh-CN" altLang="en-US" sz="2000" b="1" dirty="0">
                <a:solidFill>
                  <a:srgbClr val="002060"/>
                </a:solidFill>
                <a:latin typeface="黑体" panose="02010609060101010101" pitchFamily="49" charset="-122"/>
                <a:cs typeface="Arial" panose="020B0604020202020204" pitchFamily="34" charset="0"/>
              </a:rPr>
              <a:t>报告表明，以</a:t>
            </a:r>
            <a:r>
              <a:rPr lang="en-US" altLang="zh-CN" sz="2000" b="1" dirty="0">
                <a:solidFill>
                  <a:srgbClr val="002060"/>
                </a:solidFill>
                <a:latin typeface="黑体" panose="02010609060101010101" pitchFamily="49" charset="-122"/>
                <a:cs typeface="Arial" panose="020B0604020202020204" pitchFamily="34" charset="0"/>
              </a:rPr>
              <a:t>2010</a:t>
            </a:r>
            <a:r>
              <a:rPr lang="zh-CN" altLang="en-US" sz="2000" b="1" dirty="0">
                <a:solidFill>
                  <a:srgbClr val="002060"/>
                </a:solidFill>
                <a:latin typeface="黑体" panose="02010609060101010101" pitchFamily="49" charset="-122"/>
                <a:cs typeface="Arial" panose="020B0604020202020204" pitchFamily="34" charset="0"/>
              </a:rPr>
              <a:t>数据为基准，</a:t>
            </a:r>
            <a:r>
              <a:rPr lang="en-US" altLang="zh-CN" sz="2000" b="1" dirty="0">
                <a:solidFill>
                  <a:srgbClr val="002060"/>
                </a:solidFill>
                <a:latin typeface="黑体" panose="02010609060101010101" pitchFamily="49" charset="-122"/>
                <a:cs typeface="Arial" panose="020B0604020202020204" pitchFamily="34" charset="0"/>
              </a:rPr>
              <a:t>2025</a:t>
            </a:r>
            <a:r>
              <a:rPr lang="zh-CN" altLang="en-US" sz="2000" b="1" dirty="0">
                <a:solidFill>
                  <a:srgbClr val="002060"/>
                </a:solidFill>
                <a:latin typeface="黑体" panose="02010609060101010101" pitchFamily="49" charset="-122"/>
                <a:cs typeface="Arial" panose="020B0604020202020204" pitchFamily="34" charset="0"/>
              </a:rPr>
              <a:t>年数据将增长</a:t>
            </a:r>
            <a:r>
              <a:rPr lang="en-US" altLang="zh-CN" sz="2000" b="1" dirty="0">
                <a:solidFill>
                  <a:srgbClr val="FF0000"/>
                </a:solidFill>
                <a:latin typeface="黑体" panose="02010609060101010101" pitchFamily="49" charset="-122"/>
                <a:cs typeface="Arial" panose="020B0604020202020204" pitchFamily="34" charset="0"/>
              </a:rPr>
              <a:t>10</a:t>
            </a:r>
            <a:r>
              <a:rPr lang="zh-CN" altLang="en-US" sz="2000" b="1" dirty="0">
                <a:solidFill>
                  <a:srgbClr val="002060"/>
                </a:solidFill>
                <a:latin typeface="黑体" panose="02010609060101010101" pitchFamily="49" charset="-122"/>
                <a:cs typeface="Arial" panose="020B0604020202020204" pitchFamily="34" charset="0"/>
              </a:rPr>
              <a:t>倍</a:t>
            </a:r>
            <a:endParaRPr lang="zh-CN" altLang="en-US" sz="2000" b="1" dirty="0">
              <a:solidFill>
                <a:srgbClr val="002060"/>
              </a:solidFill>
              <a:latin typeface="黑体" panose="02010609060101010101" pitchFamily="49" charset="-122"/>
              <a:ea typeface="Arial" panose="020B0604020202020204" pitchFamily="34" charset="0"/>
            </a:endParaRPr>
          </a:p>
        </p:txBody>
      </p:sp>
      <p:pic>
        <p:nvPicPr>
          <p:cNvPr id="22535" name="图片 1"/>
          <p:cNvPicPr>
            <a:picLocks noChangeAspect="1"/>
          </p:cNvPicPr>
          <p:nvPr/>
        </p:nvPicPr>
        <p:blipFill>
          <a:blip r:embed="rId3"/>
          <a:stretch>
            <a:fillRect/>
          </a:stretch>
        </p:blipFill>
        <p:spPr>
          <a:xfrm>
            <a:off x="0" y="1484313"/>
            <a:ext cx="4140200" cy="1787525"/>
          </a:xfrm>
          <a:prstGeom prst="rect">
            <a:avLst/>
          </a:prstGeom>
          <a:noFill/>
          <a:ln w="9525">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数据库系统面对的深度分析需求</a:t>
            </a:r>
          </a:p>
        </p:txBody>
      </p:sp>
      <p:sp>
        <p:nvSpPr>
          <p:cNvPr id="23555" name="内容占位符 2"/>
          <p:cNvSpPr>
            <a:spLocks noGrp="1"/>
          </p:cNvSpPr>
          <p:nvPr>
            <p:ph idx="1"/>
          </p:nvPr>
        </p:nvSpPr>
        <p:spPr>
          <a:xfrm>
            <a:off x="193752" y="1093787"/>
            <a:ext cx="8718822" cy="5169619"/>
          </a:xfrm>
        </p:spPr>
        <p:txBody>
          <a:bodyPr vert="horz" wrap="square" lIns="91440" tIns="45720" rIns="91440" bIns="45720" anchor="t"/>
          <a:lstStyle/>
          <a:p>
            <a:pPr>
              <a:buSzPct val="125000"/>
            </a:pPr>
            <a:r>
              <a:rPr lang="zh-CN" altLang="en-US"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云数据库和分布式数据库</a:t>
            </a:r>
            <a:endParaRPr lang="en-US" altLang="zh-CN"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endParaRPr>
          </a:p>
          <a:p>
            <a:pPr lvl="1"/>
            <a:r>
              <a:rPr lang="zh-CN" altLang="en-US" sz="2400" dirty="0">
                <a:latin typeface="Arial" panose="020B0604020202020204" pitchFamily="34" charset="0"/>
                <a:ea typeface="宋体" panose="02010600030101010101" pitchFamily="2" charset="-122"/>
                <a:cs typeface="Arial" panose="020B0604020202020204" pitchFamily="34" charset="0"/>
              </a:rPr>
              <a:t>强大计算存储能力、数据备份、伸缩性</a:t>
            </a:r>
            <a:endParaRPr lang="en-US" altLang="zh-CN" sz="2400" dirty="0">
              <a:latin typeface="Arial" panose="020B0604020202020204" pitchFamily="34" charset="0"/>
              <a:ea typeface="宋体" panose="02010600030101010101" pitchFamily="2" charset="-122"/>
              <a:cs typeface="Arial" panose="020B0604020202020204" pitchFamily="34" charset="0"/>
            </a:endParaRPr>
          </a:p>
          <a:p>
            <a:pPr>
              <a:buSzPct val="125000"/>
            </a:pPr>
            <a:r>
              <a:rPr lang="zh-CN" altLang="en-US"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数据库系统</a:t>
            </a:r>
            <a:endParaRPr lang="en-US" altLang="zh-CN"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endParaRPr>
          </a:p>
          <a:p>
            <a:pPr lvl="1"/>
            <a:r>
              <a:rPr lang="en-US" altLang="zh-CN" sz="2400" b="1"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楷体_GB2312" panose="02010609030101010101" charset="-122"/>
              </a:rPr>
              <a:t>AI4DB</a:t>
            </a:r>
            <a:r>
              <a:rPr lang="zh-CN" altLang="en-US" sz="2400" b="1"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楷体_GB2312" panose="02010609030101010101" charset="-122"/>
              </a:rPr>
              <a:t>：索引、查询优化、语言接口</a:t>
            </a:r>
            <a:r>
              <a:rPr lang="en-US" altLang="zh-CN" sz="2400" b="1"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楷体_GB2312" panose="02010609030101010101" charset="-122"/>
              </a:rPr>
              <a:t>….</a:t>
            </a:r>
          </a:p>
          <a:p>
            <a:pPr lvl="1"/>
            <a:r>
              <a:rPr lang="en-US" altLang="zh-CN" sz="2400" dirty="0">
                <a:latin typeface="微软雅黑" panose="020B0503020204020204" charset="-122"/>
                <a:ea typeface="微软雅黑" panose="020B0503020204020204" charset="-122"/>
                <a:cs typeface="楷体_GB2312" panose="02010609030101010101" charset="-122"/>
              </a:rPr>
              <a:t>DB4AI</a:t>
            </a:r>
            <a:r>
              <a:rPr lang="zh-CN" altLang="en-US" sz="2400" dirty="0">
                <a:latin typeface="微软雅黑" panose="020B0503020204020204" charset="-122"/>
                <a:ea typeface="微软雅黑" panose="020B0503020204020204" charset="-122"/>
                <a:cs typeface="楷体_GB2312" panose="02010609030101010101" charset="-122"/>
              </a:rPr>
              <a:t>：语言的设计、计算效率的提升</a:t>
            </a:r>
            <a:r>
              <a:rPr lang="en-US" altLang="zh-CN" sz="2400" dirty="0">
                <a:latin typeface="微软雅黑" panose="020B0503020204020204" charset="-122"/>
                <a:ea typeface="微软雅黑" panose="020B0503020204020204" charset="-122"/>
                <a:cs typeface="楷体_GB2312" panose="02010609030101010101" charset="-122"/>
              </a:rPr>
              <a:t>….</a:t>
            </a:r>
          </a:p>
          <a:p>
            <a:pPr marL="342900" lvl="2" indent="-342900">
              <a:buClr>
                <a:srgbClr val="002060"/>
              </a:buClr>
              <a:buSzPct val="125000"/>
            </a:pPr>
            <a:r>
              <a:rPr lang="zh-CN" altLang="en-US"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内存数据库和其他硬件的变化</a:t>
            </a:r>
            <a:endParaRPr lang="en-US" altLang="zh-CN"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endParaRPr>
          </a:p>
          <a:p>
            <a:pPr lvl="1"/>
            <a:r>
              <a:rPr lang="zh-CN" altLang="en-US" sz="2400" dirty="0">
                <a:latin typeface="Arial" panose="020B0604020202020204" pitchFamily="34" charset="0"/>
                <a:ea typeface="宋体" panose="02010600030101010101" pitchFamily="2" charset="-122"/>
                <a:cs typeface="Arial" panose="020B0604020202020204" pitchFamily="34" charset="0"/>
              </a:rPr>
              <a:t>底层硬件的变化导致上层的代码和框架的变化</a:t>
            </a:r>
            <a:endParaRPr kumimoji="1" lang="en-US" altLang="zh-CN" sz="2400" dirty="0">
              <a:latin typeface="微软雅黑" panose="020B0503020204020204" charset="-122"/>
              <a:ea typeface="微软雅黑" panose="020B0503020204020204" charset="-122"/>
              <a:cs typeface="楷体_GB2312" panose="02010609030101010101" charset="-122"/>
            </a:endParaRPr>
          </a:p>
          <a:p>
            <a:pPr>
              <a:buSzPct val="125000"/>
            </a:pPr>
            <a:r>
              <a:rPr lang="zh-CN" altLang="en-US"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数据分析应用层面</a:t>
            </a:r>
            <a:endParaRPr lang="en-US" altLang="zh-CN"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endParaRPr>
          </a:p>
          <a:p>
            <a:pPr lvl="1"/>
            <a:r>
              <a:rPr kumimoji="1" lang="en-US" altLang="zh-CN" sz="2400" dirty="0">
                <a:latin typeface="微软雅黑" panose="020B0503020204020204" charset="-122"/>
                <a:ea typeface="微软雅黑" panose="020B0503020204020204" charset="-122"/>
                <a:cs typeface="楷体_GB2312" panose="02010609030101010101" charset="-122"/>
              </a:rPr>
              <a:t>20%</a:t>
            </a:r>
            <a:r>
              <a:rPr kumimoji="1" lang="zh-CN" altLang="en-US" sz="2400" dirty="0">
                <a:latin typeface="微软雅黑" panose="020B0503020204020204" charset="-122"/>
                <a:ea typeface="微软雅黑" panose="020B0503020204020204" charset="-122"/>
                <a:cs typeface="楷体_GB2312" panose="02010609030101010101" charset="-122"/>
              </a:rPr>
              <a:t>要挖掘的数据是结构化数据，价值很高</a:t>
            </a:r>
            <a:endParaRPr kumimoji="1" lang="en-US" altLang="zh-CN" sz="2400" dirty="0">
              <a:latin typeface="微软雅黑" panose="020B0503020204020204" charset="-122"/>
              <a:ea typeface="微软雅黑" panose="020B0503020204020204" charset="-122"/>
              <a:cs typeface="楷体_GB2312" panose="02010609030101010101" charset="-122"/>
            </a:endParaRPr>
          </a:p>
          <a:p>
            <a:pPr lvl="1"/>
            <a:r>
              <a:rPr kumimoji="1" lang="zh-CN" altLang="en-US" sz="2400" dirty="0">
                <a:latin typeface="微软雅黑" panose="020B0503020204020204" charset="-122"/>
                <a:ea typeface="微软雅黑" panose="020B0503020204020204" charset="-122"/>
                <a:cs typeface="楷体_GB2312" panose="02010609030101010101" charset="-122"/>
              </a:rPr>
              <a:t>需要基于数据库查询进行管理</a:t>
            </a:r>
          </a:p>
          <a:p>
            <a:pPr>
              <a:buSzPct val="125000"/>
            </a:pPr>
            <a:endParaRPr kumimoji="1" lang="zh-CN" altLang="en-US" dirty="0">
              <a:latin typeface="微软雅黑" panose="020B0503020204020204" charset="-122"/>
              <a:ea typeface="微软雅黑" panose="020B0503020204020204" charset="-122"/>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Shape6"/>
          <p:cNvSpPr/>
          <p:nvPr/>
        </p:nvSpPr>
        <p:spPr>
          <a:xfrm>
            <a:off x="278540" y="1649197"/>
            <a:ext cx="8586920" cy="3963287"/>
          </a:xfrm>
          <a:prstGeom prst="roundRect">
            <a:avLst>
              <a:gd name="adj" fmla="val 2991"/>
            </a:avLst>
          </a:prstGeom>
          <a:no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90" dirty="0">
              <a:latin typeface="OPPOSans M" panose="00020600040101010101" pitchFamily="18" charset="-122"/>
              <a:ea typeface="OPPOSans M" panose="00020600040101010101" pitchFamily="18" charset="-122"/>
            </a:endParaRPr>
          </a:p>
        </p:txBody>
      </p:sp>
      <p:sp>
        <p:nvSpPr>
          <p:cNvPr id="99" name="Shape9"/>
          <p:cNvSpPr/>
          <p:nvPr/>
        </p:nvSpPr>
        <p:spPr>
          <a:xfrm>
            <a:off x="387082" y="3961918"/>
            <a:ext cx="8329517" cy="35024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500" b="1" dirty="0">
              <a:latin typeface="OPPOSans M" panose="00020600040101010101" pitchFamily="18" charset="-122"/>
              <a:ea typeface="OPPOSans M" panose="00020600040101010101" pitchFamily="18" charset="-122"/>
            </a:endParaRPr>
          </a:p>
        </p:txBody>
      </p:sp>
      <p:sp>
        <p:nvSpPr>
          <p:cNvPr id="97" name="Shape9"/>
          <p:cNvSpPr/>
          <p:nvPr/>
        </p:nvSpPr>
        <p:spPr>
          <a:xfrm>
            <a:off x="387082" y="1692215"/>
            <a:ext cx="8329517" cy="35024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500" b="1" dirty="0">
              <a:latin typeface="OPPOSans M" panose="00020600040101010101" pitchFamily="18" charset="-122"/>
              <a:ea typeface="OPPOSans M" panose="00020600040101010101" pitchFamily="18" charset="-122"/>
            </a:endParaRPr>
          </a:p>
        </p:txBody>
      </p:sp>
      <p:sp>
        <p:nvSpPr>
          <p:cNvPr id="49" name="文本框 48"/>
          <p:cNvSpPr txBox="1"/>
          <p:nvPr/>
        </p:nvSpPr>
        <p:spPr>
          <a:xfrm>
            <a:off x="970152" y="3216529"/>
            <a:ext cx="1726756" cy="253916"/>
          </a:xfrm>
          <a:prstGeom prst="rect">
            <a:avLst/>
          </a:prstGeom>
          <a:noFill/>
        </p:spPr>
        <p:txBody>
          <a:bodyPr vert="horz" wrap="none" rtlCol="0">
            <a:spAutoFit/>
          </a:bodyPr>
          <a:lstStyle/>
          <a:p>
            <a:pPr algn="ctr" defTabSz="913765">
              <a:defRPr/>
            </a:pPr>
            <a:r>
              <a:rPr lang="en-US" altLang="zh-CN" sz="1050" i="1" dirty="0">
                <a:solidFill>
                  <a:prstClr val="black"/>
                </a:solidFill>
                <a:latin typeface="微软雅黑" panose="020B0503020204020204" charset="-122"/>
                <a:ea typeface="微软雅黑" panose="020B0503020204020204" charset="-122"/>
              </a:rPr>
              <a:t>“one-size-not-fits-all”</a:t>
            </a:r>
            <a:endParaRPr lang="zh-CN" altLang="en-US" sz="1050" i="1" dirty="0">
              <a:solidFill>
                <a:prstClr val="black"/>
              </a:solidFill>
              <a:latin typeface="微软雅黑" panose="020B0503020204020204" charset="-122"/>
              <a:ea typeface="微软雅黑" panose="020B0503020204020204" charset="-122"/>
            </a:endParaRPr>
          </a:p>
        </p:txBody>
      </p:sp>
      <p:grpSp>
        <p:nvGrpSpPr>
          <p:cNvPr id="59" name="组合 58"/>
          <p:cNvGrpSpPr/>
          <p:nvPr/>
        </p:nvGrpSpPr>
        <p:grpSpPr>
          <a:xfrm>
            <a:off x="3939445" y="2390095"/>
            <a:ext cx="1475913" cy="571864"/>
            <a:chOff x="2261078" y="3231814"/>
            <a:chExt cx="1603460" cy="813274"/>
          </a:xfrm>
        </p:grpSpPr>
        <p:grpSp>
          <p:nvGrpSpPr>
            <p:cNvPr id="60" name="Group 70"/>
            <p:cNvGrpSpPr/>
            <p:nvPr/>
          </p:nvGrpSpPr>
          <p:grpSpPr>
            <a:xfrm>
              <a:off x="2261078" y="3231814"/>
              <a:ext cx="461195" cy="809167"/>
              <a:chOff x="4081419" y="1668171"/>
              <a:chExt cx="1025306" cy="1269105"/>
            </a:xfrm>
          </p:grpSpPr>
          <p:pic>
            <p:nvPicPr>
              <p:cNvPr id="67" name="Picture 7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81419" y="1668171"/>
                <a:ext cx="1025306" cy="1136072"/>
              </a:xfrm>
              <a:prstGeom prst="rect">
                <a:avLst/>
              </a:prstGeom>
            </p:spPr>
          </p:pic>
          <p:sp>
            <p:nvSpPr>
              <p:cNvPr id="68" name="TextBox 82"/>
              <p:cNvSpPr txBox="1"/>
              <p:nvPr/>
            </p:nvSpPr>
            <p:spPr>
              <a:xfrm>
                <a:off x="4387562" y="2460873"/>
                <a:ext cx="446176" cy="476403"/>
              </a:xfrm>
              <a:prstGeom prst="rect">
                <a:avLst/>
              </a:prstGeom>
              <a:noFill/>
            </p:spPr>
            <p:txBody>
              <a:bodyPr wrap="none" rtlCol="1">
                <a:spAutoFit/>
              </a:bodyPr>
              <a:lstStyle/>
              <a:p>
                <a:pPr algn="ctr" defTabSz="685800" eaLnBrk="1" fontAlgn="auto" hangingPunct="1">
                  <a:spcBef>
                    <a:spcPts val="0"/>
                  </a:spcBef>
                  <a:spcAft>
                    <a:spcPts val="0"/>
                  </a:spcAft>
                  <a:defRPr/>
                </a:pPr>
                <a:endParaRPr lang="he-IL" sz="790" b="1" dirty="0">
                  <a:solidFill>
                    <a:srgbClr val="000000"/>
                  </a:solidFill>
                  <a:latin typeface="微软雅黑" panose="020B0503020204020204" charset="-122"/>
                  <a:ea typeface="微软雅黑" panose="020B0503020204020204" charset="-122"/>
                  <a:cs typeface="Arial" panose="020B0604020202020204" pitchFamily="34" charset="0"/>
                </a:endParaRPr>
              </a:p>
            </p:txBody>
          </p:sp>
        </p:grpSp>
        <p:grpSp>
          <p:nvGrpSpPr>
            <p:cNvPr id="61" name="Group 70"/>
            <p:cNvGrpSpPr/>
            <p:nvPr/>
          </p:nvGrpSpPr>
          <p:grpSpPr>
            <a:xfrm>
              <a:off x="2812955" y="3235918"/>
              <a:ext cx="461195" cy="809167"/>
              <a:chOff x="4081419" y="1668171"/>
              <a:chExt cx="1025306" cy="1269105"/>
            </a:xfrm>
          </p:grpSpPr>
          <p:pic>
            <p:nvPicPr>
              <p:cNvPr id="65" name="Picture 7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81419" y="1668171"/>
                <a:ext cx="1025306" cy="1136073"/>
              </a:xfrm>
              <a:prstGeom prst="rect">
                <a:avLst/>
              </a:prstGeom>
            </p:spPr>
          </p:pic>
          <p:sp>
            <p:nvSpPr>
              <p:cNvPr id="66" name="TextBox 82"/>
              <p:cNvSpPr txBox="1"/>
              <p:nvPr/>
            </p:nvSpPr>
            <p:spPr>
              <a:xfrm>
                <a:off x="4387562" y="2460873"/>
                <a:ext cx="446176" cy="476403"/>
              </a:xfrm>
              <a:prstGeom prst="rect">
                <a:avLst/>
              </a:prstGeom>
              <a:noFill/>
            </p:spPr>
            <p:txBody>
              <a:bodyPr wrap="none" rtlCol="1">
                <a:spAutoFit/>
              </a:bodyPr>
              <a:lstStyle/>
              <a:p>
                <a:pPr algn="ctr" defTabSz="685800" eaLnBrk="1" fontAlgn="auto" hangingPunct="1">
                  <a:spcBef>
                    <a:spcPts val="0"/>
                  </a:spcBef>
                  <a:spcAft>
                    <a:spcPts val="0"/>
                  </a:spcAft>
                  <a:defRPr/>
                </a:pPr>
                <a:endParaRPr lang="he-IL" sz="790" b="1" dirty="0">
                  <a:solidFill>
                    <a:srgbClr val="000000"/>
                  </a:solidFill>
                  <a:latin typeface="微软雅黑" panose="020B0503020204020204" charset="-122"/>
                  <a:ea typeface="微软雅黑" panose="020B0503020204020204" charset="-122"/>
                  <a:cs typeface="Arial" panose="020B0604020202020204" pitchFamily="34" charset="0"/>
                </a:endParaRPr>
              </a:p>
            </p:txBody>
          </p:sp>
        </p:grpSp>
        <p:grpSp>
          <p:nvGrpSpPr>
            <p:cNvPr id="62" name="Group 70"/>
            <p:cNvGrpSpPr/>
            <p:nvPr/>
          </p:nvGrpSpPr>
          <p:grpSpPr>
            <a:xfrm>
              <a:off x="3403343" y="3235919"/>
              <a:ext cx="461195" cy="809169"/>
              <a:chOff x="4081419" y="1668171"/>
              <a:chExt cx="1025306" cy="1269107"/>
            </a:xfrm>
          </p:grpSpPr>
          <p:pic>
            <p:nvPicPr>
              <p:cNvPr id="63" name="Picture 7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81419" y="1668171"/>
                <a:ext cx="1025306" cy="1136072"/>
              </a:xfrm>
              <a:prstGeom prst="rect">
                <a:avLst/>
              </a:prstGeom>
            </p:spPr>
          </p:pic>
          <p:sp>
            <p:nvSpPr>
              <p:cNvPr id="64" name="TextBox 82"/>
              <p:cNvSpPr txBox="1"/>
              <p:nvPr/>
            </p:nvSpPr>
            <p:spPr>
              <a:xfrm>
                <a:off x="4387562" y="2460875"/>
                <a:ext cx="446176" cy="476403"/>
              </a:xfrm>
              <a:prstGeom prst="rect">
                <a:avLst/>
              </a:prstGeom>
              <a:noFill/>
            </p:spPr>
            <p:txBody>
              <a:bodyPr wrap="none" rtlCol="1">
                <a:spAutoFit/>
              </a:bodyPr>
              <a:lstStyle/>
              <a:p>
                <a:pPr algn="ctr" defTabSz="685800" eaLnBrk="1" fontAlgn="auto" hangingPunct="1">
                  <a:spcBef>
                    <a:spcPts val="0"/>
                  </a:spcBef>
                  <a:spcAft>
                    <a:spcPts val="0"/>
                  </a:spcAft>
                  <a:defRPr/>
                </a:pPr>
                <a:endParaRPr lang="he-IL" sz="790" b="1" dirty="0">
                  <a:solidFill>
                    <a:srgbClr val="000000"/>
                  </a:solidFill>
                  <a:latin typeface="微软雅黑" panose="020B0503020204020204" charset="-122"/>
                  <a:ea typeface="微软雅黑" panose="020B0503020204020204" charset="-122"/>
                  <a:cs typeface="Arial" panose="020B0604020202020204" pitchFamily="34" charset="0"/>
                </a:endParaRPr>
              </a:p>
            </p:txBody>
          </p:sp>
        </p:grpSp>
      </p:grpSp>
      <p:sp>
        <p:nvSpPr>
          <p:cNvPr id="69" name="Content Placeholder 2"/>
          <p:cNvSpPr txBox="1"/>
          <p:nvPr/>
        </p:nvSpPr>
        <p:spPr>
          <a:xfrm>
            <a:off x="427400" y="1710680"/>
            <a:ext cx="5379735" cy="386868"/>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defTabSz="685800" fontAlgn="auto">
              <a:spcBef>
                <a:spcPts val="750"/>
              </a:spcBef>
              <a:spcAft>
                <a:spcPts val="0"/>
              </a:spcAft>
              <a:buFont typeface="Wingdings" panose="05000000000000000000" pitchFamily="2" charset="2"/>
              <a:buChar char="p"/>
              <a:defRPr/>
            </a:pPr>
            <a:r>
              <a:rPr lang="en-US" altLang="zh-CN" sz="1500" b="1" dirty="0">
                <a:solidFill>
                  <a:srgbClr val="6E1586"/>
                </a:solidFill>
                <a:latin typeface="微软雅黑" panose="020B0503020204020204" charset="-122"/>
                <a:ea typeface="微软雅黑" panose="020B0503020204020204" charset="-122"/>
                <a:cs typeface="Arial" panose="020B0604020202020204" pitchFamily="34" charset="0"/>
              </a:rPr>
              <a:t> </a:t>
            </a:r>
            <a:r>
              <a:rPr lang="zh-CN" altLang="en-US" sz="1500" b="1" dirty="0">
                <a:solidFill>
                  <a:srgbClr val="6E1586"/>
                </a:solidFill>
                <a:latin typeface="微软雅黑" panose="020B0503020204020204" charset="-122"/>
                <a:ea typeface="微软雅黑" panose="020B0503020204020204" charset="-122"/>
                <a:cs typeface="Arial" panose="020B0604020202020204" pitchFamily="34" charset="0"/>
              </a:rPr>
              <a:t>传统数据库上云，面临诸多挑战</a:t>
            </a:r>
            <a:endParaRPr lang="en-US" altLang="zh-CN" sz="1500" b="1" dirty="0">
              <a:solidFill>
                <a:srgbClr val="6E1586"/>
              </a:solidFill>
              <a:latin typeface="微软雅黑" panose="020B0503020204020204" charset="-122"/>
              <a:ea typeface="微软雅黑" panose="020B0503020204020204" charset="-122"/>
              <a:cs typeface="Arial" panose="020B0604020202020204" pitchFamily="34" charset="0"/>
            </a:endParaRPr>
          </a:p>
          <a:p>
            <a:pPr marL="171450" indent="-171450" defTabSz="685800" fontAlgn="auto">
              <a:spcBef>
                <a:spcPts val="750"/>
              </a:spcBef>
              <a:spcAft>
                <a:spcPts val="0"/>
              </a:spcAft>
              <a:buFont typeface="Wingdings" panose="05000000000000000000" pitchFamily="2" charset="2"/>
              <a:buChar char="p"/>
              <a:defRPr/>
            </a:pPr>
            <a:endParaRPr lang="en-US" altLang="zh-CN" sz="1500" b="1" dirty="0">
              <a:solidFill>
                <a:srgbClr val="6E1586"/>
              </a:solidFill>
              <a:latin typeface="微软雅黑" panose="020B0503020204020204" charset="-122"/>
              <a:ea typeface="微软雅黑" panose="020B0503020204020204" charset="-122"/>
              <a:cs typeface="Arial" panose="020B0604020202020204" pitchFamily="34" charset="0"/>
            </a:endParaRPr>
          </a:p>
        </p:txBody>
      </p:sp>
      <p:sp>
        <p:nvSpPr>
          <p:cNvPr id="70" name="Content Placeholder 2"/>
          <p:cNvSpPr txBox="1"/>
          <p:nvPr/>
        </p:nvSpPr>
        <p:spPr>
          <a:xfrm>
            <a:off x="427400" y="3993223"/>
            <a:ext cx="5379735" cy="364052"/>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defTabSz="685800" fontAlgn="auto">
              <a:spcBef>
                <a:spcPts val="750"/>
              </a:spcBef>
              <a:spcAft>
                <a:spcPts val="0"/>
              </a:spcAft>
              <a:buFont typeface="Wingdings" panose="05000000000000000000" pitchFamily="2" charset="2"/>
              <a:buChar char="p"/>
              <a:defRPr/>
            </a:pPr>
            <a:r>
              <a:rPr lang="en-US" altLang="zh-CN" sz="1500" b="1" dirty="0">
                <a:solidFill>
                  <a:srgbClr val="6E1586"/>
                </a:solidFill>
                <a:latin typeface="微软雅黑" panose="020B0503020204020204" charset="-122"/>
                <a:ea typeface="微软雅黑" panose="020B0503020204020204" charset="-122"/>
                <a:cs typeface="Arial" panose="020B0604020202020204" pitchFamily="34" charset="0"/>
              </a:rPr>
              <a:t> AI</a:t>
            </a:r>
            <a:r>
              <a:rPr lang="zh-CN" altLang="en-US" sz="1500" b="1" dirty="0">
                <a:solidFill>
                  <a:srgbClr val="6E1586"/>
                </a:solidFill>
                <a:latin typeface="微软雅黑" panose="020B0503020204020204" charset="-122"/>
                <a:ea typeface="微软雅黑" panose="020B0503020204020204" charset="-122"/>
                <a:cs typeface="Arial" panose="020B0604020202020204" pitchFamily="34" charset="0"/>
              </a:rPr>
              <a:t>在数据、算法、新硬件的驱动下取得突破进展</a:t>
            </a:r>
            <a:endParaRPr lang="en-US" altLang="zh-CN" sz="1500" b="1" dirty="0">
              <a:solidFill>
                <a:srgbClr val="6E1586"/>
              </a:solidFill>
              <a:latin typeface="微软雅黑" panose="020B0503020204020204" charset="-122"/>
              <a:ea typeface="微软雅黑" panose="020B0503020204020204" charset="-122"/>
              <a:cs typeface="Arial" panose="020B0604020202020204" pitchFamily="34" charset="0"/>
            </a:endParaRPr>
          </a:p>
        </p:txBody>
      </p:sp>
      <p:sp>
        <p:nvSpPr>
          <p:cNvPr id="71" name="文本框 70"/>
          <p:cNvSpPr txBox="1"/>
          <p:nvPr/>
        </p:nvSpPr>
        <p:spPr>
          <a:xfrm>
            <a:off x="1099549" y="5327580"/>
            <a:ext cx="1531188" cy="253916"/>
          </a:xfrm>
          <a:prstGeom prst="rect">
            <a:avLst/>
          </a:prstGeom>
          <a:noFill/>
        </p:spPr>
        <p:txBody>
          <a:bodyPr vert="horz" wrap="none" rtlCol="0">
            <a:spAutoFit/>
          </a:bodyPr>
          <a:lstStyle/>
          <a:p>
            <a:pPr algn="ctr" defTabSz="913765" eaLnBrk="1" fontAlgn="auto" hangingPunct="1">
              <a:spcBef>
                <a:spcPts val="0"/>
              </a:spcBef>
              <a:spcAft>
                <a:spcPts val="0"/>
              </a:spcAft>
              <a:defRPr/>
            </a:pPr>
            <a:r>
              <a:rPr lang="zh-CN" altLang="en-US" sz="1050" b="1" dirty="0">
                <a:solidFill>
                  <a:prstClr val="black"/>
                </a:solidFill>
                <a:latin typeface="微软雅黑" panose="020B0503020204020204" charset="-122"/>
                <a:ea typeface="微软雅黑" panose="020B0503020204020204" charset="-122"/>
              </a:rPr>
              <a:t>训练数据管理，提效率</a:t>
            </a:r>
          </a:p>
        </p:txBody>
      </p:sp>
      <p:sp>
        <p:nvSpPr>
          <p:cNvPr id="72" name="文本框 71"/>
          <p:cNvSpPr txBox="1"/>
          <p:nvPr/>
        </p:nvSpPr>
        <p:spPr>
          <a:xfrm>
            <a:off x="3777155" y="5327580"/>
            <a:ext cx="1800493" cy="253916"/>
          </a:xfrm>
          <a:prstGeom prst="rect">
            <a:avLst/>
          </a:prstGeom>
          <a:noFill/>
        </p:spPr>
        <p:txBody>
          <a:bodyPr vert="horz" wrap="none" rtlCol="0">
            <a:spAutoFit/>
          </a:bodyPr>
          <a:lstStyle/>
          <a:p>
            <a:pPr algn="ctr" defTabSz="913765" eaLnBrk="1" fontAlgn="auto" hangingPunct="1">
              <a:spcBef>
                <a:spcPts val="0"/>
              </a:spcBef>
              <a:spcAft>
                <a:spcPts val="0"/>
              </a:spcAft>
              <a:defRPr/>
            </a:pPr>
            <a:r>
              <a:rPr lang="zh-CN" altLang="en-US" sz="1050" b="1" dirty="0">
                <a:solidFill>
                  <a:prstClr val="black"/>
                </a:solidFill>
                <a:latin typeface="微软雅黑" panose="020B0503020204020204" charset="-122"/>
                <a:ea typeface="微软雅黑" panose="020B0503020204020204" charset="-122"/>
              </a:rPr>
              <a:t>多种机器学习算法，库原生</a:t>
            </a:r>
          </a:p>
        </p:txBody>
      </p:sp>
      <p:sp>
        <p:nvSpPr>
          <p:cNvPr id="73" name="文本框 72"/>
          <p:cNvSpPr txBox="1"/>
          <p:nvPr/>
        </p:nvSpPr>
        <p:spPr>
          <a:xfrm>
            <a:off x="6755816" y="5327580"/>
            <a:ext cx="1396536" cy="253916"/>
          </a:xfrm>
          <a:prstGeom prst="rect">
            <a:avLst/>
          </a:prstGeom>
          <a:noFill/>
        </p:spPr>
        <p:txBody>
          <a:bodyPr vert="horz" wrap="none" rtlCol="0">
            <a:spAutoFit/>
          </a:bodyPr>
          <a:lstStyle/>
          <a:p>
            <a:pPr algn="ctr" defTabSz="913765" eaLnBrk="1" fontAlgn="auto" hangingPunct="1">
              <a:spcBef>
                <a:spcPts val="0"/>
              </a:spcBef>
              <a:spcAft>
                <a:spcPts val="0"/>
              </a:spcAft>
              <a:defRPr/>
            </a:pPr>
            <a:r>
              <a:rPr lang="zh-CN" altLang="en-US" sz="1050" b="1" dirty="0">
                <a:solidFill>
                  <a:prstClr val="black"/>
                </a:solidFill>
                <a:latin typeface="微软雅黑" panose="020B0503020204020204" charset="-122"/>
                <a:ea typeface="微软雅黑" panose="020B0503020204020204" charset="-122"/>
              </a:rPr>
              <a:t>异构硬件，加速执行</a:t>
            </a:r>
          </a:p>
        </p:txBody>
      </p:sp>
      <p:sp>
        <p:nvSpPr>
          <p:cNvPr id="74" name="Rounded Rectangle 56"/>
          <p:cNvSpPr/>
          <p:nvPr/>
        </p:nvSpPr>
        <p:spPr bwMode="auto">
          <a:xfrm>
            <a:off x="798413" y="4462183"/>
            <a:ext cx="598314" cy="276515"/>
          </a:xfrm>
          <a:prstGeom prst="roundRect">
            <a:avLst>
              <a:gd name="adj" fmla="val 5791"/>
            </a:avLst>
          </a:prstGeom>
          <a:noFill/>
          <a:ln w="12700">
            <a:solidFill>
              <a:schemeClr val="tx1">
                <a:lumMod val="50000"/>
                <a:lumOff val="50000"/>
              </a:schemeClr>
            </a:solidFill>
            <a:prstDash val="dash"/>
          </a:ln>
          <a:effectLst/>
        </p:spPr>
        <p:txBody>
          <a:bodyPr vert="horz" wrap="square" lIns="68580" tIns="34290" rIns="68580" bIns="34290" numCol="1" rtlCol="0" anchor="ctr" anchorCtr="0" compatLnSpc="1"/>
          <a:lstStyle/>
          <a:p>
            <a:pPr algn="ctr" defTabSz="685800" eaLnBrk="1" hangingPunct="1">
              <a:buClr>
                <a:srgbClr val="CC9900"/>
              </a:buClr>
              <a:defRPr/>
            </a:pPr>
            <a:r>
              <a:rPr lang="en-US" altLang="zh-CN" sz="1050" b="1" dirty="0">
                <a:solidFill>
                  <a:srgbClr val="1D1D1A"/>
                </a:solidFill>
                <a:latin typeface="微软雅黑" panose="020B0503020204020204" charset="-122"/>
                <a:ea typeface="微软雅黑" panose="020B0503020204020204" charset="-122"/>
              </a:rPr>
              <a:t>TPCH</a:t>
            </a:r>
            <a:endParaRPr lang="en-US" sz="1050" b="1" dirty="0">
              <a:solidFill>
                <a:srgbClr val="1D1D1A"/>
              </a:solidFill>
              <a:latin typeface="微软雅黑" panose="020B0503020204020204" charset="-122"/>
              <a:ea typeface="微软雅黑" panose="020B0503020204020204" charset="-122"/>
            </a:endParaRPr>
          </a:p>
        </p:txBody>
      </p:sp>
      <p:sp>
        <p:nvSpPr>
          <p:cNvPr id="75" name="Rounded Rectangle 56"/>
          <p:cNvSpPr/>
          <p:nvPr/>
        </p:nvSpPr>
        <p:spPr bwMode="auto">
          <a:xfrm>
            <a:off x="1453641" y="4454725"/>
            <a:ext cx="668765" cy="276515"/>
          </a:xfrm>
          <a:prstGeom prst="roundRect">
            <a:avLst>
              <a:gd name="adj" fmla="val 5791"/>
            </a:avLst>
          </a:prstGeom>
          <a:noFill/>
          <a:ln w="12700">
            <a:solidFill>
              <a:schemeClr val="tx1">
                <a:lumMod val="50000"/>
                <a:lumOff val="50000"/>
              </a:schemeClr>
            </a:solidFill>
            <a:prstDash val="dash"/>
          </a:ln>
          <a:effectLst/>
        </p:spPr>
        <p:txBody>
          <a:bodyPr vert="horz" wrap="square" lIns="68580" tIns="34290" rIns="68580" bIns="34290" numCol="1" rtlCol="0" anchor="ctr" anchorCtr="0" compatLnSpc="1"/>
          <a:lstStyle/>
          <a:p>
            <a:pPr algn="ctr" defTabSz="685800" eaLnBrk="1" hangingPunct="1">
              <a:buClr>
                <a:srgbClr val="CC9900"/>
              </a:buClr>
              <a:defRPr/>
            </a:pPr>
            <a:r>
              <a:rPr lang="en-US" altLang="zh-CN" sz="1050" b="1" dirty="0">
                <a:solidFill>
                  <a:srgbClr val="1D1D1A"/>
                </a:solidFill>
                <a:latin typeface="微软雅黑" panose="020B0503020204020204" charset="-122"/>
                <a:ea typeface="微软雅黑" panose="020B0503020204020204" charset="-122"/>
              </a:rPr>
              <a:t>JOB</a:t>
            </a:r>
            <a:endParaRPr lang="en-US" sz="1050" b="1" dirty="0">
              <a:solidFill>
                <a:srgbClr val="1D1D1A"/>
              </a:solidFill>
              <a:latin typeface="微软雅黑" panose="020B0503020204020204" charset="-122"/>
              <a:ea typeface="微软雅黑" panose="020B0503020204020204" charset="-122"/>
            </a:endParaRPr>
          </a:p>
        </p:txBody>
      </p:sp>
      <p:sp>
        <p:nvSpPr>
          <p:cNvPr id="76" name="Rounded Rectangle 56"/>
          <p:cNvSpPr/>
          <p:nvPr/>
        </p:nvSpPr>
        <p:spPr bwMode="auto">
          <a:xfrm>
            <a:off x="2180803" y="4461604"/>
            <a:ext cx="668765" cy="276515"/>
          </a:xfrm>
          <a:prstGeom prst="roundRect">
            <a:avLst>
              <a:gd name="adj" fmla="val 5791"/>
            </a:avLst>
          </a:prstGeom>
          <a:noFill/>
          <a:ln w="12700">
            <a:solidFill>
              <a:schemeClr val="tx1">
                <a:lumMod val="50000"/>
                <a:lumOff val="50000"/>
              </a:schemeClr>
            </a:solidFill>
            <a:prstDash val="dash"/>
          </a:ln>
          <a:effectLst/>
        </p:spPr>
        <p:txBody>
          <a:bodyPr vert="horz" wrap="square" lIns="68580" tIns="34290" rIns="68580" bIns="34290" numCol="1" rtlCol="0" anchor="ctr" anchorCtr="0" compatLnSpc="1"/>
          <a:lstStyle/>
          <a:p>
            <a:pPr algn="ctr" defTabSz="685800" eaLnBrk="1" hangingPunct="1">
              <a:buClr>
                <a:srgbClr val="CC9900"/>
              </a:buClr>
              <a:defRPr/>
            </a:pPr>
            <a:r>
              <a:rPr lang="en-US" altLang="zh-CN" sz="1050" b="1" dirty="0">
                <a:solidFill>
                  <a:srgbClr val="1D1D1A"/>
                </a:solidFill>
                <a:latin typeface="微软雅黑" panose="020B0503020204020204" charset="-122"/>
                <a:ea typeface="微软雅黑" panose="020B0503020204020204" charset="-122"/>
              </a:rPr>
              <a:t>TPCDS</a:t>
            </a:r>
            <a:endParaRPr lang="en-US" sz="1050" b="1" dirty="0">
              <a:solidFill>
                <a:srgbClr val="1D1D1A"/>
              </a:solidFill>
              <a:latin typeface="微软雅黑" panose="020B0503020204020204" charset="-122"/>
              <a:ea typeface="微软雅黑" panose="020B0503020204020204" charset="-122"/>
            </a:endParaRPr>
          </a:p>
        </p:txBody>
      </p:sp>
      <p:sp>
        <p:nvSpPr>
          <p:cNvPr id="77" name="Rounded Rectangle 56"/>
          <p:cNvSpPr/>
          <p:nvPr/>
        </p:nvSpPr>
        <p:spPr bwMode="auto">
          <a:xfrm>
            <a:off x="798413" y="4885097"/>
            <a:ext cx="598314" cy="321590"/>
          </a:xfrm>
          <a:prstGeom prst="roundRect">
            <a:avLst>
              <a:gd name="adj" fmla="val 5791"/>
            </a:avLst>
          </a:prstGeom>
          <a:noFill/>
          <a:ln w="12700">
            <a:solidFill>
              <a:schemeClr val="tx1">
                <a:lumMod val="50000"/>
                <a:lumOff val="50000"/>
              </a:schemeClr>
            </a:solidFill>
            <a:prstDash val="dash"/>
          </a:ln>
          <a:effectLst/>
        </p:spPr>
        <p:txBody>
          <a:bodyPr vert="horz" wrap="square" lIns="68580" tIns="34290" rIns="68580" bIns="34290" numCol="1" rtlCol="0" anchor="ctr" anchorCtr="0" compatLnSpc="1"/>
          <a:lstStyle/>
          <a:p>
            <a:pPr algn="ctr" defTabSz="685800" eaLnBrk="1" hangingPunct="1">
              <a:buClr>
                <a:srgbClr val="CC9900"/>
              </a:buClr>
              <a:defRPr/>
            </a:pPr>
            <a:r>
              <a:rPr lang="en-US" altLang="zh-CN" sz="1050" b="1" dirty="0">
                <a:solidFill>
                  <a:srgbClr val="1D1D1A"/>
                </a:solidFill>
                <a:latin typeface="微软雅黑" panose="020B0503020204020204" charset="-122"/>
                <a:ea typeface="微软雅黑" panose="020B0503020204020204" charset="-122"/>
              </a:rPr>
              <a:t>TPCC</a:t>
            </a:r>
            <a:endParaRPr lang="en-US" sz="1050" b="1" dirty="0">
              <a:solidFill>
                <a:srgbClr val="1D1D1A"/>
              </a:solidFill>
              <a:latin typeface="微软雅黑" panose="020B0503020204020204" charset="-122"/>
              <a:ea typeface="微软雅黑" panose="020B0503020204020204" charset="-122"/>
            </a:endParaRPr>
          </a:p>
        </p:txBody>
      </p:sp>
      <p:sp>
        <p:nvSpPr>
          <p:cNvPr id="78" name="Rounded Rectangle 56"/>
          <p:cNvSpPr/>
          <p:nvPr/>
        </p:nvSpPr>
        <p:spPr bwMode="auto">
          <a:xfrm>
            <a:off x="1453641" y="4886682"/>
            <a:ext cx="668765" cy="321590"/>
          </a:xfrm>
          <a:prstGeom prst="roundRect">
            <a:avLst>
              <a:gd name="adj" fmla="val 5791"/>
            </a:avLst>
          </a:prstGeom>
          <a:noFill/>
          <a:ln w="12700">
            <a:solidFill>
              <a:schemeClr val="tx1">
                <a:lumMod val="50000"/>
                <a:lumOff val="50000"/>
              </a:schemeClr>
            </a:solidFill>
            <a:prstDash val="dash"/>
          </a:ln>
          <a:effectLst/>
        </p:spPr>
        <p:txBody>
          <a:bodyPr vert="horz" wrap="square" lIns="68580" tIns="34290" rIns="68580" bIns="34290" numCol="1" rtlCol="0" anchor="ctr" anchorCtr="0" compatLnSpc="1"/>
          <a:lstStyle/>
          <a:p>
            <a:pPr algn="ctr" defTabSz="685800" eaLnBrk="1" hangingPunct="1">
              <a:buClr>
                <a:srgbClr val="CC9900"/>
              </a:buClr>
              <a:defRPr/>
            </a:pPr>
            <a:endParaRPr lang="en-US" sz="1050" b="1" dirty="0">
              <a:solidFill>
                <a:srgbClr val="1D1D1A"/>
              </a:solidFill>
              <a:latin typeface="微软雅黑" panose="020B0503020204020204" charset="-122"/>
              <a:ea typeface="微软雅黑" panose="020B0503020204020204" charset="-122"/>
            </a:endParaRPr>
          </a:p>
        </p:txBody>
      </p:sp>
      <p:sp>
        <p:nvSpPr>
          <p:cNvPr id="79" name="Rounded Rectangle 56"/>
          <p:cNvSpPr/>
          <p:nvPr/>
        </p:nvSpPr>
        <p:spPr bwMode="auto">
          <a:xfrm>
            <a:off x="2180803" y="4893561"/>
            <a:ext cx="668765" cy="321590"/>
          </a:xfrm>
          <a:prstGeom prst="roundRect">
            <a:avLst>
              <a:gd name="adj" fmla="val 5791"/>
            </a:avLst>
          </a:prstGeom>
          <a:solidFill>
            <a:schemeClr val="bg1">
              <a:lumMod val="95000"/>
            </a:schemeClr>
          </a:solidFill>
          <a:ln w="12700">
            <a:solidFill>
              <a:schemeClr val="tx1">
                <a:lumMod val="50000"/>
                <a:lumOff val="50000"/>
              </a:schemeClr>
            </a:solidFill>
            <a:prstDash val="dash"/>
          </a:ln>
          <a:effectLst/>
        </p:spPr>
        <p:txBody>
          <a:bodyPr vert="horz" wrap="square" lIns="68580" tIns="34290" rIns="68580" bIns="34290" numCol="1" rtlCol="0" anchor="ctr" anchorCtr="0" compatLnSpc="1"/>
          <a:lstStyle/>
          <a:p>
            <a:pPr algn="ctr" defTabSz="685800" eaLnBrk="1" hangingPunct="1">
              <a:buClr>
                <a:srgbClr val="CC9900"/>
              </a:buClr>
              <a:defRPr/>
            </a:pPr>
            <a:endParaRPr lang="en-US" sz="1050" b="1" dirty="0">
              <a:solidFill>
                <a:srgbClr val="1D1D1A"/>
              </a:solidFill>
              <a:latin typeface="微软雅黑" panose="020B0503020204020204" charset="-122"/>
              <a:ea typeface="微软雅黑" panose="020B0503020204020204" charset="-122"/>
            </a:endParaRPr>
          </a:p>
        </p:txBody>
      </p:sp>
      <p:sp>
        <p:nvSpPr>
          <p:cNvPr id="80" name="矩形 79"/>
          <p:cNvSpPr/>
          <p:nvPr/>
        </p:nvSpPr>
        <p:spPr>
          <a:xfrm>
            <a:off x="1414808" y="4941017"/>
            <a:ext cx="748737" cy="230832"/>
          </a:xfrm>
          <a:prstGeom prst="rect">
            <a:avLst/>
          </a:prstGeom>
        </p:spPr>
        <p:txBody>
          <a:bodyPr wrap="square">
            <a:spAutoFit/>
          </a:bodyPr>
          <a:lstStyle/>
          <a:p>
            <a:pPr algn="ctr" defTabSz="685800" eaLnBrk="1" hangingPunct="1">
              <a:buClr>
                <a:srgbClr val="CC9900"/>
              </a:buClr>
              <a:defRPr/>
            </a:pPr>
            <a:r>
              <a:rPr lang="en-US" altLang="zh-CN" sz="900" b="1" dirty="0" err="1">
                <a:solidFill>
                  <a:srgbClr val="1D1D1A"/>
                </a:solidFill>
                <a:latin typeface="微软雅黑" panose="020B0503020204020204" charset="-122"/>
                <a:ea typeface="微软雅黑" panose="020B0503020204020204" charset="-122"/>
              </a:rPr>
              <a:t>Sysbench</a:t>
            </a:r>
            <a:endParaRPr lang="en-US" altLang="zh-CN" sz="900" b="1" dirty="0">
              <a:solidFill>
                <a:srgbClr val="1D1D1A"/>
              </a:solidFill>
              <a:latin typeface="微软雅黑" panose="020B0503020204020204" charset="-122"/>
              <a:ea typeface="微软雅黑" panose="020B0503020204020204" charset="-122"/>
            </a:endParaRPr>
          </a:p>
        </p:txBody>
      </p:sp>
      <p:sp>
        <p:nvSpPr>
          <p:cNvPr id="81" name="矩形 80"/>
          <p:cNvSpPr/>
          <p:nvPr/>
        </p:nvSpPr>
        <p:spPr>
          <a:xfrm>
            <a:off x="2117797" y="4939775"/>
            <a:ext cx="775904" cy="230832"/>
          </a:xfrm>
          <a:prstGeom prst="rect">
            <a:avLst/>
          </a:prstGeom>
        </p:spPr>
        <p:txBody>
          <a:bodyPr wrap="square">
            <a:spAutoFit/>
          </a:bodyPr>
          <a:lstStyle/>
          <a:p>
            <a:pPr algn="ctr" defTabSz="685800" eaLnBrk="1" hangingPunct="1">
              <a:buClr>
                <a:srgbClr val="CC9900"/>
              </a:buClr>
              <a:defRPr/>
            </a:pPr>
            <a:r>
              <a:rPr lang="en-US" altLang="zh-CN" sz="900" b="1" dirty="0" err="1">
                <a:solidFill>
                  <a:srgbClr val="1D1D1A"/>
                </a:solidFill>
                <a:latin typeface="微软雅黑" panose="020B0503020204020204" charset="-122"/>
                <a:ea typeface="微软雅黑" panose="020B0503020204020204" charset="-122"/>
              </a:rPr>
              <a:t>SQLSmith</a:t>
            </a:r>
            <a:endParaRPr lang="en-US" altLang="zh-CN" sz="900" b="1" dirty="0">
              <a:solidFill>
                <a:srgbClr val="1D1D1A"/>
              </a:solidFill>
              <a:latin typeface="微软雅黑" panose="020B0503020204020204" charset="-122"/>
              <a:ea typeface="微软雅黑" panose="020B0503020204020204" charset="-122"/>
            </a:endParaRPr>
          </a:p>
        </p:txBody>
      </p:sp>
      <p:pic>
        <p:nvPicPr>
          <p:cNvPr id="82" name="Picture 4" descr="Figure 1. Three broad categories of machine learning: unsupervised learning, supervised learning and reinforcement learni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74492" y="4350285"/>
            <a:ext cx="2005820" cy="1017884"/>
          </a:xfrm>
          <a:prstGeom prst="rect">
            <a:avLst/>
          </a:prstGeom>
          <a:noFill/>
        </p:spPr>
      </p:pic>
      <p:pic>
        <p:nvPicPr>
          <p:cNvPr id="83" name="图片 82" descr="CPU vs GPU: What Are the Differences?"/>
          <p:cNvPicPr>
            <a:picLocks noChangeAspect="1" noChangeArrowheads="1"/>
          </p:cNvPicPr>
          <p:nvPr/>
        </p:nvPicPr>
        <p:blipFill rotWithShape="1">
          <a:blip r:embed="rId5">
            <a:extLst>
              <a:ext uri="{BEBA8EAE-BF5A-486C-A8C5-ECC9F3942E4B}">
                <a14:imgProps xmlns:a14="http://schemas.microsoft.com/office/drawing/2010/main">
                  <a14:imgLayer r:embed="rId6">
                    <a14:imgEffect>
                      <a14:backgroundRemoval t="10000" b="90000" l="10000" r="90000">
                        <a14:foregroundMark x1="23569" y1="25821" x2="39057" y2="57768"/>
                        <a14:foregroundMark x1="20988" y1="50328" x2="35241" y2="57987"/>
                        <a14:foregroundMark x1="35241" y1="57987" x2="38047" y2="64333"/>
                        <a14:foregroundMark x1="38047" y1="64333" x2="38159" y2="64989"/>
                        <a14:foregroundMark x1="27497" y1="81400" x2="27497" y2="81400"/>
                        <a14:foregroundMark x1="27497" y1="81400" x2="27497" y2="81400"/>
                        <a14:foregroundMark x1="27048" y1="80744" x2="27048" y2="80744"/>
                        <a14:foregroundMark x1="56566" y1="30197" x2="73850" y2="49234"/>
                      </a14:backgroundRemoval>
                    </a14:imgEffect>
                  </a14:imgLayer>
                </a14:imgProps>
              </a:ext>
              <a:ext uri="{28A0092B-C50C-407E-A947-70E740481C1C}">
                <a14:useLocalDpi xmlns:a14="http://schemas.microsoft.com/office/drawing/2010/main" val="0"/>
              </a:ext>
            </a:extLst>
          </a:blip>
          <a:srcRect l="53363" t="16839" r="20982" b="30379"/>
          <a:stretch>
            <a:fillRect/>
          </a:stretch>
        </p:blipFill>
        <p:spPr bwMode="auto">
          <a:xfrm>
            <a:off x="7553374" y="4415158"/>
            <a:ext cx="811313" cy="856127"/>
          </a:xfrm>
          <a:prstGeom prst="rect">
            <a:avLst/>
          </a:prstGeom>
          <a:noFill/>
        </p:spPr>
      </p:pic>
      <p:pic>
        <p:nvPicPr>
          <p:cNvPr id="84" name="图片 83" descr="CPU vs GPU: What Are the Differences?"/>
          <p:cNvPicPr>
            <a:picLocks noChangeAspect="1" noChangeArrowheads="1"/>
          </p:cNvPicPr>
          <p:nvPr/>
        </p:nvPicPr>
        <p:blipFill rotWithShape="1">
          <a:blip r:embed="rId5">
            <a:extLst>
              <a:ext uri="{BEBA8EAE-BF5A-486C-A8C5-ECC9F3942E4B}">
                <a14:imgProps xmlns:a14="http://schemas.microsoft.com/office/drawing/2010/main">
                  <a14:imgLayer r:embed="rId6">
                    <a14:imgEffect>
                      <a14:backgroundRemoval t="10000" b="90000" l="10000" r="90000">
                        <a14:foregroundMark x1="23569" y1="25821" x2="39057" y2="57768"/>
                        <a14:foregroundMark x1="20988" y1="50328" x2="35241" y2="57987"/>
                        <a14:foregroundMark x1="35241" y1="57987" x2="38047" y2="64333"/>
                        <a14:foregroundMark x1="38047" y1="64333" x2="38159" y2="64989"/>
                        <a14:foregroundMark x1="27497" y1="81400" x2="27497" y2="81400"/>
                        <a14:foregroundMark x1="27497" y1="81400" x2="27497" y2="81400"/>
                        <a14:foregroundMark x1="27048" y1="80744" x2="27048" y2="80744"/>
                        <a14:foregroundMark x1="56566" y1="30197" x2="73850" y2="49234"/>
                      </a14:backgroundRemoval>
                    </a14:imgEffect>
                  </a14:imgLayer>
                </a14:imgProps>
              </a:ext>
              <a:ext uri="{28A0092B-C50C-407E-A947-70E740481C1C}">
                <a14:useLocalDpi xmlns:a14="http://schemas.microsoft.com/office/drawing/2010/main" val="0"/>
              </a:ext>
            </a:extLst>
          </a:blip>
          <a:srcRect l="20667" t="20117" r="59886" b="29883"/>
          <a:stretch>
            <a:fillRect/>
          </a:stretch>
        </p:blipFill>
        <p:spPr bwMode="auto">
          <a:xfrm>
            <a:off x="6630500" y="4473096"/>
            <a:ext cx="615173" cy="811235"/>
          </a:xfrm>
          <a:prstGeom prst="rect">
            <a:avLst/>
          </a:prstGeom>
          <a:noFill/>
        </p:spPr>
      </p:pic>
      <p:sp>
        <p:nvSpPr>
          <p:cNvPr id="85" name="矩形 84"/>
          <p:cNvSpPr/>
          <p:nvPr/>
        </p:nvSpPr>
        <p:spPr>
          <a:xfrm>
            <a:off x="6686095" y="4248346"/>
            <a:ext cx="550151" cy="300082"/>
          </a:xfrm>
          <a:prstGeom prst="rect">
            <a:avLst/>
          </a:prstGeom>
        </p:spPr>
        <p:txBody>
          <a:bodyPr wrap="none">
            <a:spAutoFit/>
          </a:bodyPr>
          <a:lstStyle/>
          <a:p>
            <a:pPr defTabSz="685800" eaLnBrk="1" fontAlgn="auto" hangingPunct="1">
              <a:spcBef>
                <a:spcPts val="0"/>
              </a:spcBef>
              <a:spcAft>
                <a:spcPts val="0"/>
              </a:spcAft>
              <a:defRPr/>
            </a:pPr>
            <a:r>
              <a:rPr lang="en-US" altLang="zh-CN" sz="1350" b="1" dirty="0">
                <a:solidFill>
                  <a:srgbClr val="1D4C9E"/>
                </a:solidFill>
                <a:latin typeface="Arial" panose="020B0604020202020204" pitchFamily="34" charset="0"/>
                <a:ea typeface="等线" panose="02010600030101010101" pitchFamily="2" charset="-122"/>
                <a:cs typeface="Arial" panose="020B0604020202020204" pitchFamily="34" charset="0"/>
              </a:rPr>
              <a:t>CPU</a:t>
            </a:r>
            <a:endParaRPr lang="zh-CN" altLang="en-US" sz="1350" dirty="0">
              <a:solidFill>
                <a:srgbClr val="1D4C9E"/>
              </a:solidFill>
              <a:latin typeface="等线" panose="02010600030101010101" pitchFamily="2" charset="-122"/>
              <a:ea typeface="等线" panose="02010600030101010101" pitchFamily="2" charset="-122"/>
            </a:endParaRPr>
          </a:p>
        </p:txBody>
      </p:sp>
      <p:sp>
        <p:nvSpPr>
          <p:cNvPr id="86" name="矩形 85"/>
          <p:cNvSpPr/>
          <p:nvPr/>
        </p:nvSpPr>
        <p:spPr>
          <a:xfrm>
            <a:off x="7702230" y="4228991"/>
            <a:ext cx="559769" cy="300082"/>
          </a:xfrm>
          <a:prstGeom prst="rect">
            <a:avLst/>
          </a:prstGeom>
        </p:spPr>
        <p:txBody>
          <a:bodyPr wrap="none">
            <a:spAutoFit/>
          </a:bodyPr>
          <a:lstStyle/>
          <a:p>
            <a:pPr defTabSz="685800" eaLnBrk="1" fontAlgn="auto" hangingPunct="1">
              <a:spcBef>
                <a:spcPts val="0"/>
              </a:spcBef>
              <a:spcAft>
                <a:spcPts val="0"/>
              </a:spcAft>
              <a:defRPr/>
            </a:pPr>
            <a:r>
              <a:rPr lang="en-US" altLang="zh-CN" sz="1350" b="1" dirty="0">
                <a:solidFill>
                  <a:srgbClr val="1D4C9E"/>
                </a:solidFill>
                <a:latin typeface="Arial" panose="020B0604020202020204" pitchFamily="34" charset="0"/>
                <a:ea typeface="等线" panose="02010600030101010101" pitchFamily="2" charset="-122"/>
                <a:cs typeface="Arial" panose="020B0604020202020204" pitchFamily="34" charset="0"/>
              </a:rPr>
              <a:t>GPU</a:t>
            </a:r>
            <a:endParaRPr lang="zh-CN" altLang="en-US" sz="1350" dirty="0">
              <a:solidFill>
                <a:srgbClr val="1D4C9E"/>
              </a:solidFill>
              <a:latin typeface="等线" panose="02010600030101010101" pitchFamily="2" charset="-122"/>
              <a:ea typeface="等线" panose="02010600030101010101" pitchFamily="2" charset="-122"/>
            </a:endParaRPr>
          </a:p>
        </p:txBody>
      </p:sp>
      <p:graphicFrame>
        <p:nvGraphicFramePr>
          <p:cNvPr id="87" name="图表 86" descr="7b0a202020202263686172745265734964223a202234353236383334220a7d0a"/>
          <p:cNvGraphicFramePr/>
          <p:nvPr/>
        </p:nvGraphicFramePr>
        <p:xfrm>
          <a:off x="5303940" y="1835621"/>
          <a:ext cx="3946516" cy="1503208"/>
        </p:xfrm>
        <a:graphic>
          <a:graphicData uri="http://schemas.openxmlformats.org/drawingml/2006/chart">
            <c:chart xmlns:c="http://schemas.openxmlformats.org/drawingml/2006/chart" xmlns:r="http://schemas.openxmlformats.org/officeDocument/2006/relationships" r:id="rId7"/>
          </a:graphicData>
        </a:graphic>
      </p:graphicFrame>
      <p:sp>
        <p:nvSpPr>
          <p:cNvPr id="88" name="文本框 87"/>
          <p:cNvSpPr txBox="1"/>
          <p:nvPr/>
        </p:nvSpPr>
        <p:spPr>
          <a:xfrm>
            <a:off x="1107254" y="3423578"/>
            <a:ext cx="1396536" cy="435440"/>
          </a:xfrm>
          <a:prstGeom prst="rect">
            <a:avLst/>
          </a:prstGeom>
          <a:noFill/>
        </p:spPr>
        <p:txBody>
          <a:bodyPr vert="horz" wrap="none" rtlCol="0">
            <a:spAutoFit/>
          </a:bodyPr>
          <a:lstStyle/>
          <a:p>
            <a:pPr algn="ctr" defTabSz="913765" eaLnBrk="1" fontAlgn="auto" hangingPunct="1">
              <a:lnSpc>
                <a:spcPct val="110000"/>
              </a:lnSpc>
              <a:spcBef>
                <a:spcPts val="0"/>
              </a:spcBef>
              <a:spcAft>
                <a:spcPts val="0"/>
              </a:spcAft>
              <a:defRPr/>
            </a:pPr>
            <a:r>
              <a:rPr lang="zh-CN" altLang="en-US" sz="1050" dirty="0">
                <a:solidFill>
                  <a:prstClr val="black"/>
                </a:solidFill>
                <a:latin typeface="微软雅黑" panose="020B0503020204020204" charset="-122"/>
                <a:ea typeface="微软雅黑" panose="020B0503020204020204" charset="-122"/>
              </a:rPr>
              <a:t>需要根据应用自适应</a:t>
            </a:r>
            <a:endParaRPr lang="en-US" altLang="zh-CN" sz="1050" dirty="0">
              <a:solidFill>
                <a:prstClr val="black"/>
              </a:solidFill>
              <a:latin typeface="微软雅黑" panose="020B0503020204020204" charset="-122"/>
              <a:ea typeface="微软雅黑" panose="020B0503020204020204" charset="-122"/>
            </a:endParaRPr>
          </a:p>
          <a:p>
            <a:pPr algn="ctr" defTabSz="913765" eaLnBrk="1" fontAlgn="auto" hangingPunct="1">
              <a:lnSpc>
                <a:spcPct val="110000"/>
              </a:lnSpc>
              <a:spcBef>
                <a:spcPts val="0"/>
              </a:spcBef>
              <a:spcAft>
                <a:spcPts val="0"/>
              </a:spcAft>
              <a:defRPr/>
            </a:pPr>
            <a:r>
              <a:rPr lang="zh-CN" altLang="en-US" sz="1050" dirty="0">
                <a:solidFill>
                  <a:prstClr val="black"/>
                </a:solidFill>
                <a:latin typeface="微软雅黑" panose="020B0503020204020204" charset="-122"/>
                <a:ea typeface="微软雅黑" panose="020B0503020204020204" charset="-122"/>
              </a:rPr>
              <a:t>调整数据库配置</a:t>
            </a:r>
            <a:endParaRPr lang="en-US" altLang="zh-CN" sz="1050" dirty="0">
              <a:solidFill>
                <a:prstClr val="black"/>
              </a:solidFill>
              <a:latin typeface="微软雅黑" panose="020B0503020204020204" charset="-122"/>
              <a:ea typeface="微软雅黑" panose="020B0503020204020204" charset="-122"/>
            </a:endParaRPr>
          </a:p>
        </p:txBody>
      </p:sp>
      <p:sp>
        <p:nvSpPr>
          <p:cNvPr id="89" name="文本框 88"/>
          <p:cNvSpPr txBox="1"/>
          <p:nvPr/>
        </p:nvSpPr>
        <p:spPr>
          <a:xfrm>
            <a:off x="3744294" y="3216529"/>
            <a:ext cx="1866217" cy="253916"/>
          </a:xfrm>
          <a:prstGeom prst="rect">
            <a:avLst/>
          </a:prstGeom>
          <a:noFill/>
        </p:spPr>
        <p:txBody>
          <a:bodyPr vert="horz" wrap="none" rtlCol="0">
            <a:spAutoFit/>
          </a:bodyPr>
          <a:lstStyle/>
          <a:p>
            <a:pPr algn="ctr" defTabSz="913765">
              <a:defRPr/>
            </a:pPr>
            <a:r>
              <a:rPr lang="en-US" altLang="zh-CN" sz="1050" i="1" dirty="0">
                <a:solidFill>
                  <a:prstClr val="black"/>
                </a:solidFill>
                <a:latin typeface="微软雅黑" panose="020B0503020204020204" charset="-122"/>
                <a:ea typeface="微软雅黑" panose="020B0503020204020204" charset="-122"/>
              </a:rPr>
              <a:t>“challenges</a:t>
            </a:r>
            <a:r>
              <a:rPr lang="zh-CN" altLang="en-US" sz="1050" i="1" dirty="0">
                <a:solidFill>
                  <a:prstClr val="black"/>
                </a:solidFill>
                <a:latin typeface="微软雅黑" panose="020B0503020204020204" charset="-122"/>
                <a:ea typeface="微软雅黑" panose="020B0503020204020204" charset="-122"/>
              </a:rPr>
              <a:t> </a:t>
            </a:r>
            <a:r>
              <a:rPr lang="en-US" altLang="zh-CN" sz="1050" i="1" dirty="0">
                <a:solidFill>
                  <a:prstClr val="black"/>
                </a:solidFill>
                <a:latin typeface="微软雅黑" panose="020B0503020204020204" charset="-122"/>
                <a:ea typeface="微软雅黑" panose="020B0503020204020204" charset="-122"/>
              </a:rPr>
              <a:t>in</a:t>
            </a:r>
            <a:r>
              <a:rPr lang="zh-CN" altLang="en-US" sz="1050" i="1" dirty="0">
                <a:solidFill>
                  <a:prstClr val="black"/>
                </a:solidFill>
                <a:latin typeface="微软雅黑" panose="020B0503020204020204" charset="-122"/>
                <a:ea typeface="微软雅黑" panose="020B0503020204020204" charset="-122"/>
              </a:rPr>
              <a:t> </a:t>
            </a:r>
            <a:r>
              <a:rPr lang="en-US" altLang="zh-CN" sz="1050" i="1" dirty="0">
                <a:solidFill>
                  <a:prstClr val="black"/>
                </a:solidFill>
                <a:latin typeface="微软雅黑" panose="020B0503020204020204" charset="-122"/>
                <a:ea typeface="微软雅黑" panose="020B0503020204020204" charset="-122"/>
              </a:rPr>
              <a:t>big</a:t>
            </a:r>
            <a:r>
              <a:rPr lang="zh-CN" altLang="en-US" sz="1050" i="1" dirty="0">
                <a:solidFill>
                  <a:prstClr val="black"/>
                </a:solidFill>
                <a:latin typeface="微软雅黑" panose="020B0503020204020204" charset="-122"/>
                <a:ea typeface="微软雅黑" panose="020B0503020204020204" charset="-122"/>
              </a:rPr>
              <a:t> </a:t>
            </a:r>
            <a:r>
              <a:rPr lang="en-US" altLang="zh-CN" sz="1050" i="1" dirty="0">
                <a:solidFill>
                  <a:prstClr val="black"/>
                </a:solidFill>
                <a:latin typeface="微软雅黑" panose="020B0503020204020204" charset="-122"/>
                <a:ea typeface="微软雅黑" panose="020B0503020204020204" charset="-122"/>
              </a:rPr>
              <a:t>data”</a:t>
            </a:r>
            <a:endParaRPr lang="zh-CN" altLang="en-US" sz="1050" i="1" dirty="0">
              <a:solidFill>
                <a:prstClr val="black"/>
              </a:solidFill>
              <a:latin typeface="微软雅黑" panose="020B0503020204020204" charset="-122"/>
              <a:ea typeface="微软雅黑" panose="020B0503020204020204" charset="-122"/>
            </a:endParaRPr>
          </a:p>
        </p:txBody>
      </p:sp>
      <p:sp>
        <p:nvSpPr>
          <p:cNvPr id="90" name="文本框 89"/>
          <p:cNvSpPr txBox="1"/>
          <p:nvPr/>
        </p:nvSpPr>
        <p:spPr>
          <a:xfrm>
            <a:off x="3844481" y="3423578"/>
            <a:ext cx="1665841" cy="435440"/>
          </a:xfrm>
          <a:prstGeom prst="rect">
            <a:avLst/>
          </a:prstGeom>
          <a:noFill/>
        </p:spPr>
        <p:txBody>
          <a:bodyPr vert="horz" wrap="none" rtlCol="0">
            <a:spAutoFit/>
          </a:bodyPr>
          <a:lstStyle/>
          <a:p>
            <a:pPr algn="ctr" defTabSz="913765" eaLnBrk="1" fontAlgn="auto" hangingPunct="1">
              <a:lnSpc>
                <a:spcPct val="110000"/>
              </a:lnSpc>
              <a:spcBef>
                <a:spcPts val="0"/>
              </a:spcBef>
              <a:spcAft>
                <a:spcPts val="0"/>
              </a:spcAft>
              <a:defRPr/>
            </a:pPr>
            <a:r>
              <a:rPr lang="zh-CN" altLang="en-US" sz="1050" dirty="0">
                <a:solidFill>
                  <a:prstClr val="black"/>
                </a:solidFill>
                <a:latin typeface="微软雅黑" panose="020B0503020204020204" charset="-122"/>
                <a:ea typeface="微软雅黑" panose="020B0503020204020204" charset="-122"/>
              </a:rPr>
              <a:t>数据难划分，查询难优化</a:t>
            </a:r>
            <a:endParaRPr lang="en-US" altLang="zh-CN" sz="1050" dirty="0">
              <a:solidFill>
                <a:prstClr val="black"/>
              </a:solidFill>
              <a:latin typeface="微软雅黑" panose="020B0503020204020204" charset="-122"/>
              <a:ea typeface="微软雅黑" panose="020B0503020204020204" charset="-122"/>
            </a:endParaRPr>
          </a:p>
          <a:p>
            <a:pPr algn="ctr" defTabSz="913765">
              <a:lnSpc>
                <a:spcPct val="110000"/>
              </a:lnSpc>
              <a:defRPr/>
            </a:pPr>
            <a:r>
              <a:rPr lang="zh-CN" altLang="en-US" sz="1050" dirty="0">
                <a:solidFill>
                  <a:prstClr val="black"/>
                </a:solidFill>
                <a:latin typeface="微软雅黑" panose="020B0503020204020204" charset="-122"/>
                <a:ea typeface="微软雅黑" panose="020B0503020204020204" charset="-122"/>
              </a:rPr>
              <a:t>实时数仓 </a:t>
            </a:r>
            <a:r>
              <a:rPr lang="en-US" altLang="zh-CN" sz="1050" dirty="0">
                <a:solidFill>
                  <a:prstClr val="black"/>
                </a:solidFill>
                <a:latin typeface="微软雅黑" panose="020B0503020204020204" charset="-122"/>
                <a:ea typeface="微软雅黑" panose="020B0503020204020204" charset="-122"/>
              </a:rPr>
              <a:t>(</a:t>
            </a:r>
            <a:r>
              <a:rPr lang="zh-CN" altLang="en-US" sz="1050" dirty="0">
                <a:solidFill>
                  <a:prstClr val="black"/>
                </a:solidFill>
                <a:latin typeface="微软雅黑" panose="020B0503020204020204" charset="-122"/>
                <a:ea typeface="微软雅黑" panose="020B0503020204020204" charset="-122"/>
              </a:rPr>
              <a:t>速度；一致性</a:t>
            </a:r>
            <a:r>
              <a:rPr lang="en-US" altLang="zh-CN" sz="1050" dirty="0">
                <a:solidFill>
                  <a:prstClr val="black"/>
                </a:solidFill>
                <a:latin typeface="微软雅黑" panose="020B0503020204020204" charset="-122"/>
                <a:ea typeface="微软雅黑" panose="020B0503020204020204" charset="-122"/>
              </a:rPr>
              <a:t>)</a:t>
            </a:r>
          </a:p>
        </p:txBody>
      </p:sp>
      <p:sp>
        <p:nvSpPr>
          <p:cNvPr id="91" name="文本框 90"/>
          <p:cNvSpPr txBox="1"/>
          <p:nvPr/>
        </p:nvSpPr>
        <p:spPr>
          <a:xfrm>
            <a:off x="6283463" y="3216529"/>
            <a:ext cx="2079416" cy="253916"/>
          </a:xfrm>
          <a:prstGeom prst="rect">
            <a:avLst/>
          </a:prstGeom>
          <a:noFill/>
        </p:spPr>
        <p:txBody>
          <a:bodyPr vert="horz" wrap="none" rtlCol="0">
            <a:spAutoFit/>
          </a:bodyPr>
          <a:lstStyle/>
          <a:p>
            <a:pPr algn="ctr" defTabSz="913765">
              <a:defRPr/>
            </a:pPr>
            <a:r>
              <a:rPr lang="en-US" altLang="zh-CN" sz="1050" i="1" dirty="0">
                <a:solidFill>
                  <a:prstClr val="black"/>
                </a:solidFill>
                <a:latin typeface="微软雅黑" panose="020B0503020204020204" charset="-122"/>
                <a:ea typeface="微软雅黑" panose="020B0503020204020204" charset="-122"/>
              </a:rPr>
              <a:t>“issues</a:t>
            </a:r>
            <a:r>
              <a:rPr lang="zh-CN" altLang="en-US" sz="1050" i="1" dirty="0">
                <a:solidFill>
                  <a:prstClr val="black"/>
                </a:solidFill>
                <a:latin typeface="微软雅黑" panose="020B0503020204020204" charset="-122"/>
                <a:ea typeface="微软雅黑" panose="020B0503020204020204" charset="-122"/>
              </a:rPr>
              <a:t> </a:t>
            </a:r>
            <a:r>
              <a:rPr lang="en-US" altLang="zh-CN" sz="1050" i="1" dirty="0">
                <a:solidFill>
                  <a:prstClr val="black"/>
                </a:solidFill>
                <a:latin typeface="微软雅黑" panose="020B0503020204020204" charset="-122"/>
                <a:ea typeface="微软雅黑" panose="020B0503020204020204" charset="-122"/>
              </a:rPr>
              <a:t>in</a:t>
            </a:r>
            <a:r>
              <a:rPr lang="zh-CN" altLang="en-US" sz="1050" i="1" dirty="0">
                <a:solidFill>
                  <a:prstClr val="black"/>
                </a:solidFill>
                <a:latin typeface="微软雅黑" panose="020B0503020204020204" charset="-122"/>
                <a:ea typeface="微软雅黑" panose="020B0503020204020204" charset="-122"/>
              </a:rPr>
              <a:t> </a:t>
            </a:r>
            <a:r>
              <a:rPr lang="en-US" altLang="zh-CN" sz="1050" i="1" dirty="0" err="1">
                <a:solidFill>
                  <a:prstClr val="black"/>
                </a:solidFill>
                <a:latin typeface="微软雅黑" panose="020B0503020204020204" charset="-122"/>
                <a:ea typeface="微软雅黑" panose="020B0503020204020204" charset="-122"/>
              </a:rPr>
              <a:t>db</a:t>
            </a:r>
            <a:r>
              <a:rPr lang="zh-CN" altLang="en-US" sz="1050" i="1" dirty="0">
                <a:solidFill>
                  <a:prstClr val="black"/>
                </a:solidFill>
                <a:latin typeface="微软雅黑" panose="020B0503020204020204" charset="-122"/>
                <a:ea typeface="微软雅黑" panose="020B0503020204020204" charset="-122"/>
              </a:rPr>
              <a:t> </a:t>
            </a:r>
            <a:r>
              <a:rPr lang="en-US" altLang="zh-CN" sz="1050" i="1" dirty="0">
                <a:solidFill>
                  <a:prstClr val="black"/>
                </a:solidFill>
                <a:latin typeface="微软雅黑" panose="020B0503020204020204" charset="-122"/>
                <a:ea typeface="微软雅黑" panose="020B0503020204020204" charset="-122"/>
              </a:rPr>
              <a:t>maintenance”</a:t>
            </a:r>
            <a:endParaRPr lang="zh-CN" altLang="en-US" sz="1050" i="1" dirty="0">
              <a:solidFill>
                <a:prstClr val="black"/>
              </a:solidFill>
              <a:latin typeface="微软雅黑" panose="020B0503020204020204" charset="-122"/>
              <a:ea typeface="微软雅黑" panose="020B0503020204020204" charset="-122"/>
            </a:endParaRPr>
          </a:p>
        </p:txBody>
      </p:sp>
      <p:sp>
        <p:nvSpPr>
          <p:cNvPr id="92" name="文本框 91"/>
          <p:cNvSpPr txBox="1"/>
          <p:nvPr/>
        </p:nvSpPr>
        <p:spPr>
          <a:xfrm>
            <a:off x="6327591" y="3423578"/>
            <a:ext cx="1935145" cy="435440"/>
          </a:xfrm>
          <a:prstGeom prst="rect">
            <a:avLst/>
          </a:prstGeom>
          <a:noFill/>
        </p:spPr>
        <p:txBody>
          <a:bodyPr vert="horz" wrap="none" rtlCol="0">
            <a:spAutoFit/>
          </a:bodyPr>
          <a:lstStyle/>
          <a:p>
            <a:pPr algn="ctr" defTabSz="913765" eaLnBrk="1" fontAlgn="auto" hangingPunct="1">
              <a:lnSpc>
                <a:spcPct val="110000"/>
              </a:lnSpc>
              <a:spcBef>
                <a:spcPts val="0"/>
              </a:spcBef>
              <a:spcAft>
                <a:spcPts val="0"/>
              </a:spcAft>
              <a:defRPr/>
            </a:pPr>
            <a:r>
              <a:rPr lang="zh-CN" altLang="en-US" sz="1050" dirty="0">
                <a:solidFill>
                  <a:prstClr val="black"/>
                </a:solidFill>
                <a:latin typeface="微软雅黑" panose="020B0503020204020204" charset="-122"/>
                <a:ea typeface="微软雅黑" panose="020B0503020204020204" charset="-122"/>
              </a:rPr>
              <a:t>人力或简单的运维工具</a:t>
            </a:r>
            <a:endParaRPr lang="en-US" altLang="zh-CN" sz="1050" dirty="0">
              <a:solidFill>
                <a:prstClr val="black"/>
              </a:solidFill>
              <a:latin typeface="微软雅黑" panose="020B0503020204020204" charset="-122"/>
              <a:ea typeface="微软雅黑" panose="020B0503020204020204" charset="-122"/>
            </a:endParaRPr>
          </a:p>
          <a:p>
            <a:pPr algn="ctr" defTabSz="913765" eaLnBrk="1" fontAlgn="auto" hangingPunct="1">
              <a:lnSpc>
                <a:spcPct val="110000"/>
              </a:lnSpc>
              <a:spcBef>
                <a:spcPts val="0"/>
              </a:spcBef>
              <a:spcAft>
                <a:spcPts val="0"/>
              </a:spcAft>
              <a:defRPr/>
            </a:pPr>
            <a:r>
              <a:rPr lang="zh-CN" altLang="en-US" sz="1050" dirty="0">
                <a:solidFill>
                  <a:prstClr val="black"/>
                </a:solidFill>
                <a:latin typeface="微软雅黑" panose="020B0503020204020204" charset="-122"/>
                <a:ea typeface="微软雅黑" panose="020B0503020204020204" charset="-122"/>
              </a:rPr>
              <a:t>难以支撑云上庞杂的运维任务</a:t>
            </a:r>
            <a:endParaRPr lang="en-US" altLang="zh-CN" sz="1050" dirty="0">
              <a:solidFill>
                <a:prstClr val="black"/>
              </a:solidFill>
              <a:latin typeface="微软雅黑" panose="020B0503020204020204" charset="-122"/>
              <a:ea typeface="微软雅黑" panose="020B0503020204020204" charset="-122"/>
            </a:endParaRPr>
          </a:p>
        </p:txBody>
      </p:sp>
      <p:sp>
        <p:nvSpPr>
          <p:cNvPr id="3" name="灯片编号占位符 2"/>
          <p:cNvSpPr>
            <a:spLocks noGrp="1"/>
          </p:cNvSpPr>
          <p:nvPr>
            <p:ph type="sldNum" sz="quarter" idx="12"/>
          </p:nvPr>
        </p:nvSpPr>
        <p:spPr/>
        <p:txBody>
          <a:bodyPr/>
          <a:lstStyle/>
          <a:p>
            <a:fld id="{4B0D34C0-35A8-654C-9FBA-7B4E017BD630}" type="slidenum">
              <a:rPr lang="en-US" altLang="zh-CN" smtClean="0"/>
              <a:t>44</a:t>
            </a:fld>
            <a:endParaRPr kumimoji="1" lang="zh-CN" altLang="en-US"/>
          </a:p>
        </p:txBody>
      </p:sp>
      <p:sp>
        <p:nvSpPr>
          <p:cNvPr id="93" name="标题 5"/>
          <p:cNvSpPr txBox="1"/>
          <p:nvPr/>
        </p:nvSpPr>
        <p:spPr bwMode="auto">
          <a:xfrm>
            <a:off x="860108" y="342711"/>
            <a:ext cx="7568173" cy="508853"/>
          </a:xfrm>
          <a:prstGeom prst="rect">
            <a:avLst/>
          </a:prstGeom>
          <a:noFill/>
          <a:ln>
            <a:noFill/>
          </a:ln>
          <a:effectLst/>
        </p:spPr>
        <p:txBody>
          <a:bodyPr vert="horz" wrap="square" lIns="68580" tIns="34290" rIns="68580" bIns="34290" numCol="1" anchor="ctr" anchorCtr="0" compatLnSpc="1"/>
          <a:lstStyle>
            <a:lvl1pPr algn="ctr" rtl="0" eaLnBrk="1" fontAlgn="base" hangingPunct="1">
              <a:spcBef>
                <a:spcPct val="0"/>
              </a:spcBef>
              <a:spcAft>
                <a:spcPct val="0"/>
              </a:spcAft>
              <a:defRPr kumimoji="1" sz="4800" b="1" i="0">
                <a:solidFill>
                  <a:schemeClr val="tx2"/>
                </a:solidFill>
                <a:effectLst/>
                <a:latin typeface="Arial" panose="020B0604020202020204"/>
                <a:ea typeface="黑体" panose="02010609060101010101" pitchFamily="49" charset="-122"/>
                <a:cs typeface="Arial" panose="020B0604020202020204"/>
              </a:defRPr>
            </a:lvl1pPr>
            <a:lvl2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2pPr>
            <a:lvl3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3pPr>
            <a:lvl4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4pPr>
            <a:lvl5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5pPr>
            <a:lvl6pPr marL="42227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6pPr>
            <a:lvl7pPr marL="84391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7pPr>
            <a:lvl8pPr marL="1266190"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8pPr>
            <a:lvl9pPr marL="168846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9pPr>
          </a:lstStyle>
          <a:p>
            <a:pPr defTabSz="342900">
              <a:defRPr/>
            </a:pPr>
            <a:r>
              <a:rPr lang="zh-CN" altLang="en-US" sz="4400" kern="0" dirty="0">
                <a:solidFill>
                  <a:srgbClr val="000000"/>
                </a:solidFill>
                <a:latin typeface="微软雅黑" panose="020B0503020204020204" charset="-122"/>
                <a:ea typeface="微软雅黑" panose="020B0503020204020204" charset="-122"/>
                <a:cs typeface="Arial" panose="020B0604020202020204" pitchFamily="34" charset="0"/>
              </a:rPr>
              <a:t>数据库</a:t>
            </a:r>
            <a:r>
              <a:rPr lang="en-US" altLang="zh-CN" sz="4400" kern="0" dirty="0">
                <a:solidFill>
                  <a:srgbClr val="000000"/>
                </a:solidFill>
                <a:latin typeface="微软雅黑" panose="020B0503020204020204" charset="-122"/>
                <a:ea typeface="微软雅黑" panose="020B0503020204020204" charset="-122"/>
                <a:cs typeface="Arial" panose="020B0604020202020204" pitchFamily="34" charset="0"/>
              </a:rPr>
              <a:t>+AI</a:t>
            </a:r>
            <a:endParaRPr lang="zh-CN" altLang="en-US" sz="4400" dirty="0">
              <a:solidFill>
                <a:prstClr val="black"/>
              </a:solidFill>
              <a:latin typeface="微软雅黑" panose="020B0503020204020204" charset="-122"/>
              <a:ea typeface="微软雅黑" panose="020B0503020204020204" charset="-122"/>
              <a:cs typeface="Arial" panose="020B0604020202020204" pitchFamily="34" charset="0"/>
            </a:endParaRPr>
          </a:p>
        </p:txBody>
      </p:sp>
      <p:grpSp>
        <p:nvGrpSpPr>
          <p:cNvPr id="12" name="组合 11"/>
          <p:cNvGrpSpPr/>
          <p:nvPr/>
        </p:nvGrpSpPr>
        <p:grpSpPr>
          <a:xfrm>
            <a:off x="628482" y="2284312"/>
            <a:ext cx="2397430" cy="732998"/>
            <a:chOff x="837975" y="1693180"/>
            <a:chExt cx="3196573" cy="977330"/>
          </a:xfrm>
        </p:grpSpPr>
        <p:sp>
          <p:nvSpPr>
            <p:cNvPr id="56" name="TextBox 110"/>
            <p:cNvSpPr txBox="1"/>
            <p:nvPr/>
          </p:nvSpPr>
          <p:spPr>
            <a:xfrm>
              <a:off x="837975" y="2239623"/>
              <a:ext cx="1158551" cy="430887"/>
            </a:xfrm>
            <a:prstGeom prst="rect">
              <a:avLst/>
            </a:prstGeom>
            <a:noFill/>
          </p:spPr>
          <p:txBody>
            <a:bodyPr wrap="square" rtlCol="0">
              <a:spAutoFit/>
            </a:bodyPr>
            <a:lstStyle>
              <a:defPPr>
                <a:defRPr lang="zh-CN"/>
              </a:defPPr>
              <a:lvl1pPr algn="ctr">
                <a:defRPr sz="1400" b="1" kern="0">
                  <a:solidFill>
                    <a:prstClr val="black">
                      <a:lumMod val="65000"/>
                      <a:lumOff val="35000"/>
                    </a:prstClr>
                  </a:solidFill>
                  <a:latin typeface="Times New Roman" panose="02020603050405020304" pitchFamily="18" charset="0"/>
                  <a:ea typeface="微软雅黑" panose="020B0503020204020204" charset="-122"/>
                  <a:cs typeface="Times New Roman" panose="02020603050405020304" pitchFamily="18" charset="0"/>
                </a:defRPr>
              </a:lvl1pPr>
            </a:lstStyle>
            <a:p>
              <a:pPr defTabSz="685165" eaLnBrk="1" fontAlgn="auto" hangingPunct="1">
                <a:spcBef>
                  <a:spcPts val="0"/>
                </a:spcBef>
                <a:spcAft>
                  <a:spcPts val="0"/>
                </a:spcAft>
                <a:defRPr/>
              </a:pPr>
              <a:r>
                <a:rPr lang="zh-CN" altLang="en-US" sz="1500" dirty="0">
                  <a:solidFill>
                    <a:schemeClr val="tx1">
                      <a:lumMod val="95000"/>
                      <a:lumOff val="5000"/>
                    </a:schemeClr>
                  </a:solidFill>
                  <a:latin typeface="Arial" panose="020B0604020202020204" pitchFamily="34" charset="0"/>
                  <a:cs typeface="Arial" panose="020B0604020202020204" pitchFamily="34" charset="0"/>
                </a:rPr>
                <a:t>电商</a:t>
              </a:r>
            </a:p>
          </p:txBody>
        </p:sp>
        <p:sp>
          <p:nvSpPr>
            <p:cNvPr id="57" name="TextBox 135"/>
            <p:cNvSpPr txBox="1"/>
            <p:nvPr/>
          </p:nvSpPr>
          <p:spPr>
            <a:xfrm>
              <a:off x="1967474" y="2239624"/>
              <a:ext cx="1032817" cy="430886"/>
            </a:xfrm>
            <a:prstGeom prst="rect">
              <a:avLst/>
            </a:prstGeom>
            <a:noFill/>
          </p:spPr>
          <p:txBody>
            <a:bodyPr wrap="square" rtlCol="0">
              <a:spAutoFit/>
            </a:bodyPr>
            <a:lstStyle>
              <a:defPPr>
                <a:defRPr lang="zh-CN"/>
              </a:defPPr>
              <a:lvl1pPr algn="ctr">
                <a:defRPr sz="1400" b="1" kern="0">
                  <a:solidFill>
                    <a:prstClr val="black">
                      <a:lumMod val="65000"/>
                      <a:lumOff val="35000"/>
                    </a:prstClr>
                  </a:solidFill>
                  <a:latin typeface="Times New Roman" panose="02020603050405020304" pitchFamily="18" charset="0"/>
                  <a:ea typeface="微软雅黑" panose="020B0503020204020204" charset="-122"/>
                  <a:cs typeface="Times New Roman" panose="02020603050405020304" pitchFamily="18" charset="0"/>
                </a:defRPr>
              </a:lvl1pPr>
            </a:lstStyle>
            <a:p>
              <a:pPr defTabSz="685165" eaLnBrk="1" fontAlgn="auto" hangingPunct="1">
                <a:spcBef>
                  <a:spcPts val="0"/>
                </a:spcBef>
                <a:spcAft>
                  <a:spcPts val="0"/>
                </a:spcAft>
                <a:defRPr/>
              </a:pPr>
              <a:r>
                <a:rPr lang="zh-CN" altLang="en-US" sz="1500" dirty="0">
                  <a:solidFill>
                    <a:schemeClr val="tx1">
                      <a:lumMod val="95000"/>
                      <a:lumOff val="5000"/>
                    </a:schemeClr>
                  </a:solidFill>
                  <a:latin typeface="Arial" panose="020B0604020202020204" pitchFamily="34" charset="0"/>
                  <a:cs typeface="Arial" panose="020B0604020202020204" pitchFamily="34" charset="0"/>
                </a:rPr>
                <a:t>车企</a:t>
              </a:r>
            </a:p>
          </p:txBody>
        </p:sp>
        <p:sp>
          <p:nvSpPr>
            <p:cNvPr id="58" name="TextBox 135"/>
            <p:cNvSpPr txBox="1"/>
            <p:nvPr/>
          </p:nvSpPr>
          <p:spPr>
            <a:xfrm>
              <a:off x="3001732" y="2239624"/>
              <a:ext cx="1032816" cy="430886"/>
            </a:xfrm>
            <a:prstGeom prst="rect">
              <a:avLst/>
            </a:prstGeom>
            <a:noFill/>
          </p:spPr>
          <p:txBody>
            <a:bodyPr wrap="square" rtlCol="0">
              <a:spAutoFit/>
            </a:bodyPr>
            <a:lstStyle>
              <a:defPPr>
                <a:defRPr lang="zh-CN"/>
              </a:defPPr>
              <a:lvl1pPr algn="ctr">
                <a:defRPr sz="1400" b="1" kern="0">
                  <a:solidFill>
                    <a:prstClr val="black">
                      <a:lumMod val="65000"/>
                      <a:lumOff val="35000"/>
                    </a:prstClr>
                  </a:solidFill>
                  <a:latin typeface="Times New Roman" panose="02020603050405020304" pitchFamily="18" charset="0"/>
                  <a:ea typeface="微软雅黑" panose="020B0503020204020204" charset="-122"/>
                  <a:cs typeface="Times New Roman" panose="02020603050405020304" pitchFamily="18" charset="0"/>
                </a:defRPr>
              </a:lvl1pPr>
            </a:lstStyle>
            <a:p>
              <a:pPr defTabSz="685165" eaLnBrk="1" fontAlgn="auto" hangingPunct="1">
                <a:spcBef>
                  <a:spcPts val="0"/>
                </a:spcBef>
                <a:spcAft>
                  <a:spcPts val="0"/>
                </a:spcAft>
                <a:defRPr/>
              </a:pPr>
              <a:r>
                <a:rPr lang="zh-CN" altLang="en-US" sz="1500" dirty="0">
                  <a:solidFill>
                    <a:schemeClr val="tx1">
                      <a:lumMod val="95000"/>
                      <a:lumOff val="5000"/>
                    </a:schemeClr>
                  </a:solidFill>
                  <a:latin typeface="Arial" panose="020B0604020202020204" pitchFamily="34" charset="0"/>
                  <a:cs typeface="Arial" panose="020B0604020202020204" pitchFamily="34" charset="0"/>
                </a:rPr>
                <a:t>政企</a:t>
              </a:r>
            </a:p>
          </p:txBody>
        </p:sp>
        <p:pic>
          <p:nvPicPr>
            <p:cNvPr id="7" name="图片 6"/>
            <p:cNvPicPr>
              <a:picLocks noChangeAspect="1"/>
            </p:cNvPicPr>
            <p:nvPr/>
          </p:nvPicPr>
          <p:blipFill>
            <a:blip r:embed="rId8">
              <a:duotone>
                <a:schemeClr val="accent3">
                  <a:shade val="45000"/>
                  <a:satMod val="135000"/>
                </a:schemeClr>
                <a:prstClr val="white"/>
              </a:duotone>
            </a:blip>
            <a:stretch>
              <a:fillRect/>
            </a:stretch>
          </p:blipFill>
          <p:spPr>
            <a:xfrm>
              <a:off x="3247747" y="1693180"/>
              <a:ext cx="540786" cy="540786"/>
            </a:xfrm>
            <a:prstGeom prst="rect">
              <a:avLst/>
            </a:prstGeom>
          </p:spPr>
        </p:pic>
        <p:pic>
          <p:nvPicPr>
            <p:cNvPr id="9" name="图片 8"/>
            <p:cNvPicPr>
              <a:picLocks noChangeAspect="1"/>
            </p:cNvPicPr>
            <p:nvPr/>
          </p:nvPicPr>
          <p:blipFill>
            <a:blip r:embed="rId9">
              <a:duotone>
                <a:schemeClr val="accent3">
                  <a:shade val="45000"/>
                  <a:satMod val="135000"/>
                </a:schemeClr>
                <a:prstClr val="white"/>
              </a:duotone>
            </a:blip>
            <a:stretch>
              <a:fillRect/>
            </a:stretch>
          </p:blipFill>
          <p:spPr>
            <a:xfrm>
              <a:off x="1146857" y="1730179"/>
              <a:ext cx="540786" cy="540786"/>
            </a:xfrm>
            <a:prstGeom prst="rect">
              <a:avLst/>
            </a:prstGeom>
          </p:spPr>
        </p:pic>
        <p:pic>
          <p:nvPicPr>
            <p:cNvPr id="11" name="图片 10"/>
            <p:cNvPicPr>
              <a:picLocks noChangeAspect="1"/>
            </p:cNvPicPr>
            <p:nvPr/>
          </p:nvPicPr>
          <p:blipFill>
            <a:blip r:embed="rId10">
              <a:duotone>
                <a:schemeClr val="accent3">
                  <a:shade val="45000"/>
                  <a:satMod val="135000"/>
                </a:schemeClr>
                <a:prstClr val="white"/>
              </a:duotone>
            </a:blip>
            <a:stretch>
              <a:fillRect/>
            </a:stretch>
          </p:blipFill>
          <p:spPr>
            <a:xfrm>
              <a:off x="2213489" y="1767909"/>
              <a:ext cx="540786" cy="540786"/>
            </a:xfrm>
            <a:prstGeom prst="rect">
              <a:avLst/>
            </a:prstGeom>
          </p:spPr>
        </p:pic>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hape6"/>
          <p:cNvSpPr/>
          <p:nvPr/>
        </p:nvSpPr>
        <p:spPr>
          <a:xfrm>
            <a:off x="531795" y="1702543"/>
            <a:ext cx="8080411" cy="3857948"/>
          </a:xfrm>
          <a:prstGeom prst="roundRect">
            <a:avLst>
              <a:gd name="adj" fmla="val 2991"/>
            </a:avLst>
          </a:prstGeom>
          <a:no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90" dirty="0">
              <a:latin typeface="OPPOSans M" panose="00020600040101010101" pitchFamily="18" charset="-122"/>
              <a:ea typeface="OPPOSans M" panose="00020600040101010101" pitchFamily="18" charset="-122"/>
            </a:endParaRPr>
          </a:p>
        </p:txBody>
      </p:sp>
      <p:pic>
        <p:nvPicPr>
          <p:cNvPr id="2" name="图片 1"/>
          <p:cNvPicPr>
            <a:picLocks noChangeAspect="1"/>
          </p:cNvPicPr>
          <p:nvPr/>
        </p:nvPicPr>
        <p:blipFill>
          <a:blip r:embed="rId3"/>
          <a:stretch>
            <a:fillRect/>
          </a:stretch>
        </p:blipFill>
        <p:spPr>
          <a:xfrm>
            <a:off x="3090651" y="1863262"/>
            <a:ext cx="5245367" cy="3547004"/>
          </a:xfrm>
          <a:prstGeom prst="rect">
            <a:avLst/>
          </a:prstGeom>
        </p:spPr>
      </p:pic>
      <p:sp>
        <p:nvSpPr>
          <p:cNvPr id="3" name="页脚占位符 2"/>
          <p:cNvSpPr>
            <a:spLocks noGrp="1"/>
          </p:cNvSpPr>
          <p:nvPr>
            <p:ph type="ftr" sz="quarter" idx="3"/>
          </p:nvPr>
        </p:nvSpPr>
        <p:spPr>
          <a:xfrm>
            <a:off x="3028950" y="5767589"/>
            <a:ext cx="3086100" cy="233161"/>
          </a:xfrm>
        </p:spPr>
        <p:txBody>
          <a:bodyPr/>
          <a:lstStyle/>
          <a:p>
            <a:endParaRPr kumimoji="1" lang="zh-CN" altLang="en-US" dirty="0">
              <a:latin typeface="黑体" panose="02010609060101010101" pitchFamily="49" charset="-122"/>
              <a:ea typeface="黑体" panose="02010609060101010101" pitchFamily="49" charset="-122"/>
            </a:endParaRPr>
          </a:p>
        </p:txBody>
      </p:sp>
      <p:sp>
        <p:nvSpPr>
          <p:cNvPr id="5" name="灯片编号占位符 4"/>
          <p:cNvSpPr>
            <a:spLocks noGrp="1"/>
          </p:cNvSpPr>
          <p:nvPr>
            <p:ph type="sldNum" sz="quarter" idx="12"/>
          </p:nvPr>
        </p:nvSpPr>
        <p:spPr/>
        <p:txBody>
          <a:bodyPr/>
          <a:lstStyle/>
          <a:p>
            <a:fld id="{4B0D34C0-35A8-654C-9FBA-7B4E017BD630}" type="slidenum">
              <a:rPr lang="en-US" altLang="zh-CN" smtClean="0"/>
              <a:t>45</a:t>
            </a:fld>
            <a:endParaRPr kumimoji="1" lang="zh-CN" altLang="en-US"/>
          </a:p>
        </p:txBody>
      </p:sp>
      <p:grpSp>
        <p:nvGrpSpPr>
          <p:cNvPr id="6" name="组合 5"/>
          <p:cNvGrpSpPr/>
          <p:nvPr/>
        </p:nvGrpSpPr>
        <p:grpSpPr>
          <a:xfrm>
            <a:off x="852942" y="1840816"/>
            <a:ext cx="2451667" cy="3664585"/>
            <a:chOff x="956502" y="1306508"/>
            <a:chExt cx="3268889" cy="4886113"/>
          </a:xfrm>
        </p:grpSpPr>
        <p:sp>
          <p:nvSpPr>
            <p:cNvPr id="12" name="Shape9"/>
            <p:cNvSpPr/>
            <p:nvPr/>
          </p:nvSpPr>
          <p:spPr>
            <a:xfrm>
              <a:off x="956502" y="5651425"/>
              <a:ext cx="3003075" cy="430281"/>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500" b="1" dirty="0">
                <a:latin typeface="OPPOSans M" panose="00020600040101010101" pitchFamily="18" charset="-122"/>
                <a:ea typeface="OPPOSans M" panose="00020600040101010101" pitchFamily="18" charset="-122"/>
              </a:endParaRPr>
            </a:p>
          </p:txBody>
        </p:sp>
        <p:sp>
          <p:nvSpPr>
            <p:cNvPr id="13" name="Shape9"/>
            <p:cNvSpPr/>
            <p:nvPr/>
          </p:nvSpPr>
          <p:spPr>
            <a:xfrm>
              <a:off x="956502" y="4256825"/>
              <a:ext cx="3003075" cy="1259826"/>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500" b="1" dirty="0">
                <a:latin typeface="OPPOSans M" panose="00020600040101010101" pitchFamily="18" charset="-122"/>
                <a:ea typeface="OPPOSans M" panose="00020600040101010101" pitchFamily="18" charset="-122"/>
              </a:endParaRPr>
            </a:p>
          </p:txBody>
        </p:sp>
        <p:sp>
          <p:nvSpPr>
            <p:cNvPr id="14" name="Shape9"/>
            <p:cNvSpPr/>
            <p:nvPr/>
          </p:nvSpPr>
          <p:spPr>
            <a:xfrm>
              <a:off x="956502" y="3461244"/>
              <a:ext cx="3003075" cy="656614"/>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500" b="1" dirty="0">
                <a:latin typeface="OPPOSans M" panose="00020600040101010101" pitchFamily="18" charset="-122"/>
                <a:ea typeface="OPPOSans M" panose="00020600040101010101" pitchFamily="18" charset="-122"/>
              </a:endParaRPr>
            </a:p>
          </p:txBody>
        </p:sp>
        <p:sp>
          <p:nvSpPr>
            <p:cNvPr id="15" name="Shape9"/>
            <p:cNvSpPr/>
            <p:nvPr/>
          </p:nvSpPr>
          <p:spPr>
            <a:xfrm>
              <a:off x="956502" y="2677185"/>
              <a:ext cx="3003075" cy="656614"/>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500" b="1" dirty="0">
                <a:latin typeface="OPPOSans M" panose="00020600040101010101" pitchFamily="18" charset="-122"/>
                <a:ea typeface="OPPOSans M" panose="00020600040101010101" pitchFamily="18" charset="-122"/>
              </a:endParaRPr>
            </a:p>
          </p:txBody>
        </p:sp>
        <p:sp>
          <p:nvSpPr>
            <p:cNvPr id="17" name="Shape9"/>
            <p:cNvSpPr/>
            <p:nvPr/>
          </p:nvSpPr>
          <p:spPr>
            <a:xfrm>
              <a:off x="956502" y="1306508"/>
              <a:ext cx="3003075" cy="1259826"/>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500" b="1" dirty="0">
                <a:latin typeface="OPPOSans M" panose="00020600040101010101" pitchFamily="18" charset="-122"/>
                <a:ea typeface="OPPOSans M" panose="00020600040101010101" pitchFamily="18" charset="-122"/>
              </a:endParaRPr>
            </a:p>
          </p:txBody>
        </p:sp>
        <p:sp>
          <p:nvSpPr>
            <p:cNvPr id="33" name="Content Placeholder 2"/>
            <p:cNvSpPr txBox="1"/>
            <p:nvPr/>
          </p:nvSpPr>
          <p:spPr>
            <a:xfrm>
              <a:off x="1050475" y="1341349"/>
              <a:ext cx="2871167" cy="1259827"/>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Wingdings" panose="05000000000000000000" pitchFamily="2" charset="2"/>
                <a:buChar char="p"/>
                <a:defRPr/>
              </a:pPr>
              <a:r>
                <a:rPr lang="zh-CN" altLang="en-US" sz="1200" b="1" dirty="0">
                  <a:solidFill>
                    <a:srgbClr val="6F1787"/>
                  </a:solidFill>
                  <a:latin typeface="微软雅黑" panose="020B0503020204020204" charset="-122"/>
                  <a:ea typeface="微软雅黑" panose="020B0503020204020204" charset="-122"/>
                  <a:cs typeface="Arial" panose="020B0604020202020204" pitchFamily="34" charset="0"/>
                </a:rPr>
                <a:t> 智能数据库内部优化</a:t>
              </a:r>
              <a:endParaRPr lang="en-US" altLang="zh-CN" sz="1200" b="1" dirty="0">
                <a:solidFill>
                  <a:srgbClr val="6F1787"/>
                </a:solidFill>
                <a:latin typeface="微软雅黑" panose="020B0503020204020204" charset="-122"/>
                <a:ea typeface="微软雅黑" panose="020B0503020204020204" charset="-122"/>
                <a:cs typeface="Arial" panose="020B0604020202020204" pitchFamily="34" charset="0"/>
              </a:endParaRPr>
            </a:p>
            <a:p>
              <a:pPr lvl="1">
                <a:lnSpc>
                  <a:spcPct val="80000"/>
                </a:lnSpc>
                <a:spcBef>
                  <a:spcPts val="750"/>
                </a:spcBef>
                <a:defRPr/>
              </a:pPr>
              <a:r>
                <a:rPr lang="en-US" altLang="zh-CN" sz="1200" dirty="0">
                  <a:latin typeface="微软雅黑" panose="020B0503020204020204" charset="-122"/>
                  <a:ea typeface="微软雅黑" panose="020B0503020204020204" charset="-122"/>
                  <a:cs typeface="Arial" panose="020B0604020202020204" pitchFamily="34" charset="0"/>
                </a:rPr>
                <a:t> </a:t>
              </a:r>
              <a:r>
                <a:rPr lang="zh-CN" altLang="en-US" sz="1200" dirty="0">
                  <a:latin typeface="微软雅黑" panose="020B0503020204020204" charset="-122"/>
                  <a:ea typeface="微软雅黑" panose="020B0503020204020204" charset="-122"/>
                  <a:cs typeface="Arial" panose="020B0604020202020204" pitchFamily="34" charset="0"/>
                </a:rPr>
                <a:t>逻辑查询重写</a:t>
              </a:r>
              <a:endParaRPr lang="en-US" altLang="zh-CN" sz="1200" dirty="0">
                <a:latin typeface="微软雅黑" panose="020B0503020204020204" charset="-122"/>
                <a:ea typeface="微软雅黑" panose="020B0503020204020204" charset="-122"/>
                <a:cs typeface="Arial" panose="020B0604020202020204" pitchFamily="34" charset="0"/>
              </a:endParaRPr>
            </a:p>
            <a:p>
              <a:pPr lvl="1">
                <a:lnSpc>
                  <a:spcPct val="80000"/>
                </a:lnSpc>
                <a:spcBef>
                  <a:spcPts val="750"/>
                </a:spcBef>
                <a:defRPr/>
              </a:pPr>
              <a:r>
                <a:rPr lang="zh-CN" altLang="en-US" sz="1200" dirty="0">
                  <a:latin typeface="微软雅黑" panose="020B0503020204020204" charset="-122"/>
                  <a:ea typeface="微软雅黑" panose="020B0503020204020204" charset="-122"/>
                  <a:cs typeface="Arial" panose="020B0604020202020204" pitchFamily="34" charset="0"/>
                </a:rPr>
                <a:t> 执行代价估计</a:t>
              </a:r>
              <a:endParaRPr lang="en-US" altLang="zh-CN" sz="1200" dirty="0">
                <a:latin typeface="微软雅黑" panose="020B0503020204020204" charset="-122"/>
                <a:ea typeface="微软雅黑" panose="020B0503020204020204" charset="-122"/>
                <a:cs typeface="Arial" panose="020B0604020202020204" pitchFamily="34" charset="0"/>
              </a:endParaRPr>
            </a:p>
            <a:p>
              <a:pPr lvl="1">
                <a:lnSpc>
                  <a:spcPct val="80000"/>
                </a:lnSpc>
                <a:spcBef>
                  <a:spcPts val="750"/>
                </a:spcBef>
                <a:defRPr/>
              </a:pPr>
              <a:r>
                <a:rPr lang="en-US" altLang="zh-CN" sz="1200" dirty="0">
                  <a:latin typeface="微软雅黑" panose="020B0503020204020204" charset="-122"/>
                  <a:ea typeface="微软雅黑" panose="020B0503020204020204" charset="-122"/>
                  <a:cs typeface="Arial" panose="020B0604020202020204" pitchFamily="34" charset="0"/>
                </a:rPr>
                <a:t> </a:t>
              </a:r>
              <a:r>
                <a:rPr lang="zh-CN" altLang="en-US" sz="1200" dirty="0">
                  <a:latin typeface="微软雅黑" panose="020B0503020204020204" charset="-122"/>
                  <a:ea typeface="微软雅黑" panose="020B0503020204020204" charset="-122"/>
                  <a:cs typeface="Arial" panose="020B0604020202020204" pitchFamily="34" charset="0"/>
                </a:rPr>
                <a:t>物理计划选择</a:t>
              </a:r>
              <a:endParaRPr lang="en-US" altLang="zh-CN" sz="1200" dirty="0">
                <a:latin typeface="微软雅黑" panose="020B0503020204020204" charset="-122"/>
                <a:ea typeface="微软雅黑" panose="020B0503020204020204" charset="-122"/>
                <a:cs typeface="Arial" panose="020B0604020202020204" pitchFamily="34" charset="0"/>
              </a:endParaRPr>
            </a:p>
          </p:txBody>
        </p:sp>
        <p:sp>
          <p:nvSpPr>
            <p:cNvPr id="8" name="Content Placeholder 2"/>
            <p:cNvSpPr txBox="1"/>
            <p:nvPr/>
          </p:nvSpPr>
          <p:spPr>
            <a:xfrm>
              <a:off x="1050475" y="2756490"/>
              <a:ext cx="2392968" cy="613660"/>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Wingdings" panose="05000000000000000000" pitchFamily="2" charset="2"/>
                <a:buChar char="p"/>
                <a:defRPr/>
              </a:pPr>
              <a:r>
                <a:rPr lang="zh-CN" altLang="en-US" sz="1200" b="1" dirty="0">
                  <a:solidFill>
                    <a:srgbClr val="6F1787"/>
                  </a:solidFill>
                  <a:latin typeface="微软雅黑" panose="020B0503020204020204" charset="-122"/>
                  <a:ea typeface="微软雅黑" panose="020B0503020204020204" charset="-122"/>
                  <a:cs typeface="Arial" panose="020B0604020202020204" pitchFamily="34" charset="0"/>
                </a:rPr>
                <a:t>智能数据库执行器</a:t>
              </a:r>
              <a:endParaRPr lang="en-US" altLang="zh-CN" sz="1200" b="1" dirty="0">
                <a:solidFill>
                  <a:srgbClr val="6F1787"/>
                </a:solidFill>
                <a:latin typeface="微软雅黑" panose="020B0503020204020204" charset="-122"/>
                <a:ea typeface="微软雅黑" panose="020B0503020204020204" charset="-122"/>
                <a:cs typeface="Arial" panose="020B0604020202020204" pitchFamily="34" charset="0"/>
              </a:endParaRPr>
            </a:p>
            <a:p>
              <a:pPr lvl="1">
                <a:lnSpc>
                  <a:spcPct val="80000"/>
                </a:lnSpc>
                <a:spcBef>
                  <a:spcPts val="750"/>
                </a:spcBef>
                <a:defRPr/>
              </a:pPr>
              <a:r>
                <a:rPr lang="zh-CN" altLang="en-US" sz="1200" dirty="0">
                  <a:latin typeface="微软雅黑" panose="020B0503020204020204" charset="-122"/>
                  <a:ea typeface="微软雅黑" panose="020B0503020204020204" charset="-122"/>
                  <a:cs typeface="Arial" panose="020B0604020202020204" pitchFamily="34" charset="0"/>
                </a:rPr>
                <a:t>并行性能预测</a:t>
              </a:r>
              <a:endParaRPr lang="en-US" altLang="zh-CN" sz="1200" dirty="0">
                <a:latin typeface="微软雅黑" panose="020B0503020204020204" charset="-122"/>
                <a:ea typeface="微软雅黑" panose="020B0503020204020204" charset="-122"/>
                <a:cs typeface="Arial" panose="020B0604020202020204" pitchFamily="34" charset="0"/>
              </a:endParaRPr>
            </a:p>
          </p:txBody>
        </p:sp>
        <p:sp>
          <p:nvSpPr>
            <p:cNvPr id="9" name="Content Placeholder 2"/>
            <p:cNvSpPr txBox="1"/>
            <p:nvPr/>
          </p:nvSpPr>
          <p:spPr>
            <a:xfrm>
              <a:off x="1050475" y="3525464"/>
              <a:ext cx="3174916" cy="613660"/>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Wingdings" panose="05000000000000000000" pitchFamily="2" charset="2"/>
                <a:buChar char="p"/>
                <a:defRPr/>
              </a:pPr>
              <a:r>
                <a:rPr lang="zh-CN" altLang="en-US" sz="1200" b="1" dirty="0">
                  <a:solidFill>
                    <a:srgbClr val="6F1787"/>
                  </a:solidFill>
                  <a:latin typeface="微软雅黑" panose="020B0503020204020204" charset="-122"/>
                  <a:ea typeface="微软雅黑" panose="020B0503020204020204" charset="-122"/>
                  <a:cs typeface="Arial" panose="020B0604020202020204" pitchFamily="34" charset="0"/>
                </a:rPr>
                <a:t>智能数据存储引擎</a:t>
              </a:r>
              <a:endParaRPr lang="en-US" altLang="zh-CN" sz="1200" b="1" dirty="0">
                <a:solidFill>
                  <a:srgbClr val="6F1787"/>
                </a:solidFill>
                <a:latin typeface="微软雅黑" panose="020B0503020204020204" charset="-122"/>
                <a:ea typeface="微软雅黑" panose="020B0503020204020204" charset="-122"/>
                <a:cs typeface="Arial" panose="020B0604020202020204" pitchFamily="34" charset="0"/>
              </a:endParaRPr>
            </a:p>
            <a:p>
              <a:pPr lvl="1">
                <a:lnSpc>
                  <a:spcPct val="80000"/>
                </a:lnSpc>
                <a:spcBef>
                  <a:spcPts val="750"/>
                </a:spcBef>
                <a:defRPr/>
              </a:pPr>
              <a:r>
                <a:rPr lang="zh-CN" altLang="en-US" sz="1200" dirty="0">
                  <a:latin typeface="微软雅黑" panose="020B0503020204020204" charset="-122"/>
                  <a:ea typeface="微软雅黑" panose="020B0503020204020204" charset="-122"/>
                  <a:cs typeface="Arial" panose="020B0604020202020204" pitchFamily="34" charset="0"/>
                </a:rPr>
                <a:t>学习型索引</a:t>
              </a:r>
              <a:endParaRPr lang="en-US" altLang="zh-CN" sz="1200" dirty="0">
                <a:latin typeface="微软雅黑" panose="020B0503020204020204" charset="-122"/>
                <a:ea typeface="微软雅黑" panose="020B0503020204020204" charset="-122"/>
                <a:cs typeface="Arial" panose="020B0604020202020204" pitchFamily="34" charset="0"/>
              </a:endParaRPr>
            </a:p>
          </p:txBody>
        </p:sp>
        <p:sp>
          <p:nvSpPr>
            <p:cNvPr id="10" name="Content Placeholder 2"/>
            <p:cNvSpPr txBox="1"/>
            <p:nvPr/>
          </p:nvSpPr>
          <p:spPr>
            <a:xfrm>
              <a:off x="1050475" y="4294438"/>
              <a:ext cx="2909102" cy="1285680"/>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Wingdings" panose="05000000000000000000" pitchFamily="2" charset="2"/>
                <a:buChar char="p"/>
                <a:defRPr/>
              </a:pPr>
              <a:r>
                <a:rPr lang="zh-CN" altLang="en-US" sz="1200" b="1" dirty="0">
                  <a:solidFill>
                    <a:srgbClr val="6F1787"/>
                  </a:solidFill>
                  <a:latin typeface="微软雅黑" panose="020B0503020204020204" charset="-122"/>
                  <a:ea typeface="微软雅黑" panose="020B0503020204020204" charset="-122"/>
                  <a:cs typeface="Arial" panose="020B0604020202020204" pitchFamily="34" charset="0"/>
                </a:rPr>
                <a:t>智能数据库外部优化</a:t>
              </a:r>
              <a:endParaRPr lang="en-US" altLang="zh-CN" sz="1200" b="1" dirty="0">
                <a:solidFill>
                  <a:srgbClr val="6F1787"/>
                </a:solidFill>
                <a:latin typeface="微软雅黑" panose="020B0503020204020204" charset="-122"/>
                <a:ea typeface="微软雅黑" panose="020B0503020204020204" charset="-122"/>
                <a:cs typeface="Arial" panose="020B0604020202020204" pitchFamily="34" charset="0"/>
              </a:endParaRPr>
            </a:p>
            <a:p>
              <a:pPr lvl="1">
                <a:lnSpc>
                  <a:spcPct val="80000"/>
                </a:lnSpc>
                <a:spcBef>
                  <a:spcPts val="750"/>
                </a:spcBef>
                <a:defRPr/>
              </a:pPr>
              <a:r>
                <a:rPr lang="en-US" altLang="zh-CN" sz="1200" dirty="0">
                  <a:latin typeface="微软雅黑" panose="020B0503020204020204" charset="-122"/>
                  <a:ea typeface="微软雅黑" panose="020B0503020204020204" charset="-122"/>
                  <a:cs typeface="Arial" panose="020B0604020202020204" pitchFamily="34" charset="0"/>
                </a:rPr>
                <a:t> </a:t>
              </a:r>
              <a:r>
                <a:rPr lang="zh-CN" altLang="en-US" sz="1200" dirty="0">
                  <a:latin typeface="微软雅黑" panose="020B0503020204020204" charset="-122"/>
                  <a:ea typeface="微软雅黑" panose="020B0503020204020204" charset="-122"/>
                  <a:cs typeface="Arial" panose="020B0604020202020204" pitchFamily="34" charset="0"/>
                </a:rPr>
                <a:t>智能索引推荐</a:t>
              </a:r>
              <a:endParaRPr lang="en-US" altLang="zh-CN" sz="1200" dirty="0">
                <a:latin typeface="微软雅黑" panose="020B0503020204020204" charset="-122"/>
                <a:ea typeface="微软雅黑" panose="020B0503020204020204" charset="-122"/>
                <a:cs typeface="Arial" panose="020B0604020202020204" pitchFamily="34" charset="0"/>
              </a:endParaRPr>
            </a:p>
            <a:p>
              <a:pPr lvl="1">
                <a:lnSpc>
                  <a:spcPct val="80000"/>
                </a:lnSpc>
                <a:spcBef>
                  <a:spcPts val="750"/>
                </a:spcBef>
                <a:defRPr/>
              </a:pPr>
              <a:r>
                <a:rPr lang="en-US" altLang="zh-CN" sz="1200" dirty="0">
                  <a:latin typeface="微软雅黑" panose="020B0503020204020204" charset="-122"/>
                  <a:ea typeface="微软雅黑" panose="020B0503020204020204" charset="-122"/>
                  <a:cs typeface="Arial" panose="020B0604020202020204" pitchFamily="34" charset="0"/>
                </a:rPr>
                <a:t> </a:t>
              </a:r>
              <a:r>
                <a:rPr lang="zh-CN" altLang="en-US" sz="1200" dirty="0">
                  <a:latin typeface="微软雅黑" panose="020B0503020204020204" charset="-122"/>
                  <a:ea typeface="微软雅黑" panose="020B0503020204020204" charset="-122"/>
                  <a:cs typeface="Arial" panose="020B0604020202020204" pitchFamily="34" charset="0"/>
                </a:rPr>
                <a:t>智能视图推荐</a:t>
              </a:r>
              <a:endParaRPr lang="en-US" altLang="zh-CN" sz="1200" dirty="0">
                <a:latin typeface="微软雅黑" panose="020B0503020204020204" charset="-122"/>
                <a:ea typeface="微软雅黑" panose="020B0503020204020204" charset="-122"/>
                <a:cs typeface="Arial" panose="020B0604020202020204" pitchFamily="34" charset="0"/>
              </a:endParaRPr>
            </a:p>
            <a:p>
              <a:pPr lvl="1">
                <a:lnSpc>
                  <a:spcPct val="80000"/>
                </a:lnSpc>
                <a:spcBef>
                  <a:spcPts val="750"/>
                </a:spcBef>
                <a:defRPr/>
              </a:pPr>
              <a:r>
                <a:rPr lang="zh-CN" altLang="en-US" sz="1200" dirty="0">
                  <a:latin typeface="微软雅黑" panose="020B0503020204020204" charset="-122"/>
                  <a:ea typeface="微软雅黑" panose="020B0503020204020204" charset="-122"/>
                  <a:cs typeface="Arial" panose="020B0604020202020204" pitchFamily="34" charset="0"/>
                </a:rPr>
                <a:t> 智能数据划分</a:t>
              </a:r>
              <a:endParaRPr lang="en-US" altLang="zh-CN" sz="1200" dirty="0">
                <a:latin typeface="微软雅黑" panose="020B0503020204020204" charset="-122"/>
                <a:ea typeface="微软雅黑" panose="020B0503020204020204" charset="-122"/>
                <a:cs typeface="Arial" panose="020B0604020202020204" pitchFamily="34" charset="0"/>
              </a:endParaRPr>
            </a:p>
          </p:txBody>
        </p:sp>
        <p:sp>
          <p:nvSpPr>
            <p:cNvPr id="11" name="Content Placeholder 2"/>
            <p:cNvSpPr txBox="1"/>
            <p:nvPr/>
          </p:nvSpPr>
          <p:spPr>
            <a:xfrm>
              <a:off x="1050482" y="5735421"/>
              <a:ext cx="2192866" cy="457200"/>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Wingdings" panose="05000000000000000000" pitchFamily="2" charset="2"/>
                <a:buChar char="p"/>
                <a:defRPr/>
              </a:pPr>
              <a:r>
                <a:rPr lang="zh-CN" altLang="en-US" sz="1200" b="1" dirty="0">
                  <a:solidFill>
                    <a:srgbClr val="6F1787"/>
                  </a:solidFill>
                  <a:latin typeface="微软雅黑" panose="020B0503020204020204" charset="-122"/>
                  <a:ea typeface="微软雅黑" panose="020B0503020204020204" charset="-122"/>
                  <a:cs typeface="Arial" panose="020B0604020202020204" pitchFamily="34" charset="0"/>
                </a:rPr>
                <a:t>自治数据库系统</a:t>
              </a:r>
              <a:endParaRPr lang="en-US" altLang="zh-CN" sz="1200" b="1" dirty="0">
                <a:solidFill>
                  <a:srgbClr val="6F1787"/>
                </a:solidFill>
                <a:latin typeface="微软雅黑" panose="020B0503020204020204" charset="-122"/>
                <a:ea typeface="微软雅黑" panose="020B0503020204020204" charset="-122"/>
                <a:cs typeface="Arial" panose="020B0604020202020204" pitchFamily="34" charset="0"/>
              </a:endParaRPr>
            </a:p>
          </p:txBody>
        </p:sp>
      </p:grpSp>
      <p:sp>
        <p:nvSpPr>
          <p:cNvPr id="25" name="标题 5"/>
          <p:cNvSpPr txBox="1"/>
          <p:nvPr/>
        </p:nvSpPr>
        <p:spPr bwMode="auto">
          <a:xfrm>
            <a:off x="728663" y="237301"/>
            <a:ext cx="7568173" cy="508853"/>
          </a:xfrm>
          <a:prstGeom prst="rect">
            <a:avLst/>
          </a:prstGeom>
          <a:noFill/>
          <a:ln>
            <a:noFill/>
          </a:ln>
          <a:effectLst/>
        </p:spPr>
        <p:txBody>
          <a:bodyPr vert="horz" wrap="square" lIns="68580" tIns="34290" rIns="68580" bIns="34290" numCol="1" anchor="ctr" anchorCtr="0" compatLnSpc="1"/>
          <a:lstStyle>
            <a:lvl1pPr algn="ctr" rtl="0" eaLnBrk="1" fontAlgn="base" hangingPunct="1">
              <a:spcBef>
                <a:spcPct val="0"/>
              </a:spcBef>
              <a:spcAft>
                <a:spcPct val="0"/>
              </a:spcAft>
              <a:defRPr kumimoji="1" sz="4800" b="1" i="0">
                <a:solidFill>
                  <a:schemeClr val="tx2"/>
                </a:solidFill>
                <a:effectLst/>
                <a:latin typeface="Arial" panose="020B0604020202020204"/>
                <a:ea typeface="黑体" panose="02010609060101010101" pitchFamily="49" charset="-122"/>
                <a:cs typeface="Arial" panose="020B0604020202020204"/>
              </a:defRPr>
            </a:lvl1pPr>
            <a:lvl2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2pPr>
            <a:lvl3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3pPr>
            <a:lvl4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4pPr>
            <a:lvl5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5pPr>
            <a:lvl6pPr marL="42227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6pPr>
            <a:lvl7pPr marL="84391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7pPr>
            <a:lvl8pPr marL="1266190"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8pPr>
            <a:lvl9pPr marL="168846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9pPr>
          </a:lstStyle>
          <a:p>
            <a:pPr defTabSz="342900">
              <a:defRPr/>
            </a:pPr>
            <a:r>
              <a:rPr lang="zh-CN" altLang="en-US" sz="4000" kern="0" dirty="0">
                <a:solidFill>
                  <a:srgbClr val="000000"/>
                </a:solidFill>
                <a:latin typeface="微软雅黑" panose="020B0503020204020204" charset="-122"/>
                <a:ea typeface="微软雅黑" panose="020B0503020204020204" charset="-122"/>
                <a:cs typeface="Arial" panose="020B0604020202020204" pitchFamily="34" charset="0"/>
              </a:rPr>
              <a:t>数据库</a:t>
            </a:r>
            <a:r>
              <a:rPr lang="en-US" altLang="zh-CN" sz="4000" kern="0" dirty="0">
                <a:solidFill>
                  <a:srgbClr val="000000"/>
                </a:solidFill>
                <a:latin typeface="微软雅黑" panose="020B0503020204020204" charset="-122"/>
                <a:ea typeface="微软雅黑" panose="020B0503020204020204" charset="-122"/>
                <a:cs typeface="Arial" panose="020B0604020202020204" pitchFamily="34" charset="0"/>
              </a:rPr>
              <a:t>+AI</a:t>
            </a:r>
            <a:r>
              <a:rPr lang="zh-CN" altLang="en-US" sz="4000" kern="0" dirty="0">
                <a:solidFill>
                  <a:srgbClr val="000000"/>
                </a:solidFill>
                <a:latin typeface="微软雅黑" panose="020B0503020204020204" charset="-122"/>
                <a:ea typeface="微软雅黑" panose="020B0503020204020204" charset="-122"/>
                <a:cs typeface="Arial" panose="020B0604020202020204" pitchFamily="34" charset="0"/>
              </a:rPr>
              <a:t>：</a:t>
            </a:r>
            <a:r>
              <a:rPr lang="en-US" altLang="zh-CN" sz="4000" kern="0" dirty="0">
                <a:solidFill>
                  <a:srgbClr val="000000"/>
                </a:solidFill>
                <a:latin typeface="微软雅黑" panose="020B0503020204020204" charset="-122"/>
                <a:ea typeface="微软雅黑" panose="020B0503020204020204" charset="-122"/>
                <a:cs typeface="Arial" panose="020B0604020202020204" pitchFamily="34" charset="0"/>
              </a:rPr>
              <a:t>AI4DB</a:t>
            </a:r>
            <a:endParaRPr lang="zh-CN" altLang="en-US" sz="4000" dirty="0">
              <a:solidFill>
                <a:prstClr val="black"/>
              </a:solidFill>
              <a:latin typeface="微软雅黑" panose="020B0503020204020204" charset="-122"/>
              <a:ea typeface="微软雅黑" panose="020B0503020204020204" charset="-122"/>
              <a:cs typeface="Arial" panose="020B0604020202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6"/>
          <p:cNvSpPr/>
          <p:nvPr/>
        </p:nvSpPr>
        <p:spPr>
          <a:xfrm>
            <a:off x="611706" y="1723853"/>
            <a:ext cx="7920590" cy="3756890"/>
          </a:xfrm>
          <a:prstGeom prst="roundRect">
            <a:avLst>
              <a:gd name="adj" fmla="val 2991"/>
            </a:avLst>
          </a:prstGeom>
          <a:no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90" dirty="0">
              <a:latin typeface="OPPOSans M" panose="00020600040101010101" pitchFamily="18" charset="-122"/>
              <a:ea typeface="OPPOSans M" panose="00020600040101010101" pitchFamily="18" charset="-122"/>
            </a:endParaRPr>
          </a:p>
        </p:txBody>
      </p:sp>
      <p:sp>
        <p:nvSpPr>
          <p:cNvPr id="9" name="Shape9"/>
          <p:cNvSpPr/>
          <p:nvPr/>
        </p:nvSpPr>
        <p:spPr>
          <a:xfrm>
            <a:off x="728662" y="1858111"/>
            <a:ext cx="5386388" cy="1848953"/>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500" b="1" dirty="0">
              <a:latin typeface="OPPOSans M" panose="00020600040101010101" pitchFamily="18" charset="-122"/>
              <a:ea typeface="OPPOSans M" panose="00020600040101010101" pitchFamily="18" charset="-122"/>
            </a:endParaRPr>
          </a:p>
        </p:txBody>
      </p:sp>
      <p:sp>
        <p:nvSpPr>
          <p:cNvPr id="2" name="灯片编号占位符 1"/>
          <p:cNvSpPr>
            <a:spLocks noGrp="1"/>
          </p:cNvSpPr>
          <p:nvPr>
            <p:ph type="sldNum" sz="quarter" idx="10"/>
          </p:nvPr>
        </p:nvSpPr>
        <p:spPr/>
        <p:txBody>
          <a:bodyPr/>
          <a:lstStyle/>
          <a:p>
            <a:fld id="{87BBDC00-B9E2-4EFD-9306-2934E87247C6}" type="slidenum">
              <a:rPr lang="zh-CN" altLang="en-US" smtClean="0"/>
              <a:t>46</a:t>
            </a:fld>
            <a:endParaRPr lang="zh-CN" altLang="en-US"/>
          </a:p>
        </p:txBody>
      </p:sp>
      <p:sp>
        <p:nvSpPr>
          <p:cNvPr id="4" name="内容占位符 3"/>
          <p:cNvSpPr>
            <a:spLocks noGrp="1"/>
          </p:cNvSpPr>
          <p:nvPr>
            <p:ph idx="1"/>
          </p:nvPr>
        </p:nvSpPr>
        <p:spPr>
          <a:xfrm>
            <a:off x="1136121" y="2020514"/>
            <a:ext cx="3058424" cy="1552292"/>
          </a:xfrm>
        </p:spPr>
        <p:txBody>
          <a:bodyPr/>
          <a:lstStyle/>
          <a:p>
            <a:r>
              <a:rPr lang="zh-CN" altLang="en-US" sz="1350" b="1" dirty="0">
                <a:solidFill>
                  <a:srgbClr val="6F1787"/>
                </a:solidFill>
                <a:latin typeface="微软雅黑" panose="020B0503020204020204" charset="-122"/>
                <a:ea typeface="微软雅黑" panose="020B0503020204020204" charset="-122"/>
              </a:rPr>
              <a:t>优势</a:t>
            </a:r>
            <a:endParaRPr lang="en-US" altLang="zh-CN" sz="1350" b="1" dirty="0">
              <a:solidFill>
                <a:srgbClr val="6F1787"/>
              </a:solidFill>
              <a:latin typeface="微软雅黑" panose="020B0503020204020204" charset="-122"/>
              <a:ea typeface="微软雅黑" panose="020B0503020204020204" charset="-122"/>
            </a:endParaRPr>
          </a:p>
          <a:p>
            <a:pPr lvl="1"/>
            <a:r>
              <a:rPr lang="zh-CN" altLang="en-US" sz="1350" dirty="0">
                <a:latin typeface="微软雅黑" panose="020B0503020204020204" charset="-122"/>
                <a:ea typeface="微软雅黑" panose="020B0503020204020204" charset="-122"/>
              </a:rPr>
              <a:t>在线推理</a:t>
            </a:r>
            <a:r>
              <a:rPr lang="en-US" altLang="zh-CN" sz="1350" dirty="0">
                <a:latin typeface="微软雅黑" panose="020B0503020204020204" charset="-122"/>
                <a:ea typeface="微软雅黑" panose="020B0503020204020204" charset="-122"/>
              </a:rPr>
              <a:t>: T+1 </a:t>
            </a:r>
            <a:r>
              <a:rPr lang="en-US" altLang="zh-CN" sz="1350" dirty="0">
                <a:latin typeface="微软雅黑" panose="020B0503020204020204" charset="-122"/>
                <a:ea typeface="微软雅黑" panose="020B0503020204020204" charset="-122"/>
                <a:sym typeface="Wingdings" panose="05000000000000000000" pitchFamily="2" charset="2"/>
              </a:rPr>
              <a:t> T+0</a:t>
            </a:r>
          </a:p>
          <a:p>
            <a:pPr lvl="1"/>
            <a:r>
              <a:rPr lang="zh-CN" altLang="en-US" sz="1350" dirty="0">
                <a:latin typeface="微软雅黑" panose="020B0503020204020204" charset="-122"/>
                <a:ea typeface="微软雅黑" panose="020B0503020204020204" charset="-122"/>
                <a:sym typeface="Wingdings" panose="05000000000000000000" pitchFamily="2" charset="2"/>
              </a:rPr>
              <a:t>数据安全</a:t>
            </a:r>
            <a:r>
              <a:rPr lang="en-US" altLang="zh-CN" sz="1350" dirty="0">
                <a:latin typeface="微软雅黑" panose="020B0503020204020204" charset="-122"/>
                <a:ea typeface="微软雅黑" panose="020B0503020204020204" charset="-122"/>
                <a:sym typeface="Wingdings" panose="05000000000000000000" pitchFamily="2" charset="2"/>
              </a:rPr>
              <a:t>: ETL  In-DB</a:t>
            </a:r>
          </a:p>
          <a:p>
            <a:pPr lvl="1"/>
            <a:r>
              <a:rPr lang="zh-CN" altLang="en-US" sz="1350" dirty="0">
                <a:latin typeface="微软雅黑" panose="020B0503020204020204" charset="-122"/>
                <a:ea typeface="微软雅黑" panose="020B0503020204020204" charset="-122"/>
              </a:rPr>
              <a:t>资源利用率</a:t>
            </a:r>
            <a:r>
              <a:rPr lang="en-US" altLang="zh-CN" sz="1350" dirty="0">
                <a:latin typeface="微软雅黑" panose="020B0503020204020204" charset="-122"/>
                <a:ea typeface="微软雅黑" panose="020B0503020204020204" charset="-122"/>
              </a:rPr>
              <a:t>: </a:t>
            </a:r>
            <a:r>
              <a:rPr lang="zh-CN" altLang="en-US" sz="1350" dirty="0">
                <a:latin typeface="微软雅黑" panose="020B0503020204020204" charset="-122"/>
                <a:ea typeface="微软雅黑" panose="020B0503020204020204" charset="-122"/>
              </a:rPr>
              <a:t>冗余 </a:t>
            </a:r>
            <a:r>
              <a:rPr lang="en-US" altLang="zh-CN" sz="1350" dirty="0">
                <a:latin typeface="微软雅黑" panose="020B0503020204020204" charset="-122"/>
                <a:ea typeface="微软雅黑" panose="020B0503020204020204" charset="-122"/>
                <a:sym typeface="Wingdings" panose="05000000000000000000" pitchFamily="2" charset="2"/>
              </a:rPr>
              <a:t> </a:t>
            </a:r>
            <a:r>
              <a:rPr lang="zh-CN" altLang="en-US" sz="1350" dirty="0">
                <a:latin typeface="微软雅黑" panose="020B0503020204020204" charset="-122"/>
                <a:ea typeface="微软雅黑" panose="020B0503020204020204" charset="-122"/>
                <a:sym typeface="Wingdings" panose="05000000000000000000" pitchFamily="2" charset="2"/>
              </a:rPr>
              <a:t>一份数据</a:t>
            </a:r>
            <a:endParaRPr lang="en-US" altLang="zh-CN" sz="1350" dirty="0">
              <a:latin typeface="微软雅黑" panose="020B0503020204020204" charset="-122"/>
              <a:ea typeface="微软雅黑" panose="020B0503020204020204" charset="-122"/>
              <a:sym typeface="Wingdings" panose="05000000000000000000" pitchFamily="2" charset="2"/>
            </a:endParaRPr>
          </a:p>
          <a:p>
            <a:pPr lvl="1"/>
            <a:endParaRPr lang="en-US" altLang="zh-CN" sz="1350" b="1" dirty="0">
              <a:solidFill>
                <a:srgbClr val="6F1787"/>
              </a:solidFill>
              <a:latin typeface="微软雅黑" panose="020B0503020204020204" charset="-122"/>
              <a:ea typeface="微软雅黑" panose="020B0503020204020204" charset="-122"/>
              <a:sym typeface="Wingdings" panose="05000000000000000000" pitchFamily="2" charset="2"/>
            </a:endParaRPr>
          </a:p>
          <a:p>
            <a:pPr marL="237490" lvl="1" indent="-237490">
              <a:buFont typeface="Wingdings" panose="05000000000000000000" pitchFamily="2" charset="2"/>
              <a:buChar char="p"/>
            </a:pPr>
            <a:r>
              <a:rPr lang="zh-CN" altLang="en-US" sz="1350" b="1" dirty="0">
                <a:solidFill>
                  <a:srgbClr val="6F1787"/>
                </a:solidFill>
                <a:latin typeface="微软雅黑" panose="020B0503020204020204" charset="-122"/>
                <a:ea typeface="微软雅黑" panose="020B0503020204020204" charset="-122"/>
              </a:rPr>
              <a:t>统一数据、统一查询、数智融合</a:t>
            </a:r>
            <a:endParaRPr lang="en-US" altLang="zh-CN" sz="1350" b="1" dirty="0">
              <a:solidFill>
                <a:srgbClr val="6F1787"/>
              </a:solidFill>
              <a:latin typeface="微软雅黑" panose="020B0503020204020204" charset="-122"/>
              <a:ea typeface="微软雅黑" panose="020B0503020204020204" charset="-122"/>
            </a:endParaRPr>
          </a:p>
        </p:txBody>
      </p:sp>
      <p:sp>
        <p:nvSpPr>
          <p:cNvPr id="5" name="页脚占位符 4"/>
          <p:cNvSpPr>
            <a:spLocks noGrp="1"/>
          </p:cNvSpPr>
          <p:nvPr>
            <p:ph type="ftr" sz="quarter" idx="3"/>
          </p:nvPr>
        </p:nvSpPr>
        <p:spPr/>
        <p:txBody>
          <a:bodyPr/>
          <a:lstStyle/>
          <a:p>
            <a:r>
              <a:rPr kumimoji="1" lang="zh-CN" altLang="en-US"/>
              <a:t>数据库 </a:t>
            </a:r>
            <a:r>
              <a:rPr kumimoji="1" lang="en-US" altLang="zh-CN"/>
              <a:t>- </a:t>
            </a:r>
            <a:r>
              <a:rPr kumimoji="1" lang="zh-CN" altLang="en-US"/>
              <a:t>概述</a:t>
            </a:r>
            <a:endParaRPr kumimoji="1" lang="zh-CN" altLang="en-US" dirty="0"/>
          </a:p>
        </p:txBody>
      </p:sp>
      <p:pic>
        <p:nvPicPr>
          <p:cNvPr id="6" name="图片 5"/>
          <p:cNvPicPr>
            <a:picLocks noChangeAspect="1"/>
          </p:cNvPicPr>
          <p:nvPr/>
        </p:nvPicPr>
        <p:blipFill>
          <a:blip r:embed="rId2"/>
          <a:stretch>
            <a:fillRect/>
          </a:stretch>
        </p:blipFill>
        <p:spPr>
          <a:xfrm>
            <a:off x="745882" y="3869467"/>
            <a:ext cx="7652237" cy="1512260"/>
          </a:xfrm>
          <a:prstGeom prst="rect">
            <a:avLst/>
          </a:prstGeom>
        </p:spPr>
      </p:pic>
      <p:pic>
        <p:nvPicPr>
          <p:cNvPr id="7" name="图片 6"/>
          <p:cNvPicPr>
            <a:picLocks noChangeAspect="1"/>
          </p:cNvPicPr>
          <p:nvPr/>
        </p:nvPicPr>
        <p:blipFill>
          <a:blip r:embed="rId3"/>
          <a:stretch>
            <a:fillRect/>
          </a:stretch>
        </p:blipFill>
        <p:spPr>
          <a:xfrm>
            <a:off x="6399739" y="1818046"/>
            <a:ext cx="1998380" cy="1965785"/>
          </a:xfrm>
          <a:prstGeom prst="rect">
            <a:avLst/>
          </a:prstGeom>
        </p:spPr>
      </p:pic>
      <p:sp>
        <p:nvSpPr>
          <p:cNvPr id="8" name="标题 5"/>
          <p:cNvSpPr txBox="1"/>
          <p:nvPr/>
        </p:nvSpPr>
        <p:spPr bwMode="auto">
          <a:xfrm>
            <a:off x="728663" y="953581"/>
            <a:ext cx="7568173" cy="508853"/>
          </a:xfrm>
          <a:prstGeom prst="rect">
            <a:avLst/>
          </a:prstGeom>
          <a:noFill/>
          <a:ln>
            <a:noFill/>
          </a:ln>
          <a:effectLst/>
        </p:spPr>
        <p:txBody>
          <a:bodyPr vert="horz" wrap="square" lIns="68580" tIns="34290" rIns="68580" bIns="34290" numCol="1" anchor="ctr" anchorCtr="0" compatLnSpc="1"/>
          <a:lstStyle>
            <a:lvl1pPr algn="ctr" rtl="0" eaLnBrk="1" fontAlgn="base" hangingPunct="1">
              <a:spcBef>
                <a:spcPct val="0"/>
              </a:spcBef>
              <a:spcAft>
                <a:spcPct val="0"/>
              </a:spcAft>
              <a:defRPr kumimoji="1" sz="4800" b="1" i="0">
                <a:solidFill>
                  <a:schemeClr val="tx2"/>
                </a:solidFill>
                <a:effectLst/>
                <a:latin typeface="Arial" panose="020B0604020202020204"/>
                <a:ea typeface="黑体" panose="02010609060101010101" pitchFamily="49" charset="-122"/>
                <a:cs typeface="Arial" panose="020B0604020202020204"/>
              </a:defRPr>
            </a:lvl1pPr>
            <a:lvl2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2pPr>
            <a:lvl3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3pPr>
            <a:lvl4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4pPr>
            <a:lvl5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5pPr>
            <a:lvl6pPr marL="42227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6pPr>
            <a:lvl7pPr marL="84391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7pPr>
            <a:lvl8pPr marL="1266190"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8pPr>
            <a:lvl9pPr marL="168846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9pPr>
          </a:lstStyle>
          <a:p>
            <a:r>
              <a:rPr lang="zh-CN" altLang="en-US" sz="2700" kern="0" dirty="0">
                <a:solidFill>
                  <a:srgbClr val="000000"/>
                </a:solidFill>
                <a:latin typeface="微软雅黑" panose="020B0503020204020204" charset="-122"/>
                <a:ea typeface="微软雅黑" panose="020B0503020204020204" charset="-122"/>
                <a:cs typeface="Arial" panose="020B0604020202020204" pitchFamily="34" charset="0"/>
              </a:rPr>
              <a:t>数据库</a:t>
            </a:r>
            <a:r>
              <a:rPr lang="en-US" altLang="zh-CN" sz="2700" kern="0" dirty="0">
                <a:solidFill>
                  <a:srgbClr val="000000"/>
                </a:solidFill>
                <a:latin typeface="微软雅黑" panose="020B0503020204020204" charset="-122"/>
                <a:ea typeface="微软雅黑" panose="020B0503020204020204" charset="-122"/>
                <a:cs typeface="Arial" panose="020B0604020202020204" pitchFamily="34" charset="0"/>
              </a:rPr>
              <a:t>+AI</a:t>
            </a:r>
            <a:r>
              <a:rPr lang="zh-CN" altLang="en-US" sz="2700" kern="0" dirty="0">
                <a:solidFill>
                  <a:prstClr val="black"/>
                </a:solidFill>
                <a:latin typeface="微软雅黑" panose="020B0503020204020204" charset="-122"/>
                <a:ea typeface="微软雅黑" panose="020B0503020204020204" charset="-122"/>
                <a:cs typeface="Arial" panose="020B0604020202020204" pitchFamily="34" charset="0"/>
              </a:rPr>
              <a:t>：</a:t>
            </a:r>
            <a:r>
              <a:rPr lang="en-US" altLang="zh-CN" sz="2700" dirty="0">
                <a:latin typeface="微软雅黑" panose="020B0503020204020204" charset="-122"/>
                <a:ea typeface="微软雅黑" panose="020B0503020204020204" charset="-122"/>
              </a:rPr>
              <a:t>DB4AI</a:t>
            </a:r>
            <a:endParaRPr lang="zh-CN" altLang="en-US" sz="2625" kern="0" dirty="0">
              <a:latin typeface="微软雅黑" panose="020B0503020204020204" charset="-122"/>
              <a:ea typeface="微软雅黑" panose="020B050302020402020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87BBDC00-B9E2-4EFD-9306-2934E87247C6}" type="slidenum">
              <a:rPr lang="zh-CN" altLang="en-US" smtClean="0"/>
              <a:t>47</a:t>
            </a:fld>
            <a:endParaRPr lang="zh-CN" altLang="en-US"/>
          </a:p>
        </p:txBody>
      </p:sp>
      <p:sp>
        <p:nvSpPr>
          <p:cNvPr id="3" name="标题 2"/>
          <p:cNvSpPr>
            <a:spLocks noGrp="1"/>
          </p:cNvSpPr>
          <p:nvPr>
            <p:ph type="title"/>
          </p:nvPr>
        </p:nvSpPr>
        <p:spPr>
          <a:noFill/>
          <a:ln>
            <a:noFill/>
          </a:ln>
          <a:effectLst/>
        </p:spPr>
        <p:txBody>
          <a:bodyPr vert="horz" wrap="square" lIns="68580" tIns="34290" rIns="68580" bIns="34290" numCol="1" anchor="ctr" anchorCtr="0" compatLnSpc="1"/>
          <a:lstStyle/>
          <a:p>
            <a:r>
              <a:rPr lang="zh-CN" altLang="en-US" sz="2700" dirty="0">
                <a:solidFill>
                  <a:srgbClr val="000000"/>
                </a:solidFill>
                <a:latin typeface="微软雅黑" panose="020B0503020204020204" charset="-122"/>
                <a:ea typeface="微软雅黑" panose="020B0503020204020204" charset="-122"/>
                <a:cs typeface="Arial" panose="020B0604020202020204" pitchFamily="34" charset="0"/>
              </a:rPr>
              <a:t>数据库</a:t>
            </a:r>
            <a:r>
              <a:rPr lang="en-US" altLang="zh-CN" sz="2700" dirty="0">
                <a:solidFill>
                  <a:srgbClr val="000000"/>
                </a:solidFill>
                <a:latin typeface="微软雅黑" panose="020B0503020204020204" charset="-122"/>
                <a:ea typeface="微软雅黑" panose="020B0503020204020204" charset="-122"/>
                <a:cs typeface="Arial" panose="020B0604020202020204" pitchFamily="34" charset="0"/>
              </a:rPr>
              <a:t>+</a:t>
            </a:r>
            <a:r>
              <a:rPr lang="zh-CN" altLang="en-US" sz="2700" dirty="0">
                <a:solidFill>
                  <a:srgbClr val="000000"/>
                </a:solidFill>
                <a:latin typeface="微软雅黑" panose="020B0503020204020204" charset="-122"/>
                <a:ea typeface="微软雅黑" panose="020B0503020204020204" charset="-122"/>
                <a:cs typeface="Arial" panose="020B0604020202020204" pitchFamily="34" charset="0"/>
              </a:rPr>
              <a:t>安全</a:t>
            </a:r>
          </a:p>
        </p:txBody>
      </p:sp>
      <p:sp>
        <p:nvSpPr>
          <p:cNvPr id="4" name="内容占位符 3"/>
          <p:cNvSpPr>
            <a:spLocks noGrp="1"/>
          </p:cNvSpPr>
          <p:nvPr>
            <p:ph idx="1"/>
          </p:nvPr>
        </p:nvSpPr>
        <p:spPr/>
        <p:txBody>
          <a:bodyPr/>
          <a:lstStyle/>
          <a:p>
            <a:r>
              <a:rPr kumimoji="1" lang="zh-CN" altLang="en-US" sz="2800" dirty="0"/>
              <a:t>全密态数据库</a:t>
            </a:r>
            <a:r>
              <a:rPr lang="zh-CN" altLang="en-US" sz="2800" dirty="0"/>
              <a:t>、防篡改数据库、</a:t>
            </a:r>
            <a:endParaRPr lang="en-US" altLang="zh-CN" sz="2800" dirty="0"/>
          </a:p>
          <a:p>
            <a:r>
              <a:rPr kumimoji="1" lang="zh-CN" altLang="en-US" sz="2800" dirty="0"/>
              <a:t>智能访问控制、安全隐私保护</a:t>
            </a:r>
            <a:endParaRPr kumimoji="1" lang="en-US" altLang="zh-CN" sz="2800" dirty="0"/>
          </a:p>
          <a:p>
            <a:r>
              <a:rPr lang="zh-CN" altLang="en-US" sz="2800" dirty="0"/>
              <a:t>联邦数据查询</a:t>
            </a:r>
            <a:endParaRPr kumimoji="1" lang="en-US" altLang="zh-CN" sz="2800" dirty="0"/>
          </a:p>
          <a:p>
            <a:endParaRPr kumimoji="1" lang="en-US" altLang="zh-CN" sz="2800" dirty="0"/>
          </a:p>
          <a:p>
            <a:endParaRPr kumimoji="1" lang="zh-CN" altLang="en-US" sz="2800" dirty="0"/>
          </a:p>
        </p:txBody>
      </p:sp>
      <p:sp>
        <p:nvSpPr>
          <p:cNvPr id="5" name="页脚占位符 4"/>
          <p:cNvSpPr>
            <a:spLocks noGrp="1"/>
          </p:cNvSpPr>
          <p:nvPr>
            <p:ph type="ftr" sz="quarter" idx="3"/>
          </p:nvPr>
        </p:nvSpPr>
        <p:spPr/>
        <p:txBody>
          <a:bodyPr/>
          <a:lstStyle/>
          <a:p>
            <a:r>
              <a:rPr kumimoji="1" lang="zh-CN" altLang="en-US"/>
              <a:t>数据库 </a:t>
            </a:r>
            <a:r>
              <a:rPr kumimoji="1" lang="en-US" altLang="zh-CN"/>
              <a:t>- </a:t>
            </a:r>
            <a:r>
              <a:rPr kumimoji="1" lang="zh-CN" altLang="en-US"/>
              <a:t>概述</a:t>
            </a:r>
            <a:endParaRPr kumimoji="1" lang="zh-CN" altLang="en-US" dirty="0"/>
          </a:p>
        </p:txBody>
      </p:sp>
      <p:pic>
        <p:nvPicPr>
          <p:cNvPr id="6" name="Graphic 1194002391"/>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423" y="2954216"/>
            <a:ext cx="8876612" cy="3247048"/>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solidFill>
                  <a:srgbClr val="C00000"/>
                </a:solidFill>
                <a:latin typeface="黑体" panose="02010609060101010101" pitchFamily="49" charset="-122"/>
                <a:ea typeface="黑体" panose="02010609060101010101" pitchFamily="49" charset="-122"/>
              </a:rPr>
              <a:t>提</a:t>
            </a:r>
            <a:r>
              <a:rPr lang="en-US" altLang="zh-CN" sz="4000">
                <a:solidFill>
                  <a:srgbClr val="C00000"/>
                </a:solidFill>
                <a:latin typeface="黑体" panose="02010609060101010101" pitchFamily="49" charset="-122"/>
                <a:ea typeface="黑体" panose="02010609060101010101" pitchFamily="49" charset="-122"/>
              </a:rPr>
              <a:t>  </a:t>
            </a:r>
            <a:r>
              <a:rPr lang="zh-CN" altLang="en-US" sz="4000">
                <a:solidFill>
                  <a:srgbClr val="C00000"/>
                </a:solidFill>
                <a:latin typeface="黑体" panose="02010609060101010101" pitchFamily="49" charset="-122"/>
                <a:ea typeface="黑体" panose="02010609060101010101" pitchFamily="49" charset="-122"/>
              </a:rPr>
              <a:t>纲</a:t>
            </a:r>
          </a:p>
        </p:txBody>
      </p:sp>
      <p:sp>
        <p:nvSpPr>
          <p:cNvPr id="3" name="内容占位符 2"/>
          <p:cNvSpPr>
            <a:spLocks noGrp="1"/>
          </p:cNvSpPr>
          <p:nvPr>
            <p:ph idx="1"/>
          </p:nvPr>
        </p:nvSpPr>
        <p:spPr/>
        <p:txBody>
          <a:bodyPr/>
          <a:lstStyle/>
          <a:p>
            <a:r>
              <a:rPr lang="zh-CN" altLang="en-US" sz="2400" b="1">
                <a:solidFill>
                  <a:schemeClr val="accent5">
                    <a:lumMod val="65000"/>
                  </a:schemeClr>
                </a:solidFill>
                <a:latin typeface="Arial" panose="020B0604020202020204" pitchFamily="34" charset="0"/>
                <a:ea typeface="新宋体" panose="02010609030101010101" charset="-122"/>
              </a:rPr>
              <a:t>课程简介</a:t>
            </a:r>
          </a:p>
          <a:p>
            <a:r>
              <a:rPr lang="zh-CN" altLang="en-US" sz="2400" b="1">
                <a:solidFill>
                  <a:schemeClr val="accent5">
                    <a:lumMod val="65000"/>
                  </a:schemeClr>
                </a:solidFill>
                <a:latin typeface="Arial" panose="020B0604020202020204" pitchFamily="34" charset="0"/>
                <a:ea typeface="新宋体" panose="02010609030101010101" charset="-122"/>
              </a:rPr>
              <a:t>数据库概览</a:t>
            </a:r>
          </a:p>
          <a:p>
            <a:pPr lvl="1"/>
            <a:r>
              <a:rPr lang="zh-CN" altLang="en-US" sz="2400" b="1">
                <a:solidFill>
                  <a:schemeClr val="accent5">
                    <a:lumMod val="65000"/>
                  </a:schemeClr>
                </a:solidFill>
                <a:latin typeface="Arial" panose="020B0604020202020204" pitchFamily="34" charset="0"/>
                <a:ea typeface="新宋体" panose="02010609030101010101" charset="-122"/>
              </a:rPr>
              <a:t>学科简介</a:t>
            </a:r>
          </a:p>
          <a:p>
            <a:pPr lvl="1"/>
            <a:r>
              <a:rPr lang="zh-CN" altLang="en-US" sz="2400" b="1">
                <a:solidFill>
                  <a:schemeClr val="accent5">
                    <a:lumMod val="65000"/>
                  </a:schemeClr>
                </a:solidFill>
                <a:latin typeface="Arial" panose="020B0604020202020204" pitchFamily="34" charset="0"/>
                <a:ea typeface="新宋体" panose="02010609030101010101" charset="-122"/>
              </a:rPr>
              <a:t>数据库发展史</a:t>
            </a:r>
          </a:p>
          <a:p>
            <a:pPr lvl="0" algn="l"/>
            <a:r>
              <a:rPr lang="zh-CN" altLang="en-US" sz="2400" b="1">
                <a:solidFill>
                  <a:schemeClr val="accent5">
                    <a:lumMod val="65000"/>
                  </a:schemeClr>
                </a:solidFill>
                <a:latin typeface="Arial" panose="020B0604020202020204" pitchFamily="34" charset="0"/>
                <a:ea typeface="新宋体" panose="02010609030101010101" charset="-122"/>
              </a:rPr>
              <a:t>数据库引擎</a:t>
            </a:r>
          </a:p>
          <a:p>
            <a:pPr lvl="1"/>
            <a:r>
              <a:rPr lang="zh-CN" altLang="en-US" sz="2400" b="1">
                <a:solidFill>
                  <a:schemeClr val="accent5">
                    <a:lumMod val="65000"/>
                  </a:schemeClr>
                </a:solidFill>
                <a:latin typeface="Arial" panose="020B0604020202020204" pitchFamily="34" charset="0"/>
                <a:ea typeface="新宋体" panose="02010609030101010101" charset="-122"/>
              </a:rPr>
              <a:t>国外</a:t>
            </a:r>
          </a:p>
          <a:p>
            <a:pPr lvl="1"/>
            <a:r>
              <a:rPr lang="zh-CN" altLang="en-US" sz="2400" b="1">
                <a:solidFill>
                  <a:schemeClr val="accent5">
                    <a:lumMod val="65000"/>
                  </a:schemeClr>
                </a:solidFill>
                <a:latin typeface="Arial" panose="020B0604020202020204" pitchFamily="34" charset="0"/>
                <a:ea typeface="新宋体" panose="02010609030101010101" charset="-122"/>
              </a:rPr>
              <a:t>国内</a:t>
            </a:r>
          </a:p>
          <a:p>
            <a:pPr lvl="0" algn="l"/>
            <a:r>
              <a:rPr lang="zh-CN" altLang="en-US" sz="2400" b="1">
                <a:solidFill>
                  <a:schemeClr val="accent5">
                    <a:lumMod val="65000"/>
                  </a:schemeClr>
                </a:solidFill>
                <a:latin typeface="Arial" panose="020B0604020202020204" pitchFamily="34" charset="0"/>
                <a:ea typeface="新宋体" panose="02010609030101010101" charset="-122"/>
              </a:rPr>
              <a:t>数据库生态</a:t>
            </a:r>
          </a:p>
          <a:p>
            <a:pPr lvl="0" algn="l"/>
            <a:r>
              <a:rPr lang="zh-CN" altLang="en-US" sz="2400" b="1">
                <a:solidFill>
                  <a:schemeClr val="accent5">
                    <a:lumMod val="65000"/>
                  </a:schemeClr>
                </a:solidFill>
                <a:latin typeface="Arial" panose="020B0604020202020204" pitchFamily="34" charset="0"/>
                <a:ea typeface="新宋体" panose="02010609030101010101" charset="-122"/>
              </a:rPr>
              <a:t>数据库新变化</a:t>
            </a:r>
          </a:p>
          <a:p>
            <a:pPr lvl="0" algn="l"/>
            <a:r>
              <a:rPr lang="zh-CN" altLang="en-US" sz="2400" b="1">
                <a:solidFill>
                  <a:srgbClr val="C00000"/>
                </a:solidFill>
                <a:latin typeface="Arial" panose="020B0604020202020204" pitchFamily="34" charset="0"/>
                <a:ea typeface="新宋体" panose="02010609030101010101" charset="-122"/>
              </a:rPr>
              <a:t>数据库学术圈</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数据库研究</a:t>
            </a:r>
          </a:p>
        </p:txBody>
      </p:sp>
      <p:sp>
        <p:nvSpPr>
          <p:cNvPr id="32771" name="Rectangle 3"/>
          <p:cNvSpPr>
            <a:spLocks noGrp="1"/>
          </p:cNvSpPr>
          <p:nvPr>
            <p:ph idx="1"/>
          </p:nvPr>
        </p:nvSpPr>
        <p:spPr>
          <a:xfrm>
            <a:off x="263236" y="1176916"/>
            <a:ext cx="8582314" cy="4903787"/>
          </a:xfrm>
        </p:spPr>
        <p:txBody>
          <a:bodyPr vert="horz" wrap="square" lIns="91440" tIns="45720" rIns="91440" bIns="45720" anchor="t"/>
          <a:lstStyle/>
          <a:p>
            <a:pPr eaLnBrk="1" hangingPunct="1">
              <a:lnSpc>
                <a:spcPct val="120000"/>
              </a:lnSpc>
              <a:buSzPct val="125000"/>
            </a:pPr>
            <a:r>
              <a:rPr kumimoji="1" lang="zh-CN" altLang="en-US" sz="26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国际会议</a:t>
            </a:r>
            <a:endParaRPr kumimoji="1" lang="zh-CN" altLang="en-US" sz="2600" dirty="0">
              <a:latin typeface="微软雅黑" panose="020B0503020204020204" charset="-122"/>
              <a:ea typeface="微软雅黑" panose="020B0503020204020204" charset="-122"/>
              <a:cs typeface="+mn-cs"/>
            </a:endParaRPr>
          </a:p>
          <a:p>
            <a:pPr lvl="1" eaLnBrk="1" hangingPunct="1">
              <a:lnSpc>
                <a:spcPct val="120000"/>
              </a:lnSpc>
            </a:pPr>
            <a:r>
              <a:rPr kumimoji="1" lang="en-US" altLang="zh-CN" sz="2400" dirty="0">
                <a:latin typeface="微软雅黑" panose="020B0503020204020204" charset="-122"/>
                <a:ea typeface="微软雅黑" panose="020B0503020204020204" charset="-122"/>
                <a:cs typeface="楷体_GB2312" panose="02010609030101010101" charset="-122"/>
              </a:rPr>
              <a:t>SIGMOD/PODS,VLDB, ICDE, EDBT/ICDT, CIKM……</a:t>
            </a:r>
          </a:p>
          <a:p>
            <a:pPr eaLnBrk="1" hangingPunct="1">
              <a:lnSpc>
                <a:spcPct val="120000"/>
              </a:lnSpc>
              <a:buSzPct val="125000"/>
            </a:pPr>
            <a:r>
              <a:rPr kumimoji="1" lang="zh-CN" altLang="en-US" sz="26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研究机构</a:t>
            </a:r>
            <a:endParaRPr kumimoji="1" lang="zh-CN" altLang="en-US" sz="2600" dirty="0">
              <a:latin typeface="微软雅黑" panose="020B0503020204020204" charset="-122"/>
              <a:ea typeface="微软雅黑" panose="020B0503020204020204" charset="-122"/>
              <a:cs typeface="+mn-cs"/>
            </a:endParaRPr>
          </a:p>
          <a:p>
            <a:pPr lvl="1" eaLnBrk="1" hangingPunct="1">
              <a:lnSpc>
                <a:spcPct val="120000"/>
              </a:lnSpc>
            </a:pPr>
            <a:r>
              <a:rPr kumimoji="1" lang="en-US" altLang="zh-CN" sz="2400" dirty="0">
                <a:latin typeface="微软雅黑" panose="020B0503020204020204" charset="-122"/>
                <a:ea typeface="微软雅黑" panose="020B0503020204020204" charset="-122"/>
                <a:cs typeface="楷体_GB2312" panose="02010609030101010101" charset="-122"/>
              </a:rPr>
              <a:t>IBM  Watson,   Almaden</a:t>
            </a:r>
            <a:r>
              <a:rPr kumimoji="1" lang="zh-CN" altLang="en-US" sz="2400" dirty="0">
                <a:latin typeface="微软雅黑" panose="020B0503020204020204" charset="-122"/>
                <a:ea typeface="微软雅黑" panose="020B0503020204020204" charset="-122"/>
                <a:cs typeface="楷体_GB2312" panose="02010609030101010101" charset="-122"/>
              </a:rPr>
              <a:t>研究中心</a:t>
            </a:r>
          </a:p>
          <a:p>
            <a:pPr lvl="1" eaLnBrk="1" hangingPunct="1">
              <a:lnSpc>
                <a:spcPct val="120000"/>
              </a:lnSpc>
            </a:pPr>
            <a:r>
              <a:rPr kumimoji="1" lang="en-US" altLang="zh-CN" sz="2400" dirty="0">
                <a:latin typeface="微软雅黑" panose="020B0503020204020204" charset="-122"/>
                <a:ea typeface="微软雅黑" panose="020B0503020204020204" charset="-122"/>
                <a:cs typeface="楷体_GB2312" panose="02010609030101010101" charset="-122"/>
              </a:rPr>
              <a:t>AT&amp;T</a:t>
            </a:r>
            <a:r>
              <a:rPr kumimoji="1" lang="zh-CN" altLang="en-US" sz="2400" dirty="0">
                <a:latin typeface="微软雅黑" panose="020B0503020204020204" charset="-122"/>
                <a:ea typeface="微软雅黑" panose="020B0503020204020204" charset="-122"/>
                <a:cs typeface="楷体_GB2312" panose="02010609030101010101" charset="-122"/>
              </a:rPr>
              <a:t>实验室</a:t>
            </a:r>
          </a:p>
          <a:p>
            <a:pPr lvl="1" eaLnBrk="1" hangingPunct="1">
              <a:lnSpc>
                <a:spcPct val="120000"/>
              </a:lnSpc>
            </a:pPr>
            <a:r>
              <a:rPr kumimoji="1" lang="en-US" altLang="zh-CN" sz="2400" dirty="0">
                <a:latin typeface="微软雅黑" panose="020B0503020204020204" charset="-122"/>
                <a:ea typeface="微软雅黑" panose="020B0503020204020204" charset="-122"/>
                <a:cs typeface="楷体_GB2312" panose="02010609030101010101" charset="-122"/>
              </a:rPr>
              <a:t>Microsoft </a:t>
            </a:r>
          </a:p>
          <a:p>
            <a:pPr eaLnBrk="1" hangingPunct="1">
              <a:lnSpc>
                <a:spcPct val="120000"/>
              </a:lnSpc>
              <a:buSzPct val="125000"/>
            </a:pPr>
            <a:r>
              <a:rPr kumimoji="1" lang="zh-CN" altLang="en-US" sz="26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大学</a:t>
            </a:r>
            <a:endParaRPr kumimoji="1" lang="zh-CN" altLang="en-US" sz="2600" dirty="0">
              <a:latin typeface="微软雅黑" panose="020B0503020204020204" charset="-122"/>
              <a:ea typeface="微软雅黑" panose="020B0503020204020204" charset="-122"/>
              <a:cs typeface="+mn-cs"/>
            </a:endParaRPr>
          </a:p>
          <a:p>
            <a:pPr lvl="1" eaLnBrk="1" hangingPunct="1">
              <a:lnSpc>
                <a:spcPct val="120000"/>
              </a:lnSpc>
            </a:pPr>
            <a:r>
              <a:rPr kumimoji="1" lang="en-US" altLang="zh-CN" sz="2400" dirty="0">
                <a:latin typeface="微软雅黑" panose="020B0503020204020204" charset="-122"/>
                <a:ea typeface="微软雅黑" panose="020B0503020204020204" charset="-122"/>
                <a:cs typeface="楷体_GB2312" panose="02010609030101010101" charset="-122"/>
              </a:rPr>
              <a:t>Stanford, MIT, Berkeley, Duke, Washington, Cornell, Pennsylvanian, Maryland, Wisconsin, Michigan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研究热点</a:t>
            </a:r>
            <a:r>
              <a:rPr lang="en-US" altLang="zh-CN"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-SIGMOD</a:t>
            </a:r>
          </a:p>
        </p:txBody>
      </p:sp>
      <p:sp>
        <p:nvSpPr>
          <p:cNvPr id="22531" name="Rectangle 3"/>
          <p:cNvSpPr>
            <a:spLocks noGrp="1" noChangeArrowheads="1"/>
          </p:cNvSpPr>
          <p:nvPr>
            <p:ph idx="1"/>
          </p:nvPr>
        </p:nvSpPr>
        <p:spPr>
          <a:xfrm>
            <a:off x="248285" y="1011555"/>
            <a:ext cx="8597265" cy="5487035"/>
          </a:xfrm>
          <a:noFill/>
          <a:ln>
            <a:noFill/>
          </a:ln>
        </p:spPr>
        <p:txBody>
          <a:bodyPr vert="horz" wrap="square" lIns="91440" tIns="45720" rIns="91440" bIns="45720" numCol="1" anchor="t" anchorCtr="0" compatLnSpc="1"/>
          <a:lstStyle/>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Concurrency</a:t>
            </a: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Streams</a:t>
            </a: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Optimization and Performance</a:t>
            </a: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Parallel and Distributed Query Processing </a:t>
            </a: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Encryption</a:t>
            </a: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Optimization and Main Memory</a:t>
            </a:r>
          </a:p>
          <a:p>
            <a:pPr eaLnBrk="1" hangingPunct="1">
              <a:lnSpc>
                <a:spcPct val="120000"/>
              </a:lnSpc>
              <a:buSzPct val="125000"/>
            </a:pP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Tree &amp; Graph Processing</a:t>
            </a: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New Hardware</a:t>
            </a: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Influence in Social Networks</a:t>
            </a: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Machine Learning</a:t>
            </a: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Spatial and Multidimensional Data</a:t>
            </a:r>
          </a:p>
        </p:txBody>
      </p:sp>
      <p:sp>
        <p:nvSpPr>
          <p:cNvPr id="2" name="右箭头 1"/>
          <p:cNvSpPr/>
          <p:nvPr/>
        </p:nvSpPr>
        <p:spPr bwMode="auto">
          <a:xfrm>
            <a:off x="5576253" y="1844675"/>
            <a:ext cx="1152525" cy="576263"/>
          </a:xfrm>
          <a:prstGeom prst="rightArrow">
            <a:avLst/>
          </a:prstGeom>
          <a:solidFill>
            <a:schemeClr val="bg1">
              <a:lumMod val="95000"/>
            </a:schemeClr>
          </a:solidFill>
          <a:ln w="12700" cap="sq" cmpd="sng" algn="ctr">
            <a:solidFill>
              <a:schemeClr val="tx1"/>
            </a:solidFill>
            <a:prstDash val="solid"/>
            <a:round/>
            <a:headEnd type="none" w="med" len="med"/>
            <a:tailEnd type="none" w="med" len="med"/>
          </a:ln>
          <a:effectLst/>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2800" b="1"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endParaRPr>
          </a:p>
        </p:txBody>
      </p:sp>
      <p:sp>
        <p:nvSpPr>
          <p:cNvPr id="33797" name="矩形 2"/>
          <p:cNvSpPr/>
          <p:nvPr/>
        </p:nvSpPr>
        <p:spPr>
          <a:xfrm>
            <a:off x="6812915" y="1933575"/>
            <a:ext cx="1858963" cy="400050"/>
          </a:xfrm>
          <a:prstGeom prst="rect">
            <a:avLst/>
          </a:prstGeom>
          <a:noFill/>
          <a:ln w="9525">
            <a:noFill/>
          </a:ln>
        </p:spPr>
        <p:txBody>
          <a:bodyPr wrap="none">
            <a:spAutoFit/>
          </a:bodyPr>
          <a:lstStyle>
            <a:lvl1pPr marL="342900" indent="-342900" algn="l" rtl="0" eaLnBrk="0" fontAlgn="base" hangingPunct="0">
              <a:lnSpc>
                <a:spcPct val="130000"/>
              </a:lnSpc>
              <a:spcBef>
                <a:spcPct val="20000"/>
              </a:spcBef>
              <a:spcAft>
                <a:spcPct val="0"/>
              </a:spcAft>
              <a:buClr>
                <a:srgbClr val="FF3300"/>
              </a:buClr>
              <a:buSzPct val="125000"/>
              <a:buFont typeface="Times New Roman" panose="02020603050405020304" pitchFamily="18" charset="0"/>
              <a:buChar char="♠"/>
              <a:defRPr kumimoji="1" sz="3000" b="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lr>
                <a:schemeClr val="accent2"/>
              </a:buClr>
              <a:buFont typeface="Times New Roman" panose="02020603050405020304" pitchFamily="18" charset="0"/>
              <a:buChar char="♣"/>
              <a:defRPr kumimoji="1" sz="2800">
                <a:solidFill>
                  <a:schemeClr val="tx1"/>
                </a:solidFill>
                <a:latin typeface="+mn-lt"/>
                <a:ea typeface="+mj-ea"/>
                <a:cs typeface="楷体_GB2312" panose="02010609030101010101" charset="-122"/>
              </a:defRPr>
            </a:lvl2pPr>
            <a:lvl3pPr marL="1143000" indent="-228600" algn="l" rtl="0" eaLnBrk="0" fontAlgn="base" hangingPunct="0">
              <a:lnSpc>
                <a:spcPct val="130000"/>
              </a:lnSpc>
              <a:spcBef>
                <a:spcPct val="20000"/>
              </a:spcBef>
              <a:spcAft>
                <a:spcPct val="0"/>
              </a:spcAft>
              <a:buClr>
                <a:srgbClr val="D60093"/>
              </a:buClr>
              <a:buFont typeface="Times New Roman" panose="02020603050405020304" pitchFamily="18" charset="0"/>
              <a:buChar char="♦"/>
              <a:defRPr kumimoji="1" sz="2600">
                <a:solidFill>
                  <a:schemeClr val="tx1"/>
                </a:solidFill>
                <a:latin typeface="+mn-lt"/>
                <a:ea typeface="+mj-ea"/>
                <a:cs typeface="楷体_GB2312" panose="02010609030101010101" charset="-122"/>
              </a:defRPr>
            </a:lvl3pPr>
            <a:lvl4pPr marL="16002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4pPr>
            <a:lvl5pPr marL="20574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5pPr>
          </a:lstStyle>
          <a:p>
            <a:pPr marL="0" lvl="0" indent="0" algn="ctr" eaLnBrk="1" hangingPunct="1">
              <a:lnSpc>
                <a:spcPct val="100000"/>
              </a:lnSpc>
              <a:spcBef>
                <a:spcPct val="50000"/>
              </a:spcBef>
              <a:buClrTx/>
              <a:buSzTx/>
              <a:buFontTx/>
              <a:buNone/>
            </a:pPr>
            <a:r>
              <a:rPr lang="en-US" altLang="zh-CN" sz="2000" dirty="0">
                <a:latin typeface="微软雅黑" panose="020B0503020204020204" charset="-122"/>
                <a:ea typeface="微软雅黑" panose="020B0503020204020204" charset="-122"/>
              </a:rPr>
              <a:t>Old problems</a:t>
            </a:r>
            <a:endParaRPr lang="zh-CN" altLang="en-US" sz="2000" dirty="0">
              <a:latin typeface="微软雅黑" panose="020B0503020204020204" charset="-122"/>
              <a:ea typeface="微软雅黑" panose="020B0503020204020204" charset="-122"/>
            </a:endParaRPr>
          </a:p>
        </p:txBody>
      </p:sp>
      <p:sp>
        <p:nvSpPr>
          <p:cNvPr id="6" name="右箭头 5"/>
          <p:cNvSpPr/>
          <p:nvPr/>
        </p:nvSpPr>
        <p:spPr bwMode="auto">
          <a:xfrm>
            <a:off x="5592763" y="5043805"/>
            <a:ext cx="1152525" cy="576263"/>
          </a:xfrm>
          <a:prstGeom prst="rightArrow">
            <a:avLst/>
          </a:prstGeom>
          <a:solidFill>
            <a:schemeClr val="bg1">
              <a:lumMod val="95000"/>
            </a:schemeClr>
          </a:solidFill>
          <a:ln w="12700" cap="sq" cmpd="sng" algn="ctr">
            <a:solidFill>
              <a:schemeClr val="tx1"/>
            </a:solidFill>
            <a:prstDash val="solid"/>
            <a:round/>
            <a:headEnd type="none" w="med" len="med"/>
            <a:tailEnd type="none" w="med" len="med"/>
          </a:ln>
          <a:effectLst/>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2800" b="1"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endParaRPr>
          </a:p>
        </p:txBody>
      </p:sp>
      <p:sp>
        <p:nvSpPr>
          <p:cNvPr id="33799" name="矩形 6"/>
          <p:cNvSpPr/>
          <p:nvPr/>
        </p:nvSpPr>
        <p:spPr>
          <a:xfrm>
            <a:off x="6772275" y="5131118"/>
            <a:ext cx="1974850" cy="400050"/>
          </a:xfrm>
          <a:prstGeom prst="rect">
            <a:avLst/>
          </a:prstGeom>
          <a:noFill/>
          <a:ln w="9525">
            <a:noFill/>
          </a:ln>
        </p:spPr>
        <p:txBody>
          <a:bodyPr wrap="none">
            <a:spAutoFit/>
          </a:bodyPr>
          <a:lstStyle>
            <a:lvl1pPr marL="342900" indent="-342900" algn="l" rtl="0" eaLnBrk="0" fontAlgn="base" hangingPunct="0">
              <a:lnSpc>
                <a:spcPct val="130000"/>
              </a:lnSpc>
              <a:spcBef>
                <a:spcPct val="20000"/>
              </a:spcBef>
              <a:spcAft>
                <a:spcPct val="0"/>
              </a:spcAft>
              <a:buClr>
                <a:srgbClr val="FF3300"/>
              </a:buClr>
              <a:buSzPct val="125000"/>
              <a:buFont typeface="Times New Roman" panose="02020603050405020304" pitchFamily="18" charset="0"/>
              <a:buChar char="♠"/>
              <a:defRPr kumimoji="1" sz="3000" b="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lr>
                <a:schemeClr val="accent2"/>
              </a:buClr>
              <a:buFont typeface="Times New Roman" panose="02020603050405020304" pitchFamily="18" charset="0"/>
              <a:buChar char="♣"/>
              <a:defRPr kumimoji="1" sz="2800">
                <a:solidFill>
                  <a:schemeClr val="tx1"/>
                </a:solidFill>
                <a:latin typeface="+mn-lt"/>
                <a:ea typeface="+mj-ea"/>
                <a:cs typeface="楷体_GB2312" panose="02010609030101010101" charset="-122"/>
              </a:defRPr>
            </a:lvl2pPr>
            <a:lvl3pPr marL="1143000" indent="-228600" algn="l" rtl="0" eaLnBrk="0" fontAlgn="base" hangingPunct="0">
              <a:lnSpc>
                <a:spcPct val="130000"/>
              </a:lnSpc>
              <a:spcBef>
                <a:spcPct val="20000"/>
              </a:spcBef>
              <a:spcAft>
                <a:spcPct val="0"/>
              </a:spcAft>
              <a:buClr>
                <a:srgbClr val="D60093"/>
              </a:buClr>
              <a:buFont typeface="Times New Roman" panose="02020603050405020304" pitchFamily="18" charset="0"/>
              <a:buChar char="♦"/>
              <a:defRPr kumimoji="1" sz="2600">
                <a:solidFill>
                  <a:schemeClr val="tx1"/>
                </a:solidFill>
                <a:latin typeface="+mn-lt"/>
                <a:ea typeface="+mj-ea"/>
                <a:cs typeface="楷体_GB2312" panose="02010609030101010101" charset="-122"/>
              </a:defRPr>
            </a:lvl3pPr>
            <a:lvl4pPr marL="16002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4pPr>
            <a:lvl5pPr marL="20574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5pPr>
          </a:lstStyle>
          <a:p>
            <a:pPr marL="0" lvl="0" indent="0" algn="ctr" eaLnBrk="1" hangingPunct="1">
              <a:lnSpc>
                <a:spcPct val="100000"/>
              </a:lnSpc>
              <a:spcBef>
                <a:spcPct val="50000"/>
              </a:spcBef>
              <a:buClrTx/>
              <a:buSzTx/>
              <a:buFontTx/>
              <a:buNone/>
            </a:pPr>
            <a:r>
              <a:rPr lang="en-US" altLang="zh-CN" sz="2000" dirty="0">
                <a:latin typeface="微软雅黑" panose="020B0503020204020204" charset="-122"/>
                <a:ea typeface="微软雅黑" panose="020B0503020204020204" charset="-122"/>
              </a:rPr>
              <a:t>New problems</a:t>
            </a:r>
            <a:endParaRPr lang="zh-CN" altLang="en-US" sz="2000" dirty="0">
              <a:latin typeface="微软雅黑" panose="020B0503020204020204" charset="-122"/>
              <a:ea typeface="微软雅黑" panose="020B050302020402020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研究热点</a:t>
            </a:r>
            <a:r>
              <a:rPr lang="en-US" altLang="zh-CN" sz="360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-VLDB</a:t>
            </a:r>
            <a:endParaRPr lang="en-US" altLang="zh-CN"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17411" name="Rectangle 3"/>
          <p:cNvSpPr>
            <a:spLocks noGrp="1" noChangeArrowheads="1"/>
          </p:cNvSpPr>
          <p:nvPr>
            <p:ph idx="1"/>
          </p:nvPr>
        </p:nvSpPr>
        <p:spPr>
          <a:xfrm>
            <a:off x="891540" y="786765"/>
            <a:ext cx="8044815" cy="5912485"/>
          </a:xfrm>
          <a:noFill/>
          <a:ln>
            <a:noFill/>
          </a:ln>
        </p:spPr>
        <p:txBody>
          <a:bodyPr vert="horz" wrap="square" lIns="91440" tIns="45720" rIns="91440" bIns="45720" numCol="1" anchor="t" anchorCtr="0" compatLnSpc="1"/>
          <a:lstStyle/>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Query Processing and Optimization</a:t>
            </a: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Privacy and Security</a:t>
            </a: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Transactions</a:t>
            </a: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Concurrency Control</a:t>
            </a: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Query Optimization</a:t>
            </a: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Information Integration</a:t>
            </a: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High Performance Query Processing</a:t>
            </a:r>
          </a:p>
          <a:p>
            <a:pPr eaLnBrk="1" hangingPunct="1">
              <a:lnSpc>
                <a:spcPct val="90000"/>
              </a:lnSpc>
              <a:buSzPct val="125000"/>
            </a:pP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Graphs and Networks </a:t>
            </a: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Social Network Analysis </a:t>
            </a: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Recommendations and Skylines</a:t>
            </a: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Data Mining and Analytics</a:t>
            </a: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Distributed Systems and Cloud </a:t>
            </a: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Stream Processing </a:t>
            </a: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Event Processing</a:t>
            </a:r>
          </a:p>
          <a:p>
            <a:pPr eaLnBrk="1" hangingPunct="1">
              <a:lnSpc>
                <a:spcPct val="90000"/>
              </a:lnSpc>
              <a:buSzPct val="125000"/>
            </a:pP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p:txBody>
      </p:sp>
      <p:sp>
        <p:nvSpPr>
          <p:cNvPr id="4" name="右箭头 3"/>
          <p:cNvSpPr/>
          <p:nvPr/>
        </p:nvSpPr>
        <p:spPr bwMode="auto">
          <a:xfrm>
            <a:off x="5559743" y="1844675"/>
            <a:ext cx="1152525" cy="576263"/>
          </a:xfrm>
          <a:prstGeom prst="rightArrow">
            <a:avLst/>
          </a:prstGeom>
          <a:solidFill>
            <a:schemeClr val="bg1">
              <a:lumMod val="95000"/>
            </a:schemeClr>
          </a:solidFill>
          <a:ln w="12700" cap="sq" cmpd="sng" algn="ctr">
            <a:solidFill>
              <a:schemeClr val="tx1"/>
            </a:solidFill>
            <a:prstDash val="solid"/>
            <a:round/>
            <a:headEnd type="none" w="med" len="med"/>
            <a:tailEnd type="none" w="med" len="med"/>
          </a:ln>
          <a:effectLst/>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2800" b="1"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endParaRPr>
          </a:p>
        </p:txBody>
      </p:sp>
      <p:sp>
        <p:nvSpPr>
          <p:cNvPr id="34821" name="矩形 2"/>
          <p:cNvSpPr/>
          <p:nvPr/>
        </p:nvSpPr>
        <p:spPr>
          <a:xfrm>
            <a:off x="6796405" y="1933575"/>
            <a:ext cx="1858963" cy="400050"/>
          </a:xfrm>
          <a:prstGeom prst="rect">
            <a:avLst/>
          </a:prstGeom>
          <a:noFill/>
          <a:ln w="9525">
            <a:noFill/>
          </a:ln>
        </p:spPr>
        <p:txBody>
          <a:bodyPr wrap="none">
            <a:spAutoFit/>
          </a:bodyPr>
          <a:lstStyle>
            <a:lvl1pPr marL="342900" indent="-342900" algn="l" rtl="0" eaLnBrk="0" fontAlgn="base" hangingPunct="0">
              <a:lnSpc>
                <a:spcPct val="130000"/>
              </a:lnSpc>
              <a:spcBef>
                <a:spcPct val="20000"/>
              </a:spcBef>
              <a:spcAft>
                <a:spcPct val="0"/>
              </a:spcAft>
              <a:buClr>
                <a:srgbClr val="FF3300"/>
              </a:buClr>
              <a:buSzPct val="125000"/>
              <a:buFont typeface="Times New Roman" panose="02020603050405020304" pitchFamily="18" charset="0"/>
              <a:buChar char="♠"/>
              <a:defRPr kumimoji="1" sz="3000" b="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lr>
                <a:schemeClr val="accent2"/>
              </a:buClr>
              <a:buFont typeface="Times New Roman" panose="02020603050405020304" pitchFamily="18" charset="0"/>
              <a:buChar char="♣"/>
              <a:defRPr kumimoji="1" sz="2800">
                <a:solidFill>
                  <a:schemeClr val="tx1"/>
                </a:solidFill>
                <a:latin typeface="+mn-lt"/>
                <a:ea typeface="+mj-ea"/>
                <a:cs typeface="楷体_GB2312" panose="02010609030101010101" charset="-122"/>
              </a:defRPr>
            </a:lvl2pPr>
            <a:lvl3pPr marL="1143000" indent="-228600" algn="l" rtl="0" eaLnBrk="0" fontAlgn="base" hangingPunct="0">
              <a:lnSpc>
                <a:spcPct val="130000"/>
              </a:lnSpc>
              <a:spcBef>
                <a:spcPct val="20000"/>
              </a:spcBef>
              <a:spcAft>
                <a:spcPct val="0"/>
              </a:spcAft>
              <a:buClr>
                <a:srgbClr val="D60093"/>
              </a:buClr>
              <a:buFont typeface="Times New Roman" panose="02020603050405020304" pitchFamily="18" charset="0"/>
              <a:buChar char="♦"/>
              <a:defRPr kumimoji="1" sz="2600">
                <a:solidFill>
                  <a:schemeClr val="tx1"/>
                </a:solidFill>
                <a:latin typeface="+mn-lt"/>
                <a:ea typeface="+mj-ea"/>
                <a:cs typeface="楷体_GB2312" panose="02010609030101010101" charset="-122"/>
              </a:defRPr>
            </a:lvl3pPr>
            <a:lvl4pPr marL="16002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4pPr>
            <a:lvl5pPr marL="20574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5pPr>
          </a:lstStyle>
          <a:p>
            <a:pPr marL="0" lvl="0" indent="0" algn="ctr" eaLnBrk="1" hangingPunct="1">
              <a:lnSpc>
                <a:spcPct val="100000"/>
              </a:lnSpc>
              <a:spcBef>
                <a:spcPct val="50000"/>
              </a:spcBef>
              <a:buClrTx/>
              <a:buSzTx/>
              <a:buFontTx/>
              <a:buNone/>
            </a:pPr>
            <a:r>
              <a:rPr lang="en-US" altLang="zh-CN" sz="2000" dirty="0">
                <a:latin typeface="微软雅黑" panose="020B0503020204020204" charset="-122"/>
                <a:ea typeface="微软雅黑" panose="020B0503020204020204" charset="-122"/>
              </a:rPr>
              <a:t>Old problems</a:t>
            </a:r>
            <a:endParaRPr lang="zh-CN" altLang="en-US" sz="2000" dirty="0">
              <a:latin typeface="微软雅黑" panose="020B0503020204020204" charset="-122"/>
              <a:ea typeface="微软雅黑" panose="020B0503020204020204" charset="-122"/>
            </a:endParaRPr>
          </a:p>
        </p:txBody>
      </p:sp>
      <p:sp>
        <p:nvSpPr>
          <p:cNvPr id="6" name="右箭头 5"/>
          <p:cNvSpPr/>
          <p:nvPr/>
        </p:nvSpPr>
        <p:spPr bwMode="auto">
          <a:xfrm>
            <a:off x="5559743" y="4581525"/>
            <a:ext cx="1152525" cy="576263"/>
          </a:xfrm>
          <a:prstGeom prst="rightArrow">
            <a:avLst/>
          </a:prstGeom>
          <a:solidFill>
            <a:schemeClr val="bg1">
              <a:lumMod val="95000"/>
            </a:schemeClr>
          </a:solidFill>
          <a:ln w="12700" cap="sq" cmpd="sng" algn="ctr">
            <a:solidFill>
              <a:schemeClr val="tx1"/>
            </a:solidFill>
            <a:prstDash val="solid"/>
            <a:round/>
            <a:headEnd type="none" w="med" len="med"/>
            <a:tailEnd type="none" w="med" len="med"/>
          </a:ln>
          <a:effectLst/>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2800" b="1"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endParaRPr>
          </a:p>
        </p:txBody>
      </p:sp>
      <p:sp>
        <p:nvSpPr>
          <p:cNvPr id="34823" name="矩形 6"/>
          <p:cNvSpPr/>
          <p:nvPr/>
        </p:nvSpPr>
        <p:spPr>
          <a:xfrm>
            <a:off x="6739255" y="4668838"/>
            <a:ext cx="1974850" cy="400050"/>
          </a:xfrm>
          <a:prstGeom prst="rect">
            <a:avLst/>
          </a:prstGeom>
          <a:noFill/>
          <a:ln w="9525">
            <a:noFill/>
          </a:ln>
        </p:spPr>
        <p:txBody>
          <a:bodyPr wrap="none">
            <a:spAutoFit/>
          </a:bodyPr>
          <a:lstStyle>
            <a:lvl1pPr marL="342900" indent="-342900" algn="l" rtl="0" eaLnBrk="0" fontAlgn="base" hangingPunct="0">
              <a:lnSpc>
                <a:spcPct val="130000"/>
              </a:lnSpc>
              <a:spcBef>
                <a:spcPct val="20000"/>
              </a:spcBef>
              <a:spcAft>
                <a:spcPct val="0"/>
              </a:spcAft>
              <a:buClr>
                <a:srgbClr val="FF3300"/>
              </a:buClr>
              <a:buSzPct val="125000"/>
              <a:buFont typeface="Times New Roman" panose="02020603050405020304" pitchFamily="18" charset="0"/>
              <a:buChar char="♠"/>
              <a:defRPr kumimoji="1" sz="3000" b="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lr>
                <a:schemeClr val="accent2"/>
              </a:buClr>
              <a:buFont typeface="Times New Roman" panose="02020603050405020304" pitchFamily="18" charset="0"/>
              <a:buChar char="♣"/>
              <a:defRPr kumimoji="1" sz="2800">
                <a:solidFill>
                  <a:schemeClr val="tx1"/>
                </a:solidFill>
                <a:latin typeface="+mn-lt"/>
                <a:ea typeface="+mj-ea"/>
                <a:cs typeface="楷体_GB2312" panose="02010609030101010101" charset="-122"/>
              </a:defRPr>
            </a:lvl2pPr>
            <a:lvl3pPr marL="1143000" indent="-228600" algn="l" rtl="0" eaLnBrk="0" fontAlgn="base" hangingPunct="0">
              <a:lnSpc>
                <a:spcPct val="130000"/>
              </a:lnSpc>
              <a:spcBef>
                <a:spcPct val="20000"/>
              </a:spcBef>
              <a:spcAft>
                <a:spcPct val="0"/>
              </a:spcAft>
              <a:buClr>
                <a:srgbClr val="D60093"/>
              </a:buClr>
              <a:buFont typeface="Times New Roman" panose="02020603050405020304" pitchFamily="18" charset="0"/>
              <a:buChar char="♦"/>
              <a:defRPr kumimoji="1" sz="2600">
                <a:solidFill>
                  <a:schemeClr val="tx1"/>
                </a:solidFill>
                <a:latin typeface="+mn-lt"/>
                <a:ea typeface="+mj-ea"/>
                <a:cs typeface="楷体_GB2312" panose="02010609030101010101" charset="-122"/>
              </a:defRPr>
            </a:lvl3pPr>
            <a:lvl4pPr marL="16002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4pPr>
            <a:lvl5pPr marL="20574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5pPr>
          </a:lstStyle>
          <a:p>
            <a:pPr marL="0" lvl="0" indent="0" algn="ctr" eaLnBrk="1" hangingPunct="1">
              <a:lnSpc>
                <a:spcPct val="100000"/>
              </a:lnSpc>
              <a:spcBef>
                <a:spcPct val="50000"/>
              </a:spcBef>
              <a:buClrTx/>
              <a:buSzTx/>
              <a:buFontTx/>
              <a:buNone/>
            </a:pPr>
            <a:r>
              <a:rPr lang="en-US" altLang="zh-CN" sz="2000" dirty="0">
                <a:latin typeface="微软雅黑" panose="020B0503020204020204" charset="-122"/>
                <a:ea typeface="微软雅黑" panose="020B0503020204020204" charset="-122"/>
              </a:rPr>
              <a:t>New problems</a:t>
            </a:r>
            <a:endParaRPr lang="zh-CN" altLang="en-US" sz="2000" dirty="0">
              <a:latin typeface="微软雅黑" panose="020B0503020204020204" charset="-122"/>
              <a:ea typeface="微软雅黑" panose="020B050302020402020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842"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en-US" altLang="zh-CN"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Database</a:t>
            </a:r>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相对不太成功的研究</a:t>
            </a:r>
          </a:p>
        </p:txBody>
      </p:sp>
      <p:sp>
        <p:nvSpPr>
          <p:cNvPr id="3" name="内容占位符 2"/>
          <p:cNvSpPr>
            <a:spLocks noGrp="1"/>
          </p:cNvSpPr>
          <p:nvPr>
            <p:ph idx="1"/>
          </p:nvPr>
        </p:nvSpPr>
        <p:spPr>
          <a:xfrm>
            <a:off x="204470" y="1094105"/>
            <a:ext cx="8798560" cy="5372735"/>
          </a:xfrm>
          <a:noFill/>
          <a:ln>
            <a:noFill/>
          </a:ln>
        </p:spPr>
        <p:txBody>
          <a:bodyPr vert="horz" wrap="square" lIns="91440" tIns="45720" rIns="91440" bIns="45720" numCol="1" anchor="t" anchorCtr="0" compatLnSpc="1"/>
          <a:lstStyle/>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Deductive Database</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rPr>
              <a:t>上一世纪</a:t>
            </a: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rPr>
              <a:t>80</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rPr>
              <a:t>年代</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lvl="1"/>
            <a:r>
              <a:rPr lang="zh-CN" altLang="en-US" dirty="0"/>
              <a:t>演绎数据库：数据库管理系统</a:t>
            </a:r>
            <a:r>
              <a:rPr lang="en-US" altLang="zh-CN" dirty="0"/>
              <a:t>+</a:t>
            </a:r>
            <a:r>
              <a:rPr lang="zh-CN" altLang="en-US" dirty="0"/>
              <a:t>规则管理系统</a:t>
            </a: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Stream Database</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：流式数据库，</a:t>
            </a: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rPr>
              <a:t>2000</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rPr>
              <a:t>年左右</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lvl="1"/>
            <a:r>
              <a:rPr lang="en-US" altLang="zh-CN" dirty="0"/>
              <a:t>来自传感器的数据、网站上的用户活动数据、来自移动终端和智能设备的数据、金融市场的实时交易数据，各种监控程序产生的数据等等。</a:t>
            </a:r>
          </a:p>
          <a:p>
            <a:pPr lvl="1"/>
            <a:r>
              <a:rPr lang="en-US" altLang="zh-CN" dirty="0"/>
              <a:t>这些数据大多都是以连续的数据流的形式，从多种外部数据源持续不断地生成，在多数情况下，我们无法控制这些流数据到达的顺序和产生的速率。</a:t>
            </a:r>
          </a:p>
          <a:p>
            <a:pPr eaLnBrk="1" hangingPunct="1">
              <a:lnSpc>
                <a:spcPct val="120000"/>
              </a:lnSpc>
              <a:buSzPct val="125000"/>
            </a:pPr>
            <a:r>
              <a:rPr lang="en-US" altLang="zh-CN" sz="2000" b="1" dirty="0" err="1">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XML数据库</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lvl="1"/>
            <a:r>
              <a:rPr lang="en-US" altLang="zh-CN" dirty="0"/>
              <a:t>2000</a:t>
            </a:r>
            <a:r>
              <a:rPr lang="zh-CN" altLang="en-US" dirty="0"/>
              <a:t>年左右</a:t>
            </a:r>
            <a:endParaRPr lang="en-US" altLang="zh-CN" dirty="0"/>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Probabilistic Database</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rPr>
              <a:t>概率数据库，</a:t>
            </a: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rPr>
              <a:t>2000</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rPr>
              <a:t>年左右</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lvl="1"/>
            <a:r>
              <a:rPr lang="en-US" altLang="zh-CN" dirty="0"/>
              <a:t>元组在数据库中的存在具有不确定性、属性值  在许多现实的应用中，如过程监控，决策分析， 具有不确定性、查询应答也具有不确定性。</a:t>
            </a: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Graph Database</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a:t>
            </a: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2010</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后</a:t>
            </a:r>
          </a:p>
          <a:p>
            <a:pPr eaLnBrk="1" hangingPunct="1">
              <a:lnSpc>
                <a:spcPct val="120000"/>
              </a:lnSpc>
              <a:buSzPct val="125000"/>
            </a:pP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rPr>
              <a:t>以上新的扩展，没有或者尚没有取得大规模应用</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18415" y="-3810"/>
            <a:ext cx="9201785" cy="645731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15240" y="-4445"/>
            <a:ext cx="9083040" cy="660146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3810" y="-20320"/>
            <a:ext cx="9139555" cy="651827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315595" y="0"/>
            <a:ext cx="8508365" cy="654939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0" y="0"/>
            <a:ext cx="9117330" cy="642493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78105" y="-4445"/>
            <a:ext cx="8990330" cy="6536055"/>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877F7B-D163-AF28-4A58-6888272A93F5}"/>
              </a:ext>
            </a:extLst>
          </p:cNvPr>
          <p:cNvSpPr>
            <a:spLocks noGrp="1"/>
          </p:cNvSpPr>
          <p:nvPr>
            <p:ph type="title"/>
          </p:nvPr>
        </p:nvSpPr>
        <p:spPr>
          <a:noFill/>
          <a:ln w="9525">
            <a:noFill/>
            <a:miter lim="800000"/>
          </a:ln>
        </p:spPr>
        <p:txBody>
          <a:bodyPr vert="horz" wrap="square" lIns="91440" tIns="45720" rIns="91440" bIns="45720" numCol="1" anchor="b" anchorCtr="0" compatLnSpc="1"/>
          <a:lstStyle/>
          <a:p>
            <a:r>
              <a:rPr lang="en-US" altLang="zh-CN" sz="3600" dirty="0" err="1">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Deepseek&amp;DB</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3" name="内容占位符 2">
            <a:extLst>
              <a:ext uri="{FF2B5EF4-FFF2-40B4-BE49-F238E27FC236}">
                <a16:creationId xmlns:a16="http://schemas.microsoft.com/office/drawing/2014/main" id="{AF2A3B83-A01A-1A3B-1D65-5739D142087B}"/>
              </a:ext>
            </a:extLst>
          </p:cNvPr>
          <p:cNvSpPr>
            <a:spLocks noGrp="1"/>
          </p:cNvSpPr>
          <p:nvPr>
            <p:ph idx="1"/>
          </p:nvPr>
        </p:nvSpPr>
        <p:spPr/>
        <p:txBody>
          <a:bodyPr/>
          <a:lstStyle/>
          <a:p>
            <a:pPr algn="l"/>
            <a:r>
              <a:rPr lang="en" altLang="zh-CN" sz="2400" b="0" dirty="0" err="1">
                <a:solidFill>
                  <a:srgbClr val="404040"/>
                </a:solidFill>
                <a:effectLst/>
                <a:latin typeface="Arial" panose="020B0604020202020204" pitchFamily="34" charset="0"/>
                <a:ea typeface="SimHei" panose="02010609060101010101" pitchFamily="49" charset="-122"/>
                <a:cs typeface="Arial" panose="020B0604020202020204" pitchFamily="34" charset="0"/>
              </a:rPr>
              <a:t>DeepSeek</a:t>
            </a:r>
            <a:r>
              <a:rPr lang="zh-CN" altLang="en-US" sz="2400" b="0" dirty="0">
                <a:solidFill>
                  <a:srgbClr val="404040"/>
                </a:solidFill>
                <a:effectLst/>
                <a:latin typeface="Arial" panose="020B0604020202020204" pitchFamily="34" charset="0"/>
                <a:ea typeface="SimHei" panose="02010609060101010101" pitchFamily="49" charset="-122"/>
                <a:cs typeface="Arial" panose="020B0604020202020204" pitchFamily="34" charset="0"/>
              </a:rPr>
              <a:t>的应用：智能客服</a:t>
            </a:r>
            <a:r>
              <a:rPr lang="en-US" altLang="zh-CN" sz="2400" b="0" dirty="0">
                <a:solidFill>
                  <a:srgbClr val="404040"/>
                </a:solidFill>
                <a:effectLst/>
                <a:latin typeface="Arial" panose="020B0604020202020204" pitchFamily="34" charset="0"/>
                <a:ea typeface="SimHei" panose="02010609060101010101" pitchFamily="49" charset="-122"/>
                <a:cs typeface="Arial" panose="020B0604020202020204" pitchFamily="34" charset="0"/>
              </a:rPr>
              <a:t>/</a:t>
            </a:r>
            <a:r>
              <a:rPr lang="zh-CN" altLang="en-US" sz="2400" b="0" dirty="0">
                <a:solidFill>
                  <a:srgbClr val="404040"/>
                </a:solidFill>
                <a:effectLst/>
                <a:latin typeface="Arial" panose="020B0604020202020204" pitchFamily="34" charset="0"/>
                <a:ea typeface="SimHei" panose="02010609060101010101" pitchFamily="49" charset="-122"/>
                <a:cs typeface="Arial" panose="020B0604020202020204" pitchFamily="34" charset="0"/>
              </a:rPr>
              <a:t>推荐系统</a:t>
            </a:r>
            <a:r>
              <a:rPr lang="en-US" altLang="zh-CN" sz="2400" b="0" dirty="0">
                <a:solidFill>
                  <a:srgbClr val="404040"/>
                </a:solidFill>
                <a:effectLst/>
                <a:latin typeface="Arial" panose="020B0604020202020204" pitchFamily="34" charset="0"/>
                <a:ea typeface="SimHei" panose="02010609060101010101" pitchFamily="49" charset="-122"/>
                <a:cs typeface="Arial" panose="020B0604020202020204" pitchFamily="34" charset="0"/>
              </a:rPr>
              <a:t>/</a:t>
            </a:r>
            <a:r>
              <a:rPr lang="zh-CN" altLang="en-US" sz="2400" b="0" dirty="0">
                <a:solidFill>
                  <a:srgbClr val="404040"/>
                </a:solidFill>
                <a:effectLst/>
                <a:latin typeface="Arial" panose="020B0604020202020204" pitchFamily="34" charset="0"/>
                <a:ea typeface="SimHei" panose="02010609060101010101" pitchFamily="49" charset="-122"/>
                <a:cs typeface="Arial" panose="020B0604020202020204" pitchFamily="34" charset="0"/>
              </a:rPr>
              <a:t>大模型：每秒处理数万条请求</a:t>
            </a:r>
            <a:endParaRPr lang="en-US" altLang="zh-CN" sz="2400" dirty="0">
              <a:solidFill>
                <a:srgbClr val="404040"/>
              </a:solidFill>
              <a:latin typeface="Arial" panose="020B0604020202020204" pitchFamily="34" charset="0"/>
              <a:ea typeface="SimHei" panose="02010609060101010101" pitchFamily="49" charset="-122"/>
              <a:cs typeface="Arial" panose="020B0604020202020204" pitchFamily="34" charset="0"/>
            </a:endParaRPr>
          </a:p>
          <a:p>
            <a:pPr lvl="1"/>
            <a:r>
              <a:rPr lang="zh-CN" altLang="en-US" sz="2400" b="0" dirty="0">
                <a:solidFill>
                  <a:srgbClr val="404040"/>
                </a:solidFill>
                <a:effectLst/>
                <a:latin typeface="Arial" panose="020B0604020202020204" pitchFamily="34" charset="0"/>
                <a:ea typeface="SimHei" panose="02010609060101010101" pitchFamily="49" charset="-122"/>
                <a:cs typeface="Arial" panose="020B0604020202020204" pitchFamily="34" charset="0"/>
              </a:rPr>
              <a:t>如何快速获取准确的训练数据？</a:t>
            </a:r>
            <a:endParaRPr lang="en-US" altLang="zh-CN" sz="2400" b="0" dirty="0">
              <a:solidFill>
                <a:srgbClr val="404040"/>
              </a:solidFill>
              <a:effectLst/>
              <a:latin typeface="Arial" panose="020B0604020202020204" pitchFamily="34" charset="0"/>
              <a:ea typeface="SimHei" panose="02010609060101010101" pitchFamily="49" charset="-122"/>
              <a:cs typeface="Arial" panose="020B0604020202020204" pitchFamily="34" charset="0"/>
            </a:endParaRPr>
          </a:p>
          <a:p>
            <a:pPr lvl="1"/>
            <a:r>
              <a:rPr lang="zh-CN" altLang="en-US" sz="2400" b="0" dirty="0">
                <a:solidFill>
                  <a:srgbClr val="404040"/>
                </a:solidFill>
                <a:effectLst/>
                <a:latin typeface="Arial" panose="020B0604020202020204" pitchFamily="34" charset="0"/>
                <a:ea typeface="SimHei" panose="02010609060101010101" pitchFamily="49" charset="-122"/>
                <a:cs typeface="Arial" panose="020B0604020202020204" pitchFamily="34" charset="0"/>
              </a:rPr>
              <a:t>实时推理时如何保证数据一致性？</a:t>
            </a:r>
          </a:p>
          <a:p>
            <a:pPr algn="l">
              <a:spcBef>
                <a:spcPts val="300"/>
              </a:spcBef>
              <a:buFont typeface="Arial" panose="020B0604020202020204" pitchFamily="34" charset="0"/>
              <a:buChar char="•"/>
            </a:pPr>
            <a:r>
              <a:rPr lang="en" altLang="zh-CN" sz="2400" b="0" dirty="0">
                <a:solidFill>
                  <a:srgbClr val="404040"/>
                </a:solidFill>
                <a:effectLst/>
                <a:latin typeface="Arial" panose="020B0604020202020204" pitchFamily="34" charset="0"/>
                <a:ea typeface="SimHei" panose="02010609060101010101" pitchFamily="49" charset="-122"/>
                <a:cs typeface="Arial" panose="020B0604020202020204" pitchFamily="34" charset="0"/>
              </a:rPr>
              <a:t>AI</a:t>
            </a:r>
            <a:r>
              <a:rPr lang="zh-CN" altLang="en-US" sz="2400" b="0" dirty="0">
                <a:solidFill>
                  <a:srgbClr val="404040"/>
                </a:solidFill>
                <a:effectLst/>
                <a:latin typeface="Arial" panose="020B0604020202020204" pitchFamily="34" charset="0"/>
                <a:ea typeface="SimHei" panose="02010609060101010101" pitchFamily="49" charset="-122"/>
                <a:cs typeface="Arial" panose="020B0604020202020204" pitchFamily="34" charset="0"/>
              </a:rPr>
              <a:t>系统可能遇到的数据挑战：</a:t>
            </a:r>
            <a:endParaRPr lang="en-US" altLang="zh-CN" sz="2400" b="0" dirty="0">
              <a:solidFill>
                <a:srgbClr val="404040"/>
              </a:solidFill>
              <a:effectLst/>
              <a:latin typeface="Arial" panose="020B0604020202020204" pitchFamily="34" charset="0"/>
              <a:ea typeface="SimHei" panose="02010609060101010101" pitchFamily="49" charset="-122"/>
              <a:cs typeface="Arial" panose="020B0604020202020204" pitchFamily="34" charset="0"/>
            </a:endParaRPr>
          </a:p>
          <a:p>
            <a:pPr lvl="1">
              <a:spcBef>
                <a:spcPts val="300"/>
              </a:spcBef>
            </a:pPr>
            <a:r>
              <a:rPr lang="zh-CN" altLang="en-US" sz="2400" b="0" dirty="0">
                <a:solidFill>
                  <a:srgbClr val="404040"/>
                </a:solidFill>
                <a:effectLst/>
                <a:latin typeface="Arial" panose="020B0604020202020204" pitchFamily="34" charset="0"/>
                <a:ea typeface="SimHei" panose="02010609060101010101" pitchFamily="49" charset="-122"/>
                <a:cs typeface="Arial" panose="020B0604020202020204" pitchFamily="34" charset="0"/>
              </a:rPr>
              <a:t>如海量数据存储</a:t>
            </a:r>
            <a:endParaRPr lang="en-US" altLang="zh-CN" sz="2400" b="0" dirty="0">
              <a:solidFill>
                <a:srgbClr val="404040"/>
              </a:solidFill>
              <a:effectLst/>
              <a:latin typeface="Arial" panose="020B0604020202020204" pitchFamily="34" charset="0"/>
              <a:ea typeface="SimHei" panose="02010609060101010101" pitchFamily="49" charset="-122"/>
              <a:cs typeface="Arial" panose="020B0604020202020204" pitchFamily="34" charset="0"/>
            </a:endParaRPr>
          </a:p>
          <a:p>
            <a:pPr lvl="1">
              <a:spcBef>
                <a:spcPts val="300"/>
              </a:spcBef>
            </a:pPr>
            <a:r>
              <a:rPr lang="zh-CN" altLang="en-US" sz="2400" b="0" dirty="0">
                <a:solidFill>
                  <a:srgbClr val="404040"/>
                </a:solidFill>
                <a:effectLst/>
                <a:latin typeface="Arial" panose="020B0604020202020204" pitchFamily="34" charset="0"/>
                <a:ea typeface="SimHei" panose="02010609060101010101" pitchFamily="49" charset="-122"/>
                <a:cs typeface="Arial" panose="020B0604020202020204" pitchFamily="34" charset="0"/>
              </a:rPr>
              <a:t>高并发查询</a:t>
            </a:r>
            <a:endParaRPr lang="en-US" altLang="zh-CN" sz="2400" b="0" dirty="0">
              <a:solidFill>
                <a:srgbClr val="404040"/>
              </a:solidFill>
              <a:effectLst/>
              <a:latin typeface="Arial" panose="020B0604020202020204" pitchFamily="34" charset="0"/>
              <a:ea typeface="SimHei" panose="02010609060101010101" pitchFamily="49" charset="-122"/>
              <a:cs typeface="Arial" panose="020B0604020202020204" pitchFamily="34" charset="0"/>
            </a:endParaRPr>
          </a:p>
          <a:p>
            <a:pPr lvl="1">
              <a:spcBef>
                <a:spcPts val="300"/>
              </a:spcBef>
            </a:pPr>
            <a:r>
              <a:rPr lang="zh-CN" altLang="en-US" sz="2400" b="0" dirty="0">
                <a:solidFill>
                  <a:srgbClr val="404040"/>
                </a:solidFill>
                <a:effectLst/>
                <a:latin typeface="Arial" panose="020B0604020202020204" pitchFamily="34" charset="0"/>
                <a:ea typeface="SimHei" panose="02010609060101010101" pitchFamily="49" charset="-122"/>
                <a:cs typeface="Arial" panose="020B0604020202020204" pitchFamily="34" charset="0"/>
              </a:rPr>
              <a:t>特征工程依赖</a:t>
            </a:r>
          </a:p>
          <a:p>
            <a:endParaRPr kumimoji="1" lang="zh-CN" altLang="en-US" sz="2400" dirty="0">
              <a:latin typeface="Arial" panose="020B0604020202020204" pitchFamily="34" charset="0"/>
              <a:ea typeface="SimHei" panose="02010609060101010101" pitchFamily="49" charset="-122"/>
              <a:cs typeface="Arial" panose="020B0604020202020204" pitchFamily="34" charset="0"/>
            </a:endParaRPr>
          </a:p>
        </p:txBody>
      </p:sp>
    </p:spTree>
    <p:extLst>
      <p:ext uri="{BB962C8B-B14F-4D97-AF65-F5344CB8AC3E}">
        <p14:creationId xmlns:p14="http://schemas.microsoft.com/office/powerpoint/2010/main" val="14503269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25587A-3A69-5672-7BF7-026AB84D4DFD}"/>
              </a:ext>
            </a:extLst>
          </p:cNvPr>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数据库：</a:t>
            </a:r>
            <a:r>
              <a:rPr lang="en" altLang="zh-CN"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AI</a:t>
            </a:r>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系统的</a:t>
            </a:r>
            <a:r>
              <a:rPr lang="en-US" altLang="zh-CN"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a:t>
            </a:r>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记忆中枢</a:t>
            </a:r>
            <a:r>
              <a:rPr lang="en-US" altLang="zh-CN"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3" name="内容占位符 2">
            <a:extLst>
              <a:ext uri="{FF2B5EF4-FFF2-40B4-BE49-F238E27FC236}">
                <a16:creationId xmlns:a16="http://schemas.microsoft.com/office/drawing/2014/main" id="{EFD0DFB6-3D12-2663-848C-C1BAFE86DF6C}"/>
              </a:ext>
            </a:extLst>
          </p:cNvPr>
          <p:cNvSpPr>
            <a:spLocks noGrp="1"/>
          </p:cNvSpPr>
          <p:nvPr>
            <p:ph idx="1"/>
          </p:nvPr>
        </p:nvSpPr>
        <p:spPr>
          <a:xfrm>
            <a:off x="748144" y="1093788"/>
            <a:ext cx="8097405" cy="4903787"/>
          </a:xfrm>
          <a:noFill/>
          <a:ln>
            <a:noFill/>
          </a:ln>
        </p:spPr>
        <p:txBody>
          <a:bodyPr vert="horz" wrap="square" lIns="91440" tIns="45720" rIns="91440" bIns="45720" numCol="1" anchor="t" anchorCtr="0" compatLnSpc="1"/>
          <a:lstStyle/>
          <a:p>
            <a:r>
              <a:rPr lang="zh-CN" altLang="en-US" sz="2400" dirty="0">
                <a:solidFill>
                  <a:srgbClr val="404040"/>
                </a:solidFill>
                <a:latin typeface="Arial" panose="020B0604020202020204" pitchFamily="34" charset="0"/>
                <a:ea typeface="SimHei" panose="02010609060101010101" pitchFamily="49" charset="-122"/>
                <a:cs typeface="Arial" panose="020B0604020202020204" pitchFamily="34" charset="0"/>
              </a:rPr>
              <a:t>核心概念重构</a:t>
            </a:r>
            <a:endParaRPr lang="en-US" altLang="zh-CN" sz="2400" dirty="0">
              <a:solidFill>
                <a:srgbClr val="404040"/>
              </a:solidFill>
              <a:latin typeface="Arial" panose="020B0604020202020204" pitchFamily="34" charset="0"/>
              <a:ea typeface="SimHei" panose="02010609060101010101" pitchFamily="49" charset="-122"/>
              <a:cs typeface="Arial" panose="020B0604020202020204" pitchFamily="34" charset="0"/>
            </a:endParaRPr>
          </a:p>
          <a:p>
            <a:r>
              <a:rPr lang="zh-CN" altLang="en-US" sz="2400" dirty="0">
                <a:solidFill>
                  <a:srgbClr val="404040"/>
                </a:solidFill>
                <a:latin typeface="Arial" panose="020B0604020202020204" pitchFamily="34" charset="0"/>
                <a:ea typeface="SimHei" panose="02010609060101010101" pitchFamily="49" charset="-122"/>
                <a:cs typeface="Arial" panose="020B0604020202020204" pitchFamily="34" charset="0"/>
              </a:rPr>
              <a:t>数据库</a:t>
            </a:r>
            <a:r>
              <a:rPr lang="en-US" altLang="zh-CN" sz="2400" dirty="0">
                <a:solidFill>
                  <a:srgbClr val="404040"/>
                </a:solidFill>
                <a:latin typeface="Arial" panose="020B0604020202020204" pitchFamily="34" charset="0"/>
                <a:ea typeface="SimHei" panose="02010609060101010101" pitchFamily="49" charset="-122"/>
                <a:cs typeface="Arial" panose="020B0604020202020204" pitchFamily="34" charset="0"/>
              </a:rPr>
              <a:t>=</a:t>
            </a:r>
            <a:r>
              <a:rPr lang="zh-CN" altLang="en-US" sz="2400" dirty="0">
                <a:solidFill>
                  <a:srgbClr val="404040"/>
                </a:solidFill>
                <a:latin typeface="Arial" panose="020B0604020202020204" pitchFamily="34" charset="0"/>
                <a:ea typeface="SimHei" panose="02010609060101010101" pitchFamily="49" charset="-122"/>
                <a:cs typeface="Arial" panose="020B0604020202020204" pitchFamily="34" charset="0"/>
              </a:rPr>
              <a:t>结构化数据管理系统 → </a:t>
            </a:r>
            <a:r>
              <a:rPr lang="en" altLang="zh-CN" sz="2400" dirty="0">
                <a:solidFill>
                  <a:srgbClr val="000099"/>
                </a:solidFill>
                <a:latin typeface="Arial" panose="020B0604020202020204" pitchFamily="34" charset="0"/>
                <a:ea typeface="SimHei" panose="02010609060101010101" pitchFamily="49" charset="-122"/>
                <a:cs typeface="Arial" panose="020B0604020202020204" pitchFamily="34" charset="0"/>
              </a:rPr>
              <a:t>AI</a:t>
            </a:r>
            <a:r>
              <a:rPr lang="zh-CN" altLang="en-US" sz="2400" dirty="0">
                <a:solidFill>
                  <a:srgbClr val="000099"/>
                </a:solidFill>
                <a:latin typeface="Arial" panose="020B0604020202020204" pitchFamily="34" charset="0"/>
                <a:ea typeface="SimHei" panose="02010609060101010101" pitchFamily="49" charset="-122"/>
                <a:cs typeface="Arial" panose="020B0604020202020204" pitchFamily="34" charset="0"/>
              </a:rPr>
              <a:t>视角</a:t>
            </a:r>
            <a:r>
              <a:rPr lang="zh-CN" altLang="en-US" sz="2400" dirty="0">
                <a:solidFill>
                  <a:srgbClr val="404040"/>
                </a:solidFill>
                <a:latin typeface="Arial" panose="020B0604020202020204" pitchFamily="34" charset="0"/>
                <a:ea typeface="SimHei" panose="02010609060101010101" pitchFamily="49" charset="-122"/>
                <a:cs typeface="Arial" panose="020B0604020202020204" pitchFamily="34" charset="0"/>
              </a:rPr>
              <a:t>：</a:t>
            </a:r>
          </a:p>
          <a:p>
            <a:pPr lvl="1"/>
            <a:r>
              <a:rPr lang="zh-CN" altLang="en-US" sz="2400" dirty="0">
                <a:solidFill>
                  <a:srgbClr val="404040"/>
                </a:solidFill>
                <a:latin typeface="Arial" panose="020B0604020202020204" pitchFamily="34" charset="0"/>
                <a:ea typeface="SimHei" panose="02010609060101010101" pitchFamily="49" charset="-122"/>
                <a:cs typeface="Arial" panose="020B0604020202020204" pitchFamily="34" charset="0"/>
              </a:rPr>
              <a:t>特征工程的原材料仓库</a:t>
            </a:r>
            <a:endParaRPr lang="en-US" altLang="zh-CN" sz="2400" dirty="0">
              <a:latin typeface="Arial" panose="020B0604020202020204" pitchFamily="34" charset="0"/>
              <a:ea typeface="SimHei" panose="02010609060101010101" pitchFamily="49" charset="-122"/>
              <a:cs typeface="Arial" panose="020B0604020202020204" pitchFamily="34" charset="0"/>
            </a:endParaRPr>
          </a:p>
          <a:p>
            <a:pPr lvl="2"/>
            <a:r>
              <a:rPr lang="zh-CN" altLang="en-US" sz="2400" dirty="0">
                <a:latin typeface="Arial" panose="020B0604020202020204" pitchFamily="34" charset="0"/>
                <a:ea typeface="SimHei" panose="02010609060101010101" pitchFamily="49" charset="-122"/>
                <a:cs typeface="Arial" panose="020B0604020202020204" pitchFamily="34" charset="0"/>
              </a:rPr>
              <a:t>模型训练的</a:t>
            </a:r>
            <a:r>
              <a:rPr lang="en-US" altLang="zh-CN" sz="2400" dirty="0">
                <a:latin typeface="Arial" panose="020B0604020202020204" pitchFamily="34" charset="0"/>
                <a:ea typeface="SimHei" panose="02010609060101010101" pitchFamily="49" charset="-122"/>
                <a:cs typeface="Arial" panose="020B0604020202020204" pitchFamily="34" charset="0"/>
              </a:rPr>
              <a:t>"</a:t>
            </a:r>
            <a:r>
              <a:rPr lang="zh-CN" altLang="en-US" sz="2400" dirty="0">
                <a:latin typeface="Arial" panose="020B0604020202020204" pitchFamily="34" charset="0"/>
                <a:ea typeface="SimHei" panose="02010609060101010101" pitchFamily="49" charset="-122"/>
                <a:cs typeface="Arial" panose="020B0604020202020204" pitchFamily="34" charset="0"/>
              </a:rPr>
              <a:t>营养供应链</a:t>
            </a:r>
            <a:r>
              <a:rPr lang="en-US" altLang="zh-CN" sz="2400" dirty="0">
                <a:latin typeface="Arial" panose="020B0604020202020204" pitchFamily="34" charset="0"/>
                <a:ea typeface="SimHei" panose="02010609060101010101" pitchFamily="49" charset="-122"/>
                <a:cs typeface="Arial" panose="020B0604020202020204" pitchFamily="34" charset="0"/>
              </a:rPr>
              <a:t>”</a:t>
            </a:r>
          </a:p>
          <a:p>
            <a:pPr lvl="3"/>
            <a:r>
              <a:rPr lang="zh-CN" altLang="en-US" sz="2400" dirty="0">
                <a:latin typeface="Arial" panose="020B0604020202020204" pitchFamily="34" charset="0"/>
                <a:ea typeface="SimHei" panose="02010609060101010101" pitchFamily="49" charset="-122"/>
                <a:cs typeface="Arial" panose="020B0604020202020204" pitchFamily="34" charset="0"/>
              </a:rPr>
              <a:t>数据清洗</a:t>
            </a:r>
            <a:r>
              <a:rPr lang="en-US" altLang="zh-CN" sz="2400" dirty="0">
                <a:latin typeface="Arial" panose="020B0604020202020204" pitchFamily="34" charset="0"/>
                <a:ea typeface="SimHei" panose="02010609060101010101" pitchFamily="49" charset="-122"/>
                <a:cs typeface="Arial" panose="020B0604020202020204" pitchFamily="34" charset="0"/>
              </a:rPr>
              <a:t>/</a:t>
            </a:r>
            <a:r>
              <a:rPr lang="zh-CN" altLang="en-US" sz="2400" dirty="0">
                <a:latin typeface="Arial" panose="020B0604020202020204" pitchFamily="34" charset="0"/>
                <a:ea typeface="SimHei" panose="02010609060101010101" pitchFamily="49" charset="-122"/>
                <a:cs typeface="Arial" panose="020B0604020202020204" pitchFamily="34" charset="0"/>
              </a:rPr>
              <a:t>版本控制</a:t>
            </a:r>
            <a:endParaRPr lang="en-US" altLang="zh-CN" sz="2400" dirty="0">
              <a:latin typeface="Arial" panose="020B0604020202020204" pitchFamily="34" charset="0"/>
              <a:ea typeface="SimHei" panose="02010609060101010101" pitchFamily="49" charset="-122"/>
              <a:cs typeface="Arial" panose="020B0604020202020204" pitchFamily="34" charset="0"/>
            </a:endParaRPr>
          </a:p>
          <a:p>
            <a:pPr lvl="3"/>
            <a:r>
              <a:rPr lang="zh-CN" altLang="en-US" sz="2400" dirty="0">
                <a:latin typeface="Arial" panose="020B0604020202020204" pitchFamily="34" charset="0"/>
                <a:ea typeface="SimHei" panose="02010609060101010101" pitchFamily="49" charset="-122"/>
                <a:cs typeface="Arial" panose="020B0604020202020204" pitchFamily="34" charset="0"/>
              </a:rPr>
              <a:t>推理服务的实时数据枢纽</a:t>
            </a:r>
            <a:endParaRPr lang="en-US" altLang="zh-CN" sz="2400" dirty="0">
              <a:latin typeface="Arial" panose="020B0604020202020204" pitchFamily="34" charset="0"/>
              <a:ea typeface="SimHei" panose="02010609060101010101" pitchFamily="49" charset="-122"/>
              <a:cs typeface="Arial" panose="020B0604020202020204" pitchFamily="34" charset="0"/>
            </a:endParaRPr>
          </a:p>
          <a:p>
            <a:pPr lvl="3"/>
            <a:r>
              <a:rPr lang="zh-CN" altLang="en-US" sz="2400" dirty="0">
                <a:latin typeface="Arial" panose="020B0604020202020204" pitchFamily="34" charset="0"/>
                <a:ea typeface="SimHei" panose="02010609060101010101" pitchFamily="49" charset="-122"/>
                <a:cs typeface="Arial" panose="020B0604020202020204" pitchFamily="34" charset="0"/>
              </a:rPr>
              <a:t>对比流数据库与传统数据库响应速度</a:t>
            </a:r>
          </a:p>
          <a:p>
            <a:endParaRPr lang="zh-CN" altLang="en-US" sz="2400" dirty="0">
              <a:solidFill>
                <a:srgbClr val="404040"/>
              </a:solidFill>
              <a:latin typeface="Arial" panose="020B0604020202020204" pitchFamily="34" charset="0"/>
              <a:ea typeface="SimHei" panose="02010609060101010101" pitchFamily="49" charset="-122"/>
              <a:cs typeface="Arial" panose="020B0604020202020204" pitchFamily="34" charset="0"/>
            </a:endParaRPr>
          </a:p>
        </p:txBody>
      </p:sp>
    </p:spTree>
    <p:extLst>
      <p:ext uri="{BB962C8B-B14F-4D97-AF65-F5344CB8AC3E}">
        <p14:creationId xmlns:p14="http://schemas.microsoft.com/office/powerpoint/2010/main" val="23835826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E9F40E-6BE5-730B-A21D-66BAC72EED58}"/>
              </a:ext>
            </a:extLst>
          </p:cNvPr>
          <p:cNvSpPr>
            <a:spLocks noGrp="1"/>
          </p:cNvSpPr>
          <p:nvPr>
            <p:ph type="title"/>
          </p:nvPr>
        </p:nvSpPr>
        <p:spPr>
          <a:xfrm>
            <a:off x="768350" y="168275"/>
            <a:ext cx="8077200" cy="609600"/>
          </a:xfrm>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技术映射</a:t>
            </a:r>
          </a:p>
        </p:txBody>
      </p:sp>
      <p:graphicFrame>
        <p:nvGraphicFramePr>
          <p:cNvPr id="7" name="内容占位符 6">
            <a:extLst>
              <a:ext uri="{FF2B5EF4-FFF2-40B4-BE49-F238E27FC236}">
                <a16:creationId xmlns:a16="http://schemas.microsoft.com/office/drawing/2014/main" id="{CCB4331F-FFE3-C6C0-684E-D5791F7264C1}"/>
              </a:ext>
            </a:extLst>
          </p:cNvPr>
          <p:cNvGraphicFramePr>
            <a:graphicFrameLocks noGrp="1"/>
          </p:cNvGraphicFramePr>
          <p:nvPr>
            <p:ph idx="1"/>
            <p:extLst>
              <p:ext uri="{D42A27DB-BD31-4B8C-83A1-F6EECF244321}">
                <p14:modId xmlns:p14="http://schemas.microsoft.com/office/powerpoint/2010/main" val="4260357496"/>
              </p:ext>
            </p:extLst>
          </p:nvPr>
        </p:nvGraphicFramePr>
        <p:xfrm>
          <a:off x="747713" y="2539841"/>
          <a:ext cx="7727949" cy="2011680"/>
        </p:xfrm>
        <a:graphic>
          <a:graphicData uri="http://schemas.openxmlformats.org/drawingml/2006/table">
            <a:tbl>
              <a:tblPr/>
              <a:tblGrid>
                <a:gridCol w="2575983">
                  <a:extLst>
                    <a:ext uri="{9D8B030D-6E8A-4147-A177-3AD203B41FA5}">
                      <a16:colId xmlns:a16="http://schemas.microsoft.com/office/drawing/2014/main" val="1386395915"/>
                    </a:ext>
                  </a:extLst>
                </a:gridCol>
                <a:gridCol w="2575983">
                  <a:extLst>
                    <a:ext uri="{9D8B030D-6E8A-4147-A177-3AD203B41FA5}">
                      <a16:colId xmlns:a16="http://schemas.microsoft.com/office/drawing/2014/main" val="1033267438"/>
                    </a:ext>
                  </a:extLst>
                </a:gridCol>
                <a:gridCol w="2575983">
                  <a:extLst>
                    <a:ext uri="{9D8B030D-6E8A-4147-A177-3AD203B41FA5}">
                      <a16:colId xmlns:a16="http://schemas.microsoft.com/office/drawing/2014/main" val="269518823"/>
                    </a:ext>
                  </a:extLst>
                </a:gridCol>
              </a:tblGrid>
              <a:tr h="0">
                <a:tc>
                  <a:txBody>
                    <a:bodyPr/>
                    <a:lstStyle/>
                    <a:p>
                      <a:pPr algn="ctr"/>
                      <a:r>
                        <a:rPr lang="en" b="1" dirty="0">
                          <a:effectLst/>
                        </a:rPr>
                        <a:t>AI</a:t>
                      </a:r>
                      <a:r>
                        <a:rPr lang="zh-CN" altLang="en-US" b="1" dirty="0">
                          <a:effectLst/>
                        </a:rPr>
                        <a:t>需求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w="50800" prst="hardEdge"/>
                      <a:lightRig rig="flood" dir="t"/>
                    </a:cell3D>
                    <a:solidFill>
                      <a:schemeClr val="tx2">
                        <a:lumMod val="20000"/>
                        <a:lumOff val="80000"/>
                      </a:schemeClr>
                    </a:solidFill>
                  </a:tcPr>
                </a:tc>
                <a:tc>
                  <a:txBody>
                    <a:bodyPr/>
                    <a:lstStyle/>
                    <a:p>
                      <a:pPr algn="ctr"/>
                      <a:r>
                        <a:rPr lang="zh-CN" altLang="en-US" b="1" dirty="0">
                          <a:effectLst/>
                        </a:rPr>
                        <a:t>数据库技术支撑</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w="50800" prst="hardEdge"/>
                      <a:lightRig rig="flood" dir="t"/>
                    </a:cell3D>
                    <a:solidFill>
                      <a:schemeClr val="tx2">
                        <a:lumMod val="20000"/>
                        <a:lumOff val="80000"/>
                      </a:schemeClr>
                    </a:solidFill>
                  </a:tcPr>
                </a:tc>
                <a:tc>
                  <a:txBody>
                    <a:bodyPr/>
                    <a:lstStyle/>
                    <a:p>
                      <a:pPr algn="ctr"/>
                      <a:r>
                        <a:rPr lang="en" b="1" dirty="0" err="1">
                          <a:effectLst/>
                        </a:rPr>
                        <a:t>DeepSeek</a:t>
                      </a:r>
                      <a:r>
                        <a:rPr lang="zh-CN" altLang="en-US" b="1" dirty="0">
                          <a:effectLst/>
                        </a:rPr>
                        <a:t>实践案例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w="50800" prst="hardEdge"/>
                      <a:lightRig rig="flood" dir="t"/>
                    </a:cell3D>
                    <a:solidFill>
                      <a:schemeClr val="tx2">
                        <a:lumMod val="20000"/>
                        <a:lumOff val="80000"/>
                      </a:schemeClr>
                    </a:solidFill>
                  </a:tcPr>
                </a:tc>
                <a:extLst>
                  <a:ext uri="{0D108BD9-81ED-4DB2-BD59-A6C34878D82A}">
                    <a16:rowId xmlns:a16="http://schemas.microsoft.com/office/drawing/2014/main" val="3947109017"/>
                  </a:ext>
                </a:extLst>
              </a:tr>
              <a:tr h="0">
                <a:tc>
                  <a:txBody>
                    <a:bodyPr/>
                    <a:lstStyle/>
                    <a:p>
                      <a:r>
                        <a:rPr lang="zh-CN" altLang="en-US">
                          <a:effectLst/>
                        </a:rPr>
                        <a:t>千亿级样本管理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w="50800" prst="hardEdge"/>
                      <a:lightRig rig="flood" dir="t"/>
                    </a:cell3D>
                    <a:noFill/>
                  </a:tcPr>
                </a:tc>
                <a:tc>
                  <a:txBody>
                    <a:bodyPr/>
                    <a:lstStyle/>
                    <a:p>
                      <a:r>
                        <a:rPr lang="zh-CN" altLang="en-US" dirty="0">
                          <a:effectLst/>
                        </a:rPr>
                        <a:t>分布式存储</a:t>
                      </a:r>
                      <a:r>
                        <a:rPr lang="en-US" altLang="zh-CN" dirty="0">
                          <a:effectLst/>
                        </a:rPr>
                        <a:t>+</a:t>
                      </a:r>
                      <a:r>
                        <a:rPr lang="zh-CN" altLang="en-US" dirty="0">
                          <a:effectLst/>
                        </a:rPr>
                        <a:t>列式压缩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w="50800" prst="hardEdge"/>
                      <a:lightRig rig="flood" dir="t"/>
                    </a:cell3D>
                    <a:noFill/>
                  </a:tcPr>
                </a:tc>
                <a:tc>
                  <a:txBody>
                    <a:bodyPr/>
                    <a:lstStyle/>
                    <a:p>
                      <a:r>
                        <a:rPr lang="en">
                          <a:effectLst/>
                        </a:rPr>
                        <a:t>DeepStorage</a:t>
                      </a:r>
                      <a:r>
                        <a:rPr lang="zh-CN" altLang="en-US">
                          <a:effectLst/>
                        </a:rPr>
                        <a:t>引擎设计原理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w="50800" prst="hardEdge"/>
                      <a:lightRig rig="flood" dir="t"/>
                    </a:cell3D>
                    <a:noFill/>
                  </a:tcPr>
                </a:tc>
                <a:extLst>
                  <a:ext uri="{0D108BD9-81ED-4DB2-BD59-A6C34878D82A}">
                    <a16:rowId xmlns:a16="http://schemas.microsoft.com/office/drawing/2014/main" val="637777571"/>
                  </a:ext>
                </a:extLst>
              </a:tr>
              <a:tr h="0">
                <a:tc>
                  <a:txBody>
                    <a:bodyPr/>
                    <a:lstStyle/>
                    <a:p>
                      <a:r>
                        <a:rPr lang="zh-CN" altLang="en-US">
                          <a:effectLst/>
                        </a:rPr>
                        <a:t>毫秒级特征检索</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w="50800" prst="hardEdge"/>
                      <a:lightRig rig="flood" dir="t"/>
                    </a:cell3D>
                    <a:noFill/>
                  </a:tcPr>
                </a:tc>
                <a:tc>
                  <a:txBody>
                    <a:bodyPr/>
                    <a:lstStyle/>
                    <a:p>
                      <a:r>
                        <a:rPr lang="zh-CN" altLang="en-US" dirty="0">
                          <a:effectLst/>
                        </a:rPr>
                        <a:t>内存数据库</a:t>
                      </a:r>
                      <a:r>
                        <a:rPr lang="en-US" altLang="zh-CN" dirty="0">
                          <a:effectLst/>
                        </a:rPr>
                        <a:t>+</a:t>
                      </a:r>
                      <a:r>
                        <a:rPr lang="zh-CN" altLang="en-US" dirty="0">
                          <a:effectLst/>
                        </a:rPr>
                        <a:t>向量索引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w="50800" prst="hardEdge"/>
                      <a:lightRig rig="flood" dir="t"/>
                    </a:cell3D>
                    <a:noFill/>
                  </a:tcPr>
                </a:tc>
                <a:tc>
                  <a:txBody>
                    <a:bodyPr/>
                    <a:lstStyle/>
                    <a:p>
                      <a:r>
                        <a:rPr lang="zh-CN" altLang="en-US">
                          <a:effectLst/>
                        </a:rPr>
                        <a:t>智能推荐系统架构剖析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w="50800" prst="hardEdge"/>
                      <a:lightRig rig="flood" dir="t"/>
                    </a:cell3D>
                    <a:noFill/>
                  </a:tcPr>
                </a:tc>
                <a:extLst>
                  <a:ext uri="{0D108BD9-81ED-4DB2-BD59-A6C34878D82A}">
                    <a16:rowId xmlns:a16="http://schemas.microsoft.com/office/drawing/2014/main" val="1601930451"/>
                  </a:ext>
                </a:extLst>
              </a:tr>
              <a:tr h="0">
                <a:tc>
                  <a:txBody>
                    <a:bodyPr/>
                    <a:lstStyle/>
                    <a:p>
                      <a:r>
                        <a:rPr lang="zh-CN" altLang="en-US" dirty="0">
                          <a:effectLst/>
                        </a:rPr>
                        <a:t>数据版本追溯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w="50800" prst="hardEdge"/>
                      <a:lightRig rig="flood" dir="t"/>
                    </a:cell3D>
                    <a:noFill/>
                  </a:tcPr>
                </a:tc>
                <a:tc>
                  <a:txBody>
                    <a:bodyPr/>
                    <a:lstStyle/>
                    <a:p>
                      <a:r>
                        <a:rPr lang="zh-CN" altLang="en-US">
                          <a:effectLst/>
                        </a:rPr>
                        <a:t>时序数据库</a:t>
                      </a:r>
                      <a:r>
                        <a:rPr lang="en-US" altLang="zh-CN">
                          <a:effectLst/>
                        </a:rPr>
                        <a:t>+</a:t>
                      </a:r>
                      <a:r>
                        <a:rPr lang="zh-CN" altLang="en-US">
                          <a:effectLst/>
                        </a:rPr>
                        <a:t>区块链存证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w="50800" prst="hardEdge"/>
                      <a:lightRig rig="flood" dir="t"/>
                    </a:cell3D>
                    <a:noFill/>
                  </a:tcPr>
                </a:tc>
                <a:tc>
                  <a:txBody>
                    <a:bodyPr/>
                    <a:lstStyle/>
                    <a:p>
                      <a:r>
                        <a:rPr lang="zh-CN" altLang="en-US" dirty="0">
                          <a:effectLst/>
                        </a:rPr>
                        <a:t>大模型训练数据溯源系统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w="50800" prst="hardEdge"/>
                      <a:lightRig rig="flood" dir="t"/>
                    </a:cell3D>
                    <a:noFill/>
                  </a:tcPr>
                </a:tc>
                <a:extLst>
                  <a:ext uri="{0D108BD9-81ED-4DB2-BD59-A6C34878D82A}">
                    <a16:rowId xmlns:a16="http://schemas.microsoft.com/office/drawing/2014/main" val="1961280968"/>
                  </a:ext>
                </a:extLst>
              </a:tr>
            </a:tbl>
          </a:graphicData>
        </a:graphic>
      </p:graphicFrame>
    </p:spTree>
    <p:extLst>
      <p:ext uri="{BB962C8B-B14F-4D97-AF65-F5344CB8AC3E}">
        <p14:creationId xmlns:p14="http://schemas.microsoft.com/office/powerpoint/2010/main" val="8055582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63C9B4-56F3-38C3-2136-51E2DB8909D4}"/>
              </a:ext>
            </a:extLst>
          </p:cNvPr>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前沿探讨：数据库技术的新战场</a:t>
            </a:r>
          </a:p>
        </p:txBody>
      </p:sp>
      <p:sp>
        <p:nvSpPr>
          <p:cNvPr id="3" name="内容占位符 2">
            <a:extLst>
              <a:ext uri="{FF2B5EF4-FFF2-40B4-BE49-F238E27FC236}">
                <a16:creationId xmlns:a16="http://schemas.microsoft.com/office/drawing/2014/main" id="{3155204B-90E1-F61E-C11F-3627C32AD517}"/>
              </a:ext>
            </a:extLst>
          </p:cNvPr>
          <p:cNvSpPr>
            <a:spLocks noGrp="1"/>
          </p:cNvSpPr>
          <p:nvPr>
            <p:ph idx="1"/>
          </p:nvPr>
        </p:nvSpPr>
        <p:spPr>
          <a:xfrm>
            <a:off x="228600" y="1030288"/>
            <a:ext cx="8775700" cy="5446712"/>
          </a:xfrm>
        </p:spPr>
        <p:txBody>
          <a:bodyPr/>
          <a:lstStyle/>
          <a:p>
            <a:pPr algn="l">
              <a:spcAft>
                <a:spcPts val="300"/>
              </a:spcAft>
              <a:buFont typeface="Arial" panose="020B0604020202020204" pitchFamily="34" charset="0"/>
              <a:buChar char="•"/>
            </a:pPr>
            <a:r>
              <a:rPr lang="en" altLang="zh-CN" sz="2400" b="1" i="0" dirty="0">
                <a:solidFill>
                  <a:srgbClr val="000099"/>
                </a:solidFill>
                <a:effectLst/>
                <a:latin typeface="Arial" panose="020B0604020202020204" pitchFamily="34" charset="0"/>
                <a:ea typeface="SimHei" panose="02010609060101010101" pitchFamily="49" charset="-122"/>
                <a:cs typeface="Arial" panose="020B0604020202020204" pitchFamily="34" charset="0"/>
              </a:rPr>
              <a:t>AI</a:t>
            </a:r>
            <a:r>
              <a:rPr lang="zh-CN" altLang="en-US" sz="2400" b="1" i="0" dirty="0">
                <a:solidFill>
                  <a:srgbClr val="000099"/>
                </a:solidFill>
                <a:effectLst/>
                <a:latin typeface="Arial" panose="020B0604020202020204" pitchFamily="34" charset="0"/>
                <a:ea typeface="SimHei" panose="02010609060101010101" pitchFamily="49" charset="-122"/>
                <a:cs typeface="Arial" panose="020B0604020202020204" pitchFamily="34" charset="0"/>
              </a:rPr>
              <a:t>原生数据库趋势</a:t>
            </a:r>
            <a:endParaRPr lang="zh-CN" altLang="en-US" sz="2400" b="0" i="0" dirty="0">
              <a:solidFill>
                <a:srgbClr val="000099"/>
              </a:solidFill>
              <a:effectLst/>
              <a:latin typeface="Arial" panose="020B0604020202020204" pitchFamily="34" charset="0"/>
              <a:ea typeface="SimHei" panose="02010609060101010101" pitchFamily="49" charset="-122"/>
              <a:cs typeface="Arial" panose="020B0604020202020204" pitchFamily="34" charset="0"/>
            </a:endParaRPr>
          </a:p>
          <a:p>
            <a:pPr marL="742950" lvl="1" indent="-285750" algn="l">
              <a:spcBef>
                <a:spcPts val="300"/>
              </a:spcBef>
              <a:buFont typeface="Arial" panose="020B0604020202020204" pitchFamily="34" charset="0"/>
              <a:buChar char="•"/>
            </a:pPr>
            <a:r>
              <a:rPr lang="zh-CN" altLang="en-US" sz="2400" b="0" i="0" dirty="0">
                <a:solidFill>
                  <a:srgbClr val="404040"/>
                </a:solidFill>
                <a:effectLst/>
                <a:latin typeface="Arial" panose="020B0604020202020204" pitchFamily="34" charset="0"/>
                <a:ea typeface="SimHei" panose="02010609060101010101" pitchFamily="49" charset="-122"/>
                <a:cs typeface="Arial" panose="020B0604020202020204" pitchFamily="34" charset="0"/>
              </a:rPr>
              <a:t>向量数据库与大模型</a:t>
            </a:r>
            <a:r>
              <a:rPr lang="en" altLang="zh-CN" sz="2400" b="0" i="0" dirty="0">
                <a:solidFill>
                  <a:srgbClr val="404040"/>
                </a:solidFill>
                <a:effectLst/>
                <a:latin typeface="Arial" panose="020B0604020202020204" pitchFamily="34" charset="0"/>
                <a:ea typeface="SimHei" panose="02010609060101010101" pitchFamily="49" charset="-122"/>
                <a:cs typeface="Arial" panose="020B0604020202020204" pitchFamily="34" charset="0"/>
              </a:rPr>
              <a:t>embedding</a:t>
            </a:r>
            <a:r>
              <a:rPr lang="zh-CN" altLang="en-US" sz="2400" b="0" i="0" dirty="0">
                <a:solidFill>
                  <a:srgbClr val="404040"/>
                </a:solidFill>
                <a:effectLst/>
                <a:latin typeface="Arial" panose="020B0604020202020204" pitchFamily="34" charset="0"/>
                <a:ea typeface="SimHei" panose="02010609060101010101" pitchFamily="49" charset="-122"/>
                <a:cs typeface="Arial" panose="020B0604020202020204" pitchFamily="34" charset="0"/>
              </a:rPr>
              <a:t>存储</a:t>
            </a:r>
          </a:p>
          <a:p>
            <a:pPr marL="742950" lvl="1" indent="-285750" algn="l">
              <a:spcBef>
                <a:spcPts val="300"/>
              </a:spcBef>
              <a:buFont typeface="Arial" panose="020B0604020202020204" pitchFamily="34" charset="0"/>
              <a:buChar char="•"/>
            </a:pPr>
            <a:r>
              <a:rPr lang="zh-CN" altLang="en-US" sz="2400" b="0" i="0" dirty="0">
                <a:solidFill>
                  <a:srgbClr val="404040"/>
                </a:solidFill>
                <a:effectLst/>
                <a:latin typeface="Arial" panose="020B0604020202020204" pitchFamily="34" charset="0"/>
                <a:ea typeface="SimHei" panose="02010609060101010101" pitchFamily="49" charset="-122"/>
                <a:cs typeface="Arial" panose="020B0604020202020204" pitchFamily="34" charset="0"/>
              </a:rPr>
              <a:t>图数据库与知识图谱构建</a:t>
            </a:r>
            <a:endParaRPr lang="en-US" altLang="zh-CN" sz="2400" b="0" i="0" dirty="0">
              <a:solidFill>
                <a:srgbClr val="404040"/>
              </a:solidFill>
              <a:effectLst/>
              <a:latin typeface="Arial" panose="020B0604020202020204" pitchFamily="34" charset="0"/>
              <a:ea typeface="SimHei" panose="02010609060101010101" pitchFamily="49" charset="-122"/>
              <a:cs typeface="Arial" panose="020B0604020202020204" pitchFamily="34" charset="0"/>
            </a:endParaRPr>
          </a:p>
          <a:p>
            <a:pPr lvl="2" indent="-285750">
              <a:spcBef>
                <a:spcPts val="300"/>
              </a:spcBef>
              <a:buFont typeface="Arial" panose="020B0604020202020204" pitchFamily="34" charset="0"/>
              <a:buChar char="•"/>
            </a:pPr>
            <a:r>
              <a:rPr lang="zh-CN" altLang="en-US" sz="2400" b="0" i="0" dirty="0">
                <a:solidFill>
                  <a:srgbClr val="404040"/>
                </a:solidFill>
                <a:effectLst/>
                <a:latin typeface="Arial" panose="020B0604020202020204" pitchFamily="34" charset="0"/>
                <a:ea typeface="SimHei" panose="02010609060101010101" pitchFamily="49" charset="-122"/>
                <a:cs typeface="Arial" panose="020B0604020202020204" pitchFamily="34" charset="0"/>
              </a:rPr>
              <a:t>关联</a:t>
            </a:r>
            <a:r>
              <a:rPr lang="en" altLang="zh-CN" sz="2400" b="0" i="0" dirty="0" err="1">
                <a:solidFill>
                  <a:srgbClr val="404040"/>
                </a:solidFill>
                <a:effectLst/>
                <a:latin typeface="Arial" panose="020B0604020202020204" pitchFamily="34" charset="0"/>
                <a:ea typeface="SimHei" panose="02010609060101010101" pitchFamily="49" charset="-122"/>
                <a:cs typeface="Arial" panose="020B0604020202020204" pitchFamily="34" charset="0"/>
              </a:rPr>
              <a:t>DeepSeek</a:t>
            </a:r>
            <a:r>
              <a:rPr lang="zh-CN" altLang="en-US" sz="2400" b="0" i="0" dirty="0">
                <a:solidFill>
                  <a:srgbClr val="404040"/>
                </a:solidFill>
                <a:effectLst/>
                <a:latin typeface="Arial" panose="020B0604020202020204" pitchFamily="34" charset="0"/>
                <a:ea typeface="SimHei" panose="02010609060101010101" pitchFamily="49" charset="-122"/>
                <a:cs typeface="Arial" panose="020B0604020202020204" pitchFamily="34" charset="0"/>
              </a:rPr>
              <a:t>智能风控案例</a:t>
            </a:r>
          </a:p>
          <a:p>
            <a:pPr marL="742950" lvl="1" indent="-285750" algn="l">
              <a:spcBef>
                <a:spcPts val="300"/>
              </a:spcBef>
              <a:buFont typeface="Arial" panose="020B0604020202020204" pitchFamily="34" charset="0"/>
              <a:buChar char="•"/>
            </a:pPr>
            <a:r>
              <a:rPr lang="zh-CN" altLang="en-US" sz="2400" b="0" i="0" dirty="0">
                <a:solidFill>
                  <a:srgbClr val="404040"/>
                </a:solidFill>
                <a:effectLst/>
                <a:latin typeface="Arial" panose="020B0604020202020204" pitchFamily="34" charset="0"/>
                <a:ea typeface="SimHei" panose="02010609060101010101" pitchFamily="49" charset="-122"/>
                <a:cs typeface="Arial" panose="020B0604020202020204" pitchFamily="34" charset="0"/>
              </a:rPr>
              <a:t>增量数据库与在线学习</a:t>
            </a:r>
            <a:endParaRPr lang="en-US" altLang="zh-CN" sz="2400" b="0" i="0" dirty="0">
              <a:solidFill>
                <a:srgbClr val="404040"/>
              </a:solidFill>
              <a:effectLst/>
              <a:latin typeface="Arial" panose="020B0604020202020204" pitchFamily="34" charset="0"/>
              <a:ea typeface="SimHei" panose="02010609060101010101" pitchFamily="49" charset="-122"/>
              <a:cs typeface="Arial" panose="020B0604020202020204" pitchFamily="34" charset="0"/>
            </a:endParaRPr>
          </a:p>
          <a:p>
            <a:pPr lvl="2" indent="-285750">
              <a:spcBef>
                <a:spcPts val="300"/>
              </a:spcBef>
              <a:buFont typeface="Arial" panose="020B0604020202020204" pitchFamily="34" charset="0"/>
              <a:buChar char="•"/>
            </a:pPr>
            <a:r>
              <a:rPr lang="zh-CN" altLang="en-US" sz="2400" b="0" i="0" dirty="0">
                <a:solidFill>
                  <a:srgbClr val="404040"/>
                </a:solidFill>
                <a:effectLst/>
                <a:latin typeface="Arial" panose="020B0604020202020204" pitchFamily="34" charset="0"/>
                <a:ea typeface="SimHei" panose="02010609060101010101" pitchFamily="49" charset="-122"/>
                <a:cs typeface="Arial" panose="020B0604020202020204" pitchFamily="34" charset="0"/>
              </a:rPr>
              <a:t>自动驾驶数据流处理场景</a:t>
            </a:r>
          </a:p>
          <a:p>
            <a:pPr algn="l">
              <a:spcBef>
                <a:spcPts val="300"/>
              </a:spcBef>
              <a:spcAft>
                <a:spcPts val="300"/>
              </a:spcAft>
              <a:buFont typeface="Arial" panose="020B0604020202020204" pitchFamily="34" charset="0"/>
              <a:buChar char="•"/>
            </a:pPr>
            <a:r>
              <a:rPr lang="zh-CN" altLang="en-US" sz="2400" b="1" i="0" dirty="0">
                <a:solidFill>
                  <a:srgbClr val="000099"/>
                </a:solidFill>
                <a:effectLst/>
                <a:latin typeface="Arial" panose="020B0604020202020204" pitchFamily="34" charset="0"/>
                <a:ea typeface="SimHei" panose="02010609060101010101" pitchFamily="49" charset="-122"/>
                <a:cs typeface="Arial" panose="020B0604020202020204" pitchFamily="34" charset="0"/>
              </a:rPr>
              <a:t>颠覆性创新</a:t>
            </a:r>
            <a:endParaRPr lang="zh-CN" altLang="en-US" sz="2400" b="0" i="0" dirty="0">
              <a:solidFill>
                <a:srgbClr val="404040"/>
              </a:solidFill>
              <a:effectLst/>
              <a:latin typeface="Arial" panose="020B0604020202020204" pitchFamily="34" charset="0"/>
              <a:ea typeface="SimHei" panose="02010609060101010101" pitchFamily="49" charset="-122"/>
              <a:cs typeface="Arial" panose="020B0604020202020204" pitchFamily="34" charset="0"/>
            </a:endParaRPr>
          </a:p>
          <a:p>
            <a:pPr marL="742950" lvl="1" indent="-285750" algn="l">
              <a:spcBef>
                <a:spcPts val="300"/>
              </a:spcBef>
              <a:buFont typeface="Arial" panose="020B0604020202020204" pitchFamily="34" charset="0"/>
              <a:buChar char="•"/>
            </a:pPr>
            <a:r>
              <a:rPr lang="zh-CN" altLang="en-US" sz="2400" b="0" i="0" dirty="0">
                <a:solidFill>
                  <a:srgbClr val="404040"/>
                </a:solidFill>
                <a:effectLst/>
                <a:latin typeface="Arial" panose="020B0604020202020204" pitchFamily="34" charset="0"/>
                <a:ea typeface="SimHei" panose="02010609060101010101" pitchFamily="49" charset="-122"/>
                <a:cs typeface="Arial" panose="020B0604020202020204" pitchFamily="34" charset="0"/>
              </a:rPr>
              <a:t>自动特征发现</a:t>
            </a:r>
            <a:endParaRPr lang="en-US" altLang="zh-CN" sz="2400" b="0" i="0" dirty="0">
              <a:solidFill>
                <a:srgbClr val="404040"/>
              </a:solidFill>
              <a:effectLst/>
              <a:latin typeface="Arial" panose="020B0604020202020204" pitchFamily="34" charset="0"/>
              <a:ea typeface="SimHei" panose="02010609060101010101" pitchFamily="49" charset="-122"/>
              <a:cs typeface="Arial" panose="020B0604020202020204" pitchFamily="34" charset="0"/>
            </a:endParaRPr>
          </a:p>
          <a:p>
            <a:pPr lvl="2" indent="-285750">
              <a:spcBef>
                <a:spcPts val="300"/>
              </a:spcBef>
              <a:buFont typeface="Arial" panose="020B0604020202020204" pitchFamily="34" charset="0"/>
              <a:buChar char="•"/>
            </a:pPr>
            <a:r>
              <a:rPr lang="en" altLang="zh-CN" sz="2400" b="0" i="0" dirty="0" err="1">
                <a:solidFill>
                  <a:srgbClr val="404040"/>
                </a:solidFill>
                <a:effectLst/>
                <a:latin typeface="Arial" panose="020B0604020202020204" pitchFamily="34" charset="0"/>
                <a:ea typeface="SimHei" panose="02010609060101010101" pitchFamily="49" charset="-122"/>
                <a:cs typeface="Arial" panose="020B0604020202020204" pitchFamily="34" charset="0"/>
              </a:rPr>
              <a:t>AutoFeature</a:t>
            </a:r>
            <a:r>
              <a:rPr lang="zh-CN" altLang="en-US" sz="2400" b="0" i="0" dirty="0">
                <a:solidFill>
                  <a:srgbClr val="404040"/>
                </a:solidFill>
                <a:effectLst/>
                <a:latin typeface="Arial" panose="020B0604020202020204" pitchFamily="34" charset="0"/>
                <a:ea typeface="SimHei" panose="02010609060101010101" pitchFamily="49" charset="-122"/>
                <a:cs typeface="Arial" panose="020B0604020202020204" pitchFamily="34" charset="0"/>
              </a:rPr>
              <a:t>模块</a:t>
            </a:r>
          </a:p>
          <a:p>
            <a:pPr marL="742950" lvl="1" indent="-285750" algn="l">
              <a:spcBef>
                <a:spcPts val="300"/>
              </a:spcBef>
              <a:buFont typeface="Arial" panose="020B0604020202020204" pitchFamily="34" charset="0"/>
              <a:buChar char="•"/>
            </a:pPr>
            <a:r>
              <a:rPr lang="zh-CN" altLang="en-US" sz="2400" b="0" i="0" dirty="0">
                <a:solidFill>
                  <a:srgbClr val="404040"/>
                </a:solidFill>
                <a:effectLst/>
                <a:latin typeface="Arial" panose="020B0604020202020204" pitchFamily="34" charset="0"/>
                <a:ea typeface="SimHei" panose="02010609060101010101" pitchFamily="49" charset="-122"/>
                <a:cs typeface="Arial" panose="020B0604020202020204" pitchFamily="34" charset="0"/>
              </a:rPr>
              <a:t>动态</a:t>
            </a:r>
            <a:r>
              <a:rPr lang="en" altLang="zh-CN" sz="2400" b="0" i="0" dirty="0">
                <a:solidFill>
                  <a:srgbClr val="404040"/>
                </a:solidFill>
                <a:effectLst/>
                <a:latin typeface="Arial" panose="020B0604020202020204" pitchFamily="34" charset="0"/>
                <a:ea typeface="SimHei" panose="02010609060101010101" pitchFamily="49" charset="-122"/>
                <a:cs typeface="Arial" panose="020B0604020202020204" pitchFamily="34" charset="0"/>
              </a:rPr>
              <a:t>schema</a:t>
            </a:r>
            <a:r>
              <a:rPr lang="zh-CN" altLang="en-US" sz="2400" b="0" i="0" dirty="0">
                <a:solidFill>
                  <a:srgbClr val="404040"/>
                </a:solidFill>
                <a:effectLst/>
                <a:latin typeface="Arial" panose="020B0604020202020204" pitchFamily="34" charset="0"/>
                <a:ea typeface="SimHei" panose="02010609060101010101" pitchFamily="49" charset="-122"/>
                <a:cs typeface="Arial" panose="020B0604020202020204" pitchFamily="34" charset="0"/>
              </a:rPr>
              <a:t>适配</a:t>
            </a:r>
            <a:endParaRPr lang="en-US" altLang="zh-CN" sz="2400" b="0" i="0" dirty="0">
              <a:solidFill>
                <a:srgbClr val="404040"/>
              </a:solidFill>
              <a:effectLst/>
              <a:latin typeface="Arial" panose="020B0604020202020204" pitchFamily="34" charset="0"/>
              <a:ea typeface="SimHei" panose="02010609060101010101" pitchFamily="49" charset="-122"/>
              <a:cs typeface="Arial" panose="020B0604020202020204" pitchFamily="34" charset="0"/>
            </a:endParaRPr>
          </a:p>
          <a:p>
            <a:pPr lvl="2" indent="-285750">
              <a:spcBef>
                <a:spcPts val="300"/>
              </a:spcBef>
              <a:buFont typeface="Arial" panose="020B0604020202020204" pitchFamily="34" charset="0"/>
              <a:buChar char="•"/>
            </a:pPr>
            <a:r>
              <a:rPr lang="en" altLang="zh-CN" sz="2400" b="0" i="0" dirty="0" err="1">
                <a:solidFill>
                  <a:srgbClr val="404040"/>
                </a:solidFill>
                <a:effectLst/>
                <a:latin typeface="Arial" panose="020B0604020202020204" pitchFamily="34" charset="0"/>
                <a:ea typeface="SimHei" panose="02010609060101010101" pitchFamily="49" charset="-122"/>
                <a:cs typeface="Arial" panose="020B0604020202020204" pitchFamily="34" charset="0"/>
              </a:rPr>
              <a:t>SchemaFlex</a:t>
            </a:r>
            <a:r>
              <a:rPr lang="zh-CN" altLang="en-US" sz="2400" b="0" i="0" dirty="0">
                <a:solidFill>
                  <a:srgbClr val="404040"/>
                </a:solidFill>
                <a:effectLst/>
                <a:latin typeface="Arial" panose="020B0604020202020204" pitchFamily="34" charset="0"/>
                <a:ea typeface="SimHei" panose="02010609060101010101" pitchFamily="49" charset="-122"/>
                <a:cs typeface="Arial" panose="020B0604020202020204" pitchFamily="34" charset="0"/>
              </a:rPr>
              <a:t>技术</a:t>
            </a:r>
          </a:p>
          <a:p>
            <a:pPr marL="742950" lvl="1" indent="-285750" algn="l">
              <a:spcBef>
                <a:spcPts val="300"/>
              </a:spcBef>
              <a:buFont typeface="Arial" panose="020B0604020202020204" pitchFamily="34" charset="0"/>
              <a:buChar char="•"/>
            </a:pPr>
            <a:r>
              <a:rPr lang="zh-CN" altLang="en-US" sz="2400" b="0" i="0" dirty="0">
                <a:solidFill>
                  <a:srgbClr val="404040"/>
                </a:solidFill>
                <a:effectLst/>
                <a:latin typeface="Arial" panose="020B0604020202020204" pitchFamily="34" charset="0"/>
                <a:ea typeface="SimHei" panose="02010609060101010101" pitchFamily="49" charset="-122"/>
                <a:cs typeface="Arial" panose="020B0604020202020204" pitchFamily="34" charset="0"/>
              </a:rPr>
              <a:t>计算下推优化</a:t>
            </a:r>
            <a:endParaRPr lang="en-US" altLang="zh-CN" sz="2400" b="0" i="0" dirty="0">
              <a:solidFill>
                <a:srgbClr val="404040"/>
              </a:solidFill>
              <a:effectLst/>
              <a:latin typeface="Arial" panose="020B0604020202020204" pitchFamily="34" charset="0"/>
              <a:ea typeface="SimHei" panose="02010609060101010101" pitchFamily="49" charset="-122"/>
              <a:cs typeface="Arial" panose="020B0604020202020204" pitchFamily="34" charset="0"/>
            </a:endParaRPr>
          </a:p>
          <a:p>
            <a:pPr lvl="2" indent="-285750">
              <a:spcBef>
                <a:spcPts val="300"/>
              </a:spcBef>
              <a:buFont typeface="Arial" panose="020B0604020202020204" pitchFamily="34" charset="0"/>
              <a:buChar char="•"/>
            </a:pPr>
            <a:r>
              <a:rPr lang="zh-CN" altLang="en-US" sz="2400" b="0" i="0" dirty="0">
                <a:solidFill>
                  <a:srgbClr val="404040"/>
                </a:solidFill>
                <a:effectLst/>
                <a:latin typeface="Arial" panose="020B0604020202020204" pitchFamily="34" charset="0"/>
                <a:ea typeface="SimHei" panose="02010609060101010101" pitchFamily="49" charset="-122"/>
                <a:cs typeface="Arial" panose="020B0604020202020204" pitchFamily="34" charset="0"/>
              </a:rPr>
              <a:t>将</a:t>
            </a:r>
            <a:r>
              <a:rPr lang="en" altLang="zh-CN" sz="2400" b="0" i="0" dirty="0" err="1">
                <a:solidFill>
                  <a:srgbClr val="404040"/>
                </a:solidFill>
                <a:effectLst/>
                <a:latin typeface="Arial" panose="020B0604020202020204" pitchFamily="34" charset="0"/>
                <a:ea typeface="SimHei" panose="02010609060101010101" pitchFamily="49" charset="-122"/>
                <a:cs typeface="Arial" panose="020B0604020202020204" pitchFamily="34" charset="0"/>
              </a:rPr>
              <a:t>PyTorch</a:t>
            </a:r>
            <a:r>
              <a:rPr lang="zh-CN" altLang="en-US" sz="2400" b="0" i="0" dirty="0">
                <a:solidFill>
                  <a:srgbClr val="404040"/>
                </a:solidFill>
                <a:effectLst/>
                <a:latin typeface="Arial" panose="020B0604020202020204" pitchFamily="34" charset="0"/>
                <a:ea typeface="SimHei" panose="02010609060101010101" pitchFamily="49" charset="-122"/>
                <a:cs typeface="Arial" panose="020B0604020202020204" pitchFamily="34" charset="0"/>
              </a:rPr>
              <a:t>算子嵌入存储层</a:t>
            </a:r>
          </a:p>
          <a:p>
            <a:endParaRPr kumimoji="1" lang="zh-CN" altLang="en-US" sz="2400" dirty="0">
              <a:latin typeface="Arial" panose="020B0604020202020204" pitchFamily="34" charset="0"/>
              <a:ea typeface="SimHei" panose="02010609060101010101" pitchFamily="49" charset="-122"/>
              <a:cs typeface="Arial" panose="020B0604020202020204" pitchFamily="34" charset="0"/>
            </a:endParaRPr>
          </a:p>
        </p:txBody>
      </p:sp>
    </p:spTree>
    <p:extLst>
      <p:ext uri="{BB962C8B-B14F-4D97-AF65-F5344CB8AC3E}">
        <p14:creationId xmlns:p14="http://schemas.microsoft.com/office/powerpoint/2010/main" val="33380792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国外数据库课程做什么</a:t>
            </a:r>
          </a:p>
        </p:txBody>
      </p:sp>
      <p:sp>
        <p:nvSpPr>
          <p:cNvPr id="34819" name="内容占位符 2"/>
          <p:cNvSpPr>
            <a:spLocks noGrp="1"/>
          </p:cNvSpPr>
          <p:nvPr>
            <p:ph idx="1"/>
          </p:nvPr>
        </p:nvSpPr>
        <p:spPr/>
        <p:txBody>
          <a:bodyPr vert="horz" wrap="square" lIns="91440" tIns="45720" rIns="91440" bIns="45720" numCol="1" anchor="t" anchorCtr="0" compatLnSpc="1">
            <a:normAutofit fontScale="92500" lnSpcReduction="20000"/>
          </a:bodyPr>
          <a:lstStyle/>
          <a:p>
            <a:pPr>
              <a:lnSpc>
                <a:spcPct val="130000"/>
              </a:lnSpc>
              <a:spcBef>
                <a:spcPct val="20000"/>
              </a:spcBef>
              <a:buClr>
                <a:srgbClr val="FF3300"/>
              </a:buClr>
              <a:buSzPct val="125000"/>
              <a:defRPr/>
            </a:pPr>
            <a:r>
              <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Stanford</a:t>
            </a:r>
          </a:p>
          <a:p>
            <a:pPr lvl="1">
              <a:lnSpc>
                <a:spcPct val="130000"/>
              </a:lnSpc>
              <a:spcBef>
                <a:spcPct val="20000"/>
              </a:spcBef>
              <a:buClr>
                <a:schemeClr val="accent2"/>
              </a:buClr>
              <a:buSzTx/>
              <a:defRPr/>
            </a:pPr>
            <a:r>
              <a:rPr kumimoji="1" lang="en-US" altLang="zh-CN"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rPr>
              <a:t>Google</a:t>
            </a:r>
            <a:r>
              <a:rPr kumimoji="1" lang="zh-CN" altLang="en-US"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rPr>
              <a:t>的数据库查询服务</a:t>
            </a:r>
            <a:endParaRPr kumimoji="1" lang="en-US" altLang="zh-CN"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endParaRPr>
          </a:p>
          <a:p>
            <a:pPr lvl="1">
              <a:lnSpc>
                <a:spcPct val="130000"/>
              </a:lnSpc>
              <a:spcBef>
                <a:spcPct val="20000"/>
              </a:spcBef>
              <a:buClr>
                <a:schemeClr val="accent2"/>
              </a:buClr>
              <a:buSzTx/>
              <a:defRPr/>
            </a:pPr>
            <a:r>
              <a:rPr kumimoji="1" lang="zh-CN" altLang="en-US"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rPr>
              <a:t>是面向使用的，而非面向研究的</a:t>
            </a:r>
            <a:endParaRPr kumimoji="1" lang="en-US" altLang="zh-CN"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endParaRPr>
          </a:p>
          <a:p>
            <a:pPr>
              <a:lnSpc>
                <a:spcPct val="130000"/>
              </a:lnSpc>
              <a:spcBef>
                <a:spcPct val="20000"/>
              </a:spcBef>
              <a:buClr>
                <a:srgbClr val="FF3300"/>
              </a:buClr>
              <a:buSzPct val="125000"/>
              <a:defRPr/>
            </a:pPr>
            <a:r>
              <a:rPr kumimoji="1" lang="en-US" altLang="zh-CN" sz="3000" b="0" i="0" u="none" strike="noStrike" kern="0" cap="none" spc="0" normalizeH="0" baseline="0" noProof="0" dirty="0" err="1">
                <a:ln>
                  <a:noFill/>
                </a:ln>
                <a:solidFill>
                  <a:schemeClr val="tx1"/>
                </a:solidFill>
                <a:effectLst/>
                <a:uLnTx/>
                <a:uFillTx/>
                <a:latin typeface="微软雅黑" panose="020B0503020204020204" charset="-122"/>
                <a:ea typeface="微软雅黑" panose="020B0503020204020204" charset="-122"/>
                <a:cs typeface="+mn-cs"/>
              </a:rPr>
              <a:t>Mit</a:t>
            </a:r>
            <a:endPar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lvl="1">
              <a:lnSpc>
                <a:spcPct val="130000"/>
              </a:lnSpc>
              <a:spcBef>
                <a:spcPct val="20000"/>
              </a:spcBef>
              <a:buClr>
                <a:schemeClr val="accent2"/>
              </a:buClr>
              <a:buSzTx/>
              <a:defRPr/>
            </a:pPr>
            <a:r>
              <a:rPr kumimoji="1" lang="en-US" altLang="zh-CN"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rPr>
              <a:t>Java</a:t>
            </a:r>
            <a:r>
              <a:rPr kumimoji="1" lang="zh-CN" altLang="en-US"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rPr>
              <a:t>版的</a:t>
            </a:r>
            <a:r>
              <a:rPr kumimoji="1" lang="en-US" altLang="zh-CN" sz="2800" b="0" i="0" u="none" strike="noStrike" kern="0" cap="none" spc="0" normalizeH="0" baseline="0" noProof="0" dirty="0" err="1">
                <a:ln>
                  <a:noFill/>
                </a:ln>
                <a:solidFill>
                  <a:schemeClr val="tx1"/>
                </a:solidFill>
                <a:effectLst/>
                <a:uLnTx/>
                <a:uFillTx/>
                <a:latin typeface="微软雅黑" panose="020B0503020204020204" charset="-122"/>
                <a:ea typeface="微软雅黑" panose="020B0503020204020204" charset="-122"/>
                <a:cs typeface="楷体_GB2312" panose="02010609030101010101" charset="-122"/>
              </a:rPr>
              <a:t>SimpleDB</a:t>
            </a:r>
            <a:endParaRPr kumimoji="1" lang="en-US" altLang="zh-CN"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endParaRPr>
          </a:p>
          <a:p>
            <a:pPr lvl="1">
              <a:lnSpc>
                <a:spcPct val="130000"/>
              </a:lnSpc>
              <a:spcBef>
                <a:spcPct val="20000"/>
              </a:spcBef>
              <a:buClr>
                <a:schemeClr val="accent2"/>
              </a:buClr>
              <a:buSzTx/>
              <a:defRPr/>
            </a:pPr>
            <a:r>
              <a:rPr kumimoji="1" lang="zh-CN" altLang="en-US"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rPr>
              <a:t>增加事务支持和查询优化支持</a:t>
            </a:r>
            <a:endParaRPr kumimoji="1" lang="en-US" altLang="zh-CN"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endParaRPr>
          </a:p>
          <a:p>
            <a:pPr>
              <a:lnSpc>
                <a:spcPct val="130000"/>
              </a:lnSpc>
              <a:spcBef>
                <a:spcPct val="20000"/>
              </a:spcBef>
              <a:buClr>
                <a:srgbClr val="FF3300"/>
              </a:buClr>
              <a:buSzPct val="125000"/>
              <a:defRPr/>
            </a:pPr>
            <a:r>
              <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Berkeley</a:t>
            </a:r>
          </a:p>
          <a:p>
            <a:pPr lvl="1">
              <a:lnSpc>
                <a:spcPct val="130000"/>
              </a:lnSpc>
              <a:spcBef>
                <a:spcPct val="20000"/>
              </a:spcBef>
              <a:buClr>
                <a:schemeClr val="accent2"/>
              </a:buClr>
              <a:buSzTx/>
              <a:defRPr/>
            </a:pPr>
            <a:r>
              <a:rPr kumimoji="1" lang="en-US" altLang="zh-CN"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rPr>
              <a:t>PostgreSQL</a:t>
            </a:r>
            <a:r>
              <a:rPr kumimoji="1" lang="zh-CN" altLang="en-US"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rPr>
              <a:t>之上练习</a:t>
            </a:r>
            <a:r>
              <a:rPr kumimoji="1" lang="en-US" altLang="zh-CN"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rPr>
              <a:t>SQL</a:t>
            </a:r>
          </a:p>
          <a:p>
            <a:pPr lvl="1">
              <a:lnSpc>
                <a:spcPct val="130000"/>
              </a:lnSpc>
              <a:spcBef>
                <a:spcPct val="20000"/>
              </a:spcBef>
              <a:buClr>
                <a:schemeClr val="accent2"/>
              </a:buClr>
              <a:buSzTx/>
              <a:defRPr/>
            </a:pPr>
            <a:r>
              <a:rPr kumimoji="1" lang="zh-CN" altLang="en-US"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rPr>
              <a:t>实现</a:t>
            </a:r>
            <a:r>
              <a:rPr kumimoji="1" lang="en-US" altLang="zh-CN"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rPr>
              <a:t>B+</a:t>
            </a:r>
            <a:r>
              <a:rPr kumimoji="1" lang="zh-CN" altLang="en-US"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rPr>
              <a:t>树等索引</a:t>
            </a:r>
            <a:r>
              <a:rPr kumimoji="1" lang="en-US" altLang="zh-CN"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rPr>
              <a:t>(Java)</a:t>
            </a:r>
          </a:p>
          <a:p>
            <a:pPr marL="742950" marR="0" lvl="1" indent="-285750" algn="l" defTabSz="914400" rtl="0" eaLnBrk="0" fontAlgn="base" latinLnBrk="0" hangingPunct="0">
              <a:lnSpc>
                <a:spcPct val="130000"/>
              </a:lnSpc>
              <a:spcBef>
                <a:spcPct val="20000"/>
              </a:spcBef>
              <a:spcAft>
                <a:spcPct val="0"/>
              </a:spcAft>
              <a:buClr>
                <a:schemeClr val="accent2"/>
              </a:buClr>
              <a:buSzTx/>
              <a:buFont typeface="Times New Roman" panose="02020603050405020304" pitchFamily="18" charset="0"/>
              <a:buChar char="♣"/>
              <a:defRPr/>
            </a:pPr>
            <a:endParaRPr kumimoji="1" lang="zh-CN" altLang="en-US"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endParaRPr>
          </a:p>
        </p:txBody>
      </p:sp>
    </p:spTree>
    <p:extLst>
      <p:ext uri="{BB962C8B-B14F-4D97-AF65-F5344CB8AC3E}">
        <p14:creationId xmlns:p14="http://schemas.microsoft.com/office/powerpoint/2010/main" val="34001376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WIxYzZkM2FmYTk4YjgyMWQyYjQ4MGI5NDkwOGIwYmYifQ=="/>
  <p:tag name="KSO_WPP_MARK_KEY" val="1dbec1fc-a8d3-4214-9f0c-a4929bc5824d"/>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8265,&quot;width&quot;:13995}"/>
</p:tagLst>
</file>

<file path=ppt/theme/theme1.xml><?xml version="1.0" encoding="utf-8"?>
<a:theme xmlns:a="http://schemas.openxmlformats.org/drawingml/2006/main"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panose="020B060402020203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panose="020B0604020202030204" pitchFamily="34"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DB6</Template>
  <TotalTime>131</TotalTime>
  <Words>5826</Words>
  <Application>Microsoft Macintosh PowerPoint</Application>
  <PresentationFormat>全屏显示(4:3)</PresentationFormat>
  <Paragraphs>626</Paragraphs>
  <Slides>63</Slides>
  <Notes>15</Notes>
  <HiddenSlides>13</HiddenSlides>
  <MMClips>0</MMClips>
  <ScaleCrop>false</ScaleCrop>
  <HeadingPairs>
    <vt:vector size="8" baseType="variant">
      <vt:variant>
        <vt:lpstr>已用的字体</vt:lpstr>
      </vt:variant>
      <vt:variant>
        <vt:i4>13</vt:i4>
      </vt:variant>
      <vt:variant>
        <vt:lpstr>主题</vt:lpstr>
      </vt:variant>
      <vt:variant>
        <vt:i4>1</vt:i4>
      </vt:variant>
      <vt:variant>
        <vt:lpstr>幻灯片标题</vt:lpstr>
      </vt:variant>
      <vt:variant>
        <vt:i4>63</vt:i4>
      </vt:variant>
      <vt:variant>
        <vt:lpstr>自定义放映</vt:lpstr>
      </vt:variant>
      <vt:variant>
        <vt:i4>1</vt:i4>
      </vt:variant>
    </vt:vector>
  </HeadingPairs>
  <TitlesOfParts>
    <vt:vector size="78" baseType="lpstr">
      <vt:lpstr>等线</vt:lpstr>
      <vt:lpstr>黑体</vt:lpstr>
      <vt:lpstr>微软雅黑</vt:lpstr>
      <vt:lpstr>幼圆</vt:lpstr>
      <vt:lpstr>Inter</vt:lpstr>
      <vt:lpstr>OPPOSans M</vt:lpstr>
      <vt:lpstr>Arial</vt:lpstr>
      <vt:lpstr>Calibri</vt:lpstr>
      <vt:lpstr>Helvetica</vt:lpstr>
      <vt:lpstr>Monotype Sorts</vt:lpstr>
      <vt:lpstr>Times New Roman</vt:lpstr>
      <vt:lpstr>Webdings</vt:lpstr>
      <vt:lpstr>Wingdings</vt:lpstr>
      <vt:lpstr>2_db-5-grey</vt:lpstr>
      <vt:lpstr>Database System Concepts 数据库系统概念</vt:lpstr>
      <vt:lpstr>提  纲</vt:lpstr>
      <vt:lpstr>课程简介</vt:lpstr>
      <vt:lpstr>提  纲</vt:lpstr>
      <vt:lpstr>数据库的核心用途</vt:lpstr>
      <vt:lpstr>SQL+大模型的RAG系统</vt:lpstr>
      <vt:lpstr>数据库在计算机系统中的位置</vt:lpstr>
      <vt:lpstr>数据库学科简介</vt:lpstr>
      <vt:lpstr>数据库发展史概览</vt:lpstr>
      <vt:lpstr>数据库界的四位图灵奖得主</vt:lpstr>
      <vt:lpstr>C.W.Bachman</vt:lpstr>
      <vt:lpstr>E.F.Codd</vt:lpstr>
      <vt:lpstr>PowerPoint 演示文稿</vt:lpstr>
      <vt:lpstr>Gim Gray</vt:lpstr>
      <vt:lpstr>Michael Stonebrake</vt:lpstr>
      <vt:lpstr>莱斯利·兰伯特Leslie Lamport</vt:lpstr>
      <vt:lpstr>提  纲</vt:lpstr>
      <vt:lpstr>数据库技术现状</vt:lpstr>
      <vt:lpstr>数据库产品目前进展</vt:lpstr>
      <vt:lpstr>数据库产业图谱</vt:lpstr>
      <vt:lpstr>全球数据库引擎</vt:lpstr>
      <vt:lpstr>主流商业数据库产品</vt:lpstr>
      <vt:lpstr>主流商业数据库Oracle</vt:lpstr>
      <vt:lpstr>主流商业数据库 SQL Server</vt:lpstr>
      <vt:lpstr>主流商业数据库</vt:lpstr>
      <vt:lpstr>主流数据库产品 Adaptive Server Enterprise (ASE) - Sybase</vt:lpstr>
      <vt:lpstr>开源数据库产品</vt:lpstr>
      <vt:lpstr>墨天轮国产DB排名</vt:lpstr>
      <vt:lpstr>信创：信息技术应用创新产业</vt:lpstr>
      <vt:lpstr>信创：信息技术应用创新产业</vt:lpstr>
      <vt:lpstr>数据库系统市场的变化</vt:lpstr>
      <vt:lpstr>数据库市场挑战与趋势</vt:lpstr>
      <vt:lpstr>PowerPoint 演示文稿</vt:lpstr>
      <vt:lpstr>提  纲</vt:lpstr>
      <vt:lpstr>数据库生态</vt:lpstr>
      <vt:lpstr>数据库周围工具</vt:lpstr>
      <vt:lpstr>多方向交叉融合创新</vt:lpstr>
      <vt:lpstr>提  纲</vt:lpstr>
      <vt:lpstr>PowerPoint 演示文稿</vt:lpstr>
      <vt:lpstr>数据库系统底层变化</vt:lpstr>
      <vt:lpstr>影响数据库发展的因素</vt:lpstr>
      <vt:lpstr>数据库面对的大数据</vt:lpstr>
      <vt:lpstr>数据库系统面对的深度分析需求</vt:lpstr>
      <vt:lpstr>PowerPoint 演示文稿</vt:lpstr>
      <vt:lpstr>PowerPoint 演示文稿</vt:lpstr>
      <vt:lpstr>PowerPoint 演示文稿</vt:lpstr>
      <vt:lpstr>数据库+安全</vt:lpstr>
      <vt:lpstr>提  纲</vt:lpstr>
      <vt:lpstr>数据库研究</vt:lpstr>
      <vt:lpstr>研究热点-SIGMOD</vt:lpstr>
      <vt:lpstr>研究热点-VLDB</vt:lpstr>
      <vt:lpstr>Database相对不太成功的研究</vt:lpstr>
      <vt:lpstr>PowerPoint 演示文稿</vt:lpstr>
      <vt:lpstr>PowerPoint 演示文稿</vt:lpstr>
      <vt:lpstr>PowerPoint 演示文稿</vt:lpstr>
      <vt:lpstr>PowerPoint 演示文稿</vt:lpstr>
      <vt:lpstr>PowerPoint 演示文稿</vt:lpstr>
      <vt:lpstr>PowerPoint 演示文稿</vt:lpstr>
      <vt:lpstr>Deepseek&amp;DB</vt:lpstr>
      <vt:lpstr>数据库：AI系统的"记忆中枢"</vt:lpstr>
      <vt:lpstr>技术映射</vt:lpstr>
      <vt:lpstr>前沿探讨：数据库技术的新战场</vt:lpstr>
      <vt:lpstr>国外数据库课程做什么</vt:lpstr>
      <vt:lpstr>Custom Show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Relational Database Design</dc:title>
  <dc:creator>Marilyn Turnamian</dc:creator>
  <cp:lastModifiedBy>辉 康</cp:lastModifiedBy>
  <cp:revision>511</cp:revision>
  <cp:lastPrinted>1999-06-28T19:27:00Z</cp:lastPrinted>
  <dcterms:created xsi:type="dcterms:W3CDTF">2009-12-21T15:40:00Z</dcterms:created>
  <dcterms:modified xsi:type="dcterms:W3CDTF">2025-02-27T02:29:06Z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2052-11.8.2.12089</vt:lpwstr>
  </property>
  <property fmtid="{D5CDD505-2E9C-101B-9397-08002B2CF9AE}" pid="3" name="ICV">
    <vt:lpwstr>1912CF23979F4747B1A02091AF74101A</vt:lpwstr>
  </property>
</Properties>
</file>