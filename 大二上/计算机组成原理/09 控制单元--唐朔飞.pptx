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1006" r:id="rId3"/>
    <p:sldId id="784" r:id="rId4"/>
    <p:sldId id="785" r:id="rId5"/>
    <p:sldId id="786" r:id="rId6"/>
    <p:sldId id="787" r:id="rId7"/>
    <p:sldId id="788" r:id="rId8"/>
    <p:sldId id="789" r:id="rId9"/>
    <p:sldId id="790" r:id="rId10"/>
    <p:sldId id="791" r:id="rId11"/>
    <p:sldId id="792" r:id="rId12"/>
    <p:sldId id="793" r:id="rId13"/>
    <p:sldId id="794" r:id="rId14"/>
    <p:sldId id="795" r:id="rId15"/>
    <p:sldId id="796" r:id="rId16"/>
    <p:sldId id="797" r:id="rId17"/>
    <p:sldId id="798" r:id="rId18"/>
    <p:sldId id="799" r:id="rId19"/>
    <p:sldId id="800" r:id="rId20"/>
    <p:sldId id="801" r:id="rId21"/>
    <p:sldId id="802" r:id="rId22"/>
    <p:sldId id="803" r:id="rId23"/>
    <p:sldId id="804" r:id="rId24"/>
    <p:sldId id="805" r:id="rId25"/>
    <p:sldId id="806" r:id="rId26"/>
    <p:sldId id="807" r:id="rId27"/>
    <p:sldId id="808" r:id="rId28"/>
    <p:sldId id="809" r:id="rId29"/>
    <p:sldId id="810" r:id="rId30"/>
    <p:sldId id="811" r:id="rId31"/>
    <p:sldId id="812" r:id="rId32"/>
    <p:sldId id="813" r:id="rId33"/>
    <p:sldId id="814" r:id="rId34"/>
    <p:sldId id="815" r:id="rId35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8"/>
    <p:restoredTop sz="94668"/>
  </p:normalViewPr>
  <p:slideViewPr>
    <p:cSldViewPr showGuides="1">
      <p:cViewPr varScale="1">
        <p:scale>
          <a:sx n="150" d="100"/>
          <a:sy n="150" d="100"/>
        </p:scale>
        <p:origin x="37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1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412875"/>
            <a:ext cx="639445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Computer Organization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374775" y="4302125"/>
            <a:ext cx="6394450" cy="1143000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Name : </a:t>
            </a:r>
            <a:endParaRPr kumimoji="0" lang="en-US" altLang="zh-CN" sz="2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Email  : 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第</a:t>
            </a:r>
            <a:r>
              <a:rPr lang="zh-CN" altLang="en-US" b="1" dirty="0">
                <a:latin typeface="Times New Roman" panose="02020603050405020304" pitchFamily="18" charset="0"/>
              </a:rPr>
              <a:t>９</a:t>
            </a:r>
            <a:r>
              <a:rPr lang="zh-CN" altLang="en-US" b="1" dirty="0"/>
              <a:t>章   控制单元的功能</a:t>
            </a:r>
            <a:endParaRPr lang="zh-CN" altLang="en-US" b="1" dirty="0"/>
          </a:p>
        </p:txBody>
      </p:sp>
      <p:grpSp>
        <p:nvGrpSpPr>
          <p:cNvPr id="4099" name="Group 3"/>
          <p:cNvGrpSpPr/>
          <p:nvPr/>
        </p:nvGrpSpPr>
        <p:grpSpPr>
          <a:xfrm>
            <a:off x="2906713" y="2209800"/>
            <a:ext cx="5399087" cy="1477963"/>
            <a:chOff x="864" y="1392"/>
            <a:chExt cx="3401" cy="931"/>
          </a:xfrm>
        </p:grpSpPr>
        <p:sp>
          <p:nvSpPr>
            <p:cNvPr id="4101" name="Rectangle 4"/>
            <p:cNvSpPr/>
            <p:nvPr/>
          </p:nvSpPr>
          <p:spPr>
            <a:xfrm>
              <a:off x="864" y="1392"/>
              <a:ext cx="27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zh-CN" altLang="en-US" sz="3200" dirty="0">
                  <a:latin typeface="Times New Roman" panose="02020603050405020304" pitchFamily="18" charset="0"/>
                  <a:hlinkClick r:id="rId1" action="ppaction://hlinksldjump"/>
                </a:rPr>
                <a:t>9.1   操作命令的分析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4102" name="Rectangle 5"/>
            <p:cNvSpPr/>
            <p:nvPr/>
          </p:nvSpPr>
          <p:spPr>
            <a:xfrm>
              <a:off x="864" y="2051"/>
              <a:ext cx="340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zh-CN" altLang="en-US" sz="3200" dirty="0">
                  <a:latin typeface="Times New Roman" panose="02020603050405020304" pitchFamily="18" charset="0"/>
                  <a:hlinkClick r:id="rId2" action="ppaction://hlinksldjump"/>
                </a:rPr>
                <a:t>9.2   控制单元的功能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00" name="AutoShape 8">
            <a:hlinkClick r:id="" action="ppaction://noaction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9.1   操作命令的分析</a:t>
            </a:r>
            <a:endParaRPr lang="zh-CN" altLang="en-US" b="1" dirty="0"/>
          </a:p>
        </p:txBody>
      </p:sp>
      <p:sp>
        <p:nvSpPr>
          <p:cNvPr id="577539" name="Rectangle 3"/>
          <p:cNvSpPr/>
          <p:nvPr/>
        </p:nvSpPr>
        <p:spPr>
          <a:xfrm>
            <a:off x="1633538" y="1752600"/>
            <a:ext cx="6519862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完成一条指令分 </a:t>
            </a:r>
            <a:r>
              <a:rPr lang="en-US" altLang="zh-CN" sz="3200" dirty="0">
                <a:latin typeface="Times New Roman" panose="02020603050405020304" pitchFamily="18" charset="0"/>
              </a:rPr>
              <a:t>4 </a:t>
            </a:r>
            <a:r>
              <a:rPr lang="zh-CN" altLang="en-US" sz="3200" dirty="0">
                <a:latin typeface="Times New Roman" panose="02020603050405020304" pitchFamily="18" charset="0"/>
              </a:rPr>
              <a:t>个工作周期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77540" name="Rectangle 4"/>
          <p:cNvSpPr/>
          <p:nvPr/>
        </p:nvSpPr>
        <p:spPr>
          <a:xfrm>
            <a:off x="3200400" y="2717800"/>
            <a:ext cx="1619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取指周期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77541" name="Rectangle 5"/>
          <p:cNvSpPr/>
          <p:nvPr/>
        </p:nvSpPr>
        <p:spPr>
          <a:xfrm>
            <a:off x="3200400" y="3419475"/>
            <a:ext cx="1619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间址周期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77542" name="Rectangle 6"/>
          <p:cNvSpPr/>
          <p:nvPr/>
        </p:nvSpPr>
        <p:spPr>
          <a:xfrm>
            <a:off x="3200400" y="4122738"/>
            <a:ext cx="1619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执行周期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77543" name="Rectangle 7"/>
          <p:cNvSpPr/>
          <p:nvPr/>
        </p:nvSpPr>
        <p:spPr>
          <a:xfrm>
            <a:off x="3200400" y="4826000"/>
            <a:ext cx="1619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中断周期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128" name="AutoShape 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39" grpId="0"/>
      <p:bldP spid="577540" grpId="0"/>
      <p:bldP spid="577541" grpId="0"/>
      <p:bldP spid="577542" grpId="0"/>
      <p:bldP spid="5775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/>
          <p:nvPr/>
        </p:nvSpPr>
        <p:spPr>
          <a:xfrm>
            <a:off x="266700" y="1600200"/>
            <a:ext cx="40767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一、取指周期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578563" name="Group 3"/>
          <p:cNvGrpSpPr/>
          <p:nvPr/>
        </p:nvGrpSpPr>
        <p:grpSpPr>
          <a:xfrm>
            <a:off x="863600" y="2438400"/>
            <a:ext cx="4318000" cy="431800"/>
            <a:chOff x="240" y="1968"/>
            <a:chExt cx="2720" cy="272"/>
          </a:xfrm>
        </p:grpSpPr>
        <p:sp>
          <p:nvSpPr>
            <p:cNvPr id="6196" name="Rectangle 4"/>
            <p:cNvSpPr/>
            <p:nvPr/>
          </p:nvSpPr>
          <p:spPr>
            <a:xfrm>
              <a:off x="240" y="1968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       MAR       </a:t>
              </a:r>
              <a:r>
                <a:rPr lang="zh-CN" altLang="en-US" sz="2200" dirty="0">
                  <a:latin typeface="Times New Roman" panose="02020603050405020304" pitchFamily="18" charset="0"/>
                </a:rPr>
                <a:t>地址线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6197" name="Line 5"/>
            <p:cNvSpPr/>
            <p:nvPr/>
          </p:nvSpPr>
          <p:spPr>
            <a:xfrm>
              <a:off x="528" y="2112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6198" name="Line 6"/>
            <p:cNvSpPr/>
            <p:nvPr/>
          </p:nvSpPr>
          <p:spPr>
            <a:xfrm>
              <a:off x="1335" y="2112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8567" name="Group 7"/>
          <p:cNvGrpSpPr/>
          <p:nvPr/>
        </p:nvGrpSpPr>
        <p:grpSpPr>
          <a:xfrm>
            <a:off x="863600" y="3082925"/>
            <a:ext cx="4318000" cy="431800"/>
            <a:chOff x="528" y="2464"/>
            <a:chExt cx="2720" cy="272"/>
          </a:xfrm>
        </p:grpSpPr>
        <p:sp>
          <p:nvSpPr>
            <p:cNvPr id="6194" name="Rectangle 8"/>
            <p:cNvSpPr/>
            <p:nvPr/>
          </p:nvSpPr>
          <p:spPr>
            <a:xfrm>
              <a:off x="528" y="2464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195" name="Line 9"/>
            <p:cNvSpPr/>
            <p:nvPr/>
          </p:nvSpPr>
          <p:spPr>
            <a:xfrm>
              <a:off x="663" y="2591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8570" name="Group 10"/>
          <p:cNvGrpSpPr/>
          <p:nvPr/>
        </p:nvGrpSpPr>
        <p:grpSpPr>
          <a:xfrm>
            <a:off x="863600" y="3727450"/>
            <a:ext cx="4318000" cy="431800"/>
            <a:chOff x="528" y="2752"/>
            <a:chExt cx="2720" cy="272"/>
          </a:xfrm>
        </p:grpSpPr>
        <p:sp>
          <p:nvSpPr>
            <p:cNvPr id="6192" name="Rectangle 11"/>
            <p:cNvSpPr/>
            <p:nvPr/>
          </p:nvSpPr>
          <p:spPr>
            <a:xfrm>
              <a:off x="528" y="2752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193" name="Line 12"/>
            <p:cNvSpPr/>
            <p:nvPr/>
          </p:nvSpPr>
          <p:spPr>
            <a:xfrm>
              <a:off x="1488" y="2901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8573" name="Group 13"/>
          <p:cNvGrpSpPr/>
          <p:nvPr/>
        </p:nvGrpSpPr>
        <p:grpSpPr>
          <a:xfrm>
            <a:off x="863600" y="4371975"/>
            <a:ext cx="4318000" cy="431800"/>
            <a:chOff x="544" y="2754"/>
            <a:chExt cx="2720" cy="272"/>
          </a:xfrm>
        </p:grpSpPr>
        <p:sp>
          <p:nvSpPr>
            <p:cNvPr id="6190" name="Rectangle 14"/>
            <p:cNvSpPr/>
            <p:nvPr/>
          </p:nvSpPr>
          <p:spPr>
            <a:xfrm>
              <a:off x="544" y="2754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IR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191" name="Line 15"/>
            <p:cNvSpPr/>
            <p:nvPr/>
          </p:nvSpPr>
          <p:spPr>
            <a:xfrm>
              <a:off x="1063" y="2881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8576" name="Group 16"/>
          <p:cNvGrpSpPr/>
          <p:nvPr/>
        </p:nvGrpSpPr>
        <p:grpSpPr>
          <a:xfrm>
            <a:off x="863600" y="5661025"/>
            <a:ext cx="4318000" cy="431800"/>
            <a:chOff x="528" y="3328"/>
            <a:chExt cx="2720" cy="272"/>
          </a:xfrm>
        </p:grpSpPr>
        <p:sp>
          <p:nvSpPr>
            <p:cNvPr id="6188" name="Rectangle 17"/>
            <p:cNvSpPr/>
            <p:nvPr/>
          </p:nvSpPr>
          <p:spPr>
            <a:xfrm>
              <a:off x="528" y="3328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 ) + 1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189" name="Line 18"/>
            <p:cNvSpPr/>
            <p:nvPr/>
          </p:nvSpPr>
          <p:spPr>
            <a:xfrm>
              <a:off x="1335" y="3456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8579" name="Group 19"/>
          <p:cNvGrpSpPr/>
          <p:nvPr/>
        </p:nvGrpSpPr>
        <p:grpSpPr>
          <a:xfrm>
            <a:off x="4191000" y="2209800"/>
            <a:ext cx="4800600" cy="3352800"/>
            <a:chOff x="2640" y="1392"/>
            <a:chExt cx="3024" cy="2112"/>
          </a:xfrm>
        </p:grpSpPr>
        <p:sp>
          <p:nvSpPr>
            <p:cNvPr id="6158" name="Rectangle 20"/>
            <p:cNvSpPr/>
            <p:nvPr/>
          </p:nvSpPr>
          <p:spPr>
            <a:xfrm>
              <a:off x="2640" y="2102"/>
              <a:ext cx="1628" cy="140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159" name="AutoShape 21"/>
            <p:cNvSpPr/>
            <p:nvPr/>
          </p:nvSpPr>
          <p:spPr>
            <a:xfrm>
              <a:off x="4135" y="2414"/>
              <a:ext cx="266" cy="78"/>
            </a:xfrm>
            <a:prstGeom prst="rightArrow">
              <a:avLst>
                <a:gd name="adj1" fmla="val 50000"/>
                <a:gd name="adj2" fmla="val 60626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6160" name="Group 22"/>
            <p:cNvGrpSpPr/>
            <p:nvPr/>
          </p:nvGrpSpPr>
          <p:grpSpPr>
            <a:xfrm>
              <a:off x="2994" y="2571"/>
              <a:ext cx="963" cy="515"/>
              <a:chOff x="1440" y="2640"/>
              <a:chExt cx="1392" cy="635"/>
            </a:xfrm>
          </p:grpSpPr>
          <p:grpSp>
            <p:nvGrpSpPr>
              <p:cNvPr id="6184" name="Group 23"/>
              <p:cNvGrpSpPr/>
              <p:nvPr/>
            </p:nvGrpSpPr>
            <p:grpSpPr>
              <a:xfrm>
                <a:off x="1440" y="2640"/>
                <a:ext cx="1008" cy="336"/>
                <a:chOff x="1440" y="2666"/>
                <a:chExt cx="1008" cy="336"/>
              </a:xfrm>
            </p:grpSpPr>
            <p:sp>
              <p:nvSpPr>
                <p:cNvPr id="6186" name="Rectangle 24"/>
                <p:cNvSpPr/>
                <p:nvPr/>
              </p:nvSpPr>
              <p:spPr>
                <a:xfrm>
                  <a:off x="1488" y="2954"/>
                  <a:ext cx="960" cy="48"/>
                </a:xfrm>
                <a:prstGeom prst="rect">
                  <a:avLst/>
                </a:prstGeom>
                <a:solidFill>
                  <a:schemeClr val="folHlink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6187" name="AutoShape 25"/>
                <p:cNvSpPr/>
                <p:nvPr/>
              </p:nvSpPr>
              <p:spPr>
                <a:xfrm>
                  <a:off x="1440" y="2666"/>
                  <a:ext cx="96" cy="336"/>
                </a:xfrm>
                <a:prstGeom prst="upArrow">
                  <a:avLst>
                    <a:gd name="adj1" fmla="val 50000"/>
                    <a:gd name="adj2" fmla="val 87500"/>
                  </a:avLst>
                </a:prstGeom>
                <a:solidFill>
                  <a:schemeClr val="folHlink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sp>
            <p:nvSpPr>
              <p:cNvPr id="6185" name="Text Box 26"/>
              <p:cNvSpPr txBox="1"/>
              <p:nvPr/>
            </p:nvSpPr>
            <p:spPr>
              <a:xfrm>
                <a:off x="1824" y="2967"/>
                <a:ext cx="1008" cy="3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+1      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61" name="AutoShape 27"/>
            <p:cNvSpPr/>
            <p:nvPr/>
          </p:nvSpPr>
          <p:spPr>
            <a:xfrm>
              <a:off x="3205" y="2414"/>
              <a:ext cx="498" cy="78"/>
            </a:xfrm>
            <a:prstGeom prst="rightArrow">
              <a:avLst>
                <a:gd name="adj1" fmla="val 50000"/>
                <a:gd name="adj2" fmla="val 113504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2" name="AutoShape 28"/>
            <p:cNvSpPr/>
            <p:nvPr/>
          </p:nvSpPr>
          <p:spPr>
            <a:xfrm rot="10800000">
              <a:off x="4135" y="3249"/>
              <a:ext cx="499" cy="78"/>
            </a:xfrm>
            <a:prstGeom prst="rightArrow">
              <a:avLst>
                <a:gd name="adj1" fmla="val 50000"/>
                <a:gd name="adj2" fmla="val 113732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3" name="AutoShape 29"/>
            <p:cNvSpPr/>
            <p:nvPr/>
          </p:nvSpPr>
          <p:spPr>
            <a:xfrm>
              <a:off x="4135" y="2782"/>
              <a:ext cx="731" cy="78"/>
            </a:xfrm>
            <a:prstGeom prst="rightArrow">
              <a:avLst>
                <a:gd name="adj1" fmla="val 50000"/>
                <a:gd name="adj2" fmla="val 97622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4" name="AutoShape 30"/>
            <p:cNvSpPr/>
            <p:nvPr/>
          </p:nvSpPr>
          <p:spPr>
            <a:xfrm>
              <a:off x="4468" y="2672"/>
              <a:ext cx="631" cy="78"/>
            </a:xfrm>
            <a:prstGeom prst="rightArrow">
              <a:avLst>
                <a:gd name="adj1" fmla="val 50000"/>
                <a:gd name="adj2" fmla="val 10820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5" name="AutoShape 31"/>
            <p:cNvSpPr/>
            <p:nvPr/>
          </p:nvSpPr>
          <p:spPr>
            <a:xfrm rot="10800000">
              <a:off x="4700" y="2569"/>
              <a:ext cx="399" cy="78"/>
            </a:xfrm>
            <a:prstGeom prst="rightArrow">
              <a:avLst>
                <a:gd name="adj1" fmla="val 50000"/>
                <a:gd name="adj2" fmla="val 9094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6" name="AutoShape 32"/>
            <p:cNvSpPr/>
            <p:nvPr/>
          </p:nvSpPr>
          <p:spPr>
            <a:xfrm>
              <a:off x="4900" y="2453"/>
              <a:ext cx="199" cy="78"/>
            </a:xfrm>
            <a:prstGeom prst="rightArrow">
              <a:avLst>
                <a:gd name="adj1" fmla="val 50000"/>
                <a:gd name="adj2" fmla="val 45356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7" name="Text Box 33"/>
            <p:cNvSpPr txBox="1"/>
            <p:nvPr/>
          </p:nvSpPr>
          <p:spPr>
            <a:xfrm>
              <a:off x="3668" y="3180"/>
              <a:ext cx="49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68" name="Rectangle 34"/>
            <p:cNvSpPr/>
            <p:nvPr/>
          </p:nvSpPr>
          <p:spPr>
            <a:xfrm>
              <a:off x="3703" y="2725"/>
              <a:ext cx="432" cy="23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69" name="Rectangle 35"/>
            <p:cNvSpPr/>
            <p:nvPr/>
          </p:nvSpPr>
          <p:spPr>
            <a:xfrm>
              <a:off x="3703" y="2346"/>
              <a:ext cx="432" cy="23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MAR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70" name="Rectangle 36"/>
            <p:cNvSpPr/>
            <p:nvPr/>
          </p:nvSpPr>
          <p:spPr>
            <a:xfrm>
              <a:off x="2773" y="2336"/>
              <a:ext cx="432" cy="23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71" name="Rectangle 37"/>
            <p:cNvSpPr/>
            <p:nvPr/>
          </p:nvSpPr>
          <p:spPr>
            <a:xfrm>
              <a:off x="2773" y="3192"/>
              <a:ext cx="432" cy="23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172" name="Text Box 38"/>
            <p:cNvSpPr txBox="1"/>
            <p:nvPr/>
          </p:nvSpPr>
          <p:spPr>
            <a:xfrm>
              <a:off x="2820" y="3182"/>
              <a:ext cx="3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1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73" name="Rectangle 39"/>
            <p:cNvSpPr/>
            <p:nvPr/>
          </p:nvSpPr>
          <p:spPr>
            <a:xfrm>
              <a:off x="4401" y="2102"/>
              <a:ext cx="67" cy="136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174" name="Rectangle 40"/>
            <p:cNvSpPr/>
            <p:nvPr/>
          </p:nvSpPr>
          <p:spPr>
            <a:xfrm>
              <a:off x="4634" y="2102"/>
              <a:ext cx="66" cy="136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175" name="Rectangle 41"/>
            <p:cNvSpPr/>
            <p:nvPr/>
          </p:nvSpPr>
          <p:spPr>
            <a:xfrm>
              <a:off x="4866" y="2102"/>
              <a:ext cx="67" cy="136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176" name="Rectangle 42"/>
            <p:cNvSpPr/>
            <p:nvPr/>
          </p:nvSpPr>
          <p:spPr>
            <a:xfrm>
              <a:off x="5099" y="2405"/>
              <a:ext cx="565" cy="42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存储器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77" name="Text Box 43"/>
            <p:cNvSpPr txBox="1"/>
            <p:nvPr/>
          </p:nvSpPr>
          <p:spPr>
            <a:xfrm>
              <a:off x="3198" y="1872"/>
              <a:ext cx="4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CPU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78" name="Text Box 44"/>
            <p:cNvSpPr txBox="1"/>
            <p:nvPr/>
          </p:nvSpPr>
          <p:spPr>
            <a:xfrm>
              <a:off x="4227" y="1392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地址总线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79" name="Text Box 45"/>
            <p:cNvSpPr txBox="1"/>
            <p:nvPr/>
          </p:nvSpPr>
          <p:spPr>
            <a:xfrm>
              <a:off x="4459" y="1392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数据总线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80" name="Text Box 46"/>
            <p:cNvSpPr txBox="1"/>
            <p:nvPr/>
          </p:nvSpPr>
          <p:spPr>
            <a:xfrm>
              <a:off x="4725" y="1392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81" name="AutoShape 47"/>
            <p:cNvSpPr/>
            <p:nvPr/>
          </p:nvSpPr>
          <p:spPr>
            <a:xfrm rot="10800000">
              <a:off x="3205" y="3270"/>
              <a:ext cx="498" cy="78"/>
            </a:xfrm>
            <a:prstGeom prst="rightArrow">
              <a:avLst>
                <a:gd name="adj1" fmla="val 50000"/>
                <a:gd name="adj2" fmla="val 113504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2" name="Rectangle 48"/>
            <p:cNvSpPr/>
            <p:nvPr/>
          </p:nvSpPr>
          <p:spPr>
            <a:xfrm rot="5400000">
              <a:off x="3034" y="2814"/>
              <a:ext cx="27" cy="1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183" name="Rectangle 49"/>
            <p:cNvSpPr/>
            <p:nvPr/>
          </p:nvSpPr>
          <p:spPr>
            <a:xfrm>
              <a:off x="3703" y="3192"/>
              <a:ext cx="432" cy="23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153" name="Rectangle 50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9.1   操作命令的分析</a:t>
            </a:r>
            <a:endParaRPr lang="zh-CN" altLang="en-US" b="1" dirty="0"/>
          </a:p>
        </p:txBody>
      </p:sp>
      <p:grpSp>
        <p:nvGrpSpPr>
          <p:cNvPr id="578611" name="Group 51"/>
          <p:cNvGrpSpPr/>
          <p:nvPr/>
        </p:nvGrpSpPr>
        <p:grpSpPr>
          <a:xfrm>
            <a:off x="863600" y="5016500"/>
            <a:ext cx="4318000" cy="431800"/>
            <a:chOff x="544" y="3160"/>
            <a:chExt cx="2720" cy="272"/>
          </a:xfrm>
        </p:grpSpPr>
        <p:sp>
          <p:nvSpPr>
            <p:cNvPr id="6156" name="Rectangle 52"/>
            <p:cNvSpPr/>
            <p:nvPr/>
          </p:nvSpPr>
          <p:spPr>
            <a:xfrm>
              <a:off x="544" y="3160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OP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IR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）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CU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157" name="Line 53"/>
            <p:cNvSpPr/>
            <p:nvPr/>
          </p:nvSpPr>
          <p:spPr>
            <a:xfrm>
              <a:off x="1404" y="3287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155" name="AutoShape 54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8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/>
          <p:nvPr/>
        </p:nvSpPr>
        <p:spPr>
          <a:xfrm>
            <a:off x="609600" y="4064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二、间址周期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579587" name="Group 3"/>
          <p:cNvGrpSpPr/>
          <p:nvPr/>
        </p:nvGrpSpPr>
        <p:grpSpPr>
          <a:xfrm>
            <a:off x="762000" y="4133850"/>
            <a:ext cx="2879725" cy="431800"/>
            <a:chOff x="480" y="2604"/>
            <a:chExt cx="1814" cy="272"/>
          </a:xfrm>
        </p:grpSpPr>
        <p:sp>
          <p:nvSpPr>
            <p:cNvPr id="7213" name="Rectangle 4"/>
            <p:cNvSpPr/>
            <p:nvPr/>
          </p:nvSpPr>
          <p:spPr>
            <a:xfrm>
              <a:off x="480" y="2604"/>
              <a:ext cx="181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14" name="Line 5"/>
            <p:cNvSpPr/>
            <p:nvPr/>
          </p:nvSpPr>
          <p:spPr>
            <a:xfrm>
              <a:off x="1430" y="2754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9632" name="Group 48"/>
          <p:cNvGrpSpPr/>
          <p:nvPr/>
        </p:nvGrpSpPr>
        <p:grpSpPr>
          <a:xfrm>
            <a:off x="762000" y="3365500"/>
            <a:ext cx="2879725" cy="431800"/>
            <a:chOff x="480" y="2120"/>
            <a:chExt cx="1814" cy="272"/>
          </a:xfrm>
        </p:grpSpPr>
        <p:sp>
          <p:nvSpPr>
            <p:cNvPr id="7211" name="Rectangle 7"/>
            <p:cNvSpPr/>
            <p:nvPr/>
          </p:nvSpPr>
          <p:spPr>
            <a:xfrm>
              <a:off x="480" y="2120"/>
              <a:ext cx="181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12" name="Line 8"/>
            <p:cNvSpPr/>
            <p:nvPr/>
          </p:nvSpPr>
          <p:spPr>
            <a:xfrm>
              <a:off x="576" y="2266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9631" name="Group 47"/>
          <p:cNvGrpSpPr/>
          <p:nvPr/>
        </p:nvGrpSpPr>
        <p:grpSpPr>
          <a:xfrm>
            <a:off x="762000" y="2597150"/>
            <a:ext cx="2879725" cy="431800"/>
            <a:chOff x="480" y="1636"/>
            <a:chExt cx="1814" cy="272"/>
          </a:xfrm>
        </p:grpSpPr>
        <p:sp>
          <p:nvSpPr>
            <p:cNvPr id="7209" name="Rectangle 10"/>
            <p:cNvSpPr/>
            <p:nvPr/>
          </p:nvSpPr>
          <p:spPr>
            <a:xfrm>
              <a:off x="480" y="1636"/>
              <a:ext cx="181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10" name="Line 11"/>
            <p:cNvSpPr/>
            <p:nvPr/>
          </p:nvSpPr>
          <p:spPr>
            <a:xfrm>
              <a:off x="1264" y="1770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9633" name="Group 49"/>
          <p:cNvGrpSpPr/>
          <p:nvPr/>
        </p:nvGrpSpPr>
        <p:grpSpPr>
          <a:xfrm>
            <a:off x="762000" y="4902200"/>
            <a:ext cx="2879725" cy="431800"/>
            <a:chOff x="480" y="3088"/>
            <a:chExt cx="1814" cy="272"/>
          </a:xfrm>
        </p:grpSpPr>
        <p:sp>
          <p:nvSpPr>
            <p:cNvPr id="7207" name="Rectangle 13"/>
            <p:cNvSpPr/>
            <p:nvPr/>
          </p:nvSpPr>
          <p:spPr>
            <a:xfrm>
              <a:off x="480" y="3088"/>
              <a:ext cx="181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Ad ( IR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08" name="Line 14"/>
            <p:cNvSpPr/>
            <p:nvPr/>
          </p:nvSpPr>
          <p:spPr>
            <a:xfrm>
              <a:off x="960" y="3234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79599" name="Group 15"/>
          <p:cNvGrpSpPr/>
          <p:nvPr/>
        </p:nvGrpSpPr>
        <p:grpSpPr>
          <a:xfrm>
            <a:off x="762000" y="1828800"/>
            <a:ext cx="4318000" cy="431800"/>
            <a:chOff x="480" y="912"/>
            <a:chExt cx="2720" cy="272"/>
          </a:xfrm>
        </p:grpSpPr>
        <p:sp>
          <p:nvSpPr>
            <p:cNvPr id="7205" name="Rectangle 16"/>
            <p:cNvSpPr/>
            <p:nvPr/>
          </p:nvSpPr>
          <p:spPr>
            <a:xfrm>
              <a:off x="480" y="912"/>
              <a:ext cx="272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指令形式地址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06" name="Line 17"/>
            <p:cNvSpPr/>
            <p:nvPr/>
          </p:nvSpPr>
          <p:spPr>
            <a:xfrm>
              <a:off x="1696" y="1056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79602" name="Rectangle 1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79603" name="Group 19"/>
          <p:cNvGrpSpPr/>
          <p:nvPr/>
        </p:nvGrpSpPr>
        <p:grpSpPr>
          <a:xfrm>
            <a:off x="4114800" y="2057400"/>
            <a:ext cx="4800600" cy="3429000"/>
            <a:chOff x="2592" y="1296"/>
            <a:chExt cx="3024" cy="2160"/>
          </a:xfrm>
        </p:grpSpPr>
        <p:sp>
          <p:nvSpPr>
            <p:cNvPr id="7179" name="AutoShape 20"/>
            <p:cNvSpPr/>
            <p:nvPr/>
          </p:nvSpPr>
          <p:spPr>
            <a:xfrm rot="10800000">
              <a:off x="4086" y="3192"/>
              <a:ext cx="499" cy="94"/>
            </a:xfrm>
            <a:prstGeom prst="rightArrow">
              <a:avLst>
                <a:gd name="adj1" fmla="val 50000"/>
                <a:gd name="adj2" fmla="val 94373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0" name="AutoShape 21"/>
            <p:cNvSpPr/>
            <p:nvPr/>
          </p:nvSpPr>
          <p:spPr>
            <a:xfrm rot="10800000">
              <a:off x="3120" y="3216"/>
              <a:ext cx="528" cy="96"/>
            </a:xfrm>
            <a:prstGeom prst="rightArrow">
              <a:avLst>
                <a:gd name="adj1" fmla="val 50000"/>
                <a:gd name="adj2" fmla="val 97777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1" name="AutoShape 22"/>
            <p:cNvSpPr/>
            <p:nvPr/>
          </p:nvSpPr>
          <p:spPr>
            <a:xfrm>
              <a:off x="4080" y="2746"/>
              <a:ext cx="738" cy="86"/>
            </a:xfrm>
            <a:prstGeom prst="rightArrow">
              <a:avLst>
                <a:gd name="adj1" fmla="val 49250"/>
                <a:gd name="adj2" fmla="val 8923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2" name="AutoShape 23"/>
            <p:cNvSpPr/>
            <p:nvPr/>
          </p:nvSpPr>
          <p:spPr>
            <a:xfrm>
              <a:off x="4076" y="2328"/>
              <a:ext cx="288" cy="72"/>
            </a:xfrm>
            <a:prstGeom prst="rightArrow">
              <a:avLst>
                <a:gd name="adj1" fmla="val 49370"/>
                <a:gd name="adj2" fmla="val 108296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3" name="Rectangle 24"/>
            <p:cNvSpPr/>
            <p:nvPr/>
          </p:nvSpPr>
          <p:spPr>
            <a:xfrm>
              <a:off x="2592" y="2018"/>
              <a:ext cx="1628" cy="143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84" name="AutoShape 25"/>
            <p:cNvSpPr/>
            <p:nvPr/>
          </p:nvSpPr>
          <p:spPr>
            <a:xfrm rot="10800000">
              <a:off x="4651" y="2491"/>
              <a:ext cx="399" cy="94"/>
            </a:xfrm>
            <a:prstGeom prst="rightArrow">
              <a:avLst>
                <a:gd name="adj1" fmla="val 50000"/>
                <a:gd name="adj2" fmla="val 75460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5" name="AutoShape 26"/>
            <p:cNvSpPr/>
            <p:nvPr/>
          </p:nvSpPr>
          <p:spPr>
            <a:xfrm>
              <a:off x="4420" y="2608"/>
              <a:ext cx="631" cy="94"/>
            </a:xfrm>
            <a:prstGeom prst="rightArrow">
              <a:avLst>
                <a:gd name="adj1" fmla="val 50000"/>
                <a:gd name="adj2" fmla="val 89783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6" name="Rectangle 27"/>
            <p:cNvSpPr/>
            <p:nvPr/>
          </p:nvSpPr>
          <p:spPr>
            <a:xfrm>
              <a:off x="2880" y="2810"/>
              <a:ext cx="36" cy="31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87" name="AutoShape 28"/>
            <p:cNvSpPr/>
            <p:nvPr/>
          </p:nvSpPr>
          <p:spPr>
            <a:xfrm>
              <a:off x="4851" y="2386"/>
              <a:ext cx="200" cy="94"/>
            </a:xfrm>
            <a:prstGeom prst="rightArrow">
              <a:avLst>
                <a:gd name="adj1" fmla="val 50000"/>
                <a:gd name="adj2" fmla="val 37825"/>
              </a:avLst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88" name="Rectangle 29"/>
            <p:cNvSpPr/>
            <p:nvPr/>
          </p:nvSpPr>
          <p:spPr>
            <a:xfrm>
              <a:off x="4845" y="2403"/>
              <a:ext cx="31" cy="5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89" name="Text Box 30"/>
            <p:cNvSpPr txBox="1"/>
            <p:nvPr/>
          </p:nvSpPr>
          <p:spPr>
            <a:xfrm>
              <a:off x="3622" y="3135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190" name="Rectangle 31"/>
            <p:cNvSpPr/>
            <p:nvPr/>
          </p:nvSpPr>
          <p:spPr>
            <a:xfrm>
              <a:off x="3655" y="3137"/>
              <a:ext cx="432" cy="23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91" name="Rectangle 32"/>
            <p:cNvSpPr/>
            <p:nvPr/>
          </p:nvSpPr>
          <p:spPr>
            <a:xfrm>
              <a:off x="3643" y="2658"/>
              <a:ext cx="432" cy="23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192" name="Rectangle 33"/>
            <p:cNvSpPr/>
            <p:nvPr/>
          </p:nvSpPr>
          <p:spPr>
            <a:xfrm>
              <a:off x="3643" y="2258"/>
              <a:ext cx="432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MAR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193" name="Rectangle 34"/>
            <p:cNvSpPr/>
            <p:nvPr/>
          </p:nvSpPr>
          <p:spPr>
            <a:xfrm>
              <a:off x="4353" y="2018"/>
              <a:ext cx="67" cy="1397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94" name="Rectangle 35"/>
            <p:cNvSpPr/>
            <p:nvPr/>
          </p:nvSpPr>
          <p:spPr>
            <a:xfrm>
              <a:off x="4586" y="2018"/>
              <a:ext cx="66" cy="1397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95" name="Rectangle 36"/>
            <p:cNvSpPr/>
            <p:nvPr/>
          </p:nvSpPr>
          <p:spPr>
            <a:xfrm>
              <a:off x="4818" y="2018"/>
              <a:ext cx="67" cy="1397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196" name="Text Box 37"/>
            <p:cNvSpPr txBox="1"/>
            <p:nvPr/>
          </p:nvSpPr>
          <p:spPr>
            <a:xfrm>
              <a:off x="3150" y="1724"/>
              <a:ext cx="4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CPU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197" name="Text Box 38"/>
            <p:cNvSpPr txBox="1"/>
            <p:nvPr/>
          </p:nvSpPr>
          <p:spPr>
            <a:xfrm>
              <a:off x="4224" y="1296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地址总线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198" name="Text Box 39"/>
            <p:cNvSpPr txBox="1"/>
            <p:nvPr/>
          </p:nvSpPr>
          <p:spPr>
            <a:xfrm>
              <a:off x="4457" y="1296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数据总线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199" name="Text Box 40"/>
            <p:cNvSpPr txBox="1"/>
            <p:nvPr/>
          </p:nvSpPr>
          <p:spPr>
            <a:xfrm>
              <a:off x="4723" y="1296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200" name="Rectangle 41"/>
            <p:cNvSpPr/>
            <p:nvPr/>
          </p:nvSpPr>
          <p:spPr>
            <a:xfrm>
              <a:off x="2692" y="3137"/>
              <a:ext cx="432" cy="23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201" name="Text Box 42"/>
            <p:cNvSpPr txBox="1"/>
            <p:nvPr/>
          </p:nvSpPr>
          <p:spPr>
            <a:xfrm>
              <a:off x="2772" y="3137"/>
              <a:ext cx="294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202" name="Rectangle 43"/>
            <p:cNvSpPr/>
            <p:nvPr/>
          </p:nvSpPr>
          <p:spPr>
            <a:xfrm>
              <a:off x="5051" y="2316"/>
              <a:ext cx="565" cy="4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存储器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7203" name="Rectangle 44"/>
            <p:cNvSpPr/>
            <p:nvPr/>
          </p:nvSpPr>
          <p:spPr>
            <a:xfrm>
              <a:off x="2880" y="2353"/>
              <a:ext cx="36" cy="462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7204" name="AutoShape 45"/>
            <p:cNvSpPr/>
            <p:nvPr/>
          </p:nvSpPr>
          <p:spPr>
            <a:xfrm>
              <a:off x="2880" y="2325"/>
              <a:ext cx="768" cy="75"/>
            </a:xfrm>
            <a:prstGeom prst="rightArrow">
              <a:avLst>
                <a:gd name="adj1" fmla="val 45833"/>
                <a:gd name="adj2" fmla="val 117949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7178" name="AutoShape 46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/>
          <p:nvPr/>
        </p:nvSpPr>
        <p:spPr>
          <a:xfrm>
            <a:off x="185738" y="3810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三、执行周期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80611" name="Rectangle 3"/>
          <p:cNvSpPr/>
          <p:nvPr/>
        </p:nvSpPr>
        <p:spPr>
          <a:xfrm>
            <a:off x="723900" y="11430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1. 非访存指令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80612" name="Rectangle 4"/>
          <p:cNvSpPr/>
          <p:nvPr/>
        </p:nvSpPr>
        <p:spPr>
          <a:xfrm>
            <a:off x="914400" y="17526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(1)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CLA</a:t>
            </a:r>
            <a:r>
              <a:rPr lang="en-US" altLang="zh-CN" sz="2400" dirty="0">
                <a:latin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</a:rPr>
              <a:t>清</a:t>
            </a:r>
            <a:r>
              <a:rPr lang="en-US" altLang="zh-CN" sz="2400" dirty="0"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80613" name="Rectangle 5"/>
          <p:cNvSpPr/>
          <p:nvPr/>
        </p:nvSpPr>
        <p:spPr>
          <a:xfrm>
            <a:off x="914400" y="27432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(2)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COM</a:t>
            </a:r>
            <a:r>
              <a:rPr lang="en-US" altLang="zh-CN" sz="2400" dirty="0">
                <a:latin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</a:rPr>
              <a:t>取反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0614" name="Rectangle 6"/>
          <p:cNvSpPr/>
          <p:nvPr/>
        </p:nvSpPr>
        <p:spPr>
          <a:xfrm>
            <a:off x="914400" y="4724400"/>
            <a:ext cx="3276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(4)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CSL</a:t>
            </a: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</a:rPr>
              <a:t>循环左移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0615" name="Rectangle 7"/>
          <p:cNvSpPr/>
          <p:nvPr/>
        </p:nvSpPr>
        <p:spPr>
          <a:xfrm>
            <a:off x="914400" y="3733800"/>
            <a:ext cx="32766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(3)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SHR  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</a:rPr>
              <a:t>算术右移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0616" name="Rectangle 8"/>
          <p:cNvSpPr/>
          <p:nvPr/>
        </p:nvSpPr>
        <p:spPr>
          <a:xfrm>
            <a:off x="914400" y="5715000"/>
            <a:ext cx="3429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(5)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STP</a:t>
            </a: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</a:rPr>
              <a:t>停机指令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80617" name="Group 9"/>
          <p:cNvGrpSpPr/>
          <p:nvPr/>
        </p:nvGrpSpPr>
        <p:grpSpPr>
          <a:xfrm>
            <a:off x="3952875" y="1752600"/>
            <a:ext cx="2519363" cy="533400"/>
            <a:chOff x="2490" y="1104"/>
            <a:chExt cx="1587" cy="336"/>
          </a:xfrm>
        </p:grpSpPr>
        <p:sp>
          <p:nvSpPr>
            <p:cNvPr id="8219" name="Rectangle 10"/>
            <p:cNvSpPr/>
            <p:nvPr/>
          </p:nvSpPr>
          <p:spPr>
            <a:xfrm>
              <a:off x="2490" y="1104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0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ACC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0" name="Line 11"/>
            <p:cNvSpPr/>
            <p:nvPr/>
          </p:nvSpPr>
          <p:spPr>
            <a:xfrm>
              <a:off x="2637" y="1271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0637" name="Group 29"/>
          <p:cNvGrpSpPr/>
          <p:nvPr/>
        </p:nvGrpSpPr>
        <p:grpSpPr>
          <a:xfrm>
            <a:off x="3957638" y="2743200"/>
            <a:ext cx="2519362" cy="533400"/>
            <a:chOff x="2493" y="1728"/>
            <a:chExt cx="1587" cy="336"/>
          </a:xfrm>
        </p:grpSpPr>
        <p:sp>
          <p:nvSpPr>
            <p:cNvPr id="8216" name="Rectangle 13"/>
            <p:cNvSpPr/>
            <p:nvPr/>
          </p:nvSpPr>
          <p:spPr>
            <a:xfrm>
              <a:off x="2493" y="1728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ACC       ACC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17" name="Line 14"/>
            <p:cNvSpPr/>
            <p:nvPr/>
          </p:nvSpPr>
          <p:spPr>
            <a:xfrm>
              <a:off x="2527" y="1776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8" name="Line 15"/>
            <p:cNvSpPr/>
            <p:nvPr/>
          </p:nvSpPr>
          <p:spPr>
            <a:xfrm>
              <a:off x="2956" y="190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0624" name="Group 16"/>
          <p:cNvGrpSpPr/>
          <p:nvPr/>
        </p:nvGrpSpPr>
        <p:grpSpPr>
          <a:xfrm>
            <a:off x="3932238" y="3733800"/>
            <a:ext cx="5211762" cy="533400"/>
            <a:chOff x="2477" y="2352"/>
            <a:chExt cx="3283" cy="336"/>
          </a:xfrm>
        </p:grpSpPr>
        <p:sp>
          <p:nvSpPr>
            <p:cNvPr id="8213" name="Rectangle 17"/>
            <p:cNvSpPr/>
            <p:nvPr/>
          </p:nvSpPr>
          <p:spPr>
            <a:xfrm>
              <a:off x="2477" y="2352"/>
              <a:ext cx="328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L(ACC)        R(ACC), ACC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 ACC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14" name="Line 18"/>
            <p:cNvSpPr/>
            <p:nvPr/>
          </p:nvSpPr>
          <p:spPr>
            <a:xfrm>
              <a:off x="3229" y="254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8215" name="Line 19"/>
            <p:cNvSpPr/>
            <p:nvPr/>
          </p:nvSpPr>
          <p:spPr>
            <a:xfrm>
              <a:off x="4896" y="254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0638" name="Group 30"/>
          <p:cNvGrpSpPr/>
          <p:nvPr/>
        </p:nvGrpSpPr>
        <p:grpSpPr>
          <a:xfrm>
            <a:off x="3914775" y="4724400"/>
            <a:ext cx="5229225" cy="533400"/>
            <a:chOff x="2466" y="2976"/>
            <a:chExt cx="3294" cy="336"/>
          </a:xfrm>
        </p:grpSpPr>
        <p:sp>
          <p:nvSpPr>
            <p:cNvPr id="8210" name="Rectangle 21"/>
            <p:cNvSpPr/>
            <p:nvPr/>
          </p:nvSpPr>
          <p:spPr>
            <a:xfrm>
              <a:off x="2466" y="2976"/>
              <a:ext cx="329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R(ACC)       L(ACC),  ACC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ACC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8211" name="Line 22"/>
            <p:cNvSpPr/>
            <p:nvPr/>
          </p:nvSpPr>
          <p:spPr>
            <a:xfrm>
              <a:off x="4837" y="315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8212" name="Line 23"/>
            <p:cNvSpPr/>
            <p:nvPr/>
          </p:nvSpPr>
          <p:spPr>
            <a:xfrm>
              <a:off x="3229" y="315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0632" name="Group 24"/>
          <p:cNvGrpSpPr/>
          <p:nvPr/>
        </p:nvGrpSpPr>
        <p:grpSpPr>
          <a:xfrm>
            <a:off x="3914775" y="5715000"/>
            <a:ext cx="1800225" cy="533400"/>
            <a:chOff x="2466" y="3600"/>
            <a:chExt cx="1134" cy="336"/>
          </a:xfrm>
        </p:grpSpPr>
        <p:sp>
          <p:nvSpPr>
            <p:cNvPr id="8208" name="Rectangle 25"/>
            <p:cNvSpPr/>
            <p:nvPr/>
          </p:nvSpPr>
          <p:spPr>
            <a:xfrm>
              <a:off x="2466" y="3600"/>
              <a:ext cx="113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0 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09" name="Line 26"/>
            <p:cNvSpPr/>
            <p:nvPr/>
          </p:nvSpPr>
          <p:spPr>
            <a:xfrm>
              <a:off x="2688" y="3766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0635" name="Rectangle 27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7" name="AutoShape 2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0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1" grpId="0"/>
      <p:bldP spid="580612" grpId="0"/>
      <p:bldP spid="580613" grpId="0"/>
      <p:bldP spid="580614" grpId="0"/>
      <p:bldP spid="580615" grpId="0"/>
      <p:bldP spid="5806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419100" y="3810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访存指令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581665" name="Group 33"/>
          <p:cNvGrpSpPr/>
          <p:nvPr/>
        </p:nvGrpSpPr>
        <p:grpSpPr>
          <a:xfrm>
            <a:off x="3378200" y="1598613"/>
            <a:ext cx="2519363" cy="533400"/>
            <a:chOff x="2128" y="1007"/>
            <a:chExt cx="1587" cy="336"/>
          </a:xfrm>
        </p:grpSpPr>
        <p:sp>
          <p:nvSpPr>
            <p:cNvPr id="9247" name="Rectangle 4"/>
            <p:cNvSpPr/>
            <p:nvPr/>
          </p:nvSpPr>
          <p:spPr>
            <a:xfrm>
              <a:off x="2128" y="1007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Ad(IR)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48" name="Line 5"/>
            <p:cNvSpPr/>
            <p:nvPr/>
          </p:nvSpPr>
          <p:spPr>
            <a:xfrm>
              <a:off x="2782" y="119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66" name="Group 34"/>
          <p:cNvGrpSpPr/>
          <p:nvPr/>
        </p:nvGrpSpPr>
        <p:grpSpPr>
          <a:xfrm>
            <a:off x="3378200" y="2144713"/>
            <a:ext cx="2519363" cy="533400"/>
            <a:chOff x="2128" y="1351"/>
            <a:chExt cx="1587" cy="336"/>
          </a:xfrm>
        </p:grpSpPr>
        <p:sp>
          <p:nvSpPr>
            <p:cNvPr id="9245" name="Rectangle 7"/>
            <p:cNvSpPr/>
            <p:nvPr/>
          </p:nvSpPr>
          <p:spPr>
            <a:xfrm>
              <a:off x="2128" y="1351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46" name="Line 8"/>
            <p:cNvSpPr/>
            <p:nvPr/>
          </p:nvSpPr>
          <p:spPr>
            <a:xfrm>
              <a:off x="2311" y="1525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67" name="Group 35"/>
          <p:cNvGrpSpPr/>
          <p:nvPr/>
        </p:nvGrpSpPr>
        <p:grpSpPr>
          <a:xfrm>
            <a:off x="3378200" y="2690813"/>
            <a:ext cx="2519363" cy="533400"/>
            <a:chOff x="2128" y="1695"/>
            <a:chExt cx="1587" cy="336"/>
          </a:xfrm>
        </p:grpSpPr>
        <p:sp>
          <p:nvSpPr>
            <p:cNvPr id="9243" name="Rectangle 10"/>
            <p:cNvSpPr/>
            <p:nvPr/>
          </p:nvSpPr>
          <p:spPr>
            <a:xfrm>
              <a:off x="2128" y="1695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M(MAR)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44" name="Line 11"/>
            <p:cNvSpPr/>
            <p:nvPr/>
          </p:nvSpPr>
          <p:spPr>
            <a:xfrm>
              <a:off x="2957" y="1869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68" name="Group 36"/>
          <p:cNvGrpSpPr/>
          <p:nvPr/>
        </p:nvGrpSpPr>
        <p:grpSpPr>
          <a:xfrm>
            <a:off x="3378200" y="3236913"/>
            <a:ext cx="4318000" cy="533400"/>
            <a:chOff x="2128" y="2039"/>
            <a:chExt cx="2720" cy="336"/>
          </a:xfrm>
        </p:grpSpPr>
        <p:sp>
          <p:nvSpPr>
            <p:cNvPr id="9241" name="Rectangle 13"/>
            <p:cNvSpPr/>
            <p:nvPr/>
          </p:nvSpPr>
          <p:spPr>
            <a:xfrm>
              <a:off x="2128" y="2039"/>
              <a:ext cx="272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ACC) + (MDR)       ACC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42" name="Line 14"/>
            <p:cNvSpPr/>
            <p:nvPr/>
          </p:nvSpPr>
          <p:spPr>
            <a:xfrm>
              <a:off x="3524" y="2222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69" name="Group 37"/>
          <p:cNvGrpSpPr/>
          <p:nvPr/>
        </p:nvGrpSpPr>
        <p:grpSpPr>
          <a:xfrm>
            <a:off x="3378200" y="4457700"/>
            <a:ext cx="2794000" cy="533400"/>
            <a:chOff x="2128" y="2808"/>
            <a:chExt cx="1760" cy="336"/>
          </a:xfrm>
        </p:grpSpPr>
        <p:sp>
          <p:nvSpPr>
            <p:cNvPr id="9239" name="Rectangle 16"/>
            <p:cNvSpPr/>
            <p:nvPr/>
          </p:nvSpPr>
          <p:spPr>
            <a:xfrm>
              <a:off x="2128" y="2808"/>
              <a:ext cx="176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Ad(IR)       </a:t>
              </a:r>
              <a:r>
                <a:rPr lang="en-US" altLang="zh-CN" sz="9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40" name="Line 17"/>
            <p:cNvSpPr/>
            <p:nvPr/>
          </p:nvSpPr>
          <p:spPr>
            <a:xfrm>
              <a:off x="2797" y="2986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70" name="Group 38"/>
          <p:cNvGrpSpPr/>
          <p:nvPr/>
        </p:nvGrpSpPr>
        <p:grpSpPr>
          <a:xfrm>
            <a:off x="3378200" y="5003800"/>
            <a:ext cx="2519363" cy="533400"/>
            <a:chOff x="2128" y="3152"/>
            <a:chExt cx="1587" cy="336"/>
          </a:xfrm>
        </p:grpSpPr>
        <p:sp>
          <p:nvSpPr>
            <p:cNvPr id="9237" name="Rectangle 19"/>
            <p:cNvSpPr/>
            <p:nvPr/>
          </p:nvSpPr>
          <p:spPr>
            <a:xfrm>
              <a:off x="2128" y="3152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W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38" name="Line 20"/>
            <p:cNvSpPr/>
            <p:nvPr/>
          </p:nvSpPr>
          <p:spPr>
            <a:xfrm>
              <a:off x="2320" y="3335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74" name="Group 42"/>
          <p:cNvGrpSpPr/>
          <p:nvPr/>
        </p:nvGrpSpPr>
        <p:grpSpPr>
          <a:xfrm>
            <a:off x="3378200" y="5549900"/>
            <a:ext cx="2519363" cy="533400"/>
            <a:chOff x="2128" y="3496"/>
            <a:chExt cx="1587" cy="336"/>
          </a:xfrm>
        </p:grpSpPr>
        <p:sp>
          <p:nvSpPr>
            <p:cNvPr id="9235" name="Rectangle 22"/>
            <p:cNvSpPr/>
            <p:nvPr/>
          </p:nvSpPr>
          <p:spPr>
            <a:xfrm>
              <a:off x="2128" y="3496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ACC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36" name="Line 23"/>
            <p:cNvSpPr/>
            <p:nvPr/>
          </p:nvSpPr>
          <p:spPr>
            <a:xfrm>
              <a:off x="2608" y="3679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1673" name="Group 41"/>
          <p:cNvGrpSpPr/>
          <p:nvPr/>
        </p:nvGrpSpPr>
        <p:grpSpPr>
          <a:xfrm>
            <a:off x="3378200" y="6096000"/>
            <a:ext cx="4318000" cy="533400"/>
            <a:chOff x="2128" y="3840"/>
            <a:chExt cx="2720" cy="336"/>
          </a:xfrm>
        </p:grpSpPr>
        <p:sp>
          <p:nvSpPr>
            <p:cNvPr id="9233" name="Rectangle 25"/>
            <p:cNvSpPr/>
            <p:nvPr/>
          </p:nvSpPr>
          <p:spPr>
            <a:xfrm>
              <a:off x="2128" y="3840"/>
              <a:ext cx="272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M(MAR)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34" name="Line 26"/>
            <p:cNvSpPr/>
            <p:nvPr/>
          </p:nvSpPr>
          <p:spPr>
            <a:xfrm>
              <a:off x="2608" y="401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1659" name="Text Box 27"/>
          <p:cNvSpPr txBox="1"/>
          <p:nvPr/>
        </p:nvSpPr>
        <p:spPr>
          <a:xfrm>
            <a:off x="3311525" y="3962400"/>
            <a:ext cx="14890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STA    X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1660" name="Text Box 28"/>
          <p:cNvSpPr txBox="1"/>
          <p:nvPr/>
        </p:nvSpPr>
        <p:spPr>
          <a:xfrm>
            <a:off x="3311525" y="1066800"/>
            <a:ext cx="1479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ADD   X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1661" name="Text Box 29"/>
          <p:cNvSpPr txBox="1"/>
          <p:nvPr/>
        </p:nvSpPr>
        <p:spPr>
          <a:xfrm>
            <a:off x="838200" y="3962400"/>
            <a:ext cx="2971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 存数指令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1662" name="Text Box 30"/>
          <p:cNvSpPr txBox="1"/>
          <p:nvPr/>
        </p:nvSpPr>
        <p:spPr>
          <a:xfrm>
            <a:off x="838200" y="10668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 加法指令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1663" name="Rectangle 3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32" name="AutoShape 32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59" grpId="0"/>
      <p:bldP spid="581660" grpId="0"/>
      <p:bldP spid="581661" grpId="0"/>
      <p:bldP spid="5816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Rectangle 2"/>
          <p:cNvSpPr/>
          <p:nvPr/>
        </p:nvSpPr>
        <p:spPr>
          <a:xfrm>
            <a:off x="990600" y="3048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(3)  取数指令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82659" name="Group 3"/>
          <p:cNvGrpSpPr/>
          <p:nvPr/>
        </p:nvGrpSpPr>
        <p:grpSpPr>
          <a:xfrm>
            <a:off x="3405188" y="914400"/>
            <a:ext cx="3071812" cy="533400"/>
            <a:chOff x="2145" y="576"/>
            <a:chExt cx="1935" cy="336"/>
          </a:xfrm>
        </p:grpSpPr>
        <p:sp>
          <p:nvSpPr>
            <p:cNvPr id="10269" name="Rectangle 4"/>
            <p:cNvSpPr/>
            <p:nvPr/>
          </p:nvSpPr>
          <p:spPr>
            <a:xfrm>
              <a:off x="2145" y="576"/>
              <a:ext cx="1935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</a:t>
              </a:r>
              <a:r>
                <a:rPr lang="en-US" altLang="zh-CN" sz="1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70" name="Line 5"/>
            <p:cNvSpPr/>
            <p:nvPr/>
          </p:nvSpPr>
          <p:spPr>
            <a:xfrm>
              <a:off x="2941" y="745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2662" name="Group 6"/>
          <p:cNvGrpSpPr/>
          <p:nvPr/>
        </p:nvGrpSpPr>
        <p:grpSpPr>
          <a:xfrm>
            <a:off x="3405188" y="1524000"/>
            <a:ext cx="2519362" cy="533400"/>
            <a:chOff x="1648" y="960"/>
            <a:chExt cx="1587" cy="336"/>
          </a:xfrm>
        </p:grpSpPr>
        <p:sp>
          <p:nvSpPr>
            <p:cNvPr id="10267" name="Rectangle 7"/>
            <p:cNvSpPr/>
            <p:nvPr/>
          </p:nvSpPr>
          <p:spPr>
            <a:xfrm>
              <a:off x="1648" y="960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8" name="Line 8"/>
            <p:cNvSpPr/>
            <p:nvPr/>
          </p:nvSpPr>
          <p:spPr>
            <a:xfrm>
              <a:off x="1776" y="1128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2687" name="Group 31"/>
          <p:cNvGrpSpPr/>
          <p:nvPr/>
        </p:nvGrpSpPr>
        <p:grpSpPr>
          <a:xfrm>
            <a:off x="3405188" y="2133600"/>
            <a:ext cx="3757612" cy="533400"/>
            <a:chOff x="2145" y="1344"/>
            <a:chExt cx="2367" cy="336"/>
          </a:xfrm>
        </p:grpSpPr>
        <p:sp>
          <p:nvSpPr>
            <p:cNvPr id="10265" name="Rectangle 10"/>
            <p:cNvSpPr/>
            <p:nvPr/>
          </p:nvSpPr>
          <p:spPr>
            <a:xfrm>
              <a:off x="2145" y="1344"/>
              <a:ext cx="236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</a:t>
              </a:r>
              <a:r>
                <a:rPr lang="en-US" altLang="zh-CN" sz="1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6" name="Line 11"/>
            <p:cNvSpPr/>
            <p:nvPr/>
          </p:nvSpPr>
          <p:spPr>
            <a:xfrm>
              <a:off x="3133" y="1527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2668" name="Group 12"/>
          <p:cNvGrpSpPr/>
          <p:nvPr/>
        </p:nvGrpSpPr>
        <p:grpSpPr>
          <a:xfrm>
            <a:off x="3405188" y="2743200"/>
            <a:ext cx="4318000" cy="533400"/>
            <a:chOff x="1648" y="1728"/>
            <a:chExt cx="2720" cy="336"/>
          </a:xfrm>
        </p:grpSpPr>
        <p:sp>
          <p:nvSpPr>
            <p:cNvPr id="10263" name="Rectangle 13"/>
            <p:cNvSpPr/>
            <p:nvPr/>
          </p:nvSpPr>
          <p:spPr>
            <a:xfrm>
              <a:off x="1648" y="1728"/>
              <a:ext cx="272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ACC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4" name="Line 14"/>
            <p:cNvSpPr/>
            <p:nvPr/>
          </p:nvSpPr>
          <p:spPr>
            <a:xfrm>
              <a:off x="2176" y="1897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2671" name="Rectangle 15"/>
          <p:cNvSpPr/>
          <p:nvPr/>
        </p:nvSpPr>
        <p:spPr>
          <a:xfrm>
            <a:off x="609600" y="3200400"/>
            <a:ext cx="2641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3. 转移指令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82672" name="Rectangle 16"/>
          <p:cNvSpPr/>
          <p:nvPr/>
        </p:nvSpPr>
        <p:spPr>
          <a:xfrm>
            <a:off x="990600" y="3876675"/>
            <a:ext cx="23796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 无条件转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82673" name="Rectangle 17"/>
          <p:cNvSpPr/>
          <p:nvPr/>
        </p:nvSpPr>
        <p:spPr>
          <a:xfrm>
            <a:off x="990600" y="5181600"/>
            <a:ext cx="2506663" cy="6858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 条件转移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582674" name="Group 18"/>
          <p:cNvGrpSpPr/>
          <p:nvPr/>
        </p:nvGrpSpPr>
        <p:grpSpPr>
          <a:xfrm>
            <a:off x="3405188" y="4572000"/>
            <a:ext cx="4138612" cy="533400"/>
            <a:chOff x="2145" y="2880"/>
            <a:chExt cx="2607" cy="336"/>
          </a:xfrm>
        </p:grpSpPr>
        <p:sp>
          <p:nvSpPr>
            <p:cNvPr id="10261" name="Rectangle 19"/>
            <p:cNvSpPr/>
            <p:nvPr/>
          </p:nvSpPr>
          <p:spPr>
            <a:xfrm>
              <a:off x="2145" y="2880"/>
              <a:ext cx="260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</a:t>
              </a:r>
              <a:r>
                <a:rPr lang="en-US" altLang="zh-CN" sz="1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62" name="Line 20"/>
            <p:cNvSpPr/>
            <p:nvPr/>
          </p:nvSpPr>
          <p:spPr>
            <a:xfrm>
              <a:off x="2941" y="3048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2688" name="Group 32"/>
          <p:cNvGrpSpPr/>
          <p:nvPr/>
        </p:nvGrpSpPr>
        <p:grpSpPr>
          <a:xfrm>
            <a:off x="3405188" y="5867400"/>
            <a:ext cx="5205412" cy="533400"/>
            <a:chOff x="2145" y="3696"/>
            <a:chExt cx="3279" cy="336"/>
          </a:xfrm>
        </p:grpSpPr>
        <p:sp>
          <p:nvSpPr>
            <p:cNvPr id="10258" name="Rectangle 22"/>
            <p:cNvSpPr/>
            <p:nvPr/>
          </p:nvSpPr>
          <p:spPr>
            <a:xfrm>
              <a:off x="2145" y="3696"/>
              <a:ext cx="327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 </a:t>
              </a:r>
              <a:r>
                <a:rPr lang="en-US" altLang="zh-CN" sz="2000" baseline="30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Ad ( IR ) + A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 PC )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9" name="Line 23"/>
            <p:cNvSpPr/>
            <p:nvPr/>
          </p:nvSpPr>
          <p:spPr>
            <a:xfrm>
              <a:off x="4141" y="386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0260" name="Line 24"/>
            <p:cNvSpPr/>
            <p:nvPr/>
          </p:nvSpPr>
          <p:spPr>
            <a:xfrm>
              <a:off x="3359" y="3767"/>
              <a:ext cx="10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2681" name="Text Box 25"/>
          <p:cNvSpPr txBox="1"/>
          <p:nvPr/>
        </p:nvSpPr>
        <p:spPr>
          <a:xfrm>
            <a:off x="3352800" y="295275"/>
            <a:ext cx="14589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LDA   X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2682" name="Text Box 26"/>
          <p:cNvSpPr txBox="1"/>
          <p:nvPr/>
        </p:nvSpPr>
        <p:spPr>
          <a:xfrm>
            <a:off x="3352800" y="3876675"/>
            <a:ext cx="14382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   X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2683" name="Text Box 27"/>
          <p:cNvSpPr txBox="1"/>
          <p:nvPr/>
        </p:nvSpPr>
        <p:spPr>
          <a:xfrm>
            <a:off x="3352800" y="5248275"/>
            <a:ext cx="15478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BAN    X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2684" name="Text Box 28"/>
          <p:cNvSpPr txBox="1"/>
          <p:nvPr/>
        </p:nvSpPr>
        <p:spPr>
          <a:xfrm>
            <a:off x="5241925" y="5226050"/>
            <a:ext cx="19700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（负则转）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2685" name="Rectangle 29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7" name="AutoShape 3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71" grpId="0"/>
      <p:bldP spid="582672" grpId="0"/>
      <p:bldP spid="582673" grpId="0"/>
      <p:bldP spid="582681" grpId="0"/>
      <p:bldP spid="582682" grpId="0"/>
      <p:bldP spid="582683" grpId="0"/>
      <p:bldP spid="5826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Rectangle 2"/>
          <p:cNvSpPr/>
          <p:nvPr/>
        </p:nvSpPr>
        <p:spPr>
          <a:xfrm>
            <a:off x="381000" y="533400"/>
            <a:ext cx="35988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4.  三类指令的指令周期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583683" name="Group 3"/>
          <p:cNvGrpSpPr/>
          <p:nvPr/>
        </p:nvGrpSpPr>
        <p:grpSpPr>
          <a:xfrm>
            <a:off x="3657600" y="1676400"/>
            <a:ext cx="2971800" cy="549275"/>
            <a:chOff x="2304" y="1056"/>
            <a:chExt cx="1872" cy="346"/>
          </a:xfrm>
        </p:grpSpPr>
        <p:sp>
          <p:nvSpPr>
            <p:cNvPr id="11313" name="Line 4"/>
            <p:cNvSpPr/>
            <p:nvPr/>
          </p:nvSpPr>
          <p:spPr>
            <a:xfrm>
              <a:off x="2304" y="111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4" name="Line 5"/>
            <p:cNvSpPr/>
            <p:nvPr/>
          </p:nvSpPr>
          <p:spPr>
            <a:xfrm>
              <a:off x="3240" y="111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5" name="Line 6"/>
            <p:cNvSpPr/>
            <p:nvPr/>
          </p:nvSpPr>
          <p:spPr>
            <a:xfrm>
              <a:off x="4176" y="111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16" name="Line 7"/>
            <p:cNvSpPr/>
            <p:nvPr/>
          </p:nvSpPr>
          <p:spPr>
            <a:xfrm>
              <a:off x="2304" y="1306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317" name="Line 8"/>
            <p:cNvSpPr/>
            <p:nvPr/>
          </p:nvSpPr>
          <p:spPr>
            <a:xfrm>
              <a:off x="3216" y="1306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318" name="Text Box 9"/>
            <p:cNvSpPr txBox="1"/>
            <p:nvPr/>
          </p:nvSpPr>
          <p:spPr>
            <a:xfrm>
              <a:off x="2400" y="1056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319" name="Text Box 10"/>
            <p:cNvSpPr txBox="1"/>
            <p:nvPr/>
          </p:nvSpPr>
          <p:spPr>
            <a:xfrm>
              <a:off x="3312" y="1056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691" name="Group 11"/>
          <p:cNvGrpSpPr/>
          <p:nvPr/>
        </p:nvGrpSpPr>
        <p:grpSpPr>
          <a:xfrm>
            <a:off x="3657600" y="2697163"/>
            <a:ext cx="2971800" cy="549275"/>
            <a:chOff x="2304" y="1708"/>
            <a:chExt cx="1872" cy="346"/>
          </a:xfrm>
        </p:grpSpPr>
        <p:sp>
          <p:nvSpPr>
            <p:cNvPr id="11306" name="Line 12"/>
            <p:cNvSpPr/>
            <p:nvPr/>
          </p:nvSpPr>
          <p:spPr>
            <a:xfrm>
              <a:off x="2304" y="1766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7" name="Line 13"/>
            <p:cNvSpPr/>
            <p:nvPr/>
          </p:nvSpPr>
          <p:spPr>
            <a:xfrm>
              <a:off x="3240" y="1766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8" name="Line 14"/>
            <p:cNvSpPr/>
            <p:nvPr/>
          </p:nvSpPr>
          <p:spPr>
            <a:xfrm>
              <a:off x="4176" y="1766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9" name="Line 15"/>
            <p:cNvSpPr/>
            <p:nvPr/>
          </p:nvSpPr>
          <p:spPr>
            <a:xfrm>
              <a:off x="2304" y="1958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310" name="Line 16"/>
            <p:cNvSpPr/>
            <p:nvPr/>
          </p:nvSpPr>
          <p:spPr>
            <a:xfrm>
              <a:off x="3216" y="1958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311" name="Text Box 17"/>
            <p:cNvSpPr txBox="1"/>
            <p:nvPr/>
          </p:nvSpPr>
          <p:spPr>
            <a:xfrm>
              <a:off x="2400" y="1708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312" name="Text Box 18"/>
            <p:cNvSpPr txBox="1"/>
            <p:nvPr/>
          </p:nvSpPr>
          <p:spPr>
            <a:xfrm>
              <a:off x="3312" y="1708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699" name="Group 19"/>
          <p:cNvGrpSpPr/>
          <p:nvPr/>
        </p:nvGrpSpPr>
        <p:grpSpPr>
          <a:xfrm>
            <a:off x="3657600" y="4738688"/>
            <a:ext cx="2971800" cy="549275"/>
            <a:chOff x="2304" y="3014"/>
            <a:chExt cx="1872" cy="346"/>
          </a:xfrm>
        </p:grpSpPr>
        <p:sp>
          <p:nvSpPr>
            <p:cNvPr id="11299" name="Line 20"/>
            <p:cNvSpPr/>
            <p:nvPr/>
          </p:nvSpPr>
          <p:spPr>
            <a:xfrm>
              <a:off x="2304" y="30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0" name="Line 21"/>
            <p:cNvSpPr/>
            <p:nvPr/>
          </p:nvSpPr>
          <p:spPr>
            <a:xfrm>
              <a:off x="3240" y="30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1" name="Line 22"/>
            <p:cNvSpPr/>
            <p:nvPr/>
          </p:nvSpPr>
          <p:spPr>
            <a:xfrm>
              <a:off x="4176" y="3072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2" name="Line 23"/>
            <p:cNvSpPr/>
            <p:nvPr/>
          </p:nvSpPr>
          <p:spPr>
            <a:xfrm>
              <a:off x="2304" y="3264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303" name="Line 24"/>
            <p:cNvSpPr/>
            <p:nvPr/>
          </p:nvSpPr>
          <p:spPr>
            <a:xfrm>
              <a:off x="3216" y="3264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304" name="Text Box 25"/>
            <p:cNvSpPr txBox="1"/>
            <p:nvPr/>
          </p:nvSpPr>
          <p:spPr>
            <a:xfrm>
              <a:off x="2400" y="3014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305" name="Text Box 26"/>
            <p:cNvSpPr txBox="1"/>
            <p:nvPr/>
          </p:nvSpPr>
          <p:spPr>
            <a:xfrm>
              <a:off x="3312" y="3014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3707" name="Group 27"/>
          <p:cNvGrpSpPr/>
          <p:nvPr/>
        </p:nvGrpSpPr>
        <p:grpSpPr>
          <a:xfrm>
            <a:off x="3657600" y="3717925"/>
            <a:ext cx="4495800" cy="549275"/>
            <a:chOff x="2304" y="2361"/>
            <a:chExt cx="2832" cy="346"/>
          </a:xfrm>
        </p:grpSpPr>
        <p:sp>
          <p:nvSpPr>
            <p:cNvPr id="11289" name="Line 28"/>
            <p:cNvSpPr/>
            <p:nvPr/>
          </p:nvSpPr>
          <p:spPr>
            <a:xfrm>
              <a:off x="2304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0" name="Line 29"/>
            <p:cNvSpPr/>
            <p:nvPr/>
          </p:nvSpPr>
          <p:spPr>
            <a:xfrm>
              <a:off x="3240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1" name="Line 30"/>
            <p:cNvSpPr/>
            <p:nvPr/>
          </p:nvSpPr>
          <p:spPr>
            <a:xfrm>
              <a:off x="4176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2" name="Line 31"/>
            <p:cNvSpPr/>
            <p:nvPr/>
          </p:nvSpPr>
          <p:spPr>
            <a:xfrm>
              <a:off x="2304" y="2611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293" name="Line 32"/>
            <p:cNvSpPr/>
            <p:nvPr/>
          </p:nvSpPr>
          <p:spPr>
            <a:xfrm>
              <a:off x="3216" y="2611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294" name="Text Box 33"/>
            <p:cNvSpPr txBox="1"/>
            <p:nvPr/>
          </p:nvSpPr>
          <p:spPr>
            <a:xfrm>
              <a:off x="2400" y="236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5" name="Text Box 34"/>
            <p:cNvSpPr txBox="1"/>
            <p:nvPr/>
          </p:nvSpPr>
          <p:spPr>
            <a:xfrm>
              <a:off x="3312" y="236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间址周期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6" name="Line 35"/>
            <p:cNvSpPr/>
            <p:nvPr/>
          </p:nvSpPr>
          <p:spPr>
            <a:xfrm>
              <a:off x="5136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97" name="Line 36"/>
            <p:cNvSpPr/>
            <p:nvPr/>
          </p:nvSpPr>
          <p:spPr>
            <a:xfrm>
              <a:off x="4176" y="2611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298" name="Text Box 37"/>
            <p:cNvSpPr txBox="1"/>
            <p:nvPr/>
          </p:nvSpPr>
          <p:spPr>
            <a:xfrm>
              <a:off x="4272" y="236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718" name="Text Box 38"/>
          <p:cNvSpPr txBox="1"/>
          <p:nvPr/>
        </p:nvSpPr>
        <p:spPr>
          <a:xfrm>
            <a:off x="1068388" y="1644650"/>
            <a:ext cx="240506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非访存 </a:t>
            </a:r>
            <a:r>
              <a:rPr lang="zh-CN" altLang="en-US" sz="2400" dirty="0">
                <a:latin typeface="Times New Roman" panose="02020603050405020304" pitchFamily="18" charset="0"/>
              </a:rPr>
              <a:t>指令周期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3719" name="Text Box 39"/>
          <p:cNvSpPr txBox="1"/>
          <p:nvPr/>
        </p:nvSpPr>
        <p:spPr>
          <a:xfrm>
            <a:off x="762000" y="2665413"/>
            <a:ext cx="2711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直接访存 </a:t>
            </a:r>
            <a:r>
              <a:rPr lang="zh-CN" altLang="en-US" sz="2400" dirty="0">
                <a:latin typeface="Times New Roman" panose="02020603050405020304" pitchFamily="18" charset="0"/>
              </a:rPr>
              <a:t>指令周期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3720" name="Text Box 40"/>
          <p:cNvSpPr txBox="1"/>
          <p:nvPr/>
        </p:nvSpPr>
        <p:spPr>
          <a:xfrm>
            <a:off x="762000" y="3686175"/>
            <a:ext cx="2711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间接访存 </a:t>
            </a:r>
            <a:r>
              <a:rPr lang="zh-CN" altLang="en-US" sz="2400" dirty="0">
                <a:latin typeface="Times New Roman" panose="02020603050405020304" pitchFamily="18" charset="0"/>
              </a:rPr>
              <a:t>指令周期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3721" name="Text Box 41"/>
          <p:cNvSpPr txBox="1"/>
          <p:nvPr/>
        </p:nvSpPr>
        <p:spPr>
          <a:xfrm>
            <a:off x="1374775" y="4706938"/>
            <a:ext cx="2098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转移 </a:t>
            </a:r>
            <a:r>
              <a:rPr lang="zh-CN" altLang="en-US" sz="2400" dirty="0">
                <a:latin typeface="Times New Roman" panose="02020603050405020304" pitchFamily="18" charset="0"/>
              </a:rPr>
              <a:t>指令周期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3722" name="Rectangle 42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83723" name="Group 43"/>
          <p:cNvGrpSpPr/>
          <p:nvPr/>
        </p:nvGrpSpPr>
        <p:grpSpPr>
          <a:xfrm>
            <a:off x="3651250" y="5759450"/>
            <a:ext cx="4495800" cy="549275"/>
            <a:chOff x="2304" y="2361"/>
            <a:chExt cx="2832" cy="346"/>
          </a:xfrm>
        </p:grpSpPr>
        <p:sp>
          <p:nvSpPr>
            <p:cNvPr id="11279" name="Line 44"/>
            <p:cNvSpPr/>
            <p:nvPr/>
          </p:nvSpPr>
          <p:spPr>
            <a:xfrm>
              <a:off x="2304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0" name="Line 45"/>
            <p:cNvSpPr/>
            <p:nvPr/>
          </p:nvSpPr>
          <p:spPr>
            <a:xfrm>
              <a:off x="3240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1" name="Line 46"/>
            <p:cNvSpPr/>
            <p:nvPr/>
          </p:nvSpPr>
          <p:spPr>
            <a:xfrm>
              <a:off x="4176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2" name="Line 47"/>
            <p:cNvSpPr/>
            <p:nvPr/>
          </p:nvSpPr>
          <p:spPr>
            <a:xfrm>
              <a:off x="2304" y="2611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283" name="Line 48"/>
            <p:cNvSpPr/>
            <p:nvPr/>
          </p:nvSpPr>
          <p:spPr>
            <a:xfrm>
              <a:off x="3216" y="2611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284" name="Text Box 49"/>
            <p:cNvSpPr txBox="1"/>
            <p:nvPr/>
          </p:nvSpPr>
          <p:spPr>
            <a:xfrm>
              <a:off x="2400" y="236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取指周期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85" name="Text Box 50"/>
            <p:cNvSpPr txBox="1"/>
            <p:nvPr/>
          </p:nvSpPr>
          <p:spPr>
            <a:xfrm>
              <a:off x="3312" y="236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间址周期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86" name="Line 51"/>
            <p:cNvSpPr/>
            <p:nvPr/>
          </p:nvSpPr>
          <p:spPr>
            <a:xfrm>
              <a:off x="5136" y="2419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7" name="Line 52"/>
            <p:cNvSpPr/>
            <p:nvPr/>
          </p:nvSpPr>
          <p:spPr>
            <a:xfrm>
              <a:off x="4176" y="2611"/>
              <a:ext cx="9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11288" name="Text Box 53"/>
            <p:cNvSpPr txBox="1"/>
            <p:nvPr/>
          </p:nvSpPr>
          <p:spPr>
            <a:xfrm>
              <a:off x="4272" y="236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执行周期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3734" name="Text Box 54"/>
          <p:cNvSpPr txBox="1"/>
          <p:nvPr/>
        </p:nvSpPr>
        <p:spPr>
          <a:xfrm>
            <a:off x="755650" y="5727700"/>
            <a:ext cx="2711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间接转移 </a:t>
            </a:r>
            <a:r>
              <a:rPr lang="zh-CN" altLang="en-US" sz="2400" dirty="0">
                <a:latin typeface="Times New Roman" panose="02020603050405020304" pitchFamily="18" charset="0"/>
              </a:rPr>
              <a:t>指令周期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278" name="AutoShape 5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8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8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8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8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58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8" grpId="0"/>
      <p:bldP spid="583719" grpId="0"/>
      <p:bldP spid="583720" grpId="0"/>
      <p:bldP spid="583721" grpId="0"/>
      <p:bldP spid="5837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2"/>
          <p:cNvSpPr/>
          <p:nvPr/>
        </p:nvSpPr>
        <p:spPr>
          <a:xfrm>
            <a:off x="381000" y="381000"/>
            <a:ext cx="35988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四、中断周期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84707" name="Rectangle 3"/>
          <p:cNvSpPr/>
          <p:nvPr/>
        </p:nvSpPr>
        <p:spPr>
          <a:xfrm>
            <a:off x="838200" y="1219200"/>
            <a:ext cx="35988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程序断点存入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 0 ” 地址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4708" name="Rectangle 4"/>
          <p:cNvSpPr/>
          <p:nvPr/>
        </p:nvSpPr>
        <p:spPr>
          <a:xfrm>
            <a:off x="4706938" y="1219200"/>
            <a:ext cx="3598862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程序断点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进栈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84709" name="Group 5"/>
          <p:cNvGrpSpPr/>
          <p:nvPr/>
        </p:nvGrpSpPr>
        <p:grpSpPr>
          <a:xfrm>
            <a:off x="914400" y="1943100"/>
            <a:ext cx="2519363" cy="533400"/>
            <a:chOff x="576" y="1224"/>
            <a:chExt cx="1587" cy="336"/>
          </a:xfrm>
        </p:grpSpPr>
        <p:sp>
          <p:nvSpPr>
            <p:cNvPr id="12336" name="Rectangle 6"/>
            <p:cNvSpPr/>
            <p:nvPr/>
          </p:nvSpPr>
          <p:spPr>
            <a:xfrm>
              <a:off x="576" y="1224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37" name="Line 7"/>
            <p:cNvSpPr/>
            <p:nvPr/>
          </p:nvSpPr>
          <p:spPr>
            <a:xfrm>
              <a:off x="720" y="1391"/>
              <a:ext cx="227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12" name="Group 8"/>
          <p:cNvGrpSpPr/>
          <p:nvPr/>
        </p:nvGrpSpPr>
        <p:grpSpPr>
          <a:xfrm>
            <a:off x="914400" y="2667000"/>
            <a:ext cx="2519363" cy="533400"/>
            <a:chOff x="576" y="1392"/>
            <a:chExt cx="1587" cy="336"/>
          </a:xfrm>
        </p:grpSpPr>
        <p:sp>
          <p:nvSpPr>
            <p:cNvPr id="12334" name="Rectangle 9"/>
            <p:cNvSpPr/>
            <p:nvPr/>
          </p:nvSpPr>
          <p:spPr>
            <a:xfrm>
              <a:off x="576" y="1392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W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35" name="Line 10"/>
            <p:cNvSpPr/>
            <p:nvPr/>
          </p:nvSpPr>
          <p:spPr>
            <a:xfrm>
              <a:off x="720" y="1559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59" name="Group 55"/>
          <p:cNvGrpSpPr/>
          <p:nvPr/>
        </p:nvGrpSpPr>
        <p:grpSpPr>
          <a:xfrm>
            <a:off x="914400" y="3390900"/>
            <a:ext cx="2519363" cy="533400"/>
            <a:chOff x="576" y="2136"/>
            <a:chExt cx="1587" cy="336"/>
          </a:xfrm>
        </p:grpSpPr>
        <p:sp>
          <p:nvSpPr>
            <p:cNvPr id="12332" name="Rectangle 12"/>
            <p:cNvSpPr/>
            <p:nvPr/>
          </p:nvSpPr>
          <p:spPr>
            <a:xfrm>
              <a:off x="576" y="2136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33" name="Line 13"/>
            <p:cNvSpPr/>
            <p:nvPr/>
          </p:nvSpPr>
          <p:spPr>
            <a:xfrm>
              <a:off x="895" y="2316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18" name="Group 14"/>
          <p:cNvGrpSpPr/>
          <p:nvPr/>
        </p:nvGrpSpPr>
        <p:grpSpPr>
          <a:xfrm>
            <a:off x="914400" y="4114800"/>
            <a:ext cx="2519363" cy="533400"/>
            <a:chOff x="576" y="1872"/>
            <a:chExt cx="1587" cy="336"/>
          </a:xfrm>
        </p:grpSpPr>
        <p:sp>
          <p:nvSpPr>
            <p:cNvPr id="12330" name="Rectangle 15"/>
            <p:cNvSpPr/>
            <p:nvPr/>
          </p:nvSpPr>
          <p:spPr>
            <a:xfrm>
              <a:off x="576" y="1872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M ( 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31" name="Line 16"/>
            <p:cNvSpPr/>
            <p:nvPr/>
          </p:nvSpPr>
          <p:spPr>
            <a:xfrm>
              <a:off x="1104" y="204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21" name="Group 17"/>
          <p:cNvGrpSpPr/>
          <p:nvPr/>
        </p:nvGrpSpPr>
        <p:grpSpPr>
          <a:xfrm>
            <a:off x="914400" y="4838700"/>
            <a:ext cx="2519363" cy="533400"/>
            <a:chOff x="576" y="2160"/>
            <a:chExt cx="1587" cy="336"/>
          </a:xfrm>
        </p:grpSpPr>
        <p:sp>
          <p:nvSpPr>
            <p:cNvPr id="12328" name="Rectangle 18"/>
            <p:cNvSpPr/>
            <p:nvPr/>
          </p:nvSpPr>
          <p:spPr>
            <a:xfrm>
              <a:off x="576" y="2160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向量地址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9" name="Line 19"/>
            <p:cNvSpPr/>
            <p:nvPr/>
          </p:nvSpPr>
          <p:spPr>
            <a:xfrm>
              <a:off x="1453" y="2325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24" name="Group 20"/>
          <p:cNvGrpSpPr/>
          <p:nvPr/>
        </p:nvGrpSpPr>
        <p:grpSpPr>
          <a:xfrm>
            <a:off x="914400" y="5562600"/>
            <a:ext cx="2519363" cy="533400"/>
            <a:chOff x="576" y="2448"/>
            <a:chExt cx="1587" cy="336"/>
          </a:xfrm>
        </p:grpSpPr>
        <p:sp>
          <p:nvSpPr>
            <p:cNvPr id="12326" name="Rectangle 21"/>
            <p:cNvSpPr/>
            <p:nvPr/>
          </p:nvSpPr>
          <p:spPr>
            <a:xfrm>
              <a:off x="576" y="2448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0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EINT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（</a:t>
              </a:r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置“0”）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27" name="Line 22"/>
            <p:cNvSpPr/>
            <p:nvPr/>
          </p:nvSpPr>
          <p:spPr>
            <a:xfrm>
              <a:off x="733" y="2613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27" name="Group 23"/>
          <p:cNvGrpSpPr/>
          <p:nvPr/>
        </p:nvGrpSpPr>
        <p:grpSpPr>
          <a:xfrm>
            <a:off x="4724400" y="5562600"/>
            <a:ext cx="2519363" cy="533400"/>
            <a:chOff x="2976" y="2496"/>
            <a:chExt cx="1587" cy="336"/>
          </a:xfrm>
        </p:grpSpPr>
        <p:sp>
          <p:nvSpPr>
            <p:cNvPr id="12324" name="Rectangle 24"/>
            <p:cNvSpPr/>
            <p:nvPr/>
          </p:nvSpPr>
          <p:spPr>
            <a:xfrm>
              <a:off x="2976" y="2496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0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EINT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（</a:t>
              </a:r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置“0”）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25" name="Line 25"/>
            <p:cNvSpPr/>
            <p:nvPr/>
          </p:nvSpPr>
          <p:spPr>
            <a:xfrm>
              <a:off x="3133" y="2663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30" name="Group 26"/>
          <p:cNvGrpSpPr/>
          <p:nvPr/>
        </p:nvGrpSpPr>
        <p:grpSpPr>
          <a:xfrm>
            <a:off x="4719638" y="4838700"/>
            <a:ext cx="2519362" cy="533400"/>
            <a:chOff x="2973" y="2160"/>
            <a:chExt cx="1587" cy="336"/>
          </a:xfrm>
        </p:grpSpPr>
        <p:sp>
          <p:nvSpPr>
            <p:cNvPr id="12322" name="Rectangle 27"/>
            <p:cNvSpPr/>
            <p:nvPr/>
          </p:nvSpPr>
          <p:spPr>
            <a:xfrm>
              <a:off x="2973" y="2160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向量地址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3" name="Line 28"/>
            <p:cNvSpPr/>
            <p:nvPr/>
          </p:nvSpPr>
          <p:spPr>
            <a:xfrm>
              <a:off x="3805" y="2325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33" name="Group 29"/>
          <p:cNvGrpSpPr/>
          <p:nvPr/>
        </p:nvGrpSpPr>
        <p:grpSpPr>
          <a:xfrm>
            <a:off x="4724400" y="4114800"/>
            <a:ext cx="2519363" cy="533400"/>
            <a:chOff x="2976" y="1872"/>
            <a:chExt cx="1587" cy="336"/>
          </a:xfrm>
        </p:grpSpPr>
        <p:sp>
          <p:nvSpPr>
            <p:cNvPr id="12320" name="Rectangle 30"/>
            <p:cNvSpPr/>
            <p:nvPr/>
          </p:nvSpPr>
          <p:spPr>
            <a:xfrm>
              <a:off x="2976" y="1872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M ( 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1" name="Line 31"/>
            <p:cNvSpPr/>
            <p:nvPr/>
          </p:nvSpPr>
          <p:spPr>
            <a:xfrm>
              <a:off x="3504" y="2038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55" name="Group 51"/>
          <p:cNvGrpSpPr/>
          <p:nvPr/>
        </p:nvGrpSpPr>
        <p:grpSpPr>
          <a:xfrm>
            <a:off x="4724400" y="3390900"/>
            <a:ext cx="2519363" cy="533400"/>
            <a:chOff x="2976" y="2136"/>
            <a:chExt cx="1587" cy="336"/>
          </a:xfrm>
        </p:grpSpPr>
        <p:sp>
          <p:nvSpPr>
            <p:cNvPr id="12318" name="Rectangle 33"/>
            <p:cNvSpPr/>
            <p:nvPr/>
          </p:nvSpPr>
          <p:spPr>
            <a:xfrm>
              <a:off x="2976" y="2136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9" name="Line 34"/>
            <p:cNvSpPr/>
            <p:nvPr/>
          </p:nvSpPr>
          <p:spPr>
            <a:xfrm>
              <a:off x="3300" y="2311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53" name="Group 49"/>
          <p:cNvGrpSpPr/>
          <p:nvPr/>
        </p:nvGrpSpPr>
        <p:grpSpPr>
          <a:xfrm>
            <a:off x="4724400" y="2667000"/>
            <a:ext cx="2519363" cy="533400"/>
            <a:chOff x="2976" y="1680"/>
            <a:chExt cx="1587" cy="336"/>
          </a:xfrm>
        </p:grpSpPr>
        <p:sp>
          <p:nvSpPr>
            <p:cNvPr id="12316" name="Rectangle 36"/>
            <p:cNvSpPr/>
            <p:nvPr/>
          </p:nvSpPr>
          <p:spPr>
            <a:xfrm>
              <a:off x="2976" y="1680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W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Line 37"/>
            <p:cNvSpPr/>
            <p:nvPr/>
          </p:nvSpPr>
          <p:spPr>
            <a:xfrm>
              <a:off x="3132" y="1854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4745" name="Group 41"/>
          <p:cNvGrpSpPr/>
          <p:nvPr/>
        </p:nvGrpSpPr>
        <p:grpSpPr>
          <a:xfrm>
            <a:off x="762000" y="4724400"/>
            <a:ext cx="6553200" cy="609600"/>
            <a:chOff x="480" y="3408"/>
            <a:chExt cx="4128" cy="384"/>
          </a:xfrm>
        </p:grpSpPr>
        <p:sp>
          <p:nvSpPr>
            <p:cNvPr id="12312" name="Rectangle 42"/>
            <p:cNvSpPr/>
            <p:nvPr/>
          </p:nvSpPr>
          <p:spPr>
            <a:xfrm>
              <a:off x="480" y="3408"/>
              <a:ext cx="4128" cy="3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grpSp>
          <p:nvGrpSpPr>
            <p:cNvPr id="12313" name="Group 43"/>
            <p:cNvGrpSpPr/>
            <p:nvPr/>
          </p:nvGrpSpPr>
          <p:grpSpPr>
            <a:xfrm>
              <a:off x="1309" y="3456"/>
              <a:ext cx="2915" cy="323"/>
              <a:chOff x="1309" y="3456"/>
              <a:chExt cx="2915" cy="323"/>
            </a:xfrm>
          </p:grpSpPr>
          <p:sp>
            <p:nvSpPr>
              <p:cNvPr id="12314" name="Text Box 44"/>
              <p:cNvSpPr txBox="1"/>
              <p:nvPr/>
            </p:nvSpPr>
            <p:spPr>
              <a:xfrm>
                <a:off x="1309" y="3456"/>
                <a:ext cx="2915" cy="3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115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</a:rPr>
                  <a:t>中断识别程序入口地址 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M        PC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5" name="Line 45"/>
              <p:cNvSpPr/>
              <p:nvPr/>
            </p:nvSpPr>
            <p:spPr>
              <a:xfrm>
                <a:off x="3588" y="3645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</p:grpSp>
      <p:sp>
        <p:nvSpPr>
          <p:cNvPr id="584750" name="Rectangle 4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6" name="AutoShape 4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584758" name="Group 54"/>
          <p:cNvGrpSpPr/>
          <p:nvPr/>
        </p:nvGrpSpPr>
        <p:grpSpPr>
          <a:xfrm>
            <a:off x="4719638" y="1943100"/>
            <a:ext cx="2519362" cy="533400"/>
            <a:chOff x="2973" y="1224"/>
            <a:chExt cx="1587" cy="336"/>
          </a:xfrm>
        </p:grpSpPr>
        <p:grpSp>
          <p:nvGrpSpPr>
            <p:cNvPr id="12308" name="Group 53"/>
            <p:cNvGrpSpPr/>
            <p:nvPr/>
          </p:nvGrpSpPr>
          <p:grpSpPr>
            <a:xfrm>
              <a:off x="2973" y="1224"/>
              <a:ext cx="1587" cy="336"/>
              <a:chOff x="2973" y="1224"/>
              <a:chExt cx="1587" cy="336"/>
            </a:xfrm>
          </p:grpSpPr>
          <p:sp>
            <p:nvSpPr>
              <p:cNvPr id="12310" name="Rectangle 39"/>
              <p:cNvSpPr/>
              <p:nvPr/>
            </p:nvSpPr>
            <p:spPr>
              <a:xfrm>
                <a:off x="2973" y="1224"/>
                <a:ext cx="158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rIns="0" anchor="ctr" anchorCtr="0"/>
              <a:p>
                <a:pPr eaLnBrk="1" hangingPunct="1"/>
                <a:r>
                  <a:rPr lang="zh-CN" altLang="en-US" sz="24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( </a:t>
                </a:r>
                <a:r>
                  <a:rPr lang="en-US" altLang="zh-CN" sz="24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SP ) </a:t>
                </a:r>
                <a:r>
                  <a:rPr lang="en-US" altLang="zh-CN" sz="2400" dirty="0">
                    <a:solidFill>
                      <a:schemeClr val="folHlin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1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      </a:t>
                </a:r>
                <a:r>
                  <a:rPr lang="en-US" altLang="zh-CN" sz="24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MAR</a:t>
                </a:r>
                <a:endPara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11" name="Line 40"/>
              <p:cNvSpPr/>
              <p:nvPr/>
            </p:nvSpPr>
            <p:spPr>
              <a:xfrm>
                <a:off x="3757" y="1407"/>
                <a:ext cx="227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12309" name="Line 52"/>
            <p:cNvSpPr/>
            <p:nvPr/>
          </p:nvSpPr>
          <p:spPr>
            <a:xfrm>
              <a:off x="3470" y="1407"/>
              <a:ext cx="102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58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7" grpId="0"/>
      <p:bldP spid="58470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9.2   控制单元的功能</a:t>
            </a:r>
            <a:endParaRPr lang="zh-CN" altLang="en-US" b="1" dirty="0"/>
          </a:p>
        </p:txBody>
      </p:sp>
      <p:sp>
        <p:nvSpPr>
          <p:cNvPr id="585731" name="Rectangle 3"/>
          <p:cNvSpPr/>
          <p:nvPr/>
        </p:nvSpPr>
        <p:spPr>
          <a:xfrm>
            <a:off x="685800" y="1854200"/>
            <a:ext cx="43180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一、控制单元的外特性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585732" name="Group 4"/>
          <p:cNvGrpSpPr/>
          <p:nvPr/>
        </p:nvGrpSpPr>
        <p:grpSpPr>
          <a:xfrm>
            <a:off x="1997075" y="2895600"/>
            <a:ext cx="1752600" cy="457200"/>
            <a:chOff x="1258" y="1632"/>
            <a:chExt cx="1104" cy="288"/>
          </a:xfrm>
        </p:grpSpPr>
        <p:sp>
          <p:nvSpPr>
            <p:cNvPr id="13339" name="Text Box 5"/>
            <p:cNvSpPr txBox="1"/>
            <p:nvPr/>
          </p:nvSpPr>
          <p:spPr>
            <a:xfrm>
              <a:off x="1344" y="1648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指令寄存器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3340" name="Rectangle 6"/>
            <p:cNvSpPr/>
            <p:nvPr/>
          </p:nvSpPr>
          <p:spPr>
            <a:xfrm>
              <a:off x="1258" y="1632"/>
              <a:ext cx="1104" cy="288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85735" name="Group 7"/>
          <p:cNvGrpSpPr/>
          <p:nvPr/>
        </p:nvGrpSpPr>
        <p:grpSpPr>
          <a:xfrm>
            <a:off x="1997075" y="4114800"/>
            <a:ext cx="1752600" cy="1371600"/>
            <a:chOff x="1258" y="2400"/>
            <a:chExt cx="1104" cy="864"/>
          </a:xfrm>
        </p:grpSpPr>
        <p:sp>
          <p:nvSpPr>
            <p:cNvPr id="13337" name="Rectangle 8"/>
            <p:cNvSpPr/>
            <p:nvPr/>
          </p:nvSpPr>
          <p:spPr>
            <a:xfrm>
              <a:off x="1258" y="2400"/>
              <a:ext cx="1104" cy="864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3338" name="Text Box 9"/>
            <p:cNvSpPr txBox="1"/>
            <p:nvPr/>
          </p:nvSpPr>
          <p:spPr>
            <a:xfrm>
              <a:off x="1450" y="2630"/>
              <a:ext cx="76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控制单元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5738" name="AutoShape 10"/>
          <p:cNvSpPr/>
          <p:nvPr/>
        </p:nvSpPr>
        <p:spPr>
          <a:xfrm>
            <a:off x="2667000" y="3352800"/>
            <a:ext cx="304800" cy="762000"/>
          </a:xfrm>
          <a:prstGeom prst="downArrow">
            <a:avLst>
              <a:gd name="adj1" fmla="val 50000"/>
              <a:gd name="adj2" fmla="val 62500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85739" name="Line 11"/>
          <p:cNvSpPr/>
          <p:nvPr/>
        </p:nvSpPr>
        <p:spPr>
          <a:xfrm>
            <a:off x="1311275" y="5257800"/>
            <a:ext cx="685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85740" name="Group 12"/>
          <p:cNvGrpSpPr/>
          <p:nvPr/>
        </p:nvGrpSpPr>
        <p:grpSpPr>
          <a:xfrm>
            <a:off x="1311275" y="4343400"/>
            <a:ext cx="685800" cy="609600"/>
            <a:chOff x="826" y="2544"/>
            <a:chExt cx="432" cy="384"/>
          </a:xfrm>
        </p:grpSpPr>
        <p:grpSp>
          <p:nvGrpSpPr>
            <p:cNvPr id="13333" name="Group 13"/>
            <p:cNvGrpSpPr/>
            <p:nvPr/>
          </p:nvGrpSpPr>
          <p:grpSpPr>
            <a:xfrm>
              <a:off x="826" y="2544"/>
              <a:ext cx="432" cy="384"/>
              <a:chOff x="826" y="2544"/>
              <a:chExt cx="432" cy="384"/>
            </a:xfrm>
          </p:grpSpPr>
          <p:sp>
            <p:nvSpPr>
              <p:cNvPr id="13335" name="Line 14"/>
              <p:cNvSpPr/>
              <p:nvPr/>
            </p:nvSpPr>
            <p:spPr>
              <a:xfrm>
                <a:off x="826" y="2544"/>
                <a:ext cx="43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3336" name="Line 15"/>
              <p:cNvSpPr/>
              <p:nvPr/>
            </p:nvSpPr>
            <p:spPr>
              <a:xfrm>
                <a:off x="826" y="2928"/>
                <a:ext cx="43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13334" name="Text Box 16"/>
            <p:cNvSpPr txBox="1"/>
            <p:nvPr/>
          </p:nvSpPr>
          <p:spPr>
            <a:xfrm>
              <a:off x="940" y="2640"/>
              <a:ext cx="30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85745" name="Text Box 17"/>
          <p:cNvSpPr txBox="1"/>
          <p:nvPr/>
        </p:nvSpPr>
        <p:spPr>
          <a:xfrm>
            <a:off x="625475" y="50292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时钟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5746" name="Text Box 18"/>
          <p:cNvSpPr txBox="1"/>
          <p:nvPr/>
        </p:nvSpPr>
        <p:spPr>
          <a:xfrm>
            <a:off x="609600" y="44196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标志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5747" name="AutoShape 19"/>
          <p:cNvSpPr/>
          <p:nvPr/>
        </p:nvSpPr>
        <p:spPr>
          <a:xfrm>
            <a:off x="3749675" y="4252913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85748" name="Text Box 20"/>
          <p:cNvSpPr txBox="1"/>
          <p:nvPr/>
        </p:nvSpPr>
        <p:spPr>
          <a:xfrm>
            <a:off x="4495800" y="4191000"/>
            <a:ext cx="25606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CPU </a:t>
            </a:r>
            <a:r>
              <a:rPr lang="zh-CN" altLang="en-US" sz="2000" dirty="0">
                <a:latin typeface="Times New Roman" panose="02020603050405020304" pitchFamily="18" charset="0"/>
              </a:rPr>
              <a:t>内部的控制信号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5749" name="AutoShape 21"/>
          <p:cNvSpPr/>
          <p:nvPr/>
        </p:nvSpPr>
        <p:spPr>
          <a:xfrm>
            <a:off x="3749675" y="4724400"/>
            <a:ext cx="3962400" cy="138113"/>
          </a:xfrm>
          <a:prstGeom prst="rightArrow">
            <a:avLst>
              <a:gd name="adj1" fmla="val 52083"/>
              <a:gd name="adj2" fmla="val 221812"/>
            </a:avLst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85750" name="Text Box 22"/>
          <p:cNvSpPr txBox="1"/>
          <p:nvPr/>
        </p:nvSpPr>
        <p:spPr>
          <a:xfrm>
            <a:off x="4438650" y="4786313"/>
            <a:ext cx="27400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到系统总线的控制信号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5751" name="AutoShape 23"/>
          <p:cNvSpPr/>
          <p:nvPr/>
        </p:nvSpPr>
        <p:spPr>
          <a:xfrm rot="10800000">
            <a:off x="3781425" y="5197475"/>
            <a:ext cx="3962400" cy="136525"/>
          </a:xfrm>
          <a:prstGeom prst="rightArrow">
            <a:avLst>
              <a:gd name="adj1" fmla="val 52083"/>
              <a:gd name="adj2" fmla="val 224392"/>
            </a:avLst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85752" name="Text Box 24"/>
          <p:cNvSpPr txBox="1"/>
          <p:nvPr/>
        </p:nvSpPr>
        <p:spPr>
          <a:xfrm>
            <a:off x="4343400" y="5257800"/>
            <a:ext cx="29956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来自系统总线的控制信号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585753" name="Group 25"/>
          <p:cNvGrpSpPr/>
          <p:nvPr/>
        </p:nvGrpSpPr>
        <p:grpSpPr>
          <a:xfrm>
            <a:off x="7696200" y="3276600"/>
            <a:ext cx="641350" cy="3048000"/>
            <a:chOff x="4848" y="2064"/>
            <a:chExt cx="404" cy="1920"/>
          </a:xfrm>
        </p:grpSpPr>
        <p:sp>
          <p:nvSpPr>
            <p:cNvPr id="13331" name="Text Box 26"/>
            <p:cNvSpPr txBox="1"/>
            <p:nvPr/>
          </p:nvSpPr>
          <p:spPr>
            <a:xfrm>
              <a:off x="4944" y="2515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系统总线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2" name="Rectangle 27"/>
            <p:cNvSpPr/>
            <p:nvPr/>
          </p:nvSpPr>
          <p:spPr>
            <a:xfrm>
              <a:off x="4848" y="2064"/>
              <a:ext cx="96" cy="1920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13330" name="AutoShape 2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8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8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58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85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58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58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58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8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8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58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8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31" grpId="0"/>
      <p:bldP spid="585745" grpId="0"/>
      <p:bldP spid="585746" grpId="0"/>
      <p:bldP spid="585748" grpId="0"/>
      <p:bldP spid="585750" grpId="0"/>
      <p:bldP spid="5857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/>
          <p:nvPr/>
        </p:nvSpPr>
        <p:spPr>
          <a:xfrm>
            <a:off x="571500" y="3302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1. 输入信号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86755" name="Rectangle 3"/>
          <p:cNvSpPr/>
          <p:nvPr/>
        </p:nvSpPr>
        <p:spPr>
          <a:xfrm>
            <a:off x="838200" y="8382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(1)  时钟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56" name="Rectangle 4"/>
          <p:cNvSpPr/>
          <p:nvPr/>
        </p:nvSpPr>
        <p:spPr>
          <a:xfrm>
            <a:off x="838200" y="29718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(2)  指令寄存器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57" name="Rectangle 5"/>
          <p:cNvSpPr/>
          <p:nvPr/>
        </p:nvSpPr>
        <p:spPr>
          <a:xfrm>
            <a:off x="838200" y="51816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(4)  外来信号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58" name="Rectangle 6"/>
          <p:cNvSpPr/>
          <p:nvPr/>
        </p:nvSpPr>
        <p:spPr>
          <a:xfrm>
            <a:off x="838200" y="41148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(3)  标志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59" name="Rectangle 7"/>
          <p:cNvSpPr/>
          <p:nvPr/>
        </p:nvSpPr>
        <p:spPr>
          <a:xfrm>
            <a:off x="1244600" y="12954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rIns="0" anchor="ctr" anchorCtr="0"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CU  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受时钟控制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6760" name="Rectangle 8"/>
          <p:cNvSpPr/>
          <p:nvPr/>
        </p:nvSpPr>
        <p:spPr>
          <a:xfrm>
            <a:off x="1244600" y="3505200"/>
            <a:ext cx="5038725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rIns="9000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控制信号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与操作码有关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86761" name="Group 9"/>
          <p:cNvGrpSpPr/>
          <p:nvPr/>
        </p:nvGrpSpPr>
        <p:grpSpPr>
          <a:xfrm>
            <a:off x="3505200" y="2971800"/>
            <a:ext cx="2519363" cy="533400"/>
            <a:chOff x="2208" y="1968"/>
            <a:chExt cx="1587" cy="336"/>
          </a:xfrm>
        </p:grpSpPr>
        <p:sp>
          <p:nvSpPr>
            <p:cNvPr id="14355" name="Rectangle 10"/>
            <p:cNvSpPr/>
            <p:nvPr/>
          </p:nvSpPr>
          <p:spPr>
            <a:xfrm>
              <a:off x="2208" y="1968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OP ( IR )       CU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4356" name="Line 11"/>
            <p:cNvSpPr/>
            <p:nvPr/>
          </p:nvSpPr>
          <p:spPr>
            <a:xfrm>
              <a:off x="2989" y="2133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6764" name="Rectangle 12"/>
          <p:cNvSpPr/>
          <p:nvPr/>
        </p:nvSpPr>
        <p:spPr>
          <a:xfrm>
            <a:off x="1244600" y="4572000"/>
            <a:ext cx="2519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rIns="90000" anchor="ctr" anchorCtr="0"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CU  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受标志控制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6765" name="Rectangle 13"/>
          <p:cNvSpPr/>
          <p:nvPr/>
        </p:nvSpPr>
        <p:spPr>
          <a:xfrm>
            <a:off x="2052638" y="5715000"/>
            <a:ext cx="3509962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INTR      </a:t>
            </a:r>
            <a:r>
              <a:rPr lang="zh-CN" altLang="en-US" sz="2400" dirty="0">
                <a:latin typeface="Times New Roman" panose="02020603050405020304" pitchFamily="18" charset="0"/>
              </a:rPr>
              <a:t>中断请求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66" name="Rectangle 14"/>
          <p:cNvSpPr/>
          <p:nvPr/>
        </p:nvSpPr>
        <p:spPr>
          <a:xfrm>
            <a:off x="2052638" y="6172200"/>
            <a:ext cx="3890962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HRQ       </a:t>
            </a:r>
            <a:r>
              <a:rPr lang="zh-CN" altLang="en-US" sz="2400" dirty="0">
                <a:latin typeface="Times New Roman" panose="02020603050405020304" pitchFamily="18" charset="0"/>
              </a:rPr>
              <a:t>总线请求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67" name="Text Box 15"/>
          <p:cNvSpPr txBox="1"/>
          <p:nvPr/>
        </p:nvSpPr>
        <p:spPr>
          <a:xfrm>
            <a:off x="1244600" y="19050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一个时钟脉冲   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68" name="Text Box 16"/>
          <p:cNvSpPr txBox="1"/>
          <p:nvPr/>
        </p:nvSpPr>
        <p:spPr>
          <a:xfrm>
            <a:off x="1244600" y="2459038"/>
            <a:ext cx="7532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发一个操作命令或一组需同时执行的操作命令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69" name="Text Box 17"/>
          <p:cNvSpPr txBox="1"/>
          <p:nvPr/>
        </p:nvSpPr>
        <p:spPr>
          <a:xfrm>
            <a:off x="1244600" y="5715000"/>
            <a:ext cx="4905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6770" name="Rectangle 1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53" name="AutoShape 1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pic>
        <p:nvPicPr>
          <p:cNvPr id="1435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388" y="3905250"/>
            <a:ext cx="3829050" cy="1962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6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6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6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6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6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5" grpId="0"/>
      <p:bldP spid="586756" grpId="0"/>
      <p:bldP spid="586757" grpId="0"/>
      <p:bldP spid="586758" grpId="0"/>
      <p:bldP spid="586759" grpId="0"/>
      <p:bldP spid="586760" grpId="0"/>
      <p:bldP spid="586764" grpId="0"/>
      <p:bldP spid="586765" grpId="0"/>
      <p:bldP spid="586766" grpId="0"/>
      <p:bldP spid="586767" grpId="0"/>
      <p:bldP spid="586768" grpId="0"/>
      <p:bldP spid="5867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/>
          <p:nvPr/>
        </p:nvSpPr>
        <p:spPr>
          <a:xfrm>
            <a:off x="609600" y="3048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2. 输出信号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87779" name="Rectangle 3"/>
          <p:cNvSpPr/>
          <p:nvPr/>
        </p:nvSpPr>
        <p:spPr>
          <a:xfrm>
            <a:off x="914400" y="838200"/>
            <a:ext cx="4678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内的各种控制信号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7780" name="Rectangle 4"/>
          <p:cNvSpPr/>
          <p:nvPr/>
        </p:nvSpPr>
        <p:spPr>
          <a:xfrm>
            <a:off x="914400" y="2819400"/>
            <a:ext cx="4678363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送至控制总线的信号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87781" name="Group 5"/>
          <p:cNvGrpSpPr/>
          <p:nvPr/>
        </p:nvGrpSpPr>
        <p:grpSpPr>
          <a:xfrm>
            <a:off x="2052638" y="1250950"/>
            <a:ext cx="2519362" cy="533400"/>
            <a:chOff x="1293" y="788"/>
            <a:chExt cx="1587" cy="336"/>
          </a:xfrm>
        </p:grpSpPr>
        <p:sp>
          <p:nvSpPr>
            <p:cNvPr id="15395" name="Rectangle 6"/>
            <p:cNvSpPr/>
            <p:nvPr/>
          </p:nvSpPr>
          <p:spPr>
            <a:xfrm>
              <a:off x="1293" y="788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R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j</a:t>
              </a:r>
              <a:endParaRPr lang="en-US" altLang="zh-CN" sz="24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5396" name="Line 7"/>
            <p:cNvSpPr/>
            <p:nvPr/>
          </p:nvSpPr>
          <p:spPr>
            <a:xfrm>
              <a:off x="1549" y="96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7784" name="Group 8"/>
          <p:cNvGrpSpPr/>
          <p:nvPr/>
        </p:nvGrpSpPr>
        <p:grpSpPr>
          <a:xfrm>
            <a:off x="2052638" y="1692275"/>
            <a:ext cx="2519362" cy="533400"/>
            <a:chOff x="1293" y="1066"/>
            <a:chExt cx="1587" cy="336"/>
          </a:xfrm>
        </p:grpSpPr>
        <p:sp>
          <p:nvSpPr>
            <p:cNvPr id="15393" name="Rectangle 9"/>
            <p:cNvSpPr/>
            <p:nvPr/>
          </p:nvSpPr>
          <p:spPr>
            <a:xfrm>
              <a:off x="1293" y="1066"/>
              <a:ext cx="158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PC) + 1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94" name="Line 10"/>
            <p:cNvSpPr/>
            <p:nvPr/>
          </p:nvSpPr>
          <p:spPr>
            <a:xfrm>
              <a:off x="2029" y="1240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7787" name="Rectangle 11"/>
          <p:cNvSpPr/>
          <p:nvPr/>
        </p:nvSpPr>
        <p:spPr>
          <a:xfrm>
            <a:off x="2052638" y="5683250"/>
            <a:ext cx="10795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INTA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87788" name="Rectangle 12"/>
          <p:cNvSpPr/>
          <p:nvPr/>
        </p:nvSpPr>
        <p:spPr>
          <a:xfrm>
            <a:off x="2052638" y="6248400"/>
            <a:ext cx="10795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0" rIns="0" anchor="ctr" anchorCtr="0"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HLDA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87789" name="Rectangle 13"/>
          <p:cNvSpPr/>
          <p:nvPr/>
        </p:nvSpPr>
        <p:spPr>
          <a:xfrm>
            <a:off x="3962400" y="34290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访存控制信号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7790" name="Rectangle 14"/>
          <p:cNvSpPr/>
          <p:nvPr/>
        </p:nvSpPr>
        <p:spPr>
          <a:xfrm>
            <a:off x="3962400" y="3962400"/>
            <a:ext cx="42672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访 </a:t>
            </a:r>
            <a:r>
              <a:rPr lang="en-US" altLang="zh-CN" sz="2400" dirty="0">
                <a:latin typeface="Times New Roman" panose="02020603050405020304" pitchFamily="18" charset="0"/>
              </a:rPr>
              <a:t>IO</a:t>
            </a:r>
            <a:r>
              <a:rPr lang="en-US" altLang="zh-CN" sz="3200" dirty="0">
                <a:latin typeface="Times New Roman" panose="02020603050405020304" pitchFamily="18" charset="0"/>
              </a:rPr>
              <a:t>/</a:t>
            </a:r>
            <a:r>
              <a:rPr lang="en-US" altLang="zh-CN" sz="1000" dirty="0"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</a:rPr>
              <a:t>存储器的控制信号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7791" name="Rectangle 15"/>
          <p:cNvSpPr/>
          <p:nvPr/>
        </p:nvSpPr>
        <p:spPr>
          <a:xfrm>
            <a:off x="3962400" y="4556125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读命令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7792" name="Rectangle 16"/>
          <p:cNvSpPr/>
          <p:nvPr/>
        </p:nvSpPr>
        <p:spPr>
          <a:xfrm>
            <a:off x="3962400" y="5119688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写命令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7793" name="Rectangle 17"/>
          <p:cNvSpPr/>
          <p:nvPr/>
        </p:nvSpPr>
        <p:spPr>
          <a:xfrm>
            <a:off x="3962400" y="568325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中断响应信号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87794" name="Rectangle 18"/>
          <p:cNvSpPr/>
          <p:nvPr/>
        </p:nvSpPr>
        <p:spPr>
          <a:xfrm>
            <a:off x="3962400" y="6248400"/>
            <a:ext cx="3238500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总线响应信号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87795" name="Group 19"/>
          <p:cNvGrpSpPr/>
          <p:nvPr/>
        </p:nvGrpSpPr>
        <p:grpSpPr>
          <a:xfrm>
            <a:off x="2052638" y="3429000"/>
            <a:ext cx="1114425" cy="533400"/>
            <a:chOff x="986" y="2064"/>
            <a:chExt cx="702" cy="336"/>
          </a:xfrm>
        </p:grpSpPr>
        <p:sp>
          <p:nvSpPr>
            <p:cNvPr id="15391" name="Rectangle 20"/>
            <p:cNvSpPr/>
            <p:nvPr/>
          </p:nvSpPr>
          <p:spPr>
            <a:xfrm>
              <a:off x="1008" y="2064"/>
              <a:ext cx="68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MREQ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92" name="Line 21"/>
            <p:cNvSpPr/>
            <p:nvPr/>
          </p:nvSpPr>
          <p:spPr>
            <a:xfrm>
              <a:off x="986" y="2135"/>
              <a:ext cx="62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7798" name="Group 22"/>
          <p:cNvGrpSpPr/>
          <p:nvPr/>
        </p:nvGrpSpPr>
        <p:grpSpPr>
          <a:xfrm>
            <a:off x="2052638" y="3992563"/>
            <a:ext cx="1079500" cy="533400"/>
            <a:chOff x="1008" y="2400"/>
            <a:chExt cx="680" cy="336"/>
          </a:xfrm>
        </p:grpSpPr>
        <p:sp>
          <p:nvSpPr>
            <p:cNvPr id="15389" name="Rectangle 23"/>
            <p:cNvSpPr/>
            <p:nvPr/>
          </p:nvSpPr>
          <p:spPr>
            <a:xfrm>
              <a:off x="1008" y="2400"/>
              <a:ext cx="68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IO/M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90" name="Line 24"/>
            <p:cNvSpPr/>
            <p:nvPr/>
          </p:nvSpPr>
          <p:spPr>
            <a:xfrm>
              <a:off x="1008" y="2471"/>
              <a:ext cx="2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7801" name="Group 25"/>
          <p:cNvGrpSpPr/>
          <p:nvPr/>
        </p:nvGrpSpPr>
        <p:grpSpPr>
          <a:xfrm>
            <a:off x="2052638" y="4556125"/>
            <a:ext cx="1122362" cy="533400"/>
            <a:chOff x="981" y="2736"/>
            <a:chExt cx="707" cy="336"/>
          </a:xfrm>
        </p:grpSpPr>
        <p:sp>
          <p:nvSpPr>
            <p:cNvPr id="15387" name="Rectangle 26"/>
            <p:cNvSpPr/>
            <p:nvPr/>
          </p:nvSpPr>
          <p:spPr>
            <a:xfrm>
              <a:off x="1008" y="2736"/>
              <a:ext cx="68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88" name="Line 27"/>
            <p:cNvSpPr/>
            <p:nvPr/>
          </p:nvSpPr>
          <p:spPr>
            <a:xfrm>
              <a:off x="981" y="2806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7804" name="Group 28"/>
          <p:cNvGrpSpPr/>
          <p:nvPr/>
        </p:nvGrpSpPr>
        <p:grpSpPr>
          <a:xfrm>
            <a:off x="2052638" y="5119688"/>
            <a:ext cx="1079500" cy="533400"/>
            <a:chOff x="1293" y="3225"/>
            <a:chExt cx="680" cy="336"/>
          </a:xfrm>
        </p:grpSpPr>
        <p:sp>
          <p:nvSpPr>
            <p:cNvPr id="15385" name="Rectangle 29"/>
            <p:cNvSpPr/>
            <p:nvPr/>
          </p:nvSpPr>
          <p:spPr>
            <a:xfrm>
              <a:off x="1293" y="3225"/>
              <a:ext cx="68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WR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86" name="Line 30"/>
            <p:cNvSpPr/>
            <p:nvPr/>
          </p:nvSpPr>
          <p:spPr>
            <a:xfrm>
              <a:off x="1293" y="3295"/>
              <a:ext cx="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7812" name="Group 36"/>
          <p:cNvGrpSpPr/>
          <p:nvPr/>
        </p:nvGrpSpPr>
        <p:grpSpPr>
          <a:xfrm>
            <a:off x="2052638" y="2176463"/>
            <a:ext cx="4678362" cy="566737"/>
            <a:chOff x="1293" y="1371"/>
            <a:chExt cx="2947" cy="357"/>
          </a:xfrm>
        </p:grpSpPr>
        <p:sp>
          <p:nvSpPr>
            <p:cNvPr id="15383" name="Rectangle 32"/>
            <p:cNvSpPr/>
            <p:nvPr/>
          </p:nvSpPr>
          <p:spPr>
            <a:xfrm>
              <a:off x="1293" y="1392"/>
              <a:ext cx="294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rIns="0" anchor="ctr" anchorCtr="0"/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ALU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   ＋、－、与、或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84" name="Text Box 33"/>
            <p:cNvSpPr txBox="1"/>
            <p:nvPr/>
          </p:nvSpPr>
          <p:spPr>
            <a:xfrm>
              <a:off x="3311" y="1371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……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87810" name="Rectangle 3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81" name="AutoShape 3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pic>
        <p:nvPicPr>
          <p:cNvPr id="1538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225" y="992188"/>
            <a:ext cx="3417888" cy="1751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8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8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8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8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79" grpId="0"/>
      <p:bldP spid="587780" grpId="0"/>
      <p:bldP spid="587787" grpId="0"/>
      <p:bldP spid="587788" grpId="0"/>
      <p:bldP spid="587789" grpId="0"/>
      <p:bldP spid="587790" grpId="0"/>
      <p:bldP spid="587791" grpId="0"/>
      <p:bldP spid="587792" grpId="0"/>
      <p:bldP spid="587793" grpId="0"/>
      <p:bldP spid="5877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Text Box 2"/>
          <p:cNvSpPr txBox="1"/>
          <p:nvPr/>
        </p:nvSpPr>
        <p:spPr>
          <a:xfrm>
            <a:off x="441325" y="244475"/>
            <a:ext cx="38544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二、控制信号举例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6387" name="Rectangle 3"/>
          <p:cNvSpPr/>
          <p:nvPr/>
        </p:nvSpPr>
        <p:spPr>
          <a:xfrm rot="5400000">
            <a:off x="3038475" y="3505200"/>
            <a:ext cx="457200" cy="10668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PC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6388" name="Rectangle 4"/>
          <p:cNvSpPr/>
          <p:nvPr/>
        </p:nvSpPr>
        <p:spPr>
          <a:xfrm rot="5400000">
            <a:off x="4638675" y="3505200"/>
            <a:ext cx="457200" cy="10668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IR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6389" name="Rectangle 5"/>
          <p:cNvSpPr/>
          <p:nvPr/>
        </p:nvSpPr>
        <p:spPr>
          <a:xfrm rot="5400000">
            <a:off x="6619875" y="2971800"/>
            <a:ext cx="457200" cy="10668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AC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88806" name="Rectangle 6"/>
          <p:cNvSpPr/>
          <p:nvPr/>
        </p:nvSpPr>
        <p:spPr>
          <a:xfrm>
            <a:off x="4410075" y="5257800"/>
            <a:ext cx="914400" cy="5334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CU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6391" name="Rectangle 7"/>
          <p:cNvSpPr/>
          <p:nvPr/>
        </p:nvSpPr>
        <p:spPr>
          <a:xfrm rot="5400000">
            <a:off x="3609975" y="5753100"/>
            <a:ext cx="381000" cy="9144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zh-CN" altLang="en-US" sz="2000" dirty="0">
                <a:latin typeface="Times New Roman" panose="02020603050405020304" pitchFamily="18" charset="0"/>
              </a:rPr>
              <a:t>时钟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8808" name="Rectangle 8"/>
          <p:cNvSpPr/>
          <p:nvPr/>
        </p:nvSpPr>
        <p:spPr>
          <a:xfrm>
            <a:off x="6435725" y="4648200"/>
            <a:ext cx="914400" cy="5334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ALU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588815" name="Group 15"/>
          <p:cNvGrpSpPr/>
          <p:nvPr/>
        </p:nvGrpSpPr>
        <p:grpSpPr>
          <a:xfrm>
            <a:off x="2200275" y="3124200"/>
            <a:ext cx="341313" cy="2133600"/>
            <a:chOff x="1386" y="1968"/>
            <a:chExt cx="215" cy="1344"/>
          </a:xfrm>
        </p:grpSpPr>
        <p:sp>
          <p:nvSpPr>
            <p:cNvPr id="16500" name="Oval 16"/>
            <p:cNvSpPr/>
            <p:nvPr/>
          </p:nvSpPr>
          <p:spPr>
            <a:xfrm>
              <a:off x="1553" y="22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501" name="Freeform 17"/>
            <p:cNvSpPr/>
            <p:nvPr/>
          </p:nvSpPr>
          <p:spPr>
            <a:xfrm>
              <a:off x="1578" y="1968"/>
              <a:ext cx="1" cy="2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94"/>
                </a:cxn>
              </a:cxnLst>
              <a:pathLst>
                <a:path w="1" h="294">
                  <a:moveTo>
                    <a:pt x="0" y="0"/>
                  </a:moveTo>
                  <a:lnTo>
                    <a:pt x="0" y="29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502" name="Freeform 18"/>
            <p:cNvSpPr/>
            <p:nvPr/>
          </p:nvSpPr>
          <p:spPr>
            <a:xfrm>
              <a:off x="1386" y="2304"/>
              <a:ext cx="192" cy="1008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192" y="1008"/>
                </a:cxn>
                <a:cxn ang="0">
                  <a:pos x="0" y="1008"/>
                </a:cxn>
              </a:cxnLst>
              <a:pathLst>
                <a:path w="192" h="1008">
                  <a:moveTo>
                    <a:pt x="192" y="0"/>
                  </a:moveTo>
                  <a:lnTo>
                    <a:pt x="192" y="1008"/>
                  </a:lnTo>
                  <a:lnTo>
                    <a:pt x="0" y="10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88819" name="Group 19"/>
          <p:cNvGrpSpPr/>
          <p:nvPr/>
        </p:nvGrpSpPr>
        <p:grpSpPr>
          <a:xfrm>
            <a:off x="2200275" y="4267200"/>
            <a:ext cx="1108075" cy="1524000"/>
            <a:chOff x="1386" y="2688"/>
            <a:chExt cx="698" cy="960"/>
          </a:xfrm>
        </p:grpSpPr>
        <p:sp>
          <p:nvSpPr>
            <p:cNvPr id="16497" name="Line 20"/>
            <p:cNvSpPr/>
            <p:nvPr/>
          </p:nvSpPr>
          <p:spPr>
            <a:xfrm>
              <a:off x="2058" y="2688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98" name="Freeform 21"/>
            <p:cNvSpPr/>
            <p:nvPr/>
          </p:nvSpPr>
          <p:spPr>
            <a:xfrm>
              <a:off x="1386" y="3072"/>
              <a:ext cx="672" cy="576"/>
            </a:xfrm>
            <a:custGeom>
              <a:avLst/>
              <a:gdLst/>
              <a:ahLst/>
              <a:cxnLst>
                <a:cxn ang="0">
                  <a:pos x="672" y="0"/>
                </a:cxn>
                <a:cxn ang="0">
                  <a:pos x="672" y="576"/>
                </a:cxn>
                <a:cxn ang="0">
                  <a:pos x="0" y="576"/>
                </a:cxn>
              </a:cxnLst>
              <a:pathLst>
                <a:path w="672" h="576">
                  <a:moveTo>
                    <a:pt x="672" y="0"/>
                  </a:moveTo>
                  <a:lnTo>
                    <a:pt x="672" y="576"/>
                  </a:lnTo>
                  <a:lnTo>
                    <a:pt x="0" y="57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99" name="Oval 22"/>
            <p:cNvSpPr/>
            <p:nvPr/>
          </p:nvSpPr>
          <p:spPr>
            <a:xfrm>
              <a:off x="2036" y="302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88823" name="Group 23"/>
          <p:cNvGrpSpPr/>
          <p:nvPr/>
        </p:nvGrpSpPr>
        <p:grpSpPr>
          <a:xfrm>
            <a:off x="2200275" y="3124200"/>
            <a:ext cx="2627313" cy="685800"/>
            <a:chOff x="1386" y="1968"/>
            <a:chExt cx="1655" cy="432"/>
          </a:xfrm>
        </p:grpSpPr>
        <p:sp>
          <p:nvSpPr>
            <p:cNvPr id="16493" name="Freeform 24"/>
            <p:cNvSpPr/>
            <p:nvPr/>
          </p:nvSpPr>
          <p:spPr>
            <a:xfrm>
              <a:off x="1386" y="1968"/>
              <a:ext cx="1632" cy="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32" y="3"/>
                </a:cxn>
              </a:cxnLst>
              <a:pathLst>
                <a:path w="1632" h="3">
                  <a:moveTo>
                    <a:pt x="0" y="0"/>
                  </a:moveTo>
                  <a:lnTo>
                    <a:pt x="1632" y="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94" name="Oval 25"/>
            <p:cNvSpPr/>
            <p:nvPr/>
          </p:nvSpPr>
          <p:spPr>
            <a:xfrm>
              <a:off x="2993" y="220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95" name="Line 26"/>
            <p:cNvSpPr/>
            <p:nvPr/>
          </p:nvSpPr>
          <p:spPr>
            <a:xfrm>
              <a:off x="3018" y="196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16496" name="Line 27"/>
            <p:cNvSpPr/>
            <p:nvPr/>
          </p:nvSpPr>
          <p:spPr>
            <a:xfrm>
              <a:off x="3018" y="2256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8828" name="Group 28"/>
          <p:cNvGrpSpPr/>
          <p:nvPr/>
        </p:nvGrpSpPr>
        <p:grpSpPr>
          <a:xfrm>
            <a:off x="4829175" y="4267200"/>
            <a:ext cx="76200" cy="990600"/>
            <a:chOff x="3042" y="2688"/>
            <a:chExt cx="48" cy="624"/>
          </a:xfrm>
        </p:grpSpPr>
        <p:sp>
          <p:nvSpPr>
            <p:cNvPr id="16490" name="Line 29"/>
            <p:cNvSpPr/>
            <p:nvPr/>
          </p:nvSpPr>
          <p:spPr>
            <a:xfrm>
              <a:off x="3066" y="2688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91" name="Oval 30"/>
            <p:cNvSpPr/>
            <p:nvPr/>
          </p:nvSpPr>
          <p:spPr>
            <a:xfrm>
              <a:off x="3042" y="302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92" name="Line 31"/>
            <p:cNvSpPr/>
            <p:nvPr/>
          </p:nvSpPr>
          <p:spPr>
            <a:xfrm>
              <a:off x="3066" y="307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8832" name="Freeform 32"/>
          <p:cNvSpPr/>
          <p:nvPr/>
        </p:nvSpPr>
        <p:spPr>
          <a:xfrm>
            <a:off x="3800475" y="5486400"/>
            <a:ext cx="609600" cy="533400"/>
          </a:xfrm>
          <a:custGeom>
            <a:avLst/>
            <a:gdLst/>
            <a:ahLst/>
            <a:cxnLst>
              <a:cxn ang="0">
                <a:pos x="0" y="1185481500"/>
              </a:cxn>
              <a:cxn ang="0">
                <a:pos x="0" y="0"/>
              </a:cxn>
              <a:cxn ang="0">
                <a:pos x="967740000" y="0"/>
              </a:cxn>
            </a:cxnLst>
            <a:pathLst>
              <a:path w="384" h="240">
                <a:moveTo>
                  <a:pt x="0" y="240"/>
                </a:moveTo>
                <a:lnTo>
                  <a:pt x="0" y="0"/>
                </a:lnTo>
                <a:lnTo>
                  <a:pt x="384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588833" name="Group 33"/>
          <p:cNvGrpSpPr/>
          <p:nvPr/>
        </p:nvGrpSpPr>
        <p:grpSpPr>
          <a:xfrm>
            <a:off x="5589588" y="3500438"/>
            <a:ext cx="844550" cy="1300162"/>
            <a:chOff x="3521" y="2205"/>
            <a:chExt cx="532" cy="819"/>
          </a:xfrm>
        </p:grpSpPr>
        <p:sp>
          <p:nvSpPr>
            <p:cNvPr id="16487" name="Freeform 34"/>
            <p:cNvSpPr/>
            <p:nvPr/>
          </p:nvSpPr>
          <p:spPr>
            <a:xfrm>
              <a:off x="3549" y="2205"/>
              <a:ext cx="1" cy="5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76"/>
                </a:cxn>
              </a:cxnLst>
              <a:pathLst>
                <a:path w="1" h="576">
                  <a:moveTo>
                    <a:pt x="0" y="0"/>
                  </a:moveTo>
                  <a:lnTo>
                    <a:pt x="0" y="57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88" name="Oval 35"/>
            <p:cNvSpPr/>
            <p:nvPr/>
          </p:nvSpPr>
          <p:spPr>
            <a:xfrm>
              <a:off x="3521" y="278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89" name="Freeform 36"/>
            <p:cNvSpPr/>
            <p:nvPr/>
          </p:nvSpPr>
          <p:spPr>
            <a:xfrm>
              <a:off x="3546" y="2832"/>
              <a:ext cx="507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2"/>
                </a:cxn>
                <a:cxn ang="0">
                  <a:pos x="507" y="192"/>
                </a:cxn>
              </a:cxnLst>
              <a:pathLst>
                <a:path w="507" h="192">
                  <a:moveTo>
                    <a:pt x="0" y="0"/>
                  </a:moveTo>
                  <a:lnTo>
                    <a:pt x="0" y="192"/>
                  </a:lnTo>
                  <a:lnTo>
                    <a:pt x="507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88837" name="Group 37"/>
          <p:cNvGrpSpPr/>
          <p:nvPr/>
        </p:nvGrpSpPr>
        <p:grpSpPr>
          <a:xfrm>
            <a:off x="4638675" y="5699125"/>
            <a:ext cx="533400" cy="396875"/>
            <a:chOff x="2922" y="3590"/>
            <a:chExt cx="336" cy="250"/>
          </a:xfrm>
        </p:grpSpPr>
        <p:sp>
          <p:nvSpPr>
            <p:cNvPr id="16484" name="Line 38"/>
            <p:cNvSpPr/>
            <p:nvPr/>
          </p:nvSpPr>
          <p:spPr>
            <a:xfrm rot="-5400000" flipH="1">
              <a:off x="2826" y="374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85" name="Line 39"/>
            <p:cNvSpPr/>
            <p:nvPr/>
          </p:nvSpPr>
          <p:spPr>
            <a:xfrm rot="-5400000" flipH="1">
              <a:off x="3162" y="374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86" name="Text Box 40"/>
            <p:cNvSpPr txBox="1"/>
            <p:nvPr/>
          </p:nvSpPr>
          <p:spPr>
            <a:xfrm>
              <a:off x="2970" y="359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41" name="Group 41"/>
          <p:cNvGrpSpPr/>
          <p:nvPr/>
        </p:nvGrpSpPr>
        <p:grpSpPr>
          <a:xfrm>
            <a:off x="5324475" y="5334000"/>
            <a:ext cx="488950" cy="381000"/>
            <a:chOff x="3354" y="3360"/>
            <a:chExt cx="308" cy="240"/>
          </a:xfrm>
        </p:grpSpPr>
        <p:sp>
          <p:nvSpPr>
            <p:cNvPr id="16481" name="Line 42"/>
            <p:cNvSpPr/>
            <p:nvPr/>
          </p:nvSpPr>
          <p:spPr>
            <a:xfrm flipH="1">
              <a:off x="3354" y="336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82" name="Line 43"/>
            <p:cNvSpPr/>
            <p:nvPr/>
          </p:nvSpPr>
          <p:spPr>
            <a:xfrm flipH="1">
              <a:off x="3354" y="360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83" name="Text Box 44"/>
            <p:cNvSpPr txBox="1"/>
            <p:nvPr/>
          </p:nvSpPr>
          <p:spPr>
            <a:xfrm>
              <a:off x="3354" y="3379"/>
              <a:ext cx="30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45" name="Group 45"/>
          <p:cNvGrpSpPr/>
          <p:nvPr/>
        </p:nvGrpSpPr>
        <p:grpSpPr>
          <a:xfrm>
            <a:off x="7350125" y="4724400"/>
            <a:ext cx="488950" cy="381000"/>
            <a:chOff x="4630" y="2976"/>
            <a:chExt cx="308" cy="240"/>
          </a:xfrm>
        </p:grpSpPr>
        <p:sp>
          <p:nvSpPr>
            <p:cNvPr id="16478" name="Line 46"/>
            <p:cNvSpPr/>
            <p:nvPr/>
          </p:nvSpPr>
          <p:spPr>
            <a:xfrm flipH="1">
              <a:off x="4630" y="2976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79" name="Line 47"/>
            <p:cNvSpPr/>
            <p:nvPr/>
          </p:nvSpPr>
          <p:spPr>
            <a:xfrm flipH="1">
              <a:off x="4630" y="3216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80" name="Text Box 48"/>
            <p:cNvSpPr txBox="1"/>
            <p:nvPr/>
          </p:nvSpPr>
          <p:spPr>
            <a:xfrm>
              <a:off x="4630" y="2995"/>
              <a:ext cx="30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49" name="Group 49"/>
          <p:cNvGrpSpPr/>
          <p:nvPr/>
        </p:nvGrpSpPr>
        <p:grpSpPr>
          <a:xfrm>
            <a:off x="6553200" y="3733800"/>
            <a:ext cx="76200" cy="914400"/>
            <a:chOff x="4128" y="2352"/>
            <a:chExt cx="48" cy="576"/>
          </a:xfrm>
        </p:grpSpPr>
        <p:sp>
          <p:nvSpPr>
            <p:cNvPr id="16475" name="Oval 50"/>
            <p:cNvSpPr/>
            <p:nvPr/>
          </p:nvSpPr>
          <p:spPr>
            <a:xfrm>
              <a:off x="4128" y="259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76" name="Line 51"/>
            <p:cNvSpPr/>
            <p:nvPr/>
          </p:nvSpPr>
          <p:spPr>
            <a:xfrm>
              <a:off x="4154" y="235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16477" name="Freeform 52"/>
            <p:cNvSpPr/>
            <p:nvPr/>
          </p:nvSpPr>
          <p:spPr>
            <a:xfrm>
              <a:off x="4151" y="2646"/>
              <a:ext cx="3" cy="28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82"/>
                </a:cxn>
              </a:cxnLst>
              <a:pathLst>
                <a:path w="3" h="282">
                  <a:moveTo>
                    <a:pt x="3" y="0"/>
                  </a:moveTo>
                  <a:lnTo>
                    <a:pt x="0" y="28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88853" name="Group 53"/>
          <p:cNvGrpSpPr/>
          <p:nvPr/>
        </p:nvGrpSpPr>
        <p:grpSpPr>
          <a:xfrm>
            <a:off x="6959600" y="3733800"/>
            <a:ext cx="76200" cy="904875"/>
            <a:chOff x="4384" y="2352"/>
            <a:chExt cx="48" cy="570"/>
          </a:xfrm>
        </p:grpSpPr>
        <p:sp>
          <p:nvSpPr>
            <p:cNvPr id="16472" name="Oval 54"/>
            <p:cNvSpPr/>
            <p:nvPr/>
          </p:nvSpPr>
          <p:spPr>
            <a:xfrm>
              <a:off x="4384" y="259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73" name="Line 55"/>
            <p:cNvSpPr/>
            <p:nvPr/>
          </p:nvSpPr>
          <p:spPr>
            <a:xfrm>
              <a:off x="4410" y="235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6474" name="Freeform 56"/>
            <p:cNvSpPr/>
            <p:nvPr/>
          </p:nvSpPr>
          <p:spPr>
            <a:xfrm>
              <a:off x="4410" y="2646"/>
              <a:ext cx="1" cy="2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76"/>
                </a:cxn>
              </a:cxnLst>
              <a:pathLst>
                <a:path w="1" h="276">
                  <a:moveTo>
                    <a:pt x="0" y="0"/>
                  </a:moveTo>
                  <a:lnTo>
                    <a:pt x="0" y="27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88857" name="Group 57"/>
          <p:cNvGrpSpPr/>
          <p:nvPr/>
        </p:nvGrpSpPr>
        <p:grpSpPr>
          <a:xfrm>
            <a:off x="1057275" y="2590800"/>
            <a:ext cx="690563" cy="76200"/>
            <a:chOff x="666" y="1632"/>
            <a:chExt cx="435" cy="48"/>
          </a:xfrm>
        </p:grpSpPr>
        <p:sp>
          <p:nvSpPr>
            <p:cNvPr id="16469" name="Oval 58"/>
            <p:cNvSpPr/>
            <p:nvPr/>
          </p:nvSpPr>
          <p:spPr>
            <a:xfrm rot="5400000">
              <a:off x="909" y="163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70" name="Freeform 59"/>
            <p:cNvSpPr/>
            <p:nvPr/>
          </p:nvSpPr>
          <p:spPr>
            <a:xfrm>
              <a:off x="666" y="1659"/>
              <a:ext cx="243" cy="1"/>
            </a:xfrm>
            <a:custGeom>
              <a:avLst/>
              <a:gdLst/>
              <a:ahLst/>
              <a:cxnLst>
                <a:cxn ang="0">
                  <a:pos x="243" y="0"/>
                </a:cxn>
                <a:cxn ang="0">
                  <a:pos x="0" y="0"/>
                </a:cxn>
              </a:cxnLst>
              <a:pathLst>
                <a:path w="243" h="1">
                  <a:moveTo>
                    <a:pt x="243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71" name="Line 60"/>
            <p:cNvSpPr/>
            <p:nvPr/>
          </p:nvSpPr>
          <p:spPr>
            <a:xfrm rot="-5400000">
              <a:off x="1029" y="1584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8861" name="Group 61"/>
          <p:cNvGrpSpPr/>
          <p:nvPr/>
        </p:nvGrpSpPr>
        <p:grpSpPr>
          <a:xfrm>
            <a:off x="1057275" y="5486400"/>
            <a:ext cx="690563" cy="76200"/>
            <a:chOff x="666" y="3456"/>
            <a:chExt cx="435" cy="48"/>
          </a:xfrm>
        </p:grpSpPr>
        <p:sp>
          <p:nvSpPr>
            <p:cNvPr id="16466" name="Oval 62"/>
            <p:cNvSpPr/>
            <p:nvPr/>
          </p:nvSpPr>
          <p:spPr>
            <a:xfrm rot="5400000">
              <a:off x="909" y="34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67" name="Freeform 63"/>
            <p:cNvSpPr/>
            <p:nvPr/>
          </p:nvSpPr>
          <p:spPr>
            <a:xfrm>
              <a:off x="666" y="3483"/>
              <a:ext cx="243" cy="3"/>
            </a:xfrm>
            <a:custGeom>
              <a:avLst/>
              <a:gdLst/>
              <a:ahLst/>
              <a:cxnLst>
                <a:cxn ang="0">
                  <a:pos x="243" y="0"/>
                </a:cxn>
                <a:cxn ang="0">
                  <a:pos x="0" y="3"/>
                </a:cxn>
              </a:cxnLst>
              <a:pathLst>
                <a:path w="243" h="3">
                  <a:moveTo>
                    <a:pt x="243" y="0"/>
                  </a:moveTo>
                  <a:lnTo>
                    <a:pt x="0" y="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68" name="Line 64"/>
            <p:cNvSpPr/>
            <p:nvPr/>
          </p:nvSpPr>
          <p:spPr>
            <a:xfrm rot="-5400000">
              <a:off x="1029" y="340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8865" name="Text Box 65"/>
          <p:cNvSpPr txBox="1"/>
          <p:nvPr/>
        </p:nvSpPr>
        <p:spPr>
          <a:xfrm>
            <a:off x="4333875" y="6080125"/>
            <a:ext cx="12065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控制信号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8866" name="Text Box 66"/>
          <p:cNvSpPr txBox="1"/>
          <p:nvPr/>
        </p:nvSpPr>
        <p:spPr>
          <a:xfrm>
            <a:off x="5553075" y="5330825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标志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88867" name="Text Box 67"/>
          <p:cNvSpPr txBox="1"/>
          <p:nvPr/>
        </p:nvSpPr>
        <p:spPr>
          <a:xfrm>
            <a:off x="7686675" y="4568825"/>
            <a:ext cx="69532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控制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信号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588868" name="Group 68"/>
          <p:cNvGrpSpPr/>
          <p:nvPr/>
        </p:nvGrpSpPr>
        <p:grpSpPr>
          <a:xfrm>
            <a:off x="4800600" y="3124200"/>
            <a:ext cx="1514475" cy="423863"/>
            <a:chOff x="3024" y="1968"/>
            <a:chExt cx="954" cy="267"/>
          </a:xfrm>
        </p:grpSpPr>
        <p:sp>
          <p:nvSpPr>
            <p:cNvPr id="16461" name="Oval 69"/>
            <p:cNvSpPr/>
            <p:nvPr/>
          </p:nvSpPr>
          <p:spPr>
            <a:xfrm rot="5400000">
              <a:off x="3786" y="218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62" name="Freeform 70"/>
            <p:cNvSpPr/>
            <p:nvPr/>
          </p:nvSpPr>
          <p:spPr>
            <a:xfrm>
              <a:off x="3546" y="2214"/>
              <a:ext cx="240" cy="1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0" y="0"/>
                </a:cxn>
              </a:cxnLst>
              <a:pathLst>
                <a:path w="240" h="1">
                  <a:moveTo>
                    <a:pt x="24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63" name="Line 71"/>
            <p:cNvSpPr/>
            <p:nvPr/>
          </p:nvSpPr>
          <p:spPr>
            <a:xfrm rot="-5400000">
              <a:off x="3906" y="2139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6464" name="Line 72"/>
            <p:cNvSpPr/>
            <p:nvPr/>
          </p:nvSpPr>
          <p:spPr>
            <a:xfrm>
              <a:off x="3024" y="1971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16465" name="Freeform 73"/>
            <p:cNvSpPr/>
            <p:nvPr/>
          </p:nvSpPr>
          <p:spPr>
            <a:xfrm>
              <a:off x="3546" y="1968"/>
              <a:ext cx="1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</a:cxnLst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88874" name="Group 74"/>
          <p:cNvGrpSpPr/>
          <p:nvPr/>
        </p:nvGrpSpPr>
        <p:grpSpPr>
          <a:xfrm>
            <a:off x="3314700" y="4648200"/>
            <a:ext cx="714375" cy="396875"/>
            <a:chOff x="2088" y="2928"/>
            <a:chExt cx="450" cy="250"/>
          </a:xfrm>
        </p:grpSpPr>
        <p:sp>
          <p:nvSpPr>
            <p:cNvPr id="16459" name="Freeform 75"/>
            <p:cNvSpPr/>
            <p:nvPr/>
          </p:nvSpPr>
          <p:spPr>
            <a:xfrm>
              <a:off x="2088" y="3048"/>
              <a:ext cx="201" cy="3"/>
            </a:xfrm>
            <a:custGeom>
              <a:avLst/>
              <a:gdLst/>
              <a:ahLst/>
              <a:cxnLst>
                <a:cxn ang="0">
                  <a:pos x="201" y="3"/>
                </a:cxn>
                <a:cxn ang="0">
                  <a:pos x="0" y="0"/>
                </a:cxn>
              </a:cxnLst>
              <a:pathLst>
                <a:path w="201" h="3">
                  <a:moveTo>
                    <a:pt x="201" y="3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60" name="Text Box 76"/>
            <p:cNvSpPr txBox="1"/>
            <p:nvPr/>
          </p:nvSpPr>
          <p:spPr>
            <a:xfrm>
              <a:off x="2258" y="2928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77" name="Group 77"/>
          <p:cNvGrpSpPr/>
          <p:nvPr/>
        </p:nvGrpSpPr>
        <p:grpSpPr>
          <a:xfrm>
            <a:off x="2209800" y="4267200"/>
            <a:ext cx="1108075" cy="1524000"/>
            <a:chOff x="1392" y="2688"/>
            <a:chExt cx="698" cy="960"/>
          </a:xfrm>
        </p:grpSpPr>
        <p:sp>
          <p:nvSpPr>
            <p:cNvPr id="16456" name="Line 78"/>
            <p:cNvSpPr/>
            <p:nvPr/>
          </p:nvSpPr>
          <p:spPr>
            <a:xfrm>
              <a:off x="2064" y="2688"/>
              <a:ext cx="0" cy="336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57" name="Freeform 79"/>
            <p:cNvSpPr/>
            <p:nvPr/>
          </p:nvSpPr>
          <p:spPr>
            <a:xfrm>
              <a:off x="1392" y="3072"/>
              <a:ext cx="672" cy="576"/>
            </a:xfrm>
            <a:custGeom>
              <a:avLst/>
              <a:gdLst/>
              <a:ahLst/>
              <a:cxnLst>
                <a:cxn ang="0">
                  <a:pos x="672" y="0"/>
                </a:cxn>
                <a:cxn ang="0">
                  <a:pos x="672" y="576"/>
                </a:cxn>
                <a:cxn ang="0">
                  <a:pos x="0" y="576"/>
                </a:cxn>
              </a:cxnLst>
              <a:pathLst>
                <a:path w="672" h="576">
                  <a:moveTo>
                    <a:pt x="672" y="0"/>
                  </a:moveTo>
                  <a:lnTo>
                    <a:pt x="672" y="576"/>
                  </a:lnTo>
                  <a:lnTo>
                    <a:pt x="0" y="576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58" name="Oval 80"/>
            <p:cNvSpPr/>
            <p:nvPr/>
          </p:nvSpPr>
          <p:spPr>
            <a:xfrm>
              <a:off x="2042" y="3024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88881" name="Group 81"/>
          <p:cNvGrpSpPr/>
          <p:nvPr/>
        </p:nvGrpSpPr>
        <p:grpSpPr>
          <a:xfrm>
            <a:off x="1298575" y="4800600"/>
            <a:ext cx="444500" cy="681038"/>
            <a:chOff x="818" y="3024"/>
            <a:chExt cx="280" cy="429"/>
          </a:xfrm>
        </p:grpSpPr>
        <p:sp>
          <p:nvSpPr>
            <p:cNvPr id="16454" name="Freeform 82"/>
            <p:cNvSpPr/>
            <p:nvPr/>
          </p:nvSpPr>
          <p:spPr>
            <a:xfrm>
              <a:off x="933" y="3258"/>
              <a:ext cx="1" cy="1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5"/>
                </a:cxn>
              </a:cxnLst>
              <a:pathLst>
                <a:path w="1" h="195">
                  <a:moveTo>
                    <a:pt x="0" y="0"/>
                  </a:moveTo>
                  <a:lnTo>
                    <a:pt x="0" y="195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55" name="Text Box 83"/>
            <p:cNvSpPr txBox="1"/>
            <p:nvPr/>
          </p:nvSpPr>
          <p:spPr>
            <a:xfrm>
              <a:off x="818" y="3024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84" name="Group 84"/>
          <p:cNvGrpSpPr/>
          <p:nvPr/>
        </p:nvGrpSpPr>
        <p:grpSpPr>
          <a:xfrm>
            <a:off x="1066800" y="5486400"/>
            <a:ext cx="690563" cy="76200"/>
            <a:chOff x="672" y="3456"/>
            <a:chExt cx="435" cy="48"/>
          </a:xfrm>
        </p:grpSpPr>
        <p:sp>
          <p:nvSpPr>
            <p:cNvPr id="16451" name="Oval 85"/>
            <p:cNvSpPr/>
            <p:nvPr/>
          </p:nvSpPr>
          <p:spPr>
            <a:xfrm rot="5400000">
              <a:off x="915" y="345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52" name="Freeform 86"/>
            <p:cNvSpPr/>
            <p:nvPr/>
          </p:nvSpPr>
          <p:spPr>
            <a:xfrm>
              <a:off x="672" y="3483"/>
              <a:ext cx="243" cy="3"/>
            </a:xfrm>
            <a:custGeom>
              <a:avLst/>
              <a:gdLst/>
              <a:ahLst/>
              <a:cxnLst>
                <a:cxn ang="0">
                  <a:pos x="243" y="0"/>
                </a:cxn>
                <a:cxn ang="0">
                  <a:pos x="0" y="3"/>
                </a:cxn>
              </a:cxnLst>
              <a:pathLst>
                <a:path w="243" h="3">
                  <a:moveTo>
                    <a:pt x="243" y="0"/>
                  </a:moveTo>
                  <a:lnTo>
                    <a:pt x="0" y="3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53" name="Line 87"/>
            <p:cNvSpPr/>
            <p:nvPr/>
          </p:nvSpPr>
          <p:spPr>
            <a:xfrm rot="-5400000">
              <a:off x="1035" y="3408"/>
              <a:ext cx="0" cy="144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8888" name="Group 88"/>
          <p:cNvGrpSpPr/>
          <p:nvPr/>
        </p:nvGrpSpPr>
        <p:grpSpPr>
          <a:xfrm>
            <a:off x="1285875" y="1905000"/>
            <a:ext cx="444500" cy="685800"/>
            <a:chOff x="810" y="1200"/>
            <a:chExt cx="280" cy="432"/>
          </a:xfrm>
        </p:grpSpPr>
        <p:sp>
          <p:nvSpPr>
            <p:cNvPr id="16449" name="Freeform 89"/>
            <p:cNvSpPr/>
            <p:nvPr/>
          </p:nvSpPr>
          <p:spPr>
            <a:xfrm>
              <a:off x="933" y="1434"/>
              <a:ext cx="1" cy="1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8"/>
                </a:cxn>
              </a:cxnLst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50" name="Text Box 90"/>
            <p:cNvSpPr txBox="1"/>
            <p:nvPr/>
          </p:nvSpPr>
          <p:spPr>
            <a:xfrm>
              <a:off x="810" y="1200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91" name="Group 91"/>
          <p:cNvGrpSpPr/>
          <p:nvPr/>
        </p:nvGrpSpPr>
        <p:grpSpPr>
          <a:xfrm>
            <a:off x="1066800" y="2590800"/>
            <a:ext cx="690563" cy="76200"/>
            <a:chOff x="672" y="1632"/>
            <a:chExt cx="435" cy="48"/>
          </a:xfrm>
        </p:grpSpPr>
        <p:sp>
          <p:nvSpPr>
            <p:cNvPr id="16446" name="Oval 92"/>
            <p:cNvSpPr/>
            <p:nvPr/>
          </p:nvSpPr>
          <p:spPr>
            <a:xfrm rot="5400000">
              <a:off x="915" y="1632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47" name="Freeform 93"/>
            <p:cNvSpPr/>
            <p:nvPr/>
          </p:nvSpPr>
          <p:spPr>
            <a:xfrm>
              <a:off x="672" y="1659"/>
              <a:ext cx="243" cy="1"/>
            </a:xfrm>
            <a:custGeom>
              <a:avLst/>
              <a:gdLst/>
              <a:ahLst/>
              <a:cxnLst>
                <a:cxn ang="0">
                  <a:pos x="243" y="0"/>
                </a:cxn>
                <a:cxn ang="0">
                  <a:pos x="0" y="0"/>
                </a:cxn>
              </a:cxnLst>
              <a:pathLst>
                <a:path w="243" h="1">
                  <a:moveTo>
                    <a:pt x="243" y="0"/>
                  </a:moveTo>
                  <a:lnTo>
                    <a:pt x="0" y="0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48" name="Line 94"/>
            <p:cNvSpPr/>
            <p:nvPr/>
          </p:nvSpPr>
          <p:spPr>
            <a:xfrm rot="-5400000">
              <a:off x="1035" y="1584"/>
              <a:ext cx="0" cy="144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8895" name="Group 95"/>
          <p:cNvGrpSpPr/>
          <p:nvPr/>
        </p:nvGrpSpPr>
        <p:grpSpPr>
          <a:xfrm>
            <a:off x="4800600" y="3352800"/>
            <a:ext cx="711200" cy="396875"/>
            <a:chOff x="3042" y="2112"/>
            <a:chExt cx="448" cy="250"/>
          </a:xfrm>
        </p:grpSpPr>
        <p:sp>
          <p:nvSpPr>
            <p:cNvPr id="16444" name="Freeform 96"/>
            <p:cNvSpPr/>
            <p:nvPr/>
          </p:nvSpPr>
          <p:spPr>
            <a:xfrm>
              <a:off x="3042" y="2235"/>
              <a:ext cx="195" cy="1"/>
            </a:xfrm>
            <a:custGeom>
              <a:avLst/>
              <a:gdLst/>
              <a:ahLst/>
              <a:cxnLst>
                <a:cxn ang="0">
                  <a:pos x="195" y="0"/>
                </a:cxn>
                <a:cxn ang="0">
                  <a:pos x="0" y="0"/>
                </a:cxn>
              </a:cxnLst>
              <a:pathLst>
                <a:path w="195" h="1">
                  <a:moveTo>
                    <a:pt x="195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45" name="Text Box 97"/>
            <p:cNvSpPr txBox="1"/>
            <p:nvPr/>
          </p:nvSpPr>
          <p:spPr>
            <a:xfrm>
              <a:off x="3210" y="2112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898" name="Group 98"/>
          <p:cNvGrpSpPr/>
          <p:nvPr/>
        </p:nvGrpSpPr>
        <p:grpSpPr>
          <a:xfrm>
            <a:off x="2209800" y="3124200"/>
            <a:ext cx="2616200" cy="685800"/>
            <a:chOff x="1392" y="1968"/>
            <a:chExt cx="1648" cy="432"/>
          </a:xfrm>
        </p:grpSpPr>
        <p:sp>
          <p:nvSpPr>
            <p:cNvPr id="16440" name="Freeform 99"/>
            <p:cNvSpPr/>
            <p:nvPr/>
          </p:nvSpPr>
          <p:spPr>
            <a:xfrm>
              <a:off x="1392" y="1968"/>
              <a:ext cx="163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38" y="0"/>
                </a:cxn>
              </a:cxnLst>
              <a:pathLst>
                <a:path w="1638" h="1">
                  <a:moveTo>
                    <a:pt x="0" y="0"/>
                  </a:moveTo>
                  <a:lnTo>
                    <a:pt x="1638" y="0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41" name="Oval 100"/>
            <p:cNvSpPr/>
            <p:nvPr/>
          </p:nvSpPr>
          <p:spPr>
            <a:xfrm>
              <a:off x="2992" y="220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42" name="Freeform 101"/>
            <p:cNvSpPr/>
            <p:nvPr/>
          </p:nvSpPr>
          <p:spPr>
            <a:xfrm>
              <a:off x="3012" y="1974"/>
              <a:ext cx="1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</a:cxnLst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43" name="Line 102"/>
            <p:cNvSpPr/>
            <p:nvPr/>
          </p:nvSpPr>
          <p:spPr>
            <a:xfrm>
              <a:off x="3015" y="2256"/>
              <a:ext cx="0" cy="144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8903" name="Group 103"/>
          <p:cNvGrpSpPr/>
          <p:nvPr/>
        </p:nvGrpSpPr>
        <p:grpSpPr>
          <a:xfrm>
            <a:off x="4914900" y="4708525"/>
            <a:ext cx="714375" cy="396875"/>
            <a:chOff x="3096" y="2966"/>
            <a:chExt cx="450" cy="250"/>
          </a:xfrm>
        </p:grpSpPr>
        <p:sp>
          <p:nvSpPr>
            <p:cNvPr id="16438" name="Freeform 104"/>
            <p:cNvSpPr/>
            <p:nvPr/>
          </p:nvSpPr>
          <p:spPr>
            <a:xfrm>
              <a:off x="3096" y="3054"/>
              <a:ext cx="198" cy="1"/>
            </a:xfrm>
            <a:custGeom>
              <a:avLst/>
              <a:gdLst/>
              <a:ahLst/>
              <a:cxnLst>
                <a:cxn ang="0">
                  <a:pos x="198" y="0"/>
                </a:cxn>
                <a:cxn ang="0">
                  <a:pos x="0" y="0"/>
                </a:cxn>
              </a:cxnLst>
              <a:pathLst>
                <a:path w="198" h="1">
                  <a:moveTo>
                    <a:pt x="198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439" name="Text Box 105"/>
            <p:cNvSpPr txBox="1"/>
            <p:nvPr/>
          </p:nvSpPr>
          <p:spPr>
            <a:xfrm>
              <a:off x="3266" y="2966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8906" name="Group 106"/>
          <p:cNvGrpSpPr/>
          <p:nvPr/>
        </p:nvGrpSpPr>
        <p:grpSpPr>
          <a:xfrm>
            <a:off x="4835525" y="4267200"/>
            <a:ext cx="76200" cy="990600"/>
            <a:chOff x="3024" y="2688"/>
            <a:chExt cx="48" cy="624"/>
          </a:xfrm>
        </p:grpSpPr>
        <p:sp>
          <p:nvSpPr>
            <p:cNvPr id="16435" name="Line 107"/>
            <p:cNvSpPr/>
            <p:nvPr/>
          </p:nvSpPr>
          <p:spPr>
            <a:xfrm>
              <a:off x="3048" y="2688"/>
              <a:ext cx="0" cy="336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436" name="Oval 108"/>
            <p:cNvSpPr/>
            <p:nvPr/>
          </p:nvSpPr>
          <p:spPr>
            <a:xfrm>
              <a:off x="3024" y="302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6437" name="Line 109"/>
            <p:cNvSpPr/>
            <p:nvPr/>
          </p:nvSpPr>
          <p:spPr>
            <a:xfrm>
              <a:off x="3048" y="3072"/>
              <a:ext cx="0" cy="24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88910" name="Text Box 110"/>
          <p:cNvSpPr txBox="1"/>
          <p:nvPr/>
        </p:nvSpPr>
        <p:spPr>
          <a:xfrm>
            <a:off x="3200400" y="2452688"/>
            <a:ext cx="15875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取指周期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8911" name="Text Box 111"/>
          <p:cNvSpPr txBox="1"/>
          <p:nvPr/>
        </p:nvSpPr>
        <p:spPr>
          <a:xfrm>
            <a:off x="3048000" y="1600200"/>
            <a:ext cx="31480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以 </a:t>
            </a:r>
            <a:r>
              <a:rPr lang="en-US" altLang="zh-CN" sz="2800" dirty="0">
                <a:latin typeface="Times New Roman" panose="02020603050405020304" pitchFamily="18" charset="0"/>
              </a:rPr>
              <a:t>ADD @ X   </a:t>
            </a:r>
            <a:r>
              <a:rPr lang="zh-CN" altLang="en-US" sz="2800" dirty="0">
                <a:latin typeface="Times New Roman" panose="02020603050405020304" pitchFamily="18" charset="0"/>
              </a:rPr>
              <a:t>为例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6422" name="Rectangle 115"/>
          <p:cNvSpPr/>
          <p:nvPr/>
        </p:nvSpPr>
        <p:spPr>
          <a:xfrm rot="5400000">
            <a:off x="3030538" y="3505200"/>
            <a:ext cx="457200" cy="1066800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PC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3" name="Rectangle 119"/>
          <p:cNvSpPr/>
          <p:nvPr/>
        </p:nvSpPr>
        <p:spPr>
          <a:xfrm rot="5400000">
            <a:off x="4629150" y="3505200"/>
            <a:ext cx="457200" cy="1066800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IR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8920" name="Rectangle 120"/>
          <p:cNvSpPr/>
          <p:nvPr/>
        </p:nvSpPr>
        <p:spPr>
          <a:xfrm>
            <a:off x="4419600" y="5257800"/>
            <a:ext cx="914400" cy="533400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CU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8921" name="Rectangle 12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8922" name="Text Box 122"/>
          <p:cNvSpPr txBox="1"/>
          <p:nvPr/>
        </p:nvSpPr>
        <p:spPr>
          <a:xfrm>
            <a:off x="990600" y="1066800"/>
            <a:ext cx="6705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不采用 </a:t>
            </a:r>
            <a:r>
              <a:rPr lang="en-US" altLang="zh-CN" sz="2800" dirty="0">
                <a:latin typeface="Times New Roman" panose="02020603050405020304" pitchFamily="18" charset="0"/>
              </a:rPr>
              <a:t>CPU </a:t>
            </a:r>
            <a:r>
              <a:rPr lang="zh-CN" altLang="en-US" sz="2800" dirty="0">
                <a:latin typeface="Times New Roman" panose="02020603050405020304" pitchFamily="18" charset="0"/>
              </a:rPr>
              <a:t>内部总线的方式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6427" name="Rectangle 123"/>
          <p:cNvSpPr/>
          <p:nvPr/>
        </p:nvSpPr>
        <p:spPr>
          <a:xfrm rot="5400000">
            <a:off x="3043238" y="3511550"/>
            <a:ext cx="457200" cy="1066800"/>
          </a:xfrm>
          <a:prstGeom prst="rect">
            <a:avLst/>
          </a:prstGeom>
          <a:solidFill>
            <a:srgbClr val="B68600"/>
          </a:solidFill>
          <a:ln w="38100" cap="flat" cmpd="sng">
            <a:solidFill>
              <a:srgbClr val="C28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PC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8" name="Rectangle 124"/>
          <p:cNvSpPr/>
          <p:nvPr/>
        </p:nvSpPr>
        <p:spPr>
          <a:xfrm rot="5400000">
            <a:off x="3033713" y="3506788"/>
            <a:ext cx="457200" cy="1066800"/>
          </a:xfrm>
          <a:prstGeom prst="rect">
            <a:avLst/>
          </a:prstGeom>
          <a:solidFill>
            <a:srgbClr val="B68600"/>
          </a:solidFill>
          <a:ln w="28575" cap="flat" cmpd="sng">
            <a:solidFill>
              <a:srgbClr val="C28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PC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9" name="Rectangle 125"/>
          <p:cNvSpPr/>
          <p:nvPr/>
        </p:nvSpPr>
        <p:spPr>
          <a:xfrm rot="5400000">
            <a:off x="3057525" y="3498850"/>
            <a:ext cx="457200" cy="1066800"/>
          </a:xfrm>
          <a:prstGeom prst="rect">
            <a:avLst/>
          </a:prstGeom>
          <a:solidFill>
            <a:srgbClr val="B68600"/>
          </a:solidFill>
          <a:ln w="38100" cap="flat" cmpd="sng">
            <a:solidFill>
              <a:srgbClr val="C28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PC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30" name="AutoShape 126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88927" name="Text Box 127"/>
          <p:cNvSpPr txBox="1"/>
          <p:nvPr/>
        </p:nvSpPr>
        <p:spPr>
          <a:xfrm>
            <a:off x="1738313" y="2343150"/>
            <a:ext cx="471487" cy="106521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</a:rPr>
              <a:t>M D 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88928" name="Text Box 128"/>
          <p:cNvSpPr txBox="1"/>
          <p:nvPr/>
        </p:nvSpPr>
        <p:spPr>
          <a:xfrm>
            <a:off x="1738313" y="4956175"/>
            <a:ext cx="471487" cy="106521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</a:rPr>
              <a:t>M A 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88929" name="Text Box 129"/>
          <p:cNvSpPr txBox="1"/>
          <p:nvPr/>
        </p:nvSpPr>
        <p:spPr>
          <a:xfrm>
            <a:off x="1739900" y="2344738"/>
            <a:ext cx="471488" cy="1065212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D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8930" name="Text Box 130"/>
          <p:cNvSpPr txBox="1"/>
          <p:nvPr/>
        </p:nvSpPr>
        <p:spPr>
          <a:xfrm>
            <a:off x="1739900" y="4957763"/>
            <a:ext cx="471488" cy="1065212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A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8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58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8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58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58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58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58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8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58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588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58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7" dur="500"/>
                                        <p:tgtEl>
                                          <p:spTgt spid="58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500"/>
                                        <p:tgtEl>
                                          <p:spTgt spid="588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58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58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6" dur="500"/>
                                        <p:tgtEl>
                                          <p:spTgt spid="58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58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5" dur="500"/>
                                        <p:tgtEl>
                                          <p:spTgt spid="58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0" dur="500"/>
                                        <p:tgtEl>
                                          <p:spTgt spid="58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58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58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58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58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4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58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4" dur="500"/>
                                        <p:tgtEl>
                                          <p:spTgt spid="58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9" dur="500"/>
                                        <p:tgtEl>
                                          <p:spTgt spid="58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58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9" dur="500"/>
                                        <p:tgtEl>
                                          <p:spTgt spid="58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58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9" dur="500"/>
                                        <p:tgtEl>
                                          <p:spTgt spid="58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4" dur="500"/>
                                        <p:tgtEl>
                                          <p:spTgt spid="58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58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4" dur="500"/>
                                        <p:tgtEl>
                                          <p:spTgt spid="58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9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58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9" dur="500"/>
                                        <p:tgtEl>
                                          <p:spTgt spid="58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4" dur="500"/>
                                        <p:tgtEl>
                                          <p:spTgt spid="58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9" dur="10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7"/>
                                            </p:cond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3" dur="10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1"/>
                                            </p:cond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7" dur="10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  <p:bldP spid="16388" grpId="0" animBg="1"/>
      <p:bldP spid="16389" grpId="0" animBg="1"/>
      <p:bldP spid="588806" grpId="0" animBg="1"/>
      <p:bldP spid="16391" grpId="0" animBg="1"/>
      <p:bldP spid="588808" grpId="0" animBg="1"/>
      <p:bldP spid="588865" grpId="0"/>
      <p:bldP spid="588866" grpId="0"/>
      <p:bldP spid="588867" grpId="0"/>
      <p:bldP spid="588910" grpId="0"/>
      <p:bldP spid="588911" grpId="0"/>
      <p:bldP spid="16422" grpId="0" animBg="1"/>
      <p:bldP spid="16423" grpId="0" animBg="1"/>
      <p:bldP spid="588920" grpId="0" animBg="1"/>
      <p:bldP spid="588922" grpId="0"/>
      <p:bldP spid="16427" grpId="0" animBg="1"/>
      <p:bldP spid="16428" grpId="0" animBg="1"/>
      <p:bldP spid="16429" grpId="0" animBg="1"/>
      <p:bldP spid="588927" grpId="0" animBg="1"/>
      <p:bldP spid="588928" grpId="0" animBg="1"/>
      <p:bldP spid="588929" grpId="0" animBg="1"/>
      <p:bldP spid="5889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89948" name="Group 124"/>
          <p:cNvGrpSpPr/>
          <p:nvPr/>
        </p:nvGrpSpPr>
        <p:grpSpPr>
          <a:xfrm>
            <a:off x="1057275" y="2343150"/>
            <a:ext cx="7324725" cy="4133850"/>
            <a:chOff x="666" y="1476"/>
            <a:chExt cx="4614" cy="2604"/>
          </a:xfrm>
        </p:grpSpPr>
        <p:sp>
          <p:nvSpPr>
            <p:cNvPr id="17455" name="Rectangle 125"/>
            <p:cNvSpPr/>
            <p:nvPr/>
          </p:nvSpPr>
          <p:spPr>
            <a:xfrm rot="5400000">
              <a:off x="1914" y="2208"/>
              <a:ext cx="28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56" name="Rectangle 126"/>
            <p:cNvSpPr/>
            <p:nvPr/>
          </p:nvSpPr>
          <p:spPr>
            <a:xfrm rot="5400000">
              <a:off x="2922" y="2208"/>
              <a:ext cx="28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57" name="Rectangle 127"/>
            <p:cNvSpPr/>
            <p:nvPr/>
          </p:nvSpPr>
          <p:spPr>
            <a:xfrm rot="5400000">
              <a:off x="4170" y="1872"/>
              <a:ext cx="28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58" name="Rectangle 128"/>
            <p:cNvSpPr/>
            <p:nvPr/>
          </p:nvSpPr>
          <p:spPr>
            <a:xfrm>
              <a:off x="2778" y="3312"/>
              <a:ext cx="576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59" name="Rectangle 129"/>
            <p:cNvSpPr/>
            <p:nvPr/>
          </p:nvSpPr>
          <p:spPr>
            <a:xfrm rot="5400000">
              <a:off x="2274" y="3624"/>
              <a:ext cx="240" cy="57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时钟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60" name="Rectangle 130"/>
            <p:cNvSpPr/>
            <p:nvPr/>
          </p:nvSpPr>
          <p:spPr>
            <a:xfrm>
              <a:off x="4054" y="2928"/>
              <a:ext cx="576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ALU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61" name="Group 131"/>
            <p:cNvGrpSpPr/>
            <p:nvPr/>
          </p:nvGrpSpPr>
          <p:grpSpPr>
            <a:xfrm>
              <a:off x="1386" y="1968"/>
              <a:ext cx="215" cy="1344"/>
              <a:chOff x="1386" y="1968"/>
              <a:chExt cx="215" cy="1344"/>
            </a:xfrm>
          </p:grpSpPr>
          <p:sp>
            <p:nvSpPr>
              <p:cNvPr id="17519" name="Oval 132"/>
              <p:cNvSpPr/>
              <p:nvPr/>
            </p:nvSpPr>
            <p:spPr>
              <a:xfrm>
                <a:off x="1553" y="225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520" name="Freeform 133"/>
              <p:cNvSpPr/>
              <p:nvPr/>
            </p:nvSpPr>
            <p:spPr>
              <a:xfrm>
                <a:off x="1578" y="1968"/>
                <a:ext cx="1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</a:cxnLst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521" name="Freeform 134"/>
              <p:cNvSpPr/>
              <p:nvPr/>
            </p:nvSpPr>
            <p:spPr>
              <a:xfrm>
                <a:off x="1386" y="2304"/>
                <a:ext cx="192" cy="1008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92" y="1008"/>
                  </a:cxn>
                  <a:cxn ang="0">
                    <a:pos x="0" y="1008"/>
                  </a:cxn>
                </a:cxnLst>
                <a:pathLst>
                  <a:path w="192" h="1008">
                    <a:moveTo>
                      <a:pt x="192" y="0"/>
                    </a:moveTo>
                    <a:lnTo>
                      <a:pt x="192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7462" name="Group 135"/>
            <p:cNvGrpSpPr/>
            <p:nvPr/>
          </p:nvGrpSpPr>
          <p:grpSpPr>
            <a:xfrm>
              <a:off x="1386" y="2688"/>
              <a:ext cx="698" cy="960"/>
              <a:chOff x="1386" y="2688"/>
              <a:chExt cx="698" cy="960"/>
            </a:xfrm>
          </p:grpSpPr>
          <p:sp>
            <p:nvSpPr>
              <p:cNvPr id="17516" name="Line 136"/>
              <p:cNvSpPr/>
              <p:nvPr/>
            </p:nvSpPr>
            <p:spPr>
              <a:xfrm>
                <a:off x="2058" y="268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517" name="Freeform 137"/>
              <p:cNvSpPr/>
              <p:nvPr/>
            </p:nvSpPr>
            <p:spPr>
              <a:xfrm>
                <a:off x="1386" y="3072"/>
                <a:ext cx="672" cy="576"/>
              </a:xfrm>
              <a:custGeom>
                <a:avLst/>
                <a:gdLst/>
                <a:ahLst/>
                <a:cxnLst>
                  <a:cxn ang="0">
                    <a:pos x="672" y="0"/>
                  </a:cxn>
                  <a:cxn ang="0">
                    <a:pos x="672" y="576"/>
                  </a:cxn>
                  <a:cxn ang="0">
                    <a:pos x="0" y="576"/>
                  </a:cxn>
                </a:cxnLst>
                <a:pathLst>
                  <a:path w="672" h="576">
                    <a:moveTo>
                      <a:pt x="672" y="0"/>
                    </a:moveTo>
                    <a:lnTo>
                      <a:pt x="672" y="576"/>
                    </a:lnTo>
                    <a:lnTo>
                      <a:pt x="0" y="5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518" name="Oval 138"/>
              <p:cNvSpPr/>
              <p:nvPr/>
            </p:nvSpPr>
            <p:spPr>
              <a:xfrm>
                <a:off x="2036" y="302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17463" name="Group 139"/>
            <p:cNvGrpSpPr/>
            <p:nvPr/>
          </p:nvGrpSpPr>
          <p:grpSpPr>
            <a:xfrm>
              <a:off x="1386" y="1968"/>
              <a:ext cx="1655" cy="432"/>
              <a:chOff x="1386" y="1968"/>
              <a:chExt cx="1655" cy="432"/>
            </a:xfrm>
          </p:grpSpPr>
          <p:sp>
            <p:nvSpPr>
              <p:cNvPr id="17512" name="Freeform 140"/>
              <p:cNvSpPr/>
              <p:nvPr/>
            </p:nvSpPr>
            <p:spPr>
              <a:xfrm>
                <a:off x="1386" y="1968"/>
                <a:ext cx="1632" cy="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32" y="3"/>
                  </a:cxn>
                </a:cxnLst>
                <a:pathLst>
                  <a:path w="1632" h="3">
                    <a:moveTo>
                      <a:pt x="0" y="0"/>
                    </a:moveTo>
                    <a:lnTo>
                      <a:pt x="1632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513" name="Oval 141"/>
              <p:cNvSpPr/>
              <p:nvPr/>
            </p:nvSpPr>
            <p:spPr>
              <a:xfrm>
                <a:off x="2993" y="2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514" name="Line 142"/>
              <p:cNvSpPr/>
              <p:nvPr/>
            </p:nvSpPr>
            <p:spPr>
              <a:xfrm>
                <a:off x="3018" y="196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17515" name="Line 143"/>
              <p:cNvSpPr/>
              <p:nvPr/>
            </p:nvSpPr>
            <p:spPr>
              <a:xfrm>
                <a:off x="3018" y="2256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17464" name="Group 144"/>
            <p:cNvGrpSpPr/>
            <p:nvPr/>
          </p:nvGrpSpPr>
          <p:grpSpPr>
            <a:xfrm>
              <a:off x="3042" y="2688"/>
              <a:ext cx="48" cy="624"/>
              <a:chOff x="3042" y="2688"/>
              <a:chExt cx="48" cy="624"/>
            </a:xfrm>
          </p:grpSpPr>
          <p:sp>
            <p:nvSpPr>
              <p:cNvPr id="17509" name="Line 145"/>
              <p:cNvSpPr/>
              <p:nvPr/>
            </p:nvSpPr>
            <p:spPr>
              <a:xfrm>
                <a:off x="3066" y="268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510" name="Oval 146"/>
              <p:cNvSpPr/>
              <p:nvPr/>
            </p:nvSpPr>
            <p:spPr>
              <a:xfrm>
                <a:off x="3042" y="302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511" name="Line 147"/>
              <p:cNvSpPr/>
              <p:nvPr/>
            </p:nvSpPr>
            <p:spPr>
              <a:xfrm>
                <a:off x="3066" y="307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17465" name="Freeform 148"/>
            <p:cNvSpPr/>
            <p:nvPr/>
          </p:nvSpPr>
          <p:spPr>
            <a:xfrm>
              <a:off x="2394" y="3456"/>
              <a:ext cx="384" cy="336"/>
            </a:xfrm>
            <a:custGeom>
              <a:avLst/>
              <a:gdLst/>
              <a:ahLst/>
              <a:cxnLst>
                <a:cxn ang="0">
                  <a:pos x="0" y="470"/>
                </a:cxn>
                <a:cxn ang="0">
                  <a:pos x="0" y="0"/>
                </a:cxn>
                <a:cxn ang="0">
                  <a:pos x="384" y="0"/>
                </a:cxn>
              </a:cxnLst>
              <a:pathLst>
                <a:path w="384" h="240">
                  <a:moveTo>
                    <a:pt x="0" y="240"/>
                  </a:moveTo>
                  <a:lnTo>
                    <a:pt x="0" y="0"/>
                  </a:lnTo>
                  <a:lnTo>
                    <a:pt x="38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7466" name="Group 149"/>
            <p:cNvGrpSpPr/>
            <p:nvPr/>
          </p:nvGrpSpPr>
          <p:grpSpPr>
            <a:xfrm>
              <a:off x="3521" y="2205"/>
              <a:ext cx="532" cy="819"/>
              <a:chOff x="3521" y="2205"/>
              <a:chExt cx="532" cy="819"/>
            </a:xfrm>
          </p:grpSpPr>
          <p:sp>
            <p:nvSpPr>
              <p:cNvPr id="17506" name="Freeform 150"/>
              <p:cNvSpPr/>
              <p:nvPr/>
            </p:nvSpPr>
            <p:spPr>
              <a:xfrm>
                <a:off x="3549" y="2205"/>
                <a:ext cx="1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</a:cxnLst>
                <a:pathLst>
                  <a:path w="1" h="576">
                    <a:moveTo>
                      <a:pt x="0" y="0"/>
                    </a:moveTo>
                    <a:lnTo>
                      <a:pt x="0" y="5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507" name="Oval 151"/>
              <p:cNvSpPr/>
              <p:nvPr/>
            </p:nvSpPr>
            <p:spPr>
              <a:xfrm>
                <a:off x="3521" y="278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508" name="Freeform 152"/>
              <p:cNvSpPr/>
              <p:nvPr/>
            </p:nvSpPr>
            <p:spPr>
              <a:xfrm>
                <a:off x="3546" y="2832"/>
                <a:ext cx="507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2"/>
                  </a:cxn>
                  <a:cxn ang="0">
                    <a:pos x="507" y="192"/>
                  </a:cxn>
                </a:cxnLst>
                <a:pathLst>
                  <a:path w="507" h="192">
                    <a:moveTo>
                      <a:pt x="0" y="0"/>
                    </a:moveTo>
                    <a:lnTo>
                      <a:pt x="0" y="192"/>
                    </a:lnTo>
                    <a:lnTo>
                      <a:pt x="507" y="19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7467" name="Group 153"/>
            <p:cNvGrpSpPr/>
            <p:nvPr/>
          </p:nvGrpSpPr>
          <p:grpSpPr>
            <a:xfrm>
              <a:off x="2922" y="3590"/>
              <a:ext cx="336" cy="250"/>
              <a:chOff x="2922" y="3590"/>
              <a:chExt cx="336" cy="250"/>
            </a:xfrm>
          </p:grpSpPr>
          <p:sp>
            <p:nvSpPr>
              <p:cNvPr id="17503" name="Line 154"/>
              <p:cNvSpPr/>
              <p:nvPr/>
            </p:nvSpPr>
            <p:spPr>
              <a:xfrm rot="-5400000" flipH="1">
                <a:off x="2826" y="374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504" name="Line 155"/>
              <p:cNvSpPr/>
              <p:nvPr/>
            </p:nvSpPr>
            <p:spPr>
              <a:xfrm rot="-5400000" flipH="1">
                <a:off x="3162" y="374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505" name="Text Box 156"/>
              <p:cNvSpPr txBox="1"/>
              <p:nvPr/>
            </p:nvSpPr>
            <p:spPr>
              <a:xfrm>
                <a:off x="2970" y="3590"/>
                <a:ext cx="2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68" name="Group 157"/>
            <p:cNvGrpSpPr/>
            <p:nvPr/>
          </p:nvGrpSpPr>
          <p:grpSpPr>
            <a:xfrm>
              <a:off x="3354" y="3360"/>
              <a:ext cx="308" cy="240"/>
              <a:chOff x="3354" y="3360"/>
              <a:chExt cx="308" cy="240"/>
            </a:xfrm>
          </p:grpSpPr>
          <p:sp>
            <p:nvSpPr>
              <p:cNvPr id="17500" name="Line 158"/>
              <p:cNvSpPr/>
              <p:nvPr/>
            </p:nvSpPr>
            <p:spPr>
              <a:xfrm flipH="1">
                <a:off x="3354" y="336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501" name="Line 159"/>
              <p:cNvSpPr/>
              <p:nvPr/>
            </p:nvSpPr>
            <p:spPr>
              <a:xfrm flipH="1">
                <a:off x="3354" y="360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502" name="Text Box 160"/>
              <p:cNvSpPr txBox="1"/>
              <p:nvPr/>
            </p:nvSpPr>
            <p:spPr>
              <a:xfrm>
                <a:off x="3354" y="3379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69" name="Group 161"/>
            <p:cNvGrpSpPr/>
            <p:nvPr/>
          </p:nvGrpSpPr>
          <p:grpSpPr>
            <a:xfrm>
              <a:off x="4630" y="2976"/>
              <a:ext cx="308" cy="240"/>
              <a:chOff x="4630" y="2976"/>
              <a:chExt cx="308" cy="240"/>
            </a:xfrm>
          </p:grpSpPr>
          <p:sp>
            <p:nvSpPr>
              <p:cNvPr id="17497" name="Line 162"/>
              <p:cNvSpPr/>
              <p:nvPr/>
            </p:nvSpPr>
            <p:spPr>
              <a:xfrm flipH="1">
                <a:off x="4630" y="297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498" name="Line 163"/>
              <p:cNvSpPr/>
              <p:nvPr/>
            </p:nvSpPr>
            <p:spPr>
              <a:xfrm flipH="1">
                <a:off x="4630" y="321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499" name="Text Box 164"/>
              <p:cNvSpPr txBox="1"/>
              <p:nvPr/>
            </p:nvSpPr>
            <p:spPr>
              <a:xfrm>
                <a:off x="4630" y="2995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70" name="Group 165"/>
            <p:cNvGrpSpPr/>
            <p:nvPr/>
          </p:nvGrpSpPr>
          <p:grpSpPr>
            <a:xfrm>
              <a:off x="4128" y="2352"/>
              <a:ext cx="48" cy="576"/>
              <a:chOff x="4128" y="2352"/>
              <a:chExt cx="48" cy="576"/>
            </a:xfrm>
          </p:grpSpPr>
          <p:sp>
            <p:nvSpPr>
              <p:cNvPr id="17494" name="Oval 166"/>
              <p:cNvSpPr/>
              <p:nvPr/>
            </p:nvSpPr>
            <p:spPr>
              <a:xfrm>
                <a:off x="4128" y="259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495" name="Line 167"/>
              <p:cNvSpPr/>
              <p:nvPr/>
            </p:nvSpPr>
            <p:spPr>
              <a:xfrm>
                <a:off x="4154" y="235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17496" name="Freeform 168"/>
              <p:cNvSpPr/>
              <p:nvPr/>
            </p:nvSpPr>
            <p:spPr>
              <a:xfrm>
                <a:off x="4151" y="2646"/>
                <a:ext cx="3" cy="28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282"/>
                  </a:cxn>
                </a:cxnLst>
                <a:pathLst>
                  <a:path w="3" h="282">
                    <a:moveTo>
                      <a:pt x="3" y="0"/>
                    </a:moveTo>
                    <a:lnTo>
                      <a:pt x="0" y="28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7471" name="Group 169"/>
            <p:cNvGrpSpPr/>
            <p:nvPr/>
          </p:nvGrpSpPr>
          <p:grpSpPr>
            <a:xfrm>
              <a:off x="4384" y="2352"/>
              <a:ext cx="48" cy="570"/>
              <a:chOff x="4384" y="2352"/>
              <a:chExt cx="48" cy="570"/>
            </a:xfrm>
          </p:grpSpPr>
          <p:sp>
            <p:nvSpPr>
              <p:cNvPr id="17491" name="Oval 170"/>
              <p:cNvSpPr/>
              <p:nvPr/>
            </p:nvSpPr>
            <p:spPr>
              <a:xfrm>
                <a:off x="4384" y="259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492" name="Line 171"/>
              <p:cNvSpPr/>
              <p:nvPr/>
            </p:nvSpPr>
            <p:spPr>
              <a:xfrm>
                <a:off x="4410" y="235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med" len="med"/>
                <a:tailEnd type="none" w="med" len="med"/>
              </a:ln>
            </p:spPr>
          </p:sp>
          <p:sp>
            <p:nvSpPr>
              <p:cNvPr id="17493" name="Freeform 172"/>
              <p:cNvSpPr/>
              <p:nvPr/>
            </p:nvSpPr>
            <p:spPr>
              <a:xfrm>
                <a:off x="4410" y="2646"/>
                <a:ext cx="1" cy="2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6"/>
                  </a:cxn>
                </a:cxnLst>
                <a:pathLst>
                  <a:path w="1" h="276">
                    <a:moveTo>
                      <a:pt x="0" y="0"/>
                    </a:moveTo>
                    <a:lnTo>
                      <a:pt x="0" y="2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7472" name="Group 173"/>
            <p:cNvGrpSpPr/>
            <p:nvPr/>
          </p:nvGrpSpPr>
          <p:grpSpPr>
            <a:xfrm>
              <a:off x="666" y="1632"/>
              <a:ext cx="435" cy="48"/>
              <a:chOff x="666" y="1632"/>
              <a:chExt cx="435" cy="48"/>
            </a:xfrm>
          </p:grpSpPr>
          <p:sp>
            <p:nvSpPr>
              <p:cNvPr id="17488" name="Oval 174"/>
              <p:cNvSpPr/>
              <p:nvPr/>
            </p:nvSpPr>
            <p:spPr>
              <a:xfrm rot="5400000">
                <a:off x="909" y="163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489" name="Freeform 175"/>
              <p:cNvSpPr/>
              <p:nvPr/>
            </p:nvSpPr>
            <p:spPr>
              <a:xfrm>
                <a:off x="666" y="1659"/>
                <a:ext cx="243" cy="1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0"/>
                  </a:cxn>
                </a:cxnLst>
                <a:pathLst>
                  <a:path w="243" h="1">
                    <a:moveTo>
                      <a:pt x="243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90" name="Line 176"/>
              <p:cNvSpPr/>
              <p:nvPr/>
            </p:nvSpPr>
            <p:spPr>
              <a:xfrm rot="-5400000">
                <a:off x="1029" y="1584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17473" name="Group 177"/>
            <p:cNvGrpSpPr/>
            <p:nvPr/>
          </p:nvGrpSpPr>
          <p:grpSpPr>
            <a:xfrm>
              <a:off x="666" y="3456"/>
              <a:ext cx="435" cy="48"/>
              <a:chOff x="666" y="3456"/>
              <a:chExt cx="435" cy="48"/>
            </a:xfrm>
          </p:grpSpPr>
          <p:sp>
            <p:nvSpPr>
              <p:cNvPr id="17485" name="Oval 178"/>
              <p:cNvSpPr/>
              <p:nvPr/>
            </p:nvSpPr>
            <p:spPr>
              <a:xfrm rot="5400000">
                <a:off x="909" y="345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486" name="Freeform 179"/>
              <p:cNvSpPr/>
              <p:nvPr/>
            </p:nvSpPr>
            <p:spPr>
              <a:xfrm>
                <a:off x="666" y="3483"/>
                <a:ext cx="243" cy="3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3"/>
                  </a:cxn>
                </a:cxnLst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87" name="Line 180"/>
              <p:cNvSpPr/>
              <p:nvPr/>
            </p:nvSpPr>
            <p:spPr>
              <a:xfrm rot="-5400000">
                <a:off x="1029" y="3408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74" name="Text Box 181"/>
            <p:cNvSpPr txBox="1"/>
            <p:nvPr/>
          </p:nvSpPr>
          <p:spPr>
            <a:xfrm>
              <a:off x="2730" y="3830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75" name="Text Box 182"/>
            <p:cNvSpPr txBox="1"/>
            <p:nvPr/>
          </p:nvSpPr>
          <p:spPr>
            <a:xfrm>
              <a:off x="3498" y="3358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标志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76" name="Text Box 183"/>
            <p:cNvSpPr txBox="1"/>
            <p:nvPr/>
          </p:nvSpPr>
          <p:spPr>
            <a:xfrm>
              <a:off x="4842" y="2878"/>
              <a:ext cx="43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77" name="Group 184"/>
            <p:cNvGrpSpPr/>
            <p:nvPr/>
          </p:nvGrpSpPr>
          <p:grpSpPr>
            <a:xfrm>
              <a:off x="3024" y="1968"/>
              <a:ext cx="954" cy="267"/>
              <a:chOff x="3024" y="1968"/>
              <a:chExt cx="954" cy="267"/>
            </a:xfrm>
          </p:grpSpPr>
          <p:sp>
            <p:nvSpPr>
              <p:cNvPr id="17480" name="Oval 185"/>
              <p:cNvSpPr/>
              <p:nvPr/>
            </p:nvSpPr>
            <p:spPr>
              <a:xfrm rot="5400000">
                <a:off x="3786" y="2187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7481" name="Freeform 186"/>
              <p:cNvSpPr/>
              <p:nvPr/>
            </p:nvSpPr>
            <p:spPr>
              <a:xfrm>
                <a:off x="3546" y="2214"/>
                <a:ext cx="240" cy="1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0" y="0"/>
                  </a:cxn>
                </a:cxnLst>
                <a:pathLst>
                  <a:path w="240" h="1">
                    <a:moveTo>
                      <a:pt x="24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82" name="Line 187"/>
              <p:cNvSpPr/>
              <p:nvPr/>
            </p:nvSpPr>
            <p:spPr>
              <a:xfrm rot="-5400000">
                <a:off x="3906" y="2139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7483" name="Line 188"/>
              <p:cNvSpPr/>
              <p:nvPr/>
            </p:nvSpPr>
            <p:spPr>
              <a:xfrm>
                <a:off x="3024" y="1971"/>
                <a:ext cx="5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17484" name="Freeform 189"/>
              <p:cNvSpPr/>
              <p:nvPr/>
            </p:nvSpPr>
            <p:spPr>
              <a:xfrm>
                <a:off x="3546" y="1968"/>
                <a:ext cx="1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40"/>
                  </a:cxn>
                </a:cxnLst>
                <a:pathLst>
                  <a:path w="1" h="240">
                    <a:moveTo>
                      <a:pt x="0" y="0"/>
                    </a:moveTo>
                    <a:lnTo>
                      <a:pt x="0" y="24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7478" name="Text Box 190"/>
            <p:cNvSpPr txBox="1"/>
            <p:nvPr/>
          </p:nvSpPr>
          <p:spPr>
            <a:xfrm>
              <a:off x="1095" y="1476"/>
              <a:ext cx="297" cy="6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414000"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M D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79" name="Text Box 191"/>
            <p:cNvSpPr txBox="1"/>
            <p:nvPr/>
          </p:nvSpPr>
          <p:spPr>
            <a:xfrm>
              <a:off x="1095" y="3122"/>
              <a:ext cx="297" cy="6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414000"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M A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411" name="Text Box 2"/>
          <p:cNvSpPr txBox="1"/>
          <p:nvPr/>
        </p:nvSpPr>
        <p:spPr>
          <a:xfrm>
            <a:off x="441325" y="244475"/>
            <a:ext cx="38544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二、控制信号举例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7412" name="Text Box 3"/>
          <p:cNvSpPr txBox="1"/>
          <p:nvPr/>
        </p:nvSpPr>
        <p:spPr>
          <a:xfrm>
            <a:off x="990600" y="1066800"/>
            <a:ext cx="662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不采用 </a:t>
            </a:r>
            <a:r>
              <a:rPr lang="en-US" altLang="zh-CN" sz="2800" dirty="0">
                <a:latin typeface="Times New Roman" panose="02020603050405020304" pitchFamily="18" charset="0"/>
              </a:rPr>
              <a:t>CPU </a:t>
            </a:r>
            <a:r>
              <a:rPr lang="zh-CN" altLang="en-US" sz="2800" dirty="0">
                <a:latin typeface="Times New Roman" panose="02020603050405020304" pitchFamily="18" charset="0"/>
              </a:rPr>
              <a:t>内部总线的方式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589900" name="Group 76"/>
          <p:cNvGrpSpPr/>
          <p:nvPr/>
        </p:nvGrpSpPr>
        <p:grpSpPr>
          <a:xfrm>
            <a:off x="1298575" y="4800600"/>
            <a:ext cx="444500" cy="681038"/>
            <a:chOff x="818" y="3024"/>
            <a:chExt cx="280" cy="429"/>
          </a:xfrm>
        </p:grpSpPr>
        <p:sp>
          <p:nvSpPr>
            <p:cNvPr id="17453" name="Freeform 77"/>
            <p:cNvSpPr/>
            <p:nvPr/>
          </p:nvSpPr>
          <p:spPr>
            <a:xfrm>
              <a:off x="933" y="3258"/>
              <a:ext cx="1" cy="1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5"/>
                </a:cxn>
              </a:cxnLst>
              <a:pathLst>
                <a:path w="1" h="195">
                  <a:moveTo>
                    <a:pt x="0" y="0"/>
                  </a:moveTo>
                  <a:lnTo>
                    <a:pt x="0" y="195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54" name="Text Box 78"/>
            <p:cNvSpPr txBox="1"/>
            <p:nvPr/>
          </p:nvSpPr>
          <p:spPr>
            <a:xfrm>
              <a:off x="818" y="3024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9903" name="Group 79"/>
          <p:cNvGrpSpPr/>
          <p:nvPr/>
        </p:nvGrpSpPr>
        <p:grpSpPr>
          <a:xfrm>
            <a:off x="1042988" y="5486400"/>
            <a:ext cx="690562" cy="76200"/>
            <a:chOff x="672" y="3456"/>
            <a:chExt cx="435" cy="48"/>
          </a:xfrm>
        </p:grpSpPr>
        <p:sp>
          <p:nvSpPr>
            <p:cNvPr id="17450" name="Oval 80"/>
            <p:cNvSpPr/>
            <p:nvPr/>
          </p:nvSpPr>
          <p:spPr>
            <a:xfrm rot="5400000">
              <a:off x="915" y="345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7451" name="Freeform 81"/>
            <p:cNvSpPr/>
            <p:nvPr/>
          </p:nvSpPr>
          <p:spPr>
            <a:xfrm>
              <a:off x="672" y="3483"/>
              <a:ext cx="243" cy="3"/>
            </a:xfrm>
            <a:custGeom>
              <a:avLst/>
              <a:gdLst/>
              <a:ahLst/>
              <a:cxnLst>
                <a:cxn ang="0">
                  <a:pos x="243" y="0"/>
                </a:cxn>
                <a:cxn ang="0">
                  <a:pos x="0" y="3"/>
                </a:cxn>
              </a:cxnLst>
              <a:pathLst>
                <a:path w="243" h="3">
                  <a:moveTo>
                    <a:pt x="243" y="0"/>
                  </a:moveTo>
                  <a:lnTo>
                    <a:pt x="0" y="3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52" name="Line 82"/>
            <p:cNvSpPr/>
            <p:nvPr/>
          </p:nvSpPr>
          <p:spPr>
            <a:xfrm rot="-5400000">
              <a:off x="1035" y="3408"/>
              <a:ext cx="0" cy="144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89907" name="Group 83"/>
          <p:cNvGrpSpPr/>
          <p:nvPr/>
        </p:nvGrpSpPr>
        <p:grpSpPr>
          <a:xfrm>
            <a:off x="1285875" y="1905000"/>
            <a:ext cx="444500" cy="685800"/>
            <a:chOff x="810" y="1200"/>
            <a:chExt cx="280" cy="432"/>
          </a:xfrm>
        </p:grpSpPr>
        <p:sp>
          <p:nvSpPr>
            <p:cNvPr id="17448" name="Freeform 84"/>
            <p:cNvSpPr/>
            <p:nvPr/>
          </p:nvSpPr>
          <p:spPr>
            <a:xfrm>
              <a:off x="933" y="1434"/>
              <a:ext cx="1" cy="1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8"/>
                </a:cxn>
              </a:cxnLst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49" name="Text Box 85"/>
            <p:cNvSpPr txBox="1"/>
            <p:nvPr/>
          </p:nvSpPr>
          <p:spPr>
            <a:xfrm>
              <a:off x="810" y="1200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9910" name="Group 86"/>
          <p:cNvGrpSpPr/>
          <p:nvPr/>
        </p:nvGrpSpPr>
        <p:grpSpPr>
          <a:xfrm>
            <a:off x="1066800" y="2590800"/>
            <a:ext cx="690563" cy="76200"/>
            <a:chOff x="672" y="1632"/>
            <a:chExt cx="435" cy="48"/>
          </a:xfrm>
        </p:grpSpPr>
        <p:sp>
          <p:nvSpPr>
            <p:cNvPr id="17445" name="Oval 87"/>
            <p:cNvSpPr/>
            <p:nvPr/>
          </p:nvSpPr>
          <p:spPr>
            <a:xfrm rot="5400000">
              <a:off x="915" y="1632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7446" name="Freeform 88"/>
            <p:cNvSpPr/>
            <p:nvPr/>
          </p:nvSpPr>
          <p:spPr>
            <a:xfrm>
              <a:off x="672" y="1659"/>
              <a:ext cx="243" cy="1"/>
            </a:xfrm>
            <a:custGeom>
              <a:avLst/>
              <a:gdLst/>
              <a:ahLst/>
              <a:cxnLst>
                <a:cxn ang="0">
                  <a:pos x="243" y="0"/>
                </a:cxn>
                <a:cxn ang="0">
                  <a:pos x="0" y="0"/>
                </a:cxn>
              </a:cxnLst>
              <a:pathLst>
                <a:path w="243" h="1">
                  <a:moveTo>
                    <a:pt x="243" y="0"/>
                  </a:moveTo>
                  <a:lnTo>
                    <a:pt x="0" y="0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47" name="Line 89"/>
            <p:cNvSpPr/>
            <p:nvPr/>
          </p:nvSpPr>
          <p:spPr>
            <a:xfrm rot="-5400000">
              <a:off x="1035" y="1584"/>
              <a:ext cx="0" cy="144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9914" name="Group 90"/>
          <p:cNvGrpSpPr/>
          <p:nvPr/>
        </p:nvGrpSpPr>
        <p:grpSpPr>
          <a:xfrm>
            <a:off x="4829175" y="3352800"/>
            <a:ext cx="711200" cy="396875"/>
            <a:chOff x="3042" y="2112"/>
            <a:chExt cx="448" cy="250"/>
          </a:xfrm>
        </p:grpSpPr>
        <p:sp>
          <p:nvSpPr>
            <p:cNvPr id="17443" name="Freeform 91"/>
            <p:cNvSpPr/>
            <p:nvPr/>
          </p:nvSpPr>
          <p:spPr>
            <a:xfrm>
              <a:off x="3042" y="2235"/>
              <a:ext cx="195" cy="1"/>
            </a:xfrm>
            <a:custGeom>
              <a:avLst/>
              <a:gdLst/>
              <a:ahLst/>
              <a:cxnLst>
                <a:cxn ang="0">
                  <a:pos x="195" y="0"/>
                </a:cxn>
                <a:cxn ang="0">
                  <a:pos x="0" y="0"/>
                </a:cxn>
              </a:cxnLst>
              <a:pathLst>
                <a:path w="195" h="1">
                  <a:moveTo>
                    <a:pt x="195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44" name="Text Box 92"/>
            <p:cNvSpPr txBox="1"/>
            <p:nvPr/>
          </p:nvSpPr>
          <p:spPr>
            <a:xfrm>
              <a:off x="3210" y="2112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9917" name="Group 93"/>
          <p:cNvGrpSpPr/>
          <p:nvPr/>
        </p:nvGrpSpPr>
        <p:grpSpPr>
          <a:xfrm>
            <a:off x="1895475" y="3489325"/>
            <a:ext cx="576263" cy="396875"/>
            <a:chOff x="1194" y="2198"/>
            <a:chExt cx="363" cy="250"/>
          </a:xfrm>
        </p:grpSpPr>
        <p:sp>
          <p:nvSpPr>
            <p:cNvPr id="17441" name="Freeform 94"/>
            <p:cNvSpPr/>
            <p:nvPr/>
          </p:nvSpPr>
          <p:spPr>
            <a:xfrm>
              <a:off x="1380" y="2283"/>
              <a:ext cx="177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7" y="0"/>
                </a:cxn>
              </a:cxnLst>
              <a:pathLst>
                <a:path w="177" h="1">
                  <a:moveTo>
                    <a:pt x="0" y="0"/>
                  </a:moveTo>
                  <a:lnTo>
                    <a:pt x="177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42" name="Text Box 95"/>
            <p:cNvSpPr txBox="1"/>
            <p:nvPr/>
          </p:nvSpPr>
          <p:spPr>
            <a:xfrm>
              <a:off x="1194" y="2198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89920" name="Group 96"/>
          <p:cNvGrpSpPr/>
          <p:nvPr/>
        </p:nvGrpSpPr>
        <p:grpSpPr>
          <a:xfrm>
            <a:off x="2193925" y="3124200"/>
            <a:ext cx="341313" cy="2133600"/>
            <a:chOff x="1392" y="1968"/>
            <a:chExt cx="215" cy="1344"/>
          </a:xfrm>
        </p:grpSpPr>
        <p:sp>
          <p:nvSpPr>
            <p:cNvPr id="17437" name="Oval 97"/>
            <p:cNvSpPr/>
            <p:nvPr/>
          </p:nvSpPr>
          <p:spPr>
            <a:xfrm>
              <a:off x="1559" y="22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grpSp>
          <p:nvGrpSpPr>
            <p:cNvPr id="17438" name="Group 98"/>
            <p:cNvGrpSpPr/>
            <p:nvPr/>
          </p:nvGrpSpPr>
          <p:grpSpPr>
            <a:xfrm>
              <a:off x="1392" y="1968"/>
              <a:ext cx="193" cy="1344"/>
              <a:chOff x="1392" y="1968"/>
              <a:chExt cx="193" cy="1344"/>
            </a:xfrm>
          </p:grpSpPr>
          <p:sp>
            <p:nvSpPr>
              <p:cNvPr id="17439" name="Freeform 99"/>
              <p:cNvSpPr/>
              <p:nvPr/>
            </p:nvSpPr>
            <p:spPr>
              <a:xfrm>
                <a:off x="1584" y="1968"/>
                <a:ext cx="1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</a:cxnLst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57150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40" name="Freeform 100"/>
              <p:cNvSpPr/>
              <p:nvPr/>
            </p:nvSpPr>
            <p:spPr>
              <a:xfrm>
                <a:off x="1392" y="2304"/>
                <a:ext cx="192" cy="1008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92" y="1008"/>
                  </a:cxn>
                  <a:cxn ang="0">
                    <a:pos x="0" y="1008"/>
                  </a:cxn>
                </a:cxnLst>
                <a:pathLst>
                  <a:path w="192" h="1008">
                    <a:moveTo>
                      <a:pt x="192" y="0"/>
                    </a:moveTo>
                    <a:lnTo>
                      <a:pt x="192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57150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589925" name="Text Box 101"/>
          <p:cNvSpPr txBox="1"/>
          <p:nvPr/>
        </p:nvSpPr>
        <p:spPr>
          <a:xfrm>
            <a:off x="3184525" y="1819275"/>
            <a:ext cx="34163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ADD @ X   </a:t>
            </a:r>
            <a:r>
              <a:rPr lang="zh-CN" altLang="en-US" sz="2800" dirty="0">
                <a:latin typeface="Times New Roman" panose="02020603050405020304" pitchFamily="18" charset="0"/>
              </a:rPr>
              <a:t>间址周期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9932" name="Line 108"/>
          <p:cNvSpPr/>
          <p:nvPr/>
        </p:nvSpPr>
        <p:spPr>
          <a:xfrm>
            <a:off x="2209800" y="3124200"/>
            <a:ext cx="304800" cy="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89936" name="Group 112"/>
          <p:cNvGrpSpPr/>
          <p:nvPr/>
        </p:nvGrpSpPr>
        <p:grpSpPr>
          <a:xfrm>
            <a:off x="2209800" y="3124200"/>
            <a:ext cx="2616200" cy="685800"/>
            <a:chOff x="1392" y="1968"/>
            <a:chExt cx="1648" cy="432"/>
          </a:xfrm>
        </p:grpSpPr>
        <p:sp>
          <p:nvSpPr>
            <p:cNvPr id="17433" name="Freeform 113"/>
            <p:cNvSpPr/>
            <p:nvPr/>
          </p:nvSpPr>
          <p:spPr>
            <a:xfrm>
              <a:off x="1392" y="1968"/>
              <a:ext cx="163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38" y="0"/>
                </a:cxn>
              </a:cxnLst>
              <a:pathLst>
                <a:path w="1638" h="1">
                  <a:moveTo>
                    <a:pt x="0" y="0"/>
                  </a:moveTo>
                  <a:lnTo>
                    <a:pt x="1638" y="0"/>
                  </a:lnTo>
                </a:path>
              </a:pathLst>
            </a:custGeom>
            <a:solidFill>
              <a:srgbClr val="C28F00">
                <a:alpha val="100000"/>
              </a:srgbClr>
            </a:solidFill>
            <a:ln w="57150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34" name="Oval 114"/>
            <p:cNvSpPr/>
            <p:nvPr/>
          </p:nvSpPr>
          <p:spPr>
            <a:xfrm>
              <a:off x="2992" y="2208"/>
              <a:ext cx="48" cy="48"/>
            </a:xfrm>
            <a:prstGeom prst="ellipse">
              <a:avLst/>
            </a:prstGeom>
            <a:solidFill>
              <a:srgbClr val="C28F00"/>
            </a:solidFill>
            <a:ln w="19050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7435" name="Freeform 115"/>
            <p:cNvSpPr/>
            <p:nvPr/>
          </p:nvSpPr>
          <p:spPr>
            <a:xfrm>
              <a:off x="3012" y="1974"/>
              <a:ext cx="1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</a:cxnLst>
              <a:pathLst>
                <a:path w="1" h="240">
                  <a:moveTo>
                    <a:pt x="0" y="0"/>
                  </a:moveTo>
                  <a:lnTo>
                    <a:pt x="0" y="240"/>
                  </a:lnTo>
                </a:path>
              </a:pathLst>
            </a:custGeom>
            <a:solidFill>
              <a:srgbClr val="C28F00">
                <a:alpha val="100000"/>
              </a:srgbClr>
            </a:solidFill>
            <a:ln w="57150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36" name="Line 116"/>
            <p:cNvSpPr/>
            <p:nvPr/>
          </p:nvSpPr>
          <p:spPr>
            <a:xfrm>
              <a:off x="3015" y="2256"/>
              <a:ext cx="0" cy="144"/>
            </a:xfrm>
            <a:prstGeom prst="line">
              <a:avLst/>
            </a:prstGeom>
            <a:ln w="57150" cap="flat" cmpd="sng">
              <a:solidFill>
                <a:srgbClr val="C28F00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89941" name="Group 117"/>
          <p:cNvGrpSpPr/>
          <p:nvPr/>
        </p:nvGrpSpPr>
        <p:grpSpPr>
          <a:xfrm>
            <a:off x="4300538" y="3784600"/>
            <a:ext cx="1112837" cy="493713"/>
            <a:chOff x="2730" y="2496"/>
            <a:chExt cx="678" cy="288"/>
          </a:xfrm>
        </p:grpSpPr>
        <p:sp>
          <p:nvSpPr>
            <p:cNvPr id="17429" name="Rectangle 118"/>
            <p:cNvSpPr/>
            <p:nvPr/>
          </p:nvSpPr>
          <p:spPr>
            <a:xfrm>
              <a:off x="2736" y="2496"/>
              <a:ext cx="672" cy="2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7430" name="Rectangle 119"/>
            <p:cNvSpPr/>
            <p:nvPr/>
          </p:nvSpPr>
          <p:spPr>
            <a:xfrm>
              <a:off x="2736" y="2496"/>
              <a:ext cx="192" cy="28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7431" name="Rectangle 120"/>
            <p:cNvSpPr/>
            <p:nvPr/>
          </p:nvSpPr>
          <p:spPr>
            <a:xfrm>
              <a:off x="2928" y="2496"/>
              <a:ext cx="480" cy="288"/>
            </a:xfrm>
            <a:prstGeom prst="rect">
              <a:avLst/>
            </a:prstGeom>
            <a:solidFill>
              <a:srgbClr val="C28F00"/>
            </a:solidFill>
            <a:ln w="9525" cap="flat" cmpd="sng">
              <a:solidFill>
                <a:srgbClr val="C28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7432" name="Rectangle 121"/>
            <p:cNvSpPr/>
            <p:nvPr/>
          </p:nvSpPr>
          <p:spPr>
            <a:xfrm rot="5400000">
              <a:off x="2922" y="2304"/>
              <a:ext cx="288" cy="672"/>
            </a:xfrm>
            <a:prstGeom prst="rect">
              <a:avLst/>
            </a:prstGeom>
            <a:noFill/>
            <a:ln w="28575">
              <a:noFill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89946" name="Rectangle 122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5" name="AutoShape 123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90016" name="Text Box 192"/>
          <p:cNvSpPr txBox="1"/>
          <p:nvPr/>
        </p:nvSpPr>
        <p:spPr>
          <a:xfrm>
            <a:off x="1739900" y="2344738"/>
            <a:ext cx="471488" cy="1065212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D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0017" name="Text Box 193"/>
          <p:cNvSpPr txBox="1"/>
          <p:nvPr/>
        </p:nvSpPr>
        <p:spPr>
          <a:xfrm>
            <a:off x="1741488" y="2346325"/>
            <a:ext cx="471487" cy="1065213"/>
          </a:xfrm>
          <a:prstGeom prst="rect">
            <a:avLst/>
          </a:prstGeom>
          <a:solidFill>
            <a:srgbClr val="C28F3E"/>
          </a:solidFill>
          <a:ln w="38100" cap="flat" cmpd="sng">
            <a:solidFill>
              <a:srgbClr val="C28F3E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D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0018" name="Text Box 194"/>
          <p:cNvSpPr txBox="1"/>
          <p:nvPr/>
        </p:nvSpPr>
        <p:spPr>
          <a:xfrm>
            <a:off x="1739900" y="4957763"/>
            <a:ext cx="471488" cy="1065212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A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8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9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9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8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589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59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8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58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8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58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59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8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58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58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925" grpId="0"/>
      <p:bldP spid="590016" grpId="0" animBg="1"/>
      <p:bldP spid="590017" grpId="0" animBg="1"/>
      <p:bldP spid="5900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90990" name="Group 142"/>
          <p:cNvGrpSpPr/>
          <p:nvPr/>
        </p:nvGrpSpPr>
        <p:grpSpPr>
          <a:xfrm>
            <a:off x="1057275" y="2343150"/>
            <a:ext cx="7324725" cy="4133850"/>
            <a:chOff x="666" y="1476"/>
            <a:chExt cx="4614" cy="2604"/>
          </a:xfrm>
        </p:grpSpPr>
        <p:sp>
          <p:nvSpPr>
            <p:cNvPr id="18497" name="Rectangle 143"/>
            <p:cNvSpPr/>
            <p:nvPr/>
          </p:nvSpPr>
          <p:spPr>
            <a:xfrm rot="5400000">
              <a:off x="1914" y="2208"/>
              <a:ext cx="28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98" name="Rectangle 144"/>
            <p:cNvSpPr/>
            <p:nvPr/>
          </p:nvSpPr>
          <p:spPr>
            <a:xfrm rot="5400000">
              <a:off x="2922" y="2208"/>
              <a:ext cx="28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499" name="Rectangle 145"/>
            <p:cNvSpPr/>
            <p:nvPr/>
          </p:nvSpPr>
          <p:spPr>
            <a:xfrm rot="5400000">
              <a:off x="4170" y="1872"/>
              <a:ext cx="288" cy="6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500" name="Rectangle 146"/>
            <p:cNvSpPr/>
            <p:nvPr/>
          </p:nvSpPr>
          <p:spPr>
            <a:xfrm>
              <a:off x="2778" y="3312"/>
              <a:ext cx="576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501" name="Rectangle 147"/>
            <p:cNvSpPr/>
            <p:nvPr/>
          </p:nvSpPr>
          <p:spPr>
            <a:xfrm rot="5400000">
              <a:off x="2274" y="3624"/>
              <a:ext cx="240" cy="57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时钟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502" name="Rectangle 148"/>
            <p:cNvSpPr/>
            <p:nvPr/>
          </p:nvSpPr>
          <p:spPr>
            <a:xfrm>
              <a:off x="4054" y="2928"/>
              <a:ext cx="576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ALU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503" name="Group 149"/>
            <p:cNvGrpSpPr/>
            <p:nvPr/>
          </p:nvGrpSpPr>
          <p:grpSpPr>
            <a:xfrm>
              <a:off x="1386" y="1968"/>
              <a:ext cx="215" cy="1344"/>
              <a:chOff x="1386" y="1968"/>
              <a:chExt cx="215" cy="1344"/>
            </a:xfrm>
          </p:grpSpPr>
          <p:sp>
            <p:nvSpPr>
              <p:cNvPr id="18561" name="Oval 150"/>
              <p:cNvSpPr/>
              <p:nvPr/>
            </p:nvSpPr>
            <p:spPr>
              <a:xfrm>
                <a:off x="1553" y="225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62" name="Freeform 151"/>
              <p:cNvSpPr/>
              <p:nvPr/>
            </p:nvSpPr>
            <p:spPr>
              <a:xfrm>
                <a:off x="1578" y="1968"/>
                <a:ext cx="1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</a:cxnLst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3" name="Freeform 152"/>
              <p:cNvSpPr/>
              <p:nvPr/>
            </p:nvSpPr>
            <p:spPr>
              <a:xfrm>
                <a:off x="1386" y="2304"/>
                <a:ext cx="192" cy="1008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92" y="1008"/>
                  </a:cxn>
                  <a:cxn ang="0">
                    <a:pos x="0" y="1008"/>
                  </a:cxn>
                </a:cxnLst>
                <a:pathLst>
                  <a:path w="192" h="1008">
                    <a:moveTo>
                      <a:pt x="192" y="0"/>
                    </a:moveTo>
                    <a:lnTo>
                      <a:pt x="192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04" name="Group 153"/>
            <p:cNvGrpSpPr/>
            <p:nvPr/>
          </p:nvGrpSpPr>
          <p:grpSpPr>
            <a:xfrm>
              <a:off x="1386" y="2688"/>
              <a:ext cx="698" cy="960"/>
              <a:chOff x="1386" y="2688"/>
              <a:chExt cx="698" cy="960"/>
            </a:xfrm>
          </p:grpSpPr>
          <p:sp>
            <p:nvSpPr>
              <p:cNvPr id="18558" name="Line 154"/>
              <p:cNvSpPr/>
              <p:nvPr/>
            </p:nvSpPr>
            <p:spPr>
              <a:xfrm>
                <a:off x="2058" y="268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59" name="Freeform 155"/>
              <p:cNvSpPr/>
              <p:nvPr/>
            </p:nvSpPr>
            <p:spPr>
              <a:xfrm>
                <a:off x="1386" y="3072"/>
                <a:ext cx="672" cy="576"/>
              </a:xfrm>
              <a:custGeom>
                <a:avLst/>
                <a:gdLst/>
                <a:ahLst/>
                <a:cxnLst>
                  <a:cxn ang="0">
                    <a:pos x="672" y="0"/>
                  </a:cxn>
                  <a:cxn ang="0">
                    <a:pos x="672" y="576"/>
                  </a:cxn>
                  <a:cxn ang="0">
                    <a:pos x="0" y="576"/>
                  </a:cxn>
                </a:cxnLst>
                <a:pathLst>
                  <a:path w="672" h="576">
                    <a:moveTo>
                      <a:pt x="672" y="0"/>
                    </a:moveTo>
                    <a:lnTo>
                      <a:pt x="672" y="576"/>
                    </a:lnTo>
                    <a:lnTo>
                      <a:pt x="0" y="5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60" name="Oval 156"/>
              <p:cNvSpPr/>
              <p:nvPr/>
            </p:nvSpPr>
            <p:spPr>
              <a:xfrm>
                <a:off x="2036" y="302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18505" name="Group 157"/>
            <p:cNvGrpSpPr/>
            <p:nvPr/>
          </p:nvGrpSpPr>
          <p:grpSpPr>
            <a:xfrm>
              <a:off x="1386" y="1968"/>
              <a:ext cx="1655" cy="432"/>
              <a:chOff x="1386" y="1968"/>
              <a:chExt cx="1655" cy="432"/>
            </a:xfrm>
          </p:grpSpPr>
          <p:sp>
            <p:nvSpPr>
              <p:cNvPr id="18554" name="Freeform 158"/>
              <p:cNvSpPr/>
              <p:nvPr/>
            </p:nvSpPr>
            <p:spPr>
              <a:xfrm>
                <a:off x="1386" y="1968"/>
                <a:ext cx="1632" cy="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32" y="3"/>
                  </a:cxn>
                </a:cxnLst>
                <a:pathLst>
                  <a:path w="1632" h="3">
                    <a:moveTo>
                      <a:pt x="0" y="0"/>
                    </a:moveTo>
                    <a:lnTo>
                      <a:pt x="1632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55" name="Oval 159"/>
              <p:cNvSpPr/>
              <p:nvPr/>
            </p:nvSpPr>
            <p:spPr>
              <a:xfrm>
                <a:off x="2993" y="2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56" name="Line 160"/>
              <p:cNvSpPr/>
              <p:nvPr/>
            </p:nvSpPr>
            <p:spPr>
              <a:xfrm>
                <a:off x="3018" y="196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18557" name="Line 161"/>
              <p:cNvSpPr/>
              <p:nvPr/>
            </p:nvSpPr>
            <p:spPr>
              <a:xfrm>
                <a:off x="3018" y="2256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18506" name="Group 162"/>
            <p:cNvGrpSpPr/>
            <p:nvPr/>
          </p:nvGrpSpPr>
          <p:grpSpPr>
            <a:xfrm>
              <a:off x="3042" y="2688"/>
              <a:ext cx="48" cy="624"/>
              <a:chOff x="3042" y="2688"/>
              <a:chExt cx="48" cy="624"/>
            </a:xfrm>
          </p:grpSpPr>
          <p:sp>
            <p:nvSpPr>
              <p:cNvPr id="18551" name="Line 163"/>
              <p:cNvSpPr/>
              <p:nvPr/>
            </p:nvSpPr>
            <p:spPr>
              <a:xfrm>
                <a:off x="3066" y="268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52" name="Oval 164"/>
              <p:cNvSpPr/>
              <p:nvPr/>
            </p:nvSpPr>
            <p:spPr>
              <a:xfrm>
                <a:off x="3042" y="302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53" name="Line 165"/>
              <p:cNvSpPr/>
              <p:nvPr/>
            </p:nvSpPr>
            <p:spPr>
              <a:xfrm>
                <a:off x="3066" y="307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18507" name="Freeform 166"/>
            <p:cNvSpPr/>
            <p:nvPr/>
          </p:nvSpPr>
          <p:spPr>
            <a:xfrm>
              <a:off x="2394" y="3456"/>
              <a:ext cx="384" cy="336"/>
            </a:xfrm>
            <a:custGeom>
              <a:avLst/>
              <a:gdLst/>
              <a:ahLst/>
              <a:cxnLst>
                <a:cxn ang="0">
                  <a:pos x="0" y="470"/>
                </a:cxn>
                <a:cxn ang="0">
                  <a:pos x="0" y="0"/>
                </a:cxn>
                <a:cxn ang="0">
                  <a:pos x="384" y="0"/>
                </a:cxn>
              </a:cxnLst>
              <a:pathLst>
                <a:path w="384" h="240">
                  <a:moveTo>
                    <a:pt x="0" y="240"/>
                  </a:moveTo>
                  <a:lnTo>
                    <a:pt x="0" y="0"/>
                  </a:lnTo>
                  <a:lnTo>
                    <a:pt x="384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8508" name="Group 167"/>
            <p:cNvGrpSpPr/>
            <p:nvPr/>
          </p:nvGrpSpPr>
          <p:grpSpPr>
            <a:xfrm>
              <a:off x="3521" y="2205"/>
              <a:ext cx="532" cy="819"/>
              <a:chOff x="3521" y="2205"/>
              <a:chExt cx="532" cy="819"/>
            </a:xfrm>
          </p:grpSpPr>
          <p:sp>
            <p:nvSpPr>
              <p:cNvPr id="18548" name="Freeform 168"/>
              <p:cNvSpPr/>
              <p:nvPr/>
            </p:nvSpPr>
            <p:spPr>
              <a:xfrm>
                <a:off x="3549" y="2205"/>
                <a:ext cx="1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</a:cxnLst>
                <a:pathLst>
                  <a:path w="1" h="576">
                    <a:moveTo>
                      <a:pt x="0" y="0"/>
                    </a:moveTo>
                    <a:lnTo>
                      <a:pt x="0" y="5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49" name="Oval 169"/>
              <p:cNvSpPr/>
              <p:nvPr/>
            </p:nvSpPr>
            <p:spPr>
              <a:xfrm>
                <a:off x="3521" y="278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50" name="Freeform 170"/>
              <p:cNvSpPr/>
              <p:nvPr/>
            </p:nvSpPr>
            <p:spPr>
              <a:xfrm>
                <a:off x="3546" y="2832"/>
                <a:ext cx="507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2"/>
                  </a:cxn>
                  <a:cxn ang="0">
                    <a:pos x="507" y="192"/>
                  </a:cxn>
                </a:cxnLst>
                <a:pathLst>
                  <a:path w="507" h="192">
                    <a:moveTo>
                      <a:pt x="0" y="0"/>
                    </a:moveTo>
                    <a:lnTo>
                      <a:pt x="0" y="192"/>
                    </a:lnTo>
                    <a:lnTo>
                      <a:pt x="507" y="19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09" name="Group 171"/>
            <p:cNvGrpSpPr/>
            <p:nvPr/>
          </p:nvGrpSpPr>
          <p:grpSpPr>
            <a:xfrm>
              <a:off x="2922" y="3590"/>
              <a:ext cx="336" cy="250"/>
              <a:chOff x="2922" y="3590"/>
              <a:chExt cx="336" cy="250"/>
            </a:xfrm>
          </p:grpSpPr>
          <p:sp>
            <p:nvSpPr>
              <p:cNvPr id="18545" name="Line 172"/>
              <p:cNvSpPr/>
              <p:nvPr/>
            </p:nvSpPr>
            <p:spPr>
              <a:xfrm rot="-5400000" flipH="1">
                <a:off x="2826" y="374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46" name="Line 173"/>
              <p:cNvSpPr/>
              <p:nvPr/>
            </p:nvSpPr>
            <p:spPr>
              <a:xfrm rot="-5400000" flipH="1">
                <a:off x="3162" y="374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47" name="Text Box 174"/>
              <p:cNvSpPr txBox="1"/>
              <p:nvPr/>
            </p:nvSpPr>
            <p:spPr>
              <a:xfrm>
                <a:off x="2970" y="3590"/>
                <a:ext cx="2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510" name="Group 175"/>
            <p:cNvGrpSpPr/>
            <p:nvPr/>
          </p:nvGrpSpPr>
          <p:grpSpPr>
            <a:xfrm>
              <a:off x="3354" y="3360"/>
              <a:ext cx="308" cy="240"/>
              <a:chOff x="3354" y="3360"/>
              <a:chExt cx="308" cy="240"/>
            </a:xfrm>
          </p:grpSpPr>
          <p:sp>
            <p:nvSpPr>
              <p:cNvPr id="18542" name="Line 176"/>
              <p:cNvSpPr/>
              <p:nvPr/>
            </p:nvSpPr>
            <p:spPr>
              <a:xfrm flipH="1">
                <a:off x="3354" y="336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43" name="Line 177"/>
              <p:cNvSpPr/>
              <p:nvPr/>
            </p:nvSpPr>
            <p:spPr>
              <a:xfrm flipH="1">
                <a:off x="3354" y="360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44" name="Text Box 178"/>
              <p:cNvSpPr txBox="1"/>
              <p:nvPr/>
            </p:nvSpPr>
            <p:spPr>
              <a:xfrm>
                <a:off x="3354" y="3379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511" name="Group 179"/>
            <p:cNvGrpSpPr/>
            <p:nvPr/>
          </p:nvGrpSpPr>
          <p:grpSpPr>
            <a:xfrm>
              <a:off x="4630" y="2976"/>
              <a:ext cx="308" cy="240"/>
              <a:chOff x="4630" y="2976"/>
              <a:chExt cx="308" cy="240"/>
            </a:xfrm>
          </p:grpSpPr>
          <p:sp>
            <p:nvSpPr>
              <p:cNvPr id="18539" name="Line 180"/>
              <p:cNvSpPr/>
              <p:nvPr/>
            </p:nvSpPr>
            <p:spPr>
              <a:xfrm flipH="1">
                <a:off x="4630" y="297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40" name="Line 181"/>
              <p:cNvSpPr/>
              <p:nvPr/>
            </p:nvSpPr>
            <p:spPr>
              <a:xfrm flipH="1">
                <a:off x="4630" y="321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41" name="Text Box 182"/>
              <p:cNvSpPr txBox="1"/>
              <p:nvPr/>
            </p:nvSpPr>
            <p:spPr>
              <a:xfrm>
                <a:off x="4630" y="2995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512" name="Group 183"/>
            <p:cNvGrpSpPr/>
            <p:nvPr/>
          </p:nvGrpSpPr>
          <p:grpSpPr>
            <a:xfrm>
              <a:off x="4128" y="2352"/>
              <a:ext cx="48" cy="576"/>
              <a:chOff x="4128" y="2352"/>
              <a:chExt cx="48" cy="576"/>
            </a:xfrm>
          </p:grpSpPr>
          <p:sp>
            <p:nvSpPr>
              <p:cNvPr id="18536" name="Oval 184"/>
              <p:cNvSpPr/>
              <p:nvPr/>
            </p:nvSpPr>
            <p:spPr>
              <a:xfrm>
                <a:off x="4128" y="259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37" name="Line 185"/>
              <p:cNvSpPr/>
              <p:nvPr/>
            </p:nvSpPr>
            <p:spPr>
              <a:xfrm>
                <a:off x="4154" y="235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18538" name="Freeform 186"/>
              <p:cNvSpPr/>
              <p:nvPr/>
            </p:nvSpPr>
            <p:spPr>
              <a:xfrm>
                <a:off x="4151" y="2646"/>
                <a:ext cx="3" cy="28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282"/>
                  </a:cxn>
                </a:cxnLst>
                <a:pathLst>
                  <a:path w="3" h="282">
                    <a:moveTo>
                      <a:pt x="3" y="0"/>
                    </a:moveTo>
                    <a:lnTo>
                      <a:pt x="0" y="28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13" name="Group 187"/>
            <p:cNvGrpSpPr/>
            <p:nvPr/>
          </p:nvGrpSpPr>
          <p:grpSpPr>
            <a:xfrm>
              <a:off x="4384" y="2352"/>
              <a:ext cx="48" cy="570"/>
              <a:chOff x="4384" y="2352"/>
              <a:chExt cx="48" cy="570"/>
            </a:xfrm>
          </p:grpSpPr>
          <p:sp>
            <p:nvSpPr>
              <p:cNvPr id="18533" name="Oval 188"/>
              <p:cNvSpPr/>
              <p:nvPr/>
            </p:nvSpPr>
            <p:spPr>
              <a:xfrm>
                <a:off x="4384" y="259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34" name="Line 189"/>
              <p:cNvSpPr/>
              <p:nvPr/>
            </p:nvSpPr>
            <p:spPr>
              <a:xfrm>
                <a:off x="4410" y="235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med" len="med"/>
                <a:tailEnd type="none" w="med" len="med"/>
              </a:ln>
            </p:spPr>
          </p:sp>
          <p:sp>
            <p:nvSpPr>
              <p:cNvPr id="18535" name="Freeform 190"/>
              <p:cNvSpPr/>
              <p:nvPr/>
            </p:nvSpPr>
            <p:spPr>
              <a:xfrm>
                <a:off x="4410" y="2646"/>
                <a:ext cx="1" cy="2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6"/>
                  </a:cxn>
                </a:cxnLst>
                <a:pathLst>
                  <a:path w="1" h="276">
                    <a:moveTo>
                      <a:pt x="0" y="0"/>
                    </a:moveTo>
                    <a:lnTo>
                      <a:pt x="0" y="2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514" name="Group 191"/>
            <p:cNvGrpSpPr/>
            <p:nvPr/>
          </p:nvGrpSpPr>
          <p:grpSpPr>
            <a:xfrm>
              <a:off x="666" y="1632"/>
              <a:ext cx="435" cy="48"/>
              <a:chOff x="666" y="1632"/>
              <a:chExt cx="435" cy="48"/>
            </a:xfrm>
          </p:grpSpPr>
          <p:sp>
            <p:nvSpPr>
              <p:cNvPr id="18530" name="Oval 192"/>
              <p:cNvSpPr/>
              <p:nvPr/>
            </p:nvSpPr>
            <p:spPr>
              <a:xfrm rot="5400000">
                <a:off x="909" y="163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31" name="Freeform 193"/>
              <p:cNvSpPr/>
              <p:nvPr/>
            </p:nvSpPr>
            <p:spPr>
              <a:xfrm>
                <a:off x="666" y="1659"/>
                <a:ext cx="243" cy="1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0"/>
                  </a:cxn>
                </a:cxnLst>
                <a:pathLst>
                  <a:path w="243" h="1">
                    <a:moveTo>
                      <a:pt x="243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32" name="Line 194"/>
              <p:cNvSpPr/>
              <p:nvPr/>
            </p:nvSpPr>
            <p:spPr>
              <a:xfrm rot="-5400000">
                <a:off x="1029" y="1584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18515" name="Group 195"/>
            <p:cNvGrpSpPr/>
            <p:nvPr/>
          </p:nvGrpSpPr>
          <p:grpSpPr>
            <a:xfrm>
              <a:off x="666" y="3456"/>
              <a:ext cx="435" cy="48"/>
              <a:chOff x="666" y="3456"/>
              <a:chExt cx="435" cy="48"/>
            </a:xfrm>
          </p:grpSpPr>
          <p:sp>
            <p:nvSpPr>
              <p:cNvPr id="18527" name="Oval 196"/>
              <p:cNvSpPr/>
              <p:nvPr/>
            </p:nvSpPr>
            <p:spPr>
              <a:xfrm rot="5400000">
                <a:off x="909" y="345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28" name="Freeform 197"/>
              <p:cNvSpPr/>
              <p:nvPr/>
            </p:nvSpPr>
            <p:spPr>
              <a:xfrm>
                <a:off x="666" y="3483"/>
                <a:ext cx="243" cy="3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3"/>
                  </a:cxn>
                </a:cxnLst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29" name="Line 198"/>
              <p:cNvSpPr/>
              <p:nvPr/>
            </p:nvSpPr>
            <p:spPr>
              <a:xfrm rot="-5400000">
                <a:off x="1029" y="3408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8516" name="Text Box 199"/>
            <p:cNvSpPr txBox="1"/>
            <p:nvPr/>
          </p:nvSpPr>
          <p:spPr>
            <a:xfrm>
              <a:off x="2730" y="3830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517" name="Text Box 200"/>
            <p:cNvSpPr txBox="1"/>
            <p:nvPr/>
          </p:nvSpPr>
          <p:spPr>
            <a:xfrm>
              <a:off x="3498" y="3358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标志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518" name="Text Box 201"/>
            <p:cNvSpPr txBox="1"/>
            <p:nvPr/>
          </p:nvSpPr>
          <p:spPr>
            <a:xfrm>
              <a:off x="4842" y="2878"/>
              <a:ext cx="43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8519" name="Group 202"/>
            <p:cNvGrpSpPr/>
            <p:nvPr/>
          </p:nvGrpSpPr>
          <p:grpSpPr>
            <a:xfrm>
              <a:off x="3024" y="1968"/>
              <a:ext cx="954" cy="267"/>
              <a:chOff x="3024" y="1968"/>
              <a:chExt cx="954" cy="267"/>
            </a:xfrm>
          </p:grpSpPr>
          <p:sp>
            <p:nvSpPr>
              <p:cNvPr id="18522" name="Oval 203"/>
              <p:cNvSpPr/>
              <p:nvPr/>
            </p:nvSpPr>
            <p:spPr>
              <a:xfrm rot="5400000">
                <a:off x="3786" y="2187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523" name="Freeform 204"/>
              <p:cNvSpPr/>
              <p:nvPr/>
            </p:nvSpPr>
            <p:spPr>
              <a:xfrm>
                <a:off x="3546" y="2214"/>
                <a:ext cx="240" cy="1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0" y="0"/>
                  </a:cxn>
                </a:cxnLst>
                <a:pathLst>
                  <a:path w="240" h="1">
                    <a:moveTo>
                      <a:pt x="24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524" name="Line 205"/>
              <p:cNvSpPr/>
              <p:nvPr/>
            </p:nvSpPr>
            <p:spPr>
              <a:xfrm rot="-5400000">
                <a:off x="3906" y="2139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525" name="Line 206"/>
              <p:cNvSpPr/>
              <p:nvPr/>
            </p:nvSpPr>
            <p:spPr>
              <a:xfrm>
                <a:off x="3024" y="1971"/>
                <a:ext cx="52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18526" name="Freeform 207"/>
              <p:cNvSpPr/>
              <p:nvPr/>
            </p:nvSpPr>
            <p:spPr>
              <a:xfrm>
                <a:off x="3546" y="1968"/>
                <a:ext cx="1" cy="2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40"/>
                  </a:cxn>
                </a:cxnLst>
                <a:pathLst>
                  <a:path w="1" h="240">
                    <a:moveTo>
                      <a:pt x="0" y="0"/>
                    </a:moveTo>
                    <a:lnTo>
                      <a:pt x="0" y="24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520" name="Text Box 208"/>
            <p:cNvSpPr txBox="1"/>
            <p:nvPr/>
          </p:nvSpPr>
          <p:spPr>
            <a:xfrm>
              <a:off x="1095" y="1476"/>
              <a:ext cx="297" cy="6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414000"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M D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8521" name="Text Box 209"/>
            <p:cNvSpPr txBox="1"/>
            <p:nvPr/>
          </p:nvSpPr>
          <p:spPr>
            <a:xfrm>
              <a:off x="1095" y="3122"/>
              <a:ext cx="297" cy="6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414000"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M A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8435" name="Text Box 74"/>
          <p:cNvSpPr txBox="1"/>
          <p:nvPr/>
        </p:nvSpPr>
        <p:spPr>
          <a:xfrm>
            <a:off x="441325" y="244475"/>
            <a:ext cx="44910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二、控制信号举例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8436" name="Text Box 75"/>
          <p:cNvSpPr txBox="1"/>
          <p:nvPr/>
        </p:nvSpPr>
        <p:spPr>
          <a:xfrm>
            <a:off x="990600" y="1066800"/>
            <a:ext cx="6705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不采用 </a:t>
            </a:r>
            <a:r>
              <a:rPr lang="en-US" altLang="zh-CN" sz="2800" dirty="0">
                <a:latin typeface="Times New Roman" panose="02020603050405020304" pitchFamily="18" charset="0"/>
              </a:rPr>
              <a:t>CPU </a:t>
            </a:r>
            <a:r>
              <a:rPr lang="zh-CN" altLang="en-US" sz="2800" dirty="0">
                <a:latin typeface="Times New Roman" panose="02020603050405020304" pitchFamily="18" charset="0"/>
              </a:rPr>
              <a:t>内部总线的方式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590924" name="Group 76"/>
          <p:cNvGrpSpPr/>
          <p:nvPr/>
        </p:nvGrpSpPr>
        <p:grpSpPr>
          <a:xfrm>
            <a:off x="1298575" y="4800600"/>
            <a:ext cx="444500" cy="681038"/>
            <a:chOff x="818" y="3024"/>
            <a:chExt cx="280" cy="429"/>
          </a:xfrm>
        </p:grpSpPr>
        <p:sp>
          <p:nvSpPr>
            <p:cNvPr id="18495" name="Freeform 77"/>
            <p:cNvSpPr/>
            <p:nvPr/>
          </p:nvSpPr>
          <p:spPr>
            <a:xfrm>
              <a:off x="933" y="3258"/>
              <a:ext cx="1" cy="1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5"/>
                </a:cxn>
              </a:cxnLst>
              <a:pathLst>
                <a:path w="1" h="195">
                  <a:moveTo>
                    <a:pt x="0" y="0"/>
                  </a:moveTo>
                  <a:lnTo>
                    <a:pt x="0" y="195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96" name="Text Box 78"/>
            <p:cNvSpPr txBox="1"/>
            <p:nvPr/>
          </p:nvSpPr>
          <p:spPr>
            <a:xfrm>
              <a:off x="818" y="3024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0927" name="Group 79"/>
          <p:cNvGrpSpPr/>
          <p:nvPr/>
        </p:nvGrpSpPr>
        <p:grpSpPr>
          <a:xfrm>
            <a:off x="1285875" y="1905000"/>
            <a:ext cx="444500" cy="685800"/>
            <a:chOff x="810" y="1200"/>
            <a:chExt cx="280" cy="432"/>
          </a:xfrm>
        </p:grpSpPr>
        <p:sp>
          <p:nvSpPr>
            <p:cNvPr id="18493" name="Freeform 80"/>
            <p:cNvSpPr/>
            <p:nvPr/>
          </p:nvSpPr>
          <p:spPr>
            <a:xfrm>
              <a:off x="933" y="1434"/>
              <a:ext cx="1" cy="1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8"/>
                </a:cxn>
              </a:cxnLst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94" name="Text Box 81"/>
            <p:cNvSpPr txBox="1"/>
            <p:nvPr/>
          </p:nvSpPr>
          <p:spPr>
            <a:xfrm>
              <a:off x="810" y="1200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0930" name="Group 82"/>
          <p:cNvGrpSpPr/>
          <p:nvPr/>
        </p:nvGrpSpPr>
        <p:grpSpPr>
          <a:xfrm>
            <a:off x="1035050" y="2590800"/>
            <a:ext cx="712788" cy="76200"/>
            <a:chOff x="652" y="1632"/>
            <a:chExt cx="449" cy="48"/>
          </a:xfrm>
        </p:grpSpPr>
        <p:sp>
          <p:nvSpPr>
            <p:cNvPr id="18490" name="Oval 83"/>
            <p:cNvSpPr/>
            <p:nvPr/>
          </p:nvSpPr>
          <p:spPr>
            <a:xfrm rot="5400000">
              <a:off x="906" y="1632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8491" name="Freeform 84"/>
            <p:cNvSpPr/>
            <p:nvPr/>
          </p:nvSpPr>
          <p:spPr>
            <a:xfrm>
              <a:off x="652" y="1659"/>
              <a:ext cx="264" cy="1"/>
            </a:xfrm>
            <a:custGeom>
              <a:avLst/>
              <a:gdLst/>
              <a:ahLst/>
              <a:cxnLst>
                <a:cxn ang="0">
                  <a:pos x="264" y="0"/>
                </a:cxn>
                <a:cxn ang="0">
                  <a:pos x="0" y="0"/>
                </a:cxn>
              </a:cxnLst>
              <a:pathLst>
                <a:path w="264" h="1">
                  <a:moveTo>
                    <a:pt x="264" y="0"/>
                  </a:moveTo>
                  <a:lnTo>
                    <a:pt x="0" y="0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92" name="Freeform 85"/>
            <p:cNvSpPr/>
            <p:nvPr/>
          </p:nvSpPr>
          <p:spPr>
            <a:xfrm>
              <a:off x="940" y="1654"/>
              <a:ext cx="16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1" y="0"/>
                </a:cxn>
              </a:cxnLst>
              <a:pathLst>
                <a:path w="161" h="1">
                  <a:moveTo>
                    <a:pt x="0" y="0"/>
                  </a:moveTo>
                  <a:lnTo>
                    <a:pt x="161" y="0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0934" name="Group 86"/>
          <p:cNvGrpSpPr/>
          <p:nvPr/>
        </p:nvGrpSpPr>
        <p:grpSpPr>
          <a:xfrm>
            <a:off x="1895475" y="3489325"/>
            <a:ext cx="576263" cy="396875"/>
            <a:chOff x="1194" y="2198"/>
            <a:chExt cx="363" cy="250"/>
          </a:xfrm>
        </p:grpSpPr>
        <p:sp>
          <p:nvSpPr>
            <p:cNvPr id="18488" name="Freeform 87"/>
            <p:cNvSpPr/>
            <p:nvPr/>
          </p:nvSpPr>
          <p:spPr>
            <a:xfrm>
              <a:off x="1380" y="2283"/>
              <a:ext cx="177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7" y="0"/>
                </a:cxn>
              </a:cxnLst>
              <a:pathLst>
                <a:path w="177" h="1">
                  <a:moveTo>
                    <a:pt x="0" y="0"/>
                  </a:moveTo>
                  <a:lnTo>
                    <a:pt x="177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9" name="Text Box 88"/>
            <p:cNvSpPr txBox="1"/>
            <p:nvPr/>
          </p:nvSpPr>
          <p:spPr>
            <a:xfrm>
              <a:off x="1194" y="2198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0937" name="Text Box 89"/>
          <p:cNvSpPr txBox="1"/>
          <p:nvPr/>
        </p:nvSpPr>
        <p:spPr>
          <a:xfrm>
            <a:off x="3184525" y="1819275"/>
            <a:ext cx="39798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ADD @ X   </a:t>
            </a:r>
            <a:r>
              <a:rPr lang="zh-CN" altLang="en-US" sz="2800" dirty="0">
                <a:latin typeface="Times New Roman" panose="02020603050405020304" pitchFamily="18" charset="0"/>
              </a:rPr>
              <a:t>执行周期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590938" name="Group 90"/>
          <p:cNvGrpSpPr/>
          <p:nvPr/>
        </p:nvGrpSpPr>
        <p:grpSpPr>
          <a:xfrm>
            <a:off x="4929188" y="3962400"/>
            <a:ext cx="1633537" cy="762000"/>
            <a:chOff x="3114" y="2496"/>
            <a:chExt cx="1029" cy="480"/>
          </a:xfrm>
        </p:grpSpPr>
        <p:sp>
          <p:nvSpPr>
            <p:cNvPr id="18484" name="Freeform 91"/>
            <p:cNvSpPr/>
            <p:nvPr/>
          </p:nvSpPr>
          <p:spPr>
            <a:xfrm>
              <a:off x="3969" y="2619"/>
              <a:ext cx="174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4" y="0"/>
                </a:cxn>
              </a:cxnLst>
              <a:pathLst>
                <a:path w="174" h="1">
                  <a:moveTo>
                    <a:pt x="0" y="0"/>
                  </a:moveTo>
                  <a:lnTo>
                    <a:pt x="174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5" name="Freeform 92"/>
            <p:cNvSpPr/>
            <p:nvPr/>
          </p:nvSpPr>
          <p:spPr>
            <a:xfrm>
              <a:off x="3336" y="2814"/>
              <a:ext cx="186" cy="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6" y="0"/>
                </a:cxn>
              </a:cxnLst>
              <a:pathLst>
                <a:path w="186" h="3">
                  <a:moveTo>
                    <a:pt x="0" y="3"/>
                  </a:moveTo>
                  <a:lnTo>
                    <a:pt x="186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6" name="Text Box 93"/>
            <p:cNvSpPr txBox="1"/>
            <p:nvPr/>
          </p:nvSpPr>
          <p:spPr>
            <a:xfrm>
              <a:off x="3114" y="2726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87" name="Text Box 94"/>
            <p:cNvSpPr txBox="1"/>
            <p:nvPr/>
          </p:nvSpPr>
          <p:spPr>
            <a:xfrm>
              <a:off x="3746" y="2496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0943" name="Group 95"/>
          <p:cNvGrpSpPr/>
          <p:nvPr/>
        </p:nvGrpSpPr>
        <p:grpSpPr>
          <a:xfrm>
            <a:off x="7034213" y="3962400"/>
            <a:ext cx="728662" cy="396875"/>
            <a:chOff x="4431" y="2496"/>
            <a:chExt cx="459" cy="250"/>
          </a:xfrm>
        </p:grpSpPr>
        <p:sp>
          <p:nvSpPr>
            <p:cNvPr id="18482" name="Freeform 96"/>
            <p:cNvSpPr/>
            <p:nvPr/>
          </p:nvSpPr>
          <p:spPr>
            <a:xfrm>
              <a:off x="4431" y="2619"/>
              <a:ext cx="198" cy="6"/>
            </a:xfrm>
            <a:custGeom>
              <a:avLst/>
              <a:gdLst/>
              <a:ahLst/>
              <a:cxnLst>
                <a:cxn ang="0">
                  <a:pos x="198" y="6"/>
                </a:cxn>
                <a:cxn ang="0">
                  <a:pos x="0" y="0"/>
                </a:cxn>
              </a:cxnLst>
              <a:pathLst>
                <a:path w="198" h="6">
                  <a:moveTo>
                    <a:pt x="198" y="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3" name="Text Box 97"/>
            <p:cNvSpPr txBox="1"/>
            <p:nvPr/>
          </p:nvSpPr>
          <p:spPr>
            <a:xfrm>
              <a:off x="4610" y="2496"/>
              <a:ext cx="2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0946" name="Group 98"/>
          <p:cNvGrpSpPr/>
          <p:nvPr/>
        </p:nvGrpSpPr>
        <p:grpSpPr>
          <a:xfrm>
            <a:off x="6959600" y="3733800"/>
            <a:ext cx="76200" cy="909638"/>
            <a:chOff x="4384" y="2352"/>
            <a:chExt cx="48" cy="573"/>
          </a:xfrm>
        </p:grpSpPr>
        <p:sp>
          <p:nvSpPr>
            <p:cNvPr id="18479" name="Oval 99"/>
            <p:cNvSpPr/>
            <p:nvPr/>
          </p:nvSpPr>
          <p:spPr>
            <a:xfrm>
              <a:off x="4384" y="259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8480" name="Line 100"/>
            <p:cNvSpPr/>
            <p:nvPr/>
          </p:nvSpPr>
          <p:spPr>
            <a:xfrm>
              <a:off x="4410" y="2352"/>
              <a:ext cx="0" cy="24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18481" name="Freeform 101"/>
            <p:cNvSpPr/>
            <p:nvPr/>
          </p:nvSpPr>
          <p:spPr>
            <a:xfrm>
              <a:off x="4407" y="2646"/>
              <a:ext cx="3" cy="2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79"/>
                </a:cxn>
              </a:cxnLst>
              <a:pathLst>
                <a:path w="3" h="279">
                  <a:moveTo>
                    <a:pt x="3" y="0"/>
                  </a:moveTo>
                  <a:lnTo>
                    <a:pt x="0" y="279"/>
                  </a:lnTo>
                </a:path>
              </a:pathLst>
            </a:custGeom>
            <a:noFill/>
            <a:ln w="57150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445" name="Rectangle 105"/>
          <p:cNvSpPr/>
          <p:nvPr/>
        </p:nvSpPr>
        <p:spPr>
          <a:xfrm rot="5400000">
            <a:off x="6619875" y="2971800"/>
            <a:ext cx="457200" cy="1066800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AC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0954" name="Rectangle 106"/>
          <p:cNvSpPr/>
          <p:nvPr/>
        </p:nvSpPr>
        <p:spPr>
          <a:xfrm>
            <a:off x="6435725" y="4648200"/>
            <a:ext cx="914400" cy="533400"/>
          </a:xfrm>
          <a:prstGeom prst="rect">
            <a:avLst/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ALU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90955" name="Group 107"/>
          <p:cNvGrpSpPr/>
          <p:nvPr/>
        </p:nvGrpSpPr>
        <p:grpSpPr>
          <a:xfrm>
            <a:off x="2185988" y="3109913"/>
            <a:ext cx="354012" cy="2147887"/>
            <a:chOff x="1377" y="1959"/>
            <a:chExt cx="223" cy="1353"/>
          </a:xfrm>
        </p:grpSpPr>
        <p:sp>
          <p:nvSpPr>
            <p:cNvPr id="18473" name="Freeform 108"/>
            <p:cNvSpPr/>
            <p:nvPr/>
          </p:nvSpPr>
          <p:spPr>
            <a:xfrm>
              <a:off x="1392" y="1965"/>
              <a:ext cx="207" cy="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07" y="0"/>
                </a:cxn>
              </a:cxnLst>
              <a:pathLst>
                <a:path w="207" h="3">
                  <a:moveTo>
                    <a:pt x="0" y="3"/>
                  </a:moveTo>
                  <a:lnTo>
                    <a:pt x="207" y="0"/>
                  </a:lnTo>
                </a:path>
              </a:pathLst>
            </a:custGeom>
            <a:noFill/>
            <a:ln w="57150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8474" name="Group 109"/>
            <p:cNvGrpSpPr/>
            <p:nvPr/>
          </p:nvGrpSpPr>
          <p:grpSpPr>
            <a:xfrm>
              <a:off x="1377" y="1959"/>
              <a:ext cx="223" cy="1353"/>
              <a:chOff x="1377" y="1959"/>
              <a:chExt cx="223" cy="1353"/>
            </a:xfrm>
          </p:grpSpPr>
          <p:sp>
            <p:nvSpPr>
              <p:cNvPr id="18475" name="Oval 110"/>
              <p:cNvSpPr/>
              <p:nvPr/>
            </p:nvSpPr>
            <p:spPr>
              <a:xfrm>
                <a:off x="1552" y="225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rgbClr val="C28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grpSp>
            <p:nvGrpSpPr>
              <p:cNvPr id="18476" name="Group 111"/>
              <p:cNvGrpSpPr/>
              <p:nvPr/>
            </p:nvGrpSpPr>
            <p:grpSpPr>
              <a:xfrm>
                <a:off x="1377" y="1959"/>
                <a:ext cx="208" cy="1353"/>
                <a:chOff x="1377" y="1959"/>
                <a:chExt cx="208" cy="1353"/>
              </a:xfrm>
            </p:grpSpPr>
            <p:sp>
              <p:nvSpPr>
                <p:cNvPr id="18477" name="Freeform 112"/>
                <p:cNvSpPr/>
                <p:nvPr/>
              </p:nvSpPr>
              <p:spPr>
                <a:xfrm>
                  <a:off x="1584" y="1959"/>
                  <a:ext cx="1" cy="30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03"/>
                    </a:cxn>
                  </a:cxnLst>
                  <a:pathLst>
                    <a:path w="1" h="303">
                      <a:moveTo>
                        <a:pt x="0" y="0"/>
                      </a:moveTo>
                      <a:lnTo>
                        <a:pt x="0" y="303"/>
                      </a:lnTo>
                    </a:path>
                  </a:pathLst>
                </a:custGeom>
                <a:noFill/>
                <a:ln w="57150" cap="flat" cmpd="sng">
                  <a:solidFill>
                    <a:srgbClr val="C28F00">
                      <a:alpha val="100000"/>
                    </a:srgbClr>
                  </a:solidFill>
                  <a:prstDash val="solid"/>
                  <a:round/>
                  <a:headEnd type="none" w="sm" len="sm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478" name="Freeform 113"/>
                <p:cNvSpPr/>
                <p:nvPr/>
              </p:nvSpPr>
              <p:spPr>
                <a:xfrm>
                  <a:off x="1377" y="2304"/>
                  <a:ext cx="207" cy="1008"/>
                </a:xfrm>
                <a:custGeom>
                  <a:avLst/>
                  <a:gdLst/>
                  <a:ahLst/>
                  <a:cxnLst>
                    <a:cxn ang="0">
                      <a:pos x="207" y="0"/>
                    </a:cxn>
                    <a:cxn ang="0">
                      <a:pos x="207" y="1008"/>
                    </a:cxn>
                    <a:cxn ang="0">
                      <a:pos x="0" y="1008"/>
                    </a:cxn>
                  </a:cxnLst>
                  <a:pathLst>
                    <a:path w="207" h="1008">
                      <a:moveTo>
                        <a:pt x="207" y="0"/>
                      </a:moveTo>
                      <a:lnTo>
                        <a:pt x="207" y="1008"/>
                      </a:lnTo>
                      <a:lnTo>
                        <a:pt x="0" y="1008"/>
                      </a:lnTo>
                    </a:path>
                  </a:pathLst>
                </a:custGeom>
                <a:noFill/>
                <a:ln w="57150" cap="flat" cmpd="sng">
                  <a:solidFill>
                    <a:srgbClr val="C28F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590968" name="Group 120"/>
          <p:cNvGrpSpPr/>
          <p:nvPr/>
        </p:nvGrpSpPr>
        <p:grpSpPr>
          <a:xfrm>
            <a:off x="7350125" y="4565650"/>
            <a:ext cx="1031875" cy="701675"/>
            <a:chOff x="4726" y="3494"/>
            <a:chExt cx="650" cy="442"/>
          </a:xfrm>
        </p:grpSpPr>
        <p:grpSp>
          <p:nvGrpSpPr>
            <p:cNvPr id="18468" name="Group 121"/>
            <p:cNvGrpSpPr/>
            <p:nvPr/>
          </p:nvGrpSpPr>
          <p:grpSpPr>
            <a:xfrm>
              <a:off x="4726" y="3592"/>
              <a:ext cx="308" cy="240"/>
              <a:chOff x="4726" y="3592"/>
              <a:chExt cx="308" cy="240"/>
            </a:xfrm>
          </p:grpSpPr>
          <p:sp>
            <p:nvSpPr>
              <p:cNvPr id="18470" name="Line 122"/>
              <p:cNvSpPr/>
              <p:nvPr/>
            </p:nvSpPr>
            <p:spPr>
              <a:xfrm flipH="1">
                <a:off x="4726" y="359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471" name="Line 123"/>
              <p:cNvSpPr/>
              <p:nvPr/>
            </p:nvSpPr>
            <p:spPr>
              <a:xfrm flipH="1">
                <a:off x="4726" y="383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18472" name="Text Box 124"/>
              <p:cNvSpPr txBox="1"/>
              <p:nvPr/>
            </p:nvSpPr>
            <p:spPr>
              <a:xfrm>
                <a:off x="4726" y="3611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469" name="Text Box 125"/>
            <p:cNvSpPr txBox="1"/>
            <p:nvPr/>
          </p:nvSpPr>
          <p:spPr>
            <a:xfrm>
              <a:off x="4938" y="3494"/>
              <a:ext cx="43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控制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信号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0974" name="Rectangle 12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0975" name="Group 127"/>
          <p:cNvGrpSpPr/>
          <p:nvPr/>
        </p:nvGrpSpPr>
        <p:grpSpPr>
          <a:xfrm>
            <a:off x="1031875" y="5486400"/>
            <a:ext cx="763588" cy="76200"/>
            <a:chOff x="650" y="3456"/>
            <a:chExt cx="481" cy="48"/>
          </a:xfrm>
        </p:grpSpPr>
        <p:sp>
          <p:nvSpPr>
            <p:cNvPr id="18465" name="Oval 128"/>
            <p:cNvSpPr/>
            <p:nvPr/>
          </p:nvSpPr>
          <p:spPr>
            <a:xfrm rot="5400000">
              <a:off x="909" y="345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8466" name="Freeform 129"/>
            <p:cNvSpPr/>
            <p:nvPr/>
          </p:nvSpPr>
          <p:spPr>
            <a:xfrm>
              <a:off x="650" y="3483"/>
              <a:ext cx="261" cy="3"/>
            </a:xfrm>
            <a:custGeom>
              <a:avLst/>
              <a:gdLst/>
              <a:ahLst/>
              <a:cxnLst>
                <a:cxn ang="0">
                  <a:pos x="261" y="0"/>
                </a:cxn>
                <a:cxn ang="0">
                  <a:pos x="0" y="3"/>
                </a:cxn>
              </a:cxnLst>
              <a:pathLst>
                <a:path w="261" h="3">
                  <a:moveTo>
                    <a:pt x="261" y="0"/>
                  </a:moveTo>
                  <a:lnTo>
                    <a:pt x="0" y="3"/>
                  </a:lnTo>
                </a:path>
              </a:pathLst>
            </a:custGeom>
            <a:noFill/>
            <a:ln w="57150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67" name="Freeform 130"/>
            <p:cNvSpPr/>
            <p:nvPr/>
          </p:nvSpPr>
          <p:spPr>
            <a:xfrm>
              <a:off x="958" y="3480"/>
              <a:ext cx="17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73" y="0"/>
                </a:cxn>
              </a:cxnLst>
              <a:pathLst>
                <a:path w="173" h="1">
                  <a:moveTo>
                    <a:pt x="0" y="1"/>
                  </a:moveTo>
                  <a:lnTo>
                    <a:pt x="173" y="0"/>
                  </a:lnTo>
                </a:path>
              </a:pathLst>
            </a:custGeom>
            <a:noFill/>
            <a:ln w="57150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1061" name="Group 213"/>
          <p:cNvGrpSpPr/>
          <p:nvPr/>
        </p:nvGrpSpPr>
        <p:grpSpPr>
          <a:xfrm>
            <a:off x="2195513" y="3124200"/>
            <a:ext cx="4430712" cy="1676400"/>
            <a:chOff x="1383" y="1968"/>
            <a:chExt cx="2791" cy="1056"/>
          </a:xfrm>
        </p:grpSpPr>
        <p:grpSp>
          <p:nvGrpSpPr>
            <p:cNvPr id="18456" name="Group 132"/>
            <p:cNvGrpSpPr/>
            <p:nvPr/>
          </p:nvGrpSpPr>
          <p:grpSpPr>
            <a:xfrm>
              <a:off x="4126" y="2352"/>
              <a:ext cx="48" cy="576"/>
              <a:chOff x="4144" y="2352"/>
              <a:chExt cx="48" cy="576"/>
            </a:xfrm>
          </p:grpSpPr>
          <p:sp>
            <p:nvSpPr>
              <p:cNvPr id="18462" name="Oval 133"/>
              <p:cNvSpPr/>
              <p:nvPr/>
            </p:nvSpPr>
            <p:spPr>
              <a:xfrm>
                <a:off x="4144" y="259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463" name="Line 134"/>
              <p:cNvSpPr/>
              <p:nvPr/>
            </p:nvSpPr>
            <p:spPr>
              <a:xfrm>
                <a:off x="4170" y="2352"/>
                <a:ext cx="0" cy="24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18464" name="Freeform 135"/>
              <p:cNvSpPr/>
              <p:nvPr/>
            </p:nvSpPr>
            <p:spPr>
              <a:xfrm>
                <a:off x="4167" y="2646"/>
                <a:ext cx="3" cy="28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282"/>
                  </a:cxn>
                </a:cxnLst>
                <a:pathLst>
                  <a:path w="3" h="282">
                    <a:moveTo>
                      <a:pt x="3" y="0"/>
                    </a:moveTo>
                    <a:lnTo>
                      <a:pt x="0" y="282"/>
                    </a:lnTo>
                  </a:path>
                </a:pathLst>
              </a:custGeom>
              <a:noFill/>
              <a:ln w="57150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457" name="Group 136"/>
            <p:cNvGrpSpPr/>
            <p:nvPr/>
          </p:nvGrpSpPr>
          <p:grpSpPr>
            <a:xfrm>
              <a:off x="1383" y="1968"/>
              <a:ext cx="2670" cy="1056"/>
              <a:chOff x="1383" y="1968"/>
              <a:chExt cx="2670" cy="1056"/>
            </a:xfrm>
          </p:grpSpPr>
          <p:sp>
            <p:nvSpPr>
              <p:cNvPr id="18458" name="Freeform 137"/>
              <p:cNvSpPr/>
              <p:nvPr/>
            </p:nvSpPr>
            <p:spPr>
              <a:xfrm>
                <a:off x="1383" y="1968"/>
                <a:ext cx="2163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63" y="1"/>
                  </a:cxn>
                </a:cxnLst>
                <a:pathLst>
                  <a:path w="2163" h="1">
                    <a:moveTo>
                      <a:pt x="0" y="0"/>
                    </a:moveTo>
                    <a:lnTo>
                      <a:pt x="2163" y="1"/>
                    </a:lnTo>
                  </a:path>
                </a:pathLst>
              </a:custGeom>
              <a:noFill/>
              <a:ln w="57150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9" name="Freeform 138"/>
              <p:cNvSpPr/>
              <p:nvPr/>
            </p:nvSpPr>
            <p:spPr>
              <a:xfrm>
                <a:off x="3546" y="1968"/>
                <a:ext cx="1" cy="8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9"/>
                  </a:cxn>
                </a:cxnLst>
                <a:pathLst>
                  <a:path w="1" h="819">
                    <a:moveTo>
                      <a:pt x="0" y="0"/>
                    </a:moveTo>
                    <a:lnTo>
                      <a:pt x="0" y="819"/>
                    </a:lnTo>
                  </a:path>
                </a:pathLst>
              </a:custGeom>
              <a:noFill/>
              <a:ln w="57150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60" name="Oval 139"/>
              <p:cNvSpPr/>
              <p:nvPr/>
            </p:nvSpPr>
            <p:spPr>
              <a:xfrm>
                <a:off x="3521" y="278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18461" name="Freeform 140"/>
              <p:cNvSpPr/>
              <p:nvPr/>
            </p:nvSpPr>
            <p:spPr>
              <a:xfrm>
                <a:off x="3546" y="2832"/>
                <a:ext cx="507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2"/>
                  </a:cxn>
                  <a:cxn ang="0">
                    <a:pos x="507" y="192"/>
                  </a:cxn>
                </a:cxnLst>
                <a:pathLst>
                  <a:path w="507" h="192">
                    <a:moveTo>
                      <a:pt x="0" y="0"/>
                    </a:moveTo>
                    <a:lnTo>
                      <a:pt x="0" y="192"/>
                    </a:lnTo>
                    <a:lnTo>
                      <a:pt x="507" y="192"/>
                    </a:lnTo>
                  </a:path>
                </a:pathLst>
              </a:custGeom>
              <a:noFill/>
              <a:ln w="57150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8452" name="AutoShape 14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591059" name="Text Box 211"/>
          <p:cNvSpPr txBox="1"/>
          <p:nvPr/>
        </p:nvSpPr>
        <p:spPr>
          <a:xfrm>
            <a:off x="1741488" y="2347913"/>
            <a:ext cx="471487" cy="1065212"/>
          </a:xfrm>
          <a:prstGeom prst="rect">
            <a:avLst/>
          </a:prstGeom>
          <a:solidFill>
            <a:srgbClr val="C28F3E"/>
          </a:solidFill>
          <a:ln w="38100" cap="flat" cmpd="sng">
            <a:solidFill>
              <a:srgbClr val="C28F3E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D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1060" name="Text Box 212"/>
          <p:cNvSpPr txBox="1"/>
          <p:nvPr/>
        </p:nvSpPr>
        <p:spPr>
          <a:xfrm>
            <a:off x="1739900" y="4957763"/>
            <a:ext cx="471488" cy="1065212"/>
          </a:xfrm>
          <a:prstGeom prst="rect">
            <a:avLst/>
          </a:prstGeom>
          <a:solidFill>
            <a:srgbClr val="C28F3E"/>
          </a:solidFill>
          <a:ln w="28575" cap="flat" cmpd="sng">
            <a:solidFill>
              <a:srgbClr val="C28F3E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A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1058" name="Text Box 210"/>
          <p:cNvSpPr txBox="1"/>
          <p:nvPr/>
        </p:nvSpPr>
        <p:spPr>
          <a:xfrm>
            <a:off x="1749425" y="2359025"/>
            <a:ext cx="471488" cy="1065213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lIns="414000"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rPr>
              <a:t>M D R</a:t>
            </a:r>
            <a:endParaRPr lang="en-US" altLang="zh-CN" sz="20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0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9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9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90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9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59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90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9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9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9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59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7" dur="500"/>
                                        <p:tgtEl>
                                          <p:spTgt spid="59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90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7" dur="500"/>
                                        <p:tgtEl>
                                          <p:spTgt spid="59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937" grpId="0"/>
      <p:bldP spid="18445" grpId="0" animBg="1"/>
      <p:bldP spid="590954" grpId="0" animBg="1"/>
      <p:bldP spid="591059" grpId="0" animBg="1"/>
      <p:bldP spid="591060" grpId="0" animBg="1"/>
      <p:bldP spid="5910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91874" name="Group 2"/>
          <p:cNvGrpSpPr/>
          <p:nvPr/>
        </p:nvGrpSpPr>
        <p:grpSpPr>
          <a:xfrm>
            <a:off x="5454650" y="3627438"/>
            <a:ext cx="792163" cy="396875"/>
            <a:chOff x="3436" y="2285"/>
            <a:chExt cx="499" cy="250"/>
          </a:xfrm>
        </p:grpSpPr>
        <p:sp>
          <p:nvSpPr>
            <p:cNvPr id="19603" name="Text Box 3"/>
            <p:cNvSpPr txBox="1"/>
            <p:nvPr/>
          </p:nvSpPr>
          <p:spPr>
            <a:xfrm>
              <a:off x="3436" y="2285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604" name="Rectangle 4"/>
            <p:cNvSpPr/>
            <p:nvPr/>
          </p:nvSpPr>
          <p:spPr>
            <a:xfrm>
              <a:off x="3438" y="2294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877" name="Group 5"/>
          <p:cNvGrpSpPr/>
          <p:nvPr/>
        </p:nvGrpSpPr>
        <p:grpSpPr>
          <a:xfrm>
            <a:off x="5449888" y="3644900"/>
            <a:ext cx="828675" cy="417513"/>
            <a:chOff x="3433" y="1849"/>
            <a:chExt cx="522" cy="263"/>
          </a:xfrm>
        </p:grpSpPr>
        <p:sp>
          <p:nvSpPr>
            <p:cNvPr id="19601" name="Rectangle 6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602" name="Text Box 7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1880" name="Group 8"/>
          <p:cNvGrpSpPr/>
          <p:nvPr/>
        </p:nvGrpSpPr>
        <p:grpSpPr>
          <a:xfrm>
            <a:off x="5457825" y="909638"/>
            <a:ext cx="762000" cy="396875"/>
            <a:chOff x="3438" y="573"/>
            <a:chExt cx="480" cy="250"/>
          </a:xfrm>
        </p:grpSpPr>
        <p:sp>
          <p:nvSpPr>
            <p:cNvPr id="19599" name="Text Box 9"/>
            <p:cNvSpPr txBox="1"/>
            <p:nvPr/>
          </p:nvSpPr>
          <p:spPr>
            <a:xfrm>
              <a:off x="3513" y="573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600" name="Rectangle 10"/>
            <p:cNvSpPr/>
            <p:nvPr/>
          </p:nvSpPr>
          <p:spPr>
            <a:xfrm>
              <a:off x="3438" y="576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591883" name="Text Box 11"/>
          <p:cNvSpPr txBox="1"/>
          <p:nvPr/>
        </p:nvSpPr>
        <p:spPr>
          <a:xfrm>
            <a:off x="381000" y="990600"/>
            <a:ext cx="472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</a:t>
            </a:r>
            <a:r>
              <a:rPr lang="en-US" altLang="zh-CN" sz="2800" dirty="0">
                <a:latin typeface="Times New Roman" panose="02020603050405020304" pitchFamily="18" charset="0"/>
              </a:rPr>
              <a:t>ADD @ X</a:t>
            </a:r>
            <a:r>
              <a:rPr lang="zh-CN" altLang="en-US" sz="2800" dirty="0">
                <a:latin typeface="Times New Roman" panose="02020603050405020304" pitchFamily="18" charset="0"/>
              </a:rPr>
              <a:t> 取指周期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1884" name="Text Box 12"/>
          <p:cNvSpPr txBox="1"/>
          <p:nvPr/>
        </p:nvSpPr>
        <p:spPr>
          <a:xfrm>
            <a:off x="304800" y="1803400"/>
            <a:ext cx="7731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PC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1885" name="Line 13"/>
          <p:cNvSpPr/>
          <p:nvPr/>
        </p:nvSpPr>
        <p:spPr>
          <a:xfrm>
            <a:off x="990600" y="2057400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1886" name="Line 14"/>
          <p:cNvSpPr/>
          <p:nvPr/>
        </p:nvSpPr>
        <p:spPr>
          <a:xfrm>
            <a:off x="2362200" y="2057400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1887" name="Group 15"/>
          <p:cNvGrpSpPr/>
          <p:nvPr/>
        </p:nvGrpSpPr>
        <p:grpSpPr>
          <a:xfrm>
            <a:off x="304800" y="2909888"/>
            <a:ext cx="2984500" cy="457200"/>
            <a:chOff x="192" y="1833"/>
            <a:chExt cx="1880" cy="288"/>
          </a:xfrm>
        </p:grpSpPr>
        <p:sp>
          <p:nvSpPr>
            <p:cNvPr id="19597" name="Text Box 16"/>
            <p:cNvSpPr txBox="1"/>
            <p:nvPr/>
          </p:nvSpPr>
          <p:spPr>
            <a:xfrm>
              <a:off x="192" y="1833"/>
              <a:ext cx="18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CU</a:t>
              </a:r>
              <a:r>
                <a:rPr lang="en-US" altLang="zh-CN" sz="22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200" dirty="0">
                  <a:latin typeface="Times New Roman" panose="02020603050405020304" pitchFamily="18" charset="0"/>
                </a:rPr>
                <a:t>发读命令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1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598" name="Line 17"/>
            <p:cNvSpPr/>
            <p:nvPr/>
          </p:nvSpPr>
          <p:spPr>
            <a:xfrm>
              <a:off x="1584" y="197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91890" name="Line 18"/>
          <p:cNvSpPr/>
          <p:nvPr/>
        </p:nvSpPr>
        <p:spPr>
          <a:xfrm>
            <a:off x="1524000" y="3703638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1891" name="Text Box 19"/>
          <p:cNvSpPr txBox="1"/>
          <p:nvPr/>
        </p:nvSpPr>
        <p:spPr>
          <a:xfrm>
            <a:off x="304800" y="4017963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1892" name="Line 20"/>
          <p:cNvSpPr/>
          <p:nvPr/>
        </p:nvSpPr>
        <p:spPr>
          <a:xfrm>
            <a:off x="1371600" y="4241800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1893" name="Text Box 21"/>
          <p:cNvSpPr txBox="1"/>
          <p:nvPr/>
        </p:nvSpPr>
        <p:spPr>
          <a:xfrm>
            <a:off x="304800" y="5029200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en-US" altLang="zh-CN" sz="2400" dirty="0">
                <a:latin typeface="Times New Roman" panose="02020603050405020304" pitchFamily="18" charset="0"/>
              </a:rPr>
              <a:t> OP（IR）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1894" name="Line 22"/>
          <p:cNvSpPr/>
          <p:nvPr/>
        </p:nvSpPr>
        <p:spPr>
          <a:xfrm>
            <a:off x="1905000" y="5253038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1895" name="Group 23"/>
          <p:cNvGrpSpPr/>
          <p:nvPr/>
        </p:nvGrpSpPr>
        <p:grpSpPr>
          <a:xfrm>
            <a:off x="304800" y="5680075"/>
            <a:ext cx="2727325" cy="457200"/>
            <a:chOff x="192" y="3578"/>
            <a:chExt cx="1718" cy="288"/>
          </a:xfrm>
        </p:grpSpPr>
        <p:sp>
          <p:nvSpPr>
            <p:cNvPr id="19595" name="Text Box 24"/>
            <p:cNvSpPr txBox="1"/>
            <p:nvPr/>
          </p:nvSpPr>
          <p:spPr>
            <a:xfrm>
              <a:off x="192" y="3578"/>
              <a:ext cx="17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（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PC）+ 1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596" name="Line 25"/>
            <p:cNvSpPr/>
            <p:nvPr/>
          </p:nvSpPr>
          <p:spPr>
            <a:xfrm>
              <a:off x="1296" y="371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91898" name="Group 26"/>
          <p:cNvGrpSpPr/>
          <p:nvPr/>
        </p:nvGrpSpPr>
        <p:grpSpPr>
          <a:xfrm>
            <a:off x="5457825" y="1584325"/>
            <a:ext cx="762000" cy="396875"/>
            <a:chOff x="3438" y="998"/>
            <a:chExt cx="480" cy="250"/>
          </a:xfrm>
        </p:grpSpPr>
        <p:sp>
          <p:nvSpPr>
            <p:cNvPr id="19593" name="Text Box 27"/>
            <p:cNvSpPr txBox="1"/>
            <p:nvPr/>
          </p:nvSpPr>
          <p:spPr>
            <a:xfrm>
              <a:off x="3546" y="998"/>
              <a:ext cx="2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94" name="Rectangle 28"/>
            <p:cNvSpPr/>
            <p:nvPr/>
          </p:nvSpPr>
          <p:spPr>
            <a:xfrm>
              <a:off x="3438" y="1005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901" name="Group 29"/>
          <p:cNvGrpSpPr/>
          <p:nvPr/>
        </p:nvGrpSpPr>
        <p:grpSpPr>
          <a:xfrm>
            <a:off x="5457825" y="2278063"/>
            <a:ext cx="762000" cy="396875"/>
            <a:chOff x="3438" y="1435"/>
            <a:chExt cx="480" cy="250"/>
          </a:xfrm>
        </p:grpSpPr>
        <p:sp>
          <p:nvSpPr>
            <p:cNvPr id="19591" name="Text Box 30"/>
            <p:cNvSpPr txBox="1"/>
            <p:nvPr/>
          </p:nvSpPr>
          <p:spPr>
            <a:xfrm>
              <a:off x="3510" y="1435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92" name="Rectangle 31"/>
            <p:cNvSpPr/>
            <p:nvPr/>
          </p:nvSpPr>
          <p:spPr>
            <a:xfrm>
              <a:off x="3438" y="1435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904" name="Group 32"/>
          <p:cNvGrpSpPr/>
          <p:nvPr/>
        </p:nvGrpSpPr>
        <p:grpSpPr>
          <a:xfrm>
            <a:off x="5457825" y="2943225"/>
            <a:ext cx="796925" cy="396875"/>
            <a:chOff x="3438" y="1854"/>
            <a:chExt cx="502" cy="250"/>
          </a:xfrm>
        </p:grpSpPr>
        <p:sp>
          <p:nvSpPr>
            <p:cNvPr id="19589" name="Text Box 33"/>
            <p:cNvSpPr txBox="1"/>
            <p:nvPr/>
          </p:nvSpPr>
          <p:spPr>
            <a:xfrm>
              <a:off x="3441" y="1854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MAR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90" name="Rectangle 34"/>
            <p:cNvSpPr/>
            <p:nvPr/>
          </p:nvSpPr>
          <p:spPr>
            <a:xfrm>
              <a:off x="3438" y="1864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907" name="Group 35"/>
          <p:cNvGrpSpPr/>
          <p:nvPr/>
        </p:nvGrpSpPr>
        <p:grpSpPr>
          <a:xfrm>
            <a:off x="5457825" y="4462463"/>
            <a:ext cx="762000" cy="396875"/>
            <a:chOff x="3438" y="2811"/>
            <a:chExt cx="480" cy="250"/>
          </a:xfrm>
        </p:grpSpPr>
        <p:sp>
          <p:nvSpPr>
            <p:cNvPr id="19587" name="Text Box 36"/>
            <p:cNvSpPr txBox="1"/>
            <p:nvPr/>
          </p:nvSpPr>
          <p:spPr>
            <a:xfrm>
              <a:off x="3513" y="2811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88" name="Rectangle 37"/>
            <p:cNvSpPr/>
            <p:nvPr/>
          </p:nvSpPr>
          <p:spPr>
            <a:xfrm>
              <a:off x="3438" y="2820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910" name="Group 38"/>
          <p:cNvGrpSpPr/>
          <p:nvPr/>
        </p:nvGrpSpPr>
        <p:grpSpPr>
          <a:xfrm>
            <a:off x="5457825" y="5141913"/>
            <a:ext cx="762000" cy="396875"/>
            <a:chOff x="3438" y="3239"/>
            <a:chExt cx="480" cy="250"/>
          </a:xfrm>
        </p:grpSpPr>
        <p:sp>
          <p:nvSpPr>
            <p:cNvPr id="19585" name="Text Box 39"/>
            <p:cNvSpPr txBox="1"/>
            <p:nvPr/>
          </p:nvSpPr>
          <p:spPr>
            <a:xfrm>
              <a:off x="3552" y="3239"/>
              <a:ext cx="2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Y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86" name="Rectangle 40"/>
            <p:cNvSpPr/>
            <p:nvPr/>
          </p:nvSpPr>
          <p:spPr>
            <a:xfrm>
              <a:off x="3438" y="3245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913" name="Group 41"/>
          <p:cNvGrpSpPr/>
          <p:nvPr/>
        </p:nvGrpSpPr>
        <p:grpSpPr>
          <a:xfrm>
            <a:off x="5457825" y="5791200"/>
            <a:ext cx="762000" cy="457200"/>
            <a:chOff x="1344" y="3245"/>
            <a:chExt cx="480" cy="240"/>
          </a:xfrm>
        </p:grpSpPr>
        <p:sp>
          <p:nvSpPr>
            <p:cNvPr id="19583" name="Text Box 42"/>
            <p:cNvSpPr txBox="1"/>
            <p:nvPr/>
          </p:nvSpPr>
          <p:spPr>
            <a:xfrm>
              <a:off x="1369" y="3254"/>
              <a:ext cx="455" cy="2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ALU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84" name="Rectangle 43"/>
            <p:cNvSpPr/>
            <p:nvPr/>
          </p:nvSpPr>
          <p:spPr>
            <a:xfrm>
              <a:off x="1344" y="3245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1916" name="Group 44"/>
          <p:cNvGrpSpPr/>
          <p:nvPr/>
        </p:nvGrpSpPr>
        <p:grpSpPr>
          <a:xfrm>
            <a:off x="5457825" y="6351588"/>
            <a:ext cx="762000" cy="400050"/>
            <a:chOff x="3438" y="4001"/>
            <a:chExt cx="480" cy="252"/>
          </a:xfrm>
        </p:grpSpPr>
        <p:sp>
          <p:nvSpPr>
            <p:cNvPr id="19581" name="Text Box 45"/>
            <p:cNvSpPr txBox="1"/>
            <p:nvPr/>
          </p:nvSpPr>
          <p:spPr>
            <a:xfrm>
              <a:off x="3575" y="4001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Z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82" name="Rectangle 46"/>
            <p:cNvSpPr/>
            <p:nvPr/>
          </p:nvSpPr>
          <p:spPr>
            <a:xfrm>
              <a:off x="3438" y="4013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591919" name="Line 47"/>
          <p:cNvSpPr/>
          <p:nvPr/>
        </p:nvSpPr>
        <p:spPr>
          <a:xfrm flipV="1">
            <a:off x="5838825" y="1295400"/>
            <a:ext cx="0" cy="30480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1920" name="Group 48"/>
          <p:cNvGrpSpPr/>
          <p:nvPr/>
        </p:nvGrpSpPr>
        <p:grpSpPr>
          <a:xfrm>
            <a:off x="6219825" y="1709738"/>
            <a:ext cx="1371600" cy="76200"/>
            <a:chOff x="3918" y="1077"/>
            <a:chExt cx="864" cy="48"/>
          </a:xfrm>
        </p:grpSpPr>
        <p:sp>
          <p:nvSpPr>
            <p:cNvPr id="19578" name="Oval 49"/>
            <p:cNvSpPr/>
            <p:nvPr/>
          </p:nvSpPr>
          <p:spPr>
            <a:xfrm>
              <a:off x="4110" y="107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79" name="Line 50"/>
            <p:cNvSpPr/>
            <p:nvPr/>
          </p:nvSpPr>
          <p:spPr>
            <a:xfrm rot="-5400000" flipV="1">
              <a:off x="4014" y="1008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9580" name="Line 51"/>
            <p:cNvSpPr/>
            <p:nvPr/>
          </p:nvSpPr>
          <p:spPr>
            <a:xfrm>
              <a:off x="4158" y="1104"/>
              <a:ext cx="62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91924" name="Group 52"/>
          <p:cNvGrpSpPr/>
          <p:nvPr/>
        </p:nvGrpSpPr>
        <p:grpSpPr>
          <a:xfrm>
            <a:off x="5838825" y="2667000"/>
            <a:ext cx="1752600" cy="152400"/>
            <a:chOff x="3678" y="1680"/>
            <a:chExt cx="1104" cy="96"/>
          </a:xfrm>
        </p:grpSpPr>
        <p:sp>
          <p:nvSpPr>
            <p:cNvPr id="19575" name="Oval 53"/>
            <p:cNvSpPr/>
            <p:nvPr/>
          </p:nvSpPr>
          <p:spPr>
            <a:xfrm>
              <a:off x="4110" y="172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76" name="Freeform 54"/>
            <p:cNvSpPr/>
            <p:nvPr/>
          </p:nvSpPr>
          <p:spPr>
            <a:xfrm>
              <a:off x="4164" y="1749"/>
              <a:ext cx="61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8" y="6"/>
                </a:cxn>
              </a:cxnLst>
              <a:pathLst>
                <a:path w="618" h="6">
                  <a:moveTo>
                    <a:pt x="0" y="0"/>
                  </a:moveTo>
                  <a:lnTo>
                    <a:pt x="618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577" name="Freeform 55"/>
            <p:cNvSpPr/>
            <p:nvPr/>
          </p:nvSpPr>
          <p:spPr>
            <a:xfrm>
              <a:off x="3678" y="1680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1928" name="Group 56"/>
          <p:cNvGrpSpPr/>
          <p:nvPr/>
        </p:nvGrpSpPr>
        <p:grpSpPr>
          <a:xfrm>
            <a:off x="6219825" y="3124200"/>
            <a:ext cx="1371600" cy="76200"/>
            <a:chOff x="3918" y="1968"/>
            <a:chExt cx="864" cy="48"/>
          </a:xfrm>
        </p:grpSpPr>
        <p:sp>
          <p:nvSpPr>
            <p:cNvPr id="19572" name="Oval 57"/>
            <p:cNvSpPr/>
            <p:nvPr/>
          </p:nvSpPr>
          <p:spPr>
            <a:xfrm>
              <a:off x="4110" y="196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73" name="Line 58"/>
            <p:cNvSpPr/>
            <p:nvPr/>
          </p:nvSpPr>
          <p:spPr>
            <a:xfrm rot="-5400000" flipV="1">
              <a:off x="4014" y="1899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9574" name="Freeform 59"/>
            <p:cNvSpPr/>
            <p:nvPr/>
          </p:nvSpPr>
          <p:spPr>
            <a:xfrm>
              <a:off x="4158" y="1989"/>
              <a:ext cx="624" cy="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24" y="0"/>
                </a:cxn>
              </a:cxnLst>
              <a:pathLst>
                <a:path w="624" h="6">
                  <a:moveTo>
                    <a:pt x="0" y="6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1932" name="Group 60"/>
          <p:cNvGrpSpPr/>
          <p:nvPr/>
        </p:nvGrpSpPr>
        <p:grpSpPr>
          <a:xfrm>
            <a:off x="5843588" y="4038600"/>
            <a:ext cx="1747837" cy="152400"/>
            <a:chOff x="3681" y="2544"/>
            <a:chExt cx="1101" cy="96"/>
          </a:xfrm>
        </p:grpSpPr>
        <p:sp>
          <p:nvSpPr>
            <p:cNvPr id="19569" name="Oval 61"/>
            <p:cNvSpPr/>
            <p:nvPr/>
          </p:nvSpPr>
          <p:spPr>
            <a:xfrm>
              <a:off x="4113" y="259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70" name="Freeform 62"/>
            <p:cNvSpPr/>
            <p:nvPr/>
          </p:nvSpPr>
          <p:spPr>
            <a:xfrm>
              <a:off x="4167" y="2613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571" name="Freeform 63"/>
            <p:cNvSpPr/>
            <p:nvPr/>
          </p:nvSpPr>
          <p:spPr>
            <a:xfrm>
              <a:off x="3681" y="2544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1936" name="Group 64"/>
          <p:cNvGrpSpPr/>
          <p:nvPr/>
        </p:nvGrpSpPr>
        <p:grpSpPr>
          <a:xfrm>
            <a:off x="5638800" y="547688"/>
            <a:ext cx="457200" cy="396875"/>
            <a:chOff x="3534" y="345"/>
            <a:chExt cx="288" cy="250"/>
          </a:xfrm>
        </p:grpSpPr>
        <p:sp>
          <p:nvSpPr>
            <p:cNvPr id="19566" name="Line 65"/>
            <p:cNvSpPr/>
            <p:nvPr/>
          </p:nvSpPr>
          <p:spPr>
            <a:xfrm flipV="1">
              <a:off x="3822" y="38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9567" name="Line 66"/>
            <p:cNvSpPr/>
            <p:nvPr/>
          </p:nvSpPr>
          <p:spPr>
            <a:xfrm flipV="1">
              <a:off x="3534" y="38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9568" name="Text Box 67"/>
            <p:cNvSpPr txBox="1"/>
            <p:nvPr/>
          </p:nvSpPr>
          <p:spPr>
            <a:xfrm>
              <a:off x="3534" y="345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1940" name="Text Box 68"/>
          <p:cNvSpPr txBox="1"/>
          <p:nvPr/>
        </p:nvSpPr>
        <p:spPr>
          <a:xfrm>
            <a:off x="5305425" y="327025"/>
            <a:ext cx="110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控制信号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591941" name="Group 69"/>
          <p:cNvGrpSpPr/>
          <p:nvPr/>
        </p:nvGrpSpPr>
        <p:grpSpPr>
          <a:xfrm>
            <a:off x="1849438" y="1385888"/>
            <a:ext cx="5232400" cy="3430587"/>
            <a:chOff x="1165" y="873"/>
            <a:chExt cx="3296" cy="2161"/>
          </a:xfrm>
        </p:grpSpPr>
        <p:sp>
          <p:nvSpPr>
            <p:cNvPr id="19562" name="Text Box 70"/>
            <p:cNvSpPr txBox="1"/>
            <p:nvPr/>
          </p:nvSpPr>
          <p:spPr>
            <a:xfrm>
              <a:off x="1165" y="2784"/>
              <a:ext cx="3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IR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9563" name="Group 71"/>
            <p:cNvGrpSpPr/>
            <p:nvPr/>
          </p:nvGrpSpPr>
          <p:grpSpPr>
            <a:xfrm>
              <a:off x="4131" y="873"/>
              <a:ext cx="330" cy="231"/>
              <a:chOff x="4131" y="873"/>
              <a:chExt cx="330" cy="231"/>
            </a:xfrm>
          </p:grpSpPr>
          <p:sp>
            <p:nvSpPr>
              <p:cNvPr id="19564" name="Freeform 72"/>
              <p:cNvSpPr/>
              <p:nvPr/>
            </p:nvSpPr>
            <p:spPr>
              <a:xfrm>
                <a:off x="4131" y="960"/>
                <a:ext cx="1" cy="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7"/>
                  </a:cxn>
                </a:cxnLst>
                <a:pathLst>
                  <a:path w="1" h="165">
                    <a:moveTo>
                      <a:pt x="0" y="0"/>
                    </a:moveTo>
                    <a:lnTo>
                      <a:pt x="0" y="165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565" name="Text Box 73"/>
              <p:cNvSpPr txBox="1"/>
              <p:nvPr/>
            </p:nvSpPr>
            <p:spPr>
              <a:xfrm>
                <a:off x="4158" y="873"/>
                <a:ext cx="30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IR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91946" name="Group 74"/>
          <p:cNvGrpSpPr/>
          <p:nvPr/>
        </p:nvGrpSpPr>
        <p:grpSpPr>
          <a:xfrm>
            <a:off x="536575" y="2193925"/>
            <a:ext cx="6672263" cy="619125"/>
            <a:chOff x="338" y="1382"/>
            <a:chExt cx="4203" cy="390"/>
          </a:xfrm>
        </p:grpSpPr>
        <p:sp>
          <p:nvSpPr>
            <p:cNvPr id="19558" name="Text Box 75"/>
            <p:cNvSpPr txBox="1"/>
            <p:nvPr/>
          </p:nvSpPr>
          <p:spPr>
            <a:xfrm>
              <a:off x="338" y="1382"/>
              <a:ext cx="4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9559" name="Group 76"/>
            <p:cNvGrpSpPr/>
            <p:nvPr/>
          </p:nvGrpSpPr>
          <p:grpSpPr>
            <a:xfrm>
              <a:off x="4137" y="1541"/>
              <a:ext cx="404" cy="231"/>
              <a:chOff x="4137" y="1541"/>
              <a:chExt cx="404" cy="231"/>
            </a:xfrm>
          </p:grpSpPr>
          <p:sp>
            <p:nvSpPr>
              <p:cNvPr id="19560" name="Freeform 77"/>
              <p:cNvSpPr/>
              <p:nvPr/>
            </p:nvSpPr>
            <p:spPr>
              <a:xfrm>
                <a:off x="4137" y="1615"/>
                <a:ext cx="1" cy="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2"/>
                  </a:cxn>
                </a:cxnLst>
                <a:pathLst>
                  <a:path w="1" h="156">
                    <a:moveTo>
                      <a:pt x="0" y="0"/>
                    </a:moveTo>
                    <a:lnTo>
                      <a:pt x="0" y="156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561" name="Text Box 78"/>
              <p:cNvSpPr txBox="1"/>
              <p:nvPr/>
            </p:nvSpPr>
            <p:spPr>
              <a:xfrm>
                <a:off x="4158" y="1541"/>
                <a:ext cx="38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O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91951" name="Group 79"/>
          <p:cNvGrpSpPr/>
          <p:nvPr/>
        </p:nvGrpSpPr>
        <p:grpSpPr>
          <a:xfrm>
            <a:off x="1524000" y="2193925"/>
            <a:ext cx="5838825" cy="1000125"/>
            <a:chOff x="960" y="1382"/>
            <a:chExt cx="3678" cy="630"/>
          </a:xfrm>
        </p:grpSpPr>
        <p:sp>
          <p:nvSpPr>
            <p:cNvPr id="19554" name="Text Box 80"/>
            <p:cNvSpPr txBox="1"/>
            <p:nvPr/>
          </p:nvSpPr>
          <p:spPr>
            <a:xfrm>
              <a:off x="960" y="1382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MAR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9555" name="Group 81"/>
            <p:cNvGrpSpPr/>
            <p:nvPr/>
          </p:nvGrpSpPr>
          <p:grpSpPr>
            <a:xfrm>
              <a:off x="4131" y="1781"/>
              <a:ext cx="507" cy="231"/>
              <a:chOff x="4131" y="1781"/>
              <a:chExt cx="507" cy="231"/>
            </a:xfrm>
          </p:grpSpPr>
          <p:sp>
            <p:nvSpPr>
              <p:cNvPr id="19556" name="Freeform 82"/>
              <p:cNvSpPr/>
              <p:nvPr/>
            </p:nvSpPr>
            <p:spPr>
              <a:xfrm>
                <a:off x="4131" y="1872"/>
                <a:ext cx="1" cy="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7"/>
                  </a:cxn>
                </a:cxnLst>
                <a:pathLst>
                  <a:path w="1" h="165">
                    <a:moveTo>
                      <a:pt x="0" y="0"/>
                    </a:moveTo>
                    <a:lnTo>
                      <a:pt x="0" y="165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557" name="Text Box 83"/>
              <p:cNvSpPr txBox="1"/>
              <p:nvPr/>
            </p:nvSpPr>
            <p:spPr>
              <a:xfrm>
                <a:off x="4151" y="1781"/>
                <a:ext cx="487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MAR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91956" name="Group 84"/>
          <p:cNvGrpSpPr/>
          <p:nvPr/>
        </p:nvGrpSpPr>
        <p:grpSpPr>
          <a:xfrm>
            <a:off x="527050" y="3817938"/>
            <a:ext cx="6923088" cy="998537"/>
            <a:chOff x="332" y="2405"/>
            <a:chExt cx="4361" cy="629"/>
          </a:xfrm>
        </p:grpSpPr>
        <p:sp>
          <p:nvSpPr>
            <p:cNvPr id="19550" name="Text Box 85"/>
            <p:cNvSpPr txBox="1"/>
            <p:nvPr/>
          </p:nvSpPr>
          <p:spPr>
            <a:xfrm>
              <a:off x="332" y="2784"/>
              <a:ext cx="5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9551" name="Group 86"/>
            <p:cNvGrpSpPr/>
            <p:nvPr/>
          </p:nvGrpSpPr>
          <p:grpSpPr>
            <a:xfrm>
              <a:off x="4140" y="2405"/>
              <a:ext cx="553" cy="231"/>
              <a:chOff x="4140" y="2405"/>
              <a:chExt cx="553" cy="231"/>
            </a:xfrm>
          </p:grpSpPr>
          <p:sp>
            <p:nvSpPr>
              <p:cNvPr id="19552" name="Freeform 87"/>
              <p:cNvSpPr/>
              <p:nvPr/>
            </p:nvSpPr>
            <p:spPr>
              <a:xfrm>
                <a:off x="4140" y="2479"/>
                <a:ext cx="1" cy="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2"/>
                  </a:cxn>
                </a:cxnLst>
                <a:pathLst>
                  <a:path w="1" h="156">
                    <a:moveTo>
                      <a:pt x="0" y="0"/>
                    </a:moveTo>
                    <a:lnTo>
                      <a:pt x="0" y="156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553" name="Text Box 88"/>
              <p:cNvSpPr txBox="1"/>
              <p:nvPr/>
            </p:nvSpPr>
            <p:spPr>
              <a:xfrm>
                <a:off x="4158" y="2405"/>
                <a:ext cx="53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MDR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O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91961" name="Line 89"/>
          <p:cNvSpPr/>
          <p:nvPr/>
        </p:nvSpPr>
        <p:spPr>
          <a:xfrm flipH="1">
            <a:off x="4848225" y="3124200"/>
            <a:ext cx="6096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1962" name="Group 90"/>
          <p:cNvGrpSpPr/>
          <p:nvPr/>
        </p:nvGrpSpPr>
        <p:grpSpPr>
          <a:xfrm>
            <a:off x="5076825" y="5867400"/>
            <a:ext cx="458788" cy="333375"/>
            <a:chOff x="3198" y="3696"/>
            <a:chExt cx="289" cy="210"/>
          </a:xfrm>
        </p:grpSpPr>
        <p:sp>
          <p:nvSpPr>
            <p:cNvPr id="19547" name="Line 91"/>
            <p:cNvSpPr/>
            <p:nvPr/>
          </p:nvSpPr>
          <p:spPr>
            <a:xfrm>
              <a:off x="3294" y="3696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9548" name="Line 92"/>
            <p:cNvSpPr/>
            <p:nvPr/>
          </p:nvSpPr>
          <p:spPr>
            <a:xfrm>
              <a:off x="3294" y="3888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9549" name="Text Box 93"/>
            <p:cNvSpPr txBox="1"/>
            <p:nvPr/>
          </p:nvSpPr>
          <p:spPr>
            <a:xfrm>
              <a:off x="3198" y="3704"/>
              <a:ext cx="28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…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1966" name="Group 94"/>
          <p:cNvGrpSpPr/>
          <p:nvPr/>
        </p:nvGrpSpPr>
        <p:grpSpPr>
          <a:xfrm>
            <a:off x="304800" y="3487738"/>
            <a:ext cx="4564063" cy="490537"/>
            <a:chOff x="192" y="2197"/>
            <a:chExt cx="2875" cy="309"/>
          </a:xfrm>
        </p:grpSpPr>
        <p:sp>
          <p:nvSpPr>
            <p:cNvPr id="19545" name="Text Box 95"/>
            <p:cNvSpPr txBox="1"/>
            <p:nvPr/>
          </p:nvSpPr>
          <p:spPr>
            <a:xfrm>
              <a:off x="192" y="2197"/>
              <a:ext cx="75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200" dirty="0">
                  <a:latin typeface="Times New Roman" panose="02020603050405020304" pitchFamily="18" charset="0"/>
                </a:rPr>
                <a:t> 数据线</a:t>
              </a:r>
              <a:endParaRPr lang="en-US" altLang="zh-CN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19546" name="Text Box 96"/>
            <p:cNvSpPr txBox="1"/>
            <p:nvPr/>
          </p:nvSpPr>
          <p:spPr>
            <a:xfrm>
              <a:off x="2468" y="2256"/>
              <a:ext cx="5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数据线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1969" name="Text Box 97"/>
          <p:cNvSpPr txBox="1"/>
          <p:nvPr/>
        </p:nvSpPr>
        <p:spPr>
          <a:xfrm>
            <a:off x="3841750" y="5788025"/>
            <a:ext cx="12065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控制信号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591970" name="Group 98"/>
          <p:cNvGrpSpPr/>
          <p:nvPr/>
        </p:nvGrpSpPr>
        <p:grpSpPr>
          <a:xfrm>
            <a:off x="7591425" y="685800"/>
            <a:ext cx="812800" cy="6096000"/>
            <a:chOff x="4782" y="432"/>
            <a:chExt cx="512" cy="3840"/>
          </a:xfrm>
        </p:grpSpPr>
        <p:sp>
          <p:nvSpPr>
            <p:cNvPr id="19542" name="Line 99"/>
            <p:cNvSpPr/>
            <p:nvPr/>
          </p:nvSpPr>
          <p:spPr>
            <a:xfrm>
              <a:off x="4782" y="432"/>
              <a:ext cx="0" cy="38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43" name="Line 100"/>
            <p:cNvSpPr/>
            <p:nvPr/>
          </p:nvSpPr>
          <p:spPr>
            <a:xfrm>
              <a:off x="4848" y="432"/>
              <a:ext cx="0" cy="38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44" name="Text Box 101"/>
            <p:cNvSpPr txBox="1"/>
            <p:nvPr/>
          </p:nvSpPr>
          <p:spPr>
            <a:xfrm>
              <a:off x="4848" y="1574"/>
              <a:ext cx="446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CPU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内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部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总</a:t>
              </a:r>
              <a:endParaRPr lang="zh-CN" altLang="en-US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1974" name="Line 102"/>
          <p:cNvSpPr/>
          <p:nvPr/>
        </p:nvSpPr>
        <p:spPr>
          <a:xfrm flipH="1">
            <a:off x="4848225" y="1100138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stealth" w="med" len="med"/>
            <a:tailEnd type="none" w="med" len="med"/>
          </a:ln>
        </p:spPr>
      </p:sp>
      <p:grpSp>
        <p:nvGrpSpPr>
          <p:cNvPr id="591975" name="Group 103"/>
          <p:cNvGrpSpPr/>
          <p:nvPr/>
        </p:nvGrpSpPr>
        <p:grpSpPr>
          <a:xfrm>
            <a:off x="4086225" y="898525"/>
            <a:ext cx="762000" cy="396875"/>
            <a:chOff x="2574" y="566"/>
            <a:chExt cx="480" cy="250"/>
          </a:xfrm>
        </p:grpSpPr>
        <p:sp>
          <p:nvSpPr>
            <p:cNvPr id="19540" name="Text Box 104"/>
            <p:cNvSpPr txBox="1"/>
            <p:nvPr/>
          </p:nvSpPr>
          <p:spPr>
            <a:xfrm>
              <a:off x="2592" y="566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时钟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41" name="Rectangle 105"/>
            <p:cNvSpPr/>
            <p:nvPr/>
          </p:nvSpPr>
          <p:spPr>
            <a:xfrm>
              <a:off x="2574" y="576"/>
              <a:ext cx="48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19497" name="Text Box 106"/>
          <p:cNvSpPr txBox="1"/>
          <p:nvPr/>
        </p:nvSpPr>
        <p:spPr>
          <a:xfrm>
            <a:off x="111125" y="228600"/>
            <a:ext cx="54514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2. 采用 </a:t>
            </a:r>
            <a:r>
              <a:rPr lang="en-US" altLang="zh-CN" sz="3200" dirty="0">
                <a:latin typeface="Times New Roman" panose="02020603050405020304" pitchFamily="18" charset="0"/>
              </a:rPr>
              <a:t>CPU </a:t>
            </a:r>
            <a:r>
              <a:rPr lang="zh-CN" altLang="en-US" sz="3200" dirty="0">
                <a:latin typeface="Times New Roman" panose="02020603050405020304" pitchFamily="18" charset="0"/>
              </a:rPr>
              <a:t>内部总线方式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591979" name="Group 107"/>
          <p:cNvGrpSpPr/>
          <p:nvPr/>
        </p:nvGrpSpPr>
        <p:grpSpPr>
          <a:xfrm>
            <a:off x="2803525" y="1830388"/>
            <a:ext cx="2005013" cy="1458912"/>
            <a:chOff x="1766" y="1153"/>
            <a:chExt cx="1263" cy="919"/>
          </a:xfrm>
        </p:grpSpPr>
        <p:sp>
          <p:nvSpPr>
            <p:cNvPr id="19538" name="Text Box 108"/>
            <p:cNvSpPr txBox="1"/>
            <p:nvPr/>
          </p:nvSpPr>
          <p:spPr>
            <a:xfrm>
              <a:off x="2430" y="1822"/>
              <a:ext cx="5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地址线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9539" name="Text Box 109"/>
            <p:cNvSpPr txBox="1"/>
            <p:nvPr/>
          </p:nvSpPr>
          <p:spPr>
            <a:xfrm>
              <a:off x="1766" y="1153"/>
              <a:ext cx="64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200" dirty="0">
                  <a:latin typeface="Times New Roman" panose="02020603050405020304" pitchFamily="18" charset="0"/>
                </a:rPr>
                <a:t>地址线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1982" name="Text Box 110"/>
          <p:cNvSpPr txBox="1"/>
          <p:nvPr/>
        </p:nvSpPr>
        <p:spPr>
          <a:xfrm>
            <a:off x="1508125" y="1803400"/>
            <a:ext cx="912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MAR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1983" name="Text Box 111"/>
          <p:cNvSpPr txBox="1"/>
          <p:nvPr/>
        </p:nvSpPr>
        <p:spPr>
          <a:xfrm>
            <a:off x="1981200" y="3463925"/>
            <a:ext cx="912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1984" name="Text Box 112"/>
          <p:cNvSpPr txBox="1"/>
          <p:nvPr/>
        </p:nvSpPr>
        <p:spPr>
          <a:xfrm>
            <a:off x="1812925" y="4017963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IR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1985" name="Line 113"/>
          <p:cNvSpPr/>
          <p:nvPr/>
        </p:nvSpPr>
        <p:spPr>
          <a:xfrm rot="-10800000" flipH="1">
            <a:off x="4857750" y="3810000"/>
            <a:ext cx="6096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1986" name="Freeform 114"/>
          <p:cNvSpPr/>
          <p:nvPr/>
        </p:nvSpPr>
        <p:spPr>
          <a:xfrm>
            <a:off x="7581900" y="2782888"/>
            <a:ext cx="1588" cy="388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617436694"/>
              </a:cxn>
            </a:cxnLst>
            <a:pathLst>
              <a:path w="1" h="245">
                <a:moveTo>
                  <a:pt x="0" y="0"/>
                </a:moveTo>
                <a:lnTo>
                  <a:pt x="0" y="245"/>
                </a:lnTo>
              </a:path>
            </a:pathLst>
          </a:custGeom>
          <a:noFill/>
          <a:ln w="5715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1987" name="Line 115"/>
          <p:cNvSpPr/>
          <p:nvPr/>
        </p:nvSpPr>
        <p:spPr>
          <a:xfrm flipV="1">
            <a:off x="7581900" y="1752600"/>
            <a:ext cx="0" cy="24384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1988" name="Text Box 116"/>
          <p:cNvSpPr txBox="1"/>
          <p:nvPr/>
        </p:nvSpPr>
        <p:spPr>
          <a:xfrm>
            <a:off x="2362200" y="50292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CU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1989" name="Rectangle 117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1990" name="Group 118"/>
          <p:cNvGrpSpPr/>
          <p:nvPr/>
        </p:nvGrpSpPr>
        <p:grpSpPr>
          <a:xfrm>
            <a:off x="5449888" y="1600200"/>
            <a:ext cx="798512" cy="417513"/>
            <a:chOff x="3433" y="1417"/>
            <a:chExt cx="503" cy="263"/>
          </a:xfrm>
        </p:grpSpPr>
        <p:sp>
          <p:nvSpPr>
            <p:cNvPr id="19536" name="Rectangle 119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37" name="Text Box 120"/>
            <p:cNvSpPr txBox="1"/>
            <p:nvPr/>
          </p:nvSpPr>
          <p:spPr>
            <a:xfrm>
              <a:off x="3540" y="1430"/>
              <a:ext cx="2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1993" name="Group 121"/>
          <p:cNvGrpSpPr/>
          <p:nvPr/>
        </p:nvGrpSpPr>
        <p:grpSpPr>
          <a:xfrm>
            <a:off x="5448300" y="2249488"/>
            <a:ext cx="798513" cy="417512"/>
            <a:chOff x="3433" y="1417"/>
            <a:chExt cx="503" cy="263"/>
          </a:xfrm>
        </p:grpSpPr>
        <p:sp>
          <p:nvSpPr>
            <p:cNvPr id="19534" name="Rectangle 122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35" name="Text Box 123"/>
            <p:cNvSpPr txBox="1"/>
            <p:nvPr/>
          </p:nvSpPr>
          <p:spPr>
            <a:xfrm>
              <a:off x="3540" y="1430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1996" name="Group 124"/>
          <p:cNvGrpSpPr/>
          <p:nvPr/>
        </p:nvGrpSpPr>
        <p:grpSpPr>
          <a:xfrm>
            <a:off x="5448300" y="2249488"/>
            <a:ext cx="798513" cy="417512"/>
            <a:chOff x="3433" y="1417"/>
            <a:chExt cx="503" cy="263"/>
          </a:xfrm>
        </p:grpSpPr>
        <p:sp>
          <p:nvSpPr>
            <p:cNvPr id="19532" name="Rectangle 125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33" name="Text Box 126"/>
            <p:cNvSpPr txBox="1"/>
            <p:nvPr/>
          </p:nvSpPr>
          <p:spPr>
            <a:xfrm>
              <a:off x="3540" y="1430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1999" name="Group 127"/>
          <p:cNvGrpSpPr/>
          <p:nvPr/>
        </p:nvGrpSpPr>
        <p:grpSpPr>
          <a:xfrm>
            <a:off x="5448300" y="3644900"/>
            <a:ext cx="828675" cy="417513"/>
            <a:chOff x="3433" y="1849"/>
            <a:chExt cx="522" cy="263"/>
          </a:xfrm>
        </p:grpSpPr>
        <p:sp>
          <p:nvSpPr>
            <p:cNvPr id="19530" name="Rectangle 128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31" name="Text Box 129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002" name="Group 130"/>
          <p:cNvGrpSpPr/>
          <p:nvPr/>
        </p:nvGrpSpPr>
        <p:grpSpPr>
          <a:xfrm>
            <a:off x="5449888" y="2935288"/>
            <a:ext cx="828675" cy="417512"/>
            <a:chOff x="3433" y="1849"/>
            <a:chExt cx="522" cy="263"/>
          </a:xfrm>
        </p:grpSpPr>
        <p:sp>
          <p:nvSpPr>
            <p:cNvPr id="19528" name="Rectangle 131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29" name="Text Box 132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MAR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005" name="Group 133"/>
          <p:cNvGrpSpPr/>
          <p:nvPr/>
        </p:nvGrpSpPr>
        <p:grpSpPr>
          <a:xfrm>
            <a:off x="5449888" y="914400"/>
            <a:ext cx="798512" cy="417513"/>
            <a:chOff x="3433" y="1417"/>
            <a:chExt cx="503" cy="263"/>
          </a:xfrm>
        </p:grpSpPr>
        <p:sp>
          <p:nvSpPr>
            <p:cNvPr id="19526" name="Rectangle 134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27" name="Text Box 135"/>
            <p:cNvSpPr txBox="1"/>
            <p:nvPr/>
          </p:nvSpPr>
          <p:spPr>
            <a:xfrm>
              <a:off x="3540" y="1430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008" name="Group 136"/>
          <p:cNvGrpSpPr/>
          <p:nvPr/>
        </p:nvGrpSpPr>
        <p:grpSpPr>
          <a:xfrm>
            <a:off x="5448300" y="1600200"/>
            <a:ext cx="798513" cy="417513"/>
            <a:chOff x="3433" y="1417"/>
            <a:chExt cx="503" cy="263"/>
          </a:xfrm>
        </p:grpSpPr>
        <p:sp>
          <p:nvSpPr>
            <p:cNvPr id="19524" name="Rectangle 137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25" name="Text Box 138"/>
            <p:cNvSpPr txBox="1"/>
            <p:nvPr/>
          </p:nvSpPr>
          <p:spPr>
            <a:xfrm>
              <a:off x="3540" y="1430"/>
              <a:ext cx="2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011" name="Group 139"/>
          <p:cNvGrpSpPr/>
          <p:nvPr/>
        </p:nvGrpSpPr>
        <p:grpSpPr>
          <a:xfrm>
            <a:off x="5448300" y="2247900"/>
            <a:ext cx="798513" cy="427038"/>
            <a:chOff x="3433" y="1417"/>
            <a:chExt cx="503" cy="269"/>
          </a:xfrm>
        </p:grpSpPr>
        <p:sp>
          <p:nvSpPr>
            <p:cNvPr id="19522" name="Rectangle 140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23" name="Text Box 141"/>
            <p:cNvSpPr txBox="1"/>
            <p:nvPr/>
          </p:nvSpPr>
          <p:spPr>
            <a:xfrm>
              <a:off x="3540" y="1430"/>
              <a:ext cx="336" cy="25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014" name="Group 142"/>
          <p:cNvGrpSpPr/>
          <p:nvPr/>
        </p:nvGrpSpPr>
        <p:grpSpPr>
          <a:xfrm>
            <a:off x="5502275" y="2247900"/>
            <a:ext cx="798513" cy="427038"/>
            <a:chOff x="3433" y="1417"/>
            <a:chExt cx="503" cy="269"/>
          </a:xfrm>
        </p:grpSpPr>
        <p:sp>
          <p:nvSpPr>
            <p:cNvPr id="19520" name="Rectangle 143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21" name="Text Box 144"/>
            <p:cNvSpPr txBox="1"/>
            <p:nvPr/>
          </p:nvSpPr>
          <p:spPr>
            <a:xfrm>
              <a:off x="3540" y="1430"/>
              <a:ext cx="336" cy="25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PC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017" name="Group 145"/>
          <p:cNvGrpSpPr/>
          <p:nvPr/>
        </p:nvGrpSpPr>
        <p:grpSpPr>
          <a:xfrm>
            <a:off x="5456238" y="896938"/>
            <a:ext cx="798512" cy="417512"/>
            <a:chOff x="3433" y="1417"/>
            <a:chExt cx="503" cy="263"/>
          </a:xfrm>
        </p:grpSpPr>
        <p:sp>
          <p:nvSpPr>
            <p:cNvPr id="19518" name="Rectangle 146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19519" name="Text Box 147"/>
            <p:cNvSpPr txBox="1"/>
            <p:nvPr/>
          </p:nvSpPr>
          <p:spPr>
            <a:xfrm>
              <a:off x="3540" y="1430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9517" name="AutoShape 14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9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9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9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9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9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59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59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9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59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59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59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9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59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59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59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9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9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5919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59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4" dur="500"/>
                                        <p:tgtEl>
                                          <p:spTgt spid="59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59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4" dur="500"/>
                                        <p:tgtEl>
                                          <p:spTgt spid="59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59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4" dur="500"/>
                                        <p:tgtEl>
                                          <p:spTgt spid="59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59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4" dur="500"/>
                                        <p:tgtEl>
                                          <p:spTgt spid="592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59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4" dur="500"/>
                                        <p:tgtEl>
                                          <p:spTgt spid="59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59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59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9" dur="500"/>
                                        <p:tgtEl>
                                          <p:spTgt spid="592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59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9" dur="500"/>
                                        <p:tgtEl>
                                          <p:spTgt spid="59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4" dur="500"/>
                                        <p:tgtEl>
                                          <p:spTgt spid="59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59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4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59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4" dur="500"/>
                                        <p:tgtEl>
                                          <p:spTgt spid="5919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59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4" dur="500"/>
                                        <p:tgtEl>
                                          <p:spTgt spid="59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9" dur="500"/>
                                        <p:tgtEl>
                                          <p:spTgt spid="59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4" dur="500"/>
                                        <p:tgtEl>
                                          <p:spTgt spid="59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9" dur="500"/>
                                        <p:tgtEl>
                                          <p:spTgt spid="59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4" dur="500"/>
                                        <p:tgtEl>
                                          <p:spTgt spid="59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9" dur="500"/>
                                        <p:tgtEl>
                                          <p:spTgt spid="59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4" dur="500"/>
                                        <p:tgtEl>
                                          <p:spTgt spid="5920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9" dur="500"/>
                                        <p:tgtEl>
                                          <p:spTgt spid="59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4" dur="500"/>
                                        <p:tgtEl>
                                          <p:spTgt spid="591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9" dur="500"/>
                                        <p:tgtEl>
                                          <p:spTgt spid="59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4" dur="500"/>
                                        <p:tgtEl>
                                          <p:spTgt spid="59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9" dur="500"/>
                                        <p:tgtEl>
                                          <p:spTgt spid="59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4" dur="500"/>
                                        <p:tgtEl>
                                          <p:spTgt spid="592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9" dur="500"/>
                                        <p:tgtEl>
                                          <p:spTgt spid="59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4" dur="1000"/>
                                        <p:tgtEl>
                                          <p:spTgt spid="591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72"/>
                                            </p:cond>
                                          </p:stCondLst>
                                        </p:cTn>
                                        <p:tgtEl>
                                          <p:spTgt spid="59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000"/>
                            </p:stCondLst>
                            <p:childTnLst>
                              <p:par>
                                <p:cTn id="27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8" dur="1000"/>
                                        <p:tgtEl>
                                          <p:spTgt spid="592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000"/>
                            </p:stCondLst>
                            <p:childTnLst>
                              <p:par>
                                <p:cTn id="28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2" dur="1000"/>
                                        <p:tgtEl>
                                          <p:spTgt spid="592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80"/>
                                            </p:cond>
                                          </p:stCondLst>
                                        </p:cTn>
                                        <p:tgtEl>
                                          <p:spTgt spid="59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83" grpId="0"/>
      <p:bldP spid="591884" grpId="0"/>
      <p:bldP spid="591891" grpId="0"/>
      <p:bldP spid="591893" grpId="0"/>
      <p:bldP spid="591940" grpId="0"/>
      <p:bldP spid="591969" grpId="0"/>
      <p:bldP spid="591982" grpId="0"/>
      <p:bldP spid="591983" grpId="0"/>
      <p:bldP spid="591984" grpId="0"/>
      <p:bldP spid="59198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381000" y="457200"/>
            <a:ext cx="42926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(2) </a:t>
            </a:r>
            <a:r>
              <a:rPr lang="en-US" altLang="zh-CN" sz="2800" dirty="0">
                <a:latin typeface="Times New Roman" panose="02020603050405020304" pitchFamily="18" charset="0"/>
              </a:rPr>
              <a:t>ADD @ X </a:t>
            </a:r>
            <a:r>
              <a:rPr lang="zh-CN" altLang="en-US" sz="3600" dirty="0">
                <a:latin typeface="Times New Roman" panose="02020603050405020304" pitchFamily="18" charset="0"/>
              </a:rPr>
              <a:t>间址周期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92899" name="Text Box 3"/>
          <p:cNvSpPr txBox="1"/>
          <p:nvPr/>
        </p:nvSpPr>
        <p:spPr>
          <a:xfrm>
            <a:off x="588963" y="2092325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592900" name="Line 4"/>
          <p:cNvSpPr/>
          <p:nvPr/>
        </p:nvSpPr>
        <p:spPr>
          <a:xfrm>
            <a:off x="1655763" y="233521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2901" name="Line 5"/>
          <p:cNvSpPr/>
          <p:nvPr/>
        </p:nvSpPr>
        <p:spPr>
          <a:xfrm>
            <a:off x="2874963" y="233521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2902" name="Group 6"/>
          <p:cNvGrpSpPr/>
          <p:nvPr/>
        </p:nvGrpSpPr>
        <p:grpSpPr>
          <a:xfrm>
            <a:off x="588963" y="2819400"/>
            <a:ext cx="1273175" cy="457200"/>
            <a:chOff x="192" y="1776"/>
            <a:chExt cx="802" cy="288"/>
          </a:xfrm>
        </p:grpSpPr>
        <p:sp>
          <p:nvSpPr>
            <p:cNvPr id="20629" name="Text Box 7"/>
            <p:cNvSpPr txBox="1"/>
            <p:nvPr/>
          </p:nvSpPr>
          <p:spPr>
            <a:xfrm>
              <a:off x="192" y="1776"/>
              <a:ext cx="8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1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0630" name="Line 8"/>
            <p:cNvSpPr/>
            <p:nvPr/>
          </p:nvSpPr>
          <p:spPr>
            <a:xfrm>
              <a:off x="461" y="192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92905" name="Line 9"/>
          <p:cNvSpPr/>
          <p:nvPr/>
        </p:nvSpPr>
        <p:spPr>
          <a:xfrm>
            <a:off x="1824038" y="3657600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2906" name="Text Box 10"/>
          <p:cNvSpPr txBox="1"/>
          <p:nvPr/>
        </p:nvSpPr>
        <p:spPr>
          <a:xfrm>
            <a:off x="588963" y="41910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2907" name="Line 11"/>
          <p:cNvSpPr/>
          <p:nvPr/>
        </p:nvSpPr>
        <p:spPr>
          <a:xfrm>
            <a:off x="1655763" y="4419600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2908" name="Group 12"/>
          <p:cNvGrpSpPr/>
          <p:nvPr/>
        </p:nvGrpSpPr>
        <p:grpSpPr>
          <a:xfrm>
            <a:off x="588963" y="5410200"/>
            <a:ext cx="3260725" cy="457200"/>
            <a:chOff x="371" y="3264"/>
            <a:chExt cx="2054" cy="288"/>
          </a:xfrm>
        </p:grpSpPr>
        <p:sp>
          <p:nvSpPr>
            <p:cNvPr id="20627" name="Text Box 13"/>
            <p:cNvSpPr txBox="1"/>
            <p:nvPr/>
          </p:nvSpPr>
          <p:spPr>
            <a:xfrm>
              <a:off x="371" y="3264"/>
              <a:ext cx="20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200" dirty="0">
                  <a:latin typeface="Times New Roman" panose="02020603050405020304" pitchFamily="18" charset="0"/>
                </a:rPr>
                <a:t>有效地址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Ad（IR）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0628" name="Line 14"/>
            <p:cNvSpPr/>
            <p:nvPr/>
          </p:nvSpPr>
          <p:spPr>
            <a:xfrm>
              <a:off x="1187" y="34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592911" name="Group 15"/>
          <p:cNvGrpSpPr/>
          <p:nvPr/>
        </p:nvGrpSpPr>
        <p:grpSpPr>
          <a:xfrm>
            <a:off x="6873875" y="1611313"/>
            <a:ext cx="1371600" cy="76200"/>
            <a:chOff x="4330" y="1015"/>
            <a:chExt cx="864" cy="48"/>
          </a:xfrm>
        </p:grpSpPr>
        <p:sp>
          <p:nvSpPr>
            <p:cNvPr id="20624" name="Oval 16"/>
            <p:cNvSpPr/>
            <p:nvPr/>
          </p:nvSpPr>
          <p:spPr>
            <a:xfrm>
              <a:off x="4522" y="1015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625" name="Line 17"/>
            <p:cNvSpPr/>
            <p:nvPr/>
          </p:nvSpPr>
          <p:spPr>
            <a:xfrm rot="-5400000" flipV="1">
              <a:off x="4426" y="946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0626" name="Line 18"/>
            <p:cNvSpPr/>
            <p:nvPr/>
          </p:nvSpPr>
          <p:spPr>
            <a:xfrm>
              <a:off x="4570" y="1042"/>
              <a:ext cx="62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92915" name="Group 19"/>
          <p:cNvGrpSpPr/>
          <p:nvPr/>
        </p:nvGrpSpPr>
        <p:grpSpPr>
          <a:xfrm>
            <a:off x="6873875" y="3025775"/>
            <a:ext cx="1371600" cy="76200"/>
            <a:chOff x="4330" y="1906"/>
            <a:chExt cx="864" cy="48"/>
          </a:xfrm>
        </p:grpSpPr>
        <p:sp>
          <p:nvSpPr>
            <p:cNvPr id="20621" name="Oval 20"/>
            <p:cNvSpPr/>
            <p:nvPr/>
          </p:nvSpPr>
          <p:spPr>
            <a:xfrm>
              <a:off x="4522" y="190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622" name="Line 21"/>
            <p:cNvSpPr/>
            <p:nvPr/>
          </p:nvSpPr>
          <p:spPr>
            <a:xfrm rot="-5400000" flipV="1">
              <a:off x="4426" y="1837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0623" name="Freeform 22"/>
            <p:cNvSpPr/>
            <p:nvPr/>
          </p:nvSpPr>
          <p:spPr>
            <a:xfrm>
              <a:off x="4570" y="1927"/>
              <a:ext cx="624" cy="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24" y="0"/>
                </a:cxn>
              </a:cxnLst>
              <a:pathLst>
                <a:path w="624" h="6">
                  <a:moveTo>
                    <a:pt x="0" y="6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2919" name="Group 23"/>
          <p:cNvGrpSpPr/>
          <p:nvPr/>
        </p:nvGrpSpPr>
        <p:grpSpPr>
          <a:xfrm>
            <a:off x="6497638" y="3940175"/>
            <a:ext cx="1747837" cy="152400"/>
            <a:chOff x="4093" y="2482"/>
            <a:chExt cx="1101" cy="96"/>
          </a:xfrm>
        </p:grpSpPr>
        <p:sp>
          <p:nvSpPr>
            <p:cNvPr id="20618" name="Oval 24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619" name="Freeform 25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0" name="Freeform 26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2923" name="Group 27"/>
          <p:cNvGrpSpPr/>
          <p:nvPr/>
        </p:nvGrpSpPr>
        <p:grpSpPr>
          <a:xfrm>
            <a:off x="811213" y="2386013"/>
            <a:ext cx="7292975" cy="1700212"/>
            <a:chOff x="511" y="1503"/>
            <a:chExt cx="4594" cy="1071"/>
          </a:xfrm>
        </p:grpSpPr>
        <p:sp>
          <p:nvSpPr>
            <p:cNvPr id="20615" name="Text Box 28"/>
            <p:cNvSpPr txBox="1"/>
            <p:nvPr/>
          </p:nvSpPr>
          <p:spPr>
            <a:xfrm>
              <a:off x="511" y="1503"/>
              <a:ext cx="5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616" name="Freeform 29"/>
            <p:cNvSpPr/>
            <p:nvPr/>
          </p:nvSpPr>
          <p:spPr>
            <a:xfrm>
              <a:off x="4552" y="2417"/>
              <a:ext cx="1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"/>
                </a:cxn>
              </a:cxnLst>
              <a:pathLst>
                <a:path w="1" h="156">
                  <a:moveTo>
                    <a:pt x="0" y="0"/>
                  </a:moveTo>
                  <a:lnTo>
                    <a:pt x="0" y="15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7" name="Text Box 30"/>
            <p:cNvSpPr txBox="1"/>
            <p:nvPr/>
          </p:nvSpPr>
          <p:spPr>
            <a:xfrm>
              <a:off x="4570" y="2343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2927" name="Line 31"/>
          <p:cNvSpPr/>
          <p:nvPr/>
        </p:nvSpPr>
        <p:spPr>
          <a:xfrm flipH="1">
            <a:off x="5502275" y="3025775"/>
            <a:ext cx="6096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2928" name="Group 32"/>
          <p:cNvGrpSpPr/>
          <p:nvPr/>
        </p:nvGrpSpPr>
        <p:grpSpPr>
          <a:xfrm>
            <a:off x="588963" y="3429000"/>
            <a:ext cx="4929187" cy="500063"/>
            <a:chOff x="371" y="2160"/>
            <a:chExt cx="3105" cy="315"/>
          </a:xfrm>
        </p:grpSpPr>
        <p:sp>
          <p:nvSpPr>
            <p:cNvPr id="20613" name="Text Box 33"/>
            <p:cNvSpPr txBox="1"/>
            <p:nvPr/>
          </p:nvSpPr>
          <p:spPr>
            <a:xfrm>
              <a:off x="371" y="2160"/>
              <a:ext cx="75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200" dirty="0">
                  <a:latin typeface="Times New Roman" panose="02020603050405020304" pitchFamily="18" charset="0"/>
                </a:rPr>
                <a:t> 数据线</a:t>
              </a:r>
              <a:endParaRPr lang="en-US" altLang="zh-CN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20614" name="Text Box 34"/>
            <p:cNvSpPr txBox="1"/>
            <p:nvPr/>
          </p:nvSpPr>
          <p:spPr>
            <a:xfrm>
              <a:off x="2880" y="2225"/>
              <a:ext cx="5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数据线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931" name="Group 35"/>
          <p:cNvGrpSpPr/>
          <p:nvPr/>
        </p:nvGrpSpPr>
        <p:grpSpPr>
          <a:xfrm>
            <a:off x="4495800" y="228600"/>
            <a:ext cx="4594225" cy="6556375"/>
            <a:chOff x="2832" y="144"/>
            <a:chExt cx="2894" cy="4130"/>
          </a:xfrm>
        </p:grpSpPr>
        <p:sp>
          <p:nvSpPr>
            <p:cNvPr id="20568" name="Text Box 36"/>
            <p:cNvSpPr txBox="1"/>
            <p:nvPr/>
          </p:nvSpPr>
          <p:spPr>
            <a:xfrm>
              <a:off x="3024" y="512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时钟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69" name="Group 37"/>
            <p:cNvGrpSpPr/>
            <p:nvPr/>
          </p:nvGrpSpPr>
          <p:grpSpPr>
            <a:xfrm>
              <a:off x="2832" y="144"/>
              <a:ext cx="2894" cy="4130"/>
              <a:chOff x="2832" y="144"/>
              <a:chExt cx="2894" cy="4130"/>
            </a:xfrm>
          </p:grpSpPr>
          <p:sp>
            <p:nvSpPr>
              <p:cNvPr id="20570" name="Line 38"/>
              <p:cNvSpPr/>
              <p:nvPr/>
            </p:nvSpPr>
            <p:spPr>
              <a:xfrm flipV="1">
                <a:off x="4090" y="754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0571" name="Line 39"/>
              <p:cNvSpPr/>
              <p:nvPr/>
            </p:nvSpPr>
            <p:spPr>
              <a:xfrm flipV="1">
                <a:off x="4234" y="322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0572" name="Line 40"/>
              <p:cNvSpPr/>
              <p:nvPr/>
            </p:nvSpPr>
            <p:spPr>
              <a:xfrm flipV="1">
                <a:off x="3946" y="322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0573" name="Group 41"/>
              <p:cNvGrpSpPr/>
              <p:nvPr/>
            </p:nvGrpSpPr>
            <p:grpSpPr>
              <a:xfrm>
                <a:off x="2832" y="144"/>
                <a:ext cx="2894" cy="4130"/>
                <a:chOff x="2832" y="144"/>
                <a:chExt cx="2894" cy="4130"/>
              </a:xfrm>
            </p:grpSpPr>
            <p:sp>
              <p:nvSpPr>
                <p:cNvPr id="20574" name="Line 42"/>
                <p:cNvSpPr/>
                <p:nvPr/>
              </p:nvSpPr>
              <p:spPr>
                <a:xfrm flipH="1">
                  <a:off x="3466" y="658"/>
                  <a:ext cx="38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stealth" w="med" len="med"/>
                  <a:tailEnd type="none" w="med" len="med"/>
                </a:ln>
              </p:spPr>
            </p:sp>
            <p:grpSp>
              <p:nvGrpSpPr>
                <p:cNvPr id="20575" name="Group 43"/>
                <p:cNvGrpSpPr/>
                <p:nvPr/>
              </p:nvGrpSpPr>
              <p:grpSpPr>
                <a:xfrm>
                  <a:off x="2832" y="144"/>
                  <a:ext cx="2894" cy="4130"/>
                  <a:chOff x="2832" y="144"/>
                  <a:chExt cx="2894" cy="4130"/>
                </a:xfrm>
              </p:grpSpPr>
              <p:grpSp>
                <p:nvGrpSpPr>
                  <p:cNvPr id="20576" name="Group 44"/>
                  <p:cNvGrpSpPr/>
                  <p:nvPr/>
                </p:nvGrpSpPr>
                <p:grpSpPr>
                  <a:xfrm>
                    <a:off x="3850" y="514"/>
                    <a:ext cx="480" cy="259"/>
                    <a:chOff x="3850" y="514"/>
                    <a:chExt cx="480" cy="259"/>
                  </a:xfrm>
                </p:grpSpPr>
                <p:sp>
                  <p:nvSpPr>
                    <p:cNvPr id="20611" name="Text Box 45"/>
                    <p:cNvSpPr txBox="1"/>
                    <p:nvPr/>
                  </p:nvSpPr>
                  <p:spPr>
                    <a:xfrm>
                      <a:off x="3934" y="523"/>
                      <a:ext cx="348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CU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12" name="Rectangle 46"/>
                    <p:cNvSpPr/>
                    <p:nvPr/>
                  </p:nvSpPr>
                  <p:spPr>
                    <a:xfrm>
                      <a:off x="3850" y="514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77" name="Group 47"/>
                  <p:cNvGrpSpPr/>
                  <p:nvPr/>
                </p:nvGrpSpPr>
                <p:grpSpPr>
                  <a:xfrm>
                    <a:off x="3850" y="943"/>
                    <a:ext cx="480" cy="259"/>
                    <a:chOff x="3850" y="943"/>
                    <a:chExt cx="480" cy="259"/>
                  </a:xfrm>
                </p:grpSpPr>
                <p:sp>
                  <p:nvSpPr>
                    <p:cNvPr id="20609" name="Text Box 48"/>
                    <p:cNvSpPr txBox="1"/>
                    <p:nvPr/>
                  </p:nvSpPr>
                  <p:spPr>
                    <a:xfrm>
                      <a:off x="3934" y="952"/>
                      <a:ext cx="294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IR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10" name="Rectangle 49"/>
                    <p:cNvSpPr/>
                    <p:nvPr/>
                  </p:nvSpPr>
                  <p:spPr>
                    <a:xfrm>
                      <a:off x="3850" y="943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78" name="Group 50"/>
                  <p:cNvGrpSpPr/>
                  <p:nvPr/>
                </p:nvGrpSpPr>
                <p:grpSpPr>
                  <a:xfrm>
                    <a:off x="3850" y="1373"/>
                    <a:ext cx="480" cy="259"/>
                    <a:chOff x="3850" y="1373"/>
                    <a:chExt cx="480" cy="259"/>
                  </a:xfrm>
                </p:grpSpPr>
                <p:sp>
                  <p:nvSpPr>
                    <p:cNvPr id="20607" name="Text Box 51"/>
                    <p:cNvSpPr txBox="1"/>
                    <p:nvPr/>
                  </p:nvSpPr>
                  <p:spPr>
                    <a:xfrm>
                      <a:off x="3934" y="1382"/>
                      <a:ext cx="330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PC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08" name="Rectangle 52"/>
                    <p:cNvSpPr/>
                    <p:nvPr/>
                  </p:nvSpPr>
                  <p:spPr>
                    <a:xfrm>
                      <a:off x="3850" y="1373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79" name="Group 53"/>
                  <p:cNvGrpSpPr/>
                  <p:nvPr/>
                </p:nvGrpSpPr>
                <p:grpSpPr>
                  <a:xfrm>
                    <a:off x="3850" y="1802"/>
                    <a:ext cx="499" cy="259"/>
                    <a:chOff x="3850" y="1802"/>
                    <a:chExt cx="499" cy="259"/>
                  </a:xfrm>
                </p:grpSpPr>
                <p:sp>
                  <p:nvSpPr>
                    <p:cNvPr id="20605" name="Text Box 54"/>
                    <p:cNvSpPr txBox="1"/>
                    <p:nvPr/>
                  </p:nvSpPr>
                  <p:spPr>
                    <a:xfrm>
                      <a:off x="3850" y="1811"/>
                      <a:ext cx="499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MAR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06" name="Rectangle 55"/>
                    <p:cNvSpPr/>
                    <p:nvPr/>
                  </p:nvSpPr>
                  <p:spPr>
                    <a:xfrm>
                      <a:off x="3850" y="1802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80" name="Group 56"/>
                  <p:cNvGrpSpPr/>
                  <p:nvPr/>
                </p:nvGrpSpPr>
                <p:grpSpPr>
                  <a:xfrm>
                    <a:off x="3850" y="2232"/>
                    <a:ext cx="499" cy="259"/>
                    <a:chOff x="3850" y="2232"/>
                    <a:chExt cx="499" cy="259"/>
                  </a:xfrm>
                </p:grpSpPr>
                <p:sp>
                  <p:nvSpPr>
                    <p:cNvPr id="20603" name="Text Box 57"/>
                    <p:cNvSpPr txBox="1"/>
                    <p:nvPr/>
                  </p:nvSpPr>
                  <p:spPr>
                    <a:xfrm>
                      <a:off x="3850" y="2241"/>
                      <a:ext cx="499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MDR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04" name="Rectangle 58"/>
                    <p:cNvSpPr/>
                    <p:nvPr/>
                  </p:nvSpPr>
                  <p:spPr>
                    <a:xfrm>
                      <a:off x="3850" y="2232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81" name="Group 59"/>
                  <p:cNvGrpSpPr/>
                  <p:nvPr/>
                </p:nvGrpSpPr>
                <p:grpSpPr>
                  <a:xfrm>
                    <a:off x="3850" y="2747"/>
                    <a:ext cx="480" cy="251"/>
                    <a:chOff x="3850" y="2747"/>
                    <a:chExt cx="480" cy="251"/>
                  </a:xfrm>
                </p:grpSpPr>
                <p:sp>
                  <p:nvSpPr>
                    <p:cNvPr id="20601" name="Text Box 60"/>
                    <p:cNvSpPr txBox="1"/>
                    <p:nvPr/>
                  </p:nvSpPr>
                  <p:spPr>
                    <a:xfrm>
                      <a:off x="3921" y="2747"/>
                      <a:ext cx="348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AC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02" name="Rectangle 61"/>
                    <p:cNvSpPr/>
                    <p:nvPr/>
                  </p:nvSpPr>
                  <p:spPr>
                    <a:xfrm>
                      <a:off x="3850" y="2758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82" name="Group 62"/>
                  <p:cNvGrpSpPr/>
                  <p:nvPr/>
                </p:nvGrpSpPr>
                <p:grpSpPr>
                  <a:xfrm>
                    <a:off x="3850" y="3173"/>
                    <a:ext cx="480" cy="250"/>
                    <a:chOff x="3850" y="3173"/>
                    <a:chExt cx="480" cy="250"/>
                  </a:xfrm>
                </p:grpSpPr>
                <p:sp>
                  <p:nvSpPr>
                    <p:cNvPr id="20599" name="Text Box 63"/>
                    <p:cNvSpPr txBox="1"/>
                    <p:nvPr/>
                  </p:nvSpPr>
                  <p:spPr>
                    <a:xfrm>
                      <a:off x="3984" y="3173"/>
                      <a:ext cx="232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Y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600" name="Rectangle 64"/>
                    <p:cNvSpPr/>
                    <p:nvPr/>
                  </p:nvSpPr>
                  <p:spPr>
                    <a:xfrm>
                      <a:off x="3850" y="3183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83" name="Group 65"/>
                  <p:cNvGrpSpPr/>
                  <p:nvPr/>
                </p:nvGrpSpPr>
                <p:grpSpPr>
                  <a:xfrm>
                    <a:off x="3850" y="3586"/>
                    <a:ext cx="480" cy="288"/>
                    <a:chOff x="3850" y="3586"/>
                    <a:chExt cx="480" cy="288"/>
                  </a:xfrm>
                </p:grpSpPr>
                <p:sp>
                  <p:nvSpPr>
                    <p:cNvPr id="20597" name="Text Box 66"/>
                    <p:cNvSpPr txBox="1"/>
                    <p:nvPr/>
                  </p:nvSpPr>
                  <p:spPr>
                    <a:xfrm>
                      <a:off x="3875" y="3597"/>
                      <a:ext cx="45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ALU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598" name="Rectangle 67"/>
                    <p:cNvSpPr/>
                    <p:nvPr/>
                  </p:nvSpPr>
                  <p:spPr>
                    <a:xfrm>
                      <a:off x="3850" y="3586"/>
                      <a:ext cx="480" cy="288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0584" name="Group 68"/>
                  <p:cNvGrpSpPr/>
                  <p:nvPr/>
                </p:nvGrpSpPr>
                <p:grpSpPr>
                  <a:xfrm>
                    <a:off x="3850" y="3944"/>
                    <a:ext cx="480" cy="250"/>
                    <a:chOff x="3850" y="3944"/>
                    <a:chExt cx="480" cy="250"/>
                  </a:xfrm>
                </p:grpSpPr>
                <p:sp>
                  <p:nvSpPr>
                    <p:cNvPr id="20595" name="Text Box 69"/>
                    <p:cNvSpPr txBox="1"/>
                    <p:nvPr/>
                  </p:nvSpPr>
                  <p:spPr>
                    <a:xfrm>
                      <a:off x="3984" y="3944"/>
                      <a:ext cx="223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596" name="Rectangle 70"/>
                    <p:cNvSpPr/>
                    <p:nvPr/>
                  </p:nvSpPr>
                  <p:spPr>
                    <a:xfrm>
                      <a:off x="3850" y="3951"/>
                      <a:ext cx="480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20585" name="Line 71"/>
                  <p:cNvSpPr/>
                  <p:nvPr/>
                </p:nvSpPr>
                <p:spPr>
                  <a:xfrm>
                    <a:off x="5194" y="864"/>
                    <a:ext cx="0" cy="341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86" name="Line 72"/>
                  <p:cNvSpPr/>
                  <p:nvPr/>
                </p:nvSpPr>
                <p:spPr>
                  <a:xfrm>
                    <a:off x="5280" y="864"/>
                    <a:ext cx="0" cy="341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587" name="Text Box 73"/>
                  <p:cNvSpPr txBox="1"/>
                  <p:nvPr/>
                </p:nvSpPr>
                <p:spPr>
                  <a:xfrm>
                    <a:off x="3946" y="283"/>
                    <a:ext cx="276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eaLnBrk="1" hangingPunct="1"/>
                    <a:r>
                      <a:rPr lang="zh-CN" altLang="en-US" sz="2000" dirty="0">
                        <a:latin typeface="Times New Roman" panose="02020603050405020304" pitchFamily="18" charset="0"/>
                      </a:rPr>
                      <a:t>…</a:t>
                    </a:r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88" name="Text Box 74"/>
                  <p:cNvSpPr txBox="1"/>
                  <p:nvPr/>
                </p:nvSpPr>
                <p:spPr>
                  <a:xfrm>
                    <a:off x="3754" y="144"/>
                    <a:ext cx="692" cy="23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控制信号</a:t>
                    </a:r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89" name="Line 75"/>
                  <p:cNvSpPr/>
                  <p:nvPr/>
                </p:nvSpPr>
                <p:spPr>
                  <a:xfrm>
                    <a:off x="3706" y="3634"/>
                    <a:ext cx="144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med" len="med"/>
                  </a:ln>
                </p:spPr>
              </p:sp>
              <p:sp>
                <p:nvSpPr>
                  <p:cNvPr id="20590" name="Line 76"/>
                  <p:cNvSpPr/>
                  <p:nvPr/>
                </p:nvSpPr>
                <p:spPr>
                  <a:xfrm>
                    <a:off x="3706" y="3826"/>
                    <a:ext cx="144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med" len="med"/>
                  </a:ln>
                </p:spPr>
              </p:sp>
              <p:sp>
                <p:nvSpPr>
                  <p:cNvPr id="20591" name="Text Box 77"/>
                  <p:cNvSpPr txBox="1"/>
                  <p:nvPr/>
                </p:nvSpPr>
                <p:spPr>
                  <a:xfrm>
                    <a:off x="3610" y="3638"/>
                    <a:ext cx="289" cy="20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pPr eaLnBrk="1" hangingPunct="1"/>
                    <a:r>
                      <a:rPr lang="zh-CN" altLang="en-US" dirty="0">
                        <a:latin typeface="Times New Roman" panose="02020603050405020304" pitchFamily="18" charset="0"/>
                      </a:rPr>
                      <a:t>…</a:t>
                    </a:r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92" name="Text Box 78"/>
                  <p:cNvSpPr txBox="1"/>
                  <p:nvPr/>
                </p:nvSpPr>
                <p:spPr>
                  <a:xfrm>
                    <a:off x="2832" y="3584"/>
                    <a:ext cx="756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eaLnBrk="1" hangingPunct="1"/>
                    <a:r>
                      <a:rPr lang="zh-CN" altLang="en-US" sz="2000" dirty="0">
                        <a:latin typeface="Times New Roman" panose="02020603050405020304" pitchFamily="18" charset="0"/>
                      </a:rPr>
                      <a:t>控制信号</a:t>
                    </a:r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93" name="Text Box 79"/>
                  <p:cNvSpPr txBox="1"/>
                  <p:nvPr/>
                </p:nvSpPr>
                <p:spPr>
                  <a:xfrm>
                    <a:off x="5280" y="1512"/>
                    <a:ext cx="446" cy="101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eaLnBrk="1" hangingPunct="1"/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CPU</a:t>
                    </a:r>
                    <a:endParaRPr lang="en-US" altLang="zh-CN" sz="2000" dirty="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  </a:t>
                    </a:r>
                    <a:r>
                      <a:rPr lang="zh-CN" altLang="en-US" sz="2000" dirty="0">
                        <a:latin typeface="Times New Roman" panose="02020603050405020304" pitchFamily="18" charset="0"/>
                      </a:rPr>
                      <a:t>内</a:t>
                    </a:r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zh-CN" altLang="en-US" sz="2000" dirty="0">
                        <a:latin typeface="Times New Roman" panose="02020603050405020304" pitchFamily="18" charset="0"/>
                      </a:rPr>
                      <a:t>  部</a:t>
                    </a:r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zh-CN" altLang="en-US" sz="2000" dirty="0">
                        <a:latin typeface="Times New Roman" panose="02020603050405020304" pitchFamily="18" charset="0"/>
                      </a:rPr>
                      <a:t>  总</a:t>
                    </a:r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:r>
                      <a:rPr lang="zh-CN" altLang="en-US" sz="2000" dirty="0">
                        <a:latin typeface="Times New Roman" panose="02020603050405020304" pitchFamily="18" charset="0"/>
                      </a:rPr>
                      <a:t>  线</a:t>
                    </a:r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594" name="Rectangle 80"/>
                  <p:cNvSpPr/>
                  <p:nvPr/>
                </p:nvSpPr>
                <p:spPr>
                  <a:xfrm>
                    <a:off x="2986" y="514"/>
                    <a:ext cx="480" cy="24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等线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592977" name="Text Box 81"/>
          <p:cNvSpPr txBox="1"/>
          <p:nvPr/>
        </p:nvSpPr>
        <p:spPr>
          <a:xfrm>
            <a:off x="2287588" y="3429000"/>
            <a:ext cx="912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2978" name="Text Box 82"/>
          <p:cNvSpPr txBox="1"/>
          <p:nvPr/>
        </p:nvSpPr>
        <p:spPr>
          <a:xfrm>
            <a:off x="2112963" y="4191000"/>
            <a:ext cx="52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IR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2979" name="Group 83"/>
          <p:cNvGrpSpPr/>
          <p:nvPr/>
        </p:nvGrpSpPr>
        <p:grpSpPr>
          <a:xfrm>
            <a:off x="2016125" y="2386013"/>
            <a:ext cx="6000750" cy="709612"/>
            <a:chOff x="1270" y="1503"/>
            <a:chExt cx="3780" cy="447"/>
          </a:xfrm>
        </p:grpSpPr>
        <p:sp>
          <p:nvSpPr>
            <p:cNvPr id="20565" name="Freeform 84"/>
            <p:cNvSpPr/>
            <p:nvPr/>
          </p:nvSpPr>
          <p:spPr>
            <a:xfrm>
              <a:off x="4543" y="1810"/>
              <a:ext cx="1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7"/>
                </a:cxn>
              </a:cxnLst>
              <a:pathLst>
                <a:path w="1" h="165">
                  <a:moveTo>
                    <a:pt x="0" y="0"/>
                  </a:moveTo>
                  <a:lnTo>
                    <a:pt x="0" y="165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6" name="Text Box 85"/>
            <p:cNvSpPr txBox="1"/>
            <p:nvPr/>
          </p:nvSpPr>
          <p:spPr>
            <a:xfrm>
              <a:off x="4563" y="1719"/>
              <a:ext cx="48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67" name="Text Box 86"/>
            <p:cNvSpPr txBox="1"/>
            <p:nvPr/>
          </p:nvSpPr>
          <p:spPr>
            <a:xfrm>
              <a:off x="1270" y="1503"/>
              <a:ext cx="5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MAR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zh-CN" altLang="en-US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983" name="Group 87"/>
          <p:cNvGrpSpPr/>
          <p:nvPr/>
        </p:nvGrpSpPr>
        <p:grpSpPr>
          <a:xfrm>
            <a:off x="3392488" y="2105025"/>
            <a:ext cx="2125662" cy="1111250"/>
            <a:chOff x="2137" y="1326"/>
            <a:chExt cx="1339" cy="700"/>
          </a:xfrm>
        </p:grpSpPr>
        <p:sp>
          <p:nvSpPr>
            <p:cNvPr id="20563" name="Text Box 88"/>
            <p:cNvSpPr txBox="1"/>
            <p:nvPr/>
          </p:nvSpPr>
          <p:spPr>
            <a:xfrm>
              <a:off x="2880" y="1776"/>
              <a:ext cx="5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地址线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564" name="Text Box 89"/>
            <p:cNvSpPr txBox="1"/>
            <p:nvPr/>
          </p:nvSpPr>
          <p:spPr>
            <a:xfrm>
              <a:off x="2137" y="1326"/>
              <a:ext cx="64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200" dirty="0">
                  <a:latin typeface="Times New Roman" panose="02020603050405020304" pitchFamily="18" charset="0"/>
                </a:rPr>
                <a:t>地址线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92986" name="Text Box 90"/>
          <p:cNvSpPr txBox="1"/>
          <p:nvPr/>
        </p:nvSpPr>
        <p:spPr>
          <a:xfrm>
            <a:off x="2036763" y="2092325"/>
            <a:ext cx="9128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MAR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2987" name="Group 91"/>
          <p:cNvGrpSpPr/>
          <p:nvPr/>
        </p:nvGrpSpPr>
        <p:grpSpPr>
          <a:xfrm>
            <a:off x="2173288" y="1287463"/>
            <a:ext cx="5562600" cy="3614737"/>
            <a:chOff x="1369" y="811"/>
            <a:chExt cx="3504" cy="2277"/>
          </a:xfrm>
        </p:grpSpPr>
        <p:sp>
          <p:nvSpPr>
            <p:cNvPr id="20560" name="Freeform 92"/>
            <p:cNvSpPr/>
            <p:nvPr/>
          </p:nvSpPr>
          <p:spPr>
            <a:xfrm>
              <a:off x="4543" y="898"/>
              <a:ext cx="1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7"/>
                </a:cxn>
              </a:cxnLst>
              <a:pathLst>
                <a:path w="1" h="165">
                  <a:moveTo>
                    <a:pt x="0" y="0"/>
                  </a:moveTo>
                  <a:lnTo>
                    <a:pt x="0" y="165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1" name="Text Box 93"/>
            <p:cNvSpPr txBox="1"/>
            <p:nvPr/>
          </p:nvSpPr>
          <p:spPr>
            <a:xfrm>
              <a:off x="4570" y="811"/>
              <a:ext cx="3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62" name="Text Box 94"/>
            <p:cNvSpPr txBox="1"/>
            <p:nvPr/>
          </p:nvSpPr>
          <p:spPr>
            <a:xfrm>
              <a:off x="1369" y="2838"/>
              <a:ext cx="3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IR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991" name="Group 95"/>
          <p:cNvGrpSpPr/>
          <p:nvPr/>
        </p:nvGrpSpPr>
        <p:grpSpPr>
          <a:xfrm>
            <a:off x="6105525" y="2859088"/>
            <a:ext cx="828675" cy="417512"/>
            <a:chOff x="3433" y="1849"/>
            <a:chExt cx="522" cy="263"/>
          </a:xfrm>
        </p:grpSpPr>
        <p:sp>
          <p:nvSpPr>
            <p:cNvPr id="20558" name="Rectangle 96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59" name="Text Box 97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MAR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994" name="Group 98"/>
          <p:cNvGrpSpPr/>
          <p:nvPr/>
        </p:nvGrpSpPr>
        <p:grpSpPr>
          <a:xfrm>
            <a:off x="6075363" y="3544888"/>
            <a:ext cx="828675" cy="417512"/>
            <a:chOff x="3433" y="1849"/>
            <a:chExt cx="522" cy="263"/>
          </a:xfrm>
        </p:grpSpPr>
        <p:sp>
          <p:nvSpPr>
            <p:cNvPr id="20556" name="Rectangle 99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57" name="Text Box 100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2997" name="Group 101"/>
          <p:cNvGrpSpPr/>
          <p:nvPr/>
        </p:nvGrpSpPr>
        <p:grpSpPr>
          <a:xfrm>
            <a:off x="6105525" y="1487488"/>
            <a:ext cx="798513" cy="417512"/>
            <a:chOff x="3433" y="1417"/>
            <a:chExt cx="503" cy="263"/>
          </a:xfrm>
        </p:grpSpPr>
        <p:sp>
          <p:nvSpPr>
            <p:cNvPr id="20554" name="Rectangle 102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55" name="Text Box 103"/>
            <p:cNvSpPr txBox="1"/>
            <p:nvPr/>
          </p:nvSpPr>
          <p:spPr>
            <a:xfrm>
              <a:off x="3540" y="1430"/>
              <a:ext cx="2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3000" name="Line 104"/>
          <p:cNvSpPr/>
          <p:nvPr/>
        </p:nvSpPr>
        <p:spPr>
          <a:xfrm>
            <a:off x="8229600" y="3048000"/>
            <a:ext cx="0" cy="10668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3001" name="Line 105"/>
          <p:cNvSpPr/>
          <p:nvPr/>
        </p:nvSpPr>
        <p:spPr>
          <a:xfrm rot="-10800000" flipH="1">
            <a:off x="5486400" y="3733800"/>
            <a:ext cx="6096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3002" name="Group 106"/>
          <p:cNvGrpSpPr/>
          <p:nvPr/>
        </p:nvGrpSpPr>
        <p:grpSpPr>
          <a:xfrm>
            <a:off x="6105525" y="3544888"/>
            <a:ext cx="828675" cy="417512"/>
            <a:chOff x="3433" y="1849"/>
            <a:chExt cx="522" cy="263"/>
          </a:xfrm>
        </p:grpSpPr>
        <p:sp>
          <p:nvSpPr>
            <p:cNvPr id="20552" name="Rectangle 107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53" name="Text Box 108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005" name="Group 109"/>
          <p:cNvGrpSpPr/>
          <p:nvPr/>
        </p:nvGrpSpPr>
        <p:grpSpPr>
          <a:xfrm>
            <a:off x="6096000" y="3544888"/>
            <a:ext cx="828675" cy="417512"/>
            <a:chOff x="3433" y="1849"/>
            <a:chExt cx="522" cy="263"/>
          </a:xfrm>
        </p:grpSpPr>
        <p:sp>
          <p:nvSpPr>
            <p:cNvPr id="20550" name="Rectangle 110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51" name="Text Box 111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008" name="Group 112"/>
          <p:cNvGrpSpPr/>
          <p:nvPr/>
        </p:nvGrpSpPr>
        <p:grpSpPr>
          <a:xfrm>
            <a:off x="811213" y="3716338"/>
            <a:ext cx="7296150" cy="1185862"/>
            <a:chOff x="511" y="2341"/>
            <a:chExt cx="4596" cy="747"/>
          </a:xfrm>
        </p:grpSpPr>
        <p:sp>
          <p:nvSpPr>
            <p:cNvPr id="20546" name="Text Box 113"/>
            <p:cNvSpPr txBox="1"/>
            <p:nvPr/>
          </p:nvSpPr>
          <p:spPr>
            <a:xfrm>
              <a:off x="511" y="2838"/>
              <a:ext cx="5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0547" name="Group 114"/>
            <p:cNvGrpSpPr/>
            <p:nvPr/>
          </p:nvGrpSpPr>
          <p:grpSpPr>
            <a:xfrm>
              <a:off x="4548" y="2341"/>
              <a:ext cx="559" cy="231"/>
              <a:chOff x="4548" y="2341"/>
              <a:chExt cx="559" cy="231"/>
            </a:xfrm>
          </p:grpSpPr>
          <p:sp>
            <p:nvSpPr>
              <p:cNvPr id="20548" name="Text Box 115"/>
              <p:cNvSpPr txBox="1"/>
              <p:nvPr/>
            </p:nvSpPr>
            <p:spPr>
              <a:xfrm>
                <a:off x="4572" y="2341"/>
                <a:ext cx="53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rgbClr val="C28F00"/>
                    </a:solidFill>
                    <a:latin typeface="Times New Roman" panose="02020603050405020304" pitchFamily="18" charset="0"/>
                  </a:rPr>
                  <a:t>MDR</a:t>
                </a:r>
                <a:r>
                  <a:rPr lang="en-US" altLang="zh-CN" baseline="-15000" dirty="0">
                    <a:solidFill>
                      <a:srgbClr val="C28F00"/>
                    </a:solidFill>
                    <a:latin typeface="Times New Roman" panose="02020603050405020304" pitchFamily="18" charset="0"/>
                  </a:rPr>
                  <a:t>O</a:t>
                </a:r>
                <a:endParaRPr lang="en-US" altLang="zh-CN" baseline="-15000" dirty="0">
                  <a:solidFill>
                    <a:srgbClr val="C28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9" name="Freeform 116"/>
              <p:cNvSpPr/>
              <p:nvPr/>
            </p:nvSpPr>
            <p:spPr>
              <a:xfrm>
                <a:off x="4548" y="2403"/>
                <a:ext cx="3" cy="1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126"/>
                  </a:cxn>
                </a:cxnLst>
                <a:pathLst>
                  <a:path w="3" h="126">
                    <a:moveTo>
                      <a:pt x="0" y="0"/>
                    </a:moveTo>
                    <a:lnTo>
                      <a:pt x="3" y="126"/>
                    </a:lnTo>
                  </a:path>
                </a:pathLst>
              </a:custGeom>
              <a:noFill/>
              <a:ln w="28575" cap="flat" cmpd="sng">
                <a:solidFill>
                  <a:srgbClr val="C28F00">
                    <a:alpha val="100000"/>
                  </a:srgb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93013" name="Group 117"/>
          <p:cNvGrpSpPr/>
          <p:nvPr/>
        </p:nvGrpSpPr>
        <p:grpSpPr>
          <a:xfrm>
            <a:off x="7219950" y="3716338"/>
            <a:ext cx="887413" cy="366712"/>
            <a:chOff x="4548" y="2341"/>
            <a:chExt cx="559" cy="231"/>
          </a:xfrm>
        </p:grpSpPr>
        <p:sp>
          <p:nvSpPr>
            <p:cNvPr id="20544" name="Freeform 118"/>
            <p:cNvSpPr/>
            <p:nvPr/>
          </p:nvSpPr>
          <p:spPr>
            <a:xfrm>
              <a:off x="4548" y="2406"/>
              <a:ext cx="6" cy="1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26"/>
                </a:cxn>
              </a:cxnLst>
              <a:pathLst>
                <a:path w="6" h="126">
                  <a:moveTo>
                    <a:pt x="0" y="0"/>
                  </a:moveTo>
                  <a:lnTo>
                    <a:pt x="6" y="12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5" name="Text Box 119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016" name="Group 120"/>
          <p:cNvGrpSpPr/>
          <p:nvPr/>
        </p:nvGrpSpPr>
        <p:grpSpPr>
          <a:xfrm>
            <a:off x="7224713" y="3716338"/>
            <a:ext cx="882650" cy="366712"/>
            <a:chOff x="4551" y="2341"/>
            <a:chExt cx="556" cy="231"/>
          </a:xfrm>
        </p:grpSpPr>
        <p:sp>
          <p:nvSpPr>
            <p:cNvPr id="20542" name="Text Box 121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rgbClr val="C28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43" name="Freeform 122"/>
            <p:cNvSpPr/>
            <p:nvPr/>
          </p:nvSpPr>
          <p:spPr>
            <a:xfrm>
              <a:off x="4551" y="2409"/>
              <a:ext cx="3" cy="1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20"/>
                </a:cxn>
              </a:cxnLst>
              <a:pathLst>
                <a:path w="3" h="120">
                  <a:moveTo>
                    <a:pt x="0" y="0"/>
                  </a:moveTo>
                  <a:lnTo>
                    <a:pt x="3" y="120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3019" name="Group 123"/>
          <p:cNvGrpSpPr/>
          <p:nvPr/>
        </p:nvGrpSpPr>
        <p:grpSpPr>
          <a:xfrm>
            <a:off x="7219950" y="3716338"/>
            <a:ext cx="887413" cy="366712"/>
            <a:chOff x="4548" y="2341"/>
            <a:chExt cx="559" cy="231"/>
          </a:xfrm>
        </p:grpSpPr>
        <p:sp>
          <p:nvSpPr>
            <p:cNvPr id="20540" name="Freeform 124"/>
            <p:cNvSpPr/>
            <p:nvPr/>
          </p:nvSpPr>
          <p:spPr>
            <a:xfrm>
              <a:off x="4548" y="2412"/>
              <a:ext cx="3" cy="1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17"/>
                </a:cxn>
              </a:cxnLst>
              <a:pathLst>
                <a:path w="3" h="117">
                  <a:moveTo>
                    <a:pt x="3" y="0"/>
                  </a:moveTo>
                  <a:lnTo>
                    <a:pt x="0" y="117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1" name="Text Box 125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022" name="Group 126"/>
          <p:cNvGrpSpPr/>
          <p:nvPr/>
        </p:nvGrpSpPr>
        <p:grpSpPr>
          <a:xfrm>
            <a:off x="6491288" y="3940175"/>
            <a:ext cx="1747837" cy="152400"/>
            <a:chOff x="4093" y="2482"/>
            <a:chExt cx="1101" cy="96"/>
          </a:xfrm>
        </p:grpSpPr>
        <p:sp>
          <p:nvSpPr>
            <p:cNvPr id="20537" name="Oval 127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38" name="Freeform 128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9" name="Freeform 129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3026" name="Group 130"/>
          <p:cNvGrpSpPr/>
          <p:nvPr/>
        </p:nvGrpSpPr>
        <p:grpSpPr>
          <a:xfrm>
            <a:off x="6491288" y="3940175"/>
            <a:ext cx="1747837" cy="152400"/>
            <a:chOff x="4093" y="2482"/>
            <a:chExt cx="1101" cy="96"/>
          </a:xfrm>
        </p:grpSpPr>
        <p:sp>
          <p:nvSpPr>
            <p:cNvPr id="20534" name="Oval 131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35" name="Freeform 132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6" name="Freeform 133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3030" name="Group 134"/>
          <p:cNvGrpSpPr/>
          <p:nvPr/>
        </p:nvGrpSpPr>
        <p:grpSpPr>
          <a:xfrm>
            <a:off x="6491288" y="3940175"/>
            <a:ext cx="1747837" cy="152400"/>
            <a:chOff x="4093" y="2482"/>
            <a:chExt cx="1101" cy="96"/>
          </a:xfrm>
        </p:grpSpPr>
        <p:sp>
          <p:nvSpPr>
            <p:cNvPr id="20531" name="Oval 135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32" name="Freeform 136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3" name="Freeform 137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3034" name="Group 138"/>
          <p:cNvGrpSpPr/>
          <p:nvPr/>
        </p:nvGrpSpPr>
        <p:grpSpPr>
          <a:xfrm>
            <a:off x="6491288" y="3940175"/>
            <a:ext cx="1747837" cy="152400"/>
            <a:chOff x="4093" y="2482"/>
            <a:chExt cx="1101" cy="96"/>
          </a:xfrm>
        </p:grpSpPr>
        <p:sp>
          <p:nvSpPr>
            <p:cNvPr id="20528" name="Oval 139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29" name="Freeform 140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0" name="Freeform 141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93038" name="Line 142"/>
          <p:cNvSpPr/>
          <p:nvPr/>
        </p:nvSpPr>
        <p:spPr>
          <a:xfrm>
            <a:off x="8229600" y="1676400"/>
            <a:ext cx="0" cy="23622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93039" name="Group 143"/>
          <p:cNvGrpSpPr/>
          <p:nvPr/>
        </p:nvGrpSpPr>
        <p:grpSpPr>
          <a:xfrm>
            <a:off x="762000" y="1309688"/>
            <a:ext cx="4114800" cy="519112"/>
            <a:chOff x="528" y="768"/>
            <a:chExt cx="2592" cy="327"/>
          </a:xfrm>
        </p:grpSpPr>
        <p:sp>
          <p:nvSpPr>
            <p:cNvPr id="20526" name="Text Box 144"/>
            <p:cNvSpPr txBox="1"/>
            <p:nvPr/>
          </p:nvSpPr>
          <p:spPr>
            <a:xfrm>
              <a:off x="528" y="768"/>
              <a:ext cx="25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形式地址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0527" name="Line 145"/>
            <p:cNvSpPr/>
            <p:nvPr/>
          </p:nvSpPr>
          <p:spPr>
            <a:xfrm>
              <a:off x="1584" y="9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93042" name="Rectangle 14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3043" name="Group 147"/>
          <p:cNvGrpSpPr/>
          <p:nvPr/>
        </p:nvGrpSpPr>
        <p:grpSpPr>
          <a:xfrm>
            <a:off x="6097588" y="784225"/>
            <a:ext cx="798512" cy="417513"/>
            <a:chOff x="3433" y="1417"/>
            <a:chExt cx="503" cy="263"/>
          </a:xfrm>
        </p:grpSpPr>
        <p:sp>
          <p:nvSpPr>
            <p:cNvPr id="20524" name="Rectangle 148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0525" name="Text Box 149"/>
            <p:cNvSpPr txBox="1"/>
            <p:nvPr/>
          </p:nvSpPr>
          <p:spPr>
            <a:xfrm>
              <a:off x="3540" y="1430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523" name="AutoShape 15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9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92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59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92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59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59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5929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59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59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9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9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593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59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59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59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92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2" dur="500"/>
                                        <p:tgtEl>
                                          <p:spTgt spid="593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59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593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9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59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59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59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4" dur="500"/>
                                        <p:tgtEl>
                                          <p:spTgt spid="59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9" dur="500"/>
                                        <p:tgtEl>
                                          <p:spTgt spid="59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3" dur="500"/>
                                        <p:tgtEl>
                                          <p:spTgt spid="59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7" dur="500"/>
                                        <p:tgtEl>
                                          <p:spTgt spid="59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1" dur="500"/>
                                        <p:tgtEl>
                                          <p:spTgt spid="59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6" dur="500"/>
                                        <p:tgtEl>
                                          <p:spTgt spid="59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59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6" dur="500"/>
                                        <p:tgtEl>
                                          <p:spTgt spid="59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59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6" dur="500"/>
                                        <p:tgtEl>
                                          <p:spTgt spid="592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59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2899" grpId="0"/>
      <p:bldP spid="592906" grpId="0"/>
      <p:bldP spid="592977" grpId="0"/>
      <p:bldP spid="592978" grpId="0"/>
      <p:bldP spid="59298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93922" name="Group 2"/>
          <p:cNvGrpSpPr/>
          <p:nvPr/>
        </p:nvGrpSpPr>
        <p:grpSpPr>
          <a:xfrm>
            <a:off x="4679950" y="76200"/>
            <a:ext cx="4464050" cy="6629400"/>
            <a:chOff x="2948" y="48"/>
            <a:chExt cx="2812" cy="4176"/>
          </a:xfrm>
        </p:grpSpPr>
        <p:grpSp>
          <p:nvGrpSpPr>
            <p:cNvPr id="21692" name="Group 3"/>
            <p:cNvGrpSpPr/>
            <p:nvPr/>
          </p:nvGrpSpPr>
          <p:grpSpPr>
            <a:xfrm>
              <a:off x="2948" y="48"/>
              <a:ext cx="2812" cy="4176"/>
              <a:chOff x="2948" y="48"/>
              <a:chExt cx="2812" cy="4176"/>
            </a:xfrm>
          </p:grpSpPr>
          <p:sp>
            <p:nvSpPr>
              <p:cNvPr id="21694" name="Line 4"/>
              <p:cNvSpPr/>
              <p:nvPr/>
            </p:nvSpPr>
            <p:spPr>
              <a:xfrm flipV="1">
                <a:off x="4052" y="658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1695" name="Line 5"/>
              <p:cNvSpPr/>
              <p:nvPr/>
            </p:nvSpPr>
            <p:spPr>
              <a:xfrm flipV="1">
                <a:off x="4196" y="226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1696" name="Line 6"/>
              <p:cNvSpPr/>
              <p:nvPr/>
            </p:nvSpPr>
            <p:spPr>
              <a:xfrm flipV="1">
                <a:off x="3908" y="226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1697" name="Line 7"/>
              <p:cNvSpPr/>
              <p:nvPr/>
            </p:nvSpPr>
            <p:spPr>
              <a:xfrm flipH="1">
                <a:off x="3428" y="562"/>
                <a:ext cx="38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med" len="med"/>
                <a:tailEnd type="none" w="med" len="med"/>
              </a:ln>
            </p:spPr>
          </p:sp>
          <p:sp>
            <p:nvSpPr>
              <p:cNvPr id="21698" name="Text Box 8"/>
              <p:cNvSpPr txBox="1"/>
              <p:nvPr/>
            </p:nvSpPr>
            <p:spPr>
              <a:xfrm>
                <a:off x="2986" y="416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时钟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699" name="Group 9"/>
              <p:cNvGrpSpPr/>
              <p:nvPr/>
            </p:nvGrpSpPr>
            <p:grpSpPr>
              <a:xfrm>
                <a:off x="3812" y="418"/>
                <a:ext cx="480" cy="259"/>
                <a:chOff x="1344" y="624"/>
                <a:chExt cx="480" cy="259"/>
              </a:xfrm>
            </p:grpSpPr>
            <p:sp>
              <p:nvSpPr>
                <p:cNvPr id="21728" name="Text Box 10"/>
                <p:cNvSpPr txBox="1"/>
                <p:nvPr/>
              </p:nvSpPr>
              <p:spPr>
                <a:xfrm>
                  <a:off x="1428" y="633"/>
                  <a:ext cx="34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CU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29" name="Rectangle 11"/>
                <p:cNvSpPr/>
                <p:nvPr/>
              </p:nvSpPr>
              <p:spPr>
                <a:xfrm>
                  <a:off x="1344" y="624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0" name="Group 12"/>
              <p:cNvGrpSpPr/>
              <p:nvPr/>
            </p:nvGrpSpPr>
            <p:grpSpPr>
              <a:xfrm>
                <a:off x="3812" y="847"/>
                <a:ext cx="480" cy="259"/>
                <a:chOff x="1344" y="1037"/>
                <a:chExt cx="480" cy="259"/>
              </a:xfrm>
            </p:grpSpPr>
            <p:sp>
              <p:nvSpPr>
                <p:cNvPr id="21726" name="Text Box 13"/>
                <p:cNvSpPr txBox="1"/>
                <p:nvPr/>
              </p:nvSpPr>
              <p:spPr>
                <a:xfrm>
                  <a:off x="1428" y="1046"/>
                  <a:ext cx="29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IR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27" name="Rectangle 14"/>
                <p:cNvSpPr/>
                <p:nvPr/>
              </p:nvSpPr>
              <p:spPr>
                <a:xfrm>
                  <a:off x="1344" y="1037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1" name="Group 15"/>
              <p:cNvGrpSpPr/>
              <p:nvPr/>
            </p:nvGrpSpPr>
            <p:grpSpPr>
              <a:xfrm>
                <a:off x="3812" y="1277"/>
                <a:ext cx="480" cy="259"/>
                <a:chOff x="1344" y="1421"/>
                <a:chExt cx="480" cy="259"/>
              </a:xfrm>
            </p:grpSpPr>
            <p:sp>
              <p:nvSpPr>
                <p:cNvPr id="21724" name="Text Box 16"/>
                <p:cNvSpPr txBox="1"/>
                <p:nvPr/>
              </p:nvSpPr>
              <p:spPr>
                <a:xfrm>
                  <a:off x="1428" y="1430"/>
                  <a:ext cx="330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PC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25" name="Rectangle 17"/>
                <p:cNvSpPr/>
                <p:nvPr/>
              </p:nvSpPr>
              <p:spPr>
                <a:xfrm>
                  <a:off x="1344" y="1421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2" name="Group 18"/>
              <p:cNvGrpSpPr/>
              <p:nvPr/>
            </p:nvGrpSpPr>
            <p:grpSpPr>
              <a:xfrm>
                <a:off x="3812" y="1706"/>
                <a:ext cx="499" cy="259"/>
                <a:chOff x="1344" y="1853"/>
                <a:chExt cx="499" cy="259"/>
              </a:xfrm>
            </p:grpSpPr>
            <p:sp>
              <p:nvSpPr>
                <p:cNvPr id="21722" name="Text Box 19"/>
                <p:cNvSpPr txBox="1"/>
                <p:nvPr/>
              </p:nvSpPr>
              <p:spPr>
                <a:xfrm>
                  <a:off x="1344" y="1862"/>
                  <a:ext cx="49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23" name="Rectangle 20"/>
                <p:cNvSpPr/>
                <p:nvPr/>
              </p:nvSpPr>
              <p:spPr>
                <a:xfrm>
                  <a:off x="1344" y="1853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3" name="Group 21"/>
              <p:cNvGrpSpPr/>
              <p:nvPr/>
            </p:nvGrpSpPr>
            <p:grpSpPr>
              <a:xfrm>
                <a:off x="3812" y="2136"/>
                <a:ext cx="499" cy="259"/>
                <a:chOff x="1344" y="2189"/>
                <a:chExt cx="499" cy="259"/>
              </a:xfrm>
            </p:grpSpPr>
            <p:sp>
              <p:nvSpPr>
                <p:cNvPr id="21720" name="Text Box 22"/>
                <p:cNvSpPr txBox="1"/>
                <p:nvPr/>
              </p:nvSpPr>
              <p:spPr>
                <a:xfrm>
                  <a:off x="1344" y="2198"/>
                  <a:ext cx="49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MDR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21" name="Rectangle 23"/>
                <p:cNvSpPr/>
                <p:nvPr/>
              </p:nvSpPr>
              <p:spPr>
                <a:xfrm>
                  <a:off x="1344" y="2189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4" name="Group 24"/>
              <p:cNvGrpSpPr/>
              <p:nvPr/>
            </p:nvGrpSpPr>
            <p:grpSpPr>
              <a:xfrm>
                <a:off x="3812" y="2621"/>
                <a:ext cx="480" cy="259"/>
                <a:chOff x="1344" y="2573"/>
                <a:chExt cx="480" cy="259"/>
              </a:xfrm>
            </p:grpSpPr>
            <p:sp>
              <p:nvSpPr>
                <p:cNvPr id="21718" name="Text Box 25"/>
                <p:cNvSpPr txBox="1"/>
                <p:nvPr/>
              </p:nvSpPr>
              <p:spPr>
                <a:xfrm>
                  <a:off x="1428" y="2582"/>
                  <a:ext cx="34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AC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19" name="Rectangle 26"/>
                <p:cNvSpPr/>
                <p:nvPr/>
              </p:nvSpPr>
              <p:spPr>
                <a:xfrm>
                  <a:off x="1344" y="2573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5" name="Group 27"/>
              <p:cNvGrpSpPr/>
              <p:nvPr/>
            </p:nvGrpSpPr>
            <p:grpSpPr>
              <a:xfrm>
                <a:off x="3812" y="3087"/>
                <a:ext cx="480" cy="259"/>
                <a:chOff x="1344" y="2909"/>
                <a:chExt cx="480" cy="259"/>
              </a:xfrm>
            </p:grpSpPr>
            <p:sp>
              <p:nvSpPr>
                <p:cNvPr id="21716" name="Text Box 28"/>
                <p:cNvSpPr txBox="1"/>
                <p:nvPr/>
              </p:nvSpPr>
              <p:spPr>
                <a:xfrm>
                  <a:off x="1488" y="2918"/>
                  <a:ext cx="23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17" name="Rectangle 29"/>
                <p:cNvSpPr/>
                <p:nvPr/>
              </p:nvSpPr>
              <p:spPr>
                <a:xfrm>
                  <a:off x="1344" y="2909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6" name="Group 30"/>
              <p:cNvGrpSpPr/>
              <p:nvPr/>
            </p:nvGrpSpPr>
            <p:grpSpPr>
              <a:xfrm>
                <a:off x="3812" y="3490"/>
                <a:ext cx="480" cy="288"/>
                <a:chOff x="1344" y="3245"/>
                <a:chExt cx="480" cy="240"/>
              </a:xfrm>
            </p:grpSpPr>
            <p:sp>
              <p:nvSpPr>
                <p:cNvPr id="21714" name="Text Box 31"/>
                <p:cNvSpPr txBox="1"/>
                <p:nvPr/>
              </p:nvSpPr>
              <p:spPr>
                <a:xfrm>
                  <a:off x="1369" y="3254"/>
                  <a:ext cx="455" cy="20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ALU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15" name="Rectangle 32"/>
                <p:cNvSpPr/>
                <p:nvPr/>
              </p:nvSpPr>
              <p:spPr>
                <a:xfrm>
                  <a:off x="1344" y="3245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grpSp>
            <p:nvGrpSpPr>
              <p:cNvPr id="21707" name="Group 33"/>
              <p:cNvGrpSpPr/>
              <p:nvPr/>
            </p:nvGrpSpPr>
            <p:grpSpPr>
              <a:xfrm>
                <a:off x="3812" y="3965"/>
                <a:ext cx="480" cy="259"/>
                <a:chOff x="1344" y="3581"/>
                <a:chExt cx="480" cy="259"/>
              </a:xfrm>
            </p:grpSpPr>
            <p:sp>
              <p:nvSpPr>
                <p:cNvPr id="21712" name="Text Box 34"/>
                <p:cNvSpPr txBox="1"/>
                <p:nvPr/>
              </p:nvSpPr>
              <p:spPr>
                <a:xfrm>
                  <a:off x="1488" y="3590"/>
                  <a:ext cx="223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Z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713" name="Rectangle 35"/>
                <p:cNvSpPr/>
                <p:nvPr/>
              </p:nvSpPr>
              <p:spPr>
                <a:xfrm>
                  <a:off x="1344" y="3581"/>
                  <a:ext cx="480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  <p:sp>
            <p:nvSpPr>
              <p:cNvPr id="21708" name="Text Box 36"/>
              <p:cNvSpPr txBox="1"/>
              <p:nvPr/>
            </p:nvSpPr>
            <p:spPr>
              <a:xfrm>
                <a:off x="3908" y="187"/>
                <a:ext cx="2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09" name="Text Box 37"/>
              <p:cNvSpPr txBox="1"/>
              <p:nvPr/>
            </p:nvSpPr>
            <p:spPr>
              <a:xfrm>
                <a:off x="3716" y="48"/>
                <a:ext cx="6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控制信号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0" name="Text Box 38"/>
              <p:cNvSpPr txBox="1"/>
              <p:nvPr/>
            </p:nvSpPr>
            <p:spPr>
              <a:xfrm>
                <a:off x="5314" y="1416"/>
                <a:ext cx="446" cy="10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CPU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内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  部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  总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  线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11" name="Rectangle 39"/>
              <p:cNvSpPr/>
              <p:nvPr/>
            </p:nvSpPr>
            <p:spPr>
              <a:xfrm>
                <a:off x="2948" y="418"/>
                <a:ext cx="48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21693" name="Rectangle 40"/>
            <p:cNvSpPr/>
            <p:nvPr/>
          </p:nvSpPr>
          <p:spPr>
            <a:xfrm>
              <a:off x="5159" y="816"/>
              <a:ext cx="48" cy="340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593961" name="Group 41"/>
          <p:cNvGrpSpPr/>
          <p:nvPr/>
        </p:nvGrpSpPr>
        <p:grpSpPr>
          <a:xfrm>
            <a:off x="831850" y="1412875"/>
            <a:ext cx="7218363" cy="2535238"/>
            <a:chOff x="524" y="890"/>
            <a:chExt cx="4547" cy="1597"/>
          </a:xfrm>
        </p:grpSpPr>
        <p:grpSp>
          <p:nvGrpSpPr>
            <p:cNvPr id="21688" name="Group 42"/>
            <p:cNvGrpSpPr/>
            <p:nvPr/>
          </p:nvGrpSpPr>
          <p:grpSpPr>
            <a:xfrm>
              <a:off x="4512" y="2256"/>
              <a:ext cx="559" cy="231"/>
              <a:chOff x="4548" y="2341"/>
              <a:chExt cx="559" cy="231"/>
            </a:xfrm>
          </p:grpSpPr>
          <p:sp>
            <p:nvSpPr>
              <p:cNvPr id="21690" name="Freeform 43"/>
              <p:cNvSpPr/>
              <p:nvPr/>
            </p:nvSpPr>
            <p:spPr>
              <a:xfrm>
                <a:off x="4548" y="2406"/>
                <a:ext cx="6" cy="1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26"/>
                  </a:cxn>
                </a:cxnLst>
                <a:pathLst>
                  <a:path w="6" h="126">
                    <a:moveTo>
                      <a:pt x="0" y="0"/>
                    </a:moveTo>
                    <a:lnTo>
                      <a:pt x="6" y="126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691" name="Text Box 44"/>
              <p:cNvSpPr txBox="1"/>
              <p:nvPr/>
            </p:nvSpPr>
            <p:spPr>
              <a:xfrm>
                <a:off x="4572" y="2341"/>
                <a:ext cx="53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MDR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O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689" name="Text Box 45"/>
            <p:cNvSpPr txBox="1"/>
            <p:nvPr/>
          </p:nvSpPr>
          <p:spPr>
            <a:xfrm>
              <a:off x="524" y="890"/>
              <a:ext cx="5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zh-CN" altLang="en-US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508" name="Text Box 46"/>
          <p:cNvSpPr txBox="1"/>
          <p:nvPr/>
        </p:nvSpPr>
        <p:spPr>
          <a:xfrm>
            <a:off x="304800" y="258763"/>
            <a:ext cx="5105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(3) </a:t>
            </a:r>
            <a:r>
              <a:rPr lang="en-US" altLang="zh-CN" sz="2800" dirty="0">
                <a:latin typeface="Times New Roman" panose="02020603050405020304" pitchFamily="18" charset="0"/>
              </a:rPr>
              <a:t>ADD @ X  </a:t>
            </a:r>
            <a:r>
              <a:rPr lang="zh-CN" altLang="en-US" sz="3200" dirty="0">
                <a:latin typeface="Times New Roman" panose="02020603050405020304" pitchFamily="18" charset="0"/>
              </a:rPr>
              <a:t>执行周期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93967" name="Line 47"/>
          <p:cNvSpPr/>
          <p:nvPr/>
        </p:nvSpPr>
        <p:spPr>
          <a:xfrm>
            <a:off x="1692275" y="128111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3968" name="Line 48"/>
          <p:cNvSpPr/>
          <p:nvPr/>
        </p:nvSpPr>
        <p:spPr>
          <a:xfrm>
            <a:off x="3063875" y="128111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3969" name="Group 49"/>
          <p:cNvGrpSpPr/>
          <p:nvPr/>
        </p:nvGrpSpPr>
        <p:grpSpPr>
          <a:xfrm>
            <a:off x="609600" y="1973263"/>
            <a:ext cx="1273175" cy="457200"/>
            <a:chOff x="528" y="1808"/>
            <a:chExt cx="802" cy="288"/>
          </a:xfrm>
        </p:grpSpPr>
        <p:sp>
          <p:nvSpPr>
            <p:cNvPr id="21686" name="Text Box 50"/>
            <p:cNvSpPr txBox="1"/>
            <p:nvPr/>
          </p:nvSpPr>
          <p:spPr>
            <a:xfrm>
              <a:off x="528" y="1808"/>
              <a:ext cx="8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1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1687" name="Line 51"/>
            <p:cNvSpPr/>
            <p:nvPr/>
          </p:nvSpPr>
          <p:spPr>
            <a:xfrm>
              <a:off x="816" y="194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93972" name="Line 52"/>
          <p:cNvSpPr/>
          <p:nvPr/>
        </p:nvSpPr>
        <p:spPr>
          <a:xfrm>
            <a:off x="1860550" y="2695575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3973" name="Text Box 53"/>
          <p:cNvSpPr txBox="1"/>
          <p:nvPr/>
        </p:nvSpPr>
        <p:spPr>
          <a:xfrm>
            <a:off x="609600" y="294005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3974" name="Line 54"/>
          <p:cNvSpPr/>
          <p:nvPr/>
        </p:nvSpPr>
        <p:spPr>
          <a:xfrm>
            <a:off x="1692275" y="3163888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3975" name="Text Box 55"/>
          <p:cNvSpPr txBox="1"/>
          <p:nvPr/>
        </p:nvSpPr>
        <p:spPr>
          <a:xfrm>
            <a:off x="609600" y="5562600"/>
            <a:ext cx="5699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Z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3976" name="Line 56"/>
          <p:cNvSpPr/>
          <p:nvPr/>
        </p:nvSpPr>
        <p:spPr>
          <a:xfrm>
            <a:off x="1158875" y="5811838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3977" name="Text Box 57"/>
          <p:cNvSpPr txBox="1"/>
          <p:nvPr/>
        </p:nvSpPr>
        <p:spPr>
          <a:xfrm>
            <a:off x="609600" y="3906838"/>
            <a:ext cx="884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</a:rPr>
              <a:t>AC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3978" name="Line 58"/>
          <p:cNvSpPr/>
          <p:nvPr/>
        </p:nvSpPr>
        <p:spPr>
          <a:xfrm>
            <a:off x="1447800" y="415766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3979" name="Text Box 59"/>
          <p:cNvSpPr txBox="1"/>
          <p:nvPr/>
        </p:nvSpPr>
        <p:spPr>
          <a:xfrm>
            <a:off x="609600" y="4876800"/>
            <a:ext cx="2351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AC）+（Y）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3980" name="Line 60"/>
          <p:cNvSpPr/>
          <p:nvPr/>
        </p:nvSpPr>
        <p:spPr>
          <a:xfrm flipV="1">
            <a:off x="2819400" y="5097463"/>
            <a:ext cx="533400" cy="79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3981" name="Group 61"/>
          <p:cNvGrpSpPr/>
          <p:nvPr/>
        </p:nvGrpSpPr>
        <p:grpSpPr>
          <a:xfrm>
            <a:off x="609600" y="1066800"/>
            <a:ext cx="1095375" cy="701675"/>
            <a:chOff x="384" y="672"/>
            <a:chExt cx="690" cy="442"/>
          </a:xfrm>
        </p:grpSpPr>
        <p:sp>
          <p:nvSpPr>
            <p:cNvPr id="21684" name="Text Box 62"/>
            <p:cNvSpPr txBox="1"/>
            <p:nvPr/>
          </p:nvSpPr>
          <p:spPr>
            <a:xfrm>
              <a:off x="384" y="672"/>
              <a:ext cx="6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21685" name="Text Box 63"/>
            <p:cNvSpPr txBox="1"/>
            <p:nvPr/>
          </p:nvSpPr>
          <p:spPr>
            <a:xfrm>
              <a:off x="432" y="864"/>
              <a:ext cx="1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3984" name="Group 64"/>
          <p:cNvGrpSpPr/>
          <p:nvPr/>
        </p:nvGrpSpPr>
        <p:grpSpPr>
          <a:xfrm>
            <a:off x="6813550" y="2873375"/>
            <a:ext cx="1371600" cy="76200"/>
            <a:chOff x="4330" y="1906"/>
            <a:chExt cx="864" cy="48"/>
          </a:xfrm>
        </p:grpSpPr>
        <p:sp>
          <p:nvSpPr>
            <p:cNvPr id="21681" name="Oval 65"/>
            <p:cNvSpPr/>
            <p:nvPr/>
          </p:nvSpPr>
          <p:spPr>
            <a:xfrm>
              <a:off x="4522" y="190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82" name="Line 66"/>
            <p:cNvSpPr/>
            <p:nvPr/>
          </p:nvSpPr>
          <p:spPr>
            <a:xfrm rot="-5400000" flipV="1">
              <a:off x="4426" y="1837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1683" name="Freeform 67"/>
            <p:cNvSpPr/>
            <p:nvPr/>
          </p:nvSpPr>
          <p:spPr>
            <a:xfrm>
              <a:off x="4570" y="1927"/>
              <a:ext cx="624" cy="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24" y="0"/>
                </a:cxn>
              </a:cxnLst>
              <a:pathLst>
                <a:path w="624" h="6">
                  <a:moveTo>
                    <a:pt x="0" y="6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93988" name="Line 68"/>
          <p:cNvSpPr/>
          <p:nvPr/>
        </p:nvSpPr>
        <p:spPr>
          <a:xfrm flipH="1">
            <a:off x="5486400" y="2873375"/>
            <a:ext cx="56515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3989" name="Group 69"/>
          <p:cNvGrpSpPr/>
          <p:nvPr/>
        </p:nvGrpSpPr>
        <p:grpSpPr>
          <a:xfrm>
            <a:off x="4435475" y="5537200"/>
            <a:ext cx="1693863" cy="411163"/>
            <a:chOff x="2794" y="3488"/>
            <a:chExt cx="1067" cy="259"/>
          </a:xfrm>
        </p:grpSpPr>
        <p:sp>
          <p:nvSpPr>
            <p:cNvPr id="21677" name="Text Box 70"/>
            <p:cNvSpPr txBox="1"/>
            <p:nvPr/>
          </p:nvSpPr>
          <p:spPr>
            <a:xfrm>
              <a:off x="2794" y="3488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78" name="Line 71"/>
            <p:cNvSpPr/>
            <p:nvPr/>
          </p:nvSpPr>
          <p:spPr>
            <a:xfrm>
              <a:off x="3668" y="3538"/>
              <a:ext cx="14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1679" name="Line 72"/>
            <p:cNvSpPr/>
            <p:nvPr/>
          </p:nvSpPr>
          <p:spPr>
            <a:xfrm>
              <a:off x="3648" y="3730"/>
              <a:ext cx="16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1680" name="Text Box 73"/>
            <p:cNvSpPr txBox="1"/>
            <p:nvPr/>
          </p:nvSpPr>
          <p:spPr>
            <a:xfrm>
              <a:off x="3572" y="3545"/>
              <a:ext cx="28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3994" name="Line 74"/>
          <p:cNvSpPr/>
          <p:nvPr/>
        </p:nvSpPr>
        <p:spPr>
          <a:xfrm rot="-10800000" flipH="1">
            <a:off x="5426075" y="3581400"/>
            <a:ext cx="6096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3995" name="Group 75"/>
          <p:cNvGrpSpPr/>
          <p:nvPr/>
        </p:nvGrpSpPr>
        <p:grpSpPr>
          <a:xfrm>
            <a:off x="6430963" y="3775075"/>
            <a:ext cx="1747837" cy="152400"/>
            <a:chOff x="4093" y="2482"/>
            <a:chExt cx="1101" cy="96"/>
          </a:xfrm>
        </p:grpSpPr>
        <p:sp>
          <p:nvSpPr>
            <p:cNvPr id="21674" name="Oval 76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75" name="Freeform 77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76" name="Freeform 78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93999" name="Text Box 79"/>
          <p:cNvSpPr txBox="1"/>
          <p:nvPr/>
        </p:nvSpPr>
        <p:spPr>
          <a:xfrm>
            <a:off x="2117725" y="1066800"/>
            <a:ext cx="912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MAR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4000" name="Text Box 80"/>
          <p:cNvSpPr txBox="1"/>
          <p:nvPr/>
        </p:nvSpPr>
        <p:spPr>
          <a:xfrm>
            <a:off x="2346325" y="2479675"/>
            <a:ext cx="912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MDR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4001" name="Group 81"/>
          <p:cNvGrpSpPr/>
          <p:nvPr/>
        </p:nvGrpSpPr>
        <p:grpSpPr>
          <a:xfrm>
            <a:off x="3565525" y="1066800"/>
            <a:ext cx="1903413" cy="2009775"/>
            <a:chOff x="2246" y="672"/>
            <a:chExt cx="1199" cy="1266"/>
          </a:xfrm>
        </p:grpSpPr>
        <p:sp>
          <p:nvSpPr>
            <p:cNvPr id="21672" name="Text Box 82"/>
            <p:cNvSpPr txBox="1"/>
            <p:nvPr/>
          </p:nvSpPr>
          <p:spPr>
            <a:xfrm>
              <a:off x="2246" y="672"/>
              <a:ext cx="64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200" dirty="0">
                  <a:latin typeface="Times New Roman" panose="02020603050405020304" pitchFamily="18" charset="0"/>
                </a:rPr>
                <a:t>地址线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21673" name="Text Box 83"/>
            <p:cNvSpPr txBox="1"/>
            <p:nvPr/>
          </p:nvSpPr>
          <p:spPr>
            <a:xfrm>
              <a:off x="2726" y="1688"/>
              <a:ext cx="71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 地址线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04" name="Group 84"/>
          <p:cNvGrpSpPr/>
          <p:nvPr/>
        </p:nvGrpSpPr>
        <p:grpSpPr>
          <a:xfrm>
            <a:off x="609600" y="2479675"/>
            <a:ext cx="4876800" cy="1270000"/>
            <a:chOff x="384" y="1562"/>
            <a:chExt cx="3072" cy="800"/>
          </a:xfrm>
        </p:grpSpPr>
        <p:sp>
          <p:nvSpPr>
            <p:cNvPr id="21670" name="Text Box 85"/>
            <p:cNvSpPr txBox="1"/>
            <p:nvPr/>
          </p:nvSpPr>
          <p:spPr>
            <a:xfrm>
              <a:off x="384" y="1562"/>
              <a:ext cx="75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200" dirty="0">
                  <a:latin typeface="Times New Roman" panose="02020603050405020304" pitchFamily="18" charset="0"/>
                </a:rPr>
                <a:t> 数据线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1671" name="Text Box 86"/>
            <p:cNvSpPr txBox="1"/>
            <p:nvPr/>
          </p:nvSpPr>
          <p:spPr>
            <a:xfrm>
              <a:off x="2860" y="2112"/>
              <a:ext cx="5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数据线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07" name="Group 87"/>
          <p:cNvGrpSpPr/>
          <p:nvPr/>
        </p:nvGrpSpPr>
        <p:grpSpPr>
          <a:xfrm>
            <a:off x="6029325" y="2673350"/>
            <a:ext cx="828675" cy="417513"/>
            <a:chOff x="3433" y="1849"/>
            <a:chExt cx="522" cy="263"/>
          </a:xfrm>
        </p:grpSpPr>
        <p:sp>
          <p:nvSpPr>
            <p:cNvPr id="21668" name="Rectangle 88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69" name="Text Box 89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MAR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10" name="Group 90"/>
          <p:cNvGrpSpPr/>
          <p:nvPr/>
        </p:nvGrpSpPr>
        <p:grpSpPr>
          <a:xfrm>
            <a:off x="6019800" y="3352800"/>
            <a:ext cx="828675" cy="417513"/>
            <a:chOff x="3433" y="1849"/>
            <a:chExt cx="522" cy="263"/>
          </a:xfrm>
        </p:grpSpPr>
        <p:sp>
          <p:nvSpPr>
            <p:cNvPr id="21666" name="Rectangle 91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67" name="Text Box 92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013" name="Text Box 93"/>
          <p:cNvSpPr txBox="1"/>
          <p:nvPr/>
        </p:nvSpPr>
        <p:spPr>
          <a:xfrm>
            <a:off x="2117725" y="294005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Y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4014" name="Group 94"/>
          <p:cNvGrpSpPr/>
          <p:nvPr/>
        </p:nvGrpSpPr>
        <p:grpSpPr>
          <a:xfrm>
            <a:off x="6019800" y="3352800"/>
            <a:ext cx="828675" cy="417513"/>
            <a:chOff x="3433" y="1849"/>
            <a:chExt cx="522" cy="263"/>
          </a:xfrm>
        </p:grpSpPr>
        <p:sp>
          <p:nvSpPr>
            <p:cNvPr id="21664" name="Rectangle 95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65" name="Text Box 96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17" name="Group 97"/>
          <p:cNvGrpSpPr/>
          <p:nvPr/>
        </p:nvGrpSpPr>
        <p:grpSpPr>
          <a:xfrm>
            <a:off x="6019800" y="3352800"/>
            <a:ext cx="828675" cy="417513"/>
            <a:chOff x="3433" y="1849"/>
            <a:chExt cx="522" cy="263"/>
          </a:xfrm>
        </p:grpSpPr>
        <p:sp>
          <p:nvSpPr>
            <p:cNvPr id="21662" name="Rectangle 98"/>
            <p:cNvSpPr/>
            <p:nvPr/>
          </p:nvSpPr>
          <p:spPr>
            <a:xfrm>
              <a:off x="3433" y="1849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63" name="Text Box 99"/>
            <p:cNvSpPr txBox="1"/>
            <p:nvPr/>
          </p:nvSpPr>
          <p:spPr>
            <a:xfrm>
              <a:off x="3456" y="1862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MDR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20" name="Group 100"/>
          <p:cNvGrpSpPr/>
          <p:nvPr/>
        </p:nvGrpSpPr>
        <p:grpSpPr>
          <a:xfrm>
            <a:off x="850900" y="3276600"/>
            <a:ext cx="7199313" cy="655638"/>
            <a:chOff x="536" y="2064"/>
            <a:chExt cx="4535" cy="413"/>
          </a:xfrm>
        </p:grpSpPr>
        <p:sp>
          <p:nvSpPr>
            <p:cNvPr id="21658" name="Text Box 101"/>
            <p:cNvSpPr txBox="1"/>
            <p:nvPr/>
          </p:nvSpPr>
          <p:spPr>
            <a:xfrm>
              <a:off x="536" y="2064"/>
              <a:ext cx="57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1659" name="Group 102"/>
            <p:cNvGrpSpPr/>
            <p:nvPr/>
          </p:nvGrpSpPr>
          <p:grpSpPr>
            <a:xfrm>
              <a:off x="4512" y="2246"/>
              <a:ext cx="559" cy="231"/>
              <a:chOff x="4512" y="2246"/>
              <a:chExt cx="559" cy="231"/>
            </a:xfrm>
          </p:grpSpPr>
          <p:sp>
            <p:nvSpPr>
              <p:cNvPr id="21660" name="Text Box 103"/>
              <p:cNvSpPr txBox="1"/>
              <p:nvPr/>
            </p:nvSpPr>
            <p:spPr>
              <a:xfrm>
                <a:off x="4536" y="2246"/>
                <a:ext cx="53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rgbClr val="C28F00"/>
                    </a:solidFill>
                    <a:latin typeface="Times New Roman" panose="02020603050405020304" pitchFamily="18" charset="0"/>
                  </a:rPr>
                  <a:t>MDR</a:t>
                </a:r>
                <a:r>
                  <a:rPr lang="en-US" altLang="zh-CN" baseline="-15000" dirty="0">
                    <a:solidFill>
                      <a:srgbClr val="C28F00"/>
                    </a:solidFill>
                    <a:latin typeface="Times New Roman" panose="02020603050405020304" pitchFamily="18" charset="0"/>
                  </a:rPr>
                  <a:t>O</a:t>
                </a:r>
                <a:endParaRPr lang="en-US" altLang="zh-CN" baseline="-15000" dirty="0">
                  <a:solidFill>
                    <a:srgbClr val="C28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61" name="Freeform 104"/>
              <p:cNvSpPr/>
              <p:nvPr/>
            </p:nvSpPr>
            <p:spPr>
              <a:xfrm>
                <a:off x="4512" y="2310"/>
                <a:ext cx="1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28575" cap="flat" cmpd="sng">
                <a:solidFill>
                  <a:srgbClr val="C28F00">
                    <a:alpha val="100000"/>
                  </a:srgb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94025" name="Group 105"/>
          <p:cNvGrpSpPr/>
          <p:nvPr/>
        </p:nvGrpSpPr>
        <p:grpSpPr>
          <a:xfrm>
            <a:off x="7162800" y="3565525"/>
            <a:ext cx="887413" cy="366713"/>
            <a:chOff x="4548" y="2341"/>
            <a:chExt cx="559" cy="231"/>
          </a:xfrm>
        </p:grpSpPr>
        <p:sp>
          <p:nvSpPr>
            <p:cNvPr id="21656" name="Freeform 106"/>
            <p:cNvSpPr/>
            <p:nvPr/>
          </p:nvSpPr>
          <p:spPr>
            <a:xfrm>
              <a:off x="4548" y="2412"/>
              <a:ext cx="3" cy="1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17"/>
                </a:cxn>
              </a:cxnLst>
              <a:pathLst>
                <a:path w="3" h="117">
                  <a:moveTo>
                    <a:pt x="3" y="0"/>
                  </a:moveTo>
                  <a:lnTo>
                    <a:pt x="0" y="117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57" name="Text Box 107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28" name="Group 108"/>
          <p:cNvGrpSpPr/>
          <p:nvPr/>
        </p:nvGrpSpPr>
        <p:grpSpPr>
          <a:xfrm>
            <a:off x="7162800" y="3581400"/>
            <a:ext cx="882650" cy="366713"/>
            <a:chOff x="4551" y="2341"/>
            <a:chExt cx="556" cy="231"/>
          </a:xfrm>
        </p:grpSpPr>
        <p:sp>
          <p:nvSpPr>
            <p:cNvPr id="21654" name="Text Box 109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rgbClr val="C28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55" name="Freeform 110"/>
            <p:cNvSpPr/>
            <p:nvPr/>
          </p:nvSpPr>
          <p:spPr>
            <a:xfrm>
              <a:off x="4551" y="2409"/>
              <a:ext cx="3" cy="1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20"/>
                </a:cxn>
              </a:cxnLst>
              <a:pathLst>
                <a:path w="3" h="120">
                  <a:moveTo>
                    <a:pt x="0" y="0"/>
                  </a:moveTo>
                  <a:lnTo>
                    <a:pt x="3" y="120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31" name="Group 111"/>
          <p:cNvGrpSpPr/>
          <p:nvPr/>
        </p:nvGrpSpPr>
        <p:grpSpPr>
          <a:xfrm>
            <a:off x="7162800" y="3563938"/>
            <a:ext cx="887413" cy="366712"/>
            <a:chOff x="4548" y="2341"/>
            <a:chExt cx="559" cy="231"/>
          </a:xfrm>
        </p:grpSpPr>
        <p:sp>
          <p:nvSpPr>
            <p:cNvPr id="21652" name="Freeform 112"/>
            <p:cNvSpPr/>
            <p:nvPr/>
          </p:nvSpPr>
          <p:spPr>
            <a:xfrm>
              <a:off x="4548" y="2412"/>
              <a:ext cx="3" cy="1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17"/>
                </a:cxn>
              </a:cxnLst>
              <a:pathLst>
                <a:path w="3" h="117">
                  <a:moveTo>
                    <a:pt x="3" y="0"/>
                  </a:moveTo>
                  <a:lnTo>
                    <a:pt x="0" y="117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53" name="Text Box 113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34" name="Group 114"/>
          <p:cNvGrpSpPr/>
          <p:nvPr/>
        </p:nvGrpSpPr>
        <p:grpSpPr>
          <a:xfrm>
            <a:off x="7162800" y="3563938"/>
            <a:ext cx="882650" cy="366712"/>
            <a:chOff x="4551" y="2341"/>
            <a:chExt cx="556" cy="231"/>
          </a:xfrm>
        </p:grpSpPr>
        <p:sp>
          <p:nvSpPr>
            <p:cNvPr id="21650" name="Text Box 115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rgbClr val="C28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51" name="Freeform 116"/>
            <p:cNvSpPr/>
            <p:nvPr/>
          </p:nvSpPr>
          <p:spPr>
            <a:xfrm>
              <a:off x="4551" y="2409"/>
              <a:ext cx="3" cy="1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20"/>
                </a:cxn>
              </a:cxnLst>
              <a:pathLst>
                <a:path w="3" h="120">
                  <a:moveTo>
                    <a:pt x="0" y="0"/>
                  </a:moveTo>
                  <a:lnTo>
                    <a:pt x="3" y="120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37" name="Group 117"/>
          <p:cNvGrpSpPr/>
          <p:nvPr/>
        </p:nvGrpSpPr>
        <p:grpSpPr>
          <a:xfrm>
            <a:off x="7162800" y="3568700"/>
            <a:ext cx="887413" cy="366713"/>
            <a:chOff x="4548" y="2341"/>
            <a:chExt cx="559" cy="231"/>
          </a:xfrm>
        </p:grpSpPr>
        <p:sp>
          <p:nvSpPr>
            <p:cNvPr id="21648" name="Freeform 118"/>
            <p:cNvSpPr/>
            <p:nvPr/>
          </p:nvSpPr>
          <p:spPr>
            <a:xfrm>
              <a:off x="4548" y="2406"/>
              <a:ext cx="6" cy="1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26"/>
                </a:cxn>
              </a:cxnLst>
              <a:pathLst>
                <a:path w="6" h="126">
                  <a:moveTo>
                    <a:pt x="0" y="0"/>
                  </a:moveTo>
                  <a:lnTo>
                    <a:pt x="6" y="12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49" name="Text Box 119"/>
            <p:cNvSpPr txBox="1"/>
            <p:nvPr/>
          </p:nvSpPr>
          <p:spPr>
            <a:xfrm>
              <a:off x="4572" y="2341"/>
              <a:ext cx="5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MDR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40" name="Group 120"/>
          <p:cNvGrpSpPr/>
          <p:nvPr/>
        </p:nvGrpSpPr>
        <p:grpSpPr>
          <a:xfrm>
            <a:off x="6430963" y="3775075"/>
            <a:ext cx="1747837" cy="152400"/>
            <a:chOff x="4093" y="2482"/>
            <a:chExt cx="1101" cy="96"/>
          </a:xfrm>
        </p:grpSpPr>
        <p:sp>
          <p:nvSpPr>
            <p:cNvPr id="21645" name="Oval 121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46" name="Freeform 122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47" name="Freeform 123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44" name="Group 124"/>
          <p:cNvGrpSpPr/>
          <p:nvPr/>
        </p:nvGrpSpPr>
        <p:grpSpPr>
          <a:xfrm>
            <a:off x="6437313" y="3775075"/>
            <a:ext cx="1747837" cy="152400"/>
            <a:chOff x="4093" y="2482"/>
            <a:chExt cx="1101" cy="96"/>
          </a:xfrm>
        </p:grpSpPr>
        <p:sp>
          <p:nvSpPr>
            <p:cNvPr id="21642" name="Oval 125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43" name="Freeform 126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44" name="Freeform 127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48" name="Group 128"/>
          <p:cNvGrpSpPr/>
          <p:nvPr/>
        </p:nvGrpSpPr>
        <p:grpSpPr>
          <a:xfrm>
            <a:off x="6430963" y="3775075"/>
            <a:ext cx="1747837" cy="152400"/>
            <a:chOff x="4093" y="2482"/>
            <a:chExt cx="1101" cy="96"/>
          </a:xfrm>
        </p:grpSpPr>
        <p:sp>
          <p:nvSpPr>
            <p:cNvPr id="21639" name="Oval 129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40" name="Freeform 130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41" name="Freeform 131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rgbClr val="C28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52" name="Group 132"/>
          <p:cNvGrpSpPr/>
          <p:nvPr/>
        </p:nvGrpSpPr>
        <p:grpSpPr>
          <a:xfrm>
            <a:off x="6430963" y="3775075"/>
            <a:ext cx="1747837" cy="152400"/>
            <a:chOff x="4093" y="2482"/>
            <a:chExt cx="1101" cy="96"/>
          </a:xfrm>
        </p:grpSpPr>
        <p:sp>
          <p:nvSpPr>
            <p:cNvPr id="21636" name="Oval 133"/>
            <p:cNvSpPr/>
            <p:nvPr/>
          </p:nvSpPr>
          <p:spPr>
            <a:xfrm>
              <a:off x="4525" y="25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37" name="Freeform 134"/>
            <p:cNvSpPr/>
            <p:nvPr/>
          </p:nvSpPr>
          <p:spPr>
            <a:xfrm>
              <a:off x="4579" y="2551"/>
              <a:ext cx="615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6"/>
                </a:cxn>
              </a:cxnLst>
              <a:pathLst>
                <a:path w="615" h="6">
                  <a:moveTo>
                    <a:pt x="0" y="0"/>
                  </a:moveTo>
                  <a:lnTo>
                    <a:pt x="615" y="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38" name="Freeform 135"/>
            <p:cNvSpPr/>
            <p:nvPr/>
          </p:nvSpPr>
          <p:spPr>
            <a:xfrm>
              <a:off x="4093" y="2482"/>
              <a:ext cx="432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6"/>
                </a:cxn>
                <a:cxn ang="0">
                  <a:pos x="432" y="66"/>
                </a:cxn>
              </a:cxnLst>
              <a:pathLst>
                <a:path w="432" h="66">
                  <a:moveTo>
                    <a:pt x="0" y="0"/>
                  </a:moveTo>
                  <a:lnTo>
                    <a:pt x="0" y="66"/>
                  </a:lnTo>
                  <a:lnTo>
                    <a:pt x="432" y="6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56" name="Group 136"/>
          <p:cNvGrpSpPr/>
          <p:nvPr/>
        </p:nvGrpSpPr>
        <p:grpSpPr>
          <a:xfrm>
            <a:off x="6800850" y="5019675"/>
            <a:ext cx="1403350" cy="76200"/>
            <a:chOff x="4284" y="3162"/>
            <a:chExt cx="884" cy="48"/>
          </a:xfrm>
        </p:grpSpPr>
        <p:sp>
          <p:nvSpPr>
            <p:cNvPr id="21633" name="Oval 137"/>
            <p:cNvSpPr/>
            <p:nvPr/>
          </p:nvSpPr>
          <p:spPr>
            <a:xfrm>
              <a:off x="4476" y="316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34" name="Line 138"/>
            <p:cNvSpPr/>
            <p:nvPr/>
          </p:nvSpPr>
          <p:spPr>
            <a:xfrm rot="-5400000" flipV="1">
              <a:off x="4380" y="3093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1635" name="Freeform 139"/>
            <p:cNvSpPr/>
            <p:nvPr/>
          </p:nvSpPr>
          <p:spPr>
            <a:xfrm>
              <a:off x="4524" y="3188"/>
              <a:ext cx="644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644" y="0"/>
                </a:cxn>
              </a:cxnLst>
              <a:pathLst>
                <a:path w="644" h="1">
                  <a:moveTo>
                    <a:pt x="0" y="1"/>
                  </a:moveTo>
                  <a:lnTo>
                    <a:pt x="644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60" name="Group 140"/>
          <p:cNvGrpSpPr/>
          <p:nvPr/>
        </p:nvGrpSpPr>
        <p:grpSpPr>
          <a:xfrm>
            <a:off x="2176463" y="3276600"/>
            <a:ext cx="5449887" cy="1828800"/>
            <a:chOff x="1371" y="2064"/>
            <a:chExt cx="3433" cy="1152"/>
          </a:xfrm>
        </p:grpSpPr>
        <p:sp>
          <p:nvSpPr>
            <p:cNvPr id="21630" name="Text Box 141"/>
            <p:cNvSpPr txBox="1"/>
            <p:nvPr/>
          </p:nvSpPr>
          <p:spPr>
            <a:xfrm>
              <a:off x="1371" y="2064"/>
              <a:ext cx="2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31" name="Freeform 142"/>
            <p:cNvSpPr/>
            <p:nvPr/>
          </p:nvSpPr>
          <p:spPr>
            <a:xfrm>
              <a:off x="4500" y="3048"/>
              <a:ext cx="1" cy="1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7"/>
                </a:cxn>
              </a:cxnLst>
              <a:pathLst>
                <a:path w="1" h="117">
                  <a:moveTo>
                    <a:pt x="0" y="0"/>
                  </a:moveTo>
                  <a:lnTo>
                    <a:pt x="0" y="117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32" name="Text Box 143"/>
            <p:cNvSpPr txBox="1"/>
            <p:nvPr/>
          </p:nvSpPr>
          <p:spPr>
            <a:xfrm>
              <a:off x="4557" y="2985"/>
              <a:ext cx="24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64" name="Group 144"/>
          <p:cNvGrpSpPr/>
          <p:nvPr/>
        </p:nvGrpSpPr>
        <p:grpSpPr>
          <a:xfrm>
            <a:off x="6053138" y="4889500"/>
            <a:ext cx="762000" cy="396875"/>
            <a:chOff x="3438" y="3239"/>
            <a:chExt cx="480" cy="250"/>
          </a:xfrm>
        </p:grpSpPr>
        <p:sp>
          <p:nvSpPr>
            <p:cNvPr id="21628" name="Rectangle 145"/>
            <p:cNvSpPr/>
            <p:nvPr/>
          </p:nvSpPr>
          <p:spPr>
            <a:xfrm>
              <a:off x="3438" y="3245"/>
              <a:ext cx="480" cy="240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29" name="Text Box 146"/>
            <p:cNvSpPr txBox="1"/>
            <p:nvPr/>
          </p:nvSpPr>
          <p:spPr>
            <a:xfrm>
              <a:off x="3552" y="3239"/>
              <a:ext cx="2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067" name="Text Box 147"/>
          <p:cNvSpPr txBox="1"/>
          <p:nvPr/>
        </p:nvSpPr>
        <p:spPr>
          <a:xfrm>
            <a:off x="1965325" y="3927475"/>
            <a:ext cx="828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ALU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4068" name="Group 148"/>
          <p:cNvGrpSpPr/>
          <p:nvPr/>
        </p:nvGrpSpPr>
        <p:grpSpPr>
          <a:xfrm>
            <a:off x="6053138" y="4162425"/>
            <a:ext cx="762000" cy="400050"/>
            <a:chOff x="3438" y="2820"/>
            <a:chExt cx="480" cy="252"/>
          </a:xfrm>
        </p:grpSpPr>
        <p:sp>
          <p:nvSpPr>
            <p:cNvPr id="21626" name="Rectangle 149"/>
            <p:cNvSpPr/>
            <p:nvPr/>
          </p:nvSpPr>
          <p:spPr>
            <a:xfrm>
              <a:off x="3438" y="2820"/>
              <a:ext cx="480" cy="240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27" name="Text Box 150"/>
            <p:cNvSpPr txBox="1"/>
            <p:nvPr/>
          </p:nvSpPr>
          <p:spPr>
            <a:xfrm>
              <a:off x="3522" y="2822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71" name="Group 151"/>
          <p:cNvGrpSpPr/>
          <p:nvPr/>
        </p:nvGrpSpPr>
        <p:grpSpPr>
          <a:xfrm>
            <a:off x="6405563" y="4543425"/>
            <a:ext cx="1824037" cy="180975"/>
            <a:chOff x="4035" y="2862"/>
            <a:chExt cx="1101" cy="114"/>
          </a:xfrm>
        </p:grpSpPr>
        <p:sp>
          <p:nvSpPr>
            <p:cNvPr id="21623" name="Oval 152"/>
            <p:cNvSpPr/>
            <p:nvPr/>
          </p:nvSpPr>
          <p:spPr>
            <a:xfrm>
              <a:off x="4467" y="292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24" name="Freeform 153"/>
            <p:cNvSpPr/>
            <p:nvPr/>
          </p:nvSpPr>
          <p:spPr>
            <a:xfrm>
              <a:off x="4521" y="2949"/>
              <a:ext cx="615" cy="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5" y="3"/>
                </a:cxn>
              </a:cxnLst>
              <a:pathLst>
                <a:path w="615" h="3">
                  <a:moveTo>
                    <a:pt x="0" y="0"/>
                  </a:moveTo>
                  <a:lnTo>
                    <a:pt x="615" y="3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25" name="Freeform 154"/>
            <p:cNvSpPr/>
            <p:nvPr/>
          </p:nvSpPr>
          <p:spPr>
            <a:xfrm>
              <a:off x="4035" y="2862"/>
              <a:ext cx="432" cy="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4"/>
                </a:cxn>
                <a:cxn ang="0">
                  <a:pos x="432" y="84"/>
                </a:cxn>
              </a:cxnLst>
              <a:pathLst>
                <a:path w="432" h="84">
                  <a:moveTo>
                    <a:pt x="0" y="0"/>
                  </a:moveTo>
                  <a:lnTo>
                    <a:pt x="0" y="84"/>
                  </a:lnTo>
                  <a:lnTo>
                    <a:pt x="432" y="84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75" name="Group 155"/>
          <p:cNvGrpSpPr/>
          <p:nvPr/>
        </p:nvGrpSpPr>
        <p:grpSpPr>
          <a:xfrm>
            <a:off x="889000" y="4251325"/>
            <a:ext cx="6907213" cy="458788"/>
            <a:chOff x="560" y="2678"/>
            <a:chExt cx="4351" cy="289"/>
          </a:xfrm>
        </p:grpSpPr>
        <p:sp>
          <p:nvSpPr>
            <p:cNvPr id="21620" name="Text Box 156"/>
            <p:cNvSpPr txBox="1"/>
            <p:nvPr/>
          </p:nvSpPr>
          <p:spPr>
            <a:xfrm>
              <a:off x="560" y="2678"/>
              <a:ext cx="4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21" name="Freeform 157"/>
            <p:cNvSpPr/>
            <p:nvPr/>
          </p:nvSpPr>
          <p:spPr>
            <a:xfrm>
              <a:off x="4506" y="2827"/>
              <a:ext cx="1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"/>
                </a:cxn>
              </a:cxnLst>
              <a:pathLst>
                <a:path w="1" h="156">
                  <a:moveTo>
                    <a:pt x="0" y="0"/>
                  </a:moveTo>
                  <a:lnTo>
                    <a:pt x="0" y="156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22" name="Text Box 158"/>
            <p:cNvSpPr txBox="1"/>
            <p:nvPr/>
          </p:nvSpPr>
          <p:spPr>
            <a:xfrm>
              <a:off x="4512" y="2736"/>
              <a:ext cx="39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79" name="Group 159"/>
          <p:cNvGrpSpPr/>
          <p:nvPr/>
        </p:nvGrpSpPr>
        <p:grpSpPr>
          <a:xfrm>
            <a:off x="6586538" y="5357813"/>
            <a:ext cx="1643062" cy="204787"/>
            <a:chOff x="4149" y="3375"/>
            <a:chExt cx="987" cy="123"/>
          </a:xfrm>
        </p:grpSpPr>
        <p:sp>
          <p:nvSpPr>
            <p:cNvPr id="21617" name="Oval 160"/>
            <p:cNvSpPr/>
            <p:nvPr/>
          </p:nvSpPr>
          <p:spPr>
            <a:xfrm>
              <a:off x="4470" y="3375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18" name="Freeform 161"/>
            <p:cNvSpPr/>
            <p:nvPr/>
          </p:nvSpPr>
          <p:spPr>
            <a:xfrm>
              <a:off x="4518" y="3399"/>
              <a:ext cx="618" cy="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18" y="0"/>
                </a:cxn>
              </a:cxnLst>
              <a:pathLst>
                <a:path w="618" h="3">
                  <a:moveTo>
                    <a:pt x="0" y="3"/>
                  </a:moveTo>
                  <a:lnTo>
                    <a:pt x="618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19" name="Freeform 162"/>
            <p:cNvSpPr/>
            <p:nvPr/>
          </p:nvSpPr>
          <p:spPr>
            <a:xfrm>
              <a:off x="4149" y="3399"/>
              <a:ext cx="318" cy="99"/>
            </a:xfrm>
            <a:custGeom>
              <a:avLst/>
              <a:gdLst/>
              <a:ahLst/>
              <a:cxnLst>
                <a:cxn ang="0">
                  <a:pos x="234" y="0"/>
                </a:cxn>
                <a:cxn ang="0">
                  <a:pos x="0" y="0"/>
                </a:cxn>
                <a:cxn ang="0">
                  <a:pos x="1" y="99"/>
                </a:cxn>
              </a:cxnLst>
              <a:pathLst>
                <a:path w="432" h="99">
                  <a:moveTo>
                    <a:pt x="432" y="0"/>
                  </a:moveTo>
                  <a:lnTo>
                    <a:pt x="0" y="0"/>
                  </a:lnTo>
                  <a:lnTo>
                    <a:pt x="3" y="99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083" name="Group 163"/>
          <p:cNvGrpSpPr/>
          <p:nvPr/>
        </p:nvGrpSpPr>
        <p:grpSpPr>
          <a:xfrm>
            <a:off x="1905000" y="4251325"/>
            <a:ext cx="5972175" cy="1539875"/>
            <a:chOff x="1200" y="2678"/>
            <a:chExt cx="3762" cy="970"/>
          </a:xfrm>
        </p:grpSpPr>
        <p:sp>
          <p:nvSpPr>
            <p:cNvPr id="21614" name="Text Box 164"/>
            <p:cNvSpPr txBox="1"/>
            <p:nvPr/>
          </p:nvSpPr>
          <p:spPr>
            <a:xfrm>
              <a:off x="1200" y="2678"/>
              <a:ext cx="5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ALU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15" name="Freeform 165"/>
            <p:cNvSpPr/>
            <p:nvPr/>
          </p:nvSpPr>
          <p:spPr>
            <a:xfrm>
              <a:off x="4506" y="3423"/>
              <a:ext cx="1" cy="126"/>
            </a:xfrm>
            <a:custGeom>
              <a:avLst/>
              <a:gdLst/>
              <a:ahLst/>
              <a:cxnLst>
                <a:cxn ang="0">
                  <a:pos x="0" y="126"/>
                </a:cxn>
                <a:cxn ang="0">
                  <a:pos x="0" y="0"/>
                </a:cxn>
              </a:cxnLst>
              <a:pathLst>
                <a:path w="1" h="126">
                  <a:moveTo>
                    <a:pt x="0" y="126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16" name="Text Box 166"/>
            <p:cNvSpPr txBox="1"/>
            <p:nvPr/>
          </p:nvSpPr>
          <p:spPr>
            <a:xfrm>
              <a:off x="4515" y="3417"/>
              <a:ext cx="44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ALU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087" name="Group 167"/>
          <p:cNvGrpSpPr/>
          <p:nvPr/>
        </p:nvGrpSpPr>
        <p:grpSpPr>
          <a:xfrm>
            <a:off x="6053138" y="5545138"/>
            <a:ext cx="762000" cy="457200"/>
            <a:chOff x="3438" y="3648"/>
            <a:chExt cx="480" cy="288"/>
          </a:xfrm>
        </p:grpSpPr>
        <p:sp>
          <p:nvSpPr>
            <p:cNvPr id="21612" name="Rectangle 168"/>
            <p:cNvSpPr/>
            <p:nvPr/>
          </p:nvSpPr>
          <p:spPr>
            <a:xfrm>
              <a:off x="3438" y="3648"/>
              <a:ext cx="480" cy="288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13" name="Text Box 169"/>
            <p:cNvSpPr txBox="1"/>
            <p:nvPr/>
          </p:nvSpPr>
          <p:spPr>
            <a:xfrm>
              <a:off x="3463" y="3659"/>
              <a:ext cx="4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ALU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090" name="Line 170"/>
          <p:cNvSpPr/>
          <p:nvPr/>
        </p:nvSpPr>
        <p:spPr>
          <a:xfrm>
            <a:off x="6248400" y="5257800"/>
            <a:ext cx="0" cy="30480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4091" name="Group 171"/>
          <p:cNvGrpSpPr/>
          <p:nvPr/>
        </p:nvGrpSpPr>
        <p:grpSpPr>
          <a:xfrm>
            <a:off x="6053138" y="5545138"/>
            <a:ext cx="762000" cy="457200"/>
            <a:chOff x="3438" y="3648"/>
            <a:chExt cx="480" cy="288"/>
          </a:xfrm>
        </p:grpSpPr>
        <p:sp>
          <p:nvSpPr>
            <p:cNvPr id="21610" name="Rectangle 172"/>
            <p:cNvSpPr/>
            <p:nvPr/>
          </p:nvSpPr>
          <p:spPr>
            <a:xfrm>
              <a:off x="3438" y="3648"/>
              <a:ext cx="480" cy="288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11" name="Text Box 173"/>
            <p:cNvSpPr txBox="1"/>
            <p:nvPr/>
          </p:nvSpPr>
          <p:spPr>
            <a:xfrm>
              <a:off x="3463" y="3659"/>
              <a:ext cx="4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ALU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094" name="Text Box 174"/>
          <p:cNvSpPr txBox="1"/>
          <p:nvPr/>
        </p:nvSpPr>
        <p:spPr>
          <a:xfrm>
            <a:off x="1660525" y="5562600"/>
            <a:ext cx="62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AC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4095" name="Group 175"/>
          <p:cNvGrpSpPr/>
          <p:nvPr/>
        </p:nvGrpSpPr>
        <p:grpSpPr>
          <a:xfrm>
            <a:off x="6053138" y="6297613"/>
            <a:ext cx="762000" cy="411162"/>
            <a:chOff x="3438" y="4013"/>
            <a:chExt cx="480" cy="259"/>
          </a:xfrm>
        </p:grpSpPr>
        <p:sp>
          <p:nvSpPr>
            <p:cNvPr id="21608" name="Rectangle 176"/>
            <p:cNvSpPr/>
            <p:nvPr/>
          </p:nvSpPr>
          <p:spPr>
            <a:xfrm>
              <a:off x="3438" y="4013"/>
              <a:ext cx="480" cy="240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09" name="Text Box 177"/>
            <p:cNvSpPr txBox="1"/>
            <p:nvPr/>
          </p:nvSpPr>
          <p:spPr>
            <a:xfrm>
              <a:off x="3582" y="4022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098" name="Text Box 178"/>
          <p:cNvSpPr txBox="1"/>
          <p:nvPr/>
        </p:nvSpPr>
        <p:spPr>
          <a:xfrm>
            <a:off x="3346450" y="4876800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Z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4099" name="Line 179"/>
          <p:cNvSpPr/>
          <p:nvPr/>
        </p:nvSpPr>
        <p:spPr>
          <a:xfrm>
            <a:off x="6477000" y="6019800"/>
            <a:ext cx="0" cy="30480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594100" name="Group 180"/>
          <p:cNvGrpSpPr/>
          <p:nvPr/>
        </p:nvGrpSpPr>
        <p:grpSpPr>
          <a:xfrm>
            <a:off x="6053138" y="6297613"/>
            <a:ext cx="762000" cy="411162"/>
            <a:chOff x="3438" y="4013"/>
            <a:chExt cx="480" cy="259"/>
          </a:xfrm>
        </p:grpSpPr>
        <p:sp>
          <p:nvSpPr>
            <p:cNvPr id="21606" name="Rectangle 181"/>
            <p:cNvSpPr/>
            <p:nvPr/>
          </p:nvSpPr>
          <p:spPr>
            <a:xfrm>
              <a:off x="3438" y="4013"/>
              <a:ext cx="480" cy="240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07" name="Text Box 182"/>
            <p:cNvSpPr txBox="1"/>
            <p:nvPr/>
          </p:nvSpPr>
          <p:spPr>
            <a:xfrm>
              <a:off x="3582" y="4022"/>
              <a:ext cx="2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03" name="Group 183"/>
          <p:cNvGrpSpPr/>
          <p:nvPr/>
        </p:nvGrpSpPr>
        <p:grpSpPr>
          <a:xfrm>
            <a:off x="6781800" y="6477000"/>
            <a:ext cx="1447800" cy="76200"/>
            <a:chOff x="4320" y="4080"/>
            <a:chExt cx="864" cy="48"/>
          </a:xfrm>
        </p:grpSpPr>
        <p:sp>
          <p:nvSpPr>
            <p:cNvPr id="21603" name="Oval 184"/>
            <p:cNvSpPr/>
            <p:nvPr/>
          </p:nvSpPr>
          <p:spPr>
            <a:xfrm>
              <a:off x="4512" y="408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604" name="Line 185"/>
            <p:cNvSpPr/>
            <p:nvPr/>
          </p:nvSpPr>
          <p:spPr>
            <a:xfrm rot="-5400000" flipV="1">
              <a:off x="4416" y="4011"/>
              <a:ext cx="0" cy="192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605" name="Freeform 186"/>
            <p:cNvSpPr/>
            <p:nvPr/>
          </p:nvSpPr>
          <p:spPr>
            <a:xfrm>
              <a:off x="4560" y="4107"/>
              <a:ext cx="624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4" y="0"/>
                </a:cxn>
              </a:cxnLst>
              <a:pathLst>
                <a:path w="624" h="1">
                  <a:moveTo>
                    <a:pt x="0" y="0"/>
                  </a:moveTo>
                  <a:lnTo>
                    <a:pt x="624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107" name="Group 187"/>
          <p:cNvGrpSpPr/>
          <p:nvPr/>
        </p:nvGrpSpPr>
        <p:grpSpPr>
          <a:xfrm>
            <a:off x="838200" y="5851525"/>
            <a:ext cx="6856413" cy="701675"/>
            <a:chOff x="528" y="3686"/>
            <a:chExt cx="4319" cy="442"/>
          </a:xfrm>
        </p:grpSpPr>
        <p:sp>
          <p:nvSpPr>
            <p:cNvPr id="21600" name="Text Box 188"/>
            <p:cNvSpPr txBox="1"/>
            <p:nvPr/>
          </p:nvSpPr>
          <p:spPr>
            <a:xfrm>
              <a:off x="528" y="3686"/>
              <a:ext cx="29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zh-CN" altLang="en-US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01" name="Freeform 189"/>
            <p:cNvSpPr/>
            <p:nvPr/>
          </p:nvSpPr>
          <p:spPr>
            <a:xfrm>
              <a:off x="4500" y="3967"/>
              <a:ext cx="1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7"/>
                </a:cxn>
              </a:cxnLst>
              <a:pathLst>
                <a:path w="1" h="165">
                  <a:moveTo>
                    <a:pt x="0" y="0"/>
                  </a:moveTo>
                  <a:lnTo>
                    <a:pt x="0" y="165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602" name="Text Box 190"/>
            <p:cNvSpPr txBox="1"/>
            <p:nvPr/>
          </p:nvSpPr>
          <p:spPr>
            <a:xfrm>
              <a:off x="4560" y="3897"/>
              <a:ext cx="28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11" name="Group 191"/>
          <p:cNvGrpSpPr/>
          <p:nvPr/>
        </p:nvGrpSpPr>
        <p:grpSpPr>
          <a:xfrm>
            <a:off x="6400800" y="3962400"/>
            <a:ext cx="1797050" cy="193675"/>
            <a:chOff x="4032" y="2496"/>
            <a:chExt cx="1132" cy="122"/>
          </a:xfrm>
        </p:grpSpPr>
        <p:sp>
          <p:nvSpPr>
            <p:cNvPr id="21597" name="Oval 192"/>
            <p:cNvSpPr/>
            <p:nvPr/>
          </p:nvSpPr>
          <p:spPr>
            <a:xfrm>
              <a:off x="4467" y="249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98" name="Freeform 193"/>
            <p:cNvSpPr/>
            <p:nvPr/>
          </p:nvSpPr>
          <p:spPr>
            <a:xfrm>
              <a:off x="4515" y="2522"/>
              <a:ext cx="649" cy="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49" y="2"/>
                </a:cxn>
              </a:cxnLst>
              <a:pathLst>
                <a:path w="649" h="2">
                  <a:moveTo>
                    <a:pt x="0" y="0"/>
                  </a:moveTo>
                  <a:lnTo>
                    <a:pt x="649" y="2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99" name="Freeform 194"/>
            <p:cNvSpPr/>
            <p:nvPr/>
          </p:nvSpPr>
          <p:spPr>
            <a:xfrm>
              <a:off x="4032" y="2519"/>
              <a:ext cx="432" cy="99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0" y="0"/>
                </a:cxn>
                <a:cxn ang="0">
                  <a:pos x="3" y="99"/>
                </a:cxn>
              </a:cxnLst>
              <a:pathLst>
                <a:path w="432" h="99">
                  <a:moveTo>
                    <a:pt x="432" y="0"/>
                  </a:moveTo>
                  <a:lnTo>
                    <a:pt x="0" y="0"/>
                  </a:lnTo>
                  <a:lnTo>
                    <a:pt x="3" y="99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4115" name="Group 195"/>
          <p:cNvGrpSpPr/>
          <p:nvPr/>
        </p:nvGrpSpPr>
        <p:grpSpPr>
          <a:xfrm>
            <a:off x="1497013" y="3986213"/>
            <a:ext cx="6211887" cy="2262187"/>
            <a:chOff x="943" y="2511"/>
            <a:chExt cx="3913" cy="1425"/>
          </a:xfrm>
        </p:grpSpPr>
        <p:sp>
          <p:nvSpPr>
            <p:cNvPr id="21594" name="Text Box 196"/>
            <p:cNvSpPr txBox="1"/>
            <p:nvPr/>
          </p:nvSpPr>
          <p:spPr>
            <a:xfrm>
              <a:off x="943" y="3686"/>
              <a:ext cx="49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AC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zh-CN" altLang="en-US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95" name="Freeform 197"/>
            <p:cNvSpPr/>
            <p:nvPr/>
          </p:nvSpPr>
          <p:spPr>
            <a:xfrm rot="10800000">
              <a:off x="4486" y="2543"/>
              <a:ext cx="3" cy="1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21"/>
                </a:cxn>
              </a:cxnLst>
              <a:pathLst>
                <a:path w="3" h="153">
                  <a:moveTo>
                    <a:pt x="0" y="0"/>
                  </a:moveTo>
                  <a:lnTo>
                    <a:pt x="3" y="153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96" name="Text Box 198"/>
            <p:cNvSpPr txBox="1"/>
            <p:nvPr/>
          </p:nvSpPr>
          <p:spPr>
            <a:xfrm>
              <a:off x="4505" y="2511"/>
              <a:ext cx="35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AC</a:t>
              </a:r>
              <a:r>
                <a: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19" name="Group 199"/>
          <p:cNvGrpSpPr/>
          <p:nvPr/>
        </p:nvGrpSpPr>
        <p:grpSpPr>
          <a:xfrm>
            <a:off x="6053138" y="4162425"/>
            <a:ext cx="762000" cy="400050"/>
            <a:chOff x="3264" y="2724"/>
            <a:chExt cx="480" cy="252"/>
          </a:xfrm>
        </p:grpSpPr>
        <p:sp>
          <p:nvSpPr>
            <p:cNvPr id="21592" name="Rectangle 200"/>
            <p:cNvSpPr/>
            <p:nvPr/>
          </p:nvSpPr>
          <p:spPr>
            <a:xfrm>
              <a:off x="3264" y="2724"/>
              <a:ext cx="480" cy="240"/>
            </a:xfrm>
            <a:prstGeom prst="rect">
              <a:avLst/>
            </a:prstGeom>
            <a:solidFill>
              <a:srgbClr val="C28F00"/>
            </a:solidFill>
            <a:ln w="28575" cap="flat" cmpd="sng">
              <a:solidFill>
                <a:srgbClr val="C28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93" name="Text Box 201"/>
            <p:cNvSpPr txBox="1"/>
            <p:nvPr/>
          </p:nvSpPr>
          <p:spPr>
            <a:xfrm>
              <a:off x="3348" y="2726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22" name="Group 202"/>
          <p:cNvGrpSpPr/>
          <p:nvPr/>
        </p:nvGrpSpPr>
        <p:grpSpPr>
          <a:xfrm>
            <a:off x="6053138" y="4162425"/>
            <a:ext cx="762000" cy="400050"/>
            <a:chOff x="3438" y="2820"/>
            <a:chExt cx="480" cy="252"/>
          </a:xfrm>
        </p:grpSpPr>
        <p:sp>
          <p:nvSpPr>
            <p:cNvPr id="21590" name="Rectangle 203"/>
            <p:cNvSpPr/>
            <p:nvPr/>
          </p:nvSpPr>
          <p:spPr>
            <a:xfrm>
              <a:off x="3438" y="2820"/>
              <a:ext cx="480" cy="240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91" name="Text Box 204"/>
            <p:cNvSpPr txBox="1"/>
            <p:nvPr/>
          </p:nvSpPr>
          <p:spPr>
            <a:xfrm>
              <a:off x="3522" y="2822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25" name="Group 205"/>
          <p:cNvGrpSpPr/>
          <p:nvPr/>
        </p:nvGrpSpPr>
        <p:grpSpPr>
          <a:xfrm>
            <a:off x="6053138" y="4162425"/>
            <a:ext cx="762000" cy="400050"/>
            <a:chOff x="3264" y="2724"/>
            <a:chExt cx="480" cy="252"/>
          </a:xfrm>
        </p:grpSpPr>
        <p:sp>
          <p:nvSpPr>
            <p:cNvPr id="21588" name="Rectangle 206"/>
            <p:cNvSpPr/>
            <p:nvPr/>
          </p:nvSpPr>
          <p:spPr>
            <a:xfrm>
              <a:off x="3264" y="2724"/>
              <a:ext cx="480" cy="240"/>
            </a:xfrm>
            <a:prstGeom prst="rect">
              <a:avLst/>
            </a:prstGeom>
            <a:solidFill>
              <a:srgbClr val="C28F00"/>
            </a:solidFill>
            <a:ln w="28575" cap="flat" cmpd="sng">
              <a:solidFill>
                <a:srgbClr val="C28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89" name="Text Box 207"/>
            <p:cNvSpPr txBox="1"/>
            <p:nvPr/>
          </p:nvSpPr>
          <p:spPr>
            <a:xfrm>
              <a:off x="3348" y="2726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28" name="Group 208"/>
          <p:cNvGrpSpPr/>
          <p:nvPr/>
        </p:nvGrpSpPr>
        <p:grpSpPr>
          <a:xfrm>
            <a:off x="6053138" y="4162425"/>
            <a:ext cx="762000" cy="400050"/>
            <a:chOff x="3438" y="2820"/>
            <a:chExt cx="480" cy="252"/>
          </a:xfrm>
        </p:grpSpPr>
        <p:sp>
          <p:nvSpPr>
            <p:cNvPr id="21586" name="Rectangle 209"/>
            <p:cNvSpPr/>
            <p:nvPr/>
          </p:nvSpPr>
          <p:spPr>
            <a:xfrm>
              <a:off x="3438" y="2820"/>
              <a:ext cx="480" cy="240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87" name="Text Box 210"/>
            <p:cNvSpPr txBox="1"/>
            <p:nvPr/>
          </p:nvSpPr>
          <p:spPr>
            <a:xfrm>
              <a:off x="3522" y="2822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4131" name="Group 211"/>
          <p:cNvGrpSpPr/>
          <p:nvPr/>
        </p:nvGrpSpPr>
        <p:grpSpPr>
          <a:xfrm>
            <a:off x="2133600" y="1412875"/>
            <a:ext cx="5834063" cy="1482725"/>
            <a:chOff x="1344" y="890"/>
            <a:chExt cx="3675" cy="934"/>
          </a:xfrm>
        </p:grpSpPr>
        <p:grpSp>
          <p:nvGrpSpPr>
            <p:cNvPr id="21582" name="Group 212"/>
            <p:cNvGrpSpPr/>
            <p:nvPr/>
          </p:nvGrpSpPr>
          <p:grpSpPr>
            <a:xfrm>
              <a:off x="4512" y="1593"/>
              <a:ext cx="507" cy="231"/>
              <a:chOff x="4131" y="1781"/>
              <a:chExt cx="507" cy="231"/>
            </a:xfrm>
          </p:grpSpPr>
          <p:sp>
            <p:nvSpPr>
              <p:cNvPr id="21584" name="Freeform 213"/>
              <p:cNvSpPr/>
              <p:nvPr/>
            </p:nvSpPr>
            <p:spPr>
              <a:xfrm>
                <a:off x="4131" y="1872"/>
                <a:ext cx="1" cy="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7"/>
                  </a:cxn>
                </a:cxnLst>
                <a:pathLst>
                  <a:path w="1" h="165">
                    <a:moveTo>
                      <a:pt x="0" y="0"/>
                    </a:moveTo>
                    <a:lnTo>
                      <a:pt x="0" y="165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585" name="Text Box 214"/>
              <p:cNvSpPr txBox="1"/>
              <p:nvPr/>
            </p:nvSpPr>
            <p:spPr>
              <a:xfrm>
                <a:off x="4151" y="1781"/>
                <a:ext cx="487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MAR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83" name="Text Box 215"/>
            <p:cNvSpPr txBox="1"/>
            <p:nvPr/>
          </p:nvSpPr>
          <p:spPr>
            <a:xfrm>
              <a:off x="1344" y="890"/>
              <a:ext cx="55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MAR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endParaRPr lang="zh-CN" altLang="en-US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136" name="Line 216"/>
          <p:cNvSpPr/>
          <p:nvPr/>
        </p:nvSpPr>
        <p:spPr>
          <a:xfrm>
            <a:off x="2514600" y="3163888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594137" name="Text Box 217"/>
          <p:cNvSpPr txBox="1"/>
          <p:nvPr/>
        </p:nvSpPr>
        <p:spPr>
          <a:xfrm>
            <a:off x="2981325" y="2940050"/>
            <a:ext cx="828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ALU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594138" name="Group 218"/>
          <p:cNvGrpSpPr/>
          <p:nvPr/>
        </p:nvGrpSpPr>
        <p:grpSpPr>
          <a:xfrm>
            <a:off x="6048375" y="4159250"/>
            <a:ext cx="762000" cy="400050"/>
            <a:chOff x="3264" y="2724"/>
            <a:chExt cx="480" cy="252"/>
          </a:xfrm>
        </p:grpSpPr>
        <p:sp>
          <p:nvSpPr>
            <p:cNvPr id="21580" name="Rectangle 219"/>
            <p:cNvSpPr/>
            <p:nvPr/>
          </p:nvSpPr>
          <p:spPr>
            <a:xfrm>
              <a:off x="3264" y="2724"/>
              <a:ext cx="480" cy="240"/>
            </a:xfrm>
            <a:prstGeom prst="rect">
              <a:avLst/>
            </a:prstGeom>
            <a:solidFill>
              <a:srgbClr val="C28F00"/>
            </a:solidFill>
            <a:ln w="28575" cap="flat" cmpd="sng">
              <a:solidFill>
                <a:srgbClr val="C28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81" name="Text Box 220"/>
            <p:cNvSpPr txBox="1"/>
            <p:nvPr/>
          </p:nvSpPr>
          <p:spPr>
            <a:xfrm>
              <a:off x="3348" y="2726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AC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4141" name="Rectangle 221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4142" name="Group 222"/>
          <p:cNvGrpSpPr/>
          <p:nvPr/>
        </p:nvGrpSpPr>
        <p:grpSpPr>
          <a:xfrm>
            <a:off x="6040438" y="631825"/>
            <a:ext cx="798512" cy="417513"/>
            <a:chOff x="3433" y="1417"/>
            <a:chExt cx="503" cy="263"/>
          </a:xfrm>
        </p:grpSpPr>
        <p:sp>
          <p:nvSpPr>
            <p:cNvPr id="21578" name="Rectangle 223"/>
            <p:cNvSpPr/>
            <p:nvPr/>
          </p:nvSpPr>
          <p:spPr>
            <a:xfrm>
              <a:off x="3433" y="1417"/>
              <a:ext cx="503" cy="263"/>
            </a:xfrm>
            <a:prstGeom prst="rect">
              <a:avLst/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21579" name="Text Box 224"/>
            <p:cNvSpPr txBox="1"/>
            <p:nvPr/>
          </p:nvSpPr>
          <p:spPr>
            <a:xfrm>
              <a:off x="3540" y="1430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CU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577" name="AutoShape 22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94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9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9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59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594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59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500"/>
                                        <p:tgtEl>
                                          <p:spTgt spid="59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9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9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594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9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59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59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9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2" dur="500"/>
                                        <p:tgtEl>
                                          <p:spTgt spid="594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9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2" dur="500"/>
                                        <p:tgtEl>
                                          <p:spTgt spid="594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59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59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59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59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59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59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59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00"/>
                                        <p:tgtEl>
                                          <p:spTgt spid="59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1" dur="500"/>
                                        <p:tgtEl>
                                          <p:spTgt spid="59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5" dur="500"/>
                                        <p:tgtEl>
                                          <p:spTgt spid="59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9" dur="500"/>
                                        <p:tgtEl>
                                          <p:spTgt spid="59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59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9" dur="500"/>
                                        <p:tgtEl>
                                          <p:spTgt spid="59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59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9" dur="500"/>
                                        <p:tgtEl>
                                          <p:spTgt spid="59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4" dur="500"/>
                                        <p:tgtEl>
                                          <p:spTgt spid="59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9" dur="500"/>
                                        <p:tgtEl>
                                          <p:spTgt spid="59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59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9" dur="500"/>
                                        <p:tgtEl>
                                          <p:spTgt spid="594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59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9" dur="500"/>
                                        <p:tgtEl>
                                          <p:spTgt spid="59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4" dur="500"/>
                                        <p:tgtEl>
                                          <p:spTgt spid="59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9" dur="500"/>
                                        <p:tgtEl>
                                          <p:spTgt spid="59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4" dur="500"/>
                                        <p:tgtEl>
                                          <p:spTgt spid="59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9" dur="500"/>
                                        <p:tgtEl>
                                          <p:spTgt spid="59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4" dur="500"/>
                                        <p:tgtEl>
                                          <p:spTgt spid="59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9" dur="500"/>
                                        <p:tgtEl>
                                          <p:spTgt spid="59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4" dur="500"/>
                                        <p:tgtEl>
                                          <p:spTgt spid="5940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9" dur="500"/>
                                        <p:tgtEl>
                                          <p:spTgt spid="59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4" dur="500"/>
                                        <p:tgtEl>
                                          <p:spTgt spid="59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9" dur="500"/>
                                        <p:tgtEl>
                                          <p:spTgt spid="59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4" dur="500"/>
                                        <p:tgtEl>
                                          <p:spTgt spid="59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9" dur="500"/>
                                        <p:tgtEl>
                                          <p:spTgt spid="59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4" dur="500"/>
                                        <p:tgtEl>
                                          <p:spTgt spid="594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9" dur="500"/>
                                        <p:tgtEl>
                                          <p:spTgt spid="59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4" dur="500"/>
                                        <p:tgtEl>
                                          <p:spTgt spid="594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9" dur="500"/>
                                        <p:tgtEl>
                                          <p:spTgt spid="59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4" dur="500"/>
                                        <p:tgtEl>
                                          <p:spTgt spid="59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9" dur="500"/>
                                        <p:tgtEl>
                                          <p:spTgt spid="59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4" dur="500"/>
                                        <p:tgtEl>
                                          <p:spTgt spid="59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9" dur="500"/>
                                        <p:tgtEl>
                                          <p:spTgt spid="59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4" dur="500"/>
                                        <p:tgtEl>
                                          <p:spTgt spid="59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9" dur="500"/>
                                        <p:tgtEl>
                                          <p:spTgt spid="59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3" dur="500"/>
                                        <p:tgtEl>
                                          <p:spTgt spid="59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000"/>
                            </p:stCondLst>
                            <p:childTnLst>
                              <p:par>
                                <p:cTn id="3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7" dur="500"/>
                                        <p:tgtEl>
                                          <p:spTgt spid="59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500"/>
                            </p:stCondLst>
                            <p:childTnLst>
                              <p:par>
                                <p:cTn id="3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1" dur="500"/>
                                        <p:tgtEl>
                                          <p:spTgt spid="59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5" dur="500"/>
                                        <p:tgtEl>
                                          <p:spTgt spid="59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3" grpId="0"/>
      <p:bldP spid="593975" grpId="0"/>
      <p:bldP spid="593977" grpId="0"/>
      <p:bldP spid="593979" grpId="0"/>
      <p:bldP spid="593999" grpId="0"/>
      <p:bldP spid="594000" grpId="0"/>
      <p:bldP spid="594013" grpId="0"/>
      <p:bldP spid="594067" grpId="0"/>
      <p:bldP spid="594094" grpId="0"/>
      <p:bldP spid="594098" grpId="0"/>
      <p:bldP spid="5941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Text Box 2"/>
          <p:cNvSpPr txBox="1"/>
          <p:nvPr/>
        </p:nvSpPr>
        <p:spPr>
          <a:xfrm>
            <a:off x="288925" y="228600"/>
            <a:ext cx="45116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三、多级时序系统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94947" name="Text Box 3"/>
          <p:cNvSpPr txBox="1"/>
          <p:nvPr/>
        </p:nvSpPr>
        <p:spPr>
          <a:xfrm>
            <a:off x="825500" y="914400"/>
            <a:ext cx="22225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1. 机器周期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594948" name="Text Box 4"/>
          <p:cNvSpPr txBox="1"/>
          <p:nvPr/>
        </p:nvSpPr>
        <p:spPr>
          <a:xfrm>
            <a:off x="974725" y="1524000"/>
            <a:ext cx="31892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机器周期的概念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4949" name="Text Box 5"/>
          <p:cNvSpPr txBox="1"/>
          <p:nvPr/>
        </p:nvSpPr>
        <p:spPr>
          <a:xfrm>
            <a:off x="974725" y="2644775"/>
            <a:ext cx="4975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确定机器周期需考虑的因素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4950" name="Text Box 6"/>
          <p:cNvSpPr txBox="1"/>
          <p:nvPr/>
        </p:nvSpPr>
        <p:spPr>
          <a:xfrm>
            <a:off x="974725" y="4327525"/>
            <a:ext cx="31892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(3) 基准时间的确定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94951" name="Text Box 7"/>
          <p:cNvSpPr txBox="1"/>
          <p:nvPr/>
        </p:nvSpPr>
        <p:spPr>
          <a:xfrm>
            <a:off x="1431925" y="2084388"/>
            <a:ext cx="5899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所有指令执行过程中的一个基准时间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952" name="Text Box 8"/>
          <p:cNvSpPr txBox="1"/>
          <p:nvPr/>
        </p:nvSpPr>
        <p:spPr>
          <a:xfrm>
            <a:off x="1431925" y="3227388"/>
            <a:ext cx="4359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每条指令的执行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步骤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953" name="Text Box 9"/>
          <p:cNvSpPr txBox="1"/>
          <p:nvPr/>
        </p:nvSpPr>
        <p:spPr>
          <a:xfrm>
            <a:off x="1431925" y="3789363"/>
            <a:ext cx="4664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每一步骤 </a:t>
            </a:r>
            <a:r>
              <a:rPr lang="zh-CN" altLang="en-US" sz="2800" dirty="0">
                <a:latin typeface="Times New Roman" panose="02020603050405020304" pitchFamily="18" charset="0"/>
              </a:rPr>
              <a:t>所需的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时间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954" name="Text Box 10"/>
          <p:cNvSpPr txBox="1"/>
          <p:nvPr/>
        </p:nvSpPr>
        <p:spPr>
          <a:xfrm>
            <a:off x="1219200" y="4887913"/>
            <a:ext cx="6629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</a:rPr>
              <a:t> 以完成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最复杂 </a:t>
            </a:r>
            <a:r>
              <a:rPr lang="zh-CN" altLang="en-US" sz="2800" dirty="0">
                <a:latin typeface="Times New Roman" panose="02020603050405020304" pitchFamily="18" charset="0"/>
              </a:rPr>
              <a:t>指令功能的时间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为准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955" name="Text Box 11"/>
          <p:cNvSpPr txBox="1"/>
          <p:nvPr/>
        </p:nvSpPr>
        <p:spPr>
          <a:xfrm>
            <a:off x="1219200" y="5448300"/>
            <a:ext cx="6781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</a:rPr>
              <a:t> 以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访问一次存储器 </a:t>
            </a:r>
            <a:r>
              <a:rPr lang="zh-CN" altLang="en-US" sz="2800" dirty="0">
                <a:latin typeface="Times New Roman" panose="02020603050405020304" pitchFamily="18" charset="0"/>
              </a:rPr>
              <a:t>的时间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为基准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956" name="Text Box 12"/>
          <p:cNvSpPr txBox="1"/>
          <p:nvPr/>
        </p:nvSpPr>
        <p:spPr>
          <a:xfrm>
            <a:off x="974725" y="6010275"/>
            <a:ext cx="37798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若指令字长 = 存储字长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4957" name="Text Box 13"/>
          <p:cNvSpPr txBox="1"/>
          <p:nvPr/>
        </p:nvSpPr>
        <p:spPr>
          <a:xfrm>
            <a:off x="5089525" y="6010275"/>
            <a:ext cx="3749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取指周期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机器周期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958" name="Rectangle 1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3" name="AutoShape 1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47" grpId="0"/>
      <p:bldP spid="594948" grpId="0"/>
      <p:bldP spid="594949" grpId="0"/>
      <p:bldP spid="594950" grpId="0"/>
      <p:bldP spid="594951" grpId="0"/>
      <p:bldP spid="594952" grpId="0"/>
      <p:bldP spid="594953" grpId="0"/>
      <p:bldP spid="594954" grpId="0"/>
      <p:bldP spid="594955" grpId="0"/>
      <p:bldP spid="594956" grpId="0"/>
      <p:bldP spid="5949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Text Box 2"/>
          <p:cNvSpPr txBox="1"/>
          <p:nvPr/>
        </p:nvSpPr>
        <p:spPr>
          <a:xfrm>
            <a:off x="441325" y="273050"/>
            <a:ext cx="5091113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时钟周期</a:t>
            </a:r>
            <a:r>
              <a:rPr lang="zh-CN" altLang="en-US" sz="2800" dirty="0">
                <a:latin typeface="Times New Roman" panose="02020603050405020304" pitchFamily="18" charset="0"/>
              </a:rPr>
              <a:t>（节拍、状态）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95971" name="Text Box 3"/>
          <p:cNvSpPr txBox="1"/>
          <p:nvPr/>
        </p:nvSpPr>
        <p:spPr>
          <a:xfrm>
            <a:off x="1106488" y="1406525"/>
            <a:ext cx="5899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一个机器周期内可完成若干个微操作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5972" name="Text Box 4"/>
          <p:cNvSpPr txBox="1"/>
          <p:nvPr/>
        </p:nvSpPr>
        <p:spPr>
          <a:xfrm>
            <a:off x="1106488" y="2336800"/>
            <a:ext cx="411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每个微操作需一定的时间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5973" name="Text Box 5"/>
          <p:cNvSpPr txBox="1"/>
          <p:nvPr/>
        </p:nvSpPr>
        <p:spPr>
          <a:xfrm>
            <a:off x="1106488" y="4967288"/>
            <a:ext cx="74977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时钟周期是控制计算机操作的最小单位时间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5974" name="Text Box 6"/>
          <p:cNvSpPr txBox="1"/>
          <p:nvPr/>
        </p:nvSpPr>
        <p:spPr>
          <a:xfrm>
            <a:off x="1106488" y="3267075"/>
            <a:ext cx="7427912" cy="1289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将一个机器周期分成若干个时间相等的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时间段（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节拍、状态、时钟周期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5975" name="Rectangle 7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976" name="Text Box 8"/>
          <p:cNvSpPr txBox="1"/>
          <p:nvPr/>
        </p:nvSpPr>
        <p:spPr>
          <a:xfrm>
            <a:off x="1106488" y="5949950"/>
            <a:ext cx="6940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用时钟周期控制产生一个或几个微操作命令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1" name="AutoShape 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/>
      <p:bldP spid="595972" grpId="0"/>
      <p:bldP spid="595973" grpId="0"/>
      <p:bldP spid="595974" grpId="0"/>
      <p:bldP spid="59597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6994" name="Freeform 2"/>
          <p:cNvSpPr/>
          <p:nvPr/>
        </p:nvSpPr>
        <p:spPr>
          <a:xfrm>
            <a:off x="609600" y="2438400"/>
            <a:ext cx="8077200" cy="457200"/>
          </a:xfrm>
          <a:custGeom>
            <a:avLst/>
            <a:gdLst/>
            <a:ahLst/>
            <a:cxnLst>
              <a:cxn ang="0">
                <a:pos x="0" y="725805000"/>
              </a:cxn>
              <a:cxn ang="0">
                <a:pos x="604837500" y="725805000"/>
              </a:cxn>
              <a:cxn ang="0">
                <a:pos x="604837500" y="0"/>
              </a:cxn>
              <a:cxn ang="0">
                <a:pos x="2056447500" y="0"/>
              </a:cxn>
              <a:cxn ang="0">
                <a:pos x="2056447500" y="725805000"/>
              </a:cxn>
              <a:cxn ang="0">
                <a:pos x="2147483646" y="72580500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725805000"/>
              </a:cxn>
              <a:cxn ang="0">
                <a:pos x="2147483646" y="725805000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5088" h="288">
                <a:moveTo>
                  <a:pt x="0" y="288"/>
                </a:moveTo>
                <a:lnTo>
                  <a:pt x="240" y="288"/>
                </a:lnTo>
                <a:lnTo>
                  <a:pt x="240" y="0"/>
                </a:lnTo>
                <a:lnTo>
                  <a:pt x="816" y="0"/>
                </a:lnTo>
                <a:lnTo>
                  <a:pt x="816" y="288"/>
                </a:lnTo>
                <a:lnTo>
                  <a:pt x="2544" y="288"/>
                </a:lnTo>
                <a:lnTo>
                  <a:pt x="2544" y="0"/>
                </a:lnTo>
                <a:lnTo>
                  <a:pt x="3120" y="0"/>
                </a:lnTo>
                <a:lnTo>
                  <a:pt x="3120" y="288"/>
                </a:lnTo>
                <a:lnTo>
                  <a:pt x="4848" y="288"/>
                </a:lnTo>
                <a:lnTo>
                  <a:pt x="4848" y="0"/>
                </a:lnTo>
                <a:lnTo>
                  <a:pt x="5088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6995" name="Freeform 3"/>
          <p:cNvSpPr/>
          <p:nvPr/>
        </p:nvSpPr>
        <p:spPr>
          <a:xfrm>
            <a:off x="582613" y="3352800"/>
            <a:ext cx="8124825" cy="463550"/>
          </a:xfrm>
          <a:custGeom>
            <a:avLst/>
            <a:gdLst/>
            <a:ahLst/>
            <a:cxnLst>
              <a:cxn ang="0">
                <a:pos x="0" y="735885625"/>
              </a:cxn>
              <a:cxn ang="0">
                <a:pos x="2099290950" y="725805000"/>
              </a:cxn>
              <a:cxn ang="0">
                <a:pos x="2099290950" y="0"/>
              </a:cxn>
              <a:cxn ang="0">
                <a:pos x="2147483646" y="0"/>
              </a:cxn>
              <a:cxn ang="0">
                <a:pos x="2147483646" y="725805000"/>
              </a:cxn>
              <a:cxn ang="0">
                <a:pos x="2147483646" y="72580500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725805000"/>
              </a:cxn>
              <a:cxn ang="0">
                <a:pos x="2147483646" y="735885625"/>
              </a:cxn>
              <a:cxn ang="0">
                <a:pos x="2147483646" y="735885625"/>
              </a:cxn>
              <a:cxn ang="0">
                <a:pos x="2147483646" y="735885625"/>
              </a:cxn>
            </a:cxnLst>
            <a:pathLst>
              <a:path w="5118" h="292">
                <a:moveTo>
                  <a:pt x="0" y="292"/>
                </a:moveTo>
                <a:lnTo>
                  <a:pt x="833" y="288"/>
                </a:lnTo>
                <a:lnTo>
                  <a:pt x="833" y="0"/>
                </a:lnTo>
                <a:lnTo>
                  <a:pt x="1409" y="0"/>
                </a:lnTo>
                <a:lnTo>
                  <a:pt x="1409" y="288"/>
                </a:lnTo>
                <a:lnTo>
                  <a:pt x="3137" y="288"/>
                </a:lnTo>
                <a:lnTo>
                  <a:pt x="3137" y="0"/>
                </a:lnTo>
                <a:lnTo>
                  <a:pt x="3713" y="0"/>
                </a:lnTo>
                <a:lnTo>
                  <a:pt x="3713" y="288"/>
                </a:lnTo>
                <a:lnTo>
                  <a:pt x="5118" y="292"/>
                </a:lnTo>
                <a:lnTo>
                  <a:pt x="5105" y="292"/>
                </a:lnTo>
                <a:lnTo>
                  <a:pt x="5092" y="292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6996" name="Freeform 4"/>
          <p:cNvSpPr/>
          <p:nvPr/>
        </p:nvSpPr>
        <p:spPr>
          <a:xfrm>
            <a:off x="604838" y="4267200"/>
            <a:ext cx="8208962" cy="477838"/>
          </a:xfrm>
          <a:custGeom>
            <a:avLst/>
            <a:gdLst/>
            <a:ahLst/>
            <a:cxnLst>
              <a:cxn ang="0">
                <a:pos x="0" y="725805759"/>
              </a:cxn>
              <a:cxn ang="0">
                <a:pos x="2147483646" y="725805759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725805759"/>
              </a:cxn>
              <a:cxn ang="0">
                <a:pos x="2147483646" y="725805759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725805759"/>
              </a:cxn>
              <a:cxn ang="0">
                <a:pos x="2147483646" y="725805759"/>
              </a:cxn>
              <a:cxn ang="0">
                <a:pos x="2147483646" y="725805759"/>
              </a:cxn>
              <a:cxn ang="0">
                <a:pos x="2147483646" y="758568619"/>
              </a:cxn>
            </a:cxnLst>
            <a:pathLst>
              <a:path w="5171" h="301">
                <a:moveTo>
                  <a:pt x="0" y="288"/>
                </a:moveTo>
                <a:lnTo>
                  <a:pt x="1400" y="288"/>
                </a:lnTo>
                <a:lnTo>
                  <a:pt x="1400" y="0"/>
                </a:lnTo>
                <a:lnTo>
                  <a:pt x="1976" y="0"/>
                </a:lnTo>
                <a:lnTo>
                  <a:pt x="1976" y="288"/>
                </a:lnTo>
                <a:lnTo>
                  <a:pt x="3704" y="288"/>
                </a:lnTo>
                <a:lnTo>
                  <a:pt x="3704" y="0"/>
                </a:lnTo>
                <a:lnTo>
                  <a:pt x="4280" y="0"/>
                </a:lnTo>
                <a:lnTo>
                  <a:pt x="4280" y="288"/>
                </a:lnTo>
                <a:lnTo>
                  <a:pt x="5158" y="288"/>
                </a:lnTo>
                <a:lnTo>
                  <a:pt x="5171" y="301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6997" name="Freeform 5"/>
          <p:cNvSpPr/>
          <p:nvPr/>
        </p:nvSpPr>
        <p:spPr>
          <a:xfrm>
            <a:off x="623888" y="5165725"/>
            <a:ext cx="8291512" cy="463550"/>
          </a:xfrm>
          <a:custGeom>
            <a:avLst/>
            <a:gdLst/>
            <a:ahLst/>
            <a:cxnLst>
              <a:cxn ang="0">
                <a:pos x="0" y="735885625"/>
              </a:cxn>
              <a:cxn ang="0">
                <a:pos x="2147483646" y="72580500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725805000"/>
              </a:cxn>
              <a:cxn ang="0">
                <a:pos x="2147483646" y="72580500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725805000"/>
              </a:cxn>
              <a:cxn ang="0">
                <a:pos x="2147483646" y="735885625"/>
              </a:cxn>
              <a:cxn ang="0">
                <a:pos x="2147483646" y="703124388"/>
              </a:cxn>
              <a:cxn ang="0">
                <a:pos x="2147483646" y="735885625"/>
              </a:cxn>
            </a:cxnLst>
            <a:pathLst>
              <a:path w="5223" h="292">
                <a:moveTo>
                  <a:pt x="0" y="292"/>
                </a:moveTo>
                <a:lnTo>
                  <a:pt x="1967" y="288"/>
                </a:lnTo>
                <a:lnTo>
                  <a:pt x="1967" y="0"/>
                </a:lnTo>
                <a:lnTo>
                  <a:pt x="2543" y="0"/>
                </a:lnTo>
                <a:lnTo>
                  <a:pt x="2543" y="288"/>
                </a:lnTo>
                <a:lnTo>
                  <a:pt x="4271" y="288"/>
                </a:lnTo>
                <a:lnTo>
                  <a:pt x="4271" y="0"/>
                </a:lnTo>
                <a:lnTo>
                  <a:pt x="4847" y="0"/>
                </a:lnTo>
                <a:lnTo>
                  <a:pt x="4847" y="288"/>
                </a:lnTo>
                <a:lnTo>
                  <a:pt x="5210" y="292"/>
                </a:lnTo>
                <a:lnTo>
                  <a:pt x="5210" y="279"/>
                </a:lnTo>
                <a:lnTo>
                  <a:pt x="5223" y="292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6998" name="Text Box 6"/>
          <p:cNvSpPr txBox="1"/>
          <p:nvPr/>
        </p:nvSpPr>
        <p:spPr>
          <a:xfrm>
            <a:off x="60325" y="1676400"/>
            <a:ext cx="788988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CLK</a:t>
            </a:r>
            <a:endParaRPr lang="en-US" altLang="zh-CN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6999" name="Text Box 7"/>
          <p:cNvSpPr txBox="1"/>
          <p:nvPr/>
        </p:nvSpPr>
        <p:spPr>
          <a:xfrm>
            <a:off x="152400" y="25908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7000" name="Text Box 8"/>
          <p:cNvSpPr txBox="1"/>
          <p:nvPr/>
        </p:nvSpPr>
        <p:spPr>
          <a:xfrm>
            <a:off x="152400" y="35052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7001" name="Text Box 9"/>
          <p:cNvSpPr txBox="1"/>
          <p:nvPr/>
        </p:nvSpPr>
        <p:spPr>
          <a:xfrm>
            <a:off x="152400" y="44196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7002" name="Text Box 10"/>
          <p:cNvSpPr txBox="1"/>
          <p:nvPr/>
        </p:nvSpPr>
        <p:spPr>
          <a:xfrm>
            <a:off x="152400" y="53340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97003" name="Group 11"/>
          <p:cNvGrpSpPr/>
          <p:nvPr/>
        </p:nvGrpSpPr>
        <p:grpSpPr>
          <a:xfrm>
            <a:off x="609600" y="1600200"/>
            <a:ext cx="8077200" cy="4114800"/>
            <a:chOff x="384" y="1008"/>
            <a:chExt cx="5088" cy="2592"/>
          </a:xfrm>
        </p:grpSpPr>
        <p:grpSp>
          <p:nvGrpSpPr>
            <p:cNvPr id="24621" name="Group 12"/>
            <p:cNvGrpSpPr/>
            <p:nvPr/>
          </p:nvGrpSpPr>
          <p:grpSpPr>
            <a:xfrm>
              <a:off x="384" y="1008"/>
              <a:ext cx="5088" cy="292"/>
              <a:chOff x="384" y="1964"/>
              <a:chExt cx="5088" cy="292"/>
            </a:xfrm>
          </p:grpSpPr>
          <p:sp>
            <p:nvSpPr>
              <p:cNvPr id="24632" name="Freeform 13"/>
              <p:cNvSpPr/>
              <p:nvPr/>
            </p:nvSpPr>
            <p:spPr>
              <a:xfrm>
                <a:off x="384" y="1964"/>
                <a:ext cx="480" cy="288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240" y="288"/>
                  </a:cxn>
                  <a:cxn ang="0">
                    <a:pos x="240" y="0"/>
                  </a:cxn>
                  <a:cxn ang="0">
                    <a:pos x="480" y="0"/>
                  </a:cxn>
                  <a:cxn ang="0">
                    <a:pos x="480" y="288"/>
                  </a:cxn>
                </a:cxnLst>
                <a:pathLst>
                  <a:path w="480" h="288">
                    <a:moveTo>
                      <a:pt x="0" y="288"/>
                    </a:moveTo>
                    <a:lnTo>
                      <a:pt x="240" y="288"/>
                    </a:lnTo>
                    <a:lnTo>
                      <a:pt x="240" y="0"/>
                    </a:lnTo>
                    <a:lnTo>
                      <a:pt x="480" y="0"/>
                    </a:lnTo>
                    <a:lnTo>
                      <a:pt x="4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3" name="Freeform 14"/>
              <p:cNvSpPr/>
              <p:nvPr/>
            </p:nvSpPr>
            <p:spPr>
              <a:xfrm>
                <a:off x="860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4" name="Freeform 15"/>
              <p:cNvSpPr/>
              <p:nvPr/>
            </p:nvSpPr>
            <p:spPr>
              <a:xfrm>
                <a:off x="1436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5" name="Freeform 16"/>
              <p:cNvSpPr/>
              <p:nvPr/>
            </p:nvSpPr>
            <p:spPr>
              <a:xfrm>
                <a:off x="2012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6" name="Freeform 17"/>
              <p:cNvSpPr/>
              <p:nvPr/>
            </p:nvSpPr>
            <p:spPr>
              <a:xfrm>
                <a:off x="2588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7" name="Freeform 18"/>
              <p:cNvSpPr/>
              <p:nvPr/>
            </p:nvSpPr>
            <p:spPr>
              <a:xfrm>
                <a:off x="3164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8" name="Freeform 19"/>
              <p:cNvSpPr/>
              <p:nvPr/>
            </p:nvSpPr>
            <p:spPr>
              <a:xfrm>
                <a:off x="3740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9" name="Freeform 20"/>
              <p:cNvSpPr/>
              <p:nvPr/>
            </p:nvSpPr>
            <p:spPr>
              <a:xfrm>
                <a:off x="4316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40" name="Freeform 21"/>
              <p:cNvSpPr/>
              <p:nvPr/>
            </p:nvSpPr>
            <p:spPr>
              <a:xfrm>
                <a:off x="4892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4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4622" name="Group 22"/>
            <p:cNvGrpSpPr/>
            <p:nvPr/>
          </p:nvGrpSpPr>
          <p:grpSpPr>
            <a:xfrm>
              <a:off x="624" y="1132"/>
              <a:ext cx="4608" cy="2468"/>
              <a:chOff x="624" y="1132"/>
              <a:chExt cx="4608" cy="2720"/>
            </a:xfrm>
          </p:grpSpPr>
          <p:sp>
            <p:nvSpPr>
              <p:cNvPr id="24623" name="Line 23"/>
              <p:cNvSpPr/>
              <p:nvPr/>
            </p:nvSpPr>
            <p:spPr>
              <a:xfrm>
                <a:off x="624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4" name="Line 24"/>
              <p:cNvSpPr/>
              <p:nvPr/>
            </p:nvSpPr>
            <p:spPr>
              <a:xfrm>
                <a:off x="1200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5" name="Line 25"/>
              <p:cNvSpPr/>
              <p:nvPr/>
            </p:nvSpPr>
            <p:spPr>
              <a:xfrm>
                <a:off x="1776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6" name="Line 26"/>
              <p:cNvSpPr/>
              <p:nvPr/>
            </p:nvSpPr>
            <p:spPr>
              <a:xfrm>
                <a:off x="2352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7" name="Line 27"/>
              <p:cNvSpPr/>
              <p:nvPr/>
            </p:nvSpPr>
            <p:spPr>
              <a:xfrm>
                <a:off x="2928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8" name="Line 28"/>
              <p:cNvSpPr/>
              <p:nvPr/>
            </p:nvSpPr>
            <p:spPr>
              <a:xfrm>
                <a:off x="3504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29" name="Line 29"/>
              <p:cNvSpPr/>
              <p:nvPr/>
            </p:nvSpPr>
            <p:spPr>
              <a:xfrm>
                <a:off x="4080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30" name="Line 30"/>
              <p:cNvSpPr/>
              <p:nvPr/>
            </p:nvSpPr>
            <p:spPr>
              <a:xfrm>
                <a:off x="4656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4631" name="Line 31"/>
              <p:cNvSpPr/>
              <p:nvPr/>
            </p:nvSpPr>
            <p:spPr>
              <a:xfrm>
                <a:off x="5232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97024" name="Group 32"/>
          <p:cNvGrpSpPr/>
          <p:nvPr/>
        </p:nvGrpSpPr>
        <p:grpSpPr>
          <a:xfrm>
            <a:off x="838200" y="990600"/>
            <a:ext cx="1206500" cy="625475"/>
            <a:chOff x="528" y="624"/>
            <a:chExt cx="760" cy="394"/>
          </a:xfrm>
        </p:grpSpPr>
        <p:sp>
          <p:nvSpPr>
            <p:cNvPr id="24617" name="Line 33"/>
            <p:cNvSpPr/>
            <p:nvPr/>
          </p:nvSpPr>
          <p:spPr>
            <a:xfrm>
              <a:off x="624" y="82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8" name="Line 34"/>
            <p:cNvSpPr/>
            <p:nvPr/>
          </p:nvSpPr>
          <p:spPr>
            <a:xfrm>
              <a:off x="1200" y="82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9" name="Line 35"/>
            <p:cNvSpPr/>
            <p:nvPr/>
          </p:nvSpPr>
          <p:spPr>
            <a:xfrm flipV="1">
              <a:off x="624" y="874"/>
              <a:ext cx="576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4620" name="Text Box 36"/>
            <p:cNvSpPr txBox="1"/>
            <p:nvPr/>
          </p:nvSpPr>
          <p:spPr>
            <a:xfrm>
              <a:off x="528" y="624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时钟周期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9" name="Text Box 37"/>
          <p:cNvSpPr txBox="1"/>
          <p:nvPr/>
        </p:nvSpPr>
        <p:spPr>
          <a:xfrm>
            <a:off x="441325" y="273050"/>
            <a:ext cx="5091113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时钟周期</a:t>
            </a:r>
            <a:r>
              <a:rPr lang="zh-CN" altLang="en-US" sz="2800" dirty="0">
                <a:latin typeface="Times New Roman" panose="02020603050405020304" pitchFamily="18" charset="0"/>
              </a:rPr>
              <a:t>（节拍、状态）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597030" name="Group 38"/>
          <p:cNvGrpSpPr/>
          <p:nvPr/>
        </p:nvGrpSpPr>
        <p:grpSpPr>
          <a:xfrm>
            <a:off x="990600" y="5791200"/>
            <a:ext cx="7315200" cy="838200"/>
            <a:chOff x="624" y="3744"/>
            <a:chExt cx="4608" cy="528"/>
          </a:xfrm>
        </p:grpSpPr>
        <p:sp>
          <p:nvSpPr>
            <p:cNvPr id="24593" name="Line 39"/>
            <p:cNvSpPr/>
            <p:nvPr/>
          </p:nvSpPr>
          <p:spPr>
            <a:xfrm>
              <a:off x="624" y="3984"/>
              <a:ext cx="46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4" name="Line 40"/>
            <p:cNvSpPr/>
            <p:nvPr/>
          </p:nvSpPr>
          <p:spPr>
            <a:xfrm>
              <a:off x="624" y="3792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5" name="Line 41"/>
            <p:cNvSpPr/>
            <p:nvPr/>
          </p:nvSpPr>
          <p:spPr>
            <a:xfrm>
              <a:off x="1200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6" name="Line 42"/>
            <p:cNvSpPr/>
            <p:nvPr/>
          </p:nvSpPr>
          <p:spPr>
            <a:xfrm>
              <a:off x="1776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7" name="Line 43"/>
            <p:cNvSpPr/>
            <p:nvPr/>
          </p:nvSpPr>
          <p:spPr>
            <a:xfrm>
              <a:off x="2352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8" name="Line 44"/>
            <p:cNvSpPr/>
            <p:nvPr/>
          </p:nvSpPr>
          <p:spPr>
            <a:xfrm>
              <a:off x="2928" y="3792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9" name="Line 45"/>
            <p:cNvSpPr/>
            <p:nvPr/>
          </p:nvSpPr>
          <p:spPr>
            <a:xfrm>
              <a:off x="3504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0" name="Line 46"/>
            <p:cNvSpPr/>
            <p:nvPr/>
          </p:nvSpPr>
          <p:spPr>
            <a:xfrm>
              <a:off x="4080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1" name="Line 47"/>
            <p:cNvSpPr/>
            <p:nvPr/>
          </p:nvSpPr>
          <p:spPr>
            <a:xfrm>
              <a:off x="4656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2" name="Line 48"/>
            <p:cNvSpPr/>
            <p:nvPr/>
          </p:nvSpPr>
          <p:spPr>
            <a:xfrm>
              <a:off x="5232" y="3792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3" name="Line 49"/>
            <p:cNvSpPr/>
            <p:nvPr/>
          </p:nvSpPr>
          <p:spPr>
            <a:xfrm>
              <a:off x="2256" y="411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604" name="Line 50"/>
            <p:cNvSpPr/>
            <p:nvPr/>
          </p:nvSpPr>
          <p:spPr>
            <a:xfrm rot="10800000">
              <a:off x="624" y="411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605" name="Text Box 51"/>
            <p:cNvSpPr txBox="1"/>
            <p:nvPr/>
          </p:nvSpPr>
          <p:spPr>
            <a:xfrm>
              <a:off x="1430" y="4020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6" name="Line 52"/>
            <p:cNvSpPr/>
            <p:nvPr/>
          </p:nvSpPr>
          <p:spPr>
            <a:xfrm>
              <a:off x="4560" y="4120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607" name="Line 53"/>
            <p:cNvSpPr/>
            <p:nvPr/>
          </p:nvSpPr>
          <p:spPr>
            <a:xfrm rot="10800000">
              <a:off x="2928" y="4120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4608" name="Text Box 54"/>
            <p:cNvSpPr txBox="1"/>
            <p:nvPr/>
          </p:nvSpPr>
          <p:spPr>
            <a:xfrm>
              <a:off x="3734" y="4022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09" name="Text Box 55"/>
            <p:cNvSpPr txBox="1"/>
            <p:nvPr/>
          </p:nvSpPr>
          <p:spPr>
            <a:xfrm>
              <a:off x="768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0" name="Text Box 56"/>
            <p:cNvSpPr txBox="1"/>
            <p:nvPr/>
          </p:nvSpPr>
          <p:spPr>
            <a:xfrm>
              <a:off x="1357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1" name="Text Box 57"/>
            <p:cNvSpPr txBox="1"/>
            <p:nvPr/>
          </p:nvSpPr>
          <p:spPr>
            <a:xfrm>
              <a:off x="1933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2" name="Text Box 58"/>
            <p:cNvSpPr txBox="1"/>
            <p:nvPr/>
          </p:nvSpPr>
          <p:spPr>
            <a:xfrm>
              <a:off x="2509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3" name="Text Box 59"/>
            <p:cNvSpPr txBox="1"/>
            <p:nvPr/>
          </p:nvSpPr>
          <p:spPr>
            <a:xfrm>
              <a:off x="3072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4" name="Text Box 60"/>
            <p:cNvSpPr txBox="1"/>
            <p:nvPr/>
          </p:nvSpPr>
          <p:spPr>
            <a:xfrm>
              <a:off x="3661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5" name="Text Box 61"/>
            <p:cNvSpPr txBox="1"/>
            <p:nvPr/>
          </p:nvSpPr>
          <p:spPr>
            <a:xfrm>
              <a:off x="4237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616" name="Text Box 62"/>
            <p:cNvSpPr txBox="1"/>
            <p:nvPr/>
          </p:nvSpPr>
          <p:spPr>
            <a:xfrm>
              <a:off x="4813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7055" name="Rectangle 63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2" name="AutoShape 64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9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9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6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96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9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9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96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59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998" grpId="0"/>
      <p:bldP spid="596999" grpId="0"/>
      <p:bldP spid="597000" grpId="0"/>
      <p:bldP spid="597001" grpId="0"/>
      <p:bldP spid="59700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441325" y="273050"/>
            <a:ext cx="33940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3. 多级时序系统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98019" name="Text Box 3"/>
          <p:cNvSpPr txBox="1"/>
          <p:nvPr/>
        </p:nvSpPr>
        <p:spPr>
          <a:xfrm>
            <a:off x="1050925" y="928688"/>
            <a:ext cx="69707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机器周期、节拍（状态）组成多级时序系统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8020" name="Text Box 4"/>
          <p:cNvSpPr txBox="1"/>
          <p:nvPr/>
        </p:nvSpPr>
        <p:spPr>
          <a:xfrm>
            <a:off x="1050925" y="1500188"/>
            <a:ext cx="6616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一个指令周期包含若干个机器周期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8021" name="Text Box 5"/>
          <p:cNvSpPr txBox="1"/>
          <p:nvPr/>
        </p:nvSpPr>
        <p:spPr>
          <a:xfrm>
            <a:off x="1050925" y="2071688"/>
            <a:ext cx="62579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一个机器周期包含若干个时钟周期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8022" name="Text Box 6"/>
          <p:cNvSpPr txBox="1"/>
          <p:nvPr/>
        </p:nvSpPr>
        <p:spPr>
          <a:xfrm>
            <a:off x="60325" y="2817813"/>
            <a:ext cx="788988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200" dirty="0">
                <a:latin typeface="Times New Roman" panose="02020603050405020304" pitchFamily="18" charset="0"/>
              </a:rPr>
              <a:t>CLK</a:t>
            </a:r>
            <a:endParaRPr lang="en-US" altLang="zh-CN" sz="2200" dirty="0">
              <a:latin typeface="Times New Roman" panose="02020603050405020304" pitchFamily="18" charset="0"/>
            </a:endParaRPr>
          </a:p>
        </p:txBody>
      </p:sp>
      <p:grpSp>
        <p:nvGrpSpPr>
          <p:cNvPr id="598023" name="Group 7"/>
          <p:cNvGrpSpPr/>
          <p:nvPr/>
        </p:nvGrpSpPr>
        <p:grpSpPr>
          <a:xfrm>
            <a:off x="914400" y="2881313"/>
            <a:ext cx="7315200" cy="304800"/>
            <a:chOff x="576" y="1815"/>
            <a:chExt cx="4608" cy="192"/>
          </a:xfrm>
        </p:grpSpPr>
        <p:sp>
          <p:nvSpPr>
            <p:cNvPr id="25682" name="Freeform 8"/>
            <p:cNvSpPr/>
            <p:nvPr/>
          </p:nvSpPr>
          <p:spPr>
            <a:xfrm>
              <a:off x="576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3" name="Freeform 9"/>
            <p:cNvSpPr/>
            <p:nvPr/>
          </p:nvSpPr>
          <p:spPr>
            <a:xfrm>
              <a:off x="960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4" name="Freeform 10"/>
            <p:cNvSpPr/>
            <p:nvPr/>
          </p:nvSpPr>
          <p:spPr>
            <a:xfrm>
              <a:off x="1344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5" name="Freeform 11"/>
            <p:cNvSpPr/>
            <p:nvPr/>
          </p:nvSpPr>
          <p:spPr>
            <a:xfrm>
              <a:off x="1728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6" name="Freeform 12"/>
            <p:cNvSpPr/>
            <p:nvPr/>
          </p:nvSpPr>
          <p:spPr>
            <a:xfrm>
              <a:off x="2112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7" name="Freeform 13"/>
            <p:cNvSpPr/>
            <p:nvPr/>
          </p:nvSpPr>
          <p:spPr>
            <a:xfrm>
              <a:off x="2496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8" name="Freeform 14"/>
            <p:cNvSpPr/>
            <p:nvPr/>
          </p:nvSpPr>
          <p:spPr>
            <a:xfrm>
              <a:off x="2880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89" name="Freeform 15"/>
            <p:cNvSpPr/>
            <p:nvPr/>
          </p:nvSpPr>
          <p:spPr>
            <a:xfrm>
              <a:off x="3264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90" name="Freeform 16"/>
            <p:cNvSpPr/>
            <p:nvPr/>
          </p:nvSpPr>
          <p:spPr>
            <a:xfrm>
              <a:off x="3648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91" name="Freeform 17"/>
            <p:cNvSpPr/>
            <p:nvPr/>
          </p:nvSpPr>
          <p:spPr>
            <a:xfrm>
              <a:off x="4032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92" name="Freeform 18"/>
            <p:cNvSpPr/>
            <p:nvPr/>
          </p:nvSpPr>
          <p:spPr>
            <a:xfrm>
              <a:off x="4416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93" name="Freeform 19"/>
            <p:cNvSpPr/>
            <p:nvPr/>
          </p:nvSpPr>
          <p:spPr>
            <a:xfrm>
              <a:off x="4800" y="1815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98036" name="Group 20"/>
          <p:cNvGrpSpPr/>
          <p:nvPr/>
        </p:nvGrpSpPr>
        <p:grpSpPr>
          <a:xfrm>
            <a:off x="914400" y="3505200"/>
            <a:ext cx="7315200" cy="1524000"/>
            <a:chOff x="576" y="2064"/>
            <a:chExt cx="4608" cy="960"/>
          </a:xfrm>
        </p:grpSpPr>
        <p:sp>
          <p:nvSpPr>
            <p:cNvPr id="25641" name="Line 21"/>
            <p:cNvSpPr/>
            <p:nvPr/>
          </p:nvSpPr>
          <p:spPr>
            <a:xfrm>
              <a:off x="576" y="2301"/>
              <a:ext cx="46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2" name="Line 22"/>
            <p:cNvSpPr/>
            <p:nvPr/>
          </p:nvSpPr>
          <p:spPr>
            <a:xfrm>
              <a:off x="960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3" name="Line 23"/>
            <p:cNvSpPr/>
            <p:nvPr/>
          </p:nvSpPr>
          <p:spPr>
            <a:xfrm>
              <a:off x="1344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4" name="Line 24"/>
            <p:cNvSpPr/>
            <p:nvPr/>
          </p:nvSpPr>
          <p:spPr>
            <a:xfrm>
              <a:off x="1728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5" name="Line 25"/>
            <p:cNvSpPr/>
            <p:nvPr/>
          </p:nvSpPr>
          <p:spPr>
            <a:xfrm>
              <a:off x="2112" y="2208"/>
              <a:ext cx="0" cy="4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6" name="Line 26"/>
            <p:cNvSpPr/>
            <p:nvPr/>
          </p:nvSpPr>
          <p:spPr>
            <a:xfrm>
              <a:off x="2496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7" name="Line 27"/>
            <p:cNvSpPr/>
            <p:nvPr/>
          </p:nvSpPr>
          <p:spPr>
            <a:xfrm>
              <a:off x="2880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8" name="Line 28"/>
            <p:cNvSpPr/>
            <p:nvPr/>
          </p:nvSpPr>
          <p:spPr>
            <a:xfrm>
              <a:off x="3264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49" name="Line 29"/>
            <p:cNvSpPr/>
            <p:nvPr/>
          </p:nvSpPr>
          <p:spPr>
            <a:xfrm>
              <a:off x="3648" y="2208"/>
              <a:ext cx="0" cy="4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0" name="Line 30"/>
            <p:cNvSpPr/>
            <p:nvPr/>
          </p:nvSpPr>
          <p:spPr>
            <a:xfrm>
              <a:off x="4032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1" name="Line 31"/>
            <p:cNvSpPr/>
            <p:nvPr/>
          </p:nvSpPr>
          <p:spPr>
            <a:xfrm>
              <a:off x="4416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2" name="Line 32"/>
            <p:cNvSpPr/>
            <p:nvPr/>
          </p:nvSpPr>
          <p:spPr>
            <a:xfrm>
              <a:off x="4800" y="225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3" name="Line 33"/>
            <p:cNvSpPr/>
            <p:nvPr/>
          </p:nvSpPr>
          <p:spPr>
            <a:xfrm>
              <a:off x="5184" y="2253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4" name="Line 34"/>
            <p:cNvSpPr/>
            <p:nvPr/>
          </p:nvSpPr>
          <p:spPr>
            <a:xfrm>
              <a:off x="576" y="2253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55" name="Line 35"/>
            <p:cNvSpPr/>
            <p:nvPr/>
          </p:nvSpPr>
          <p:spPr>
            <a:xfrm flipH="1">
              <a:off x="576" y="249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56" name="Text Box 36"/>
            <p:cNvSpPr txBox="1"/>
            <p:nvPr/>
          </p:nvSpPr>
          <p:spPr>
            <a:xfrm>
              <a:off x="960" y="2360"/>
              <a:ext cx="8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 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57" name="Line 37"/>
            <p:cNvSpPr/>
            <p:nvPr/>
          </p:nvSpPr>
          <p:spPr>
            <a:xfrm rot="-10800000" flipH="1">
              <a:off x="1776" y="249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58" name="Line 38"/>
            <p:cNvSpPr/>
            <p:nvPr/>
          </p:nvSpPr>
          <p:spPr>
            <a:xfrm flipH="1">
              <a:off x="2112" y="249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59" name="Text Box 39"/>
            <p:cNvSpPr txBox="1"/>
            <p:nvPr/>
          </p:nvSpPr>
          <p:spPr>
            <a:xfrm>
              <a:off x="2496" y="2360"/>
              <a:ext cx="8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 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60" name="Line 40"/>
            <p:cNvSpPr/>
            <p:nvPr/>
          </p:nvSpPr>
          <p:spPr>
            <a:xfrm rot="-10800000" flipH="1">
              <a:off x="3312" y="249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61" name="Line 41"/>
            <p:cNvSpPr/>
            <p:nvPr/>
          </p:nvSpPr>
          <p:spPr>
            <a:xfrm flipH="1">
              <a:off x="3648" y="249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62" name="Text Box 42"/>
            <p:cNvSpPr txBox="1"/>
            <p:nvPr/>
          </p:nvSpPr>
          <p:spPr>
            <a:xfrm>
              <a:off x="4032" y="2360"/>
              <a:ext cx="8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63" name="Line 43"/>
            <p:cNvSpPr/>
            <p:nvPr/>
          </p:nvSpPr>
          <p:spPr>
            <a:xfrm rot="-10800000" flipH="1">
              <a:off x="4848" y="249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64" name="Text Box 44"/>
            <p:cNvSpPr txBox="1"/>
            <p:nvPr/>
          </p:nvSpPr>
          <p:spPr>
            <a:xfrm>
              <a:off x="864" y="2542"/>
              <a:ext cx="96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（取指令） 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65" name="Text Box 45"/>
            <p:cNvSpPr txBox="1"/>
            <p:nvPr/>
          </p:nvSpPr>
          <p:spPr>
            <a:xfrm>
              <a:off x="2261" y="2542"/>
              <a:ext cx="128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（取有效地址） 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66" name="Text Box 46"/>
            <p:cNvSpPr txBox="1"/>
            <p:nvPr/>
          </p:nvSpPr>
          <p:spPr>
            <a:xfrm>
              <a:off x="3870" y="2542"/>
              <a:ext cx="112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（执行指令） 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67" name="Line 47"/>
            <p:cNvSpPr/>
            <p:nvPr/>
          </p:nvSpPr>
          <p:spPr>
            <a:xfrm flipH="1">
              <a:off x="576" y="2829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68" name="Line 48"/>
            <p:cNvSpPr/>
            <p:nvPr/>
          </p:nvSpPr>
          <p:spPr>
            <a:xfrm rot="-10800000" flipH="1">
              <a:off x="3573" y="2824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69" name="Text Box 49"/>
            <p:cNvSpPr txBox="1"/>
            <p:nvPr/>
          </p:nvSpPr>
          <p:spPr>
            <a:xfrm>
              <a:off x="2496" y="2733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指令周期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0" name="Text Box 50"/>
            <p:cNvSpPr txBox="1"/>
            <p:nvPr/>
          </p:nvSpPr>
          <p:spPr>
            <a:xfrm>
              <a:off x="662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1" name="Text Box 51"/>
            <p:cNvSpPr txBox="1"/>
            <p:nvPr/>
          </p:nvSpPr>
          <p:spPr>
            <a:xfrm>
              <a:off x="1021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2" name="Text Box 52"/>
            <p:cNvSpPr txBox="1"/>
            <p:nvPr/>
          </p:nvSpPr>
          <p:spPr>
            <a:xfrm>
              <a:off x="1392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3" name="Text Box 53"/>
            <p:cNvSpPr txBox="1"/>
            <p:nvPr/>
          </p:nvSpPr>
          <p:spPr>
            <a:xfrm>
              <a:off x="1741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4" name="Text Box 54"/>
            <p:cNvSpPr txBox="1"/>
            <p:nvPr/>
          </p:nvSpPr>
          <p:spPr>
            <a:xfrm>
              <a:off x="2198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5" name="Text Box 55"/>
            <p:cNvSpPr txBox="1"/>
            <p:nvPr/>
          </p:nvSpPr>
          <p:spPr>
            <a:xfrm>
              <a:off x="2557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6" name="Text Box 56"/>
            <p:cNvSpPr txBox="1"/>
            <p:nvPr/>
          </p:nvSpPr>
          <p:spPr>
            <a:xfrm>
              <a:off x="2928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7" name="Text Box 57"/>
            <p:cNvSpPr txBox="1"/>
            <p:nvPr/>
          </p:nvSpPr>
          <p:spPr>
            <a:xfrm>
              <a:off x="3277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8" name="Text Box 58"/>
            <p:cNvSpPr txBox="1"/>
            <p:nvPr/>
          </p:nvSpPr>
          <p:spPr>
            <a:xfrm>
              <a:off x="3744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79" name="Text Box 59"/>
            <p:cNvSpPr txBox="1"/>
            <p:nvPr/>
          </p:nvSpPr>
          <p:spPr>
            <a:xfrm>
              <a:off x="4103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80" name="Text Box 60"/>
            <p:cNvSpPr txBox="1"/>
            <p:nvPr/>
          </p:nvSpPr>
          <p:spPr>
            <a:xfrm>
              <a:off x="4474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81" name="Text Box 61"/>
            <p:cNvSpPr txBox="1"/>
            <p:nvPr/>
          </p:nvSpPr>
          <p:spPr>
            <a:xfrm>
              <a:off x="4823" y="206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98078" name="Group 62"/>
          <p:cNvGrpSpPr/>
          <p:nvPr/>
        </p:nvGrpSpPr>
        <p:grpSpPr>
          <a:xfrm>
            <a:off x="914400" y="5165725"/>
            <a:ext cx="4278313" cy="1539875"/>
            <a:chOff x="576" y="3206"/>
            <a:chExt cx="2695" cy="970"/>
          </a:xfrm>
        </p:grpSpPr>
        <p:sp>
          <p:nvSpPr>
            <p:cNvPr id="25614" name="Freeform 63"/>
            <p:cNvSpPr/>
            <p:nvPr/>
          </p:nvSpPr>
          <p:spPr>
            <a:xfrm>
              <a:off x="576" y="3453"/>
              <a:ext cx="2684" cy="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84" y="3"/>
                </a:cxn>
              </a:cxnLst>
              <a:pathLst>
                <a:path w="2684" h="3">
                  <a:moveTo>
                    <a:pt x="0" y="0"/>
                  </a:moveTo>
                  <a:lnTo>
                    <a:pt x="2684" y="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15" name="Line 64"/>
            <p:cNvSpPr/>
            <p:nvPr/>
          </p:nvSpPr>
          <p:spPr>
            <a:xfrm>
              <a:off x="960" y="3405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6" name="Line 65"/>
            <p:cNvSpPr/>
            <p:nvPr/>
          </p:nvSpPr>
          <p:spPr>
            <a:xfrm>
              <a:off x="1344" y="3405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7" name="Line 66"/>
            <p:cNvSpPr/>
            <p:nvPr/>
          </p:nvSpPr>
          <p:spPr>
            <a:xfrm>
              <a:off x="1728" y="3405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8" name="Line 67"/>
            <p:cNvSpPr/>
            <p:nvPr/>
          </p:nvSpPr>
          <p:spPr>
            <a:xfrm>
              <a:off x="2112" y="3425"/>
              <a:ext cx="0" cy="41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9" name="Line 68"/>
            <p:cNvSpPr/>
            <p:nvPr/>
          </p:nvSpPr>
          <p:spPr>
            <a:xfrm>
              <a:off x="2496" y="3405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0" name="Line 69"/>
            <p:cNvSpPr/>
            <p:nvPr/>
          </p:nvSpPr>
          <p:spPr>
            <a:xfrm>
              <a:off x="2880" y="3405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1" name="Line 70"/>
            <p:cNvSpPr/>
            <p:nvPr/>
          </p:nvSpPr>
          <p:spPr>
            <a:xfrm>
              <a:off x="3264" y="3405"/>
              <a:ext cx="0" cy="7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2" name="Line 71"/>
            <p:cNvSpPr/>
            <p:nvPr/>
          </p:nvSpPr>
          <p:spPr>
            <a:xfrm>
              <a:off x="576" y="3405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3" name="Line 72"/>
            <p:cNvSpPr/>
            <p:nvPr/>
          </p:nvSpPr>
          <p:spPr>
            <a:xfrm flipH="1">
              <a:off x="576" y="3645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24" name="Text Box 73"/>
            <p:cNvSpPr txBox="1"/>
            <p:nvPr/>
          </p:nvSpPr>
          <p:spPr>
            <a:xfrm>
              <a:off x="960" y="350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5" name="Line 74"/>
            <p:cNvSpPr/>
            <p:nvPr/>
          </p:nvSpPr>
          <p:spPr>
            <a:xfrm rot="-10800000" flipH="1">
              <a:off x="1776" y="3645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26" name="Line 75"/>
            <p:cNvSpPr/>
            <p:nvPr/>
          </p:nvSpPr>
          <p:spPr>
            <a:xfrm flipH="1">
              <a:off x="2112" y="3645"/>
              <a:ext cx="1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27" name="Text Box 76"/>
            <p:cNvSpPr txBox="1"/>
            <p:nvPr/>
          </p:nvSpPr>
          <p:spPr>
            <a:xfrm>
              <a:off x="2312" y="3501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8" name="Line 77"/>
            <p:cNvSpPr/>
            <p:nvPr/>
          </p:nvSpPr>
          <p:spPr>
            <a:xfrm rot="-10800000" flipH="1">
              <a:off x="3072" y="3644"/>
              <a:ext cx="1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29" name="Text Box 78"/>
            <p:cNvSpPr txBox="1"/>
            <p:nvPr/>
          </p:nvSpPr>
          <p:spPr>
            <a:xfrm>
              <a:off x="912" y="3683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30" name="Text Box 79"/>
            <p:cNvSpPr txBox="1"/>
            <p:nvPr/>
          </p:nvSpPr>
          <p:spPr>
            <a:xfrm>
              <a:off x="2160" y="3683"/>
              <a:ext cx="10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（执行指令）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31" name="Line 80"/>
            <p:cNvSpPr/>
            <p:nvPr/>
          </p:nvSpPr>
          <p:spPr>
            <a:xfrm flipH="1" flipV="1">
              <a:off x="576" y="3981"/>
              <a:ext cx="923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32" name="Text Box 81"/>
            <p:cNvSpPr txBox="1"/>
            <p:nvPr/>
          </p:nvSpPr>
          <p:spPr>
            <a:xfrm>
              <a:off x="1584" y="3878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指令周期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3" name="Line 82"/>
            <p:cNvSpPr/>
            <p:nvPr/>
          </p:nvSpPr>
          <p:spPr>
            <a:xfrm rot="10800000" flipH="1" flipV="1">
              <a:off x="2339" y="3980"/>
              <a:ext cx="923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5634" name="Text Box 83"/>
            <p:cNvSpPr txBox="1"/>
            <p:nvPr/>
          </p:nvSpPr>
          <p:spPr>
            <a:xfrm>
              <a:off x="672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5" name="Text Box 84"/>
            <p:cNvSpPr txBox="1"/>
            <p:nvPr/>
          </p:nvSpPr>
          <p:spPr>
            <a:xfrm>
              <a:off x="1031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6" name="Text Box 85"/>
            <p:cNvSpPr txBox="1"/>
            <p:nvPr/>
          </p:nvSpPr>
          <p:spPr>
            <a:xfrm>
              <a:off x="1402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7" name="Text Box 86"/>
            <p:cNvSpPr txBox="1"/>
            <p:nvPr/>
          </p:nvSpPr>
          <p:spPr>
            <a:xfrm>
              <a:off x="1751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8" name="Text Box 87"/>
            <p:cNvSpPr txBox="1"/>
            <p:nvPr/>
          </p:nvSpPr>
          <p:spPr>
            <a:xfrm>
              <a:off x="2198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9" name="Text Box 88"/>
            <p:cNvSpPr txBox="1"/>
            <p:nvPr/>
          </p:nvSpPr>
          <p:spPr>
            <a:xfrm>
              <a:off x="2557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40" name="Text Box 89"/>
            <p:cNvSpPr txBox="1"/>
            <p:nvPr/>
          </p:nvSpPr>
          <p:spPr>
            <a:xfrm>
              <a:off x="2928" y="3206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8106" name="Text Box 90"/>
          <p:cNvSpPr txBox="1"/>
          <p:nvPr/>
        </p:nvSpPr>
        <p:spPr>
          <a:xfrm>
            <a:off x="76200" y="5165725"/>
            <a:ext cx="86360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 节拍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(状态)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98107" name="Text Box 91"/>
          <p:cNvSpPr txBox="1"/>
          <p:nvPr/>
        </p:nvSpPr>
        <p:spPr>
          <a:xfrm>
            <a:off x="50800" y="3505200"/>
            <a:ext cx="86360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 节拍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(状态)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98108" name="Rectangle 92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3" name="AutoShape 93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8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98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9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9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19" grpId="0"/>
      <p:bldP spid="598020" grpId="0"/>
      <p:bldP spid="598021" grpId="0"/>
      <p:bldP spid="598022" grpId="0"/>
      <p:bldP spid="598106" grpId="0"/>
      <p:bldP spid="59810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441325" y="273050"/>
            <a:ext cx="67945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4. </a:t>
            </a:r>
            <a:r>
              <a:rPr lang="zh-CN" altLang="en-US" sz="3600" dirty="0">
                <a:latin typeface="Times New Roman" panose="02020603050405020304" pitchFamily="18" charset="0"/>
              </a:rPr>
              <a:t>机器速度与机器主频的关系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599043" name="Text Box 3"/>
          <p:cNvSpPr txBox="1"/>
          <p:nvPr/>
        </p:nvSpPr>
        <p:spPr>
          <a:xfrm>
            <a:off x="1050925" y="1330325"/>
            <a:ext cx="7121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机器的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主频 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越快 </a:t>
            </a:r>
            <a:r>
              <a:rPr lang="zh-CN" altLang="en-US" sz="2800" dirty="0">
                <a:latin typeface="Times New Roman" panose="02020603050405020304" pitchFamily="18" charset="0"/>
              </a:rPr>
              <a:t>机器的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速度也越快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9044" name="Text Box 4"/>
          <p:cNvSpPr txBox="1"/>
          <p:nvPr/>
        </p:nvSpPr>
        <p:spPr>
          <a:xfrm>
            <a:off x="1050925" y="2024063"/>
            <a:ext cx="77692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在机器周期所含时钟周期数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相同</a:t>
            </a:r>
            <a:r>
              <a:rPr lang="zh-CN" altLang="en-US" sz="2800" dirty="0">
                <a:latin typeface="Times New Roman" panose="02020603050405020304" pitchFamily="18" charset="0"/>
              </a:rPr>
              <a:t> 的前提下，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两机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平均指令执行速度之比</a:t>
            </a:r>
            <a:r>
              <a:rPr lang="zh-CN" altLang="en-US" sz="2800" dirty="0">
                <a:latin typeface="Times New Roman" panose="02020603050405020304" pitchFamily="18" charset="0"/>
              </a:rPr>
              <a:t>  等于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两机主频之比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9045" name="Text Box 5"/>
          <p:cNvSpPr txBox="1"/>
          <p:nvPr/>
        </p:nvSpPr>
        <p:spPr>
          <a:xfrm>
            <a:off x="1050925" y="4797425"/>
            <a:ext cx="7918450" cy="16303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机器速度 </a:t>
            </a:r>
            <a:r>
              <a:rPr lang="zh-CN" altLang="en-US" sz="2800" dirty="0">
                <a:latin typeface="Times New Roman" panose="02020603050405020304" pitchFamily="18" charset="0"/>
              </a:rPr>
              <a:t>不仅与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主频有关</a:t>
            </a:r>
            <a:r>
              <a:rPr lang="zh-CN" altLang="en-US" sz="2800" dirty="0">
                <a:latin typeface="Times New Roman" panose="02020603050405020304" pitchFamily="18" charset="0"/>
              </a:rPr>
              <a:t> ，还与机器周期中所含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时钟周期</a:t>
            </a:r>
            <a:r>
              <a:rPr lang="zh-CN" altLang="en-US" sz="2800" dirty="0">
                <a:latin typeface="Times New Roman" panose="02020603050405020304" pitchFamily="18" charset="0"/>
              </a:rPr>
              <a:t>（主频的倒数）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数 </a:t>
            </a:r>
            <a:r>
              <a:rPr lang="zh-CN" altLang="en-US" sz="2800" dirty="0">
                <a:latin typeface="Times New Roman" panose="02020603050405020304" pitchFamily="18" charset="0"/>
              </a:rPr>
              <a:t>以及指令周期中所含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的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机器周期数有关</a:t>
            </a:r>
            <a:endParaRPr lang="en-US" altLang="zh-CN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9046" name="Rectangle 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99047" name="Group 7"/>
          <p:cNvGrpSpPr/>
          <p:nvPr/>
        </p:nvGrpSpPr>
        <p:grpSpPr>
          <a:xfrm>
            <a:off x="2378075" y="3392488"/>
            <a:ext cx="2163763" cy="1116012"/>
            <a:chOff x="1498" y="1929"/>
            <a:chExt cx="1363" cy="703"/>
          </a:xfrm>
        </p:grpSpPr>
        <p:sp>
          <p:nvSpPr>
            <p:cNvPr id="26633" name="Text Box 8"/>
            <p:cNvSpPr txBox="1"/>
            <p:nvPr/>
          </p:nvSpPr>
          <p:spPr>
            <a:xfrm>
              <a:off x="1505" y="1929"/>
              <a:ext cx="75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MIPS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 Box 9"/>
            <p:cNvSpPr txBox="1"/>
            <p:nvPr/>
          </p:nvSpPr>
          <p:spPr>
            <a:xfrm>
              <a:off x="1505" y="2251"/>
              <a:ext cx="75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MIPS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Text Box 10"/>
            <p:cNvSpPr txBox="1"/>
            <p:nvPr/>
          </p:nvSpPr>
          <p:spPr>
            <a:xfrm>
              <a:off x="2271" y="2112"/>
              <a:ext cx="244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=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Text Box 11"/>
            <p:cNvSpPr txBox="1"/>
            <p:nvPr/>
          </p:nvSpPr>
          <p:spPr>
            <a:xfrm>
              <a:off x="2594" y="1929"/>
              <a:ext cx="267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7" name="Text Box 12"/>
            <p:cNvSpPr txBox="1"/>
            <p:nvPr/>
          </p:nvSpPr>
          <p:spPr>
            <a:xfrm>
              <a:off x="2594" y="2251"/>
              <a:ext cx="267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8" name="Line 13"/>
            <p:cNvSpPr/>
            <p:nvPr/>
          </p:nvSpPr>
          <p:spPr>
            <a:xfrm>
              <a:off x="1498" y="2317"/>
              <a:ext cx="72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9" name="Line 14"/>
            <p:cNvSpPr/>
            <p:nvPr/>
          </p:nvSpPr>
          <p:spPr>
            <a:xfrm>
              <a:off x="2563" y="2317"/>
              <a:ext cx="2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632" name="AutoShape 1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3" grpId="0"/>
      <p:bldP spid="599044" grpId="0"/>
      <p:bldP spid="5990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288925" y="273050"/>
            <a:ext cx="29368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四、控制方式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00067" name="Text Box 3"/>
          <p:cNvSpPr txBox="1"/>
          <p:nvPr/>
        </p:nvSpPr>
        <p:spPr>
          <a:xfrm>
            <a:off x="977900" y="958850"/>
            <a:ext cx="7327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产生不同微操作命令序列所用的时序控制方式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0068" name="Text Box 4"/>
          <p:cNvSpPr txBox="1"/>
          <p:nvPr/>
        </p:nvSpPr>
        <p:spPr>
          <a:xfrm>
            <a:off x="609600" y="1538288"/>
            <a:ext cx="3733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同步控制方式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0069" name="Text Box 5"/>
          <p:cNvSpPr txBox="1"/>
          <p:nvPr/>
        </p:nvSpPr>
        <p:spPr>
          <a:xfrm>
            <a:off x="977900" y="2155825"/>
            <a:ext cx="75057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任一微操作均由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统一基准时标 </a:t>
            </a:r>
            <a:r>
              <a:rPr lang="zh-CN" altLang="en-US" sz="2800" dirty="0">
                <a:latin typeface="Times New Roman" panose="02020603050405020304" pitchFamily="18" charset="0"/>
              </a:rPr>
              <a:t>的时序信号控制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0070" name="Text Box 6"/>
          <p:cNvSpPr txBox="1"/>
          <p:nvPr/>
        </p:nvSpPr>
        <p:spPr>
          <a:xfrm>
            <a:off x="365125" y="2995613"/>
            <a:ext cx="7350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CLK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600071" name="Group 7"/>
          <p:cNvGrpSpPr/>
          <p:nvPr/>
        </p:nvGrpSpPr>
        <p:grpSpPr>
          <a:xfrm>
            <a:off x="1219200" y="3033713"/>
            <a:ext cx="7315200" cy="304800"/>
            <a:chOff x="768" y="1911"/>
            <a:chExt cx="4608" cy="192"/>
          </a:xfrm>
        </p:grpSpPr>
        <p:sp>
          <p:nvSpPr>
            <p:cNvPr id="27703" name="Freeform 8"/>
            <p:cNvSpPr/>
            <p:nvPr/>
          </p:nvSpPr>
          <p:spPr>
            <a:xfrm>
              <a:off x="768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04" name="Freeform 9"/>
            <p:cNvSpPr/>
            <p:nvPr/>
          </p:nvSpPr>
          <p:spPr>
            <a:xfrm>
              <a:off x="1152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05" name="Freeform 10"/>
            <p:cNvSpPr/>
            <p:nvPr/>
          </p:nvSpPr>
          <p:spPr>
            <a:xfrm>
              <a:off x="1536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06" name="Freeform 11"/>
            <p:cNvSpPr/>
            <p:nvPr/>
          </p:nvSpPr>
          <p:spPr>
            <a:xfrm>
              <a:off x="1920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07" name="Freeform 12"/>
            <p:cNvSpPr/>
            <p:nvPr/>
          </p:nvSpPr>
          <p:spPr>
            <a:xfrm>
              <a:off x="2304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08" name="Freeform 13"/>
            <p:cNvSpPr/>
            <p:nvPr/>
          </p:nvSpPr>
          <p:spPr>
            <a:xfrm>
              <a:off x="2688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09" name="Freeform 14"/>
            <p:cNvSpPr/>
            <p:nvPr/>
          </p:nvSpPr>
          <p:spPr>
            <a:xfrm>
              <a:off x="3072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10" name="Freeform 15"/>
            <p:cNvSpPr/>
            <p:nvPr/>
          </p:nvSpPr>
          <p:spPr>
            <a:xfrm>
              <a:off x="3456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11" name="Freeform 16"/>
            <p:cNvSpPr/>
            <p:nvPr/>
          </p:nvSpPr>
          <p:spPr>
            <a:xfrm>
              <a:off x="3840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12" name="Freeform 17"/>
            <p:cNvSpPr/>
            <p:nvPr/>
          </p:nvSpPr>
          <p:spPr>
            <a:xfrm>
              <a:off x="4224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13" name="Freeform 18"/>
            <p:cNvSpPr/>
            <p:nvPr/>
          </p:nvSpPr>
          <p:spPr>
            <a:xfrm>
              <a:off x="4608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714" name="Freeform 19"/>
            <p:cNvSpPr/>
            <p:nvPr/>
          </p:nvSpPr>
          <p:spPr>
            <a:xfrm>
              <a:off x="4992" y="1911"/>
              <a:ext cx="384" cy="192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</a:cxnLst>
              <a:pathLst>
                <a:path w="384" h="192">
                  <a:moveTo>
                    <a:pt x="0" y="192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00084" name="Group 20"/>
          <p:cNvGrpSpPr/>
          <p:nvPr/>
        </p:nvGrpSpPr>
        <p:grpSpPr>
          <a:xfrm>
            <a:off x="1219200" y="3429000"/>
            <a:ext cx="7315200" cy="1524000"/>
            <a:chOff x="768" y="2160"/>
            <a:chExt cx="4608" cy="960"/>
          </a:xfrm>
        </p:grpSpPr>
        <p:sp>
          <p:nvSpPr>
            <p:cNvPr id="27662" name="Line 21"/>
            <p:cNvSpPr/>
            <p:nvPr/>
          </p:nvSpPr>
          <p:spPr>
            <a:xfrm>
              <a:off x="768" y="2397"/>
              <a:ext cx="46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3" name="Line 22"/>
            <p:cNvSpPr/>
            <p:nvPr/>
          </p:nvSpPr>
          <p:spPr>
            <a:xfrm>
              <a:off x="1152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Line 23"/>
            <p:cNvSpPr/>
            <p:nvPr/>
          </p:nvSpPr>
          <p:spPr>
            <a:xfrm>
              <a:off x="1536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5" name="Line 24"/>
            <p:cNvSpPr/>
            <p:nvPr/>
          </p:nvSpPr>
          <p:spPr>
            <a:xfrm>
              <a:off x="1920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6" name="Freeform 25"/>
            <p:cNvSpPr/>
            <p:nvPr/>
          </p:nvSpPr>
          <p:spPr>
            <a:xfrm>
              <a:off x="2304" y="2349"/>
              <a:ext cx="1" cy="4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35"/>
                </a:cxn>
              </a:cxnLst>
              <a:pathLst>
                <a:path w="1" h="435">
                  <a:moveTo>
                    <a:pt x="0" y="0"/>
                  </a:moveTo>
                  <a:lnTo>
                    <a:pt x="0" y="435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7" name="Line 26"/>
            <p:cNvSpPr/>
            <p:nvPr/>
          </p:nvSpPr>
          <p:spPr>
            <a:xfrm>
              <a:off x="2688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8" name="Line 27"/>
            <p:cNvSpPr/>
            <p:nvPr/>
          </p:nvSpPr>
          <p:spPr>
            <a:xfrm>
              <a:off x="3072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9" name="Line 28"/>
            <p:cNvSpPr/>
            <p:nvPr/>
          </p:nvSpPr>
          <p:spPr>
            <a:xfrm>
              <a:off x="3456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0" name="Freeform 29"/>
            <p:cNvSpPr/>
            <p:nvPr/>
          </p:nvSpPr>
          <p:spPr>
            <a:xfrm>
              <a:off x="3840" y="2349"/>
              <a:ext cx="1" cy="4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9"/>
                </a:cxn>
              </a:cxnLst>
              <a:pathLst>
                <a:path w="1" h="429">
                  <a:moveTo>
                    <a:pt x="0" y="0"/>
                  </a:moveTo>
                  <a:lnTo>
                    <a:pt x="0" y="429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1" name="Line 30"/>
            <p:cNvSpPr/>
            <p:nvPr/>
          </p:nvSpPr>
          <p:spPr>
            <a:xfrm>
              <a:off x="4224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2" name="Line 31"/>
            <p:cNvSpPr/>
            <p:nvPr/>
          </p:nvSpPr>
          <p:spPr>
            <a:xfrm>
              <a:off x="4608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3" name="Line 32"/>
            <p:cNvSpPr/>
            <p:nvPr/>
          </p:nvSpPr>
          <p:spPr>
            <a:xfrm>
              <a:off x="4992" y="2349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4" name="Line 33"/>
            <p:cNvSpPr/>
            <p:nvPr/>
          </p:nvSpPr>
          <p:spPr>
            <a:xfrm>
              <a:off x="5376" y="2349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5" name="Line 34"/>
            <p:cNvSpPr/>
            <p:nvPr/>
          </p:nvSpPr>
          <p:spPr>
            <a:xfrm>
              <a:off x="768" y="2349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76" name="Line 35"/>
            <p:cNvSpPr/>
            <p:nvPr/>
          </p:nvSpPr>
          <p:spPr>
            <a:xfrm flipH="1">
              <a:off x="768" y="258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77" name="Text Box 36"/>
            <p:cNvSpPr txBox="1"/>
            <p:nvPr/>
          </p:nvSpPr>
          <p:spPr>
            <a:xfrm>
              <a:off x="1152" y="2445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8" name="Line 37"/>
            <p:cNvSpPr/>
            <p:nvPr/>
          </p:nvSpPr>
          <p:spPr>
            <a:xfrm rot="-10800000" flipH="1">
              <a:off x="1968" y="258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79" name="Line 38"/>
            <p:cNvSpPr/>
            <p:nvPr/>
          </p:nvSpPr>
          <p:spPr>
            <a:xfrm flipH="1">
              <a:off x="2304" y="258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80" name="Text Box 39"/>
            <p:cNvSpPr txBox="1"/>
            <p:nvPr/>
          </p:nvSpPr>
          <p:spPr>
            <a:xfrm>
              <a:off x="2688" y="2445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1" name="Line 40"/>
            <p:cNvSpPr/>
            <p:nvPr/>
          </p:nvSpPr>
          <p:spPr>
            <a:xfrm rot="-10800000" flipH="1">
              <a:off x="3504" y="258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82" name="Line 41"/>
            <p:cNvSpPr/>
            <p:nvPr/>
          </p:nvSpPr>
          <p:spPr>
            <a:xfrm flipH="1">
              <a:off x="3840" y="258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83" name="Text Box 42"/>
            <p:cNvSpPr txBox="1"/>
            <p:nvPr/>
          </p:nvSpPr>
          <p:spPr>
            <a:xfrm>
              <a:off x="4224" y="2445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4" name="Line 43"/>
            <p:cNvSpPr/>
            <p:nvPr/>
          </p:nvSpPr>
          <p:spPr>
            <a:xfrm rot="-10800000" flipH="1">
              <a:off x="5040" y="258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85" name="Text Box 44"/>
            <p:cNvSpPr txBox="1"/>
            <p:nvPr/>
          </p:nvSpPr>
          <p:spPr>
            <a:xfrm>
              <a:off x="1104" y="2627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6" name="Text Box 45"/>
            <p:cNvSpPr txBox="1"/>
            <p:nvPr/>
          </p:nvSpPr>
          <p:spPr>
            <a:xfrm>
              <a:off x="2453" y="2627"/>
              <a:ext cx="124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（取有效地址）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7" name="Text Box 46"/>
            <p:cNvSpPr txBox="1"/>
            <p:nvPr/>
          </p:nvSpPr>
          <p:spPr>
            <a:xfrm>
              <a:off x="4054" y="2627"/>
              <a:ext cx="10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（执行指令）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8" name="Freeform 47"/>
            <p:cNvSpPr/>
            <p:nvPr/>
          </p:nvSpPr>
          <p:spPr>
            <a:xfrm>
              <a:off x="768" y="2926"/>
              <a:ext cx="1662" cy="2"/>
            </a:xfrm>
            <a:custGeom>
              <a:avLst/>
              <a:gdLst/>
              <a:ahLst/>
              <a:cxnLst>
                <a:cxn ang="0">
                  <a:pos x="1662" y="2"/>
                </a:cxn>
                <a:cxn ang="0">
                  <a:pos x="0" y="0"/>
                </a:cxn>
              </a:cxnLst>
              <a:pathLst>
                <a:path w="1662" h="2">
                  <a:moveTo>
                    <a:pt x="1662" y="2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89" name="Freeform 48"/>
            <p:cNvSpPr/>
            <p:nvPr/>
          </p:nvSpPr>
          <p:spPr>
            <a:xfrm>
              <a:off x="3462" y="2922"/>
              <a:ext cx="1912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12" y="1"/>
                </a:cxn>
              </a:cxnLst>
              <a:pathLst>
                <a:path w="1912" h="1">
                  <a:moveTo>
                    <a:pt x="0" y="0"/>
                  </a:moveTo>
                  <a:lnTo>
                    <a:pt x="1912" y="1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90" name="Text Box 49"/>
            <p:cNvSpPr txBox="1"/>
            <p:nvPr/>
          </p:nvSpPr>
          <p:spPr>
            <a:xfrm>
              <a:off x="2552" y="2829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指令周期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91" name="Text Box 50"/>
            <p:cNvSpPr txBox="1"/>
            <p:nvPr/>
          </p:nvSpPr>
          <p:spPr>
            <a:xfrm>
              <a:off x="854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2" name="Text Box 51"/>
            <p:cNvSpPr txBox="1"/>
            <p:nvPr/>
          </p:nvSpPr>
          <p:spPr>
            <a:xfrm>
              <a:off x="1213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3" name="Text Box 52"/>
            <p:cNvSpPr txBox="1"/>
            <p:nvPr/>
          </p:nvSpPr>
          <p:spPr>
            <a:xfrm>
              <a:off x="1584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4" name="Text Box 53"/>
            <p:cNvSpPr txBox="1"/>
            <p:nvPr/>
          </p:nvSpPr>
          <p:spPr>
            <a:xfrm>
              <a:off x="1933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5" name="Text Box 54"/>
            <p:cNvSpPr txBox="1"/>
            <p:nvPr/>
          </p:nvSpPr>
          <p:spPr>
            <a:xfrm>
              <a:off x="2390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6" name="Text Box 55"/>
            <p:cNvSpPr txBox="1"/>
            <p:nvPr/>
          </p:nvSpPr>
          <p:spPr>
            <a:xfrm>
              <a:off x="2749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7" name="Text Box 56"/>
            <p:cNvSpPr txBox="1"/>
            <p:nvPr/>
          </p:nvSpPr>
          <p:spPr>
            <a:xfrm>
              <a:off x="3120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8" name="Text Box 57"/>
            <p:cNvSpPr txBox="1"/>
            <p:nvPr/>
          </p:nvSpPr>
          <p:spPr>
            <a:xfrm>
              <a:off x="3469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99" name="Text Box 58"/>
            <p:cNvSpPr txBox="1"/>
            <p:nvPr/>
          </p:nvSpPr>
          <p:spPr>
            <a:xfrm>
              <a:off x="3936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00" name="Text Box 59"/>
            <p:cNvSpPr txBox="1"/>
            <p:nvPr/>
          </p:nvSpPr>
          <p:spPr>
            <a:xfrm>
              <a:off x="4295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01" name="Text Box 60"/>
            <p:cNvSpPr txBox="1"/>
            <p:nvPr/>
          </p:nvSpPr>
          <p:spPr>
            <a:xfrm>
              <a:off x="4666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02" name="Text Box 61"/>
            <p:cNvSpPr txBox="1"/>
            <p:nvPr/>
          </p:nvSpPr>
          <p:spPr>
            <a:xfrm>
              <a:off x="5015" y="2160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0126" name="Text Box 62"/>
          <p:cNvSpPr txBox="1"/>
          <p:nvPr/>
        </p:nvSpPr>
        <p:spPr>
          <a:xfrm>
            <a:off x="517525" y="5043488"/>
            <a:ext cx="49180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采用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定长 </a:t>
            </a:r>
            <a:r>
              <a:rPr lang="zh-CN" altLang="en-US" sz="2800" dirty="0">
                <a:latin typeface="Times New Roman" panose="02020603050405020304" pitchFamily="18" charset="0"/>
              </a:rPr>
              <a:t>的机器周期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0127" name="Text Box 63"/>
          <p:cNvSpPr txBox="1"/>
          <p:nvPr/>
        </p:nvSpPr>
        <p:spPr>
          <a:xfrm>
            <a:off x="1050925" y="5661025"/>
            <a:ext cx="79184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以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最长 </a:t>
            </a:r>
            <a:r>
              <a:rPr lang="zh-CN" altLang="en-US" sz="2800" dirty="0">
                <a:latin typeface="Times New Roman" panose="02020603050405020304" pitchFamily="18" charset="0"/>
              </a:rPr>
              <a:t>的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微操作序列 </a:t>
            </a:r>
            <a:r>
              <a:rPr lang="zh-CN" altLang="en-US" sz="2800" dirty="0">
                <a:latin typeface="Times New Roman" panose="02020603050405020304" pitchFamily="18" charset="0"/>
              </a:rPr>
              <a:t>和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最繁 </a:t>
            </a:r>
            <a:r>
              <a:rPr lang="zh-CN" altLang="en-US" sz="2800" dirty="0">
                <a:latin typeface="Times New Roman" panose="02020603050405020304" pitchFamily="18" charset="0"/>
              </a:rPr>
              <a:t>的微操作作为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标准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0128" name="Rectangle 6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0129" name="Text Box 65"/>
          <p:cNvSpPr txBox="1"/>
          <p:nvPr/>
        </p:nvSpPr>
        <p:spPr>
          <a:xfrm>
            <a:off x="1050925" y="6272213"/>
            <a:ext cx="50339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机器周期内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节拍数相同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1" name="AutoShape 66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0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0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67" grpId="0"/>
      <p:bldP spid="600068" grpId="0"/>
      <p:bldP spid="600069" grpId="0"/>
      <p:bldP spid="600070" grpId="0"/>
      <p:bldP spid="600126" grpId="0"/>
      <p:bldP spid="600127" grpId="0"/>
      <p:bldP spid="6001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Text Box 2"/>
          <p:cNvSpPr txBox="1"/>
          <p:nvPr/>
        </p:nvSpPr>
        <p:spPr>
          <a:xfrm>
            <a:off x="517525" y="411163"/>
            <a:ext cx="58547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(2) 采用不定长的机器周期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601091" name="Group 3"/>
          <p:cNvGrpSpPr/>
          <p:nvPr/>
        </p:nvGrpSpPr>
        <p:grpSpPr>
          <a:xfrm>
            <a:off x="1360488" y="2416175"/>
            <a:ext cx="4278312" cy="1539875"/>
            <a:chOff x="857" y="1142"/>
            <a:chExt cx="2695" cy="970"/>
          </a:xfrm>
        </p:grpSpPr>
        <p:sp>
          <p:nvSpPr>
            <p:cNvPr id="28714" name="Freeform 4"/>
            <p:cNvSpPr/>
            <p:nvPr/>
          </p:nvSpPr>
          <p:spPr>
            <a:xfrm>
              <a:off x="857" y="1389"/>
              <a:ext cx="2684" cy="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84" y="3"/>
                </a:cxn>
              </a:cxnLst>
              <a:pathLst>
                <a:path w="2684" h="3">
                  <a:moveTo>
                    <a:pt x="0" y="0"/>
                  </a:moveTo>
                  <a:lnTo>
                    <a:pt x="2684" y="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15" name="Line 5"/>
            <p:cNvSpPr/>
            <p:nvPr/>
          </p:nvSpPr>
          <p:spPr>
            <a:xfrm>
              <a:off x="1241" y="1341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6" name="Line 6"/>
            <p:cNvSpPr/>
            <p:nvPr/>
          </p:nvSpPr>
          <p:spPr>
            <a:xfrm>
              <a:off x="1625" y="1341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7" name="Line 7"/>
            <p:cNvSpPr/>
            <p:nvPr/>
          </p:nvSpPr>
          <p:spPr>
            <a:xfrm>
              <a:off x="2009" y="1341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18" name="Freeform 8"/>
            <p:cNvSpPr/>
            <p:nvPr/>
          </p:nvSpPr>
          <p:spPr>
            <a:xfrm>
              <a:off x="2393" y="1341"/>
              <a:ext cx="1" cy="4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447"/>
                </a:cxn>
              </a:cxnLst>
              <a:pathLst>
                <a:path w="1" h="447">
                  <a:moveTo>
                    <a:pt x="0" y="0"/>
                  </a:moveTo>
                  <a:lnTo>
                    <a:pt x="1" y="447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19" name="Line 9"/>
            <p:cNvSpPr/>
            <p:nvPr/>
          </p:nvSpPr>
          <p:spPr>
            <a:xfrm>
              <a:off x="2777" y="1341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0" name="Line 10"/>
            <p:cNvSpPr/>
            <p:nvPr/>
          </p:nvSpPr>
          <p:spPr>
            <a:xfrm>
              <a:off x="3161" y="1341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1" name="Line 11"/>
            <p:cNvSpPr/>
            <p:nvPr/>
          </p:nvSpPr>
          <p:spPr>
            <a:xfrm>
              <a:off x="3545" y="1341"/>
              <a:ext cx="0" cy="72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2" name="Line 12"/>
            <p:cNvSpPr/>
            <p:nvPr/>
          </p:nvSpPr>
          <p:spPr>
            <a:xfrm>
              <a:off x="857" y="1341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3" name="Line 13"/>
            <p:cNvSpPr/>
            <p:nvPr/>
          </p:nvSpPr>
          <p:spPr>
            <a:xfrm flipH="1">
              <a:off x="857" y="1581"/>
              <a:ext cx="33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24" name="Text Box 14"/>
            <p:cNvSpPr txBox="1"/>
            <p:nvPr/>
          </p:nvSpPr>
          <p:spPr>
            <a:xfrm>
              <a:off x="1241" y="1437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25" name="Line 15"/>
            <p:cNvSpPr/>
            <p:nvPr/>
          </p:nvSpPr>
          <p:spPr>
            <a:xfrm rot="-10800000" flipH="1">
              <a:off x="2057" y="1581"/>
              <a:ext cx="33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26" name="Line 16"/>
            <p:cNvSpPr/>
            <p:nvPr/>
          </p:nvSpPr>
          <p:spPr>
            <a:xfrm flipH="1">
              <a:off x="2393" y="1581"/>
              <a:ext cx="199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27" name="Text Box 17"/>
            <p:cNvSpPr txBox="1"/>
            <p:nvPr/>
          </p:nvSpPr>
          <p:spPr>
            <a:xfrm>
              <a:off x="2593" y="1437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28" name="Line 18"/>
            <p:cNvSpPr/>
            <p:nvPr/>
          </p:nvSpPr>
          <p:spPr>
            <a:xfrm rot="-10800000" flipH="1">
              <a:off x="3353" y="1580"/>
              <a:ext cx="199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29" name="Text Box 19"/>
            <p:cNvSpPr txBox="1"/>
            <p:nvPr/>
          </p:nvSpPr>
          <p:spPr>
            <a:xfrm>
              <a:off x="1193" y="1619"/>
              <a:ext cx="9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30" name="Text Box 20"/>
            <p:cNvSpPr txBox="1"/>
            <p:nvPr/>
          </p:nvSpPr>
          <p:spPr>
            <a:xfrm>
              <a:off x="2393" y="1619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（执行指令）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31" name="Line 21"/>
            <p:cNvSpPr/>
            <p:nvPr/>
          </p:nvSpPr>
          <p:spPr>
            <a:xfrm flipH="1" flipV="1">
              <a:off x="857" y="1920"/>
              <a:ext cx="923" cy="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32" name="Text Box 22"/>
            <p:cNvSpPr txBox="1"/>
            <p:nvPr/>
          </p:nvSpPr>
          <p:spPr>
            <a:xfrm>
              <a:off x="1832" y="1814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指令周期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33" name="Freeform 23"/>
            <p:cNvSpPr/>
            <p:nvPr/>
          </p:nvSpPr>
          <p:spPr>
            <a:xfrm>
              <a:off x="2652" y="1920"/>
              <a:ext cx="89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91" y="0"/>
                </a:cxn>
              </a:cxnLst>
              <a:pathLst>
                <a:path w="891" h="1">
                  <a:moveTo>
                    <a:pt x="0" y="0"/>
                  </a:moveTo>
                  <a:lnTo>
                    <a:pt x="891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34" name="Text Box 24"/>
            <p:cNvSpPr txBox="1"/>
            <p:nvPr/>
          </p:nvSpPr>
          <p:spPr>
            <a:xfrm>
              <a:off x="953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5" name="Text Box 25"/>
            <p:cNvSpPr txBox="1"/>
            <p:nvPr/>
          </p:nvSpPr>
          <p:spPr>
            <a:xfrm>
              <a:off x="1312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6" name="Text Box 26"/>
            <p:cNvSpPr txBox="1"/>
            <p:nvPr/>
          </p:nvSpPr>
          <p:spPr>
            <a:xfrm>
              <a:off x="1683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7" name="Text Box 27"/>
            <p:cNvSpPr txBox="1"/>
            <p:nvPr/>
          </p:nvSpPr>
          <p:spPr>
            <a:xfrm>
              <a:off x="2032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8" name="Text Box 28"/>
            <p:cNvSpPr txBox="1"/>
            <p:nvPr/>
          </p:nvSpPr>
          <p:spPr>
            <a:xfrm>
              <a:off x="2479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39" name="Text Box 29"/>
            <p:cNvSpPr txBox="1"/>
            <p:nvPr/>
          </p:nvSpPr>
          <p:spPr>
            <a:xfrm>
              <a:off x="2838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40" name="Text Box 30"/>
            <p:cNvSpPr txBox="1"/>
            <p:nvPr/>
          </p:nvSpPr>
          <p:spPr>
            <a:xfrm>
              <a:off x="3209" y="1142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1119" name="Text Box 31"/>
          <p:cNvSpPr txBox="1"/>
          <p:nvPr/>
        </p:nvSpPr>
        <p:spPr>
          <a:xfrm>
            <a:off x="522288" y="2416175"/>
            <a:ext cx="86042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 节拍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(状态)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01120" name="Group 32"/>
          <p:cNvGrpSpPr/>
          <p:nvPr/>
        </p:nvGrpSpPr>
        <p:grpSpPr>
          <a:xfrm>
            <a:off x="1371600" y="4641850"/>
            <a:ext cx="6096000" cy="1524000"/>
            <a:chOff x="864" y="2544"/>
            <a:chExt cx="3840" cy="960"/>
          </a:xfrm>
        </p:grpSpPr>
        <p:sp>
          <p:nvSpPr>
            <p:cNvPr id="28681" name="Freeform 33"/>
            <p:cNvSpPr/>
            <p:nvPr/>
          </p:nvSpPr>
          <p:spPr>
            <a:xfrm>
              <a:off x="864" y="2781"/>
              <a:ext cx="3827" cy="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27" y="3"/>
                </a:cxn>
              </a:cxnLst>
              <a:pathLst>
                <a:path w="3827" h="3">
                  <a:moveTo>
                    <a:pt x="0" y="0"/>
                  </a:moveTo>
                  <a:lnTo>
                    <a:pt x="3827" y="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2" name="Line 34"/>
            <p:cNvSpPr/>
            <p:nvPr/>
          </p:nvSpPr>
          <p:spPr>
            <a:xfrm>
              <a:off x="1248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3" name="Line 35"/>
            <p:cNvSpPr/>
            <p:nvPr/>
          </p:nvSpPr>
          <p:spPr>
            <a:xfrm>
              <a:off x="1632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4" name="Line 36"/>
            <p:cNvSpPr/>
            <p:nvPr/>
          </p:nvSpPr>
          <p:spPr>
            <a:xfrm>
              <a:off x="2016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5" name="Line 37"/>
            <p:cNvSpPr/>
            <p:nvPr/>
          </p:nvSpPr>
          <p:spPr>
            <a:xfrm>
              <a:off x="2400" y="2733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6" name="Line 38"/>
            <p:cNvSpPr/>
            <p:nvPr/>
          </p:nvSpPr>
          <p:spPr>
            <a:xfrm>
              <a:off x="2784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7" name="Line 39"/>
            <p:cNvSpPr/>
            <p:nvPr/>
          </p:nvSpPr>
          <p:spPr>
            <a:xfrm>
              <a:off x="3168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8" name="Line 40"/>
            <p:cNvSpPr/>
            <p:nvPr/>
          </p:nvSpPr>
          <p:spPr>
            <a:xfrm>
              <a:off x="3552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89" name="Line 41"/>
            <p:cNvSpPr/>
            <p:nvPr/>
          </p:nvSpPr>
          <p:spPr>
            <a:xfrm>
              <a:off x="3936" y="2733"/>
              <a:ext cx="0" cy="3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0" name="Line 42"/>
            <p:cNvSpPr/>
            <p:nvPr/>
          </p:nvSpPr>
          <p:spPr>
            <a:xfrm>
              <a:off x="4320" y="2733"/>
              <a:ext cx="0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1" name="Line 43"/>
            <p:cNvSpPr/>
            <p:nvPr/>
          </p:nvSpPr>
          <p:spPr>
            <a:xfrm>
              <a:off x="4704" y="2733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2" name="Line 44"/>
            <p:cNvSpPr/>
            <p:nvPr/>
          </p:nvSpPr>
          <p:spPr>
            <a:xfrm>
              <a:off x="864" y="2733"/>
              <a:ext cx="0" cy="77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93" name="Line 45"/>
            <p:cNvSpPr/>
            <p:nvPr/>
          </p:nvSpPr>
          <p:spPr>
            <a:xfrm flipH="1">
              <a:off x="864" y="3216"/>
              <a:ext cx="33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94" name="Text Box 46"/>
            <p:cNvSpPr txBox="1"/>
            <p:nvPr/>
          </p:nvSpPr>
          <p:spPr>
            <a:xfrm>
              <a:off x="1248" y="3072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5" name="Line 47"/>
            <p:cNvSpPr/>
            <p:nvPr/>
          </p:nvSpPr>
          <p:spPr>
            <a:xfrm rot="-10800000" flipH="1">
              <a:off x="2064" y="3216"/>
              <a:ext cx="336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96" name="Freeform 48"/>
            <p:cNvSpPr/>
            <p:nvPr/>
          </p:nvSpPr>
          <p:spPr>
            <a:xfrm>
              <a:off x="2400" y="3216"/>
              <a:ext cx="726" cy="1"/>
            </a:xfrm>
            <a:custGeom>
              <a:avLst/>
              <a:gdLst/>
              <a:ahLst/>
              <a:cxnLst>
                <a:cxn ang="0">
                  <a:pos x="726" y="0"/>
                </a:cxn>
                <a:cxn ang="0">
                  <a:pos x="0" y="1"/>
                </a:cxn>
              </a:cxnLst>
              <a:pathLst>
                <a:path w="726" h="1">
                  <a:moveTo>
                    <a:pt x="726" y="0"/>
                  </a:moveTo>
                  <a:lnTo>
                    <a:pt x="0" y="1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7" name="Text Box 49"/>
            <p:cNvSpPr txBox="1"/>
            <p:nvPr/>
          </p:nvSpPr>
          <p:spPr>
            <a:xfrm>
              <a:off x="3211" y="3072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8" name="Freeform 50"/>
            <p:cNvSpPr/>
            <p:nvPr/>
          </p:nvSpPr>
          <p:spPr>
            <a:xfrm>
              <a:off x="4074" y="3216"/>
              <a:ext cx="6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30" y="0"/>
                </a:cxn>
              </a:cxnLst>
              <a:pathLst>
                <a:path w="630" h="1">
                  <a:moveTo>
                    <a:pt x="0" y="0"/>
                  </a:moveTo>
                  <a:lnTo>
                    <a:pt x="63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99" name="Line 51"/>
            <p:cNvSpPr/>
            <p:nvPr/>
          </p:nvSpPr>
          <p:spPr>
            <a:xfrm flipH="1">
              <a:off x="3936" y="2973"/>
              <a:ext cx="1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00" name="Line 52"/>
            <p:cNvSpPr/>
            <p:nvPr/>
          </p:nvSpPr>
          <p:spPr>
            <a:xfrm rot="-10800000" flipH="1">
              <a:off x="4512" y="2971"/>
              <a:ext cx="1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01" name="Text Box 53"/>
            <p:cNvSpPr txBox="1"/>
            <p:nvPr/>
          </p:nvSpPr>
          <p:spPr>
            <a:xfrm>
              <a:off x="1200" y="3254"/>
              <a:ext cx="9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（取指令）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2" name="Text Box 54"/>
            <p:cNvSpPr txBox="1"/>
            <p:nvPr/>
          </p:nvSpPr>
          <p:spPr>
            <a:xfrm>
              <a:off x="3072" y="3254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（执行指令）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3" name="Text Box 55"/>
            <p:cNvSpPr txBox="1"/>
            <p:nvPr/>
          </p:nvSpPr>
          <p:spPr>
            <a:xfrm>
              <a:off x="950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4" name="Text Box 56"/>
            <p:cNvSpPr txBox="1"/>
            <p:nvPr/>
          </p:nvSpPr>
          <p:spPr>
            <a:xfrm>
              <a:off x="1309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5" name="Text Box 57"/>
            <p:cNvSpPr txBox="1"/>
            <p:nvPr/>
          </p:nvSpPr>
          <p:spPr>
            <a:xfrm>
              <a:off x="1680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6" name="Text Box 58"/>
            <p:cNvSpPr txBox="1"/>
            <p:nvPr/>
          </p:nvSpPr>
          <p:spPr>
            <a:xfrm>
              <a:off x="2029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7" name="Text Box 59"/>
            <p:cNvSpPr txBox="1"/>
            <p:nvPr/>
          </p:nvSpPr>
          <p:spPr>
            <a:xfrm>
              <a:off x="2486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8" name="Text Box 60"/>
            <p:cNvSpPr txBox="1"/>
            <p:nvPr/>
          </p:nvSpPr>
          <p:spPr>
            <a:xfrm>
              <a:off x="2845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9" name="Text Box 61"/>
            <p:cNvSpPr txBox="1"/>
            <p:nvPr/>
          </p:nvSpPr>
          <p:spPr>
            <a:xfrm>
              <a:off x="3216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0" name="Text Box 62"/>
            <p:cNvSpPr txBox="1"/>
            <p:nvPr/>
          </p:nvSpPr>
          <p:spPr>
            <a:xfrm>
              <a:off x="3565" y="25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1" name="Text Box 63"/>
            <p:cNvSpPr txBox="1"/>
            <p:nvPr/>
          </p:nvSpPr>
          <p:spPr>
            <a:xfrm>
              <a:off x="4032" y="2544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000" i="1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2" name="Text Box 64"/>
            <p:cNvSpPr txBox="1"/>
            <p:nvPr/>
          </p:nvSpPr>
          <p:spPr>
            <a:xfrm>
              <a:off x="4391" y="2544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2000" i="1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3" name="Text Box 65"/>
            <p:cNvSpPr txBox="1"/>
            <p:nvPr/>
          </p:nvSpPr>
          <p:spPr>
            <a:xfrm>
              <a:off x="4128" y="2878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延长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01154" name="Rectangle 66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1155" name="Text Box 67"/>
          <p:cNvSpPr txBox="1"/>
          <p:nvPr/>
        </p:nvSpPr>
        <p:spPr>
          <a:xfrm>
            <a:off x="1122363" y="1341438"/>
            <a:ext cx="50339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机器周期内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节拍数不等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0" name="AutoShape 6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0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0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119" grpId="0"/>
      <p:bldP spid="6011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Text Box 2"/>
          <p:cNvSpPr txBox="1"/>
          <p:nvPr/>
        </p:nvSpPr>
        <p:spPr>
          <a:xfrm>
            <a:off x="152400" y="381000"/>
            <a:ext cx="7694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(3) 采用中央控制和局部控制相结合的方法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02115" name="Freeform 3"/>
          <p:cNvSpPr/>
          <p:nvPr/>
        </p:nvSpPr>
        <p:spPr>
          <a:xfrm>
            <a:off x="4724400" y="4167188"/>
            <a:ext cx="1588" cy="1200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05238125"/>
              </a:cxn>
            </a:cxnLst>
            <a:pathLst>
              <a:path w="1" h="756">
                <a:moveTo>
                  <a:pt x="0" y="0"/>
                </a:moveTo>
                <a:lnTo>
                  <a:pt x="0" y="756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2116" name="Freeform 4"/>
          <p:cNvSpPr/>
          <p:nvPr/>
        </p:nvSpPr>
        <p:spPr>
          <a:xfrm>
            <a:off x="7158038" y="4160838"/>
            <a:ext cx="1587" cy="11890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18569" y="1887595444"/>
              </a:cxn>
            </a:cxnLst>
            <a:pathLst>
              <a:path w="1" h="749">
                <a:moveTo>
                  <a:pt x="0" y="0"/>
                </a:moveTo>
                <a:lnTo>
                  <a:pt x="1" y="749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2117" name="Freeform 5"/>
          <p:cNvSpPr/>
          <p:nvPr/>
        </p:nvSpPr>
        <p:spPr>
          <a:xfrm>
            <a:off x="7767638" y="3336925"/>
            <a:ext cx="4762" cy="1135063"/>
          </a:xfrm>
          <a:custGeom>
            <a:avLst/>
            <a:gdLst/>
            <a:ahLst/>
            <a:cxnLst>
              <a:cxn ang="0">
                <a:pos x="7558881" y="0"/>
              </a:cxn>
              <a:cxn ang="0">
                <a:pos x="0" y="1801913306"/>
              </a:cxn>
            </a:cxnLst>
            <a:pathLst>
              <a:path w="3" h="715">
                <a:moveTo>
                  <a:pt x="3" y="0"/>
                </a:moveTo>
                <a:lnTo>
                  <a:pt x="0" y="715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02118" name="Freeform 6"/>
          <p:cNvSpPr/>
          <p:nvPr/>
        </p:nvSpPr>
        <p:spPr>
          <a:xfrm>
            <a:off x="452438" y="3332163"/>
            <a:ext cx="4762" cy="1077912"/>
          </a:xfrm>
          <a:custGeom>
            <a:avLst/>
            <a:gdLst/>
            <a:ahLst/>
            <a:cxnLst>
              <a:cxn ang="0">
                <a:pos x="7558881" y="0"/>
              </a:cxn>
              <a:cxn ang="0">
                <a:pos x="0" y="1711184506"/>
              </a:cxn>
            </a:cxnLst>
            <a:pathLst>
              <a:path w="3" h="679">
                <a:moveTo>
                  <a:pt x="3" y="0"/>
                </a:moveTo>
                <a:lnTo>
                  <a:pt x="0" y="679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602119" name="Group 7"/>
          <p:cNvGrpSpPr/>
          <p:nvPr/>
        </p:nvGrpSpPr>
        <p:grpSpPr>
          <a:xfrm>
            <a:off x="441325" y="4098925"/>
            <a:ext cx="4283075" cy="914400"/>
            <a:chOff x="278" y="2582"/>
            <a:chExt cx="2698" cy="576"/>
          </a:xfrm>
        </p:grpSpPr>
        <p:grpSp>
          <p:nvGrpSpPr>
            <p:cNvPr id="29762" name="Group 8"/>
            <p:cNvGrpSpPr/>
            <p:nvPr/>
          </p:nvGrpSpPr>
          <p:grpSpPr>
            <a:xfrm>
              <a:off x="288" y="2582"/>
              <a:ext cx="2688" cy="250"/>
              <a:chOff x="288" y="2582"/>
              <a:chExt cx="2688" cy="250"/>
            </a:xfrm>
          </p:grpSpPr>
          <p:sp>
            <p:nvSpPr>
              <p:cNvPr id="29764" name="Freeform 9"/>
              <p:cNvSpPr/>
              <p:nvPr/>
            </p:nvSpPr>
            <p:spPr>
              <a:xfrm>
                <a:off x="288" y="2829"/>
                <a:ext cx="2684" cy="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84" y="3"/>
                  </a:cxn>
                </a:cxnLst>
                <a:pathLst>
                  <a:path w="2684" h="3">
                    <a:moveTo>
                      <a:pt x="0" y="0"/>
                    </a:moveTo>
                    <a:lnTo>
                      <a:pt x="2684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65" name="Line 10"/>
              <p:cNvSpPr/>
              <p:nvPr/>
            </p:nvSpPr>
            <p:spPr>
              <a:xfrm>
                <a:off x="672" y="2781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6" name="Line 11"/>
              <p:cNvSpPr/>
              <p:nvPr/>
            </p:nvSpPr>
            <p:spPr>
              <a:xfrm>
                <a:off x="1056" y="2781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7" name="Line 12"/>
              <p:cNvSpPr/>
              <p:nvPr/>
            </p:nvSpPr>
            <p:spPr>
              <a:xfrm>
                <a:off x="1440" y="2781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8" name="Line 13"/>
              <p:cNvSpPr/>
              <p:nvPr/>
            </p:nvSpPr>
            <p:spPr>
              <a:xfrm>
                <a:off x="2208" y="2781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69" name="Line 14"/>
              <p:cNvSpPr/>
              <p:nvPr/>
            </p:nvSpPr>
            <p:spPr>
              <a:xfrm>
                <a:off x="2592" y="2781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70" name="Text Box 15"/>
              <p:cNvSpPr txBox="1"/>
              <p:nvPr/>
            </p:nvSpPr>
            <p:spPr>
              <a:xfrm>
                <a:off x="349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1" name="Text Box 16"/>
              <p:cNvSpPr txBox="1"/>
              <p:nvPr/>
            </p:nvSpPr>
            <p:spPr>
              <a:xfrm>
                <a:off x="733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2" name="Text Box 17"/>
              <p:cNvSpPr txBox="1"/>
              <p:nvPr/>
            </p:nvSpPr>
            <p:spPr>
              <a:xfrm>
                <a:off x="1104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3" name="Text Box 18"/>
              <p:cNvSpPr txBox="1"/>
              <p:nvPr/>
            </p:nvSpPr>
            <p:spPr>
              <a:xfrm>
                <a:off x="1488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4" name="Text Box 19"/>
              <p:cNvSpPr txBox="1"/>
              <p:nvPr/>
            </p:nvSpPr>
            <p:spPr>
              <a:xfrm>
                <a:off x="1888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5" name="Text Box 20"/>
              <p:cNvSpPr txBox="1"/>
              <p:nvPr/>
            </p:nvSpPr>
            <p:spPr>
              <a:xfrm>
                <a:off x="2264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6" name="Text Box 21"/>
              <p:cNvSpPr txBox="1"/>
              <p:nvPr/>
            </p:nvSpPr>
            <p:spPr>
              <a:xfrm>
                <a:off x="2640" y="2582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7" name="Line 22"/>
              <p:cNvSpPr/>
              <p:nvPr/>
            </p:nvSpPr>
            <p:spPr>
              <a:xfrm>
                <a:off x="1824" y="2784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78" name="Line 23"/>
              <p:cNvSpPr/>
              <p:nvPr/>
            </p:nvSpPr>
            <p:spPr>
              <a:xfrm>
                <a:off x="2976" y="2784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79" name="Line 24"/>
              <p:cNvSpPr/>
              <p:nvPr/>
            </p:nvSpPr>
            <p:spPr>
              <a:xfrm>
                <a:off x="288" y="2784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9763" name="Text Box 25"/>
            <p:cNvSpPr txBox="1"/>
            <p:nvPr/>
          </p:nvSpPr>
          <p:spPr>
            <a:xfrm>
              <a:off x="278" y="2908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中央控制节拍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2153" name="Group 41"/>
          <p:cNvGrpSpPr/>
          <p:nvPr/>
        </p:nvGrpSpPr>
        <p:grpSpPr>
          <a:xfrm>
            <a:off x="7161213" y="4152900"/>
            <a:ext cx="1851025" cy="860425"/>
            <a:chOff x="4511" y="2616"/>
            <a:chExt cx="1166" cy="542"/>
          </a:xfrm>
        </p:grpSpPr>
        <p:grpSp>
          <p:nvGrpSpPr>
            <p:cNvPr id="29752" name="Group 42"/>
            <p:cNvGrpSpPr/>
            <p:nvPr/>
          </p:nvGrpSpPr>
          <p:grpSpPr>
            <a:xfrm>
              <a:off x="4511" y="2616"/>
              <a:ext cx="1166" cy="254"/>
              <a:chOff x="4800" y="1488"/>
              <a:chExt cx="1166" cy="254"/>
            </a:xfrm>
          </p:grpSpPr>
          <p:sp>
            <p:nvSpPr>
              <p:cNvPr id="29754" name="Freeform 43"/>
              <p:cNvSpPr/>
              <p:nvPr/>
            </p:nvSpPr>
            <p:spPr>
              <a:xfrm>
                <a:off x="4802" y="1741"/>
                <a:ext cx="1164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64" y="0"/>
                  </a:cxn>
                </a:cxnLst>
                <a:pathLst>
                  <a:path w="1164" h="1">
                    <a:moveTo>
                      <a:pt x="0" y="0"/>
                    </a:moveTo>
                    <a:lnTo>
                      <a:pt x="1164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55" name="Line 44"/>
              <p:cNvSpPr/>
              <p:nvPr/>
            </p:nvSpPr>
            <p:spPr>
              <a:xfrm>
                <a:off x="4800" y="1687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6" name="Line 45"/>
              <p:cNvSpPr/>
              <p:nvPr/>
            </p:nvSpPr>
            <p:spPr>
              <a:xfrm>
                <a:off x="5568" y="1687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7" name="Line 46"/>
              <p:cNvSpPr/>
              <p:nvPr/>
            </p:nvSpPr>
            <p:spPr>
              <a:xfrm>
                <a:off x="5952" y="1687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58" name="Text Box 47"/>
              <p:cNvSpPr txBox="1"/>
              <p:nvPr/>
            </p:nvSpPr>
            <p:spPr>
              <a:xfrm>
                <a:off x="4823" y="1488"/>
                <a:ext cx="30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9" name="Text Box 48"/>
              <p:cNvSpPr txBox="1"/>
              <p:nvPr/>
            </p:nvSpPr>
            <p:spPr>
              <a:xfrm>
                <a:off x="5270" y="1488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0" name="Text Box 49"/>
              <p:cNvSpPr txBox="1"/>
              <p:nvPr/>
            </p:nvSpPr>
            <p:spPr>
              <a:xfrm>
                <a:off x="5629" y="1488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1" name="Line 50"/>
              <p:cNvSpPr/>
              <p:nvPr/>
            </p:nvSpPr>
            <p:spPr>
              <a:xfrm>
                <a:off x="5184" y="1690"/>
                <a:ext cx="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9753" name="Text Box 51"/>
            <p:cNvSpPr txBox="1"/>
            <p:nvPr/>
          </p:nvSpPr>
          <p:spPr>
            <a:xfrm>
              <a:off x="4512" y="2908"/>
              <a:ext cx="10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中央控制节拍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02164" name="Group 52"/>
          <p:cNvGrpSpPr/>
          <p:nvPr/>
        </p:nvGrpSpPr>
        <p:grpSpPr>
          <a:xfrm>
            <a:off x="457200" y="1600200"/>
            <a:ext cx="7316788" cy="1976438"/>
            <a:chOff x="288" y="1008"/>
            <a:chExt cx="4609" cy="1245"/>
          </a:xfrm>
        </p:grpSpPr>
        <p:sp>
          <p:nvSpPr>
            <p:cNvPr id="29726" name="Freeform 53"/>
            <p:cNvSpPr/>
            <p:nvPr/>
          </p:nvSpPr>
          <p:spPr>
            <a:xfrm>
              <a:off x="1823" y="1014"/>
              <a:ext cx="1" cy="8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848"/>
                </a:cxn>
              </a:cxnLst>
              <a:pathLst>
                <a:path w="1" h="848">
                  <a:moveTo>
                    <a:pt x="0" y="0"/>
                  </a:moveTo>
                  <a:lnTo>
                    <a:pt x="1" y="84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9727" name="Group 54"/>
            <p:cNvGrpSpPr/>
            <p:nvPr/>
          </p:nvGrpSpPr>
          <p:grpSpPr>
            <a:xfrm>
              <a:off x="288" y="1008"/>
              <a:ext cx="4609" cy="1245"/>
              <a:chOff x="288" y="1008"/>
              <a:chExt cx="4609" cy="1245"/>
            </a:xfrm>
          </p:grpSpPr>
          <p:grpSp>
            <p:nvGrpSpPr>
              <p:cNvPr id="29728" name="Group 55"/>
              <p:cNvGrpSpPr/>
              <p:nvPr/>
            </p:nvGrpSpPr>
            <p:grpSpPr>
              <a:xfrm>
                <a:off x="288" y="1008"/>
                <a:ext cx="4609" cy="1245"/>
                <a:chOff x="288" y="1008"/>
                <a:chExt cx="4609" cy="1245"/>
              </a:xfrm>
            </p:grpSpPr>
            <p:sp>
              <p:nvSpPr>
                <p:cNvPr id="29733" name="Line 56"/>
                <p:cNvSpPr/>
                <p:nvPr/>
              </p:nvSpPr>
              <p:spPr>
                <a:xfrm>
                  <a:off x="288" y="1571"/>
                  <a:ext cx="4608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34" name="Line 57"/>
                <p:cNvSpPr/>
                <p:nvPr/>
              </p:nvSpPr>
              <p:spPr>
                <a:xfrm>
                  <a:off x="672" y="1523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35" name="Line 58"/>
                <p:cNvSpPr/>
                <p:nvPr/>
              </p:nvSpPr>
              <p:spPr>
                <a:xfrm>
                  <a:off x="1056" y="1523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36" name="Line 59"/>
                <p:cNvSpPr/>
                <p:nvPr/>
              </p:nvSpPr>
              <p:spPr>
                <a:xfrm>
                  <a:off x="1440" y="1523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37" name="Freeform 60"/>
                <p:cNvSpPr/>
                <p:nvPr/>
              </p:nvSpPr>
              <p:spPr>
                <a:xfrm>
                  <a:off x="4896" y="1008"/>
                  <a:ext cx="1" cy="114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145"/>
                    </a:cxn>
                  </a:cxnLst>
                  <a:pathLst>
                    <a:path w="1" h="1145">
                      <a:moveTo>
                        <a:pt x="0" y="0"/>
                      </a:moveTo>
                      <a:lnTo>
                        <a:pt x="1" y="1145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9738" name="Freeform 61"/>
                <p:cNvSpPr/>
                <p:nvPr/>
              </p:nvSpPr>
              <p:spPr>
                <a:xfrm>
                  <a:off x="288" y="1014"/>
                  <a:ext cx="1" cy="84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848"/>
                    </a:cxn>
                  </a:cxnLst>
                  <a:pathLst>
                    <a:path w="1" h="848">
                      <a:moveTo>
                        <a:pt x="0" y="0"/>
                      </a:moveTo>
                      <a:lnTo>
                        <a:pt x="1" y="84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9739" name="Line 62"/>
                <p:cNvSpPr/>
                <p:nvPr/>
              </p:nvSpPr>
              <p:spPr>
                <a:xfrm flipH="1">
                  <a:off x="288" y="1763"/>
                  <a:ext cx="33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0" name="Text Box 63"/>
                <p:cNvSpPr txBox="1"/>
                <p:nvPr/>
              </p:nvSpPr>
              <p:spPr>
                <a:xfrm>
                  <a:off x="672" y="1619"/>
                  <a:ext cx="75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latin typeface="Times New Roman" panose="02020603050405020304" pitchFamily="18" charset="0"/>
                    </a:rPr>
                    <a:t>机器周期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41" name="Line 64"/>
                <p:cNvSpPr/>
                <p:nvPr/>
              </p:nvSpPr>
              <p:spPr>
                <a:xfrm rot="-10800000" flipH="1">
                  <a:off x="1488" y="1763"/>
                  <a:ext cx="33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2" name="Line 65"/>
                <p:cNvSpPr/>
                <p:nvPr/>
              </p:nvSpPr>
              <p:spPr>
                <a:xfrm flipH="1">
                  <a:off x="1824" y="1200"/>
                  <a:ext cx="97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3" name="Text Box 66"/>
                <p:cNvSpPr txBox="1"/>
                <p:nvPr/>
              </p:nvSpPr>
              <p:spPr>
                <a:xfrm>
                  <a:off x="2984" y="1056"/>
                  <a:ext cx="75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latin typeface="Times New Roman" panose="02020603050405020304" pitchFamily="18" charset="0"/>
                    </a:rPr>
                    <a:t>执行周期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44" name="Line 67"/>
                <p:cNvSpPr/>
                <p:nvPr/>
              </p:nvSpPr>
              <p:spPr>
                <a:xfrm rot="-10800000" flipH="1">
                  <a:off x="3924" y="1200"/>
                  <a:ext cx="97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5" name="Line 68"/>
                <p:cNvSpPr/>
                <p:nvPr/>
              </p:nvSpPr>
              <p:spPr>
                <a:xfrm flipH="1">
                  <a:off x="288" y="2099"/>
                  <a:ext cx="1734" cy="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6" name="Line 69"/>
                <p:cNvSpPr/>
                <p:nvPr/>
              </p:nvSpPr>
              <p:spPr>
                <a:xfrm rot="-10800000" flipH="1">
                  <a:off x="3157" y="2094"/>
                  <a:ext cx="1734" cy="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7" name="Text Box 70"/>
                <p:cNvSpPr txBox="1"/>
                <p:nvPr/>
              </p:nvSpPr>
              <p:spPr>
                <a:xfrm>
                  <a:off x="2216" y="2003"/>
                  <a:ext cx="75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指令周期</a:t>
                  </a:r>
                  <a:endPara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48" name="Line 71"/>
                <p:cNvSpPr/>
                <p:nvPr/>
              </p:nvSpPr>
              <p:spPr>
                <a:xfrm flipH="1">
                  <a:off x="288" y="1200"/>
                  <a:ext cx="33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49" name="Text Box 72"/>
                <p:cNvSpPr txBox="1"/>
                <p:nvPr/>
              </p:nvSpPr>
              <p:spPr>
                <a:xfrm>
                  <a:off x="672" y="1056"/>
                  <a:ext cx="75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latin typeface="Times New Roman" panose="02020603050405020304" pitchFamily="18" charset="0"/>
                    </a:rPr>
                    <a:t>取指周期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50" name="Line 73"/>
                <p:cNvSpPr/>
                <p:nvPr/>
              </p:nvSpPr>
              <p:spPr>
                <a:xfrm rot="-10800000" flipH="1">
                  <a:off x="1488" y="1200"/>
                  <a:ext cx="33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51" name="Line 74"/>
                <p:cNvSpPr/>
                <p:nvPr/>
              </p:nvSpPr>
              <p:spPr>
                <a:xfrm>
                  <a:off x="288" y="2006"/>
                  <a:ext cx="0" cy="24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9729" name="Text Box 75"/>
              <p:cNvSpPr txBox="1"/>
              <p:nvPr/>
            </p:nvSpPr>
            <p:spPr>
              <a:xfrm>
                <a:off x="349" y="1334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0" name="Text Box 76"/>
              <p:cNvSpPr txBox="1"/>
              <p:nvPr/>
            </p:nvSpPr>
            <p:spPr>
              <a:xfrm>
                <a:off x="733" y="1344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1" name="Text Box 77"/>
              <p:cNvSpPr txBox="1"/>
              <p:nvPr/>
            </p:nvSpPr>
            <p:spPr>
              <a:xfrm>
                <a:off x="1104" y="1344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2" name="Text Box 78"/>
              <p:cNvSpPr txBox="1"/>
              <p:nvPr/>
            </p:nvSpPr>
            <p:spPr>
              <a:xfrm>
                <a:off x="1488" y="1344"/>
                <a:ext cx="26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02191" name="Rectangle 79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2192" name="Text Box 80"/>
          <p:cNvSpPr txBox="1"/>
          <p:nvPr/>
        </p:nvSpPr>
        <p:spPr>
          <a:xfrm>
            <a:off x="457200" y="5334000"/>
            <a:ext cx="4495800" cy="930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局部控制的节拍宽度与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中央控制的节拍宽度一致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29708" name="AutoShape 8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02201" name="Group 89"/>
          <p:cNvGrpSpPr/>
          <p:nvPr/>
        </p:nvGrpSpPr>
        <p:grpSpPr>
          <a:xfrm>
            <a:off x="4727575" y="5065713"/>
            <a:ext cx="2438400" cy="877887"/>
            <a:chOff x="2978" y="3191"/>
            <a:chExt cx="1536" cy="553"/>
          </a:xfrm>
        </p:grpSpPr>
        <p:grpSp>
          <p:nvGrpSpPr>
            <p:cNvPr id="29710" name="Group 88"/>
            <p:cNvGrpSpPr/>
            <p:nvPr/>
          </p:nvGrpSpPr>
          <p:grpSpPr>
            <a:xfrm>
              <a:off x="2978" y="3191"/>
              <a:ext cx="1536" cy="553"/>
              <a:chOff x="2978" y="3191"/>
              <a:chExt cx="1536" cy="553"/>
            </a:xfrm>
          </p:grpSpPr>
          <p:grpSp>
            <p:nvGrpSpPr>
              <p:cNvPr id="29712" name="Group 87"/>
              <p:cNvGrpSpPr/>
              <p:nvPr/>
            </p:nvGrpSpPr>
            <p:grpSpPr>
              <a:xfrm>
                <a:off x="2978" y="3191"/>
                <a:ext cx="1536" cy="255"/>
                <a:chOff x="2978" y="3191"/>
                <a:chExt cx="1536" cy="255"/>
              </a:xfrm>
            </p:grpSpPr>
            <p:sp>
              <p:nvSpPr>
                <p:cNvPr id="29714" name="Text Box 32"/>
                <p:cNvSpPr txBox="1"/>
                <p:nvPr/>
              </p:nvSpPr>
              <p:spPr>
                <a:xfrm>
                  <a:off x="3451" y="3192"/>
                  <a:ext cx="27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400" baseline="30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*</a:t>
                  </a:r>
                  <a:endPara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15" name="Freeform 28"/>
                <p:cNvSpPr/>
                <p:nvPr/>
              </p:nvSpPr>
              <p:spPr>
                <a:xfrm>
                  <a:off x="2978" y="3440"/>
                  <a:ext cx="816" cy="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864" y="0"/>
                    </a:cxn>
                  </a:cxnLst>
                  <a:pathLst>
                    <a:path w="771" h="3">
                      <a:moveTo>
                        <a:pt x="0" y="3"/>
                      </a:moveTo>
                      <a:lnTo>
                        <a:pt x="771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9716" name="Line 29"/>
                <p:cNvSpPr/>
                <p:nvPr/>
              </p:nvSpPr>
              <p:spPr>
                <a:xfrm>
                  <a:off x="2981" y="3398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17" name="Line 30"/>
                <p:cNvSpPr/>
                <p:nvPr/>
              </p:nvSpPr>
              <p:spPr>
                <a:xfrm>
                  <a:off x="3749" y="3398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18" name="Text Box 31"/>
                <p:cNvSpPr txBox="1"/>
                <p:nvPr/>
              </p:nvSpPr>
              <p:spPr>
                <a:xfrm>
                  <a:off x="3004" y="3192"/>
                  <a:ext cx="27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400" baseline="30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*</a:t>
                  </a:r>
                  <a:endParaRPr lang="en-US" altLang="zh-CN" sz="2000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19" name="Line 33"/>
                <p:cNvSpPr/>
                <p:nvPr/>
              </p:nvSpPr>
              <p:spPr>
                <a:xfrm>
                  <a:off x="3365" y="3394"/>
                  <a:ext cx="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20" name="Text Box 34"/>
                <p:cNvSpPr txBox="1"/>
                <p:nvPr/>
              </p:nvSpPr>
              <p:spPr>
                <a:xfrm>
                  <a:off x="4230" y="3191"/>
                  <a:ext cx="278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400" baseline="30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*</a:t>
                  </a:r>
                  <a:endParaRPr lang="en-US" altLang="zh-CN" sz="2400" baseline="30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9721" name="Group 86"/>
                <p:cNvGrpSpPr/>
                <p:nvPr/>
              </p:nvGrpSpPr>
              <p:grpSpPr>
                <a:xfrm>
                  <a:off x="4072" y="3393"/>
                  <a:ext cx="442" cy="53"/>
                  <a:chOff x="4072" y="3393"/>
                  <a:chExt cx="442" cy="53"/>
                </a:xfrm>
              </p:grpSpPr>
              <p:sp>
                <p:nvSpPr>
                  <p:cNvPr id="29723" name="Freeform 36"/>
                  <p:cNvSpPr/>
                  <p:nvPr/>
                </p:nvSpPr>
                <p:spPr>
                  <a:xfrm>
                    <a:off x="4072" y="3445"/>
                    <a:ext cx="442" cy="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505" y="0"/>
                      </a:cxn>
                    </a:cxnLst>
                    <a:pathLst>
                      <a:path w="387" h="1">
                        <a:moveTo>
                          <a:pt x="0" y="0"/>
                        </a:moveTo>
                        <a:lnTo>
                          <a:pt x="387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29724" name="Line 37"/>
                  <p:cNvSpPr/>
                  <p:nvPr/>
                </p:nvSpPr>
                <p:spPr>
                  <a:xfrm>
                    <a:off x="4121" y="3397"/>
                    <a:ext cx="0" cy="4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725" name="Line 38"/>
                  <p:cNvSpPr/>
                  <p:nvPr/>
                </p:nvSpPr>
                <p:spPr>
                  <a:xfrm>
                    <a:off x="4505" y="3393"/>
                    <a:ext cx="0" cy="48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722" name="Line 39"/>
                <p:cNvSpPr/>
                <p:nvPr/>
              </p:nvSpPr>
              <p:spPr>
                <a:xfrm>
                  <a:off x="3749" y="3441"/>
                  <a:ext cx="384" cy="0"/>
                </a:xfrm>
                <a:prstGeom prst="line">
                  <a:avLst/>
                </a:prstGeom>
                <a:ln w="28575">
                  <a:noFill/>
                </a:ln>
              </p:spPr>
            </p:sp>
          </p:grpSp>
          <p:sp>
            <p:nvSpPr>
              <p:cNvPr id="29713" name="Text Box 40"/>
              <p:cNvSpPr txBox="1"/>
              <p:nvPr/>
            </p:nvSpPr>
            <p:spPr>
              <a:xfrm>
                <a:off x="3190" y="3494"/>
                <a:ext cx="108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局部控制节拍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11" name="Text Box 82"/>
            <p:cNvSpPr txBox="1"/>
            <p:nvPr/>
          </p:nvSpPr>
          <p:spPr>
            <a:xfrm>
              <a:off x="3777" y="3240"/>
              <a:ext cx="4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</a:rPr>
                <a:t>…</a:t>
              </a:r>
              <a:endParaRPr lang="en-US" altLang="zh-CN" sz="2400" dirty="0">
                <a:latin typeface="等线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0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0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0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60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0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60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0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60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9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288925" y="323850"/>
            <a:ext cx="35210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2. 异步控制方式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03139" name="Text Box 3"/>
          <p:cNvSpPr txBox="1"/>
          <p:nvPr/>
        </p:nvSpPr>
        <p:spPr>
          <a:xfrm>
            <a:off x="1127125" y="981075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无基准时标信号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3140" name="Text Box 4"/>
          <p:cNvSpPr txBox="1"/>
          <p:nvPr/>
        </p:nvSpPr>
        <p:spPr>
          <a:xfrm>
            <a:off x="1127125" y="1577975"/>
            <a:ext cx="5899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无固定的周期节拍和严格的时钟同步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3141" name="Text Box 5"/>
          <p:cNvSpPr txBox="1"/>
          <p:nvPr/>
        </p:nvSpPr>
        <p:spPr>
          <a:xfrm>
            <a:off x="1127125" y="2176463"/>
            <a:ext cx="3216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采用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应答方式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3142" name="Text Box 6"/>
          <p:cNvSpPr txBox="1"/>
          <p:nvPr/>
        </p:nvSpPr>
        <p:spPr>
          <a:xfrm>
            <a:off x="288925" y="2773363"/>
            <a:ext cx="303847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3. 联合控制方式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03143" name="Text Box 7"/>
          <p:cNvSpPr txBox="1"/>
          <p:nvPr/>
        </p:nvSpPr>
        <p:spPr>
          <a:xfrm>
            <a:off x="288925" y="4029075"/>
            <a:ext cx="30384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4. 人工控制方式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03144" name="Text Box 8"/>
          <p:cNvSpPr txBox="1"/>
          <p:nvPr/>
        </p:nvSpPr>
        <p:spPr>
          <a:xfrm>
            <a:off x="1127125" y="4686300"/>
            <a:ext cx="15176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</a:t>
            </a:r>
            <a:r>
              <a:rPr lang="en-US" altLang="zh-CN" sz="2800" dirty="0">
                <a:latin typeface="Times New Roman" panose="02020603050405020304" pitchFamily="18" charset="0"/>
              </a:rPr>
              <a:t>Reset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03145" name="Text Box 9"/>
          <p:cNvSpPr txBox="1"/>
          <p:nvPr/>
        </p:nvSpPr>
        <p:spPr>
          <a:xfrm>
            <a:off x="1127125" y="5283200"/>
            <a:ext cx="7407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连续 </a:t>
            </a:r>
            <a:r>
              <a:rPr lang="zh-CN" altLang="en-US" sz="2800" dirty="0">
                <a:latin typeface="Times New Roman" panose="02020603050405020304" pitchFamily="18" charset="0"/>
              </a:rPr>
              <a:t>和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单条 </a:t>
            </a:r>
            <a:r>
              <a:rPr lang="zh-CN" altLang="en-US" sz="2800" dirty="0">
                <a:latin typeface="Times New Roman" panose="02020603050405020304" pitchFamily="18" charset="0"/>
              </a:rPr>
              <a:t>指令执行转换开关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3146" name="Text Box 10"/>
          <p:cNvSpPr txBox="1"/>
          <p:nvPr/>
        </p:nvSpPr>
        <p:spPr>
          <a:xfrm>
            <a:off x="1127125" y="5881688"/>
            <a:ext cx="28321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(3) 符合停机开关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3147" name="Text Box 11"/>
          <p:cNvSpPr txBox="1"/>
          <p:nvPr/>
        </p:nvSpPr>
        <p:spPr>
          <a:xfrm>
            <a:off x="1127125" y="3430588"/>
            <a:ext cx="3041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同步与异步相结合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3148" name="Rectangle 12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3" name="AutoShape 13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/>
      <p:bldP spid="603140" grpId="0"/>
      <p:bldP spid="603141" grpId="0"/>
      <p:bldP spid="603142" grpId="0"/>
      <p:bldP spid="603143" grpId="0"/>
      <p:bldP spid="603144" grpId="0"/>
      <p:bldP spid="603145" grpId="0"/>
      <p:bldP spid="603146" grpId="0"/>
      <p:bldP spid="6031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288925" y="44450"/>
            <a:ext cx="66452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五、多级时序系统实例分析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04163" name="Text Box 3"/>
          <p:cNvSpPr txBox="1"/>
          <p:nvPr/>
        </p:nvSpPr>
        <p:spPr>
          <a:xfrm>
            <a:off x="669925" y="623888"/>
            <a:ext cx="33686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8085 的组成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4164" name="Rectangle 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04305" name="Group 145"/>
          <p:cNvGrpSpPr/>
          <p:nvPr/>
        </p:nvGrpSpPr>
        <p:grpSpPr>
          <a:xfrm>
            <a:off x="-14287" y="1066800"/>
            <a:ext cx="8893175" cy="5715000"/>
            <a:chOff x="-9" y="672"/>
            <a:chExt cx="5602" cy="3600"/>
          </a:xfrm>
        </p:grpSpPr>
        <p:grpSp>
          <p:nvGrpSpPr>
            <p:cNvPr id="31751" name="Group 144"/>
            <p:cNvGrpSpPr/>
            <p:nvPr/>
          </p:nvGrpSpPr>
          <p:grpSpPr>
            <a:xfrm>
              <a:off x="-9" y="672"/>
              <a:ext cx="5602" cy="3600"/>
              <a:chOff x="-9" y="672"/>
              <a:chExt cx="5602" cy="3600"/>
            </a:xfrm>
          </p:grpSpPr>
          <p:grpSp>
            <p:nvGrpSpPr>
              <p:cNvPr id="31753" name="Group 7"/>
              <p:cNvGrpSpPr/>
              <p:nvPr/>
            </p:nvGrpSpPr>
            <p:grpSpPr>
              <a:xfrm>
                <a:off x="1748" y="2927"/>
                <a:ext cx="103" cy="192"/>
                <a:chOff x="1757" y="2927"/>
                <a:chExt cx="103" cy="192"/>
              </a:xfrm>
            </p:grpSpPr>
            <p:sp>
              <p:nvSpPr>
                <p:cNvPr id="31883" name="Freeform 8"/>
                <p:cNvSpPr/>
                <p:nvPr/>
              </p:nvSpPr>
              <p:spPr>
                <a:xfrm rot="5400000">
                  <a:off x="1760" y="2923"/>
                  <a:ext cx="96" cy="103"/>
                </a:xfrm>
                <a:custGeom>
                  <a:avLst/>
                  <a:gdLst/>
                  <a:ahLst/>
                  <a:cxnLst>
                    <a:cxn ang="0">
                      <a:pos x="96" y="0"/>
                    </a:cxn>
                    <a:cxn ang="0">
                      <a:pos x="0" y="111"/>
                    </a:cxn>
                    <a:cxn ang="0">
                      <a:pos x="48" y="111"/>
                    </a:cxn>
                  </a:cxnLst>
                  <a:pathLst>
                    <a:path w="96" h="96">
                      <a:moveTo>
                        <a:pt x="96" y="0"/>
                      </a:moveTo>
                      <a:lnTo>
                        <a:pt x="0" y="96"/>
                      </a:lnTo>
                      <a:lnTo>
                        <a:pt x="48" y="9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884" name="Freeform 9"/>
                <p:cNvSpPr/>
                <p:nvPr/>
              </p:nvSpPr>
              <p:spPr>
                <a:xfrm rot="5400000">
                  <a:off x="1760" y="3019"/>
                  <a:ext cx="96" cy="10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111"/>
                    </a:cxn>
                    <a:cxn ang="0">
                      <a:pos x="48" y="111"/>
                    </a:cxn>
                  </a:cxnLst>
                  <a:pathLst>
                    <a:path w="96" h="96">
                      <a:moveTo>
                        <a:pt x="0" y="0"/>
                      </a:moveTo>
                      <a:lnTo>
                        <a:pt x="96" y="96"/>
                      </a:lnTo>
                      <a:lnTo>
                        <a:pt x="48" y="9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1754" name="Group 10"/>
              <p:cNvGrpSpPr/>
              <p:nvPr/>
            </p:nvGrpSpPr>
            <p:grpSpPr>
              <a:xfrm>
                <a:off x="1748" y="2400"/>
                <a:ext cx="103" cy="192"/>
                <a:chOff x="1757" y="2400"/>
                <a:chExt cx="103" cy="192"/>
              </a:xfrm>
            </p:grpSpPr>
            <p:sp>
              <p:nvSpPr>
                <p:cNvPr id="31881" name="Freeform 11"/>
                <p:cNvSpPr/>
                <p:nvPr/>
              </p:nvSpPr>
              <p:spPr>
                <a:xfrm rot="5400000">
                  <a:off x="1760" y="2396"/>
                  <a:ext cx="96" cy="103"/>
                </a:xfrm>
                <a:custGeom>
                  <a:avLst/>
                  <a:gdLst/>
                  <a:ahLst/>
                  <a:cxnLst>
                    <a:cxn ang="0">
                      <a:pos x="96" y="0"/>
                    </a:cxn>
                    <a:cxn ang="0">
                      <a:pos x="0" y="111"/>
                    </a:cxn>
                    <a:cxn ang="0">
                      <a:pos x="48" y="111"/>
                    </a:cxn>
                  </a:cxnLst>
                  <a:pathLst>
                    <a:path w="96" h="96">
                      <a:moveTo>
                        <a:pt x="96" y="0"/>
                      </a:moveTo>
                      <a:lnTo>
                        <a:pt x="0" y="96"/>
                      </a:lnTo>
                      <a:lnTo>
                        <a:pt x="48" y="9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1882" name="Freeform 12"/>
                <p:cNvSpPr/>
                <p:nvPr/>
              </p:nvSpPr>
              <p:spPr>
                <a:xfrm rot="5400000">
                  <a:off x="1760" y="2492"/>
                  <a:ext cx="96" cy="10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96" y="111"/>
                    </a:cxn>
                    <a:cxn ang="0">
                      <a:pos x="48" y="111"/>
                    </a:cxn>
                  </a:cxnLst>
                  <a:pathLst>
                    <a:path w="96" h="96">
                      <a:moveTo>
                        <a:pt x="0" y="0"/>
                      </a:moveTo>
                      <a:lnTo>
                        <a:pt x="96" y="96"/>
                      </a:lnTo>
                      <a:lnTo>
                        <a:pt x="48" y="9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31755" name="Group 143"/>
              <p:cNvGrpSpPr/>
              <p:nvPr/>
            </p:nvGrpSpPr>
            <p:grpSpPr>
              <a:xfrm>
                <a:off x="-9" y="672"/>
                <a:ext cx="5602" cy="3600"/>
                <a:chOff x="-9" y="672"/>
                <a:chExt cx="5602" cy="3600"/>
              </a:xfrm>
            </p:grpSpPr>
            <p:grpSp>
              <p:nvGrpSpPr>
                <p:cNvPr id="31756" name="Group 142"/>
                <p:cNvGrpSpPr/>
                <p:nvPr/>
              </p:nvGrpSpPr>
              <p:grpSpPr>
                <a:xfrm>
                  <a:off x="-9" y="672"/>
                  <a:ext cx="5602" cy="3600"/>
                  <a:chOff x="-9" y="672"/>
                  <a:chExt cx="5602" cy="3600"/>
                </a:xfrm>
              </p:grpSpPr>
              <p:grpSp>
                <p:nvGrpSpPr>
                  <p:cNvPr id="31762" name="Group 141"/>
                  <p:cNvGrpSpPr/>
                  <p:nvPr/>
                </p:nvGrpSpPr>
                <p:grpSpPr>
                  <a:xfrm>
                    <a:off x="-9" y="672"/>
                    <a:ext cx="5602" cy="3600"/>
                    <a:chOff x="-9" y="672"/>
                    <a:chExt cx="5602" cy="3600"/>
                  </a:xfrm>
                </p:grpSpPr>
                <p:sp>
                  <p:nvSpPr>
                    <p:cNvPr id="31764" name="Text Box 16"/>
                    <p:cNvSpPr txBox="1"/>
                    <p:nvPr/>
                  </p:nvSpPr>
                  <p:spPr>
                    <a:xfrm>
                      <a:off x="4079" y="3936"/>
                      <a:ext cx="829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6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6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16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65" name="Line 17"/>
                    <p:cNvSpPr/>
                    <p:nvPr/>
                  </p:nvSpPr>
                  <p:spPr>
                    <a:xfrm>
                      <a:off x="142" y="1634"/>
                      <a:ext cx="5366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766" name="Line 18"/>
                    <p:cNvSpPr/>
                    <p:nvPr/>
                  </p:nvSpPr>
                  <p:spPr>
                    <a:xfrm>
                      <a:off x="142" y="1730"/>
                      <a:ext cx="5366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767" name="Text Box 19"/>
                    <p:cNvSpPr txBox="1"/>
                    <p:nvPr/>
                  </p:nvSpPr>
                  <p:spPr>
                    <a:xfrm>
                      <a:off x="1031" y="1160"/>
                      <a:ext cx="760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中断控制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68" name="Rectangle 20"/>
                    <p:cNvSpPr/>
                    <p:nvPr/>
                  </p:nvSpPr>
                  <p:spPr>
                    <a:xfrm>
                      <a:off x="349" y="1154"/>
                      <a:ext cx="2176" cy="286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69" name="Rectangle 21"/>
                    <p:cNvSpPr/>
                    <p:nvPr/>
                  </p:nvSpPr>
                  <p:spPr>
                    <a:xfrm>
                      <a:off x="194" y="1958"/>
                      <a:ext cx="673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AC(8)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70" name="Rectangle 22"/>
                    <p:cNvSpPr/>
                    <p:nvPr/>
                  </p:nvSpPr>
                  <p:spPr>
                    <a:xfrm>
                      <a:off x="997" y="1958"/>
                      <a:ext cx="673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TR(8)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71" name="Rectangle 23"/>
                    <p:cNvSpPr/>
                    <p:nvPr/>
                  </p:nvSpPr>
                  <p:spPr>
                    <a:xfrm>
                      <a:off x="1800" y="1958"/>
                      <a:ext cx="673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FR(5)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72" name="Rectangle 24"/>
                    <p:cNvSpPr/>
                    <p:nvPr/>
                  </p:nvSpPr>
                  <p:spPr>
                    <a:xfrm>
                      <a:off x="2991" y="1958"/>
                      <a:ext cx="674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IR(8)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31773" name="Group 25"/>
                    <p:cNvGrpSpPr/>
                    <p:nvPr/>
                  </p:nvGrpSpPr>
                  <p:grpSpPr>
                    <a:xfrm>
                      <a:off x="4027" y="1958"/>
                      <a:ext cx="1088" cy="1296"/>
                      <a:chOff x="4036" y="1958"/>
                      <a:chExt cx="1088" cy="1296"/>
                    </a:xfrm>
                  </p:grpSpPr>
                  <p:sp>
                    <p:nvSpPr>
                      <p:cNvPr id="31862" name="Rectangle 26"/>
                      <p:cNvSpPr/>
                      <p:nvPr/>
                    </p:nvSpPr>
                    <p:spPr>
                      <a:xfrm>
                        <a:off x="4036" y="3038"/>
                        <a:ext cx="1036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IDAL（16）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3" name="Rectangle 27"/>
                      <p:cNvSpPr/>
                      <p:nvPr/>
                    </p:nvSpPr>
                    <p:spPr>
                      <a:xfrm>
                        <a:off x="4036" y="2822"/>
                        <a:ext cx="1036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PC（16）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4" name="Rectangle 28"/>
                      <p:cNvSpPr/>
                      <p:nvPr/>
                    </p:nvSpPr>
                    <p:spPr>
                      <a:xfrm>
                        <a:off x="4036" y="2606"/>
                        <a:ext cx="1036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SP（16）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5" name="Rectangle 29"/>
                      <p:cNvSpPr/>
                      <p:nvPr/>
                    </p:nvSpPr>
                    <p:spPr>
                      <a:xfrm>
                        <a:off x="4583" y="2390"/>
                        <a:ext cx="541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L（8）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6" name="Rectangle 30"/>
                      <p:cNvSpPr/>
                      <p:nvPr/>
                    </p:nvSpPr>
                    <p:spPr>
                      <a:xfrm>
                        <a:off x="4059" y="2390"/>
                        <a:ext cx="495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H（8）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7" name="Rectangle 31"/>
                      <p:cNvSpPr/>
                      <p:nvPr/>
                    </p:nvSpPr>
                    <p:spPr>
                      <a:xfrm>
                        <a:off x="4583" y="2174"/>
                        <a:ext cx="541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E（8）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8" name="Rectangle 32"/>
                      <p:cNvSpPr/>
                      <p:nvPr/>
                    </p:nvSpPr>
                    <p:spPr>
                      <a:xfrm>
                        <a:off x="4059" y="2174"/>
                        <a:ext cx="495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 D（8）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69" name="Rectangle 33"/>
                      <p:cNvSpPr/>
                      <p:nvPr/>
                    </p:nvSpPr>
                    <p:spPr>
                      <a:xfrm>
                        <a:off x="4583" y="1958"/>
                        <a:ext cx="541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C（8）</a:t>
                        </a:r>
                        <a:endPara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70" name="Rectangle 34"/>
                      <p:cNvSpPr/>
                      <p:nvPr/>
                    </p:nvSpPr>
                    <p:spPr>
                      <a:xfrm>
                        <a:off x="4059" y="1958"/>
                        <a:ext cx="495" cy="2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38100" rIns="3810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16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 B（8）</a:t>
                        </a:r>
                        <a:r>
                          <a:rPr lang="en-US" altLang="zh-CN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 </a:t>
                        </a:r>
                        <a:endParaRPr lang="en-US" altLang="zh-CN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1871" name="Line 35"/>
                      <p:cNvSpPr/>
                      <p:nvPr/>
                    </p:nvSpPr>
                    <p:spPr>
                      <a:xfrm>
                        <a:off x="4036" y="2174"/>
                        <a:ext cx="1036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2" name="Line 36"/>
                      <p:cNvSpPr/>
                      <p:nvPr/>
                    </p:nvSpPr>
                    <p:spPr>
                      <a:xfrm>
                        <a:off x="4036" y="2390"/>
                        <a:ext cx="1036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3" name="Line 37"/>
                      <p:cNvSpPr/>
                      <p:nvPr/>
                    </p:nvSpPr>
                    <p:spPr>
                      <a:xfrm>
                        <a:off x="4036" y="2606"/>
                        <a:ext cx="1036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4" name="Line 38"/>
                      <p:cNvSpPr/>
                      <p:nvPr/>
                    </p:nvSpPr>
                    <p:spPr>
                      <a:xfrm>
                        <a:off x="4036" y="2822"/>
                        <a:ext cx="1036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5" name="Line 39"/>
                      <p:cNvSpPr/>
                      <p:nvPr/>
                    </p:nvSpPr>
                    <p:spPr>
                      <a:xfrm>
                        <a:off x="4036" y="3038"/>
                        <a:ext cx="1036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6" name="Line 40"/>
                      <p:cNvSpPr/>
                      <p:nvPr/>
                    </p:nvSpPr>
                    <p:spPr>
                      <a:xfrm>
                        <a:off x="4036" y="3254"/>
                        <a:ext cx="1036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7" name="Line 41"/>
                      <p:cNvSpPr/>
                      <p:nvPr/>
                    </p:nvSpPr>
                    <p:spPr>
                      <a:xfrm>
                        <a:off x="4036" y="1958"/>
                        <a:ext cx="0" cy="1296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8" name="Line 42"/>
                      <p:cNvSpPr/>
                      <p:nvPr/>
                    </p:nvSpPr>
                    <p:spPr>
                      <a:xfrm>
                        <a:off x="4551" y="1958"/>
                        <a:ext cx="0" cy="648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79" name="Line 43"/>
                      <p:cNvSpPr/>
                      <p:nvPr/>
                    </p:nvSpPr>
                    <p:spPr>
                      <a:xfrm>
                        <a:off x="5072" y="1958"/>
                        <a:ext cx="0" cy="1296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80" name="Line 44"/>
                      <p:cNvSpPr/>
                      <p:nvPr/>
                    </p:nvSpPr>
                    <p:spPr>
                      <a:xfrm>
                        <a:off x="4036" y="1963"/>
                        <a:ext cx="1036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31774" name="Group 45"/>
                    <p:cNvGrpSpPr/>
                    <p:nvPr/>
                  </p:nvGrpSpPr>
                  <p:grpSpPr>
                    <a:xfrm>
                      <a:off x="2991" y="2342"/>
                      <a:ext cx="777" cy="816"/>
                      <a:chOff x="3000" y="2342"/>
                      <a:chExt cx="777" cy="816"/>
                    </a:xfrm>
                  </p:grpSpPr>
                  <p:sp>
                    <p:nvSpPr>
                      <p:cNvPr id="31860" name="Text Box 46"/>
                      <p:cNvSpPr txBox="1"/>
                      <p:nvPr/>
                    </p:nvSpPr>
                    <p:spPr>
                      <a:xfrm>
                        <a:off x="3000" y="2366"/>
                        <a:ext cx="732" cy="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zh-CN" altLang="en-US" dirty="0">
                            <a:solidFill>
                              <a:schemeClr val="folHlink"/>
                            </a:solidFill>
                            <a:latin typeface="Times New Roman" panose="02020603050405020304" pitchFamily="18" charset="0"/>
                          </a:rPr>
                          <a:t> 指令译码</a:t>
                        </a:r>
                        <a:endParaRPr lang="zh-CN" altLang="en-US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endParaRPr>
                      </a:p>
                      <a:p>
                        <a:pPr eaLnBrk="1" hangingPunct="1"/>
                        <a:r>
                          <a:rPr lang="zh-CN" altLang="en-US" dirty="0">
                            <a:solidFill>
                              <a:schemeClr val="folHlink"/>
                            </a:solidFill>
                            <a:latin typeface="Times New Roman" panose="02020603050405020304" pitchFamily="18" charset="0"/>
                          </a:rPr>
                          <a:t>       和</a:t>
                        </a:r>
                        <a:endParaRPr lang="zh-CN" altLang="en-US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endParaRPr>
                      </a:p>
                      <a:p>
                        <a:pPr eaLnBrk="1" hangingPunct="1"/>
                        <a:r>
                          <a:rPr lang="zh-CN" altLang="en-US" dirty="0">
                            <a:solidFill>
                              <a:schemeClr val="folHlink"/>
                            </a:solidFill>
                            <a:latin typeface="Times New Roman" panose="02020603050405020304" pitchFamily="18" charset="0"/>
                          </a:rPr>
                          <a:t> 机器周期</a:t>
                        </a:r>
                        <a:endParaRPr lang="zh-CN" altLang="en-US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endParaRPr>
                      </a:p>
                      <a:p>
                        <a:pPr eaLnBrk="1" hangingPunct="1"/>
                        <a:r>
                          <a:rPr lang="zh-CN" altLang="en-US" dirty="0">
                            <a:solidFill>
                              <a:schemeClr val="folHlink"/>
                            </a:solidFill>
                            <a:latin typeface="Times New Roman" panose="02020603050405020304" pitchFamily="18" charset="0"/>
                          </a:rPr>
                          <a:t>     编码</a:t>
                        </a:r>
                        <a:endParaRPr lang="zh-CN" altLang="en-US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61" name="Rectangle 47"/>
                      <p:cNvSpPr/>
                      <p:nvPr/>
                    </p:nvSpPr>
                    <p:spPr>
                      <a:xfrm>
                        <a:off x="3000" y="2342"/>
                        <a:ext cx="777" cy="816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31775" name="Group 48"/>
                    <p:cNvGrpSpPr/>
                    <p:nvPr/>
                  </p:nvGrpSpPr>
                  <p:grpSpPr>
                    <a:xfrm>
                      <a:off x="1851" y="2342"/>
                      <a:ext cx="622" cy="803"/>
                      <a:chOff x="1860" y="2342"/>
                      <a:chExt cx="622" cy="803"/>
                    </a:xfrm>
                  </p:grpSpPr>
                  <p:sp>
                    <p:nvSpPr>
                      <p:cNvPr id="31858" name="Freeform 49"/>
                      <p:cNvSpPr/>
                      <p:nvPr/>
                    </p:nvSpPr>
                    <p:spPr>
                      <a:xfrm>
                        <a:off x="1860" y="2342"/>
                        <a:ext cx="622" cy="80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" y="0"/>
                          </a:cxn>
                          <a:cxn ang="0">
                            <a:pos x="667" y="0"/>
                          </a:cxn>
                          <a:cxn ang="0">
                            <a:pos x="672" y="803"/>
                          </a:cxn>
                          <a:cxn ang="0">
                            <a:pos x="0" y="803"/>
                          </a:cxn>
                          <a:cxn ang="0">
                            <a:pos x="0" y="515"/>
                          </a:cxn>
                          <a:cxn ang="0">
                            <a:pos x="181" y="389"/>
                          </a:cxn>
                          <a:cxn ang="0">
                            <a:pos x="14" y="278"/>
                          </a:cxn>
                          <a:cxn ang="0">
                            <a:pos x="11" y="0"/>
                          </a:cxn>
                        </a:cxnLst>
                        <a:pathLst>
                          <a:path w="576" h="803">
                            <a:moveTo>
                              <a:pt x="9" y="0"/>
                            </a:moveTo>
                            <a:lnTo>
                              <a:pt x="572" y="0"/>
                            </a:lnTo>
                            <a:lnTo>
                              <a:pt x="576" y="803"/>
                            </a:lnTo>
                            <a:lnTo>
                              <a:pt x="0" y="803"/>
                            </a:lnTo>
                            <a:lnTo>
                              <a:pt x="0" y="515"/>
                            </a:lnTo>
                            <a:lnTo>
                              <a:pt x="156" y="389"/>
                            </a:lnTo>
                            <a:lnTo>
                              <a:pt x="12" y="278"/>
                            </a:lnTo>
                            <a:lnTo>
                              <a:pt x="9" y="0"/>
                            </a:lnTo>
                            <a:close/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59" name="Text Box 50"/>
                      <p:cNvSpPr txBox="1"/>
                      <p:nvPr/>
                    </p:nvSpPr>
                    <p:spPr>
                      <a:xfrm>
                        <a:off x="1991" y="2639"/>
                        <a:ext cx="455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en-US" altLang="zh-CN" sz="2000" dirty="0">
                            <a:solidFill>
                              <a:schemeClr val="folHlink"/>
                            </a:solidFill>
                            <a:latin typeface="Times New Roman" panose="02020603050405020304" pitchFamily="18" charset="0"/>
                          </a:rPr>
                          <a:t>ALU</a:t>
                        </a:r>
                        <a:endParaRPr lang="en-US" altLang="zh-CN" sz="2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31776" name="AutoShape 51"/>
                    <p:cNvSpPr/>
                    <p:nvPr/>
                  </p:nvSpPr>
                  <p:spPr>
                    <a:xfrm>
                      <a:off x="453" y="1730"/>
                      <a:ext cx="103" cy="220"/>
                    </a:xfrm>
                    <a:prstGeom prst="upDownArrow">
                      <a:avLst>
                        <a:gd name="adj1" fmla="val 50000"/>
                        <a:gd name="adj2" fmla="val 42718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77" name="AutoShape 52"/>
                    <p:cNvSpPr/>
                    <p:nvPr/>
                  </p:nvSpPr>
                  <p:spPr>
                    <a:xfrm>
                      <a:off x="1282" y="1730"/>
                      <a:ext cx="103" cy="220"/>
                    </a:xfrm>
                    <a:prstGeom prst="upDownArrow">
                      <a:avLst>
                        <a:gd name="adj1" fmla="val 50000"/>
                        <a:gd name="adj2" fmla="val 42718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78" name="AutoShape 53"/>
                    <p:cNvSpPr/>
                    <p:nvPr/>
                  </p:nvSpPr>
                  <p:spPr>
                    <a:xfrm>
                      <a:off x="2059" y="1730"/>
                      <a:ext cx="103" cy="220"/>
                    </a:xfrm>
                    <a:prstGeom prst="upDownArrow">
                      <a:avLst>
                        <a:gd name="adj1" fmla="val 50000"/>
                        <a:gd name="adj2" fmla="val 42718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79" name="AutoShape 54"/>
                    <p:cNvSpPr/>
                    <p:nvPr/>
                  </p:nvSpPr>
                  <p:spPr>
                    <a:xfrm>
                      <a:off x="4493" y="1730"/>
                      <a:ext cx="104" cy="220"/>
                    </a:xfrm>
                    <a:prstGeom prst="upDownArrow">
                      <a:avLst>
                        <a:gd name="adj1" fmla="val 50000"/>
                        <a:gd name="adj2" fmla="val 42307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grpSp>
                  <p:nvGrpSpPr>
                    <p:cNvPr id="31780" name="Group 55"/>
                    <p:cNvGrpSpPr/>
                    <p:nvPr/>
                  </p:nvGrpSpPr>
                  <p:grpSpPr>
                    <a:xfrm>
                      <a:off x="401" y="3348"/>
                      <a:ext cx="3382" cy="551"/>
                      <a:chOff x="410" y="3348"/>
                      <a:chExt cx="3382" cy="551"/>
                    </a:xfrm>
                  </p:grpSpPr>
                  <p:sp>
                    <p:nvSpPr>
                      <p:cNvPr id="31851" name="Text Box 56"/>
                      <p:cNvSpPr txBox="1"/>
                      <p:nvPr/>
                    </p:nvSpPr>
                    <p:spPr>
                      <a:xfrm>
                        <a:off x="1581" y="3348"/>
                        <a:ext cx="921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zh-CN" altLang="en-US" sz="2000" dirty="0">
                            <a:latin typeface="Times New Roman" panose="02020603050405020304" pitchFamily="18" charset="0"/>
                          </a:rPr>
                          <a:t>定时和控制</a:t>
                        </a:r>
                        <a:endParaRPr lang="zh-CN" altLang="en-US" sz="20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52" name="Text Box 57"/>
                      <p:cNvSpPr txBox="1"/>
                      <p:nvPr/>
                    </p:nvSpPr>
                    <p:spPr>
                      <a:xfrm>
                        <a:off x="476" y="3649"/>
                        <a:ext cx="478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zh-CN" altLang="en-US" sz="2000" dirty="0">
                            <a:latin typeface="Times New Roman" panose="02020603050405020304" pitchFamily="18" charset="0"/>
                          </a:rPr>
                          <a:t> 时钟</a:t>
                        </a:r>
                        <a:endParaRPr lang="zh-CN" altLang="en-US" sz="20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53" name="Text Box 58"/>
                      <p:cNvSpPr txBox="1"/>
                      <p:nvPr/>
                    </p:nvSpPr>
                    <p:spPr>
                      <a:xfrm>
                        <a:off x="1151" y="3638"/>
                        <a:ext cx="438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zh-CN" altLang="en-US" sz="2000" dirty="0">
                            <a:latin typeface="Times New Roman" panose="02020603050405020304" pitchFamily="18" charset="0"/>
                          </a:rPr>
                          <a:t>控制</a:t>
                        </a:r>
                        <a:endParaRPr lang="zh-CN" altLang="en-US" sz="20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54" name="Text Box 59"/>
                      <p:cNvSpPr txBox="1"/>
                      <p:nvPr/>
                    </p:nvSpPr>
                    <p:spPr>
                      <a:xfrm>
                        <a:off x="1829" y="3638"/>
                        <a:ext cx="437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zh-CN" altLang="en-US" sz="2000" dirty="0">
                            <a:latin typeface="Times New Roman" panose="02020603050405020304" pitchFamily="18" charset="0"/>
                          </a:rPr>
                          <a:t>状态</a:t>
                        </a:r>
                        <a:endParaRPr lang="zh-CN" altLang="en-US" sz="20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55" name="Text Box 60"/>
                      <p:cNvSpPr txBox="1"/>
                      <p:nvPr/>
                    </p:nvSpPr>
                    <p:spPr>
                      <a:xfrm>
                        <a:off x="2507" y="3638"/>
                        <a:ext cx="578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en-US" altLang="zh-CN" sz="2000" dirty="0">
                            <a:latin typeface="Times New Roman" panose="02020603050405020304" pitchFamily="18" charset="0"/>
                          </a:rPr>
                          <a:t>  DMA</a:t>
                        </a:r>
                        <a:endParaRPr lang="en-US" altLang="zh-CN" sz="20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56" name="Text Box 61"/>
                      <p:cNvSpPr txBox="1"/>
                      <p:nvPr/>
                    </p:nvSpPr>
                    <p:spPr>
                      <a:xfrm>
                        <a:off x="3268" y="3638"/>
                        <a:ext cx="437" cy="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>
                        <a:spAutoFit/>
                      </a:bodyPr>
                      <a:p>
                        <a:pPr eaLnBrk="1" hangingPunct="1"/>
                        <a:r>
                          <a:rPr lang="zh-CN" altLang="en-US" sz="2000" dirty="0">
                            <a:latin typeface="Times New Roman" panose="02020603050405020304" pitchFamily="18" charset="0"/>
                          </a:rPr>
                          <a:t>复位</a:t>
                        </a:r>
                        <a:endParaRPr lang="zh-CN" altLang="en-US" sz="20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1857" name="Rectangle 62"/>
                      <p:cNvSpPr/>
                      <p:nvPr/>
                    </p:nvSpPr>
                    <p:spPr>
                      <a:xfrm>
                        <a:off x="410" y="3350"/>
                        <a:ext cx="3382" cy="528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31781" name="AutoShape 63"/>
                    <p:cNvSpPr/>
                    <p:nvPr/>
                  </p:nvSpPr>
                  <p:spPr>
                    <a:xfrm>
                      <a:off x="3250" y="1740"/>
                      <a:ext cx="108" cy="218"/>
                    </a:xfrm>
                    <a:prstGeom prst="downArrow">
                      <a:avLst>
                        <a:gd name="adj1" fmla="val 50000"/>
                        <a:gd name="adj2" fmla="val 50462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82" name="AutoShape 64"/>
                    <p:cNvSpPr/>
                    <p:nvPr/>
                  </p:nvSpPr>
                  <p:spPr>
                    <a:xfrm>
                      <a:off x="1696" y="1440"/>
                      <a:ext cx="104" cy="192"/>
                    </a:xfrm>
                    <a:prstGeom prst="upDownArrow">
                      <a:avLst>
                        <a:gd name="adj1" fmla="val 50000"/>
                        <a:gd name="adj2" fmla="val 36923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83" name="Line 65"/>
                    <p:cNvSpPr/>
                    <p:nvPr/>
                  </p:nvSpPr>
                  <p:spPr>
                    <a:xfrm>
                      <a:off x="2059" y="219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84" name="Line 66"/>
                    <p:cNvSpPr/>
                    <p:nvPr/>
                  </p:nvSpPr>
                  <p:spPr>
                    <a:xfrm rot="10800000">
                      <a:off x="2214" y="2187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85" name="AutoShape 67"/>
                    <p:cNvSpPr/>
                    <p:nvPr/>
                  </p:nvSpPr>
                  <p:spPr>
                    <a:xfrm>
                      <a:off x="3354" y="3168"/>
                      <a:ext cx="103" cy="170"/>
                    </a:xfrm>
                    <a:prstGeom prst="downArrow">
                      <a:avLst>
                        <a:gd name="adj1" fmla="val 50000"/>
                        <a:gd name="adj2" fmla="val 41262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86" name="Rectangle 68"/>
                    <p:cNvSpPr/>
                    <p:nvPr/>
                  </p:nvSpPr>
                  <p:spPr>
                    <a:xfrm>
                      <a:off x="4027" y="3648"/>
                      <a:ext cx="674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ABR(8)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87" name="Rectangle 69"/>
                    <p:cNvSpPr/>
                    <p:nvPr/>
                  </p:nvSpPr>
                  <p:spPr>
                    <a:xfrm>
                      <a:off x="4804" y="3648"/>
                      <a:ext cx="674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algn="ctr"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ADBR(8)</a:t>
                      </a: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88" name="AutoShape 70"/>
                    <p:cNvSpPr/>
                    <p:nvPr/>
                  </p:nvSpPr>
                  <p:spPr>
                    <a:xfrm>
                      <a:off x="5219" y="1728"/>
                      <a:ext cx="207" cy="1920"/>
                    </a:xfrm>
                    <a:prstGeom prst="upDownArrow">
                      <a:avLst>
                        <a:gd name="adj1" fmla="val 39166"/>
                        <a:gd name="adj2" fmla="val 97090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89" name="AutoShape 71"/>
                    <p:cNvSpPr/>
                    <p:nvPr/>
                  </p:nvSpPr>
                  <p:spPr>
                    <a:xfrm>
                      <a:off x="4324" y="3888"/>
                      <a:ext cx="103" cy="170"/>
                    </a:xfrm>
                    <a:prstGeom prst="downArrow">
                      <a:avLst>
                        <a:gd name="adj1" fmla="val 50000"/>
                        <a:gd name="adj2" fmla="val 41262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90" name="Text Box 72"/>
                    <p:cNvSpPr txBox="1"/>
                    <p:nvPr/>
                  </p:nvSpPr>
                  <p:spPr>
                    <a:xfrm>
                      <a:off x="235" y="1440"/>
                      <a:ext cx="1203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8位内部数据总线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91" name="Text Box 73"/>
                    <p:cNvSpPr txBox="1"/>
                    <p:nvPr/>
                  </p:nvSpPr>
                  <p:spPr>
                    <a:xfrm>
                      <a:off x="3239" y="1163"/>
                      <a:ext cx="668" cy="25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I/O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控制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792" name="AutoShape 74"/>
                    <p:cNvSpPr/>
                    <p:nvPr/>
                  </p:nvSpPr>
                  <p:spPr>
                    <a:xfrm>
                      <a:off x="3561" y="1440"/>
                      <a:ext cx="104" cy="192"/>
                    </a:xfrm>
                    <a:prstGeom prst="upDownArrow">
                      <a:avLst>
                        <a:gd name="adj1" fmla="val 50000"/>
                        <a:gd name="adj2" fmla="val 36923"/>
                      </a:avLst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vert="eaVert"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1793" name="Line 75"/>
                    <p:cNvSpPr/>
                    <p:nvPr/>
                  </p:nvSpPr>
                  <p:spPr>
                    <a:xfrm>
                      <a:off x="556" y="1005"/>
                      <a:ext cx="0" cy="14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94" name="Line 76"/>
                    <p:cNvSpPr/>
                    <p:nvPr/>
                  </p:nvSpPr>
                  <p:spPr>
                    <a:xfrm>
                      <a:off x="1260" y="1005"/>
                      <a:ext cx="0" cy="14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95" name="Line 77"/>
                    <p:cNvSpPr/>
                    <p:nvPr/>
                  </p:nvSpPr>
                  <p:spPr>
                    <a:xfrm>
                      <a:off x="1965" y="1005"/>
                      <a:ext cx="0" cy="14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96" name="Line 78"/>
                    <p:cNvSpPr/>
                    <p:nvPr/>
                  </p:nvSpPr>
                  <p:spPr>
                    <a:xfrm rot="10800000">
                      <a:off x="2318" y="855"/>
                      <a:ext cx="0" cy="288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97" name="Line 79"/>
                    <p:cNvSpPr/>
                    <p:nvPr/>
                  </p:nvSpPr>
                  <p:spPr>
                    <a:xfrm rot="10800000">
                      <a:off x="1613" y="864"/>
                      <a:ext cx="0" cy="288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98" name="Line 80"/>
                    <p:cNvSpPr/>
                    <p:nvPr/>
                  </p:nvSpPr>
                  <p:spPr>
                    <a:xfrm rot="10800000">
                      <a:off x="908" y="864"/>
                      <a:ext cx="0" cy="288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799" name="Text Box 81"/>
                    <p:cNvSpPr txBox="1"/>
                    <p:nvPr/>
                  </p:nvSpPr>
                  <p:spPr>
                    <a:xfrm>
                      <a:off x="764" y="672"/>
                      <a:ext cx="476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INTA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00" name="Text Box 82"/>
                    <p:cNvSpPr txBox="1"/>
                    <p:nvPr/>
                  </p:nvSpPr>
                  <p:spPr>
                    <a:xfrm>
                      <a:off x="349" y="825"/>
                      <a:ext cx="476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INTR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01" name="Line 83"/>
                    <p:cNvSpPr/>
                    <p:nvPr/>
                  </p:nvSpPr>
                  <p:spPr>
                    <a:xfrm>
                      <a:off x="401" y="864"/>
                      <a:ext cx="363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802" name="Line 84"/>
                    <p:cNvSpPr/>
                    <p:nvPr/>
                  </p:nvSpPr>
                  <p:spPr>
                    <a:xfrm>
                      <a:off x="3302" y="1008"/>
                      <a:ext cx="0" cy="14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03" name="Line 85"/>
                    <p:cNvSpPr/>
                    <p:nvPr/>
                  </p:nvSpPr>
                  <p:spPr>
                    <a:xfrm rot="10800000">
                      <a:off x="3872" y="1008"/>
                      <a:ext cx="0" cy="147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04" name="Text Box 86"/>
                    <p:cNvSpPr txBox="1"/>
                    <p:nvPr/>
                  </p:nvSpPr>
                  <p:spPr>
                    <a:xfrm>
                      <a:off x="3125" y="792"/>
                      <a:ext cx="356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SID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05" name="Text Box 87"/>
                    <p:cNvSpPr txBox="1"/>
                    <p:nvPr/>
                  </p:nvSpPr>
                  <p:spPr>
                    <a:xfrm>
                      <a:off x="3634" y="792"/>
                      <a:ext cx="411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SOD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06" name="Line 88"/>
                    <p:cNvSpPr/>
                    <p:nvPr/>
                  </p:nvSpPr>
                  <p:spPr>
                    <a:xfrm>
                      <a:off x="453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07" name="Line 89"/>
                    <p:cNvSpPr/>
                    <p:nvPr/>
                  </p:nvSpPr>
                  <p:spPr>
                    <a:xfrm>
                      <a:off x="1074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08" name="Line 90"/>
                    <p:cNvSpPr/>
                    <p:nvPr/>
                  </p:nvSpPr>
                  <p:spPr>
                    <a:xfrm>
                      <a:off x="1333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09" name="Line 91"/>
                    <p:cNvSpPr/>
                    <p:nvPr/>
                  </p:nvSpPr>
                  <p:spPr>
                    <a:xfrm>
                      <a:off x="1592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0" name="Line 92"/>
                    <p:cNvSpPr/>
                    <p:nvPr/>
                  </p:nvSpPr>
                  <p:spPr>
                    <a:xfrm>
                      <a:off x="1955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1" name="Line 93"/>
                    <p:cNvSpPr/>
                    <p:nvPr/>
                  </p:nvSpPr>
                  <p:spPr>
                    <a:xfrm>
                      <a:off x="2115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2" name="Line 94"/>
                    <p:cNvSpPr/>
                    <p:nvPr/>
                  </p:nvSpPr>
                  <p:spPr>
                    <a:xfrm>
                      <a:off x="2370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3" name="Line 95"/>
                    <p:cNvSpPr/>
                    <p:nvPr/>
                  </p:nvSpPr>
                  <p:spPr>
                    <a:xfrm>
                      <a:off x="2991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4" name="Line 96"/>
                    <p:cNvSpPr/>
                    <p:nvPr/>
                  </p:nvSpPr>
                  <p:spPr>
                    <a:xfrm>
                      <a:off x="3561" y="3888"/>
                      <a:ext cx="0" cy="144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5" name="Line 97"/>
                    <p:cNvSpPr/>
                    <p:nvPr/>
                  </p:nvSpPr>
                  <p:spPr>
                    <a:xfrm flipV="1">
                      <a:off x="815" y="3888"/>
                      <a:ext cx="0" cy="29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6" name="Line 98"/>
                    <p:cNvSpPr/>
                    <p:nvPr/>
                  </p:nvSpPr>
                  <p:spPr>
                    <a:xfrm flipV="1">
                      <a:off x="3354" y="3888"/>
                      <a:ext cx="0" cy="29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7" name="Line 99"/>
                    <p:cNvSpPr/>
                    <p:nvPr/>
                  </p:nvSpPr>
                  <p:spPr>
                    <a:xfrm flipV="1">
                      <a:off x="2784" y="3886"/>
                      <a:ext cx="0" cy="29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31818" name="Text Box 100"/>
                    <p:cNvSpPr txBox="1"/>
                    <p:nvPr/>
                  </p:nvSpPr>
                  <p:spPr>
                    <a:xfrm>
                      <a:off x="-9" y="3897"/>
                      <a:ext cx="428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CLK</a:t>
                      </a:r>
                      <a:endParaRPr lang="en-US" altLang="zh-CN" baseline="-25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19" name="Text Box 101"/>
                    <p:cNvSpPr txBox="1"/>
                    <p:nvPr/>
                  </p:nvSpPr>
                  <p:spPr>
                    <a:xfrm>
                      <a:off x="297" y="4032"/>
                      <a:ext cx="508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Ready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20" name="Text Box 102"/>
                    <p:cNvSpPr txBox="1"/>
                    <p:nvPr/>
                  </p:nvSpPr>
                  <p:spPr>
                    <a:xfrm>
                      <a:off x="867" y="4032"/>
                      <a:ext cx="324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RD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21" name="Line 103"/>
                    <p:cNvSpPr/>
                    <p:nvPr/>
                  </p:nvSpPr>
                  <p:spPr>
                    <a:xfrm>
                      <a:off x="930" y="4056"/>
                      <a:ext cx="204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822" name="Text Box 104"/>
                    <p:cNvSpPr txBox="1"/>
                    <p:nvPr/>
                  </p:nvSpPr>
                  <p:spPr>
                    <a:xfrm>
                      <a:off x="1178" y="4032"/>
                      <a:ext cx="364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WR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23" name="Line 105"/>
                    <p:cNvSpPr/>
                    <p:nvPr/>
                  </p:nvSpPr>
                  <p:spPr>
                    <a:xfrm>
                      <a:off x="1233" y="4056"/>
                      <a:ext cx="249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824" name="Text Box 106"/>
                    <p:cNvSpPr txBox="1"/>
                    <p:nvPr/>
                  </p:nvSpPr>
                  <p:spPr>
                    <a:xfrm>
                      <a:off x="1489" y="4032"/>
                      <a:ext cx="412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ALE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25" name="Text Box 107"/>
                    <p:cNvSpPr txBox="1"/>
                    <p:nvPr/>
                  </p:nvSpPr>
                  <p:spPr>
                    <a:xfrm>
                      <a:off x="2111" y="4032"/>
                      <a:ext cx="460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eaLnBrk="1" hangingPunct="1"/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IO/M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26" name="Line 108"/>
                    <p:cNvSpPr/>
                    <p:nvPr/>
                  </p:nvSpPr>
                  <p:spPr>
                    <a:xfrm>
                      <a:off x="2370" y="4056"/>
                      <a:ext cx="159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827" name="Rectangle 109"/>
                    <p:cNvSpPr/>
                    <p:nvPr/>
                  </p:nvSpPr>
                  <p:spPr>
                    <a:xfrm>
                      <a:off x="2991" y="1152"/>
                      <a:ext cx="1192" cy="286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grpSp>
                  <p:nvGrpSpPr>
                    <p:cNvPr id="31828" name="Group 110"/>
                    <p:cNvGrpSpPr/>
                    <p:nvPr/>
                  </p:nvGrpSpPr>
                  <p:grpSpPr>
                    <a:xfrm>
                      <a:off x="2473" y="1728"/>
                      <a:ext cx="415" cy="1056"/>
                      <a:chOff x="2482" y="1728"/>
                      <a:chExt cx="415" cy="1056"/>
                    </a:xfrm>
                  </p:grpSpPr>
                  <p:sp>
                    <p:nvSpPr>
                      <p:cNvPr id="31847" name="Freeform 111"/>
                      <p:cNvSpPr/>
                      <p:nvPr/>
                    </p:nvSpPr>
                    <p:spPr>
                      <a:xfrm>
                        <a:off x="2482" y="1824"/>
                        <a:ext cx="363" cy="96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960"/>
                          </a:cxn>
                          <a:cxn ang="0">
                            <a:pos x="392" y="960"/>
                          </a:cxn>
                          <a:cxn ang="0">
                            <a:pos x="392" y="0"/>
                          </a:cxn>
                        </a:cxnLst>
                        <a:pathLst>
                          <a:path w="336" h="960">
                            <a:moveTo>
                              <a:pt x="0" y="960"/>
                            </a:moveTo>
                            <a:lnTo>
                              <a:pt x="336" y="960"/>
                            </a:lnTo>
                            <a:lnTo>
                              <a:pt x="336" y="0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48" name="Freeform 112"/>
                      <p:cNvSpPr/>
                      <p:nvPr/>
                    </p:nvSpPr>
                    <p:spPr>
                      <a:xfrm>
                        <a:off x="2482" y="1824"/>
                        <a:ext cx="259" cy="86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864"/>
                          </a:cxn>
                          <a:cxn ang="0">
                            <a:pos x="280" y="864"/>
                          </a:cxn>
                          <a:cxn ang="0">
                            <a:pos x="280" y="0"/>
                          </a:cxn>
                        </a:cxnLst>
                        <a:pathLst>
                          <a:path w="240" h="864">
                            <a:moveTo>
                              <a:pt x="0" y="864"/>
                            </a:moveTo>
                            <a:lnTo>
                              <a:pt x="240" y="864"/>
                            </a:lnTo>
                            <a:lnTo>
                              <a:pt x="240" y="0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49" name="Freeform 113"/>
                      <p:cNvSpPr/>
                      <p:nvPr/>
                    </p:nvSpPr>
                    <p:spPr>
                      <a:xfrm>
                        <a:off x="2690" y="1728"/>
                        <a:ext cx="103" cy="9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1" y="0"/>
                          </a:cxn>
                          <a:cxn ang="0">
                            <a:pos x="0" y="96"/>
                          </a:cxn>
                          <a:cxn ang="0">
                            <a:pos x="56" y="96"/>
                          </a:cxn>
                        </a:cxnLst>
                        <a:pathLst>
                          <a:path w="96" h="96">
                            <a:moveTo>
                              <a:pt x="96" y="0"/>
                            </a:moveTo>
                            <a:lnTo>
                              <a:pt x="0" y="96"/>
                            </a:lnTo>
                            <a:lnTo>
                              <a:pt x="48" y="96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50" name="Freeform 114"/>
                      <p:cNvSpPr/>
                      <p:nvPr/>
                    </p:nvSpPr>
                    <p:spPr>
                      <a:xfrm>
                        <a:off x="2793" y="1728"/>
                        <a:ext cx="104" cy="9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113" y="96"/>
                          </a:cxn>
                          <a:cxn ang="0">
                            <a:pos x="56" y="96"/>
                          </a:cxn>
                        </a:cxnLst>
                        <a:pathLst>
                          <a:path w="96" h="96">
                            <a:moveTo>
                              <a:pt x="0" y="0"/>
                            </a:moveTo>
                            <a:lnTo>
                              <a:pt x="96" y="96"/>
                            </a:lnTo>
                            <a:lnTo>
                              <a:pt x="48" y="96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829" name="Freeform 115"/>
                    <p:cNvSpPr/>
                    <p:nvPr/>
                  </p:nvSpPr>
                  <p:spPr>
                    <a:xfrm>
                      <a:off x="4390" y="3429"/>
                      <a:ext cx="1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126"/>
                        </a:cxn>
                      </a:cxnLst>
                      <a:pathLst>
                        <a:path w="1" h="126">
                          <a:moveTo>
                            <a:pt x="0" y="0"/>
                          </a:moveTo>
                          <a:lnTo>
                            <a:pt x="0" y="126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31830" name="Freeform 116"/>
                    <p:cNvSpPr/>
                    <p:nvPr/>
                  </p:nvSpPr>
                  <p:spPr>
                    <a:xfrm>
                      <a:off x="4311" y="3264"/>
                      <a:ext cx="1" cy="29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" y="291"/>
                        </a:cxn>
                      </a:cxnLst>
                      <a:pathLst>
                        <a:path w="1" h="291">
                          <a:moveTo>
                            <a:pt x="0" y="0"/>
                          </a:moveTo>
                          <a:lnTo>
                            <a:pt x="1" y="291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31831" name="Freeform 117"/>
                    <p:cNvSpPr/>
                    <p:nvPr/>
                  </p:nvSpPr>
                  <p:spPr>
                    <a:xfrm>
                      <a:off x="4390" y="3264"/>
                      <a:ext cx="725" cy="29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96"/>
                        </a:cxn>
                        <a:cxn ang="0">
                          <a:pos x="782" y="96"/>
                        </a:cxn>
                        <a:cxn ang="0">
                          <a:pos x="782" y="291"/>
                        </a:cxn>
                      </a:cxnLst>
                      <a:pathLst>
                        <a:path w="672" h="291">
                          <a:moveTo>
                            <a:pt x="0" y="0"/>
                          </a:moveTo>
                          <a:lnTo>
                            <a:pt x="0" y="96"/>
                          </a:lnTo>
                          <a:lnTo>
                            <a:pt x="672" y="96"/>
                          </a:lnTo>
                          <a:lnTo>
                            <a:pt x="672" y="291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31832" name="Freeform 118"/>
                    <p:cNvSpPr/>
                    <p:nvPr/>
                  </p:nvSpPr>
                  <p:spPr>
                    <a:xfrm>
                      <a:off x="4393" y="3429"/>
                      <a:ext cx="654" cy="12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705" y="0"/>
                        </a:cxn>
                        <a:cxn ang="0">
                          <a:pos x="706" y="123"/>
                        </a:cxn>
                      </a:cxnLst>
                      <a:pathLst>
                        <a:path w="606" h="123">
                          <a:moveTo>
                            <a:pt x="0" y="0"/>
                          </a:moveTo>
                          <a:lnTo>
                            <a:pt x="605" y="0"/>
                          </a:lnTo>
                          <a:lnTo>
                            <a:pt x="606" y="123"/>
                          </a:lnTo>
                        </a:path>
                      </a:pathLst>
                    </a:custGeom>
                    <a:noFill/>
                    <a:ln w="28575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grpSp>
                  <p:nvGrpSpPr>
                    <p:cNvPr id="31833" name="Group 119"/>
                    <p:cNvGrpSpPr/>
                    <p:nvPr/>
                  </p:nvGrpSpPr>
                  <p:grpSpPr>
                    <a:xfrm>
                      <a:off x="4257" y="3546"/>
                      <a:ext cx="188" cy="102"/>
                      <a:chOff x="4266" y="3546"/>
                      <a:chExt cx="188" cy="102"/>
                    </a:xfrm>
                  </p:grpSpPr>
                  <p:sp>
                    <p:nvSpPr>
                      <p:cNvPr id="31843" name="Freeform 120"/>
                      <p:cNvSpPr/>
                      <p:nvPr/>
                    </p:nvSpPr>
                    <p:spPr>
                      <a:xfrm>
                        <a:off x="4347" y="3546"/>
                        <a:ext cx="107" cy="10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102"/>
                          </a:cxn>
                          <a:cxn ang="0">
                            <a:pos x="116" y="0"/>
                          </a:cxn>
                        </a:cxnLst>
                        <a:pathLst>
                          <a:path w="99" h="102">
                            <a:moveTo>
                              <a:pt x="0" y="102"/>
                            </a:moveTo>
                            <a:lnTo>
                              <a:pt x="99" y="0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44" name="Freeform 121"/>
                      <p:cNvSpPr/>
                      <p:nvPr/>
                    </p:nvSpPr>
                    <p:spPr>
                      <a:xfrm>
                        <a:off x="4396" y="3549"/>
                        <a:ext cx="58" cy="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62" y="0"/>
                          </a:cxn>
                        </a:cxnLst>
                        <a:pathLst>
                          <a:path w="54" h="1">
                            <a:moveTo>
                              <a:pt x="0" y="0"/>
                            </a:moveTo>
                            <a:lnTo>
                              <a:pt x="54" y="0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845" name="Line 122"/>
                      <p:cNvSpPr/>
                      <p:nvPr/>
                    </p:nvSpPr>
                    <p:spPr>
                      <a:xfrm flipH="1" flipV="1">
                        <a:off x="4267" y="3552"/>
                        <a:ext cx="104" cy="96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46" name="Freeform 123"/>
                      <p:cNvSpPr/>
                      <p:nvPr/>
                    </p:nvSpPr>
                    <p:spPr>
                      <a:xfrm>
                        <a:off x="4266" y="3552"/>
                        <a:ext cx="55" cy="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59" y="0"/>
                          </a:cxn>
                        </a:cxnLst>
                        <a:pathLst>
                          <a:path w="51" h="1">
                            <a:moveTo>
                              <a:pt x="0" y="0"/>
                            </a:moveTo>
                            <a:lnTo>
                              <a:pt x="51" y="0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1834" name="Group 124"/>
                    <p:cNvGrpSpPr/>
                    <p:nvPr/>
                  </p:nvGrpSpPr>
                  <p:grpSpPr>
                    <a:xfrm>
                      <a:off x="4982" y="3552"/>
                      <a:ext cx="185" cy="97"/>
                      <a:chOff x="4991" y="3552"/>
                      <a:chExt cx="185" cy="97"/>
                    </a:xfrm>
                  </p:grpSpPr>
                  <p:grpSp>
                    <p:nvGrpSpPr>
                      <p:cNvPr id="31838" name="Group 125"/>
                      <p:cNvGrpSpPr/>
                      <p:nvPr/>
                    </p:nvGrpSpPr>
                    <p:grpSpPr>
                      <a:xfrm>
                        <a:off x="5072" y="3552"/>
                        <a:ext cx="104" cy="97"/>
                        <a:chOff x="4992" y="3648"/>
                        <a:chExt cx="96" cy="97"/>
                      </a:xfrm>
                    </p:grpSpPr>
                    <p:sp>
                      <p:nvSpPr>
                        <p:cNvPr id="31841" name="Freeform 126"/>
                        <p:cNvSpPr/>
                        <p:nvPr/>
                      </p:nvSpPr>
                      <p:spPr>
                        <a:xfrm>
                          <a:off x="4992" y="3648"/>
                          <a:ext cx="93" cy="97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97"/>
                            </a:cxn>
                            <a:cxn ang="0">
                              <a:pos x="93" y="0"/>
                            </a:cxn>
                          </a:cxnLst>
                          <a:pathLst>
                            <a:path w="93" h="97">
                              <a:moveTo>
                                <a:pt x="0" y="97"/>
                              </a:moveTo>
                              <a:lnTo>
                                <a:pt x="93" y="0"/>
                              </a:lnTo>
                            </a:path>
                          </a:pathLst>
                        </a:custGeom>
                        <a:noFill/>
                        <a:ln w="28575" cap="flat" cmpd="sng">
                          <a:solidFill>
                            <a:schemeClr val="tx1">
                              <a:alpha val="10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1842" name="Line 127"/>
                        <p:cNvSpPr/>
                        <p:nvPr/>
                      </p:nvSpPr>
                      <p:spPr>
                        <a:xfrm>
                          <a:off x="5040" y="3649"/>
                          <a:ext cx="48" cy="0"/>
                        </a:xfrm>
                        <a:prstGeom prst="line">
                          <a:avLst/>
                        </a:prstGeom>
                        <a:ln w="28575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  <p:sp>
                    <p:nvSpPr>
                      <p:cNvPr id="31839" name="Line 128"/>
                      <p:cNvSpPr/>
                      <p:nvPr/>
                    </p:nvSpPr>
                    <p:spPr>
                      <a:xfrm flipH="1" flipV="1">
                        <a:off x="4992" y="3553"/>
                        <a:ext cx="104" cy="96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1840" name="Freeform 129"/>
                      <p:cNvSpPr/>
                      <p:nvPr/>
                    </p:nvSpPr>
                    <p:spPr>
                      <a:xfrm>
                        <a:off x="4991" y="3553"/>
                        <a:ext cx="55" cy="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59" y="0"/>
                          </a:cxn>
                        </a:cxnLst>
                        <a:pathLst>
                          <a:path w="51" h="1">
                            <a:moveTo>
                              <a:pt x="0" y="0"/>
                            </a:moveTo>
                            <a:lnTo>
                              <a:pt x="51" y="0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1835" name="Text Box 130"/>
                    <p:cNvSpPr txBox="1"/>
                    <p:nvPr/>
                  </p:nvSpPr>
                  <p:spPr>
                    <a:xfrm>
                      <a:off x="2784" y="4032"/>
                      <a:ext cx="777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HLDA</a:t>
                      </a:r>
                      <a:endParaRPr lang="en-US" altLang="zh-CN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36" name="Text Box 131"/>
                    <p:cNvSpPr txBox="1"/>
                    <p:nvPr/>
                  </p:nvSpPr>
                  <p:spPr>
                    <a:xfrm>
                      <a:off x="3352" y="4032"/>
                      <a:ext cx="971" cy="23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Reset out</a:t>
                      </a:r>
                      <a:endParaRPr lang="en-US" altLang="zh-CN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1837" name="Text Box 132"/>
                    <p:cNvSpPr txBox="1"/>
                    <p:nvPr/>
                  </p:nvSpPr>
                  <p:spPr>
                    <a:xfrm>
                      <a:off x="4764" y="3945"/>
                      <a:ext cx="829" cy="3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6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6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8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en-US" altLang="zh-CN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16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1600" baseline="-25000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baseline="-25000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31763" name="AutoShape 133"/>
                  <p:cNvSpPr/>
                  <p:nvPr/>
                </p:nvSpPr>
                <p:spPr>
                  <a:xfrm>
                    <a:off x="3302" y="2198"/>
                    <a:ext cx="104" cy="144"/>
                  </a:xfrm>
                  <a:prstGeom prst="downArrow">
                    <a:avLst>
                      <a:gd name="adj1" fmla="val 50000"/>
                      <a:gd name="adj2" fmla="val 34615"/>
                    </a:avLst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vert="eaVert" wrap="none" anchor="ctr" anchorCtr="0"/>
                  <a:p>
                    <a:pPr eaLnBrk="1" hangingPunct="1"/>
                    <a:endParaRPr lang="zh-CN" altLang="en-US" dirty="0">
                      <a:latin typeface="等线" panose="02010600030101010101" pitchFamily="2" charset="-122"/>
                    </a:endParaRPr>
                  </a:p>
                </p:txBody>
              </p:sp>
            </p:grpSp>
            <p:grpSp>
              <p:nvGrpSpPr>
                <p:cNvPr id="31757" name="Group 134"/>
                <p:cNvGrpSpPr/>
                <p:nvPr/>
              </p:nvGrpSpPr>
              <p:grpSpPr>
                <a:xfrm>
                  <a:off x="453" y="2208"/>
                  <a:ext cx="1309" cy="864"/>
                  <a:chOff x="462" y="2208"/>
                  <a:chExt cx="1309" cy="864"/>
                </a:xfrm>
              </p:grpSpPr>
              <p:sp>
                <p:nvSpPr>
                  <p:cNvPr id="31758" name="Freeform 135"/>
                  <p:cNvSpPr/>
                  <p:nvPr/>
                </p:nvSpPr>
                <p:spPr>
                  <a:xfrm>
                    <a:off x="1394" y="2208"/>
                    <a:ext cx="369" cy="24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240"/>
                      </a:cxn>
                      <a:cxn ang="0">
                        <a:pos x="398" y="240"/>
                      </a:cxn>
                    </a:cxnLst>
                    <a:pathLst>
                      <a:path w="342" h="240">
                        <a:moveTo>
                          <a:pt x="0" y="0"/>
                        </a:moveTo>
                        <a:lnTo>
                          <a:pt x="0" y="240"/>
                        </a:lnTo>
                        <a:lnTo>
                          <a:pt x="342" y="24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31759" name="Freeform 136"/>
                  <p:cNvSpPr/>
                  <p:nvPr/>
                </p:nvSpPr>
                <p:spPr>
                  <a:xfrm>
                    <a:off x="566" y="2208"/>
                    <a:ext cx="1205" cy="768"/>
                  </a:xfrm>
                  <a:custGeom>
                    <a:avLst/>
                    <a:gdLst/>
                    <a:ahLst/>
                    <a:cxnLst>
                      <a:cxn ang="0">
                        <a:pos x="1260" y="768"/>
                      </a:cxn>
                      <a:cxn ang="0">
                        <a:pos x="0" y="768"/>
                      </a:cxn>
                      <a:cxn ang="0">
                        <a:pos x="0" y="0"/>
                      </a:cxn>
                    </a:cxnLst>
                    <a:pathLst>
                      <a:path w="1152" h="768">
                        <a:moveTo>
                          <a:pt x="1152" y="768"/>
                        </a:moveTo>
                        <a:lnTo>
                          <a:pt x="0" y="768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31760" name="Freeform 137"/>
                  <p:cNvSpPr/>
                  <p:nvPr/>
                </p:nvSpPr>
                <p:spPr>
                  <a:xfrm>
                    <a:off x="462" y="2208"/>
                    <a:ext cx="1301" cy="864"/>
                  </a:xfrm>
                  <a:custGeom>
                    <a:avLst/>
                    <a:gdLst/>
                    <a:ahLst/>
                    <a:cxnLst>
                      <a:cxn ang="0">
                        <a:pos x="1403" y="864"/>
                      </a:cxn>
                      <a:cxn ang="0">
                        <a:pos x="0" y="864"/>
                      </a:cxn>
                      <a:cxn ang="0">
                        <a:pos x="0" y="0"/>
                      </a:cxn>
                    </a:cxnLst>
                    <a:pathLst>
                      <a:path w="1206" h="864">
                        <a:moveTo>
                          <a:pt x="1206" y="864"/>
                        </a:moveTo>
                        <a:lnTo>
                          <a:pt x="0" y="86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31761" name="Freeform 138"/>
                  <p:cNvSpPr/>
                  <p:nvPr/>
                </p:nvSpPr>
                <p:spPr>
                  <a:xfrm>
                    <a:off x="1291" y="2208"/>
                    <a:ext cx="476" cy="33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36"/>
                      </a:cxn>
                      <a:cxn ang="0">
                        <a:pos x="514" y="336"/>
                      </a:cxn>
                    </a:cxnLst>
                    <a:pathLst>
                      <a:path w="441" h="336">
                        <a:moveTo>
                          <a:pt x="0" y="0"/>
                        </a:moveTo>
                        <a:lnTo>
                          <a:pt x="0" y="336"/>
                        </a:lnTo>
                        <a:lnTo>
                          <a:pt x="441" y="336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1752" name="AutoShape 139"/>
            <p:cNvSpPr/>
            <p:nvPr/>
          </p:nvSpPr>
          <p:spPr>
            <a:xfrm>
              <a:off x="5097" y="3899"/>
              <a:ext cx="103" cy="170"/>
            </a:xfrm>
            <a:prstGeom prst="upDownArrow">
              <a:avLst>
                <a:gd name="adj1" fmla="val 50000"/>
                <a:gd name="adj2" fmla="val 33009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31750" name="AutoShape 14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0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288925" y="196850"/>
            <a:ext cx="45878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8085 的外部引脚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05187" name="Text Box 3"/>
          <p:cNvSpPr txBox="1"/>
          <p:nvPr/>
        </p:nvSpPr>
        <p:spPr>
          <a:xfrm>
            <a:off x="517525" y="914400"/>
            <a:ext cx="3597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地址和数据信号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5188" name="Text Box 4"/>
          <p:cNvSpPr txBox="1"/>
          <p:nvPr/>
        </p:nvSpPr>
        <p:spPr>
          <a:xfrm>
            <a:off x="441325" y="2667000"/>
            <a:ext cx="3673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定时和控制信号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5189" name="Text Box 5"/>
          <p:cNvSpPr txBox="1"/>
          <p:nvPr/>
        </p:nvSpPr>
        <p:spPr>
          <a:xfrm>
            <a:off x="441325" y="4902200"/>
            <a:ext cx="42068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(3) 存储器和 </a:t>
            </a:r>
            <a:r>
              <a:rPr lang="en-US" altLang="zh-CN" sz="2800" dirty="0">
                <a:latin typeface="Times New Roman" panose="02020603050405020304" pitchFamily="18" charset="0"/>
              </a:rPr>
              <a:t>I/O </a:t>
            </a:r>
            <a:r>
              <a:rPr lang="zh-CN" altLang="en-US" sz="2800" dirty="0">
                <a:latin typeface="Times New Roman" panose="02020603050405020304" pitchFamily="18" charset="0"/>
              </a:rPr>
              <a:t>初始化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5190" name="Text Box 6"/>
          <p:cNvSpPr txBox="1"/>
          <p:nvPr/>
        </p:nvSpPr>
        <p:spPr>
          <a:xfrm>
            <a:off x="898525" y="1457325"/>
            <a:ext cx="2835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~A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AD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~AD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5191" name="Text Box 7"/>
          <p:cNvSpPr txBox="1"/>
          <p:nvPr/>
        </p:nvSpPr>
        <p:spPr>
          <a:xfrm>
            <a:off x="898525" y="1955800"/>
            <a:ext cx="25304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SID          SOD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05192" name="Text Box 8"/>
          <p:cNvSpPr txBox="1"/>
          <p:nvPr/>
        </p:nvSpPr>
        <p:spPr>
          <a:xfrm>
            <a:off x="898525" y="3209925"/>
            <a:ext cx="2682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入   </a:t>
            </a: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      </a:t>
            </a: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605193" name="Text Box 9"/>
          <p:cNvSpPr txBox="1"/>
          <p:nvPr/>
        </p:nvSpPr>
        <p:spPr>
          <a:xfrm>
            <a:off x="898525" y="5562600"/>
            <a:ext cx="26749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入 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HOLD</a:t>
            </a:r>
            <a:r>
              <a:rPr lang="en-US" altLang="zh-CN" sz="2400" dirty="0">
                <a:latin typeface="Times New Roman" panose="02020603050405020304" pitchFamily="18" charset="0"/>
              </a:rPr>
              <a:t>   Ready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05194" name="Text Box 10"/>
          <p:cNvSpPr txBox="1"/>
          <p:nvPr/>
        </p:nvSpPr>
        <p:spPr>
          <a:xfrm>
            <a:off x="898525" y="60960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出 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HLDA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05195" name="Group 11"/>
          <p:cNvGrpSpPr/>
          <p:nvPr/>
        </p:nvGrpSpPr>
        <p:grpSpPr>
          <a:xfrm>
            <a:off x="898525" y="3708400"/>
            <a:ext cx="4359275" cy="933450"/>
            <a:chOff x="566" y="2336"/>
            <a:chExt cx="2746" cy="588"/>
          </a:xfrm>
        </p:grpSpPr>
        <p:sp>
          <p:nvSpPr>
            <p:cNvPr id="32910" name="Text Box 12"/>
            <p:cNvSpPr txBox="1"/>
            <p:nvPr/>
          </p:nvSpPr>
          <p:spPr>
            <a:xfrm>
              <a:off x="566" y="2336"/>
              <a:ext cx="2746" cy="5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15000"/>
                </a:lnSpc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出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CLK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ALE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S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S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1   </a:t>
              </a:r>
              <a:endParaRPr lang="en-US" altLang="zh-CN" sz="2400" baseline="-25000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15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IO/M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RD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11" name="Line 13"/>
            <p:cNvSpPr/>
            <p:nvPr/>
          </p:nvSpPr>
          <p:spPr>
            <a:xfrm>
              <a:off x="1233" y="2684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12" name="Line 14"/>
            <p:cNvSpPr/>
            <p:nvPr/>
          </p:nvSpPr>
          <p:spPr>
            <a:xfrm>
              <a:off x="1614" y="268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13" name="Line 15"/>
            <p:cNvSpPr/>
            <p:nvPr/>
          </p:nvSpPr>
          <p:spPr>
            <a:xfrm>
              <a:off x="2232" y="2684"/>
              <a:ext cx="312" cy="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05200" name="Group 16"/>
          <p:cNvGrpSpPr/>
          <p:nvPr/>
        </p:nvGrpSpPr>
        <p:grpSpPr>
          <a:xfrm>
            <a:off x="4724400" y="762000"/>
            <a:ext cx="3663950" cy="5791200"/>
            <a:chOff x="2976" y="480"/>
            <a:chExt cx="2308" cy="3648"/>
          </a:xfrm>
        </p:grpSpPr>
        <p:sp>
          <p:nvSpPr>
            <p:cNvPr id="32783" name="Rectangle 17"/>
            <p:cNvSpPr/>
            <p:nvPr/>
          </p:nvSpPr>
          <p:spPr>
            <a:xfrm>
              <a:off x="3792" y="480"/>
              <a:ext cx="624" cy="364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84" name="Rectangle 18"/>
            <p:cNvSpPr/>
            <p:nvPr/>
          </p:nvSpPr>
          <p:spPr>
            <a:xfrm>
              <a:off x="3696" y="52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85" name="Rectangle 19"/>
            <p:cNvSpPr/>
            <p:nvPr/>
          </p:nvSpPr>
          <p:spPr>
            <a:xfrm>
              <a:off x="3696" y="70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86" name="Rectangle 20"/>
            <p:cNvSpPr/>
            <p:nvPr/>
          </p:nvSpPr>
          <p:spPr>
            <a:xfrm>
              <a:off x="3696" y="88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87" name="Rectangle 21"/>
            <p:cNvSpPr/>
            <p:nvPr/>
          </p:nvSpPr>
          <p:spPr>
            <a:xfrm>
              <a:off x="3696" y="106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88" name="Rectangle 22"/>
            <p:cNvSpPr/>
            <p:nvPr/>
          </p:nvSpPr>
          <p:spPr>
            <a:xfrm>
              <a:off x="3696" y="1245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89" name="Rectangle 23"/>
            <p:cNvSpPr/>
            <p:nvPr/>
          </p:nvSpPr>
          <p:spPr>
            <a:xfrm>
              <a:off x="3696" y="142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0" name="Rectangle 24"/>
            <p:cNvSpPr/>
            <p:nvPr/>
          </p:nvSpPr>
          <p:spPr>
            <a:xfrm>
              <a:off x="3696" y="160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1" name="Rectangle 25"/>
            <p:cNvSpPr/>
            <p:nvPr/>
          </p:nvSpPr>
          <p:spPr>
            <a:xfrm>
              <a:off x="3696" y="1783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2" name="Rectangle 26"/>
            <p:cNvSpPr/>
            <p:nvPr/>
          </p:nvSpPr>
          <p:spPr>
            <a:xfrm>
              <a:off x="3696" y="196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3" name="Rectangle 27"/>
            <p:cNvSpPr/>
            <p:nvPr/>
          </p:nvSpPr>
          <p:spPr>
            <a:xfrm>
              <a:off x="3696" y="214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4" name="Rectangle 28"/>
            <p:cNvSpPr/>
            <p:nvPr/>
          </p:nvSpPr>
          <p:spPr>
            <a:xfrm>
              <a:off x="3696" y="232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5" name="Rectangle 29"/>
            <p:cNvSpPr/>
            <p:nvPr/>
          </p:nvSpPr>
          <p:spPr>
            <a:xfrm>
              <a:off x="3696" y="250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6" name="Rectangle 30"/>
            <p:cNvSpPr/>
            <p:nvPr/>
          </p:nvSpPr>
          <p:spPr>
            <a:xfrm>
              <a:off x="3696" y="2680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7" name="Rectangle 31"/>
            <p:cNvSpPr/>
            <p:nvPr/>
          </p:nvSpPr>
          <p:spPr>
            <a:xfrm>
              <a:off x="3696" y="285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8" name="Rectangle 32"/>
            <p:cNvSpPr/>
            <p:nvPr/>
          </p:nvSpPr>
          <p:spPr>
            <a:xfrm>
              <a:off x="3696" y="303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799" name="Rectangle 33"/>
            <p:cNvSpPr/>
            <p:nvPr/>
          </p:nvSpPr>
          <p:spPr>
            <a:xfrm>
              <a:off x="3696" y="321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00" name="Rectangle 34"/>
            <p:cNvSpPr/>
            <p:nvPr/>
          </p:nvSpPr>
          <p:spPr>
            <a:xfrm>
              <a:off x="3696" y="339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01" name="Rectangle 35"/>
            <p:cNvSpPr/>
            <p:nvPr/>
          </p:nvSpPr>
          <p:spPr>
            <a:xfrm>
              <a:off x="3696" y="357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02" name="Rectangle 36"/>
            <p:cNvSpPr/>
            <p:nvPr/>
          </p:nvSpPr>
          <p:spPr>
            <a:xfrm>
              <a:off x="3696" y="375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03" name="Rectangle 37"/>
            <p:cNvSpPr/>
            <p:nvPr/>
          </p:nvSpPr>
          <p:spPr>
            <a:xfrm>
              <a:off x="3696" y="393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04" name="Text Box 38"/>
            <p:cNvSpPr txBox="1"/>
            <p:nvPr/>
          </p:nvSpPr>
          <p:spPr>
            <a:xfrm>
              <a:off x="3782" y="48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05" name="Text Box 39"/>
            <p:cNvSpPr txBox="1"/>
            <p:nvPr/>
          </p:nvSpPr>
          <p:spPr>
            <a:xfrm>
              <a:off x="3782" y="66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06" name="Text Box 40"/>
            <p:cNvSpPr txBox="1"/>
            <p:nvPr/>
          </p:nvSpPr>
          <p:spPr>
            <a:xfrm>
              <a:off x="3782" y="83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07" name="Text Box 41"/>
            <p:cNvSpPr txBox="1"/>
            <p:nvPr/>
          </p:nvSpPr>
          <p:spPr>
            <a:xfrm>
              <a:off x="3782" y="101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08" name="Text Box 42"/>
            <p:cNvSpPr txBox="1"/>
            <p:nvPr/>
          </p:nvSpPr>
          <p:spPr>
            <a:xfrm>
              <a:off x="3782" y="1198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09" name="Text Box 43"/>
            <p:cNvSpPr txBox="1"/>
            <p:nvPr/>
          </p:nvSpPr>
          <p:spPr>
            <a:xfrm>
              <a:off x="3782" y="137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0" name="Text Box 44"/>
            <p:cNvSpPr txBox="1"/>
            <p:nvPr/>
          </p:nvSpPr>
          <p:spPr>
            <a:xfrm>
              <a:off x="3782" y="155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1" name="Text Box 45"/>
            <p:cNvSpPr txBox="1"/>
            <p:nvPr/>
          </p:nvSpPr>
          <p:spPr>
            <a:xfrm>
              <a:off x="3782" y="1736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2" name="Text Box 46"/>
            <p:cNvSpPr txBox="1"/>
            <p:nvPr/>
          </p:nvSpPr>
          <p:spPr>
            <a:xfrm>
              <a:off x="3782" y="1915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3" name="Text Box 47"/>
            <p:cNvSpPr txBox="1"/>
            <p:nvPr/>
          </p:nvSpPr>
          <p:spPr>
            <a:xfrm>
              <a:off x="3782" y="2095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4" name="Text Box 48"/>
            <p:cNvSpPr txBox="1"/>
            <p:nvPr/>
          </p:nvSpPr>
          <p:spPr>
            <a:xfrm>
              <a:off x="3782" y="227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5" name="Text Box 49"/>
            <p:cNvSpPr txBox="1"/>
            <p:nvPr/>
          </p:nvSpPr>
          <p:spPr>
            <a:xfrm>
              <a:off x="3782" y="245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6" name="Text Box 50"/>
            <p:cNvSpPr txBox="1"/>
            <p:nvPr/>
          </p:nvSpPr>
          <p:spPr>
            <a:xfrm>
              <a:off x="3782" y="2633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7" name="Text Box 51"/>
            <p:cNvSpPr txBox="1"/>
            <p:nvPr/>
          </p:nvSpPr>
          <p:spPr>
            <a:xfrm>
              <a:off x="3782" y="281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8" name="Text Box 52"/>
            <p:cNvSpPr txBox="1"/>
            <p:nvPr/>
          </p:nvSpPr>
          <p:spPr>
            <a:xfrm>
              <a:off x="3782" y="299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19" name="Text Box 53"/>
            <p:cNvSpPr txBox="1"/>
            <p:nvPr/>
          </p:nvSpPr>
          <p:spPr>
            <a:xfrm>
              <a:off x="3782" y="3171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0" name="Text Box 54"/>
            <p:cNvSpPr txBox="1"/>
            <p:nvPr/>
          </p:nvSpPr>
          <p:spPr>
            <a:xfrm>
              <a:off x="3782" y="335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1" name="Text Box 55"/>
            <p:cNvSpPr txBox="1"/>
            <p:nvPr/>
          </p:nvSpPr>
          <p:spPr>
            <a:xfrm>
              <a:off x="3782" y="353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2" name="Text Box 56"/>
            <p:cNvSpPr txBox="1"/>
            <p:nvPr/>
          </p:nvSpPr>
          <p:spPr>
            <a:xfrm>
              <a:off x="3782" y="370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3" name="Text Box 57"/>
            <p:cNvSpPr txBox="1"/>
            <p:nvPr/>
          </p:nvSpPr>
          <p:spPr>
            <a:xfrm>
              <a:off x="3782" y="388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4" name="Text Box 58"/>
            <p:cNvSpPr txBox="1"/>
            <p:nvPr/>
          </p:nvSpPr>
          <p:spPr>
            <a:xfrm>
              <a:off x="4176" y="48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40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5" name="Text Box 59"/>
            <p:cNvSpPr txBox="1"/>
            <p:nvPr/>
          </p:nvSpPr>
          <p:spPr>
            <a:xfrm>
              <a:off x="4176" y="66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6" name="Text Box 60"/>
            <p:cNvSpPr txBox="1"/>
            <p:nvPr/>
          </p:nvSpPr>
          <p:spPr>
            <a:xfrm>
              <a:off x="4176" y="83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7" name="Text Box 61"/>
            <p:cNvSpPr txBox="1"/>
            <p:nvPr/>
          </p:nvSpPr>
          <p:spPr>
            <a:xfrm>
              <a:off x="4176" y="101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8" name="Text Box 62"/>
            <p:cNvSpPr txBox="1"/>
            <p:nvPr/>
          </p:nvSpPr>
          <p:spPr>
            <a:xfrm>
              <a:off x="4176" y="119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29" name="Text Box 63"/>
            <p:cNvSpPr txBox="1"/>
            <p:nvPr/>
          </p:nvSpPr>
          <p:spPr>
            <a:xfrm>
              <a:off x="4176" y="1377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0" name="Text Box 64"/>
            <p:cNvSpPr txBox="1"/>
            <p:nvPr/>
          </p:nvSpPr>
          <p:spPr>
            <a:xfrm>
              <a:off x="4176" y="1557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1" name="Text Box 65"/>
            <p:cNvSpPr txBox="1"/>
            <p:nvPr/>
          </p:nvSpPr>
          <p:spPr>
            <a:xfrm>
              <a:off x="4176" y="1736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2" name="Text Box 66"/>
            <p:cNvSpPr txBox="1"/>
            <p:nvPr/>
          </p:nvSpPr>
          <p:spPr>
            <a:xfrm>
              <a:off x="4176" y="1915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3" name="Text Box 67"/>
            <p:cNvSpPr txBox="1"/>
            <p:nvPr/>
          </p:nvSpPr>
          <p:spPr>
            <a:xfrm>
              <a:off x="4176" y="2095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4" name="Text Box 68"/>
            <p:cNvSpPr txBox="1"/>
            <p:nvPr/>
          </p:nvSpPr>
          <p:spPr>
            <a:xfrm>
              <a:off x="4176" y="227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5" name="Text Box 69"/>
            <p:cNvSpPr txBox="1"/>
            <p:nvPr/>
          </p:nvSpPr>
          <p:spPr>
            <a:xfrm>
              <a:off x="4176" y="245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6" name="Text Box 70"/>
            <p:cNvSpPr txBox="1"/>
            <p:nvPr/>
          </p:nvSpPr>
          <p:spPr>
            <a:xfrm>
              <a:off x="4176" y="2633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7" name="Text Box 71"/>
            <p:cNvSpPr txBox="1"/>
            <p:nvPr/>
          </p:nvSpPr>
          <p:spPr>
            <a:xfrm>
              <a:off x="4176" y="281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8" name="Text Box 72"/>
            <p:cNvSpPr txBox="1"/>
            <p:nvPr/>
          </p:nvSpPr>
          <p:spPr>
            <a:xfrm>
              <a:off x="4176" y="299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39" name="Text Box 73"/>
            <p:cNvSpPr txBox="1"/>
            <p:nvPr/>
          </p:nvSpPr>
          <p:spPr>
            <a:xfrm>
              <a:off x="4176" y="3171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40" name="Text Box 74"/>
            <p:cNvSpPr txBox="1"/>
            <p:nvPr/>
          </p:nvSpPr>
          <p:spPr>
            <a:xfrm>
              <a:off x="4176" y="335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41" name="Text Box 75"/>
            <p:cNvSpPr txBox="1"/>
            <p:nvPr/>
          </p:nvSpPr>
          <p:spPr>
            <a:xfrm>
              <a:off x="4176" y="353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42" name="Text Box 76"/>
            <p:cNvSpPr txBox="1"/>
            <p:nvPr/>
          </p:nvSpPr>
          <p:spPr>
            <a:xfrm>
              <a:off x="4176" y="370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43" name="Text Box 77"/>
            <p:cNvSpPr txBox="1"/>
            <p:nvPr/>
          </p:nvSpPr>
          <p:spPr>
            <a:xfrm>
              <a:off x="4176" y="388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844" name="Text Box 78"/>
            <p:cNvSpPr txBox="1"/>
            <p:nvPr/>
          </p:nvSpPr>
          <p:spPr>
            <a:xfrm>
              <a:off x="3396" y="480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45" name="Text Box 79"/>
            <p:cNvSpPr txBox="1"/>
            <p:nvPr/>
          </p:nvSpPr>
          <p:spPr>
            <a:xfrm>
              <a:off x="3396" y="660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46" name="Text Box 80"/>
            <p:cNvSpPr txBox="1"/>
            <p:nvPr/>
          </p:nvSpPr>
          <p:spPr>
            <a:xfrm>
              <a:off x="2976" y="839"/>
              <a:ext cx="6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Reset out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47" name="Text Box 81"/>
            <p:cNvSpPr txBox="1"/>
            <p:nvPr/>
          </p:nvSpPr>
          <p:spPr>
            <a:xfrm>
              <a:off x="3252" y="1019"/>
              <a:ext cx="4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SOD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48" name="Text Box 82"/>
            <p:cNvSpPr txBox="1"/>
            <p:nvPr/>
          </p:nvSpPr>
          <p:spPr>
            <a:xfrm>
              <a:off x="3308" y="1198"/>
              <a:ext cx="35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SID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49" name="Text Box 83"/>
            <p:cNvSpPr txBox="1"/>
            <p:nvPr/>
          </p:nvSpPr>
          <p:spPr>
            <a:xfrm>
              <a:off x="3236" y="1377"/>
              <a:ext cx="4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Trap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50" name="Text Box 84"/>
            <p:cNvSpPr txBox="1"/>
            <p:nvPr/>
          </p:nvSpPr>
          <p:spPr>
            <a:xfrm>
              <a:off x="3088" y="1557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RST7.5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51" name="Text Box 85"/>
            <p:cNvSpPr txBox="1"/>
            <p:nvPr/>
          </p:nvSpPr>
          <p:spPr>
            <a:xfrm>
              <a:off x="3088" y="1736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RST6.5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52" name="Text Box 86"/>
            <p:cNvSpPr txBox="1"/>
            <p:nvPr/>
          </p:nvSpPr>
          <p:spPr>
            <a:xfrm>
              <a:off x="3088" y="1915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RST5.5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53" name="Text Box 87"/>
            <p:cNvSpPr txBox="1"/>
            <p:nvPr/>
          </p:nvSpPr>
          <p:spPr>
            <a:xfrm>
              <a:off x="3188" y="2274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INTA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54" name="Text Box 88"/>
            <p:cNvSpPr txBox="1"/>
            <p:nvPr/>
          </p:nvSpPr>
          <p:spPr>
            <a:xfrm>
              <a:off x="3292" y="2454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55" name="Text Box 89"/>
            <p:cNvSpPr txBox="1"/>
            <p:nvPr/>
          </p:nvSpPr>
          <p:spPr>
            <a:xfrm>
              <a:off x="3292" y="2633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56" name="Text Box 90"/>
            <p:cNvSpPr txBox="1"/>
            <p:nvPr/>
          </p:nvSpPr>
          <p:spPr>
            <a:xfrm>
              <a:off x="3292" y="2812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57" name="Text Box 91"/>
            <p:cNvSpPr txBox="1"/>
            <p:nvPr/>
          </p:nvSpPr>
          <p:spPr>
            <a:xfrm>
              <a:off x="3292" y="2992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58" name="Text Box 92"/>
            <p:cNvSpPr txBox="1"/>
            <p:nvPr/>
          </p:nvSpPr>
          <p:spPr>
            <a:xfrm>
              <a:off x="3292" y="3171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4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59" name="Text Box 93"/>
            <p:cNvSpPr txBox="1"/>
            <p:nvPr/>
          </p:nvSpPr>
          <p:spPr>
            <a:xfrm>
              <a:off x="3292" y="3350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5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0" name="Text Box 94"/>
            <p:cNvSpPr txBox="1"/>
            <p:nvPr/>
          </p:nvSpPr>
          <p:spPr>
            <a:xfrm>
              <a:off x="3292" y="3530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6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1" name="Text Box 95"/>
            <p:cNvSpPr txBox="1"/>
            <p:nvPr/>
          </p:nvSpPr>
          <p:spPr>
            <a:xfrm>
              <a:off x="3292" y="3709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7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2" name="Text Box 96"/>
            <p:cNvSpPr txBox="1"/>
            <p:nvPr/>
          </p:nvSpPr>
          <p:spPr>
            <a:xfrm>
              <a:off x="3332" y="3888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SS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863" name="Group 97"/>
            <p:cNvGrpSpPr/>
            <p:nvPr/>
          </p:nvGrpSpPr>
          <p:grpSpPr>
            <a:xfrm>
              <a:off x="3188" y="2095"/>
              <a:ext cx="476" cy="231"/>
              <a:chOff x="3188" y="2095"/>
              <a:chExt cx="476" cy="231"/>
            </a:xfrm>
          </p:grpSpPr>
          <p:sp>
            <p:nvSpPr>
              <p:cNvPr id="32908" name="Text Box 98"/>
              <p:cNvSpPr txBox="1"/>
              <p:nvPr/>
            </p:nvSpPr>
            <p:spPr>
              <a:xfrm>
                <a:off x="3188" y="2095"/>
                <a:ext cx="47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latin typeface="Times New Roman" panose="02020603050405020304" pitchFamily="18" charset="0"/>
                  </a:rPr>
                  <a:t>INTR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09" name="Line 99"/>
              <p:cNvSpPr/>
              <p:nvPr/>
            </p:nvSpPr>
            <p:spPr>
              <a:xfrm>
                <a:off x="3236" y="2126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864" name="Text Box 100"/>
            <p:cNvSpPr txBox="1"/>
            <p:nvPr/>
          </p:nvSpPr>
          <p:spPr>
            <a:xfrm>
              <a:off x="4560" y="480"/>
              <a:ext cx="35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CC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5" name="Text Box 101"/>
            <p:cNvSpPr txBox="1"/>
            <p:nvPr/>
          </p:nvSpPr>
          <p:spPr>
            <a:xfrm>
              <a:off x="4560" y="660"/>
              <a:ext cx="5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HOLD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66" name="Text Box 102"/>
            <p:cNvSpPr txBox="1"/>
            <p:nvPr/>
          </p:nvSpPr>
          <p:spPr>
            <a:xfrm>
              <a:off x="4560" y="839"/>
              <a:ext cx="5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HLDA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67" name="Text Box 103"/>
            <p:cNvSpPr txBox="1"/>
            <p:nvPr/>
          </p:nvSpPr>
          <p:spPr>
            <a:xfrm>
              <a:off x="4560" y="1019"/>
              <a:ext cx="7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CLK(out)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68" name="Text Box 104"/>
            <p:cNvSpPr txBox="1"/>
            <p:nvPr/>
          </p:nvSpPr>
          <p:spPr>
            <a:xfrm>
              <a:off x="4588" y="1198"/>
              <a:ext cx="6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Rsest in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69" name="Text Box 105"/>
            <p:cNvSpPr txBox="1"/>
            <p:nvPr/>
          </p:nvSpPr>
          <p:spPr>
            <a:xfrm>
              <a:off x="4560" y="1377"/>
              <a:ext cx="5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Ready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2870" name="Text Box 106"/>
            <p:cNvSpPr txBox="1"/>
            <p:nvPr/>
          </p:nvSpPr>
          <p:spPr>
            <a:xfrm>
              <a:off x="4584" y="1557"/>
              <a:ext cx="4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IO/M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71" name="Text Box 107"/>
            <p:cNvSpPr txBox="1"/>
            <p:nvPr/>
          </p:nvSpPr>
          <p:spPr>
            <a:xfrm>
              <a:off x="4560" y="1736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2" name="Text Box 108"/>
            <p:cNvSpPr txBox="1"/>
            <p:nvPr/>
          </p:nvSpPr>
          <p:spPr>
            <a:xfrm>
              <a:off x="4576" y="1915"/>
              <a:ext cx="3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RD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73" name="Text Box 109"/>
            <p:cNvSpPr txBox="1"/>
            <p:nvPr/>
          </p:nvSpPr>
          <p:spPr>
            <a:xfrm>
              <a:off x="4560" y="2095"/>
              <a:ext cx="36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WR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74" name="Text Box 110"/>
            <p:cNvSpPr txBox="1"/>
            <p:nvPr/>
          </p:nvSpPr>
          <p:spPr>
            <a:xfrm>
              <a:off x="4584" y="2274"/>
              <a:ext cx="4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ALE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75" name="Text Box 111"/>
            <p:cNvSpPr txBox="1"/>
            <p:nvPr/>
          </p:nvSpPr>
          <p:spPr>
            <a:xfrm>
              <a:off x="4584" y="2454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6" name="Text Box 112"/>
            <p:cNvSpPr txBox="1"/>
            <p:nvPr/>
          </p:nvSpPr>
          <p:spPr>
            <a:xfrm>
              <a:off x="4584" y="2633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15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7" name="Text Box 113"/>
            <p:cNvSpPr txBox="1"/>
            <p:nvPr/>
          </p:nvSpPr>
          <p:spPr>
            <a:xfrm>
              <a:off x="4584" y="2812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14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8" name="Text Box 114"/>
            <p:cNvSpPr txBox="1"/>
            <p:nvPr/>
          </p:nvSpPr>
          <p:spPr>
            <a:xfrm>
              <a:off x="4584" y="2992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13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9" name="Text Box 115"/>
            <p:cNvSpPr txBox="1"/>
            <p:nvPr/>
          </p:nvSpPr>
          <p:spPr>
            <a:xfrm>
              <a:off x="4584" y="3171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12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80" name="Text Box 116"/>
            <p:cNvSpPr txBox="1"/>
            <p:nvPr/>
          </p:nvSpPr>
          <p:spPr>
            <a:xfrm>
              <a:off x="4584" y="3350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81" name="Text Box 117"/>
            <p:cNvSpPr txBox="1"/>
            <p:nvPr/>
          </p:nvSpPr>
          <p:spPr>
            <a:xfrm>
              <a:off x="4584" y="3530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82" name="Text Box 118"/>
            <p:cNvSpPr txBox="1"/>
            <p:nvPr/>
          </p:nvSpPr>
          <p:spPr>
            <a:xfrm>
              <a:off x="4584" y="3709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9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83" name="Text Box 119"/>
            <p:cNvSpPr txBox="1"/>
            <p:nvPr/>
          </p:nvSpPr>
          <p:spPr>
            <a:xfrm>
              <a:off x="4584" y="3888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8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84" name="Line 120"/>
            <p:cNvSpPr/>
            <p:nvPr/>
          </p:nvSpPr>
          <p:spPr>
            <a:xfrm>
              <a:off x="4612" y="1237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85" name="Line 121"/>
            <p:cNvSpPr/>
            <p:nvPr/>
          </p:nvSpPr>
          <p:spPr>
            <a:xfrm>
              <a:off x="4828" y="1593"/>
              <a:ext cx="144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86" name="Line 122"/>
            <p:cNvSpPr/>
            <p:nvPr/>
          </p:nvSpPr>
          <p:spPr>
            <a:xfrm>
              <a:off x="4612" y="1954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87" name="Line 123"/>
            <p:cNvSpPr/>
            <p:nvPr/>
          </p:nvSpPr>
          <p:spPr>
            <a:xfrm>
              <a:off x="4608" y="2126"/>
              <a:ext cx="263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88" name="Rectangle 124"/>
            <p:cNvSpPr/>
            <p:nvPr/>
          </p:nvSpPr>
          <p:spPr>
            <a:xfrm>
              <a:off x="4416" y="52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89" name="Rectangle 125"/>
            <p:cNvSpPr/>
            <p:nvPr/>
          </p:nvSpPr>
          <p:spPr>
            <a:xfrm>
              <a:off x="4416" y="70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0" name="Rectangle 126"/>
            <p:cNvSpPr/>
            <p:nvPr/>
          </p:nvSpPr>
          <p:spPr>
            <a:xfrm>
              <a:off x="4416" y="88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1" name="Rectangle 127"/>
            <p:cNvSpPr/>
            <p:nvPr/>
          </p:nvSpPr>
          <p:spPr>
            <a:xfrm>
              <a:off x="4416" y="106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2" name="Rectangle 128"/>
            <p:cNvSpPr/>
            <p:nvPr/>
          </p:nvSpPr>
          <p:spPr>
            <a:xfrm>
              <a:off x="4416" y="1245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3" name="Rectangle 129"/>
            <p:cNvSpPr/>
            <p:nvPr/>
          </p:nvSpPr>
          <p:spPr>
            <a:xfrm>
              <a:off x="4416" y="142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4" name="Rectangle 130"/>
            <p:cNvSpPr/>
            <p:nvPr/>
          </p:nvSpPr>
          <p:spPr>
            <a:xfrm>
              <a:off x="4416" y="160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5" name="Rectangle 131"/>
            <p:cNvSpPr/>
            <p:nvPr/>
          </p:nvSpPr>
          <p:spPr>
            <a:xfrm>
              <a:off x="4416" y="1783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6" name="Rectangle 132"/>
            <p:cNvSpPr/>
            <p:nvPr/>
          </p:nvSpPr>
          <p:spPr>
            <a:xfrm>
              <a:off x="4416" y="196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7" name="Rectangle 133"/>
            <p:cNvSpPr/>
            <p:nvPr/>
          </p:nvSpPr>
          <p:spPr>
            <a:xfrm>
              <a:off x="4416" y="214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8" name="Rectangle 134"/>
            <p:cNvSpPr/>
            <p:nvPr/>
          </p:nvSpPr>
          <p:spPr>
            <a:xfrm>
              <a:off x="4416" y="232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99" name="Rectangle 135"/>
            <p:cNvSpPr/>
            <p:nvPr/>
          </p:nvSpPr>
          <p:spPr>
            <a:xfrm>
              <a:off x="4416" y="250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0" name="Rectangle 136"/>
            <p:cNvSpPr/>
            <p:nvPr/>
          </p:nvSpPr>
          <p:spPr>
            <a:xfrm>
              <a:off x="4416" y="2680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1" name="Rectangle 137"/>
            <p:cNvSpPr/>
            <p:nvPr/>
          </p:nvSpPr>
          <p:spPr>
            <a:xfrm>
              <a:off x="4416" y="285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2" name="Rectangle 138"/>
            <p:cNvSpPr/>
            <p:nvPr/>
          </p:nvSpPr>
          <p:spPr>
            <a:xfrm>
              <a:off x="4416" y="303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3" name="Rectangle 139"/>
            <p:cNvSpPr/>
            <p:nvPr/>
          </p:nvSpPr>
          <p:spPr>
            <a:xfrm>
              <a:off x="4416" y="321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4" name="Rectangle 140"/>
            <p:cNvSpPr/>
            <p:nvPr/>
          </p:nvSpPr>
          <p:spPr>
            <a:xfrm>
              <a:off x="4416" y="339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5" name="Rectangle 141"/>
            <p:cNvSpPr/>
            <p:nvPr/>
          </p:nvSpPr>
          <p:spPr>
            <a:xfrm>
              <a:off x="4416" y="357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6" name="Rectangle 142"/>
            <p:cNvSpPr/>
            <p:nvPr/>
          </p:nvSpPr>
          <p:spPr>
            <a:xfrm>
              <a:off x="4416" y="375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907" name="Rectangle 143"/>
            <p:cNvSpPr/>
            <p:nvPr/>
          </p:nvSpPr>
          <p:spPr>
            <a:xfrm>
              <a:off x="4416" y="393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05328" name="Rectangle 14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2" name="AutoShape 14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0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0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7" grpId="0"/>
      <p:bldP spid="605188" grpId="0"/>
      <p:bldP spid="605189" grpId="0"/>
      <p:bldP spid="605190" grpId="0"/>
      <p:bldP spid="605191" grpId="0"/>
      <p:bldP spid="605192" grpId="0"/>
      <p:bldP spid="605193" grpId="0"/>
      <p:bldP spid="60519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Text Box 2"/>
          <p:cNvSpPr txBox="1"/>
          <p:nvPr/>
        </p:nvSpPr>
        <p:spPr>
          <a:xfrm>
            <a:off x="398463" y="219075"/>
            <a:ext cx="42497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(4) 与中断有关的信号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6211" name="Text Box 3"/>
          <p:cNvSpPr txBox="1"/>
          <p:nvPr/>
        </p:nvSpPr>
        <p:spPr>
          <a:xfrm>
            <a:off x="398463" y="2671763"/>
            <a:ext cx="33353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(5) </a:t>
            </a:r>
            <a:r>
              <a:rPr lang="en-US" altLang="zh-CN" sz="2800" dirty="0">
                <a:latin typeface="Times New Roman" panose="02020603050405020304" pitchFamily="18" charset="0"/>
              </a:rPr>
              <a:t>CPU </a:t>
            </a:r>
            <a:r>
              <a:rPr lang="zh-CN" altLang="en-US" sz="2800" dirty="0">
                <a:latin typeface="Times New Roman" panose="02020603050405020304" pitchFamily="18" charset="0"/>
              </a:rPr>
              <a:t>初始化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6212" name="Text Box 4"/>
          <p:cNvSpPr txBox="1"/>
          <p:nvPr/>
        </p:nvSpPr>
        <p:spPr>
          <a:xfrm>
            <a:off x="398463" y="4591050"/>
            <a:ext cx="31829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(6) 电源和地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6213" name="Text Box 5"/>
          <p:cNvSpPr txBox="1"/>
          <p:nvPr/>
        </p:nvSpPr>
        <p:spPr>
          <a:xfrm>
            <a:off x="1262063" y="1417638"/>
            <a:ext cx="2301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出  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INTA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6214" name="Text Box 6"/>
          <p:cNvSpPr txBox="1"/>
          <p:nvPr/>
        </p:nvSpPr>
        <p:spPr>
          <a:xfrm>
            <a:off x="1262063" y="1985963"/>
            <a:ext cx="33099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Trap </a:t>
            </a:r>
            <a:r>
              <a:rPr lang="zh-CN" altLang="en-US" sz="2400" dirty="0">
                <a:latin typeface="Times New Roman" panose="02020603050405020304" pitchFamily="18" charset="0"/>
              </a:rPr>
              <a:t>重新启动中断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06215" name="Group 7"/>
          <p:cNvGrpSpPr/>
          <p:nvPr/>
        </p:nvGrpSpPr>
        <p:grpSpPr>
          <a:xfrm>
            <a:off x="1262063" y="849313"/>
            <a:ext cx="1558925" cy="457200"/>
            <a:chOff x="795" y="535"/>
            <a:chExt cx="982" cy="288"/>
          </a:xfrm>
        </p:grpSpPr>
        <p:sp>
          <p:nvSpPr>
            <p:cNvPr id="33936" name="Text Box 8"/>
            <p:cNvSpPr txBox="1"/>
            <p:nvPr/>
          </p:nvSpPr>
          <p:spPr>
            <a:xfrm>
              <a:off x="795" y="535"/>
              <a:ext cx="9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入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937" name="Line 9"/>
            <p:cNvSpPr/>
            <p:nvPr/>
          </p:nvSpPr>
          <p:spPr>
            <a:xfrm>
              <a:off x="1200" y="583"/>
              <a:ext cx="52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06218" name="Group 10"/>
          <p:cNvGrpSpPr/>
          <p:nvPr/>
        </p:nvGrpSpPr>
        <p:grpSpPr>
          <a:xfrm>
            <a:off x="1262063" y="3302000"/>
            <a:ext cx="1912937" cy="457200"/>
            <a:chOff x="795" y="2080"/>
            <a:chExt cx="1205" cy="288"/>
          </a:xfrm>
        </p:grpSpPr>
        <p:sp>
          <p:nvSpPr>
            <p:cNvPr id="33934" name="Text Box 11"/>
            <p:cNvSpPr txBox="1"/>
            <p:nvPr/>
          </p:nvSpPr>
          <p:spPr>
            <a:xfrm>
              <a:off x="795" y="2080"/>
              <a:ext cx="12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入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Reset in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3935" name="Line 12"/>
            <p:cNvSpPr/>
            <p:nvPr/>
          </p:nvSpPr>
          <p:spPr>
            <a:xfrm>
              <a:off x="1296" y="2128"/>
              <a:ext cx="6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06221" name="Text Box 13"/>
          <p:cNvSpPr txBox="1"/>
          <p:nvPr/>
        </p:nvSpPr>
        <p:spPr>
          <a:xfrm>
            <a:off x="1262063" y="3870325"/>
            <a:ext cx="20828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出     </a:t>
            </a:r>
            <a:r>
              <a:rPr lang="en-US" altLang="zh-CN" sz="2400" dirty="0">
                <a:latin typeface="Times New Roman" panose="02020603050405020304" pitchFamily="18" charset="0"/>
              </a:rPr>
              <a:t>Reset out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06222" name="Text Box 14"/>
          <p:cNvSpPr txBox="1"/>
          <p:nvPr/>
        </p:nvSpPr>
        <p:spPr>
          <a:xfrm>
            <a:off x="1262063" y="5221288"/>
            <a:ext cx="168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CC</a:t>
            </a:r>
            <a:r>
              <a:rPr lang="en-US" altLang="zh-CN" sz="2400" dirty="0">
                <a:latin typeface="Times New Roman" panose="02020603050405020304" pitchFamily="18" charset="0"/>
              </a:rPr>
              <a:t>     +5 V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06223" name="Text Box 15"/>
          <p:cNvSpPr txBox="1"/>
          <p:nvPr/>
        </p:nvSpPr>
        <p:spPr>
          <a:xfrm>
            <a:off x="1262063" y="5791200"/>
            <a:ext cx="25892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SS</a:t>
            </a: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</a:rPr>
              <a:t>地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06224" name="Group 16"/>
          <p:cNvGrpSpPr/>
          <p:nvPr/>
        </p:nvGrpSpPr>
        <p:grpSpPr>
          <a:xfrm>
            <a:off x="4724400" y="762000"/>
            <a:ext cx="3663950" cy="5791200"/>
            <a:chOff x="2976" y="480"/>
            <a:chExt cx="2308" cy="3648"/>
          </a:xfrm>
        </p:grpSpPr>
        <p:sp>
          <p:nvSpPr>
            <p:cNvPr id="33807" name="Rectangle 17"/>
            <p:cNvSpPr/>
            <p:nvPr/>
          </p:nvSpPr>
          <p:spPr>
            <a:xfrm>
              <a:off x="3792" y="480"/>
              <a:ext cx="624" cy="364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08" name="Rectangle 18"/>
            <p:cNvSpPr/>
            <p:nvPr/>
          </p:nvSpPr>
          <p:spPr>
            <a:xfrm>
              <a:off x="3696" y="52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09" name="Rectangle 19"/>
            <p:cNvSpPr/>
            <p:nvPr/>
          </p:nvSpPr>
          <p:spPr>
            <a:xfrm>
              <a:off x="3696" y="70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0" name="Rectangle 20"/>
            <p:cNvSpPr/>
            <p:nvPr/>
          </p:nvSpPr>
          <p:spPr>
            <a:xfrm>
              <a:off x="3696" y="88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1" name="Rectangle 21"/>
            <p:cNvSpPr/>
            <p:nvPr/>
          </p:nvSpPr>
          <p:spPr>
            <a:xfrm>
              <a:off x="3696" y="106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2" name="Rectangle 22"/>
            <p:cNvSpPr/>
            <p:nvPr/>
          </p:nvSpPr>
          <p:spPr>
            <a:xfrm>
              <a:off x="3696" y="1245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3" name="Rectangle 23"/>
            <p:cNvSpPr/>
            <p:nvPr/>
          </p:nvSpPr>
          <p:spPr>
            <a:xfrm>
              <a:off x="3696" y="142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4" name="Rectangle 24"/>
            <p:cNvSpPr/>
            <p:nvPr/>
          </p:nvSpPr>
          <p:spPr>
            <a:xfrm>
              <a:off x="3696" y="160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5" name="Rectangle 25"/>
            <p:cNvSpPr/>
            <p:nvPr/>
          </p:nvSpPr>
          <p:spPr>
            <a:xfrm>
              <a:off x="3696" y="1783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6" name="Rectangle 26"/>
            <p:cNvSpPr/>
            <p:nvPr/>
          </p:nvSpPr>
          <p:spPr>
            <a:xfrm>
              <a:off x="3696" y="196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7" name="Rectangle 27"/>
            <p:cNvSpPr/>
            <p:nvPr/>
          </p:nvSpPr>
          <p:spPr>
            <a:xfrm>
              <a:off x="3696" y="214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8" name="Rectangle 28"/>
            <p:cNvSpPr/>
            <p:nvPr/>
          </p:nvSpPr>
          <p:spPr>
            <a:xfrm>
              <a:off x="3696" y="232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9" name="Rectangle 29"/>
            <p:cNvSpPr/>
            <p:nvPr/>
          </p:nvSpPr>
          <p:spPr>
            <a:xfrm>
              <a:off x="3696" y="250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0" name="Rectangle 30"/>
            <p:cNvSpPr/>
            <p:nvPr/>
          </p:nvSpPr>
          <p:spPr>
            <a:xfrm>
              <a:off x="3696" y="2680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1" name="Rectangle 31"/>
            <p:cNvSpPr/>
            <p:nvPr/>
          </p:nvSpPr>
          <p:spPr>
            <a:xfrm>
              <a:off x="3696" y="285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2" name="Rectangle 32"/>
            <p:cNvSpPr/>
            <p:nvPr/>
          </p:nvSpPr>
          <p:spPr>
            <a:xfrm>
              <a:off x="3696" y="303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3" name="Rectangle 33"/>
            <p:cNvSpPr/>
            <p:nvPr/>
          </p:nvSpPr>
          <p:spPr>
            <a:xfrm>
              <a:off x="3696" y="321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4" name="Rectangle 34"/>
            <p:cNvSpPr/>
            <p:nvPr/>
          </p:nvSpPr>
          <p:spPr>
            <a:xfrm>
              <a:off x="3696" y="339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5" name="Rectangle 35"/>
            <p:cNvSpPr/>
            <p:nvPr/>
          </p:nvSpPr>
          <p:spPr>
            <a:xfrm>
              <a:off x="3696" y="357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6" name="Rectangle 36"/>
            <p:cNvSpPr/>
            <p:nvPr/>
          </p:nvSpPr>
          <p:spPr>
            <a:xfrm>
              <a:off x="3696" y="375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7" name="Rectangle 37"/>
            <p:cNvSpPr/>
            <p:nvPr/>
          </p:nvSpPr>
          <p:spPr>
            <a:xfrm>
              <a:off x="3696" y="393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28" name="Text Box 38"/>
            <p:cNvSpPr txBox="1"/>
            <p:nvPr/>
          </p:nvSpPr>
          <p:spPr>
            <a:xfrm>
              <a:off x="3782" y="48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29" name="Text Box 39"/>
            <p:cNvSpPr txBox="1"/>
            <p:nvPr/>
          </p:nvSpPr>
          <p:spPr>
            <a:xfrm>
              <a:off x="3782" y="66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0" name="Text Box 40"/>
            <p:cNvSpPr txBox="1"/>
            <p:nvPr/>
          </p:nvSpPr>
          <p:spPr>
            <a:xfrm>
              <a:off x="3782" y="83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1" name="Text Box 41"/>
            <p:cNvSpPr txBox="1"/>
            <p:nvPr/>
          </p:nvSpPr>
          <p:spPr>
            <a:xfrm>
              <a:off x="3782" y="1019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2" name="Text Box 42"/>
            <p:cNvSpPr txBox="1"/>
            <p:nvPr/>
          </p:nvSpPr>
          <p:spPr>
            <a:xfrm>
              <a:off x="3782" y="1198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3" name="Text Box 43"/>
            <p:cNvSpPr txBox="1"/>
            <p:nvPr/>
          </p:nvSpPr>
          <p:spPr>
            <a:xfrm>
              <a:off x="3782" y="137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4" name="Text Box 44"/>
            <p:cNvSpPr txBox="1"/>
            <p:nvPr/>
          </p:nvSpPr>
          <p:spPr>
            <a:xfrm>
              <a:off x="3782" y="1557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5" name="Text Box 45"/>
            <p:cNvSpPr txBox="1"/>
            <p:nvPr/>
          </p:nvSpPr>
          <p:spPr>
            <a:xfrm>
              <a:off x="3782" y="1736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6" name="Text Box 46"/>
            <p:cNvSpPr txBox="1"/>
            <p:nvPr/>
          </p:nvSpPr>
          <p:spPr>
            <a:xfrm>
              <a:off x="3782" y="1915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7" name="Text Box 47"/>
            <p:cNvSpPr txBox="1"/>
            <p:nvPr/>
          </p:nvSpPr>
          <p:spPr>
            <a:xfrm>
              <a:off x="3782" y="2095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8" name="Text Box 48"/>
            <p:cNvSpPr txBox="1"/>
            <p:nvPr/>
          </p:nvSpPr>
          <p:spPr>
            <a:xfrm>
              <a:off x="3782" y="227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39" name="Text Box 49"/>
            <p:cNvSpPr txBox="1"/>
            <p:nvPr/>
          </p:nvSpPr>
          <p:spPr>
            <a:xfrm>
              <a:off x="3782" y="245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0" name="Text Box 50"/>
            <p:cNvSpPr txBox="1"/>
            <p:nvPr/>
          </p:nvSpPr>
          <p:spPr>
            <a:xfrm>
              <a:off x="3782" y="2633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1" name="Text Box 51"/>
            <p:cNvSpPr txBox="1"/>
            <p:nvPr/>
          </p:nvSpPr>
          <p:spPr>
            <a:xfrm>
              <a:off x="3782" y="281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2" name="Text Box 52"/>
            <p:cNvSpPr txBox="1"/>
            <p:nvPr/>
          </p:nvSpPr>
          <p:spPr>
            <a:xfrm>
              <a:off x="3782" y="299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3" name="Text Box 53"/>
            <p:cNvSpPr txBox="1"/>
            <p:nvPr/>
          </p:nvSpPr>
          <p:spPr>
            <a:xfrm>
              <a:off x="3782" y="3171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4" name="Text Box 54"/>
            <p:cNvSpPr txBox="1"/>
            <p:nvPr/>
          </p:nvSpPr>
          <p:spPr>
            <a:xfrm>
              <a:off x="3782" y="335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5" name="Text Box 55"/>
            <p:cNvSpPr txBox="1"/>
            <p:nvPr/>
          </p:nvSpPr>
          <p:spPr>
            <a:xfrm>
              <a:off x="3782" y="353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6" name="Text Box 56"/>
            <p:cNvSpPr txBox="1"/>
            <p:nvPr/>
          </p:nvSpPr>
          <p:spPr>
            <a:xfrm>
              <a:off x="3782" y="370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19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7" name="Text Box 57"/>
            <p:cNvSpPr txBox="1"/>
            <p:nvPr/>
          </p:nvSpPr>
          <p:spPr>
            <a:xfrm>
              <a:off x="3782" y="388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8" name="Text Box 58"/>
            <p:cNvSpPr txBox="1"/>
            <p:nvPr/>
          </p:nvSpPr>
          <p:spPr>
            <a:xfrm>
              <a:off x="4176" y="48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40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49" name="Text Box 59"/>
            <p:cNvSpPr txBox="1"/>
            <p:nvPr/>
          </p:nvSpPr>
          <p:spPr>
            <a:xfrm>
              <a:off x="4176" y="66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0" name="Text Box 60"/>
            <p:cNvSpPr txBox="1"/>
            <p:nvPr/>
          </p:nvSpPr>
          <p:spPr>
            <a:xfrm>
              <a:off x="4176" y="83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1" name="Text Box 61"/>
            <p:cNvSpPr txBox="1"/>
            <p:nvPr/>
          </p:nvSpPr>
          <p:spPr>
            <a:xfrm>
              <a:off x="4176" y="101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2" name="Text Box 62"/>
            <p:cNvSpPr txBox="1"/>
            <p:nvPr/>
          </p:nvSpPr>
          <p:spPr>
            <a:xfrm>
              <a:off x="4176" y="119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3" name="Text Box 63"/>
            <p:cNvSpPr txBox="1"/>
            <p:nvPr/>
          </p:nvSpPr>
          <p:spPr>
            <a:xfrm>
              <a:off x="4176" y="1377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4" name="Text Box 64"/>
            <p:cNvSpPr txBox="1"/>
            <p:nvPr/>
          </p:nvSpPr>
          <p:spPr>
            <a:xfrm>
              <a:off x="4176" y="1557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5" name="Text Box 65"/>
            <p:cNvSpPr txBox="1"/>
            <p:nvPr/>
          </p:nvSpPr>
          <p:spPr>
            <a:xfrm>
              <a:off x="4176" y="1736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6" name="Text Box 66"/>
            <p:cNvSpPr txBox="1"/>
            <p:nvPr/>
          </p:nvSpPr>
          <p:spPr>
            <a:xfrm>
              <a:off x="4176" y="1915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7" name="Text Box 67"/>
            <p:cNvSpPr txBox="1"/>
            <p:nvPr/>
          </p:nvSpPr>
          <p:spPr>
            <a:xfrm>
              <a:off x="4176" y="2095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8" name="Text Box 68"/>
            <p:cNvSpPr txBox="1"/>
            <p:nvPr/>
          </p:nvSpPr>
          <p:spPr>
            <a:xfrm>
              <a:off x="4176" y="227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30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59" name="Text Box 69"/>
            <p:cNvSpPr txBox="1"/>
            <p:nvPr/>
          </p:nvSpPr>
          <p:spPr>
            <a:xfrm>
              <a:off x="4176" y="2454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0" name="Text Box 70"/>
            <p:cNvSpPr txBox="1"/>
            <p:nvPr/>
          </p:nvSpPr>
          <p:spPr>
            <a:xfrm>
              <a:off x="4176" y="2633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28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1" name="Text Box 71"/>
            <p:cNvSpPr txBox="1"/>
            <p:nvPr/>
          </p:nvSpPr>
          <p:spPr>
            <a:xfrm>
              <a:off x="4176" y="281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27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2" name="Text Box 72"/>
            <p:cNvSpPr txBox="1"/>
            <p:nvPr/>
          </p:nvSpPr>
          <p:spPr>
            <a:xfrm>
              <a:off x="4176" y="2992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26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3" name="Text Box 73"/>
            <p:cNvSpPr txBox="1"/>
            <p:nvPr/>
          </p:nvSpPr>
          <p:spPr>
            <a:xfrm>
              <a:off x="4176" y="3171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25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4" name="Text Box 74"/>
            <p:cNvSpPr txBox="1"/>
            <p:nvPr/>
          </p:nvSpPr>
          <p:spPr>
            <a:xfrm>
              <a:off x="4176" y="335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24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5" name="Text Box 75"/>
            <p:cNvSpPr txBox="1"/>
            <p:nvPr/>
          </p:nvSpPr>
          <p:spPr>
            <a:xfrm>
              <a:off x="4176" y="353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23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6" name="Text Box 76"/>
            <p:cNvSpPr txBox="1"/>
            <p:nvPr/>
          </p:nvSpPr>
          <p:spPr>
            <a:xfrm>
              <a:off x="4176" y="370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7" name="Text Box 77"/>
            <p:cNvSpPr txBox="1"/>
            <p:nvPr/>
          </p:nvSpPr>
          <p:spPr>
            <a:xfrm>
              <a:off x="4176" y="388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21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68" name="Text Box 78"/>
            <p:cNvSpPr txBox="1"/>
            <p:nvPr/>
          </p:nvSpPr>
          <p:spPr>
            <a:xfrm>
              <a:off x="3396" y="480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69" name="Text Box 79"/>
            <p:cNvSpPr txBox="1"/>
            <p:nvPr/>
          </p:nvSpPr>
          <p:spPr>
            <a:xfrm>
              <a:off x="3396" y="660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70" name="Text Box 80"/>
            <p:cNvSpPr txBox="1"/>
            <p:nvPr/>
          </p:nvSpPr>
          <p:spPr>
            <a:xfrm>
              <a:off x="2976" y="839"/>
              <a:ext cx="6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Reset out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1" name="Text Box 81"/>
            <p:cNvSpPr txBox="1"/>
            <p:nvPr/>
          </p:nvSpPr>
          <p:spPr>
            <a:xfrm>
              <a:off x="3252" y="1019"/>
              <a:ext cx="4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SOD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2" name="Text Box 82"/>
            <p:cNvSpPr txBox="1"/>
            <p:nvPr/>
          </p:nvSpPr>
          <p:spPr>
            <a:xfrm>
              <a:off x="3308" y="1198"/>
              <a:ext cx="35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SID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3" name="Text Box 83"/>
            <p:cNvSpPr txBox="1"/>
            <p:nvPr/>
          </p:nvSpPr>
          <p:spPr>
            <a:xfrm>
              <a:off x="3236" y="1377"/>
              <a:ext cx="4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Trap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4" name="Text Box 84"/>
            <p:cNvSpPr txBox="1"/>
            <p:nvPr/>
          </p:nvSpPr>
          <p:spPr>
            <a:xfrm>
              <a:off x="3088" y="1557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RST7.5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5" name="Text Box 85"/>
            <p:cNvSpPr txBox="1"/>
            <p:nvPr/>
          </p:nvSpPr>
          <p:spPr>
            <a:xfrm>
              <a:off x="3088" y="1736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RST6.5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6" name="Text Box 86"/>
            <p:cNvSpPr txBox="1"/>
            <p:nvPr/>
          </p:nvSpPr>
          <p:spPr>
            <a:xfrm>
              <a:off x="3088" y="1915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RST5.5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77" name="Text Box 87"/>
            <p:cNvSpPr txBox="1"/>
            <p:nvPr/>
          </p:nvSpPr>
          <p:spPr>
            <a:xfrm>
              <a:off x="3188" y="2274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INTA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78" name="Text Box 88"/>
            <p:cNvSpPr txBox="1"/>
            <p:nvPr/>
          </p:nvSpPr>
          <p:spPr>
            <a:xfrm>
              <a:off x="3292" y="2454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79" name="Text Box 89"/>
            <p:cNvSpPr txBox="1"/>
            <p:nvPr/>
          </p:nvSpPr>
          <p:spPr>
            <a:xfrm>
              <a:off x="3292" y="2633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0" name="Text Box 90"/>
            <p:cNvSpPr txBox="1"/>
            <p:nvPr/>
          </p:nvSpPr>
          <p:spPr>
            <a:xfrm>
              <a:off x="3292" y="2812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1" name="Text Box 91"/>
            <p:cNvSpPr txBox="1"/>
            <p:nvPr/>
          </p:nvSpPr>
          <p:spPr>
            <a:xfrm>
              <a:off x="3292" y="2992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2" name="Text Box 92"/>
            <p:cNvSpPr txBox="1"/>
            <p:nvPr/>
          </p:nvSpPr>
          <p:spPr>
            <a:xfrm>
              <a:off x="3292" y="3171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4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3" name="Text Box 93"/>
            <p:cNvSpPr txBox="1"/>
            <p:nvPr/>
          </p:nvSpPr>
          <p:spPr>
            <a:xfrm>
              <a:off x="3292" y="3350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5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4" name="Text Box 94"/>
            <p:cNvSpPr txBox="1"/>
            <p:nvPr/>
          </p:nvSpPr>
          <p:spPr>
            <a:xfrm>
              <a:off x="3292" y="3530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6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5" name="Text Box 95"/>
            <p:cNvSpPr txBox="1"/>
            <p:nvPr/>
          </p:nvSpPr>
          <p:spPr>
            <a:xfrm>
              <a:off x="3292" y="3709"/>
              <a:ext cx="3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AD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7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6" name="Text Box 96"/>
            <p:cNvSpPr txBox="1"/>
            <p:nvPr/>
          </p:nvSpPr>
          <p:spPr>
            <a:xfrm>
              <a:off x="3332" y="3888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SS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87" name="Group 97"/>
            <p:cNvGrpSpPr/>
            <p:nvPr/>
          </p:nvGrpSpPr>
          <p:grpSpPr>
            <a:xfrm>
              <a:off x="3188" y="2095"/>
              <a:ext cx="476" cy="231"/>
              <a:chOff x="3188" y="2095"/>
              <a:chExt cx="476" cy="231"/>
            </a:xfrm>
          </p:grpSpPr>
          <p:sp>
            <p:nvSpPr>
              <p:cNvPr id="33932" name="Text Box 98"/>
              <p:cNvSpPr txBox="1"/>
              <p:nvPr/>
            </p:nvSpPr>
            <p:spPr>
              <a:xfrm>
                <a:off x="3188" y="2095"/>
                <a:ext cx="47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INTR</a:t>
                </a:r>
                <a:endPara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33" name="Line 99"/>
              <p:cNvSpPr/>
              <p:nvPr/>
            </p:nvSpPr>
            <p:spPr>
              <a:xfrm>
                <a:off x="3236" y="2126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3888" name="Text Box 100"/>
            <p:cNvSpPr txBox="1"/>
            <p:nvPr/>
          </p:nvSpPr>
          <p:spPr>
            <a:xfrm>
              <a:off x="4560" y="480"/>
              <a:ext cx="35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CC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89" name="Text Box 101"/>
            <p:cNvSpPr txBox="1"/>
            <p:nvPr/>
          </p:nvSpPr>
          <p:spPr>
            <a:xfrm>
              <a:off x="4560" y="660"/>
              <a:ext cx="5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HOLD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0" name="Text Box 102"/>
            <p:cNvSpPr txBox="1"/>
            <p:nvPr/>
          </p:nvSpPr>
          <p:spPr>
            <a:xfrm>
              <a:off x="4560" y="839"/>
              <a:ext cx="5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HLDA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1" name="Text Box 103"/>
            <p:cNvSpPr txBox="1"/>
            <p:nvPr/>
          </p:nvSpPr>
          <p:spPr>
            <a:xfrm>
              <a:off x="4560" y="1019"/>
              <a:ext cx="7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CLK(out)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2" name="Text Box 104"/>
            <p:cNvSpPr txBox="1"/>
            <p:nvPr/>
          </p:nvSpPr>
          <p:spPr>
            <a:xfrm>
              <a:off x="4588" y="1198"/>
              <a:ext cx="60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Rsest in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3" name="Text Box 105"/>
            <p:cNvSpPr txBox="1"/>
            <p:nvPr/>
          </p:nvSpPr>
          <p:spPr>
            <a:xfrm>
              <a:off x="4560" y="1377"/>
              <a:ext cx="5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Ready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4" name="Text Box 106"/>
            <p:cNvSpPr txBox="1"/>
            <p:nvPr/>
          </p:nvSpPr>
          <p:spPr>
            <a:xfrm>
              <a:off x="4584" y="1557"/>
              <a:ext cx="4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IO/M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5" name="Text Box 107"/>
            <p:cNvSpPr txBox="1"/>
            <p:nvPr/>
          </p:nvSpPr>
          <p:spPr>
            <a:xfrm>
              <a:off x="4560" y="1736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96" name="Text Box 108"/>
            <p:cNvSpPr txBox="1"/>
            <p:nvPr/>
          </p:nvSpPr>
          <p:spPr>
            <a:xfrm>
              <a:off x="4576" y="1915"/>
              <a:ext cx="3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RD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7" name="Text Box 109"/>
            <p:cNvSpPr txBox="1"/>
            <p:nvPr/>
          </p:nvSpPr>
          <p:spPr>
            <a:xfrm>
              <a:off x="4560" y="2095"/>
              <a:ext cx="36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WR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8" name="Text Box 110"/>
            <p:cNvSpPr txBox="1"/>
            <p:nvPr/>
          </p:nvSpPr>
          <p:spPr>
            <a:xfrm>
              <a:off x="4584" y="2274"/>
              <a:ext cx="41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ALE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99" name="Text Box 111"/>
            <p:cNvSpPr txBox="1"/>
            <p:nvPr/>
          </p:nvSpPr>
          <p:spPr>
            <a:xfrm>
              <a:off x="4584" y="2454"/>
              <a:ext cx="2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0" name="Text Box 112"/>
            <p:cNvSpPr txBox="1"/>
            <p:nvPr/>
          </p:nvSpPr>
          <p:spPr>
            <a:xfrm>
              <a:off x="4584" y="2633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15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1" name="Text Box 113"/>
            <p:cNvSpPr txBox="1"/>
            <p:nvPr/>
          </p:nvSpPr>
          <p:spPr>
            <a:xfrm>
              <a:off x="4584" y="2812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14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2" name="Text Box 114"/>
            <p:cNvSpPr txBox="1"/>
            <p:nvPr/>
          </p:nvSpPr>
          <p:spPr>
            <a:xfrm>
              <a:off x="4584" y="2992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13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3" name="Text Box 115"/>
            <p:cNvSpPr txBox="1"/>
            <p:nvPr/>
          </p:nvSpPr>
          <p:spPr>
            <a:xfrm>
              <a:off x="4584" y="3171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12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4" name="Text Box 116"/>
            <p:cNvSpPr txBox="1"/>
            <p:nvPr/>
          </p:nvSpPr>
          <p:spPr>
            <a:xfrm>
              <a:off x="4584" y="3350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5" name="Text Box 117"/>
            <p:cNvSpPr txBox="1"/>
            <p:nvPr/>
          </p:nvSpPr>
          <p:spPr>
            <a:xfrm>
              <a:off x="4584" y="3530"/>
              <a:ext cx="3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6" name="Text Box 118"/>
            <p:cNvSpPr txBox="1"/>
            <p:nvPr/>
          </p:nvSpPr>
          <p:spPr>
            <a:xfrm>
              <a:off x="4584" y="3709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9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7" name="Text Box 119"/>
            <p:cNvSpPr txBox="1"/>
            <p:nvPr/>
          </p:nvSpPr>
          <p:spPr>
            <a:xfrm>
              <a:off x="4584" y="3888"/>
              <a:ext cx="2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8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3908" name="Line 120"/>
            <p:cNvSpPr/>
            <p:nvPr/>
          </p:nvSpPr>
          <p:spPr>
            <a:xfrm>
              <a:off x="4612" y="1235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909" name="Line 121"/>
            <p:cNvSpPr/>
            <p:nvPr/>
          </p:nvSpPr>
          <p:spPr>
            <a:xfrm>
              <a:off x="4828" y="1584"/>
              <a:ext cx="1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910" name="Line 122"/>
            <p:cNvSpPr/>
            <p:nvPr/>
          </p:nvSpPr>
          <p:spPr>
            <a:xfrm>
              <a:off x="4612" y="195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911" name="Line 123"/>
            <p:cNvSpPr/>
            <p:nvPr/>
          </p:nvSpPr>
          <p:spPr>
            <a:xfrm>
              <a:off x="4608" y="2126"/>
              <a:ext cx="2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912" name="Rectangle 124"/>
            <p:cNvSpPr/>
            <p:nvPr/>
          </p:nvSpPr>
          <p:spPr>
            <a:xfrm>
              <a:off x="4416" y="52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3" name="Rectangle 125"/>
            <p:cNvSpPr/>
            <p:nvPr/>
          </p:nvSpPr>
          <p:spPr>
            <a:xfrm>
              <a:off x="4416" y="70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4" name="Rectangle 126"/>
            <p:cNvSpPr/>
            <p:nvPr/>
          </p:nvSpPr>
          <p:spPr>
            <a:xfrm>
              <a:off x="4416" y="88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5" name="Rectangle 127"/>
            <p:cNvSpPr/>
            <p:nvPr/>
          </p:nvSpPr>
          <p:spPr>
            <a:xfrm>
              <a:off x="4416" y="106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6" name="Rectangle 128"/>
            <p:cNvSpPr/>
            <p:nvPr/>
          </p:nvSpPr>
          <p:spPr>
            <a:xfrm>
              <a:off x="4416" y="1245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7" name="Rectangle 129"/>
            <p:cNvSpPr/>
            <p:nvPr/>
          </p:nvSpPr>
          <p:spPr>
            <a:xfrm>
              <a:off x="4416" y="142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8" name="Rectangle 130"/>
            <p:cNvSpPr/>
            <p:nvPr/>
          </p:nvSpPr>
          <p:spPr>
            <a:xfrm>
              <a:off x="4416" y="1604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19" name="Rectangle 131"/>
            <p:cNvSpPr/>
            <p:nvPr/>
          </p:nvSpPr>
          <p:spPr>
            <a:xfrm>
              <a:off x="4416" y="1783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0" name="Rectangle 132"/>
            <p:cNvSpPr/>
            <p:nvPr/>
          </p:nvSpPr>
          <p:spPr>
            <a:xfrm>
              <a:off x="4416" y="196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1" name="Rectangle 133"/>
            <p:cNvSpPr/>
            <p:nvPr/>
          </p:nvSpPr>
          <p:spPr>
            <a:xfrm>
              <a:off x="4416" y="2142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2" name="Rectangle 134"/>
            <p:cNvSpPr/>
            <p:nvPr/>
          </p:nvSpPr>
          <p:spPr>
            <a:xfrm>
              <a:off x="4416" y="232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3" name="Rectangle 135"/>
            <p:cNvSpPr/>
            <p:nvPr/>
          </p:nvSpPr>
          <p:spPr>
            <a:xfrm>
              <a:off x="4416" y="2501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4" name="Rectangle 136"/>
            <p:cNvSpPr/>
            <p:nvPr/>
          </p:nvSpPr>
          <p:spPr>
            <a:xfrm>
              <a:off x="4416" y="2680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5" name="Rectangle 137"/>
            <p:cNvSpPr/>
            <p:nvPr/>
          </p:nvSpPr>
          <p:spPr>
            <a:xfrm>
              <a:off x="4416" y="285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6" name="Rectangle 138"/>
            <p:cNvSpPr/>
            <p:nvPr/>
          </p:nvSpPr>
          <p:spPr>
            <a:xfrm>
              <a:off x="4416" y="3039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7" name="Rectangle 139"/>
            <p:cNvSpPr/>
            <p:nvPr/>
          </p:nvSpPr>
          <p:spPr>
            <a:xfrm>
              <a:off x="4416" y="3218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8" name="Rectangle 140"/>
            <p:cNvSpPr/>
            <p:nvPr/>
          </p:nvSpPr>
          <p:spPr>
            <a:xfrm>
              <a:off x="4416" y="339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29" name="Rectangle 141"/>
            <p:cNvSpPr/>
            <p:nvPr/>
          </p:nvSpPr>
          <p:spPr>
            <a:xfrm>
              <a:off x="4416" y="3577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30" name="Rectangle 142"/>
            <p:cNvSpPr/>
            <p:nvPr/>
          </p:nvSpPr>
          <p:spPr>
            <a:xfrm>
              <a:off x="4416" y="375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931" name="Rectangle 143"/>
            <p:cNvSpPr/>
            <p:nvPr/>
          </p:nvSpPr>
          <p:spPr>
            <a:xfrm>
              <a:off x="4416" y="3936"/>
              <a:ext cx="96" cy="9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06352" name="Rectangle 144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6" name="AutoShape 14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0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0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1" grpId="0"/>
      <p:bldP spid="606212" grpId="0"/>
      <p:bldP spid="606213" grpId="0"/>
      <p:bldP spid="606214" grpId="0"/>
      <p:bldP spid="606221" grpId="0"/>
      <p:bldP spid="606222" grpId="0"/>
      <p:bldP spid="6062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Text Box 2"/>
          <p:cNvSpPr txBox="1"/>
          <p:nvPr/>
        </p:nvSpPr>
        <p:spPr>
          <a:xfrm>
            <a:off x="152400" y="166688"/>
            <a:ext cx="73263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3. 机器周期和节拍（状态）与控制信号的关系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7235" name="Rectangle 3"/>
          <p:cNvSpPr>
            <a:spLocks noChangeArrowheads="1"/>
          </p:cNvSpPr>
          <p:nvPr/>
        </p:nvSpPr>
        <p:spPr bwMode="auto">
          <a:xfrm>
            <a:off x="8001000" y="-762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AutoShape 11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07347" name="Group 115"/>
          <p:cNvGrpSpPr/>
          <p:nvPr/>
        </p:nvGrpSpPr>
        <p:grpSpPr>
          <a:xfrm>
            <a:off x="87313" y="882650"/>
            <a:ext cx="8223250" cy="5746750"/>
            <a:chOff x="55" y="556"/>
            <a:chExt cx="5180" cy="3620"/>
          </a:xfrm>
        </p:grpSpPr>
        <p:grpSp>
          <p:nvGrpSpPr>
            <p:cNvPr id="34822" name="Group 114"/>
            <p:cNvGrpSpPr/>
            <p:nvPr/>
          </p:nvGrpSpPr>
          <p:grpSpPr>
            <a:xfrm>
              <a:off x="55" y="556"/>
              <a:ext cx="5180" cy="3620"/>
              <a:chOff x="55" y="556"/>
              <a:chExt cx="5180" cy="3620"/>
            </a:xfrm>
          </p:grpSpPr>
          <p:grpSp>
            <p:nvGrpSpPr>
              <p:cNvPr id="34824" name="Group 113"/>
              <p:cNvGrpSpPr/>
              <p:nvPr/>
            </p:nvGrpSpPr>
            <p:grpSpPr>
              <a:xfrm>
                <a:off x="55" y="556"/>
                <a:ext cx="5180" cy="3620"/>
                <a:chOff x="55" y="556"/>
                <a:chExt cx="5180" cy="3620"/>
              </a:xfrm>
            </p:grpSpPr>
            <p:sp>
              <p:nvSpPr>
                <p:cNvPr id="34826" name="Freeform 6"/>
                <p:cNvSpPr/>
                <p:nvPr/>
              </p:nvSpPr>
              <p:spPr>
                <a:xfrm>
                  <a:off x="747" y="1132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27" name="Freeform 7"/>
                <p:cNvSpPr/>
                <p:nvPr/>
              </p:nvSpPr>
              <p:spPr>
                <a:xfrm>
                  <a:off x="1195" y="1132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28" name="Freeform 8"/>
                <p:cNvSpPr/>
                <p:nvPr/>
              </p:nvSpPr>
              <p:spPr>
                <a:xfrm>
                  <a:off x="1642" y="1138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29" name="Freeform 9"/>
                <p:cNvSpPr/>
                <p:nvPr/>
              </p:nvSpPr>
              <p:spPr>
                <a:xfrm>
                  <a:off x="2090" y="1138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0" name="Freeform 10"/>
                <p:cNvSpPr/>
                <p:nvPr/>
              </p:nvSpPr>
              <p:spPr>
                <a:xfrm>
                  <a:off x="2538" y="1138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1" name="Freeform 11"/>
                <p:cNvSpPr/>
                <p:nvPr/>
              </p:nvSpPr>
              <p:spPr>
                <a:xfrm>
                  <a:off x="2986" y="1138"/>
                  <a:ext cx="456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7" y="530"/>
                    </a:cxn>
                    <a:cxn ang="0">
                      <a:pos x="309" y="11"/>
                    </a:cxn>
                    <a:cxn ang="0">
                      <a:pos x="517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2" name="Freeform 12"/>
                <p:cNvSpPr/>
                <p:nvPr/>
              </p:nvSpPr>
              <p:spPr>
                <a:xfrm>
                  <a:off x="3434" y="1144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3" name="Freeform 13"/>
                <p:cNvSpPr/>
                <p:nvPr/>
              </p:nvSpPr>
              <p:spPr>
                <a:xfrm>
                  <a:off x="3882" y="1144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4" name="Freeform 14"/>
                <p:cNvSpPr/>
                <p:nvPr/>
              </p:nvSpPr>
              <p:spPr>
                <a:xfrm>
                  <a:off x="4330" y="1138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5" name="Freeform 15"/>
                <p:cNvSpPr/>
                <p:nvPr/>
              </p:nvSpPr>
              <p:spPr>
                <a:xfrm>
                  <a:off x="4777" y="1138"/>
                  <a:ext cx="455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61" y="530"/>
                    </a:cxn>
                    <a:cxn ang="0">
                      <a:pos x="246" y="530"/>
                    </a:cxn>
                    <a:cxn ang="0">
                      <a:pos x="308" y="11"/>
                    </a:cxn>
                    <a:cxn ang="0">
                      <a:pos x="515" y="11"/>
                    </a:cxn>
                  </a:cxnLst>
                  <a:pathLst>
                    <a:path w="402" h="147">
                      <a:moveTo>
                        <a:pt x="0" y="0"/>
                      </a:moveTo>
                      <a:lnTo>
                        <a:pt x="48" y="147"/>
                      </a:lnTo>
                      <a:lnTo>
                        <a:pt x="192" y="147"/>
                      </a:lnTo>
                      <a:lnTo>
                        <a:pt x="240" y="3"/>
                      </a:lnTo>
                      <a:lnTo>
                        <a:pt x="40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36" name="Line 16"/>
                <p:cNvSpPr/>
                <p:nvPr/>
              </p:nvSpPr>
              <p:spPr>
                <a:xfrm flipH="1">
                  <a:off x="576" y="1136"/>
                  <a:ext cx="19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37" name="Line 17"/>
                <p:cNvSpPr/>
                <p:nvPr/>
              </p:nvSpPr>
              <p:spPr>
                <a:xfrm>
                  <a:off x="773" y="556"/>
                  <a:ext cx="0" cy="360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38" name="Line 18"/>
                <p:cNvSpPr/>
                <p:nvPr/>
              </p:nvSpPr>
              <p:spPr>
                <a:xfrm>
                  <a:off x="1220" y="796"/>
                  <a:ext cx="0" cy="335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39" name="Line 19"/>
                <p:cNvSpPr/>
                <p:nvPr/>
              </p:nvSpPr>
              <p:spPr>
                <a:xfrm>
                  <a:off x="3011" y="796"/>
                  <a:ext cx="0" cy="335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0" name="Line 20"/>
                <p:cNvSpPr/>
                <p:nvPr/>
              </p:nvSpPr>
              <p:spPr>
                <a:xfrm>
                  <a:off x="1668" y="796"/>
                  <a:ext cx="0" cy="335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1" name="Line 21"/>
                <p:cNvSpPr/>
                <p:nvPr/>
              </p:nvSpPr>
              <p:spPr>
                <a:xfrm>
                  <a:off x="3907" y="556"/>
                  <a:ext cx="0" cy="360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2" name="Line 22"/>
                <p:cNvSpPr/>
                <p:nvPr/>
              </p:nvSpPr>
              <p:spPr>
                <a:xfrm>
                  <a:off x="3459" y="796"/>
                  <a:ext cx="0" cy="335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3" name="Line 23"/>
                <p:cNvSpPr/>
                <p:nvPr/>
              </p:nvSpPr>
              <p:spPr>
                <a:xfrm>
                  <a:off x="4355" y="796"/>
                  <a:ext cx="0" cy="3355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4" name="Line 24"/>
                <p:cNvSpPr/>
                <p:nvPr/>
              </p:nvSpPr>
              <p:spPr>
                <a:xfrm>
                  <a:off x="2564" y="556"/>
                  <a:ext cx="0" cy="360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5" name="Line 25"/>
                <p:cNvSpPr/>
                <p:nvPr/>
              </p:nvSpPr>
              <p:spPr>
                <a:xfrm>
                  <a:off x="2116" y="796"/>
                  <a:ext cx="0" cy="335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6" name="Freeform 26"/>
                <p:cNvSpPr/>
                <p:nvPr/>
              </p:nvSpPr>
              <p:spPr>
                <a:xfrm>
                  <a:off x="4800" y="796"/>
                  <a:ext cx="3" cy="3120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3120"/>
                    </a:cxn>
                  </a:cxnLst>
                  <a:pathLst>
                    <a:path w="3" h="3120">
                      <a:moveTo>
                        <a:pt x="3" y="0"/>
                      </a:moveTo>
                      <a:lnTo>
                        <a:pt x="0" y="312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47" name="Line 27"/>
                <p:cNvSpPr/>
                <p:nvPr/>
              </p:nvSpPr>
              <p:spPr>
                <a:xfrm>
                  <a:off x="5232" y="556"/>
                  <a:ext cx="0" cy="360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8" name="Line 28"/>
                <p:cNvSpPr/>
                <p:nvPr/>
              </p:nvSpPr>
              <p:spPr>
                <a:xfrm>
                  <a:off x="768" y="796"/>
                  <a:ext cx="446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49" name="Line 29"/>
                <p:cNvSpPr/>
                <p:nvPr/>
              </p:nvSpPr>
              <p:spPr>
                <a:xfrm>
                  <a:off x="768" y="1036"/>
                  <a:ext cx="446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50" name="Text Box 30"/>
                <p:cNvSpPr txBox="1"/>
                <p:nvPr/>
              </p:nvSpPr>
              <p:spPr>
                <a:xfrm>
                  <a:off x="877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1" name="Text Box 31"/>
                <p:cNvSpPr txBox="1"/>
                <p:nvPr/>
              </p:nvSpPr>
              <p:spPr>
                <a:xfrm>
                  <a:off x="1309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2" name="Text Box 32"/>
                <p:cNvSpPr txBox="1"/>
                <p:nvPr/>
              </p:nvSpPr>
              <p:spPr>
                <a:xfrm>
                  <a:off x="1741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3" name="Text Box 33"/>
                <p:cNvSpPr txBox="1"/>
                <p:nvPr/>
              </p:nvSpPr>
              <p:spPr>
                <a:xfrm>
                  <a:off x="2208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4" name="Text Box 34"/>
                <p:cNvSpPr txBox="1"/>
                <p:nvPr/>
              </p:nvSpPr>
              <p:spPr>
                <a:xfrm>
                  <a:off x="2640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5" name="Text Box 35"/>
                <p:cNvSpPr txBox="1"/>
                <p:nvPr/>
              </p:nvSpPr>
              <p:spPr>
                <a:xfrm>
                  <a:off x="3107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6" name="Text Box 36"/>
                <p:cNvSpPr txBox="1"/>
                <p:nvPr/>
              </p:nvSpPr>
              <p:spPr>
                <a:xfrm>
                  <a:off x="3539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7" name="Text Box 37"/>
                <p:cNvSpPr txBox="1"/>
                <p:nvPr/>
              </p:nvSpPr>
              <p:spPr>
                <a:xfrm>
                  <a:off x="4019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8" name="Text Box 38"/>
                <p:cNvSpPr txBox="1"/>
                <p:nvPr/>
              </p:nvSpPr>
              <p:spPr>
                <a:xfrm>
                  <a:off x="4464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59" name="Text Box 39"/>
                <p:cNvSpPr txBox="1"/>
                <p:nvPr/>
              </p:nvSpPr>
              <p:spPr>
                <a:xfrm>
                  <a:off x="4909" y="79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60" name="Line 40"/>
                <p:cNvSpPr/>
                <p:nvPr/>
              </p:nvSpPr>
              <p:spPr>
                <a:xfrm>
                  <a:off x="768" y="556"/>
                  <a:ext cx="446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61" name="Text Box 41"/>
                <p:cNvSpPr txBox="1"/>
                <p:nvPr/>
              </p:nvSpPr>
              <p:spPr>
                <a:xfrm>
                  <a:off x="1536" y="565"/>
                  <a:ext cx="31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62" name="Text Box 42"/>
                <p:cNvSpPr txBox="1"/>
                <p:nvPr/>
              </p:nvSpPr>
              <p:spPr>
                <a:xfrm>
                  <a:off x="3072" y="556"/>
                  <a:ext cx="31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63" name="Text Box 43"/>
                <p:cNvSpPr txBox="1"/>
                <p:nvPr/>
              </p:nvSpPr>
              <p:spPr>
                <a:xfrm>
                  <a:off x="4416" y="556"/>
                  <a:ext cx="31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dirty="0"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64" name="Freeform 44"/>
                <p:cNvSpPr/>
                <p:nvPr/>
              </p:nvSpPr>
              <p:spPr>
                <a:xfrm>
                  <a:off x="576" y="1516"/>
                  <a:ext cx="4656" cy="291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255" y="3"/>
                    </a:cxn>
                    <a:cxn ang="0">
                      <a:pos x="345" y="285"/>
                    </a:cxn>
                    <a:cxn ang="0">
                      <a:pos x="2046" y="288"/>
                    </a:cxn>
                    <a:cxn ang="0">
                      <a:pos x="2136" y="3"/>
                    </a:cxn>
                    <a:cxn ang="0">
                      <a:pos x="3372" y="0"/>
                    </a:cxn>
                    <a:cxn ang="0">
                      <a:pos x="3465" y="288"/>
                    </a:cxn>
                    <a:cxn ang="0">
                      <a:pos x="4656" y="291"/>
                    </a:cxn>
                  </a:cxnLst>
                  <a:pathLst>
                    <a:path w="4656" h="291">
                      <a:moveTo>
                        <a:pt x="0" y="3"/>
                      </a:moveTo>
                      <a:lnTo>
                        <a:pt x="255" y="3"/>
                      </a:lnTo>
                      <a:lnTo>
                        <a:pt x="345" y="285"/>
                      </a:lnTo>
                      <a:lnTo>
                        <a:pt x="2046" y="288"/>
                      </a:lnTo>
                      <a:lnTo>
                        <a:pt x="2136" y="3"/>
                      </a:lnTo>
                      <a:lnTo>
                        <a:pt x="3372" y="0"/>
                      </a:lnTo>
                      <a:lnTo>
                        <a:pt x="3465" y="288"/>
                      </a:lnTo>
                      <a:lnTo>
                        <a:pt x="4656" y="291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5" name="Freeform 45"/>
                <p:cNvSpPr/>
                <p:nvPr/>
              </p:nvSpPr>
              <p:spPr>
                <a:xfrm>
                  <a:off x="576" y="1519"/>
                  <a:ext cx="4656" cy="288"/>
                </a:xfrm>
                <a:custGeom>
                  <a:avLst/>
                  <a:gdLst/>
                  <a:ahLst/>
                  <a:cxnLst>
                    <a:cxn ang="0">
                      <a:pos x="0" y="288"/>
                    </a:cxn>
                    <a:cxn ang="0">
                      <a:pos x="252" y="288"/>
                    </a:cxn>
                    <a:cxn ang="0">
                      <a:pos x="345" y="0"/>
                    </a:cxn>
                    <a:cxn ang="0">
                      <a:pos x="2043" y="0"/>
                    </a:cxn>
                    <a:cxn ang="0">
                      <a:pos x="2136" y="288"/>
                    </a:cxn>
                    <a:cxn ang="0">
                      <a:pos x="3375" y="285"/>
                    </a:cxn>
                    <a:cxn ang="0">
                      <a:pos x="3483" y="0"/>
                    </a:cxn>
                    <a:cxn ang="0">
                      <a:pos x="4656" y="0"/>
                    </a:cxn>
                  </a:cxnLst>
                  <a:pathLst>
                    <a:path w="4656" h="288">
                      <a:moveTo>
                        <a:pt x="0" y="288"/>
                      </a:moveTo>
                      <a:lnTo>
                        <a:pt x="252" y="288"/>
                      </a:lnTo>
                      <a:lnTo>
                        <a:pt x="345" y="0"/>
                      </a:lnTo>
                      <a:lnTo>
                        <a:pt x="2043" y="0"/>
                      </a:lnTo>
                      <a:lnTo>
                        <a:pt x="2136" y="288"/>
                      </a:lnTo>
                      <a:lnTo>
                        <a:pt x="3375" y="285"/>
                      </a:lnTo>
                      <a:lnTo>
                        <a:pt x="3483" y="0"/>
                      </a:lnTo>
                      <a:lnTo>
                        <a:pt x="4656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6" name="Freeform 46"/>
                <p:cNvSpPr/>
                <p:nvPr/>
              </p:nvSpPr>
              <p:spPr>
                <a:xfrm>
                  <a:off x="576" y="2335"/>
                  <a:ext cx="408" cy="273"/>
                </a:xfrm>
                <a:custGeom>
                  <a:avLst/>
                  <a:gdLst/>
                  <a:ahLst/>
                  <a:cxnLst>
                    <a:cxn ang="0">
                      <a:pos x="0" y="273"/>
                    </a:cxn>
                    <a:cxn ang="0">
                      <a:pos x="7" y="273"/>
                    </a:cxn>
                    <a:cxn ang="0">
                      <a:pos x="170" y="273"/>
                    </a:cxn>
                    <a:cxn ang="0">
                      <a:pos x="225" y="0"/>
                    </a:cxn>
                    <a:cxn ang="0">
                      <a:pos x="408" y="0"/>
                    </a:cxn>
                  </a:cxnLst>
                  <a:pathLst>
                    <a:path w="408" h="273">
                      <a:moveTo>
                        <a:pt x="0" y="273"/>
                      </a:moveTo>
                      <a:lnTo>
                        <a:pt x="7" y="273"/>
                      </a:lnTo>
                      <a:lnTo>
                        <a:pt x="170" y="273"/>
                      </a:lnTo>
                      <a:lnTo>
                        <a:pt x="225" y="0"/>
                      </a:lnTo>
                      <a:lnTo>
                        <a:pt x="408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7" name="Freeform 47"/>
                <p:cNvSpPr/>
                <p:nvPr/>
              </p:nvSpPr>
              <p:spPr>
                <a:xfrm>
                  <a:off x="977" y="2332"/>
                  <a:ext cx="223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4" y="279"/>
                    </a:cxn>
                    <a:cxn ang="0">
                      <a:pos x="217" y="279"/>
                    </a:cxn>
                    <a:cxn ang="0">
                      <a:pos x="223" y="273"/>
                    </a:cxn>
                    <a:cxn ang="0">
                      <a:pos x="220" y="276"/>
                    </a:cxn>
                  </a:cxnLst>
                  <a:pathLst>
                    <a:path w="223" h="279">
                      <a:moveTo>
                        <a:pt x="0" y="0"/>
                      </a:moveTo>
                      <a:lnTo>
                        <a:pt x="54" y="279"/>
                      </a:lnTo>
                      <a:lnTo>
                        <a:pt x="217" y="279"/>
                      </a:lnTo>
                      <a:lnTo>
                        <a:pt x="223" y="273"/>
                      </a:lnTo>
                      <a:lnTo>
                        <a:pt x="220" y="2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8" name="Freeform 48"/>
                <p:cNvSpPr/>
                <p:nvPr/>
              </p:nvSpPr>
              <p:spPr>
                <a:xfrm>
                  <a:off x="2373" y="2341"/>
                  <a:ext cx="402" cy="273"/>
                </a:xfrm>
                <a:custGeom>
                  <a:avLst/>
                  <a:gdLst/>
                  <a:ahLst/>
                  <a:cxnLst>
                    <a:cxn ang="0">
                      <a:pos x="0" y="270"/>
                    </a:cxn>
                    <a:cxn ang="0">
                      <a:pos x="1" y="273"/>
                    </a:cxn>
                    <a:cxn ang="0">
                      <a:pos x="164" y="273"/>
                    </a:cxn>
                    <a:cxn ang="0">
                      <a:pos x="219" y="0"/>
                    </a:cxn>
                    <a:cxn ang="0">
                      <a:pos x="402" y="0"/>
                    </a:cxn>
                  </a:cxnLst>
                  <a:pathLst>
                    <a:path w="402" h="273">
                      <a:moveTo>
                        <a:pt x="0" y="270"/>
                      </a:moveTo>
                      <a:lnTo>
                        <a:pt x="1" y="273"/>
                      </a:lnTo>
                      <a:lnTo>
                        <a:pt x="164" y="273"/>
                      </a:lnTo>
                      <a:lnTo>
                        <a:pt x="219" y="0"/>
                      </a:lnTo>
                      <a:lnTo>
                        <a:pt x="402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9" name="Freeform 49"/>
                <p:cNvSpPr/>
                <p:nvPr/>
              </p:nvSpPr>
              <p:spPr>
                <a:xfrm>
                  <a:off x="2768" y="2335"/>
                  <a:ext cx="218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4" y="279"/>
                    </a:cxn>
                    <a:cxn ang="0">
                      <a:pos x="218" y="279"/>
                    </a:cxn>
                    <a:cxn ang="0">
                      <a:pos x="211" y="279"/>
                    </a:cxn>
                    <a:cxn ang="0">
                      <a:pos x="217" y="273"/>
                    </a:cxn>
                  </a:cxnLst>
                  <a:pathLst>
                    <a:path w="218" h="279">
                      <a:moveTo>
                        <a:pt x="0" y="0"/>
                      </a:moveTo>
                      <a:lnTo>
                        <a:pt x="54" y="279"/>
                      </a:lnTo>
                      <a:lnTo>
                        <a:pt x="218" y="279"/>
                      </a:lnTo>
                      <a:lnTo>
                        <a:pt x="211" y="279"/>
                      </a:lnTo>
                      <a:lnTo>
                        <a:pt x="217" y="27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0" name="Freeform 50"/>
                <p:cNvSpPr/>
                <p:nvPr/>
              </p:nvSpPr>
              <p:spPr>
                <a:xfrm>
                  <a:off x="3718" y="2341"/>
                  <a:ext cx="401" cy="273"/>
                </a:xfrm>
                <a:custGeom>
                  <a:avLst/>
                  <a:gdLst/>
                  <a:ahLst/>
                  <a:cxnLst>
                    <a:cxn ang="0">
                      <a:pos x="5" y="273"/>
                    </a:cxn>
                    <a:cxn ang="0">
                      <a:pos x="0" y="273"/>
                    </a:cxn>
                    <a:cxn ang="0">
                      <a:pos x="163" y="273"/>
                    </a:cxn>
                    <a:cxn ang="0">
                      <a:pos x="218" y="0"/>
                    </a:cxn>
                    <a:cxn ang="0">
                      <a:pos x="401" y="0"/>
                    </a:cxn>
                  </a:cxnLst>
                  <a:pathLst>
                    <a:path w="401" h="273">
                      <a:moveTo>
                        <a:pt x="5" y="273"/>
                      </a:moveTo>
                      <a:lnTo>
                        <a:pt x="0" y="273"/>
                      </a:lnTo>
                      <a:lnTo>
                        <a:pt x="163" y="273"/>
                      </a:lnTo>
                      <a:lnTo>
                        <a:pt x="218" y="0"/>
                      </a:lnTo>
                      <a:lnTo>
                        <a:pt x="401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1" name="Freeform 51"/>
                <p:cNvSpPr/>
                <p:nvPr/>
              </p:nvSpPr>
              <p:spPr>
                <a:xfrm>
                  <a:off x="4112" y="2335"/>
                  <a:ext cx="223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4" y="279"/>
                    </a:cxn>
                    <a:cxn ang="0">
                      <a:pos x="217" y="279"/>
                    </a:cxn>
                    <a:cxn ang="0">
                      <a:pos x="223" y="270"/>
                    </a:cxn>
                    <a:cxn ang="0">
                      <a:pos x="220" y="276"/>
                    </a:cxn>
                  </a:cxnLst>
                  <a:pathLst>
                    <a:path w="223" h="279">
                      <a:moveTo>
                        <a:pt x="0" y="0"/>
                      </a:moveTo>
                      <a:lnTo>
                        <a:pt x="54" y="279"/>
                      </a:lnTo>
                      <a:lnTo>
                        <a:pt x="217" y="279"/>
                      </a:lnTo>
                      <a:lnTo>
                        <a:pt x="223" y="270"/>
                      </a:lnTo>
                      <a:lnTo>
                        <a:pt x="220" y="27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2" name="Freeform 52"/>
                <p:cNvSpPr/>
                <p:nvPr/>
              </p:nvSpPr>
              <p:spPr>
                <a:xfrm>
                  <a:off x="1203" y="2605"/>
                  <a:ext cx="1179" cy="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79" y="6"/>
                    </a:cxn>
                  </a:cxnLst>
                  <a:pathLst>
                    <a:path w="1179" h="6">
                      <a:moveTo>
                        <a:pt x="0" y="0"/>
                      </a:moveTo>
                      <a:lnTo>
                        <a:pt x="1179" y="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3" name="Line 53"/>
                <p:cNvSpPr/>
                <p:nvPr/>
              </p:nvSpPr>
              <p:spPr>
                <a:xfrm>
                  <a:off x="2976" y="2614"/>
                  <a:ext cx="81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74" name="Line 54"/>
                <p:cNvSpPr/>
                <p:nvPr/>
              </p:nvSpPr>
              <p:spPr>
                <a:xfrm>
                  <a:off x="4320" y="2614"/>
                  <a:ext cx="91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75" name="Freeform 55"/>
                <p:cNvSpPr/>
                <p:nvPr/>
              </p:nvSpPr>
              <p:spPr>
                <a:xfrm>
                  <a:off x="1170" y="2719"/>
                  <a:ext cx="792" cy="28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02" y="285"/>
                    </a:cxn>
                    <a:cxn ang="0">
                      <a:pos x="678" y="285"/>
                    </a:cxn>
                    <a:cxn ang="0">
                      <a:pos x="792" y="3"/>
                    </a:cxn>
                  </a:cxnLst>
                  <a:pathLst>
                    <a:path w="792" h="285">
                      <a:moveTo>
                        <a:pt x="0" y="0"/>
                      </a:moveTo>
                      <a:lnTo>
                        <a:pt x="102" y="285"/>
                      </a:lnTo>
                      <a:lnTo>
                        <a:pt x="678" y="285"/>
                      </a:lnTo>
                      <a:lnTo>
                        <a:pt x="79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6" name="Freeform 56"/>
                <p:cNvSpPr/>
                <p:nvPr/>
              </p:nvSpPr>
              <p:spPr>
                <a:xfrm>
                  <a:off x="576" y="2716"/>
                  <a:ext cx="597" cy="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597" y="0"/>
                    </a:cxn>
                  </a:cxnLst>
                  <a:pathLst>
                    <a:path w="597" h="3">
                      <a:moveTo>
                        <a:pt x="0" y="3"/>
                      </a:moveTo>
                      <a:lnTo>
                        <a:pt x="597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7" name="Freeform 57"/>
                <p:cNvSpPr/>
                <p:nvPr/>
              </p:nvSpPr>
              <p:spPr>
                <a:xfrm>
                  <a:off x="2958" y="2719"/>
                  <a:ext cx="786" cy="288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102" y="288"/>
                    </a:cxn>
                    <a:cxn ang="0">
                      <a:pos x="684" y="288"/>
                    </a:cxn>
                    <a:cxn ang="0">
                      <a:pos x="786" y="0"/>
                    </a:cxn>
                  </a:cxnLst>
                  <a:pathLst>
                    <a:path w="786" h="288">
                      <a:moveTo>
                        <a:pt x="0" y="3"/>
                      </a:moveTo>
                      <a:lnTo>
                        <a:pt x="102" y="288"/>
                      </a:lnTo>
                      <a:lnTo>
                        <a:pt x="684" y="288"/>
                      </a:lnTo>
                      <a:lnTo>
                        <a:pt x="786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8" name="Freeform 58"/>
                <p:cNvSpPr/>
                <p:nvPr/>
              </p:nvSpPr>
              <p:spPr>
                <a:xfrm>
                  <a:off x="1962" y="2719"/>
                  <a:ext cx="996" cy="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996" y="0"/>
                    </a:cxn>
                  </a:cxnLst>
                  <a:pathLst>
                    <a:path w="996" h="3">
                      <a:moveTo>
                        <a:pt x="0" y="3"/>
                      </a:moveTo>
                      <a:lnTo>
                        <a:pt x="996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79" name="Freeform 59"/>
                <p:cNvSpPr/>
                <p:nvPr/>
              </p:nvSpPr>
              <p:spPr>
                <a:xfrm>
                  <a:off x="3744" y="2719"/>
                  <a:ext cx="1488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88" y="0"/>
                    </a:cxn>
                  </a:cxnLst>
                  <a:pathLst>
                    <a:path w="1488" h="1">
                      <a:moveTo>
                        <a:pt x="0" y="0"/>
                      </a:moveTo>
                      <a:lnTo>
                        <a:pt x="1488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0" name="Freeform 60"/>
                <p:cNvSpPr/>
                <p:nvPr/>
              </p:nvSpPr>
              <p:spPr>
                <a:xfrm>
                  <a:off x="4320" y="3103"/>
                  <a:ext cx="786" cy="288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102" y="288"/>
                    </a:cxn>
                    <a:cxn ang="0">
                      <a:pos x="684" y="288"/>
                    </a:cxn>
                    <a:cxn ang="0">
                      <a:pos x="786" y="0"/>
                    </a:cxn>
                  </a:cxnLst>
                  <a:pathLst>
                    <a:path w="786" h="288">
                      <a:moveTo>
                        <a:pt x="0" y="3"/>
                      </a:moveTo>
                      <a:lnTo>
                        <a:pt x="102" y="288"/>
                      </a:lnTo>
                      <a:lnTo>
                        <a:pt x="684" y="288"/>
                      </a:lnTo>
                      <a:lnTo>
                        <a:pt x="786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1" name="Freeform 61"/>
                <p:cNvSpPr/>
                <p:nvPr/>
              </p:nvSpPr>
              <p:spPr>
                <a:xfrm>
                  <a:off x="774" y="3100"/>
                  <a:ext cx="3549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549" y="3"/>
                    </a:cxn>
                  </a:cxnLst>
                  <a:pathLst>
                    <a:path w="3549" h="3">
                      <a:moveTo>
                        <a:pt x="0" y="0"/>
                      </a:moveTo>
                      <a:lnTo>
                        <a:pt x="3549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2" name="Freeform 62"/>
                <p:cNvSpPr/>
                <p:nvPr/>
              </p:nvSpPr>
              <p:spPr>
                <a:xfrm>
                  <a:off x="5106" y="3106"/>
                  <a:ext cx="129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29" y="0"/>
                    </a:cxn>
                  </a:cxnLst>
                  <a:pathLst>
                    <a:path w="129" h="1">
                      <a:moveTo>
                        <a:pt x="0" y="0"/>
                      </a:moveTo>
                      <a:lnTo>
                        <a:pt x="129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3" name="Freeform 63"/>
                <p:cNvSpPr/>
                <p:nvPr/>
              </p:nvSpPr>
              <p:spPr>
                <a:xfrm>
                  <a:off x="783" y="3532"/>
                  <a:ext cx="4452" cy="29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5" y="0"/>
                    </a:cxn>
                    <a:cxn ang="0">
                      <a:pos x="135" y="285"/>
                    </a:cxn>
                    <a:cxn ang="0">
                      <a:pos x="3117" y="291"/>
                    </a:cxn>
                    <a:cxn ang="0">
                      <a:pos x="3237" y="3"/>
                    </a:cxn>
                    <a:cxn ang="0">
                      <a:pos x="4452" y="3"/>
                    </a:cxn>
                  </a:cxnLst>
                  <a:pathLst>
                    <a:path w="4452" h="291">
                      <a:moveTo>
                        <a:pt x="0" y="0"/>
                      </a:moveTo>
                      <a:lnTo>
                        <a:pt x="75" y="0"/>
                      </a:lnTo>
                      <a:lnTo>
                        <a:pt x="135" y="285"/>
                      </a:lnTo>
                      <a:lnTo>
                        <a:pt x="3117" y="291"/>
                      </a:lnTo>
                      <a:lnTo>
                        <a:pt x="3237" y="3"/>
                      </a:lnTo>
                      <a:lnTo>
                        <a:pt x="4452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4" name="Freeform 64"/>
                <p:cNvSpPr/>
                <p:nvPr/>
              </p:nvSpPr>
              <p:spPr>
                <a:xfrm>
                  <a:off x="576" y="1948"/>
                  <a:ext cx="300" cy="291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255" y="0"/>
                    </a:cxn>
                    <a:cxn ang="0">
                      <a:pos x="300" y="147"/>
                    </a:cxn>
                    <a:cxn ang="0">
                      <a:pos x="252" y="291"/>
                    </a:cxn>
                    <a:cxn ang="0">
                      <a:pos x="0" y="291"/>
                    </a:cxn>
                  </a:cxnLst>
                  <a:pathLst>
                    <a:path w="300" h="291">
                      <a:moveTo>
                        <a:pt x="0" y="3"/>
                      </a:moveTo>
                      <a:lnTo>
                        <a:pt x="255" y="0"/>
                      </a:lnTo>
                      <a:lnTo>
                        <a:pt x="300" y="147"/>
                      </a:lnTo>
                      <a:lnTo>
                        <a:pt x="252" y="291"/>
                      </a:lnTo>
                      <a:lnTo>
                        <a:pt x="0" y="291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5" name="Freeform 65"/>
                <p:cNvSpPr/>
                <p:nvPr/>
              </p:nvSpPr>
              <p:spPr>
                <a:xfrm>
                  <a:off x="873" y="1948"/>
                  <a:ext cx="408" cy="291"/>
                </a:xfrm>
                <a:custGeom>
                  <a:avLst/>
                  <a:gdLst/>
                  <a:ahLst/>
                  <a:cxnLst>
                    <a:cxn ang="0">
                      <a:pos x="0" y="147"/>
                    </a:cxn>
                    <a:cxn ang="0">
                      <a:pos x="48" y="3"/>
                    </a:cxn>
                    <a:cxn ang="0">
                      <a:pos x="348" y="0"/>
                    </a:cxn>
                    <a:cxn ang="0">
                      <a:pos x="408" y="150"/>
                    </a:cxn>
                    <a:cxn ang="0">
                      <a:pos x="348" y="288"/>
                    </a:cxn>
                    <a:cxn ang="0">
                      <a:pos x="51" y="291"/>
                    </a:cxn>
                    <a:cxn ang="0">
                      <a:pos x="0" y="147"/>
                    </a:cxn>
                  </a:cxnLst>
                  <a:pathLst>
                    <a:path w="408" h="291">
                      <a:moveTo>
                        <a:pt x="0" y="147"/>
                      </a:moveTo>
                      <a:lnTo>
                        <a:pt x="48" y="3"/>
                      </a:lnTo>
                      <a:lnTo>
                        <a:pt x="348" y="0"/>
                      </a:lnTo>
                      <a:lnTo>
                        <a:pt x="408" y="150"/>
                      </a:lnTo>
                      <a:lnTo>
                        <a:pt x="348" y="288"/>
                      </a:lnTo>
                      <a:lnTo>
                        <a:pt x="51" y="291"/>
                      </a:lnTo>
                      <a:lnTo>
                        <a:pt x="0" y="147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6" name="Freeform 66"/>
                <p:cNvSpPr/>
                <p:nvPr/>
              </p:nvSpPr>
              <p:spPr>
                <a:xfrm>
                  <a:off x="1584" y="1948"/>
                  <a:ext cx="408" cy="291"/>
                </a:xfrm>
                <a:custGeom>
                  <a:avLst/>
                  <a:gdLst/>
                  <a:ahLst/>
                  <a:cxnLst>
                    <a:cxn ang="0">
                      <a:pos x="0" y="147"/>
                    </a:cxn>
                    <a:cxn ang="0">
                      <a:pos x="48" y="3"/>
                    </a:cxn>
                    <a:cxn ang="0">
                      <a:pos x="348" y="0"/>
                    </a:cxn>
                    <a:cxn ang="0">
                      <a:pos x="408" y="150"/>
                    </a:cxn>
                    <a:cxn ang="0">
                      <a:pos x="348" y="288"/>
                    </a:cxn>
                    <a:cxn ang="0">
                      <a:pos x="51" y="291"/>
                    </a:cxn>
                    <a:cxn ang="0">
                      <a:pos x="0" y="147"/>
                    </a:cxn>
                  </a:cxnLst>
                  <a:pathLst>
                    <a:path w="408" h="291">
                      <a:moveTo>
                        <a:pt x="0" y="147"/>
                      </a:moveTo>
                      <a:lnTo>
                        <a:pt x="48" y="3"/>
                      </a:lnTo>
                      <a:lnTo>
                        <a:pt x="348" y="0"/>
                      </a:lnTo>
                      <a:lnTo>
                        <a:pt x="408" y="150"/>
                      </a:lnTo>
                      <a:lnTo>
                        <a:pt x="348" y="288"/>
                      </a:lnTo>
                      <a:lnTo>
                        <a:pt x="51" y="291"/>
                      </a:lnTo>
                      <a:lnTo>
                        <a:pt x="0" y="147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7" name="Freeform 67"/>
                <p:cNvSpPr/>
                <p:nvPr/>
              </p:nvSpPr>
              <p:spPr>
                <a:xfrm>
                  <a:off x="2712" y="1948"/>
                  <a:ext cx="408" cy="291"/>
                </a:xfrm>
                <a:custGeom>
                  <a:avLst/>
                  <a:gdLst/>
                  <a:ahLst/>
                  <a:cxnLst>
                    <a:cxn ang="0">
                      <a:pos x="0" y="147"/>
                    </a:cxn>
                    <a:cxn ang="0">
                      <a:pos x="48" y="3"/>
                    </a:cxn>
                    <a:cxn ang="0">
                      <a:pos x="348" y="0"/>
                    </a:cxn>
                    <a:cxn ang="0">
                      <a:pos x="408" y="150"/>
                    </a:cxn>
                    <a:cxn ang="0">
                      <a:pos x="348" y="288"/>
                    </a:cxn>
                    <a:cxn ang="0">
                      <a:pos x="51" y="291"/>
                    </a:cxn>
                    <a:cxn ang="0">
                      <a:pos x="0" y="147"/>
                    </a:cxn>
                  </a:cxnLst>
                  <a:pathLst>
                    <a:path w="408" h="291">
                      <a:moveTo>
                        <a:pt x="0" y="147"/>
                      </a:moveTo>
                      <a:lnTo>
                        <a:pt x="48" y="3"/>
                      </a:lnTo>
                      <a:lnTo>
                        <a:pt x="348" y="0"/>
                      </a:lnTo>
                      <a:lnTo>
                        <a:pt x="408" y="150"/>
                      </a:lnTo>
                      <a:lnTo>
                        <a:pt x="348" y="288"/>
                      </a:lnTo>
                      <a:lnTo>
                        <a:pt x="51" y="291"/>
                      </a:lnTo>
                      <a:lnTo>
                        <a:pt x="0" y="147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8" name="Freeform 68"/>
                <p:cNvSpPr/>
                <p:nvPr/>
              </p:nvSpPr>
              <p:spPr>
                <a:xfrm>
                  <a:off x="3360" y="1948"/>
                  <a:ext cx="408" cy="291"/>
                </a:xfrm>
                <a:custGeom>
                  <a:avLst/>
                  <a:gdLst/>
                  <a:ahLst/>
                  <a:cxnLst>
                    <a:cxn ang="0">
                      <a:pos x="0" y="147"/>
                    </a:cxn>
                    <a:cxn ang="0">
                      <a:pos x="48" y="3"/>
                    </a:cxn>
                    <a:cxn ang="0">
                      <a:pos x="348" y="0"/>
                    </a:cxn>
                    <a:cxn ang="0">
                      <a:pos x="408" y="150"/>
                    </a:cxn>
                    <a:cxn ang="0">
                      <a:pos x="348" y="288"/>
                    </a:cxn>
                    <a:cxn ang="0">
                      <a:pos x="51" y="291"/>
                    </a:cxn>
                    <a:cxn ang="0">
                      <a:pos x="0" y="147"/>
                    </a:cxn>
                  </a:cxnLst>
                  <a:pathLst>
                    <a:path w="408" h="291">
                      <a:moveTo>
                        <a:pt x="0" y="147"/>
                      </a:moveTo>
                      <a:lnTo>
                        <a:pt x="48" y="3"/>
                      </a:lnTo>
                      <a:lnTo>
                        <a:pt x="348" y="0"/>
                      </a:lnTo>
                      <a:lnTo>
                        <a:pt x="408" y="150"/>
                      </a:lnTo>
                      <a:lnTo>
                        <a:pt x="348" y="288"/>
                      </a:lnTo>
                      <a:lnTo>
                        <a:pt x="51" y="291"/>
                      </a:lnTo>
                      <a:lnTo>
                        <a:pt x="0" y="147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89" name="Freeform 69"/>
                <p:cNvSpPr/>
                <p:nvPr/>
              </p:nvSpPr>
              <p:spPr>
                <a:xfrm>
                  <a:off x="3960" y="1951"/>
                  <a:ext cx="396" cy="288"/>
                </a:xfrm>
                <a:custGeom>
                  <a:avLst/>
                  <a:gdLst/>
                  <a:ahLst/>
                  <a:cxnLst>
                    <a:cxn ang="0">
                      <a:pos x="0" y="144"/>
                    </a:cxn>
                    <a:cxn ang="0">
                      <a:pos x="48" y="0"/>
                    </a:cxn>
                    <a:cxn ang="0">
                      <a:pos x="336" y="0"/>
                    </a:cxn>
                    <a:cxn ang="0">
                      <a:pos x="396" y="144"/>
                    </a:cxn>
                    <a:cxn ang="0">
                      <a:pos x="348" y="285"/>
                    </a:cxn>
                    <a:cxn ang="0">
                      <a:pos x="51" y="288"/>
                    </a:cxn>
                    <a:cxn ang="0">
                      <a:pos x="0" y="144"/>
                    </a:cxn>
                  </a:cxnLst>
                  <a:pathLst>
                    <a:path w="396" h="288">
                      <a:moveTo>
                        <a:pt x="0" y="144"/>
                      </a:moveTo>
                      <a:lnTo>
                        <a:pt x="48" y="0"/>
                      </a:lnTo>
                      <a:lnTo>
                        <a:pt x="336" y="0"/>
                      </a:lnTo>
                      <a:lnTo>
                        <a:pt x="396" y="144"/>
                      </a:lnTo>
                      <a:lnTo>
                        <a:pt x="348" y="285"/>
                      </a:lnTo>
                      <a:lnTo>
                        <a:pt x="51" y="288"/>
                      </a:lnTo>
                      <a:lnTo>
                        <a:pt x="0" y="144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0" name="Freeform 70"/>
                <p:cNvSpPr/>
                <p:nvPr/>
              </p:nvSpPr>
              <p:spPr>
                <a:xfrm>
                  <a:off x="4362" y="1948"/>
                  <a:ext cx="870" cy="144"/>
                </a:xfrm>
                <a:custGeom>
                  <a:avLst/>
                  <a:gdLst/>
                  <a:ahLst/>
                  <a:cxnLst>
                    <a:cxn ang="0">
                      <a:pos x="0" y="144"/>
                    </a:cxn>
                    <a:cxn ang="0">
                      <a:pos x="54" y="0"/>
                    </a:cxn>
                    <a:cxn ang="0">
                      <a:pos x="870" y="0"/>
                    </a:cxn>
                  </a:cxnLst>
                  <a:pathLst>
                    <a:path w="870" h="144">
                      <a:moveTo>
                        <a:pt x="0" y="144"/>
                      </a:moveTo>
                      <a:lnTo>
                        <a:pt x="54" y="0"/>
                      </a:lnTo>
                      <a:lnTo>
                        <a:pt x="870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1" name="Freeform 71"/>
                <p:cNvSpPr/>
                <p:nvPr/>
              </p:nvSpPr>
              <p:spPr>
                <a:xfrm>
                  <a:off x="4359" y="2095"/>
                  <a:ext cx="873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7" y="144"/>
                    </a:cxn>
                    <a:cxn ang="0">
                      <a:pos x="873" y="144"/>
                    </a:cxn>
                  </a:cxnLst>
                  <a:pathLst>
                    <a:path w="873" h="144">
                      <a:moveTo>
                        <a:pt x="0" y="0"/>
                      </a:moveTo>
                      <a:lnTo>
                        <a:pt x="57" y="144"/>
                      </a:lnTo>
                      <a:lnTo>
                        <a:pt x="873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2" name="Freeform 72"/>
                <p:cNvSpPr/>
                <p:nvPr/>
              </p:nvSpPr>
              <p:spPr>
                <a:xfrm>
                  <a:off x="1281" y="2095"/>
                  <a:ext cx="303" cy="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303" y="0"/>
                    </a:cxn>
                  </a:cxnLst>
                  <a:pathLst>
                    <a:path w="303" h="3">
                      <a:moveTo>
                        <a:pt x="0" y="3"/>
                      </a:moveTo>
                      <a:lnTo>
                        <a:pt x="303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3" name="Freeform 73"/>
                <p:cNvSpPr/>
                <p:nvPr/>
              </p:nvSpPr>
              <p:spPr>
                <a:xfrm>
                  <a:off x="1989" y="2095"/>
                  <a:ext cx="726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26" y="0"/>
                    </a:cxn>
                  </a:cxnLst>
                  <a:pathLst>
                    <a:path w="726" h="1">
                      <a:moveTo>
                        <a:pt x="0" y="0"/>
                      </a:moveTo>
                      <a:lnTo>
                        <a:pt x="726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4" name="Freeform 74"/>
                <p:cNvSpPr/>
                <p:nvPr/>
              </p:nvSpPr>
              <p:spPr>
                <a:xfrm>
                  <a:off x="3120" y="2092"/>
                  <a:ext cx="240" cy="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40" y="3"/>
                    </a:cxn>
                  </a:cxnLst>
                  <a:pathLst>
                    <a:path w="240" h="3">
                      <a:moveTo>
                        <a:pt x="0" y="0"/>
                      </a:moveTo>
                      <a:lnTo>
                        <a:pt x="240" y="3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5" name="Freeform 75"/>
                <p:cNvSpPr/>
                <p:nvPr/>
              </p:nvSpPr>
              <p:spPr>
                <a:xfrm>
                  <a:off x="3765" y="2098"/>
                  <a:ext cx="195" cy="3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195" y="0"/>
                    </a:cxn>
                  </a:cxnLst>
                  <a:pathLst>
                    <a:path w="195" h="3">
                      <a:moveTo>
                        <a:pt x="0" y="3"/>
                      </a:moveTo>
                      <a:lnTo>
                        <a:pt x="195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96" name="Line 76"/>
                <p:cNvSpPr/>
                <p:nvPr/>
              </p:nvSpPr>
              <p:spPr>
                <a:xfrm>
                  <a:off x="768" y="4156"/>
                  <a:ext cx="446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97" name="Line 77"/>
                <p:cNvSpPr/>
                <p:nvPr/>
              </p:nvSpPr>
              <p:spPr>
                <a:xfrm>
                  <a:off x="768" y="3916"/>
                  <a:ext cx="446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98" name="Text Box 78"/>
                <p:cNvSpPr txBox="1"/>
                <p:nvPr/>
              </p:nvSpPr>
              <p:spPr>
                <a:xfrm>
                  <a:off x="741" y="3955"/>
                  <a:ext cx="49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 out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99" name="Text Box 79"/>
                <p:cNvSpPr txBox="1"/>
                <p:nvPr/>
              </p:nvSpPr>
              <p:spPr>
                <a:xfrm>
                  <a:off x="1257" y="3955"/>
                  <a:ext cx="42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PC+1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0" name="Text Box 80"/>
                <p:cNvSpPr txBox="1"/>
                <p:nvPr/>
              </p:nvSpPr>
              <p:spPr>
                <a:xfrm>
                  <a:off x="1635" y="3944"/>
                  <a:ext cx="525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Ins   IR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1" name="Text Box 81"/>
                <p:cNvSpPr txBox="1"/>
                <p:nvPr/>
              </p:nvSpPr>
              <p:spPr>
                <a:xfrm>
                  <a:off x="2246" y="3955"/>
                  <a:ext cx="208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2" name="Text Box 82"/>
                <p:cNvSpPr txBox="1"/>
                <p:nvPr/>
              </p:nvSpPr>
              <p:spPr>
                <a:xfrm>
                  <a:off x="2540" y="3964"/>
                  <a:ext cx="49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 out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3" name="Text Box 83"/>
                <p:cNvSpPr txBox="1"/>
                <p:nvPr/>
              </p:nvSpPr>
              <p:spPr>
                <a:xfrm>
                  <a:off x="3027" y="3964"/>
                  <a:ext cx="42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PC+1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4" name="Text Box 84"/>
                <p:cNvSpPr txBox="1"/>
                <p:nvPr/>
              </p:nvSpPr>
              <p:spPr>
                <a:xfrm>
                  <a:off x="3446" y="3955"/>
                  <a:ext cx="478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By    Z</a:t>
                  </a:r>
                  <a:endParaRPr lang="en-US" altLang="zh-CN" sz="1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5" name="Text Box 85"/>
                <p:cNvSpPr txBox="1"/>
                <p:nvPr/>
              </p:nvSpPr>
              <p:spPr>
                <a:xfrm>
                  <a:off x="3926" y="3964"/>
                  <a:ext cx="411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Z out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6" name="Text Box 86"/>
                <p:cNvSpPr txBox="1"/>
                <p:nvPr/>
              </p:nvSpPr>
              <p:spPr>
                <a:xfrm>
                  <a:off x="4454" y="3955"/>
                  <a:ext cx="208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7" name="Text Box 87"/>
                <p:cNvSpPr txBox="1"/>
                <p:nvPr/>
              </p:nvSpPr>
              <p:spPr>
                <a:xfrm>
                  <a:off x="4838" y="3955"/>
                  <a:ext cx="358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Port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8" name="Text Box 88"/>
                <p:cNvSpPr txBox="1"/>
                <p:nvPr/>
              </p:nvSpPr>
              <p:spPr>
                <a:xfrm>
                  <a:off x="3888" y="1932"/>
                  <a:ext cx="503" cy="3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>
                    <a:lnSpc>
                      <a:spcPct val="80000"/>
                    </a:lnSpc>
                  </a:pPr>
                  <a:r>
                    <a:rPr lang="en-US" altLang="zh-CN" sz="1600" dirty="0">
                      <a:latin typeface="Times New Roman" panose="02020603050405020304" pitchFamily="18" charset="0"/>
                    </a:rPr>
                    <a:t>    IO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  <a:p>
                  <a:pPr eaLnBrk="1" hangingPunct="1">
                    <a:lnSpc>
                      <a:spcPct val="80000"/>
                    </a:lnSpc>
                  </a:pPr>
                  <a:r>
                    <a:rPr lang="en-US" altLang="zh-CN" sz="1600" dirty="0">
                      <a:latin typeface="Times New Roman" panose="02020603050405020304" pitchFamily="18" charset="0"/>
                    </a:rPr>
                    <a:t> PORT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09" name="Text Box 89"/>
                <p:cNvSpPr txBox="1"/>
                <p:nvPr/>
              </p:nvSpPr>
              <p:spPr>
                <a:xfrm>
                  <a:off x="4416" y="1976"/>
                  <a:ext cx="39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ACC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0" name="Text Box 90"/>
                <p:cNvSpPr txBox="1"/>
                <p:nvPr/>
              </p:nvSpPr>
              <p:spPr>
                <a:xfrm>
                  <a:off x="3441" y="1976"/>
                  <a:ext cx="351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byte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1" name="Text Box 91"/>
                <p:cNvSpPr txBox="1"/>
                <p:nvPr/>
              </p:nvSpPr>
              <p:spPr>
                <a:xfrm>
                  <a:off x="2736" y="1976"/>
                  <a:ext cx="345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</a:t>
                  </a:r>
                  <a:r>
                    <a:rPr lang="en-US" altLang="zh-CN" sz="1600" baseline="-25000" dirty="0">
                      <a:latin typeface="Times New Roman" panose="02020603050405020304" pitchFamily="18" charset="0"/>
                    </a:rPr>
                    <a:t>L</a:t>
                  </a:r>
                  <a:endParaRPr lang="en-US" altLang="zh-CN" sz="16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2" name="Text Box 92"/>
                <p:cNvSpPr txBox="1"/>
                <p:nvPr/>
              </p:nvSpPr>
              <p:spPr>
                <a:xfrm>
                  <a:off x="1629" y="1976"/>
                  <a:ext cx="387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Instr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3" name="Text Box 93"/>
                <p:cNvSpPr txBox="1"/>
                <p:nvPr/>
              </p:nvSpPr>
              <p:spPr>
                <a:xfrm>
                  <a:off x="912" y="1976"/>
                  <a:ext cx="345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</a:t>
                  </a:r>
                  <a:r>
                    <a:rPr lang="en-US" altLang="zh-CN" sz="1600" baseline="-25000" dirty="0">
                      <a:latin typeface="Times New Roman" panose="02020603050405020304" pitchFamily="18" charset="0"/>
                    </a:rPr>
                    <a:t>L</a:t>
                  </a:r>
                  <a:endParaRPr lang="en-US" altLang="zh-CN" sz="16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4" name="Text Box 94"/>
                <p:cNvSpPr txBox="1"/>
                <p:nvPr/>
              </p:nvSpPr>
              <p:spPr>
                <a:xfrm>
                  <a:off x="1670" y="1555"/>
                  <a:ext cx="354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</a:t>
                  </a:r>
                  <a:r>
                    <a:rPr lang="en-US" altLang="zh-CN" sz="1600" baseline="-25000" dirty="0">
                      <a:latin typeface="Times New Roman" panose="02020603050405020304" pitchFamily="18" charset="0"/>
                    </a:rPr>
                    <a:t>H</a:t>
                  </a:r>
                  <a:endParaRPr lang="en-US" altLang="zh-CN" sz="16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5" name="Text Box 95"/>
                <p:cNvSpPr txBox="1"/>
                <p:nvPr/>
              </p:nvSpPr>
              <p:spPr>
                <a:xfrm>
                  <a:off x="3054" y="1564"/>
                  <a:ext cx="354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PC</a:t>
                  </a:r>
                  <a:r>
                    <a:rPr lang="en-US" altLang="zh-CN" sz="1600" baseline="-25000" dirty="0">
                      <a:latin typeface="Times New Roman" panose="02020603050405020304" pitchFamily="18" charset="0"/>
                    </a:rPr>
                    <a:t>H</a:t>
                  </a:r>
                  <a:endParaRPr lang="en-US" altLang="zh-CN" sz="16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6" name="Text Box 96"/>
                <p:cNvSpPr txBox="1"/>
                <p:nvPr/>
              </p:nvSpPr>
              <p:spPr>
                <a:xfrm>
                  <a:off x="4128" y="1555"/>
                  <a:ext cx="653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1600" dirty="0">
                      <a:latin typeface="Times New Roman" panose="02020603050405020304" pitchFamily="18" charset="0"/>
                    </a:rPr>
                    <a:t>IO PORT</a:t>
                  </a:r>
                  <a:endParaRPr lang="en-US" altLang="zh-CN" sz="16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7" name="Text Box 97"/>
                <p:cNvSpPr txBox="1"/>
                <p:nvPr/>
              </p:nvSpPr>
              <p:spPr>
                <a:xfrm>
                  <a:off x="55" y="940"/>
                  <a:ext cx="500" cy="4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dirty="0"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MH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</a:rPr>
                    <a:t>Z</a:t>
                  </a:r>
                  <a:endParaRPr lang="en-US" altLang="zh-CN" baseline="-25000" dirty="0">
                    <a:latin typeface="Times New Roman" panose="02020603050405020304" pitchFamily="18" charset="0"/>
                  </a:endParaRPr>
                </a:p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CLK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8" name="Text Box 98"/>
                <p:cNvSpPr txBox="1"/>
                <p:nvPr/>
              </p:nvSpPr>
              <p:spPr>
                <a:xfrm>
                  <a:off x="55" y="1559"/>
                  <a:ext cx="543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</a:rPr>
                    <a:t>15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~A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19" name="Text Box 99"/>
                <p:cNvSpPr txBox="1"/>
                <p:nvPr/>
              </p:nvSpPr>
              <p:spPr>
                <a:xfrm>
                  <a:off x="55" y="1978"/>
                  <a:ext cx="703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AD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</a:rPr>
                    <a:t>7</a:t>
                  </a:r>
                  <a:r>
                    <a:rPr lang="en-US" altLang="zh-CN" dirty="0">
                      <a:latin typeface="Times New Roman" panose="02020603050405020304" pitchFamily="18" charset="0"/>
                    </a:rPr>
                    <a:t>~AD</a:t>
                  </a:r>
                  <a:r>
                    <a:rPr lang="en-US" altLang="zh-CN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20" name="Text Box 100"/>
                <p:cNvSpPr txBox="1"/>
                <p:nvPr/>
              </p:nvSpPr>
              <p:spPr>
                <a:xfrm>
                  <a:off x="55" y="2396"/>
                  <a:ext cx="412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ALE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21" name="Text Box 101"/>
                <p:cNvSpPr txBox="1"/>
                <p:nvPr/>
              </p:nvSpPr>
              <p:spPr>
                <a:xfrm>
                  <a:off x="55" y="2725"/>
                  <a:ext cx="324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RD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22" name="Text Box 102"/>
                <p:cNvSpPr txBox="1"/>
                <p:nvPr/>
              </p:nvSpPr>
              <p:spPr>
                <a:xfrm>
                  <a:off x="55" y="3109"/>
                  <a:ext cx="364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WR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23" name="Text Box 103"/>
                <p:cNvSpPr txBox="1"/>
                <p:nvPr/>
              </p:nvSpPr>
              <p:spPr>
                <a:xfrm>
                  <a:off x="55" y="3493"/>
                  <a:ext cx="460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dirty="0">
                      <a:latin typeface="Times New Roman" panose="02020603050405020304" pitchFamily="18" charset="0"/>
                    </a:rPr>
                    <a:t>IO/M</a:t>
                  </a:r>
                  <a:endParaRPr lang="en-US" altLang="zh-CN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924" name="Line 104"/>
                <p:cNvSpPr/>
                <p:nvPr/>
              </p:nvSpPr>
              <p:spPr>
                <a:xfrm>
                  <a:off x="96" y="2751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925" name="Line 105"/>
                <p:cNvSpPr/>
                <p:nvPr/>
              </p:nvSpPr>
              <p:spPr>
                <a:xfrm>
                  <a:off x="96" y="3132"/>
                  <a:ext cx="26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926" name="Line 106"/>
                <p:cNvSpPr/>
                <p:nvPr/>
              </p:nvSpPr>
              <p:spPr>
                <a:xfrm>
                  <a:off x="288" y="3541"/>
                  <a:ext cx="1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927" name="Line 107"/>
                <p:cNvSpPr/>
                <p:nvPr/>
              </p:nvSpPr>
              <p:spPr>
                <a:xfrm>
                  <a:off x="4608" y="4060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4928" name="Text Box 108"/>
                <p:cNvSpPr txBox="1"/>
                <p:nvPr/>
              </p:nvSpPr>
              <p:spPr>
                <a:xfrm>
                  <a:off x="326" y="565"/>
                  <a:ext cx="250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eaLnBrk="1" hangingPunct="1"/>
                  <a:endParaRPr lang="zh-CN" altLang="en-US" sz="2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4825" name="Line 109"/>
              <p:cNvSpPr/>
              <p:nvPr/>
            </p:nvSpPr>
            <p:spPr>
              <a:xfrm>
                <a:off x="3672" y="4060"/>
                <a:ext cx="97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34823" name="Line 111"/>
            <p:cNvSpPr/>
            <p:nvPr/>
          </p:nvSpPr>
          <p:spPr>
            <a:xfrm>
              <a:off x="1873" y="4060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0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Text Box 2"/>
          <p:cNvSpPr txBox="1"/>
          <p:nvPr/>
        </p:nvSpPr>
        <p:spPr>
          <a:xfrm>
            <a:off x="365125" y="320675"/>
            <a:ext cx="11017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小结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08259" name="Text Box 3"/>
          <p:cNvSpPr txBox="1"/>
          <p:nvPr/>
        </p:nvSpPr>
        <p:spPr>
          <a:xfrm>
            <a:off x="890588" y="4292600"/>
            <a:ext cx="6705600" cy="1330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5000"/>
              </a:lnSpc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每个 </a:t>
            </a:r>
            <a:r>
              <a:rPr lang="zh-CN" altLang="en-US" sz="2800" dirty="0">
                <a:latin typeface="Times New Roman" panose="02020603050405020304" pitchFamily="18" charset="0"/>
              </a:rPr>
              <a:t>控制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信号</a:t>
            </a:r>
            <a:r>
              <a:rPr lang="zh-CN" altLang="en-US" sz="2800" dirty="0">
                <a:latin typeface="Times New Roman" panose="02020603050405020304" pitchFamily="18" charset="0"/>
              </a:rPr>
              <a:t>在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指定机器周期 </a:t>
            </a:r>
            <a:r>
              <a:rPr lang="zh-CN" altLang="en-US" sz="2800" dirty="0">
                <a:latin typeface="Times New Roman" panose="02020603050405020304" pitchFamily="18" charset="0"/>
              </a:rPr>
              <a:t>的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</a:pP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指定节拍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时刻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发出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8260" name="Text Box 4"/>
          <p:cNvSpPr txBox="1"/>
          <p:nvPr/>
        </p:nvSpPr>
        <p:spPr>
          <a:xfrm>
            <a:off x="1524000" y="2160588"/>
            <a:ext cx="8153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机器周期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取指令操作码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8261" name="Text Box 5"/>
          <p:cNvSpPr txBox="1"/>
          <p:nvPr/>
        </p:nvSpPr>
        <p:spPr>
          <a:xfrm>
            <a:off x="1524000" y="2936875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机器周期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取设备地址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8262" name="Text Box 6"/>
          <p:cNvSpPr txBox="1"/>
          <p:nvPr/>
        </p:nvSpPr>
        <p:spPr>
          <a:xfrm>
            <a:off x="1524000" y="3622675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机器周期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ACC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的内容写入设备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8263" name="Text Box 7"/>
          <p:cNvSpPr txBox="1"/>
          <p:nvPr/>
        </p:nvSpPr>
        <p:spPr>
          <a:xfrm>
            <a:off x="762000" y="1412875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以一条输出指令（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I/O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r>
              <a:rPr lang="zh-CN" altLang="en-US" sz="2800" dirty="0">
                <a:latin typeface="Times New Roman" panose="02020603050405020304" pitchFamily="18" charset="0"/>
              </a:rPr>
              <a:t>）为例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8264" name="Rectangle 8"/>
          <p:cNvSpPr>
            <a:spLocks noChangeArrowheads="1"/>
          </p:cNvSpPr>
          <p:nvPr/>
        </p:nvSpPr>
        <p:spPr bwMode="auto">
          <a:xfrm>
            <a:off x="76962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9" name="AutoShape 1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59" grpId="0"/>
      <p:bldP spid="608260" grpId="0"/>
      <p:bldP spid="608261" grpId="0"/>
      <p:bldP spid="608262" grpId="0"/>
      <p:bldP spid="608263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5095</Words>
  <Application>WPS 演示</Application>
  <PresentationFormat/>
  <Paragraphs>1801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Arial</vt:lpstr>
      <vt:lpstr>宋体</vt:lpstr>
      <vt:lpstr>Wingdings</vt:lpstr>
      <vt:lpstr>等线</vt:lpstr>
      <vt:lpstr>等线 Light</vt:lpstr>
      <vt:lpstr>Times New Roman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Q</cp:lastModifiedBy>
  <cp:revision>1539</cp:revision>
  <dcterms:created xsi:type="dcterms:W3CDTF">2024-09-23T11:22:59Z</dcterms:created>
  <dcterms:modified xsi:type="dcterms:W3CDTF">2024-09-23T11:23:29Z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657E15529D9F488AAD187C669374EBBA_13</vt:lpwstr>
  </property>
  <property fmtid="{D5CDD505-2E9C-101B-9397-08002B2CF9AE}" pid="3" name="KSOProductBuildVer">
    <vt:lpwstr>2052-12.1.0.18276</vt:lpwstr>
  </property>
</Properties>
</file>