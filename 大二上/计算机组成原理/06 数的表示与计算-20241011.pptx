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75" r:id="rId3"/>
    <p:sldId id="576" r:id="rId4"/>
    <p:sldId id="577" r:id="rId6"/>
    <p:sldId id="894" r:id="rId7"/>
    <p:sldId id="896" r:id="rId8"/>
    <p:sldId id="897" r:id="rId9"/>
    <p:sldId id="898" r:id="rId10"/>
    <p:sldId id="899" r:id="rId11"/>
    <p:sldId id="900" r:id="rId12"/>
    <p:sldId id="901" r:id="rId13"/>
    <p:sldId id="902" r:id="rId14"/>
    <p:sldId id="903" r:id="rId15"/>
    <p:sldId id="904" r:id="rId16"/>
    <p:sldId id="905" r:id="rId17"/>
    <p:sldId id="906" r:id="rId18"/>
    <p:sldId id="907" r:id="rId19"/>
    <p:sldId id="908" r:id="rId20"/>
    <p:sldId id="1044" r:id="rId21"/>
    <p:sldId id="1045" r:id="rId22"/>
    <p:sldId id="1046" r:id="rId23"/>
    <p:sldId id="1047" r:id="rId24"/>
    <p:sldId id="910" r:id="rId25"/>
    <p:sldId id="998" r:id="rId26"/>
    <p:sldId id="912" r:id="rId27"/>
    <p:sldId id="913" r:id="rId28"/>
    <p:sldId id="914" r:id="rId29"/>
    <p:sldId id="915" r:id="rId30"/>
    <p:sldId id="916" r:id="rId31"/>
    <p:sldId id="917" r:id="rId32"/>
    <p:sldId id="918" r:id="rId33"/>
    <p:sldId id="919" r:id="rId34"/>
    <p:sldId id="920" r:id="rId35"/>
    <p:sldId id="921" r:id="rId36"/>
    <p:sldId id="922" r:id="rId37"/>
    <p:sldId id="923" r:id="rId38"/>
    <p:sldId id="924" r:id="rId39"/>
    <p:sldId id="925" r:id="rId40"/>
    <p:sldId id="926" r:id="rId41"/>
    <p:sldId id="927" r:id="rId42"/>
    <p:sldId id="928" r:id="rId43"/>
    <p:sldId id="929" r:id="rId44"/>
    <p:sldId id="930" r:id="rId45"/>
    <p:sldId id="931" r:id="rId46"/>
    <p:sldId id="943" r:id="rId47"/>
    <p:sldId id="944" r:id="rId48"/>
    <p:sldId id="945" r:id="rId49"/>
    <p:sldId id="946" r:id="rId50"/>
    <p:sldId id="947" r:id="rId51"/>
    <p:sldId id="948" r:id="rId52"/>
    <p:sldId id="949" r:id="rId53"/>
    <p:sldId id="950" r:id="rId54"/>
    <p:sldId id="951" r:id="rId55"/>
    <p:sldId id="960" r:id="rId56"/>
    <p:sldId id="961" r:id="rId57"/>
    <p:sldId id="962" r:id="rId58"/>
    <p:sldId id="963" r:id="rId59"/>
    <p:sldId id="964" r:id="rId60"/>
    <p:sldId id="965" r:id="rId61"/>
    <p:sldId id="966" r:id="rId62"/>
    <p:sldId id="967" r:id="rId63"/>
    <p:sldId id="968" r:id="rId64"/>
    <p:sldId id="969" r:id="rId65"/>
    <p:sldId id="1008" r:id="rId66"/>
    <p:sldId id="970" r:id="rId67"/>
  </p:sldIdLst>
  <p:sldSz cx="12192000" cy="6858000"/>
  <p:notesSz cx="6858000" cy="9144000"/>
  <p:custDataLst>
    <p:tags r:id="rId71"/>
  </p:custDataLst>
  <p:kinsoku lang="zh-CN" invalStChars="!),.:;?]}、。—ˇ¨〃々～‖…’”〕〉》」』〗】∶！＂＇），．：；？］｀｜｝·" invalEndChars="([{‘“〔〈《「『〖【（［｛．·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3399"/>
    <a:srgbClr val="3366FF"/>
    <a:srgbClr val="00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2849" autoAdjust="0"/>
  </p:normalViewPr>
  <p:slideViewPr>
    <p:cSldViewPr showGuides="1">
      <p:cViewPr varScale="1">
        <p:scale>
          <a:sx n="135" d="100"/>
          <a:sy n="135" d="100"/>
        </p:scale>
        <p:origin x="198" y="576"/>
      </p:cViewPr>
      <p:guideLst>
        <p:guide orient="horz" pos="2160"/>
        <p:guide pos="38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4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gs" Target="tags/tag1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7714EC6-7A61-434E-90E1-200F453040FC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/>
              <a:t>引入：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计算机中的信息，无论是数，还是别的，都是二进制表示。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我们平时如何表示一个数？</a:t>
            </a:r>
            <a:endParaRPr lang="en-US" altLang="zh-CN"/>
          </a:p>
          <a:p>
            <a:r>
              <a:rPr lang="zh-CN" altLang="en-US"/>
              <a:t>三个重要的部分：符号（正负）、数、小数点</a:t>
            </a:r>
            <a:endParaRPr lang="zh-CN" altLang="en-US"/>
          </a:p>
        </p:txBody>
      </p:sp>
      <p:sp>
        <p:nvSpPr>
          <p:cNvPr id="512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4E2225B-EFCF-4FDC-ABB4-0806DE319675}" type="slidenum">
              <a:rPr lang="zh-CN" altLang="en-US" smtClean="0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/>
              <a:t>在黑板上推导</a:t>
            </a:r>
            <a:endParaRPr lang="zh-CN" altLang="en-US"/>
          </a:p>
        </p:txBody>
      </p:sp>
      <p:sp>
        <p:nvSpPr>
          <p:cNvPr id="5632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E6F2A1-6ADD-46CC-B4B6-11306373B7CD}" type="slidenum">
              <a:rPr lang="zh-CN" altLang="en-US" smtClean="0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注意此处：尾数为规格化形式。</a:t>
            </a:r>
            <a:r>
              <a:rPr lang="en-US" altLang="zh-CN"/>
              <a:t>-1/2</a:t>
            </a:r>
            <a:r>
              <a:rPr lang="zh-CN" altLang="en-US"/>
              <a:t>不是规格化形式</a:t>
            </a:r>
            <a:endParaRPr lang="zh-CN" altLang="en-US"/>
          </a:p>
        </p:txBody>
      </p:sp>
      <p:sp>
        <p:nvSpPr>
          <p:cNvPr id="8397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7B65FEB-BDCC-4292-868C-BACA793E154A}" type="slidenum">
              <a:rPr lang="zh-CN" altLang="en-US" smtClean="0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  <a:p>
            <a:endParaRPr lang="zh-CN" altLang="en-US"/>
          </a:p>
        </p:txBody>
      </p:sp>
      <p:sp>
        <p:nvSpPr>
          <p:cNvPr id="8602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B431F9A-1E06-411C-892F-48F6A1402A9F}" type="slidenum">
              <a:rPr lang="zh-CN" altLang="en-US" smtClean="0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注意</a:t>
            </a:r>
            <a:r>
              <a:rPr lang="en-US" altLang="zh-CN"/>
              <a:t>277</a:t>
            </a:r>
            <a:r>
              <a:rPr lang="zh-CN" altLang="en-US"/>
              <a:t>页的，补码负数的舍入处理</a:t>
            </a:r>
            <a:endParaRPr lang="en-US" altLang="zh-CN"/>
          </a:p>
          <a:p>
            <a:r>
              <a:rPr lang="zh-CN" altLang="en-US"/>
              <a:t>对于负数补码来说，</a:t>
            </a:r>
            <a:endParaRPr lang="en-US" altLang="zh-CN"/>
          </a:p>
          <a:p>
            <a:r>
              <a:rPr lang="zh-CN" altLang="en-US"/>
              <a:t>“舍”让绝对值变大；“入”让绝对值变小</a:t>
            </a:r>
            <a:endParaRPr lang="en-US" altLang="zh-CN"/>
          </a:p>
          <a:p>
            <a:r>
              <a:rPr lang="en-US" altLang="zh-CN"/>
              <a:t>277</a:t>
            </a:r>
            <a:r>
              <a:rPr lang="zh-CN" altLang="en-US"/>
              <a:t>页情况</a:t>
            </a:r>
            <a:r>
              <a:rPr lang="en-US" altLang="zh-CN"/>
              <a:t>II</a:t>
            </a:r>
            <a:r>
              <a:rPr lang="zh-CN" altLang="en-US"/>
              <a:t>： 丢失各位最高位为</a:t>
            </a:r>
            <a:r>
              <a:rPr lang="en-US" altLang="zh-CN"/>
              <a:t>0</a:t>
            </a:r>
            <a:r>
              <a:rPr lang="zh-CN" altLang="en-US"/>
              <a:t>，以下各位不全为</a:t>
            </a:r>
            <a:r>
              <a:rPr lang="en-US" altLang="zh-CN"/>
              <a:t>0</a:t>
            </a:r>
            <a:r>
              <a:rPr lang="zh-CN" altLang="en-US"/>
              <a:t>，或者最高位为</a:t>
            </a:r>
            <a:r>
              <a:rPr lang="en-US" altLang="zh-CN"/>
              <a:t>1</a:t>
            </a:r>
            <a:r>
              <a:rPr lang="zh-CN" altLang="en-US"/>
              <a:t>，以下各位都为</a:t>
            </a:r>
            <a:r>
              <a:rPr lang="en-US" altLang="zh-CN"/>
              <a:t>0</a:t>
            </a:r>
            <a:r>
              <a:rPr lang="zh-CN" altLang="en-US"/>
              <a:t>， 实际是相当于丢了真值</a:t>
            </a:r>
            <a:r>
              <a:rPr lang="en-US" altLang="zh-CN"/>
              <a:t>1</a:t>
            </a:r>
            <a:r>
              <a:rPr lang="zh-CN" altLang="en-US"/>
              <a:t>******；</a:t>
            </a:r>
            <a:endParaRPr lang="en-US" altLang="zh-CN"/>
          </a:p>
          <a:p>
            <a:r>
              <a:rPr lang="en-US" altLang="zh-CN"/>
              <a:t>277</a:t>
            </a:r>
            <a:r>
              <a:rPr lang="zh-CN" altLang="en-US"/>
              <a:t>页情况</a:t>
            </a:r>
            <a:r>
              <a:rPr lang="en-US" altLang="zh-CN"/>
              <a:t>II</a:t>
            </a:r>
            <a:r>
              <a:rPr lang="zh-CN" altLang="en-US"/>
              <a:t>： 丢失各位最高位为</a:t>
            </a:r>
            <a:r>
              <a:rPr lang="en-US" altLang="zh-CN"/>
              <a:t>1</a:t>
            </a:r>
            <a:r>
              <a:rPr lang="zh-CN" altLang="en-US"/>
              <a:t>，以下各位不全为</a:t>
            </a:r>
            <a:r>
              <a:rPr lang="en-US" altLang="zh-CN"/>
              <a:t>0</a:t>
            </a:r>
            <a:r>
              <a:rPr lang="zh-CN" altLang="en-US"/>
              <a:t>，实际是相当于丢了真值</a:t>
            </a:r>
            <a:r>
              <a:rPr lang="en-US" altLang="zh-CN"/>
              <a:t>0</a:t>
            </a:r>
            <a:r>
              <a:rPr lang="zh-CN" altLang="en-US"/>
              <a:t>******；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8806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5326450-B439-4D28-8458-4D79FDE98E49}" type="slidenum">
              <a:rPr lang="zh-CN" altLang="en-US" smtClean="0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15C43-3410-4616-94B3-B646360076C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7EFA3-2F93-4124-8A40-2445370877F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388373-A293-4A4F-B010-A6928BD020F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99D45-51F9-425C-A17D-CE6CA7BC3F1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D89AF-FEB4-48CF-B3FB-DAB14F4D8D2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43BCE3-836D-4AE3-A3C6-552540D8108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3CA06-765C-4893-9FC6-51A59BCBCB9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BEE592-4407-4865-A360-C9544A8080A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A9F65-EC11-42CD-9B74-DD5F01483B3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18CAA7-9BFE-4A0E-9243-09F19FEE72B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C8052-DB65-4DDB-8BFC-A1A65A23D38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2BAE142-907B-448E-9C67-101A1DAFF0DF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10515600" cy="1052513"/>
          </a:xfrm>
        </p:spPr>
        <p:txBody>
          <a:bodyPr/>
          <a:lstStyle/>
          <a:p>
            <a:pPr eaLnBrk="1" hangingPunct="1"/>
            <a:r>
              <a:rPr lang="zh-CN" altLang="en-US" b="1"/>
              <a:t>数的表示与运算</a:t>
            </a:r>
            <a:endParaRPr lang="zh-CN" altLang="en-US" b="1" dirty="0"/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2063750" y="1292225"/>
            <a:ext cx="949896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>
                <a:latin typeface="Times New Roman" panose="02020603050405020304" pitchFamily="18" charset="0"/>
              </a:rPr>
              <a:t>I  </a:t>
            </a:r>
            <a:r>
              <a:rPr lang="zh-CN" altLang="en-US" sz="3200">
                <a:latin typeface="Times New Roman" panose="02020603050405020304" pitchFamily="18" charset="0"/>
              </a:rPr>
              <a:t>无符号数和有符号数</a:t>
            </a:r>
            <a:r>
              <a:rPr lang="en-US" altLang="zh-CN" sz="3200">
                <a:latin typeface="Times New Roman" panose="02020603050405020304" pitchFamily="18" charset="0"/>
              </a:rPr>
              <a:t> (</a:t>
            </a:r>
            <a:r>
              <a:rPr lang="zh-CN" altLang="en-US" sz="3200">
                <a:latin typeface="Times New Roman" panose="02020603050405020304" pitchFamily="18" charset="0"/>
              </a:rPr>
              <a:t>数电已经讲过，请提前复习）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2063750" y="3044825"/>
            <a:ext cx="6248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>
                <a:latin typeface="Times New Roman" panose="02020603050405020304" pitchFamily="18" charset="0"/>
              </a:rPr>
              <a:t>III  </a:t>
            </a:r>
            <a:r>
              <a:rPr lang="zh-CN" altLang="en-US" sz="3200">
                <a:latin typeface="Times New Roman" panose="02020603050405020304" pitchFamily="18" charset="0"/>
              </a:rPr>
              <a:t>定点运算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2063750" y="2168525"/>
            <a:ext cx="6934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>
                <a:latin typeface="Times New Roman" panose="02020603050405020304" pitchFamily="18" charset="0"/>
              </a:rPr>
              <a:t>II  </a:t>
            </a:r>
            <a:r>
              <a:rPr lang="zh-CN" altLang="en-US" sz="3200">
                <a:latin typeface="Times New Roman" panose="02020603050405020304" pitchFamily="18" charset="0"/>
              </a:rPr>
              <a:t>数的定点表示和浮点表示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063750" y="3921125"/>
            <a:ext cx="5867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>
                <a:latin typeface="Times New Roman" panose="02020603050405020304" pitchFamily="18" charset="0"/>
              </a:rPr>
              <a:t>IV  </a:t>
            </a:r>
            <a:r>
              <a:rPr lang="zh-CN" altLang="en-US" sz="3200">
                <a:latin typeface="Times New Roman" panose="02020603050405020304" pitchFamily="18" charset="0"/>
              </a:rPr>
              <a:t>浮点四则运算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2063750" y="4797425"/>
            <a:ext cx="886841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>
                <a:latin typeface="Times New Roman" panose="02020603050405020304" pitchFamily="18" charset="0"/>
              </a:rPr>
              <a:t>V  </a:t>
            </a:r>
            <a:r>
              <a:rPr lang="zh-CN" altLang="en-US" sz="3200">
                <a:latin typeface="Times New Roman" panose="02020603050405020304" pitchFamily="18" charset="0"/>
              </a:rPr>
              <a:t>算术逻辑单元</a:t>
            </a:r>
            <a:r>
              <a:rPr lang="en-US" altLang="zh-CN" sz="3200">
                <a:latin typeface="Times New Roman" panose="02020603050405020304" pitchFamily="18" charset="0"/>
              </a:rPr>
              <a:t> </a:t>
            </a:r>
            <a:r>
              <a:rPr lang="zh-CN" altLang="en-US" sz="3200">
                <a:latin typeface="Times New Roman" panose="02020603050405020304" pitchFamily="18" charset="0"/>
              </a:rPr>
              <a:t>（数电已经讲过，请自行复习</a:t>
            </a:r>
            <a:r>
              <a:rPr lang="en-US" altLang="zh-CN" sz="3200">
                <a:latin typeface="Times New Roman" panose="02020603050405020304" pitchFamily="18" charset="0"/>
              </a:rPr>
              <a:t>)</a:t>
            </a:r>
            <a:r>
              <a:rPr lang="zh-CN" altLang="en-US" sz="3200">
                <a:latin typeface="Times New Roman" panose="02020603050405020304" pitchFamily="18" charset="0"/>
              </a:rPr>
              <a:t> 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350" y="142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/>
              <a:t>I  </a:t>
            </a:r>
            <a:r>
              <a:rPr lang="zh-CN" altLang="en-US" b="1"/>
              <a:t>无符号数和有符号数</a:t>
            </a:r>
            <a:endParaRPr lang="zh-CN" altLang="en-US" b="1"/>
          </a:p>
        </p:txBody>
      </p:sp>
      <p:sp>
        <p:nvSpPr>
          <p:cNvPr id="363523" name="Text Box 3"/>
          <p:cNvSpPr txBox="1">
            <a:spLocks noChangeArrowheads="1"/>
          </p:cNvSpPr>
          <p:nvPr/>
        </p:nvSpPr>
        <p:spPr bwMode="auto">
          <a:xfrm>
            <a:off x="992188" y="990600"/>
            <a:ext cx="26320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一、无符号数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363524" name="Group 4"/>
          <p:cNvGrpSpPr/>
          <p:nvPr/>
        </p:nvGrpSpPr>
        <p:grpSpPr bwMode="auto">
          <a:xfrm>
            <a:off x="1982788" y="1752600"/>
            <a:ext cx="5334000" cy="1341438"/>
            <a:chOff x="950" y="1296"/>
            <a:chExt cx="3360" cy="845"/>
          </a:xfrm>
        </p:grpSpPr>
        <p:sp>
          <p:nvSpPr>
            <p:cNvPr id="4158" name="Text Box 5"/>
            <p:cNvSpPr txBox="1">
              <a:spLocks noChangeArrowheads="1"/>
            </p:cNvSpPr>
            <p:nvPr/>
          </p:nvSpPr>
          <p:spPr bwMode="auto">
            <a:xfrm>
              <a:off x="950" y="1296"/>
              <a:ext cx="217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寄存器的位数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4159" name="Text Box 6"/>
            <p:cNvSpPr txBox="1">
              <a:spLocks noChangeArrowheads="1"/>
            </p:cNvSpPr>
            <p:nvPr/>
          </p:nvSpPr>
          <p:spPr bwMode="auto">
            <a:xfrm>
              <a:off x="950" y="1776"/>
              <a:ext cx="336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反映无符号数的表示范围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63527" name="Group 7"/>
          <p:cNvGrpSpPr/>
          <p:nvPr/>
        </p:nvGrpSpPr>
        <p:grpSpPr bwMode="auto">
          <a:xfrm>
            <a:off x="2836863" y="3444875"/>
            <a:ext cx="3581400" cy="517525"/>
            <a:chOff x="1488" y="2304"/>
            <a:chExt cx="2256" cy="326"/>
          </a:xfrm>
        </p:grpSpPr>
        <p:sp>
          <p:nvSpPr>
            <p:cNvPr id="4140" name="Rectangle 8"/>
            <p:cNvSpPr>
              <a:spLocks noChangeArrowheads="1"/>
            </p:cNvSpPr>
            <p:nvPr/>
          </p:nvSpPr>
          <p:spPr bwMode="auto">
            <a:xfrm>
              <a:off x="3462" y="2304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41" name="Rectangle 9"/>
            <p:cNvSpPr>
              <a:spLocks noChangeArrowheads="1"/>
            </p:cNvSpPr>
            <p:nvPr/>
          </p:nvSpPr>
          <p:spPr bwMode="auto">
            <a:xfrm>
              <a:off x="3180" y="2304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42" name="Rectangle 10"/>
            <p:cNvSpPr>
              <a:spLocks noChangeArrowheads="1"/>
            </p:cNvSpPr>
            <p:nvPr/>
          </p:nvSpPr>
          <p:spPr bwMode="auto">
            <a:xfrm>
              <a:off x="2898" y="2304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43" name="Rectangle 11"/>
            <p:cNvSpPr>
              <a:spLocks noChangeArrowheads="1"/>
            </p:cNvSpPr>
            <p:nvPr/>
          </p:nvSpPr>
          <p:spPr bwMode="auto">
            <a:xfrm>
              <a:off x="2616" y="2304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44" name="Rectangle 12"/>
            <p:cNvSpPr>
              <a:spLocks noChangeArrowheads="1"/>
            </p:cNvSpPr>
            <p:nvPr/>
          </p:nvSpPr>
          <p:spPr bwMode="auto">
            <a:xfrm>
              <a:off x="2334" y="2304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45" name="Rectangle 13"/>
            <p:cNvSpPr>
              <a:spLocks noChangeArrowheads="1"/>
            </p:cNvSpPr>
            <p:nvPr/>
          </p:nvSpPr>
          <p:spPr bwMode="auto">
            <a:xfrm>
              <a:off x="2052" y="2304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46" name="Rectangle 14"/>
            <p:cNvSpPr>
              <a:spLocks noChangeArrowheads="1"/>
            </p:cNvSpPr>
            <p:nvPr/>
          </p:nvSpPr>
          <p:spPr bwMode="auto">
            <a:xfrm>
              <a:off x="1770" y="2304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47" name="Rectangle 15"/>
            <p:cNvSpPr>
              <a:spLocks noChangeArrowheads="1"/>
            </p:cNvSpPr>
            <p:nvPr/>
          </p:nvSpPr>
          <p:spPr bwMode="auto">
            <a:xfrm>
              <a:off x="1488" y="2304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48" name="Line 16"/>
            <p:cNvSpPr>
              <a:spLocks noChangeShapeType="1"/>
            </p:cNvSpPr>
            <p:nvPr/>
          </p:nvSpPr>
          <p:spPr bwMode="auto">
            <a:xfrm>
              <a:off x="1488" y="2304"/>
              <a:ext cx="22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49" name="Line 17"/>
            <p:cNvSpPr>
              <a:spLocks noChangeShapeType="1"/>
            </p:cNvSpPr>
            <p:nvPr/>
          </p:nvSpPr>
          <p:spPr bwMode="auto">
            <a:xfrm>
              <a:off x="1488" y="2630"/>
              <a:ext cx="22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50" name="Line 18"/>
            <p:cNvSpPr>
              <a:spLocks noChangeShapeType="1"/>
            </p:cNvSpPr>
            <p:nvPr/>
          </p:nvSpPr>
          <p:spPr bwMode="auto">
            <a:xfrm>
              <a:off x="1488" y="2304"/>
              <a:ext cx="0" cy="32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51" name="Line 19"/>
            <p:cNvSpPr>
              <a:spLocks noChangeShapeType="1"/>
            </p:cNvSpPr>
            <p:nvPr/>
          </p:nvSpPr>
          <p:spPr bwMode="auto">
            <a:xfrm>
              <a:off x="1770" y="2304"/>
              <a:ext cx="0" cy="3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52" name="Line 20"/>
            <p:cNvSpPr>
              <a:spLocks noChangeShapeType="1"/>
            </p:cNvSpPr>
            <p:nvPr/>
          </p:nvSpPr>
          <p:spPr bwMode="auto">
            <a:xfrm>
              <a:off x="2052" y="2304"/>
              <a:ext cx="0" cy="3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53" name="Line 21"/>
            <p:cNvSpPr>
              <a:spLocks noChangeShapeType="1"/>
            </p:cNvSpPr>
            <p:nvPr/>
          </p:nvSpPr>
          <p:spPr bwMode="auto">
            <a:xfrm>
              <a:off x="2334" y="2304"/>
              <a:ext cx="0" cy="3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54" name="Line 22"/>
            <p:cNvSpPr>
              <a:spLocks noChangeShapeType="1"/>
            </p:cNvSpPr>
            <p:nvPr/>
          </p:nvSpPr>
          <p:spPr bwMode="auto">
            <a:xfrm>
              <a:off x="2616" y="2304"/>
              <a:ext cx="0" cy="3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55" name="Line 23"/>
            <p:cNvSpPr>
              <a:spLocks noChangeShapeType="1"/>
            </p:cNvSpPr>
            <p:nvPr/>
          </p:nvSpPr>
          <p:spPr bwMode="auto">
            <a:xfrm>
              <a:off x="3180" y="2304"/>
              <a:ext cx="0" cy="3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56" name="Line 24"/>
            <p:cNvSpPr>
              <a:spLocks noChangeShapeType="1"/>
            </p:cNvSpPr>
            <p:nvPr/>
          </p:nvSpPr>
          <p:spPr bwMode="auto">
            <a:xfrm>
              <a:off x="3462" y="2304"/>
              <a:ext cx="0" cy="3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57" name="Line 25"/>
            <p:cNvSpPr>
              <a:spLocks noChangeShapeType="1"/>
            </p:cNvSpPr>
            <p:nvPr/>
          </p:nvSpPr>
          <p:spPr bwMode="auto">
            <a:xfrm>
              <a:off x="3744" y="2304"/>
              <a:ext cx="0" cy="32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363546" name="Text Box 26"/>
          <p:cNvSpPr txBox="1">
            <a:spLocks noChangeArrowheads="1"/>
          </p:cNvSpPr>
          <p:nvPr/>
        </p:nvSpPr>
        <p:spPr bwMode="auto">
          <a:xfrm>
            <a:off x="2135188" y="4114800"/>
            <a:ext cx="6035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  8 位                       0 ~ 255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363547" name="Text Box 27"/>
          <p:cNvSpPr txBox="1">
            <a:spLocks noChangeArrowheads="1"/>
          </p:cNvSpPr>
          <p:nvPr/>
        </p:nvSpPr>
        <p:spPr bwMode="auto">
          <a:xfrm>
            <a:off x="2135188" y="5516563"/>
            <a:ext cx="58832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16 位                       0 ~ 65535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363548" name="Group 28"/>
          <p:cNvGrpSpPr/>
          <p:nvPr/>
        </p:nvGrpSpPr>
        <p:grpSpPr bwMode="auto">
          <a:xfrm>
            <a:off x="1770063" y="4892675"/>
            <a:ext cx="7162800" cy="517525"/>
            <a:chOff x="960" y="3130"/>
            <a:chExt cx="4512" cy="326"/>
          </a:xfrm>
        </p:grpSpPr>
        <p:sp>
          <p:nvSpPr>
            <p:cNvPr id="4105" name="Rectangle 29"/>
            <p:cNvSpPr>
              <a:spLocks noChangeArrowheads="1"/>
            </p:cNvSpPr>
            <p:nvPr/>
          </p:nvSpPr>
          <p:spPr bwMode="auto">
            <a:xfrm>
              <a:off x="2934" y="3130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06" name="Rectangle 30"/>
            <p:cNvSpPr>
              <a:spLocks noChangeArrowheads="1"/>
            </p:cNvSpPr>
            <p:nvPr/>
          </p:nvSpPr>
          <p:spPr bwMode="auto">
            <a:xfrm>
              <a:off x="2652" y="3130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07" name="Rectangle 31"/>
            <p:cNvSpPr>
              <a:spLocks noChangeArrowheads="1"/>
            </p:cNvSpPr>
            <p:nvPr/>
          </p:nvSpPr>
          <p:spPr bwMode="auto">
            <a:xfrm>
              <a:off x="2370" y="3130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08" name="Rectangle 32"/>
            <p:cNvSpPr>
              <a:spLocks noChangeArrowheads="1"/>
            </p:cNvSpPr>
            <p:nvPr/>
          </p:nvSpPr>
          <p:spPr bwMode="auto">
            <a:xfrm>
              <a:off x="2088" y="3130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09" name="Rectangle 33"/>
            <p:cNvSpPr>
              <a:spLocks noChangeArrowheads="1"/>
            </p:cNvSpPr>
            <p:nvPr/>
          </p:nvSpPr>
          <p:spPr bwMode="auto">
            <a:xfrm>
              <a:off x="1806" y="3130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10" name="Rectangle 34"/>
            <p:cNvSpPr>
              <a:spLocks noChangeArrowheads="1"/>
            </p:cNvSpPr>
            <p:nvPr/>
          </p:nvSpPr>
          <p:spPr bwMode="auto">
            <a:xfrm>
              <a:off x="1524" y="3130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11" name="Rectangle 35"/>
            <p:cNvSpPr>
              <a:spLocks noChangeArrowheads="1"/>
            </p:cNvSpPr>
            <p:nvPr/>
          </p:nvSpPr>
          <p:spPr bwMode="auto">
            <a:xfrm>
              <a:off x="1242" y="3130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12" name="Rectangle 36"/>
            <p:cNvSpPr>
              <a:spLocks noChangeArrowheads="1"/>
            </p:cNvSpPr>
            <p:nvPr/>
          </p:nvSpPr>
          <p:spPr bwMode="auto">
            <a:xfrm>
              <a:off x="960" y="3130"/>
              <a:ext cx="282" cy="32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113" name="Line 37"/>
            <p:cNvSpPr>
              <a:spLocks noChangeShapeType="1"/>
            </p:cNvSpPr>
            <p:nvPr/>
          </p:nvSpPr>
          <p:spPr bwMode="auto">
            <a:xfrm>
              <a:off x="960" y="3130"/>
              <a:ext cx="22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14" name="Line 38"/>
            <p:cNvSpPr>
              <a:spLocks noChangeShapeType="1"/>
            </p:cNvSpPr>
            <p:nvPr/>
          </p:nvSpPr>
          <p:spPr bwMode="auto">
            <a:xfrm>
              <a:off x="960" y="3456"/>
              <a:ext cx="22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15" name="Line 39"/>
            <p:cNvSpPr>
              <a:spLocks noChangeShapeType="1"/>
            </p:cNvSpPr>
            <p:nvPr/>
          </p:nvSpPr>
          <p:spPr bwMode="auto">
            <a:xfrm>
              <a:off x="960" y="3130"/>
              <a:ext cx="0" cy="32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16" name="Line 40"/>
            <p:cNvSpPr>
              <a:spLocks noChangeShapeType="1"/>
            </p:cNvSpPr>
            <p:nvPr/>
          </p:nvSpPr>
          <p:spPr bwMode="auto">
            <a:xfrm>
              <a:off x="1524" y="3130"/>
              <a:ext cx="0" cy="3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17" name="Line 41"/>
            <p:cNvSpPr>
              <a:spLocks noChangeShapeType="1"/>
            </p:cNvSpPr>
            <p:nvPr/>
          </p:nvSpPr>
          <p:spPr bwMode="auto">
            <a:xfrm>
              <a:off x="1806" y="3130"/>
              <a:ext cx="0" cy="3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18" name="Line 42"/>
            <p:cNvSpPr>
              <a:spLocks noChangeShapeType="1"/>
            </p:cNvSpPr>
            <p:nvPr/>
          </p:nvSpPr>
          <p:spPr bwMode="auto">
            <a:xfrm>
              <a:off x="2088" y="3130"/>
              <a:ext cx="0" cy="3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19" name="Line 43"/>
            <p:cNvSpPr>
              <a:spLocks noChangeShapeType="1"/>
            </p:cNvSpPr>
            <p:nvPr/>
          </p:nvSpPr>
          <p:spPr bwMode="auto">
            <a:xfrm>
              <a:off x="2652" y="3130"/>
              <a:ext cx="0" cy="3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20" name="Line 44"/>
            <p:cNvSpPr>
              <a:spLocks noChangeShapeType="1"/>
            </p:cNvSpPr>
            <p:nvPr/>
          </p:nvSpPr>
          <p:spPr bwMode="auto">
            <a:xfrm>
              <a:off x="3216" y="3130"/>
              <a:ext cx="0" cy="32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4121" name="Group 45"/>
            <p:cNvGrpSpPr/>
            <p:nvPr/>
          </p:nvGrpSpPr>
          <p:grpSpPr bwMode="auto">
            <a:xfrm>
              <a:off x="3216" y="3130"/>
              <a:ext cx="2256" cy="326"/>
              <a:chOff x="1488" y="2304"/>
              <a:chExt cx="2256" cy="326"/>
            </a:xfrm>
          </p:grpSpPr>
          <p:sp>
            <p:nvSpPr>
              <p:cNvPr id="4122" name="Rectangle 46"/>
              <p:cNvSpPr>
                <a:spLocks noChangeArrowheads="1"/>
              </p:cNvSpPr>
              <p:nvPr/>
            </p:nvSpPr>
            <p:spPr bwMode="auto">
              <a:xfrm>
                <a:off x="3462" y="2304"/>
                <a:ext cx="282" cy="3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3" name="Rectangle 47"/>
              <p:cNvSpPr>
                <a:spLocks noChangeArrowheads="1"/>
              </p:cNvSpPr>
              <p:nvPr/>
            </p:nvSpPr>
            <p:spPr bwMode="auto">
              <a:xfrm>
                <a:off x="3180" y="2304"/>
                <a:ext cx="282" cy="3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4" name="Rectangle 48"/>
              <p:cNvSpPr>
                <a:spLocks noChangeArrowheads="1"/>
              </p:cNvSpPr>
              <p:nvPr/>
            </p:nvSpPr>
            <p:spPr bwMode="auto">
              <a:xfrm>
                <a:off x="2898" y="2304"/>
                <a:ext cx="282" cy="3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5" name="Rectangle 49"/>
              <p:cNvSpPr>
                <a:spLocks noChangeArrowheads="1"/>
              </p:cNvSpPr>
              <p:nvPr/>
            </p:nvSpPr>
            <p:spPr bwMode="auto">
              <a:xfrm>
                <a:off x="2616" y="2304"/>
                <a:ext cx="282" cy="3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6" name="Rectangle 50"/>
              <p:cNvSpPr>
                <a:spLocks noChangeArrowheads="1"/>
              </p:cNvSpPr>
              <p:nvPr/>
            </p:nvSpPr>
            <p:spPr bwMode="auto">
              <a:xfrm>
                <a:off x="2334" y="2304"/>
                <a:ext cx="282" cy="3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7" name="Rectangle 51"/>
              <p:cNvSpPr>
                <a:spLocks noChangeArrowheads="1"/>
              </p:cNvSpPr>
              <p:nvPr/>
            </p:nvSpPr>
            <p:spPr bwMode="auto">
              <a:xfrm>
                <a:off x="2052" y="2304"/>
                <a:ext cx="282" cy="3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8" name="Rectangle 52"/>
              <p:cNvSpPr>
                <a:spLocks noChangeArrowheads="1"/>
              </p:cNvSpPr>
              <p:nvPr/>
            </p:nvSpPr>
            <p:spPr bwMode="auto">
              <a:xfrm>
                <a:off x="1770" y="2304"/>
                <a:ext cx="282" cy="3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9" name="Rectangle 53"/>
              <p:cNvSpPr>
                <a:spLocks noChangeArrowheads="1"/>
              </p:cNvSpPr>
              <p:nvPr/>
            </p:nvSpPr>
            <p:spPr bwMode="auto">
              <a:xfrm>
                <a:off x="1488" y="2304"/>
                <a:ext cx="282" cy="3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0" name="Line 54"/>
              <p:cNvSpPr>
                <a:spLocks noChangeShapeType="1"/>
              </p:cNvSpPr>
              <p:nvPr/>
            </p:nvSpPr>
            <p:spPr bwMode="auto">
              <a:xfrm>
                <a:off x="1488" y="2304"/>
                <a:ext cx="225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31" name="Line 55"/>
              <p:cNvSpPr>
                <a:spLocks noChangeShapeType="1"/>
              </p:cNvSpPr>
              <p:nvPr/>
            </p:nvSpPr>
            <p:spPr bwMode="auto">
              <a:xfrm>
                <a:off x="1488" y="2630"/>
                <a:ext cx="225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32" name="Line 56"/>
              <p:cNvSpPr>
                <a:spLocks noChangeShapeType="1"/>
              </p:cNvSpPr>
              <p:nvPr/>
            </p:nvSpPr>
            <p:spPr bwMode="auto">
              <a:xfrm>
                <a:off x="1488" y="2304"/>
                <a:ext cx="0" cy="32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33" name="Line 57"/>
              <p:cNvSpPr>
                <a:spLocks noChangeShapeType="1"/>
              </p:cNvSpPr>
              <p:nvPr/>
            </p:nvSpPr>
            <p:spPr bwMode="auto">
              <a:xfrm>
                <a:off x="1770" y="2304"/>
                <a:ext cx="0" cy="3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34" name="Line 58"/>
              <p:cNvSpPr>
                <a:spLocks noChangeShapeType="1"/>
              </p:cNvSpPr>
              <p:nvPr/>
            </p:nvSpPr>
            <p:spPr bwMode="auto">
              <a:xfrm>
                <a:off x="2052" y="2304"/>
                <a:ext cx="0" cy="3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35" name="Line 59"/>
              <p:cNvSpPr>
                <a:spLocks noChangeShapeType="1"/>
              </p:cNvSpPr>
              <p:nvPr/>
            </p:nvSpPr>
            <p:spPr bwMode="auto">
              <a:xfrm>
                <a:off x="2334" y="2304"/>
                <a:ext cx="0" cy="3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36" name="Line 60"/>
              <p:cNvSpPr>
                <a:spLocks noChangeShapeType="1"/>
              </p:cNvSpPr>
              <p:nvPr/>
            </p:nvSpPr>
            <p:spPr bwMode="auto">
              <a:xfrm>
                <a:off x="2616" y="2304"/>
                <a:ext cx="0" cy="3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37" name="Line 61"/>
              <p:cNvSpPr>
                <a:spLocks noChangeShapeType="1"/>
              </p:cNvSpPr>
              <p:nvPr/>
            </p:nvSpPr>
            <p:spPr bwMode="auto">
              <a:xfrm>
                <a:off x="3180" y="2304"/>
                <a:ext cx="0" cy="3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38" name="Line 62"/>
              <p:cNvSpPr>
                <a:spLocks noChangeShapeType="1"/>
              </p:cNvSpPr>
              <p:nvPr/>
            </p:nvSpPr>
            <p:spPr bwMode="auto">
              <a:xfrm>
                <a:off x="3462" y="2304"/>
                <a:ext cx="0" cy="3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39" name="Line 63"/>
              <p:cNvSpPr>
                <a:spLocks noChangeShapeType="1"/>
              </p:cNvSpPr>
              <p:nvPr/>
            </p:nvSpPr>
            <p:spPr bwMode="auto">
              <a:xfrm>
                <a:off x="3744" y="2304"/>
                <a:ext cx="0" cy="32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3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6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63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3" grpId="0" autoUpdateAnimBg="0"/>
      <p:bldP spid="363546" grpId="0" autoUpdateAnimBg="0"/>
      <p:bldP spid="36354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80" name="Text Box 36"/>
          <p:cNvSpPr txBox="1">
            <a:spLocks noChangeArrowheads="1"/>
          </p:cNvSpPr>
          <p:nvPr/>
        </p:nvSpPr>
        <p:spPr bwMode="auto">
          <a:xfrm>
            <a:off x="1235075" y="881063"/>
            <a:ext cx="30276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1. 机器数与真值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6157" name="Text Box 37"/>
          <p:cNvSpPr txBox="1">
            <a:spLocks noChangeArrowheads="1"/>
          </p:cNvSpPr>
          <p:nvPr/>
        </p:nvSpPr>
        <p:spPr bwMode="auto">
          <a:xfrm>
            <a:off x="360363" y="98425"/>
            <a:ext cx="2936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二、有符号数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2" name="Text Box 36"/>
          <p:cNvSpPr txBox="1">
            <a:spLocks noChangeArrowheads="1"/>
          </p:cNvSpPr>
          <p:nvPr/>
        </p:nvSpPr>
        <p:spPr bwMode="auto">
          <a:xfrm>
            <a:off x="1235075" y="1647508"/>
            <a:ext cx="14020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>
                <a:latin typeface="Times New Roman" panose="02020603050405020304" pitchFamily="18" charset="0"/>
              </a:rPr>
              <a:t>2</a:t>
            </a:r>
            <a:r>
              <a:rPr lang="zh-CN" altLang="en-US" sz="3200">
                <a:latin typeface="Times New Roman" panose="02020603050405020304" pitchFamily="18" charset="0"/>
              </a:rPr>
              <a:t>. 原码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3" name="Text Box 36"/>
          <p:cNvSpPr txBox="1">
            <a:spLocks noChangeArrowheads="1"/>
          </p:cNvSpPr>
          <p:nvPr/>
        </p:nvSpPr>
        <p:spPr bwMode="auto">
          <a:xfrm>
            <a:off x="1271270" y="2418398"/>
            <a:ext cx="14020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>
                <a:latin typeface="Times New Roman" panose="02020603050405020304" pitchFamily="18" charset="0"/>
              </a:rPr>
              <a:t>3</a:t>
            </a:r>
            <a:r>
              <a:rPr lang="zh-CN" altLang="en-US" sz="3200">
                <a:latin typeface="Times New Roman" panose="02020603050405020304" pitchFamily="18" charset="0"/>
              </a:rPr>
              <a:t>. 反码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4" name="Text Box 36"/>
          <p:cNvSpPr txBox="1">
            <a:spLocks noChangeArrowheads="1"/>
          </p:cNvSpPr>
          <p:nvPr/>
        </p:nvSpPr>
        <p:spPr bwMode="auto">
          <a:xfrm>
            <a:off x="1271270" y="3212783"/>
            <a:ext cx="140208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>
                <a:latin typeface="Times New Roman" panose="02020603050405020304" pitchFamily="18" charset="0"/>
              </a:rPr>
              <a:t>4</a:t>
            </a:r>
            <a:r>
              <a:rPr lang="zh-CN" altLang="en-US" sz="3200">
                <a:latin typeface="Times New Roman" panose="02020603050405020304" pitchFamily="18" charset="0"/>
              </a:rPr>
              <a:t>. 补码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80" grpId="0" autoUpdateAnimBg="0"/>
      <p:bldP spid="2" grpId="0" autoUpdateAnimBg="0"/>
      <p:bldP spid="3" grpId="0" autoUpdateAnimBg="0"/>
      <p:bldP spid="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3140075" y="184150"/>
            <a:ext cx="495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(1) 移码定义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01443" name="Text Box 3"/>
          <p:cNvSpPr txBox="1">
            <a:spLocks noChangeArrowheads="1"/>
          </p:cNvSpPr>
          <p:nvPr/>
        </p:nvSpPr>
        <p:spPr bwMode="auto">
          <a:xfrm>
            <a:off x="4108450" y="1541463"/>
            <a:ext cx="5578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为真值，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为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整数的位数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1444" name="Text Box 4"/>
          <p:cNvSpPr txBox="1">
            <a:spLocks noChangeArrowheads="1"/>
          </p:cNvSpPr>
          <p:nvPr/>
        </p:nvSpPr>
        <p:spPr bwMode="auto">
          <a:xfrm>
            <a:off x="4870450" y="2128838"/>
            <a:ext cx="33988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移码在数轴上的表示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01445" name="Group 5"/>
          <p:cNvGrpSpPr/>
          <p:nvPr/>
        </p:nvGrpSpPr>
        <p:grpSpPr bwMode="auto">
          <a:xfrm>
            <a:off x="5232400" y="2636838"/>
            <a:ext cx="4756150" cy="1730375"/>
            <a:chOff x="1658" y="1680"/>
            <a:chExt cx="2996" cy="1090"/>
          </a:xfrm>
        </p:grpSpPr>
        <p:sp>
          <p:nvSpPr>
            <p:cNvPr id="26644" name="Line 6"/>
            <p:cNvSpPr>
              <a:spLocks noChangeShapeType="1"/>
            </p:cNvSpPr>
            <p:nvPr/>
          </p:nvSpPr>
          <p:spPr bwMode="auto">
            <a:xfrm>
              <a:off x="2107" y="1968"/>
              <a:ext cx="1999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45" name="Line 7"/>
            <p:cNvSpPr>
              <a:spLocks noChangeShapeType="1"/>
            </p:cNvSpPr>
            <p:nvPr/>
          </p:nvSpPr>
          <p:spPr bwMode="auto">
            <a:xfrm>
              <a:off x="1658" y="2448"/>
              <a:ext cx="2016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46" name="Freeform 8"/>
            <p:cNvSpPr/>
            <p:nvPr/>
          </p:nvSpPr>
          <p:spPr bwMode="auto">
            <a:xfrm>
              <a:off x="1985" y="1968"/>
              <a:ext cx="489" cy="486"/>
            </a:xfrm>
            <a:custGeom>
              <a:avLst/>
              <a:gdLst>
                <a:gd name="T0" fmla="*/ 489 w 489"/>
                <a:gd name="T1" fmla="*/ 0 h 486"/>
                <a:gd name="T2" fmla="*/ 0 w 489"/>
                <a:gd name="T3" fmla="*/ 486 h 4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9" h="486">
                  <a:moveTo>
                    <a:pt x="489" y="0"/>
                  </a:moveTo>
                  <a:lnTo>
                    <a:pt x="0" y="486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47" name="Freeform 9"/>
            <p:cNvSpPr/>
            <p:nvPr/>
          </p:nvSpPr>
          <p:spPr bwMode="auto">
            <a:xfrm>
              <a:off x="2657" y="1968"/>
              <a:ext cx="489" cy="486"/>
            </a:xfrm>
            <a:custGeom>
              <a:avLst/>
              <a:gdLst>
                <a:gd name="T0" fmla="*/ 489 w 489"/>
                <a:gd name="T1" fmla="*/ 0 h 486"/>
                <a:gd name="T2" fmla="*/ 0 w 489"/>
                <a:gd name="T3" fmla="*/ 486 h 4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9" h="486">
                  <a:moveTo>
                    <a:pt x="489" y="0"/>
                  </a:moveTo>
                  <a:lnTo>
                    <a:pt x="0" y="486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48" name="Freeform 10"/>
            <p:cNvSpPr/>
            <p:nvPr/>
          </p:nvSpPr>
          <p:spPr bwMode="auto">
            <a:xfrm>
              <a:off x="3338" y="1968"/>
              <a:ext cx="489" cy="486"/>
            </a:xfrm>
            <a:custGeom>
              <a:avLst/>
              <a:gdLst>
                <a:gd name="T0" fmla="*/ 489 w 489"/>
                <a:gd name="T1" fmla="*/ 0 h 486"/>
                <a:gd name="T2" fmla="*/ 0 w 489"/>
                <a:gd name="T3" fmla="*/ 486 h 4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9" h="486">
                  <a:moveTo>
                    <a:pt x="489" y="0"/>
                  </a:moveTo>
                  <a:lnTo>
                    <a:pt x="0" y="486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49" name="Text Box 11"/>
            <p:cNvSpPr txBox="1">
              <a:spLocks noChangeArrowheads="1"/>
            </p:cNvSpPr>
            <p:nvPr/>
          </p:nvSpPr>
          <p:spPr bwMode="auto">
            <a:xfrm>
              <a:off x="4106" y="1872"/>
              <a:ext cx="5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[</a:t>
              </a:r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latin typeface="Times New Roman" panose="02020603050405020304" pitchFamily="18" charset="0"/>
                </a:rPr>
                <a:t>]</a:t>
              </a:r>
              <a:r>
                <a:rPr lang="zh-CN" altLang="en-US" sz="2000" baseline="-25000">
                  <a:latin typeface="Times New Roman" panose="02020603050405020304" pitchFamily="18" charset="0"/>
                </a:rPr>
                <a:t>移码</a:t>
              </a:r>
              <a:endParaRPr lang="zh-CN" altLang="en-US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6650" name="Text Box 12"/>
            <p:cNvSpPr txBox="1">
              <a:spLocks noChangeArrowheads="1"/>
            </p:cNvSpPr>
            <p:nvPr/>
          </p:nvSpPr>
          <p:spPr bwMode="auto">
            <a:xfrm>
              <a:off x="3616" y="1680"/>
              <a:ext cx="6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2</a:t>
              </a:r>
              <a:r>
                <a:rPr lang="en-US" altLang="zh-CN" sz="3200" i="1" baseline="40000">
                  <a:latin typeface="Times New Roman" panose="02020603050405020304" pitchFamily="18" charset="0"/>
                </a:rPr>
                <a:t>n</a:t>
              </a:r>
              <a:r>
                <a:rPr lang="en-US" altLang="zh-CN" sz="3200" baseline="40000">
                  <a:latin typeface="Times New Roman" panose="02020603050405020304" pitchFamily="18" charset="0"/>
                </a:rPr>
                <a:t>+1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6651" name="Text Box 13"/>
            <p:cNvSpPr txBox="1">
              <a:spLocks noChangeArrowheads="1"/>
            </p:cNvSpPr>
            <p:nvPr/>
          </p:nvSpPr>
          <p:spPr bwMode="auto">
            <a:xfrm>
              <a:off x="3103" y="1680"/>
              <a:ext cx="3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2</a:t>
              </a:r>
              <a:r>
                <a:rPr lang="en-US" altLang="zh-CN" sz="3200" i="1" baseline="40000">
                  <a:latin typeface="Times New Roman" panose="02020603050405020304" pitchFamily="18" charset="0"/>
                </a:rPr>
                <a:t>n</a:t>
              </a:r>
              <a:endParaRPr lang="en-US" altLang="zh-CN" sz="3200" i="1" baseline="40000">
                <a:latin typeface="Times New Roman" panose="02020603050405020304" pitchFamily="18" charset="0"/>
              </a:endParaRPr>
            </a:p>
          </p:txBody>
        </p:sp>
        <p:sp>
          <p:nvSpPr>
            <p:cNvPr id="26652" name="Text Box 14"/>
            <p:cNvSpPr txBox="1">
              <a:spLocks noChangeArrowheads="1"/>
            </p:cNvSpPr>
            <p:nvPr/>
          </p:nvSpPr>
          <p:spPr bwMode="auto">
            <a:xfrm>
              <a:off x="3135" y="2482"/>
              <a:ext cx="5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2</a:t>
              </a:r>
              <a:r>
                <a:rPr lang="en-US" altLang="zh-CN" sz="3200" i="1" baseline="40000">
                  <a:latin typeface="Times New Roman" panose="02020603050405020304" pitchFamily="18" charset="0"/>
                </a:rPr>
                <a:t>n</a:t>
              </a:r>
              <a:r>
                <a:rPr lang="en-US" altLang="zh-CN" sz="2400" baseline="30000">
                  <a:latin typeface="Times New Roman" panose="02020603050405020304" pitchFamily="18" charset="0"/>
                </a:rPr>
                <a:t>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6653" name="Text Box 15"/>
            <p:cNvSpPr txBox="1">
              <a:spLocks noChangeArrowheads="1"/>
            </p:cNvSpPr>
            <p:nvPr/>
          </p:nvSpPr>
          <p:spPr bwMode="auto">
            <a:xfrm>
              <a:off x="1850" y="2482"/>
              <a:ext cx="4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3200" i="1" baseline="4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3200" i="1" baseline="4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654" name="Text Box 16"/>
            <p:cNvSpPr txBox="1">
              <a:spLocks noChangeArrowheads="1"/>
            </p:cNvSpPr>
            <p:nvPr/>
          </p:nvSpPr>
          <p:spPr bwMode="auto">
            <a:xfrm>
              <a:off x="2560" y="248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655" name="Text Box 17"/>
            <p:cNvSpPr txBox="1">
              <a:spLocks noChangeArrowheads="1"/>
            </p:cNvSpPr>
            <p:nvPr/>
          </p:nvSpPr>
          <p:spPr bwMode="auto">
            <a:xfrm>
              <a:off x="2426" y="16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656" name="Text Box 18"/>
            <p:cNvSpPr txBox="1">
              <a:spLocks noChangeArrowheads="1"/>
            </p:cNvSpPr>
            <p:nvPr/>
          </p:nvSpPr>
          <p:spPr bwMode="auto">
            <a:xfrm>
              <a:off x="3674" y="2342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真值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701459" name="Text Box 19"/>
          <p:cNvSpPr txBox="1">
            <a:spLocks noChangeArrowheads="1"/>
          </p:cNvSpPr>
          <p:nvPr/>
        </p:nvSpPr>
        <p:spPr bwMode="auto">
          <a:xfrm>
            <a:off x="3590925" y="4322763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01460" name="Text Box 20"/>
          <p:cNvSpPr txBox="1">
            <a:spLocks noChangeArrowheads="1"/>
          </p:cNvSpPr>
          <p:nvPr/>
        </p:nvSpPr>
        <p:spPr bwMode="auto">
          <a:xfrm>
            <a:off x="4625975" y="4313238"/>
            <a:ext cx="4527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= 10100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01461" name="Text Box 21"/>
          <p:cNvSpPr txBox="1">
            <a:spLocks noChangeArrowheads="1"/>
          </p:cNvSpPr>
          <p:nvPr/>
        </p:nvSpPr>
        <p:spPr bwMode="auto">
          <a:xfrm>
            <a:off x="4124325" y="4876800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移</a:t>
            </a:r>
            <a:r>
              <a:rPr lang="zh-CN" altLang="en-US">
                <a:latin typeface="Times New Roman" panose="02020603050405020304" pitchFamily="18" charset="0"/>
              </a:rPr>
              <a:t> = 2</a:t>
            </a:r>
            <a:r>
              <a:rPr lang="zh-CN" altLang="en-US" sz="3200" baseline="40000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 + 10100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01462" name="Text Box 22"/>
          <p:cNvSpPr txBox="1">
            <a:spLocks noChangeArrowheads="1"/>
          </p:cNvSpPr>
          <p:nvPr/>
        </p:nvSpPr>
        <p:spPr bwMode="auto">
          <a:xfrm>
            <a:off x="9153525" y="5243513"/>
            <a:ext cx="259080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用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逗号 </a:t>
            </a:r>
            <a:r>
              <a:rPr lang="zh-CN" altLang="en-US" sz="2400">
                <a:latin typeface="Times New Roman" panose="02020603050405020304" pitchFamily="18" charset="0"/>
              </a:rPr>
              <a:t>将符号位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和数值部分隔开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01463" name="Text Box 23"/>
          <p:cNvSpPr txBox="1">
            <a:spLocks noChangeArrowheads="1"/>
          </p:cNvSpPr>
          <p:nvPr/>
        </p:nvSpPr>
        <p:spPr bwMode="auto">
          <a:xfrm>
            <a:off x="4622800" y="5456238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>
                <a:latin typeface="Times New Roman" panose="02020603050405020304" pitchFamily="18" charset="0"/>
              </a:rPr>
              <a:t>10100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01464" name="Text Box 24"/>
          <p:cNvSpPr txBox="1">
            <a:spLocks noChangeArrowheads="1"/>
          </p:cNvSpPr>
          <p:nvPr/>
        </p:nvSpPr>
        <p:spPr bwMode="auto">
          <a:xfrm>
            <a:off x="4124325" y="6000750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移</a:t>
            </a:r>
            <a:r>
              <a:rPr lang="zh-CN" altLang="en-US">
                <a:latin typeface="Times New Roman" panose="02020603050405020304" pitchFamily="18" charset="0"/>
              </a:rPr>
              <a:t> = 2</a:t>
            </a:r>
            <a:r>
              <a:rPr lang="zh-CN" altLang="en-US" sz="3200" baseline="40000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</a:rPr>
              <a:t> 10100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01465" name="Group 25"/>
          <p:cNvGrpSpPr/>
          <p:nvPr/>
        </p:nvGrpSpPr>
        <p:grpSpPr bwMode="auto">
          <a:xfrm>
            <a:off x="4032250" y="884238"/>
            <a:ext cx="4927600" cy="584200"/>
            <a:chOff x="902" y="576"/>
            <a:chExt cx="3104" cy="368"/>
          </a:xfrm>
        </p:grpSpPr>
        <p:sp>
          <p:nvSpPr>
            <p:cNvPr id="26642" name="Text Box 26"/>
            <p:cNvSpPr txBox="1">
              <a:spLocks noChangeArrowheads="1"/>
            </p:cNvSpPr>
            <p:nvPr/>
          </p:nvSpPr>
          <p:spPr bwMode="auto">
            <a:xfrm>
              <a:off x="902" y="576"/>
              <a:ext cx="310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[</a:t>
              </a:r>
              <a:r>
                <a:rPr lang="en-US" altLang="zh-CN" sz="3200" i="1">
                  <a:latin typeface="Times New Roman" panose="02020603050405020304" pitchFamily="18" charset="0"/>
                </a:rPr>
                <a:t>x</a:t>
              </a:r>
              <a:r>
                <a:rPr lang="en-US" altLang="zh-CN" sz="3200">
                  <a:latin typeface="Times New Roman" panose="02020603050405020304" pitchFamily="18" charset="0"/>
                </a:rPr>
                <a:t>]</a:t>
              </a:r>
              <a:r>
                <a:rPr lang="zh-CN" altLang="en-US" baseline="-25000">
                  <a:latin typeface="Times New Roman" panose="02020603050405020304" pitchFamily="18" charset="0"/>
                </a:rPr>
                <a:t>移</a:t>
              </a:r>
              <a:r>
                <a:rPr lang="zh-CN" altLang="en-US" sz="3200">
                  <a:latin typeface="Times New Roman" panose="02020603050405020304" pitchFamily="18" charset="0"/>
                </a:rPr>
                <a:t> = 2</a:t>
              </a:r>
              <a:r>
                <a:rPr lang="en-US" altLang="zh-CN" sz="3200" i="1" baseline="40000">
                  <a:latin typeface="Times New Roman" panose="02020603050405020304" pitchFamily="18" charset="0"/>
                </a:rPr>
                <a:t>n</a:t>
              </a:r>
              <a:r>
                <a:rPr lang="en-US" altLang="zh-CN" sz="3200">
                  <a:latin typeface="Times New Roman" panose="02020603050405020304" pitchFamily="18" charset="0"/>
                </a:rPr>
                <a:t> + </a:t>
              </a:r>
              <a:r>
                <a:rPr lang="en-US" altLang="zh-CN" sz="3200" i="1">
                  <a:latin typeface="Times New Roman" panose="02020603050405020304" pitchFamily="18" charset="0"/>
                </a:rPr>
                <a:t>x</a:t>
              </a:r>
              <a:r>
                <a:rPr lang="en-US" altLang="zh-CN" sz="3200">
                  <a:latin typeface="Times New Roman" panose="02020603050405020304" pitchFamily="18" charset="0"/>
                </a:rPr>
                <a:t>（2</a:t>
              </a:r>
              <a:r>
                <a:rPr lang="en-US" altLang="zh-CN" sz="3200" i="1" baseline="40000">
                  <a:latin typeface="Times New Roman" panose="02020603050405020304" pitchFamily="18" charset="0"/>
                </a:rPr>
                <a:t>n</a:t>
              </a:r>
              <a:r>
                <a:rPr lang="en-US" altLang="zh-CN">
                  <a:latin typeface="Times New Roman" panose="02020603050405020304" pitchFamily="18" charset="0"/>
                </a:rPr>
                <a:t>＞</a:t>
              </a:r>
              <a:r>
                <a:rPr lang="en-US" altLang="zh-CN" sz="3200" i="1">
                  <a:latin typeface="Times New Roman" panose="02020603050405020304" pitchFamily="18" charset="0"/>
                </a:rPr>
                <a:t>x</a:t>
              </a:r>
              <a:r>
                <a:rPr lang="en-US" altLang="zh-CN" sz="3200">
                  <a:latin typeface="Times New Roman" panose="02020603050405020304" pitchFamily="18" charset="0"/>
                </a:rPr>
                <a:t> </a:t>
              </a:r>
              <a:r>
                <a:rPr lang="en-US" altLang="zh-CN">
                  <a:latin typeface="Times New Roman" panose="02020603050405020304" pitchFamily="18" charset="0"/>
                </a:rPr>
                <a:t>≥</a:t>
              </a:r>
              <a:r>
                <a:rPr lang="en-US" altLang="zh-CN" sz="3200">
                  <a:latin typeface="Times New Roman" panose="02020603050405020304" pitchFamily="18" charset="0"/>
                </a:rPr>
                <a:t>   2</a:t>
              </a:r>
              <a:r>
                <a:rPr lang="en-US" altLang="zh-CN" sz="3200" i="1" baseline="40000">
                  <a:latin typeface="Times New Roman" panose="02020603050405020304" pitchFamily="18" charset="0"/>
                </a:rPr>
                <a:t>n</a:t>
              </a:r>
              <a:r>
                <a:rPr lang="en-US" altLang="zh-CN" sz="3200">
                  <a:latin typeface="Times New Roman" panose="02020603050405020304" pitchFamily="18" charset="0"/>
                </a:rPr>
                <a:t>）</a:t>
              </a:r>
              <a:endParaRPr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26643" name="Line 27"/>
            <p:cNvSpPr>
              <a:spLocks noChangeShapeType="1"/>
            </p:cNvSpPr>
            <p:nvPr/>
          </p:nvSpPr>
          <p:spPr bwMode="auto">
            <a:xfrm>
              <a:off x="3352" y="773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01468" name="Text Box 28"/>
          <p:cNvSpPr txBox="1">
            <a:spLocks noChangeArrowheads="1"/>
          </p:cNvSpPr>
          <p:nvPr/>
        </p:nvSpPr>
        <p:spPr bwMode="auto">
          <a:xfrm>
            <a:off x="6835775" y="4876800"/>
            <a:ext cx="163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1,10100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01469" name="Text Box 29"/>
          <p:cNvSpPr txBox="1">
            <a:spLocks noChangeArrowheads="1"/>
          </p:cNvSpPr>
          <p:nvPr/>
        </p:nvSpPr>
        <p:spPr bwMode="auto">
          <a:xfrm>
            <a:off x="6835775" y="6000750"/>
            <a:ext cx="163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0,01100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01470" name="Freeform 30"/>
          <p:cNvSpPr/>
          <p:nvPr/>
        </p:nvSpPr>
        <p:spPr bwMode="auto">
          <a:xfrm>
            <a:off x="7407275" y="5330825"/>
            <a:ext cx="1746250" cy="430213"/>
          </a:xfrm>
          <a:custGeom>
            <a:avLst/>
            <a:gdLst>
              <a:gd name="T0" fmla="*/ 0 w 1152"/>
              <a:gd name="T1" fmla="*/ 0 h 240"/>
              <a:gd name="T2" fmla="*/ 0 w 1152"/>
              <a:gd name="T3" fmla="*/ 2147483646 h 240"/>
              <a:gd name="T4" fmla="*/ 2147483646 w 1152"/>
              <a:gd name="T5" fmla="*/ 2147483646 h 2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52" h="240">
                <a:moveTo>
                  <a:pt x="0" y="0"/>
                </a:moveTo>
                <a:lnTo>
                  <a:pt x="0" y="240"/>
                </a:lnTo>
                <a:lnTo>
                  <a:pt x="1152" y="24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stealth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01471" name="Freeform 31"/>
          <p:cNvSpPr/>
          <p:nvPr/>
        </p:nvSpPr>
        <p:spPr bwMode="auto">
          <a:xfrm>
            <a:off x="7440613" y="6194425"/>
            <a:ext cx="2819400" cy="533400"/>
          </a:xfrm>
          <a:custGeom>
            <a:avLst/>
            <a:gdLst>
              <a:gd name="T0" fmla="*/ 0 w 1776"/>
              <a:gd name="T1" fmla="*/ 2147483646 h 336"/>
              <a:gd name="T2" fmla="*/ 0 w 1776"/>
              <a:gd name="T3" fmla="*/ 2147483646 h 336"/>
              <a:gd name="T4" fmla="*/ 2147483646 w 1776"/>
              <a:gd name="T5" fmla="*/ 2147483646 h 336"/>
              <a:gd name="T6" fmla="*/ 2147483646 w 1776"/>
              <a:gd name="T7" fmla="*/ 0 h 33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76" h="336">
                <a:moveTo>
                  <a:pt x="0" y="192"/>
                </a:moveTo>
                <a:lnTo>
                  <a:pt x="0" y="336"/>
                </a:lnTo>
                <a:lnTo>
                  <a:pt x="1776" y="336"/>
                </a:lnTo>
                <a:lnTo>
                  <a:pt x="1776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stealth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41" name="Text Box 2"/>
          <p:cNvSpPr txBox="1">
            <a:spLocks noChangeArrowheads="1"/>
          </p:cNvSpPr>
          <p:nvPr/>
        </p:nvSpPr>
        <p:spPr bwMode="auto">
          <a:xfrm>
            <a:off x="0" y="0"/>
            <a:ext cx="29352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5. 移码表示法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70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0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0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0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1" dur="500"/>
                                        <p:tgtEl>
                                          <p:spTgt spid="70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0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0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0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1" dur="500"/>
                                        <p:tgtEl>
                                          <p:spTgt spid="70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443" grpId="0" autoUpdateAnimBg="0"/>
      <p:bldP spid="701444" grpId="0" autoUpdateAnimBg="0"/>
      <p:bldP spid="701459" grpId="0" autoUpdateAnimBg="0"/>
      <p:bldP spid="701460" grpId="0" autoUpdateAnimBg="0"/>
      <p:bldP spid="701461" grpId="0" autoUpdateAnimBg="0"/>
      <p:bldP spid="701462" grpId="0" autoUpdateAnimBg="0"/>
      <p:bldP spid="701463" grpId="0" autoUpdateAnimBg="0"/>
      <p:bldP spid="701464" grpId="0" autoUpdateAnimBg="0"/>
      <p:bldP spid="701468" grpId="0" autoUpdateAnimBg="0"/>
      <p:bldP spid="70146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flipH="1">
            <a:off x="6430963" y="2133600"/>
            <a:ext cx="1593850" cy="411162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6" name="直角三角形 5"/>
          <p:cNvSpPr/>
          <p:nvPr/>
        </p:nvSpPr>
        <p:spPr>
          <a:xfrm flipH="1">
            <a:off x="4322763" y="4033838"/>
            <a:ext cx="1644650" cy="2081212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5" name="直角三角形 4"/>
          <p:cNvSpPr/>
          <p:nvPr/>
        </p:nvSpPr>
        <p:spPr>
          <a:xfrm flipH="1">
            <a:off x="4338638" y="2076450"/>
            <a:ext cx="1628775" cy="1957388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3" name="直角三角形 2"/>
          <p:cNvSpPr/>
          <p:nvPr/>
        </p:nvSpPr>
        <p:spPr>
          <a:xfrm flipH="1">
            <a:off x="2125663" y="4033838"/>
            <a:ext cx="1792287" cy="2211387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2" name="直角三角形 1"/>
          <p:cNvSpPr/>
          <p:nvPr/>
        </p:nvSpPr>
        <p:spPr>
          <a:xfrm rot="10800000">
            <a:off x="2152650" y="2136775"/>
            <a:ext cx="1765300" cy="1901825"/>
          </a:xfrm>
          <a:prstGeom prst="rtTriangl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grpSp>
        <p:nvGrpSpPr>
          <p:cNvPr id="703490" name="Group 2"/>
          <p:cNvGrpSpPr/>
          <p:nvPr/>
        </p:nvGrpSpPr>
        <p:grpSpPr bwMode="auto">
          <a:xfrm>
            <a:off x="2195513" y="2098675"/>
            <a:ext cx="1766887" cy="4149725"/>
            <a:chOff x="411" y="1322"/>
            <a:chExt cx="1113" cy="2614"/>
          </a:xfrm>
        </p:grpSpPr>
        <p:sp>
          <p:nvSpPr>
            <p:cNvPr id="27711" name="Text Box 3"/>
            <p:cNvSpPr txBox="1">
              <a:spLocks noChangeArrowheads="1"/>
            </p:cNvSpPr>
            <p:nvPr/>
          </p:nvSpPr>
          <p:spPr bwMode="auto">
            <a:xfrm>
              <a:off x="480" y="1322"/>
              <a:ext cx="10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- 1 0 0 0 0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712" name="Text Box 4"/>
            <p:cNvSpPr txBox="1">
              <a:spLocks noChangeArrowheads="1"/>
            </p:cNvSpPr>
            <p:nvPr/>
          </p:nvSpPr>
          <p:spPr bwMode="auto">
            <a:xfrm>
              <a:off x="480" y="1562"/>
              <a:ext cx="10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-    1 1 1 1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713" name="Text Box 5"/>
            <p:cNvSpPr txBox="1">
              <a:spLocks noChangeArrowheads="1"/>
            </p:cNvSpPr>
            <p:nvPr/>
          </p:nvSpPr>
          <p:spPr bwMode="auto">
            <a:xfrm>
              <a:off x="480" y="1824"/>
              <a:ext cx="10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-    1 1 1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714" name="Text Box 6"/>
            <p:cNvSpPr txBox="1">
              <a:spLocks noChangeArrowheads="1"/>
            </p:cNvSpPr>
            <p:nvPr/>
          </p:nvSpPr>
          <p:spPr bwMode="auto">
            <a:xfrm>
              <a:off x="480" y="2245"/>
              <a:ext cx="10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-    0 0 0 0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715" name="Text Box 7"/>
            <p:cNvSpPr txBox="1">
              <a:spLocks noChangeArrowheads="1"/>
            </p:cNvSpPr>
            <p:nvPr/>
          </p:nvSpPr>
          <p:spPr bwMode="auto">
            <a:xfrm>
              <a:off x="411" y="2496"/>
              <a:ext cx="11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 ±</a:t>
              </a:r>
              <a:r>
                <a:rPr lang="zh-CN" altLang="en-US" sz="2400">
                  <a:latin typeface="Times New Roman" panose="02020603050405020304" pitchFamily="18" charset="0"/>
                </a:rPr>
                <a:t>   0 0 0 0 0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716" name="Text Box 8"/>
            <p:cNvSpPr txBox="1">
              <a:spLocks noChangeArrowheads="1"/>
            </p:cNvSpPr>
            <p:nvPr/>
          </p:nvSpPr>
          <p:spPr bwMode="auto">
            <a:xfrm>
              <a:off x="480" y="2736"/>
              <a:ext cx="104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+   0 0 0 0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717" name="Text Box 9"/>
            <p:cNvSpPr txBox="1">
              <a:spLocks noChangeArrowheads="1"/>
            </p:cNvSpPr>
            <p:nvPr/>
          </p:nvSpPr>
          <p:spPr bwMode="auto">
            <a:xfrm>
              <a:off x="480" y="2976"/>
              <a:ext cx="104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+   0 0 0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718" name="Text Box 10"/>
            <p:cNvSpPr txBox="1">
              <a:spLocks noChangeArrowheads="1"/>
            </p:cNvSpPr>
            <p:nvPr/>
          </p:nvSpPr>
          <p:spPr bwMode="auto">
            <a:xfrm>
              <a:off x="480" y="3408"/>
              <a:ext cx="104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+   1 1 1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719" name="Text Box 11"/>
            <p:cNvSpPr txBox="1">
              <a:spLocks noChangeArrowheads="1"/>
            </p:cNvSpPr>
            <p:nvPr/>
          </p:nvSpPr>
          <p:spPr bwMode="auto">
            <a:xfrm>
              <a:off x="480" y="3648"/>
              <a:ext cx="104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+   1 1 1 1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720" name="Text Box 12"/>
            <p:cNvSpPr txBox="1">
              <a:spLocks noChangeArrowheads="1"/>
            </p:cNvSpPr>
            <p:nvPr/>
          </p:nvSpPr>
          <p:spPr bwMode="auto">
            <a:xfrm>
              <a:off x="995" y="2043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721" name="Text Box 13"/>
            <p:cNvSpPr txBox="1">
              <a:spLocks noChangeArrowheads="1"/>
            </p:cNvSpPr>
            <p:nvPr/>
          </p:nvSpPr>
          <p:spPr bwMode="auto">
            <a:xfrm>
              <a:off x="995" y="3206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03502" name="Group 14"/>
          <p:cNvGrpSpPr/>
          <p:nvPr/>
        </p:nvGrpSpPr>
        <p:grpSpPr bwMode="auto">
          <a:xfrm>
            <a:off x="2133600" y="1295400"/>
            <a:ext cx="8229600" cy="5105400"/>
            <a:chOff x="384" y="816"/>
            <a:chExt cx="5184" cy="3216"/>
          </a:xfrm>
        </p:grpSpPr>
        <p:sp>
          <p:nvSpPr>
            <p:cNvPr id="27702" name="Text Box 15"/>
            <p:cNvSpPr txBox="1">
              <a:spLocks noChangeArrowheads="1"/>
            </p:cNvSpPr>
            <p:nvPr/>
          </p:nvSpPr>
          <p:spPr bwMode="auto">
            <a:xfrm>
              <a:off x="396" y="912"/>
              <a:ext cx="12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真值 </a:t>
              </a:r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latin typeface="Times New Roman" panose="02020603050405020304" pitchFamily="18" charset="0"/>
                </a:rPr>
                <a:t> ( 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r>
                <a:rPr lang="en-US" altLang="zh-CN" sz="1800">
                  <a:latin typeface="Times New Roman" panose="02020603050405020304" pitchFamily="18" charset="0"/>
                </a:rPr>
                <a:t> </a:t>
              </a:r>
              <a:r>
                <a:rPr lang="en-US" altLang="zh-CN" sz="2400">
                  <a:latin typeface="Times New Roman" panose="02020603050405020304" pitchFamily="18" charset="0"/>
                </a:rPr>
                <a:t>=</a:t>
              </a:r>
              <a:r>
                <a:rPr lang="en-US" altLang="zh-CN" sz="1800">
                  <a:latin typeface="Times New Roman" panose="02020603050405020304" pitchFamily="18" charset="0"/>
                </a:rPr>
                <a:t> </a:t>
              </a:r>
              <a:r>
                <a:rPr lang="en-US" altLang="zh-CN" sz="2400">
                  <a:latin typeface="Times New Roman" panose="02020603050405020304" pitchFamily="18" charset="0"/>
                </a:rPr>
                <a:t>5 )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7703" name="Text Box 16"/>
            <p:cNvSpPr txBox="1">
              <a:spLocks noChangeArrowheads="1"/>
            </p:cNvSpPr>
            <p:nvPr/>
          </p:nvSpPr>
          <p:spPr bwMode="auto">
            <a:xfrm>
              <a:off x="2133" y="864"/>
              <a:ext cx="50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[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sz="2400" baseline="-25000">
                  <a:latin typeface="Times New Roman" panose="02020603050405020304" pitchFamily="18" charset="0"/>
                </a:rPr>
                <a:t>补</a:t>
              </a:r>
              <a:endParaRPr lang="zh-CN" altLang="en-US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7704" name="Text Box 17"/>
            <p:cNvSpPr txBox="1">
              <a:spLocks noChangeArrowheads="1"/>
            </p:cNvSpPr>
            <p:nvPr/>
          </p:nvSpPr>
          <p:spPr bwMode="auto">
            <a:xfrm>
              <a:off x="3456" y="864"/>
              <a:ext cx="50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[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sz="2400" baseline="-25000">
                  <a:latin typeface="Times New Roman" panose="02020603050405020304" pitchFamily="18" charset="0"/>
                </a:rPr>
                <a:t>移</a:t>
              </a:r>
              <a:endParaRPr lang="zh-CN" altLang="en-US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7705" name="Text Box 18"/>
            <p:cNvSpPr txBox="1">
              <a:spLocks noChangeArrowheads="1"/>
            </p:cNvSpPr>
            <p:nvPr/>
          </p:nvSpPr>
          <p:spPr bwMode="auto">
            <a:xfrm>
              <a:off x="4464" y="816"/>
              <a:ext cx="92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[</a:t>
              </a:r>
              <a:r>
                <a:rPr lang="en-US" altLang="zh-CN" sz="2000" i="1">
                  <a:latin typeface="Times New Roman" panose="02020603050405020304" pitchFamily="18" charset="0"/>
                </a:rPr>
                <a:t>x</a:t>
              </a:r>
              <a:r>
                <a:rPr lang="en-US" altLang="zh-CN" sz="2000">
                  <a:latin typeface="Times New Roman" panose="02020603050405020304" pitchFamily="18" charset="0"/>
                </a:rPr>
                <a:t>] </a:t>
              </a:r>
              <a:r>
                <a:rPr lang="zh-CN" altLang="en-US" sz="2000" baseline="-25000">
                  <a:latin typeface="Times New Roman" panose="02020603050405020304" pitchFamily="18" charset="0"/>
                </a:rPr>
                <a:t>移</a:t>
              </a:r>
              <a:r>
                <a:rPr lang="zh-CN" altLang="en-US" sz="2000">
                  <a:latin typeface="Times New Roman" panose="02020603050405020304" pitchFamily="18" charset="0"/>
                </a:rPr>
                <a:t>对应的</a:t>
              </a:r>
              <a:endParaRPr lang="zh-CN" altLang="en-US" sz="200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十进制整数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7706" name="Rectangle 19"/>
            <p:cNvSpPr>
              <a:spLocks noChangeArrowheads="1"/>
            </p:cNvSpPr>
            <p:nvPr/>
          </p:nvSpPr>
          <p:spPr bwMode="auto">
            <a:xfrm>
              <a:off x="384" y="816"/>
              <a:ext cx="5184" cy="321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27707" name="Line 20"/>
            <p:cNvSpPr>
              <a:spLocks noChangeShapeType="1"/>
            </p:cNvSpPr>
            <p:nvPr/>
          </p:nvSpPr>
          <p:spPr bwMode="auto">
            <a:xfrm>
              <a:off x="384" y="1296"/>
              <a:ext cx="51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8" name="Line 21"/>
            <p:cNvSpPr>
              <a:spLocks noChangeShapeType="1"/>
            </p:cNvSpPr>
            <p:nvPr/>
          </p:nvSpPr>
          <p:spPr bwMode="auto">
            <a:xfrm>
              <a:off x="1680" y="816"/>
              <a:ext cx="0" cy="32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9" name="Line 22"/>
            <p:cNvSpPr>
              <a:spLocks noChangeShapeType="1"/>
            </p:cNvSpPr>
            <p:nvPr/>
          </p:nvSpPr>
          <p:spPr bwMode="auto">
            <a:xfrm>
              <a:off x="2976" y="816"/>
              <a:ext cx="0" cy="32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10" name="Line 23"/>
            <p:cNvSpPr>
              <a:spLocks noChangeShapeType="1"/>
            </p:cNvSpPr>
            <p:nvPr/>
          </p:nvSpPr>
          <p:spPr bwMode="auto">
            <a:xfrm>
              <a:off x="4272" y="816"/>
              <a:ext cx="0" cy="32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7657" name="Text Box 24"/>
          <p:cNvSpPr txBox="1">
            <a:spLocks noChangeArrowheads="1"/>
          </p:cNvSpPr>
          <p:nvPr/>
        </p:nvSpPr>
        <p:spPr bwMode="auto">
          <a:xfrm>
            <a:off x="2133600" y="349250"/>
            <a:ext cx="6781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(</a:t>
            </a:r>
            <a:r>
              <a:rPr lang="en-US" altLang="zh-CN" sz="3600">
                <a:latin typeface="Times New Roman" panose="02020603050405020304" pitchFamily="18" charset="0"/>
              </a:rPr>
              <a:t>2</a:t>
            </a:r>
            <a:r>
              <a:rPr lang="zh-CN" altLang="en-US" sz="3600">
                <a:latin typeface="Times New Roman" panose="02020603050405020304" pitchFamily="18" charset="0"/>
              </a:rPr>
              <a:t>) 真值、补码和移码的对照表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703513" name="Group 25"/>
          <p:cNvGrpSpPr/>
          <p:nvPr/>
        </p:nvGrpSpPr>
        <p:grpSpPr bwMode="auto">
          <a:xfrm>
            <a:off x="9067800" y="2098675"/>
            <a:ext cx="685800" cy="4149725"/>
            <a:chOff x="4704" y="1322"/>
            <a:chExt cx="432" cy="2614"/>
          </a:xfrm>
        </p:grpSpPr>
        <p:sp>
          <p:nvSpPr>
            <p:cNvPr id="27690" name="Text Box 26"/>
            <p:cNvSpPr txBox="1">
              <a:spLocks noChangeArrowheads="1"/>
            </p:cNvSpPr>
            <p:nvPr/>
          </p:nvSpPr>
          <p:spPr bwMode="auto">
            <a:xfrm>
              <a:off x="4787" y="2064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91" name="Text Box 27"/>
            <p:cNvSpPr txBox="1">
              <a:spLocks noChangeArrowheads="1"/>
            </p:cNvSpPr>
            <p:nvPr/>
          </p:nvSpPr>
          <p:spPr bwMode="auto">
            <a:xfrm>
              <a:off x="4787" y="3227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7692" name="Group 28"/>
            <p:cNvGrpSpPr/>
            <p:nvPr/>
          </p:nvGrpSpPr>
          <p:grpSpPr bwMode="auto">
            <a:xfrm>
              <a:off x="4704" y="1322"/>
              <a:ext cx="308" cy="2614"/>
              <a:chOff x="4704" y="1322"/>
              <a:chExt cx="308" cy="2614"/>
            </a:xfrm>
          </p:grpSpPr>
          <p:sp>
            <p:nvSpPr>
              <p:cNvPr id="27693" name="Text Box 29"/>
              <p:cNvSpPr txBox="1">
                <a:spLocks noChangeArrowheads="1"/>
              </p:cNvSpPr>
              <p:nvPr/>
            </p:nvSpPr>
            <p:spPr bwMode="auto">
              <a:xfrm>
                <a:off x="4780" y="132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0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94" name="Text Box 30"/>
              <p:cNvSpPr txBox="1">
                <a:spLocks noChangeArrowheads="1"/>
              </p:cNvSpPr>
              <p:nvPr/>
            </p:nvSpPr>
            <p:spPr bwMode="auto">
              <a:xfrm>
                <a:off x="4780" y="1562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1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95" name="Text Box 31"/>
              <p:cNvSpPr txBox="1">
                <a:spLocks noChangeArrowheads="1"/>
              </p:cNvSpPr>
              <p:nvPr/>
            </p:nvSpPr>
            <p:spPr bwMode="auto">
              <a:xfrm>
                <a:off x="4780" y="182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2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96" name="Text Box 32"/>
              <p:cNvSpPr txBox="1">
                <a:spLocks noChangeArrowheads="1"/>
              </p:cNvSpPr>
              <p:nvPr/>
            </p:nvSpPr>
            <p:spPr bwMode="auto">
              <a:xfrm>
                <a:off x="4704" y="2245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31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97" name="Text Box 33"/>
              <p:cNvSpPr txBox="1">
                <a:spLocks noChangeArrowheads="1"/>
              </p:cNvSpPr>
              <p:nvPr/>
            </p:nvSpPr>
            <p:spPr bwMode="auto">
              <a:xfrm>
                <a:off x="4704" y="249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32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98" name="Text Box 34"/>
              <p:cNvSpPr txBox="1">
                <a:spLocks noChangeArrowheads="1"/>
              </p:cNvSpPr>
              <p:nvPr/>
            </p:nvSpPr>
            <p:spPr bwMode="auto">
              <a:xfrm>
                <a:off x="4704" y="273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33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99" name="Text Box 35"/>
              <p:cNvSpPr txBox="1">
                <a:spLocks noChangeArrowheads="1"/>
              </p:cNvSpPr>
              <p:nvPr/>
            </p:nvSpPr>
            <p:spPr bwMode="auto">
              <a:xfrm>
                <a:off x="4704" y="297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34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00" name="Text Box 36"/>
              <p:cNvSpPr txBox="1">
                <a:spLocks noChangeArrowheads="1"/>
              </p:cNvSpPr>
              <p:nvPr/>
            </p:nvSpPr>
            <p:spPr bwMode="auto">
              <a:xfrm>
                <a:off x="4704" y="3408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62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01" name="Text Box 37"/>
              <p:cNvSpPr txBox="1">
                <a:spLocks noChangeArrowheads="1"/>
              </p:cNvSpPr>
              <p:nvPr/>
            </p:nvSpPr>
            <p:spPr bwMode="auto">
              <a:xfrm>
                <a:off x="4704" y="3648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63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03526" name="Group 38"/>
          <p:cNvGrpSpPr/>
          <p:nvPr/>
        </p:nvGrpSpPr>
        <p:grpSpPr bwMode="auto">
          <a:xfrm>
            <a:off x="6553200" y="2098675"/>
            <a:ext cx="1479550" cy="4149725"/>
            <a:chOff x="3302" y="1322"/>
            <a:chExt cx="932" cy="2614"/>
          </a:xfrm>
        </p:grpSpPr>
        <p:sp>
          <p:nvSpPr>
            <p:cNvPr id="27679" name="Text Box 39"/>
            <p:cNvSpPr txBox="1">
              <a:spLocks noChangeArrowheads="1"/>
            </p:cNvSpPr>
            <p:nvPr/>
          </p:nvSpPr>
          <p:spPr bwMode="auto">
            <a:xfrm>
              <a:off x="3635" y="2064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80" name="Text Box 40"/>
            <p:cNvSpPr txBox="1">
              <a:spLocks noChangeArrowheads="1"/>
            </p:cNvSpPr>
            <p:nvPr/>
          </p:nvSpPr>
          <p:spPr bwMode="auto">
            <a:xfrm>
              <a:off x="3635" y="3227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81" name="Text Box 41"/>
            <p:cNvSpPr txBox="1">
              <a:spLocks noChangeArrowheads="1"/>
            </p:cNvSpPr>
            <p:nvPr/>
          </p:nvSpPr>
          <p:spPr bwMode="auto">
            <a:xfrm>
              <a:off x="3302" y="1322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0 0 0 0 0 0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82" name="Text Box 42"/>
            <p:cNvSpPr txBox="1">
              <a:spLocks noChangeArrowheads="1"/>
            </p:cNvSpPr>
            <p:nvPr/>
          </p:nvSpPr>
          <p:spPr bwMode="auto">
            <a:xfrm>
              <a:off x="3302" y="1824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0 0 0 0 1 0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83" name="Text Box 43"/>
            <p:cNvSpPr txBox="1">
              <a:spLocks noChangeArrowheads="1"/>
            </p:cNvSpPr>
            <p:nvPr/>
          </p:nvSpPr>
          <p:spPr bwMode="auto">
            <a:xfrm>
              <a:off x="3302" y="1562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0 0 0 0 0 1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84" name="Text Box 44"/>
            <p:cNvSpPr txBox="1">
              <a:spLocks noChangeArrowheads="1"/>
            </p:cNvSpPr>
            <p:nvPr/>
          </p:nvSpPr>
          <p:spPr bwMode="auto">
            <a:xfrm>
              <a:off x="3302" y="2245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0 1 1 1 1 1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85" name="Text Box 45"/>
            <p:cNvSpPr txBox="1">
              <a:spLocks noChangeArrowheads="1"/>
            </p:cNvSpPr>
            <p:nvPr/>
          </p:nvSpPr>
          <p:spPr bwMode="auto">
            <a:xfrm>
              <a:off x="3302" y="2496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1 0 0 0 0 0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86" name="Text Box 46"/>
            <p:cNvSpPr txBox="1">
              <a:spLocks noChangeArrowheads="1"/>
            </p:cNvSpPr>
            <p:nvPr/>
          </p:nvSpPr>
          <p:spPr bwMode="auto">
            <a:xfrm>
              <a:off x="3302" y="2736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1 0 0 0 0 1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87" name="Text Box 47"/>
            <p:cNvSpPr txBox="1">
              <a:spLocks noChangeArrowheads="1"/>
            </p:cNvSpPr>
            <p:nvPr/>
          </p:nvSpPr>
          <p:spPr bwMode="auto">
            <a:xfrm>
              <a:off x="3302" y="2976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1 0 0 0 1 0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88" name="Text Box 48"/>
            <p:cNvSpPr txBox="1">
              <a:spLocks noChangeArrowheads="1"/>
            </p:cNvSpPr>
            <p:nvPr/>
          </p:nvSpPr>
          <p:spPr bwMode="auto">
            <a:xfrm>
              <a:off x="3302" y="3408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1 1 1 1 1 0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89" name="Text Box 49"/>
            <p:cNvSpPr txBox="1">
              <a:spLocks noChangeArrowheads="1"/>
            </p:cNvSpPr>
            <p:nvPr/>
          </p:nvSpPr>
          <p:spPr bwMode="auto">
            <a:xfrm>
              <a:off x="3302" y="3648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1 1 1 1 1 1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03538" name="Group 50"/>
          <p:cNvGrpSpPr/>
          <p:nvPr/>
        </p:nvGrpSpPr>
        <p:grpSpPr bwMode="auto">
          <a:xfrm>
            <a:off x="4495800" y="2098675"/>
            <a:ext cx="1479550" cy="4149725"/>
            <a:chOff x="1958" y="1322"/>
            <a:chExt cx="932" cy="2614"/>
          </a:xfrm>
        </p:grpSpPr>
        <p:sp>
          <p:nvSpPr>
            <p:cNvPr id="27668" name="Text Box 51"/>
            <p:cNvSpPr txBox="1">
              <a:spLocks noChangeArrowheads="1"/>
            </p:cNvSpPr>
            <p:nvPr/>
          </p:nvSpPr>
          <p:spPr bwMode="auto">
            <a:xfrm>
              <a:off x="2291" y="2043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69" name="Text Box 52"/>
            <p:cNvSpPr txBox="1">
              <a:spLocks noChangeArrowheads="1"/>
            </p:cNvSpPr>
            <p:nvPr/>
          </p:nvSpPr>
          <p:spPr bwMode="auto">
            <a:xfrm>
              <a:off x="2291" y="3206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70" name="Text Box 53"/>
            <p:cNvSpPr txBox="1">
              <a:spLocks noChangeArrowheads="1"/>
            </p:cNvSpPr>
            <p:nvPr/>
          </p:nvSpPr>
          <p:spPr bwMode="auto">
            <a:xfrm>
              <a:off x="1958" y="3648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0 1 1 1 1 1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71" name="Text Box 54"/>
            <p:cNvSpPr txBox="1">
              <a:spLocks noChangeArrowheads="1"/>
            </p:cNvSpPr>
            <p:nvPr/>
          </p:nvSpPr>
          <p:spPr bwMode="auto">
            <a:xfrm>
              <a:off x="1958" y="3408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0 1 1 1 1 0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72" name="Text Box 55"/>
            <p:cNvSpPr txBox="1">
              <a:spLocks noChangeArrowheads="1"/>
            </p:cNvSpPr>
            <p:nvPr/>
          </p:nvSpPr>
          <p:spPr bwMode="auto">
            <a:xfrm>
              <a:off x="1958" y="2976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0 0 0 0 1 0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73" name="Text Box 56"/>
            <p:cNvSpPr txBox="1">
              <a:spLocks noChangeArrowheads="1"/>
            </p:cNvSpPr>
            <p:nvPr/>
          </p:nvSpPr>
          <p:spPr bwMode="auto">
            <a:xfrm>
              <a:off x="1958" y="2736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0 0 0 0 0 1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74" name="Text Box 57"/>
            <p:cNvSpPr txBox="1">
              <a:spLocks noChangeArrowheads="1"/>
            </p:cNvSpPr>
            <p:nvPr/>
          </p:nvSpPr>
          <p:spPr bwMode="auto">
            <a:xfrm>
              <a:off x="1958" y="2496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0 0 0 0 0 0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75" name="Text Box 58"/>
            <p:cNvSpPr txBox="1">
              <a:spLocks noChangeArrowheads="1"/>
            </p:cNvSpPr>
            <p:nvPr/>
          </p:nvSpPr>
          <p:spPr bwMode="auto">
            <a:xfrm>
              <a:off x="1958" y="2245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1 1 1 1 1 1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76" name="Text Box 59"/>
            <p:cNvSpPr txBox="1">
              <a:spLocks noChangeArrowheads="1"/>
            </p:cNvSpPr>
            <p:nvPr/>
          </p:nvSpPr>
          <p:spPr bwMode="auto">
            <a:xfrm>
              <a:off x="1958" y="1824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1 0 0 0 1 0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77" name="Text Box 60"/>
            <p:cNvSpPr txBox="1">
              <a:spLocks noChangeArrowheads="1"/>
            </p:cNvSpPr>
            <p:nvPr/>
          </p:nvSpPr>
          <p:spPr bwMode="auto">
            <a:xfrm>
              <a:off x="1958" y="1562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1 0 0 0 0 1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7678" name="Text Box 61"/>
            <p:cNvSpPr txBox="1">
              <a:spLocks noChangeArrowheads="1"/>
            </p:cNvSpPr>
            <p:nvPr/>
          </p:nvSpPr>
          <p:spPr bwMode="auto">
            <a:xfrm>
              <a:off x="1958" y="1322"/>
              <a:ext cx="9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1 0 0 0 0 0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03550" name="Text Box 62"/>
          <p:cNvSpPr txBox="1">
            <a:spLocks noChangeArrowheads="1"/>
          </p:cNvSpPr>
          <p:nvPr/>
        </p:nvSpPr>
        <p:spPr bwMode="auto">
          <a:xfrm>
            <a:off x="2303463" y="2105025"/>
            <a:ext cx="165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- 1 0 0 0 0 0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3551" name="Text Box 63"/>
          <p:cNvSpPr txBox="1">
            <a:spLocks noChangeArrowheads="1"/>
          </p:cNvSpPr>
          <p:nvPr/>
        </p:nvSpPr>
        <p:spPr bwMode="auto">
          <a:xfrm>
            <a:off x="2195513" y="3962400"/>
            <a:ext cx="1766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chemeClr val="folHlink"/>
                </a:solidFill>
                <a:latin typeface="Times New Roman" panose="02020603050405020304" pitchFamily="18" charset="0"/>
              </a:rPr>
              <a:t> ±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  0 0 0 0 0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3552" name="Text Box 64"/>
          <p:cNvSpPr txBox="1">
            <a:spLocks noChangeArrowheads="1"/>
          </p:cNvSpPr>
          <p:nvPr/>
        </p:nvSpPr>
        <p:spPr bwMode="auto">
          <a:xfrm>
            <a:off x="2300288" y="5791200"/>
            <a:ext cx="1652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+   1 1 1 1 1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3553" name="Text Box 65"/>
          <p:cNvSpPr txBox="1">
            <a:spLocks noChangeArrowheads="1"/>
          </p:cNvSpPr>
          <p:nvPr/>
        </p:nvSpPr>
        <p:spPr bwMode="auto">
          <a:xfrm>
            <a:off x="6553200" y="2105025"/>
            <a:ext cx="147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0 0 0 0 0 0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3554" name="Text Box 66"/>
          <p:cNvSpPr txBox="1">
            <a:spLocks noChangeArrowheads="1"/>
          </p:cNvSpPr>
          <p:nvPr/>
        </p:nvSpPr>
        <p:spPr bwMode="auto">
          <a:xfrm>
            <a:off x="6553200" y="5791200"/>
            <a:ext cx="147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1 1 1 1 1 1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3555" name="Text Box 67"/>
          <p:cNvSpPr txBox="1">
            <a:spLocks noChangeArrowheads="1"/>
          </p:cNvSpPr>
          <p:nvPr/>
        </p:nvSpPr>
        <p:spPr bwMode="auto">
          <a:xfrm>
            <a:off x="4495800" y="3962400"/>
            <a:ext cx="147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0 0 0 0 0 0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3556" name="Text Box 68"/>
          <p:cNvSpPr txBox="1">
            <a:spLocks noChangeArrowheads="1"/>
          </p:cNvSpPr>
          <p:nvPr/>
        </p:nvSpPr>
        <p:spPr bwMode="auto">
          <a:xfrm>
            <a:off x="6553200" y="3962400"/>
            <a:ext cx="147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1 0 0 0 0 0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0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0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0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70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70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703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70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70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703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703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703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70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550" grpId="0" autoUpdateAnimBg="0"/>
      <p:bldP spid="703551" grpId="0" autoUpdateAnimBg="0"/>
      <p:bldP spid="703552" grpId="0" autoUpdateAnimBg="0"/>
      <p:bldP spid="703553" grpId="0" autoUpdateAnimBg="0"/>
      <p:bldP spid="703554" grpId="0" autoUpdateAnimBg="0"/>
      <p:bldP spid="703555" grpId="0" autoUpdateAnimBg="0"/>
      <p:bldP spid="70355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Text Box 2"/>
          <p:cNvSpPr txBox="1">
            <a:spLocks noChangeArrowheads="1"/>
          </p:cNvSpPr>
          <p:nvPr/>
        </p:nvSpPr>
        <p:spPr bwMode="auto">
          <a:xfrm>
            <a:off x="2438400" y="914400"/>
            <a:ext cx="24653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>
                <a:latin typeface="Times New Roman" panose="02020603050405020304" pitchFamily="18" charset="0"/>
              </a:rPr>
              <a:t>当 </a:t>
            </a:r>
            <a:r>
              <a:rPr lang="en-US" altLang="zh-CN" sz="3200" i="1">
                <a:latin typeface="Times New Roman" panose="02020603050405020304" pitchFamily="18" charset="0"/>
              </a:rPr>
              <a:t>x</a:t>
            </a:r>
            <a:r>
              <a:rPr lang="en-US" altLang="zh-CN" sz="3200">
                <a:latin typeface="Times New Roman" panose="02020603050405020304" pitchFamily="18" charset="0"/>
              </a:rPr>
              <a:t> = 0 </a:t>
            </a:r>
            <a:r>
              <a:rPr lang="zh-CN" altLang="en-US" sz="3200">
                <a:latin typeface="Times New Roman" panose="02020603050405020304" pitchFamily="18" charset="0"/>
              </a:rPr>
              <a:t>时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04515" name="Text Box 3"/>
          <p:cNvSpPr txBox="1">
            <a:spLocks noChangeArrowheads="1"/>
          </p:cNvSpPr>
          <p:nvPr/>
        </p:nvSpPr>
        <p:spPr bwMode="auto">
          <a:xfrm>
            <a:off x="4860925" y="914400"/>
            <a:ext cx="25415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[+0]</a:t>
            </a:r>
            <a:r>
              <a:rPr lang="zh-CN" altLang="en-US" baseline="-25000">
                <a:latin typeface="Times New Roman" panose="02020603050405020304" pitchFamily="18" charset="0"/>
              </a:rPr>
              <a:t>移</a:t>
            </a:r>
            <a:r>
              <a:rPr lang="zh-CN" altLang="en-US" sz="3200">
                <a:latin typeface="Times New Roman" panose="02020603050405020304" pitchFamily="18" charset="0"/>
              </a:rPr>
              <a:t> = 2</a:t>
            </a:r>
            <a:r>
              <a:rPr lang="zh-CN" altLang="en-US" sz="3200" baseline="40000">
                <a:latin typeface="Times New Roman" panose="02020603050405020304" pitchFamily="18" charset="0"/>
              </a:rPr>
              <a:t>5</a:t>
            </a:r>
            <a:r>
              <a:rPr lang="zh-CN" altLang="en-US" sz="3200">
                <a:latin typeface="Times New Roman" panose="02020603050405020304" pitchFamily="18" charset="0"/>
              </a:rPr>
              <a:t> + 0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04516" name="Text Box 4"/>
          <p:cNvSpPr txBox="1">
            <a:spLocks noChangeArrowheads="1"/>
          </p:cNvSpPr>
          <p:nvPr/>
        </p:nvSpPr>
        <p:spPr bwMode="auto">
          <a:xfrm>
            <a:off x="2438400" y="320040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>
                <a:latin typeface="Times New Roman" panose="02020603050405020304" pitchFamily="18" charset="0"/>
              </a:rPr>
              <a:t>当 </a:t>
            </a:r>
            <a:r>
              <a:rPr lang="en-US" altLang="zh-CN" sz="3200" i="1">
                <a:latin typeface="Times New Roman" panose="02020603050405020304" pitchFamily="18" charset="0"/>
              </a:rPr>
              <a:t>n</a:t>
            </a:r>
            <a:r>
              <a:rPr lang="en-US" altLang="zh-CN" sz="3200">
                <a:latin typeface="Times New Roman" panose="02020603050405020304" pitchFamily="18" charset="0"/>
              </a:rPr>
              <a:t> = 5 </a:t>
            </a:r>
            <a:r>
              <a:rPr lang="zh-CN" altLang="en-US" sz="3200">
                <a:latin typeface="Times New Roman" panose="02020603050405020304" pitchFamily="18" charset="0"/>
              </a:rPr>
              <a:t>时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04517" name="Text Box 5"/>
          <p:cNvSpPr txBox="1">
            <a:spLocks noChangeArrowheads="1"/>
          </p:cNvSpPr>
          <p:nvPr/>
        </p:nvSpPr>
        <p:spPr bwMode="auto">
          <a:xfrm>
            <a:off x="3870325" y="4667250"/>
            <a:ext cx="5384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可见，</a:t>
            </a: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最小真值的移码为全 0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1905000" y="152400"/>
            <a:ext cx="4038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(4) 移码的特点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04519" name="Text Box 7"/>
          <p:cNvSpPr txBox="1">
            <a:spLocks noChangeArrowheads="1"/>
          </p:cNvSpPr>
          <p:nvPr/>
        </p:nvSpPr>
        <p:spPr bwMode="auto">
          <a:xfrm>
            <a:off x="3209925" y="5334000"/>
            <a:ext cx="46720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用移码表示浮点数的阶码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04520" name="Text Box 8"/>
          <p:cNvSpPr txBox="1">
            <a:spLocks noChangeArrowheads="1"/>
          </p:cNvSpPr>
          <p:nvPr/>
        </p:nvSpPr>
        <p:spPr bwMode="auto">
          <a:xfrm>
            <a:off x="3225800" y="5913438"/>
            <a:ext cx="58959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能方便地判断浮点数的阶码大小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04521" name="Text Box 9"/>
          <p:cNvSpPr txBox="1">
            <a:spLocks noChangeArrowheads="1"/>
          </p:cNvSpPr>
          <p:nvPr/>
        </p:nvSpPr>
        <p:spPr bwMode="auto">
          <a:xfrm>
            <a:off x="7467600" y="914400"/>
            <a:ext cx="18383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= 1,00000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04522" name="Text Box 10"/>
          <p:cNvSpPr txBox="1">
            <a:spLocks noChangeArrowheads="1"/>
          </p:cNvSpPr>
          <p:nvPr/>
        </p:nvSpPr>
        <p:spPr bwMode="auto">
          <a:xfrm>
            <a:off x="7467600" y="1477963"/>
            <a:ext cx="18383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= 1,00000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04523" name="Text Box 11"/>
          <p:cNvSpPr txBox="1">
            <a:spLocks noChangeArrowheads="1"/>
          </p:cNvSpPr>
          <p:nvPr/>
        </p:nvSpPr>
        <p:spPr bwMode="auto">
          <a:xfrm>
            <a:off x="8169275" y="3840163"/>
            <a:ext cx="2174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=   000000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704525" name="Group 13"/>
          <p:cNvGrpSpPr/>
          <p:nvPr/>
        </p:nvGrpSpPr>
        <p:grpSpPr bwMode="auto">
          <a:xfrm>
            <a:off x="4876800" y="1530350"/>
            <a:ext cx="2281238" cy="579438"/>
            <a:chOff x="2112" y="964"/>
            <a:chExt cx="1437" cy="365"/>
          </a:xfrm>
        </p:grpSpPr>
        <p:sp>
          <p:nvSpPr>
            <p:cNvPr id="28700" name="Text Box 14"/>
            <p:cNvSpPr txBox="1">
              <a:spLocks noChangeArrowheads="1"/>
            </p:cNvSpPr>
            <p:nvPr/>
          </p:nvSpPr>
          <p:spPr bwMode="auto">
            <a:xfrm>
              <a:off x="2112" y="964"/>
              <a:ext cx="143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[  0]</a:t>
              </a:r>
              <a:r>
                <a:rPr lang="zh-CN" altLang="en-US" baseline="-25000">
                  <a:latin typeface="Times New Roman" panose="02020603050405020304" pitchFamily="18" charset="0"/>
                </a:rPr>
                <a:t>移</a:t>
              </a:r>
              <a:r>
                <a:rPr lang="zh-CN" altLang="en-US" sz="3200">
                  <a:latin typeface="Times New Roman" panose="02020603050405020304" pitchFamily="18" charset="0"/>
                </a:rPr>
                <a:t> = 2</a:t>
              </a:r>
              <a:r>
                <a:rPr lang="zh-CN" altLang="en-US" sz="3200" baseline="40000">
                  <a:latin typeface="Times New Roman" panose="02020603050405020304" pitchFamily="18" charset="0"/>
                </a:rPr>
                <a:t>5</a:t>
              </a:r>
              <a:r>
                <a:rPr lang="zh-CN" altLang="en-US" sz="3200">
                  <a:latin typeface="Times New Roman" panose="02020603050405020304" pitchFamily="18" charset="0"/>
                </a:rPr>
                <a:t>  0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28701" name="Line 15"/>
            <p:cNvSpPr>
              <a:spLocks noChangeShapeType="1"/>
            </p:cNvSpPr>
            <p:nvPr/>
          </p:nvSpPr>
          <p:spPr bwMode="auto">
            <a:xfrm>
              <a:off x="2245" y="116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702" name="Line 16"/>
            <p:cNvSpPr>
              <a:spLocks noChangeShapeType="1"/>
            </p:cNvSpPr>
            <p:nvPr/>
          </p:nvSpPr>
          <p:spPr bwMode="auto">
            <a:xfrm>
              <a:off x="3243" y="116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04529" name="Group 17"/>
          <p:cNvGrpSpPr/>
          <p:nvPr/>
        </p:nvGrpSpPr>
        <p:grpSpPr bwMode="auto">
          <a:xfrm>
            <a:off x="4364038" y="2239963"/>
            <a:ext cx="3040062" cy="584200"/>
            <a:chOff x="2112" y="1411"/>
            <a:chExt cx="1915" cy="368"/>
          </a:xfrm>
        </p:grpSpPr>
        <p:sp>
          <p:nvSpPr>
            <p:cNvPr id="28698" name="Text Box 18"/>
            <p:cNvSpPr txBox="1">
              <a:spLocks noChangeArrowheads="1"/>
            </p:cNvSpPr>
            <p:nvPr/>
          </p:nvSpPr>
          <p:spPr bwMode="auto">
            <a:xfrm>
              <a:off x="2112" y="1411"/>
              <a:ext cx="191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∴ [+0]</a:t>
              </a:r>
              <a:r>
                <a:rPr lang="zh-CN" altLang="en-US" sz="32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移 </a:t>
              </a:r>
              <a:r>
                <a:rPr lang="zh-CN" altLang="en-US" sz="3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= [  0]</a:t>
              </a:r>
              <a:r>
                <a:rPr lang="zh-CN" altLang="en-US" sz="32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移</a:t>
              </a:r>
              <a:endParaRPr lang="zh-CN" altLang="en-US" sz="3200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9" name="Line 19"/>
            <p:cNvSpPr>
              <a:spLocks noChangeShapeType="1"/>
            </p:cNvSpPr>
            <p:nvPr/>
          </p:nvSpPr>
          <p:spPr bwMode="auto">
            <a:xfrm>
              <a:off x="3434" y="1616"/>
              <a:ext cx="96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04532" name="Group 20"/>
          <p:cNvGrpSpPr/>
          <p:nvPr/>
        </p:nvGrpSpPr>
        <p:grpSpPr bwMode="auto">
          <a:xfrm>
            <a:off x="3810000" y="3840163"/>
            <a:ext cx="2322513" cy="579437"/>
            <a:chOff x="1440" y="2419"/>
            <a:chExt cx="1463" cy="365"/>
          </a:xfrm>
        </p:grpSpPr>
        <p:sp>
          <p:nvSpPr>
            <p:cNvPr id="28696" name="Text Box 21"/>
            <p:cNvSpPr txBox="1">
              <a:spLocks noChangeArrowheads="1"/>
            </p:cNvSpPr>
            <p:nvPr/>
          </p:nvSpPr>
          <p:spPr bwMode="auto">
            <a:xfrm>
              <a:off x="1440" y="2419"/>
              <a:ext cx="146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[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3200">
                  <a:latin typeface="Times New Roman" panose="02020603050405020304" pitchFamily="18" charset="0"/>
                </a:rPr>
                <a:t> 100000]</a:t>
              </a:r>
              <a:r>
                <a:rPr lang="zh-CN" altLang="en-US" sz="3200" baseline="-25000">
                  <a:latin typeface="Times New Roman" panose="02020603050405020304" pitchFamily="18" charset="0"/>
                </a:rPr>
                <a:t>移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28697" name="Line 22"/>
            <p:cNvSpPr>
              <a:spLocks noChangeShapeType="1"/>
            </p:cNvSpPr>
            <p:nvPr/>
          </p:nvSpPr>
          <p:spPr bwMode="auto">
            <a:xfrm>
              <a:off x="1589" y="2614"/>
              <a:ext cx="1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04535" name="Group 23"/>
          <p:cNvGrpSpPr/>
          <p:nvPr/>
        </p:nvGrpSpPr>
        <p:grpSpPr bwMode="auto">
          <a:xfrm>
            <a:off x="5962650" y="3840163"/>
            <a:ext cx="2339975" cy="579437"/>
            <a:chOff x="2796" y="2419"/>
            <a:chExt cx="1474" cy="365"/>
          </a:xfrm>
        </p:grpSpPr>
        <p:sp>
          <p:nvSpPr>
            <p:cNvPr id="28694" name="Text Box 24"/>
            <p:cNvSpPr txBox="1">
              <a:spLocks noChangeArrowheads="1"/>
            </p:cNvSpPr>
            <p:nvPr/>
          </p:nvSpPr>
          <p:spPr bwMode="auto">
            <a:xfrm>
              <a:off x="2796" y="2419"/>
              <a:ext cx="147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= 2</a:t>
              </a:r>
              <a:r>
                <a:rPr lang="zh-CN" altLang="en-US" sz="3200" baseline="40000">
                  <a:latin typeface="Times New Roman" panose="02020603050405020304" pitchFamily="18" charset="0"/>
                </a:rPr>
                <a:t>5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zh-CN" altLang="en-US" sz="3200">
                  <a:latin typeface="Times New Roman" panose="02020603050405020304" pitchFamily="18" charset="0"/>
                </a:rPr>
                <a:t>100000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28695" name="Line 25"/>
            <p:cNvSpPr>
              <a:spLocks noChangeShapeType="1"/>
            </p:cNvSpPr>
            <p:nvPr/>
          </p:nvSpPr>
          <p:spPr bwMode="auto">
            <a:xfrm>
              <a:off x="3334" y="261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04538" name="Group 26"/>
          <p:cNvGrpSpPr/>
          <p:nvPr/>
        </p:nvGrpSpPr>
        <p:grpSpPr bwMode="auto">
          <a:xfrm>
            <a:off x="4953000" y="3200400"/>
            <a:ext cx="3273425" cy="579438"/>
            <a:chOff x="2160" y="2016"/>
            <a:chExt cx="2062" cy="365"/>
          </a:xfrm>
        </p:grpSpPr>
        <p:sp>
          <p:nvSpPr>
            <p:cNvPr id="28692" name="Text Box 27"/>
            <p:cNvSpPr txBox="1">
              <a:spLocks noChangeArrowheads="1"/>
            </p:cNvSpPr>
            <p:nvPr/>
          </p:nvSpPr>
          <p:spPr bwMode="auto">
            <a:xfrm>
              <a:off x="2160" y="2016"/>
              <a:ext cx="206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最小的真值为   2</a:t>
              </a:r>
              <a:r>
                <a:rPr lang="zh-CN" altLang="en-US" sz="3200" baseline="40000">
                  <a:latin typeface="Times New Roman" panose="02020603050405020304" pitchFamily="18" charset="0"/>
                </a:rPr>
                <a:t>5</a:t>
              </a:r>
              <a:endParaRPr lang="zh-CN" altLang="en-US" sz="3200" baseline="40000">
                <a:latin typeface="Times New Roman" panose="02020603050405020304" pitchFamily="18" charset="0"/>
              </a:endParaRPr>
            </a:p>
          </p:txBody>
        </p:sp>
        <p:sp>
          <p:nvSpPr>
            <p:cNvPr id="28693" name="Line 28"/>
            <p:cNvSpPr>
              <a:spLocks noChangeShapeType="1"/>
            </p:cNvSpPr>
            <p:nvPr/>
          </p:nvSpPr>
          <p:spPr bwMode="auto">
            <a:xfrm>
              <a:off x="3833" y="2205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04541" name="Group 29"/>
          <p:cNvGrpSpPr/>
          <p:nvPr/>
        </p:nvGrpSpPr>
        <p:grpSpPr bwMode="auto">
          <a:xfrm>
            <a:off x="8169275" y="3200400"/>
            <a:ext cx="2133600" cy="579438"/>
            <a:chOff x="4186" y="2016"/>
            <a:chExt cx="1344" cy="365"/>
          </a:xfrm>
        </p:grpSpPr>
        <p:sp>
          <p:nvSpPr>
            <p:cNvPr id="28690" name="Text Box 30"/>
            <p:cNvSpPr txBox="1">
              <a:spLocks noChangeArrowheads="1"/>
            </p:cNvSpPr>
            <p:nvPr/>
          </p:nvSpPr>
          <p:spPr bwMode="auto">
            <a:xfrm>
              <a:off x="4186" y="2016"/>
              <a:ext cx="1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= 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sz="3200">
                  <a:latin typeface="Times New Roman" panose="02020603050405020304" pitchFamily="18" charset="0"/>
                </a:rPr>
                <a:t>100000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28691" name="Line 31"/>
            <p:cNvSpPr>
              <a:spLocks noChangeShapeType="1"/>
            </p:cNvSpPr>
            <p:nvPr/>
          </p:nvSpPr>
          <p:spPr bwMode="auto">
            <a:xfrm>
              <a:off x="4443" y="2205"/>
              <a:ext cx="1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0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04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0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0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0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0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0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0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0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4514" grpId="0" autoUpdateAnimBg="0"/>
      <p:bldP spid="704515" grpId="0" autoUpdateAnimBg="0"/>
      <p:bldP spid="704516" grpId="0" autoUpdateAnimBg="0"/>
      <p:bldP spid="704517" grpId="0" autoUpdateAnimBg="0"/>
      <p:bldP spid="704519" grpId="0" autoUpdateAnimBg="0"/>
      <p:bldP spid="704520" grpId="0" autoUpdateAnimBg="0"/>
      <p:bldP spid="704521" grpId="0" autoUpdateAnimBg="0"/>
      <p:bldP spid="704522" grpId="0" autoUpdateAnimBg="0"/>
      <p:bldP spid="70452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6388" y="444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/>
              <a:t>II  </a:t>
            </a:r>
            <a:r>
              <a:rPr lang="zh-CN" altLang="en-US" b="1"/>
              <a:t>数的定点表示和浮点表示</a:t>
            </a:r>
            <a:endParaRPr lang="zh-CN" altLang="en-US" b="1"/>
          </a:p>
        </p:txBody>
      </p:sp>
      <p:sp>
        <p:nvSpPr>
          <p:cNvPr id="705539" name="Text Box 3"/>
          <p:cNvSpPr txBox="1">
            <a:spLocks noChangeArrowheads="1"/>
          </p:cNvSpPr>
          <p:nvPr/>
        </p:nvSpPr>
        <p:spPr bwMode="auto">
          <a:xfrm>
            <a:off x="1684338" y="963613"/>
            <a:ext cx="42640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小数点按约定方式标出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05540" name="Text Box 4"/>
          <p:cNvSpPr txBox="1">
            <a:spLocks noChangeArrowheads="1"/>
          </p:cNvSpPr>
          <p:nvPr/>
        </p:nvSpPr>
        <p:spPr bwMode="auto">
          <a:xfrm>
            <a:off x="1760538" y="1573213"/>
            <a:ext cx="26320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一、定点表示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705541" name="Group 5"/>
          <p:cNvGrpSpPr/>
          <p:nvPr/>
        </p:nvGrpSpPr>
        <p:grpSpPr bwMode="auto">
          <a:xfrm>
            <a:off x="2386013" y="2116138"/>
            <a:ext cx="6858000" cy="1682750"/>
            <a:chOff x="816" y="1541"/>
            <a:chExt cx="4320" cy="1061"/>
          </a:xfrm>
        </p:grpSpPr>
        <p:sp>
          <p:nvSpPr>
            <p:cNvPr id="29714" name="Text Box 6"/>
            <p:cNvSpPr txBox="1">
              <a:spLocks noChangeArrowheads="1"/>
            </p:cNvSpPr>
            <p:nvPr/>
          </p:nvSpPr>
          <p:spPr bwMode="auto">
            <a:xfrm>
              <a:off x="902" y="1646"/>
              <a:ext cx="126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f  </a:t>
              </a: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>
                  <a:latin typeface="Times New Roman" panose="02020603050405020304" pitchFamily="18" charset="0"/>
                </a:rPr>
                <a:t>     </a:t>
              </a: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n</a:t>
              </a:r>
              <a:endParaRPr lang="en-US" altLang="zh-CN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9715" name="Text Box 7"/>
            <p:cNvSpPr txBox="1">
              <a:spLocks noChangeArrowheads="1"/>
            </p:cNvSpPr>
            <p:nvPr/>
          </p:nvSpPr>
          <p:spPr bwMode="auto">
            <a:xfrm>
              <a:off x="1632" y="1550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9716" name="Rectangle 8"/>
            <p:cNvSpPr>
              <a:spLocks noChangeArrowheads="1"/>
            </p:cNvSpPr>
            <p:nvPr/>
          </p:nvSpPr>
          <p:spPr bwMode="auto">
            <a:xfrm>
              <a:off x="864" y="1685"/>
              <a:ext cx="13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29717" name="Line 9"/>
            <p:cNvSpPr>
              <a:spLocks noChangeShapeType="1"/>
            </p:cNvSpPr>
            <p:nvPr/>
          </p:nvSpPr>
          <p:spPr bwMode="auto">
            <a:xfrm>
              <a:off x="1200" y="1685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8" name="Line 10"/>
            <p:cNvSpPr>
              <a:spLocks noChangeShapeType="1"/>
            </p:cNvSpPr>
            <p:nvPr/>
          </p:nvSpPr>
          <p:spPr bwMode="auto">
            <a:xfrm flipV="1">
              <a:off x="1200" y="1973"/>
              <a:ext cx="0" cy="43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19" name="Text Box 11"/>
            <p:cNvSpPr txBox="1">
              <a:spLocks noChangeArrowheads="1"/>
            </p:cNvSpPr>
            <p:nvPr/>
          </p:nvSpPr>
          <p:spPr bwMode="auto">
            <a:xfrm>
              <a:off x="873" y="1992"/>
              <a:ext cx="310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数符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9720" name="Text Box 12"/>
            <p:cNvSpPr txBox="1">
              <a:spLocks noChangeArrowheads="1"/>
            </p:cNvSpPr>
            <p:nvPr/>
          </p:nvSpPr>
          <p:spPr bwMode="auto">
            <a:xfrm>
              <a:off x="1352" y="2059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数值部分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9721" name="Text Box 13"/>
            <p:cNvSpPr txBox="1">
              <a:spLocks noChangeArrowheads="1"/>
            </p:cNvSpPr>
            <p:nvPr/>
          </p:nvSpPr>
          <p:spPr bwMode="auto">
            <a:xfrm>
              <a:off x="816" y="2352"/>
              <a:ext cx="9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小数点位置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22" name="Text Box 14"/>
            <p:cNvSpPr txBox="1">
              <a:spLocks noChangeArrowheads="1"/>
            </p:cNvSpPr>
            <p:nvPr/>
          </p:nvSpPr>
          <p:spPr bwMode="auto">
            <a:xfrm>
              <a:off x="3292" y="1637"/>
              <a:ext cx="126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f  </a:t>
              </a: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>
                  <a:latin typeface="Times New Roman" panose="02020603050405020304" pitchFamily="18" charset="0"/>
                </a:rPr>
                <a:t>     </a:t>
              </a: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n</a:t>
              </a:r>
              <a:endParaRPr lang="en-US" altLang="zh-CN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9723" name="Text Box 15"/>
            <p:cNvSpPr txBox="1">
              <a:spLocks noChangeArrowheads="1"/>
            </p:cNvSpPr>
            <p:nvPr/>
          </p:nvSpPr>
          <p:spPr bwMode="auto">
            <a:xfrm>
              <a:off x="4022" y="1541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9724" name="Rectangle 16"/>
            <p:cNvSpPr>
              <a:spLocks noChangeArrowheads="1"/>
            </p:cNvSpPr>
            <p:nvPr/>
          </p:nvSpPr>
          <p:spPr bwMode="auto">
            <a:xfrm>
              <a:off x="3254" y="1676"/>
              <a:ext cx="13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29725" name="Line 17"/>
            <p:cNvSpPr>
              <a:spLocks noChangeShapeType="1"/>
            </p:cNvSpPr>
            <p:nvPr/>
          </p:nvSpPr>
          <p:spPr bwMode="auto">
            <a:xfrm>
              <a:off x="3590" y="167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6" name="Line 18"/>
            <p:cNvSpPr>
              <a:spLocks noChangeShapeType="1"/>
            </p:cNvSpPr>
            <p:nvPr/>
          </p:nvSpPr>
          <p:spPr bwMode="auto">
            <a:xfrm flipV="1">
              <a:off x="4599" y="1964"/>
              <a:ext cx="0" cy="43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727" name="Text Box 19"/>
            <p:cNvSpPr txBox="1">
              <a:spLocks noChangeArrowheads="1"/>
            </p:cNvSpPr>
            <p:nvPr/>
          </p:nvSpPr>
          <p:spPr bwMode="auto">
            <a:xfrm>
              <a:off x="3263" y="1983"/>
              <a:ext cx="310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数符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9728" name="Text Box 20"/>
            <p:cNvSpPr txBox="1">
              <a:spLocks noChangeArrowheads="1"/>
            </p:cNvSpPr>
            <p:nvPr/>
          </p:nvSpPr>
          <p:spPr bwMode="auto">
            <a:xfrm>
              <a:off x="3696" y="2059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数值部分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9729" name="Text Box 21"/>
            <p:cNvSpPr txBox="1">
              <a:spLocks noChangeArrowheads="1"/>
            </p:cNvSpPr>
            <p:nvPr/>
          </p:nvSpPr>
          <p:spPr bwMode="auto">
            <a:xfrm>
              <a:off x="4215" y="2348"/>
              <a:ext cx="9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小数点位置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30" name="AutoShape 22"/>
            <p:cNvSpPr/>
            <p:nvPr/>
          </p:nvSpPr>
          <p:spPr bwMode="auto">
            <a:xfrm rot="-5400000">
              <a:off x="1656" y="1517"/>
              <a:ext cx="96" cy="1008"/>
            </a:xfrm>
            <a:prstGeom prst="leftBrace">
              <a:avLst>
                <a:gd name="adj1" fmla="val 8750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29731" name="AutoShape 23"/>
            <p:cNvSpPr/>
            <p:nvPr/>
          </p:nvSpPr>
          <p:spPr bwMode="auto">
            <a:xfrm rot="-5400000">
              <a:off x="4056" y="1517"/>
              <a:ext cx="96" cy="1008"/>
            </a:xfrm>
            <a:prstGeom prst="leftBrace">
              <a:avLst>
                <a:gd name="adj1" fmla="val 8750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29732" name="Text Box 24"/>
            <p:cNvSpPr txBox="1">
              <a:spLocks noChangeArrowheads="1"/>
            </p:cNvSpPr>
            <p:nvPr/>
          </p:nvSpPr>
          <p:spPr bwMode="auto">
            <a:xfrm>
              <a:off x="2534" y="1665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或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05561" name="Text Box 25"/>
          <p:cNvSpPr txBox="1">
            <a:spLocks noChangeArrowheads="1"/>
          </p:cNvSpPr>
          <p:nvPr/>
        </p:nvSpPr>
        <p:spPr bwMode="auto">
          <a:xfrm>
            <a:off x="1684338" y="3979863"/>
            <a:ext cx="1255712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定点机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05562" name="Text Box 26"/>
          <p:cNvSpPr txBox="1">
            <a:spLocks noChangeArrowheads="1"/>
          </p:cNvSpPr>
          <p:nvPr/>
        </p:nvSpPr>
        <p:spPr bwMode="auto">
          <a:xfrm>
            <a:off x="3844925" y="3979863"/>
            <a:ext cx="1970088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小数定点机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05563" name="Text Box 27"/>
          <p:cNvSpPr txBox="1">
            <a:spLocks noChangeArrowheads="1"/>
          </p:cNvSpPr>
          <p:nvPr/>
        </p:nvSpPr>
        <p:spPr bwMode="auto">
          <a:xfrm>
            <a:off x="7121525" y="3979863"/>
            <a:ext cx="1970088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整数定点机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05564" name="Text Box 28"/>
          <p:cNvSpPr txBox="1">
            <a:spLocks noChangeArrowheads="1"/>
          </p:cNvSpPr>
          <p:nvPr/>
        </p:nvSpPr>
        <p:spPr bwMode="auto">
          <a:xfrm>
            <a:off x="1684338" y="4564063"/>
            <a:ext cx="8985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原码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05565" name="Text Box 29"/>
          <p:cNvSpPr txBox="1">
            <a:spLocks noChangeArrowheads="1"/>
          </p:cNvSpPr>
          <p:nvPr/>
        </p:nvSpPr>
        <p:spPr bwMode="auto">
          <a:xfrm>
            <a:off x="1684338" y="5148263"/>
            <a:ext cx="8985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补码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05566" name="Text Box 30"/>
          <p:cNvSpPr txBox="1">
            <a:spLocks noChangeArrowheads="1"/>
          </p:cNvSpPr>
          <p:nvPr/>
        </p:nvSpPr>
        <p:spPr bwMode="auto">
          <a:xfrm>
            <a:off x="1684338" y="5732463"/>
            <a:ext cx="8985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反码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05567" name="Text Box 31"/>
          <p:cNvSpPr txBox="1">
            <a:spLocks noChangeArrowheads="1"/>
          </p:cNvSpPr>
          <p:nvPr/>
        </p:nvSpPr>
        <p:spPr bwMode="auto">
          <a:xfrm>
            <a:off x="3148013" y="4564063"/>
            <a:ext cx="325755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zh-CN" altLang="en-US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i="1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) ~ +(1 – 2</a:t>
            </a:r>
            <a:r>
              <a:rPr lang="en-US" altLang="zh-CN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i="1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568" name="Text Box 32"/>
          <p:cNvSpPr txBox="1">
            <a:spLocks noChangeArrowheads="1"/>
          </p:cNvSpPr>
          <p:nvPr/>
        </p:nvSpPr>
        <p:spPr bwMode="auto">
          <a:xfrm>
            <a:off x="6726238" y="4564063"/>
            <a:ext cx="31273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i="1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1) ~ +( 2</a:t>
            </a:r>
            <a:r>
              <a:rPr lang="en-US" altLang="zh-CN" i="1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1)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569" name="Text Box 33"/>
          <p:cNvSpPr txBox="1">
            <a:spLocks noChangeArrowheads="1"/>
          </p:cNvSpPr>
          <p:nvPr/>
        </p:nvSpPr>
        <p:spPr bwMode="auto">
          <a:xfrm>
            <a:off x="4051300" y="5148263"/>
            <a:ext cx="31242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~ +(1 – 2</a:t>
            </a:r>
            <a:r>
              <a:rPr lang="en-US" altLang="zh-CN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i="1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570" name="Text Box 34"/>
          <p:cNvSpPr txBox="1">
            <a:spLocks noChangeArrowheads="1"/>
          </p:cNvSpPr>
          <p:nvPr/>
        </p:nvSpPr>
        <p:spPr bwMode="auto">
          <a:xfrm>
            <a:off x="7373938" y="5148263"/>
            <a:ext cx="35083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altLang="zh-CN" i="1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~ +( 2</a:t>
            </a:r>
            <a:r>
              <a:rPr lang="en-US" altLang="zh-CN" i="1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1)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571" name="Text Box 35"/>
          <p:cNvSpPr txBox="1">
            <a:spLocks noChangeArrowheads="1"/>
          </p:cNvSpPr>
          <p:nvPr/>
        </p:nvSpPr>
        <p:spPr bwMode="auto">
          <a:xfrm>
            <a:off x="3148013" y="5732463"/>
            <a:ext cx="325755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zh-CN" altLang="en-US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i="1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) ~ +(1 – 2</a:t>
            </a:r>
            <a:r>
              <a:rPr lang="en-US" altLang="zh-CN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i="1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5572" name="Text Box 36"/>
          <p:cNvSpPr txBox="1">
            <a:spLocks noChangeArrowheads="1"/>
          </p:cNvSpPr>
          <p:nvPr/>
        </p:nvSpPr>
        <p:spPr bwMode="auto">
          <a:xfrm>
            <a:off x="6743700" y="5732463"/>
            <a:ext cx="350837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i="1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1) ~ +( 2</a:t>
            </a:r>
            <a:r>
              <a:rPr lang="en-US" altLang="zh-CN" i="1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1)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0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5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0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0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0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0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0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0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05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0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0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539" grpId="0" autoUpdateAnimBg="0"/>
      <p:bldP spid="705540" grpId="0" autoUpdateAnimBg="0"/>
      <p:bldP spid="705561" grpId="0" autoUpdateAnimBg="0"/>
      <p:bldP spid="705562" grpId="0" autoUpdateAnimBg="0"/>
      <p:bldP spid="705563" grpId="0" autoUpdateAnimBg="0"/>
      <p:bldP spid="705564" grpId="0" autoUpdateAnimBg="0"/>
      <p:bldP spid="705565" grpId="0" autoUpdateAnimBg="0"/>
      <p:bldP spid="705566" grpId="0" autoUpdateAnimBg="0"/>
      <p:bldP spid="705567" grpId="0" autoUpdateAnimBg="0"/>
      <p:bldP spid="705568" grpId="0" autoUpdateAnimBg="0"/>
      <p:bldP spid="705569" grpId="0" autoUpdateAnimBg="0"/>
      <p:bldP spid="705570" grpId="0" autoUpdateAnimBg="0"/>
      <p:bldP spid="705571" grpId="0" autoUpdateAnimBg="0"/>
      <p:bldP spid="70557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1649413" y="233363"/>
            <a:ext cx="2936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二、浮点表示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706563" name="Group 3"/>
          <p:cNvGrpSpPr/>
          <p:nvPr/>
        </p:nvGrpSpPr>
        <p:grpSpPr bwMode="auto">
          <a:xfrm>
            <a:off x="3181350" y="1020763"/>
            <a:ext cx="5632450" cy="584200"/>
            <a:chOff x="1044" y="643"/>
            <a:chExt cx="3548" cy="368"/>
          </a:xfrm>
        </p:grpSpPr>
        <p:sp>
          <p:nvSpPr>
            <p:cNvPr id="30743" name="Text Box 4"/>
            <p:cNvSpPr txBox="1">
              <a:spLocks noChangeArrowheads="1"/>
            </p:cNvSpPr>
            <p:nvPr/>
          </p:nvSpPr>
          <p:spPr bwMode="auto">
            <a:xfrm>
              <a:off x="1044" y="643"/>
              <a:ext cx="992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2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3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= </a:t>
              </a:r>
              <a:r>
                <a:rPr lang="en-US" altLang="zh-CN" sz="32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</a:rPr>
                <a:t>×</a:t>
              </a:r>
              <a:r>
                <a:rPr lang="en-US" altLang="zh-CN" sz="32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3200" i="1" baseline="30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j</a:t>
              </a:r>
              <a:endParaRPr lang="en-US" altLang="zh-CN" sz="3200" i="1" baseline="30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44" name="Text Box 5"/>
            <p:cNvSpPr txBox="1">
              <a:spLocks noChangeArrowheads="1"/>
            </p:cNvSpPr>
            <p:nvPr/>
          </p:nvSpPr>
          <p:spPr bwMode="auto">
            <a:xfrm>
              <a:off x="2676" y="676"/>
              <a:ext cx="1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浮点数的一般形式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06566" name="Group 6"/>
          <p:cNvGrpSpPr/>
          <p:nvPr/>
        </p:nvGrpSpPr>
        <p:grpSpPr bwMode="auto">
          <a:xfrm>
            <a:off x="3181350" y="1614488"/>
            <a:ext cx="5230813" cy="519112"/>
            <a:chOff x="1044" y="1017"/>
            <a:chExt cx="3295" cy="327"/>
          </a:xfrm>
        </p:grpSpPr>
        <p:sp>
          <p:nvSpPr>
            <p:cNvPr id="30740" name="Text Box 7"/>
            <p:cNvSpPr txBox="1">
              <a:spLocks noChangeArrowheads="1"/>
            </p:cNvSpPr>
            <p:nvPr/>
          </p:nvSpPr>
          <p:spPr bwMode="auto">
            <a:xfrm>
              <a:off x="1044" y="1017"/>
              <a:ext cx="7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latin typeface="Times New Roman" panose="02020603050405020304" pitchFamily="18" charset="0"/>
                </a:rPr>
                <a:t>尾数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0741" name="Text Box 8"/>
            <p:cNvSpPr txBox="1">
              <a:spLocks noChangeArrowheads="1"/>
            </p:cNvSpPr>
            <p:nvPr/>
          </p:nvSpPr>
          <p:spPr bwMode="auto">
            <a:xfrm>
              <a:off x="1915" y="1017"/>
              <a:ext cx="68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j</a:t>
              </a: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latin typeface="Times New Roman" panose="02020603050405020304" pitchFamily="18" charset="0"/>
                </a:rPr>
                <a:t>阶码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0742" name="Text Box 9"/>
            <p:cNvSpPr txBox="1">
              <a:spLocks noChangeArrowheads="1"/>
            </p:cNvSpPr>
            <p:nvPr/>
          </p:nvSpPr>
          <p:spPr bwMode="auto">
            <a:xfrm>
              <a:off x="2736" y="1017"/>
              <a:ext cx="16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latin typeface="Times New Roman" panose="02020603050405020304" pitchFamily="18" charset="0"/>
                </a:rPr>
                <a:t>基数（基值）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06570" name="Text Box 10"/>
          <p:cNvSpPr txBox="1">
            <a:spLocks noChangeArrowheads="1"/>
          </p:cNvSpPr>
          <p:nvPr/>
        </p:nvSpPr>
        <p:spPr bwMode="auto">
          <a:xfrm>
            <a:off x="3200400" y="2286000"/>
            <a:ext cx="6115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计算机中 </a:t>
            </a:r>
            <a:r>
              <a:rPr lang="en-US" altLang="zh-CN" sz="3200" i="1">
                <a:solidFill>
                  <a:schemeClr val="fol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>
                <a:latin typeface="Times New Roman" panose="02020603050405020304" pitchFamily="18" charset="0"/>
              </a:rPr>
              <a:t> </a:t>
            </a:r>
            <a:r>
              <a:rPr lang="zh-CN" altLang="en-US" sz="3200">
                <a:latin typeface="Times New Roman" panose="02020603050405020304" pitchFamily="18" charset="0"/>
              </a:rPr>
              <a:t>取 </a:t>
            </a: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2、4、8、16</a:t>
            </a:r>
            <a:r>
              <a:rPr lang="zh-CN" altLang="en-US" sz="3200">
                <a:latin typeface="Times New Roman" panose="02020603050405020304" pitchFamily="18" charset="0"/>
              </a:rPr>
              <a:t> 等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06571" name="Text Box 11"/>
          <p:cNvSpPr txBox="1">
            <a:spLocks noChangeArrowheads="1"/>
          </p:cNvSpPr>
          <p:nvPr/>
        </p:nvSpPr>
        <p:spPr bwMode="auto">
          <a:xfrm>
            <a:off x="3181350" y="2971800"/>
            <a:ext cx="14890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当 </a:t>
            </a:r>
            <a:r>
              <a:rPr lang="en-US" altLang="zh-CN" sz="3200" i="1">
                <a:solidFill>
                  <a:schemeClr val="fol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3200">
                <a:solidFill>
                  <a:schemeClr val="folHlink"/>
                </a:solidFill>
                <a:latin typeface="Times New Roman" panose="02020603050405020304" pitchFamily="18" charset="0"/>
              </a:rPr>
              <a:t> = 2</a:t>
            </a:r>
            <a:endParaRPr lang="en-US" altLang="zh-CN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72" name="Text Box 12"/>
          <p:cNvSpPr txBox="1">
            <a:spLocks noChangeArrowheads="1"/>
          </p:cNvSpPr>
          <p:nvPr/>
        </p:nvSpPr>
        <p:spPr bwMode="auto">
          <a:xfrm>
            <a:off x="5181600" y="2873375"/>
            <a:ext cx="22590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i="1">
                <a:latin typeface="Times New Roman" panose="02020603050405020304" pitchFamily="18" charset="0"/>
              </a:rPr>
              <a:t>N</a:t>
            </a:r>
            <a:r>
              <a:rPr lang="en-US" altLang="zh-CN" sz="3200">
                <a:latin typeface="Times New Roman" panose="02020603050405020304" pitchFamily="18" charset="0"/>
              </a:rPr>
              <a:t> = 11</a:t>
            </a:r>
            <a:r>
              <a:rPr lang="en-US" altLang="zh-CN" sz="400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3200">
                <a:latin typeface="Times New Roman" panose="02020603050405020304" pitchFamily="18" charset="0"/>
              </a:rPr>
              <a:t>0101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706573" name="Text Box 13"/>
          <p:cNvSpPr txBox="1">
            <a:spLocks noChangeArrowheads="1"/>
          </p:cNvSpPr>
          <p:nvPr/>
        </p:nvSpPr>
        <p:spPr bwMode="auto">
          <a:xfrm>
            <a:off x="5562600" y="3357563"/>
            <a:ext cx="288766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= 0</a:t>
            </a:r>
            <a:r>
              <a:rPr lang="zh-CN" altLang="en-US" sz="400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3200">
                <a:latin typeface="Times New Roman" panose="02020603050405020304" pitchFamily="18" charset="0"/>
              </a:rPr>
              <a:t>110101×2</a:t>
            </a:r>
            <a:r>
              <a:rPr lang="zh-CN" altLang="en-US" sz="3200" baseline="40000">
                <a:latin typeface="Times New Roman" panose="02020603050405020304" pitchFamily="18" charset="0"/>
              </a:rPr>
              <a:t>10 </a:t>
            </a:r>
            <a:endParaRPr lang="zh-CN" altLang="en-US" sz="3200" baseline="40000">
              <a:latin typeface="Times New Roman" panose="02020603050405020304" pitchFamily="18" charset="0"/>
            </a:endParaRPr>
          </a:p>
        </p:txBody>
      </p:sp>
      <p:sp>
        <p:nvSpPr>
          <p:cNvPr id="706574" name="Text Box 14"/>
          <p:cNvSpPr txBox="1">
            <a:spLocks noChangeArrowheads="1"/>
          </p:cNvSpPr>
          <p:nvPr/>
        </p:nvSpPr>
        <p:spPr bwMode="auto">
          <a:xfrm>
            <a:off x="5578475" y="3841750"/>
            <a:ext cx="256222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= 1</a:t>
            </a:r>
            <a:r>
              <a:rPr lang="zh-CN" altLang="en-US" sz="400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3200">
                <a:latin typeface="Times New Roman" panose="02020603050405020304" pitchFamily="18" charset="0"/>
              </a:rPr>
              <a:t>10101×2</a:t>
            </a:r>
            <a:r>
              <a:rPr lang="zh-CN" altLang="en-US" sz="3200" baseline="40000">
                <a:latin typeface="Times New Roman" panose="02020603050405020304" pitchFamily="18" charset="0"/>
              </a:rPr>
              <a:t>1 </a:t>
            </a:r>
            <a:endParaRPr lang="zh-CN" altLang="en-US" sz="3200" baseline="40000">
              <a:latin typeface="Times New Roman" panose="02020603050405020304" pitchFamily="18" charset="0"/>
            </a:endParaRPr>
          </a:p>
        </p:txBody>
      </p:sp>
      <p:sp>
        <p:nvSpPr>
          <p:cNvPr id="706575" name="Text Box 15"/>
          <p:cNvSpPr txBox="1">
            <a:spLocks noChangeArrowheads="1"/>
          </p:cNvSpPr>
          <p:nvPr/>
        </p:nvSpPr>
        <p:spPr bwMode="auto">
          <a:xfrm>
            <a:off x="5578475" y="4325938"/>
            <a:ext cx="277495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= 1101</a:t>
            </a:r>
            <a:r>
              <a:rPr lang="zh-CN" altLang="en-US" sz="400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3200">
                <a:latin typeface="Times New Roman" panose="02020603050405020304" pitchFamily="18" charset="0"/>
              </a:rPr>
              <a:t>01×2</a:t>
            </a:r>
            <a:r>
              <a:rPr lang="zh-CN" altLang="en-US" sz="3200" baseline="40000">
                <a:latin typeface="Times New Roman" panose="02020603050405020304" pitchFamily="18" charset="0"/>
              </a:rPr>
              <a:t>-10</a:t>
            </a:r>
            <a:r>
              <a:rPr lang="zh-CN" altLang="en-US" sz="3200" baseline="30000">
                <a:latin typeface="Times New Roman" panose="02020603050405020304" pitchFamily="18" charset="0"/>
              </a:rPr>
              <a:t> </a:t>
            </a:r>
            <a:endParaRPr lang="zh-CN" altLang="en-US" sz="3200" baseline="30000">
              <a:latin typeface="Times New Roman" panose="02020603050405020304" pitchFamily="18" charset="0"/>
            </a:endParaRPr>
          </a:p>
        </p:txBody>
      </p:sp>
      <p:sp>
        <p:nvSpPr>
          <p:cNvPr id="706576" name="Text Box 16"/>
          <p:cNvSpPr txBox="1">
            <a:spLocks noChangeArrowheads="1"/>
          </p:cNvSpPr>
          <p:nvPr/>
        </p:nvSpPr>
        <p:spPr bwMode="auto">
          <a:xfrm>
            <a:off x="5578475" y="4808538"/>
            <a:ext cx="35528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= 0</a:t>
            </a:r>
            <a:r>
              <a:rPr lang="zh-CN" altLang="en-US" sz="400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3200">
                <a:latin typeface="Times New Roman" panose="02020603050405020304" pitchFamily="18" charset="0"/>
              </a:rPr>
              <a:t>00110101×2</a:t>
            </a:r>
            <a:r>
              <a:rPr lang="zh-CN" altLang="en-US" sz="3200" baseline="40000">
                <a:latin typeface="Times New Roman" panose="02020603050405020304" pitchFamily="18" charset="0"/>
              </a:rPr>
              <a:t>100</a:t>
            </a:r>
            <a:r>
              <a:rPr lang="zh-CN" altLang="en-US" sz="3200" baseline="30000">
                <a:latin typeface="Times New Roman" panose="02020603050405020304" pitchFamily="18" charset="0"/>
              </a:rPr>
              <a:t> </a:t>
            </a:r>
            <a:endParaRPr lang="zh-CN" altLang="en-US" sz="3200" baseline="30000">
              <a:latin typeface="Times New Roman" panose="02020603050405020304" pitchFamily="18" charset="0"/>
            </a:endParaRPr>
          </a:p>
        </p:txBody>
      </p:sp>
      <p:sp>
        <p:nvSpPr>
          <p:cNvPr id="706577" name="Text Box 17"/>
          <p:cNvSpPr txBox="1">
            <a:spLocks noChangeArrowheads="1"/>
          </p:cNvSpPr>
          <p:nvPr/>
        </p:nvSpPr>
        <p:spPr bwMode="auto">
          <a:xfrm>
            <a:off x="2879725" y="5581650"/>
            <a:ext cx="69500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计算机中    </a:t>
            </a:r>
            <a:r>
              <a:rPr lang="en-US" altLang="zh-CN" sz="3200" i="1">
                <a:solidFill>
                  <a:schemeClr val="folHlink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3200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小数、可正可负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78" name="Text Box 18"/>
          <p:cNvSpPr txBox="1">
            <a:spLocks noChangeArrowheads="1"/>
          </p:cNvSpPr>
          <p:nvPr/>
        </p:nvSpPr>
        <p:spPr bwMode="auto">
          <a:xfrm>
            <a:off x="5008563" y="6115050"/>
            <a:ext cx="43640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200" i="1">
                <a:solidFill>
                  <a:schemeClr val="folHlink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3200">
                <a:solidFill>
                  <a:schemeClr val="folHlink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整数、可正可负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79" name="Text Box 19"/>
          <p:cNvSpPr txBox="1">
            <a:spLocks noChangeArrowheads="1"/>
          </p:cNvSpPr>
          <p:nvPr/>
        </p:nvSpPr>
        <p:spPr bwMode="auto">
          <a:xfrm>
            <a:off x="5254625" y="3505200"/>
            <a:ext cx="552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80" name="Text Box 20"/>
          <p:cNvSpPr txBox="1">
            <a:spLocks noChangeArrowheads="1"/>
          </p:cNvSpPr>
          <p:nvPr/>
        </p:nvSpPr>
        <p:spPr bwMode="auto">
          <a:xfrm>
            <a:off x="5273675" y="4967288"/>
            <a:ext cx="552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81" name="Text Box 21"/>
          <p:cNvSpPr txBox="1">
            <a:spLocks noChangeArrowheads="1"/>
          </p:cNvSpPr>
          <p:nvPr/>
        </p:nvSpPr>
        <p:spPr bwMode="auto">
          <a:xfrm>
            <a:off x="8550275" y="3443288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规格化数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06582" name="Group 22"/>
          <p:cNvGrpSpPr/>
          <p:nvPr/>
        </p:nvGrpSpPr>
        <p:grpSpPr bwMode="auto">
          <a:xfrm>
            <a:off x="8145463" y="2879725"/>
            <a:ext cx="2309812" cy="930275"/>
            <a:chOff x="4171" y="1814"/>
            <a:chExt cx="1455" cy="586"/>
          </a:xfrm>
        </p:grpSpPr>
        <p:sp>
          <p:nvSpPr>
            <p:cNvPr id="30738" name="AutoShape 23"/>
            <p:cNvSpPr>
              <a:spLocks noChangeArrowheads="1"/>
            </p:cNvSpPr>
            <p:nvPr/>
          </p:nvSpPr>
          <p:spPr bwMode="auto">
            <a:xfrm>
              <a:off x="4171" y="2160"/>
              <a:ext cx="227" cy="240"/>
            </a:xfrm>
            <a:prstGeom prst="wedgeRoundRectCallout">
              <a:avLst>
                <a:gd name="adj1" fmla="val 145153"/>
                <a:gd name="adj2" fmla="val -105000"/>
                <a:gd name="adj3" fmla="val 16667"/>
              </a:avLst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0739" name="Text Box 24"/>
            <p:cNvSpPr txBox="1">
              <a:spLocks noChangeArrowheads="1"/>
            </p:cNvSpPr>
            <p:nvPr/>
          </p:nvSpPr>
          <p:spPr bwMode="auto">
            <a:xfrm>
              <a:off x="4570" y="1814"/>
              <a:ext cx="10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二进制表示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0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0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0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0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0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0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0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0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0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70" grpId="0" autoUpdateAnimBg="0"/>
      <p:bldP spid="706571" grpId="0" autoUpdateAnimBg="0"/>
      <p:bldP spid="706572" grpId="0" autoUpdateAnimBg="0"/>
      <p:bldP spid="706573" grpId="0" autoUpdateAnimBg="0"/>
      <p:bldP spid="706574" grpId="0" autoUpdateAnimBg="0"/>
      <p:bldP spid="706575" grpId="0" autoUpdateAnimBg="0"/>
      <p:bldP spid="706576" grpId="0" autoUpdateAnimBg="0"/>
      <p:bldP spid="706577" grpId="0" autoUpdateAnimBg="0"/>
      <p:bldP spid="706578" grpId="0" autoUpdateAnimBg="0"/>
      <p:bldP spid="706579" grpId="0" autoUpdateAnimBg="0"/>
      <p:bldP spid="706580" grpId="0" autoUpdateAnimBg="0"/>
      <p:bldP spid="70658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919288" y="476250"/>
            <a:ext cx="4311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1. 浮点数的表示形式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07587" name="Text Box 3"/>
          <p:cNvSpPr txBox="1">
            <a:spLocks noChangeArrowheads="1"/>
          </p:cNvSpPr>
          <p:nvPr/>
        </p:nvSpPr>
        <p:spPr bwMode="auto">
          <a:xfrm>
            <a:off x="3122613" y="4010025"/>
            <a:ext cx="377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>
                <a:latin typeface="Times New Roman" panose="02020603050405020304" pitchFamily="18" charset="0"/>
              </a:rPr>
              <a:t>            </a:t>
            </a:r>
            <a:r>
              <a:rPr lang="zh-CN" altLang="en-US" sz="2400">
                <a:latin typeface="Times New Roman" panose="02020603050405020304" pitchFamily="18" charset="0"/>
              </a:rPr>
              <a:t>代表浮点数的符号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07588" name="Text Box 4"/>
          <p:cNvSpPr txBox="1">
            <a:spLocks noChangeArrowheads="1"/>
          </p:cNvSpPr>
          <p:nvPr/>
        </p:nvSpPr>
        <p:spPr bwMode="auto">
          <a:xfrm>
            <a:off x="3122613" y="4648200"/>
            <a:ext cx="4714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</a:rPr>
              <a:t>             </a:t>
            </a:r>
            <a:r>
              <a:rPr lang="zh-CN" altLang="en-US" sz="2400">
                <a:latin typeface="Times New Roman" panose="02020603050405020304" pitchFamily="18" charset="0"/>
              </a:rPr>
              <a:t>其位数反映浮点数的精度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07589" name="Text Box 5"/>
          <p:cNvSpPr txBox="1">
            <a:spLocks noChangeArrowheads="1"/>
          </p:cNvSpPr>
          <p:nvPr/>
        </p:nvSpPr>
        <p:spPr bwMode="auto">
          <a:xfrm>
            <a:off x="3122613" y="5286375"/>
            <a:ext cx="5318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>
                <a:latin typeface="Times New Roman" panose="02020603050405020304" pitchFamily="18" charset="0"/>
              </a:rPr>
              <a:t>            </a:t>
            </a:r>
            <a:r>
              <a:rPr lang="zh-CN" altLang="en-US" sz="2400">
                <a:latin typeface="Times New Roman" panose="02020603050405020304" pitchFamily="18" charset="0"/>
              </a:rPr>
              <a:t>其位数反映浮点数的表示范围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07590" name="Text Box 6"/>
          <p:cNvSpPr txBox="1">
            <a:spLocks noChangeArrowheads="1"/>
          </p:cNvSpPr>
          <p:nvPr/>
        </p:nvSpPr>
        <p:spPr bwMode="auto">
          <a:xfrm>
            <a:off x="3122613" y="5924550"/>
            <a:ext cx="6097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  </a:t>
            </a:r>
            <a:r>
              <a:rPr lang="zh-CN" altLang="en-US" sz="2400">
                <a:latin typeface="Times New Roman" panose="02020603050405020304" pitchFamily="18" charset="0"/>
              </a:rPr>
              <a:t>和 </a:t>
            </a: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>
                <a:latin typeface="Times New Roman" panose="02020603050405020304" pitchFamily="18" charset="0"/>
              </a:rPr>
              <a:t>    </a:t>
            </a:r>
            <a:r>
              <a:rPr lang="zh-CN" altLang="en-US" sz="2400">
                <a:latin typeface="Times New Roman" panose="02020603050405020304" pitchFamily="18" charset="0"/>
              </a:rPr>
              <a:t>共同表示小数点的实际位置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grpSp>
        <p:nvGrpSpPr>
          <p:cNvPr id="707592" name="Group 8"/>
          <p:cNvGrpSpPr/>
          <p:nvPr/>
        </p:nvGrpSpPr>
        <p:grpSpPr bwMode="auto">
          <a:xfrm>
            <a:off x="3038475" y="1524000"/>
            <a:ext cx="6257925" cy="2157413"/>
            <a:chOff x="954" y="960"/>
            <a:chExt cx="3942" cy="1359"/>
          </a:xfrm>
        </p:grpSpPr>
        <p:grpSp>
          <p:nvGrpSpPr>
            <p:cNvPr id="31752" name="Group 9"/>
            <p:cNvGrpSpPr/>
            <p:nvPr/>
          </p:nvGrpSpPr>
          <p:grpSpPr bwMode="auto">
            <a:xfrm>
              <a:off x="954" y="960"/>
              <a:ext cx="3942" cy="1248"/>
              <a:chOff x="954" y="960"/>
              <a:chExt cx="3942" cy="1248"/>
            </a:xfrm>
          </p:grpSpPr>
          <p:sp>
            <p:nvSpPr>
              <p:cNvPr id="31756" name="Text Box 10"/>
              <p:cNvSpPr txBox="1">
                <a:spLocks noChangeArrowheads="1"/>
              </p:cNvSpPr>
              <p:nvPr/>
            </p:nvSpPr>
            <p:spPr bwMode="auto">
              <a:xfrm>
                <a:off x="998" y="1242"/>
                <a:ext cx="3841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i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j</a:t>
                </a:r>
                <a:r>
                  <a:rPr lang="en-US" altLang="zh-CN" baseline="-25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>
                    <a:latin typeface="Times New Roman" panose="02020603050405020304" pitchFamily="18" charset="0"/>
                  </a:rPr>
                  <a:t>  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 </a:t>
                </a:r>
                <a:r>
                  <a:rPr lang="en-US" altLang="zh-CN" i="1" baseline="-25000">
                    <a:latin typeface="Times New Roman" panose="02020603050405020304" pitchFamily="18" charset="0"/>
                  </a:rPr>
                  <a:t>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        </a:t>
                </a:r>
                <a:r>
                  <a:rPr lang="en-US" altLang="zh-CN">
                    <a:latin typeface="Times New Roman" panose="02020603050405020304" pitchFamily="18" charset="0"/>
                  </a:rPr>
                  <a:t>     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400" i="1" baseline="-25000">
                    <a:latin typeface="Times New Roman" panose="02020603050405020304" pitchFamily="18" charset="0"/>
                  </a:rPr>
                  <a:t>m</a:t>
                </a:r>
                <a:r>
                  <a:rPr lang="en-US" altLang="zh-CN">
                    <a:latin typeface="Times New Roman" panose="02020603050405020304" pitchFamily="18" charset="0"/>
                  </a:rPr>
                  <a:t>   </a:t>
                </a:r>
                <a:r>
                  <a:rPr lang="en-US" altLang="zh-CN" i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aseline="-25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>
                    <a:latin typeface="Times New Roman" panose="02020603050405020304" pitchFamily="18" charset="0"/>
                  </a:rPr>
                  <a:t>  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1 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>
                    <a:latin typeface="Times New Roman" panose="02020603050405020304" pitchFamily="18" charset="0"/>
                  </a:rPr>
                  <a:t>                  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i="1" baseline="-25000">
                    <a:latin typeface="Times New Roman" panose="02020603050405020304" pitchFamily="18" charset="0"/>
                  </a:rPr>
                  <a:t>n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 </a:t>
                </a:r>
                <a:endParaRPr lang="en-US" altLang="zh-CN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57" name="Rectangle 11"/>
              <p:cNvSpPr>
                <a:spLocks noChangeArrowheads="1"/>
              </p:cNvSpPr>
              <p:nvPr/>
            </p:nvSpPr>
            <p:spPr bwMode="auto">
              <a:xfrm>
                <a:off x="960" y="1248"/>
                <a:ext cx="3936" cy="336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31758" name="Line 12"/>
              <p:cNvSpPr>
                <a:spLocks noChangeShapeType="1"/>
              </p:cNvSpPr>
              <p:nvPr/>
            </p:nvSpPr>
            <p:spPr bwMode="auto">
              <a:xfrm>
                <a:off x="1248" y="124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59" name="Line 13"/>
              <p:cNvSpPr>
                <a:spLocks noChangeShapeType="1"/>
              </p:cNvSpPr>
              <p:nvPr/>
            </p:nvSpPr>
            <p:spPr bwMode="auto">
              <a:xfrm>
                <a:off x="2640" y="1248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fol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60" name="Line 14"/>
              <p:cNvSpPr>
                <a:spLocks noChangeShapeType="1"/>
              </p:cNvSpPr>
              <p:nvPr/>
            </p:nvSpPr>
            <p:spPr bwMode="auto">
              <a:xfrm>
                <a:off x="2976" y="124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61" name="Text Box 15"/>
              <p:cNvSpPr txBox="1">
                <a:spLocks noChangeArrowheads="1"/>
              </p:cNvSpPr>
              <p:nvPr/>
            </p:nvSpPr>
            <p:spPr bwMode="auto">
              <a:xfrm>
                <a:off x="1956" y="1200"/>
                <a:ext cx="39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… 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62" name="Text Box 16"/>
              <p:cNvSpPr txBox="1">
                <a:spLocks noChangeArrowheads="1"/>
              </p:cNvSpPr>
              <p:nvPr/>
            </p:nvSpPr>
            <p:spPr bwMode="auto">
              <a:xfrm>
                <a:off x="3744" y="1200"/>
                <a:ext cx="39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… 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63" name="Line 17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64" name="Line 18"/>
              <p:cNvSpPr>
                <a:spLocks noChangeShapeType="1"/>
              </p:cNvSpPr>
              <p:nvPr/>
            </p:nvSpPr>
            <p:spPr bwMode="auto">
              <a:xfrm>
                <a:off x="2640" y="1056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65" name="Line 19"/>
              <p:cNvSpPr>
                <a:spLocks noChangeShapeType="1"/>
              </p:cNvSpPr>
              <p:nvPr/>
            </p:nvSpPr>
            <p:spPr bwMode="auto">
              <a:xfrm>
                <a:off x="4896" y="1056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66" name="Line 20"/>
              <p:cNvSpPr>
                <a:spLocks noChangeShapeType="1"/>
              </p:cNvSpPr>
              <p:nvPr/>
            </p:nvSpPr>
            <p:spPr bwMode="auto">
              <a:xfrm flipH="1">
                <a:off x="960" y="1152"/>
                <a:ext cx="56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67" name="Line 21"/>
              <p:cNvSpPr>
                <a:spLocks noChangeShapeType="1"/>
              </p:cNvSpPr>
              <p:nvPr/>
            </p:nvSpPr>
            <p:spPr bwMode="auto">
              <a:xfrm flipH="1">
                <a:off x="2640" y="1152"/>
                <a:ext cx="72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68" name="Line 22"/>
              <p:cNvSpPr>
                <a:spLocks noChangeShapeType="1"/>
              </p:cNvSpPr>
              <p:nvPr/>
            </p:nvSpPr>
            <p:spPr bwMode="auto">
              <a:xfrm rot="10800000" flipH="1">
                <a:off x="2208" y="1151"/>
                <a:ext cx="431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69" name="Line 23"/>
              <p:cNvSpPr>
                <a:spLocks noChangeShapeType="1"/>
              </p:cNvSpPr>
              <p:nvPr/>
            </p:nvSpPr>
            <p:spPr bwMode="auto">
              <a:xfrm rot="10800000" flipH="1">
                <a:off x="4170" y="1150"/>
                <a:ext cx="72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770" name="Text Box 24"/>
              <p:cNvSpPr txBox="1">
                <a:spLocks noChangeArrowheads="1"/>
              </p:cNvSpPr>
              <p:nvPr/>
            </p:nvSpPr>
            <p:spPr bwMode="auto">
              <a:xfrm>
                <a:off x="1584" y="960"/>
                <a:ext cx="72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阶码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71" name="Text Box 25"/>
              <p:cNvSpPr txBox="1">
                <a:spLocks noChangeArrowheads="1"/>
              </p:cNvSpPr>
              <p:nvPr/>
            </p:nvSpPr>
            <p:spPr bwMode="auto">
              <a:xfrm>
                <a:off x="3456" y="960"/>
                <a:ext cx="72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尾数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72" name="Text Box 26"/>
              <p:cNvSpPr txBox="1">
                <a:spLocks noChangeArrowheads="1"/>
              </p:cNvSpPr>
              <p:nvPr/>
            </p:nvSpPr>
            <p:spPr bwMode="auto">
              <a:xfrm>
                <a:off x="954" y="1642"/>
                <a:ext cx="310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阶符</a:t>
                </a:r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73" name="Text Box 27"/>
              <p:cNvSpPr txBox="1">
                <a:spLocks noChangeArrowheads="1"/>
              </p:cNvSpPr>
              <p:nvPr/>
            </p:nvSpPr>
            <p:spPr bwMode="auto">
              <a:xfrm>
                <a:off x="2666" y="1642"/>
                <a:ext cx="310" cy="5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数符</a:t>
                </a:r>
                <a:endPara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74" name="Text Box 28"/>
              <p:cNvSpPr txBox="1">
                <a:spLocks noChangeArrowheads="1"/>
              </p:cNvSpPr>
              <p:nvPr/>
            </p:nvSpPr>
            <p:spPr bwMode="auto">
              <a:xfrm>
                <a:off x="1656" y="1670"/>
                <a:ext cx="984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阶码的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数值部分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75" name="Text Box 29"/>
              <p:cNvSpPr txBox="1">
                <a:spLocks noChangeArrowheads="1"/>
              </p:cNvSpPr>
              <p:nvPr/>
            </p:nvSpPr>
            <p:spPr bwMode="auto">
              <a:xfrm>
                <a:off x="3237" y="1728"/>
                <a:ext cx="151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尾数的数值部分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76" name="AutoShape 30"/>
              <p:cNvSpPr/>
              <p:nvPr/>
            </p:nvSpPr>
            <p:spPr bwMode="auto">
              <a:xfrm rot="-5400000">
                <a:off x="1896" y="936"/>
                <a:ext cx="96" cy="1392"/>
              </a:xfrm>
              <a:prstGeom prst="leftBrace">
                <a:avLst>
                  <a:gd name="adj1" fmla="val 120833"/>
                  <a:gd name="adj2" fmla="val 50000"/>
                </a:avLst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31777" name="AutoShape 31"/>
              <p:cNvSpPr/>
              <p:nvPr/>
            </p:nvSpPr>
            <p:spPr bwMode="auto">
              <a:xfrm rot="-5400000">
                <a:off x="3888" y="672"/>
                <a:ext cx="96" cy="1920"/>
              </a:xfrm>
              <a:prstGeom prst="leftBrace">
                <a:avLst>
                  <a:gd name="adj1" fmla="val 166667"/>
                  <a:gd name="adj2" fmla="val 50000"/>
                </a:avLst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</p:grpSp>
        <p:sp>
          <p:nvSpPr>
            <p:cNvPr id="31753" name="Line 32"/>
            <p:cNvSpPr>
              <a:spLocks noChangeShapeType="1"/>
            </p:cNvSpPr>
            <p:nvPr/>
          </p:nvSpPr>
          <p:spPr bwMode="auto">
            <a:xfrm flipV="1">
              <a:off x="2632" y="1649"/>
              <a:ext cx="0" cy="43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54" name="Line 33"/>
            <p:cNvSpPr>
              <a:spLocks noChangeShapeType="1"/>
            </p:cNvSpPr>
            <p:nvPr/>
          </p:nvSpPr>
          <p:spPr bwMode="auto">
            <a:xfrm flipV="1">
              <a:off x="2995" y="1649"/>
              <a:ext cx="0" cy="43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755" name="Text Box 34"/>
            <p:cNvSpPr txBox="1">
              <a:spLocks noChangeArrowheads="1"/>
            </p:cNvSpPr>
            <p:nvPr/>
          </p:nvSpPr>
          <p:spPr bwMode="auto">
            <a:xfrm>
              <a:off x="2381" y="2069"/>
              <a:ext cx="92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小数点位置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0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587" grpId="0" autoUpdateAnimBg="0"/>
      <p:bldP spid="707588" grpId="0" autoUpdateAnimBg="0"/>
      <p:bldP spid="707589" grpId="0" autoUpdateAnimBg="0"/>
      <p:bldP spid="70759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1387475" y="77788"/>
            <a:ext cx="4311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2. 浮点数的表示范围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08611" name="Text Box 3"/>
          <p:cNvSpPr txBox="1">
            <a:spLocks noChangeArrowheads="1"/>
          </p:cNvSpPr>
          <p:nvPr/>
        </p:nvSpPr>
        <p:spPr bwMode="auto">
          <a:xfrm>
            <a:off x="2057400" y="3756025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zh-CN" alt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i="1" baseline="60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×( 1</a:t>
            </a:r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4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8612" name="Text Box 4"/>
          <p:cNvSpPr txBox="1">
            <a:spLocks noChangeArrowheads="1"/>
          </p:cNvSpPr>
          <p:nvPr/>
        </p:nvSpPr>
        <p:spPr bwMode="auto">
          <a:xfrm>
            <a:off x="4343400" y="5789613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zh-CN" alt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i="1" baseline="6000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×2</a:t>
            </a:r>
            <a:r>
              <a:rPr lang="en-US" altLang="zh-CN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400" i="1" baseline="4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2400" i="1" baseline="40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8613" name="Text Box 5"/>
          <p:cNvSpPr txBox="1">
            <a:spLocks noChangeArrowheads="1"/>
          </p:cNvSpPr>
          <p:nvPr/>
        </p:nvSpPr>
        <p:spPr bwMode="auto">
          <a:xfrm>
            <a:off x="8001000" y="377825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2</a:t>
            </a:r>
            <a:r>
              <a:rPr lang="zh-CN" altLang="en-US" sz="2400" baseline="30000">
                <a:latin typeface="Times New Roman" panose="02020603050405020304" pitchFamily="18" charset="0"/>
              </a:rPr>
              <a:t>( </a:t>
            </a:r>
            <a:r>
              <a:rPr lang="zh-CN" altLang="en-US" baseline="30000">
                <a:latin typeface="Times New Roman" panose="02020603050405020304" pitchFamily="18" charset="0"/>
              </a:rPr>
              <a:t>2</a:t>
            </a:r>
            <a:r>
              <a:rPr lang="en-US" altLang="zh-CN" sz="2400" i="1" baseline="60000">
                <a:latin typeface="Times New Roman" panose="02020603050405020304" pitchFamily="18" charset="0"/>
              </a:rPr>
              <a:t>m</a:t>
            </a:r>
            <a:r>
              <a:rPr lang="en-US" altLang="zh-CN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400" baseline="30000">
                <a:latin typeface="Times New Roman" panose="02020603050405020304" pitchFamily="18" charset="0"/>
              </a:rPr>
              <a:t>1)</a:t>
            </a:r>
            <a:r>
              <a:rPr lang="en-US" altLang="zh-CN" sz="2400">
                <a:latin typeface="Times New Roman" panose="02020603050405020304" pitchFamily="18" charset="0"/>
              </a:rPr>
              <a:t>×( 1</a:t>
            </a:r>
            <a:r>
              <a:rPr lang="en-US" altLang="zh-CN" sz="1000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–</a:t>
            </a:r>
            <a:r>
              <a:rPr lang="zh-CN" altLang="en-US" sz="1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</a:rPr>
              <a:t>2</a:t>
            </a:r>
            <a:r>
              <a:rPr lang="en-US" altLang="zh-CN" baseline="40000">
                <a:latin typeface="Times New Roman" panose="02020603050405020304" pitchFamily="18" charset="0"/>
              </a:rPr>
              <a:t>–</a:t>
            </a:r>
            <a:r>
              <a:rPr lang="en-US" altLang="zh-CN" sz="2400" i="1" baseline="40000">
                <a:latin typeface="Times New Roman" panose="02020603050405020304" pitchFamily="18" charset="0"/>
              </a:rPr>
              <a:t>n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08614" name="Text Box 6"/>
          <p:cNvSpPr txBox="1">
            <a:spLocks noChangeArrowheads="1"/>
          </p:cNvSpPr>
          <p:nvPr/>
        </p:nvSpPr>
        <p:spPr bwMode="auto">
          <a:xfrm>
            <a:off x="5729288" y="451485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2</a:t>
            </a:r>
            <a:r>
              <a:rPr lang="en-US" altLang="zh-CN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 baseline="30000">
                <a:latin typeface="Times New Roman" panose="02020603050405020304" pitchFamily="18" charset="0"/>
              </a:rPr>
              <a:t>( </a:t>
            </a:r>
            <a:r>
              <a:rPr lang="zh-CN" altLang="en-US" baseline="30000">
                <a:latin typeface="Times New Roman" panose="02020603050405020304" pitchFamily="18" charset="0"/>
              </a:rPr>
              <a:t>2</a:t>
            </a:r>
            <a:r>
              <a:rPr lang="en-US" altLang="zh-CN" sz="2400" i="1" baseline="60000">
                <a:latin typeface="Times New Roman" panose="02020603050405020304" pitchFamily="18" charset="0"/>
              </a:rPr>
              <a:t>m</a:t>
            </a:r>
            <a:r>
              <a:rPr lang="en-US" altLang="zh-CN" baseline="30000">
                <a:latin typeface="Times New Roman" panose="02020603050405020304" pitchFamily="18" charset="0"/>
              </a:rPr>
              <a:t>–</a:t>
            </a:r>
            <a:r>
              <a:rPr lang="en-US" altLang="zh-CN" sz="2400" baseline="30000">
                <a:latin typeface="Times New Roman" panose="02020603050405020304" pitchFamily="18" charset="0"/>
              </a:rPr>
              <a:t>1)</a:t>
            </a:r>
            <a:r>
              <a:rPr lang="en-US" altLang="zh-CN" sz="2400">
                <a:latin typeface="Times New Roman" panose="02020603050405020304" pitchFamily="18" charset="0"/>
              </a:rPr>
              <a:t>×2</a:t>
            </a:r>
            <a:r>
              <a:rPr lang="en-US" altLang="zh-CN" baseline="40000">
                <a:latin typeface="Times New Roman" panose="02020603050405020304" pitchFamily="18" charset="0"/>
              </a:rPr>
              <a:t>–</a:t>
            </a:r>
            <a:r>
              <a:rPr lang="en-US" altLang="zh-CN" sz="2400" i="1" baseline="40000">
                <a:latin typeface="Times New Roman" panose="02020603050405020304" pitchFamily="18" charset="0"/>
              </a:rPr>
              <a:t>n</a:t>
            </a:r>
            <a:endParaRPr lang="en-US" altLang="zh-CN" sz="2400" i="1" baseline="40000">
              <a:latin typeface="Times New Roman" panose="02020603050405020304" pitchFamily="18" charset="0"/>
            </a:endParaRPr>
          </a:p>
        </p:txBody>
      </p:sp>
      <p:grpSp>
        <p:nvGrpSpPr>
          <p:cNvPr id="708615" name="Group 7"/>
          <p:cNvGrpSpPr/>
          <p:nvPr/>
        </p:nvGrpSpPr>
        <p:grpSpPr bwMode="auto">
          <a:xfrm>
            <a:off x="2667000" y="2971800"/>
            <a:ext cx="1411288" cy="838200"/>
            <a:chOff x="720" y="1661"/>
            <a:chExt cx="769" cy="528"/>
          </a:xfrm>
        </p:grpSpPr>
        <p:sp>
          <p:nvSpPr>
            <p:cNvPr id="32812" name="Text Box 8"/>
            <p:cNvSpPr txBox="1">
              <a:spLocks noChangeArrowheads="1"/>
            </p:cNvSpPr>
            <p:nvPr/>
          </p:nvSpPr>
          <p:spPr bwMode="auto">
            <a:xfrm>
              <a:off x="720" y="1901"/>
              <a:ext cx="7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最小负数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3" name="Line 9"/>
            <p:cNvSpPr>
              <a:spLocks noChangeShapeType="1"/>
            </p:cNvSpPr>
            <p:nvPr/>
          </p:nvSpPr>
          <p:spPr bwMode="auto">
            <a:xfrm flipV="1">
              <a:off x="1104" y="1661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08618" name="Group 10"/>
          <p:cNvGrpSpPr/>
          <p:nvPr/>
        </p:nvGrpSpPr>
        <p:grpSpPr bwMode="auto">
          <a:xfrm>
            <a:off x="4686300" y="2971800"/>
            <a:ext cx="1416050" cy="2879725"/>
            <a:chOff x="1992" y="1872"/>
            <a:chExt cx="892" cy="1814"/>
          </a:xfrm>
        </p:grpSpPr>
        <p:sp>
          <p:nvSpPr>
            <p:cNvPr id="32810" name="Text Box 11"/>
            <p:cNvSpPr txBox="1">
              <a:spLocks noChangeArrowheads="1"/>
            </p:cNvSpPr>
            <p:nvPr/>
          </p:nvSpPr>
          <p:spPr bwMode="auto">
            <a:xfrm>
              <a:off x="1992" y="3398"/>
              <a:ext cx="8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最大负数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11" name="Freeform 12"/>
            <p:cNvSpPr/>
            <p:nvPr/>
          </p:nvSpPr>
          <p:spPr bwMode="auto">
            <a:xfrm>
              <a:off x="2448" y="1872"/>
              <a:ext cx="1" cy="1524"/>
            </a:xfrm>
            <a:custGeom>
              <a:avLst/>
              <a:gdLst>
                <a:gd name="T0" fmla="*/ 0 w 1"/>
                <a:gd name="T1" fmla="*/ 1524 h 1524"/>
                <a:gd name="T2" fmla="*/ 1 w 1"/>
                <a:gd name="T3" fmla="*/ 0 h 15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524">
                  <a:moveTo>
                    <a:pt x="0" y="1524"/>
                  </a:moveTo>
                  <a:lnTo>
                    <a:pt x="1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08621" name="Group 13"/>
          <p:cNvGrpSpPr/>
          <p:nvPr/>
        </p:nvGrpSpPr>
        <p:grpSpPr bwMode="auto">
          <a:xfrm>
            <a:off x="8272463" y="2971800"/>
            <a:ext cx="1568450" cy="838200"/>
            <a:chOff x="4296" y="1661"/>
            <a:chExt cx="888" cy="528"/>
          </a:xfrm>
        </p:grpSpPr>
        <p:sp>
          <p:nvSpPr>
            <p:cNvPr id="32808" name="Text Box 14"/>
            <p:cNvSpPr txBox="1">
              <a:spLocks noChangeArrowheads="1"/>
            </p:cNvSpPr>
            <p:nvPr/>
          </p:nvSpPr>
          <p:spPr bwMode="auto">
            <a:xfrm>
              <a:off x="4296" y="1901"/>
              <a:ext cx="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最大正数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09" name="Line 15"/>
            <p:cNvSpPr>
              <a:spLocks noChangeShapeType="1"/>
            </p:cNvSpPr>
            <p:nvPr/>
          </p:nvSpPr>
          <p:spPr bwMode="auto">
            <a:xfrm flipV="1">
              <a:off x="4608" y="1661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08624" name="Group 16"/>
          <p:cNvGrpSpPr/>
          <p:nvPr/>
        </p:nvGrpSpPr>
        <p:grpSpPr bwMode="auto">
          <a:xfrm>
            <a:off x="5943600" y="2971800"/>
            <a:ext cx="1409700" cy="1524000"/>
            <a:chOff x="2784" y="1661"/>
            <a:chExt cx="888" cy="960"/>
          </a:xfrm>
        </p:grpSpPr>
        <p:sp>
          <p:nvSpPr>
            <p:cNvPr id="32806" name="Text Box 17"/>
            <p:cNvSpPr txBox="1">
              <a:spLocks noChangeArrowheads="1"/>
            </p:cNvSpPr>
            <p:nvPr/>
          </p:nvSpPr>
          <p:spPr bwMode="auto">
            <a:xfrm>
              <a:off x="2784" y="2333"/>
              <a:ext cx="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最小正数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07" name="Freeform 18"/>
            <p:cNvSpPr/>
            <p:nvPr/>
          </p:nvSpPr>
          <p:spPr bwMode="auto">
            <a:xfrm>
              <a:off x="3264" y="1661"/>
              <a:ext cx="1" cy="687"/>
            </a:xfrm>
            <a:custGeom>
              <a:avLst/>
              <a:gdLst>
                <a:gd name="T0" fmla="*/ 0 w 1"/>
                <a:gd name="T1" fmla="*/ 687 h 687"/>
                <a:gd name="T2" fmla="*/ 1 w 1"/>
                <a:gd name="T3" fmla="*/ 0 h 68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87">
                  <a:moveTo>
                    <a:pt x="0" y="687"/>
                  </a:moveTo>
                  <a:lnTo>
                    <a:pt x="1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08627" name="Group 19"/>
          <p:cNvGrpSpPr/>
          <p:nvPr/>
        </p:nvGrpSpPr>
        <p:grpSpPr bwMode="auto">
          <a:xfrm>
            <a:off x="2133600" y="1758950"/>
            <a:ext cx="7848600" cy="1822450"/>
            <a:chOff x="384" y="897"/>
            <a:chExt cx="4944" cy="1148"/>
          </a:xfrm>
        </p:grpSpPr>
        <p:grpSp>
          <p:nvGrpSpPr>
            <p:cNvPr id="32788" name="Group 20"/>
            <p:cNvGrpSpPr/>
            <p:nvPr/>
          </p:nvGrpSpPr>
          <p:grpSpPr bwMode="auto">
            <a:xfrm>
              <a:off x="384" y="1229"/>
              <a:ext cx="4944" cy="525"/>
              <a:chOff x="384" y="1229"/>
              <a:chExt cx="4944" cy="525"/>
            </a:xfrm>
          </p:grpSpPr>
          <p:grpSp>
            <p:nvGrpSpPr>
              <p:cNvPr id="32799" name="Group 21"/>
              <p:cNvGrpSpPr/>
              <p:nvPr/>
            </p:nvGrpSpPr>
            <p:grpSpPr bwMode="auto">
              <a:xfrm>
                <a:off x="384" y="1229"/>
                <a:ext cx="4944" cy="525"/>
                <a:chOff x="384" y="1229"/>
                <a:chExt cx="4944" cy="525"/>
              </a:xfrm>
            </p:grpSpPr>
            <p:grpSp>
              <p:nvGrpSpPr>
                <p:cNvPr id="32801" name="Group 22"/>
                <p:cNvGrpSpPr/>
                <p:nvPr/>
              </p:nvGrpSpPr>
              <p:grpSpPr bwMode="auto">
                <a:xfrm>
                  <a:off x="1104" y="1229"/>
                  <a:ext cx="1752" cy="525"/>
                  <a:chOff x="1104" y="1229"/>
                  <a:chExt cx="1752" cy="525"/>
                </a:xfrm>
              </p:grpSpPr>
              <p:sp>
                <p:nvSpPr>
                  <p:cNvPr id="32804" name="Line 2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6" y="1661"/>
                    <a:ext cx="0" cy="93"/>
                  </a:xfrm>
                  <a:prstGeom prst="line">
                    <a:avLst/>
                  </a:prstGeom>
                  <a:noFill/>
                  <a:ln w="28575">
                    <a:solidFill>
                      <a:schemeClr val="folHlink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05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104" y="1229"/>
                    <a:ext cx="0" cy="432"/>
                  </a:xfrm>
                  <a:prstGeom prst="line">
                    <a:avLst/>
                  </a:prstGeom>
                  <a:noFill/>
                  <a:ln w="38100">
                    <a:solidFill>
                      <a:schemeClr val="folHlink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802" name="Line 25"/>
                <p:cNvSpPr>
                  <a:spLocks noChangeShapeType="1"/>
                </p:cNvSpPr>
                <p:nvPr/>
              </p:nvSpPr>
              <p:spPr bwMode="auto">
                <a:xfrm>
                  <a:off x="3264" y="1229"/>
                  <a:ext cx="0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32803" name="Line 26"/>
                <p:cNvSpPr>
                  <a:spLocks noChangeShapeType="1"/>
                </p:cNvSpPr>
                <p:nvPr/>
              </p:nvSpPr>
              <p:spPr bwMode="auto">
                <a:xfrm>
                  <a:off x="384" y="1661"/>
                  <a:ext cx="49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32800" name="Line 27"/>
              <p:cNvSpPr>
                <a:spLocks noChangeShapeType="1"/>
              </p:cNvSpPr>
              <p:nvPr/>
            </p:nvSpPr>
            <p:spPr bwMode="auto">
              <a:xfrm>
                <a:off x="4608" y="1229"/>
                <a:ext cx="0" cy="432"/>
              </a:xfrm>
              <a:prstGeom prst="line">
                <a:avLst/>
              </a:prstGeom>
              <a:noFill/>
              <a:ln w="38100">
                <a:solidFill>
                  <a:schemeClr val="folHlink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32789" name="Group 28"/>
            <p:cNvGrpSpPr/>
            <p:nvPr/>
          </p:nvGrpSpPr>
          <p:grpSpPr bwMode="auto">
            <a:xfrm>
              <a:off x="384" y="897"/>
              <a:ext cx="4944" cy="1148"/>
              <a:chOff x="384" y="897"/>
              <a:chExt cx="4944" cy="1148"/>
            </a:xfrm>
          </p:grpSpPr>
          <p:sp>
            <p:nvSpPr>
              <p:cNvPr id="32790" name="Rectangle 29"/>
              <p:cNvSpPr>
                <a:spLocks noChangeArrowheads="1"/>
              </p:cNvSpPr>
              <p:nvPr/>
            </p:nvSpPr>
            <p:spPr bwMode="auto">
              <a:xfrm>
                <a:off x="384" y="1229"/>
                <a:ext cx="720" cy="432"/>
              </a:xfrm>
              <a:prstGeom prst="rect">
                <a:avLst/>
              </a:prstGeom>
              <a:solidFill>
                <a:schemeClr val="folHlink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320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1" name="Line 30"/>
              <p:cNvSpPr>
                <a:spLocks noChangeShapeType="1"/>
              </p:cNvSpPr>
              <p:nvPr/>
            </p:nvSpPr>
            <p:spPr bwMode="auto">
              <a:xfrm>
                <a:off x="2448" y="1229"/>
                <a:ext cx="0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792" name="Rectangle 31"/>
              <p:cNvSpPr>
                <a:spLocks noChangeArrowheads="1"/>
              </p:cNvSpPr>
              <p:nvPr/>
            </p:nvSpPr>
            <p:spPr bwMode="auto">
              <a:xfrm>
                <a:off x="4608" y="1229"/>
                <a:ext cx="720" cy="432"/>
              </a:xfrm>
              <a:prstGeom prst="rect">
                <a:avLst/>
              </a:prstGeom>
              <a:solidFill>
                <a:schemeClr val="folHlink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320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3" name="Text Box 32"/>
              <p:cNvSpPr txBox="1">
                <a:spLocks noChangeArrowheads="1"/>
              </p:cNvSpPr>
              <p:nvPr/>
            </p:nvSpPr>
            <p:spPr bwMode="auto">
              <a:xfrm>
                <a:off x="1321" y="1310"/>
                <a:ext cx="791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负数区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4" name="Text Box 33"/>
              <p:cNvSpPr txBox="1">
                <a:spLocks noChangeArrowheads="1"/>
              </p:cNvSpPr>
              <p:nvPr/>
            </p:nvSpPr>
            <p:spPr bwMode="auto">
              <a:xfrm>
                <a:off x="3481" y="1310"/>
                <a:ext cx="791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正数区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5" name="Text Box 34"/>
              <p:cNvSpPr txBox="1">
                <a:spLocks noChangeArrowheads="1"/>
              </p:cNvSpPr>
              <p:nvPr/>
            </p:nvSpPr>
            <p:spPr bwMode="auto">
              <a:xfrm>
                <a:off x="2538" y="1310"/>
                <a:ext cx="56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下溢</a:t>
                </a:r>
                <a:endPara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6" name="Text Box 35"/>
              <p:cNvSpPr txBox="1">
                <a:spLocks noChangeArrowheads="1"/>
              </p:cNvSpPr>
              <p:nvPr/>
            </p:nvSpPr>
            <p:spPr bwMode="auto">
              <a:xfrm>
                <a:off x="2734" y="1680"/>
                <a:ext cx="24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32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zh-CN" altLang="en-US" sz="32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7" name="Text Box 36"/>
              <p:cNvSpPr txBox="1">
                <a:spLocks noChangeArrowheads="1"/>
              </p:cNvSpPr>
              <p:nvPr/>
            </p:nvSpPr>
            <p:spPr bwMode="auto">
              <a:xfrm>
                <a:off x="432" y="897"/>
                <a:ext cx="56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上溢</a:t>
                </a:r>
                <a:endPara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98" name="Text Box 37"/>
              <p:cNvSpPr txBox="1">
                <a:spLocks noChangeArrowheads="1"/>
              </p:cNvSpPr>
              <p:nvPr/>
            </p:nvSpPr>
            <p:spPr bwMode="auto">
              <a:xfrm>
                <a:off x="4608" y="897"/>
                <a:ext cx="56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上溢</a:t>
                </a:r>
                <a:endPara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08646" name="Text Box 38"/>
          <p:cNvSpPr txBox="1">
            <a:spLocks noChangeArrowheads="1"/>
          </p:cNvSpPr>
          <p:nvPr/>
        </p:nvSpPr>
        <p:spPr bwMode="auto">
          <a:xfrm>
            <a:off x="2438400" y="4221163"/>
            <a:ext cx="2590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–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aseline="50000">
                <a:solidFill>
                  <a:schemeClr val="folHlink"/>
                </a:solidFill>
                <a:latin typeface="Times New Roman" panose="02020603050405020304" pitchFamily="18" charset="0"/>
              </a:rPr>
              <a:t>15</a:t>
            </a:r>
            <a:r>
              <a:rPr lang="zh-CN" altLang="en-US" sz="3200" baseline="30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×( 1</a:t>
            </a:r>
            <a:r>
              <a:rPr lang="en-US" altLang="zh-CN" sz="1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–</a:t>
            </a:r>
            <a:r>
              <a:rPr lang="zh-CN" altLang="en-US" sz="9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zh-CN" baseline="50000">
                <a:solidFill>
                  <a:schemeClr val="folHlink"/>
                </a:solidFill>
                <a:latin typeface="Times New Roman" panose="02020603050405020304" pitchFamily="18" charset="0"/>
              </a:rPr>
              <a:t>-</a:t>
            </a:r>
            <a:r>
              <a:rPr lang="zh-CN" altLang="zh-CN" sz="2400" baseline="50000">
                <a:solidFill>
                  <a:schemeClr val="folHlink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3200" baseline="30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en-US" altLang="zh-CN" sz="3200" baseline="30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8647" name="Text Box 39"/>
          <p:cNvSpPr txBox="1">
            <a:spLocks noChangeArrowheads="1"/>
          </p:cNvSpPr>
          <p:nvPr/>
        </p:nvSpPr>
        <p:spPr bwMode="auto">
          <a:xfrm>
            <a:off x="4767263" y="6202363"/>
            <a:ext cx="2209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–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200" baseline="40000">
                <a:solidFill>
                  <a:schemeClr val="folHlink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2400" baseline="50000">
                <a:solidFill>
                  <a:schemeClr val="folHlink"/>
                </a:solidFill>
                <a:latin typeface="Times New Roman" panose="02020603050405020304" pitchFamily="18" charset="0"/>
              </a:rPr>
              <a:t>15</a:t>
            </a:r>
            <a:r>
              <a:rPr lang="zh-CN" altLang="en-US" sz="3200" baseline="30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×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200" baseline="40000">
                <a:solidFill>
                  <a:schemeClr val="folHlink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2400" baseline="50000">
                <a:solidFill>
                  <a:schemeClr val="folHlink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sz="3200" baseline="30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 sz="3200" baseline="30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8649" name="Text Box 41"/>
          <p:cNvSpPr txBox="1">
            <a:spLocks noChangeArrowheads="1"/>
          </p:cNvSpPr>
          <p:nvPr/>
        </p:nvSpPr>
        <p:spPr bwMode="auto">
          <a:xfrm>
            <a:off x="8418513" y="4221163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aseline="50000">
                <a:solidFill>
                  <a:schemeClr val="folHlink"/>
                </a:solidFill>
                <a:latin typeface="Times New Roman" panose="02020603050405020304" pitchFamily="18" charset="0"/>
              </a:rPr>
              <a:t>15</a:t>
            </a:r>
            <a:r>
              <a:rPr lang="zh-CN" altLang="en-US" sz="3200" baseline="30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×( 1</a:t>
            </a:r>
            <a:r>
              <a:rPr lang="en-US" altLang="zh-CN" sz="1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–</a:t>
            </a:r>
            <a:r>
              <a:rPr lang="zh-CN" altLang="en-US" sz="1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200" baseline="40000">
                <a:solidFill>
                  <a:schemeClr val="folHlink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2400" baseline="50000">
                <a:solidFill>
                  <a:schemeClr val="folHlink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3200" baseline="30000">
                <a:latin typeface="Times New Roman" panose="02020603050405020304" pitchFamily="18" charset="0"/>
              </a:rPr>
              <a:t> </a:t>
            </a:r>
            <a:endParaRPr lang="zh-CN" altLang="en-US" sz="3200" baseline="30000">
              <a:latin typeface="Times New Roman" panose="02020603050405020304" pitchFamily="18" charset="0"/>
            </a:endParaRPr>
          </a:p>
        </p:txBody>
      </p:sp>
      <p:grpSp>
        <p:nvGrpSpPr>
          <p:cNvPr id="708650" name="Group 42"/>
          <p:cNvGrpSpPr/>
          <p:nvPr/>
        </p:nvGrpSpPr>
        <p:grpSpPr bwMode="auto">
          <a:xfrm>
            <a:off x="7924800" y="5364163"/>
            <a:ext cx="3124200" cy="990600"/>
            <a:chOff x="144" y="3024"/>
            <a:chExt cx="1968" cy="624"/>
          </a:xfrm>
        </p:grpSpPr>
        <p:sp>
          <p:nvSpPr>
            <p:cNvPr id="32786" name="Text Box 43"/>
            <p:cNvSpPr txBox="1">
              <a:spLocks noChangeArrowheads="1"/>
            </p:cNvSpPr>
            <p:nvPr/>
          </p:nvSpPr>
          <p:spPr bwMode="auto">
            <a:xfrm>
              <a:off x="144" y="3024"/>
              <a:ext cx="16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设  </a:t>
              </a: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= 4</a:t>
              </a:r>
              <a:endParaRPr lang="en-US" altLang="zh-CN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87" name="Text Box 44"/>
            <p:cNvSpPr txBox="1">
              <a:spLocks noChangeArrowheads="1"/>
            </p:cNvSpPr>
            <p:nvPr/>
          </p:nvSpPr>
          <p:spPr bwMode="auto">
            <a:xfrm>
              <a:off x="480" y="3321"/>
              <a:ext cx="16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=10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08653" name="Text Box 45"/>
          <p:cNvSpPr txBox="1">
            <a:spLocks noChangeArrowheads="1"/>
          </p:cNvSpPr>
          <p:nvPr/>
        </p:nvSpPr>
        <p:spPr bwMode="auto">
          <a:xfrm>
            <a:off x="3048000" y="1062038"/>
            <a:ext cx="6781800" cy="87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20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上溢   阶码 &gt; 最大阶码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下溢   阶码 &lt; 最小阶码   按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机器零 </a:t>
            </a:r>
            <a:r>
              <a:rPr lang="zh-CN" altLang="en-US">
                <a:latin typeface="Times New Roman" panose="02020603050405020304" pitchFamily="18" charset="0"/>
              </a:rPr>
              <a:t>处理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08656" name="Text Box 48"/>
          <p:cNvSpPr txBox="1">
            <a:spLocks noChangeArrowheads="1"/>
          </p:cNvSpPr>
          <p:nvPr/>
        </p:nvSpPr>
        <p:spPr bwMode="auto">
          <a:xfrm>
            <a:off x="6165850" y="4941888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200" baseline="40000">
                <a:solidFill>
                  <a:schemeClr val="folHlink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2400" baseline="50000">
                <a:solidFill>
                  <a:schemeClr val="folHlink"/>
                </a:solidFill>
                <a:latin typeface="Times New Roman" panose="02020603050405020304" pitchFamily="18" charset="0"/>
              </a:rPr>
              <a:t>15</a:t>
            </a:r>
            <a:r>
              <a:rPr lang="zh-CN" altLang="en-US" sz="3200" baseline="30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×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3200" baseline="40000">
                <a:solidFill>
                  <a:schemeClr val="folHlink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2400" baseline="50000">
                <a:solidFill>
                  <a:schemeClr val="folHlink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sz="3200" baseline="30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 sz="3200" baseline="30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0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0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0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70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70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708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70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70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70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70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70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70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70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0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11" grpId="0" autoUpdateAnimBg="0"/>
      <p:bldP spid="708612" grpId="0" autoUpdateAnimBg="0"/>
      <p:bldP spid="708613" grpId="0" autoUpdateAnimBg="0"/>
      <p:bldP spid="708614" grpId="0" autoUpdateAnimBg="0"/>
      <p:bldP spid="708646" grpId="0" autoUpdateAnimBg="0"/>
      <p:bldP spid="708647" grpId="0" autoUpdateAnimBg="0"/>
      <p:bldP spid="708649" grpId="0" autoUpdateAnimBg="0"/>
      <p:bldP spid="708653" grpId="0" autoUpdateAnimBg="0"/>
      <p:bldP spid="70865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1362075" y="307975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练习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9635" name="Text Box 3"/>
          <p:cNvSpPr txBox="1">
            <a:spLocks noChangeArrowheads="1"/>
          </p:cNvSpPr>
          <p:nvPr/>
        </p:nvSpPr>
        <p:spPr bwMode="auto">
          <a:xfrm>
            <a:off x="2057400" y="1036638"/>
            <a:ext cx="8610600" cy="163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       </a:t>
            </a:r>
            <a:r>
              <a:rPr lang="zh-CN" altLang="en-US">
                <a:latin typeface="Times New Roman" panose="02020603050405020304" pitchFamily="18" charset="0"/>
              </a:rPr>
              <a:t>设机器数字长为 24 位，欲表示±3万的十进制数，试问在保证数的最大精度的前提下，除阶符、数符各 取1 位外，阶码、尾数各取几位？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09636" name="Text Box 4"/>
          <p:cNvSpPr txBox="1">
            <a:spLocks noChangeArrowheads="1"/>
          </p:cNvSpPr>
          <p:nvPr/>
        </p:nvSpPr>
        <p:spPr bwMode="auto">
          <a:xfrm>
            <a:off x="2819400" y="5943600"/>
            <a:ext cx="670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满足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最大精度 </a:t>
            </a:r>
            <a:r>
              <a:rPr lang="zh-CN" altLang="en-US">
                <a:latin typeface="Times New Roman" panose="02020603050405020304" pitchFamily="18" charset="0"/>
              </a:rPr>
              <a:t>可取</a:t>
            </a:r>
            <a:r>
              <a:rPr lang="zh-CN" altLang="en-US" sz="3200">
                <a:latin typeface="Times New Roman" panose="02020603050405020304" pitchFamily="18" charset="0"/>
              </a:rPr>
              <a:t> </a:t>
            </a:r>
            <a:r>
              <a:rPr lang="en-US" altLang="zh-CN" sz="3200" i="1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3200">
                <a:solidFill>
                  <a:schemeClr val="folHlink"/>
                </a:solidFill>
                <a:latin typeface="Times New Roman" panose="02020603050405020304" pitchFamily="18" charset="0"/>
              </a:rPr>
              <a:t> = 4，</a:t>
            </a:r>
            <a:r>
              <a:rPr lang="en-US" altLang="zh-CN" sz="3200" i="1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200">
                <a:solidFill>
                  <a:schemeClr val="folHlink"/>
                </a:solidFill>
                <a:latin typeface="Times New Roman" panose="02020603050405020304" pitchFamily="18" charset="0"/>
              </a:rPr>
              <a:t> = 18</a:t>
            </a:r>
            <a:endParaRPr lang="en-US" altLang="zh-CN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9637" name="Text Box 5"/>
          <p:cNvSpPr txBox="1">
            <a:spLocks noChangeArrowheads="1"/>
          </p:cNvSpPr>
          <p:nvPr/>
        </p:nvSpPr>
        <p:spPr bwMode="auto">
          <a:xfrm>
            <a:off x="2133600" y="2743200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解：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709657" name="Group 25"/>
          <p:cNvGrpSpPr/>
          <p:nvPr/>
        </p:nvGrpSpPr>
        <p:grpSpPr bwMode="auto">
          <a:xfrm>
            <a:off x="3743325" y="4191000"/>
            <a:ext cx="3100388" cy="1676400"/>
            <a:chOff x="1398" y="2640"/>
            <a:chExt cx="1953" cy="1056"/>
          </a:xfrm>
        </p:grpSpPr>
        <p:sp>
          <p:nvSpPr>
            <p:cNvPr id="33812" name="Text Box 11"/>
            <p:cNvSpPr txBox="1">
              <a:spLocks noChangeArrowheads="1"/>
            </p:cNvSpPr>
            <p:nvPr/>
          </p:nvSpPr>
          <p:spPr bwMode="auto">
            <a:xfrm>
              <a:off x="2979" y="3283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…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grpSp>
          <p:nvGrpSpPr>
            <p:cNvPr id="33813" name="Group 24"/>
            <p:cNvGrpSpPr/>
            <p:nvPr/>
          </p:nvGrpSpPr>
          <p:grpSpPr bwMode="auto">
            <a:xfrm>
              <a:off x="1398" y="2640"/>
              <a:ext cx="1800" cy="1056"/>
              <a:chOff x="1398" y="2640"/>
              <a:chExt cx="1800" cy="1056"/>
            </a:xfrm>
          </p:grpSpPr>
          <p:sp>
            <p:nvSpPr>
              <p:cNvPr id="33814" name="Text Box 13"/>
              <p:cNvSpPr txBox="1">
                <a:spLocks noChangeArrowheads="1"/>
              </p:cNvSpPr>
              <p:nvPr/>
            </p:nvSpPr>
            <p:spPr bwMode="auto">
              <a:xfrm>
                <a:off x="1398" y="3331"/>
                <a:ext cx="180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3200" i="1"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3200">
                    <a:latin typeface="Times New Roman" panose="02020603050405020304" pitchFamily="18" charset="0"/>
                  </a:rPr>
                  <a:t> = 4</a:t>
                </a:r>
                <a:r>
                  <a:rPr lang="zh-CN" altLang="en-US" sz="320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3200">
                    <a:latin typeface="Times New Roman" panose="02020603050405020304" pitchFamily="18" charset="0"/>
                  </a:rPr>
                  <a:t>5</a:t>
                </a:r>
                <a:r>
                  <a:rPr lang="zh-CN" altLang="en-US" sz="3200">
                    <a:latin typeface="Times New Roman" panose="02020603050405020304" pitchFamily="18" charset="0"/>
                  </a:rPr>
                  <a:t>，</a:t>
                </a:r>
                <a:r>
                  <a:rPr lang="en-US" altLang="zh-CN" sz="3200">
                    <a:latin typeface="Times New Roman" panose="02020603050405020304" pitchFamily="18" charset="0"/>
                  </a:rPr>
                  <a:t>6</a:t>
                </a:r>
                <a:r>
                  <a:rPr lang="zh-CN" altLang="en-US" sz="3200">
                    <a:latin typeface="Times New Roman" panose="02020603050405020304" pitchFamily="18" charset="0"/>
                  </a:rPr>
                  <a:t>，</a:t>
                </a:r>
                <a:endParaRPr lang="zh-CN" altLang="en-US" sz="3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15" name="AutoShape 14"/>
              <p:cNvSpPr>
                <a:spLocks noChangeArrowheads="1"/>
              </p:cNvSpPr>
              <p:nvPr/>
            </p:nvSpPr>
            <p:spPr bwMode="auto">
              <a:xfrm>
                <a:off x="1455" y="2640"/>
                <a:ext cx="240" cy="240"/>
              </a:xfrm>
              <a:prstGeom prst="wedgeRoundRectCallout">
                <a:avLst>
                  <a:gd name="adj1" fmla="val 11250"/>
                  <a:gd name="adj2" fmla="val 280000"/>
                  <a:gd name="adj3" fmla="val 16667"/>
                </a:avLst>
              </a:prstGeom>
              <a:noFill/>
              <a:ln w="28575">
                <a:solidFill>
                  <a:schemeClr val="folHlink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09647" name="Group 15"/>
          <p:cNvGrpSpPr/>
          <p:nvPr/>
        </p:nvGrpSpPr>
        <p:grpSpPr bwMode="auto">
          <a:xfrm>
            <a:off x="2362200" y="3459163"/>
            <a:ext cx="7772400" cy="579437"/>
            <a:chOff x="528" y="2179"/>
            <a:chExt cx="4896" cy="365"/>
          </a:xfrm>
        </p:grpSpPr>
        <p:sp>
          <p:nvSpPr>
            <p:cNvPr id="33810" name="Text Box 16"/>
            <p:cNvSpPr txBox="1">
              <a:spLocks noChangeArrowheads="1"/>
            </p:cNvSpPr>
            <p:nvPr/>
          </p:nvSpPr>
          <p:spPr bwMode="auto">
            <a:xfrm>
              <a:off x="923" y="2209"/>
              <a:ext cx="45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15</a:t>
              </a:r>
              <a:r>
                <a:rPr lang="zh-CN" altLang="en-US">
                  <a:latin typeface="Times New Roman" panose="02020603050405020304" pitchFamily="18" charset="0"/>
                </a:rPr>
                <a:t> 位二进制数可反映 ±3 万之间的十进制数 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3811" name="Text Box 17"/>
            <p:cNvSpPr txBox="1">
              <a:spLocks noChangeArrowheads="1"/>
            </p:cNvSpPr>
            <p:nvPr/>
          </p:nvSpPr>
          <p:spPr bwMode="auto">
            <a:xfrm>
              <a:off x="528" y="2179"/>
              <a:ext cx="6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3200">
                  <a:latin typeface="Times New Roman" panose="02020603050405020304" pitchFamily="18" charset="0"/>
                </a:rPr>
                <a:t>∴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09650" name="Group 18"/>
          <p:cNvGrpSpPr/>
          <p:nvPr/>
        </p:nvGrpSpPr>
        <p:grpSpPr bwMode="auto">
          <a:xfrm>
            <a:off x="3124200" y="2819400"/>
            <a:ext cx="5511800" cy="579438"/>
            <a:chOff x="1008" y="1776"/>
            <a:chExt cx="3472" cy="365"/>
          </a:xfrm>
        </p:grpSpPr>
        <p:sp>
          <p:nvSpPr>
            <p:cNvPr id="33807" name="Text Box 19"/>
            <p:cNvSpPr txBox="1">
              <a:spLocks noChangeArrowheads="1"/>
            </p:cNvSpPr>
            <p:nvPr/>
          </p:nvSpPr>
          <p:spPr bwMode="auto">
            <a:xfrm>
              <a:off x="3216" y="1776"/>
              <a:ext cx="12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2</a:t>
              </a:r>
              <a:r>
                <a:rPr lang="zh-CN" altLang="en-US" sz="2400" baseline="50000">
                  <a:latin typeface="Times New Roman" panose="02020603050405020304" pitchFamily="18" charset="0"/>
                </a:rPr>
                <a:t>15</a:t>
              </a:r>
              <a:r>
                <a:rPr lang="zh-CN" altLang="en-US" sz="3200" baseline="30000">
                  <a:latin typeface="Times New Roman" panose="02020603050405020304" pitchFamily="18" charset="0"/>
                </a:rPr>
                <a:t> </a:t>
              </a:r>
              <a:r>
                <a:rPr lang="zh-CN" altLang="en-US" sz="3200">
                  <a:latin typeface="Times New Roman" panose="02020603050405020304" pitchFamily="18" charset="0"/>
                </a:rPr>
                <a:t>= 32768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33808" name="Text Box 20"/>
            <p:cNvSpPr txBox="1">
              <a:spLocks noChangeArrowheads="1"/>
            </p:cNvSpPr>
            <p:nvPr/>
          </p:nvSpPr>
          <p:spPr bwMode="auto">
            <a:xfrm>
              <a:off x="1536" y="1776"/>
              <a:ext cx="126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2</a:t>
              </a:r>
              <a:r>
                <a:rPr lang="zh-CN" altLang="en-US" sz="2400" baseline="50000">
                  <a:latin typeface="Times New Roman" panose="02020603050405020304" pitchFamily="18" charset="0"/>
                </a:rPr>
                <a:t>14</a:t>
              </a:r>
              <a:r>
                <a:rPr lang="zh-CN" altLang="en-US" sz="3200" baseline="30000">
                  <a:latin typeface="Times New Roman" panose="02020603050405020304" pitchFamily="18" charset="0"/>
                </a:rPr>
                <a:t> </a:t>
              </a:r>
              <a:r>
                <a:rPr lang="zh-CN" altLang="en-US" sz="3200">
                  <a:latin typeface="Times New Roman" panose="02020603050405020304" pitchFamily="18" charset="0"/>
                </a:rPr>
                <a:t>= 16384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  <p:sp>
          <p:nvSpPr>
            <p:cNvPr id="33809" name="Text Box 21"/>
            <p:cNvSpPr txBox="1">
              <a:spLocks noChangeArrowheads="1"/>
            </p:cNvSpPr>
            <p:nvPr/>
          </p:nvSpPr>
          <p:spPr bwMode="auto">
            <a:xfrm>
              <a:off x="1008" y="1776"/>
              <a:ext cx="4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∵</a:t>
              </a:r>
              <a:endParaRPr lang="zh-CN" altLang="en-US" sz="32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09661" name="Group 29"/>
          <p:cNvGrpSpPr/>
          <p:nvPr/>
        </p:nvGrpSpPr>
        <p:grpSpPr bwMode="auto">
          <a:xfrm>
            <a:off x="3565525" y="4121150"/>
            <a:ext cx="4892675" cy="1255713"/>
            <a:chOff x="1286" y="2596"/>
            <a:chExt cx="3082" cy="791"/>
          </a:xfrm>
        </p:grpSpPr>
        <p:grpSp>
          <p:nvGrpSpPr>
            <p:cNvPr id="33802" name="Group 28"/>
            <p:cNvGrpSpPr/>
            <p:nvPr/>
          </p:nvGrpSpPr>
          <p:grpSpPr bwMode="auto">
            <a:xfrm>
              <a:off x="1286" y="2652"/>
              <a:ext cx="3082" cy="735"/>
              <a:chOff x="1286" y="2652"/>
              <a:chExt cx="3082" cy="735"/>
            </a:xfrm>
          </p:grpSpPr>
          <p:sp>
            <p:nvSpPr>
              <p:cNvPr id="33804" name="Text Box 7"/>
              <p:cNvSpPr txBox="1">
                <a:spLocks noChangeArrowheads="1"/>
              </p:cNvSpPr>
              <p:nvPr/>
            </p:nvSpPr>
            <p:spPr bwMode="auto">
              <a:xfrm>
                <a:off x="1286" y="2652"/>
                <a:ext cx="308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3200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2400" baseline="50000">
                    <a:latin typeface="Times New Roman" panose="02020603050405020304" pitchFamily="18" charset="0"/>
                  </a:rPr>
                  <a:t>15</a:t>
                </a:r>
                <a:r>
                  <a:rPr lang="zh-CN" altLang="en-US" sz="3200">
                    <a:latin typeface="Times New Roman" panose="02020603050405020304" pitchFamily="18" charset="0"/>
                  </a:rPr>
                  <a:t> × 0.</a:t>
                </a:r>
                <a:r>
                  <a:rPr lang="zh-CN" altLang="en-US">
                    <a:latin typeface="Times New Roman" panose="02020603050405020304" pitchFamily="18" charset="0"/>
                  </a:rPr>
                  <a:t>××× </a:t>
                </a:r>
                <a:r>
                  <a:rPr lang="zh-CN" altLang="en-US" sz="1200">
                    <a:latin typeface="Times New Roman" panose="02020603050405020304" pitchFamily="18" charset="0"/>
                  </a:rPr>
                  <a:t>　 　          </a:t>
                </a:r>
                <a:r>
                  <a:rPr lang="zh-CN" altLang="en-US">
                    <a:latin typeface="Times New Roman" panose="02020603050405020304" pitchFamily="18" charset="0"/>
                  </a:rPr>
                  <a:t>××</a:t>
                </a:r>
                <a:r>
                  <a:rPr lang="en-US" altLang="zh-CN">
                    <a:latin typeface="Times New Roman" panose="02020603050405020304" pitchFamily="18" charset="0"/>
                  </a:rPr>
                  <a:t>×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05" name="AutoShape 8"/>
              <p:cNvSpPr/>
              <p:nvPr/>
            </p:nvSpPr>
            <p:spPr bwMode="auto">
              <a:xfrm rot="5380329">
                <a:off x="3047" y="2231"/>
                <a:ext cx="144" cy="1632"/>
              </a:xfrm>
              <a:prstGeom prst="rightBrace">
                <a:avLst>
                  <a:gd name="adj1" fmla="val 94444"/>
                  <a:gd name="adj2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33806" name="Text Box 9"/>
              <p:cNvSpPr txBox="1">
                <a:spLocks noChangeArrowheads="1"/>
              </p:cNvSpPr>
              <p:nvPr/>
            </p:nvSpPr>
            <p:spPr bwMode="auto">
              <a:xfrm>
                <a:off x="2880" y="3099"/>
                <a:ext cx="96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15位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03" name="Text Box 27"/>
            <p:cNvSpPr txBox="1">
              <a:spLocks noChangeArrowheads="1"/>
            </p:cNvSpPr>
            <p:nvPr/>
          </p:nvSpPr>
          <p:spPr bwMode="auto">
            <a:xfrm>
              <a:off x="2934" y="2596"/>
              <a:ext cx="5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3200">
                  <a:latin typeface="Times New Roman" panose="02020603050405020304" pitchFamily="18" charset="0"/>
                </a:rPr>
                <a:t>…</a:t>
              </a:r>
              <a:endParaRPr lang="en-US" altLang="zh-CN" sz="3200">
                <a:latin typeface="等线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0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35" grpId="0" autoUpdateAnimBg="0"/>
      <p:bldP spid="709636" grpId="0" autoUpdateAnimBg="0"/>
      <p:bldP spid="70963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2209800" y="228600"/>
            <a:ext cx="5257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3. 浮点数的规格化形式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10659" name="Text Box 3"/>
          <p:cNvSpPr txBox="1">
            <a:spLocks noChangeArrowheads="1"/>
          </p:cNvSpPr>
          <p:nvPr/>
        </p:nvSpPr>
        <p:spPr bwMode="auto">
          <a:xfrm>
            <a:off x="2454275" y="823913"/>
            <a:ext cx="1736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 = 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10660" name="Text Box 4"/>
          <p:cNvSpPr txBox="1">
            <a:spLocks noChangeArrowheads="1"/>
          </p:cNvSpPr>
          <p:nvPr/>
        </p:nvSpPr>
        <p:spPr bwMode="auto">
          <a:xfrm>
            <a:off x="3733800" y="762000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尾数最高位为</a:t>
            </a:r>
            <a:r>
              <a:rPr lang="zh-CN" altLang="en-US">
                <a:latin typeface="Times New Roman" panose="02020603050405020304" pitchFamily="18" charset="0"/>
              </a:rPr>
              <a:t>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0661" name="Text Box 5"/>
          <p:cNvSpPr txBox="1">
            <a:spLocks noChangeArrowheads="1"/>
          </p:cNvSpPr>
          <p:nvPr/>
        </p:nvSpPr>
        <p:spPr bwMode="auto">
          <a:xfrm>
            <a:off x="2454275" y="1276350"/>
            <a:ext cx="2574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 = 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10662" name="Text Box 6"/>
          <p:cNvSpPr txBox="1">
            <a:spLocks noChangeArrowheads="1"/>
          </p:cNvSpPr>
          <p:nvPr/>
        </p:nvSpPr>
        <p:spPr bwMode="auto">
          <a:xfrm>
            <a:off x="3733800" y="1276350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尾数最高 2 位不全为 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0663" name="Text Box 7"/>
          <p:cNvSpPr txBox="1">
            <a:spLocks noChangeArrowheads="1"/>
          </p:cNvSpPr>
          <p:nvPr/>
        </p:nvSpPr>
        <p:spPr bwMode="auto">
          <a:xfrm>
            <a:off x="2454275" y="1733550"/>
            <a:ext cx="1355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 = 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10664" name="Text Box 8"/>
          <p:cNvSpPr txBox="1">
            <a:spLocks noChangeArrowheads="1"/>
          </p:cNvSpPr>
          <p:nvPr/>
        </p:nvSpPr>
        <p:spPr bwMode="auto">
          <a:xfrm>
            <a:off x="3733800" y="173355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尾数最高 3 位不全为 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0665" name="Text Box 9"/>
          <p:cNvSpPr txBox="1">
            <a:spLocks noChangeArrowheads="1"/>
          </p:cNvSpPr>
          <p:nvPr/>
        </p:nvSpPr>
        <p:spPr bwMode="auto">
          <a:xfrm>
            <a:off x="2209800" y="2295525"/>
            <a:ext cx="34464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4. 浮点数的规格化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10666" name="Text Box 10"/>
          <p:cNvSpPr txBox="1">
            <a:spLocks noChangeArrowheads="1"/>
          </p:cNvSpPr>
          <p:nvPr/>
        </p:nvSpPr>
        <p:spPr bwMode="auto">
          <a:xfrm>
            <a:off x="2819400" y="2941638"/>
            <a:ext cx="78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 = 2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10667" name="Text Box 11"/>
          <p:cNvSpPr txBox="1">
            <a:spLocks noChangeArrowheads="1"/>
          </p:cNvSpPr>
          <p:nvPr/>
        </p:nvSpPr>
        <p:spPr bwMode="auto">
          <a:xfrm>
            <a:off x="4038600" y="2941638"/>
            <a:ext cx="4621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左规       尾数左移 1 位，阶码减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0668" name="Text Box 12"/>
          <p:cNvSpPr txBox="1">
            <a:spLocks noChangeArrowheads="1"/>
          </p:cNvSpPr>
          <p:nvPr/>
        </p:nvSpPr>
        <p:spPr bwMode="auto">
          <a:xfrm>
            <a:off x="4038600" y="3416300"/>
            <a:ext cx="4621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右规       尾数右移 1 位，阶码加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0669" name="Text Box 13"/>
          <p:cNvSpPr txBox="1">
            <a:spLocks noChangeArrowheads="1"/>
          </p:cNvSpPr>
          <p:nvPr/>
        </p:nvSpPr>
        <p:spPr bwMode="auto">
          <a:xfrm>
            <a:off x="2835275" y="3890963"/>
            <a:ext cx="78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 = 4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10670" name="Text Box 14"/>
          <p:cNvSpPr txBox="1">
            <a:spLocks noChangeArrowheads="1"/>
          </p:cNvSpPr>
          <p:nvPr/>
        </p:nvSpPr>
        <p:spPr bwMode="auto">
          <a:xfrm>
            <a:off x="4038600" y="3890963"/>
            <a:ext cx="4621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左规       尾数左移 2 位，阶码减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0671" name="Text Box 15"/>
          <p:cNvSpPr txBox="1">
            <a:spLocks noChangeArrowheads="1"/>
          </p:cNvSpPr>
          <p:nvPr/>
        </p:nvSpPr>
        <p:spPr bwMode="auto">
          <a:xfrm>
            <a:off x="4038600" y="4365625"/>
            <a:ext cx="4621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右规       尾数右移 2 位，阶码加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0672" name="Text Box 16"/>
          <p:cNvSpPr txBox="1">
            <a:spLocks noChangeArrowheads="1"/>
          </p:cNvSpPr>
          <p:nvPr/>
        </p:nvSpPr>
        <p:spPr bwMode="auto">
          <a:xfrm>
            <a:off x="2835275" y="4840288"/>
            <a:ext cx="781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latin typeface="Times New Roman" panose="02020603050405020304" pitchFamily="18" charset="0"/>
              </a:rPr>
              <a:t> = 8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10673" name="Text Box 17"/>
          <p:cNvSpPr txBox="1">
            <a:spLocks noChangeArrowheads="1"/>
          </p:cNvSpPr>
          <p:nvPr/>
        </p:nvSpPr>
        <p:spPr bwMode="auto">
          <a:xfrm>
            <a:off x="4038600" y="4840288"/>
            <a:ext cx="4621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左规       尾数左移 3 位，阶码减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0674" name="Text Box 18"/>
          <p:cNvSpPr txBox="1">
            <a:spLocks noChangeArrowheads="1"/>
          </p:cNvSpPr>
          <p:nvPr/>
        </p:nvSpPr>
        <p:spPr bwMode="auto">
          <a:xfrm>
            <a:off x="4038600" y="5314950"/>
            <a:ext cx="4621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右规       尾数右移 3 位，阶码加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0675" name="Text Box 19"/>
          <p:cNvSpPr txBox="1">
            <a:spLocks noChangeArrowheads="1"/>
          </p:cNvSpPr>
          <p:nvPr/>
        </p:nvSpPr>
        <p:spPr bwMode="auto">
          <a:xfrm>
            <a:off x="2895600" y="57912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基数 </a:t>
            </a: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越大，可表示的浮点数的范围越大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0676" name="AutoShape 20"/>
          <p:cNvSpPr>
            <a:spLocks noChangeArrowheads="1"/>
          </p:cNvSpPr>
          <p:nvPr/>
        </p:nvSpPr>
        <p:spPr bwMode="auto">
          <a:xfrm>
            <a:off x="7239000" y="1149350"/>
            <a:ext cx="3160713" cy="11176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基数不同，浮点数的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规格化形式不同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0677" name="Text Box 21"/>
          <p:cNvSpPr txBox="1">
            <a:spLocks noChangeArrowheads="1"/>
          </p:cNvSpPr>
          <p:nvPr/>
        </p:nvSpPr>
        <p:spPr bwMode="auto">
          <a:xfrm>
            <a:off x="2895600" y="6248400"/>
            <a:ext cx="4494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基数 </a:t>
            </a: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越大，浮点数的精度降低 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0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0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1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1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1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71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1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1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1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71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71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71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71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71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59" grpId="0" autoUpdateAnimBg="0"/>
      <p:bldP spid="710660" grpId="0" autoUpdateAnimBg="0"/>
      <p:bldP spid="710661" grpId="0" autoUpdateAnimBg="0"/>
      <p:bldP spid="710662" grpId="0" autoUpdateAnimBg="0"/>
      <p:bldP spid="710663" grpId="0" autoUpdateAnimBg="0"/>
      <p:bldP spid="710664" grpId="0" autoUpdateAnimBg="0"/>
      <p:bldP spid="710665" grpId="0" autoUpdateAnimBg="0"/>
      <p:bldP spid="710666" grpId="0" autoUpdateAnimBg="0"/>
      <p:bldP spid="710667" grpId="0" autoUpdateAnimBg="0"/>
      <p:bldP spid="710668" grpId="0" autoUpdateAnimBg="0"/>
      <p:bldP spid="710669" grpId="0" autoUpdateAnimBg="0"/>
      <p:bldP spid="710670" grpId="0" autoUpdateAnimBg="0"/>
      <p:bldP spid="710671" grpId="0" autoUpdateAnimBg="0"/>
      <p:bldP spid="710672" grpId="0" autoUpdateAnimBg="0"/>
      <p:bldP spid="710673" grpId="0" autoUpdateAnimBg="0"/>
      <p:bldP spid="710674" grpId="0" autoUpdateAnimBg="0"/>
      <p:bldP spid="710675" grpId="0" autoUpdateAnimBg="0"/>
      <p:bldP spid="710676" grpId="0" autoUpdateAnimBg="0"/>
      <p:bldP spid="71067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1828800" y="304800"/>
            <a:ext cx="15605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例如：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11683" name="Text Box 3"/>
          <p:cNvSpPr txBox="1">
            <a:spLocks noChangeArrowheads="1"/>
          </p:cNvSpPr>
          <p:nvPr/>
        </p:nvSpPr>
        <p:spPr bwMode="auto">
          <a:xfrm>
            <a:off x="1752600" y="1676400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最大正数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1684" name="Text Box 4"/>
          <p:cNvSpPr txBox="1">
            <a:spLocks noChangeArrowheads="1"/>
          </p:cNvSpPr>
          <p:nvPr/>
        </p:nvSpPr>
        <p:spPr bwMode="auto">
          <a:xfrm>
            <a:off x="7620000" y="1676400"/>
            <a:ext cx="24558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2</a:t>
            </a:r>
            <a:r>
              <a:rPr lang="zh-CN" altLang="en-US" sz="2400" baseline="45000">
                <a:latin typeface="Times New Roman" panose="02020603050405020304" pitchFamily="18" charset="0"/>
              </a:rPr>
              <a:t>15</a:t>
            </a:r>
            <a:r>
              <a:rPr lang="zh-CN" altLang="en-US">
                <a:latin typeface="Times New Roman" panose="02020603050405020304" pitchFamily="18" charset="0"/>
              </a:rPr>
              <a:t>×( 1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r>
              <a:rPr lang="zh-CN" altLang="en-US" sz="2400" baseline="45000">
                <a:latin typeface="Times New Roman" panose="02020603050405020304" pitchFamily="18" charset="0"/>
                <a:cs typeface="Times New Roman" panose="02020603050405020304" pitchFamily="18" charset="0"/>
              </a:rPr>
              <a:t>–10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11685" name="Group 5"/>
          <p:cNvGrpSpPr/>
          <p:nvPr/>
        </p:nvGrpSpPr>
        <p:grpSpPr bwMode="auto">
          <a:xfrm>
            <a:off x="3657600" y="1676400"/>
            <a:ext cx="3292475" cy="1082675"/>
            <a:chOff x="1344" y="1056"/>
            <a:chExt cx="2074" cy="682"/>
          </a:xfrm>
        </p:grpSpPr>
        <p:sp>
          <p:nvSpPr>
            <p:cNvPr id="35868" name="Text Box 6"/>
            <p:cNvSpPr txBox="1">
              <a:spLocks noChangeArrowheads="1"/>
            </p:cNvSpPr>
            <p:nvPr/>
          </p:nvSpPr>
          <p:spPr bwMode="auto">
            <a:xfrm>
              <a:off x="1344" y="1056"/>
              <a:ext cx="203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2</a:t>
              </a:r>
              <a:r>
                <a:rPr lang="zh-CN" altLang="en-US" sz="2400" baseline="45000">
                  <a:latin typeface="Times New Roman" panose="02020603050405020304" pitchFamily="18" charset="0"/>
                </a:rPr>
                <a:t>+1111</a:t>
              </a:r>
              <a:r>
                <a:rPr lang="zh-CN" altLang="en-US">
                  <a:latin typeface="Times New Roman" panose="02020603050405020304" pitchFamily="18" charset="0"/>
                </a:rPr>
                <a:t> × 0.1111111111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5869" name="AutoShape 7"/>
            <p:cNvSpPr/>
            <p:nvPr/>
          </p:nvSpPr>
          <p:spPr bwMode="auto">
            <a:xfrm rot="-5400000">
              <a:off x="2813" y="883"/>
              <a:ext cx="144" cy="1066"/>
            </a:xfrm>
            <a:prstGeom prst="leftBrace">
              <a:avLst>
                <a:gd name="adj1" fmla="val 61690"/>
                <a:gd name="adj2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35870" name="Text Box 8"/>
            <p:cNvSpPr txBox="1">
              <a:spLocks noChangeArrowheads="1"/>
            </p:cNvSpPr>
            <p:nvPr/>
          </p:nvSpPr>
          <p:spPr bwMode="auto">
            <a:xfrm>
              <a:off x="2506" y="1488"/>
              <a:ext cx="5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10 个 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711689" name="Text Box 9"/>
          <p:cNvSpPr txBox="1">
            <a:spLocks noChangeArrowheads="1"/>
          </p:cNvSpPr>
          <p:nvPr/>
        </p:nvSpPr>
        <p:spPr bwMode="auto">
          <a:xfrm>
            <a:off x="1768475" y="2971800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最小正数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1690" name="Text Box 10"/>
          <p:cNvSpPr txBox="1">
            <a:spLocks noChangeArrowheads="1"/>
          </p:cNvSpPr>
          <p:nvPr/>
        </p:nvSpPr>
        <p:spPr bwMode="auto">
          <a:xfrm>
            <a:off x="1768475" y="4267200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最大负数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1691" name="Text Box 11"/>
          <p:cNvSpPr txBox="1">
            <a:spLocks noChangeArrowheads="1"/>
          </p:cNvSpPr>
          <p:nvPr/>
        </p:nvSpPr>
        <p:spPr bwMode="auto">
          <a:xfrm>
            <a:off x="1768475" y="5500688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最小负数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1692" name="Text Box 12"/>
          <p:cNvSpPr txBox="1">
            <a:spLocks noChangeArrowheads="1"/>
          </p:cNvSpPr>
          <p:nvPr/>
        </p:nvSpPr>
        <p:spPr bwMode="auto">
          <a:xfrm>
            <a:off x="7620000" y="2971800"/>
            <a:ext cx="1676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2</a:t>
            </a:r>
            <a:r>
              <a:rPr lang="zh-CN" altLang="en-US" sz="2400" baseline="45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 baseline="45000">
                <a:latin typeface="Times New Roman" panose="02020603050405020304" pitchFamily="18" charset="0"/>
              </a:rPr>
              <a:t>15</a:t>
            </a:r>
            <a:r>
              <a:rPr lang="zh-CN" altLang="en-US">
                <a:latin typeface="Times New Roman" panose="02020603050405020304" pitchFamily="18" charset="0"/>
              </a:rPr>
              <a:t>×2</a:t>
            </a:r>
            <a:r>
              <a:rPr lang="zh-CN" altLang="en-US" sz="2400" baseline="45000">
                <a:latin typeface="Times New Roman" panose="02020603050405020304" pitchFamily="18" charset="0"/>
              </a:rPr>
              <a:t>–1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1693" name="Text Box 13"/>
          <p:cNvSpPr txBox="1">
            <a:spLocks noChangeArrowheads="1"/>
          </p:cNvSpPr>
          <p:nvPr/>
        </p:nvSpPr>
        <p:spPr bwMode="auto">
          <a:xfrm>
            <a:off x="7610475" y="5500688"/>
            <a:ext cx="2786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 sz="2400" baseline="45000">
                <a:latin typeface="Times New Roman" panose="02020603050405020304" pitchFamily="18" charset="0"/>
              </a:rPr>
              <a:t>15</a:t>
            </a:r>
            <a:r>
              <a:rPr lang="zh-CN" altLang="en-US">
                <a:latin typeface="Times New Roman" panose="02020603050405020304" pitchFamily="18" charset="0"/>
              </a:rPr>
              <a:t>×( 1–2</a:t>
            </a:r>
            <a:r>
              <a:rPr lang="zh-CN" altLang="en-US" sz="2400" baseline="45000">
                <a:latin typeface="Times New Roman" panose="02020603050405020304" pitchFamily="18" charset="0"/>
              </a:rPr>
              <a:t>– 10</a:t>
            </a:r>
            <a:r>
              <a:rPr lang="zh-CN" altLang="en-US">
                <a:latin typeface="Times New Roman" panose="02020603050405020304" pitchFamily="18" charset="0"/>
              </a:rPr>
              <a:t> )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1694" name="Text Box 14"/>
          <p:cNvSpPr txBox="1">
            <a:spLocks noChangeArrowheads="1"/>
          </p:cNvSpPr>
          <p:nvPr/>
        </p:nvSpPr>
        <p:spPr bwMode="auto">
          <a:xfrm>
            <a:off x="9461500" y="2971800"/>
            <a:ext cx="958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2</a:t>
            </a:r>
            <a:r>
              <a:rPr lang="zh-CN" altLang="en-US" sz="2400" baseline="45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 baseline="45000">
                <a:latin typeface="Times New Roman" panose="02020603050405020304" pitchFamily="18" charset="0"/>
              </a:rPr>
              <a:t>16</a:t>
            </a:r>
            <a:endParaRPr lang="zh-CN" altLang="en-US" sz="2400" baseline="45000">
              <a:latin typeface="Times New Roman" panose="02020603050405020304" pitchFamily="18" charset="0"/>
            </a:endParaRPr>
          </a:p>
        </p:txBody>
      </p:sp>
      <p:sp>
        <p:nvSpPr>
          <p:cNvPr id="711695" name="Text Box 15"/>
          <p:cNvSpPr txBox="1">
            <a:spLocks noChangeArrowheads="1"/>
          </p:cNvSpPr>
          <p:nvPr/>
        </p:nvSpPr>
        <p:spPr bwMode="auto">
          <a:xfrm>
            <a:off x="7620000" y="4281488"/>
            <a:ext cx="18573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 sz="2400" baseline="45000">
                <a:latin typeface="Times New Roman" panose="02020603050405020304" pitchFamily="18" charset="0"/>
              </a:rPr>
              <a:t>–15</a:t>
            </a:r>
            <a:r>
              <a:rPr lang="zh-CN" altLang="en-US">
                <a:latin typeface="Times New Roman" panose="02020603050405020304" pitchFamily="18" charset="0"/>
              </a:rPr>
              <a:t>×2</a:t>
            </a:r>
            <a:r>
              <a:rPr lang="zh-CN" altLang="en-US" sz="2400" baseline="45000">
                <a:latin typeface="Times New Roman" panose="02020603050405020304" pitchFamily="18" charset="0"/>
              </a:rPr>
              <a:t>–1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1696" name="Text Box 16"/>
          <p:cNvSpPr txBox="1">
            <a:spLocks noChangeArrowheads="1"/>
          </p:cNvSpPr>
          <p:nvPr/>
        </p:nvSpPr>
        <p:spPr bwMode="auto">
          <a:xfrm>
            <a:off x="9461500" y="4281488"/>
            <a:ext cx="1136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 sz="2400" baseline="45000">
                <a:latin typeface="Times New Roman" panose="02020603050405020304" pitchFamily="18" charset="0"/>
              </a:rPr>
              <a:t>–16</a:t>
            </a:r>
            <a:endParaRPr lang="zh-CN" altLang="en-US" sz="2400" baseline="45000">
              <a:latin typeface="Times New Roman" panose="02020603050405020304" pitchFamily="18" charset="0"/>
            </a:endParaRPr>
          </a:p>
        </p:txBody>
      </p:sp>
      <p:grpSp>
        <p:nvGrpSpPr>
          <p:cNvPr id="711697" name="Group 17"/>
          <p:cNvGrpSpPr/>
          <p:nvPr/>
        </p:nvGrpSpPr>
        <p:grpSpPr bwMode="auto">
          <a:xfrm>
            <a:off x="3657600" y="2921000"/>
            <a:ext cx="3416300" cy="1057275"/>
            <a:chOff x="1344" y="1840"/>
            <a:chExt cx="2152" cy="666"/>
          </a:xfrm>
        </p:grpSpPr>
        <p:sp>
          <p:nvSpPr>
            <p:cNvPr id="35865" name="Text Box 18"/>
            <p:cNvSpPr txBox="1">
              <a:spLocks noChangeArrowheads="1"/>
            </p:cNvSpPr>
            <p:nvPr/>
          </p:nvSpPr>
          <p:spPr bwMode="auto">
            <a:xfrm>
              <a:off x="1344" y="1840"/>
              <a:ext cx="21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2</a:t>
              </a:r>
              <a:r>
                <a:rPr lang="zh-CN" altLang="en-US" sz="2400" baseline="45000">
                  <a:latin typeface="Times New Roman" panose="02020603050405020304" pitchFamily="18" charset="0"/>
                </a:rPr>
                <a:t>-1111</a:t>
              </a:r>
              <a:r>
                <a:rPr lang="zh-CN" altLang="en-US">
                  <a:latin typeface="Times New Roman" panose="02020603050405020304" pitchFamily="18" charset="0"/>
                </a:rPr>
                <a:t> × 0.1000000000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5866" name="AutoShape 19"/>
            <p:cNvSpPr/>
            <p:nvPr/>
          </p:nvSpPr>
          <p:spPr bwMode="auto">
            <a:xfrm rot="-5400000">
              <a:off x="2856" y="1704"/>
              <a:ext cx="144" cy="960"/>
            </a:xfrm>
            <a:prstGeom prst="leftBrace">
              <a:avLst>
                <a:gd name="adj1" fmla="val 55556"/>
                <a:gd name="adj2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35867" name="Text Box 20"/>
            <p:cNvSpPr txBox="1">
              <a:spLocks noChangeArrowheads="1"/>
            </p:cNvSpPr>
            <p:nvPr/>
          </p:nvSpPr>
          <p:spPr bwMode="auto">
            <a:xfrm>
              <a:off x="2592" y="2256"/>
              <a:ext cx="5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9 个 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11701" name="Group 21"/>
          <p:cNvGrpSpPr/>
          <p:nvPr/>
        </p:nvGrpSpPr>
        <p:grpSpPr bwMode="auto">
          <a:xfrm>
            <a:off x="3657600" y="4267200"/>
            <a:ext cx="3832225" cy="1082675"/>
            <a:chOff x="1344" y="2688"/>
            <a:chExt cx="2414" cy="682"/>
          </a:xfrm>
        </p:grpSpPr>
        <p:sp>
          <p:nvSpPr>
            <p:cNvPr id="35862" name="Text Box 22"/>
            <p:cNvSpPr txBox="1">
              <a:spLocks noChangeArrowheads="1"/>
            </p:cNvSpPr>
            <p:nvPr/>
          </p:nvSpPr>
          <p:spPr bwMode="auto">
            <a:xfrm>
              <a:off x="1344" y="2688"/>
              <a:ext cx="24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2</a:t>
              </a:r>
              <a:r>
                <a:rPr lang="zh-CN" altLang="en-US" sz="2400" baseline="45000">
                  <a:latin typeface="Times New Roman" panose="02020603050405020304" pitchFamily="18" charset="0"/>
                </a:rPr>
                <a:t>-1111</a:t>
              </a:r>
              <a:r>
                <a:rPr lang="zh-CN" altLang="en-US">
                  <a:latin typeface="Times New Roman" panose="02020603050405020304" pitchFamily="18" charset="0"/>
                </a:rPr>
                <a:t> ×(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zh-CN" altLang="en-US">
                  <a:latin typeface="Times New Roman" panose="02020603050405020304" pitchFamily="18" charset="0"/>
                </a:rPr>
                <a:t> 0.1000000000)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5863" name="AutoShape 23"/>
            <p:cNvSpPr/>
            <p:nvPr/>
          </p:nvSpPr>
          <p:spPr bwMode="auto">
            <a:xfrm rot="-5400000">
              <a:off x="3053" y="2563"/>
              <a:ext cx="134" cy="960"/>
            </a:xfrm>
            <a:prstGeom prst="leftBrace">
              <a:avLst>
                <a:gd name="adj1" fmla="val 59701"/>
                <a:gd name="adj2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35864" name="Text Box 24"/>
            <p:cNvSpPr txBox="1">
              <a:spLocks noChangeArrowheads="1"/>
            </p:cNvSpPr>
            <p:nvPr/>
          </p:nvSpPr>
          <p:spPr bwMode="auto">
            <a:xfrm>
              <a:off x="2843" y="3120"/>
              <a:ext cx="5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9 个 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11705" name="Group 25"/>
          <p:cNvGrpSpPr/>
          <p:nvPr/>
        </p:nvGrpSpPr>
        <p:grpSpPr bwMode="auto">
          <a:xfrm>
            <a:off x="3657600" y="5500688"/>
            <a:ext cx="3649663" cy="1052512"/>
            <a:chOff x="1344" y="3465"/>
            <a:chExt cx="2299" cy="663"/>
          </a:xfrm>
        </p:grpSpPr>
        <p:sp>
          <p:nvSpPr>
            <p:cNvPr id="35859" name="Text Box 26"/>
            <p:cNvSpPr txBox="1">
              <a:spLocks noChangeArrowheads="1"/>
            </p:cNvSpPr>
            <p:nvPr/>
          </p:nvSpPr>
          <p:spPr bwMode="auto">
            <a:xfrm>
              <a:off x="1344" y="3465"/>
              <a:ext cx="229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2</a:t>
              </a:r>
              <a:r>
                <a:rPr lang="zh-CN" altLang="en-US" sz="2400" baseline="45000">
                  <a:latin typeface="Times New Roman" panose="02020603050405020304" pitchFamily="18" charset="0"/>
                </a:rPr>
                <a:t>+1111</a:t>
              </a:r>
              <a:r>
                <a:rPr lang="zh-CN" altLang="en-US">
                  <a:latin typeface="Times New Roman" panose="02020603050405020304" pitchFamily="18" charset="0"/>
                </a:rPr>
                <a:t> ×(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</a:t>
              </a:r>
              <a:r>
                <a:rPr lang="zh-CN" altLang="en-US">
                  <a:latin typeface="Times New Roman" panose="02020603050405020304" pitchFamily="18" charset="0"/>
                </a:rPr>
                <a:t>0.1111111111)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35860" name="AutoShape 27"/>
            <p:cNvSpPr/>
            <p:nvPr/>
          </p:nvSpPr>
          <p:spPr bwMode="auto">
            <a:xfrm rot="-5400000">
              <a:off x="3037" y="3235"/>
              <a:ext cx="134" cy="1056"/>
            </a:xfrm>
            <a:prstGeom prst="leftBrace">
              <a:avLst>
                <a:gd name="adj1" fmla="val 65672"/>
                <a:gd name="adj2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35861" name="Text Box 28"/>
            <p:cNvSpPr txBox="1">
              <a:spLocks noChangeArrowheads="1"/>
            </p:cNvSpPr>
            <p:nvPr/>
          </p:nvSpPr>
          <p:spPr bwMode="auto">
            <a:xfrm>
              <a:off x="2784" y="3878"/>
              <a:ext cx="5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10 个 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711709" name="Text Box 29"/>
          <p:cNvSpPr txBox="1">
            <a:spLocks noChangeArrowheads="1"/>
          </p:cNvSpPr>
          <p:nvPr/>
        </p:nvSpPr>
        <p:spPr bwMode="auto">
          <a:xfrm>
            <a:off x="3171825" y="381000"/>
            <a:ext cx="5229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设 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 = 4，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= 10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>
                <a:latin typeface="Times New Roman" panose="02020603050405020304" pitchFamily="18" charset="0"/>
              </a:rPr>
              <a:t> = 2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11710" name="Text Box 30"/>
          <p:cNvSpPr txBox="1">
            <a:spLocks noChangeArrowheads="1"/>
          </p:cNvSpPr>
          <p:nvPr/>
        </p:nvSpPr>
        <p:spPr bwMode="auto">
          <a:xfrm>
            <a:off x="3171825" y="914400"/>
            <a:ext cx="5184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尾数规格化后的浮点数表示范围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1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1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1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1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11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1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683" grpId="0" autoUpdateAnimBg="0"/>
      <p:bldP spid="711684" grpId="0" autoUpdateAnimBg="0"/>
      <p:bldP spid="711689" grpId="0" autoUpdateAnimBg="0"/>
      <p:bldP spid="711690" grpId="0" autoUpdateAnimBg="0"/>
      <p:bldP spid="711691" grpId="0" autoUpdateAnimBg="0"/>
      <p:bldP spid="711692" grpId="0" autoUpdateAnimBg="0"/>
      <p:bldP spid="711693" grpId="0" autoUpdateAnimBg="0"/>
      <p:bldP spid="711694" grpId="0" autoUpdateAnimBg="0"/>
      <p:bldP spid="711695" grpId="0" autoUpdateAnimBg="0"/>
      <p:bldP spid="711696" grpId="0" autoUpdateAnimBg="0"/>
      <p:bldP spid="711709" grpId="0" autoUpdateAnimBg="0"/>
      <p:bldP spid="71171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055688" y="19050"/>
            <a:ext cx="20193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三、举例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712707" name="Group 3"/>
          <p:cNvGrpSpPr/>
          <p:nvPr/>
        </p:nvGrpSpPr>
        <p:grpSpPr bwMode="auto">
          <a:xfrm>
            <a:off x="1981200" y="735013"/>
            <a:ext cx="8686800" cy="1538287"/>
            <a:chOff x="288" y="463"/>
            <a:chExt cx="5472" cy="969"/>
          </a:xfrm>
        </p:grpSpPr>
        <p:sp>
          <p:nvSpPr>
            <p:cNvPr id="36888" name="Text Box 4"/>
            <p:cNvSpPr txBox="1">
              <a:spLocks noChangeArrowheads="1"/>
            </p:cNvSpPr>
            <p:nvPr/>
          </p:nvSpPr>
          <p:spPr bwMode="auto">
            <a:xfrm>
              <a:off x="288" y="486"/>
              <a:ext cx="5472" cy="9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例 6.13    将 +       写成二进制定点数、浮点数及在定点机和浮点机中的机器数形式。其中数值部分均取 10 位，数符取 1 位，浮点数阶码取 5 位（含1位阶符）。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grpSp>
          <p:nvGrpSpPr>
            <p:cNvPr id="36889" name="Group 5"/>
            <p:cNvGrpSpPr/>
            <p:nvPr/>
          </p:nvGrpSpPr>
          <p:grpSpPr bwMode="auto">
            <a:xfrm>
              <a:off x="1660" y="463"/>
              <a:ext cx="356" cy="449"/>
              <a:chOff x="1728" y="552"/>
              <a:chExt cx="356" cy="449"/>
            </a:xfrm>
          </p:grpSpPr>
          <p:sp>
            <p:nvSpPr>
              <p:cNvPr id="36890" name="Line 6"/>
              <p:cNvSpPr>
                <a:spLocks noChangeShapeType="1"/>
              </p:cNvSpPr>
              <p:nvPr/>
            </p:nvSpPr>
            <p:spPr bwMode="auto">
              <a:xfrm>
                <a:off x="1728" y="768"/>
                <a:ext cx="2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891" name="Text Box 7"/>
              <p:cNvSpPr txBox="1">
                <a:spLocks noChangeArrowheads="1"/>
              </p:cNvSpPr>
              <p:nvPr/>
            </p:nvSpPr>
            <p:spPr bwMode="auto">
              <a:xfrm>
                <a:off x="1766" y="552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19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92" name="Text Box 8"/>
              <p:cNvSpPr txBox="1">
                <a:spLocks noChangeArrowheads="1"/>
              </p:cNvSpPr>
              <p:nvPr/>
            </p:nvSpPr>
            <p:spPr bwMode="auto">
              <a:xfrm>
                <a:off x="1728" y="751"/>
                <a:ext cx="3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128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12713" name="Text Box 9"/>
          <p:cNvSpPr txBox="1">
            <a:spLocks noChangeArrowheads="1"/>
          </p:cNvSpPr>
          <p:nvPr/>
        </p:nvSpPr>
        <p:spPr bwMode="auto">
          <a:xfrm>
            <a:off x="2438400" y="2316163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解：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712714" name="Group 10"/>
          <p:cNvGrpSpPr/>
          <p:nvPr/>
        </p:nvGrpSpPr>
        <p:grpSpPr bwMode="auto">
          <a:xfrm>
            <a:off x="3429000" y="2259013"/>
            <a:ext cx="2105025" cy="712787"/>
            <a:chOff x="1478" y="1327"/>
            <a:chExt cx="1326" cy="449"/>
          </a:xfrm>
        </p:grpSpPr>
        <p:sp>
          <p:nvSpPr>
            <p:cNvPr id="36883" name="Text Box 11"/>
            <p:cNvSpPr txBox="1">
              <a:spLocks noChangeArrowheads="1"/>
            </p:cNvSpPr>
            <p:nvPr/>
          </p:nvSpPr>
          <p:spPr bwMode="auto">
            <a:xfrm>
              <a:off x="1478" y="1356"/>
              <a:ext cx="95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设</a:t>
              </a:r>
              <a:r>
                <a:rPr lang="zh-CN" altLang="en-US" sz="3200">
                  <a:latin typeface="Times New Roman" panose="02020603050405020304" pitchFamily="18" charset="0"/>
                </a:rPr>
                <a:t> </a:t>
              </a:r>
              <a:r>
                <a:rPr lang="en-US" altLang="zh-CN" sz="3200" i="1">
                  <a:latin typeface="Times New Roman" panose="02020603050405020304" pitchFamily="18" charset="0"/>
                </a:rPr>
                <a:t>x</a:t>
              </a:r>
              <a:r>
                <a:rPr lang="en-US" altLang="zh-CN" sz="3200">
                  <a:latin typeface="Times New Roman" panose="02020603050405020304" pitchFamily="18" charset="0"/>
                </a:rPr>
                <a:t> = +</a:t>
              </a:r>
              <a:endParaRPr lang="en-US" altLang="zh-CN" sz="3200">
                <a:latin typeface="Times New Roman" panose="02020603050405020304" pitchFamily="18" charset="0"/>
              </a:endParaRPr>
            </a:p>
          </p:txBody>
        </p:sp>
        <p:grpSp>
          <p:nvGrpSpPr>
            <p:cNvPr id="36884" name="Group 12"/>
            <p:cNvGrpSpPr/>
            <p:nvPr/>
          </p:nvGrpSpPr>
          <p:grpSpPr bwMode="auto">
            <a:xfrm>
              <a:off x="2448" y="1327"/>
              <a:ext cx="356" cy="449"/>
              <a:chOff x="1728" y="552"/>
              <a:chExt cx="356" cy="449"/>
            </a:xfrm>
          </p:grpSpPr>
          <p:sp>
            <p:nvSpPr>
              <p:cNvPr id="36885" name="Line 13"/>
              <p:cNvSpPr>
                <a:spLocks noChangeShapeType="1"/>
              </p:cNvSpPr>
              <p:nvPr/>
            </p:nvSpPr>
            <p:spPr bwMode="auto">
              <a:xfrm>
                <a:off x="1728" y="768"/>
                <a:ext cx="2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6886" name="Text Box 14"/>
              <p:cNvSpPr txBox="1">
                <a:spLocks noChangeArrowheads="1"/>
              </p:cNvSpPr>
              <p:nvPr/>
            </p:nvSpPr>
            <p:spPr bwMode="auto">
              <a:xfrm>
                <a:off x="1766" y="552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19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887" name="Text Box 15"/>
              <p:cNvSpPr txBox="1">
                <a:spLocks noChangeArrowheads="1"/>
              </p:cNvSpPr>
              <p:nvPr/>
            </p:nvSpPr>
            <p:spPr bwMode="auto">
              <a:xfrm>
                <a:off x="1728" y="751"/>
                <a:ext cx="3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128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12720" name="Text Box 16"/>
          <p:cNvSpPr txBox="1">
            <a:spLocks noChangeArrowheads="1"/>
          </p:cNvSpPr>
          <p:nvPr/>
        </p:nvSpPr>
        <p:spPr bwMode="auto">
          <a:xfrm>
            <a:off x="2438400" y="2979738"/>
            <a:ext cx="1970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二进制形式</a:t>
            </a:r>
            <a:endParaRPr lang="en-US" altLang="zh-CN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2721" name="Text Box 17"/>
          <p:cNvSpPr txBox="1">
            <a:spLocks noChangeArrowheads="1"/>
          </p:cNvSpPr>
          <p:nvPr/>
        </p:nvSpPr>
        <p:spPr bwMode="auto">
          <a:xfrm>
            <a:off x="2438400" y="3509963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定点表示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12722" name="Text Box 18"/>
          <p:cNvSpPr txBox="1">
            <a:spLocks noChangeArrowheads="1"/>
          </p:cNvSpPr>
          <p:nvPr/>
        </p:nvSpPr>
        <p:spPr bwMode="auto">
          <a:xfrm>
            <a:off x="2438400" y="4041775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浮点规格化形式</a:t>
            </a:r>
            <a:endParaRPr lang="en-US" altLang="zh-CN" baseline="30000">
              <a:latin typeface="Times New Roman" panose="02020603050405020304" pitchFamily="18" charset="0"/>
            </a:endParaRPr>
          </a:p>
        </p:txBody>
      </p:sp>
      <p:sp>
        <p:nvSpPr>
          <p:cNvPr id="712723" name="Text Box 19"/>
          <p:cNvSpPr txBox="1">
            <a:spLocks noChangeArrowheads="1"/>
          </p:cNvSpPr>
          <p:nvPr/>
        </p:nvSpPr>
        <p:spPr bwMode="auto">
          <a:xfrm>
            <a:off x="4824413" y="5135563"/>
            <a:ext cx="4683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原</a:t>
            </a:r>
            <a:r>
              <a:rPr lang="zh-CN" altLang="en-US">
                <a:latin typeface="Times New Roman" panose="02020603050405020304" pitchFamily="18" charset="0"/>
              </a:rPr>
              <a:t> = 1, 0010;  0. 1001100000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2724" name="Text Box 20"/>
          <p:cNvSpPr txBox="1">
            <a:spLocks noChangeArrowheads="1"/>
          </p:cNvSpPr>
          <p:nvPr/>
        </p:nvSpPr>
        <p:spPr bwMode="auto">
          <a:xfrm>
            <a:off x="4824413" y="5699125"/>
            <a:ext cx="4683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= 1, 1110;  0. 1001100000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2725" name="Text Box 21"/>
          <p:cNvSpPr txBox="1">
            <a:spLocks noChangeArrowheads="1"/>
          </p:cNvSpPr>
          <p:nvPr/>
        </p:nvSpPr>
        <p:spPr bwMode="auto">
          <a:xfrm>
            <a:off x="4824413" y="6262688"/>
            <a:ext cx="4683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反</a:t>
            </a:r>
            <a:r>
              <a:rPr lang="zh-CN" altLang="en-US">
                <a:latin typeface="Times New Roman" panose="02020603050405020304" pitchFamily="18" charset="0"/>
              </a:rPr>
              <a:t> = 1, 1101;  0. 1001100000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2726" name="Text Box 22"/>
          <p:cNvSpPr txBox="1">
            <a:spLocks noChangeArrowheads="1"/>
          </p:cNvSpPr>
          <p:nvPr/>
        </p:nvSpPr>
        <p:spPr bwMode="auto">
          <a:xfrm>
            <a:off x="2438400" y="4549775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定点机中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2727" name="Text Box 23"/>
          <p:cNvSpPr txBox="1">
            <a:spLocks noChangeArrowheads="1"/>
          </p:cNvSpPr>
          <p:nvPr/>
        </p:nvSpPr>
        <p:spPr bwMode="auto">
          <a:xfrm>
            <a:off x="2438400" y="5103813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浮点机中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2728" name="Text Box 24"/>
          <p:cNvSpPr txBox="1">
            <a:spLocks noChangeArrowheads="1"/>
          </p:cNvSpPr>
          <p:nvPr/>
        </p:nvSpPr>
        <p:spPr bwMode="auto">
          <a:xfrm>
            <a:off x="7359650" y="3509963"/>
            <a:ext cx="717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000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2729" name="Text Box 25"/>
          <p:cNvSpPr txBox="1">
            <a:spLocks noChangeArrowheads="1"/>
          </p:cNvSpPr>
          <p:nvPr/>
        </p:nvSpPr>
        <p:spPr bwMode="auto">
          <a:xfrm>
            <a:off x="5257800" y="2979738"/>
            <a:ext cx="2254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= 0.0010011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2730" name="Text Box 26"/>
          <p:cNvSpPr txBox="1">
            <a:spLocks noChangeArrowheads="1"/>
          </p:cNvSpPr>
          <p:nvPr/>
        </p:nvSpPr>
        <p:spPr bwMode="auto">
          <a:xfrm>
            <a:off x="5257800" y="3509963"/>
            <a:ext cx="2254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= 0.0010011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2731" name="Text Box 27"/>
          <p:cNvSpPr txBox="1">
            <a:spLocks noChangeArrowheads="1"/>
          </p:cNvSpPr>
          <p:nvPr/>
        </p:nvSpPr>
        <p:spPr bwMode="auto">
          <a:xfrm>
            <a:off x="5257800" y="4041775"/>
            <a:ext cx="3594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= 0.1001100000</a:t>
            </a:r>
            <a:r>
              <a:rPr lang="en-US" altLang="zh-CN" sz="2400">
                <a:latin typeface="Times New Roman" panose="02020603050405020304" pitchFamily="18" charset="0"/>
              </a:rPr>
              <a:t>×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en-US" altLang="zh-CN" baseline="40000">
                <a:latin typeface="Times New Roman" panose="02020603050405020304" pitchFamily="18" charset="0"/>
              </a:rPr>
              <a:t>-10</a:t>
            </a:r>
            <a:endParaRPr lang="zh-CN" altLang="en-US" baseline="40000">
              <a:latin typeface="Times New Roman" panose="02020603050405020304" pitchFamily="18" charset="0"/>
            </a:endParaRPr>
          </a:p>
        </p:txBody>
      </p:sp>
      <p:sp>
        <p:nvSpPr>
          <p:cNvPr id="712732" name="Text Box 28"/>
          <p:cNvSpPr txBox="1">
            <a:spLocks noChangeArrowheads="1"/>
          </p:cNvSpPr>
          <p:nvPr/>
        </p:nvSpPr>
        <p:spPr bwMode="auto">
          <a:xfrm>
            <a:off x="4824413" y="4549775"/>
            <a:ext cx="5229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原</a:t>
            </a:r>
            <a:r>
              <a:rPr lang="zh-CN" altLang="en-US">
                <a:latin typeface="Times New Roman" panose="02020603050405020304" pitchFamily="18" charset="0"/>
              </a:rPr>
              <a:t> = 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= 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反</a:t>
            </a:r>
            <a:r>
              <a:rPr lang="zh-CN" altLang="en-US">
                <a:latin typeface="Times New Roman" panose="02020603050405020304" pitchFamily="18" charset="0"/>
              </a:rPr>
              <a:t> = 0.0010011000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1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1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1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1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1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1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1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713" grpId="0" autoUpdateAnimBg="0"/>
      <p:bldP spid="712720" grpId="0" autoUpdateAnimBg="0"/>
      <p:bldP spid="712721" grpId="0" autoUpdateAnimBg="0"/>
      <p:bldP spid="712722" grpId="0" autoUpdateAnimBg="0"/>
      <p:bldP spid="712723" grpId="0" autoUpdateAnimBg="0"/>
      <p:bldP spid="712724" grpId="0" autoUpdateAnimBg="0"/>
      <p:bldP spid="712725" grpId="0" autoUpdateAnimBg="0"/>
      <p:bldP spid="712726" grpId="0" autoUpdateAnimBg="0"/>
      <p:bldP spid="712727" grpId="0" autoUpdateAnimBg="0"/>
      <p:bldP spid="712728" grpId="0" autoUpdateAnimBg="0"/>
      <p:bldP spid="712729" grpId="0" autoUpdateAnimBg="0"/>
      <p:bldP spid="712730" grpId="0" autoUpdateAnimBg="0"/>
      <p:bldP spid="712731" grpId="0" autoUpdateAnimBg="0"/>
      <p:bldP spid="71273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Text Box 2"/>
          <p:cNvSpPr txBox="1">
            <a:spLocks noChangeArrowheads="1"/>
          </p:cNvSpPr>
          <p:nvPr/>
        </p:nvSpPr>
        <p:spPr bwMode="auto">
          <a:xfrm>
            <a:off x="5995988" y="3048000"/>
            <a:ext cx="37576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        </a:t>
            </a:r>
            <a:r>
              <a:rPr lang="en-US" altLang="zh-CN">
                <a:latin typeface="Times New Roman" panose="02020603050405020304" pitchFamily="18" charset="0"/>
              </a:rPr>
              <a:t>111010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3731" name="Text Box 3"/>
          <p:cNvSpPr txBox="1">
            <a:spLocks noChangeArrowheads="1"/>
          </p:cNvSpPr>
          <p:nvPr/>
        </p:nvSpPr>
        <p:spPr bwMode="auto">
          <a:xfrm>
            <a:off x="6781800" y="30480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0000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1676400" y="228600"/>
            <a:ext cx="1555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例 6.14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13733" name="Text Box 5"/>
          <p:cNvSpPr txBox="1">
            <a:spLocks noChangeArrowheads="1"/>
          </p:cNvSpPr>
          <p:nvPr/>
        </p:nvSpPr>
        <p:spPr bwMode="auto">
          <a:xfrm>
            <a:off x="1676400" y="228600"/>
            <a:ext cx="8747125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                    将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–58 </a:t>
            </a:r>
            <a:r>
              <a:rPr lang="zh-CN" altLang="en-US">
                <a:latin typeface="Times New Roman" panose="02020603050405020304" pitchFamily="18" charset="0"/>
              </a:rPr>
              <a:t>表示成二进制定点数和浮点数，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并写出它在定点机和浮点机中的三种机器数及阶码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为移码、尾数为补码的形式（其他要求同上例）。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3734" name="Text Box 6"/>
          <p:cNvSpPr txBox="1">
            <a:spLocks noChangeArrowheads="1"/>
          </p:cNvSpPr>
          <p:nvPr/>
        </p:nvSpPr>
        <p:spPr bwMode="auto">
          <a:xfrm>
            <a:off x="2270125" y="1828800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解：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13735" name="Text Box 7"/>
          <p:cNvSpPr txBox="1">
            <a:spLocks noChangeArrowheads="1"/>
          </p:cNvSpPr>
          <p:nvPr/>
        </p:nvSpPr>
        <p:spPr bwMode="auto">
          <a:xfrm>
            <a:off x="3260725" y="1828800"/>
            <a:ext cx="4130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设</a:t>
            </a:r>
            <a:r>
              <a:rPr lang="zh-CN" altLang="en-US" sz="3200">
                <a:latin typeface="Times New Roman" panose="02020603050405020304" pitchFamily="18" charset="0"/>
              </a:rPr>
              <a:t> </a:t>
            </a:r>
            <a:r>
              <a:rPr lang="en-US" altLang="zh-CN" sz="3200" i="1">
                <a:latin typeface="Times New Roman" panose="02020603050405020304" pitchFamily="18" charset="0"/>
              </a:rPr>
              <a:t>x</a:t>
            </a:r>
            <a:r>
              <a:rPr lang="en-US" altLang="zh-CN" sz="3200">
                <a:latin typeface="Times New Roman" panose="02020603050405020304" pitchFamily="18" charset="0"/>
              </a:rPr>
              <a:t> =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–58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3736" name="Text Box 8"/>
          <p:cNvSpPr txBox="1">
            <a:spLocks noChangeArrowheads="1"/>
          </p:cNvSpPr>
          <p:nvPr/>
        </p:nvSpPr>
        <p:spPr bwMode="auto">
          <a:xfrm>
            <a:off x="3240088" y="2482850"/>
            <a:ext cx="2398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二进制形式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3737" name="Text Box 9"/>
          <p:cNvSpPr txBox="1">
            <a:spLocks noChangeArrowheads="1"/>
          </p:cNvSpPr>
          <p:nvPr/>
        </p:nvSpPr>
        <p:spPr bwMode="auto">
          <a:xfrm>
            <a:off x="3240088" y="3078163"/>
            <a:ext cx="2170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定点表示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13738" name="Text Box 10"/>
          <p:cNvSpPr txBox="1">
            <a:spLocks noChangeArrowheads="1"/>
          </p:cNvSpPr>
          <p:nvPr/>
        </p:nvSpPr>
        <p:spPr bwMode="auto">
          <a:xfrm>
            <a:off x="3240088" y="3671888"/>
            <a:ext cx="3160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浮点规格化形式</a:t>
            </a:r>
            <a:endParaRPr lang="en-US" altLang="zh-CN" baseline="30000">
              <a:latin typeface="Times New Roman" panose="02020603050405020304" pitchFamily="18" charset="0"/>
            </a:endParaRPr>
          </a:p>
        </p:txBody>
      </p:sp>
      <p:sp>
        <p:nvSpPr>
          <p:cNvPr id="713739" name="Text Box 11"/>
          <p:cNvSpPr txBox="1">
            <a:spLocks noChangeArrowheads="1"/>
          </p:cNvSpPr>
          <p:nvPr/>
        </p:nvSpPr>
        <p:spPr bwMode="auto">
          <a:xfrm>
            <a:off x="1978025" y="4724400"/>
            <a:ext cx="320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200" baseline="-25000">
                <a:latin typeface="Times New Roman" panose="02020603050405020304" pitchFamily="18" charset="0"/>
              </a:rPr>
              <a:t>原</a:t>
            </a:r>
            <a:r>
              <a:rPr lang="zh-CN" altLang="en-US" sz="2400">
                <a:latin typeface="Times New Roman" panose="02020603050405020304" pitchFamily="18" charset="0"/>
              </a:rPr>
              <a:t> = 1, 0000111010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3740" name="Text Box 12"/>
          <p:cNvSpPr txBox="1">
            <a:spLocks noChangeArrowheads="1"/>
          </p:cNvSpPr>
          <p:nvPr/>
        </p:nvSpPr>
        <p:spPr bwMode="auto">
          <a:xfrm>
            <a:off x="1978025" y="5181600"/>
            <a:ext cx="3355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2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= 1, 1111000110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3741" name="Text Box 13"/>
          <p:cNvSpPr txBox="1">
            <a:spLocks noChangeArrowheads="1"/>
          </p:cNvSpPr>
          <p:nvPr/>
        </p:nvSpPr>
        <p:spPr bwMode="auto">
          <a:xfrm>
            <a:off x="1978025" y="5638800"/>
            <a:ext cx="3355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200" baseline="-25000">
                <a:latin typeface="Times New Roman" panose="02020603050405020304" pitchFamily="18" charset="0"/>
              </a:rPr>
              <a:t>反</a:t>
            </a:r>
            <a:r>
              <a:rPr lang="zh-CN" altLang="en-US" sz="2400">
                <a:latin typeface="Times New Roman" panose="02020603050405020304" pitchFamily="18" charset="0"/>
              </a:rPr>
              <a:t> = 1, 1111000101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3742" name="Text Box 14"/>
          <p:cNvSpPr txBox="1">
            <a:spLocks noChangeArrowheads="1"/>
          </p:cNvSpPr>
          <p:nvPr/>
        </p:nvSpPr>
        <p:spPr bwMode="auto">
          <a:xfrm>
            <a:off x="5562600" y="4724400"/>
            <a:ext cx="441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200" baseline="-25000">
                <a:latin typeface="Times New Roman" panose="02020603050405020304" pitchFamily="18" charset="0"/>
              </a:rPr>
              <a:t>原</a:t>
            </a:r>
            <a:r>
              <a:rPr lang="zh-CN" altLang="en-US" sz="2400">
                <a:latin typeface="Times New Roman" panose="02020603050405020304" pitchFamily="18" charset="0"/>
              </a:rPr>
              <a:t> = 0, 0110; 1. 1110100000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3743" name="Text Box 15"/>
          <p:cNvSpPr txBox="1">
            <a:spLocks noChangeArrowheads="1"/>
          </p:cNvSpPr>
          <p:nvPr/>
        </p:nvSpPr>
        <p:spPr bwMode="auto">
          <a:xfrm>
            <a:off x="5562600" y="51816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2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= 0, 0110; 1. 0001100000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3744" name="Text Box 16"/>
          <p:cNvSpPr txBox="1">
            <a:spLocks noChangeArrowheads="1"/>
          </p:cNvSpPr>
          <p:nvPr/>
        </p:nvSpPr>
        <p:spPr bwMode="auto">
          <a:xfrm>
            <a:off x="5562600" y="56388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200" baseline="-25000">
                <a:latin typeface="Times New Roman" panose="02020603050405020304" pitchFamily="18" charset="0"/>
              </a:rPr>
              <a:t>反</a:t>
            </a:r>
            <a:r>
              <a:rPr lang="zh-CN" altLang="en-US" sz="2400">
                <a:latin typeface="Times New Roman" panose="02020603050405020304" pitchFamily="18" charset="0"/>
              </a:rPr>
              <a:t> = 0, 0110; 1. 0001011111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3745" name="Text Box 17"/>
          <p:cNvSpPr txBox="1">
            <a:spLocks noChangeArrowheads="1"/>
          </p:cNvSpPr>
          <p:nvPr/>
        </p:nvSpPr>
        <p:spPr bwMode="auto">
          <a:xfrm>
            <a:off x="2578100" y="4267200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定点机中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3746" name="Text Box 18"/>
          <p:cNvSpPr txBox="1">
            <a:spLocks noChangeArrowheads="1"/>
          </p:cNvSpPr>
          <p:nvPr/>
        </p:nvSpPr>
        <p:spPr bwMode="auto">
          <a:xfrm>
            <a:off x="6464300" y="4267200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浮点机中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3747" name="Text Box 19"/>
          <p:cNvSpPr txBox="1">
            <a:spLocks noChangeArrowheads="1"/>
          </p:cNvSpPr>
          <p:nvPr/>
        </p:nvSpPr>
        <p:spPr bwMode="auto">
          <a:xfrm>
            <a:off x="5562600" y="6096000"/>
            <a:ext cx="510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200" baseline="-25000">
                <a:latin typeface="Times New Roman" panose="02020603050405020304" pitchFamily="18" charset="0"/>
              </a:rPr>
              <a:t>阶移、尾补</a:t>
            </a:r>
            <a:r>
              <a:rPr lang="zh-CN" altLang="en-US" sz="2400">
                <a:latin typeface="Times New Roman" panose="02020603050405020304" pitchFamily="18" charset="0"/>
              </a:rPr>
              <a:t> = 1, 0110; 1. 0001100000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3748" name="Text Box 20"/>
          <p:cNvSpPr txBox="1">
            <a:spLocks noChangeArrowheads="1"/>
          </p:cNvSpPr>
          <p:nvPr/>
        </p:nvSpPr>
        <p:spPr bwMode="auto">
          <a:xfrm>
            <a:off x="5995988" y="2482850"/>
            <a:ext cx="36814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111010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3749" name="Text Box 21"/>
          <p:cNvSpPr txBox="1">
            <a:spLocks noChangeArrowheads="1"/>
          </p:cNvSpPr>
          <p:nvPr/>
        </p:nvSpPr>
        <p:spPr bwMode="auto">
          <a:xfrm>
            <a:off x="5995988" y="3671888"/>
            <a:ext cx="46720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>
                <a:latin typeface="Times New Roman" panose="02020603050405020304" pitchFamily="18" charset="0"/>
              </a:rPr>
              <a:t> (0.1110100000) </a:t>
            </a:r>
            <a:r>
              <a:rPr lang="zh-CN" altLang="en-US" sz="2400">
                <a:latin typeface="Times New Roman" panose="02020603050405020304" pitchFamily="18" charset="0"/>
              </a:rPr>
              <a:t>× 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en-US" altLang="zh-CN" baseline="40000">
                <a:latin typeface="Times New Roman" panose="02020603050405020304" pitchFamily="18" charset="0"/>
              </a:rPr>
              <a:t>110</a:t>
            </a:r>
            <a:endParaRPr lang="zh-CN" altLang="en-US" baseline="40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1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1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1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1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1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13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1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1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1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1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30" grpId="0" autoUpdateAnimBg="0"/>
      <p:bldP spid="713731" grpId="0" autoUpdateAnimBg="0"/>
      <p:bldP spid="713733" grpId="0" autoUpdateAnimBg="0"/>
      <p:bldP spid="713734" grpId="0" autoUpdateAnimBg="0"/>
      <p:bldP spid="713735" grpId="0" autoUpdateAnimBg="0"/>
      <p:bldP spid="713736" grpId="0" autoUpdateAnimBg="0"/>
      <p:bldP spid="713737" grpId="0" autoUpdateAnimBg="0"/>
      <p:bldP spid="713738" grpId="0" autoUpdateAnimBg="0"/>
      <p:bldP spid="713739" grpId="0" autoUpdateAnimBg="0"/>
      <p:bldP spid="713740" grpId="0" autoUpdateAnimBg="0"/>
      <p:bldP spid="713741" grpId="0" autoUpdateAnimBg="0"/>
      <p:bldP spid="713742" grpId="0" autoUpdateAnimBg="0"/>
      <p:bldP spid="713743" grpId="0" autoUpdateAnimBg="0"/>
      <p:bldP spid="713744" grpId="0" autoUpdateAnimBg="0"/>
      <p:bldP spid="713745" grpId="0" autoUpdateAnimBg="0"/>
      <p:bldP spid="713746" grpId="0" autoUpdateAnimBg="0"/>
      <p:bldP spid="713747" grpId="0" autoUpdateAnimBg="0"/>
      <p:bldP spid="713748" grpId="0" autoUpdateAnimBg="0"/>
      <p:bldP spid="71374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757363" y="228600"/>
            <a:ext cx="14430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例6.15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14755" name="Text Box 3"/>
          <p:cNvSpPr txBox="1">
            <a:spLocks noChangeArrowheads="1"/>
          </p:cNvSpPr>
          <p:nvPr/>
        </p:nvSpPr>
        <p:spPr bwMode="auto">
          <a:xfrm>
            <a:off x="1524000" y="304800"/>
            <a:ext cx="87630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                      写出对应下图所示的浮点数的补码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   形式。 设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= 10，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 = 4， </a:t>
            </a:r>
            <a:r>
              <a:rPr lang="zh-CN" altLang="en-US">
                <a:latin typeface="Times New Roman" panose="02020603050405020304" pitchFamily="18" charset="0"/>
              </a:rPr>
              <a:t>阶符、数符各取 1位。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14756" name="Group 4"/>
          <p:cNvGrpSpPr/>
          <p:nvPr/>
        </p:nvGrpSpPr>
        <p:grpSpPr bwMode="auto">
          <a:xfrm>
            <a:off x="2057400" y="1371600"/>
            <a:ext cx="8129588" cy="2886075"/>
            <a:chOff x="336" y="864"/>
            <a:chExt cx="5121" cy="1818"/>
          </a:xfrm>
        </p:grpSpPr>
        <p:sp>
          <p:nvSpPr>
            <p:cNvPr id="38932" name="Line 5"/>
            <p:cNvSpPr>
              <a:spLocks noChangeShapeType="1"/>
            </p:cNvSpPr>
            <p:nvPr/>
          </p:nvSpPr>
          <p:spPr bwMode="auto">
            <a:xfrm flipV="1">
              <a:off x="2856" y="1439"/>
              <a:ext cx="0" cy="6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33" name="Line 6"/>
            <p:cNvSpPr>
              <a:spLocks noChangeShapeType="1"/>
            </p:cNvSpPr>
            <p:nvPr/>
          </p:nvSpPr>
          <p:spPr bwMode="auto">
            <a:xfrm>
              <a:off x="1104" y="1153"/>
              <a:ext cx="0" cy="28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34" name="Line 7"/>
            <p:cNvSpPr>
              <a:spLocks noChangeShapeType="1"/>
            </p:cNvSpPr>
            <p:nvPr/>
          </p:nvSpPr>
          <p:spPr bwMode="auto">
            <a:xfrm>
              <a:off x="3264" y="1153"/>
              <a:ext cx="0" cy="2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35" name="Line 8"/>
            <p:cNvSpPr>
              <a:spLocks noChangeShapeType="1"/>
            </p:cNvSpPr>
            <p:nvPr/>
          </p:nvSpPr>
          <p:spPr bwMode="auto">
            <a:xfrm>
              <a:off x="384" y="1439"/>
              <a:ext cx="49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36" name="Line 9"/>
            <p:cNvSpPr>
              <a:spLocks noChangeShapeType="1"/>
            </p:cNvSpPr>
            <p:nvPr/>
          </p:nvSpPr>
          <p:spPr bwMode="auto">
            <a:xfrm>
              <a:off x="4608" y="1153"/>
              <a:ext cx="0" cy="28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37" name="Rectangle 10"/>
            <p:cNvSpPr>
              <a:spLocks noChangeArrowheads="1"/>
            </p:cNvSpPr>
            <p:nvPr/>
          </p:nvSpPr>
          <p:spPr bwMode="auto">
            <a:xfrm>
              <a:off x="384" y="1153"/>
              <a:ext cx="720" cy="286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32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38" name="Line 11"/>
            <p:cNvSpPr>
              <a:spLocks noChangeShapeType="1"/>
            </p:cNvSpPr>
            <p:nvPr/>
          </p:nvSpPr>
          <p:spPr bwMode="auto">
            <a:xfrm>
              <a:off x="2448" y="1153"/>
              <a:ext cx="0" cy="2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39" name="Rectangle 12"/>
            <p:cNvSpPr>
              <a:spLocks noChangeArrowheads="1"/>
            </p:cNvSpPr>
            <p:nvPr/>
          </p:nvSpPr>
          <p:spPr bwMode="auto">
            <a:xfrm>
              <a:off x="4608" y="1153"/>
              <a:ext cx="720" cy="286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320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0" name="Text Box 13"/>
            <p:cNvSpPr txBox="1">
              <a:spLocks noChangeArrowheads="1"/>
            </p:cNvSpPr>
            <p:nvPr/>
          </p:nvSpPr>
          <p:spPr bwMode="auto">
            <a:xfrm>
              <a:off x="1321" y="1137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负数区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8941" name="Text Box 14"/>
            <p:cNvSpPr txBox="1">
              <a:spLocks noChangeArrowheads="1"/>
            </p:cNvSpPr>
            <p:nvPr/>
          </p:nvSpPr>
          <p:spPr bwMode="auto">
            <a:xfrm>
              <a:off x="3481" y="1137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正数区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8942" name="Text Box 15"/>
            <p:cNvSpPr txBox="1">
              <a:spLocks noChangeArrowheads="1"/>
            </p:cNvSpPr>
            <p:nvPr/>
          </p:nvSpPr>
          <p:spPr bwMode="auto">
            <a:xfrm>
              <a:off x="2538" y="1137"/>
              <a:ext cx="5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下溢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3" name="Text Box 16"/>
            <p:cNvSpPr txBox="1">
              <a:spLocks noChangeArrowheads="1"/>
            </p:cNvSpPr>
            <p:nvPr/>
          </p:nvSpPr>
          <p:spPr bwMode="auto">
            <a:xfrm>
              <a:off x="2734" y="1452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4" name="Text Box 17"/>
            <p:cNvSpPr txBox="1">
              <a:spLocks noChangeArrowheads="1"/>
            </p:cNvSpPr>
            <p:nvPr/>
          </p:nvSpPr>
          <p:spPr bwMode="auto">
            <a:xfrm>
              <a:off x="432" y="864"/>
              <a:ext cx="5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上溢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5" name="Text Box 18"/>
            <p:cNvSpPr txBox="1">
              <a:spLocks noChangeArrowheads="1"/>
            </p:cNvSpPr>
            <p:nvPr/>
          </p:nvSpPr>
          <p:spPr bwMode="auto">
            <a:xfrm>
              <a:off x="4608" y="864"/>
              <a:ext cx="5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上溢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6" name="Text Box 19"/>
            <p:cNvSpPr txBox="1">
              <a:spLocks noChangeArrowheads="1"/>
            </p:cNvSpPr>
            <p:nvPr/>
          </p:nvSpPr>
          <p:spPr bwMode="auto">
            <a:xfrm>
              <a:off x="336" y="1785"/>
              <a:ext cx="153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400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( </a:t>
              </a:r>
              <a:r>
                <a:rPr lang="zh-CN" altLang="en-US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i="1" baseline="6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 sz="2400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×( 1</a:t>
              </a:r>
              <a:r>
                <a:rPr lang="en-US" altLang="zh-CN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baseline="4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 sz="2400" i="1" baseline="4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947" name="Text Box 20"/>
            <p:cNvSpPr txBox="1">
              <a:spLocks noChangeArrowheads="1"/>
            </p:cNvSpPr>
            <p:nvPr/>
          </p:nvSpPr>
          <p:spPr bwMode="auto">
            <a:xfrm>
              <a:off x="4080" y="1787"/>
              <a:ext cx="137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2</a:t>
              </a:r>
              <a:r>
                <a:rPr lang="zh-CN" altLang="en-US" sz="2400" baseline="30000">
                  <a:latin typeface="Times New Roman" panose="02020603050405020304" pitchFamily="18" charset="0"/>
                </a:rPr>
                <a:t>( </a:t>
              </a:r>
              <a:r>
                <a:rPr lang="zh-CN" altLang="en-US" baseline="30000">
                  <a:latin typeface="Times New Roman" panose="02020603050405020304" pitchFamily="18" charset="0"/>
                </a:rPr>
                <a:t>2</a:t>
              </a:r>
              <a:r>
                <a:rPr lang="en-US" altLang="zh-CN" sz="2400" i="1" baseline="60000">
                  <a:latin typeface="Times New Roman" panose="02020603050405020304" pitchFamily="18" charset="0"/>
                </a:rPr>
                <a:t>m</a:t>
              </a:r>
              <a:r>
                <a:rPr lang="en-US" altLang="zh-CN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 sz="2400" baseline="30000">
                  <a:latin typeface="Times New Roman" panose="02020603050405020304" pitchFamily="18" charset="0"/>
                </a:rPr>
                <a:t>1)</a:t>
              </a:r>
              <a:r>
                <a:rPr lang="en-US" altLang="zh-CN" sz="2400">
                  <a:latin typeface="Times New Roman" panose="02020603050405020304" pitchFamily="18" charset="0"/>
                </a:rPr>
                <a:t>×(1</a:t>
              </a:r>
              <a:r>
                <a:rPr lang="en-US" altLang="zh-CN" sz="1000"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latin typeface="Times New Roman" panose="02020603050405020304" pitchFamily="18" charset="0"/>
                </a:rPr>
                <a:t>–</a:t>
              </a:r>
              <a:r>
                <a:rPr lang="zh-CN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zh-CN" sz="2400">
                  <a:latin typeface="Times New Roman" panose="02020603050405020304" pitchFamily="18" charset="0"/>
                </a:rPr>
                <a:t>2</a:t>
              </a:r>
              <a:r>
                <a:rPr lang="en-US" altLang="zh-CN" sz="2400" baseline="45000">
                  <a:latin typeface="Times New Roman" panose="02020603050405020304" pitchFamily="18" charset="0"/>
                </a:rPr>
                <a:t>–</a:t>
              </a:r>
              <a:r>
                <a:rPr lang="en-US" altLang="zh-CN" sz="2400" i="1" baseline="45000">
                  <a:latin typeface="Times New Roman" panose="02020603050405020304" pitchFamily="18" charset="0"/>
                </a:rPr>
                <a:t>n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8948" name="Text Box 21"/>
            <p:cNvSpPr txBox="1">
              <a:spLocks noChangeArrowheads="1"/>
            </p:cNvSpPr>
            <p:nvPr/>
          </p:nvSpPr>
          <p:spPr bwMode="auto">
            <a:xfrm>
              <a:off x="2544" y="1961"/>
              <a:ext cx="10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2</a:t>
              </a:r>
              <a:r>
                <a:rPr lang="en-US" altLang="zh-CN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zh-CN" altLang="en-US" sz="2400" baseline="30000">
                  <a:latin typeface="Times New Roman" panose="02020603050405020304" pitchFamily="18" charset="0"/>
                </a:rPr>
                <a:t>( </a:t>
              </a:r>
              <a:r>
                <a:rPr lang="zh-CN" altLang="en-US" baseline="30000">
                  <a:latin typeface="Times New Roman" panose="02020603050405020304" pitchFamily="18" charset="0"/>
                </a:rPr>
                <a:t>2</a:t>
              </a:r>
              <a:r>
                <a:rPr lang="en-US" altLang="zh-CN" sz="2400" i="1" baseline="60000">
                  <a:latin typeface="Times New Roman" panose="02020603050405020304" pitchFamily="18" charset="0"/>
                </a:rPr>
                <a:t>m</a:t>
              </a:r>
              <a:r>
                <a:rPr lang="en-US" altLang="zh-CN" baseline="30000">
                  <a:latin typeface="Times New Roman" panose="02020603050405020304" pitchFamily="18" charset="0"/>
                </a:rPr>
                <a:t>–</a:t>
              </a:r>
              <a:r>
                <a:rPr lang="en-US" altLang="zh-CN" sz="2400" baseline="30000">
                  <a:latin typeface="Times New Roman" panose="02020603050405020304" pitchFamily="18" charset="0"/>
                </a:rPr>
                <a:t>1)</a:t>
              </a:r>
              <a:r>
                <a:rPr lang="en-US" altLang="zh-CN" sz="2400">
                  <a:latin typeface="Times New Roman" panose="02020603050405020304" pitchFamily="18" charset="0"/>
                </a:rPr>
                <a:t>×2</a:t>
              </a:r>
              <a:r>
                <a:rPr lang="en-US" altLang="zh-CN" sz="2400" baseline="45000">
                  <a:latin typeface="Times New Roman" panose="02020603050405020304" pitchFamily="18" charset="0"/>
                </a:rPr>
                <a:t>–</a:t>
              </a:r>
              <a:r>
                <a:rPr lang="en-US" altLang="zh-CN" sz="2400" i="1" baseline="45000">
                  <a:latin typeface="Times New Roman" panose="02020603050405020304" pitchFamily="18" charset="0"/>
                </a:rPr>
                <a:t>n</a:t>
              </a:r>
              <a:endParaRPr lang="en-US" altLang="zh-CN" sz="2400" i="1" baseline="45000">
                <a:latin typeface="Times New Roman" panose="02020603050405020304" pitchFamily="18" charset="0"/>
              </a:endParaRPr>
            </a:p>
          </p:txBody>
        </p:sp>
        <p:sp>
          <p:nvSpPr>
            <p:cNvPr id="38949" name="Text Box 22"/>
            <p:cNvSpPr txBox="1">
              <a:spLocks noChangeArrowheads="1"/>
            </p:cNvSpPr>
            <p:nvPr/>
          </p:nvSpPr>
          <p:spPr bwMode="auto">
            <a:xfrm>
              <a:off x="720" y="1588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最小负数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50" name="Line 23"/>
            <p:cNvSpPr>
              <a:spLocks noChangeShapeType="1"/>
            </p:cNvSpPr>
            <p:nvPr/>
          </p:nvSpPr>
          <p:spPr bwMode="auto">
            <a:xfrm flipV="1">
              <a:off x="1104" y="1395"/>
              <a:ext cx="0" cy="1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51" name="Text Box 24"/>
            <p:cNvSpPr txBox="1">
              <a:spLocks noChangeArrowheads="1"/>
            </p:cNvSpPr>
            <p:nvPr/>
          </p:nvSpPr>
          <p:spPr bwMode="auto">
            <a:xfrm>
              <a:off x="4296" y="1588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最大正数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52" name="Line 25"/>
            <p:cNvSpPr>
              <a:spLocks noChangeShapeType="1"/>
            </p:cNvSpPr>
            <p:nvPr/>
          </p:nvSpPr>
          <p:spPr bwMode="auto">
            <a:xfrm flipV="1">
              <a:off x="4608" y="1395"/>
              <a:ext cx="0" cy="1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53" name="Text Box 26"/>
            <p:cNvSpPr txBox="1">
              <a:spLocks noChangeArrowheads="1"/>
            </p:cNvSpPr>
            <p:nvPr/>
          </p:nvSpPr>
          <p:spPr bwMode="auto">
            <a:xfrm>
              <a:off x="2784" y="1713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最小正数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54" name="Freeform 27"/>
            <p:cNvSpPr/>
            <p:nvPr/>
          </p:nvSpPr>
          <p:spPr bwMode="auto">
            <a:xfrm>
              <a:off x="3250" y="1440"/>
              <a:ext cx="1" cy="308"/>
            </a:xfrm>
            <a:custGeom>
              <a:avLst/>
              <a:gdLst>
                <a:gd name="T0" fmla="*/ 0 w 1"/>
                <a:gd name="T1" fmla="*/ 308 h 308"/>
                <a:gd name="T2" fmla="*/ 1 w 1"/>
                <a:gd name="T3" fmla="*/ 0 h 30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08">
                  <a:moveTo>
                    <a:pt x="0" y="308"/>
                  </a:moveTo>
                  <a:lnTo>
                    <a:pt x="1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55" name="Text Box 28"/>
            <p:cNvSpPr txBox="1">
              <a:spLocks noChangeArrowheads="1"/>
            </p:cNvSpPr>
            <p:nvPr/>
          </p:nvSpPr>
          <p:spPr bwMode="auto">
            <a:xfrm>
              <a:off x="1776" y="2352"/>
              <a:ext cx="118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zh-CN" altLang="en-US" sz="2400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( </a:t>
              </a:r>
              <a:r>
                <a:rPr lang="zh-CN" altLang="en-US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i="1" baseline="6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 sz="2400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×2</a:t>
              </a:r>
              <a:r>
                <a:rPr lang="en-US" altLang="zh-CN" sz="2400" baseline="4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 sz="2400" i="1" baseline="4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400" i="1" baseline="4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956" name="Text Box 29"/>
            <p:cNvSpPr txBox="1">
              <a:spLocks noChangeArrowheads="1"/>
            </p:cNvSpPr>
            <p:nvPr/>
          </p:nvSpPr>
          <p:spPr bwMode="auto">
            <a:xfrm>
              <a:off x="1992" y="2145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最大负数</a:t>
              </a:r>
              <a:endPara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57" name="Freeform 30"/>
            <p:cNvSpPr/>
            <p:nvPr/>
          </p:nvSpPr>
          <p:spPr bwMode="auto">
            <a:xfrm>
              <a:off x="2448" y="1440"/>
              <a:ext cx="1" cy="712"/>
            </a:xfrm>
            <a:custGeom>
              <a:avLst/>
              <a:gdLst>
                <a:gd name="T0" fmla="*/ 0 w 1"/>
                <a:gd name="T1" fmla="*/ 712 h 712"/>
                <a:gd name="T2" fmla="*/ 1 w 1"/>
                <a:gd name="T3" fmla="*/ 0 h 7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12">
                  <a:moveTo>
                    <a:pt x="0" y="712"/>
                  </a:moveTo>
                  <a:lnTo>
                    <a:pt x="1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14783" name="Text Box 31"/>
          <p:cNvSpPr txBox="1">
            <a:spLocks noChangeArrowheads="1"/>
          </p:cNvSpPr>
          <p:nvPr/>
        </p:nvSpPr>
        <p:spPr bwMode="auto">
          <a:xfrm>
            <a:off x="1828800" y="4138613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解：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14784" name="Text Box 32"/>
          <p:cNvSpPr txBox="1">
            <a:spLocks noChangeArrowheads="1"/>
          </p:cNvSpPr>
          <p:nvPr/>
        </p:nvSpPr>
        <p:spPr bwMode="auto">
          <a:xfrm>
            <a:off x="4511675" y="4168775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真值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4785" name="Text Box 33"/>
          <p:cNvSpPr txBox="1">
            <a:spLocks noChangeArrowheads="1"/>
          </p:cNvSpPr>
          <p:nvPr/>
        </p:nvSpPr>
        <p:spPr bwMode="auto">
          <a:xfrm>
            <a:off x="2362200" y="4776788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最大正数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4786" name="Text Box 34"/>
          <p:cNvSpPr txBox="1">
            <a:spLocks noChangeArrowheads="1"/>
          </p:cNvSpPr>
          <p:nvPr/>
        </p:nvSpPr>
        <p:spPr bwMode="auto">
          <a:xfrm>
            <a:off x="2362200" y="5267325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最小正数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4787" name="Text Box 35"/>
          <p:cNvSpPr txBox="1">
            <a:spLocks noChangeArrowheads="1"/>
          </p:cNvSpPr>
          <p:nvPr/>
        </p:nvSpPr>
        <p:spPr bwMode="auto">
          <a:xfrm>
            <a:off x="2362200" y="5757863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最大负数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4788" name="Text Box 36"/>
          <p:cNvSpPr txBox="1">
            <a:spLocks noChangeArrowheads="1"/>
          </p:cNvSpPr>
          <p:nvPr/>
        </p:nvSpPr>
        <p:spPr bwMode="auto">
          <a:xfrm>
            <a:off x="2362200" y="624840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最小负数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14789" name="Text Box 37"/>
          <p:cNvSpPr txBox="1">
            <a:spLocks noChangeArrowheads="1"/>
          </p:cNvSpPr>
          <p:nvPr/>
        </p:nvSpPr>
        <p:spPr bwMode="auto">
          <a:xfrm>
            <a:off x="4059238" y="4724400"/>
            <a:ext cx="26463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 sz="2400" baseline="45000">
                <a:latin typeface="Times New Roman" panose="02020603050405020304" pitchFamily="18" charset="0"/>
              </a:rPr>
              <a:t>15</a:t>
            </a:r>
            <a:r>
              <a:rPr lang="zh-CN" altLang="en-US">
                <a:latin typeface="Times New Roman" panose="02020603050405020304" pitchFamily="18" charset="0"/>
              </a:rPr>
              <a:t>×(1</a:t>
            </a:r>
            <a:r>
              <a:rPr lang="zh-CN" altLang="en-US" sz="1000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47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 baseline="4500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4790" name="Text Box 38"/>
          <p:cNvSpPr txBox="1">
            <a:spLocks noChangeArrowheads="1"/>
          </p:cNvSpPr>
          <p:nvPr/>
        </p:nvSpPr>
        <p:spPr bwMode="auto">
          <a:xfrm>
            <a:off x="3962400" y="5214938"/>
            <a:ext cx="15224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 baseline="47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 baseline="45000">
                <a:latin typeface="Times New Roman" panose="02020603050405020304" pitchFamily="18" charset="0"/>
              </a:rPr>
              <a:t>15</a:t>
            </a:r>
            <a:r>
              <a:rPr lang="zh-CN" altLang="en-US">
                <a:latin typeface="Times New Roman" panose="02020603050405020304" pitchFamily="18" charset="0"/>
              </a:rPr>
              <a:t>× 2</a:t>
            </a:r>
            <a:r>
              <a:rPr lang="zh-CN" altLang="en-US" baseline="47000">
                <a:latin typeface="Times New Roman" panose="02020603050405020304" pitchFamily="18" charset="0"/>
              </a:rPr>
              <a:t>–</a:t>
            </a:r>
            <a:r>
              <a:rPr lang="zh-CN" altLang="en-US" sz="2400" baseline="45000">
                <a:latin typeface="Times New Roman" panose="02020603050405020304" pitchFamily="18" charset="0"/>
              </a:rPr>
              <a:t>10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4791" name="Text Box 39"/>
          <p:cNvSpPr txBox="1">
            <a:spLocks noChangeArrowheads="1"/>
          </p:cNvSpPr>
          <p:nvPr/>
        </p:nvSpPr>
        <p:spPr bwMode="auto">
          <a:xfrm>
            <a:off x="3810000" y="5705475"/>
            <a:ext cx="17033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r>
              <a:rPr lang="zh-CN" altLang="en-US" baseline="47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 baseline="4500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× 2</a:t>
            </a:r>
            <a:r>
              <a:rPr lang="zh-CN" altLang="en-US" baseline="47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 baseline="4500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400" baseline="4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4792" name="Text Box 40"/>
          <p:cNvSpPr txBox="1">
            <a:spLocks noChangeArrowheads="1"/>
          </p:cNvSpPr>
          <p:nvPr/>
        </p:nvSpPr>
        <p:spPr bwMode="auto">
          <a:xfrm>
            <a:off x="3810000" y="6196013"/>
            <a:ext cx="281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–2</a:t>
            </a:r>
            <a:r>
              <a:rPr lang="zh-CN" altLang="en-US" sz="2400" baseline="4500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×(1</a:t>
            </a:r>
            <a:r>
              <a:rPr lang="zh-CN" alt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47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 baseline="4500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4793" name="Text Box 41"/>
          <p:cNvSpPr txBox="1">
            <a:spLocks noChangeArrowheads="1"/>
          </p:cNvSpPr>
          <p:nvPr/>
        </p:nvSpPr>
        <p:spPr bwMode="auto">
          <a:xfrm>
            <a:off x="6781800" y="4724400"/>
            <a:ext cx="32654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0,1111; 0.1111111111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4794" name="Text Box 42"/>
          <p:cNvSpPr txBox="1">
            <a:spLocks noChangeArrowheads="1"/>
          </p:cNvSpPr>
          <p:nvPr/>
        </p:nvSpPr>
        <p:spPr bwMode="auto">
          <a:xfrm>
            <a:off x="6781800" y="5214938"/>
            <a:ext cx="3414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1,0001; 0.0000000001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4795" name="Text Box 43"/>
          <p:cNvSpPr txBox="1">
            <a:spLocks noChangeArrowheads="1"/>
          </p:cNvSpPr>
          <p:nvPr/>
        </p:nvSpPr>
        <p:spPr bwMode="auto">
          <a:xfrm>
            <a:off x="6781800" y="5705475"/>
            <a:ext cx="3414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1,0001; 1.1111111111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4796" name="Text Box 44"/>
          <p:cNvSpPr txBox="1">
            <a:spLocks noChangeArrowheads="1"/>
          </p:cNvSpPr>
          <p:nvPr/>
        </p:nvSpPr>
        <p:spPr bwMode="auto">
          <a:xfrm>
            <a:off x="6781800" y="6196013"/>
            <a:ext cx="3414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0,1111; 1.0000000001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4797" name="Text Box 45"/>
          <p:cNvSpPr txBox="1">
            <a:spLocks noChangeArrowheads="1"/>
          </p:cNvSpPr>
          <p:nvPr/>
        </p:nvSpPr>
        <p:spPr bwMode="auto">
          <a:xfrm>
            <a:off x="8001000" y="4168775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补码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1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4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4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14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1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1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14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1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14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14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55" grpId="0" autoUpdateAnimBg="0"/>
      <p:bldP spid="714783" grpId="0" autoUpdateAnimBg="0"/>
      <p:bldP spid="714784" grpId="0" autoUpdateAnimBg="0"/>
      <p:bldP spid="714785" grpId="0" autoUpdateAnimBg="0"/>
      <p:bldP spid="714786" grpId="0" autoUpdateAnimBg="0"/>
      <p:bldP spid="714787" grpId="0" autoUpdateAnimBg="0"/>
      <p:bldP spid="714788" grpId="0" autoUpdateAnimBg="0"/>
      <p:bldP spid="714789" grpId="0" autoUpdateAnimBg="0"/>
      <p:bldP spid="714790" grpId="0" autoUpdateAnimBg="0"/>
      <p:bldP spid="714791" grpId="0" autoUpdateAnimBg="0"/>
      <p:bldP spid="714792" grpId="0" autoUpdateAnimBg="0"/>
      <p:bldP spid="714793" grpId="0" autoUpdateAnimBg="0"/>
      <p:bldP spid="714794" grpId="0" autoUpdateAnimBg="0"/>
      <p:bldP spid="714795" grpId="0" autoUpdateAnimBg="0"/>
      <p:bldP spid="714796" grpId="0" autoUpdateAnimBg="0"/>
      <p:bldP spid="71479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Text Box 2"/>
          <p:cNvSpPr txBox="1">
            <a:spLocks noChangeArrowheads="1"/>
          </p:cNvSpPr>
          <p:nvPr/>
        </p:nvSpPr>
        <p:spPr bwMode="auto">
          <a:xfrm>
            <a:off x="2081213" y="695325"/>
            <a:ext cx="83216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 当浮点数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尾数为 0</a:t>
            </a:r>
            <a:r>
              <a:rPr lang="zh-CN" altLang="en-US">
                <a:latin typeface="Times New Roman" panose="02020603050405020304" pitchFamily="18" charset="0"/>
              </a:rPr>
              <a:t> 时，不论其阶码为何值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>
                <a:latin typeface="Times New Roman" panose="02020603050405020304" pitchFamily="18" charset="0"/>
              </a:rPr>
              <a:t>按机器零处理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1042988" y="20638"/>
            <a:ext cx="3673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机器零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15780" name="Text Box 4"/>
          <p:cNvSpPr txBox="1">
            <a:spLocks noChangeArrowheads="1"/>
          </p:cNvSpPr>
          <p:nvPr/>
        </p:nvSpPr>
        <p:spPr bwMode="auto">
          <a:xfrm>
            <a:off x="2081213" y="1685925"/>
            <a:ext cx="75596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 当浮点数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阶码等于或小于它所表示的最小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     数 </a:t>
            </a:r>
            <a:r>
              <a:rPr lang="zh-CN" altLang="en-US">
                <a:latin typeface="Times New Roman" panose="02020603050405020304" pitchFamily="18" charset="0"/>
              </a:rPr>
              <a:t>时，不论尾数为何值，按机器零处理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5781" name="Text Box 5"/>
          <p:cNvSpPr txBox="1">
            <a:spLocks noChangeArrowheads="1"/>
          </p:cNvSpPr>
          <p:nvPr/>
        </p:nvSpPr>
        <p:spPr bwMode="auto">
          <a:xfrm>
            <a:off x="2614613" y="2676525"/>
            <a:ext cx="3902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如  </a:t>
            </a:r>
            <a:r>
              <a:rPr lang="en-US" altLang="zh-CN" i="1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 = 4       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= 10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15782" name="Text Box 6"/>
          <p:cNvSpPr txBox="1">
            <a:spLocks noChangeArrowheads="1"/>
          </p:cNvSpPr>
          <p:nvPr/>
        </p:nvSpPr>
        <p:spPr bwMode="auto">
          <a:xfrm>
            <a:off x="2208213" y="4886325"/>
            <a:ext cx="7327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当阶码用移码，尾数用补码表示时，机器零为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15783" name="Group 7"/>
          <p:cNvGrpSpPr/>
          <p:nvPr/>
        </p:nvGrpSpPr>
        <p:grpSpPr bwMode="auto">
          <a:xfrm>
            <a:off x="3992563" y="5267325"/>
            <a:ext cx="4184650" cy="595313"/>
            <a:chOff x="1722" y="3504"/>
            <a:chExt cx="2636" cy="375"/>
          </a:xfrm>
        </p:grpSpPr>
        <p:sp>
          <p:nvSpPr>
            <p:cNvPr id="39955" name="Text Box 8"/>
            <p:cNvSpPr txBox="1">
              <a:spLocks noChangeArrowheads="1"/>
            </p:cNvSpPr>
            <p:nvPr/>
          </p:nvSpPr>
          <p:spPr bwMode="auto">
            <a:xfrm>
              <a:off x="1722" y="3552"/>
              <a:ext cx="26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0, 0 0 0 0；0. 0 0               0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6" name="Text Box 9"/>
            <p:cNvSpPr txBox="1">
              <a:spLocks noChangeArrowheads="1"/>
            </p:cNvSpPr>
            <p:nvPr/>
          </p:nvSpPr>
          <p:spPr bwMode="auto">
            <a:xfrm>
              <a:off x="3504" y="3504"/>
              <a:ext cx="6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　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r>
                <a:rPr lang="zh-CN" altLang="en-US">
                  <a:latin typeface="Times New Roman" panose="02020603050405020304" pitchFamily="18" charset="0"/>
                </a:rPr>
                <a:t>   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15786" name="Group 10"/>
          <p:cNvGrpSpPr/>
          <p:nvPr/>
        </p:nvGrpSpPr>
        <p:grpSpPr bwMode="auto">
          <a:xfrm>
            <a:off x="3833813" y="4108450"/>
            <a:ext cx="5883275" cy="625475"/>
            <a:chOff x="1622" y="2774"/>
            <a:chExt cx="3706" cy="394"/>
          </a:xfrm>
        </p:grpSpPr>
        <p:sp>
          <p:nvSpPr>
            <p:cNvPr id="39953" name="Text Box 11"/>
            <p:cNvSpPr txBox="1">
              <a:spLocks noChangeArrowheads="1"/>
            </p:cNvSpPr>
            <p:nvPr/>
          </p:nvSpPr>
          <p:spPr bwMode="auto">
            <a:xfrm>
              <a:off x="1622" y="2841"/>
              <a:ext cx="37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1,  0  0  0  0</a:t>
              </a:r>
              <a:r>
                <a:rPr lang="zh-CN" altLang="en-US">
                  <a:latin typeface="Times New Roman" panose="02020603050405020304" pitchFamily="18" charset="0"/>
                </a:rPr>
                <a:t> ；  </a:t>
              </a:r>
              <a:r>
                <a:rPr lang="zh-CN" altLang="en-US" sz="2400">
                  <a:latin typeface="Times New Roman" panose="02020603050405020304" pitchFamily="18" charset="0"/>
                </a:rPr>
                <a:t>×.××               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9954" name="Text Box 12"/>
            <p:cNvSpPr txBox="1">
              <a:spLocks noChangeArrowheads="1"/>
            </p:cNvSpPr>
            <p:nvPr/>
          </p:nvSpPr>
          <p:spPr bwMode="auto">
            <a:xfrm>
              <a:off x="3980" y="2774"/>
              <a:ext cx="6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200">
                  <a:latin typeface="Times New Roman" panose="02020603050405020304" pitchFamily="18" charset="0"/>
                </a:rPr>
                <a:t>　</a:t>
              </a:r>
              <a:r>
                <a:rPr lang="zh-CN" altLang="en-US">
                  <a:latin typeface="Times New Roman" panose="02020603050405020304" pitchFamily="18" charset="0"/>
                </a:rPr>
                <a:t>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15789" name="Group 13"/>
          <p:cNvGrpSpPr/>
          <p:nvPr/>
        </p:nvGrpSpPr>
        <p:grpSpPr bwMode="auto">
          <a:xfrm>
            <a:off x="3849688" y="3605213"/>
            <a:ext cx="5959475" cy="627062"/>
            <a:chOff x="1622" y="2457"/>
            <a:chExt cx="3754" cy="395"/>
          </a:xfrm>
        </p:grpSpPr>
        <p:sp>
          <p:nvSpPr>
            <p:cNvPr id="39951" name="Text Box 14"/>
            <p:cNvSpPr txBox="1">
              <a:spLocks noChangeArrowheads="1"/>
            </p:cNvSpPr>
            <p:nvPr/>
          </p:nvSpPr>
          <p:spPr bwMode="auto">
            <a:xfrm>
              <a:off x="1622" y="2525"/>
              <a:ext cx="37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×, × × × ×</a:t>
              </a:r>
              <a:r>
                <a:rPr lang="zh-CN" altLang="en-US">
                  <a:latin typeface="Times New Roman" panose="02020603050405020304" pitchFamily="18" charset="0"/>
                </a:rPr>
                <a:t>；  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0. 0  0              0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2" name="Text Box 15"/>
            <p:cNvSpPr txBox="1">
              <a:spLocks noChangeArrowheads="1"/>
            </p:cNvSpPr>
            <p:nvPr/>
          </p:nvSpPr>
          <p:spPr bwMode="auto">
            <a:xfrm>
              <a:off x="3984" y="2457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　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15792" name="Text Box 16"/>
          <p:cNvSpPr txBox="1">
            <a:spLocks noChangeArrowheads="1"/>
          </p:cNvSpPr>
          <p:nvPr/>
        </p:nvSpPr>
        <p:spPr bwMode="auto">
          <a:xfrm>
            <a:off x="2208213" y="5876925"/>
            <a:ext cx="6975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有利于机器中“ 判 0 ” 电路的实现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5793" name="Text Box 17"/>
          <p:cNvSpPr txBox="1">
            <a:spLocks noChangeArrowheads="1"/>
          </p:cNvSpPr>
          <p:nvPr/>
        </p:nvSpPr>
        <p:spPr bwMode="auto">
          <a:xfrm>
            <a:off x="2208213" y="3209925"/>
            <a:ext cx="7508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当阶码和尾数都用补码表示时，机器零为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15795" name="Group 19"/>
          <p:cNvGrpSpPr/>
          <p:nvPr/>
        </p:nvGrpSpPr>
        <p:grpSpPr bwMode="auto">
          <a:xfrm>
            <a:off x="1447800" y="4200525"/>
            <a:ext cx="3087688" cy="519113"/>
            <a:chOff x="119" y="2832"/>
            <a:chExt cx="1945" cy="327"/>
          </a:xfrm>
        </p:grpSpPr>
        <p:sp>
          <p:nvSpPr>
            <p:cNvPr id="39949" name="Text Box 20"/>
            <p:cNvSpPr txBox="1">
              <a:spLocks noChangeArrowheads="1"/>
            </p:cNvSpPr>
            <p:nvPr/>
          </p:nvSpPr>
          <p:spPr bwMode="auto">
            <a:xfrm>
              <a:off x="119" y="2832"/>
              <a:ext cx="194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（阶码 </a:t>
              </a: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</a:rPr>
                <a:t>=  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）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0" name="Line 21"/>
            <p:cNvSpPr>
              <a:spLocks noChangeShapeType="1"/>
            </p:cNvSpPr>
            <p:nvPr/>
          </p:nvSpPr>
          <p:spPr bwMode="auto">
            <a:xfrm>
              <a:off x="1104" y="3003"/>
              <a:ext cx="96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5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78" grpId="0" autoUpdateAnimBg="0"/>
      <p:bldP spid="715780" grpId="0" autoUpdateAnimBg="0"/>
      <p:bldP spid="715781" grpId="0" autoUpdateAnimBg="0"/>
      <p:bldP spid="715782" grpId="0" autoUpdateAnimBg="0"/>
      <p:bldP spid="715792" grpId="0" autoUpdateAnimBg="0"/>
      <p:bldP spid="71579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36" y="27101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IEEE 754</a:t>
            </a:r>
            <a:r>
              <a:rPr lang="zh-CN" altLang="en-US" b="1" dirty="0"/>
              <a:t>标准浮点数格式</a:t>
            </a:r>
            <a:endParaRPr lang="zh-CN" altLang="en-US" b="1" dirty="0"/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335360" y="1052736"/>
            <a:ext cx="7772400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格式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3480" y="2195736"/>
            <a:ext cx="7573432" cy="3305636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5" name="对话气泡: 矩形 4"/>
          <p:cNvSpPr/>
          <p:nvPr/>
        </p:nvSpPr>
        <p:spPr>
          <a:xfrm>
            <a:off x="7964160" y="1827112"/>
            <a:ext cx="1944216" cy="737248"/>
          </a:xfrm>
          <a:prstGeom prst="wedgeRectCallout">
            <a:avLst>
              <a:gd name="adj1" fmla="val -50874"/>
              <a:gd name="adj2" fmla="val 88169"/>
            </a:avLst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32</a:t>
            </a:r>
            <a:r>
              <a:rPr lang="zh-CN" altLang="en-US" sz="3200" dirty="0"/>
              <a:t>位</a:t>
            </a:r>
            <a:endParaRPr lang="zh-CN" altLang="en-US" sz="3200" dirty="0"/>
          </a:p>
        </p:txBody>
      </p:sp>
      <p:sp>
        <p:nvSpPr>
          <p:cNvPr id="6" name="对话气泡: 矩形 5"/>
          <p:cNvSpPr/>
          <p:nvPr/>
        </p:nvSpPr>
        <p:spPr>
          <a:xfrm>
            <a:off x="8684240" y="5436060"/>
            <a:ext cx="1944216" cy="738408"/>
          </a:xfrm>
          <a:prstGeom prst="wedgeRectCallout">
            <a:avLst>
              <a:gd name="adj1" fmla="val -49388"/>
              <a:gd name="adj2" fmla="val -98229"/>
            </a:avLst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64</a:t>
            </a:r>
            <a:r>
              <a:rPr lang="zh-CN" altLang="en-US" sz="3200" dirty="0"/>
              <a:t>位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335360" y="260648"/>
            <a:ext cx="7772400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偏移量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127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的由来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271464" y="1043608"/>
            <a:ext cx="9073008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457200" indent="-457200" defTabSz="914400" eaLnBrk="1" hangingPunct="1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单精度，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位，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00000000-11111111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 即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0-255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271464" y="1628800"/>
            <a:ext cx="10500973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457200" indent="-457200" defTabSz="914400" eaLnBrk="1" hangingPunct="1"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00000000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11111111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抽取出来，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 eaLnBrk="1" hangingPunct="1"/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剩下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00000001 – 11111110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，共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254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个码，所以偏移量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127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" name="Group 5"/>
          <p:cNvGrpSpPr/>
          <p:nvPr/>
        </p:nvGrpSpPr>
        <p:grpSpPr bwMode="auto">
          <a:xfrm>
            <a:off x="3429893" y="3054674"/>
            <a:ext cx="4756150" cy="1749426"/>
            <a:chOff x="1658" y="1671"/>
            <a:chExt cx="2996" cy="1102"/>
          </a:xfrm>
        </p:grpSpPr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2107" y="1968"/>
              <a:ext cx="1999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1658" y="2448"/>
              <a:ext cx="2016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1985" y="1968"/>
              <a:ext cx="489" cy="486"/>
            </a:xfrm>
            <a:custGeom>
              <a:avLst/>
              <a:gdLst>
                <a:gd name="T0" fmla="*/ 489 w 489"/>
                <a:gd name="T1" fmla="*/ 0 h 486"/>
                <a:gd name="T2" fmla="*/ 0 w 489"/>
                <a:gd name="T3" fmla="*/ 486 h 4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9" h="486">
                  <a:moveTo>
                    <a:pt x="489" y="0"/>
                  </a:moveTo>
                  <a:lnTo>
                    <a:pt x="0" y="486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Freeform 9"/>
            <p:cNvSpPr/>
            <p:nvPr/>
          </p:nvSpPr>
          <p:spPr bwMode="auto">
            <a:xfrm>
              <a:off x="2657" y="1968"/>
              <a:ext cx="489" cy="486"/>
            </a:xfrm>
            <a:custGeom>
              <a:avLst/>
              <a:gdLst>
                <a:gd name="T0" fmla="*/ 489 w 489"/>
                <a:gd name="T1" fmla="*/ 0 h 486"/>
                <a:gd name="T2" fmla="*/ 0 w 489"/>
                <a:gd name="T3" fmla="*/ 486 h 4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9" h="486">
                  <a:moveTo>
                    <a:pt x="489" y="0"/>
                  </a:moveTo>
                  <a:lnTo>
                    <a:pt x="0" y="486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Freeform 10"/>
            <p:cNvSpPr/>
            <p:nvPr/>
          </p:nvSpPr>
          <p:spPr bwMode="auto">
            <a:xfrm>
              <a:off x="3338" y="1968"/>
              <a:ext cx="489" cy="486"/>
            </a:xfrm>
            <a:custGeom>
              <a:avLst/>
              <a:gdLst>
                <a:gd name="T0" fmla="*/ 489 w 489"/>
                <a:gd name="T1" fmla="*/ 0 h 486"/>
                <a:gd name="T2" fmla="*/ 0 w 489"/>
                <a:gd name="T3" fmla="*/ 486 h 4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9" h="486">
                  <a:moveTo>
                    <a:pt x="489" y="0"/>
                  </a:moveTo>
                  <a:lnTo>
                    <a:pt x="0" y="486"/>
                  </a:lnTo>
                </a:path>
              </a:pathLst>
            </a:custGeom>
            <a:noFill/>
            <a:ln w="28575" cmpd="sng">
              <a:solidFill>
                <a:schemeClr val="folHlink"/>
              </a:solidFill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4106" y="1872"/>
              <a:ext cx="5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[</a:t>
              </a:r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latin typeface="Times New Roman" panose="02020603050405020304" pitchFamily="18" charset="0"/>
                </a:rPr>
                <a:t>]</a:t>
              </a:r>
              <a:r>
                <a:rPr lang="zh-CN" altLang="en-US" sz="2000" baseline="-25000">
                  <a:latin typeface="Times New Roman" panose="02020603050405020304" pitchFamily="18" charset="0"/>
                </a:rPr>
                <a:t>移码</a:t>
              </a:r>
              <a:endParaRPr lang="zh-CN" altLang="en-US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3635" y="1686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254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2974" y="1671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127</a:t>
              </a:r>
              <a:endParaRPr lang="en-US" altLang="zh-CN" sz="3200" i="1" baseline="40000" dirty="0">
                <a:latin typeface="Times New Roman" panose="02020603050405020304" pitchFamily="18" charset="0"/>
              </a:endParaRP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3135" y="2482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127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1739" y="2482"/>
              <a:ext cx="5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–126</a:t>
              </a:r>
              <a:endParaRPr lang="en-US" altLang="zh-CN" sz="3200" i="1" baseline="4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2560" y="248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2426" y="16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3674" y="2342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真值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2732179" y="4741199"/>
            <a:ext cx="1589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01111110</a:t>
            </a:r>
            <a:endParaRPr lang="en-US" altLang="zh-CN" sz="3200" i="1" baseline="4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3593052" y="2694113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00000001</a:t>
            </a:r>
            <a:endParaRPr lang="en-US" altLang="zh-CN" sz="3200" i="1" baseline="4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5141145" y="2700262"/>
            <a:ext cx="13472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01111111</a:t>
            </a:r>
            <a:endParaRPr lang="en-US" altLang="zh-CN" sz="3200" i="1" baseline="4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6521950" y="2718370"/>
            <a:ext cx="13472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11111110</a:t>
            </a:r>
            <a:endParaRPr lang="en-US" altLang="zh-CN" sz="3200" i="1" baseline="4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Box 15"/>
          <p:cNvSpPr txBox="1">
            <a:spLocks noChangeArrowheads="1"/>
          </p:cNvSpPr>
          <p:nvPr/>
        </p:nvSpPr>
        <p:spPr bwMode="auto">
          <a:xfrm>
            <a:off x="4358581" y="4741198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00000000</a:t>
            </a:r>
            <a:endParaRPr lang="en-US" altLang="zh-CN" sz="3200" i="1" baseline="4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Box 15"/>
          <p:cNvSpPr txBox="1">
            <a:spLocks noChangeArrowheads="1"/>
          </p:cNvSpPr>
          <p:nvPr/>
        </p:nvSpPr>
        <p:spPr bwMode="auto">
          <a:xfrm>
            <a:off x="5978326" y="4732513"/>
            <a:ext cx="13472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01111111</a:t>
            </a:r>
            <a:endParaRPr lang="en-US" altLang="zh-CN" sz="3200" i="1" baseline="4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63352" y="426139"/>
            <a:ext cx="7772400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偏移量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127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的由来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127448" y="1019726"/>
            <a:ext cx="10500973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457200" indent="-457200" defTabSz="914400" eaLnBrk="1" hangingPunct="1"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00000000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11111111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抽取出来，定义了除了规格化浮点数外的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种数据类型。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600" y="2635394"/>
            <a:ext cx="7681640" cy="2142717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263352" y="188640"/>
            <a:ext cx="7772400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3. IEEE 754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浮点数举例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67408" y="836712"/>
            <a:ext cx="10500973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将十进制数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178.125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表示成单精度浮点数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926276" y="1556792"/>
            <a:ext cx="10500973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178.125 ==》 10110010.001 ==》 1.0110010001 * 2</a:t>
            </a:r>
            <a:r>
              <a:rPr lang="en-US" altLang="zh-CN" sz="2800" b="1" baseline="30000" dirty="0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endParaRPr lang="en-US" altLang="zh-CN" sz="2800" b="1" baseline="30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926275" y="2348880"/>
            <a:ext cx="10500973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e  = 111 + 01111111 = 10000110</a:t>
            </a:r>
            <a:endParaRPr lang="en-US" altLang="zh-CN" sz="2800" b="1" baseline="30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926275" y="3284984"/>
            <a:ext cx="10500973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）按照格式 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0 10000110 01100100010000000000000</a:t>
            </a:r>
            <a:endParaRPr lang="en-US" altLang="zh-CN" sz="2800" b="1" baseline="30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" y="-173038"/>
            <a:ext cx="7772400" cy="1143001"/>
          </a:xfrm>
        </p:spPr>
        <p:txBody>
          <a:bodyPr/>
          <a:lstStyle/>
          <a:p>
            <a:pPr eaLnBrk="1" hangingPunct="1"/>
            <a:r>
              <a:rPr lang="en-US" altLang="zh-CN" b="1"/>
              <a:t>III </a:t>
            </a:r>
            <a:r>
              <a:rPr lang="zh-CN" altLang="en-US" b="1"/>
              <a:t>定 点 运 算</a:t>
            </a:r>
            <a:endParaRPr lang="zh-CN" altLang="en-US" b="1"/>
          </a:p>
        </p:txBody>
      </p:sp>
      <p:sp>
        <p:nvSpPr>
          <p:cNvPr id="717827" name="Text Box 3"/>
          <p:cNvSpPr txBox="1">
            <a:spLocks noChangeArrowheads="1"/>
          </p:cNvSpPr>
          <p:nvPr/>
        </p:nvSpPr>
        <p:spPr bwMode="auto">
          <a:xfrm>
            <a:off x="1470025" y="762000"/>
            <a:ext cx="2936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一、移位运算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17828" name="Text Box 4"/>
          <p:cNvSpPr txBox="1">
            <a:spLocks noChangeArrowheads="1"/>
          </p:cNvSpPr>
          <p:nvPr/>
        </p:nvSpPr>
        <p:spPr bwMode="auto">
          <a:xfrm>
            <a:off x="2019300" y="1524000"/>
            <a:ext cx="26304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1. 移位的意义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17829" name="Text Box 5"/>
          <p:cNvSpPr txBox="1">
            <a:spLocks noChangeArrowheads="1"/>
          </p:cNvSpPr>
          <p:nvPr/>
        </p:nvSpPr>
        <p:spPr bwMode="auto">
          <a:xfrm>
            <a:off x="2705100" y="2185988"/>
            <a:ext cx="2827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15  </a:t>
            </a:r>
            <a:r>
              <a:rPr lang="en-US" altLang="zh-CN">
                <a:latin typeface="Times New Roman" panose="02020603050405020304" pitchFamily="18" charset="0"/>
              </a:rPr>
              <a:t>m = 1500  cm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17830" name="Text Box 6"/>
          <p:cNvSpPr txBox="1">
            <a:spLocks noChangeArrowheads="1"/>
          </p:cNvSpPr>
          <p:nvPr/>
        </p:nvSpPr>
        <p:spPr bwMode="auto">
          <a:xfrm>
            <a:off x="2994025" y="2789238"/>
            <a:ext cx="2682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小数点右移 2 位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831" name="Text Box 7"/>
          <p:cNvSpPr txBox="1">
            <a:spLocks noChangeArrowheads="1"/>
          </p:cNvSpPr>
          <p:nvPr/>
        </p:nvSpPr>
        <p:spPr bwMode="auto">
          <a:xfrm>
            <a:off x="2155825" y="3443288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机器用语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17832" name="Group 8"/>
          <p:cNvGrpSpPr/>
          <p:nvPr/>
        </p:nvGrpSpPr>
        <p:grpSpPr bwMode="auto">
          <a:xfrm>
            <a:off x="4297363" y="3443288"/>
            <a:ext cx="4302125" cy="1109662"/>
            <a:chOff x="1963" y="2409"/>
            <a:chExt cx="2710" cy="699"/>
          </a:xfrm>
        </p:grpSpPr>
        <p:sp>
          <p:nvSpPr>
            <p:cNvPr id="40975" name="Text Box 9"/>
            <p:cNvSpPr txBox="1">
              <a:spLocks noChangeArrowheads="1"/>
            </p:cNvSpPr>
            <p:nvPr/>
          </p:nvSpPr>
          <p:spPr bwMode="auto">
            <a:xfrm>
              <a:off x="1963" y="2409"/>
              <a:ext cx="27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15 相对于小数点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左移 2 位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6" name="Text Box 10"/>
            <p:cNvSpPr txBox="1">
              <a:spLocks noChangeArrowheads="1"/>
            </p:cNvSpPr>
            <p:nvPr/>
          </p:nvSpPr>
          <p:spPr bwMode="auto">
            <a:xfrm>
              <a:off x="2203" y="2781"/>
              <a:ext cx="18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（ 小数点不动 ）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17842" name="Group 18"/>
          <p:cNvGrpSpPr/>
          <p:nvPr/>
        </p:nvGrpSpPr>
        <p:grpSpPr bwMode="auto">
          <a:xfrm>
            <a:off x="3071813" y="2209800"/>
            <a:ext cx="1847850" cy="579438"/>
            <a:chOff x="1191" y="1632"/>
            <a:chExt cx="1164" cy="365"/>
          </a:xfrm>
        </p:grpSpPr>
        <p:sp>
          <p:nvSpPr>
            <p:cNvPr id="40973" name="Text Box 12"/>
            <p:cNvSpPr txBox="1">
              <a:spLocks noChangeArrowheads="1"/>
            </p:cNvSpPr>
            <p:nvPr/>
          </p:nvSpPr>
          <p:spPr bwMode="auto">
            <a:xfrm>
              <a:off x="1191" y="1632"/>
              <a:ext cx="1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.</a:t>
              </a:r>
              <a:endPara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4" name="Text Box 13"/>
            <p:cNvSpPr txBox="1">
              <a:spLocks noChangeArrowheads="1"/>
            </p:cNvSpPr>
            <p:nvPr/>
          </p:nvSpPr>
          <p:spPr bwMode="auto">
            <a:xfrm>
              <a:off x="2175" y="1632"/>
              <a:ext cx="1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.</a:t>
              </a:r>
              <a:endPara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17838" name="Text Box 14"/>
          <p:cNvSpPr txBox="1">
            <a:spLocks noChangeArrowheads="1"/>
          </p:cNvSpPr>
          <p:nvPr/>
        </p:nvSpPr>
        <p:spPr bwMode="auto">
          <a:xfrm>
            <a:off x="2765425" y="4624388"/>
            <a:ext cx="3573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左移          绝对值扩大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7839" name="Text Box 15"/>
          <p:cNvSpPr txBox="1">
            <a:spLocks noChangeArrowheads="1"/>
          </p:cNvSpPr>
          <p:nvPr/>
        </p:nvSpPr>
        <p:spPr bwMode="auto">
          <a:xfrm>
            <a:off x="2781300" y="5214938"/>
            <a:ext cx="3573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右移          绝对值缩小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7840" name="Text Box 16"/>
          <p:cNvSpPr txBox="1">
            <a:spLocks noChangeArrowheads="1"/>
          </p:cNvSpPr>
          <p:nvPr/>
        </p:nvSpPr>
        <p:spPr bwMode="auto">
          <a:xfrm>
            <a:off x="1866900" y="5805488"/>
            <a:ext cx="845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在计算机中，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移位与加减配合，能够实现乘除运算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1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1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1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1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1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17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27" grpId="0" autoUpdateAnimBg="0"/>
      <p:bldP spid="717828" grpId="0" autoUpdateAnimBg="0"/>
      <p:bldP spid="717829" grpId="0" autoUpdateAnimBg="0"/>
      <p:bldP spid="717830" grpId="0" autoUpdateAnimBg="0"/>
      <p:bldP spid="717831" grpId="0" autoUpdateAnimBg="0"/>
      <p:bldP spid="717838" grpId="0" autoUpdateAnimBg="0"/>
      <p:bldP spid="717839" grpId="0" autoUpdateAnimBg="0"/>
      <p:bldP spid="71784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263525" y="79375"/>
            <a:ext cx="3394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2. 算术移位规则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823299" name="Rectangle 3"/>
          <p:cNvSpPr>
            <a:spLocks noChangeArrowheads="1"/>
          </p:cNvSpPr>
          <p:nvPr/>
        </p:nvSpPr>
        <p:spPr bwMode="auto">
          <a:xfrm>
            <a:off x="7070725" y="5065713"/>
            <a:ext cx="1700213" cy="67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zh-CN" altLang="en-US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300" name="Rectangle 4"/>
          <p:cNvSpPr>
            <a:spLocks noChangeArrowheads="1"/>
          </p:cNvSpPr>
          <p:nvPr/>
        </p:nvSpPr>
        <p:spPr bwMode="auto">
          <a:xfrm>
            <a:off x="7070725" y="4389438"/>
            <a:ext cx="1700213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右移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添 </a:t>
            </a:r>
            <a:r>
              <a:rPr kumimoji="1" lang="zh-CN" altLang="en-US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zh-CN" altLang="en-US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301" name="Rectangle 5"/>
          <p:cNvSpPr>
            <a:spLocks noChangeArrowheads="1"/>
          </p:cNvSpPr>
          <p:nvPr/>
        </p:nvSpPr>
        <p:spPr bwMode="auto">
          <a:xfrm>
            <a:off x="7070725" y="3711575"/>
            <a:ext cx="1700213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左移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添 </a:t>
            </a:r>
            <a:r>
              <a:rPr kumimoji="1" lang="zh-CN" altLang="en-US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en-US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302" name="Rectangle 6"/>
          <p:cNvSpPr>
            <a:spLocks noChangeArrowheads="1"/>
          </p:cNvSpPr>
          <p:nvPr/>
        </p:nvSpPr>
        <p:spPr bwMode="auto">
          <a:xfrm>
            <a:off x="7070725" y="2995613"/>
            <a:ext cx="1700213" cy="71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en-US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303" name="Rectangle 7"/>
          <p:cNvSpPr>
            <a:spLocks noChangeArrowheads="1"/>
          </p:cNvSpPr>
          <p:nvPr/>
        </p:nvSpPr>
        <p:spPr bwMode="auto">
          <a:xfrm>
            <a:off x="3751263" y="5065713"/>
            <a:ext cx="3319462" cy="67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反       码</a:t>
            </a:r>
            <a:endParaRPr kumimoji="1"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304" name="Rectangle 8"/>
          <p:cNvSpPr>
            <a:spLocks noChangeArrowheads="1"/>
          </p:cNvSpPr>
          <p:nvPr/>
        </p:nvSpPr>
        <p:spPr bwMode="auto">
          <a:xfrm>
            <a:off x="3751263" y="3711575"/>
            <a:ext cx="3319462" cy="135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补       码</a:t>
            </a:r>
            <a:endParaRPr kumimoji="1"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305" name="Rectangle 9"/>
          <p:cNvSpPr>
            <a:spLocks noChangeArrowheads="1"/>
          </p:cNvSpPr>
          <p:nvPr/>
        </p:nvSpPr>
        <p:spPr bwMode="auto">
          <a:xfrm>
            <a:off x="3751263" y="2995613"/>
            <a:ext cx="3319462" cy="71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原       码</a:t>
            </a:r>
            <a:endParaRPr kumimoji="1"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306" name="Rectangle 10"/>
          <p:cNvSpPr>
            <a:spLocks noChangeArrowheads="1"/>
          </p:cNvSpPr>
          <p:nvPr/>
        </p:nvSpPr>
        <p:spPr bwMode="auto">
          <a:xfrm>
            <a:off x="2293938" y="2995613"/>
            <a:ext cx="1457325" cy="274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负数</a:t>
            </a:r>
            <a:endParaRPr kumimoji="1"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307" name="Rectangle 11"/>
          <p:cNvSpPr>
            <a:spLocks noChangeArrowheads="1"/>
          </p:cNvSpPr>
          <p:nvPr/>
        </p:nvSpPr>
        <p:spPr bwMode="auto">
          <a:xfrm>
            <a:off x="7070725" y="2319338"/>
            <a:ext cx="1700213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en-US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308" name="Rectangle 12"/>
          <p:cNvSpPr>
            <a:spLocks noChangeArrowheads="1"/>
          </p:cNvSpPr>
          <p:nvPr/>
        </p:nvSpPr>
        <p:spPr bwMode="auto">
          <a:xfrm>
            <a:off x="3751263" y="2319338"/>
            <a:ext cx="3319462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原码、补码、反码</a:t>
            </a:r>
            <a:endParaRPr kumimoji="1"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309" name="Rectangle 13"/>
          <p:cNvSpPr>
            <a:spLocks noChangeArrowheads="1"/>
          </p:cNvSpPr>
          <p:nvPr/>
        </p:nvSpPr>
        <p:spPr bwMode="auto">
          <a:xfrm>
            <a:off x="2293938" y="2319338"/>
            <a:ext cx="145732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正数</a:t>
            </a:r>
            <a:endParaRPr kumimoji="1"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310" name="Text Box 14"/>
          <p:cNvSpPr txBox="1">
            <a:spLocks noChangeArrowheads="1"/>
          </p:cNvSpPr>
          <p:nvPr/>
        </p:nvSpPr>
        <p:spPr bwMode="auto">
          <a:xfrm>
            <a:off x="1487488" y="912813"/>
            <a:ext cx="1970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符号位不变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823312" name="Group 16"/>
          <p:cNvGrpSpPr/>
          <p:nvPr/>
        </p:nvGrpSpPr>
        <p:grpSpPr bwMode="auto">
          <a:xfrm>
            <a:off x="2279650" y="1628775"/>
            <a:ext cx="6491288" cy="4114800"/>
            <a:chOff x="951" y="1117"/>
            <a:chExt cx="4089" cy="2592"/>
          </a:xfrm>
        </p:grpSpPr>
        <p:grpSp>
          <p:nvGrpSpPr>
            <p:cNvPr id="42000" name="Group 17"/>
            <p:cNvGrpSpPr/>
            <p:nvPr/>
          </p:nvGrpSpPr>
          <p:grpSpPr bwMode="auto">
            <a:xfrm>
              <a:off x="960" y="1136"/>
              <a:ext cx="4080" cy="2573"/>
              <a:chOff x="960" y="1136"/>
              <a:chExt cx="4080" cy="2573"/>
            </a:xfrm>
          </p:grpSpPr>
          <p:sp>
            <p:nvSpPr>
              <p:cNvPr id="42005" name="Rectangle 18"/>
              <p:cNvSpPr>
                <a:spLocks noChangeArrowheads="1"/>
              </p:cNvSpPr>
              <p:nvPr/>
            </p:nvSpPr>
            <p:spPr bwMode="auto">
              <a:xfrm>
                <a:off x="960" y="1136"/>
                <a:ext cx="918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endPara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06" name="Line 19"/>
              <p:cNvSpPr>
                <a:spLocks noChangeShapeType="1"/>
              </p:cNvSpPr>
              <p:nvPr/>
            </p:nvSpPr>
            <p:spPr bwMode="auto">
              <a:xfrm>
                <a:off x="960" y="1136"/>
                <a:ext cx="40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2007" name="Line 20"/>
              <p:cNvSpPr>
                <a:spLocks noChangeShapeType="1"/>
              </p:cNvSpPr>
              <p:nvPr/>
            </p:nvSpPr>
            <p:spPr bwMode="auto">
              <a:xfrm>
                <a:off x="960" y="1552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2008" name="Line 21"/>
              <p:cNvSpPr>
                <a:spLocks noChangeShapeType="1"/>
              </p:cNvSpPr>
              <p:nvPr/>
            </p:nvSpPr>
            <p:spPr bwMode="auto">
              <a:xfrm>
                <a:off x="960" y="1978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2009" name="Line 22"/>
              <p:cNvSpPr>
                <a:spLocks noChangeShapeType="1"/>
              </p:cNvSpPr>
              <p:nvPr/>
            </p:nvSpPr>
            <p:spPr bwMode="auto">
              <a:xfrm>
                <a:off x="960" y="3709"/>
                <a:ext cx="40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2010" name="Line 23"/>
              <p:cNvSpPr>
                <a:spLocks noChangeShapeType="1"/>
              </p:cNvSpPr>
              <p:nvPr/>
            </p:nvSpPr>
            <p:spPr bwMode="auto">
              <a:xfrm>
                <a:off x="960" y="1136"/>
                <a:ext cx="0" cy="257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2011" name="Line 24"/>
              <p:cNvSpPr>
                <a:spLocks noChangeShapeType="1"/>
              </p:cNvSpPr>
              <p:nvPr/>
            </p:nvSpPr>
            <p:spPr bwMode="auto">
              <a:xfrm>
                <a:off x="1878" y="1136"/>
                <a:ext cx="0" cy="25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2012" name="Line 25"/>
              <p:cNvSpPr>
                <a:spLocks noChangeShapeType="1"/>
              </p:cNvSpPr>
              <p:nvPr/>
            </p:nvSpPr>
            <p:spPr bwMode="auto">
              <a:xfrm>
                <a:off x="3969" y="1136"/>
                <a:ext cx="0" cy="25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2013" name="Line 26"/>
              <p:cNvSpPr>
                <a:spLocks noChangeShapeType="1"/>
              </p:cNvSpPr>
              <p:nvPr/>
            </p:nvSpPr>
            <p:spPr bwMode="auto">
              <a:xfrm>
                <a:off x="5040" y="1136"/>
                <a:ext cx="0" cy="2573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2014" name="Line 27"/>
              <p:cNvSpPr>
                <a:spLocks noChangeShapeType="1"/>
              </p:cNvSpPr>
              <p:nvPr/>
            </p:nvSpPr>
            <p:spPr bwMode="auto">
              <a:xfrm>
                <a:off x="1878" y="2429"/>
                <a:ext cx="316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2015" name="Line 28"/>
              <p:cNvSpPr>
                <a:spLocks noChangeShapeType="1"/>
              </p:cNvSpPr>
              <p:nvPr/>
            </p:nvSpPr>
            <p:spPr bwMode="auto">
              <a:xfrm>
                <a:off x="1878" y="3282"/>
                <a:ext cx="316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2016" name="Line 29"/>
              <p:cNvSpPr>
                <a:spLocks noChangeShapeType="1"/>
              </p:cNvSpPr>
              <p:nvPr/>
            </p:nvSpPr>
            <p:spPr bwMode="auto">
              <a:xfrm>
                <a:off x="3969" y="2856"/>
                <a:ext cx="107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</p:grpSp>
        <p:grpSp>
          <p:nvGrpSpPr>
            <p:cNvPr id="42001" name="Group 30"/>
            <p:cNvGrpSpPr/>
            <p:nvPr/>
          </p:nvGrpSpPr>
          <p:grpSpPr bwMode="auto">
            <a:xfrm>
              <a:off x="951" y="1117"/>
              <a:ext cx="4089" cy="435"/>
              <a:chOff x="951" y="1117"/>
              <a:chExt cx="4089" cy="435"/>
            </a:xfrm>
          </p:grpSpPr>
          <p:sp>
            <p:nvSpPr>
              <p:cNvPr id="42002" name="Rectangle 31"/>
              <p:cNvSpPr>
                <a:spLocks noChangeArrowheads="1"/>
              </p:cNvSpPr>
              <p:nvPr/>
            </p:nvSpPr>
            <p:spPr bwMode="auto">
              <a:xfrm>
                <a:off x="3969" y="1136"/>
                <a:ext cx="1071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添补代码</a:t>
                </a:r>
                <a:endPara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03" name="Rectangle 32"/>
              <p:cNvSpPr>
                <a:spLocks noChangeArrowheads="1"/>
              </p:cNvSpPr>
              <p:nvPr/>
            </p:nvSpPr>
            <p:spPr bwMode="auto">
              <a:xfrm>
                <a:off x="1878" y="1136"/>
                <a:ext cx="2091" cy="4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码     制</a:t>
                </a:r>
                <a:endPara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04" name="Rectangle 33"/>
              <p:cNvSpPr>
                <a:spLocks noChangeArrowheads="1"/>
              </p:cNvSpPr>
              <p:nvPr/>
            </p:nvSpPr>
            <p:spPr bwMode="auto">
              <a:xfrm>
                <a:off x="951" y="1117"/>
                <a:ext cx="918" cy="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真值</a:t>
                </a:r>
                <a:endPara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2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2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2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2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2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2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2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2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2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82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299" grpId="0" autoUpdateAnimBg="0"/>
      <p:bldP spid="823300" grpId="0" autoUpdateAnimBg="0"/>
      <p:bldP spid="823301" grpId="0" autoUpdateAnimBg="0"/>
      <p:bldP spid="823302" grpId="0" autoUpdateAnimBg="0"/>
      <p:bldP spid="823303" grpId="0" autoUpdateAnimBg="0"/>
      <p:bldP spid="823304" grpId="0" autoUpdateAnimBg="0"/>
      <p:bldP spid="823305" grpId="0" autoUpdateAnimBg="0"/>
      <p:bldP spid="823306" grpId="0" autoUpdateAnimBg="0"/>
      <p:bldP spid="823307" grpId="0" autoUpdateAnimBg="0"/>
      <p:bldP spid="823308" grpId="0" autoUpdateAnimBg="0"/>
      <p:bldP spid="823309" grpId="0" autoUpdateAnimBg="0"/>
      <p:bldP spid="82331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1106488" y="63500"/>
            <a:ext cx="14446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例6.16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19875" name="Text Box 3"/>
          <p:cNvSpPr txBox="1">
            <a:spLocks noChangeArrowheads="1"/>
          </p:cNvSpPr>
          <p:nvPr/>
        </p:nvSpPr>
        <p:spPr bwMode="auto">
          <a:xfrm>
            <a:off x="1828800" y="723900"/>
            <a:ext cx="9091613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设机器数字长为 8 位（含１位符号位</a:t>
            </a:r>
            <a:r>
              <a:rPr lang="en-US" altLang="zh-CN">
                <a:latin typeface="Times New Roman" panose="02020603050405020304" pitchFamily="18" charset="0"/>
              </a:rPr>
              <a:t>），</a:t>
            </a:r>
            <a:r>
              <a:rPr lang="zh-CN" altLang="en-US">
                <a:latin typeface="Times New Roman" panose="02020603050405020304" pitchFamily="18" charset="0"/>
              </a:rPr>
              <a:t>写出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= +26</a:t>
            </a:r>
            <a:r>
              <a:rPr lang="zh-CN" altLang="en-US">
                <a:latin typeface="Times New Roman" panose="02020603050405020304" pitchFamily="18" charset="0"/>
              </a:rPr>
              <a:t>时，三种机器数左、右移一位和两位后的表示形式及对应的真值，并分析结果的正确性。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9876" name="Text Box 4"/>
          <p:cNvSpPr txBox="1">
            <a:spLocks noChangeArrowheads="1"/>
          </p:cNvSpPr>
          <p:nvPr/>
        </p:nvSpPr>
        <p:spPr bwMode="auto">
          <a:xfrm>
            <a:off x="2422525" y="220980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9877" name="Text Box 5"/>
          <p:cNvSpPr txBox="1">
            <a:spLocks noChangeArrowheads="1"/>
          </p:cNvSpPr>
          <p:nvPr/>
        </p:nvSpPr>
        <p:spPr bwMode="auto">
          <a:xfrm>
            <a:off x="3946525" y="2209800"/>
            <a:ext cx="13604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= +26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19878" name="Text Box 6"/>
          <p:cNvSpPr txBox="1">
            <a:spLocks noChangeArrowheads="1"/>
          </p:cNvSpPr>
          <p:nvPr/>
        </p:nvSpPr>
        <p:spPr bwMode="auto">
          <a:xfrm>
            <a:off x="3378200" y="2681288"/>
            <a:ext cx="599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则 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原</a:t>
            </a:r>
            <a:r>
              <a:rPr lang="zh-CN" altLang="en-US">
                <a:latin typeface="Times New Roman" panose="02020603050405020304" pitchFamily="18" charset="0"/>
              </a:rPr>
              <a:t> = 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= 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反</a:t>
            </a:r>
            <a:r>
              <a:rPr lang="zh-CN" altLang="en-US">
                <a:latin typeface="Times New Roman" panose="02020603050405020304" pitchFamily="18" charset="0"/>
              </a:rPr>
              <a:t> = 0,0011010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9879" name="Rectangle 7"/>
          <p:cNvSpPr>
            <a:spLocks noChangeArrowheads="1"/>
          </p:cNvSpPr>
          <p:nvPr/>
        </p:nvSpPr>
        <p:spPr bwMode="auto">
          <a:xfrm>
            <a:off x="7467600" y="6021388"/>
            <a:ext cx="20574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+</a:t>
            </a:r>
            <a:r>
              <a:rPr kumimoji="1" lang="zh-CN" altLang="en-US" sz="8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9880" name="Rectangle 8"/>
          <p:cNvSpPr>
            <a:spLocks noChangeArrowheads="1"/>
          </p:cNvSpPr>
          <p:nvPr/>
        </p:nvSpPr>
        <p:spPr bwMode="auto">
          <a:xfrm>
            <a:off x="5080000" y="6021388"/>
            <a:ext cx="23876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0,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00110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7" name="Rectangle 9"/>
          <p:cNvSpPr>
            <a:spLocks noChangeArrowheads="1"/>
          </p:cNvSpPr>
          <p:nvPr/>
        </p:nvSpPr>
        <p:spPr bwMode="auto">
          <a:xfrm>
            <a:off x="3048000" y="6021388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9882" name="Rectangle 10"/>
          <p:cNvSpPr>
            <a:spLocks noChangeArrowheads="1"/>
          </p:cNvSpPr>
          <p:nvPr/>
        </p:nvSpPr>
        <p:spPr bwMode="auto">
          <a:xfrm>
            <a:off x="7467600" y="5565775"/>
            <a:ext cx="20574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+13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9883" name="Rectangle 11"/>
          <p:cNvSpPr>
            <a:spLocks noChangeArrowheads="1"/>
          </p:cNvSpPr>
          <p:nvPr/>
        </p:nvSpPr>
        <p:spPr bwMode="auto">
          <a:xfrm>
            <a:off x="5080000" y="5565775"/>
            <a:ext cx="23876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0,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001101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9885" name="Rectangle 13"/>
          <p:cNvSpPr>
            <a:spLocks noChangeArrowheads="1"/>
          </p:cNvSpPr>
          <p:nvPr/>
        </p:nvSpPr>
        <p:spPr bwMode="auto">
          <a:xfrm>
            <a:off x="7467600" y="5110163"/>
            <a:ext cx="20574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+104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9886" name="Rectangle 14"/>
          <p:cNvSpPr>
            <a:spLocks noChangeArrowheads="1"/>
          </p:cNvSpPr>
          <p:nvPr/>
        </p:nvSpPr>
        <p:spPr bwMode="auto">
          <a:xfrm>
            <a:off x="5080000" y="5110163"/>
            <a:ext cx="23876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0,11010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</a:t>
            </a:r>
            <a:endParaRPr kumimoji="1" lang="zh-CN" altLang="en-US" sz="240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22" name="Rectangle 15"/>
          <p:cNvSpPr>
            <a:spLocks noChangeArrowheads="1"/>
          </p:cNvSpPr>
          <p:nvPr/>
        </p:nvSpPr>
        <p:spPr bwMode="auto">
          <a:xfrm>
            <a:off x="3048000" y="5110163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9888" name="Rectangle 16"/>
          <p:cNvSpPr>
            <a:spLocks noChangeArrowheads="1"/>
          </p:cNvSpPr>
          <p:nvPr/>
        </p:nvSpPr>
        <p:spPr bwMode="auto">
          <a:xfrm>
            <a:off x="7467600" y="4654550"/>
            <a:ext cx="20574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+</a:t>
            </a:r>
            <a:r>
              <a:rPr kumimoji="1" lang="zh-CN" altLang="en-US" sz="8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52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9889" name="Rectangle 17"/>
          <p:cNvSpPr>
            <a:spLocks noChangeArrowheads="1"/>
          </p:cNvSpPr>
          <p:nvPr/>
        </p:nvSpPr>
        <p:spPr bwMode="auto">
          <a:xfrm>
            <a:off x="5080000" y="4654550"/>
            <a:ext cx="23876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0,011010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en-US" sz="240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9890" name="Rectangle 18"/>
          <p:cNvSpPr>
            <a:spLocks noChangeArrowheads="1"/>
          </p:cNvSpPr>
          <p:nvPr/>
        </p:nvSpPr>
        <p:spPr bwMode="auto">
          <a:xfrm>
            <a:off x="7467600" y="4198938"/>
            <a:ext cx="20574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+26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9891" name="Rectangle 19"/>
          <p:cNvSpPr>
            <a:spLocks noChangeArrowheads="1"/>
          </p:cNvSpPr>
          <p:nvPr/>
        </p:nvSpPr>
        <p:spPr bwMode="auto">
          <a:xfrm>
            <a:off x="5080000" y="4198938"/>
            <a:ext cx="23876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0,0011010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9892" name="Rectangle 20"/>
          <p:cNvSpPr>
            <a:spLocks noChangeArrowheads="1"/>
          </p:cNvSpPr>
          <p:nvPr/>
        </p:nvSpPr>
        <p:spPr bwMode="auto">
          <a:xfrm>
            <a:off x="3048000" y="4198938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移位前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19893" name="Group 21"/>
          <p:cNvGrpSpPr/>
          <p:nvPr/>
        </p:nvGrpSpPr>
        <p:grpSpPr bwMode="auto">
          <a:xfrm>
            <a:off x="3048000" y="3287713"/>
            <a:ext cx="6477000" cy="3189287"/>
            <a:chOff x="960" y="2071"/>
            <a:chExt cx="4080" cy="2009"/>
          </a:xfrm>
        </p:grpSpPr>
        <p:sp>
          <p:nvSpPr>
            <p:cNvPr id="43034" name="Rectangle 22"/>
            <p:cNvSpPr>
              <a:spLocks noChangeArrowheads="1"/>
            </p:cNvSpPr>
            <p:nvPr/>
          </p:nvSpPr>
          <p:spPr bwMode="auto">
            <a:xfrm>
              <a:off x="2240" y="2358"/>
              <a:ext cx="150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[</a:t>
              </a:r>
              <a:r>
                <a:rPr kumimoji="1"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]</a:t>
              </a:r>
              <a:r>
                <a:rPr kumimoji="1" lang="zh-CN" altLang="en-US" sz="20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原</a:t>
              </a: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=[</a:t>
              </a:r>
              <a:r>
                <a:rPr kumimoji="1"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]</a:t>
              </a:r>
              <a:r>
                <a:rPr kumimoji="1" lang="zh-CN" altLang="en-US" sz="20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补</a:t>
              </a: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=[</a:t>
              </a:r>
              <a:r>
                <a:rPr kumimoji="1"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]</a:t>
              </a:r>
              <a:r>
                <a:rPr kumimoji="1" lang="zh-CN" altLang="en-US" sz="20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反</a:t>
              </a:r>
              <a:endParaRPr kumimoji="1" lang="zh-CN" altLang="en-US" sz="2000" baseline="-25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5" name="Rectangle 23"/>
            <p:cNvSpPr>
              <a:spLocks noChangeArrowheads="1"/>
            </p:cNvSpPr>
            <p:nvPr/>
          </p:nvSpPr>
          <p:spPr bwMode="auto">
            <a:xfrm>
              <a:off x="3744" y="2071"/>
              <a:ext cx="1296" cy="5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对应的真值</a:t>
              </a: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6" name="Rectangle 24"/>
            <p:cNvSpPr>
              <a:spLocks noChangeArrowheads="1"/>
            </p:cNvSpPr>
            <p:nvPr/>
          </p:nvSpPr>
          <p:spPr bwMode="auto">
            <a:xfrm>
              <a:off x="2240" y="2071"/>
              <a:ext cx="150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机    器    数</a:t>
              </a: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37" name="Rectangle 25"/>
            <p:cNvSpPr>
              <a:spLocks noChangeArrowheads="1"/>
            </p:cNvSpPr>
            <p:nvPr/>
          </p:nvSpPr>
          <p:spPr bwMode="auto">
            <a:xfrm>
              <a:off x="960" y="2071"/>
              <a:ext cx="1280" cy="5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移位操作</a:t>
              </a: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3038" name="Group 26"/>
            <p:cNvGrpSpPr/>
            <p:nvPr/>
          </p:nvGrpSpPr>
          <p:grpSpPr bwMode="auto">
            <a:xfrm>
              <a:off x="960" y="2071"/>
              <a:ext cx="4080" cy="2009"/>
              <a:chOff x="960" y="2071"/>
              <a:chExt cx="4080" cy="2009"/>
            </a:xfrm>
          </p:grpSpPr>
          <p:sp>
            <p:nvSpPr>
              <p:cNvPr id="43039" name="Line 27"/>
              <p:cNvSpPr>
                <a:spLocks noChangeShapeType="1"/>
              </p:cNvSpPr>
              <p:nvPr/>
            </p:nvSpPr>
            <p:spPr bwMode="auto">
              <a:xfrm>
                <a:off x="960" y="2071"/>
                <a:ext cx="40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3040" name="Line 28"/>
              <p:cNvSpPr>
                <a:spLocks noChangeShapeType="1"/>
              </p:cNvSpPr>
              <p:nvPr/>
            </p:nvSpPr>
            <p:spPr bwMode="auto">
              <a:xfrm>
                <a:off x="960" y="2645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3041" name="Line 29"/>
              <p:cNvSpPr>
                <a:spLocks noChangeShapeType="1"/>
              </p:cNvSpPr>
              <p:nvPr/>
            </p:nvSpPr>
            <p:spPr bwMode="auto">
              <a:xfrm>
                <a:off x="960" y="2932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3042" name="Line 30"/>
              <p:cNvSpPr>
                <a:spLocks noChangeShapeType="1"/>
              </p:cNvSpPr>
              <p:nvPr/>
            </p:nvSpPr>
            <p:spPr bwMode="auto">
              <a:xfrm>
                <a:off x="960" y="3219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3043" name="Line 31"/>
              <p:cNvSpPr>
                <a:spLocks noChangeShapeType="1"/>
              </p:cNvSpPr>
              <p:nvPr/>
            </p:nvSpPr>
            <p:spPr bwMode="auto">
              <a:xfrm>
                <a:off x="960" y="3506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3044" name="Line 32"/>
              <p:cNvSpPr>
                <a:spLocks noChangeShapeType="1"/>
              </p:cNvSpPr>
              <p:nvPr/>
            </p:nvSpPr>
            <p:spPr bwMode="auto">
              <a:xfrm>
                <a:off x="960" y="3793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3045" name="Line 33"/>
              <p:cNvSpPr>
                <a:spLocks noChangeShapeType="1"/>
              </p:cNvSpPr>
              <p:nvPr/>
            </p:nvSpPr>
            <p:spPr bwMode="auto">
              <a:xfrm>
                <a:off x="960" y="4080"/>
                <a:ext cx="40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3046" name="Line 34"/>
              <p:cNvSpPr>
                <a:spLocks noChangeShapeType="1"/>
              </p:cNvSpPr>
              <p:nvPr/>
            </p:nvSpPr>
            <p:spPr bwMode="auto">
              <a:xfrm>
                <a:off x="960" y="2071"/>
                <a:ext cx="0" cy="2009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3047" name="Line 35"/>
              <p:cNvSpPr>
                <a:spLocks noChangeShapeType="1"/>
              </p:cNvSpPr>
              <p:nvPr/>
            </p:nvSpPr>
            <p:spPr bwMode="auto">
              <a:xfrm>
                <a:off x="2240" y="2071"/>
                <a:ext cx="0" cy="200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3048" name="Line 36"/>
              <p:cNvSpPr>
                <a:spLocks noChangeShapeType="1"/>
              </p:cNvSpPr>
              <p:nvPr/>
            </p:nvSpPr>
            <p:spPr bwMode="auto">
              <a:xfrm>
                <a:off x="3744" y="2071"/>
                <a:ext cx="0" cy="200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3049" name="Line 37"/>
              <p:cNvSpPr>
                <a:spLocks noChangeShapeType="1"/>
              </p:cNvSpPr>
              <p:nvPr/>
            </p:nvSpPr>
            <p:spPr bwMode="auto">
              <a:xfrm>
                <a:off x="5040" y="2071"/>
                <a:ext cx="0" cy="2009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3050" name="Line 38"/>
              <p:cNvSpPr>
                <a:spLocks noChangeShapeType="1"/>
              </p:cNvSpPr>
              <p:nvPr/>
            </p:nvSpPr>
            <p:spPr bwMode="auto">
              <a:xfrm>
                <a:off x="2240" y="2358"/>
                <a:ext cx="150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</p:grpSp>
      </p:grpSp>
      <p:sp>
        <p:nvSpPr>
          <p:cNvPr id="719923" name="Text Box 51"/>
          <p:cNvSpPr txBox="1">
            <a:spLocks noChangeArrowheads="1"/>
          </p:cNvSpPr>
          <p:nvPr/>
        </p:nvSpPr>
        <p:spPr bwMode="auto">
          <a:xfrm>
            <a:off x="5254625" y="2209800"/>
            <a:ext cx="165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= +11010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9927" name="Rectangle 55"/>
          <p:cNvSpPr>
            <a:spLocks noChangeArrowheads="1"/>
          </p:cNvSpPr>
          <p:nvPr/>
        </p:nvSpPr>
        <p:spPr bwMode="auto">
          <a:xfrm>
            <a:off x="3043238" y="4638675"/>
            <a:ext cx="20320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左移一位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9928" name="Rectangle 56"/>
          <p:cNvSpPr>
            <a:spLocks noChangeArrowheads="1"/>
          </p:cNvSpPr>
          <p:nvPr/>
        </p:nvSpPr>
        <p:spPr bwMode="auto">
          <a:xfrm>
            <a:off x="3043238" y="5084763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左移两位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9929" name="Rectangle 57"/>
          <p:cNvSpPr>
            <a:spLocks noChangeArrowheads="1"/>
          </p:cNvSpPr>
          <p:nvPr/>
        </p:nvSpPr>
        <p:spPr bwMode="auto">
          <a:xfrm>
            <a:off x="3043238" y="5561013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右移一位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9931" name="Rectangle 59"/>
          <p:cNvSpPr>
            <a:spLocks noChangeArrowheads="1"/>
          </p:cNvSpPr>
          <p:nvPr/>
        </p:nvSpPr>
        <p:spPr bwMode="auto">
          <a:xfrm>
            <a:off x="3043238" y="5992813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右移两位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71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9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1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1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1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1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1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1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1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1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19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1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1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875" grpId="0" autoUpdateAnimBg="0"/>
      <p:bldP spid="719876" grpId="0" autoUpdateAnimBg="0"/>
      <p:bldP spid="719877" grpId="0" autoUpdateAnimBg="0"/>
      <p:bldP spid="719878" grpId="0" autoUpdateAnimBg="0"/>
      <p:bldP spid="719879" grpId="0" autoUpdateAnimBg="0"/>
      <p:bldP spid="719880" grpId="0" autoUpdateAnimBg="0"/>
      <p:bldP spid="719882" grpId="0" autoUpdateAnimBg="0"/>
      <p:bldP spid="719883" grpId="0" autoUpdateAnimBg="0"/>
      <p:bldP spid="719885" grpId="0" autoUpdateAnimBg="0"/>
      <p:bldP spid="719886" grpId="0" autoUpdateAnimBg="0"/>
      <p:bldP spid="719888" grpId="0" autoUpdateAnimBg="0"/>
      <p:bldP spid="719889" grpId="0" autoUpdateAnimBg="0"/>
      <p:bldP spid="719890" grpId="0" autoUpdateAnimBg="0"/>
      <p:bldP spid="719891" grpId="0" autoUpdateAnimBg="0"/>
      <p:bldP spid="719892" grpId="0" autoUpdateAnimBg="0"/>
      <p:bldP spid="719923" grpId="0" autoUpdateAnimBg="0"/>
      <p:bldP spid="719927" grpId="0" autoUpdateAnimBg="0"/>
      <p:bldP spid="719928" grpId="0" autoUpdateAnimBg="0"/>
      <p:bldP spid="719929" grpId="0" autoUpdateAnimBg="0"/>
      <p:bldP spid="71993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1905000" y="228600"/>
            <a:ext cx="14430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例6.17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20899" name="Text Box 3"/>
          <p:cNvSpPr txBox="1">
            <a:spLocks noChangeArrowheads="1"/>
          </p:cNvSpPr>
          <p:nvPr/>
        </p:nvSpPr>
        <p:spPr bwMode="auto">
          <a:xfrm>
            <a:off x="2133600" y="838200"/>
            <a:ext cx="8153400" cy="169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设机器数字长为 8 位（含１位符号位</a:t>
            </a:r>
            <a:r>
              <a:rPr lang="en-US" altLang="zh-CN">
                <a:latin typeface="Times New Roman" panose="02020603050405020304" pitchFamily="18" charset="0"/>
              </a:rPr>
              <a:t>），</a:t>
            </a:r>
            <a:r>
              <a:rPr lang="zh-CN" altLang="en-US">
                <a:latin typeface="Times New Roman" panose="02020603050405020304" pitchFamily="18" charset="0"/>
              </a:rPr>
              <a:t>写出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–26</a:t>
            </a:r>
            <a:r>
              <a:rPr lang="zh-CN" altLang="en-US">
                <a:latin typeface="Times New Roman" panose="02020603050405020304" pitchFamily="18" charset="0"/>
              </a:rPr>
              <a:t>时，三种机器数左、右移一位和两位后的表示形式及对应的真值，并分析结果的正确性。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0900" name="Text Box 4"/>
          <p:cNvSpPr txBox="1">
            <a:spLocks noChangeArrowheads="1"/>
          </p:cNvSpPr>
          <p:nvPr/>
        </p:nvSpPr>
        <p:spPr bwMode="auto">
          <a:xfrm>
            <a:off x="2422525" y="2671763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0901" name="Text Box 5"/>
          <p:cNvSpPr txBox="1">
            <a:spLocks noChangeArrowheads="1"/>
          </p:cNvSpPr>
          <p:nvPr/>
        </p:nvSpPr>
        <p:spPr bwMode="auto">
          <a:xfrm>
            <a:off x="3946525" y="2671763"/>
            <a:ext cx="1920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>
                <a:latin typeface="Times New Roman" panose="02020603050405020304" pitchFamily="18" charset="0"/>
              </a:rPr>
              <a:t>26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20902" name="Rectangle 6"/>
          <p:cNvSpPr>
            <a:spLocks noChangeArrowheads="1"/>
          </p:cNvSpPr>
          <p:nvPr/>
        </p:nvSpPr>
        <p:spPr bwMode="auto">
          <a:xfrm>
            <a:off x="7377113" y="5783263"/>
            <a:ext cx="22098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– 6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0903" name="Rectangle 7"/>
          <p:cNvSpPr>
            <a:spLocks noChangeArrowheads="1"/>
          </p:cNvSpPr>
          <p:nvPr/>
        </p:nvSpPr>
        <p:spPr bwMode="auto">
          <a:xfrm>
            <a:off x="5080000" y="5783263"/>
            <a:ext cx="23876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00110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0904" name="Rectangle 8"/>
          <p:cNvSpPr>
            <a:spLocks noChangeArrowheads="1"/>
          </p:cNvSpPr>
          <p:nvPr/>
        </p:nvSpPr>
        <p:spPr bwMode="auto">
          <a:xfrm>
            <a:off x="7334250" y="5327650"/>
            <a:ext cx="2209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– 13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0905" name="Rectangle 9"/>
          <p:cNvSpPr>
            <a:spLocks noChangeArrowheads="1"/>
          </p:cNvSpPr>
          <p:nvPr/>
        </p:nvSpPr>
        <p:spPr bwMode="auto">
          <a:xfrm>
            <a:off x="5080000" y="5327650"/>
            <a:ext cx="23876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001101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0906" name="Rectangle 10"/>
          <p:cNvSpPr>
            <a:spLocks noChangeArrowheads="1"/>
          </p:cNvSpPr>
          <p:nvPr/>
        </p:nvSpPr>
        <p:spPr bwMode="auto">
          <a:xfrm>
            <a:off x="7258050" y="4872038"/>
            <a:ext cx="2286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 104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0907" name="Rectangle 11"/>
          <p:cNvSpPr>
            <a:spLocks noChangeArrowheads="1"/>
          </p:cNvSpPr>
          <p:nvPr/>
        </p:nvSpPr>
        <p:spPr bwMode="auto">
          <a:xfrm>
            <a:off x="5080000" y="4872038"/>
            <a:ext cx="23876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1,11010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</a:t>
            </a:r>
            <a:endParaRPr kumimoji="1" lang="zh-CN" altLang="en-US" sz="240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0908" name="Rectangle 12"/>
          <p:cNvSpPr>
            <a:spLocks noChangeArrowheads="1"/>
          </p:cNvSpPr>
          <p:nvPr/>
        </p:nvSpPr>
        <p:spPr bwMode="auto">
          <a:xfrm>
            <a:off x="7315200" y="4419600"/>
            <a:ext cx="2209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– 52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0909" name="Rectangle 13"/>
          <p:cNvSpPr>
            <a:spLocks noChangeArrowheads="1"/>
          </p:cNvSpPr>
          <p:nvPr/>
        </p:nvSpPr>
        <p:spPr bwMode="auto">
          <a:xfrm>
            <a:off x="5080000" y="4416425"/>
            <a:ext cx="23876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1,011010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en-US" sz="240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0910" name="Rectangle 14"/>
          <p:cNvSpPr>
            <a:spLocks noChangeArrowheads="1"/>
          </p:cNvSpPr>
          <p:nvPr/>
        </p:nvSpPr>
        <p:spPr bwMode="auto">
          <a:xfrm>
            <a:off x="7258050" y="3960813"/>
            <a:ext cx="2286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– 26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0911" name="Rectangle 15"/>
          <p:cNvSpPr>
            <a:spLocks noChangeArrowheads="1"/>
          </p:cNvSpPr>
          <p:nvPr/>
        </p:nvSpPr>
        <p:spPr bwMode="auto">
          <a:xfrm>
            <a:off x="5080000" y="3960813"/>
            <a:ext cx="23876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1,0011010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0912" name="Rectangle 16"/>
          <p:cNvSpPr>
            <a:spLocks noChangeArrowheads="1"/>
          </p:cNvSpPr>
          <p:nvPr/>
        </p:nvSpPr>
        <p:spPr bwMode="auto">
          <a:xfrm>
            <a:off x="3048000" y="3960813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移位前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20913" name="Group 17"/>
          <p:cNvGrpSpPr/>
          <p:nvPr/>
        </p:nvGrpSpPr>
        <p:grpSpPr bwMode="auto">
          <a:xfrm>
            <a:off x="3048000" y="3419475"/>
            <a:ext cx="6477000" cy="2828925"/>
            <a:chOff x="960" y="2154"/>
            <a:chExt cx="4080" cy="1782"/>
          </a:xfrm>
        </p:grpSpPr>
        <p:grpSp>
          <p:nvGrpSpPr>
            <p:cNvPr id="44056" name="Group 18"/>
            <p:cNvGrpSpPr/>
            <p:nvPr/>
          </p:nvGrpSpPr>
          <p:grpSpPr bwMode="auto">
            <a:xfrm>
              <a:off x="960" y="2154"/>
              <a:ext cx="4080" cy="1782"/>
              <a:chOff x="960" y="2154"/>
              <a:chExt cx="4080" cy="1782"/>
            </a:xfrm>
          </p:grpSpPr>
          <p:sp>
            <p:nvSpPr>
              <p:cNvPr id="44058" name="Rectangle 19"/>
              <p:cNvSpPr>
                <a:spLocks noChangeArrowheads="1"/>
              </p:cNvSpPr>
              <p:nvPr/>
            </p:nvSpPr>
            <p:spPr bwMode="auto">
              <a:xfrm>
                <a:off x="3744" y="2197"/>
                <a:ext cx="1296" cy="2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对应的真值</a:t>
                </a:r>
                <a:endPara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59" name="Rectangle 20"/>
              <p:cNvSpPr>
                <a:spLocks noChangeArrowheads="1"/>
              </p:cNvSpPr>
              <p:nvPr/>
            </p:nvSpPr>
            <p:spPr bwMode="auto">
              <a:xfrm>
                <a:off x="2240" y="2203"/>
                <a:ext cx="1504" cy="2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机    器    数</a:t>
                </a:r>
                <a:endPara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60" name="Rectangle 21"/>
              <p:cNvSpPr>
                <a:spLocks noChangeArrowheads="1"/>
              </p:cNvSpPr>
              <p:nvPr/>
            </p:nvSpPr>
            <p:spPr bwMode="auto">
              <a:xfrm>
                <a:off x="960" y="2202"/>
                <a:ext cx="1280" cy="2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None/>
                </a:pPr>
                <a:r>
                  <a:rPr kumimoji="1" lang="zh-CN" altLang="en-US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移位操作</a:t>
                </a:r>
                <a:endPara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4061" name="Group 22"/>
              <p:cNvGrpSpPr/>
              <p:nvPr/>
            </p:nvGrpSpPr>
            <p:grpSpPr bwMode="auto">
              <a:xfrm>
                <a:off x="960" y="2154"/>
                <a:ext cx="4080" cy="1782"/>
                <a:chOff x="960" y="2154"/>
                <a:chExt cx="4080" cy="1782"/>
              </a:xfrm>
            </p:grpSpPr>
            <p:sp>
              <p:nvSpPr>
                <p:cNvPr id="44062" name="Line 23"/>
                <p:cNvSpPr>
                  <a:spLocks noChangeShapeType="1"/>
                </p:cNvSpPr>
                <p:nvPr/>
              </p:nvSpPr>
              <p:spPr bwMode="auto">
                <a:xfrm>
                  <a:off x="960" y="2154"/>
                  <a:ext cx="408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44063" name="Line 24"/>
                <p:cNvSpPr>
                  <a:spLocks noChangeShapeType="1"/>
                </p:cNvSpPr>
                <p:nvPr/>
              </p:nvSpPr>
              <p:spPr bwMode="auto">
                <a:xfrm>
                  <a:off x="960" y="2495"/>
                  <a:ext cx="40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44064" name="Line 25"/>
                <p:cNvSpPr>
                  <a:spLocks noChangeShapeType="1"/>
                </p:cNvSpPr>
                <p:nvPr/>
              </p:nvSpPr>
              <p:spPr bwMode="auto">
                <a:xfrm>
                  <a:off x="960" y="2782"/>
                  <a:ext cx="40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44065" name="Line 26"/>
                <p:cNvSpPr>
                  <a:spLocks noChangeShapeType="1"/>
                </p:cNvSpPr>
                <p:nvPr/>
              </p:nvSpPr>
              <p:spPr bwMode="auto">
                <a:xfrm>
                  <a:off x="960" y="3069"/>
                  <a:ext cx="40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44066" name="Line 27"/>
                <p:cNvSpPr>
                  <a:spLocks noChangeShapeType="1"/>
                </p:cNvSpPr>
                <p:nvPr/>
              </p:nvSpPr>
              <p:spPr bwMode="auto">
                <a:xfrm>
                  <a:off x="960" y="3356"/>
                  <a:ext cx="40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44067" name="Line 28"/>
                <p:cNvSpPr>
                  <a:spLocks noChangeShapeType="1"/>
                </p:cNvSpPr>
                <p:nvPr/>
              </p:nvSpPr>
              <p:spPr bwMode="auto">
                <a:xfrm>
                  <a:off x="960" y="3643"/>
                  <a:ext cx="40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44068" name="Line 29"/>
                <p:cNvSpPr>
                  <a:spLocks noChangeShapeType="1"/>
                </p:cNvSpPr>
                <p:nvPr/>
              </p:nvSpPr>
              <p:spPr bwMode="auto">
                <a:xfrm>
                  <a:off x="960" y="3930"/>
                  <a:ext cx="408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44069" name="Line 30"/>
                <p:cNvSpPr>
                  <a:spLocks noChangeShapeType="1"/>
                </p:cNvSpPr>
                <p:nvPr/>
              </p:nvSpPr>
              <p:spPr bwMode="auto">
                <a:xfrm>
                  <a:off x="960" y="2154"/>
                  <a:ext cx="0" cy="1782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44070" name="Line 31"/>
                <p:cNvSpPr>
                  <a:spLocks noChangeShapeType="1"/>
                </p:cNvSpPr>
                <p:nvPr/>
              </p:nvSpPr>
              <p:spPr bwMode="auto">
                <a:xfrm>
                  <a:off x="2240" y="2154"/>
                  <a:ext cx="0" cy="17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44071" name="Line 32"/>
                <p:cNvSpPr>
                  <a:spLocks noChangeShapeType="1"/>
                </p:cNvSpPr>
                <p:nvPr/>
              </p:nvSpPr>
              <p:spPr bwMode="auto">
                <a:xfrm>
                  <a:off x="3744" y="2154"/>
                  <a:ext cx="0" cy="17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 anchorCtr="1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4057" name="Line 33"/>
            <p:cNvSpPr>
              <a:spLocks noChangeShapeType="1"/>
            </p:cNvSpPr>
            <p:nvPr/>
          </p:nvSpPr>
          <p:spPr bwMode="auto">
            <a:xfrm>
              <a:off x="5040" y="2154"/>
              <a:ext cx="0" cy="178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 anchorCtr="1"/>
            <a:lstStyle/>
            <a:p>
              <a:endParaRPr lang="zh-CN" altLang="en-US"/>
            </a:p>
          </p:txBody>
        </p:sp>
      </p:grpSp>
      <p:sp>
        <p:nvSpPr>
          <p:cNvPr id="720944" name="Text Box 48"/>
          <p:cNvSpPr txBox="1">
            <a:spLocks noChangeArrowheads="1"/>
          </p:cNvSpPr>
          <p:nvPr/>
        </p:nvSpPr>
        <p:spPr bwMode="auto">
          <a:xfrm>
            <a:off x="2133600" y="3357563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原码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0945" name="Text Box 49"/>
          <p:cNvSpPr txBox="1">
            <a:spLocks noChangeArrowheads="1"/>
          </p:cNvSpPr>
          <p:nvPr/>
        </p:nvSpPr>
        <p:spPr bwMode="auto">
          <a:xfrm>
            <a:off x="5289550" y="2671763"/>
            <a:ext cx="1720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>
                <a:latin typeface="Times New Roman" panose="02020603050405020304" pitchFamily="18" charset="0"/>
              </a:rPr>
              <a:t> 11010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0948" name="Rectangle 52"/>
          <p:cNvSpPr>
            <a:spLocks noChangeArrowheads="1"/>
          </p:cNvSpPr>
          <p:nvPr/>
        </p:nvSpPr>
        <p:spPr bwMode="auto">
          <a:xfrm>
            <a:off x="3043238" y="4395788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左移一位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0949" name="Rectangle 53"/>
          <p:cNvSpPr>
            <a:spLocks noChangeArrowheads="1"/>
          </p:cNvSpPr>
          <p:nvPr/>
        </p:nvSpPr>
        <p:spPr bwMode="auto">
          <a:xfrm>
            <a:off x="3043238" y="4841875"/>
            <a:ext cx="20320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左移两位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0950" name="Rectangle 54"/>
          <p:cNvSpPr>
            <a:spLocks noChangeArrowheads="1"/>
          </p:cNvSpPr>
          <p:nvPr/>
        </p:nvSpPr>
        <p:spPr bwMode="auto">
          <a:xfrm>
            <a:off x="3043238" y="5303838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右移一位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0951" name="Rectangle 55"/>
          <p:cNvSpPr>
            <a:spLocks noChangeArrowheads="1"/>
          </p:cNvSpPr>
          <p:nvPr/>
        </p:nvSpPr>
        <p:spPr bwMode="auto">
          <a:xfrm>
            <a:off x="3043238" y="5762625"/>
            <a:ext cx="20320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右移两位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0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0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72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2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20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2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2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2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2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2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2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2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2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2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2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2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899" grpId="0" autoUpdateAnimBg="0"/>
      <p:bldP spid="720900" grpId="0" autoUpdateAnimBg="0"/>
      <p:bldP spid="720901" grpId="0" autoUpdateAnimBg="0"/>
      <p:bldP spid="720902" grpId="0" autoUpdateAnimBg="0"/>
      <p:bldP spid="720903" grpId="0" autoUpdateAnimBg="0"/>
      <p:bldP spid="720904" grpId="0" autoUpdateAnimBg="0"/>
      <p:bldP spid="720905" grpId="0" autoUpdateAnimBg="0"/>
      <p:bldP spid="720906" grpId="0" autoUpdateAnimBg="0"/>
      <p:bldP spid="720907" grpId="0" autoUpdateAnimBg="0"/>
      <p:bldP spid="720908" grpId="0" autoUpdateAnimBg="0"/>
      <p:bldP spid="720909" grpId="0" autoUpdateAnimBg="0"/>
      <p:bldP spid="720910" grpId="0" autoUpdateAnimBg="0"/>
      <p:bldP spid="720911" grpId="0" autoUpdateAnimBg="0"/>
      <p:bldP spid="720912" grpId="0" autoUpdateAnimBg="0"/>
      <p:bldP spid="720944" grpId="0" autoUpdateAnimBg="0"/>
      <p:bldP spid="720945" grpId="0" autoUpdateAnimBg="0"/>
      <p:bldP spid="720948" grpId="0" autoUpdateAnimBg="0"/>
      <p:bldP spid="720949" grpId="0" autoUpdateAnimBg="0"/>
      <p:bldP spid="720950" grpId="0" autoUpdateAnimBg="0"/>
      <p:bldP spid="720951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ChangeArrowheads="1"/>
          </p:cNvSpPr>
          <p:nvPr/>
        </p:nvSpPr>
        <p:spPr bwMode="auto">
          <a:xfrm>
            <a:off x="7258050" y="6021388"/>
            <a:ext cx="20574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– 6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1923" name="Rectangle 3"/>
          <p:cNvSpPr>
            <a:spLocks noChangeArrowheads="1"/>
          </p:cNvSpPr>
          <p:nvPr/>
        </p:nvSpPr>
        <p:spPr bwMode="auto">
          <a:xfrm>
            <a:off x="4851400" y="6021388"/>
            <a:ext cx="23876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11001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1924" name="Rectangle 4"/>
          <p:cNvSpPr>
            <a:spLocks noChangeArrowheads="1"/>
          </p:cNvSpPr>
          <p:nvPr/>
        </p:nvSpPr>
        <p:spPr bwMode="auto">
          <a:xfrm>
            <a:off x="7239000" y="5565775"/>
            <a:ext cx="20574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– 13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1925" name="Rectangle 5"/>
          <p:cNvSpPr>
            <a:spLocks noChangeArrowheads="1"/>
          </p:cNvSpPr>
          <p:nvPr/>
        </p:nvSpPr>
        <p:spPr bwMode="auto">
          <a:xfrm>
            <a:off x="4851400" y="5565775"/>
            <a:ext cx="23876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110010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1926" name="Rectangle 6"/>
          <p:cNvSpPr>
            <a:spLocks noChangeArrowheads="1"/>
          </p:cNvSpPr>
          <p:nvPr/>
        </p:nvSpPr>
        <p:spPr bwMode="auto">
          <a:xfrm>
            <a:off x="7048500" y="5110163"/>
            <a:ext cx="2286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– 104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1927" name="Rectangle 7"/>
          <p:cNvSpPr>
            <a:spLocks noChangeArrowheads="1"/>
          </p:cNvSpPr>
          <p:nvPr/>
        </p:nvSpPr>
        <p:spPr bwMode="auto">
          <a:xfrm>
            <a:off x="4851400" y="5110163"/>
            <a:ext cx="23876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1,00101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kumimoji="1" lang="zh-CN" altLang="en-US" sz="240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1928" name="Rectangle 8"/>
          <p:cNvSpPr>
            <a:spLocks noChangeArrowheads="1"/>
          </p:cNvSpPr>
          <p:nvPr/>
        </p:nvSpPr>
        <p:spPr bwMode="auto">
          <a:xfrm>
            <a:off x="7239000" y="4654550"/>
            <a:ext cx="20574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– 52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1929" name="Rectangle 9"/>
          <p:cNvSpPr>
            <a:spLocks noChangeArrowheads="1"/>
          </p:cNvSpPr>
          <p:nvPr/>
        </p:nvSpPr>
        <p:spPr bwMode="auto">
          <a:xfrm>
            <a:off x="4851400" y="4654550"/>
            <a:ext cx="23876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1,100101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zh-CN" altLang="en-US" sz="240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1930" name="Rectangle 10"/>
          <p:cNvSpPr>
            <a:spLocks noChangeArrowheads="1"/>
          </p:cNvSpPr>
          <p:nvPr/>
        </p:nvSpPr>
        <p:spPr bwMode="auto">
          <a:xfrm>
            <a:off x="7258050" y="4198938"/>
            <a:ext cx="20574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 26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1931" name="Rectangle 11"/>
          <p:cNvSpPr>
            <a:spLocks noChangeArrowheads="1"/>
          </p:cNvSpPr>
          <p:nvPr/>
        </p:nvSpPr>
        <p:spPr bwMode="auto">
          <a:xfrm>
            <a:off x="4851400" y="4198938"/>
            <a:ext cx="23876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1,1100101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1932" name="Rectangle 12"/>
          <p:cNvSpPr>
            <a:spLocks noChangeArrowheads="1"/>
          </p:cNvSpPr>
          <p:nvPr/>
        </p:nvSpPr>
        <p:spPr bwMode="auto">
          <a:xfrm>
            <a:off x="2819400" y="4198938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移位前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21933" name="Group 13"/>
          <p:cNvGrpSpPr/>
          <p:nvPr/>
        </p:nvGrpSpPr>
        <p:grpSpPr bwMode="auto">
          <a:xfrm>
            <a:off x="2819400" y="3657600"/>
            <a:ext cx="6477000" cy="2828925"/>
            <a:chOff x="816" y="2304"/>
            <a:chExt cx="4080" cy="1782"/>
          </a:xfrm>
        </p:grpSpPr>
        <p:sp>
          <p:nvSpPr>
            <p:cNvPr id="45107" name="Rectangle 14"/>
            <p:cNvSpPr>
              <a:spLocks noChangeArrowheads="1"/>
            </p:cNvSpPr>
            <p:nvPr/>
          </p:nvSpPr>
          <p:spPr bwMode="auto">
            <a:xfrm>
              <a:off x="3600" y="2347"/>
              <a:ext cx="1296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对应的真值</a:t>
              </a: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08" name="Rectangle 15"/>
            <p:cNvSpPr>
              <a:spLocks noChangeArrowheads="1"/>
            </p:cNvSpPr>
            <p:nvPr/>
          </p:nvSpPr>
          <p:spPr bwMode="auto">
            <a:xfrm>
              <a:off x="2096" y="2353"/>
              <a:ext cx="150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机    器    数</a:t>
              </a: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109" name="Rectangle 16"/>
            <p:cNvSpPr>
              <a:spLocks noChangeArrowheads="1"/>
            </p:cNvSpPr>
            <p:nvPr/>
          </p:nvSpPr>
          <p:spPr bwMode="auto">
            <a:xfrm>
              <a:off x="816" y="2352"/>
              <a:ext cx="1280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移位操作</a:t>
              </a: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5110" name="Group 17"/>
            <p:cNvGrpSpPr/>
            <p:nvPr/>
          </p:nvGrpSpPr>
          <p:grpSpPr bwMode="auto">
            <a:xfrm>
              <a:off x="816" y="2304"/>
              <a:ext cx="4080" cy="1782"/>
              <a:chOff x="816" y="2304"/>
              <a:chExt cx="4080" cy="1782"/>
            </a:xfrm>
          </p:grpSpPr>
          <p:sp>
            <p:nvSpPr>
              <p:cNvPr id="45111" name="Line 18"/>
              <p:cNvSpPr>
                <a:spLocks noChangeShapeType="1"/>
              </p:cNvSpPr>
              <p:nvPr/>
            </p:nvSpPr>
            <p:spPr bwMode="auto">
              <a:xfrm>
                <a:off x="816" y="2304"/>
                <a:ext cx="40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12" name="Line 19"/>
              <p:cNvSpPr>
                <a:spLocks noChangeShapeType="1"/>
              </p:cNvSpPr>
              <p:nvPr/>
            </p:nvSpPr>
            <p:spPr bwMode="auto">
              <a:xfrm>
                <a:off x="816" y="2645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13" name="Line 20"/>
              <p:cNvSpPr>
                <a:spLocks noChangeShapeType="1"/>
              </p:cNvSpPr>
              <p:nvPr/>
            </p:nvSpPr>
            <p:spPr bwMode="auto">
              <a:xfrm>
                <a:off x="816" y="2932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14" name="Line 21"/>
              <p:cNvSpPr>
                <a:spLocks noChangeShapeType="1"/>
              </p:cNvSpPr>
              <p:nvPr/>
            </p:nvSpPr>
            <p:spPr bwMode="auto">
              <a:xfrm>
                <a:off x="816" y="3219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15" name="Line 22"/>
              <p:cNvSpPr>
                <a:spLocks noChangeShapeType="1"/>
              </p:cNvSpPr>
              <p:nvPr/>
            </p:nvSpPr>
            <p:spPr bwMode="auto">
              <a:xfrm>
                <a:off x="816" y="3506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16" name="Line 23"/>
              <p:cNvSpPr>
                <a:spLocks noChangeShapeType="1"/>
              </p:cNvSpPr>
              <p:nvPr/>
            </p:nvSpPr>
            <p:spPr bwMode="auto">
              <a:xfrm>
                <a:off x="816" y="3793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17" name="Line 24"/>
              <p:cNvSpPr>
                <a:spLocks noChangeShapeType="1"/>
              </p:cNvSpPr>
              <p:nvPr/>
            </p:nvSpPr>
            <p:spPr bwMode="auto">
              <a:xfrm>
                <a:off x="816" y="4080"/>
                <a:ext cx="40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18" name="Line 25"/>
              <p:cNvSpPr>
                <a:spLocks noChangeShapeType="1"/>
              </p:cNvSpPr>
              <p:nvPr/>
            </p:nvSpPr>
            <p:spPr bwMode="auto">
              <a:xfrm>
                <a:off x="816" y="2304"/>
                <a:ext cx="0" cy="178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19" name="Line 26"/>
              <p:cNvSpPr>
                <a:spLocks noChangeShapeType="1"/>
              </p:cNvSpPr>
              <p:nvPr/>
            </p:nvSpPr>
            <p:spPr bwMode="auto">
              <a:xfrm>
                <a:off x="2096" y="2304"/>
                <a:ext cx="0" cy="17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20" name="Line 27"/>
              <p:cNvSpPr>
                <a:spLocks noChangeShapeType="1"/>
              </p:cNvSpPr>
              <p:nvPr/>
            </p:nvSpPr>
            <p:spPr bwMode="auto">
              <a:xfrm>
                <a:off x="3600" y="2304"/>
                <a:ext cx="0" cy="17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21" name="Line 28"/>
              <p:cNvSpPr>
                <a:spLocks noChangeShapeType="1"/>
              </p:cNvSpPr>
              <p:nvPr/>
            </p:nvSpPr>
            <p:spPr bwMode="auto">
              <a:xfrm>
                <a:off x="4896" y="2304"/>
                <a:ext cx="0" cy="178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</p:grpSp>
      </p:grpSp>
      <p:sp>
        <p:nvSpPr>
          <p:cNvPr id="721961" name="Rectangle 41"/>
          <p:cNvSpPr>
            <a:spLocks noChangeArrowheads="1"/>
          </p:cNvSpPr>
          <p:nvPr/>
        </p:nvSpPr>
        <p:spPr bwMode="auto">
          <a:xfrm>
            <a:off x="7258050" y="2973388"/>
            <a:ext cx="20574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– 7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1962" name="Rectangle 42"/>
          <p:cNvSpPr>
            <a:spLocks noChangeArrowheads="1"/>
          </p:cNvSpPr>
          <p:nvPr/>
        </p:nvSpPr>
        <p:spPr bwMode="auto">
          <a:xfrm>
            <a:off x="4851400" y="2973388"/>
            <a:ext cx="23876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11001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1963" name="Rectangle 43"/>
          <p:cNvSpPr>
            <a:spLocks noChangeArrowheads="1"/>
          </p:cNvSpPr>
          <p:nvPr/>
        </p:nvSpPr>
        <p:spPr bwMode="auto">
          <a:xfrm>
            <a:off x="7239000" y="2517775"/>
            <a:ext cx="20574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– 13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1964" name="Rectangle 44"/>
          <p:cNvSpPr>
            <a:spLocks noChangeArrowheads="1"/>
          </p:cNvSpPr>
          <p:nvPr/>
        </p:nvSpPr>
        <p:spPr bwMode="auto">
          <a:xfrm>
            <a:off x="4851400" y="2517775"/>
            <a:ext cx="23876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110011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1965" name="Rectangle 45"/>
          <p:cNvSpPr>
            <a:spLocks noChangeArrowheads="1"/>
          </p:cNvSpPr>
          <p:nvPr/>
        </p:nvSpPr>
        <p:spPr bwMode="auto">
          <a:xfrm>
            <a:off x="7048500" y="2062163"/>
            <a:ext cx="2286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– 104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1966" name="Rectangle 46"/>
          <p:cNvSpPr>
            <a:spLocks noChangeArrowheads="1"/>
          </p:cNvSpPr>
          <p:nvPr/>
        </p:nvSpPr>
        <p:spPr bwMode="auto">
          <a:xfrm>
            <a:off x="4851400" y="2062163"/>
            <a:ext cx="23876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1,00110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</a:t>
            </a:r>
            <a:endParaRPr kumimoji="1" lang="zh-CN" altLang="en-US" sz="240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1967" name="Rectangle 47"/>
          <p:cNvSpPr>
            <a:spLocks noChangeArrowheads="1"/>
          </p:cNvSpPr>
          <p:nvPr/>
        </p:nvSpPr>
        <p:spPr bwMode="auto">
          <a:xfrm>
            <a:off x="7239000" y="1606550"/>
            <a:ext cx="20574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– 52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1968" name="Rectangle 48"/>
          <p:cNvSpPr>
            <a:spLocks noChangeArrowheads="1"/>
          </p:cNvSpPr>
          <p:nvPr/>
        </p:nvSpPr>
        <p:spPr bwMode="auto">
          <a:xfrm>
            <a:off x="4851400" y="1606550"/>
            <a:ext cx="23876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1,100110</a:t>
            </a:r>
            <a:r>
              <a:rPr kumimoji="1"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kumimoji="1" lang="zh-CN" altLang="en-US" sz="240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1969" name="Rectangle 49"/>
          <p:cNvSpPr>
            <a:spLocks noChangeArrowheads="1"/>
          </p:cNvSpPr>
          <p:nvPr/>
        </p:nvSpPr>
        <p:spPr bwMode="auto">
          <a:xfrm>
            <a:off x="7258050" y="1150938"/>
            <a:ext cx="20574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 26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1970" name="Rectangle 50"/>
          <p:cNvSpPr>
            <a:spLocks noChangeArrowheads="1"/>
          </p:cNvSpPr>
          <p:nvPr/>
        </p:nvSpPr>
        <p:spPr bwMode="auto">
          <a:xfrm>
            <a:off x="4851400" y="1150938"/>
            <a:ext cx="23876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1,1100110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1971" name="Rectangle 51"/>
          <p:cNvSpPr>
            <a:spLocks noChangeArrowheads="1"/>
          </p:cNvSpPr>
          <p:nvPr/>
        </p:nvSpPr>
        <p:spPr bwMode="auto">
          <a:xfrm>
            <a:off x="2819400" y="1150938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移位前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21972" name="Group 52"/>
          <p:cNvGrpSpPr/>
          <p:nvPr/>
        </p:nvGrpSpPr>
        <p:grpSpPr bwMode="auto">
          <a:xfrm>
            <a:off x="2819400" y="609600"/>
            <a:ext cx="6477000" cy="2828925"/>
            <a:chOff x="816" y="384"/>
            <a:chExt cx="4080" cy="1782"/>
          </a:xfrm>
        </p:grpSpPr>
        <p:sp>
          <p:nvSpPr>
            <p:cNvPr id="45092" name="Rectangle 53"/>
            <p:cNvSpPr>
              <a:spLocks noChangeArrowheads="1"/>
            </p:cNvSpPr>
            <p:nvPr/>
          </p:nvSpPr>
          <p:spPr bwMode="auto">
            <a:xfrm>
              <a:off x="3600" y="427"/>
              <a:ext cx="1296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对应的真值</a:t>
              </a: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93" name="Rectangle 54"/>
            <p:cNvSpPr>
              <a:spLocks noChangeArrowheads="1"/>
            </p:cNvSpPr>
            <p:nvPr/>
          </p:nvSpPr>
          <p:spPr bwMode="auto">
            <a:xfrm>
              <a:off x="2096" y="433"/>
              <a:ext cx="150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机    器    数</a:t>
              </a: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94" name="Rectangle 55"/>
            <p:cNvSpPr>
              <a:spLocks noChangeArrowheads="1"/>
            </p:cNvSpPr>
            <p:nvPr/>
          </p:nvSpPr>
          <p:spPr bwMode="auto">
            <a:xfrm>
              <a:off x="816" y="432"/>
              <a:ext cx="1280" cy="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移位操作</a:t>
              </a: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5095" name="Group 56"/>
            <p:cNvGrpSpPr/>
            <p:nvPr/>
          </p:nvGrpSpPr>
          <p:grpSpPr bwMode="auto">
            <a:xfrm>
              <a:off x="816" y="384"/>
              <a:ext cx="4080" cy="1782"/>
              <a:chOff x="816" y="384"/>
              <a:chExt cx="4080" cy="1782"/>
            </a:xfrm>
          </p:grpSpPr>
          <p:sp>
            <p:nvSpPr>
              <p:cNvPr id="45096" name="Line 57"/>
              <p:cNvSpPr>
                <a:spLocks noChangeShapeType="1"/>
              </p:cNvSpPr>
              <p:nvPr/>
            </p:nvSpPr>
            <p:spPr bwMode="auto">
              <a:xfrm>
                <a:off x="816" y="384"/>
                <a:ext cx="40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097" name="Line 58"/>
              <p:cNvSpPr>
                <a:spLocks noChangeShapeType="1"/>
              </p:cNvSpPr>
              <p:nvPr/>
            </p:nvSpPr>
            <p:spPr bwMode="auto">
              <a:xfrm>
                <a:off x="816" y="725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098" name="Line 59"/>
              <p:cNvSpPr>
                <a:spLocks noChangeShapeType="1"/>
              </p:cNvSpPr>
              <p:nvPr/>
            </p:nvSpPr>
            <p:spPr bwMode="auto">
              <a:xfrm>
                <a:off x="816" y="1012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099" name="Line 60"/>
              <p:cNvSpPr>
                <a:spLocks noChangeShapeType="1"/>
              </p:cNvSpPr>
              <p:nvPr/>
            </p:nvSpPr>
            <p:spPr bwMode="auto">
              <a:xfrm>
                <a:off x="816" y="1299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00" name="Line 61"/>
              <p:cNvSpPr>
                <a:spLocks noChangeShapeType="1"/>
              </p:cNvSpPr>
              <p:nvPr/>
            </p:nvSpPr>
            <p:spPr bwMode="auto">
              <a:xfrm>
                <a:off x="816" y="1586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01" name="Line 62"/>
              <p:cNvSpPr>
                <a:spLocks noChangeShapeType="1"/>
              </p:cNvSpPr>
              <p:nvPr/>
            </p:nvSpPr>
            <p:spPr bwMode="auto">
              <a:xfrm>
                <a:off x="816" y="1873"/>
                <a:ext cx="40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02" name="Line 63"/>
              <p:cNvSpPr>
                <a:spLocks noChangeShapeType="1"/>
              </p:cNvSpPr>
              <p:nvPr/>
            </p:nvSpPr>
            <p:spPr bwMode="auto">
              <a:xfrm>
                <a:off x="816" y="2160"/>
                <a:ext cx="408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03" name="Line 64"/>
              <p:cNvSpPr>
                <a:spLocks noChangeShapeType="1"/>
              </p:cNvSpPr>
              <p:nvPr/>
            </p:nvSpPr>
            <p:spPr bwMode="auto">
              <a:xfrm>
                <a:off x="816" y="384"/>
                <a:ext cx="0" cy="178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04" name="Line 65"/>
              <p:cNvSpPr>
                <a:spLocks noChangeShapeType="1"/>
              </p:cNvSpPr>
              <p:nvPr/>
            </p:nvSpPr>
            <p:spPr bwMode="auto">
              <a:xfrm>
                <a:off x="2096" y="384"/>
                <a:ext cx="0" cy="17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05" name="Line 66"/>
              <p:cNvSpPr>
                <a:spLocks noChangeShapeType="1"/>
              </p:cNvSpPr>
              <p:nvPr/>
            </p:nvSpPr>
            <p:spPr bwMode="auto">
              <a:xfrm>
                <a:off x="3600" y="384"/>
                <a:ext cx="0" cy="17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  <p:sp>
            <p:nvSpPr>
              <p:cNvPr id="45106" name="Line 67"/>
              <p:cNvSpPr>
                <a:spLocks noChangeShapeType="1"/>
              </p:cNvSpPr>
              <p:nvPr/>
            </p:nvSpPr>
            <p:spPr bwMode="auto">
              <a:xfrm>
                <a:off x="4896" y="384"/>
                <a:ext cx="0" cy="178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 anchorCtr="1"/>
              <a:lstStyle/>
              <a:p>
                <a:endParaRPr lang="zh-CN" altLang="en-US"/>
              </a:p>
            </p:txBody>
          </p:sp>
        </p:grpSp>
      </p:grpSp>
      <p:sp>
        <p:nvSpPr>
          <p:cNvPr id="45082" name="Text Box 80"/>
          <p:cNvSpPr txBox="1">
            <a:spLocks noChangeArrowheads="1"/>
          </p:cNvSpPr>
          <p:nvPr/>
        </p:nvSpPr>
        <p:spPr bwMode="auto">
          <a:xfrm>
            <a:off x="1768475" y="6238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补码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2001" name="Text Box 81"/>
          <p:cNvSpPr txBox="1">
            <a:spLocks noChangeArrowheads="1"/>
          </p:cNvSpPr>
          <p:nvPr/>
        </p:nvSpPr>
        <p:spPr bwMode="auto">
          <a:xfrm>
            <a:off x="1768475" y="36718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反码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2004" name="Rectangle 84"/>
          <p:cNvSpPr>
            <a:spLocks noChangeArrowheads="1"/>
          </p:cNvSpPr>
          <p:nvPr/>
        </p:nvSpPr>
        <p:spPr bwMode="auto">
          <a:xfrm>
            <a:off x="2781300" y="1585913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左移一位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2005" name="Rectangle 85"/>
          <p:cNvSpPr>
            <a:spLocks noChangeArrowheads="1"/>
          </p:cNvSpPr>
          <p:nvPr/>
        </p:nvSpPr>
        <p:spPr bwMode="auto">
          <a:xfrm>
            <a:off x="2781300" y="2046288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左移两位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2006" name="Rectangle 86"/>
          <p:cNvSpPr>
            <a:spLocks noChangeArrowheads="1"/>
          </p:cNvSpPr>
          <p:nvPr/>
        </p:nvSpPr>
        <p:spPr bwMode="auto">
          <a:xfrm>
            <a:off x="2781300" y="2506663"/>
            <a:ext cx="2032000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右移一位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2007" name="Rectangle 87"/>
          <p:cNvSpPr>
            <a:spLocks noChangeArrowheads="1"/>
          </p:cNvSpPr>
          <p:nvPr/>
        </p:nvSpPr>
        <p:spPr bwMode="auto">
          <a:xfrm>
            <a:off x="2781300" y="2940050"/>
            <a:ext cx="20320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右移两位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2008" name="Rectangle 88"/>
          <p:cNvSpPr>
            <a:spLocks noChangeArrowheads="1"/>
          </p:cNvSpPr>
          <p:nvPr/>
        </p:nvSpPr>
        <p:spPr bwMode="auto">
          <a:xfrm>
            <a:off x="2781300" y="4638675"/>
            <a:ext cx="20320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左移一位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2009" name="Rectangle 89"/>
          <p:cNvSpPr>
            <a:spLocks noChangeArrowheads="1"/>
          </p:cNvSpPr>
          <p:nvPr/>
        </p:nvSpPr>
        <p:spPr bwMode="auto">
          <a:xfrm>
            <a:off x="2781300" y="5099050"/>
            <a:ext cx="20320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左移两位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2010" name="Rectangle 90"/>
          <p:cNvSpPr>
            <a:spLocks noChangeArrowheads="1"/>
          </p:cNvSpPr>
          <p:nvPr/>
        </p:nvSpPr>
        <p:spPr bwMode="auto">
          <a:xfrm>
            <a:off x="2781300" y="5537200"/>
            <a:ext cx="20320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右移一位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2011" name="Rectangle 91"/>
          <p:cNvSpPr>
            <a:spLocks noChangeArrowheads="1"/>
          </p:cNvSpPr>
          <p:nvPr/>
        </p:nvSpPr>
        <p:spPr bwMode="auto">
          <a:xfrm>
            <a:off x="2781300" y="6007100"/>
            <a:ext cx="20320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右移两位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2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2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2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21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2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2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2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2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2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2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2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2" dur="500"/>
                                        <p:tgtEl>
                                          <p:spTgt spid="72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2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2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2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72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72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72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72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72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72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72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72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72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72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72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72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22" grpId="0" autoUpdateAnimBg="0"/>
      <p:bldP spid="721923" grpId="0" autoUpdateAnimBg="0"/>
      <p:bldP spid="721924" grpId="0" autoUpdateAnimBg="0"/>
      <p:bldP spid="721925" grpId="0" autoUpdateAnimBg="0"/>
      <p:bldP spid="721926" grpId="0" autoUpdateAnimBg="0"/>
      <p:bldP spid="721927" grpId="0" autoUpdateAnimBg="0"/>
      <p:bldP spid="721928" grpId="0" autoUpdateAnimBg="0"/>
      <p:bldP spid="721929" grpId="0" autoUpdateAnimBg="0"/>
      <p:bldP spid="721930" grpId="0" autoUpdateAnimBg="0"/>
      <p:bldP spid="721931" grpId="0" autoUpdateAnimBg="0"/>
      <p:bldP spid="721932" grpId="0" autoUpdateAnimBg="0"/>
      <p:bldP spid="721961" grpId="0" autoUpdateAnimBg="0"/>
      <p:bldP spid="721962" grpId="0" autoUpdateAnimBg="0"/>
      <p:bldP spid="721963" grpId="0" autoUpdateAnimBg="0"/>
      <p:bldP spid="721964" grpId="0" autoUpdateAnimBg="0"/>
      <p:bldP spid="721965" grpId="0" autoUpdateAnimBg="0"/>
      <p:bldP spid="721966" grpId="0" autoUpdateAnimBg="0"/>
      <p:bldP spid="721967" grpId="0" autoUpdateAnimBg="0"/>
      <p:bldP spid="721968" grpId="0" autoUpdateAnimBg="0"/>
      <p:bldP spid="721969" grpId="0" autoUpdateAnimBg="0"/>
      <p:bldP spid="721970" grpId="0" autoUpdateAnimBg="0"/>
      <p:bldP spid="721971" grpId="0" autoUpdateAnimBg="0"/>
      <p:bldP spid="722001" grpId="0" autoUpdateAnimBg="0"/>
      <p:bldP spid="722004" grpId="0" autoUpdateAnimBg="0"/>
      <p:bldP spid="722005" grpId="0" autoUpdateAnimBg="0"/>
      <p:bldP spid="722006" grpId="0" autoUpdateAnimBg="0"/>
      <p:bldP spid="722007" grpId="0" autoUpdateAnimBg="0"/>
      <p:bldP spid="722008" grpId="0" autoUpdateAnimBg="0"/>
      <p:bldP spid="722009" grpId="0" autoUpdateAnimBg="0"/>
      <p:bldP spid="722010" grpId="0" autoUpdateAnimBg="0"/>
      <p:bldP spid="72201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1908175" y="304800"/>
            <a:ext cx="47704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3. 算术移位的硬件实现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22947" name="Text Box 3"/>
          <p:cNvSpPr txBox="1">
            <a:spLocks noChangeArrowheads="1"/>
          </p:cNvSpPr>
          <p:nvPr/>
        </p:nvSpPr>
        <p:spPr bwMode="auto">
          <a:xfrm>
            <a:off x="2079625" y="4689475"/>
            <a:ext cx="2035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</a:rPr>
              <a:t>a）</a:t>
            </a:r>
            <a:r>
              <a:rPr lang="zh-CN" altLang="en-US" sz="2000">
                <a:latin typeface="Times New Roman" panose="02020603050405020304" pitchFamily="18" charset="0"/>
              </a:rPr>
              <a:t>真值为正 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22948" name="Text Box 4"/>
          <p:cNvSpPr txBox="1">
            <a:spLocks noChangeArrowheads="1"/>
          </p:cNvSpPr>
          <p:nvPr/>
        </p:nvSpPr>
        <p:spPr bwMode="auto">
          <a:xfrm>
            <a:off x="4059238" y="4689475"/>
            <a:ext cx="2244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</a:rPr>
              <a:t>b）</a:t>
            </a:r>
            <a:r>
              <a:rPr lang="zh-CN" altLang="en-US" sz="2000">
                <a:latin typeface="Times New Roman" panose="02020603050405020304" pitchFamily="18" charset="0"/>
              </a:rPr>
              <a:t>负数的原码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22949" name="Text Box 5"/>
          <p:cNvSpPr txBox="1">
            <a:spLocks noChangeArrowheads="1"/>
          </p:cNvSpPr>
          <p:nvPr/>
        </p:nvSpPr>
        <p:spPr bwMode="auto">
          <a:xfrm>
            <a:off x="6248400" y="4689475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</a:rPr>
              <a:t>c）</a:t>
            </a:r>
            <a:r>
              <a:rPr lang="zh-CN" altLang="en-US" sz="2000">
                <a:latin typeface="Times New Roman" panose="02020603050405020304" pitchFamily="18" charset="0"/>
              </a:rPr>
              <a:t>负数的补码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22950" name="Text Box 6"/>
          <p:cNvSpPr txBox="1">
            <a:spLocks noChangeArrowheads="1"/>
          </p:cNvSpPr>
          <p:nvPr/>
        </p:nvSpPr>
        <p:spPr bwMode="auto">
          <a:xfrm>
            <a:off x="8401050" y="4689475"/>
            <a:ext cx="2244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</a:rPr>
              <a:t>d）</a:t>
            </a:r>
            <a:r>
              <a:rPr lang="zh-CN" altLang="en-US" sz="2000">
                <a:latin typeface="Times New Roman" panose="02020603050405020304" pitchFamily="18" charset="0"/>
              </a:rPr>
              <a:t>负数的反码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722951" name="Group 7"/>
          <p:cNvGrpSpPr/>
          <p:nvPr/>
        </p:nvGrpSpPr>
        <p:grpSpPr bwMode="auto">
          <a:xfrm>
            <a:off x="1847850" y="1524000"/>
            <a:ext cx="2174875" cy="1281113"/>
            <a:chOff x="204" y="960"/>
            <a:chExt cx="1370" cy="807"/>
          </a:xfrm>
        </p:grpSpPr>
        <p:grpSp>
          <p:nvGrpSpPr>
            <p:cNvPr id="46163" name="Group 8"/>
            <p:cNvGrpSpPr/>
            <p:nvPr/>
          </p:nvGrpSpPr>
          <p:grpSpPr bwMode="auto">
            <a:xfrm>
              <a:off x="204" y="960"/>
              <a:ext cx="1370" cy="807"/>
              <a:chOff x="204" y="960"/>
              <a:chExt cx="1370" cy="807"/>
            </a:xfrm>
          </p:grpSpPr>
          <p:sp>
            <p:nvSpPr>
              <p:cNvPr id="46165" name="Rectangle 9"/>
              <p:cNvSpPr>
                <a:spLocks noChangeArrowheads="1"/>
              </p:cNvSpPr>
              <p:nvPr/>
            </p:nvSpPr>
            <p:spPr bwMode="auto">
              <a:xfrm>
                <a:off x="348" y="960"/>
                <a:ext cx="192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66" name="Rectangle 10"/>
              <p:cNvSpPr>
                <a:spLocks noChangeArrowheads="1"/>
              </p:cNvSpPr>
              <p:nvPr/>
            </p:nvSpPr>
            <p:spPr bwMode="auto">
              <a:xfrm>
                <a:off x="732" y="960"/>
                <a:ext cx="576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67" name="Freeform 11"/>
              <p:cNvSpPr/>
              <p:nvPr/>
            </p:nvSpPr>
            <p:spPr bwMode="auto">
              <a:xfrm>
                <a:off x="204" y="1122"/>
                <a:ext cx="240" cy="384"/>
              </a:xfrm>
              <a:custGeom>
                <a:avLst/>
                <a:gdLst>
                  <a:gd name="T0" fmla="*/ 144 w 240"/>
                  <a:gd name="T1" fmla="*/ 0 h 384"/>
                  <a:gd name="T2" fmla="*/ 0 w 240"/>
                  <a:gd name="T3" fmla="*/ 0 h 384"/>
                  <a:gd name="T4" fmla="*/ 0 w 240"/>
                  <a:gd name="T5" fmla="*/ 384 h 384"/>
                  <a:gd name="T6" fmla="*/ 240 w 240"/>
                  <a:gd name="T7" fmla="*/ 384 h 384"/>
                  <a:gd name="T8" fmla="*/ 240 w 240"/>
                  <a:gd name="T9" fmla="*/ 144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68" name="Freeform 12"/>
              <p:cNvSpPr/>
              <p:nvPr/>
            </p:nvSpPr>
            <p:spPr bwMode="auto">
              <a:xfrm>
                <a:off x="636" y="1104"/>
                <a:ext cx="100" cy="384"/>
              </a:xfrm>
              <a:custGeom>
                <a:avLst/>
                <a:gdLst>
                  <a:gd name="T0" fmla="*/ 1 w 144"/>
                  <a:gd name="T1" fmla="*/ 0 h 384"/>
                  <a:gd name="T2" fmla="*/ 0 w 144"/>
                  <a:gd name="T3" fmla="*/ 0 h 384"/>
                  <a:gd name="T4" fmla="*/ 0 w 144"/>
                  <a:gd name="T5" fmla="*/ 384 h 3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69" name="Freeform 13"/>
              <p:cNvSpPr/>
              <p:nvPr/>
            </p:nvSpPr>
            <p:spPr bwMode="auto">
              <a:xfrm>
                <a:off x="1308" y="1104"/>
                <a:ext cx="141" cy="384"/>
              </a:xfrm>
              <a:custGeom>
                <a:avLst/>
                <a:gdLst>
                  <a:gd name="T0" fmla="*/ 664440 w 96"/>
                  <a:gd name="T1" fmla="*/ 384 h 384"/>
                  <a:gd name="T2" fmla="*/ 664440 w 96"/>
                  <a:gd name="T3" fmla="*/ 0 h 384"/>
                  <a:gd name="T4" fmla="*/ 0 w 96"/>
                  <a:gd name="T5" fmla="*/ 0 h 3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70" name="Text Box 14"/>
              <p:cNvSpPr txBox="1">
                <a:spLocks noChangeArrowheads="1"/>
              </p:cNvSpPr>
              <p:nvPr/>
            </p:nvSpPr>
            <p:spPr bwMode="auto">
              <a:xfrm>
                <a:off x="1346" y="1440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0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164" name="Line 15"/>
            <p:cNvSpPr>
              <a:spLocks noChangeShapeType="1"/>
            </p:cNvSpPr>
            <p:nvPr/>
          </p:nvSpPr>
          <p:spPr bwMode="auto">
            <a:xfrm flipH="1">
              <a:off x="876" y="1104"/>
              <a:ext cx="28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22960" name="Group 16"/>
          <p:cNvGrpSpPr/>
          <p:nvPr/>
        </p:nvGrpSpPr>
        <p:grpSpPr bwMode="auto">
          <a:xfrm>
            <a:off x="4057650" y="1524000"/>
            <a:ext cx="2174875" cy="1281113"/>
            <a:chOff x="1596" y="960"/>
            <a:chExt cx="1370" cy="807"/>
          </a:xfrm>
        </p:grpSpPr>
        <p:grpSp>
          <p:nvGrpSpPr>
            <p:cNvPr id="46155" name="Group 17"/>
            <p:cNvGrpSpPr/>
            <p:nvPr/>
          </p:nvGrpSpPr>
          <p:grpSpPr bwMode="auto">
            <a:xfrm>
              <a:off x="1596" y="960"/>
              <a:ext cx="1370" cy="807"/>
              <a:chOff x="1596" y="960"/>
              <a:chExt cx="1370" cy="807"/>
            </a:xfrm>
          </p:grpSpPr>
          <p:sp>
            <p:nvSpPr>
              <p:cNvPr id="46157" name="Rectangle 18"/>
              <p:cNvSpPr>
                <a:spLocks noChangeArrowheads="1"/>
              </p:cNvSpPr>
              <p:nvPr/>
            </p:nvSpPr>
            <p:spPr bwMode="auto">
              <a:xfrm>
                <a:off x="1740" y="960"/>
                <a:ext cx="192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58" name="Rectangle 19"/>
              <p:cNvSpPr>
                <a:spLocks noChangeArrowheads="1"/>
              </p:cNvSpPr>
              <p:nvPr/>
            </p:nvSpPr>
            <p:spPr bwMode="auto">
              <a:xfrm>
                <a:off x="2124" y="960"/>
                <a:ext cx="576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59" name="Freeform 20"/>
              <p:cNvSpPr/>
              <p:nvPr/>
            </p:nvSpPr>
            <p:spPr bwMode="auto">
              <a:xfrm>
                <a:off x="1596" y="1122"/>
                <a:ext cx="240" cy="384"/>
              </a:xfrm>
              <a:custGeom>
                <a:avLst/>
                <a:gdLst>
                  <a:gd name="T0" fmla="*/ 144 w 240"/>
                  <a:gd name="T1" fmla="*/ 0 h 384"/>
                  <a:gd name="T2" fmla="*/ 0 w 240"/>
                  <a:gd name="T3" fmla="*/ 0 h 384"/>
                  <a:gd name="T4" fmla="*/ 0 w 240"/>
                  <a:gd name="T5" fmla="*/ 384 h 384"/>
                  <a:gd name="T6" fmla="*/ 240 w 240"/>
                  <a:gd name="T7" fmla="*/ 384 h 384"/>
                  <a:gd name="T8" fmla="*/ 240 w 240"/>
                  <a:gd name="T9" fmla="*/ 144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60" name="Freeform 21"/>
              <p:cNvSpPr/>
              <p:nvPr/>
            </p:nvSpPr>
            <p:spPr bwMode="auto">
              <a:xfrm>
                <a:off x="2031" y="1104"/>
                <a:ext cx="100" cy="384"/>
              </a:xfrm>
              <a:custGeom>
                <a:avLst/>
                <a:gdLst>
                  <a:gd name="T0" fmla="*/ 1 w 144"/>
                  <a:gd name="T1" fmla="*/ 0 h 384"/>
                  <a:gd name="T2" fmla="*/ 0 w 144"/>
                  <a:gd name="T3" fmla="*/ 0 h 384"/>
                  <a:gd name="T4" fmla="*/ 0 w 144"/>
                  <a:gd name="T5" fmla="*/ 384 h 3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61" name="Freeform 22"/>
              <p:cNvSpPr/>
              <p:nvPr/>
            </p:nvSpPr>
            <p:spPr bwMode="auto">
              <a:xfrm>
                <a:off x="2703" y="1104"/>
                <a:ext cx="141" cy="384"/>
              </a:xfrm>
              <a:custGeom>
                <a:avLst/>
                <a:gdLst>
                  <a:gd name="T0" fmla="*/ 664440 w 96"/>
                  <a:gd name="T1" fmla="*/ 384 h 384"/>
                  <a:gd name="T2" fmla="*/ 664440 w 96"/>
                  <a:gd name="T3" fmla="*/ 0 h 384"/>
                  <a:gd name="T4" fmla="*/ 0 w 96"/>
                  <a:gd name="T5" fmla="*/ 0 h 3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62" name="Text Box 23"/>
              <p:cNvSpPr txBox="1">
                <a:spLocks noChangeArrowheads="1"/>
              </p:cNvSpPr>
              <p:nvPr/>
            </p:nvSpPr>
            <p:spPr bwMode="auto">
              <a:xfrm>
                <a:off x="2738" y="1440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0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156" name="Line 24"/>
            <p:cNvSpPr>
              <a:spLocks noChangeShapeType="1"/>
            </p:cNvSpPr>
            <p:nvPr/>
          </p:nvSpPr>
          <p:spPr bwMode="auto">
            <a:xfrm flipH="1">
              <a:off x="2268" y="1104"/>
              <a:ext cx="28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22969" name="Group 25"/>
          <p:cNvGrpSpPr/>
          <p:nvPr/>
        </p:nvGrpSpPr>
        <p:grpSpPr bwMode="auto">
          <a:xfrm>
            <a:off x="6267450" y="1524000"/>
            <a:ext cx="2133600" cy="1281113"/>
            <a:chOff x="2988" y="960"/>
            <a:chExt cx="1344" cy="807"/>
          </a:xfrm>
        </p:grpSpPr>
        <p:grpSp>
          <p:nvGrpSpPr>
            <p:cNvPr id="46147" name="Group 26"/>
            <p:cNvGrpSpPr/>
            <p:nvPr/>
          </p:nvGrpSpPr>
          <p:grpSpPr bwMode="auto">
            <a:xfrm>
              <a:off x="2988" y="960"/>
              <a:ext cx="1344" cy="807"/>
              <a:chOff x="2988" y="960"/>
              <a:chExt cx="1344" cy="807"/>
            </a:xfrm>
          </p:grpSpPr>
          <p:sp>
            <p:nvSpPr>
              <p:cNvPr id="46149" name="Rectangle 27"/>
              <p:cNvSpPr>
                <a:spLocks noChangeArrowheads="1"/>
              </p:cNvSpPr>
              <p:nvPr/>
            </p:nvSpPr>
            <p:spPr bwMode="auto">
              <a:xfrm>
                <a:off x="3132" y="960"/>
                <a:ext cx="192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50" name="Rectangle 28"/>
              <p:cNvSpPr>
                <a:spLocks noChangeArrowheads="1"/>
              </p:cNvSpPr>
              <p:nvPr/>
            </p:nvSpPr>
            <p:spPr bwMode="auto">
              <a:xfrm>
                <a:off x="3516" y="960"/>
                <a:ext cx="576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51" name="Freeform 29"/>
              <p:cNvSpPr/>
              <p:nvPr/>
            </p:nvSpPr>
            <p:spPr bwMode="auto">
              <a:xfrm>
                <a:off x="2988" y="1122"/>
                <a:ext cx="240" cy="384"/>
              </a:xfrm>
              <a:custGeom>
                <a:avLst/>
                <a:gdLst>
                  <a:gd name="T0" fmla="*/ 144 w 240"/>
                  <a:gd name="T1" fmla="*/ 0 h 384"/>
                  <a:gd name="T2" fmla="*/ 0 w 240"/>
                  <a:gd name="T3" fmla="*/ 0 h 384"/>
                  <a:gd name="T4" fmla="*/ 0 w 240"/>
                  <a:gd name="T5" fmla="*/ 384 h 384"/>
                  <a:gd name="T6" fmla="*/ 240 w 240"/>
                  <a:gd name="T7" fmla="*/ 384 h 384"/>
                  <a:gd name="T8" fmla="*/ 240 w 240"/>
                  <a:gd name="T9" fmla="*/ 144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52" name="Freeform 30"/>
              <p:cNvSpPr/>
              <p:nvPr/>
            </p:nvSpPr>
            <p:spPr bwMode="auto">
              <a:xfrm>
                <a:off x="3423" y="1104"/>
                <a:ext cx="100" cy="384"/>
              </a:xfrm>
              <a:custGeom>
                <a:avLst/>
                <a:gdLst>
                  <a:gd name="T0" fmla="*/ 1 w 144"/>
                  <a:gd name="T1" fmla="*/ 0 h 384"/>
                  <a:gd name="T2" fmla="*/ 0 w 144"/>
                  <a:gd name="T3" fmla="*/ 0 h 384"/>
                  <a:gd name="T4" fmla="*/ 0 w 144"/>
                  <a:gd name="T5" fmla="*/ 384 h 3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53" name="Freeform 31"/>
              <p:cNvSpPr/>
              <p:nvPr/>
            </p:nvSpPr>
            <p:spPr bwMode="auto">
              <a:xfrm>
                <a:off x="4095" y="1104"/>
                <a:ext cx="141" cy="384"/>
              </a:xfrm>
              <a:custGeom>
                <a:avLst/>
                <a:gdLst>
                  <a:gd name="T0" fmla="*/ 664440 w 96"/>
                  <a:gd name="T1" fmla="*/ 384 h 384"/>
                  <a:gd name="T2" fmla="*/ 664440 w 96"/>
                  <a:gd name="T3" fmla="*/ 0 h 384"/>
                  <a:gd name="T4" fmla="*/ 0 w 96"/>
                  <a:gd name="T5" fmla="*/ 0 h 3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54" name="Text Box 32"/>
              <p:cNvSpPr txBox="1">
                <a:spLocks noChangeArrowheads="1"/>
              </p:cNvSpPr>
              <p:nvPr/>
            </p:nvSpPr>
            <p:spPr bwMode="auto">
              <a:xfrm>
                <a:off x="4104" y="1440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0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148" name="Line 33"/>
            <p:cNvSpPr>
              <a:spLocks noChangeShapeType="1"/>
            </p:cNvSpPr>
            <p:nvPr/>
          </p:nvSpPr>
          <p:spPr bwMode="auto">
            <a:xfrm flipH="1">
              <a:off x="3660" y="1104"/>
              <a:ext cx="28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22978" name="Group 34"/>
          <p:cNvGrpSpPr/>
          <p:nvPr/>
        </p:nvGrpSpPr>
        <p:grpSpPr bwMode="auto">
          <a:xfrm>
            <a:off x="8477250" y="1524000"/>
            <a:ext cx="2190750" cy="1281113"/>
            <a:chOff x="4380" y="960"/>
            <a:chExt cx="1380" cy="807"/>
          </a:xfrm>
        </p:grpSpPr>
        <p:grpSp>
          <p:nvGrpSpPr>
            <p:cNvPr id="46139" name="Group 35"/>
            <p:cNvGrpSpPr/>
            <p:nvPr/>
          </p:nvGrpSpPr>
          <p:grpSpPr bwMode="auto">
            <a:xfrm>
              <a:off x="4380" y="960"/>
              <a:ext cx="1380" cy="807"/>
              <a:chOff x="4380" y="960"/>
              <a:chExt cx="1380" cy="807"/>
            </a:xfrm>
          </p:grpSpPr>
          <p:sp>
            <p:nvSpPr>
              <p:cNvPr id="46141" name="Rectangle 36"/>
              <p:cNvSpPr>
                <a:spLocks noChangeArrowheads="1"/>
              </p:cNvSpPr>
              <p:nvPr/>
            </p:nvSpPr>
            <p:spPr bwMode="auto">
              <a:xfrm>
                <a:off x="4524" y="960"/>
                <a:ext cx="192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42" name="Rectangle 37"/>
              <p:cNvSpPr>
                <a:spLocks noChangeArrowheads="1"/>
              </p:cNvSpPr>
              <p:nvPr/>
            </p:nvSpPr>
            <p:spPr bwMode="auto">
              <a:xfrm>
                <a:off x="4908" y="960"/>
                <a:ext cx="576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43" name="Freeform 38"/>
              <p:cNvSpPr/>
              <p:nvPr/>
            </p:nvSpPr>
            <p:spPr bwMode="auto">
              <a:xfrm>
                <a:off x="4380" y="1122"/>
                <a:ext cx="240" cy="384"/>
              </a:xfrm>
              <a:custGeom>
                <a:avLst/>
                <a:gdLst>
                  <a:gd name="T0" fmla="*/ 144 w 240"/>
                  <a:gd name="T1" fmla="*/ 0 h 384"/>
                  <a:gd name="T2" fmla="*/ 0 w 240"/>
                  <a:gd name="T3" fmla="*/ 0 h 384"/>
                  <a:gd name="T4" fmla="*/ 0 w 240"/>
                  <a:gd name="T5" fmla="*/ 384 h 384"/>
                  <a:gd name="T6" fmla="*/ 240 w 240"/>
                  <a:gd name="T7" fmla="*/ 384 h 384"/>
                  <a:gd name="T8" fmla="*/ 240 w 240"/>
                  <a:gd name="T9" fmla="*/ 144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44" name="Freeform 39"/>
              <p:cNvSpPr/>
              <p:nvPr/>
            </p:nvSpPr>
            <p:spPr bwMode="auto">
              <a:xfrm>
                <a:off x="4815" y="1104"/>
                <a:ext cx="100" cy="384"/>
              </a:xfrm>
              <a:custGeom>
                <a:avLst/>
                <a:gdLst>
                  <a:gd name="T0" fmla="*/ 1 w 144"/>
                  <a:gd name="T1" fmla="*/ 0 h 384"/>
                  <a:gd name="T2" fmla="*/ 0 w 144"/>
                  <a:gd name="T3" fmla="*/ 0 h 384"/>
                  <a:gd name="T4" fmla="*/ 0 w 144"/>
                  <a:gd name="T5" fmla="*/ 384 h 3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45" name="Freeform 40"/>
              <p:cNvSpPr/>
              <p:nvPr/>
            </p:nvSpPr>
            <p:spPr bwMode="auto">
              <a:xfrm>
                <a:off x="5487" y="1104"/>
                <a:ext cx="141" cy="384"/>
              </a:xfrm>
              <a:custGeom>
                <a:avLst/>
                <a:gdLst>
                  <a:gd name="T0" fmla="*/ 664440 w 96"/>
                  <a:gd name="T1" fmla="*/ 384 h 384"/>
                  <a:gd name="T2" fmla="*/ 664440 w 96"/>
                  <a:gd name="T3" fmla="*/ 0 h 384"/>
                  <a:gd name="T4" fmla="*/ 0 w 96"/>
                  <a:gd name="T5" fmla="*/ 0 h 3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46" name="Text Box 41"/>
              <p:cNvSpPr txBox="1">
                <a:spLocks noChangeArrowheads="1"/>
              </p:cNvSpPr>
              <p:nvPr/>
            </p:nvSpPr>
            <p:spPr bwMode="auto">
              <a:xfrm>
                <a:off x="5532" y="1440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1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140" name="Line 42"/>
            <p:cNvSpPr>
              <a:spLocks noChangeShapeType="1"/>
            </p:cNvSpPr>
            <p:nvPr/>
          </p:nvSpPr>
          <p:spPr bwMode="auto">
            <a:xfrm flipH="1">
              <a:off x="5052" y="1104"/>
              <a:ext cx="28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22987" name="Group 43"/>
          <p:cNvGrpSpPr/>
          <p:nvPr/>
        </p:nvGrpSpPr>
        <p:grpSpPr bwMode="auto">
          <a:xfrm>
            <a:off x="8477250" y="3276600"/>
            <a:ext cx="1981200" cy="866775"/>
            <a:chOff x="4380" y="2064"/>
            <a:chExt cx="1248" cy="546"/>
          </a:xfrm>
        </p:grpSpPr>
        <p:grpSp>
          <p:nvGrpSpPr>
            <p:cNvPr id="46132" name="Group 44"/>
            <p:cNvGrpSpPr/>
            <p:nvPr/>
          </p:nvGrpSpPr>
          <p:grpSpPr bwMode="auto">
            <a:xfrm>
              <a:off x="4380" y="2064"/>
              <a:ext cx="1248" cy="546"/>
              <a:chOff x="4380" y="2064"/>
              <a:chExt cx="1248" cy="546"/>
            </a:xfrm>
          </p:grpSpPr>
          <p:sp>
            <p:nvSpPr>
              <p:cNvPr id="46134" name="Rectangle 45"/>
              <p:cNvSpPr>
                <a:spLocks noChangeArrowheads="1"/>
              </p:cNvSpPr>
              <p:nvPr/>
            </p:nvSpPr>
            <p:spPr bwMode="auto">
              <a:xfrm>
                <a:off x="4524" y="2064"/>
                <a:ext cx="192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35" name="Rectangle 46"/>
              <p:cNvSpPr>
                <a:spLocks noChangeArrowheads="1"/>
              </p:cNvSpPr>
              <p:nvPr/>
            </p:nvSpPr>
            <p:spPr bwMode="auto">
              <a:xfrm>
                <a:off x="4908" y="2064"/>
                <a:ext cx="576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36" name="Freeform 47"/>
              <p:cNvSpPr/>
              <p:nvPr/>
            </p:nvSpPr>
            <p:spPr bwMode="auto">
              <a:xfrm>
                <a:off x="4380" y="2226"/>
                <a:ext cx="240" cy="384"/>
              </a:xfrm>
              <a:custGeom>
                <a:avLst/>
                <a:gdLst>
                  <a:gd name="T0" fmla="*/ 144 w 240"/>
                  <a:gd name="T1" fmla="*/ 0 h 384"/>
                  <a:gd name="T2" fmla="*/ 0 w 240"/>
                  <a:gd name="T3" fmla="*/ 0 h 384"/>
                  <a:gd name="T4" fmla="*/ 0 w 240"/>
                  <a:gd name="T5" fmla="*/ 384 h 384"/>
                  <a:gd name="T6" fmla="*/ 240 w 240"/>
                  <a:gd name="T7" fmla="*/ 384 h 384"/>
                  <a:gd name="T8" fmla="*/ 240 w 240"/>
                  <a:gd name="T9" fmla="*/ 144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37" name="Freeform 48"/>
              <p:cNvSpPr/>
              <p:nvPr/>
            </p:nvSpPr>
            <p:spPr bwMode="auto">
              <a:xfrm>
                <a:off x="5487" y="2208"/>
                <a:ext cx="141" cy="384"/>
              </a:xfrm>
              <a:custGeom>
                <a:avLst/>
                <a:gdLst>
                  <a:gd name="T0" fmla="*/ 664440 w 96"/>
                  <a:gd name="T1" fmla="*/ 384 h 384"/>
                  <a:gd name="T2" fmla="*/ 664440 w 96"/>
                  <a:gd name="T3" fmla="*/ 0 h 384"/>
                  <a:gd name="T4" fmla="*/ 0 w 96"/>
                  <a:gd name="T5" fmla="*/ 0 h 3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stealth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38" name="Line 49"/>
              <p:cNvSpPr>
                <a:spLocks noChangeShapeType="1"/>
              </p:cNvSpPr>
              <p:nvPr/>
            </p:nvSpPr>
            <p:spPr bwMode="auto">
              <a:xfrm>
                <a:off x="4716" y="220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46133" name="Line 50"/>
            <p:cNvSpPr>
              <a:spLocks noChangeShapeType="1"/>
            </p:cNvSpPr>
            <p:nvPr/>
          </p:nvSpPr>
          <p:spPr bwMode="auto">
            <a:xfrm rot="10800000" flipH="1">
              <a:off x="5100" y="2208"/>
              <a:ext cx="28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22995" name="Group 51"/>
          <p:cNvGrpSpPr/>
          <p:nvPr/>
        </p:nvGrpSpPr>
        <p:grpSpPr bwMode="auto">
          <a:xfrm>
            <a:off x="6267450" y="3276600"/>
            <a:ext cx="1981200" cy="866775"/>
            <a:chOff x="2988" y="2064"/>
            <a:chExt cx="1248" cy="546"/>
          </a:xfrm>
        </p:grpSpPr>
        <p:grpSp>
          <p:nvGrpSpPr>
            <p:cNvPr id="46125" name="Group 52"/>
            <p:cNvGrpSpPr/>
            <p:nvPr/>
          </p:nvGrpSpPr>
          <p:grpSpPr bwMode="auto">
            <a:xfrm>
              <a:off x="2988" y="2064"/>
              <a:ext cx="1248" cy="546"/>
              <a:chOff x="2988" y="2064"/>
              <a:chExt cx="1248" cy="546"/>
            </a:xfrm>
          </p:grpSpPr>
          <p:sp>
            <p:nvSpPr>
              <p:cNvPr id="46127" name="Rectangle 53"/>
              <p:cNvSpPr>
                <a:spLocks noChangeArrowheads="1"/>
              </p:cNvSpPr>
              <p:nvPr/>
            </p:nvSpPr>
            <p:spPr bwMode="auto">
              <a:xfrm>
                <a:off x="3132" y="2064"/>
                <a:ext cx="192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28" name="Rectangle 54"/>
              <p:cNvSpPr>
                <a:spLocks noChangeArrowheads="1"/>
              </p:cNvSpPr>
              <p:nvPr/>
            </p:nvSpPr>
            <p:spPr bwMode="auto">
              <a:xfrm>
                <a:off x="3516" y="2064"/>
                <a:ext cx="576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29" name="Freeform 55"/>
              <p:cNvSpPr/>
              <p:nvPr/>
            </p:nvSpPr>
            <p:spPr bwMode="auto">
              <a:xfrm>
                <a:off x="2988" y="2226"/>
                <a:ext cx="240" cy="384"/>
              </a:xfrm>
              <a:custGeom>
                <a:avLst/>
                <a:gdLst>
                  <a:gd name="T0" fmla="*/ 144 w 240"/>
                  <a:gd name="T1" fmla="*/ 0 h 384"/>
                  <a:gd name="T2" fmla="*/ 0 w 240"/>
                  <a:gd name="T3" fmla="*/ 0 h 384"/>
                  <a:gd name="T4" fmla="*/ 0 w 240"/>
                  <a:gd name="T5" fmla="*/ 384 h 384"/>
                  <a:gd name="T6" fmla="*/ 240 w 240"/>
                  <a:gd name="T7" fmla="*/ 384 h 384"/>
                  <a:gd name="T8" fmla="*/ 240 w 240"/>
                  <a:gd name="T9" fmla="*/ 144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30" name="Freeform 56"/>
              <p:cNvSpPr/>
              <p:nvPr/>
            </p:nvSpPr>
            <p:spPr bwMode="auto">
              <a:xfrm>
                <a:off x="4095" y="2208"/>
                <a:ext cx="141" cy="384"/>
              </a:xfrm>
              <a:custGeom>
                <a:avLst/>
                <a:gdLst>
                  <a:gd name="T0" fmla="*/ 664440 w 96"/>
                  <a:gd name="T1" fmla="*/ 384 h 384"/>
                  <a:gd name="T2" fmla="*/ 664440 w 96"/>
                  <a:gd name="T3" fmla="*/ 0 h 384"/>
                  <a:gd name="T4" fmla="*/ 0 w 96"/>
                  <a:gd name="T5" fmla="*/ 0 h 3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stealth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31" name="Line 57"/>
              <p:cNvSpPr>
                <a:spLocks noChangeShapeType="1"/>
              </p:cNvSpPr>
              <p:nvPr/>
            </p:nvSpPr>
            <p:spPr bwMode="auto">
              <a:xfrm>
                <a:off x="3324" y="220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46126" name="Line 58"/>
            <p:cNvSpPr>
              <a:spLocks noChangeShapeType="1"/>
            </p:cNvSpPr>
            <p:nvPr/>
          </p:nvSpPr>
          <p:spPr bwMode="auto">
            <a:xfrm rot="10800000" flipH="1">
              <a:off x="3660" y="2208"/>
              <a:ext cx="28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23003" name="Group 59"/>
          <p:cNvGrpSpPr/>
          <p:nvPr/>
        </p:nvGrpSpPr>
        <p:grpSpPr bwMode="auto">
          <a:xfrm>
            <a:off x="4057650" y="3276600"/>
            <a:ext cx="1981200" cy="1271588"/>
            <a:chOff x="1596" y="2064"/>
            <a:chExt cx="1248" cy="801"/>
          </a:xfrm>
        </p:grpSpPr>
        <p:grpSp>
          <p:nvGrpSpPr>
            <p:cNvPr id="46117" name="Group 60"/>
            <p:cNvGrpSpPr/>
            <p:nvPr/>
          </p:nvGrpSpPr>
          <p:grpSpPr bwMode="auto">
            <a:xfrm>
              <a:off x="1596" y="2064"/>
              <a:ext cx="1248" cy="801"/>
              <a:chOff x="1596" y="2064"/>
              <a:chExt cx="1248" cy="801"/>
            </a:xfrm>
          </p:grpSpPr>
          <p:sp>
            <p:nvSpPr>
              <p:cNvPr id="46119" name="Rectangle 61"/>
              <p:cNvSpPr>
                <a:spLocks noChangeArrowheads="1"/>
              </p:cNvSpPr>
              <p:nvPr/>
            </p:nvSpPr>
            <p:spPr bwMode="auto">
              <a:xfrm>
                <a:off x="1740" y="2064"/>
                <a:ext cx="192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20" name="Rectangle 62"/>
              <p:cNvSpPr>
                <a:spLocks noChangeArrowheads="1"/>
              </p:cNvSpPr>
              <p:nvPr/>
            </p:nvSpPr>
            <p:spPr bwMode="auto">
              <a:xfrm>
                <a:off x="2124" y="2064"/>
                <a:ext cx="576" cy="31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46121" name="Freeform 63"/>
              <p:cNvSpPr/>
              <p:nvPr/>
            </p:nvSpPr>
            <p:spPr bwMode="auto">
              <a:xfrm>
                <a:off x="1596" y="2226"/>
                <a:ext cx="240" cy="384"/>
              </a:xfrm>
              <a:custGeom>
                <a:avLst/>
                <a:gdLst>
                  <a:gd name="T0" fmla="*/ 144 w 240"/>
                  <a:gd name="T1" fmla="*/ 0 h 384"/>
                  <a:gd name="T2" fmla="*/ 0 w 240"/>
                  <a:gd name="T3" fmla="*/ 0 h 384"/>
                  <a:gd name="T4" fmla="*/ 0 w 240"/>
                  <a:gd name="T5" fmla="*/ 384 h 384"/>
                  <a:gd name="T6" fmla="*/ 240 w 240"/>
                  <a:gd name="T7" fmla="*/ 384 h 384"/>
                  <a:gd name="T8" fmla="*/ 240 w 240"/>
                  <a:gd name="T9" fmla="*/ 144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0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240" y="384"/>
                    </a:lnTo>
                    <a:lnTo>
                      <a:pt x="240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22" name="Freeform 64"/>
              <p:cNvSpPr/>
              <p:nvPr/>
            </p:nvSpPr>
            <p:spPr bwMode="auto">
              <a:xfrm>
                <a:off x="2031" y="2208"/>
                <a:ext cx="100" cy="384"/>
              </a:xfrm>
              <a:custGeom>
                <a:avLst/>
                <a:gdLst>
                  <a:gd name="T0" fmla="*/ 1 w 144"/>
                  <a:gd name="T1" fmla="*/ 0 h 384"/>
                  <a:gd name="T2" fmla="*/ 0 w 144"/>
                  <a:gd name="T3" fmla="*/ 0 h 384"/>
                  <a:gd name="T4" fmla="*/ 0 w 144"/>
                  <a:gd name="T5" fmla="*/ 384 h 3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384">
                    <a:moveTo>
                      <a:pt x="144" y="0"/>
                    </a:moveTo>
                    <a:lnTo>
                      <a:pt x="0" y="0"/>
                    </a:lnTo>
                    <a:lnTo>
                      <a:pt x="0" y="38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stealth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23" name="Freeform 65"/>
              <p:cNvSpPr/>
              <p:nvPr/>
            </p:nvSpPr>
            <p:spPr bwMode="auto">
              <a:xfrm>
                <a:off x="2703" y="2208"/>
                <a:ext cx="141" cy="384"/>
              </a:xfrm>
              <a:custGeom>
                <a:avLst/>
                <a:gdLst>
                  <a:gd name="T0" fmla="*/ 664440 w 96"/>
                  <a:gd name="T1" fmla="*/ 384 h 384"/>
                  <a:gd name="T2" fmla="*/ 664440 w 96"/>
                  <a:gd name="T3" fmla="*/ 0 h 384"/>
                  <a:gd name="T4" fmla="*/ 0 w 96"/>
                  <a:gd name="T5" fmla="*/ 0 h 3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384">
                    <a:moveTo>
                      <a:pt x="96" y="384"/>
                    </a:moveTo>
                    <a:lnTo>
                      <a:pt x="96" y="0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miter lim="800000"/>
                <a:headEnd type="stealth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124" name="Text Box 66"/>
              <p:cNvSpPr txBox="1">
                <a:spLocks noChangeArrowheads="1"/>
              </p:cNvSpPr>
              <p:nvPr/>
            </p:nvSpPr>
            <p:spPr bwMode="auto">
              <a:xfrm>
                <a:off x="1922" y="2538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0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118" name="Line 67"/>
            <p:cNvSpPr>
              <a:spLocks noChangeShapeType="1"/>
            </p:cNvSpPr>
            <p:nvPr/>
          </p:nvSpPr>
          <p:spPr bwMode="auto">
            <a:xfrm rot="10800000" flipH="1">
              <a:off x="2268" y="2208"/>
              <a:ext cx="28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23012" name="Group 68"/>
          <p:cNvGrpSpPr/>
          <p:nvPr/>
        </p:nvGrpSpPr>
        <p:grpSpPr bwMode="auto">
          <a:xfrm>
            <a:off x="1752600" y="5181600"/>
            <a:ext cx="914400" cy="457200"/>
            <a:chOff x="240" y="3264"/>
            <a:chExt cx="576" cy="288"/>
          </a:xfrm>
        </p:grpSpPr>
        <p:sp>
          <p:nvSpPr>
            <p:cNvPr id="46115" name="Line 69"/>
            <p:cNvSpPr>
              <a:spLocks noChangeShapeType="1"/>
            </p:cNvSpPr>
            <p:nvPr/>
          </p:nvSpPr>
          <p:spPr bwMode="auto">
            <a:xfrm flipH="1">
              <a:off x="240" y="340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6116" name="Text Box 70"/>
            <p:cNvSpPr txBox="1">
              <a:spLocks noChangeArrowheads="1"/>
            </p:cNvSpPr>
            <p:nvPr/>
          </p:nvSpPr>
          <p:spPr bwMode="auto">
            <a:xfrm>
              <a:off x="395" y="3264"/>
              <a:ext cx="4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丢</a:t>
              </a:r>
              <a:r>
                <a:rPr lang="zh-CN" altLang="en-US" sz="2400">
                  <a:latin typeface="Times New Roman" panose="02020603050405020304" pitchFamily="18" charset="0"/>
                </a:rPr>
                <a:t>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23015" name="Group 71"/>
          <p:cNvGrpSpPr/>
          <p:nvPr/>
        </p:nvGrpSpPr>
        <p:grpSpPr bwMode="auto">
          <a:xfrm>
            <a:off x="1752600" y="5638800"/>
            <a:ext cx="914400" cy="457200"/>
            <a:chOff x="240" y="3552"/>
            <a:chExt cx="576" cy="288"/>
          </a:xfrm>
        </p:grpSpPr>
        <p:sp>
          <p:nvSpPr>
            <p:cNvPr id="46113" name="Line 72"/>
            <p:cNvSpPr>
              <a:spLocks noChangeShapeType="1"/>
            </p:cNvSpPr>
            <p:nvPr/>
          </p:nvSpPr>
          <p:spPr bwMode="auto">
            <a:xfrm rot="10800000" flipH="1">
              <a:off x="240" y="369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6114" name="Text Box 73"/>
            <p:cNvSpPr txBox="1">
              <a:spLocks noChangeArrowheads="1"/>
            </p:cNvSpPr>
            <p:nvPr/>
          </p:nvSpPr>
          <p:spPr bwMode="auto">
            <a:xfrm>
              <a:off x="395" y="3552"/>
              <a:ext cx="4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丢</a:t>
              </a:r>
              <a:r>
                <a:rPr lang="zh-CN" altLang="en-US" sz="2400">
                  <a:latin typeface="Times New Roman" panose="02020603050405020304" pitchFamily="18" charset="0"/>
                </a:rPr>
                <a:t>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723018" name="Text Box 74"/>
          <p:cNvSpPr txBox="1">
            <a:spLocks noChangeArrowheads="1"/>
          </p:cNvSpPr>
          <p:nvPr/>
        </p:nvSpPr>
        <p:spPr bwMode="auto">
          <a:xfrm>
            <a:off x="3032125" y="5181600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出错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23019" name="Text Box 75"/>
          <p:cNvSpPr txBox="1">
            <a:spLocks noChangeArrowheads="1"/>
          </p:cNvSpPr>
          <p:nvPr/>
        </p:nvSpPr>
        <p:spPr bwMode="auto">
          <a:xfrm>
            <a:off x="2819400" y="5699125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影响精度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23020" name="Text Box 76"/>
          <p:cNvSpPr txBox="1">
            <a:spLocks noChangeArrowheads="1"/>
          </p:cNvSpPr>
          <p:nvPr/>
        </p:nvSpPr>
        <p:spPr bwMode="auto">
          <a:xfrm>
            <a:off x="5330825" y="5181600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出错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23021" name="Text Box 77"/>
          <p:cNvSpPr txBox="1">
            <a:spLocks noChangeArrowheads="1"/>
          </p:cNvSpPr>
          <p:nvPr/>
        </p:nvSpPr>
        <p:spPr bwMode="auto">
          <a:xfrm>
            <a:off x="5118100" y="5699125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影响精度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23022" name="Text Box 78"/>
          <p:cNvSpPr txBox="1">
            <a:spLocks noChangeArrowheads="1"/>
          </p:cNvSpPr>
          <p:nvPr/>
        </p:nvSpPr>
        <p:spPr bwMode="auto">
          <a:xfrm>
            <a:off x="7235825" y="5181600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正确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23023" name="Text Box 79"/>
          <p:cNvSpPr txBox="1">
            <a:spLocks noChangeArrowheads="1"/>
          </p:cNvSpPr>
          <p:nvPr/>
        </p:nvSpPr>
        <p:spPr bwMode="auto">
          <a:xfrm>
            <a:off x="7023100" y="5699125"/>
            <a:ext cx="120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影响精度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23024" name="Text Box 80"/>
          <p:cNvSpPr txBox="1">
            <a:spLocks noChangeArrowheads="1"/>
          </p:cNvSpPr>
          <p:nvPr/>
        </p:nvSpPr>
        <p:spPr bwMode="auto">
          <a:xfrm>
            <a:off x="9280525" y="5181600"/>
            <a:ext cx="695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正确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23025" name="Text Box 81"/>
          <p:cNvSpPr txBox="1">
            <a:spLocks noChangeArrowheads="1"/>
          </p:cNvSpPr>
          <p:nvPr/>
        </p:nvSpPr>
        <p:spPr bwMode="auto">
          <a:xfrm>
            <a:off x="9290050" y="5699125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正确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723027" name="Group 83"/>
          <p:cNvGrpSpPr/>
          <p:nvPr/>
        </p:nvGrpSpPr>
        <p:grpSpPr bwMode="auto">
          <a:xfrm>
            <a:off x="1847850" y="3276600"/>
            <a:ext cx="1976438" cy="866775"/>
            <a:chOff x="204" y="2064"/>
            <a:chExt cx="1245" cy="546"/>
          </a:xfrm>
        </p:grpSpPr>
        <p:grpSp>
          <p:nvGrpSpPr>
            <p:cNvPr id="46105" name="Group 84"/>
            <p:cNvGrpSpPr/>
            <p:nvPr/>
          </p:nvGrpSpPr>
          <p:grpSpPr bwMode="auto">
            <a:xfrm>
              <a:off x="732" y="2064"/>
              <a:ext cx="717" cy="528"/>
              <a:chOff x="732" y="2064"/>
              <a:chExt cx="717" cy="528"/>
            </a:xfrm>
          </p:grpSpPr>
          <p:grpSp>
            <p:nvGrpSpPr>
              <p:cNvPr id="46109" name="Group 85"/>
              <p:cNvGrpSpPr/>
              <p:nvPr/>
            </p:nvGrpSpPr>
            <p:grpSpPr bwMode="auto">
              <a:xfrm>
                <a:off x="732" y="2064"/>
                <a:ext cx="717" cy="528"/>
                <a:chOff x="732" y="2064"/>
                <a:chExt cx="717" cy="528"/>
              </a:xfrm>
            </p:grpSpPr>
            <p:sp>
              <p:nvSpPr>
                <p:cNvPr id="46111" name="Rectangle 86"/>
                <p:cNvSpPr>
                  <a:spLocks noChangeArrowheads="1"/>
                </p:cNvSpPr>
                <p:nvPr/>
              </p:nvSpPr>
              <p:spPr bwMode="auto">
                <a:xfrm>
                  <a:off x="732" y="2064"/>
                  <a:ext cx="576" cy="315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1800">
                    <a:latin typeface="等线" panose="02010600030101010101" pitchFamily="2" charset="-122"/>
                  </a:endParaRPr>
                </a:p>
              </p:txBody>
            </p:sp>
            <p:sp>
              <p:nvSpPr>
                <p:cNvPr id="46112" name="Freeform 87"/>
                <p:cNvSpPr/>
                <p:nvPr/>
              </p:nvSpPr>
              <p:spPr bwMode="auto">
                <a:xfrm>
                  <a:off x="1308" y="2208"/>
                  <a:ext cx="141" cy="384"/>
                </a:xfrm>
                <a:custGeom>
                  <a:avLst/>
                  <a:gdLst>
                    <a:gd name="T0" fmla="*/ 664440 w 96"/>
                    <a:gd name="T1" fmla="*/ 384 h 384"/>
                    <a:gd name="T2" fmla="*/ 664440 w 96"/>
                    <a:gd name="T3" fmla="*/ 0 h 384"/>
                    <a:gd name="T4" fmla="*/ 0 w 96"/>
                    <a:gd name="T5" fmla="*/ 0 h 38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6" h="384">
                      <a:moveTo>
                        <a:pt x="96" y="384"/>
                      </a:moveTo>
                      <a:lnTo>
                        <a:pt x="96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miter lim="800000"/>
                  <a:headEnd type="stealth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46110" name="Line 88"/>
              <p:cNvSpPr>
                <a:spLocks noChangeShapeType="1"/>
              </p:cNvSpPr>
              <p:nvPr/>
            </p:nvSpPr>
            <p:spPr bwMode="auto">
              <a:xfrm rot="10800000" flipH="1">
                <a:off x="924" y="220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46106" name="Rectangle 89"/>
            <p:cNvSpPr>
              <a:spLocks noChangeArrowheads="1"/>
            </p:cNvSpPr>
            <p:nvPr/>
          </p:nvSpPr>
          <p:spPr bwMode="auto">
            <a:xfrm>
              <a:off x="348" y="2064"/>
              <a:ext cx="192" cy="315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46107" name="Freeform 90"/>
            <p:cNvSpPr/>
            <p:nvPr/>
          </p:nvSpPr>
          <p:spPr bwMode="auto">
            <a:xfrm>
              <a:off x="204" y="2226"/>
              <a:ext cx="240" cy="384"/>
            </a:xfrm>
            <a:custGeom>
              <a:avLst/>
              <a:gdLst>
                <a:gd name="T0" fmla="*/ 144 w 240"/>
                <a:gd name="T1" fmla="*/ 0 h 384"/>
                <a:gd name="T2" fmla="*/ 0 w 240"/>
                <a:gd name="T3" fmla="*/ 0 h 384"/>
                <a:gd name="T4" fmla="*/ 0 w 240"/>
                <a:gd name="T5" fmla="*/ 384 h 384"/>
                <a:gd name="T6" fmla="*/ 240 w 240"/>
                <a:gd name="T7" fmla="*/ 384 h 384"/>
                <a:gd name="T8" fmla="*/ 240 w 240"/>
                <a:gd name="T9" fmla="*/ 144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0" h="384">
                  <a:moveTo>
                    <a:pt x="144" y="0"/>
                  </a:moveTo>
                  <a:lnTo>
                    <a:pt x="0" y="0"/>
                  </a:lnTo>
                  <a:lnTo>
                    <a:pt x="0" y="384"/>
                  </a:lnTo>
                  <a:lnTo>
                    <a:pt x="240" y="384"/>
                  </a:lnTo>
                  <a:lnTo>
                    <a:pt x="240" y="14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6108" name="Line 91"/>
            <p:cNvSpPr>
              <a:spLocks noChangeShapeType="1"/>
            </p:cNvSpPr>
            <p:nvPr/>
          </p:nvSpPr>
          <p:spPr bwMode="auto">
            <a:xfrm>
              <a:off x="540" y="220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2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2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72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72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72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72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2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722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72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2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2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2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2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2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2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2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2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2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72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2947" grpId="0" autoUpdateAnimBg="0"/>
      <p:bldP spid="722948" grpId="0" autoUpdateAnimBg="0"/>
      <p:bldP spid="722949" grpId="0" autoUpdateAnimBg="0"/>
      <p:bldP spid="722950" grpId="0" autoUpdateAnimBg="0"/>
      <p:bldP spid="723018" grpId="0" autoUpdateAnimBg="0"/>
      <p:bldP spid="723019" grpId="0" autoUpdateAnimBg="0"/>
      <p:bldP spid="723020" grpId="0" autoUpdateAnimBg="0"/>
      <p:bldP spid="723021" grpId="0" autoUpdateAnimBg="0"/>
      <p:bldP spid="723022" grpId="0" autoUpdateAnimBg="0"/>
      <p:bldP spid="723023" grpId="0" autoUpdateAnimBg="0"/>
      <p:bldP spid="723024" grpId="0" autoUpdateAnimBg="0"/>
      <p:bldP spid="72302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1905000" y="304800"/>
            <a:ext cx="614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4. 算术移位和逻辑移位的区别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23971" name="Text Box 3"/>
          <p:cNvSpPr txBox="1">
            <a:spLocks noChangeArrowheads="1"/>
          </p:cNvSpPr>
          <p:nvPr/>
        </p:nvSpPr>
        <p:spPr bwMode="auto">
          <a:xfrm>
            <a:off x="2270125" y="1090613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算术移位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3972" name="Text Box 4"/>
          <p:cNvSpPr txBox="1">
            <a:spLocks noChangeArrowheads="1"/>
          </p:cNvSpPr>
          <p:nvPr/>
        </p:nvSpPr>
        <p:spPr bwMode="auto">
          <a:xfrm>
            <a:off x="4251325" y="1090613"/>
            <a:ext cx="2684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有符号数的移位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3973" name="Text Box 5"/>
          <p:cNvSpPr txBox="1">
            <a:spLocks noChangeArrowheads="1"/>
          </p:cNvSpPr>
          <p:nvPr/>
        </p:nvSpPr>
        <p:spPr bwMode="auto">
          <a:xfrm>
            <a:off x="2270125" y="1798638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逻辑移位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3974" name="Text Box 6"/>
          <p:cNvSpPr txBox="1">
            <a:spLocks noChangeArrowheads="1"/>
          </p:cNvSpPr>
          <p:nvPr/>
        </p:nvSpPr>
        <p:spPr bwMode="auto">
          <a:xfrm>
            <a:off x="4251325" y="1798638"/>
            <a:ext cx="2684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无符号数的移位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3975" name="Text Box 7"/>
          <p:cNvSpPr txBox="1">
            <a:spLocks noChangeArrowheads="1"/>
          </p:cNvSpPr>
          <p:nvPr/>
        </p:nvSpPr>
        <p:spPr bwMode="auto">
          <a:xfrm>
            <a:off x="2270125" y="2506663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逻辑左移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3976" name="Text Box 8"/>
          <p:cNvSpPr txBox="1">
            <a:spLocks noChangeArrowheads="1"/>
          </p:cNvSpPr>
          <p:nvPr/>
        </p:nvSpPr>
        <p:spPr bwMode="auto">
          <a:xfrm>
            <a:off x="2270125" y="3214688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逻辑右移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3977" name="Text Box 9"/>
          <p:cNvSpPr txBox="1">
            <a:spLocks noChangeArrowheads="1"/>
          </p:cNvSpPr>
          <p:nvPr/>
        </p:nvSpPr>
        <p:spPr bwMode="auto">
          <a:xfrm>
            <a:off x="4251325" y="2506663"/>
            <a:ext cx="3308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低位添 0，高位移丢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3978" name="Text Box 10"/>
          <p:cNvSpPr txBox="1">
            <a:spLocks noChangeArrowheads="1"/>
          </p:cNvSpPr>
          <p:nvPr/>
        </p:nvSpPr>
        <p:spPr bwMode="auto">
          <a:xfrm>
            <a:off x="4251325" y="3214688"/>
            <a:ext cx="3308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高位添 0，低位移丢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3979" name="Text Box 11"/>
          <p:cNvSpPr txBox="1">
            <a:spLocks noChangeArrowheads="1"/>
          </p:cNvSpPr>
          <p:nvPr/>
        </p:nvSpPr>
        <p:spPr bwMode="auto">
          <a:xfrm>
            <a:off x="2270125" y="3886200"/>
            <a:ext cx="3609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例如            </a:t>
            </a:r>
            <a:r>
              <a:rPr lang="zh-CN" altLang="en-US" sz="1000"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01010011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3980" name="Text Box 12"/>
          <p:cNvSpPr txBox="1">
            <a:spLocks noChangeArrowheads="1"/>
          </p:cNvSpPr>
          <p:nvPr/>
        </p:nvSpPr>
        <p:spPr bwMode="auto">
          <a:xfrm>
            <a:off x="2270125" y="4481513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逻辑左移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23981" name="Text Box 13"/>
          <p:cNvSpPr txBox="1">
            <a:spLocks noChangeArrowheads="1"/>
          </p:cNvSpPr>
          <p:nvPr/>
        </p:nvSpPr>
        <p:spPr bwMode="auto">
          <a:xfrm>
            <a:off x="4098925" y="4481513"/>
            <a:ext cx="1997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1010011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3982" name="Text Box 14"/>
          <p:cNvSpPr txBox="1">
            <a:spLocks noChangeArrowheads="1"/>
          </p:cNvSpPr>
          <p:nvPr/>
        </p:nvSpPr>
        <p:spPr bwMode="auto">
          <a:xfrm>
            <a:off x="6242050" y="4481513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逻辑右移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23983" name="Text Box 15"/>
          <p:cNvSpPr txBox="1">
            <a:spLocks noChangeArrowheads="1"/>
          </p:cNvSpPr>
          <p:nvPr/>
        </p:nvSpPr>
        <p:spPr bwMode="auto">
          <a:xfrm>
            <a:off x="7918450" y="4481513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>
                <a:latin typeface="Times New Roman" panose="02020603050405020304" pitchFamily="18" charset="0"/>
              </a:rPr>
              <a:t>1011001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3984" name="Text Box 16"/>
          <p:cNvSpPr txBox="1">
            <a:spLocks noChangeArrowheads="1"/>
          </p:cNvSpPr>
          <p:nvPr/>
        </p:nvSpPr>
        <p:spPr bwMode="auto">
          <a:xfrm>
            <a:off x="2270125" y="5013325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算术左移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23985" name="Text Box 17"/>
          <p:cNvSpPr txBox="1">
            <a:spLocks noChangeArrowheads="1"/>
          </p:cNvSpPr>
          <p:nvPr/>
        </p:nvSpPr>
        <p:spPr bwMode="auto">
          <a:xfrm>
            <a:off x="6257925" y="5013325"/>
            <a:ext cx="1819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算术右移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23986" name="Text Box 18"/>
          <p:cNvSpPr txBox="1">
            <a:spLocks noChangeArrowheads="1"/>
          </p:cNvSpPr>
          <p:nvPr/>
        </p:nvSpPr>
        <p:spPr bwMode="auto">
          <a:xfrm>
            <a:off x="4098925" y="5013325"/>
            <a:ext cx="199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0010011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3987" name="Text Box 19"/>
          <p:cNvSpPr txBox="1">
            <a:spLocks noChangeArrowheads="1"/>
          </p:cNvSpPr>
          <p:nvPr/>
        </p:nvSpPr>
        <p:spPr bwMode="auto">
          <a:xfrm>
            <a:off x="7918450" y="5013325"/>
            <a:ext cx="343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11</a:t>
            </a:r>
            <a:r>
              <a:rPr lang="zh-CN" altLang="en-US">
                <a:latin typeface="Times New Roman" panose="02020603050405020304" pitchFamily="18" charset="0"/>
              </a:rPr>
              <a:t>011001</a:t>
            </a:r>
            <a:r>
              <a:rPr lang="zh-CN" altLang="en-US" sz="2000">
                <a:latin typeface="Times New Roman" panose="02020603050405020304" pitchFamily="18" charset="0"/>
              </a:rPr>
              <a:t>（补码）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23988" name="Text Box 20"/>
          <p:cNvSpPr txBox="1">
            <a:spLocks noChangeArrowheads="1"/>
          </p:cNvSpPr>
          <p:nvPr/>
        </p:nvSpPr>
        <p:spPr bwMode="auto">
          <a:xfrm>
            <a:off x="3187700" y="5472113"/>
            <a:ext cx="1460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高位 1 移丢</a:t>
            </a: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23989" name="Group 21"/>
          <p:cNvGrpSpPr/>
          <p:nvPr/>
        </p:nvGrpSpPr>
        <p:grpSpPr bwMode="auto">
          <a:xfrm>
            <a:off x="6248400" y="5943600"/>
            <a:ext cx="3048000" cy="533400"/>
            <a:chOff x="3072" y="3792"/>
            <a:chExt cx="1920" cy="336"/>
          </a:xfrm>
        </p:grpSpPr>
        <p:sp>
          <p:nvSpPr>
            <p:cNvPr id="47143" name="Rectangle 22"/>
            <p:cNvSpPr>
              <a:spLocks noChangeArrowheads="1"/>
            </p:cNvSpPr>
            <p:nvPr/>
          </p:nvSpPr>
          <p:spPr bwMode="auto">
            <a:xfrm>
              <a:off x="3072" y="3792"/>
              <a:ext cx="240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7144" name="Rectangle 23"/>
            <p:cNvSpPr>
              <a:spLocks noChangeArrowheads="1"/>
            </p:cNvSpPr>
            <p:nvPr/>
          </p:nvSpPr>
          <p:spPr bwMode="auto">
            <a:xfrm>
              <a:off x="3552" y="3792"/>
              <a:ext cx="1440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1 0 1 0 0 1 1 0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23992" name="Group 24"/>
          <p:cNvGrpSpPr/>
          <p:nvPr/>
        </p:nvGrpSpPr>
        <p:grpSpPr bwMode="auto">
          <a:xfrm>
            <a:off x="2590800" y="5943600"/>
            <a:ext cx="3048000" cy="533400"/>
            <a:chOff x="672" y="3792"/>
            <a:chExt cx="1920" cy="336"/>
          </a:xfrm>
        </p:grpSpPr>
        <p:sp>
          <p:nvSpPr>
            <p:cNvPr id="47140" name="Rectangle 25"/>
            <p:cNvSpPr>
              <a:spLocks noChangeArrowheads="1"/>
            </p:cNvSpPr>
            <p:nvPr/>
          </p:nvSpPr>
          <p:spPr bwMode="auto">
            <a:xfrm>
              <a:off x="672" y="3792"/>
              <a:ext cx="240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y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7141" name="Rectangle 26"/>
            <p:cNvSpPr>
              <a:spLocks noChangeArrowheads="1"/>
            </p:cNvSpPr>
            <p:nvPr/>
          </p:nvSpPr>
          <p:spPr bwMode="auto">
            <a:xfrm>
              <a:off x="1152" y="3792"/>
              <a:ext cx="1440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0 1 0 1 0 0 1 1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42" name="Line 27"/>
            <p:cNvSpPr>
              <a:spLocks noChangeShapeType="1"/>
            </p:cNvSpPr>
            <p:nvPr/>
          </p:nvSpPr>
          <p:spPr bwMode="auto">
            <a:xfrm flipH="1">
              <a:off x="912" y="393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23996" name="Group 28"/>
          <p:cNvGrpSpPr/>
          <p:nvPr/>
        </p:nvGrpSpPr>
        <p:grpSpPr bwMode="auto">
          <a:xfrm>
            <a:off x="8305800" y="2509838"/>
            <a:ext cx="1581150" cy="723900"/>
            <a:chOff x="4272" y="1581"/>
            <a:chExt cx="996" cy="456"/>
          </a:xfrm>
        </p:grpSpPr>
        <p:sp>
          <p:nvSpPr>
            <p:cNvPr id="47135" name="Rectangle 29"/>
            <p:cNvSpPr>
              <a:spLocks noChangeArrowheads="1"/>
            </p:cNvSpPr>
            <p:nvPr/>
          </p:nvSpPr>
          <p:spPr bwMode="auto">
            <a:xfrm>
              <a:off x="4368" y="1581"/>
              <a:ext cx="576" cy="21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47136" name="Freeform 30"/>
            <p:cNvSpPr/>
            <p:nvPr/>
          </p:nvSpPr>
          <p:spPr bwMode="auto">
            <a:xfrm>
              <a:off x="4272" y="1704"/>
              <a:ext cx="96" cy="240"/>
            </a:xfrm>
            <a:custGeom>
              <a:avLst/>
              <a:gdLst>
                <a:gd name="T0" fmla="*/ 96 w 96"/>
                <a:gd name="T1" fmla="*/ 0 h 240"/>
                <a:gd name="T2" fmla="*/ 0 w 96"/>
                <a:gd name="T3" fmla="*/ 0 h 240"/>
                <a:gd name="T4" fmla="*/ 0 w 96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240">
                  <a:moveTo>
                    <a:pt x="96" y="0"/>
                  </a:moveTo>
                  <a:lnTo>
                    <a:pt x="0" y="0"/>
                  </a:lnTo>
                  <a:lnTo>
                    <a:pt x="0" y="24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37" name="Freeform 31"/>
            <p:cNvSpPr/>
            <p:nvPr/>
          </p:nvSpPr>
          <p:spPr bwMode="auto">
            <a:xfrm>
              <a:off x="4944" y="1704"/>
              <a:ext cx="96" cy="240"/>
            </a:xfrm>
            <a:custGeom>
              <a:avLst/>
              <a:gdLst>
                <a:gd name="T0" fmla="*/ 0 w 96"/>
                <a:gd name="T1" fmla="*/ 0 h 240"/>
                <a:gd name="T2" fmla="*/ 96 w 96"/>
                <a:gd name="T3" fmla="*/ 0 h 240"/>
                <a:gd name="T4" fmla="*/ 96 w 96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240">
                  <a:moveTo>
                    <a:pt x="0" y="0"/>
                  </a:moveTo>
                  <a:lnTo>
                    <a:pt x="96" y="0"/>
                  </a:lnTo>
                  <a:lnTo>
                    <a:pt x="96" y="24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38" name="Text Box 32"/>
            <p:cNvSpPr txBox="1">
              <a:spLocks noChangeArrowheads="1"/>
            </p:cNvSpPr>
            <p:nvPr/>
          </p:nvSpPr>
          <p:spPr bwMode="auto">
            <a:xfrm>
              <a:off x="5040" y="171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7139" name="Line 33"/>
            <p:cNvSpPr>
              <a:spLocks noChangeShapeType="1"/>
            </p:cNvSpPr>
            <p:nvPr/>
          </p:nvSpPr>
          <p:spPr bwMode="auto">
            <a:xfrm flipH="1">
              <a:off x="4512" y="167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24002" name="Group 34"/>
          <p:cNvGrpSpPr/>
          <p:nvPr/>
        </p:nvGrpSpPr>
        <p:grpSpPr bwMode="auto">
          <a:xfrm>
            <a:off x="7918450" y="3271838"/>
            <a:ext cx="1606550" cy="690562"/>
            <a:chOff x="4028" y="2061"/>
            <a:chExt cx="1012" cy="435"/>
          </a:xfrm>
        </p:grpSpPr>
        <p:sp>
          <p:nvSpPr>
            <p:cNvPr id="47130" name="Rectangle 35"/>
            <p:cNvSpPr>
              <a:spLocks noChangeArrowheads="1"/>
            </p:cNvSpPr>
            <p:nvPr/>
          </p:nvSpPr>
          <p:spPr bwMode="auto">
            <a:xfrm>
              <a:off x="4368" y="2061"/>
              <a:ext cx="576" cy="21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47131" name="Freeform 36"/>
            <p:cNvSpPr/>
            <p:nvPr/>
          </p:nvSpPr>
          <p:spPr bwMode="auto">
            <a:xfrm>
              <a:off x="4272" y="2184"/>
              <a:ext cx="96" cy="240"/>
            </a:xfrm>
            <a:custGeom>
              <a:avLst/>
              <a:gdLst>
                <a:gd name="T0" fmla="*/ 96 w 96"/>
                <a:gd name="T1" fmla="*/ 0 h 240"/>
                <a:gd name="T2" fmla="*/ 0 w 96"/>
                <a:gd name="T3" fmla="*/ 0 h 240"/>
                <a:gd name="T4" fmla="*/ 0 w 96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240">
                  <a:moveTo>
                    <a:pt x="96" y="0"/>
                  </a:moveTo>
                  <a:lnTo>
                    <a:pt x="0" y="0"/>
                  </a:lnTo>
                  <a:lnTo>
                    <a:pt x="0" y="24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32" name="Freeform 37"/>
            <p:cNvSpPr/>
            <p:nvPr/>
          </p:nvSpPr>
          <p:spPr bwMode="auto">
            <a:xfrm>
              <a:off x="4944" y="2184"/>
              <a:ext cx="96" cy="240"/>
            </a:xfrm>
            <a:custGeom>
              <a:avLst/>
              <a:gdLst>
                <a:gd name="T0" fmla="*/ 0 w 96"/>
                <a:gd name="T1" fmla="*/ 0 h 240"/>
                <a:gd name="T2" fmla="*/ 96 w 96"/>
                <a:gd name="T3" fmla="*/ 0 h 240"/>
                <a:gd name="T4" fmla="*/ 96 w 96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240">
                  <a:moveTo>
                    <a:pt x="0" y="0"/>
                  </a:moveTo>
                  <a:lnTo>
                    <a:pt x="96" y="0"/>
                  </a:lnTo>
                  <a:lnTo>
                    <a:pt x="96" y="24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133" name="Text Box 38"/>
            <p:cNvSpPr txBox="1">
              <a:spLocks noChangeArrowheads="1"/>
            </p:cNvSpPr>
            <p:nvPr/>
          </p:nvSpPr>
          <p:spPr bwMode="auto">
            <a:xfrm>
              <a:off x="4028" y="2169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7134" name="Line 39"/>
            <p:cNvSpPr>
              <a:spLocks noChangeShapeType="1"/>
            </p:cNvSpPr>
            <p:nvPr/>
          </p:nvSpPr>
          <p:spPr bwMode="auto">
            <a:xfrm rot="10800000" flipH="1">
              <a:off x="4512" y="2169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24008" name="Text Box 40"/>
          <p:cNvSpPr txBox="1">
            <a:spLocks noChangeArrowheads="1"/>
          </p:cNvSpPr>
          <p:nvPr/>
        </p:nvSpPr>
        <p:spPr bwMode="auto">
          <a:xfrm>
            <a:off x="7912100" y="3886200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10110010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723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2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2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72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2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2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2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2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2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2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7" dur="500"/>
                                        <p:tgtEl>
                                          <p:spTgt spid="72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2" dur="500"/>
                                        <p:tgtEl>
                                          <p:spTgt spid="72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24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2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2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72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72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971" grpId="0" autoUpdateAnimBg="0"/>
      <p:bldP spid="723972" grpId="0" autoUpdateAnimBg="0"/>
      <p:bldP spid="723973" grpId="0" autoUpdateAnimBg="0"/>
      <p:bldP spid="723974" grpId="0" autoUpdateAnimBg="0"/>
      <p:bldP spid="723975" grpId="0" autoUpdateAnimBg="0"/>
      <p:bldP spid="723976" grpId="0" autoUpdateAnimBg="0"/>
      <p:bldP spid="723977" grpId="0" autoUpdateAnimBg="0"/>
      <p:bldP spid="723978" grpId="0" autoUpdateAnimBg="0"/>
      <p:bldP spid="723979" grpId="0" autoUpdateAnimBg="0"/>
      <p:bldP spid="723980" grpId="0" autoUpdateAnimBg="0"/>
      <p:bldP spid="723981" grpId="0" autoUpdateAnimBg="0"/>
      <p:bldP spid="723982" grpId="0" autoUpdateAnimBg="0"/>
      <p:bldP spid="723983" grpId="0" autoUpdateAnimBg="0"/>
      <p:bldP spid="723984" grpId="0" autoUpdateAnimBg="0"/>
      <p:bldP spid="723985" grpId="0" autoUpdateAnimBg="0"/>
      <p:bldP spid="723986" grpId="0" autoUpdateAnimBg="0"/>
      <p:bldP spid="723987" grpId="0" autoUpdateAnimBg="0"/>
      <p:bldP spid="723988" grpId="0" autoUpdateAnimBg="0"/>
      <p:bldP spid="724008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714375" y="203200"/>
            <a:ext cx="33956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二、加减法运算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24995" name="Text Box 3"/>
          <p:cNvSpPr txBox="1">
            <a:spLocks noChangeArrowheads="1"/>
          </p:cNvSpPr>
          <p:nvPr/>
        </p:nvSpPr>
        <p:spPr bwMode="auto">
          <a:xfrm>
            <a:off x="1965325" y="990600"/>
            <a:ext cx="3397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1. 补码加减运算公式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4996" name="Text Box 4"/>
          <p:cNvSpPr txBox="1">
            <a:spLocks noChangeArrowheads="1"/>
          </p:cNvSpPr>
          <p:nvPr/>
        </p:nvSpPr>
        <p:spPr bwMode="auto">
          <a:xfrm>
            <a:off x="2651125" y="1611313"/>
            <a:ext cx="2149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(1) 加法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4997" name="Text Box 5"/>
          <p:cNvSpPr txBox="1">
            <a:spLocks noChangeArrowheads="1"/>
          </p:cNvSpPr>
          <p:nvPr/>
        </p:nvSpPr>
        <p:spPr bwMode="auto">
          <a:xfrm>
            <a:off x="2651125" y="3563938"/>
            <a:ext cx="2225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(2) 减法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4998" name="Text Box 6"/>
          <p:cNvSpPr txBox="1">
            <a:spLocks noChangeArrowheads="1"/>
          </p:cNvSpPr>
          <p:nvPr/>
        </p:nvSpPr>
        <p:spPr bwMode="auto">
          <a:xfrm>
            <a:off x="2286000" y="2254250"/>
            <a:ext cx="987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整数 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4999" name="Text Box 7"/>
          <p:cNvSpPr txBox="1">
            <a:spLocks noChangeArrowheads="1"/>
          </p:cNvSpPr>
          <p:nvPr/>
        </p:nvSpPr>
        <p:spPr bwMode="auto">
          <a:xfrm>
            <a:off x="3187700" y="2276475"/>
            <a:ext cx="199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+ [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5000" name="Text Box 8"/>
          <p:cNvSpPr txBox="1">
            <a:spLocks noChangeArrowheads="1"/>
          </p:cNvSpPr>
          <p:nvPr/>
        </p:nvSpPr>
        <p:spPr bwMode="auto">
          <a:xfrm>
            <a:off x="5073650" y="2276475"/>
            <a:ext cx="3676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mod 2</a:t>
            </a:r>
            <a:r>
              <a:rPr lang="en-US" altLang="zh-CN" i="1" baseline="45000">
                <a:latin typeface="Times New Roman" panose="02020603050405020304" pitchFamily="18" charset="0"/>
              </a:rPr>
              <a:t>n</a:t>
            </a:r>
            <a:r>
              <a:rPr lang="en-US" altLang="zh-CN" baseline="45000">
                <a:latin typeface="Times New Roman" panose="02020603050405020304" pitchFamily="18" charset="0"/>
              </a:rPr>
              <a:t>+1</a:t>
            </a:r>
            <a:r>
              <a:rPr lang="en-US" altLang="zh-CN">
                <a:latin typeface="Times New Roman" panose="02020603050405020304" pitchFamily="18" charset="0"/>
              </a:rPr>
              <a:t>）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25001" name="Text Box 9"/>
          <p:cNvSpPr txBox="1">
            <a:spLocks noChangeArrowheads="1"/>
          </p:cNvSpPr>
          <p:nvPr/>
        </p:nvSpPr>
        <p:spPr bwMode="auto">
          <a:xfrm>
            <a:off x="2286000" y="2874963"/>
            <a:ext cx="987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小数 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5002" name="Text Box 10"/>
          <p:cNvSpPr txBox="1">
            <a:spLocks noChangeArrowheads="1"/>
          </p:cNvSpPr>
          <p:nvPr/>
        </p:nvSpPr>
        <p:spPr bwMode="auto">
          <a:xfrm>
            <a:off x="3187700" y="2909888"/>
            <a:ext cx="1997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+ [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5003" name="Text Box 11"/>
          <p:cNvSpPr txBox="1">
            <a:spLocks noChangeArrowheads="1"/>
          </p:cNvSpPr>
          <p:nvPr/>
        </p:nvSpPr>
        <p:spPr bwMode="auto">
          <a:xfrm>
            <a:off x="5073650" y="2909888"/>
            <a:ext cx="3282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（</a:t>
            </a:r>
            <a:r>
              <a:rPr lang="en-US" altLang="zh-CN">
                <a:latin typeface="Times New Roman" panose="02020603050405020304" pitchFamily="18" charset="0"/>
              </a:rPr>
              <a:t>mod 2）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725004" name="Group 12"/>
          <p:cNvGrpSpPr/>
          <p:nvPr/>
        </p:nvGrpSpPr>
        <p:grpSpPr bwMode="auto">
          <a:xfrm>
            <a:off x="3716338" y="4052888"/>
            <a:ext cx="2511425" cy="519112"/>
            <a:chOff x="1381" y="2553"/>
            <a:chExt cx="1582" cy="327"/>
          </a:xfrm>
        </p:grpSpPr>
        <p:sp>
          <p:nvSpPr>
            <p:cNvPr id="48152" name="Text Box 13"/>
            <p:cNvSpPr txBox="1">
              <a:spLocks noChangeArrowheads="1"/>
            </p:cNvSpPr>
            <p:nvPr/>
          </p:nvSpPr>
          <p:spPr bwMode="auto">
            <a:xfrm>
              <a:off x="1381" y="2553"/>
              <a:ext cx="5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8153" name="Text Box 14"/>
            <p:cNvSpPr txBox="1">
              <a:spLocks noChangeArrowheads="1"/>
            </p:cNvSpPr>
            <p:nvPr/>
          </p:nvSpPr>
          <p:spPr bwMode="auto">
            <a:xfrm>
              <a:off x="1919" y="2553"/>
              <a:ext cx="10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 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</a:rPr>
                <a:t>+(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>
                  <a:latin typeface="Times New Roman" panose="02020603050405020304" pitchFamily="18" charset="0"/>
                </a:rPr>
                <a:t> )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725007" name="Text Box 15"/>
          <p:cNvSpPr txBox="1">
            <a:spLocks noChangeArrowheads="1"/>
          </p:cNvSpPr>
          <p:nvPr/>
        </p:nvSpPr>
        <p:spPr bwMode="auto">
          <a:xfrm>
            <a:off x="2286000" y="4737100"/>
            <a:ext cx="987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整数 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5008" name="Text Box 16"/>
          <p:cNvSpPr txBox="1">
            <a:spLocks noChangeArrowheads="1"/>
          </p:cNvSpPr>
          <p:nvPr/>
        </p:nvSpPr>
        <p:spPr bwMode="auto">
          <a:xfrm>
            <a:off x="3187700" y="4714875"/>
            <a:ext cx="1492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5009" name="Text Box 17"/>
          <p:cNvSpPr txBox="1">
            <a:spLocks noChangeArrowheads="1"/>
          </p:cNvSpPr>
          <p:nvPr/>
        </p:nvSpPr>
        <p:spPr bwMode="auto">
          <a:xfrm>
            <a:off x="4546600" y="4714875"/>
            <a:ext cx="2136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+(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)]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5010" name="Text Box 18"/>
          <p:cNvSpPr txBox="1">
            <a:spLocks noChangeArrowheads="1"/>
          </p:cNvSpPr>
          <p:nvPr/>
        </p:nvSpPr>
        <p:spPr bwMode="auto">
          <a:xfrm>
            <a:off x="6497638" y="4714875"/>
            <a:ext cx="35607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+ [</a:t>
            </a:r>
            <a:r>
              <a:rPr lang="zh-CN" altLang="en-US" sz="1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1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5011" name="Text Box 19"/>
          <p:cNvSpPr txBox="1">
            <a:spLocks noChangeArrowheads="1"/>
          </p:cNvSpPr>
          <p:nvPr/>
        </p:nvSpPr>
        <p:spPr bwMode="auto">
          <a:xfrm>
            <a:off x="8980488" y="4776788"/>
            <a:ext cx="1522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</a:t>
            </a:r>
            <a:r>
              <a:rPr lang="en-US" altLang="zh-CN" sz="2400">
                <a:latin typeface="Times New Roman" panose="02020603050405020304" pitchFamily="18" charset="0"/>
              </a:rPr>
              <a:t>mod 2</a:t>
            </a:r>
            <a:r>
              <a:rPr lang="en-US" altLang="zh-CN" sz="2400" i="1" baseline="45000">
                <a:latin typeface="Times New Roman" panose="02020603050405020304" pitchFamily="18" charset="0"/>
              </a:rPr>
              <a:t>n</a:t>
            </a:r>
            <a:r>
              <a:rPr lang="en-US" altLang="zh-CN" sz="2400" baseline="45000">
                <a:latin typeface="Times New Roman" panose="02020603050405020304" pitchFamily="18" charset="0"/>
              </a:rPr>
              <a:t>+1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25012" name="Text Box 20"/>
          <p:cNvSpPr txBox="1">
            <a:spLocks noChangeArrowheads="1"/>
          </p:cNvSpPr>
          <p:nvPr/>
        </p:nvSpPr>
        <p:spPr bwMode="auto">
          <a:xfrm>
            <a:off x="2286000" y="5357813"/>
            <a:ext cx="987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小数 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5013" name="Text Box 21"/>
          <p:cNvSpPr txBox="1">
            <a:spLocks noChangeArrowheads="1"/>
          </p:cNvSpPr>
          <p:nvPr/>
        </p:nvSpPr>
        <p:spPr bwMode="auto">
          <a:xfrm>
            <a:off x="3187700" y="5335588"/>
            <a:ext cx="1492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5014" name="Text Box 22"/>
          <p:cNvSpPr txBox="1">
            <a:spLocks noChangeArrowheads="1"/>
          </p:cNvSpPr>
          <p:nvPr/>
        </p:nvSpPr>
        <p:spPr bwMode="auto">
          <a:xfrm>
            <a:off x="4546600" y="5335588"/>
            <a:ext cx="2136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+(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)]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5015" name="Text Box 23"/>
          <p:cNvSpPr txBox="1">
            <a:spLocks noChangeArrowheads="1"/>
          </p:cNvSpPr>
          <p:nvPr/>
        </p:nvSpPr>
        <p:spPr bwMode="auto">
          <a:xfrm>
            <a:off x="8980488" y="5397500"/>
            <a:ext cx="1192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</a:t>
            </a:r>
            <a:r>
              <a:rPr lang="en-US" altLang="zh-CN" sz="2400">
                <a:latin typeface="Times New Roman" panose="02020603050405020304" pitchFamily="18" charset="0"/>
              </a:rPr>
              <a:t>mod 2)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25016" name="Text Box 24"/>
          <p:cNvSpPr txBox="1">
            <a:spLocks noChangeArrowheads="1"/>
          </p:cNvSpPr>
          <p:nvPr/>
        </p:nvSpPr>
        <p:spPr bwMode="auto">
          <a:xfrm>
            <a:off x="2286000" y="5957888"/>
            <a:ext cx="8007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连同符号位一起相加，符号位产生的进位自然丢掉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5017" name="Text Box 25"/>
          <p:cNvSpPr txBox="1">
            <a:spLocks noChangeArrowheads="1"/>
          </p:cNvSpPr>
          <p:nvPr/>
        </p:nvSpPr>
        <p:spPr bwMode="auto">
          <a:xfrm>
            <a:off x="6497638" y="5348288"/>
            <a:ext cx="34845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+ [</a:t>
            </a:r>
            <a:r>
              <a:rPr lang="zh-CN" altLang="en-US" sz="1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10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2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2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2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2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2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2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2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2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2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2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2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2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2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2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4995" grpId="0" autoUpdateAnimBg="0"/>
      <p:bldP spid="724996" grpId="0" autoUpdateAnimBg="0"/>
      <p:bldP spid="724997" grpId="0" autoUpdateAnimBg="0"/>
      <p:bldP spid="724998" grpId="0" autoUpdateAnimBg="0"/>
      <p:bldP spid="724999" grpId="0" autoUpdateAnimBg="0"/>
      <p:bldP spid="725000" grpId="0" autoUpdateAnimBg="0"/>
      <p:bldP spid="725001" grpId="0" autoUpdateAnimBg="0"/>
      <p:bldP spid="725002" grpId="0" autoUpdateAnimBg="0"/>
      <p:bldP spid="725003" grpId="0" autoUpdateAnimBg="0"/>
      <p:bldP spid="725007" grpId="0" autoUpdateAnimBg="0"/>
      <p:bldP spid="725008" grpId="0" autoUpdateAnimBg="0"/>
      <p:bldP spid="725009" grpId="0" autoUpdateAnimBg="0"/>
      <p:bldP spid="725010" grpId="0" autoUpdateAnimBg="0"/>
      <p:bldP spid="725011" grpId="0" autoUpdateAnimBg="0"/>
      <p:bldP spid="725012" grpId="0" autoUpdateAnimBg="0"/>
      <p:bldP spid="725013" grpId="0" autoUpdateAnimBg="0"/>
      <p:bldP spid="725014" grpId="0" autoUpdateAnimBg="0"/>
      <p:bldP spid="725015" grpId="0" autoUpdateAnimBg="0"/>
      <p:bldP spid="725016" grpId="0" autoUpdateAnimBg="0"/>
      <p:bldP spid="72501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143000" y="120650"/>
            <a:ext cx="15589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2. 举例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26019" name="Text Box 3"/>
          <p:cNvSpPr txBox="1">
            <a:spLocks noChangeArrowheads="1"/>
          </p:cNvSpPr>
          <p:nvPr/>
        </p:nvSpPr>
        <p:spPr bwMode="auto">
          <a:xfrm>
            <a:off x="2987675" y="1774825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6020" name="Text Box 4"/>
          <p:cNvSpPr txBox="1">
            <a:spLocks noChangeArrowheads="1"/>
          </p:cNvSpPr>
          <p:nvPr/>
        </p:nvSpPr>
        <p:spPr bwMode="auto">
          <a:xfrm>
            <a:off x="4046538" y="1774825"/>
            <a:ext cx="9001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6021" name="Text Box 5"/>
          <p:cNvSpPr txBox="1">
            <a:spLocks noChangeArrowheads="1"/>
          </p:cNvSpPr>
          <p:nvPr/>
        </p:nvSpPr>
        <p:spPr bwMode="auto">
          <a:xfrm>
            <a:off x="4067175" y="2279650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6022" name="Text Box 6"/>
          <p:cNvSpPr txBox="1">
            <a:spLocks noChangeArrowheads="1"/>
          </p:cNvSpPr>
          <p:nvPr/>
        </p:nvSpPr>
        <p:spPr bwMode="auto">
          <a:xfrm>
            <a:off x="2932113" y="2743200"/>
            <a:ext cx="199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+ [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6023" name="Line 7"/>
          <p:cNvSpPr>
            <a:spLocks noChangeShapeType="1"/>
          </p:cNvSpPr>
          <p:nvPr/>
        </p:nvSpPr>
        <p:spPr bwMode="auto">
          <a:xfrm>
            <a:off x="2971800" y="2782888"/>
            <a:ext cx="4649788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26024" name="Text Box 8"/>
          <p:cNvSpPr txBox="1">
            <a:spLocks noChangeArrowheads="1"/>
          </p:cNvSpPr>
          <p:nvPr/>
        </p:nvSpPr>
        <p:spPr bwMode="auto">
          <a:xfrm>
            <a:off x="3803650" y="2286000"/>
            <a:ext cx="38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+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6025" name="Text Box 9"/>
          <p:cNvSpPr txBox="1">
            <a:spLocks noChangeArrowheads="1"/>
          </p:cNvSpPr>
          <p:nvPr/>
        </p:nvSpPr>
        <p:spPr bwMode="auto">
          <a:xfrm>
            <a:off x="5029200" y="1774825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   0 . 1 0 1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6026" name="Text Box 10"/>
          <p:cNvSpPr txBox="1">
            <a:spLocks noChangeArrowheads="1"/>
          </p:cNvSpPr>
          <p:nvPr/>
        </p:nvSpPr>
        <p:spPr bwMode="auto">
          <a:xfrm>
            <a:off x="5029200" y="2279650"/>
            <a:ext cx="266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   1 . 1 0 1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6027" name="Text Box 11"/>
          <p:cNvSpPr txBox="1">
            <a:spLocks noChangeArrowheads="1"/>
          </p:cNvSpPr>
          <p:nvPr/>
        </p:nvSpPr>
        <p:spPr bwMode="auto">
          <a:xfrm>
            <a:off x="5029200" y="2743200"/>
            <a:ext cx="259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1 0 . 0 1 1 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6028" name="Text Box 12"/>
          <p:cNvSpPr txBox="1">
            <a:spLocks noChangeArrowheads="1"/>
          </p:cNvSpPr>
          <p:nvPr/>
        </p:nvSpPr>
        <p:spPr bwMode="auto">
          <a:xfrm>
            <a:off x="7083425" y="2743200"/>
            <a:ext cx="180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6029" name="Text Box 13"/>
          <p:cNvSpPr txBox="1">
            <a:spLocks noChangeArrowheads="1"/>
          </p:cNvSpPr>
          <p:nvPr/>
        </p:nvSpPr>
        <p:spPr bwMode="auto">
          <a:xfrm>
            <a:off x="8153400" y="1371600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验证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26030" name="Group 14"/>
          <p:cNvGrpSpPr/>
          <p:nvPr/>
        </p:nvGrpSpPr>
        <p:grpSpPr bwMode="auto">
          <a:xfrm>
            <a:off x="2193925" y="762000"/>
            <a:ext cx="5908675" cy="1025525"/>
            <a:chOff x="422" y="480"/>
            <a:chExt cx="3722" cy="646"/>
          </a:xfrm>
        </p:grpSpPr>
        <p:grpSp>
          <p:nvGrpSpPr>
            <p:cNvPr id="49196" name="Group 15"/>
            <p:cNvGrpSpPr/>
            <p:nvPr/>
          </p:nvGrpSpPr>
          <p:grpSpPr bwMode="auto">
            <a:xfrm>
              <a:off x="422" y="480"/>
              <a:ext cx="3722" cy="327"/>
              <a:chOff x="422" y="576"/>
              <a:chExt cx="3722" cy="327"/>
            </a:xfrm>
          </p:grpSpPr>
          <p:sp>
            <p:nvSpPr>
              <p:cNvPr id="49198" name="Text Box 16"/>
              <p:cNvSpPr txBox="1">
                <a:spLocks noChangeArrowheads="1"/>
              </p:cNvSpPr>
              <p:nvPr/>
            </p:nvSpPr>
            <p:spPr bwMode="auto">
              <a:xfrm>
                <a:off x="422" y="576"/>
                <a:ext cx="78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例 6.18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199" name="Text Box 17"/>
              <p:cNvSpPr txBox="1">
                <a:spLocks noChangeArrowheads="1"/>
              </p:cNvSpPr>
              <p:nvPr/>
            </p:nvSpPr>
            <p:spPr bwMode="auto">
              <a:xfrm>
                <a:off x="1382" y="576"/>
                <a:ext cx="276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设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A</a:t>
                </a:r>
                <a:r>
                  <a:rPr lang="en-US" altLang="zh-CN">
                    <a:latin typeface="Times New Roman" panose="02020603050405020304" pitchFamily="18" charset="0"/>
                  </a:rPr>
                  <a:t> = 0.1011，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B</a:t>
                </a:r>
                <a:r>
                  <a:rPr lang="en-US" altLang="zh-CN">
                    <a:latin typeface="Times New Roman" panose="02020603050405020304" pitchFamily="18" charset="0"/>
                  </a:rPr>
                  <a:t> =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en-US" altLang="zh-CN" sz="1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0.0101</a:t>
                </a:r>
                <a:endParaRPr lang="zh-CN" altLang="en-US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9197" name="Text Box 18"/>
            <p:cNvSpPr txBox="1">
              <a:spLocks noChangeArrowheads="1"/>
            </p:cNvSpPr>
            <p:nvPr/>
          </p:nvSpPr>
          <p:spPr bwMode="auto">
            <a:xfrm>
              <a:off x="1392" y="799"/>
              <a:ext cx="12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求 [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</a:rPr>
                <a:t> + </a:t>
              </a:r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baseline="-25000">
                  <a:latin typeface="Times New Roman" panose="02020603050405020304" pitchFamily="18" charset="0"/>
                </a:rPr>
                <a:t>补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26035" name="Text Box 19"/>
          <p:cNvSpPr txBox="1">
            <a:spLocks noChangeArrowheads="1"/>
          </p:cNvSpPr>
          <p:nvPr/>
        </p:nvSpPr>
        <p:spPr bwMode="auto">
          <a:xfrm>
            <a:off x="9204325" y="2057400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0.1011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26036" name="Text Box 20"/>
          <p:cNvSpPr txBox="1">
            <a:spLocks noChangeArrowheads="1"/>
          </p:cNvSpPr>
          <p:nvPr/>
        </p:nvSpPr>
        <p:spPr bwMode="auto">
          <a:xfrm>
            <a:off x="8975725" y="2362200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 0.0101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6037" name="Line 21"/>
          <p:cNvSpPr>
            <a:spLocks noChangeShapeType="1"/>
          </p:cNvSpPr>
          <p:nvPr/>
        </p:nvSpPr>
        <p:spPr bwMode="auto">
          <a:xfrm>
            <a:off x="8763000" y="2743200"/>
            <a:ext cx="1676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26038" name="Text Box 22"/>
          <p:cNvSpPr txBox="1">
            <a:spLocks noChangeArrowheads="1"/>
          </p:cNvSpPr>
          <p:nvPr/>
        </p:nvSpPr>
        <p:spPr bwMode="auto">
          <a:xfrm>
            <a:off x="9204325" y="2667000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0.0110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26039" name="AutoShape 23"/>
          <p:cNvSpPr>
            <a:spLocks noChangeArrowheads="1"/>
          </p:cNvSpPr>
          <p:nvPr/>
        </p:nvSpPr>
        <p:spPr bwMode="auto">
          <a:xfrm>
            <a:off x="5367338" y="2819400"/>
            <a:ext cx="304800" cy="457200"/>
          </a:xfrm>
          <a:prstGeom prst="wedgeRoundRectCallout">
            <a:avLst>
              <a:gd name="adj1" fmla="val -162500"/>
              <a:gd name="adj2" fmla="val 79167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6040" name="Text Box 24"/>
          <p:cNvSpPr txBox="1">
            <a:spLocks noChangeArrowheads="1"/>
          </p:cNvSpPr>
          <p:nvPr/>
        </p:nvSpPr>
        <p:spPr bwMode="auto">
          <a:xfrm>
            <a:off x="3603625" y="3290888"/>
            <a:ext cx="4540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∴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sz="18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    0 . 0 1 1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26041" name="Text Box 25"/>
          <p:cNvSpPr txBox="1">
            <a:spLocks noChangeArrowheads="1"/>
          </p:cNvSpPr>
          <p:nvPr/>
        </p:nvSpPr>
        <p:spPr bwMode="auto">
          <a:xfrm>
            <a:off x="4046538" y="4808538"/>
            <a:ext cx="900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6042" name="Text Box 26"/>
          <p:cNvSpPr txBox="1">
            <a:spLocks noChangeArrowheads="1"/>
          </p:cNvSpPr>
          <p:nvPr/>
        </p:nvSpPr>
        <p:spPr bwMode="auto">
          <a:xfrm>
            <a:off x="4046538" y="5313363"/>
            <a:ext cx="901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6043" name="Text Box 27"/>
          <p:cNvSpPr txBox="1">
            <a:spLocks noChangeArrowheads="1"/>
          </p:cNvSpPr>
          <p:nvPr/>
        </p:nvSpPr>
        <p:spPr bwMode="auto">
          <a:xfrm>
            <a:off x="2932113" y="5819775"/>
            <a:ext cx="199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+ [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6044" name="Line 28"/>
          <p:cNvSpPr>
            <a:spLocks noChangeShapeType="1"/>
          </p:cNvSpPr>
          <p:nvPr/>
        </p:nvSpPr>
        <p:spPr bwMode="auto">
          <a:xfrm>
            <a:off x="2971800" y="5867400"/>
            <a:ext cx="4648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26045" name="Text Box 29"/>
          <p:cNvSpPr txBox="1">
            <a:spLocks noChangeArrowheads="1"/>
          </p:cNvSpPr>
          <p:nvPr/>
        </p:nvSpPr>
        <p:spPr bwMode="auto">
          <a:xfrm>
            <a:off x="3803650" y="5334000"/>
            <a:ext cx="38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+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6046" name="Text Box 30"/>
          <p:cNvSpPr txBox="1">
            <a:spLocks noChangeArrowheads="1"/>
          </p:cNvSpPr>
          <p:nvPr/>
        </p:nvSpPr>
        <p:spPr bwMode="auto">
          <a:xfrm>
            <a:off x="5029200" y="4808538"/>
            <a:ext cx="335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   1 ,  0 1 1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6047" name="Text Box 31"/>
          <p:cNvSpPr txBox="1">
            <a:spLocks noChangeArrowheads="1"/>
          </p:cNvSpPr>
          <p:nvPr/>
        </p:nvSpPr>
        <p:spPr bwMode="auto">
          <a:xfrm>
            <a:off x="5029200" y="5313363"/>
            <a:ext cx="320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   1 ,  1 0 1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6048" name="Text Box 32"/>
          <p:cNvSpPr txBox="1">
            <a:spLocks noChangeArrowheads="1"/>
          </p:cNvSpPr>
          <p:nvPr/>
        </p:nvSpPr>
        <p:spPr bwMode="auto">
          <a:xfrm>
            <a:off x="5029200" y="5819775"/>
            <a:ext cx="225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1 1 ,  0 0 1 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6049" name="Text Box 33"/>
          <p:cNvSpPr txBox="1">
            <a:spLocks noChangeArrowheads="1"/>
          </p:cNvSpPr>
          <p:nvPr/>
        </p:nvSpPr>
        <p:spPr bwMode="auto">
          <a:xfrm>
            <a:off x="7159625" y="5819775"/>
            <a:ext cx="180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6050" name="Text Box 34"/>
          <p:cNvSpPr txBox="1">
            <a:spLocks noChangeArrowheads="1"/>
          </p:cNvSpPr>
          <p:nvPr/>
        </p:nvSpPr>
        <p:spPr bwMode="auto">
          <a:xfrm>
            <a:off x="8153400" y="4343400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验证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26051" name="Text Box 35"/>
          <p:cNvSpPr txBox="1">
            <a:spLocks noChangeArrowheads="1"/>
          </p:cNvSpPr>
          <p:nvPr/>
        </p:nvSpPr>
        <p:spPr bwMode="auto">
          <a:xfrm>
            <a:off x="9051925" y="5094288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1001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6052" name="Line 36"/>
          <p:cNvSpPr>
            <a:spLocks noChangeShapeType="1"/>
          </p:cNvSpPr>
          <p:nvPr/>
        </p:nvSpPr>
        <p:spPr bwMode="auto">
          <a:xfrm>
            <a:off x="8610600" y="5867400"/>
            <a:ext cx="1676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26053" name="Text Box 37"/>
          <p:cNvSpPr txBox="1">
            <a:spLocks noChangeArrowheads="1"/>
          </p:cNvSpPr>
          <p:nvPr/>
        </p:nvSpPr>
        <p:spPr bwMode="auto">
          <a:xfrm>
            <a:off x="9051925" y="5791200"/>
            <a:ext cx="1022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1110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26054" name="Group 38"/>
          <p:cNvGrpSpPr/>
          <p:nvPr/>
        </p:nvGrpSpPr>
        <p:grpSpPr bwMode="auto">
          <a:xfrm>
            <a:off x="8786813" y="5410200"/>
            <a:ext cx="1287462" cy="457200"/>
            <a:chOff x="4575" y="3408"/>
            <a:chExt cx="811" cy="288"/>
          </a:xfrm>
        </p:grpSpPr>
        <p:sp>
          <p:nvSpPr>
            <p:cNvPr id="49194" name="Text Box 39"/>
            <p:cNvSpPr txBox="1">
              <a:spLocks noChangeArrowheads="1"/>
            </p:cNvSpPr>
            <p:nvPr/>
          </p:nvSpPr>
          <p:spPr bwMode="auto">
            <a:xfrm>
              <a:off x="4742" y="3408"/>
              <a:ext cx="6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0101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195" name="Text Box 40"/>
            <p:cNvSpPr txBox="1">
              <a:spLocks noChangeArrowheads="1"/>
            </p:cNvSpPr>
            <p:nvPr/>
          </p:nvSpPr>
          <p:spPr bwMode="auto">
            <a:xfrm>
              <a:off x="4575" y="3408"/>
              <a:ext cx="2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+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26057" name="Group 41"/>
          <p:cNvGrpSpPr/>
          <p:nvPr/>
        </p:nvGrpSpPr>
        <p:grpSpPr bwMode="auto">
          <a:xfrm>
            <a:off x="2193925" y="3797300"/>
            <a:ext cx="4914900" cy="1023938"/>
            <a:chOff x="422" y="2392"/>
            <a:chExt cx="3096" cy="645"/>
          </a:xfrm>
        </p:grpSpPr>
        <p:sp>
          <p:nvSpPr>
            <p:cNvPr id="49191" name="Text Box 42"/>
            <p:cNvSpPr txBox="1">
              <a:spLocks noChangeArrowheads="1"/>
            </p:cNvSpPr>
            <p:nvPr/>
          </p:nvSpPr>
          <p:spPr bwMode="auto">
            <a:xfrm>
              <a:off x="422" y="2392"/>
              <a:ext cx="7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例 6.19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9192" name="Text Box 43"/>
            <p:cNvSpPr txBox="1">
              <a:spLocks noChangeArrowheads="1"/>
            </p:cNvSpPr>
            <p:nvPr/>
          </p:nvSpPr>
          <p:spPr bwMode="auto">
            <a:xfrm>
              <a:off x="1392" y="2392"/>
              <a:ext cx="21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设 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</a:rPr>
                <a:t> =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–9</a:t>
              </a:r>
              <a:r>
                <a:rPr lang="en-US" altLang="zh-CN">
                  <a:latin typeface="Times New Roman" panose="02020603050405020304" pitchFamily="18" charset="0"/>
                </a:rPr>
                <a:t>，</a:t>
              </a:r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>
                  <a:latin typeface="Times New Roman" panose="02020603050405020304" pitchFamily="18" charset="0"/>
                </a:rPr>
                <a:t> = –5     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49193" name="Text Box 44"/>
            <p:cNvSpPr txBox="1">
              <a:spLocks noChangeArrowheads="1"/>
            </p:cNvSpPr>
            <p:nvPr/>
          </p:nvSpPr>
          <p:spPr bwMode="auto">
            <a:xfrm>
              <a:off x="1392" y="2710"/>
              <a:ext cx="11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求 [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</a:rPr>
                <a:t>+</a:t>
              </a:r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baseline="-25000">
                  <a:latin typeface="Times New Roman" panose="02020603050405020304" pitchFamily="18" charset="0"/>
                </a:rPr>
                <a:t>补</a:t>
              </a:r>
              <a:endParaRPr lang="zh-CN" altLang="en-US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726061" name="Text Box 45"/>
          <p:cNvSpPr txBox="1">
            <a:spLocks noChangeArrowheads="1"/>
          </p:cNvSpPr>
          <p:nvPr/>
        </p:nvSpPr>
        <p:spPr bwMode="auto">
          <a:xfrm>
            <a:off x="2987675" y="480853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6062" name="Text Box 46"/>
          <p:cNvSpPr txBox="1">
            <a:spLocks noChangeArrowheads="1"/>
          </p:cNvSpPr>
          <p:nvPr/>
        </p:nvSpPr>
        <p:spPr bwMode="auto">
          <a:xfrm>
            <a:off x="3595688" y="6324600"/>
            <a:ext cx="2867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∴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sz="18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=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1110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26063" name="AutoShape 47"/>
          <p:cNvSpPr>
            <a:spLocks noChangeArrowheads="1"/>
          </p:cNvSpPr>
          <p:nvPr/>
        </p:nvSpPr>
        <p:spPr bwMode="auto">
          <a:xfrm>
            <a:off x="5367338" y="5867400"/>
            <a:ext cx="304800" cy="457200"/>
          </a:xfrm>
          <a:prstGeom prst="wedgeRoundRectCallout">
            <a:avLst>
              <a:gd name="adj1" fmla="val -162500"/>
              <a:gd name="adj2" fmla="val 79167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72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2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2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72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2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2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2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2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72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72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72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726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726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72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72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72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726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72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0" dur="500"/>
                                        <p:tgtEl>
                                          <p:spTgt spid="72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72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72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5" dur="500"/>
                                        <p:tgtEl>
                                          <p:spTgt spid="72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72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72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72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72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0" dur="500"/>
                                        <p:tgtEl>
                                          <p:spTgt spid="726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5" dur="500"/>
                                        <p:tgtEl>
                                          <p:spTgt spid="72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0" dur="500"/>
                                        <p:tgtEl>
                                          <p:spTgt spid="72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019" grpId="0" autoUpdateAnimBg="0"/>
      <p:bldP spid="726020" grpId="0" autoUpdateAnimBg="0"/>
      <p:bldP spid="726021" grpId="0" autoUpdateAnimBg="0"/>
      <p:bldP spid="726022" grpId="0" autoUpdateAnimBg="0"/>
      <p:bldP spid="726024" grpId="0" autoUpdateAnimBg="0"/>
      <p:bldP spid="726025" grpId="0" autoUpdateAnimBg="0"/>
      <p:bldP spid="726026" grpId="0" autoUpdateAnimBg="0"/>
      <p:bldP spid="726027" grpId="0" autoUpdateAnimBg="0"/>
      <p:bldP spid="726028" grpId="0" autoUpdateAnimBg="0"/>
      <p:bldP spid="726029" grpId="0" autoUpdateAnimBg="0"/>
      <p:bldP spid="726035" grpId="0" autoUpdateAnimBg="0"/>
      <p:bldP spid="726036" grpId="0" autoUpdateAnimBg="0"/>
      <p:bldP spid="726038" grpId="0" autoUpdateAnimBg="0"/>
      <p:bldP spid="726039" grpId="0" animBg="1" autoUpdateAnimBg="0"/>
      <p:bldP spid="726040" grpId="0" autoUpdateAnimBg="0"/>
      <p:bldP spid="726041" grpId="0" autoUpdateAnimBg="0"/>
      <p:bldP spid="726042" grpId="0" autoUpdateAnimBg="0"/>
      <p:bldP spid="726043" grpId="0" autoUpdateAnimBg="0"/>
      <p:bldP spid="726045" grpId="0" autoUpdateAnimBg="0"/>
      <p:bldP spid="726046" grpId="0" autoUpdateAnimBg="0"/>
      <p:bldP spid="726047" grpId="0" autoUpdateAnimBg="0"/>
      <p:bldP spid="726048" grpId="0" autoUpdateAnimBg="0"/>
      <p:bldP spid="726049" grpId="0" autoUpdateAnimBg="0"/>
      <p:bldP spid="726050" grpId="0" autoUpdateAnimBg="0"/>
      <p:bldP spid="726051" grpId="0" autoUpdateAnimBg="0"/>
      <p:bldP spid="726053" grpId="0" autoUpdateAnimBg="0"/>
      <p:bldP spid="726061" grpId="0" autoUpdateAnimBg="0"/>
      <p:bldP spid="726062" grpId="0" autoUpdateAnimBg="0"/>
      <p:bldP spid="726063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1752600" y="273050"/>
            <a:ext cx="15573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例 6.20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27043" name="Text Box 3"/>
          <p:cNvSpPr txBox="1">
            <a:spLocks noChangeArrowheads="1"/>
          </p:cNvSpPr>
          <p:nvPr/>
        </p:nvSpPr>
        <p:spPr bwMode="auto">
          <a:xfrm>
            <a:off x="3429000" y="304800"/>
            <a:ext cx="62293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设机器数字长为 8 位（含 1 位符号位）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且 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= 15，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= 24，</a:t>
            </a:r>
            <a:r>
              <a:rPr lang="zh-CN" altLang="en-US">
                <a:latin typeface="Times New Roman" panose="02020603050405020304" pitchFamily="18" charset="0"/>
              </a:rPr>
              <a:t>用补码求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727044" name="Text Box 4"/>
          <p:cNvSpPr txBox="1">
            <a:spLocks noChangeArrowheads="1"/>
          </p:cNvSpPr>
          <p:nvPr/>
        </p:nvSpPr>
        <p:spPr bwMode="auto">
          <a:xfrm>
            <a:off x="2759075" y="1241425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27045" name="Group 5"/>
          <p:cNvGrpSpPr/>
          <p:nvPr/>
        </p:nvGrpSpPr>
        <p:grpSpPr bwMode="auto">
          <a:xfrm>
            <a:off x="3794125" y="1241425"/>
            <a:ext cx="2968625" cy="519113"/>
            <a:chOff x="1430" y="782"/>
            <a:chExt cx="1870" cy="327"/>
          </a:xfrm>
        </p:grpSpPr>
        <p:sp>
          <p:nvSpPr>
            <p:cNvPr id="50199" name="Text Box 6"/>
            <p:cNvSpPr txBox="1">
              <a:spLocks noChangeArrowheads="1"/>
            </p:cNvSpPr>
            <p:nvPr/>
          </p:nvSpPr>
          <p:spPr bwMode="auto">
            <a:xfrm>
              <a:off x="1430" y="782"/>
              <a:ext cx="8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</a:rPr>
                <a:t> = 15   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0200" name="Text Box 7"/>
            <p:cNvSpPr txBox="1">
              <a:spLocks noChangeArrowheads="1"/>
            </p:cNvSpPr>
            <p:nvPr/>
          </p:nvSpPr>
          <p:spPr bwMode="auto">
            <a:xfrm>
              <a:off x="2160" y="782"/>
              <a:ext cx="11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  0001111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27048" name="Group 8"/>
          <p:cNvGrpSpPr/>
          <p:nvPr/>
        </p:nvGrpSpPr>
        <p:grpSpPr bwMode="auto">
          <a:xfrm>
            <a:off x="3810000" y="1751013"/>
            <a:ext cx="2968625" cy="519112"/>
            <a:chOff x="1440" y="1103"/>
            <a:chExt cx="1870" cy="327"/>
          </a:xfrm>
        </p:grpSpPr>
        <p:sp>
          <p:nvSpPr>
            <p:cNvPr id="50197" name="Text Box 9"/>
            <p:cNvSpPr txBox="1">
              <a:spLocks noChangeArrowheads="1"/>
            </p:cNvSpPr>
            <p:nvPr/>
          </p:nvSpPr>
          <p:spPr bwMode="auto">
            <a:xfrm>
              <a:off x="1440" y="1103"/>
              <a:ext cx="7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>
                  <a:latin typeface="Times New Roman" panose="02020603050405020304" pitchFamily="18" charset="0"/>
                </a:rPr>
                <a:t> = 24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0198" name="Text Box 10"/>
            <p:cNvSpPr txBox="1">
              <a:spLocks noChangeArrowheads="1"/>
            </p:cNvSpPr>
            <p:nvPr/>
          </p:nvSpPr>
          <p:spPr bwMode="auto">
            <a:xfrm>
              <a:off x="2170" y="1103"/>
              <a:ext cx="11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  0011000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27051" name="Text Box 11"/>
          <p:cNvSpPr txBox="1">
            <a:spLocks noChangeArrowheads="1"/>
          </p:cNvSpPr>
          <p:nvPr/>
        </p:nvSpPr>
        <p:spPr bwMode="auto">
          <a:xfrm>
            <a:off x="2667000" y="3276600"/>
            <a:ext cx="226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+ [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7052" name="Text Box 12"/>
          <p:cNvSpPr txBox="1">
            <a:spLocks noChangeArrowheads="1"/>
          </p:cNvSpPr>
          <p:nvPr/>
        </p:nvSpPr>
        <p:spPr bwMode="auto">
          <a:xfrm>
            <a:off x="3489325" y="2833688"/>
            <a:ext cx="387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+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27053" name="Group 13"/>
          <p:cNvGrpSpPr/>
          <p:nvPr/>
        </p:nvGrpSpPr>
        <p:grpSpPr bwMode="auto">
          <a:xfrm>
            <a:off x="4046538" y="2259013"/>
            <a:ext cx="3087687" cy="519112"/>
            <a:chOff x="1589" y="1423"/>
            <a:chExt cx="1945" cy="327"/>
          </a:xfrm>
        </p:grpSpPr>
        <p:sp>
          <p:nvSpPr>
            <p:cNvPr id="50195" name="Text Box 14"/>
            <p:cNvSpPr txBox="1">
              <a:spLocks noChangeArrowheads="1"/>
            </p:cNvSpPr>
            <p:nvPr/>
          </p:nvSpPr>
          <p:spPr bwMode="auto">
            <a:xfrm>
              <a:off x="1589" y="1423"/>
              <a:ext cx="56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[</a:t>
              </a:r>
              <a:r>
                <a:rPr lang="en-US" altLang="zh-CN" i="1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baseline="-25000">
                  <a:latin typeface="Times New Roman" panose="02020603050405020304" pitchFamily="18" charset="0"/>
                </a:rPr>
                <a:t>补</a:t>
              </a:r>
              <a:endParaRPr lang="zh-CN" altLang="en-US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0196" name="Text Box 15"/>
            <p:cNvSpPr txBox="1">
              <a:spLocks noChangeArrowheads="1"/>
            </p:cNvSpPr>
            <p:nvPr/>
          </p:nvSpPr>
          <p:spPr bwMode="auto">
            <a:xfrm>
              <a:off x="2170" y="1423"/>
              <a:ext cx="13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  0, 0001111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27056" name="Group 16"/>
          <p:cNvGrpSpPr/>
          <p:nvPr/>
        </p:nvGrpSpPr>
        <p:grpSpPr bwMode="auto">
          <a:xfrm>
            <a:off x="3784600" y="2768600"/>
            <a:ext cx="3349625" cy="519113"/>
            <a:chOff x="1424" y="1744"/>
            <a:chExt cx="2110" cy="327"/>
          </a:xfrm>
        </p:grpSpPr>
        <p:sp>
          <p:nvSpPr>
            <p:cNvPr id="50193" name="Text Box 17"/>
            <p:cNvSpPr txBox="1">
              <a:spLocks noChangeArrowheads="1"/>
            </p:cNvSpPr>
            <p:nvPr/>
          </p:nvSpPr>
          <p:spPr bwMode="auto">
            <a:xfrm>
              <a:off x="1424" y="1744"/>
              <a:ext cx="7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[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baseline="-25000">
                  <a:latin typeface="Times New Roman" panose="02020603050405020304" pitchFamily="18" charset="0"/>
                </a:rPr>
                <a:t>补</a:t>
              </a:r>
              <a:endParaRPr lang="zh-CN" altLang="en-US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0194" name="Text Box 18"/>
            <p:cNvSpPr txBox="1">
              <a:spLocks noChangeArrowheads="1"/>
            </p:cNvSpPr>
            <p:nvPr/>
          </p:nvSpPr>
          <p:spPr bwMode="auto">
            <a:xfrm>
              <a:off x="2170" y="1744"/>
              <a:ext cx="13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  1, 1101000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27059" name="Text Box 19"/>
          <p:cNvSpPr txBox="1">
            <a:spLocks noChangeArrowheads="1"/>
          </p:cNvSpPr>
          <p:nvPr/>
        </p:nvSpPr>
        <p:spPr bwMode="auto">
          <a:xfrm>
            <a:off x="4967288" y="3276600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 1, 1110111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7060" name="Text Box 20"/>
          <p:cNvSpPr txBox="1">
            <a:spLocks noChangeArrowheads="1"/>
          </p:cNvSpPr>
          <p:nvPr/>
        </p:nvSpPr>
        <p:spPr bwMode="auto">
          <a:xfrm>
            <a:off x="7162800" y="3276600"/>
            <a:ext cx="178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endParaRPr lang="zh-CN" altLang="en-US" baseline="-25000">
              <a:latin typeface="Times New Roman" panose="02020603050405020304" pitchFamily="18" charset="0"/>
            </a:endParaRPr>
          </a:p>
        </p:txBody>
      </p:sp>
      <p:sp>
        <p:nvSpPr>
          <p:cNvPr id="727061" name="Text Box 21"/>
          <p:cNvSpPr txBox="1">
            <a:spLocks noChangeArrowheads="1"/>
          </p:cNvSpPr>
          <p:nvPr/>
        </p:nvSpPr>
        <p:spPr bwMode="auto">
          <a:xfrm>
            <a:off x="7680325" y="2259013"/>
            <a:ext cx="288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= 0, 0011000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7083" name="Text Box 43"/>
          <p:cNvSpPr txBox="1">
            <a:spLocks noChangeArrowheads="1"/>
          </p:cNvSpPr>
          <p:nvPr/>
        </p:nvSpPr>
        <p:spPr bwMode="auto">
          <a:xfrm>
            <a:off x="3581400" y="3786188"/>
            <a:ext cx="441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∴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= – 1001 = –9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27084" name="Line 44"/>
          <p:cNvSpPr>
            <a:spLocks noChangeShapeType="1"/>
          </p:cNvSpPr>
          <p:nvPr/>
        </p:nvSpPr>
        <p:spPr bwMode="auto">
          <a:xfrm>
            <a:off x="2590800" y="3276600"/>
            <a:ext cx="6705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27087" name="Rectangle 47"/>
          <p:cNvSpPr>
            <a:spLocks noChangeArrowheads="1"/>
          </p:cNvSpPr>
          <p:nvPr/>
        </p:nvSpPr>
        <p:spPr bwMode="auto">
          <a:xfrm>
            <a:off x="9448800" y="152400"/>
            <a:ext cx="11430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6.3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2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72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2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2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2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27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43" grpId="0" autoUpdateAnimBg="0"/>
      <p:bldP spid="727044" grpId="0" autoUpdateAnimBg="0"/>
      <p:bldP spid="727051" grpId="0" autoUpdateAnimBg="0"/>
      <p:bldP spid="727052" grpId="0" autoUpdateAnimBg="0"/>
      <p:bldP spid="727059" grpId="0" autoUpdateAnimBg="0"/>
      <p:bldP spid="727060" grpId="0" autoUpdateAnimBg="0"/>
      <p:bldP spid="727061" grpId="0" autoUpdateAnimBg="0"/>
      <p:bldP spid="72708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911225" y="179388"/>
            <a:ext cx="2476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3. 溢出判断</a:t>
            </a:r>
            <a:endParaRPr lang="en-US" altLang="zh-CN" sz="3600">
              <a:latin typeface="Times New Roman" panose="02020603050405020304" pitchFamily="18" charset="0"/>
            </a:endParaRPr>
          </a:p>
        </p:txBody>
      </p:sp>
      <p:sp>
        <p:nvSpPr>
          <p:cNvPr id="728067" name="Text Box 3"/>
          <p:cNvSpPr txBox="1">
            <a:spLocks noChangeArrowheads="1"/>
          </p:cNvSpPr>
          <p:nvPr/>
        </p:nvSpPr>
        <p:spPr bwMode="auto">
          <a:xfrm>
            <a:off x="1981200" y="1096963"/>
            <a:ext cx="5257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(1) 一位符号位判溢出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28068" name="Text Box 4"/>
          <p:cNvSpPr txBox="1">
            <a:spLocks noChangeArrowheads="1"/>
          </p:cNvSpPr>
          <p:nvPr/>
        </p:nvSpPr>
        <p:spPr bwMode="auto">
          <a:xfrm>
            <a:off x="2590800" y="1698625"/>
            <a:ext cx="7772400" cy="182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参加操作的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两个数</a:t>
            </a:r>
            <a:r>
              <a:rPr lang="zh-CN" altLang="en-US">
                <a:latin typeface="Times New Roman" panose="02020603050405020304" pitchFamily="18" charset="0"/>
              </a:rPr>
              <a:t>（减法时即为被减数和“求补”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以后的减数）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符号相同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其结果的符号与原操作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数的符号不同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即为溢出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8069" name="Text Box 5"/>
          <p:cNvSpPr txBox="1">
            <a:spLocks noChangeArrowheads="1"/>
          </p:cNvSpPr>
          <p:nvPr/>
        </p:nvSpPr>
        <p:spPr bwMode="auto">
          <a:xfrm>
            <a:off x="1981200" y="3657600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硬件实现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28070" name="Group 6"/>
          <p:cNvGrpSpPr/>
          <p:nvPr/>
        </p:nvGrpSpPr>
        <p:grpSpPr bwMode="auto">
          <a:xfrm>
            <a:off x="2590800" y="4257675"/>
            <a:ext cx="6365875" cy="519113"/>
            <a:chOff x="672" y="2682"/>
            <a:chExt cx="4010" cy="327"/>
          </a:xfrm>
        </p:grpSpPr>
        <p:sp>
          <p:nvSpPr>
            <p:cNvPr id="51223" name="Text Box 7"/>
            <p:cNvSpPr txBox="1">
              <a:spLocks noChangeArrowheads="1"/>
            </p:cNvSpPr>
            <p:nvPr/>
          </p:nvSpPr>
          <p:spPr bwMode="auto">
            <a:xfrm>
              <a:off x="672" y="2682"/>
              <a:ext cx="40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最高有效位的进位       符号位的进位 = 1</a:t>
              </a:r>
              <a:endParaRPr lang="en-US" altLang="zh-CN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4" name="AutoShape 8"/>
            <p:cNvSpPr>
              <a:spLocks noChangeArrowheads="1"/>
            </p:cNvSpPr>
            <p:nvPr/>
          </p:nvSpPr>
          <p:spPr bwMode="auto">
            <a:xfrm>
              <a:off x="2640" y="2736"/>
              <a:ext cx="192" cy="192"/>
            </a:xfrm>
            <a:prstGeom prst="flowChartOr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sp>
        <p:nvSpPr>
          <p:cNvPr id="728073" name="Text Box 9"/>
          <p:cNvSpPr txBox="1">
            <a:spLocks noChangeArrowheads="1"/>
          </p:cNvSpPr>
          <p:nvPr/>
        </p:nvSpPr>
        <p:spPr bwMode="auto">
          <a:xfrm>
            <a:off x="2971800" y="47688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如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28074" name="Group 10"/>
          <p:cNvGrpSpPr/>
          <p:nvPr/>
        </p:nvGrpSpPr>
        <p:grpSpPr bwMode="auto">
          <a:xfrm>
            <a:off x="4343400" y="4800600"/>
            <a:ext cx="1543050" cy="981075"/>
            <a:chOff x="1776" y="3024"/>
            <a:chExt cx="972" cy="618"/>
          </a:xfrm>
        </p:grpSpPr>
        <p:sp>
          <p:nvSpPr>
            <p:cNvPr id="51219" name="AutoShape 11"/>
            <p:cNvSpPr>
              <a:spLocks noChangeArrowheads="1"/>
            </p:cNvSpPr>
            <p:nvPr/>
          </p:nvSpPr>
          <p:spPr bwMode="auto">
            <a:xfrm>
              <a:off x="2016" y="3111"/>
              <a:ext cx="147" cy="147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51220" name="Text Box 12"/>
            <p:cNvSpPr txBox="1">
              <a:spLocks noChangeArrowheads="1"/>
            </p:cNvSpPr>
            <p:nvPr/>
          </p:nvSpPr>
          <p:spPr bwMode="auto">
            <a:xfrm>
              <a:off x="1776" y="3024"/>
              <a:ext cx="9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    0 =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221" name="AutoShape 13"/>
            <p:cNvSpPr>
              <a:spLocks noChangeArrowheads="1"/>
            </p:cNvSpPr>
            <p:nvPr/>
          </p:nvSpPr>
          <p:spPr bwMode="auto">
            <a:xfrm>
              <a:off x="2016" y="3399"/>
              <a:ext cx="147" cy="147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51222" name="Text Box 14"/>
            <p:cNvSpPr txBox="1">
              <a:spLocks noChangeArrowheads="1"/>
            </p:cNvSpPr>
            <p:nvPr/>
          </p:nvSpPr>
          <p:spPr bwMode="auto">
            <a:xfrm>
              <a:off x="1776" y="3315"/>
              <a:ext cx="9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     1 =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28079" name="Text Box 15"/>
          <p:cNvSpPr txBox="1">
            <a:spLocks noChangeArrowheads="1"/>
          </p:cNvSpPr>
          <p:nvPr/>
        </p:nvSpPr>
        <p:spPr bwMode="auto">
          <a:xfrm>
            <a:off x="6003925" y="5059363"/>
            <a:ext cx="1920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有 </a:t>
            </a:r>
            <a:r>
              <a:rPr lang="zh-CN" altLang="en-US">
                <a:latin typeface="Times New Roman" panose="02020603050405020304" pitchFamily="18" charset="0"/>
              </a:rPr>
              <a:t>溢出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28080" name="Group 16"/>
          <p:cNvGrpSpPr/>
          <p:nvPr/>
        </p:nvGrpSpPr>
        <p:grpSpPr bwMode="auto">
          <a:xfrm>
            <a:off x="4343400" y="5724525"/>
            <a:ext cx="1543050" cy="981075"/>
            <a:chOff x="1776" y="3606"/>
            <a:chExt cx="972" cy="618"/>
          </a:xfrm>
        </p:grpSpPr>
        <p:sp>
          <p:nvSpPr>
            <p:cNvPr id="51215" name="AutoShape 17"/>
            <p:cNvSpPr>
              <a:spLocks noChangeArrowheads="1"/>
            </p:cNvSpPr>
            <p:nvPr/>
          </p:nvSpPr>
          <p:spPr bwMode="auto">
            <a:xfrm>
              <a:off x="2016" y="3693"/>
              <a:ext cx="147" cy="147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51216" name="Text Box 18"/>
            <p:cNvSpPr txBox="1">
              <a:spLocks noChangeArrowheads="1"/>
            </p:cNvSpPr>
            <p:nvPr/>
          </p:nvSpPr>
          <p:spPr bwMode="auto">
            <a:xfrm>
              <a:off x="1776" y="3606"/>
              <a:ext cx="9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     0 =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1217" name="AutoShape 19"/>
            <p:cNvSpPr>
              <a:spLocks noChangeArrowheads="1"/>
            </p:cNvSpPr>
            <p:nvPr/>
          </p:nvSpPr>
          <p:spPr bwMode="auto">
            <a:xfrm>
              <a:off x="2016" y="3981"/>
              <a:ext cx="147" cy="147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51218" name="Text Box 20"/>
            <p:cNvSpPr txBox="1">
              <a:spLocks noChangeArrowheads="1"/>
            </p:cNvSpPr>
            <p:nvPr/>
          </p:nvSpPr>
          <p:spPr bwMode="auto">
            <a:xfrm>
              <a:off x="1776" y="3897"/>
              <a:ext cx="9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    1 =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28085" name="Text Box 21"/>
          <p:cNvSpPr txBox="1">
            <a:spLocks noChangeArrowheads="1"/>
          </p:cNvSpPr>
          <p:nvPr/>
        </p:nvSpPr>
        <p:spPr bwMode="auto">
          <a:xfrm>
            <a:off x="6003925" y="5957888"/>
            <a:ext cx="1920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无 </a:t>
            </a:r>
            <a:r>
              <a:rPr lang="zh-CN" altLang="en-US">
                <a:latin typeface="Times New Roman" panose="02020603050405020304" pitchFamily="18" charset="0"/>
              </a:rPr>
              <a:t>溢出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28087" name="AutoShape 23"/>
          <p:cNvSpPr/>
          <p:nvPr/>
        </p:nvSpPr>
        <p:spPr bwMode="auto">
          <a:xfrm>
            <a:off x="5867400" y="5029200"/>
            <a:ext cx="152400" cy="609600"/>
          </a:xfrm>
          <a:prstGeom prst="righ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728088" name="AutoShape 24"/>
          <p:cNvSpPr/>
          <p:nvPr/>
        </p:nvSpPr>
        <p:spPr bwMode="auto">
          <a:xfrm>
            <a:off x="5867400" y="5943600"/>
            <a:ext cx="152400" cy="609600"/>
          </a:xfrm>
          <a:prstGeom prst="rightBrace">
            <a:avLst>
              <a:gd name="adj1" fmla="val 33333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728089" name="Text Box 25"/>
          <p:cNvSpPr txBox="1">
            <a:spLocks noChangeArrowheads="1"/>
          </p:cNvSpPr>
          <p:nvPr/>
        </p:nvSpPr>
        <p:spPr bwMode="auto">
          <a:xfrm>
            <a:off x="9296400" y="4257675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溢出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72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2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2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6" dur="500"/>
                                        <p:tgtEl>
                                          <p:spTgt spid="72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2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067" grpId="0" autoUpdateAnimBg="0"/>
      <p:bldP spid="728068" grpId="0" autoUpdateAnimBg="0"/>
      <p:bldP spid="728069" grpId="0" autoUpdateAnimBg="0"/>
      <p:bldP spid="728073" grpId="0" autoUpdateAnimBg="0"/>
      <p:bldP spid="728079" grpId="0" autoUpdateAnimBg="0"/>
      <p:bldP spid="728085" grpId="0" autoUpdateAnimBg="0"/>
      <p:bldP spid="72808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1703388" y="339725"/>
            <a:ext cx="5257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(2) 两位符号位判溢出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729091" name="Group 3"/>
          <p:cNvGrpSpPr/>
          <p:nvPr/>
        </p:nvGrpSpPr>
        <p:grpSpPr bwMode="auto">
          <a:xfrm>
            <a:off x="2667000" y="1209675"/>
            <a:ext cx="6645275" cy="1052513"/>
            <a:chOff x="720" y="762"/>
            <a:chExt cx="4186" cy="663"/>
          </a:xfrm>
        </p:grpSpPr>
        <p:sp>
          <p:nvSpPr>
            <p:cNvPr id="52245" name="Text Box 4"/>
            <p:cNvSpPr txBox="1">
              <a:spLocks noChangeArrowheads="1"/>
            </p:cNvSpPr>
            <p:nvPr/>
          </p:nvSpPr>
          <p:spPr bwMode="auto">
            <a:xfrm>
              <a:off x="720" y="906"/>
              <a:ext cx="63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[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baseline="-25000">
                  <a:latin typeface="Times New Roman" panose="02020603050405020304" pitchFamily="18" charset="0"/>
                </a:rPr>
                <a:t>补</a:t>
              </a:r>
              <a:r>
                <a:rPr lang="zh-CN" altLang="en-US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' 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2246" name="Text Box 5"/>
            <p:cNvSpPr txBox="1">
              <a:spLocks noChangeArrowheads="1"/>
            </p:cNvSpPr>
            <p:nvPr/>
          </p:nvSpPr>
          <p:spPr bwMode="auto">
            <a:xfrm>
              <a:off x="1248" y="912"/>
              <a:ext cx="2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2247" name="Text Box 6"/>
            <p:cNvSpPr txBox="1">
              <a:spLocks noChangeArrowheads="1"/>
            </p:cNvSpPr>
            <p:nvPr/>
          </p:nvSpPr>
          <p:spPr bwMode="auto">
            <a:xfrm>
              <a:off x="1536" y="762"/>
              <a:ext cx="27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            1 ＞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 ≥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48" name="Text Box 7"/>
            <p:cNvSpPr txBox="1">
              <a:spLocks noChangeArrowheads="1"/>
            </p:cNvSpPr>
            <p:nvPr/>
          </p:nvSpPr>
          <p:spPr bwMode="auto">
            <a:xfrm>
              <a:off x="1536" y="1098"/>
              <a:ext cx="33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 4 +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      0 ＞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 ≥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–1</a:t>
              </a:r>
              <a:r>
                <a:rPr lang="en-US" altLang="zh-CN">
                  <a:latin typeface="Times New Roman" panose="02020603050405020304" pitchFamily="18" charset="0"/>
                </a:rPr>
                <a:t>（mod 4）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2249" name="AutoShape 8"/>
            <p:cNvSpPr/>
            <p:nvPr/>
          </p:nvSpPr>
          <p:spPr bwMode="auto">
            <a:xfrm>
              <a:off x="1492" y="912"/>
              <a:ext cx="96" cy="384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sp>
        <p:nvSpPr>
          <p:cNvPr id="729097" name="Text Box 9"/>
          <p:cNvSpPr txBox="1">
            <a:spLocks noChangeArrowheads="1"/>
          </p:cNvSpPr>
          <p:nvPr/>
        </p:nvSpPr>
        <p:spPr bwMode="auto">
          <a:xfrm>
            <a:off x="2667000" y="2514600"/>
            <a:ext cx="5553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</a:t>
            </a:r>
            <a:r>
              <a:rPr lang="zh-CN" altLang="en-US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CN" altLang="en-US">
                <a:latin typeface="Times New Roman" panose="02020603050405020304" pitchFamily="18" charset="0"/>
              </a:rPr>
              <a:t> + [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补'</a:t>
            </a:r>
            <a:r>
              <a:rPr lang="zh-CN" altLang="en-US">
                <a:latin typeface="Times New Roman" panose="02020603050405020304" pitchFamily="18" charset="0"/>
              </a:rPr>
              <a:t> = [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+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 ]</a:t>
            </a:r>
            <a:r>
              <a:rPr lang="zh-CN" altLang="en-US" baseline="-25000">
                <a:latin typeface="Times New Roman" panose="02020603050405020304" pitchFamily="18" charset="0"/>
              </a:rPr>
              <a:t>补'</a:t>
            </a:r>
            <a:r>
              <a:rPr lang="zh-CN" altLang="en-US">
                <a:latin typeface="Times New Roman" panose="02020603050405020304" pitchFamily="18" charset="0"/>
              </a:rPr>
              <a:t> （</a:t>
            </a:r>
            <a:r>
              <a:rPr lang="en-US" altLang="zh-CN">
                <a:latin typeface="Times New Roman" panose="02020603050405020304" pitchFamily="18" charset="0"/>
              </a:rPr>
              <a:t>mod 4）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29098" name="Text Box 10"/>
          <p:cNvSpPr txBox="1">
            <a:spLocks noChangeArrowheads="1"/>
          </p:cNvSpPr>
          <p:nvPr/>
        </p:nvSpPr>
        <p:spPr bwMode="auto">
          <a:xfrm>
            <a:off x="2682875" y="3376613"/>
            <a:ext cx="5527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补'</a:t>
            </a:r>
            <a:r>
              <a:rPr lang="zh-CN" altLang="en-US">
                <a:latin typeface="Times New Roman" panose="02020603050405020304" pitchFamily="18" charset="0"/>
              </a:rPr>
              <a:t> = 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补'</a:t>
            </a:r>
            <a:r>
              <a:rPr lang="zh-CN" altLang="en-US">
                <a:latin typeface="Times New Roman" panose="02020603050405020304" pitchFamily="18" charset="0"/>
              </a:rPr>
              <a:t> + [</a:t>
            </a:r>
            <a:r>
              <a:rPr lang="en-US" altLang="zh-CN">
                <a:latin typeface="Times New Roman" panose="02020603050405020304" pitchFamily="18" charset="0"/>
              </a:rPr>
              <a:t>–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baseline="-25000">
                <a:latin typeface="Times New Roman" panose="02020603050405020304" pitchFamily="18" charset="0"/>
              </a:rPr>
              <a:t>补'</a:t>
            </a:r>
            <a:r>
              <a:rPr lang="zh-CN" altLang="en-US">
                <a:latin typeface="Times New Roman" panose="02020603050405020304" pitchFamily="18" charset="0"/>
              </a:rPr>
              <a:t> （</a:t>
            </a:r>
            <a:r>
              <a:rPr lang="en-US" altLang="zh-CN">
                <a:latin typeface="Times New Roman" panose="02020603050405020304" pitchFamily="18" charset="0"/>
              </a:rPr>
              <a:t>mod 4）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29099" name="Text Box 11"/>
          <p:cNvSpPr txBox="1">
            <a:spLocks noChangeArrowheads="1"/>
          </p:cNvSpPr>
          <p:nvPr/>
        </p:nvSpPr>
        <p:spPr bwMode="auto">
          <a:xfrm>
            <a:off x="2667000" y="4205288"/>
            <a:ext cx="5270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结果的双符号位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相同</a:t>
            </a:r>
            <a:r>
              <a:rPr lang="zh-CN" altLang="en-US">
                <a:latin typeface="Times New Roman" panose="02020603050405020304" pitchFamily="18" charset="0"/>
              </a:rPr>
              <a:t>       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未溢出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9100" name="Text Box 12"/>
          <p:cNvSpPr txBox="1">
            <a:spLocks noChangeArrowheads="1"/>
          </p:cNvSpPr>
          <p:nvPr/>
        </p:nvSpPr>
        <p:spPr bwMode="auto">
          <a:xfrm>
            <a:off x="2667000" y="5129213"/>
            <a:ext cx="571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结果的双符号位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不同</a:t>
            </a:r>
            <a:r>
              <a:rPr lang="zh-CN" altLang="en-US">
                <a:latin typeface="Times New Roman" panose="02020603050405020304" pitchFamily="18" charset="0"/>
              </a:rPr>
              <a:t>       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溢出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9101" name="Text Box 13"/>
          <p:cNvSpPr txBox="1">
            <a:spLocks noChangeArrowheads="1"/>
          </p:cNvSpPr>
          <p:nvPr/>
        </p:nvSpPr>
        <p:spPr bwMode="auto">
          <a:xfrm>
            <a:off x="2667000" y="6034088"/>
            <a:ext cx="518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最高符号位 </a:t>
            </a:r>
            <a:r>
              <a:rPr lang="zh-CN" altLang="en-US">
                <a:latin typeface="Times New Roman" panose="02020603050405020304" pitchFamily="18" charset="0"/>
              </a:rPr>
              <a:t>代表其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真正的符号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29102" name="Group 14"/>
          <p:cNvGrpSpPr/>
          <p:nvPr/>
        </p:nvGrpSpPr>
        <p:grpSpPr bwMode="auto">
          <a:xfrm>
            <a:off x="8137525" y="4129088"/>
            <a:ext cx="1749425" cy="904875"/>
            <a:chOff x="4166" y="2601"/>
            <a:chExt cx="1102" cy="570"/>
          </a:xfrm>
        </p:grpSpPr>
        <p:sp>
          <p:nvSpPr>
            <p:cNvPr id="52243" name="Text Box 15"/>
            <p:cNvSpPr txBox="1">
              <a:spLocks noChangeArrowheads="1"/>
            </p:cNvSpPr>
            <p:nvPr/>
          </p:nvSpPr>
          <p:spPr bwMode="auto">
            <a:xfrm>
              <a:off x="4166" y="2601"/>
              <a:ext cx="110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00. </a:t>
              </a:r>
              <a:r>
                <a:rPr lang="zh-CN" altLang="en-US" sz="2400">
                  <a:latin typeface="Times New Roman" panose="02020603050405020304" pitchFamily="18" charset="0"/>
                </a:rPr>
                <a:t>×××××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44" name="Text Box 16"/>
            <p:cNvSpPr txBox="1">
              <a:spLocks noChangeArrowheads="1"/>
            </p:cNvSpPr>
            <p:nvPr/>
          </p:nvSpPr>
          <p:spPr bwMode="auto">
            <a:xfrm>
              <a:off x="4166" y="2841"/>
              <a:ext cx="109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11. </a:t>
              </a:r>
              <a:r>
                <a:rPr lang="zh-CN" altLang="en-US" sz="2400">
                  <a:latin typeface="Times New Roman" panose="02020603050405020304" pitchFamily="18" charset="0"/>
                </a:rPr>
                <a:t>×××××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29105" name="Group 17"/>
          <p:cNvGrpSpPr/>
          <p:nvPr/>
        </p:nvGrpSpPr>
        <p:grpSpPr bwMode="auto">
          <a:xfrm>
            <a:off x="8137525" y="5129213"/>
            <a:ext cx="1825625" cy="957262"/>
            <a:chOff x="4166" y="3231"/>
            <a:chExt cx="1150" cy="603"/>
          </a:xfrm>
        </p:grpSpPr>
        <p:sp>
          <p:nvSpPr>
            <p:cNvPr id="52241" name="Text Box 18"/>
            <p:cNvSpPr txBox="1">
              <a:spLocks noChangeArrowheads="1"/>
            </p:cNvSpPr>
            <p:nvPr/>
          </p:nvSpPr>
          <p:spPr bwMode="auto">
            <a:xfrm>
              <a:off x="4166" y="3231"/>
              <a:ext cx="115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>
                  <a:latin typeface="Times New Roman" panose="02020603050405020304" pitchFamily="18" charset="0"/>
                </a:rPr>
                <a:t>0. </a:t>
              </a:r>
              <a:r>
                <a:rPr lang="zh-CN" altLang="en-US" sz="2400">
                  <a:latin typeface="Times New Roman" panose="02020603050405020304" pitchFamily="18" charset="0"/>
                </a:rPr>
                <a:t>×××××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42" name="Text Box 19"/>
            <p:cNvSpPr txBox="1">
              <a:spLocks noChangeArrowheads="1"/>
            </p:cNvSpPr>
            <p:nvPr/>
          </p:nvSpPr>
          <p:spPr bwMode="auto">
            <a:xfrm>
              <a:off x="4166" y="3504"/>
              <a:ext cx="110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r>
                <a:rPr lang="zh-CN" altLang="en-US">
                  <a:latin typeface="Times New Roman" panose="02020603050405020304" pitchFamily="18" charset="0"/>
                </a:rPr>
                <a:t>1. </a:t>
              </a:r>
              <a:r>
                <a:rPr lang="zh-CN" altLang="en-US" sz="2400">
                  <a:latin typeface="Times New Roman" panose="02020603050405020304" pitchFamily="18" charset="0"/>
                </a:rPr>
                <a:t>×××××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29108" name="Group 20"/>
          <p:cNvGrpSpPr/>
          <p:nvPr/>
        </p:nvGrpSpPr>
        <p:grpSpPr bwMode="auto">
          <a:xfrm>
            <a:off x="8153400" y="4129088"/>
            <a:ext cx="1749425" cy="904875"/>
            <a:chOff x="4166" y="2601"/>
            <a:chExt cx="1102" cy="570"/>
          </a:xfrm>
        </p:grpSpPr>
        <p:sp>
          <p:nvSpPr>
            <p:cNvPr id="52239" name="Text Box 21"/>
            <p:cNvSpPr txBox="1">
              <a:spLocks noChangeArrowheads="1"/>
            </p:cNvSpPr>
            <p:nvPr/>
          </p:nvSpPr>
          <p:spPr bwMode="auto">
            <a:xfrm>
              <a:off x="4166" y="2601"/>
              <a:ext cx="110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00, </a:t>
              </a:r>
              <a:r>
                <a:rPr lang="zh-CN" altLang="en-US" sz="2400">
                  <a:latin typeface="Times New Roman" panose="02020603050405020304" pitchFamily="18" charset="0"/>
                </a:rPr>
                <a:t>×××××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40" name="Text Box 22"/>
            <p:cNvSpPr txBox="1">
              <a:spLocks noChangeArrowheads="1"/>
            </p:cNvSpPr>
            <p:nvPr/>
          </p:nvSpPr>
          <p:spPr bwMode="auto">
            <a:xfrm>
              <a:off x="4166" y="2841"/>
              <a:ext cx="109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11, </a:t>
              </a:r>
              <a:r>
                <a:rPr lang="zh-CN" altLang="en-US" sz="2400">
                  <a:latin typeface="Times New Roman" panose="02020603050405020304" pitchFamily="18" charset="0"/>
                </a:rPr>
                <a:t>×××××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29111" name="Group 23"/>
          <p:cNvGrpSpPr/>
          <p:nvPr/>
        </p:nvGrpSpPr>
        <p:grpSpPr bwMode="auto">
          <a:xfrm>
            <a:off x="8113713" y="5143500"/>
            <a:ext cx="1825625" cy="957263"/>
            <a:chOff x="4166" y="3231"/>
            <a:chExt cx="1150" cy="603"/>
          </a:xfrm>
        </p:grpSpPr>
        <p:sp>
          <p:nvSpPr>
            <p:cNvPr id="52237" name="Text Box 24"/>
            <p:cNvSpPr txBox="1">
              <a:spLocks noChangeArrowheads="1"/>
            </p:cNvSpPr>
            <p:nvPr/>
          </p:nvSpPr>
          <p:spPr bwMode="auto">
            <a:xfrm>
              <a:off x="4166" y="3231"/>
              <a:ext cx="115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>
                  <a:latin typeface="Times New Roman" panose="02020603050405020304" pitchFamily="18" charset="0"/>
                </a:rPr>
                <a:t>0, </a:t>
              </a:r>
              <a:r>
                <a:rPr lang="zh-CN" altLang="en-US" sz="2400">
                  <a:latin typeface="Times New Roman" panose="02020603050405020304" pitchFamily="18" charset="0"/>
                </a:rPr>
                <a:t>×××××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2238" name="Text Box 25"/>
            <p:cNvSpPr txBox="1">
              <a:spLocks noChangeArrowheads="1"/>
            </p:cNvSpPr>
            <p:nvPr/>
          </p:nvSpPr>
          <p:spPr bwMode="auto">
            <a:xfrm>
              <a:off x="4166" y="3504"/>
              <a:ext cx="110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r>
                <a:rPr lang="zh-CN" altLang="en-US">
                  <a:latin typeface="Times New Roman" panose="02020603050405020304" pitchFamily="18" charset="0"/>
                </a:rPr>
                <a:t>1, </a:t>
              </a:r>
              <a:r>
                <a:rPr lang="zh-CN" altLang="en-US" sz="2400">
                  <a:latin typeface="Times New Roman" panose="02020603050405020304" pitchFamily="18" charset="0"/>
                </a:rPr>
                <a:t>×××××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2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91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29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2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29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291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2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097" grpId="0" autoUpdateAnimBg="0"/>
      <p:bldP spid="729098" grpId="0" autoUpdateAnimBg="0"/>
      <p:bldP spid="729099" grpId="0" autoUpdateAnimBg="0"/>
      <p:bldP spid="729100" grpId="0" autoUpdateAnimBg="0"/>
      <p:bldP spid="72910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1055688" y="349250"/>
            <a:ext cx="52292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4. 补码加减法的硬件配置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730115" name="Group 3"/>
          <p:cNvGrpSpPr/>
          <p:nvPr/>
        </p:nvGrpSpPr>
        <p:grpSpPr bwMode="auto">
          <a:xfrm>
            <a:off x="2590800" y="1752600"/>
            <a:ext cx="7010400" cy="3352800"/>
            <a:chOff x="672" y="1104"/>
            <a:chExt cx="4416" cy="2112"/>
          </a:xfrm>
        </p:grpSpPr>
        <p:sp>
          <p:nvSpPr>
            <p:cNvPr id="53257" name="Rectangle 4"/>
            <p:cNvSpPr>
              <a:spLocks noChangeArrowheads="1"/>
            </p:cNvSpPr>
            <p:nvPr/>
          </p:nvSpPr>
          <p:spPr bwMode="auto">
            <a:xfrm>
              <a:off x="720" y="1296"/>
              <a:ext cx="384" cy="33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V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3258" name="Rectangle 5"/>
            <p:cNvSpPr>
              <a:spLocks noChangeArrowheads="1"/>
            </p:cNvSpPr>
            <p:nvPr/>
          </p:nvSpPr>
          <p:spPr bwMode="auto">
            <a:xfrm>
              <a:off x="1680" y="1296"/>
              <a:ext cx="1584" cy="33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r>
                <a:rPr lang="zh-CN" altLang="en-US">
                  <a:latin typeface="Times New Roman" panose="02020603050405020304" pitchFamily="18" charset="0"/>
                </a:rPr>
                <a:t>          </a:t>
              </a:r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r>
                <a:rPr lang="en-US" altLang="zh-CN">
                  <a:latin typeface="Times New Roman" panose="02020603050405020304" pitchFamily="18" charset="0"/>
                </a:rPr>
                <a:t>          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53259" name="Rectangle 6"/>
            <p:cNvSpPr>
              <a:spLocks noChangeArrowheads="1"/>
            </p:cNvSpPr>
            <p:nvPr/>
          </p:nvSpPr>
          <p:spPr bwMode="auto">
            <a:xfrm>
              <a:off x="3744" y="1296"/>
              <a:ext cx="384" cy="33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G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A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3260" name="Rectangle 7"/>
            <p:cNvSpPr>
              <a:spLocks noChangeArrowheads="1"/>
            </p:cNvSpPr>
            <p:nvPr/>
          </p:nvSpPr>
          <p:spPr bwMode="auto">
            <a:xfrm>
              <a:off x="4368" y="1296"/>
              <a:ext cx="384" cy="33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G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S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3261" name="Rectangle 8"/>
            <p:cNvSpPr>
              <a:spLocks noChangeArrowheads="1"/>
            </p:cNvSpPr>
            <p:nvPr/>
          </p:nvSpPr>
          <p:spPr bwMode="auto">
            <a:xfrm>
              <a:off x="1680" y="1992"/>
              <a:ext cx="1584" cy="33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  </a:t>
              </a:r>
              <a:r>
                <a:rPr lang="zh-CN" altLang="en-US" sz="2400">
                  <a:latin typeface="Times New Roman" panose="02020603050405020304" pitchFamily="18" charset="0"/>
                </a:rPr>
                <a:t>加法器（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r>
                <a:rPr lang="en-US" altLang="zh-CN" sz="2400">
                  <a:latin typeface="Times New Roman" panose="02020603050405020304" pitchFamily="18" charset="0"/>
                </a:rPr>
                <a:t>+1）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3262" name="Rectangle 9"/>
            <p:cNvSpPr>
              <a:spLocks noChangeArrowheads="1"/>
            </p:cNvSpPr>
            <p:nvPr/>
          </p:nvSpPr>
          <p:spPr bwMode="auto">
            <a:xfrm>
              <a:off x="672" y="1968"/>
              <a:ext cx="624" cy="62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溢出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判断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3263" name="Rectangle 10"/>
            <p:cNvSpPr>
              <a:spLocks noChangeArrowheads="1"/>
            </p:cNvSpPr>
            <p:nvPr/>
          </p:nvSpPr>
          <p:spPr bwMode="auto">
            <a:xfrm>
              <a:off x="3744" y="1968"/>
              <a:ext cx="1104" cy="62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求补控制 </a:t>
              </a:r>
              <a:endParaRPr lang="zh-CN" altLang="en-US" sz="2400">
                <a:latin typeface="Times New Roman" panose="02020603050405020304" pitchFamily="18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逻  辑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3264" name="Rectangle 11"/>
            <p:cNvSpPr>
              <a:spLocks noChangeArrowheads="1"/>
            </p:cNvSpPr>
            <p:nvPr/>
          </p:nvSpPr>
          <p:spPr bwMode="auto">
            <a:xfrm>
              <a:off x="1680" y="2688"/>
              <a:ext cx="1584" cy="33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r>
                <a:rPr lang="zh-CN" altLang="en-US">
                  <a:latin typeface="Times New Roman" panose="02020603050405020304" pitchFamily="18" charset="0"/>
                </a:rPr>
                <a:t>          </a:t>
              </a:r>
              <a:r>
                <a:rPr lang="en-US" altLang="zh-CN" sz="2400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          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53265" name="Line 12"/>
            <p:cNvSpPr>
              <a:spLocks noChangeShapeType="1"/>
            </p:cNvSpPr>
            <p:nvPr/>
          </p:nvSpPr>
          <p:spPr bwMode="auto">
            <a:xfrm flipV="1">
              <a:off x="912" y="163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66" name="AutoShape 13"/>
            <p:cNvSpPr>
              <a:spLocks noChangeArrowheads="1"/>
            </p:cNvSpPr>
            <p:nvPr/>
          </p:nvSpPr>
          <p:spPr bwMode="auto">
            <a:xfrm>
              <a:off x="2016" y="1644"/>
              <a:ext cx="144" cy="338"/>
            </a:xfrm>
            <a:prstGeom prst="upArrow">
              <a:avLst>
                <a:gd name="adj1" fmla="val 50000"/>
                <a:gd name="adj2" fmla="val 58681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53267" name="AutoShape 14"/>
            <p:cNvSpPr>
              <a:spLocks noChangeArrowheads="1"/>
            </p:cNvSpPr>
            <p:nvPr/>
          </p:nvSpPr>
          <p:spPr bwMode="auto">
            <a:xfrm rot="10800000">
              <a:off x="2784" y="1632"/>
              <a:ext cx="144" cy="360"/>
            </a:xfrm>
            <a:prstGeom prst="upArrow">
              <a:avLst>
                <a:gd name="adj1" fmla="val 50000"/>
                <a:gd name="adj2" fmla="val 62500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53268" name="AutoShape 15"/>
            <p:cNvSpPr>
              <a:spLocks noChangeArrowheads="1"/>
            </p:cNvSpPr>
            <p:nvPr/>
          </p:nvSpPr>
          <p:spPr bwMode="auto">
            <a:xfrm>
              <a:off x="2400" y="2340"/>
              <a:ext cx="144" cy="338"/>
            </a:xfrm>
            <a:prstGeom prst="upArrow">
              <a:avLst>
                <a:gd name="adj1" fmla="val 50000"/>
                <a:gd name="adj2" fmla="val 58681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53269" name="Line 16"/>
            <p:cNvSpPr>
              <a:spLocks noChangeShapeType="1"/>
            </p:cNvSpPr>
            <p:nvPr/>
          </p:nvSpPr>
          <p:spPr bwMode="auto">
            <a:xfrm flipH="1">
              <a:off x="3264" y="216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70" name="Freeform 17"/>
            <p:cNvSpPr/>
            <p:nvPr/>
          </p:nvSpPr>
          <p:spPr bwMode="auto">
            <a:xfrm>
              <a:off x="2877" y="2160"/>
              <a:ext cx="627" cy="1056"/>
            </a:xfrm>
            <a:custGeom>
              <a:avLst/>
              <a:gdLst>
                <a:gd name="T0" fmla="*/ 627 w 627"/>
                <a:gd name="T1" fmla="*/ 0 h 1056"/>
                <a:gd name="T2" fmla="*/ 627 w 627"/>
                <a:gd name="T3" fmla="*/ 1056 h 1056"/>
                <a:gd name="T4" fmla="*/ 3 w 627"/>
                <a:gd name="T5" fmla="*/ 1056 h 1056"/>
                <a:gd name="T6" fmla="*/ 0 w 627"/>
                <a:gd name="T7" fmla="*/ 873 h 10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7" h="1056">
                  <a:moveTo>
                    <a:pt x="627" y="0"/>
                  </a:moveTo>
                  <a:lnTo>
                    <a:pt x="627" y="1056"/>
                  </a:lnTo>
                  <a:lnTo>
                    <a:pt x="3" y="1056"/>
                  </a:lnTo>
                  <a:lnTo>
                    <a:pt x="0" y="87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oval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71" name="Freeform 18"/>
            <p:cNvSpPr/>
            <p:nvPr/>
          </p:nvSpPr>
          <p:spPr bwMode="auto">
            <a:xfrm>
              <a:off x="4560" y="1104"/>
              <a:ext cx="528" cy="1200"/>
            </a:xfrm>
            <a:custGeom>
              <a:avLst/>
              <a:gdLst>
                <a:gd name="T0" fmla="*/ 0 w 528"/>
                <a:gd name="T1" fmla="*/ 192 h 1200"/>
                <a:gd name="T2" fmla="*/ 0 w 528"/>
                <a:gd name="T3" fmla="*/ 0 h 1200"/>
                <a:gd name="T4" fmla="*/ 528 w 528"/>
                <a:gd name="T5" fmla="*/ 0 h 1200"/>
                <a:gd name="T6" fmla="*/ 528 w 528"/>
                <a:gd name="T7" fmla="*/ 1200 h 1200"/>
                <a:gd name="T8" fmla="*/ 288 w 528"/>
                <a:gd name="T9" fmla="*/ 1200 h 1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8" h="1200">
                  <a:moveTo>
                    <a:pt x="0" y="192"/>
                  </a:moveTo>
                  <a:lnTo>
                    <a:pt x="0" y="0"/>
                  </a:lnTo>
                  <a:lnTo>
                    <a:pt x="528" y="0"/>
                  </a:lnTo>
                  <a:lnTo>
                    <a:pt x="528" y="1200"/>
                  </a:lnTo>
                  <a:lnTo>
                    <a:pt x="288" y="120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272" name="Line 19"/>
            <p:cNvSpPr>
              <a:spLocks noChangeShapeType="1"/>
            </p:cNvSpPr>
            <p:nvPr/>
          </p:nvSpPr>
          <p:spPr bwMode="auto">
            <a:xfrm flipH="1">
              <a:off x="1296" y="2160"/>
              <a:ext cx="38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30132" name="Group 20"/>
          <p:cNvGrpSpPr/>
          <p:nvPr/>
        </p:nvGrpSpPr>
        <p:grpSpPr bwMode="auto">
          <a:xfrm>
            <a:off x="2803525" y="5451475"/>
            <a:ext cx="4056063" cy="990600"/>
            <a:chOff x="806" y="3434"/>
            <a:chExt cx="2555" cy="624"/>
          </a:xfrm>
        </p:grpSpPr>
        <p:sp>
          <p:nvSpPr>
            <p:cNvPr id="53255" name="Text Box 21"/>
            <p:cNvSpPr txBox="1">
              <a:spLocks noChangeArrowheads="1"/>
            </p:cNvSpPr>
            <p:nvPr/>
          </p:nvSpPr>
          <p:spPr bwMode="auto">
            <a:xfrm>
              <a:off x="806" y="3434"/>
              <a:ext cx="14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A、X </a:t>
              </a:r>
              <a:r>
                <a:rPr lang="zh-CN" altLang="en-US" sz="2400">
                  <a:latin typeface="Times New Roman" panose="02020603050405020304" pitchFamily="18" charset="0"/>
                </a:rPr>
                <a:t>均 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r>
                <a:rPr lang="en-US" altLang="zh-CN" sz="2400">
                  <a:latin typeface="Times New Roman" panose="02020603050405020304" pitchFamily="18" charset="0"/>
                </a:rPr>
                <a:t>+1 </a:t>
              </a:r>
              <a:r>
                <a:rPr lang="zh-CN" altLang="en-US" sz="2400">
                  <a:latin typeface="Times New Roman" panose="02020603050405020304" pitchFamily="18" charset="0"/>
                </a:rPr>
                <a:t>位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3256" name="Text Box 22"/>
            <p:cNvSpPr txBox="1">
              <a:spLocks noChangeArrowheads="1"/>
            </p:cNvSpPr>
            <p:nvPr/>
          </p:nvSpPr>
          <p:spPr bwMode="auto">
            <a:xfrm>
              <a:off x="806" y="3770"/>
              <a:ext cx="25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用减法标记 </a:t>
              </a:r>
              <a:r>
                <a:rPr lang="en-US" altLang="zh-CN" sz="2400">
                  <a:latin typeface="Times New Roman" panose="02020603050405020304" pitchFamily="18" charset="0"/>
                </a:rPr>
                <a:t>G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S</a:t>
              </a:r>
              <a:r>
                <a:rPr lang="en-US" altLang="zh-CN" sz="2400">
                  <a:latin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</a:rPr>
                <a:t>控制求补逻辑</a:t>
              </a:r>
              <a:endParaRPr lang="zh-CN" altLang="en-US" sz="2400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25" name="对话气泡: 矩形 24"/>
          <p:cNvSpPr/>
          <p:nvPr/>
        </p:nvSpPr>
        <p:spPr>
          <a:xfrm>
            <a:off x="6637338" y="1223963"/>
            <a:ext cx="1249362" cy="457200"/>
          </a:xfrm>
          <a:prstGeom prst="wedgeRectCallout">
            <a:avLst>
              <a:gd name="adj1" fmla="val 28777"/>
              <a:gd name="adj2" fmla="val 1204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加法标记</a:t>
            </a:r>
            <a:endParaRPr lang="zh-CN" altLang="en-US" dirty="0"/>
          </a:p>
        </p:txBody>
      </p:sp>
      <p:sp>
        <p:nvSpPr>
          <p:cNvPr id="26" name="对话气泡: 矩形 25"/>
          <p:cNvSpPr/>
          <p:nvPr/>
        </p:nvSpPr>
        <p:spPr>
          <a:xfrm>
            <a:off x="8256588" y="1214438"/>
            <a:ext cx="1247775" cy="457200"/>
          </a:xfrm>
          <a:prstGeom prst="wedgeRectCallout">
            <a:avLst>
              <a:gd name="adj1" fmla="val 10467"/>
              <a:gd name="adj2" fmla="val 1296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减法标记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3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1103313" y="212725"/>
            <a:ext cx="2936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三、乘法运算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31139" name="Text Box 3"/>
          <p:cNvSpPr txBox="1">
            <a:spLocks noChangeArrowheads="1"/>
          </p:cNvSpPr>
          <p:nvPr/>
        </p:nvSpPr>
        <p:spPr bwMode="auto">
          <a:xfrm>
            <a:off x="2803525" y="1066800"/>
            <a:ext cx="2682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1. 分析笔算乘法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1140" name="Text Box 4"/>
          <p:cNvSpPr txBox="1">
            <a:spLocks noChangeArrowheads="1"/>
          </p:cNvSpPr>
          <p:nvPr/>
        </p:nvSpPr>
        <p:spPr bwMode="auto">
          <a:xfrm>
            <a:off x="3336925" y="1752600"/>
            <a:ext cx="5730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0.1101      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= 0.1011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1141" name="Text Box 5"/>
          <p:cNvSpPr txBox="1">
            <a:spLocks noChangeArrowheads="1"/>
          </p:cNvSpPr>
          <p:nvPr/>
        </p:nvSpPr>
        <p:spPr bwMode="auto">
          <a:xfrm>
            <a:off x="3336925" y="2362200"/>
            <a:ext cx="3902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 = – 0.10001111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31142" name="Text Box 6"/>
          <p:cNvSpPr txBox="1">
            <a:spLocks noChangeArrowheads="1"/>
          </p:cNvSpPr>
          <p:nvPr/>
        </p:nvSpPr>
        <p:spPr bwMode="auto">
          <a:xfrm>
            <a:off x="2917825" y="2886075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0 . 1 1 0 1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1143" name="Text Box 7"/>
          <p:cNvSpPr txBox="1">
            <a:spLocks noChangeArrowheads="1"/>
          </p:cNvSpPr>
          <p:nvPr/>
        </p:nvSpPr>
        <p:spPr bwMode="auto">
          <a:xfrm>
            <a:off x="2917825" y="3348038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0 . 1 0 1 1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1144" name="Text Box 8"/>
          <p:cNvSpPr txBox="1">
            <a:spLocks noChangeArrowheads="1"/>
          </p:cNvSpPr>
          <p:nvPr/>
        </p:nvSpPr>
        <p:spPr bwMode="auto">
          <a:xfrm>
            <a:off x="3362325" y="3808413"/>
            <a:ext cx="1162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1 1 0 1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1145" name="Text Box 9"/>
          <p:cNvSpPr txBox="1">
            <a:spLocks noChangeArrowheads="1"/>
          </p:cNvSpPr>
          <p:nvPr/>
        </p:nvSpPr>
        <p:spPr bwMode="auto">
          <a:xfrm>
            <a:off x="3105150" y="4270375"/>
            <a:ext cx="1162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1 1 0 1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1146" name="Text Box 10"/>
          <p:cNvSpPr txBox="1">
            <a:spLocks noChangeArrowheads="1"/>
          </p:cNvSpPr>
          <p:nvPr/>
        </p:nvSpPr>
        <p:spPr bwMode="auto">
          <a:xfrm>
            <a:off x="2800350" y="4732338"/>
            <a:ext cx="1162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0 0 0 0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1147" name="Text Box 11"/>
          <p:cNvSpPr txBox="1">
            <a:spLocks noChangeArrowheads="1"/>
          </p:cNvSpPr>
          <p:nvPr/>
        </p:nvSpPr>
        <p:spPr bwMode="auto">
          <a:xfrm>
            <a:off x="2571750" y="5192713"/>
            <a:ext cx="1162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1 1 0 1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1148" name="Text Box 12"/>
          <p:cNvSpPr txBox="1">
            <a:spLocks noChangeArrowheads="1"/>
          </p:cNvSpPr>
          <p:nvPr/>
        </p:nvSpPr>
        <p:spPr bwMode="auto">
          <a:xfrm>
            <a:off x="1851025" y="5653088"/>
            <a:ext cx="2673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0 . 1 0 0 0 1 1 1 1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1149" name="Line 13"/>
          <p:cNvSpPr>
            <a:spLocks noChangeShapeType="1"/>
          </p:cNvSpPr>
          <p:nvPr/>
        </p:nvSpPr>
        <p:spPr bwMode="auto">
          <a:xfrm>
            <a:off x="2514600" y="3886200"/>
            <a:ext cx="2133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1150" name="Line 14"/>
          <p:cNvSpPr>
            <a:spLocks noChangeShapeType="1"/>
          </p:cNvSpPr>
          <p:nvPr/>
        </p:nvSpPr>
        <p:spPr bwMode="auto">
          <a:xfrm>
            <a:off x="1905000" y="5715000"/>
            <a:ext cx="26670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1151" name="Text Box 15"/>
          <p:cNvSpPr txBox="1">
            <a:spLocks noChangeArrowheads="1"/>
          </p:cNvSpPr>
          <p:nvPr/>
        </p:nvSpPr>
        <p:spPr bwMode="auto">
          <a:xfrm>
            <a:off x="5407025" y="3244850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符号位单独处理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1152" name="Text Box 16"/>
          <p:cNvSpPr txBox="1">
            <a:spLocks noChangeArrowheads="1"/>
          </p:cNvSpPr>
          <p:nvPr/>
        </p:nvSpPr>
        <p:spPr bwMode="auto">
          <a:xfrm>
            <a:off x="5407025" y="3935413"/>
            <a:ext cx="5184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乘数的某一位决定是否加被乘数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1153" name="Text Box 17"/>
          <p:cNvSpPr txBox="1">
            <a:spLocks noChangeArrowheads="1"/>
          </p:cNvSpPr>
          <p:nvPr/>
        </p:nvSpPr>
        <p:spPr bwMode="auto">
          <a:xfrm>
            <a:off x="5407025" y="4603750"/>
            <a:ext cx="2951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 4个位积一起相加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31154" name="Text Box 18"/>
          <p:cNvSpPr txBox="1">
            <a:spLocks noChangeArrowheads="1"/>
          </p:cNvSpPr>
          <p:nvPr/>
        </p:nvSpPr>
        <p:spPr bwMode="auto">
          <a:xfrm>
            <a:off x="5407025" y="5272088"/>
            <a:ext cx="3384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乘积的位数扩大一倍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1155" name="Text Box 19"/>
          <p:cNvSpPr txBox="1">
            <a:spLocks noChangeArrowheads="1"/>
          </p:cNvSpPr>
          <p:nvPr/>
        </p:nvSpPr>
        <p:spPr bwMode="auto">
          <a:xfrm>
            <a:off x="2557463" y="3367088"/>
            <a:ext cx="4238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1156" name="Text Box 20"/>
          <p:cNvSpPr txBox="1">
            <a:spLocks noChangeArrowheads="1"/>
          </p:cNvSpPr>
          <p:nvPr/>
        </p:nvSpPr>
        <p:spPr bwMode="auto">
          <a:xfrm>
            <a:off x="6659563" y="2362200"/>
            <a:ext cx="3398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乘积的符号心算求得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1157" name="Text Box 21"/>
          <p:cNvSpPr txBox="1">
            <a:spLocks noChangeArrowheads="1"/>
          </p:cNvSpPr>
          <p:nvPr/>
        </p:nvSpPr>
        <p:spPr bwMode="auto">
          <a:xfrm>
            <a:off x="4937125" y="3267075"/>
            <a:ext cx="552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1158" name="Text Box 22"/>
          <p:cNvSpPr txBox="1">
            <a:spLocks noChangeArrowheads="1"/>
          </p:cNvSpPr>
          <p:nvPr/>
        </p:nvSpPr>
        <p:spPr bwMode="auto">
          <a:xfrm>
            <a:off x="4937125" y="3935413"/>
            <a:ext cx="552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1159" name="Text Box 23"/>
          <p:cNvSpPr txBox="1">
            <a:spLocks noChangeArrowheads="1"/>
          </p:cNvSpPr>
          <p:nvPr/>
        </p:nvSpPr>
        <p:spPr bwMode="auto">
          <a:xfrm>
            <a:off x="4937125" y="5272088"/>
            <a:ext cx="552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1160" name="Text Box 24"/>
          <p:cNvSpPr txBox="1">
            <a:spLocks noChangeArrowheads="1"/>
          </p:cNvSpPr>
          <p:nvPr/>
        </p:nvSpPr>
        <p:spPr bwMode="auto">
          <a:xfrm>
            <a:off x="4937125" y="4603750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？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73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3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3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3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3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500"/>
                                        <p:tgtEl>
                                          <p:spTgt spid="73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3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3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31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31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3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31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31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3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3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3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3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73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39" grpId="0" autoUpdateAnimBg="0"/>
      <p:bldP spid="731140" grpId="0" autoUpdateAnimBg="0"/>
      <p:bldP spid="731141" grpId="0" autoUpdateAnimBg="0"/>
      <p:bldP spid="731142" grpId="0" autoUpdateAnimBg="0"/>
      <p:bldP spid="731143" grpId="0" autoUpdateAnimBg="0"/>
      <p:bldP spid="731144" grpId="0" autoUpdateAnimBg="0"/>
      <p:bldP spid="731145" grpId="0" autoUpdateAnimBg="0"/>
      <p:bldP spid="731146" grpId="0" autoUpdateAnimBg="0"/>
      <p:bldP spid="731147" grpId="0" autoUpdateAnimBg="0"/>
      <p:bldP spid="731148" grpId="0" autoUpdateAnimBg="0"/>
      <p:bldP spid="731151" grpId="0" autoUpdateAnimBg="0"/>
      <p:bldP spid="731152" grpId="0" autoUpdateAnimBg="0"/>
      <p:bldP spid="731153" grpId="0" autoUpdateAnimBg="0"/>
      <p:bldP spid="731154" grpId="0" autoUpdateAnimBg="0"/>
      <p:bldP spid="731155" grpId="0" autoUpdateAnimBg="0"/>
      <p:bldP spid="731156" grpId="0" autoUpdateAnimBg="0"/>
      <p:bldP spid="731157" grpId="0" autoUpdateAnimBg="0"/>
      <p:bldP spid="731158" grpId="0" autoUpdateAnimBg="0"/>
      <p:bldP spid="731159" grpId="0" autoUpdateAnimBg="0"/>
      <p:bldP spid="731160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1395413" y="204788"/>
            <a:ext cx="3394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2. 笔算乘法改进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32163" name="Text Box 3"/>
          <p:cNvSpPr txBox="1">
            <a:spLocks noChangeArrowheads="1"/>
          </p:cNvSpPr>
          <p:nvPr/>
        </p:nvSpPr>
        <p:spPr bwMode="auto">
          <a:xfrm>
            <a:off x="3275013" y="914400"/>
            <a:ext cx="2778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0.1011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2164" name="Text Box 4"/>
          <p:cNvSpPr txBox="1">
            <a:spLocks noChangeArrowheads="1"/>
          </p:cNvSpPr>
          <p:nvPr/>
        </p:nvSpPr>
        <p:spPr bwMode="auto">
          <a:xfrm>
            <a:off x="4094163" y="1524000"/>
            <a:ext cx="5321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0.1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+ 0.00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+ 0.001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+0.0001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732165" name="Text Box 5"/>
          <p:cNvSpPr txBox="1">
            <a:spLocks noChangeArrowheads="1"/>
          </p:cNvSpPr>
          <p:nvPr/>
        </p:nvSpPr>
        <p:spPr bwMode="auto">
          <a:xfrm>
            <a:off x="4110038" y="2133600"/>
            <a:ext cx="5114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0.1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+ 0.00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 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0.001</a:t>
            </a:r>
            <a:r>
              <a:rPr lang="en-US" altLang="zh-CN">
                <a:latin typeface="Times New Roman" panose="02020603050405020304" pitchFamily="18" charset="0"/>
              </a:rPr>
              <a:t>(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+0.1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32166" name="Text Box 6"/>
          <p:cNvSpPr txBox="1">
            <a:spLocks noChangeArrowheads="1"/>
          </p:cNvSpPr>
          <p:nvPr/>
        </p:nvSpPr>
        <p:spPr bwMode="auto">
          <a:xfrm>
            <a:off x="4110038" y="2743200"/>
            <a:ext cx="5530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0.1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 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0.01</a:t>
            </a:r>
            <a:r>
              <a:rPr lang="en-US" altLang="zh-CN">
                <a:latin typeface="Times New Roman" panose="02020603050405020304" pitchFamily="18" charset="0"/>
              </a:rPr>
              <a:t>[0 </a:t>
            </a:r>
            <a:r>
              <a:rPr lang="en-US" altLang="zh-CN" sz="2000">
                <a:latin typeface="Times New Roman" panose="02020603050405020304" pitchFamily="18" charset="0"/>
              </a:rPr>
              <a:t>•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+ 0. 1(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+0.1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)]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32167" name="Text Box 7"/>
          <p:cNvSpPr txBox="1">
            <a:spLocks noChangeArrowheads="1"/>
          </p:cNvSpPr>
          <p:nvPr/>
        </p:nvSpPr>
        <p:spPr bwMode="auto">
          <a:xfrm>
            <a:off x="4110038" y="3352800"/>
            <a:ext cx="5365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0.1</a:t>
            </a:r>
            <a:r>
              <a:rPr lang="zh-CN" altLang="en-US">
                <a:latin typeface="Times New Roman" panose="02020603050405020304" pitchFamily="18" charset="0"/>
              </a:rPr>
              <a:t>{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+0.1[ 0 </a:t>
            </a:r>
            <a:r>
              <a:rPr lang="en-US" altLang="zh-CN" sz="2000">
                <a:latin typeface="Times New Roman" panose="02020603050405020304" pitchFamily="18" charset="0"/>
              </a:rPr>
              <a:t>•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+0.1(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+ 0.1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)]}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32168" name="Text Box 8"/>
          <p:cNvSpPr txBox="1">
            <a:spLocks noChangeArrowheads="1"/>
          </p:cNvSpPr>
          <p:nvPr/>
        </p:nvSpPr>
        <p:spPr bwMode="auto">
          <a:xfrm>
            <a:off x="4110038" y="3962400"/>
            <a:ext cx="5724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=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aseline="45000">
                <a:solidFill>
                  <a:schemeClr val="folHlink"/>
                </a:solidFill>
                <a:latin typeface="Times New Roman" panose="02020603050405020304" pitchFamily="18" charset="0"/>
              </a:rPr>
              <a:t>-1</a:t>
            </a:r>
            <a:r>
              <a:rPr lang="zh-CN" altLang="en-US">
                <a:latin typeface="Times New Roman" panose="02020603050405020304" pitchFamily="18" charset="0"/>
              </a:rPr>
              <a:t>{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baseline="45000">
                <a:solidFill>
                  <a:schemeClr val="folHlink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[ 0 </a:t>
            </a:r>
            <a:r>
              <a:rPr lang="en-US" altLang="zh-CN" sz="2000">
                <a:latin typeface="Times New Roman" panose="02020603050405020304" pitchFamily="18" charset="0"/>
              </a:rPr>
              <a:t>•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baseline="45000">
                <a:solidFill>
                  <a:schemeClr val="folHlink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aseline="45000">
                <a:solidFill>
                  <a:schemeClr val="folHlink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>
                <a:latin typeface="Times New Roman" panose="02020603050405020304" pitchFamily="18" charset="0"/>
              </a:rPr>
              <a:t>0))]}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732169" name="Group 9"/>
          <p:cNvGrpSpPr/>
          <p:nvPr/>
        </p:nvGrpSpPr>
        <p:grpSpPr bwMode="auto">
          <a:xfrm>
            <a:off x="8758238" y="4557713"/>
            <a:ext cx="533400" cy="438150"/>
            <a:chOff x="4750" y="2871"/>
            <a:chExt cx="336" cy="276"/>
          </a:xfrm>
        </p:grpSpPr>
        <p:sp>
          <p:nvSpPr>
            <p:cNvPr id="55325" name="AutoShape 10"/>
            <p:cNvSpPr/>
            <p:nvPr/>
          </p:nvSpPr>
          <p:spPr bwMode="auto">
            <a:xfrm rot="-5400000">
              <a:off x="4894" y="2727"/>
              <a:ext cx="48" cy="336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55326" name="Text Box 11"/>
            <p:cNvSpPr txBox="1">
              <a:spLocks noChangeArrowheads="1"/>
            </p:cNvSpPr>
            <p:nvPr/>
          </p:nvSpPr>
          <p:spPr bwMode="auto">
            <a:xfrm>
              <a:off x="4798" y="2897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①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2172" name="Group 12"/>
          <p:cNvGrpSpPr/>
          <p:nvPr/>
        </p:nvGrpSpPr>
        <p:grpSpPr bwMode="auto">
          <a:xfrm>
            <a:off x="8228013" y="4979988"/>
            <a:ext cx="1143000" cy="431800"/>
            <a:chOff x="4416" y="3127"/>
            <a:chExt cx="720" cy="272"/>
          </a:xfrm>
        </p:grpSpPr>
        <p:sp>
          <p:nvSpPr>
            <p:cNvPr id="55323" name="AutoShape 13"/>
            <p:cNvSpPr/>
            <p:nvPr/>
          </p:nvSpPr>
          <p:spPr bwMode="auto">
            <a:xfrm rot="-5400000">
              <a:off x="4752" y="2791"/>
              <a:ext cx="48" cy="720"/>
            </a:xfrm>
            <a:prstGeom prst="leftBrace">
              <a:avLst>
                <a:gd name="adj1" fmla="val 1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5324" name="Text Box 14"/>
            <p:cNvSpPr txBox="1">
              <a:spLocks noChangeArrowheads="1"/>
            </p:cNvSpPr>
            <p:nvPr/>
          </p:nvSpPr>
          <p:spPr bwMode="auto">
            <a:xfrm>
              <a:off x="4654" y="3149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②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2175" name="Group 15"/>
          <p:cNvGrpSpPr/>
          <p:nvPr/>
        </p:nvGrpSpPr>
        <p:grpSpPr bwMode="auto">
          <a:xfrm>
            <a:off x="4643438" y="6096000"/>
            <a:ext cx="5105400" cy="533400"/>
            <a:chOff x="2158" y="3840"/>
            <a:chExt cx="3216" cy="336"/>
          </a:xfrm>
        </p:grpSpPr>
        <p:sp>
          <p:nvSpPr>
            <p:cNvPr id="55321" name="AutoShape 16"/>
            <p:cNvSpPr/>
            <p:nvPr/>
          </p:nvSpPr>
          <p:spPr bwMode="auto">
            <a:xfrm rot="-5400000">
              <a:off x="3718" y="2280"/>
              <a:ext cx="96" cy="3216"/>
            </a:xfrm>
            <a:prstGeom prst="leftBrace">
              <a:avLst>
                <a:gd name="adj1" fmla="val 279167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5322" name="Text Box 17"/>
            <p:cNvSpPr txBox="1">
              <a:spLocks noChangeArrowheads="1"/>
            </p:cNvSpPr>
            <p:nvPr/>
          </p:nvSpPr>
          <p:spPr bwMode="auto">
            <a:xfrm>
              <a:off x="3646" y="3926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⑧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732178" name="Text Box 18"/>
          <p:cNvSpPr txBox="1">
            <a:spLocks noChangeArrowheads="1"/>
          </p:cNvSpPr>
          <p:nvPr/>
        </p:nvSpPr>
        <p:spPr bwMode="auto">
          <a:xfrm>
            <a:off x="2513013" y="4495800"/>
            <a:ext cx="2897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第一步   被乘数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000">
                <a:latin typeface="Times New Roman" panose="02020603050405020304" pitchFamily="18" charset="0"/>
              </a:rPr>
              <a:t> 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732180" name="Text Box 20"/>
          <p:cNvSpPr txBox="1">
            <a:spLocks noChangeArrowheads="1"/>
          </p:cNvSpPr>
          <p:nvPr/>
        </p:nvSpPr>
        <p:spPr bwMode="auto">
          <a:xfrm>
            <a:off x="2513013" y="4989513"/>
            <a:ext cx="4159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第二步   右移 一 位，得新的部分积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732183" name="Text Box 23"/>
          <p:cNvSpPr txBox="1">
            <a:spLocks noChangeArrowheads="1"/>
          </p:cNvSpPr>
          <p:nvPr/>
        </p:nvSpPr>
        <p:spPr bwMode="auto">
          <a:xfrm>
            <a:off x="2513013" y="6232525"/>
            <a:ext cx="4014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第八步   右移 一 位，得结果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grpSp>
        <p:nvGrpSpPr>
          <p:cNvPr id="732185" name="Group 25"/>
          <p:cNvGrpSpPr/>
          <p:nvPr/>
        </p:nvGrpSpPr>
        <p:grpSpPr bwMode="auto">
          <a:xfrm>
            <a:off x="7466013" y="5394325"/>
            <a:ext cx="2057400" cy="498475"/>
            <a:chOff x="3936" y="3383"/>
            <a:chExt cx="1296" cy="314"/>
          </a:xfrm>
        </p:grpSpPr>
        <p:sp>
          <p:nvSpPr>
            <p:cNvPr id="55319" name="AutoShape 26"/>
            <p:cNvSpPr/>
            <p:nvPr/>
          </p:nvSpPr>
          <p:spPr bwMode="auto">
            <a:xfrm rot="-5400000">
              <a:off x="4536" y="2783"/>
              <a:ext cx="96" cy="1296"/>
            </a:xfrm>
            <a:prstGeom prst="leftBrace">
              <a:avLst>
                <a:gd name="adj1" fmla="val 112500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5320" name="Text Box 27"/>
            <p:cNvSpPr txBox="1">
              <a:spLocks noChangeArrowheads="1"/>
            </p:cNvSpPr>
            <p:nvPr/>
          </p:nvSpPr>
          <p:spPr bwMode="auto">
            <a:xfrm>
              <a:off x="4464" y="3447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③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732188" name="Text Box 28"/>
          <p:cNvSpPr txBox="1">
            <a:spLocks noChangeArrowheads="1"/>
          </p:cNvSpPr>
          <p:nvPr/>
        </p:nvSpPr>
        <p:spPr bwMode="auto">
          <a:xfrm>
            <a:off x="2513013" y="5422900"/>
            <a:ext cx="38115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第三步   部分积</a:t>
            </a: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+</a:t>
            </a: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被乘数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732189" name="Group 29"/>
          <p:cNvGrpSpPr/>
          <p:nvPr/>
        </p:nvGrpSpPr>
        <p:grpSpPr bwMode="auto">
          <a:xfrm>
            <a:off x="2814638" y="5592763"/>
            <a:ext cx="2867025" cy="628650"/>
            <a:chOff x="1814" y="3523"/>
            <a:chExt cx="1806" cy="396"/>
          </a:xfrm>
        </p:grpSpPr>
        <p:sp>
          <p:nvSpPr>
            <p:cNvPr id="55317" name="Text Box 30"/>
            <p:cNvSpPr txBox="1">
              <a:spLocks noChangeArrowheads="1"/>
            </p:cNvSpPr>
            <p:nvPr/>
          </p:nvSpPr>
          <p:spPr bwMode="auto">
            <a:xfrm>
              <a:off x="3504" y="3523"/>
              <a:ext cx="1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5318" name="Text Box 31"/>
            <p:cNvSpPr txBox="1">
              <a:spLocks noChangeArrowheads="1"/>
            </p:cNvSpPr>
            <p:nvPr/>
          </p:nvSpPr>
          <p:spPr bwMode="auto">
            <a:xfrm>
              <a:off x="1814" y="3667"/>
              <a:ext cx="34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2192" name="Group 32"/>
          <p:cNvGrpSpPr/>
          <p:nvPr/>
        </p:nvGrpSpPr>
        <p:grpSpPr bwMode="auto">
          <a:xfrm>
            <a:off x="2438400" y="3479800"/>
            <a:ext cx="2436813" cy="1092200"/>
            <a:chOff x="576" y="2192"/>
            <a:chExt cx="1535" cy="688"/>
          </a:xfrm>
        </p:grpSpPr>
        <p:sp>
          <p:nvSpPr>
            <p:cNvPr id="55315" name="AutoShape 33"/>
            <p:cNvSpPr>
              <a:spLocks noChangeArrowheads="1"/>
            </p:cNvSpPr>
            <p:nvPr/>
          </p:nvSpPr>
          <p:spPr bwMode="auto">
            <a:xfrm>
              <a:off x="576" y="2192"/>
              <a:ext cx="918" cy="322"/>
            </a:xfrm>
            <a:prstGeom prst="wedgeRoundRectCallout">
              <a:avLst>
                <a:gd name="adj1" fmla="val 90185"/>
                <a:gd name="adj2" fmla="val 73926"/>
                <a:gd name="adj3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右移一位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16" name="AutoShape 34"/>
            <p:cNvSpPr>
              <a:spLocks noChangeArrowheads="1"/>
            </p:cNvSpPr>
            <p:nvPr/>
          </p:nvSpPr>
          <p:spPr bwMode="auto">
            <a:xfrm>
              <a:off x="1823" y="2448"/>
              <a:ext cx="288" cy="432"/>
            </a:xfrm>
            <a:prstGeom prst="wedgeRoundRectCallout">
              <a:avLst>
                <a:gd name="adj1" fmla="val -171181"/>
                <a:gd name="adj2" fmla="val -57176"/>
                <a:gd name="adj3" fmla="val 16667"/>
              </a:avLst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3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73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3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73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3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73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3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732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73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3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2163" grpId="0" autoUpdateAnimBg="0"/>
      <p:bldP spid="732164" grpId="0" autoUpdateAnimBg="0"/>
      <p:bldP spid="732165" grpId="0" autoUpdateAnimBg="0"/>
      <p:bldP spid="732166" grpId="0" autoUpdateAnimBg="0"/>
      <p:bldP spid="732167" grpId="0" autoUpdateAnimBg="0"/>
      <p:bldP spid="732168" grpId="0" autoUpdateAnimBg="0"/>
      <p:bldP spid="732178" grpId="0" autoUpdateAnimBg="0"/>
      <p:bldP spid="732180" grpId="0"/>
      <p:bldP spid="732183" grpId="0"/>
      <p:bldP spid="73218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1263650" y="115888"/>
            <a:ext cx="70643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3. 改进后的笔算乘法过程（竖式）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33187" name="Text Box 3"/>
          <p:cNvSpPr txBox="1">
            <a:spLocks noChangeArrowheads="1"/>
          </p:cNvSpPr>
          <p:nvPr/>
        </p:nvSpPr>
        <p:spPr bwMode="auto">
          <a:xfrm>
            <a:off x="2524125" y="1524000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0 . 0 0 0 0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3188" name="Text Box 4"/>
          <p:cNvSpPr txBox="1">
            <a:spLocks noChangeArrowheads="1"/>
          </p:cNvSpPr>
          <p:nvPr/>
        </p:nvSpPr>
        <p:spPr bwMode="auto">
          <a:xfrm>
            <a:off x="2524125" y="1917700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0 . 1 1 0 1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3189" name="Text Box 5"/>
          <p:cNvSpPr txBox="1">
            <a:spLocks noChangeArrowheads="1"/>
          </p:cNvSpPr>
          <p:nvPr/>
        </p:nvSpPr>
        <p:spPr bwMode="auto">
          <a:xfrm>
            <a:off x="2524125" y="2309813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0 . 1 1 0 1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3190" name="Text Box 6"/>
          <p:cNvSpPr txBox="1">
            <a:spLocks noChangeArrowheads="1"/>
          </p:cNvSpPr>
          <p:nvPr/>
        </p:nvSpPr>
        <p:spPr bwMode="auto">
          <a:xfrm>
            <a:off x="2524125" y="3095625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0 . 1 1 0 1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3191" name="Text Box 7"/>
          <p:cNvSpPr txBox="1">
            <a:spLocks noChangeArrowheads="1"/>
          </p:cNvSpPr>
          <p:nvPr/>
        </p:nvSpPr>
        <p:spPr bwMode="auto">
          <a:xfrm>
            <a:off x="2524125" y="4275138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0 . 0 0 0 0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3192" name="Text Box 8"/>
          <p:cNvSpPr txBox="1">
            <a:spLocks noChangeArrowheads="1"/>
          </p:cNvSpPr>
          <p:nvPr/>
        </p:nvSpPr>
        <p:spPr bwMode="auto">
          <a:xfrm>
            <a:off x="2524125" y="5453063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0 . 1 1 0 1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3193" name="Text Box 9"/>
          <p:cNvSpPr txBox="1">
            <a:spLocks noChangeArrowheads="1"/>
          </p:cNvSpPr>
          <p:nvPr/>
        </p:nvSpPr>
        <p:spPr bwMode="auto">
          <a:xfrm>
            <a:off x="7178675" y="1617663"/>
            <a:ext cx="22987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初态，部分积 = 0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733194" name="Text Box 10"/>
          <p:cNvSpPr txBox="1">
            <a:spLocks noChangeArrowheads="1"/>
          </p:cNvSpPr>
          <p:nvPr/>
        </p:nvSpPr>
        <p:spPr bwMode="auto">
          <a:xfrm>
            <a:off x="7178675" y="2011363"/>
            <a:ext cx="26289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乘数为 1，加被乘数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733195" name="Line 11"/>
          <p:cNvSpPr>
            <a:spLocks noChangeShapeType="1"/>
          </p:cNvSpPr>
          <p:nvPr/>
        </p:nvSpPr>
        <p:spPr bwMode="auto">
          <a:xfrm>
            <a:off x="2301875" y="2389188"/>
            <a:ext cx="7694613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3196" name="Line 12"/>
          <p:cNvSpPr>
            <a:spLocks noChangeShapeType="1"/>
          </p:cNvSpPr>
          <p:nvPr/>
        </p:nvSpPr>
        <p:spPr bwMode="auto">
          <a:xfrm>
            <a:off x="2301875" y="3581400"/>
            <a:ext cx="7694613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3197" name="Line 13"/>
          <p:cNvSpPr>
            <a:spLocks noChangeShapeType="1"/>
          </p:cNvSpPr>
          <p:nvPr/>
        </p:nvSpPr>
        <p:spPr bwMode="auto">
          <a:xfrm>
            <a:off x="2301875" y="4724400"/>
            <a:ext cx="7694613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3198" name="Line 14"/>
          <p:cNvSpPr>
            <a:spLocks noChangeShapeType="1"/>
          </p:cNvSpPr>
          <p:nvPr/>
        </p:nvSpPr>
        <p:spPr bwMode="auto">
          <a:xfrm>
            <a:off x="2301875" y="5943600"/>
            <a:ext cx="7694613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3199" name="Text Box 15"/>
          <p:cNvSpPr txBox="1">
            <a:spLocks noChangeArrowheads="1"/>
          </p:cNvSpPr>
          <p:nvPr/>
        </p:nvSpPr>
        <p:spPr bwMode="auto">
          <a:xfrm>
            <a:off x="7178675" y="3119438"/>
            <a:ext cx="26289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乘数为 1，加被乘数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sp>
        <p:nvSpPr>
          <p:cNvPr id="733200" name="Text Box 16"/>
          <p:cNvSpPr txBox="1">
            <a:spLocks noChangeArrowheads="1"/>
          </p:cNvSpPr>
          <p:nvPr/>
        </p:nvSpPr>
        <p:spPr bwMode="auto">
          <a:xfrm>
            <a:off x="7178675" y="4298950"/>
            <a:ext cx="200025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乘数为 0，加 0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grpSp>
        <p:nvGrpSpPr>
          <p:cNvPr id="733201" name="Group 17"/>
          <p:cNvGrpSpPr/>
          <p:nvPr/>
        </p:nvGrpSpPr>
        <p:grpSpPr bwMode="auto">
          <a:xfrm>
            <a:off x="2524125" y="3489325"/>
            <a:ext cx="2730500" cy="519113"/>
            <a:chOff x="764" y="2198"/>
            <a:chExt cx="1720" cy="327"/>
          </a:xfrm>
        </p:grpSpPr>
        <p:sp>
          <p:nvSpPr>
            <p:cNvPr id="57411" name="Text Box 18"/>
            <p:cNvSpPr txBox="1">
              <a:spLocks noChangeArrowheads="1"/>
            </p:cNvSpPr>
            <p:nvPr/>
          </p:nvSpPr>
          <p:spPr bwMode="auto">
            <a:xfrm>
              <a:off x="764" y="2198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1 . 0 0 1 1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7412" name="Text Box 19"/>
            <p:cNvSpPr txBox="1">
              <a:spLocks noChangeArrowheads="1"/>
            </p:cNvSpPr>
            <p:nvPr/>
          </p:nvSpPr>
          <p:spPr bwMode="auto">
            <a:xfrm>
              <a:off x="2256" y="219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3204" name="Group 20"/>
          <p:cNvGrpSpPr/>
          <p:nvPr/>
        </p:nvGrpSpPr>
        <p:grpSpPr bwMode="auto">
          <a:xfrm>
            <a:off x="2524125" y="4667250"/>
            <a:ext cx="2997200" cy="519113"/>
            <a:chOff x="764" y="2940"/>
            <a:chExt cx="1888" cy="327"/>
          </a:xfrm>
        </p:grpSpPr>
        <p:sp>
          <p:nvSpPr>
            <p:cNvPr id="57409" name="Text Box 21"/>
            <p:cNvSpPr txBox="1">
              <a:spLocks noChangeArrowheads="1"/>
            </p:cNvSpPr>
            <p:nvPr/>
          </p:nvSpPr>
          <p:spPr bwMode="auto">
            <a:xfrm>
              <a:off x="764" y="2940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0 . 1 0 0 1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7410" name="Text Box 22"/>
            <p:cNvSpPr txBox="1">
              <a:spLocks noChangeArrowheads="1"/>
            </p:cNvSpPr>
            <p:nvPr/>
          </p:nvSpPr>
          <p:spPr bwMode="auto">
            <a:xfrm>
              <a:off x="2256" y="2940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3207" name="Group 23"/>
          <p:cNvGrpSpPr/>
          <p:nvPr/>
        </p:nvGrpSpPr>
        <p:grpSpPr bwMode="auto">
          <a:xfrm>
            <a:off x="2524125" y="5870575"/>
            <a:ext cx="3263900" cy="519113"/>
            <a:chOff x="764" y="3698"/>
            <a:chExt cx="2056" cy="327"/>
          </a:xfrm>
        </p:grpSpPr>
        <p:sp>
          <p:nvSpPr>
            <p:cNvPr id="57407" name="Text Box 24"/>
            <p:cNvSpPr txBox="1">
              <a:spLocks noChangeArrowheads="1"/>
            </p:cNvSpPr>
            <p:nvPr/>
          </p:nvSpPr>
          <p:spPr bwMode="auto">
            <a:xfrm>
              <a:off x="764" y="3698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1 . 0 0 0 1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7408" name="Text Box 25"/>
            <p:cNvSpPr txBox="1">
              <a:spLocks noChangeArrowheads="1"/>
            </p:cNvSpPr>
            <p:nvPr/>
          </p:nvSpPr>
          <p:spPr bwMode="auto">
            <a:xfrm>
              <a:off x="2256" y="3698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1 1 1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33210" name="Text Box 26"/>
          <p:cNvSpPr txBox="1">
            <a:spLocks noChangeArrowheads="1"/>
          </p:cNvSpPr>
          <p:nvPr/>
        </p:nvSpPr>
        <p:spPr bwMode="auto">
          <a:xfrm>
            <a:off x="7178675" y="5538788"/>
            <a:ext cx="26987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乘数为 1，加 被乘数</a:t>
            </a:r>
            <a:endParaRPr lang="zh-CN" altLang="en-US" sz="2200">
              <a:latin typeface="Times New Roman" panose="02020603050405020304" pitchFamily="18" charset="0"/>
            </a:endParaRPr>
          </a:p>
        </p:txBody>
      </p:sp>
      <p:grpSp>
        <p:nvGrpSpPr>
          <p:cNvPr id="733211" name="Group 27"/>
          <p:cNvGrpSpPr/>
          <p:nvPr/>
        </p:nvGrpSpPr>
        <p:grpSpPr bwMode="auto">
          <a:xfrm>
            <a:off x="2524125" y="6262688"/>
            <a:ext cx="6426200" cy="519112"/>
            <a:chOff x="630" y="3945"/>
            <a:chExt cx="4048" cy="327"/>
          </a:xfrm>
        </p:grpSpPr>
        <p:sp>
          <p:nvSpPr>
            <p:cNvPr id="57402" name="Text Box 28"/>
            <p:cNvSpPr txBox="1">
              <a:spLocks noChangeArrowheads="1"/>
            </p:cNvSpPr>
            <p:nvPr/>
          </p:nvSpPr>
          <p:spPr bwMode="auto">
            <a:xfrm>
              <a:off x="630" y="3945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0 . 1 0 0 0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7403" name="Text Box 29"/>
            <p:cNvSpPr txBox="1">
              <a:spLocks noChangeArrowheads="1"/>
            </p:cNvSpPr>
            <p:nvPr/>
          </p:nvSpPr>
          <p:spPr bwMode="auto">
            <a:xfrm>
              <a:off x="2122" y="3945"/>
              <a:ext cx="7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1 1 1 1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7404" name="Group 30"/>
            <p:cNvGrpSpPr/>
            <p:nvPr/>
          </p:nvGrpSpPr>
          <p:grpSpPr bwMode="auto">
            <a:xfrm>
              <a:off x="3622" y="3945"/>
              <a:ext cx="1056" cy="269"/>
              <a:chOff x="3622" y="3945"/>
              <a:chExt cx="1056" cy="269"/>
            </a:xfrm>
          </p:grpSpPr>
          <p:sp>
            <p:nvSpPr>
              <p:cNvPr id="57405" name="Text Box 31"/>
              <p:cNvSpPr txBox="1">
                <a:spLocks noChangeArrowheads="1"/>
              </p:cNvSpPr>
              <p:nvPr/>
            </p:nvSpPr>
            <p:spPr bwMode="auto">
              <a:xfrm>
                <a:off x="3766" y="3945"/>
                <a:ext cx="912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2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200">
                    <a:latin typeface="Times New Roman" panose="02020603050405020304" pitchFamily="18" charset="0"/>
                  </a:rPr>
                  <a:t>，得结果</a:t>
                </a:r>
                <a:endParaRPr lang="zh-CN" altLang="en-US" sz="2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406" name="Line 32"/>
              <p:cNvSpPr>
                <a:spLocks noChangeShapeType="1"/>
              </p:cNvSpPr>
              <p:nvPr/>
            </p:nvSpPr>
            <p:spPr bwMode="auto">
              <a:xfrm>
                <a:off x="3622" y="408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733217" name="Group 33"/>
          <p:cNvGrpSpPr/>
          <p:nvPr/>
        </p:nvGrpSpPr>
        <p:grpSpPr bwMode="auto">
          <a:xfrm>
            <a:off x="4892675" y="1524000"/>
            <a:ext cx="1225550" cy="738188"/>
            <a:chOff x="2256" y="960"/>
            <a:chExt cx="772" cy="465"/>
          </a:xfrm>
        </p:grpSpPr>
        <p:sp>
          <p:nvSpPr>
            <p:cNvPr id="57400" name="Text Box 34"/>
            <p:cNvSpPr txBox="1">
              <a:spLocks noChangeArrowheads="1"/>
            </p:cNvSpPr>
            <p:nvPr/>
          </p:nvSpPr>
          <p:spPr bwMode="auto">
            <a:xfrm>
              <a:off x="2256" y="960"/>
              <a:ext cx="7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1 0 1 1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401" name="Text Box 35"/>
            <p:cNvSpPr txBox="1">
              <a:spLocks noChangeArrowheads="1"/>
            </p:cNvSpPr>
            <p:nvPr/>
          </p:nvSpPr>
          <p:spPr bwMode="auto">
            <a:xfrm>
              <a:off x="2784" y="1098"/>
              <a:ext cx="2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=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3220" name="Group 36"/>
          <p:cNvGrpSpPr/>
          <p:nvPr/>
        </p:nvGrpSpPr>
        <p:grpSpPr bwMode="auto">
          <a:xfrm>
            <a:off x="2524125" y="2703513"/>
            <a:ext cx="7550150" cy="725487"/>
            <a:chOff x="630" y="1703"/>
            <a:chExt cx="4756" cy="457"/>
          </a:xfrm>
        </p:grpSpPr>
        <p:sp>
          <p:nvSpPr>
            <p:cNvPr id="57393" name="Text Box 37"/>
            <p:cNvSpPr txBox="1">
              <a:spLocks noChangeArrowheads="1"/>
            </p:cNvSpPr>
            <p:nvPr/>
          </p:nvSpPr>
          <p:spPr bwMode="auto">
            <a:xfrm>
              <a:off x="630" y="1703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0 . 0 1 1 0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7394" name="Group 38"/>
            <p:cNvGrpSpPr/>
            <p:nvPr/>
          </p:nvGrpSpPr>
          <p:grpSpPr bwMode="auto">
            <a:xfrm>
              <a:off x="3622" y="1718"/>
              <a:ext cx="1764" cy="269"/>
              <a:chOff x="3622" y="1718"/>
              <a:chExt cx="1764" cy="269"/>
            </a:xfrm>
          </p:grpSpPr>
          <p:sp>
            <p:nvSpPr>
              <p:cNvPr id="57398" name="Text Box 39"/>
              <p:cNvSpPr txBox="1">
                <a:spLocks noChangeArrowheads="1"/>
              </p:cNvSpPr>
              <p:nvPr/>
            </p:nvSpPr>
            <p:spPr bwMode="auto">
              <a:xfrm>
                <a:off x="3766" y="1718"/>
                <a:ext cx="162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2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200">
                    <a:latin typeface="Times New Roman" panose="02020603050405020304" pitchFamily="18" charset="0"/>
                  </a:rPr>
                  <a:t>，形成新的部分积</a:t>
                </a:r>
                <a:endParaRPr lang="zh-CN" altLang="en-US" sz="2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99" name="Line 40"/>
              <p:cNvSpPr>
                <a:spLocks noChangeShapeType="1"/>
              </p:cNvSpPr>
              <p:nvPr/>
            </p:nvSpPr>
            <p:spPr bwMode="auto">
              <a:xfrm>
                <a:off x="3622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57395" name="Group 41"/>
            <p:cNvGrpSpPr/>
            <p:nvPr/>
          </p:nvGrpSpPr>
          <p:grpSpPr bwMode="auto">
            <a:xfrm>
              <a:off x="2122" y="1703"/>
              <a:ext cx="772" cy="457"/>
              <a:chOff x="2122" y="1703"/>
              <a:chExt cx="772" cy="457"/>
            </a:xfrm>
          </p:grpSpPr>
          <p:sp>
            <p:nvSpPr>
              <p:cNvPr id="57396" name="Text Box 42"/>
              <p:cNvSpPr txBox="1">
                <a:spLocks noChangeArrowheads="1"/>
              </p:cNvSpPr>
              <p:nvPr/>
            </p:nvSpPr>
            <p:spPr bwMode="auto">
              <a:xfrm>
                <a:off x="2122" y="1703"/>
                <a:ext cx="7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1 </a:t>
                </a:r>
                <a:r>
                  <a:rPr lang="zh-CN" altLang="en-US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1 0 1</a:t>
                </a:r>
                <a:endPara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97" name="Text Box 43"/>
              <p:cNvSpPr txBox="1">
                <a:spLocks noChangeArrowheads="1"/>
              </p:cNvSpPr>
              <p:nvPr/>
            </p:nvSpPr>
            <p:spPr bwMode="auto">
              <a:xfrm>
                <a:off x="2650" y="1833"/>
                <a:ext cx="24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=</a:t>
                </a:r>
                <a:endPara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33228" name="Group 44"/>
          <p:cNvGrpSpPr/>
          <p:nvPr/>
        </p:nvGrpSpPr>
        <p:grpSpPr bwMode="auto">
          <a:xfrm>
            <a:off x="2524125" y="3881438"/>
            <a:ext cx="7610475" cy="752475"/>
            <a:chOff x="630" y="2445"/>
            <a:chExt cx="4794" cy="474"/>
          </a:xfrm>
        </p:grpSpPr>
        <p:sp>
          <p:nvSpPr>
            <p:cNvPr id="57386" name="Text Box 45"/>
            <p:cNvSpPr txBox="1">
              <a:spLocks noChangeArrowheads="1"/>
            </p:cNvSpPr>
            <p:nvPr/>
          </p:nvSpPr>
          <p:spPr bwMode="auto">
            <a:xfrm>
              <a:off x="630" y="2445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0 . 1 0 0 1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7387" name="Group 46"/>
            <p:cNvGrpSpPr/>
            <p:nvPr/>
          </p:nvGrpSpPr>
          <p:grpSpPr bwMode="auto">
            <a:xfrm>
              <a:off x="3622" y="2489"/>
              <a:ext cx="1802" cy="269"/>
              <a:chOff x="3622" y="2489"/>
              <a:chExt cx="1802" cy="269"/>
            </a:xfrm>
          </p:grpSpPr>
          <p:sp>
            <p:nvSpPr>
              <p:cNvPr id="57391" name="Line 47"/>
              <p:cNvSpPr>
                <a:spLocks noChangeShapeType="1"/>
              </p:cNvSpPr>
              <p:nvPr/>
            </p:nvSpPr>
            <p:spPr bwMode="auto">
              <a:xfrm>
                <a:off x="3622" y="264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7392" name="Text Box 48"/>
              <p:cNvSpPr txBox="1">
                <a:spLocks noChangeArrowheads="1"/>
              </p:cNvSpPr>
              <p:nvPr/>
            </p:nvSpPr>
            <p:spPr bwMode="auto">
              <a:xfrm>
                <a:off x="3804" y="2489"/>
                <a:ext cx="162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2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200">
                    <a:latin typeface="Times New Roman" panose="02020603050405020304" pitchFamily="18" charset="0"/>
                  </a:rPr>
                  <a:t>，形成新的部分积</a:t>
                </a:r>
                <a:endParaRPr lang="zh-CN" altLang="en-US" sz="22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7388" name="Group 49"/>
            <p:cNvGrpSpPr/>
            <p:nvPr/>
          </p:nvGrpSpPr>
          <p:grpSpPr bwMode="auto">
            <a:xfrm>
              <a:off x="2122" y="2445"/>
              <a:ext cx="772" cy="474"/>
              <a:chOff x="2122" y="2445"/>
              <a:chExt cx="772" cy="474"/>
            </a:xfrm>
          </p:grpSpPr>
          <p:sp>
            <p:nvSpPr>
              <p:cNvPr id="57389" name="Text Box 50"/>
              <p:cNvSpPr txBox="1">
                <a:spLocks noChangeArrowheads="1"/>
              </p:cNvSpPr>
              <p:nvPr/>
            </p:nvSpPr>
            <p:spPr bwMode="auto">
              <a:xfrm>
                <a:off x="2122" y="2445"/>
                <a:ext cx="7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1 1 </a:t>
                </a:r>
                <a:r>
                  <a:rPr lang="zh-CN" altLang="en-US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1 0</a:t>
                </a:r>
                <a:endPara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90" name="Text Box 51"/>
              <p:cNvSpPr txBox="1">
                <a:spLocks noChangeArrowheads="1"/>
              </p:cNvSpPr>
              <p:nvPr/>
            </p:nvSpPr>
            <p:spPr bwMode="auto">
              <a:xfrm>
                <a:off x="2650" y="2592"/>
                <a:ext cx="24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=</a:t>
                </a:r>
                <a:endPara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33236" name="Group 52"/>
          <p:cNvGrpSpPr/>
          <p:nvPr/>
        </p:nvGrpSpPr>
        <p:grpSpPr bwMode="auto">
          <a:xfrm>
            <a:off x="2524125" y="5060950"/>
            <a:ext cx="7610475" cy="730250"/>
            <a:chOff x="630" y="3188"/>
            <a:chExt cx="4794" cy="460"/>
          </a:xfrm>
        </p:grpSpPr>
        <p:sp>
          <p:nvSpPr>
            <p:cNvPr id="57379" name="Text Box 53"/>
            <p:cNvSpPr txBox="1">
              <a:spLocks noChangeArrowheads="1"/>
            </p:cNvSpPr>
            <p:nvPr/>
          </p:nvSpPr>
          <p:spPr bwMode="auto">
            <a:xfrm>
              <a:off x="630" y="3188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0 . 0 1 0 0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57380" name="Group 54"/>
            <p:cNvGrpSpPr/>
            <p:nvPr/>
          </p:nvGrpSpPr>
          <p:grpSpPr bwMode="auto">
            <a:xfrm>
              <a:off x="3622" y="3216"/>
              <a:ext cx="1802" cy="269"/>
              <a:chOff x="3622" y="3216"/>
              <a:chExt cx="1802" cy="269"/>
            </a:xfrm>
          </p:grpSpPr>
          <p:sp>
            <p:nvSpPr>
              <p:cNvPr id="57384" name="Line 55"/>
              <p:cNvSpPr>
                <a:spLocks noChangeShapeType="1"/>
              </p:cNvSpPr>
              <p:nvPr/>
            </p:nvSpPr>
            <p:spPr bwMode="auto">
              <a:xfrm>
                <a:off x="3622" y="3367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7385" name="Text Box 56"/>
              <p:cNvSpPr txBox="1">
                <a:spLocks noChangeArrowheads="1"/>
              </p:cNvSpPr>
              <p:nvPr/>
            </p:nvSpPr>
            <p:spPr bwMode="auto">
              <a:xfrm>
                <a:off x="3804" y="3216"/>
                <a:ext cx="162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2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200">
                    <a:latin typeface="Times New Roman" panose="02020603050405020304" pitchFamily="18" charset="0"/>
                  </a:rPr>
                  <a:t>，形成新的部分积</a:t>
                </a:r>
                <a:endParaRPr lang="zh-CN" altLang="en-US" sz="22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7381" name="Group 57"/>
            <p:cNvGrpSpPr/>
            <p:nvPr/>
          </p:nvGrpSpPr>
          <p:grpSpPr bwMode="auto">
            <a:xfrm>
              <a:off x="2122" y="3188"/>
              <a:ext cx="772" cy="460"/>
              <a:chOff x="2122" y="3188"/>
              <a:chExt cx="772" cy="460"/>
            </a:xfrm>
          </p:grpSpPr>
          <p:sp>
            <p:nvSpPr>
              <p:cNvPr id="57382" name="Text Box 58"/>
              <p:cNvSpPr txBox="1">
                <a:spLocks noChangeArrowheads="1"/>
              </p:cNvSpPr>
              <p:nvPr/>
            </p:nvSpPr>
            <p:spPr bwMode="auto">
              <a:xfrm>
                <a:off x="2122" y="3188"/>
                <a:ext cx="7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1 1 1 </a:t>
                </a:r>
                <a:r>
                  <a:rPr lang="zh-CN" altLang="en-US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7383" name="Text Box 59"/>
              <p:cNvSpPr txBox="1">
                <a:spLocks noChangeArrowheads="1"/>
              </p:cNvSpPr>
              <p:nvPr/>
            </p:nvSpPr>
            <p:spPr bwMode="auto">
              <a:xfrm>
                <a:off x="2650" y="3321"/>
                <a:ext cx="24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=</a:t>
                </a:r>
                <a:endPara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33244" name="Group 60"/>
          <p:cNvGrpSpPr/>
          <p:nvPr/>
        </p:nvGrpSpPr>
        <p:grpSpPr bwMode="auto">
          <a:xfrm>
            <a:off x="2133600" y="1066800"/>
            <a:ext cx="7862888" cy="5715000"/>
            <a:chOff x="518" y="672"/>
            <a:chExt cx="4953" cy="3600"/>
          </a:xfrm>
        </p:grpSpPr>
        <p:sp>
          <p:nvSpPr>
            <p:cNvPr id="57375" name="Text Box 61"/>
            <p:cNvSpPr txBox="1">
              <a:spLocks noChangeArrowheads="1"/>
            </p:cNvSpPr>
            <p:nvPr/>
          </p:nvSpPr>
          <p:spPr bwMode="auto">
            <a:xfrm>
              <a:off x="518" y="672"/>
              <a:ext cx="42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     部 分 积             乘 数                       说 明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7376" name="Line 62"/>
            <p:cNvSpPr>
              <a:spLocks noChangeShapeType="1"/>
            </p:cNvSpPr>
            <p:nvPr/>
          </p:nvSpPr>
          <p:spPr bwMode="auto">
            <a:xfrm>
              <a:off x="624" y="1008"/>
              <a:ext cx="48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77" name="Line 63"/>
            <p:cNvSpPr>
              <a:spLocks noChangeShapeType="1"/>
            </p:cNvSpPr>
            <p:nvPr/>
          </p:nvSpPr>
          <p:spPr bwMode="auto">
            <a:xfrm>
              <a:off x="1968" y="672"/>
              <a:ext cx="0" cy="3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7378" name="Line 64"/>
            <p:cNvSpPr>
              <a:spLocks noChangeShapeType="1"/>
            </p:cNvSpPr>
            <p:nvPr/>
          </p:nvSpPr>
          <p:spPr bwMode="auto">
            <a:xfrm>
              <a:off x="3360" y="672"/>
              <a:ext cx="0" cy="3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33251" name="Text Box 67"/>
          <p:cNvSpPr txBox="1">
            <a:spLocks noChangeArrowheads="1"/>
          </p:cNvSpPr>
          <p:nvPr/>
        </p:nvSpPr>
        <p:spPr bwMode="auto">
          <a:xfrm>
            <a:off x="2208213" y="1989138"/>
            <a:ext cx="539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＋</a:t>
            </a: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733252" name="Text Box 68"/>
          <p:cNvSpPr txBox="1">
            <a:spLocks noChangeArrowheads="1"/>
          </p:cNvSpPr>
          <p:nvPr/>
        </p:nvSpPr>
        <p:spPr bwMode="auto">
          <a:xfrm>
            <a:off x="2208213" y="3141663"/>
            <a:ext cx="539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＋</a:t>
            </a: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733253" name="Text Box 69"/>
          <p:cNvSpPr txBox="1">
            <a:spLocks noChangeArrowheads="1"/>
          </p:cNvSpPr>
          <p:nvPr/>
        </p:nvSpPr>
        <p:spPr bwMode="auto">
          <a:xfrm>
            <a:off x="2208213" y="4357688"/>
            <a:ext cx="539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＋</a:t>
            </a: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733254" name="Text Box 70"/>
          <p:cNvSpPr txBox="1">
            <a:spLocks noChangeArrowheads="1"/>
          </p:cNvSpPr>
          <p:nvPr/>
        </p:nvSpPr>
        <p:spPr bwMode="auto">
          <a:xfrm>
            <a:off x="2171700" y="5510213"/>
            <a:ext cx="539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＋</a:t>
            </a:r>
            <a:endParaRPr lang="zh-CN" altLang="en-US" sz="180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33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3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73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3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3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3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3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3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73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3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3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73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73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73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3" dur="500"/>
                                        <p:tgtEl>
                                          <p:spTgt spid="73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73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73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73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73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73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0" dur="500"/>
                                        <p:tgtEl>
                                          <p:spTgt spid="73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73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73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3187" grpId="0" autoUpdateAnimBg="0"/>
      <p:bldP spid="733188" grpId="0" autoUpdateAnimBg="0"/>
      <p:bldP spid="733189" grpId="0" autoUpdateAnimBg="0"/>
      <p:bldP spid="733190" grpId="0" autoUpdateAnimBg="0"/>
      <p:bldP spid="733191" grpId="0" autoUpdateAnimBg="0"/>
      <p:bldP spid="733192" grpId="0" autoUpdateAnimBg="0"/>
      <p:bldP spid="733193" grpId="0" autoUpdateAnimBg="0"/>
      <p:bldP spid="733194" grpId="0" autoUpdateAnimBg="0"/>
      <p:bldP spid="733199" grpId="0" autoUpdateAnimBg="0"/>
      <p:bldP spid="733200" grpId="0" autoUpdateAnimBg="0"/>
      <p:bldP spid="733210" grpId="0" autoUpdateAnimBg="0"/>
      <p:bldP spid="733251" grpId="0"/>
      <p:bldP spid="733252" grpId="0"/>
      <p:bldP spid="733253" grpId="0"/>
      <p:bldP spid="73325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1430338" y="207963"/>
            <a:ext cx="11017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小结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34211" name="Text Box 3"/>
          <p:cNvSpPr txBox="1">
            <a:spLocks noChangeArrowheads="1"/>
          </p:cNvSpPr>
          <p:nvPr/>
        </p:nvSpPr>
        <p:spPr bwMode="auto">
          <a:xfrm>
            <a:off x="1981200" y="4275138"/>
            <a:ext cx="51990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被乘数只与部分积的高位相加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34224" name="Group 16"/>
          <p:cNvGrpSpPr/>
          <p:nvPr/>
        </p:nvGrpSpPr>
        <p:grpSpPr bwMode="auto">
          <a:xfrm>
            <a:off x="1981200" y="2201863"/>
            <a:ext cx="8362950" cy="1820862"/>
            <a:chOff x="288" y="1387"/>
            <a:chExt cx="5268" cy="1147"/>
          </a:xfrm>
        </p:grpSpPr>
        <p:sp>
          <p:nvSpPr>
            <p:cNvPr id="58377" name="Text Box 5"/>
            <p:cNvSpPr txBox="1">
              <a:spLocks noChangeArrowheads="1"/>
            </p:cNvSpPr>
            <p:nvPr/>
          </p:nvSpPr>
          <p:spPr bwMode="auto">
            <a:xfrm>
              <a:off x="288" y="1387"/>
              <a:ext cx="5268" cy="1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35000"/>
                </a:lnSpc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latin typeface="Times New Roman" panose="02020603050405020304" pitchFamily="18" charset="0"/>
                </a:rPr>
                <a:t>由乘数的末位决定被乘数是否与原部分积相加，</a:t>
              </a:r>
              <a:endParaRPr lang="zh-CN" altLang="en-US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35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     然后     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位形成新的部分积</a:t>
              </a:r>
              <a:r>
                <a:rPr lang="zh-CN" altLang="en-US">
                  <a:latin typeface="Times New Roman" panose="02020603050405020304" pitchFamily="18" charset="0"/>
                </a:rPr>
                <a:t>，同时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乘数</a:t>
              </a:r>
              <a:r>
                <a:rPr lang="zh-CN" altLang="en-US">
                  <a:latin typeface="Times New Roman" panose="02020603050405020304" pitchFamily="18" charset="0"/>
                </a:rPr>
                <a:t>      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9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　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位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35000"/>
                </a:lnSpc>
                <a:spcBef>
                  <a:spcPct val="0"/>
                </a:spcBef>
                <a:buFont typeface="Wingdings" panose="05000000000000000000" pitchFamily="2" charset="2"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　（末位移丢），空出高位存放部分积的低位。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58378" name="Line 6"/>
            <p:cNvSpPr>
              <a:spLocks noChangeShapeType="1"/>
            </p:cNvSpPr>
            <p:nvPr/>
          </p:nvSpPr>
          <p:spPr bwMode="auto">
            <a:xfrm>
              <a:off x="1104" y="1988"/>
              <a:ext cx="28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79" name="Line 7"/>
            <p:cNvSpPr>
              <a:spLocks noChangeShapeType="1"/>
            </p:cNvSpPr>
            <p:nvPr/>
          </p:nvSpPr>
          <p:spPr bwMode="auto">
            <a:xfrm>
              <a:off x="4606" y="1988"/>
              <a:ext cx="28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34216" name="Text Box 8"/>
          <p:cNvSpPr txBox="1">
            <a:spLocks noChangeArrowheads="1"/>
          </p:cNvSpPr>
          <p:nvPr/>
        </p:nvSpPr>
        <p:spPr bwMode="auto">
          <a:xfrm>
            <a:off x="2438400" y="518953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硬件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4217" name="Text Box 9"/>
          <p:cNvSpPr txBox="1">
            <a:spLocks noChangeArrowheads="1"/>
          </p:cNvSpPr>
          <p:nvPr/>
        </p:nvSpPr>
        <p:spPr bwMode="auto">
          <a:xfrm>
            <a:off x="3690938" y="5211763"/>
            <a:ext cx="4405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3</a:t>
            </a:r>
            <a:r>
              <a:rPr lang="zh-CN" altLang="en-US" sz="900">
                <a:latin typeface="Times New Roman" panose="02020603050405020304" pitchFamily="18" charset="0"/>
              </a:rPr>
              <a:t>　</a:t>
            </a:r>
            <a:r>
              <a:rPr lang="zh-CN" altLang="en-US">
                <a:latin typeface="Times New Roman" panose="02020603050405020304" pitchFamily="18" charset="0"/>
              </a:rPr>
              <a:t>个寄存器，具有移位功能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4218" name="Text Box 10"/>
          <p:cNvSpPr txBox="1">
            <a:spLocks noChangeArrowheads="1"/>
          </p:cNvSpPr>
          <p:nvPr/>
        </p:nvSpPr>
        <p:spPr bwMode="auto">
          <a:xfrm>
            <a:off x="3690938" y="5883275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</a:t>
            </a:r>
            <a:r>
              <a:rPr lang="zh-CN" altLang="en-US" sz="900">
                <a:latin typeface="Times New Roman" panose="02020603050405020304" pitchFamily="18" charset="0"/>
              </a:rPr>
              <a:t>　</a:t>
            </a:r>
            <a:r>
              <a:rPr lang="zh-CN" altLang="en-US">
                <a:latin typeface="Times New Roman" panose="02020603050405020304" pitchFamily="18" charset="0"/>
              </a:rPr>
              <a:t>个全加器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4221" name="Text Box 13"/>
          <p:cNvSpPr txBox="1">
            <a:spLocks noChangeArrowheads="1"/>
          </p:cNvSpPr>
          <p:nvPr/>
        </p:nvSpPr>
        <p:spPr bwMode="auto">
          <a:xfrm>
            <a:off x="1981200" y="1047750"/>
            <a:ext cx="685165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乘法 </a:t>
            </a:r>
            <a:r>
              <a:rPr lang="zh-CN" altLang="en-US">
                <a:latin typeface="Times New Roman" panose="02020603050405020304" pitchFamily="18" charset="0"/>
              </a:rPr>
              <a:t>运算可用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加和移位实现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i="1">
                <a:solidFill>
                  <a:schemeClr val="folHlink"/>
                </a:solidFill>
                <a:latin typeface="Times New Roman" panose="02020603050405020304" pitchFamily="18" charset="0"/>
              </a:rPr>
              <a:t>　</a:t>
            </a:r>
            <a:r>
              <a:rPr lang="en-US" altLang="zh-CN" i="1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 = 4</a:t>
            </a:r>
            <a:r>
              <a:rPr lang="en-US" altLang="zh-CN">
                <a:latin typeface="Times New Roman" panose="02020603050405020304" pitchFamily="18" charset="0"/>
              </a:rPr>
              <a:t>，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加 4 次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移 4 次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4211" grpId="0" autoUpdateAnimBg="0"/>
      <p:bldP spid="734216" grpId="0" autoUpdateAnimBg="0"/>
      <p:bldP spid="734217" grpId="0" autoUpdateAnimBg="0"/>
      <p:bldP spid="734218" grpId="0" autoUpdateAnimBg="0"/>
      <p:bldP spid="7342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1482725" y="195263"/>
            <a:ext cx="2476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4. 原码乘法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35235" name="Text Box 3"/>
          <p:cNvSpPr txBox="1">
            <a:spLocks noChangeArrowheads="1"/>
          </p:cNvSpPr>
          <p:nvPr/>
        </p:nvSpPr>
        <p:spPr bwMode="auto">
          <a:xfrm>
            <a:off x="2193925" y="990600"/>
            <a:ext cx="4664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(1) 原码一位乘运算规则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5236" name="Text Box 4"/>
          <p:cNvSpPr txBox="1">
            <a:spLocks noChangeArrowheads="1"/>
          </p:cNvSpPr>
          <p:nvPr/>
        </p:nvSpPr>
        <p:spPr bwMode="auto">
          <a:xfrm>
            <a:off x="2727325" y="1533525"/>
            <a:ext cx="1970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以小数为例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35237" name="Group 5"/>
          <p:cNvGrpSpPr/>
          <p:nvPr/>
        </p:nvGrpSpPr>
        <p:grpSpPr bwMode="auto">
          <a:xfrm>
            <a:off x="2955925" y="2098675"/>
            <a:ext cx="4090988" cy="585788"/>
            <a:chOff x="902" y="1322"/>
            <a:chExt cx="2577" cy="369"/>
          </a:xfrm>
        </p:grpSpPr>
        <p:sp>
          <p:nvSpPr>
            <p:cNvPr id="59420" name="Text Box 6"/>
            <p:cNvSpPr txBox="1">
              <a:spLocks noChangeArrowheads="1"/>
            </p:cNvSpPr>
            <p:nvPr/>
          </p:nvSpPr>
          <p:spPr bwMode="auto">
            <a:xfrm>
              <a:off x="902" y="1364"/>
              <a:ext cx="25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设[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sz="2400" baseline="-25000">
                  <a:latin typeface="Times New Roman" panose="02020603050405020304" pitchFamily="18" charset="0"/>
                </a:rPr>
                <a:t>原</a:t>
              </a:r>
              <a:r>
                <a:rPr lang="zh-CN" altLang="en-US">
                  <a:latin typeface="Times New Roman" panose="02020603050405020304" pitchFamily="18" charset="0"/>
                </a:rPr>
                <a:t> =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>
                  <a:latin typeface="Times New Roman" panose="02020603050405020304" pitchFamily="18" charset="0"/>
                </a:rPr>
                <a:t>.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>
                  <a:latin typeface="Times New Roman" panose="02020603050405020304" pitchFamily="18" charset="0"/>
                </a:rPr>
                <a:t>             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n</a:t>
              </a:r>
              <a:endParaRPr lang="en-US" altLang="zh-CN" sz="2400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9421" name="Text Box 7"/>
            <p:cNvSpPr txBox="1">
              <a:spLocks noChangeArrowheads="1"/>
            </p:cNvSpPr>
            <p:nvPr/>
          </p:nvSpPr>
          <p:spPr bwMode="auto">
            <a:xfrm>
              <a:off x="2630" y="1322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 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5240" name="Group 8"/>
          <p:cNvGrpSpPr/>
          <p:nvPr/>
        </p:nvGrpSpPr>
        <p:grpSpPr bwMode="auto">
          <a:xfrm>
            <a:off x="3346450" y="2722563"/>
            <a:ext cx="3632200" cy="519112"/>
            <a:chOff x="1100" y="1715"/>
            <a:chExt cx="2288" cy="327"/>
          </a:xfrm>
        </p:grpSpPr>
        <p:sp>
          <p:nvSpPr>
            <p:cNvPr id="59418" name="Text Box 9"/>
            <p:cNvSpPr txBox="1">
              <a:spLocks noChangeArrowheads="1"/>
            </p:cNvSpPr>
            <p:nvPr/>
          </p:nvSpPr>
          <p:spPr bwMode="auto">
            <a:xfrm>
              <a:off x="1100" y="1715"/>
              <a:ext cx="2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[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sz="2400" baseline="-25000">
                  <a:latin typeface="Times New Roman" panose="02020603050405020304" pitchFamily="18" charset="0"/>
                </a:rPr>
                <a:t>原</a:t>
              </a:r>
              <a:r>
                <a:rPr lang="zh-CN" altLang="en-US">
                  <a:latin typeface="Times New Roman" panose="02020603050405020304" pitchFamily="18" charset="0"/>
                </a:rPr>
                <a:t> =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>
                  <a:latin typeface="Times New Roman" panose="02020603050405020304" pitchFamily="18" charset="0"/>
                </a:rPr>
                <a:t>.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>
                  <a:latin typeface="Times New Roman" panose="02020603050405020304" pitchFamily="18" charset="0"/>
                </a:rPr>
                <a:t>             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n</a:t>
              </a:r>
              <a:endParaRPr lang="en-US" altLang="zh-CN" sz="2400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59419" name="Text Box 10"/>
            <p:cNvSpPr txBox="1">
              <a:spLocks noChangeArrowheads="1"/>
            </p:cNvSpPr>
            <p:nvPr/>
          </p:nvSpPr>
          <p:spPr bwMode="auto">
            <a:xfrm>
              <a:off x="2640" y="1715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5243" name="Group 11"/>
          <p:cNvGrpSpPr/>
          <p:nvPr/>
        </p:nvGrpSpPr>
        <p:grpSpPr bwMode="auto">
          <a:xfrm>
            <a:off x="4052888" y="3886200"/>
            <a:ext cx="3948112" cy="519113"/>
            <a:chOff x="1593" y="2448"/>
            <a:chExt cx="2487" cy="327"/>
          </a:xfrm>
        </p:grpSpPr>
        <p:sp>
          <p:nvSpPr>
            <p:cNvPr id="59416" name="Text Box 12"/>
            <p:cNvSpPr txBox="1">
              <a:spLocks noChangeArrowheads="1"/>
            </p:cNvSpPr>
            <p:nvPr/>
          </p:nvSpPr>
          <p:spPr bwMode="auto">
            <a:xfrm>
              <a:off x="1593" y="2448"/>
              <a:ext cx="24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 (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>
                  <a:latin typeface="Times New Roman" panose="02020603050405020304" pitchFamily="18" charset="0"/>
                </a:rPr>
                <a:t>   </a:t>
              </a:r>
              <a:r>
                <a:rPr lang="en-US" altLang="zh-CN" sz="1800">
                  <a:latin typeface="Times New Roman" panose="02020603050405020304" pitchFamily="18" charset="0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>
                  <a:latin typeface="Times New Roman" panose="02020603050405020304" pitchFamily="18" charset="0"/>
                </a:rPr>
                <a:t>).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*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>
                  <a:latin typeface="Times New Roman" panose="02020603050405020304" pitchFamily="18" charset="0"/>
                </a:rPr>
                <a:t>*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59417" name="AutoShape 13"/>
            <p:cNvSpPr>
              <a:spLocks noChangeArrowheads="1"/>
            </p:cNvSpPr>
            <p:nvPr/>
          </p:nvSpPr>
          <p:spPr bwMode="auto">
            <a:xfrm>
              <a:off x="2095" y="2547"/>
              <a:ext cx="147" cy="147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grpSp>
        <p:nvGrpSpPr>
          <p:cNvPr id="735246" name="Group 14"/>
          <p:cNvGrpSpPr/>
          <p:nvPr/>
        </p:nvGrpSpPr>
        <p:grpSpPr bwMode="auto">
          <a:xfrm>
            <a:off x="2895600" y="3276600"/>
            <a:ext cx="6721475" cy="550863"/>
            <a:chOff x="864" y="2064"/>
            <a:chExt cx="4234" cy="347"/>
          </a:xfrm>
        </p:grpSpPr>
        <p:sp>
          <p:nvSpPr>
            <p:cNvPr id="59411" name="AutoShape 15"/>
            <p:cNvSpPr>
              <a:spLocks noChangeArrowheads="1"/>
            </p:cNvSpPr>
            <p:nvPr/>
          </p:nvSpPr>
          <p:spPr bwMode="auto">
            <a:xfrm>
              <a:off x="2095" y="2183"/>
              <a:ext cx="147" cy="147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grpSp>
          <p:nvGrpSpPr>
            <p:cNvPr id="59412" name="Group 16"/>
            <p:cNvGrpSpPr/>
            <p:nvPr/>
          </p:nvGrpSpPr>
          <p:grpSpPr bwMode="auto">
            <a:xfrm>
              <a:off x="864" y="2064"/>
              <a:ext cx="4234" cy="347"/>
              <a:chOff x="864" y="2064"/>
              <a:chExt cx="4234" cy="347"/>
            </a:xfrm>
          </p:grpSpPr>
          <p:sp>
            <p:nvSpPr>
              <p:cNvPr id="59413" name="Text Box 17"/>
              <p:cNvSpPr txBox="1">
                <a:spLocks noChangeArrowheads="1"/>
              </p:cNvSpPr>
              <p:nvPr/>
            </p:nvSpPr>
            <p:spPr bwMode="auto">
              <a:xfrm>
                <a:off x="864" y="2084"/>
                <a:ext cx="423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</a:rPr>
                  <a:t>[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y</a:t>
                </a:r>
                <a:r>
                  <a:rPr lang="en-US" altLang="zh-CN">
                    <a:latin typeface="Times New Roman" panose="02020603050405020304" pitchFamily="18" charset="0"/>
                  </a:rPr>
                  <a:t>]</a:t>
                </a:r>
                <a:r>
                  <a:rPr lang="zh-CN" altLang="en-US" sz="2400" baseline="-25000">
                    <a:latin typeface="Times New Roman" panose="02020603050405020304" pitchFamily="18" charset="0"/>
                  </a:rPr>
                  <a:t>原</a:t>
                </a:r>
                <a:r>
                  <a:rPr lang="zh-CN" altLang="en-US">
                    <a:latin typeface="Times New Roman" panose="02020603050405020304" pitchFamily="18" charset="0"/>
                  </a:rPr>
                  <a:t> = (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0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    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Times New Roman" panose="02020603050405020304" pitchFamily="18" charset="0"/>
                  </a:rPr>
                  <a:t>).(0.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2 </a:t>
                </a:r>
                <a:r>
                  <a:rPr lang="en-US" altLang="zh-CN">
                    <a:latin typeface="Times New Roman" panose="02020603050405020304" pitchFamily="18" charset="0"/>
                  </a:rPr>
                  <a:t>     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i="1" baseline="-25000">
                    <a:latin typeface="Times New Roman" panose="02020603050405020304" pitchFamily="18" charset="0"/>
                  </a:rPr>
                  <a:t>n</a:t>
                </a:r>
                <a:r>
                  <a:rPr lang="en-US" altLang="zh-CN">
                    <a:latin typeface="Times New Roman" panose="02020603050405020304" pitchFamily="18" charset="0"/>
                  </a:rPr>
                  <a:t>)(0.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>
                    <a:latin typeface="Times New Roman" panose="02020603050405020304" pitchFamily="18" charset="0"/>
                  </a:rPr>
                  <a:t>      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i="1" baseline="-25000">
                    <a:latin typeface="Times New Roman" panose="02020603050405020304" pitchFamily="18" charset="0"/>
                  </a:rPr>
                  <a:t>n</a:t>
                </a:r>
                <a:r>
                  <a:rPr lang="en-US" altLang="zh-CN">
                    <a:latin typeface="Times New Roman" panose="02020603050405020304" pitchFamily="18" charset="0"/>
                  </a:rPr>
                  <a:t>)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9414" name="Text Box 18"/>
              <p:cNvSpPr txBox="1">
                <a:spLocks noChangeArrowheads="1"/>
              </p:cNvSpPr>
              <p:nvPr/>
            </p:nvSpPr>
            <p:spPr bwMode="auto">
              <a:xfrm>
                <a:off x="3195" y="2064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…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9415" name="Text Box 19"/>
              <p:cNvSpPr txBox="1">
                <a:spLocks noChangeArrowheads="1"/>
              </p:cNvSpPr>
              <p:nvPr/>
            </p:nvSpPr>
            <p:spPr bwMode="auto">
              <a:xfrm>
                <a:off x="4443" y="2064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…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35252" name="Group 20"/>
          <p:cNvGrpSpPr/>
          <p:nvPr/>
        </p:nvGrpSpPr>
        <p:grpSpPr bwMode="auto">
          <a:xfrm>
            <a:off x="2819400" y="4357688"/>
            <a:ext cx="6186488" cy="571500"/>
            <a:chOff x="710" y="2745"/>
            <a:chExt cx="3897" cy="360"/>
          </a:xfrm>
        </p:grpSpPr>
        <p:sp>
          <p:nvSpPr>
            <p:cNvPr id="59409" name="Text Box 21"/>
            <p:cNvSpPr txBox="1">
              <a:spLocks noChangeArrowheads="1"/>
            </p:cNvSpPr>
            <p:nvPr/>
          </p:nvSpPr>
          <p:spPr bwMode="auto">
            <a:xfrm>
              <a:off x="710" y="2778"/>
              <a:ext cx="38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式中  </a:t>
              </a: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</a:t>
              </a:r>
              <a:r>
                <a:rPr lang="en-US" altLang="zh-CN">
                  <a:latin typeface="Times New Roman" panose="02020603050405020304" pitchFamily="18" charset="0"/>
                </a:rPr>
                <a:t>= 0.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 </a:t>
              </a:r>
              <a:r>
                <a:rPr lang="en-US" altLang="zh-CN">
                  <a:latin typeface="Times New Roman" panose="02020603050405020304" pitchFamily="18" charset="0"/>
                </a:rPr>
                <a:t>     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n</a:t>
              </a:r>
              <a:r>
                <a:rPr lang="en-US" altLang="zh-CN">
                  <a:latin typeface="Times New Roman" panose="02020603050405020304" pitchFamily="18" charset="0"/>
                </a:rPr>
                <a:t>     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为 </a:t>
              </a: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的绝对值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0" name="Text Box 22"/>
            <p:cNvSpPr txBox="1">
              <a:spLocks noChangeArrowheads="1"/>
            </p:cNvSpPr>
            <p:nvPr/>
          </p:nvSpPr>
          <p:spPr bwMode="auto">
            <a:xfrm>
              <a:off x="2256" y="2745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 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5255" name="Group 23"/>
          <p:cNvGrpSpPr/>
          <p:nvPr/>
        </p:nvGrpSpPr>
        <p:grpSpPr bwMode="auto">
          <a:xfrm>
            <a:off x="3714750" y="4914900"/>
            <a:ext cx="5283200" cy="571500"/>
            <a:chOff x="1292" y="3096"/>
            <a:chExt cx="3328" cy="360"/>
          </a:xfrm>
        </p:grpSpPr>
        <p:sp>
          <p:nvSpPr>
            <p:cNvPr id="59407" name="Text Box 24"/>
            <p:cNvSpPr txBox="1">
              <a:spLocks noChangeArrowheads="1"/>
            </p:cNvSpPr>
            <p:nvPr/>
          </p:nvSpPr>
          <p:spPr bwMode="auto">
            <a:xfrm>
              <a:off x="1292" y="3129"/>
              <a:ext cx="33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</a:t>
              </a:r>
              <a:r>
                <a:rPr lang="en-US" altLang="zh-CN">
                  <a:latin typeface="Times New Roman" panose="02020603050405020304" pitchFamily="18" charset="0"/>
                </a:rPr>
                <a:t>= 0</a:t>
              </a:r>
              <a:r>
                <a:rPr lang="en-US" altLang="en-US">
                  <a:latin typeface="Times New Roman" panose="02020603050405020304" pitchFamily="18" charset="0"/>
                  <a:ea typeface="等线" panose="02010600030101010101" pitchFamily="2" charset="-122"/>
                </a:rPr>
                <a:t>.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 </a:t>
              </a:r>
              <a:r>
                <a:rPr lang="en-US" altLang="zh-CN">
                  <a:latin typeface="Times New Roman" panose="02020603050405020304" pitchFamily="18" charset="0"/>
                </a:rPr>
                <a:t>     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n</a:t>
              </a:r>
              <a:r>
                <a:rPr lang="en-US" altLang="zh-CN">
                  <a:latin typeface="Times New Roman" panose="02020603050405020304" pitchFamily="18" charset="0"/>
                </a:rPr>
                <a:t>      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为 </a:t>
              </a: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的绝对值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08" name="Text Box 25"/>
            <p:cNvSpPr txBox="1">
              <a:spLocks noChangeArrowheads="1"/>
            </p:cNvSpPr>
            <p:nvPr/>
          </p:nvSpPr>
          <p:spPr bwMode="auto">
            <a:xfrm>
              <a:off x="2256" y="3096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 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5258" name="Group 26"/>
          <p:cNvGrpSpPr/>
          <p:nvPr/>
        </p:nvGrpSpPr>
        <p:grpSpPr bwMode="auto">
          <a:xfrm>
            <a:off x="2720975" y="5576888"/>
            <a:ext cx="4722813" cy="519112"/>
            <a:chOff x="754" y="3513"/>
            <a:chExt cx="2975" cy="327"/>
          </a:xfrm>
        </p:grpSpPr>
        <p:sp>
          <p:nvSpPr>
            <p:cNvPr id="59405" name="Text Box 27"/>
            <p:cNvSpPr txBox="1">
              <a:spLocks noChangeArrowheads="1"/>
            </p:cNvSpPr>
            <p:nvPr/>
          </p:nvSpPr>
          <p:spPr bwMode="auto">
            <a:xfrm>
              <a:off x="754" y="3513"/>
              <a:ext cx="29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乘积的符号位单独处理 </a:t>
              </a: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06" name="AutoShape 28"/>
            <p:cNvSpPr>
              <a:spLocks noChangeArrowheads="1"/>
            </p:cNvSpPr>
            <p:nvPr/>
          </p:nvSpPr>
          <p:spPr bwMode="auto">
            <a:xfrm>
              <a:off x="3312" y="3609"/>
              <a:ext cx="147" cy="147"/>
            </a:xfrm>
            <a:prstGeom prst="flowChartOr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sp>
        <p:nvSpPr>
          <p:cNvPr id="735261" name="Text Box 29"/>
          <p:cNvSpPr txBox="1">
            <a:spLocks noChangeArrowheads="1"/>
          </p:cNvSpPr>
          <p:nvPr/>
        </p:nvSpPr>
        <p:spPr bwMode="auto">
          <a:xfrm>
            <a:off x="2720975" y="6162675"/>
            <a:ext cx="480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数值部分为绝对值相乘 </a:t>
            </a:r>
            <a:r>
              <a:rPr lang="en-US" altLang="zh-CN" i="1">
                <a:solidFill>
                  <a:schemeClr val="fol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* 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altLang="zh-CN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5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3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3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3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3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35" grpId="0" autoUpdateAnimBg="0"/>
      <p:bldP spid="735236" grpId="0" autoUpdateAnimBg="0"/>
      <p:bldP spid="735261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1828800" y="381000"/>
            <a:ext cx="579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(2) 原码一位乘递推公式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736259" name="Group 3"/>
          <p:cNvGrpSpPr/>
          <p:nvPr/>
        </p:nvGrpSpPr>
        <p:grpSpPr bwMode="auto">
          <a:xfrm>
            <a:off x="2498725" y="1057275"/>
            <a:ext cx="4664075" cy="519113"/>
            <a:chOff x="614" y="666"/>
            <a:chExt cx="2938" cy="327"/>
          </a:xfrm>
        </p:grpSpPr>
        <p:sp>
          <p:nvSpPr>
            <p:cNvPr id="60442" name="Text Box 4"/>
            <p:cNvSpPr txBox="1">
              <a:spLocks noChangeArrowheads="1"/>
            </p:cNvSpPr>
            <p:nvPr/>
          </p:nvSpPr>
          <p:spPr bwMode="auto">
            <a:xfrm>
              <a:off x="614" y="666"/>
              <a:ext cx="29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*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•</a:t>
              </a:r>
              <a:r>
                <a:rPr lang="en-US" altLang="zh-CN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* = 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*(0.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40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0443" name="Text Box 5"/>
            <p:cNvSpPr txBox="1">
              <a:spLocks noChangeArrowheads="1"/>
            </p:cNvSpPr>
            <p:nvPr/>
          </p:nvSpPr>
          <p:spPr bwMode="auto">
            <a:xfrm>
              <a:off x="2245" y="666"/>
              <a:ext cx="80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6262" name="Group 6"/>
          <p:cNvGrpSpPr/>
          <p:nvPr/>
        </p:nvGrpSpPr>
        <p:grpSpPr bwMode="auto">
          <a:xfrm>
            <a:off x="3422650" y="1725613"/>
            <a:ext cx="5049838" cy="585787"/>
            <a:chOff x="1196" y="1087"/>
            <a:chExt cx="3181" cy="369"/>
          </a:xfrm>
        </p:grpSpPr>
        <p:sp>
          <p:nvSpPr>
            <p:cNvPr id="60440" name="Text Box 7"/>
            <p:cNvSpPr txBox="1">
              <a:spLocks noChangeArrowheads="1"/>
            </p:cNvSpPr>
            <p:nvPr/>
          </p:nvSpPr>
          <p:spPr bwMode="auto">
            <a:xfrm>
              <a:off x="1196" y="1129"/>
              <a:ext cx="31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*(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>
                  <a:latin typeface="Times New Roman" panose="02020603050405020304" pitchFamily="18" charset="0"/>
                </a:rPr>
                <a:t>2</a:t>
              </a:r>
              <a:r>
                <a:rPr lang="en-US" altLang="zh-CN" sz="2400" baseline="45000">
                  <a:latin typeface="Times New Roman" panose="02020603050405020304" pitchFamily="18" charset="0"/>
                </a:rPr>
                <a:t>-1</a:t>
              </a:r>
              <a:r>
                <a:rPr lang="en-US" altLang="zh-CN">
                  <a:latin typeface="Times New Roman" panose="02020603050405020304" pitchFamily="18" charset="0"/>
                </a:rPr>
                <a:t>+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>
                  <a:latin typeface="Times New Roman" panose="02020603050405020304" pitchFamily="18" charset="0"/>
                </a:rPr>
                <a:t>2</a:t>
              </a:r>
              <a:r>
                <a:rPr lang="en-US" altLang="zh-CN" sz="2400" baseline="45000">
                  <a:latin typeface="Times New Roman" panose="02020603050405020304" pitchFamily="18" charset="0"/>
                </a:rPr>
                <a:t>-2</a:t>
              </a:r>
              <a:r>
                <a:rPr lang="en-US" altLang="zh-CN">
                  <a:latin typeface="Times New Roman" panose="02020603050405020304" pitchFamily="18" charset="0"/>
                </a:rPr>
                <a:t>+        +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n</a:t>
              </a:r>
              <a:r>
                <a:rPr lang="en-US" altLang="zh-CN">
                  <a:latin typeface="Times New Roman" panose="02020603050405020304" pitchFamily="18" charset="0"/>
                </a:rPr>
                <a:t>2</a:t>
              </a:r>
              <a:r>
                <a:rPr lang="en-US" altLang="zh-CN" sz="2400" baseline="45000">
                  <a:latin typeface="Times New Roman" panose="02020603050405020304" pitchFamily="18" charset="0"/>
                </a:rPr>
                <a:t>-</a:t>
              </a:r>
              <a:r>
                <a:rPr lang="en-US" altLang="zh-CN" sz="2400" i="1" baseline="45000">
                  <a:latin typeface="Times New Roman" panose="02020603050405020304" pitchFamily="18" charset="0"/>
                </a:rPr>
                <a:t>n</a:t>
              </a:r>
              <a:r>
                <a:rPr lang="en-US" altLang="zh-CN">
                  <a:latin typeface="Times New Roman" panose="02020603050405020304" pitchFamily="18" charset="0"/>
                </a:rPr>
                <a:t>)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0441" name="Text Box 8"/>
            <p:cNvSpPr txBox="1">
              <a:spLocks noChangeArrowheads="1"/>
            </p:cNvSpPr>
            <p:nvPr/>
          </p:nvSpPr>
          <p:spPr bwMode="auto">
            <a:xfrm>
              <a:off x="2835" y="1087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6265" name="Group 9"/>
          <p:cNvGrpSpPr/>
          <p:nvPr/>
        </p:nvGrpSpPr>
        <p:grpSpPr bwMode="auto">
          <a:xfrm>
            <a:off x="3422650" y="2462213"/>
            <a:ext cx="6705600" cy="585787"/>
            <a:chOff x="1196" y="1551"/>
            <a:chExt cx="4224" cy="369"/>
          </a:xfrm>
        </p:grpSpPr>
        <p:sp>
          <p:nvSpPr>
            <p:cNvPr id="60437" name="Text Box 10"/>
            <p:cNvSpPr txBox="1">
              <a:spLocks noChangeArrowheads="1"/>
            </p:cNvSpPr>
            <p:nvPr/>
          </p:nvSpPr>
          <p:spPr bwMode="auto">
            <a:xfrm>
              <a:off x="1196" y="1593"/>
              <a:ext cx="42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 2</a:t>
              </a:r>
              <a:r>
                <a:rPr lang="zh-CN" altLang="en-US" sz="2400" baseline="45000">
                  <a:latin typeface="Times New Roman" panose="02020603050405020304" pitchFamily="18" charset="0"/>
                </a:rPr>
                <a:t>-1</a:t>
              </a:r>
              <a:r>
                <a:rPr lang="zh-CN" altLang="en-US">
                  <a:latin typeface="Times New Roman" panose="02020603050405020304" pitchFamily="18" charset="0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*+2</a:t>
              </a:r>
              <a:r>
                <a:rPr lang="en-US" altLang="zh-CN" sz="2400" baseline="45000">
                  <a:latin typeface="Times New Roman" panose="02020603050405020304" pitchFamily="18" charset="0"/>
                </a:rPr>
                <a:t>-1</a:t>
              </a:r>
              <a:r>
                <a:rPr lang="en-US" altLang="zh-CN">
                  <a:latin typeface="Times New Roman" panose="02020603050405020304" pitchFamily="18" charset="0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*+      2</a:t>
              </a:r>
              <a:r>
                <a:rPr lang="en-US" altLang="zh-CN" sz="2400" baseline="45000">
                  <a:latin typeface="Times New Roman" panose="02020603050405020304" pitchFamily="18" charset="0"/>
                </a:rPr>
                <a:t>-1</a:t>
              </a:r>
              <a:r>
                <a:rPr lang="en-US" altLang="zh-CN">
                  <a:latin typeface="Times New Roman" panose="02020603050405020304" pitchFamily="18" charset="0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n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* + 0)     ))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0438" name="Text Box 11"/>
            <p:cNvSpPr txBox="1">
              <a:spLocks noChangeArrowheads="1"/>
            </p:cNvSpPr>
            <p:nvPr/>
          </p:nvSpPr>
          <p:spPr bwMode="auto">
            <a:xfrm>
              <a:off x="3084" y="1551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0439" name="Text Box 12"/>
            <p:cNvSpPr txBox="1">
              <a:spLocks noChangeArrowheads="1"/>
            </p:cNvSpPr>
            <p:nvPr/>
          </p:nvSpPr>
          <p:spPr bwMode="auto">
            <a:xfrm>
              <a:off x="4514" y="1551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… 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6269" name="Group 13"/>
          <p:cNvGrpSpPr/>
          <p:nvPr/>
        </p:nvGrpSpPr>
        <p:grpSpPr bwMode="auto">
          <a:xfrm>
            <a:off x="7086600" y="3276600"/>
            <a:ext cx="1676400" cy="609600"/>
            <a:chOff x="3504" y="2064"/>
            <a:chExt cx="1056" cy="384"/>
          </a:xfrm>
        </p:grpSpPr>
        <p:sp>
          <p:nvSpPr>
            <p:cNvPr id="60435" name="AutoShape 14"/>
            <p:cNvSpPr/>
            <p:nvPr/>
          </p:nvSpPr>
          <p:spPr bwMode="auto">
            <a:xfrm rot="-5400000">
              <a:off x="3960" y="1608"/>
              <a:ext cx="144" cy="1056"/>
            </a:xfrm>
            <a:prstGeom prst="leftBrace">
              <a:avLst>
                <a:gd name="adj1" fmla="val 61111"/>
                <a:gd name="adj2" fmla="val 50000"/>
              </a:avLst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60436" name="Text Box 15"/>
            <p:cNvSpPr txBox="1">
              <a:spLocks noChangeArrowheads="1"/>
            </p:cNvSpPr>
            <p:nvPr/>
          </p:nvSpPr>
          <p:spPr bwMode="auto">
            <a:xfrm>
              <a:off x="3933" y="2121"/>
              <a:ext cx="26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24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6272" name="Group 16"/>
          <p:cNvGrpSpPr/>
          <p:nvPr/>
        </p:nvGrpSpPr>
        <p:grpSpPr bwMode="auto">
          <a:xfrm>
            <a:off x="3886200" y="3810000"/>
            <a:ext cx="5562600" cy="609600"/>
            <a:chOff x="1488" y="2400"/>
            <a:chExt cx="3504" cy="384"/>
          </a:xfrm>
        </p:grpSpPr>
        <p:sp>
          <p:nvSpPr>
            <p:cNvPr id="60433" name="AutoShape 17"/>
            <p:cNvSpPr/>
            <p:nvPr/>
          </p:nvSpPr>
          <p:spPr bwMode="auto">
            <a:xfrm rot="-5400000">
              <a:off x="3168" y="720"/>
              <a:ext cx="144" cy="3504"/>
            </a:xfrm>
            <a:prstGeom prst="leftBrace">
              <a:avLst>
                <a:gd name="adj1" fmla="val 202778"/>
                <a:gd name="adj2" fmla="val 50000"/>
              </a:avLst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0434" name="Text Box 18"/>
            <p:cNvSpPr txBox="1">
              <a:spLocks noChangeArrowheads="1"/>
            </p:cNvSpPr>
            <p:nvPr/>
          </p:nvSpPr>
          <p:spPr bwMode="auto">
            <a:xfrm>
              <a:off x="3120" y="2457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i="1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i="1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6275" name="Group 19"/>
          <p:cNvGrpSpPr/>
          <p:nvPr/>
        </p:nvGrpSpPr>
        <p:grpSpPr bwMode="auto">
          <a:xfrm>
            <a:off x="2640013" y="4191000"/>
            <a:ext cx="2667000" cy="2286000"/>
            <a:chOff x="703" y="2640"/>
            <a:chExt cx="1680" cy="1440"/>
          </a:xfrm>
        </p:grpSpPr>
        <p:grpSp>
          <p:nvGrpSpPr>
            <p:cNvPr id="60427" name="Group 20"/>
            <p:cNvGrpSpPr/>
            <p:nvPr/>
          </p:nvGrpSpPr>
          <p:grpSpPr bwMode="auto">
            <a:xfrm>
              <a:off x="720" y="2640"/>
              <a:ext cx="1663" cy="1440"/>
              <a:chOff x="720" y="2640"/>
              <a:chExt cx="1663" cy="1440"/>
            </a:xfrm>
          </p:grpSpPr>
          <p:sp>
            <p:nvSpPr>
              <p:cNvPr id="60429" name="Text Box 21"/>
              <p:cNvSpPr txBox="1">
                <a:spLocks noChangeArrowheads="1"/>
              </p:cNvSpPr>
              <p:nvPr/>
            </p:nvSpPr>
            <p:spPr bwMode="auto">
              <a:xfrm>
                <a:off x="720" y="2640"/>
                <a:ext cx="61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i="1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Times New Roman" panose="02020603050405020304" pitchFamily="18" charset="0"/>
                  </a:rPr>
                  <a:t> = 0</a:t>
                </a:r>
                <a:endParaRPr lang="en-US" altLang="zh-CN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430" name="Text Box 22"/>
              <p:cNvSpPr txBox="1">
                <a:spLocks noChangeArrowheads="1"/>
              </p:cNvSpPr>
              <p:nvPr/>
            </p:nvSpPr>
            <p:spPr bwMode="auto">
              <a:xfrm>
                <a:off x="720" y="2909"/>
                <a:ext cx="154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i="1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Times New Roman" panose="02020603050405020304" pitchFamily="18" charset="0"/>
                  </a:rPr>
                  <a:t> = 2</a:t>
                </a:r>
                <a:r>
                  <a:rPr lang="en-US" altLang="zh-CN" sz="2400" baseline="45000">
                    <a:latin typeface="Times New Roman" panose="02020603050405020304" pitchFamily="18" charset="0"/>
                  </a:rPr>
                  <a:t>-1</a:t>
                </a:r>
                <a:r>
                  <a:rPr lang="en-US" altLang="zh-CN">
                    <a:latin typeface="Times New Roman" panose="02020603050405020304" pitchFamily="18" charset="0"/>
                  </a:rPr>
                  <a:t>(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i="1" baseline="-25000">
                    <a:latin typeface="Times New Roman" panose="02020603050405020304" pitchFamily="18" charset="0"/>
                  </a:rPr>
                  <a:t>n</a:t>
                </a:r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*+</a:t>
                </a:r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24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zh-CN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431" name="Text Box 23"/>
              <p:cNvSpPr txBox="1">
                <a:spLocks noChangeArrowheads="1"/>
              </p:cNvSpPr>
              <p:nvPr/>
            </p:nvSpPr>
            <p:spPr bwMode="auto">
              <a:xfrm>
                <a:off x="720" y="3177"/>
                <a:ext cx="165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i="1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2</a:t>
                </a:r>
                <a:r>
                  <a:rPr lang="en-US" altLang="zh-CN">
                    <a:latin typeface="Times New Roman" panose="02020603050405020304" pitchFamily="18" charset="0"/>
                  </a:rPr>
                  <a:t> = 2</a:t>
                </a:r>
                <a:r>
                  <a:rPr lang="en-US" altLang="zh-CN" sz="2400" baseline="45000">
                    <a:latin typeface="Times New Roman" panose="02020603050405020304" pitchFamily="18" charset="0"/>
                  </a:rPr>
                  <a:t>-1</a:t>
                </a:r>
                <a:r>
                  <a:rPr lang="en-US" altLang="zh-CN">
                    <a:latin typeface="Times New Roman" panose="02020603050405020304" pitchFamily="18" charset="0"/>
                  </a:rPr>
                  <a:t>(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i="1" baseline="-2500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-1</a:t>
                </a:r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*+</a:t>
                </a:r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24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zh-CN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432" name="Text Box 24"/>
              <p:cNvSpPr txBox="1">
                <a:spLocks noChangeArrowheads="1"/>
              </p:cNvSpPr>
              <p:nvPr/>
            </p:nvSpPr>
            <p:spPr bwMode="auto">
              <a:xfrm>
                <a:off x="720" y="3753"/>
                <a:ext cx="166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i="1">
                    <a:latin typeface="Times New Roman" panose="02020603050405020304" pitchFamily="18" charset="0"/>
                  </a:rPr>
                  <a:t>z</a:t>
                </a:r>
                <a:r>
                  <a:rPr lang="en-US" altLang="zh-CN" sz="2400" i="1" baseline="-25000">
                    <a:latin typeface="Times New Roman" panose="02020603050405020304" pitchFamily="18" charset="0"/>
                  </a:rPr>
                  <a:t>n</a:t>
                </a:r>
                <a:r>
                  <a:rPr lang="en-US" altLang="zh-CN">
                    <a:latin typeface="Times New Roman" panose="02020603050405020304" pitchFamily="18" charset="0"/>
                  </a:rPr>
                  <a:t> = 2</a:t>
                </a:r>
                <a:r>
                  <a:rPr lang="en-US" altLang="zh-CN" sz="2400" baseline="45000">
                    <a:latin typeface="Times New Roman" panose="02020603050405020304" pitchFamily="18" charset="0"/>
                  </a:rPr>
                  <a:t>-1</a:t>
                </a:r>
                <a:r>
                  <a:rPr lang="en-US" altLang="zh-CN">
                    <a:latin typeface="Times New Roman" panose="02020603050405020304" pitchFamily="18" charset="0"/>
                  </a:rPr>
                  <a:t>(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1</a:t>
                </a:r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*+</a:t>
                </a:r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240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zh-CN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0428" name="Text Box 25"/>
            <p:cNvSpPr txBox="1">
              <a:spLocks noChangeArrowheads="1"/>
            </p:cNvSpPr>
            <p:nvPr/>
          </p:nvSpPr>
          <p:spPr bwMode="auto">
            <a:xfrm>
              <a:off x="703" y="3523"/>
              <a:ext cx="388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36282" name="Text Box 26"/>
          <p:cNvSpPr txBox="1">
            <a:spLocks noChangeArrowheads="1"/>
          </p:cNvSpPr>
          <p:nvPr/>
        </p:nvSpPr>
        <p:spPr bwMode="auto">
          <a:xfrm>
            <a:off x="6383338" y="33528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…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6283" name="Text Box 27"/>
          <p:cNvSpPr txBox="1">
            <a:spLocks noChangeArrowheads="1"/>
          </p:cNvSpPr>
          <p:nvPr/>
        </p:nvSpPr>
        <p:spPr bwMode="auto">
          <a:xfrm>
            <a:off x="8289925" y="2819400"/>
            <a:ext cx="423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solidFill>
                  <a:schemeClr val="folHlink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aseline="-25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73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73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736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3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6282" grpId="0" autoUpdateAnimBg="0"/>
      <p:bldP spid="736283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708025" y="58738"/>
            <a:ext cx="1441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例6.21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37283" name="Text Box 3"/>
          <p:cNvSpPr txBox="1">
            <a:spLocks noChangeArrowheads="1"/>
          </p:cNvSpPr>
          <p:nvPr/>
        </p:nvSpPr>
        <p:spPr bwMode="auto">
          <a:xfrm>
            <a:off x="2698750" y="77788"/>
            <a:ext cx="685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已知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0.1110  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= 0.1101   </a:t>
            </a:r>
            <a:r>
              <a:rPr lang="zh-CN" altLang="en-US">
                <a:latin typeface="Times New Roman" panose="02020603050405020304" pitchFamily="18" charset="0"/>
              </a:rPr>
              <a:t>求[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en-US" altLang="zh-CN" sz="1400">
                <a:latin typeface="Times New Roman" panose="02020603050405020304" pitchFamily="18" charset="0"/>
              </a:rPr>
              <a:t>•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原</a:t>
            </a:r>
            <a:endParaRPr lang="zh-CN" altLang="en-US" sz="2400" baseline="-25000">
              <a:latin typeface="Times New Roman" panose="02020603050405020304" pitchFamily="18" charset="0"/>
            </a:endParaRPr>
          </a:p>
        </p:txBody>
      </p:sp>
      <p:sp>
        <p:nvSpPr>
          <p:cNvPr id="737284" name="Text Box 4"/>
          <p:cNvSpPr txBox="1">
            <a:spLocks noChangeArrowheads="1"/>
          </p:cNvSpPr>
          <p:nvPr/>
        </p:nvSpPr>
        <p:spPr bwMode="auto">
          <a:xfrm>
            <a:off x="2149475" y="8524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7286" name="Text Box 6"/>
          <p:cNvSpPr txBox="1">
            <a:spLocks noChangeArrowheads="1"/>
          </p:cNvSpPr>
          <p:nvPr/>
        </p:nvSpPr>
        <p:spPr bwMode="auto">
          <a:xfrm>
            <a:off x="3276600" y="852488"/>
            <a:ext cx="426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数值部分的运算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7287" name="Text Box 7"/>
          <p:cNvSpPr txBox="1">
            <a:spLocks noChangeArrowheads="1"/>
          </p:cNvSpPr>
          <p:nvPr/>
        </p:nvSpPr>
        <p:spPr bwMode="auto">
          <a:xfrm>
            <a:off x="3032125" y="1600200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0 . 0 0 0 0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7288" name="Text Box 8"/>
          <p:cNvSpPr txBox="1">
            <a:spLocks noChangeArrowheads="1"/>
          </p:cNvSpPr>
          <p:nvPr/>
        </p:nvSpPr>
        <p:spPr bwMode="auto">
          <a:xfrm>
            <a:off x="3032125" y="1985963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0 . 1 1 1 0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7289" name="Text Box 9"/>
          <p:cNvSpPr txBox="1">
            <a:spLocks noChangeArrowheads="1"/>
          </p:cNvSpPr>
          <p:nvPr/>
        </p:nvSpPr>
        <p:spPr bwMode="auto">
          <a:xfrm>
            <a:off x="3032125" y="2371725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0 . 1 1 1 0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7290" name="Text Box 10"/>
          <p:cNvSpPr txBox="1">
            <a:spLocks noChangeArrowheads="1"/>
          </p:cNvSpPr>
          <p:nvPr/>
        </p:nvSpPr>
        <p:spPr bwMode="auto">
          <a:xfrm>
            <a:off x="3032125" y="3141663"/>
            <a:ext cx="1606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0 . 0 0 0 0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7291" name="Text Box 11"/>
          <p:cNvSpPr txBox="1">
            <a:spLocks noChangeArrowheads="1"/>
          </p:cNvSpPr>
          <p:nvPr/>
        </p:nvSpPr>
        <p:spPr bwMode="auto">
          <a:xfrm>
            <a:off x="3032125" y="4298950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0 . 1 1 1 0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7292" name="Text Box 12"/>
          <p:cNvSpPr txBox="1">
            <a:spLocks noChangeArrowheads="1"/>
          </p:cNvSpPr>
          <p:nvPr/>
        </p:nvSpPr>
        <p:spPr bwMode="auto">
          <a:xfrm>
            <a:off x="3032125" y="5454650"/>
            <a:ext cx="1606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0 . 1 1 1 0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7293" name="Text Box 13"/>
          <p:cNvSpPr txBox="1">
            <a:spLocks noChangeArrowheads="1"/>
          </p:cNvSpPr>
          <p:nvPr/>
        </p:nvSpPr>
        <p:spPr bwMode="auto">
          <a:xfrm>
            <a:off x="7239000" y="1549400"/>
            <a:ext cx="2673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部分积  初态 </a:t>
            </a:r>
            <a:r>
              <a:rPr lang="en-US" altLang="zh-CN" i="1">
                <a:latin typeface="Times New Roman" panose="02020603050405020304" pitchFamily="18" charset="0"/>
              </a:rPr>
              <a:t>z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>
                <a:latin typeface="Times New Roman" panose="02020603050405020304" pitchFamily="18" charset="0"/>
              </a:rPr>
              <a:t> = 0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grpSp>
        <p:nvGrpSpPr>
          <p:cNvPr id="737294" name="Group 14"/>
          <p:cNvGrpSpPr/>
          <p:nvPr/>
        </p:nvGrpSpPr>
        <p:grpSpPr bwMode="auto">
          <a:xfrm>
            <a:off x="2590800" y="1066800"/>
            <a:ext cx="7620000" cy="5767388"/>
            <a:chOff x="672" y="672"/>
            <a:chExt cx="4896" cy="3633"/>
          </a:xfrm>
        </p:grpSpPr>
        <p:sp>
          <p:nvSpPr>
            <p:cNvPr id="61506" name="Line 15"/>
            <p:cNvSpPr>
              <a:spLocks noChangeShapeType="1"/>
            </p:cNvSpPr>
            <p:nvPr/>
          </p:nvSpPr>
          <p:spPr bwMode="auto">
            <a:xfrm>
              <a:off x="672" y="1008"/>
              <a:ext cx="48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61507" name="Group 16"/>
            <p:cNvGrpSpPr/>
            <p:nvPr/>
          </p:nvGrpSpPr>
          <p:grpSpPr bwMode="auto">
            <a:xfrm>
              <a:off x="912" y="672"/>
              <a:ext cx="3790" cy="3633"/>
              <a:chOff x="912" y="672"/>
              <a:chExt cx="3790" cy="3633"/>
            </a:xfrm>
          </p:grpSpPr>
          <p:sp>
            <p:nvSpPr>
              <p:cNvPr id="61508" name="Text Box 17"/>
              <p:cNvSpPr txBox="1">
                <a:spLocks noChangeArrowheads="1"/>
              </p:cNvSpPr>
              <p:nvPr/>
            </p:nvSpPr>
            <p:spPr bwMode="auto">
              <a:xfrm>
                <a:off x="912" y="713"/>
                <a:ext cx="379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   部 分 积                乘 数                        说 明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09" name="Line 18"/>
              <p:cNvSpPr>
                <a:spLocks noChangeShapeType="1"/>
              </p:cNvSpPr>
              <p:nvPr/>
            </p:nvSpPr>
            <p:spPr bwMode="auto">
              <a:xfrm>
                <a:off x="2112" y="672"/>
                <a:ext cx="0" cy="363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1510" name="Line 19"/>
              <p:cNvSpPr>
                <a:spLocks noChangeShapeType="1"/>
              </p:cNvSpPr>
              <p:nvPr/>
            </p:nvSpPr>
            <p:spPr bwMode="auto">
              <a:xfrm>
                <a:off x="3504" y="672"/>
                <a:ext cx="0" cy="363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737300" name="Line 20"/>
          <p:cNvSpPr>
            <a:spLocks noChangeShapeType="1"/>
          </p:cNvSpPr>
          <p:nvPr/>
        </p:nvSpPr>
        <p:spPr bwMode="auto">
          <a:xfrm>
            <a:off x="2590800" y="2414588"/>
            <a:ext cx="777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7301" name="Line 21"/>
          <p:cNvSpPr>
            <a:spLocks noChangeShapeType="1"/>
          </p:cNvSpPr>
          <p:nvPr/>
        </p:nvSpPr>
        <p:spPr bwMode="auto">
          <a:xfrm>
            <a:off x="2590800" y="3573463"/>
            <a:ext cx="777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7302" name="Line 22"/>
          <p:cNvSpPr>
            <a:spLocks noChangeShapeType="1"/>
          </p:cNvSpPr>
          <p:nvPr/>
        </p:nvSpPr>
        <p:spPr bwMode="auto">
          <a:xfrm>
            <a:off x="2590800" y="4724400"/>
            <a:ext cx="777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7303" name="Line 23"/>
          <p:cNvSpPr>
            <a:spLocks noChangeShapeType="1"/>
          </p:cNvSpPr>
          <p:nvPr/>
        </p:nvSpPr>
        <p:spPr bwMode="auto">
          <a:xfrm>
            <a:off x="2590800" y="5876925"/>
            <a:ext cx="7772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737304" name="Group 24"/>
          <p:cNvGrpSpPr/>
          <p:nvPr/>
        </p:nvGrpSpPr>
        <p:grpSpPr bwMode="auto">
          <a:xfrm>
            <a:off x="3032125" y="3527425"/>
            <a:ext cx="2644775" cy="519113"/>
            <a:chOff x="950" y="2222"/>
            <a:chExt cx="1666" cy="327"/>
          </a:xfrm>
        </p:grpSpPr>
        <p:sp>
          <p:nvSpPr>
            <p:cNvPr id="61504" name="Text Box 25"/>
            <p:cNvSpPr txBox="1">
              <a:spLocks noChangeArrowheads="1"/>
            </p:cNvSpPr>
            <p:nvPr/>
          </p:nvSpPr>
          <p:spPr bwMode="auto">
            <a:xfrm>
              <a:off x="950" y="2222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0 . 0 1 1 1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1505" name="Text Box 26"/>
            <p:cNvSpPr txBox="1">
              <a:spLocks noChangeArrowheads="1"/>
            </p:cNvSpPr>
            <p:nvPr/>
          </p:nvSpPr>
          <p:spPr bwMode="auto">
            <a:xfrm>
              <a:off x="2388" y="222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7307" name="Group 27"/>
          <p:cNvGrpSpPr/>
          <p:nvPr/>
        </p:nvGrpSpPr>
        <p:grpSpPr bwMode="auto">
          <a:xfrm>
            <a:off x="3048000" y="4648200"/>
            <a:ext cx="2911475" cy="519113"/>
            <a:chOff x="950" y="2950"/>
            <a:chExt cx="1834" cy="327"/>
          </a:xfrm>
        </p:grpSpPr>
        <p:sp>
          <p:nvSpPr>
            <p:cNvPr id="61502" name="Text Box 28"/>
            <p:cNvSpPr txBox="1">
              <a:spLocks noChangeArrowheads="1"/>
            </p:cNvSpPr>
            <p:nvPr/>
          </p:nvSpPr>
          <p:spPr bwMode="auto">
            <a:xfrm>
              <a:off x="950" y="2950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1 . 0 0 0 1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1503" name="Text Box 29"/>
            <p:cNvSpPr txBox="1">
              <a:spLocks noChangeArrowheads="1"/>
            </p:cNvSpPr>
            <p:nvPr/>
          </p:nvSpPr>
          <p:spPr bwMode="auto">
            <a:xfrm>
              <a:off x="2388" y="2950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7310" name="Group 30"/>
          <p:cNvGrpSpPr/>
          <p:nvPr/>
        </p:nvGrpSpPr>
        <p:grpSpPr bwMode="auto">
          <a:xfrm>
            <a:off x="3032125" y="5840413"/>
            <a:ext cx="3178175" cy="519112"/>
            <a:chOff x="950" y="3679"/>
            <a:chExt cx="2002" cy="327"/>
          </a:xfrm>
        </p:grpSpPr>
        <p:sp>
          <p:nvSpPr>
            <p:cNvPr id="61500" name="Text Box 31"/>
            <p:cNvSpPr txBox="1">
              <a:spLocks noChangeArrowheads="1"/>
            </p:cNvSpPr>
            <p:nvPr/>
          </p:nvSpPr>
          <p:spPr bwMode="auto">
            <a:xfrm>
              <a:off x="950" y="3679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1 . 0 1 1 0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1501" name="Text Box 32"/>
            <p:cNvSpPr txBox="1">
              <a:spLocks noChangeArrowheads="1"/>
            </p:cNvSpPr>
            <p:nvPr/>
          </p:nvSpPr>
          <p:spPr bwMode="auto">
            <a:xfrm>
              <a:off x="2388" y="3679"/>
              <a:ext cx="5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1 1 0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7360" name="Group 80"/>
          <p:cNvGrpSpPr/>
          <p:nvPr/>
        </p:nvGrpSpPr>
        <p:grpSpPr bwMode="auto">
          <a:xfrm>
            <a:off x="3032125" y="6186488"/>
            <a:ext cx="6280150" cy="557212"/>
            <a:chOff x="950" y="3897"/>
            <a:chExt cx="3956" cy="351"/>
          </a:xfrm>
        </p:grpSpPr>
        <p:sp>
          <p:nvSpPr>
            <p:cNvPr id="61495" name="Text Box 34"/>
            <p:cNvSpPr txBox="1">
              <a:spLocks noChangeArrowheads="1"/>
            </p:cNvSpPr>
            <p:nvPr/>
          </p:nvSpPr>
          <p:spPr bwMode="auto">
            <a:xfrm>
              <a:off x="950" y="3921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0 . 1 0 1 1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1496" name="Text Box 35"/>
            <p:cNvSpPr txBox="1">
              <a:spLocks noChangeArrowheads="1"/>
            </p:cNvSpPr>
            <p:nvPr/>
          </p:nvSpPr>
          <p:spPr bwMode="auto">
            <a:xfrm>
              <a:off x="2388" y="3921"/>
              <a:ext cx="7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0 1 1 0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61497" name="Group 79"/>
            <p:cNvGrpSpPr/>
            <p:nvPr/>
          </p:nvGrpSpPr>
          <p:grpSpPr bwMode="auto">
            <a:xfrm>
              <a:off x="3805" y="3897"/>
              <a:ext cx="1101" cy="327"/>
              <a:chOff x="3805" y="3897"/>
              <a:chExt cx="1101" cy="327"/>
            </a:xfrm>
          </p:grpSpPr>
          <p:sp>
            <p:nvSpPr>
              <p:cNvPr id="61498" name="Text Box 37"/>
              <p:cNvSpPr txBox="1">
                <a:spLocks noChangeArrowheads="1"/>
              </p:cNvSpPr>
              <p:nvPr/>
            </p:nvSpPr>
            <p:spPr bwMode="auto">
              <a:xfrm>
                <a:off x="4041" y="3897"/>
                <a:ext cx="86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>
                    <a:latin typeface="Times New Roman" panose="02020603050405020304" pitchFamily="18" charset="0"/>
                  </a:rPr>
                  <a:t>，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得</a:t>
                </a:r>
                <a:r>
                  <a:rPr lang="zh-CN" altLang="en-US">
                    <a:latin typeface="Times New Roman" panose="02020603050405020304" pitchFamily="18" charset="0"/>
                  </a:rPr>
                  <a:t>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z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4</a:t>
                </a:r>
                <a:endParaRPr lang="en-US" altLang="zh-CN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499" name="Line 38"/>
              <p:cNvSpPr>
                <a:spLocks noChangeShapeType="1"/>
              </p:cNvSpPr>
              <p:nvPr/>
            </p:nvSpPr>
            <p:spPr bwMode="auto">
              <a:xfrm>
                <a:off x="3805" y="4047"/>
                <a:ext cx="247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737319" name="AutoShape 39"/>
          <p:cNvSpPr>
            <a:spLocks noChangeArrowheads="1"/>
          </p:cNvSpPr>
          <p:nvPr/>
        </p:nvSpPr>
        <p:spPr bwMode="auto">
          <a:xfrm>
            <a:off x="1631950" y="4972050"/>
            <a:ext cx="1246188" cy="442913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逻辑右移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37321" name="Text Box 41"/>
          <p:cNvSpPr txBox="1">
            <a:spLocks noChangeArrowheads="1"/>
          </p:cNvSpPr>
          <p:nvPr/>
        </p:nvSpPr>
        <p:spPr bwMode="auto">
          <a:xfrm>
            <a:off x="5334000" y="1600200"/>
            <a:ext cx="11620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1 1 0 1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22" name="Text Box 42"/>
          <p:cNvSpPr txBox="1">
            <a:spLocks noChangeArrowheads="1"/>
          </p:cNvSpPr>
          <p:nvPr/>
        </p:nvSpPr>
        <p:spPr bwMode="auto">
          <a:xfrm>
            <a:off x="6129338" y="1828800"/>
            <a:ext cx="38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=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37356" name="Group 76"/>
          <p:cNvGrpSpPr/>
          <p:nvPr/>
        </p:nvGrpSpPr>
        <p:grpSpPr bwMode="auto">
          <a:xfrm>
            <a:off x="3032125" y="2757488"/>
            <a:ext cx="6230938" cy="519112"/>
            <a:chOff x="950" y="1737"/>
            <a:chExt cx="3925" cy="327"/>
          </a:xfrm>
        </p:grpSpPr>
        <p:sp>
          <p:nvSpPr>
            <p:cNvPr id="61490" name="Text Box 44"/>
            <p:cNvSpPr txBox="1">
              <a:spLocks noChangeArrowheads="1"/>
            </p:cNvSpPr>
            <p:nvPr/>
          </p:nvSpPr>
          <p:spPr bwMode="auto">
            <a:xfrm>
              <a:off x="950" y="1737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0 . 0 1 1 1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61491" name="Group 75"/>
            <p:cNvGrpSpPr/>
            <p:nvPr/>
          </p:nvGrpSpPr>
          <p:grpSpPr bwMode="auto">
            <a:xfrm>
              <a:off x="2388" y="1737"/>
              <a:ext cx="2487" cy="327"/>
              <a:chOff x="2388" y="1737"/>
              <a:chExt cx="2487" cy="327"/>
            </a:xfrm>
          </p:grpSpPr>
          <p:sp>
            <p:nvSpPr>
              <p:cNvPr id="61492" name="Text Box 45"/>
              <p:cNvSpPr txBox="1">
                <a:spLocks noChangeArrowheads="1"/>
              </p:cNvSpPr>
              <p:nvPr/>
            </p:nvSpPr>
            <p:spPr bwMode="auto">
              <a:xfrm>
                <a:off x="4010" y="1737"/>
                <a:ext cx="86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zh-CN" altLang="en-US">
                    <a:latin typeface="Times New Roman" panose="02020603050405020304" pitchFamily="18" charset="0"/>
                  </a:rPr>
                  <a:t>，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得</a:t>
                </a:r>
                <a:r>
                  <a:rPr lang="zh-CN" altLang="en-US">
                    <a:latin typeface="Times New Roman" panose="02020603050405020304" pitchFamily="18" charset="0"/>
                  </a:rPr>
                  <a:t>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z</a:t>
                </a:r>
                <a:r>
                  <a:rPr lang="en-US" altLang="zh-CN" baseline="-25000">
                    <a:latin typeface="Times New Roman" panose="02020603050405020304" pitchFamily="18" charset="0"/>
                  </a:rPr>
                  <a:t>1</a:t>
                </a:r>
                <a:endParaRPr lang="en-US" altLang="zh-CN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493" name="Line 46"/>
              <p:cNvSpPr>
                <a:spLocks noChangeShapeType="1"/>
              </p:cNvSpPr>
              <p:nvPr/>
            </p:nvSpPr>
            <p:spPr bwMode="auto">
              <a:xfrm>
                <a:off x="3792" y="1887"/>
                <a:ext cx="247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1494" name="Text Box 47"/>
              <p:cNvSpPr txBox="1">
                <a:spLocks noChangeArrowheads="1"/>
              </p:cNvSpPr>
              <p:nvPr/>
            </p:nvSpPr>
            <p:spPr bwMode="auto">
              <a:xfrm>
                <a:off x="2388" y="1737"/>
                <a:ext cx="7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0 </a:t>
                </a:r>
                <a:r>
                  <a:rPr lang="zh-CN" altLang="en-US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1 1 0</a:t>
                </a:r>
                <a:endPara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37328" name="Text Box 48"/>
          <p:cNvSpPr txBox="1">
            <a:spLocks noChangeArrowheads="1"/>
          </p:cNvSpPr>
          <p:nvPr/>
        </p:nvSpPr>
        <p:spPr bwMode="auto">
          <a:xfrm>
            <a:off x="6129338" y="2986088"/>
            <a:ext cx="387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=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37357" name="Group 77"/>
          <p:cNvGrpSpPr/>
          <p:nvPr/>
        </p:nvGrpSpPr>
        <p:grpSpPr bwMode="auto">
          <a:xfrm>
            <a:off x="3032125" y="3913188"/>
            <a:ext cx="6230938" cy="568325"/>
            <a:chOff x="950" y="2465"/>
            <a:chExt cx="3925" cy="358"/>
          </a:xfrm>
        </p:grpSpPr>
        <p:sp>
          <p:nvSpPr>
            <p:cNvPr id="61486" name="Text Box 50"/>
            <p:cNvSpPr txBox="1">
              <a:spLocks noChangeArrowheads="1"/>
            </p:cNvSpPr>
            <p:nvPr/>
          </p:nvSpPr>
          <p:spPr bwMode="auto">
            <a:xfrm>
              <a:off x="950" y="2465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0 . 0 0 1 1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1487" name="Text Box 52"/>
            <p:cNvSpPr txBox="1">
              <a:spLocks noChangeArrowheads="1"/>
            </p:cNvSpPr>
            <p:nvPr/>
          </p:nvSpPr>
          <p:spPr bwMode="auto">
            <a:xfrm>
              <a:off x="4010" y="2496"/>
              <a:ext cx="8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>
                  <a:latin typeface="Times New Roman" panose="02020603050405020304" pitchFamily="18" charset="0"/>
                </a:rPr>
                <a:t>，</a:t>
              </a:r>
              <a:r>
                <a:rPr lang="zh-CN" altLang="en-US" sz="2400">
                  <a:latin typeface="Times New Roman" panose="02020603050405020304" pitchFamily="18" charset="0"/>
                </a:rPr>
                <a:t>得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1488" name="Line 53"/>
            <p:cNvSpPr>
              <a:spLocks noChangeShapeType="1"/>
            </p:cNvSpPr>
            <p:nvPr/>
          </p:nvSpPr>
          <p:spPr bwMode="auto">
            <a:xfrm>
              <a:off x="3792" y="2646"/>
              <a:ext cx="247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89" name="Text Box 55"/>
            <p:cNvSpPr txBox="1">
              <a:spLocks noChangeArrowheads="1"/>
            </p:cNvSpPr>
            <p:nvPr/>
          </p:nvSpPr>
          <p:spPr bwMode="auto">
            <a:xfrm>
              <a:off x="2388" y="2465"/>
              <a:ext cx="7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1 0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1 1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37336" name="Text Box 56"/>
          <p:cNvSpPr txBox="1">
            <a:spLocks noChangeArrowheads="1"/>
          </p:cNvSpPr>
          <p:nvPr/>
        </p:nvSpPr>
        <p:spPr bwMode="auto">
          <a:xfrm>
            <a:off x="6129338" y="4129088"/>
            <a:ext cx="387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=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37358" name="Group 78"/>
          <p:cNvGrpSpPr/>
          <p:nvPr/>
        </p:nvGrpSpPr>
        <p:grpSpPr bwMode="auto">
          <a:xfrm>
            <a:off x="3032125" y="5068888"/>
            <a:ext cx="6280150" cy="569912"/>
            <a:chOff x="950" y="3193"/>
            <a:chExt cx="3956" cy="359"/>
          </a:xfrm>
        </p:grpSpPr>
        <p:sp>
          <p:nvSpPr>
            <p:cNvPr id="61482" name="Text Box 58"/>
            <p:cNvSpPr txBox="1">
              <a:spLocks noChangeArrowheads="1"/>
            </p:cNvSpPr>
            <p:nvPr/>
          </p:nvSpPr>
          <p:spPr bwMode="auto">
            <a:xfrm>
              <a:off x="950" y="3193"/>
              <a:ext cx="10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0 . 1 0 0 0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1483" name="Text Box 59"/>
            <p:cNvSpPr txBox="1">
              <a:spLocks noChangeArrowheads="1"/>
            </p:cNvSpPr>
            <p:nvPr/>
          </p:nvSpPr>
          <p:spPr bwMode="auto">
            <a:xfrm>
              <a:off x="4041" y="3225"/>
              <a:ext cx="8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>
                  <a:latin typeface="Times New Roman" panose="02020603050405020304" pitchFamily="18" charset="0"/>
                </a:rPr>
                <a:t>，</a:t>
              </a:r>
              <a:r>
                <a:rPr lang="zh-CN" altLang="en-US" sz="2400">
                  <a:latin typeface="Times New Roman" panose="02020603050405020304" pitchFamily="18" charset="0"/>
                </a:rPr>
                <a:t>得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z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3</a:t>
              </a:r>
              <a:endParaRPr lang="en-US" altLang="zh-CN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1484" name="Line 60"/>
            <p:cNvSpPr>
              <a:spLocks noChangeShapeType="1"/>
            </p:cNvSpPr>
            <p:nvPr/>
          </p:nvSpPr>
          <p:spPr bwMode="auto">
            <a:xfrm>
              <a:off x="3805" y="3375"/>
              <a:ext cx="247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85" name="Text Box 61"/>
            <p:cNvSpPr txBox="1">
              <a:spLocks noChangeArrowheads="1"/>
            </p:cNvSpPr>
            <p:nvPr/>
          </p:nvSpPr>
          <p:spPr bwMode="auto">
            <a:xfrm>
              <a:off x="2388" y="3193"/>
              <a:ext cx="7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1 1 0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37342" name="Text Box 62"/>
          <p:cNvSpPr txBox="1">
            <a:spLocks noChangeArrowheads="1"/>
          </p:cNvSpPr>
          <p:nvPr/>
        </p:nvSpPr>
        <p:spPr bwMode="auto">
          <a:xfrm>
            <a:off x="6129338" y="5272088"/>
            <a:ext cx="387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=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43" name="AutoShape 63"/>
          <p:cNvSpPr>
            <a:spLocks noChangeArrowheads="1"/>
          </p:cNvSpPr>
          <p:nvPr/>
        </p:nvSpPr>
        <p:spPr bwMode="auto">
          <a:xfrm>
            <a:off x="1631950" y="3808413"/>
            <a:ext cx="1246188" cy="442912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逻辑右移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37344" name="AutoShape 64"/>
          <p:cNvSpPr>
            <a:spLocks noChangeArrowheads="1"/>
          </p:cNvSpPr>
          <p:nvPr/>
        </p:nvSpPr>
        <p:spPr bwMode="auto">
          <a:xfrm>
            <a:off x="1631950" y="2670175"/>
            <a:ext cx="1246188" cy="442913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逻辑右移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37345" name="AutoShape 65"/>
          <p:cNvSpPr>
            <a:spLocks noChangeArrowheads="1"/>
          </p:cNvSpPr>
          <p:nvPr/>
        </p:nvSpPr>
        <p:spPr bwMode="auto">
          <a:xfrm>
            <a:off x="1631950" y="6127750"/>
            <a:ext cx="1246188" cy="442913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逻辑右移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37347" name="Text Box 67"/>
          <p:cNvSpPr txBox="1">
            <a:spLocks noChangeArrowheads="1"/>
          </p:cNvSpPr>
          <p:nvPr/>
        </p:nvSpPr>
        <p:spPr bwMode="auto">
          <a:xfrm>
            <a:off x="2711450" y="19891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+</a:t>
            </a:r>
            <a:endParaRPr lang="en-US" altLang="zh-CN" sz="2400">
              <a:latin typeface="等线" panose="02010600030101010101" pitchFamily="2" charset="-122"/>
            </a:endParaRPr>
          </a:p>
        </p:txBody>
      </p:sp>
      <p:sp>
        <p:nvSpPr>
          <p:cNvPr id="737348" name="Text Box 68"/>
          <p:cNvSpPr txBox="1">
            <a:spLocks noChangeArrowheads="1"/>
          </p:cNvSpPr>
          <p:nvPr/>
        </p:nvSpPr>
        <p:spPr bwMode="auto">
          <a:xfrm>
            <a:off x="2711450" y="3141663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+</a:t>
            </a:r>
            <a:endParaRPr lang="en-US" altLang="zh-CN" sz="2400">
              <a:latin typeface="等线" panose="02010600030101010101" pitchFamily="2" charset="-122"/>
            </a:endParaRPr>
          </a:p>
        </p:txBody>
      </p:sp>
      <p:sp>
        <p:nvSpPr>
          <p:cNvPr id="737349" name="Text Box 69"/>
          <p:cNvSpPr txBox="1">
            <a:spLocks noChangeArrowheads="1"/>
          </p:cNvSpPr>
          <p:nvPr/>
        </p:nvSpPr>
        <p:spPr bwMode="auto">
          <a:xfrm>
            <a:off x="2711450" y="4292600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+</a:t>
            </a:r>
            <a:endParaRPr lang="en-US" altLang="zh-CN" sz="2400">
              <a:latin typeface="等线" panose="02010600030101010101" pitchFamily="2" charset="-122"/>
            </a:endParaRPr>
          </a:p>
        </p:txBody>
      </p:sp>
      <p:sp>
        <p:nvSpPr>
          <p:cNvPr id="737350" name="Text Box 70"/>
          <p:cNvSpPr txBox="1">
            <a:spLocks noChangeArrowheads="1"/>
          </p:cNvSpPr>
          <p:nvPr/>
        </p:nvSpPr>
        <p:spPr bwMode="auto">
          <a:xfrm>
            <a:off x="2711450" y="5445125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+</a:t>
            </a:r>
            <a:endParaRPr lang="en-US" altLang="zh-CN" sz="2400">
              <a:latin typeface="等线" panose="02010600030101010101" pitchFamily="2" charset="-122"/>
            </a:endParaRPr>
          </a:p>
        </p:txBody>
      </p:sp>
      <p:sp>
        <p:nvSpPr>
          <p:cNvPr id="737351" name="Text Box 71"/>
          <p:cNvSpPr txBox="1">
            <a:spLocks noChangeArrowheads="1"/>
          </p:cNvSpPr>
          <p:nvPr/>
        </p:nvSpPr>
        <p:spPr bwMode="auto">
          <a:xfrm>
            <a:off x="7489825" y="1995488"/>
            <a:ext cx="2378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 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*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37352" name="Text Box 72"/>
          <p:cNvSpPr txBox="1">
            <a:spLocks noChangeArrowheads="1"/>
          </p:cNvSpPr>
          <p:nvPr/>
        </p:nvSpPr>
        <p:spPr bwMode="auto">
          <a:xfrm>
            <a:off x="7489825" y="3125788"/>
            <a:ext cx="2378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 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37353" name="Text Box 73"/>
          <p:cNvSpPr txBox="1">
            <a:spLocks noChangeArrowheads="1"/>
          </p:cNvSpPr>
          <p:nvPr/>
        </p:nvSpPr>
        <p:spPr bwMode="auto">
          <a:xfrm>
            <a:off x="7489825" y="4292600"/>
            <a:ext cx="2378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 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*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37354" name="Text Box 74"/>
          <p:cNvSpPr txBox="1">
            <a:spLocks noChangeArrowheads="1"/>
          </p:cNvSpPr>
          <p:nvPr/>
        </p:nvSpPr>
        <p:spPr bwMode="auto">
          <a:xfrm>
            <a:off x="7489825" y="5445125"/>
            <a:ext cx="2378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 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*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72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73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7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3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737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3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3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3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73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73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73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73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9" dur="500"/>
                                        <p:tgtEl>
                                          <p:spTgt spid="737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73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73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3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6" dur="500"/>
                                        <p:tgtEl>
                                          <p:spTgt spid="73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73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73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737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6" dur="500"/>
                                        <p:tgtEl>
                                          <p:spTgt spid="73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73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73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73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3" dur="500"/>
                                        <p:tgtEl>
                                          <p:spTgt spid="73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73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73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737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3" dur="500"/>
                                        <p:tgtEl>
                                          <p:spTgt spid="737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73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73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6" dur="500"/>
                                        <p:tgtEl>
                                          <p:spTgt spid="73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0" dur="500"/>
                                        <p:tgtEl>
                                          <p:spTgt spid="73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5" dur="500"/>
                                        <p:tgtEl>
                                          <p:spTgt spid="737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0" dur="500"/>
                                        <p:tgtEl>
                                          <p:spTgt spid="73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5" dur="500"/>
                                        <p:tgtEl>
                                          <p:spTgt spid="737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283" grpId="0" autoUpdateAnimBg="0"/>
      <p:bldP spid="737284" grpId="0" autoUpdateAnimBg="0"/>
      <p:bldP spid="737286" grpId="0" autoUpdateAnimBg="0"/>
      <p:bldP spid="737287" grpId="0" autoUpdateAnimBg="0"/>
      <p:bldP spid="737288" grpId="0" autoUpdateAnimBg="0"/>
      <p:bldP spid="737289" grpId="0" autoUpdateAnimBg="0"/>
      <p:bldP spid="737290" grpId="0" autoUpdateAnimBg="0"/>
      <p:bldP spid="737291" grpId="0" autoUpdateAnimBg="0"/>
      <p:bldP spid="737292" grpId="0" autoUpdateAnimBg="0"/>
      <p:bldP spid="737293" grpId="0" autoUpdateAnimBg="0"/>
      <p:bldP spid="737319" grpId="0" animBg="1" autoUpdateAnimBg="0"/>
      <p:bldP spid="737321" grpId="0"/>
      <p:bldP spid="737322" grpId="0"/>
      <p:bldP spid="737328" grpId="0"/>
      <p:bldP spid="737336" grpId="0"/>
      <p:bldP spid="737342" grpId="0"/>
      <p:bldP spid="737343" grpId="0" animBg="1" autoUpdateAnimBg="0"/>
      <p:bldP spid="737344" grpId="0" animBg="1" autoUpdateAnimBg="0"/>
      <p:bldP spid="737345" grpId="0" animBg="1" autoUpdateAnimBg="0"/>
      <p:bldP spid="737347" grpId="0"/>
      <p:bldP spid="737348" grpId="0"/>
      <p:bldP spid="737349" grpId="0"/>
      <p:bldP spid="737350" grpId="0"/>
      <p:bldP spid="737351" grpId="0" autoUpdateAnimBg="0"/>
      <p:bldP spid="737352" grpId="0" autoUpdateAnimBg="0"/>
      <p:bldP spid="737353" grpId="0" autoUpdateAnimBg="0"/>
      <p:bldP spid="737354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Text Box 2"/>
          <p:cNvSpPr txBox="1">
            <a:spLocks noChangeArrowheads="1"/>
          </p:cNvSpPr>
          <p:nvPr/>
        </p:nvSpPr>
        <p:spPr bwMode="auto">
          <a:xfrm>
            <a:off x="2422525" y="1836738"/>
            <a:ext cx="67976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② </a:t>
            </a:r>
            <a:r>
              <a:rPr lang="zh-CN" altLang="en-US">
                <a:latin typeface="Times New Roman" panose="02020603050405020304" pitchFamily="18" charset="0"/>
              </a:rPr>
              <a:t>数值部分按绝对值相乘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38307" name="Group 3"/>
          <p:cNvGrpSpPr/>
          <p:nvPr/>
        </p:nvGrpSpPr>
        <p:grpSpPr bwMode="auto">
          <a:xfrm>
            <a:off x="2422525" y="1009650"/>
            <a:ext cx="8550275" cy="579438"/>
            <a:chOff x="566" y="636"/>
            <a:chExt cx="5386" cy="365"/>
          </a:xfrm>
        </p:grpSpPr>
        <p:sp>
          <p:nvSpPr>
            <p:cNvPr id="62475" name="Text Box 4"/>
            <p:cNvSpPr txBox="1">
              <a:spLocks noChangeArrowheads="1"/>
            </p:cNvSpPr>
            <p:nvPr/>
          </p:nvSpPr>
          <p:spPr bwMode="auto">
            <a:xfrm>
              <a:off x="566" y="636"/>
              <a:ext cx="538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① </a:t>
              </a:r>
              <a:r>
                <a:rPr lang="zh-CN" altLang="en-US">
                  <a:latin typeface="Times New Roman" panose="02020603050405020304" pitchFamily="18" charset="0"/>
                </a:rPr>
                <a:t>乘积的符号位</a:t>
              </a:r>
              <a:r>
                <a:rPr lang="zh-CN" altLang="en-US" sz="3200">
                  <a:latin typeface="Times New Roman" panose="02020603050405020304" pitchFamily="18" charset="0"/>
                </a:rPr>
                <a:t>  </a:t>
              </a:r>
              <a:r>
                <a:rPr lang="en-US" altLang="zh-CN" sz="3200" i="1">
                  <a:latin typeface="Times New Roman" panose="02020603050405020304" pitchFamily="18" charset="0"/>
                </a:rPr>
                <a:t>x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 sz="3200">
                  <a:latin typeface="Times New Roman" panose="02020603050405020304" pitchFamily="18" charset="0"/>
                </a:rPr>
                <a:t>    </a:t>
              </a:r>
              <a:r>
                <a:rPr lang="en-US" altLang="zh-CN" sz="3200" i="1">
                  <a:latin typeface="Times New Roman" panose="02020603050405020304" pitchFamily="18" charset="0"/>
                </a:rPr>
                <a:t>y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 sz="3200">
                  <a:latin typeface="Times New Roman" panose="02020603050405020304" pitchFamily="18" charset="0"/>
                </a:rPr>
                <a:t> = 1     0 = 1</a:t>
              </a:r>
              <a:endParaRPr lang="en-US" altLang="zh-CN" sz="3200">
                <a:latin typeface="Times New Roman" panose="02020603050405020304" pitchFamily="18" charset="0"/>
              </a:endParaRPr>
            </a:p>
          </p:txBody>
        </p:sp>
        <p:sp>
          <p:nvSpPr>
            <p:cNvPr id="62476" name="AutoShape 5"/>
            <p:cNvSpPr>
              <a:spLocks noChangeArrowheads="1"/>
            </p:cNvSpPr>
            <p:nvPr/>
          </p:nvSpPr>
          <p:spPr bwMode="auto">
            <a:xfrm>
              <a:off x="2685" y="768"/>
              <a:ext cx="147" cy="147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62477" name="AutoShape 6"/>
            <p:cNvSpPr>
              <a:spLocks noChangeArrowheads="1"/>
            </p:cNvSpPr>
            <p:nvPr/>
          </p:nvSpPr>
          <p:spPr bwMode="auto">
            <a:xfrm>
              <a:off x="3543" y="765"/>
              <a:ext cx="147" cy="147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sp>
        <p:nvSpPr>
          <p:cNvPr id="738311" name="Text Box 7"/>
          <p:cNvSpPr txBox="1">
            <a:spLocks noChangeArrowheads="1"/>
          </p:cNvSpPr>
          <p:nvPr/>
        </p:nvSpPr>
        <p:spPr bwMode="auto">
          <a:xfrm>
            <a:off x="4476750" y="2663825"/>
            <a:ext cx="4286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*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* = 0. 1 0 1 1 0 1 1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38312" name="Text Box 8"/>
          <p:cNvSpPr txBox="1">
            <a:spLocks noChangeArrowheads="1"/>
          </p:cNvSpPr>
          <p:nvPr/>
        </p:nvSpPr>
        <p:spPr bwMode="auto">
          <a:xfrm>
            <a:off x="3810000" y="3432175"/>
            <a:ext cx="510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则 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原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 sz="1600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= 1. 1 0 1 1 0 1 1 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8313" name="Text Box 9"/>
          <p:cNvSpPr txBox="1">
            <a:spLocks noChangeArrowheads="1"/>
          </p:cNvSpPr>
          <p:nvPr/>
        </p:nvSpPr>
        <p:spPr bwMode="auto">
          <a:xfrm>
            <a:off x="2803525" y="42052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特点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38314" name="Text Box 10"/>
          <p:cNvSpPr txBox="1">
            <a:spLocks noChangeArrowheads="1"/>
          </p:cNvSpPr>
          <p:nvPr/>
        </p:nvSpPr>
        <p:spPr bwMode="auto">
          <a:xfrm>
            <a:off x="4038600" y="4198938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绝对值运算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8315" name="Text Box 11"/>
          <p:cNvSpPr txBox="1">
            <a:spLocks noChangeArrowheads="1"/>
          </p:cNvSpPr>
          <p:nvPr/>
        </p:nvSpPr>
        <p:spPr bwMode="auto">
          <a:xfrm>
            <a:off x="4038600" y="5805488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逻辑移位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2473" name="Text Box 12"/>
          <p:cNvSpPr txBox="1">
            <a:spLocks noChangeArrowheads="1"/>
          </p:cNvSpPr>
          <p:nvPr/>
        </p:nvSpPr>
        <p:spPr bwMode="auto">
          <a:xfrm>
            <a:off x="1416050" y="144463"/>
            <a:ext cx="2584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例6.21  结果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38317" name="Text Box 13"/>
          <p:cNvSpPr txBox="1">
            <a:spLocks noChangeArrowheads="1"/>
          </p:cNvSpPr>
          <p:nvPr/>
        </p:nvSpPr>
        <p:spPr bwMode="auto">
          <a:xfrm>
            <a:off x="4038600" y="5002213"/>
            <a:ext cx="594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用移位的次数判断乘法是否结束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3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3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6" grpId="0" autoUpdateAnimBg="0"/>
      <p:bldP spid="738311" grpId="0" autoUpdateAnimBg="0"/>
      <p:bldP spid="738312" grpId="0" autoUpdateAnimBg="0"/>
      <p:bldP spid="738313" grpId="0" autoUpdateAnimBg="0"/>
      <p:bldP spid="738314" grpId="0" autoUpdateAnimBg="0"/>
      <p:bldP spid="738315" grpId="0" autoUpdateAnimBg="0"/>
      <p:bldP spid="738317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2041525" y="273050"/>
            <a:ext cx="6188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(3) 原码一位乘的硬件配置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739331" name="Group 3"/>
          <p:cNvGrpSpPr/>
          <p:nvPr/>
        </p:nvGrpSpPr>
        <p:grpSpPr bwMode="auto">
          <a:xfrm>
            <a:off x="2346325" y="5562600"/>
            <a:ext cx="3554413" cy="1044575"/>
            <a:chOff x="518" y="3504"/>
            <a:chExt cx="2239" cy="658"/>
          </a:xfrm>
        </p:grpSpPr>
        <p:sp>
          <p:nvSpPr>
            <p:cNvPr id="63524" name="Text Box 4"/>
            <p:cNvSpPr txBox="1">
              <a:spLocks noChangeArrowheads="1"/>
            </p:cNvSpPr>
            <p:nvPr/>
          </p:nvSpPr>
          <p:spPr bwMode="auto">
            <a:xfrm>
              <a:off x="518" y="3504"/>
              <a:ext cx="17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A、X、Q </a:t>
              </a:r>
              <a:r>
                <a:rPr lang="zh-CN" altLang="en-US" sz="2400">
                  <a:latin typeface="Times New Roman" panose="02020603050405020304" pitchFamily="18" charset="0"/>
                </a:rPr>
                <a:t>均 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r>
                <a:rPr lang="en-US" altLang="zh-CN" sz="2400">
                  <a:latin typeface="Times New Roman" panose="02020603050405020304" pitchFamily="18" charset="0"/>
                </a:rPr>
                <a:t>+1 </a:t>
              </a:r>
              <a:r>
                <a:rPr lang="zh-CN" altLang="en-US" sz="2400">
                  <a:latin typeface="Times New Roman" panose="02020603050405020304" pitchFamily="18" charset="0"/>
                </a:rPr>
                <a:t>位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3525" name="Text Box 5"/>
            <p:cNvSpPr txBox="1">
              <a:spLocks noChangeArrowheads="1"/>
            </p:cNvSpPr>
            <p:nvPr/>
          </p:nvSpPr>
          <p:spPr bwMode="auto">
            <a:xfrm>
              <a:off x="518" y="3874"/>
              <a:ext cx="22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移位和加受末位乘数控制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9334" name="Group 6"/>
          <p:cNvGrpSpPr/>
          <p:nvPr/>
        </p:nvGrpSpPr>
        <p:grpSpPr bwMode="auto">
          <a:xfrm>
            <a:off x="3200400" y="990600"/>
            <a:ext cx="6096000" cy="4191000"/>
            <a:chOff x="1056" y="624"/>
            <a:chExt cx="3840" cy="2640"/>
          </a:xfrm>
        </p:grpSpPr>
        <p:sp>
          <p:nvSpPr>
            <p:cNvPr id="63495" name="Rectangle 7"/>
            <p:cNvSpPr>
              <a:spLocks noChangeArrowheads="1"/>
            </p:cNvSpPr>
            <p:nvPr/>
          </p:nvSpPr>
          <p:spPr bwMode="auto">
            <a:xfrm>
              <a:off x="1056" y="816"/>
              <a:ext cx="1584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r>
                <a:rPr lang="zh-CN" altLang="en-US">
                  <a:latin typeface="Times New Roman" panose="02020603050405020304" pitchFamily="18" charset="0"/>
                </a:rPr>
                <a:t>          </a:t>
              </a:r>
              <a:r>
                <a:rPr lang="en-US" altLang="zh-CN">
                  <a:latin typeface="Times New Roman" panose="02020603050405020304" pitchFamily="18" charset="0"/>
                </a:rPr>
                <a:t>A          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63496" name="Rectangle 8"/>
            <p:cNvSpPr>
              <a:spLocks noChangeArrowheads="1"/>
            </p:cNvSpPr>
            <p:nvPr/>
          </p:nvSpPr>
          <p:spPr bwMode="auto">
            <a:xfrm>
              <a:off x="1056" y="1512"/>
              <a:ext cx="1584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  加   法   器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3497" name="Rectangle 9"/>
            <p:cNvSpPr>
              <a:spLocks noChangeArrowheads="1"/>
            </p:cNvSpPr>
            <p:nvPr/>
          </p:nvSpPr>
          <p:spPr bwMode="auto">
            <a:xfrm>
              <a:off x="1056" y="2208"/>
              <a:ext cx="1584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控   制   门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3498" name="AutoShape 10"/>
            <p:cNvSpPr>
              <a:spLocks noChangeArrowheads="1"/>
            </p:cNvSpPr>
            <p:nvPr/>
          </p:nvSpPr>
          <p:spPr bwMode="auto">
            <a:xfrm>
              <a:off x="1728" y="1164"/>
              <a:ext cx="144" cy="338"/>
            </a:xfrm>
            <a:prstGeom prst="upArrow">
              <a:avLst>
                <a:gd name="adj1" fmla="val 50000"/>
                <a:gd name="adj2" fmla="val 58681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63499" name="AutoShape 11"/>
            <p:cNvSpPr>
              <a:spLocks noChangeArrowheads="1"/>
            </p:cNvSpPr>
            <p:nvPr/>
          </p:nvSpPr>
          <p:spPr bwMode="auto">
            <a:xfrm rot="10800000">
              <a:off x="1392" y="1152"/>
              <a:ext cx="144" cy="360"/>
            </a:xfrm>
            <a:prstGeom prst="upArrow">
              <a:avLst>
                <a:gd name="adj1" fmla="val 50000"/>
                <a:gd name="adj2" fmla="val 62500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63500" name="AutoShape 12"/>
            <p:cNvSpPr>
              <a:spLocks noChangeArrowheads="1"/>
            </p:cNvSpPr>
            <p:nvPr/>
          </p:nvSpPr>
          <p:spPr bwMode="auto">
            <a:xfrm>
              <a:off x="1776" y="1860"/>
              <a:ext cx="144" cy="338"/>
            </a:xfrm>
            <a:prstGeom prst="upArrow">
              <a:avLst>
                <a:gd name="adj1" fmla="val 50000"/>
                <a:gd name="adj2" fmla="val 58681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63501" name="Rectangle 13"/>
            <p:cNvSpPr>
              <a:spLocks noChangeArrowheads="1"/>
            </p:cNvSpPr>
            <p:nvPr/>
          </p:nvSpPr>
          <p:spPr bwMode="auto">
            <a:xfrm>
              <a:off x="1056" y="2928"/>
              <a:ext cx="1584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r>
                <a:rPr lang="zh-CN" altLang="en-US">
                  <a:latin typeface="Times New Roman" panose="02020603050405020304" pitchFamily="18" charset="0"/>
                </a:rPr>
                <a:t>          </a:t>
              </a:r>
              <a:r>
                <a:rPr lang="en-US" altLang="zh-CN">
                  <a:latin typeface="Times New Roman" panose="02020603050405020304" pitchFamily="18" charset="0"/>
                </a:rPr>
                <a:t>X          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endParaRPr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63502" name="AutoShape 14"/>
            <p:cNvSpPr>
              <a:spLocks noChangeArrowheads="1"/>
            </p:cNvSpPr>
            <p:nvPr/>
          </p:nvSpPr>
          <p:spPr bwMode="auto">
            <a:xfrm>
              <a:off x="1776" y="2580"/>
              <a:ext cx="144" cy="338"/>
            </a:xfrm>
            <a:prstGeom prst="upArrow">
              <a:avLst>
                <a:gd name="adj1" fmla="val 50000"/>
                <a:gd name="adj2" fmla="val 58681"/>
              </a:avLst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63503" name="Rectangle 15"/>
            <p:cNvSpPr>
              <a:spLocks noChangeArrowheads="1"/>
            </p:cNvSpPr>
            <p:nvPr/>
          </p:nvSpPr>
          <p:spPr bwMode="auto">
            <a:xfrm>
              <a:off x="3120" y="816"/>
              <a:ext cx="1584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3504" name="Line 16"/>
            <p:cNvSpPr>
              <a:spLocks noChangeShapeType="1"/>
            </p:cNvSpPr>
            <p:nvPr/>
          </p:nvSpPr>
          <p:spPr bwMode="auto">
            <a:xfrm>
              <a:off x="4368" y="81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3505" name="Rectangle 17"/>
            <p:cNvSpPr>
              <a:spLocks noChangeArrowheads="1"/>
            </p:cNvSpPr>
            <p:nvPr/>
          </p:nvSpPr>
          <p:spPr bwMode="auto">
            <a:xfrm>
              <a:off x="3120" y="1512"/>
              <a:ext cx="1584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</a:rPr>
                <a:t>移位和加控制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3506" name="Freeform 18"/>
            <p:cNvSpPr/>
            <p:nvPr/>
          </p:nvSpPr>
          <p:spPr bwMode="auto">
            <a:xfrm>
              <a:off x="2016" y="1152"/>
              <a:ext cx="1920" cy="360"/>
            </a:xfrm>
            <a:custGeom>
              <a:avLst/>
              <a:gdLst>
                <a:gd name="T0" fmla="*/ 1920 w 1920"/>
                <a:gd name="T1" fmla="*/ 360 h 360"/>
                <a:gd name="T2" fmla="*/ 1920 w 1920"/>
                <a:gd name="T3" fmla="*/ 240 h 360"/>
                <a:gd name="T4" fmla="*/ 0 w 1920"/>
                <a:gd name="T5" fmla="*/ 240 h 360"/>
                <a:gd name="T6" fmla="*/ 384 w 1920"/>
                <a:gd name="T7" fmla="*/ 0 h 3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0" h="360">
                  <a:moveTo>
                    <a:pt x="1920" y="360"/>
                  </a:moveTo>
                  <a:lnTo>
                    <a:pt x="1920" y="240"/>
                  </a:lnTo>
                  <a:lnTo>
                    <a:pt x="0" y="240"/>
                  </a:lnTo>
                  <a:lnTo>
                    <a:pt x="384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3507" name="Line 19"/>
            <p:cNvSpPr>
              <a:spLocks noChangeShapeType="1"/>
            </p:cNvSpPr>
            <p:nvPr/>
          </p:nvSpPr>
          <p:spPr bwMode="auto">
            <a:xfrm flipV="1">
              <a:off x="3168" y="1152"/>
              <a:ext cx="384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3508" name="Line 20"/>
            <p:cNvSpPr>
              <a:spLocks noChangeShapeType="1"/>
            </p:cNvSpPr>
            <p:nvPr/>
          </p:nvSpPr>
          <p:spPr bwMode="auto">
            <a:xfrm flipH="1">
              <a:off x="2640" y="168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3509" name="Freeform 21"/>
            <p:cNvSpPr/>
            <p:nvPr/>
          </p:nvSpPr>
          <p:spPr bwMode="auto">
            <a:xfrm>
              <a:off x="4560" y="624"/>
              <a:ext cx="336" cy="1068"/>
            </a:xfrm>
            <a:custGeom>
              <a:avLst/>
              <a:gdLst>
                <a:gd name="T0" fmla="*/ 0 w 336"/>
                <a:gd name="T1" fmla="*/ 192 h 1068"/>
                <a:gd name="T2" fmla="*/ 0 w 336"/>
                <a:gd name="T3" fmla="*/ 0 h 1068"/>
                <a:gd name="T4" fmla="*/ 336 w 336"/>
                <a:gd name="T5" fmla="*/ 0 h 1068"/>
                <a:gd name="T6" fmla="*/ 336 w 336"/>
                <a:gd name="T7" fmla="*/ 1068 h 1068"/>
                <a:gd name="T8" fmla="*/ 144 w 336"/>
                <a:gd name="T9" fmla="*/ 1068 h 10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6" h="1068">
                  <a:moveTo>
                    <a:pt x="0" y="192"/>
                  </a:moveTo>
                  <a:lnTo>
                    <a:pt x="0" y="0"/>
                  </a:lnTo>
                  <a:lnTo>
                    <a:pt x="336" y="0"/>
                  </a:lnTo>
                  <a:lnTo>
                    <a:pt x="336" y="1068"/>
                  </a:lnTo>
                  <a:lnTo>
                    <a:pt x="144" y="106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3510" name="Line 22"/>
            <p:cNvSpPr>
              <a:spLocks noChangeShapeType="1"/>
            </p:cNvSpPr>
            <p:nvPr/>
          </p:nvSpPr>
          <p:spPr bwMode="auto">
            <a:xfrm>
              <a:off x="2640" y="100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63511" name="Group 23"/>
            <p:cNvGrpSpPr/>
            <p:nvPr/>
          </p:nvGrpSpPr>
          <p:grpSpPr bwMode="auto">
            <a:xfrm>
              <a:off x="2784" y="2928"/>
              <a:ext cx="960" cy="336"/>
              <a:chOff x="2784" y="3312"/>
              <a:chExt cx="960" cy="336"/>
            </a:xfrm>
          </p:grpSpPr>
          <p:sp>
            <p:nvSpPr>
              <p:cNvPr id="63522" name="Rectangle 24"/>
              <p:cNvSpPr>
                <a:spLocks noChangeArrowheads="1"/>
              </p:cNvSpPr>
              <p:nvPr/>
            </p:nvSpPr>
            <p:spPr bwMode="auto">
              <a:xfrm>
                <a:off x="2784" y="3312"/>
                <a:ext cx="960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63523" name="Text Box 25"/>
              <p:cNvSpPr txBox="1">
                <a:spLocks noChangeArrowheads="1"/>
              </p:cNvSpPr>
              <p:nvPr/>
            </p:nvSpPr>
            <p:spPr bwMode="auto">
              <a:xfrm>
                <a:off x="2880" y="3360"/>
                <a:ext cx="75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计数器 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C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3512" name="Group 26"/>
            <p:cNvGrpSpPr/>
            <p:nvPr/>
          </p:nvGrpSpPr>
          <p:grpSpPr bwMode="auto">
            <a:xfrm>
              <a:off x="3936" y="2928"/>
              <a:ext cx="288" cy="336"/>
              <a:chOff x="3936" y="3312"/>
              <a:chExt cx="288" cy="336"/>
            </a:xfrm>
          </p:grpSpPr>
          <p:sp>
            <p:nvSpPr>
              <p:cNvPr id="63520" name="Rectangle 27"/>
              <p:cNvSpPr>
                <a:spLocks noChangeArrowheads="1"/>
              </p:cNvSpPr>
              <p:nvPr/>
            </p:nvSpPr>
            <p:spPr bwMode="auto">
              <a:xfrm>
                <a:off x="3984" y="3350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S</a:t>
                </a:r>
                <a:endParaRPr lang="en-US" altLang="zh-CN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3521" name="Rectangle 28"/>
              <p:cNvSpPr>
                <a:spLocks noChangeArrowheads="1"/>
              </p:cNvSpPr>
              <p:nvPr/>
            </p:nvSpPr>
            <p:spPr bwMode="auto">
              <a:xfrm>
                <a:off x="3936" y="3312"/>
                <a:ext cx="288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</p:grpSp>
        <p:grpSp>
          <p:nvGrpSpPr>
            <p:cNvPr id="63513" name="Group 29"/>
            <p:cNvGrpSpPr/>
            <p:nvPr/>
          </p:nvGrpSpPr>
          <p:grpSpPr bwMode="auto">
            <a:xfrm>
              <a:off x="4416" y="2928"/>
              <a:ext cx="338" cy="336"/>
              <a:chOff x="4416" y="3312"/>
              <a:chExt cx="338" cy="336"/>
            </a:xfrm>
          </p:grpSpPr>
          <p:sp>
            <p:nvSpPr>
              <p:cNvPr id="63518" name="Rectangle 30"/>
              <p:cNvSpPr>
                <a:spLocks noChangeArrowheads="1"/>
              </p:cNvSpPr>
              <p:nvPr/>
            </p:nvSpPr>
            <p:spPr bwMode="auto">
              <a:xfrm>
                <a:off x="4416" y="3350"/>
                <a:ext cx="3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G</a:t>
                </a:r>
                <a:r>
                  <a:rPr lang="en-US" altLang="zh-CN" sz="2000" baseline="-25000">
                    <a:latin typeface="Times New Roman" panose="02020603050405020304" pitchFamily="18" charset="0"/>
                  </a:rPr>
                  <a:t>M</a:t>
                </a:r>
                <a:endParaRPr lang="en-US" altLang="zh-CN" sz="2000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3519" name="Rectangle 31"/>
              <p:cNvSpPr>
                <a:spLocks noChangeArrowheads="1"/>
              </p:cNvSpPr>
              <p:nvPr/>
            </p:nvSpPr>
            <p:spPr bwMode="auto">
              <a:xfrm>
                <a:off x="4416" y="3312"/>
                <a:ext cx="288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</p:grpSp>
        <p:sp>
          <p:nvSpPr>
            <p:cNvPr id="63514" name="Text Box 32"/>
            <p:cNvSpPr txBox="1">
              <a:spLocks noChangeArrowheads="1"/>
            </p:cNvSpPr>
            <p:nvPr/>
          </p:nvSpPr>
          <p:spPr bwMode="auto">
            <a:xfrm>
              <a:off x="3120" y="8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3515" name="Text Box 33"/>
            <p:cNvSpPr txBox="1">
              <a:spLocks noChangeArrowheads="1"/>
            </p:cNvSpPr>
            <p:nvPr/>
          </p:nvSpPr>
          <p:spPr bwMode="auto">
            <a:xfrm>
              <a:off x="3744" y="825"/>
              <a:ext cx="9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Q         </a:t>
              </a:r>
              <a:r>
                <a:rPr lang="en-US" altLang="zh-CN" sz="2400" i="1">
                  <a:latin typeface="Times New Roman" panose="02020603050405020304" pitchFamily="18" charset="0"/>
                </a:rPr>
                <a:t>n</a:t>
              </a:r>
              <a:endParaRPr lang="zh-CN" altLang="en-US" i="1">
                <a:latin typeface="Times New Roman" panose="02020603050405020304" pitchFamily="18" charset="0"/>
              </a:endParaRPr>
            </a:p>
          </p:txBody>
        </p:sp>
        <p:sp>
          <p:nvSpPr>
            <p:cNvPr id="63516" name="Text Box 34"/>
            <p:cNvSpPr txBox="1">
              <a:spLocks noChangeArrowheads="1"/>
            </p:cNvSpPr>
            <p:nvPr/>
          </p:nvSpPr>
          <p:spPr bwMode="auto">
            <a:xfrm>
              <a:off x="3504" y="1152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右移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63517" name="Freeform 35"/>
            <p:cNvSpPr/>
            <p:nvPr/>
          </p:nvSpPr>
          <p:spPr bwMode="auto">
            <a:xfrm>
              <a:off x="2640" y="1858"/>
              <a:ext cx="1296" cy="528"/>
            </a:xfrm>
            <a:custGeom>
              <a:avLst/>
              <a:gdLst>
                <a:gd name="T0" fmla="*/ 1296 w 1296"/>
                <a:gd name="T1" fmla="*/ 0 h 528"/>
                <a:gd name="T2" fmla="*/ 1296 w 1296"/>
                <a:gd name="T3" fmla="*/ 528 h 528"/>
                <a:gd name="T4" fmla="*/ 0 w 1296"/>
                <a:gd name="T5" fmla="*/ 528 h 5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96" h="528">
                  <a:moveTo>
                    <a:pt x="1296" y="0"/>
                  </a:moveTo>
                  <a:lnTo>
                    <a:pt x="1296" y="528"/>
                  </a:lnTo>
                  <a:lnTo>
                    <a:pt x="0" y="52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" name="对话气泡: 矩形 1"/>
          <p:cNvSpPr/>
          <p:nvPr/>
        </p:nvSpPr>
        <p:spPr>
          <a:xfrm>
            <a:off x="6600825" y="5548313"/>
            <a:ext cx="1247775" cy="457200"/>
          </a:xfrm>
          <a:prstGeom prst="wedgeRectCallout">
            <a:avLst>
              <a:gd name="adj1" fmla="val 60648"/>
              <a:gd name="adj2" fmla="val -1295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乘积符号</a:t>
            </a:r>
            <a:endParaRPr lang="zh-CN" altLang="en-US" dirty="0"/>
          </a:p>
        </p:txBody>
      </p:sp>
      <p:sp>
        <p:nvSpPr>
          <p:cNvPr id="39" name="对话气泡: 矩形 38"/>
          <p:cNvSpPr/>
          <p:nvPr/>
        </p:nvSpPr>
        <p:spPr>
          <a:xfrm>
            <a:off x="9136063" y="5562600"/>
            <a:ext cx="1249362" cy="457200"/>
          </a:xfrm>
          <a:prstGeom prst="wedgeRectCallout">
            <a:avLst>
              <a:gd name="adj1" fmla="val -81758"/>
              <a:gd name="adj2" fmla="val -1221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乘法标记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3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416050" y="119063"/>
            <a:ext cx="3429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四、除法运算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51619" name="Text Box 3"/>
          <p:cNvSpPr txBox="1">
            <a:spLocks noChangeArrowheads="1"/>
          </p:cNvSpPr>
          <p:nvPr/>
        </p:nvSpPr>
        <p:spPr bwMode="auto">
          <a:xfrm>
            <a:off x="2378075" y="838200"/>
            <a:ext cx="3368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1. 分析笔算除法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1620" name="Text Box 4"/>
          <p:cNvSpPr txBox="1">
            <a:spLocks noChangeArrowheads="1"/>
          </p:cNvSpPr>
          <p:nvPr/>
        </p:nvSpPr>
        <p:spPr bwMode="auto">
          <a:xfrm>
            <a:off x="2774950" y="1281113"/>
            <a:ext cx="586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0.1011   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= 0.1101    </a:t>
            </a:r>
            <a:r>
              <a:rPr lang="zh-CN" altLang="en-US">
                <a:latin typeface="Times New Roman" panose="02020603050405020304" pitchFamily="18" charset="0"/>
              </a:rPr>
              <a:t>求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÷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751621" name="Text Box 5"/>
          <p:cNvSpPr txBox="1">
            <a:spLocks noChangeArrowheads="1"/>
          </p:cNvSpPr>
          <p:nvPr/>
        </p:nvSpPr>
        <p:spPr bwMode="auto">
          <a:xfrm>
            <a:off x="4114800" y="23622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0 . 1 0 1 1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22" name="Arc 6"/>
          <p:cNvSpPr/>
          <p:nvPr/>
        </p:nvSpPr>
        <p:spPr bwMode="auto">
          <a:xfrm>
            <a:off x="2362200" y="2362200"/>
            <a:ext cx="1403350" cy="4572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0 . 1 1 0 1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51623" name="Group 7"/>
          <p:cNvGrpSpPr/>
          <p:nvPr/>
        </p:nvGrpSpPr>
        <p:grpSpPr bwMode="auto">
          <a:xfrm>
            <a:off x="3621088" y="2286000"/>
            <a:ext cx="2798762" cy="490538"/>
            <a:chOff x="1321" y="1341"/>
            <a:chExt cx="1763" cy="309"/>
          </a:xfrm>
        </p:grpSpPr>
        <p:sp>
          <p:nvSpPr>
            <p:cNvPr id="64550" name="Freeform 8"/>
            <p:cNvSpPr/>
            <p:nvPr/>
          </p:nvSpPr>
          <p:spPr bwMode="auto">
            <a:xfrm>
              <a:off x="1460" y="1434"/>
              <a:ext cx="1624" cy="3"/>
            </a:xfrm>
            <a:custGeom>
              <a:avLst/>
              <a:gdLst>
                <a:gd name="T0" fmla="*/ 0 w 1624"/>
                <a:gd name="T1" fmla="*/ 3 h 3"/>
                <a:gd name="T2" fmla="*/ 1624 w 162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24" h="3">
                  <a:moveTo>
                    <a:pt x="0" y="3"/>
                  </a:moveTo>
                  <a:lnTo>
                    <a:pt x="162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4551" name="Text Box 9"/>
            <p:cNvSpPr txBox="1">
              <a:spLocks noChangeArrowheads="1"/>
            </p:cNvSpPr>
            <p:nvPr/>
          </p:nvSpPr>
          <p:spPr bwMode="auto">
            <a:xfrm rot="5400000">
              <a:off x="1310" y="1352"/>
              <a:ext cx="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⌒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751626" name="Text Box 10"/>
          <p:cNvSpPr txBox="1">
            <a:spLocks noChangeArrowheads="1"/>
          </p:cNvSpPr>
          <p:nvPr/>
        </p:nvSpPr>
        <p:spPr bwMode="auto">
          <a:xfrm>
            <a:off x="4114800" y="2735263"/>
            <a:ext cx="163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0 . 0 1 1 0 1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27" name="Text Box 11"/>
          <p:cNvSpPr txBox="1">
            <a:spLocks noChangeArrowheads="1"/>
          </p:cNvSpPr>
          <p:nvPr/>
        </p:nvSpPr>
        <p:spPr bwMode="auto">
          <a:xfrm>
            <a:off x="4114800" y="3022600"/>
            <a:ext cx="1631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0 . 0 1 0 0 1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28" name="Text Box 12"/>
          <p:cNvSpPr txBox="1">
            <a:spLocks noChangeArrowheads="1"/>
          </p:cNvSpPr>
          <p:nvPr/>
        </p:nvSpPr>
        <p:spPr bwMode="auto">
          <a:xfrm>
            <a:off x="4114800" y="3395663"/>
            <a:ext cx="186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0 . 0 0 1 1 0 1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29" name="Text Box 13"/>
          <p:cNvSpPr txBox="1">
            <a:spLocks noChangeArrowheads="1"/>
          </p:cNvSpPr>
          <p:nvPr/>
        </p:nvSpPr>
        <p:spPr bwMode="auto">
          <a:xfrm>
            <a:off x="4114800" y="3683000"/>
            <a:ext cx="186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0 . 0 0 0 1 0 1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30" name="Text Box 14"/>
          <p:cNvSpPr txBox="1">
            <a:spLocks noChangeArrowheads="1"/>
          </p:cNvSpPr>
          <p:nvPr/>
        </p:nvSpPr>
        <p:spPr bwMode="auto">
          <a:xfrm>
            <a:off x="4114800" y="4056063"/>
            <a:ext cx="2317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0 . 0 0 0 0 1 1 0 1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31" name="Text Box 15"/>
          <p:cNvSpPr txBox="1">
            <a:spLocks noChangeArrowheads="1"/>
          </p:cNvSpPr>
          <p:nvPr/>
        </p:nvSpPr>
        <p:spPr bwMode="auto">
          <a:xfrm>
            <a:off x="4114800" y="4343400"/>
            <a:ext cx="2317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0 . 0 0 0 0 0 1 1 1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32" name="Line 16"/>
          <p:cNvSpPr>
            <a:spLocks noChangeShapeType="1"/>
          </p:cNvSpPr>
          <p:nvPr/>
        </p:nvSpPr>
        <p:spPr bwMode="auto">
          <a:xfrm>
            <a:off x="3994150" y="3108325"/>
            <a:ext cx="2438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1633" name="Line 17"/>
          <p:cNvSpPr>
            <a:spLocks noChangeShapeType="1"/>
          </p:cNvSpPr>
          <p:nvPr/>
        </p:nvSpPr>
        <p:spPr bwMode="auto">
          <a:xfrm>
            <a:off x="3994150" y="3768725"/>
            <a:ext cx="2438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1634" name="Line 18"/>
          <p:cNvSpPr>
            <a:spLocks noChangeShapeType="1"/>
          </p:cNvSpPr>
          <p:nvPr/>
        </p:nvSpPr>
        <p:spPr bwMode="auto">
          <a:xfrm>
            <a:off x="3994150" y="4429125"/>
            <a:ext cx="24384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1635" name="Text Box 19"/>
          <p:cNvSpPr txBox="1">
            <a:spLocks noChangeArrowheads="1"/>
          </p:cNvSpPr>
          <p:nvPr/>
        </p:nvSpPr>
        <p:spPr bwMode="auto">
          <a:xfrm>
            <a:off x="5943600" y="1985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36" name="Text Box 20"/>
          <p:cNvSpPr txBox="1">
            <a:spLocks noChangeArrowheads="1"/>
          </p:cNvSpPr>
          <p:nvPr/>
        </p:nvSpPr>
        <p:spPr bwMode="auto">
          <a:xfrm>
            <a:off x="7045325" y="2108200"/>
            <a:ext cx="2860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商符单独处理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37" name="Text Box 21"/>
          <p:cNvSpPr txBox="1">
            <a:spLocks noChangeArrowheads="1"/>
          </p:cNvSpPr>
          <p:nvPr/>
        </p:nvSpPr>
        <p:spPr bwMode="auto">
          <a:xfrm>
            <a:off x="7045325" y="2706688"/>
            <a:ext cx="3241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心算上商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38" name="Text Box 22"/>
          <p:cNvSpPr txBox="1">
            <a:spLocks noChangeArrowheads="1"/>
          </p:cNvSpPr>
          <p:nvPr/>
        </p:nvSpPr>
        <p:spPr bwMode="auto">
          <a:xfrm>
            <a:off x="7045325" y="3306763"/>
            <a:ext cx="4156075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余数不动低位补“0”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减右移一位的除数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39" name="Text Box 23"/>
          <p:cNvSpPr txBox="1">
            <a:spLocks noChangeArrowheads="1"/>
          </p:cNvSpPr>
          <p:nvPr/>
        </p:nvSpPr>
        <p:spPr bwMode="auto">
          <a:xfrm>
            <a:off x="7045325" y="4271963"/>
            <a:ext cx="4003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上商位置不固定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51640" name="Group 24"/>
          <p:cNvGrpSpPr/>
          <p:nvPr/>
        </p:nvGrpSpPr>
        <p:grpSpPr bwMode="auto">
          <a:xfrm>
            <a:off x="2667000" y="5105400"/>
            <a:ext cx="3473450" cy="976313"/>
            <a:chOff x="720" y="2976"/>
            <a:chExt cx="2188" cy="615"/>
          </a:xfrm>
        </p:grpSpPr>
        <p:sp>
          <p:nvSpPr>
            <p:cNvPr id="64548" name="Text Box 25"/>
            <p:cNvSpPr txBox="1">
              <a:spLocks noChangeArrowheads="1"/>
            </p:cNvSpPr>
            <p:nvPr/>
          </p:nvSpPr>
          <p:spPr bwMode="auto">
            <a:xfrm>
              <a:off x="720" y="2976"/>
              <a:ext cx="172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÷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>
                  <a:latin typeface="Times New Roman" panose="02020603050405020304" pitchFamily="18" charset="0"/>
                </a:rPr>
                <a:t> = </a:t>
              </a: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 0. 1 1 0 1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4549" name="Text Box 26"/>
            <p:cNvSpPr txBox="1">
              <a:spLocks noChangeArrowheads="1"/>
            </p:cNvSpPr>
            <p:nvPr/>
          </p:nvSpPr>
          <p:spPr bwMode="auto">
            <a:xfrm>
              <a:off x="720" y="3264"/>
              <a:ext cx="21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余数  0. 0 0 0 0 0 1 1 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51643" name="Text Box 27"/>
          <p:cNvSpPr txBox="1">
            <a:spLocks noChangeArrowheads="1"/>
          </p:cNvSpPr>
          <p:nvPr/>
        </p:nvSpPr>
        <p:spPr bwMode="auto">
          <a:xfrm>
            <a:off x="5943600" y="5105400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商符心算求得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1644" name="Text Box 28"/>
          <p:cNvSpPr txBox="1">
            <a:spLocks noChangeArrowheads="1"/>
          </p:cNvSpPr>
          <p:nvPr/>
        </p:nvSpPr>
        <p:spPr bwMode="auto">
          <a:xfrm>
            <a:off x="5410200" y="236696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1645" name="Text Box 29"/>
          <p:cNvSpPr txBox="1">
            <a:spLocks noChangeArrowheads="1"/>
          </p:cNvSpPr>
          <p:nvPr/>
        </p:nvSpPr>
        <p:spPr bwMode="auto">
          <a:xfrm>
            <a:off x="4953000" y="1985963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46" name="Text Box 30"/>
          <p:cNvSpPr txBox="1">
            <a:spLocks noChangeArrowheads="1"/>
          </p:cNvSpPr>
          <p:nvPr/>
        </p:nvSpPr>
        <p:spPr bwMode="auto">
          <a:xfrm>
            <a:off x="5410200" y="1985963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47" name="Text Box 31"/>
          <p:cNvSpPr txBox="1">
            <a:spLocks noChangeArrowheads="1"/>
          </p:cNvSpPr>
          <p:nvPr/>
        </p:nvSpPr>
        <p:spPr bwMode="auto">
          <a:xfrm>
            <a:off x="5638800" y="3022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1648" name="Text Box 32"/>
          <p:cNvSpPr txBox="1">
            <a:spLocks noChangeArrowheads="1"/>
          </p:cNvSpPr>
          <p:nvPr/>
        </p:nvSpPr>
        <p:spPr bwMode="auto">
          <a:xfrm>
            <a:off x="5638800" y="1985963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49" name="Text Box 33"/>
          <p:cNvSpPr txBox="1">
            <a:spLocks noChangeArrowheads="1"/>
          </p:cNvSpPr>
          <p:nvPr/>
        </p:nvSpPr>
        <p:spPr bwMode="auto">
          <a:xfrm>
            <a:off x="5867400" y="368776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1650" name="Text Box 34"/>
          <p:cNvSpPr txBox="1">
            <a:spLocks noChangeArrowheads="1"/>
          </p:cNvSpPr>
          <p:nvPr/>
        </p:nvSpPr>
        <p:spPr bwMode="auto">
          <a:xfrm>
            <a:off x="5867400" y="1985963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1651" name="Text Box 35"/>
          <p:cNvSpPr txBox="1">
            <a:spLocks noChangeArrowheads="1"/>
          </p:cNvSpPr>
          <p:nvPr/>
        </p:nvSpPr>
        <p:spPr bwMode="auto">
          <a:xfrm>
            <a:off x="6096000" y="3687763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1652" name="Text Box 36"/>
          <p:cNvSpPr txBox="1">
            <a:spLocks noChangeArrowheads="1"/>
          </p:cNvSpPr>
          <p:nvPr/>
        </p:nvSpPr>
        <p:spPr bwMode="auto">
          <a:xfrm>
            <a:off x="6781800" y="2071688"/>
            <a:ext cx="552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1653" name="Text Box 37"/>
          <p:cNvSpPr txBox="1">
            <a:spLocks noChangeArrowheads="1"/>
          </p:cNvSpPr>
          <p:nvPr/>
        </p:nvSpPr>
        <p:spPr bwMode="auto">
          <a:xfrm>
            <a:off x="6781800" y="2671763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？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1654" name="Text Box 38"/>
          <p:cNvSpPr txBox="1">
            <a:spLocks noChangeArrowheads="1"/>
          </p:cNvSpPr>
          <p:nvPr/>
        </p:nvSpPr>
        <p:spPr bwMode="auto">
          <a:xfrm>
            <a:off x="6781800" y="3281363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？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1655" name="Text Box 39"/>
          <p:cNvSpPr txBox="1">
            <a:spLocks noChangeArrowheads="1"/>
          </p:cNvSpPr>
          <p:nvPr/>
        </p:nvSpPr>
        <p:spPr bwMode="auto">
          <a:xfrm>
            <a:off x="6781800" y="4271963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？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5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51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5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751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5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5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5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5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5" dur="500"/>
                                        <p:tgtEl>
                                          <p:spTgt spid="75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751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751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75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75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75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751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9" dur="500"/>
                                        <p:tgtEl>
                                          <p:spTgt spid="75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751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75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51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51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75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75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75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751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75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75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75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75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619" grpId="0" autoUpdateAnimBg="0"/>
      <p:bldP spid="751620" grpId="0" autoUpdateAnimBg="0"/>
      <p:bldP spid="751621" grpId="0" autoUpdateAnimBg="0"/>
      <p:bldP spid="751622" grpId="0" autoUpdateAnimBg="0"/>
      <p:bldP spid="751626" grpId="0" autoUpdateAnimBg="0"/>
      <p:bldP spid="751627" grpId="0" autoUpdateAnimBg="0"/>
      <p:bldP spid="751628" grpId="0" autoUpdateAnimBg="0"/>
      <p:bldP spid="751629" grpId="0" autoUpdateAnimBg="0"/>
      <p:bldP spid="751630" grpId="0" autoUpdateAnimBg="0"/>
      <p:bldP spid="751631" grpId="0" autoUpdateAnimBg="0"/>
      <p:bldP spid="751635" grpId="0" autoUpdateAnimBg="0"/>
      <p:bldP spid="751636" grpId="0" autoUpdateAnimBg="0"/>
      <p:bldP spid="751637" grpId="0" autoUpdateAnimBg="0"/>
      <p:bldP spid="751638" grpId="0" autoUpdateAnimBg="0"/>
      <p:bldP spid="751639" grpId="0" autoUpdateAnimBg="0"/>
      <p:bldP spid="751643" grpId="0" autoUpdateAnimBg="0"/>
      <p:bldP spid="751644" grpId="0" autoUpdateAnimBg="0"/>
      <p:bldP spid="751645" grpId="0" autoUpdateAnimBg="0"/>
      <p:bldP spid="751646" grpId="0" autoUpdateAnimBg="0"/>
      <p:bldP spid="751647" grpId="0" autoUpdateAnimBg="0"/>
      <p:bldP spid="751648" grpId="0" autoUpdateAnimBg="0"/>
      <p:bldP spid="751649" grpId="0" autoUpdateAnimBg="0"/>
      <p:bldP spid="751650" grpId="0" autoUpdateAnimBg="0"/>
      <p:bldP spid="751651" grpId="0" autoUpdateAnimBg="0"/>
      <p:bldP spid="751652" grpId="0" autoUpdateAnimBg="0"/>
      <p:bldP spid="751653" grpId="0" autoUpdateAnimBg="0"/>
      <p:bldP spid="751654" grpId="0" autoUpdateAnimBg="0"/>
      <p:bldP spid="751655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1828800" y="228600"/>
            <a:ext cx="6146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2. 笔算除法和机器除法的比较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752643" name="Group 3"/>
          <p:cNvGrpSpPr/>
          <p:nvPr/>
        </p:nvGrpSpPr>
        <p:grpSpPr bwMode="auto">
          <a:xfrm>
            <a:off x="2819400" y="1295400"/>
            <a:ext cx="5270500" cy="541338"/>
            <a:chOff x="816" y="816"/>
            <a:chExt cx="3320" cy="341"/>
          </a:xfrm>
        </p:grpSpPr>
        <p:sp>
          <p:nvSpPr>
            <p:cNvPr id="65555" name="Text Box 4"/>
            <p:cNvSpPr txBox="1">
              <a:spLocks noChangeArrowheads="1"/>
            </p:cNvSpPr>
            <p:nvPr/>
          </p:nvSpPr>
          <p:spPr bwMode="auto">
            <a:xfrm>
              <a:off x="816" y="816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笔算除法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56" name="Text Box 5"/>
            <p:cNvSpPr txBox="1">
              <a:spLocks noChangeArrowheads="1"/>
            </p:cNvSpPr>
            <p:nvPr/>
          </p:nvSpPr>
          <p:spPr bwMode="auto">
            <a:xfrm>
              <a:off x="2784" y="830"/>
              <a:ext cx="13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  机器除法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52646" name="Text Box 6"/>
          <p:cNvSpPr txBox="1">
            <a:spLocks noChangeArrowheads="1"/>
          </p:cNvSpPr>
          <p:nvPr/>
        </p:nvSpPr>
        <p:spPr bwMode="auto">
          <a:xfrm>
            <a:off x="2574925" y="1995488"/>
            <a:ext cx="2327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商符单独处理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2647" name="Text Box 7"/>
          <p:cNvSpPr txBox="1">
            <a:spLocks noChangeArrowheads="1"/>
          </p:cNvSpPr>
          <p:nvPr/>
        </p:nvSpPr>
        <p:spPr bwMode="auto">
          <a:xfrm>
            <a:off x="2574925" y="2579688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心算上商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2648" name="Text Box 8"/>
          <p:cNvSpPr txBox="1">
            <a:spLocks noChangeArrowheads="1"/>
          </p:cNvSpPr>
          <p:nvPr/>
        </p:nvSpPr>
        <p:spPr bwMode="auto">
          <a:xfrm>
            <a:off x="6354763" y="1995488"/>
            <a:ext cx="3116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符号位异或形成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2649" name="Text Box 9"/>
          <p:cNvSpPr txBox="1">
            <a:spLocks noChangeArrowheads="1"/>
          </p:cNvSpPr>
          <p:nvPr/>
        </p:nvSpPr>
        <p:spPr bwMode="auto">
          <a:xfrm>
            <a:off x="6354763" y="2579688"/>
            <a:ext cx="3319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|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|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|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>
                <a:latin typeface="Times New Roman" panose="02020603050405020304" pitchFamily="18" charset="0"/>
              </a:rPr>
              <a:t>＞ 0 </a:t>
            </a:r>
            <a:r>
              <a:rPr lang="zh-CN" altLang="en-US">
                <a:latin typeface="Times New Roman" panose="02020603050405020304" pitchFamily="18" charset="0"/>
              </a:rPr>
              <a:t>上商 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2650" name="Text Box 10"/>
          <p:cNvSpPr txBox="1">
            <a:spLocks noChangeArrowheads="1"/>
          </p:cNvSpPr>
          <p:nvPr/>
        </p:nvSpPr>
        <p:spPr bwMode="auto">
          <a:xfrm>
            <a:off x="6354763" y="3163888"/>
            <a:ext cx="3319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|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|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|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altLang="zh-CN">
                <a:latin typeface="Times New Roman" panose="02020603050405020304" pitchFamily="18" charset="0"/>
              </a:rPr>
              <a:t>＜ 0 </a:t>
            </a:r>
            <a:r>
              <a:rPr lang="zh-CN" altLang="en-US">
                <a:latin typeface="Times New Roman" panose="02020603050405020304" pitchFamily="18" charset="0"/>
              </a:rPr>
              <a:t>上商 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52651" name="Group 11"/>
          <p:cNvGrpSpPr/>
          <p:nvPr/>
        </p:nvGrpSpPr>
        <p:grpSpPr bwMode="auto">
          <a:xfrm>
            <a:off x="2574925" y="3748088"/>
            <a:ext cx="3406775" cy="998537"/>
            <a:chOff x="662" y="2361"/>
            <a:chExt cx="2146" cy="629"/>
          </a:xfrm>
        </p:grpSpPr>
        <p:sp>
          <p:nvSpPr>
            <p:cNvPr id="65553" name="Text Box 12"/>
            <p:cNvSpPr txBox="1">
              <a:spLocks noChangeArrowheads="1"/>
            </p:cNvSpPr>
            <p:nvPr/>
          </p:nvSpPr>
          <p:spPr bwMode="auto">
            <a:xfrm>
              <a:off x="662" y="2361"/>
              <a:ext cx="21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余数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不动 </a:t>
              </a:r>
              <a:r>
                <a:rPr lang="zh-CN" altLang="en-US">
                  <a:latin typeface="Times New Roman" panose="02020603050405020304" pitchFamily="18" charset="0"/>
                </a:rPr>
                <a:t>低位补“0”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5554" name="Text Box 13"/>
            <p:cNvSpPr txBox="1">
              <a:spLocks noChangeArrowheads="1"/>
            </p:cNvSpPr>
            <p:nvPr/>
          </p:nvSpPr>
          <p:spPr bwMode="auto">
            <a:xfrm>
              <a:off x="662" y="2663"/>
              <a:ext cx="19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减右移一位 </a:t>
              </a:r>
              <a:r>
                <a:rPr lang="zh-CN" altLang="en-US">
                  <a:latin typeface="Times New Roman" panose="02020603050405020304" pitchFamily="18" charset="0"/>
                </a:rPr>
                <a:t>的除数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52654" name="Text Box 14"/>
          <p:cNvSpPr txBox="1">
            <a:spLocks noChangeArrowheads="1"/>
          </p:cNvSpPr>
          <p:nvPr/>
        </p:nvSpPr>
        <p:spPr bwMode="auto">
          <a:xfrm>
            <a:off x="2574925" y="4916488"/>
            <a:ext cx="2593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2 倍字长加法器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2655" name="Text Box 15"/>
          <p:cNvSpPr txBox="1">
            <a:spLocks noChangeArrowheads="1"/>
          </p:cNvSpPr>
          <p:nvPr/>
        </p:nvSpPr>
        <p:spPr bwMode="auto">
          <a:xfrm>
            <a:off x="2574925" y="5522913"/>
            <a:ext cx="2784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上商位置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不固定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52656" name="Group 16"/>
          <p:cNvGrpSpPr/>
          <p:nvPr/>
        </p:nvGrpSpPr>
        <p:grpSpPr bwMode="auto">
          <a:xfrm>
            <a:off x="6354763" y="3770313"/>
            <a:ext cx="4124325" cy="962025"/>
            <a:chOff x="2741" y="2375"/>
            <a:chExt cx="2598" cy="606"/>
          </a:xfrm>
        </p:grpSpPr>
        <p:sp>
          <p:nvSpPr>
            <p:cNvPr id="65551" name="Text Box 17"/>
            <p:cNvSpPr txBox="1">
              <a:spLocks noChangeArrowheads="1"/>
            </p:cNvSpPr>
            <p:nvPr/>
          </p:nvSpPr>
          <p:spPr bwMode="auto">
            <a:xfrm>
              <a:off x="2741" y="2375"/>
              <a:ext cx="25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余数 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左移一位 </a:t>
              </a:r>
              <a:r>
                <a:rPr lang="zh-CN" altLang="en-US">
                  <a:latin typeface="Times New Roman" panose="02020603050405020304" pitchFamily="18" charset="0"/>
                </a:rPr>
                <a:t>低位补“0”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5552" name="Text Box 18"/>
            <p:cNvSpPr txBox="1">
              <a:spLocks noChangeArrowheads="1"/>
            </p:cNvSpPr>
            <p:nvPr/>
          </p:nvSpPr>
          <p:spPr bwMode="auto">
            <a:xfrm>
              <a:off x="2741" y="2654"/>
              <a:ext cx="85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减 </a:t>
              </a:r>
              <a:r>
                <a:rPr lang="zh-CN" altLang="en-US">
                  <a:latin typeface="Times New Roman" panose="02020603050405020304" pitchFamily="18" charset="0"/>
                </a:rPr>
                <a:t>除数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52659" name="Text Box 19"/>
          <p:cNvSpPr txBox="1">
            <a:spLocks noChangeArrowheads="1"/>
          </p:cNvSpPr>
          <p:nvPr/>
        </p:nvSpPr>
        <p:spPr bwMode="auto">
          <a:xfrm>
            <a:off x="6354763" y="4916488"/>
            <a:ext cx="3116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 倍字长加法器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2660" name="Text Box 20"/>
          <p:cNvSpPr txBox="1">
            <a:spLocks noChangeArrowheads="1"/>
          </p:cNvSpPr>
          <p:nvPr/>
        </p:nvSpPr>
        <p:spPr bwMode="auto">
          <a:xfrm>
            <a:off x="6354763" y="5500688"/>
            <a:ext cx="3802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在寄存器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最末位上商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5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52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52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5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52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5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2646" grpId="0" autoUpdateAnimBg="0"/>
      <p:bldP spid="752647" grpId="0" autoUpdateAnimBg="0"/>
      <p:bldP spid="752648" grpId="0" autoUpdateAnimBg="0"/>
      <p:bldP spid="752649" grpId="0" autoUpdateAnimBg="0"/>
      <p:bldP spid="752650" grpId="0" autoUpdateAnimBg="0"/>
      <p:bldP spid="752654" grpId="0" autoUpdateAnimBg="0"/>
      <p:bldP spid="752655" grpId="0" autoUpdateAnimBg="0"/>
      <p:bldP spid="752659" grpId="0" autoUpdateAnimBg="0"/>
      <p:bldP spid="752660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2057400" y="273050"/>
            <a:ext cx="38941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3. 原码除法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53667" name="Text Box 3"/>
          <p:cNvSpPr txBox="1">
            <a:spLocks noChangeArrowheads="1"/>
          </p:cNvSpPr>
          <p:nvPr/>
        </p:nvSpPr>
        <p:spPr bwMode="auto">
          <a:xfrm>
            <a:off x="2525713" y="990600"/>
            <a:ext cx="37988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以小数为例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53668" name="Group 4"/>
          <p:cNvGrpSpPr/>
          <p:nvPr/>
        </p:nvGrpSpPr>
        <p:grpSpPr bwMode="auto">
          <a:xfrm>
            <a:off x="2857500" y="1590675"/>
            <a:ext cx="3379788" cy="519113"/>
            <a:chOff x="998" y="1002"/>
            <a:chExt cx="2129" cy="327"/>
          </a:xfrm>
        </p:grpSpPr>
        <p:sp>
          <p:nvSpPr>
            <p:cNvPr id="66599" name="Text Box 5"/>
            <p:cNvSpPr txBox="1">
              <a:spLocks noChangeArrowheads="1"/>
            </p:cNvSpPr>
            <p:nvPr/>
          </p:nvSpPr>
          <p:spPr bwMode="auto">
            <a:xfrm>
              <a:off x="998" y="1002"/>
              <a:ext cx="21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[ </a:t>
              </a:r>
              <a:r>
                <a:rPr lang="en-US" altLang="zh-CN" i="1">
                  <a:latin typeface="Times New Roman" panose="02020603050405020304" pitchFamily="18" charset="0"/>
                </a:rPr>
                <a:t>x 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sz="2400" baseline="-25000">
                  <a:latin typeface="Times New Roman" panose="02020603050405020304" pitchFamily="18" charset="0"/>
                </a:rPr>
                <a:t>原</a:t>
              </a:r>
              <a:r>
                <a:rPr lang="zh-CN" altLang="en-US">
                  <a:latin typeface="Times New Roman" panose="02020603050405020304" pitchFamily="18" charset="0"/>
                </a:rPr>
                <a:t> =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>
                  <a:latin typeface="Times New Roman" panose="02020603050405020304" pitchFamily="18" charset="0"/>
                </a:rPr>
                <a:t>.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>
                  <a:latin typeface="Times New Roman" panose="02020603050405020304" pitchFamily="18" charset="0"/>
                </a:rPr>
                <a:t>       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n</a:t>
              </a:r>
              <a:endParaRPr lang="en-US" altLang="zh-CN" sz="2400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6600" name="Text Box 6"/>
            <p:cNvSpPr txBox="1">
              <a:spLocks noChangeArrowheads="1"/>
            </p:cNvSpPr>
            <p:nvPr/>
          </p:nvSpPr>
          <p:spPr bwMode="auto">
            <a:xfrm>
              <a:off x="2448" y="1002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53671" name="Group 7"/>
          <p:cNvGrpSpPr/>
          <p:nvPr/>
        </p:nvGrpSpPr>
        <p:grpSpPr bwMode="auto">
          <a:xfrm>
            <a:off x="2857500" y="2071688"/>
            <a:ext cx="3295650" cy="519112"/>
            <a:chOff x="1008" y="1305"/>
            <a:chExt cx="2076" cy="327"/>
          </a:xfrm>
        </p:grpSpPr>
        <p:sp>
          <p:nvSpPr>
            <p:cNvPr id="66597" name="Text Box 8"/>
            <p:cNvSpPr txBox="1">
              <a:spLocks noChangeArrowheads="1"/>
            </p:cNvSpPr>
            <p:nvPr/>
          </p:nvSpPr>
          <p:spPr bwMode="auto">
            <a:xfrm>
              <a:off x="1008" y="1305"/>
              <a:ext cx="20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[</a:t>
              </a:r>
              <a:r>
                <a:rPr lang="zh-CN" altLang="en-US" sz="2400">
                  <a:latin typeface="Times New Roman" panose="02020603050405020304" pitchFamily="18" charset="0"/>
                </a:rPr>
                <a:t> </a:t>
              </a:r>
              <a:r>
                <a:rPr lang="zh-CN" altLang="en-US" sz="1000">
                  <a:latin typeface="Times New Roman" panose="02020603050405020304" pitchFamily="18" charset="0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y 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sz="2400" baseline="-25000">
                  <a:latin typeface="Times New Roman" panose="02020603050405020304" pitchFamily="18" charset="0"/>
                </a:rPr>
                <a:t>原</a:t>
              </a:r>
              <a:r>
                <a:rPr lang="zh-CN" altLang="en-US">
                  <a:latin typeface="Times New Roman" panose="02020603050405020304" pitchFamily="18" charset="0"/>
                </a:rPr>
                <a:t> =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>
                  <a:latin typeface="Times New Roman" panose="02020603050405020304" pitchFamily="18" charset="0"/>
                </a:rPr>
                <a:t>.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>
                  <a:latin typeface="Times New Roman" panose="02020603050405020304" pitchFamily="18" charset="0"/>
                </a:rPr>
                <a:t>       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n</a:t>
              </a:r>
              <a:endParaRPr lang="en-US" altLang="zh-CN" sz="2400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66598" name="Text Box 9"/>
            <p:cNvSpPr txBox="1">
              <a:spLocks noChangeArrowheads="1"/>
            </p:cNvSpPr>
            <p:nvPr/>
          </p:nvSpPr>
          <p:spPr bwMode="auto">
            <a:xfrm>
              <a:off x="2448" y="1305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53674" name="Group 10"/>
          <p:cNvGrpSpPr/>
          <p:nvPr/>
        </p:nvGrpSpPr>
        <p:grpSpPr bwMode="auto">
          <a:xfrm>
            <a:off x="2657475" y="3200400"/>
            <a:ext cx="6678613" cy="882650"/>
            <a:chOff x="714" y="2016"/>
            <a:chExt cx="4207" cy="556"/>
          </a:xfrm>
        </p:grpSpPr>
        <p:sp>
          <p:nvSpPr>
            <p:cNvPr id="66594" name="Text Box 11"/>
            <p:cNvSpPr txBox="1">
              <a:spLocks noChangeArrowheads="1"/>
            </p:cNvSpPr>
            <p:nvPr/>
          </p:nvSpPr>
          <p:spPr bwMode="auto">
            <a:xfrm>
              <a:off x="714" y="2049"/>
              <a:ext cx="4207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式中  </a:t>
              </a:r>
              <a:r>
                <a:rPr lang="en-US" altLang="zh-CN" sz="24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</a:t>
              </a:r>
              <a:r>
                <a:rPr lang="en-US" altLang="zh-CN" sz="2400">
                  <a:latin typeface="Times New Roman" panose="02020603050405020304" pitchFamily="18" charset="0"/>
                </a:rPr>
                <a:t> = 0</a:t>
              </a:r>
              <a:r>
                <a:rPr lang="en-US" altLang="en-US" sz="2400">
                  <a:latin typeface="Times New Roman" panose="02020603050405020304" pitchFamily="18" charset="0"/>
                  <a:ea typeface="等线" panose="02010600030101010101" pitchFamily="2" charset="-122"/>
                </a:rPr>
                <a:t>. </a:t>
              </a:r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i="1">
                  <a:latin typeface="Times New Roman" panose="02020603050405020304" pitchFamily="18" charset="0"/>
                </a:rPr>
                <a:t>x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n</a:t>
              </a:r>
              <a:r>
                <a:rPr lang="en-US" altLang="zh-CN" sz="2400">
                  <a:latin typeface="Times New Roman" panose="02020603050405020304" pitchFamily="18" charset="0"/>
                </a:rPr>
                <a:t>    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为 </a:t>
              </a:r>
              <a:r>
                <a:rPr lang="en-US" altLang="zh-CN" sz="24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的绝对值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400">
                  <a:latin typeface="Times New Roman" panose="02020603050405020304" pitchFamily="18" charset="0"/>
                </a:rPr>
                <a:t> </a:t>
              </a:r>
              <a:r>
                <a:rPr lang="en-US" altLang="zh-CN" sz="2000">
                  <a:latin typeface="Times New Roman" panose="02020603050405020304" pitchFamily="18" charset="0"/>
                </a:rPr>
                <a:t> </a:t>
              </a:r>
              <a:r>
                <a:rPr lang="en-US" altLang="zh-CN" sz="2400">
                  <a:latin typeface="Times New Roman" panose="02020603050405020304" pitchFamily="18" charset="0"/>
                </a:rPr>
                <a:t>         </a:t>
              </a:r>
              <a:r>
                <a:rPr lang="en-US" altLang="zh-CN" sz="24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</a:t>
              </a:r>
              <a:r>
                <a:rPr lang="en-US" altLang="zh-CN" sz="2400">
                  <a:latin typeface="Times New Roman" panose="02020603050405020304" pitchFamily="18" charset="0"/>
                </a:rPr>
                <a:t> = 0</a:t>
              </a:r>
              <a:r>
                <a:rPr lang="en-US" altLang="en-US" sz="2400">
                  <a:latin typeface="Times New Roman" panose="02020603050405020304" pitchFamily="18" charset="0"/>
                  <a:ea typeface="等线" panose="02010600030101010101" pitchFamily="2" charset="-122"/>
                </a:rPr>
                <a:t>. </a:t>
              </a:r>
              <a:r>
                <a:rPr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400">
                  <a:latin typeface="Times New Roman" panose="02020603050405020304" pitchFamily="18" charset="0"/>
                </a:rPr>
                <a:t>         </a:t>
              </a:r>
              <a:r>
                <a:rPr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n</a:t>
              </a:r>
              <a:r>
                <a:rPr lang="en-US" altLang="zh-CN" sz="2400">
                  <a:latin typeface="Times New Roman" panose="02020603050405020304" pitchFamily="18" charset="0"/>
                </a:rPr>
                <a:t>    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为 </a:t>
              </a:r>
              <a:r>
                <a:rPr lang="en-US" altLang="zh-CN" sz="24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的绝对值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95" name="Text Box 12"/>
            <p:cNvSpPr txBox="1">
              <a:spLocks noChangeArrowheads="1"/>
            </p:cNvSpPr>
            <p:nvPr/>
          </p:nvSpPr>
          <p:spPr bwMode="auto">
            <a:xfrm>
              <a:off x="2164" y="201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6596" name="Text Box 13"/>
            <p:cNvSpPr txBox="1">
              <a:spLocks noChangeArrowheads="1"/>
            </p:cNvSpPr>
            <p:nvPr/>
          </p:nvSpPr>
          <p:spPr bwMode="auto">
            <a:xfrm>
              <a:off x="2168" y="224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53678" name="Group 14"/>
          <p:cNvGrpSpPr/>
          <p:nvPr/>
        </p:nvGrpSpPr>
        <p:grpSpPr bwMode="auto">
          <a:xfrm>
            <a:off x="2803525" y="4648200"/>
            <a:ext cx="3781425" cy="763588"/>
            <a:chOff x="806" y="2928"/>
            <a:chExt cx="2382" cy="481"/>
          </a:xfrm>
        </p:grpSpPr>
        <p:sp>
          <p:nvSpPr>
            <p:cNvPr id="66589" name="Text Box 15"/>
            <p:cNvSpPr txBox="1">
              <a:spLocks noChangeArrowheads="1"/>
            </p:cNvSpPr>
            <p:nvPr/>
          </p:nvSpPr>
          <p:spPr bwMode="auto">
            <a:xfrm>
              <a:off x="806" y="3024"/>
              <a:ext cx="20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数值部分为绝对值相除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66590" name="Group 16"/>
            <p:cNvGrpSpPr/>
            <p:nvPr/>
          </p:nvGrpSpPr>
          <p:grpSpPr bwMode="auto">
            <a:xfrm>
              <a:off x="2880" y="2928"/>
              <a:ext cx="308" cy="481"/>
              <a:chOff x="2880" y="2928"/>
              <a:chExt cx="308" cy="481"/>
            </a:xfrm>
          </p:grpSpPr>
          <p:sp>
            <p:nvSpPr>
              <p:cNvPr id="66591" name="Text Box 17"/>
              <p:cNvSpPr txBox="1">
                <a:spLocks noChangeArrowheads="1"/>
              </p:cNvSpPr>
              <p:nvPr/>
            </p:nvSpPr>
            <p:spPr bwMode="auto">
              <a:xfrm>
                <a:off x="2880" y="2928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*</a:t>
                </a:r>
                <a:endPara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592" name="Text Box 18"/>
              <p:cNvSpPr txBox="1">
                <a:spLocks noChangeArrowheads="1"/>
              </p:cNvSpPr>
              <p:nvPr/>
            </p:nvSpPr>
            <p:spPr bwMode="auto">
              <a:xfrm>
                <a:off x="2880" y="3121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*</a:t>
                </a:r>
                <a:endPara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593" name="Line 19"/>
              <p:cNvSpPr>
                <a:spLocks noChangeShapeType="1"/>
              </p:cNvSpPr>
              <p:nvPr/>
            </p:nvSpPr>
            <p:spPr bwMode="auto">
              <a:xfrm>
                <a:off x="2894" y="3190"/>
                <a:ext cx="190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753684" name="Text Box 20"/>
          <p:cNvSpPr txBox="1">
            <a:spLocks noChangeArrowheads="1"/>
          </p:cNvSpPr>
          <p:nvPr/>
        </p:nvSpPr>
        <p:spPr bwMode="auto">
          <a:xfrm>
            <a:off x="3794125" y="5888038"/>
            <a:ext cx="225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被除数不等于 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3685" name="Text Box 21"/>
          <p:cNvSpPr txBox="1">
            <a:spLocks noChangeArrowheads="1"/>
          </p:cNvSpPr>
          <p:nvPr/>
        </p:nvSpPr>
        <p:spPr bwMode="auto">
          <a:xfrm>
            <a:off x="3794125" y="6324600"/>
            <a:ext cx="1944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除数不能为 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53686" name="Group 22"/>
          <p:cNvGrpSpPr/>
          <p:nvPr/>
        </p:nvGrpSpPr>
        <p:grpSpPr bwMode="auto">
          <a:xfrm>
            <a:off x="3794125" y="5451475"/>
            <a:ext cx="6311900" cy="457200"/>
            <a:chOff x="1430" y="3434"/>
            <a:chExt cx="3976" cy="288"/>
          </a:xfrm>
        </p:grpSpPr>
        <p:sp>
          <p:nvSpPr>
            <p:cNvPr id="66587" name="Text Box 23"/>
            <p:cNvSpPr txBox="1">
              <a:spLocks noChangeArrowheads="1"/>
            </p:cNvSpPr>
            <p:nvPr/>
          </p:nvSpPr>
          <p:spPr bwMode="auto">
            <a:xfrm>
              <a:off x="1430" y="3434"/>
              <a:ext cx="19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小数定点除法 </a:t>
              </a:r>
              <a:r>
                <a:rPr lang="en-US" altLang="zh-CN" sz="24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 </a:t>
              </a:r>
              <a:r>
                <a:rPr lang="en-US" altLang="zh-CN" sz="2000">
                  <a:latin typeface="Times New Roman" panose="02020603050405020304" pitchFamily="18" charset="0"/>
                </a:rPr>
                <a:t>＜ </a:t>
              </a:r>
              <a:r>
                <a:rPr lang="en-US" altLang="zh-CN" sz="24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88" name="Text Box 24"/>
            <p:cNvSpPr txBox="1">
              <a:spLocks noChangeArrowheads="1"/>
            </p:cNvSpPr>
            <p:nvPr/>
          </p:nvSpPr>
          <p:spPr bwMode="auto">
            <a:xfrm>
              <a:off x="3461" y="3434"/>
              <a:ext cx="19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整数定点除法 </a:t>
              </a:r>
              <a:r>
                <a:rPr lang="en-US" altLang="zh-CN" sz="24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 </a:t>
              </a:r>
              <a:r>
                <a:rPr lang="en-US" altLang="zh-CN" sz="2000">
                  <a:latin typeface="Times New Roman" panose="02020603050405020304" pitchFamily="18" charset="0"/>
                </a:rPr>
                <a:t>＞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400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53689" name="Group 25"/>
          <p:cNvGrpSpPr/>
          <p:nvPr/>
        </p:nvGrpSpPr>
        <p:grpSpPr bwMode="auto">
          <a:xfrm>
            <a:off x="2803525" y="4267200"/>
            <a:ext cx="3998913" cy="519113"/>
            <a:chOff x="806" y="2688"/>
            <a:chExt cx="2519" cy="327"/>
          </a:xfrm>
        </p:grpSpPr>
        <p:sp>
          <p:nvSpPr>
            <p:cNvPr id="66585" name="Text Box 26"/>
            <p:cNvSpPr txBox="1">
              <a:spLocks noChangeArrowheads="1"/>
            </p:cNvSpPr>
            <p:nvPr/>
          </p:nvSpPr>
          <p:spPr bwMode="auto">
            <a:xfrm>
              <a:off x="806" y="2688"/>
              <a:ext cx="251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商的符号位单独处理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zh-CN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 </a:t>
              </a:r>
              <a:r>
                <a:rPr lang="en-US" altLang="zh-CN" i="1">
                  <a:solidFill>
                    <a:schemeClr val="folHlink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aseline="-250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86" name="AutoShape 27"/>
            <p:cNvSpPr>
              <a:spLocks noChangeArrowheads="1"/>
            </p:cNvSpPr>
            <p:nvPr/>
          </p:nvSpPr>
          <p:spPr bwMode="auto">
            <a:xfrm>
              <a:off x="2877" y="2792"/>
              <a:ext cx="147" cy="147"/>
            </a:xfrm>
            <a:prstGeom prst="flowChartOr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53692" name="Group 28"/>
          <p:cNvGrpSpPr/>
          <p:nvPr/>
        </p:nvGrpSpPr>
        <p:grpSpPr bwMode="auto">
          <a:xfrm>
            <a:off x="2855913" y="2420938"/>
            <a:ext cx="3171825" cy="777875"/>
            <a:chOff x="839" y="1525"/>
            <a:chExt cx="1998" cy="490"/>
          </a:xfrm>
        </p:grpSpPr>
        <p:grpSp>
          <p:nvGrpSpPr>
            <p:cNvPr id="66574" name="Group 29"/>
            <p:cNvGrpSpPr/>
            <p:nvPr/>
          </p:nvGrpSpPr>
          <p:grpSpPr bwMode="auto">
            <a:xfrm>
              <a:off x="839" y="1525"/>
              <a:ext cx="1998" cy="490"/>
              <a:chOff x="839" y="1525"/>
              <a:chExt cx="1998" cy="490"/>
            </a:xfrm>
          </p:grpSpPr>
          <p:sp>
            <p:nvSpPr>
              <p:cNvPr id="66576" name="Text Box 30"/>
              <p:cNvSpPr txBox="1">
                <a:spLocks noChangeArrowheads="1"/>
              </p:cNvSpPr>
              <p:nvPr/>
            </p:nvSpPr>
            <p:spPr bwMode="auto">
              <a:xfrm>
                <a:off x="839" y="1615"/>
                <a:ext cx="168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[    ]</a:t>
                </a:r>
                <a:r>
                  <a:rPr lang="zh-CN" altLang="en-US" sz="2400" baseline="-25000">
                    <a:latin typeface="Times New Roman" panose="02020603050405020304" pitchFamily="18" charset="0"/>
                  </a:rPr>
                  <a:t>原</a:t>
                </a:r>
                <a:r>
                  <a:rPr lang="zh-CN" altLang="en-US">
                    <a:latin typeface="Times New Roman" panose="02020603050405020304" pitchFamily="18" charset="0"/>
                  </a:rPr>
                  <a:t> = (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Times New Roman" panose="02020603050405020304" pitchFamily="18" charset="0"/>
                  </a:rPr>
                  <a:t>     </a:t>
                </a:r>
                <a:r>
                  <a:rPr lang="en-US" altLang="zh-CN" i="1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 baseline="-25000">
                    <a:latin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Times New Roman" panose="02020603050405020304" pitchFamily="18" charset="0"/>
                  </a:rPr>
                  <a:t>).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6577" name="Group 31"/>
              <p:cNvGrpSpPr/>
              <p:nvPr/>
            </p:nvGrpSpPr>
            <p:grpSpPr bwMode="auto">
              <a:xfrm>
                <a:off x="973" y="1525"/>
                <a:ext cx="204" cy="454"/>
                <a:chOff x="1056" y="1728"/>
                <a:chExt cx="204" cy="454"/>
              </a:xfrm>
            </p:grpSpPr>
            <p:sp>
              <p:nvSpPr>
                <p:cNvPr id="66582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056" y="1728"/>
                  <a:ext cx="20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i="1">
                      <a:latin typeface="Times New Roman" panose="02020603050405020304" pitchFamily="18" charset="0"/>
                    </a:rPr>
                    <a:t>x</a:t>
                  </a:r>
                  <a:endParaRPr lang="en-US" altLang="zh-CN" sz="2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6583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056" y="1894"/>
                  <a:ext cx="20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i="1">
                      <a:latin typeface="Times New Roman" panose="02020603050405020304" pitchFamily="18" charset="0"/>
                    </a:rPr>
                    <a:t>y</a:t>
                  </a:r>
                  <a:endParaRPr lang="en-US" altLang="zh-CN" sz="2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6584" name="Line 34"/>
                <p:cNvSpPr>
                  <a:spLocks noChangeShapeType="1"/>
                </p:cNvSpPr>
                <p:nvPr/>
              </p:nvSpPr>
              <p:spPr bwMode="auto">
                <a:xfrm>
                  <a:off x="1070" y="1990"/>
                  <a:ext cx="19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578" name="Group 35"/>
              <p:cNvGrpSpPr/>
              <p:nvPr/>
            </p:nvGrpSpPr>
            <p:grpSpPr bwMode="auto">
              <a:xfrm>
                <a:off x="2529" y="1525"/>
                <a:ext cx="308" cy="490"/>
                <a:chOff x="2529" y="1525"/>
                <a:chExt cx="308" cy="490"/>
              </a:xfrm>
            </p:grpSpPr>
            <p:sp>
              <p:nvSpPr>
                <p:cNvPr id="66579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529" y="1525"/>
                  <a:ext cx="30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i="1">
                      <a:latin typeface="Times New Roman" panose="02020603050405020304" pitchFamily="18" charset="0"/>
                    </a:rPr>
                    <a:t>x</a:t>
                  </a:r>
                  <a:r>
                    <a:rPr lang="en-US" altLang="zh-CN" sz="2400">
                      <a:latin typeface="Times New Roman" panose="02020603050405020304" pitchFamily="18" charset="0"/>
                    </a:rPr>
                    <a:t>*</a:t>
                  </a: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6580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529" y="1727"/>
                  <a:ext cx="29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i="1">
                      <a:latin typeface="Times New Roman" panose="02020603050405020304" pitchFamily="18" charset="0"/>
                    </a:rPr>
                    <a:t>y</a:t>
                  </a:r>
                  <a:r>
                    <a:rPr lang="en-US" altLang="zh-CN" sz="2400">
                      <a:latin typeface="Times New Roman" panose="02020603050405020304" pitchFamily="18" charset="0"/>
                    </a:rPr>
                    <a:t>*</a:t>
                  </a:r>
                  <a:endParaRPr lang="en-US" altLang="zh-CN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6581" name="Line 38"/>
                <p:cNvSpPr>
                  <a:spLocks noChangeShapeType="1"/>
                </p:cNvSpPr>
                <p:nvPr/>
              </p:nvSpPr>
              <p:spPr bwMode="auto">
                <a:xfrm>
                  <a:off x="2543" y="1787"/>
                  <a:ext cx="19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6575" name="AutoShape 39"/>
            <p:cNvSpPr>
              <a:spLocks noChangeArrowheads="1"/>
            </p:cNvSpPr>
            <p:nvPr/>
          </p:nvSpPr>
          <p:spPr bwMode="auto">
            <a:xfrm>
              <a:off x="1940" y="1730"/>
              <a:ext cx="147" cy="147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sp>
        <p:nvSpPr>
          <p:cNvPr id="753704" name="Text Box 40"/>
          <p:cNvSpPr txBox="1">
            <a:spLocks noChangeArrowheads="1"/>
          </p:cNvSpPr>
          <p:nvPr/>
        </p:nvSpPr>
        <p:spPr bwMode="auto">
          <a:xfrm>
            <a:off x="2525713" y="5348288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约定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3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3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3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5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53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5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5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53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667" grpId="0" autoUpdateAnimBg="0"/>
      <p:bldP spid="753684" grpId="0" autoUpdateAnimBg="0"/>
      <p:bldP spid="753685" grpId="0" autoUpdateAnimBg="0"/>
      <p:bldP spid="753704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1981200" y="152400"/>
            <a:ext cx="3886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(1) 恢复余数法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54691" name="Text Box 3"/>
          <p:cNvSpPr txBox="1">
            <a:spLocks noChangeArrowheads="1"/>
          </p:cNvSpPr>
          <p:nvPr/>
        </p:nvSpPr>
        <p:spPr bwMode="auto">
          <a:xfrm>
            <a:off x="3357563" y="266700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0 . 1 0 1 1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4692" name="Text Box 4"/>
          <p:cNvSpPr txBox="1">
            <a:spLocks noChangeArrowheads="1"/>
          </p:cNvSpPr>
          <p:nvPr/>
        </p:nvSpPr>
        <p:spPr bwMode="auto">
          <a:xfrm>
            <a:off x="3357563" y="3081338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1 . 0 0 1 1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4693" name="Text Box 5"/>
          <p:cNvSpPr txBox="1">
            <a:spLocks noChangeArrowheads="1"/>
          </p:cNvSpPr>
          <p:nvPr/>
        </p:nvSpPr>
        <p:spPr bwMode="auto">
          <a:xfrm>
            <a:off x="3357563" y="506095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1 . 0 0 1 1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4694" name="Text Box 6"/>
          <p:cNvSpPr txBox="1">
            <a:spLocks noChangeArrowheads="1"/>
          </p:cNvSpPr>
          <p:nvPr/>
        </p:nvSpPr>
        <p:spPr bwMode="auto">
          <a:xfrm>
            <a:off x="3357563" y="625792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1 . 0 0 1 1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4695" name="Text Box 7"/>
          <p:cNvSpPr txBox="1">
            <a:spLocks noChangeArrowheads="1"/>
          </p:cNvSpPr>
          <p:nvPr/>
        </p:nvSpPr>
        <p:spPr bwMode="auto">
          <a:xfrm>
            <a:off x="5410200" y="266700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0 . 0 0 0 0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4696" name="Line 8"/>
          <p:cNvSpPr>
            <a:spLocks noChangeShapeType="1"/>
          </p:cNvSpPr>
          <p:nvPr/>
        </p:nvSpPr>
        <p:spPr bwMode="auto">
          <a:xfrm>
            <a:off x="3048000" y="3505200"/>
            <a:ext cx="6781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4697" name="Text Box 9"/>
          <p:cNvSpPr txBox="1">
            <a:spLocks noChangeArrowheads="1"/>
          </p:cNvSpPr>
          <p:nvPr/>
        </p:nvSpPr>
        <p:spPr bwMode="auto">
          <a:xfrm>
            <a:off x="7315200" y="3081338"/>
            <a:ext cx="1255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+[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754698" name="Text Box 10"/>
          <p:cNvSpPr txBox="1">
            <a:spLocks noChangeArrowheads="1"/>
          </p:cNvSpPr>
          <p:nvPr/>
        </p:nvSpPr>
        <p:spPr bwMode="auto">
          <a:xfrm>
            <a:off x="6445250" y="34512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54699" name="Group 11"/>
          <p:cNvGrpSpPr/>
          <p:nvPr/>
        </p:nvGrpSpPr>
        <p:grpSpPr bwMode="auto">
          <a:xfrm>
            <a:off x="3357563" y="3451225"/>
            <a:ext cx="6110287" cy="457200"/>
            <a:chOff x="1155" y="2174"/>
            <a:chExt cx="3849" cy="288"/>
          </a:xfrm>
        </p:grpSpPr>
        <p:sp>
          <p:nvSpPr>
            <p:cNvPr id="67659" name="Text Box 12"/>
            <p:cNvSpPr txBox="1">
              <a:spLocks noChangeArrowheads="1"/>
            </p:cNvSpPr>
            <p:nvPr/>
          </p:nvSpPr>
          <p:spPr bwMode="auto">
            <a:xfrm>
              <a:off x="1155" y="2174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1 . 1 1 1 0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7660" name="Text Box 13"/>
            <p:cNvSpPr txBox="1">
              <a:spLocks noChangeArrowheads="1"/>
            </p:cNvSpPr>
            <p:nvPr/>
          </p:nvSpPr>
          <p:spPr bwMode="auto">
            <a:xfrm>
              <a:off x="3648" y="2198"/>
              <a:ext cx="13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余数为负，上商 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754702" name="Text Box 14"/>
          <p:cNvSpPr txBox="1">
            <a:spLocks noChangeArrowheads="1"/>
          </p:cNvSpPr>
          <p:nvPr/>
        </p:nvSpPr>
        <p:spPr bwMode="auto">
          <a:xfrm>
            <a:off x="3352800" y="386397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0 . 1 1 0 1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4703" name="Text Box 15"/>
          <p:cNvSpPr txBox="1">
            <a:spLocks noChangeArrowheads="1"/>
          </p:cNvSpPr>
          <p:nvPr/>
        </p:nvSpPr>
        <p:spPr bwMode="auto">
          <a:xfrm>
            <a:off x="7315200" y="3863975"/>
            <a:ext cx="120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恢复余数</a:t>
            </a:r>
            <a:endParaRPr lang="zh-CN" altLang="en-US" sz="2400" baseline="-25000">
              <a:latin typeface="Times New Roman" panose="02020603050405020304" pitchFamily="18" charset="0"/>
            </a:endParaRPr>
          </a:p>
        </p:txBody>
      </p:sp>
      <p:grpSp>
        <p:nvGrpSpPr>
          <p:cNvPr id="754704" name="Group 16"/>
          <p:cNvGrpSpPr/>
          <p:nvPr/>
        </p:nvGrpSpPr>
        <p:grpSpPr bwMode="auto">
          <a:xfrm>
            <a:off x="3357563" y="5430838"/>
            <a:ext cx="6110287" cy="457200"/>
            <a:chOff x="1155" y="3421"/>
            <a:chExt cx="3849" cy="288"/>
          </a:xfrm>
        </p:grpSpPr>
        <p:sp>
          <p:nvSpPr>
            <p:cNvPr id="67655" name="Text Box 17"/>
            <p:cNvSpPr txBox="1">
              <a:spLocks noChangeArrowheads="1"/>
            </p:cNvSpPr>
            <p:nvPr/>
          </p:nvSpPr>
          <p:spPr bwMode="auto">
            <a:xfrm>
              <a:off x="2956" y="342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7656" name="Group 18"/>
            <p:cNvGrpSpPr/>
            <p:nvPr/>
          </p:nvGrpSpPr>
          <p:grpSpPr bwMode="auto">
            <a:xfrm>
              <a:off x="1155" y="3421"/>
              <a:ext cx="3849" cy="288"/>
              <a:chOff x="1155" y="3421"/>
              <a:chExt cx="3849" cy="288"/>
            </a:xfrm>
          </p:grpSpPr>
          <p:sp>
            <p:nvSpPr>
              <p:cNvPr id="67657" name="Text Box 19"/>
              <p:cNvSpPr txBox="1">
                <a:spLocks noChangeArrowheads="1"/>
              </p:cNvSpPr>
              <p:nvPr/>
            </p:nvSpPr>
            <p:spPr bwMode="auto">
              <a:xfrm>
                <a:off x="1155" y="3421"/>
                <a:ext cx="8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0 . 1 0 0 1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658" name="Text Box 20"/>
              <p:cNvSpPr txBox="1">
                <a:spLocks noChangeArrowheads="1"/>
              </p:cNvSpPr>
              <p:nvPr/>
            </p:nvSpPr>
            <p:spPr bwMode="auto">
              <a:xfrm>
                <a:off x="3648" y="3446"/>
                <a:ext cx="135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余数为正，上商 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54709" name="Text Box 21"/>
          <p:cNvSpPr txBox="1">
            <a:spLocks noChangeArrowheads="1"/>
          </p:cNvSpPr>
          <p:nvPr/>
        </p:nvSpPr>
        <p:spPr bwMode="auto">
          <a:xfrm>
            <a:off x="7315200" y="6257925"/>
            <a:ext cx="12557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+[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754710" name="Line 22"/>
          <p:cNvSpPr>
            <a:spLocks noChangeShapeType="1"/>
          </p:cNvSpPr>
          <p:nvPr/>
        </p:nvSpPr>
        <p:spPr bwMode="auto">
          <a:xfrm>
            <a:off x="3048000" y="4289425"/>
            <a:ext cx="6781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4711" name="Line 23"/>
          <p:cNvSpPr>
            <a:spLocks noChangeShapeType="1"/>
          </p:cNvSpPr>
          <p:nvPr/>
        </p:nvSpPr>
        <p:spPr bwMode="auto">
          <a:xfrm>
            <a:off x="3048000" y="5486400"/>
            <a:ext cx="6781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754712" name="Group 24"/>
          <p:cNvGrpSpPr/>
          <p:nvPr/>
        </p:nvGrpSpPr>
        <p:grpSpPr bwMode="auto">
          <a:xfrm>
            <a:off x="3357563" y="4648200"/>
            <a:ext cx="4659312" cy="457200"/>
            <a:chOff x="1155" y="2928"/>
            <a:chExt cx="2935" cy="288"/>
          </a:xfrm>
        </p:grpSpPr>
        <p:sp>
          <p:nvSpPr>
            <p:cNvPr id="67650" name="Text Box 25"/>
            <p:cNvSpPr txBox="1">
              <a:spLocks noChangeArrowheads="1"/>
            </p:cNvSpPr>
            <p:nvPr/>
          </p:nvSpPr>
          <p:spPr bwMode="auto">
            <a:xfrm>
              <a:off x="1155" y="2928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1 . 0 1 1 0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7651" name="Text Box 26"/>
            <p:cNvSpPr txBox="1">
              <a:spLocks noChangeArrowheads="1"/>
            </p:cNvSpPr>
            <p:nvPr/>
          </p:nvSpPr>
          <p:spPr bwMode="auto">
            <a:xfrm>
              <a:off x="2956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7652" name="Group 27"/>
            <p:cNvGrpSpPr/>
            <p:nvPr/>
          </p:nvGrpSpPr>
          <p:grpSpPr bwMode="auto">
            <a:xfrm>
              <a:off x="3696" y="2928"/>
              <a:ext cx="394" cy="288"/>
              <a:chOff x="3696" y="2928"/>
              <a:chExt cx="394" cy="288"/>
            </a:xfrm>
          </p:grpSpPr>
          <p:sp>
            <p:nvSpPr>
              <p:cNvPr id="67653" name="Text Box 28"/>
              <p:cNvSpPr txBox="1">
                <a:spLocks noChangeArrowheads="1"/>
              </p:cNvSpPr>
              <p:nvPr/>
            </p:nvSpPr>
            <p:spPr bwMode="auto">
              <a:xfrm>
                <a:off x="3878" y="292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654" name="Line 29"/>
              <p:cNvSpPr>
                <a:spLocks noChangeShapeType="1"/>
              </p:cNvSpPr>
              <p:nvPr/>
            </p:nvSpPr>
            <p:spPr bwMode="auto">
              <a:xfrm flipH="1">
                <a:off x="3696" y="3065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754718" name="Group 30"/>
          <p:cNvGrpSpPr/>
          <p:nvPr/>
        </p:nvGrpSpPr>
        <p:grpSpPr bwMode="auto">
          <a:xfrm>
            <a:off x="3357563" y="5845175"/>
            <a:ext cx="4659312" cy="457200"/>
            <a:chOff x="1155" y="3682"/>
            <a:chExt cx="2935" cy="288"/>
          </a:xfrm>
        </p:grpSpPr>
        <p:sp>
          <p:nvSpPr>
            <p:cNvPr id="67646" name="Text Box 31"/>
            <p:cNvSpPr txBox="1">
              <a:spLocks noChangeArrowheads="1"/>
            </p:cNvSpPr>
            <p:nvPr/>
          </p:nvSpPr>
          <p:spPr bwMode="auto">
            <a:xfrm>
              <a:off x="1155" y="3682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1 . 0 0 1 0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7647" name="Text Box 32"/>
            <p:cNvSpPr txBox="1">
              <a:spLocks noChangeArrowheads="1"/>
            </p:cNvSpPr>
            <p:nvPr/>
          </p:nvSpPr>
          <p:spPr bwMode="auto">
            <a:xfrm>
              <a:off x="2832" y="3682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7648" name="Text Box 33"/>
            <p:cNvSpPr txBox="1">
              <a:spLocks noChangeArrowheads="1"/>
            </p:cNvSpPr>
            <p:nvPr/>
          </p:nvSpPr>
          <p:spPr bwMode="auto">
            <a:xfrm>
              <a:off x="3878" y="368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49" name="Line 34"/>
            <p:cNvSpPr>
              <a:spLocks noChangeShapeType="1"/>
            </p:cNvSpPr>
            <p:nvPr/>
          </p:nvSpPr>
          <p:spPr bwMode="auto">
            <a:xfrm flipH="1">
              <a:off x="3696" y="3819"/>
              <a:ext cx="19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54723" name="Text Box 35"/>
          <p:cNvSpPr txBox="1">
            <a:spLocks noChangeArrowheads="1"/>
          </p:cNvSpPr>
          <p:nvPr/>
        </p:nvSpPr>
        <p:spPr bwMode="auto">
          <a:xfrm>
            <a:off x="7315200" y="5060950"/>
            <a:ext cx="11779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+[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754724" name="Text Box 36"/>
          <p:cNvSpPr txBox="1">
            <a:spLocks noChangeArrowheads="1"/>
          </p:cNvSpPr>
          <p:nvPr/>
        </p:nvSpPr>
        <p:spPr bwMode="auto">
          <a:xfrm>
            <a:off x="1981200" y="1173163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解：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754725" name="Group 37"/>
          <p:cNvGrpSpPr/>
          <p:nvPr/>
        </p:nvGrpSpPr>
        <p:grpSpPr bwMode="auto">
          <a:xfrm>
            <a:off x="3048000" y="2179638"/>
            <a:ext cx="6781800" cy="4498975"/>
            <a:chOff x="960" y="1373"/>
            <a:chExt cx="4272" cy="2834"/>
          </a:xfrm>
        </p:grpSpPr>
        <p:sp>
          <p:nvSpPr>
            <p:cNvPr id="67641" name="Line 38"/>
            <p:cNvSpPr>
              <a:spLocks noChangeShapeType="1"/>
            </p:cNvSpPr>
            <p:nvPr/>
          </p:nvSpPr>
          <p:spPr bwMode="auto">
            <a:xfrm>
              <a:off x="2304" y="1385"/>
              <a:ext cx="0" cy="28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42" name="Line 39"/>
            <p:cNvSpPr>
              <a:spLocks noChangeShapeType="1"/>
            </p:cNvSpPr>
            <p:nvPr/>
          </p:nvSpPr>
          <p:spPr bwMode="auto">
            <a:xfrm>
              <a:off x="3504" y="1385"/>
              <a:ext cx="0" cy="28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43" name="Text Box 40"/>
            <p:cNvSpPr txBox="1">
              <a:spLocks noChangeArrowheads="1"/>
            </p:cNvSpPr>
            <p:nvPr/>
          </p:nvSpPr>
          <p:spPr bwMode="auto">
            <a:xfrm>
              <a:off x="1008" y="1411"/>
              <a:ext cx="369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被除数（余数）            商                       说      明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  <p:sp>
          <p:nvSpPr>
            <p:cNvPr id="67644" name="Line 41"/>
            <p:cNvSpPr>
              <a:spLocks noChangeShapeType="1"/>
            </p:cNvSpPr>
            <p:nvPr/>
          </p:nvSpPr>
          <p:spPr bwMode="auto">
            <a:xfrm>
              <a:off x="960" y="1680"/>
              <a:ext cx="4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45" name="Line 42"/>
            <p:cNvSpPr>
              <a:spLocks noChangeShapeType="1"/>
            </p:cNvSpPr>
            <p:nvPr/>
          </p:nvSpPr>
          <p:spPr bwMode="auto">
            <a:xfrm>
              <a:off x="960" y="1373"/>
              <a:ext cx="4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54731" name="Text Box 43"/>
          <p:cNvSpPr txBox="1">
            <a:spLocks noChangeArrowheads="1"/>
          </p:cNvSpPr>
          <p:nvPr/>
        </p:nvSpPr>
        <p:spPr bwMode="auto">
          <a:xfrm>
            <a:off x="2667000" y="1277938"/>
            <a:ext cx="3751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原</a:t>
            </a:r>
            <a:r>
              <a:rPr lang="zh-CN" altLang="en-US" sz="2400">
                <a:latin typeface="Times New Roman" panose="02020603050405020304" pitchFamily="18" charset="0"/>
              </a:rPr>
              <a:t> = 1.1011   [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原</a:t>
            </a:r>
            <a:r>
              <a:rPr lang="zh-CN" altLang="en-US" sz="20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= 1.1101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54732" name="Group 44"/>
          <p:cNvGrpSpPr/>
          <p:nvPr/>
        </p:nvGrpSpPr>
        <p:grpSpPr bwMode="auto">
          <a:xfrm>
            <a:off x="2590800" y="1741488"/>
            <a:ext cx="3011488" cy="457200"/>
            <a:chOff x="672" y="1097"/>
            <a:chExt cx="1897" cy="288"/>
          </a:xfrm>
        </p:grpSpPr>
        <p:sp>
          <p:nvSpPr>
            <p:cNvPr id="67638" name="Text Box 45"/>
            <p:cNvSpPr txBox="1">
              <a:spLocks noChangeArrowheads="1"/>
            </p:cNvSpPr>
            <p:nvPr/>
          </p:nvSpPr>
          <p:spPr bwMode="auto">
            <a:xfrm>
              <a:off x="672" y="1097"/>
              <a:ext cx="18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495300" indent="-4953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952500" indent="-4953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409700" indent="-4953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866900" indent="-4953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324100" indent="-4953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781300" indent="-4953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3238500" indent="-4953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695700" indent="-4953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4152900" indent="-4953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①   </a:t>
              </a:r>
              <a:r>
                <a:rPr kumimoji="1"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kumimoji="1" lang="en-US" altLang="zh-CN" sz="80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4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= 1 </a:t>
              </a:r>
              <a:r>
                <a:rPr kumimoji="1" lang="en-US" altLang="zh-CN" sz="80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kumimoji="1" lang="en-US" altLang="zh-CN" sz="100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 = 0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639" name="AutoShape 46"/>
            <p:cNvSpPr>
              <a:spLocks noChangeArrowheads="1"/>
            </p:cNvSpPr>
            <p:nvPr/>
          </p:nvSpPr>
          <p:spPr bwMode="auto">
            <a:xfrm>
              <a:off x="1267" y="1171"/>
              <a:ext cx="125" cy="125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7640" name="AutoShape 47"/>
            <p:cNvSpPr>
              <a:spLocks noChangeArrowheads="1"/>
            </p:cNvSpPr>
            <p:nvPr/>
          </p:nvSpPr>
          <p:spPr bwMode="auto">
            <a:xfrm>
              <a:off x="1939" y="1171"/>
              <a:ext cx="125" cy="125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754736" name="Text Box 48"/>
          <p:cNvSpPr txBox="1">
            <a:spLocks noChangeArrowheads="1"/>
          </p:cNvSpPr>
          <p:nvPr/>
        </p:nvSpPr>
        <p:spPr bwMode="auto">
          <a:xfrm>
            <a:off x="2597150" y="2189163"/>
            <a:ext cx="49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95300" indent="-4953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52500" indent="-4953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409700" indent="-4953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66900" indent="-4953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324100" indent="-4953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781300" indent="-4953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238500" indent="-4953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95700" indent="-4953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152900" indent="-4953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②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54737" name="Group 49"/>
          <p:cNvGrpSpPr/>
          <p:nvPr/>
        </p:nvGrpSpPr>
        <p:grpSpPr bwMode="auto">
          <a:xfrm>
            <a:off x="1981200" y="609600"/>
            <a:ext cx="6735763" cy="720725"/>
            <a:chOff x="288" y="384"/>
            <a:chExt cx="4243" cy="454"/>
          </a:xfrm>
        </p:grpSpPr>
        <p:grpSp>
          <p:nvGrpSpPr>
            <p:cNvPr id="67628" name="Group 50"/>
            <p:cNvGrpSpPr/>
            <p:nvPr/>
          </p:nvGrpSpPr>
          <p:grpSpPr bwMode="auto">
            <a:xfrm>
              <a:off x="1056" y="384"/>
              <a:ext cx="3475" cy="454"/>
              <a:chOff x="1056" y="384"/>
              <a:chExt cx="3475" cy="454"/>
            </a:xfrm>
          </p:grpSpPr>
          <p:sp>
            <p:nvSpPr>
              <p:cNvPr id="67630" name="Text Box 51"/>
              <p:cNvSpPr txBox="1">
                <a:spLocks noChangeArrowheads="1"/>
              </p:cNvSpPr>
              <p:nvPr/>
            </p:nvSpPr>
            <p:spPr bwMode="auto">
              <a:xfrm>
                <a:off x="1056" y="512"/>
                <a:ext cx="225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 = </a:t>
                </a: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0.1011   </a:t>
                </a:r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– 0.1101</a:t>
                </a:r>
                <a:endPara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631" name="Text Box 52"/>
              <p:cNvSpPr txBox="1">
                <a:spLocks noChangeArrowheads="1"/>
              </p:cNvSpPr>
              <p:nvPr/>
            </p:nvSpPr>
            <p:spPr bwMode="auto">
              <a:xfrm>
                <a:off x="3510" y="500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求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7632" name="Group 53"/>
              <p:cNvGrpSpPr/>
              <p:nvPr/>
            </p:nvGrpSpPr>
            <p:grpSpPr bwMode="auto">
              <a:xfrm>
                <a:off x="3872" y="384"/>
                <a:ext cx="659" cy="454"/>
                <a:chOff x="902" y="1536"/>
                <a:chExt cx="659" cy="454"/>
              </a:xfrm>
            </p:grpSpPr>
            <p:sp>
              <p:nvSpPr>
                <p:cNvPr id="67633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902" y="1626"/>
                  <a:ext cx="659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>
                      <a:latin typeface="Times New Roman" panose="02020603050405020304" pitchFamily="18" charset="0"/>
                    </a:rPr>
                    <a:t>[    ]</a:t>
                  </a:r>
                  <a:r>
                    <a:rPr lang="zh-CN" altLang="en-US" sz="2000" baseline="-25000">
                      <a:latin typeface="Times New Roman" panose="02020603050405020304" pitchFamily="18" charset="0"/>
                    </a:rPr>
                    <a:t>原</a:t>
                  </a:r>
                  <a:r>
                    <a:rPr lang="zh-CN" altLang="en-US">
                      <a:latin typeface="Times New Roman" panose="02020603050405020304" pitchFamily="18" charset="0"/>
                    </a:rPr>
                    <a:t> </a:t>
                  </a:r>
                  <a:endParaRPr lang="en-US" altLang="zh-CN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67634" name="Group 55"/>
                <p:cNvGrpSpPr/>
                <p:nvPr/>
              </p:nvGrpSpPr>
              <p:grpSpPr bwMode="auto">
                <a:xfrm>
                  <a:off x="1036" y="1536"/>
                  <a:ext cx="204" cy="454"/>
                  <a:chOff x="1056" y="1728"/>
                  <a:chExt cx="204" cy="454"/>
                </a:xfrm>
              </p:grpSpPr>
              <p:sp>
                <p:nvSpPr>
                  <p:cNvPr id="67635" name="Text Box 5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56" y="1728"/>
                    <a:ext cx="202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 i="1">
                        <a:latin typeface="Times New Roman" panose="02020603050405020304" pitchFamily="18" charset="0"/>
                      </a:rPr>
                      <a:t>x</a:t>
                    </a:r>
                    <a:endParaRPr lang="en-US" altLang="zh-CN" sz="2400" i="1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636" name="Text Box 5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56" y="1894"/>
                    <a:ext cx="201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Char char="•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5pPr>
                    <a:lvl6pPr marL="25146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6pPr>
                    <a:lvl7pPr marL="29718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7pPr>
                    <a:lvl8pPr marL="34290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8pPr>
                    <a:lvl9pPr marL="3886200" indent="-228600" defTabSz="457200" eaLnBrk="0" fontAlgn="base" hangingPunct="0">
                      <a:lnSpc>
                        <a:spcPct val="90000"/>
                      </a:lnSpc>
                      <a:spcBef>
                        <a:spcPts val="5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•"/>
                      <a:defRPr>
                        <a:solidFill>
                          <a:schemeClr val="tx1"/>
                        </a:solidFill>
                        <a:latin typeface="Calibri" panose="020F0502020204030204" pitchFamily="34" charset="0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400" i="1">
                        <a:latin typeface="Times New Roman" panose="02020603050405020304" pitchFamily="18" charset="0"/>
                      </a:rPr>
                      <a:t>y</a:t>
                    </a:r>
                    <a:endParaRPr lang="en-US" altLang="zh-CN" sz="2400" i="1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637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1070" y="1990"/>
                    <a:ext cx="19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67629" name="Text Box 59"/>
            <p:cNvSpPr txBox="1">
              <a:spLocks noChangeArrowheads="1"/>
            </p:cNvSpPr>
            <p:nvPr/>
          </p:nvSpPr>
          <p:spPr bwMode="auto">
            <a:xfrm>
              <a:off x="288" y="489"/>
              <a:ext cx="7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例6.24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54748" name="Text Box 60"/>
          <p:cNvSpPr txBox="1">
            <a:spLocks noChangeArrowheads="1"/>
          </p:cNvSpPr>
          <p:nvPr/>
        </p:nvSpPr>
        <p:spPr bwMode="auto">
          <a:xfrm>
            <a:off x="6445250" y="54308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54749" name="Group 61"/>
          <p:cNvGrpSpPr/>
          <p:nvPr/>
        </p:nvGrpSpPr>
        <p:grpSpPr bwMode="auto">
          <a:xfrm>
            <a:off x="3357563" y="4233863"/>
            <a:ext cx="5665787" cy="457200"/>
            <a:chOff x="1155" y="2667"/>
            <a:chExt cx="3569" cy="288"/>
          </a:xfrm>
        </p:grpSpPr>
        <p:sp>
          <p:nvSpPr>
            <p:cNvPr id="67625" name="Text Box 62"/>
            <p:cNvSpPr txBox="1">
              <a:spLocks noChangeArrowheads="1"/>
            </p:cNvSpPr>
            <p:nvPr/>
          </p:nvSpPr>
          <p:spPr bwMode="auto">
            <a:xfrm>
              <a:off x="1155" y="2667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0 . 1 0 1 1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7626" name="Text Box 63"/>
            <p:cNvSpPr txBox="1">
              <a:spLocks noChangeArrowheads="1"/>
            </p:cNvSpPr>
            <p:nvPr/>
          </p:nvSpPr>
          <p:spPr bwMode="auto">
            <a:xfrm>
              <a:off x="3648" y="2667"/>
              <a:ext cx="10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恢复后的余数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67627" name="Text Box 64"/>
            <p:cNvSpPr txBox="1">
              <a:spLocks noChangeArrowheads="1"/>
            </p:cNvSpPr>
            <p:nvPr/>
          </p:nvSpPr>
          <p:spPr bwMode="auto">
            <a:xfrm>
              <a:off x="3100" y="266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754753" name="Text Box 65"/>
          <p:cNvSpPr txBox="1">
            <a:spLocks noChangeArrowheads="1"/>
          </p:cNvSpPr>
          <p:nvPr/>
        </p:nvSpPr>
        <p:spPr bwMode="auto">
          <a:xfrm>
            <a:off x="8610600" y="3849688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+[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754754" name="Text Box 66"/>
          <p:cNvSpPr txBox="1">
            <a:spLocks noChangeArrowheads="1"/>
          </p:cNvSpPr>
          <p:nvPr/>
        </p:nvSpPr>
        <p:spPr bwMode="auto">
          <a:xfrm>
            <a:off x="6477000" y="1277938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= 0.1101  [– 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0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= 1.0011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4755" name="AutoShape 67"/>
          <p:cNvSpPr>
            <a:spLocks noChangeArrowheads="1"/>
          </p:cNvSpPr>
          <p:nvPr/>
        </p:nvSpPr>
        <p:spPr bwMode="auto">
          <a:xfrm>
            <a:off x="1906588" y="4495800"/>
            <a:ext cx="1246187" cy="442913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逻辑左移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54756" name="AutoShape 68"/>
          <p:cNvSpPr>
            <a:spLocks noChangeArrowheads="1"/>
          </p:cNvSpPr>
          <p:nvPr/>
        </p:nvSpPr>
        <p:spPr bwMode="auto">
          <a:xfrm>
            <a:off x="1906588" y="5715000"/>
            <a:ext cx="1246187" cy="442913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逻辑左移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754758" name="Group 70"/>
          <p:cNvGrpSpPr/>
          <p:nvPr/>
        </p:nvGrpSpPr>
        <p:grpSpPr bwMode="auto">
          <a:xfrm>
            <a:off x="3359150" y="2708275"/>
            <a:ext cx="1368425" cy="1944688"/>
            <a:chOff x="1156" y="1706"/>
            <a:chExt cx="862" cy="1225"/>
          </a:xfrm>
        </p:grpSpPr>
        <p:sp>
          <p:nvSpPr>
            <p:cNvPr id="67623" name="AutoShape 71"/>
            <p:cNvSpPr>
              <a:spLocks noChangeArrowheads="1"/>
            </p:cNvSpPr>
            <p:nvPr/>
          </p:nvSpPr>
          <p:spPr bwMode="auto">
            <a:xfrm>
              <a:off x="1156" y="1706"/>
              <a:ext cx="862" cy="227"/>
            </a:xfrm>
            <a:prstGeom prst="flowChartAlternateProcess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67624" name="AutoShape 72"/>
            <p:cNvSpPr>
              <a:spLocks noChangeArrowheads="1"/>
            </p:cNvSpPr>
            <p:nvPr/>
          </p:nvSpPr>
          <p:spPr bwMode="auto">
            <a:xfrm>
              <a:off x="1156" y="2704"/>
              <a:ext cx="862" cy="227"/>
            </a:xfrm>
            <a:prstGeom prst="flowChartAlternateProcess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sp>
        <p:nvSpPr>
          <p:cNvPr id="754762" name="Text Box 74"/>
          <p:cNvSpPr txBox="1">
            <a:spLocks noChangeArrowheads="1"/>
          </p:cNvSpPr>
          <p:nvPr/>
        </p:nvSpPr>
        <p:spPr bwMode="auto">
          <a:xfrm>
            <a:off x="3071813" y="30686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+</a:t>
            </a:r>
            <a:endParaRPr lang="en-US" altLang="zh-CN" sz="2400">
              <a:latin typeface="等线" panose="02010600030101010101" pitchFamily="2" charset="-122"/>
            </a:endParaRPr>
          </a:p>
        </p:txBody>
      </p:sp>
      <p:sp>
        <p:nvSpPr>
          <p:cNvPr id="754763" name="Text Box 75"/>
          <p:cNvSpPr txBox="1">
            <a:spLocks noChangeArrowheads="1"/>
          </p:cNvSpPr>
          <p:nvPr/>
        </p:nvSpPr>
        <p:spPr bwMode="auto">
          <a:xfrm>
            <a:off x="3071813" y="3835400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+</a:t>
            </a:r>
            <a:endParaRPr lang="en-US" altLang="zh-CN" sz="2400">
              <a:latin typeface="等线" panose="02010600030101010101" pitchFamily="2" charset="-122"/>
            </a:endParaRPr>
          </a:p>
        </p:txBody>
      </p:sp>
      <p:sp>
        <p:nvSpPr>
          <p:cNvPr id="754764" name="Text Box 76"/>
          <p:cNvSpPr txBox="1">
            <a:spLocks noChangeArrowheads="1"/>
          </p:cNvSpPr>
          <p:nvPr/>
        </p:nvSpPr>
        <p:spPr bwMode="auto">
          <a:xfrm>
            <a:off x="3071813" y="5059363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+</a:t>
            </a:r>
            <a:endParaRPr lang="en-US" altLang="zh-CN" sz="2400">
              <a:latin typeface="等线" panose="02010600030101010101" pitchFamily="2" charset="-122"/>
            </a:endParaRPr>
          </a:p>
        </p:txBody>
      </p:sp>
      <p:sp>
        <p:nvSpPr>
          <p:cNvPr id="754765" name="Text Box 77"/>
          <p:cNvSpPr txBox="1">
            <a:spLocks noChangeArrowheads="1"/>
          </p:cNvSpPr>
          <p:nvPr/>
        </p:nvSpPr>
        <p:spPr bwMode="auto">
          <a:xfrm>
            <a:off x="3071813" y="623728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+</a:t>
            </a:r>
            <a:endParaRPr lang="en-US" altLang="zh-CN" sz="2400">
              <a:latin typeface="等线" panose="02010600030101010101" pitchFamily="2" charset="-122"/>
            </a:endParaRPr>
          </a:p>
        </p:txBody>
      </p:sp>
      <p:sp>
        <p:nvSpPr>
          <p:cNvPr id="754766" name="Line 78"/>
          <p:cNvSpPr>
            <a:spLocks noChangeShapeType="1"/>
          </p:cNvSpPr>
          <p:nvPr/>
        </p:nvSpPr>
        <p:spPr bwMode="auto">
          <a:xfrm>
            <a:off x="3059113" y="6669088"/>
            <a:ext cx="6781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4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4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4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75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5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5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5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5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5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4" dur="500"/>
                                        <p:tgtEl>
                                          <p:spTgt spid="75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75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75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75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75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75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6" dur="500"/>
                                        <p:tgtEl>
                                          <p:spTgt spid="75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754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6" dur="500"/>
                                        <p:tgtEl>
                                          <p:spTgt spid="75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75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75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75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75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75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3" dur="500"/>
                                        <p:tgtEl>
                                          <p:spTgt spid="75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75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754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754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75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75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75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6" dur="500"/>
                                        <p:tgtEl>
                                          <p:spTgt spid="75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0" dur="500"/>
                                        <p:tgtEl>
                                          <p:spTgt spid="75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691" grpId="0" autoUpdateAnimBg="0"/>
      <p:bldP spid="754692" grpId="0" autoUpdateAnimBg="0"/>
      <p:bldP spid="754693" grpId="0" autoUpdateAnimBg="0"/>
      <p:bldP spid="754694" grpId="0" autoUpdateAnimBg="0"/>
      <p:bldP spid="754695" grpId="0" autoUpdateAnimBg="0"/>
      <p:bldP spid="754697" grpId="0" autoUpdateAnimBg="0"/>
      <p:bldP spid="754698" grpId="0" autoUpdateAnimBg="0"/>
      <p:bldP spid="754702" grpId="0" autoUpdateAnimBg="0"/>
      <p:bldP spid="754703" grpId="0" autoUpdateAnimBg="0"/>
      <p:bldP spid="754709" grpId="0" autoUpdateAnimBg="0"/>
      <p:bldP spid="754723" grpId="0" autoUpdateAnimBg="0"/>
      <p:bldP spid="754724" grpId="0" autoUpdateAnimBg="0"/>
      <p:bldP spid="754731" grpId="0" autoUpdateAnimBg="0"/>
      <p:bldP spid="754736" grpId="0" autoUpdateAnimBg="0"/>
      <p:bldP spid="754748" grpId="0" autoUpdateAnimBg="0"/>
      <p:bldP spid="754753" grpId="0" autoUpdateAnimBg="0"/>
      <p:bldP spid="754754" grpId="0" autoUpdateAnimBg="0"/>
      <p:bldP spid="754755" grpId="0" animBg="1" autoUpdateAnimBg="0"/>
      <p:bldP spid="754756" grpId="0" animBg="1" autoUpdateAnimBg="0"/>
      <p:bldP spid="754762" grpId="0"/>
      <p:bldP spid="754763" grpId="0"/>
      <p:bldP spid="754764" grpId="0"/>
      <p:bldP spid="75476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5714" name="Group 2"/>
          <p:cNvGrpSpPr/>
          <p:nvPr/>
        </p:nvGrpSpPr>
        <p:grpSpPr bwMode="auto">
          <a:xfrm>
            <a:off x="2955925" y="815975"/>
            <a:ext cx="6054725" cy="457200"/>
            <a:chOff x="710" y="514"/>
            <a:chExt cx="3814" cy="288"/>
          </a:xfrm>
        </p:grpSpPr>
        <p:sp>
          <p:nvSpPr>
            <p:cNvPr id="68681" name="Text Box 3"/>
            <p:cNvSpPr txBox="1">
              <a:spLocks noChangeArrowheads="1"/>
            </p:cNvSpPr>
            <p:nvPr/>
          </p:nvSpPr>
          <p:spPr bwMode="auto">
            <a:xfrm>
              <a:off x="710" y="514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0 . 0 1 0 1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82" name="Text Box 4"/>
            <p:cNvSpPr txBox="1">
              <a:spLocks noChangeArrowheads="1"/>
            </p:cNvSpPr>
            <p:nvPr/>
          </p:nvSpPr>
          <p:spPr bwMode="auto">
            <a:xfrm>
              <a:off x="2294" y="514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83" name="Text Box 5"/>
            <p:cNvSpPr txBox="1">
              <a:spLocks noChangeArrowheads="1"/>
            </p:cNvSpPr>
            <p:nvPr/>
          </p:nvSpPr>
          <p:spPr bwMode="auto">
            <a:xfrm>
              <a:off x="3168" y="514"/>
              <a:ext cx="13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余数为正，上商 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8611" name="Group 6"/>
          <p:cNvGrpSpPr/>
          <p:nvPr/>
        </p:nvGrpSpPr>
        <p:grpSpPr bwMode="auto">
          <a:xfrm>
            <a:off x="2590800" y="457200"/>
            <a:ext cx="6781800" cy="3808413"/>
            <a:chOff x="480" y="288"/>
            <a:chExt cx="4272" cy="2399"/>
          </a:xfrm>
        </p:grpSpPr>
        <p:sp>
          <p:nvSpPr>
            <p:cNvPr id="68677" name="Line 7"/>
            <p:cNvSpPr>
              <a:spLocks noChangeShapeType="1"/>
            </p:cNvSpPr>
            <p:nvPr/>
          </p:nvSpPr>
          <p:spPr bwMode="auto">
            <a:xfrm>
              <a:off x="1824" y="336"/>
              <a:ext cx="0" cy="23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78" name="Line 8"/>
            <p:cNvSpPr>
              <a:spLocks noChangeShapeType="1"/>
            </p:cNvSpPr>
            <p:nvPr/>
          </p:nvSpPr>
          <p:spPr bwMode="auto">
            <a:xfrm>
              <a:off x="3024" y="336"/>
              <a:ext cx="0" cy="23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79" name="Line 9"/>
            <p:cNvSpPr>
              <a:spLocks noChangeShapeType="1"/>
            </p:cNvSpPr>
            <p:nvPr/>
          </p:nvSpPr>
          <p:spPr bwMode="auto">
            <a:xfrm>
              <a:off x="480" y="552"/>
              <a:ext cx="4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680" name="Text Box 10"/>
            <p:cNvSpPr txBox="1">
              <a:spLocks noChangeArrowheads="1"/>
            </p:cNvSpPr>
            <p:nvPr/>
          </p:nvSpPr>
          <p:spPr bwMode="auto">
            <a:xfrm>
              <a:off x="528" y="288"/>
              <a:ext cx="368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被除数（余数）            商                       说      明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</p:grpSp>
      <p:sp>
        <p:nvSpPr>
          <p:cNvPr id="755723" name="Text Box 11"/>
          <p:cNvSpPr txBox="1">
            <a:spLocks noChangeArrowheads="1"/>
          </p:cNvSpPr>
          <p:nvPr/>
        </p:nvSpPr>
        <p:spPr bwMode="auto">
          <a:xfrm>
            <a:off x="2955925" y="160972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1 . 0 0 1 1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5724" name="Text Box 12"/>
          <p:cNvSpPr txBox="1">
            <a:spLocks noChangeArrowheads="1"/>
          </p:cNvSpPr>
          <p:nvPr/>
        </p:nvSpPr>
        <p:spPr bwMode="auto">
          <a:xfrm>
            <a:off x="2955925" y="234315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0 . 1 1 0 1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5725" name="Text Box 13"/>
          <p:cNvSpPr txBox="1">
            <a:spLocks noChangeArrowheads="1"/>
          </p:cNvSpPr>
          <p:nvPr/>
        </p:nvSpPr>
        <p:spPr bwMode="auto">
          <a:xfrm>
            <a:off x="2955925" y="347345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1 . 0 0 1 1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55726" name="Group 14"/>
          <p:cNvGrpSpPr/>
          <p:nvPr/>
        </p:nvGrpSpPr>
        <p:grpSpPr bwMode="auto">
          <a:xfrm>
            <a:off x="2955925" y="1212850"/>
            <a:ext cx="4603750" cy="457200"/>
            <a:chOff x="710" y="764"/>
            <a:chExt cx="2900" cy="288"/>
          </a:xfrm>
        </p:grpSpPr>
        <p:grpSp>
          <p:nvGrpSpPr>
            <p:cNvPr id="68672" name="Group 15"/>
            <p:cNvGrpSpPr/>
            <p:nvPr/>
          </p:nvGrpSpPr>
          <p:grpSpPr bwMode="auto">
            <a:xfrm>
              <a:off x="3216" y="764"/>
              <a:ext cx="394" cy="288"/>
              <a:chOff x="3216" y="780"/>
              <a:chExt cx="394" cy="288"/>
            </a:xfrm>
          </p:grpSpPr>
          <p:sp>
            <p:nvSpPr>
              <p:cNvPr id="68675" name="Text Box 16"/>
              <p:cNvSpPr txBox="1">
                <a:spLocks noChangeArrowheads="1"/>
              </p:cNvSpPr>
              <p:nvPr/>
            </p:nvSpPr>
            <p:spPr bwMode="auto">
              <a:xfrm>
                <a:off x="3398" y="78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676" name="Line 17"/>
              <p:cNvSpPr>
                <a:spLocks noChangeShapeType="1"/>
              </p:cNvSpPr>
              <p:nvPr/>
            </p:nvSpPr>
            <p:spPr bwMode="auto">
              <a:xfrm flipH="1">
                <a:off x="3216" y="917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68673" name="Text Box 18"/>
            <p:cNvSpPr txBox="1">
              <a:spLocks noChangeArrowheads="1"/>
            </p:cNvSpPr>
            <p:nvPr/>
          </p:nvSpPr>
          <p:spPr bwMode="auto">
            <a:xfrm>
              <a:off x="710" y="764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0 . 1 0 1 0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74" name="Text Box 19"/>
            <p:cNvSpPr txBox="1">
              <a:spLocks noChangeArrowheads="1"/>
            </p:cNvSpPr>
            <p:nvPr/>
          </p:nvSpPr>
          <p:spPr bwMode="auto">
            <a:xfrm>
              <a:off x="2160" y="764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755732" name="Line 20"/>
          <p:cNvSpPr>
            <a:spLocks noChangeShapeType="1"/>
          </p:cNvSpPr>
          <p:nvPr/>
        </p:nvSpPr>
        <p:spPr bwMode="auto">
          <a:xfrm>
            <a:off x="2590800" y="2006600"/>
            <a:ext cx="6781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5733" name="Line 21"/>
          <p:cNvSpPr>
            <a:spLocks noChangeShapeType="1"/>
          </p:cNvSpPr>
          <p:nvPr/>
        </p:nvSpPr>
        <p:spPr bwMode="auto">
          <a:xfrm>
            <a:off x="2590800" y="2740025"/>
            <a:ext cx="6781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5734" name="Line 22"/>
          <p:cNvSpPr>
            <a:spLocks noChangeShapeType="1"/>
          </p:cNvSpPr>
          <p:nvPr/>
        </p:nvSpPr>
        <p:spPr bwMode="auto">
          <a:xfrm>
            <a:off x="2590800" y="3870325"/>
            <a:ext cx="6781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5735" name="Text Box 23"/>
          <p:cNvSpPr txBox="1">
            <a:spLocks noChangeArrowheads="1"/>
          </p:cNvSpPr>
          <p:nvPr/>
        </p:nvSpPr>
        <p:spPr bwMode="auto">
          <a:xfrm>
            <a:off x="6854825" y="1557338"/>
            <a:ext cx="1255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+[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grpSp>
        <p:nvGrpSpPr>
          <p:cNvPr id="755736" name="Group 24"/>
          <p:cNvGrpSpPr/>
          <p:nvPr/>
        </p:nvGrpSpPr>
        <p:grpSpPr bwMode="auto">
          <a:xfrm>
            <a:off x="2955925" y="1946275"/>
            <a:ext cx="6054725" cy="457200"/>
            <a:chOff x="710" y="1226"/>
            <a:chExt cx="3814" cy="288"/>
          </a:xfrm>
        </p:grpSpPr>
        <p:sp>
          <p:nvSpPr>
            <p:cNvPr id="68669" name="Text Box 25"/>
            <p:cNvSpPr txBox="1">
              <a:spLocks noChangeArrowheads="1"/>
            </p:cNvSpPr>
            <p:nvPr/>
          </p:nvSpPr>
          <p:spPr bwMode="auto">
            <a:xfrm>
              <a:off x="710" y="1226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1 . 1 1 0 1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70" name="Text Box 26"/>
            <p:cNvSpPr txBox="1">
              <a:spLocks noChangeArrowheads="1"/>
            </p:cNvSpPr>
            <p:nvPr/>
          </p:nvSpPr>
          <p:spPr bwMode="auto">
            <a:xfrm>
              <a:off x="2160" y="1226"/>
              <a:ext cx="5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0 1 1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71" name="Text Box 27"/>
            <p:cNvSpPr txBox="1">
              <a:spLocks noChangeArrowheads="1"/>
            </p:cNvSpPr>
            <p:nvPr/>
          </p:nvSpPr>
          <p:spPr bwMode="auto">
            <a:xfrm>
              <a:off x="3168" y="1226"/>
              <a:ext cx="13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余数为负，上商 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755740" name="Text Box 28"/>
          <p:cNvSpPr txBox="1">
            <a:spLocks noChangeArrowheads="1"/>
          </p:cNvSpPr>
          <p:nvPr/>
        </p:nvSpPr>
        <p:spPr bwMode="auto">
          <a:xfrm>
            <a:off x="6858000" y="2346325"/>
            <a:ext cx="120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恢复余数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755741" name="Group 29"/>
          <p:cNvGrpSpPr/>
          <p:nvPr/>
        </p:nvGrpSpPr>
        <p:grpSpPr bwMode="auto">
          <a:xfrm>
            <a:off x="2955925" y="3076575"/>
            <a:ext cx="4603750" cy="457200"/>
            <a:chOff x="710" y="1938"/>
            <a:chExt cx="2900" cy="288"/>
          </a:xfrm>
        </p:grpSpPr>
        <p:sp>
          <p:nvSpPr>
            <p:cNvPr id="68664" name="Text Box 30"/>
            <p:cNvSpPr txBox="1">
              <a:spLocks noChangeArrowheads="1"/>
            </p:cNvSpPr>
            <p:nvPr/>
          </p:nvSpPr>
          <p:spPr bwMode="auto">
            <a:xfrm>
              <a:off x="710" y="1938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1 . 0 1 0 0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5" name="Text Box 31"/>
            <p:cNvSpPr txBox="1">
              <a:spLocks noChangeArrowheads="1"/>
            </p:cNvSpPr>
            <p:nvPr/>
          </p:nvSpPr>
          <p:spPr bwMode="auto">
            <a:xfrm>
              <a:off x="2013" y="1938"/>
              <a:ext cx="6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8666" name="Group 32"/>
            <p:cNvGrpSpPr/>
            <p:nvPr/>
          </p:nvGrpSpPr>
          <p:grpSpPr bwMode="auto">
            <a:xfrm>
              <a:off x="3216" y="1938"/>
              <a:ext cx="394" cy="288"/>
              <a:chOff x="3216" y="1944"/>
              <a:chExt cx="394" cy="288"/>
            </a:xfrm>
          </p:grpSpPr>
          <p:sp>
            <p:nvSpPr>
              <p:cNvPr id="68667" name="Text Box 33"/>
              <p:cNvSpPr txBox="1">
                <a:spLocks noChangeArrowheads="1"/>
              </p:cNvSpPr>
              <p:nvPr/>
            </p:nvSpPr>
            <p:spPr bwMode="auto">
              <a:xfrm>
                <a:off x="3398" y="194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668" name="Line 34"/>
              <p:cNvSpPr>
                <a:spLocks noChangeShapeType="1"/>
              </p:cNvSpPr>
              <p:nvPr/>
            </p:nvSpPr>
            <p:spPr bwMode="auto">
              <a:xfrm flipH="1">
                <a:off x="3216" y="2081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755747" name="Text Box 35"/>
          <p:cNvSpPr txBox="1">
            <a:spLocks noChangeArrowheads="1"/>
          </p:cNvSpPr>
          <p:nvPr/>
        </p:nvSpPr>
        <p:spPr bwMode="auto">
          <a:xfrm>
            <a:off x="6858000" y="3429000"/>
            <a:ext cx="125571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+[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grpSp>
        <p:nvGrpSpPr>
          <p:cNvPr id="755748" name="Group 36"/>
          <p:cNvGrpSpPr/>
          <p:nvPr/>
        </p:nvGrpSpPr>
        <p:grpSpPr bwMode="auto">
          <a:xfrm>
            <a:off x="2955925" y="3810000"/>
            <a:ext cx="6054725" cy="457200"/>
            <a:chOff x="710" y="2400"/>
            <a:chExt cx="3814" cy="288"/>
          </a:xfrm>
        </p:grpSpPr>
        <p:sp>
          <p:nvSpPr>
            <p:cNvPr id="68661" name="Text Box 37"/>
            <p:cNvSpPr txBox="1">
              <a:spLocks noChangeArrowheads="1"/>
            </p:cNvSpPr>
            <p:nvPr/>
          </p:nvSpPr>
          <p:spPr bwMode="auto">
            <a:xfrm>
              <a:off x="710" y="2400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0 . 0 1 1 1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62" name="Text Box 38"/>
            <p:cNvSpPr txBox="1">
              <a:spLocks noChangeArrowheads="1"/>
            </p:cNvSpPr>
            <p:nvPr/>
          </p:nvSpPr>
          <p:spPr bwMode="auto">
            <a:xfrm>
              <a:off x="2016" y="2400"/>
              <a:ext cx="6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0 1 1 0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63" name="Text Box 39"/>
            <p:cNvSpPr txBox="1">
              <a:spLocks noChangeArrowheads="1"/>
            </p:cNvSpPr>
            <p:nvPr/>
          </p:nvSpPr>
          <p:spPr bwMode="auto">
            <a:xfrm>
              <a:off x="3168" y="2400"/>
              <a:ext cx="13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余数为正，上商 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55752" name="Group 40"/>
          <p:cNvGrpSpPr/>
          <p:nvPr/>
        </p:nvGrpSpPr>
        <p:grpSpPr bwMode="auto">
          <a:xfrm>
            <a:off x="3063875" y="4232275"/>
            <a:ext cx="1819275" cy="720725"/>
            <a:chOff x="970" y="2666"/>
            <a:chExt cx="1146" cy="454"/>
          </a:xfrm>
        </p:grpSpPr>
        <p:sp>
          <p:nvSpPr>
            <p:cNvPr id="68656" name="Text Box 41"/>
            <p:cNvSpPr txBox="1">
              <a:spLocks noChangeArrowheads="1"/>
            </p:cNvSpPr>
            <p:nvPr/>
          </p:nvSpPr>
          <p:spPr bwMode="auto">
            <a:xfrm>
              <a:off x="1200" y="2778"/>
              <a:ext cx="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 0.1101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68657" name="Group 42"/>
            <p:cNvGrpSpPr/>
            <p:nvPr/>
          </p:nvGrpSpPr>
          <p:grpSpPr bwMode="auto">
            <a:xfrm>
              <a:off x="970" y="2666"/>
              <a:ext cx="308" cy="454"/>
              <a:chOff x="1056" y="1728"/>
              <a:chExt cx="308" cy="454"/>
            </a:xfrm>
          </p:grpSpPr>
          <p:sp>
            <p:nvSpPr>
              <p:cNvPr id="68658" name="Text Box 43"/>
              <p:cNvSpPr txBox="1">
                <a:spLocks noChangeArrowheads="1"/>
              </p:cNvSpPr>
              <p:nvPr/>
            </p:nvSpPr>
            <p:spPr bwMode="auto">
              <a:xfrm>
                <a:off x="1056" y="1728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*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659" name="Text Box 44"/>
              <p:cNvSpPr txBox="1">
                <a:spLocks noChangeArrowheads="1"/>
              </p:cNvSpPr>
              <p:nvPr/>
            </p:nvSpPr>
            <p:spPr bwMode="auto">
              <a:xfrm>
                <a:off x="1056" y="1894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*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660" name="Line 45"/>
              <p:cNvSpPr>
                <a:spLocks noChangeShapeType="1"/>
              </p:cNvSpPr>
              <p:nvPr/>
            </p:nvSpPr>
            <p:spPr bwMode="auto">
              <a:xfrm>
                <a:off x="1070" y="1990"/>
                <a:ext cx="1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755758" name="Group 46"/>
          <p:cNvGrpSpPr/>
          <p:nvPr/>
        </p:nvGrpSpPr>
        <p:grpSpPr bwMode="auto">
          <a:xfrm>
            <a:off x="1981200" y="4648200"/>
            <a:ext cx="2901950" cy="773113"/>
            <a:chOff x="288" y="2928"/>
            <a:chExt cx="1828" cy="487"/>
          </a:xfrm>
        </p:grpSpPr>
        <p:sp>
          <p:nvSpPr>
            <p:cNvPr id="68648" name="Text Box 47"/>
            <p:cNvSpPr txBox="1">
              <a:spLocks noChangeArrowheads="1"/>
            </p:cNvSpPr>
            <p:nvPr/>
          </p:nvSpPr>
          <p:spPr bwMode="auto">
            <a:xfrm>
              <a:off x="288" y="3088"/>
              <a:ext cx="3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∴ 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68649" name="Group 48"/>
            <p:cNvGrpSpPr/>
            <p:nvPr/>
          </p:nvGrpSpPr>
          <p:grpSpPr bwMode="auto">
            <a:xfrm>
              <a:off x="567" y="2928"/>
              <a:ext cx="619" cy="454"/>
              <a:chOff x="1085" y="1898"/>
              <a:chExt cx="619" cy="454"/>
            </a:xfrm>
          </p:grpSpPr>
          <p:sp>
            <p:nvSpPr>
              <p:cNvPr id="68651" name="Text Box 49"/>
              <p:cNvSpPr txBox="1">
                <a:spLocks noChangeArrowheads="1"/>
              </p:cNvSpPr>
              <p:nvPr/>
            </p:nvSpPr>
            <p:spPr bwMode="auto">
              <a:xfrm>
                <a:off x="1085" y="1988"/>
                <a:ext cx="61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[    ]</a:t>
                </a:r>
                <a:r>
                  <a:rPr lang="zh-CN" altLang="en-US" sz="2400" baseline="-25000">
                    <a:latin typeface="Times New Roman" panose="02020603050405020304" pitchFamily="18" charset="0"/>
                  </a:rPr>
                  <a:t>原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8652" name="Group 50"/>
              <p:cNvGrpSpPr/>
              <p:nvPr/>
            </p:nvGrpSpPr>
            <p:grpSpPr bwMode="auto">
              <a:xfrm>
                <a:off x="1219" y="1898"/>
                <a:ext cx="204" cy="454"/>
                <a:chOff x="1056" y="1728"/>
                <a:chExt cx="204" cy="454"/>
              </a:xfrm>
            </p:grpSpPr>
            <p:sp>
              <p:nvSpPr>
                <p:cNvPr id="68653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056" y="1728"/>
                  <a:ext cx="20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i="1">
                      <a:latin typeface="Times New Roman" panose="02020603050405020304" pitchFamily="18" charset="0"/>
                    </a:rPr>
                    <a:t>x</a:t>
                  </a:r>
                  <a:endParaRPr lang="en-US" altLang="zh-CN" sz="2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8654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1056" y="1894"/>
                  <a:ext cx="20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i="1">
                      <a:latin typeface="Times New Roman" panose="02020603050405020304" pitchFamily="18" charset="0"/>
                    </a:rPr>
                    <a:t>y</a:t>
                  </a:r>
                  <a:endParaRPr lang="en-US" altLang="zh-CN" sz="2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8655" name="Line 53"/>
                <p:cNvSpPr>
                  <a:spLocks noChangeShapeType="1"/>
                </p:cNvSpPr>
                <p:nvPr/>
              </p:nvSpPr>
              <p:spPr bwMode="auto">
                <a:xfrm>
                  <a:off x="1070" y="1990"/>
                  <a:ext cx="19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8650" name="Text Box 54"/>
            <p:cNvSpPr txBox="1">
              <a:spLocks noChangeArrowheads="1"/>
            </p:cNvSpPr>
            <p:nvPr/>
          </p:nvSpPr>
          <p:spPr bwMode="auto">
            <a:xfrm>
              <a:off x="1200" y="3040"/>
              <a:ext cx="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 0.1101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55767" name="Text Box 55"/>
          <p:cNvSpPr txBox="1">
            <a:spLocks noChangeArrowheads="1"/>
          </p:cNvSpPr>
          <p:nvPr/>
        </p:nvSpPr>
        <p:spPr bwMode="auto">
          <a:xfrm>
            <a:off x="6432550" y="4516438"/>
            <a:ext cx="1408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上商 5 次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5768" name="Text Box 56"/>
          <p:cNvSpPr txBox="1">
            <a:spLocks noChangeArrowheads="1"/>
          </p:cNvSpPr>
          <p:nvPr/>
        </p:nvSpPr>
        <p:spPr bwMode="auto">
          <a:xfrm>
            <a:off x="6432550" y="5029200"/>
            <a:ext cx="263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第一次上商判溢出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5769" name="Text Box 57"/>
          <p:cNvSpPr txBox="1">
            <a:spLocks noChangeArrowheads="1"/>
          </p:cNvSpPr>
          <p:nvPr/>
        </p:nvSpPr>
        <p:spPr bwMode="auto">
          <a:xfrm>
            <a:off x="2362200" y="5562600"/>
            <a:ext cx="255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余数为正    上商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5770" name="Text Box 58"/>
          <p:cNvSpPr txBox="1">
            <a:spLocks noChangeArrowheads="1"/>
          </p:cNvSpPr>
          <p:nvPr/>
        </p:nvSpPr>
        <p:spPr bwMode="auto">
          <a:xfrm>
            <a:off x="2362200" y="6170613"/>
            <a:ext cx="4087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余数为负    上商 0，恢复余数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5771" name="Text Box 59"/>
          <p:cNvSpPr txBox="1">
            <a:spLocks noChangeArrowheads="1"/>
          </p:cNvSpPr>
          <p:nvPr/>
        </p:nvSpPr>
        <p:spPr bwMode="auto">
          <a:xfrm>
            <a:off x="6432550" y="5551488"/>
            <a:ext cx="1101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移 4 次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5772" name="Text Box 60"/>
          <p:cNvSpPr txBox="1">
            <a:spLocks noChangeArrowheads="1"/>
          </p:cNvSpPr>
          <p:nvPr/>
        </p:nvSpPr>
        <p:spPr bwMode="auto">
          <a:xfrm>
            <a:off x="5943600" y="8159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5773" name="Text Box 61"/>
          <p:cNvSpPr txBox="1">
            <a:spLocks noChangeArrowheads="1"/>
          </p:cNvSpPr>
          <p:nvPr/>
        </p:nvSpPr>
        <p:spPr bwMode="auto">
          <a:xfrm>
            <a:off x="5943600" y="19462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55774" name="Group 62"/>
          <p:cNvGrpSpPr/>
          <p:nvPr/>
        </p:nvGrpSpPr>
        <p:grpSpPr bwMode="auto">
          <a:xfrm>
            <a:off x="2955925" y="2679700"/>
            <a:ext cx="5610225" cy="457200"/>
            <a:chOff x="710" y="1688"/>
            <a:chExt cx="3534" cy="288"/>
          </a:xfrm>
        </p:grpSpPr>
        <p:sp>
          <p:nvSpPr>
            <p:cNvPr id="68645" name="Text Box 63"/>
            <p:cNvSpPr txBox="1">
              <a:spLocks noChangeArrowheads="1"/>
            </p:cNvSpPr>
            <p:nvPr/>
          </p:nvSpPr>
          <p:spPr bwMode="auto">
            <a:xfrm>
              <a:off x="710" y="1688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0 . 1 0 1 0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8646" name="Text Box 64"/>
            <p:cNvSpPr txBox="1">
              <a:spLocks noChangeArrowheads="1"/>
            </p:cNvSpPr>
            <p:nvPr/>
          </p:nvSpPr>
          <p:spPr bwMode="auto">
            <a:xfrm>
              <a:off x="3168" y="1688"/>
              <a:ext cx="10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恢复后的余数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68647" name="Text Box 65"/>
            <p:cNvSpPr txBox="1">
              <a:spLocks noChangeArrowheads="1"/>
            </p:cNvSpPr>
            <p:nvPr/>
          </p:nvSpPr>
          <p:spPr bwMode="auto">
            <a:xfrm>
              <a:off x="2160" y="1688"/>
              <a:ext cx="6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0 1 1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755778" name="Text Box 66"/>
          <p:cNvSpPr txBox="1">
            <a:spLocks noChangeArrowheads="1"/>
          </p:cNvSpPr>
          <p:nvPr/>
        </p:nvSpPr>
        <p:spPr bwMode="auto">
          <a:xfrm>
            <a:off x="5942013" y="38100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5779" name="Text Box 67"/>
          <p:cNvSpPr txBox="1">
            <a:spLocks noChangeArrowheads="1"/>
          </p:cNvSpPr>
          <p:nvPr/>
        </p:nvSpPr>
        <p:spPr bwMode="auto">
          <a:xfrm>
            <a:off x="7924800" y="2306638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+[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755780" name="AutoShape 68"/>
          <p:cNvSpPr>
            <a:spLocks noChangeArrowheads="1"/>
          </p:cNvSpPr>
          <p:nvPr/>
        </p:nvSpPr>
        <p:spPr bwMode="auto">
          <a:xfrm>
            <a:off x="1598613" y="2971800"/>
            <a:ext cx="1246187" cy="442913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逻辑左移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55782" name="AutoShape 70"/>
          <p:cNvSpPr>
            <a:spLocks noChangeArrowheads="1"/>
          </p:cNvSpPr>
          <p:nvPr/>
        </p:nvSpPr>
        <p:spPr bwMode="auto">
          <a:xfrm>
            <a:off x="1598613" y="1125538"/>
            <a:ext cx="1246187" cy="442912"/>
          </a:xfrm>
          <a:prstGeom prst="wedgeRoundRectCallout">
            <a:avLst>
              <a:gd name="adj1" fmla="val 58681"/>
              <a:gd name="adj2" fmla="val 3125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逻辑左移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755783" name="Group 71"/>
          <p:cNvGrpSpPr/>
          <p:nvPr/>
        </p:nvGrpSpPr>
        <p:grpSpPr bwMode="auto">
          <a:xfrm>
            <a:off x="2973388" y="1268413"/>
            <a:ext cx="1368425" cy="1825625"/>
            <a:chOff x="913" y="799"/>
            <a:chExt cx="862" cy="1150"/>
          </a:xfrm>
        </p:grpSpPr>
        <p:sp>
          <p:nvSpPr>
            <p:cNvPr id="68643" name="AutoShape 72"/>
            <p:cNvSpPr>
              <a:spLocks noChangeArrowheads="1"/>
            </p:cNvSpPr>
            <p:nvPr/>
          </p:nvSpPr>
          <p:spPr bwMode="auto">
            <a:xfrm>
              <a:off x="913" y="799"/>
              <a:ext cx="862" cy="227"/>
            </a:xfrm>
            <a:prstGeom prst="flowChartAlternateProcess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68644" name="AutoShape 73"/>
            <p:cNvSpPr>
              <a:spLocks noChangeArrowheads="1"/>
            </p:cNvSpPr>
            <p:nvPr/>
          </p:nvSpPr>
          <p:spPr bwMode="auto">
            <a:xfrm>
              <a:off x="913" y="1722"/>
              <a:ext cx="862" cy="227"/>
            </a:xfrm>
            <a:prstGeom prst="flowChartAlternateProcess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sp>
        <p:nvSpPr>
          <p:cNvPr id="755787" name="Text Box 75"/>
          <p:cNvSpPr txBox="1">
            <a:spLocks noChangeArrowheads="1"/>
          </p:cNvSpPr>
          <p:nvPr/>
        </p:nvSpPr>
        <p:spPr bwMode="auto">
          <a:xfrm>
            <a:off x="2640013" y="1603375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+</a:t>
            </a:r>
            <a:endParaRPr lang="en-US" altLang="zh-CN" sz="2400">
              <a:latin typeface="等线" panose="02010600030101010101" pitchFamily="2" charset="-122"/>
            </a:endParaRPr>
          </a:p>
        </p:txBody>
      </p:sp>
      <p:sp>
        <p:nvSpPr>
          <p:cNvPr id="755788" name="Text Box 76"/>
          <p:cNvSpPr txBox="1">
            <a:spLocks noChangeArrowheads="1"/>
          </p:cNvSpPr>
          <p:nvPr/>
        </p:nvSpPr>
        <p:spPr bwMode="auto">
          <a:xfrm>
            <a:off x="2640013" y="2324100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+</a:t>
            </a:r>
            <a:endParaRPr lang="en-US" altLang="zh-CN" sz="2400">
              <a:latin typeface="等线" panose="02010600030101010101" pitchFamily="2" charset="-122"/>
            </a:endParaRPr>
          </a:p>
        </p:txBody>
      </p:sp>
      <p:sp>
        <p:nvSpPr>
          <p:cNvPr id="755789" name="Text Box 77"/>
          <p:cNvSpPr txBox="1">
            <a:spLocks noChangeArrowheads="1"/>
          </p:cNvSpPr>
          <p:nvPr/>
        </p:nvSpPr>
        <p:spPr bwMode="auto">
          <a:xfrm>
            <a:off x="2640013" y="3476625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>
                <a:latin typeface="等线" panose="02010600030101010101" pitchFamily="2" charset="-122"/>
              </a:rPr>
              <a:t>+</a:t>
            </a:r>
            <a:endParaRPr lang="en-US" altLang="zh-CN" sz="240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5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5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75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5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55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55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5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75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5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75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55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1" dur="500"/>
                                        <p:tgtEl>
                                          <p:spTgt spid="75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755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75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75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75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75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8" dur="500"/>
                                        <p:tgtEl>
                                          <p:spTgt spid="75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75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75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755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75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755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755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755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755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755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723" grpId="0" autoUpdateAnimBg="0"/>
      <p:bldP spid="755724" grpId="0" autoUpdateAnimBg="0"/>
      <p:bldP spid="755725" grpId="0" autoUpdateAnimBg="0"/>
      <p:bldP spid="755735" grpId="0" autoUpdateAnimBg="0"/>
      <p:bldP spid="755740" grpId="0" autoUpdateAnimBg="0"/>
      <p:bldP spid="755747" grpId="0" autoUpdateAnimBg="0"/>
      <p:bldP spid="755767" grpId="0" autoUpdateAnimBg="0"/>
      <p:bldP spid="755768" grpId="0" autoUpdateAnimBg="0"/>
      <p:bldP spid="755769" grpId="0" autoUpdateAnimBg="0"/>
      <p:bldP spid="755770" grpId="0" autoUpdateAnimBg="0"/>
      <p:bldP spid="755771" grpId="0" autoUpdateAnimBg="0"/>
      <p:bldP spid="755772" grpId="0" autoUpdateAnimBg="0"/>
      <p:bldP spid="755773" grpId="0" autoUpdateAnimBg="0"/>
      <p:bldP spid="755778" grpId="0" autoUpdateAnimBg="0"/>
      <p:bldP spid="755779" grpId="0" autoUpdateAnimBg="0"/>
      <p:bldP spid="755780" grpId="0" animBg="1" autoUpdateAnimBg="0"/>
      <p:bldP spid="755782" grpId="0" animBg="1" autoUpdateAnimBg="0"/>
      <p:bldP spid="755787" grpId="0"/>
      <p:bldP spid="755788" grpId="0"/>
      <p:bldP spid="75578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1752600" y="228600"/>
            <a:ext cx="4648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(2) 不恢复余数法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56739" name="Text Box 3"/>
          <p:cNvSpPr txBox="1">
            <a:spLocks noChangeArrowheads="1"/>
          </p:cNvSpPr>
          <p:nvPr/>
        </p:nvSpPr>
        <p:spPr bwMode="auto">
          <a:xfrm>
            <a:off x="2879725" y="1820863"/>
            <a:ext cx="5145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余数   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＞</a:t>
            </a:r>
            <a:r>
              <a:rPr lang="en-US" altLang="zh-CN">
                <a:latin typeface="Times New Roman" panose="02020603050405020304" pitchFamily="18" charset="0"/>
              </a:rPr>
              <a:t>0   </a:t>
            </a:r>
            <a:r>
              <a:rPr lang="zh-CN" altLang="en-US">
                <a:latin typeface="Times New Roman" panose="02020603050405020304" pitchFamily="18" charset="0"/>
              </a:rPr>
              <a:t>上商 “1”，2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56740" name="Text Box 4"/>
          <p:cNvSpPr txBox="1">
            <a:spLocks noChangeArrowheads="1"/>
          </p:cNvSpPr>
          <p:nvPr/>
        </p:nvSpPr>
        <p:spPr bwMode="auto">
          <a:xfrm>
            <a:off x="2879725" y="2495550"/>
            <a:ext cx="7072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余数   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＜</a:t>
            </a:r>
            <a:r>
              <a:rPr lang="en-US" altLang="zh-CN">
                <a:latin typeface="Times New Roman" panose="02020603050405020304" pitchFamily="18" charset="0"/>
              </a:rPr>
              <a:t>0   </a:t>
            </a:r>
            <a:r>
              <a:rPr lang="zh-CN" altLang="en-US">
                <a:latin typeface="Times New Roman" panose="02020603050405020304" pitchFamily="18" charset="0"/>
              </a:rPr>
              <a:t>上商 “0”， </a:t>
            </a:r>
            <a:r>
              <a:rPr lang="zh-CN" altLang="en-US" sz="9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*      </a:t>
            </a:r>
            <a:r>
              <a:rPr lang="zh-CN" altLang="en-US">
                <a:latin typeface="Times New Roman" panose="02020603050405020304" pitchFamily="18" charset="0"/>
              </a:rPr>
              <a:t>恢复余数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6741" name="Text Box 5"/>
          <p:cNvSpPr txBox="1">
            <a:spLocks noChangeArrowheads="1"/>
          </p:cNvSpPr>
          <p:nvPr/>
        </p:nvSpPr>
        <p:spPr bwMode="auto">
          <a:xfrm>
            <a:off x="5715000" y="3170238"/>
            <a:ext cx="3859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2( 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>
                <a:latin typeface="Times New Roman" panose="02020603050405020304" pitchFamily="18" charset="0"/>
              </a:rPr>
              <a:t>) –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* = 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 i="1" baseline="-25000">
                <a:latin typeface="Times New Roman" panose="02020603050405020304" pitchFamily="18" charset="0"/>
              </a:rPr>
              <a:t>i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+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*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6742" name="Text Box 6"/>
          <p:cNvSpPr txBox="1">
            <a:spLocks noChangeArrowheads="1"/>
          </p:cNvSpPr>
          <p:nvPr/>
        </p:nvSpPr>
        <p:spPr bwMode="auto">
          <a:xfrm>
            <a:off x="7391400" y="5181600"/>
            <a:ext cx="170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加减交替 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6743" name="Text Box 7"/>
          <p:cNvSpPr txBox="1">
            <a:spLocks noChangeArrowheads="1"/>
          </p:cNvSpPr>
          <p:nvPr/>
        </p:nvSpPr>
        <p:spPr bwMode="auto">
          <a:xfrm>
            <a:off x="2362200" y="1085850"/>
            <a:ext cx="41005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 恢复余数法运算规则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6744" name="Text Box 8"/>
          <p:cNvSpPr txBox="1">
            <a:spLocks noChangeArrowheads="1"/>
          </p:cNvSpPr>
          <p:nvPr/>
        </p:nvSpPr>
        <p:spPr bwMode="auto">
          <a:xfrm>
            <a:off x="2362200" y="4102100"/>
            <a:ext cx="45085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zh-CN" altLang="en-US" sz="3200">
                <a:solidFill>
                  <a:schemeClr val="folHlink"/>
                </a:solidFill>
                <a:latin typeface="Times New Roman" panose="02020603050405020304" pitchFamily="18" charset="0"/>
              </a:rPr>
              <a:t> 不恢复余数法运算规则</a:t>
            </a:r>
            <a:endParaRPr lang="zh-CN" altLang="en-US" sz="32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6745" name="Text Box 9"/>
          <p:cNvSpPr txBox="1">
            <a:spLocks noChangeArrowheads="1"/>
          </p:cNvSpPr>
          <p:nvPr/>
        </p:nvSpPr>
        <p:spPr bwMode="auto">
          <a:xfrm>
            <a:off x="2879725" y="4824413"/>
            <a:ext cx="3819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上商“1”        2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 i="1" baseline="-25000">
                <a:latin typeface="Times New Roman" panose="02020603050405020304" pitchFamily="18" charset="0"/>
              </a:rPr>
              <a:t>i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zh-CN" altLang="en-US">
                <a:latin typeface="Times New Roman" panose="02020603050405020304" pitchFamily="18" charset="0"/>
              </a:rPr>
              <a:t>    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6746" name="Text Box 10"/>
          <p:cNvSpPr txBox="1">
            <a:spLocks noChangeArrowheads="1"/>
          </p:cNvSpPr>
          <p:nvPr/>
        </p:nvSpPr>
        <p:spPr bwMode="auto">
          <a:xfrm>
            <a:off x="2879725" y="5500688"/>
            <a:ext cx="3400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上商“0”        2</a:t>
            </a:r>
            <a:r>
              <a:rPr lang="en-US" altLang="zh-CN" i="1">
                <a:latin typeface="Times New Roman" panose="02020603050405020304" pitchFamily="18" charset="0"/>
              </a:rPr>
              <a:t>R</a:t>
            </a:r>
            <a:r>
              <a:rPr lang="en-US" altLang="zh-CN" i="1" baseline="-25000">
                <a:latin typeface="Times New Roman" panose="02020603050405020304" pitchFamily="18" charset="0"/>
              </a:rPr>
              <a:t>i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6747" name="Text Box 11"/>
          <p:cNvSpPr txBox="1">
            <a:spLocks noChangeArrowheads="1"/>
          </p:cNvSpPr>
          <p:nvPr/>
        </p:nvSpPr>
        <p:spPr bwMode="auto">
          <a:xfrm>
            <a:off x="5100638" y="228600"/>
            <a:ext cx="35099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（加减交替法） 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5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56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56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5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739" grpId="0" autoUpdateAnimBg="0"/>
      <p:bldP spid="756740" grpId="0" autoUpdateAnimBg="0"/>
      <p:bldP spid="756741" grpId="0" autoUpdateAnimBg="0"/>
      <p:bldP spid="756742" grpId="0" autoUpdateAnimBg="0"/>
      <p:bldP spid="756743" grpId="0" autoUpdateAnimBg="0"/>
      <p:bldP spid="756744" grpId="0" autoUpdateAnimBg="0"/>
      <p:bldP spid="756745" grpId="0" autoUpdateAnimBg="0"/>
      <p:bldP spid="756746" grpId="0" autoUpdateAnimBg="0"/>
      <p:bldP spid="756747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762" name="Group 2"/>
          <p:cNvGrpSpPr/>
          <p:nvPr/>
        </p:nvGrpSpPr>
        <p:grpSpPr bwMode="auto">
          <a:xfrm>
            <a:off x="3201988" y="150813"/>
            <a:ext cx="5827712" cy="739775"/>
            <a:chOff x="1057" y="95"/>
            <a:chExt cx="3671" cy="466"/>
          </a:xfrm>
        </p:grpSpPr>
        <p:sp>
          <p:nvSpPr>
            <p:cNvPr id="70743" name="Text Box 3"/>
            <p:cNvSpPr txBox="1">
              <a:spLocks noChangeArrowheads="1"/>
            </p:cNvSpPr>
            <p:nvPr/>
          </p:nvSpPr>
          <p:spPr bwMode="auto">
            <a:xfrm>
              <a:off x="1057" y="192"/>
              <a:ext cx="30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 =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0.1011    </a:t>
              </a:r>
              <a:r>
                <a:rPr lang="en-US" altLang="zh-CN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 = – 0.1101    </a:t>
              </a:r>
              <a:r>
                <a:rPr lang="zh-CN" altLang="en-US">
                  <a:latin typeface="Times New Roman" panose="02020603050405020304" pitchFamily="18" charset="0"/>
                </a:rPr>
                <a:t>求</a:t>
              </a:r>
              <a:endParaRPr lang="zh-CN" altLang="en-US" baseline="-25000">
                <a:latin typeface="Times New Roman" panose="02020603050405020304" pitchFamily="18" charset="0"/>
              </a:endParaRPr>
            </a:p>
          </p:txBody>
        </p:sp>
        <p:grpSp>
          <p:nvGrpSpPr>
            <p:cNvPr id="70744" name="Group 4"/>
            <p:cNvGrpSpPr/>
            <p:nvPr/>
          </p:nvGrpSpPr>
          <p:grpSpPr bwMode="auto">
            <a:xfrm>
              <a:off x="4109" y="95"/>
              <a:ext cx="619" cy="466"/>
              <a:chOff x="1085" y="1898"/>
              <a:chExt cx="619" cy="441"/>
            </a:xfrm>
          </p:grpSpPr>
          <p:sp>
            <p:nvSpPr>
              <p:cNvPr id="70745" name="Text Box 5"/>
              <p:cNvSpPr txBox="1">
                <a:spLocks noChangeArrowheads="1"/>
              </p:cNvSpPr>
              <p:nvPr/>
            </p:nvSpPr>
            <p:spPr bwMode="auto">
              <a:xfrm>
                <a:off x="1085" y="1988"/>
                <a:ext cx="619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[    ]</a:t>
                </a:r>
                <a:r>
                  <a:rPr lang="zh-CN" altLang="en-US" sz="2400" baseline="-25000">
                    <a:latin typeface="Times New Roman" panose="02020603050405020304" pitchFamily="18" charset="0"/>
                  </a:rPr>
                  <a:t>原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0746" name="Group 6"/>
              <p:cNvGrpSpPr/>
              <p:nvPr/>
            </p:nvGrpSpPr>
            <p:grpSpPr bwMode="auto">
              <a:xfrm>
                <a:off x="1219" y="1898"/>
                <a:ext cx="204" cy="441"/>
                <a:chOff x="1056" y="1728"/>
                <a:chExt cx="204" cy="441"/>
              </a:xfrm>
            </p:grpSpPr>
            <p:sp>
              <p:nvSpPr>
                <p:cNvPr id="70747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056" y="1728"/>
                  <a:ext cx="202" cy="2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i="1">
                      <a:latin typeface="Times New Roman" panose="02020603050405020304" pitchFamily="18" charset="0"/>
                    </a:rPr>
                    <a:t>x</a:t>
                  </a:r>
                  <a:endParaRPr lang="en-US" altLang="zh-CN" sz="2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0748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056" y="1894"/>
                  <a:ext cx="202" cy="2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i="1">
                      <a:latin typeface="Times New Roman" panose="02020603050405020304" pitchFamily="18" charset="0"/>
                    </a:rPr>
                    <a:t>y</a:t>
                  </a:r>
                  <a:endParaRPr lang="en-US" altLang="zh-CN" sz="2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0749" name="Line 9"/>
                <p:cNvSpPr>
                  <a:spLocks noChangeShapeType="1"/>
                </p:cNvSpPr>
                <p:nvPr/>
              </p:nvSpPr>
              <p:spPr bwMode="auto">
                <a:xfrm>
                  <a:off x="1070" y="1990"/>
                  <a:ext cx="19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57770" name="Text Box 10"/>
          <p:cNvSpPr txBox="1">
            <a:spLocks noChangeArrowheads="1"/>
          </p:cNvSpPr>
          <p:nvPr/>
        </p:nvSpPr>
        <p:spPr bwMode="auto">
          <a:xfrm>
            <a:off x="1752600" y="9286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0660" name="Text Box 11"/>
          <p:cNvSpPr txBox="1">
            <a:spLocks noChangeArrowheads="1"/>
          </p:cNvSpPr>
          <p:nvPr/>
        </p:nvSpPr>
        <p:spPr bwMode="auto">
          <a:xfrm>
            <a:off x="1604963" y="254000"/>
            <a:ext cx="14430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例6.25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57772" name="Text Box 12"/>
          <p:cNvSpPr txBox="1">
            <a:spLocks noChangeArrowheads="1"/>
          </p:cNvSpPr>
          <p:nvPr/>
        </p:nvSpPr>
        <p:spPr bwMode="auto">
          <a:xfrm>
            <a:off x="2559050" y="106680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0 . 1 0 1 1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773" name="Text Box 13"/>
          <p:cNvSpPr txBox="1">
            <a:spLocks noChangeArrowheads="1"/>
          </p:cNvSpPr>
          <p:nvPr/>
        </p:nvSpPr>
        <p:spPr bwMode="auto">
          <a:xfrm>
            <a:off x="2559050" y="143192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1 . 0 0 1 1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774" name="Text Box 14"/>
          <p:cNvSpPr txBox="1">
            <a:spLocks noChangeArrowheads="1"/>
          </p:cNvSpPr>
          <p:nvPr/>
        </p:nvSpPr>
        <p:spPr bwMode="auto">
          <a:xfrm>
            <a:off x="2559050" y="2525713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0 . 1 1 0 1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775" name="Text Box 15"/>
          <p:cNvSpPr txBox="1">
            <a:spLocks noChangeArrowheads="1"/>
          </p:cNvSpPr>
          <p:nvPr/>
        </p:nvSpPr>
        <p:spPr bwMode="auto">
          <a:xfrm>
            <a:off x="2559050" y="361950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1 . 0 0 1 1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776" name="Text Box 16"/>
          <p:cNvSpPr txBox="1">
            <a:spLocks noChangeArrowheads="1"/>
          </p:cNvSpPr>
          <p:nvPr/>
        </p:nvSpPr>
        <p:spPr bwMode="auto">
          <a:xfrm>
            <a:off x="2559050" y="471487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1 . 0 0 1 1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777" name="Text Box 17"/>
          <p:cNvSpPr txBox="1">
            <a:spLocks noChangeArrowheads="1"/>
          </p:cNvSpPr>
          <p:nvPr/>
        </p:nvSpPr>
        <p:spPr bwMode="auto">
          <a:xfrm>
            <a:off x="2559050" y="5808663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0 . 1 1 0 1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778" name="Line 18"/>
          <p:cNvSpPr>
            <a:spLocks noChangeShapeType="1"/>
          </p:cNvSpPr>
          <p:nvPr/>
        </p:nvSpPr>
        <p:spPr bwMode="auto">
          <a:xfrm>
            <a:off x="2398713" y="1827213"/>
            <a:ext cx="5913437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7779" name="Text Box 19"/>
          <p:cNvSpPr txBox="1">
            <a:spLocks noChangeArrowheads="1"/>
          </p:cNvSpPr>
          <p:nvPr/>
        </p:nvSpPr>
        <p:spPr bwMode="auto">
          <a:xfrm>
            <a:off x="4235450" y="106680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0 . 0 0 0 0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780" name="Line 20"/>
          <p:cNvSpPr>
            <a:spLocks noChangeShapeType="1"/>
          </p:cNvSpPr>
          <p:nvPr/>
        </p:nvSpPr>
        <p:spPr bwMode="auto">
          <a:xfrm>
            <a:off x="2398713" y="2928938"/>
            <a:ext cx="5913437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7781" name="Line 21"/>
          <p:cNvSpPr>
            <a:spLocks noChangeShapeType="1"/>
          </p:cNvSpPr>
          <p:nvPr/>
        </p:nvSpPr>
        <p:spPr bwMode="auto">
          <a:xfrm>
            <a:off x="2398713" y="4032250"/>
            <a:ext cx="5913437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7782" name="Line 22"/>
          <p:cNvSpPr>
            <a:spLocks noChangeShapeType="1"/>
          </p:cNvSpPr>
          <p:nvPr/>
        </p:nvSpPr>
        <p:spPr bwMode="auto">
          <a:xfrm>
            <a:off x="2398713" y="5133975"/>
            <a:ext cx="5913437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7783" name="Line 23"/>
          <p:cNvSpPr>
            <a:spLocks noChangeShapeType="1"/>
          </p:cNvSpPr>
          <p:nvPr/>
        </p:nvSpPr>
        <p:spPr bwMode="auto">
          <a:xfrm>
            <a:off x="2398713" y="6235700"/>
            <a:ext cx="5913437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7784" name="Line 24"/>
          <p:cNvSpPr>
            <a:spLocks noChangeShapeType="1"/>
          </p:cNvSpPr>
          <p:nvPr/>
        </p:nvSpPr>
        <p:spPr bwMode="auto">
          <a:xfrm>
            <a:off x="4114800" y="990600"/>
            <a:ext cx="0" cy="5638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7785" name="Line 25"/>
          <p:cNvSpPr>
            <a:spLocks noChangeShapeType="1"/>
          </p:cNvSpPr>
          <p:nvPr/>
        </p:nvSpPr>
        <p:spPr bwMode="auto">
          <a:xfrm>
            <a:off x="5791200" y="990600"/>
            <a:ext cx="0" cy="5638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7786" name="Text Box 26"/>
          <p:cNvSpPr txBox="1">
            <a:spLocks noChangeArrowheads="1"/>
          </p:cNvSpPr>
          <p:nvPr/>
        </p:nvSpPr>
        <p:spPr bwMode="auto">
          <a:xfrm>
            <a:off x="5989638" y="1381125"/>
            <a:ext cx="12557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+[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757787" name="Text Box 27"/>
          <p:cNvSpPr txBox="1">
            <a:spLocks noChangeArrowheads="1"/>
          </p:cNvSpPr>
          <p:nvPr/>
        </p:nvSpPr>
        <p:spPr bwMode="auto">
          <a:xfrm>
            <a:off x="5302250" y="1797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57788" name="Group 28"/>
          <p:cNvGrpSpPr/>
          <p:nvPr/>
        </p:nvGrpSpPr>
        <p:grpSpPr bwMode="auto">
          <a:xfrm>
            <a:off x="2559050" y="1797050"/>
            <a:ext cx="5594350" cy="457200"/>
            <a:chOff x="652" y="1132"/>
            <a:chExt cx="3524" cy="288"/>
          </a:xfrm>
        </p:grpSpPr>
        <p:sp>
          <p:nvSpPr>
            <p:cNvPr id="70741" name="Text Box 29"/>
            <p:cNvSpPr txBox="1">
              <a:spLocks noChangeArrowheads="1"/>
            </p:cNvSpPr>
            <p:nvPr/>
          </p:nvSpPr>
          <p:spPr bwMode="auto">
            <a:xfrm>
              <a:off x="652" y="1132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1 . 1 1 1 0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0742" name="Text Box 30"/>
            <p:cNvSpPr txBox="1">
              <a:spLocks noChangeArrowheads="1"/>
            </p:cNvSpPr>
            <p:nvPr/>
          </p:nvSpPr>
          <p:spPr bwMode="auto">
            <a:xfrm>
              <a:off x="2813" y="1142"/>
              <a:ext cx="136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余数为负，上商 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57791" name="Group 31"/>
          <p:cNvGrpSpPr/>
          <p:nvPr/>
        </p:nvGrpSpPr>
        <p:grpSpPr bwMode="auto">
          <a:xfrm>
            <a:off x="2559050" y="2162175"/>
            <a:ext cx="4146550" cy="468313"/>
            <a:chOff x="652" y="1362"/>
            <a:chExt cx="2612" cy="295"/>
          </a:xfrm>
        </p:grpSpPr>
        <p:sp>
          <p:nvSpPr>
            <p:cNvPr id="70736" name="Text Box 32"/>
            <p:cNvSpPr txBox="1">
              <a:spLocks noChangeArrowheads="1"/>
            </p:cNvSpPr>
            <p:nvPr/>
          </p:nvSpPr>
          <p:spPr bwMode="auto">
            <a:xfrm>
              <a:off x="652" y="1362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1 . 1 1 0 0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0737" name="Text Box 33"/>
            <p:cNvSpPr txBox="1">
              <a:spLocks noChangeArrowheads="1"/>
            </p:cNvSpPr>
            <p:nvPr/>
          </p:nvSpPr>
          <p:spPr bwMode="auto">
            <a:xfrm>
              <a:off x="2246" y="136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0738" name="Group 34"/>
            <p:cNvGrpSpPr/>
            <p:nvPr/>
          </p:nvGrpSpPr>
          <p:grpSpPr bwMode="auto">
            <a:xfrm>
              <a:off x="2870" y="1369"/>
              <a:ext cx="394" cy="288"/>
              <a:chOff x="3216" y="780"/>
              <a:chExt cx="394" cy="288"/>
            </a:xfrm>
          </p:grpSpPr>
          <p:sp>
            <p:nvSpPr>
              <p:cNvPr id="70739" name="Text Box 35"/>
              <p:cNvSpPr txBox="1">
                <a:spLocks noChangeArrowheads="1"/>
              </p:cNvSpPr>
              <p:nvPr/>
            </p:nvSpPr>
            <p:spPr bwMode="auto">
              <a:xfrm>
                <a:off x="3398" y="78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740" name="Line 36"/>
              <p:cNvSpPr>
                <a:spLocks noChangeShapeType="1"/>
              </p:cNvSpPr>
              <p:nvPr/>
            </p:nvSpPr>
            <p:spPr bwMode="auto">
              <a:xfrm flipH="1">
                <a:off x="3216" y="917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757797" name="Text Box 37"/>
          <p:cNvSpPr txBox="1">
            <a:spLocks noChangeArrowheads="1"/>
          </p:cNvSpPr>
          <p:nvPr/>
        </p:nvSpPr>
        <p:spPr bwMode="auto">
          <a:xfrm>
            <a:off x="5989638" y="2466975"/>
            <a:ext cx="10239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+[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grpSp>
        <p:nvGrpSpPr>
          <p:cNvPr id="757798" name="Group 38"/>
          <p:cNvGrpSpPr/>
          <p:nvPr/>
        </p:nvGrpSpPr>
        <p:grpSpPr bwMode="auto">
          <a:xfrm>
            <a:off x="2559050" y="2890838"/>
            <a:ext cx="5594350" cy="457200"/>
            <a:chOff x="652" y="1821"/>
            <a:chExt cx="3524" cy="288"/>
          </a:xfrm>
        </p:grpSpPr>
        <p:sp>
          <p:nvSpPr>
            <p:cNvPr id="70732" name="Text Box 39"/>
            <p:cNvSpPr txBox="1">
              <a:spLocks noChangeArrowheads="1"/>
            </p:cNvSpPr>
            <p:nvPr/>
          </p:nvSpPr>
          <p:spPr bwMode="auto">
            <a:xfrm>
              <a:off x="2236" y="182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0733" name="Group 40"/>
            <p:cNvGrpSpPr/>
            <p:nvPr/>
          </p:nvGrpSpPr>
          <p:grpSpPr bwMode="auto">
            <a:xfrm>
              <a:off x="652" y="1821"/>
              <a:ext cx="3524" cy="288"/>
              <a:chOff x="652" y="1821"/>
              <a:chExt cx="3524" cy="288"/>
            </a:xfrm>
          </p:grpSpPr>
          <p:sp>
            <p:nvSpPr>
              <p:cNvPr id="70734" name="Text Box 41"/>
              <p:cNvSpPr txBox="1">
                <a:spLocks noChangeArrowheads="1"/>
              </p:cNvSpPr>
              <p:nvPr/>
            </p:nvSpPr>
            <p:spPr bwMode="auto">
              <a:xfrm>
                <a:off x="652" y="1821"/>
                <a:ext cx="8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0 . 1 0 0 1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735" name="Text Box 42"/>
              <p:cNvSpPr txBox="1">
                <a:spLocks noChangeArrowheads="1"/>
              </p:cNvSpPr>
              <p:nvPr/>
            </p:nvSpPr>
            <p:spPr bwMode="auto">
              <a:xfrm>
                <a:off x="2813" y="1824"/>
                <a:ext cx="136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余数为正，上商 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57803" name="Text Box 43"/>
          <p:cNvSpPr txBox="1">
            <a:spLocks noChangeArrowheads="1"/>
          </p:cNvSpPr>
          <p:nvPr/>
        </p:nvSpPr>
        <p:spPr bwMode="auto">
          <a:xfrm>
            <a:off x="5989638" y="3581400"/>
            <a:ext cx="12557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+[</a:t>
            </a:r>
            <a:r>
              <a:rPr lang="zh-CN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grpSp>
        <p:nvGrpSpPr>
          <p:cNvPr id="757804" name="Group 44"/>
          <p:cNvGrpSpPr/>
          <p:nvPr/>
        </p:nvGrpSpPr>
        <p:grpSpPr bwMode="auto">
          <a:xfrm>
            <a:off x="2559050" y="3200400"/>
            <a:ext cx="4146550" cy="512763"/>
            <a:chOff x="652" y="2016"/>
            <a:chExt cx="2612" cy="323"/>
          </a:xfrm>
        </p:grpSpPr>
        <p:sp>
          <p:nvSpPr>
            <p:cNvPr id="70727" name="Text Box 45"/>
            <p:cNvSpPr txBox="1">
              <a:spLocks noChangeArrowheads="1"/>
            </p:cNvSpPr>
            <p:nvPr/>
          </p:nvSpPr>
          <p:spPr bwMode="auto">
            <a:xfrm>
              <a:off x="652" y="2051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1 . 0 0 1 0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0728" name="Text Box 46"/>
            <p:cNvSpPr txBox="1">
              <a:spLocks noChangeArrowheads="1"/>
            </p:cNvSpPr>
            <p:nvPr/>
          </p:nvSpPr>
          <p:spPr bwMode="auto">
            <a:xfrm>
              <a:off x="2078" y="2051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0729" name="Group 47"/>
            <p:cNvGrpSpPr/>
            <p:nvPr/>
          </p:nvGrpSpPr>
          <p:grpSpPr bwMode="auto">
            <a:xfrm>
              <a:off x="2870" y="2016"/>
              <a:ext cx="394" cy="288"/>
              <a:chOff x="3216" y="780"/>
              <a:chExt cx="394" cy="288"/>
            </a:xfrm>
          </p:grpSpPr>
          <p:sp>
            <p:nvSpPr>
              <p:cNvPr id="70730" name="Text Box 48"/>
              <p:cNvSpPr txBox="1">
                <a:spLocks noChangeArrowheads="1"/>
              </p:cNvSpPr>
              <p:nvPr/>
            </p:nvSpPr>
            <p:spPr bwMode="auto">
              <a:xfrm>
                <a:off x="3398" y="78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731" name="Line 49"/>
              <p:cNvSpPr>
                <a:spLocks noChangeShapeType="1"/>
              </p:cNvSpPr>
              <p:nvPr/>
            </p:nvSpPr>
            <p:spPr bwMode="auto">
              <a:xfrm flipH="1">
                <a:off x="3216" y="917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757810" name="Text Box 50"/>
          <p:cNvSpPr txBox="1">
            <a:spLocks noChangeArrowheads="1"/>
          </p:cNvSpPr>
          <p:nvPr/>
        </p:nvSpPr>
        <p:spPr bwMode="auto">
          <a:xfrm>
            <a:off x="5989638" y="4648200"/>
            <a:ext cx="1255712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+[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sp>
        <p:nvSpPr>
          <p:cNvPr id="757811" name="Text Box 51"/>
          <p:cNvSpPr txBox="1">
            <a:spLocks noChangeArrowheads="1"/>
          </p:cNvSpPr>
          <p:nvPr/>
        </p:nvSpPr>
        <p:spPr bwMode="auto">
          <a:xfrm>
            <a:off x="5989638" y="5791200"/>
            <a:ext cx="10239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+[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endParaRPr lang="zh-CN" altLang="en-US" sz="2000" baseline="-25000">
              <a:latin typeface="Times New Roman" panose="02020603050405020304" pitchFamily="18" charset="0"/>
            </a:endParaRPr>
          </a:p>
        </p:txBody>
      </p:sp>
      <p:grpSp>
        <p:nvGrpSpPr>
          <p:cNvPr id="757812" name="Group 52"/>
          <p:cNvGrpSpPr/>
          <p:nvPr/>
        </p:nvGrpSpPr>
        <p:grpSpPr bwMode="auto">
          <a:xfrm>
            <a:off x="2559050" y="4343400"/>
            <a:ext cx="4146550" cy="463550"/>
            <a:chOff x="652" y="2736"/>
            <a:chExt cx="2612" cy="292"/>
          </a:xfrm>
        </p:grpSpPr>
        <p:sp>
          <p:nvSpPr>
            <p:cNvPr id="70722" name="Text Box 53"/>
            <p:cNvSpPr txBox="1">
              <a:spLocks noChangeArrowheads="1"/>
            </p:cNvSpPr>
            <p:nvPr/>
          </p:nvSpPr>
          <p:spPr bwMode="auto">
            <a:xfrm>
              <a:off x="652" y="2740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0 . 1 0 1 0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0723" name="Text Box 54"/>
            <p:cNvSpPr txBox="1">
              <a:spLocks noChangeArrowheads="1"/>
            </p:cNvSpPr>
            <p:nvPr/>
          </p:nvSpPr>
          <p:spPr bwMode="auto">
            <a:xfrm>
              <a:off x="1948" y="2740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0724" name="Group 55"/>
            <p:cNvGrpSpPr/>
            <p:nvPr/>
          </p:nvGrpSpPr>
          <p:grpSpPr bwMode="auto">
            <a:xfrm>
              <a:off x="2870" y="2736"/>
              <a:ext cx="394" cy="288"/>
              <a:chOff x="3216" y="780"/>
              <a:chExt cx="394" cy="288"/>
            </a:xfrm>
          </p:grpSpPr>
          <p:sp>
            <p:nvSpPr>
              <p:cNvPr id="70725" name="Text Box 56"/>
              <p:cNvSpPr txBox="1">
                <a:spLocks noChangeArrowheads="1"/>
              </p:cNvSpPr>
              <p:nvPr/>
            </p:nvSpPr>
            <p:spPr bwMode="auto">
              <a:xfrm>
                <a:off x="3398" y="78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726" name="Line 57"/>
              <p:cNvSpPr>
                <a:spLocks noChangeShapeType="1"/>
              </p:cNvSpPr>
              <p:nvPr/>
            </p:nvSpPr>
            <p:spPr bwMode="auto">
              <a:xfrm flipH="1">
                <a:off x="3216" y="917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757818" name="Group 58"/>
          <p:cNvGrpSpPr/>
          <p:nvPr/>
        </p:nvGrpSpPr>
        <p:grpSpPr bwMode="auto">
          <a:xfrm>
            <a:off x="2559050" y="5443538"/>
            <a:ext cx="4146550" cy="500062"/>
            <a:chOff x="652" y="3429"/>
            <a:chExt cx="2612" cy="315"/>
          </a:xfrm>
        </p:grpSpPr>
        <p:sp>
          <p:nvSpPr>
            <p:cNvPr id="70717" name="Text Box 59"/>
            <p:cNvSpPr txBox="1">
              <a:spLocks noChangeArrowheads="1"/>
            </p:cNvSpPr>
            <p:nvPr/>
          </p:nvSpPr>
          <p:spPr bwMode="auto">
            <a:xfrm>
              <a:off x="652" y="3429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1 . 1 0 1 0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0718" name="Text Box 60"/>
            <p:cNvSpPr txBox="1">
              <a:spLocks noChangeArrowheads="1"/>
            </p:cNvSpPr>
            <p:nvPr/>
          </p:nvSpPr>
          <p:spPr bwMode="auto">
            <a:xfrm>
              <a:off x="1804" y="3429"/>
              <a:ext cx="6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0 1 1 0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0719" name="Group 61"/>
            <p:cNvGrpSpPr/>
            <p:nvPr/>
          </p:nvGrpSpPr>
          <p:grpSpPr bwMode="auto">
            <a:xfrm>
              <a:off x="2870" y="3456"/>
              <a:ext cx="394" cy="288"/>
              <a:chOff x="3216" y="780"/>
              <a:chExt cx="394" cy="288"/>
            </a:xfrm>
          </p:grpSpPr>
          <p:sp>
            <p:nvSpPr>
              <p:cNvPr id="70720" name="Text Box 62"/>
              <p:cNvSpPr txBox="1">
                <a:spLocks noChangeArrowheads="1"/>
              </p:cNvSpPr>
              <p:nvPr/>
            </p:nvSpPr>
            <p:spPr bwMode="auto">
              <a:xfrm>
                <a:off x="3398" y="78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721" name="Line 63"/>
              <p:cNvSpPr>
                <a:spLocks noChangeShapeType="1"/>
              </p:cNvSpPr>
              <p:nvPr/>
            </p:nvSpPr>
            <p:spPr bwMode="auto">
              <a:xfrm flipH="1">
                <a:off x="3216" y="917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grpSp>
        <p:nvGrpSpPr>
          <p:cNvPr id="757824" name="Group 64"/>
          <p:cNvGrpSpPr/>
          <p:nvPr/>
        </p:nvGrpSpPr>
        <p:grpSpPr bwMode="auto">
          <a:xfrm>
            <a:off x="2559050" y="3984625"/>
            <a:ext cx="5594350" cy="457200"/>
            <a:chOff x="652" y="2510"/>
            <a:chExt cx="3524" cy="288"/>
          </a:xfrm>
        </p:grpSpPr>
        <p:sp>
          <p:nvSpPr>
            <p:cNvPr id="70714" name="Text Box 65"/>
            <p:cNvSpPr txBox="1">
              <a:spLocks noChangeArrowheads="1"/>
            </p:cNvSpPr>
            <p:nvPr/>
          </p:nvSpPr>
          <p:spPr bwMode="auto">
            <a:xfrm>
              <a:off x="652" y="2510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0 . 0 1 0 1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0715" name="Text Box 66"/>
            <p:cNvSpPr txBox="1">
              <a:spLocks noChangeArrowheads="1"/>
            </p:cNvSpPr>
            <p:nvPr/>
          </p:nvSpPr>
          <p:spPr bwMode="auto">
            <a:xfrm>
              <a:off x="2092" y="2510"/>
              <a:ext cx="3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0716" name="Text Box 67"/>
            <p:cNvSpPr txBox="1">
              <a:spLocks noChangeArrowheads="1"/>
            </p:cNvSpPr>
            <p:nvPr/>
          </p:nvSpPr>
          <p:spPr bwMode="auto">
            <a:xfrm>
              <a:off x="2813" y="2544"/>
              <a:ext cx="136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余数为正，上商 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57828" name="Group 68"/>
          <p:cNvGrpSpPr/>
          <p:nvPr/>
        </p:nvGrpSpPr>
        <p:grpSpPr bwMode="auto">
          <a:xfrm>
            <a:off x="2559050" y="6172200"/>
            <a:ext cx="5594350" cy="473075"/>
            <a:chOff x="652" y="3888"/>
            <a:chExt cx="3524" cy="298"/>
          </a:xfrm>
        </p:grpSpPr>
        <p:sp>
          <p:nvSpPr>
            <p:cNvPr id="70711" name="Text Box 69"/>
            <p:cNvSpPr txBox="1">
              <a:spLocks noChangeArrowheads="1"/>
            </p:cNvSpPr>
            <p:nvPr/>
          </p:nvSpPr>
          <p:spPr bwMode="auto">
            <a:xfrm>
              <a:off x="652" y="3888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0 . 0 1 1 1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0712" name="Text Box 70"/>
            <p:cNvSpPr txBox="1">
              <a:spLocks noChangeArrowheads="1"/>
            </p:cNvSpPr>
            <p:nvPr/>
          </p:nvSpPr>
          <p:spPr bwMode="auto">
            <a:xfrm>
              <a:off x="1804" y="3888"/>
              <a:ext cx="6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0 1 1 0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0713" name="Text Box 71"/>
            <p:cNvSpPr txBox="1">
              <a:spLocks noChangeArrowheads="1"/>
            </p:cNvSpPr>
            <p:nvPr/>
          </p:nvSpPr>
          <p:spPr bwMode="auto">
            <a:xfrm>
              <a:off x="2813" y="3936"/>
              <a:ext cx="136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余数为正，上商 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57832" name="Group 72"/>
          <p:cNvGrpSpPr/>
          <p:nvPr/>
        </p:nvGrpSpPr>
        <p:grpSpPr bwMode="auto">
          <a:xfrm>
            <a:off x="2559050" y="5078413"/>
            <a:ext cx="5594350" cy="457200"/>
            <a:chOff x="652" y="3199"/>
            <a:chExt cx="3524" cy="288"/>
          </a:xfrm>
        </p:grpSpPr>
        <p:sp>
          <p:nvSpPr>
            <p:cNvPr id="70708" name="Text Box 73"/>
            <p:cNvSpPr txBox="1">
              <a:spLocks noChangeArrowheads="1"/>
            </p:cNvSpPr>
            <p:nvPr/>
          </p:nvSpPr>
          <p:spPr bwMode="auto">
            <a:xfrm>
              <a:off x="652" y="3199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1 . 1 1 0 1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0709" name="Text Box 74"/>
            <p:cNvSpPr txBox="1">
              <a:spLocks noChangeArrowheads="1"/>
            </p:cNvSpPr>
            <p:nvPr/>
          </p:nvSpPr>
          <p:spPr bwMode="auto">
            <a:xfrm>
              <a:off x="1948" y="3199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0 1 1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0710" name="Text Box 75"/>
            <p:cNvSpPr txBox="1">
              <a:spLocks noChangeArrowheads="1"/>
            </p:cNvSpPr>
            <p:nvPr/>
          </p:nvSpPr>
          <p:spPr bwMode="auto">
            <a:xfrm>
              <a:off x="2813" y="3216"/>
              <a:ext cx="136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余数为负，上商 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757836" name="Text Box 76"/>
          <p:cNvSpPr txBox="1">
            <a:spLocks noChangeArrowheads="1"/>
          </p:cNvSpPr>
          <p:nvPr/>
        </p:nvSpPr>
        <p:spPr bwMode="auto">
          <a:xfrm>
            <a:off x="8763000" y="1108075"/>
            <a:ext cx="1868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原</a:t>
            </a:r>
            <a:r>
              <a:rPr lang="zh-CN" altLang="en-US" sz="2400">
                <a:latin typeface="Times New Roman" panose="02020603050405020304" pitchFamily="18" charset="0"/>
              </a:rPr>
              <a:t> = 1.1011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837" name="Text Box 77"/>
          <p:cNvSpPr txBox="1">
            <a:spLocks noChangeArrowheads="1"/>
          </p:cNvSpPr>
          <p:nvPr/>
        </p:nvSpPr>
        <p:spPr bwMode="auto">
          <a:xfrm>
            <a:off x="8610600" y="2667000"/>
            <a:ext cx="2003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= 0.1101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838" name="Text Box 78"/>
          <p:cNvSpPr txBox="1">
            <a:spLocks noChangeArrowheads="1"/>
          </p:cNvSpPr>
          <p:nvPr/>
        </p:nvSpPr>
        <p:spPr bwMode="auto">
          <a:xfrm>
            <a:off x="8458200" y="3187700"/>
            <a:ext cx="2155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= 1.0011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839" name="Text Box 79"/>
          <p:cNvSpPr txBox="1">
            <a:spLocks noChangeArrowheads="1"/>
          </p:cNvSpPr>
          <p:nvPr/>
        </p:nvSpPr>
        <p:spPr bwMode="auto">
          <a:xfrm>
            <a:off x="8763000" y="1627188"/>
            <a:ext cx="1851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原</a:t>
            </a:r>
            <a:r>
              <a:rPr lang="zh-CN" altLang="en-US" sz="2400">
                <a:latin typeface="Times New Roman" panose="02020603050405020304" pitchFamily="18" charset="0"/>
              </a:rPr>
              <a:t> = 1.1101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840" name="Text Box 80"/>
          <p:cNvSpPr txBox="1">
            <a:spLocks noChangeArrowheads="1"/>
          </p:cNvSpPr>
          <p:nvPr/>
        </p:nvSpPr>
        <p:spPr bwMode="auto">
          <a:xfrm>
            <a:off x="5302250" y="28908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841" name="Text Box 81"/>
          <p:cNvSpPr txBox="1">
            <a:spLocks noChangeArrowheads="1"/>
          </p:cNvSpPr>
          <p:nvPr/>
        </p:nvSpPr>
        <p:spPr bwMode="auto">
          <a:xfrm>
            <a:off x="5302250" y="39846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842" name="Text Box 82"/>
          <p:cNvSpPr txBox="1">
            <a:spLocks noChangeArrowheads="1"/>
          </p:cNvSpPr>
          <p:nvPr/>
        </p:nvSpPr>
        <p:spPr bwMode="auto">
          <a:xfrm>
            <a:off x="5302250" y="5078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843" name="Text Box 83"/>
          <p:cNvSpPr txBox="1">
            <a:spLocks noChangeArrowheads="1"/>
          </p:cNvSpPr>
          <p:nvPr/>
        </p:nvSpPr>
        <p:spPr bwMode="auto">
          <a:xfrm>
            <a:off x="5302250" y="6172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57844" name="AutoShape 84"/>
          <p:cNvSpPr>
            <a:spLocks noChangeArrowheads="1"/>
          </p:cNvSpPr>
          <p:nvPr/>
        </p:nvSpPr>
        <p:spPr bwMode="auto">
          <a:xfrm>
            <a:off x="1604963" y="2817813"/>
            <a:ext cx="755650" cy="1387475"/>
          </a:xfrm>
          <a:prstGeom prst="wedgeRoundRectCallout">
            <a:avLst>
              <a:gd name="adj1" fmla="val 89958"/>
              <a:gd name="adj2" fmla="val 36250"/>
              <a:gd name="adj3" fmla="val 16667"/>
            </a:avLst>
          </a:prstGeom>
          <a:noFill/>
          <a:ln w="1905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逻辑左移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57846" name="Text Box 86"/>
          <p:cNvSpPr txBox="1">
            <a:spLocks noChangeArrowheads="1"/>
          </p:cNvSpPr>
          <p:nvPr/>
        </p:nvSpPr>
        <p:spPr bwMode="auto">
          <a:xfrm>
            <a:off x="8610600" y="2147888"/>
            <a:ext cx="2020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*]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= 0.1</a:t>
            </a:r>
            <a:r>
              <a:rPr lang="en-US" altLang="zh-CN" sz="2400">
                <a:latin typeface="Times New Roman" panose="02020603050405020304" pitchFamily="18" charset="0"/>
              </a:rPr>
              <a:t>011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57847" name="AutoShape 87"/>
          <p:cNvSpPr>
            <a:spLocks noChangeArrowheads="1"/>
          </p:cNvSpPr>
          <p:nvPr/>
        </p:nvSpPr>
        <p:spPr bwMode="auto">
          <a:xfrm>
            <a:off x="1603375" y="1773238"/>
            <a:ext cx="757238" cy="1387475"/>
          </a:xfrm>
          <a:prstGeom prst="wedgeRoundRectCallout">
            <a:avLst>
              <a:gd name="adj1" fmla="val 89958"/>
              <a:gd name="adj2" fmla="val 36250"/>
              <a:gd name="adj3" fmla="val 16667"/>
            </a:avLst>
          </a:prstGeom>
          <a:noFill/>
          <a:ln w="1905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逻辑左移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57848" name="AutoShape 88"/>
          <p:cNvSpPr>
            <a:spLocks noChangeArrowheads="1"/>
          </p:cNvSpPr>
          <p:nvPr/>
        </p:nvSpPr>
        <p:spPr bwMode="auto">
          <a:xfrm>
            <a:off x="1603375" y="3933825"/>
            <a:ext cx="757238" cy="1387475"/>
          </a:xfrm>
          <a:prstGeom prst="wedgeRoundRectCallout">
            <a:avLst>
              <a:gd name="adj1" fmla="val 89958"/>
              <a:gd name="adj2" fmla="val 36250"/>
              <a:gd name="adj3" fmla="val 16667"/>
            </a:avLst>
          </a:prstGeom>
          <a:noFill/>
          <a:ln w="1905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逻辑左移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57849" name="AutoShape 89"/>
          <p:cNvSpPr>
            <a:spLocks noChangeArrowheads="1"/>
          </p:cNvSpPr>
          <p:nvPr/>
        </p:nvSpPr>
        <p:spPr bwMode="auto">
          <a:xfrm>
            <a:off x="1603375" y="5037138"/>
            <a:ext cx="757238" cy="1387475"/>
          </a:xfrm>
          <a:prstGeom prst="wedgeRoundRectCallout">
            <a:avLst>
              <a:gd name="adj1" fmla="val 89958"/>
              <a:gd name="adj2" fmla="val 36250"/>
              <a:gd name="adj3" fmla="val 16667"/>
            </a:avLst>
          </a:prstGeom>
          <a:noFill/>
          <a:ln w="19050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逻辑左移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57851" name="Text Box 91"/>
          <p:cNvSpPr txBox="1">
            <a:spLocks noChangeArrowheads="1"/>
          </p:cNvSpPr>
          <p:nvPr/>
        </p:nvSpPr>
        <p:spPr bwMode="auto">
          <a:xfrm>
            <a:off x="2314575" y="1477963"/>
            <a:ext cx="4683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＋</a:t>
            </a: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757852" name="Text Box 92"/>
          <p:cNvSpPr txBox="1">
            <a:spLocks noChangeArrowheads="1"/>
          </p:cNvSpPr>
          <p:nvPr/>
        </p:nvSpPr>
        <p:spPr bwMode="auto">
          <a:xfrm>
            <a:off x="2314575" y="2565400"/>
            <a:ext cx="4683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＋</a:t>
            </a: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757853" name="Text Box 93"/>
          <p:cNvSpPr txBox="1">
            <a:spLocks noChangeArrowheads="1"/>
          </p:cNvSpPr>
          <p:nvPr/>
        </p:nvSpPr>
        <p:spPr bwMode="auto">
          <a:xfrm>
            <a:off x="2314575" y="3644900"/>
            <a:ext cx="4683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＋</a:t>
            </a: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757854" name="Text Box 94"/>
          <p:cNvSpPr txBox="1">
            <a:spLocks noChangeArrowheads="1"/>
          </p:cNvSpPr>
          <p:nvPr/>
        </p:nvSpPr>
        <p:spPr bwMode="auto">
          <a:xfrm>
            <a:off x="2314575" y="4724400"/>
            <a:ext cx="4683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＋</a:t>
            </a: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757855" name="Text Box 95"/>
          <p:cNvSpPr txBox="1">
            <a:spLocks noChangeArrowheads="1"/>
          </p:cNvSpPr>
          <p:nvPr/>
        </p:nvSpPr>
        <p:spPr bwMode="auto">
          <a:xfrm>
            <a:off x="2314575" y="5870575"/>
            <a:ext cx="4683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等线" panose="02010600030101010101" pitchFamily="2" charset="-122"/>
              </a:rPr>
              <a:t>＋</a:t>
            </a:r>
            <a:endParaRPr lang="zh-CN" altLang="en-US" sz="180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7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7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5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5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757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57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7" dur="500"/>
                                        <p:tgtEl>
                                          <p:spTgt spid="757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5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57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5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4" dur="500"/>
                                        <p:tgtEl>
                                          <p:spTgt spid="75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75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75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757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757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75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757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5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1" dur="500"/>
                                        <p:tgtEl>
                                          <p:spTgt spid="75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75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757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75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757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75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757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75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8" dur="500"/>
                                        <p:tgtEl>
                                          <p:spTgt spid="757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757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75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75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8" dur="500"/>
                                        <p:tgtEl>
                                          <p:spTgt spid="757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3" dur="500"/>
                                        <p:tgtEl>
                                          <p:spTgt spid="75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75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1" dur="500"/>
                                        <p:tgtEl>
                                          <p:spTgt spid="757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5" dur="500"/>
                                        <p:tgtEl>
                                          <p:spTgt spid="757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0" dur="500"/>
                                        <p:tgtEl>
                                          <p:spTgt spid="75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5" dur="500"/>
                                        <p:tgtEl>
                                          <p:spTgt spid="75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0" dur="500"/>
                                        <p:tgtEl>
                                          <p:spTgt spid="75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5" dur="500"/>
                                        <p:tgtEl>
                                          <p:spTgt spid="75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0" dur="500"/>
                                        <p:tgtEl>
                                          <p:spTgt spid="757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5" dur="500"/>
                                        <p:tgtEl>
                                          <p:spTgt spid="757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8" dur="500"/>
                                        <p:tgtEl>
                                          <p:spTgt spid="75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2" dur="500"/>
                                        <p:tgtEl>
                                          <p:spTgt spid="75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7" dur="500"/>
                                        <p:tgtEl>
                                          <p:spTgt spid="75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2" dur="500"/>
                                        <p:tgtEl>
                                          <p:spTgt spid="75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70" grpId="0" autoUpdateAnimBg="0"/>
      <p:bldP spid="757772" grpId="0" autoUpdateAnimBg="0"/>
      <p:bldP spid="757773" grpId="0" autoUpdateAnimBg="0"/>
      <p:bldP spid="757774" grpId="0" autoUpdateAnimBg="0"/>
      <p:bldP spid="757775" grpId="0" autoUpdateAnimBg="0"/>
      <p:bldP spid="757776" grpId="0" autoUpdateAnimBg="0"/>
      <p:bldP spid="757777" grpId="0" autoUpdateAnimBg="0"/>
      <p:bldP spid="757779" grpId="0" autoUpdateAnimBg="0"/>
      <p:bldP spid="757786" grpId="0" autoUpdateAnimBg="0"/>
      <p:bldP spid="757787" grpId="0" autoUpdateAnimBg="0"/>
      <p:bldP spid="757797" grpId="0" autoUpdateAnimBg="0"/>
      <p:bldP spid="757803" grpId="0" autoUpdateAnimBg="0"/>
      <p:bldP spid="757810" grpId="0" autoUpdateAnimBg="0"/>
      <p:bldP spid="757811" grpId="0" autoUpdateAnimBg="0"/>
      <p:bldP spid="757836" grpId="0" autoUpdateAnimBg="0"/>
      <p:bldP spid="757837" grpId="0" autoUpdateAnimBg="0"/>
      <p:bldP spid="757838" grpId="0" autoUpdateAnimBg="0"/>
      <p:bldP spid="757839" grpId="0" autoUpdateAnimBg="0"/>
      <p:bldP spid="757840" grpId="0" autoUpdateAnimBg="0"/>
      <p:bldP spid="757841" grpId="0" autoUpdateAnimBg="0"/>
      <p:bldP spid="757842" grpId="0" autoUpdateAnimBg="0"/>
      <p:bldP spid="757843" grpId="0" autoUpdateAnimBg="0"/>
      <p:bldP spid="757844" grpId="0" animBg="1" autoUpdateAnimBg="0"/>
      <p:bldP spid="757846" grpId="0" autoUpdateAnimBg="0"/>
      <p:bldP spid="757847" grpId="0" animBg="1" autoUpdateAnimBg="0"/>
      <p:bldP spid="757848" grpId="0" animBg="1" autoUpdateAnimBg="0"/>
      <p:bldP spid="757849" grpId="0" animBg="1" autoUpdateAnimBg="0"/>
      <p:bldP spid="757851" grpId="0"/>
      <p:bldP spid="757852" grpId="0"/>
      <p:bldP spid="757853" grpId="0"/>
      <p:bldP spid="757854" grpId="0"/>
      <p:bldP spid="75785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8786" name="Group 2"/>
          <p:cNvGrpSpPr/>
          <p:nvPr/>
        </p:nvGrpSpPr>
        <p:grpSpPr bwMode="auto">
          <a:xfrm>
            <a:off x="2514600" y="1143000"/>
            <a:ext cx="3259138" cy="519113"/>
            <a:chOff x="624" y="720"/>
            <a:chExt cx="2053" cy="327"/>
          </a:xfrm>
        </p:grpSpPr>
        <p:sp>
          <p:nvSpPr>
            <p:cNvPr id="71704" name="Text Box 3"/>
            <p:cNvSpPr txBox="1">
              <a:spLocks noChangeArrowheads="1"/>
            </p:cNvSpPr>
            <p:nvPr/>
          </p:nvSpPr>
          <p:spPr bwMode="auto">
            <a:xfrm>
              <a:off x="624" y="720"/>
              <a:ext cx="20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①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>
                  <a:latin typeface="Times New Roman" panose="02020603050405020304" pitchFamily="18" charset="0"/>
                </a:rPr>
                <a:t>   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0</a:t>
              </a:r>
              <a:r>
                <a:rPr lang="en-US" altLang="zh-CN">
                  <a:latin typeface="Times New Roman" panose="02020603050405020304" pitchFamily="18" charset="0"/>
                </a:rPr>
                <a:t> = 1    </a:t>
              </a:r>
              <a:r>
                <a:rPr lang="en-US" altLang="zh-CN" sz="1400">
                  <a:latin typeface="Times New Roman" panose="02020603050405020304" pitchFamily="18" charset="0"/>
                </a:rPr>
                <a:t> </a:t>
              </a:r>
              <a:r>
                <a:rPr lang="en-US" altLang="zh-CN">
                  <a:latin typeface="Times New Roman" panose="02020603050405020304" pitchFamily="18" charset="0"/>
                </a:rPr>
                <a:t>1 = 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71705" name="AutoShape 4"/>
            <p:cNvSpPr>
              <a:spLocks noChangeArrowheads="1"/>
            </p:cNvSpPr>
            <p:nvPr/>
          </p:nvSpPr>
          <p:spPr bwMode="auto">
            <a:xfrm>
              <a:off x="1200" y="864"/>
              <a:ext cx="125" cy="125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71706" name="AutoShape 5"/>
            <p:cNvSpPr>
              <a:spLocks noChangeArrowheads="1"/>
            </p:cNvSpPr>
            <p:nvPr/>
          </p:nvSpPr>
          <p:spPr bwMode="auto">
            <a:xfrm>
              <a:off x="1978" y="816"/>
              <a:ext cx="125" cy="125"/>
            </a:xfrm>
            <a:prstGeom prst="flowChartOr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58790" name="Group 6"/>
          <p:cNvGrpSpPr/>
          <p:nvPr/>
        </p:nvGrpSpPr>
        <p:grpSpPr bwMode="auto">
          <a:xfrm>
            <a:off x="2514600" y="1727200"/>
            <a:ext cx="2520950" cy="720725"/>
            <a:chOff x="624" y="1088"/>
            <a:chExt cx="1588" cy="454"/>
          </a:xfrm>
        </p:grpSpPr>
        <p:sp>
          <p:nvSpPr>
            <p:cNvPr id="71698" name="Text Box 7"/>
            <p:cNvSpPr txBox="1">
              <a:spLocks noChangeArrowheads="1"/>
            </p:cNvSpPr>
            <p:nvPr/>
          </p:nvSpPr>
          <p:spPr bwMode="auto">
            <a:xfrm>
              <a:off x="624" y="1138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②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71699" name="Group 8"/>
            <p:cNvGrpSpPr/>
            <p:nvPr/>
          </p:nvGrpSpPr>
          <p:grpSpPr bwMode="auto">
            <a:xfrm>
              <a:off x="1018" y="1088"/>
              <a:ext cx="308" cy="454"/>
              <a:chOff x="1056" y="1728"/>
              <a:chExt cx="308" cy="454"/>
            </a:xfrm>
          </p:grpSpPr>
          <p:sp>
            <p:nvSpPr>
              <p:cNvPr id="71701" name="Text Box 9"/>
              <p:cNvSpPr txBox="1">
                <a:spLocks noChangeArrowheads="1"/>
              </p:cNvSpPr>
              <p:nvPr/>
            </p:nvSpPr>
            <p:spPr bwMode="auto">
              <a:xfrm>
                <a:off x="1056" y="1728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*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1702" name="Text Box 10"/>
              <p:cNvSpPr txBox="1">
                <a:spLocks noChangeArrowheads="1"/>
              </p:cNvSpPr>
              <p:nvPr/>
            </p:nvSpPr>
            <p:spPr bwMode="auto">
              <a:xfrm>
                <a:off x="1056" y="1894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</a:rPr>
                  <a:t>y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*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1703" name="Line 11"/>
              <p:cNvSpPr>
                <a:spLocks noChangeShapeType="1"/>
              </p:cNvSpPr>
              <p:nvPr/>
            </p:nvSpPr>
            <p:spPr bwMode="auto">
              <a:xfrm>
                <a:off x="1070" y="1990"/>
                <a:ext cx="1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71700" name="Text Box 12"/>
            <p:cNvSpPr txBox="1">
              <a:spLocks noChangeArrowheads="1"/>
            </p:cNvSpPr>
            <p:nvPr/>
          </p:nvSpPr>
          <p:spPr bwMode="auto">
            <a:xfrm>
              <a:off x="1296" y="1161"/>
              <a:ext cx="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 0.1101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58797" name="Group 13"/>
          <p:cNvGrpSpPr/>
          <p:nvPr/>
        </p:nvGrpSpPr>
        <p:grpSpPr bwMode="auto">
          <a:xfrm>
            <a:off x="2133600" y="2362200"/>
            <a:ext cx="2878138" cy="738188"/>
            <a:chOff x="384" y="1488"/>
            <a:chExt cx="1813" cy="465"/>
          </a:xfrm>
        </p:grpSpPr>
        <p:sp>
          <p:nvSpPr>
            <p:cNvPr id="71691" name="Text Box 14"/>
            <p:cNvSpPr txBox="1">
              <a:spLocks noChangeArrowheads="1"/>
            </p:cNvSpPr>
            <p:nvPr/>
          </p:nvSpPr>
          <p:spPr bwMode="auto">
            <a:xfrm>
              <a:off x="384" y="1626"/>
              <a:ext cx="18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∴            = 0.1101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71692" name="Group 15"/>
            <p:cNvGrpSpPr/>
            <p:nvPr/>
          </p:nvGrpSpPr>
          <p:grpSpPr bwMode="auto">
            <a:xfrm>
              <a:off x="730" y="1488"/>
              <a:ext cx="619" cy="454"/>
              <a:chOff x="1085" y="1898"/>
              <a:chExt cx="619" cy="454"/>
            </a:xfrm>
          </p:grpSpPr>
          <p:sp>
            <p:nvSpPr>
              <p:cNvPr id="71693" name="Text Box 16"/>
              <p:cNvSpPr txBox="1">
                <a:spLocks noChangeArrowheads="1"/>
              </p:cNvSpPr>
              <p:nvPr/>
            </p:nvSpPr>
            <p:spPr bwMode="auto">
              <a:xfrm>
                <a:off x="1085" y="1988"/>
                <a:ext cx="61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>
                    <a:latin typeface="Times New Roman" panose="02020603050405020304" pitchFamily="18" charset="0"/>
                  </a:rPr>
                  <a:t>[    ]</a:t>
                </a:r>
                <a:r>
                  <a:rPr lang="zh-CN" altLang="en-US" sz="2400" baseline="-25000">
                    <a:latin typeface="Times New Roman" panose="02020603050405020304" pitchFamily="18" charset="0"/>
                  </a:rPr>
                  <a:t>原</a:t>
                </a:r>
                <a:endParaRPr lang="en-US" altLang="zh-CN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1694" name="Group 17"/>
              <p:cNvGrpSpPr/>
              <p:nvPr/>
            </p:nvGrpSpPr>
            <p:grpSpPr bwMode="auto">
              <a:xfrm>
                <a:off x="1219" y="1898"/>
                <a:ext cx="204" cy="454"/>
                <a:chOff x="1056" y="1728"/>
                <a:chExt cx="204" cy="454"/>
              </a:xfrm>
            </p:grpSpPr>
            <p:sp>
              <p:nvSpPr>
                <p:cNvPr id="71695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056" y="1728"/>
                  <a:ext cx="20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i="1">
                      <a:latin typeface="Times New Roman" panose="02020603050405020304" pitchFamily="18" charset="0"/>
                    </a:rPr>
                    <a:t>x</a:t>
                  </a:r>
                  <a:endParaRPr lang="en-US" altLang="zh-CN" sz="2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696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056" y="1894"/>
                  <a:ext cx="20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400" i="1">
                      <a:latin typeface="Times New Roman" panose="02020603050405020304" pitchFamily="18" charset="0"/>
                    </a:rPr>
                    <a:t>y</a:t>
                  </a:r>
                  <a:endParaRPr lang="en-US" altLang="zh-CN" sz="24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1697" name="Line 20"/>
                <p:cNvSpPr>
                  <a:spLocks noChangeShapeType="1"/>
                </p:cNvSpPr>
                <p:nvPr/>
              </p:nvSpPr>
              <p:spPr bwMode="auto">
                <a:xfrm>
                  <a:off x="1070" y="1990"/>
                  <a:ext cx="19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758805" name="Text Box 21"/>
          <p:cNvSpPr txBox="1">
            <a:spLocks noChangeArrowheads="1"/>
          </p:cNvSpPr>
          <p:nvPr/>
        </p:nvSpPr>
        <p:spPr bwMode="auto">
          <a:xfrm>
            <a:off x="3409950" y="3513138"/>
            <a:ext cx="2092325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上商  </a:t>
            </a:r>
            <a:r>
              <a:rPr lang="en-US" altLang="zh-CN" i="1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+1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次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6" name="Text Box 22"/>
          <p:cNvSpPr txBox="1">
            <a:spLocks noChangeArrowheads="1"/>
          </p:cNvSpPr>
          <p:nvPr/>
        </p:nvSpPr>
        <p:spPr bwMode="auto">
          <a:xfrm>
            <a:off x="1905000" y="258763"/>
            <a:ext cx="4114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例6.25  结果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58807" name="Text Box 23"/>
          <p:cNvSpPr txBox="1">
            <a:spLocks noChangeArrowheads="1"/>
          </p:cNvSpPr>
          <p:nvPr/>
        </p:nvSpPr>
        <p:spPr bwMode="auto">
          <a:xfrm>
            <a:off x="2514600" y="35956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特点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8808" name="Text Box 24"/>
          <p:cNvSpPr txBox="1">
            <a:spLocks noChangeArrowheads="1"/>
          </p:cNvSpPr>
          <p:nvPr/>
        </p:nvSpPr>
        <p:spPr bwMode="auto">
          <a:xfrm>
            <a:off x="3409950" y="5537200"/>
            <a:ext cx="5184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用移位的次数判断除法是否结束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809" name="Text Box 25"/>
          <p:cNvSpPr txBox="1">
            <a:spLocks noChangeArrowheads="1"/>
          </p:cNvSpPr>
          <p:nvPr/>
        </p:nvSpPr>
        <p:spPr bwMode="auto">
          <a:xfrm>
            <a:off x="3409950" y="4191000"/>
            <a:ext cx="3057525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第一次上商判溢出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8810" name="Text Box 26"/>
          <p:cNvSpPr txBox="1">
            <a:spLocks noChangeArrowheads="1"/>
          </p:cNvSpPr>
          <p:nvPr/>
        </p:nvSpPr>
        <p:spPr bwMode="auto">
          <a:xfrm>
            <a:off x="3409950" y="4938713"/>
            <a:ext cx="3752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移 </a:t>
            </a:r>
            <a:r>
              <a:rPr lang="en-US" altLang="zh-CN" i="1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次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加 </a:t>
            </a:r>
            <a:r>
              <a:rPr lang="en-US" altLang="zh-CN" i="1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>
                <a:solidFill>
                  <a:schemeClr val="folHlink"/>
                </a:solidFill>
                <a:latin typeface="Times New Roman" panose="02020603050405020304" pitchFamily="18" charset="0"/>
              </a:rPr>
              <a:t>+1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次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8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5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58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58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805" grpId="0" autoUpdateAnimBg="0"/>
      <p:bldP spid="758807" grpId="0" autoUpdateAnimBg="0"/>
      <p:bldP spid="758808" grpId="0" autoUpdateAnimBg="0"/>
      <p:bldP spid="758809" grpId="0" autoUpdateAnimBg="0"/>
      <p:bldP spid="758810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1270000" y="336550"/>
            <a:ext cx="63404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(3) 原码加减交替除法硬件配置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59811" name="Text Box 3"/>
          <p:cNvSpPr txBox="1">
            <a:spLocks noChangeArrowheads="1"/>
          </p:cNvSpPr>
          <p:nvPr/>
        </p:nvSpPr>
        <p:spPr bwMode="auto">
          <a:xfrm>
            <a:off x="2487613" y="5154613"/>
            <a:ext cx="5502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A、X、Q </a:t>
            </a:r>
            <a:r>
              <a:rPr lang="zh-CN" altLang="en-US">
                <a:latin typeface="Times New Roman" panose="02020603050405020304" pitchFamily="18" charset="0"/>
              </a:rPr>
              <a:t>均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 sz="1400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+1 </a:t>
            </a:r>
            <a:r>
              <a:rPr lang="zh-CN" altLang="en-US">
                <a:latin typeface="Times New Roman" panose="02020603050405020304" pitchFamily="18" charset="0"/>
              </a:rPr>
              <a:t>位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59812" name="Text Box 4"/>
          <p:cNvSpPr txBox="1">
            <a:spLocks noChangeArrowheads="1"/>
          </p:cNvSpPr>
          <p:nvPr/>
        </p:nvSpPr>
        <p:spPr bwMode="auto">
          <a:xfrm>
            <a:off x="2487613" y="5764213"/>
            <a:ext cx="4968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用 </a:t>
            </a:r>
            <a:r>
              <a:rPr lang="en-US" altLang="zh-CN">
                <a:latin typeface="Times New Roman" panose="02020603050405020304" pitchFamily="18" charset="0"/>
              </a:rPr>
              <a:t>Q</a:t>
            </a:r>
            <a:r>
              <a:rPr lang="en-US" altLang="zh-CN" i="1" baseline="-25000">
                <a:latin typeface="Times New Roman" panose="02020603050405020304" pitchFamily="18" charset="0"/>
              </a:rPr>
              <a:t>n </a:t>
            </a:r>
            <a:r>
              <a:rPr lang="zh-CN" altLang="en-US">
                <a:latin typeface="Times New Roman" panose="02020603050405020304" pitchFamily="18" charset="0"/>
              </a:rPr>
              <a:t>控制加减交替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759813" name="Group 5"/>
          <p:cNvGrpSpPr/>
          <p:nvPr/>
        </p:nvGrpSpPr>
        <p:grpSpPr bwMode="auto">
          <a:xfrm>
            <a:off x="2351088" y="1268413"/>
            <a:ext cx="6970712" cy="3505200"/>
            <a:chOff x="576" y="1008"/>
            <a:chExt cx="4391" cy="2208"/>
          </a:xfrm>
        </p:grpSpPr>
        <p:sp>
          <p:nvSpPr>
            <p:cNvPr id="72710" name="AutoShape 6"/>
            <p:cNvSpPr>
              <a:spLocks noChangeArrowheads="1"/>
            </p:cNvSpPr>
            <p:nvPr/>
          </p:nvSpPr>
          <p:spPr bwMode="auto">
            <a:xfrm>
              <a:off x="1364" y="2640"/>
              <a:ext cx="96" cy="240"/>
            </a:xfrm>
            <a:prstGeom prst="upArrow">
              <a:avLst>
                <a:gd name="adj1" fmla="val 50000"/>
                <a:gd name="adj2" fmla="val 625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600">
                  <a:latin typeface="Times New Roman" panose="02020603050405020304" pitchFamily="18" charset="0"/>
                </a:rPr>
                <a:t> </a:t>
              </a:r>
              <a:endParaRPr lang="zh-CN" altLang="en-US" sz="1600">
                <a:latin typeface="Times New Roman" panose="02020603050405020304" pitchFamily="18" charset="0"/>
              </a:endParaRPr>
            </a:p>
          </p:txBody>
        </p:sp>
        <p:grpSp>
          <p:nvGrpSpPr>
            <p:cNvPr id="72711" name="Group 7"/>
            <p:cNvGrpSpPr/>
            <p:nvPr/>
          </p:nvGrpSpPr>
          <p:grpSpPr bwMode="auto">
            <a:xfrm>
              <a:off x="576" y="1152"/>
              <a:ext cx="1738" cy="336"/>
              <a:chOff x="576" y="1536"/>
              <a:chExt cx="1738" cy="336"/>
            </a:xfrm>
          </p:grpSpPr>
          <p:sp>
            <p:nvSpPr>
              <p:cNvPr id="72746" name="Text Box 8"/>
              <p:cNvSpPr txBox="1">
                <a:spLocks noChangeArrowheads="1"/>
              </p:cNvSpPr>
              <p:nvPr/>
            </p:nvSpPr>
            <p:spPr bwMode="auto">
              <a:xfrm>
                <a:off x="614" y="1562"/>
                <a:ext cx="17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0              </a:t>
                </a:r>
                <a:r>
                  <a:rPr lang="zh-CN" altLang="en-US" sz="100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A  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               </a:t>
                </a:r>
                <a:r>
                  <a:rPr lang="en-US" altLang="zh-CN" sz="2000" i="1">
                    <a:latin typeface="Times New Roman" panose="02020603050405020304" pitchFamily="18" charset="0"/>
                  </a:rPr>
                  <a:t>n</a:t>
                </a:r>
                <a:endParaRPr lang="en-US" altLang="zh-CN" sz="20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47" name="Rectangle 9"/>
              <p:cNvSpPr>
                <a:spLocks noChangeArrowheads="1"/>
              </p:cNvSpPr>
              <p:nvPr/>
            </p:nvSpPr>
            <p:spPr bwMode="auto">
              <a:xfrm>
                <a:off x="576" y="1536"/>
                <a:ext cx="1728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</p:grpSp>
        <p:grpSp>
          <p:nvGrpSpPr>
            <p:cNvPr id="72712" name="Group 10"/>
            <p:cNvGrpSpPr/>
            <p:nvPr/>
          </p:nvGrpSpPr>
          <p:grpSpPr bwMode="auto">
            <a:xfrm>
              <a:off x="576" y="1728"/>
              <a:ext cx="1728" cy="336"/>
              <a:chOff x="576" y="2112"/>
              <a:chExt cx="1728" cy="336"/>
            </a:xfrm>
          </p:grpSpPr>
          <p:sp>
            <p:nvSpPr>
              <p:cNvPr id="72744" name="Rectangle 11"/>
              <p:cNvSpPr>
                <a:spLocks noChangeArrowheads="1"/>
              </p:cNvSpPr>
              <p:nvPr/>
            </p:nvSpPr>
            <p:spPr bwMode="auto">
              <a:xfrm>
                <a:off x="576" y="2112"/>
                <a:ext cx="1728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72745" name="Text Box 12"/>
              <p:cNvSpPr txBox="1">
                <a:spLocks noChangeArrowheads="1"/>
              </p:cNvSpPr>
              <p:nvPr/>
            </p:nvSpPr>
            <p:spPr bwMode="auto">
              <a:xfrm>
                <a:off x="876" y="2160"/>
                <a:ext cx="11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 + 1 </a:t>
                </a:r>
                <a:r>
                  <a:rPr lang="zh-CN" altLang="en-US" sz="2000">
                    <a:latin typeface="Times New Roman" panose="02020603050405020304" pitchFamily="18" charset="0"/>
                  </a:rPr>
                  <a:t>位加法器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13" name="Group 13"/>
            <p:cNvGrpSpPr/>
            <p:nvPr/>
          </p:nvGrpSpPr>
          <p:grpSpPr bwMode="auto">
            <a:xfrm>
              <a:off x="576" y="2304"/>
              <a:ext cx="1728" cy="336"/>
              <a:chOff x="576" y="2688"/>
              <a:chExt cx="1728" cy="336"/>
            </a:xfrm>
          </p:grpSpPr>
          <p:sp>
            <p:nvSpPr>
              <p:cNvPr id="72742" name="Rectangle 14"/>
              <p:cNvSpPr>
                <a:spLocks noChangeArrowheads="1"/>
              </p:cNvSpPr>
              <p:nvPr/>
            </p:nvSpPr>
            <p:spPr bwMode="auto">
              <a:xfrm>
                <a:off x="576" y="2688"/>
                <a:ext cx="1728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72743" name="Text Box 15"/>
              <p:cNvSpPr txBox="1">
                <a:spLocks noChangeArrowheads="1"/>
              </p:cNvSpPr>
              <p:nvPr/>
            </p:nvSpPr>
            <p:spPr bwMode="auto">
              <a:xfrm>
                <a:off x="1046" y="2745"/>
                <a:ext cx="719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 控 制 门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2714" name="Group 16"/>
            <p:cNvGrpSpPr/>
            <p:nvPr/>
          </p:nvGrpSpPr>
          <p:grpSpPr bwMode="auto">
            <a:xfrm>
              <a:off x="576" y="2880"/>
              <a:ext cx="1728" cy="336"/>
              <a:chOff x="576" y="3264"/>
              <a:chExt cx="1728" cy="336"/>
            </a:xfrm>
          </p:grpSpPr>
          <p:sp>
            <p:nvSpPr>
              <p:cNvPr id="72740" name="Rectangle 17"/>
              <p:cNvSpPr>
                <a:spLocks noChangeArrowheads="1"/>
              </p:cNvSpPr>
              <p:nvPr/>
            </p:nvSpPr>
            <p:spPr bwMode="auto">
              <a:xfrm>
                <a:off x="576" y="3264"/>
                <a:ext cx="1728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等线" panose="02010600030101010101" pitchFamily="2" charset="-122"/>
                </a:endParaRPr>
              </a:p>
            </p:txBody>
          </p:sp>
          <p:sp>
            <p:nvSpPr>
              <p:cNvPr id="72741" name="Text Box 18"/>
              <p:cNvSpPr txBox="1">
                <a:spLocks noChangeArrowheads="1"/>
              </p:cNvSpPr>
              <p:nvPr/>
            </p:nvSpPr>
            <p:spPr bwMode="auto">
              <a:xfrm>
                <a:off x="624" y="3281"/>
                <a:ext cx="164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0              </a:t>
                </a:r>
                <a:r>
                  <a:rPr lang="zh-CN" altLang="en-US" sz="90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>
                    <a:latin typeface="Times New Roman" panose="02020603050405020304" pitchFamily="18" charset="0"/>
                  </a:rPr>
                  <a:t>                </a:t>
                </a:r>
                <a:r>
                  <a:rPr lang="en-US" altLang="zh-CN" sz="2000" i="1">
                    <a:latin typeface="Times New Roman" panose="02020603050405020304" pitchFamily="18" charset="0"/>
                  </a:rPr>
                  <a:t>n</a:t>
                </a:r>
                <a:endParaRPr lang="en-US" altLang="zh-CN" sz="20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2715" name="Text Box 19"/>
            <p:cNvSpPr txBox="1">
              <a:spLocks noChangeArrowheads="1"/>
            </p:cNvSpPr>
            <p:nvPr/>
          </p:nvSpPr>
          <p:spPr bwMode="auto">
            <a:xfrm>
              <a:off x="3014" y="1178"/>
              <a:ext cx="17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0              </a:t>
              </a:r>
              <a:r>
                <a:rPr lang="en-US" altLang="zh-CN" sz="2400">
                  <a:latin typeface="Times New Roman" panose="02020603050405020304" pitchFamily="18" charset="0"/>
                </a:rPr>
                <a:t>Q</a:t>
              </a:r>
              <a:r>
                <a:rPr lang="en-US" altLang="zh-CN" sz="2000">
                  <a:latin typeface="Times New Roman" panose="02020603050405020304" pitchFamily="18" charset="0"/>
                </a:rPr>
                <a:t>                 </a:t>
              </a: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  <a:r>
                <a:rPr lang="en-US" altLang="zh-CN" sz="2000">
                  <a:latin typeface="Times New Roman" panose="02020603050405020304" pitchFamily="18" charset="0"/>
                </a:rPr>
                <a:t> 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2716" name="Rectangle 20"/>
            <p:cNvSpPr>
              <a:spLocks noChangeArrowheads="1"/>
            </p:cNvSpPr>
            <p:nvPr/>
          </p:nvSpPr>
          <p:spPr bwMode="auto">
            <a:xfrm>
              <a:off x="2976" y="1152"/>
              <a:ext cx="172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72717" name="Line 21"/>
            <p:cNvSpPr>
              <a:spLocks noChangeShapeType="1"/>
            </p:cNvSpPr>
            <p:nvPr/>
          </p:nvSpPr>
          <p:spPr bwMode="auto">
            <a:xfrm>
              <a:off x="4464" y="1152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18" name="Rectangle 22"/>
            <p:cNvSpPr>
              <a:spLocks noChangeArrowheads="1"/>
            </p:cNvSpPr>
            <p:nvPr/>
          </p:nvSpPr>
          <p:spPr bwMode="auto">
            <a:xfrm>
              <a:off x="2870" y="2880"/>
              <a:ext cx="749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计数器 </a:t>
              </a:r>
              <a:r>
                <a:rPr lang="en-US" altLang="zh-CN" sz="2000">
                  <a:latin typeface="Times New Roman" panose="02020603050405020304" pitchFamily="18" charset="0"/>
                </a:rPr>
                <a:t>C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72719" name="Rectangle 23"/>
            <p:cNvSpPr>
              <a:spLocks noChangeArrowheads="1"/>
            </p:cNvSpPr>
            <p:nvPr/>
          </p:nvSpPr>
          <p:spPr bwMode="auto">
            <a:xfrm>
              <a:off x="3792" y="2880"/>
              <a:ext cx="311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G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D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720" name="Freeform 24"/>
            <p:cNvSpPr/>
            <p:nvPr/>
          </p:nvSpPr>
          <p:spPr bwMode="auto">
            <a:xfrm>
              <a:off x="2304" y="2004"/>
              <a:ext cx="666" cy="2"/>
            </a:xfrm>
            <a:custGeom>
              <a:avLst/>
              <a:gdLst>
                <a:gd name="T0" fmla="*/ 666 w 666"/>
                <a:gd name="T1" fmla="*/ 0 h 2"/>
                <a:gd name="T2" fmla="*/ 0 w 666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66" h="2">
                  <a:moveTo>
                    <a:pt x="666" y="0"/>
                  </a:moveTo>
                  <a:lnTo>
                    <a:pt x="0" y="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1" name="Freeform 25"/>
            <p:cNvSpPr/>
            <p:nvPr/>
          </p:nvSpPr>
          <p:spPr bwMode="auto">
            <a:xfrm>
              <a:off x="2304" y="1830"/>
              <a:ext cx="666" cy="1"/>
            </a:xfrm>
            <a:custGeom>
              <a:avLst/>
              <a:gdLst>
                <a:gd name="T0" fmla="*/ 666 w 666"/>
                <a:gd name="T1" fmla="*/ 0 h 1"/>
                <a:gd name="T2" fmla="*/ 0 w 66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66" h="1">
                  <a:moveTo>
                    <a:pt x="666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22" name="AutoShape 26"/>
            <p:cNvSpPr>
              <a:spLocks noChangeArrowheads="1"/>
            </p:cNvSpPr>
            <p:nvPr/>
          </p:nvSpPr>
          <p:spPr bwMode="auto">
            <a:xfrm>
              <a:off x="1364" y="1488"/>
              <a:ext cx="96" cy="240"/>
            </a:xfrm>
            <a:prstGeom prst="upArrow">
              <a:avLst>
                <a:gd name="adj1" fmla="val 50000"/>
                <a:gd name="adj2" fmla="val 625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72723" name="AutoShape 27"/>
            <p:cNvSpPr>
              <a:spLocks noChangeArrowheads="1"/>
            </p:cNvSpPr>
            <p:nvPr/>
          </p:nvSpPr>
          <p:spPr bwMode="auto">
            <a:xfrm rot="10800000">
              <a:off x="864" y="1488"/>
              <a:ext cx="96" cy="240"/>
            </a:xfrm>
            <a:prstGeom prst="upArrow">
              <a:avLst>
                <a:gd name="adj1" fmla="val 50000"/>
                <a:gd name="adj2" fmla="val 625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72724" name="AutoShape 28"/>
            <p:cNvSpPr>
              <a:spLocks noChangeArrowheads="1"/>
            </p:cNvSpPr>
            <p:nvPr/>
          </p:nvSpPr>
          <p:spPr bwMode="auto">
            <a:xfrm>
              <a:off x="1364" y="2064"/>
              <a:ext cx="96" cy="240"/>
            </a:xfrm>
            <a:prstGeom prst="upArrow">
              <a:avLst>
                <a:gd name="adj1" fmla="val 50000"/>
                <a:gd name="adj2" fmla="val 625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72725" name="Text Box 29"/>
            <p:cNvSpPr txBox="1">
              <a:spLocks noChangeArrowheads="1"/>
            </p:cNvSpPr>
            <p:nvPr/>
          </p:nvSpPr>
          <p:spPr bwMode="auto">
            <a:xfrm>
              <a:off x="2507" y="1609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加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726" name="Text Box 30"/>
            <p:cNvSpPr txBox="1">
              <a:spLocks noChangeArrowheads="1"/>
            </p:cNvSpPr>
            <p:nvPr/>
          </p:nvSpPr>
          <p:spPr bwMode="auto">
            <a:xfrm>
              <a:off x="2507" y="1790"/>
              <a:ext cx="2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减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727" name="Rectangle 31"/>
            <p:cNvSpPr>
              <a:spLocks noChangeArrowheads="1"/>
            </p:cNvSpPr>
            <p:nvPr/>
          </p:nvSpPr>
          <p:spPr bwMode="auto">
            <a:xfrm>
              <a:off x="2976" y="1728"/>
              <a:ext cx="1728" cy="33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72728" name="Text Box 32"/>
            <p:cNvSpPr txBox="1">
              <a:spLocks noChangeArrowheads="1"/>
            </p:cNvSpPr>
            <p:nvPr/>
          </p:nvSpPr>
          <p:spPr bwMode="auto">
            <a:xfrm>
              <a:off x="3158" y="1766"/>
              <a:ext cx="14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移位和加控制逻辑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729" name="Freeform 33"/>
            <p:cNvSpPr/>
            <p:nvPr/>
          </p:nvSpPr>
          <p:spPr bwMode="auto">
            <a:xfrm>
              <a:off x="1632" y="1488"/>
              <a:ext cx="2160" cy="240"/>
            </a:xfrm>
            <a:custGeom>
              <a:avLst/>
              <a:gdLst>
                <a:gd name="T0" fmla="*/ 2160 w 2160"/>
                <a:gd name="T1" fmla="*/ 240 h 240"/>
                <a:gd name="T2" fmla="*/ 2160 w 2160"/>
                <a:gd name="T3" fmla="*/ 144 h 240"/>
                <a:gd name="T4" fmla="*/ 0 w 2160"/>
                <a:gd name="T5" fmla="*/ 144 h 240"/>
                <a:gd name="T6" fmla="*/ 336 w 2160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" h="240">
                  <a:moveTo>
                    <a:pt x="2160" y="240"/>
                  </a:moveTo>
                  <a:lnTo>
                    <a:pt x="2160" y="144"/>
                  </a:lnTo>
                  <a:lnTo>
                    <a:pt x="0" y="144"/>
                  </a:lnTo>
                  <a:lnTo>
                    <a:pt x="33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30" name="Line 34"/>
            <p:cNvSpPr>
              <a:spLocks noChangeShapeType="1"/>
            </p:cNvSpPr>
            <p:nvPr/>
          </p:nvSpPr>
          <p:spPr bwMode="auto">
            <a:xfrm flipV="1">
              <a:off x="3072" y="1488"/>
              <a:ext cx="336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31" name="Freeform 35"/>
            <p:cNvSpPr/>
            <p:nvPr/>
          </p:nvSpPr>
          <p:spPr bwMode="auto">
            <a:xfrm>
              <a:off x="2304" y="2064"/>
              <a:ext cx="1536" cy="432"/>
            </a:xfrm>
            <a:custGeom>
              <a:avLst/>
              <a:gdLst>
                <a:gd name="T0" fmla="*/ 1536 w 1536"/>
                <a:gd name="T1" fmla="*/ 0 h 336"/>
                <a:gd name="T2" fmla="*/ 1536 w 1536"/>
                <a:gd name="T3" fmla="*/ 108706 h 336"/>
                <a:gd name="T4" fmla="*/ 0 w 1536"/>
                <a:gd name="T5" fmla="*/ 108706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36" h="336">
                  <a:moveTo>
                    <a:pt x="1536" y="0"/>
                  </a:moveTo>
                  <a:lnTo>
                    <a:pt x="1536" y="336"/>
                  </a:lnTo>
                  <a:lnTo>
                    <a:pt x="0" y="33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32" name="Rectangle 36"/>
            <p:cNvSpPr>
              <a:spLocks noChangeArrowheads="1"/>
            </p:cNvSpPr>
            <p:nvPr/>
          </p:nvSpPr>
          <p:spPr bwMode="auto">
            <a:xfrm>
              <a:off x="4224" y="2880"/>
              <a:ext cx="327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S  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733" name="Rectangle 37"/>
            <p:cNvSpPr>
              <a:spLocks noChangeArrowheads="1"/>
            </p:cNvSpPr>
            <p:nvPr/>
          </p:nvSpPr>
          <p:spPr bwMode="auto">
            <a:xfrm>
              <a:off x="4659" y="2880"/>
              <a:ext cx="308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 V </a:t>
              </a:r>
              <a:endParaRPr lang="en-US" altLang="zh-CN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72734" name="Text Box 38"/>
            <p:cNvSpPr txBox="1">
              <a:spLocks noChangeArrowheads="1"/>
            </p:cNvSpPr>
            <p:nvPr/>
          </p:nvSpPr>
          <p:spPr bwMode="auto">
            <a:xfrm>
              <a:off x="3830" y="1486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左移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72735" name="Line 39"/>
            <p:cNvSpPr>
              <a:spLocks noChangeShapeType="1"/>
            </p:cNvSpPr>
            <p:nvPr/>
          </p:nvSpPr>
          <p:spPr bwMode="auto">
            <a:xfrm flipH="1">
              <a:off x="2304" y="1320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36" name="Line 40"/>
            <p:cNvSpPr>
              <a:spLocks noChangeShapeType="1"/>
            </p:cNvSpPr>
            <p:nvPr/>
          </p:nvSpPr>
          <p:spPr bwMode="auto">
            <a:xfrm flipV="1">
              <a:off x="4560" y="100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37" name="Line 41"/>
            <p:cNvSpPr>
              <a:spLocks noChangeShapeType="1"/>
            </p:cNvSpPr>
            <p:nvPr/>
          </p:nvSpPr>
          <p:spPr bwMode="auto">
            <a:xfrm>
              <a:off x="4560" y="100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38" name="Line 42"/>
            <p:cNvSpPr>
              <a:spLocks noChangeShapeType="1"/>
            </p:cNvSpPr>
            <p:nvPr/>
          </p:nvSpPr>
          <p:spPr bwMode="auto">
            <a:xfrm>
              <a:off x="4944" y="1008"/>
              <a:ext cx="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2739" name="Line 43"/>
            <p:cNvSpPr>
              <a:spLocks noChangeShapeType="1"/>
            </p:cNvSpPr>
            <p:nvPr/>
          </p:nvSpPr>
          <p:spPr bwMode="auto">
            <a:xfrm flipH="1">
              <a:off x="4704" y="192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5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9811" grpId="0" autoUpdateAnimBg="0"/>
      <p:bldP spid="759812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76238" y="-23813"/>
            <a:ext cx="7772400" cy="1143001"/>
          </a:xfrm>
        </p:spPr>
        <p:txBody>
          <a:bodyPr/>
          <a:lstStyle/>
          <a:p>
            <a:pPr eaLnBrk="1" hangingPunct="1"/>
            <a:r>
              <a:rPr lang="en-US" altLang="zh-CN" b="1"/>
              <a:t>IV  </a:t>
            </a:r>
            <a:r>
              <a:rPr lang="zh-CN" altLang="en-US" b="1"/>
              <a:t>浮点四则运算</a:t>
            </a:r>
            <a:endParaRPr lang="en-US" altLang="zh-CN" b="1"/>
          </a:p>
        </p:txBody>
      </p:sp>
      <p:sp>
        <p:nvSpPr>
          <p:cNvPr id="769027" name="Text Box 3"/>
          <p:cNvSpPr txBox="1">
            <a:spLocks noChangeArrowheads="1"/>
          </p:cNvSpPr>
          <p:nvPr/>
        </p:nvSpPr>
        <p:spPr bwMode="auto">
          <a:xfrm>
            <a:off x="1828800" y="1066800"/>
            <a:ext cx="3448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一、浮点加减运算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69028" name="Text Box 4"/>
          <p:cNvSpPr txBox="1">
            <a:spLocks noChangeArrowheads="1"/>
          </p:cNvSpPr>
          <p:nvPr/>
        </p:nvSpPr>
        <p:spPr bwMode="auto">
          <a:xfrm>
            <a:off x="3429000" y="1766888"/>
            <a:ext cx="1665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· 2</a:t>
            </a:r>
            <a:r>
              <a:rPr lang="en-US" altLang="zh-CN" sz="2400" i="1" baseline="60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zh-CN" sz="2400" i="1" baseline="30000">
              <a:latin typeface="Times New Roman" panose="02020603050405020304" pitchFamily="18" charset="0"/>
            </a:endParaRPr>
          </a:p>
        </p:txBody>
      </p:sp>
      <p:sp>
        <p:nvSpPr>
          <p:cNvPr id="769029" name="Text Box 5"/>
          <p:cNvSpPr txBox="1">
            <a:spLocks noChangeArrowheads="1"/>
          </p:cNvSpPr>
          <p:nvPr/>
        </p:nvSpPr>
        <p:spPr bwMode="auto">
          <a:xfrm>
            <a:off x="5791200" y="1766888"/>
            <a:ext cx="16383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· 2</a:t>
            </a:r>
            <a:r>
              <a:rPr lang="en-US" altLang="zh-CN" sz="2400" i="1" baseline="6000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altLang="zh-CN" sz="2400" i="1" baseline="30000">
              <a:latin typeface="Times New Roman" panose="02020603050405020304" pitchFamily="18" charset="0"/>
            </a:endParaRPr>
          </a:p>
        </p:txBody>
      </p:sp>
      <p:sp>
        <p:nvSpPr>
          <p:cNvPr id="769030" name="Text Box 6"/>
          <p:cNvSpPr txBox="1">
            <a:spLocks noChangeArrowheads="1"/>
          </p:cNvSpPr>
          <p:nvPr/>
        </p:nvSpPr>
        <p:spPr bwMode="auto">
          <a:xfrm>
            <a:off x="2286000" y="2362200"/>
            <a:ext cx="1254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1. 对阶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69031" name="Text Box 7"/>
          <p:cNvSpPr txBox="1">
            <a:spLocks noChangeArrowheads="1"/>
          </p:cNvSpPr>
          <p:nvPr/>
        </p:nvSpPr>
        <p:spPr bwMode="auto">
          <a:xfrm>
            <a:off x="2574925" y="2971800"/>
            <a:ext cx="2378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(1) 求阶差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69032" name="Text Box 8"/>
          <p:cNvSpPr txBox="1">
            <a:spLocks noChangeArrowheads="1"/>
          </p:cNvSpPr>
          <p:nvPr/>
        </p:nvSpPr>
        <p:spPr bwMode="auto">
          <a:xfrm>
            <a:off x="2574925" y="5548313"/>
            <a:ext cx="2759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(2) 对阶原则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69033" name="Text Box 9"/>
          <p:cNvSpPr txBox="1">
            <a:spLocks noChangeArrowheads="1"/>
          </p:cNvSpPr>
          <p:nvPr/>
        </p:nvSpPr>
        <p:spPr bwMode="auto">
          <a:xfrm>
            <a:off x="2667000" y="4059238"/>
            <a:ext cx="20875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Δ</a:t>
            </a:r>
            <a:r>
              <a:rPr lang="en-US" altLang="zh-CN" i="1">
                <a:latin typeface="Times New Roman" panose="02020603050405020304" pitchFamily="18" charset="0"/>
              </a:rPr>
              <a:t>j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 i="1">
                <a:latin typeface="Times New Roman" panose="02020603050405020304" pitchFamily="18" charset="0"/>
              </a:rPr>
              <a:t>j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– j</a:t>
            </a:r>
            <a:r>
              <a:rPr lang="en-US" altLang="zh-CN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769034" name="Text Box 10"/>
          <p:cNvSpPr txBox="1">
            <a:spLocks noChangeArrowheads="1"/>
          </p:cNvSpPr>
          <p:nvPr/>
        </p:nvSpPr>
        <p:spPr bwMode="auto">
          <a:xfrm>
            <a:off x="5867400" y="3276600"/>
            <a:ext cx="23653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>
                <a:latin typeface="Times New Roman" panose="02020603050405020304" pitchFamily="18" charset="0"/>
              </a:rPr>
              <a:t>已对齐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69035" name="Text Box 11"/>
          <p:cNvSpPr txBox="1">
            <a:spLocks noChangeArrowheads="1"/>
          </p:cNvSpPr>
          <p:nvPr/>
        </p:nvSpPr>
        <p:spPr bwMode="auto">
          <a:xfrm>
            <a:off x="5867400" y="4038600"/>
            <a:ext cx="1255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x</a:t>
            </a:r>
            <a:r>
              <a:rPr lang="zh-CN" altLang="en-US" sz="2000">
                <a:latin typeface="Times New Roman" panose="02020603050405020304" pitchFamily="18" charset="0"/>
              </a:rPr>
              <a:t>＞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9036" name="Text Box 12"/>
          <p:cNvSpPr txBox="1">
            <a:spLocks noChangeArrowheads="1"/>
          </p:cNvSpPr>
          <p:nvPr/>
        </p:nvSpPr>
        <p:spPr bwMode="auto">
          <a:xfrm>
            <a:off x="5867400" y="4876800"/>
            <a:ext cx="950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x</a:t>
            </a:r>
            <a:r>
              <a:rPr lang="zh-CN" altLang="en-US" sz="2000">
                <a:latin typeface="Times New Roman" panose="02020603050405020304" pitchFamily="18" charset="0"/>
              </a:rPr>
              <a:t>＜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9037" name="Text Box 13"/>
          <p:cNvSpPr txBox="1">
            <a:spLocks noChangeArrowheads="1"/>
          </p:cNvSpPr>
          <p:nvPr/>
        </p:nvSpPr>
        <p:spPr bwMode="auto">
          <a:xfrm>
            <a:off x="7010400" y="3821113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向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看齐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769038" name="Text Box 14"/>
          <p:cNvSpPr txBox="1">
            <a:spLocks noChangeArrowheads="1"/>
          </p:cNvSpPr>
          <p:nvPr/>
        </p:nvSpPr>
        <p:spPr bwMode="auto">
          <a:xfrm>
            <a:off x="7010400" y="4240213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向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看齐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769039" name="Text Box 15"/>
          <p:cNvSpPr txBox="1">
            <a:spLocks noChangeArrowheads="1"/>
          </p:cNvSpPr>
          <p:nvPr/>
        </p:nvSpPr>
        <p:spPr bwMode="auto">
          <a:xfrm>
            <a:off x="7010400" y="4659313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向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看齐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769040" name="Text Box 16"/>
          <p:cNvSpPr txBox="1">
            <a:spLocks noChangeArrowheads="1"/>
          </p:cNvSpPr>
          <p:nvPr/>
        </p:nvSpPr>
        <p:spPr bwMode="auto">
          <a:xfrm>
            <a:off x="7010400" y="50784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向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</a:rPr>
              <a:t>看齐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769041" name="Text Box 17"/>
          <p:cNvSpPr txBox="1">
            <a:spLocks noChangeArrowheads="1"/>
          </p:cNvSpPr>
          <p:nvPr/>
        </p:nvSpPr>
        <p:spPr bwMode="auto">
          <a:xfrm>
            <a:off x="2895600" y="6096000"/>
            <a:ext cx="232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小阶向大阶看齐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9042" name="AutoShape 18"/>
          <p:cNvSpPr/>
          <p:nvPr/>
        </p:nvSpPr>
        <p:spPr bwMode="auto">
          <a:xfrm>
            <a:off x="6864350" y="4038600"/>
            <a:ext cx="146050" cy="533400"/>
          </a:xfrm>
          <a:prstGeom prst="leftBrace">
            <a:avLst>
              <a:gd name="adj1" fmla="val 30435"/>
              <a:gd name="adj2" fmla="val 50000"/>
            </a:avLst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769043" name="AutoShape 19"/>
          <p:cNvSpPr/>
          <p:nvPr/>
        </p:nvSpPr>
        <p:spPr bwMode="auto">
          <a:xfrm>
            <a:off x="6864350" y="4876800"/>
            <a:ext cx="146050" cy="533400"/>
          </a:xfrm>
          <a:prstGeom prst="leftBrace">
            <a:avLst>
              <a:gd name="adj1" fmla="val 30435"/>
              <a:gd name="adj2" fmla="val 50000"/>
            </a:avLst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grpSp>
        <p:nvGrpSpPr>
          <p:cNvPr id="769044" name="Group 20"/>
          <p:cNvGrpSpPr/>
          <p:nvPr/>
        </p:nvGrpSpPr>
        <p:grpSpPr bwMode="auto">
          <a:xfrm>
            <a:off x="8763000" y="3821113"/>
            <a:ext cx="1066800" cy="457200"/>
            <a:chOff x="4560" y="2407"/>
            <a:chExt cx="672" cy="288"/>
          </a:xfrm>
        </p:grpSpPr>
        <p:sp>
          <p:nvSpPr>
            <p:cNvPr id="73770" name="Text Box 21"/>
            <p:cNvSpPr txBox="1">
              <a:spLocks noChangeArrowheads="1"/>
            </p:cNvSpPr>
            <p:nvPr/>
          </p:nvSpPr>
          <p:spPr bwMode="auto">
            <a:xfrm>
              <a:off x="4560" y="2407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latin typeface="Times New Roman" panose="02020603050405020304" pitchFamily="18" charset="0"/>
                </a:rPr>
                <a:t>   1, 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73771" name="Line 22"/>
            <p:cNvSpPr>
              <a:spLocks noChangeShapeType="1"/>
            </p:cNvSpPr>
            <p:nvPr/>
          </p:nvSpPr>
          <p:spPr bwMode="auto">
            <a:xfrm flipH="1">
              <a:off x="4800" y="2551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69047" name="Group 23"/>
          <p:cNvGrpSpPr/>
          <p:nvPr/>
        </p:nvGrpSpPr>
        <p:grpSpPr bwMode="auto">
          <a:xfrm>
            <a:off x="8763000" y="4240213"/>
            <a:ext cx="1752600" cy="457200"/>
            <a:chOff x="4560" y="2671"/>
            <a:chExt cx="1104" cy="288"/>
          </a:xfrm>
        </p:grpSpPr>
        <p:sp>
          <p:nvSpPr>
            <p:cNvPr id="73768" name="Line 24"/>
            <p:cNvSpPr>
              <a:spLocks noChangeShapeType="1"/>
            </p:cNvSpPr>
            <p:nvPr/>
          </p:nvSpPr>
          <p:spPr bwMode="auto">
            <a:xfrm rot="10800000" flipH="1">
              <a:off x="4800" y="2815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69" name="Text Box 25"/>
            <p:cNvSpPr txBox="1">
              <a:spLocks noChangeArrowheads="1"/>
            </p:cNvSpPr>
            <p:nvPr/>
          </p:nvSpPr>
          <p:spPr bwMode="auto">
            <a:xfrm>
              <a:off x="4560" y="2671"/>
              <a:ext cx="11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y</a:t>
              </a:r>
              <a:r>
                <a:rPr lang="en-US" altLang="zh-CN" sz="2400">
                  <a:latin typeface="Times New Roman" panose="02020603050405020304" pitchFamily="18" charset="0"/>
                </a:rPr>
                <a:t>   1,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69050" name="Group 26"/>
          <p:cNvGrpSpPr/>
          <p:nvPr/>
        </p:nvGrpSpPr>
        <p:grpSpPr bwMode="auto">
          <a:xfrm>
            <a:off x="8763000" y="4648200"/>
            <a:ext cx="1676400" cy="457200"/>
            <a:chOff x="4560" y="2928"/>
            <a:chExt cx="1056" cy="288"/>
          </a:xfrm>
        </p:grpSpPr>
        <p:sp>
          <p:nvSpPr>
            <p:cNvPr id="73766" name="Line 27"/>
            <p:cNvSpPr>
              <a:spLocks noChangeShapeType="1"/>
            </p:cNvSpPr>
            <p:nvPr/>
          </p:nvSpPr>
          <p:spPr bwMode="auto">
            <a:xfrm rot="10800000" flipH="1">
              <a:off x="4800" y="3085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67" name="Text Box 28"/>
            <p:cNvSpPr txBox="1">
              <a:spLocks noChangeArrowheads="1"/>
            </p:cNvSpPr>
            <p:nvPr/>
          </p:nvSpPr>
          <p:spPr bwMode="auto">
            <a:xfrm>
              <a:off x="4560" y="2928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latin typeface="Times New Roman" panose="02020603050405020304" pitchFamily="18" charset="0"/>
                </a:rPr>
                <a:t>   1,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69053" name="Group 29"/>
          <p:cNvGrpSpPr/>
          <p:nvPr/>
        </p:nvGrpSpPr>
        <p:grpSpPr bwMode="auto">
          <a:xfrm>
            <a:off x="8763000" y="5078413"/>
            <a:ext cx="1752600" cy="457200"/>
            <a:chOff x="4656" y="3282"/>
            <a:chExt cx="1104" cy="288"/>
          </a:xfrm>
        </p:grpSpPr>
        <p:sp>
          <p:nvSpPr>
            <p:cNvPr id="73764" name="Line 30"/>
            <p:cNvSpPr>
              <a:spLocks noChangeShapeType="1"/>
            </p:cNvSpPr>
            <p:nvPr/>
          </p:nvSpPr>
          <p:spPr bwMode="auto">
            <a:xfrm flipH="1">
              <a:off x="4896" y="3423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3765" name="Text Box 31"/>
            <p:cNvSpPr txBox="1">
              <a:spLocks noChangeArrowheads="1"/>
            </p:cNvSpPr>
            <p:nvPr/>
          </p:nvSpPr>
          <p:spPr bwMode="auto">
            <a:xfrm>
              <a:off x="4656" y="3282"/>
              <a:ext cx="11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y</a:t>
              </a:r>
              <a:r>
                <a:rPr lang="en-US" altLang="zh-CN" sz="2400">
                  <a:latin typeface="Times New Roman" panose="02020603050405020304" pitchFamily="18" charset="0"/>
                </a:rPr>
                <a:t>   1,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69056" name="Group 32"/>
          <p:cNvGrpSpPr/>
          <p:nvPr/>
        </p:nvGrpSpPr>
        <p:grpSpPr bwMode="auto">
          <a:xfrm>
            <a:off x="4876800" y="3303588"/>
            <a:ext cx="1066800" cy="2030412"/>
            <a:chOff x="2112" y="2081"/>
            <a:chExt cx="672" cy="1279"/>
          </a:xfrm>
        </p:grpSpPr>
        <p:sp>
          <p:nvSpPr>
            <p:cNvPr id="73759" name="AutoShape 33"/>
            <p:cNvSpPr/>
            <p:nvPr/>
          </p:nvSpPr>
          <p:spPr bwMode="auto">
            <a:xfrm>
              <a:off x="2112" y="2208"/>
              <a:ext cx="144" cy="1056"/>
            </a:xfrm>
            <a:prstGeom prst="leftBrace">
              <a:avLst>
                <a:gd name="adj1" fmla="val 61111"/>
                <a:gd name="adj2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grpSp>
          <p:nvGrpSpPr>
            <p:cNvPr id="73760" name="Group 34"/>
            <p:cNvGrpSpPr/>
            <p:nvPr/>
          </p:nvGrpSpPr>
          <p:grpSpPr bwMode="auto">
            <a:xfrm>
              <a:off x="2256" y="2081"/>
              <a:ext cx="528" cy="1279"/>
              <a:chOff x="2256" y="2081"/>
              <a:chExt cx="528" cy="1279"/>
            </a:xfrm>
          </p:grpSpPr>
          <p:sp>
            <p:nvSpPr>
              <p:cNvPr id="73761" name="Text Box 35"/>
              <p:cNvSpPr txBox="1">
                <a:spLocks noChangeArrowheads="1"/>
              </p:cNvSpPr>
              <p:nvPr/>
            </p:nvSpPr>
            <p:spPr bwMode="auto">
              <a:xfrm>
                <a:off x="2304" y="2081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= 0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762" name="Text Box 36"/>
              <p:cNvSpPr txBox="1">
                <a:spLocks noChangeArrowheads="1"/>
              </p:cNvSpPr>
              <p:nvPr/>
            </p:nvSpPr>
            <p:spPr bwMode="auto">
              <a:xfrm>
                <a:off x="2256" y="2544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＞ 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0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763" name="Text Box 37"/>
              <p:cNvSpPr txBox="1">
                <a:spLocks noChangeArrowheads="1"/>
              </p:cNvSpPr>
              <p:nvPr/>
            </p:nvSpPr>
            <p:spPr bwMode="auto">
              <a:xfrm>
                <a:off x="2256" y="30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 sz="2000">
                    <a:latin typeface="Times New Roman" panose="02020603050405020304" pitchFamily="18" charset="0"/>
                  </a:rPr>
                  <a:t>＜ </a:t>
                </a:r>
                <a:r>
                  <a:rPr lang="zh-CN" altLang="en-US" sz="2400">
                    <a:latin typeface="Times New Roman" panose="02020603050405020304" pitchFamily="18" charset="0"/>
                  </a:rPr>
                  <a:t>0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69062" name="Text Box 38"/>
          <p:cNvSpPr txBox="1">
            <a:spLocks noChangeArrowheads="1"/>
          </p:cNvSpPr>
          <p:nvPr/>
        </p:nvSpPr>
        <p:spPr bwMode="auto">
          <a:xfrm>
            <a:off x="8458200" y="4267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2400">
                <a:latin typeface="Times New Roman" panose="02020603050405020304" pitchFamily="18" charset="0"/>
              </a:rPr>
              <a:t>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69063" name="Text Box 39"/>
          <p:cNvSpPr txBox="1">
            <a:spLocks noChangeArrowheads="1"/>
          </p:cNvSpPr>
          <p:nvPr/>
        </p:nvSpPr>
        <p:spPr bwMode="auto">
          <a:xfrm>
            <a:off x="8458200" y="4724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zh-CN" altLang="en-US" sz="2400">
                <a:latin typeface="Times New Roman" panose="02020603050405020304" pitchFamily="18" charset="0"/>
              </a:rPr>
              <a:t>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69064" name="Text Box 40"/>
          <p:cNvSpPr txBox="1">
            <a:spLocks noChangeArrowheads="1"/>
          </p:cNvSpPr>
          <p:nvPr/>
        </p:nvSpPr>
        <p:spPr bwMode="auto">
          <a:xfrm>
            <a:off x="9601200" y="38100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69065" name="Text Box 41"/>
          <p:cNvSpPr txBox="1">
            <a:spLocks noChangeArrowheads="1"/>
          </p:cNvSpPr>
          <p:nvPr/>
        </p:nvSpPr>
        <p:spPr bwMode="auto">
          <a:xfrm>
            <a:off x="9601200" y="4240213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+1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69066" name="Text Box 42"/>
          <p:cNvSpPr txBox="1">
            <a:spLocks noChangeArrowheads="1"/>
          </p:cNvSpPr>
          <p:nvPr/>
        </p:nvSpPr>
        <p:spPr bwMode="auto">
          <a:xfrm>
            <a:off x="9601200" y="46482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+1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69067" name="Text Box 43"/>
          <p:cNvSpPr txBox="1">
            <a:spLocks noChangeArrowheads="1"/>
          </p:cNvSpPr>
          <p:nvPr/>
        </p:nvSpPr>
        <p:spPr bwMode="auto">
          <a:xfrm>
            <a:off x="9601200" y="5078413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6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6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6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69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6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6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76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6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69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6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6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69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6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6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6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7" dur="500"/>
                                        <p:tgtEl>
                                          <p:spTgt spid="76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69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69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769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769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769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769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76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76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769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9027" grpId="0" autoUpdateAnimBg="0"/>
      <p:bldP spid="769028" grpId="0" autoUpdateAnimBg="0"/>
      <p:bldP spid="769029" grpId="0" autoUpdateAnimBg="0"/>
      <p:bldP spid="769030" grpId="0" autoUpdateAnimBg="0"/>
      <p:bldP spid="769031" grpId="0" autoUpdateAnimBg="0"/>
      <p:bldP spid="769032" grpId="0" autoUpdateAnimBg="0"/>
      <p:bldP spid="769033" grpId="0" autoUpdateAnimBg="0"/>
      <p:bldP spid="769034" grpId="0" autoUpdateAnimBg="0"/>
      <p:bldP spid="769035" grpId="0" autoUpdateAnimBg="0"/>
      <p:bldP spid="769036" grpId="0" autoUpdateAnimBg="0"/>
      <p:bldP spid="769037" grpId="0" autoUpdateAnimBg="0"/>
      <p:bldP spid="769038" grpId="0" autoUpdateAnimBg="0"/>
      <p:bldP spid="769039" grpId="0" autoUpdateAnimBg="0"/>
      <p:bldP spid="769040" grpId="0" autoUpdateAnimBg="0"/>
      <p:bldP spid="769041" grpId="0" autoUpdateAnimBg="0"/>
      <p:bldP spid="769062" grpId="0" autoUpdateAnimBg="0"/>
      <p:bldP spid="769063" grpId="0" autoUpdateAnimBg="0"/>
      <p:bldP spid="769064" grpId="0" autoUpdateAnimBg="0"/>
      <p:bldP spid="769065" grpId="0" autoUpdateAnimBg="0"/>
      <p:bldP spid="769066" grpId="0" autoUpdateAnimBg="0"/>
      <p:bldP spid="769067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1600200" y="168275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例如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grpSp>
        <p:nvGrpSpPr>
          <p:cNvPr id="770051" name="Group 3"/>
          <p:cNvGrpSpPr/>
          <p:nvPr/>
        </p:nvGrpSpPr>
        <p:grpSpPr bwMode="auto">
          <a:xfrm>
            <a:off x="2012950" y="195263"/>
            <a:ext cx="6994525" cy="1138237"/>
            <a:chOff x="308" y="176"/>
            <a:chExt cx="4406" cy="717"/>
          </a:xfrm>
        </p:grpSpPr>
        <p:sp>
          <p:nvSpPr>
            <p:cNvPr id="74784" name="Text Box 4"/>
            <p:cNvSpPr txBox="1">
              <a:spLocks noChangeArrowheads="1"/>
            </p:cNvSpPr>
            <p:nvPr/>
          </p:nvSpPr>
          <p:spPr bwMode="auto">
            <a:xfrm>
              <a:off x="696" y="176"/>
              <a:ext cx="401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200" i="1">
                  <a:latin typeface="Times New Roman" panose="02020603050405020304" pitchFamily="18" charset="0"/>
                </a:rPr>
                <a:t>x</a:t>
              </a:r>
              <a:r>
                <a:rPr lang="en-US" altLang="zh-CN" sz="3200">
                  <a:latin typeface="Times New Roman" panose="02020603050405020304" pitchFamily="18" charset="0"/>
                </a:rPr>
                <a:t> = 0.1101</a:t>
              </a:r>
              <a:r>
                <a:rPr lang="en-US" altLang="zh-CN" sz="1000">
                  <a:latin typeface="Times New Roman" panose="02020603050405020304" pitchFamily="18" charset="0"/>
                </a:rPr>
                <a:t> </a:t>
              </a:r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r>
                <a:rPr lang="en-US" altLang="zh-CN" sz="1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3200">
                  <a:latin typeface="Times New Roman" panose="02020603050405020304" pitchFamily="18" charset="0"/>
                </a:rPr>
                <a:t>2</a:t>
              </a:r>
              <a:r>
                <a:rPr lang="en-US" altLang="zh-CN" sz="3200" baseline="45000">
                  <a:latin typeface="Times New Roman" panose="02020603050405020304" pitchFamily="18" charset="0"/>
                </a:rPr>
                <a:t>01</a:t>
              </a:r>
              <a:r>
                <a:rPr lang="en-US" altLang="zh-CN" sz="3200">
                  <a:latin typeface="Times New Roman" panose="02020603050405020304" pitchFamily="18" charset="0"/>
                </a:rPr>
                <a:t>      </a:t>
              </a:r>
              <a:r>
                <a:rPr lang="en-US" altLang="zh-CN" sz="3200" i="1">
                  <a:latin typeface="Times New Roman" panose="02020603050405020304" pitchFamily="18" charset="0"/>
                </a:rPr>
                <a:t>y</a:t>
              </a:r>
              <a:r>
                <a:rPr lang="en-US" altLang="zh-CN" sz="3200">
                  <a:latin typeface="Times New Roman" panose="02020603050405020304" pitchFamily="18" charset="0"/>
                </a:rPr>
                <a:t> = (–0.1010)</a:t>
              </a:r>
              <a:r>
                <a:rPr lang="en-US" altLang="zh-CN" sz="1000">
                  <a:latin typeface="Times New Roman" panose="02020603050405020304" pitchFamily="18" charset="0"/>
                </a:rPr>
                <a:t> </a:t>
              </a:r>
              <a:r>
                <a:rPr lang="en-US" altLang="zh-CN" sz="3200">
                  <a:latin typeface="Times New Roman" panose="02020603050405020304" pitchFamily="18" charset="0"/>
                </a:rPr>
                <a:t>×</a:t>
              </a:r>
              <a:r>
                <a:rPr lang="en-US" altLang="zh-CN" sz="1000">
                  <a:latin typeface="Times New Roman" panose="02020603050405020304" pitchFamily="18" charset="0"/>
                </a:rPr>
                <a:t> </a:t>
              </a:r>
              <a:r>
                <a:rPr lang="en-US" altLang="zh-CN" sz="3200">
                  <a:latin typeface="Times New Roman" panose="02020603050405020304" pitchFamily="18" charset="0"/>
                </a:rPr>
                <a:t>2</a:t>
              </a:r>
              <a:r>
                <a:rPr lang="en-US" altLang="zh-CN" sz="3200" baseline="45000">
                  <a:latin typeface="Times New Roman" panose="02020603050405020304" pitchFamily="18" charset="0"/>
                </a:rPr>
                <a:t>11</a:t>
              </a:r>
              <a:endParaRPr lang="en-US" altLang="zh-CN" sz="3200" baseline="45000">
                <a:latin typeface="Times New Roman" panose="02020603050405020304" pitchFamily="18" charset="0"/>
              </a:endParaRPr>
            </a:p>
          </p:txBody>
        </p:sp>
        <p:sp>
          <p:nvSpPr>
            <p:cNvPr id="74785" name="Text Box 5"/>
            <p:cNvSpPr txBox="1">
              <a:spLocks noChangeArrowheads="1"/>
            </p:cNvSpPr>
            <p:nvPr/>
          </p:nvSpPr>
          <p:spPr bwMode="auto">
            <a:xfrm>
              <a:off x="308" y="528"/>
              <a:ext cx="124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求  </a:t>
              </a:r>
              <a:r>
                <a:rPr lang="en-US" altLang="zh-CN" sz="3200" i="1">
                  <a:latin typeface="Times New Roman" panose="02020603050405020304" pitchFamily="18" charset="0"/>
                </a:rPr>
                <a:t>x</a:t>
              </a:r>
              <a:r>
                <a:rPr lang="en-US" altLang="zh-CN" sz="1000" i="1">
                  <a:latin typeface="Times New Roman" panose="02020603050405020304" pitchFamily="18" charset="0"/>
                </a:rPr>
                <a:t>  </a:t>
              </a:r>
              <a:r>
                <a:rPr lang="en-US" altLang="zh-CN" sz="3200">
                  <a:latin typeface="Times New Roman" panose="02020603050405020304" pitchFamily="18" charset="0"/>
                </a:rPr>
                <a:t>+</a:t>
              </a:r>
              <a:r>
                <a:rPr lang="en-US" altLang="zh-CN" sz="1000">
                  <a:latin typeface="Times New Roman" panose="02020603050405020304" pitchFamily="18" charset="0"/>
                </a:rPr>
                <a:t> </a:t>
              </a:r>
              <a:r>
                <a:rPr lang="en-US" altLang="zh-CN" sz="3200" i="1">
                  <a:latin typeface="Times New Roman" panose="02020603050405020304" pitchFamily="18" charset="0"/>
                </a:rPr>
                <a:t>y</a:t>
              </a:r>
              <a:endParaRPr lang="en-US" altLang="zh-CN" sz="32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770054" name="Text Box 6"/>
          <p:cNvSpPr txBox="1">
            <a:spLocks noChangeArrowheads="1"/>
          </p:cNvSpPr>
          <p:nvPr/>
        </p:nvSpPr>
        <p:spPr bwMode="auto">
          <a:xfrm>
            <a:off x="2133600" y="1287463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0055" name="Text Box 7"/>
          <p:cNvSpPr txBox="1">
            <a:spLocks noChangeArrowheads="1"/>
          </p:cNvSpPr>
          <p:nvPr/>
        </p:nvSpPr>
        <p:spPr bwMode="auto">
          <a:xfrm>
            <a:off x="2895600" y="1309688"/>
            <a:ext cx="72913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= 00, 01; 00.1101      [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= 00, 11; 11.0110 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0056" name="Text Box 8"/>
          <p:cNvSpPr txBox="1">
            <a:spLocks noChangeArrowheads="1"/>
          </p:cNvSpPr>
          <p:nvPr/>
        </p:nvSpPr>
        <p:spPr bwMode="auto">
          <a:xfrm>
            <a:off x="2133600" y="1897063"/>
            <a:ext cx="2225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1. 对阶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0057" name="Text Box 9"/>
          <p:cNvSpPr txBox="1">
            <a:spLocks noChangeArrowheads="1"/>
          </p:cNvSpPr>
          <p:nvPr/>
        </p:nvSpPr>
        <p:spPr bwMode="auto">
          <a:xfrm>
            <a:off x="4208463" y="2538413"/>
            <a:ext cx="2738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000">
                <a:latin typeface="Times New Roman" panose="02020603050405020304" pitchFamily="18" charset="0"/>
              </a:rPr>
              <a:t>Δ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= [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 [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endParaRPr lang="zh-CN" altLang="en-US" sz="2400" baseline="-25000">
              <a:latin typeface="Times New Roman" panose="02020603050405020304" pitchFamily="18" charset="0"/>
            </a:endParaRPr>
          </a:p>
        </p:txBody>
      </p:sp>
      <p:sp>
        <p:nvSpPr>
          <p:cNvPr id="770058" name="Text Box 10"/>
          <p:cNvSpPr txBox="1">
            <a:spLocks noChangeArrowheads="1"/>
          </p:cNvSpPr>
          <p:nvPr/>
        </p:nvSpPr>
        <p:spPr bwMode="auto">
          <a:xfrm>
            <a:off x="7151688" y="2538413"/>
            <a:ext cx="1195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= 00, 01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0059" name="Text Box 11"/>
          <p:cNvSpPr txBox="1">
            <a:spLocks noChangeArrowheads="1"/>
          </p:cNvSpPr>
          <p:nvPr/>
        </p:nvSpPr>
        <p:spPr bwMode="auto">
          <a:xfrm>
            <a:off x="7391400" y="2928938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11, 01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0060" name="Text Box 12"/>
          <p:cNvSpPr txBox="1">
            <a:spLocks noChangeArrowheads="1"/>
          </p:cNvSpPr>
          <p:nvPr/>
        </p:nvSpPr>
        <p:spPr bwMode="auto">
          <a:xfrm>
            <a:off x="7391400" y="3300413"/>
            <a:ext cx="94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11, 10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0061" name="Text Box 13"/>
          <p:cNvSpPr txBox="1">
            <a:spLocks noChangeArrowheads="1"/>
          </p:cNvSpPr>
          <p:nvPr/>
        </p:nvSpPr>
        <p:spPr bwMode="auto">
          <a:xfrm>
            <a:off x="2895600" y="3671888"/>
            <a:ext cx="327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阶差为负（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70062" name="Group 14"/>
          <p:cNvGrpSpPr/>
          <p:nvPr/>
        </p:nvGrpSpPr>
        <p:grpSpPr bwMode="auto">
          <a:xfrm>
            <a:off x="4024313" y="5199063"/>
            <a:ext cx="2470150" cy="519112"/>
            <a:chOff x="1424" y="3170"/>
            <a:chExt cx="1556" cy="327"/>
          </a:xfrm>
        </p:grpSpPr>
        <p:sp>
          <p:nvSpPr>
            <p:cNvPr id="74782" name="Text Box 15"/>
            <p:cNvSpPr txBox="1">
              <a:spLocks noChangeArrowheads="1"/>
            </p:cNvSpPr>
            <p:nvPr/>
          </p:nvSpPr>
          <p:spPr bwMode="auto">
            <a:xfrm>
              <a:off x="1424" y="3202"/>
              <a:ext cx="6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[</a:t>
              </a: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latin typeface="Times New Roman" panose="02020603050405020304" pitchFamily="18" charset="0"/>
                </a:rPr>
                <a:t>]</a:t>
              </a:r>
              <a:r>
                <a:rPr lang="zh-CN" altLang="en-US" sz="2400" baseline="-25000">
                  <a:latin typeface="Times New Roman" panose="02020603050405020304" pitchFamily="18" charset="0"/>
                </a:rPr>
                <a:t>补</a:t>
              </a:r>
              <a:r>
                <a:rPr lang="zh-CN" altLang="en-US" sz="2400" baseline="-1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'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4783" name="Text Box 16"/>
            <p:cNvSpPr txBox="1">
              <a:spLocks noChangeArrowheads="1"/>
            </p:cNvSpPr>
            <p:nvPr/>
          </p:nvSpPr>
          <p:spPr bwMode="auto">
            <a:xfrm>
              <a:off x="2064" y="3170"/>
              <a:ext cx="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</a:t>
              </a:r>
              <a:r>
                <a:rPr lang="zh-CN" altLang="en-US" sz="2400">
                  <a:latin typeface="Times New Roman" panose="02020603050405020304" pitchFamily="18" charset="0"/>
                </a:rPr>
                <a:t> </a:t>
              </a:r>
              <a:r>
                <a:rPr lang="zh-CN" altLang="en-US" sz="24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00.0011</a:t>
              </a:r>
              <a:endPara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0065" name="Group 17"/>
          <p:cNvGrpSpPr/>
          <p:nvPr/>
        </p:nvGrpSpPr>
        <p:grpSpPr bwMode="auto">
          <a:xfrm>
            <a:off x="3932238" y="5580063"/>
            <a:ext cx="2562225" cy="519112"/>
            <a:chOff x="1366" y="3410"/>
            <a:chExt cx="1614" cy="327"/>
          </a:xfrm>
        </p:grpSpPr>
        <p:sp>
          <p:nvSpPr>
            <p:cNvPr id="74780" name="Text Box 18"/>
            <p:cNvSpPr txBox="1">
              <a:spLocks noChangeArrowheads="1"/>
            </p:cNvSpPr>
            <p:nvPr/>
          </p:nvSpPr>
          <p:spPr bwMode="auto">
            <a:xfrm>
              <a:off x="1366" y="3416"/>
              <a:ext cx="9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 [</a:t>
              </a: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y</a:t>
              </a:r>
              <a:r>
                <a:rPr lang="en-US" altLang="zh-CN" sz="2400">
                  <a:latin typeface="Times New Roman" panose="02020603050405020304" pitchFamily="18" charset="0"/>
                </a:rPr>
                <a:t>]</a:t>
              </a:r>
              <a:r>
                <a:rPr lang="zh-CN" altLang="en-US" sz="2400" baseline="-25000">
                  <a:latin typeface="Times New Roman" panose="02020603050405020304" pitchFamily="18" charset="0"/>
                </a:rPr>
                <a:t>补</a:t>
              </a:r>
              <a:endParaRPr lang="zh-CN" altLang="en-US" sz="2400" baseline="-1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781" name="Text Box 19"/>
            <p:cNvSpPr txBox="1">
              <a:spLocks noChangeArrowheads="1"/>
            </p:cNvSpPr>
            <p:nvPr/>
          </p:nvSpPr>
          <p:spPr bwMode="auto">
            <a:xfrm>
              <a:off x="2064" y="3410"/>
              <a:ext cx="9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</a:t>
              </a:r>
              <a:r>
                <a:rPr lang="zh-CN" altLang="en-US" sz="2400">
                  <a:latin typeface="Times New Roman" panose="02020603050405020304" pitchFamily="18" charset="0"/>
                </a:rPr>
                <a:t> 11.0110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770068" name="Text Box 20"/>
          <p:cNvSpPr txBox="1">
            <a:spLocks noChangeArrowheads="1"/>
          </p:cNvSpPr>
          <p:nvPr/>
        </p:nvSpPr>
        <p:spPr bwMode="auto">
          <a:xfrm>
            <a:off x="5326063" y="5957888"/>
            <a:ext cx="1174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11.1001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0069" name="Line 21"/>
          <p:cNvSpPr>
            <a:spLocks noChangeShapeType="1"/>
          </p:cNvSpPr>
          <p:nvPr/>
        </p:nvSpPr>
        <p:spPr bwMode="auto">
          <a:xfrm>
            <a:off x="3532188" y="6034088"/>
            <a:ext cx="34290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0070" name="Line 22"/>
          <p:cNvSpPr>
            <a:spLocks noChangeShapeType="1"/>
          </p:cNvSpPr>
          <p:nvPr/>
        </p:nvSpPr>
        <p:spPr bwMode="auto">
          <a:xfrm>
            <a:off x="6934200" y="3376613"/>
            <a:ext cx="15240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770071" name="Group 23"/>
          <p:cNvGrpSpPr/>
          <p:nvPr/>
        </p:nvGrpSpPr>
        <p:grpSpPr bwMode="auto">
          <a:xfrm>
            <a:off x="5921375" y="3681413"/>
            <a:ext cx="2917825" cy="457200"/>
            <a:chOff x="2770" y="2319"/>
            <a:chExt cx="1838" cy="288"/>
          </a:xfrm>
        </p:grpSpPr>
        <p:sp>
          <p:nvSpPr>
            <p:cNvPr id="74778" name="Text Box 24"/>
            <p:cNvSpPr txBox="1">
              <a:spLocks noChangeArrowheads="1"/>
            </p:cNvSpPr>
            <p:nvPr/>
          </p:nvSpPr>
          <p:spPr bwMode="auto">
            <a:xfrm>
              <a:off x="2770" y="2319"/>
              <a:ext cx="18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∴ </a:t>
              </a: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latin typeface="Times New Roman" panose="02020603050405020304" pitchFamily="18" charset="0"/>
                </a:rPr>
                <a:t>      2     </a:t>
              </a:r>
              <a:r>
                <a:rPr lang="en-US" altLang="zh-CN" sz="2400" i="1">
                  <a:latin typeface="Times New Roman" panose="02020603050405020304" pitchFamily="18" charset="0"/>
                </a:rPr>
                <a:t>j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latin typeface="Times New Roman" panose="02020603050405020304" pitchFamily="18" charset="0"/>
                </a:rPr>
                <a:t>+ 2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4779" name="Line 25"/>
            <p:cNvSpPr>
              <a:spLocks noChangeShapeType="1"/>
            </p:cNvSpPr>
            <p:nvPr/>
          </p:nvSpPr>
          <p:spPr bwMode="auto">
            <a:xfrm>
              <a:off x="3250" y="2463"/>
              <a:ext cx="24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70074" name="Text Box 26"/>
          <p:cNvSpPr txBox="1">
            <a:spLocks noChangeArrowheads="1"/>
          </p:cNvSpPr>
          <p:nvPr/>
        </p:nvSpPr>
        <p:spPr bwMode="auto">
          <a:xfrm>
            <a:off x="3495675" y="6262688"/>
            <a:ext cx="6334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∴ 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= 00, 11; 11. 1001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0075" name="Text Box 27"/>
          <p:cNvSpPr txBox="1">
            <a:spLocks noChangeArrowheads="1"/>
          </p:cNvSpPr>
          <p:nvPr/>
        </p:nvSpPr>
        <p:spPr bwMode="auto">
          <a:xfrm>
            <a:off x="2422525" y="4129088"/>
            <a:ext cx="2530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② 对阶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0076" name="Text Box 28"/>
          <p:cNvSpPr txBox="1">
            <a:spLocks noChangeArrowheads="1"/>
          </p:cNvSpPr>
          <p:nvPr/>
        </p:nvSpPr>
        <p:spPr bwMode="auto">
          <a:xfrm>
            <a:off x="4311650" y="4129088"/>
            <a:ext cx="3113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400" baseline="-150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=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00, 11; 00.0011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0077" name="Text Box 29"/>
          <p:cNvSpPr txBox="1">
            <a:spLocks noChangeArrowheads="1"/>
          </p:cNvSpPr>
          <p:nvPr/>
        </p:nvSpPr>
        <p:spPr bwMode="auto">
          <a:xfrm>
            <a:off x="6934200" y="3005138"/>
            <a:ext cx="357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0078" name="Text Box 30"/>
          <p:cNvSpPr txBox="1">
            <a:spLocks noChangeArrowheads="1"/>
          </p:cNvSpPr>
          <p:nvPr/>
        </p:nvSpPr>
        <p:spPr bwMode="auto">
          <a:xfrm>
            <a:off x="3576638" y="5618163"/>
            <a:ext cx="357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0079" name="Text Box 31"/>
          <p:cNvSpPr txBox="1">
            <a:spLocks noChangeArrowheads="1"/>
          </p:cNvSpPr>
          <p:nvPr/>
        </p:nvSpPr>
        <p:spPr bwMode="auto">
          <a:xfrm>
            <a:off x="6869113" y="52197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对阶后的[</a:t>
            </a:r>
            <a:r>
              <a:rPr lang="en-US" altLang="zh-CN" sz="2000" i="1">
                <a:latin typeface="Times New Roman" panose="02020603050405020304" pitchFamily="18" charset="0"/>
              </a:rPr>
              <a:t>S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x</a:t>
            </a:r>
            <a:r>
              <a:rPr lang="en-US" altLang="zh-CN" sz="20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000" baseline="-1500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0081" name="Text Box 33"/>
          <p:cNvSpPr txBox="1">
            <a:spLocks noChangeArrowheads="1"/>
          </p:cNvSpPr>
          <p:nvPr/>
        </p:nvSpPr>
        <p:spPr bwMode="auto">
          <a:xfrm>
            <a:off x="2422525" y="2520950"/>
            <a:ext cx="2835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① 求阶差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0082" name="Text Box 34"/>
          <p:cNvSpPr txBox="1">
            <a:spLocks noChangeArrowheads="1"/>
          </p:cNvSpPr>
          <p:nvPr/>
        </p:nvSpPr>
        <p:spPr bwMode="auto">
          <a:xfrm>
            <a:off x="2057400" y="4738688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2. 尾数求和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7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7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70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77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7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7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7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7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7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77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77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77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77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77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500"/>
                                        <p:tgtEl>
                                          <p:spTgt spid="77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77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77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054" grpId="0" autoUpdateAnimBg="0"/>
      <p:bldP spid="770055" grpId="0" autoUpdateAnimBg="0"/>
      <p:bldP spid="770056" grpId="0" autoUpdateAnimBg="0"/>
      <p:bldP spid="770057" grpId="0" autoUpdateAnimBg="0"/>
      <p:bldP spid="770058" grpId="0" autoUpdateAnimBg="0"/>
      <p:bldP spid="770059" grpId="0" autoUpdateAnimBg="0"/>
      <p:bldP spid="770060" grpId="0" autoUpdateAnimBg="0"/>
      <p:bldP spid="770061" grpId="0" autoUpdateAnimBg="0"/>
      <p:bldP spid="770068" grpId="0" autoUpdateAnimBg="0"/>
      <p:bldP spid="770074" grpId="0" autoUpdateAnimBg="0"/>
      <p:bldP spid="770075" grpId="0" autoUpdateAnimBg="0"/>
      <p:bldP spid="770076" grpId="0" autoUpdateAnimBg="0"/>
      <p:bldP spid="770077" grpId="0" autoUpdateAnimBg="0"/>
      <p:bldP spid="770078" grpId="0" autoUpdateAnimBg="0"/>
      <p:bldP spid="770079" grpId="0" autoUpdateAnimBg="0"/>
      <p:bldP spid="770081" grpId="0" autoUpdateAnimBg="0"/>
      <p:bldP spid="770082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/>
          <p:cNvSpPr txBox="1">
            <a:spLocks noChangeArrowheads="1"/>
          </p:cNvSpPr>
          <p:nvPr/>
        </p:nvSpPr>
        <p:spPr bwMode="auto">
          <a:xfrm>
            <a:off x="1828800" y="196850"/>
            <a:ext cx="20177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3. 规格化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71075" name="Text Box 3"/>
          <p:cNvSpPr txBox="1">
            <a:spLocks noChangeArrowheads="1"/>
          </p:cNvSpPr>
          <p:nvPr/>
        </p:nvSpPr>
        <p:spPr bwMode="auto">
          <a:xfrm>
            <a:off x="2286000" y="904875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(1) 规格化数的定义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71076" name="Text Box 4"/>
          <p:cNvSpPr txBox="1">
            <a:spLocks noChangeArrowheads="1"/>
          </p:cNvSpPr>
          <p:nvPr/>
        </p:nvSpPr>
        <p:spPr bwMode="auto">
          <a:xfrm>
            <a:off x="2286000" y="2017713"/>
            <a:ext cx="419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(2) 规格化数的判断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71077" name="Group 5"/>
          <p:cNvGrpSpPr/>
          <p:nvPr/>
        </p:nvGrpSpPr>
        <p:grpSpPr bwMode="auto">
          <a:xfrm>
            <a:off x="3717925" y="1360488"/>
            <a:ext cx="3111500" cy="766762"/>
            <a:chOff x="1382" y="857"/>
            <a:chExt cx="1960" cy="483"/>
          </a:xfrm>
        </p:grpSpPr>
        <p:sp>
          <p:nvSpPr>
            <p:cNvPr id="75826" name="Text Box 6"/>
            <p:cNvSpPr txBox="1">
              <a:spLocks noChangeArrowheads="1"/>
            </p:cNvSpPr>
            <p:nvPr/>
          </p:nvSpPr>
          <p:spPr bwMode="auto">
            <a:xfrm>
              <a:off x="1382" y="954"/>
              <a:ext cx="196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r</a:t>
              </a:r>
              <a:r>
                <a:rPr lang="en-US" altLang="zh-CN">
                  <a:latin typeface="Times New Roman" panose="02020603050405020304" pitchFamily="18" charset="0"/>
                </a:rPr>
                <a:t> = 2           ≤ |</a:t>
              </a: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>
                  <a:latin typeface="Times New Roman" panose="02020603050405020304" pitchFamily="18" charset="0"/>
                </a:rPr>
                <a:t>| ＜1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75827" name="Text Box 7"/>
            <p:cNvSpPr txBox="1">
              <a:spLocks noChangeArrowheads="1"/>
            </p:cNvSpPr>
            <p:nvPr/>
          </p:nvSpPr>
          <p:spPr bwMode="auto">
            <a:xfrm>
              <a:off x="2180" y="857"/>
              <a:ext cx="2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000">
                  <a:latin typeface="Times New Roman" panose="02020603050405020304" pitchFamily="18" charset="0"/>
                </a:rPr>
                <a:t> </a:t>
              </a:r>
              <a:r>
                <a:rPr lang="zh-CN" altLang="en-US" sz="2200">
                  <a:latin typeface="Times New Roman" panose="02020603050405020304" pitchFamily="18" charset="0"/>
                </a:rPr>
                <a:t>1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  <p:sp>
          <p:nvSpPr>
            <p:cNvPr id="75828" name="Text Box 8"/>
            <p:cNvSpPr txBox="1">
              <a:spLocks noChangeArrowheads="1"/>
            </p:cNvSpPr>
            <p:nvPr/>
          </p:nvSpPr>
          <p:spPr bwMode="auto">
            <a:xfrm>
              <a:off x="2208" y="1071"/>
              <a:ext cx="20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2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  <p:sp>
          <p:nvSpPr>
            <p:cNvPr id="75829" name="Line 9"/>
            <p:cNvSpPr>
              <a:spLocks noChangeShapeType="1"/>
            </p:cNvSpPr>
            <p:nvPr/>
          </p:nvSpPr>
          <p:spPr bwMode="auto">
            <a:xfrm>
              <a:off x="2208" y="1104"/>
              <a:ext cx="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71082" name="Text Box 10"/>
          <p:cNvSpPr txBox="1">
            <a:spLocks noChangeArrowheads="1"/>
          </p:cNvSpPr>
          <p:nvPr/>
        </p:nvSpPr>
        <p:spPr bwMode="auto">
          <a:xfrm>
            <a:off x="2574925" y="2657475"/>
            <a:ext cx="1433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＞0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71083" name="Text Box 11"/>
          <p:cNvSpPr txBox="1">
            <a:spLocks noChangeArrowheads="1"/>
          </p:cNvSpPr>
          <p:nvPr/>
        </p:nvSpPr>
        <p:spPr bwMode="auto">
          <a:xfrm>
            <a:off x="2514600" y="3124200"/>
            <a:ext cx="1565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真值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1084" name="Text Box 12"/>
          <p:cNvSpPr txBox="1">
            <a:spLocks noChangeArrowheads="1"/>
          </p:cNvSpPr>
          <p:nvPr/>
        </p:nvSpPr>
        <p:spPr bwMode="auto">
          <a:xfrm>
            <a:off x="2514600" y="3657600"/>
            <a:ext cx="1493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原码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1085" name="Text Box 13"/>
          <p:cNvSpPr txBox="1">
            <a:spLocks noChangeArrowheads="1"/>
          </p:cNvSpPr>
          <p:nvPr/>
        </p:nvSpPr>
        <p:spPr bwMode="auto">
          <a:xfrm>
            <a:off x="2514600" y="4241800"/>
            <a:ext cx="1565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补码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1086" name="Text Box 14"/>
          <p:cNvSpPr txBox="1">
            <a:spLocks noChangeArrowheads="1"/>
          </p:cNvSpPr>
          <p:nvPr/>
        </p:nvSpPr>
        <p:spPr bwMode="auto">
          <a:xfrm>
            <a:off x="2514600" y="4800600"/>
            <a:ext cx="12049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反码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1087" name="Text Box 15"/>
          <p:cNvSpPr txBox="1">
            <a:spLocks noChangeArrowheads="1"/>
          </p:cNvSpPr>
          <p:nvPr/>
        </p:nvSpPr>
        <p:spPr bwMode="auto">
          <a:xfrm>
            <a:off x="3870325" y="2635250"/>
            <a:ext cx="2370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规格化形式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1088" name="Text Box 16"/>
          <p:cNvSpPr txBox="1">
            <a:spLocks noChangeArrowheads="1"/>
          </p:cNvSpPr>
          <p:nvPr/>
        </p:nvSpPr>
        <p:spPr bwMode="auto">
          <a:xfrm>
            <a:off x="6537325" y="2657475"/>
            <a:ext cx="1006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＜ 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71089" name="Text Box 17"/>
          <p:cNvSpPr txBox="1">
            <a:spLocks noChangeArrowheads="1"/>
          </p:cNvSpPr>
          <p:nvPr/>
        </p:nvSpPr>
        <p:spPr bwMode="auto">
          <a:xfrm>
            <a:off x="8001000" y="2605088"/>
            <a:ext cx="1970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规格化形式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1090" name="Text Box 18"/>
          <p:cNvSpPr txBox="1">
            <a:spLocks noChangeArrowheads="1"/>
          </p:cNvSpPr>
          <p:nvPr/>
        </p:nvSpPr>
        <p:spPr bwMode="auto">
          <a:xfrm>
            <a:off x="6569075" y="312420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真值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1091" name="Text Box 19"/>
          <p:cNvSpPr txBox="1">
            <a:spLocks noChangeArrowheads="1"/>
          </p:cNvSpPr>
          <p:nvPr/>
        </p:nvSpPr>
        <p:spPr bwMode="auto">
          <a:xfrm>
            <a:off x="6569075" y="365760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原码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1092" name="Text Box 20"/>
          <p:cNvSpPr txBox="1">
            <a:spLocks noChangeArrowheads="1"/>
          </p:cNvSpPr>
          <p:nvPr/>
        </p:nvSpPr>
        <p:spPr bwMode="auto">
          <a:xfrm>
            <a:off x="6569075" y="424180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补码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1093" name="Text Box 21"/>
          <p:cNvSpPr txBox="1">
            <a:spLocks noChangeArrowheads="1"/>
          </p:cNvSpPr>
          <p:nvPr/>
        </p:nvSpPr>
        <p:spPr bwMode="auto">
          <a:xfrm>
            <a:off x="6569075" y="480060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反码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71133" name="Group 61"/>
          <p:cNvGrpSpPr/>
          <p:nvPr/>
        </p:nvGrpSpPr>
        <p:grpSpPr bwMode="auto">
          <a:xfrm>
            <a:off x="3962400" y="3090863"/>
            <a:ext cx="1633538" cy="547687"/>
            <a:chOff x="1536" y="1947"/>
            <a:chExt cx="1029" cy="345"/>
          </a:xfrm>
        </p:grpSpPr>
        <p:sp>
          <p:nvSpPr>
            <p:cNvPr id="75824" name="Text Box 23"/>
            <p:cNvSpPr txBox="1">
              <a:spLocks noChangeArrowheads="1"/>
            </p:cNvSpPr>
            <p:nvPr/>
          </p:nvSpPr>
          <p:spPr bwMode="auto">
            <a:xfrm>
              <a:off x="1536" y="1962"/>
              <a:ext cx="10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0.1</a:t>
              </a:r>
              <a:r>
                <a:rPr lang="zh-CN" altLang="en-US" sz="2400">
                  <a:latin typeface="Times New Roman" panose="02020603050405020304" pitchFamily="18" charset="0"/>
                </a:rPr>
                <a:t>××     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5825" name="Text Box 24"/>
            <p:cNvSpPr txBox="1">
              <a:spLocks noChangeArrowheads="1"/>
            </p:cNvSpPr>
            <p:nvPr/>
          </p:nvSpPr>
          <p:spPr bwMode="auto">
            <a:xfrm>
              <a:off x="2246" y="1947"/>
              <a:ext cx="2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1097" name="Group 25"/>
          <p:cNvGrpSpPr/>
          <p:nvPr/>
        </p:nvGrpSpPr>
        <p:grpSpPr bwMode="auto">
          <a:xfrm>
            <a:off x="3962400" y="3657600"/>
            <a:ext cx="1633538" cy="538163"/>
            <a:chOff x="1536" y="2352"/>
            <a:chExt cx="1029" cy="339"/>
          </a:xfrm>
        </p:grpSpPr>
        <p:sp>
          <p:nvSpPr>
            <p:cNvPr id="75822" name="Text Box 26"/>
            <p:cNvSpPr txBox="1">
              <a:spLocks noChangeArrowheads="1"/>
            </p:cNvSpPr>
            <p:nvPr/>
          </p:nvSpPr>
          <p:spPr bwMode="auto">
            <a:xfrm>
              <a:off x="1536" y="2361"/>
              <a:ext cx="10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0.1</a:t>
              </a:r>
              <a:r>
                <a:rPr lang="zh-CN" altLang="en-US" sz="2400">
                  <a:latin typeface="Times New Roman" panose="02020603050405020304" pitchFamily="18" charset="0"/>
                </a:rPr>
                <a:t>××     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5823" name="Text Box 27"/>
            <p:cNvSpPr txBox="1">
              <a:spLocks noChangeArrowheads="1"/>
            </p:cNvSpPr>
            <p:nvPr/>
          </p:nvSpPr>
          <p:spPr bwMode="auto">
            <a:xfrm>
              <a:off x="2256" y="2352"/>
              <a:ext cx="2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1100" name="Group 28"/>
          <p:cNvGrpSpPr/>
          <p:nvPr/>
        </p:nvGrpSpPr>
        <p:grpSpPr bwMode="auto">
          <a:xfrm>
            <a:off x="3962400" y="4241800"/>
            <a:ext cx="1633538" cy="538163"/>
            <a:chOff x="1536" y="2736"/>
            <a:chExt cx="1029" cy="339"/>
          </a:xfrm>
        </p:grpSpPr>
        <p:sp>
          <p:nvSpPr>
            <p:cNvPr id="75820" name="Text Box 29"/>
            <p:cNvSpPr txBox="1">
              <a:spLocks noChangeArrowheads="1"/>
            </p:cNvSpPr>
            <p:nvPr/>
          </p:nvSpPr>
          <p:spPr bwMode="auto">
            <a:xfrm>
              <a:off x="1536" y="2745"/>
              <a:ext cx="10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0.1</a:t>
              </a:r>
              <a:r>
                <a:rPr lang="zh-CN" altLang="en-US" sz="2400">
                  <a:latin typeface="Times New Roman" panose="02020603050405020304" pitchFamily="18" charset="0"/>
                </a:rPr>
                <a:t>××     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5821" name="Text Box 30"/>
            <p:cNvSpPr txBox="1">
              <a:spLocks noChangeArrowheads="1"/>
            </p:cNvSpPr>
            <p:nvPr/>
          </p:nvSpPr>
          <p:spPr bwMode="auto">
            <a:xfrm>
              <a:off x="2256" y="2736"/>
              <a:ext cx="2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1103" name="Group 31"/>
          <p:cNvGrpSpPr/>
          <p:nvPr/>
        </p:nvGrpSpPr>
        <p:grpSpPr bwMode="auto">
          <a:xfrm>
            <a:off x="3962400" y="4800600"/>
            <a:ext cx="1633538" cy="538163"/>
            <a:chOff x="1536" y="3072"/>
            <a:chExt cx="1029" cy="339"/>
          </a:xfrm>
        </p:grpSpPr>
        <p:sp>
          <p:nvSpPr>
            <p:cNvPr id="75818" name="Text Box 32"/>
            <p:cNvSpPr txBox="1">
              <a:spLocks noChangeArrowheads="1"/>
            </p:cNvSpPr>
            <p:nvPr/>
          </p:nvSpPr>
          <p:spPr bwMode="auto">
            <a:xfrm>
              <a:off x="1536" y="3081"/>
              <a:ext cx="10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0.1</a:t>
              </a:r>
              <a:r>
                <a:rPr lang="zh-CN" altLang="en-US" sz="2400">
                  <a:latin typeface="Times New Roman" panose="02020603050405020304" pitchFamily="18" charset="0"/>
                </a:rPr>
                <a:t>××     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5819" name="Text Box 33"/>
            <p:cNvSpPr txBox="1">
              <a:spLocks noChangeArrowheads="1"/>
            </p:cNvSpPr>
            <p:nvPr/>
          </p:nvSpPr>
          <p:spPr bwMode="auto">
            <a:xfrm>
              <a:off x="2256" y="3072"/>
              <a:ext cx="2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5400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771106" name="Text Box 34"/>
          <p:cNvSpPr txBox="1">
            <a:spLocks noChangeArrowheads="1"/>
          </p:cNvSpPr>
          <p:nvPr/>
        </p:nvSpPr>
        <p:spPr bwMode="auto">
          <a:xfrm>
            <a:off x="2955925" y="5553075"/>
            <a:ext cx="6811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原码     不论正数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负数</a:t>
            </a:r>
            <a:r>
              <a:rPr lang="zh-CN" altLang="en-US">
                <a:latin typeface="Times New Roman" panose="02020603050405020304" pitchFamily="18" charset="0"/>
              </a:rPr>
              <a:t>，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第一数位为1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1107" name="Text Box 35"/>
          <p:cNvSpPr txBox="1">
            <a:spLocks noChangeArrowheads="1"/>
          </p:cNvSpPr>
          <p:nvPr/>
        </p:nvSpPr>
        <p:spPr bwMode="auto">
          <a:xfrm>
            <a:off x="2955925" y="6162675"/>
            <a:ext cx="5227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补码     符号位和第 一数位不同</a:t>
            </a:r>
            <a:endParaRPr lang="en-US" altLang="zh-CN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71130" name="Group 58"/>
          <p:cNvGrpSpPr/>
          <p:nvPr/>
        </p:nvGrpSpPr>
        <p:grpSpPr bwMode="auto">
          <a:xfrm>
            <a:off x="7924800" y="3048000"/>
            <a:ext cx="2514600" cy="554038"/>
            <a:chOff x="4032" y="1920"/>
            <a:chExt cx="1584" cy="349"/>
          </a:xfrm>
        </p:grpSpPr>
        <p:sp>
          <p:nvSpPr>
            <p:cNvPr id="75816" name="Text Box 37"/>
            <p:cNvSpPr txBox="1">
              <a:spLocks noChangeArrowheads="1"/>
            </p:cNvSpPr>
            <p:nvPr/>
          </p:nvSpPr>
          <p:spPr bwMode="auto">
            <a:xfrm>
              <a:off x="4032" y="1942"/>
              <a:ext cx="15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0.1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××      </a:t>
              </a:r>
              <a:r>
                <a: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817" name="Text Box 38"/>
            <p:cNvSpPr txBox="1">
              <a:spLocks noChangeArrowheads="1"/>
            </p:cNvSpPr>
            <p:nvPr/>
          </p:nvSpPr>
          <p:spPr bwMode="auto">
            <a:xfrm>
              <a:off x="4982" y="1920"/>
              <a:ext cx="2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1131" name="Group 59"/>
          <p:cNvGrpSpPr/>
          <p:nvPr/>
        </p:nvGrpSpPr>
        <p:grpSpPr bwMode="auto">
          <a:xfrm>
            <a:off x="8229600" y="3652838"/>
            <a:ext cx="1711325" cy="542925"/>
            <a:chOff x="4224" y="2301"/>
            <a:chExt cx="1078" cy="342"/>
          </a:xfrm>
        </p:grpSpPr>
        <p:sp>
          <p:nvSpPr>
            <p:cNvPr id="75814" name="Text Box 40"/>
            <p:cNvSpPr txBox="1">
              <a:spLocks noChangeArrowheads="1"/>
            </p:cNvSpPr>
            <p:nvPr/>
          </p:nvSpPr>
          <p:spPr bwMode="auto">
            <a:xfrm>
              <a:off x="4224" y="2313"/>
              <a:ext cx="107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1.1</a:t>
              </a:r>
              <a:r>
                <a:rPr lang="zh-CN" altLang="en-US" sz="2400">
                  <a:latin typeface="Times New Roman" panose="02020603050405020304" pitchFamily="18" charset="0"/>
                </a:rPr>
                <a:t>××      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5815" name="Text Box 41"/>
            <p:cNvSpPr txBox="1">
              <a:spLocks noChangeArrowheads="1"/>
            </p:cNvSpPr>
            <p:nvPr/>
          </p:nvSpPr>
          <p:spPr bwMode="auto">
            <a:xfrm>
              <a:off x="4982" y="2301"/>
              <a:ext cx="26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1132" name="Group 60"/>
          <p:cNvGrpSpPr/>
          <p:nvPr/>
        </p:nvGrpSpPr>
        <p:grpSpPr bwMode="auto">
          <a:xfrm>
            <a:off x="8229600" y="4162425"/>
            <a:ext cx="1711325" cy="566738"/>
            <a:chOff x="4224" y="2622"/>
            <a:chExt cx="1078" cy="357"/>
          </a:xfrm>
        </p:grpSpPr>
        <p:sp>
          <p:nvSpPr>
            <p:cNvPr id="75812" name="Text Box 43"/>
            <p:cNvSpPr txBox="1">
              <a:spLocks noChangeArrowheads="1"/>
            </p:cNvSpPr>
            <p:nvPr/>
          </p:nvSpPr>
          <p:spPr bwMode="auto">
            <a:xfrm>
              <a:off x="4224" y="2649"/>
              <a:ext cx="107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1.0</a:t>
              </a:r>
              <a:r>
                <a:rPr lang="zh-CN" altLang="en-US" sz="2400">
                  <a:latin typeface="Times New Roman" panose="02020603050405020304" pitchFamily="18" charset="0"/>
                </a:rPr>
                <a:t>××      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5813" name="Text Box 44"/>
            <p:cNvSpPr txBox="1">
              <a:spLocks noChangeArrowheads="1"/>
            </p:cNvSpPr>
            <p:nvPr/>
          </p:nvSpPr>
          <p:spPr bwMode="auto">
            <a:xfrm>
              <a:off x="4982" y="2622"/>
              <a:ext cx="2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1129" name="Group 57"/>
          <p:cNvGrpSpPr/>
          <p:nvPr/>
        </p:nvGrpSpPr>
        <p:grpSpPr bwMode="auto">
          <a:xfrm>
            <a:off x="8229600" y="4781550"/>
            <a:ext cx="1711325" cy="557213"/>
            <a:chOff x="4224" y="3012"/>
            <a:chExt cx="1078" cy="351"/>
          </a:xfrm>
        </p:grpSpPr>
        <p:sp>
          <p:nvSpPr>
            <p:cNvPr id="75810" name="Text Box 46"/>
            <p:cNvSpPr txBox="1">
              <a:spLocks noChangeArrowheads="1"/>
            </p:cNvSpPr>
            <p:nvPr/>
          </p:nvSpPr>
          <p:spPr bwMode="auto">
            <a:xfrm>
              <a:off x="4224" y="3033"/>
              <a:ext cx="107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1.0</a:t>
              </a:r>
              <a:r>
                <a:rPr lang="zh-CN" altLang="en-US" sz="2400">
                  <a:latin typeface="Times New Roman" panose="02020603050405020304" pitchFamily="18" charset="0"/>
                </a:rPr>
                <a:t>××      ×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5811" name="Text Box 47"/>
            <p:cNvSpPr txBox="1">
              <a:spLocks noChangeArrowheads="1"/>
            </p:cNvSpPr>
            <p:nvPr/>
          </p:nvSpPr>
          <p:spPr bwMode="auto">
            <a:xfrm>
              <a:off x="4982" y="3012"/>
              <a:ext cx="2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1120" name="Group 48"/>
          <p:cNvGrpSpPr/>
          <p:nvPr/>
        </p:nvGrpSpPr>
        <p:grpSpPr bwMode="auto">
          <a:xfrm>
            <a:off x="4343400" y="3733800"/>
            <a:ext cx="4419600" cy="457200"/>
            <a:chOff x="1776" y="2352"/>
            <a:chExt cx="2784" cy="288"/>
          </a:xfrm>
        </p:grpSpPr>
        <p:sp>
          <p:nvSpPr>
            <p:cNvPr id="75808" name="AutoShape 49"/>
            <p:cNvSpPr>
              <a:spLocks noChangeArrowheads="1"/>
            </p:cNvSpPr>
            <p:nvPr/>
          </p:nvSpPr>
          <p:spPr bwMode="auto">
            <a:xfrm>
              <a:off x="1776" y="2352"/>
              <a:ext cx="96" cy="288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75809" name="AutoShape 50"/>
            <p:cNvSpPr>
              <a:spLocks noChangeArrowheads="1"/>
            </p:cNvSpPr>
            <p:nvPr/>
          </p:nvSpPr>
          <p:spPr bwMode="auto">
            <a:xfrm>
              <a:off x="4464" y="2352"/>
              <a:ext cx="96" cy="288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  <p:grpSp>
        <p:nvGrpSpPr>
          <p:cNvPr id="771123" name="Group 51"/>
          <p:cNvGrpSpPr/>
          <p:nvPr/>
        </p:nvGrpSpPr>
        <p:grpSpPr bwMode="auto">
          <a:xfrm>
            <a:off x="4038600" y="4267200"/>
            <a:ext cx="4765675" cy="457200"/>
            <a:chOff x="1584" y="2688"/>
            <a:chExt cx="3002" cy="288"/>
          </a:xfrm>
        </p:grpSpPr>
        <p:sp>
          <p:nvSpPr>
            <p:cNvPr id="75806" name="AutoShape 52"/>
            <p:cNvSpPr>
              <a:spLocks noChangeArrowheads="1"/>
            </p:cNvSpPr>
            <p:nvPr/>
          </p:nvSpPr>
          <p:spPr bwMode="auto">
            <a:xfrm>
              <a:off x="1584" y="2688"/>
              <a:ext cx="295" cy="288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75807" name="AutoShape 53"/>
            <p:cNvSpPr>
              <a:spLocks noChangeArrowheads="1"/>
            </p:cNvSpPr>
            <p:nvPr/>
          </p:nvSpPr>
          <p:spPr bwMode="auto">
            <a:xfrm>
              <a:off x="4291" y="2688"/>
              <a:ext cx="295" cy="288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7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7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7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7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7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7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7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7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7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77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7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7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77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7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7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77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77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77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77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77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77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1075" grpId="0" autoUpdateAnimBg="0"/>
      <p:bldP spid="771076" grpId="0" autoUpdateAnimBg="0"/>
      <p:bldP spid="771082" grpId="0" autoUpdateAnimBg="0"/>
      <p:bldP spid="771083" grpId="0" autoUpdateAnimBg="0"/>
      <p:bldP spid="771084" grpId="0" autoUpdateAnimBg="0"/>
      <p:bldP spid="771085" grpId="0" autoUpdateAnimBg="0"/>
      <p:bldP spid="771086" grpId="0" autoUpdateAnimBg="0"/>
      <p:bldP spid="771087" grpId="0" autoUpdateAnimBg="0"/>
      <p:bldP spid="771088" grpId="0" autoUpdateAnimBg="0"/>
      <p:bldP spid="771089" grpId="0" autoUpdateAnimBg="0"/>
      <p:bldP spid="771090" grpId="0" autoUpdateAnimBg="0"/>
      <p:bldP spid="771091" grpId="0" autoUpdateAnimBg="0"/>
      <p:bldP spid="771092" grpId="0" autoUpdateAnimBg="0"/>
      <p:bldP spid="771093" grpId="0" autoUpdateAnimBg="0"/>
      <p:bldP spid="771106" grpId="0" autoUpdateAnimBg="0"/>
      <p:bldP spid="771107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2041525" y="168275"/>
            <a:ext cx="4740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特例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772099" name="Group 3"/>
          <p:cNvGrpSpPr/>
          <p:nvPr/>
        </p:nvGrpSpPr>
        <p:grpSpPr bwMode="auto">
          <a:xfrm>
            <a:off x="3238500" y="738188"/>
            <a:ext cx="3633788" cy="766762"/>
            <a:chOff x="1080" y="465"/>
            <a:chExt cx="2289" cy="483"/>
          </a:xfrm>
        </p:grpSpPr>
        <p:sp>
          <p:nvSpPr>
            <p:cNvPr id="76822" name="Text Box 4"/>
            <p:cNvSpPr txBox="1">
              <a:spLocks noChangeArrowheads="1"/>
            </p:cNvSpPr>
            <p:nvPr/>
          </p:nvSpPr>
          <p:spPr bwMode="auto">
            <a:xfrm>
              <a:off x="1080" y="522"/>
              <a:ext cx="22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>
                  <a:latin typeface="Times New Roman" panose="02020603050405020304" pitchFamily="18" charset="0"/>
                </a:rPr>
                <a:t>  = 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     = – 0.100      0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6823" name="Group 5"/>
            <p:cNvGrpSpPr/>
            <p:nvPr/>
          </p:nvGrpSpPr>
          <p:grpSpPr bwMode="auto">
            <a:xfrm>
              <a:off x="1727" y="465"/>
              <a:ext cx="241" cy="483"/>
              <a:chOff x="1727" y="465"/>
              <a:chExt cx="241" cy="483"/>
            </a:xfrm>
          </p:grpSpPr>
          <p:sp>
            <p:nvSpPr>
              <p:cNvPr id="76825" name="Text Box 6"/>
              <p:cNvSpPr txBox="1">
                <a:spLocks noChangeArrowheads="1"/>
              </p:cNvSpPr>
              <p:nvPr/>
            </p:nvSpPr>
            <p:spPr bwMode="auto">
              <a:xfrm>
                <a:off x="1727" y="465"/>
                <a:ext cx="224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00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200">
                    <a:latin typeface="Times New Roman" panose="02020603050405020304" pitchFamily="18" charset="0"/>
                  </a:rPr>
                  <a:t>1</a:t>
                </a:r>
                <a:endParaRPr lang="zh-CN" altLang="en-US" sz="2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826" name="Text Box 7"/>
              <p:cNvSpPr txBox="1">
                <a:spLocks noChangeArrowheads="1"/>
              </p:cNvSpPr>
              <p:nvPr/>
            </p:nvSpPr>
            <p:spPr bwMode="auto">
              <a:xfrm>
                <a:off x="1755" y="679"/>
                <a:ext cx="204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2200">
                    <a:latin typeface="Times New Roman" panose="02020603050405020304" pitchFamily="18" charset="0"/>
                  </a:rPr>
                  <a:t>2</a:t>
                </a:r>
                <a:endParaRPr lang="zh-CN" altLang="en-US" sz="2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827" name="Line 8"/>
              <p:cNvSpPr>
                <a:spLocks noChangeShapeType="1"/>
              </p:cNvSpPr>
              <p:nvPr/>
            </p:nvSpPr>
            <p:spPr bwMode="auto">
              <a:xfrm>
                <a:off x="1755" y="712"/>
                <a:ext cx="21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76824" name="Text Box 9"/>
            <p:cNvSpPr txBox="1">
              <a:spLocks noChangeArrowheads="1"/>
            </p:cNvSpPr>
            <p:nvPr/>
          </p:nvSpPr>
          <p:spPr bwMode="auto">
            <a:xfrm>
              <a:off x="2766" y="474"/>
              <a:ext cx="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  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2106" name="Group 10"/>
          <p:cNvGrpSpPr/>
          <p:nvPr/>
        </p:nvGrpSpPr>
        <p:grpSpPr bwMode="auto">
          <a:xfrm>
            <a:off x="2743200" y="2717800"/>
            <a:ext cx="4448175" cy="741363"/>
            <a:chOff x="768" y="1712"/>
            <a:chExt cx="2802" cy="467"/>
          </a:xfrm>
        </p:grpSpPr>
        <p:sp>
          <p:nvSpPr>
            <p:cNvPr id="76818" name="Text Box 11"/>
            <p:cNvSpPr txBox="1">
              <a:spLocks noChangeArrowheads="1"/>
            </p:cNvSpPr>
            <p:nvPr/>
          </p:nvSpPr>
          <p:spPr bwMode="auto">
            <a:xfrm>
              <a:off x="768" y="1770"/>
              <a:ext cx="28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∴   [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 ]</a:t>
              </a:r>
              <a:r>
                <a:rPr lang="zh-CN" altLang="en-US" sz="2400" baseline="-250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补</a:t>
              </a:r>
              <a:r>
                <a:rPr lang="zh-CN" altLang="en-US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不是规格化的数</a:t>
              </a:r>
              <a:endParaRPr lang="zh-CN" altLang="en-US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19" name="Text Box 12"/>
            <p:cNvSpPr txBox="1">
              <a:spLocks noChangeArrowheads="1"/>
            </p:cNvSpPr>
            <p:nvPr/>
          </p:nvSpPr>
          <p:spPr bwMode="auto">
            <a:xfrm>
              <a:off x="1440" y="1712"/>
              <a:ext cx="20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20" name="Text Box 13"/>
            <p:cNvSpPr txBox="1">
              <a:spLocks noChangeArrowheads="1"/>
            </p:cNvSpPr>
            <p:nvPr/>
          </p:nvSpPr>
          <p:spPr bwMode="auto">
            <a:xfrm>
              <a:off x="1450" y="1910"/>
              <a:ext cx="20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zh-CN" altLang="en-US" sz="220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21" name="Line 14"/>
            <p:cNvSpPr>
              <a:spLocks noChangeShapeType="1"/>
            </p:cNvSpPr>
            <p:nvPr/>
          </p:nvSpPr>
          <p:spPr bwMode="auto">
            <a:xfrm>
              <a:off x="1450" y="1959"/>
              <a:ext cx="213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72111" name="Text Box 15"/>
          <p:cNvSpPr txBox="1">
            <a:spLocks noChangeArrowheads="1"/>
          </p:cNvSpPr>
          <p:nvPr/>
        </p:nvSpPr>
        <p:spPr bwMode="auto">
          <a:xfrm>
            <a:off x="3390900" y="4105275"/>
            <a:ext cx="1208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2112" name="Text Box 16"/>
          <p:cNvSpPr txBox="1">
            <a:spLocks noChangeArrowheads="1"/>
          </p:cNvSpPr>
          <p:nvPr/>
        </p:nvSpPr>
        <p:spPr bwMode="auto">
          <a:xfrm>
            <a:off x="2743200" y="5500688"/>
            <a:ext cx="3927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∴   [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–1]</a:t>
            </a:r>
            <a:r>
              <a:rPr lang="zh-CN" altLang="en-US" sz="2400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 是规格化的数</a:t>
            </a:r>
            <a:endParaRPr lang="en-US" altLang="zh-CN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72113" name="Group 17"/>
          <p:cNvGrpSpPr/>
          <p:nvPr/>
        </p:nvGrpSpPr>
        <p:grpSpPr bwMode="auto">
          <a:xfrm>
            <a:off x="2895600" y="1490663"/>
            <a:ext cx="3162300" cy="647700"/>
            <a:chOff x="710" y="537"/>
            <a:chExt cx="1992" cy="408"/>
          </a:xfrm>
        </p:grpSpPr>
        <p:sp>
          <p:nvSpPr>
            <p:cNvPr id="76816" name="Text Box 18"/>
            <p:cNvSpPr txBox="1">
              <a:spLocks noChangeArrowheads="1"/>
            </p:cNvSpPr>
            <p:nvPr/>
          </p:nvSpPr>
          <p:spPr bwMode="auto">
            <a:xfrm>
              <a:off x="710" y="618"/>
              <a:ext cx="19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[</a:t>
              </a: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sz="2400" baseline="-25000">
                  <a:latin typeface="Times New Roman" panose="02020603050405020304" pitchFamily="18" charset="0"/>
                </a:rPr>
                <a:t>原</a:t>
              </a:r>
              <a:r>
                <a:rPr lang="zh-CN" altLang="en-US">
                  <a:latin typeface="Times New Roman" panose="02020603050405020304" pitchFamily="18" charset="0"/>
                </a:rPr>
                <a:t> = 1 . 1 0 0      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76817" name="Text Box 19"/>
            <p:cNvSpPr txBox="1">
              <a:spLocks noChangeArrowheads="1"/>
            </p:cNvSpPr>
            <p:nvPr/>
          </p:nvSpPr>
          <p:spPr bwMode="auto">
            <a:xfrm>
              <a:off x="2156" y="537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2116" name="Group 20"/>
          <p:cNvGrpSpPr/>
          <p:nvPr/>
        </p:nvGrpSpPr>
        <p:grpSpPr bwMode="auto">
          <a:xfrm>
            <a:off x="2895600" y="2105025"/>
            <a:ext cx="3162300" cy="595313"/>
            <a:chOff x="720" y="921"/>
            <a:chExt cx="1992" cy="375"/>
          </a:xfrm>
        </p:grpSpPr>
        <p:sp>
          <p:nvSpPr>
            <p:cNvPr id="76814" name="Text Box 21"/>
            <p:cNvSpPr txBox="1">
              <a:spLocks noChangeArrowheads="1"/>
            </p:cNvSpPr>
            <p:nvPr/>
          </p:nvSpPr>
          <p:spPr bwMode="auto">
            <a:xfrm>
              <a:off x="720" y="969"/>
              <a:ext cx="19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[</a:t>
              </a: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sz="2400" baseline="-25000">
                  <a:latin typeface="Times New Roman" panose="02020603050405020304" pitchFamily="18" charset="0"/>
                </a:rPr>
                <a:t>补</a:t>
              </a:r>
              <a:r>
                <a:rPr lang="zh-CN" altLang="en-US">
                  <a:latin typeface="Times New Roman" panose="02020603050405020304" pitchFamily="18" charset="0"/>
                </a:rPr>
                <a:t> = 1 . 1 0 0      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76815" name="Text Box 22"/>
            <p:cNvSpPr txBox="1">
              <a:spLocks noChangeArrowheads="1"/>
            </p:cNvSpPr>
            <p:nvPr/>
          </p:nvSpPr>
          <p:spPr bwMode="auto">
            <a:xfrm>
              <a:off x="2156" y="921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…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2119" name="Group 23"/>
          <p:cNvGrpSpPr/>
          <p:nvPr/>
        </p:nvGrpSpPr>
        <p:grpSpPr bwMode="auto">
          <a:xfrm>
            <a:off x="2895600" y="4764088"/>
            <a:ext cx="3162300" cy="595312"/>
            <a:chOff x="720" y="2400"/>
            <a:chExt cx="1992" cy="375"/>
          </a:xfrm>
        </p:grpSpPr>
        <p:sp>
          <p:nvSpPr>
            <p:cNvPr id="76812" name="Text Box 24"/>
            <p:cNvSpPr txBox="1">
              <a:spLocks noChangeArrowheads="1"/>
            </p:cNvSpPr>
            <p:nvPr/>
          </p:nvSpPr>
          <p:spPr bwMode="auto">
            <a:xfrm>
              <a:off x="720" y="2448"/>
              <a:ext cx="19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[</a:t>
              </a:r>
              <a:r>
                <a:rPr lang="en-US" altLang="zh-CN" i="1">
                  <a:latin typeface="Times New Roman" panose="02020603050405020304" pitchFamily="18" charset="0"/>
                </a:rPr>
                <a:t>S</a:t>
              </a:r>
              <a:r>
                <a:rPr lang="en-US" altLang="zh-CN">
                  <a:latin typeface="Times New Roman" panose="02020603050405020304" pitchFamily="18" charset="0"/>
                </a:rPr>
                <a:t>]</a:t>
              </a:r>
              <a:r>
                <a:rPr lang="zh-CN" altLang="en-US" sz="2400" baseline="-25000">
                  <a:latin typeface="Times New Roman" panose="02020603050405020304" pitchFamily="18" charset="0"/>
                </a:rPr>
                <a:t>补</a:t>
              </a:r>
              <a:r>
                <a:rPr lang="zh-CN" altLang="en-US">
                  <a:latin typeface="Times New Roman" panose="02020603050405020304" pitchFamily="18" charset="0"/>
                </a:rPr>
                <a:t> = 1 . 0 0 0       0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76813" name="Text Box 25"/>
            <p:cNvSpPr txBox="1">
              <a:spLocks noChangeArrowheads="1"/>
            </p:cNvSpPr>
            <p:nvPr/>
          </p:nvSpPr>
          <p:spPr bwMode="auto">
            <a:xfrm>
              <a:off x="2196" y="2400"/>
              <a:ext cx="3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… 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72122" name="AutoShape 26"/>
          <p:cNvSpPr>
            <a:spLocks noChangeArrowheads="1"/>
          </p:cNvSpPr>
          <p:nvPr/>
        </p:nvSpPr>
        <p:spPr bwMode="auto">
          <a:xfrm>
            <a:off x="4038600" y="2286000"/>
            <a:ext cx="609600" cy="3810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  <p:sp>
        <p:nvSpPr>
          <p:cNvPr id="772123" name="AutoShape 27"/>
          <p:cNvSpPr>
            <a:spLocks noChangeArrowheads="1"/>
          </p:cNvSpPr>
          <p:nvPr/>
        </p:nvSpPr>
        <p:spPr bwMode="auto">
          <a:xfrm>
            <a:off x="4038600" y="4876800"/>
            <a:ext cx="6096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2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772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7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772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7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2111" grpId="0" autoUpdateAnimBg="0"/>
      <p:bldP spid="772112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1487488" y="212725"/>
            <a:ext cx="2759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(3) 左规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73123" name="Text Box 3"/>
          <p:cNvSpPr txBox="1">
            <a:spLocks noChangeArrowheads="1"/>
          </p:cNvSpPr>
          <p:nvPr/>
        </p:nvSpPr>
        <p:spPr bwMode="auto">
          <a:xfrm>
            <a:off x="1500188" y="3567113"/>
            <a:ext cx="29114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400">
                <a:latin typeface="Times New Roman" panose="02020603050405020304" pitchFamily="18" charset="0"/>
              </a:rPr>
              <a:t>(4) 右规</a:t>
            </a:r>
            <a:endParaRPr lang="en-US" altLang="zh-CN" sz="3400">
              <a:latin typeface="Times New Roman" panose="02020603050405020304" pitchFamily="18" charset="0"/>
            </a:endParaRPr>
          </a:p>
        </p:txBody>
      </p:sp>
      <p:sp>
        <p:nvSpPr>
          <p:cNvPr id="773125" name="Text Box 5"/>
          <p:cNvSpPr txBox="1">
            <a:spLocks noChangeArrowheads="1"/>
          </p:cNvSpPr>
          <p:nvPr/>
        </p:nvSpPr>
        <p:spPr bwMode="auto">
          <a:xfrm>
            <a:off x="1919288" y="1387475"/>
            <a:ext cx="84772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600">
                <a:solidFill>
                  <a:schemeClr val="folHlink"/>
                </a:solidFill>
                <a:latin typeface="Times New Roman" panose="02020603050405020304" pitchFamily="18" charset="0"/>
              </a:rPr>
              <a:t>尾数左移一位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zh-CN" altLang="en-US" sz="2600">
                <a:solidFill>
                  <a:schemeClr val="folHlink"/>
                </a:solidFill>
                <a:latin typeface="Times New Roman" panose="02020603050405020304" pitchFamily="18" charset="0"/>
              </a:rPr>
              <a:t>阶码减 1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zh-CN" altLang="en-US" sz="2600">
                <a:solidFill>
                  <a:schemeClr val="folHlink"/>
                </a:solidFill>
                <a:latin typeface="Times New Roman" panose="02020603050405020304" pitchFamily="18" charset="0"/>
              </a:rPr>
              <a:t>直到数符和第一数位不同为止 </a:t>
            </a:r>
            <a:endParaRPr lang="zh-CN" altLang="en-US" sz="26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3127" name="Text Box 7"/>
          <p:cNvSpPr txBox="1">
            <a:spLocks noChangeArrowheads="1"/>
          </p:cNvSpPr>
          <p:nvPr/>
        </p:nvSpPr>
        <p:spPr bwMode="auto">
          <a:xfrm>
            <a:off x="3032125" y="1971675"/>
            <a:ext cx="6950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上例    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= 00, 11; 11. 1001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3128" name="Text Box 8"/>
          <p:cNvSpPr txBox="1">
            <a:spLocks noChangeArrowheads="1"/>
          </p:cNvSpPr>
          <p:nvPr/>
        </p:nvSpPr>
        <p:spPr bwMode="auto">
          <a:xfrm>
            <a:off x="2709863" y="2528888"/>
            <a:ext cx="66627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左规后    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 sz="1800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= 00, 10; 11. 0010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3129" name="Text Box 9"/>
          <p:cNvSpPr txBox="1">
            <a:spLocks noChangeArrowheads="1"/>
          </p:cNvSpPr>
          <p:nvPr/>
        </p:nvSpPr>
        <p:spPr bwMode="auto">
          <a:xfrm>
            <a:off x="3948113" y="3190875"/>
            <a:ext cx="4511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∴ 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en-US" altLang="zh-CN">
                <a:latin typeface="Times New Roman" panose="02020603050405020304" pitchFamily="18" charset="0"/>
              </a:rPr>
              <a:t>+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 = (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 0.1110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×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 sz="2400" baseline="50000">
                <a:latin typeface="Times New Roman" panose="02020603050405020304" pitchFamily="18" charset="0"/>
              </a:rPr>
              <a:t>10</a:t>
            </a:r>
            <a:r>
              <a:rPr lang="zh-CN" altLang="en-US" baseline="30000">
                <a:latin typeface="Times New Roman" panose="02020603050405020304" pitchFamily="18" charset="0"/>
              </a:rPr>
              <a:t> </a:t>
            </a:r>
            <a:endParaRPr lang="en-US" altLang="zh-CN" baseline="30000">
              <a:latin typeface="Times New Roman" panose="02020603050405020304" pitchFamily="18" charset="0"/>
            </a:endParaRPr>
          </a:p>
        </p:txBody>
      </p:sp>
      <p:sp>
        <p:nvSpPr>
          <p:cNvPr id="773130" name="Text Box 10"/>
          <p:cNvSpPr txBox="1">
            <a:spLocks noChangeArrowheads="1"/>
          </p:cNvSpPr>
          <p:nvPr/>
        </p:nvSpPr>
        <p:spPr bwMode="auto">
          <a:xfrm>
            <a:off x="3032125" y="4410075"/>
            <a:ext cx="57308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当 </a:t>
            </a:r>
            <a:r>
              <a:rPr lang="zh-CN" altLang="en-US" sz="2600">
                <a:solidFill>
                  <a:schemeClr val="folHlink"/>
                </a:solidFill>
                <a:latin typeface="Times New Roman" panose="02020603050405020304" pitchFamily="18" charset="0"/>
              </a:rPr>
              <a:t>尾数溢出</a:t>
            </a:r>
            <a:r>
              <a:rPr lang="zh-CN" altLang="en-US" sz="2600">
                <a:latin typeface="Times New Roman" panose="02020603050405020304" pitchFamily="18" charset="0"/>
              </a:rPr>
              <a:t>（ </a:t>
            </a:r>
            <a:r>
              <a:rPr lang="zh-CN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&gt;1</a:t>
            </a:r>
            <a:r>
              <a:rPr lang="zh-CN" altLang="en-US" sz="2600">
                <a:latin typeface="Times New Roman" panose="02020603050405020304" pitchFamily="18" charset="0"/>
              </a:rPr>
              <a:t>）时，需 </a:t>
            </a:r>
            <a:r>
              <a:rPr lang="zh-CN" altLang="en-US" sz="2600">
                <a:solidFill>
                  <a:schemeClr val="folHlink"/>
                </a:solidFill>
                <a:latin typeface="Times New Roman" panose="02020603050405020304" pitchFamily="18" charset="0"/>
              </a:rPr>
              <a:t>右规</a:t>
            </a:r>
            <a:endParaRPr lang="zh-CN" altLang="en-US" sz="26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73131" name="Group 11"/>
          <p:cNvGrpSpPr/>
          <p:nvPr/>
        </p:nvGrpSpPr>
        <p:grpSpPr bwMode="auto">
          <a:xfrm>
            <a:off x="3032125" y="4976813"/>
            <a:ext cx="7024688" cy="555625"/>
            <a:chOff x="950" y="3135"/>
            <a:chExt cx="4425" cy="350"/>
          </a:xfrm>
        </p:grpSpPr>
        <p:sp>
          <p:nvSpPr>
            <p:cNvPr id="77835" name="Text Box 12"/>
            <p:cNvSpPr txBox="1">
              <a:spLocks noChangeArrowheads="1"/>
            </p:cNvSpPr>
            <p:nvPr/>
          </p:nvSpPr>
          <p:spPr bwMode="auto">
            <a:xfrm>
              <a:off x="950" y="3177"/>
              <a:ext cx="4425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600">
                  <a:latin typeface="Times New Roman" panose="02020603050405020304" pitchFamily="18" charset="0"/>
                </a:rPr>
                <a:t>即尾数出现 01. ××      ×或 10. ××      ×时</a:t>
              </a:r>
              <a:endParaRPr lang="zh-CN" altLang="en-US" sz="2600">
                <a:latin typeface="Times New Roman" panose="02020603050405020304" pitchFamily="18" charset="0"/>
              </a:endParaRPr>
            </a:p>
          </p:txBody>
        </p:sp>
        <p:sp>
          <p:nvSpPr>
            <p:cNvPr id="77836" name="Text Box 13"/>
            <p:cNvSpPr txBox="1">
              <a:spLocks noChangeArrowheads="1"/>
            </p:cNvSpPr>
            <p:nvPr/>
          </p:nvSpPr>
          <p:spPr bwMode="auto">
            <a:xfrm>
              <a:off x="2901" y="313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77837" name="Text Box 14"/>
            <p:cNvSpPr txBox="1">
              <a:spLocks noChangeArrowheads="1"/>
            </p:cNvSpPr>
            <p:nvPr/>
          </p:nvSpPr>
          <p:spPr bwMode="auto">
            <a:xfrm>
              <a:off x="4388" y="313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…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773136" name="Text Box 16"/>
          <p:cNvSpPr txBox="1">
            <a:spLocks noChangeArrowheads="1"/>
          </p:cNvSpPr>
          <p:nvPr/>
        </p:nvSpPr>
        <p:spPr bwMode="auto">
          <a:xfrm>
            <a:off x="3032125" y="5705475"/>
            <a:ext cx="500856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600">
                <a:solidFill>
                  <a:schemeClr val="folHlink"/>
                </a:solidFill>
                <a:latin typeface="Times New Roman" panose="02020603050405020304" pitchFamily="18" charset="0"/>
              </a:rPr>
              <a:t>尾数右移一位</a:t>
            </a:r>
            <a:r>
              <a:rPr lang="zh-CN" altLang="en-US" sz="2600">
                <a:latin typeface="Times New Roman" panose="02020603050405020304" pitchFamily="18" charset="0"/>
              </a:rPr>
              <a:t>，</a:t>
            </a:r>
            <a:r>
              <a:rPr lang="zh-CN" altLang="en-US" sz="2600">
                <a:solidFill>
                  <a:schemeClr val="folHlink"/>
                </a:solidFill>
                <a:latin typeface="Times New Roman" panose="02020603050405020304" pitchFamily="18" charset="0"/>
              </a:rPr>
              <a:t>阶码加 1</a:t>
            </a:r>
            <a:endParaRPr lang="zh-CN" altLang="en-US" sz="26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7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7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3123" grpId="0" autoUpdateAnimBg="0"/>
      <p:bldP spid="773125" grpId="0"/>
      <p:bldP spid="773127" grpId="0" autoUpdateAnimBg="0"/>
      <p:bldP spid="773128" grpId="0" autoUpdateAnimBg="0"/>
      <p:bldP spid="773129" grpId="0" autoUpdateAnimBg="0"/>
      <p:bldP spid="773130" grpId="0" autoUpdateAnimBg="0"/>
      <p:bldP spid="77313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1676400" y="27305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例6.27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774147" name="Group 3"/>
          <p:cNvGrpSpPr/>
          <p:nvPr/>
        </p:nvGrpSpPr>
        <p:grpSpPr bwMode="auto">
          <a:xfrm>
            <a:off x="2667000" y="247650"/>
            <a:ext cx="7861300" cy="1169988"/>
            <a:chOff x="720" y="156"/>
            <a:chExt cx="4952" cy="737"/>
          </a:xfrm>
        </p:grpSpPr>
        <p:sp>
          <p:nvSpPr>
            <p:cNvPr id="78876" name="Text Box 4"/>
            <p:cNvSpPr txBox="1">
              <a:spLocks noChangeArrowheads="1"/>
            </p:cNvSpPr>
            <p:nvPr/>
          </p:nvSpPr>
          <p:spPr bwMode="auto">
            <a:xfrm>
              <a:off x="1101" y="156"/>
              <a:ext cx="345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200" i="1">
                  <a:latin typeface="Times New Roman" panose="02020603050405020304" pitchFamily="18" charset="0"/>
                </a:rPr>
                <a:t>x</a:t>
              </a:r>
              <a:r>
                <a:rPr lang="en-US" altLang="zh-CN" sz="3200">
                  <a:latin typeface="Times New Roman" panose="02020603050405020304" pitchFamily="18" charset="0"/>
                </a:rPr>
                <a:t> = 0.1101</a:t>
              </a:r>
              <a:r>
                <a:rPr lang="en-US" altLang="zh-CN" sz="3000"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r>
                <a:rPr lang="en-US" altLang="zh-CN" sz="9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3200">
                  <a:latin typeface="Times New Roman" panose="02020603050405020304" pitchFamily="18" charset="0"/>
                </a:rPr>
                <a:t>2</a:t>
              </a:r>
              <a:r>
                <a:rPr lang="zh-CN" altLang="en-US" baseline="45000">
                  <a:latin typeface="Times New Roman" panose="02020603050405020304" pitchFamily="18" charset="0"/>
                </a:rPr>
                <a:t>10</a:t>
              </a:r>
              <a:r>
                <a:rPr lang="zh-CN" altLang="en-US" sz="3200" baseline="45000">
                  <a:latin typeface="Times New Roman" panose="02020603050405020304" pitchFamily="18" charset="0"/>
                </a:rPr>
                <a:t> </a:t>
              </a:r>
              <a:r>
                <a:rPr lang="zh-CN" altLang="en-US" sz="3200">
                  <a:latin typeface="Times New Roman" panose="02020603050405020304" pitchFamily="18" charset="0"/>
                </a:rPr>
                <a:t>   </a:t>
              </a:r>
              <a:r>
                <a:rPr lang="en-US" altLang="zh-CN" sz="3200" i="1">
                  <a:latin typeface="Times New Roman" panose="02020603050405020304" pitchFamily="18" charset="0"/>
                </a:rPr>
                <a:t>y</a:t>
              </a:r>
              <a:r>
                <a:rPr lang="en-US" altLang="zh-CN" sz="3200">
                  <a:latin typeface="Times New Roman" panose="02020603050405020304" pitchFamily="18" charset="0"/>
                </a:rPr>
                <a:t> = 0.1011</a:t>
              </a:r>
              <a:r>
                <a:rPr lang="en-US" altLang="zh-CN" sz="3000">
                  <a:latin typeface="Times New Roman" panose="02020603050405020304" pitchFamily="18" charset="0"/>
                </a:rPr>
                <a:t>×</a:t>
              </a:r>
              <a:r>
                <a:rPr lang="en-US" altLang="zh-CN" sz="900">
                  <a:latin typeface="Times New Roman" panose="02020603050405020304" pitchFamily="18" charset="0"/>
                </a:rPr>
                <a:t> </a:t>
              </a:r>
              <a:r>
                <a:rPr lang="zh-CN" altLang="en-US" sz="3200">
                  <a:latin typeface="Times New Roman" panose="02020603050405020304" pitchFamily="18" charset="0"/>
                </a:rPr>
                <a:t>2</a:t>
              </a:r>
              <a:r>
                <a:rPr lang="zh-CN" altLang="en-US" baseline="45000">
                  <a:latin typeface="Times New Roman" panose="02020603050405020304" pitchFamily="18" charset="0"/>
                </a:rPr>
                <a:t>01</a:t>
              </a:r>
              <a:endParaRPr lang="en-US" altLang="zh-CN" baseline="45000">
                <a:latin typeface="Times New Roman" panose="02020603050405020304" pitchFamily="18" charset="0"/>
              </a:endParaRPr>
            </a:p>
          </p:txBody>
        </p:sp>
        <p:sp>
          <p:nvSpPr>
            <p:cNvPr id="78877" name="Text Box 5"/>
            <p:cNvSpPr txBox="1">
              <a:spLocks noChangeArrowheads="1"/>
            </p:cNvSpPr>
            <p:nvPr/>
          </p:nvSpPr>
          <p:spPr bwMode="auto">
            <a:xfrm>
              <a:off x="720" y="528"/>
              <a:ext cx="49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>
                  <a:latin typeface="Times New Roman" panose="02020603050405020304" pitchFamily="18" charset="0"/>
                </a:rPr>
                <a:t>求 </a:t>
              </a:r>
              <a:r>
                <a:rPr lang="en-US" altLang="zh-CN" sz="3200" i="1">
                  <a:latin typeface="Times New Roman" panose="02020603050405020304" pitchFamily="18" charset="0"/>
                </a:rPr>
                <a:t>x</a:t>
              </a:r>
              <a:r>
                <a:rPr lang="en-US" altLang="zh-CN" sz="1000" i="1">
                  <a:latin typeface="Times New Roman" panose="02020603050405020304" pitchFamily="18" charset="0"/>
                </a:rPr>
                <a:t> </a:t>
              </a:r>
              <a:r>
                <a:rPr lang="en-US" altLang="zh-CN" sz="3200">
                  <a:latin typeface="Times New Roman" panose="02020603050405020304" pitchFamily="18" charset="0"/>
                </a:rPr>
                <a:t>+</a:t>
              </a:r>
              <a:r>
                <a:rPr lang="en-US" altLang="zh-CN" sz="3200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>
                  <a:latin typeface="Times New Roman" panose="02020603050405020304" pitchFamily="18" charset="0"/>
                </a:rPr>
                <a:t>（</a:t>
              </a:r>
              <a:r>
                <a:rPr lang="zh-CN" altLang="en-US" sz="2400">
                  <a:latin typeface="Times New Roman" panose="02020603050405020304" pitchFamily="18" charset="0"/>
                </a:rPr>
                <a:t>除阶符、数符外，阶码取 3 位，尾数取 6 位）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74150" name="Text Box 6"/>
          <p:cNvSpPr txBox="1">
            <a:spLocks noChangeArrowheads="1"/>
          </p:cNvSpPr>
          <p:nvPr/>
        </p:nvSpPr>
        <p:spPr bwMode="auto">
          <a:xfrm>
            <a:off x="2422525" y="1374775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4151" name="Text Box 7"/>
          <p:cNvSpPr txBox="1">
            <a:spLocks noChangeArrowheads="1"/>
          </p:cNvSpPr>
          <p:nvPr/>
        </p:nvSpPr>
        <p:spPr bwMode="auto">
          <a:xfrm>
            <a:off x="3581400" y="1447800"/>
            <a:ext cx="3494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= 00, 010; 00. 110100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4152" name="Text Box 8"/>
          <p:cNvSpPr txBox="1">
            <a:spLocks noChangeArrowheads="1"/>
          </p:cNvSpPr>
          <p:nvPr/>
        </p:nvSpPr>
        <p:spPr bwMode="auto">
          <a:xfrm>
            <a:off x="3581400" y="1828800"/>
            <a:ext cx="3476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= 00, 001; 00. 101100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4153" name="Text Box 9"/>
          <p:cNvSpPr txBox="1">
            <a:spLocks noChangeArrowheads="1"/>
          </p:cNvSpPr>
          <p:nvPr/>
        </p:nvSpPr>
        <p:spPr bwMode="auto">
          <a:xfrm>
            <a:off x="2727325" y="2362200"/>
            <a:ext cx="2225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① 对阶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4154" name="Text Box 10"/>
          <p:cNvSpPr txBox="1">
            <a:spLocks noChangeArrowheads="1"/>
          </p:cNvSpPr>
          <p:nvPr/>
        </p:nvSpPr>
        <p:spPr bwMode="auto">
          <a:xfrm>
            <a:off x="2727325" y="4800600"/>
            <a:ext cx="2911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② 尾数求和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4155" name="Text Box 11"/>
          <p:cNvSpPr txBox="1">
            <a:spLocks noChangeArrowheads="1"/>
          </p:cNvSpPr>
          <p:nvPr/>
        </p:nvSpPr>
        <p:spPr bwMode="auto">
          <a:xfrm>
            <a:off x="3394075" y="2768600"/>
            <a:ext cx="3140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000">
                <a:latin typeface="Times New Roman" panose="02020603050405020304" pitchFamily="18" charset="0"/>
              </a:rPr>
              <a:t>Δ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= [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 [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4156" name="Text Box 12"/>
          <p:cNvSpPr txBox="1">
            <a:spLocks noChangeArrowheads="1"/>
          </p:cNvSpPr>
          <p:nvPr/>
        </p:nvSpPr>
        <p:spPr bwMode="auto">
          <a:xfrm>
            <a:off x="6019800" y="2768600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=  00, 010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4157" name="Text Box 13"/>
          <p:cNvSpPr txBox="1">
            <a:spLocks noChangeArrowheads="1"/>
          </p:cNvSpPr>
          <p:nvPr/>
        </p:nvSpPr>
        <p:spPr bwMode="auto">
          <a:xfrm>
            <a:off x="6273800" y="3048000"/>
            <a:ext cx="1571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11, 111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4158" name="Text Box 14"/>
          <p:cNvSpPr txBox="1">
            <a:spLocks noChangeArrowheads="1"/>
          </p:cNvSpPr>
          <p:nvPr/>
        </p:nvSpPr>
        <p:spPr bwMode="auto">
          <a:xfrm>
            <a:off x="6197600" y="34290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100, 001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4159" name="AutoShape 15"/>
          <p:cNvSpPr>
            <a:spLocks noChangeArrowheads="1"/>
          </p:cNvSpPr>
          <p:nvPr/>
        </p:nvSpPr>
        <p:spPr bwMode="auto">
          <a:xfrm>
            <a:off x="6197600" y="3495675"/>
            <a:ext cx="228600" cy="339725"/>
          </a:xfrm>
          <a:prstGeom prst="wedgeRoundRectCallout">
            <a:avLst>
              <a:gd name="adj1" fmla="val -162500"/>
              <a:gd name="adj2" fmla="val 5000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4160" name="Line 16"/>
          <p:cNvSpPr>
            <a:spLocks noChangeShapeType="1"/>
          </p:cNvSpPr>
          <p:nvPr/>
        </p:nvSpPr>
        <p:spPr bwMode="auto">
          <a:xfrm>
            <a:off x="6019800" y="3444875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4161" name="Text Box 17"/>
          <p:cNvSpPr txBox="1">
            <a:spLocks noChangeArrowheads="1"/>
          </p:cNvSpPr>
          <p:nvPr/>
        </p:nvSpPr>
        <p:spPr bwMode="auto">
          <a:xfrm>
            <a:off x="3413125" y="3810000"/>
            <a:ext cx="2378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阶差为 +1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74162" name="Group 18"/>
          <p:cNvGrpSpPr/>
          <p:nvPr/>
        </p:nvGrpSpPr>
        <p:grpSpPr bwMode="auto">
          <a:xfrm>
            <a:off x="5410200" y="3810000"/>
            <a:ext cx="3200400" cy="457200"/>
            <a:chOff x="2448" y="2400"/>
            <a:chExt cx="2016" cy="288"/>
          </a:xfrm>
        </p:grpSpPr>
        <p:sp>
          <p:nvSpPr>
            <p:cNvPr id="78874" name="Text Box 19"/>
            <p:cNvSpPr txBox="1">
              <a:spLocks noChangeArrowheads="1"/>
            </p:cNvSpPr>
            <p:nvPr/>
          </p:nvSpPr>
          <p:spPr bwMode="auto">
            <a:xfrm>
              <a:off x="2448" y="2400"/>
              <a:ext cx="20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∴ </a:t>
              </a: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y</a:t>
              </a:r>
              <a:r>
                <a:rPr lang="en-US" altLang="zh-CN" sz="2400">
                  <a:latin typeface="Times New Roman" panose="02020603050405020304" pitchFamily="18" charset="0"/>
                </a:rPr>
                <a:t>      1,   </a:t>
              </a:r>
              <a:r>
                <a:rPr lang="en-US" altLang="zh-CN" sz="2400" i="1">
                  <a:latin typeface="Times New Roman" panose="02020603050405020304" pitchFamily="18" charset="0"/>
                </a:rPr>
                <a:t>j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y</a:t>
              </a:r>
              <a:r>
                <a:rPr lang="en-US" altLang="zh-CN" sz="2400">
                  <a:latin typeface="Times New Roman" panose="02020603050405020304" pitchFamily="18" charset="0"/>
                </a:rPr>
                <a:t>+1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78875" name="Line 20"/>
            <p:cNvSpPr>
              <a:spLocks noChangeShapeType="1"/>
            </p:cNvSpPr>
            <p:nvPr/>
          </p:nvSpPr>
          <p:spPr bwMode="auto">
            <a:xfrm>
              <a:off x="2890" y="254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74165" name="Text Box 21"/>
          <p:cNvSpPr txBox="1">
            <a:spLocks noChangeArrowheads="1"/>
          </p:cNvSpPr>
          <p:nvPr/>
        </p:nvSpPr>
        <p:spPr bwMode="auto">
          <a:xfrm>
            <a:off x="3200400" y="4267200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∴ [</a:t>
            </a: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000" baseline="-150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= 00, 010; 00. 010110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4166" name="Text Box 22"/>
          <p:cNvSpPr txBox="1">
            <a:spLocks noChangeArrowheads="1"/>
          </p:cNvSpPr>
          <p:nvPr/>
        </p:nvSpPr>
        <p:spPr bwMode="auto">
          <a:xfrm>
            <a:off x="3429000" y="5257800"/>
            <a:ext cx="2554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  <a:r>
              <a:rPr lang="zh-CN" altLang="en-US" sz="10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= 00. 110100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4167" name="Text Box 23"/>
          <p:cNvSpPr txBox="1">
            <a:spLocks noChangeArrowheads="1"/>
          </p:cNvSpPr>
          <p:nvPr/>
        </p:nvSpPr>
        <p:spPr bwMode="auto">
          <a:xfrm>
            <a:off x="3429000" y="5680075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S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CN" altLang="en-US" sz="1800">
                <a:latin typeface="Times New Roman" panose="02020603050405020304" pitchFamily="18" charset="0"/>
              </a:rPr>
              <a:t>   </a:t>
            </a:r>
            <a:r>
              <a:rPr lang="zh-CN" altLang="en-US" sz="2400">
                <a:latin typeface="Times New Roman" panose="02020603050405020304" pitchFamily="18" charset="0"/>
              </a:rPr>
              <a:t>= 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00. 010110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4168" name="Text Box 24"/>
          <p:cNvSpPr txBox="1">
            <a:spLocks noChangeArrowheads="1"/>
          </p:cNvSpPr>
          <p:nvPr/>
        </p:nvSpPr>
        <p:spPr bwMode="auto">
          <a:xfrm>
            <a:off x="6384925" y="5729288"/>
            <a:ext cx="3673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对阶后的[</a:t>
            </a:r>
            <a:r>
              <a:rPr lang="en-US" altLang="zh-CN" sz="2000" i="1">
                <a:latin typeface="Times New Roman" panose="02020603050405020304" pitchFamily="18" charset="0"/>
              </a:rPr>
              <a:t>S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y</a:t>
            </a:r>
            <a:r>
              <a:rPr lang="en-US" altLang="zh-CN" sz="20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lang="en-US" altLang="zh-CN" sz="2000" baseline="-25000">
              <a:latin typeface="Times New Roman" panose="02020603050405020304" pitchFamily="18" charset="0"/>
            </a:endParaRPr>
          </a:p>
        </p:txBody>
      </p:sp>
      <p:sp>
        <p:nvSpPr>
          <p:cNvPr id="774169" name="Line 25"/>
          <p:cNvSpPr>
            <a:spLocks noChangeShapeType="1"/>
          </p:cNvSpPr>
          <p:nvPr/>
        </p:nvSpPr>
        <p:spPr bwMode="auto">
          <a:xfrm>
            <a:off x="2895600" y="6172200"/>
            <a:ext cx="3276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4170" name="Text Box 26"/>
          <p:cNvSpPr txBox="1">
            <a:spLocks noChangeArrowheads="1"/>
          </p:cNvSpPr>
          <p:nvPr/>
        </p:nvSpPr>
        <p:spPr bwMode="auto">
          <a:xfrm>
            <a:off x="4435475" y="6172200"/>
            <a:ext cx="155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01. 001010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4171" name="Text Box 27"/>
          <p:cNvSpPr txBox="1">
            <a:spLocks noChangeArrowheads="1"/>
          </p:cNvSpPr>
          <p:nvPr/>
        </p:nvSpPr>
        <p:spPr bwMode="auto">
          <a:xfrm>
            <a:off x="3117850" y="5705475"/>
            <a:ext cx="38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+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4172" name="Text Box 28"/>
          <p:cNvSpPr txBox="1">
            <a:spLocks noChangeArrowheads="1"/>
          </p:cNvSpPr>
          <p:nvPr/>
        </p:nvSpPr>
        <p:spPr bwMode="auto">
          <a:xfrm>
            <a:off x="6026150" y="3089275"/>
            <a:ext cx="357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4173" name="Text Box 29"/>
          <p:cNvSpPr txBox="1">
            <a:spLocks noChangeArrowheads="1"/>
          </p:cNvSpPr>
          <p:nvPr/>
        </p:nvSpPr>
        <p:spPr bwMode="auto">
          <a:xfrm>
            <a:off x="6324600" y="6172200"/>
            <a:ext cx="3505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尾数溢出需右规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7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7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74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1" dur="500"/>
                                        <p:tgtEl>
                                          <p:spTgt spid="77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7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77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7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7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7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77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77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774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77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774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500"/>
                                        <p:tgtEl>
                                          <p:spTgt spid="774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77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77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50" grpId="0" autoUpdateAnimBg="0"/>
      <p:bldP spid="774151" grpId="0" autoUpdateAnimBg="0"/>
      <p:bldP spid="774152" grpId="0" autoUpdateAnimBg="0"/>
      <p:bldP spid="774153" grpId="0" autoUpdateAnimBg="0"/>
      <p:bldP spid="774154" grpId="0" autoUpdateAnimBg="0"/>
      <p:bldP spid="774155" grpId="0" autoUpdateAnimBg="0"/>
      <p:bldP spid="774156" grpId="0" autoUpdateAnimBg="0"/>
      <p:bldP spid="774157" grpId="0" autoUpdateAnimBg="0"/>
      <p:bldP spid="774158" grpId="0" autoUpdateAnimBg="0"/>
      <p:bldP spid="774159" grpId="0" animBg="1" autoUpdateAnimBg="0"/>
      <p:bldP spid="774161" grpId="0" autoUpdateAnimBg="0"/>
      <p:bldP spid="774165" grpId="0" autoUpdateAnimBg="0"/>
      <p:bldP spid="774166" grpId="0" autoUpdateAnimBg="0"/>
      <p:bldP spid="774167" grpId="0" autoUpdateAnimBg="0"/>
      <p:bldP spid="774168" grpId="0" autoUpdateAnimBg="0"/>
      <p:bldP spid="774170" grpId="0" autoUpdateAnimBg="0"/>
      <p:bldP spid="774171" grpId="0" autoUpdateAnimBg="0"/>
      <p:bldP spid="774172" grpId="0" autoUpdateAnimBg="0"/>
      <p:bldP spid="774173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2133600" y="279400"/>
            <a:ext cx="2514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③ 右规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75171" name="Text Box 3"/>
          <p:cNvSpPr txBox="1">
            <a:spLocks noChangeArrowheads="1"/>
          </p:cNvSpPr>
          <p:nvPr/>
        </p:nvSpPr>
        <p:spPr bwMode="auto">
          <a:xfrm>
            <a:off x="2498725" y="990600"/>
            <a:ext cx="6264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sz="900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= 00, 010; 01. 001010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5172" name="Text Box 4"/>
          <p:cNvSpPr txBox="1">
            <a:spLocks noChangeArrowheads="1"/>
          </p:cNvSpPr>
          <p:nvPr/>
        </p:nvSpPr>
        <p:spPr bwMode="auto">
          <a:xfrm>
            <a:off x="2514600" y="2300288"/>
            <a:ext cx="5791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sz="900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= 00, 011; 00. 100101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5173" name="Text Box 5"/>
          <p:cNvSpPr txBox="1">
            <a:spLocks noChangeArrowheads="1"/>
          </p:cNvSpPr>
          <p:nvPr/>
        </p:nvSpPr>
        <p:spPr bwMode="auto">
          <a:xfrm>
            <a:off x="2270125" y="1644650"/>
            <a:ext cx="4054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右规后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3641725" y="3016250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5175" name="Text Box 7"/>
          <p:cNvSpPr txBox="1">
            <a:spLocks noChangeArrowheads="1"/>
          </p:cNvSpPr>
          <p:nvPr/>
        </p:nvSpPr>
        <p:spPr bwMode="auto">
          <a:xfrm>
            <a:off x="2514600" y="2947988"/>
            <a:ext cx="58674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∴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sz="900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+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 = 0. 100101</a:t>
            </a:r>
            <a:r>
              <a:rPr lang="en-US" altLang="zh-CN" sz="900">
                <a:latin typeface="Times New Roman" panose="02020603050405020304" pitchFamily="18" charset="0"/>
              </a:rPr>
              <a:t> 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900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  <a:r>
              <a:rPr lang="en-US" altLang="zh-CN" sz="2400" baseline="45000">
                <a:latin typeface="Times New Roman" panose="02020603050405020304" pitchFamily="18" charset="0"/>
              </a:rPr>
              <a:t>11</a:t>
            </a:r>
            <a:endParaRPr lang="en-US" altLang="zh-CN" sz="2400" baseline="45000">
              <a:latin typeface="Times New Roman" panose="02020603050405020304" pitchFamily="18" charset="0"/>
            </a:endParaRPr>
          </a:p>
        </p:txBody>
      </p:sp>
      <p:sp>
        <p:nvSpPr>
          <p:cNvPr id="775176" name="Text Box 8"/>
          <p:cNvSpPr txBox="1">
            <a:spLocks noChangeArrowheads="1"/>
          </p:cNvSpPr>
          <p:nvPr/>
        </p:nvSpPr>
        <p:spPr bwMode="auto">
          <a:xfrm>
            <a:off x="1889125" y="3482975"/>
            <a:ext cx="3216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4. 舍入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75177" name="Text Box 9"/>
          <p:cNvSpPr txBox="1">
            <a:spLocks noChangeArrowheads="1"/>
          </p:cNvSpPr>
          <p:nvPr/>
        </p:nvSpPr>
        <p:spPr bwMode="auto">
          <a:xfrm>
            <a:off x="2362200" y="4078288"/>
            <a:ext cx="8305800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在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对阶 </a:t>
            </a:r>
            <a:r>
              <a:rPr lang="zh-CN" altLang="en-US">
                <a:latin typeface="Times New Roman" panose="02020603050405020304" pitchFamily="18" charset="0"/>
              </a:rPr>
              <a:t>和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右规 </a:t>
            </a:r>
            <a:r>
              <a:rPr lang="zh-CN" altLang="en-US">
                <a:latin typeface="Times New Roman" panose="02020603050405020304" pitchFamily="18" charset="0"/>
              </a:rPr>
              <a:t>过程中，可能出现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尾数末位丢失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引起误差，需考虑舍入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5178" name="Text Box 10"/>
          <p:cNvSpPr txBox="1">
            <a:spLocks noChangeArrowheads="1"/>
          </p:cNvSpPr>
          <p:nvPr/>
        </p:nvSpPr>
        <p:spPr bwMode="auto">
          <a:xfrm>
            <a:off x="2270125" y="5400675"/>
            <a:ext cx="3216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(1)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0 </a:t>
            </a:r>
            <a:r>
              <a:rPr lang="zh-CN" altLang="en-US">
                <a:latin typeface="Times New Roman" panose="02020603050405020304" pitchFamily="18" charset="0"/>
              </a:rPr>
              <a:t>舍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1 </a:t>
            </a:r>
            <a:r>
              <a:rPr lang="zh-CN" altLang="en-US">
                <a:latin typeface="Times New Roman" panose="02020603050405020304" pitchFamily="18" charset="0"/>
              </a:rPr>
              <a:t>入法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5179" name="Text Box 11"/>
          <p:cNvSpPr txBox="1">
            <a:spLocks noChangeArrowheads="1"/>
          </p:cNvSpPr>
          <p:nvPr/>
        </p:nvSpPr>
        <p:spPr bwMode="auto">
          <a:xfrm>
            <a:off x="2270125" y="6086475"/>
            <a:ext cx="359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(2)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恒置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“1” </a:t>
            </a:r>
            <a:r>
              <a:rPr lang="zh-CN" altLang="en-US">
                <a:latin typeface="Times New Roman" panose="02020603050405020304" pitchFamily="18" charset="0"/>
              </a:rPr>
              <a:t>法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7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7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171" grpId="0" autoUpdateAnimBg="0"/>
      <p:bldP spid="775172" grpId="0" autoUpdateAnimBg="0"/>
      <p:bldP spid="775173" grpId="0" autoUpdateAnimBg="0"/>
      <p:bldP spid="775175" grpId="0" autoUpdateAnimBg="0"/>
      <p:bldP spid="775176" grpId="0" autoUpdateAnimBg="0"/>
      <p:bldP spid="775177" grpId="0" autoUpdateAnimBg="0"/>
      <p:bldP spid="775178" grpId="0" autoUpdateAnimBg="0"/>
      <p:bldP spid="775179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2"/>
          <p:cNvSpPr txBox="1">
            <a:spLocks noChangeArrowheads="1"/>
          </p:cNvSpPr>
          <p:nvPr/>
        </p:nvSpPr>
        <p:spPr bwMode="auto">
          <a:xfrm>
            <a:off x="1676400" y="460375"/>
            <a:ext cx="15573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例 6.28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grpSp>
        <p:nvGrpSpPr>
          <p:cNvPr id="776195" name="Group 3"/>
          <p:cNvGrpSpPr/>
          <p:nvPr/>
        </p:nvGrpSpPr>
        <p:grpSpPr bwMode="auto">
          <a:xfrm>
            <a:off x="2971800" y="457200"/>
            <a:ext cx="7631113" cy="1204913"/>
            <a:chOff x="912" y="288"/>
            <a:chExt cx="4807" cy="759"/>
          </a:xfrm>
        </p:grpSpPr>
        <p:sp>
          <p:nvSpPr>
            <p:cNvPr id="80917" name="Text Box 4"/>
            <p:cNvSpPr txBox="1">
              <a:spLocks noChangeArrowheads="1"/>
            </p:cNvSpPr>
            <p:nvPr/>
          </p:nvSpPr>
          <p:spPr bwMode="auto">
            <a:xfrm>
              <a:off x="1226" y="352"/>
              <a:ext cx="272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</a:rPr>
                <a:t> = (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—</a:t>
              </a:r>
              <a:r>
                <a:rPr lang="en-US" altLang="zh-CN">
                  <a:latin typeface="Times New Roman" panose="02020603050405020304" pitchFamily="18" charset="0"/>
                </a:rPr>
                <a:t>)</a:t>
              </a:r>
              <a:r>
                <a:rPr lang="zh-CN" altLang="en-US" sz="2400">
                  <a:latin typeface="Times New Roman" panose="02020603050405020304" pitchFamily="18" charset="0"/>
                </a:rPr>
                <a:t>×</a:t>
              </a:r>
              <a:r>
                <a:rPr lang="zh-CN" altLang="en-US">
                  <a:latin typeface="Times New Roman" panose="02020603050405020304" pitchFamily="18" charset="0"/>
                </a:rPr>
                <a:t>2</a:t>
              </a:r>
              <a:r>
                <a:rPr lang="zh-CN" altLang="en-US" baseline="45000">
                  <a:latin typeface="Times New Roman" panose="02020603050405020304" pitchFamily="18" charset="0"/>
                </a:rPr>
                <a:t>-5   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>
                  <a:latin typeface="Times New Roman" panose="02020603050405020304" pitchFamily="18" charset="0"/>
                </a:rPr>
                <a:t> = (—) </a:t>
              </a:r>
              <a:r>
                <a:rPr lang="zh-CN" altLang="en-US" sz="2400">
                  <a:latin typeface="Times New Roman" panose="02020603050405020304" pitchFamily="18" charset="0"/>
                </a:rPr>
                <a:t>×</a:t>
              </a:r>
              <a:r>
                <a:rPr lang="zh-CN" altLang="en-US">
                  <a:latin typeface="Times New Roman" panose="02020603050405020304" pitchFamily="18" charset="0"/>
                </a:rPr>
                <a:t>2</a:t>
              </a:r>
              <a:r>
                <a:rPr lang="zh-CN" altLang="en-US" baseline="45000">
                  <a:latin typeface="Times New Roman" panose="02020603050405020304" pitchFamily="18" charset="0"/>
                </a:rPr>
                <a:t>-4 </a:t>
              </a:r>
              <a:endParaRPr lang="en-US" altLang="zh-CN" baseline="45000">
                <a:latin typeface="Times New Roman" panose="02020603050405020304" pitchFamily="18" charset="0"/>
              </a:endParaRPr>
            </a:p>
          </p:txBody>
        </p:sp>
        <p:sp>
          <p:nvSpPr>
            <p:cNvPr id="80918" name="Text Box 5"/>
            <p:cNvSpPr txBox="1">
              <a:spLocks noChangeArrowheads="1"/>
            </p:cNvSpPr>
            <p:nvPr/>
          </p:nvSpPr>
          <p:spPr bwMode="auto">
            <a:xfrm>
              <a:off x="1862" y="2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5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0919" name="Text Box 6"/>
            <p:cNvSpPr txBox="1">
              <a:spLocks noChangeArrowheads="1"/>
            </p:cNvSpPr>
            <p:nvPr/>
          </p:nvSpPr>
          <p:spPr bwMode="auto">
            <a:xfrm>
              <a:off x="1862" y="50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8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0920" name="Text Box 7"/>
            <p:cNvSpPr txBox="1">
              <a:spLocks noChangeArrowheads="1"/>
            </p:cNvSpPr>
            <p:nvPr/>
          </p:nvSpPr>
          <p:spPr bwMode="auto">
            <a:xfrm>
              <a:off x="3216" y="2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7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0921" name="Text Box 8"/>
            <p:cNvSpPr txBox="1">
              <a:spLocks noChangeArrowheads="1"/>
            </p:cNvSpPr>
            <p:nvPr/>
          </p:nvSpPr>
          <p:spPr bwMode="auto">
            <a:xfrm>
              <a:off x="3216" y="50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8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0922" name="Text Box 9"/>
            <p:cNvSpPr txBox="1">
              <a:spLocks noChangeArrowheads="1"/>
            </p:cNvSpPr>
            <p:nvPr/>
          </p:nvSpPr>
          <p:spPr bwMode="auto">
            <a:xfrm>
              <a:off x="912" y="720"/>
              <a:ext cx="480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求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sz="900" i="1">
                  <a:latin typeface="Times New Roman" panose="02020603050405020304" pitchFamily="18" charset="0"/>
                </a:rPr>
                <a:t> 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altLang="zh-CN" sz="9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r>
                <a:rPr lang="en-US" altLang="zh-CN" sz="2400">
                  <a:latin typeface="Times New Roman" panose="02020603050405020304" pitchFamily="18" charset="0"/>
                </a:rPr>
                <a:t>（</a:t>
              </a:r>
              <a:r>
                <a:rPr lang="zh-CN" altLang="en-US" sz="2400">
                  <a:latin typeface="Times New Roman" panose="02020603050405020304" pitchFamily="18" charset="0"/>
                </a:rPr>
                <a:t>除阶符、数符外，阶码取 3 位，尾数取 6 位）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776202" name="Text Box 10"/>
          <p:cNvSpPr txBox="1">
            <a:spLocks noChangeArrowheads="1"/>
          </p:cNvSpPr>
          <p:nvPr/>
        </p:nvSpPr>
        <p:spPr bwMode="auto">
          <a:xfrm>
            <a:off x="2041525" y="17668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解：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6203" name="Text Box 11"/>
          <p:cNvSpPr txBox="1">
            <a:spLocks noChangeArrowheads="1"/>
          </p:cNvSpPr>
          <p:nvPr/>
        </p:nvSpPr>
        <p:spPr bwMode="auto">
          <a:xfrm>
            <a:off x="2819400" y="2438400"/>
            <a:ext cx="3494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= 11, 011; 11. 011000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6204" name="Text Box 12"/>
          <p:cNvSpPr txBox="1">
            <a:spLocks noChangeArrowheads="1"/>
          </p:cNvSpPr>
          <p:nvPr/>
        </p:nvSpPr>
        <p:spPr bwMode="auto">
          <a:xfrm>
            <a:off x="6629400" y="2438400"/>
            <a:ext cx="3476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= 11, 100; 00. 111000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6205" name="Text Box 13"/>
          <p:cNvSpPr txBox="1">
            <a:spLocks noChangeArrowheads="1"/>
          </p:cNvSpPr>
          <p:nvPr/>
        </p:nvSpPr>
        <p:spPr bwMode="auto">
          <a:xfrm>
            <a:off x="2727325" y="3073400"/>
            <a:ext cx="1179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① 对阶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6206" name="Text Box 14"/>
          <p:cNvSpPr txBox="1">
            <a:spLocks noChangeArrowheads="1"/>
          </p:cNvSpPr>
          <p:nvPr/>
        </p:nvSpPr>
        <p:spPr bwMode="auto">
          <a:xfrm>
            <a:off x="3336925" y="3632200"/>
            <a:ext cx="2693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[</a:t>
            </a:r>
            <a:r>
              <a:rPr lang="en-US" altLang="zh-CN" sz="2000">
                <a:latin typeface="Times New Roman" panose="02020603050405020304" pitchFamily="18" charset="0"/>
              </a:rPr>
              <a:t>Δ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= [</a:t>
            </a:r>
            <a:r>
              <a:rPr lang="en-US" altLang="zh-CN" sz="2400" i="1">
                <a:latin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 [</a:t>
            </a: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0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>
                <a:latin typeface="Times New Roman" panose="02020603050405020304" pitchFamily="18" charset="0"/>
              </a:rPr>
              <a:t>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6207" name="Text Box 15"/>
          <p:cNvSpPr txBox="1">
            <a:spLocks noChangeArrowheads="1"/>
          </p:cNvSpPr>
          <p:nvPr/>
        </p:nvSpPr>
        <p:spPr bwMode="auto">
          <a:xfrm>
            <a:off x="5959475" y="3667125"/>
            <a:ext cx="1889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=  11, 011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6208" name="Text Box 16"/>
          <p:cNvSpPr txBox="1">
            <a:spLocks noChangeArrowheads="1"/>
          </p:cNvSpPr>
          <p:nvPr/>
        </p:nvSpPr>
        <p:spPr bwMode="auto">
          <a:xfrm>
            <a:off x="6192838" y="4038600"/>
            <a:ext cx="2189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00, 100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6209" name="Text Box 17"/>
          <p:cNvSpPr txBox="1">
            <a:spLocks noChangeArrowheads="1"/>
          </p:cNvSpPr>
          <p:nvPr/>
        </p:nvSpPr>
        <p:spPr bwMode="auto">
          <a:xfrm>
            <a:off x="6208713" y="4495800"/>
            <a:ext cx="163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 11, 111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776210" name="Line 18"/>
          <p:cNvSpPr>
            <a:spLocks noChangeShapeType="1"/>
          </p:cNvSpPr>
          <p:nvPr/>
        </p:nvSpPr>
        <p:spPr bwMode="auto">
          <a:xfrm>
            <a:off x="5943600" y="44958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6211" name="Text Box 19"/>
          <p:cNvSpPr txBox="1">
            <a:spLocks noChangeArrowheads="1"/>
          </p:cNvSpPr>
          <p:nvPr/>
        </p:nvSpPr>
        <p:spPr bwMode="auto">
          <a:xfrm>
            <a:off x="3413125" y="5181600"/>
            <a:ext cx="1484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阶差为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400">
                <a:latin typeface="Times New Roman" panose="02020603050405020304" pitchFamily="18" charset="0"/>
              </a:rPr>
              <a:t>1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76212" name="Group 20"/>
          <p:cNvGrpSpPr/>
          <p:nvPr/>
        </p:nvGrpSpPr>
        <p:grpSpPr bwMode="auto">
          <a:xfrm>
            <a:off x="5470525" y="5181600"/>
            <a:ext cx="2379663" cy="457200"/>
            <a:chOff x="2486" y="3072"/>
            <a:chExt cx="1499" cy="288"/>
          </a:xfrm>
        </p:grpSpPr>
        <p:sp>
          <p:nvSpPr>
            <p:cNvPr id="80915" name="Text Box 21"/>
            <p:cNvSpPr txBox="1">
              <a:spLocks noChangeArrowheads="1"/>
            </p:cNvSpPr>
            <p:nvPr/>
          </p:nvSpPr>
          <p:spPr bwMode="auto">
            <a:xfrm>
              <a:off x="2486" y="3072"/>
              <a:ext cx="14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∴ </a:t>
              </a: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latin typeface="Times New Roman" panose="02020603050405020304" pitchFamily="18" charset="0"/>
                </a:rPr>
                <a:t>      1,    </a:t>
              </a:r>
              <a:r>
                <a:rPr lang="en-US" altLang="zh-CN" sz="2400" i="1">
                  <a:latin typeface="Times New Roman" panose="02020603050405020304" pitchFamily="18" charset="0"/>
                </a:rPr>
                <a:t>j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x</a:t>
              </a:r>
              <a:r>
                <a:rPr lang="en-US" altLang="zh-CN" sz="2400">
                  <a:latin typeface="Times New Roman" panose="02020603050405020304" pitchFamily="18" charset="0"/>
                </a:rPr>
                <a:t>+</a:t>
              </a:r>
              <a:r>
                <a:rPr lang="en-US" altLang="zh-CN" sz="1200">
                  <a:latin typeface="Times New Roman" panose="02020603050405020304" pitchFamily="18" charset="0"/>
                </a:rPr>
                <a:t> 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80916" name="Line 22"/>
            <p:cNvSpPr>
              <a:spLocks noChangeShapeType="1"/>
            </p:cNvSpPr>
            <p:nvPr/>
          </p:nvSpPr>
          <p:spPr bwMode="auto">
            <a:xfrm>
              <a:off x="2928" y="3216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776215" name="Text Box 23"/>
          <p:cNvSpPr txBox="1">
            <a:spLocks noChangeArrowheads="1"/>
          </p:cNvSpPr>
          <p:nvPr/>
        </p:nvSpPr>
        <p:spPr bwMode="auto">
          <a:xfrm>
            <a:off x="3044825" y="5943600"/>
            <a:ext cx="3922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∴ [</a:t>
            </a:r>
            <a:r>
              <a:rPr lang="en-US" altLang="zh-CN" sz="2400" i="1">
                <a:solidFill>
                  <a:schemeClr val="fol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000" baseline="-25000">
                <a:solidFill>
                  <a:schemeClr val="folHlink"/>
                </a:solidFill>
                <a:latin typeface="Times New Roman" panose="02020603050405020304" pitchFamily="18" charset="0"/>
              </a:rPr>
              <a:t>补</a:t>
            </a:r>
            <a:r>
              <a:rPr lang="zh-CN" altLang="en-US" sz="2000" baseline="-2500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= 11, 100; 11. 101100</a:t>
            </a:r>
            <a:endParaRPr lang="zh-CN" altLang="en-US" sz="2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6216" name="Text Box 24"/>
          <p:cNvSpPr txBox="1">
            <a:spLocks noChangeArrowheads="1"/>
          </p:cNvSpPr>
          <p:nvPr/>
        </p:nvSpPr>
        <p:spPr bwMode="auto">
          <a:xfrm>
            <a:off x="3124200" y="1819275"/>
            <a:ext cx="3097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= (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 0.101000)</a:t>
            </a:r>
            <a:r>
              <a:rPr lang="zh-CN" altLang="en-US" sz="2400">
                <a:latin typeface="Times New Roman" panose="02020603050405020304" pitchFamily="18" charset="0"/>
              </a:rPr>
              <a:t>×2</a:t>
            </a:r>
            <a:r>
              <a:rPr lang="zh-CN" altLang="en-US" sz="2000" baseline="45000">
                <a:latin typeface="Times New Roman" panose="02020603050405020304" pitchFamily="18" charset="0"/>
              </a:rPr>
              <a:t>-101</a:t>
            </a:r>
            <a:endParaRPr lang="en-US" altLang="zh-CN" sz="2000" baseline="45000">
              <a:latin typeface="Times New Roman" panose="02020603050405020304" pitchFamily="18" charset="0"/>
            </a:endParaRPr>
          </a:p>
        </p:txBody>
      </p:sp>
      <p:sp>
        <p:nvSpPr>
          <p:cNvPr id="776217" name="Text Box 25"/>
          <p:cNvSpPr txBox="1">
            <a:spLocks noChangeArrowheads="1"/>
          </p:cNvSpPr>
          <p:nvPr/>
        </p:nvSpPr>
        <p:spPr bwMode="auto">
          <a:xfrm>
            <a:off x="6961188" y="1828800"/>
            <a:ext cx="29225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 = (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0.111000)</a:t>
            </a:r>
            <a:r>
              <a:rPr lang="zh-CN" altLang="en-US" sz="2400">
                <a:latin typeface="Times New Roman" panose="02020603050405020304" pitchFamily="18" charset="0"/>
              </a:rPr>
              <a:t>×2</a:t>
            </a:r>
            <a:r>
              <a:rPr lang="zh-CN" altLang="en-US" sz="2000" baseline="45000">
                <a:latin typeface="Times New Roman" panose="02020603050405020304" pitchFamily="18" charset="0"/>
              </a:rPr>
              <a:t>-100</a:t>
            </a:r>
            <a:endParaRPr lang="en-US" altLang="zh-CN" sz="2000" baseline="45000">
              <a:latin typeface="Times New Roman" panose="02020603050405020304" pitchFamily="18" charset="0"/>
            </a:endParaRPr>
          </a:p>
        </p:txBody>
      </p:sp>
      <p:sp>
        <p:nvSpPr>
          <p:cNvPr id="776218" name="Text Box 26"/>
          <p:cNvSpPr txBox="1">
            <a:spLocks noChangeArrowheads="1"/>
          </p:cNvSpPr>
          <p:nvPr/>
        </p:nvSpPr>
        <p:spPr bwMode="auto">
          <a:xfrm>
            <a:off x="5943600" y="4038600"/>
            <a:ext cx="357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+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7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7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76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76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7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77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76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76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7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77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6202" grpId="0" autoUpdateAnimBg="0"/>
      <p:bldP spid="776203" grpId="0" autoUpdateAnimBg="0"/>
      <p:bldP spid="776204" grpId="0" autoUpdateAnimBg="0"/>
      <p:bldP spid="776205" grpId="0" autoUpdateAnimBg="0"/>
      <p:bldP spid="776206" grpId="0" autoUpdateAnimBg="0"/>
      <p:bldP spid="776207" grpId="0" autoUpdateAnimBg="0"/>
      <p:bldP spid="776208" grpId="0" autoUpdateAnimBg="0"/>
      <p:bldP spid="776209" grpId="0" autoUpdateAnimBg="0"/>
      <p:bldP spid="776211" grpId="0" autoUpdateAnimBg="0"/>
      <p:bldP spid="776215" grpId="0" autoUpdateAnimBg="0"/>
      <p:bldP spid="776216" grpId="0" autoUpdateAnimBg="0"/>
      <p:bldP spid="776217" grpId="0" autoUpdateAnimBg="0"/>
      <p:bldP spid="776218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/>
          <p:cNvSpPr txBox="1">
            <a:spLocks noChangeArrowheads="1"/>
          </p:cNvSpPr>
          <p:nvPr/>
        </p:nvSpPr>
        <p:spPr bwMode="auto">
          <a:xfrm>
            <a:off x="1909763" y="236538"/>
            <a:ext cx="37544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② 尾数求和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77219" name="Text Box 3"/>
          <p:cNvSpPr txBox="1">
            <a:spLocks noChangeArrowheads="1"/>
          </p:cNvSpPr>
          <p:nvPr/>
        </p:nvSpPr>
        <p:spPr bwMode="auto">
          <a:xfrm>
            <a:off x="3433763" y="868363"/>
            <a:ext cx="3030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 sz="2400" baseline="-25000"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r>
              <a:rPr lang="zh-CN" altLang="en-US">
                <a:latin typeface="Times New Roman" panose="02020603050405020304" pitchFamily="18" charset="0"/>
              </a:rPr>
              <a:t> =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11. 101100</a:t>
            </a:r>
            <a:endParaRPr lang="zh-CN" altLang="en-US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7220" name="Text Box 4"/>
          <p:cNvSpPr txBox="1">
            <a:spLocks noChangeArrowheads="1"/>
          </p:cNvSpPr>
          <p:nvPr/>
        </p:nvSpPr>
        <p:spPr bwMode="auto">
          <a:xfrm>
            <a:off x="3338513" y="1349375"/>
            <a:ext cx="3089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= 11. 001000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7221" name="Line 5"/>
          <p:cNvSpPr>
            <a:spLocks noChangeShapeType="1"/>
          </p:cNvSpPr>
          <p:nvPr/>
        </p:nvSpPr>
        <p:spPr bwMode="auto">
          <a:xfrm>
            <a:off x="2976563" y="1858963"/>
            <a:ext cx="3403600" cy="9525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7222" name="Text Box 6"/>
          <p:cNvSpPr txBox="1">
            <a:spLocks noChangeArrowheads="1"/>
          </p:cNvSpPr>
          <p:nvPr/>
        </p:nvSpPr>
        <p:spPr bwMode="auto">
          <a:xfrm>
            <a:off x="2935288" y="1401763"/>
            <a:ext cx="387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+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7223" name="Text Box 7"/>
          <p:cNvSpPr txBox="1">
            <a:spLocks noChangeArrowheads="1"/>
          </p:cNvSpPr>
          <p:nvPr/>
        </p:nvSpPr>
        <p:spPr bwMode="auto">
          <a:xfrm>
            <a:off x="4481513" y="1858963"/>
            <a:ext cx="2095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110. 110100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7224" name="Text Box 8"/>
          <p:cNvSpPr txBox="1">
            <a:spLocks noChangeArrowheads="1"/>
          </p:cNvSpPr>
          <p:nvPr/>
        </p:nvSpPr>
        <p:spPr bwMode="auto">
          <a:xfrm>
            <a:off x="1909763" y="2316163"/>
            <a:ext cx="28908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③ 右规</a:t>
            </a:r>
            <a:endParaRPr lang="zh-CN" altLang="en-US" sz="3200">
              <a:latin typeface="Times New Roman" panose="02020603050405020304" pitchFamily="18" charset="0"/>
            </a:endParaRPr>
          </a:p>
        </p:txBody>
      </p:sp>
      <p:sp>
        <p:nvSpPr>
          <p:cNvPr id="777225" name="Text Box 9"/>
          <p:cNvSpPr txBox="1">
            <a:spLocks noChangeArrowheads="1"/>
          </p:cNvSpPr>
          <p:nvPr/>
        </p:nvSpPr>
        <p:spPr bwMode="auto">
          <a:xfrm>
            <a:off x="3221038" y="2925763"/>
            <a:ext cx="4573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zh-CN" altLang="en-US">
                <a:latin typeface="Times New Roman" panose="02020603050405020304" pitchFamily="18" charset="0"/>
              </a:rPr>
              <a:t>–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= 11, 100; 10. 110100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7226" name="Text Box 10"/>
          <p:cNvSpPr txBox="1">
            <a:spLocks noChangeArrowheads="1"/>
          </p:cNvSpPr>
          <p:nvPr/>
        </p:nvSpPr>
        <p:spPr bwMode="auto">
          <a:xfrm>
            <a:off x="3221038" y="4144963"/>
            <a:ext cx="45354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x </a:t>
            </a:r>
            <a:r>
              <a:rPr lang="zh-CN" altLang="en-US">
                <a:latin typeface="Times New Roman" panose="02020603050405020304" pitchFamily="18" charset="0"/>
              </a:rPr>
              <a:t>–</a:t>
            </a:r>
            <a:r>
              <a:rPr lang="en-US" altLang="zh-CN" sz="160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 sz="2400" baseline="-25000">
                <a:latin typeface="Times New Roman" panose="02020603050405020304" pitchFamily="18" charset="0"/>
              </a:rPr>
              <a:t>补</a:t>
            </a:r>
            <a:r>
              <a:rPr lang="zh-CN" altLang="en-US">
                <a:latin typeface="Times New Roman" panose="02020603050405020304" pitchFamily="18" charset="0"/>
              </a:rPr>
              <a:t> = 11, 101; 11. 011010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7227" name="Text Box 11"/>
          <p:cNvSpPr txBox="1">
            <a:spLocks noChangeArrowheads="1"/>
          </p:cNvSpPr>
          <p:nvPr/>
        </p:nvSpPr>
        <p:spPr bwMode="auto">
          <a:xfrm>
            <a:off x="2732088" y="3535363"/>
            <a:ext cx="1255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右规后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7228" name="Text Box 12"/>
          <p:cNvSpPr txBox="1">
            <a:spLocks noChangeArrowheads="1"/>
          </p:cNvSpPr>
          <p:nvPr/>
        </p:nvSpPr>
        <p:spPr bwMode="auto">
          <a:xfrm>
            <a:off x="3186113" y="4906963"/>
            <a:ext cx="4206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∴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 = (</a:t>
            </a:r>
            <a:r>
              <a:rPr lang="zh-CN" altLang="en-US">
                <a:latin typeface="Times New Roman" panose="02020603050405020304" pitchFamily="18" charset="0"/>
              </a:rPr>
              <a:t>–0.100110)</a:t>
            </a:r>
            <a:r>
              <a:rPr lang="zh-CN" altLang="en-US" sz="2400">
                <a:latin typeface="Times New Roman" panose="02020603050405020304" pitchFamily="18" charset="0"/>
              </a:rPr>
              <a:t>×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zh-CN" altLang="en-US" sz="2400" baseline="45000">
                <a:latin typeface="Times New Roman" panose="02020603050405020304" pitchFamily="18" charset="0"/>
              </a:rPr>
              <a:t>-11</a:t>
            </a:r>
            <a:endParaRPr lang="en-US" altLang="zh-CN" sz="2400" baseline="45000">
              <a:latin typeface="Times New Roman" panose="02020603050405020304" pitchFamily="18" charset="0"/>
            </a:endParaRPr>
          </a:p>
        </p:txBody>
      </p:sp>
      <p:grpSp>
        <p:nvGrpSpPr>
          <p:cNvPr id="777229" name="Group 13"/>
          <p:cNvGrpSpPr/>
          <p:nvPr/>
        </p:nvGrpSpPr>
        <p:grpSpPr bwMode="auto">
          <a:xfrm>
            <a:off x="4440238" y="5516563"/>
            <a:ext cx="1930400" cy="762000"/>
            <a:chOff x="1839" y="3648"/>
            <a:chExt cx="1216" cy="480"/>
          </a:xfrm>
        </p:grpSpPr>
        <p:sp>
          <p:nvSpPr>
            <p:cNvPr id="81935" name="Text Box 14"/>
            <p:cNvSpPr txBox="1">
              <a:spLocks noChangeArrowheads="1"/>
            </p:cNvSpPr>
            <p:nvPr/>
          </p:nvSpPr>
          <p:spPr bwMode="auto">
            <a:xfrm>
              <a:off x="1839" y="3705"/>
              <a:ext cx="121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 (</a:t>
              </a: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—)</a:t>
              </a:r>
              <a:r>
                <a:rPr lang="zh-CN" altLang="en-US" sz="2400">
                  <a:latin typeface="Times New Roman" panose="02020603050405020304" pitchFamily="18" charset="0"/>
                </a:rPr>
                <a:t>×</a:t>
              </a:r>
              <a:r>
                <a:rPr lang="zh-CN" altLang="en-US">
                  <a:latin typeface="Times New Roman" panose="02020603050405020304" pitchFamily="18" charset="0"/>
                </a:rPr>
                <a:t>2</a:t>
              </a:r>
              <a:r>
                <a:rPr lang="zh-CN" altLang="en-US" baseline="45000">
                  <a:latin typeface="Times New Roman" panose="02020603050405020304" pitchFamily="18" charset="0"/>
                </a:rPr>
                <a:t>-3</a:t>
              </a:r>
              <a:endParaRPr lang="zh-CN" altLang="en-US" baseline="45000">
                <a:latin typeface="Times New Roman" panose="02020603050405020304" pitchFamily="18" charset="0"/>
              </a:endParaRPr>
            </a:p>
          </p:txBody>
        </p:sp>
        <p:sp>
          <p:nvSpPr>
            <p:cNvPr id="81936" name="Text Box 15"/>
            <p:cNvSpPr txBox="1">
              <a:spLocks noChangeArrowheads="1"/>
            </p:cNvSpPr>
            <p:nvPr/>
          </p:nvSpPr>
          <p:spPr bwMode="auto">
            <a:xfrm>
              <a:off x="2288" y="364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19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1937" name="Text Box 16"/>
            <p:cNvSpPr txBox="1">
              <a:spLocks noChangeArrowheads="1"/>
            </p:cNvSpPr>
            <p:nvPr/>
          </p:nvSpPr>
          <p:spPr bwMode="auto">
            <a:xfrm>
              <a:off x="2288" y="38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32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777233" name="AutoShape 17"/>
          <p:cNvSpPr>
            <a:spLocks noChangeArrowheads="1"/>
          </p:cNvSpPr>
          <p:nvPr/>
        </p:nvSpPr>
        <p:spPr bwMode="auto">
          <a:xfrm>
            <a:off x="4564063" y="1955800"/>
            <a:ext cx="228600" cy="339725"/>
          </a:xfrm>
          <a:prstGeom prst="wedgeRoundRectCallout">
            <a:avLst>
              <a:gd name="adj1" fmla="val -162500"/>
              <a:gd name="adj2" fmla="val 50000"/>
              <a:gd name="adj3" fmla="val 16667"/>
            </a:avLst>
          </a:prstGeom>
          <a:noFill/>
          <a:ln w="28575">
            <a:solidFill>
              <a:schemeClr val="fol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77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7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777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7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7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7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7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7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7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7219" grpId="0" autoUpdateAnimBg="0"/>
      <p:bldP spid="777220" grpId="0" autoUpdateAnimBg="0"/>
      <p:bldP spid="777222" grpId="0" autoUpdateAnimBg="0"/>
      <p:bldP spid="777223" grpId="0" autoUpdateAnimBg="0"/>
      <p:bldP spid="777224" grpId="0" autoUpdateAnimBg="0"/>
      <p:bldP spid="777225" grpId="0" autoUpdateAnimBg="0"/>
      <p:bldP spid="777226" grpId="0" autoUpdateAnimBg="0"/>
      <p:bldP spid="777227" grpId="0" autoUpdateAnimBg="0"/>
      <p:bldP spid="777228" grpId="0" autoUpdateAnimBg="0"/>
      <p:bldP spid="777233" grpId="0" animBg="1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2"/>
          <p:cNvSpPr txBox="1">
            <a:spLocks noChangeArrowheads="1"/>
          </p:cNvSpPr>
          <p:nvPr/>
        </p:nvSpPr>
        <p:spPr bwMode="auto">
          <a:xfrm>
            <a:off x="1579563" y="73025"/>
            <a:ext cx="35385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5. 溢出判断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78243" name="Text Box 3"/>
          <p:cNvSpPr txBox="1">
            <a:spLocks noChangeArrowheads="1"/>
          </p:cNvSpPr>
          <p:nvPr/>
        </p:nvSpPr>
        <p:spPr bwMode="auto">
          <a:xfrm>
            <a:off x="2362200" y="914400"/>
            <a:ext cx="7761288" cy="156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        设机器数为补码，尾数为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规格化形式，</a:t>
            </a:r>
            <a:r>
              <a:rPr lang="zh-CN" altLang="en-US">
                <a:latin typeface="Times New Roman" panose="02020603050405020304" pitchFamily="18" charset="0"/>
              </a:rPr>
              <a:t>并假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设阶符取 2 位，阶码的数值部分取 7 位，数符取 </a:t>
            </a:r>
            <a:endParaRPr lang="zh-CN" altLang="en-US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2 位，尾数取 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位，则该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补码 </a:t>
            </a:r>
            <a:r>
              <a:rPr lang="zh-CN" altLang="en-US">
                <a:latin typeface="Times New Roman" panose="02020603050405020304" pitchFamily="18" charset="0"/>
              </a:rPr>
              <a:t>在数轴上的表示为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78244" name="Group 4"/>
          <p:cNvGrpSpPr/>
          <p:nvPr/>
        </p:nvGrpSpPr>
        <p:grpSpPr bwMode="auto">
          <a:xfrm>
            <a:off x="2286000" y="2951163"/>
            <a:ext cx="7315200" cy="935037"/>
            <a:chOff x="480" y="1859"/>
            <a:chExt cx="4608" cy="589"/>
          </a:xfrm>
        </p:grpSpPr>
        <p:sp>
          <p:nvSpPr>
            <p:cNvPr id="82984" name="Line 5"/>
            <p:cNvSpPr>
              <a:spLocks noChangeShapeType="1"/>
            </p:cNvSpPr>
            <p:nvPr/>
          </p:nvSpPr>
          <p:spPr bwMode="auto">
            <a:xfrm>
              <a:off x="480" y="2448"/>
              <a:ext cx="4608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985" name="Rectangle 6"/>
            <p:cNvSpPr>
              <a:spLocks noChangeArrowheads="1"/>
            </p:cNvSpPr>
            <p:nvPr/>
          </p:nvSpPr>
          <p:spPr bwMode="auto">
            <a:xfrm>
              <a:off x="480" y="2160"/>
              <a:ext cx="732" cy="286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82986" name="Rectangle 7"/>
            <p:cNvSpPr>
              <a:spLocks noChangeArrowheads="1"/>
            </p:cNvSpPr>
            <p:nvPr/>
          </p:nvSpPr>
          <p:spPr bwMode="auto">
            <a:xfrm>
              <a:off x="2400" y="2160"/>
              <a:ext cx="732" cy="286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82987" name="Rectangle 8"/>
            <p:cNvSpPr>
              <a:spLocks noChangeArrowheads="1"/>
            </p:cNvSpPr>
            <p:nvPr/>
          </p:nvSpPr>
          <p:spPr bwMode="auto">
            <a:xfrm>
              <a:off x="4320" y="2162"/>
              <a:ext cx="732" cy="286"/>
            </a:xfrm>
            <a:prstGeom prst="rect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folHlink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等线" panose="02010600030101010101" pitchFamily="2" charset="-122"/>
              </a:endParaRPr>
            </a:p>
          </p:txBody>
        </p:sp>
        <p:sp>
          <p:nvSpPr>
            <p:cNvPr id="82988" name="Text Box 9"/>
            <p:cNvSpPr txBox="1">
              <a:spLocks noChangeArrowheads="1"/>
            </p:cNvSpPr>
            <p:nvPr/>
          </p:nvSpPr>
          <p:spPr bwMode="auto">
            <a:xfrm>
              <a:off x="566" y="1859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上溢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82989" name="Text Box 10"/>
            <p:cNvSpPr txBox="1">
              <a:spLocks noChangeArrowheads="1"/>
            </p:cNvSpPr>
            <p:nvPr/>
          </p:nvSpPr>
          <p:spPr bwMode="auto">
            <a:xfrm>
              <a:off x="2506" y="1859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下溢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82990" name="Text Box 11"/>
            <p:cNvSpPr txBox="1">
              <a:spLocks noChangeArrowheads="1"/>
            </p:cNvSpPr>
            <p:nvPr/>
          </p:nvSpPr>
          <p:spPr bwMode="auto">
            <a:xfrm>
              <a:off x="4426" y="1859"/>
              <a:ext cx="43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上溢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82991" name="Text Box 12"/>
            <p:cNvSpPr txBox="1">
              <a:spLocks noChangeArrowheads="1"/>
            </p:cNvSpPr>
            <p:nvPr/>
          </p:nvSpPr>
          <p:spPr bwMode="auto">
            <a:xfrm>
              <a:off x="1392" y="1962"/>
              <a:ext cx="760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    </a:t>
              </a:r>
              <a:r>
                <a:rPr lang="zh-CN" altLang="en-US" sz="2000">
                  <a:latin typeface="Times New Roman" panose="02020603050405020304" pitchFamily="18" charset="0"/>
                </a:rPr>
                <a:t>对应</a:t>
              </a:r>
              <a:endParaRPr lang="zh-CN" altLang="en-US" sz="200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负浮点数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82992" name="Text Box 13"/>
            <p:cNvSpPr txBox="1">
              <a:spLocks noChangeArrowheads="1"/>
            </p:cNvSpPr>
            <p:nvPr/>
          </p:nvSpPr>
          <p:spPr bwMode="auto">
            <a:xfrm>
              <a:off x="3320" y="1968"/>
              <a:ext cx="760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    </a:t>
              </a:r>
              <a:r>
                <a:rPr lang="zh-CN" altLang="en-US" sz="2000">
                  <a:latin typeface="Times New Roman" panose="02020603050405020304" pitchFamily="18" charset="0"/>
                </a:rPr>
                <a:t>对应</a:t>
              </a:r>
              <a:endParaRPr lang="zh-CN" altLang="en-US" sz="200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正浮点数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8254" name="Group 14"/>
          <p:cNvGrpSpPr/>
          <p:nvPr/>
        </p:nvGrpSpPr>
        <p:grpSpPr bwMode="auto">
          <a:xfrm>
            <a:off x="2286000" y="4595813"/>
            <a:ext cx="2554288" cy="463550"/>
            <a:chOff x="480" y="2799"/>
            <a:chExt cx="1609" cy="292"/>
          </a:xfrm>
        </p:grpSpPr>
        <p:sp>
          <p:nvSpPr>
            <p:cNvPr id="82982" name="Text Box 15"/>
            <p:cNvSpPr txBox="1">
              <a:spLocks noChangeArrowheads="1"/>
            </p:cNvSpPr>
            <p:nvPr/>
          </p:nvSpPr>
          <p:spPr bwMode="auto">
            <a:xfrm>
              <a:off x="480" y="2841"/>
              <a:ext cx="16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00,1111111;11.00      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82983" name="Text Box 16"/>
            <p:cNvSpPr txBox="1">
              <a:spLocks noChangeArrowheads="1"/>
            </p:cNvSpPr>
            <p:nvPr/>
          </p:nvSpPr>
          <p:spPr bwMode="auto">
            <a:xfrm>
              <a:off x="1700" y="2799"/>
              <a:ext cx="3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… 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8257" name="Group 17"/>
          <p:cNvGrpSpPr/>
          <p:nvPr/>
        </p:nvGrpSpPr>
        <p:grpSpPr bwMode="auto">
          <a:xfrm>
            <a:off x="7554913" y="4595813"/>
            <a:ext cx="2427287" cy="463550"/>
            <a:chOff x="3799" y="2799"/>
            <a:chExt cx="1529" cy="292"/>
          </a:xfrm>
        </p:grpSpPr>
        <p:sp>
          <p:nvSpPr>
            <p:cNvPr id="82980" name="Text Box 18"/>
            <p:cNvSpPr txBox="1">
              <a:spLocks noChangeArrowheads="1"/>
            </p:cNvSpPr>
            <p:nvPr/>
          </p:nvSpPr>
          <p:spPr bwMode="auto">
            <a:xfrm>
              <a:off x="3799" y="2841"/>
              <a:ext cx="15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00,1111111;00.11    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82981" name="Text Box 19"/>
            <p:cNvSpPr txBox="1">
              <a:spLocks noChangeArrowheads="1"/>
            </p:cNvSpPr>
            <p:nvPr/>
          </p:nvSpPr>
          <p:spPr bwMode="auto">
            <a:xfrm>
              <a:off x="4956" y="2799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8260" name="Group 20"/>
          <p:cNvGrpSpPr/>
          <p:nvPr/>
        </p:nvGrpSpPr>
        <p:grpSpPr bwMode="auto">
          <a:xfrm>
            <a:off x="3505200" y="5949950"/>
            <a:ext cx="2554288" cy="466725"/>
            <a:chOff x="1248" y="3661"/>
            <a:chExt cx="1609" cy="294"/>
          </a:xfrm>
        </p:grpSpPr>
        <p:sp>
          <p:nvSpPr>
            <p:cNvPr id="82978" name="Text Box 21"/>
            <p:cNvSpPr txBox="1">
              <a:spLocks noChangeArrowheads="1"/>
            </p:cNvSpPr>
            <p:nvPr/>
          </p:nvSpPr>
          <p:spPr bwMode="auto">
            <a:xfrm>
              <a:off x="1248" y="3661"/>
              <a:ext cx="16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11,0000000;11.011    1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82979" name="Text Box 22"/>
            <p:cNvSpPr txBox="1">
              <a:spLocks noChangeArrowheads="1"/>
            </p:cNvSpPr>
            <p:nvPr/>
          </p:nvSpPr>
          <p:spPr bwMode="auto">
            <a:xfrm>
              <a:off x="2508" y="3705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8263" name="Group 23"/>
          <p:cNvGrpSpPr/>
          <p:nvPr/>
        </p:nvGrpSpPr>
        <p:grpSpPr bwMode="auto">
          <a:xfrm>
            <a:off x="5791200" y="5295900"/>
            <a:ext cx="2681288" cy="471488"/>
            <a:chOff x="2688" y="3255"/>
            <a:chExt cx="1689" cy="297"/>
          </a:xfrm>
        </p:grpSpPr>
        <p:sp>
          <p:nvSpPr>
            <p:cNvPr id="82976" name="Text Box 24"/>
            <p:cNvSpPr txBox="1">
              <a:spLocks noChangeArrowheads="1"/>
            </p:cNvSpPr>
            <p:nvPr/>
          </p:nvSpPr>
          <p:spPr bwMode="auto">
            <a:xfrm>
              <a:off x="2688" y="3302"/>
              <a:ext cx="16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11,0000000;00.100      0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82977" name="Text Box 25"/>
            <p:cNvSpPr txBox="1">
              <a:spLocks noChangeArrowheads="1"/>
            </p:cNvSpPr>
            <p:nvPr/>
          </p:nvSpPr>
          <p:spPr bwMode="auto">
            <a:xfrm>
              <a:off x="3984" y="3255"/>
              <a:ext cx="27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</a:rPr>
                <a:t>…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</p:grpSp>
      <p:sp>
        <p:nvSpPr>
          <p:cNvPr id="778266" name="Text Box 26"/>
          <p:cNvSpPr txBox="1">
            <a:spLocks noChangeArrowheads="1"/>
          </p:cNvSpPr>
          <p:nvPr/>
        </p:nvSpPr>
        <p:spPr bwMode="auto">
          <a:xfrm>
            <a:off x="2803525" y="5029200"/>
            <a:ext cx="11652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2</a:t>
            </a:r>
            <a:r>
              <a:rPr lang="zh-CN" altLang="en-US" sz="2000" baseline="45000">
                <a:latin typeface="Times New Roman" panose="02020603050405020304" pitchFamily="18" charset="0"/>
              </a:rPr>
              <a:t>127</a:t>
            </a:r>
            <a:r>
              <a:rPr lang="zh-CN" altLang="en-US" sz="2000">
                <a:latin typeface="Times New Roman" panose="02020603050405020304" pitchFamily="18" charset="0"/>
              </a:rPr>
              <a:t>×(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000">
                <a:latin typeface="Times New Roman" panose="02020603050405020304" pitchFamily="18" charset="0"/>
              </a:rPr>
              <a:t>1)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778267" name="Text Box 27"/>
          <p:cNvSpPr txBox="1">
            <a:spLocks noChangeArrowheads="1"/>
          </p:cNvSpPr>
          <p:nvPr/>
        </p:nvSpPr>
        <p:spPr bwMode="auto">
          <a:xfrm>
            <a:off x="3868738" y="6308725"/>
            <a:ext cx="1976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 2</a:t>
            </a:r>
            <a:r>
              <a:rPr lang="zh-CN" altLang="en-US" sz="2000" baseline="45000">
                <a:latin typeface="Times New Roman" panose="02020603050405020304" pitchFamily="18" charset="0"/>
                <a:cs typeface="Times New Roman" panose="02020603050405020304" pitchFamily="18" charset="0"/>
              </a:rPr>
              <a:t>-128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×(2</a:t>
            </a:r>
            <a:r>
              <a:rPr lang="zh-CN" altLang="en-US" sz="2000" baseline="4500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+ 2</a:t>
            </a:r>
            <a:r>
              <a:rPr lang="zh-CN" altLang="en-US" sz="2000" baseline="45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000" i="1" baseline="4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8268" name="Text Box 28"/>
          <p:cNvSpPr txBox="1">
            <a:spLocks noChangeArrowheads="1"/>
          </p:cNvSpPr>
          <p:nvPr/>
        </p:nvSpPr>
        <p:spPr bwMode="auto">
          <a:xfrm>
            <a:off x="6405563" y="5775325"/>
            <a:ext cx="10683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2</a:t>
            </a:r>
            <a:r>
              <a:rPr lang="zh-CN" altLang="en-US" sz="2000" baseline="45000">
                <a:latin typeface="Times New Roman" panose="02020603050405020304" pitchFamily="18" charset="0"/>
              </a:rPr>
              <a:t>-128</a:t>
            </a:r>
            <a:r>
              <a:rPr lang="zh-CN" altLang="en-US" sz="2000">
                <a:latin typeface="Times New Roman" panose="02020603050405020304" pitchFamily="18" charset="0"/>
              </a:rPr>
              <a:t>×2</a:t>
            </a:r>
            <a:r>
              <a:rPr lang="zh-CN" altLang="en-US" sz="2000" baseline="45000">
                <a:latin typeface="Times New Roman" panose="02020603050405020304" pitchFamily="18" charset="0"/>
              </a:rPr>
              <a:t>-1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778269" name="Text Box 29"/>
          <p:cNvSpPr txBox="1">
            <a:spLocks noChangeArrowheads="1"/>
          </p:cNvSpPr>
          <p:nvPr/>
        </p:nvSpPr>
        <p:spPr bwMode="auto">
          <a:xfrm>
            <a:off x="8085138" y="5029200"/>
            <a:ext cx="14366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2</a:t>
            </a:r>
            <a:r>
              <a:rPr lang="zh-CN" altLang="en-US" sz="2000" baseline="45000">
                <a:latin typeface="Times New Roman" panose="02020603050405020304" pitchFamily="18" charset="0"/>
              </a:rPr>
              <a:t>127</a:t>
            </a:r>
            <a:r>
              <a:rPr lang="zh-CN" altLang="en-US" sz="2000">
                <a:latin typeface="Times New Roman" panose="02020603050405020304" pitchFamily="18" charset="0"/>
              </a:rPr>
              <a:t>×(1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zh-CN" altLang="en-US" sz="2000">
                <a:latin typeface="Times New Roman" panose="02020603050405020304" pitchFamily="18" charset="0"/>
              </a:rPr>
              <a:t>2</a:t>
            </a:r>
            <a:r>
              <a:rPr lang="zh-CN" altLang="en-US" sz="2000" baseline="45000">
                <a:latin typeface="Times New Roman" panose="02020603050405020304" pitchFamily="18" charset="0"/>
              </a:rPr>
              <a:t>-</a:t>
            </a:r>
            <a:r>
              <a:rPr lang="en-US" altLang="zh-CN" sz="2000" i="1" baseline="45000">
                <a:latin typeface="Times New Roman" panose="02020603050405020304" pitchFamily="18" charset="0"/>
              </a:rPr>
              <a:t>n</a:t>
            </a:r>
            <a:r>
              <a:rPr lang="en-US" altLang="zh-CN" sz="2000">
                <a:latin typeface="Times New Roman" panose="02020603050405020304" pitchFamily="18" charset="0"/>
              </a:rPr>
              <a:t>)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grpSp>
        <p:nvGrpSpPr>
          <p:cNvPr id="778270" name="Group 30"/>
          <p:cNvGrpSpPr/>
          <p:nvPr/>
        </p:nvGrpSpPr>
        <p:grpSpPr bwMode="auto">
          <a:xfrm>
            <a:off x="2806700" y="3886200"/>
            <a:ext cx="1841500" cy="838200"/>
            <a:chOff x="808" y="2448"/>
            <a:chExt cx="1160" cy="528"/>
          </a:xfrm>
        </p:grpSpPr>
        <p:sp>
          <p:nvSpPr>
            <p:cNvPr id="82974" name="Line 31"/>
            <p:cNvSpPr>
              <a:spLocks noChangeShapeType="1"/>
            </p:cNvSpPr>
            <p:nvPr/>
          </p:nvSpPr>
          <p:spPr bwMode="auto">
            <a:xfrm flipV="1">
              <a:off x="1200" y="244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975" name="Text Box 32"/>
            <p:cNvSpPr txBox="1">
              <a:spLocks noChangeArrowheads="1"/>
            </p:cNvSpPr>
            <p:nvPr/>
          </p:nvSpPr>
          <p:spPr bwMode="auto">
            <a:xfrm>
              <a:off x="808" y="2707"/>
              <a:ext cx="116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最小负数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8273" name="Group 33"/>
          <p:cNvGrpSpPr/>
          <p:nvPr/>
        </p:nvGrpSpPr>
        <p:grpSpPr bwMode="auto">
          <a:xfrm>
            <a:off x="4457700" y="3886200"/>
            <a:ext cx="1308100" cy="2130425"/>
            <a:chOff x="1848" y="2448"/>
            <a:chExt cx="824" cy="1342"/>
          </a:xfrm>
        </p:grpSpPr>
        <p:sp>
          <p:nvSpPr>
            <p:cNvPr id="82972" name="Line 34"/>
            <p:cNvSpPr>
              <a:spLocks noChangeShapeType="1"/>
            </p:cNvSpPr>
            <p:nvPr/>
          </p:nvSpPr>
          <p:spPr bwMode="auto">
            <a:xfrm flipV="1">
              <a:off x="2400" y="2448"/>
              <a:ext cx="0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973" name="Text Box 35"/>
            <p:cNvSpPr txBox="1">
              <a:spLocks noChangeArrowheads="1"/>
            </p:cNvSpPr>
            <p:nvPr/>
          </p:nvSpPr>
          <p:spPr bwMode="auto">
            <a:xfrm>
              <a:off x="1848" y="3521"/>
              <a:ext cx="8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最大负数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8276" name="Group 36"/>
          <p:cNvGrpSpPr/>
          <p:nvPr/>
        </p:nvGrpSpPr>
        <p:grpSpPr bwMode="auto">
          <a:xfrm>
            <a:off x="6108700" y="3886200"/>
            <a:ext cx="1308100" cy="1525588"/>
            <a:chOff x="2888" y="2448"/>
            <a:chExt cx="824" cy="961"/>
          </a:xfrm>
        </p:grpSpPr>
        <p:sp>
          <p:nvSpPr>
            <p:cNvPr id="82970" name="Line 37"/>
            <p:cNvSpPr>
              <a:spLocks noChangeShapeType="1"/>
            </p:cNvSpPr>
            <p:nvPr/>
          </p:nvSpPr>
          <p:spPr bwMode="auto">
            <a:xfrm flipV="1">
              <a:off x="3120" y="2448"/>
              <a:ext cx="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971" name="Text Box 38"/>
            <p:cNvSpPr txBox="1">
              <a:spLocks noChangeArrowheads="1"/>
            </p:cNvSpPr>
            <p:nvPr/>
          </p:nvSpPr>
          <p:spPr bwMode="auto">
            <a:xfrm>
              <a:off x="2888" y="3140"/>
              <a:ext cx="8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最小正数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8279" name="Group 39"/>
          <p:cNvGrpSpPr/>
          <p:nvPr/>
        </p:nvGrpSpPr>
        <p:grpSpPr bwMode="auto">
          <a:xfrm>
            <a:off x="7759700" y="3886200"/>
            <a:ext cx="1308100" cy="838200"/>
            <a:chOff x="3928" y="2448"/>
            <a:chExt cx="824" cy="528"/>
          </a:xfrm>
        </p:grpSpPr>
        <p:sp>
          <p:nvSpPr>
            <p:cNvPr id="82968" name="Line 40"/>
            <p:cNvSpPr>
              <a:spLocks noChangeShapeType="1"/>
            </p:cNvSpPr>
            <p:nvPr/>
          </p:nvSpPr>
          <p:spPr bwMode="auto">
            <a:xfrm flipV="1">
              <a:off x="4320" y="244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969" name="Text Box 41"/>
            <p:cNvSpPr txBox="1">
              <a:spLocks noChangeArrowheads="1"/>
            </p:cNvSpPr>
            <p:nvPr/>
          </p:nvSpPr>
          <p:spPr bwMode="auto">
            <a:xfrm>
              <a:off x="3928" y="2707"/>
              <a:ext cx="8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200">
                  <a:latin typeface="Times New Roman" panose="02020603050405020304" pitchFamily="18" charset="0"/>
                </a:rPr>
                <a:t>最大正数</a:t>
              </a:r>
              <a:endParaRPr lang="zh-CN" altLang="en-US" sz="22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78282" name="Group 42"/>
          <p:cNvGrpSpPr/>
          <p:nvPr/>
        </p:nvGrpSpPr>
        <p:grpSpPr bwMode="auto">
          <a:xfrm>
            <a:off x="5737225" y="3771900"/>
            <a:ext cx="336550" cy="669925"/>
            <a:chOff x="2654" y="2280"/>
            <a:chExt cx="212" cy="422"/>
          </a:xfrm>
        </p:grpSpPr>
        <p:sp>
          <p:nvSpPr>
            <p:cNvPr id="82966" name="Line 43"/>
            <p:cNvSpPr>
              <a:spLocks noChangeShapeType="1"/>
            </p:cNvSpPr>
            <p:nvPr/>
          </p:nvSpPr>
          <p:spPr bwMode="auto">
            <a:xfrm>
              <a:off x="2748" y="228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967" name="Text Box 44"/>
            <p:cNvSpPr txBox="1">
              <a:spLocks noChangeArrowheads="1"/>
            </p:cNvSpPr>
            <p:nvPr/>
          </p:nvSpPr>
          <p:spPr bwMode="auto">
            <a:xfrm>
              <a:off x="2654" y="2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0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778285" name="Text Box 45"/>
          <p:cNvSpPr txBox="1">
            <a:spLocks noChangeArrowheads="1"/>
          </p:cNvSpPr>
          <p:nvPr/>
        </p:nvSpPr>
        <p:spPr bwMode="auto">
          <a:xfrm>
            <a:off x="1562100" y="3581400"/>
            <a:ext cx="1392238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阶码</a:t>
            </a:r>
            <a:endParaRPr lang="zh-CN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01, ××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r>
              <a:rPr lang="zh-CN" altLang="en-US" sz="2000">
                <a:latin typeface="Times New Roman" panose="02020603050405020304" pitchFamily="18" charset="0"/>
              </a:rPr>
              <a:t>×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778286" name="Text Box 46"/>
          <p:cNvSpPr txBox="1">
            <a:spLocks noChangeArrowheads="1"/>
          </p:cNvSpPr>
          <p:nvPr/>
        </p:nvSpPr>
        <p:spPr bwMode="auto">
          <a:xfrm>
            <a:off x="8915400" y="3581400"/>
            <a:ext cx="1466850" cy="76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            阶码</a:t>
            </a:r>
            <a:endParaRPr lang="zh-CN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01, ××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r>
              <a:rPr lang="zh-CN" altLang="en-US" sz="2000">
                <a:latin typeface="Times New Roman" panose="02020603050405020304" pitchFamily="18" charset="0"/>
              </a:rPr>
              <a:t>×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778287" name="Text Box 47"/>
          <p:cNvSpPr txBox="1">
            <a:spLocks noChangeArrowheads="1"/>
          </p:cNvSpPr>
          <p:nvPr/>
        </p:nvSpPr>
        <p:spPr bwMode="auto">
          <a:xfrm>
            <a:off x="4875213" y="2590800"/>
            <a:ext cx="1968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阶码 10, ××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r>
              <a:rPr lang="zh-CN" altLang="en-US" sz="2000">
                <a:latin typeface="Times New Roman" panose="02020603050405020304" pitchFamily="18" charset="0"/>
              </a:rPr>
              <a:t>×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778288" name="Rectangle 48"/>
          <p:cNvSpPr>
            <a:spLocks noChangeArrowheads="1"/>
          </p:cNvSpPr>
          <p:nvPr/>
        </p:nvSpPr>
        <p:spPr bwMode="auto">
          <a:xfrm>
            <a:off x="7121525" y="2590800"/>
            <a:ext cx="1717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chemeClr val="folHlink"/>
                </a:solidFill>
                <a:latin typeface="Times New Roman" panose="02020603050405020304" pitchFamily="18" charset="0"/>
              </a:rPr>
              <a:t>按机器零处理</a:t>
            </a:r>
            <a:endParaRPr lang="zh-CN" altLang="en-US" sz="20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7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778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77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77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77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77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77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77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77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0" dur="500"/>
                                        <p:tgtEl>
                                          <p:spTgt spid="77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778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77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77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778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778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778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78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78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43" grpId="0" autoUpdateAnimBg="0"/>
      <p:bldP spid="778266" grpId="0" autoUpdateAnimBg="0"/>
      <p:bldP spid="778267" grpId="0" autoUpdateAnimBg="0"/>
      <p:bldP spid="778268" grpId="0" autoUpdateAnimBg="0"/>
      <p:bldP spid="778269" grpId="0" autoUpdateAnimBg="0"/>
      <p:bldP spid="778285" grpId="0" autoUpdateAnimBg="0"/>
      <p:bldP spid="778286" grpId="0" autoUpdateAnimBg="0"/>
      <p:bldP spid="778287" grpId="0" autoUpdateAnimBg="0"/>
      <p:bldP spid="778288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1905000" y="304800"/>
            <a:ext cx="707072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总结：浮点加减法运算步骤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79281" name="Text Box 17"/>
          <p:cNvSpPr txBox="1">
            <a:spLocks noChangeArrowheads="1"/>
          </p:cNvSpPr>
          <p:nvPr/>
        </p:nvSpPr>
        <p:spPr bwMode="auto">
          <a:xfrm>
            <a:off x="2611438" y="1249363"/>
            <a:ext cx="46085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(1) </a:t>
            </a:r>
            <a:r>
              <a:rPr lang="zh-CN" altLang="en-US">
                <a:latin typeface="Times New Roman" panose="02020603050405020304" pitchFamily="18" charset="0"/>
              </a:rPr>
              <a:t>对阶，小阶向大阶看齐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9282" name="Text Box 18"/>
          <p:cNvSpPr txBox="1">
            <a:spLocks noChangeArrowheads="1"/>
          </p:cNvSpPr>
          <p:nvPr/>
        </p:nvSpPr>
        <p:spPr bwMode="auto">
          <a:xfrm>
            <a:off x="2611438" y="1965325"/>
            <a:ext cx="5213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尾数相加减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9286" name="Text Box 22"/>
          <p:cNvSpPr txBox="1">
            <a:spLocks noChangeArrowheads="1"/>
          </p:cNvSpPr>
          <p:nvPr/>
        </p:nvSpPr>
        <p:spPr bwMode="auto">
          <a:xfrm>
            <a:off x="2611438" y="2676525"/>
            <a:ext cx="3040062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(3) </a:t>
            </a:r>
            <a:r>
              <a:rPr lang="zh-CN" altLang="en-US">
                <a:latin typeface="Times New Roman" panose="02020603050405020304" pitchFamily="18" charset="0"/>
              </a:rPr>
              <a:t>尾数规格化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2611438" y="3354388"/>
            <a:ext cx="2663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</a:t>
            </a:r>
            <a:r>
              <a:rPr lang="en-US" altLang="zh-CN" sz="2400">
                <a:latin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</a:rPr>
              <a:t>) </a:t>
            </a:r>
            <a:r>
              <a:rPr lang="zh-CN" altLang="en-US">
                <a:latin typeface="Times New Roman" panose="02020603050405020304" pitchFamily="18" charset="0"/>
              </a:rPr>
              <a:t>尾数舍入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2605088" y="3973513"/>
            <a:ext cx="27559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</a:t>
            </a:r>
            <a:r>
              <a:rPr lang="en-US" altLang="zh-CN" sz="2400">
                <a:latin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</a:rPr>
              <a:t>) </a:t>
            </a:r>
            <a:r>
              <a:rPr lang="zh-CN" altLang="en-US">
                <a:latin typeface="Times New Roman" panose="02020603050405020304" pitchFamily="18" charset="0"/>
              </a:rPr>
              <a:t>阶码判溢出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9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81" grpId="0" autoUpdateAnimBg="0"/>
      <p:bldP spid="779282" grpId="0" autoUpdateAnimBg="0"/>
      <p:bldP spid="779286" grpId="0" autoUpdateAnimBg="0"/>
      <p:bldP spid="25" grpId="0" autoUpdateAnimBg="0"/>
      <p:bldP spid="26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0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1847850" y="115888"/>
            <a:ext cx="5486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Times New Roman" panose="02020603050405020304" pitchFamily="18" charset="0"/>
              </a:rPr>
              <a:t>二、浮点乘除运算</a:t>
            </a: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779267" name="Text Box 3"/>
          <p:cNvSpPr txBox="1">
            <a:spLocks noChangeArrowheads="1"/>
          </p:cNvSpPr>
          <p:nvPr/>
        </p:nvSpPr>
        <p:spPr bwMode="auto">
          <a:xfrm>
            <a:off x="3355975" y="801688"/>
            <a:ext cx="1665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 i="1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· 2</a:t>
            </a:r>
            <a:r>
              <a:rPr lang="en-US" altLang="zh-CN" sz="2400" i="1" baseline="60000">
                <a:latin typeface="Times New Roman" panose="02020603050405020304" pitchFamily="18" charset="0"/>
              </a:rPr>
              <a:t>j</a:t>
            </a:r>
            <a:r>
              <a:rPr lang="en-US" altLang="zh-CN" sz="2400" i="1" baseline="30000">
                <a:latin typeface="Times New Roman" panose="02020603050405020304" pitchFamily="18" charset="0"/>
              </a:rPr>
              <a:t>x</a:t>
            </a:r>
            <a:endParaRPr lang="en-US" altLang="zh-CN" sz="2400" i="1" baseline="30000">
              <a:latin typeface="Times New Roman" panose="02020603050405020304" pitchFamily="18" charset="0"/>
            </a:endParaRPr>
          </a:p>
        </p:txBody>
      </p:sp>
      <p:sp>
        <p:nvSpPr>
          <p:cNvPr id="779268" name="Text Box 4"/>
          <p:cNvSpPr txBox="1">
            <a:spLocks noChangeArrowheads="1"/>
          </p:cNvSpPr>
          <p:nvPr/>
        </p:nvSpPr>
        <p:spPr bwMode="auto">
          <a:xfrm>
            <a:off x="5397500" y="811213"/>
            <a:ext cx="16383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 =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· 2</a:t>
            </a:r>
            <a:r>
              <a:rPr lang="en-US" altLang="zh-CN" sz="2400" i="1" baseline="60000">
                <a:latin typeface="Times New Roman" panose="02020603050405020304" pitchFamily="18" charset="0"/>
              </a:rPr>
              <a:t>j</a:t>
            </a:r>
            <a:r>
              <a:rPr lang="en-US" altLang="zh-CN" sz="2400" i="1" baseline="30000">
                <a:latin typeface="Times New Roman" panose="02020603050405020304" pitchFamily="18" charset="0"/>
              </a:rPr>
              <a:t>y</a:t>
            </a:r>
            <a:endParaRPr lang="en-US" altLang="zh-CN" sz="2400" i="1" baseline="30000">
              <a:latin typeface="Times New Roman" panose="02020603050405020304" pitchFamily="18" charset="0"/>
            </a:endParaRPr>
          </a:p>
        </p:txBody>
      </p:sp>
      <p:sp>
        <p:nvSpPr>
          <p:cNvPr id="779269" name="Text Box 5"/>
          <p:cNvSpPr txBox="1">
            <a:spLocks noChangeArrowheads="1"/>
          </p:cNvSpPr>
          <p:nvPr/>
        </p:nvSpPr>
        <p:spPr bwMode="auto">
          <a:xfrm>
            <a:off x="2289175" y="1322388"/>
            <a:ext cx="1254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1. 乘法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9270" name="Text Box 6"/>
          <p:cNvSpPr txBox="1">
            <a:spLocks noChangeArrowheads="1"/>
          </p:cNvSpPr>
          <p:nvPr/>
        </p:nvSpPr>
        <p:spPr bwMode="auto">
          <a:xfrm>
            <a:off x="3813175" y="1716088"/>
            <a:ext cx="320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 = (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 ·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Times New Roman" panose="02020603050405020304" pitchFamily="18" charset="0"/>
              </a:rPr>
              <a:t>×</a:t>
            </a:r>
            <a:r>
              <a:rPr lang="zh-CN" altLang="en-US">
                <a:latin typeface="Times New Roman" panose="02020603050405020304" pitchFamily="18" charset="0"/>
              </a:rPr>
              <a:t>2</a:t>
            </a:r>
            <a:r>
              <a:rPr lang="en-US" altLang="zh-CN" sz="2400" i="1" baseline="60000">
                <a:latin typeface="Times New Roman" panose="02020603050405020304" pitchFamily="18" charset="0"/>
              </a:rPr>
              <a:t>j</a:t>
            </a:r>
            <a:r>
              <a:rPr lang="en-US" altLang="zh-CN" sz="2400" i="1" baseline="30000">
                <a:latin typeface="Times New Roman" panose="02020603050405020304" pitchFamily="18" charset="0"/>
              </a:rPr>
              <a:t>x</a:t>
            </a:r>
            <a:r>
              <a:rPr lang="en-US" altLang="zh-CN" sz="2400" baseline="60000">
                <a:latin typeface="Times New Roman" panose="02020603050405020304" pitchFamily="18" charset="0"/>
              </a:rPr>
              <a:t>+</a:t>
            </a:r>
            <a:r>
              <a:rPr lang="en-US" altLang="zh-CN" sz="2400" i="1" baseline="60000">
                <a:latin typeface="Times New Roman" panose="02020603050405020304" pitchFamily="18" charset="0"/>
              </a:rPr>
              <a:t>j</a:t>
            </a:r>
            <a:r>
              <a:rPr lang="en-US" altLang="zh-CN" sz="2400" i="1" baseline="30000">
                <a:latin typeface="Times New Roman" panose="02020603050405020304" pitchFamily="18" charset="0"/>
              </a:rPr>
              <a:t>y</a:t>
            </a:r>
            <a:endParaRPr lang="en-US" altLang="zh-CN" sz="2400" i="1" baseline="30000">
              <a:latin typeface="Times New Roman" panose="02020603050405020304" pitchFamily="18" charset="0"/>
            </a:endParaRPr>
          </a:p>
        </p:txBody>
      </p:sp>
      <p:sp>
        <p:nvSpPr>
          <p:cNvPr id="779271" name="Text Box 7"/>
          <p:cNvSpPr txBox="1">
            <a:spLocks noChangeArrowheads="1"/>
          </p:cNvSpPr>
          <p:nvPr/>
        </p:nvSpPr>
        <p:spPr bwMode="auto">
          <a:xfrm>
            <a:off x="2289175" y="2187575"/>
            <a:ext cx="1254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2. 除法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779272" name="Group 8"/>
          <p:cNvGrpSpPr/>
          <p:nvPr/>
        </p:nvGrpSpPr>
        <p:grpSpPr bwMode="auto">
          <a:xfrm>
            <a:off x="4129088" y="2401888"/>
            <a:ext cx="2368550" cy="904875"/>
            <a:chOff x="1733" y="1686"/>
            <a:chExt cx="1492" cy="570"/>
          </a:xfrm>
        </p:grpSpPr>
        <p:sp>
          <p:nvSpPr>
            <p:cNvPr id="87057" name="Text Box 9"/>
            <p:cNvSpPr txBox="1">
              <a:spLocks noChangeArrowheads="1"/>
            </p:cNvSpPr>
            <p:nvPr/>
          </p:nvSpPr>
          <p:spPr bwMode="auto">
            <a:xfrm>
              <a:off x="1733" y="1696"/>
              <a:ext cx="21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87058" name="Text Box 10"/>
            <p:cNvSpPr txBox="1">
              <a:spLocks noChangeArrowheads="1"/>
            </p:cNvSpPr>
            <p:nvPr/>
          </p:nvSpPr>
          <p:spPr bwMode="auto">
            <a:xfrm>
              <a:off x="1733" y="1894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i="1">
                  <a:latin typeface="Times New Roman" panose="02020603050405020304" pitchFamily="18" charset="0"/>
                </a:rPr>
                <a:t>y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87059" name="Line 11"/>
            <p:cNvSpPr>
              <a:spLocks noChangeShapeType="1"/>
            </p:cNvSpPr>
            <p:nvPr/>
          </p:nvSpPr>
          <p:spPr bwMode="auto">
            <a:xfrm>
              <a:off x="1743" y="199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7060" name="Text Box 12"/>
            <p:cNvSpPr txBox="1">
              <a:spLocks noChangeArrowheads="1"/>
            </p:cNvSpPr>
            <p:nvPr/>
          </p:nvSpPr>
          <p:spPr bwMode="auto">
            <a:xfrm>
              <a:off x="1973" y="1792"/>
              <a:ext cx="2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</a:rPr>
                <a:t>=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7061" name="Line 13"/>
            <p:cNvSpPr>
              <a:spLocks noChangeShapeType="1"/>
            </p:cNvSpPr>
            <p:nvPr/>
          </p:nvSpPr>
          <p:spPr bwMode="auto">
            <a:xfrm>
              <a:off x="2256" y="199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7062" name="Text Box 14"/>
            <p:cNvSpPr txBox="1">
              <a:spLocks noChangeArrowheads="1"/>
            </p:cNvSpPr>
            <p:nvPr/>
          </p:nvSpPr>
          <p:spPr bwMode="auto">
            <a:xfrm>
              <a:off x="2223" y="1686"/>
              <a:ext cx="27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i="1" baseline="-25000">
                  <a:latin typeface="Times New Roman" panose="02020603050405020304" pitchFamily="18" charset="0"/>
                </a:rPr>
                <a:t>x</a:t>
              </a:r>
              <a:endParaRPr lang="zh-CN" altLang="en-US" sz="2400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87063" name="Text Box 15"/>
            <p:cNvSpPr txBox="1">
              <a:spLocks noChangeArrowheads="1"/>
            </p:cNvSpPr>
            <p:nvPr/>
          </p:nvSpPr>
          <p:spPr bwMode="auto">
            <a:xfrm>
              <a:off x="2223" y="1968"/>
              <a:ext cx="2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400" i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064" name="Text Box 16"/>
            <p:cNvSpPr txBox="1">
              <a:spLocks noChangeArrowheads="1"/>
            </p:cNvSpPr>
            <p:nvPr/>
          </p:nvSpPr>
          <p:spPr bwMode="auto">
            <a:xfrm>
              <a:off x="2501" y="1792"/>
              <a:ext cx="72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× </a:t>
              </a:r>
              <a:r>
                <a:rPr lang="zh-CN" altLang="en-US">
                  <a:latin typeface="Times New Roman" panose="02020603050405020304" pitchFamily="18" charset="0"/>
                </a:rPr>
                <a:t>2</a:t>
              </a:r>
              <a:r>
                <a:rPr lang="en-US" altLang="zh-CN" sz="2400" i="1" baseline="60000">
                  <a:latin typeface="Times New Roman" panose="02020603050405020304" pitchFamily="18" charset="0"/>
                </a:rPr>
                <a:t>j</a:t>
              </a:r>
              <a:r>
                <a:rPr lang="en-US" altLang="zh-CN" sz="2400" i="1" baseline="30000">
                  <a:latin typeface="Times New Roman" panose="02020603050405020304" pitchFamily="18" charset="0"/>
                </a:rPr>
                <a:t>x</a:t>
              </a:r>
              <a:r>
                <a:rPr lang="en-US" altLang="zh-CN" sz="2400" baseline="30000">
                  <a:latin typeface="Times New Roman" panose="02020603050405020304" pitchFamily="18" charset="0"/>
                </a:rPr>
                <a:t> </a:t>
              </a:r>
              <a:r>
                <a:rPr lang="en-US" altLang="zh-CN" sz="2400" baseline="60000">
                  <a:latin typeface="Times New Roman" panose="02020603050405020304" pitchFamily="18" charset="0"/>
                </a:rPr>
                <a:t>–</a:t>
              </a:r>
              <a:r>
                <a:rPr lang="en-US" altLang="zh-CN" sz="2400" baseline="4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baseline="60000">
                  <a:latin typeface="Times New Roman" panose="02020603050405020304" pitchFamily="18" charset="0"/>
                </a:rPr>
                <a:t>j</a:t>
              </a:r>
              <a:r>
                <a:rPr lang="en-US" altLang="zh-CN" sz="2400" i="1" baseline="30000">
                  <a:latin typeface="Times New Roman" panose="02020603050405020304" pitchFamily="18" charset="0"/>
                </a:rPr>
                <a:t>y</a:t>
              </a:r>
              <a:endParaRPr lang="zh-CN" altLang="en-US" sz="2400" i="1" baseline="30000">
                <a:latin typeface="Times New Roman" panose="02020603050405020304" pitchFamily="18" charset="0"/>
              </a:endParaRPr>
            </a:p>
          </p:txBody>
        </p:sp>
      </p:grpSp>
      <p:sp>
        <p:nvSpPr>
          <p:cNvPr id="779281" name="Text Box 17"/>
          <p:cNvSpPr txBox="1">
            <a:spLocks noChangeArrowheads="1"/>
          </p:cNvSpPr>
          <p:nvPr/>
        </p:nvSpPr>
        <p:spPr bwMode="auto">
          <a:xfrm>
            <a:off x="2714625" y="3725863"/>
            <a:ext cx="812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(1) </a:t>
            </a:r>
            <a:r>
              <a:rPr lang="zh-CN" altLang="en-US">
                <a:latin typeface="Times New Roman" panose="02020603050405020304" pitchFamily="18" charset="0"/>
              </a:rPr>
              <a:t>阶码采用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补码定点加</a:t>
            </a:r>
            <a:r>
              <a:rPr lang="zh-CN" altLang="en-US">
                <a:latin typeface="Times New Roman" panose="02020603050405020304" pitchFamily="18" charset="0"/>
              </a:rPr>
              <a:t>（乘法）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减</a:t>
            </a:r>
            <a:r>
              <a:rPr lang="zh-CN" altLang="en-US">
                <a:latin typeface="Times New Roman" panose="02020603050405020304" pitchFamily="18" charset="0"/>
              </a:rPr>
              <a:t>（除法）运算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9282" name="Text Box 18"/>
          <p:cNvSpPr txBox="1">
            <a:spLocks noChangeArrowheads="1"/>
          </p:cNvSpPr>
          <p:nvPr/>
        </p:nvSpPr>
        <p:spPr bwMode="auto">
          <a:xfrm>
            <a:off x="2730500" y="4313238"/>
            <a:ext cx="5213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(2) </a:t>
            </a:r>
            <a:r>
              <a:rPr lang="zh-CN" altLang="en-US">
                <a:latin typeface="Times New Roman" panose="02020603050405020304" pitchFamily="18" charset="0"/>
              </a:rPr>
              <a:t>尾数乘除同 </a:t>
            </a:r>
            <a:r>
              <a:rPr lang="zh-CN" altLang="en-US">
                <a:solidFill>
                  <a:schemeClr val="folHlink"/>
                </a:solidFill>
                <a:latin typeface="Times New Roman" panose="02020603050405020304" pitchFamily="18" charset="0"/>
              </a:rPr>
              <a:t>定点 </a:t>
            </a:r>
            <a:r>
              <a:rPr lang="zh-CN" altLang="en-US">
                <a:latin typeface="Times New Roman" panose="02020603050405020304" pitchFamily="18" charset="0"/>
              </a:rPr>
              <a:t>运算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9283" name="Text Box 19"/>
          <p:cNvSpPr txBox="1">
            <a:spLocks noChangeArrowheads="1"/>
          </p:cNvSpPr>
          <p:nvPr/>
        </p:nvSpPr>
        <p:spPr bwMode="auto">
          <a:xfrm>
            <a:off x="2289175" y="5540375"/>
            <a:ext cx="2682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4. 浮点运算部件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9284" name="Text Box 20"/>
          <p:cNvSpPr txBox="1">
            <a:spLocks noChangeArrowheads="1"/>
          </p:cNvSpPr>
          <p:nvPr/>
        </p:nvSpPr>
        <p:spPr bwMode="auto">
          <a:xfrm>
            <a:off x="3355975" y="5997575"/>
            <a:ext cx="4827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阶码运算部件，尾数运算部件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9285" name="Text Box 21"/>
          <p:cNvSpPr txBox="1">
            <a:spLocks noChangeArrowheads="1"/>
          </p:cNvSpPr>
          <p:nvPr/>
        </p:nvSpPr>
        <p:spPr bwMode="auto">
          <a:xfrm>
            <a:off x="2305050" y="3254375"/>
            <a:ext cx="1254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3. 步骤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79286" name="Text Box 22"/>
          <p:cNvSpPr txBox="1">
            <a:spLocks noChangeArrowheads="1"/>
          </p:cNvSpPr>
          <p:nvPr/>
        </p:nvSpPr>
        <p:spPr bwMode="auto">
          <a:xfrm>
            <a:off x="2709863" y="4930775"/>
            <a:ext cx="30416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(3) </a:t>
            </a:r>
            <a:r>
              <a:rPr lang="zh-CN" altLang="en-US">
                <a:latin typeface="Times New Roman" panose="02020603050405020304" pitchFamily="18" charset="0"/>
              </a:rPr>
              <a:t>尾数规格化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5280025" y="4930775"/>
            <a:ext cx="2663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</a:t>
            </a:r>
            <a:r>
              <a:rPr lang="en-US" altLang="zh-CN" sz="2400">
                <a:latin typeface="Times New Roman" panose="02020603050405020304" pitchFamily="18" charset="0"/>
              </a:rPr>
              <a:t>4</a:t>
            </a:r>
            <a:r>
              <a:rPr lang="zh-CN" altLang="en-US" sz="2400">
                <a:latin typeface="Times New Roman" panose="02020603050405020304" pitchFamily="18" charset="0"/>
              </a:rPr>
              <a:t>) </a:t>
            </a:r>
            <a:r>
              <a:rPr lang="zh-CN" altLang="en-US">
                <a:latin typeface="Times New Roman" panose="02020603050405020304" pitchFamily="18" charset="0"/>
              </a:rPr>
              <a:t>尾数舍入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7551738" y="4918075"/>
            <a:ext cx="2754312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(</a:t>
            </a:r>
            <a:r>
              <a:rPr lang="en-US" altLang="zh-CN" sz="2400">
                <a:latin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</a:rPr>
              <a:t>) </a:t>
            </a:r>
            <a:r>
              <a:rPr lang="zh-CN" altLang="en-US">
                <a:latin typeface="Times New Roman" panose="02020603050405020304" pitchFamily="18" charset="0"/>
              </a:rPr>
              <a:t>阶码判溢出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9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7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7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7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79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79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7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7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7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67" grpId="0" autoUpdateAnimBg="0"/>
      <p:bldP spid="779268" grpId="0" autoUpdateAnimBg="0"/>
      <p:bldP spid="779269" grpId="0" autoUpdateAnimBg="0"/>
      <p:bldP spid="779270" grpId="0" autoUpdateAnimBg="0"/>
      <p:bldP spid="779271" grpId="0" autoUpdateAnimBg="0"/>
      <p:bldP spid="779281" grpId="0" autoUpdateAnimBg="0"/>
      <p:bldP spid="779282" grpId="0" autoUpdateAnimBg="0"/>
      <p:bldP spid="779283" grpId="0" autoUpdateAnimBg="0"/>
      <p:bldP spid="779284" grpId="0" autoUpdateAnimBg="0"/>
      <p:bldP spid="779285" grpId="0" autoUpdateAnimBg="0"/>
      <p:bldP spid="779286" grpId="0" autoUpdateAnimBg="0"/>
      <p:bldP spid="25" grpId="0" autoUpdateAnimBg="0"/>
      <p:bldP spid="26" grpId="0" autoUpdateAnimBg="0"/>
    </p:bldLst>
  </p:timing>
</p:sld>
</file>

<file path=ppt/tags/tag1.xml><?xml version="1.0" encoding="utf-8"?>
<p:tagLst xmlns:p="http://schemas.openxmlformats.org/presentationml/2006/main">
  <p:tag name="commondata" val="eyJoZGlkIjoiMzEwNTM5NzYwMDRjMzkwZTVkZjY2ODkwMGIxNGU0OTU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13794</Words>
  <Application>WPS 演示</Application>
  <PresentationFormat>宽屏</PresentationFormat>
  <Paragraphs>2709</Paragraphs>
  <Slides>64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5" baseType="lpstr">
      <vt:lpstr>Arial</vt:lpstr>
      <vt:lpstr>宋体</vt:lpstr>
      <vt:lpstr>Wingdings</vt:lpstr>
      <vt:lpstr>Calibri</vt:lpstr>
      <vt:lpstr>Calibri Light</vt:lpstr>
      <vt:lpstr>Times New Roman</vt:lpstr>
      <vt:lpstr>等线</vt:lpstr>
      <vt:lpstr>等线 Light</vt:lpstr>
      <vt:lpstr>微软雅黑</vt:lpstr>
      <vt:lpstr>Arial Unicode MS</vt:lpstr>
      <vt:lpstr>Office 主题​​</vt:lpstr>
      <vt:lpstr>数的表示与运算</vt:lpstr>
      <vt:lpstr>I  无符号数和有符号数</vt:lpstr>
      <vt:lpstr>PowerPoint 演示文稿</vt:lpstr>
      <vt:lpstr>PowerPoint 演示文稿</vt:lpstr>
      <vt:lpstr>PowerPoint 演示文稿</vt:lpstr>
      <vt:lpstr>PowerPoint 演示文稿</vt:lpstr>
      <vt:lpstr>II  数的定点表示和浮点表示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VI   IEEE 754标准</vt:lpstr>
      <vt:lpstr>PowerPoint 演示文稿</vt:lpstr>
      <vt:lpstr>PowerPoint 演示文稿</vt:lpstr>
      <vt:lpstr>PowerPoint 演示文稿</vt:lpstr>
      <vt:lpstr>III 定 点 运 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IV  浮点四则运算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QuGuannan</dc:creator>
  <cp:lastModifiedBy>Q</cp:lastModifiedBy>
  <cp:revision>1672</cp:revision>
  <dcterms:created xsi:type="dcterms:W3CDTF">2113-01-01T00:00:00Z</dcterms:created>
  <dcterms:modified xsi:type="dcterms:W3CDTF">2024-10-11T05:48:06Z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3A5D855F3A0D4CE385B49612CA2DB12E_12</vt:lpwstr>
  </property>
  <property fmtid="{D5CDD505-2E9C-101B-9397-08002B2CF9AE}" pid="3" name="KSOProductBuildVer">
    <vt:lpwstr>2052-12.1.0.18276</vt:lpwstr>
  </property>
</Properties>
</file>