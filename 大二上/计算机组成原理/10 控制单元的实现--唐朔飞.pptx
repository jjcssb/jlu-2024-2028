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1"/>
  </p:notesMasterIdLst>
  <p:sldIdLst>
    <p:sldId id="816" r:id="rId3"/>
    <p:sldId id="817" r:id="rId4"/>
    <p:sldId id="818" r:id="rId5"/>
    <p:sldId id="819" r:id="rId6"/>
    <p:sldId id="820" r:id="rId7"/>
    <p:sldId id="986" r:id="rId8"/>
    <p:sldId id="822" r:id="rId9"/>
    <p:sldId id="823" r:id="rId10"/>
    <p:sldId id="824" r:id="rId11"/>
    <p:sldId id="825" r:id="rId12"/>
    <p:sldId id="1008" r:id="rId13"/>
    <p:sldId id="1010" r:id="rId14"/>
    <p:sldId id="1011" r:id="rId15"/>
    <p:sldId id="1012" r:id="rId16"/>
    <p:sldId id="1013" r:id="rId17"/>
    <p:sldId id="1014" r:id="rId18"/>
    <p:sldId id="1015" r:id="rId19"/>
    <p:sldId id="1009" r:id="rId20"/>
    <p:sldId id="826" r:id="rId21"/>
    <p:sldId id="827" r:id="rId22"/>
    <p:sldId id="828" r:id="rId23"/>
    <p:sldId id="829" r:id="rId24"/>
    <p:sldId id="830" r:id="rId25"/>
    <p:sldId id="831" r:id="rId26"/>
    <p:sldId id="1019" r:id="rId27"/>
    <p:sldId id="1016" r:id="rId28"/>
    <p:sldId id="1017" r:id="rId29"/>
    <p:sldId id="1018" r:id="rId30"/>
    <p:sldId id="832" r:id="rId31"/>
    <p:sldId id="833" r:id="rId32"/>
    <p:sldId id="834" r:id="rId33"/>
    <p:sldId id="835" r:id="rId34"/>
    <p:sldId id="836" r:id="rId35"/>
    <p:sldId id="837" r:id="rId36"/>
    <p:sldId id="838" r:id="rId37"/>
    <p:sldId id="839" r:id="rId38"/>
    <p:sldId id="840" r:id="rId39"/>
    <p:sldId id="841" r:id="rId40"/>
    <p:sldId id="842" r:id="rId41"/>
    <p:sldId id="843" r:id="rId42"/>
    <p:sldId id="844" r:id="rId43"/>
    <p:sldId id="847" r:id="rId44"/>
    <p:sldId id="848" r:id="rId45"/>
    <p:sldId id="849" r:id="rId46"/>
    <p:sldId id="850" r:id="rId47"/>
    <p:sldId id="851" r:id="rId48"/>
    <p:sldId id="852" r:id="rId49"/>
    <p:sldId id="853" r:id="rId50"/>
    <p:sldId id="854" r:id="rId51"/>
    <p:sldId id="855" r:id="rId52"/>
    <p:sldId id="856" r:id="rId53"/>
    <p:sldId id="857" r:id="rId54"/>
    <p:sldId id="858" r:id="rId55"/>
    <p:sldId id="859" r:id="rId56"/>
    <p:sldId id="860" r:id="rId57"/>
    <p:sldId id="861" r:id="rId58"/>
    <p:sldId id="862" r:id="rId59"/>
    <p:sldId id="863" r:id="rId60"/>
  </p:sldIdLst>
  <p:sldSz cx="9144000" cy="6858000" type="screen4x3"/>
  <p:notesSz cx="6858000" cy="9144000"/>
  <p:kinsoku lang="zh-CN" invalStChars="!),.:;?]}、。—ˇ¨〃々～‖…’”〕〉》」』〗】∶！＂＇），．：；？］｀｜｝·" invalEndChars="([{‘“〔〈《「『〖【（［｛．·"/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等线" panose="02010600030101010101" pitchFamily="2" charset="-122"/>
        <a:ea typeface="等线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等线" panose="02010600030101010101" pitchFamily="2" charset="-122"/>
        <a:ea typeface="等线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等线" panose="02010600030101010101" pitchFamily="2" charset="-122"/>
        <a:ea typeface="等线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等线" panose="02010600030101010101" pitchFamily="2" charset="-122"/>
        <a:ea typeface="等线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等线" panose="02010600030101010101" pitchFamily="2" charset="-122"/>
        <a:ea typeface="等线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等线" panose="02010600030101010101" pitchFamily="2" charset="-122"/>
        <a:ea typeface="等线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等线" panose="02010600030101010101" pitchFamily="2" charset="-122"/>
        <a:ea typeface="等线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等线" panose="02010600030101010101" pitchFamily="2" charset="-122"/>
        <a:ea typeface="等线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等线" panose="02010600030101010101" pitchFamily="2" charset="-122"/>
        <a:ea typeface="等线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  <a:srgbClr val="003399"/>
    <a:srgbClr val="3366FF"/>
    <a:srgbClr val="0066FF"/>
    <a:srgbClr val="C28F3E"/>
    <a:srgbClr val="BC7D3E"/>
    <a:srgbClr val="B0753A"/>
    <a:srgbClr val="9966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18"/>
    <p:restoredTop sz="94668"/>
  </p:normalViewPr>
  <p:slideViewPr>
    <p:cSldViewPr showGuides="1">
      <p:cViewPr varScale="1">
        <p:scale>
          <a:sx n="150" d="100"/>
          <a:sy n="150" d="100"/>
        </p:scale>
        <p:origin x="3774" y="12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345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4" Type="http://schemas.openxmlformats.org/officeDocument/2006/relationships/tableStyles" Target="tableStyles.xml"/><Relationship Id="rId63" Type="http://schemas.openxmlformats.org/officeDocument/2006/relationships/viewProps" Target="viewProps.xml"/><Relationship Id="rId62" Type="http://schemas.openxmlformats.org/officeDocument/2006/relationships/presProps" Target="presProps.xml"/><Relationship Id="rId61" Type="http://schemas.openxmlformats.org/officeDocument/2006/relationships/notesMaster" Target="notesMasters/notesMaster1.xml"/><Relationship Id="rId60" Type="http://schemas.openxmlformats.org/officeDocument/2006/relationships/slide" Target="slides/slide58.xml"/><Relationship Id="rId6" Type="http://schemas.openxmlformats.org/officeDocument/2006/relationships/slide" Target="slides/slide4.xml"/><Relationship Id="rId59" Type="http://schemas.openxmlformats.org/officeDocument/2006/relationships/slide" Target="slides/slide57.xml"/><Relationship Id="rId58" Type="http://schemas.openxmlformats.org/officeDocument/2006/relationships/slide" Target="slides/slide56.xml"/><Relationship Id="rId57" Type="http://schemas.openxmlformats.org/officeDocument/2006/relationships/slide" Target="slides/slide55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12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052" name="Rectangle 4"/>
          <p:cNvSpPr>
            <a:spLocks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512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第二级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第三级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第四级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第五级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12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 eaLnBrk="1" hangingPunct="1">
              <a:buNone/>
            </a:pPr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等线" panose="02010600030101010101" pitchFamily="2" charset="-122"/>
              </a:rPr>
            </a:fld>
            <a:endParaRPr lang="zh-CN" altLang="en-US" dirty="0">
              <a:latin typeface="等线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等线" panose="02010600030101010101" pitchFamily="2" charset="-122"/>
              </a:rPr>
            </a:fld>
            <a:endParaRPr lang="zh-CN" altLang="en-US" dirty="0">
              <a:latin typeface="等线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等线" panose="02010600030101010101" pitchFamily="2" charset="-122"/>
              </a:rPr>
            </a:fld>
            <a:endParaRPr lang="zh-CN" altLang="en-US" dirty="0">
              <a:latin typeface="等线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等线" panose="02010600030101010101" pitchFamily="2" charset="-122"/>
              </a:rPr>
            </a:fld>
            <a:endParaRPr lang="zh-CN" altLang="en-US" dirty="0">
              <a:latin typeface="等线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等线" panose="02010600030101010101" pitchFamily="2" charset="-122"/>
              </a:rPr>
            </a:fld>
            <a:endParaRPr lang="zh-CN" altLang="en-US" dirty="0">
              <a:latin typeface="等线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等线" panose="02010600030101010101" pitchFamily="2" charset="-122"/>
              </a:rPr>
            </a:fld>
            <a:endParaRPr lang="zh-CN" altLang="en-US" dirty="0">
              <a:latin typeface="等线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等线" panose="02010600030101010101" pitchFamily="2" charset="-122"/>
              </a:rPr>
            </a:fld>
            <a:endParaRPr lang="zh-CN" altLang="en-US" dirty="0">
              <a:latin typeface="等线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等线" panose="02010600030101010101" pitchFamily="2" charset="-122"/>
              </a:rPr>
            </a:fld>
            <a:endParaRPr lang="zh-CN" altLang="en-US" dirty="0">
              <a:latin typeface="等线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marL="0" marR="0" lvl="0" indent="0" algn="l" defTabSz="685800" rtl="0" eaLnBrk="0" fontAlgn="base" latinLnBrk="0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等线" panose="02010600030101010101" pitchFamily="2" charset="-122"/>
              </a:rPr>
            </a:fld>
            <a:endParaRPr lang="zh-CN" altLang="en-US" dirty="0">
              <a:latin typeface="等线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等线" panose="02010600030101010101" pitchFamily="2" charset="-122"/>
              </a:rPr>
            </a:fld>
            <a:endParaRPr lang="zh-CN" altLang="en-US" dirty="0">
              <a:latin typeface="等线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等线" panose="02010600030101010101" pitchFamily="2" charset="-122"/>
              </a:rPr>
            </a:fld>
            <a:endParaRPr lang="zh-CN" altLang="en-US" dirty="0">
              <a:latin typeface="等线" panose="02010600030101010101" pitchFamily="2" charset="-122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900">
                <a:solidFill>
                  <a:srgbClr val="898989"/>
                </a:solidFill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等线" panose="02010600030101010101" pitchFamily="2" charset="-122"/>
              </a:rPr>
            </a:fld>
            <a:endParaRPr lang="zh-CN" altLang="en-US" dirty="0">
              <a:latin typeface="等线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slide" Target="slide31.xml"/><Relationship Id="rId1" Type="http://schemas.openxmlformats.org/officeDocument/2006/relationships/slide" Target="slide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slide" Target="slid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slide" Target="slid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slide" Target="slid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slide" Target="slid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slide" Target="slide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slide" Target="slide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slide" Target="slide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slide" Target="slide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slide" Target="slide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slide" Target="slide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slide" Target="slide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slide" Target="slide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slide" Target="slide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slide" Target="slide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slide" Target="slide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slide" Target="slide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slide" Target="slide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slide" Target="slide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slide" Target="slide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slide" Target="slide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slide" Target="slide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slide" Target="slide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slide" Target="slide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slide" Target="slide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slide" Target="slide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slide" Target="slide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slide" Target="slide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slide" Target="slide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slide" Target="slide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slide" Target="slide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slide" Target="slide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slide" Target="slide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slide" Target="slide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slide" Target="slide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slide" Target="slide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slide" Target="slide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slide" Target="slide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slide" Target="slide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slide" Target="slide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slide" Target="slide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slide" Target="slide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slide" Target="slide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slide" Target="slide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slide" Target="slide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slide" Target="slide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slide" Target="slide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slide" Target="slide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slide" Target="slide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slide" Target="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74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b="1" dirty="0"/>
              <a:t>第</a:t>
            </a:r>
            <a:r>
              <a:rPr lang="en-US" altLang="zh-CN" b="1" dirty="0">
                <a:latin typeface="Times New Roman" panose="02020603050405020304" pitchFamily="18" charset="0"/>
              </a:rPr>
              <a:t>10</a:t>
            </a:r>
            <a:r>
              <a:rPr lang="zh-CN" altLang="en-US" b="1" dirty="0"/>
              <a:t>章   控制单元的设计</a:t>
            </a:r>
            <a:endParaRPr lang="zh-CN" altLang="en-US" b="1" dirty="0"/>
          </a:p>
        </p:txBody>
      </p:sp>
      <p:grpSp>
        <p:nvGrpSpPr>
          <p:cNvPr id="3075" name="Group 3"/>
          <p:cNvGrpSpPr/>
          <p:nvPr/>
        </p:nvGrpSpPr>
        <p:grpSpPr>
          <a:xfrm>
            <a:off x="2803525" y="2025650"/>
            <a:ext cx="5959475" cy="1754188"/>
            <a:chOff x="720" y="1276"/>
            <a:chExt cx="3754" cy="1105"/>
          </a:xfrm>
        </p:grpSpPr>
        <p:sp>
          <p:nvSpPr>
            <p:cNvPr id="3077" name="Text Box 4"/>
            <p:cNvSpPr txBox="1"/>
            <p:nvPr/>
          </p:nvSpPr>
          <p:spPr>
            <a:xfrm>
              <a:off x="720" y="1276"/>
              <a:ext cx="3754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/>
              <a:r>
                <a:rPr lang="zh-CN" altLang="en-US" sz="3200" dirty="0">
                  <a:latin typeface="Times New Roman" panose="02020603050405020304" pitchFamily="18" charset="0"/>
                  <a:hlinkClick r:id="rId1" action="ppaction://hlinksldjump"/>
                </a:rPr>
                <a:t>10.1   组合逻辑设计</a:t>
              </a:r>
              <a:endParaRPr lang="zh-CN" altLang="en-US" sz="3200" dirty="0">
                <a:latin typeface="Times New Roman" panose="02020603050405020304" pitchFamily="18" charset="0"/>
              </a:endParaRPr>
            </a:p>
          </p:txBody>
        </p:sp>
        <p:sp>
          <p:nvSpPr>
            <p:cNvPr id="3078" name="Text Box 5"/>
            <p:cNvSpPr txBox="1"/>
            <p:nvPr/>
          </p:nvSpPr>
          <p:spPr>
            <a:xfrm>
              <a:off x="720" y="2016"/>
              <a:ext cx="3082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zh-CN" altLang="en-US" sz="3200" dirty="0">
                  <a:latin typeface="Times New Roman" panose="02020603050405020304" pitchFamily="18" charset="0"/>
                  <a:hlinkClick r:id="rId2" action="ppaction://hlinksldjump"/>
                </a:rPr>
                <a:t>10.2   微程序设计</a:t>
              </a:r>
              <a:endParaRPr lang="zh-CN" altLang="en-US" sz="32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3076" name="AutoShape 8">
            <a:hlinkClick r:id="" action="ppaction://noaction"/>
          </p:cNvPr>
          <p:cNvSpPr/>
          <p:nvPr/>
        </p:nvSpPr>
        <p:spPr>
          <a:xfrm>
            <a:off x="8589963" y="6516688"/>
            <a:ext cx="539750" cy="333375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endParaRPr lang="zh-CN" altLang="en-US" dirty="0">
              <a:latin typeface="等线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098" name="Rectangle 2"/>
          <p:cNvSpPr>
            <a:spLocks noGrp="1"/>
          </p:cNvSpPr>
          <p:nvPr>
            <p:ph type="title"/>
          </p:nvPr>
        </p:nvSpPr>
        <p:spPr>
          <a:xfrm>
            <a:off x="685800" y="228600"/>
            <a:ext cx="7772400" cy="11430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b="1" dirty="0"/>
              <a:t>10.1   组合逻辑设计</a:t>
            </a:r>
            <a:endParaRPr lang="zh-CN" altLang="en-US" b="1" dirty="0"/>
          </a:p>
        </p:txBody>
      </p:sp>
      <p:sp>
        <p:nvSpPr>
          <p:cNvPr id="610307" name="Text Box 3"/>
          <p:cNvSpPr txBox="1"/>
          <p:nvPr/>
        </p:nvSpPr>
        <p:spPr>
          <a:xfrm>
            <a:off x="457200" y="1447800"/>
            <a:ext cx="5080000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zh-CN" altLang="en-US" sz="3200" dirty="0">
                <a:latin typeface="等线" panose="02010600030101010101" pitchFamily="2" charset="-122"/>
              </a:rPr>
              <a:t>一、组合逻辑控制单元框图</a:t>
            </a:r>
            <a:endParaRPr lang="zh-CN" altLang="en-US" sz="3200" dirty="0">
              <a:latin typeface="Times New Roman" panose="02020603050405020304" pitchFamily="18" charset="0"/>
            </a:endParaRPr>
          </a:p>
        </p:txBody>
      </p:sp>
      <p:sp>
        <p:nvSpPr>
          <p:cNvPr id="610308" name="Text Box 4"/>
          <p:cNvSpPr txBox="1"/>
          <p:nvPr/>
        </p:nvSpPr>
        <p:spPr>
          <a:xfrm>
            <a:off x="990600" y="2133600"/>
            <a:ext cx="34290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zh-CN" altLang="en-US" sz="2800" dirty="0">
                <a:latin typeface="Times New Roman" panose="02020603050405020304" pitchFamily="18" charset="0"/>
              </a:rPr>
              <a:t>1</a:t>
            </a:r>
            <a:r>
              <a:rPr lang="zh-CN" altLang="en-US" sz="2800" dirty="0">
                <a:latin typeface="等线" panose="02010600030101010101" pitchFamily="2" charset="-122"/>
              </a:rPr>
              <a:t>. </a:t>
            </a:r>
            <a:r>
              <a:rPr lang="en-US" altLang="zh-CN" sz="2800" dirty="0">
                <a:latin typeface="Times New Roman" panose="02020603050405020304" pitchFamily="18" charset="0"/>
              </a:rPr>
              <a:t>CU</a:t>
            </a:r>
            <a:r>
              <a:rPr lang="en-US" altLang="zh-CN" sz="2800" dirty="0">
                <a:latin typeface="等线" panose="02010600030101010101" pitchFamily="2" charset="-122"/>
              </a:rPr>
              <a:t> </a:t>
            </a:r>
            <a:r>
              <a:rPr lang="zh-CN" altLang="en-US" sz="2800" dirty="0">
                <a:latin typeface="等线" panose="02010600030101010101" pitchFamily="2" charset="-122"/>
              </a:rPr>
              <a:t>外特性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610309" name="Rectangle 5"/>
          <p:cNvSpPr/>
          <p:nvPr/>
        </p:nvSpPr>
        <p:spPr>
          <a:xfrm>
            <a:off x="4419600" y="2667000"/>
            <a:ext cx="1371600" cy="457200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1" hangingPunct="1"/>
            <a:r>
              <a:rPr lang="en-US" altLang="zh-CN" sz="2400" dirty="0">
                <a:latin typeface="Times New Roman" panose="02020603050405020304" pitchFamily="18" charset="0"/>
              </a:rPr>
              <a:t>IR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grpSp>
        <p:nvGrpSpPr>
          <p:cNvPr id="610310" name="Group 6"/>
          <p:cNvGrpSpPr/>
          <p:nvPr/>
        </p:nvGrpSpPr>
        <p:grpSpPr>
          <a:xfrm>
            <a:off x="3048000" y="4495800"/>
            <a:ext cx="609600" cy="1524000"/>
            <a:chOff x="2118" y="2832"/>
            <a:chExt cx="384" cy="960"/>
          </a:xfrm>
        </p:grpSpPr>
        <p:sp>
          <p:nvSpPr>
            <p:cNvPr id="4147" name="Text Box 7"/>
            <p:cNvSpPr txBox="1"/>
            <p:nvPr/>
          </p:nvSpPr>
          <p:spPr>
            <a:xfrm>
              <a:off x="2177" y="2899"/>
              <a:ext cx="308" cy="85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wrap="none">
              <a:spAutoFit/>
            </a:bodyPr>
            <a:p>
              <a:pPr eaLnBrk="1" hangingPunct="1"/>
              <a:r>
                <a:rPr lang="zh-CN" altLang="en-US" sz="2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节拍发生器</a:t>
              </a:r>
              <a:endParaRPr lang="zh-CN" altLang="en-US" sz="2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148" name="Rectangle 8"/>
            <p:cNvSpPr/>
            <p:nvPr/>
          </p:nvSpPr>
          <p:spPr>
            <a:xfrm>
              <a:off x="2118" y="2832"/>
              <a:ext cx="384" cy="960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</p:grpSp>
      <p:grpSp>
        <p:nvGrpSpPr>
          <p:cNvPr id="610313" name="Group 9"/>
          <p:cNvGrpSpPr/>
          <p:nvPr/>
        </p:nvGrpSpPr>
        <p:grpSpPr>
          <a:xfrm>
            <a:off x="4343400" y="4495800"/>
            <a:ext cx="1600200" cy="1447800"/>
            <a:chOff x="2934" y="2832"/>
            <a:chExt cx="1008" cy="912"/>
          </a:xfrm>
        </p:grpSpPr>
        <p:sp>
          <p:nvSpPr>
            <p:cNvPr id="4145" name="Rectangle 10"/>
            <p:cNvSpPr/>
            <p:nvPr/>
          </p:nvSpPr>
          <p:spPr>
            <a:xfrm>
              <a:off x="2934" y="2832"/>
              <a:ext cx="1008" cy="912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4146" name="Text Box 11"/>
            <p:cNvSpPr txBox="1"/>
            <p:nvPr/>
          </p:nvSpPr>
          <p:spPr>
            <a:xfrm>
              <a:off x="3212" y="3146"/>
              <a:ext cx="39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CU</a:t>
              </a:r>
              <a:endParaRPr lang="en-US" altLang="zh-CN" sz="24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10316" name="Group 12"/>
          <p:cNvGrpSpPr/>
          <p:nvPr/>
        </p:nvGrpSpPr>
        <p:grpSpPr>
          <a:xfrm>
            <a:off x="3657600" y="4346575"/>
            <a:ext cx="685800" cy="1460500"/>
            <a:chOff x="2304" y="2738"/>
            <a:chExt cx="432" cy="920"/>
          </a:xfrm>
        </p:grpSpPr>
        <p:sp>
          <p:nvSpPr>
            <p:cNvPr id="4135" name="Line 13"/>
            <p:cNvSpPr/>
            <p:nvPr/>
          </p:nvSpPr>
          <p:spPr>
            <a:xfrm>
              <a:off x="2304" y="3216"/>
              <a:ext cx="43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grpSp>
          <p:nvGrpSpPr>
            <p:cNvPr id="4136" name="Group 14"/>
            <p:cNvGrpSpPr/>
            <p:nvPr/>
          </p:nvGrpSpPr>
          <p:grpSpPr>
            <a:xfrm>
              <a:off x="2304" y="2738"/>
              <a:ext cx="432" cy="920"/>
              <a:chOff x="2304" y="2738"/>
              <a:chExt cx="432" cy="920"/>
            </a:xfrm>
          </p:grpSpPr>
          <p:grpSp>
            <p:nvGrpSpPr>
              <p:cNvPr id="4138" name="Group 15"/>
              <p:cNvGrpSpPr/>
              <p:nvPr/>
            </p:nvGrpSpPr>
            <p:grpSpPr>
              <a:xfrm>
                <a:off x="2304" y="2738"/>
                <a:ext cx="432" cy="910"/>
                <a:chOff x="2304" y="2738"/>
                <a:chExt cx="432" cy="910"/>
              </a:xfrm>
            </p:grpSpPr>
            <p:sp>
              <p:nvSpPr>
                <p:cNvPr id="4143" name="Line 16"/>
                <p:cNvSpPr/>
                <p:nvPr/>
              </p:nvSpPr>
              <p:spPr>
                <a:xfrm>
                  <a:off x="2304" y="3648"/>
                  <a:ext cx="432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stealth" w="med" len="med"/>
                </a:ln>
              </p:spPr>
            </p:sp>
            <p:sp>
              <p:nvSpPr>
                <p:cNvPr id="4144" name="Text Box 17"/>
                <p:cNvSpPr txBox="1"/>
                <p:nvPr/>
              </p:nvSpPr>
              <p:spPr>
                <a:xfrm>
                  <a:off x="2390" y="2738"/>
                  <a:ext cx="266" cy="25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 eaLnBrk="1" hangingPunct="1"/>
                  <a:r>
                    <a:rPr lang="en-US" altLang="zh-CN" sz="2000" i="1" dirty="0">
                      <a:latin typeface="Times New Roman" panose="02020603050405020304" pitchFamily="18" charset="0"/>
                    </a:rPr>
                    <a:t>T</a:t>
                  </a:r>
                  <a:r>
                    <a:rPr lang="en-US" altLang="zh-CN" sz="2000" baseline="-25000" dirty="0">
                      <a:latin typeface="Times New Roman" panose="02020603050405020304" pitchFamily="18" charset="0"/>
                    </a:rPr>
                    <a:t>0</a:t>
                  </a:r>
                  <a:endParaRPr lang="en-US" altLang="zh-CN" sz="2000" baseline="-25000" dirty="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4139" name="Group 18"/>
              <p:cNvGrpSpPr/>
              <p:nvPr/>
            </p:nvGrpSpPr>
            <p:grpSpPr>
              <a:xfrm>
                <a:off x="2304" y="2976"/>
                <a:ext cx="432" cy="682"/>
                <a:chOff x="2304" y="2976"/>
                <a:chExt cx="432" cy="682"/>
              </a:xfrm>
            </p:grpSpPr>
            <p:sp>
              <p:nvSpPr>
                <p:cNvPr id="4140" name="Line 19"/>
                <p:cNvSpPr/>
                <p:nvPr/>
              </p:nvSpPr>
              <p:spPr>
                <a:xfrm>
                  <a:off x="2304" y="2976"/>
                  <a:ext cx="432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stealth" w="med" len="med"/>
                </a:ln>
              </p:spPr>
            </p:sp>
            <p:sp>
              <p:nvSpPr>
                <p:cNvPr id="4141" name="Text Box 20"/>
                <p:cNvSpPr txBox="1"/>
                <p:nvPr/>
              </p:nvSpPr>
              <p:spPr>
                <a:xfrm>
                  <a:off x="2400" y="2976"/>
                  <a:ext cx="266" cy="25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 eaLnBrk="1" hangingPunct="1"/>
                  <a:r>
                    <a:rPr lang="en-US" altLang="zh-CN" sz="2000" i="1" dirty="0">
                      <a:latin typeface="Times New Roman" panose="02020603050405020304" pitchFamily="18" charset="0"/>
                    </a:rPr>
                    <a:t>T</a:t>
                  </a:r>
                  <a:r>
                    <a:rPr lang="en-US" altLang="zh-CN" sz="2000" baseline="-25000" dirty="0">
                      <a:latin typeface="Times New Roman" panose="02020603050405020304" pitchFamily="18" charset="0"/>
                    </a:rPr>
                    <a:t>1</a:t>
                  </a:r>
                  <a:endParaRPr lang="en-US" altLang="zh-CN" sz="2000" baseline="-250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142" name="Text Box 21"/>
                <p:cNvSpPr txBox="1"/>
                <p:nvPr/>
              </p:nvSpPr>
              <p:spPr>
                <a:xfrm>
                  <a:off x="2400" y="3408"/>
                  <a:ext cx="272" cy="25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 eaLnBrk="1" hangingPunct="1"/>
                  <a:r>
                    <a:rPr lang="en-US" altLang="zh-CN" sz="2000" i="1" dirty="0">
                      <a:latin typeface="Times New Roman" panose="02020603050405020304" pitchFamily="18" charset="0"/>
                    </a:rPr>
                    <a:t>T</a:t>
                  </a:r>
                  <a:r>
                    <a:rPr lang="en-US" altLang="zh-CN" sz="2000" i="1" baseline="-25000" dirty="0">
                      <a:latin typeface="Times New Roman" panose="02020603050405020304" pitchFamily="18" charset="0"/>
                    </a:rPr>
                    <a:t>n</a:t>
                  </a:r>
                  <a:endParaRPr lang="en-US" altLang="zh-CN" sz="2000" i="1" baseline="-25000" dirty="0">
                    <a:latin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4137" name="Text Box 22"/>
            <p:cNvSpPr txBox="1"/>
            <p:nvPr/>
          </p:nvSpPr>
          <p:spPr>
            <a:xfrm>
              <a:off x="2390" y="3235"/>
              <a:ext cx="34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wrap="none">
              <a:spAutoFit/>
            </a:bodyPr>
            <a:p>
              <a:pPr eaLnBrk="1" hangingPunct="1"/>
              <a:r>
                <a:rPr lang="zh-CN" altLang="en-US" sz="2400" dirty="0">
                  <a:latin typeface="Times New Roman" panose="02020603050405020304" pitchFamily="18" charset="0"/>
                </a:rPr>
                <a:t>…</a:t>
              </a:r>
              <a:endParaRPr lang="zh-CN" altLang="en-US" sz="24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10327" name="Group 23"/>
          <p:cNvGrpSpPr/>
          <p:nvPr/>
        </p:nvGrpSpPr>
        <p:grpSpPr>
          <a:xfrm>
            <a:off x="1447800" y="4937125"/>
            <a:ext cx="1708150" cy="717550"/>
            <a:chOff x="1110" y="3110"/>
            <a:chExt cx="1076" cy="452"/>
          </a:xfrm>
        </p:grpSpPr>
        <p:sp>
          <p:nvSpPr>
            <p:cNvPr id="4132" name="Line 24"/>
            <p:cNvSpPr/>
            <p:nvPr/>
          </p:nvSpPr>
          <p:spPr>
            <a:xfrm>
              <a:off x="1686" y="3312"/>
              <a:ext cx="43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4133" name="Text Box 25"/>
            <p:cNvSpPr txBox="1"/>
            <p:nvPr/>
          </p:nvSpPr>
          <p:spPr>
            <a:xfrm>
              <a:off x="1436" y="3110"/>
              <a:ext cx="463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dirty="0">
                  <a:latin typeface="Times New Roman" panose="02020603050405020304" pitchFamily="18" charset="0"/>
                </a:rPr>
                <a:t>CLK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4134" name="Text Box 26"/>
            <p:cNvSpPr txBox="1"/>
            <p:nvPr/>
          </p:nvSpPr>
          <p:spPr>
            <a:xfrm>
              <a:off x="1110" y="3312"/>
              <a:ext cx="107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（机器主频）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10331" name="Group 27"/>
          <p:cNvGrpSpPr/>
          <p:nvPr/>
        </p:nvGrpSpPr>
        <p:grpSpPr>
          <a:xfrm>
            <a:off x="5943600" y="4648200"/>
            <a:ext cx="1133475" cy="1066800"/>
            <a:chOff x="3942" y="2928"/>
            <a:chExt cx="714" cy="672"/>
          </a:xfrm>
        </p:grpSpPr>
        <p:sp>
          <p:nvSpPr>
            <p:cNvPr id="4128" name="Line 28"/>
            <p:cNvSpPr/>
            <p:nvPr/>
          </p:nvSpPr>
          <p:spPr>
            <a:xfrm flipH="1">
              <a:off x="3942" y="2928"/>
              <a:ext cx="384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4129" name="Line 29"/>
            <p:cNvSpPr/>
            <p:nvPr/>
          </p:nvSpPr>
          <p:spPr>
            <a:xfrm flipH="1">
              <a:off x="3942" y="3600"/>
              <a:ext cx="384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4130" name="Text Box 30"/>
            <p:cNvSpPr txBox="1"/>
            <p:nvPr/>
          </p:nvSpPr>
          <p:spPr>
            <a:xfrm>
              <a:off x="3983" y="3168"/>
              <a:ext cx="34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wrap="none">
              <a:spAutoFit/>
            </a:bodyPr>
            <a:p>
              <a:pPr eaLnBrk="1" hangingPunct="1"/>
              <a:r>
                <a:rPr lang="zh-CN" altLang="en-US" sz="2400" dirty="0">
                  <a:latin typeface="Times New Roman" panose="02020603050405020304" pitchFamily="18" charset="0"/>
                </a:rPr>
                <a:t>…</a:t>
              </a:r>
              <a:endParaRPr lang="zh-CN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4131" name="Text Box 31"/>
            <p:cNvSpPr txBox="1"/>
            <p:nvPr/>
          </p:nvSpPr>
          <p:spPr>
            <a:xfrm>
              <a:off x="4220" y="3166"/>
              <a:ext cx="43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标志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10336" name="Group 32"/>
          <p:cNvGrpSpPr/>
          <p:nvPr/>
        </p:nvGrpSpPr>
        <p:grpSpPr>
          <a:xfrm>
            <a:off x="4337050" y="3962400"/>
            <a:ext cx="1903413" cy="533400"/>
            <a:chOff x="2930" y="2496"/>
            <a:chExt cx="1199" cy="336"/>
          </a:xfrm>
        </p:grpSpPr>
        <p:grpSp>
          <p:nvGrpSpPr>
            <p:cNvPr id="4120" name="Group 33"/>
            <p:cNvGrpSpPr/>
            <p:nvPr/>
          </p:nvGrpSpPr>
          <p:grpSpPr>
            <a:xfrm>
              <a:off x="2930" y="2496"/>
              <a:ext cx="1199" cy="336"/>
              <a:chOff x="2930" y="2496"/>
              <a:chExt cx="1199" cy="336"/>
            </a:xfrm>
          </p:grpSpPr>
          <p:sp>
            <p:nvSpPr>
              <p:cNvPr id="4122" name="Line 34"/>
              <p:cNvSpPr/>
              <p:nvPr/>
            </p:nvSpPr>
            <p:spPr>
              <a:xfrm>
                <a:off x="3078" y="2496"/>
                <a:ext cx="0" cy="33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4123" name="Line 35"/>
              <p:cNvSpPr/>
              <p:nvPr/>
            </p:nvSpPr>
            <p:spPr>
              <a:xfrm>
                <a:off x="3270" y="2496"/>
                <a:ext cx="0" cy="33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4124" name="Line 36"/>
              <p:cNvSpPr/>
              <p:nvPr/>
            </p:nvSpPr>
            <p:spPr>
              <a:xfrm>
                <a:off x="3750" y="2496"/>
                <a:ext cx="0" cy="33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4125" name="Text Box 37"/>
              <p:cNvSpPr txBox="1"/>
              <p:nvPr/>
            </p:nvSpPr>
            <p:spPr>
              <a:xfrm>
                <a:off x="2930" y="2544"/>
                <a:ext cx="196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zh-CN" altLang="en-US" sz="2000" dirty="0">
                    <a:latin typeface="Times New Roman" panose="02020603050405020304" pitchFamily="18" charset="0"/>
                  </a:rPr>
                  <a:t>0</a:t>
                </a:r>
                <a:endParaRPr lang="zh-CN" altLang="en-US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26" name="Text Box 38"/>
              <p:cNvSpPr txBox="1"/>
              <p:nvPr/>
            </p:nvSpPr>
            <p:spPr>
              <a:xfrm>
                <a:off x="3116" y="2553"/>
                <a:ext cx="196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zh-CN" altLang="en-US" sz="2000" dirty="0">
                    <a:latin typeface="Times New Roman" panose="02020603050405020304" pitchFamily="18" charset="0"/>
                  </a:rPr>
                  <a:t>1</a:t>
                </a:r>
                <a:endParaRPr lang="zh-CN" altLang="en-US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27" name="Text Box 39"/>
              <p:cNvSpPr txBox="1"/>
              <p:nvPr/>
            </p:nvSpPr>
            <p:spPr>
              <a:xfrm>
                <a:off x="3750" y="2553"/>
                <a:ext cx="379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zh-CN" altLang="en-US" sz="2000" dirty="0">
                    <a:latin typeface="Times New Roman" panose="02020603050405020304" pitchFamily="18" charset="0"/>
                  </a:rPr>
                  <a:t>2</a:t>
                </a:r>
                <a:r>
                  <a:rPr lang="en-US" altLang="zh-CN" sz="2000" i="1" baseline="40000" dirty="0">
                    <a:latin typeface="Times New Roman" panose="02020603050405020304" pitchFamily="18" charset="0"/>
                  </a:rPr>
                  <a:t>n</a:t>
                </a:r>
                <a:r>
                  <a:rPr lang="en-US" altLang="zh-CN" sz="2000" dirty="0">
                    <a:latin typeface="Times New Roman" panose="02020603050405020304" pitchFamily="18" charset="0"/>
                  </a:rPr>
                  <a:t>-</a:t>
                </a:r>
                <a:r>
                  <a:rPr lang="en-US" altLang="zh-CN" dirty="0">
                    <a:latin typeface="Times New Roman" panose="02020603050405020304" pitchFamily="18" charset="0"/>
                  </a:rPr>
                  <a:t>1</a:t>
                </a:r>
                <a:endParaRPr lang="en-US" altLang="zh-CN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4121" name="Text Box 40"/>
            <p:cNvSpPr txBox="1"/>
            <p:nvPr/>
          </p:nvSpPr>
          <p:spPr>
            <a:xfrm>
              <a:off x="3356" y="2496"/>
              <a:ext cx="30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400" dirty="0">
                  <a:latin typeface="Times New Roman" panose="02020603050405020304" pitchFamily="18" charset="0"/>
                </a:rPr>
                <a:t>…</a:t>
              </a:r>
              <a:endParaRPr lang="zh-CN" altLang="en-US" sz="24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10345" name="Group 41"/>
          <p:cNvGrpSpPr/>
          <p:nvPr/>
        </p:nvGrpSpPr>
        <p:grpSpPr>
          <a:xfrm>
            <a:off x="4305300" y="5943600"/>
            <a:ext cx="1647825" cy="701675"/>
            <a:chOff x="2910" y="3744"/>
            <a:chExt cx="1038" cy="442"/>
          </a:xfrm>
        </p:grpSpPr>
        <p:sp>
          <p:nvSpPr>
            <p:cNvPr id="4114" name="Line 42"/>
            <p:cNvSpPr/>
            <p:nvPr/>
          </p:nvSpPr>
          <p:spPr>
            <a:xfrm>
              <a:off x="3078" y="3744"/>
              <a:ext cx="0" cy="240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4115" name="Line 43"/>
            <p:cNvSpPr/>
            <p:nvPr/>
          </p:nvSpPr>
          <p:spPr>
            <a:xfrm>
              <a:off x="3270" y="3744"/>
              <a:ext cx="0" cy="240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4116" name="Line 44"/>
            <p:cNvSpPr/>
            <p:nvPr/>
          </p:nvSpPr>
          <p:spPr>
            <a:xfrm>
              <a:off x="3798" y="3744"/>
              <a:ext cx="0" cy="240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4117" name="Text Box 45"/>
            <p:cNvSpPr txBox="1"/>
            <p:nvPr/>
          </p:nvSpPr>
          <p:spPr>
            <a:xfrm>
              <a:off x="2910" y="3936"/>
              <a:ext cx="284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C</a:t>
              </a:r>
              <a:r>
                <a:rPr lang="en-US" altLang="zh-CN" sz="2000" baseline="-2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000" baseline="-25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118" name="Text Box 46"/>
            <p:cNvSpPr txBox="1"/>
            <p:nvPr/>
          </p:nvSpPr>
          <p:spPr>
            <a:xfrm>
              <a:off x="3130" y="3936"/>
              <a:ext cx="284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C</a:t>
              </a:r>
              <a:r>
                <a:rPr lang="en-US" altLang="zh-CN" sz="2000" baseline="-2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000" baseline="-25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119" name="Text Box 47"/>
            <p:cNvSpPr txBox="1"/>
            <p:nvPr/>
          </p:nvSpPr>
          <p:spPr>
            <a:xfrm>
              <a:off x="3658" y="3936"/>
              <a:ext cx="29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C</a:t>
              </a:r>
              <a:r>
                <a:rPr lang="en-US" altLang="zh-CN" sz="2000" i="1" baseline="-2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n</a:t>
              </a:r>
              <a:endParaRPr lang="en-US" altLang="zh-CN" sz="2000" i="1" baseline="-25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610352" name="Rectangle 48"/>
          <p:cNvSpPr/>
          <p:nvPr/>
        </p:nvSpPr>
        <p:spPr>
          <a:xfrm>
            <a:off x="4419600" y="3505200"/>
            <a:ext cx="1371600" cy="457200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1" hangingPunct="1"/>
            <a:r>
              <a:rPr lang="zh-CN" altLang="en-US" sz="2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操作码译码</a:t>
            </a:r>
            <a:endParaRPr lang="zh-CN" altLang="en-US" sz="20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610353" name="Group 49"/>
          <p:cNvGrpSpPr/>
          <p:nvPr/>
        </p:nvGrpSpPr>
        <p:grpSpPr>
          <a:xfrm>
            <a:off x="5029200" y="3124200"/>
            <a:ext cx="1846263" cy="411163"/>
            <a:chOff x="3366" y="1968"/>
            <a:chExt cx="1163" cy="259"/>
          </a:xfrm>
        </p:grpSpPr>
        <p:sp>
          <p:nvSpPr>
            <p:cNvPr id="4112" name="AutoShape 50"/>
            <p:cNvSpPr/>
            <p:nvPr/>
          </p:nvSpPr>
          <p:spPr>
            <a:xfrm>
              <a:off x="3366" y="1968"/>
              <a:ext cx="144" cy="240"/>
            </a:xfrm>
            <a:prstGeom prst="downArrow">
              <a:avLst>
                <a:gd name="adj1" fmla="val 50000"/>
                <a:gd name="adj2" fmla="val 41666"/>
              </a:avLst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vert="eaVert"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4113" name="Text Box 51"/>
            <p:cNvSpPr txBox="1"/>
            <p:nvPr/>
          </p:nvSpPr>
          <p:spPr>
            <a:xfrm>
              <a:off x="3644" y="1977"/>
              <a:ext cx="885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i="1" dirty="0">
                  <a:latin typeface="Times New Roman" panose="02020603050405020304" pitchFamily="18" charset="0"/>
                </a:rPr>
                <a:t>n</a:t>
              </a:r>
              <a:r>
                <a:rPr lang="en-US" altLang="zh-CN" sz="2000" dirty="0">
                  <a:latin typeface="Times New Roman" panose="02020603050405020304" pitchFamily="18" charset="0"/>
                </a:rPr>
                <a:t> </a:t>
              </a:r>
              <a:r>
                <a:rPr lang="zh-CN" altLang="en-US" sz="2000" dirty="0">
                  <a:latin typeface="Times New Roman" panose="02020603050405020304" pitchFamily="18" charset="0"/>
                </a:rPr>
                <a:t>位操作码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4111" name="AutoShape 52">
            <a:hlinkClick r:id="rId1" action="ppaction://hlinksldjump"/>
          </p:cNvPr>
          <p:cNvSpPr/>
          <p:nvPr/>
        </p:nvSpPr>
        <p:spPr>
          <a:xfrm>
            <a:off x="8589963" y="6516688"/>
            <a:ext cx="539750" cy="333375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endParaRPr lang="zh-CN" altLang="en-US" dirty="0">
              <a:latin typeface="等线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10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10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610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610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500"/>
                                        <p:tgtEl>
                                          <p:spTgt spid="610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500"/>
                                        <p:tgtEl>
                                          <p:spTgt spid="610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7" dur="500"/>
                                        <p:tgtEl>
                                          <p:spTgt spid="610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2" dur="500"/>
                                        <p:tgtEl>
                                          <p:spTgt spid="610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7" dur="500"/>
                                        <p:tgtEl>
                                          <p:spTgt spid="610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2" dur="500"/>
                                        <p:tgtEl>
                                          <p:spTgt spid="610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57" dur="500"/>
                                        <p:tgtEl>
                                          <p:spTgt spid="610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2" dur="500"/>
                                        <p:tgtEl>
                                          <p:spTgt spid="610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0307" grpId="0"/>
      <p:bldP spid="610308" grpId="0"/>
      <p:bldP spid="610309" grpId="0" animBg="1"/>
      <p:bldP spid="61035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122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 </a:t>
            </a:r>
            <a:endParaRPr lang="zh-CN" altLang="en-US" dirty="0"/>
          </a:p>
        </p:txBody>
      </p:sp>
      <p:sp>
        <p:nvSpPr>
          <p:cNvPr id="5123" name="Text Box 3"/>
          <p:cNvSpPr txBox="1"/>
          <p:nvPr/>
        </p:nvSpPr>
        <p:spPr>
          <a:xfrm>
            <a:off x="593725" y="196850"/>
            <a:ext cx="3597275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3200" dirty="0">
                <a:latin typeface="Times New Roman" panose="02020603050405020304" pitchFamily="18" charset="0"/>
              </a:rPr>
              <a:t>2</a:t>
            </a:r>
            <a:r>
              <a:rPr lang="zh-CN" altLang="en-US" sz="3200" dirty="0">
                <a:latin typeface="等线" panose="02010600030101010101" pitchFamily="2" charset="-122"/>
              </a:rPr>
              <a:t>.节拍信号</a:t>
            </a:r>
            <a:endParaRPr lang="zh-CN" altLang="en-US" sz="3200" dirty="0">
              <a:latin typeface="等线" panose="02010600030101010101" pitchFamily="2" charset="-122"/>
            </a:endParaRPr>
          </a:p>
        </p:txBody>
      </p:sp>
      <p:sp>
        <p:nvSpPr>
          <p:cNvPr id="611332" name="Freeform 4"/>
          <p:cNvSpPr/>
          <p:nvPr/>
        </p:nvSpPr>
        <p:spPr>
          <a:xfrm>
            <a:off x="762000" y="2438400"/>
            <a:ext cx="8077200" cy="457200"/>
          </a:xfrm>
          <a:custGeom>
            <a:avLst/>
            <a:gdLst/>
            <a:ahLst/>
            <a:cxnLst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0"/>
              </a:cxn>
            </a:cxnLst>
            <a:pathLst>
              <a:path w="5088" h="288">
                <a:moveTo>
                  <a:pt x="0" y="288"/>
                </a:moveTo>
                <a:lnTo>
                  <a:pt x="240" y="288"/>
                </a:lnTo>
                <a:lnTo>
                  <a:pt x="240" y="0"/>
                </a:lnTo>
                <a:lnTo>
                  <a:pt x="816" y="0"/>
                </a:lnTo>
                <a:lnTo>
                  <a:pt x="816" y="288"/>
                </a:lnTo>
                <a:lnTo>
                  <a:pt x="2544" y="288"/>
                </a:lnTo>
                <a:lnTo>
                  <a:pt x="2544" y="0"/>
                </a:lnTo>
                <a:lnTo>
                  <a:pt x="3120" y="0"/>
                </a:lnTo>
                <a:lnTo>
                  <a:pt x="3120" y="288"/>
                </a:lnTo>
                <a:lnTo>
                  <a:pt x="4848" y="288"/>
                </a:lnTo>
                <a:lnTo>
                  <a:pt x="4848" y="0"/>
                </a:lnTo>
                <a:lnTo>
                  <a:pt x="5088" y="0"/>
                </a:lnTo>
              </a:path>
            </a:pathLst>
          </a:custGeom>
          <a:noFill/>
          <a:ln w="28575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611333" name="Freeform 5"/>
          <p:cNvSpPr/>
          <p:nvPr/>
        </p:nvSpPr>
        <p:spPr>
          <a:xfrm>
            <a:off x="735013" y="3352800"/>
            <a:ext cx="8124825" cy="463550"/>
          </a:xfrm>
          <a:custGeom>
            <a:avLst/>
            <a:gdLst/>
            <a:ahLst/>
            <a:cxnLst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pathLst>
              <a:path w="5118" h="292">
                <a:moveTo>
                  <a:pt x="0" y="292"/>
                </a:moveTo>
                <a:lnTo>
                  <a:pt x="833" y="288"/>
                </a:lnTo>
                <a:lnTo>
                  <a:pt x="833" y="0"/>
                </a:lnTo>
                <a:lnTo>
                  <a:pt x="1409" y="0"/>
                </a:lnTo>
                <a:lnTo>
                  <a:pt x="1409" y="288"/>
                </a:lnTo>
                <a:lnTo>
                  <a:pt x="3137" y="288"/>
                </a:lnTo>
                <a:lnTo>
                  <a:pt x="3137" y="0"/>
                </a:lnTo>
                <a:lnTo>
                  <a:pt x="3713" y="0"/>
                </a:lnTo>
                <a:lnTo>
                  <a:pt x="3713" y="288"/>
                </a:lnTo>
                <a:lnTo>
                  <a:pt x="5118" y="292"/>
                </a:lnTo>
                <a:lnTo>
                  <a:pt x="5105" y="292"/>
                </a:lnTo>
                <a:lnTo>
                  <a:pt x="5092" y="292"/>
                </a:lnTo>
              </a:path>
            </a:pathLst>
          </a:custGeom>
          <a:noFill/>
          <a:ln w="28575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611334" name="Freeform 6"/>
          <p:cNvSpPr/>
          <p:nvPr/>
        </p:nvSpPr>
        <p:spPr>
          <a:xfrm>
            <a:off x="776288" y="4267200"/>
            <a:ext cx="8208962" cy="477838"/>
          </a:xfrm>
          <a:custGeom>
            <a:avLst/>
            <a:gdLst/>
            <a:ahLst/>
            <a:cxnLst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pathLst>
              <a:path w="5171" h="301">
                <a:moveTo>
                  <a:pt x="0" y="288"/>
                </a:moveTo>
                <a:lnTo>
                  <a:pt x="1400" y="288"/>
                </a:lnTo>
                <a:lnTo>
                  <a:pt x="1400" y="0"/>
                </a:lnTo>
                <a:lnTo>
                  <a:pt x="1976" y="0"/>
                </a:lnTo>
                <a:lnTo>
                  <a:pt x="1976" y="288"/>
                </a:lnTo>
                <a:lnTo>
                  <a:pt x="3704" y="288"/>
                </a:lnTo>
                <a:lnTo>
                  <a:pt x="3704" y="0"/>
                </a:lnTo>
                <a:lnTo>
                  <a:pt x="4280" y="0"/>
                </a:lnTo>
                <a:lnTo>
                  <a:pt x="4280" y="288"/>
                </a:lnTo>
                <a:lnTo>
                  <a:pt x="5158" y="288"/>
                </a:lnTo>
                <a:lnTo>
                  <a:pt x="5171" y="301"/>
                </a:lnTo>
              </a:path>
            </a:pathLst>
          </a:custGeom>
          <a:noFill/>
          <a:ln w="28575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611335" name="Freeform 7"/>
          <p:cNvSpPr/>
          <p:nvPr/>
        </p:nvSpPr>
        <p:spPr>
          <a:xfrm>
            <a:off x="776288" y="5165725"/>
            <a:ext cx="8291512" cy="463550"/>
          </a:xfrm>
          <a:custGeom>
            <a:avLst/>
            <a:gdLst/>
            <a:ahLst/>
            <a:cxnLst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pathLst>
              <a:path w="5223" h="292">
                <a:moveTo>
                  <a:pt x="0" y="292"/>
                </a:moveTo>
                <a:lnTo>
                  <a:pt x="1967" y="288"/>
                </a:lnTo>
                <a:lnTo>
                  <a:pt x="1967" y="0"/>
                </a:lnTo>
                <a:lnTo>
                  <a:pt x="2543" y="0"/>
                </a:lnTo>
                <a:lnTo>
                  <a:pt x="2543" y="288"/>
                </a:lnTo>
                <a:lnTo>
                  <a:pt x="4271" y="288"/>
                </a:lnTo>
                <a:lnTo>
                  <a:pt x="4271" y="0"/>
                </a:lnTo>
                <a:lnTo>
                  <a:pt x="4847" y="0"/>
                </a:lnTo>
                <a:lnTo>
                  <a:pt x="4847" y="288"/>
                </a:lnTo>
                <a:lnTo>
                  <a:pt x="5210" y="292"/>
                </a:lnTo>
                <a:lnTo>
                  <a:pt x="5210" y="279"/>
                </a:lnTo>
                <a:lnTo>
                  <a:pt x="5223" y="292"/>
                </a:lnTo>
              </a:path>
            </a:pathLst>
          </a:custGeom>
          <a:noFill/>
          <a:ln w="28575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611336" name="Text Box 8"/>
          <p:cNvSpPr txBox="1"/>
          <p:nvPr/>
        </p:nvSpPr>
        <p:spPr>
          <a:xfrm>
            <a:off x="212725" y="1676400"/>
            <a:ext cx="788988" cy="4270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200" dirty="0">
                <a:solidFill>
                  <a:schemeClr val="folHlink"/>
                </a:solidFill>
                <a:latin typeface="Times New Roman" panose="02020603050405020304" pitchFamily="18" charset="0"/>
              </a:rPr>
              <a:t>CLK</a:t>
            </a:r>
            <a:endParaRPr lang="en-US" altLang="zh-CN" sz="22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611337" name="Text Box 9"/>
          <p:cNvSpPr txBox="1"/>
          <p:nvPr/>
        </p:nvSpPr>
        <p:spPr>
          <a:xfrm>
            <a:off x="304800" y="2590800"/>
            <a:ext cx="47148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i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2400" baseline="-15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0</a:t>
            </a:r>
            <a:endParaRPr lang="en-US" altLang="zh-CN" sz="2400" baseline="-150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611338" name="Text Box 10"/>
          <p:cNvSpPr txBox="1"/>
          <p:nvPr/>
        </p:nvSpPr>
        <p:spPr>
          <a:xfrm>
            <a:off x="304800" y="3505200"/>
            <a:ext cx="47148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i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2400" baseline="-15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1</a:t>
            </a:r>
            <a:endParaRPr lang="en-US" altLang="zh-CN" sz="2400" baseline="-150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611339" name="Text Box 11"/>
          <p:cNvSpPr txBox="1"/>
          <p:nvPr/>
        </p:nvSpPr>
        <p:spPr>
          <a:xfrm>
            <a:off x="304800" y="4419600"/>
            <a:ext cx="47148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i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2400" baseline="-15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2</a:t>
            </a:r>
            <a:endParaRPr lang="en-US" altLang="zh-CN" sz="2400" baseline="-150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611340" name="Text Box 12"/>
          <p:cNvSpPr txBox="1"/>
          <p:nvPr/>
        </p:nvSpPr>
        <p:spPr>
          <a:xfrm>
            <a:off x="304800" y="5334000"/>
            <a:ext cx="47148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i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2400" baseline="-15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3</a:t>
            </a:r>
            <a:endParaRPr lang="en-US" altLang="zh-CN" sz="2400" baseline="-150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611341" name="Group 13"/>
          <p:cNvGrpSpPr/>
          <p:nvPr/>
        </p:nvGrpSpPr>
        <p:grpSpPr>
          <a:xfrm>
            <a:off x="762000" y="1600200"/>
            <a:ext cx="8077200" cy="4114800"/>
            <a:chOff x="384" y="1008"/>
            <a:chExt cx="5088" cy="2592"/>
          </a:xfrm>
        </p:grpSpPr>
        <p:grpSp>
          <p:nvGrpSpPr>
            <p:cNvPr id="5166" name="Group 14"/>
            <p:cNvGrpSpPr/>
            <p:nvPr/>
          </p:nvGrpSpPr>
          <p:grpSpPr>
            <a:xfrm>
              <a:off x="384" y="1008"/>
              <a:ext cx="5088" cy="292"/>
              <a:chOff x="384" y="1964"/>
              <a:chExt cx="5088" cy="292"/>
            </a:xfrm>
          </p:grpSpPr>
          <p:sp>
            <p:nvSpPr>
              <p:cNvPr id="5177" name="Freeform 15"/>
              <p:cNvSpPr/>
              <p:nvPr/>
            </p:nvSpPr>
            <p:spPr>
              <a:xfrm>
                <a:off x="384" y="1964"/>
                <a:ext cx="480" cy="288"/>
              </a:xfrm>
              <a:custGeom>
                <a:avLst/>
                <a:gdLst/>
                <a:ahLst/>
                <a:cxnLst>
                  <a:cxn ang="0">
                    <a:pos x="0" y="288"/>
                  </a:cxn>
                  <a:cxn ang="0">
                    <a:pos x="240" y="288"/>
                  </a:cxn>
                  <a:cxn ang="0">
                    <a:pos x="240" y="0"/>
                  </a:cxn>
                  <a:cxn ang="0">
                    <a:pos x="480" y="0"/>
                  </a:cxn>
                  <a:cxn ang="0">
                    <a:pos x="480" y="288"/>
                  </a:cxn>
                </a:cxnLst>
                <a:pathLst>
                  <a:path w="480" h="288">
                    <a:moveTo>
                      <a:pt x="0" y="288"/>
                    </a:moveTo>
                    <a:lnTo>
                      <a:pt x="240" y="288"/>
                    </a:lnTo>
                    <a:lnTo>
                      <a:pt x="240" y="0"/>
                    </a:lnTo>
                    <a:lnTo>
                      <a:pt x="480" y="0"/>
                    </a:lnTo>
                    <a:lnTo>
                      <a:pt x="480" y="288"/>
                    </a:lnTo>
                  </a:path>
                </a:pathLst>
              </a:custGeom>
              <a:noFill/>
              <a:ln w="2857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178" name="Freeform 16"/>
              <p:cNvSpPr/>
              <p:nvPr/>
            </p:nvSpPr>
            <p:spPr>
              <a:xfrm>
                <a:off x="860" y="1964"/>
                <a:ext cx="580" cy="292"/>
              </a:xfrm>
              <a:custGeom>
                <a:avLst/>
                <a:gdLst/>
                <a:ahLst/>
                <a:cxnLst>
                  <a:cxn ang="0">
                    <a:pos x="0" y="292"/>
                  </a:cxn>
                  <a:cxn ang="0">
                    <a:pos x="340" y="288"/>
                  </a:cxn>
                  <a:cxn ang="0">
                    <a:pos x="340" y="0"/>
                  </a:cxn>
                  <a:cxn ang="0">
                    <a:pos x="580" y="0"/>
                  </a:cxn>
                  <a:cxn ang="0">
                    <a:pos x="580" y="288"/>
                  </a:cxn>
                </a:cxnLst>
                <a:pathLst>
                  <a:path w="580" h="292">
                    <a:moveTo>
                      <a:pt x="0" y="292"/>
                    </a:moveTo>
                    <a:lnTo>
                      <a:pt x="340" y="288"/>
                    </a:lnTo>
                    <a:lnTo>
                      <a:pt x="340" y="0"/>
                    </a:lnTo>
                    <a:lnTo>
                      <a:pt x="580" y="0"/>
                    </a:lnTo>
                    <a:lnTo>
                      <a:pt x="580" y="288"/>
                    </a:lnTo>
                  </a:path>
                </a:pathLst>
              </a:custGeom>
              <a:noFill/>
              <a:ln w="2857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179" name="Freeform 17"/>
              <p:cNvSpPr/>
              <p:nvPr/>
            </p:nvSpPr>
            <p:spPr>
              <a:xfrm>
                <a:off x="1436" y="1964"/>
                <a:ext cx="580" cy="292"/>
              </a:xfrm>
              <a:custGeom>
                <a:avLst/>
                <a:gdLst/>
                <a:ahLst/>
                <a:cxnLst>
                  <a:cxn ang="0">
                    <a:pos x="0" y="292"/>
                  </a:cxn>
                  <a:cxn ang="0">
                    <a:pos x="340" y="288"/>
                  </a:cxn>
                  <a:cxn ang="0">
                    <a:pos x="340" y="0"/>
                  </a:cxn>
                  <a:cxn ang="0">
                    <a:pos x="580" y="0"/>
                  </a:cxn>
                  <a:cxn ang="0">
                    <a:pos x="580" y="288"/>
                  </a:cxn>
                </a:cxnLst>
                <a:pathLst>
                  <a:path w="580" h="292">
                    <a:moveTo>
                      <a:pt x="0" y="292"/>
                    </a:moveTo>
                    <a:lnTo>
                      <a:pt x="340" y="288"/>
                    </a:lnTo>
                    <a:lnTo>
                      <a:pt x="340" y="0"/>
                    </a:lnTo>
                    <a:lnTo>
                      <a:pt x="580" y="0"/>
                    </a:lnTo>
                    <a:lnTo>
                      <a:pt x="580" y="288"/>
                    </a:lnTo>
                  </a:path>
                </a:pathLst>
              </a:custGeom>
              <a:noFill/>
              <a:ln w="2857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180" name="Freeform 18"/>
              <p:cNvSpPr/>
              <p:nvPr/>
            </p:nvSpPr>
            <p:spPr>
              <a:xfrm>
                <a:off x="2012" y="1964"/>
                <a:ext cx="580" cy="292"/>
              </a:xfrm>
              <a:custGeom>
                <a:avLst/>
                <a:gdLst/>
                <a:ahLst/>
                <a:cxnLst>
                  <a:cxn ang="0">
                    <a:pos x="0" y="292"/>
                  </a:cxn>
                  <a:cxn ang="0">
                    <a:pos x="340" y="288"/>
                  </a:cxn>
                  <a:cxn ang="0">
                    <a:pos x="340" y="0"/>
                  </a:cxn>
                  <a:cxn ang="0">
                    <a:pos x="580" y="0"/>
                  </a:cxn>
                  <a:cxn ang="0">
                    <a:pos x="580" y="288"/>
                  </a:cxn>
                </a:cxnLst>
                <a:pathLst>
                  <a:path w="580" h="292">
                    <a:moveTo>
                      <a:pt x="0" y="292"/>
                    </a:moveTo>
                    <a:lnTo>
                      <a:pt x="340" y="288"/>
                    </a:lnTo>
                    <a:lnTo>
                      <a:pt x="340" y="0"/>
                    </a:lnTo>
                    <a:lnTo>
                      <a:pt x="580" y="0"/>
                    </a:lnTo>
                    <a:lnTo>
                      <a:pt x="580" y="288"/>
                    </a:lnTo>
                  </a:path>
                </a:pathLst>
              </a:custGeom>
              <a:noFill/>
              <a:ln w="2857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181" name="Freeform 19"/>
              <p:cNvSpPr/>
              <p:nvPr/>
            </p:nvSpPr>
            <p:spPr>
              <a:xfrm>
                <a:off x="2588" y="1964"/>
                <a:ext cx="580" cy="292"/>
              </a:xfrm>
              <a:custGeom>
                <a:avLst/>
                <a:gdLst/>
                <a:ahLst/>
                <a:cxnLst>
                  <a:cxn ang="0">
                    <a:pos x="0" y="292"/>
                  </a:cxn>
                  <a:cxn ang="0">
                    <a:pos x="340" y="288"/>
                  </a:cxn>
                  <a:cxn ang="0">
                    <a:pos x="340" y="0"/>
                  </a:cxn>
                  <a:cxn ang="0">
                    <a:pos x="580" y="0"/>
                  </a:cxn>
                  <a:cxn ang="0">
                    <a:pos x="580" y="288"/>
                  </a:cxn>
                </a:cxnLst>
                <a:pathLst>
                  <a:path w="580" h="292">
                    <a:moveTo>
                      <a:pt x="0" y="292"/>
                    </a:moveTo>
                    <a:lnTo>
                      <a:pt x="340" y="288"/>
                    </a:lnTo>
                    <a:lnTo>
                      <a:pt x="340" y="0"/>
                    </a:lnTo>
                    <a:lnTo>
                      <a:pt x="580" y="0"/>
                    </a:lnTo>
                    <a:lnTo>
                      <a:pt x="580" y="288"/>
                    </a:lnTo>
                  </a:path>
                </a:pathLst>
              </a:custGeom>
              <a:noFill/>
              <a:ln w="2857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182" name="Freeform 20"/>
              <p:cNvSpPr/>
              <p:nvPr/>
            </p:nvSpPr>
            <p:spPr>
              <a:xfrm>
                <a:off x="3164" y="1964"/>
                <a:ext cx="580" cy="292"/>
              </a:xfrm>
              <a:custGeom>
                <a:avLst/>
                <a:gdLst/>
                <a:ahLst/>
                <a:cxnLst>
                  <a:cxn ang="0">
                    <a:pos x="0" y="292"/>
                  </a:cxn>
                  <a:cxn ang="0">
                    <a:pos x="340" y="288"/>
                  </a:cxn>
                  <a:cxn ang="0">
                    <a:pos x="340" y="0"/>
                  </a:cxn>
                  <a:cxn ang="0">
                    <a:pos x="580" y="0"/>
                  </a:cxn>
                  <a:cxn ang="0">
                    <a:pos x="580" y="288"/>
                  </a:cxn>
                </a:cxnLst>
                <a:pathLst>
                  <a:path w="580" h="292">
                    <a:moveTo>
                      <a:pt x="0" y="292"/>
                    </a:moveTo>
                    <a:lnTo>
                      <a:pt x="340" y="288"/>
                    </a:lnTo>
                    <a:lnTo>
                      <a:pt x="340" y="0"/>
                    </a:lnTo>
                    <a:lnTo>
                      <a:pt x="580" y="0"/>
                    </a:lnTo>
                    <a:lnTo>
                      <a:pt x="580" y="288"/>
                    </a:lnTo>
                  </a:path>
                </a:pathLst>
              </a:custGeom>
              <a:noFill/>
              <a:ln w="2857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183" name="Freeform 21"/>
              <p:cNvSpPr/>
              <p:nvPr/>
            </p:nvSpPr>
            <p:spPr>
              <a:xfrm>
                <a:off x="3740" y="1964"/>
                <a:ext cx="580" cy="292"/>
              </a:xfrm>
              <a:custGeom>
                <a:avLst/>
                <a:gdLst/>
                <a:ahLst/>
                <a:cxnLst>
                  <a:cxn ang="0">
                    <a:pos x="0" y="292"/>
                  </a:cxn>
                  <a:cxn ang="0">
                    <a:pos x="340" y="288"/>
                  </a:cxn>
                  <a:cxn ang="0">
                    <a:pos x="340" y="0"/>
                  </a:cxn>
                  <a:cxn ang="0">
                    <a:pos x="580" y="0"/>
                  </a:cxn>
                  <a:cxn ang="0">
                    <a:pos x="580" y="288"/>
                  </a:cxn>
                </a:cxnLst>
                <a:pathLst>
                  <a:path w="580" h="292">
                    <a:moveTo>
                      <a:pt x="0" y="292"/>
                    </a:moveTo>
                    <a:lnTo>
                      <a:pt x="340" y="288"/>
                    </a:lnTo>
                    <a:lnTo>
                      <a:pt x="340" y="0"/>
                    </a:lnTo>
                    <a:lnTo>
                      <a:pt x="580" y="0"/>
                    </a:lnTo>
                    <a:lnTo>
                      <a:pt x="580" y="288"/>
                    </a:lnTo>
                  </a:path>
                </a:pathLst>
              </a:custGeom>
              <a:noFill/>
              <a:ln w="2857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184" name="Freeform 22"/>
              <p:cNvSpPr/>
              <p:nvPr/>
            </p:nvSpPr>
            <p:spPr>
              <a:xfrm>
                <a:off x="4316" y="1964"/>
                <a:ext cx="580" cy="292"/>
              </a:xfrm>
              <a:custGeom>
                <a:avLst/>
                <a:gdLst/>
                <a:ahLst/>
                <a:cxnLst>
                  <a:cxn ang="0">
                    <a:pos x="0" y="292"/>
                  </a:cxn>
                  <a:cxn ang="0">
                    <a:pos x="340" y="288"/>
                  </a:cxn>
                  <a:cxn ang="0">
                    <a:pos x="340" y="0"/>
                  </a:cxn>
                  <a:cxn ang="0">
                    <a:pos x="580" y="0"/>
                  </a:cxn>
                  <a:cxn ang="0">
                    <a:pos x="580" y="288"/>
                  </a:cxn>
                </a:cxnLst>
                <a:pathLst>
                  <a:path w="580" h="292">
                    <a:moveTo>
                      <a:pt x="0" y="292"/>
                    </a:moveTo>
                    <a:lnTo>
                      <a:pt x="340" y="288"/>
                    </a:lnTo>
                    <a:lnTo>
                      <a:pt x="340" y="0"/>
                    </a:lnTo>
                    <a:lnTo>
                      <a:pt x="580" y="0"/>
                    </a:lnTo>
                    <a:lnTo>
                      <a:pt x="580" y="288"/>
                    </a:lnTo>
                  </a:path>
                </a:pathLst>
              </a:custGeom>
              <a:noFill/>
              <a:ln w="2857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5185" name="Freeform 23"/>
              <p:cNvSpPr/>
              <p:nvPr/>
            </p:nvSpPr>
            <p:spPr>
              <a:xfrm>
                <a:off x="4892" y="1964"/>
                <a:ext cx="580" cy="292"/>
              </a:xfrm>
              <a:custGeom>
                <a:avLst/>
                <a:gdLst/>
                <a:ahLst/>
                <a:cxnLst>
                  <a:cxn ang="0">
                    <a:pos x="0" y="292"/>
                  </a:cxn>
                  <a:cxn ang="0">
                    <a:pos x="340" y="288"/>
                  </a:cxn>
                  <a:cxn ang="0">
                    <a:pos x="340" y="0"/>
                  </a:cxn>
                  <a:cxn ang="0">
                    <a:pos x="580" y="0"/>
                  </a:cxn>
                  <a:cxn ang="0">
                    <a:pos x="580" y="4"/>
                  </a:cxn>
                </a:cxnLst>
                <a:pathLst>
                  <a:path w="580" h="292">
                    <a:moveTo>
                      <a:pt x="0" y="292"/>
                    </a:moveTo>
                    <a:lnTo>
                      <a:pt x="340" y="288"/>
                    </a:lnTo>
                    <a:lnTo>
                      <a:pt x="340" y="0"/>
                    </a:lnTo>
                    <a:lnTo>
                      <a:pt x="580" y="0"/>
                    </a:lnTo>
                    <a:lnTo>
                      <a:pt x="580" y="4"/>
                    </a:lnTo>
                  </a:path>
                </a:pathLst>
              </a:custGeom>
              <a:noFill/>
              <a:ln w="2857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grpSp>
          <p:nvGrpSpPr>
            <p:cNvPr id="5167" name="Group 24"/>
            <p:cNvGrpSpPr/>
            <p:nvPr/>
          </p:nvGrpSpPr>
          <p:grpSpPr>
            <a:xfrm>
              <a:off x="624" y="1132"/>
              <a:ext cx="4608" cy="2468"/>
              <a:chOff x="624" y="1132"/>
              <a:chExt cx="4608" cy="2720"/>
            </a:xfrm>
          </p:grpSpPr>
          <p:sp>
            <p:nvSpPr>
              <p:cNvPr id="5168" name="Line 25"/>
              <p:cNvSpPr/>
              <p:nvPr/>
            </p:nvSpPr>
            <p:spPr>
              <a:xfrm>
                <a:off x="624" y="1132"/>
                <a:ext cx="0" cy="272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dash"/>
                <a:headEnd type="none" w="med" len="med"/>
                <a:tailEnd type="none" w="med" len="med"/>
              </a:ln>
            </p:spPr>
          </p:sp>
          <p:sp>
            <p:nvSpPr>
              <p:cNvPr id="5169" name="Line 26"/>
              <p:cNvSpPr/>
              <p:nvPr/>
            </p:nvSpPr>
            <p:spPr>
              <a:xfrm>
                <a:off x="1200" y="1132"/>
                <a:ext cx="0" cy="272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dash"/>
                <a:headEnd type="none" w="med" len="med"/>
                <a:tailEnd type="none" w="med" len="med"/>
              </a:ln>
            </p:spPr>
          </p:sp>
          <p:sp>
            <p:nvSpPr>
              <p:cNvPr id="5170" name="Line 27"/>
              <p:cNvSpPr/>
              <p:nvPr/>
            </p:nvSpPr>
            <p:spPr>
              <a:xfrm>
                <a:off x="1776" y="1132"/>
                <a:ext cx="0" cy="272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dash"/>
                <a:headEnd type="none" w="med" len="med"/>
                <a:tailEnd type="none" w="med" len="med"/>
              </a:ln>
            </p:spPr>
          </p:sp>
          <p:sp>
            <p:nvSpPr>
              <p:cNvPr id="5171" name="Line 28"/>
              <p:cNvSpPr/>
              <p:nvPr/>
            </p:nvSpPr>
            <p:spPr>
              <a:xfrm>
                <a:off x="2352" y="1132"/>
                <a:ext cx="0" cy="272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dash"/>
                <a:headEnd type="none" w="med" len="med"/>
                <a:tailEnd type="none" w="med" len="med"/>
              </a:ln>
            </p:spPr>
          </p:sp>
          <p:sp>
            <p:nvSpPr>
              <p:cNvPr id="5172" name="Line 29"/>
              <p:cNvSpPr/>
              <p:nvPr/>
            </p:nvSpPr>
            <p:spPr>
              <a:xfrm>
                <a:off x="2928" y="1132"/>
                <a:ext cx="0" cy="272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dash"/>
                <a:headEnd type="none" w="med" len="med"/>
                <a:tailEnd type="none" w="med" len="med"/>
              </a:ln>
            </p:spPr>
          </p:sp>
          <p:sp>
            <p:nvSpPr>
              <p:cNvPr id="5173" name="Line 30"/>
              <p:cNvSpPr/>
              <p:nvPr/>
            </p:nvSpPr>
            <p:spPr>
              <a:xfrm>
                <a:off x="3504" y="1132"/>
                <a:ext cx="0" cy="272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dash"/>
                <a:headEnd type="none" w="med" len="med"/>
                <a:tailEnd type="none" w="med" len="med"/>
              </a:ln>
            </p:spPr>
          </p:sp>
          <p:sp>
            <p:nvSpPr>
              <p:cNvPr id="5174" name="Line 31"/>
              <p:cNvSpPr/>
              <p:nvPr/>
            </p:nvSpPr>
            <p:spPr>
              <a:xfrm>
                <a:off x="4080" y="1132"/>
                <a:ext cx="0" cy="272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dash"/>
                <a:headEnd type="none" w="med" len="med"/>
                <a:tailEnd type="none" w="med" len="med"/>
              </a:ln>
            </p:spPr>
          </p:sp>
          <p:sp>
            <p:nvSpPr>
              <p:cNvPr id="5175" name="Line 32"/>
              <p:cNvSpPr/>
              <p:nvPr/>
            </p:nvSpPr>
            <p:spPr>
              <a:xfrm>
                <a:off x="4656" y="1132"/>
                <a:ext cx="0" cy="272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dash"/>
                <a:headEnd type="none" w="med" len="med"/>
                <a:tailEnd type="none" w="med" len="med"/>
              </a:ln>
            </p:spPr>
          </p:sp>
          <p:sp>
            <p:nvSpPr>
              <p:cNvPr id="5176" name="Line 33"/>
              <p:cNvSpPr/>
              <p:nvPr/>
            </p:nvSpPr>
            <p:spPr>
              <a:xfrm>
                <a:off x="5232" y="1132"/>
                <a:ext cx="0" cy="272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dash"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611362" name="Group 34"/>
          <p:cNvGrpSpPr/>
          <p:nvPr/>
        </p:nvGrpSpPr>
        <p:grpSpPr>
          <a:xfrm>
            <a:off x="990600" y="990600"/>
            <a:ext cx="1200150" cy="625475"/>
            <a:chOff x="528" y="624"/>
            <a:chExt cx="756" cy="394"/>
          </a:xfrm>
        </p:grpSpPr>
        <p:sp>
          <p:nvSpPr>
            <p:cNvPr id="5162" name="Line 35"/>
            <p:cNvSpPr/>
            <p:nvPr/>
          </p:nvSpPr>
          <p:spPr>
            <a:xfrm>
              <a:off x="624" y="826"/>
              <a:ext cx="0" cy="19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63" name="Line 36"/>
            <p:cNvSpPr/>
            <p:nvPr/>
          </p:nvSpPr>
          <p:spPr>
            <a:xfrm>
              <a:off x="1200" y="826"/>
              <a:ext cx="0" cy="19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64" name="Line 37"/>
            <p:cNvSpPr/>
            <p:nvPr/>
          </p:nvSpPr>
          <p:spPr>
            <a:xfrm flipV="1">
              <a:off x="624" y="874"/>
              <a:ext cx="576" cy="0"/>
            </a:xfrm>
            <a:prstGeom prst="line">
              <a:avLst/>
            </a:prstGeom>
            <a:ln w="19050" cap="flat" cmpd="sng">
              <a:solidFill>
                <a:schemeClr val="folHlink"/>
              </a:solidFill>
              <a:prstDash val="solid"/>
              <a:headEnd type="stealth" w="med" len="med"/>
              <a:tailEnd type="stealth" w="med" len="med"/>
            </a:ln>
          </p:spPr>
        </p:sp>
        <p:sp>
          <p:nvSpPr>
            <p:cNvPr id="5165" name="Text Box 38"/>
            <p:cNvSpPr txBox="1"/>
            <p:nvPr/>
          </p:nvSpPr>
          <p:spPr>
            <a:xfrm>
              <a:off x="528" y="624"/>
              <a:ext cx="75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时钟周期</a:t>
              </a:r>
              <a:endParaRPr lang="zh-CN" altLang="en-US" sz="2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11367" name="Group 39"/>
          <p:cNvGrpSpPr/>
          <p:nvPr/>
        </p:nvGrpSpPr>
        <p:grpSpPr>
          <a:xfrm>
            <a:off x="1143000" y="5791200"/>
            <a:ext cx="7315200" cy="838200"/>
            <a:chOff x="624" y="3744"/>
            <a:chExt cx="4608" cy="528"/>
          </a:xfrm>
        </p:grpSpPr>
        <p:sp>
          <p:nvSpPr>
            <p:cNvPr id="5138" name="Line 40"/>
            <p:cNvSpPr/>
            <p:nvPr/>
          </p:nvSpPr>
          <p:spPr>
            <a:xfrm>
              <a:off x="624" y="3984"/>
              <a:ext cx="460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39" name="Line 41"/>
            <p:cNvSpPr/>
            <p:nvPr/>
          </p:nvSpPr>
          <p:spPr>
            <a:xfrm>
              <a:off x="624" y="3792"/>
              <a:ext cx="0" cy="39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40" name="Line 42"/>
            <p:cNvSpPr/>
            <p:nvPr/>
          </p:nvSpPr>
          <p:spPr>
            <a:xfrm>
              <a:off x="1200" y="3882"/>
              <a:ext cx="0" cy="10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41" name="Line 43"/>
            <p:cNvSpPr/>
            <p:nvPr/>
          </p:nvSpPr>
          <p:spPr>
            <a:xfrm>
              <a:off x="1776" y="3882"/>
              <a:ext cx="0" cy="10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42" name="Line 44"/>
            <p:cNvSpPr/>
            <p:nvPr/>
          </p:nvSpPr>
          <p:spPr>
            <a:xfrm>
              <a:off x="2352" y="3882"/>
              <a:ext cx="0" cy="10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43" name="Line 45"/>
            <p:cNvSpPr/>
            <p:nvPr/>
          </p:nvSpPr>
          <p:spPr>
            <a:xfrm>
              <a:off x="2928" y="3792"/>
              <a:ext cx="0" cy="39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44" name="Line 46"/>
            <p:cNvSpPr/>
            <p:nvPr/>
          </p:nvSpPr>
          <p:spPr>
            <a:xfrm>
              <a:off x="3504" y="3882"/>
              <a:ext cx="0" cy="10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45" name="Line 47"/>
            <p:cNvSpPr/>
            <p:nvPr/>
          </p:nvSpPr>
          <p:spPr>
            <a:xfrm>
              <a:off x="4080" y="3882"/>
              <a:ext cx="0" cy="10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46" name="Line 48"/>
            <p:cNvSpPr/>
            <p:nvPr/>
          </p:nvSpPr>
          <p:spPr>
            <a:xfrm>
              <a:off x="4656" y="3882"/>
              <a:ext cx="0" cy="10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47" name="Line 49"/>
            <p:cNvSpPr/>
            <p:nvPr/>
          </p:nvSpPr>
          <p:spPr>
            <a:xfrm>
              <a:off x="5232" y="3792"/>
              <a:ext cx="0" cy="39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48" name="Line 50"/>
            <p:cNvSpPr/>
            <p:nvPr/>
          </p:nvSpPr>
          <p:spPr>
            <a:xfrm>
              <a:off x="2256" y="4118"/>
              <a:ext cx="67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5149" name="Line 51"/>
            <p:cNvSpPr/>
            <p:nvPr/>
          </p:nvSpPr>
          <p:spPr>
            <a:xfrm rot="10800000">
              <a:off x="624" y="4118"/>
              <a:ext cx="67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5150" name="Text Box 52"/>
            <p:cNvSpPr txBox="1"/>
            <p:nvPr/>
          </p:nvSpPr>
          <p:spPr>
            <a:xfrm>
              <a:off x="1430" y="4020"/>
              <a:ext cx="75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机器周期</a:t>
              </a:r>
              <a:endParaRPr lang="zh-CN" altLang="en-US" sz="2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51" name="Line 53"/>
            <p:cNvSpPr/>
            <p:nvPr/>
          </p:nvSpPr>
          <p:spPr>
            <a:xfrm>
              <a:off x="4560" y="4120"/>
              <a:ext cx="67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5152" name="Line 54"/>
            <p:cNvSpPr/>
            <p:nvPr/>
          </p:nvSpPr>
          <p:spPr>
            <a:xfrm rot="10800000">
              <a:off x="2928" y="4120"/>
              <a:ext cx="67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5153" name="Text Box 55"/>
            <p:cNvSpPr txBox="1"/>
            <p:nvPr/>
          </p:nvSpPr>
          <p:spPr>
            <a:xfrm>
              <a:off x="3734" y="4022"/>
              <a:ext cx="75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机器周期</a:t>
              </a:r>
              <a:endParaRPr lang="zh-CN" altLang="en-US" sz="2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54" name="Text Box 56"/>
            <p:cNvSpPr txBox="1"/>
            <p:nvPr/>
          </p:nvSpPr>
          <p:spPr>
            <a:xfrm>
              <a:off x="768" y="3744"/>
              <a:ext cx="26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i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2000" baseline="-1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000" baseline="-15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55" name="Text Box 57"/>
            <p:cNvSpPr txBox="1"/>
            <p:nvPr/>
          </p:nvSpPr>
          <p:spPr>
            <a:xfrm>
              <a:off x="1357" y="3744"/>
              <a:ext cx="26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i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2000" baseline="-1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000" baseline="-15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56" name="Text Box 58"/>
            <p:cNvSpPr txBox="1"/>
            <p:nvPr/>
          </p:nvSpPr>
          <p:spPr>
            <a:xfrm>
              <a:off x="1933" y="3744"/>
              <a:ext cx="26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i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2000" baseline="-1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sz="2000" baseline="-15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57" name="Text Box 59"/>
            <p:cNvSpPr txBox="1"/>
            <p:nvPr/>
          </p:nvSpPr>
          <p:spPr>
            <a:xfrm>
              <a:off x="2509" y="3744"/>
              <a:ext cx="26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i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2000" baseline="-1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3</a:t>
              </a:r>
              <a:endParaRPr lang="en-US" altLang="zh-CN" sz="2000" baseline="-15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58" name="Text Box 60"/>
            <p:cNvSpPr txBox="1"/>
            <p:nvPr/>
          </p:nvSpPr>
          <p:spPr>
            <a:xfrm>
              <a:off x="3072" y="3744"/>
              <a:ext cx="26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i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2000" baseline="-1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0</a:t>
              </a:r>
              <a:endParaRPr lang="en-US" altLang="zh-CN" sz="2000" baseline="-15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59" name="Text Box 61"/>
            <p:cNvSpPr txBox="1"/>
            <p:nvPr/>
          </p:nvSpPr>
          <p:spPr>
            <a:xfrm>
              <a:off x="3661" y="3744"/>
              <a:ext cx="26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i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2000" baseline="-1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000" baseline="-15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60" name="Text Box 62"/>
            <p:cNvSpPr txBox="1"/>
            <p:nvPr/>
          </p:nvSpPr>
          <p:spPr>
            <a:xfrm>
              <a:off x="4237" y="3744"/>
              <a:ext cx="26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i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2000" baseline="-1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sz="2000" baseline="-15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61" name="Text Box 63"/>
            <p:cNvSpPr txBox="1"/>
            <p:nvPr/>
          </p:nvSpPr>
          <p:spPr>
            <a:xfrm>
              <a:off x="4813" y="3744"/>
              <a:ext cx="26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i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T</a:t>
              </a:r>
              <a:r>
                <a:rPr lang="en-US" altLang="zh-CN" sz="2000" baseline="-15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3</a:t>
              </a:r>
              <a:endParaRPr lang="en-US" altLang="zh-CN" sz="2000" baseline="-15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611392" name="Rectangle 64"/>
          <p:cNvSpPr>
            <a:spLocks noChangeArrowheads="1"/>
          </p:cNvSpPr>
          <p:nvPr/>
        </p:nvSpPr>
        <p:spPr bwMode="auto">
          <a:xfrm>
            <a:off x="7696200" y="152400"/>
            <a:ext cx="1447800" cy="838200"/>
          </a:xfrm>
          <a:prstGeom prst="rect">
            <a:avLst/>
          </a:prstGeom>
          <a:noFill/>
          <a:ln>
            <a:noFill/>
          </a:ln>
          <a:effectLst/>
        </p:spPr>
        <p:txBody>
          <a:bodyPr lIns="92075" tIns="46038" rIns="92075" bIns="46038" anchor="ctr"/>
          <a:lstStyle>
            <a:lvl1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10.1</a:t>
            </a:r>
            <a:endParaRPr kumimoji="1" lang="zh-CN" altLang="en-US" sz="4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37" name="AutoShape 65">
            <a:hlinkClick r:id="rId1" action="ppaction://hlinksldjump"/>
          </p:cNvPr>
          <p:cNvSpPr/>
          <p:nvPr/>
        </p:nvSpPr>
        <p:spPr>
          <a:xfrm>
            <a:off x="8589963" y="6516688"/>
            <a:ext cx="539750" cy="333375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endParaRPr lang="zh-CN" altLang="en-US" dirty="0">
              <a:latin typeface="等线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11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611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611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11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611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11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7" dur="500"/>
                                        <p:tgtEl>
                                          <p:spTgt spid="611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611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7" dur="500"/>
                                        <p:tgtEl>
                                          <p:spTgt spid="611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611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7" dur="500"/>
                                        <p:tgtEl>
                                          <p:spTgt spid="611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2" dur="500"/>
                                        <p:tgtEl>
                                          <p:spTgt spid="611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1336" grpId="0"/>
      <p:bldP spid="611337" grpId="0"/>
      <p:bldP spid="611338" grpId="0"/>
      <p:bldP spid="611339" grpId="0"/>
      <p:bldP spid="61134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146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 </a:t>
            </a:r>
            <a:endParaRPr lang="zh-CN" altLang="en-US" dirty="0"/>
          </a:p>
        </p:txBody>
      </p:sp>
      <p:sp>
        <p:nvSpPr>
          <p:cNvPr id="6147" name="Text Box 3"/>
          <p:cNvSpPr txBox="1"/>
          <p:nvPr/>
        </p:nvSpPr>
        <p:spPr>
          <a:xfrm>
            <a:off x="304800" y="244475"/>
            <a:ext cx="51308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3600" dirty="0">
                <a:latin typeface="等线" panose="02010600030101010101" pitchFamily="2" charset="-122"/>
              </a:rPr>
              <a:t>二、微操作的节拍安排</a:t>
            </a:r>
            <a:endParaRPr lang="zh-CN" altLang="en-US" sz="3600" dirty="0">
              <a:latin typeface="等线" panose="02010600030101010101" pitchFamily="2" charset="-122"/>
            </a:endParaRPr>
          </a:p>
        </p:txBody>
      </p:sp>
      <p:sp>
        <p:nvSpPr>
          <p:cNvPr id="612356" name="Text Box 4"/>
          <p:cNvSpPr txBox="1"/>
          <p:nvPr/>
        </p:nvSpPr>
        <p:spPr>
          <a:xfrm>
            <a:off x="1066800" y="966788"/>
            <a:ext cx="5105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zh-CN" altLang="en-US" sz="2400" dirty="0">
                <a:latin typeface="等线" panose="02010600030101010101" pitchFamily="2" charset="-122"/>
              </a:rPr>
              <a:t>采用</a:t>
            </a:r>
            <a:r>
              <a:rPr lang="zh-CN" altLang="en-US" dirty="0">
                <a:latin typeface="等线" panose="02010600030101010101" pitchFamily="2" charset="-122"/>
              </a:rPr>
              <a:t> </a:t>
            </a:r>
            <a:r>
              <a:rPr lang="zh-CN" altLang="en-US" sz="2400" dirty="0">
                <a:solidFill>
                  <a:schemeClr val="folHlink"/>
                </a:solidFill>
                <a:latin typeface="等线" panose="02010600030101010101" pitchFamily="2" charset="-122"/>
              </a:rPr>
              <a:t>同步控制方式</a:t>
            </a:r>
            <a:endParaRPr lang="zh-CN" altLang="en-US" sz="2400" dirty="0">
              <a:solidFill>
                <a:schemeClr val="folHlink"/>
              </a:solidFill>
              <a:latin typeface="等线" panose="02010600030101010101" pitchFamily="2" charset="-122"/>
            </a:endParaRPr>
          </a:p>
        </p:txBody>
      </p:sp>
      <p:sp>
        <p:nvSpPr>
          <p:cNvPr id="612357" name="Text Box 5"/>
          <p:cNvSpPr txBox="1"/>
          <p:nvPr/>
        </p:nvSpPr>
        <p:spPr>
          <a:xfrm>
            <a:off x="1066800" y="1965325"/>
            <a:ext cx="8077200" cy="461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en-US" altLang="zh-CN" sz="2400" dirty="0">
                <a:latin typeface="Times New Roman" panose="02020603050405020304" pitchFamily="18" charset="0"/>
              </a:rPr>
              <a:t>CPU</a:t>
            </a:r>
            <a:r>
              <a:rPr lang="en-US" altLang="zh-CN" sz="2400" dirty="0">
                <a:latin typeface="等线" panose="02010600030101010101" pitchFamily="2" charset="-122"/>
              </a:rPr>
              <a:t> </a:t>
            </a:r>
            <a:r>
              <a:rPr lang="zh-CN" altLang="en-US" sz="2400" dirty="0">
                <a:latin typeface="等线" panose="02010600030101010101" pitchFamily="2" charset="-122"/>
              </a:rPr>
              <a:t>内部结构采用非总线方式，假设</a:t>
            </a:r>
            <a:r>
              <a:rPr lang="en-US" altLang="zh-CN" sz="2400" dirty="0">
                <a:latin typeface="等线" panose="02010600030101010101" pitchFamily="2" charset="-122"/>
              </a:rPr>
              <a:t>IR</a:t>
            </a:r>
            <a:r>
              <a:rPr lang="zh-CN" altLang="en-US" sz="2400" dirty="0">
                <a:latin typeface="等线" panose="02010600030101010101" pitchFamily="2" charset="-122"/>
              </a:rPr>
              <a:t>到</a:t>
            </a:r>
            <a:r>
              <a:rPr lang="en-US" altLang="zh-CN" sz="2400" dirty="0">
                <a:latin typeface="等线" panose="02010600030101010101" pitchFamily="2" charset="-122"/>
              </a:rPr>
              <a:t>MAR</a:t>
            </a:r>
            <a:r>
              <a:rPr lang="zh-CN" altLang="en-US" sz="2400" dirty="0">
                <a:latin typeface="等线" panose="02010600030101010101" pitchFamily="2" charset="-122"/>
              </a:rPr>
              <a:t>有数据通路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612358" name="Text Box 6"/>
          <p:cNvSpPr txBox="1"/>
          <p:nvPr/>
        </p:nvSpPr>
        <p:spPr>
          <a:xfrm>
            <a:off x="1066800" y="1425575"/>
            <a:ext cx="5800725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400" dirty="0">
                <a:latin typeface="等线" panose="02010600030101010101" pitchFamily="2" charset="-122"/>
              </a:rPr>
              <a:t>一个</a:t>
            </a:r>
            <a:r>
              <a:rPr lang="zh-CN" altLang="en-US" dirty="0">
                <a:latin typeface="等线" panose="02010600030101010101" pitchFamily="2" charset="-122"/>
              </a:rPr>
              <a:t> </a:t>
            </a:r>
            <a:r>
              <a:rPr lang="zh-CN" altLang="en-US" sz="2400" dirty="0">
                <a:solidFill>
                  <a:schemeClr val="folHlink"/>
                </a:solidFill>
                <a:latin typeface="等线" panose="02010600030101010101" pitchFamily="2" charset="-122"/>
              </a:rPr>
              <a:t>机器周期</a:t>
            </a:r>
            <a:r>
              <a:rPr lang="zh-CN" altLang="en-US" dirty="0">
                <a:solidFill>
                  <a:schemeClr val="folHlink"/>
                </a:solidFill>
                <a:latin typeface="等线" panose="02010600030101010101" pitchFamily="2" charset="-122"/>
              </a:rPr>
              <a:t> </a:t>
            </a:r>
            <a:r>
              <a:rPr lang="zh-CN" altLang="en-US" sz="2400" dirty="0">
                <a:latin typeface="等线" panose="02010600030101010101" pitchFamily="2" charset="-122"/>
              </a:rPr>
              <a:t>内有</a:t>
            </a:r>
            <a:r>
              <a:rPr lang="zh-CN" altLang="en-US" dirty="0">
                <a:latin typeface="等线" panose="02010600030101010101" pitchFamily="2" charset="-122"/>
              </a:rPr>
              <a:t>  </a:t>
            </a:r>
            <a:r>
              <a:rPr lang="zh-CN" altLang="en-US" sz="2800" dirty="0">
                <a:solidFill>
                  <a:schemeClr val="folHlink"/>
                </a:solidFill>
                <a:latin typeface="Times New Roman" panose="02020603050405020304" pitchFamily="18" charset="0"/>
              </a:rPr>
              <a:t>3</a:t>
            </a:r>
            <a:r>
              <a:rPr lang="zh-CN" altLang="en-US" dirty="0">
                <a:solidFill>
                  <a:schemeClr val="folHlink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400" dirty="0">
                <a:solidFill>
                  <a:schemeClr val="folHlink"/>
                </a:solidFill>
                <a:latin typeface="等线" panose="02010600030101010101" pitchFamily="2" charset="-122"/>
              </a:rPr>
              <a:t>个节拍（时钟周期）</a:t>
            </a:r>
            <a:endParaRPr lang="zh-CN" altLang="en-US" sz="2400" dirty="0">
              <a:solidFill>
                <a:schemeClr val="folHlink"/>
              </a:solidFill>
              <a:latin typeface="等线" panose="02010600030101010101" pitchFamily="2" charset="-122"/>
            </a:endParaRPr>
          </a:p>
        </p:txBody>
      </p:sp>
      <p:sp>
        <p:nvSpPr>
          <p:cNvPr id="612453" name="Rectangle 101"/>
          <p:cNvSpPr>
            <a:spLocks noChangeArrowheads="1"/>
          </p:cNvSpPr>
          <p:nvPr/>
        </p:nvSpPr>
        <p:spPr bwMode="auto">
          <a:xfrm>
            <a:off x="7696200" y="152400"/>
            <a:ext cx="1447800" cy="838200"/>
          </a:xfrm>
          <a:prstGeom prst="rect">
            <a:avLst/>
          </a:prstGeom>
          <a:noFill/>
          <a:ln>
            <a:noFill/>
          </a:ln>
          <a:effectLst/>
        </p:spPr>
        <p:txBody>
          <a:bodyPr lIns="92075" tIns="46038" rIns="92075" bIns="46038" anchor="ctr"/>
          <a:lstStyle>
            <a:lvl1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10.1</a:t>
            </a:r>
            <a:endParaRPr kumimoji="1" lang="zh-CN" altLang="en-US" sz="4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52" name="AutoShape 102">
            <a:hlinkClick r:id="rId1" action="ppaction://hlinksldjump"/>
          </p:cNvPr>
          <p:cNvSpPr/>
          <p:nvPr/>
        </p:nvSpPr>
        <p:spPr>
          <a:xfrm>
            <a:off x="8589963" y="6516688"/>
            <a:ext cx="539750" cy="333375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endParaRPr lang="zh-CN" altLang="en-US" dirty="0">
              <a:latin typeface="等线" panose="02010600030101010101" pitchFamily="2" charset="-122"/>
            </a:endParaRPr>
          </a:p>
        </p:txBody>
      </p:sp>
      <p:grpSp>
        <p:nvGrpSpPr>
          <p:cNvPr id="612458" name="Group 106"/>
          <p:cNvGrpSpPr/>
          <p:nvPr/>
        </p:nvGrpSpPr>
        <p:grpSpPr>
          <a:xfrm>
            <a:off x="1285875" y="2286000"/>
            <a:ext cx="7324725" cy="4572000"/>
            <a:chOff x="810" y="1440"/>
            <a:chExt cx="4614" cy="2880"/>
          </a:xfrm>
        </p:grpSpPr>
        <p:grpSp>
          <p:nvGrpSpPr>
            <p:cNvPr id="6154" name="Group 105"/>
            <p:cNvGrpSpPr/>
            <p:nvPr/>
          </p:nvGrpSpPr>
          <p:grpSpPr>
            <a:xfrm>
              <a:off x="810" y="1440"/>
              <a:ext cx="4614" cy="2880"/>
              <a:chOff x="810" y="1440"/>
              <a:chExt cx="4614" cy="2880"/>
            </a:xfrm>
          </p:grpSpPr>
          <p:sp>
            <p:nvSpPr>
              <p:cNvPr id="6157" name="Rectangle 10"/>
              <p:cNvSpPr/>
              <p:nvPr/>
            </p:nvSpPr>
            <p:spPr>
              <a:xfrm rot="5400000">
                <a:off x="2058" y="2448"/>
                <a:ext cx="288" cy="672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rot="10800000" vert="eaVert" wrap="none" anchor="ctr" anchorCtr="0"/>
              <a:p>
                <a:pPr algn="ctr" eaLnBrk="1" hangingPunct="1"/>
                <a:r>
                  <a:rPr lang="en-US" altLang="zh-CN" sz="2000" dirty="0">
                    <a:latin typeface="Times New Roman" panose="02020603050405020304" pitchFamily="18" charset="0"/>
                  </a:rPr>
                  <a:t>PC</a:t>
                </a:r>
                <a:endParaRPr lang="en-US" altLang="zh-CN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158" name="Rectangle 13"/>
              <p:cNvSpPr/>
              <p:nvPr/>
            </p:nvSpPr>
            <p:spPr>
              <a:xfrm rot="5400000">
                <a:off x="3066" y="2448"/>
                <a:ext cx="288" cy="672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rot="10800000" vert="eaVert" wrap="none" anchor="ctr" anchorCtr="0"/>
              <a:p>
                <a:pPr algn="ctr" eaLnBrk="1" hangingPunct="1"/>
                <a:r>
                  <a:rPr lang="en-US" altLang="zh-CN" sz="2000" dirty="0">
                    <a:latin typeface="Times New Roman" panose="02020603050405020304" pitchFamily="18" charset="0"/>
                  </a:rPr>
                  <a:t>IR</a:t>
                </a:r>
                <a:endParaRPr lang="en-US" altLang="zh-CN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159" name="Rectangle 14"/>
              <p:cNvSpPr/>
              <p:nvPr/>
            </p:nvSpPr>
            <p:spPr>
              <a:xfrm rot="5400000">
                <a:off x="4314" y="2112"/>
                <a:ext cx="288" cy="672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rot="10800000" vert="eaVert" wrap="none" anchor="ctr" anchorCtr="0"/>
              <a:p>
                <a:pPr algn="ctr" eaLnBrk="1" hangingPunct="1"/>
                <a:r>
                  <a:rPr lang="en-US" altLang="zh-CN" sz="2000" dirty="0">
                    <a:latin typeface="Times New Roman" panose="02020603050405020304" pitchFamily="18" charset="0"/>
                  </a:rPr>
                  <a:t>AC</a:t>
                </a:r>
                <a:endParaRPr lang="en-US" altLang="zh-CN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160" name="Oval 15"/>
              <p:cNvSpPr/>
              <p:nvPr/>
            </p:nvSpPr>
            <p:spPr>
              <a:xfrm>
                <a:off x="1697" y="2496"/>
                <a:ext cx="48" cy="48"/>
              </a:xfrm>
              <a:prstGeom prst="ellipse">
                <a:avLst/>
              </a:prstGeom>
              <a:noFill/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等线" panose="02010600030101010101" pitchFamily="2" charset="-122"/>
                </a:endParaRPr>
              </a:p>
            </p:txBody>
          </p:sp>
          <p:sp>
            <p:nvSpPr>
              <p:cNvPr id="6161" name="Freeform 16"/>
              <p:cNvSpPr/>
              <p:nvPr/>
            </p:nvSpPr>
            <p:spPr>
              <a:xfrm>
                <a:off x="1530" y="1917"/>
                <a:ext cx="2880" cy="4"/>
              </a:xfrm>
              <a:custGeom>
                <a:avLst/>
                <a:gdLst/>
                <a:ahLst/>
                <a:cxnLst>
                  <a:cxn ang="0">
                    <a:pos x="2880" y="0"/>
                  </a:cxn>
                  <a:cxn ang="0">
                    <a:pos x="0" y="4"/>
                  </a:cxn>
                </a:cxnLst>
                <a:pathLst>
                  <a:path w="2880" h="4">
                    <a:moveTo>
                      <a:pt x="2880" y="0"/>
                    </a:moveTo>
                    <a:lnTo>
                      <a:pt x="0" y="4"/>
                    </a:lnTo>
                  </a:path>
                </a:pathLst>
              </a:custGeom>
              <a:noFill/>
              <a:ln w="2857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stealth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6162" name="Line 17"/>
              <p:cNvSpPr/>
              <p:nvPr/>
            </p:nvSpPr>
            <p:spPr>
              <a:xfrm>
                <a:off x="1530" y="2208"/>
                <a:ext cx="2160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163" name="Freeform 18"/>
              <p:cNvSpPr/>
              <p:nvPr/>
            </p:nvSpPr>
            <p:spPr>
              <a:xfrm>
                <a:off x="1722" y="2208"/>
                <a:ext cx="1" cy="29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294"/>
                  </a:cxn>
                </a:cxnLst>
                <a:pathLst>
                  <a:path w="1" h="294">
                    <a:moveTo>
                      <a:pt x="0" y="0"/>
                    </a:moveTo>
                    <a:lnTo>
                      <a:pt x="0" y="294"/>
                    </a:lnTo>
                  </a:path>
                </a:pathLst>
              </a:custGeom>
              <a:noFill/>
              <a:ln w="2857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oval" w="sm" len="sm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6164" name="Freeform 19"/>
              <p:cNvSpPr/>
              <p:nvPr/>
            </p:nvSpPr>
            <p:spPr>
              <a:xfrm>
                <a:off x="1530" y="2544"/>
                <a:ext cx="192" cy="1008"/>
              </a:xfrm>
              <a:custGeom>
                <a:avLst/>
                <a:gdLst/>
                <a:ahLst/>
                <a:cxnLst>
                  <a:cxn ang="0">
                    <a:pos x="192" y="0"/>
                  </a:cxn>
                  <a:cxn ang="0">
                    <a:pos x="192" y="1008"/>
                  </a:cxn>
                  <a:cxn ang="0">
                    <a:pos x="0" y="1008"/>
                  </a:cxn>
                </a:cxnLst>
                <a:pathLst>
                  <a:path w="192" h="1008">
                    <a:moveTo>
                      <a:pt x="192" y="0"/>
                    </a:moveTo>
                    <a:lnTo>
                      <a:pt x="192" y="1008"/>
                    </a:lnTo>
                    <a:lnTo>
                      <a:pt x="0" y="1008"/>
                    </a:lnTo>
                  </a:path>
                </a:pathLst>
              </a:custGeom>
              <a:noFill/>
              <a:ln w="2857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stealth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6165" name="Line 20"/>
              <p:cNvSpPr/>
              <p:nvPr/>
            </p:nvSpPr>
            <p:spPr>
              <a:xfrm flipV="1">
                <a:off x="2058" y="2400"/>
                <a:ext cx="0" cy="24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166" name="Freeform 21"/>
              <p:cNvSpPr/>
              <p:nvPr/>
            </p:nvSpPr>
            <p:spPr>
              <a:xfrm>
                <a:off x="2058" y="1920"/>
                <a:ext cx="1" cy="435"/>
              </a:xfrm>
              <a:custGeom>
                <a:avLst/>
                <a:gdLst/>
                <a:ahLst/>
                <a:cxnLst>
                  <a:cxn ang="0">
                    <a:pos x="0" y="435"/>
                  </a:cxn>
                  <a:cxn ang="0">
                    <a:pos x="1" y="0"/>
                  </a:cxn>
                </a:cxnLst>
                <a:pathLst>
                  <a:path w="1" h="435">
                    <a:moveTo>
                      <a:pt x="0" y="435"/>
                    </a:moveTo>
                    <a:lnTo>
                      <a:pt x="1" y="0"/>
                    </a:lnTo>
                  </a:path>
                </a:pathLst>
              </a:custGeom>
              <a:noFill/>
              <a:ln w="2857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stealth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6167" name="Oval 22"/>
              <p:cNvSpPr/>
              <p:nvPr/>
            </p:nvSpPr>
            <p:spPr>
              <a:xfrm>
                <a:off x="2033" y="2352"/>
                <a:ext cx="48" cy="48"/>
              </a:xfrm>
              <a:prstGeom prst="ellipse">
                <a:avLst/>
              </a:prstGeom>
              <a:noFill/>
              <a:ln w="19050" cap="flat" cmpd="sng">
                <a:solidFill>
                  <a:schemeClr val="folHlink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等线" panose="02010600030101010101" pitchFamily="2" charset="-122"/>
                </a:endParaRPr>
              </a:p>
            </p:txBody>
          </p:sp>
          <p:sp>
            <p:nvSpPr>
              <p:cNvPr id="6168" name="Oval 23"/>
              <p:cNvSpPr/>
              <p:nvPr/>
            </p:nvSpPr>
            <p:spPr>
              <a:xfrm>
                <a:off x="2273" y="2448"/>
                <a:ext cx="48" cy="48"/>
              </a:xfrm>
              <a:prstGeom prst="ellipse">
                <a:avLst/>
              </a:prstGeom>
              <a:noFill/>
              <a:ln w="19050" cap="flat" cmpd="sng">
                <a:solidFill>
                  <a:schemeClr val="folHlink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等线" panose="02010600030101010101" pitchFamily="2" charset="-122"/>
                </a:endParaRPr>
              </a:p>
            </p:txBody>
          </p:sp>
          <p:sp>
            <p:nvSpPr>
              <p:cNvPr id="6169" name="Line 24"/>
              <p:cNvSpPr/>
              <p:nvPr/>
            </p:nvSpPr>
            <p:spPr>
              <a:xfrm>
                <a:off x="2298" y="2208"/>
                <a:ext cx="0" cy="24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6170" name="Line 25"/>
              <p:cNvSpPr/>
              <p:nvPr/>
            </p:nvSpPr>
            <p:spPr>
              <a:xfrm>
                <a:off x="2298" y="2496"/>
                <a:ext cx="0" cy="144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6171" name="Line 26"/>
              <p:cNvSpPr/>
              <p:nvPr/>
            </p:nvSpPr>
            <p:spPr>
              <a:xfrm>
                <a:off x="2202" y="2928"/>
                <a:ext cx="0" cy="33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172" name="Freeform 27"/>
              <p:cNvSpPr/>
              <p:nvPr/>
            </p:nvSpPr>
            <p:spPr>
              <a:xfrm>
                <a:off x="1530" y="3312"/>
                <a:ext cx="672" cy="576"/>
              </a:xfrm>
              <a:custGeom>
                <a:avLst/>
                <a:gdLst/>
                <a:ahLst/>
                <a:cxnLst>
                  <a:cxn ang="0">
                    <a:pos x="672" y="0"/>
                  </a:cxn>
                  <a:cxn ang="0">
                    <a:pos x="672" y="576"/>
                  </a:cxn>
                  <a:cxn ang="0">
                    <a:pos x="0" y="576"/>
                  </a:cxn>
                </a:cxnLst>
                <a:pathLst>
                  <a:path w="672" h="576">
                    <a:moveTo>
                      <a:pt x="672" y="0"/>
                    </a:moveTo>
                    <a:lnTo>
                      <a:pt x="672" y="576"/>
                    </a:lnTo>
                    <a:lnTo>
                      <a:pt x="0" y="576"/>
                    </a:lnTo>
                  </a:path>
                </a:pathLst>
              </a:custGeom>
              <a:noFill/>
              <a:ln w="2857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stealth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6173" name="Oval 28"/>
              <p:cNvSpPr/>
              <p:nvPr/>
            </p:nvSpPr>
            <p:spPr>
              <a:xfrm>
                <a:off x="2180" y="3264"/>
                <a:ext cx="48" cy="48"/>
              </a:xfrm>
              <a:prstGeom prst="ellipse">
                <a:avLst/>
              </a:prstGeom>
              <a:noFill/>
              <a:ln w="19050" cap="flat" cmpd="sng">
                <a:solidFill>
                  <a:schemeClr val="folHlink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等线" panose="02010600030101010101" pitchFamily="2" charset="-122"/>
                </a:endParaRPr>
              </a:p>
            </p:txBody>
          </p:sp>
          <p:sp>
            <p:nvSpPr>
              <p:cNvPr id="6174" name="Oval 29"/>
              <p:cNvSpPr/>
              <p:nvPr/>
            </p:nvSpPr>
            <p:spPr>
              <a:xfrm>
                <a:off x="3137" y="2448"/>
                <a:ext cx="48" cy="48"/>
              </a:xfrm>
              <a:prstGeom prst="ellipse">
                <a:avLst/>
              </a:prstGeom>
              <a:noFill/>
              <a:ln w="19050" cap="flat" cmpd="sng">
                <a:solidFill>
                  <a:schemeClr val="folHlink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等线" panose="02010600030101010101" pitchFamily="2" charset="-122"/>
                </a:endParaRPr>
              </a:p>
            </p:txBody>
          </p:sp>
          <p:sp>
            <p:nvSpPr>
              <p:cNvPr id="6175" name="Line 30"/>
              <p:cNvSpPr/>
              <p:nvPr/>
            </p:nvSpPr>
            <p:spPr>
              <a:xfrm>
                <a:off x="3162" y="2208"/>
                <a:ext cx="0" cy="24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oval" w="sm" len="sm"/>
                <a:tailEnd type="none" w="med" len="med"/>
              </a:ln>
            </p:spPr>
          </p:sp>
          <p:sp>
            <p:nvSpPr>
              <p:cNvPr id="6176" name="Line 31"/>
              <p:cNvSpPr/>
              <p:nvPr/>
            </p:nvSpPr>
            <p:spPr>
              <a:xfrm>
                <a:off x="3162" y="2496"/>
                <a:ext cx="0" cy="144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6177" name="Line 32"/>
              <p:cNvSpPr/>
              <p:nvPr/>
            </p:nvSpPr>
            <p:spPr>
              <a:xfrm>
                <a:off x="3210" y="2928"/>
                <a:ext cx="0" cy="33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178" name="Oval 33"/>
              <p:cNvSpPr/>
              <p:nvPr/>
            </p:nvSpPr>
            <p:spPr>
              <a:xfrm>
                <a:off x="3186" y="3264"/>
                <a:ext cx="48" cy="48"/>
              </a:xfrm>
              <a:prstGeom prst="ellipse">
                <a:avLst/>
              </a:prstGeom>
              <a:noFill/>
              <a:ln w="19050" cap="flat" cmpd="sng">
                <a:solidFill>
                  <a:schemeClr val="folHlink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等线" panose="02010600030101010101" pitchFamily="2" charset="-122"/>
                </a:endParaRPr>
              </a:p>
            </p:txBody>
          </p:sp>
          <p:sp>
            <p:nvSpPr>
              <p:cNvPr id="6179" name="Line 34"/>
              <p:cNvSpPr/>
              <p:nvPr/>
            </p:nvSpPr>
            <p:spPr>
              <a:xfrm>
                <a:off x="3210" y="3312"/>
                <a:ext cx="0" cy="24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6180" name="Rectangle 35"/>
              <p:cNvSpPr/>
              <p:nvPr/>
            </p:nvSpPr>
            <p:spPr>
              <a:xfrm>
                <a:off x="2922" y="3552"/>
                <a:ext cx="576" cy="336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 eaLnBrk="1" hangingPunct="1"/>
                <a:r>
                  <a:rPr lang="en-US" altLang="zh-CN" sz="2000" dirty="0">
                    <a:latin typeface="Times New Roman" panose="02020603050405020304" pitchFamily="18" charset="0"/>
                  </a:rPr>
                  <a:t>CU</a:t>
                </a:r>
                <a:endParaRPr lang="en-US" altLang="zh-CN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181" name="Rectangle 36"/>
              <p:cNvSpPr/>
              <p:nvPr/>
            </p:nvSpPr>
            <p:spPr>
              <a:xfrm rot="5400000">
                <a:off x="2418" y="3864"/>
                <a:ext cx="240" cy="576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rot="10800000" vert="eaVert" wrap="none" anchor="ctr" anchorCtr="0"/>
              <a:p>
                <a:pPr algn="ctr" eaLnBrk="1" hangingPunct="1"/>
                <a:r>
                  <a:rPr lang="zh-CN" altLang="en-US" sz="2000" dirty="0">
                    <a:latin typeface="Times New Roman" panose="02020603050405020304" pitchFamily="18" charset="0"/>
                  </a:rPr>
                  <a:t>时钟</a:t>
                </a:r>
                <a:endParaRPr lang="zh-CN" altLang="en-US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182" name="Freeform 37"/>
              <p:cNvSpPr/>
              <p:nvPr/>
            </p:nvSpPr>
            <p:spPr>
              <a:xfrm>
                <a:off x="2538" y="3696"/>
                <a:ext cx="384" cy="336"/>
              </a:xfrm>
              <a:custGeom>
                <a:avLst/>
                <a:gdLst/>
                <a:ahLst/>
                <a:cxnLst>
                  <a:cxn ang="0">
                    <a:pos x="0" y="1805"/>
                  </a:cxn>
                  <a:cxn ang="0">
                    <a:pos x="0" y="0"/>
                  </a:cxn>
                  <a:cxn ang="0">
                    <a:pos x="384" y="0"/>
                  </a:cxn>
                </a:cxnLst>
                <a:pathLst>
                  <a:path w="384" h="240">
                    <a:moveTo>
                      <a:pt x="0" y="240"/>
                    </a:moveTo>
                    <a:lnTo>
                      <a:pt x="0" y="0"/>
                    </a:lnTo>
                    <a:lnTo>
                      <a:pt x="384" y="0"/>
                    </a:lnTo>
                  </a:path>
                </a:pathLst>
              </a:custGeom>
              <a:noFill/>
              <a:ln w="2857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stealth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6183" name="Freeform 38"/>
              <p:cNvSpPr/>
              <p:nvPr/>
            </p:nvSpPr>
            <p:spPr>
              <a:xfrm>
                <a:off x="3690" y="2208"/>
                <a:ext cx="1" cy="819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819"/>
                  </a:cxn>
                </a:cxnLst>
                <a:pathLst>
                  <a:path w="1" h="819">
                    <a:moveTo>
                      <a:pt x="0" y="0"/>
                    </a:moveTo>
                    <a:lnTo>
                      <a:pt x="0" y="819"/>
                    </a:lnTo>
                  </a:path>
                </a:pathLst>
              </a:custGeom>
              <a:noFill/>
              <a:ln w="2857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6184" name="Oval 39"/>
              <p:cNvSpPr/>
              <p:nvPr/>
            </p:nvSpPr>
            <p:spPr>
              <a:xfrm>
                <a:off x="3665" y="3024"/>
                <a:ext cx="48" cy="48"/>
              </a:xfrm>
              <a:prstGeom prst="ellipse">
                <a:avLst/>
              </a:prstGeom>
              <a:noFill/>
              <a:ln w="19050" cap="flat" cmpd="sng">
                <a:solidFill>
                  <a:schemeClr val="folHlink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等线" panose="02010600030101010101" pitchFamily="2" charset="-122"/>
                </a:endParaRPr>
              </a:p>
            </p:txBody>
          </p:sp>
          <p:sp>
            <p:nvSpPr>
              <p:cNvPr id="6185" name="Freeform 40"/>
              <p:cNvSpPr/>
              <p:nvPr/>
            </p:nvSpPr>
            <p:spPr>
              <a:xfrm>
                <a:off x="3690" y="3072"/>
                <a:ext cx="507" cy="19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192"/>
                  </a:cxn>
                  <a:cxn ang="0">
                    <a:pos x="507" y="192"/>
                  </a:cxn>
                </a:cxnLst>
                <a:pathLst>
                  <a:path w="507" h="192">
                    <a:moveTo>
                      <a:pt x="0" y="0"/>
                    </a:moveTo>
                    <a:lnTo>
                      <a:pt x="0" y="192"/>
                    </a:lnTo>
                    <a:lnTo>
                      <a:pt x="507" y="192"/>
                    </a:lnTo>
                  </a:path>
                </a:pathLst>
              </a:custGeom>
              <a:noFill/>
              <a:ln w="2857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stealth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6186" name="Rectangle 41"/>
              <p:cNvSpPr/>
              <p:nvPr/>
            </p:nvSpPr>
            <p:spPr>
              <a:xfrm>
                <a:off x="4198" y="3168"/>
                <a:ext cx="576" cy="336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 eaLnBrk="1" hangingPunct="1"/>
                <a:r>
                  <a:rPr lang="en-US" altLang="zh-CN" sz="2000" dirty="0">
                    <a:latin typeface="Times New Roman" panose="02020603050405020304" pitchFamily="18" charset="0"/>
                  </a:rPr>
                  <a:t>ALU</a:t>
                </a:r>
                <a:endParaRPr lang="en-US" altLang="zh-CN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187" name="Line 42"/>
              <p:cNvSpPr/>
              <p:nvPr/>
            </p:nvSpPr>
            <p:spPr>
              <a:xfrm flipH="1">
                <a:off x="3498" y="3600"/>
                <a:ext cx="192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6188" name="Line 43"/>
              <p:cNvSpPr/>
              <p:nvPr/>
            </p:nvSpPr>
            <p:spPr>
              <a:xfrm flipH="1">
                <a:off x="3498" y="3840"/>
                <a:ext cx="192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6189" name="Line 44"/>
              <p:cNvSpPr/>
              <p:nvPr/>
            </p:nvSpPr>
            <p:spPr>
              <a:xfrm rot="-5400000" flipH="1">
                <a:off x="2970" y="3984"/>
                <a:ext cx="192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6190" name="Line 45"/>
              <p:cNvSpPr/>
              <p:nvPr/>
            </p:nvSpPr>
            <p:spPr>
              <a:xfrm rot="-5400000" flipH="1">
                <a:off x="3306" y="3984"/>
                <a:ext cx="192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6191" name="Text Box 46"/>
              <p:cNvSpPr txBox="1"/>
              <p:nvPr/>
            </p:nvSpPr>
            <p:spPr>
              <a:xfrm>
                <a:off x="3098" y="3830"/>
                <a:ext cx="276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zh-CN" altLang="en-US" sz="2000" dirty="0">
                    <a:latin typeface="Times New Roman" panose="02020603050405020304" pitchFamily="18" charset="0"/>
                  </a:rPr>
                  <a:t>…</a:t>
                </a:r>
                <a:endParaRPr lang="zh-CN" altLang="en-US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192" name="Text Box 47"/>
              <p:cNvSpPr txBox="1"/>
              <p:nvPr/>
            </p:nvSpPr>
            <p:spPr>
              <a:xfrm>
                <a:off x="3511" y="3619"/>
                <a:ext cx="308" cy="21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vert="eaVert" wrap="none">
                <a:spAutoFit/>
              </a:bodyPr>
              <a:p>
                <a:pPr eaLnBrk="1" hangingPunct="1"/>
                <a:r>
                  <a:rPr lang="zh-CN" altLang="en-US" sz="2000" dirty="0">
                    <a:latin typeface="Times New Roman" panose="02020603050405020304" pitchFamily="18" charset="0"/>
                  </a:rPr>
                  <a:t>…</a:t>
                </a:r>
                <a:endParaRPr lang="zh-CN" altLang="en-US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193" name="Line 48"/>
              <p:cNvSpPr/>
              <p:nvPr/>
            </p:nvSpPr>
            <p:spPr>
              <a:xfrm flipH="1">
                <a:off x="4774" y="3216"/>
                <a:ext cx="192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6194" name="Line 49"/>
              <p:cNvSpPr/>
              <p:nvPr/>
            </p:nvSpPr>
            <p:spPr>
              <a:xfrm flipH="1">
                <a:off x="4774" y="3456"/>
                <a:ext cx="192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6195" name="Text Box 50"/>
              <p:cNvSpPr txBox="1"/>
              <p:nvPr/>
            </p:nvSpPr>
            <p:spPr>
              <a:xfrm>
                <a:off x="4801" y="3235"/>
                <a:ext cx="308" cy="21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vert="eaVert" wrap="none">
                <a:spAutoFit/>
              </a:bodyPr>
              <a:p>
                <a:pPr eaLnBrk="1" hangingPunct="1"/>
                <a:r>
                  <a:rPr lang="zh-CN" altLang="en-US" sz="2000" dirty="0">
                    <a:latin typeface="Times New Roman" panose="02020603050405020304" pitchFamily="18" charset="0"/>
                  </a:rPr>
                  <a:t>…</a:t>
                </a:r>
                <a:endParaRPr lang="zh-CN" altLang="en-US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196" name="Oval 51"/>
              <p:cNvSpPr/>
              <p:nvPr/>
            </p:nvSpPr>
            <p:spPr>
              <a:xfrm rot="5400000">
                <a:off x="3930" y="2424"/>
                <a:ext cx="48" cy="48"/>
              </a:xfrm>
              <a:prstGeom prst="ellipse">
                <a:avLst/>
              </a:prstGeom>
              <a:noFill/>
              <a:ln w="19050" cap="flat" cmpd="sng">
                <a:solidFill>
                  <a:schemeClr val="folHlink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等线" panose="02010600030101010101" pitchFamily="2" charset="-122"/>
                </a:endParaRPr>
              </a:p>
            </p:txBody>
          </p:sp>
          <p:sp>
            <p:nvSpPr>
              <p:cNvPr id="6197" name="Freeform 52"/>
              <p:cNvSpPr/>
              <p:nvPr/>
            </p:nvSpPr>
            <p:spPr>
              <a:xfrm>
                <a:off x="3687" y="2451"/>
                <a:ext cx="243" cy="3"/>
              </a:xfrm>
              <a:custGeom>
                <a:avLst/>
                <a:gdLst/>
                <a:ahLst/>
                <a:cxnLst>
                  <a:cxn ang="0">
                    <a:pos x="243" y="0"/>
                  </a:cxn>
                  <a:cxn ang="0">
                    <a:pos x="0" y="3"/>
                  </a:cxn>
                </a:cxnLst>
                <a:pathLst>
                  <a:path w="243" h="3">
                    <a:moveTo>
                      <a:pt x="243" y="0"/>
                    </a:moveTo>
                    <a:lnTo>
                      <a:pt x="0" y="3"/>
                    </a:lnTo>
                  </a:path>
                </a:pathLst>
              </a:custGeom>
              <a:noFill/>
              <a:ln w="2857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sm" len="sm"/>
                <a:tailEnd type="oval" w="sm" len="sm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6198" name="Line 53"/>
              <p:cNvSpPr/>
              <p:nvPr/>
            </p:nvSpPr>
            <p:spPr>
              <a:xfrm rot="-5400000">
                <a:off x="4050" y="2376"/>
                <a:ext cx="0" cy="144"/>
              </a:xfrm>
              <a:prstGeom prst="line">
                <a:avLst/>
              </a:prstGeom>
              <a:ln w="28575" cap="flat" cmpd="sng">
                <a:solidFill>
                  <a:schemeClr val="folHlink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6199" name="Oval 54"/>
              <p:cNvSpPr/>
              <p:nvPr/>
            </p:nvSpPr>
            <p:spPr>
              <a:xfrm>
                <a:off x="4288" y="2832"/>
                <a:ext cx="48" cy="48"/>
              </a:xfrm>
              <a:prstGeom prst="ellipse">
                <a:avLst/>
              </a:prstGeom>
              <a:noFill/>
              <a:ln w="19050" cap="flat" cmpd="sng">
                <a:solidFill>
                  <a:schemeClr val="folHlink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等线" panose="02010600030101010101" pitchFamily="2" charset="-122"/>
                </a:endParaRPr>
              </a:p>
            </p:txBody>
          </p:sp>
          <p:sp>
            <p:nvSpPr>
              <p:cNvPr id="6200" name="Line 55"/>
              <p:cNvSpPr/>
              <p:nvPr/>
            </p:nvSpPr>
            <p:spPr>
              <a:xfrm>
                <a:off x="4314" y="2592"/>
                <a:ext cx="0" cy="24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sm" len="sm"/>
                <a:tailEnd type="none" w="med" len="med"/>
              </a:ln>
            </p:spPr>
          </p:sp>
          <p:sp>
            <p:nvSpPr>
              <p:cNvPr id="6201" name="Freeform 56"/>
              <p:cNvSpPr/>
              <p:nvPr/>
            </p:nvSpPr>
            <p:spPr>
              <a:xfrm>
                <a:off x="4311" y="2886"/>
                <a:ext cx="3" cy="282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282"/>
                  </a:cxn>
                </a:cxnLst>
                <a:pathLst>
                  <a:path w="3" h="282">
                    <a:moveTo>
                      <a:pt x="3" y="0"/>
                    </a:moveTo>
                    <a:lnTo>
                      <a:pt x="0" y="282"/>
                    </a:lnTo>
                  </a:path>
                </a:pathLst>
              </a:custGeom>
              <a:noFill/>
              <a:ln w="2857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stealth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6202" name="Oval 57"/>
              <p:cNvSpPr/>
              <p:nvPr/>
            </p:nvSpPr>
            <p:spPr>
              <a:xfrm>
                <a:off x="4528" y="2832"/>
                <a:ext cx="48" cy="48"/>
              </a:xfrm>
              <a:prstGeom prst="ellipse">
                <a:avLst/>
              </a:prstGeom>
              <a:noFill/>
              <a:ln w="19050" cap="flat" cmpd="sng">
                <a:solidFill>
                  <a:schemeClr val="folHlink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等线" panose="02010600030101010101" pitchFamily="2" charset="-122"/>
                </a:endParaRPr>
              </a:p>
            </p:txBody>
          </p:sp>
          <p:sp>
            <p:nvSpPr>
              <p:cNvPr id="6203" name="Line 58"/>
              <p:cNvSpPr/>
              <p:nvPr/>
            </p:nvSpPr>
            <p:spPr>
              <a:xfrm>
                <a:off x="4554" y="2592"/>
                <a:ext cx="0" cy="24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stealth" w="sm" len="sm"/>
                <a:tailEnd type="none" w="med" len="med"/>
              </a:ln>
            </p:spPr>
          </p:sp>
          <p:sp>
            <p:nvSpPr>
              <p:cNvPr id="6204" name="Freeform 59"/>
              <p:cNvSpPr/>
              <p:nvPr/>
            </p:nvSpPr>
            <p:spPr>
              <a:xfrm>
                <a:off x="4551" y="2886"/>
                <a:ext cx="3" cy="279"/>
              </a:xfrm>
              <a:custGeom>
                <a:avLst/>
                <a:gdLst/>
                <a:ahLst/>
                <a:cxnLst>
                  <a:cxn ang="0">
                    <a:pos x="3" y="0"/>
                  </a:cxn>
                  <a:cxn ang="0">
                    <a:pos x="0" y="279"/>
                  </a:cxn>
                </a:cxnLst>
                <a:pathLst>
                  <a:path w="3" h="279">
                    <a:moveTo>
                      <a:pt x="3" y="0"/>
                    </a:moveTo>
                    <a:lnTo>
                      <a:pt x="0" y="279"/>
                    </a:lnTo>
                  </a:path>
                </a:pathLst>
              </a:custGeom>
              <a:noFill/>
              <a:ln w="2857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6205" name="Oval 60"/>
              <p:cNvSpPr/>
              <p:nvPr/>
            </p:nvSpPr>
            <p:spPr>
              <a:xfrm rot="5400000">
                <a:off x="4410" y="1894"/>
                <a:ext cx="48" cy="48"/>
              </a:xfrm>
              <a:prstGeom prst="ellipse">
                <a:avLst/>
              </a:prstGeom>
              <a:noFill/>
              <a:ln w="19050" cap="flat" cmpd="sng">
                <a:solidFill>
                  <a:schemeClr val="folHlink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等线" panose="02010600030101010101" pitchFamily="2" charset="-122"/>
                </a:endParaRPr>
              </a:p>
            </p:txBody>
          </p:sp>
          <p:sp>
            <p:nvSpPr>
              <p:cNvPr id="6206" name="Freeform 61"/>
              <p:cNvSpPr/>
              <p:nvPr/>
            </p:nvSpPr>
            <p:spPr>
              <a:xfrm>
                <a:off x="4443" y="1941"/>
                <a:ext cx="1" cy="35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351"/>
                  </a:cxn>
                </a:cxnLst>
                <a:pathLst>
                  <a:path w="1" h="351">
                    <a:moveTo>
                      <a:pt x="0" y="0"/>
                    </a:moveTo>
                    <a:lnTo>
                      <a:pt x="0" y="351"/>
                    </a:lnTo>
                  </a:path>
                </a:pathLst>
              </a:custGeom>
              <a:noFill/>
              <a:ln w="2857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6207" name="Oval 62"/>
              <p:cNvSpPr/>
              <p:nvPr/>
            </p:nvSpPr>
            <p:spPr>
              <a:xfrm rot="5400000">
                <a:off x="1053" y="1872"/>
                <a:ext cx="48" cy="48"/>
              </a:xfrm>
              <a:prstGeom prst="ellipse">
                <a:avLst/>
              </a:prstGeom>
              <a:noFill/>
              <a:ln w="19050" cap="flat" cmpd="sng">
                <a:solidFill>
                  <a:schemeClr val="folHlink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等线" panose="02010600030101010101" pitchFamily="2" charset="-122"/>
                </a:endParaRPr>
              </a:p>
            </p:txBody>
          </p:sp>
          <p:sp>
            <p:nvSpPr>
              <p:cNvPr id="6208" name="Freeform 63"/>
              <p:cNvSpPr/>
              <p:nvPr/>
            </p:nvSpPr>
            <p:spPr>
              <a:xfrm>
                <a:off x="810" y="1899"/>
                <a:ext cx="243" cy="1"/>
              </a:xfrm>
              <a:custGeom>
                <a:avLst/>
                <a:gdLst/>
                <a:ahLst/>
                <a:cxnLst>
                  <a:cxn ang="0">
                    <a:pos x="243" y="0"/>
                  </a:cxn>
                  <a:cxn ang="0">
                    <a:pos x="0" y="0"/>
                  </a:cxn>
                </a:cxnLst>
                <a:pathLst>
                  <a:path w="243" h="1">
                    <a:moveTo>
                      <a:pt x="243" y="0"/>
                    </a:moveTo>
                    <a:lnTo>
                      <a:pt x="0" y="0"/>
                    </a:lnTo>
                  </a:path>
                </a:pathLst>
              </a:custGeom>
              <a:noFill/>
              <a:ln w="2857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sm" len="sm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6209" name="Line 64"/>
              <p:cNvSpPr/>
              <p:nvPr/>
            </p:nvSpPr>
            <p:spPr>
              <a:xfrm rot="-5400000">
                <a:off x="1173" y="1824"/>
                <a:ext cx="0" cy="144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6210" name="Oval 65"/>
              <p:cNvSpPr/>
              <p:nvPr/>
            </p:nvSpPr>
            <p:spPr>
              <a:xfrm rot="5400000">
                <a:off x="1053" y="2208"/>
                <a:ext cx="48" cy="48"/>
              </a:xfrm>
              <a:prstGeom prst="ellipse">
                <a:avLst/>
              </a:prstGeom>
              <a:noFill/>
              <a:ln w="19050" cap="flat" cmpd="sng">
                <a:solidFill>
                  <a:schemeClr val="folHlink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等线" panose="02010600030101010101" pitchFamily="2" charset="-122"/>
                </a:endParaRPr>
              </a:p>
            </p:txBody>
          </p:sp>
          <p:sp>
            <p:nvSpPr>
              <p:cNvPr id="6211" name="Freeform 66"/>
              <p:cNvSpPr/>
              <p:nvPr/>
            </p:nvSpPr>
            <p:spPr>
              <a:xfrm>
                <a:off x="810" y="2235"/>
                <a:ext cx="243" cy="3"/>
              </a:xfrm>
              <a:custGeom>
                <a:avLst/>
                <a:gdLst/>
                <a:ahLst/>
                <a:cxnLst>
                  <a:cxn ang="0">
                    <a:pos x="243" y="0"/>
                  </a:cxn>
                  <a:cxn ang="0">
                    <a:pos x="0" y="3"/>
                  </a:cxn>
                </a:cxnLst>
                <a:pathLst>
                  <a:path w="243" h="3">
                    <a:moveTo>
                      <a:pt x="243" y="0"/>
                    </a:moveTo>
                    <a:lnTo>
                      <a:pt x="0" y="3"/>
                    </a:lnTo>
                  </a:path>
                </a:pathLst>
              </a:custGeom>
              <a:noFill/>
              <a:ln w="2857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sm" len="sm"/>
                <a:tailEnd type="stealth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6212" name="Line 67"/>
              <p:cNvSpPr/>
              <p:nvPr/>
            </p:nvSpPr>
            <p:spPr>
              <a:xfrm rot="-5400000">
                <a:off x="1173" y="2160"/>
                <a:ext cx="0" cy="144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213" name="Oval 68"/>
              <p:cNvSpPr/>
              <p:nvPr/>
            </p:nvSpPr>
            <p:spPr>
              <a:xfrm rot="5400000">
                <a:off x="1053" y="3696"/>
                <a:ext cx="48" cy="48"/>
              </a:xfrm>
              <a:prstGeom prst="ellipse">
                <a:avLst/>
              </a:prstGeom>
              <a:noFill/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等线" panose="02010600030101010101" pitchFamily="2" charset="-122"/>
                </a:endParaRPr>
              </a:p>
            </p:txBody>
          </p:sp>
          <p:sp>
            <p:nvSpPr>
              <p:cNvPr id="6214" name="Freeform 69"/>
              <p:cNvSpPr/>
              <p:nvPr/>
            </p:nvSpPr>
            <p:spPr>
              <a:xfrm>
                <a:off x="810" y="3723"/>
                <a:ext cx="243" cy="3"/>
              </a:xfrm>
              <a:custGeom>
                <a:avLst/>
                <a:gdLst/>
                <a:ahLst/>
                <a:cxnLst>
                  <a:cxn ang="0">
                    <a:pos x="243" y="0"/>
                  </a:cxn>
                  <a:cxn ang="0">
                    <a:pos x="0" y="3"/>
                  </a:cxn>
                </a:cxnLst>
                <a:pathLst>
                  <a:path w="243" h="3">
                    <a:moveTo>
                      <a:pt x="243" y="0"/>
                    </a:moveTo>
                    <a:lnTo>
                      <a:pt x="0" y="3"/>
                    </a:lnTo>
                  </a:path>
                </a:pathLst>
              </a:custGeom>
              <a:noFill/>
              <a:ln w="2857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sm" len="sm"/>
                <a:tailEnd type="stealth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6215" name="Line 70"/>
              <p:cNvSpPr/>
              <p:nvPr/>
            </p:nvSpPr>
            <p:spPr>
              <a:xfrm rot="-5400000">
                <a:off x="1173" y="3648"/>
                <a:ext cx="0" cy="144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216" name="Freeform 71"/>
              <p:cNvSpPr/>
              <p:nvPr/>
            </p:nvSpPr>
            <p:spPr>
              <a:xfrm>
                <a:off x="1077" y="3498"/>
                <a:ext cx="1" cy="195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195"/>
                  </a:cxn>
                </a:cxnLst>
                <a:pathLst>
                  <a:path w="1" h="195">
                    <a:moveTo>
                      <a:pt x="0" y="0"/>
                    </a:moveTo>
                    <a:lnTo>
                      <a:pt x="0" y="195"/>
                    </a:lnTo>
                  </a:path>
                </a:pathLst>
              </a:custGeom>
              <a:noFill/>
              <a:ln w="28575" cap="flat" cmpd="sng">
                <a:solidFill>
                  <a:schemeClr val="folHlink">
                    <a:alpha val="100000"/>
                  </a:schemeClr>
                </a:solidFill>
                <a:prstDash val="solid"/>
                <a:round/>
                <a:headEnd type="none" w="med" len="med"/>
                <a:tailEnd type="stealth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6217" name="Freeform 72"/>
              <p:cNvSpPr/>
              <p:nvPr/>
            </p:nvSpPr>
            <p:spPr>
              <a:xfrm>
                <a:off x="1077" y="1674"/>
                <a:ext cx="1" cy="198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198"/>
                  </a:cxn>
                </a:cxnLst>
                <a:pathLst>
                  <a:path w="1" h="198">
                    <a:moveTo>
                      <a:pt x="0" y="0"/>
                    </a:moveTo>
                    <a:lnTo>
                      <a:pt x="0" y="198"/>
                    </a:lnTo>
                  </a:path>
                </a:pathLst>
              </a:custGeom>
              <a:noFill/>
              <a:ln w="28575" cap="flat" cmpd="sng">
                <a:solidFill>
                  <a:schemeClr val="folHlink">
                    <a:alpha val="100000"/>
                  </a:schemeClr>
                </a:solidFill>
                <a:prstDash val="solid"/>
                <a:round/>
                <a:headEnd type="none" w="med" len="med"/>
                <a:tailEnd type="stealth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6218" name="Freeform 73"/>
              <p:cNvSpPr/>
              <p:nvPr/>
            </p:nvSpPr>
            <p:spPr>
              <a:xfrm>
                <a:off x="1524" y="2523"/>
                <a:ext cx="177" cy="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77" y="0"/>
                  </a:cxn>
                </a:cxnLst>
                <a:pathLst>
                  <a:path w="177" h="1">
                    <a:moveTo>
                      <a:pt x="0" y="0"/>
                    </a:moveTo>
                    <a:lnTo>
                      <a:pt x="177" y="0"/>
                    </a:lnTo>
                  </a:path>
                </a:pathLst>
              </a:custGeom>
              <a:noFill/>
              <a:ln w="28575" cap="flat" cmpd="sng">
                <a:solidFill>
                  <a:schemeClr val="folHlink">
                    <a:alpha val="100000"/>
                  </a:schemeClr>
                </a:solidFill>
                <a:prstDash val="solid"/>
                <a:round/>
                <a:headEnd type="none" w="med" len="med"/>
                <a:tailEnd type="stealth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6219" name="Freeform 74"/>
              <p:cNvSpPr/>
              <p:nvPr/>
            </p:nvSpPr>
            <p:spPr>
              <a:xfrm>
                <a:off x="1860" y="2379"/>
                <a:ext cx="168" cy="6"/>
              </a:xfrm>
              <a:custGeom>
                <a:avLst/>
                <a:gdLst/>
                <a:ahLst/>
                <a:cxnLst>
                  <a:cxn ang="0">
                    <a:pos x="0" y="6"/>
                  </a:cxn>
                  <a:cxn ang="0">
                    <a:pos x="168" y="0"/>
                  </a:cxn>
                </a:cxnLst>
                <a:pathLst>
                  <a:path w="168" h="6">
                    <a:moveTo>
                      <a:pt x="0" y="6"/>
                    </a:moveTo>
                    <a:lnTo>
                      <a:pt x="168" y="0"/>
                    </a:lnTo>
                  </a:path>
                </a:pathLst>
              </a:custGeom>
              <a:noFill/>
              <a:ln w="28575" cap="flat" cmpd="sng">
                <a:solidFill>
                  <a:schemeClr val="folHlink">
                    <a:alpha val="100000"/>
                  </a:schemeClr>
                </a:solidFill>
                <a:prstDash val="solid"/>
                <a:round/>
                <a:headEnd type="none" w="med" len="med"/>
                <a:tailEnd type="stealth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6220" name="Freeform 75"/>
              <p:cNvSpPr/>
              <p:nvPr/>
            </p:nvSpPr>
            <p:spPr>
              <a:xfrm>
                <a:off x="2322" y="2478"/>
                <a:ext cx="204" cy="1"/>
              </a:xfrm>
              <a:custGeom>
                <a:avLst/>
                <a:gdLst/>
                <a:ahLst/>
                <a:cxnLst>
                  <a:cxn ang="0">
                    <a:pos x="204" y="0"/>
                  </a:cxn>
                  <a:cxn ang="0">
                    <a:pos x="0" y="0"/>
                  </a:cxn>
                </a:cxnLst>
                <a:pathLst>
                  <a:path w="204" h="1">
                    <a:moveTo>
                      <a:pt x="204" y="0"/>
                    </a:moveTo>
                    <a:lnTo>
                      <a:pt x="0" y="0"/>
                    </a:lnTo>
                  </a:path>
                </a:pathLst>
              </a:custGeom>
              <a:noFill/>
              <a:ln w="28575" cap="flat" cmpd="sng">
                <a:solidFill>
                  <a:schemeClr val="folHlink">
                    <a:alpha val="100000"/>
                  </a:schemeClr>
                </a:solidFill>
                <a:prstDash val="solid"/>
                <a:round/>
                <a:headEnd type="none" w="med" len="med"/>
                <a:tailEnd type="stealth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6221" name="Freeform 76"/>
              <p:cNvSpPr/>
              <p:nvPr/>
            </p:nvSpPr>
            <p:spPr>
              <a:xfrm>
                <a:off x="2232" y="3288"/>
                <a:ext cx="201" cy="3"/>
              </a:xfrm>
              <a:custGeom>
                <a:avLst/>
                <a:gdLst/>
                <a:ahLst/>
                <a:cxnLst>
                  <a:cxn ang="0">
                    <a:pos x="201" y="3"/>
                  </a:cxn>
                  <a:cxn ang="0">
                    <a:pos x="0" y="0"/>
                  </a:cxn>
                </a:cxnLst>
                <a:pathLst>
                  <a:path w="201" h="3">
                    <a:moveTo>
                      <a:pt x="201" y="3"/>
                    </a:moveTo>
                    <a:lnTo>
                      <a:pt x="0" y="0"/>
                    </a:lnTo>
                  </a:path>
                </a:pathLst>
              </a:custGeom>
              <a:noFill/>
              <a:ln w="28575" cap="flat" cmpd="sng">
                <a:solidFill>
                  <a:schemeClr val="folHlink">
                    <a:alpha val="100000"/>
                  </a:schemeClr>
                </a:solidFill>
                <a:prstDash val="solid"/>
                <a:round/>
                <a:headEnd type="none" w="med" len="med"/>
                <a:tailEnd type="stealth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6222" name="Freeform 77"/>
              <p:cNvSpPr/>
              <p:nvPr/>
            </p:nvSpPr>
            <p:spPr>
              <a:xfrm>
                <a:off x="3240" y="3294"/>
                <a:ext cx="198" cy="1"/>
              </a:xfrm>
              <a:custGeom>
                <a:avLst/>
                <a:gdLst/>
                <a:ahLst/>
                <a:cxnLst>
                  <a:cxn ang="0">
                    <a:pos x="198" y="0"/>
                  </a:cxn>
                  <a:cxn ang="0">
                    <a:pos x="0" y="0"/>
                  </a:cxn>
                </a:cxnLst>
                <a:pathLst>
                  <a:path w="198" h="1">
                    <a:moveTo>
                      <a:pt x="198" y="0"/>
                    </a:moveTo>
                    <a:lnTo>
                      <a:pt x="0" y="0"/>
                    </a:lnTo>
                  </a:path>
                </a:pathLst>
              </a:custGeom>
              <a:noFill/>
              <a:ln w="28575" cap="flat" cmpd="sng">
                <a:solidFill>
                  <a:schemeClr val="folHlink">
                    <a:alpha val="100000"/>
                  </a:schemeClr>
                </a:solidFill>
                <a:prstDash val="solid"/>
                <a:round/>
                <a:headEnd type="none" w="med" len="med"/>
                <a:tailEnd type="stealth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6223" name="Freeform 78"/>
              <p:cNvSpPr/>
              <p:nvPr/>
            </p:nvSpPr>
            <p:spPr>
              <a:xfrm>
                <a:off x="3186" y="2475"/>
                <a:ext cx="195" cy="1"/>
              </a:xfrm>
              <a:custGeom>
                <a:avLst/>
                <a:gdLst/>
                <a:ahLst/>
                <a:cxnLst>
                  <a:cxn ang="0">
                    <a:pos x="195" y="0"/>
                  </a:cxn>
                  <a:cxn ang="0">
                    <a:pos x="0" y="0"/>
                  </a:cxn>
                </a:cxnLst>
                <a:pathLst>
                  <a:path w="195" h="1">
                    <a:moveTo>
                      <a:pt x="195" y="0"/>
                    </a:moveTo>
                    <a:lnTo>
                      <a:pt x="0" y="0"/>
                    </a:lnTo>
                  </a:path>
                </a:pathLst>
              </a:custGeom>
              <a:noFill/>
              <a:ln w="28575" cap="flat" cmpd="sng">
                <a:solidFill>
                  <a:schemeClr val="folHlink">
                    <a:alpha val="100000"/>
                  </a:schemeClr>
                </a:solidFill>
                <a:prstDash val="solid"/>
                <a:round/>
                <a:headEnd type="none" w="med" len="med"/>
                <a:tailEnd type="stealth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6224" name="Freeform 79"/>
              <p:cNvSpPr/>
              <p:nvPr/>
            </p:nvSpPr>
            <p:spPr>
              <a:xfrm>
                <a:off x="4575" y="2859"/>
                <a:ext cx="198" cy="6"/>
              </a:xfrm>
              <a:custGeom>
                <a:avLst/>
                <a:gdLst/>
                <a:ahLst/>
                <a:cxnLst>
                  <a:cxn ang="0">
                    <a:pos x="198" y="6"/>
                  </a:cxn>
                  <a:cxn ang="0">
                    <a:pos x="0" y="0"/>
                  </a:cxn>
                </a:cxnLst>
                <a:pathLst>
                  <a:path w="198" h="6">
                    <a:moveTo>
                      <a:pt x="198" y="6"/>
                    </a:moveTo>
                    <a:lnTo>
                      <a:pt x="0" y="0"/>
                    </a:lnTo>
                  </a:path>
                </a:pathLst>
              </a:custGeom>
              <a:noFill/>
              <a:ln w="28575" cap="flat" cmpd="sng">
                <a:solidFill>
                  <a:schemeClr val="folHlink">
                    <a:alpha val="100000"/>
                  </a:schemeClr>
                </a:solidFill>
                <a:prstDash val="solid"/>
                <a:round/>
                <a:headEnd type="none" w="med" len="med"/>
                <a:tailEnd type="stealth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6225" name="Freeform 80"/>
              <p:cNvSpPr/>
              <p:nvPr/>
            </p:nvSpPr>
            <p:spPr>
              <a:xfrm>
                <a:off x="4113" y="2859"/>
                <a:ext cx="174" cy="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74" y="0"/>
                  </a:cxn>
                </a:cxnLst>
                <a:pathLst>
                  <a:path w="174" h="1">
                    <a:moveTo>
                      <a:pt x="0" y="0"/>
                    </a:moveTo>
                    <a:lnTo>
                      <a:pt x="174" y="0"/>
                    </a:lnTo>
                  </a:path>
                </a:pathLst>
              </a:custGeom>
              <a:noFill/>
              <a:ln w="28575" cap="flat" cmpd="sng">
                <a:solidFill>
                  <a:schemeClr val="folHlink">
                    <a:alpha val="100000"/>
                  </a:schemeClr>
                </a:solidFill>
                <a:prstDash val="solid"/>
                <a:round/>
                <a:headEnd type="none" w="med" len="med"/>
                <a:tailEnd type="stealth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6226" name="Freeform 81"/>
              <p:cNvSpPr/>
              <p:nvPr/>
            </p:nvSpPr>
            <p:spPr>
              <a:xfrm>
                <a:off x="3480" y="3054"/>
                <a:ext cx="186" cy="3"/>
              </a:xfrm>
              <a:custGeom>
                <a:avLst/>
                <a:gdLst/>
                <a:ahLst/>
                <a:cxnLst>
                  <a:cxn ang="0">
                    <a:pos x="0" y="3"/>
                  </a:cxn>
                  <a:cxn ang="0">
                    <a:pos x="186" y="0"/>
                  </a:cxn>
                </a:cxnLst>
                <a:pathLst>
                  <a:path w="186" h="3">
                    <a:moveTo>
                      <a:pt x="0" y="3"/>
                    </a:moveTo>
                    <a:lnTo>
                      <a:pt x="186" y="0"/>
                    </a:lnTo>
                  </a:path>
                </a:pathLst>
              </a:custGeom>
              <a:noFill/>
              <a:ln w="28575" cap="flat" cmpd="sng">
                <a:solidFill>
                  <a:schemeClr val="folHlink">
                    <a:alpha val="100000"/>
                  </a:schemeClr>
                </a:solidFill>
                <a:prstDash val="solid"/>
                <a:round/>
                <a:headEnd type="none" w="med" len="med"/>
                <a:tailEnd type="stealth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6227" name="Freeform 82"/>
              <p:cNvSpPr/>
              <p:nvPr/>
            </p:nvSpPr>
            <p:spPr>
              <a:xfrm>
                <a:off x="3957" y="2238"/>
                <a:ext cx="1" cy="18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186"/>
                  </a:cxn>
                </a:cxnLst>
                <a:pathLst>
                  <a:path w="1" h="186">
                    <a:moveTo>
                      <a:pt x="0" y="0"/>
                    </a:moveTo>
                    <a:lnTo>
                      <a:pt x="0" y="186"/>
                    </a:lnTo>
                  </a:path>
                </a:pathLst>
              </a:custGeom>
              <a:noFill/>
              <a:ln w="28575" cap="flat" cmpd="sng">
                <a:solidFill>
                  <a:schemeClr val="folHlink">
                    <a:alpha val="100000"/>
                  </a:schemeClr>
                </a:solidFill>
                <a:prstDash val="solid"/>
                <a:round/>
                <a:headEnd type="none" w="med" len="med"/>
                <a:tailEnd type="stealth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6228" name="Line 83"/>
              <p:cNvSpPr/>
              <p:nvPr/>
            </p:nvSpPr>
            <p:spPr>
              <a:xfrm flipH="1">
                <a:off x="4458" y="1920"/>
                <a:ext cx="192" cy="0"/>
              </a:xfrm>
              <a:prstGeom prst="line">
                <a:avLst/>
              </a:prstGeom>
              <a:ln w="28575" cap="flat" cmpd="sng">
                <a:solidFill>
                  <a:schemeClr val="folHlink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6229" name="Text Box 84"/>
              <p:cNvSpPr txBox="1"/>
              <p:nvPr/>
            </p:nvSpPr>
            <p:spPr>
              <a:xfrm>
                <a:off x="962" y="3264"/>
                <a:ext cx="280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sz="2000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C</a:t>
                </a:r>
                <a:r>
                  <a:rPr lang="en-US" altLang="zh-CN" baseline="-15000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1</a:t>
                </a:r>
                <a:endParaRPr lang="en-US" altLang="zh-CN" baseline="-15000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230" name="Text Box 85"/>
              <p:cNvSpPr txBox="1"/>
              <p:nvPr/>
            </p:nvSpPr>
            <p:spPr>
              <a:xfrm>
                <a:off x="954" y="1440"/>
                <a:ext cx="280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sz="2000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C</a:t>
                </a:r>
                <a:r>
                  <a:rPr lang="en-US" altLang="zh-CN" baseline="-15000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2</a:t>
                </a:r>
                <a:endParaRPr lang="en-US" altLang="zh-CN" baseline="-15000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231" name="Freeform 86"/>
              <p:cNvSpPr/>
              <p:nvPr/>
            </p:nvSpPr>
            <p:spPr>
              <a:xfrm>
                <a:off x="1077" y="2259"/>
                <a:ext cx="3" cy="195"/>
              </a:xfrm>
              <a:custGeom>
                <a:avLst/>
                <a:gdLst/>
                <a:ahLst/>
                <a:cxnLst>
                  <a:cxn ang="0">
                    <a:pos x="3" y="195"/>
                  </a:cxn>
                  <a:cxn ang="0">
                    <a:pos x="0" y="0"/>
                  </a:cxn>
                </a:cxnLst>
                <a:pathLst>
                  <a:path w="3" h="195">
                    <a:moveTo>
                      <a:pt x="3" y="195"/>
                    </a:moveTo>
                    <a:lnTo>
                      <a:pt x="0" y="0"/>
                    </a:lnTo>
                  </a:path>
                </a:pathLst>
              </a:custGeom>
              <a:noFill/>
              <a:ln w="28575" cap="flat" cmpd="sng">
                <a:solidFill>
                  <a:schemeClr val="folHlink">
                    <a:alpha val="100000"/>
                  </a:schemeClr>
                </a:solidFill>
                <a:prstDash val="solid"/>
                <a:round/>
                <a:headEnd type="none" w="med" len="med"/>
                <a:tailEnd type="stealth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6232" name="Text Box 87"/>
              <p:cNvSpPr txBox="1"/>
              <p:nvPr/>
            </p:nvSpPr>
            <p:spPr>
              <a:xfrm>
                <a:off x="1338" y="2438"/>
                <a:ext cx="280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sz="2000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C</a:t>
                </a:r>
                <a:r>
                  <a:rPr lang="en-US" altLang="zh-CN" baseline="-15000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5</a:t>
                </a:r>
                <a:endParaRPr lang="en-US" altLang="zh-CN" baseline="-15000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233" name="Text Box 88"/>
              <p:cNvSpPr txBox="1"/>
              <p:nvPr/>
            </p:nvSpPr>
            <p:spPr>
              <a:xfrm>
                <a:off x="1682" y="2294"/>
                <a:ext cx="280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sz="2000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C</a:t>
                </a:r>
                <a:r>
                  <a:rPr lang="en-US" altLang="zh-CN" baseline="-15000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9</a:t>
                </a:r>
                <a:endParaRPr lang="en-US" altLang="zh-CN" baseline="-15000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234" name="Text Box 89"/>
              <p:cNvSpPr txBox="1"/>
              <p:nvPr/>
            </p:nvSpPr>
            <p:spPr>
              <a:xfrm>
                <a:off x="2402" y="3206"/>
                <a:ext cx="280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sz="2000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C</a:t>
                </a:r>
                <a:r>
                  <a:rPr lang="en-US" altLang="zh-CN" baseline="-15000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0</a:t>
                </a:r>
                <a:endParaRPr lang="en-US" altLang="zh-CN" baseline="-15000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235" name="Text Box 90"/>
              <p:cNvSpPr txBox="1"/>
              <p:nvPr/>
            </p:nvSpPr>
            <p:spPr>
              <a:xfrm>
                <a:off x="2498" y="2390"/>
                <a:ext cx="328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sz="2000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C</a:t>
                </a:r>
                <a:r>
                  <a:rPr lang="en-US" altLang="zh-CN" baseline="-15000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10</a:t>
                </a:r>
                <a:endParaRPr lang="en-US" altLang="zh-CN" baseline="-15000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236" name="Text Box 91"/>
              <p:cNvSpPr txBox="1"/>
              <p:nvPr/>
            </p:nvSpPr>
            <p:spPr>
              <a:xfrm>
                <a:off x="3354" y="2352"/>
                <a:ext cx="280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sz="2000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C</a:t>
                </a:r>
                <a:r>
                  <a:rPr lang="en-US" altLang="zh-CN" baseline="-15000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3</a:t>
                </a:r>
                <a:endParaRPr lang="en-US" altLang="zh-CN" baseline="-15000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237" name="Text Box 92"/>
              <p:cNvSpPr txBox="1"/>
              <p:nvPr/>
            </p:nvSpPr>
            <p:spPr>
              <a:xfrm>
                <a:off x="3258" y="2966"/>
                <a:ext cx="280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sz="2000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C</a:t>
                </a:r>
                <a:r>
                  <a:rPr lang="en-US" altLang="zh-CN" baseline="-15000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7</a:t>
                </a:r>
                <a:endParaRPr lang="en-US" altLang="zh-CN" baseline="-15000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238" name="Text Box 93"/>
              <p:cNvSpPr txBox="1"/>
              <p:nvPr/>
            </p:nvSpPr>
            <p:spPr>
              <a:xfrm>
                <a:off x="3410" y="3206"/>
                <a:ext cx="280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sz="2000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C</a:t>
                </a:r>
                <a:r>
                  <a:rPr lang="en-US" altLang="zh-CN" baseline="-15000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4</a:t>
                </a:r>
                <a:endParaRPr lang="en-US" altLang="zh-CN" baseline="-15000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239" name="Text Box 94"/>
              <p:cNvSpPr txBox="1"/>
              <p:nvPr/>
            </p:nvSpPr>
            <p:spPr>
              <a:xfrm>
                <a:off x="3890" y="2736"/>
                <a:ext cx="280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sz="2000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C</a:t>
                </a:r>
                <a:r>
                  <a:rPr lang="en-US" altLang="zh-CN" baseline="-15000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6</a:t>
                </a:r>
                <a:endParaRPr lang="en-US" altLang="zh-CN" baseline="-15000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240" name="Text Box 95"/>
              <p:cNvSpPr txBox="1"/>
              <p:nvPr/>
            </p:nvSpPr>
            <p:spPr>
              <a:xfrm>
                <a:off x="3794" y="2016"/>
                <a:ext cx="328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sz="2000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C</a:t>
                </a:r>
                <a:r>
                  <a:rPr lang="en-US" altLang="zh-CN" baseline="-15000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12</a:t>
                </a:r>
                <a:endParaRPr lang="en-US" altLang="zh-CN" baseline="-15000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241" name="Text Box 96"/>
              <p:cNvSpPr txBox="1"/>
              <p:nvPr/>
            </p:nvSpPr>
            <p:spPr>
              <a:xfrm>
                <a:off x="4610" y="1824"/>
                <a:ext cx="328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sz="2000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C</a:t>
                </a:r>
                <a:r>
                  <a:rPr lang="en-US" altLang="zh-CN" baseline="-15000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11</a:t>
                </a:r>
                <a:endParaRPr lang="en-US" altLang="zh-CN" baseline="-15000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242" name="Text Box 97"/>
              <p:cNvSpPr txBox="1"/>
              <p:nvPr/>
            </p:nvSpPr>
            <p:spPr>
              <a:xfrm>
                <a:off x="4754" y="2774"/>
                <a:ext cx="280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sz="2000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C</a:t>
                </a:r>
                <a:r>
                  <a:rPr lang="en-US" altLang="zh-CN" baseline="-15000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8</a:t>
                </a:r>
                <a:endParaRPr lang="en-US" altLang="zh-CN" baseline="-15000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243" name="Text Box 98"/>
              <p:cNvSpPr txBox="1"/>
              <p:nvPr/>
            </p:nvSpPr>
            <p:spPr>
              <a:xfrm>
                <a:off x="2874" y="4070"/>
                <a:ext cx="760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zh-CN" altLang="en-US" sz="2000" dirty="0">
                    <a:latin typeface="Times New Roman" panose="02020603050405020304" pitchFamily="18" charset="0"/>
                  </a:rPr>
                  <a:t>控制信号</a:t>
                </a:r>
                <a:endParaRPr lang="zh-CN" altLang="en-US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244" name="Text Box 99"/>
              <p:cNvSpPr txBox="1"/>
              <p:nvPr/>
            </p:nvSpPr>
            <p:spPr>
              <a:xfrm>
                <a:off x="3642" y="3598"/>
                <a:ext cx="1014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 eaLnBrk="1" hangingPunct="1"/>
                <a:r>
                  <a:rPr lang="zh-CN" altLang="en-US" sz="2000" dirty="0">
                    <a:latin typeface="Times New Roman" panose="02020603050405020304" pitchFamily="18" charset="0"/>
                  </a:rPr>
                  <a:t>标志</a:t>
                </a:r>
                <a:endParaRPr lang="zh-CN" altLang="en-US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245" name="Text Box 100"/>
              <p:cNvSpPr txBox="1"/>
              <p:nvPr/>
            </p:nvSpPr>
            <p:spPr>
              <a:xfrm>
                <a:off x="4986" y="3118"/>
                <a:ext cx="438" cy="44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zh-CN" altLang="en-US" sz="2000" dirty="0">
                    <a:latin typeface="Times New Roman" panose="02020603050405020304" pitchFamily="18" charset="0"/>
                  </a:rPr>
                  <a:t>控制</a:t>
                </a:r>
                <a:endParaRPr lang="zh-CN" altLang="en-US" sz="2000" dirty="0">
                  <a:latin typeface="Times New Roman" panose="02020603050405020304" pitchFamily="18" charset="0"/>
                </a:endParaRPr>
              </a:p>
              <a:p>
                <a:pPr eaLnBrk="1" hangingPunct="1"/>
                <a:r>
                  <a:rPr lang="zh-CN" altLang="en-US" sz="2000" dirty="0">
                    <a:latin typeface="Times New Roman" panose="02020603050405020304" pitchFamily="18" charset="0"/>
                  </a:rPr>
                  <a:t>信号</a:t>
                </a:r>
                <a:endParaRPr lang="zh-CN" altLang="en-US" sz="2000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6155" name="Text Box 103"/>
            <p:cNvSpPr txBox="1"/>
            <p:nvPr/>
          </p:nvSpPr>
          <p:spPr>
            <a:xfrm>
              <a:off x="1240" y="1743"/>
              <a:ext cx="297" cy="671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vert="eaVert" lIns="414000"/>
            <a:p>
              <a:pPr eaLnBrk="1" hangingPunct="1">
                <a:spcBef>
                  <a:spcPct val="50000"/>
                </a:spcBef>
              </a:pPr>
              <a:r>
                <a:rPr lang="en-US" altLang="zh-CN" dirty="0">
                  <a:latin typeface="Times New Roman" panose="02020603050405020304" pitchFamily="18" charset="0"/>
                </a:rPr>
                <a:t>    </a:t>
              </a:r>
              <a:r>
                <a:rPr lang="en-US" altLang="zh-CN" sz="2000" dirty="0">
                  <a:latin typeface="Times New Roman" panose="02020603050405020304" pitchFamily="18" charset="0"/>
                </a:rPr>
                <a:t>M D R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6156" name="Text Box 104"/>
            <p:cNvSpPr txBox="1"/>
            <p:nvPr/>
          </p:nvSpPr>
          <p:spPr>
            <a:xfrm>
              <a:off x="1238" y="3375"/>
              <a:ext cx="297" cy="671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vert="eaVert" lIns="414000"/>
            <a:p>
              <a:pPr eaLnBrk="1" hangingPunct="1">
                <a:spcBef>
                  <a:spcPct val="50000"/>
                </a:spcBef>
              </a:pPr>
              <a:r>
                <a:rPr lang="en-US" altLang="zh-CN" dirty="0">
                  <a:latin typeface="Times New Roman" panose="02020603050405020304" pitchFamily="18" charset="0"/>
                </a:rPr>
                <a:t>    </a:t>
              </a:r>
              <a:r>
                <a:rPr lang="en-US" altLang="zh-CN" sz="2000" dirty="0">
                  <a:latin typeface="Times New Roman" panose="02020603050405020304" pitchFamily="18" charset="0"/>
                </a:rPr>
                <a:t>M A R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12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12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12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612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2356" grpId="0"/>
      <p:bldP spid="612357" grpId="0"/>
      <p:bldP spid="61235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170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 </a:t>
            </a:r>
            <a:endParaRPr lang="zh-CN" altLang="en-US" dirty="0"/>
          </a:p>
        </p:txBody>
      </p:sp>
      <p:sp>
        <p:nvSpPr>
          <p:cNvPr id="7171" name="Text Box 3"/>
          <p:cNvSpPr txBox="1"/>
          <p:nvPr/>
        </p:nvSpPr>
        <p:spPr>
          <a:xfrm>
            <a:off x="517525" y="304800"/>
            <a:ext cx="5229225" cy="6413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zh-CN" altLang="en-US" sz="3600" dirty="0">
                <a:latin typeface="Times New Roman" panose="02020603050405020304" pitchFamily="18" charset="0"/>
              </a:rPr>
              <a:t>1. 安排微操作时序的原则</a:t>
            </a:r>
            <a:endParaRPr lang="zh-CN" altLang="en-US" sz="3600" dirty="0">
              <a:latin typeface="Times New Roman" panose="02020603050405020304" pitchFamily="18" charset="0"/>
            </a:endParaRPr>
          </a:p>
        </p:txBody>
      </p:sp>
      <p:sp>
        <p:nvSpPr>
          <p:cNvPr id="613380" name="Text Box 4"/>
          <p:cNvSpPr txBox="1"/>
          <p:nvPr/>
        </p:nvSpPr>
        <p:spPr>
          <a:xfrm>
            <a:off x="152400" y="1614488"/>
            <a:ext cx="73914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914400" lvl="1" indent="-457200" eaLnBrk="1" hangingPunct="1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</a:pP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原则一   微操作的 </a:t>
            </a:r>
            <a:r>
              <a:rPr lang="zh-CN" altLang="en-US" sz="2800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先后顺序不得 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随意 </a:t>
            </a:r>
            <a:r>
              <a:rPr lang="zh-CN" altLang="en-US" sz="2800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更改</a:t>
            </a:r>
            <a:endParaRPr lang="zh-CN" altLang="en-US" sz="2400" dirty="0">
              <a:solidFill>
                <a:schemeClr val="fol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3381" name="Text Box 5"/>
          <p:cNvSpPr txBox="1"/>
          <p:nvPr/>
        </p:nvSpPr>
        <p:spPr>
          <a:xfrm>
            <a:off x="152400" y="2393950"/>
            <a:ext cx="7467600" cy="14605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914400" lvl="1" indent="-457200" eaLnBrk="1" hangingPunct="1">
              <a:lnSpc>
                <a:spcPct val="150000"/>
              </a:lnSpc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</a:pP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原则二   </a:t>
            </a:r>
            <a:r>
              <a:rPr lang="zh-CN" altLang="en-US" sz="2800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被控对象不同 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的微操作</a:t>
            </a:r>
            <a:endParaRPr lang="zh-CN" altLang="en-US" sz="2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914400" lvl="1" indent="-457200" eaLnBrk="1" hangingPunct="1">
              <a:lnSpc>
                <a:spcPct val="150000"/>
              </a:lnSpc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</a:pP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               尽量安排在  </a:t>
            </a:r>
            <a:r>
              <a:rPr lang="zh-CN" altLang="en-US" sz="2800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一个节拍 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内完成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3382" name="Text Box 6"/>
          <p:cNvSpPr txBox="1"/>
          <p:nvPr/>
        </p:nvSpPr>
        <p:spPr>
          <a:xfrm>
            <a:off x="152400" y="4114800"/>
            <a:ext cx="8991600" cy="21875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914400" lvl="1" indent="-457200" eaLnBrk="1" hangingPunct="1">
              <a:lnSpc>
                <a:spcPct val="150000"/>
              </a:lnSpc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</a:pP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原则三   占用 </a:t>
            </a:r>
            <a:r>
              <a:rPr lang="zh-CN" altLang="en-US" sz="2800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时间较短 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的微操作</a:t>
            </a:r>
            <a:endParaRPr lang="zh-CN" altLang="en-US" sz="2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914400" lvl="1" indent="-457200" eaLnBrk="1" hangingPunct="1">
              <a:lnSpc>
                <a:spcPct val="150000"/>
              </a:lnSpc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</a:pP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               尽量 安排在 </a:t>
            </a:r>
            <a:r>
              <a:rPr lang="zh-CN" altLang="en-US" sz="2800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一个节拍 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内完成</a:t>
            </a:r>
            <a:endParaRPr lang="zh-CN" altLang="en-US" sz="2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914400" lvl="1" indent="-457200" eaLnBrk="1" hangingPunct="1">
              <a:lnSpc>
                <a:spcPct val="150000"/>
              </a:lnSpc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</a:pP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               并</a:t>
            </a:r>
            <a:r>
              <a:rPr lang="zh-CN" altLang="en-US" sz="2800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允许有先后顺序</a:t>
            </a:r>
            <a:endParaRPr lang="zh-CN" altLang="en-US" sz="2400" dirty="0">
              <a:solidFill>
                <a:schemeClr val="fol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3383" name="Rectangle 7"/>
          <p:cNvSpPr>
            <a:spLocks noChangeArrowheads="1"/>
          </p:cNvSpPr>
          <p:nvPr/>
        </p:nvSpPr>
        <p:spPr bwMode="auto">
          <a:xfrm>
            <a:off x="7696200" y="152400"/>
            <a:ext cx="1447800" cy="838200"/>
          </a:xfrm>
          <a:prstGeom prst="rect">
            <a:avLst/>
          </a:prstGeom>
          <a:noFill/>
          <a:ln>
            <a:noFill/>
          </a:ln>
          <a:effectLst/>
        </p:spPr>
        <p:txBody>
          <a:bodyPr lIns="92075" tIns="46038" rIns="92075" bIns="46038" anchor="ctr"/>
          <a:lstStyle>
            <a:lvl1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10.1</a:t>
            </a:r>
            <a:endParaRPr kumimoji="1" lang="zh-CN" altLang="en-US" sz="4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176" name="AutoShape 8">
            <a:hlinkClick r:id="rId1" action="ppaction://hlinksldjump"/>
          </p:cNvPr>
          <p:cNvSpPr/>
          <p:nvPr/>
        </p:nvSpPr>
        <p:spPr>
          <a:xfrm>
            <a:off x="8589963" y="6516688"/>
            <a:ext cx="539750" cy="333375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endParaRPr lang="zh-CN" altLang="en-US" dirty="0">
              <a:latin typeface="等线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13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13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13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3380" grpId="0"/>
      <p:bldP spid="613381" grpId="0"/>
      <p:bldP spid="61338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194" name="Text Box 2"/>
          <p:cNvSpPr txBox="1"/>
          <p:nvPr/>
        </p:nvSpPr>
        <p:spPr>
          <a:xfrm>
            <a:off x="365125" y="323850"/>
            <a:ext cx="6569075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3200" dirty="0">
                <a:latin typeface="Times New Roman" panose="02020603050405020304" pitchFamily="18" charset="0"/>
              </a:rPr>
              <a:t>2. </a:t>
            </a:r>
            <a:r>
              <a:rPr lang="zh-CN" altLang="en-US" sz="3200" dirty="0">
                <a:solidFill>
                  <a:schemeClr val="folHlink"/>
                </a:solidFill>
                <a:latin typeface="Times New Roman" panose="02020603050405020304" pitchFamily="18" charset="0"/>
              </a:rPr>
              <a:t>取指周期 </a:t>
            </a:r>
            <a:r>
              <a:rPr lang="zh-CN" altLang="en-US" sz="3200" dirty="0">
                <a:latin typeface="Times New Roman" panose="02020603050405020304" pitchFamily="18" charset="0"/>
              </a:rPr>
              <a:t>微操作的 </a:t>
            </a:r>
            <a:r>
              <a:rPr lang="zh-CN" altLang="en-US" sz="3200" dirty="0">
                <a:solidFill>
                  <a:schemeClr val="folHlink"/>
                </a:solidFill>
                <a:latin typeface="Times New Roman" panose="02020603050405020304" pitchFamily="18" charset="0"/>
              </a:rPr>
              <a:t>节拍安排</a:t>
            </a:r>
            <a:endParaRPr lang="en-US" altLang="zh-CN" sz="32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806915" name="Group 3"/>
          <p:cNvGrpSpPr/>
          <p:nvPr/>
        </p:nvGrpSpPr>
        <p:grpSpPr>
          <a:xfrm>
            <a:off x="2524125" y="990600"/>
            <a:ext cx="1928813" cy="457200"/>
            <a:chOff x="999" y="672"/>
            <a:chExt cx="1215" cy="288"/>
          </a:xfrm>
        </p:grpSpPr>
        <p:sp>
          <p:nvSpPr>
            <p:cNvPr id="8236" name="Text Box 4"/>
            <p:cNvSpPr txBox="1"/>
            <p:nvPr/>
          </p:nvSpPr>
          <p:spPr>
            <a:xfrm>
              <a:off x="999" y="672"/>
              <a:ext cx="121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dirty="0">
                  <a:latin typeface="Times New Roman" panose="02020603050405020304" pitchFamily="18" charset="0"/>
                </a:rPr>
                <a:t>PC        MAR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8237" name="Line 5"/>
            <p:cNvSpPr/>
            <p:nvPr/>
          </p:nvSpPr>
          <p:spPr>
            <a:xfrm>
              <a:off x="1344" y="811"/>
              <a:ext cx="28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806958" name="Group 46"/>
          <p:cNvGrpSpPr/>
          <p:nvPr/>
        </p:nvGrpSpPr>
        <p:grpSpPr>
          <a:xfrm>
            <a:off x="2524125" y="1971675"/>
            <a:ext cx="2970213" cy="457200"/>
            <a:chOff x="1590" y="1242"/>
            <a:chExt cx="1871" cy="288"/>
          </a:xfrm>
        </p:grpSpPr>
        <p:sp>
          <p:nvSpPr>
            <p:cNvPr id="8234" name="Text Box 7"/>
            <p:cNvSpPr txBox="1"/>
            <p:nvPr/>
          </p:nvSpPr>
          <p:spPr>
            <a:xfrm>
              <a:off x="1590" y="1242"/>
              <a:ext cx="187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dirty="0">
                  <a:latin typeface="Times New Roman" panose="02020603050405020304" pitchFamily="18" charset="0"/>
                </a:rPr>
                <a:t>M ( MAR )        MDR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8235" name="Line 8"/>
            <p:cNvSpPr/>
            <p:nvPr/>
          </p:nvSpPr>
          <p:spPr>
            <a:xfrm>
              <a:off x="2621" y="1387"/>
              <a:ext cx="28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806921" name="Group 9"/>
          <p:cNvGrpSpPr/>
          <p:nvPr/>
        </p:nvGrpSpPr>
        <p:grpSpPr>
          <a:xfrm>
            <a:off x="2524125" y="2952750"/>
            <a:ext cx="1862138" cy="457200"/>
            <a:chOff x="1022" y="1616"/>
            <a:chExt cx="1173" cy="288"/>
          </a:xfrm>
        </p:grpSpPr>
        <p:sp>
          <p:nvSpPr>
            <p:cNvPr id="8232" name="Text Box 10"/>
            <p:cNvSpPr txBox="1"/>
            <p:nvPr/>
          </p:nvSpPr>
          <p:spPr>
            <a:xfrm>
              <a:off x="1022" y="1616"/>
              <a:ext cx="117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dirty="0">
                  <a:latin typeface="Times New Roman" panose="02020603050405020304" pitchFamily="18" charset="0"/>
                </a:rPr>
                <a:t>MDR        IR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8233" name="Line 11"/>
            <p:cNvSpPr/>
            <p:nvPr/>
          </p:nvSpPr>
          <p:spPr>
            <a:xfrm>
              <a:off x="1584" y="1756"/>
              <a:ext cx="28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806924" name="Group 12"/>
          <p:cNvGrpSpPr/>
          <p:nvPr/>
        </p:nvGrpSpPr>
        <p:grpSpPr>
          <a:xfrm>
            <a:off x="2524125" y="2462213"/>
            <a:ext cx="2439988" cy="457200"/>
            <a:chOff x="1590" y="1551"/>
            <a:chExt cx="1537" cy="288"/>
          </a:xfrm>
        </p:grpSpPr>
        <p:sp>
          <p:nvSpPr>
            <p:cNvPr id="8230" name="Line 13"/>
            <p:cNvSpPr/>
            <p:nvPr/>
          </p:nvSpPr>
          <p:spPr>
            <a:xfrm>
              <a:off x="2448" y="1702"/>
              <a:ext cx="28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8231" name="Text Box 14"/>
            <p:cNvSpPr txBox="1"/>
            <p:nvPr/>
          </p:nvSpPr>
          <p:spPr>
            <a:xfrm>
              <a:off x="1590" y="1551"/>
              <a:ext cx="153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400" dirty="0">
                  <a:latin typeface="Times New Roman" panose="02020603050405020304" pitchFamily="18" charset="0"/>
                </a:rPr>
                <a:t>( 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PC ) + 1        PC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806927" name="Text Box 15"/>
          <p:cNvSpPr txBox="1"/>
          <p:nvPr/>
        </p:nvSpPr>
        <p:spPr>
          <a:xfrm>
            <a:off x="6119813" y="1173163"/>
            <a:ext cx="1027112" cy="4270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200" dirty="0">
                <a:solidFill>
                  <a:schemeClr val="folHlink"/>
                </a:solidFill>
                <a:latin typeface="Times New Roman" panose="02020603050405020304" pitchFamily="18" charset="0"/>
              </a:rPr>
              <a:t>原则二</a:t>
            </a:r>
            <a:endParaRPr lang="en-US" altLang="zh-CN" sz="22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806928" name="Text Box 16"/>
          <p:cNvSpPr txBox="1"/>
          <p:nvPr/>
        </p:nvSpPr>
        <p:spPr>
          <a:xfrm>
            <a:off x="6135688" y="2239963"/>
            <a:ext cx="1027112" cy="4270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200" dirty="0">
                <a:solidFill>
                  <a:schemeClr val="folHlink"/>
                </a:solidFill>
                <a:latin typeface="Times New Roman" panose="02020603050405020304" pitchFamily="18" charset="0"/>
              </a:rPr>
              <a:t>原则二</a:t>
            </a:r>
            <a:endParaRPr lang="zh-CN" altLang="en-US" sz="22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806929" name="Text Box 17"/>
          <p:cNvSpPr txBox="1"/>
          <p:nvPr/>
        </p:nvSpPr>
        <p:spPr>
          <a:xfrm>
            <a:off x="6135688" y="3230563"/>
            <a:ext cx="1027112" cy="4270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200" dirty="0">
                <a:solidFill>
                  <a:schemeClr val="folHlink"/>
                </a:solidFill>
                <a:latin typeface="Times New Roman" panose="02020603050405020304" pitchFamily="18" charset="0"/>
              </a:rPr>
              <a:t>原则三</a:t>
            </a:r>
            <a:endParaRPr lang="zh-CN" altLang="en-US" sz="22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806930" name="Text Box 18"/>
          <p:cNvSpPr txBox="1"/>
          <p:nvPr/>
        </p:nvSpPr>
        <p:spPr>
          <a:xfrm>
            <a:off x="365125" y="4010025"/>
            <a:ext cx="6511925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3200" dirty="0">
                <a:latin typeface="Times New Roman" panose="02020603050405020304" pitchFamily="18" charset="0"/>
              </a:rPr>
              <a:t>3. </a:t>
            </a:r>
            <a:r>
              <a:rPr lang="zh-CN" altLang="en-US" sz="3200" dirty="0">
                <a:solidFill>
                  <a:schemeClr val="folHlink"/>
                </a:solidFill>
                <a:latin typeface="Times New Roman" panose="02020603050405020304" pitchFamily="18" charset="0"/>
              </a:rPr>
              <a:t>间址周期 </a:t>
            </a:r>
            <a:r>
              <a:rPr lang="zh-CN" altLang="en-US" sz="3200" dirty="0">
                <a:latin typeface="Times New Roman" panose="02020603050405020304" pitchFamily="18" charset="0"/>
              </a:rPr>
              <a:t>微操作的 </a:t>
            </a:r>
            <a:r>
              <a:rPr lang="zh-CN" altLang="en-US" sz="3200" dirty="0">
                <a:solidFill>
                  <a:schemeClr val="folHlink"/>
                </a:solidFill>
                <a:latin typeface="Times New Roman" panose="02020603050405020304" pitchFamily="18" charset="0"/>
              </a:rPr>
              <a:t>节拍安排</a:t>
            </a:r>
            <a:endParaRPr lang="zh-CN" altLang="en-US" sz="32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806931" name="Group 19"/>
          <p:cNvGrpSpPr/>
          <p:nvPr/>
        </p:nvGrpSpPr>
        <p:grpSpPr>
          <a:xfrm>
            <a:off x="2524125" y="5680075"/>
            <a:ext cx="2894013" cy="457200"/>
            <a:chOff x="1590" y="3578"/>
            <a:chExt cx="1823" cy="288"/>
          </a:xfrm>
        </p:grpSpPr>
        <p:sp>
          <p:nvSpPr>
            <p:cNvPr id="8228" name="Text Box 20"/>
            <p:cNvSpPr txBox="1"/>
            <p:nvPr/>
          </p:nvSpPr>
          <p:spPr>
            <a:xfrm>
              <a:off x="1590" y="3578"/>
              <a:ext cx="182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dirty="0">
                  <a:latin typeface="Times New Roman" panose="02020603050405020304" pitchFamily="18" charset="0"/>
                </a:rPr>
                <a:t>M ( MAR )       MDR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8229" name="Line 21"/>
            <p:cNvSpPr/>
            <p:nvPr/>
          </p:nvSpPr>
          <p:spPr>
            <a:xfrm>
              <a:off x="2592" y="3718"/>
              <a:ext cx="28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806934" name="Group 22"/>
          <p:cNvGrpSpPr/>
          <p:nvPr/>
        </p:nvGrpSpPr>
        <p:grpSpPr>
          <a:xfrm>
            <a:off x="2524125" y="6172200"/>
            <a:ext cx="2608263" cy="457200"/>
            <a:chOff x="1051" y="3711"/>
            <a:chExt cx="1643" cy="288"/>
          </a:xfrm>
        </p:grpSpPr>
        <p:sp>
          <p:nvSpPr>
            <p:cNvPr id="8226" name="Text Box 23"/>
            <p:cNvSpPr txBox="1"/>
            <p:nvPr/>
          </p:nvSpPr>
          <p:spPr>
            <a:xfrm>
              <a:off x="1051" y="3711"/>
              <a:ext cx="164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dirty="0">
                  <a:latin typeface="Times New Roman" panose="02020603050405020304" pitchFamily="18" charset="0"/>
                </a:rPr>
                <a:t>MDR       Ad ( IR )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8227" name="Line 24"/>
            <p:cNvSpPr/>
            <p:nvPr/>
          </p:nvSpPr>
          <p:spPr>
            <a:xfrm>
              <a:off x="1584" y="3862"/>
              <a:ext cx="28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sp>
        <p:nvSpPr>
          <p:cNvPr id="806937" name="Text Box 25"/>
          <p:cNvSpPr txBox="1"/>
          <p:nvPr/>
        </p:nvSpPr>
        <p:spPr>
          <a:xfrm>
            <a:off x="1820863" y="990600"/>
            <a:ext cx="471487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i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2400" baseline="-25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0</a:t>
            </a:r>
            <a:endParaRPr lang="zh-CN" altLang="en-US" sz="2400" baseline="-250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806938" name="Text Box 26"/>
          <p:cNvSpPr txBox="1"/>
          <p:nvPr/>
        </p:nvSpPr>
        <p:spPr>
          <a:xfrm>
            <a:off x="1820863" y="1971675"/>
            <a:ext cx="471487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i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2400" baseline="-25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1</a:t>
            </a:r>
            <a:endParaRPr lang="zh-CN" altLang="en-US" sz="2400" baseline="-250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806939" name="Text Box 27"/>
          <p:cNvSpPr txBox="1"/>
          <p:nvPr/>
        </p:nvSpPr>
        <p:spPr>
          <a:xfrm>
            <a:off x="1820863" y="2952750"/>
            <a:ext cx="471487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i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2400" baseline="-25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2</a:t>
            </a:r>
            <a:endParaRPr lang="zh-CN" altLang="en-US" sz="2400" baseline="-250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806940" name="Text Box 28"/>
          <p:cNvSpPr txBox="1"/>
          <p:nvPr/>
        </p:nvSpPr>
        <p:spPr>
          <a:xfrm>
            <a:off x="1820863" y="4699000"/>
            <a:ext cx="471487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i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2400" baseline="-25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0</a:t>
            </a:r>
            <a:endParaRPr lang="zh-CN" altLang="en-US" sz="2400" baseline="-250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806941" name="Text Box 29"/>
          <p:cNvSpPr txBox="1"/>
          <p:nvPr/>
        </p:nvSpPr>
        <p:spPr>
          <a:xfrm>
            <a:off x="1820863" y="5680075"/>
            <a:ext cx="471487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i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2400" baseline="-25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1</a:t>
            </a:r>
            <a:endParaRPr lang="zh-CN" altLang="en-US" sz="2400" baseline="-250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8210" name="Text Box 30"/>
          <p:cNvSpPr txBox="1"/>
          <p:nvPr/>
        </p:nvSpPr>
        <p:spPr>
          <a:xfrm>
            <a:off x="1989138" y="5999163"/>
            <a:ext cx="1841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806943" name="Text Box 31"/>
          <p:cNvSpPr txBox="1"/>
          <p:nvPr/>
        </p:nvSpPr>
        <p:spPr>
          <a:xfrm>
            <a:off x="1820863" y="6172200"/>
            <a:ext cx="471487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i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2400" baseline="-25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2</a:t>
            </a:r>
            <a:endParaRPr lang="zh-CN" altLang="en-US" sz="2400" baseline="-250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806944" name="Group 32"/>
          <p:cNvGrpSpPr/>
          <p:nvPr/>
        </p:nvGrpSpPr>
        <p:grpSpPr>
          <a:xfrm>
            <a:off x="2524125" y="1481138"/>
            <a:ext cx="1166813" cy="457200"/>
            <a:chOff x="1152" y="938"/>
            <a:chExt cx="735" cy="288"/>
          </a:xfrm>
        </p:grpSpPr>
        <p:sp>
          <p:nvSpPr>
            <p:cNvPr id="8224" name="Line 33"/>
            <p:cNvSpPr/>
            <p:nvPr/>
          </p:nvSpPr>
          <p:spPr>
            <a:xfrm>
              <a:off x="1344" y="1079"/>
              <a:ext cx="28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8225" name="Text Box 34"/>
            <p:cNvSpPr txBox="1"/>
            <p:nvPr/>
          </p:nvSpPr>
          <p:spPr>
            <a:xfrm>
              <a:off x="1152" y="938"/>
              <a:ext cx="73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dirty="0">
                  <a:latin typeface="Times New Roman" panose="02020603050405020304" pitchFamily="18" charset="0"/>
                </a:rPr>
                <a:t>1        R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806947" name="Group 35"/>
          <p:cNvGrpSpPr/>
          <p:nvPr/>
        </p:nvGrpSpPr>
        <p:grpSpPr>
          <a:xfrm>
            <a:off x="2524125" y="3443288"/>
            <a:ext cx="2327275" cy="457200"/>
            <a:chOff x="1590" y="2169"/>
            <a:chExt cx="1466" cy="288"/>
          </a:xfrm>
        </p:grpSpPr>
        <p:sp>
          <p:nvSpPr>
            <p:cNvPr id="8222" name="Line 36"/>
            <p:cNvSpPr/>
            <p:nvPr/>
          </p:nvSpPr>
          <p:spPr>
            <a:xfrm>
              <a:off x="2448" y="2316"/>
              <a:ext cx="28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8223" name="Text Box 37"/>
            <p:cNvSpPr txBox="1"/>
            <p:nvPr/>
          </p:nvSpPr>
          <p:spPr>
            <a:xfrm>
              <a:off x="1590" y="2169"/>
              <a:ext cx="146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dirty="0">
                  <a:latin typeface="Times New Roman" panose="02020603050405020304" pitchFamily="18" charset="0"/>
                </a:rPr>
                <a:t>OP ( IR )        ID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806950" name="Group 38"/>
          <p:cNvGrpSpPr/>
          <p:nvPr/>
        </p:nvGrpSpPr>
        <p:grpSpPr>
          <a:xfrm>
            <a:off x="2524125" y="4699000"/>
            <a:ext cx="2608263" cy="457200"/>
            <a:chOff x="1590" y="2960"/>
            <a:chExt cx="1643" cy="288"/>
          </a:xfrm>
        </p:grpSpPr>
        <p:sp>
          <p:nvSpPr>
            <p:cNvPr id="8220" name="Text Box 39"/>
            <p:cNvSpPr txBox="1"/>
            <p:nvPr/>
          </p:nvSpPr>
          <p:spPr>
            <a:xfrm>
              <a:off x="1590" y="2960"/>
              <a:ext cx="164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dirty="0">
                  <a:latin typeface="Times New Roman" panose="02020603050405020304" pitchFamily="18" charset="0"/>
                </a:rPr>
                <a:t>Ad ( IR )       MAR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8221" name="Line 40"/>
            <p:cNvSpPr/>
            <p:nvPr/>
          </p:nvSpPr>
          <p:spPr>
            <a:xfrm>
              <a:off x="2400" y="3101"/>
              <a:ext cx="28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806953" name="Group 41"/>
          <p:cNvGrpSpPr/>
          <p:nvPr/>
        </p:nvGrpSpPr>
        <p:grpSpPr>
          <a:xfrm>
            <a:off x="2524125" y="5189538"/>
            <a:ext cx="1166813" cy="457200"/>
            <a:chOff x="1008" y="2976"/>
            <a:chExt cx="735" cy="288"/>
          </a:xfrm>
        </p:grpSpPr>
        <p:sp>
          <p:nvSpPr>
            <p:cNvPr id="8218" name="Line 42"/>
            <p:cNvSpPr/>
            <p:nvPr/>
          </p:nvSpPr>
          <p:spPr>
            <a:xfrm>
              <a:off x="1200" y="3125"/>
              <a:ext cx="28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8219" name="Text Box 43"/>
            <p:cNvSpPr txBox="1"/>
            <p:nvPr/>
          </p:nvSpPr>
          <p:spPr>
            <a:xfrm>
              <a:off x="1008" y="2976"/>
              <a:ext cx="73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dirty="0">
                  <a:latin typeface="Times New Roman" panose="02020603050405020304" pitchFamily="18" charset="0"/>
                </a:rPr>
                <a:t>1        R</a:t>
              </a:r>
              <a:endParaRPr lang="zh-CN" altLang="en-US" sz="24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806956" name="Rectangle 44"/>
          <p:cNvSpPr>
            <a:spLocks noChangeArrowheads="1"/>
          </p:cNvSpPr>
          <p:nvPr/>
        </p:nvSpPr>
        <p:spPr bwMode="auto">
          <a:xfrm>
            <a:off x="7696200" y="152400"/>
            <a:ext cx="1447800" cy="838200"/>
          </a:xfrm>
          <a:prstGeom prst="rect">
            <a:avLst/>
          </a:prstGeom>
          <a:noFill/>
          <a:ln>
            <a:noFill/>
          </a:ln>
          <a:effectLst/>
        </p:spPr>
        <p:txBody>
          <a:bodyPr lIns="92075" tIns="46038" rIns="92075" bIns="46038" anchor="ctr"/>
          <a:lstStyle>
            <a:lvl1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10.1</a:t>
            </a:r>
            <a:endParaRPr kumimoji="1" lang="zh-CN" altLang="en-US" sz="4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217" name="AutoShape 45">
            <a:hlinkClick r:id="rId1" action="ppaction://hlinksldjump"/>
          </p:cNvPr>
          <p:cNvSpPr/>
          <p:nvPr/>
        </p:nvSpPr>
        <p:spPr>
          <a:xfrm>
            <a:off x="8589963" y="6516688"/>
            <a:ext cx="539750" cy="333375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endParaRPr lang="zh-CN" altLang="en-US" dirty="0">
              <a:latin typeface="等线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06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06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06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069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069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806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806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806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069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069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806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806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806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8069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8069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806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806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806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5" dur="500"/>
                                        <p:tgtEl>
                                          <p:spTgt spid="806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0" dur="500"/>
                                        <p:tgtEl>
                                          <p:spTgt spid="806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5" dur="500"/>
                                        <p:tgtEl>
                                          <p:spTgt spid="806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0" dur="500"/>
                                        <p:tgtEl>
                                          <p:spTgt spid="806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5" dur="500"/>
                                        <p:tgtEl>
                                          <p:spTgt spid="806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6927" grpId="0"/>
      <p:bldP spid="806928" grpId="0"/>
      <p:bldP spid="806929" grpId="0"/>
      <p:bldP spid="806930" grpId="0"/>
      <p:bldP spid="806937" grpId="0"/>
      <p:bldP spid="806938" grpId="0"/>
      <p:bldP spid="806939" grpId="0"/>
      <p:bldP spid="806940" grpId="0"/>
      <p:bldP spid="806941" grpId="0"/>
      <p:bldP spid="80694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218" name="Text Box 2"/>
          <p:cNvSpPr txBox="1"/>
          <p:nvPr/>
        </p:nvSpPr>
        <p:spPr>
          <a:xfrm>
            <a:off x="517525" y="349250"/>
            <a:ext cx="6375400" cy="6413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3600" dirty="0">
                <a:latin typeface="Times New Roman" panose="02020603050405020304" pitchFamily="18" charset="0"/>
              </a:rPr>
              <a:t>4. </a:t>
            </a:r>
            <a:r>
              <a:rPr lang="zh-CN" altLang="en-US" sz="3600" dirty="0">
                <a:solidFill>
                  <a:schemeClr val="folHlink"/>
                </a:solidFill>
                <a:latin typeface="Times New Roman" panose="02020603050405020304" pitchFamily="18" charset="0"/>
              </a:rPr>
              <a:t>执行周期 </a:t>
            </a:r>
            <a:r>
              <a:rPr lang="zh-CN" altLang="en-US" sz="3600" dirty="0">
                <a:latin typeface="Times New Roman" panose="02020603050405020304" pitchFamily="18" charset="0"/>
              </a:rPr>
              <a:t>微操作的 </a:t>
            </a:r>
            <a:r>
              <a:rPr lang="zh-CN" altLang="en-US" sz="3600" dirty="0">
                <a:solidFill>
                  <a:schemeClr val="folHlink"/>
                </a:solidFill>
                <a:latin typeface="Times New Roman" panose="02020603050405020304" pitchFamily="18" charset="0"/>
              </a:rPr>
              <a:t>节拍安排</a:t>
            </a:r>
            <a:endParaRPr lang="en-US" altLang="zh-CN" sz="36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615427" name="Text Box 3"/>
          <p:cNvSpPr txBox="1"/>
          <p:nvPr/>
        </p:nvSpPr>
        <p:spPr>
          <a:xfrm>
            <a:off x="1855788" y="1219200"/>
            <a:ext cx="1274762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</a:rPr>
              <a:t>① </a:t>
            </a:r>
            <a:r>
              <a:rPr lang="en-US" altLang="zh-CN" sz="2400" dirty="0">
                <a:latin typeface="Times New Roman" panose="02020603050405020304" pitchFamily="18" charset="0"/>
              </a:rPr>
              <a:t>CLA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615428" name="Text Box 4"/>
          <p:cNvSpPr txBox="1"/>
          <p:nvPr/>
        </p:nvSpPr>
        <p:spPr>
          <a:xfrm>
            <a:off x="1855788" y="2895600"/>
            <a:ext cx="1463675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</a:rPr>
              <a:t>② </a:t>
            </a:r>
            <a:r>
              <a:rPr lang="en-US" altLang="zh-CN" sz="2400" dirty="0">
                <a:latin typeface="Times New Roman" panose="02020603050405020304" pitchFamily="18" charset="0"/>
              </a:rPr>
              <a:t>COM</a:t>
            </a:r>
            <a:r>
              <a:rPr lang="en-US" altLang="zh-CN" sz="2800" dirty="0">
                <a:latin typeface="Times New Roman" panose="02020603050405020304" pitchFamily="18" charset="0"/>
              </a:rPr>
              <a:t> </a:t>
            </a:r>
            <a:endParaRPr lang="en-US" altLang="zh-CN" sz="2800" dirty="0">
              <a:latin typeface="Times New Roman" panose="02020603050405020304" pitchFamily="18" charset="0"/>
            </a:endParaRPr>
          </a:p>
        </p:txBody>
      </p:sp>
      <p:sp>
        <p:nvSpPr>
          <p:cNvPr id="615429" name="Text Box 5"/>
          <p:cNvSpPr txBox="1"/>
          <p:nvPr/>
        </p:nvSpPr>
        <p:spPr>
          <a:xfrm>
            <a:off x="1931988" y="4638675"/>
            <a:ext cx="125730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</a:rPr>
              <a:t>③ </a:t>
            </a:r>
            <a:r>
              <a:rPr lang="en-US" altLang="zh-CN" sz="2400" dirty="0">
                <a:latin typeface="Times New Roman" panose="02020603050405020304" pitchFamily="18" charset="0"/>
              </a:rPr>
              <a:t>SHR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615430" name="Text Box 6"/>
          <p:cNvSpPr txBox="1"/>
          <p:nvPr/>
        </p:nvSpPr>
        <p:spPr>
          <a:xfrm>
            <a:off x="3349625" y="1260475"/>
            <a:ext cx="47148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i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2400" baseline="-25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0</a:t>
            </a:r>
            <a:endParaRPr lang="en-US" altLang="zh-CN" sz="24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615431" name="Text Box 7"/>
          <p:cNvSpPr txBox="1"/>
          <p:nvPr/>
        </p:nvSpPr>
        <p:spPr>
          <a:xfrm>
            <a:off x="3349625" y="1817688"/>
            <a:ext cx="47148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i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2400" baseline="-25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1</a:t>
            </a:r>
            <a:endParaRPr lang="en-US" altLang="zh-CN" sz="24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615432" name="Text Box 8"/>
          <p:cNvSpPr txBox="1"/>
          <p:nvPr/>
        </p:nvSpPr>
        <p:spPr>
          <a:xfrm>
            <a:off x="3349625" y="2336800"/>
            <a:ext cx="47148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i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2400" baseline="-25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2</a:t>
            </a:r>
            <a:endParaRPr lang="en-US" altLang="zh-CN" sz="24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615433" name="Text Box 9"/>
          <p:cNvSpPr txBox="1"/>
          <p:nvPr/>
        </p:nvSpPr>
        <p:spPr>
          <a:xfrm>
            <a:off x="3349625" y="2951163"/>
            <a:ext cx="47148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i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2400" baseline="-25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0</a:t>
            </a:r>
            <a:endParaRPr lang="en-US" altLang="zh-CN" sz="24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615434" name="Text Box 10"/>
          <p:cNvSpPr txBox="1"/>
          <p:nvPr/>
        </p:nvSpPr>
        <p:spPr>
          <a:xfrm>
            <a:off x="3349625" y="3508375"/>
            <a:ext cx="47148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i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2400" baseline="-25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1</a:t>
            </a:r>
            <a:endParaRPr lang="en-US" altLang="zh-CN" sz="24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615435" name="Text Box 11"/>
          <p:cNvSpPr txBox="1"/>
          <p:nvPr/>
        </p:nvSpPr>
        <p:spPr>
          <a:xfrm>
            <a:off x="3349625" y="4038600"/>
            <a:ext cx="47148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i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2400" baseline="-25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2</a:t>
            </a:r>
            <a:endParaRPr lang="en-US" altLang="zh-CN" sz="24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615436" name="Text Box 12"/>
          <p:cNvSpPr txBox="1"/>
          <p:nvPr/>
        </p:nvSpPr>
        <p:spPr>
          <a:xfrm>
            <a:off x="3349625" y="4699000"/>
            <a:ext cx="47148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i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2400" baseline="-25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0</a:t>
            </a:r>
            <a:endParaRPr lang="en-US" altLang="zh-CN" sz="24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615437" name="Text Box 13"/>
          <p:cNvSpPr txBox="1"/>
          <p:nvPr/>
        </p:nvSpPr>
        <p:spPr>
          <a:xfrm>
            <a:off x="3349625" y="5256213"/>
            <a:ext cx="47148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i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2400" baseline="-25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1</a:t>
            </a:r>
            <a:endParaRPr lang="en-US" altLang="zh-CN" sz="24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615438" name="Text Box 14"/>
          <p:cNvSpPr txBox="1"/>
          <p:nvPr/>
        </p:nvSpPr>
        <p:spPr>
          <a:xfrm>
            <a:off x="3349625" y="5775325"/>
            <a:ext cx="47148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i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2400" baseline="-25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2</a:t>
            </a:r>
            <a:endParaRPr lang="en-US" altLang="zh-CN" sz="24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615439" name="Group 15"/>
          <p:cNvGrpSpPr/>
          <p:nvPr/>
        </p:nvGrpSpPr>
        <p:grpSpPr>
          <a:xfrm>
            <a:off x="4749800" y="6223000"/>
            <a:ext cx="1803400" cy="457200"/>
            <a:chOff x="2348" y="3920"/>
            <a:chExt cx="1136" cy="288"/>
          </a:xfrm>
        </p:grpSpPr>
        <p:sp>
          <p:nvSpPr>
            <p:cNvPr id="9244" name="Text Box 16"/>
            <p:cNvSpPr txBox="1"/>
            <p:nvPr/>
          </p:nvSpPr>
          <p:spPr>
            <a:xfrm>
              <a:off x="2348" y="3920"/>
              <a:ext cx="113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dirty="0">
                  <a:latin typeface="Times New Roman" panose="02020603050405020304" pitchFamily="18" charset="0"/>
                </a:rPr>
                <a:t>AC</a:t>
              </a:r>
              <a:r>
                <a:rPr lang="en-US" altLang="zh-CN" sz="2400" baseline="-25000" dirty="0">
                  <a:latin typeface="Times New Roman" panose="02020603050405020304" pitchFamily="18" charset="0"/>
                </a:rPr>
                <a:t>0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       AC</a:t>
              </a:r>
              <a:r>
                <a:rPr lang="en-US" altLang="zh-CN" sz="2400" baseline="-25000" dirty="0">
                  <a:latin typeface="Times New Roman" panose="02020603050405020304" pitchFamily="18" charset="0"/>
                </a:rPr>
                <a:t>0</a:t>
              </a:r>
              <a:endParaRPr lang="zh-CN" altLang="en-US" sz="2400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9245" name="Line 17"/>
            <p:cNvSpPr/>
            <p:nvPr/>
          </p:nvSpPr>
          <p:spPr>
            <a:xfrm>
              <a:off x="2736" y="4055"/>
              <a:ext cx="28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615455" name="Group 31"/>
          <p:cNvGrpSpPr/>
          <p:nvPr/>
        </p:nvGrpSpPr>
        <p:grpSpPr>
          <a:xfrm>
            <a:off x="4065588" y="5775325"/>
            <a:ext cx="3040062" cy="457200"/>
            <a:chOff x="2561" y="3638"/>
            <a:chExt cx="1915" cy="288"/>
          </a:xfrm>
        </p:grpSpPr>
        <p:sp>
          <p:nvSpPr>
            <p:cNvPr id="9242" name="Text Box 20"/>
            <p:cNvSpPr txBox="1"/>
            <p:nvPr/>
          </p:nvSpPr>
          <p:spPr>
            <a:xfrm>
              <a:off x="2561" y="3638"/>
              <a:ext cx="191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dirty="0">
                  <a:latin typeface="Times New Roman" panose="02020603050405020304" pitchFamily="18" charset="0"/>
                </a:rPr>
                <a:t>L ( AC )</a:t>
              </a:r>
              <a:r>
                <a:rPr lang="zh-CN" altLang="en-US" sz="2400" dirty="0">
                  <a:latin typeface="Times New Roman" panose="02020603050405020304" pitchFamily="18" charset="0"/>
                </a:rPr>
                <a:t>         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R ( AC )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9243" name="Line 19"/>
            <p:cNvSpPr/>
            <p:nvPr/>
          </p:nvSpPr>
          <p:spPr>
            <a:xfrm>
              <a:off x="3360" y="3780"/>
              <a:ext cx="28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615445" name="Group 21"/>
          <p:cNvGrpSpPr/>
          <p:nvPr/>
        </p:nvGrpSpPr>
        <p:grpSpPr>
          <a:xfrm>
            <a:off x="4065588" y="2336800"/>
            <a:ext cx="1387475" cy="457200"/>
            <a:chOff x="1958" y="1610"/>
            <a:chExt cx="874" cy="288"/>
          </a:xfrm>
        </p:grpSpPr>
        <p:sp>
          <p:nvSpPr>
            <p:cNvPr id="9240" name="Line 22"/>
            <p:cNvSpPr/>
            <p:nvPr/>
          </p:nvSpPr>
          <p:spPr>
            <a:xfrm>
              <a:off x="2160" y="1750"/>
              <a:ext cx="28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9241" name="Text Box 23"/>
            <p:cNvSpPr txBox="1"/>
            <p:nvPr/>
          </p:nvSpPr>
          <p:spPr>
            <a:xfrm>
              <a:off x="1958" y="1610"/>
              <a:ext cx="87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dirty="0">
                  <a:latin typeface="Times New Roman" panose="02020603050405020304" pitchFamily="18" charset="0"/>
                </a:rPr>
                <a:t>0        AC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15454" name="Group 30"/>
          <p:cNvGrpSpPr/>
          <p:nvPr/>
        </p:nvGrpSpPr>
        <p:grpSpPr>
          <a:xfrm>
            <a:off x="4065588" y="4038600"/>
            <a:ext cx="1676400" cy="457200"/>
            <a:chOff x="2561" y="2544"/>
            <a:chExt cx="1056" cy="288"/>
          </a:xfrm>
        </p:grpSpPr>
        <p:sp>
          <p:nvSpPr>
            <p:cNvPr id="9237" name="Text Box 27"/>
            <p:cNvSpPr txBox="1"/>
            <p:nvPr/>
          </p:nvSpPr>
          <p:spPr>
            <a:xfrm>
              <a:off x="2561" y="2544"/>
              <a:ext cx="105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dirty="0">
                  <a:latin typeface="Times New Roman" panose="02020603050405020304" pitchFamily="18" charset="0"/>
                </a:rPr>
                <a:t>AC        AC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9238" name="Line 25"/>
            <p:cNvSpPr/>
            <p:nvPr/>
          </p:nvSpPr>
          <p:spPr>
            <a:xfrm>
              <a:off x="2945" y="2689"/>
              <a:ext cx="28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9239" name="Line 26"/>
            <p:cNvSpPr/>
            <p:nvPr/>
          </p:nvSpPr>
          <p:spPr>
            <a:xfrm>
              <a:off x="2611" y="2571"/>
              <a:ext cx="28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615452" name="Rectangle 28"/>
          <p:cNvSpPr>
            <a:spLocks noChangeArrowheads="1"/>
          </p:cNvSpPr>
          <p:nvPr/>
        </p:nvSpPr>
        <p:spPr bwMode="auto">
          <a:xfrm>
            <a:off x="7696200" y="152400"/>
            <a:ext cx="1447800" cy="838200"/>
          </a:xfrm>
          <a:prstGeom prst="rect">
            <a:avLst/>
          </a:prstGeom>
          <a:noFill/>
          <a:ln>
            <a:noFill/>
          </a:ln>
          <a:effectLst/>
        </p:spPr>
        <p:txBody>
          <a:bodyPr lIns="92075" tIns="46038" rIns="92075" bIns="46038" anchor="ctr"/>
          <a:lstStyle>
            <a:lvl1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10.1</a:t>
            </a:r>
            <a:endParaRPr kumimoji="1" lang="zh-CN" altLang="en-US" sz="4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236" name="AutoShape 29">
            <a:hlinkClick r:id="rId1" action="ppaction://hlinksldjump"/>
          </p:cNvPr>
          <p:cNvSpPr/>
          <p:nvPr/>
        </p:nvSpPr>
        <p:spPr>
          <a:xfrm>
            <a:off x="8589963" y="6516688"/>
            <a:ext cx="539750" cy="333375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endParaRPr lang="zh-CN" altLang="en-US" dirty="0">
              <a:latin typeface="等线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15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15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15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15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15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15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615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615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615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615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615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615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615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615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615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615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5427" grpId="0"/>
      <p:bldP spid="615428" grpId="0"/>
      <p:bldP spid="615429" grpId="0"/>
      <p:bldP spid="615430" grpId="0"/>
      <p:bldP spid="615431" grpId="0"/>
      <p:bldP spid="615432" grpId="0"/>
      <p:bldP spid="615433" grpId="0"/>
      <p:bldP spid="615434" grpId="0"/>
      <p:bldP spid="615435" grpId="0"/>
      <p:bldP spid="615436" grpId="0"/>
      <p:bldP spid="615437" grpId="0"/>
      <p:bldP spid="61543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42" name="Text Box 2"/>
          <p:cNvSpPr txBox="1"/>
          <p:nvPr/>
        </p:nvSpPr>
        <p:spPr>
          <a:xfrm>
            <a:off x="304800" y="355600"/>
            <a:ext cx="1322388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</a:rPr>
              <a:t>④ </a:t>
            </a:r>
            <a:r>
              <a:rPr lang="en-US" altLang="zh-CN" sz="2800" dirty="0">
                <a:latin typeface="Times New Roman" panose="02020603050405020304" pitchFamily="18" charset="0"/>
              </a:rPr>
              <a:t>CSL</a:t>
            </a:r>
            <a:endParaRPr lang="en-US" altLang="zh-CN" sz="2800" dirty="0">
              <a:latin typeface="Times New Roman" panose="02020603050405020304" pitchFamily="18" charset="0"/>
            </a:endParaRPr>
          </a:p>
        </p:txBody>
      </p:sp>
      <p:sp>
        <p:nvSpPr>
          <p:cNvPr id="616451" name="Text Box 3"/>
          <p:cNvSpPr txBox="1"/>
          <p:nvPr/>
        </p:nvSpPr>
        <p:spPr>
          <a:xfrm>
            <a:off x="304800" y="1878013"/>
            <a:ext cx="1282700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</a:rPr>
              <a:t>⑤ </a:t>
            </a:r>
            <a:r>
              <a:rPr lang="en-US" altLang="zh-CN" sz="2800" dirty="0">
                <a:latin typeface="Times New Roman" panose="02020603050405020304" pitchFamily="18" charset="0"/>
              </a:rPr>
              <a:t>STP</a:t>
            </a:r>
            <a:endParaRPr lang="en-US" altLang="zh-CN" sz="2800" dirty="0">
              <a:latin typeface="Times New Roman" panose="02020603050405020304" pitchFamily="18" charset="0"/>
            </a:endParaRPr>
          </a:p>
        </p:txBody>
      </p:sp>
      <p:sp>
        <p:nvSpPr>
          <p:cNvPr id="616452" name="Text Box 4"/>
          <p:cNvSpPr txBox="1"/>
          <p:nvPr/>
        </p:nvSpPr>
        <p:spPr>
          <a:xfrm>
            <a:off x="304800" y="3443288"/>
            <a:ext cx="1836738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</a:rPr>
              <a:t>⑥ </a:t>
            </a:r>
            <a:r>
              <a:rPr lang="en-US" altLang="zh-CN" sz="2800" dirty="0">
                <a:latin typeface="Times New Roman" panose="02020603050405020304" pitchFamily="18" charset="0"/>
              </a:rPr>
              <a:t>ADD  X</a:t>
            </a:r>
            <a:endParaRPr lang="en-US" altLang="zh-CN" sz="2800" dirty="0">
              <a:latin typeface="Times New Roman" panose="02020603050405020304" pitchFamily="18" charset="0"/>
            </a:endParaRPr>
          </a:p>
        </p:txBody>
      </p:sp>
      <p:sp>
        <p:nvSpPr>
          <p:cNvPr id="616453" name="Text Box 5"/>
          <p:cNvSpPr txBox="1"/>
          <p:nvPr/>
        </p:nvSpPr>
        <p:spPr>
          <a:xfrm>
            <a:off x="304800" y="5029200"/>
            <a:ext cx="1757363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</a:rPr>
              <a:t>⑦ </a:t>
            </a:r>
            <a:r>
              <a:rPr lang="en-US" altLang="zh-CN" sz="2800" dirty="0">
                <a:latin typeface="Times New Roman" panose="02020603050405020304" pitchFamily="18" charset="0"/>
              </a:rPr>
              <a:t>STA  X</a:t>
            </a:r>
            <a:endParaRPr lang="en-US" altLang="zh-CN" sz="2800" dirty="0">
              <a:latin typeface="Times New Roman" panose="02020603050405020304" pitchFamily="18" charset="0"/>
            </a:endParaRPr>
          </a:p>
        </p:txBody>
      </p:sp>
      <p:grpSp>
        <p:nvGrpSpPr>
          <p:cNvPr id="616454" name="Group 6"/>
          <p:cNvGrpSpPr/>
          <p:nvPr/>
        </p:nvGrpSpPr>
        <p:grpSpPr>
          <a:xfrm>
            <a:off x="2852738" y="1389063"/>
            <a:ext cx="2963862" cy="457200"/>
            <a:chOff x="1875" y="875"/>
            <a:chExt cx="1867" cy="288"/>
          </a:xfrm>
        </p:grpSpPr>
        <p:sp>
          <p:nvSpPr>
            <p:cNvPr id="10291" name="Text Box 7"/>
            <p:cNvSpPr txBox="1"/>
            <p:nvPr/>
          </p:nvSpPr>
          <p:spPr>
            <a:xfrm>
              <a:off x="1875" y="875"/>
              <a:ext cx="186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dirty="0">
                  <a:latin typeface="Times New Roman" panose="02020603050405020304" pitchFamily="18" charset="0"/>
                </a:rPr>
                <a:t>R ( AC )</a:t>
              </a:r>
              <a:r>
                <a:rPr lang="zh-CN" altLang="en-US" sz="2400" dirty="0">
                  <a:latin typeface="Times New Roman" panose="02020603050405020304" pitchFamily="18" charset="0"/>
                </a:rPr>
                <a:t>        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L ( AC )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0292" name="Line 8"/>
            <p:cNvSpPr/>
            <p:nvPr/>
          </p:nvSpPr>
          <p:spPr>
            <a:xfrm>
              <a:off x="2688" y="1032"/>
              <a:ext cx="28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616457" name="Group 9"/>
          <p:cNvGrpSpPr/>
          <p:nvPr/>
        </p:nvGrpSpPr>
        <p:grpSpPr>
          <a:xfrm>
            <a:off x="6324600" y="1389063"/>
            <a:ext cx="1814513" cy="457200"/>
            <a:chOff x="4090" y="857"/>
            <a:chExt cx="1143" cy="288"/>
          </a:xfrm>
        </p:grpSpPr>
        <p:sp>
          <p:nvSpPr>
            <p:cNvPr id="10289" name="Text Box 10"/>
            <p:cNvSpPr txBox="1"/>
            <p:nvPr/>
          </p:nvSpPr>
          <p:spPr>
            <a:xfrm>
              <a:off x="4090" y="857"/>
              <a:ext cx="114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dirty="0">
                  <a:latin typeface="Times New Roman" panose="02020603050405020304" pitchFamily="18" charset="0"/>
                </a:rPr>
                <a:t>AC</a:t>
              </a:r>
              <a:r>
                <a:rPr lang="en-US" altLang="zh-CN" sz="2400" baseline="-25000" dirty="0">
                  <a:latin typeface="Times New Roman" panose="02020603050405020304" pitchFamily="18" charset="0"/>
                </a:rPr>
                <a:t>0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       AC</a:t>
              </a:r>
              <a:r>
                <a:rPr lang="en-US" altLang="zh-CN" sz="2400" i="1" baseline="-25000" dirty="0">
                  <a:latin typeface="Times New Roman" panose="02020603050405020304" pitchFamily="18" charset="0"/>
                </a:rPr>
                <a:t>n</a:t>
              </a:r>
              <a:endParaRPr lang="zh-CN" altLang="en-US" sz="2400" i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10290" name="Line 11"/>
            <p:cNvSpPr/>
            <p:nvPr/>
          </p:nvSpPr>
          <p:spPr>
            <a:xfrm>
              <a:off x="4512" y="1008"/>
              <a:ext cx="28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sp>
        <p:nvSpPr>
          <p:cNvPr id="616460" name="Text Box 12"/>
          <p:cNvSpPr txBox="1"/>
          <p:nvPr/>
        </p:nvSpPr>
        <p:spPr>
          <a:xfrm>
            <a:off x="2133600" y="346075"/>
            <a:ext cx="47148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i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2400" baseline="-25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0</a:t>
            </a:r>
            <a:endParaRPr lang="zh-CN" altLang="en-US" sz="2400" baseline="-250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616461" name="Text Box 13"/>
          <p:cNvSpPr txBox="1"/>
          <p:nvPr/>
        </p:nvSpPr>
        <p:spPr>
          <a:xfrm>
            <a:off x="2133600" y="866775"/>
            <a:ext cx="47148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i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2400" baseline="-25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1</a:t>
            </a:r>
            <a:endParaRPr lang="zh-CN" altLang="en-US" sz="24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616462" name="Text Box 14"/>
          <p:cNvSpPr txBox="1"/>
          <p:nvPr/>
        </p:nvSpPr>
        <p:spPr>
          <a:xfrm>
            <a:off x="2133600" y="1389063"/>
            <a:ext cx="47148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i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2400" baseline="-25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2</a:t>
            </a:r>
            <a:endParaRPr lang="zh-CN" altLang="en-US" sz="2400" baseline="-250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616463" name="Group 15"/>
          <p:cNvGrpSpPr/>
          <p:nvPr/>
        </p:nvGrpSpPr>
        <p:grpSpPr>
          <a:xfrm>
            <a:off x="2852738" y="2955925"/>
            <a:ext cx="1182687" cy="457200"/>
            <a:chOff x="1875" y="1862"/>
            <a:chExt cx="745" cy="288"/>
          </a:xfrm>
        </p:grpSpPr>
        <p:sp>
          <p:nvSpPr>
            <p:cNvPr id="10287" name="Text Box 16"/>
            <p:cNvSpPr txBox="1"/>
            <p:nvPr/>
          </p:nvSpPr>
          <p:spPr>
            <a:xfrm>
              <a:off x="1875" y="1862"/>
              <a:ext cx="74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dirty="0">
                  <a:latin typeface="Times New Roman" panose="02020603050405020304" pitchFamily="18" charset="0"/>
                </a:rPr>
                <a:t>0</a:t>
              </a:r>
              <a:r>
                <a:rPr lang="zh-CN" altLang="en-US" sz="2400" dirty="0">
                  <a:latin typeface="Times New Roman" panose="02020603050405020304" pitchFamily="18" charset="0"/>
                </a:rPr>
                <a:t>        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G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0288" name="Line 17"/>
            <p:cNvSpPr/>
            <p:nvPr/>
          </p:nvSpPr>
          <p:spPr>
            <a:xfrm>
              <a:off x="2112" y="2016"/>
              <a:ext cx="28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sp>
        <p:nvSpPr>
          <p:cNvPr id="616466" name="Text Box 18"/>
          <p:cNvSpPr txBox="1"/>
          <p:nvPr/>
        </p:nvSpPr>
        <p:spPr>
          <a:xfrm>
            <a:off x="2133600" y="1909763"/>
            <a:ext cx="47148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i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2400" baseline="-25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0</a:t>
            </a:r>
            <a:endParaRPr lang="zh-CN" altLang="en-US" sz="2400" baseline="-250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616467" name="Text Box 19"/>
          <p:cNvSpPr txBox="1"/>
          <p:nvPr/>
        </p:nvSpPr>
        <p:spPr>
          <a:xfrm>
            <a:off x="2133600" y="2432050"/>
            <a:ext cx="47148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i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2400" baseline="-25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1</a:t>
            </a:r>
            <a:endParaRPr lang="zh-CN" altLang="en-US" sz="24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616468" name="Text Box 20"/>
          <p:cNvSpPr txBox="1"/>
          <p:nvPr/>
        </p:nvSpPr>
        <p:spPr>
          <a:xfrm>
            <a:off x="2133600" y="2954338"/>
            <a:ext cx="47148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i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2400" baseline="-25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2</a:t>
            </a:r>
            <a:endParaRPr lang="zh-CN" altLang="en-US" sz="2400" baseline="-250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616469" name="Text Box 21"/>
          <p:cNvSpPr txBox="1"/>
          <p:nvPr/>
        </p:nvSpPr>
        <p:spPr>
          <a:xfrm>
            <a:off x="2133600" y="3475038"/>
            <a:ext cx="47148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i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2400" baseline="-25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0</a:t>
            </a:r>
            <a:endParaRPr lang="zh-CN" altLang="en-US" sz="2400" baseline="-250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616470" name="Text Box 22"/>
          <p:cNvSpPr txBox="1"/>
          <p:nvPr/>
        </p:nvSpPr>
        <p:spPr>
          <a:xfrm>
            <a:off x="2133600" y="3997325"/>
            <a:ext cx="47148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i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2400" baseline="-25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1</a:t>
            </a:r>
            <a:endParaRPr lang="zh-CN" altLang="en-US" sz="24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616471" name="Text Box 23"/>
          <p:cNvSpPr txBox="1"/>
          <p:nvPr/>
        </p:nvSpPr>
        <p:spPr>
          <a:xfrm>
            <a:off x="2133600" y="4519613"/>
            <a:ext cx="47148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i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2400" baseline="-25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2</a:t>
            </a:r>
            <a:endParaRPr lang="zh-CN" altLang="en-US" sz="2400" baseline="-250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616472" name="Text Box 24"/>
          <p:cNvSpPr txBox="1"/>
          <p:nvPr/>
        </p:nvSpPr>
        <p:spPr>
          <a:xfrm>
            <a:off x="2133600" y="5040313"/>
            <a:ext cx="47148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i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2400" baseline="-25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0</a:t>
            </a:r>
            <a:endParaRPr lang="zh-CN" altLang="en-US" sz="2400" baseline="-250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616473" name="Text Box 25"/>
          <p:cNvSpPr txBox="1"/>
          <p:nvPr/>
        </p:nvSpPr>
        <p:spPr>
          <a:xfrm>
            <a:off x="2133600" y="5562600"/>
            <a:ext cx="47148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i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2400" baseline="-25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1</a:t>
            </a:r>
            <a:endParaRPr lang="zh-CN" altLang="en-US" sz="24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616474" name="Text Box 26"/>
          <p:cNvSpPr txBox="1"/>
          <p:nvPr/>
        </p:nvSpPr>
        <p:spPr>
          <a:xfrm>
            <a:off x="2133600" y="6084888"/>
            <a:ext cx="47148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i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2400" baseline="-25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2</a:t>
            </a:r>
            <a:endParaRPr lang="zh-CN" altLang="en-US" sz="2400" baseline="-250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616475" name="Group 27"/>
          <p:cNvGrpSpPr/>
          <p:nvPr/>
        </p:nvGrpSpPr>
        <p:grpSpPr>
          <a:xfrm>
            <a:off x="2852738" y="3475038"/>
            <a:ext cx="2608262" cy="457200"/>
            <a:chOff x="1814" y="2234"/>
            <a:chExt cx="1643" cy="288"/>
          </a:xfrm>
        </p:grpSpPr>
        <p:sp>
          <p:nvSpPr>
            <p:cNvPr id="10285" name="Text Box 28"/>
            <p:cNvSpPr txBox="1"/>
            <p:nvPr/>
          </p:nvSpPr>
          <p:spPr>
            <a:xfrm>
              <a:off x="1814" y="2234"/>
              <a:ext cx="164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dirty="0">
                  <a:latin typeface="Times New Roman" panose="02020603050405020304" pitchFamily="18" charset="0"/>
                </a:rPr>
                <a:t>Ad ( IR )       MAR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0286" name="Line 29"/>
            <p:cNvSpPr/>
            <p:nvPr/>
          </p:nvSpPr>
          <p:spPr>
            <a:xfrm>
              <a:off x="2640" y="2378"/>
              <a:ext cx="28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616502" name="Group 54"/>
          <p:cNvGrpSpPr/>
          <p:nvPr/>
        </p:nvGrpSpPr>
        <p:grpSpPr>
          <a:xfrm>
            <a:off x="2852738" y="3997325"/>
            <a:ext cx="2894012" cy="457200"/>
            <a:chOff x="1797" y="2518"/>
            <a:chExt cx="1823" cy="288"/>
          </a:xfrm>
        </p:grpSpPr>
        <p:sp>
          <p:nvSpPr>
            <p:cNvPr id="10283" name="Text Box 31"/>
            <p:cNvSpPr txBox="1"/>
            <p:nvPr/>
          </p:nvSpPr>
          <p:spPr>
            <a:xfrm>
              <a:off x="1797" y="2518"/>
              <a:ext cx="182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dirty="0">
                  <a:latin typeface="Times New Roman" panose="02020603050405020304" pitchFamily="18" charset="0"/>
                </a:rPr>
                <a:t>M ( MAR )       MDR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0284" name="Line 32"/>
            <p:cNvSpPr/>
            <p:nvPr/>
          </p:nvSpPr>
          <p:spPr>
            <a:xfrm>
              <a:off x="2796" y="2667"/>
              <a:ext cx="28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616481" name="Group 33"/>
          <p:cNvGrpSpPr/>
          <p:nvPr/>
        </p:nvGrpSpPr>
        <p:grpSpPr>
          <a:xfrm>
            <a:off x="2852738" y="4519613"/>
            <a:ext cx="3517900" cy="457200"/>
            <a:chOff x="1824" y="2873"/>
            <a:chExt cx="2216" cy="288"/>
          </a:xfrm>
        </p:grpSpPr>
        <p:sp>
          <p:nvSpPr>
            <p:cNvPr id="10281" name="Text Box 34"/>
            <p:cNvSpPr txBox="1"/>
            <p:nvPr/>
          </p:nvSpPr>
          <p:spPr>
            <a:xfrm>
              <a:off x="1824" y="2873"/>
              <a:ext cx="221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dirty="0">
                  <a:latin typeface="Times New Roman" panose="02020603050405020304" pitchFamily="18" charset="0"/>
                </a:rPr>
                <a:t> ( AC ) + ( MDR )        AC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0282" name="Line 35"/>
            <p:cNvSpPr/>
            <p:nvPr/>
          </p:nvSpPr>
          <p:spPr>
            <a:xfrm>
              <a:off x="3360" y="3024"/>
              <a:ext cx="28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616501" name="Group 53"/>
          <p:cNvGrpSpPr/>
          <p:nvPr/>
        </p:nvGrpSpPr>
        <p:grpSpPr>
          <a:xfrm>
            <a:off x="2852738" y="5040313"/>
            <a:ext cx="2608262" cy="457200"/>
            <a:chOff x="1797" y="3175"/>
            <a:chExt cx="1643" cy="288"/>
          </a:xfrm>
        </p:grpSpPr>
        <p:sp>
          <p:nvSpPr>
            <p:cNvPr id="10279" name="Text Box 37"/>
            <p:cNvSpPr txBox="1"/>
            <p:nvPr/>
          </p:nvSpPr>
          <p:spPr>
            <a:xfrm>
              <a:off x="1797" y="3175"/>
              <a:ext cx="164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dirty="0">
                  <a:latin typeface="Times New Roman" panose="02020603050405020304" pitchFamily="18" charset="0"/>
                </a:rPr>
                <a:t>Ad ( IR )       MAR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0280" name="Line 38"/>
            <p:cNvSpPr/>
            <p:nvPr/>
          </p:nvSpPr>
          <p:spPr>
            <a:xfrm>
              <a:off x="2618" y="3325"/>
              <a:ext cx="28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616487" name="Group 39"/>
          <p:cNvGrpSpPr/>
          <p:nvPr/>
        </p:nvGrpSpPr>
        <p:grpSpPr>
          <a:xfrm>
            <a:off x="2852738" y="5546725"/>
            <a:ext cx="1887537" cy="457200"/>
            <a:chOff x="1807" y="3494"/>
            <a:chExt cx="1189" cy="288"/>
          </a:xfrm>
        </p:grpSpPr>
        <p:sp>
          <p:nvSpPr>
            <p:cNvPr id="10277" name="Text Box 40"/>
            <p:cNvSpPr txBox="1"/>
            <p:nvPr/>
          </p:nvSpPr>
          <p:spPr>
            <a:xfrm>
              <a:off x="1807" y="3494"/>
              <a:ext cx="1189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dirty="0">
                  <a:latin typeface="Times New Roman" panose="02020603050405020304" pitchFamily="18" charset="0"/>
                </a:rPr>
                <a:t>AC       MDR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0278" name="Line 41"/>
            <p:cNvSpPr/>
            <p:nvPr/>
          </p:nvSpPr>
          <p:spPr>
            <a:xfrm>
              <a:off x="2160" y="3634"/>
              <a:ext cx="28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616490" name="Group 42"/>
          <p:cNvGrpSpPr/>
          <p:nvPr/>
        </p:nvGrpSpPr>
        <p:grpSpPr>
          <a:xfrm>
            <a:off x="2852738" y="6094413"/>
            <a:ext cx="2970212" cy="457200"/>
            <a:chOff x="1807" y="3839"/>
            <a:chExt cx="1871" cy="288"/>
          </a:xfrm>
        </p:grpSpPr>
        <p:sp>
          <p:nvSpPr>
            <p:cNvPr id="10275" name="Text Box 43"/>
            <p:cNvSpPr txBox="1"/>
            <p:nvPr/>
          </p:nvSpPr>
          <p:spPr>
            <a:xfrm>
              <a:off x="1807" y="3839"/>
              <a:ext cx="187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dirty="0">
                  <a:latin typeface="Times New Roman" panose="02020603050405020304" pitchFamily="18" charset="0"/>
                </a:rPr>
                <a:t>MDR        M ( MAR )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0276" name="Line 44"/>
            <p:cNvSpPr/>
            <p:nvPr/>
          </p:nvSpPr>
          <p:spPr>
            <a:xfrm>
              <a:off x="2378" y="3989"/>
              <a:ext cx="28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616493" name="Group 45"/>
          <p:cNvGrpSpPr/>
          <p:nvPr/>
        </p:nvGrpSpPr>
        <p:grpSpPr>
          <a:xfrm>
            <a:off x="6324600" y="3475038"/>
            <a:ext cx="1166813" cy="457200"/>
            <a:chOff x="3638" y="2234"/>
            <a:chExt cx="735" cy="288"/>
          </a:xfrm>
        </p:grpSpPr>
        <p:sp>
          <p:nvSpPr>
            <p:cNvPr id="10273" name="Line 46"/>
            <p:cNvSpPr/>
            <p:nvPr/>
          </p:nvSpPr>
          <p:spPr>
            <a:xfrm>
              <a:off x="3840" y="2373"/>
              <a:ext cx="28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10274" name="Text Box 47"/>
            <p:cNvSpPr txBox="1"/>
            <p:nvPr/>
          </p:nvSpPr>
          <p:spPr>
            <a:xfrm>
              <a:off x="3638" y="2234"/>
              <a:ext cx="73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dirty="0">
                  <a:latin typeface="Times New Roman" panose="02020603050405020304" pitchFamily="18" charset="0"/>
                </a:rPr>
                <a:t>1        R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16496" name="Group 48"/>
          <p:cNvGrpSpPr/>
          <p:nvPr/>
        </p:nvGrpSpPr>
        <p:grpSpPr>
          <a:xfrm>
            <a:off x="6324600" y="5040313"/>
            <a:ext cx="1174750" cy="457200"/>
            <a:chOff x="3590" y="3216"/>
            <a:chExt cx="740" cy="288"/>
          </a:xfrm>
        </p:grpSpPr>
        <p:sp>
          <p:nvSpPr>
            <p:cNvPr id="10271" name="Line 49"/>
            <p:cNvSpPr/>
            <p:nvPr/>
          </p:nvSpPr>
          <p:spPr>
            <a:xfrm>
              <a:off x="3767" y="3364"/>
              <a:ext cx="28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10272" name="Text Box 50"/>
            <p:cNvSpPr txBox="1"/>
            <p:nvPr/>
          </p:nvSpPr>
          <p:spPr>
            <a:xfrm>
              <a:off x="3590" y="3216"/>
              <a:ext cx="74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dirty="0">
                  <a:latin typeface="Times New Roman" panose="02020603050405020304" pitchFamily="18" charset="0"/>
                </a:rPr>
                <a:t>1       W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616499" name="Rectangle 51"/>
          <p:cNvSpPr>
            <a:spLocks noChangeArrowheads="1"/>
          </p:cNvSpPr>
          <p:nvPr/>
        </p:nvSpPr>
        <p:spPr bwMode="auto">
          <a:xfrm>
            <a:off x="7696200" y="152400"/>
            <a:ext cx="1447800" cy="838200"/>
          </a:xfrm>
          <a:prstGeom prst="rect">
            <a:avLst/>
          </a:prstGeom>
          <a:noFill/>
          <a:ln>
            <a:noFill/>
          </a:ln>
          <a:effectLst/>
        </p:spPr>
        <p:txBody>
          <a:bodyPr lIns="92075" tIns="46038" rIns="92075" bIns="46038" anchor="ctr"/>
          <a:lstStyle>
            <a:lvl1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10.1</a:t>
            </a:r>
            <a:endParaRPr kumimoji="1" lang="zh-CN" altLang="en-US" sz="4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70" name="AutoShape 52">
            <a:hlinkClick r:id="rId1" action="ppaction://hlinksldjump"/>
          </p:cNvPr>
          <p:cNvSpPr/>
          <p:nvPr/>
        </p:nvSpPr>
        <p:spPr>
          <a:xfrm>
            <a:off x="8589963" y="6516688"/>
            <a:ext cx="539750" cy="333375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endParaRPr lang="zh-CN" altLang="en-US" dirty="0">
              <a:latin typeface="等线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16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16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16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16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16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16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616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616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616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616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616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616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616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616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616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616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616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616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7" dur="500"/>
                                        <p:tgtEl>
                                          <p:spTgt spid="616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2" dur="500"/>
                                        <p:tgtEl>
                                          <p:spTgt spid="616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7" dur="500"/>
                                        <p:tgtEl>
                                          <p:spTgt spid="616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2" dur="500"/>
                                        <p:tgtEl>
                                          <p:spTgt spid="616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7" dur="500"/>
                                        <p:tgtEl>
                                          <p:spTgt spid="616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2" dur="500"/>
                                        <p:tgtEl>
                                          <p:spTgt spid="616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7" dur="500"/>
                                        <p:tgtEl>
                                          <p:spTgt spid="616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2" dur="500"/>
                                        <p:tgtEl>
                                          <p:spTgt spid="616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6451" grpId="0"/>
      <p:bldP spid="616452" grpId="0"/>
      <p:bldP spid="616453" grpId="0"/>
      <p:bldP spid="616460" grpId="0"/>
      <p:bldP spid="616461" grpId="0"/>
      <p:bldP spid="616462" grpId="0"/>
      <p:bldP spid="616466" grpId="0"/>
      <p:bldP spid="616467" grpId="0"/>
      <p:bldP spid="616468" grpId="0"/>
      <p:bldP spid="616469" grpId="0"/>
      <p:bldP spid="616470" grpId="0"/>
      <p:bldP spid="616471" grpId="0"/>
      <p:bldP spid="616472" grpId="0"/>
      <p:bldP spid="616473" grpId="0"/>
      <p:bldP spid="61647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266" name="Text Box 2"/>
          <p:cNvSpPr txBox="1"/>
          <p:nvPr/>
        </p:nvSpPr>
        <p:spPr>
          <a:xfrm>
            <a:off x="381000" y="381000"/>
            <a:ext cx="181610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</a:rPr>
              <a:t>⑧ </a:t>
            </a:r>
            <a:r>
              <a:rPr lang="en-US" altLang="zh-CN" sz="2800" dirty="0">
                <a:latin typeface="Times New Roman" panose="02020603050405020304" pitchFamily="18" charset="0"/>
              </a:rPr>
              <a:t>LDA  X</a:t>
            </a:r>
            <a:endParaRPr lang="en-US" altLang="zh-CN" sz="2800" dirty="0">
              <a:latin typeface="Times New Roman" panose="02020603050405020304" pitchFamily="18" charset="0"/>
            </a:endParaRPr>
          </a:p>
        </p:txBody>
      </p:sp>
      <p:sp>
        <p:nvSpPr>
          <p:cNvPr id="617475" name="Text Box 3"/>
          <p:cNvSpPr txBox="1"/>
          <p:nvPr/>
        </p:nvSpPr>
        <p:spPr>
          <a:xfrm>
            <a:off x="381000" y="2514600"/>
            <a:ext cx="1795463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</a:rPr>
              <a:t>⑨ </a:t>
            </a:r>
            <a:r>
              <a:rPr lang="en-US" altLang="zh-CN" sz="2800" dirty="0">
                <a:latin typeface="Times New Roman" panose="02020603050405020304" pitchFamily="18" charset="0"/>
              </a:rPr>
              <a:t>JMP  X</a:t>
            </a:r>
            <a:endParaRPr lang="en-US" altLang="zh-CN" sz="2800" dirty="0">
              <a:latin typeface="Times New Roman" panose="02020603050405020304" pitchFamily="18" charset="0"/>
            </a:endParaRPr>
          </a:p>
        </p:txBody>
      </p:sp>
      <p:sp>
        <p:nvSpPr>
          <p:cNvPr id="617476" name="Text Box 4"/>
          <p:cNvSpPr txBox="1"/>
          <p:nvPr/>
        </p:nvSpPr>
        <p:spPr>
          <a:xfrm>
            <a:off x="381000" y="4648200"/>
            <a:ext cx="181610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</a:rPr>
              <a:t>⑩ </a:t>
            </a:r>
            <a:r>
              <a:rPr lang="en-US" altLang="zh-CN" sz="2800" dirty="0">
                <a:latin typeface="Times New Roman" panose="02020603050405020304" pitchFamily="18" charset="0"/>
              </a:rPr>
              <a:t>BAN  X</a:t>
            </a:r>
            <a:endParaRPr lang="en-US" altLang="zh-CN" sz="2800" dirty="0">
              <a:latin typeface="Times New Roman" panose="02020603050405020304" pitchFamily="18" charset="0"/>
            </a:endParaRPr>
          </a:p>
        </p:txBody>
      </p:sp>
      <p:sp>
        <p:nvSpPr>
          <p:cNvPr id="617477" name="Text Box 5"/>
          <p:cNvSpPr txBox="1"/>
          <p:nvPr/>
        </p:nvSpPr>
        <p:spPr>
          <a:xfrm>
            <a:off x="2640013" y="381000"/>
            <a:ext cx="471487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i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2400" baseline="-25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0</a:t>
            </a:r>
            <a:endParaRPr lang="zh-CN" altLang="en-US" sz="2400" baseline="-250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617478" name="Text Box 6"/>
          <p:cNvSpPr txBox="1"/>
          <p:nvPr/>
        </p:nvSpPr>
        <p:spPr>
          <a:xfrm>
            <a:off x="2640013" y="1103313"/>
            <a:ext cx="471487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i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2400" baseline="-25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1</a:t>
            </a:r>
            <a:endParaRPr lang="zh-CN" altLang="en-US" sz="24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617479" name="Text Box 7"/>
          <p:cNvSpPr txBox="1"/>
          <p:nvPr/>
        </p:nvSpPr>
        <p:spPr>
          <a:xfrm>
            <a:off x="2640013" y="1825625"/>
            <a:ext cx="471487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i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2400" baseline="-25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2</a:t>
            </a:r>
            <a:endParaRPr lang="zh-CN" altLang="en-US" sz="2400" baseline="-250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617509" name="Group 37"/>
          <p:cNvGrpSpPr/>
          <p:nvPr/>
        </p:nvGrpSpPr>
        <p:grpSpPr>
          <a:xfrm>
            <a:off x="3386138" y="381000"/>
            <a:ext cx="2684462" cy="457200"/>
            <a:chOff x="2133" y="240"/>
            <a:chExt cx="1691" cy="288"/>
          </a:xfrm>
        </p:grpSpPr>
        <p:sp>
          <p:nvSpPr>
            <p:cNvPr id="11298" name="Text Box 9"/>
            <p:cNvSpPr txBox="1"/>
            <p:nvPr/>
          </p:nvSpPr>
          <p:spPr>
            <a:xfrm>
              <a:off x="2133" y="240"/>
              <a:ext cx="169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dirty="0">
                  <a:latin typeface="Times New Roman" panose="02020603050405020304" pitchFamily="18" charset="0"/>
                </a:rPr>
                <a:t>Ad ( IR )        MAR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1299" name="Line 10"/>
            <p:cNvSpPr/>
            <p:nvPr/>
          </p:nvSpPr>
          <p:spPr>
            <a:xfrm>
              <a:off x="2976" y="385"/>
              <a:ext cx="28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617511" name="Group 39"/>
          <p:cNvGrpSpPr/>
          <p:nvPr/>
        </p:nvGrpSpPr>
        <p:grpSpPr>
          <a:xfrm>
            <a:off x="3402013" y="1103313"/>
            <a:ext cx="2970212" cy="457200"/>
            <a:chOff x="2143" y="695"/>
            <a:chExt cx="1871" cy="288"/>
          </a:xfrm>
        </p:grpSpPr>
        <p:sp>
          <p:nvSpPr>
            <p:cNvPr id="11296" name="Text Box 12"/>
            <p:cNvSpPr txBox="1"/>
            <p:nvPr/>
          </p:nvSpPr>
          <p:spPr>
            <a:xfrm>
              <a:off x="2143" y="695"/>
              <a:ext cx="187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dirty="0">
                  <a:latin typeface="Times New Roman" panose="02020603050405020304" pitchFamily="18" charset="0"/>
                </a:rPr>
                <a:t>M ( MAR )        MDR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1297" name="Line 13"/>
            <p:cNvSpPr/>
            <p:nvPr/>
          </p:nvSpPr>
          <p:spPr>
            <a:xfrm>
              <a:off x="3168" y="840"/>
              <a:ext cx="28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617512" name="Group 40"/>
          <p:cNvGrpSpPr/>
          <p:nvPr/>
        </p:nvGrpSpPr>
        <p:grpSpPr>
          <a:xfrm>
            <a:off x="3402013" y="1825625"/>
            <a:ext cx="1963737" cy="457200"/>
            <a:chOff x="2143" y="1150"/>
            <a:chExt cx="1237" cy="288"/>
          </a:xfrm>
        </p:grpSpPr>
        <p:sp>
          <p:nvSpPr>
            <p:cNvPr id="11294" name="Text Box 15"/>
            <p:cNvSpPr txBox="1"/>
            <p:nvPr/>
          </p:nvSpPr>
          <p:spPr>
            <a:xfrm>
              <a:off x="2143" y="1150"/>
              <a:ext cx="123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dirty="0">
                  <a:latin typeface="Times New Roman" panose="02020603050405020304" pitchFamily="18" charset="0"/>
                </a:rPr>
                <a:t>MDR        AC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1295" name="Line 16"/>
            <p:cNvSpPr/>
            <p:nvPr/>
          </p:nvSpPr>
          <p:spPr>
            <a:xfrm>
              <a:off x="2718" y="1295"/>
              <a:ext cx="28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sp>
        <p:nvSpPr>
          <p:cNvPr id="617489" name="Text Box 17"/>
          <p:cNvSpPr txBox="1"/>
          <p:nvPr/>
        </p:nvSpPr>
        <p:spPr>
          <a:xfrm>
            <a:off x="2640013" y="2547938"/>
            <a:ext cx="471487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i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2400" baseline="-25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0</a:t>
            </a:r>
            <a:endParaRPr lang="zh-CN" altLang="en-US" sz="2400" baseline="-250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617490" name="Text Box 18"/>
          <p:cNvSpPr txBox="1"/>
          <p:nvPr/>
        </p:nvSpPr>
        <p:spPr>
          <a:xfrm>
            <a:off x="2640013" y="3270250"/>
            <a:ext cx="471487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i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2400" baseline="-25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1</a:t>
            </a:r>
            <a:endParaRPr lang="zh-CN" altLang="en-US" sz="24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617491" name="Text Box 19"/>
          <p:cNvSpPr txBox="1"/>
          <p:nvPr/>
        </p:nvSpPr>
        <p:spPr>
          <a:xfrm>
            <a:off x="2640013" y="3992563"/>
            <a:ext cx="471487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i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2400" baseline="-25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2</a:t>
            </a:r>
            <a:endParaRPr lang="zh-CN" altLang="en-US" sz="2400" baseline="-250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617492" name="Text Box 20"/>
          <p:cNvSpPr txBox="1"/>
          <p:nvPr/>
        </p:nvSpPr>
        <p:spPr>
          <a:xfrm>
            <a:off x="2640013" y="4714875"/>
            <a:ext cx="471487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i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2400" baseline="-25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0</a:t>
            </a:r>
            <a:endParaRPr lang="zh-CN" altLang="en-US" sz="2400" baseline="-250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617493" name="Text Box 21"/>
          <p:cNvSpPr txBox="1"/>
          <p:nvPr/>
        </p:nvSpPr>
        <p:spPr>
          <a:xfrm>
            <a:off x="2640013" y="5437188"/>
            <a:ext cx="471487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i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2400" baseline="-25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1</a:t>
            </a:r>
            <a:endParaRPr lang="zh-CN" altLang="en-US" sz="24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617494" name="Text Box 22"/>
          <p:cNvSpPr txBox="1"/>
          <p:nvPr/>
        </p:nvSpPr>
        <p:spPr>
          <a:xfrm>
            <a:off x="2640013" y="6161088"/>
            <a:ext cx="471487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i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2400" baseline="-25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2</a:t>
            </a:r>
            <a:endParaRPr lang="zh-CN" altLang="en-US" sz="2400" baseline="-250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617495" name="Group 23"/>
          <p:cNvGrpSpPr/>
          <p:nvPr/>
        </p:nvGrpSpPr>
        <p:grpSpPr>
          <a:xfrm>
            <a:off x="3386138" y="3992563"/>
            <a:ext cx="2362200" cy="457200"/>
            <a:chOff x="2133" y="2633"/>
            <a:chExt cx="1488" cy="288"/>
          </a:xfrm>
        </p:grpSpPr>
        <p:sp>
          <p:nvSpPr>
            <p:cNvPr id="11292" name="Text Box 24"/>
            <p:cNvSpPr txBox="1"/>
            <p:nvPr/>
          </p:nvSpPr>
          <p:spPr>
            <a:xfrm>
              <a:off x="2133" y="2633"/>
              <a:ext cx="148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dirty="0">
                  <a:latin typeface="Times New Roman" panose="02020603050405020304" pitchFamily="18" charset="0"/>
                </a:rPr>
                <a:t>Ad ( IR )        PC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1293" name="Line 25"/>
            <p:cNvSpPr/>
            <p:nvPr/>
          </p:nvSpPr>
          <p:spPr>
            <a:xfrm>
              <a:off x="2976" y="2784"/>
              <a:ext cx="28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617510" name="Group 38"/>
          <p:cNvGrpSpPr/>
          <p:nvPr/>
        </p:nvGrpSpPr>
        <p:grpSpPr>
          <a:xfrm>
            <a:off x="6156325" y="381000"/>
            <a:ext cx="1166813" cy="457200"/>
            <a:chOff x="3878" y="240"/>
            <a:chExt cx="735" cy="288"/>
          </a:xfrm>
        </p:grpSpPr>
        <p:sp>
          <p:nvSpPr>
            <p:cNvPr id="11290" name="Text Box 28"/>
            <p:cNvSpPr txBox="1"/>
            <p:nvPr/>
          </p:nvSpPr>
          <p:spPr>
            <a:xfrm>
              <a:off x="3878" y="240"/>
              <a:ext cx="73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dirty="0">
                  <a:latin typeface="Times New Roman" panose="02020603050405020304" pitchFamily="18" charset="0"/>
                </a:rPr>
                <a:t>1        R</a:t>
              </a:r>
              <a:endParaRPr lang="zh-CN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1291" name="Line 27"/>
            <p:cNvSpPr/>
            <p:nvPr/>
          </p:nvSpPr>
          <p:spPr>
            <a:xfrm>
              <a:off x="4080" y="382"/>
              <a:ext cx="28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617508" name="Group 36"/>
          <p:cNvGrpSpPr/>
          <p:nvPr/>
        </p:nvGrpSpPr>
        <p:grpSpPr>
          <a:xfrm>
            <a:off x="3386138" y="6161088"/>
            <a:ext cx="4075112" cy="457200"/>
            <a:chOff x="2133" y="3881"/>
            <a:chExt cx="2567" cy="288"/>
          </a:xfrm>
        </p:grpSpPr>
        <p:grpSp>
          <p:nvGrpSpPr>
            <p:cNvPr id="11286" name="Group 30"/>
            <p:cNvGrpSpPr/>
            <p:nvPr/>
          </p:nvGrpSpPr>
          <p:grpSpPr>
            <a:xfrm>
              <a:off x="2133" y="3881"/>
              <a:ext cx="2567" cy="288"/>
              <a:chOff x="2133" y="3881"/>
              <a:chExt cx="2567" cy="288"/>
            </a:xfrm>
          </p:grpSpPr>
          <p:sp>
            <p:nvSpPr>
              <p:cNvPr id="11288" name="Text Box 31"/>
              <p:cNvSpPr txBox="1"/>
              <p:nvPr/>
            </p:nvSpPr>
            <p:spPr>
              <a:xfrm>
                <a:off x="2133" y="3881"/>
                <a:ext cx="2567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sz="2400" dirty="0">
                    <a:latin typeface="Times New Roman" panose="02020603050405020304" pitchFamily="18" charset="0"/>
                  </a:rPr>
                  <a:t>A</a:t>
                </a:r>
                <a:r>
                  <a:rPr lang="en-US" altLang="zh-CN" sz="2400" baseline="-25000" dirty="0">
                    <a:latin typeface="Times New Roman" panose="02020603050405020304" pitchFamily="18" charset="0"/>
                  </a:rPr>
                  <a:t>0 </a:t>
                </a:r>
                <a:r>
                  <a:rPr lang="en-US" altLang="zh-CN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•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400" dirty="0">
                    <a:latin typeface="Times New Roman" panose="02020603050405020304" pitchFamily="18" charset="0"/>
                  </a:rPr>
                  <a:t>Ad ( IR ) + A</a:t>
                </a:r>
                <a:r>
                  <a:rPr lang="en-US" altLang="zh-CN" sz="2400" baseline="-25000" dirty="0">
                    <a:latin typeface="Times New Roman" panose="02020603050405020304" pitchFamily="18" charset="0"/>
                  </a:rPr>
                  <a:t>0</a:t>
                </a:r>
                <a:r>
                  <a:rPr lang="en-US" altLang="zh-CN" dirty="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•</a:t>
                </a:r>
                <a:r>
                  <a:rPr lang="en-US" altLang="zh-C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400" dirty="0">
                    <a:latin typeface="Times New Roman" panose="02020603050405020304" pitchFamily="18" charset="0"/>
                  </a:rPr>
                  <a:t>PC        PC</a:t>
                </a:r>
                <a:endParaRPr lang="en-US" altLang="zh-CN" sz="2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289" name="Line 32"/>
              <p:cNvSpPr/>
              <p:nvPr/>
            </p:nvSpPr>
            <p:spPr>
              <a:xfrm>
                <a:off x="4080" y="4032"/>
                <a:ext cx="288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</p:grpSp>
        <p:sp>
          <p:nvSpPr>
            <p:cNvPr id="11287" name="Line 33"/>
            <p:cNvSpPr/>
            <p:nvPr/>
          </p:nvSpPr>
          <p:spPr>
            <a:xfrm>
              <a:off x="3456" y="3936"/>
              <a:ext cx="131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617506" name="Rectangle 34"/>
          <p:cNvSpPr>
            <a:spLocks noChangeArrowheads="1"/>
          </p:cNvSpPr>
          <p:nvPr/>
        </p:nvSpPr>
        <p:spPr bwMode="auto">
          <a:xfrm>
            <a:off x="7696200" y="152400"/>
            <a:ext cx="1447800" cy="838200"/>
          </a:xfrm>
          <a:prstGeom prst="rect">
            <a:avLst/>
          </a:prstGeom>
          <a:noFill/>
          <a:ln>
            <a:noFill/>
          </a:ln>
          <a:effectLst/>
        </p:spPr>
        <p:txBody>
          <a:bodyPr lIns="92075" tIns="46038" rIns="92075" bIns="46038" anchor="ctr"/>
          <a:lstStyle>
            <a:lvl1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10.1</a:t>
            </a:r>
            <a:endParaRPr kumimoji="1" lang="zh-CN" altLang="en-US" sz="4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285" name="AutoShape 35">
            <a:hlinkClick r:id="rId1" action="ppaction://hlinksldjump"/>
          </p:cNvPr>
          <p:cNvSpPr/>
          <p:nvPr/>
        </p:nvSpPr>
        <p:spPr>
          <a:xfrm>
            <a:off x="8589963" y="6516688"/>
            <a:ext cx="539750" cy="333375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endParaRPr lang="zh-CN" altLang="en-US" dirty="0">
              <a:latin typeface="等线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17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17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17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17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17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17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617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617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617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617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617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617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617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617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617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617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617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7475" grpId="0"/>
      <p:bldP spid="617476" grpId="0"/>
      <p:bldP spid="617477" grpId="0"/>
      <p:bldP spid="617478" grpId="0"/>
      <p:bldP spid="617479" grpId="0"/>
      <p:bldP spid="617489" grpId="0"/>
      <p:bldP spid="617490" grpId="0"/>
      <p:bldP spid="617491" grpId="0"/>
      <p:bldP spid="617492" grpId="0"/>
      <p:bldP spid="617493" grpId="0"/>
      <p:bldP spid="61749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290" name="Text Box 2"/>
          <p:cNvSpPr txBox="1"/>
          <p:nvPr/>
        </p:nvSpPr>
        <p:spPr>
          <a:xfrm>
            <a:off x="669925" y="323850"/>
            <a:ext cx="5689600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3200" dirty="0">
                <a:latin typeface="Times New Roman" panose="02020603050405020304" pitchFamily="18" charset="0"/>
              </a:rPr>
              <a:t>5. </a:t>
            </a:r>
            <a:r>
              <a:rPr lang="zh-CN" altLang="en-US" sz="3200" dirty="0">
                <a:solidFill>
                  <a:schemeClr val="folHlink"/>
                </a:solidFill>
                <a:latin typeface="Times New Roman" panose="02020603050405020304" pitchFamily="18" charset="0"/>
              </a:rPr>
              <a:t>中断周期 </a:t>
            </a:r>
            <a:r>
              <a:rPr lang="zh-CN" altLang="en-US" sz="3200" dirty="0">
                <a:latin typeface="Times New Roman" panose="02020603050405020304" pitchFamily="18" charset="0"/>
              </a:rPr>
              <a:t>微操作的 </a:t>
            </a:r>
            <a:r>
              <a:rPr lang="zh-CN" altLang="en-US" sz="3200" dirty="0">
                <a:solidFill>
                  <a:schemeClr val="folHlink"/>
                </a:solidFill>
                <a:latin typeface="Times New Roman" panose="02020603050405020304" pitchFamily="18" charset="0"/>
              </a:rPr>
              <a:t>节拍安排</a:t>
            </a:r>
            <a:endParaRPr lang="zh-CN" altLang="en-US" sz="32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618499" name="Text Box 3"/>
          <p:cNvSpPr txBox="1"/>
          <p:nvPr/>
        </p:nvSpPr>
        <p:spPr>
          <a:xfrm>
            <a:off x="990600" y="1509713"/>
            <a:ext cx="47148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i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2400" baseline="-25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0</a:t>
            </a:r>
            <a:endParaRPr lang="zh-CN" altLang="en-US" sz="2400" baseline="-250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618500" name="Text Box 4"/>
          <p:cNvSpPr txBox="1"/>
          <p:nvPr/>
        </p:nvSpPr>
        <p:spPr>
          <a:xfrm>
            <a:off x="990600" y="2462213"/>
            <a:ext cx="47148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i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2400" baseline="-25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1</a:t>
            </a:r>
            <a:endParaRPr lang="zh-CN" altLang="en-US" sz="24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618501" name="Text Box 5"/>
          <p:cNvSpPr txBox="1"/>
          <p:nvPr/>
        </p:nvSpPr>
        <p:spPr>
          <a:xfrm>
            <a:off x="990600" y="3414713"/>
            <a:ext cx="47148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i="1" dirty="0">
                <a:solidFill>
                  <a:schemeClr val="folHlink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2400" baseline="-25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2</a:t>
            </a:r>
            <a:endParaRPr lang="zh-CN" altLang="en-US" sz="2400" baseline="-250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618502" name="Group 6"/>
          <p:cNvGrpSpPr/>
          <p:nvPr/>
        </p:nvGrpSpPr>
        <p:grpSpPr>
          <a:xfrm>
            <a:off x="1736725" y="1509713"/>
            <a:ext cx="1674813" cy="457200"/>
            <a:chOff x="1094" y="896"/>
            <a:chExt cx="1055" cy="288"/>
          </a:xfrm>
        </p:grpSpPr>
        <p:sp>
          <p:nvSpPr>
            <p:cNvPr id="12311" name="Text Box 7"/>
            <p:cNvSpPr txBox="1"/>
            <p:nvPr/>
          </p:nvSpPr>
          <p:spPr>
            <a:xfrm>
              <a:off x="1094" y="896"/>
              <a:ext cx="105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dirty="0">
                  <a:latin typeface="Times New Roman" panose="02020603050405020304" pitchFamily="18" charset="0"/>
                </a:rPr>
                <a:t>0        MAR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2312" name="Line 8"/>
            <p:cNvSpPr/>
            <p:nvPr/>
          </p:nvSpPr>
          <p:spPr>
            <a:xfrm>
              <a:off x="1296" y="1036"/>
              <a:ext cx="28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618505" name="Group 9"/>
          <p:cNvGrpSpPr/>
          <p:nvPr/>
        </p:nvGrpSpPr>
        <p:grpSpPr>
          <a:xfrm>
            <a:off x="1736725" y="2462213"/>
            <a:ext cx="2005013" cy="457200"/>
            <a:chOff x="1104" y="1328"/>
            <a:chExt cx="1263" cy="288"/>
          </a:xfrm>
        </p:grpSpPr>
        <p:sp>
          <p:nvSpPr>
            <p:cNvPr id="12309" name="Text Box 10"/>
            <p:cNvSpPr txBox="1"/>
            <p:nvPr/>
          </p:nvSpPr>
          <p:spPr>
            <a:xfrm>
              <a:off x="1104" y="1328"/>
              <a:ext cx="126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dirty="0">
                  <a:latin typeface="Times New Roman" panose="02020603050405020304" pitchFamily="18" charset="0"/>
                </a:rPr>
                <a:t>PC         MDR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2310" name="Line 11"/>
            <p:cNvSpPr/>
            <p:nvPr/>
          </p:nvSpPr>
          <p:spPr>
            <a:xfrm>
              <a:off x="1488" y="1469"/>
              <a:ext cx="28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618508" name="Group 12"/>
          <p:cNvGrpSpPr/>
          <p:nvPr/>
        </p:nvGrpSpPr>
        <p:grpSpPr>
          <a:xfrm>
            <a:off x="1736725" y="3414713"/>
            <a:ext cx="2970213" cy="457200"/>
            <a:chOff x="1104" y="1817"/>
            <a:chExt cx="1871" cy="288"/>
          </a:xfrm>
        </p:grpSpPr>
        <p:sp>
          <p:nvSpPr>
            <p:cNvPr id="12307" name="Text Box 13"/>
            <p:cNvSpPr txBox="1"/>
            <p:nvPr/>
          </p:nvSpPr>
          <p:spPr>
            <a:xfrm>
              <a:off x="1104" y="1817"/>
              <a:ext cx="187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dirty="0">
                  <a:latin typeface="Times New Roman" panose="02020603050405020304" pitchFamily="18" charset="0"/>
                </a:rPr>
                <a:t>MDR        M ( MAR )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2308" name="Line 14"/>
            <p:cNvSpPr/>
            <p:nvPr/>
          </p:nvSpPr>
          <p:spPr>
            <a:xfrm>
              <a:off x="1680" y="1958"/>
              <a:ext cx="28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sp>
        <p:nvSpPr>
          <p:cNvPr id="618511" name="Text Box 15"/>
          <p:cNvSpPr txBox="1"/>
          <p:nvPr/>
        </p:nvSpPr>
        <p:spPr>
          <a:xfrm>
            <a:off x="6488113" y="1447800"/>
            <a:ext cx="1970087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dirty="0">
                <a:solidFill>
                  <a:schemeClr val="folHlink"/>
                </a:solidFill>
                <a:latin typeface="Times New Roman" panose="02020603050405020304" pitchFamily="18" charset="0"/>
              </a:rPr>
              <a:t>硬件关中断</a:t>
            </a:r>
            <a:endParaRPr lang="zh-CN" altLang="en-US" sz="28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618512" name="Group 16"/>
          <p:cNvGrpSpPr/>
          <p:nvPr/>
        </p:nvGrpSpPr>
        <p:grpSpPr>
          <a:xfrm>
            <a:off x="4965700" y="3414713"/>
            <a:ext cx="2501900" cy="457200"/>
            <a:chOff x="3446" y="1850"/>
            <a:chExt cx="1576" cy="288"/>
          </a:xfrm>
        </p:grpSpPr>
        <p:sp>
          <p:nvSpPr>
            <p:cNvPr id="12305" name="Text Box 17"/>
            <p:cNvSpPr txBox="1"/>
            <p:nvPr/>
          </p:nvSpPr>
          <p:spPr>
            <a:xfrm>
              <a:off x="3446" y="1850"/>
              <a:ext cx="157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400" dirty="0">
                  <a:latin typeface="Times New Roman" panose="02020603050405020304" pitchFamily="18" charset="0"/>
                </a:rPr>
                <a:t>向量地址         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PC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2306" name="Line 18"/>
            <p:cNvSpPr/>
            <p:nvPr/>
          </p:nvSpPr>
          <p:spPr>
            <a:xfrm>
              <a:off x="4368" y="1990"/>
              <a:ext cx="28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sp>
        <p:nvSpPr>
          <p:cNvPr id="618515" name="Text Box 19"/>
          <p:cNvSpPr txBox="1"/>
          <p:nvPr/>
        </p:nvSpPr>
        <p:spPr>
          <a:xfrm>
            <a:off x="3048000" y="4368800"/>
            <a:ext cx="2684463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dirty="0">
                <a:solidFill>
                  <a:schemeClr val="folHlink"/>
                </a:solidFill>
                <a:latin typeface="Times New Roman" panose="02020603050405020304" pitchFamily="18" charset="0"/>
              </a:rPr>
              <a:t>中断隐指令完成</a:t>
            </a:r>
            <a:endParaRPr lang="zh-CN" altLang="en-US" sz="28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618516" name="Group 20"/>
          <p:cNvGrpSpPr/>
          <p:nvPr/>
        </p:nvGrpSpPr>
        <p:grpSpPr>
          <a:xfrm>
            <a:off x="4965700" y="1509713"/>
            <a:ext cx="1250950" cy="457200"/>
            <a:chOff x="2198" y="890"/>
            <a:chExt cx="788" cy="288"/>
          </a:xfrm>
        </p:grpSpPr>
        <p:sp>
          <p:nvSpPr>
            <p:cNvPr id="12303" name="Line 21"/>
            <p:cNvSpPr/>
            <p:nvPr/>
          </p:nvSpPr>
          <p:spPr>
            <a:xfrm>
              <a:off x="2400" y="1036"/>
              <a:ext cx="28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12304" name="Text Box 22"/>
            <p:cNvSpPr txBox="1"/>
            <p:nvPr/>
          </p:nvSpPr>
          <p:spPr>
            <a:xfrm>
              <a:off x="2198" y="890"/>
              <a:ext cx="78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dirty="0">
                  <a:latin typeface="Times New Roman" panose="02020603050405020304" pitchFamily="18" charset="0"/>
                </a:rPr>
                <a:t>1        W</a:t>
              </a:r>
              <a:endParaRPr lang="zh-CN" altLang="en-US" sz="24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618519" name="Rectangle 23"/>
          <p:cNvSpPr>
            <a:spLocks noChangeArrowheads="1"/>
          </p:cNvSpPr>
          <p:nvPr/>
        </p:nvSpPr>
        <p:spPr bwMode="auto">
          <a:xfrm>
            <a:off x="7696200" y="152400"/>
            <a:ext cx="1447800" cy="838200"/>
          </a:xfrm>
          <a:prstGeom prst="rect">
            <a:avLst/>
          </a:prstGeom>
          <a:noFill/>
          <a:ln>
            <a:noFill/>
          </a:ln>
          <a:effectLst/>
        </p:spPr>
        <p:txBody>
          <a:bodyPr lIns="92075" tIns="46038" rIns="92075" bIns="46038" anchor="ctr"/>
          <a:lstStyle>
            <a:lvl1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10.1</a:t>
            </a:r>
            <a:endParaRPr kumimoji="1" lang="zh-CN" altLang="en-US" sz="4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302" name="AutoShape 24">
            <a:hlinkClick r:id="rId1" action="ppaction://hlinksldjump"/>
          </p:cNvPr>
          <p:cNvSpPr/>
          <p:nvPr/>
        </p:nvSpPr>
        <p:spPr>
          <a:xfrm>
            <a:off x="8589963" y="6516688"/>
            <a:ext cx="539750" cy="333375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endParaRPr lang="zh-CN" altLang="en-US" dirty="0">
              <a:latin typeface="等线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18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18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18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185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185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618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618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618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618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618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6185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6185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8499" grpId="0"/>
      <p:bldP spid="618500" grpId="0"/>
      <p:bldP spid="618501" grpId="0"/>
      <p:bldP spid="618511" grpId="0"/>
      <p:bldP spid="61851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827088" y="1268413"/>
          <a:ext cx="7489825" cy="4321175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267844"/>
                <a:gridCol w="1219081"/>
                <a:gridCol w="1267844"/>
                <a:gridCol w="1257469"/>
                <a:gridCol w="1257469"/>
                <a:gridCol w="1220119"/>
              </a:tblGrid>
              <a:tr h="308656">
                <a:tc rowSpan="2">
                  <a:txBody>
                    <a:bodyPr/>
                    <a:lstStyle/>
                    <a:p>
                      <a:pPr algn="just"/>
                      <a:r>
                        <a:rPr lang="zh-CN" sz="1600" kern="100" dirty="0">
                          <a:effectLst/>
                        </a:rPr>
                        <a:t>取指周期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 anchor="ctr"/>
                </a:tc>
                <a:tc rowSpan="2">
                  <a:txBody>
                    <a:bodyPr/>
                    <a:lstStyle/>
                    <a:p>
                      <a:pPr algn="just"/>
                      <a:r>
                        <a:rPr lang="zh-CN" sz="1600" kern="100" dirty="0">
                          <a:effectLst/>
                        </a:rPr>
                        <a:t>间址周期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zh-CN" sz="1600" kern="100">
                          <a:effectLst/>
                        </a:rPr>
                        <a:t>执行周期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 anchor="ctr"/>
                </a:tc>
                <a:tc hMerge="1">
                  <a:tcPr/>
                </a:tc>
                <a:tc hMerge="1">
                  <a:tcPr/>
                </a:tc>
                <a:tc rowSpan="2">
                  <a:txBody>
                    <a:bodyPr/>
                    <a:lstStyle/>
                    <a:p>
                      <a:pPr algn="just"/>
                      <a:r>
                        <a:rPr lang="zh-CN" sz="1600" kern="100">
                          <a:effectLst/>
                        </a:rPr>
                        <a:t>中断周期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 anchor="ctr"/>
                </a:tc>
              </a:tr>
              <a:tr h="308656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00">
                          <a:effectLst/>
                        </a:rPr>
                        <a:t>ADD X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00">
                          <a:effectLst/>
                        </a:rPr>
                        <a:t>STA X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00">
                          <a:effectLst/>
                        </a:rPr>
                        <a:t>LDA X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 anchor="ctr"/>
                </a:tc>
                <a:tc vMerge="1">
                  <a:tcPr/>
                </a:tc>
              </a:tr>
              <a:tr h="3703864">
                <a:tc>
                  <a:txBody>
                    <a:bodyPr/>
                    <a:lstStyle/>
                    <a:p>
                      <a:pPr algn="just"/>
                      <a:r>
                        <a:rPr lang="en-US" sz="1600" kern="100" dirty="0">
                          <a:effectLst/>
                        </a:rPr>
                        <a:t> </a:t>
                      </a:r>
                      <a:endParaRPr lang="zh-CN" sz="1600" kern="100" dirty="0">
                        <a:effectLst/>
                      </a:endParaRPr>
                    </a:p>
                    <a:p>
                      <a:pPr algn="just"/>
                      <a:r>
                        <a:rPr lang="en-US" sz="1600" kern="100" dirty="0">
                          <a:effectLst/>
                        </a:rPr>
                        <a:t> </a:t>
                      </a:r>
                      <a:endParaRPr lang="zh-CN" sz="1600" kern="100" dirty="0">
                        <a:effectLst/>
                      </a:endParaRPr>
                    </a:p>
                    <a:p>
                      <a:pPr algn="just"/>
                      <a:r>
                        <a:rPr lang="en-US" sz="1600" kern="100" dirty="0">
                          <a:effectLst/>
                        </a:rPr>
                        <a:t> </a:t>
                      </a:r>
                      <a:endParaRPr lang="zh-CN" sz="1600" kern="100" dirty="0">
                        <a:effectLst/>
                      </a:endParaRPr>
                    </a:p>
                    <a:p>
                      <a:pPr algn="just"/>
                      <a:r>
                        <a:rPr lang="en-US" sz="1600" kern="100" dirty="0">
                          <a:effectLst/>
                        </a:rPr>
                        <a:t> </a:t>
                      </a:r>
                      <a:endParaRPr lang="zh-CN" sz="1600" kern="100" dirty="0">
                        <a:effectLst/>
                      </a:endParaRPr>
                    </a:p>
                    <a:p>
                      <a:pPr algn="just"/>
                      <a:r>
                        <a:rPr lang="en-US" sz="1600" kern="100" dirty="0">
                          <a:effectLst/>
                        </a:rPr>
                        <a:t> </a:t>
                      </a:r>
                      <a:endParaRPr lang="zh-CN" sz="1600" kern="100" dirty="0">
                        <a:effectLst/>
                      </a:endParaRPr>
                    </a:p>
                    <a:p>
                      <a:pPr algn="just"/>
                      <a:r>
                        <a:rPr lang="en-US" sz="1600" kern="100" dirty="0">
                          <a:effectLst/>
                        </a:rPr>
                        <a:t> </a:t>
                      </a:r>
                      <a:endParaRPr lang="zh-CN" sz="1600" kern="100" dirty="0">
                        <a:effectLst/>
                      </a:endParaRPr>
                    </a:p>
                    <a:p>
                      <a:pPr algn="just"/>
                      <a:r>
                        <a:rPr lang="en-US" sz="1600" kern="100" dirty="0">
                          <a:effectLst/>
                        </a:rPr>
                        <a:t> </a:t>
                      </a:r>
                      <a:endParaRPr lang="zh-CN" sz="1600" kern="100" dirty="0">
                        <a:effectLst/>
                      </a:endParaRPr>
                    </a:p>
                    <a:p>
                      <a:pPr algn="just"/>
                      <a:r>
                        <a:rPr lang="en-US" sz="1600" kern="100" dirty="0">
                          <a:effectLst/>
                        </a:rPr>
                        <a:t> </a:t>
                      </a:r>
                      <a:endParaRPr lang="zh-CN" sz="1600" kern="100" dirty="0">
                        <a:effectLst/>
                      </a:endParaRPr>
                    </a:p>
                    <a:p>
                      <a:pPr algn="just"/>
                      <a:r>
                        <a:rPr lang="en-US" sz="1600" kern="100" dirty="0">
                          <a:effectLst/>
                        </a:rPr>
                        <a:t> </a:t>
                      </a:r>
                      <a:endParaRPr lang="zh-CN" sz="1600" kern="100" dirty="0">
                        <a:effectLst/>
                      </a:endParaRPr>
                    </a:p>
                    <a:p>
                      <a:pPr algn="just"/>
                      <a:r>
                        <a:rPr lang="en-US" sz="1600" kern="100" dirty="0">
                          <a:effectLst/>
                        </a:rPr>
                        <a:t> </a:t>
                      </a:r>
                      <a:endParaRPr lang="zh-CN" sz="1600" kern="100" dirty="0">
                        <a:effectLst/>
                      </a:endParaRPr>
                    </a:p>
                    <a:p>
                      <a:pPr algn="just"/>
                      <a:r>
                        <a:rPr lang="en-US" sz="1600" kern="100" dirty="0">
                          <a:effectLst/>
                        </a:rPr>
                        <a:t> </a:t>
                      </a:r>
                      <a:endParaRPr lang="zh-CN" sz="1600" kern="100" dirty="0">
                        <a:effectLst/>
                      </a:endParaRPr>
                    </a:p>
                    <a:p>
                      <a:pPr algn="just"/>
                      <a:r>
                        <a:rPr lang="en-US" sz="1600" kern="100" dirty="0">
                          <a:effectLst/>
                        </a:rPr>
                        <a:t> 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kern="100" dirty="0">
                          <a:effectLst/>
                        </a:rPr>
                        <a:t> 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kern="100">
                          <a:effectLst/>
                        </a:rPr>
                        <a:t> 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600" kern="100" dirty="0">
                          <a:effectLst/>
                        </a:rPr>
                        <a:t> 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/>
                </a:tc>
              </a:tr>
            </a:tbl>
          </a:graphicData>
        </a:graphic>
      </p:graphicFrame>
      <p:sp>
        <p:nvSpPr>
          <p:cNvPr id="4" name="Text Box 4"/>
          <p:cNvSpPr txBox="1"/>
          <p:nvPr/>
        </p:nvSpPr>
        <p:spPr>
          <a:xfrm>
            <a:off x="835025" y="476250"/>
            <a:ext cx="5105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zh-CN" altLang="en-US" sz="2400" dirty="0">
                <a:latin typeface="等线" panose="02010600030101010101" pitchFamily="2" charset="-122"/>
              </a:rPr>
              <a:t>请写出微操作序列</a:t>
            </a:r>
            <a:endParaRPr lang="zh-CN" altLang="en-US" sz="2400" dirty="0">
              <a:solidFill>
                <a:schemeClr val="folHlink"/>
              </a:solidFill>
              <a:latin typeface="等线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827088" y="1268413"/>
          <a:ext cx="7489825" cy="4397375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267844"/>
                <a:gridCol w="1219081"/>
                <a:gridCol w="1267844"/>
                <a:gridCol w="1257469"/>
                <a:gridCol w="1257469"/>
                <a:gridCol w="1220119"/>
              </a:tblGrid>
              <a:tr h="308651">
                <a:tc rowSpan="2">
                  <a:txBody>
                    <a:bodyPr/>
                    <a:lstStyle/>
                    <a:p>
                      <a:pPr algn="just"/>
                      <a:r>
                        <a:rPr lang="zh-CN" sz="1600" kern="100" dirty="0">
                          <a:effectLst/>
                        </a:rPr>
                        <a:t>取指周期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 anchor="ctr"/>
                </a:tc>
                <a:tc rowSpan="2">
                  <a:txBody>
                    <a:bodyPr/>
                    <a:lstStyle/>
                    <a:p>
                      <a:pPr algn="just"/>
                      <a:r>
                        <a:rPr lang="zh-CN" sz="1600" kern="100" dirty="0">
                          <a:effectLst/>
                        </a:rPr>
                        <a:t>间址周期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zh-CN" sz="1600" kern="100">
                          <a:effectLst/>
                        </a:rPr>
                        <a:t>执行周期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 anchor="ctr"/>
                </a:tc>
                <a:tc hMerge="1">
                  <a:tcPr/>
                </a:tc>
                <a:tc hMerge="1">
                  <a:tcPr/>
                </a:tc>
                <a:tc rowSpan="2">
                  <a:txBody>
                    <a:bodyPr/>
                    <a:lstStyle/>
                    <a:p>
                      <a:pPr algn="just"/>
                      <a:r>
                        <a:rPr lang="zh-CN" sz="1600" kern="100">
                          <a:effectLst/>
                        </a:rPr>
                        <a:t>中断周期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 anchor="ctr"/>
                </a:tc>
              </a:tr>
              <a:tr h="308651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00">
                          <a:effectLst/>
                        </a:rPr>
                        <a:t>ADD X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00">
                          <a:effectLst/>
                        </a:rPr>
                        <a:t>STA X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00">
                          <a:effectLst/>
                        </a:rPr>
                        <a:t>LDA X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 anchor="ctr"/>
                </a:tc>
                <a:tc vMerge="1">
                  <a:tcPr/>
                </a:tc>
              </a:tr>
              <a:tr h="3780073">
                <a:tc>
                  <a:txBody>
                    <a:bodyPr/>
                    <a:lstStyle/>
                    <a:p>
                      <a:pPr algn="just"/>
                      <a:r>
                        <a:rPr lang="en-US" sz="1200" kern="100" dirty="0">
                          <a:effectLst/>
                        </a:rPr>
                        <a:t>PC </a:t>
                      </a:r>
                      <a:r>
                        <a:rPr lang="en-US" sz="1200" kern="100" dirty="0">
                          <a:effectLst/>
                          <a:sym typeface="Wingdings" panose="05000000000000000000" pitchFamily="2" charset="2"/>
                        </a:rPr>
                        <a:t> MAR</a:t>
                      </a:r>
                      <a:endParaRPr lang="en-US" sz="1200" kern="100" dirty="0">
                        <a:effectLst/>
                        <a:sym typeface="Wingdings" panose="05000000000000000000" pitchFamily="2" charset="2"/>
                      </a:endParaRPr>
                    </a:p>
                    <a:p>
                      <a:pPr algn="just"/>
                      <a:r>
                        <a:rPr lang="en-US" altLang="zh-CN" sz="1200" kern="100" dirty="0">
                          <a:effectLst/>
                          <a:sym typeface="Wingdings" panose="05000000000000000000" pitchFamily="2" charset="2"/>
                        </a:rPr>
                        <a:t>1R </a:t>
                      </a:r>
                      <a:endParaRPr lang="en-US" altLang="zh-CN" sz="1200" kern="100" dirty="0">
                        <a:effectLst/>
                        <a:sym typeface="Wingdings" panose="05000000000000000000" pitchFamily="2" charset="2"/>
                      </a:endParaRPr>
                    </a:p>
                    <a:p>
                      <a:pPr algn="just"/>
                      <a:r>
                        <a:rPr lang="en-US" altLang="zh-CN" sz="1200" kern="100" dirty="0">
                          <a:effectLst/>
                          <a:sym typeface="Wingdings" panose="05000000000000000000" pitchFamily="2" charset="2"/>
                        </a:rPr>
                        <a:t>M(MAR)MDR</a:t>
                      </a:r>
                      <a:endParaRPr lang="en-US" altLang="zh-CN" sz="1200" kern="100" dirty="0">
                        <a:effectLst/>
                        <a:sym typeface="Wingdings" panose="05000000000000000000" pitchFamily="2" charset="2"/>
                      </a:endParaRPr>
                    </a:p>
                    <a:p>
                      <a:pPr algn="just"/>
                      <a:r>
                        <a:rPr lang="en-US" altLang="zh-CN" sz="1200" kern="100" dirty="0">
                          <a:effectLst/>
                          <a:sym typeface="Wingdings" panose="05000000000000000000" pitchFamily="2" charset="2"/>
                        </a:rPr>
                        <a:t>MDRIR</a:t>
                      </a:r>
                      <a:endParaRPr lang="en-US" altLang="zh-CN" sz="1200" kern="100" dirty="0">
                        <a:effectLst/>
                        <a:sym typeface="Wingdings" panose="05000000000000000000" pitchFamily="2" charset="2"/>
                      </a:endParaRPr>
                    </a:p>
                    <a:p>
                      <a:pPr algn="just"/>
                      <a:r>
                        <a:rPr lang="en-US" altLang="zh-CN" sz="1200" kern="100" dirty="0">
                          <a:effectLst/>
                          <a:sym typeface="Wingdings" panose="05000000000000000000" pitchFamily="2" charset="2"/>
                        </a:rPr>
                        <a:t>Op(IR)CU</a:t>
                      </a:r>
                      <a:endParaRPr lang="en-US" altLang="zh-CN" sz="1200" kern="100" dirty="0">
                        <a:effectLst/>
                        <a:sym typeface="Wingdings" panose="05000000000000000000" pitchFamily="2" charset="2"/>
                      </a:endParaRPr>
                    </a:p>
                    <a:p>
                      <a:pPr algn="just"/>
                      <a:r>
                        <a:rPr lang="en-US" altLang="zh-CN" sz="1200" kern="100" dirty="0">
                          <a:effectLst/>
                          <a:sym typeface="Wingdings" panose="05000000000000000000" pitchFamily="2" charset="2"/>
                        </a:rPr>
                        <a:t>PC+1PC</a:t>
                      </a:r>
                      <a:endParaRPr lang="en-US" altLang="zh-CN" sz="1200" kern="100" dirty="0">
                        <a:effectLst/>
                        <a:sym typeface="Wingdings" panose="05000000000000000000" pitchFamily="2" charset="2"/>
                      </a:endParaRPr>
                    </a:p>
                    <a:p>
                      <a:pPr algn="just"/>
                      <a:endParaRPr lang="zh-CN" sz="1600" kern="100" dirty="0">
                        <a:effectLst/>
                      </a:endParaRPr>
                    </a:p>
                    <a:p>
                      <a:pPr algn="just"/>
                      <a:r>
                        <a:rPr lang="en-US" sz="1600" kern="100" dirty="0">
                          <a:effectLst/>
                        </a:rPr>
                        <a:t> </a:t>
                      </a:r>
                      <a:endParaRPr lang="zh-CN" sz="1600" kern="100" dirty="0">
                        <a:effectLst/>
                      </a:endParaRPr>
                    </a:p>
                    <a:p>
                      <a:pPr algn="just"/>
                      <a:r>
                        <a:rPr lang="en-US" sz="1600" kern="100" dirty="0">
                          <a:effectLst/>
                        </a:rPr>
                        <a:t> </a:t>
                      </a:r>
                      <a:endParaRPr lang="zh-CN" sz="1600" kern="100" dirty="0">
                        <a:effectLst/>
                      </a:endParaRPr>
                    </a:p>
                    <a:p>
                      <a:pPr algn="just"/>
                      <a:r>
                        <a:rPr lang="en-US" sz="1600" kern="100" dirty="0">
                          <a:effectLst/>
                        </a:rPr>
                        <a:t> </a:t>
                      </a:r>
                      <a:endParaRPr lang="zh-CN" sz="1600" kern="100" dirty="0">
                        <a:effectLst/>
                      </a:endParaRPr>
                    </a:p>
                    <a:p>
                      <a:pPr algn="just"/>
                      <a:r>
                        <a:rPr lang="en-US" sz="1600" kern="100" dirty="0">
                          <a:effectLst/>
                        </a:rPr>
                        <a:t> </a:t>
                      </a:r>
                      <a:endParaRPr lang="zh-CN" sz="1600" kern="100" dirty="0">
                        <a:effectLst/>
                      </a:endParaRPr>
                    </a:p>
                    <a:p>
                      <a:pPr algn="just"/>
                      <a:r>
                        <a:rPr lang="en-US" sz="1600" kern="100" dirty="0">
                          <a:effectLst/>
                        </a:rPr>
                        <a:t> </a:t>
                      </a:r>
                      <a:endParaRPr lang="zh-CN" sz="1600" kern="100" dirty="0">
                        <a:effectLst/>
                      </a:endParaRPr>
                    </a:p>
                    <a:p>
                      <a:pPr algn="just"/>
                      <a:r>
                        <a:rPr lang="en-US" sz="1600" kern="100" dirty="0">
                          <a:effectLst/>
                        </a:rPr>
                        <a:t> </a:t>
                      </a:r>
                      <a:endParaRPr lang="zh-CN" sz="1600" kern="100" dirty="0">
                        <a:effectLst/>
                      </a:endParaRPr>
                    </a:p>
                    <a:p>
                      <a:pPr algn="just"/>
                      <a:r>
                        <a:rPr lang="en-US" sz="1600" kern="100" dirty="0">
                          <a:effectLst/>
                        </a:rPr>
                        <a:t> </a:t>
                      </a:r>
                      <a:endParaRPr lang="zh-CN" sz="1600" kern="100" dirty="0">
                        <a:effectLst/>
                      </a:endParaRPr>
                    </a:p>
                    <a:p>
                      <a:pPr algn="just"/>
                      <a:r>
                        <a:rPr lang="en-US" sz="1600" kern="100" dirty="0">
                          <a:effectLst/>
                        </a:rPr>
                        <a:t> </a:t>
                      </a:r>
                      <a:endParaRPr lang="zh-CN" sz="1600" kern="100" dirty="0">
                        <a:effectLst/>
                      </a:endParaRPr>
                    </a:p>
                    <a:p>
                      <a:pPr algn="just"/>
                      <a:r>
                        <a:rPr lang="en-US" sz="1600" kern="100" dirty="0">
                          <a:effectLst/>
                        </a:rPr>
                        <a:t> </a:t>
                      </a:r>
                      <a:endParaRPr lang="zh-CN" sz="1600" kern="100" dirty="0">
                        <a:effectLst/>
                      </a:endParaRPr>
                    </a:p>
                    <a:p>
                      <a:pPr algn="just"/>
                      <a:r>
                        <a:rPr lang="en-US" sz="1600" kern="100" dirty="0">
                          <a:effectLst/>
                        </a:rPr>
                        <a:t> 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/>
                </a:tc>
                <a:tc>
                  <a:txBody>
                    <a:bodyPr/>
                    <a:lstStyle/>
                    <a:p>
                      <a:pPr algn="just"/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/>
                </a:tc>
                <a:tc>
                  <a:txBody>
                    <a:bodyPr/>
                    <a:lstStyle/>
                    <a:p>
                      <a:pPr algn="just"/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/>
                </a:tc>
                <a:tc>
                  <a:txBody>
                    <a:bodyPr/>
                    <a:lstStyle/>
                    <a:p>
                      <a:pPr algn="just"/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/>
                </a:tc>
                <a:tc>
                  <a:txBody>
                    <a:bodyPr/>
                    <a:lstStyle/>
                    <a:p>
                      <a:pPr algn="just"/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 kern="100" dirty="0">
                          <a:effectLst/>
                        </a:rPr>
                        <a:t> </a:t>
                      </a:r>
                      <a:endParaRPr lang="en-US" altLang="zh-CN" sz="12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  <a:sym typeface="Wingdings" panose="05000000000000000000" pitchFamily="2" charset="2"/>
                      </a:endParaRPr>
                    </a:p>
                  </a:txBody>
                  <a:tcPr marL="68589" marR="68589" marT="0" marB="0"/>
                </a:tc>
              </a:tr>
            </a:tbl>
          </a:graphicData>
        </a:graphic>
      </p:graphicFrame>
      <p:sp>
        <p:nvSpPr>
          <p:cNvPr id="4" name="Text Box 4"/>
          <p:cNvSpPr txBox="1"/>
          <p:nvPr/>
        </p:nvSpPr>
        <p:spPr>
          <a:xfrm>
            <a:off x="835025" y="476250"/>
            <a:ext cx="5105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zh-CN" altLang="en-US" sz="2400" dirty="0">
                <a:latin typeface="等线" panose="02010600030101010101" pitchFamily="2" charset="-122"/>
              </a:rPr>
              <a:t>微操作节拍安排</a:t>
            </a:r>
            <a:endParaRPr lang="zh-CN" altLang="en-US" sz="2400" dirty="0">
              <a:solidFill>
                <a:schemeClr val="folHlink"/>
              </a:solidFill>
              <a:latin typeface="等线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827088" y="1268413"/>
          <a:ext cx="7489825" cy="4397375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267844"/>
                <a:gridCol w="1219081"/>
                <a:gridCol w="1267844"/>
                <a:gridCol w="1257469"/>
                <a:gridCol w="1257469"/>
                <a:gridCol w="1220119"/>
              </a:tblGrid>
              <a:tr h="308651">
                <a:tc rowSpan="2">
                  <a:txBody>
                    <a:bodyPr/>
                    <a:lstStyle/>
                    <a:p>
                      <a:pPr algn="just"/>
                      <a:r>
                        <a:rPr lang="zh-CN" sz="1600" kern="100" dirty="0">
                          <a:effectLst/>
                        </a:rPr>
                        <a:t>取指周期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 anchor="ctr"/>
                </a:tc>
                <a:tc rowSpan="2">
                  <a:txBody>
                    <a:bodyPr/>
                    <a:lstStyle/>
                    <a:p>
                      <a:pPr algn="just"/>
                      <a:r>
                        <a:rPr lang="zh-CN" sz="1600" kern="100" dirty="0">
                          <a:effectLst/>
                        </a:rPr>
                        <a:t>间址周期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zh-CN" sz="1600" kern="100">
                          <a:effectLst/>
                        </a:rPr>
                        <a:t>执行周期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 anchor="ctr"/>
                </a:tc>
                <a:tc hMerge="1">
                  <a:tcPr/>
                </a:tc>
                <a:tc hMerge="1">
                  <a:tcPr/>
                </a:tc>
                <a:tc rowSpan="2">
                  <a:txBody>
                    <a:bodyPr/>
                    <a:lstStyle/>
                    <a:p>
                      <a:pPr algn="just"/>
                      <a:r>
                        <a:rPr lang="zh-CN" sz="1600" kern="100">
                          <a:effectLst/>
                        </a:rPr>
                        <a:t>中断周期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 anchor="ctr"/>
                </a:tc>
              </a:tr>
              <a:tr h="308651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00">
                          <a:effectLst/>
                        </a:rPr>
                        <a:t>ADD X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00">
                          <a:effectLst/>
                        </a:rPr>
                        <a:t>STA X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00">
                          <a:effectLst/>
                        </a:rPr>
                        <a:t>LDA X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 anchor="ctr"/>
                </a:tc>
                <a:tc vMerge="1">
                  <a:tcPr/>
                </a:tc>
              </a:tr>
              <a:tr h="3780073">
                <a:tc>
                  <a:txBody>
                    <a:bodyPr/>
                    <a:lstStyle/>
                    <a:p>
                      <a:pPr algn="just"/>
                      <a:r>
                        <a:rPr lang="en-US" sz="1200" kern="100" dirty="0">
                          <a:effectLst/>
                        </a:rPr>
                        <a:t>PC </a:t>
                      </a:r>
                      <a:r>
                        <a:rPr lang="en-US" sz="1200" kern="100" dirty="0">
                          <a:effectLst/>
                          <a:sym typeface="Wingdings" panose="05000000000000000000" pitchFamily="2" charset="2"/>
                        </a:rPr>
                        <a:t> MAR</a:t>
                      </a:r>
                      <a:endParaRPr lang="en-US" sz="1200" kern="100" dirty="0">
                        <a:effectLst/>
                        <a:sym typeface="Wingdings" panose="05000000000000000000" pitchFamily="2" charset="2"/>
                      </a:endParaRPr>
                    </a:p>
                    <a:p>
                      <a:pPr algn="just"/>
                      <a:r>
                        <a:rPr lang="en-US" altLang="zh-CN" sz="1200" kern="100" dirty="0">
                          <a:effectLst/>
                          <a:sym typeface="Wingdings" panose="05000000000000000000" pitchFamily="2" charset="2"/>
                        </a:rPr>
                        <a:t>1R </a:t>
                      </a:r>
                      <a:endParaRPr lang="en-US" altLang="zh-CN" sz="1200" kern="100" dirty="0">
                        <a:effectLst/>
                        <a:sym typeface="Wingdings" panose="05000000000000000000" pitchFamily="2" charset="2"/>
                      </a:endParaRPr>
                    </a:p>
                    <a:p>
                      <a:pPr algn="just"/>
                      <a:r>
                        <a:rPr lang="en-US" altLang="zh-CN" sz="1200" kern="100" dirty="0">
                          <a:effectLst/>
                          <a:sym typeface="Wingdings" panose="05000000000000000000" pitchFamily="2" charset="2"/>
                        </a:rPr>
                        <a:t>M(MAR)MDR</a:t>
                      </a:r>
                      <a:endParaRPr lang="en-US" altLang="zh-CN" sz="1200" kern="100" dirty="0">
                        <a:effectLst/>
                        <a:sym typeface="Wingdings" panose="05000000000000000000" pitchFamily="2" charset="2"/>
                      </a:endParaRPr>
                    </a:p>
                    <a:p>
                      <a:pPr algn="just"/>
                      <a:r>
                        <a:rPr lang="en-US" altLang="zh-CN" sz="1200" kern="100" dirty="0">
                          <a:effectLst/>
                          <a:sym typeface="Wingdings" panose="05000000000000000000" pitchFamily="2" charset="2"/>
                        </a:rPr>
                        <a:t>MDRIR</a:t>
                      </a:r>
                      <a:endParaRPr lang="en-US" altLang="zh-CN" sz="1200" kern="100" dirty="0">
                        <a:effectLst/>
                        <a:sym typeface="Wingdings" panose="05000000000000000000" pitchFamily="2" charset="2"/>
                      </a:endParaRPr>
                    </a:p>
                    <a:p>
                      <a:pPr algn="just"/>
                      <a:r>
                        <a:rPr lang="en-US" altLang="zh-CN" sz="1200" kern="100" dirty="0">
                          <a:effectLst/>
                          <a:sym typeface="Wingdings" panose="05000000000000000000" pitchFamily="2" charset="2"/>
                        </a:rPr>
                        <a:t>Op(IR)CU</a:t>
                      </a:r>
                      <a:endParaRPr lang="en-US" altLang="zh-CN" sz="1200" kern="100" dirty="0">
                        <a:effectLst/>
                        <a:sym typeface="Wingdings" panose="05000000000000000000" pitchFamily="2" charset="2"/>
                      </a:endParaRPr>
                    </a:p>
                    <a:p>
                      <a:pPr algn="just"/>
                      <a:r>
                        <a:rPr lang="en-US" altLang="zh-CN" sz="1200" kern="100" dirty="0">
                          <a:effectLst/>
                          <a:sym typeface="Wingdings" panose="05000000000000000000" pitchFamily="2" charset="2"/>
                        </a:rPr>
                        <a:t>PC+1PC</a:t>
                      </a:r>
                      <a:endParaRPr lang="en-US" altLang="zh-CN" sz="1200" kern="100" dirty="0">
                        <a:effectLst/>
                        <a:sym typeface="Wingdings" panose="05000000000000000000" pitchFamily="2" charset="2"/>
                      </a:endParaRPr>
                    </a:p>
                    <a:p>
                      <a:pPr algn="just"/>
                      <a:endParaRPr lang="zh-CN" sz="1600" kern="100" dirty="0">
                        <a:effectLst/>
                      </a:endParaRPr>
                    </a:p>
                    <a:p>
                      <a:pPr algn="just"/>
                      <a:r>
                        <a:rPr lang="en-US" sz="1600" kern="100" dirty="0">
                          <a:effectLst/>
                        </a:rPr>
                        <a:t> </a:t>
                      </a:r>
                      <a:endParaRPr lang="zh-CN" sz="1600" kern="100" dirty="0">
                        <a:effectLst/>
                      </a:endParaRPr>
                    </a:p>
                    <a:p>
                      <a:pPr algn="just"/>
                      <a:r>
                        <a:rPr lang="en-US" sz="1600" kern="100" dirty="0">
                          <a:effectLst/>
                        </a:rPr>
                        <a:t> </a:t>
                      </a:r>
                      <a:endParaRPr lang="zh-CN" sz="1600" kern="100" dirty="0">
                        <a:effectLst/>
                      </a:endParaRPr>
                    </a:p>
                    <a:p>
                      <a:pPr algn="just"/>
                      <a:r>
                        <a:rPr lang="en-US" sz="1600" kern="100" dirty="0">
                          <a:effectLst/>
                        </a:rPr>
                        <a:t> </a:t>
                      </a:r>
                      <a:endParaRPr lang="zh-CN" sz="1600" kern="100" dirty="0">
                        <a:effectLst/>
                      </a:endParaRPr>
                    </a:p>
                    <a:p>
                      <a:pPr algn="just"/>
                      <a:r>
                        <a:rPr lang="en-US" sz="1600" kern="100" dirty="0">
                          <a:effectLst/>
                        </a:rPr>
                        <a:t> </a:t>
                      </a:r>
                      <a:endParaRPr lang="zh-CN" sz="1600" kern="100" dirty="0">
                        <a:effectLst/>
                      </a:endParaRPr>
                    </a:p>
                    <a:p>
                      <a:pPr algn="just"/>
                      <a:r>
                        <a:rPr lang="en-US" sz="1600" kern="100" dirty="0">
                          <a:effectLst/>
                        </a:rPr>
                        <a:t> </a:t>
                      </a:r>
                      <a:endParaRPr lang="zh-CN" sz="1600" kern="100" dirty="0">
                        <a:effectLst/>
                      </a:endParaRPr>
                    </a:p>
                    <a:p>
                      <a:pPr algn="just"/>
                      <a:r>
                        <a:rPr lang="en-US" sz="1600" kern="100" dirty="0">
                          <a:effectLst/>
                        </a:rPr>
                        <a:t> </a:t>
                      </a:r>
                      <a:endParaRPr lang="zh-CN" sz="1600" kern="100" dirty="0">
                        <a:effectLst/>
                      </a:endParaRPr>
                    </a:p>
                    <a:p>
                      <a:pPr algn="just"/>
                      <a:r>
                        <a:rPr lang="en-US" sz="1600" kern="100" dirty="0">
                          <a:effectLst/>
                        </a:rPr>
                        <a:t> </a:t>
                      </a:r>
                      <a:endParaRPr lang="zh-CN" sz="1600" kern="100" dirty="0">
                        <a:effectLst/>
                      </a:endParaRPr>
                    </a:p>
                    <a:p>
                      <a:pPr algn="just"/>
                      <a:r>
                        <a:rPr lang="en-US" sz="1600" kern="100" dirty="0">
                          <a:effectLst/>
                        </a:rPr>
                        <a:t> </a:t>
                      </a:r>
                      <a:endParaRPr lang="zh-CN" sz="1600" kern="100" dirty="0">
                        <a:effectLst/>
                      </a:endParaRPr>
                    </a:p>
                    <a:p>
                      <a:pPr algn="just"/>
                      <a:r>
                        <a:rPr lang="en-US" sz="1600" kern="100" dirty="0">
                          <a:effectLst/>
                        </a:rPr>
                        <a:t> </a:t>
                      </a:r>
                      <a:endParaRPr lang="zh-CN" sz="1600" kern="100" dirty="0">
                        <a:effectLst/>
                      </a:endParaRPr>
                    </a:p>
                    <a:p>
                      <a:pPr algn="just"/>
                      <a:r>
                        <a:rPr lang="en-US" sz="1600" kern="100" dirty="0">
                          <a:effectLst/>
                        </a:rPr>
                        <a:t> 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altLang="zh-CN" sz="1200" kern="100" dirty="0">
                          <a:effectLst/>
                        </a:rPr>
                        <a:t>Ad(IR) </a:t>
                      </a:r>
                      <a:r>
                        <a:rPr lang="en-US" altLang="zh-CN" sz="1200" kern="100" dirty="0">
                          <a:effectLst/>
                          <a:sym typeface="Wingdings" panose="05000000000000000000" pitchFamily="2" charset="2"/>
                        </a:rPr>
                        <a:t> MAR</a:t>
                      </a:r>
                      <a:endParaRPr lang="en-US" altLang="zh-CN" sz="1200" kern="100" dirty="0">
                        <a:effectLst/>
                        <a:sym typeface="Wingdings" panose="05000000000000000000" pitchFamily="2" charset="2"/>
                      </a:endParaRPr>
                    </a:p>
                    <a:p>
                      <a:pPr algn="just"/>
                      <a:r>
                        <a:rPr lang="en-US" altLang="zh-CN" sz="1200" kern="100" dirty="0">
                          <a:effectLst/>
                          <a:sym typeface="Wingdings" panose="05000000000000000000" pitchFamily="2" charset="2"/>
                        </a:rPr>
                        <a:t>1R </a:t>
                      </a:r>
                      <a:endParaRPr lang="en-US" altLang="zh-CN" sz="1200" kern="100" dirty="0">
                        <a:effectLst/>
                        <a:sym typeface="Wingdings" panose="05000000000000000000" pitchFamily="2" charset="2"/>
                      </a:endParaRPr>
                    </a:p>
                    <a:p>
                      <a:pPr algn="just"/>
                      <a:r>
                        <a:rPr lang="en-US" altLang="zh-CN" sz="1200" kern="100" dirty="0">
                          <a:effectLst/>
                          <a:sym typeface="Wingdings" panose="05000000000000000000" pitchFamily="2" charset="2"/>
                        </a:rPr>
                        <a:t>M(MAR)MDR</a:t>
                      </a:r>
                      <a:endParaRPr lang="en-US" altLang="zh-CN" sz="1200" kern="100" dirty="0">
                        <a:effectLst/>
                        <a:sym typeface="Wingdings" panose="05000000000000000000" pitchFamily="2" charset="2"/>
                      </a:endParaRPr>
                    </a:p>
                    <a:p>
                      <a:pPr algn="just"/>
                      <a:r>
                        <a:rPr lang="en-US" altLang="zh-CN" sz="1200" kern="100" dirty="0" err="1">
                          <a:effectLst/>
                          <a:sym typeface="Wingdings" panose="05000000000000000000" pitchFamily="2" charset="2"/>
                        </a:rPr>
                        <a:t>MDRAd</a:t>
                      </a:r>
                      <a:r>
                        <a:rPr lang="en-US" altLang="zh-CN" sz="1200" kern="100" dirty="0">
                          <a:effectLst/>
                          <a:sym typeface="Wingdings" panose="05000000000000000000" pitchFamily="2" charset="2"/>
                        </a:rPr>
                        <a:t>(IR)</a:t>
                      </a:r>
                      <a:endParaRPr lang="en-US" altLang="zh-CN" sz="1200" kern="100" dirty="0">
                        <a:effectLst/>
                        <a:sym typeface="Wingdings" panose="05000000000000000000" pitchFamily="2" charset="2"/>
                      </a:endParaRPr>
                    </a:p>
                    <a:p>
                      <a:pPr algn="just"/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/>
                </a:tc>
                <a:tc>
                  <a:txBody>
                    <a:bodyPr/>
                    <a:lstStyle/>
                    <a:p>
                      <a:pPr algn="just"/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/>
                </a:tc>
                <a:tc>
                  <a:txBody>
                    <a:bodyPr/>
                    <a:lstStyle/>
                    <a:p>
                      <a:pPr algn="just"/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/>
                </a:tc>
                <a:tc>
                  <a:txBody>
                    <a:bodyPr/>
                    <a:lstStyle/>
                    <a:p>
                      <a:pPr algn="just"/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 kern="100" dirty="0">
                          <a:effectLst/>
                        </a:rPr>
                        <a:t> </a:t>
                      </a:r>
                      <a:endParaRPr lang="en-US" altLang="zh-CN" sz="12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  <a:sym typeface="Wingdings" panose="05000000000000000000" pitchFamily="2" charset="2"/>
                      </a:endParaRPr>
                    </a:p>
                  </a:txBody>
                  <a:tcPr marL="68589" marR="68589" marT="0" marB="0"/>
                </a:tc>
              </a:tr>
            </a:tbl>
          </a:graphicData>
        </a:graphic>
      </p:graphicFrame>
      <p:sp>
        <p:nvSpPr>
          <p:cNvPr id="4" name="Text Box 4"/>
          <p:cNvSpPr txBox="1"/>
          <p:nvPr/>
        </p:nvSpPr>
        <p:spPr>
          <a:xfrm>
            <a:off x="835025" y="476250"/>
            <a:ext cx="5105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zh-CN" altLang="en-US" sz="2400" dirty="0">
                <a:latin typeface="等线" panose="02010600030101010101" pitchFamily="2" charset="-122"/>
              </a:rPr>
              <a:t>微操作节拍安排</a:t>
            </a:r>
            <a:endParaRPr lang="zh-CN" altLang="en-US" sz="2400" dirty="0">
              <a:solidFill>
                <a:schemeClr val="folHlink"/>
              </a:solidFill>
              <a:latin typeface="等线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827088" y="1268413"/>
          <a:ext cx="7489825" cy="4397375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267844"/>
                <a:gridCol w="1219081"/>
                <a:gridCol w="1267844"/>
                <a:gridCol w="1257469"/>
                <a:gridCol w="1257469"/>
                <a:gridCol w="1220119"/>
              </a:tblGrid>
              <a:tr h="308651">
                <a:tc rowSpan="2">
                  <a:txBody>
                    <a:bodyPr/>
                    <a:lstStyle/>
                    <a:p>
                      <a:pPr algn="just"/>
                      <a:r>
                        <a:rPr lang="zh-CN" sz="1600" kern="100" dirty="0">
                          <a:effectLst/>
                        </a:rPr>
                        <a:t>取指周期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 anchor="ctr"/>
                </a:tc>
                <a:tc rowSpan="2">
                  <a:txBody>
                    <a:bodyPr/>
                    <a:lstStyle/>
                    <a:p>
                      <a:pPr algn="just"/>
                      <a:r>
                        <a:rPr lang="zh-CN" sz="1600" kern="100" dirty="0">
                          <a:effectLst/>
                        </a:rPr>
                        <a:t>间址周期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zh-CN" sz="1600" kern="100">
                          <a:effectLst/>
                        </a:rPr>
                        <a:t>执行周期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 anchor="ctr"/>
                </a:tc>
                <a:tc hMerge="1">
                  <a:tcPr/>
                </a:tc>
                <a:tc hMerge="1">
                  <a:tcPr/>
                </a:tc>
                <a:tc rowSpan="2">
                  <a:txBody>
                    <a:bodyPr/>
                    <a:lstStyle/>
                    <a:p>
                      <a:pPr algn="just"/>
                      <a:r>
                        <a:rPr lang="zh-CN" sz="1600" kern="100">
                          <a:effectLst/>
                        </a:rPr>
                        <a:t>中断周期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 anchor="ctr"/>
                </a:tc>
              </a:tr>
              <a:tr h="308651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00">
                          <a:effectLst/>
                        </a:rPr>
                        <a:t>ADD X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00">
                          <a:effectLst/>
                        </a:rPr>
                        <a:t>STA X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00">
                          <a:effectLst/>
                        </a:rPr>
                        <a:t>LDA X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 anchor="ctr"/>
                </a:tc>
                <a:tc vMerge="1">
                  <a:tcPr/>
                </a:tc>
              </a:tr>
              <a:tr h="3780073">
                <a:tc>
                  <a:txBody>
                    <a:bodyPr/>
                    <a:lstStyle/>
                    <a:p>
                      <a:pPr algn="just"/>
                      <a:r>
                        <a:rPr lang="en-US" sz="1200" kern="100" dirty="0">
                          <a:effectLst/>
                        </a:rPr>
                        <a:t>PC </a:t>
                      </a:r>
                      <a:r>
                        <a:rPr lang="en-US" sz="1200" kern="100" dirty="0">
                          <a:effectLst/>
                          <a:sym typeface="Wingdings" panose="05000000000000000000" pitchFamily="2" charset="2"/>
                        </a:rPr>
                        <a:t> MAR</a:t>
                      </a:r>
                      <a:endParaRPr lang="en-US" sz="1200" kern="100" dirty="0">
                        <a:effectLst/>
                        <a:sym typeface="Wingdings" panose="05000000000000000000" pitchFamily="2" charset="2"/>
                      </a:endParaRPr>
                    </a:p>
                    <a:p>
                      <a:pPr algn="just"/>
                      <a:r>
                        <a:rPr lang="en-US" altLang="zh-CN" sz="1200" kern="100" dirty="0">
                          <a:effectLst/>
                          <a:sym typeface="Wingdings" panose="05000000000000000000" pitchFamily="2" charset="2"/>
                        </a:rPr>
                        <a:t>1R </a:t>
                      </a:r>
                      <a:endParaRPr lang="en-US" altLang="zh-CN" sz="1200" kern="100" dirty="0">
                        <a:effectLst/>
                        <a:sym typeface="Wingdings" panose="05000000000000000000" pitchFamily="2" charset="2"/>
                      </a:endParaRPr>
                    </a:p>
                    <a:p>
                      <a:pPr algn="just"/>
                      <a:r>
                        <a:rPr lang="en-US" altLang="zh-CN" sz="1200" kern="100" dirty="0">
                          <a:effectLst/>
                          <a:sym typeface="Wingdings" panose="05000000000000000000" pitchFamily="2" charset="2"/>
                        </a:rPr>
                        <a:t>M(MAR)MDR</a:t>
                      </a:r>
                      <a:endParaRPr lang="en-US" altLang="zh-CN" sz="1200" kern="100" dirty="0">
                        <a:effectLst/>
                        <a:sym typeface="Wingdings" panose="05000000000000000000" pitchFamily="2" charset="2"/>
                      </a:endParaRPr>
                    </a:p>
                    <a:p>
                      <a:pPr algn="just"/>
                      <a:r>
                        <a:rPr lang="en-US" altLang="zh-CN" sz="1200" kern="100" dirty="0">
                          <a:effectLst/>
                          <a:sym typeface="Wingdings" panose="05000000000000000000" pitchFamily="2" charset="2"/>
                        </a:rPr>
                        <a:t>MDRIR</a:t>
                      </a:r>
                      <a:endParaRPr lang="en-US" altLang="zh-CN" sz="1200" kern="100" dirty="0">
                        <a:effectLst/>
                        <a:sym typeface="Wingdings" panose="05000000000000000000" pitchFamily="2" charset="2"/>
                      </a:endParaRPr>
                    </a:p>
                    <a:p>
                      <a:pPr algn="just"/>
                      <a:r>
                        <a:rPr lang="en-US" altLang="zh-CN" sz="1200" kern="100" dirty="0">
                          <a:effectLst/>
                          <a:sym typeface="Wingdings" panose="05000000000000000000" pitchFamily="2" charset="2"/>
                        </a:rPr>
                        <a:t>Op(IR)CU</a:t>
                      </a:r>
                      <a:endParaRPr lang="en-US" altLang="zh-CN" sz="1200" kern="100" dirty="0">
                        <a:effectLst/>
                        <a:sym typeface="Wingdings" panose="05000000000000000000" pitchFamily="2" charset="2"/>
                      </a:endParaRPr>
                    </a:p>
                    <a:p>
                      <a:pPr algn="just"/>
                      <a:r>
                        <a:rPr lang="en-US" altLang="zh-CN" sz="1200" kern="100" dirty="0">
                          <a:effectLst/>
                          <a:sym typeface="Wingdings" panose="05000000000000000000" pitchFamily="2" charset="2"/>
                        </a:rPr>
                        <a:t>PC+1PC</a:t>
                      </a:r>
                      <a:endParaRPr lang="en-US" altLang="zh-CN" sz="1200" kern="100" dirty="0">
                        <a:effectLst/>
                        <a:sym typeface="Wingdings" panose="05000000000000000000" pitchFamily="2" charset="2"/>
                      </a:endParaRPr>
                    </a:p>
                    <a:p>
                      <a:pPr algn="just"/>
                      <a:endParaRPr lang="zh-CN" sz="1600" kern="100" dirty="0">
                        <a:effectLst/>
                      </a:endParaRPr>
                    </a:p>
                    <a:p>
                      <a:pPr algn="just"/>
                      <a:r>
                        <a:rPr lang="en-US" sz="1600" kern="100" dirty="0">
                          <a:effectLst/>
                        </a:rPr>
                        <a:t> </a:t>
                      </a:r>
                      <a:endParaRPr lang="zh-CN" sz="1600" kern="100" dirty="0">
                        <a:effectLst/>
                      </a:endParaRPr>
                    </a:p>
                    <a:p>
                      <a:pPr algn="just"/>
                      <a:r>
                        <a:rPr lang="en-US" sz="1600" kern="100" dirty="0">
                          <a:effectLst/>
                        </a:rPr>
                        <a:t> </a:t>
                      </a:r>
                      <a:endParaRPr lang="zh-CN" sz="1600" kern="100" dirty="0">
                        <a:effectLst/>
                      </a:endParaRPr>
                    </a:p>
                    <a:p>
                      <a:pPr algn="just"/>
                      <a:r>
                        <a:rPr lang="en-US" sz="1600" kern="100" dirty="0">
                          <a:effectLst/>
                        </a:rPr>
                        <a:t> </a:t>
                      </a:r>
                      <a:endParaRPr lang="zh-CN" sz="1600" kern="100" dirty="0">
                        <a:effectLst/>
                      </a:endParaRPr>
                    </a:p>
                    <a:p>
                      <a:pPr algn="just"/>
                      <a:r>
                        <a:rPr lang="en-US" sz="1600" kern="100" dirty="0">
                          <a:effectLst/>
                        </a:rPr>
                        <a:t> </a:t>
                      </a:r>
                      <a:endParaRPr lang="zh-CN" sz="1600" kern="100" dirty="0">
                        <a:effectLst/>
                      </a:endParaRPr>
                    </a:p>
                    <a:p>
                      <a:pPr algn="just"/>
                      <a:r>
                        <a:rPr lang="en-US" sz="1600" kern="100" dirty="0">
                          <a:effectLst/>
                        </a:rPr>
                        <a:t> </a:t>
                      </a:r>
                      <a:endParaRPr lang="zh-CN" sz="1600" kern="100" dirty="0">
                        <a:effectLst/>
                      </a:endParaRPr>
                    </a:p>
                    <a:p>
                      <a:pPr algn="just"/>
                      <a:r>
                        <a:rPr lang="en-US" sz="1600" kern="100" dirty="0">
                          <a:effectLst/>
                        </a:rPr>
                        <a:t> </a:t>
                      </a:r>
                      <a:endParaRPr lang="zh-CN" sz="1600" kern="100" dirty="0">
                        <a:effectLst/>
                      </a:endParaRPr>
                    </a:p>
                    <a:p>
                      <a:pPr algn="just"/>
                      <a:r>
                        <a:rPr lang="en-US" sz="1600" kern="100" dirty="0">
                          <a:effectLst/>
                        </a:rPr>
                        <a:t> </a:t>
                      </a:r>
                      <a:endParaRPr lang="zh-CN" sz="1600" kern="100" dirty="0">
                        <a:effectLst/>
                      </a:endParaRPr>
                    </a:p>
                    <a:p>
                      <a:pPr algn="just"/>
                      <a:r>
                        <a:rPr lang="en-US" sz="1600" kern="100" dirty="0">
                          <a:effectLst/>
                        </a:rPr>
                        <a:t> </a:t>
                      </a:r>
                      <a:endParaRPr lang="zh-CN" sz="1600" kern="100" dirty="0">
                        <a:effectLst/>
                      </a:endParaRPr>
                    </a:p>
                    <a:p>
                      <a:pPr algn="just"/>
                      <a:r>
                        <a:rPr lang="en-US" sz="1600" kern="100" dirty="0">
                          <a:effectLst/>
                        </a:rPr>
                        <a:t> </a:t>
                      </a:r>
                      <a:endParaRPr lang="zh-CN" sz="1600" kern="100" dirty="0">
                        <a:effectLst/>
                      </a:endParaRPr>
                    </a:p>
                    <a:p>
                      <a:pPr algn="just"/>
                      <a:r>
                        <a:rPr lang="en-US" sz="1600" kern="100" dirty="0">
                          <a:effectLst/>
                        </a:rPr>
                        <a:t> 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altLang="zh-CN" sz="1200" kern="100" dirty="0">
                          <a:effectLst/>
                        </a:rPr>
                        <a:t>Ad(IR) </a:t>
                      </a:r>
                      <a:r>
                        <a:rPr lang="en-US" altLang="zh-CN" sz="1200" kern="100" dirty="0">
                          <a:effectLst/>
                          <a:sym typeface="Wingdings" panose="05000000000000000000" pitchFamily="2" charset="2"/>
                        </a:rPr>
                        <a:t> MAR</a:t>
                      </a:r>
                      <a:endParaRPr lang="en-US" altLang="zh-CN" sz="1200" kern="100" dirty="0">
                        <a:effectLst/>
                        <a:sym typeface="Wingdings" panose="05000000000000000000" pitchFamily="2" charset="2"/>
                      </a:endParaRPr>
                    </a:p>
                    <a:p>
                      <a:pPr algn="just"/>
                      <a:r>
                        <a:rPr lang="en-US" altLang="zh-CN" sz="1200" kern="100" dirty="0">
                          <a:effectLst/>
                          <a:sym typeface="Wingdings" panose="05000000000000000000" pitchFamily="2" charset="2"/>
                        </a:rPr>
                        <a:t>1R </a:t>
                      </a:r>
                      <a:endParaRPr lang="en-US" altLang="zh-CN" sz="1200" kern="100" dirty="0">
                        <a:effectLst/>
                        <a:sym typeface="Wingdings" panose="05000000000000000000" pitchFamily="2" charset="2"/>
                      </a:endParaRPr>
                    </a:p>
                    <a:p>
                      <a:pPr algn="just"/>
                      <a:r>
                        <a:rPr lang="en-US" altLang="zh-CN" sz="1200" kern="100" dirty="0">
                          <a:effectLst/>
                          <a:sym typeface="Wingdings" panose="05000000000000000000" pitchFamily="2" charset="2"/>
                        </a:rPr>
                        <a:t>M(MAR)MDR</a:t>
                      </a:r>
                      <a:endParaRPr lang="en-US" altLang="zh-CN" sz="1200" kern="100" dirty="0">
                        <a:effectLst/>
                        <a:sym typeface="Wingdings" panose="05000000000000000000" pitchFamily="2" charset="2"/>
                      </a:endParaRPr>
                    </a:p>
                    <a:p>
                      <a:pPr algn="just"/>
                      <a:r>
                        <a:rPr lang="en-US" altLang="zh-CN" sz="1200" kern="100" dirty="0" err="1">
                          <a:effectLst/>
                          <a:sym typeface="Wingdings" panose="05000000000000000000" pitchFamily="2" charset="2"/>
                        </a:rPr>
                        <a:t>MDRAd</a:t>
                      </a:r>
                      <a:r>
                        <a:rPr lang="en-US" altLang="zh-CN" sz="1200" kern="100" dirty="0">
                          <a:effectLst/>
                          <a:sym typeface="Wingdings" panose="05000000000000000000" pitchFamily="2" charset="2"/>
                        </a:rPr>
                        <a:t>(IR)</a:t>
                      </a:r>
                      <a:endParaRPr lang="en-US" altLang="zh-CN" sz="1200" kern="100" dirty="0">
                        <a:effectLst/>
                        <a:sym typeface="Wingdings" panose="05000000000000000000" pitchFamily="2" charset="2"/>
                      </a:endParaRPr>
                    </a:p>
                    <a:p>
                      <a:pPr algn="just"/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altLang="zh-CN" sz="1200" kern="100" dirty="0">
                          <a:effectLst/>
                        </a:rPr>
                        <a:t>Ad(IR) </a:t>
                      </a:r>
                      <a:r>
                        <a:rPr lang="en-US" altLang="zh-CN" sz="1200" kern="100" dirty="0">
                          <a:effectLst/>
                          <a:sym typeface="Wingdings" panose="05000000000000000000" pitchFamily="2" charset="2"/>
                        </a:rPr>
                        <a:t> MAR</a:t>
                      </a:r>
                      <a:endParaRPr lang="en-US" altLang="zh-CN" sz="1200" kern="100" dirty="0">
                        <a:effectLst/>
                        <a:sym typeface="Wingdings" panose="05000000000000000000" pitchFamily="2" charset="2"/>
                      </a:endParaRPr>
                    </a:p>
                    <a:p>
                      <a:pPr algn="just"/>
                      <a:r>
                        <a:rPr lang="en-US" altLang="zh-CN" sz="1200" kern="100" dirty="0">
                          <a:effectLst/>
                          <a:sym typeface="Wingdings" panose="05000000000000000000" pitchFamily="2" charset="2"/>
                        </a:rPr>
                        <a:t>1R </a:t>
                      </a:r>
                      <a:endParaRPr lang="en-US" altLang="zh-CN" sz="1200" kern="100" dirty="0">
                        <a:effectLst/>
                        <a:sym typeface="Wingdings" panose="05000000000000000000" pitchFamily="2" charset="2"/>
                      </a:endParaRPr>
                    </a:p>
                    <a:p>
                      <a:pPr algn="just"/>
                      <a:r>
                        <a:rPr lang="en-US" altLang="zh-CN" sz="1200" kern="100" dirty="0">
                          <a:effectLst/>
                          <a:sym typeface="Wingdings" panose="05000000000000000000" pitchFamily="2" charset="2"/>
                        </a:rPr>
                        <a:t>M(MAR)MDR</a:t>
                      </a:r>
                      <a:endParaRPr lang="en-US" altLang="zh-CN" sz="1200" kern="100" dirty="0">
                        <a:effectLst/>
                        <a:sym typeface="Wingdings" panose="05000000000000000000" pitchFamily="2" charset="2"/>
                      </a:endParaRPr>
                    </a:p>
                    <a:p>
                      <a:pPr algn="just"/>
                      <a:r>
                        <a:rPr lang="en-US" altLang="zh-CN" sz="1200" kern="100" dirty="0">
                          <a:effectLst/>
                          <a:sym typeface="Wingdings" panose="05000000000000000000" pitchFamily="2" charset="2"/>
                        </a:rPr>
                        <a:t>(MDR)+(ACC)ACC</a:t>
                      </a:r>
                      <a:endParaRPr lang="en-US" altLang="zh-CN" sz="1200" kern="100" dirty="0">
                        <a:effectLst/>
                        <a:sym typeface="Wingdings" panose="05000000000000000000" pitchFamily="2" charset="2"/>
                      </a:endParaRPr>
                    </a:p>
                    <a:p>
                      <a:pPr algn="just"/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/>
                </a:tc>
                <a:tc>
                  <a:txBody>
                    <a:bodyPr/>
                    <a:lstStyle/>
                    <a:p>
                      <a:pPr algn="just"/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/>
                </a:tc>
                <a:tc>
                  <a:txBody>
                    <a:bodyPr/>
                    <a:lstStyle/>
                    <a:p>
                      <a:pPr algn="just"/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 kern="100" dirty="0">
                          <a:effectLst/>
                        </a:rPr>
                        <a:t> </a:t>
                      </a:r>
                      <a:endParaRPr lang="en-US" altLang="zh-CN" sz="12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  <a:sym typeface="Wingdings" panose="05000000000000000000" pitchFamily="2" charset="2"/>
                      </a:endParaRPr>
                    </a:p>
                  </a:txBody>
                  <a:tcPr marL="68589" marR="68589" marT="0" marB="0"/>
                </a:tc>
              </a:tr>
            </a:tbl>
          </a:graphicData>
        </a:graphic>
      </p:graphicFrame>
      <p:sp>
        <p:nvSpPr>
          <p:cNvPr id="4" name="Text Box 4"/>
          <p:cNvSpPr txBox="1"/>
          <p:nvPr/>
        </p:nvSpPr>
        <p:spPr>
          <a:xfrm>
            <a:off x="835025" y="476250"/>
            <a:ext cx="5105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zh-CN" altLang="en-US" sz="2400" dirty="0">
                <a:latin typeface="等线" panose="02010600030101010101" pitchFamily="2" charset="-122"/>
              </a:rPr>
              <a:t>微操作节拍安排</a:t>
            </a:r>
            <a:endParaRPr lang="zh-CN" altLang="en-US" sz="2400" dirty="0">
              <a:solidFill>
                <a:schemeClr val="folHlink"/>
              </a:solidFill>
              <a:latin typeface="等线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827088" y="1268413"/>
          <a:ext cx="7489825" cy="4397375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267844"/>
                <a:gridCol w="1219081"/>
                <a:gridCol w="1267844"/>
                <a:gridCol w="1257469"/>
                <a:gridCol w="1257469"/>
                <a:gridCol w="1220119"/>
              </a:tblGrid>
              <a:tr h="308651">
                <a:tc rowSpan="2">
                  <a:txBody>
                    <a:bodyPr/>
                    <a:lstStyle/>
                    <a:p>
                      <a:pPr algn="just"/>
                      <a:r>
                        <a:rPr lang="zh-CN" sz="1600" kern="100" dirty="0">
                          <a:effectLst/>
                        </a:rPr>
                        <a:t>取指周期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 anchor="ctr"/>
                </a:tc>
                <a:tc rowSpan="2">
                  <a:txBody>
                    <a:bodyPr/>
                    <a:lstStyle/>
                    <a:p>
                      <a:pPr algn="just"/>
                      <a:r>
                        <a:rPr lang="zh-CN" sz="1600" kern="100" dirty="0">
                          <a:effectLst/>
                        </a:rPr>
                        <a:t>间址周期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zh-CN" sz="1600" kern="100">
                          <a:effectLst/>
                        </a:rPr>
                        <a:t>执行周期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 anchor="ctr"/>
                </a:tc>
                <a:tc hMerge="1">
                  <a:tcPr/>
                </a:tc>
                <a:tc hMerge="1">
                  <a:tcPr/>
                </a:tc>
                <a:tc rowSpan="2">
                  <a:txBody>
                    <a:bodyPr/>
                    <a:lstStyle/>
                    <a:p>
                      <a:pPr algn="just"/>
                      <a:r>
                        <a:rPr lang="zh-CN" sz="1600" kern="100">
                          <a:effectLst/>
                        </a:rPr>
                        <a:t>中断周期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 anchor="ctr"/>
                </a:tc>
              </a:tr>
              <a:tr h="308651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00">
                          <a:effectLst/>
                        </a:rPr>
                        <a:t>ADD X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00">
                          <a:effectLst/>
                        </a:rPr>
                        <a:t>STA X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00">
                          <a:effectLst/>
                        </a:rPr>
                        <a:t>LDA X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 anchor="ctr"/>
                </a:tc>
                <a:tc vMerge="1">
                  <a:tcPr/>
                </a:tc>
              </a:tr>
              <a:tr h="3780073">
                <a:tc>
                  <a:txBody>
                    <a:bodyPr/>
                    <a:lstStyle/>
                    <a:p>
                      <a:pPr algn="just"/>
                      <a:r>
                        <a:rPr lang="en-US" sz="1200" kern="100" dirty="0">
                          <a:effectLst/>
                        </a:rPr>
                        <a:t>PC </a:t>
                      </a:r>
                      <a:r>
                        <a:rPr lang="en-US" sz="1200" kern="100" dirty="0">
                          <a:effectLst/>
                          <a:sym typeface="Wingdings" panose="05000000000000000000" pitchFamily="2" charset="2"/>
                        </a:rPr>
                        <a:t> MAR</a:t>
                      </a:r>
                      <a:endParaRPr lang="en-US" sz="1200" kern="100" dirty="0">
                        <a:effectLst/>
                        <a:sym typeface="Wingdings" panose="05000000000000000000" pitchFamily="2" charset="2"/>
                      </a:endParaRPr>
                    </a:p>
                    <a:p>
                      <a:pPr algn="just"/>
                      <a:r>
                        <a:rPr lang="en-US" altLang="zh-CN" sz="1200" kern="100" dirty="0">
                          <a:effectLst/>
                          <a:sym typeface="Wingdings" panose="05000000000000000000" pitchFamily="2" charset="2"/>
                        </a:rPr>
                        <a:t>1R </a:t>
                      </a:r>
                      <a:endParaRPr lang="en-US" altLang="zh-CN" sz="1200" kern="100" dirty="0">
                        <a:effectLst/>
                        <a:sym typeface="Wingdings" panose="05000000000000000000" pitchFamily="2" charset="2"/>
                      </a:endParaRPr>
                    </a:p>
                    <a:p>
                      <a:pPr algn="just"/>
                      <a:r>
                        <a:rPr lang="en-US" altLang="zh-CN" sz="1200" kern="100" dirty="0">
                          <a:effectLst/>
                          <a:sym typeface="Wingdings" panose="05000000000000000000" pitchFamily="2" charset="2"/>
                        </a:rPr>
                        <a:t>M(MAR)MDR</a:t>
                      </a:r>
                      <a:endParaRPr lang="en-US" altLang="zh-CN" sz="1200" kern="100" dirty="0">
                        <a:effectLst/>
                        <a:sym typeface="Wingdings" panose="05000000000000000000" pitchFamily="2" charset="2"/>
                      </a:endParaRPr>
                    </a:p>
                    <a:p>
                      <a:pPr algn="just"/>
                      <a:r>
                        <a:rPr lang="en-US" altLang="zh-CN" sz="1200" kern="100" dirty="0">
                          <a:effectLst/>
                          <a:sym typeface="Wingdings" panose="05000000000000000000" pitchFamily="2" charset="2"/>
                        </a:rPr>
                        <a:t>MDRIR</a:t>
                      </a:r>
                      <a:endParaRPr lang="en-US" altLang="zh-CN" sz="1200" kern="100" dirty="0">
                        <a:effectLst/>
                        <a:sym typeface="Wingdings" panose="05000000000000000000" pitchFamily="2" charset="2"/>
                      </a:endParaRPr>
                    </a:p>
                    <a:p>
                      <a:pPr algn="just"/>
                      <a:r>
                        <a:rPr lang="en-US" altLang="zh-CN" sz="1200" kern="100" dirty="0">
                          <a:effectLst/>
                          <a:sym typeface="Wingdings" panose="05000000000000000000" pitchFamily="2" charset="2"/>
                        </a:rPr>
                        <a:t>Op(IR)CU</a:t>
                      </a:r>
                      <a:endParaRPr lang="en-US" altLang="zh-CN" sz="1200" kern="100" dirty="0">
                        <a:effectLst/>
                        <a:sym typeface="Wingdings" panose="05000000000000000000" pitchFamily="2" charset="2"/>
                      </a:endParaRPr>
                    </a:p>
                    <a:p>
                      <a:pPr algn="just"/>
                      <a:r>
                        <a:rPr lang="en-US" altLang="zh-CN" sz="1200" kern="100" dirty="0">
                          <a:effectLst/>
                          <a:sym typeface="Wingdings" panose="05000000000000000000" pitchFamily="2" charset="2"/>
                        </a:rPr>
                        <a:t>PC+1PC</a:t>
                      </a:r>
                      <a:endParaRPr lang="en-US" altLang="zh-CN" sz="1200" kern="100" dirty="0">
                        <a:effectLst/>
                        <a:sym typeface="Wingdings" panose="05000000000000000000" pitchFamily="2" charset="2"/>
                      </a:endParaRPr>
                    </a:p>
                    <a:p>
                      <a:pPr algn="just"/>
                      <a:endParaRPr lang="zh-CN" sz="1600" kern="100" dirty="0">
                        <a:effectLst/>
                      </a:endParaRPr>
                    </a:p>
                    <a:p>
                      <a:pPr algn="just"/>
                      <a:r>
                        <a:rPr lang="en-US" sz="1600" kern="100" dirty="0">
                          <a:effectLst/>
                        </a:rPr>
                        <a:t> </a:t>
                      </a:r>
                      <a:endParaRPr lang="zh-CN" sz="1600" kern="100" dirty="0">
                        <a:effectLst/>
                      </a:endParaRPr>
                    </a:p>
                    <a:p>
                      <a:pPr algn="just"/>
                      <a:r>
                        <a:rPr lang="en-US" sz="1600" kern="100" dirty="0">
                          <a:effectLst/>
                        </a:rPr>
                        <a:t> </a:t>
                      </a:r>
                      <a:endParaRPr lang="zh-CN" sz="1600" kern="100" dirty="0">
                        <a:effectLst/>
                      </a:endParaRPr>
                    </a:p>
                    <a:p>
                      <a:pPr algn="just"/>
                      <a:r>
                        <a:rPr lang="en-US" sz="1600" kern="100" dirty="0">
                          <a:effectLst/>
                        </a:rPr>
                        <a:t> </a:t>
                      </a:r>
                      <a:endParaRPr lang="zh-CN" sz="1600" kern="100" dirty="0">
                        <a:effectLst/>
                      </a:endParaRPr>
                    </a:p>
                    <a:p>
                      <a:pPr algn="just"/>
                      <a:r>
                        <a:rPr lang="en-US" sz="1600" kern="100" dirty="0">
                          <a:effectLst/>
                        </a:rPr>
                        <a:t> </a:t>
                      </a:r>
                      <a:endParaRPr lang="zh-CN" sz="1600" kern="100" dirty="0">
                        <a:effectLst/>
                      </a:endParaRPr>
                    </a:p>
                    <a:p>
                      <a:pPr algn="just"/>
                      <a:r>
                        <a:rPr lang="en-US" sz="1600" kern="100" dirty="0">
                          <a:effectLst/>
                        </a:rPr>
                        <a:t> </a:t>
                      </a:r>
                      <a:endParaRPr lang="zh-CN" sz="1600" kern="100" dirty="0">
                        <a:effectLst/>
                      </a:endParaRPr>
                    </a:p>
                    <a:p>
                      <a:pPr algn="just"/>
                      <a:r>
                        <a:rPr lang="en-US" sz="1600" kern="100" dirty="0">
                          <a:effectLst/>
                        </a:rPr>
                        <a:t> </a:t>
                      </a:r>
                      <a:endParaRPr lang="zh-CN" sz="1600" kern="100" dirty="0">
                        <a:effectLst/>
                      </a:endParaRPr>
                    </a:p>
                    <a:p>
                      <a:pPr algn="just"/>
                      <a:r>
                        <a:rPr lang="en-US" sz="1600" kern="100" dirty="0">
                          <a:effectLst/>
                        </a:rPr>
                        <a:t> </a:t>
                      </a:r>
                      <a:endParaRPr lang="zh-CN" sz="1600" kern="100" dirty="0">
                        <a:effectLst/>
                      </a:endParaRPr>
                    </a:p>
                    <a:p>
                      <a:pPr algn="just"/>
                      <a:r>
                        <a:rPr lang="en-US" sz="1600" kern="100" dirty="0">
                          <a:effectLst/>
                        </a:rPr>
                        <a:t> </a:t>
                      </a:r>
                      <a:endParaRPr lang="zh-CN" sz="1600" kern="100" dirty="0">
                        <a:effectLst/>
                      </a:endParaRPr>
                    </a:p>
                    <a:p>
                      <a:pPr algn="just"/>
                      <a:r>
                        <a:rPr lang="en-US" sz="1600" kern="100" dirty="0">
                          <a:effectLst/>
                        </a:rPr>
                        <a:t> </a:t>
                      </a:r>
                      <a:endParaRPr lang="zh-CN" sz="1600" kern="100" dirty="0">
                        <a:effectLst/>
                      </a:endParaRPr>
                    </a:p>
                    <a:p>
                      <a:pPr algn="just"/>
                      <a:r>
                        <a:rPr lang="en-US" sz="1600" kern="100" dirty="0">
                          <a:effectLst/>
                        </a:rPr>
                        <a:t> 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altLang="zh-CN" sz="1200" kern="100" dirty="0">
                          <a:effectLst/>
                        </a:rPr>
                        <a:t>Ad(IR) </a:t>
                      </a:r>
                      <a:r>
                        <a:rPr lang="en-US" altLang="zh-CN" sz="1200" kern="100" dirty="0">
                          <a:effectLst/>
                          <a:sym typeface="Wingdings" panose="05000000000000000000" pitchFamily="2" charset="2"/>
                        </a:rPr>
                        <a:t> MAR</a:t>
                      </a:r>
                      <a:endParaRPr lang="en-US" altLang="zh-CN" sz="1200" kern="100" dirty="0">
                        <a:effectLst/>
                        <a:sym typeface="Wingdings" panose="05000000000000000000" pitchFamily="2" charset="2"/>
                      </a:endParaRPr>
                    </a:p>
                    <a:p>
                      <a:pPr algn="just"/>
                      <a:r>
                        <a:rPr lang="en-US" altLang="zh-CN" sz="1200" kern="100" dirty="0">
                          <a:effectLst/>
                          <a:sym typeface="Wingdings" panose="05000000000000000000" pitchFamily="2" charset="2"/>
                        </a:rPr>
                        <a:t>1R </a:t>
                      </a:r>
                      <a:endParaRPr lang="en-US" altLang="zh-CN" sz="1200" kern="100" dirty="0">
                        <a:effectLst/>
                        <a:sym typeface="Wingdings" panose="05000000000000000000" pitchFamily="2" charset="2"/>
                      </a:endParaRPr>
                    </a:p>
                    <a:p>
                      <a:pPr algn="just"/>
                      <a:r>
                        <a:rPr lang="en-US" altLang="zh-CN" sz="1200" kern="100" dirty="0">
                          <a:effectLst/>
                          <a:sym typeface="Wingdings" panose="05000000000000000000" pitchFamily="2" charset="2"/>
                        </a:rPr>
                        <a:t>M(MAR)MDR</a:t>
                      </a:r>
                      <a:endParaRPr lang="en-US" altLang="zh-CN" sz="1200" kern="100" dirty="0">
                        <a:effectLst/>
                        <a:sym typeface="Wingdings" panose="05000000000000000000" pitchFamily="2" charset="2"/>
                      </a:endParaRPr>
                    </a:p>
                    <a:p>
                      <a:pPr algn="just"/>
                      <a:r>
                        <a:rPr lang="en-US" altLang="zh-CN" sz="1200" kern="100" dirty="0" err="1">
                          <a:effectLst/>
                          <a:sym typeface="Wingdings" panose="05000000000000000000" pitchFamily="2" charset="2"/>
                        </a:rPr>
                        <a:t>MDRAd</a:t>
                      </a:r>
                      <a:r>
                        <a:rPr lang="en-US" altLang="zh-CN" sz="1200" kern="100" dirty="0">
                          <a:effectLst/>
                          <a:sym typeface="Wingdings" panose="05000000000000000000" pitchFamily="2" charset="2"/>
                        </a:rPr>
                        <a:t>(IR)</a:t>
                      </a:r>
                      <a:endParaRPr lang="en-US" altLang="zh-CN" sz="1200" kern="100" dirty="0">
                        <a:effectLst/>
                        <a:sym typeface="Wingdings" panose="05000000000000000000" pitchFamily="2" charset="2"/>
                      </a:endParaRPr>
                    </a:p>
                    <a:p>
                      <a:pPr algn="just"/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altLang="zh-CN" sz="1200" kern="100" dirty="0">
                          <a:effectLst/>
                        </a:rPr>
                        <a:t>Ad(IR) </a:t>
                      </a:r>
                      <a:r>
                        <a:rPr lang="en-US" altLang="zh-CN" sz="1200" kern="100" dirty="0">
                          <a:effectLst/>
                          <a:sym typeface="Wingdings" panose="05000000000000000000" pitchFamily="2" charset="2"/>
                        </a:rPr>
                        <a:t> MAR</a:t>
                      </a:r>
                      <a:endParaRPr lang="en-US" altLang="zh-CN" sz="1200" kern="100" dirty="0">
                        <a:effectLst/>
                        <a:sym typeface="Wingdings" panose="05000000000000000000" pitchFamily="2" charset="2"/>
                      </a:endParaRPr>
                    </a:p>
                    <a:p>
                      <a:pPr algn="just"/>
                      <a:r>
                        <a:rPr lang="en-US" altLang="zh-CN" sz="1200" kern="100" dirty="0">
                          <a:effectLst/>
                          <a:sym typeface="Wingdings" panose="05000000000000000000" pitchFamily="2" charset="2"/>
                        </a:rPr>
                        <a:t>1R </a:t>
                      </a:r>
                      <a:endParaRPr lang="en-US" altLang="zh-CN" sz="1200" kern="100" dirty="0">
                        <a:effectLst/>
                        <a:sym typeface="Wingdings" panose="05000000000000000000" pitchFamily="2" charset="2"/>
                      </a:endParaRPr>
                    </a:p>
                    <a:p>
                      <a:pPr algn="just"/>
                      <a:r>
                        <a:rPr lang="en-US" altLang="zh-CN" sz="1200" kern="100" dirty="0">
                          <a:effectLst/>
                          <a:sym typeface="Wingdings" panose="05000000000000000000" pitchFamily="2" charset="2"/>
                        </a:rPr>
                        <a:t>M(MAR)MDR</a:t>
                      </a:r>
                      <a:endParaRPr lang="en-US" altLang="zh-CN" sz="1200" kern="100" dirty="0">
                        <a:effectLst/>
                        <a:sym typeface="Wingdings" panose="05000000000000000000" pitchFamily="2" charset="2"/>
                      </a:endParaRPr>
                    </a:p>
                    <a:p>
                      <a:pPr algn="just"/>
                      <a:r>
                        <a:rPr lang="en-US" altLang="zh-CN" sz="1200" kern="100" dirty="0">
                          <a:effectLst/>
                          <a:sym typeface="Wingdings" panose="05000000000000000000" pitchFamily="2" charset="2"/>
                        </a:rPr>
                        <a:t>(MDR)+(ACC)ACC</a:t>
                      </a:r>
                      <a:endParaRPr lang="en-US" altLang="zh-CN" sz="1200" kern="100" dirty="0">
                        <a:effectLst/>
                        <a:sym typeface="Wingdings" panose="05000000000000000000" pitchFamily="2" charset="2"/>
                      </a:endParaRPr>
                    </a:p>
                    <a:p>
                      <a:pPr algn="just"/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altLang="zh-CN" sz="1200" kern="100" dirty="0">
                          <a:effectLst/>
                        </a:rPr>
                        <a:t>Ad(IR) </a:t>
                      </a:r>
                      <a:r>
                        <a:rPr lang="en-US" altLang="zh-CN" sz="1200" kern="100" dirty="0">
                          <a:effectLst/>
                          <a:sym typeface="Wingdings" panose="05000000000000000000" pitchFamily="2" charset="2"/>
                        </a:rPr>
                        <a:t> MAR</a:t>
                      </a:r>
                      <a:endParaRPr lang="en-US" altLang="zh-CN" sz="1200" kern="100" dirty="0">
                        <a:effectLst/>
                        <a:sym typeface="Wingdings" panose="05000000000000000000" pitchFamily="2" charset="2"/>
                      </a:endParaRPr>
                    </a:p>
                    <a:p>
                      <a:pPr algn="just"/>
                      <a:r>
                        <a:rPr lang="en-US" altLang="zh-CN" sz="1200" kern="100" dirty="0">
                          <a:effectLst/>
                          <a:sym typeface="Wingdings" panose="05000000000000000000" pitchFamily="2" charset="2"/>
                        </a:rPr>
                        <a:t>1W</a:t>
                      </a:r>
                      <a:endParaRPr lang="en-US" altLang="zh-CN" sz="1200" kern="100" dirty="0">
                        <a:effectLst/>
                        <a:sym typeface="Wingdings" panose="05000000000000000000" pitchFamily="2" charset="2"/>
                      </a:endParaRPr>
                    </a:p>
                    <a:p>
                      <a:pPr algn="just"/>
                      <a:r>
                        <a:rPr lang="en-US" altLang="zh-CN" sz="1200" kern="100" dirty="0">
                          <a:effectLst/>
                          <a:sym typeface="Wingdings" panose="05000000000000000000" pitchFamily="2" charset="2"/>
                        </a:rPr>
                        <a:t>(ACC)MDR</a:t>
                      </a:r>
                      <a:endParaRPr lang="en-US" altLang="zh-CN" sz="1200" kern="100" dirty="0">
                        <a:effectLst/>
                        <a:sym typeface="Wingdings" panose="05000000000000000000" pitchFamily="2" charset="2"/>
                      </a:endParaRPr>
                    </a:p>
                    <a:p>
                      <a:pPr algn="just"/>
                      <a:r>
                        <a:rPr lang="en-US" altLang="zh-CN" sz="1200" kern="100" dirty="0">
                          <a:effectLst/>
                          <a:sym typeface="Wingdings" panose="05000000000000000000" pitchFamily="2" charset="2"/>
                        </a:rPr>
                        <a:t>MDRM(MAR)</a:t>
                      </a:r>
                      <a:endParaRPr lang="en-US" altLang="zh-CN" sz="1200" kern="100" dirty="0">
                        <a:effectLst/>
                        <a:sym typeface="Wingdings" panose="05000000000000000000" pitchFamily="2" charset="2"/>
                      </a:endParaRPr>
                    </a:p>
                    <a:p>
                      <a:pPr algn="just"/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/>
                </a:tc>
                <a:tc>
                  <a:txBody>
                    <a:bodyPr/>
                    <a:lstStyle/>
                    <a:p>
                      <a:pPr algn="just"/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 kern="100" dirty="0">
                          <a:effectLst/>
                        </a:rPr>
                        <a:t> </a:t>
                      </a:r>
                      <a:endParaRPr lang="en-US" altLang="zh-CN" sz="12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  <a:sym typeface="Wingdings" panose="05000000000000000000" pitchFamily="2" charset="2"/>
                      </a:endParaRPr>
                    </a:p>
                  </a:txBody>
                  <a:tcPr marL="68589" marR="68589" marT="0" marB="0"/>
                </a:tc>
              </a:tr>
            </a:tbl>
          </a:graphicData>
        </a:graphic>
      </p:graphicFrame>
      <p:sp>
        <p:nvSpPr>
          <p:cNvPr id="4" name="Text Box 4"/>
          <p:cNvSpPr txBox="1"/>
          <p:nvPr/>
        </p:nvSpPr>
        <p:spPr>
          <a:xfrm>
            <a:off x="835025" y="476250"/>
            <a:ext cx="5105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zh-CN" altLang="en-US" sz="2400" dirty="0">
                <a:latin typeface="等线" panose="02010600030101010101" pitchFamily="2" charset="-122"/>
              </a:rPr>
              <a:t>微操作节拍安排</a:t>
            </a:r>
            <a:endParaRPr lang="zh-CN" altLang="en-US" sz="2400" dirty="0">
              <a:solidFill>
                <a:schemeClr val="folHlink"/>
              </a:solidFill>
              <a:latin typeface="等线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827088" y="1268413"/>
          <a:ext cx="7489825" cy="4397375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267844"/>
                <a:gridCol w="1219081"/>
                <a:gridCol w="1267844"/>
                <a:gridCol w="1257469"/>
                <a:gridCol w="1257469"/>
                <a:gridCol w="1220119"/>
              </a:tblGrid>
              <a:tr h="308651">
                <a:tc rowSpan="2">
                  <a:txBody>
                    <a:bodyPr/>
                    <a:lstStyle/>
                    <a:p>
                      <a:pPr algn="just"/>
                      <a:r>
                        <a:rPr lang="zh-CN" sz="1600" kern="100" dirty="0">
                          <a:effectLst/>
                        </a:rPr>
                        <a:t>取指周期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 anchor="ctr"/>
                </a:tc>
                <a:tc rowSpan="2">
                  <a:txBody>
                    <a:bodyPr/>
                    <a:lstStyle/>
                    <a:p>
                      <a:pPr algn="just"/>
                      <a:r>
                        <a:rPr lang="zh-CN" sz="1600" kern="100" dirty="0">
                          <a:effectLst/>
                        </a:rPr>
                        <a:t>间址周期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zh-CN" sz="1600" kern="100">
                          <a:effectLst/>
                        </a:rPr>
                        <a:t>执行周期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 anchor="ctr"/>
                </a:tc>
                <a:tc hMerge="1">
                  <a:tcPr/>
                </a:tc>
                <a:tc hMerge="1">
                  <a:tcPr/>
                </a:tc>
                <a:tc rowSpan="2">
                  <a:txBody>
                    <a:bodyPr/>
                    <a:lstStyle/>
                    <a:p>
                      <a:pPr algn="just"/>
                      <a:r>
                        <a:rPr lang="zh-CN" sz="1600" kern="100">
                          <a:effectLst/>
                        </a:rPr>
                        <a:t>中断周期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 anchor="ctr"/>
                </a:tc>
              </a:tr>
              <a:tr h="308651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00">
                          <a:effectLst/>
                        </a:rPr>
                        <a:t>ADD X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00">
                          <a:effectLst/>
                        </a:rPr>
                        <a:t>STA X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00">
                          <a:effectLst/>
                        </a:rPr>
                        <a:t>LDA X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 anchor="ctr"/>
                </a:tc>
                <a:tc vMerge="1">
                  <a:tcPr/>
                </a:tc>
              </a:tr>
              <a:tr h="3780073">
                <a:tc>
                  <a:txBody>
                    <a:bodyPr/>
                    <a:lstStyle/>
                    <a:p>
                      <a:pPr algn="just"/>
                      <a:r>
                        <a:rPr lang="en-US" sz="1200" kern="100" dirty="0">
                          <a:effectLst/>
                        </a:rPr>
                        <a:t>PC </a:t>
                      </a:r>
                      <a:r>
                        <a:rPr lang="en-US" sz="1200" kern="100" dirty="0">
                          <a:effectLst/>
                          <a:sym typeface="Wingdings" panose="05000000000000000000" pitchFamily="2" charset="2"/>
                        </a:rPr>
                        <a:t> MAR</a:t>
                      </a:r>
                      <a:endParaRPr lang="en-US" sz="1200" kern="100" dirty="0">
                        <a:effectLst/>
                        <a:sym typeface="Wingdings" panose="05000000000000000000" pitchFamily="2" charset="2"/>
                      </a:endParaRPr>
                    </a:p>
                    <a:p>
                      <a:pPr algn="just"/>
                      <a:r>
                        <a:rPr lang="en-US" altLang="zh-CN" sz="1200" kern="100" dirty="0">
                          <a:effectLst/>
                          <a:sym typeface="Wingdings" panose="05000000000000000000" pitchFamily="2" charset="2"/>
                        </a:rPr>
                        <a:t>1R </a:t>
                      </a:r>
                      <a:endParaRPr lang="en-US" altLang="zh-CN" sz="1200" kern="100" dirty="0">
                        <a:effectLst/>
                        <a:sym typeface="Wingdings" panose="05000000000000000000" pitchFamily="2" charset="2"/>
                      </a:endParaRPr>
                    </a:p>
                    <a:p>
                      <a:pPr algn="just"/>
                      <a:r>
                        <a:rPr lang="en-US" altLang="zh-CN" sz="1200" kern="100" dirty="0">
                          <a:effectLst/>
                          <a:sym typeface="Wingdings" panose="05000000000000000000" pitchFamily="2" charset="2"/>
                        </a:rPr>
                        <a:t>M(MAR)MDR</a:t>
                      </a:r>
                      <a:endParaRPr lang="en-US" altLang="zh-CN" sz="1200" kern="100" dirty="0">
                        <a:effectLst/>
                        <a:sym typeface="Wingdings" panose="05000000000000000000" pitchFamily="2" charset="2"/>
                      </a:endParaRPr>
                    </a:p>
                    <a:p>
                      <a:pPr algn="just"/>
                      <a:r>
                        <a:rPr lang="en-US" altLang="zh-CN" sz="1200" kern="100" dirty="0">
                          <a:effectLst/>
                          <a:sym typeface="Wingdings" panose="05000000000000000000" pitchFamily="2" charset="2"/>
                        </a:rPr>
                        <a:t>MDRIR</a:t>
                      </a:r>
                      <a:endParaRPr lang="en-US" altLang="zh-CN" sz="1200" kern="100" dirty="0">
                        <a:effectLst/>
                        <a:sym typeface="Wingdings" panose="05000000000000000000" pitchFamily="2" charset="2"/>
                      </a:endParaRPr>
                    </a:p>
                    <a:p>
                      <a:pPr algn="just"/>
                      <a:r>
                        <a:rPr lang="en-US" altLang="zh-CN" sz="1200" kern="100" dirty="0">
                          <a:effectLst/>
                          <a:sym typeface="Wingdings" panose="05000000000000000000" pitchFamily="2" charset="2"/>
                        </a:rPr>
                        <a:t>Op(IR)CU</a:t>
                      </a:r>
                      <a:endParaRPr lang="en-US" altLang="zh-CN" sz="1200" kern="100" dirty="0">
                        <a:effectLst/>
                        <a:sym typeface="Wingdings" panose="05000000000000000000" pitchFamily="2" charset="2"/>
                      </a:endParaRPr>
                    </a:p>
                    <a:p>
                      <a:pPr algn="just"/>
                      <a:r>
                        <a:rPr lang="en-US" altLang="zh-CN" sz="1200" kern="100" dirty="0">
                          <a:effectLst/>
                          <a:sym typeface="Wingdings" panose="05000000000000000000" pitchFamily="2" charset="2"/>
                        </a:rPr>
                        <a:t>PC+1PC</a:t>
                      </a:r>
                      <a:endParaRPr lang="en-US" altLang="zh-CN" sz="1200" kern="100" dirty="0">
                        <a:effectLst/>
                        <a:sym typeface="Wingdings" panose="05000000000000000000" pitchFamily="2" charset="2"/>
                      </a:endParaRPr>
                    </a:p>
                    <a:p>
                      <a:pPr algn="just"/>
                      <a:endParaRPr lang="zh-CN" sz="1600" kern="100" dirty="0">
                        <a:effectLst/>
                      </a:endParaRPr>
                    </a:p>
                    <a:p>
                      <a:pPr algn="just"/>
                      <a:r>
                        <a:rPr lang="en-US" sz="1600" kern="100" dirty="0">
                          <a:effectLst/>
                        </a:rPr>
                        <a:t> </a:t>
                      </a:r>
                      <a:endParaRPr lang="zh-CN" sz="1600" kern="100" dirty="0">
                        <a:effectLst/>
                      </a:endParaRPr>
                    </a:p>
                    <a:p>
                      <a:pPr algn="just"/>
                      <a:r>
                        <a:rPr lang="en-US" sz="1600" kern="100" dirty="0">
                          <a:effectLst/>
                        </a:rPr>
                        <a:t> </a:t>
                      </a:r>
                      <a:endParaRPr lang="zh-CN" sz="1600" kern="100" dirty="0">
                        <a:effectLst/>
                      </a:endParaRPr>
                    </a:p>
                    <a:p>
                      <a:pPr algn="just"/>
                      <a:r>
                        <a:rPr lang="en-US" sz="1600" kern="100" dirty="0">
                          <a:effectLst/>
                        </a:rPr>
                        <a:t> </a:t>
                      </a:r>
                      <a:endParaRPr lang="zh-CN" sz="1600" kern="100" dirty="0">
                        <a:effectLst/>
                      </a:endParaRPr>
                    </a:p>
                    <a:p>
                      <a:pPr algn="just"/>
                      <a:r>
                        <a:rPr lang="en-US" sz="1600" kern="100" dirty="0">
                          <a:effectLst/>
                        </a:rPr>
                        <a:t> </a:t>
                      </a:r>
                      <a:endParaRPr lang="zh-CN" sz="1600" kern="100" dirty="0">
                        <a:effectLst/>
                      </a:endParaRPr>
                    </a:p>
                    <a:p>
                      <a:pPr algn="just"/>
                      <a:r>
                        <a:rPr lang="en-US" sz="1600" kern="100" dirty="0">
                          <a:effectLst/>
                        </a:rPr>
                        <a:t> </a:t>
                      </a:r>
                      <a:endParaRPr lang="zh-CN" sz="1600" kern="100" dirty="0">
                        <a:effectLst/>
                      </a:endParaRPr>
                    </a:p>
                    <a:p>
                      <a:pPr algn="just"/>
                      <a:r>
                        <a:rPr lang="en-US" sz="1600" kern="100" dirty="0">
                          <a:effectLst/>
                        </a:rPr>
                        <a:t> </a:t>
                      </a:r>
                      <a:endParaRPr lang="zh-CN" sz="1600" kern="100" dirty="0">
                        <a:effectLst/>
                      </a:endParaRPr>
                    </a:p>
                    <a:p>
                      <a:pPr algn="just"/>
                      <a:r>
                        <a:rPr lang="en-US" sz="1600" kern="100" dirty="0">
                          <a:effectLst/>
                        </a:rPr>
                        <a:t> </a:t>
                      </a:r>
                      <a:endParaRPr lang="zh-CN" sz="1600" kern="100" dirty="0">
                        <a:effectLst/>
                      </a:endParaRPr>
                    </a:p>
                    <a:p>
                      <a:pPr algn="just"/>
                      <a:r>
                        <a:rPr lang="en-US" sz="1600" kern="100" dirty="0">
                          <a:effectLst/>
                        </a:rPr>
                        <a:t> </a:t>
                      </a:r>
                      <a:endParaRPr lang="zh-CN" sz="1600" kern="100" dirty="0">
                        <a:effectLst/>
                      </a:endParaRPr>
                    </a:p>
                    <a:p>
                      <a:pPr algn="just"/>
                      <a:r>
                        <a:rPr lang="en-US" sz="1600" kern="100" dirty="0">
                          <a:effectLst/>
                        </a:rPr>
                        <a:t> </a:t>
                      </a:r>
                      <a:endParaRPr lang="zh-CN" sz="1600" kern="100" dirty="0">
                        <a:effectLst/>
                      </a:endParaRPr>
                    </a:p>
                    <a:p>
                      <a:pPr algn="just"/>
                      <a:r>
                        <a:rPr lang="en-US" sz="1600" kern="100" dirty="0">
                          <a:effectLst/>
                        </a:rPr>
                        <a:t> 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altLang="zh-CN" sz="1200" kern="100" dirty="0">
                          <a:effectLst/>
                        </a:rPr>
                        <a:t>Ad(IR) </a:t>
                      </a:r>
                      <a:r>
                        <a:rPr lang="en-US" altLang="zh-CN" sz="1200" kern="100" dirty="0">
                          <a:effectLst/>
                          <a:sym typeface="Wingdings" panose="05000000000000000000" pitchFamily="2" charset="2"/>
                        </a:rPr>
                        <a:t> MAR</a:t>
                      </a:r>
                      <a:endParaRPr lang="en-US" altLang="zh-CN" sz="1200" kern="100" dirty="0">
                        <a:effectLst/>
                        <a:sym typeface="Wingdings" panose="05000000000000000000" pitchFamily="2" charset="2"/>
                      </a:endParaRPr>
                    </a:p>
                    <a:p>
                      <a:pPr algn="just"/>
                      <a:r>
                        <a:rPr lang="en-US" altLang="zh-CN" sz="1200" kern="100" dirty="0">
                          <a:effectLst/>
                          <a:sym typeface="Wingdings" panose="05000000000000000000" pitchFamily="2" charset="2"/>
                        </a:rPr>
                        <a:t>1R </a:t>
                      </a:r>
                      <a:endParaRPr lang="en-US" altLang="zh-CN" sz="1200" kern="100" dirty="0">
                        <a:effectLst/>
                        <a:sym typeface="Wingdings" panose="05000000000000000000" pitchFamily="2" charset="2"/>
                      </a:endParaRPr>
                    </a:p>
                    <a:p>
                      <a:pPr algn="just"/>
                      <a:r>
                        <a:rPr lang="en-US" altLang="zh-CN" sz="1200" kern="100" dirty="0">
                          <a:effectLst/>
                          <a:sym typeface="Wingdings" panose="05000000000000000000" pitchFamily="2" charset="2"/>
                        </a:rPr>
                        <a:t>M(MAR)MDR</a:t>
                      </a:r>
                      <a:endParaRPr lang="en-US" altLang="zh-CN" sz="1200" kern="100" dirty="0">
                        <a:effectLst/>
                        <a:sym typeface="Wingdings" panose="05000000000000000000" pitchFamily="2" charset="2"/>
                      </a:endParaRPr>
                    </a:p>
                    <a:p>
                      <a:pPr algn="just"/>
                      <a:r>
                        <a:rPr lang="en-US" altLang="zh-CN" sz="1200" kern="100" dirty="0" err="1">
                          <a:effectLst/>
                          <a:sym typeface="Wingdings" panose="05000000000000000000" pitchFamily="2" charset="2"/>
                        </a:rPr>
                        <a:t>MDRAd</a:t>
                      </a:r>
                      <a:r>
                        <a:rPr lang="en-US" altLang="zh-CN" sz="1200" kern="100" dirty="0">
                          <a:effectLst/>
                          <a:sym typeface="Wingdings" panose="05000000000000000000" pitchFamily="2" charset="2"/>
                        </a:rPr>
                        <a:t>(IR)</a:t>
                      </a:r>
                      <a:endParaRPr lang="en-US" altLang="zh-CN" sz="1200" kern="100" dirty="0">
                        <a:effectLst/>
                        <a:sym typeface="Wingdings" panose="05000000000000000000" pitchFamily="2" charset="2"/>
                      </a:endParaRPr>
                    </a:p>
                    <a:p>
                      <a:pPr algn="just"/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altLang="zh-CN" sz="1200" kern="100" dirty="0">
                          <a:effectLst/>
                        </a:rPr>
                        <a:t>Ad(IR) </a:t>
                      </a:r>
                      <a:r>
                        <a:rPr lang="en-US" altLang="zh-CN" sz="1200" kern="100" dirty="0">
                          <a:effectLst/>
                          <a:sym typeface="Wingdings" panose="05000000000000000000" pitchFamily="2" charset="2"/>
                        </a:rPr>
                        <a:t> MAR</a:t>
                      </a:r>
                      <a:endParaRPr lang="en-US" altLang="zh-CN" sz="1200" kern="100" dirty="0">
                        <a:effectLst/>
                        <a:sym typeface="Wingdings" panose="05000000000000000000" pitchFamily="2" charset="2"/>
                      </a:endParaRPr>
                    </a:p>
                    <a:p>
                      <a:pPr algn="just"/>
                      <a:r>
                        <a:rPr lang="en-US" altLang="zh-CN" sz="1200" kern="100" dirty="0">
                          <a:effectLst/>
                          <a:sym typeface="Wingdings" panose="05000000000000000000" pitchFamily="2" charset="2"/>
                        </a:rPr>
                        <a:t>1R </a:t>
                      </a:r>
                      <a:endParaRPr lang="en-US" altLang="zh-CN" sz="1200" kern="100" dirty="0">
                        <a:effectLst/>
                        <a:sym typeface="Wingdings" panose="05000000000000000000" pitchFamily="2" charset="2"/>
                      </a:endParaRPr>
                    </a:p>
                    <a:p>
                      <a:pPr algn="just"/>
                      <a:r>
                        <a:rPr lang="en-US" altLang="zh-CN" sz="1200" kern="100" dirty="0">
                          <a:effectLst/>
                          <a:sym typeface="Wingdings" panose="05000000000000000000" pitchFamily="2" charset="2"/>
                        </a:rPr>
                        <a:t>M(MAR)MDR</a:t>
                      </a:r>
                      <a:endParaRPr lang="en-US" altLang="zh-CN" sz="1200" kern="100" dirty="0">
                        <a:effectLst/>
                        <a:sym typeface="Wingdings" panose="05000000000000000000" pitchFamily="2" charset="2"/>
                      </a:endParaRPr>
                    </a:p>
                    <a:p>
                      <a:pPr algn="just"/>
                      <a:r>
                        <a:rPr lang="en-US" altLang="zh-CN" sz="1200" kern="100" dirty="0">
                          <a:effectLst/>
                          <a:sym typeface="Wingdings" panose="05000000000000000000" pitchFamily="2" charset="2"/>
                        </a:rPr>
                        <a:t>(MDR)+(ACC)ACC</a:t>
                      </a:r>
                      <a:endParaRPr lang="en-US" altLang="zh-CN" sz="1200" kern="100" dirty="0">
                        <a:effectLst/>
                        <a:sym typeface="Wingdings" panose="05000000000000000000" pitchFamily="2" charset="2"/>
                      </a:endParaRPr>
                    </a:p>
                    <a:p>
                      <a:pPr algn="just"/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altLang="zh-CN" sz="1200" kern="100" dirty="0">
                          <a:effectLst/>
                        </a:rPr>
                        <a:t>Ad(IR) </a:t>
                      </a:r>
                      <a:r>
                        <a:rPr lang="en-US" altLang="zh-CN" sz="1200" kern="100" dirty="0">
                          <a:effectLst/>
                          <a:sym typeface="Wingdings" panose="05000000000000000000" pitchFamily="2" charset="2"/>
                        </a:rPr>
                        <a:t> MAR</a:t>
                      </a:r>
                      <a:endParaRPr lang="en-US" altLang="zh-CN" sz="1200" kern="100" dirty="0">
                        <a:effectLst/>
                        <a:sym typeface="Wingdings" panose="05000000000000000000" pitchFamily="2" charset="2"/>
                      </a:endParaRPr>
                    </a:p>
                    <a:p>
                      <a:pPr algn="just"/>
                      <a:r>
                        <a:rPr lang="en-US" altLang="zh-CN" sz="1200" kern="100" dirty="0">
                          <a:effectLst/>
                          <a:sym typeface="Wingdings" panose="05000000000000000000" pitchFamily="2" charset="2"/>
                        </a:rPr>
                        <a:t>1W</a:t>
                      </a:r>
                      <a:endParaRPr lang="en-US" altLang="zh-CN" sz="1200" kern="100" dirty="0">
                        <a:effectLst/>
                        <a:sym typeface="Wingdings" panose="05000000000000000000" pitchFamily="2" charset="2"/>
                      </a:endParaRPr>
                    </a:p>
                    <a:p>
                      <a:pPr algn="just"/>
                      <a:r>
                        <a:rPr lang="en-US" altLang="zh-CN" sz="1200" kern="100" dirty="0">
                          <a:effectLst/>
                          <a:sym typeface="Wingdings" panose="05000000000000000000" pitchFamily="2" charset="2"/>
                        </a:rPr>
                        <a:t>(ACC)MDR</a:t>
                      </a:r>
                      <a:endParaRPr lang="en-US" altLang="zh-CN" sz="1200" kern="100" dirty="0">
                        <a:effectLst/>
                        <a:sym typeface="Wingdings" panose="05000000000000000000" pitchFamily="2" charset="2"/>
                      </a:endParaRPr>
                    </a:p>
                    <a:p>
                      <a:pPr algn="just"/>
                      <a:r>
                        <a:rPr lang="en-US" altLang="zh-CN" sz="1200" kern="100" dirty="0">
                          <a:effectLst/>
                          <a:sym typeface="Wingdings" panose="05000000000000000000" pitchFamily="2" charset="2"/>
                        </a:rPr>
                        <a:t>MDRM(MAR)</a:t>
                      </a:r>
                      <a:endParaRPr lang="en-US" altLang="zh-CN" sz="1200" kern="100" dirty="0">
                        <a:effectLst/>
                        <a:sym typeface="Wingdings" panose="05000000000000000000" pitchFamily="2" charset="2"/>
                      </a:endParaRPr>
                    </a:p>
                    <a:p>
                      <a:pPr algn="just"/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altLang="zh-CN" sz="1200" kern="100" dirty="0">
                          <a:effectLst/>
                        </a:rPr>
                        <a:t>Ad(IR) </a:t>
                      </a:r>
                      <a:r>
                        <a:rPr lang="en-US" altLang="zh-CN" sz="1200" kern="100" dirty="0">
                          <a:effectLst/>
                          <a:sym typeface="Wingdings" panose="05000000000000000000" pitchFamily="2" charset="2"/>
                        </a:rPr>
                        <a:t> MAR</a:t>
                      </a:r>
                      <a:endParaRPr lang="en-US" altLang="zh-CN" sz="1200" kern="100" dirty="0">
                        <a:effectLst/>
                        <a:sym typeface="Wingdings" panose="05000000000000000000" pitchFamily="2" charset="2"/>
                      </a:endParaRPr>
                    </a:p>
                    <a:p>
                      <a:pPr algn="just"/>
                      <a:r>
                        <a:rPr lang="en-US" altLang="zh-CN" sz="1200" kern="100" dirty="0">
                          <a:effectLst/>
                          <a:sym typeface="Wingdings" panose="05000000000000000000" pitchFamily="2" charset="2"/>
                        </a:rPr>
                        <a:t>1R</a:t>
                      </a:r>
                      <a:endParaRPr lang="en-US" altLang="zh-CN" sz="1200" kern="100" dirty="0">
                        <a:effectLst/>
                        <a:sym typeface="Wingdings" panose="05000000000000000000" pitchFamily="2" charset="2"/>
                      </a:endParaRPr>
                    </a:p>
                    <a:p>
                      <a:pPr algn="just"/>
                      <a:r>
                        <a:rPr lang="en-US" altLang="zh-CN" sz="1200" kern="100" dirty="0">
                          <a:effectLst/>
                          <a:sym typeface="Wingdings" panose="05000000000000000000" pitchFamily="2" charset="2"/>
                        </a:rPr>
                        <a:t>M(MAR)MDR</a:t>
                      </a:r>
                      <a:endParaRPr lang="en-US" altLang="zh-CN" sz="1200" kern="100" dirty="0">
                        <a:effectLst/>
                        <a:sym typeface="Wingdings" panose="05000000000000000000" pitchFamily="2" charset="2"/>
                      </a:endParaRPr>
                    </a:p>
                    <a:p>
                      <a:pPr algn="just"/>
                      <a:r>
                        <a:rPr lang="en-US" altLang="zh-CN" sz="1200" kern="100" dirty="0">
                          <a:effectLst/>
                          <a:sym typeface="Wingdings" panose="05000000000000000000" pitchFamily="2" charset="2"/>
                        </a:rPr>
                        <a:t>MDRACC</a:t>
                      </a:r>
                      <a:endParaRPr lang="en-US" altLang="zh-CN" sz="1200" kern="100" dirty="0">
                        <a:effectLst/>
                        <a:sym typeface="Wingdings" panose="05000000000000000000" pitchFamily="2" charset="2"/>
                      </a:endParaRPr>
                    </a:p>
                    <a:p>
                      <a:pPr algn="just"/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 kern="100" dirty="0">
                          <a:effectLst/>
                        </a:rPr>
                        <a:t> </a:t>
                      </a:r>
                      <a:endParaRPr lang="en-US" altLang="zh-CN" sz="12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  <a:sym typeface="Wingdings" panose="05000000000000000000" pitchFamily="2" charset="2"/>
                      </a:endParaRPr>
                    </a:p>
                  </a:txBody>
                  <a:tcPr marL="68589" marR="68589" marT="0" marB="0"/>
                </a:tc>
              </a:tr>
            </a:tbl>
          </a:graphicData>
        </a:graphic>
      </p:graphicFrame>
      <p:sp>
        <p:nvSpPr>
          <p:cNvPr id="4" name="Text Box 4"/>
          <p:cNvSpPr txBox="1"/>
          <p:nvPr/>
        </p:nvSpPr>
        <p:spPr>
          <a:xfrm>
            <a:off x="835025" y="476250"/>
            <a:ext cx="5105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zh-CN" altLang="en-US" sz="2400" dirty="0">
                <a:latin typeface="等线" panose="02010600030101010101" pitchFamily="2" charset="-122"/>
              </a:rPr>
              <a:t>微操作节拍安排</a:t>
            </a:r>
            <a:endParaRPr lang="zh-CN" altLang="en-US" sz="2400" dirty="0">
              <a:solidFill>
                <a:schemeClr val="folHlink"/>
              </a:solidFill>
              <a:latin typeface="等线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827088" y="1268413"/>
          <a:ext cx="7489825" cy="4397375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267844"/>
                <a:gridCol w="1219081"/>
                <a:gridCol w="1267844"/>
                <a:gridCol w="1257469"/>
                <a:gridCol w="1257469"/>
                <a:gridCol w="1220119"/>
              </a:tblGrid>
              <a:tr h="308651">
                <a:tc rowSpan="2">
                  <a:txBody>
                    <a:bodyPr/>
                    <a:lstStyle/>
                    <a:p>
                      <a:pPr algn="just"/>
                      <a:r>
                        <a:rPr lang="zh-CN" sz="1600" kern="100" dirty="0">
                          <a:effectLst/>
                        </a:rPr>
                        <a:t>取指周期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 anchor="ctr"/>
                </a:tc>
                <a:tc rowSpan="2">
                  <a:txBody>
                    <a:bodyPr/>
                    <a:lstStyle/>
                    <a:p>
                      <a:pPr algn="just"/>
                      <a:r>
                        <a:rPr lang="zh-CN" sz="1600" kern="100" dirty="0">
                          <a:effectLst/>
                        </a:rPr>
                        <a:t>间址周期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zh-CN" sz="1600" kern="100">
                          <a:effectLst/>
                        </a:rPr>
                        <a:t>执行周期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 anchor="ctr"/>
                </a:tc>
                <a:tc hMerge="1">
                  <a:tcPr/>
                </a:tc>
                <a:tc hMerge="1">
                  <a:tcPr/>
                </a:tc>
                <a:tc rowSpan="2">
                  <a:txBody>
                    <a:bodyPr/>
                    <a:lstStyle/>
                    <a:p>
                      <a:pPr algn="just"/>
                      <a:r>
                        <a:rPr lang="zh-CN" sz="1600" kern="100">
                          <a:effectLst/>
                        </a:rPr>
                        <a:t>中断周期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 anchor="ctr"/>
                </a:tc>
              </a:tr>
              <a:tr h="308651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00">
                          <a:effectLst/>
                        </a:rPr>
                        <a:t>ADD X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00">
                          <a:effectLst/>
                        </a:rPr>
                        <a:t>STA X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00">
                          <a:effectLst/>
                        </a:rPr>
                        <a:t>LDA X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 anchor="ctr"/>
                </a:tc>
                <a:tc vMerge="1">
                  <a:tcPr/>
                </a:tc>
              </a:tr>
              <a:tr h="3780073">
                <a:tc>
                  <a:txBody>
                    <a:bodyPr/>
                    <a:lstStyle/>
                    <a:p>
                      <a:pPr algn="just"/>
                      <a:r>
                        <a:rPr lang="en-US" sz="1200" kern="100" dirty="0">
                          <a:effectLst/>
                        </a:rPr>
                        <a:t>PC </a:t>
                      </a:r>
                      <a:r>
                        <a:rPr lang="en-US" sz="1200" kern="100" dirty="0">
                          <a:effectLst/>
                          <a:sym typeface="Wingdings" panose="05000000000000000000" pitchFamily="2" charset="2"/>
                        </a:rPr>
                        <a:t> MAR</a:t>
                      </a:r>
                      <a:endParaRPr lang="en-US" sz="1200" kern="100" dirty="0">
                        <a:effectLst/>
                        <a:sym typeface="Wingdings" panose="05000000000000000000" pitchFamily="2" charset="2"/>
                      </a:endParaRPr>
                    </a:p>
                    <a:p>
                      <a:pPr algn="just"/>
                      <a:r>
                        <a:rPr lang="en-US" altLang="zh-CN" sz="1200" kern="100" dirty="0">
                          <a:effectLst/>
                          <a:sym typeface="Wingdings" panose="05000000000000000000" pitchFamily="2" charset="2"/>
                        </a:rPr>
                        <a:t>1R </a:t>
                      </a:r>
                      <a:endParaRPr lang="en-US" altLang="zh-CN" sz="1200" kern="100" dirty="0">
                        <a:effectLst/>
                        <a:sym typeface="Wingdings" panose="05000000000000000000" pitchFamily="2" charset="2"/>
                      </a:endParaRPr>
                    </a:p>
                    <a:p>
                      <a:pPr algn="just"/>
                      <a:r>
                        <a:rPr lang="en-US" altLang="zh-CN" sz="1200" kern="100" dirty="0">
                          <a:effectLst/>
                          <a:sym typeface="Wingdings" panose="05000000000000000000" pitchFamily="2" charset="2"/>
                        </a:rPr>
                        <a:t>M(MAR)MDR</a:t>
                      </a:r>
                      <a:endParaRPr lang="en-US" altLang="zh-CN" sz="1200" kern="100" dirty="0">
                        <a:effectLst/>
                        <a:sym typeface="Wingdings" panose="05000000000000000000" pitchFamily="2" charset="2"/>
                      </a:endParaRPr>
                    </a:p>
                    <a:p>
                      <a:pPr algn="just"/>
                      <a:r>
                        <a:rPr lang="en-US" altLang="zh-CN" sz="1200" kern="100" dirty="0">
                          <a:effectLst/>
                          <a:sym typeface="Wingdings" panose="05000000000000000000" pitchFamily="2" charset="2"/>
                        </a:rPr>
                        <a:t>MDRIR</a:t>
                      </a:r>
                      <a:endParaRPr lang="en-US" altLang="zh-CN" sz="1200" kern="100" dirty="0">
                        <a:effectLst/>
                        <a:sym typeface="Wingdings" panose="05000000000000000000" pitchFamily="2" charset="2"/>
                      </a:endParaRPr>
                    </a:p>
                    <a:p>
                      <a:pPr algn="just"/>
                      <a:r>
                        <a:rPr lang="en-US" altLang="zh-CN" sz="1200" kern="100" dirty="0">
                          <a:effectLst/>
                          <a:sym typeface="Wingdings" panose="05000000000000000000" pitchFamily="2" charset="2"/>
                        </a:rPr>
                        <a:t>Op(IR)CU</a:t>
                      </a:r>
                      <a:endParaRPr lang="en-US" altLang="zh-CN" sz="1200" kern="100" dirty="0">
                        <a:effectLst/>
                        <a:sym typeface="Wingdings" panose="05000000000000000000" pitchFamily="2" charset="2"/>
                      </a:endParaRPr>
                    </a:p>
                    <a:p>
                      <a:pPr algn="just"/>
                      <a:r>
                        <a:rPr lang="en-US" altLang="zh-CN" sz="1200" kern="100" dirty="0">
                          <a:effectLst/>
                          <a:sym typeface="Wingdings" panose="05000000000000000000" pitchFamily="2" charset="2"/>
                        </a:rPr>
                        <a:t>PC+1PC</a:t>
                      </a:r>
                      <a:endParaRPr lang="en-US" altLang="zh-CN" sz="1200" kern="100" dirty="0">
                        <a:effectLst/>
                        <a:sym typeface="Wingdings" panose="05000000000000000000" pitchFamily="2" charset="2"/>
                      </a:endParaRPr>
                    </a:p>
                    <a:p>
                      <a:pPr algn="just"/>
                      <a:endParaRPr lang="zh-CN" sz="1600" kern="100" dirty="0">
                        <a:effectLst/>
                      </a:endParaRPr>
                    </a:p>
                    <a:p>
                      <a:pPr algn="just"/>
                      <a:r>
                        <a:rPr lang="en-US" sz="1600" kern="100" dirty="0">
                          <a:effectLst/>
                        </a:rPr>
                        <a:t> </a:t>
                      </a:r>
                      <a:endParaRPr lang="zh-CN" sz="1600" kern="100" dirty="0">
                        <a:effectLst/>
                      </a:endParaRPr>
                    </a:p>
                    <a:p>
                      <a:pPr algn="just"/>
                      <a:r>
                        <a:rPr lang="en-US" sz="1600" kern="100" dirty="0">
                          <a:effectLst/>
                        </a:rPr>
                        <a:t> </a:t>
                      </a:r>
                      <a:endParaRPr lang="zh-CN" sz="1600" kern="100" dirty="0">
                        <a:effectLst/>
                      </a:endParaRPr>
                    </a:p>
                    <a:p>
                      <a:pPr algn="just"/>
                      <a:r>
                        <a:rPr lang="en-US" sz="1600" kern="100" dirty="0">
                          <a:effectLst/>
                        </a:rPr>
                        <a:t> </a:t>
                      </a:r>
                      <a:endParaRPr lang="zh-CN" sz="1600" kern="100" dirty="0">
                        <a:effectLst/>
                      </a:endParaRPr>
                    </a:p>
                    <a:p>
                      <a:pPr algn="just"/>
                      <a:r>
                        <a:rPr lang="en-US" sz="1600" kern="100" dirty="0">
                          <a:effectLst/>
                        </a:rPr>
                        <a:t> </a:t>
                      </a:r>
                      <a:endParaRPr lang="zh-CN" sz="1600" kern="100" dirty="0">
                        <a:effectLst/>
                      </a:endParaRPr>
                    </a:p>
                    <a:p>
                      <a:pPr algn="just"/>
                      <a:r>
                        <a:rPr lang="en-US" sz="1600" kern="100" dirty="0">
                          <a:effectLst/>
                        </a:rPr>
                        <a:t> </a:t>
                      </a:r>
                      <a:endParaRPr lang="zh-CN" sz="1600" kern="100" dirty="0">
                        <a:effectLst/>
                      </a:endParaRPr>
                    </a:p>
                    <a:p>
                      <a:pPr algn="just"/>
                      <a:r>
                        <a:rPr lang="en-US" sz="1600" kern="100" dirty="0">
                          <a:effectLst/>
                        </a:rPr>
                        <a:t> </a:t>
                      </a:r>
                      <a:endParaRPr lang="zh-CN" sz="1600" kern="100" dirty="0">
                        <a:effectLst/>
                      </a:endParaRPr>
                    </a:p>
                    <a:p>
                      <a:pPr algn="just"/>
                      <a:r>
                        <a:rPr lang="en-US" sz="1600" kern="100" dirty="0">
                          <a:effectLst/>
                        </a:rPr>
                        <a:t> </a:t>
                      </a:r>
                      <a:endParaRPr lang="zh-CN" sz="1600" kern="100" dirty="0">
                        <a:effectLst/>
                      </a:endParaRPr>
                    </a:p>
                    <a:p>
                      <a:pPr algn="just"/>
                      <a:r>
                        <a:rPr lang="en-US" sz="1600" kern="100" dirty="0">
                          <a:effectLst/>
                        </a:rPr>
                        <a:t> </a:t>
                      </a:r>
                      <a:endParaRPr lang="zh-CN" sz="1600" kern="100" dirty="0">
                        <a:effectLst/>
                      </a:endParaRPr>
                    </a:p>
                    <a:p>
                      <a:pPr algn="just"/>
                      <a:r>
                        <a:rPr lang="en-US" sz="1600" kern="100" dirty="0">
                          <a:effectLst/>
                        </a:rPr>
                        <a:t> </a:t>
                      </a:r>
                      <a:endParaRPr lang="zh-CN" sz="1600" kern="100" dirty="0">
                        <a:effectLst/>
                      </a:endParaRPr>
                    </a:p>
                    <a:p>
                      <a:pPr algn="just"/>
                      <a:r>
                        <a:rPr lang="en-US" sz="1600" kern="100" dirty="0">
                          <a:effectLst/>
                        </a:rPr>
                        <a:t> 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altLang="zh-CN" sz="1200" kern="100" dirty="0">
                          <a:effectLst/>
                        </a:rPr>
                        <a:t>Ad(IR) </a:t>
                      </a:r>
                      <a:r>
                        <a:rPr lang="en-US" altLang="zh-CN" sz="1200" kern="100" dirty="0">
                          <a:effectLst/>
                          <a:sym typeface="Wingdings" panose="05000000000000000000" pitchFamily="2" charset="2"/>
                        </a:rPr>
                        <a:t> MAR</a:t>
                      </a:r>
                      <a:endParaRPr lang="en-US" altLang="zh-CN" sz="1200" kern="100" dirty="0">
                        <a:effectLst/>
                        <a:sym typeface="Wingdings" panose="05000000000000000000" pitchFamily="2" charset="2"/>
                      </a:endParaRPr>
                    </a:p>
                    <a:p>
                      <a:pPr algn="just"/>
                      <a:r>
                        <a:rPr lang="en-US" altLang="zh-CN" sz="1200" kern="100" dirty="0">
                          <a:effectLst/>
                          <a:sym typeface="Wingdings" panose="05000000000000000000" pitchFamily="2" charset="2"/>
                        </a:rPr>
                        <a:t>1R </a:t>
                      </a:r>
                      <a:endParaRPr lang="en-US" altLang="zh-CN" sz="1200" kern="100" dirty="0">
                        <a:effectLst/>
                        <a:sym typeface="Wingdings" panose="05000000000000000000" pitchFamily="2" charset="2"/>
                      </a:endParaRPr>
                    </a:p>
                    <a:p>
                      <a:pPr algn="just"/>
                      <a:r>
                        <a:rPr lang="en-US" altLang="zh-CN" sz="1200" kern="100" dirty="0">
                          <a:effectLst/>
                          <a:sym typeface="Wingdings" panose="05000000000000000000" pitchFamily="2" charset="2"/>
                        </a:rPr>
                        <a:t>M(MAR)MDR</a:t>
                      </a:r>
                      <a:endParaRPr lang="en-US" altLang="zh-CN" sz="1200" kern="100" dirty="0">
                        <a:effectLst/>
                        <a:sym typeface="Wingdings" panose="05000000000000000000" pitchFamily="2" charset="2"/>
                      </a:endParaRPr>
                    </a:p>
                    <a:p>
                      <a:pPr algn="just"/>
                      <a:r>
                        <a:rPr lang="en-US" altLang="zh-CN" sz="1200" kern="100" dirty="0" err="1">
                          <a:effectLst/>
                          <a:sym typeface="Wingdings" panose="05000000000000000000" pitchFamily="2" charset="2"/>
                        </a:rPr>
                        <a:t>MDRAd</a:t>
                      </a:r>
                      <a:r>
                        <a:rPr lang="en-US" altLang="zh-CN" sz="1200" kern="100" dirty="0">
                          <a:effectLst/>
                          <a:sym typeface="Wingdings" panose="05000000000000000000" pitchFamily="2" charset="2"/>
                        </a:rPr>
                        <a:t>(IR)</a:t>
                      </a:r>
                      <a:endParaRPr lang="en-US" altLang="zh-CN" sz="1200" kern="100" dirty="0">
                        <a:effectLst/>
                        <a:sym typeface="Wingdings" panose="05000000000000000000" pitchFamily="2" charset="2"/>
                      </a:endParaRPr>
                    </a:p>
                    <a:p>
                      <a:pPr algn="just"/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altLang="zh-CN" sz="1200" kern="100" dirty="0">
                          <a:effectLst/>
                        </a:rPr>
                        <a:t>Ad(IR) </a:t>
                      </a:r>
                      <a:r>
                        <a:rPr lang="en-US" altLang="zh-CN" sz="1200" kern="100" dirty="0">
                          <a:effectLst/>
                          <a:sym typeface="Wingdings" panose="05000000000000000000" pitchFamily="2" charset="2"/>
                        </a:rPr>
                        <a:t> MAR</a:t>
                      </a:r>
                      <a:endParaRPr lang="en-US" altLang="zh-CN" sz="1200" kern="100" dirty="0">
                        <a:effectLst/>
                        <a:sym typeface="Wingdings" panose="05000000000000000000" pitchFamily="2" charset="2"/>
                      </a:endParaRPr>
                    </a:p>
                    <a:p>
                      <a:pPr algn="just"/>
                      <a:r>
                        <a:rPr lang="en-US" altLang="zh-CN" sz="1200" kern="100" dirty="0">
                          <a:effectLst/>
                          <a:sym typeface="Wingdings" panose="05000000000000000000" pitchFamily="2" charset="2"/>
                        </a:rPr>
                        <a:t>1R </a:t>
                      </a:r>
                      <a:endParaRPr lang="en-US" altLang="zh-CN" sz="1200" kern="100" dirty="0">
                        <a:effectLst/>
                        <a:sym typeface="Wingdings" panose="05000000000000000000" pitchFamily="2" charset="2"/>
                      </a:endParaRPr>
                    </a:p>
                    <a:p>
                      <a:pPr algn="just"/>
                      <a:r>
                        <a:rPr lang="en-US" altLang="zh-CN" sz="1200" kern="100" dirty="0">
                          <a:effectLst/>
                          <a:sym typeface="Wingdings" panose="05000000000000000000" pitchFamily="2" charset="2"/>
                        </a:rPr>
                        <a:t>M(MAR)MDR</a:t>
                      </a:r>
                      <a:endParaRPr lang="en-US" altLang="zh-CN" sz="1200" kern="100" dirty="0">
                        <a:effectLst/>
                        <a:sym typeface="Wingdings" panose="05000000000000000000" pitchFamily="2" charset="2"/>
                      </a:endParaRPr>
                    </a:p>
                    <a:p>
                      <a:pPr algn="just"/>
                      <a:r>
                        <a:rPr lang="en-US" altLang="zh-CN" sz="1200" kern="100" dirty="0">
                          <a:effectLst/>
                          <a:sym typeface="Wingdings" panose="05000000000000000000" pitchFamily="2" charset="2"/>
                        </a:rPr>
                        <a:t>(MDR)+(ACC)ACC</a:t>
                      </a:r>
                      <a:endParaRPr lang="en-US" altLang="zh-CN" sz="1200" kern="100" dirty="0">
                        <a:effectLst/>
                        <a:sym typeface="Wingdings" panose="05000000000000000000" pitchFamily="2" charset="2"/>
                      </a:endParaRPr>
                    </a:p>
                    <a:p>
                      <a:pPr algn="just"/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altLang="zh-CN" sz="1200" kern="100" dirty="0">
                          <a:effectLst/>
                        </a:rPr>
                        <a:t>Ad(IR) </a:t>
                      </a:r>
                      <a:r>
                        <a:rPr lang="en-US" altLang="zh-CN" sz="1200" kern="100" dirty="0">
                          <a:effectLst/>
                          <a:sym typeface="Wingdings" panose="05000000000000000000" pitchFamily="2" charset="2"/>
                        </a:rPr>
                        <a:t> MAR</a:t>
                      </a:r>
                      <a:endParaRPr lang="en-US" altLang="zh-CN" sz="1200" kern="100" dirty="0">
                        <a:effectLst/>
                        <a:sym typeface="Wingdings" panose="05000000000000000000" pitchFamily="2" charset="2"/>
                      </a:endParaRPr>
                    </a:p>
                    <a:p>
                      <a:pPr algn="just"/>
                      <a:r>
                        <a:rPr lang="en-US" altLang="zh-CN" sz="1200" kern="100" dirty="0">
                          <a:effectLst/>
                          <a:sym typeface="Wingdings" panose="05000000000000000000" pitchFamily="2" charset="2"/>
                        </a:rPr>
                        <a:t>1W</a:t>
                      </a:r>
                      <a:endParaRPr lang="en-US" altLang="zh-CN" sz="1200" kern="100" dirty="0">
                        <a:effectLst/>
                        <a:sym typeface="Wingdings" panose="05000000000000000000" pitchFamily="2" charset="2"/>
                      </a:endParaRPr>
                    </a:p>
                    <a:p>
                      <a:pPr algn="just"/>
                      <a:r>
                        <a:rPr lang="en-US" altLang="zh-CN" sz="1200" kern="100" dirty="0">
                          <a:effectLst/>
                          <a:sym typeface="Wingdings" panose="05000000000000000000" pitchFamily="2" charset="2"/>
                        </a:rPr>
                        <a:t>(ACC)MDR</a:t>
                      </a:r>
                      <a:endParaRPr lang="en-US" altLang="zh-CN" sz="1200" kern="100" dirty="0">
                        <a:effectLst/>
                        <a:sym typeface="Wingdings" panose="05000000000000000000" pitchFamily="2" charset="2"/>
                      </a:endParaRPr>
                    </a:p>
                    <a:p>
                      <a:pPr algn="just"/>
                      <a:r>
                        <a:rPr lang="en-US" altLang="zh-CN" sz="1200" kern="100" dirty="0">
                          <a:effectLst/>
                          <a:sym typeface="Wingdings" panose="05000000000000000000" pitchFamily="2" charset="2"/>
                        </a:rPr>
                        <a:t>MDRM(MAR)</a:t>
                      </a:r>
                      <a:endParaRPr lang="en-US" altLang="zh-CN" sz="1200" kern="100" dirty="0">
                        <a:effectLst/>
                        <a:sym typeface="Wingdings" panose="05000000000000000000" pitchFamily="2" charset="2"/>
                      </a:endParaRPr>
                    </a:p>
                    <a:p>
                      <a:pPr algn="just"/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altLang="zh-CN" sz="1200" kern="100" dirty="0">
                          <a:effectLst/>
                        </a:rPr>
                        <a:t>Ad(IR) </a:t>
                      </a:r>
                      <a:r>
                        <a:rPr lang="en-US" altLang="zh-CN" sz="1200" kern="100" dirty="0">
                          <a:effectLst/>
                          <a:sym typeface="Wingdings" panose="05000000000000000000" pitchFamily="2" charset="2"/>
                        </a:rPr>
                        <a:t> MAR</a:t>
                      </a:r>
                      <a:endParaRPr lang="en-US" altLang="zh-CN" sz="1200" kern="100" dirty="0">
                        <a:effectLst/>
                        <a:sym typeface="Wingdings" panose="05000000000000000000" pitchFamily="2" charset="2"/>
                      </a:endParaRPr>
                    </a:p>
                    <a:p>
                      <a:pPr algn="just"/>
                      <a:r>
                        <a:rPr lang="en-US" altLang="zh-CN" sz="1200" kern="100" dirty="0">
                          <a:effectLst/>
                          <a:sym typeface="Wingdings" panose="05000000000000000000" pitchFamily="2" charset="2"/>
                        </a:rPr>
                        <a:t>1R</a:t>
                      </a:r>
                      <a:endParaRPr lang="en-US" altLang="zh-CN" sz="1200" kern="100" dirty="0">
                        <a:effectLst/>
                        <a:sym typeface="Wingdings" panose="05000000000000000000" pitchFamily="2" charset="2"/>
                      </a:endParaRPr>
                    </a:p>
                    <a:p>
                      <a:pPr algn="just"/>
                      <a:r>
                        <a:rPr lang="en-US" altLang="zh-CN" sz="1200" kern="100" dirty="0">
                          <a:effectLst/>
                          <a:sym typeface="Wingdings" panose="05000000000000000000" pitchFamily="2" charset="2"/>
                        </a:rPr>
                        <a:t>M(MAR)MDR</a:t>
                      </a:r>
                      <a:endParaRPr lang="en-US" altLang="zh-CN" sz="1200" kern="100" dirty="0">
                        <a:effectLst/>
                        <a:sym typeface="Wingdings" panose="05000000000000000000" pitchFamily="2" charset="2"/>
                      </a:endParaRPr>
                    </a:p>
                    <a:p>
                      <a:pPr algn="just"/>
                      <a:r>
                        <a:rPr lang="en-US" altLang="zh-CN" sz="1200" kern="100" dirty="0">
                          <a:effectLst/>
                          <a:sym typeface="Wingdings" panose="05000000000000000000" pitchFamily="2" charset="2"/>
                        </a:rPr>
                        <a:t>MDRACC</a:t>
                      </a:r>
                      <a:endParaRPr lang="en-US" altLang="zh-CN" sz="1200" kern="100" dirty="0">
                        <a:effectLst/>
                        <a:sym typeface="Wingdings" panose="05000000000000000000" pitchFamily="2" charset="2"/>
                      </a:endParaRPr>
                    </a:p>
                    <a:p>
                      <a:pPr algn="just"/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 kern="100" dirty="0">
                          <a:effectLst/>
                        </a:rPr>
                        <a:t> 0</a:t>
                      </a:r>
                      <a:r>
                        <a:rPr lang="en-US" sz="1200" kern="100" dirty="0">
                          <a:effectLst/>
                          <a:sym typeface="Wingdings" panose="05000000000000000000" pitchFamily="2" charset="2"/>
                        </a:rPr>
                        <a:t>MAR</a:t>
                      </a:r>
                      <a:endParaRPr lang="en-US" sz="1200" kern="100" dirty="0">
                        <a:effectLst/>
                        <a:sym typeface="Wingdings" panose="05000000000000000000" pitchFamily="2" charset="2"/>
                      </a:endParaRPr>
                    </a:p>
                    <a:p>
                      <a:pPr algn="just"/>
                      <a:r>
                        <a:rPr lang="en-US" altLang="zh-CN" sz="12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1W</a:t>
                      </a:r>
                      <a:endParaRPr lang="en-US" altLang="zh-CN" sz="12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  <a:sym typeface="Wingdings" panose="05000000000000000000" pitchFamily="2" charset="2"/>
                      </a:endParaRPr>
                    </a:p>
                    <a:p>
                      <a:pPr algn="just"/>
                      <a:r>
                        <a:rPr lang="en-US" altLang="zh-CN" sz="12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0ENIT</a:t>
                      </a:r>
                      <a:endParaRPr lang="en-US" altLang="zh-CN" sz="12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  <a:sym typeface="Wingdings" panose="05000000000000000000" pitchFamily="2" charset="2"/>
                      </a:endParaRPr>
                    </a:p>
                    <a:p>
                      <a:pPr algn="just"/>
                      <a:r>
                        <a:rPr lang="en-US" altLang="zh-CN" sz="12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PCMDR</a:t>
                      </a:r>
                      <a:endParaRPr lang="en-US" altLang="zh-CN" sz="12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  <a:sym typeface="Wingdings" panose="05000000000000000000" pitchFamily="2" charset="2"/>
                      </a:endParaRPr>
                    </a:p>
                    <a:p>
                      <a:pPr algn="just"/>
                      <a:r>
                        <a:rPr lang="en-US" altLang="zh-CN" sz="12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MDRM(MAR)</a:t>
                      </a:r>
                      <a:endParaRPr lang="en-US" altLang="zh-CN" sz="12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  <a:sym typeface="Wingdings" panose="05000000000000000000" pitchFamily="2" charset="2"/>
                      </a:endParaRPr>
                    </a:p>
                    <a:p>
                      <a:pPr algn="just"/>
                      <a:r>
                        <a:rPr lang="zh-CN" altLang="en-US" sz="12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向量地址</a:t>
                      </a:r>
                      <a:r>
                        <a:rPr lang="en-US" altLang="zh-CN" sz="12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PC</a:t>
                      </a:r>
                      <a:endParaRPr lang="en-US" altLang="zh-CN" sz="12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  <a:sym typeface="Wingdings" panose="05000000000000000000" pitchFamily="2" charset="2"/>
                      </a:endParaRPr>
                    </a:p>
                  </a:txBody>
                  <a:tcPr marL="68589" marR="68589" marT="0" marB="0"/>
                </a:tc>
              </a:tr>
            </a:tbl>
          </a:graphicData>
        </a:graphic>
      </p:graphicFrame>
      <p:sp>
        <p:nvSpPr>
          <p:cNvPr id="4" name="Text Box 4"/>
          <p:cNvSpPr txBox="1"/>
          <p:nvPr/>
        </p:nvSpPr>
        <p:spPr>
          <a:xfrm>
            <a:off x="835025" y="476250"/>
            <a:ext cx="5105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zh-CN" altLang="en-US" sz="2400" dirty="0">
                <a:latin typeface="等线" panose="02010600030101010101" pitchFamily="2" charset="-122"/>
              </a:rPr>
              <a:t>微操作节拍安排</a:t>
            </a:r>
            <a:endParaRPr lang="zh-CN" altLang="en-US" sz="2400" dirty="0">
              <a:solidFill>
                <a:schemeClr val="folHlink"/>
              </a:solidFill>
              <a:latin typeface="等线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矩形 5"/>
          <p:cNvSpPr/>
          <p:nvPr/>
        </p:nvSpPr>
        <p:spPr>
          <a:xfrm>
            <a:off x="533400" y="3265488"/>
            <a:ext cx="8137525" cy="71913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33400" y="2492375"/>
            <a:ext cx="8137525" cy="72072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39750" y="1700213"/>
            <a:ext cx="8135938" cy="7207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827088" y="1268413"/>
          <a:ext cx="7489825" cy="51816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267844"/>
                <a:gridCol w="1219081"/>
                <a:gridCol w="1267844"/>
                <a:gridCol w="1257469"/>
                <a:gridCol w="1257469"/>
                <a:gridCol w="1220119"/>
              </a:tblGrid>
              <a:tr h="217571">
                <a:tc rowSpan="2">
                  <a:txBody>
                    <a:bodyPr/>
                    <a:lstStyle/>
                    <a:p>
                      <a:pPr algn="just"/>
                      <a:r>
                        <a:rPr lang="zh-CN" sz="1600" kern="100" dirty="0">
                          <a:effectLst/>
                        </a:rPr>
                        <a:t>取指周期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 anchor="ctr"/>
                </a:tc>
                <a:tc rowSpan="2">
                  <a:txBody>
                    <a:bodyPr/>
                    <a:lstStyle/>
                    <a:p>
                      <a:pPr algn="just"/>
                      <a:r>
                        <a:rPr lang="zh-CN" sz="1600" kern="100" dirty="0">
                          <a:effectLst/>
                        </a:rPr>
                        <a:t>间址周期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zh-CN" sz="1600" kern="100">
                          <a:effectLst/>
                        </a:rPr>
                        <a:t>执行周期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 anchor="ctr"/>
                </a:tc>
                <a:tc hMerge="1">
                  <a:tcPr/>
                </a:tc>
                <a:tc hMerge="1">
                  <a:tcPr/>
                </a:tc>
                <a:tc rowSpan="2">
                  <a:txBody>
                    <a:bodyPr/>
                    <a:lstStyle/>
                    <a:p>
                      <a:pPr algn="just"/>
                      <a:r>
                        <a:rPr lang="zh-CN" sz="1600" kern="100">
                          <a:effectLst/>
                        </a:rPr>
                        <a:t>中断周期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 anchor="ctr"/>
                </a:tc>
              </a:tr>
              <a:tr h="217571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00">
                          <a:effectLst/>
                        </a:rPr>
                        <a:t>ADD X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00">
                          <a:effectLst/>
                        </a:rPr>
                        <a:t>STA X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00">
                          <a:effectLst/>
                        </a:rPr>
                        <a:t>LDA X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 anchor="ctr"/>
                </a:tc>
                <a:tc vMerge="1">
                  <a:tcPr/>
                </a:tc>
              </a:tr>
              <a:tr h="3309275">
                <a:tc>
                  <a:txBody>
                    <a:bodyPr/>
                    <a:lstStyle/>
                    <a:p>
                      <a:pPr algn="just"/>
                      <a:r>
                        <a:rPr lang="en-US" sz="1200" kern="100" dirty="0">
                          <a:effectLst/>
                        </a:rPr>
                        <a:t>PC </a:t>
                      </a:r>
                      <a:r>
                        <a:rPr lang="en-US" sz="1200" kern="100" dirty="0">
                          <a:effectLst/>
                          <a:sym typeface="Wingdings" panose="05000000000000000000" pitchFamily="2" charset="2"/>
                        </a:rPr>
                        <a:t> MAR</a:t>
                      </a:r>
                      <a:endParaRPr lang="en-US" sz="1200" kern="100" dirty="0">
                        <a:effectLst/>
                        <a:sym typeface="Wingdings" panose="05000000000000000000" pitchFamily="2" charset="2"/>
                      </a:endParaRPr>
                    </a:p>
                    <a:p>
                      <a:pPr algn="just"/>
                      <a:r>
                        <a:rPr lang="en-US" altLang="zh-CN" sz="1200" kern="100" dirty="0">
                          <a:effectLst/>
                          <a:sym typeface="Wingdings" panose="05000000000000000000" pitchFamily="2" charset="2"/>
                        </a:rPr>
                        <a:t>1R </a:t>
                      </a:r>
                      <a:endParaRPr lang="en-US" altLang="zh-CN" sz="1200" kern="100" dirty="0">
                        <a:effectLst/>
                        <a:sym typeface="Wingdings" panose="05000000000000000000" pitchFamily="2" charset="2"/>
                      </a:endParaRPr>
                    </a:p>
                    <a:p>
                      <a:pPr algn="just"/>
                      <a:endParaRPr lang="en-US" altLang="zh-CN" sz="1200" kern="100" dirty="0">
                        <a:effectLst/>
                        <a:sym typeface="Wingdings" panose="05000000000000000000" pitchFamily="2" charset="2"/>
                      </a:endParaRPr>
                    </a:p>
                    <a:p>
                      <a:pPr algn="just"/>
                      <a:endParaRPr lang="en-US" altLang="zh-CN" sz="1200" kern="100" dirty="0">
                        <a:effectLst/>
                        <a:sym typeface="Wingdings" panose="05000000000000000000" pitchFamily="2" charset="2"/>
                      </a:endParaRPr>
                    </a:p>
                    <a:p>
                      <a:pPr algn="just"/>
                      <a:endParaRPr lang="en-US" altLang="zh-CN" sz="1200" kern="100" dirty="0">
                        <a:effectLst/>
                        <a:sym typeface="Wingdings" panose="05000000000000000000" pitchFamily="2" charset="2"/>
                      </a:endParaRPr>
                    </a:p>
                    <a:p>
                      <a:pPr algn="just"/>
                      <a:r>
                        <a:rPr lang="en-US" altLang="zh-CN" sz="1200" kern="100" dirty="0">
                          <a:effectLst/>
                          <a:sym typeface="Wingdings" panose="05000000000000000000" pitchFamily="2" charset="2"/>
                        </a:rPr>
                        <a:t>M(MAR)MDR</a:t>
                      </a:r>
                      <a:endParaRPr lang="en-US" altLang="zh-CN" sz="1200" kern="100" dirty="0">
                        <a:effectLst/>
                        <a:sym typeface="Wingdings" panose="05000000000000000000" pitchFamily="2" charset="2"/>
                      </a:endParaRPr>
                    </a:p>
                    <a:p>
                      <a:pPr marL="0" marR="0" lvl="0" indent="0" algn="just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kern="100" dirty="0">
                          <a:effectLst/>
                          <a:sym typeface="Wingdings" panose="05000000000000000000" pitchFamily="2" charset="2"/>
                        </a:rPr>
                        <a:t>PC+1PC</a:t>
                      </a:r>
                      <a:endParaRPr lang="en-US" altLang="zh-CN" sz="1200" kern="100" dirty="0">
                        <a:effectLst/>
                        <a:sym typeface="Wingdings" panose="05000000000000000000" pitchFamily="2" charset="2"/>
                      </a:endParaRPr>
                    </a:p>
                    <a:p>
                      <a:pPr algn="just"/>
                      <a:endParaRPr lang="en-US" altLang="zh-CN" sz="1200" kern="100" dirty="0">
                        <a:effectLst/>
                        <a:sym typeface="Wingdings" panose="05000000000000000000" pitchFamily="2" charset="2"/>
                      </a:endParaRPr>
                    </a:p>
                    <a:p>
                      <a:pPr algn="just"/>
                      <a:endParaRPr lang="en-US" altLang="zh-CN" sz="1200" kern="100" dirty="0">
                        <a:effectLst/>
                        <a:sym typeface="Wingdings" panose="05000000000000000000" pitchFamily="2" charset="2"/>
                      </a:endParaRPr>
                    </a:p>
                    <a:p>
                      <a:pPr algn="just"/>
                      <a:r>
                        <a:rPr lang="en-US" altLang="zh-CN" sz="1200" kern="100" dirty="0">
                          <a:effectLst/>
                          <a:sym typeface="Wingdings" panose="05000000000000000000" pitchFamily="2" charset="2"/>
                        </a:rPr>
                        <a:t>MDRIR</a:t>
                      </a:r>
                      <a:endParaRPr lang="en-US" altLang="zh-CN" sz="1200" kern="100" dirty="0">
                        <a:effectLst/>
                        <a:sym typeface="Wingdings" panose="05000000000000000000" pitchFamily="2" charset="2"/>
                      </a:endParaRPr>
                    </a:p>
                    <a:p>
                      <a:pPr algn="just"/>
                      <a:r>
                        <a:rPr lang="en-US" altLang="zh-CN" sz="1200" kern="100" dirty="0">
                          <a:effectLst/>
                          <a:sym typeface="Wingdings" panose="05000000000000000000" pitchFamily="2" charset="2"/>
                        </a:rPr>
                        <a:t>Op(IR)CU</a:t>
                      </a:r>
                      <a:endParaRPr lang="en-US" altLang="zh-CN" sz="1200" kern="100" dirty="0">
                        <a:effectLst/>
                        <a:sym typeface="Wingdings" panose="05000000000000000000" pitchFamily="2" charset="2"/>
                      </a:endParaRPr>
                    </a:p>
                    <a:p>
                      <a:pPr algn="just"/>
                      <a:endParaRPr lang="zh-CN" sz="1600" kern="100" dirty="0">
                        <a:effectLst/>
                      </a:endParaRPr>
                    </a:p>
                    <a:p>
                      <a:pPr algn="just"/>
                      <a:r>
                        <a:rPr lang="en-US" sz="1600" kern="100" dirty="0">
                          <a:effectLst/>
                        </a:rPr>
                        <a:t> </a:t>
                      </a:r>
                      <a:endParaRPr lang="zh-CN" sz="1600" kern="100" dirty="0">
                        <a:effectLst/>
                      </a:endParaRPr>
                    </a:p>
                    <a:p>
                      <a:pPr algn="just"/>
                      <a:r>
                        <a:rPr lang="en-US" sz="1600" kern="100" dirty="0">
                          <a:effectLst/>
                        </a:rPr>
                        <a:t> </a:t>
                      </a:r>
                      <a:endParaRPr lang="zh-CN" sz="1600" kern="100" dirty="0">
                        <a:effectLst/>
                      </a:endParaRPr>
                    </a:p>
                    <a:p>
                      <a:pPr algn="just"/>
                      <a:r>
                        <a:rPr lang="en-US" sz="1600" kern="100" dirty="0">
                          <a:effectLst/>
                        </a:rPr>
                        <a:t> </a:t>
                      </a:r>
                      <a:endParaRPr lang="zh-CN" sz="1600" kern="100" dirty="0">
                        <a:effectLst/>
                      </a:endParaRPr>
                    </a:p>
                    <a:p>
                      <a:pPr algn="just"/>
                      <a:r>
                        <a:rPr lang="en-US" sz="1600" kern="100" dirty="0">
                          <a:effectLst/>
                        </a:rPr>
                        <a:t> </a:t>
                      </a:r>
                      <a:endParaRPr lang="zh-CN" sz="1600" kern="100" dirty="0">
                        <a:effectLst/>
                      </a:endParaRPr>
                    </a:p>
                    <a:p>
                      <a:pPr algn="just"/>
                      <a:r>
                        <a:rPr lang="en-US" sz="1600" kern="100" dirty="0">
                          <a:effectLst/>
                        </a:rPr>
                        <a:t> </a:t>
                      </a:r>
                      <a:endParaRPr lang="zh-CN" sz="1600" kern="100" dirty="0">
                        <a:effectLst/>
                      </a:endParaRPr>
                    </a:p>
                    <a:p>
                      <a:pPr algn="just"/>
                      <a:r>
                        <a:rPr lang="en-US" sz="1600" kern="100" dirty="0">
                          <a:effectLst/>
                        </a:rPr>
                        <a:t> </a:t>
                      </a:r>
                      <a:endParaRPr lang="zh-CN" sz="1600" kern="100" dirty="0">
                        <a:effectLst/>
                      </a:endParaRPr>
                    </a:p>
                    <a:p>
                      <a:pPr algn="just"/>
                      <a:r>
                        <a:rPr lang="en-US" sz="1600" kern="100" dirty="0">
                          <a:effectLst/>
                        </a:rPr>
                        <a:t> </a:t>
                      </a:r>
                      <a:endParaRPr lang="zh-CN" sz="1600" kern="100" dirty="0">
                        <a:effectLst/>
                      </a:endParaRPr>
                    </a:p>
                    <a:p>
                      <a:pPr algn="just"/>
                      <a:r>
                        <a:rPr lang="en-US" sz="1600" kern="100" dirty="0">
                          <a:effectLst/>
                        </a:rPr>
                        <a:t> </a:t>
                      </a:r>
                      <a:endParaRPr lang="zh-CN" sz="1600" kern="100" dirty="0">
                        <a:effectLst/>
                      </a:endParaRPr>
                    </a:p>
                    <a:p>
                      <a:pPr algn="just"/>
                      <a:r>
                        <a:rPr lang="en-US" sz="1600" kern="100" dirty="0">
                          <a:effectLst/>
                        </a:rPr>
                        <a:t> </a:t>
                      </a:r>
                      <a:endParaRPr lang="zh-CN" sz="1600" kern="100" dirty="0">
                        <a:effectLst/>
                      </a:endParaRPr>
                    </a:p>
                    <a:p>
                      <a:pPr algn="just"/>
                      <a:r>
                        <a:rPr lang="en-US" sz="1600" kern="100" dirty="0">
                          <a:effectLst/>
                        </a:rPr>
                        <a:t> 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altLang="zh-CN" sz="1200" kern="100" dirty="0">
                          <a:effectLst/>
                        </a:rPr>
                        <a:t>Ad(IR) </a:t>
                      </a:r>
                      <a:r>
                        <a:rPr lang="en-US" altLang="zh-CN" sz="1200" kern="100" dirty="0">
                          <a:effectLst/>
                          <a:sym typeface="Wingdings" panose="05000000000000000000" pitchFamily="2" charset="2"/>
                        </a:rPr>
                        <a:t> MAR</a:t>
                      </a:r>
                      <a:endParaRPr lang="en-US" altLang="zh-CN" sz="1200" kern="100" dirty="0">
                        <a:effectLst/>
                        <a:sym typeface="Wingdings" panose="05000000000000000000" pitchFamily="2" charset="2"/>
                      </a:endParaRPr>
                    </a:p>
                    <a:p>
                      <a:pPr algn="just"/>
                      <a:r>
                        <a:rPr lang="en-US" altLang="zh-CN" sz="1200" kern="100" dirty="0">
                          <a:effectLst/>
                          <a:sym typeface="Wingdings" panose="05000000000000000000" pitchFamily="2" charset="2"/>
                        </a:rPr>
                        <a:t>1R </a:t>
                      </a:r>
                      <a:endParaRPr lang="en-US" altLang="zh-CN" sz="1200" kern="100" dirty="0">
                        <a:effectLst/>
                        <a:sym typeface="Wingdings" panose="05000000000000000000" pitchFamily="2" charset="2"/>
                      </a:endParaRPr>
                    </a:p>
                    <a:p>
                      <a:pPr algn="just"/>
                      <a:endParaRPr lang="en-US" altLang="zh-CN" sz="1200" kern="100" dirty="0">
                        <a:effectLst/>
                        <a:sym typeface="Wingdings" panose="05000000000000000000" pitchFamily="2" charset="2"/>
                      </a:endParaRPr>
                    </a:p>
                    <a:p>
                      <a:pPr algn="just"/>
                      <a:endParaRPr lang="en-US" altLang="zh-CN" sz="1200" kern="100" dirty="0">
                        <a:effectLst/>
                        <a:sym typeface="Wingdings" panose="05000000000000000000" pitchFamily="2" charset="2"/>
                      </a:endParaRPr>
                    </a:p>
                    <a:p>
                      <a:pPr algn="just"/>
                      <a:endParaRPr lang="en-US" altLang="zh-CN" sz="1200" kern="100" dirty="0">
                        <a:effectLst/>
                        <a:sym typeface="Wingdings" panose="05000000000000000000" pitchFamily="2" charset="2"/>
                      </a:endParaRPr>
                    </a:p>
                    <a:p>
                      <a:pPr algn="just"/>
                      <a:r>
                        <a:rPr lang="en-US" altLang="zh-CN" sz="1200" kern="100" dirty="0">
                          <a:effectLst/>
                          <a:sym typeface="Wingdings" panose="05000000000000000000" pitchFamily="2" charset="2"/>
                        </a:rPr>
                        <a:t>M(MAR)MDR</a:t>
                      </a:r>
                      <a:endParaRPr lang="en-US" altLang="zh-CN" sz="1200" kern="100" dirty="0">
                        <a:effectLst/>
                        <a:sym typeface="Wingdings" panose="05000000000000000000" pitchFamily="2" charset="2"/>
                      </a:endParaRPr>
                    </a:p>
                    <a:p>
                      <a:pPr algn="just"/>
                      <a:endParaRPr lang="en-US" altLang="zh-CN" sz="1200" kern="100" dirty="0">
                        <a:effectLst/>
                        <a:sym typeface="Wingdings" panose="05000000000000000000" pitchFamily="2" charset="2"/>
                      </a:endParaRPr>
                    </a:p>
                    <a:p>
                      <a:pPr algn="just"/>
                      <a:endParaRPr lang="en-US" altLang="zh-CN" sz="1200" kern="100" dirty="0">
                        <a:effectLst/>
                        <a:sym typeface="Wingdings" panose="05000000000000000000" pitchFamily="2" charset="2"/>
                      </a:endParaRPr>
                    </a:p>
                    <a:p>
                      <a:pPr algn="just"/>
                      <a:endParaRPr lang="en-US" altLang="zh-CN" sz="1200" kern="100" dirty="0">
                        <a:effectLst/>
                        <a:sym typeface="Wingdings" panose="05000000000000000000" pitchFamily="2" charset="2"/>
                      </a:endParaRPr>
                    </a:p>
                    <a:p>
                      <a:pPr algn="just"/>
                      <a:r>
                        <a:rPr lang="en-US" altLang="zh-CN" sz="1200" kern="100" dirty="0" err="1">
                          <a:effectLst/>
                          <a:sym typeface="Wingdings" panose="05000000000000000000" pitchFamily="2" charset="2"/>
                        </a:rPr>
                        <a:t>MDRAd</a:t>
                      </a:r>
                      <a:r>
                        <a:rPr lang="en-US" altLang="zh-CN" sz="1200" kern="100" dirty="0">
                          <a:effectLst/>
                          <a:sym typeface="Wingdings" panose="05000000000000000000" pitchFamily="2" charset="2"/>
                        </a:rPr>
                        <a:t>(IR)</a:t>
                      </a:r>
                      <a:endParaRPr lang="en-US" altLang="zh-CN" sz="1200" kern="100" dirty="0">
                        <a:effectLst/>
                        <a:sym typeface="Wingdings" panose="05000000000000000000" pitchFamily="2" charset="2"/>
                      </a:endParaRPr>
                    </a:p>
                    <a:p>
                      <a:pPr algn="just"/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altLang="zh-CN" sz="1200" kern="100" dirty="0">
                          <a:effectLst/>
                        </a:rPr>
                        <a:t>Ad(IR) </a:t>
                      </a:r>
                      <a:r>
                        <a:rPr lang="en-US" altLang="zh-CN" sz="1200" kern="100" dirty="0">
                          <a:effectLst/>
                          <a:sym typeface="Wingdings" panose="05000000000000000000" pitchFamily="2" charset="2"/>
                        </a:rPr>
                        <a:t> MAR</a:t>
                      </a:r>
                      <a:endParaRPr lang="en-US" altLang="zh-CN" sz="1200" kern="100" dirty="0">
                        <a:effectLst/>
                        <a:sym typeface="Wingdings" panose="05000000000000000000" pitchFamily="2" charset="2"/>
                      </a:endParaRPr>
                    </a:p>
                    <a:p>
                      <a:pPr algn="just"/>
                      <a:r>
                        <a:rPr lang="en-US" altLang="zh-CN" sz="1200" kern="100" dirty="0">
                          <a:effectLst/>
                          <a:sym typeface="Wingdings" panose="05000000000000000000" pitchFamily="2" charset="2"/>
                        </a:rPr>
                        <a:t>1R </a:t>
                      </a:r>
                      <a:endParaRPr lang="en-US" altLang="zh-CN" sz="1200" kern="100" dirty="0">
                        <a:effectLst/>
                        <a:sym typeface="Wingdings" panose="05000000000000000000" pitchFamily="2" charset="2"/>
                      </a:endParaRPr>
                    </a:p>
                    <a:p>
                      <a:pPr algn="just"/>
                      <a:endParaRPr lang="en-US" altLang="zh-CN" sz="1200" kern="100" dirty="0">
                        <a:effectLst/>
                        <a:sym typeface="Wingdings" panose="05000000000000000000" pitchFamily="2" charset="2"/>
                      </a:endParaRPr>
                    </a:p>
                    <a:p>
                      <a:pPr algn="just"/>
                      <a:endParaRPr lang="en-US" altLang="zh-CN" sz="1200" kern="100" dirty="0">
                        <a:effectLst/>
                        <a:sym typeface="Wingdings" panose="05000000000000000000" pitchFamily="2" charset="2"/>
                      </a:endParaRPr>
                    </a:p>
                    <a:p>
                      <a:pPr algn="just"/>
                      <a:endParaRPr lang="en-US" altLang="zh-CN" sz="1200" kern="100" dirty="0">
                        <a:effectLst/>
                        <a:sym typeface="Wingdings" panose="05000000000000000000" pitchFamily="2" charset="2"/>
                      </a:endParaRPr>
                    </a:p>
                    <a:p>
                      <a:pPr algn="just"/>
                      <a:r>
                        <a:rPr lang="en-US" altLang="zh-CN" sz="1200" kern="100" dirty="0">
                          <a:effectLst/>
                          <a:sym typeface="Wingdings" panose="05000000000000000000" pitchFamily="2" charset="2"/>
                        </a:rPr>
                        <a:t>M(MAR)MDR</a:t>
                      </a:r>
                      <a:endParaRPr lang="en-US" altLang="zh-CN" sz="1200" kern="100" dirty="0">
                        <a:effectLst/>
                        <a:sym typeface="Wingdings" panose="05000000000000000000" pitchFamily="2" charset="2"/>
                      </a:endParaRPr>
                    </a:p>
                    <a:p>
                      <a:pPr algn="just"/>
                      <a:endParaRPr lang="en-US" altLang="zh-CN" sz="1200" kern="100" dirty="0">
                        <a:effectLst/>
                        <a:sym typeface="Wingdings" panose="05000000000000000000" pitchFamily="2" charset="2"/>
                      </a:endParaRPr>
                    </a:p>
                    <a:p>
                      <a:pPr algn="just"/>
                      <a:endParaRPr lang="en-US" altLang="zh-CN" sz="1200" kern="100" dirty="0">
                        <a:effectLst/>
                        <a:sym typeface="Wingdings" panose="05000000000000000000" pitchFamily="2" charset="2"/>
                      </a:endParaRPr>
                    </a:p>
                    <a:p>
                      <a:pPr algn="just"/>
                      <a:endParaRPr lang="en-US" altLang="zh-CN" sz="1200" kern="100" dirty="0">
                        <a:effectLst/>
                        <a:sym typeface="Wingdings" panose="05000000000000000000" pitchFamily="2" charset="2"/>
                      </a:endParaRPr>
                    </a:p>
                    <a:p>
                      <a:pPr algn="just"/>
                      <a:r>
                        <a:rPr lang="en-US" altLang="zh-CN" sz="1200" kern="100" dirty="0">
                          <a:effectLst/>
                          <a:sym typeface="Wingdings" panose="05000000000000000000" pitchFamily="2" charset="2"/>
                        </a:rPr>
                        <a:t>(MDR)+(ACC)ACC</a:t>
                      </a:r>
                      <a:endParaRPr lang="en-US" altLang="zh-CN" sz="1200" kern="100" dirty="0">
                        <a:effectLst/>
                        <a:sym typeface="Wingdings" panose="05000000000000000000" pitchFamily="2" charset="2"/>
                      </a:endParaRPr>
                    </a:p>
                    <a:p>
                      <a:pPr algn="just"/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altLang="zh-CN" sz="1200" kern="100" dirty="0">
                          <a:effectLst/>
                        </a:rPr>
                        <a:t>Ad(IR) </a:t>
                      </a:r>
                      <a:r>
                        <a:rPr lang="en-US" altLang="zh-CN" sz="1200" kern="100" dirty="0">
                          <a:effectLst/>
                          <a:sym typeface="Wingdings" panose="05000000000000000000" pitchFamily="2" charset="2"/>
                        </a:rPr>
                        <a:t> MAR</a:t>
                      </a:r>
                      <a:endParaRPr lang="en-US" altLang="zh-CN" sz="1200" kern="100" dirty="0">
                        <a:effectLst/>
                        <a:sym typeface="Wingdings" panose="05000000000000000000" pitchFamily="2" charset="2"/>
                      </a:endParaRPr>
                    </a:p>
                    <a:p>
                      <a:pPr algn="just"/>
                      <a:r>
                        <a:rPr lang="en-US" altLang="zh-CN" sz="1200" kern="100" dirty="0">
                          <a:effectLst/>
                          <a:sym typeface="Wingdings" panose="05000000000000000000" pitchFamily="2" charset="2"/>
                        </a:rPr>
                        <a:t>1W</a:t>
                      </a:r>
                      <a:endParaRPr lang="en-US" altLang="zh-CN" sz="1200" kern="100" dirty="0">
                        <a:effectLst/>
                        <a:sym typeface="Wingdings" panose="05000000000000000000" pitchFamily="2" charset="2"/>
                      </a:endParaRPr>
                    </a:p>
                    <a:p>
                      <a:pPr algn="just"/>
                      <a:endParaRPr lang="en-US" altLang="zh-CN" sz="1200" kern="100" dirty="0">
                        <a:effectLst/>
                        <a:sym typeface="Wingdings" panose="05000000000000000000" pitchFamily="2" charset="2"/>
                      </a:endParaRPr>
                    </a:p>
                    <a:p>
                      <a:pPr algn="just"/>
                      <a:endParaRPr lang="en-US" altLang="zh-CN" sz="1200" kern="100" dirty="0">
                        <a:effectLst/>
                        <a:sym typeface="Wingdings" panose="05000000000000000000" pitchFamily="2" charset="2"/>
                      </a:endParaRPr>
                    </a:p>
                    <a:p>
                      <a:pPr algn="just"/>
                      <a:endParaRPr lang="en-US" altLang="zh-CN" sz="1200" kern="100" dirty="0">
                        <a:effectLst/>
                        <a:sym typeface="Wingdings" panose="05000000000000000000" pitchFamily="2" charset="2"/>
                      </a:endParaRPr>
                    </a:p>
                    <a:p>
                      <a:pPr algn="just"/>
                      <a:r>
                        <a:rPr lang="en-US" altLang="zh-CN" sz="1200" kern="100" dirty="0">
                          <a:effectLst/>
                          <a:sym typeface="Wingdings" panose="05000000000000000000" pitchFamily="2" charset="2"/>
                        </a:rPr>
                        <a:t>(ACC)MDR</a:t>
                      </a:r>
                      <a:endParaRPr lang="en-US" altLang="zh-CN" sz="1200" kern="100" dirty="0">
                        <a:effectLst/>
                        <a:sym typeface="Wingdings" panose="05000000000000000000" pitchFamily="2" charset="2"/>
                      </a:endParaRPr>
                    </a:p>
                    <a:p>
                      <a:pPr algn="just"/>
                      <a:endParaRPr lang="en-US" altLang="zh-CN" sz="1200" kern="100" dirty="0">
                        <a:effectLst/>
                        <a:sym typeface="Wingdings" panose="05000000000000000000" pitchFamily="2" charset="2"/>
                      </a:endParaRPr>
                    </a:p>
                    <a:p>
                      <a:pPr algn="just"/>
                      <a:endParaRPr lang="en-US" altLang="zh-CN" sz="1200" kern="100" dirty="0">
                        <a:effectLst/>
                        <a:sym typeface="Wingdings" panose="05000000000000000000" pitchFamily="2" charset="2"/>
                      </a:endParaRPr>
                    </a:p>
                    <a:p>
                      <a:pPr algn="just"/>
                      <a:endParaRPr lang="en-US" altLang="zh-CN" sz="1200" kern="100" dirty="0">
                        <a:effectLst/>
                        <a:sym typeface="Wingdings" panose="05000000000000000000" pitchFamily="2" charset="2"/>
                      </a:endParaRPr>
                    </a:p>
                    <a:p>
                      <a:pPr algn="just"/>
                      <a:r>
                        <a:rPr lang="en-US" altLang="zh-CN" sz="1200" kern="100" dirty="0">
                          <a:effectLst/>
                          <a:sym typeface="Wingdings" panose="05000000000000000000" pitchFamily="2" charset="2"/>
                        </a:rPr>
                        <a:t>MDRM(MAR)</a:t>
                      </a:r>
                      <a:endParaRPr lang="en-US" altLang="zh-CN" sz="1200" kern="100" dirty="0">
                        <a:effectLst/>
                        <a:sym typeface="Wingdings" panose="05000000000000000000" pitchFamily="2" charset="2"/>
                      </a:endParaRPr>
                    </a:p>
                    <a:p>
                      <a:pPr algn="just"/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altLang="zh-CN" sz="1200" kern="100" dirty="0">
                          <a:effectLst/>
                        </a:rPr>
                        <a:t>Ad(IR) </a:t>
                      </a:r>
                      <a:r>
                        <a:rPr lang="en-US" altLang="zh-CN" sz="1200" kern="100" dirty="0">
                          <a:effectLst/>
                          <a:sym typeface="Wingdings" panose="05000000000000000000" pitchFamily="2" charset="2"/>
                        </a:rPr>
                        <a:t> MAR</a:t>
                      </a:r>
                      <a:endParaRPr lang="en-US" altLang="zh-CN" sz="1200" kern="100" dirty="0">
                        <a:effectLst/>
                        <a:sym typeface="Wingdings" panose="05000000000000000000" pitchFamily="2" charset="2"/>
                      </a:endParaRPr>
                    </a:p>
                    <a:p>
                      <a:pPr algn="just"/>
                      <a:r>
                        <a:rPr lang="en-US" altLang="zh-CN" sz="1200" kern="100" dirty="0">
                          <a:effectLst/>
                          <a:sym typeface="Wingdings" panose="05000000000000000000" pitchFamily="2" charset="2"/>
                        </a:rPr>
                        <a:t>1R</a:t>
                      </a:r>
                      <a:endParaRPr lang="en-US" altLang="zh-CN" sz="1200" kern="100" dirty="0">
                        <a:effectLst/>
                        <a:sym typeface="Wingdings" panose="05000000000000000000" pitchFamily="2" charset="2"/>
                      </a:endParaRPr>
                    </a:p>
                    <a:p>
                      <a:pPr algn="just"/>
                      <a:endParaRPr lang="en-US" altLang="zh-CN" sz="1200" kern="100" dirty="0">
                        <a:effectLst/>
                        <a:sym typeface="Wingdings" panose="05000000000000000000" pitchFamily="2" charset="2"/>
                      </a:endParaRPr>
                    </a:p>
                    <a:p>
                      <a:pPr algn="just"/>
                      <a:endParaRPr lang="en-US" altLang="zh-CN" sz="1200" kern="100" dirty="0">
                        <a:effectLst/>
                        <a:sym typeface="Wingdings" panose="05000000000000000000" pitchFamily="2" charset="2"/>
                      </a:endParaRPr>
                    </a:p>
                    <a:p>
                      <a:pPr algn="just"/>
                      <a:endParaRPr lang="en-US" altLang="zh-CN" sz="1200" kern="100" dirty="0">
                        <a:effectLst/>
                        <a:sym typeface="Wingdings" panose="05000000000000000000" pitchFamily="2" charset="2"/>
                      </a:endParaRPr>
                    </a:p>
                    <a:p>
                      <a:pPr algn="just"/>
                      <a:r>
                        <a:rPr lang="en-US" altLang="zh-CN" sz="1200" kern="100" dirty="0">
                          <a:effectLst/>
                          <a:sym typeface="Wingdings" panose="05000000000000000000" pitchFamily="2" charset="2"/>
                        </a:rPr>
                        <a:t>M(MAR)MDR</a:t>
                      </a:r>
                      <a:endParaRPr lang="en-US" altLang="zh-CN" sz="1200" kern="100" dirty="0">
                        <a:effectLst/>
                        <a:sym typeface="Wingdings" panose="05000000000000000000" pitchFamily="2" charset="2"/>
                      </a:endParaRPr>
                    </a:p>
                    <a:p>
                      <a:pPr algn="just"/>
                      <a:endParaRPr lang="en-US" altLang="zh-CN" sz="1200" kern="100" dirty="0">
                        <a:effectLst/>
                        <a:sym typeface="Wingdings" panose="05000000000000000000" pitchFamily="2" charset="2"/>
                      </a:endParaRPr>
                    </a:p>
                    <a:p>
                      <a:pPr algn="just"/>
                      <a:endParaRPr lang="en-US" altLang="zh-CN" sz="1200" kern="100" dirty="0">
                        <a:effectLst/>
                        <a:sym typeface="Wingdings" panose="05000000000000000000" pitchFamily="2" charset="2"/>
                      </a:endParaRPr>
                    </a:p>
                    <a:p>
                      <a:pPr algn="just"/>
                      <a:endParaRPr lang="en-US" altLang="zh-CN" sz="1200" kern="100" dirty="0">
                        <a:effectLst/>
                        <a:sym typeface="Wingdings" panose="05000000000000000000" pitchFamily="2" charset="2"/>
                      </a:endParaRPr>
                    </a:p>
                    <a:p>
                      <a:pPr algn="just"/>
                      <a:r>
                        <a:rPr lang="en-US" altLang="zh-CN" sz="1200" kern="100" dirty="0">
                          <a:effectLst/>
                          <a:sym typeface="Wingdings" panose="05000000000000000000" pitchFamily="2" charset="2"/>
                        </a:rPr>
                        <a:t>MDRACC</a:t>
                      </a:r>
                      <a:endParaRPr lang="en-US" altLang="zh-CN" sz="1200" kern="100" dirty="0">
                        <a:effectLst/>
                        <a:sym typeface="Wingdings" panose="05000000000000000000" pitchFamily="2" charset="2"/>
                      </a:endParaRPr>
                    </a:p>
                    <a:p>
                      <a:pPr algn="just"/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 kern="100" dirty="0">
                          <a:effectLst/>
                        </a:rPr>
                        <a:t> 0</a:t>
                      </a:r>
                      <a:r>
                        <a:rPr lang="en-US" sz="1200" kern="100" dirty="0">
                          <a:effectLst/>
                          <a:sym typeface="Wingdings" panose="05000000000000000000" pitchFamily="2" charset="2"/>
                        </a:rPr>
                        <a:t>MAR</a:t>
                      </a:r>
                      <a:endParaRPr lang="en-US" sz="1200" kern="100" dirty="0">
                        <a:effectLst/>
                        <a:sym typeface="Wingdings" panose="05000000000000000000" pitchFamily="2" charset="2"/>
                      </a:endParaRPr>
                    </a:p>
                    <a:p>
                      <a:pPr algn="just"/>
                      <a:r>
                        <a:rPr lang="en-US" altLang="zh-CN" sz="12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1W</a:t>
                      </a:r>
                      <a:endParaRPr lang="en-US" altLang="zh-CN" sz="12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  <a:sym typeface="Wingdings" panose="05000000000000000000" pitchFamily="2" charset="2"/>
                      </a:endParaRPr>
                    </a:p>
                    <a:p>
                      <a:pPr algn="just"/>
                      <a:r>
                        <a:rPr lang="en-US" altLang="zh-CN" sz="12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0ENIT</a:t>
                      </a:r>
                      <a:endParaRPr lang="en-US" altLang="zh-CN" sz="12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  <a:sym typeface="Wingdings" panose="05000000000000000000" pitchFamily="2" charset="2"/>
                      </a:endParaRPr>
                    </a:p>
                    <a:p>
                      <a:pPr algn="just"/>
                      <a:endParaRPr lang="en-US" altLang="zh-CN" sz="12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  <a:sym typeface="Wingdings" panose="05000000000000000000" pitchFamily="2" charset="2"/>
                      </a:endParaRPr>
                    </a:p>
                    <a:p>
                      <a:pPr algn="just"/>
                      <a:endParaRPr lang="en-US" altLang="zh-CN" sz="12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  <a:sym typeface="Wingdings" panose="05000000000000000000" pitchFamily="2" charset="2"/>
                      </a:endParaRPr>
                    </a:p>
                    <a:p>
                      <a:pPr algn="just"/>
                      <a:r>
                        <a:rPr lang="en-US" altLang="zh-CN" sz="12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PCMDR</a:t>
                      </a:r>
                      <a:endParaRPr lang="en-US" altLang="zh-CN" sz="12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  <a:sym typeface="Wingdings" panose="05000000000000000000" pitchFamily="2" charset="2"/>
                      </a:endParaRPr>
                    </a:p>
                    <a:p>
                      <a:pPr algn="just"/>
                      <a:endParaRPr lang="en-US" altLang="zh-CN" sz="12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  <a:sym typeface="Wingdings" panose="05000000000000000000" pitchFamily="2" charset="2"/>
                      </a:endParaRPr>
                    </a:p>
                    <a:p>
                      <a:pPr algn="just"/>
                      <a:endParaRPr lang="en-US" altLang="zh-CN" sz="12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  <a:sym typeface="Wingdings" panose="05000000000000000000" pitchFamily="2" charset="2"/>
                      </a:endParaRPr>
                    </a:p>
                    <a:p>
                      <a:pPr algn="just"/>
                      <a:endParaRPr lang="en-US" altLang="zh-CN" sz="12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  <a:sym typeface="Wingdings" panose="05000000000000000000" pitchFamily="2" charset="2"/>
                      </a:endParaRPr>
                    </a:p>
                    <a:p>
                      <a:pPr algn="just"/>
                      <a:r>
                        <a:rPr lang="en-US" altLang="zh-CN" sz="12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MDRM(MAR)</a:t>
                      </a:r>
                      <a:endParaRPr lang="en-US" altLang="zh-CN" sz="12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  <a:sym typeface="Wingdings" panose="05000000000000000000" pitchFamily="2" charset="2"/>
                      </a:endParaRPr>
                    </a:p>
                    <a:p>
                      <a:pPr algn="just"/>
                      <a:r>
                        <a:rPr lang="zh-CN" altLang="en-US" sz="12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向量地址</a:t>
                      </a:r>
                      <a:r>
                        <a:rPr lang="en-US" altLang="zh-CN" sz="12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PC</a:t>
                      </a:r>
                      <a:endParaRPr lang="en-US" altLang="zh-CN" sz="12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  <a:sym typeface="Wingdings" panose="05000000000000000000" pitchFamily="2" charset="2"/>
                      </a:endParaRPr>
                    </a:p>
                  </a:txBody>
                  <a:tcPr marL="68589" marR="68589" marT="0" marB="0"/>
                </a:tc>
              </a:tr>
            </a:tbl>
          </a:graphicData>
        </a:graphic>
      </p:graphicFrame>
      <p:sp>
        <p:nvSpPr>
          <p:cNvPr id="4" name="Text Box 4"/>
          <p:cNvSpPr txBox="1"/>
          <p:nvPr/>
        </p:nvSpPr>
        <p:spPr>
          <a:xfrm>
            <a:off x="835025" y="476250"/>
            <a:ext cx="5105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zh-CN" altLang="en-US" sz="2400" dirty="0">
                <a:latin typeface="等线" panose="02010600030101010101" pitchFamily="2" charset="-122"/>
              </a:rPr>
              <a:t>微操作节拍安排</a:t>
            </a:r>
            <a:endParaRPr lang="zh-CN" altLang="en-US" sz="2400" dirty="0">
              <a:solidFill>
                <a:schemeClr val="folHlink"/>
              </a:solidFill>
              <a:latin typeface="等线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1506" name="Text Box 2"/>
          <p:cNvSpPr txBox="1"/>
          <p:nvPr/>
        </p:nvSpPr>
        <p:spPr>
          <a:xfrm>
            <a:off x="381000" y="304800"/>
            <a:ext cx="4772025" cy="6413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3600" dirty="0">
                <a:latin typeface="Times New Roman" panose="02020603050405020304" pitchFamily="18" charset="0"/>
              </a:rPr>
              <a:t>三、组合逻辑设计步骤</a:t>
            </a:r>
            <a:endParaRPr lang="zh-CN" altLang="en-US" sz="3600" dirty="0">
              <a:latin typeface="Times New Roman" panose="02020603050405020304" pitchFamily="18" charset="0"/>
            </a:endParaRPr>
          </a:p>
        </p:txBody>
      </p:sp>
      <p:sp>
        <p:nvSpPr>
          <p:cNvPr id="619523" name="Text Box 3"/>
          <p:cNvSpPr txBox="1"/>
          <p:nvPr/>
        </p:nvSpPr>
        <p:spPr>
          <a:xfrm>
            <a:off x="998538" y="1066800"/>
            <a:ext cx="3040062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</a:rPr>
              <a:t>1. 列出操作时间表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21508" name="Rectangle 4"/>
          <p:cNvSpPr/>
          <p:nvPr/>
        </p:nvSpPr>
        <p:spPr>
          <a:xfrm>
            <a:off x="1866900" y="4433888"/>
            <a:ext cx="704850" cy="857250"/>
          </a:xfrm>
          <a:prstGeom prst="rect">
            <a:avLst/>
          </a:prstGeom>
          <a:noFill/>
          <a:ln w="9525">
            <a:noFill/>
          </a:ln>
        </p:spPr>
        <p:txBody>
          <a:bodyPr lIns="19050" rIns="19050" anchor="ctr" anchorCtr="1"/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</a:pP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9525" name="Rectangle 5"/>
          <p:cNvSpPr/>
          <p:nvPr/>
        </p:nvSpPr>
        <p:spPr>
          <a:xfrm>
            <a:off x="1177925" y="4433888"/>
            <a:ext cx="688975" cy="1647825"/>
          </a:xfrm>
          <a:prstGeom prst="rect">
            <a:avLst/>
          </a:prstGeom>
          <a:noFill/>
          <a:ln w="9525">
            <a:noFill/>
          </a:ln>
        </p:spPr>
        <p:txBody>
          <a:bodyPr lIns="19050" rIns="19050" anchor="ctr" anchorCtr="1"/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en-US" altLang="zh-CN" sz="2000" i="1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lang="en-US" altLang="zh-CN" sz="2000" baseline="-25000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endParaRPr lang="zh-CN" altLang="en-US" sz="2000" baseline="-25000" dirty="0">
              <a:solidFill>
                <a:schemeClr val="fol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9526" name="Rectangle 6"/>
          <p:cNvSpPr/>
          <p:nvPr/>
        </p:nvSpPr>
        <p:spPr>
          <a:xfrm>
            <a:off x="1177925" y="3624263"/>
            <a:ext cx="688975" cy="809625"/>
          </a:xfrm>
          <a:prstGeom prst="rect">
            <a:avLst/>
          </a:prstGeom>
          <a:noFill/>
          <a:ln w="9525">
            <a:noFill/>
          </a:ln>
        </p:spPr>
        <p:txBody>
          <a:bodyPr lIns="19050" rIns="19050" anchor="ctr" anchorCtr="1"/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en-US" altLang="zh-CN" sz="2000" i="1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lang="en-US" altLang="zh-CN" sz="2000" baseline="-25000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lang="zh-CN" altLang="en-US" sz="2000" baseline="-25000" dirty="0">
              <a:solidFill>
                <a:schemeClr val="fol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9527" name="Rectangle 7"/>
          <p:cNvSpPr/>
          <p:nvPr/>
        </p:nvSpPr>
        <p:spPr>
          <a:xfrm>
            <a:off x="1177925" y="2833688"/>
            <a:ext cx="688975" cy="790575"/>
          </a:xfrm>
          <a:prstGeom prst="rect">
            <a:avLst/>
          </a:prstGeom>
          <a:noFill/>
          <a:ln w="9525">
            <a:noFill/>
          </a:ln>
        </p:spPr>
        <p:txBody>
          <a:bodyPr lIns="19050" rIns="19050" anchor="ctr" anchorCtr="1"/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en-US" altLang="zh-CN" sz="2000" i="1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lang="en-US" altLang="zh-CN" sz="2000" baseline="-25000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endParaRPr lang="en-US" altLang="zh-CN" sz="2000" baseline="-25000" dirty="0">
              <a:solidFill>
                <a:schemeClr val="fol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9528" name="Rectangle 8"/>
          <p:cNvSpPr/>
          <p:nvPr/>
        </p:nvSpPr>
        <p:spPr>
          <a:xfrm>
            <a:off x="457200" y="2833688"/>
            <a:ext cx="720725" cy="3248025"/>
          </a:xfrm>
          <a:prstGeom prst="rect">
            <a:avLst/>
          </a:prstGeom>
          <a:noFill/>
          <a:ln w="9525">
            <a:noFill/>
          </a:ln>
        </p:spPr>
        <p:txBody>
          <a:bodyPr lIns="19050" rIns="19050" anchor="ctr" anchorCtr="1"/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  FE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取指 </a:t>
            </a: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9529" name="Rectangle 9"/>
          <p:cNvSpPr/>
          <p:nvPr/>
        </p:nvSpPr>
        <p:spPr>
          <a:xfrm>
            <a:off x="8210550" y="1828800"/>
            <a:ext cx="704850" cy="1004888"/>
          </a:xfrm>
          <a:prstGeom prst="rect">
            <a:avLst/>
          </a:prstGeom>
          <a:noFill/>
          <a:ln w="9525">
            <a:noFill/>
          </a:ln>
        </p:spPr>
        <p:txBody>
          <a:bodyPr lIns="19050" rIns="19050" anchor="ctr" anchorCtr="1"/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JMP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9530" name="Rectangle 10"/>
          <p:cNvSpPr/>
          <p:nvPr/>
        </p:nvSpPr>
        <p:spPr>
          <a:xfrm>
            <a:off x="7505700" y="1828800"/>
            <a:ext cx="704850" cy="1004888"/>
          </a:xfrm>
          <a:prstGeom prst="rect">
            <a:avLst/>
          </a:prstGeom>
          <a:noFill/>
          <a:ln w="9525">
            <a:noFill/>
          </a:ln>
        </p:spPr>
        <p:txBody>
          <a:bodyPr lIns="19050" rIns="19050" anchor="ctr" anchorCtr="1"/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LDA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9531" name="Rectangle 11"/>
          <p:cNvSpPr/>
          <p:nvPr/>
        </p:nvSpPr>
        <p:spPr>
          <a:xfrm>
            <a:off x="6800850" y="1828800"/>
            <a:ext cx="704850" cy="1004888"/>
          </a:xfrm>
          <a:prstGeom prst="rect">
            <a:avLst/>
          </a:prstGeom>
          <a:noFill/>
          <a:ln w="9525">
            <a:noFill/>
          </a:ln>
        </p:spPr>
        <p:txBody>
          <a:bodyPr lIns="19050" rIns="19050" anchor="ctr" anchorCtr="1"/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STA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9532" name="Rectangle 12"/>
          <p:cNvSpPr/>
          <p:nvPr/>
        </p:nvSpPr>
        <p:spPr>
          <a:xfrm>
            <a:off x="6096000" y="1828800"/>
            <a:ext cx="704850" cy="1004888"/>
          </a:xfrm>
          <a:prstGeom prst="rect">
            <a:avLst/>
          </a:prstGeom>
          <a:noFill/>
          <a:ln w="9525">
            <a:noFill/>
          </a:ln>
        </p:spPr>
        <p:txBody>
          <a:bodyPr lIns="19050" rIns="19050" anchor="ctr" anchorCtr="1"/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ADD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9533" name="Rectangle 13"/>
          <p:cNvSpPr/>
          <p:nvPr/>
        </p:nvSpPr>
        <p:spPr>
          <a:xfrm>
            <a:off x="5391150" y="1828800"/>
            <a:ext cx="704850" cy="1004888"/>
          </a:xfrm>
          <a:prstGeom prst="rect">
            <a:avLst/>
          </a:prstGeom>
          <a:noFill/>
          <a:ln w="9525">
            <a:noFill/>
          </a:ln>
        </p:spPr>
        <p:txBody>
          <a:bodyPr lIns="19050" rIns="19050" anchor="ctr" anchorCtr="1"/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COM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9534" name="Rectangle 14"/>
          <p:cNvSpPr/>
          <p:nvPr/>
        </p:nvSpPr>
        <p:spPr>
          <a:xfrm>
            <a:off x="4686300" y="1828800"/>
            <a:ext cx="704850" cy="1004888"/>
          </a:xfrm>
          <a:prstGeom prst="rect">
            <a:avLst/>
          </a:prstGeom>
          <a:noFill/>
          <a:ln w="9525">
            <a:noFill/>
          </a:ln>
        </p:spPr>
        <p:txBody>
          <a:bodyPr lIns="19050" rIns="19050" anchor="ctr" anchorCtr="1"/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CLA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9535" name="Rectangle 15"/>
          <p:cNvSpPr/>
          <p:nvPr/>
        </p:nvSpPr>
        <p:spPr>
          <a:xfrm>
            <a:off x="2571750" y="1828800"/>
            <a:ext cx="2114550" cy="1004888"/>
          </a:xfrm>
          <a:prstGeom prst="rect">
            <a:avLst/>
          </a:prstGeom>
          <a:noFill/>
          <a:ln w="9525">
            <a:noFill/>
          </a:ln>
        </p:spPr>
        <p:txBody>
          <a:bodyPr lIns="19050" rIns="19050" anchor="ctr" anchorCtr="1"/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微操作命令信号</a:t>
            </a: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9536" name="Rectangle 16"/>
          <p:cNvSpPr/>
          <p:nvPr/>
        </p:nvSpPr>
        <p:spPr>
          <a:xfrm>
            <a:off x="1866900" y="1828800"/>
            <a:ext cx="704850" cy="1004888"/>
          </a:xfrm>
          <a:prstGeom prst="rect">
            <a:avLst/>
          </a:prstGeom>
          <a:noFill/>
          <a:ln w="9525">
            <a:noFill/>
          </a:ln>
        </p:spPr>
        <p:txBody>
          <a:bodyPr lIns="19050" rIns="19050" anchor="ctr" anchorCtr="1"/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状态条件</a:t>
            </a: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9537" name="Rectangle 17"/>
          <p:cNvSpPr/>
          <p:nvPr/>
        </p:nvSpPr>
        <p:spPr>
          <a:xfrm>
            <a:off x="1177925" y="1828800"/>
            <a:ext cx="688975" cy="1004888"/>
          </a:xfrm>
          <a:prstGeom prst="rect">
            <a:avLst/>
          </a:prstGeom>
          <a:noFill/>
          <a:ln w="9525">
            <a:noFill/>
          </a:ln>
        </p:spPr>
        <p:txBody>
          <a:bodyPr lIns="19050" rIns="19050" anchor="ctr" anchorCtr="1"/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节拍</a:t>
            </a: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9538" name="Rectangle 18"/>
          <p:cNvSpPr/>
          <p:nvPr/>
        </p:nvSpPr>
        <p:spPr>
          <a:xfrm>
            <a:off x="457200" y="1828800"/>
            <a:ext cx="720725" cy="1004888"/>
          </a:xfrm>
          <a:prstGeom prst="rect">
            <a:avLst/>
          </a:prstGeom>
          <a:noFill/>
          <a:ln w="9525">
            <a:noFill/>
          </a:ln>
        </p:spPr>
        <p:txBody>
          <a:bodyPr lIns="19050" rIns="19050" anchor="ctr" anchorCtr="1"/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工作周期标记</a:t>
            </a: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619539" name="Group 19"/>
          <p:cNvGrpSpPr/>
          <p:nvPr/>
        </p:nvGrpSpPr>
        <p:grpSpPr>
          <a:xfrm>
            <a:off x="457200" y="1828800"/>
            <a:ext cx="8458200" cy="4252913"/>
            <a:chOff x="288" y="1440"/>
            <a:chExt cx="5328" cy="2679"/>
          </a:xfrm>
        </p:grpSpPr>
        <p:sp>
          <p:nvSpPr>
            <p:cNvPr id="21564" name="Line 20"/>
            <p:cNvSpPr/>
            <p:nvPr/>
          </p:nvSpPr>
          <p:spPr>
            <a:xfrm>
              <a:off x="3840" y="1440"/>
              <a:ext cx="444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21565" name="Group 21"/>
            <p:cNvGrpSpPr/>
            <p:nvPr/>
          </p:nvGrpSpPr>
          <p:grpSpPr>
            <a:xfrm>
              <a:off x="288" y="1440"/>
              <a:ext cx="5328" cy="2679"/>
              <a:chOff x="288" y="1440"/>
              <a:chExt cx="5328" cy="2679"/>
            </a:xfrm>
          </p:grpSpPr>
          <p:sp>
            <p:nvSpPr>
              <p:cNvPr id="21566" name="Line 22"/>
              <p:cNvSpPr/>
              <p:nvPr/>
            </p:nvSpPr>
            <p:spPr>
              <a:xfrm>
                <a:off x="288" y="2073"/>
                <a:ext cx="5328" cy="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1567" name="Line 23"/>
              <p:cNvSpPr/>
              <p:nvPr/>
            </p:nvSpPr>
            <p:spPr>
              <a:xfrm>
                <a:off x="288" y="4119"/>
                <a:ext cx="5328" cy="0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1568" name="Line 24"/>
              <p:cNvSpPr/>
              <p:nvPr/>
            </p:nvSpPr>
            <p:spPr>
              <a:xfrm>
                <a:off x="288" y="1440"/>
                <a:ext cx="0" cy="2679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1569" name="Line 25"/>
              <p:cNvSpPr/>
              <p:nvPr/>
            </p:nvSpPr>
            <p:spPr>
              <a:xfrm>
                <a:off x="742" y="1440"/>
                <a:ext cx="0" cy="2679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1570" name="Line 26"/>
              <p:cNvSpPr/>
              <p:nvPr/>
            </p:nvSpPr>
            <p:spPr>
              <a:xfrm>
                <a:off x="1176" y="1440"/>
                <a:ext cx="0" cy="2679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1571" name="Line 27"/>
              <p:cNvSpPr/>
              <p:nvPr/>
            </p:nvSpPr>
            <p:spPr>
              <a:xfrm>
                <a:off x="1620" y="1440"/>
                <a:ext cx="0" cy="2679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1572" name="Line 28"/>
              <p:cNvSpPr/>
              <p:nvPr/>
            </p:nvSpPr>
            <p:spPr>
              <a:xfrm>
                <a:off x="2952" y="1440"/>
                <a:ext cx="0" cy="2679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1573" name="Line 29"/>
              <p:cNvSpPr/>
              <p:nvPr/>
            </p:nvSpPr>
            <p:spPr>
              <a:xfrm>
                <a:off x="3396" y="1440"/>
                <a:ext cx="0" cy="2679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1574" name="Line 30"/>
              <p:cNvSpPr/>
              <p:nvPr/>
            </p:nvSpPr>
            <p:spPr>
              <a:xfrm>
                <a:off x="3840" y="1440"/>
                <a:ext cx="0" cy="2679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1575" name="Line 31"/>
              <p:cNvSpPr/>
              <p:nvPr/>
            </p:nvSpPr>
            <p:spPr>
              <a:xfrm>
                <a:off x="4284" y="1440"/>
                <a:ext cx="0" cy="2679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1576" name="Line 32"/>
              <p:cNvSpPr/>
              <p:nvPr/>
            </p:nvSpPr>
            <p:spPr>
              <a:xfrm>
                <a:off x="4728" y="1440"/>
                <a:ext cx="0" cy="2679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1577" name="Line 33"/>
              <p:cNvSpPr/>
              <p:nvPr/>
            </p:nvSpPr>
            <p:spPr>
              <a:xfrm>
                <a:off x="5172" y="1440"/>
                <a:ext cx="0" cy="2679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1578" name="Line 34"/>
              <p:cNvSpPr/>
              <p:nvPr/>
            </p:nvSpPr>
            <p:spPr>
              <a:xfrm>
                <a:off x="5616" y="1440"/>
                <a:ext cx="0" cy="2679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grpSp>
            <p:nvGrpSpPr>
              <p:cNvPr id="21579" name="Group 35"/>
              <p:cNvGrpSpPr/>
              <p:nvPr/>
            </p:nvGrpSpPr>
            <p:grpSpPr>
              <a:xfrm>
                <a:off x="288" y="1440"/>
                <a:ext cx="5328" cy="0"/>
                <a:chOff x="288" y="1440"/>
                <a:chExt cx="5328" cy="0"/>
              </a:xfrm>
            </p:grpSpPr>
            <p:sp>
              <p:nvSpPr>
                <p:cNvPr id="21580" name="Line 36"/>
                <p:cNvSpPr/>
                <p:nvPr/>
              </p:nvSpPr>
              <p:spPr>
                <a:xfrm>
                  <a:off x="288" y="1440"/>
                  <a:ext cx="3552" cy="0"/>
                </a:xfrm>
                <a:prstGeom prst="line">
                  <a:avLst/>
                </a:prstGeom>
                <a:ln w="28575" cap="sq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1581" name="Line 37"/>
                <p:cNvSpPr/>
                <p:nvPr/>
              </p:nvSpPr>
              <p:spPr>
                <a:xfrm>
                  <a:off x="4284" y="1440"/>
                  <a:ext cx="1332" cy="0"/>
                </a:xfrm>
                <a:prstGeom prst="line">
                  <a:avLst/>
                </a:prstGeom>
                <a:ln w="28575" cap="sq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</p:grpSp>
      </p:grpSp>
      <p:sp>
        <p:nvSpPr>
          <p:cNvPr id="619558" name="Line 38"/>
          <p:cNvSpPr/>
          <p:nvPr/>
        </p:nvSpPr>
        <p:spPr>
          <a:xfrm>
            <a:off x="2571750" y="3228975"/>
            <a:ext cx="6343650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19559" name="Line 39"/>
          <p:cNvSpPr/>
          <p:nvPr/>
        </p:nvSpPr>
        <p:spPr>
          <a:xfrm>
            <a:off x="2571750" y="4038600"/>
            <a:ext cx="6343650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19560" name="Line 40"/>
          <p:cNvSpPr/>
          <p:nvPr/>
        </p:nvSpPr>
        <p:spPr>
          <a:xfrm>
            <a:off x="2571750" y="4895850"/>
            <a:ext cx="6343650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19561" name="Line 41"/>
          <p:cNvSpPr/>
          <p:nvPr/>
        </p:nvSpPr>
        <p:spPr>
          <a:xfrm>
            <a:off x="1866900" y="5291138"/>
            <a:ext cx="7048500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19562" name="Line 42"/>
          <p:cNvSpPr/>
          <p:nvPr/>
        </p:nvSpPr>
        <p:spPr>
          <a:xfrm>
            <a:off x="1177925" y="4433888"/>
            <a:ext cx="7737475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19563" name="Line 43"/>
          <p:cNvSpPr/>
          <p:nvPr/>
        </p:nvSpPr>
        <p:spPr>
          <a:xfrm>
            <a:off x="1177925" y="3624263"/>
            <a:ext cx="7737475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619564" name="Group 44"/>
          <p:cNvGrpSpPr/>
          <p:nvPr/>
        </p:nvGrpSpPr>
        <p:grpSpPr>
          <a:xfrm>
            <a:off x="2571750" y="2833688"/>
            <a:ext cx="2114550" cy="395287"/>
            <a:chOff x="1620" y="2073"/>
            <a:chExt cx="1332" cy="249"/>
          </a:xfrm>
        </p:grpSpPr>
        <p:sp>
          <p:nvSpPr>
            <p:cNvPr id="21562" name="Rectangle 45"/>
            <p:cNvSpPr/>
            <p:nvPr/>
          </p:nvSpPr>
          <p:spPr>
            <a:xfrm>
              <a:off x="1620" y="2073"/>
              <a:ext cx="1332" cy="249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050" rIns="19050" anchor="ctr" anchorCtr="1"/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PC      MAR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1563" name="Line 46"/>
            <p:cNvSpPr/>
            <p:nvPr/>
          </p:nvSpPr>
          <p:spPr>
            <a:xfrm>
              <a:off x="2112" y="2208"/>
              <a:ext cx="19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619567" name="Group 47"/>
          <p:cNvGrpSpPr/>
          <p:nvPr/>
        </p:nvGrpSpPr>
        <p:grpSpPr>
          <a:xfrm>
            <a:off x="2571750" y="3228975"/>
            <a:ext cx="2114550" cy="395288"/>
            <a:chOff x="1620" y="2322"/>
            <a:chExt cx="1332" cy="249"/>
          </a:xfrm>
        </p:grpSpPr>
        <p:sp>
          <p:nvSpPr>
            <p:cNvPr id="21560" name="Rectangle 48"/>
            <p:cNvSpPr/>
            <p:nvPr/>
          </p:nvSpPr>
          <p:spPr>
            <a:xfrm>
              <a:off x="1620" y="2322"/>
              <a:ext cx="1332" cy="249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050" rIns="19050" anchor="ctr" anchorCtr="1"/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      </a:t>
              </a: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1561" name="Line 49"/>
            <p:cNvSpPr/>
            <p:nvPr/>
          </p:nvSpPr>
          <p:spPr>
            <a:xfrm>
              <a:off x="2160" y="2448"/>
              <a:ext cx="19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619570" name="Group 50"/>
          <p:cNvGrpSpPr/>
          <p:nvPr/>
        </p:nvGrpSpPr>
        <p:grpSpPr>
          <a:xfrm>
            <a:off x="2571750" y="3624263"/>
            <a:ext cx="2114550" cy="414337"/>
            <a:chOff x="1620" y="2571"/>
            <a:chExt cx="1332" cy="261"/>
          </a:xfrm>
        </p:grpSpPr>
        <p:sp>
          <p:nvSpPr>
            <p:cNvPr id="21558" name="Rectangle 51"/>
            <p:cNvSpPr/>
            <p:nvPr/>
          </p:nvSpPr>
          <p:spPr>
            <a:xfrm>
              <a:off x="1620" y="2571"/>
              <a:ext cx="1332" cy="261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050" rIns="19050" anchor="ctr" anchorCtr="1"/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M(MAR)      MDR    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1559" name="Line 52"/>
            <p:cNvSpPr/>
            <p:nvPr/>
          </p:nvSpPr>
          <p:spPr>
            <a:xfrm>
              <a:off x="2304" y="2713"/>
              <a:ext cx="19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619598" name="Group 78"/>
          <p:cNvGrpSpPr/>
          <p:nvPr/>
        </p:nvGrpSpPr>
        <p:grpSpPr>
          <a:xfrm>
            <a:off x="2571750" y="4038600"/>
            <a:ext cx="2114550" cy="395288"/>
            <a:chOff x="1620" y="2544"/>
            <a:chExt cx="1332" cy="249"/>
          </a:xfrm>
        </p:grpSpPr>
        <p:sp>
          <p:nvSpPr>
            <p:cNvPr id="21556" name="Rectangle 54"/>
            <p:cNvSpPr/>
            <p:nvPr/>
          </p:nvSpPr>
          <p:spPr>
            <a:xfrm>
              <a:off x="1620" y="2544"/>
              <a:ext cx="1332" cy="249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050" rIns="19050" anchor="ctr" anchorCtr="1"/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( </a:t>
              </a: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PC ) +1      PC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1557" name="Line 55"/>
            <p:cNvSpPr/>
            <p:nvPr/>
          </p:nvSpPr>
          <p:spPr>
            <a:xfrm>
              <a:off x="2390" y="2663"/>
              <a:ext cx="19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619576" name="Group 56"/>
          <p:cNvGrpSpPr/>
          <p:nvPr/>
        </p:nvGrpSpPr>
        <p:grpSpPr>
          <a:xfrm>
            <a:off x="2571750" y="4433888"/>
            <a:ext cx="2114550" cy="461962"/>
            <a:chOff x="1620" y="3081"/>
            <a:chExt cx="1332" cy="291"/>
          </a:xfrm>
        </p:grpSpPr>
        <p:sp>
          <p:nvSpPr>
            <p:cNvPr id="21554" name="Rectangle 57"/>
            <p:cNvSpPr/>
            <p:nvPr/>
          </p:nvSpPr>
          <p:spPr>
            <a:xfrm>
              <a:off x="1620" y="3081"/>
              <a:ext cx="1332" cy="291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050" rIns="19050" anchor="ctr" anchorCtr="1"/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MDR      IR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1555" name="Line 58"/>
            <p:cNvSpPr/>
            <p:nvPr/>
          </p:nvSpPr>
          <p:spPr>
            <a:xfrm>
              <a:off x="2278" y="3239"/>
              <a:ext cx="19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619599" name="Group 79"/>
          <p:cNvGrpSpPr/>
          <p:nvPr/>
        </p:nvGrpSpPr>
        <p:grpSpPr>
          <a:xfrm>
            <a:off x="2571750" y="4895850"/>
            <a:ext cx="2114550" cy="395288"/>
            <a:chOff x="1620" y="3084"/>
            <a:chExt cx="1332" cy="249"/>
          </a:xfrm>
        </p:grpSpPr>
        <p:sp>
          <p:nvSpPr>
            <p:cNvPr id="21552" name="Rectangle 60"/>
            <p:cNvSpPr/>
            <p:nvPr/>
          </p:nvSpPr>
          <p:spPr>
            <a:xfrm>
              <a:off x="1620" y="3084"/>
              <a:ext cx="1332" cy="249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050" rIns="19050" anchor="ctr" anchorCtr="1"/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OP( IR )      ID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1553" name="Line 61"/>
            <p:cNvSpPr/>
            <p:nvPr/>
          </p:nvSpPr>
          <p:spPr>
            <a:xfrm>
              <a:off x="2393" y="3216"/>
              <a:ext cx="19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619582" name="Group 62"/>
          <p:cNvGrpSpPr/>
          <p:nvPr/>
        </p:nvGrpSpPr>
        <p:grpSpPr>
          <a:xfrm>
            <a:off x="2571750" y="5291138"/>
            <a:ext cx="2114550" cy="395287"/>
            <a:chOff x="1620" y="3621"/>
            <a:chExt cx="1332" cy="249"/>
          </a:xfrm>
        </p:grpSpPr>
        <p:sp>
          <p:nvSpPr>
            <p:cNvPr id="21550" name="Rectangle 63"/>
            <p:cNvSpPr/>
            <p:nvPr/>
          </p:nvSpPr>
          <p:spPr>
            <a:xfrm>
              <a:off x="1620" y="3621"/>
              <a:ext cx="1332" cy="249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050" rIns="19050" anchor="ctr" anchorCtr="1"/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      </a:t>
              </a: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IND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1551" name="Line 64"/>
            <p:cNvSpPr/>
            <p:nvPr/>
          </p:nvSpPr>
          <p:spPr>
            <a:xfrm>
              <a:off x="2064" y="3744"/>
              <a:ext cx="19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619585" name="Group 65"/>
          <p:cNvGrpSpPr/>
          <p:nvPr/>
        </p:nvGrpSpPr>
        <p:grpSpPr>
          <a:xfrm>
            <a:off x="2514600" y="5686425"/>
            <a:ext cx="2114550" cy="395288"/>
            <a:chOff x="1620" y="3870"/>
            <a:chExt cx="1332" cy="249"/>
          </a:xfrm>
        </p:grpSpPr>
        <p:sp>
          <p:nvSpPr>
            <p:cNvPr id="21548" name="Rectangle 66"/>
            <p:cNvSpPr/>
            <p:nvPr/>
          </p:nvSpPr>
          <p:spPr>
            <a:xfrm>
              <a:off x="1620" y="3870"/>
              <a:ext cx="1332" cy="249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050" rIns="19050" anchor="ctr" anchorCtr="1"/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      </a:t>
              </a: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EX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1549" name="Line 67"/>
            <p:cNvSpPr/>
            <p:nvPr/>
          </p:nvSpPr>
          <p:spPr>
            <a:xfrm>
              <a:off x="2112" y="4005"/>
              <a:ext cx="19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619588" name="Group 68"/>
          <p:cNvGrpSpPr/>
          <p:nvPr/>
        </p:nvGrpSpPr>
        <p:grpSpPr>
          <a:xfrm>
            <a:off x="1866900" y="5686425"/>
            <a:ext cx="7048500" cy="0"/>
            <a:chOff x="1176" y="3870"/>
            <a:chExt cx="4440" cy="0"/>
          </a:xfrm>
        </p:grpSpPr>
        <p:sp>
          <p:nvSpPr>
            <p:cNvPr id="21546" name="Line 69"/>
            <p:cNvSpPr/>
            <p:nvPr/>
          </p:nvSpPr>
          <p:spPr>
            <a:xfrm>
              <a:off x="1620" y="3870"/>
              <a:ext cx="399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1547" name="Line 70"/>
            <p:cNvSpPr/>
            <p:nvPr/>
          </p:nvSpPr>
          <p:spPr>
            <a:xfrm flipH="1">
              <a:off x="1176" y="3870"/>
              <a:ext cx="45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619591" name="Text Box 71"/>
          <p:cNvSpPr txBox="1"/>
          <p:nvPr/>
        </p:nvSpPr>
        <p:spPr>
          <a:xfrm>
            <a:off x="2079625" y="5318125"/>
            <a:ext cx="282575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</a:rPr>
              <a:t>I</a:t>
            </a:r>
            <a:endParaRPr lang="en-US" altLang="zh-CN" sz="2000" dirty="0">
              <a:latin typeface="Times New Roman" panose="02020603050405020304" pitchFamily="18" charset="0"/>
            </a:endParaRPr>
          </a:p>
        </p:txBody>
      </p:sp>
      <p:grpSp>
        <p:nvGrpSpPr>
          <p:cNvPr id="619592" name="Group 72"/>
          <p:cNvGrpSpPr/>
          <p:nvPr/>
        </p:nvGrpSpPr>
        <p:grpSpPr>
          <a:xfrm>
            <a:off x="2079625" y="5715000"/>
            <a:ext cx="282575" cy="396875"/>
            <a:chOff x="1310" y="3888"/>
            <a:chExt cx="178" cy="250"/>
          </a:xfrm>
        </p:grpSpPr>
        <p:sp>
          <p:nvSpPr>
            <p:cNvPr id="21544" name="Text Box 73"/>
            <p:cNvSpPr txBox="1"/>
            <p:nvPr/>
          </p:nvSpPr>
          <p:spPr>
            <a:xfrm>
              <a:off x="1310" y="3888"/>
              <a:ext cx="17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dirty="0">
                  <a:latin typeface="Times New Roman" panose="02020603050405020304" pitchFamily="18" charset="0"/>
                </a:rPr>
                <a:t>I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1545" name="Freeform 74"/>
            <p:cNvSpPr/>
            <p:nvPr/>
          </p:nvSpPr>
          <p:spPr>
            <a:xfrm>
              <a:off x="1362" y="3933"/>
              <a:ext cx="78" cy="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78" y="4"/>
                </a:cxn>
              </a:cxnLst>
              <a:pathLst>
                <a:path w="78" h="4">
                  <a:moveTo>
                    <a:pt x="0" y="0"/>
                  </a:moveTo>
                  <a:lnTo>
                    <a:pt x="78" y="4"/>
                  </a:lnTo>
                </a:path>
              </a:pathLst>
            </a:custGeom>
            <a:noFill/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619595" name="Rectangle 75"/>
          <p:cNvSpPr>
            <a:spLocks noChangeArrowheads="1"/>
          </p:cNvSpPr>
          <p:nvPr/>
        </p:nvSpPr>
        <p:spPr bwMode="auto">
          <a:xfrm>
            <a:off x="7696200" y="152400"/>
            <a:ext cx="1447800" cy="838200"/>
          </a:xfrm>
          <a:prstGeom prst="rect">
            <a:avLst/>
          </a:prstGeom>
          <a:noFill/>
          <a:ln>
            <a:noFill/>
          </a:ln>
          <a:effectLst/>
        </p:spPr>
        <p:txBody>
          <a:bodyPr lIns="92075" tIns="46038" rIns="92075" bIns="46038" anchor="ctr"/>
          <a:lstStyle>
            <a:lvl1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10.1</a:t>
            </a:r>
            <a:endParaRPr kumimoji="1" lang="zh-CN" altLang="en-US" sz="4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19596" name="AutoShape 76"/>
          <p:cNvSpPr/>
          <p:nvPr/>
        </p:nvSpPr>
        <p:spPr>
          <a:xfrm>
            <a:off x="762000" y="6248400"/>
            <a:ext cx="1371600" cy="381000"/>
          </a:xfrm>
          <a:prstGeom prst="wedgeRoundRectCallout">
            <a:avLst>
              <a:gd name="adj1" fmla="val 48264"/>
              <a:gd name="adj2" fmla="val -225833"/>
              <a:gd name="adj3" fmla="val 16667"/>
            </a:avLst>
          </a:prstGeom>
          <a:noFill/>
          <a:ln w="28575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tIns="18000"/>
          <a:p>
            <a:pPr algn="ctr" eaLnBrk="1" hangingPunct="1"/>
            <a:r>
              <a:rPr lang="zh-CN" altLang="en-US" dirty="0">
                <a:latin typeface="Times New Roman" panose="02020603050405020304" pitchFamily="18" charset="0"/>
              </a:rPr>
              <a:t>间址特征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1543" name="AutoShape 77">
            <a:hlinkClick r:id="rId1" action="ppaction://hlinksldjump"/>
          </p:cNvPr>
          <p:cNvSpPr/>
          <p:nvPr/>
        </p:nvSpPr>
        <p:spPr>
          <a:xfrm>
            <a:off x="8589963" y="6516688"/>
            <a:ext cx="539750" cy="333375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endParaRPr lang="zh-CN" altLang="en-US" dirty="0">
              <a:latin typeface="等线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19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619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19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19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19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19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619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619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6" dur="500"/>
                                        <p:tgtEl>
                                          <p:spTgt spid="619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619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5" dur="500"/>
                                        <p:tgtEl>
                                          <p:spTgt spid="619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619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619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9" dur="500"/>
                                        <p:tgtEl>
                                          <p:spTgt spid="619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619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8" dur="500"/>
                                        <p:tgtEl>
                                          <p:spTgt spid="619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3" dur="500"/>
                                        <p:tgtEl>
                                          <p:spTgt spid="619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8" dur="500"/>
                                        <p:tgtEl>
                                          <p:spTgt spid="619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3" dur="500"/>
                                        <p:tgtEl>
                                          <p:spTgt spid="619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500"/>
                            </p:stCondLst>
                            <p:childTnLst>
                              <p:par>
                                <p:cTn id="9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97" dur="500"/>
                                        <p:tgtEl>
                                          <p:spTgt spid="619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1000"/>
                            </p:stCondLst>
                            <p:childTnLst>
                              <p:par>
                                <p:cTn id="99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01" dur="500"/>
                                        <p:tgtEl>
                                          <p:spTgt spid="619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6" dur="500"/>
                                        <p:tgtEl>
                                          <p:spTgt spid="619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1" dur="500"/>
                                        <p:tgtEl>
                                          <p:spTgt spid="619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6" dur="500"/>
                                        <p:tgtEl>
                                          <p:spTgt spid="619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500"/>
                            </p:stCondLst>
                            <p:childTnLst>
                              <p:par>
                                <p:cTn id="118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0" dur="500"/>
                                        <p:tgtEl>
                                          <p:spTgt spid="619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5" dur="500"/>
                                        <p:tgtEl>
                                          <p:spTgt spid="619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0" dur="500"/>
                                        <p:tgtEl>
                                          <p:spTgt spid="619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5" dur="500"/>
                                        <p:tgtEl>
                                          <p:spTgt spid="619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0" dur="500"/>
                                        <p:tgtEl>
                                          <p:spTgt spid="619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5" dur="500"/>
                                        <p:tgtEl>
                                          <p:spTgt spid="619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0" dur="500"/>
                                        <p:tgtEl>
                                          <p:spTgt spid="619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5" dur="500"/>
                                        <p:tgtEl>
                                          <p:spTgt spid="619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0" dur="500"/>
                                        <p:tgtEl>
                                          <p:spTgt spid="619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5" dur="500"/>
                                        <p:tgtEl>
                                          <p:spTgt spid="619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9523" grpId="0"/>
      <p:bldP spid="619525" grpId="0"/>
      <p:bldP spid="619526" grpId="0"/>
      <p:bldP spid="619527" grpId="0"/>
      <p:bldP spid="619528" grpId="0"/>
      <p:bldP spid="619529" grpId="0"/>
      <p:bldP spid="619530" grpId="0"/>
      <p:bldP spid="619531" grpId="0"/>
      <p:bldP spid="619532" grpId="0"/>
      <p:bldP spid="619533" grpId="0"/>
      <p:bldP spid="619534" grpId="0"/>
      <p:bldP spid="619535" grpId="0"/>
      <p:bldP spid="619536" grpId="0"/>
      <p:bldP spid="619537" grpId="0"/>
      <p:bldP spid="619538" grpId="0"/>
      <p:bldP spid="619591" grpId="0"/>
      <p:bldP spid="61959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2530" name="Group 2"/>
          <p:cNvGrpSpPr/>
          <p:nvPr/>
        </p:nvGrpSpPr>
        <p:grpSpPr>
          <a:xfrm>
            <a:off x="381000" y="304800"/>
            <a:ext cx="4772025" cy="1281113"/>
            <a:chOff x="240" y="192"/>
            <a:chExt cx="3006" cy="807"/>
          </a:xfrm>
        </p:grpSpPr>
        <p:sp>
          <p:nvSpPr>
            <p:cNvPr id="22595" name="Text Box 3"/>
            <p:cNvSpPr txBox="1"/>
            <p:nvPr/>
          </p:nvSpPr>
          <p:spPr>
            <a:xfrm>
              <a:off x="240" y="192"/>
              <a:ext cx="3006" cy="40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3600" dirty="0">
                  <a:latin typeface="Times New Roman" panose="02020603050405020304" pitchFamily="18" charset="0"/>
                </a:rPr>
                <a:t>三、组合逻辑设计步骤</a:t>
              </a:r>
              <a:endParaRPr lang="zh-CN" altLang="en-US" sz="3600" dirty="0">
                <a:latin typeface="Times New Roman" panose="02020603050405020304" pitchFamily="18" charset="0"/>
              </a:endParaRPr>
            </a:p>
          </p:txBody>
        </p:sp>
        <p:sp>
          <p:nvSpPr>
            <p:cNvPr id="22596" name="Text Box 4"/>
            <p:cNvSpPr txBox="1"/>
            <p:nvPr/>
          </p:nvSpPr>
          <p:spPr>
            <a:xfrm>
              <a:off x="629" y="672"/>
              <a:ext cx="191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800" dirty="0">
                  <a:latin typeface="Times New Roman" panose="02020603050405020304" pitchFamily="18" charset="0"/>
                </a:rPr>
                <a:t>1. 列出操作时间表</a:t>
              </a:r>
              <a:endParaRPr lang="zh-CN" altLang="en-US" sz="28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22531" name="Rectangle 5"/>
          <p:cNvSpPr/>
          <p:nvPr/>
        </p:nvSpPr>
        <p:spPr>
          <a:xfrm>
            <a:off x="1866900" y="4510088"/>
            <a:ext cx="704850" cy="857250"/>
          </a:xfrm>
          <a:prstGeom prst="rect">
            <a:avLst/>
          </a:prstGeom>
          <a:noFill/>
          <a:ln w="9525">
            <a:noFill/>
          </a:ln>
        </p:spPr>
        <p:txBody>
          <a:bodyPr lIns="19050" rIns="19050" anchor="ctr" anchorCtr="1"/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</a:pP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20550" name="Rectangle 6"/>
          <p:cNvSpPr/>
          <p:nvPr/>
        </p:nvSpPr>
        <p:spPr>
          <a:xfrm>
            <a:off x="1177925" y="4067175"/>
            <a:ext cx="688975" cy="1647825"/>
          </a:xfrm>
          <a:prstGeom prst="rect">
            <a:avLst/>
          </a:prstGeom>
          <a:noFill/>
          <a:ln w="9525">
            <a:noFill/>
          </a:ln>
        </p:spPr>
        <p:txBody>
          <a:bodyPr lIns="19050" rIns="19050" anchor="ctr" anchorCtr="1"/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en-US" altLang="zh-CN" sz="2000" i="1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lang="en-US" altLang="zh-CN" sz="2000" baseline="-25000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endParaRPr lang="zh-CN" altLang="en-US" sz="2000" baseline="-25000" dirty="0">
              <a:solidFill>
                <a:schemeClr val="fol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20551" name="Rectangle 7"/>
          <p:cNvSpPr/>
          <p:nvPr/>
        </p:nvSpPr>
        <p:spPr>
          <a:xfrm>
            <a:off x="1177925" y="3886200"/>
            <a:ext cx="688975" cy="809625"/>
          </a:xfrm>
          <a:prstGeom prst="rect">
            <a:avLst/>
          </a:prstGeom>
          <a:noFill/>
          <a:ln w="9525">
            <a:noFill/>
          </a:ln>
        </p:spPr>
        <p:txBody>
          <a:bodyPr lIns="19050" rIns="19050" anchor="ctr" anchorCtr="1"/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en-US" altLang="zh-CN" sz="2000" i="1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lang="en-US" altLang="zh-CN" sz="2000" baseline="-25000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lang="zh-CN" altLang="en-US" sz="2000" baseline="-25000" dirty="0">
              <a:solidFill>
                <a:schemeClr val="fol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20552" name="Rectangle 8"/>
          <p:cNvSpPr/>
          <p:nvPr/>
        </p:nvSpPr>
        <p:spPr>
          <a:xfrm>
            <a:off x="1177925" y="3290888"/>
            <a:ext cx="688975" cy="790575"/>
          </a:xfrm>
          <a:prstGeom prst="rect">
            <a:avLst/>
          </a:prstGeom>
          <a:noFill/>
          <a:ln w="9525">
            <a:noFill/>
          </a:ln>
        </p:spPr>
        <p:txBody>
          <a:bodyPr lIns="19050" rIns="19050" anchor="ctr" anchorCtr="1"/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en-US" altLang="zh-CN" sz="2000" i="1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lang="en-US" altLang="zh-CN" sz="2000" baseline="-25000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endParaRPr lang="en-US" altLang="zh-CN" sz="2000" baseline="-25000" dirty="0">
              <a:solidFill>
                <a:schemeClr val="fol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20553" name="Rectangle 9"/>
          <p:cNvSpPr/>
          <p:nvPr/>
        </p:nvSpPr>
        <p:spPr>
          <a:xfrm>
            <a:off x="457200" y="2695575"/>
            <a:ext cx="720725" cy="3248025"/>
          </a:xfrm>
          <a:prstGeom prst="rect">
            <a:avLst/>
          </a:prstGeom>
          <a:noFill/>
          <a:ln w="9525">
            <a:noFill/>
          </a:ln>
        </p:spPr>
        <p:txBody>
          <a:bodyPr lIns="19050" rIns="19050" anchor="ctr" anchorCtr="1"/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en-US" altLang="zh-CN" sz="8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 IND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 间址</a:t>
            </a: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620554" name="Group 10"/>
          <p:cNvGrpSpPr/>
          <p:nvPr/>
        </p:nvGrpSpPr>
        <p:grpSpPr>
          <a:xfrm>
            <a:off x="457200" y="2286000"/>
            <a:ext cx="8458200" cy="3065463"/>
            <a:chOff x="288" y="1440"/>
            <a:chExt cx="5328" cy="1931"/>
          </a:xfrm>
        </p:grpSpPr>
        <p:sp>
          <p:nvSpPr>
            <p:cNvPr id="22564" name="Rectangle 11"/>
            <p:cNvSpPr/>
            <p:nvPr/>
          </p:nvSpPr>
          <p:spPr>
            <a:xfrm>
              <a:off x="5172" y="1440"/>
              <a:ext cx="444" cy="633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050" rIns="19050" anchor="ctr" anchorCtr="1"/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JMP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2565" name="Rectangle 12"/>
            <p:cNvSpPr/>
            <p:nvPr/>
          </p:nvSpPr>
          <p:spPr>
            <a:xfrm>
              <a:off x="4728" y="1440"/>
              <a:ext cx="444" cy="633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050" rIns="19050" anchor="ctr" anchorCtr="1"/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LDA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2566" name="Rectangle 13"/>
            <p:cNvSpPr/>
            <p:nvPr/>
          </p:nvSpPr>
          <p:spPr>
            <a:xfrm>
              <a:off x="4284" y="1440"/>
              <a:ext cx="444" cy="633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050" rIns="19050" anchor="ctr" anchorCtr="1"/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STA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2567" name="Rectangle 14"/>
            <p:cNvSpPr/>
            <p:nvPr/>
          </p:nvSpPr>
          <p:spPr>
            <a:xfrm>
              <a:off x="3840" y="1440"/>
              <a:ext cx="444" cy="633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050" rIns="19050" anchor="ctr" anchorCtr="1"/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ADD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2568" name="Rectangle 15"/>
            <p:cNvSpPr/>
            <p:nvPr/>
          </p:nvSpPr>
          <p:spPr>
            <a:xfrm>
              <a:off x="3396" y="1440"/>
              <a:ext cx="444" cy="633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050" rIns="19050" anchor="ctr" anchorCtr="1"/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COM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2569" name="Rectangle 16"/>
            <p:cNvSpPr/>
            <p:nvPr/>
          </p:nvSpPr>
          <p:spPr>
            <a:xfrm>
              <a:off x="2952" y="1440"/>
              <a:ext cx="444" cy="633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050" rIns="19050" anchor="ctr" anchorCtr="1"/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CLA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2570" name="Rectangle 17"/>
            <p:cNvSpPr/>
            <p:nvPr/>
          </p:nvSpPr>
          <p:spPr>
            <a:xfrm>
              <a:off x="1620" y="1440"/>
              <a:ext cx="1332" cy="633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050" rIns="19050" anchor="ctr" anchorCtr="1"/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微操作命令信号</a:t>
              </a:r>
              <a:endPara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2571" name="Rectangle 18"/>
            <p:cNvSpPr/>
            <p:nvPr/>
          </p:nvSpPr>
          <p:spPr>
            <a:xfrm>
              <a:off x="1176" y="1440"/>
              <a:ext cx="444" cy="633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050" rIns="19050" anchor="ctr" anchorCtr="1"/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状态条件</a:t>
              </a:r>
              <a:endPara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2572" name="Rectangle 19"/>
            <p:cNvSpPr/>
            <p:nvPr/>
          </p:nvSpPr>
          <p:spPr>
            <a:xfrm>
              <a:off x="742" y="1440"/>
              <a:ext cx="434" cy="633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050" rIns="19050" anchor="ctr" anchorCtr="1"/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节拍</a:t>
              </a:r>
              <a:endPara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2573" name="Rectangle 20"/>
            <p:cNvSpPr/>
            <p:nvPr/>
          </p:nvSpPr>
          <p:spPr>
            <a:xfrm>
              <a:off x="288" y="1440"/>
              <a:ext cx="454" cy="633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050" rIns="19050" anchor="ctr" anchorCtr="1"/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工作周期标记</a:t>
              </a:r>
              <a:endPara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22574" name="Group 21"/>
            <p:cNvGrpSpPr/>
            <p:nvPr/>
          </p:nvGrpSpPr>
          <p:grpSpPr>
            <a:xfrm>
              <a:off x="288" y="1440"/>
              <a:ext cx="5328" cy="1931"/>
              <a:chOff x="288" y="1440"/>
              <a:chExt cx="5328" cy="1931"/>
            </a:xfrm>
          </p:grpSpPr>
          <p:sp>
            <p:nvSpPr>
              <p:cNvPr id="22575" name="Line 22"/>
              <p:cNvSpPr/>
              <p:nvPr/>
            </p:nvSpPr>
            <p:spPr>
              <a:xfrm>
                <a:off x="288" y="2073"/>
                <a:ext cx="5328" cy="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grpSp>
            <p:nvGrpSpPr>
              <p:cNvPr id="22576" name="Group 23"/>
              <p:cNvGrpSpPr/>
              <p:nvPr/>
            </p:nvGrpSpPr>
            <p:grpSpPr>
              <a:xfrm>
                <a:off x="288" y="1440"/>
                <a:ext cx="5328" cy="1931"/>
                <a:chOff x="288" y="1440"/>
                <a:chExt cx="5328" cy="1931"/>
              </a:xfrm>
            </p:grpSpPr>
            <p:sp>
              <p:nvSpPr>
                <p:cNvPr id="22577" name="Line 24"/>
                <p:cNvSpPr/>
                <p:nvPr/>
              </p:nvSpPr>
              <p:spPr>
                <a:xfrm>
                  <a:off x="3840" y="1440"/>
                  <a:ext cx="444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grpSp>
              <p:nvGrpSpPr>
                <p:cNvPr id="22578" name="Group 25"/>
                <p:cNvGrpSpPr/>
                <p:nvPr/>
              </p:nvGrpSpPr>
              <p:grpSpPr>
                <a:xfrm>
                  <a:off x="288" y="1440"/>
                  <a:ext cx="5328" cy="1931"/>
                  <a:chOff x="288" y="1440"/>
                  <a:chExt cx="5328" cy="1931"/>
                </a:xfrm>
              </p:grpSpPr>
              <p:sp>
                <p:nvSpPr>
                  <p:cNvPr id="22579" name="Line 26"/>
                  <p:cNvSpPr/>
                  <p:nvPr/>
                </p:nvSpPr>
                <p:spPr>
                  <a:xfrm>
                    <a:off x="288" y="3360"/>
                    <a:ext cx="5328" cy="0"/>
                  </a:xfrm>
                  <a:prstGeom prst="line">
                    <a:avLst/>
                  </a:prstGeom>
                  <a:ln w="28575" cap="sq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grpSp>
                <p:nvGrpSpPr>
                  <p:cNvPr id="22580" name="Group 27"/>
                  <p:cNvGrpSpPr/>
                  <p:nvPr/>
                </p:nvGrpSpPr>
                <p:grpSpPr>
                  <a:xfrm>
                    <a:off x="288" y="1440"/>
                    <a:ext cx="5328" cy="1931"/>
                    <a:chOff x="288" y="1440"/>
                    <a:chExt cx="5328" cy="1931"/>
                  </a:xfrm>
                </p:grpSpPr>
                <p:sp>
                  <p:nvSpPr>
                    <p:cNvPr id="22584" name="Line 28"/>
                    <p:cNvSpPr/>
                    <p:nvPr/>
                  </p:nvSpPr>
                  <p:spPr>
                    <a:xfrm>
                      <a:off x="288" y="1440"/>
                      <a:ext cx="0" cy="1931"/>
                    </a:xfrm>
                    <a:prstGeom prst="line">
                      <a:avLst/>
                    </a:prstGeom>
                    <a:ln w="28575" cap="sq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22585" name="Line 29"/>
                    <p:cNvSpPr/>
                    <p:nvPr/>
                  </p:nvSpPr>
                  <p:spPr>
                    <a:xfrm>
                      <a:off x="742" y="1440"/>
                      <a:ext cx="0" cy="1931"/>
                    </a:xfrm>
                    <a:prstGeom prst="line">
                      <a:avLst/>
                    </a:prstGeom>
                    <a:ln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22586" name="Line 30"/>
                    <p:cNvSpPr/>
                    <p:nvPr/>
                  </p:nvSpPr>
                  <p:spPr>
                    <a:xfrm>
                      <a:off x="1176" y="1440"/>
                      <a:ext cx="0" cy="1931"/>
                    </a:xfrm>
                    <a:prstGeom prst="line">
                      <a:avLst/>
                    </a:prstGeom>
                    <a:ln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22587" name="Line 31"/>
                    <p:cNvSpPr/>
                    <p:nvPr/>
                  </p:nvSpPr>
                  <p:spPr>
                    <a:xfrm>
                      <a:off x="1620" y="1440"/>
                      <a:ext cx="0" cy="1931"/>
                    </a:xfrm>
                    <a:prstGeom prst="line">
                      <a:avLst/>
                    </a:prstGeom>
                    <a:ln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22588" name="Line 32"/>
                    <p:cNvSpPr/>
                    <p:nvPr/>
                  </p:nvSpPr>
                  <p:spPr>
                    <a:xfrm>
                      <a:off x="2952" y="1440"/>
                      <a:ext cx="0" cy="1931"/>
                    </a:xfrm>
                    <a:prstGeom prst="line">
                      <a:avLst/>
                    </a:prstGeom>
                    <a:ln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22589" name="Line 33"/>
                    <p:cNvSpPr/>
                    <p:nvPr/>
                  </p:nvSpPr>
                  <p:spPr>
                    <a:xfrm>
                      <a:off x="3396" y="1440"/>
                      <a:ext cx="0" cy="1931"/>
                    </a:xfrm>
                    <a:prstGeom prst="line">
                      <a:avLst/>
                    </a:prstGeom>
                    <a:ln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22590" name="Line 34"/>
                    <p:cNvSpPr/>
                    <p:nvPr/>
                  </p:nvSpPr>
                  <p:spPr>
                    <a:xfrm>
                      <a:off x="3840" y="1440"/>
                      <a:ext cx="0" cy="1931"/>
                    </a:xfrm>
                    <a:prstGeom prst="line">
                      <a:avLst/>
                    </a:prstGeom>
                    <a:ln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22591" name="Line 35"/>
                    <p:cNvSpPr/>
                    <p:nvPr/>
                  </p:nvSpPr>
                  <p:spPr>
                    <a:xfrm>
                      <a:off x="4284" y="1440"/>
                      <a:ext cx="0" cy="1931"/>
                    </a:xfrm>
                    <a:prstGeom prst="line">
                      <a:avLst/>
                    </a:prstGeom>
                    <a:ln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22592" name="Line 36"/>
                    <p:cNvSpPr/>
                    <p:nvPr/>
                  </p:nvSpPr>
                  <p:spPr>
                    <a:xfrm>
                      <a:off x="4728" y="1440"/>
                      <a:ext cx="0" cy="1931"/>
                    </a:xfrm>
                    <a:prstGeom prst="line">
                      <a:avLst/>
                    </a:prstGeom>
                    <a:ln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22593" name="Line 37"/>
                    <p:cNvSpPr/>
                    <p:nvPr/>
                  </p:nvSpPr>
                  <p:spPr>
                    <a:xfrm>
                      <a:off x="5172" y="1440"/>
                      <a:ext cx="0" cy="1931"/>
                    </a:xfrm>
                    <a:prstGeom prst="line">
                      <a:avLst/>
                    </a:prstGeom>
                    <a:ln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22594" name="Line 38"/>
                    <p:cNvSpPr/>
                    <p:nvPr/>
                  </p:nvSpPr>
                  <p:spPr>
                    <a:xfrm>
                      <a:off x="5616" y="1440"/>
                      <a:ext cx="0" cy="1931"/>
                    </a:xfrm>
                    <a:prstGeom prst="line">
                      <a:avLst/>
                    </a:prstGeom>
                    <a:ln w="28575" cap="sq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</p:grpSp>
              <p:grpSp>
                <p:nvGrpSpPr>
                  <p:cNvPr id="22581" name="Group 39"/>
                  <p:cNvGrpSpPr/>
                  <p:nvPr/>
                </p:nvGrpSpPr>
                <p:grpSpPr>
                  <a:xfrm>
                    <a:off x="288" y="1440"/>
                    <a:ext cx="5328" cy="0"/>
                    <a:chOff x="288" y="1440"/>
                    <a:chExt cx="5328" cy="0"/>
                  </a:xfrm>
                </p:grpSpPr>
                <p:sp>
                  <p:nvSpPr>
                    <p:cNvPr id="22582" name="Line 40"/>
                    <p:cNvSpPr/>
                    <p:nvPr/>
                  </p:nvSpPr>
                  <p:spPr>
                    <a:xfrm>
                      <a:off x="288" y="1440"/>
                      <a:ext cx="3552" cy="0"/>
                    </a:xfrm>
                    <a:prstGeom prst="line">
                      <a:avLst/>
                    </a:prstGeom>
                    <a:ln w="28575" cap="sq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22583" name="Line 41"/>
                    <p:cNvSpPr/>
                    <p:nvPr/>
                  </p:nvSpPr>
                  <p:spPr>
                    <a:xfrm>
                      <a:off x="4284" y="1440"/>
                      <a:ext cx="1332" cy="0"/>
                    </a:xfrm>
                    <a:prstGeom prst="line">
                      <a:avLst/>
                    </a:prstGeom>
                    <a:ln w="28575" cap="sq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</p:grpSp>
            </p:grpSp>
          </p:grpSp>
        </p:grpSp>
      </p:grpSp>
      <p:sp>
        <p:nvSpPr>
          <p:cNvPr id="620586" name="Line 42"/>
          <p:cNvSpPr/>
          <p:nvPr/>
        </p:nvSpPr>
        <p:spPr>
          <a:xfrm>
            <a:off x="2571750" y="3686175"/>
            <a:ext cx="6343650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20587" name="Line 43"/>
          <p:cNvSpPr/>
          <p:nvPr/>
        </p:nvSpPr>
        <p:spPr>
          <a:xfrm>
            <a:off x="1177925" y="4510088"/>
            <a:ext cx="7737475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20588" name="Line 44"/>
          <p:cNvSpPr/>
          <p:nvPr/>
        </p:nvSpPr>
        <p:spPr>
          <a:xfrm>
            <a:off x="1177925" y="4081463"/>
            <a:ext cx="7737475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620589" name="Group 45"/>
          <p:cNvGrpSpPr/>
          <p:nvPr/>
        </p:nvGrpSpPr>
        <p:grpSpPr>
          <a:xfrm>
            <a:off x="2571750" y="3290888"/>
            <a:ext cx="2114550" cy="395287"/>
            <a:chOff x="1620" y="2073"/>
            <a:chExt cx="1332" cy="249"/>
          </a:xfrm>
        </p:grpSpPr>
        <p:sp>
          <p:nvSpPr>
            <p:cNvPr id="22562" name="Rectangle 46"/>
            <p:cNvSpPr/>
            <p:nvPr/>
          </p:nvSpPr>
          <p:spPr>
            <a:xfrm>
              <a:off x="1620" y="2073"/>
              <a:ext cx="1332" cy="249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050" rIns="19050" anchor="ctr" anchorCtr="1"/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Ad (IR)      MAR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2563" name="Line 47"/>
            <p:cNvSpPr/>
            <p:nvPr/>
          </p:nvSpPr>
          <p:spPr>
            <a:xfrm>
              <a:off x="2258" y="2208"/>
              <a:ext cx="19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620592" name="Group 48"/>
          <p:cNvGrpSpPr/>
          <p:nvPr/>
        </p:nvGrpSpPr>
        <p:grpSpPr>
          <a:xfrm>
            <a:off x="2571750" y="3686175"/>
            <a:ext cx="2114550" cy="395288"/>
            <a:chOff x="1620" y="2322"/>
            <a:chExt cx="1332" cy="249"/>
          </a:xfrm>
        </p:grpSpPr>
        <p:sp>
          <p:nvSpPr>
            <p:cNvPr id="22560" name="Rectangle 49"/>
            <p:cNvSpPr/>
            <p:nvPr/>
          </p:nvSpPr>
          <p:spPr>
            <a:xfrm>
              <a:off x="1620" y="2322"/>
              <a:ext cx="1332" cy="249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050" rIns="19050" anchor="ctr" anchorCtr="1"/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      </a:t>
              </a: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2561" name="Line 50"/>
            <p:cNvSpPr/>
            <p:nvPr/>
          </p:nvSpPr>
          <p:spPr>
            <a:xfrm>
              <a:off x="2160" y="2448"/>
              <a:ext cx="19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620613" name="Group 69"/>
          <p:cNvGrpSpPr/>
          <p:nvPr/>
        </p:nvGrpSpPr>
        <p:grpSpPr>
          <a:xfrm>
            <a:off x="2571750" y="4081463"/>
            <a:ext cx="2114550" cy="414337"/>
            <a:chOff x="1620" y="2571"/>
            <a:chExt cx="1332" cy="261"/>
          </a:xfrm>
        </p:grpSpPr>
        <p:sp>
          <p:nvSpPr>
            <p:cNvPr id="22558" name="Rectangle 52"/>
            <p:cNvSpPr/>
            <p:nvPr/>
          </p:nvSpPr>
          <p:spPr>
            <a:xfrm>
              <a:off x="1620" y="2571"/>
              <a:ext cx="1332" cy="261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050" rIns="19050" anchor="ctr" anchorCtr="1"/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M(MAR)      MDR    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2559" name="Line 53"/>
            <p:cNvSpPr/>
            <p:nvPr/>
          </p:nvSpPr>
          <p:spPr>
            <a:xfrm>
              <a:off x="2322" y="2713"/>
              <a:ext cx="19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620598" name="Group 54"/>
          <p:cNvGrpSpPr/>
          <p:nvPr/>
        </p:nvGrpSpPr>
        <p:grpSpPr>
          <a:xfrm>
            <a:off x="2571750" y="4495800"/>
            <a:ext cx="2114550" cy="395288"/>
            <a:chOff x="1620" y="3621"/>
            <a:chExt cx="1332" cy="249"/>
          </a:xfrm>
        </p:grpSpPr>
        <p:sp>
          <p:nvSpPr>
            <p:cNvPr id="22556" name="Rectangle 55"/>
            <p:cNvSpPr/>
            <p:nvPr/>
          </p:nvSpPr>
          <p:spPr>
            <a:xfrm>
              <a:off x="1620" y="3621"/>
              <a:ext cx="1332" cy="249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050" rIns="19050" anchor="ctr" anchorCtr="1"/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MDR      Ad (IR)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2557" name="Line 56"/>
            <p:cNvSpPr/>
            <p:nvPr/>
          </p:nvSpPr>
          <p:spPr>
            <a:xfrm>
              <a:off x="2114" y="3744"/>
              <a:ext cx="19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620601" name="Group 57"/>
          <p:cNvGrpSpPr/>
          <p:nvPr/>
        </p:nvGrpSpPr>
        <p:grpSpPr>
          <a:xfrm>
            <a:off x="2571750" y="4891088"/>
            <a:ext cx="2114550" cy="395287"/>
            <a:chOff x="1620" y="3870"/>
            <a:chExt cx="1332" cy="249"/>
          </a:xfrm>
        </p:grpSpPr>
        <p:sp>
          <p:nvSpPr>
            <p:cNvPr id="22554" name="Rectangle 58"/>
            <p:cNvSpPr/>
            <p:nvPr/>
          </p:nvSpPr>
          <p:spPr>
            <a:xfrm>
              <a:off x="1620" y="3870"/>
              <a:ext cx="1332" cy="249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050" rIns="19050" anchor="ctr" anchorCtr="1"/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      </a:t>
              </a: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EX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2555" name="Line 59"/>
            <p:cNvSpPr/>
            <p:nvPr/>
          </p:nvSpPr>
          <p:spPr>
            <a:xfrm>
              <a:off x="2112" y="4005"/>
              <a:ext cx="19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620604" name="Group 60"/>
          <p:cNvGrpSpPr/>
          <p:nvPr/>
        </p:nvGrpSpPr>
        <p:grpSpPr>
          <a:xfrm>
            <a:off x="1866900" y="4891088"/>
            <a:ext cx="7048500" cy="0"/>
            <a:chOff x="1176" y="3870"/>
            <a:chExt cx="4440" cy="0"/>
          </a:xfrm>
        </p:grpSpPr>
        <p:sp>
          <p:nvSpPr>
            <p:cNvPr id="22552" name="Line 61"/>
            <p:cNvSpPr/>
            <p:nvPr/>
          </p:nvSpPr>
          <p:spPr>
            <a:xfrm>
              <a:off x="1620" y="3870"/>
              <a:ext cx="399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2553" name="Line 62"/>
            <p:cNvSpPr/>
            <p:nvPr/>
          </p:nvSpPr>
          <p:spPr>
            <a:xfrm flipH="1">
              <a:off x="1176" y="3870"/>
              <a:ext cx="45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620607" name="Group 63"/>
          <p:cNvGrpSpPr/>
          <p:nvPr/>
        </p:nvGrpSpPr>
        <p:grpSpPr>
          <a:xfrm>
            <a:off x="1905000" y="4919663"/>
            <a:ext cx="650875" cy="396875"/>
            <a:chOff x="1200" y="3099"/>
            <a:chExt cx="410" cy="250"/>
          </a:xfrm>
        </p:grpSpPr>
        <p:sp>
          <p:nvSpPr>
            <p:cNvPr id="22550" name="Text Box 64"/>
            <p:cNvSpPr txBox="1"/>
            <p:nvPr/>
          </p:nvSpPr>
          <p:spPr>
            <a:xfrm>
              <a:off x="1200" y="3099"/>
              <a:ext cx="41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dirty="0">
                  <a:latin typeface="Times New Roman" panose="02020603050405020304" pitchFamily="18" charset="0"/>
                </a:rPr>
                <a:t>IND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2551" name="Freeform 65"/>
            <p:cNvSpPr/>
            <p:nvPr/>
          </p:nvSpPr>
          <p:spPr>
            <a:xfrm>
              <a:off x="1254" y="3147"/>
              <a:ext cx="291" cy="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91" y="0"/>
                </a:cxn>
              </a:cxnLst>
              <a:pathLst>
                <a:path w="291" h="1">
                  <a:moveTo>
                    <a:pt x="0" y="0"/>
                  </a:moveTo>
                  <a:lnTo>
                    <a:pt x="291" y="0"/>
                  </a:lnTo>
                </a:path>
              </a:pathLst>
            </a:custGeom>
            <a:noFill/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620610" name="Rectangle 66"/>
          <p:cNvSpPr>
            <a:spLocks noChangeArrowheads="1"/>
          </p:cNvSpPr>
          <p:nvPr/>
        </p:nvSpPr>
        <p:spPr bwMode="auto">
          <a:xfrm>
            <a:off x="7696200" y="152400"/>
            <a:ext cx="1447800" cy="838200"/>
          </a:xfrm>
          <a:prstGeom prst="rect">
            <a:avLst/>
          </a:prstGeom>
          <a:noFill/>
          <a:ln>
            <a:noFill/>
          </a:ln>
          <a:effectLst/>
        </p:spPr>
        <p:txBody>
          <a:bodyPr lIns="92075" tIns="46038" rIns="92075" bIns="46038" anchor="ctr"/>
          <a:lstStyle>
            <a:lvl1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10.1</a:t>
            </a:r>
            <a:endParaRPr kumimoji="1" lang="zh-CN" altLang="en-US" sz="4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20611" name="AutoShape 67"/>
          <p:cNvSpPr/>
          <p:nvPr/>
        </p:nvSpPr>
        <p:spPr>
          <a:xfrm>
            <a:off x="609600" y="5715000"/>
            <a:ext cx="1752600" cy="457200"/>
          </a:xfrm>
          <a:prstGeom prst="wedgeRoundRectCallout">
            <a:avLst>
              <a:gd name="adj1" fmla="val 41032"/>
              <a:gd name="adj2" fmla="val -154861"/>
              <a:gd name="adj3" fmla="val 16667"/>
            </a:avLst>
          </a:prstGeom>
          <a:noFill/>
          <a:ln w="28575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pPr algn="ctr" eaLnBrk="1" hangingPunct="1"/>
            <a:r>
              <a:rPr lang="zh-CN" altLang="en-US" dirty="0">
                <a:latin typeface="Times New Roman" panose="02020603050405020304" pitchFamily="18" charset="0"/>
              </a:rPr>
              <a:t>间址周期标志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2549" name="AutoShape 68">
            <a:hlinkClick r:id="rId1" action="ppaction://hlinksldjump"/>
          </p:cNvPr>
          <p:cNvSpPr/>
          <p:nvPr/>
        </p:nvSpPr>
        <p:spPr>
          <a:xfrm>
            <a:off x="8589963" y="6516688"/>
            <a:ext cx="539750" cy="333375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endParaRPr lang="zh-CN" altLang="en-US" dirty="0">
              <a:latin typeface="等线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620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20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20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1" dur="500"/>
                                        <p:tgtEl>
                                          <p:spTgt spid="620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620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0" dur="500"/>
                                        <p:tgtEl>
                                          <p:spTgt spid="620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620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620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4" dur="500"/>
                                        <p:tgtEl>
                                          <p:spTgt spid="620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620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620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620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3" dur="500"/>
                                        <p:tgtEl>
                                          <p:spTgt spid="620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620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620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620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0550" grpId="0"/>
      <p:bldP spid="620551" grpId="0"/>
      <p:bldP spid="620552" grpId="0"/>
      <p:bldP spid="620553" grpId="0"/>
      <p:bldP spid="62061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21570" name="Rectangle 2"/>
          <p:cNvSpPr/>
          <p:nvPr/>
        </p:nvSpPr>
        <p:spPr>
          <a:xfrm>
            <a:off x="1177925" y="4795838"/>
            <a:ext cx="688975" cy="1647825"/>
          </a:xfrm>
          <a:prstGeom prst="rect">
            <a:avLst/>
          </a:prstGeom>
          <a:noFill/>
          <a:ln w="9525">
            <a:noFill/>
          </a:ln>
        </p:spPr>
        <p:txBody>
          <a:bodyPr lIns="19050" rIns="19050" anchor="ctr" anchorCtr="1"/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en-US" altLang="zh-CN" sz="2000" i="1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lang="en-US" altLang="zh-CN" sz="2000" baseline="-25000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endParaRPr lang="zh-CN" altLang="en-US" sz="2000" baseline="-25000" dirty="0">
              <a:solidFill>
                <a:schemeClr val="fol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21571" name="Rectangle 3"/>
          <p:cNvSpPr/>
          <p:nvPr/>
        </p:nvSpPr>
        <p:spPr>
          <a:xfrm>
            <a:off x="1177925" y="3986213"/>
            <a:ext cx="688975" cy="809625"/>
          </a:xfrm>
          <a:prstGeom prst="rect">
            <a:avLst/>
          </a:prstGeom>
          <a:noFill/>
          <a:ln w="9525">
            <a:noFill/>
          </a:ln>
        </p:spPr>
        <p:txBody>
          <a:bodyPr lIns="19050" rIns="19050" anchor="ctr" anchorCtr="1"/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en-US" altLang="zh-CN" sz="2000" i="1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lang="en-US" altLang="zh-CN" sz="2000" baseline="-25000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lang="zh-CN" altLang="en-US" sz="2000" baseline="-25000" dirty="0">
              <a:solidFill>
                <a:schemeClr val="fol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21572" name="Rectangle 4"/>
          <p:cNvSpPr/>
          <p:nvPr/>
        </p:nvSpPr>
        <p:spPr>
          <a:xfrm>
            <a:off x="1177925" y="2995613"/>
            <a:ext cx="688975" cy="790575"/>
          </a:xfrm>
          <a:prstGeom prst="rect">
            <a:avLst/>
          </a:prstGeom>
          <a:noFill/>
          <a:ln w="9525">
            <a:noFill/>
          </a:ln>
        </p:spPr>
        <p:txBody>
          <a:bodyPr lIns="19050" rIns="19050" anchor="ctr" anchorCtr="1"/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en-US" altLang="zh-CN" sz="2000" i="1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  <a:r>
              <a:rPr lang="en-US" altLang="zh-CN" sz="2000" baseline="-25000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endParaRPr lang="en-US" altLang="zh-CN" sz="2000" baseline="-25000" dirty="0">
              <a:solidFill>
                <a:schemeClr val="fol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21573" name="Rectangle 5"/>
          <p:cNvSpPr/>
          <p:nvPr/>
        </p:nvSpPr>
        <p:spPr>
          <a:xfrm>
            <a:off x="457200" y="2705100"/>
            <a:ext cx="720725" cy="3248025"/>
          </a:xfrm>
          <a:prstGeom prst="rect">
            <a:avLst/>
          </a:prstGeom>
          <a:noFill/>
          <a:ln w="9525">
            <a:noFill/>
          </a:ln>
        </p:spPr>
        <p:txBody>
          <a:bodyPr lIns="19050" rIns="19050" anchor="ctr" anchorCtr="1"/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  EX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执行 </a:t>
            </a: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621574" name="Group 6"/>
          <p:cNvGrpSpPr/>
          <p:nvPr/>
        </p:nvGrpSpPr>
        <p:grpSpPr>
          <a:xfrm>
            <a:off x="457200" y="1700213"/>
            <a:ext cx="8458200" cy="4724400"/>
            <a:chOff x="288" y="1200"/>
            <a:chExt cx="5328" cy="2976"/>
          </a:xfrm>
        </p:grpSpPr>
        <p:sp>
          <p:nvSpPr>
            <p:cNvPr id="23599" name="Line 7"/>
            <p:cNvSpPr/>
            <p:nvPr/>
          </p:nvSpPr>
          <p:spPr>
            <a:xfrm>
              <a:off x="288" y="1833"/>
              <a:ext cx="5328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23600" name="Group 8"/>
            <p:cNvGrpSpPr/>
            <p:nvPr/>
          </p:nvGrpSpPr>
          <p:grpSpPr>
            <a:xfrm>
              <a:off x="288" y="1200"/>
              <a:ext cx="5328" cy="2976"/>
              <a:chOff x="288" y="1200"/>
              <a:chExt cx="5328" cy="2976"/>
            </a:xfrm>
          </p:grpSpPr>
          <p:sp>
            <p:nvSpPr>
              <p:cNvPr id="23601" name="Line 9"/>
              <p:cNvSpPr/>
              <p:nvPr/>
            </p:nvSpPr>
            <p:spPr>
              <a:xfrm>
                <a:off x="5616" y="1200"/>
                <a:ext cx="0" cy="2974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grpSp>
            <p:nvGrpSpPr>
              <p:cNvPr id="23602" name="Group 10"/>
              <p:cNvGrpSpPr/>
              <p:nvPr/>
            </p:nvGrpSpPr>
            <p:grpSpPr>
              <a:xfrm>
                <a:off x="288" y="1200"/>
                <a:ext cx="5328" cy="2976"/>
                <a:chOff x="288" y="1200"/>
                <a:chExt cx="5328" cy="2976"/>
              </a:xfrm>
            </p:grpSpPr>
            <p:sp>
              <p:nvSpPr>
                <p:cNvPr id="23603" name="Line 11"/>
                <p:cNvSpPr/>
                <p:nvPr/>
              </p:nvSpPr>
              <p:spPr>
                <a:xfrm>
                  <a:off x="2952" y="1200"/>
                  <a:ext cx="0" cy="2974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3604" name="Line 12"/>
                <p:cNvSpPr/>
                <p:nvPr/>
              </p:nvSpPr>
              <p:spPr>
                <a:xfrm>
                  <a:off x="3396" y="1200"/>
                  <a:ext cx="0" cy="2974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3605" name="Line 13"/>
                <p:cNvSpPr/>
                <p:nvPr/>
              </p:nvSpPr>
              <p:spPr>
                <a:xfrm>
                  <a:off x="3840" y="1200"/>
                  <a:ext cx="0" cy="2974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3606" name="Line 14"/>
                <p:cNvSpPr/>
                <p:nvPr/>
              </p:nvSpPr>
              <p:spPr>
                <a:xfrm>
                  <a:off x="4284" y="1200"/>
                  <a:ext cx="0" cy="2974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3607" name="Line 15"/>
                <p:cNvSpPr/>
                <p:nvPr/>
              </p:nvSpPr>
              <p:spPr>
                <a:xfrm>
                  <a:off x="4728" y="1200"/>
                  <a:ext cx="0" cy="2974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3608" name="Line 16"/>
                <p:cNvSpPr/>
                <p:nvPr/>
              </p:nvSpPr>
              <p:spPr>
                <a:xfrm>
                  <a:off x="5172" y="1200"/>
                  <a:ext cx="0" cy="2974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grpSp>
              <p:nvGrpSpPr>
                <p:cNvPr id="23609" name="Group 17"/>
                <p:cNvGrpSpPr/>
                <p:nvPr/>
              </p:nvGrpSpPr>
              <p:grpSpPr>
                <a:xfrm>
                  <a:off x="288" y="1200"/>
                  <a:ext cx="5328" cy="2976"/>
                  <a:chOff x="288" y="1200"/>
                  <a:chExt cx="5328" cy="2976"/>
                </a:xfrm>
              </p:grpSpPr>
              <p:sp>
                <p:nvSpPr>
                  <p:cNvPr id="23610" name="Line 18"/>
                  <p:cNvSpPr/>
                  <p:nvPr/>
                </p:nvSpPr>
                <p:spPr>
                  <a:xfrm>
                    <a:off x="742" y="1200"/>
                    <a:ext cx="0" cy="2974"/>
                  </a:xfrm>
                  <a:prstGeom prst="line">
                    <a:avLst/>
                  </a:prstGeom>
                  <a:ln w="127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3611" name="Line 19"/>
                  <p:cNvSpPr/>
                  <p:nvPr/>
                </p:nvSpPr>
                <p:spPr>
                  <a:xfrm>
                    <a:off x="1176" y="1200"/>
                    <a:ext cx="0" cy="2974"/>
                  </a:xfrm>
                  <a:prstGeom prst="line">
                    <a:avLst/>
                  </a:prstGeom>
                  <a:ln w="127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3612" name="Line 20"/>
                  <p:cNvSpPr/>
                  <p:nvPr/>
                </p:nvSpPr>
                <p:spPr>
                  <a:xfrm>
                    <a:off x="1620" y="1200"/>
                    <a:ext cx="0" cy="2974"/>
                  </a:xfrm>
                  <a:prstGeom prst="line">
                    <a:avLst/>
                  </a:prstGeom>
                  <a:ln w="127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grpSp>
                <p:nvGrpSpPr>
                  <p:cNvPr id="23613" name="Group 21"/>
                  <p:cNvGrpSpPr/>
                  <p:nvPr/>
                </p:nvGrpSpPr>
                <p:grpSpPr>
                  <a:xfrm>
                    <a:off x="288" y="1200"/>
                    <a:ext cx="5328" cy="2976"/>
                    <a:chOff x="288" y="1200"/>
                    <a:chExt cx="5328" cy="2976"/>
                  </a:xfrm>
                </p:grpSpPr>
                <p:sp>
                  <p:nvSpPr>
                    <p:cNvPr id="23614" name="Line 22"/>
                    <p:cNvSpPr/>
                    <p:nvPr/>
                  </p:nvSpPr>
                  <p:spPr>
                    <a:xfrm>
                      <a:off x="3840" y="1200"/>
                      <a:ext cx="444" cy="0"/>
                    </a:xfrm>
                    <a:prstGeom prst="line">
                      <a:avLst/>
                    </a:prstGeom>
                    <a:ln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  <p:grpSp>
                  <p:nvGrpSpPr>
                    <p:cNvPr id="23615" name="Group 23"/>
                    <p:cNvGrpSpPr/>
                    <p:nvPr/>
                  </p:nvGrpSpPr>
                  <p:grpSpPr>
                    <a:xfrm>
                      <a:off x="288" y="1200"/>
                      <a:ext cx="5328" cy="2976"/>
                      <a:chOff x="288" y="1200"/>
                      <a:chExt cx="5328" cy="2976"/>
                    </a:xfrm>
                  </p:grpSpPr>
                  <p:sp>
                    <p:nvSpPr>
                      <p:cNvPr id="23616" name="Line 24"/>
                      <p:cNvSpPr/>
                      <p:nvPr/>
                    </p:nvSpPr>
                    <p:spPr>
                      <a:xfrm>
                        <a:off x="288" y="4176"/>
                        <a:ext cx="5328" cy="0"/>
                      </a:xfrm>
                      <a:prstGeom prst="line">
                        <a:avLst/>
                      </a:prstGeom>
                      <a:ln w="28575" cap="sq" cmpd="sng">
                        <a:solidFill>
                          <a:schemeClr val="tx1"/>
                        </a:solidFill>
                        <a:prstDash val="solid"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23617" name="Rectangle 25"/>
                      <p:cNvSpPr/>
                      <p:nvPr/>
                    </p:nvSpPr>
                    <p:spPr>
                      <a:xfrm>
                        <a:off x="5172" y="1200"/>
                        <a:ext cx="444" cy="63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  <p:txBody>
                      <a:bodyPr lIns="19050" rIns="19050" anchor="ctr" anchorCtr="1"/>
                      <a:p>
                        <a:pPr eaLnBrk="1" hangingPunct="1">
                          <a:buClr>
                            <a:schemeClr val="accent2"/>
                          </a:buClr>
                          <a:buSzPct val="80000"/>
                          <a:buFont typeface="Wingdings" panose="05000000000000000000" pitchFamily="2" charset="2"/>
                        </a:pPr>
                        <a:r>
                          <a:rPr lang="en-US" altLang="zh-CN" sz="2000" dirty="0">
                            <a:latin typeface="Times New Roman" panose="02020603050405020304" pitchFamily="18" charset="0"/>
                            <a:ea typeface="宋体" panose="02010600030101010101" pitchFamily="2" charset="-122"/>
                          </a:rPr>
                          <a:t>JMP</a:t>
                        </a:r>
                        <a:endParaRPr lang="en-US" altLang="zh-CN" sz="2000" dirty="0"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23618" name="Rectangle 26"/>
                      <p:cNvSpPr/>
                      <p:nvPr/>
                    </p:nvSpPr>
                    <p:spPr>
                      <a:xfrm>
                        <a:off x="4728" y="1200"/>
                        <a:ext cx="444" cy="63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  <p:txBody>
                      <a:bodyPr lIns="19050" rIns="19050" anchor="ctr" anchorCtr="1"/>
                      <a:p>
                        <a:pPr eaLnBrk="1" hangingPunct="1">
                          <a:buClr>
                            <a:schemeClr val="accent2"/>
                          </a:buClr>
                          <a:buSzPct val="80000"/>
                          <a:buFont typeface="Wingdings" panose="05000000000000000000" pitchFamily="2" charset="2"/>
                        </a:pPr>
                        <a:r>
                          <a:rPr lang="en-US" altLang="zh-CN" sz="2000" dirty="0">
                            <a:latin typeface="Times New Roman" panose="02020603050405020304" pitchFamily="18" charset="0"/>
                            <a:ea typeface="宋体" panose="02010600030101010101" pitchFamily="2" charset="-122"/>
                          </a:rPr>
                          <a:t>LDA</a:t>
                        </a:r>
                        <a:endParaRPr lang="en-US" altLang="zh-CN" sz="2000" dirty="0"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23619" name="Rectangle 27"/>
                      <p:cNvSpPr/>
                      <p:nvPr/>
                    </p:nvSpPr>
                    <p:spPr>
                      <a:xfrm>
                        <a:off x="4284" y="1200"/>
                        <a:ext cx="444" cy="63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  <p:txBody>
                      <a:bodyPr lIns="19050" rIns="19050" anchor="ctr" anchorCtr="1"/>
                      <a:p>
                        <a:pPr eaLnBrk="1" hangingPunct="1">
                          <a:buClr>
                            <a:schemeClr val="accent2"/>
                          </a:buClr>
                          <a:buSzPct val="80000"/>
                          <a:buFont typeface="Wingdings" panose="05000000000000000000" pitchFamily="2" charset="2"/>
                        </a:pPr>
                        <a:r>
                          <a:rPr lang="en-US" altLang="zh-CN" sz="2000" dirty="0">
                            <a:latin typeface="Times New Roman" panose="02020603050405020304" pitchFamily="18" charset="0"/>
                            <a:ea typeface="宋体" panose="02010600030101010101" pitchFamily="2" charset="-122"/>
                          </a:rPr>
                          <a:t>STA</a:t>
                        </a:r>
                        <a:endParaRPr lang="en-US" altLang="zh-CN" sz="2000" dirty="0"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23620" name="Rectangle 28"/>
                      <p:cNvSpPr/>
                      <p:nvPr/>
                    </p:nvSpPr>
                    <p:spPr>
                      <a:xfrm>
                        <a:off x="3840" y="1200"/>
                        <a:ext cx="444" cy="63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  <p:txBody>
                      <a:bodyPr lIns="19050" rIns="19050" anchor="ctr" anchorCtr="1"/>
                      <a:p>
                        <a:pPr eaLnBrk="1" hangingPunct="1">
                          <a:buClr>
                            <a:schemeClr val="accent2"/>
                          </a:buClr>
                          <a:buSzPct val="80000"/>
                          <a:buFont typeface="Wingdings" panose="05000000000000000000" pitchFamily="2" charset="2"/>
                        </a:pPr>
                        <a:r>
                          <a:rPr lang="en-US" altLang="zh-CN" sz="2000" dirty="0">
                            <a:latin typeface="Times New Roman" panose="02020603050405020304" pitchFamily="18" charset="0"/>
                            <a:ea typeface="宋体" panose="02010600030101010101" pitchFamily="2" charset="-122"/>
                          </a:rPr>
                          <a:t>ADD</a:t>
                        </a:r>
                        <a:endParaRPr lang="en-US" altLang="zh-CN" sz="2000" dirty="0"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23621" name="Rectangle 29"/>
                      <p:cNvSpPr/>
                      <p:nvPr/>
                    </p:nvSpPr>
                    <p:spPr>
                      <a:xfrm>
                        <a:off x="3396" y="1200"/>
                        <a:ext cx="444" cy="63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  <p:txBody>
                      <a:bodyPr lIns="19050" rIns="19050" anchor="ctr" anchorCtr="1"/>
                      <a:p>
                        <a:pPr eaLnBrk="1" hangingPunct="1">
                          <a:buClr>
                            <a:schemeClr val="accent2"/>
                          </a:buClr>
                          <a:buSzPct val="80000"/>
                          <a:buFont typeface="Wingdings" panose="05000000000000000000" pitchFamily="2" charset="2"/>
                        </a:pPr>
                        <a:r>
                          <a:rPr lang="en-US" altLang="zh-CN" sz="2000" dirty="0">
                            <a:latin typeface="Times New Roman" panose="02020603050405020304" pitchFamily="18" charset="0"/>
                            <a:ea typeface="宋体" panose="02010600030101010101" pitchFamily="2" charset="-122"/>
                          </a:rPr>
                          <a:t>COM</a:t>
                        </a:r>
                        <a:endParaRPr lang="en-US" altLang="zh-CN" sz="2000" dirty="0"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23622" name="Rectangle 30"/>
                      <p:cNvSpPr/>
                      <p:nvPr/>
                    </p:nvSpPr>
                    <p:spPr>
                      <a:xfrm>
                        <a:off x="2952" y="1200"/>
                        <a:ext cx="444" cy="63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  <p:txBody>
                      <a:bodyPr lIns="19050" rIns="19050" anchor="ctr" anchorCtr="1"/>
                      <a:p>
                        <a:pPr eaLnBrk="1" hangingPunct="1">
                          <a:buClr>
                            <a:schemeClr val="accent2"/>
                          </a:buClr>
                          <a:buSzPct val="80000"/>
                          <a:buFont typeface="Wingdings" panose="05000000000000000000" pitchFamily="2" charset="2"/>
                        </a:pPr>
                        <a:r>
                          <a:rPr lang="en-US" altLang="zh-CN" sz="2000" dirty="0">
                            <a:latin typeface="Times New Roman" panose="02020603050405020304" pitchFamily="18" charset="0"/>
                            <a:ea typeface="宋体" panose="02010600030101010101" pitchFamily="2" charset="-122"/>
                          </a:rPr>
                          <a:t>CLA</a:t>
                        </a:r>
                        <a:endParaRPr lang="en-US" altLang="zh-CN" sz="2000" dirty="0"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23623" name="Rectangle 31"/>
                      <p:cNvSpPr/>
                      <p:nvPr/>
                    </p:nvSpPr>
                    <p:spPr>
                      <a:xfrm>
                        <a:off x="1620" y="1200"/>
                        <a:ext cx="1332" cy="63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  <p:txBody>
                      <a:bodyPr lIns="19050" rIns="19050" anchor="ctr" anchorCtr="1"/>
                      <a:p>
                        <a:pPr eaLnBrk="1" hangingPunct="1">
                          <a:buClr>
                            <a:schemeClr val="accent2"/>
                          </a:buClr>
                          <a:buSzPct val="80000"/>
                          <a:buFont typeface="Wingdings" panose="05000000000000000000" pitchFamily="2" charset="2"/>
                        </a:pPr>
                        <a:r>
                          <a:rPr lang="zh-CN" altLang="en-US" sz="2000" dirty="0">
                            <a:latin typeface="Times New Roman" panose="02020603050405020304" pitchFamily="18" charset="0"/>
                            <a:ea typeface="宋体" panose="02010600030101010101" pitchFamily="2" charset="-122"/>
                          </a:rPr>
                          <a:t>微操作命令信号</a:t>
                        </a:r>
                        <a:endParaRPr lang="zh-CN" altLang="en-US" sz="2000" dirty="0"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23624" name="Rectangle 32"/>
                      <p:cNvSpPr/>
                      <p:nvPr/>
                    </p:nvSpPr>
                    <p:spPr>
                      <a:xfrm>
                        <a:off x="1176" y="1200"/>
                        <a:ext cx="444" cy="63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  <p:txBody>
                      <a:bodyPr lIns="19050" rIns="19050" anchor="ctr" anchorCtr="1"/>
                      <a:p>
                        <a:pPr eaLnBrk="1" hangingPunct="1">
                          <a:buClr>
                            <a:schemeClr val="accent2"/>
                          </a:buClr>
                          <a:buSzPct val="80000"/>
                          <a:buFont typeface="Wingdings" panose="05000000000000000000" pitchFamily="2" charset="2"/>
                        </a:pPr>
                        <a:r>
                          <a:rPr lang="zh-CN" altLang="en-US" sz="2000" dirty="0">
                            <a:latin typeface="Times New Roman" panose="02020603050405020304" pitchFamily="18" charset="0"/>
                            <a:ea typeface="宋体" panose="02010600030101010101" pitchFamily="2" charset="-122"/>
                          </a:rPr>
                          <a:t>状态条件</a:t>
                        </a:r>
                        <a:endParaRPr lang="zh-CN" altLang="en-US" sz="2000" dirty="0"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23625" name="Rectangle 33"/>
                      <p:cNvSpPr/>
                      <p:nvPr/>
                    </p:nvSpPr>
                    <p:spPr>
                      <a:xfrm>
                        <a:off x="742" y="1200"/>
                        <a:ext cx="434" cy="63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  <p:txBody>
                      <a:bodyPr lIns="19050" rIns="19050" anchor="ctr" anchorCtr="1"/>
                      <a:p>
                        <a:pPr eaLnBrk="1" hangingPunct="1">
                          <a:buClr>
                            <a:schemeClr val="accent2"/>
                          </a:buClr>
                          <a:buSzPct val="80000"/>
                          <a:buFont typeface="Wingdings" panose="05000000000000000000" pitchFamily="2" charset="2"/>
                        </a:pPr>
                        <a:r>
                          <a:rPr lang="zh-CN" altLang="en-US" sz="2000" dirty="0">
                            <a:latin typeface="Times New Roman" panose="02020603050405020304" pitchFamily="18" charset="0"/>
                            <a:ea typeface="宋体" panose="02010600030101010101" pitchFamily="2" charset="-122"/>
                          </a:rPr>
                          <a:t>节拍</a:t>
                        </a:r>
                        <a:endParaRPr lang="zh-CN" altLang="en-US" sz="2000" dirty="0"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23626" name="Rectangle 34"/>
                      <p:cNvSpPr/>
                      <p:nvPr/>
                    </p:nvSpPr>
                    <p:spPr>
                      <a:xfrm>
                        <a:off x="288" y="1200"/>
                        <a:ext cx="454" cy="63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  <p:txBody>
                      <a:bodyPr lIns="19050" rIns="19050" anchor="ctr" anchorCtr="1"/>
                      <a:p>
                        <a:pPr eaLnBrk="1" hangingPunct="1">
                          <a:buClr>
                            <a:schemeClr val="accent2"/>
                          </a:buClr>
                          <a:buSzPct val="80000"/>
                          <a:buFont typeface="Wingdings" panose="05000000000000000000" pitchFamily="2" charset="2"/>
                        </a:pPr>
                        <a:r>
                          <a:rPr lang="zh-CN" altLang="en-US" sz="2000" dirty="0">
                            <a:latin typeface="Times New Roman" panose="02020603050405020304" pitchFamily="18" charset="0"/>
                            <a:ea typeface="宋体" panose="02010600030101010101" pitchFamily="2" charset="-122"/>
                          </a:rPr>
                          <a:t>工作周期标记</a:t>
                        </a:r>
                        <a:endParaRPr lang="zh-CN" altLang="en-US" sz="2000" dirty="0">
                          <a:latin typeface="Times New Roman" panose="02020603050405020304" pitchFamily="18" charset="0"/>
                          <a:ea typeface="宋体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23627" name="Line 35"/>
                      <p:cNvSpPr/>
                      <p:nvPr/>
                    </p:nvSpPr>
                    <p:spPr>
                      <a:xfrm>
                        <a:off x="288" y="1200"/>
                        <a:ext cx="0" cy="2974"/>
                      </a:xfrm>
                      <a:prstGeom prst="line">
                        <a:avLst/>
                      </a:prstGeom>
                      <a:ln w="28575" cap="sq" cmpd="sng">
                        <a:solidFill>
                          <a:schemeClr val="tx1"/>
                        </a:solidFill>
                        <a:prstDash val="solid"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23628" name="Line 36"/>
                      <p:cNvSpPr/>
                      <p:nvPr/>
                    </p:nvSpPr>
                    <p:spPr>
                      <a:xfrm>
                        <a:off x="288" y="1200"/>
                        <a:ext cx="3552" cy="0"/>
                      </a:xfrm>
                      <a:prstGeom prst="line">
                        <a:avLst/>
                      </a:prstGeom>
                      <a:ln w="28575" cap="sq" cmpd="sng">
                        <a:solidFill>
                          <a:schemeClr val="tx1"/>
                        </a:solidFill>
                        <a:prstDash val="solid"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23629" name="Line 37"/>
                      <p:cNvSpPr/>
                      <p:nvPr/>
                    </p:nvSpPr>
                    <p:spPr>
                      <a:xfrm>
                        <a:off x="4284" y="1200"/>
                        <a:ext cx="1332" cy="0"/>
                      </a:xfrm>
                      <a:prstGeom prst="line">
                        <a:avLst/>
                      </a:prstGeom>
                      <a:ln w="28575" cap="sq" cmpd="sng">
                        <a:solidFill>
                          <a:schemeClr val="tx1"/>
                        </a:solidFill>
                        <a:prstDash val="solid"/>
                        <a:headEnd type="none" w="med" len="med"/>
                        <a:tailEnd type="none" w="med" len="med"/>
                      </a:ln>
                    </p:spPr>
                  </p:sp>
                </p:grpSp>
              </p:grpSp>
            </p:grpSp>
          </p:grpSp>
        </p:grpSp>
      </p:grpSp>
      <p:sp>
        <p:nvSpPr>
          <p:cNvPr id="621606" name="Line 38"/>
          <p:cNvSpPr/>
          <p:nvPr/>
        </p:nvSpPr>
        <p:spPr>
          <a:xfrm>
            <a:off x="2571750" y="3100388"/>
            <a:ext cx="6343650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21607" name="Line 39"/>
          <p:cNvSpPr/>
          <p:nvPr/>
        </p:nvSpPr>
        <p:spPr>
          <a:xfrm>
            <a:off x="2571750" y="4400550"/>
            <a:ext cx="6343650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21608" name="Line 40"/>
          <p:cNvSpPr/>
          <p:nvPr/>
        </p:nvSpPr>
        <p:spPr>
          <a:xfrm>
            <a:off x="2571750" y="5257800"/>
            <a:ext cx="6343650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21609" name="Freeform 41"/>
          <p:cNvSpPr/>
          <p:nvPr/>
        </p:nvSpPr>
        <p:spPr>
          <a:xfrm>
            <a:off x="2568575" y="5651500"/>
            <a:ext cx="6346825" cy="1588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6" y="2147483646"/>
              </a:cxn>
            </a:cxnLst>
            <a:pathLst>
              <a:path w="3998" h="1">
                <a:moveTo>
                  <a:pt x="0" y="0"/>
                </a:moveTo>
                <a:lnTo>
                  <a:pt x="3998" y="1"/>
                </a:lnTo>
              </a:path>
            </a:pathLst>
          </a:custGeom>
          <a:noFill/>
          <a:ln w="12700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621610" name="Line 42"/>
          <p:cNvSpPr/>
          <p:nvPr/>
        </p:nvSpPr>
        <p:spPr>
          <a:xfrm>
            <a:off x="1177925" y="4795838"/>
            <a:ext cx="7737475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21611" name="Line 43"/>
          <p:cNvSpPr/>
          <p:nvPr/>
        </p:nvSpPr>
        <p:spPr>
          <a:xfrm>
            <a:off x="1177925" y="3986213"/>
            <a:ext cx="7737475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621612" name="Group 44"/>
          <p:cNvGrpSpPr/>
          <p:nvPr/>
        </p:nvGrpSpPr>
        <p:grpSpPr>
          <a:xfrm>
            <a:off x="2571750" y="2705100"/>
            <a:ext cx="2114550" cy="395288"/>
            <a:chOff x="1620" y="1833"/>
            <a:chExt cx="1332" cy="249"/>
          </a:xfrm>
        </p:grpSpPr>
        <p:sp>
          <p:nvSpPr>
            <p:cNvPr id="23597" name="Rectangle 45"/>
            <p:cNvSpPr/>
            <p:nvPr/>
          </p:nvSpPr>
          <p:spPr>
            <a:xfrm>
              <a:off x="1620" y="1833"/>
              <a:ext cx="1332" cy="249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050" rIns="19050" anchor="ctr" anchorCtr="1"/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Ad (IR)      MAR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598" name="Line 46"/>
            <p:cNvSpPr/>
            <p:nvPr/>
          </p:nvSpPr>
          <p:spPr>
            <a:xfrm>
              <a:off x="2258" y="1968"/>
              <a:ext cx="19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621615" name="Group 47"/>
          <p:cNvGrpSpPr/>
          <p:nvPr/>
        </p:nvGrpSpPr>
        <p:grpSpPr>
          <a:xfrm>
            <a:off x="2536825" y="3100388"/>
            <a:ext cx="2114550" cy="395287"/>
            <a:chOff x="1598" y="2082"/>
            <a:chExt cx="1332" cy="249"/>
          </a:xfrm>
        </p:grpSpPr>
        <p:sp>
          <p:nvSpPr>
            <p:cNvPr id="23595" name="Rectangle 48"/>
            <p:cNvSpPr/>
            <p:nvPr/>
          </p:nvSpPr>
          <p:spPr>
            <a:xfrm>
              <a:off x="1598" y="2082"/>
              <a:ext cx="1332" cy="249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050" rIns="19050" anchor="ctr" anchorCtr="1"/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       </a:t>
              </a: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R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596" name="Line 49"/>
            <p:cNvSpPr/>
            <p:nvPr/>
          </p:nvSpPr>
          <p:spPr>
            <a:xfrm>
              <a:off x="2160" y="2208"/>
              <a:ext cx="19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621618" name="Group 50"/>
          <p:cNvGrpSpPr/>
          <p:nvPr/>
        </p:nvGrpSpPr>
        <p:grpSpPr>
          <a:xfrm>
            <a:off x="2571750" y="3986213"/>
            <a:ext cx="2114550" cy="414337"/>
            <a:chOff x="1620" y="2571"/>
            <a:chExt cx="1332" cy="261"/>
          </a:xfrm>
        </p:grpSpPr>
        <p:sp>
          <p:nvSpPr>
            <p:cNvPr id="23593" name="Rectangle 51"/>
            <p:cNvSpPr/>
            <p:nvPr/>
          </p:nvSpPr>
          <p:spPr>
            <a:xfrm>
              <a:off x="1620" y="2571"/>
              <a:ext cx="1332" cy="261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050" rIns="19050" anchor="ctr" anchorCtr="1"/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M(MAR)      MDR    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594" name="Line 52"/>
            <p:cNvSpPr/>
            <p:nvPr/>
          </p:nvSpPr>
          <p:spPr>
            <a:xfrm>
              <a:off x="2304" y="2713"/>
              <a:ext cx="19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621621" name="Group 53"/>
          <p:cNvGrpSpPr/>
          <p:nvPr/>
        </p:nvGrpSpPr>
        <p:grpSpPr>
          <a:xfrm>
            <a:off x="2571750" y="4400550"/>
            <a:ext cx="2114550" cy="395288"/>
            <a:chOff x="1620" y="2901"/>
            <a:chExt cx="1332" cy="249"/>
          </a:xfrm>
        </p:grpSpPr>
        <p:sp>
          <p:nvSpPr>
            <p:cNvPr id="23591" name="Rectangle 54"/>
            <p:cNvSpPr/>
            <p:nvPr/>
          </p:nvSpPr>
          <p:spPr>
            <a:xfrm>
              <a:off x="1620" y="2901"/>
              <a:ext cx="1332" cy="249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050" rIns="19050" anchor="ctr" anchorCtr="1"/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AC      MDR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592" name="Line 55"/>
            <p:cNvSpPr/>
            <p:nvPr/>
          </p:nvSpPr>
          <p:spPr>
            <a:xfrm>
              <a:off x="2112" y="3020"/>
              <a:ext cx="19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621648" name="Group 80"/>
          <p:cNvGrpSpPr/>
          <p:nvPr/>
        </p:nvGrpSpPr>
        <p:grpSpPr>
          <a:xfrm>
            <a:off x="2543175" y="4795838"/>
            <a:ext cx="2114550" cy="461962"/>
            <a:chOff x="1602" y="3021"/>
            <a:chExt cx="1332" cy="291"/>
          </a:xfrm>
        </p:grpSpPr>
        <p:sp>
          <p:nvSpPr>
            <p:cNvPr id="23589" name="Rectangle 57"/>
            <p:cNvSpPr/>
            <p:nvPr/>
          </p:nvSpPr>
          <p:spPr>
            <a:xfrm>
              <a:off x="1602" y="3021"/>
              <a:ext cx="1332" cy="291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050" rIns="19050" anchor="ctr" anchorCtr="1"/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(AC)+(MDR)   </a:t>
              </a:r>
              <a:r>
                <a:rPr lang="en-US" altLang="zh-CN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AC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590" name="Line 58"/>
            <p:cNvSpPr/>
            <p:nvPr/>
          </p:nvSpPr>
          <p:spPr>
            <a:xfrm>
              <a:off x="2557" y="3179"/>
              <a:ext cx="12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621627" name="Group 59"/>
          <p:cNvGrpSpPr/>
          <p:nvPr/>
        </p:nvGrpSpPr>
        <p:grpSpPr>
          <a:xfrm>
            <a:off x="2571750" y="5257800"/>
            <a:ext cx="2114550" cy="395288"/>
            <a:chOff x="1620" y="3441"/>
            <a:chExt cx="1332" cy="249"/>
          </a:xfrm>
        </p:grpSpPr>
        <p:sp>
          <p:nvSpPr>
            <p:cNvPr id="23587" name="Rectangle 60"/>
            <p:cNvSpPr/>
            <p:nvPr/>
          </p:nvSpPr>
          <p:spPr>
            <a:xfrm>
              <a:off x="1620" y="3441"/>
              <a:ext cx="1332" cy="249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050" rIns="19050" anchor="ctr" anchorCtr="1"/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MDR       M(MAR) 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588" name="Line 61"/>
            <p:cNvSpPr/>
            <p:nvPr/>
          </p:nvSpPr>
          <p:spPr>
            <a:xfrm>
              <a:off x="2064" y="3573"/>
              <a:ext cx="19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621630" name="Group 62"/>
          <p:cNvGrpSpPr/>
          <p:nvPr/>
        </p:nvGrpSpPr>
        <p:grpSpPr>
          <a:xfrm>
            <a:off x="2571750" y="5653088"/>
            <a:ext cx="2114550" cy="395287"/>
            <a:chOff x="1620" y="3690"/>
            <a:chExt cx="1332" cy="249"/>
          </a:xfrm>
        </p:grpSpPr>
        <p:sp>
          <p:nvSpPr>
            <p:cNvPr id="23585" name="Rectangle 63"/>
            <p:cNvSpPr/>
            <p:nvPr/>
          </p:nvSpPr>
          <p:spPr>
            <a:xfrm>
              <a:off x="1620" y="3690"/>
              <a:ext cx="1332" cy="249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050" rIns="19050" anchor="ctr" anchorCtr="1"/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MDR      AC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586" name="Line 64"/>
            <p:cNvSpPr/>
            <p:nvPr/>
          </p:nvSpPr>
          <p:spPr>
            <a:xfrm>
              <a:off x="2258" y="3813"/>
              <a:ext cx="19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621633" name="Group 65"/>
          <p:cNvGrpSpPr/>
          <p:nvPr/>
        </p:nvGrpSpPr>
        <p:grpSpPr>
          <a:xfrm>
            <a:off x="2571750" y="6048375"/>
            <a:ext cx="2114550" cy="395288"/>
            <a:chOff x="1620" y="3939"/>
            <a:chExt cx="1332" cy="249"/>
          </a:xfrm>
        </p:grpSpPr>
        <p:sp>
          <p:nvSpPr>
            <p:cNvPr id="23583" name="Rectangle 66"/>
            <p:cNvSpPr/>
            <p:nvPr/>
          </p:nvSpPr>
          <p:spPr>
            <a:xfrm>
              <a:off x="1620" y="3939"/>
              <a:ext cx="1332" cy="249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050" rIns="19050" anchor="ctr" anchorCtr="1"/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0      </a:t>
              </a: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AC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584" name="Line 67"/>
            <p:cNvSpPr/>
            <p:nvPr/>
          </p:nvSpPr>
          <p:spPr>
            <a:xfrm>
              <a:off x="2112" y="4074"/>
              <a:ext cx="19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sp>
        <p:nvSpPr>
          <p:cNvPr id="621636" name="Line 68"/>
          <p:cNvSpPr/>
          <p:nvPr/>
        </p:nvSpPr>
        <p:spPr>
          <a:xfrm>
            <a:off x="2571750" y="6043613"/>
            <a:ext cx="6343650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23574" name="Group 69"/>
          <p:cNvGrpSpPr/>
          <p:nvPr/>
        </p:nvGrpSpPr>
        <p:grpSpPr>
          <a:xfrm>
            <a:off x="381000" y="304800"/>
            <a:ext cx="4772025" cy="1281113"/>
            <a:chOff x="240" y="192"/>
            <a:chExt cx="3006" cy="807"/>
          </a:xfrm>
        </p:grpSpPr>
        <p:sp>
          <p:nvSpPr>
            <p:cNvPr id="23581" name="Text Box 70"/>
            <p:cNvSpPr txBox="1"/>
            <p:nvPr/>
          </p:nvSpPr>
          <p:spPr>
            <a:xfrm>
              <a:off x="240" y="192"/>
              <a:ext cx="3006" cy="40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3600" dirty="0">
                  <a:latin typeface="Times New Roman" panose="02020603050405020304" pitchFamily="18" charset="0"/>
                </a:rPr>
                <a:t>三、组合逻辑设计步骤</a:t>
              </a:r>
              <a:endParaRPr lang="zh-CN" altLang="en-US" sz="3600" dirty="0">
                <a:latin typeface="Times New Roman" panose="02020603050405020304" pitchFamily="18" charset="0"/>
              </a:endParaRPr>
            </a:p>
          </p:txBody>
        </p:sp>
        <p:sp>
          <p:nvSpPr>
            <p:cNvPr id="23582" name="Text Box 71"/>
            <p:cNvSpPr txBox="1"/>
            <p:nvPr/>
          </p:nvSpPr>
          <p:spPr>
            <a:xfrm>
              <a:off x="629" y="672"/>
              <a:ext cx="191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800" dirty="0">
                  <a:latin typeface="Times New Roman" panose="02020603050405020304" pitchFamily="18" charset="0"/>
                </a:rPr>
                <a:t>1. 列出操作时间表</a:t>
              </a:r>
              <a:endParaRPr lang="zh-CN" altLang="en-US" sz="28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621640" name="Line 72"/>
          <p:cNvSpPr/>
          <p:nvPr/>
        </p:nvSpPr>
        <p:spPr>
          <a:xfrm>
            <a:off x="2590800" y="3529013"/>
            <a:ext cx="6343650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621641" name="Group 73"/>
          <p:cNvGrpSpPr/>
          <p:nvPr/>
        </p:nvGrpSpPr>
        <p:grpSpPr>
          <a:xfrm>
            <a:off x="2590800" y="3590925"/>
            <a:ext cx="2114550" cy="395288"/>
            <a:chOff x="1620" y="2322"/>
            <a:chExt cx="1332" cy="249"/>
          </a:xfrm>
        </p:grpSpPr>
        <p:sp>
          <p:nvSpPr>
            <p:cNvPr id="23579" name="Rectangle 74"/>
            <p:cNvSpPr/>
            <p:nvPr/>
          </p:nvSpPr>
          <p:spPr>
            <a:xfrm>
              <a:off x="1620" y="2322"/>
              <a:ext cx="1332" cy="249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050" rIns="19050" anchor="ctr" anchorCtr="1"/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       </a:t>
              </a: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W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580" name="Line 75"/>
            <p:cNvSpPr/>
            <p:nvPr/>
          </p:nvSpPr>
          <p:spPr>
            <a:xfrm>
              <a:off x="2160" y="2448"/>
              <a:ext cx="190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sp>
        <p:nvSpPr>
          <p:cNvPr id="621644" name="Rectangle 76"/>
          <p:cNvSpPr>
            <a:spLocks noChangeArrowheads="1"/>
          </p:cNvSpPr>
          <p:nvPr/>
        </p:nvSpPr>
        <p:spPr bwMode="auto">
          <a:xfrm>
            <a:off x="7696200" y="152400"/>
            <a:ext cx="1447800" cy="838200"/>
          </a:xfrm>
          <a:prstGeom prst="rect">
            <a:avLst/>
          </a:prstGeom>
          <a:noFill/>
          <a:ln>
            <a:noFill/>
          </a:ln>
          <a:effectLst/>
        </p:spPr>
        <p:txBody>
          <a:bodyPr lIns="92075" tIns="46038" rIns="92075" bIns="46038" anchor="ctr"/>
          <a:lstStyle>
            <a:lvl1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10.1</a:t>
            </a:r>
            <a:endParaRPr kumimoji="1" lang="zh-CN" altLang="en-US" sz="4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578" name="AutoShape 78">
            <a:hlinkClick r:id="rId1" action="ppaction://hlinksldjump"/>
          </p:cNvPr>
          <p:cNvSpPr/>
          <p:nvPr/>
        </p:nvSpPr>
        <p:spPr>
          <a:xfrm>
            <a:off x="8589963" y="6516688"/>
            <a:ext cx="539750" cy="333375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endParaRPr lang="zh-CN" altLang="en-US" dirty="0">
              <a:latin typeface="等线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621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21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21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1" dur="500"/>
                                        <p:tgtEl>
                                          <p:spTgt spid="621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621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0" dur="500"/>
                                        <p:tgtEl>
                                          <p:spTgt spid="621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621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9" dur="500"/>
                                        <p:tgtEl>
                                          <p:spTgt spid="621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621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621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3" dur="500"/>
                                        <p:tgtEl>
                                          <p:spTgt spid="621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621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2" dur="500"/>
                                        <p:tgtEl>
                                          <p:spTgt spid="621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621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621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6" dur="500"/>
                                        <p:tgtEl>
                                          <p:spTgt spid="621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1" dur="500"/>
                                        <p:tgtEl>
                                          <p:spTgt spid="621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6" dur="500"/>
                                        <p:tgtEl>
                                          <p:spTgt spid="621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00"/>
                            </p:stCondLst>
                            <p:childTnLst>
                              <p:par>
                                <p:cTn id="88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90" dur="500"/>
                                        <p:tgtEl>
                                          <p:spTgt spid="621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5" dur="500"/>
                                        <p:tgtEl>
                                          <p:spTgt spid="621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500"/>
                            </p:stCondLst>
                            <p:childTnLst>
                              <p:par>
                                <p:cTn id="97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99" dur="500"/>
                                        <p:tgtEl>
                                          <p:spTgt spid="621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4" dur="500"/>
                                        <p:tgtEl>
                                          <p:spTgt spid="621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1570" grpId="0"/>
      <p:bldP spid="621571" grpId="0"/>
      <p:bldP spid="621572" grpId="0"/>
      <p:bldP spid="62157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4578" name="Text Box 2"/>
          <p:cNvSpPr txBox="1"/>
          <p:nvPr/>
        </p:nvSpPr>
        <p:spPr>
          <a:xfrm>
            <a:off x="381000" y="304800"/>
            <a:ext cx="4772025" cy="6413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3600" dirty="0">
                <a:latin typeface="Times New Roman" panose="02020603050405020304" pitchFamily="18" charset="0"/>
              </a:rPr>
              <a:t>三、组合逻辑设计步骤</a:t>
            </a:r>
            <a:endParaRPr lang="zh-CN" altLang="en-US" sz="3600" dirty="0">
              <a:latin typeface="Times New Roman" panose="02020603050405020304" pitchFamily="18" charset="0"/>
            </a:endParaRPr>
          </a:p>
        </p:txBody>
      </p:sp>
      <p:sp>
        <p:nvSpPr>
          <p:cNvPr id="24579" name="Text Box 3"/>
          <p:cNvSpPr txBox="1"/>
          <p:nvPr/>
        </p:nvSpPr>
        <p:spPr>
          <a:xfrm>
            <a:off x="998538" y="1066800"/>
            <a:ext cx="3040062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</a:rPr>
              <a:t>1. 列出操作时间表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grpSp>
        <p:nvGrpSpPr>
          <p:cNvPr id="24580" name="Group 4"/>
          <p:cNvGrpSpPr/>
          <p:nvPr/>
        </p:nvGrpSpPr>
        <p:grpSpPr>
          <a:xfrm>
            <a:off x="457200" y="1905000"/>
            <a:ext cx="8458200" cy="4283075"/>
            <a:chOff x="288" y="1200"/>
            <a:chExt cx="5328" cy="2698"/>
          </a:xfrm>
        </p:grpSpPr>
        <p:sp>
          <p:nvSpPr>
            <p:cNvPr id="24635" name="Rectangle 5"/>
            <p:cNvSpPr/>
            <p:nvPr/>
          </p:nvSpPr>
          <p:spPr>
            <a:xfrm>
              <a:off x="1176" y="2841"/>
              <a:ext cx="444" cy="54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050" rIns="19050" anchor="ctr" anchorCtr="1"/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endPara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4636" name="Rectangle 6"/>
            <p:cNvSpPr/>
            <p:nvPr/>
          </p:nvSpPr>
          <p:spPr>
            <a:xfrm>
              <a:off x="742" y="2841"/>
              <a:ext cx="434" cy="1038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050" rIns="19050" anchor="ctr" anchorCtr="1"/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en-US" altLang="zh-CN" sz="2000" i="1" dirty="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T</a:t>
              </a:r>
              <a:r>
                <a:rPr lang="en-US" altLang="zh-CN" sz="2000" baseline="-25000" dirty="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zh-CN" altLang="en-US" sz="2000" baseline="-25000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4637" name="Rectangle 7"/>
            <p:cNvSpPr/>
            <p:nvPr/>
          </p:nvSpPr>
          <p:spPr>
            <a:xfrm>
              <a:off x="742" y="2331"/>
              <a:ext cx="434" cy="51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050" rIns="19050" anchor="ctr" anchorCtr="1"/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en-US" altLang="zh-CN" sz="2000" i="1" dirty="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T</a:t>
              </a:r>
              <a:r>
                <a:rPr lang="en-US" altLang="zh-CN" sz="2000" baseline="-25000" dirty="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zh-CN" altLang="en-US" sz="2000" baseline="-25000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4638" name="Rectangle 8"/>
            <p:cNvSpPr/>
            <p:nvPr/>
          </p:nvSpPr>
          <p:spPr>
            <a:xfrm>
              <a:off x="742" y="1833"/>
              <a:ext cx="434" cy="498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050" rIns="19050" anchor="ctr" anchorCtr="1"/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en-US" altLang="zh-CN" sz="2000" i="1" dirty="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T</a:t>
              </a:r>
              <a:r>
                <a:rPr lang="en-US" altLang="zh-CN" sz="2000" baseline="-25000" dirty="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lang="en-US" altLang="zh-CN" sz="2000" baseline="-25000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4639" name="Rectangle 9"/>
            <p:cNvSpPr/>
            <p:nvPr/>
          </p:nvSpPr>
          <p:spPr>
            <a:xfrm>
              <a:off x="288" y="1833"/>
              <a:ext cx="454" cy="204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050" rIns="19050" anchor="ctr" anchorCtr="1"/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FE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取指 </a:t>
              </a:r>
              <a:endPara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4640" name="Rectangle 10"/>
            <p:cNvSpPr/>
            <p:nvPr/>
          </p:nvSpPr>
          <p:spPr>
            <a:xfrm>
              <a:off x="5172" y="1200"/>
              <a:ext cx="444" cy="633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050" rIns="19050" anchor="ctr" anchorCtr="1"/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JMP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4641" name="Rectangle 11"/>
            <p:cNvSpPr/>
            <p:nvPr/>
          </p:nvSpPr>
          <p:spPr>
            <a:xfrm>
              <a:off x="4728" y="1200"/>
              <a:ext cx="444" cy="633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050" rIns="19050" anchor="ctr" anchorCtr="1"/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LDA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4642" name="Rectangle 12"/>
            <p:cNvSpPr/>
            <p:nvPr/>
          </p:nvSpPr>
          <p:spPr>
            <a:xfrm>
              <a:off x="4284" y="1200"/>
              <a:ext cx="444" cy="633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050" rIns="19050" anchor="ctr" anchorCtr="1"/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STA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4643" name="Rectangle 13"/>
            <p:cNvSpPr/>
            <p:nvPr/>
          </p:nvSpPr>
          <p:spPr>
            <a:xfrm>
              <a:off x="3840" y="1200"/>
              <a:ext cx="444" cy="633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050" rIns="19050" anchor="ctr" anchorCtr="1"/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ADD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4644" name="Rectangle 14"/>
            <p:cNvSpPr/>
            <p:nvPr/>
          </p:nvSpPr>
          <p:spPr>
            <a:xfrm>
              <a:off x="3396" y="1200"/>
              <a:ext cx="444" cy="633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050" rIns="19050" anchor="ctr" anchorCtr="1"/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COM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4645" name="Rectangle 15"/>
            <p:cNvSpPr/>
            <p:nvPr/>
          </p:nvSpPr>
          <p:spPr>
            <a:xfrm>
              <a:off x="2952" y="1200"/>
              <a:ext cx="444" cy="633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050" rIns="19050" anchor="ctr" anchorCtr="1"/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CLA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4646" name="Rectangle 16"/>
            <p:cNvSpPr/>
            <p:nvPr/>
          </p:nvSpPr>
          <p:spPr>
            <a:xfrm>
              <a:off x="1620" y="1200"/>
              <a:ext cx="1332" cy="633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050" rIns="19050" anchor="ctr" anchorCtr="1"/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微操作命令信号</a:t>
              </a:r>
              <a:endPara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4647" name="Rectangle 17"/>
            <p:cNvSpPr/>
            <p:nvPr/>
          </p:nvSpPr>
          <p:spPr>
            <a:xfrm>
              <a:off x="1176" y="1200"/>
              <a:ext cx="444" cy="633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050" rIns="19050" anchor="ctr" anchorCtr="1"/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状态条件</a:t>
              </a:r>
              <a:endPara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4648" name="Rectangle 18"/>
            <p:cNvSpPr/>
            <p:nvPr/>
          </p:nvSpPr>
          <p:spPr>
            <a:xfrm>
              <a:off x="742" y="1200"/>
              <a:ext cx="434" cy="633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050" rIns="19050" anchor="ctr" anchorCtr="1"/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节拍</a:t>
              </a:r>
              <a:endPara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4649" name="Rectangle 19"/>
            <p:cNvSpPr/>
            <p:nvPr/>
          </p:nvSpPr>
          <p:spPr>
            <a:xfrm>
              <a:off x="288" y="1200"/>
              <a:ext cx="454" cy="633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050" rIns="19050" anchor="ctr" anchorCtr="1"/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工作周期标记</a:t>
              </a:r>
              <a:endPara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24650" name="Group 20"/>
            <p:cNvGrpSpPr/>
            <p:nvPr/>
          </p:nvGrpSpPr>
          <p:grpSpPr>
            <a:xfrm>
              <a:off x="288" y="1200"/>
              <a:ext cx="5328" cy="2679"/>
              <a:chOff x="288" y="1440"/>
              <a:chExt cx="5328" cy="2679"/>
            </a:xfrm>
          </p:grpSpPr>
          <p:sp>
            <p:nvSpPr>
              <p:cNvPr id="24688" name="Line 21"/>
              <p:cNvSpPr/>
              <p:nvPr/>
            </p:nvSpPr>
            <p:spPr>
              <a:xfrm>
                <a:off x="3840" y="1440"/>
                <a:ext cx="444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grpSp>
            <p:nvGrpSpPr>
              <p:cNvPr id="24689" name="Group 22"/>
              <p:cNvGrpSpPr/>
              <p:nvPr/>
            </p:nvGrpSpPr>
            <p:grpSpPr>
              <a:xfrm>
                <a:off x="288" y="1440"/>
                <a:ext cx="5328" cy="2679"/>
                <a:chOff x="288" y="1440"/>
                <a:chExt cx="5328" cy="2679"/>
              </a:xfrm>
            </p:grpSpPr>
            <p:sp>
              <p:nvSpPr>
                <p:cNvPr id="24690" name="Line 23"/>
                <p:cNvSpPr/>
                <p:nvPr/>
              </p:nvSpPr>
              <p:spPr>
                <a:xfrm>
                  <a:off x="288" y="2073"/>
                  <a:ext cx="5328" cy="0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4691" name="Line 24"/>
                <p:cNvSpPr/>
                <p:nvPr/>
              </p:nvSpPr>
              <p:spPr>
                <a:xfrm>
                  <a:off x="288" y="4119"/>
                  <a:ext cx="5328" cy="0"/>
                </a:xfrm>
                <a:prstGeom prst="line">
                  <a:avLst/>
                </a:prstGeom>
                <a:ln w="28575" cap="sq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4692" name="Line 25"/>
                <p:cNvSpPr/>
                <p:nvPr/>
              </p:nvSpPr>
              <p:spPr>
                <a:xfrm>
                  <a:off x="288" y="1440"/>
                  <a:ext cx="0" cy="2679"/>
                </a:xfrm>
                <a:prstGeom prst="line">
                  <a:avLst/>
                </a:prstGeom>
                <a:ln w="28575" cap="sq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4693" name="Line 26"/>
                <p:cNvSpPr/>
                <p:nvPr/>
              </p:nvSpPr>
              <p:spPr>
                <a:xfrm>
                  <a:off x="742" y="1440"/>
                  <a:ext cx="0" cy="2679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4694" name="Line 27"/>
                <p:cNvSpPr/>
                <p:nvPr/>
              </p:nvSpPr>
              <p:spPr>
                <a:xfrm>
                  <a:off x="1176" y="1440"/>
                  <a:ext cx="0" cy="2679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4695" name="Line 28"/>
                <p:cNvSpPr/>
                <p:nvPr/>
              </p:nvSpPr>
              <p:spPr>
                <a:xfrm>
                  <a:off x="1620" y="1440"/>
                  <a:ext cx="0" cy="2679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4696" name="Line 29"/>
                <p:cNvSpPr/>
                <p:nvPr/>
              </p:nvSpPr>
              <p:spPr>
                <a:xfrm>
                  <a:off x="2952" y="1440"/>
                  <a:ext cx="0" cy="2679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4697" name="Line 30"/>
                <p:cNvSpPr/>
                <p:nvPr/>
              </p:nvSpPr>
              <p:spPr>
                <a:xfrm>
                  <a:off x="3396" y="1440"/>
                  <a:ext cx="0" cy="2679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4698" name="Line 31"/>
                <p:cNvSpPr/>
                <p:nvPr/>
              </p:nvSpPr>
              <p:spPr>
                <a:xfrm>
                  <a:off x="3840" y="1440"/>
                  <a:ext cx="0" cy="2679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4699" name="Line 32"/>
                <p:cNvSpPr/>
                <p:nvPr/>
              </p:nvSpPr>
              <p:spPr>
                <a:xfrm>
                  <a:off x="4284" y="1440"/>
                  <a:ext cx="0" cy="2679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4700" name="Line 33"/>
                <p:cNvSpPr/>
                <p:nvPr/>
              </p:nvSpPr>
              <p:spPr>
                <a:xfrm>
                  <a:off x="4728" y="1440"/>
                  <a:ext cx="0" cy="2679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4701" name="Line 34"/>
                <p:cNvSpPr/>
                <p:nvPr/>
              </p:nvSpPr>
              <p:spPr>
                <a:xfrm>
                  <a:off x="5172" y="1440"/>
                  <a:ext cx="0" cy="2679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4702" name="Line 35"/>
                <p:cNvSpPr/>
                <p:nvPr/>
              </p:nvSpPr>
              <p:spPr>
                <a:xfrm>
                  <a:off x="5616" y="1440"/>
                  <a:ext cx="0" cy="2679"/>
                </a:xfrm>
                <a:prstGeom prst="line">
                  <a:avLst/>
                </a:prstGeom>
                <a:ln w="28575" cap="sq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grpSp>
              <p:nvGrpSpPr>
                <p:cNvPr id="24703" name="Group 36"/>
                <p:cNvGrpSpPr/>
                <p:nvPr/>
              </p:nvGrpSpPr>
              <p:grpSpPr>
                <a:xfrm>
                  <a:off x="288" y="1440"/>
                  <a:ext cx="5328" cy="0"/>
                  <a:chOff x="288" y="1440"/>
                  <a:chExt cx="5328" cy="0"/>
                </a:xfrm>
              </p:grpSpPr>
              <p:sp>
                <p:nvSpPr>
                  <p:cNvPr id="24704" name="Line 37"/>
                  <p:cNvSpPr/>
                  <p:nvPr/>
                </p:nvSpPr>
                <p:spPr>
                  <a:xfrm>
                    <a:off x="288" y="1440"/>
                    <a:ext cx="3552" cy="0"/>
                  </a:xfrm>
                  <a:prstGeom prst="line">
                    <a:avLst/>
                  </a:prstGeom>
                  <a:ln w="28575" cap="sq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4705" name="Line 38"/>
                  <p:cNvSpPr/>
                  <p:nvPr/>
                </p:nvSpPr>
                <p:spPr>
                  <a:xfrm>
                    <a:off x="4284" y="1440"/>
                    <a:ext cx="1332" cy="0"/>
                  </a:xfrm>
                  <a:prstGeom prst="line">
                    <a:avLst/>
                  </a:prstGeom>
                  <a:ln w="28575" cap="sq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</p:grpSp>
        </p:grpSp>
        <p:sp>
          <p:nvSpPr>
            <p:cNvPr id="24651" name="Line 39"/>
            <p:cNvSpPr/>
            <p:nvPr/>
          </p:nvSpPr>
          <p:spPr>
            <a:xfrm>
              <a:off x="1620" y="2082"/>
              <a:ext cx="399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652" name="Line 40"/>
            <p:cNvSpPr/>
            <p:nvPr/>
          </p:nvSpPr>
          <p:spPr>
            <a:xfrm>
              <a:off x="1620" y="2592"/>
              <a:ext cx="399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653" name="Line 41"/>
            <p:cNvSpPr/>
            <p:nvPr/>
          </p:nvSpPr>
          <p:spPr>
            <a:xfrm>
              <a:off x="1620" y="3120"/>
              <a:ext cx="399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654" name="Line 42"/>
            <p:cNvSpPr/>
            <p:nvPr/>
          </p:nvSpPr>
          <p:spPr>
            <a:xfrm>
              <a:off x="1176" y="3381"/>
              <a:ext cx="4440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655" name="Line 43"/>
            <p:cNvSpPr/>
            <p:nvPr/>
          </p:nvSpPr>
          <p:spPr>
            <a:xfrm>
              <a:off x="742" y="2841"/>
              <a:ext cx="4874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4656" name="Line 44"/>
            <p:cNvSpPr/>
            <p:nvPr/>
          </p:nvSpPr>
          <p:spPr>
            <a:xfrm>
              <a:off x="742" y="2331"/>
              <a:ext cx="4874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24657" name="Group 45"/>
            <p:cNvGrpSpPr/>
            <p:nvPr/>
          </p:nvGrpSpPr>
          <p:grpSpPr>
            <a:xfrm>
              <a:off x="1620" y="1833"/>
              <a:ext cx="1332" cy="249"/>
              <a:chOff x="1620" y="2073"/>
              <a:chExt cx="1332" cy="249"/>
            </a:xfrm>
          </p:grpSpPr>
          <p:sp>
            <p:nvSpPr>
              <p:cNvPr id="24686" name="Rectangle 46"/>
              <p:cNvSpPr/>
              <p:nvPr/>
            </p:nvSpPr>
            <p:spPr>
              <a:xfrm>
                <a:off x="1620" y="2073"/>
                <a:ext cx="1332" cy="24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19050" rIns="19050" anchor="ctr" anchorCtr="1"/>
              <a:p>
                <a:pPr eaLnBrk="1" hangingPunct="1">
                  <a:buClr>
                    <a:schemeClr val="accent2"/>
                  </a:buClr>
                  <a:buSzPct val="80000"/>
                  <a:buFont typeface="Wingdings" panose="05000000000000000000" pitchFamily="2" charset="2"/>
                </a:pPr>
                <a:r>
                  <a:rPr lang="en-US" altLang="zh-CN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PC      MAR</a:t>
                </a:r>
                <a:endPara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4687" name="Line 47"/>
              <p:cNvSpPr/>
              <p:nvPr/>
            </p:nvSpPr>
            <p:spPr>
              <a:xfrm>
                <a:off x="2112" y="2208"/>
                <a:ext cx="190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</p:grpSp>
        <p:grpSp>
          <p:nvGrpSpPr>
            <p:cNvPr id="24658" name="Group 48"/>
            <p:cNvGrpSpPr/>
            <p:nvPr/>
          </p:nvGrpSpPr>
          <p:grpSpPr>
            <a:xfrm>
              <a:off x="1620" y="2082"/>
              <a:ext cx="1332" cy="249"/>
              <a:chOff x="1620" y="2322"/>
              <a:chExt cx="1332" cy="249"/>
            </a:xfrm>
          </p:grpSpPr>
          <p:sp>
            <p:nvSpPr>
              <p:cNvPr id="24684" name="Rectangle 49"/>
              <p:cNvSpPr/>
              <p:nvPr/>
            </p:nvSpPr>
            <p:spPr>
              <a:xfrm>
                <a:off x="1620" y="2322"/>
                <a:ext cx="1332" cy="24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19050" rIns="19050" anchor="ctr" anchorCtr="1"/>
              <a:p>
                <a:pPr eaLnBrk="1" hangingPunct="1">
                  <a:buClr>
                    <a:schemeClr val="accent2"/>
                  </a:buClr>
                  <a:buSzPct val="80000"/>
                  <a:buFont typeface="Wingdings" panose="05000000000000000000" pitchFamily="2" charset="2"/>
                </a:pPr>
                <a:r>
                  <a:rPr lang="zh-CN" altLang="en-US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1      </a:t>
                </a:r>
                <a:r>
                  <a:rPr lang="en-US" altLang="zh-CN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R</a:t>
                </a:r>
                <a:endPara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4685" name="Line 50"/>
              <p:cNvSpPr/>
              <p:nvPr/>
            </p:nvSpPr>
            <p:spPr>
              <a:xfrm>
                <a:off x="2160" y="2448"/>
                <a:ext cx="190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</p:grpSp>
        <p:grpSp>
          <p:nvGrpSpPr>
            <p:cNvPr id="24659" name="Group 51"/>
            <p:cNvGrpSpPr/>
            <p:nvPr/>
          </p:nvGrpSpPr>
          <p:grpSpPr>
            <a:xfrm>
              <a:off x="1620" y="2331"/>
              <a:ext cx="1332" cy="261"/>
              <a:chOff x="1620" y="2571"/>
              <a:chExt cx="1332" cy="261"/>
            </a:xfrm>
          </p:grpSpPr>
          <p:sp>
            <p:nvSpPr>
              <p:cNvPr id="24682" name="Rectangle 52"/>
              <p:cNvSpPr/>
              <p:nvPr/>
            </p:nvSpPr>
            <p:spPr>
              <a:xfrm>
                <a:off x="1620" y="2571"/>
                <a:ext cx="1332" cy="26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19050" rIns="19050" anchor="ctr" anchorCtr="1"/>
              <a:p>
                <a:pPr eaLnBrk="1" hangingPunct="1">
                  <a:buClr>
                    <a:schemeClr val="accent2"/>
                  </a:buClr>
                  <a:buSzPct val="80000"/>
                  <a:buFont typeface="Wingdings" panose="05000000000000000000" pitchFamily="2" charset="2"/>
                </a:pPr>
                <a:r>
                  <a:rPr lang="en-US" altLang="zh-CN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M(MAR)      MDR    </a:t>
                </a:r>
                <a:endPara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4683" name="Line 53"/>
              <p:cNvSpPr/>
              <p:nvPr/>
            </p:nvSpPr>
            <p:spPr>
              <a:xfrm>
                <a:off x="2304" y="2713"/>
                <a:ext cx="190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</p:grpSp>
        <p:grpSp>
          <p:nvGrpSpPr>
            <p:cNvPr id="24660" name="Group 54"/>
            <p:cNvGrpSpPr/>
            <p:nvPr/>
          </p:nvGrpSpPr>
          <p:grpSpPr>
            <a:xfrm>
              <a:off x="1620" y="2592"/>
              <a:ext cx="1332" cy="249"/>
              <a:chOff x="1620" y="2832"/>
              <a:chExt cx="1332" cy="249"/>
            </a:xfrm>
          </p:grpSpPr>
          <p:sp>
            <p:nvSpPr>
              <p:cNvPr id="24680" name="Rectangle 55"/>
              <p:cNvSpPr/>
              <p:nvPr/>
            </p:nvSpPr>
            <p:spPr>
              <a:xfrm>
                <a:off x="1620" y="2832"/>
                <a:ext cx="1332" cy="24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19050" rIns="19050" anchor="ctr" anchorCtr="1"/>
              <a:p>
                <a:pPr eaLnBrk="1" hangingPunct="1">
                  <a:buClr>
                    <a:schemeClr val="accent2"/>
                  </a:buClr>
                  <a:buSzPct val="80000"/>
                  <a:buFont typeface="Wingdings" panose="05000000000000000000" pitchFamily="2" charset="2"/>
                </a:pPr>
                <a:r>
                  <a:rPr lang="zh-CN" altLang="en-US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( </a:t>
                </a:r>
                <a:r>
                  <a:rPr lang="en-US" altLang="zh-CN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PC ) +1      PC</a:t>
                </a:r>
                <a:endPara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4681" name="Line 56"/>
              <p:cNvSpPr/>
              <p:nvPr/>
            </p:nvSpPr>
            <p:spPr>
              <a:xfrm>
                <a:off x="2354" y="2951"/>
                <a:ext cx="190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</p:grpSp>
        <p:grpSp>
          <p:nvGrpSpPr>
            <p:cNvPr id="24661" name="Group 57"/>
            <p:cNvGrpSpPr/>
            <p:nvPr/>
          </p:nvGrpSpPr>
          <p:grpSpPr>
            <a:xfrm>
              <a:off x="1620" y="2841"/>
              <a:ext cx="1332" cy="291"/>
              <a:chOff x="1620" y="3081"/>
              <a:chExt cx="1332" cy="291"/>
            </a:xfrm>
          </p:grpSpPr>
          <p:sp>
            <p:nvSpPr>
              <p:cNvPr id="24678" name="Rectangle 58"/>
              <p:cNvSpPr/>
              <p:nvPr/>
            </p:nvSpPr>
            <p:spPr>
              <a:xfrm>
                <a:off x="1620" y="3081"/>
                <a:ext cx="1332" cy="29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19050" rIns="19050" anchor="ctr" anchorCtr="1"/>
              <a:p>
                <a:pPr eaLnBrk="1" hangingPunct="1">
                  <a:buClr>
                    <a:schemeClr val="accent2"/>
                  </a:buClr>
                  <a:buSzPct val="80000"/>
                  <a:buFont typeface="Wingdings" panose="05000000000000000000" pitchFamily="2" charset="2"/>
                </a:pPr>
                <a:r>
                  <a:rPr lang="en-US" altLang="zh-CN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MDR      IR</a:t>
                </a:r>
                <a:endPara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4679" name="Line 59"/>
              <p:cNvSpPr/>
              <p:nvPr/>
            </p:nvSpPr>
            <p:spPr>
              <a:xfrm>
                <a:off x="2278" y="3239"/>
                <a:ext cx="190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</p:grpSp>
        <p:grpSp>
          <p:nvGrpSpPr>
            <p:cNvPr id="24662" name="Group 60"/>
            <p:cNvGrpSpPr/>
            <p:nvPr/>
          </p:nvGrpSpPr>
          <p:grpSpPr>
            <a:xfrm>
              <a:off x="1620" y="3132"/>
              <a:ext cx="1332" cy="249"/>
              <a:chOff x="1620" y="3372"/>
              <a:chExt cx="1332" cy="249"/>
            </a:xfrm>
          </p:grpSpPr>
          <p:sp>
            <p:nvSpPr>
              <p:cNvPr id="24676" name="Rectangle 61"/>
              <p:cNvSpPr/>
              <p:nvPr/>
            </p:nvSpPr>
            <p:spPr>
              <a:xfrm>
                <a:off x="1620" y="3372"/>
                <a:ext cx="1332" cy="24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19050" rIns="19050" anchor="ctr" anchorCtr="1"/>
              <a:p>
                <a:pPr eaLnBrk="1" hangingPunct="1">
                  <a:buClr>
                    <a:schemeClr val="accent2"/>
                  </a:buClr>
                  <a:buSzPct val="80000"/>
                  <a:buFont typeface="Wingdings" panose="05000000000000000000" pitchFamily="2" charset="2"/>
                </a:pPr>
                <a:r>
                  <a:rPr lang="en-US" altLang="zh-CN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OP( IR )      ID</a:t>
                </a:r>
                <a:endPara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4677" name="Line 62"/>
              <p:cNvSpPr/>
              <p:nvPr/>
            </p:nvSpPr>
            <p:spPr>
              <a:xfrm>
                <a:off x="2375" y="3504"/>
                <a:ext cx="190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</p:grpSp>
        <p:grpSp>
          <p:nvGrpSpPr>
            <p:cNvPr id="24663" name="Group 63"/>
            <p:cNvGrpSpPr/>
            <p:nvPr/>
          </p:nvGrpSpPr>
          <p:grpSpPr>
            <a:xfrm>
              <a:off x="1620" y="3381"/>
              <a:ext cx="1332" cy="249"/>
              <a:chOff x="1620" y="3621"/>
              <a:chExt cx="1332" cy="249"/>
            </a:xfrm>
          </p:grpSpPr>
          <p:sp>
            <p:nvSpPr>
              <p:cNvPr id="24674" name="Rectangle 64"/>
              <p:cNvSpPr/>
              <p:nvPr/>
            </p:nvSpPr>
            <p:spPr>
              <a:xfrm>
                <a:off x="1620" y="3621"/>
                <a:ext cx="1332" cy="24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19050" rIns="19050" anchor="ctr" anchorCtr="1"/>
              <a:p>
                <a:pPr eaLnBrk="1" hangingPunct="1">
                  <a:buClr>
                    <a:schemeClr val="accent2"/>
                  </a:buClr>
                  <a:buSzPct val="80000"/>
                  <a:buFont typeface="Wingdings" panose="05000000000000000000" pitchFamily="2" charset="2"/>
                </a:pPr>
                <a:r>
                  <a:rPr lang="zh-CN" altLang="en-US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1      </a:t>
                </a:r>
                <a:r>
                  <a:rPr lang="en-US" altLang="zh-CN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IND</a:t>
                </a:r>
                <a:endPara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4675" name="Line 65"/>
              <p:cNvSpPr/>
              <p:nvPr/>
            </p:nvSpPr>
            <p:spPr>
              <a:xfrm>
                <a:off x="2064" y="3744"/>
                <a:ext cx="190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</p:grpSp>
        <p:grpSp>
          <p:nvGrpSpPr>
            <p:cNvPr id="24664" name="Group 66"/>
            <p:cNvGrpSpPr/>
            <p:nvPr/>
          </p:nvGrpSpPr>
          <p:grpSpPr>
            <a:xfrm>
              <a:off x="1620" y="3630"/>
              <a:ext cx="1332" cy="249"/>
              <a:chOff x="1620" y="3870"/>
              <a:chExt cx="1332" cy="249"/>
            </a:xfrm>
          </p:grpSpPr>
          <p:sp>
            <p:nvSpPr>
              <p:cNvPr id="24672" name="Rectangle 67"/>
              <p:cNvSpPr/>
              <p:nvPr/>
            </p:nvSpPr>
            <p:spPr>
              <a:xfrm>
                <a:off x="1620" y="3870"/>
                <a:ext cx="1332" cy="24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19050" rIns="19050" anchor="ctr" anchorCtr="1"/>
              <a:p>
                <a:pPr eaLnBrk="1" hangingPunct="1">
                  <a:buClr>
                    <a:schemeClr val="accent2"/>
                  </a:buClr>
                  <a:buSzPct val="80000"/>
                  <a:buFont typeface="Wingdings" panose="05000000000000000000" pitchFamily="2" charset="2"/>
                </a:pPr>
                <a:r>
                  <a:rPr lang="zh-CN" altLang="en-US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1      </a:t>
                </a:r>
                <a:r>
                  <a:rPr lang="en-US" altLang="zh-CN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EX</a:t>
                </a:r>
                <a:endPara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4673" name="Line 68"/>
              <p:cNvSpPr/>
              <p:nvPr/>
            </p:nvSpPr>
            <p:spPr>
              <a:xfrm>
                <a:off x="2112" y="4005"/>
                <a:ext cx="190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</p:grpSp>
        <p:grpSp>
          <p:nvGrpSpPr>
            <p:cNvPr id="24665" name="Group 69"/>
            <p:cNvGrpSpPr/>
            <p:nvPr/>
          </p:nvGrpSpPr>
          <p:grpSpPr>
            <a:xfrm>
              <a:off x="1176" y="3630"/>
              <a:ext cx="4440" cy="0"/>
              <a:chOff x="1176" y="3870"/>
              <a:chExt cx="4440" cy="0"/>
            </a:xfrm>
          </p:grpSpPr>
          <p:sp>
            <p:nvSpPr>
              <p:cNvPr id="24670" name="Line 70"/>
              <p:cNvSpPr/>
              <p:nvPr/>
            </p:nvSpPr>
            <p:spPr>
              <a:xfrm>
                <a:off x="1620" y="3870"/>
                <a:ext cx="3996" cy="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4671" name="Line 71"/>
              <p:cNvSpPr/>
              <p:nvPr/>
            </p:nvSpPr>
            <p:spPr>
              <a:xfrm flipH="1">
                <a:off x="1176" y="3870"/>
                <a:ext cx="45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24666" name="Text Box 72"/>
            <p:cNvSpPr txBox="1"/>
            <p:nvPr/>
          </p:nvSpPr>
          <p:spPr>
            <a:xfrm>
              <a:off x="1310" y="3398"/>
              <a:ext cx="17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dirty="0">
                  <a:latin typeface="Times New Roman" panose="02020603050405020304" pitchFamily="18" charset="0"/>
                </a:rPr>
                <a:t>I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24667" name="Group 73"/>
            <p:cNvGrpSpPr/>
            <p:nvPr/>
          </p:nvGrpSpPr>
          <p:grpSpPr>
            <a:xfrm>
              <a:off x="1310" y="3648"/>
              <a:ext cx="178" cy="250"/>
              <a:chOff x="1310" y="3888"/>
              <a:chExt cx="178" cy="250"/>
            </a:xfrm>
          </p:grpSpPr>
          <p:sp>
            <p:nvSpPr>
              <p:cNvPr id="24668" name="Text Box 74"/>
              <p:cNvSpPr txBox="1"/>
              <p:nvPr/>
            </p:nvSpPr>
            <p:spPr>
              <a:xfrm>
                <a:off x="1310" y="3888"/>
                <a:ext cx="178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sz="2000" dirty="0">
                    <a:latin typeface="Times New Roman" panose="02020603050405020304" pitchFamily="18" charset="0"/>
                  </a:rPr>
                  <a:t>I</a:t>
                </a:r>
                <a:endParaRPr lang="en-US" altLang="zh-CN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669" name="Freeform 75"/>
              <p:cNvSpPr/>
              <p:nvPr/>
            </p:nvSpPr>
            <p:spPr>
              <a:xfrm>
                <a:off x="1362" y="3933"/>
                <a:ext cx="78" cy="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78" y="4"/>
                  </a:cxn>
                </a:cxnLst>
                <a:pathLst>
                  <a:path w="78" h="4">
                    <a:moveTo>
                      <a:pt x="0" y="0"/>
                    </a:moveTo>
                    <a:lnTo>
                      <a:pt x="78" y="4"/>
                    </a:lnTo>
                  </a:path>
                </a:pathLst>
              </a:custGeom>
              <a:noFill/>
              <a:ln w="2857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</p:grpSp>
      <p:sp>
        <p:nvSpPr>
          <p:cNvPr id="622668" name="Text Box 76"/>
          <p:cNvSpPr txBox="1"/>
          <p:nvPr/>
        </p:nvSpPr>
        <p:spPr>
          <a:xfrm>
            <a:off x="4860925" y="2955925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000" dirty="0">
                <a:latin typeface="Times New Roman" panose="02020603050405020304" pitchFamily="18" charset="0"/>
              </a:rPr>
              <a:t>1</a:t>
            </a:r>
            <a:endParaRPr lang="zh-CN" altLang="en-US" sz="2000" dirty="0">
              <a:latin typeface="Times New Roman" panose="02020603050405020304" pitchFamily="18" charset="0"/>
            </a:endParaRPr>
          </a:p>
        </p:txBody>
      </p:sp>
      <p:sp>
        <p:nvSpPr>
          <p:cNvPr id="622669" name="Text Box 77"/>
          <p:cNvSpPr txBox="1"/>
          <p:nvPr/>
        </p:nvSpPr>
        <p:spPr>
          <a:xfrm>
            <a:off x="5546725" y="2955925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000" dirty="0">
                <a:latin typeface="Times New Roman" panose="02020603050405020304" pitchFamily="18" charset="0"/>
              </a:rPr>
              <a:t>1</a:t>
            </a:r>
            <a:endParaRPr lang="zh-CN" altLang="en-US" sz="2000" dirty="0">
              <a:latin typeface="Times New Roman" panose="02020603050405020304" pitchFamily="18" charset="0"/>
            </a:endParaRPr>
          </a:p>
        </p:txBody>
      </p:sp>
      <p:sp>
        <p:nvSpPr>
          <p:cNvPr id="622670" name="Text Box 78"/>
          <p:cNvSpPr txBox="1"/>
          <p:nvPr/>
        </p:nvSpPr>
        <p:spPr>
          <a:xfrm>
            <a:off x="6318250" y="2955925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000" dirty="0">
                <a:latin typeface="Times New Roman" panose="02020603050405020304" pitchFamily="18" charset="0"/>
              </a:rPr>
              <a:t>1</a:t>
            </a:r>
            <a:endParaRPr lang="zh-CN" altLang="en-US" sz="2000" dirty="0">
              <a:latin typeface="Times New Roman" panose="02020603050405020304" pitchFamily="18" charset="0"/>
            </a:endParaRPr>
          </a:p>
        </p:txBody>
      </p:sp>
      <p:sp>
        <p:nvSpPr>
          <p:cNvPr id="622671" name="Text Box 79"/>
          <p:cNvSpPr txBox="1"/>
          <p:nvPr/>
        </p:nvSpPr>
        <p:spPr>
          <a:xfrm>
            <a:off x="7004050" y="2955925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000" dirty="0">
                <a:latin typeface="Times New Roman" panose="02020603050405020304" pitchFamily="18" charset="0"/>
              </a:rPr>
              <a:t>1</a:t>
            </a:r>
            <a:endParaRPr lang="zh-CN" altLang="en-US" sz="2000" dirty="0">
              <a:latin typeface="Times New Roman" panose="02020603050405020304" pitchFamily="18" charset="0"/>
            </a:endParaRPr>
          </a:p>
        </p:txBody>
      </p:sp>
      <p:sp>
        <p:nvSpPr>
          <p:cNvPr id="622672" name="Text Box 80"/>
          <p:cNvSpPr txBox="1"/>
          <p:nvPr/>
        </p:nvSpPr>
        <p:spPr>
          <a:xfrm>
            <a:off x="7680325" y="2955925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000" dirty="0">
                <a:latin typeface="Times New Roman" panose="02020603050405020304" pitchFamily="18" charset="0"/>
              </a:rPr>
              <a:t>1</a:t>
            </a:r>
            <a:endParaRPr lang="zh-CN" altLang="en-US" sz="2000" dirty="0">
              <a:latin typeface="Times New Roman" panose="02020603050405020304" pitchFamily="18" charset="0"/>
            </a:endParaRPr>
          </a:p>
        </p:txBody>
      </p:sp>
      <p:sp>
        <p:nvSpPr>
          <p:cNvPr id="622673" name="Text Box 81"/>
          <p:cNvSpPr txBox="1"/>
          <p:nvPr/>
        </p:nvSpPr>
        <p:spPr>
          <a:xfrm>
            <a:off x="8382000" y="2955925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000" dirty="0">
                <a:latin typeface="Times New Roman" panose="02020603050405020304" pitchFamily="18" charset="0"/>
              </a:rPr>
              <a:t>1</a:t>
            </a:r>
            <a:endParaRPr lang="zh-CN" altLang="en-US" sz="2000" dirty="0">
              <a:latin typeface="Times New Roman" panose="02020603050405020304" pitchFamily="18" charset="0"/>
            </a:endParaRPr>
          </a:p>
        </p:txBody>
      </p:sp>
      <p:grpSp>
        <p:nvGrpSpPr>
          <p:cNvPr id="622674" name="Group 82"/>
          <p:cNvGrpSpPr/>
          <p:nvPr/>
        </p:nvGrpSpPr>
        <p:grpSpPr>
          <a:xfrm>
            <a:off x="4876800" y="3336925"/>
            <a:ext cx="3832225" cy="396875"/>
            <a:chOff x="3072" y="2102"/>
            <a:chExt cx="2414" cy="250"/>
          </a:xfrm>
        </p:grpSpPr>
        <p:sp>
          <p:nvSpPr>
            <p:cNvPr id="24629" name="Text Box 83"/>
            <p:cNvSpPr txBox="1"/>
            <p:nvPr/>
          </p:nvSpPr>
          <p:spPr>
            <a:xfrm>
              <a:off x="3072" y="2102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1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4630" name="Text Box 84"/>
            <p:cNvSpPr txBox="1"/>
            <p:nvPr/>
          </p:nvSpPr>
          <p:spPr>
            <a:xfrm>
              <a:off x="3504" y="2102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1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4631" name="Text Box 85"/>
            <p:cNvSpPr txBox="1"/>
            <p:nvPr/>
          </p:nvSpPr>
          <p:spPr>
            <a:xfrm>
              <a:off x="3990" y="2102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1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4632" name="Text Box 86"/>
            <p:cNvSpPr txBox="1"/>
            <p:nvPr/>
          </p:nvSpPr>
          <p:spPr>
            <a:xfrm>
              <a:off x="4422" y="2102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1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4633" name="Text Box 87"/>
            <p:cNvSpPr txBox="1"/>
            <p:nvPr/>
          </p:nvSpPr>
          <p:spPr>
            <a:xfrm>
              <a:off x="4848" y="2102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1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4634" name="Text Box 88"/>
            <p:cNvSpPr txBox="1"/>
            <p:nvPr/>
          </p:nvSpPr>
          <p:spPr>
            <a:xfrm>
              <a:off x="5290" y="2102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1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22681" name="Group 89"/>
          <p:cNvGrpSpPr/>
          <p:nvPr/>
        </p:nvGrpSpPr>
        <p:grpSpPr>
          <a:xfrm>
            <a:off x="4876800" y="3733800"/>
            <a:ext cx="3832225" cy="396875"/>
            <a:chOff x="3072" y="2102"/>
            <a:chExt cx="2414" cy="250"/>
          </a:xfrm>
        </p:grpSpPr>
        <p:sp>
          <p:nvSpPr>
            <p:cNvPr id="24623" name="Text Box 90"/>
            <p:cNvSpPr txBox="1"/>
            <p:nvPr/>
          </p:nvSpPr>
          <p:spPr>
            <a:xfrm>
              <a:off x="3072" y="2102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1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4624" name="Text Box 91"/>
            <p:cNvSpPr txBox="1"/>
            <p:nvPr/>
          </p:nvSpPr>
          <p:spPr>
            <a:xfrm>
              <a:off x="3504" y="2102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1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4625" name="Text Box 92"/>
            <p:cNvSpPr txBox="1"/>
            <p:nvPr/>
          </p:nvSpPr>
          <p:spPr>
            <a:xfrm>
              <a:off x="3990" y="2102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1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4626" name="Text Box 93"/>
            <p:cNvSpPr txBox="1"/>
            <p:nvPr/>
          </p:nvSpPr>
          <p:spPr>
            <a:xfrm>
              <a:off x="4422" y="2102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1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4627" name="Text Box 94"/>
            <p:cNvSpPr txBox="1"/>
            <p:nvPr/>
          </p:nvSpPr>
          <p:spPr>
            <a:xfrm>
              <a:off x="4848" y="2102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1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4628" name="Text Box 95"/>
            <p:cNvSpPr txBox="1"/>
            <p:nvPr/>
          </p:nvSpPr>
          <p:spPr>
            <a:xfrm>
              <a:off x="5290" y="2102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1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22688" name="Group 96"/>
          <p:cNvGrpSpPr/>
          <p:nvPr/>
        </p:nvGrpSpPr>
        <p:grpSpPr>
          <a:xfrm>
            <a:off x="4876800" y="4114800"/>
            <a:ext cx="3832225" cy="396875"/>
            <a:chOff x="3072" y="2102"/>
            <a:chExt cx="2414" cy="250"/>
          </a:xfrm>
        </p:grpSpPr>
        <p:sp>
          <p:nvSpPr>
            <p:cNvPr id="24617" name="Text Box 97"/>
            <p:cNvSpPr txBox="1"/>
            <p:nvPr/>
          </p:nvSpPr>
          <p:spPr>
            <a:xfrm>
              <a:off x="3072" y="2102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1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4618" name="Text Box 98"/>
            <p:cNvSpPr txBox="1"/>
            <p:nvPr/>
          </p:nvSpPr>
          <p:spPr>
            <a:xfrm>
              <a:off x="3504" y="2102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1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4619" name="Text Box 99"/>
            <p:cNvSpPr txBox="1"/>
            <p:nvPr/>
          </p:nvSpPr>
          <p:spPr>
            <a:xfrm>
              <a:off x="3990" y="2102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1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4620" name="Text Box 100"/>
            <p:cNvSpPr txBox="1"/>
            <p:nvPr/>
          </p:nvSpPr>
          <p:spPr>
            <a:xfrm>
              <a:off x="4422" y="2102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1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4621" name="Text Box 101"/>
            <p:cNvSpPr txBox="1"/>
            <p:nvPr/>
          </p:nvSpPr>
          <p:spPr>
            <a:xfrm>
              <a:off x="4848" y="2102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1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4622" name="Text Box 102"/>
            <p:cNvSpPr txBox="1"/>
            <p:nvPr/>
          </p:nvSpPr>
          <p:spPr>
            <a:xfrm>
              <a:off x="5290" y="2102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1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22695" name="Group 103"/>
          <p:cNvGrpSpPr/>
          <p:nvPr/>
        </p:nvGrpSpPr>
        <p:grpSpPr>
          <a:xfrm>
            <a:off x="4876800" y="4572000"/>
            <a:ext cx="3832225" cy="396875"/>
            <a:chOff x="3072" y="2102"/>
            <a:chExt cx="2414" cy="250"/>
          </a:xfrm>
        </p:grpSpPr>
        <p:sp>
          <p:nvSpPr>
            <p:cNvPr id="24611" name="Text Box 104"/>
            <p:cNvSpPr txBox="1"/>
            <p:nvPr/>
          </p:nvSpPr>
          <p:spPr>
            <a:xfrm>
              <a:off x="3072" y="2102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1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4612" name="Text Box 105"/>
            <p:cNvSpPr txBox="1"/>
            <p:nvPr/>
          </p:nvSpPr>
          <p:spPr>
            <a:xfrm>
              <a:off x="3504" y="2102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1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4613" name="Text Box 106"/>
            <p:cNvSpPr txBox="1"/>
            <p:nvPr/>
          </p:nvSpPr>
          <p:spPr>
            <a:xfrm>
              <a:off x="3990" y="2102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1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4614" name="Text Box 107"/>
            <p:cNvSpPr txBox="1"/>
            <p:nvPr/>
          </p:nvSpPr>
          <p:spPr>
            <a:xfrm>
              <a:off x="4422" y="2102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1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4615" name="Text Box 108"/>
            <p:cNvSpPr txBox="1"/>
            <p:nvPr/>
          </p:nvSpPr>
          <p:spPr>
            <a:xfrm>
              <a:off x="4848" y="2102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1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4616" name="Text Box 109"/>
            <p:cNvSpPr txBox="1"/>
            <p:nvPr/>
          </p:nvSpPr>
          <p:spPr>
            <a:xfrm>
              <a:off x="5290" y="2102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1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622702" name="Text Box 110"/>
          <p:cNvSpPr txBox="1"/>
          <p:nvPr/>
        </p:nvSpPr>
        <p:spPr>
          <a:xfrm>
            <a:off x="6324600" y="5394325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000" dirty="0">
                <a:latin typeface="Times New Roman" panose="02020603050405020304" pitchFamily="18" charset="0"/>
              </a:rPr>
              <a:t>1</a:t>
            </a:r>
            <a:endParaRPr lang="zh-CN" altLang="en-US" sz="2000" dirty="0">
              <a:latin typeface="Times New Roman" panose="02020603050405020304" pitchFamily="18" charset="0"/>
            </a:endParaRPr>
          </a:p>
        </p:txBody>
      </p:sp>
      <p:sp>
        <p:nvSpPr>
          <p:cNvPr id="622703" name="Text Box 111"/>
          <p:cNvSpPr txBox="1"/>
          <p:nvPr/>
        </p:nvSpPr>
        <p:spPr>
          <a:xfrm>
            <a:off x="7010400" y="5394325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000" dirty="0">
                <a:latin typeface="Times New Roman" panose="02020603050405020304" pitchFamily="18" charset="0"/>
              </a:rPr>
              <a:t>1</a:t>
            </a:r>
            <a:endParaRPr lang="zh-CN" altLang="en-US" sz="2000" dirty="0">
              <a:latin typeface="Times New Roman" panose="02020603050405020304" pitchFamily="18" charset="0"/>
            </a:endParaRPr>
          </a:p>
        </p:txBody>
      </p:sp>
      <p:sp>
        <p:nvSpPr>
          <p:cNvPr id="622704" name="Text Box 112"/>
          <p:cNvSpPr txBox="1"/>
          <p:nvPr/>
        </p:nvSpPr>
        <p:spPr>
          <a:xfrm>
            <a:off x="7686675" y="5394325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000" dirty="0">
                <a:latin typeface="Times New Roman" panose="02020603050405020304" pitchFamily="18" charset="0"/>
              </a:rPr>
              <a:t>1</a:t>
            </a:r>
            <a:endParaRPr lang="zh-CN" altLang="en-US" sz="2000" dirty="0">
              <a:latin typeface="Times New Roman" panose="02020603050405020304" pitchFamily="18" charset="0"/>
            </a:endParaRPr>
          </a:p>
        </p:txBody>
      </p:sp>
      <p:sp>
        <p:nvSpPr>
          <p:cNvPr id="622705" name="Text Box 113"/>
          <p:cNvSpPr txBox="1"/>
          <p:nvPr/>
        </p:nvSpPr>
        <p:spPr>
          <a:xfrm>
            <a:off x="8388350" y="5394325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000" dirty="0">
                <a:latin typeface="Times New Roman" panose="02020603050405020304" pitchFamily="18" charset="0"/>
              </a:rPr>
              <a:t>1</a:t>
            </a:r>
            <a:endParaRPr lang="zh-CN" altLang="en-US" sz="2000" dirty="0">
              <a:latin typeface="Times New Roman" panose="02020603050405020304" pitchFamily="18" charset="0"/>
            </a:endParaRPr>
          </a:p>
        </p:txBody>
      </p:sp>
      <p:grpSp>
        <p:nvGrpSpPr>
          <p:cNvPr id="622706" name="Group 114"/>
          <p:cNvGrpSpPr/>
          <p:nvPr/>
        </p:nvGrpSpPr>
        <p:grpSpPr>
          <a:xfrm>
            <a:off x="4876800" y="4953000"/>
            <a:ext cx="3832225" cy="396875"/>
            <a:chOff x="3072" y="2102"/>
            <a:chExt cx="2414" cy="250"/>
          </a:xfrm>
        </p:grpSpPr>
        <p:sp>
          <p:nvSpPr>
            <p:cNvPr id="24605" name="Text Box 115"/>
            <p:cNvSpPr txBox="1"/>
            <p:nvPr/>
          </p:nvSpPr>
          <p:spPr>
            <a:xfrm>
              <a:off x="3072" y="2102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1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4606" name="Text Box 116"/>
            <p:cNvSpPr txBox="1"/>
            <p:nvPr/>
          </p:nvSpPr>
          <p:spPr>
            <a:xfrm>
              <a:off x="3504" y="2102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1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4607" name="Text Box 117"/>
            <p:cNvSpPr txBox="1"/>
            <p:nvPr/>
          </p:nvSpPr>
          <p:spPr>
            <a:xfrm>
              <a:off x="3990" y="2102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1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4608" name="Text Box 118"/>
            <p:cNvSpPr txBox="1"/>
            <p:nvPr/>
          </p:nvSpPr>
          <p:spPr>
            <a:xfrm>
              <a:off x="4422" y="2102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1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4609" name="Text Box 119"/>
            <p:cNvSpPr txBox="1"/>
            <p:nvPr/>
          </p:nvSpPr>
          <p:spPr>
            <a:xfrm>
              <a:off x="4848" y="2102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1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4610" name="Text Box 120"/>
            <p:cNvSpPr txBox="1"/>
            <p:nvPr/>
          </p:nvSpPr>
          <p:spPr>
            <a:xfrm>
              <a:off x="5290" y="2102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1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22713" name="Group 121"/>
          <p:cNvGrpSpPr/>
          <p:nvPr/>
        </p:nvGrpSpPr>
        <p:grpSpPr>
          <a:xfrm>
            <a:off x="4876800" y="5775325"/>
            <a:ext cx="3832225" cy="396875"/>
            <a:chOff x="3072" y="2102"/>
            <a:chExt cx="2414" cy="250"/>
          </a:xfrm>
        </p:grpSpPr>
        <p:sp>
          <p:nvSpPr>
            <p:cNvPr id="24599" name="Text Box 122"/>
            <p:cNvSpPr txBox="1"/>
            <p:nvPr/>
          </p:nvSpPr>
          <p:spPr>
            <a:xfrm>
              <a:off x="3072" y="2102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1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4600" name="Text Box 123"/>
            <p:cNvSpPr txBox="1"/>
            <p:nvPr/>
          </p:nvSpPr>
          <p:spPr>
            <a:xfrm>
              <a:off x="3504" y="2102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1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4601" name="Text Box 124"/>
            <p:cNvSpPr txBox="1"/>
            <p:nvPr/>
          </p:nvSpPr>
          <p:spPr>
            <a:xfrm>
              <a:off x="3990" y="2102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1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4602" name="Text Box 125"/>
            <p:cNvSpPr txBox="1"/>
            <p:nvPr/>
          </p:nvSpPr>
          <p:spPr>
            <a:xfrm>
              <a:off x="4422" y="2102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1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4603" name="Text Box 126"/>
            <p:cNvSpPr txBox="1"/>
            <p:nvPr/>
          </p:nvSpPr>
          <p:spPr>
            <a:xfrm>
              <a:off x="4848" y="2102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1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4604" name="Text Box 127"/>
            <p:cNvSpPr txBox="1"/>
            <p:nvPr/>
          </p:nvSpPr>
          <p:spPr>
            <a:xfrm>
              <a:off x="5290" y="2102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1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622720" name="Rectangle 128"/>
          <p:cNvSpPr>
            <a:spLocks noChangeArrowheads="1"/>
          </p:cNvSpPr>
          <p:nvPr/>
        </p:nvSpPr>
        <p:spPr bwMode="auto">
          <a:xfrm>
            <a:off x="7696200" y="152400"/>
            <a:ext cx="1447800" cy="838200"/>
          </a:xfrm>
          <a:prstGeom prst="rect">
            <a:avLst/>
          </a:prstGeom>
          <a:noFill/>
          <a:ln>
            <a:noFill/>
          </a:ln>
          <a:effectLst/>
        </p:spPr>
        <p:txBody>
          <a:bodyPr lIns="92075" tIns="46038" rIns="92075" bIns="46038" anchor="ctr"/>
          <a:lstStyle>
            <a:lvl1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10.1</a:t>
            </a:r>
            <a:endParaRPr kumimoji="1" lang="zh-CN" altLang="en-US" sz="4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598" name="AutoShape 129">
            <a:hlinkClick r:id="rId1" action="ppaction://hlinksldjump"/>
          </p:cNvPr>
          <p:cNvSpPr/>
          <p:nvPr/>
        </p:nvSpPr>
        <p:spPr>
          <a:xfrm>
            <a:off x="8589963" y="6516688"/>
            <a:ext cx="539750" cy="333375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endParaRPr lang="zh-CN" altLang="en-US" dirty="0">
              <a:latin typeface="等线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22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22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22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22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22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22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622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622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622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622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622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622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622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622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622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622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2668" grpId="0"/>
      <p:bldP spid="622669" grpId="0"/>
      <p:bldP spid="622670" grpId="0"/>
      <p:bldP spid="622671" grpId="0"/>
      <p:bldP spid="622672" grpId="0"/>
      <p:bldP spid="622673" grpId="0"/>
      <p:bldP spid="622702" grpId="0"/>
      <p:bldP spid="622703" grpId="0"/>
      <p:bldP spid="622704" grpId="0"/>
      <p:bldP spid="62270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5602" name="Text Box 2"/>
          <p:cNvSpPr txBox="1"/>
          <p:nvPr/>
        </p:nvSpPr>
        <p:spPr>
          <a:xfrm>
            <a:off x="381000" y="304800"/>
            <a:ext cx="4772025" cy="6413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3600" dirty="0">
                <a:latin typeface="Times New Roman" panose="02020603050405020304" pitchFamily="18" charset="0"/>
              </a:rPr>
              <a:t>三、组合逻辑设计步骤</a:t>
            </a:r>
            <a:endParaRPr lang="zh-CN" altLang="en-US" sz="3600" dirty="0">
              <a:latin typeface="Times New Roman" panose="02020603050405020304" pitchFamily="18" charset="0"/>
            </a:endParaRPr>
          </a:p>
        </p:txBody>
      </p:sp>
      <p:sp>
        <p:nvSpPr>
          <p:cNvPr id="25603" name="Text Box 3"/>
          <p:cNvSpPr txBox="1"/>
          <p:nvPr/>
        </p:nvSpPr>
        <p:spPr>
          <a:xfrm>
            <a:off x="998538" y="1066800"/>
            <a:ext cx="3040062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</a:rPr>
              <a:t>1. 列出操作时间表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grpSp>
        <p:nvGrpSpPr>
          <p:cNvPr id="25604" name="Group 4"/>
          <p:cNvGrpSpPr/>
          <p:nvPr/>
        </p:nvGrpSpPr>
        <p:grpSpPr>
          <a:xfrm>
            <a:off x="457200" y="2286000"/>
            <a:ext cx="8458200" cy="3657600"/>
            <a:chOff x="288" y="1440"/>
            <a:chExt cx="5328" cy="2304"/>
          </a:xfrm>
        </p:grpSpPr>
        <p:sp>
          <p:nvSpPr>
            <p:cNvPr id="25631" name="Rectangle 5"/>
            <p:cNvSpPr/>
            <p:nvPr/>
          </p:nvSpPr>
          <p:spPr>
            <a:xfrm>
              <a:off x="1176" y="2841"/>
              <a:ext cx="444" cy="54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050" rIns="19050" anchor="ctr" anchorCtr="1"/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endPara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632" name="Rectangle 6"/>
            <p:cNvSpPr/>
            <p:nvPr/>
          </p:nvSpPr>
          <p:spPr>
            <a:xfrm>
              <a:off x="742" y="2562"/>
              <a:ext cx="434" cy="1038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050" rIns="19050" anchor="ctr" anchorCtr="1"/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en-US" altLang="zh-CN" sz="2000" i="1" dirty="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T</a:t>
              </a:r>
              <a:r>
                <a:rPr lang="en-US" altLang="zh-CN" sz="2000" baseline="-25000" dirty="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zh-CN" altLang="en-US" sz="2000" baseline="-25000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633" name="Rectangle 7"/>
            <p:cNvSpPr/>
            <p:nvPr/>
          </p:nvSpPr>
          <p:spPr>
            <a:xfrm>
              <a:off x="742" y="2448"/>
              <a:ext cx="434" cy="51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050" rIns="19050" anchor="ctr" anchorCtr="1"/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en-US" altLang="zh-CN" sz="2000" i="1" dirty="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T</a:t>
              </a:r>
              <a:r>
                <a:rPr lang="en-US" altLang="zh-CN" sz="2000" baseline="-25000" dirty="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zh-CN" altLang="en-US" sz="2000" baseline="-25000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634" name="Rectangle 8"/>
            <p:cNvSpPr/>
            <p:nvPr/>
          </p:nvSpPr>
          <p:spPr>
            <a:xfrm>
              <a:off x="742" y="2073"/>
              <a:ext cx="434" cy="498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050" rIns="19050" anchor="ctr" anchorCtr="1"/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en-US" altLang="zh-CN" sz="2000" i="1" dirty="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T</a:t>
              </a:r>
              <a:r>
                <a:rPr lang="en-US" altLang="zh-CN" sz="2000" baseline="-25000" dirty="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lang="en-US" altLang="zh-CN" sz="2000" baseline="-25000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5635" name="Rectangle 9"/>
            <p:cNvSpPr/>
            <p:nvPr/>
          </p:nvSpPr>
          <p:spPr>
            <a:xfrm>
              <a:off x="288" y="1698"/>
              <a:ext cx="454" cy="204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050" rIns="19050" anchor="ctr" anchorCtr="1"/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en-US" altLang="zh-CN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IND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间址</a:t>
              </a:r>
              <a:endPara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25636" name="Group 10"/>
            <p:cNvGrpSpPr/>
            <p:nvPr/>
          </p:nvGrpSpPr>
          <p:grpSpPr>
            <a:xfrm>
              <a:off x="288" y="1440"/>
              <a:ext cx="5328" cy="1931"/>
              <a:chOff x="288" y="1440"/>
              <a:chExt cx="5328" cy="1931"/>
            </a:xfrm>
          </p:grpSpPr>
          <p:sp>
            <p:nvSpPr>
              <p:cNvPr id="25661" name="Rectangle 11"/>
              <p:cNvSpPr/>
              <p:nvPr/>
            </p:nvSpPr>
            <p:spPr>
              <a:xfrm>
                <a:off x="5172" y="1440"/>
                <a:ext cx="444" cy="63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19050" rIns="19050" anchor="ctr" anchorCtr="1"/>
              <a:p>
                <a:pPr eaLnBrk="1" hangingPunct="1">
                  <a:buClr>
                    <a:schemeClr val="accent2"/>
                  </a:buClr>
                  <a:buSzPct val="80000"/>
                  <a:buFont typeface="Wingdings" panose="05000000000000000000" pitchFamily="2" charset="2"/>
                </a:pPr>
                <a:r>
                  <a:rPr lang="en-US" altLang="zh-CN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JMP</a:t>
                </a:r>
                <a:endPara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5662" name="Rectangle 12"/>
              <p:cNvSpPr/>
              <p:nvPr/>
            </p:nvSpPr>
            <p:spPr>
              <a:xfrm>
                <a:off x="4728" y="1440"/>
                <a:ext cx="444" cy="63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19050" rIns="19050" anchor="ctr" anchorCtr="1"/>
              <a:p>
                <a:pPr eaLnBrk="1" hangingPunct="1">
                  <a:buClr>
                    <a:schemeClr val="accent2"/>
                  </a:buClr>
                  <a:buSzPct val="80000"/>
                  <a:buFont typeface="Wingdings" panose="05000000000000000000" pitchFamily="2" charset="2"/>
                </a:pPr>
                <a:r>
                  <a:rPr lang="en-US" altLang="zh-CN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LDA</a:t>
                </a:r>
                <a:endPara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5663" name="Rectangle 13"/>
              <p:cNvSpPr/>
              <p:nvPr/>
            </p:nvSpPr>
            <p:spPr>
              <a:xfrm>
                <a:off x="4284" y="1440"/>
                <a:ext cx="444" cy="63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19050" rIns="19050" anchor="ctr" anchorCtr="1"/>
              <a:p>
                <a:pPr eaLnBrk="1" hangingPunct="1">
                  <a:buClr>
                    <a:schemeClr val="accent2"/>
                  </a:buClr>
                  <a:buSzPct val="80000"/>
                  <a:buFont typeface="Wingdings" panose="05000000000000000000" pitchFamily="2" charset="2"/>
                </a:pPr>
                <a:r>
                  <a:rPr lang="en-US" altLang="zh-CN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STA</a:t>
                </a:r>
                <a:endPara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5664" name="Rectangle 14"/>
              <p:cNvSpPr/>
              <p:nvPr/>
            </p:nvSpPr>
            <p:spPr>
              <a:xfrm>
                <a:off x="3840" y="1440"/>
                <a:ext cx="444" cy="63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19050" rIns="19050" anchor="ctr" anchorCtr="1"/>
              <a:p>
                <a:pPr eaLnBrk="1" hangingPunct="1">
                  <a:buClr>
                    <a:schemeClr val="accent2"/>
                  </a:buClr>
                  <a:buSzPct val="80000"/>
                  <a:buFont typeface="Wingdings" panose="05000000000000000000" pitchFamily="2" charset="2"/>
                </a:pPr>
                <a:r>
                  <a:rPr lang="en-US" altLang="zh-CN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ADD</a:t>
                </a:r>
                <a:endPara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5665" name="Rectangle 15"/>
              <p:cNvSpPr/>
              <p:nvPr/>
            </p:nvSpPr>
            <p:spPr>
              <a:xfrm>
                <a:off x="3396" y="1440"/>
                <a:ext cx="444" cy="63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19050" rIns="19050" anchor="ctr" anchorCtr="1"/>
              <a:p>
                <a:pPr eaLnBrk="1" hangingPunct="1">
                  <a:buClr>
                    <a:schemeClr val="accent2"/>
                  </a:buClr>
                  <a:buSzPct val="80000"/>
                  <a:buFont typeface="Wingdings" panose="05000000000000000000" pitchFamily="2" charset="2"/>
                </a:pPr>
                <a:r>
                  <a:rPr lang="en-US" altLang="zh-CN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COM</a:t>
                </a:r>
                <a:endPara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5666" name="Rectangle 16"/>
              <p:cNvSpPr/>
              <p:nvPr/>
            </p:nvSpPr>
            <p:spPr>
              <a:xfrm>
                <a:off x="2952" y="1440"/>
                <a:ext cx="444" cy="63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19050" rIns="19050" anchor="ctr" anchorCtr="1"/>
              <a:p>
                <a:pPr eaLnBrk="1" hangingPunct="1">
                  <a:buClr>
                    <a:schemeClr val="accent2"/>
                  </a:buClr>
                  <a:buSzPct val="80000"/>
                  <a:buFont typeface="Wingdings" panose="05000000000000000000" pitchFamily="2" charset="2"/>
                </a:pPr>
                <a:r>
                  <a:rPr lang="en-US" altLang="zh-CN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CLA</a:t>
                </a:r>
                <a:endPara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5667" name="Rectangle 17"/>
              <p:cNvSpPr/>
              <p:nvPr/>
            </p:nvSpPr>
            <p:spPr>
              <a:xfrm>
                <a:off x="1620" y="1440"/>
                <a:ext cx="1332" cy="63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19050" rIns="19050" anchor="ctr" anchorCtr="1"/>
              <a:p>
                <a:pPr eaLnBrk="1" hangingPunct="1">
                  <a:buClr>
                    <a:schemeClr val="accent2"/>
                  </a:buClr>
                  <a:buSzPct val="80000"/>
                  <a:buFont typeface="Wingdings" panose="05000000000000000000" pitchFamily="2" charset="2"/>
                </a:pPr>
                <a:r>
                  <a:rPr lang="zh-CN" altLang="en-US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微操作命令信号</a:t>
                </a:r>
                <a:endPara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5668" name="Rectangle 18"/>
              <p:cNvSpPr/>
              <p:nvPr/>
            </p:nvSpPr>
            <p:spPr>
              <a:xfrm>
                <a:off x="1176" y="1440"/>
                <a:ext cx="444" cy="63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19050" rIns="19050" anchor="ctr" anchorCtr="1"/>
              <a:p>
                <a:pPr eaLnBrk="1" hangingPunct="1">
                  <a:buClr>
                    <a:schemeClr val="accent2"/>
                  </a:buClr>
                  <a:buSzPct val="80000"/>
                  <a:buFont typeface="Wingdings" panose="05000000000000000000" pitchFamily="2" charset="2"/>
                </a:pPr>
                <a:r>
                  <a:rPr lang="zh-CN" altLang="en-US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状态条件</a:t>
                </a:r>
                <a:endPara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5669" name="Rectangle 19"/>
              <p:cNvSpPr/>
              <p:nvPr/>
            </p:nvSpPr>
            <p:spPr>
              <a:xfrm>
                <a:off x="742" y="1440"/>
                <a:ext cx="434" cy="63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19050" rIns="19050" anchor="ctr" anchorCtr="1"/>
              <a:p>
                <a:pPr eaLnBrk="1" hangingPunct="1">
                  <a:buClr>
                    <a:schemeClr val="accent2"/>
                  </a:buClr>
                  <a:buSzPct val="80000"/>
                  <a:buFont typeface="Wingdings" panose="05000000000000000000" pitchFamily="2" charset="2"/>
                </a:pPr>
                <a:r>
                  <a:rPr lang="zh-CN" altLang="en-US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节拍</a:t>
                </a:r>
                <a:endPara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5670" name="Rectangle 20"/>
              <p:cNvSpPr/>
              <p:nvPr/>
            </p:nvSpPr>
            <p:spPr>
              <a:xfrm>
                <a:off x="288" y="1440"/>
                <a:ext cx="454" cy="63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19050" rIns="19050" anchor="ctr" anchorCtr="1"/>
              <a:p>
                <a:pPr eaLnBrk="1" hangingPunct="1">
                  <a:buClr>
                    <a:schemeClr val="accent2"/>
                  </a:buClr>
                  <a:buSzPct val="80000"/>
                  <a:buFont typeface="Wingdings" panose="05000000000000000000" pitchFamily="2" charset="2"/>
                </a:pPr>
                <a:r>
                  <a:rPr lang="zh-CN" altLang="en-US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工作周期标记</a:t>
                </a:r>
                <a:endPara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25671" name="Group 21"/>
              <p:cNvGrpSpPr/>
              <p:nvPr/>
            </p:nvGrpSpPr>
            <p:grpSpPr>
              <a:xfrm>
                <a:off x="288" y="1440"/>
                <a:ext cx="5328" cy="1931"/>
                <a:chOff x="288" y="1440"/>
                <a:chExt cx="5328" cy="1931"/>
              </a:xfrm>
            </p:grpSpPr>
            <p:sp>
              <p:nvSpPr>
                <p:cNvPr id="25672" name="Line 22"/>
                <p:cNvSpPr/>
                <p:nvPr/>
              </p:nvSpPr>
              <p:spPr>
                <a:xfrm>
                  <a:off x="288" y="2073"/>
                  <a:ext cx="5328" cy="0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grpSp>
              <p:nvGrpSpPr>
                <p:cNvPr id="25673" name="Group 23"/>
                <p:cNvGrpSpPr/>
                <p:nvPr/>
              </p:nvGrpSpPr>
              <p:grpSpPr>
                <a:xfrm>
                  <a:off x="288" y="1440"/>
                  <a:ext cx="5328" cy="1931"/>
                  <a:chOff x="288" y="1440"/>
                  <a:chExt cx="5328" cy="1931"/>
                </a:xfrm>
              </p:grpSpPr>
              <p:sp>
                <p:nvSpPr>
                  <p:cNvPr id="25674" name="Line 24"/>
                  <p:cNvSpPr/>
                  <p:nvPr/>
                </p:nvSpPr>
                <p:spPr>
                  <a:xfrm>
                    <a:off x="3840" y="1440"/>
                    <a:ext cx="444" cy="0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grpSp>
                <p:nvGrpSpPr>
                  <p:cNvPr id="25675" name="Group 25"/>
                  <p:cNvGrpSpPr/>
                  <p:nvPr/>
                </p:nvGrpSpPr>
                <p:grpSpPr>
                  <a:xfrm>
                    <a:off x="288" y="1440"/>
                    <a:ext cx="5328" cy="1931"/>
                    <a:chOff x="288" y="1440"/>
                    <a:chExt cx="5328" cy="1931"/>
                  </a:xfrm>
                </p:grpSpPr>
                <p:sp>
                  <p:nvSpPr>
                    <p:cNvPr id="25676" name="Line 26"/>
                    <p:cNvSpPr/>
                    <p:nvPr/>
                  </p:nvSpPr>
                  <p:spPr>
                    <a:xfrm>
                      <a:off x="288" y="3360"/>
                      <a:ext cx="5328" cy="0"/>
                    </a:xfrm>
                    <a:prstGeom prst="line">
                      <a:avLst/>
                    </a:prstGeom>
                    <a:ln w="28575" cap="sq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  <p:grpSp>
                  <p:nvGrpSpPr>
                    <p:cNvPr id="25677" name="Group 27"/>
                    <p:cNvGrpSpPr/>
                    <p:nvPr/>
                  </p:nvGrpSpPr>
                  <p:grpSpPr>
                    <a:xfrm>
                      <a:off x="288" y="1440"/>
                      <a:ext cx="5328" cy="1931"/>
                      <a:chOff x="288" y="1440"/>
                      <a:chExt cx="5328" cy="1931"/>
                    </a:xfrm>
                  </p:grpSpPr>
                  <p:sp>
                    <p:nvSpPr>
                      <p:cNvPr id="25681" name="Line 28"/>
                      <p:cNvSpPr/>
                      <p:nvPr/>
                    </p:nvSpPr>
                    <p:spPr>
                      <a:xfrm>
                        <a:off x="288" y="1440"/>
                        <a:ext cx="0" cy="1931"/>
                      </a:xfrm>
                      <a:prstGeom prst="line">
                        <a:avLst/>
                      </a:prstGeom>
                      <a:ln w="28575" cap="sq" cmpd="sng">
                        <a:solidFill>
                          <a:schemeClr val="tx1"/>
                        </a:solidFill>
                        <a:prstDash val="solid"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25682" name="Line 29"/>
                      <p:cNvSpPr/>
                      <p:nvPr/>
                    </p:nvSpPr>
                    <p:spPr>
                      <a:xfrm>
                        <a:off x="742" y="1440"/>
                        <a:ext cx="0" cy="1931"/>
                      </a:xfrm>
                      <a:prstGeom prst="line">
                        <a:avLst/>
                      </a:prstGeom>
                      <a:ln w="12700" cap="flat" cmpd="sng">
                        <a:solidFill>
                          <a:schemeClr val="tx1"/>
                        </a:solidFill>
                        <a:prstDash val="solid"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25683" name="Line 30"/>
                      <p:cNvSpPr/>
                      <p:nvPr/>
                    </p:nvSpPr>
                    <p:spPr>
                      <a:xfrm>
                        <a:off x="1176" y="1440"/>
                        <a:ext cx="0" cy="1931"/>
                      </a:xfrm>
                      <a:prstGeom prst="line">
                        <a:avLst/>
                      </a:prstGeom>
                      <a:ln w="12700" cap="flat" cmpd="sng">
                        <a:solidFill>
                          <a:schemeClr val="tx1"/>
                        </a:solidFill>
                        <a:prstDash val="solid"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25684" name="Line 31"/>
                      <p:cNvSpPr/>
                      <p:nvPr/>
                    </p:nvSpPr>
                    <p:spPr>
                      <a:xfrm>
                        <a:off x="1620" y="1440"/>
                        <a:ext cx="0" cy="1931"/>
                      </a:xfrm>
                      <a:prstGeom prst="line">
                        <a:avLst/>
                      </a:prstGeom>
                      <a:ln w="12700" cap="flat" cmpd="sng">
                        <a:solidFill>
                          <a:schemeClr val="tx1"/>
                        </a:solidFill>
                        <a:prstDash val="solid"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25685" name="Line 32"/>
                      <p:cNvSpPr/>
                      <p:nvPr/>
                    </p:nvSpPr>
                    <p:spPr>
                      <a:xfrm>
                        <a:off x="2952" y="1440"/>
                        <a:ext cx="0" cy="1931"/>
                      </a:xfrm>
                      <a:prstGeom prst="line">
                        <a:avLst/>
                      </a:prstGeom>
                      <a:ln w="12700" cap="flat" cmpd="sng">
                        <a:solidFill>
                          <a:schemeClr val="tx1"/>
                        </a:solidFill>
                        <a:prstDash val="solid"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25686" name="Line 33"/>
                      <p:cNvSpPr/>
                      <p:nvPr/>
                    </p:nvSpPr>
                    <p:spPr>
                      <a:xfrm>
                        <a:off x="3396" y="1440"/>
                        <a:ext cx="0" cy="1931"/>
                      </a:xfrm>
                      <a:prstGeom prst="line">
                        <a:avLst/>
                      </a:prstGeom>
                      <a:ln w="12700" cap="flat" cmpd="sng">
                        <a:solidFill>
                          <a:schemeClr val="tx1"/>
                        </a:solidFill>
                        <a:prstDash val="solid"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25687" name="Line 34"/>
                      <p:cNvSpPr/>
                      <p:nvPr/>
                    </p:nvSpPr>
                    <p:spPr>
                      <a:xfrm>
                        <a:off x="3840" y="1440"/>
                        <a:ext cx="0" cy="1931"/>
                      </a:xfrm>
                      <a:prstGeom prst="line">
                        <a:avLst/>
                      </a:prstGeom>
                      <a:ln w="12700" cap="flat" cmpd="sng">
                        <a:solidFill>
                          <a:schemeClr val="tx1"/>
                        </a:solidFill>
                        <a:prstDash val="solid"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25688" name="Line 35"/>
                      <p:cNvSpPr/>
                      <p:nvPr/>
                    </p:nvSpPr>
                    <p:spPr>
                      <a:xfrm>
                        <a:off x="4284" y="1440"/>
                        <a:ext cx="0" cy="1931"/>
                      </a:xfrm>
                      <a:prstGeom prst="line">
                        <a:avLst/>
                      </a:prstGeom>
                      <a:ln w="12700" cap="flat" cmpd="sng">
                        <a:solidFill>
                          <a:schemeClr val="tx1"/>
                        </a:solidFill>
                        <a:prstDash val="solid"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25689" name="Line 36"/>
                      <p:cNvSpPr/>
                      <p:nvPr/>
                    </p:nvSpPr>
                    <p:spPr>
                      <a:xfrm>
                        <a:off x="4728" y="1440"/>
                        <a:ext cx="0" cy="1931"/>
                      </a:xfrm>
                      <a:prstGeom prst="line">
                        <a:avLst/>
                      </a:prstGeom>
                      <a:ln w="12700" cap="flat" cmpd="sng">
                        <a:solidFill>
                          <a:schemeClr val="tx1"/>
                        </a:solidFill>
                        <a:prstDash val="solid"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25690" name="Line 37"/>
                      <p:cNvSpPr/>
                      <p:nvPr/>
                    </p:nvSpPr>
                    <p:spPr>
                      <a:xfrm>
                        <a:off x="5172" y="1440"/>
                        <a:ext cx="0" cy="1931"/>
                      </a:xfrm>
                      <a:prstGeom prst="line">
                        <a:avLst/>
                      </a:prstGeom>
                      <a:ln w="12700" cap="flat" cmpd="sng">
                        <a:solidFill>
                          <a:schemeClr val="tx1"/>
                        </a:solidFill>
                        <a:prstDash val="solid"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25691" name="Line 38"/>
                      <p:cNvSpPr/>
                      <p:nvPr/>
                    </p:nvSpPr>
                    <p:spPr>
                      <a:xfrm>
                        <a:off x="5616" y="1440"/>
                        <a:ext cx="0" cy="1931"/>
                      </a:xfrm>
                      <a:prstGeom prst="line">
                        <a:avLst/>
                      </a:prstGeom>
                      <a:ln w="28575" cap="sq" cmpd="sng">
                        <a:solidFill>
                          <a:schemeClr val="tx1"/>
                        </a:solidFill>
                        <a:prstDash val="solid"/>
                        <a:headEnd type="none" w="med" len="med"/>
                        <a:tailEnd type="none" w="med" len="med"/>
                      </a:ln>
                    </p:spPr>
                  </p:sp>
                </p:grpSp>
                <p:grpSp>
                  <p:nvGrpSpPr>
                    <p:cNvPr id="25678" name="Group 39"/>
                    <p:cNvGrpSpPr/>
                    <p:nvPr/>
                  </p:nvGrpSpPr>
                  <p:grpSpPr>
                    <a:xfrm>
                      <a:off x="288" y="1440"/>
                      <a:ext cx="5328" cy="0"/>
                      <a:chOff x="288" y="1440"/>
                      <a:chExt cx="5328" cy="0"/>
                    </a:xfrm>
                  </p:grpSpPr>
                  <p:sp>
                    <p:nvSpPr>
                      <p:cNvPr id="25679" name="Line 40"/>
                      <p:cNvSpPr/>
                      <p:nvPr/>
                    </p:nvSpPr>
                    <p:spPr>
                      <a:xfrm>
                        <a:off x="288" y="1440"/>
                        <a:ext cx="3552" cy="0"/>
                      </a:xfrm>
                      <a:prstGeom prst="line">
                        <a:avLst/>
                      </a:prstGeom>
                      <a:ln w="28575" cap="sq" cmpd="sng">
                        <a:solidFill>
                          <a:schemeClr val="tx1"/>
                        </a:solidFill>
                        <a:prstDash val="solid"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25680" name="Line 41"/>
                      <p:cNvSpPr/>
                      <p:nvPr/>
                    </p:nvSpPr>
                    <p:spPr>
                      <a:xfrm>
                        <a:off x="4284" y="1440"/>
                        <a:ext cx="1332" cy="0"/>
                      </a:xfrm>
                      <a:prstGeom prst="line">
                        <a:avLst/>
                      </a:prstGeom>
                      <a:ln w="28575" cap="sq" cmpd="sng">
                        <a:solidFill>
                          <a:schemeClr val="tx1"/>
                        </a:solidFill>
                        <a:prstDash val="solid"/>
                        <a:headEnd type="none" w="med" len="med"/>
                        <a:tailEnd type="none" w="med" len="med"/>
                      </a:ln>
                    </p:spPr>
                  </p:sp>
                </p:grpSp>
              </p:grpSp>
            </p:grpSp>
          </p:grpSp>
        </p:grpSp>
        <p:sp>
          <p:nvSpPr>
            <p:cNvPr id="25637" name="Line 42"/>
            <p:cNvSpPr/>
            <p:nvPr/>
          </p:nvSpPr>
          <p:spPr>
            <a:xfrm>
              <a:off x="1620" y="2322"/>
              <a:ext cx="399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38" name="Line 43"/>
            <p:cNvSpPr/>
            <p:nvPr/>
          </p:nvSpPr>
          <p:spPr>
            <a:xfrm>
              <a:off x="742" y="2841"/>
              <a:ext cx="4874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5639" name="Line 44"/>
            <p:cNvSpPr/>
            <p:nvPr/>
          </p:nvSpPr>
          <p:spPr>
            <a:xfrm>
              <a:off x="742" y="2571"/>
              <a:ext cx="4874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25640" name="Group 45"/>
            <p:cNvGrpSpPr/>
            <p:nvPr/>
          </p:nvGrpSpPr>
          <p:grpSpPr>
            <a:xfrm>
              <a:off x="1620" y="2073"/>
              <a:ext cx="1332" cy="249"/>
              <a:chOff x="1620" y="2073"/>
              <a:chExt cx="1332" cy="249"/>
            </a:xfrm>
          </p:grpSpPr>
          <p:sp>
            <p:nvSpPr>
              <p:cNvPr id="25659" name="Rectangle 46"/>
              <p:cNvSpPr/>
              <p:nvPr/>
            </p:nvSpPr>
            <p:spPr>
              <a:xfrm>
                <a:off x="1620" y="2073"/>
                <a:ext cx="1332" cy="24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19050" rIns="19050" anchor="ctr" anchorCtr="1"/>
              <a:p>
                <a:pPr eaLnBrk="1" hangingPunct="1">
                  <a:buClr>
                    <a:schemeClr val="accent2"/>
                  </a:buClr>
                  <a:buSzPct val="80000"/>
                  <a:buFont typeface="Wingdings" panose="05000000000000000000" pitchFamily="2" charset="2"/>
                </a:pPr>
                <a:r>
                  <a:rPr lang="en-US" altLang="zh-CN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Ad (IR)      MAR</a:t>
                </a:r>
                <a:endPara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5660" name="Line 47"/>
              <p:cNvSpPr/>
              <p:nvPr/>
            </p:nvSpPr>
            <p:spPr>
              <a:xfrm>
                <a:off x="2258" y="2208"/>
                <a:ext cx="190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</p:grpSp>
        <p:grpSp>
          <p:nvGrpSpPr>
            <p:cNvPr id="25641" name="Group 48"/>
            <p:cNvGrpSpPr/>
            <p:nvPr/>
          </p:nvGrpSpPr>
          <p:grpSpPr>
            <a:xfrm>
              <a:off x="1620" y="2322"/>
              <a:ext cx="1332" cy="249"/>
              <a:chOff x="1620" y="2322"/>
              <a:chExt cx="1332" cy="249"/>
            </a:xfrm>
          </p:grpSpPr>
          <p:sp>
            <p:nvSpPr>
              <p:cNvPr id="25657" name="Rectangle 49"/>
              <p:cNvSpPr/>
              <p:nvPr/>
            </p:nvSpPr>
            <p:spPr>
              <a:xfrm>
                <a:off x="1620" y="2322"/>
                <a:ext cx="1332" cy="24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19050" rIns="19050" anchor="ctr" anchorCtr="1"/>
              <a:p>
                <a:pPr eaLnBrk="1" hangingPunct="1">
                  <a:buClr>
                    <a:schemeClr val="accent2"/>
                  </a:buClr>
                  <a:buSzPct val="80000"/>
                  <a:buFont typeface="Wingdings" panose="05000000000000000000" pitchFamily="2" charset="2"/>
                </a:pPr>
                <a:r>
                  <a:rPr lang="zh-CN" altLang="en-US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1      </a:t>
                </a:r>
                <a:r>
                  <a:rPr lang="en-US" altLang="zh-CN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R</a:t>
                </a:r>
                <a:endPara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5658" name="Line 50"/>
              <p:cNvSpPr/>
              <p:nvPr/>
            </p:nvSpPr>
            <p:spPr>
              <a:xfrm>
                <a:off x="2160" y="2448"/>
                <a:ext cx="190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</p:grpSp>
        <p:grpSp>
          <p:nvGrpSpPr>
            <p:cNvPr id="25642" name="Group 51"/>
            <p:cNvGrpSpPr/>
            <p:nvPr/>
          </p:nvGrpSpPr>
          <p:grpSpPr>
            <a:xfrm>
              <a:off x="1620" y="2571"/>
              <a:ext cx="1332" cy="261"/>
              <a:chOff x="1620" y="2571"/>
              <a:chExt cx="1332" cy="261"/>
            </a:xfrm>
          </p:grpSpPr>
          <p:sp>
            <p:nvSpPr>
              <p:cNvPr id="25655" name="Rectangle 52"/>
              <p:cNvSpPr/>
              <p:nvPr/>
            </p:nvSpPr>
            <p:spPr>
              <a:xfrm>
                <a:off x="1620" y="2571"/>
                <a:ext cx="1332" cy="26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19050" rIns="19050" anchor="ctr" anchorCtr="1"/>
              <a:p>
                <a:pPr eaLnBrk="1" hangingPunct="1">
                  <a:buClr>
                    <a:schemeClr val="accent2"/>
                  </a:buClr>
                  <a:buSzPct val="80000"/>
                  <a:buFont typeface="Wingdings" panose="05000000000000000000" pitchFamily="2" charset="2"/>
                </a:pPr>
                <a:r>
                  <a:rPr lang="en-US" altLang="zh-CN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M(MAR)      MDR    </a:t>
                </a:r>
                <a:endPara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5656" name="Line 53"/>
              <p:cNvSpPr/>
              <p:nvPr/>
            </p:nvSpPr>
            <p:spPr>
              <a:xfrm>
                <a:off x="2304" y="2713"/>
                <a:ext cx="190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</p:grpSp>
        <p:grpSp>
          <p:nvGrpSpPr>
            <p:cNvPr id="25643" name="Group 54"/>
            <p:cNvGrpSpPr/>
            <p:nvPr/>
          </p:nvGrpSpPr>
          <p:grpSpPr>
            <a:xfrm>
              <a:off x="1620" y="2832"/>
              <a:ext cx="1332" cy="249"/>
              <a:chOff x="1620" y="3621"/>
              <a:chExt cx="1332" cy="249"/>
            </a:xfrm>
          </p:grpSpPr>
          <p:sp>
            <p:nvSpPr>
              <p:cNvPr id="25653" name="Rectangle 55"/>
              <p:cNvSpPr/>
              <p:nvPr/>
            </p:nvSpPr>
            <p:spPr>
              <a:xfrm>
                <a:off x="1620" y="3621"/>
                <a:ext cx="1332" cy="24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19050" rIns="19050" anchor="ctr" anchorCtr="1"/>
              <a:p>
                <a:pPr eaLnBrk="1" hangingPunct="1">
                  <a:buClr>
                    <a:schemeClr val="accent2"/>
                  </a:buClr>
                  <a:buSzPct val="80000"/>
                  <a:buFont typeface="Wingdings" panose="05000000000000000000" pitchFamily="2" charset="2"/>
                </a:pPr>
                <a:r>
                  <a:rPr lang="en-US" altLang="zh-CN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MDR      Ad (IR)</a:t>
                </a:r>
                <a:endPara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5654" name="Line 56"/>
              <p:cNvSpPr/>
              <p:nvPr/>
            </p:nvSpPr>
            <p:spPr>
              <a:xfrm>
                <a:off x="2114" y="3744"/>
                <a:ext cx="190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</p:grpSp>
        <p:grpSp>
          <p:nvGrpSpPr>
            <p:cNvPr id="25644" name="Group 57"/>
            <p:cNvGrpSpPr/>
            <p:nvPr/>
          </p:nvGrpSpPr>
          <p:grpSpPr>
            <a:xfrm>
              <a:off x="1620" y="3081"/>
              <a:ext cx="1332" cy="249"/>
              <a:chOff x="1620" y="3870"/>
              <a:chExt cx="1332" cy="249"/>
            </a:xfrm>
          </p:grpSpPr>
          <p:sp>
            <p:nvSpPr>
              <p:cNvPr id="25651" name="Rectangle 58"/>
              <p:cNvSpPr/>
              <p:nvPr/>
            </p:nvSpPr>
            <p:spPr>
              <a:xfrm>
                <a:off x="1620" y="3870"/>
                <a:ext cx="1332" cy="24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19050" rIns="19050" anchor="ctr" anchorCtr="1"/>
              <a:p>
                <a:pPr eaLnBrk="1" hangingPunct="1">
                  <a:buClr>
                    <a:schemeClr val="accent2"/>
                  </a:buClr>
                  <a:buSzPct val="80000"/>
                  <a:buFont typeface="Wingdings" panose="05000000000000000000" pitchFamily="2" charset="2"/>
                </a:pPr>
                <a:r>
                  <a:rPr lang="zh-CN" altLang="en-US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1      </a:t>
                </a:r>
                <a:r>
                  <a:rPr lang="en-US" altLang="zh-CN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EX</a:t>
                </a:r>
                <a:endPara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5652" name="Line 59"/>
              <p:cNvSpPr/>
              <p:nvPr/>
            </p:nvSpPr>
            <p:spPr>
              <a:xfrm>
                <a:off x="2112" y="4005"/>
                <a:ext cx="190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</p:grpSp>
        <p:grpSp>
          <p:nvGrpSpPr>
            <p:cNvPr id="25645" name="Group 60"/>
            <p:cNvGrpSpPr/>
            <p:nvPr/>
          </p:nvGrpSpPr>
          <p:grpSpPr>
            <a:xfrm>
              <a:off x="1176" y="3081"/>
              <a:ext cx="4440" cy="0"/>
              <a:chOff x="1176" y="3870"/>
              <a:chExt cx="4440" cy="0"/>
            </a:xfrm>
          </p:grpSpPr>
          <p:sp>
            <p:nvSpPr>
              <p:cNvPr id="25649" name="Line 61"/>
              <p:cNvSpPr/>
              <p:nvPr/>
            </p:nvSpPr>
            <p:spPr>
              <a:xfrm>
                <a:off x="1620" y="3870"/>
                <a:ext cx="3996" cy="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5650" name="Line 62"/>
              <p:cNvSpPr/>
              <p:nvPr/>
            </p:nvSpPr>
            <p:spPr>
              <a:xfrm flipH="1">
                <a:off x="1176" y="3870"/>
                <a:ext cx="45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25646" name="Group 63"/>
            <p:cNvGrpSpPr/>
            <p:nvPr/>
          </p:nvGrpSpPr>
          <p:grpSpPr>
            <a:xfrm>
              <a:off x="1200" y="3099"/>
              <a:ext cx="410" cy="250"/>
              <a:chOff x="1200" y="3099"/>
              <a:chExt cx="410" cy="250"/>
            </a:xfrm>
          </p:grpSpPr>
          <p:sp>
            <p:nvSpPr>
              <p:cNvPr id="25647" name="Text Box 64"/>
              <p:cNvSpPr txBox="1"/>
              <p:nvPr/>
            </p:nvSpPr>
            <p:spPr>
              <a:xfrm>
                <a:off x="1200" y="3099"/>
                <a:ext cx="410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sz="2000" dirty="0">
                    <a:latin typeface="Times New Roman" panose="02020603050405020304" pitchFamily="18" charset="0"/>
                  </a:rPr>
                  <a:t>IND</a:t>
                </a:r>
                <a:endParaRPr lang="en-US" altLang="zh-CN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5648" name="Freeform 65"/>
              <p:cNvSpPr/>
              <p:nvPr/>
            </p:nvSpPr>
            <p:spPr>
              <a:xfrm>
                <a:off x="1254" y="3147"/>
                <a:ext cx="291" cy="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91" y="0"/>
                  </a:cxn>
                </a:cxnLst>
                <a:pathLst>
                  <a:path w="291" h="1">
                    <a:moveTo>
                      <a:pt x="0" y="0"/>
                    </a:moveTo>
                    <a:lnTo>
                      <a:pt x="291" y="0"/>
                    </a:lnTo>
                  </a:path>
                </a:pathLst>
              </a:custGeom>
              <a:noFill/>
              <a:ln w="2857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</p:grpSp>
      <p:sp>
        <p:nvSpPr>
          <p:cNvPr id="623682" name="Text Box 66"/>
          <p:cNvSpPr txBox="1"/>
          <p:nvPr/>
        </p:nvSpPr>
        <p:spPr>
          <a:xfrm>
            <a:off x="6318250" y="3276600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000" dirty="0">
                <a:latin typeface="Times New Roman" panose="02020603050405020304" pitchFamily="18" charset="0"/>
              </a:rPr>
              <a:t>1</a:t>
            </a:r>
            <a:endParaRPr lang="zh-CN" altLang="en-US" sz="2000" dirty="0">
              <a:latin typeface="Times New Roman" panose="02020603050405020304" pitchFamily="18" charset="0"/>
            </a:endParaRPr>
          </a:p>
        </p:txBody>
      </p:sp>
      <p:sp>
        <p:nvSpPr>
          <p:cNvPr id="623683" name="Text Box 67"/>
          <p:cNvSpPr txBox="1"/>
          <p:nvPr/>
        </p:nvSpPr>
        <p:spPr>
          <a:xfrm>
            <a:off x="7004050" y="3276600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000" dirty="0">
                <a:latin typeface="Times New Roman" panose="02020603050405020304" pitchFamily="18" charset="0"/>
              </a:rPr>
              <a:t>1</a:t>
            </a:r>
            <a:endParaRPr lang="zh-CN" altLang="en-US" sz="2000" dirty="0">
              <a:latin typeface="Times New Roman" panose="02020603050405020304" pitchFamily="18" charset="0"/>
            </a:endParaRPr>
          </a:p>
        </p:txBody>
      </p:sp>
      <p:sp>
        <p:nvSpPr>
          <p:cNvPr id="623684" name="Text Box 68"/>
          <p:cNvSpPr txBox="1"/>
          <p:nvPr/>
        </p:nvSpPr>
        <p:spPr>
          <a:xfrm>
            <a:off x="7680325" y="3276600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000" dirty="0">
                <a:latin typeface="Times New Roman" panose="02020603050405020304" pitchFamily="18" charset="0"/>
              </a:rPr>
              <a:t>1</a:t>
            </a:r>
            <a:endParaRPr lang="zh-CN" altLang="en-US" sz="2000" dirty="0">
              <a:latin typeface="Times New Roman" panose="02020603050405020304" pitchFamily="18" charset="0"/>
            </a:endParaRPr>
          </a:p>
        </p:txBody>
      </p:sp>
      <p:sp>
        <p:nvSpPr>
          <p:cNvPr id="623685" name="Text Box 69"/>
          <p:cNvSpPr txBox="1"/>
          <p:nvPr/>
        </p:nvSpPr>
        <p:spPr>
          <a:xfrm>
            <a:off x="8382000" y="3276600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000" dirty="0">
                <a:latin typeface="Times New Roman" panose="02020603050405020304" pitchFamily="18" charset="0"/>
              </a:rPr>
              <a:t>1</a:t>
            </a:r>
            <a:endParaRPr lang="zh-CN" altLang="en-US" sz="2000" dirty="0">
              <a:latin typeface="Times New Roman" panose="02020603050405020304" pitchFamily="18" charset="0"/>
            </a:endParaRPr>
          </a:p>
        </p:txBody>
      </p:sp>
      <p:grpSp>
        <p:nvGrpSpPr>
          <p:cNvPr id="623686" name="Group 70"/>
          <p:cNvGrpSpPr/>
          <p:nvPr/>
        </p:nvGrpSpPr>
        <p:grpSpPr>
          <a:xfrm>
            <a:off x="6324600" y="3717925"/>
            <a:ext cx="2374900" cy="396875"/>
            <a:chOff x="3984" y="2342"/>
            <a:chExt cx="1496" cy="250"/>
          </a:xfrm>
        </p:grpSpPr>
        <p:sp>
          <p:nvSpPr>
            <p:cNvPr id="25627" name="Text Box 71"/>
            <p:cNvSpPr txBox="1"/>
            <p:nvPr/>
          </p:nvSpPr>
          <p:spPr>
            <a:xfrm>
              <a:off x="3984" y="2342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1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5628" name="Text Box 72"/>
            <p:cNvSpPr txBox="1"/>
            <p:nvPr/>
          </p:nvSpPr>
          <p:spPr>
            <a:xfrm>
              <a:off x="4416" y="2342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1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5629" name="Text Box 73"/>
            <p:cNvSpPr txBox="1"/>
            <p:nvPr/>
          </p:nvSpPr>
          <p:spPr>
            <a:xfrm>
              <a:off x="4842" y="2342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1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5630" name="Text Box 74"/>
            <p:cNvSpPr txBox="1"/>
            <p:nvPr/>
          </p:nvSpPr>
          <p:spPr>
            <a:xfrm>
              <a:off x="5284" y="2342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1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23691" name="Group 75"/>
          <p:cNvGrpSpPr/>
          <p:nvPr/>
        </p:nvGrpSpPr>
        <p:grpSpPr>
          <a:xfrm>
            <a:off x="6324600" y="4114800"/>
            <a:ext cx="2374900" cy="396875"/>
            <a:chOff x="3984" y="2592"/>
            <a:chExt cx="1496" cy="250"/>
          </a:xfrm>
        </p:grpSpPr>
        <p:sp>
          <p:nvSpPr>
            <p:cNvPr id="25623" name="Text Box 76"/>
            <p:cNvSpPr txBox="1"/>
            <p:nvPr/>
          </p:nvSpPr>
          <p:spPr>
            <a:xfrm>
              <a:off x="3984" y="2592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1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5624" name="Text Box 77"/>
            <p:cNvSpPr txBox="1"/>
            <p:nvPr/>
          </p:nvSpPr>
          <p:spPr>
            <a:xfrm>
              <a:off x="4416" y="2592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1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5625" name="Text Box 78"/>
            <p:cNvSpPr txBox="1"/>
            <p:nvPr/>
          </p:nvSpPr>
          <p:spPr>
            <a:xfrm>
              <a:off x="4842" y="2592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1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5626" name="Text Box 79"/>
            <p:cNvSpPr txBox="1"/>
            <p:nvPr/>
          </p:nvSpPr>
          <p:spPr>
            <a:xfrm>
              <a:off x="5284" y="2592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1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23696" name="Group 80"/>
          <p:cNvGrpSpPr/>
          <p:nvPr/>
        </p:nvGrpSpPr>
        <p:grpSpPr>
          <a:xfrm>
            <a:off x="6324600" y="4495800"/>
            <a:ext cx="2374900" cy="396875"/>
            <a:chOff x="3984" y="2832"/>
            <a:chExt cx="1496" cy="250"/>
          </a:xfrm>
        </p:grpSpPr>
        <p:sp>
          <p:nvSpPr>
            <p:cNvPr id="25619" name="Text Box 81"/>
            <p:cNvSpPr txBox="1"/>
            <p:nvPr/>
          </p:nvSpPr>
          <p:spPr>
            <a:xfrm>
              <a:off x="3984" y="2832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1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5620" name="Text Box 82"/>
            <p:cNvSpPr txBox="1"/>
            <p:nvPr/>
          </p:nvSpPr>
          <p:spPr>
            <a:xfrm>
              <a:off x="4416" y="2832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1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5621" name="Text Box 83"/>
            <p:cNvSpPr txBox="1"/>
            <p:nvPr/>
          </p:nvSpPr>
          <p:spPr>
            <a:xfrm>
              <a:off x="4842" y="2832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1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5622" name="Text Box 84"/>
            <p:cNvSpPr txBox="1"/>
            <p:nvPr/>
          </p:nvSpPr>
          <p:spPr>
            <a:xfrm>
              <a:off x="5284" y="2832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1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23701" name="Group 85"/>
          <p:cNvGrpSpPr/>
          <p:nvPr/>
        </p:nvGrpSpPr>
        <p:grpSpPr>
          <a:xfrm>
            <a:off x="6324600" y="4937125"/>
            <a:ext cx="2374900" cy="396875"/>
            <a:chOff x="3984" y="3110"/>
            <a:chExt cx="1496" cy="250"/>
          </a:xfrm>
        </p:grpSpPr>
        <p:sp>
          <p:nvSpPr>
            <p:cNvPr id="25615" name="Text Box 86"/>
            <p:cNvSpPr txBox="1"/>
            <p:nvPr/>
          </p:nvSpPr>
          <p:spPr>
            <a:xfrm>
              <a:off x="3984" y="3110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1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5616" name="Text Box 87"/>
            <p:cNvSpPr txBox="1"/>
            <p:nvPr/>
          </p:nvSpPr>
          <p:spPr>
            <a:xfrm>
              <a:off x="4416" y="3110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1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5617" name="Text Box 88"/>
            <p:cNvSpPr txBox="1"/>
            <p:nvPr/>
          </p:nvSpPr>
          <p:spPr>
            <a:xfrm>
              <a:off x="4842" y="3110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1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5618" name="Text Box 89"/>
            <p:cNvSpPr txBox="1"/>
            <p:nvPr/>
          </p:nvSpPr>
          <p:spPr>
            <a:xfrm>
              <a:off x="5284" y="3110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1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623706" name="Rectangle 90"/>
          <p:cNvSpPr>
            <a:spLocks noChangeArrowheads="1"/>
          </p:cNvSpPr>
          <p:nvPr/>
        </p:nvSpPr>
        <p:spPr bwMode="auto">
          <a:xfrm>
            <a:off x="7696200" y="152400"/>
            <a:ext cx="1447800" cy="838200"/>
          </a:xfrm>
          <a:prstGeom prst="rect">
            <a:avLst/>
          </a:prstGeom>
          <a:noFill/>
          <a:ln>
            <a:noFill/>
          </a:ln>
          <a:effectLst/>
        </p:spPr>
        <p:txBody>
          <a:bodyPr lIns="92075" tIns="46038" rIns="92075" bIns="46038" anchor="ctr"/>
          <a:lstStyle>
            <a:lvl1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10.1</a:t>
            </a:r>
            <a:endParaRPr kumimoji="1" lang="zh-CN" altLang="en-US" sz="4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614" name="AutoShape 91">
            <a:hlinkClick r:id="rId1" action="ppaction://hlinksldjump"/>
          </p:cNvPr>
          <p:cNvSpPr/>
          <p:nvPr/>
        </p:nvSpPr>
        <p:spPr>
          <a:xfrm>
            <a:off x="8589963" y="6516688"/>
            <a:ext cx="539750" cy="333375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endParaRPr lang="zh-CN" altLang="en-US" dirty="0">
              <a:latin typeface="等线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23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23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23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23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23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23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623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623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3682" grpId="0"/>
      <p:bldP spid="623683" grpId="0"/>
      <p:bldP spid="623684" grpId="0"/>
      <p:bldP spid="62368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626" name="Text Box 2"/>
          <p:cNvSpPr txBox="1"/>
          <p:nvPr/>
        </p:nvSpPr>
        <p:spPr>
          <a:xfrm>
            <a:off x="381000" y="304800"/>
            <a:ext cx="4772025" cy="6413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3600" dirty="0">
                <a:latin typeface="Times New Roman" panose="02020603050405020304" pitchFamily="18" charset="0"/>
              </a:rPr>
              <a:t>三、组合逻辑设计步骤</a:t>
            </a:r>
            <a:endParaRPr lang="zh-CN" altLang="en-US" sz="3600" dirty="0">
              <a:latin typeface="Times New Roman" panose="02020603050405020304" pitchFamily="18" charset="0"/>
            </a:endParaRPr>
          </a:p>
        </p:txBody>
      </p:sp>
      <p:sp>
        <p:nvSpPr>
          <p:cNvPr id="26627" name="Text Box 3"/>
          <p:cNvSpPr txBox="1"/>
          <p:nvPr/>
        </p:nvSpPr>
        <p:spPr>
          <a:xfrm>
            <a:off x="998538" y="1066800"/>
            <a:ext cx="3040062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</a:rPr>
              <a:t>1. 列出操作时间表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grpSp>
        <p:nvGrpSpPr>
          <p:cNvPr id="26628" name="Group 4"/>
          <p:cNvGrpSpPr/>
          <p:nvPr/>
        </p:nvGrpSpPr>
        <p:grpSpPr>
          <a:xfrm>
            <a:off x="457200" y="1700213"/>
            <a:ext cx="8477250" cy="4743450"/>
            <a:chOff x="288" y="1200"/>
            <a:chExt cx="5340" cy="2988"/>
          </a:xfrm>
        </p:grpSpPr>
        <p:sp>
          <p:nvSpPr>
            <p:cNvPr id="26644" name="Rectangle 5"/>
            <p:cNvSpPr/>
            <p:nvPr/>
          </p:nvSpPr>
          <p:spPr>
            <a:xfrm>
              <a:off x="742" y="3150"/>
              <a:ext cx="434" cy="1038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050" rIns="19050" anchor="ctr" anchorCtr="1"/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en-US" altLang="zh-CN" sz="2000" i="1" dirty="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T</a:t>
              </a:r>
              <a:r>
                <a:rPr lang="en-US" altLang="zh-CN" sz="2000" baseline="-25000" dirty="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zh-CN" altLang="en-US" sz="2000" baseline="-25000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645" name="Rectangle 6"/>
            <p:cNvSpPr/>
            <p:nvPr/>
          </p:nvSpPr>
          <p:spPr>
            <a:xfrm>
              <a:off x="742" y="2640"/>
              <a:ext cx="434" cy="51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050" rIns="19050" anchor="ctr" anchorCtr="1"/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en-US" altLang="zh-CN" sz="2000" i="1" dirty="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T</a:t>
              </a:r>
              <a:r>
                <a:rPr lang="en-US" altLang="zh-CN" sz="2000" baseline="-25000" dirty="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zh-CN" altLang="en-US" sz="2000" baseline="-25000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646" name="Rectangle 7"/>
            <p:cNvSpPr/>
            <p:nvPr/>
          </p:nvSpPr>
          <p:spPr>
            <a:xfrm>
              <a:off x="742" y="2016"/>
              <a:ext cx="434" cy="498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050" rIns="19050" anchor="ctr" anchorCtr="1"/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en-US" altLang="zh-CN" sz="2000" i="1" dirty="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T</a:t>
              </a:r>
              <a:r>
                <a:rPr lang="en-US" altLang="zh-CN" sz="2000" baseline="-25000" dirty="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lang="en-US" altLang="zh-CN" sz="2000" baseline="-25000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6647" name="Rectangle 8"/>
            <p:cNvSpPr/>
            <p:nvPr/>
          </p:nvSpPr>
          <p:spPr>
            <a:xfrm>
              <a:off x="288" y="1833"/>
              <a:ext cx="454" cy="204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050" rIns="19050" anchor="ctr" anchorCtr="1"/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EX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执行 </a:t>
              </a:r>
              <a:endPara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26648" name="Group 9"/>
            <p:cNvGrpSpPr/>
            <p:nvPr/>
          </p:nvGrpSpPr>
          <p:grpSpPr>
            <a:xfrm>
              <a:off x="288" y="1200"/>
              <a:ext cx="5328" cy="2976"/>
              <a:chOff x="288" y="1200"/>
              <a:chExt cx="5328" cy="2976"/>
            </a:xfrm>
          </p:grpSpPr>
          <p:sp>
            <p:nvSpPr>
              <p:cNvPr id="26684" name="Line 10"/>
              <p:cNvSpPr/>
              <p:nvPr/>
            </p:nvSpPr>
            <p:spPr>
              <a:xfrm>
                <a:off x="288" y="1833"/>
                <a:ext cx="5328" cy="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grpSp>
            <p:nvGrpSpPr>
              <p:cNvPr id="26685" name="Group 11"/>
              <p:cNvGrpSpPr/>
              <p:nvPr/>
            </p:nvGrpSpPr>
            <p:grpSpPr>
              <a:xfrm>
                <a:off x="288" y="1200"/>
                <a:ext cx="5328" cy="2976"/>
                <a:chOff x="288" y="1200"/>
                <a:chExt cx="5328" cy="2976"/>
              </a:xfrm>
            </p:grpSpPr>
            <p:sp>
              <p:nvSpPr>
                <p:cNvPr id="26686" name="Line 12"/>
                <p:cNvSpPr/>
                <p:nvPr/>
              </p:nvSpPr>
              <p:spPr>
                <a:xfrm>
                  <a:off x="5616" y="1200"/>
                  <a:ext cx="0" cy="2974"/>
                </a:xfrm>
                <a:prstGeom prst="line">
                  <a:avLst/>
                </a:prstGeom>
                <a:ln w="28575" cap="sq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grpSp>
              <p:nvGrpSpPr>
                <p:cNvPr id="26687" name="Group 13"/>
                <p:cNvGrpSpPr/>
                <p:nvPr/>
              </p:nvGrpSpPr>
              <p:grpSpPr>
                <a:xfrm>
                  <a:off x="288" y="1200"/>
                  <a:ext cx="5328" cy="2976"/>
                  <a:chOff x="288" y="1200"/>
                  <a:chExt cx="5328" cy="2976"/>
                </a:xfrm>
              </p:grpSpPr>
              <p:sp>
                <p:nvSpPr>
                  <p:cNvPr id="26688" name="Line 14"/>
                  <p:cNvSpPr/>
                  <p:nvPr/>
                </p:nvSpPr>
                <p:spPr>
                  <a:xfrm>
                    <a:off x="2952" y="1200"/>
                    <a:ext cx="0" cy="2974"/>
                  </a:xfrm>
                  <a:prstGeom prst="line">
                    <a:avLst/>
                  </a:prstGeom>
                  <a:ln w="127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6689" name="Line 15"/>
                  <p:cNvSpPr/>
                  <p:nvPr/>
                </p:nvSpPr>
                <p:spPr>
                  <a:xfrm>
                    <a:off x="3396" y="1200"/>
                    <a:ext cx="0" cy="2974"/>
                  </a:xfrm>
                  <a:prstGeom prst="line">
                    <a:avLst/>
                  </a:prstGeom>
                  <a:ln w="127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6690" name="Line 16"/>
                  <p:cNvSpPr/>
                  <p:nvPr/>
                </p:nvSpPr>
                <p:spPr>
                  <a:xfrm>
                    <a:off x="3840" y="1200"/>
                    <a:ext cx="0" cy="2974"/>
                  </a:xfrm>
                  <a:prstGeom prst="line">
                    <a:avLst/>
                  </a:prstGeom>
                  <a:ln w="127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6691" name="Line 17"/>
                  <p:cNvSpPr/>
                  <p:nvPr/>
                </p:nvSpPr>
                <p:spPr>
                  <a:xfrm>
                    <a:off x="4284" y="1200"/>
                    <a:ext cx="0" cy="2974"/>
                  </a:xfrm>
                  <a:prstGeom prst="line">
                    <a:avLst/>
                  </a:prstGeom>
                  <a:ln w="127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6692" name="Line 18"/>
                  <p:cNvSpPr/>
                  <p:nvPr/>
                </p:nvSpPr>
                <p:spPr>
                  <a:xfrm>
                    <a:off x="4728" y="1200"/>
                    <a:ext cx="0" cy="2974"/>
                  </a:xfrm>
                  <a:prstGeom prst="line">
                    <a:avLst/>
                  </a:prstGeom>
                  <a:ln w="127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6693" name="Line 19"/>
                  <p:cNvSpPr/>
                  <p:nvPr/>
                </p:nvSpPr>
                <p:spPr>
                  <a:xfrm>
                    <a:off x="5172" y="1200"/>
                    <a:ext cx="0" cy="2974"/>
                  </a:xfrm>
                  <a:prstGeom prst="line">
                    <a:avLst/>
                  </a:prstGeom>
                  <a:ln w="127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grpSp>
                <p:nvGrpSpPr>
                  <p:cNvPr id="26694" name="Group 20"/>
                  <p:cNvGrpSpPr/>
                  <p:nvPr/>
                </p:nvGrpSpPr>
                <p:grpSpPr>
                  <a:xfrm>
                    <a:off x="288" y="1200"/>
                    <a:ext cx="5328" cy="2976"/>
                    <a:chOff x="288" y="1200"/>
                    <a:chExt cx="5328" cy="2976"/>
                  </a:xfrm>
                </p:grpSpPr>
                <p:sp>
                  <p:nvSpPr>
                    <p:cNvPr id="26695" name="Line 21"/>
                    <p:cNvSpPr/>
                    <p:nvPr/>
                  </p:nvSpPr>
                  <p:spPr>
                    <a:xfrm>
                      <a:off x="742" y="1200"/>
                      <a:ext cx="0" cy="2974"/>
                    </a:xfrm>
                    <a:prstGeom prst="line">
                      <a:avLst/>
                    </a:prstGeom>
                    <a:ln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26696" name="Line 22"/>
                    <p:cNvSpPr/>
                    <p:nvPr/>
                  </p:nvSpPr>
                  <p:spPr>
                    <a:xfrm>
                      <a:off x="1176" y="1200"/>
                      <a:ext cx="0" cy="2974"/>
                    </a:xfrm>
                    <a:prstGeom prst="line">
                      <a:avLst/>
                    </a:prstGeom>
                    <a:ln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26697" name="Line 23"/>
                    <p:cNvSpPr/>
                    <p:nvPr/>
                  </p:nvSpPr>
                  <p:spPr>
                    <a:xfrm>
                      <a:off x="1620" y="1200"/>
                      <a:ext cx="0" cy="2974"/>
                    </a:xfrm>
                    <a:prstGeom prst="line">
                      <a:avLst/>
                    </a:prstGeom>
                    <a:ln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  <p:grpSp>
                  <p:nvGrpSpPr>
                    <p:cNvPr id="26698" name="Group 24"/>
                    <p:cNvGrpSpPr/>
                    <p:nvPr/>
                  </p:nvGrpSpPr>
                  <p:grpSpPr>
                    <a:xfrm>
                      <a:off x="288" y="1200"/>
                      <a:ext cx="5328" cy="2976"/>
                      <a:chOff x="288" y="1200"/>
                      <a:chExt cx="5328" cy="2976"/>
                    </a:xfrm>
                  </p:grpSpPr>
                  <p:sp>
                    <p:nvSpPr>
                      <p:cNvPr id="26699" name="Line 25"/>
                      <p:cNvSpPr/>
                      <p:nvPr/>
                    </p:nvSpPr>
                    <p:spPr>
                      <a:xfrm>
                        <a:off x="3840" y="1200"/>
                        <a:ext cx="444" cy="0"/>
                      </a:xfrm>
                      <a:prstGeom prst="line">
                        <a:avLst/>
                      </a:prstGeom>
                      <a:ln w="28575" cap="flat" cmpd="sng">
                        <a:solidFill>
                          <a:schemeClr val="tx1"/>
                        </a:solidFill>
                        <a:prstDash val="solid"/>
                        <a:headEnd type="none" w="med" len="med"/>
                        <a:tailEnd type="none" w="med" len="med"/>
                      </a:ln>
                    </p:spPr>
                  </p:sp>
                  <p:grpSp>
                    <p:nvGrpSpPr>
                      <p:cNvPr id="26700" name="Group 26"/>
                      <p:cNvGrpSpPr/>
                      <p:nvPr/>
                    </p:nvGrpSpPr>
                    <p:grpSpPr>
                      <a:xfrm>
                        <a:off x="288" y="1200"/>
                        <a:ext cx="5328" cy="2976"/>
                        <a:chOff x="288" y="1200"/>
                        <a:chExt cx="5328" cy="2976"/>
                      </a:xfrm>
                    </p:grpSpPr>
                    <p:sp>
                      <p:nvSpPr>
                        <p:cNvPr id="26701" name="Line 27"/>
                        <p:cNvSpPr/>
                        <p:nvPr/>
                      </p:nvSpPr>
                      <p:spPr>
                        <a:xfrm>
                          <a:off x="288" y="4176"/>
                          <a:ext cx="5328" cy="0"/>
                        </a:xfrm>
                        <a:prstGeom prst="line">
                          <a:avLst/>
                        </a:prstGeom>
                        <a:ln w="28575" cap="sq" cmpd="sng">
                          <a:solidFill>
                            <a:schemeClr val="tx1"/>
                          </a:solidFill>
                          <a:prstDash val="solid"/>
                          <a:headEnd type="none" w="med" len="med"/>
                          <a:tailEnd type="none" w="med" len="med"/>
                        </a:ln>
                      </p:spPr>
                    </p:sp>
                    <p:sp>
                      <p:nvSpPr>
                        <p:cNvPr id="26702" name="Rectangle 28"/>
                        <p:cNvSpPr/>
                        <p:nvPr/>
                      </p:nvSpPr>
                      <p:spPr>
                        <a:xfrm>
                          <a:off x="5172" y="1200"/>
                          <a:ext cx="444" cy="63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  <p:txBody>
                        <a:bodyPr lIns="19050" rIns="19050" anchor="ctr" anchorCtr="1"/>
                        <a:p>
                          <a:pPr eaLnBrk="1" hangingPunct="1">
                            <a:buClr>
                              <a:schemeClr val="accent2"/>
                            </a:buClr>
                            <a:buSzPct val="80000"/>
                            <a:buFont typeface="Wingdings" panose="05000000000000000000" pitchFamily="2" charset="2"/>
                          </a:pPr>
                          <a:r>
                            <a:rPr lang="en-US" altLang="zh-CN" sz="2000" dirty="0">
                              <a:latin typeface="Times New Roman" panose="02020603050405020304" pitchFamily="18" charset="0"/>
                              <a:ea typeface="宋体" panose="02010600030101010101" pitchFamily="2" charset="-122"/>
                            </a:rPr>
                            <a:t>JMP</a:t>
                          </a:r>
                          <a:endParaRPr lang="en-US" altLang="zh-CN" sz="2000" dirty="0"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26703" name="Rectangle 29"/>
                        <p:cNvSpPr/>
                        <p:nvPr/>
                      </p:nvSpPr>
                      <p:spPr>
                        <a:xfrm>
                          <a:off x="4728" y="1200"/>
                          <a:ext cx="444" cy="63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  <p:txBody>
                        <a:bodyPr lIns="19050" rIns="19050" anchor="ctr" anchorCtr="1"/>
                        <a:p>
                          <a:pPr eaLnBrk="1" hangingPunct="1">
                            <a:buClr>
                              <a:schemeClr val="accent2"/>
                            </a:buClr>
                            <a:buSzPct val="80000"/>
                            <a:buFont typeface="Wingdings" panose="05000000000000000000" pitchFamily="2" charset="2"/>
                          </a:pPr>
                          <a:r>
                            <a:rPr lang="en-US" altLang="zh-CN" sz="2000" dirty="0">
                              <a:latin typeface="Times New Roman" panose="02020603050405020304" pitchFamily="18" charset="0"/>
                              <a:ea typeface="宋体" panose="02010600030101010101" pitchFamily="2" charset="-122"/>
                            </a:rPr>
                            <a:t>LDA</a:t>
                          </a:r>
                          <a:endParaRPr lang="en-US" altLang="zh-CN" sz="2000" dirty="0"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26704" name="Rectangle 30"/>
                        <p:cNvSpPr/>
                        <p:nvPr/>
                      </p:nvSpPr>
                      <p:spPr>
                        <a:xfrm>
                          <a:off x="4284" y="1200"/>
                          <a:ext cx="444" cy="63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  <p:txBody>
                        <a:bodyPr lIns="19050" rIns="19050" anchor="ctr" anchorCtr="1"/>
                        <a:p>
                          <a:pPr eaLnBrk="1" hangingPunct="1">
                            <a:buClr>
                              <a:schemeClr val="accent2"/>
                            </a:buClr>
                            <a:buSzPct val="80000"/>
                            <a:buFont typeface="Wingdings" panose="05000000000000000000" pitchFamily="2" charset="2"/>
                          </a:pPr>
                          <a:r>
                            <a:rPr lang="en-US" altLang="zh-CN" sz="2000" dirty="0">
                              <a:latin typeface="Times New Roman" panose="02020603050405020304" pitchFamily="18" charset="0"/>
                              <a:ea typeface="宋体" panose="02010600030101010101" pitchFamily="2" charset="-122"/>
                            </a:rPr>
                            <a:t>STA</a:t>
                          </a:r>
                          <a:endParaRPr lang="en-US" altLang="zh-CN" sz="2000" dirty="0"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26705" name="Rectangle 31"/>
                        <p:cNvSpPr/>
                        <p:nvPr/>
                      </p:nvSpPr>
                      <p:spPr>
                        <a:xfrm>
                          <a:off x="3840" y="1200"/>
                          <a:ext cx="444" cy="63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  <p:txBody>
                        <a:bodyPr lIns="19050" rIns="19050" anchor="ctr" anchorCtr="1"/>
                        <a:p>
                          <a:pPr eaLnBrk="1" hangingPunct="1">
                            <a:buClr>
                              <a:schemeClr val="accent2"/>
                            </a:buClr>
                            <a:buSzPct val="80000"/>
                            <a:buFont typeface="Wingdings" panose="05000000000000000000" pitchFamily="2" charset="2"/>
                          </a:pPr>
                          <a:r>
                            <a:rPr lang="en-US" altLang="zh-CN" sz="2000" dirty="0">
                              <a:latin typeface="Times New Roman" panose="02020603050405020304" pitchFamily="18" charset="0"/>
                              <a:ea typeface="宋体" panose="02010600030101010101" pitchFamily="2" charset="-122"/>
                            </a:rPr>
                            <a:t>ADD</a:t>
                          </a:r>
                          <a:endParaRPr lang="en-US" altLang="zh-CN" sz="2000" dirty="0"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26706" name="Rectangle 32"/>
                        <p:cNvSpPr/>
                        <p:nvPr/>
                      </p:nvSpPr>
                      <p:spPr>
                        <a:xfrm>
                          <a:off x="3396" y="1200"/>
                          <a:ext cx="444" cy="63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  <p:txBody>
                        <a:bodyPr lIns="19050" rIns="19050" anchor="ctr" anchorCtr="1"/>
                        <a:p>
                          <a:pPr eaLnBrk="1" hangingPunct="1">
                            <a:buClr>
                              <a:schemeClr val="accent2"/>
                            </a:buClr>
                            <a:buSzPct val="80000"/>
                            <a:buFont typeface="Wingdings" panose="05000000000000000000" pitchFamily="2" charset="2"/>
                          </a:pPr>
                          <a:r>
                            <a:rPr lang="en-US" altLang="zh-CN" sz="2000" dirty="0">
                              <a:latin typeface="Times New Roman" panose="02020603050405020304" pitchFamily="18" charset="0"/>
                              <a:ea typeface="宋体" panose="02010600030101010101" pitchFamily="2" charset="-122"/>
                            </a:rPr>
                            <a:t>COM</a:t>
                          </a:r>
                          <a:endParaRPr lang="en-US" altLang="zh-CN" sz="2000" dirty="0"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26707" name="Rectangle 33"/>
                        <p:cNvSpPr/>
                        <p:nvPr/>
                      </p:nvSpPr>
                      <p:spPr>
                        <a:xfrm>
                          <a:off x="2952" y="1200"/>
                          <a:ext cx="444" cy="63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  <p:txBody>
                        <a:bodyPr lIns="19050" rIns="19050" anchor="ctr" anchorCtr="1"/>
                        <a:p>
                          <a:pPr eaLnBrk="1" hangingPunct="1">
                            <a:buClr>
                              <a:schemeClr val="accent2"/>
                            </a:buClr>
                            <a:buSzPct val="80000"/>
                            <a:buFont typeface="Wingdings" panose="05000000000000000000" pitchFamily="2" charset="2"/>
                          </a:pPr>
                          <a:r>
                            <a:rPr lang="en-US" altLang="zh-CN" sz="2000" dirty="0">
                              <a:latin typeface="Times New Roman" panose="02020603050405020304" pitchFamily="18" charset="0"/>
                              <a:ea typeface="宋体" panose="02010600030101010101" pitchFamily="2" charset="-122"/>
                            </a:rPr>
                            <a:t>CLA</a:t>
                          </a:r>
                          <a:endParaRPr lang="en-US" altLang="zh-CN" sz="2000" dirty="0"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26708" name="Rectangle 34"/>
                        <p:cNvSpPr/>
                        <p:nvPr/>
                      </p:nvSpPr>
                      <p:spPr>
                        <a:xfrm>
                          <a:off x="1620" y="1200"/>
                          <a:ext cx="1332" cy="63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  <p:txBody>
                        <a:bodyPr lIns="19050" rIns="19050" anchor="ctr" anchorCtr="1"/>
                        <a:p>
                          <a:pPr eaLnBrk="1" hangingPunct="1">
                            <a:buClr>
                              <a:schemeClr val="accent2"/>
                            </a:buClr>
                            <a:buSzPct val="80000"/>
                            <a:buFont typeface="Wingdings" panose="05000000000000000000" pitchFamily="2" charset="2"/>
                          </a:pPr>
                          <a:r>
                            <a:rPr lang="zh-CN" altLang="en-US" sz="2000" dirty="0">
                              <a:latin typeface="Times New Roman" panose="02020603050405020304" pitchFamily="18" charset="0"/>
                              <a:ea typeface="宋体" panose="02010600030101010101" pitchFamily="2" charset="-122"/>
                            </a:rPr>
                            <a:t>微操作命令信号</a:t>
                          </a:r>
                          <a:endParaRPr lang="zh-CN" altLang="en-US" sz="2000" dirty="0"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26709" name="Rectangle 35"/>
                        <p:cNvSpPr/>
                        <p:nvPr/>
                      </p:nvSpPr>
                      <p:spPr>
                        <a:xfrm>
                          <a:off x="1176" y="1200"/>
                          <a:ext cx="444" cy="63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  <p:txBody>
                        <a:bodyPr lIns="19050" rIns="19050" anchor="ctr" anchorCtr="1"/>
                        <a:p>
                          <a:pPr eaLnBrk="1" hangingPunct="1">
                            <a:buClr>
                              <a:schemeClr val="accent2"/>
                            </a:buClr>
                            <a:buSzPct val="80000"/>
                            <a:buFont typeface="Wingdings" panose="05000000000000000000" pitchFamily="2" charset="2"/>
                          </a:pPr>
                          <a:r>
                            <a:rPr lang="zh-CN" altLang="en-US" sz="2000" dirty="0">
                              <a:latin typeface="Times New Roman" panose="02020603050405020304" pitchFamily="18" charset="0"/>
                              <a:ea typeface="宋体" panose="02010600030101010101" pitchFamily="2" charset="-122"/>
                            </a:rPr>
                            <a:t>状态条件</a:t>
                          </a:r>
                          <a:endParaRPr lang="zh-CN" altLang="en-US" sz="2000" dirty="0"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26710" name="Rectangle 36"/>
                        <p:cNvSpPr/>
                        <p:nvPr/>
                      </p:nvSpPr>
                      <p:spPr>
                        <a:xfrm>
                          <a:off x="742" y="1200"/>
                          <a:ext cx="434" cy="63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  <p:txBody>
                        <a:bodyPr lIns="19050" rIns="19050" anchor="ctr" anchorCtr="1"/>
                        <a:p>
                          <a:pPr eaLnBrk="1" hangingPunct="1">
                            <a:buClr>
                              <a:schemeClr val="accent2"/>
                            </a:buClr>
                            <a:buSzPct val="80000"/>
                            <a:buFont typeface="Wingdings" panose="05000000000000000000" pitchFamily="2" charset="2"/>
                          </a:pPr>
                          <a:r>
                            <a:rPr lang="zh-CN" altLang="en-US" sz="2000" dirty="0">
                              <a:latin typeface="Times New Roman" panose="02020603050405020304" pitchFamily="18" charset="0"/>
                              <a:ea typeface="宋体" panose="02010600030101010101" pitchFamily="2" charset="-122"/>
                            </a:rPr>
                            <a:t>节拍</a:t>
                          </a:r>
                          <a:endParaRPr lang="zh-CN" altLang="en-US" sz="2000" dirty="0"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26711" name="Rectangle 37"/>
                        <p:cNvSpPr/>
                        <p:nvPr/>
                      </p:nvSpPr>
                      <p:spPr>
                        <a:xfrm>
                          <a:off x="288" y="1200"/>
                          <a:ext cx="454" cy="63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  <p:txBody>
                        <a:bodyPr lIns="19050" rIns="19050" anchor="ctr" anchorCtr="1"/>
                        <a:p>
                          <a:pPr eaLnBrk="1" hangingPunct="1">
                            <a:buClr>
                              <a:schemeClr val="accent2"/>
                            </a:buClr>
                            <a:buSzPct val="80000"/>
                            <a:buFont typeface="Wingdings" panose="05000000000000000000" pitchFamily="2" charset="2"/>
                          </a:pPr>
                          <a:r>
                            <a:rPr lang="zh-CN" altLang="en-US" sz="2000" dirty="0">
                              <a:latin typeface="Times New Roman" panose="02020603050405020304" pitchFamily="18" charset="0"/>
                              <a:ea typeface="宋体" panose="02010600030101010101" pitchFamily="2" charset="-122"/>
                            </a:rPr>
                            <a:t>工作周期标记</a:t>
                          </a:r>
                          <a:endParaRPr lang="zh-CN" altLang="en-US" sz="2000" dirty="0"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26712" name="Line 38"/>
                        <p:cNvSpPr/>
                        <p:nvPr/>
                      </p:nvSpPr>
                      <p:spPr>
                        <a:xfrm>
                          <a:off x="288" y="1200"/>
                          <a:ext cx="0" cy="2974"/>
                        </a:xfrm>
                        <a:prstGeom prst="line">
                          <a:avLst/>
                        </a:prstGeom>
                        <a:ln w="28575" cap="sq" cmpd="sng">
                          <a:solidFill>
                            <a:schemeClr val="tx1"/>
                          </a:solidFill>
                          <a:prstDash val="solid"/>
                          <a:headEnd type="none" w="med" len="med"/>
                          <a:tailEnd type="none" w="med" len="med"/>
                        </a:ln>
                      </p:spPr>
                    </p:sp>
                    <p:sp>
                      <p:nvSpPr>
                        <p:cNvPr id="26713" name="Line 39"/>
                        <p:cNvSpPr/>
                        <p:nvPr/>
                      </p:nvSpPr>
                      <p:spPr>
                        <a:xfrm>
                          <a:off x="288" y="1200"/>
                          <a:ext cx="3552" cy="0"/>
                        </a:xfrm>
                        <a:prstGeom prst="line">
                          <a:avLst/>
                        </a:prstGeom>
                        <a:ln w="28575" cap="sq" cmpd="sng">
                          <a:solidFill>
                            <a:schemeClr val="tx1"/>
                          </a:solidFill>
                          <a:prstDash val="solid"/>
                          <a:headEnd type="none" w="med" len="med"/>
                          <a:tailEnd type="none" w="med" len="med"/>
                        </a:ln>
                      </p:spPr>
                    </p:sp>
                    <p:sp>
                      <p:nvSpPr>
                        <p:cNvPr id="26714" name="Line 40"/>
                        <p:cNvSpPr/>
                        <p:nvPr/>
                      </p:nvSpPr>
                      <p:spPr>
                        <a:xfrm>
                          <a:off x="4284" y="1200"/>
                          <a:ext cx="1332" cy="0"/>
                        </a:xfrm>
                        <a:prstGeom prst="line">
                          <a:avLst/>
                        </a:prstGeom>
                        <a:ln w="28575" cap="sq" cmpd="sng">
                          <a:solidFill>
                            <a:schemeClr val="tx1"/>
                          </a:solidFill>
                          <a:prstDash val="solid"/>
                          <a:headEnd type="none" w="med" len="med"/>
                          <a:tailEnd type="none" w="med" len="med"/>
                        </a:ln>
                      </p:spPr>
                    </p:sp>
                  </p:grpSp>
                </p:grpSp>
              </p:grpSp>
            </p:grpSp>
          </p:grpSp>
        </p:grpSp>
        <p:sp>
          <p:nvSpPr>
            <p:cNvPr id="26649" name="Line 41"/>
            <p:cNvSpPr/>
            <p:nvPr/>
          </p:nvSpPr>
          <p:spPr>
            <a:xfrm>
              <a:off x="1620" y="2082"/>
              <a:ext cx="399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6650" name="Line 42"/>
            <p:cNvSpPr/>
            <p:nvPr/>
          </p:nvSpPr>
          <p:spPr>
            <a:xfrm>
              <a:off x="1620" y="2901"/>
              <a:ext cx="399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6651" name="Line 43"/>
            <p:cNvSpPr/>
            <p:nvPr/>
          </p:nvSpPr>
          <p:spPr>
            <a:xfrm>
              <a:off x="1620" y="3441"/>
              <a:ext cx="399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6652" name="Freeform 44"/>
            <p:cNvSpPr/>
            <p:nvPr/>
          </p:nvSpPr>
          <p:spPr>
            <a:xfrm>
              <a:off x="1618" y="3689"/>
              <a:ext cx="3998" cy="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998" y="1"/>
                </a:cxn>
              </a:cxnLst>
              <a:pathLst>
                <a:path w="3998" h="1">
                  <a:moveTo>
                    <a:pt x="0" y="0"/>
                  </a:moveTo>
                  <a:lnTo>
                    <a:pt x="3998" y="1"/>
                  </a:lnTo>
                </a:path>
              </a:pathLst>
            </a:custGeom>
            <a:noFill/>
            <a:ln w="127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26653" name="Line 45"/>
            <p:cNvSpPr/>
            <p:nvPr/>
          </p:nvSpPr>
          <p:spPr>
            <a:xfrm>
              <a:off x="742" y="3150"/>
              <a:ext cx="4874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6654" name="Line 46"/>
            <p:cNvSpPr/>
            <p:nvPr/>
          </p:nvSpPr>
          <p:spPr>
            <a:xfrm>
              <a:off x="742" y="2640"/>
              <a:ext cx="4874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26655" name="Group 47"/>
            <p:cNvGrpSpPr/>
            <p:nvPr/>
          </p:nvGrpSpPr>
          <p:grpSpPr>
            <a:xfrm>
              <a:off x="1620" y="1833"/>
              <a:ext cx="1332" cy="249"/>
              <a:chOff x="1620" y="1833"/>
              <a:chExt cx="1332" cy="249"/>
            </a:xfrm>
          </p:grpSpPr>
          <p:sp>
            <p:nvSpPr>
              <p:cNvPr id="26682" name="Rectangle 48"/>
              <p:cNvSpPr/>
              <p:nvPr/>
            </p:nvSpPr>
            <p:spPr>
              <a:xfrm>
                <a:off x="1620" y="1833"/>
                <a:ext cx="1332" cy="24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19050" rIns="19050" anchor="ctr" anchorCtr="1"/>
              <a:p>
                <a:pPr eaLnBrk="1" hangingPunct="1">
                  <a:buClr>
                    <a:schemeClr val="accent2"/>
                  </a:buClr>
                  <a:buSzPct val="80000"/>
                  <a:buFont typeface="Wingdings" panose="05000000000000000000" pitchFamily="2" charset="2"/>
                </a:pPr>
                <a:r>
                  <a:rPr lang="en-US" altLang="zh-CN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Ad (IR)      MAR</a:t>
                </a:r>
                <a:endPara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6683" name="Line 49"/>
              <p:cNvSpPr/>
              <p:nvPr/>
            </p:nvSpPr>
            <p:spPr>
              <a:xfrm>
                <a:off x="2258" y="1968"/>
                <a:ext cx="190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</p:grpSp>
        <p:grpSp>
          <p:nvGrpSpPr>
            <p:cNvPr id="26656" name="Group 50"/>
            <p:cNvGrpSpPr/>
            <p:nvPr/>
          </p:nvGrpSpPr>
          <p:grpSpPr>
            <a:xfrm>
              <a:off x="1620" y="2082"/>
              <a:ext cx="1332" cy="249"/>
              <a:chOff x="1620" y="2322"/>
              <a:chExt cx="1332" cy="249"/>
            </a:xfrm>
          </p:grpSpPr>
          <p:sp>
            <p:nvSpPr>
              <p:cNvPr id="26680" name="Rectangle 51"/>
              <p:cNvSpPr/>
              <p:nvPr/>
            </p:nvSpPr>
            <p:spPr>
              <a:xfrm>
                <a:off x="1620" y="2322"/>
                <a:ext cx="1332" cy="24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19050" rIns="19050" anchor="ctr" anchorCtr="1"/>
              <a:p>
                <a:pPr eaLnBrk="1" hangingPunct="1">
                  <a:buClr>
                    <a:schemeClr val="accent2"/>
                  </a:buClr>
                  <a:buSzPct val="80000"/>
                  <a:buFont typeface="Wingdings" panose="05000000000000000000" pitchFamily="2" charset="2"/>
                </a:pPr>
                <a:r>
                  <a:rPr lang="zh-CN" altLang="en-US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1      </a:t>
                </a:r>
                <a:r>
                  <a:rPr lang="en-US" altLang="zh-CN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R</a:t>
                </a:r>
                <a:endPara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6681" name="Line 52"/>
              <p:cNvSpPr/>
              <p:nvPr/>
            </p:nvSpPr>
            <p:spPr>
              <a:xfrm>
                <a:off x="2160" y="2448"/>
                <a:ext cx="190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</p:grpSp>
        <p:grpSp>
          <p:nvGrpSpPr>
            <p:cNvPr id="26657" name="Group 53"/>
            <p:cNvGrpSpPr/>
            <p:nvPr/>
          </p:nvGrpSpPr>
          <p:grpSpPr>
            <a:xfrm>
              <a:off x="1620" y="2640"/>
              <a:ext cx="1332" cy="261"/>
              <a:chOff x="1620" y="2571"/>
              <a:chExt cx="1332" cy="261"/>
            </a:xfrm>
          </p:grpSpPr>
          <p:sp>
            <p:nvSpPr>
              <p:cNvPr id="26678" name="Rectangle 54"/>
              <p:cNvSpPr/>
              <p:nvPr/>
            </p:nvSpPr>
            <p:spPr>
              <a:xfrm>
                <a:off x="1620" y="2571"/>
                <a:ext cx="1332" cy="26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19050" rIns="19050" anchor="ctr" anchorCtr="1"/>
              <a:p>
                <a:pPr eaLnBrk="1" hangingPunct="1">
                  <a:buClr>
                    <a:schemeClr val="accent2"/>
                  </a:buClr>
                  <a:buSzPct val="80000"/>
                  <a:buFont typeface="Wingdings" panose="05000000000000000000" pitchFamily="2" charset="2"/>
                </a:pPr>
                <a:r>
                  <a:rPr lang="en-US" altLang="zh-CN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M(MAR)      MDR    </a:t>
                </a:r>
                <a:endPara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6679" name="Line 55"/>
              <p:cNvSpPr/>
              <p:nvPr/>
            </p:nvSpPr>
            <p:spPr>
              <a:xfrm>
                <a:off x="2304" y="2713"/>
                <a:ext cx="190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</p:grpSp>
        <p:grpSp>
          <p:nvGrpSpPr>
            <p:cNvPr id="26658" name="Group 56"/>
            <p:cNvGrpSpPr/>
            <p:nvPr/>
          </p:nvGrpSpPr>
          <p:grpSpPr>
            <a:xfrm>
              <a:off x="1620" y="2901"/>
              <a:ext cx="1332" cy="249"/>
              <a:chOff x="1620" y="2901"/>
              <a:chExt cx="1332" cy="249"/>
            </a:xfrm>
          </p:grpSpPr>
          <p:sp>
            <p:nvSpPr>
              <p:cNvPr id="26676" name="Rectangle 57"/>
              <p:cNvSpPr/>
              <p:nvPr/>
            </p:nvSpPr>
            <p:spPr>
              <a:xfrm>
                <a:off x="1620" y="2901"/>
                <a:ext cx="1332" cy="24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19050" rIns="19050" anchor="ctr" anchorCtr="1"/>
              <a:p>
                <a:pPr eaLnBrk="1" hangingPunct="1">
                  <a:buClr>
                    <a:schemeClr val="accent2"/>
                  </a:buClr>
                  <a:buSzPct val="80000"/>
                  <a:buFont typeface="Wingdings" panose="05000000000000000000" pitchFamily="2" charset="2"/>
                </a:pPr>
                <a:r>
                  <a:rPr lang="en-US" altLang="zh-CN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AC      MDR</a:t>
                </a:r>
                <a:endPara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6677" name="Line 58"/>
              <p:cNvSpPr/>
              <p:nvPr/>
            </p:nvSpPr>
            <p:spPr>
              <a:xfrm>
                <a:off x="2112" y="3020"/>
                <a:ext cx="190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</p:grpSp>
        <p:grpSp>
          <p:nvGrpSpPr>
            <p:cNvPr id="26659" name="Group 59"/>
            <p:cNvGrpSpPr/>
            <p:nvPr/>
          </p:nvGrpSpPr>
          <p:grpSpPr>
            <a:xfrm>
              <a:off x="1620" y="3150"/>
              <a:ext cx="1332" cy="291"/>
              <a:chOff x="1620" y="3150"/>
              <a:chExt cx="1332" cy="291"/>
            </a:xfrm>
          </p:grpSpPr>
          <p:sp>
            <p:nvSpPr>
              <p:cNvPr id="26674" name="Rectangle 60"/>
              <p:cNvSpPr/>
              <p:nvPr/>
            </p:nvSpPr>
            <p:spPr>
              <a:xfrm>
                <a:off x="1620" y="3150"/>
                <a:ext cx="1332" cy="29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19050" rIns="19050" anchor="ctr" anchorCtr="1"/>
              <a:p>
                <a:pPr eaLnBrk="1" hangingPunct="1">
                  <a:buClr>
                    <a:schemeClr val="accent2"/>
                  </a:buClr>
                  <a:buSzPct val="80000"/>
                  <a:buFont typeface="Wingdings" panose="05000000000000000000" pitchFamily="2" charset="2"/>
                </a:pPr>
                <a:r>
                  <a:rPr lang="en-US" altLang="zh-CN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(AC)+(MDR)   AC</a:t>
                </a:r>
                <a:endPara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6675" name="Line 61"/>
              <p:cNvSpPr/>
              <p:nvPr/>
            </p:nvSpPr>
            <p:spPr>
              <a:xfrm>
                <a:off x="2566" y="3308"/>
                <a:ext cx="122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</p:grpSp>
        <p:grpSp>
          <p:nvGrpSpPr>
            <p:cNvPr id="26660" name="Group 62"/>
            <p:cNvGrpSpPr/>
            <p:nvPr/>
          </p:nvGrpSpPr>
          <p:grpSpPr>
            <a:xfrm>
              <a:off x="1620" y="3441"/>
              <a:ext cx="1332" cy="249"/>
              <a:chOff x="1620" y="3441"/>
              <a:chExt cx="1332" cy="249"/>
            </a:xfrm>
          </p:grpSpPr>
          <p:sp>
            <p:nvSpPr>
              <p:cNvPr id="26672" name="Rectangle 63"/>
              <p:cNvSpPr/>
              <p:nvPr/>
            </p:nvSpPr>
            <p:spPr>
              <a:xfrm>
                <a:off x="1620" y="3441"/>
                <a:ext cx="1332" cy="24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19050" rIns="19050" anchor="ctr" anchorCtr="1"/>
              <a:p>
                <a:pPr eaLnBrk="1" hangingPunct="1">
                  <a:buClr>
                    <a:schemeClr val="accent2"/>
                  </a:buClr>
                  <a:buSzPct val="80000"/>
                  <a:buFont typeface="Wingdings" panose="05000000000000000000" pitchFamily="2" charset="2"/>
                </a:pPr>
                <a:r>
                  <a:rPr lang="en-US" altLang="zh-CN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MDR      M(MAR) </a:t>
                </a:r>
                <a:endPara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6673" name="Line 64"/>
              <p:cNvSpPr/>
              <p:nvPr/>
            </p:nvSpPr>
            <p:spPr>
              <a:xfrm>
                <a:off x="2064" y="3573"/>
                <a:ext cx="190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</p:grpSp>
        <p:grpSp>
          <p:nvGrpSpPr>
            <p:cNvPr id="26661" name="Group 65"/>
            <p:cNvGrpSpPr/>
            <p:nvPr/>
          </p:nvGrpSpPr>
          <p:grpSpPr>
            <a:xfrm>
              <a:off x="1620" y="3690"/>
              <a:ext cx="1332" cy="249"/>
              <a:chOff x="1620" y="3690"/>
              <a:chExt cx="1332" cy="249"/>
            </a:xfrm>
          </p:grpSpPr>
          <p:sp>
            <p:nvSpPr>
              <p:cNvPr id="26670" name="Rectangle 66"/>
              <p:cNvSpPr/>
              <p:nvPr/>
            </p:nvSpPr>
            <p:spPr>
              <a:xfrm>
                <a:off x="1620" y="3690"/>
                <a:ext cx="1332" cy="24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19050" rIns="19050" anchor="ctr" anchorCtr="1"/>
              <a:p>
                <a:pPr eaLnBrk="1" hangingPunct="1">
                  <a:buClr>
                    <a:schemeClr val="accent2"/>
                  </a:buClr>
                  <a:buSzPct val="80000"/>
                  <a:buFont typeface="Wingdings" panose="05000000000000000000" pitchFamily="2" charset="2"/>
                </a:pPr>
                <a:r>
                  <a:rPr lang="en-US" altLang="zh-CN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MDR      AC</a:t>
                </a:r>
                <a:endPara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6671" name="Line 67"/>
              <p:cNvSpPr/>
              <p:nvPr/>
            </p:nvSpPr>
            <p:spPr>
              <a:xfrm>
                <a:off x="2258" y="3813"/>
                <a:ext cx="190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</p:grpSp>
        <p:grpSp>
          <p:nvGrpSpPr>
            <p:cNvPr id="26662" name="Group 68"/>
            <p:cNvGrpSpPr/>
            <p:nvPr/>
          </p:nvGrpSpPr>
          <p:grpSpPr>
            <a:xfrm>
              <a:off x="1620" y="3939"/>
              <a:ext cx="1332" cy="249"/>
              <a:chOff x="1620" y="3939"/>
              <a:chExt cx="1332" cy="249"/>
            </a:xfrm>
          </p:grpSpPr>
          <p:sp>
            <p:nvSpPr>
              <p:cNvPr id="26668" name="Rectangle 69"/>
              <p:cNvSpPr/>
              <p:nvPr/>
            </p:nvSpPr>
            <p:spPr>
              <a:xfrm>
                <a:off x="1620" y="3939"/>
                <a:ext cx="1332" cy="24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19050" rIns="19050" anchor="ctr" anchorCtr="1"/>
              <a:p>
                <a:pPr eaLnBrk="1" hangingPunct="1">
                  <a:buClr>
                    <a:schemeClr val="accent2"/>
                  </a:buClr>
                  <a:buSzPct val="80000"/>
                  <a:buFont typeface="Wingdings" panose="05000000000000000000" pitchFamily="2" charset="2"/>
                </a:pPr>
                <a:r>
                  <a:rPr lang="zh-CN" altLang="en-US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0      </a:t>
                </a:r>
                <a:r>
                  <a:rPr lang="en-US" altLang="zh-CN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AC</a:t>
                </a:r>
                <a:endPara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6669" name="Line 70"/>
              <p:cNvSpPr/>
              <p:nvPr/>
            </p:nvSpPr>
            <p:spPr>
              <a:xfrm>
                <a:off x="2112" y="4074"/>
                <a:ext cx="190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</p:grpSp>
        <p:sp>
          <p:nvSpPr>
            <p:cNvPr id="26663" name="Line 71"/>
            <p:cNvSpPr/>
            <p:nvPr/>
          </p:nvSpPr>
          <p:spPr>
            <a:xfrm>
              <a:off x="1620" y="3936"/>
              <a:ext cx="399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6664" name="Line 72"/>
            <p:cNvSpPr/>
            <p:nvPr/>
          </p:nvSpPr>
          <p:spPr>
            <a:xfrm>
              <a:off x="1632" y="2352"/>
              <a:ext cx="399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26665" name="Group 73"/>
            <p:cNvGrpSpPr/>
            <p:nvPr/>
          </p:nvGrpSpPr>
          <p:grpSpPr>
            <a:xfrm>
              <a:off x="1632" y="2391"/>
              <a:ext cx="1332" cy="249"/>
              <a:chOff x="1620" y="2322"/>
              <a:chExt cx="1332" cy="249"/>
            </a:xfrm>
          </p:grpSpPr>
          <p:sp>
            <p:nvSpPr>
              <p:cNvPr id="26666" name="Rectangle 74"/>
              <p:cNvSpPr/>
              <p:nvPr/>
            </p:nvSpPr>
            <p:spPr>
              <a:xfrm>
                <a:off x="1620" y="2322"/>
                <a:ext cx="1332" cy="24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19050" rIns="19050" anchor="ctr" anchorCtr="1"/>
              <a:p>
                <a:pPr eaLnBrk="1" hangingPunct="1">
                  <a:buClr>
                    <a:schemeClr val="accent2"/>
                  </a:buClr>
                  <a:buSzPct val="80000"/>
                  <a:buFont typeface="Wingdings" panose="05000000000000000000" pitchFamily="2" charset="2"/>
                </a:pPr>
                <a:r>
                  <a:rPr lang="zh-CN" altLang="en-US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1       </a:t>
                </a:r>
                <a:r>
                  <a:rPr lang="en-US" altLang="zh-CN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W</a:t>
                </a:r>
                <a:endPara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6667" name="Line 75"/>
              <p:cNvSpPr/>
              <p:nvPr/>
            </p:nvSpPr>
            <p:spPr>
              <a:xfrm>
                <a:off x="2160" y="2448"/>
                <a:ext cx="190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</p:grpSp>
      </p:grpSp>
      <p:sp>
        <p:nvSpPr>
          <p:cNvPr id="624716" name="Text Box 76"/>
          <p:cNvSpPr txBox="1"/>
          <p:nvPr/>
        </p:nvSpPr>
        <p:spPr>
          <a:xfrm>
            <a:off x="6318250" y="2751138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000" dirty="0">
                <a:latin typeface="Times New Roman" panose="02020603050405020304" pitchFamily="18" charset="0"/>
              </a:rPr>
              <a:t>1</a:t>
            </a:r>
            <a:endParaRPr lang="zh-CN" altLang="en-US" sz="2000" dirty="0">
              <a:latin typeface="Times New Roman" panose="02020603050405020304" pitchFamily="18" charset="0"/>
            </a:endParaRPr>
          </a:p>
        </p:txBody>
      </p:sp>
      <p:sp>
        <p:nvSpPr>
          <p:cNvPr id="624717" name="Text Box 77"/>
          <p:cNvSpPr txBox="1"/>
          <p:nvPr/>
        </p:nvSpPr>
        <p:spPr>
          <a:xfrm>
            <a:off x="7004050" y="2751138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000" dirty="0">
                <a:latin typeface="Times New Roman" panose="02020603050405020304" pitchFamily="18" charset="0"/>
              </a:rPr>
              <a:t>1</a:t>
            </a:r>
            <a:endParaRPr lang="zh-CN" altLang="en-US" sz="2000" dirty="0">
              <a:latin typeface="Times New Roman" panose="02020603050405020304" pitchFamily="18" charset="0"/>
            </a:endParaRPr>
          </a:p>
        </p:txBody>
      </p:sp>
      <p:sp>
        <p:nvSpPr>
          <p:cNvPr id="624718" name="Text Box 78"/>
          <p:cNvSpPr txBox="1"/>
          <p:nvPr/>
        </p:nvSpPr>
        <p:spPr>
          <a:xfrm>
            <a:off x="7696200" y="2751138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000" dirty="0">
                <a:latin typeface="Times New Roman" panose="02020603050405020304" pitchFamily="18" charset="0"/>
              </a:rPr>
              <a:t>1</a:t>
            </a:r>
            <a:endParaRPr lang="zh-CN" altLang="en-US" sz="2000" dirty="0">
              <a:latin typeface="Times New Roman" panose="02020603050405020304" pitchFamily="18" charset="0"/>
            </a:endParaRPr>
          </a:p>
        </p:txBody>
      </p:sp>
      <p:sp>
        <p:nvSpPr>
          <p:cNvPr id="624719" name="Text Box 79"/>
          <p:cNvSpPr txBox="1"/>
          <p:nvPr/>
        </p:nvSpPr>
        <p:spPr>
          <a:xfrm>
            <a:off x="6318250" y="3208338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000" dirty="0">
                <a:latin typeface="Times New Roman" panose="02020603050405020304" pitchFamily="18" charset="0"/>
              </a:rPr>
              <a:t>1</a:t>
            </a:r>
            <a:endParaRPr lang="zh-CN" altLang="en-US" sz="2000" dirty="0">
              <a:latin typeface="Times New Roman" panose="02020603050405020304" pitchFamily="18" charset="0"/>
            </a:endParaRPr>
          </a:p>
        </p:txBody>
      </p:sp>
      <p:sp>
        <p:nvSpPr>
          <p:cNvPr id="624720" name="Text Box 80"/>
          <p:cNvSpPr txBox="1"/>
          <p:nvPr/>
        </p:nvSpPr>
        <p:spPr>
          <a:xfrm>
            <a:off x="7696200" y="3208338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000" dirty="0">
                <a:latin typeface="Times New Roman" panose="02020603050405020304" pitchFamily="18" charset="0"/>
              </a:rPr>
              <a:t>1</a:t>
            </a:r>
            <a:endParaRPr lang="zh-CN" altLang="en-US" sz="2000" dirty="0">
              <a:latin typeface="Times New Roman" panose="02020603050405020304" pitchFamily="18" charset="0"/>
            </a:endParaRPr>
          </a:p>
        </p:txBody>
      </p:sp>
      <p:sp>
        <p:nvSpPr>
          <p:cNvPr id="624721" name="Text Box 81"/>
          <p:cNvSpPr txBox="1"/>
          <p:nvPr/>
        </p:nvSpPr>
        <p:spPr>
          <a:xfrm>
            <a:off x="7004050" y="3605213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000" dirty="0">
                <a:latin typeface="Times New Roman" panose="02020603050405020304" pitchFamily="18" charset="0"/>
              </a:rPr>
              <a:t>1</a:t>
            </a:r>
            <a:endParaRPr lang="zh-CN" altLang="en-US" sz="2000" dirty="0">
              <a:latin typeface="Times New Roman" panose="02020603050405020304" pitchFamily="18" charset="0"/>
            </a:endParaRPr>
          </a:p>
        </p:txBody>
      </p:sp>
      <p:sp>
        <p:nvSpPr>
          <p:cNvPr id="624722" name="Text Box 82"/>
          <p:cNvSpPr txBox="1"/>
          <p:nvPr/>
        </p:nvSpPr>
        <p:spPr>
          <a:xfrm>
            <a:off x="6318250" y="4046538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000" dirty="0">
                <a:latin typeface="Times New Roman" panose="02020603050405020304" pitchFamily="18" charset="0"/>
              </a:rPr>
              <a:t>1</a:t>
            </a:r>
            <a:endParaRPr lang="zh-CN" altLang="en-US" sz="2000" dirty="0">
              <a:latin typeface="Times New Roman" panose="02020603050405020304" pitchFamily="18" charset="0"/>
            </a:endParaRPr>
          </a:p>
        </p:txBody>
      </p:sp>
      <p:sp>
        <p:nvSpPr>
          <p:cNvPr id="624723" name="Text Box 83"/>
          <p:cNvSpPr txBox="1"/>
          <p:nvPr/>
        </p:nvSpPr>
        <p:spPr>
          <a:xfrm>
            <a:off x="7696200" y="4046538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000" dirty="0">
                <a:latin typeface="Times New Roman" panose="02020603050405020304" pitchFamily="18" charset="0"/>
              </a:rPr>
              <a:t>1</a:t>
            </a:r>
            <a:endParaRPr lang="zh-CN" altLang="en-US" sz="2000" dirty="0">
              <a:latin typeface="Times New Roman" panose="02020603050405020304" pitchFamily="18" charset="0"/>
            </a:endParaRPr>
          </a:p>
        </p:txBody>
      </p:sp>
      <p:sp>
        <p:nvSpPr>
          <p:cNvPr id="624724" name="Text Box 84"/>
          <p:cNvSpPr txBox="1"/>
          <p:nvPr/>
        </p:nvSpPr>
        <p:spPr>
          <a:xfrm>
            <a:off x="7004050" y="4443413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000" dirty="0">
                <a:latin typeface="Times New Roman" panose="02020603050405020304" pitchFamily="18" charset="0"/>
              </a:rPr>
              <a:t>1</a:t>
            </a:r>
            <a:endParaRPr lang="zh-CN" altLang="en-US" sz="2000" dirty="0">
              <a:latin typeface="Times New Roman" panose="02020603050405020304" pitchFamily="18" charset="0"/>
            </a:endParaRPr>
          </a:p>
        </p:txBody>
      </p:sp>
      <p:sp>
        <p:nvSpPr>
          <p:cNvPr id="624725" name="Text Box 85"/>
          <p:cNvSpPr txBox="1"/>
          <p:nvPr/>
        </p:nvSpPr>
        <p:spPr>
          <a:xfrm>
            <a:off x="6318250" y="4884738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000" dirty="0">
                <a:latin typeface="Times New Roman" panose="02020603050405020304" pitchFamily="18" charset="0"/>
              </a:rPr>
              <a:t>1</a:t>
            </a:r>
            <a:endParaRPr lang="zh-CN" altLang="en-US" sz="2000" dirty="0">
              <a:latin typeface="Times New Roman" panose="02020603050405020304" pitchFamily="18" charset="0"/>
            </a:endParaRPr>
          </a:p>
        </p:txBody>
      </p:sp>
      <p:sp>
        <p:nvSpPr>
          <p:cNvPr id="624726" name="Text Box 86"/>
          <p:cNvSpPr txBox="1"/>
          <p:nvPr/>
        </p:nvSpPr>
        <p:spPr>
          <a:xfrm>
            <a:off x="7004050" y="5295900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000" dirty="0">
                <a:latin typeface="Times New Roman" panose="02020603050405020304" pitchFamily="18" charset="0"/>
              </a:rPr>
              <a:t>1</a:t>
            </a:r>
            <a:endParaRPr lang="zh-CN" altLang="en-US" sz="2000" dirty="0">
              <a:latin typeface="Times New Roman" panose="02020603050405020304" pitchFamily="18" charset="0"/>
            </a:endParaRPr>
          </a:p>
        </p:txBody>
      </p:sp>
      <p:sp>
        <p:nvSpPr>
          <p:cNvPr id="624727" name="Text Box 87"/>
          <p:cNvSpPr txBox="1"/>
          <p:nvPr/>
        </p:nvSpPr>
        <p:spPr>
          <a:xfrm>
            <a:off x="7696200" y="5662613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000" dirty="0">
                <a:latin typeface="Times New Roman" panose="02020603050405020304" pitchFamily="18" charset="0"/>
              </a:rPr>
              <a:t>1</a:t>
            </a:r>
            <a:endParaRPr lang="zh-CN" altLang="en-US" sz="2000" dirty="0">
              <a:latin typeface="Times New Roman" panose="02020603050405020304" pitchFamily="18" charset="0"/>
            </a:endParaRPr>
          </a:p>
        </p:txBody>
      </p:sp>
      <p:sp>
        <p:nvSpPr>
          <p:cNvPr id="624728" name="Text Box 88"/>
          <p:cNvSpPr txBox="1"/>
          <p:nvPr/>
        </p:nvSpPr>
        <p:spPr>
          <a:xfrm>
            <a:off x="4860925" y="6057900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000" dirty="0">
                <a:latin typeface="Times New Roman" panose="02020603050405020304" pitchFamily="18" charset="0"/>
              </a:rPr>
              <a:t>1</a:t>
            </a:r>
            <a:endParaRPr lang="zh-CN" altLang="en-US" sz="2000" dirty="0">
              <a:latin typeface="Times New Roman" panose="02020603050405020304" pitchFamily="18" charset="0"/>
            </a:endParaRPr>
          </a:p>
        </p:txBody>
      </p:sp>
      <p:sp>
        <p:nvSpPr>
          <p:cNvPr id="624729" name="Rectangle 89"/>
          <p:cNvSpPr>
            <a:spLocks noChangeArrowheads="1"/>
          </p:cNvSpPr>
          <p:nvPr/>
        </p:nvSpPr>
        <p:spPr bwMode="auto">
          <a:xfrm>
            <a:off x="7696200" y="152400"/>
            <a:ext cx="1447800" cy="838200"/>
          </a:xfrm>
          <a:prstGeom prst="rect">
            <a:avLst/>
          </a:prstGeom>
          <a:noFill/>
          <a:ln>
            <a:noFill/>
          </a:ln>
          <a:effectLst/>
        </p:spPr>
        <p:txBody>
          <a:bodyPr lIns="92075" tIns="46038" rIns="92075" bIns="46038" anchor="ctr"/>
          <a:lstStyle>
            <a:lvl1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10.1</a:t>
            </a:r>
            <a:endParaRPr kumimoji="1" lang="zh-CN" altLang="en-US" sz="4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643" name="AutoShape 91">
            <a:hlinkClick r:id="rId1" action="ppaction://hlinksldjump"/>
          </p:cNvPr>
          <p:cNvSpPr/>
          <p:nvPr/>
        </p:nvSpPr>
        <p:spPr>
          <a:xfrm>
            <a:off x="8589963" y="6516688"/>
            <a:ext cx="539750" cy="333375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endParaRPr lang="zh-CN" altLang="en-US" dirty="0">
              <a:latin typeface="等线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24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24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24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24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24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24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624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624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624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624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624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624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624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716" grpId="0"/>
      <p:bldP spid="624717" grpId="0"/>
      <p:bldP spid="624718" grpId="0"/>
      <p:bldP spid="624719" grpId="0"/>
      <p:bldP spid="624720" grpId="0"/>
      <p:bldP spid="624721" grpId="0"/>
      <p:bldP spid="624722" grpId="0"/>
      <p:bldP spid="624723" grpId="0"/>
      <p:bldP spid="624724" grpId="0"/>
      <p:bldP spid="624725" grpId="0"/>
      <p:bldP spid="624726" grpId="0"/>
      <p:bldP spid="624727" grpId="0"/>
      <p:bldP spid="62472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7650" name="Text Box 2"/>
          <p:cNvSpPr txBox="1"/>
          <p:nvPr/>
        </p:nvSpPr>
        <p:spPr>
          <a:xfrm>
            <a:off x="461963" y="571500"/>
            <a:ext cx="5338762" cy="1200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3600" dirty="0">
                <a:latin typeface="Times New Roman" panose="02020603050405020304" pitchFamily="18" charset="0"/>
              </a:rPr>
              <a:t>观察下面这个控制信号，都什么情况下发出</a:t>
            </a:r>
            <a:endParaRPr lang="zh-CN" altLang="en-US" sz="3600" dirty="0">
              <a:latin typeface="Times New Roman" panose="02020603050405020304" pitchFamily="18" charset="0"/>
            </a:endParaRPr>
          </a:p>
        </p:txBody>
      </p:sp>
      <p:grpSp>
        <p:nvGrpSpPr>
          <p:cNvPr id="625668" name="Group 4"/>
          <p:cNvGrpSpPr/>
          <p:nvPr/>
        </p:nvGrpSpPr>
        <p:grpSpPr>
          <a:xfrm>
            <a:off x="1619250" y="2420938"/>
            <a:ext cx="5013325" cy="457200"/>
            <a:chOff x="442" y="1097"/>
            <a:chExt cx="3158" cy="288"/>
          </a:xfrm>
        </p:grpSpPr>
        <p:sp>
          <p:nvSpPr>
            <p:cNvPr id="27654" name="Text Box 5"/>
            <p:cNvSpPr txBox="1"/>
            <p:nvPr/>
          </p:nvSpPr>
          <p:spPr>
            <a:xfrm>
              <a:off x="442" y="1097"/>
              <a:ext cx="315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/>
              <a:r>
                <a:rPr lang="en-US" altLang="zh-CN" sz="2400" dirty="0">
                  <a:latin typeface="Times New Roman" panose="02020603050405020304" pitchFamily="18" charset="0"/>
                </a:rPr>
                <a:t>M ( MAR )        MDR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27655" name="Line 6"/>
            <p:cNvSpPr/>
            <p:nvPr/>
          </p:nvSpPr>
          <p:spPr>
            <a:xfrm>
              <a:off x="1440" y="1248"/>
              <a:ext cx="336" cy="1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sp>
        <p:nvSpPr>
          <p:cNvPr id="625672" name="Rectangle 8"/>
          <p:cNvSpPr>
            <a:spLocks noChangeArrowheads="1"/>
          </p:cNvSpPr>
          <p:nvPr/>
        </p:nvSpPr>
        <p:spPr bwMode="auto">
          <a:xfrm>
            <a:off x="7696200" y="152400"/>
            <a:ext cx="1447800" cy="838200"/>
          </a:xfrm>
          <a:prstGeom prst="rect">
            <a:avLst/>
          </a:prstGeom>
          <a:noFill/>
          <a:ln>
            <a:noFill/>
          </a:ln>
          <a:effectLst/>
        </p:spPr>
        <p:txBody>
          <a:bodyPr lIns="92075" tIns="46038" rIns="92075" bIns="46038" anchor="ctr"/>
          <a:lstStyle>
            <a:lvl1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10.1</a:t>
            </a:r>
            <a:endParaRPr kumimoji="1" lang="zh-CN" altLang="en-US" sz="4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653" name="AutoShape 9">
            <a:hlinkClick r:id="rId1" action="ppaction://hlinksldjump"/>
          </p:cNvPr>
          <p:cNvSpPr/>
          <p:nvPr/>
        </p:nvSpPr>
        <p:spPr>
          <a:xfrm>
            <a:off x="8589963" y="6516688"/>
            <a:ext cx="539750" cy="333375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endParaRPr lang="zh-CN" altLang="en-US" dirty="0">
              <a:latin typeface="等线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25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2571750" y="3700463"/>
            <a:ext cx="6464300" cy="406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8675" name="Text Box 2"/>
          <p:cNvSpPr txBox="1"/>
          <p:nvPr/>
        </p:nvSpPr>
        <p:spPr>
          <a:xfrm>
            <a:off x="381000" y="304800"/>
            <a:ext cx="4772025" cy="6413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3600" dirty="0">
                <a:latin typeface="Times New Roman" panose="02020603050405020304" pitchFamily="18" charset="0"/>
              </a:rPr>
              <a:t>三、组合逻辑设计步骤</a:t>
            </a:r>
            <a:endParaRPr lang="zh-CN" altLang="en-US" sz="3600" dirty="0">
              <a:latin typeface="Times New Roman" panose="02020603050405020304" pitchFamily="18" charset="0"/>
            </a:endParaRPr>
          </a:p>
        </p:txBody>
      </p:sp>
      <p:sp>
        <p:nvSpPr>
          <p:cNvPr id="28676" name="Text Box 3"/>
          <p:cNvSpPr txBox="1"/>
          <p:nvPr/>
        </p:nvSpPr>
        <p:spPr>
          <a:xfrm>
            <a:off x="998538" y="1066800"/>
            <a:ext cx="3040062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</a:rPr>
              <a:t>1. 列出操作时间表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grpSp>
        <p:nvGrpSpPr>
          <p:cNvPr id="28677" name="Group 4"/>
          <p:cNvGrpSpPr/>
          <p:nvPr/>
        </p:nvGrpSpPr>
        <p:grpSpPr>
          <a:xfrm>
            <a:off x="457200" y="1905000"/>
            <a:ext cx="8458200" cy="4283075"/>
            <a:chOff x="288" y="1200"/>
            <a:chExt cx="5328" cy="2698"/>
          </a:xfrm>
        </p:grpSpPr>
        <p:sp>
          <p:nvSpPr>
            <p:cNvPr id="28732" name="Rectangle 5"/>
            <p:cNvSpPr/>
            <p:nvPr/>
          </p:nvSpPr>
          <p:spPr>
            <a:xfrm>
              <a:off x="1176" y="2841"/>
              <a:ext cx="444" cy="54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050" rIns="19050" anchor="ctr" anchorCtr="1"/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endPara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733" name="Rectangle 6"/>
            <p:cNvSpPr/>
            <p:nvPr/>
          </p:nvSpPr>
          <p:spPr>
            <a:xfrm>
              <a:off x="742" y="2841"/>
              <a:ext cx="434" cy="1038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050" rIns="19050" anchor="ctr" anchorCtr="1"/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en-US" altLang="zh-CN" sz="2000" i="1" dirty="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T</a:t>
              </a:r>
              <a:r>
                <a:rPr lang="en-US" altLang="zh-CN" sz="2000" baseline="-25000" dirty="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zh-CN" altLang="en-US" sz="2000" baseline="-25000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734" name="Rectangle 7"/>
            <p:cNvSpPr/>
            <p:nvPr/>
          </p:nvSpPr>
          <p:spPr>
            <a:xfrm>
              <a:off x="742" y="2331"/>
              <a:ext cx="434" cy="51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050" rIns="19050" anchor="ctr" anchorCtr="1"/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en-US" altLang="zh-CN" sz="2000" i="1" dirty="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T</a:t>
              </a:r>
              <a:r>
                <a:rPr lang="en-US" altLang="zh-CN" sz="2000" baseline="-25000" dirty="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zh-CN" altLang="en-US" sz="2000" baseline="-25000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735" name="Rectangle 8"/>
            <p:cNvSpPr/>
            <p:nvPr/>
          </p:nvSpPr>
          <p:spPr>
            <a:xfrm>
              <a:off x="742" y="1833"/>
              <a:ext cx="434" cy="498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050" rIns="19050" anchor="ctr" anchorCtr="1"/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en-US" altLang="zh-CN" sz="2000" i="1" dirty="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T</a:t>
              </a:r>
              <a:r>
                <a:rPr lang="en-US" altLang="zh-CN" sz="2000" baseline="-25000" dirty="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lang="en-US" altLang="zh-CN" sz="2000" baseline="-25000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736" name="Rectangle 9"/>
            <p:cNvSpPr/>
            <p:nvPr/>
          </p:nvSpPr>
          <p:spPr>
            <a:xfrm>
              <a:off x="288" y="1833"/>
              <a:ext cx="454" cy="204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050" rIns="19050" anchor="ctr" anchorCtr="1"/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FE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取指 </a:t>
              </a:r>
              <a:endPara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737" name="Rectangle 10"/>
            <p:cNvSpPr/>
            <p:nvPr/>
          </p:nvSpPr>
          <p:spPr>
            <a:xfrm>
              <a:off x="5172" y="1200"/>
              <a:ext cx="444" cy="633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050" rIns="19050" anchor="ctr" anchorCtr="1"/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JMP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738" name="Rectangle 11"/>
            <p:cNvSpPr/>
            <p:nvPr/>
          </p:nvSpPr>
          <p:spPr>
            <a:xfrm>
              <a:off x="4728" y="1200"/>
              <a:ext cx="444" cy="633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050" rIns="19050" anchor="ctr" anchorCtr="1"/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LDA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739" name="Rectangle 12"/>
            <p:cNvSpPr/>
            <p:nvPr/>
          </p:nvSpPr>
          <p:spPr>
            <a:xfrm>
              <a:off x="4284" y="1200"/>
              <a:ext cx="444" cy="633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050" rIns="19050" anchor="ctr" anchorCtr="1"/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STA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740" name="Rectangle 13"/>
            <p:cNvSpPr/>
            <p:nvPr/>
          </p:nvSpPr>
          <p:spPr>
            <a:xfrm>
              <a:off x="3840" y="1200"/>
              <a:ext cx="444" cy="633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050" rIns="19050" anchor="ctr" anchorCtr="1"/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ADD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741" name="Rectangle 14"/>
            <p:cNvSpPr/>
            <p:nvPr/>
          </p:nvSpPr>
          <p:spPr>
            <a:xfrm>
              <a:off x="3396" y="1200"/>
              <a:ext cx="444" cy="633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050" rIns="19050" anchor="ctr" anchorCtr="1"/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COM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742" name="Rectangle 15"/>
            <p:cNvSpPr/>
            <p:nvPr/>
          </p:nvSpPr>
          <p:spPr>
            <a:xfrm>
              <a:off x="2952" y="1200"/>
              <a:ext cx="444" cy="633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050" rIns="19050" anchor="ctr" anchorCtr="1"/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CLA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743" name="Rectangle 16"/>
            <p:cNvSpPr/>
            <p:nvPr/>
          </p:nvSpPr>
          <p:spPr>
            <a:xfrm>
              <a:off x="1620" y="1200"/>
              <a:ext cx="1332" cy="633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050" rIns="19050" anchor="ctr" anchorCtr="1"/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微操作命令信号</a:t>
              </a:r>
              <a:endPara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744" name="Rectangle 17"/>
            <p:cNvSpPr/>
            <p:nvPr/>
          </p:nvSpPr>
          <p:spPr>
            <a:xfrm>
              <a:off x="1176" y="1200"/>
              <a:ext cx="444" cy="633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050" rIns="19050" anchor="ctr" anchorCtr="1"/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状态条件</a:t>
              </a:r>
              <a:endPara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745" name="Rectangle 18"/>
            <p:cNvSpPr/>
            <p:nvPr/>
          </p:nvSpPr>
          <p:spPr>
            <a:xfrm>
              <a:off x="742" y="1200"/>
              <a:ext cx="434" cy="633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050" rIns="19050" anchor="ctr" anchorCtr="1"/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节拍</a:t>
              </a:r>
              <a:endPara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8746" name="Rectangle 19"/>
            <p:cNvSpPr/>
            <p:nvPr/>
          </p:nvSpPr>
          <p:spPr>
            <a:xfrm>
              <a:off x="288" y="1200"/>
              <a:ext cx="454" cy="633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050" rIns="19050" anchor="ctr" anchorCtr="1"/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工作周期标记</a:t>
              </a:r>
              <a:endPara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28747" name="Group 20"/>
            <p:cNvGrpSpPr/>
            <p:nvPr/>
          </p:nvGrpSpPr>
          <p:grpSpPr>
            <a:xfrm>
              <a:off x="288" y="1200"/>
              <a:ext cx="5328" cy="2679"/>
              <a:chOff x="288" y="1440"/>
              <a:chExt cx="5328" cy="2679"/>
            </a:xfrm>
          </p:grpSpPr>
          <p:sp>
            <p:nvSpPr>
              <p:cNvPr id="28785" name="Line 21"/>
              <p:cNvSpPr/>
              <p:nvPr/>
            </p:nvSpPr>
            <p:spPr>
              <a:xfrm>
                <a:off x="3840" y="1440"/>
                <a:ext cx="444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grpSp>
            <p:nvGrpSpPr>
              <p:cNvPr id="28786" name="Group 22"/>
              <p:cNvGrpSpPr/>
              <p:nvPr/>
            </p:nvGrpSpPr>
            <p:grpSpPr>
              <a:xfrm>
                <a:off x="288" y="1440"/>
                <a:ext cx="5328" cy="2679"/>
                <a:chOff x="288" y="1440"/>
                <a:chExt cx="5328" cy="2679"/>
              </a:xfrm>
            </p:grpSpPr>
            <p:sp>
              <p:nvSpPr>
                <p:cNvPr id="28787" name="Line 23"/>
                <p:cNvSpPr/>
                <p:nvPr/>
              </p:nvSpPr>
              <p:spPr>
                <a:xfrm>
                  <a:off x="288" y="2073"/>
                  <a:ext cx="5328" cy="0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8788" name="Line 24"/>
                <p:cNvSpPr/>
                <p:nvPr/>
              </p:nvSpPr>
              <p:spPr>
                <a:xfrm>
                  <a:off x="288" y="4119"/>
                  <a:ext cx="5328" cy="0"/>
                </a:xfrm>
                <a:prstGeom prst="line">
                  <a:avLst/>
                </a:prstGeom>
                <a:ln w="28575" cap="sq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8789" name="Line 25"/>
                <p:cNvSpPr/>
                <p:nvPr/>
              </p:nvSpPr>
              <p:spPr>
                <a:xfrm>
                  <a:off x="288" y="1440"/>
                  <a:ext cx="0" cy="2679"/>
                </a:xfrm>
                <a:prstGeom prst="line">
                  <a:avLst/>
                </a:prstGeom>
                <a:ln w="28575" cap="sq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8790" name="Line 26"/>
                <p:cNvSpPr/>
                <p:nvPr/>
              </p:nvSpPr>
              <p:spPr>
                <a:xfrm>
                  <a:off x="742" y="1440"/>
                  <a:ext cx="0" cy="2679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8791" name="Line 27"/>
                <p:cNvSpPr/>
                <p:nvPr/>
              </p:nvSpPr>
              <p:spPr>
                <a:xfrm>
                  <a:off x="1176" y="1440"/>
                  <a:ext cx="0" cy="2679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8792" name="Line 28"/>
                <p:cNvSpPr/>
                <p:nvPr/>
              </p:nvSpPr>
              <p:spPr>
                <a:xfrm>
                  <a:off x="1620" y="1440"/>
                  <a:ext cx="0" cy="2679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8793" name="Line 29"/>
                <p:cNvSpPr/>
                <p:nvPr/>
              </p:nvSpPr>
              <p:spPr>
                <a:xfrm>
                  <a:off x="2952" y="1440"/>
                  <a:ext cx="0" cy="2679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8794" name="Line 30"/>
                <p:cNvSpPr/>
                <p:nvPr/>
              </p:nvSpPr>
              <p:spPr>
                <a:xfrm>
                  <a:off x="3396" y="1440"/>
                  <a:ext cx="0" cy="2679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8795" name="Line 31"/>
                <p:cNvSpPr/>
                <p:nvPr/>
              </p:nvSpPr>
              <p:spPr>
                <a:xfrm>
                  <a:off x="3840" y="1440"/>
                  <a:ext cx="0" cy="2679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8796" name="Line 32"/>
                <p:cNvSpPr/>
                <p:nvPr/>
              </p:nvSpPr>
              <p:spPr>
                <a:xfrm>
                  <a:off x="4284" y="1440"/>
                  <a:ext cx="0" cy="2679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8797" name="Line 33"/>
                <p:cNvSpPr/>
                <p:nvPr/>
              </p:nvSpPr>
              <p:spPr>
                <a:xfrm>
                  <a:off x="4728" y="1440"/>
                  <a:ext cx="0" cy="2679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8798" name="Line 34"/>
                <p:cNvSpPr/>
                <p:nvPr/>
              </p:nvSpPr>
              <p:spPr>
                <a:xfrm>
                  <a:off x="5172" y="1440"/>
                  <a:ext cx="0" cy="2679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28799" name="Line 35"/>
                <p:cNvSpPr/>
                <p:nvPr/>
              </p:nvSpPr>
              <p:spPr>
                <a:xfrm>
                  <a:off x="5616" y="1440"/>
                  <a:ext cx="0" cy="2679"/>
                </a:xfrm>
                <a:prstGeom prst="line">
                  <a:avLst/>
                </a:prstGeom>
                <a:ln w="28575" cap="sq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grpSp>
              <p:nvGrpSpPr>
                <p:cNvPr id="28800" name="Group 36"/>
                <p:cNvGrpSpPr/>
                <p:nvPr/>
              </p:nvGrpSpPr>
              <p:grpSpPr>
                <a:xfrm>
                  <a:off x="288" y="1440"/>
                  <a:ext cx="5328" cy="0"/>
                  <a:chOff x="288" y="1440"/>
                  <a:chExt cx="5328" cy="0"/>
                </a:xfrm>
              </p:grpSpPr>
              <p:sp>
                <p:nvSpPr>
                  <p:cNvPr id="28801" name="Line 37"/>
                  <p:cNvSpPr/>
                  <p:nvPr/>
                </p:nvSpPr>
                <p:spPr>
                  <a:xfrm>
                    <a:off x="288" y="1440"/>
                    <a:ext cx="3552" cy="0"/>
                  </a:xfrm>
                  <a:prstGeom prst="line">
                    <a:avLst/>
                  </a:prstGeom>
                  <a:ln w="28575" cap="sq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28802" name="Line 38"/>
                  <p:cNvSpPr/>
                  <p:nvPr/>
                </p:nvSpPr>
                <p:spPr>
                  <a:xfrm>
                    <a:off x="4284" y="1440"/>
                    <a:ext cx="1332" cy="0"/>
                  </a:xfrm>
                  <a:prstGeom prst="line">
                    <a:avLst/>
                  </a:prstGeom>
                  <a:ln w="28575" cap="sq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</p:grpSp>
        </p:grpSp>
        <p:sp>
          <p:nvSpPr>
            <p:cNvPr id="28748" name="Line 39"/>
            <p:cNvSpPr/>
            <p:nvPr/>
          </p:nvSpPr>
          <p:spPr>
            <a:xfrm>
              <a:off x="1620" y="2082"/>
              <a:ext cx="399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749" name="Line 40"/>
            <p:cNvSpPr/>
            <p:nvPr/>
          </p:nvSpPr>
          <p:spPr>
            <a:xfrm>
              <a:off x="1620" y="2592"/>
              <a:ext cx="399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750" name="Line 41"/>
            <p:cNvSpPr/>
            <p:nvPr/>
          </p:nvSpPr>
          <p:spPr>
            <a:xfrm>
              <a:off x="1620" y="3120"/>
              <a:ext cx="399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751" name="Line 42"/>
            <p:cNvSpPr/>
            <p:nvPr/>
          </p:nvSpPr>
          <p:spPr>
            <a:xfrm>
              <a:off x="1176" y="3381"/>
              <a:ext cx="4440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752" name="Line 43"/>
            <p:cNvSpPr/>
            <p:nvPr/>
          </p:nvSpPr>
          <p:spPr>
            <a:xfrm>
              <a:off x="742" y="2841"/>
              <a:ext cx="4874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8753" name="Line 44"/>
            <p:cNvSpPr/>
            <p:nvPr/>
          </p:nvSpPr>
          <p:spPr>
            <a:xfrm>
              <a:off x="742" y="2331"/>
              <a:ext cx="4874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28754" name="Group 45"/>
            <p:cNvGrpSpPr/>
            <p:nvPr/>
          </p:nvGrpSpPr>
          <p:grpSpPr>
            <a:xfrm>
              <a:off x="1620" y="1833"/>
              <a:ext cx="1332" cy="249"/>
              <a:chOff x="1620" y="2073"/>
              <a:chExt cx="1332" cy="249"/>
            </a:xfrm>
          </p:grpSpPr>
          <p:sp>
            <p:nvSpPr>
              <p:cNvPr id="28783" name="Rectangle 46"/>
              <p:cNvSpPr/>
              <p:nvPr/>
            </p:nvSpPr>
            <p:spPr>
              <a:xfrm>
                <a:off x="1620" y="2073"/>
                <a:ext cx="1332" cy="24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19050" rIns="19050" anchor="ctr" anchorCtr="1"/>
              <a:p>
                <a:pPr eaLnBrk="1" hangingPunct="1">
                  <a:buClr>
                    <a:schemeClr val="accent2"/>
                  </a:buClr>
                  <a:buSzPct val="80000"/>
                  <a:buFont typeface="Wingdings" panose="05000000000000000000" pitchFamily="2" charset="2"/>
                </a:pPr>
                <a:r>
                  <a:rPr lang="en-US" altLang="zh-CN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PC      MAR</a:t>
                </a:r>
                <a:endPara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784" name="Line 47"/>
              <p:cNvSpPr/>
              <p:nvPr/>
            </p:nvSpPr>
            <p:spPr>
              <a:xfrm>
                <a:off x="2112" y="2208"/>
                <a:ext cx="190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</p:grpSp>
        <p:grpSp>
          <p:nvGrpSpPr>
            <p:cNvPr id="28755" name="Group 48"/>
            <p:cNvGrpSpPr/>
            <p:nvPr/>
          </p:nvGrpSpPr>
          <p:grpSpPr>
            <a:xfrm>
              <a:off x="1620" y="2082"/>
              <a:ext cx="1332" cy="249"/>
              <a:chOff x="1620" y="2322"/>
              <a:chExt cx="1332" cy="249"/>
            </a:xfrm>
          </p:grpSpPr>
          <p:sp>
            <p:nvSpPr>
              <p:cNvPr id="28781" name="Rectangle 49"/>
              <p:cNvSpPr/>
              <p:nvPr/>
            </p:nvSpPr>
            <p:spPr>
              <a:xfrm>
                <a:off x="1620" y="2322"/>
                <a:ext cx="1332" cy="24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19050" rIns="19050" anchor="ctr" anchorCtr="1"/>
              <a:p>
                <a:pPr eaLnBrk="1" hangingPunct="1">
                  <a:buClr>
                    <a:schemeClr val="accent2"/>
                  </a:buClr>
                  <a:buSzPct val="80000"/>
                  <a:buFont typeface="Wingdings" panose="05000000000000000000" pitchFamily="2" charset="2"/>
                </a:pPr>
                <a:r>
                  <a:rPr lang="zh-CN" altLang="en-US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1      </a:t>
                </a:r>
                <a:r>
                  <a:rPr lang="en-US" altLang="zh-CN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R</a:t>
                </a:r>
                <a:endPara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782" name="Line 50"/>
              <p:cNvSpPr/>
              <p:nvPr/>
            </p:nvSpPr>
            <p:spPr>
              <a:xfrm>
                <a:off x="2160" y="2448"/>
                <a:ext cx="190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</p:grpSp>
        <p:grpSp>
          <p:nvGrpSpPr>
            <p:cNvPr id="28756" name="Group 51"/>
            <p:cNvGrpSpPr/>
            <p:nvPr/>
          </p:nvGrpSpPr>
          <p:grpSpPr>
            <a:xfrm>
              <a:off x="1620" y="2331"/>
              <a:ext cx="1332" cy="261"/>
              <a:chOff x="1620" y="2571"/>
              <a:chExt cx="1332" cy="261"/>
            </a:xfrm>
          </p:grpSpPr>
          <p:sp>
            <p:nvSpPr>
              <p:cNvPr id="28779" name="Rectangle 52"/>
              <p:cNvSpPr/>
              <p:nvPr/>
            </p:nvSpPr>
            <p:spPr>
              <a:xfrm>
                <a:off x="1620" y="2571"/>
                <a:ext cx="1332" cy="26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19050" rIns="19050" anchor="ctr" anchorCtr="1"/>
              <a:p>
                <a:pPr eaLnBrk="1" hangingPunct="1">
                  <a:buClr>
                    <a:schemeClr val="accent2"/>
                  </a:buClr>
                  <a:buSzPct val="80000"/>
                  <a:buFont typeface="Wingdings" panose="05000000000000000000" pitchFamily="2" charset="2"/>
                </a:pPr>
                <a:r>
                  <a:rPr lang="en-US" altLang="zh-CN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M(MAR)      MDR    </a:t>
                </a:r>
                <a:endPara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780" name="Line 53"/>
              <p:cNvSpPr/>
              <p:nvPr/>
            </p:nvSpPr>
            <p:spPr>
              <a:xfrm>
                <a:off x="2304" y="2713"/>
                <a:ext cx="190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</p:grpSp>
        <p:grpSp>
          <p:nvGrpSpPr>
            <p:cNvPr id="28757" name="Group 54"/>
            <p:cNvGrpSpPr/>
            <p:nvPr/>
          </p:nvGrpSpPr>
          <p:grpSpPr>
            <a:xfrm>
              <a:off x="1620" y="2592"/>
              <a:ext cx="1332" cy="249"/>
              <a:chOff x="1620" y="2832"/>
              <a:chExt cx="1332" cy="249"/>
            </a:xfrm>
          </p:grpSpPr>
          <p:sp>
            <p:nvSpPr>
              <p:cNvPr id="28777" name="Rectangle 55"/>
              <p:cNvSpPr/>
              <p:nvPr/>
            </p:nvSpPr>
            <p:spPr>
              <a:xfrm>
                <a:off x="1620" y="2832"/>
                <a:ext cx="1332" cy="24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19050" rIns="19050" anchor="ctr" anchorCtr="1"/>
              <a:p>
                <a:pPr eaLnBrk="1" hangingPunct="1">
                  <a:buClr>
                    <a:schemeClr val="accent2"/>
                  </a:buClr>
                  <a:buSzPct val="80000"/>
                  <a:buFont typeface="Wingdings" panose="05000000000000000000" pitchFamily="2" charset="2"/>
                </a:pPr>
                <a:r>
                  <a:rPr lang="zh-CN" altLang="en-US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( </a:t>
                </a:r>
                <a:r>
                  <a:rPr lang="en-US" altLang="zh-CN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PC ) +1      PC</a:t>
                </a:r>
                <a:endPara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778" name="Line 56"/>
              <p:cNvSpPr/>
              <p:nvPr/>
            </p:nvSpPr>
            <p:spPr>
              <a:xfrm>
                <a:off x="2354" y="2951"/>
                <a:ext cx="190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</p:grpSp>
        <p:grpSp>
          <p:nvGrpSpPr>
            <p:cNvPr id="28758" name="Group 57"/>
            <p:cNvGrpSpPr/>
            <p:nvPr/>
          </p:nvGrpSpPr>
          <p:grpSpPr>
            <a:xfrm>
              <a:off x="1620" y="2841"/>
              <a:ext cx="1332" cy="291"/>
              <a:chOff x="1620" y="3081"/>
              <a:chExt cx="1332" cy="291"/>
            </a:xfrm>
          </p:grpSpPr>
          <p:sp>
            <p:nvSpPr>
              <p:cNvPr id="28775" name="Rectangle 58"/>
              <p:cNvSpPr/>
              <p:nvPr/>
            </p:nvSpPr>
            <p:spPr>
              <a:xfrm>
                <a:off x="1620" y="3081"/>
                <a:ext cx="1332" cy="29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19050" rIns="19050" anchor="ctr" anchorCtr="1"/>
              <a:p>
                <a:pPr eaLnBrk="1" hangingPunct="1">
                  <a:buClr>
                    <a:schemeClr val="accent2"/>
                  </a:buClr>
                  <a:buSzPct val="80000"/>
                  <a:buFont typeface="Wingdings" panose="05000000000000000000" pitchFamily="2" charset="2"/>
                </a:pPr>
                <a:r>
                  <a:rPr lang="en-US" altLang="zh-CN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MDR      IR</a:t>
                </a:r>
                <a:endPara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776" name="Line 59"/>
              <p:cNvSpPr/>
              <p:nvPr/>
            </p:nvSpPr>
            <p:spPr>
              <a:xfrm>
                <a:off x="2278" y="3239"/>
                <a:ext cx="190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</p:grpSp>
        <p:grpSp>
          <p:nvGrpSpPr>
            <p:cNvPr id="28759" name="Group 60"/>
            <p:cNvGrpSpPr/>
            <p:nvPr/>
          </p:nvGrpSpPr>
          <p:grpSpPr>
            <a:xfrm>
              <a:off x="1620" y="3132"/>
              <a:ext cx="1332" cy="249"/>
              <a:chOff x="1620" y="3372"/>
              <a:chExt cx="1332" cy="249"/>
            </a:xfrm>
          </p:grpSpPr>
          <p:sp>
            <p:nvSpPr>
              <p:cNvPr id="28773" name="Rectangle 61"/>
              <p:cNvSpPr/>
              <p:nvPr/>
            </p:nvSpPr>
            <p:spPr>
              <a:xfrm>
                <a:off x="1620" y="3372"/>
                <a:ext cx="1332" cy="24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19050" rIns="19050" anchor="ctr" anchorCtr="1"/>
              <a:p>
                <a:pPr eaLnBrk="1" hangingPunct="1">
                  <a:buClr>
                    <a:schemeClr val="accent2"/>
                  </a:buClr>
                  <a:buSzPct val="80000"/>
                  <a:buFont typeface="Wingdings" panose="05000000000000000000" pitchFamily="2" charset="2"/>
                </a:pPr>
                <a:r>
                  <a:rPr lang="en-US" altLang="zh-CN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OP( IR )      ID</a:t>
                </a:r>
                <a:endPara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774" name="Line 62"/>
              <p:cNvSpPr/>
              <p:nvPr/>
            </p:nvSpPr>
            <p:spPr>
              <a:xfrm>
                <a:off x="2375" y="3504"/>
                <a:ext cx="190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</p:grpSp>
        <p:grpSp>
          <p:nvGrpSpPr>
            <p:cNvPr id="28760" name="Group 63"/>
            <p:cNvGrpSpPr/>
            <p:nvPr/>
          </p:nvGrpSpPr>
          <p:grpSpPr>
            <a:xfrm>
              <a:off x="1620" y="3381"/>
              <a:ext cx="1332" cy="249"/>
              <a:chOff x="1620" y="3621"/>
              <a:chExt cx="1332" cy="249"/>
            </a:xfrm>
          </p:grpSpPr>
          <p:sp>
            <p:nvSpPr>
              <p:cNvPr id="28771" name="Rectangle 64"/>
              <p:cNvSpPr/>
              <p:nvPr/>
            </p:nvSpPr>
            <p:spPr>
              <a:xfrm>
                <a:off x="1620" y="3621"/>
                <a:ext cx="1332" cy="24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19050" rIns="19050" anchor="ctr" anchorCtr="1"/>
              <a:p>
                <a:pPr eaLnBrk="1" hangingPunct="1">
                  <a:buClr>
                    <a:schemeClr val="accent2"/>
                  </a:buClr>
                  <a:buSzPct val="80000"/>
                  <a:buFont typeface="Wingdings" panose="05000000000000000000" pitchFamily="2" charset="2"/>
                </a:pPr>
                <a:r>
                  <a:rPr lang="zh-CN" altLang="en-US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1      </a:t>
                </a:r>
                <a:r>
                  <a:rPr lang="en-US" altLang="zh-CN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IND</a:t>
                </a:r>
                <a:endPara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772" name="Line 65"/>
              <p:cNvSpPr/>
              <p:nvPr/>
            </p:nvSpPr>
            <p:spPr>
              <a:xfrm>
                <a:off x="2064" y="3744"/>
                <a:ext cx="190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</p:grpSp>
        <p:grpSp>
          <p:nvGrpSpPr>
            <p:cNvPr id="28761" name="Group 66"/>
            <p:cNvGrpSpPr/>
            <p:nvPr/>
          </p:nvGrpSpPr>
          <p:grpSpPr>
            <a:xfrm>
              <a:off x="1620" y="3630"/>
              <a:ext cx="1332" cy="249"/>
              <a:chOff x="1620" y="3870"/>
              <a:chExt cx="1332" cy="249"/>
            </a:xfrm>
          </p:grpSpPr>
          <p:sp>
            <p:nvSpPr>
              <p:cNvPr id="28769" name="Rectangle 67"/>
              <p:cNvSpPr/>
              <p:nvPr/>
            </p:nvSpPr>
            <p:spPr>
              <a:xfrm>
                <a:off x="1620" y="3870"/>
                <a:ext cx="1332" cy="24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19050" rIns="19050" anchor="ctr" anchorCtr="1"/>
              <a:p>
                <a:pPr eaLnBrk="1" hangingPunct="1">
                  <a:buClr>
                    <a:schemeClr val="accent2"/>
                  </a:buClr>
                  <a:buSzPct val="80000"/>
                  <a:buFont typeface="Wingdings" panose="05000000000000000000" pitchFamily="2" charset="2"/>
                </a:pPr>
                <a:r>
                  <a:rPr lang="zh-CN" altLang="en-US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1      </a:t>
                </a:r>
                <a:r>
                  <a:rPr lang="en-US" altLang="zh-CN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EX</a:t>
                </a:r>
                <a:endPara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770" name="Line 68"/>
              <p:cNvSpPr/>
              <p:nvPr/>
            </p:nvSpPr>
            <p:spPr>
              <a:xfrm>
                <a:off x="2112" y="4005"/>
                <a:ext cx="190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</p:grpSp>
        <p:grpSp>
          <p:nvGrpSpPr>
            <p:cNvPr id="28762" name="Group 69"/>
            <p:cNvGrpSpPr/>
            <p:nvPr/>
          </p:nvGrpSpPr>
          <p:grpSpPr>
            <a:xfrm>
              <a:off x="1176" y="3630"/>
              <a:ext cx="4440" cy="0"/>
              <a:chOff x="1176" y="3870"/>
              <a:chExt cx="4440" cy="0"/>
            </a:xfrm>
          </p:grpSpPr>
          <p:sp>
            <p:nvSpPr>
              <p:cNvPr id="28767" name="Line 70"/>
              <p:cNvSpPr/>
              <p:nvPr/>
            </p:nvSpPr>
            <p:spPr>
              <a:xfrm>
                <a:off x="1620" y="3870"/>
                <a:ext cx="3996" cy="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8768" name="Line 71"/>
              <p:cNvSpPr/>
              <p:nvPr/>
            </p:nvSpPr>
            <p:spPr>
              <a:xfrm flipH="1">
                <a:off x="1176" y="3870"/>
                <a:ext cx="45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28763" name="Text Box 72"/>
            <p:cNvSpPr txBox="1"/>
            <p:nvPr/>
          </p:nvSpPr>
          <p:spPr>
            <a:xfrm>
              <a:off x="1310" y="3398"/>
              <a:ext cx="17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dirty="0">
                  <a:latin typeface="Times New Roman" panose="02020603050405020304" pitchFamily="18" charset="0"/>
                </a:rPr>
                <a:t>I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28764" name="Group 73"/>
            <p:cNvGrpSpPr/>
            <p:nvPr/>
          </p:nvGrpSpPr>
          <p:grpSpPr>
            <a:xfrm>
              <a:off x="1310" y="3648"/>
              <a:ext cx="178" cy="250"/>
              <a:chOff x="1310" y="3888"/>
              <a:chExt cx="178" cy="250"/>
            </a:xfrm>
          </p:grpSpPr>
          <p:sp>
            <p:nvSpPr>
              <p:cNvPr id="28765" name="Text Box 74"/>
              <p:cNvSpPr txBox="1"/>
              <p:nvPr/>
            </p:nvSpPr>
            <p:spPr>
              <a:xfrm>
                <a:off x="1310" y="3888"/>
                <a:ext cx="178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sz="2000" dirty="0">
                    <a:latin typeface="Times New Roman" panose="02020603050405020304" pitchFamily="18" charset="0"/>
                  </a:rPr>
                  <a:t>I</a:t>
                </a:r>
                <a:endParaRPr lang="en-US" altLang="zh-CN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766" name="Freeform 75"/>
              <p:cNvSpPr/>
              <p:nvPr/>
            </p:nvSpPr>
            <p:spPr>
              <a:xfrm>
                <a:off x="1362" y="3933"/>
                <a:ext cx="78" cy="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78" y="4"/>
                  </a:cxn>
                </a:cxnLst>
                <a:pathLst>
                  <a:path w="78" h="4">
                    <a:moveTo>
                      <a:pt x="0" y="0"/>
                    </a:moveTo>
                    <a:lnTo>
                      <a:pt x="78" y="4"/>
                    </a:lnTo>
                  </a:path>
                </a:pathLst>
              </a:custGeom>
              <a:noFill/>
              <a:ln w="2857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</p:grpSp>
      <p:sp>
        <p:nvSpPr>
          <p:cNvPr id="622668" name="Text Box 76"/>
          <p:cNvSpPr txBox="1"/>
          <p:nvPr/>
        </p:nvSpPr>
        <p:spPr>
          <a:xfrm>
            <a:off x="4860925" y="2955925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000" dirty="0">
                <a:latin typeface="Times New Roman" panose="02020603050405020304" pitchFamily="18" charset="0"/>
              </a:rPr>
              <a:t>1</a:t>
            </a:r>
            <a:endParaRPr lang="zh-CN" altLang="en-US" sz="2000" dirty="0">
              <a:latin typeface="Times New Roman" panose="02020603050405020304" pitchFamily="18" charset="0"/>
            </a:endParaRPr>
          </a:p>
        </p:txBody>
      </p:sp>
      <p:sp>
        <p:nvSpPr>
          <p:cNvPr id="622669" name="Text Box 77"/>
          <p:cNvSpPr txBox="1"/>
          <p:nvPr/>
        </p:nvSpPr>
        <p:spPr>
          <a:xfrm>
            <a:off x="5546725" y="2955925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000" dirty="0">
                <a:latin typeface="Times New Roman" panose="02020603050405020304" pitchFamily="18" charset="0"/>
              </a:rPr>
              <a:t>1</a:t>
            </a:r>
            <a:endParaRPr lang="zh-CN" altLang="en-US" sz="2000" dirty="0">
              <a:latin typeface="Times New Roman" panose="02020603050405020304" pitchFamily="18" charset="0"/>
            </a:endParaRPr>
          </a:p>
        </p:txBody>
      </p:sp>
      <p:sp>
        <p:nvSpPr>
          <p:cNvPr id="622670" name="Text Box 78"/>
          <p:cNvSpPr txBox="1"/>
          <p:nvPr/>
        </p:nvSpPr>
        <p:spPr>
          <a:xfrm>
            <a:off x="6318250" y="2955925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000" dirty="0">
                <a:latin typeface="Times New Roman" panose="02020603050405020304" pitchFamily="18" charset="0"/>
              </a:rPr>
              <a:t>1</a:t>
            </a:r>
            <a:endParaRPr lang="zh-CN" altLang="en-US" sz="2000" dirty="0">
              <a:latin typeface="Times New Roman" panose="02020603050405020304" pitchFamily="18" charset="0"/>
            </a:endParaRPr>
          </a:p>
        </p:txBody>
      </p:sp>
      <p:sp>
        <p:nvSpPr>
          <p:cNvPr id="622671" name="Text Box 79"/>
          <p:cNvSpPr txBox="1"/>
          <p:nvPr/>
        </p:nvSpPr>
        <p:spPr>
          <a:xfrm>
            <a:off x="7004050" y="2955925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000" dirty="0">
                <a:latin typeface="Times New Roman" panose="02020603050405020304" pitchFamily="18" charset="0"/>
              </a:rPr>
              <a:t>1</a:t>
            </a:r>
            <a:endParaRPr lang="zh-CN" altLang="en-US" sz="2000" dirty="0">
              <a:latin typeface="Times New Roman" panose="02020603050405020304" pitchFamily="18" charset="0"/>
            </a:endParaRPr>
          </a:p>
        </p:txBody>
      </p:sp>
      <p:sp>
        <p:nvSpPr>
          <p:cNvPr id="622672" name="Text Box 80"/>
          <p:cNvSpPr txBox="1"/>
          <p:nvPr/>
        </p:nvSpPr>
        <p:spPr>
          <a:xfrm>
            <a:off x="7680325" y="2955925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000" dirty="0">
                <a:latin typeface="Times New Roman" panose="02020603050405020304" pitchFamily="18" charset="0"/>
              </a:rPr>
              <a:t>1</a:t>
            </a:r>
            <a:endParaRPr lang="zh-CN" altLang="en-US" sz="2000" dirty="0">
              <a:latin typeface="Times New Roman" panose="02020603050405020304" pitchFamily="18" charset="0"/>
            </a:endParaRPr>
          </a:p>
        </p:txBody>
      </p:sp>
      <p:sp>
        <p:nvSpPr>
          <p:cNvPr id="622673" name="Text Box 81"/>
          <p:cNvSpPr txBox="1"/>
          <p:nvPr/>
        </p:nvSpPr>
        <p:spPr>
          <a:xfrm>
            <a:off x="8382000" y="2955925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000" dirty="0">
                <a:latin typeface="Times New Roman" panose="02020603050405020304" pitchFamily="18" charset="0"/>
              </a:rPr>
              <a:t>1</a:t>
            </a:r>
            <a:endParaRPr lang="zh-CN" altLang="en-US" sz="2000" dirty="0">
              <a:latin typeface="Times New Roman" panose="02020603050405020304" pitchFamily="18" charset="0"/>
            </a:endParaRPr>
          </a:p>
        </p:txBody>
      </p:sp>
      <p:grpSp>
        <p:nvGrpSpPr>
          <p:cNvPr id="622674" name="Group 82"/>
          <p:cNvGrpSpPr/>
          <p:nvPr/>
        </p:nvGrpSpPr>
        <p:grpSpPr>
          <a:xfrm>
            <a:off x="4876800" y="3336925"/>
            <a:ext cx="3832225" cy="396875"/>
            <a:chOff x="3072" y="2102"/>
            <a:chExt cx="2414" cy="250"/>
          </a:xfrm>
        </p:grpSpPr>
        <p:sp>
          <p:nvSpPr>
            <p:cNvPr id="28726" name="Text Box 83"/>
            <p:cNvSpPr txBox="1"/>
            <p:nvPr/>
          </p:nvSpPr>
          <p:spPr>
            <a:xfrm>
              <a:off x="3072" y="2102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1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8727" name="Text Box 84"/>
            <p:cNvSpPr txBox="1"/>
            <p:nvPr/>
          </p:nvSpPr>
          <p:spPr>
            <a:xfrm>
              <a:off x="3504" y="2102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1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8728" name="Text Box 85"/>
            <p:cNvSpPr txBox="1"/>
            <p:nvPr/>
          </p:nvSpPr>
          <p:spPr>
            <a:xfrm>
              <a:off x="3990" y="2102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1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8729" name="Text Box 86"/>
            <p:cNvSpPr txBox="1"/>
            <p:nvPr/>
          </p:nvSpPr>
          <p:spPr>
            <a:xfrm>
              <a:off x="4422" y="2102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1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8730" name="Text Box 87"/>
            <p:cNvSpPr txBox="1"/>
            <p:nvPr/>
          </p:nvSpPr>
          <p:spPr>
            <a:xfrm>
              <a:off x="4848" y="2102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1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8731" name="Text Box 88"/>
            <p:cNvSpPr txBox="1"/>
            <p:nvPr/>
          </p:nvSpPr>
          <p:spPr>
            <a:xfrm>
              <a:off x="5290" y="2102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1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22681" name="Group 89"/>
          <p:cNvGrpSpPr/>
          <p:nvPr/>
        </p:nvGrpSpPr>
        <p:grpSpPr>
          <a:xfrm>
            <a:off x="4876800" y="3733800"/>
            <a:ext cx="3832225" cy="396875"/>
            <a:chOff x="3072" y="2102"/>
            <a:chExt cx="2414" cy="250"/>
          </a:xfrm>
        </p:grpSpPr>
        <p:sp>
          <p:nvSpPr>
            <p:cNvPr id="28720" name="Text Box 90"/>
            <p:cNvSpPr txBox="1"/>
            <p:nvPr/>
          </p:nvSpPr>
          <p:spPr>
            <a:xfrm>
              <a:off x="3072" y="2102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1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8721" name="Text Box 91"/>
            <p:cNvSpPr txBox="1"/>
            <p:nvPr/>
          </p:nvSpPr>
          <p:spPr>
            <a:xfrm>
              <a:off x="3504" y="2102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1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8722" name="Text Box 92"/>
            <p:cNvSpPr txBox="1"/>
            <p:nvPr/>
          </p:nvSpPr>
          <p:spPr>
            <a:xfrm>
              <a:off x="3990" y="2102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1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8723" name="Text Box 93"/>
            <p:cNvSpPr txBox="1"/>
            <p:nvPr/>
          </p:nvSpPr>
          <p:spPr>
            <a:xfrm>
              <a:off x="4422" y="2102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1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8724" name="Text Box 94"/>
            <p:cNvSpPr txBox="1"/>
            <p:nvPr/>
          </p:nvSpPr>
          <p:spPr>
            <a:xfrm>
              <a:off x="4848" y="2102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1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8725" name="Text Box 95"/>
            <p:cNvSpPr txBox="1"/>
            <p:nvPr/>
          </p:nvSpPr>
          <p:spPr>
            <a:xfrm>
              <a:off x="5290" y="2102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1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22688" name="Group 96"/>
          <p:cNvGrpSpPr/>
          <p:nvPr/>
        </p:nvGrpSpPr>
        <p:grpSpPr>
          <a:xfrm>
            <a:off x="4876800" y="4114800"/>
            <a:ext cx="3832225" cy="396875"/>
            <a:chOff x="3072" y="2102"/>
            <a:chExt cx="2414" cy="250"/>
          </a:xfrm>
        </p:grpSpPr>
        <p:sp>
          <p:nvSpPr>
            <p:cNvPr id="28714" name="Text Box 97"/>
            <p:cNvSpPr txBox="1"/>
            <p:nvPr/>
          </p:nvSpPr>
          <p:spPr>
            <a:xfrm>
              <a:off x="3072" y="2102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1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8715" name="Text Box 98"/>
            <p:cNvSpPr txBox="1"/>
            <p:nvPr/>
          </p:nvSpPr>
          <p:spPr>
            <a:xfrm>
              <a:off x="3504" y="2102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1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8716" name="Text Box 99"/>
            <p:cNvSpPr txBox="1"/>
            <p:nvPr/>
          </p:nvSpPr>
          <p:spPr>
            <a:xfrm>
              <a:off x="3990" y="2102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1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8717" name="Text Box 100"/>
            <p:cNvSpPr txBox="1"/>
            <p:nvPr/>
          </p:nvSpPr>
          <p:spPr>
            <a:xfrm>
              <a:off x="4422" y="2102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1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8718" name="Text Box 101"/>
            <p:cNvSpPr txBox="1"/>
            <p:nvPr/>
          </p:nvSpPr>
          <p:spPr>
            <a:xfrm>
              <a:off x="4848" y="2102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1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8719" name="Text Box 102"/>
            <p:cNvSpPr txBox="1"/>
            <p:nvPr/>
          </p:nvSpPr>
          <p:spPr>
            <a:xfrm>
              <a:off x="5290" y="2102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1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22695" name="Group 103"/>
          <p:cNvGrpSpPr/>
          <p:nvPr/>
        </p:nvGrpSpPr>
        <p:grpSpPr>
          <a:xfrm>
            <a:off x="4876800" y="4572000"/>
            <a:ext cx="3832225" cy="396875"/>
            <a:chOff x="3072" y="2102"/>
            <a:chExt cx="2414" cy="250"/>
          </a:xfrm>
        </p:grpSpPr>
        <p:sp>
          <p:nvSpPr>
            <p:cNvPr id="28708" name="Text Box 104"/>
            <p:cNvSpPr txBox="1"/>
            <p:nvPr/>
          </p:nvSpPr>
          <p:spPr>
            <a:xfrm>
              <a:off x="3072" y="2102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1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8709" name="Text Box 105"/>
            <p:cNvSpPr txBox="1"/>
            <p:nvPr/>
          </p:nvSpPr>
          <p:spPr>
            <a:xfrm>
              <a:off x="3504" y="2102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1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8710" name="Text Box 106"/>
            <p:cNvSpPr txBox="1"/>
            <p:nvPr/>
          </p:nvSpPr>
          <p:spPr>
            <a:xfrm>
              <a:off x="3990" y="2102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1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8711" name="Text Box 107"/>
            <p:cNvSpPr txBox="1"/>
            <p:nvPr/>
          </p:nvSpPr>
          <p:spPr>
            <a:xfrm>
              <a:off x="4422" y="2102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1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8712" name="Text Box 108"/>
            <p:cNvSpPr txBox="1"/>
            <p:nvPr/>
          </p:nvSpPr>
          <p:spPr>
            <a:xfrm>
              <a:off x="4848" y="2102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1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8713" name="Text Box 109"/>
            <p:cNvSpPr txBox="1"/>
            <p:nvPr/>
          </p:nvSpPr>
          <p:spPr>
            <a:xfrm>
              <a:off x="5290" y="2102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1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622702" name="Text Box 110"/>
          <p:cNvSpPr txBox="1"/>
          <p:nvPr/>
        </p:nvSpPr>
        <p:spPr>
          <a:xfrm>
            <a:off x="6324600" y="5394325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000" dirty="0">
                <a:latin typeface="Times New Roman" panose="02020603050405020304" pitchFamily="18" charset="0"/>
              </a:rPr>
              <a:t>1</a:t>
            </a:r>
            <a:endParaRPr lang="zh-CN" altLang="en-US" sz="2000" dirty="0">
              <a:latin typeface="Times New Roman" panose="02020603050405020304" pitchFamily="18" charset="0"/>
            </a:endParaRPr>
          </a:p>
        </p:txBody>
      </p:sp>
      <p:sp>
        <p:nvSpPr>
          <p:cNvPr id="622703" name="Text Box 111"/>
          <p:cNvSpPr txBox="1"/>
          <p:nvPr/>
        </p:nvSpPr>
        <p:spPr>
          <a:xfrm>
            <a:off x="7010400" y="5394325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000" dirty="0">
                <a:latin typeface="Times New Roman" panose="02020603050405020304" pitchFamily="18" charset="0"/>
              </a:rPr>
              <a:t>1</a:t>
            </a:r>
            <a:endParaRPr lang="zh-CN" altLang="en-US" sz="2000" dirty="0">
              <a:latin typeface="Times New Roman" panose="02020603050405020304" pitchFamily="18" charset="0"/>
            </a:endParaRPr>
          </a:p>
        </p:txBody>
      </p:sp>
      <p:sp>
        <p:nvSpPr>
          <p:cNvPr id="622704" name="Text Box 112"/>
          <p:cNvSpPr txBox="1"/>
          <p:nvPr/>
        </p:nvSpPr>
        <p:spPr>
          <a:xfrm>
            <a:off x="7686675" y="5394325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000" dirty="0">
                <a:latin typeface="Times New Roman" panose="02020603050405020304" pitchFamily="18" charset="0"/>
              </a:rPr>
              <a:t>1</a:t>
            </a:r>
            <a:endParaRPr lang="zh-CN" altLang="en-US" sz="2000" dirty="0">
              <a:latin typeface="Times New Roman" panose="02020603050405020304" pitchFamily="18" charset="0"/>
            </a:endParaRPr>
          </a:p>
        </p:txBody>
      </p:sp>
      <p:sp>
        <p:nvSpPr>
          <p:cNvPr id="622705" name="Text Box 113"/>
          <p:cNvSpPr txBox="1"/>
          <p:nvPr/>
        </p:nvSpPr>
        <p:spPr>
          <a:xfrm>
            <a:off x="8388350" y="5394325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000" dirty="0">
                <a:latin typeface="Times New Roman" panose="02020603050405020304" pitchFamily="18" charset="0"/>
              </a:rPr>
              <a:t>1</a:t>
            </a:r>
            <a:endParaRPr lang="zh-CN" altLang="en-US" sz="2000" dirty="0">
              <a:latin typeface="Times New Roman" panose="02020603050405020304" pitchFamily="18" charset="0"/>
            </a:endParaRPr>
          </a:p>
        </p:txBody>
      </p:sp>
      <p:grpSp>
        <p:nvGrpSpPr>
          <p:cNvPr id="622706" name="Group 114"/>
          <p:cNvGrpSpPr/>
          <p:nvPr/>
        </p:nvGrpSpPr>
        <p:grpSpPr>
          <a:xfrm>
            <a:off x="4876800" y="4953000"/>
            <a:ext cx="3832225" cy="396875"/>
            <a:chOff x="3072" y="2102"/>
            <a:chExt cx="2414" cy="250"/>
          </a:xfrm>
        </p:grpSpPr>
        <p:sp>
          <p:nvSpPr>
            <p:cNvPr id="28702" name="Text Box 115"/>
            <p:cNvSpPr txBox="1"/>
            <p:nvPr/>
          </p:nvSpPr>
          <p:spPr>
            <a:xfrm>
              <a:off x="3072" y="2102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1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8703" name="Text Box 116"/>
            <p:cNvSpPr txBox="1"/>
            <p:nvPr/>
          </p:nvSpPr>
          <p:spPr>
            <a:xfrm>
              <a:off x="3504" y="2102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1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8704" name="Text Box 117"/>
            <p:cNvSpPr txBox="1"/>
            <p:nvPr/>
          </p:nvSpPr>
          <p:spPr>
            <a:xfrm>
              <a:off x="3990" y="2102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1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8705" name="Text Box 118"/>
            <p:cNvSpPr txBox="1"/>
            <p:nvPr/>
          </p:nvSpPr>
          <p:spPr>
            <a:xfrm>
              <a:off x="4422" y="2102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1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8706" name="Text Box 119"/>
            <p:cNvSpPr txBox="1"/>
            <p:nvPr/>
          </p:nvSpPr>
          <p:spPr>
            <a:xfrm>
              <a:off x="4848" y="2102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1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8707" name="Text Box 120"/>
            <p:cNvSpPr txBox="1"/>
            <p:nvPr/>
          </p:nvSpPr>
          <p:spPr>
            <a:xfrm>
              <a:off x="5290" y="2102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1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22713" name="Group 121"/>
          <p:cNvGrpSpPr/>
          <p:nvPr/>
        </p:nvGrpSpPr>
        <p:grpSpPr>
          <a:xfrm>
            <a:off x="4876800" y="5775325"/>
            <a:ext cx="3832225" cy="396875"/>
            <a:chOff x="3072" y="2102"/>
            <a:chExt cx="2414" cy="250"/>
          </a:xfrm>
        </p:grpSpPr>
        <p:sp>
          <p:nvSpPr>
            <p:cNvPr id="28696" name="Text Box 122"/>
            <p:cNvSpPr txBox="1"/>
            <p:nvPr/>
          </p:nvSpPr>
          <p:spPr>
            <a:xfrm>
              <a:off x="3072" y="2102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1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8697" name="Text Box 123"/>
            <p:cNvSpPr txBox="1"/>
            <p:nvPr/>
          </p:nvSpPr>
          <p:spPr>
            <a:xfrm>
              <a:off x="3504" y="2102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1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8698" name="Text Box 124"/>
            <p:cNvSpPr txBox="1"/>
            <p:nvPr/>
          </p:nvSpPr>
          <p:spPr>
            <a:xfrm>
              <a:off x="3990" y="2102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1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8699" name="Text Box 125"/>
            <p:cNvSpPr txBox="1"/>
            <p:nvPr/>
          </p:nvSpPr>
          <p:spPr>
            <a:xfrm>
              <a:off x="4422" y="2102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1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8700" name="Text Box 126"/>
            <p:cNvSpPr txBox="1"/>
            <p:nvPr/>
          </p:nvSpPr>
          <p:spPr>
            <a:xfrm>
              <a:off x="4848" y="2102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1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8701" name="Text Box 127"/>
            <p:cNvSpPr txBox="1"/>
            <p:nvPr/>
          </p:nvSpPr>
          <p:spPr>
            <a:xfrm>
              <a:off x="5290" y="2102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1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622720" name="Rectangle 128"/>
          <p:cNvSpPr>
            <a:spLocks noChangeArrowheads="1"/>
          </p:cNvSpPr>
          <p:nvPr/>
        </p:nvSpPr>
        <p:spPr bwMode="auto">
          <a:xfrm>
            <a:off x="7696200" y="152400"/>
            <a:ext cx="1447800" cy="838200"/>
          </a:xfrm>
          <a:prstGeom prst="rect">
            <a:avLst/>
          </a:prstGeom>
          <a:noFill/>
          <a:ln>
            <a:noFill/>
          </a:ln>
          <a:effectLst/>
        </p:spPr>
        <p:txBody>
          <a:bodyPr lIns="92075" tIns="46038" rIns="92075" bIns="46038" anchor="ctr"/>
          <a:lstStyle>
            <a:lvl1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10.1</a:t>
            </a:r>
            <a:endParaRPr kumimoji="1" lang="zh-CN" altLang="en-US" sz="4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695" name="AutoShape 129">
            <a:hlinkClick r:id="rId1" action="ppaction://hlinksldjump"/>
          </p:cNvPr>
          <p:cNvSpPr/>
          <p:nvPr/>
        </p:nvSpPr>
        <p:spPr>
          <a:xfrm>
            <a:off x="8589963" y="6516688"/>
            <a:ext cx="539750" cy="333375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endParaRPr lang="zh-CN" altLang="en-US" dirty="0">
              <a:latin typeface="等线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22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22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22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22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22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22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622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622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622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622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622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622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622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622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622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622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2668" grpId="0"/>
      <p:bldP spid="622669" grpId="0"/>
      <p:bldP spid="622670" grpId="0"/>
      <p:bldP spid="622671" grpId="0"/>
      <p:bldP spid="622672" grpId="0"/>
      <p:bldP spid="622673" grpId="0"/>
      <p:bldP spid="622702" grpId="0"/>
      <p:bldP spid="622703" grpId="0"/>
      <p:bldP spid="622704" grpId="0"/>
      <p:bldP spid="62270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2571750" y="4092575"/>
            <a:ext cx="6464300" cy="406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9699" name="Text Box 2"/>
          <p:cNvSpPr txBox="1"/>
          <p:nvPr/>
        </p:nvSpPr>
        <p:spPr>
          <a:xfrm>
            <a:off x="381000" y="304800"/>
            <a:ext cx="4772025" cy="6413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3600" dirty="0">
                <a:latin typeface="Times New Roman" panose="02020603050405020304" pitchFamily="18" charset="0"/>
              </a:rPr>
              <a:t>三、组合逻辑设计步骤</a:t>
            </a:r>
            <a:endParaRPr lang="zh-CN" altLang="en-US" sz="3600" dirty="0">
              <a:latin typeface="Times New Roman" panose="02020603050405020304" pitchFamily="18" charset="0"/>
            </a:endParaRPr>
          </a:p>
        </p:txBody>
      </p:sp>
      <p:sp>
        <p:nvSpPr>
          <p:cNvPr id="29700" name="Text Box 3"/>
          <p:cNvSpPr txBox="1"/>
          <p:nvPr/>
        </p:nvSpPr>
        <p:spPr>
          <a:xfrm>
            <a:off x="998538" y="1066800"/>
            <a:ext cx="3040062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</a:rPr>
              <a:t>1. 列出操作时间表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grpSp>
        <p:nvGrpSpPr>
          <p:cNvPr id="29701" name="Group 4"/>
          <p:cNvGrpSpPr/>
          <p:nvPr/>
        </p:nvGrpSpPr>
        <p:grpSpPr>
          <a:xfrm>
            <a:off x="457200" y="2286000"/>
            <a:ext cx="8458200" cy="3657600"/>
            <a:chOff x="288" y="1440"/>
            <a:chExt cx="5328" cy="2304"/>
          </a:xfrm>
        </p:grpSpPr>
        <p:sp>
          <p:nvSpPr>
            <p:cNvPr id="29728" name="Rectangle 5"/>
            <p:cNvSpPr/>
            <p:nvPr/>
          </p:nvSpPr>
          <p:spPr>
            <a:xfrm>
              <a:off x="1176" y="2841"/>
              <a:ext cx="444" cy="54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050" rIns="19050" anchor="ctr" anchorCtr="1"/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endPara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729" name="Rectangle 6"/>
            <p:cNvSpPr/>
            <p:nvPr/>
          </p:nvSpPr>
          <p:spPr>
            <a:xfrm>
              <a:off x="742" y="2562"/>
              <a:ext cx="434" cy="1038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050" rIns="19050" anchor="ctr" anchorCtr="1"/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en-US" altLang="zh-CN" sz="2000" i="1" dirty="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T</a:t>
              </a:r>
              <a:r>
                <a:rPr lang="en-US" altLang="zh-CN" sz="2000" baseline="-25000" dirty="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zh-CN" altLang="en-US" sz="2000" baseline="-25000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730" name="Rectangle 7"/>
            <p:cNvSpPr/>
            <p:nvPr/>
          </p:nvSpPr>
          <p:spPr>
            <a:xfrm>
              <a:off x="742" y="2448"/>
              <a:ext cx="434" cy="51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050" rIns="19050" anchor="ctr" anchorCtr="1"/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en-US" altLang="zh-CN" sz="2000" i="1" dirty="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T</a:t>
              </a:r>
              <a:r>
                <a:rPr lang="en-US" altLang="zh-CN" sz="2000" baseline="-25000" dirty="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zh-CN" altLang="en-US" sz="2000" baseline="-25000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731" name="Rectangle 8"/>
            <p:cNvSpPr/>
            <p:nvPr/>
          </p:nvSpPr>
          <p:spPr>
            <a:xfrm>
              <a:off x="742" y="2073"/>
              <a:ext cx="434" cy="498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050" rIns="19050" anchor="ctr" anchorCtr="1"/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en-US" altLang="zh-CN" sz="2000" i="1" dirty="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T</a:t>
              </a:r>
              <a:r>
                <a:rPr lang="en-US" altLang="zh-CN" sz="2000" baseline="-25000" dirty="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lang="en-US" altLang="zh-CN" sz="2000" baseline="-25000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9732" name="Rectangle 9"/>
            <p:cNvSpPr/>
            <p:nvPr/>
          </p:nvSpPr>
          <p:spPr>
            <a:xfrm>
              <a:off x="288" y="1698"/>
              <a:ext cx="454" cy="204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050" rIns="19050" anchor="ctr" anchorCtr="1"/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en-US" altLang="zh-CN" sz="8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IND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间址</a:t>
              </a:r>
              <a:endPara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29733" name="Group 10"/>
            <p:cNvGrpSpPr/>
            <p:nvPr/>
          </p:nvGrpSpPr>
          <p:grpSpPr>
            <a:xfrm>
              <a:off x="288" y="1440"/>
              <a:ext cx="5328" cy="1931"/>
              <a:chOff x="288" y="1440"/>
              <a:chExt cx="5328" cy="1931"/>
            </a:xfrm>
          </p:grpSpPr>
          <p:sp>
            <p:nvSpPr>
              <p:cNvPr id="29758" name="Rectangle 11"/>
              <p:cNvSpPr/>
              <p:nvPr/>
            </p:nvSpPr>
            <p:spPr>
              <a:xfrm>
                <a:off x="5172" y="1440"/>
                <a:ext cx="444" cy="63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19050" rIns="19050" anchor="ctr" anchorCtr="1"/>
              <a:p>
                <a:pPr eaLnBrk="1" hangingPunct="1">
                  <a:buClr>
                    <a:schemeClr val="accent2"/>
                  </a:buClr>
                  <a:buSzPct val="80000"/>
                  <a:buFont typeface="Wingdings" panose="05000000000000000000" pitchFamily="2" charset="2"/>
                </a:pPr>
                <a:r>
                  <a:rPr lang="en-US" altLang="zh-CN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JMP</a:t>
                </a:r>
                <a:endPara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9759" name="Rectangle 12"/>
              <p:cNvSpPr/>
              <p:nvPr/>
            </p:nvSpPr>
            <p:spPr>
              <a:xfrm>
                <a:off x="4728" y="1440"/>
                <a:ext cx="444" cy="63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19050" rIns="19050" anchor="ctr" anchorCtr="1"/>
              <a:p>
                <a:pPr eaLnBrk="1" hangingPunct="1">
                  <a:buClr>
                    <a:schemeClr val="accent2"/>
                  </a:buClr>
                  <a:buSzPct val="80000"/>
                  <a:buFont typeface="Wingdings" panose="05000000000000000000" pitchFamily="2" charset="2"/>
                </a:pPr>
                <a:r>
                  <a:rPr lang="en-US" altLang="zh-CN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LDA</a:t>
                </a:r>
                <a:endPara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9760" name="Rectangle 13"/>
              <p:cNvSpPr/>
              <p:nvPr/>
            </p:nvSpPr>
            <p:spPr>
              <a:xfrm>
                <a:off x="4284" y="1440"/>
                <a:ext cx="444" cy="63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19050" rIns="19050" anchor="ctr" anchorCtr="1"/>
              <a:p>
                <a:pPr eaLnBrk="1" hangingPunct="1">
                  <a:buClr>
                    <a:schemeClr val="accent2"/>
                  </a:buClr>
                  <a:buSzPct val="80000"/>
                  <a:buFont typeface="Wingdings" panose="05000000000000000000" pitchFamily="2" charset="2"/>
                </a:pPr>
                <a:r>
                  <a:rPr lang="en-US" altLang="zh-CN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STA</a:t>
                </a:r>
                <a:endPara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9761" name="Rectangle 14"/>
              <p:cNvSpPr/>
              <p:nvPr/>
            </p:nvSpPr>
            <p:spPr>
              <a:xfrm>
                <a:off x="3840" y="1440"/>
                <a:ext cx="444" cy="63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19050" rIns="19050" anchor="ctr" anchorCtr="1"/>
              <a:p>
                <a:pPr eaLnBrk="1" hangingPunct="1">
                  <a:buClr>
                    <a:schemeClr val="accent2"/>
                  </a:buClr>
                  <a:buSzPct val="80000"/>
                  <a:buFont typeface="Wingdings" panose="05000000000000000000" pitchFamily="2" charset="2"/>
                </a:pPr>
                <a:r>
                  <a:rPr lang="en-US" altLang="zh-CN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ADD</a:t>
                </a:r>
                <a:endPara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9762" name="Rectangle 15"/>
              <p:cNvSpPr/>
              <p:nvPr/>
            </p:nvSpPr>
            <p:spPr>
              <a:xfrm>
                <a:off x="3396" y="1440"/>
                <a:ext cx="444" cy="63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19050" rIns="19050" anchor="ctr" anchorCtr="1"/>
              <a:p>
                <a:pPr eaLnBrk="1" hangingPunct="1">
                  <a:buClr>
                    <a:schemeClr val="accent2"/>
                  </a:buClr>
                  <a:buSzPct val="80000"/>
                  <a:buFont typeface="Wingdings" panose="05000000000000000000" pitchFamily="2" charset="2"/>
                </a:pPr>
                <a:r>
                  <a:rPr lang="en-US" altLang="zh-CN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COM</a:t>
                </a:r>
                <a:endPara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9763" name="Rectangle 16"/>
              <p:cNvSpPr/>
              <p:nvPr/>
            </p:nvSpPr>
            <p:spPr>
              <a:xfrm>
                <a:off x="2952" y="1440"/>
                <a:ext cx="444" cy="63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19050" rIns="19050" anchor="ctr" anchorCtr="1"/>
              <a:p>
                <a:pPr eaLnBrk="1" hangingPunct="1">
                  <a:buClr>
                    <a:schemeClr val="accent2"/>
                  </a:buClr>
                  <a:buSzPct val="80000"/>
                  <a:buFont typeface="Wingdings" panose="05000000000000000000" pitchFamily="2" charset="2"/>
                </a:pPr>
                <a:r>
                  <a:rPr lang="en-US" altLang="zh-CN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CLA</a:t>
                </a:r>
                <a:endPara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9764" name="Rectangle 17"/>
              <p:cNvSpPr/>
              <p:nvPr/>
            </p:nvSpPr>
            <p:spPr>
              <a:xfrm>
                <a:off x="1620" y="1440"/>
                <a:ext cx="1332" cy="63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19050" rIns="19050" anchor="ctr" anchorCtr="1"/>
              <a:p>
                <a:pPr eaLnBrk="1" hangingPunct="1">
                  <a:buClr>
                    <a:schemeClr val="accent2"/>
                  </a:buClr>
                  <a:buSzPct val="80000"/>
                  <a:buFont typeface="Wingdings" panose="05000000000000000000" pitchFamily="2" charset="2"/>
                </a:pPr>
                <a:r>
                  <a:rPr lang="zh-CN" altLang="en-US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微操作命令信号</a:t>
                </a:r>
                <a:endPara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9765" name="Rectangle 18"/>
              <p:cNvSpPr/>
              <p:nvPr/>
            </p:nvSpPr>
            <p:spPr>
              <a:xfrm>
                <a:off x="1176" y="1440"/>
                <a:ext cx="444" cy="63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19050" rIns="19050" anchor="ctr" anchorCtr="1"/>
              <a:p>
                <a:pPr eaLnBrk="1" hangingPunct="1">
                  <a:buClr>
                    <a:schemeClr val="accent2"/>
                  </a:buClr>
                  <a:buSzPct val="80000"/>
                  <a:buFont typeface="Wingdings" panose="05000000000000000000" pitchFamily="2" charset="2"/>
                </a:pPr>
                <a:r>
                  <a:rPr lang="zh-CN" altLang="en-US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状态条件</a:t>
                </a:r>
                <a:endPara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9766" name="Rectangle 19"/>
              <p:cNvSpPr/>
              <p:nvPr/>
            </p:nvSpPr>
            <p:spPr>
              <a:xfrm>
                <a:off x="742" y="1440"/>
                <a:ext cx="434" cy="63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19050" rIns="19050" anchor="ctr" anchorCtr="1"/>
              <a:p>
                <a:pPr eaLnBrk="1" hangingPunct="1">
                  <a:buClr>
                    <a:schemeClr val="accent2"/>
                  </a:buClr>
                  <a:buSzPct val="80000"/>
                  <a:buFont typeface="Wingdings" panose="05000000000000000000" pitchFamily="2" charset="2"/>
                </a:pPr>
                <a:r>
                  <a:rPr lang="zh-CN" altLang="en-US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节拍</a:t>
                </a:r>
                <a:endPara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9767" name="Rectangle 20"/>
              <p:cNvSpPr/>
              <p:nvPr/>
            </p:nvSpPr>
            <p:spPr>
              <a:xfrm>
                <a:off x="288" y="1440"/>
                <a:ext cx="454" cy="63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19050" rIns="19050" anchor="ctr" anchorCtr="1"/>
              <a:p>
                <a:pPr eaLnBrk="1" hangingPunct="1">
                  <a:buClr>
                    <a:schemeClr val="accent2"/>
                  </a:buClr>
                  <a:buSzPct val="80000"/>
                  <a:buFont typeface="Wingdings" panose="05000000000000000000" pitchFamily="2" charset="2"/>
                </a:pPr>
                <a:r>
                  <a:rPr lang="zh-CN" altLang="en-US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工作周期标记</a:t>
                </a:r>
                <a:endPara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29768" name="Group 21"/>
              <p:cNvGrpSpPr/>
              <p:nvPr/>
            </p:nvGrpSpPr>
            <p:grpSpPr>
              <a:xfrm>
                <a:off x="288" y="1440"/>
                <a:ext cx="5328" cy="1931"/>
                <a:chOff x="288" y="1440"/>
                <a:chExt cx="5328" cy="1931"/>
              </a:xfrm>
            </p:grpSpPr>
            <p:sp>
              <p:nvSpPr>
                <p:cNvPr id="29769" name="Line 22"/>
                <p:cNvSpPr/>
                <p:nvPr/>
              </p:nvSpPr>
              <p:spPr>
                <a:xfrm>
                  <a:off x="288" y="2073"/>
                  <a:ext cx="5328" cy="0"/>
                </a:xfrm>
                <a:prstGeom prst="line">
                  <a:avLst/>
                </a:prstGeom>
                <a:ln w="127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grpSp>
              <p:nvGrpSpPr>
                <p:cNvPr id="29770" name="Group 23"/>
                <p:cNvGrpSpPr/>
                <p:nvPr/>
              </p:nvGrpSpPr>
              <p:grpSpPr>
                <a:xfrm>
                  <a:off x="288" y="1440"/>
                  <a:ext cx="5328" cy="1931"/>
                  <a:chOff x="288" y="1440"/>
                  <a:chExt cx="5328" cy="1931"/>
                </a:xfrm>
              </p:grpSpPr>
              <p:sp>
                <p:nvSpPr>
                  <p:cNvPr id="29771" name="Line 24"/>
                  <p:cNvSpPr/>
                  <p:nvPr/>
                </p:nvSpPr>
                <p:spPr>
                  <a:xfrm>
                    <a:off x="3840" y="1440"/>
                    <a:ext cx="444" cy="0"/>
                  </a:xfrm>
                  <a:prstGeom prst="line">
                    <a:avLst/>
                  </a:prstGeom>
                  <a:ln w="2857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grpSp>
                <p:nvGrpSpPr>
                  <p:cNvPr id="29772" name="Group 25"/>
                  <p:cNvGrpSpPr/>
                  <p:nvPr/>
                </p:nvGrpSpPr>
                <p:grpSpPr>
                  <a:xfrm>
                    <a:off x="288" y="1440"/>
                    <a:ext cx="5328" cy="1931"/>
                    <a:chOff x="288" y="1440"/>
                    <a:chExt cx="5328" cy="1931"/>
                  </a:xfrm>
                </p:grpSpPr>
                <p:sp>
                  <p:nvSpPr>
                    <p:cNvPr id="29773" name="Line 26"/>
                    <p:cNvSpPr/>
                    <p:nvPr/>
                  </p:nvSpPr>
                  <p:spPr>
                    <a:xfrm>
                      <a:off x="288" y="3360"/>
                      <a:ext cx="5328" cy="0"/>
                    </a:xfrm>
                    <a:prstGeom prst="line">
                      <a:avLst/>
                    </a:prstGeom>
                    <a:ln w="28575" cap="sq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  <p:grpSp>
                  <p:nvGrpSpPr>
                    <p:cNvPr id="29774" name="Group 27"/>
                    <p:cNvGrpSpPr/>
                    <p:nvPr/>
                  </p:nvGrpSpPr>
                  <p:grpSpPr>
                    <a:xfrm>
                      <a:off x="288" y="1440"/>
                      <a:ext cx="5328" cy="1931"/>
                      <a:chOff x="288" y="1440"/>
                      <a:chExt cx="5328" cy="1931"/>
                    </a:xfrm>
                  </p:grpSpPr>
                  <p:sp>
                    <p:nvSpPr>
                      <p:cNvPr id="29778" name="Line 28"/>
                      <p:cNvSpPr/>
                      <p:nvPr/>
                    </p:nvSpPr>
                    <p:spPr>
                      <a:xfrm>
                        <a:off x="288" y="1440"/>
                        <a:ext cx="0" cy="1931"/>
                      </a:xfrm>
                      <a:prstGeom prst="line">
                        <a:avLst/>
                      </a:prstGeom>
                      <a:ln w="28575" cap="sq" cmpd="sng">
                        <a:solidFill>
                          <a:schemeClr val="tx1"/>
                        </a:solidFill>
                        <a:prstDash val="solid"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29779" name="Line 29"/>
                      <p:cNvSpPr/>
                      <p:nvPr/>
                    </p:nvSpPr>
                    <p:spPr>
                      <a:xfrm>
                        <a:off x="742" y="1440"/>
                        <a:ext cx="0" cy="1931"/>
                      </a:xfrm>
                      <a:prstGeom prst="line">
                        <a:avLst/>
                      </a:prstGeom>
                      <a:ln w="12700" cap="flat" cmpd="sng">
                        <a:solidFill>
                          <a:schemeClr val="tx1"/>
                        </a:solidFill>
                        <a:prstDash val="solid"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29780" name="Line 30"/>
                      <p:cNvSpPr/>
                      <p:nvPr/>
                    </p:nvSpPr>
                    <p:spPr>
                      <a:xfrm>
                        <a:off x="1176" y="1440"/>
                        <a:ext cx="0" cy="1931"/>
                      </a:xfrm>
                      <a:prstGeom prst="line">
                        <a:avLst/>
                      </a:prstGeom>
                      <a:ln w="12700" cap="flat" cmpd="sng">
                        <a:solidFill>
                          <a:schemeClr val="tx1"/>
                        </a:solidFill>
                        <a:prstDash val="solid"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29781" name="Line 31"/>
                      <p:cNvSpPr/>
                      <p:nvPr/>
                    </p:nvSpPr>
                    <p:spPr>
                      <a:xfrm>
                        <a:off x="1620" y="1440"/>
                        <a:ext cx="0" cy="1931"/>
                      </a:xfrm>
                      <a:prstGeom prst="line">
                        <a:avLst/>
                      </a:prstGeom>
                      <a:ln w="12700" cap="flat" cmpd="sng">
                        <a:solidFill>
                          <a:schemeClr val="tx1"/>
                        </a:solidFill>
                        <a:prstDash val="solid"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29782" name="Line 32"/>
                      <p:cNvSpPr/>
                      <p:nvPr/>
                    </p:nvSpPr>
                    <p:spPr>
                      <a:xfrm>
                        <a:off x="2952" y="1440"/>
                        <a:ext cx="0" cy="1931"/>
                      </a:xfrm>
                      <a:prstGeom prst="line">
                        <a:avLst/>
                      </a:prstGeom>
                      <a:ln w="12700" cap="flat" cmpd="sng">
                        <a:solidFill>
                          <a:schemeClr val="tx1"/>
                        </a:solidFill>
                        <a:prstDash val="solid"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29783" name="Line 33"/>
                      <p:cNvSpPr/>
                      <p:nvPr/>
                    </p:nvSpPr>
                    <p:spPr>
                      <a:xfrm>
                        <a:off x="3396" y="1440"/>
                        <a:ext cx="0" cy="1931"/>
                      </a:xfrm>
                      <a:prstGeom prst="line">
                        <a:avLst/>
                      </a:prstGeom>
                      <a:ln w="12700" cap="flat" cmpd="sng">
                        <a:solidFill>
                          <a:schemeClr val="tx1"/>
                        </a:solidFill>
                        <a:prstDash val="solid"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29784" name="Line 34"/>
                      <p:cNvSpPr/>
                      <p:nvPr/>
                    </p:nvSpPr>
                    <p:spPr>
                      <a:xfrm>
                        <a:off x="3840" y="1440"/>
                        <a:ext cx="0" cy="1931"/>
                      </a:xfrm>
                      <a:prstGeom prst="line">
                        <a:avLst/>
                      </a:prstGeom>
                      <a:ln w="12700" cap="flat" cmpd="sng">
                        <a:solidFill>
                          <a:schemeClr val="tx1"/>
                        </a:solidFill>
                        <a:prstDash val="solid"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29785" name="Line 35"/>
                      <p:cNvSpPr/>
                      <p:nvPr/>
                    </p:nvSpPr>
                    <p:spPr>
                      <a:xfrm>
                        <a:off x="4284" y="1440"/>
                        <a:ext cx="0" cy="1931"/>
                      </a:xfrm>
                      <a:prstGeom prst="line">
                        <a:avLst/>
                      </a:prstGeom>
                      <a:ln w="12700" cap="flat" cmpd="sng">
                        <a:solidFill>
                          <a:schemeClr val="tx1"/>
                        </a:solidFill>
                        <a:prstDash val="solid"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29786" name="Line 36"/>
                      <p:cNvSpPr/>
                      <p:nvPr/>
                    </p:nvSpPr>
                    <p:spPr>
                      <a:xfrm>
                        <a:off x="4728" y="1440"/>
                        <a:ext cx="0" cy="1931"/>
                      </a:xfrm>
                      <a:prstGeom prst="line">
                        <a:avLst/>
                      </a:prstGeom>
                      <a:ln w="12700" cap="flat" cmpd="sng">
                        <a:solidFill>
                          <a:schemeClr val="tx1"/>
                        </a:solidFill>
                        <a:prstDash val="solid"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29787" name="Line 37"/>
                      <p:cNvSpPr/>
                      <p:nvPr/>
                    </p:nvSpPr>
                    <p:spPr>
                      <a:xfrm>
                        <a:off x="5172" y="1440"/>
                        <a:ext cx="0" cy="1931"/>
                      </a:xfrm>
                      <a:prstGeom prst="line">
                        <a:avLst/>
                      </a:prstGeom>
                      <a:ln w="12700" cap="flat" cmpd="sng">
                        <a:solidFill>
                          <a:schemeClr val="tx1"/>
                        </a:solidFill>
                        <a:prstDash val="solid"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29788" name="Line 38"/>
                      <p:cNvSpPr/>
                      <p:nvPr/>
                    </p:nvSpPr>
                    <p:spPr>
                      <a:xfrm>
                        <a:off x="5616" y="1440"/>
                        <a:ext cx="0" cy="1931"/>
                      </a:xfrm>
                      <a:prstGeom prst="line">
                        <a:avLst/>
                      </a:prstGeom>
                      <a:ln w="28575" cap="sq" cmpd="sng">
                        <a:solidFill>
                          <a:schemeClr val="tx1"/>
                        </a:solidFill>
                        <a:prstDash val="solid"/>
                        <a:headEnd type="none" w="med" len="med"/>
                        <a:tailEnd type="none" w="med" len="med"/>
                      </a:ln>
                    </p:spPr>
                  </p:sp>
                </p:grpSp>
                <p:grpSp>
                  <p:nvGrpSpPr>
                    <p:cNvPr id="29775" name="Group 39"/>
                    <p:cNvGrpSpPr/>
                    <p:nvPr/>
                  </p:nvGrpSpPr>
                  <p:grpSpPr>
                    <a:xfrm>
                      <a:off x="288" y="1440"/>
                      <a:ext cx="5328" cy="0"/>
                      <a:chOff x="288" y="1440"/>
                      <a:chExt cx="5328" cy="0"/>
                    </a:xfrm>
                  </p:grpSpPr>
                  <p:sp>
                    <p:nvSpPr>
                      <p:cNvPr id="29776" name="Line 40"/>
                      <p:cNvSpPr/>
                      <p:nvPr/>
                    </p:nvSpPr>
                    <p:spPr>
                      <a:xfrm>
                        <a:off x="288" y="1440"/>
                        <a:ext cx="3552" cy="0"/>
                      </a:xfrm>
                      <a:prstGeom prst="line">
                        <a:avLst/>
                      </a:prstGeom>
                      <a:ln w="28575" cap="sq" cmpd="sng">
                        <a:solidFill>
                          <a:schemeClr val="tx1"/>
                        </a:solidFill>
                        <a:prstDash val="solid"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29777" name="Line 41"/>
                      <p:cNvSpPr/>
                      <p:nvPr/>
                    </p:nvSpPr>
                    <p:spPr>
                      <a:xfrm>
                        <a:off x="4284" y="1440"/>
                        <a:ext cx="1332" cy="0"/>
                      </a:xfrm>
                      <a:prstGeom prst="line">
                        <a:avLst/>
                      </a:prstGeom>
                      <a:ln w="28575" cap="sq" cmpd="sng">
                        <a:solidFill>
                          <a:schemeClr val="tx1"/>
                        </a:solidFill>
                        <a:prstDash val="solid"/>
                        <a:headEnd type="none" w="med" len="med"/>
                        <a:tailEnd type="none" w="med" len="med"/>
                      </a:ln>
                    </p:spPr>
                  </p:sp>
                </p:grpSp>
              </p:grpSp>
            </p:grpSp>
          </p:grpSp>
        </p:grpSp>
        <p:sp>
          <p:nvSpPr>
            <p:cNvPr id="29734" name="Line 42"/>
            <p:cNvSpPr/>
            <p:nvPr/>
          </p:nvSpPr>
          <p:spPr>
            <a:xfrm>
              <a:off x="1620" y="2322"/>
              <a:ext cx="399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35" name="Line 43"/>
            <p:cNvSpPr/>
            <p:nvPr/>
          </p:nvSpPr>
          <p:spPr>
            <a:xfrm>
              <a:off x="742" y="2841"/>
              <a:ext cx="4874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29736" name="Line 44"/>
            <p:cNvSpPr/>
            <p:nvPr/>
          </p:nvSpPr>
          <p:spPr>
            <a:xfrm>
              <a:off x="742" y="2571"/>
              <a:ext cx="4874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29737" name="Group 45"/>
            <p:cNvGrpSpPr/>
            <p:nvPr/>
          </p:nvGrpSpPr>
          <p:grpSpPr>
            <a:xfrm>
              <a:off x="1620" y="2073"/>
              <a:ext cx="1332" cy="249"/>
              <a:chOff x="1620" y="2073"/>
              <a:chExt cx="1332" cy="249"/>
            </a:xfrm>
          </p:grpSpPr>
          <p:sp>
            <p:nvSpPr>
              <p:cNvPr id="29756" name="Rectangle 46"/>
              <p:cNvSpPr/>
              <p:nvPr/>
            </p:nvSpPr>
            <p:spPr>
              <a:xfrm>
                <a:off x="1620" y="2073"/>
                <a:ext cx="1332" cy="24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19050" rIns="19050" anchor="ctr" anchorCtr="1"/>
              <a:p>
                <a:pPr eaLnBrk="1" hangingPunct="1">
                  <a:buClr>
                    <a:schemeClr val="accent2"/>
                  </a:buClr>
                  <a:buSzPct val="80000"/>
                  <a:buFont typeface="Wingdings" panose="05000000000000000000" pitchFamily="2" charset="2"/>
                </a:pPr>
                <a:r>
                  <a:rPr lang="en-US" altLang="zh-CN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Ad (IR)      MAR</a:t>
                </a:r>
                <a:endPara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9757" name="Line 47"/>
              <p:cNvSpPr/>
              <p:nvPr/>
            </p:nvSpPr>
            <p:spPr>
              <a:xfrm>
                <a:off x="2258" y="2208"/>
                <a:ext cx="190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</p:grpSp>
        <p:grpSp>
          <p:nvGrpSpPr>
            <p:cNvPr id="29738" name="Group 48"/>
            <p:cNvGrpSpPr/>
            <p:nvPr/>
          </p:nvGrpSpPr>
          <p:grpSpPr>
            <a:xfrm>
              <a:off x="1620" y="2322"/>
              <a:ext cx="1332" cy="249"/>
              <a:chOff x="1620" y="2322"/>
              <a:chExt cx="1332" cy="249"/>
            </a:xfrm>
          </p:grpSpPr>
          <p:sp>
            <p:nvSpPr>
              <p:cNvPr id="29754" name="Rectangle 49"/>
              <p:cNvSpPr/>
              <p:nvPr/>
            </p:nvSpPr>
            <p:spPr>
              <a:xfrm>
                <a:off x="1620" y="2322"/>
                <a:ext cx="1332" cy="24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19050" rIns="19050" anchor="ctr" anchorCtr="1"/>
              <a:p>
                <a:pPr eaLnBrk="1" hangingPunct="1">
                  <a:buClr>
                    <a:schemeClr val="accent2"/>
                  </a:buClr>
                  <a:buSzPct val="80000"/>
                  <a:buFont typeface="Wingdings" panose="05000000000000000000" pitchFamily="2" charset="2"/>
                </a:pPr>
                <a:r>
                  <a:rPr lang="zh-CN" altLang="en-US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1      </a:t>
                </a:r>
                <a:r>
                  <a:rPr lang="en-US" altLang="zh-CN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R</a:t>
                </a:r>
                <a:endPara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9755" name="Line 50"/>
              <p:cNvSpPr/>
              <p:nvPr/>
            </p:nvSpPr>
            <p:spPr>
              <a:xfrm>
                <a:off x="2160" y="2448"/>
                <a:ext cx="190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</p:grpSp>
        <p:grpSp>
          <p:nvGrpSpPr>
            <p:cNvPr id="29739" name="Group 51"/>
            <p:cNvGrpSpPr/>
            <p:nvPr/>
          </p:nvGrpSpPr>
          <p:grpSpPr>
            <a:xfrm>
              <a:off x="1620" y="2571"/>
              <a:ext cx="1332" cy="261"/>
              <a:chOff x="1620" y="2571"/>
              <a:chExt cx="1332" cy="261"/>
            </a:xfrm>
          </p:grpSpPr>
          <p:sp>
            <p:nvSpPr>
              <p:cNvPr id="29752" name="Rectangle 52"/>
              <p:cNvSpPr/>
              <p:nvPr/>
            </p:nvSpPr>
            <p:spPr>
              <a:xfrm>
                <a:off x="1620" y="2571"/>
                <a:ext cx="1332" cy="26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19050" rIns="19050" anchor="ctr" anchorCtr="1"/>
              <a:p>
                <a:pPr eaLnBrk="1" hangingPunct="1">
                  <a:buClr>
                    <a:schemeClr val="accent2"/>
                  </a:buClr>
                  <a:buSzPct val="80000"/>
                  <a:buFont typeface="Wingdings" panose="05000000000000000000" pitchFamily="2" charset="2"/>
                </a:pPr>
                <a:r>
                  <a:rPr lang="en-US" altLang="zh-CN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M(MAR)      MDR    </a:t>
                </a:r>
                <a:endPara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9753" name="Line 53"/>
              <p:cNvSpPr/>
              <p:nvPr/>
            </p:nvSpPr>
            <p:spPr>
              <a:xfrm>
                <a:off x="2304" y="2713"/>
                <a:ext cx="190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</p:grpSp>
        <p:grpSp>
          <p:nvGrpSpPr>
            <p:cNvPr id="29740" name="Group 54"/>
            <p:cNvGrpSpPr/>
            <p:nvPr/>
          </p:nvGrpSpPr>
          <p:grpSpPr>
            <a:xfrm>
              <a:off x="1620" y="2832"/>
              <a:ext cx="1332" cy="249"/>
              <a:chOff x="1620" y="3621"/>
              <a:chExt cx="1332" cy="249"/>
            </a:xfrm>
          </p:grpSpPr>
          <p:sp>
            <p:nvSpPr>
              <p:cNvPr id="29750" name="Rectangle 55"/>
              <p:cNvSpPr/>
              <p:nvPr/>
            </p:nvSpPr>
            <p:spPr>
              <a:xfrm>
                <a:off x="1620" y="3621"/>
                <a:ext cx="1332" cy="24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19050" rIns="19050" anchor="ctr" anchorCtr="1"/>
              <a:p>
                <a:pPr eaLnBrk="1" hangingPunct="1">
                  <a:buClr>
                    <a:schemeClr val="accent2"/>
                  </a:buClr>
                  <a:buSzPct val="80000"/>
                  <a:buFont typeface="Wingdings" panose="05000000000000000000" pitchFamily="2" charset="2"/>
                </a:pPr>
                <a:r>
                  <a:rPr lang="en-US" altLang="zh-CN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MDR      Ad (IR)</a:t>
                </a:r>
                <a:endPara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9751" name="Line 56"/>
              <p:cNvSpPr/>
              <p:nvPr/>
            </p:nvSpPr>
            <p:spPr>
              <a:xfrm>
                <a:off x="2114" y="3744"/>
                <a:ext cx="190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</p:grpSp>
        <p:grpSp>
          <p:nvGrpSpPr>
            <p:cNvPr id="29741" name="Group 57"/>
            <p:cNvGrpSpPr/>
            <p:nvPr/>
          </p:nvGrpSpPr>
          <p:grpSpPr>
            <a:xfrm>
              <a:off x="1620" y="3081"/>
              <a:ext cx="1332" cy="249"/>
              <a:chOff x="1620" y="3870"/>
              <a:chExt cx="1332" cy="249"/>
            </a:xfrm>
          </p:grpSpPr>
          <p:sp>
            <p:nvSpPr>
              <p:cNvPr id="29748" name="Rectangle 58"/>
              <p:cNvSpPr/>
              <p:nvPr/>
            </p:nvSpPr>
            <p:spPr>
              <a:xfrm>
                <a:off x="1620" y="3870"/>
                <a:ext cx="1332" cy="24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19050" rIns="19050" anchor="ctr" anchorCtr="1"/>
              <a:p>
                <a:pPr eaLnBrk="1" hangingPunct="1">
                  <a:buClr>
                    <a:schemeClr val="accent2"/>
                  </a:buClr>
                  <a:buSzPct val="80000"/>
                  <a:buFont typeface="Wingdings" panose="05000000000000000000" pitchFamily="2" charset="2"/>
                </a:pPr>
                <a:r>
                  <a:rPr lang="zh-CN" altLang="en-US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1      </a:t>
                </a:r>
                <a:r>
                  <a:rPr lang="en-US" altLang="zh-CN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EX</a:t>
                </a:r>
                <a:endPara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9749" name="Line 59"/>
              <p:cNvSpPr/>
              <p:nvPr/>
            </p:nvSpPr>
            <p:spPr>
              <a:xfrm>
                <a:off x="2112" y="4005"/>
                <a:ext cx="190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</p:grpSp>
        <p:grpSp>
          <p:nvGrpSpPr>
            <p:cNvPr id="29742" name="Group 60"/>
            <p:cNvGrpSpPr/>
            <p:nvPr/>
          </p:nvGrpSpPr>
          <p:grpSpPr>
            <a:xfrm>
              <a:off x="1176" y="3081"/>
              <a:ext cx="4440" cy="0"/>
              <a:chOff x="1176" y="3870"/>
              <a:chExt cx="4440" cy="0"/>
            </a:xfrm>
          </p:grpSpPr>
          <p:sp>
            <p:nvSpPr>
              <p:cNvPr id="29746" name="Line 61"/>
              <p:cNvSpPr/>
              <p:nvPr/>
            </p:nvSpPr>
            <p:spPr>
              <a:xfrm>
                <a:off x="1620" y="3870"/>
                <a:ext cx="3996" cy="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9747" name="Line 62"/>
              <p:cNvSpPr/>
              <p:nvPr/>
            </p:nvSpPr>
            <p:spPr>
              <a:xfrm flipH="1">
                <a:off x="1176" y="3870"/>
                <a:ext cx="45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29743" name="Group 63"/>
            <p:cNvGrpSpPr/>
            <p:nvPr/>
          </p:nvGrpSpPr>
          <p:grpSpPr>
            <a:xfrm>
              <a:off x="1200" y="3099"/>
              <a:ext cx="410" cy="250"/>
              <a:chOff x="1200" y="3099"/>
              <a:chExt cx="410" cy="250"/>
            </a:xfrm>
          </p:grpSpPr>
          <p:sp>
            <p:nvSpPr>
              <p:cNvPr id="29744" name="Text Box 64"/>
              <p:cNvSpPr txBox="1"/>
              <p:nvPr/>
            </p:nvSpPr>
            <p:spPr>
              <a:xfrm>
                <a:off x="1200" y="3099"/>
                <a:ext cx="410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sz="2000" dirty="0">
                    <a:latin typeface="Times New Roman" panose="02020603050405020304" pitchFamily="18" charset="0"/>
                  </a:rPr>
                  <a:t>IND</a:t>
                </a:r>
                <a:endParaRPr lang="en-US" altLang="zh-CN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9745" name="Freeform 65"/>
              <p:cNvSpPr/>
              <p:nvPr/>
            </p:nvSpPr>
            <p:spPr>
              <a:xfrm>
                <a:off x="1254" y="3147"/>
                <a:ext cx="291" cy="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91" y="0"/>
                  </a:cxn>
                </a:cxnLst>
                <a:pathLst>
                  <a:path w="291" h="1">
                    <a:moveTo>
                      <a:pt x="0" y="0"/>
                    </a:moveTo>
                    <a:lnTo>
                      <a:pt x="291" y="0"/>
                    </a:lnTo>
                  </a:path>
                </a:pathLst>
              </a:custGeom>
              <a:noFill/>
              <a:ln w="2857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</p:grpSp>
      <p:sp>
        <p:nvSpPr>
          <p:cNvPr id="623682" name="Text Box 66"/>
          <p:cNvSpPr txBox="1"/>
          <p:nvPr/>
        </p:nvSpPr>
        <p:spPr>
          <a:xfrm>
            <a:off x="6318250" y="3276600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000" dirty="0">
                <a:latin typeface="Times New Roman" panose="02020603050405020304" pitchFamily="18" charset="0"/>
              </a:rPr>
              <a:t>1</a:t>
            </a:r>
            <a:endParaRPr lang="zh-CN" altLang="en-US" sz="2000" dirty="0">
              <a:latin typeface="Times New Roman" panose="02020603050405020304" pitchFamily="18" charset="0"/>
            </a:endParaRPr>
          </a:p>
        </p:txBody>
      </p:sp>
      <p:sp>
        <p:nvSpPr>
          <p:cNvPr id="623683" name="Text Box 67"/>
          <p:cNvSpPr txBox="1"/>
          <p:nvPr/>
        </p:nvSpPr>
        <p:spPr>
          <a:xfrm>
            <a:off x="7004050" y="3276600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000" dirty="0">
                <a:latin typeface="Times New Roman" panose="02020603050405020304" pitchFamily="18" charset="0"/>
              </a:rPr>
              <a:t>1</a:t>
            </a:r>
            <a:endParaRPr lang="zh-CN" altLang="en-US" sz="2000" dirty="0">
              <a:latin typeface="Times New Roman" panose="02020603050405020304" pitchFamily="18" charset="0"/>
            </a:endParaRPr>
          </a:p>
        </p:txBody>
      </p:sp>
      <p:sp>
        <p:nvSpPr>
          <p:cNvPr id="623684" name="Text Box 68"/>
          <p:cNvSpPr txBox="1"/>
          <p:nvPr/>
        </p:nvSpPr>
        <p:spPr>
          <a:xfrm>
            <a:off x="7680325" y="3276600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000" dirty="0">
                <a:latin typeface="Times New Roman" panose="02020603050405020304" pitchFamily="18" charset="0"/>
              </a:rPr>
              <a:t>1</a:t>
            </a:r>
            <a:endParaRPr lang="zh-CN" altLang="en-US" sz="2000" dirty="0">
              <a:latin typeface="Times New Roman" panose="02020603050405020304" pitchFamily="18" charset="0"/>
            </a:endParaRPr>
          </a:p>
        </p:txBody>
      </p:sp>
      <p:sp>
        <p:nvSpPr>
          <p:cNvPr id="623685" name="Text Box 69"/>
          <p:cNvSpPr txBox="1"/>
          <p:nvPr/>
        </p:nvSpPr>
        <p:spPr>
          <a:xfrm>
            <a:off x="8382000" y="3276600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000" dirty="0">
                <a:latin typeface="Times New Roman" panose="02020603050405020304" pitchFamily="18" charset="0"/>
              </a:rPr>
              <a:t>1</a:t>
            </a:r>
            <a:endParaRPr lang="zh-CN" altLang="en-US" sz="2000" dirty="0">
              <a:latin typeface="Times New Roman" panose="02020603050405020304" pitchFamily="18" charset="0"/>
            </a:endParaRPr>
          </a:p>
        </p:txBody>
      </p:sp>
      <p:grpSp>
        <p:nvGrpSpPr>
          <p:cNvPr id="623686" name="Group 70"/>
          <p:cNvGrpSpPr/>
          <p:nvPr/>
        </p:nvGrpSpPr>
        <p:grpSpPr>
          <a:xfrm>
            <a:off x="6324600" y="3717925"/>
            <a:ext cx="2374900" cy="396875"/>
            <a:chOff x="3984" y="2342"/>
            <a:chExt cx="1496" cy="250"/>
          </a:xfrm>
        </p:grpSpPr>
        <p:sp>
          <p:nvSpPr>
            <p:cNvPr id="29724" name="Text Box 71"/>
            <p:cNvSpPr txBox="1"/>
            <p:nvPr/>
          </p:nvSpPr>
          <p:spPr>
            <a:xfrm>
              <a:off x="3984" y="2342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1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9725" name="Text Box 72"/>
            <p:cNvSpPr txBox="1"/>
            <p:nvPr/>
          </p:nvSpPr>
          <p:spPr>
            <a:xfrm>
              <a:off x="4416" y="2342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1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9726" name="Text Box 73"/>
            <p:cNvSpPr txBox="1"/>
            <p:nvPr/>
          </p:nvSpPr>
          <p:spPr>
            <a:xfrm>
              <a:off x="4842" y="2342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1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9727" name="Text Box 74"/>
            <p:cNvSpPr txBox="1"/>
            <p:nvPr/>
          </p:nvSpPr>
          <p:spPr>
            <a:xfrm>
              <a:off x="5284" y="2342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1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23691" name="Group 75"/>
          <p:cNvGrpSpPr/>
          <p:nvPr/>
        </p:nvGrpSpPr>
        <p:grpSpPr>
          <a:xfrm>
            <a:off x="6324600" y="4114800"/>
            <a:ext cx="2374900" cy="396875"/>
            <a:chOff x="3984" y="2592"/>
            <a:chExt cx="1496" cy="250"/>
          </a:xfrm>
        </p:grpSpPr>
        <p:sp>
          <p:nvSpPr>
            <p:cNvPr id="29720" name="Text Box 76"/>
            <p:cNvSpPr txBox="1"/>
            <p:nvPr/>
          </p:nvSpPr>
          <p:spPr>
            <a:xfrm>
              <a:off x="3984" y="2592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1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9721" name="Text Box 77"/>
            <p:cNvSpPr txBox="1"/>
            <p:nvPr/>
          </p:nvSpPr>
          <p:spPr>
            <a:xfrm>
              <a:off x="4416" y="2592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1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9722" name="Text Box 78"/>
            <p:cNvSpPr txBox="1"/>
            <p:nvPr/>
          </p:nvSpPr>
          <p:spPr>
            <a:xfrm>
              <a:off x="4842" y="2592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1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9723" name="Text Box 79"/>
            <p:cNvSpPr txBox="1"/>
            <p:nvPr/>
          </p:nvSpPr>
          <p:spPr>
            <a:xfrm>
              <a:off x="5284" y="2592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1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23696" name="Group 80"/>
          <p:cNvGrpSpPr/>
          <p:nvPr/>
        </p:nvGrpSpPr>
        <p:grpSpPr>
          <a:xfrm>
            <a:off x="6324600" y="4495800"/>
            <a:ext cx="2374900" cy="396875"/>
            <a:chOff x="3984" y="2832"/>
            <a:chExt cx="1496" cy="250"/>
          </a:xfrm>
        </p:grpSpPr>
        <p:sp>
          <p:nvSpPr>
            <p:cNvPr id="29716" name="Text Box 81"/>
            <p:cNvSpPr txBox="1"/>
            <p:nvPr/>
          </p:nvSpPr>
          <p:spPr>
            <a:xfrm>
              <a:off x="3984" y="2832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1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9717" name="Text Box 82"/>
            <p:cNvSpPr txBox="1"/>
            <p:nvPr/>
          </p:nvSpPr>
          <p:spPr>
            <a:xfrm>
              <a:off x="4416" y="2832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1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9718" name="Text Box 83"/>
            <p:cNvSpPr txBox="1"/>
            <p:nvPr/>
          </p:nvSpPr>
          <p:spPr>
            <a:xfrm>
              <a:off x="4842" y="2832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1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9719" name="Text Box 84"/>
            <p:cNvSpPr txBox="1"/>
            <p:nvPr/>
          </p:nvSpPr>
          <p:spPr>
            <a:xfrm>
              <a:off x="5284" y="2832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1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23701" name="Group 85"/>
          <p:cNvGrpSpPr/>
          <p:nvPr/>
        </p:nvGrpSpPr>
        <p:grpSpPr>
          <a:xfrm>
            <a:off x="6324600" y="4937125"/>
            <a:ext cx="2374900" cy="396875"/>
            <a:chOff x="3984" y="3110"/>
            <a:chExt cx="1496" cy="250"/>
          </a:xfrm>
        </p:grpSpPr>
        <p:sp>
          <p:nvSpPr>
            <p:cNvPr id="29712" name="Text Box 86"/>
            <p:cNvSpPr txBox="1"/>
            <p:nvPr/>
          </p:nvSpPr>
          <p:spPr>
            <a:xfrm>
              <a:off x="3984" y="3110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1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9713" name="Text Box 87"/>
            <p:cNvSpPr txBox="1"/>
            <p:nvPr/>
          </p:nvSpPr>
          <p:spPr>
            <a:xfrm>
              <a:off x="4416" y="3110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1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9714" name="Text Box 88"/>
            <p:cNvSpPr txBox="1"/>
            <p:nvPr/>
          </p:nvSpPr>
          <p:spPr>
            <a:xfrm>
              <a:off x="4842" y="3110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1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29715" name="Text Box 89"/>
            <p:cNvSpPr txBox="1"/>
            <p:nvPr/>
          </p:nvSpPr>
          <p:spPr>
            <a:xfrm>
              <a:off x="5284" y="3110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1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623706" name="Rectangle 90"/>
          <p:cNvSpPr>
            <a:spLocks noChangeArrowheads="1"/>
          </p:cNvSpPr>
          <p:nvPr/>
        </p:nvSpPr>
        <p:spPr bwMode="auto">
          <a:xfrm>
            <a:off x="7696200" y="152400"/>
            <a:ext cx="1447800" cy="838200"/>
          </a:xfrm>
          <a:prstGeom prst="rect">
            <a:avLst/>
          </a:prstGeom>
          <a:noFill/>
          <a:ln>
            <a:noFill/>
          </a:ln>
          <a:effectLst/>
        </p:spPr>
        <p:txBody>
          <a:bodyPr lIns="92075" tIns="46038" rIns="92075" bIns="46038" anchor="ctr"/>
          <a:lstStyle>
            <a:lvl1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10.1</a:t>
            </a:r>
            <a:endParaRPr kumimoji="1" lang="zh-CN" altLang="en-US" sz="4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711" name="AutoShape 91">
            <a:hlinkClick r:id="rId1" action="ppaction://hlinksldjump"/>
          </p:cNvPr>
          <p:cNvSpPr/>
          <p:nvPr/>
        </p:nvSpPr>
        <p:spPr>
          <a:xfrm>
            <a:off x="8589963" y="6516688"/>
            <a:ext cx="539750" cy="333375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endParaRPr lang="zh-CN" altLang="en-US" dirty="0">
              <a:latin typeface="等线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23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23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23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23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23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23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623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623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3682" grpId="0"/>
      <p:bldP spid="623683" grpId="0"/>
      <p:bldP spid="623684" grpId="0"/>
      <p:bldP spid="62368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2586038" y="3987800"/>
            <a:ext cx="6465888" cy="406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0723" name="Text Box 2"/>
          <p:cNvSpPr txBox="1"/>
          <p:nvPr/>
        </p:nvSpPr>
        <p:spPr>
          <a:xfrm>
            <a:off x="381000" y="304800"/>
            <a:ext cx="4772025" cy="6413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3600" dirty="0">
                <a:latin typeface="Times New Roman" panose="02020603050405020304" pitchFamily="18" charset="0"/>
              </a:rPr>
              <a:t>三、组合逻辑设计步骤</a:t>
            </a:r>
            <a:endParaRPr lang="zh-CN" altLang="en-US" sz="3600" dirty="0">
              <a:latin typeface="Times New Roman" panose="02020603050405020304" pitchFamily="18" charset="0"/>
            </a:endParaRPr>
          </a:p>
        </p:txBody>
      </p:sp>
      <p:sp>
        <p:nvSpPr>
          <p:cNvPr id="30724" name="Text Box 3"/>
          <p:cNvSpPr txBox="1"/>
          <p:nvPr/>
        </p:nvSpPr>
        <p:spPr>
          <a:xfrm>
            <a:off x="998538" y="1066800"/>
            <a:ext cx="3040062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</a:rPr>
              <a:t>1. 列出操作时间表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grpSp>
        <p:nvGrpSpPr>
          <p:cNvPr id="30725" name="Group 4"/>
          <p:cNvGrpSpPr/>
          <p:nvPr/>
        </p:nvGrpSpPr>
        <p:grpSpPr>
          <a:xfrm>
            <a:off x="457200" y="1700213"/>
            <a:ext cx="8477250" cy="4743450"/>
            <a:chOff x="288" y="1200"/>
            <a:chExt cx="5340" cy="2988"/>
          </a:xfrm>
        </p:grpSpPr>
        <p:sp>
          <p:nvSpPr>
            <p:cNvPr id="30741" name="Rectangle 5"/>
            <p:cNvSpPr/>
            <p:nvPr/>
          </p:nvSpPr>
          <p:spPr>
            <a:xfrm>
              <a:off x="742" y="3150"/>
              <a:ext cx="434" cy="1038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050" rIns="19050" anchor="ctr" anchorCtr="1"/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en-US" altLang="zh-CN" sz="2000" i="1" dirty="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T</a:t>
              </a:r>
              <a:r>
                <a:rPr lang="en-US" altLang="zh-CN" sz="2000" baseline="-25000" dirty="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endParaRPr lang="zh-CN" altLang="en-US" sz="2000" baseline="-25000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742" name="Rectangle 6"/>
            <p:cNvSpPr/>
            <p:nvPr/>
          </p:nvSpPr>
          <p:spPr>
            <a:xfrm>
              <a:off x="742" y="2640"/>
              <a:ext cx="434" cy="51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050" rIns="19050" anchor="ctr" anchorCtr="1"/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en-US" altLang="zh-CN" sz="2000" i="1" dirty="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T</a:t>
              </a:r>
              <a:r>
                <a:rPr lang="en-US" altLang="zh-CN" sz="2000" baseline="-25000" dirty="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zh-CN" altLang="en-US" sz="2000" baseline="-25000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743" name="Rectangle 7"/>
            <p:cNvSpPr/>
            <p:nvPr/>
          </p:nvSpPr>
          <p:spPr>
            <a:xfrm>
              <a:off x="742" y="2016"/>
              <a:ext cx="434" cy="498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050" rIns="19050" anchor="ctr" anchorCtr="1"/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en-US" altLang="zh-CN" sz="2000" i="1" dirty="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T</a:t>
              </a:r>
              <a:r>
                <a:rPr lang="en-US" altLang="zh-CN" sz="2000" baseline="-25000" dirty="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lang="en-US" altLang="zh-CN" sz="2000" baseline="-25000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0744" name="Rectangle 8"/>
            <p:cNvSpPr/>
            <p:nvPr/>
          </p:nvSpPr>
          <p:spPr>
            <a:xfrm>
              <a:off x="288" y="1833"/>
              <a:ext cx="454" cy="204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050" rIns="19050" anchor="ctr" anchorCtr="1"/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EX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执行 </a:t>
              </a:r>
              <a:endPara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30745" name="Group 9"/>
            <p:cNvGrpSpPr/>
            <p:nvPr/>
          </p:nvGrpSpPr>
          <p:grpSpPr>
            <a:xfrm>
              <a:off x="288" y="1200"/>
              <a:ext cx="5328" cy="2976"/>
              <a:chOff x="288" y="1200"/>
              <a:chExt cx="5328" cy="2976"/>
            </a:xfrm>
          </p:grpSpPr>
          <p:sp>
            <p:nvSpPr>
              <p:cNvPr id="30781" name="Line 10"/>
              <p:cNvSpPr/>
              <p:nvPr/>
            </p:nvSpPr>
            <p:spPr>
              <a:xfrm>
                <a:off x="288" y="1833"/>
                <a:ext cx="5328" cy="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grpSp>
            <p:nvGrpSpPr>
              <p:cNvPr id="30782" name="Group 11"/>
              <p:cNvGrpSpPr/>
              <p:nvPr/>
            </p:nvGrpSpPr>
            <p:grpSpPr>
              <a:xfrm>
                <a:off x="288" y="1200"/>
                <a:ext cx="5328" cy="2976"/>
                <a:chOff x="288" y="1200"/>
                <a:chExt cx="5328" cy="2976"/>
              </a:xfrm>
            </p:grpSpPr>
            <p:sp>
              <p:nvSpPr>
                <p:cNvPr id="30783" name="Line 12"/>
                <p:cNvSpPr/>
                <p:nvPr/>
              </p:nvSpPr>
              <p:spPr>
                <a:xfrm>
                  <a:off x="5616" y="1200"/>
                  <a:ext cx="0" cy="2974"/>
                </a:xfrm>
                <a:prstGeom prst="line">
                  <a:avLst/>
                </a:prstGeom>
                <a:ln w="28575" cap="sq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grpSp>
              <p:nvGrpSpPr>
                <p:cNvPr id="30784" name="Group 13"/>
                <p:cNvGrpSpPr/>
                <p:nvPr/>
              </p:nvGrpSpPr>
              <p:grpSpPr>
                <a:xfrm>
                  <a:off x="288" y="1200"/>
                  <a:ext cx="5328" cy="2976"/>
                  <a:chOff x="288" y="1200"/>
                  <a:chExt cx="5328" cy="2976"/>
                </a:xfrm>
              </p:grpSpPr>
              <p:sp>
                <p:nvSpPr>
                  <p:cNvPr id="30785" name="Line 14"/>
                  <p:cNvSpPr/>
                  <p:nvPr/>
                </p:nvSpPr>
                <p:spPr>
                  <a:xfrm>
                    <a:off x="2952" y="1200"/>
                    <a:ext cx="0" cy="2974"/>
                  </a:xfrm>
                  <a:prstGeom prst="line">
                    <a:avLst/>
                  </a:prstGeom>
                  <a:ln w="127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0786" name="Line 15"/>
                  <p:cNvSpPr/>
                  <p:nvPr/>
                </p:nvSpPr>
                <p:spPr>
                  <a:xfrm>
                    <a:off x="3396" y="1200"/>
                    <a:ext cx="0" cy="2974"/>
                  </a:xfrm>
                  <a:prstGeom prst="line">
                    <a:avLst/>
                  </a:prstGeom>
                  <a:ln w="127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0787" name="Line 16"/>
                  <p:cNvSpPr/>
                  <p:nvPr/>
                </p:nvSpPr>
                <p:spPr>
                  <a:xfrm>
                    <a:off x="3840" y="1200"/>
                    <a:ext cx="0" cy="2974"/>
                  </a:xfrm>
                  <a:prstGeom prst="line">
                    <a:avLst/>
                  </a:prstGeom>
                  <a:ln w="127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0788" name="Line 17"/>
                  <p:cNvSpPr/>
                  <p:nvPr/>
                </p:nvSpPr>
                <p:spPr>
                  <a:xfrm>
                    <a:off x="4284" y="1200"/>
                    <a:ext cx="0" cy="2974"/>
                  </a:xfrm>
                  <a:prstGeom prst="line">
                    <a:avLst/>
                  </a:prstGeom>
                  <a:ln w="127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0789" name="Line 18"/>
                  <p:cNvSpPr/>
                  <p:nvPr/>
                </p:nvSpPr>
                <p:spPr>
                  <a:xfrm>
                    <a:off x="4728" y="1200"/>
                    <a:ext cx="0" cy="2974"/>
                  </a:xfrm>
                  <a:prstGeom prst="line">
                    <a:avLst/>
                  </a:prstGeom>
                  <a:ln w="127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30790" name="Line 19"/>
                  <p:cNvSpPr/>
                  <p:nvPr/>
                </p:nvSpPr>
                <p:spPr>
                  <a:xfrm>
                    <a:off x="5172" y="1200"/>
                    <a:ext cx="0" cy="2974"/>
                  </a:xfrm>
                  <a:prstGeom prst="line">
                    <a:avLst/>
                  </a:prstGeom>
                  <a:ln w="12700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grpSp>
                <p:nvGrpSpPr>
                  <p:cNvPr id="30791" name="Group 20"/>
                  <p:cNvGrpSpPr/>
                  <p:nvPr/>
                </p:nvGrpSpPr>
                <p:grpSpPr>
                  <a:xfrm>
                    <a:off x="288" y="1200"/>
                    <a:ext cx="5328" cy="2976"/>
                    <a:chOff x="288" y="1200"/>
                    <a:chExt cx="5328" cy="2976"/>
                  </a:xfrm>
                </p:grpSpPr>
                <p:sp>
                  <p:nvSpPr>
                    <p:cNvPr id="30792" name="Line 21"/>
                    <p:cNvSpPr/>
                    <p:nvPr/>
                  </p:nvSpPr>
                  <p:spPr>
                    <a:xfrm>
                      <a:off x="742" y="1200"/>
                      <a:ext cx="0" cy="2974"/>
                    </a:xfrm>
                    <a:prstGeom prst="line">
                      <a:avLst/>
                    </a:prstGeom>
                    <a:ln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30793" name="Line 22"/>
                    <p:cNvSpPr/>
                    <p:nvPr/>
                  </p:nvSpPr>
                  <p:spPr>
                    <a:xfrm>
                      <a:off x="1176" y="1200"/>
                      <a:ext cx="0" cy="2974"/>
                    </a:xfrm>
                    <a:prstGeom prst="line">
                      <a:avLst/>
                    </a:prstGeom>
                    <a:ln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  <p:sp>
                  <p:nvSpPr>
                    <p:cNvPr id="30794" name="Line 23"/>
                    <p:cNvSpPr/>
                    <p:nvPr/>
                  </p:nvSpPr>
                  <p:spPr>
                    <a:xfrm>
                      <a:off x="1620" y="1200"/>
                      <a:ext cx="0" cy="2974"/>
                    </a:xfrm>
                    <a:prstGeom prst="line">
                      <a:avLst/>
                    </a:prstGeom>
                    <a:ln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</p:sp>
                <p:grpSp>
                  <p:nvGrpSpPr>
                    <p:cNvPr id="30795" name="Group 24"/>
                    <p:cNvGrpSpPr/>
                    <p:nvPr/>
                  </p:nvGrpSpPr>
                  <p:grpSpPr>
                    <a:xfrm>
                      <a:off x="288" y="1200"/>
                      <a:ext cx="5328" cy="2976"/>
                      <a:chOff x="288" y="1200"/>
                      <a:chExt cx="5328" cy="2976"/>
                    </a:xfrm>
                  </p:grpSpPr>
                  <p:sp>
                    <p:nvSpPr>
                      <p:cNvPr id="30796" name="Line 25"/>
                      <p:cNvSpPr/>
                      <p:nvPr/>
                    </p:nvSpPr>
                    <p:spPr>
                      <a:xfrm>
                        <a:off x="3840" y="1200"/>
                        <a:ext cx="444" cy="0"/>
                      </a:xfrm>
                      <a:prstGeom prst="line">
                        <a:avLst/>
                      </a:prstGeom>
                      <a:ln w="28575" cap="flat" cmpd="sng">
                        <a:solidFill>
                          <a:schemeClr val="tx1"/>
                        </a:solidFill>
                        <a:prstDash val="solid"/>
                        <a:headEnd type="none" w="med" len="med"/>
                        <a:tailEnd type="none" w="med" len="med"/>
                      </a:ln>
                    </p:spPr>
                  </p:sp>
                  <p:grpSp>
                    <p:nvGrpSpPr>
                      <p:cNvPr id="30797" name="Group 26"/>
                      <p:cNvGrpSpPr/>
                      <p:nvPr/>
                    </p:nvGrpSpPr>
                    <p:grpSpPr>
                      <a:xfrm>
                        <a:off x="288" y="1200"/>
                        <a:ext cx="5328" cy="2976"/>
                        <a:chOff x="288" y="1200"/>
                        <a:chExt cx="5328" cy="2976"/>
                      </a:xfrm>
                    </p:grpSpPr>
                    <p:sp>
                      <p:nvSpPr>
                        <p:cNvPr id="30798" name="Line 27"/>
                        <p:cNvSpPr/>
                        <p:nvPr/>
                      </p:nvSpPr>
                      <p:spPr>
                        <a:xfrm>
                          <a:off x="288" y="4176"/>
                          <a:ext cx="5328" cy="0"/>
                        </a:xfrm>
                        <a:prstGeom prst="line">
                          <a:avLst/>
                        </a:prstGeom>
                        <a:ln w="28575" cap="sq" cmpd="sng">
                          <a:solidFill>
                            <a:schemeClr val="tx1"/>
                          </a:solidFill>
                          <a:prstDash val="solid"/>
                          <a:headEnd type="none" w="med" len="med"/>
                          <a:tailEnd type="none" w="med" len="med"/>
                        </a:ln>
                      </p:spPr>
                    </p:sp>
                    <p:sp>
                      <p:nvSpPr>
                        <p:cNvPr id="30799" name="Rectangle 28"/>
                        <p:cNvSpPr/>
                        <p:nvPr/>
                      </p:nvSpPr>
                      <p:spPr>
                        <a:xfrm>
                          <a:off x="5172" y="1200"/>
                          <a:ext cx="444" cy="63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  <p:txBody>
                        <a:bodyPr lIns="19050" rIns="19050" anchor="ctr" anchorCtr="1"/>
                        <a:p>
                          <a:pPr eaLnBrk="1" hangingPunct="1">
                            <a:buClr>
                              <a:schemeClr val="accent2"/>
                            </a:buClr>
                            <a:buSzPct val="80000"/>
                            <a:buFont typeface="Wingdings" panose="05000000000000000000" pitchFamily="2" charset="2"/>
                          </a:pPr>
                          <a:r>
                            <a:rPr lang="en-US" altLang="zh-CN" sz="2000" dirty="0">
                              <a:latin typeface="Times New Roman" panose="02020603050405020304" pitchFamily="18" charset="0"/>
                              <a:ea typeface="宋体" panose="02010600030101010101" pitchFamily="2" charset="-122"/>
                            </a:rPr>
                            <a:t>JMP</a:t>
                          </a:r>
                          <a:endParaRPr lang="en-US" altLang="zh-CN" sz="2000" dirty="0"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30800" name="Rectangle 29"/>
                        <p:cNvSpPr/>
                        <p:nvPr/>
                      </p:nvSpPr>
                      <p:spPr>
                        <a:xfrm>
                          <a:off x="4728" y="1200"/>
                          <a:ext cx="444" cy="63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  <p:txBody>
                        <a:bodyPr lIns="19050" rIns="19050" anchor="ctr" anchorCtr="1"/>
                        <a:p>
                          <a:pPr eaLnBrk="1" hangingPunct="1">
                            <a:buClr>
                              <a:schemeClr val="accent2"/>
                            </a:buClr>
                            <a:buSzPct val="80000"/>
                            <a:buFont typeface="Wingdings" panose="05000000000000000000" pitchFamily="2" charset="2"/>
                          </a:pPr>
                          <a:r>
                            <a:rPr lang="en-US" altLang="zh-CN" sz="2000" dirty="0">
                              <a:latin typeface="Times New Roman" panose="02020603050405020304" pitchFamily="18" charset="0"/>
                              <a:ea typeface="宋体" panose="02010600030101010101" pitchFamily="2" charset="-122"/>
                            </a:rPr>
                            <a:t>LDA</a:t>
                          </a:r>
                          <a:endParaRPr lang="en-US" altLang="zh-CN" sz="2000" dirty="0"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30801" name="Rectangle 30"/>
                        <p:cNvSpPr/>
                        <p:nvPr/>
                      </p:nvSpPr>
                      <p:spPr>
                        <a:xfrm>
                          <a:off x="4284" y="1200"/>
                          <a:ext cx="444" cy="63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  <p:txBody>
                        <a:bodyPr lIns="19050" rIns="19050" anchor="ctr" anchorCtr="1"/>
                        <a:p>
                          <a:pPr eaLnBrk="1" hangingPunct="1">
                            <a:buClr>
                              <a:schemeClr val="accent2"/>
                            </a:buClr>
                            <a:buSzPct val="80000"/>
                            <a:buFont typeface="Wingdings" panose="05000000000000000000" pitchFamily="2" charset="2"/>
                          </a:pPr>
                          <a:r>
                            <a:rPr lang="en-US" altLang="zh-CN" sz="2000" dirty="0">
                              <a:latin typeface="Times New Roman" panose="02020603050405020304" pitchFamily="18" charset="0"/>
                              <a:ea typeface="宋体" panose="02010600030101010101" pitchFamily="2" charset="-122"/>
                            </a:rPr>
                            <a:t>STA</a:t>
                          </a:r>
                          <a:endParaRPr lang="en-US" altLang="zh-CN" sz="2000" dirty="0"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30802" name="Rectangle 31"/>
                        <p:cNvSpPr/>
                        <p:nvPr/>
                      </p:nvSpPr>
                      <p:spPr>
                        <a:xfrm>
                          <a:off x="3840" y="1200"/>
                          <a:ext cx="444" cy="63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  <p:txBody>
                        <a:bodyPr lIns="19050" rIns="19050" anchor="ctr" anchorCtr="1"/>
                        <a:p>
                          <a:pPr eaLnBrk="1" hangingPunct="1">
                            <a:buClr>
                              <a:schemeClr val="accent2"/>
                            </a:buClr>
                            <a:buSzPct val="80000"/>
                            <a:buFont typeface="Wingdings" panose="05000000000000000000" pitchFamily="2" charset="2"/>
                          </a:pPr>
                          <a:r>
                            <a:rPr lang="en-US" altLang="zh-CN" sz="2000" dirty="0">
                              <a:latin typeface="Times New Roman" panose="02020603050405020304" pitchFamily="18" charset="0"/>
                              <a:ea typeface="宋体" panose="02010600030101010101" pitchFamily="2" charset="-122"/>
                            </a:rPr>
                            <a:t>ADD</a:t>
                          </a:r>
                          <a:endParaRPr lang="en-US" altLang="zh-CN" sz="2000" dirty="0"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30803" name="Rectangle 32"/>
                        <p:cNvSpPr/>
                        <p:nvPr/>
                      </p:nvSpPr>
                      <p:spPr>
                        <a:xfrm>
                          <a:off x="3396" y="1200"/>
                          <a:ext cx="444" cy="63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  <p:txBody>
                        <a:bodyPr lIns="19050" rIns="19050" anchor="ctr" anchorCtr="1"/>
                        <a:p>
                          <a:pPr eaLnBrk="1" hangingPunct="1">
                            <a:buClr>
                              <a:schemeClr val="accent2"/>
                            </a:buClr>
                            <a:buSzPct val="80000"/>
                            <a:buFont typeface="Wingdings" panose="05000000000000000000" pitchFamily="2" charset="2"/>
                          </a:pPr>
                          <a:r>
                            <a:rPr lang="en-US" altLang="zh-CN" sz="2000" dirty="0">
                              <a:latin typeface="Times New Roman" panose="02020603050405020304" pitchFamily="18" charset="0"/>
                              <a:ea typeface="宋体" panose="02010600030101010101" pitchFamily="2" charset="-122"/>
                            </a:rPr>
                            <a:t>COM</a:t>
                          </a:r>
                          <a:endParaRPr lang="en-US" altLang="zh-CN" sz="2000" dirty="0"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30804" name="Rectangle 33"/>
                        <p:cNvSpPr/>
                        <p:nvPr/>
                      </p:nvSpPr>
                      <p:spPr>
                        <a:xfrm>
                          <a:off x="2952" y="1200"/>
                          <a:ext cx="444" cy="63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  <p:txBody>
                        <a:bodyPr lIns="19050" rIns="19050" anchor="ctr" anchorCtr="1"/>
                        <a:p>
                          <a:pPr eaLnBrk="1" hangingPunct="1">
                            <a:buClr>
                              <a:schemeClr val="accent2"/>
                            </a:buClr>
                            <a:buSzPct val="80000"/>
                            <a:buFont typeface="Wingdings" panose="05000000000000000000" pitchFamily="2" charset="2"/>
                          </a:pPr>
                          <a:r>
                            <a:rPr lang="en-US" altLang="zh-CN" sz="2000" dirty="0">
                              <a:latin typeface="Times New Roman" panose="02020603050405020304" pitchFamily="18" charset="0"/>
                              <a:ea typeface="宋体" panose="02010600030101010101" pitchFamily="2" charset="-122"/>
                            </a:rPr>
                            <a:t>CLA</a:t>
                          </a:r>
                          <a:endParaRPr lang="en-US" altLang="zh-CN" sz="2000" dirty="0"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30805" name="Rectangle 34"/>
                        <p:cNvSpPr/>
                        <p:nvPr/>
                      </p:nvSpPr>
                      <p:spPr>
                        <a:xfrm>
                          <a:off x="1620" y="1200"/>
                          <a:ext cx="1332" cy="63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  <p:txBody>
                        <a:bodyPr lIns="19050" rIns="19050" anchor="ctr" anchorCtr="1"/>
                        <a:p>
                          <a:pPr eaLnBrk="1" hangingPunct="1">
                            <a:buClr>
                              <a:schemeClr val="accent2"/>
                            </a:buClr>
                            <a:buSzPct val="80000"/>
                            <a:buFont typeface="Wingdings" panose="05000000000000000000" pitchFamily="2" charset="2"/>
                          </a:pPr>
                          <a:r>
                            <a:rPr lang="zh-CN" altLang="en-US" sz="2000" dirty="0">
                              <a:latin typeface="Times New Roman" panose="02020603050405020304" pitchFamily="18" charset="0"/>
                              <a:ea typeface="宋体" panose="02010600030101010101" pitchFamily="2" charset="-122"/>
                            </a:rPr>
                            <a:t>微操作命令信号</a:t>
                          </a:r>
                          <a:endParaRPr lang="zh-CN" altLang="en-US" sz="2000" dirty="0"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30806" name="Rectangle 35"/>
                        <p:cNvSpPr/>
                        <p:nvPr/>
                      </p:nvSpPr>
                      <p:spPr>
                        <a:xfrm>
                          <a:off x="1176" y="1200"/>
                          <a:ext cx="444" cy="63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  <p:txBody>
                        <a:bodyPr lIns="19050" rIns="19050" anchor="ctr" anchorCtr="1"/>
                        <a:p>
                          <a:pPr eaLnBrk="1" hangingPunct="1">
                            <a:buClr>
                              <a:schemeClr val="accent2"/>
                            </a:buClr>
                            <a:buSzPct val="80000"/>
                            <a:buFont typeface="Wingdings" panose="05000000000000000000" pitchFamily="2" charset="2"/>
                          </a:pPr>
                          <a:r>
                            <a:rPr lang="zh-CN" altLang="en-US" sz="2000" dirty="0">
                              <a:latin typeface="Times New Roman" panose="02020603050405020304" pitchFamily="18" charset="0"/>
                              <a:ea typeface="宋体" panose="02010600030101010101" pitchFamily="2" charset="-122"/>
                            </a:rPr>
                            <a:t>状态条件</a:t>
                          </a:r>
                          <a:endParaRPr lang="zh-CN" altLang="en-US" sz="2000" dirty="0"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30807" name="Rectangle 36"/>
                        <p:cNvSpPr/>
                        <p:nvPr/>
                      </p:nvSpPr>
                      <p:spPr>
                        <a:xfrm>
                          <a:off x="742" y="1200"/>
                          <a:ext cx="434" cy="63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  <p:txBody>
                        <a:bodyPr lIns="19050" rIns="19050" anchor="ctr" anchorCtr="1"/>
                        <a:p>
                          <a:pPr eaLnBrk="1" hangingPunct="1">
                            <a:buClr>
                              <a:schemeClr val="accent2"/>
                            </a:buClr>
                            <a:buSzPct val="80000"/>
                            <a:buFont typeface="Wingdings" panose="05000000000000000000" pitchFamily="2" charset="2"/>
                          </a:pPr>
                          <a:r>
                            <a:rPr lang="zh-CN" altLang="en-US" sz="2000" dirty="0">
                              <a:latin typeface="Times New Roman" panose="02020603050405020304" pitchFamily="18" charset="0"/>
                              <a:ea typeface="宋体" panose="02010600030101010101" pitchFamily="2" charset="-122"/>
                            </a:rPr>
                            <a:t>节拍</a:t>
                          </a:r>
                          <a:endParaRPr lang="zh-CN" altLang="en-US" sz="2000" dirty="0"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30808" name="Rectangle 37"/>
                        <p:cNvSpPr/>
                        <p:nvPr/>
                      </p:nvSpPr>
                      <p:spPr>
                        <a:xfrm>
                          <a:off x="288" y="1200"/>
                          <a:ext cx="454" cy="63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  <p:txBody>
                        <a:bodyPr lIns="19050" rIns="19050" anchor="ctr" anchorCtr="1"/>
                        <a:p>
                          <a:pPr eaLnBrk="1" hangingPunct="1">
                            <a:buClr>
                              <a:schemeClr val="accent2"/>
                            </a:buClr>
                            <a:buSzPct val="80000"/>
                            <a:buFont typeface="Wingdings" panose="05000000000000000000" pitchFamily="2" charset="2"/>
                          </a:pPr>
                          <a:r>
                            <a:rPr lang="zh-CN" altLang="en-US" sz="2000" dirty="0">
                              <a:latin typeface="Times New Roman" panose="02020603050405020304" pitchFamily="18" charset="0"/>
                              <a:ea typeface="宋体" panose="02010600030101010101" pitchFamily="2" charset="-122"/>
                            </a:rPr>
                            <a:t>工作周期标记</a:t>
                          </a:r>
                          <a:endParaRPr lang="zh-CN" altLang="en-US" sz="2000" dirty="0">
                            <a:latin typeface="Times New Roman" panose="02020603050405020304" pitchFamily="18" charset="0"/>
                            <a:ea typeface="宋体" panose="02010600030101010101" pitchFamily="2" charset="-122"/>
                          </a:endParaRPr>
                        </a:p>
                      </p:txBody>
                    </p:sp>
                    <p:sp>
                      <p:nvSpPr>
                        <p:cNvPr id="30809" name="Line 38"/>
                        <p:cNvSpPr/>
                        <p:nvPr/>
                      </p:nvSpPr>
                      <p:spPr>
                        <a:xfrm>
                          <a:off x="288" y="1200"/>
                          <a:ext cx="0" cy="2974"/>
                        </a:xfrm>
                        <a:prstGeom prst="line">
                          <a:avLst/>
                        </a:prstGeom>
                        <a:ln w="28575" cap="sq" cmpd="sng">
                          <a:solidFill>
                            <a:schemeClr val="tx1"/>
                          </a:solidFill>
                          <a:prstDash val="solid"/>
                          <a:headEnd type="none" w="med" len="med"/>
                          <a:tailEnd type="none" w="med" len="med"/>
                        </a:ln>
                      </p:spPr>
                    </p:sp>
                    <p:sp>
                      <p:nvSpPr>
                        <p:cNvPr id="30810" name="Line 39"/>
                        <p:cNvSpPr/>
                        <p:nvPr/>
                      </p:nvSpPr>
                      <p:spPr>
                        <a:xfrm>
                          <a:off x="288" y="1200"/>
                          <a:ext cx="3552" cy="0"/>
                        </a:xfrm>
                        <a:prstGeom prst="line">
                          <a:avLst/>
                        </a:prstGeom>
                        <a:ln w="28575" cap="sq" cmpd="sng">
                          <a:solidFill>
                            <a:schemeClr val="tx1"/>
                          </a:solidFill>
                          <a:prstDash val="solid"/>
                          <a:headEnd type="none" w="med" len="med"/>
                          <a:tailEnd type="none" w="med" len="med"/>
                        </a:ln>
                      </p:spPr>
                    </p:sp>
                    <p:sp>
                      <p:nvSpPr>
                        <p:cNvPr id="30811" name="Line 40"/>
                        <p:cNvSpPr/>
                        <p:nvPr/>
                      </p:nvSpPr>
                      <p:spPr>
                        <a:xfrm>
                          <a:off x="4284" y="1200"/>
                          <a:ext cx="1332" cy="0"/>
                        </a:xfrm>
                        <a:prstGeom prst="line">
                          <a:avLst/>
                        </a:prstGeom>
                        <a:ln w="28575" cap="sq" cmpd="sng">
                          <a:solidFill>
                            <a:schemeClr val="tx1"/>
                          </a:solidFill>
                          <a:prstDash val="solid"/>
                          <a:headEnd type="none" w="med" len="med"/>
                          <a:tailEnd type="none" w="med" len="med"/>
                        </a:ln>
                      </p:spPr>
                    </p:sp>
                  </p:grpSp>
                </p:grpSp>
              </p:grpSp>
            </p:grpSp>
          </p:grpSp>
        </p:grpSp>
        <p:sp>
          <p:nvSpPr>
            <p:cNvPr id="30746" name="Line 41"/>
            <p:cNvSpPr/>
            <p:nvPr/>
          </p:nvSpPr>
          <p:spPr>
            <a:xfrm>
              <a:off x="1620" y="2082"/>
              <a:ext cx="399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47" name="Line 42"/>
            <p:cNvSpPr/>
            <p:nvPr/>
          </p:nvSpPr>
          <p:spPr>
            <a:xfrm>
              <a:off x="1620" y="2901"/>
              <a:ext cx="399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48" name="Line 43"/>
            <p:cNvSpPr/>
            <p:nvPr/>
          </p:nvSpPr>
          <p:spPr>
            <a:xfrm>
              <a:off x="1620" y="3441"/>
              <a:ext cx="399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49" name="Freeform 44"/>
            <p:cNvSpPr/>
            <p:nvPr/>
          </p:nvSpPr>
          <p:spPr>
            <a:xfrm>
              <a:off x="1618" y="3689"/>
              <a:ext cx="3998" cy="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998" y="1"/>
                </a:cxn>
              </a:cxnLst>
              <a:pathLst>
                <a:path w="3998" h="1">
                  <a:moveTo>
                    <a:pt x="0" y="0"/>
                  </a:moveTo>
                  <a:lnTo>
                    <a:pt x="3998" y="1"/>
                  </a:lnTo>
                </a:path>
              </a:pathLst>
            </a:custGeom>
            <a:noFill/>
            <a:ln w="127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0750" name="Line 45"/>
            <p:cNvSpPr/>
            <p:nvPr/>
          </p:nvSpPr>
          <p:spPr>
            <a:xfrm>
              <a:off x="742" y="3150"/>
              <a:ext cx="4874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51" name="Line 46"/>
            <p:cNvSpPr/>
            <p:nvPr/>
          </p:nvSpPr>
          <p:spPr>
            <a:xfrm>
              <a:off x="742" y="2640"/>
              <a:ext cx="4874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30752" name="Group 47"/>
            <p:cNvGrpSpPr/>
            <p:nvPr/>
          </p:nvGrpSpPr>
          <p:grpSpPr>
            <a:xfrm>
              <a:off x="1620" y="1833"/>
              <a:ext cx="1332" cy="249"/>
              <a:chOff x="1620" y="1833"/>
              <a:chExt cx="1332" cy="249"/>
            </a:xfrm>
          </p:grpSpPr>
          <p:sp>
            <p:nvSpPr>
              <p:cNvPr id="30779" name="Rectangle 48"/>
              <p:cNvSpPr/>
              <p:nvPr/>
            </p:nvSpPr>
            <p:spPr>
              <a:xfrm>
                <a:off x="1620" y="1833"/>
                <a:ext cx="1332" cy="24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19050" rIns="19050" anchor="ctr" anchorCtr="1"/>
              <a:p>
                <a:pPr eaLnBrk="1" hangingPunct="1">
                  <a:buClr>
                    <a:schemeClr val="accent2"/>
                  </a:buClr>
                  <a:buSzPct val="80000"/>
                  <a:buFont typeface="Wingdings" panose="05000000000000000000" pitchFamily="2" charset="2"/>
                </a:pPr>
                <a:r>
                  <a:rPr lang="en-US" altLang="zh-CN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Ad (IR)      MAR</a:t>
                </a:r>
                <a:endPara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0780" name="Line 49"/>
              <p:cNvSpPr/>
              <p:nvPr/>
            </p:nvSpPr>
            <p:spPr>
              <a:xfrm>
                <a:off x="2258" y="1968"/>
                <a:ext cx="190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</p:grpSp>
        <p:grpSp>
          <p:nvGrpSpPr>
            <p:cNvPr id="30753" name="Group 50"/>
            <p:cNvGrpSpPr/>
            <p:nvPr/>
          </p:nvGrpSpPr>
          <p:grpSpPr>
            <a:xfrm>
              <a:off x="1620" y="2082"/>
              <a:ext cx="1332" cy="249"/>
              <a:chOff x="1620" y="2322"/>
              <a:chExt cx="1332" cy="249"/>
            </a:xfrm>
          </p:grpSpPr>
          <p:sp>
            <p:nvSpPr>
              <p:cNvPr id="30777" name="Rectangle 51"/>
              <p:cNvSpPr/>
              <p:nvPr/>
            </p:nvSpPr>
            <p:spPr>
              <a:xfrm>
                <a:off x="1620" y="2322"/>
                <a:ext cx="1332" cy="24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19050" rIns="19050" anchor="ctr" anchorCtr="1"/>
              <a:p>
                <a:pPr eaLnBrk="1" hangingPunct="1">
                  <a:buClr>
                    <a:schemeClr val="accent2"/>
                  </a:buClr>
                  <a:buSzPct val="80000"/>
                  <a:buFont typeface="Wingdings" panose="05000000000000000000" pitchFamily="2" charset="2"/>
                </a:pPr>
                <a:r>
                  <a:rPr lang="zh-CN" altLang="en-US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1      </a:t>
                </a:r>
                <a:r>
                  <a:rPr lang="en-US" altLang="zh-CN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R</a:t>
                </a:r>
                <a:endPara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0778" name="Line 52"/>
              <p:cNvSpPr/>
              <p:nvPr/>
            </p:nvSpPr>
            <p:spPr>
              <a:xfrm>
                <a:off x="2160" y="2448"/>
                <a:ext cx="190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</p:grpSp>
        <p:grpSp>
          <p:nvGrpSpPr>
            <p:cNvPr id="30754" name="Group 53"/>
            <p:cNvGrpSpPr/>
            <p:nvPr/>
          </p:nvGrpSpPr>
          <p:grpSpPr>
            <a:xfrm>
              <a:off x="1620" y="2640"/>
              <a:ext cx="1332" cy="261"/>
              <a:chOff x="1620" y="2571"/>
              <a:chExt cx="1332" cy="261"/>
            </a:xfrm>
          </p:grpSpPr>
          <p:sp>
            <p:nvSpPr>
              <p:cNvPr id="30775" name="Rectangle 54"/>
              <p:cNvSpPr/>
              <p:nvPr/>
            </p:nvSpPr>
            <p:spPr>
              <a:xfrm>
                <a:off x="1620" y="2571"/>
                <a:ext cx="1332" cy="26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19050" rIns="19050" anchor="ctr" anchorCtr="1"/>
              <a:p>
                <a:pPr eaLnBrk="1" hangingPunct="1">
                  <a:buClr>
                    <a:schemeClr val="accent2"/>
                  </a:buClr>
                  <a:buSzPct val="80000"/>
                  <a:buFont typeface="Wingdings" panose="05000000000000000000" pitchFamily="2" charset="2"/>
                </a:pPr>
                <a:r>
                  <a:rPr lang="en-US" altLang="zh-CN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M(MAR)      MDR    </a:t>
                </a:r>
                <a:endPara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0776" name="Line 55"/>
              <p:cNvSpPr/>
              <p:nvPr/>
            </p:nvSpPr>
            <p:spPr>
              <a:xfrm>
                <a:off x="2304" y="2713"/>
                <a:ext cx="190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</p:grpSp>
        <p:grpSp>
          <p:nvGrpSpPr>
            <p:cNvPr id="30755" name="Group 56"/>
            <p:cNvGrpSpPr/>
            <p:nvPr/>
          </p:nvGrpSpPr>
          <p:grpSpPr>
            <a:xfrm>
              <a:off x="1620" y="2901"/>
              <a:ext cx="1332" cy="249"/>
              <a:chOff x="1620" y="2901"/>
              <a:chExt cx="1332" cy="249"/>
            </a:xfrm>
          </p:grpSpPr>
          <p:sp>
            <p:nvSpPr>
              <p:cNvPr id="30773" name="Rectangle 57"/>
              <p:cNvSpPr/>
              <p:nvPr/>
            </p:nvSpPr>
            <p:spPr>
              <a:xfrm>
                <a:off x="1620" y="2901"/>
                <a:ext cx="1332" cy="24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19050" rIns="19050" anchor="ctr" anchorCtr="1"/>
              <a:p>
                <a:pPr eaLnBrk="1" hangingPunct="1">
                  <a:buClr>
                    <a:schemeClr val="accent2"/>
                  </a:buClr>
                  <a:buSzPct val="80000"/>
                  <a:buFont typeface="Wingdings" panose="05000000000000000000" pitchFamily="2" charset="2"/>
                </a:pPr>
                <a:r>
                  <a:rPr lang="en-US" altLang="zh-CN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AC      MDR</a:t>
                </a:r>
                <a:endPara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0774" name="Line 58"/>
              <p:cNvSpPr/>
              <p:nvPr/>
            </p:nvSpPr>
            <p:spPr>
              <a:xfrm>
                <a:off x="2112" y="3020"/>
                <a:ext cx="190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</p:grpSp>
        <p:grpSp>
          <p:nvGrpSpPr>
            <p:cNvPr id="30756" name="Group 59"/>
            <p:cNvGrpSpPr/>
            <p:nvPr/>
          </p:nvGrpSpPr>
          <p:grpSpPr>
            <a:xfrm>
              <a:off x="1620" y="3150"/>
              <a:ext cx="1332" cy="291"/>
              <a:chOff x="1620" y="3150"/>
              <a:chExt cx="1332" cy="291"/>
            </a:xfrm>
          </p:grpSpPr>
          <p:sp>
            <p:nvSpPr>
              <p:cNvPr id="30771" name="Rectangle 60"/>
              <p:cNvSpPr/>
              <p:nvPr/>
            </p:nvSpPr>
            <p:spPr>
              <a:xfrm>
                <a:off x="1620" y="3150"/>
                <a:ext cx="1332" cy="29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19050" rIns="19050" anchor="ctr" anchorCtr="1"/>
              <a:p>
                <a:pPr eaLnBrk="1" hangingPunct="1">
                  <a:buClr>
                    <a:schemeClr val="accent2"/>
                  </a:buClr>
                  <a:buSzPct val="80000"/>
                  <a:buFont typeface="Wingdings" panose="05000000000000000000" pitchFamily="2" charset="2"/>
                </a:pPr>
                <a:r>
                  <a:rPr lang="en-US" altLang="zh-CN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(AC)+(MDR)   AC</a:t>
                </a:r>
                <a:endPara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0772" name="Line 61"/>
              <p:cNvSpPr/>
              <p:nvPr/>
            </p:nvSpPr>
            <p:spPr>
              <a:xfrm>
                <a:off x="2566" y="3308"/>
                <a:ext cx="122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</p:grpSp>
        <p:grpSp>
          <p:nvGrpSpPr>
            <p:cNvPr id="30757" name="Group 62"/>
            <p:cNvGrpSpPr/>
            <p:nvPr/>
          </p:nvGrpSpPr>
          <p:grpSpPr>
            <a:xfrm>
              <a:off x="1620" y="3441"/>
              <a:ext cx="1332" cy="249"/>
              <a:chOff x="1620" y="3441"/>
              <a:chExt cx="1332" cy="249"/>
            </a:xfrm>
          </p:grpSpPr>
          <p:sp>
            <p:nvSpPr>
              <p:cNvPr id="30769" name="Rectangle 63"/>
              <p:cNvSpPr/>
              <p:nvPr/>
            </p:nvSpPr>
            <p:spPr>
              <a:xfrm>
                <a:off x="1620" y="3441"/>
                <a:ext cx="1332" cy="24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19050" rIns="19050" anchor="ctr" anchorCtr="1"/>
              <a:p>
                <a:pPr eaLnBrk="1" hangingPunct="1">
                  <a:buClr>
                    <a:schemeClr val="accent2"/>
                  </a:buClr>
                  <a:buSzPct val="80000"/>
                  <a:buFont typeface="Wingdings" panose="05000000000000000000" pitchFamily="2" charset="2"/>
                </a:pPr>
                <a:r>
                  <a:rPr lang="en-US" altLang="zh-CN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MDR      M(MAR) </a:t>
                </a:r>
                <a:endPara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0770" name="Line 64"/>
              <p:cNvSpPr/>
              <p:nvPr/>
            </p:nvSpPr>
            <p:spPr>
              <a:xfrm>
                <a:off x="2064" y="3573"/>
                <a:ext cx="190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</p:grpSp>
        <p:grpSp>
          <p:nvGrpSpPr>
            <p:cNvPr id="30758" name="Group 65"/>
            <p:cNvGrpSpPr/>
            <p:nvPr/>
          </p:nvGrpSpPr>
          <p:grpSpPr>
            <a:xfrm>
              <a:off x="1620" y="3690"/>
              <a:ext cx="1332" cy="249"/>
              <a:chOff x="1620" y="3690"/>
              <a:chExt cx="1332" cy="249"/>
            </a:xfrm>
          </p:grpSpPr>
          <p:sp>
            <p:nvSpPr>
              <p:cNvPr id="30767" name="Rectangle 66"/>
              <p:cNvSpPr/>
              <p:nvPr/>
            </p:nvSpPr>
            <p:spPr>
              <a:xfrm>
                <a:off x="1620" y="3690"/>
                <a:ext cx="1332" cy="24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19050" rIns="19050" anchor="ctr" anchorCtr="1"/>
              <a:p>
                <a:pPr eaLnBrk="1" hangingPunct="1">
                  <a:buClr>
                    <a:schemeClr val="accent2"/>
                  </a:buClr>
                  <a:buSzPct val="80000"/>
                  <a:buFont typeface="Wingdings" panose="05000000000000000000" pitchFamily="2" charset="2"/>
                </a:pPr>
                <a:r>
                  <a:rPr lang="en-US" altLang="zh-CN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MDR      AC</a:t>
                </a:r>
                <a:endPara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0768" name="Line 67"/>
              <p:cNvSpPr/>
              <p:nvPr/>
            </p:nvSpPr>
            <p:spPr>
              <a:xfrm>
                <a:off x="2258" y="3813"/>
                <a:ext cx="190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</p:grpSp>
        <p:grpSp>
          <p:nvGrpSpPr>
            <p:cNvPr id="30759" name="Group 68"/>
            <p:cNvGrpSpPr/>
            <p:nvPr/>
          </p:nvGrpSpPr>
          <p:grpSpPr>
            <a:xfrm>
              <a:off x="1620" y="3939"/>
              <a:ext cx="1332" cy="249"/>
              <a:chOff x="1620" y="3939"/>
              <a:chExt cx="1332" cy="249"/>
            </a:xfrm>
          </p:grpSpPr>
          <p:sp>
            <p:nvSpPr>
              <p:cNvPr id="30765" name="Rectangle 69"/>
              <p:cNvSpPr/>
              <p:nvPr/>
            </p:nvSpPr>
            <p:spPr>
              <a:xfrm>
                <a:off x="1620" y="3939"/>
                <a:ext cx="1332" cy="24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19050" rIns="19050" anchor="ctr" anchorCtr="1"/>
              <a:p>
                <a:pPr eaLnBrk="1" hangingPunct="1">
                  <a:buClr>
                    <a:schemeClr val="accent2"/>
                  </a:buClr>
                  <a:buSzPct val="80000"/>
                  <a:buFont typeface="Wingdings" panose="05000000000000000000" pitchFamily="2" charset="2"/>
                </a:pPr>
                <a:r>
                  <a:rPr lang="zh-CN" altLang="en-US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0      </a:t>
                </a:r>
                <a:r>
                  <a:rPr lang="en-US" altLang="zh-CN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AC</a:t>
                </a:r>
                <a:endPara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0766" name="Line 70"/>
              <p:cNvSpPr/>
              <p:nvPr/>
            </p:nvSpPr>
            <p:spPr>
              <a:xfrm>
                <a:off x="2112" y="4074"/>
                <a:ext cx="190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</p:grpSp>
        <p:sp>
          <p:nvSpPr>
            <p:cNvPr id="30760" name="Line 71"/>
            <p:cNvSpPr/>
            <p:nvPr/>
          </p:nvSpPr>
          <p:spPr>
            <a:xfrm>
              <a:off x="1620" y="3936"/>
              <a:ext cx="399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61" name="Line 72"/>
            <p:cNvSpPr/>
            <p:nvPr/>
          </p:nvSpPr>
          <p:spPr>
            <a:xfrm>
              <a:off x="1632" y="2352"/>
              <a:ext cx="3996" cy="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30762" name="Group 73"/>
            <p:cNvGrpSpPr/>
            <p:nvPr/>
          </p:nvGrpSpPr>
          <p:grpSpPr>
            <a:xfrm>
              <a:off x="1632" y="2391"/>
              <a:ext cx="1332" cy="249"/>
              <a:chOff x="1620" y="2322"/>
              <a:chExt cx="1332" cy="249"/>
            </a:xfrm>
          </p:grpSpPr>
          <p:sp>
            <p:nvSpPr>
              <p:cNvPr id="30763" name="Rectangle 74"/>
              <p:cNvSpPr/>
              <p:nvPr/>
            </p:nvSpPr>
            <p:spPr>
              <a:xfrm>
                <a:off x="1620" y="2322"/>
                <a:ext cx="1332" cy="24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19050" rIns="19050" anchor="ctr" anchorCtr="1"/>
              <a:p>
                <a:pPr eaLnBrk="1" hangingPunct="1">
                  <a:buClr>
                    <a:schemeClr val="accent2"/>
                  </a:buClr>
                  <a:buSzPct val="80000"/>
                  <a:buFont typeface="Wingdings" panose="05000000000000000000" pitchFamily="2" charset="2"/>
                </a:pPr>
                <a:r>
                  <a:rPr lang="zh-CN" altLang="en-US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1       </a:t>
                </a:r>
                <a:r>
                  <a:rPr lang="en-US" altLang="zh-CN" sz="2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W</a:t>
                </a:r>
                <a:endPara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0764" name="Line 75"/>
              <p:cNvSpPr/>
              <p:nvPr/>
            </p:nvSpPr>
            <p:spPr>
              <a:xfrm>
                <a:off x="2160" y="2448"/>
                <a:ext cx="190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stealth" w="med" len="med"/>
              </a:ln>
            </p:spPr>
          </p:sp>
        </p:grpSp>
      </p:grpSp>
      <p:sp>
        <p:nvSpPr>
          <p:cNvPr id="624716" name="Text Box 76"/>
          <p:cNvSpPr txBox="1"/>
          <p:nvPr/>
        </p:nvSpPr>
        <p:spPr>
          <a:xfrm>
            <a:off x="6318250" y="2751138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000" dirty="0">
                <a:latin typeface="Times New Roman" panose="02020603050405020304" pitchFamily="18" charset="0"/>
              </a:rPr>
              <a:t>1</a:t>
            </a:r>
            <a:endParaRPr lang="zh-CN" altLang="en-US" sz="2000" dirty="0">
              <a:latin typeface="Times New Roman" panose="02020603050405020304" pitchFamily="18" charset="0"/>
            </a:endParaRPr>
          </a:p>
        </p:txBody>
      </p:sp>
      <p:sp>
        <p:nvSpPr>
          <p:cNvPr id="624717" name="Text Box 77"/>
          <p:cNvSpPr txBox="1"/>
          <p:nvPr/>
        </p:nvSpPr>
        <p:spPr>
          <a:xfrm>
            <a:off x="7004050" y="2751138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000" dirty="0">
                <a:latin typeface="Times New Roman" panose="02020603050405020304" pitchFamily="18" charset="0"/>
              </a:rPr>
              <a:t>1</a:t>
            </a:r>
            <a:endParaRPr lang="zh-CN" altLang="en-US" sz="2000" dirty="0">
              <a:latin typeface="Times New Roman" panose="02020603050405020304" pitchFamily="18" charset="0"/>
            </a:endParaRPr>
          </a:p>
        </p:txBody>
      </p:sp>
      <p:sp>
        <p:nvSpPr>
          <p:cNvPr id="624718" name="Text Box 78"/>
          <p:cNvSpPr txBox="1"/>
          <p:nvPr/>
        </p:nvSpPr>
        <p:spPr>
          <a:xfrm>
            <a:off x="7696200" y="2751138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000" dirty="0">
                <a:latin typeface="Times New Roman" panose="02020603050405020304" pitchFamily="18" charset="0"/>
              </a:rPr>
              <a:t>1</a:t>
            </a:r>
            <a:endParaRPr lang="zh-CN" altLang="en-US" sz="2000" dirty="0">
              <a:latin typeface="Times New Roman" panose="02020603050405020304" pitchFamily="18" charset="0"/>
            </a:endParaRPr>
          </a:p>
        </p:txBody>
      </p:sp>
      <p:sp>
        <p:nvSpPr>
          <p:cNvPr id="624719" name="Text Box 79"/>
          <p:cNvSpPr txBox="1"/>
          <p:nvPr/>
        </p:nvSpPr>
        <p:spPr>
          <a:xfrm>
            <a:off x="6318250" y="3208338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000" dirty="0">
                <a:latin typeface="Times New Roman" panose="02020603050405020304" pitchFamily="18" charset="0"/>
              </a:rPr>
              <a:t>1</a:t>
            </a:r>
            <a:endParaRPr lang="zh-CN" altLang="en-US" sz="2000" dirty="0">
              <a:latin typeface="Times New Roman" panose="02020603050405020304" pitchFamily="18" charset="0"/>
            </a:endParaRPr>
          </a:p>
        </p:txBody>
      </p:sp>
      <p:sp>
        <p:nvSpPr>
          <p:cNvPr id="624720" name="Text Box 80"/>
          <p:cNvSpPr txBox="1"/>
          <p:nvPr/>
        </p:nvSpPr>
        <p:spPr>
          <a:xfrm>
            <a:off x="7696200" y="3208338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000" dirty="0">
                <a:latin typeface="Times New Roman" panose="02020603050405020304" pitchFamily="18" charset="0"/>
              </a:rPr>
              <a:t>1</a:t>
            </a:r>
            <a:endParaRPr lang="zh-CN" altLang="en-US" sz="2000" dirty="0">
              <a:latin typeface="Times New Roman" panose="02020603050405020304" pitchFamily="18" charset="0"/>
            </a:endParaRPr>
          </a:p>
        </p:txBody>
      </p:sp>
      <p:sp>
        <p:nvSpPr>
          <p:cNvPr id="624721" name="Text Box 81"/>
          <p:cNvSpPr txBox="1"/>
          <p:nvPr/>
        </p:nvSpPr>
        <p:spPr>
          <a:xfrm>
            <a:off x="7004050" y="3605213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000" dirty="0">
                <a:latin typeface="Times New Roman" panose="02020603050405020304" pitchFamily="18" charset="0"/>
              </a:rPr>
              <a:t>1</a:t>
            </a:r>
            <a:endParaRPr lang="zh-CN" altLang="en-US" sz="2000" dirty="0">
              <a:latin typeface="Times New Roman" panose="02020603050405020304" pitchFamily="18" charset="0"/>
            </a:endParaRPr>
          </a:p>
        </p:txBody>
      </p:sp>
      <p:sp>
        <p:nvSpPr>
          <p:cNvPr id="624722" name="Text Box 82"/>
          <p:cNvSpPr txBox="1"/>
          <p:nvPr/>
        </p:nvSpPr>
        <p:spPr>
          <a:xfrm>
            <a:off x="6318250" y="4046538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000" dirty="0">
                <a:latin typeface="Times New Roman" panose="02020603050405020304" pitchFamily="18" charset="0"/>
              </a:rPr>
              <a:t>1</a:t>
            </a:r>
            <a:endParaRPr lang="zh-CN" altLang="en-US" sz="2000" dirty="0">
              <a:latin typeface="Times New Roman" panose="02020603050405020304" pitchFamily="18" charset="0"/>
            </a:endParaRPr>
          </a:p>
        </p:txBody>
      </p:sp>
      <p:sp>
        <p:nvSpPr>
          <p:cNvPr id="624723" name="Text Box 83"/>
          <p:cNvSpPr txBox="1"/>
          <p:nvPr/>
        </p:nvSpPr>
        <p:spPr>
          <a:xfrm>
            <a:off x="7696200" y="4046538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000" dirty="0">
                <a:latin typeface="Times New Roman" panose="02020603050405020304" pitchFamily="18" charset="0"/>
              </a:rPr>
              <a:t>1</a:t>
            </a:r>
            <a:endParaRPr lang="zh-CN" altLang="en-US" sz="2000" dirty="0">
              <a:latin typeface="Times New Roman" panose="02020603050405020304" pitchFamily="18" charset="0"/>
            </a:endParaRPr>
          </a:p>
        </p:txBody>
      </p:sp>
      <p:sp>
        <p:nvSpPr>
          <p:cNvPr id="624724" name="Text Box 84"/>
          <p:cNvSpPr txBox="1"/>
          <p:nvPr/>
        </p:nvSpPr>
        <p:spPr>
          <a:xfrm>
            <a:off x="7004050" y="4443413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000" dirty="0">
                <a:latin typeface="Times New Roman" panose="02020603050405020304" pitchFamily="18" charset="0"/>
              </a:rPr>
              <a:t>1</a:t>
            </a:r>
            <a:endParaRPr lang="zh-CN" altLang="en-US" sz="2000" dirty="0">
              <a:latin typeface="Times New Roman" panose="02020603050405020304" pitchFamily="18" charset="0"/>
            </a:endParaRPr>
          </a:p>
        </p:txBody>
      </p:sp>
      <p:sp>
        <p:nvSpPr>
          <p:cNvPr id="624725" name="Text Box 85"/>
          <p:cNvSpPr txBox="1"/>
          <p:nvPr/>
        </p:nvSpPr>
        <p:spPr>
          <a:xfrm>
            <a:off x="6318250" y="4884738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000" dirty="0">
                <a:latin typeface="Times New Roman" panose="02020603050405020304" pitchFamily="18" charset="0"/>
              </a:rPr>
              <a:t>1</a:t>
            </a:r>
            <a:endParaRPr lang="zh-CN" altLang="en-US" sz="2000" dirty="0">
              <a:latin typeface="Times New Roman" panose="02020603050405020304" pitchFamily="18" charset="0"/>
            </a:endParaRPr>
          </a:p>
        </p:txBody>
      </p:sp>
      <p:sp>
        <p:nvSpPr>
          <p:cNvPr id="624726" name="Text Box 86"/>
          <p:cNvSpPr txBox="1"/>
          <p:nvPr/>
        </p:nvSpPr>
        <p:spPr>
          <a:xfrm>
            <a:off x="7004050" y="5295900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000" dirty="0">
                <a:latin typeface="Times New Roman" panose="02020603050405020304" pitchFamily="18" charset="0"/>
              </a:rPr>
              <a:t>1</a:t>
            </a:r>
            <a:endParaRPr lang="zh-CN" altLang="en-US" sz="2000" dirty="0">
              <a:latin typeface="Times New Roman" panose="02020603050405020304" pitchFamily="18" charset="0"/>
            </a:endParaRPr>
          </a:p>
        </p:txBody>
      </p:sp>
      <p:sp>
        <p:nvSpPr>
          <p:cNvPr id="624727" name="Text Box 87"/>
          <p:cNvSpPr txBox="1"/>
          <p:nvPr/>
        </p:nvSpPr>
        <p:spPr>
          <a:xfrm>
            <a:off x="7696200" y="5662613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000" dirty="0">
                <a:latin typeface="Times New Roman" panose="02020603050405020304" pitchFamily="18" charset="0"/>
              </a:rPr>
              <a:t>1</a:t>
            </a:r>
            <a:endParaRPr lang="zh-CN" altLang="en-US" sz="2000" dirty="0">
              <a:latin typeface="Times New Roman" panose="02020603050405020304" pitchFamily="18" charset="0"/>
            </a:endParaRPr>
          </a:p>
        </p:txBody>
      </p:sp>
      <p:sp>
        <p:nvSpPr>
          <p:cNvPr id="624728" name="Text Box 88"/>
          <p:cNvSpPr txBox="1"/>
          <p:nvPr/>
        </p:nvSpPr>
        <p:spPr>
          <a:xfrm>
            <a:off x="4860925" y="6057900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000" dirty="0">
                <a:latin typeface="Times New Roman" panose="02020603050405020304" pitchFamily="18" charset="0"/>
              </a:rPr>
              <a:t>1</a:t>
            </a:r>
            <a:endParaRPr lang="zh-CN" altLang="en-US" sz="2000" dirty="0">
              <a:latin typeface="Times New Roman" panose="02020603050405020304" pitchFamily="18" charset="0"/>
            </a:endParaRPr>
          </a:p>
        </p:txBody>
      </p:sp>
      <p:sp>
        <p:nvSpPr>
          <p:cNvPr id="624729" name="Rectangle 89"/>
          <p:cNvSpPr>
            <a:spLocks noChangeArrowheads="1"/>
          </p:cNvSpPr>
          <p:nvPr/>
        </p:nvSpPr>
        <p:spPr bwMode="auto">
          <a:xfrm>
            <a:off x="7696200" y="152400"/>
            <a:ext cx="1447800" cy="838200"/>
          </a:xfrm>
          <a:prstGeom prst="rect">
            <a:avLst/>
          </a:prstGeom>
          <a:noFill/>
          <a:ln>
            <a:noFill/>
          </a:ln>
          <a:effectLst/>
        </p:spPr>
        <p:txBody>
          <a:bodyPr lIns="92075" tIns="46038" rIns="92075" bIns="46038" anchor="ctr"/>
          <a:lstStyle>
            <a:lvl1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10.1</a:t>
            </a:r>
            <a:endParaRPr kumimoji="1" lang="zh-CN" altLang="en-US" sz="4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40" name="AutoShape 91">
            <a:hlinkClick r:id="rId1" action="ppaction://hlinksldjump"/>
          </p:cNvPr>
          <p:cNvSpPr/>
          <p:nvPr/>
        </p:nvSpPr>
        <p:spPr>
          <a:xfrm>
            <a:off x="8589963" y="6516688"/>
            <a:ext cx="539750" cy="333375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endParaRPr lang="zh-CN" altLang="en-US" dirty="0">
              <a:latin typeface="等线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24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24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24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24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24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24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624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624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624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624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624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624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624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716" grpId="0"/>
      <p:bldP spid="624717" grpId="0"/>
      <p:bldP spid="624718" grpId="0"/>
      <p:bldP spid="624719" grpId="0"/>
      <p:bldP spid="624720" grpId="0"/>
      <p:bldP spid="624721" grpId="0"/>
      <p:bldP spid="624722" grpId="0"/>
      <p:bldP spid="624723" grpId="0"/>
      <p:bldP spid="624724" grpId="0"/>
      <p:bldP spid="624725" grpId="0"/>
      <p:bldP spid="624726" grpId="0"/>
      <p:bldP spid="624727" grpId="0"/>
      <p:bldP spid="624728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1746" name="Text Box 2"/>
          <p:cNvSpPr txBox="1"/>
          <p:nvPr/>
        </p:nvSpPr>
        <p:spPr>
          <a:xfrm>
            <a:off x="457200" y="273050"/>
            <a:ext cx="6605588" cy="6413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3600" dirty="0">
                <a:latin typeface="Times New Roman" panose="02020603050405020304" pitchFamily="18" charset="0"/>
              </a:rPr>
              <a:t>2. 写出微操作命令的最简表达式</a:t>
            </a:r>
            <a:endParaRPr lang="zh-CN" altLang="en-US" sz="3600" dirty="0">
              <a:latin typeface="Times New Roman" panose="02020603050405020304" pitchFamily="18" charset="0"/>
            </a:endParaRPr>
          </a:p>
        </p:txBody>
      </p:sp>
      <p:sp>
        <p:nvSpPr>
          <p:cNvPr id="625667" name="Text Box 3"/>
          <p:cNvSpPr txBox="1"/>
          <p:nvPr/>
        </p:nvSpPr>
        <p:spPr>
          <a:xfrm>
            <a:off x="457200" y="2352675"/>
            <a:ext cx="7567613" cy="11525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>
              <a:lnSpc>
                <a:spcPct val="145000"/>
              </a:lnSpc>
            </a:pPr>
            <a:r>
              <a:rPr lang="zh-CN" altLang="en-US" sz="2400" dirty="0">
                <a:latin typeface="Times New Roman" panose="02020603050405020304" pitchFamily="18" charset="0"/>
              </a:rPr>
              <a:t>= </a:t>
            </a:r>
            <a:r>
              <a:rPr lang="en-US" altLang="zh-CN" sz="2400" dirty="0">
                <a:solidFill>
                  <a:schemeClr val="folHlink"/>
                </a:solidFill>
                <a:latin typeface="Times New Roman" panose="02020603050405020304" pitchFamily="18" charset="0"/>
              </a:rPr>
              <a:t>FE</a:t>
            </a:r>
            <a:r>
              <a:rPr lang="en-US" altLang="zh-CN" sz="2400" dirty="0">
                <a:latin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chemeClr val="folHlin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·</a:t>
            </a:r>
            <a:r>
              <a:rPr lang="en-US" altLang="zh-CN" sz="2400" dirty="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i="1" dirty="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400" baseline="-25000" dirty="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altLang="zh-CN" sz="2400" dirty="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 </a:t>
            </a:r>
            <a:r>
              <a:rPr lang="en-US" altLang="zh-CN" sz="2400" dirty="0">
                <a:solidFill>
                  <a:schemeClr val="folHlin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·</a:t>
            </a:r>
            <a:r>
              <a:rPr lang="en-US" altLang="zh-CN" sz="2400" i="1" dirty="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400" baseline="-25000" dirty="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 ADD + STA + LDA + JMP + BAN )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45000"/>
              </a:lnSpc>
            </a:pP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+ </a:t>
            </a:r>
            <a:r>
              <a:rPr lang="en-US" altLang="zh-CN" sz="2400" dirty="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 </a:t>
            </a:r>
            <a:r>
              <a:rPr lang="en-US" altLang="zh-CN" sz="2400" dirty="0">
                <a:solidFill>
                  <a:schemeClr val="folHlink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·</a:t>
            </a:r>
            <a:r>
              <a:rPr lang="en-US" altLang="zh-CN" sz="2400" i="1" dirty="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400" baseline="-25000" dirty="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 ADD +LDA )</a:t>
            </a:r>
            <a:endParaRPr lang="en-US" altLang="zh-CN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pSp>
        <p:nvGrpSpPr>
          <p:cNvPr id="625668" name="Group 4"/>
          <p:cNvGrpSpPr/>
          <p:nvPr/>
        </p:nvGrpSpPr>
        <p:grpSpPr>
          <a:xfrm>
            <a:off x="701675" y="1741488"/>
            <a:ext cx="5013325" cy="457200"/>
            <a:chOff x="442" y="1097"/>
            <a:chExt cx="3158" cy="288"/>
          </a:xfrm>
        </p:grpSpPr>
        <p:sp>
          <p:nvSpPr>
            <p:cNvPr id="31752" name="Text Box 5"/>
            <p:cNvSpPr txBox="1"/>
            <p:nvPr/>
          </p:nvSpPr>
          <p:spPr>
            <a:xfrm>
              <a:off x="442" y="1097"/>
              <a:ext cx="315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/>
              <a:r>
                <a:rPr lang="en-US" altLang="zh-CN" sz="2400" dirty="0">
                  <a:latin typeface="Times New Roman" panose="02020603050405020304" pitchFamily="18" charset="0"/>
                </a:rPr>
                <a:t>M ( MAR )        MDR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31753" name="Line 6"/>
            <p:cNvSpPr/>
            <p:nvPr/>
          </p:nvSpPr>
          <p:spPr>
            <a:xfrm>
              <a:off x="1440" y="1248"/>
              <a:ext cx="336" cy="1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sp>
        <p:nvSpPr>
          <p:cNvPr id="625671" name="Text Box 7"/>
          <p:cNvSpPr txBox="1"/>
          <p:nvPr/>
        </p:nvSpPr>
        <p:spPr>
          <a:xfrm>
            <a:off x="457200" y="3648075"/>
            <a:ext cx="7096125" cy="11525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>
              <a:lnSpc>
                <a:spcPct val="145000"/>
              </a:lnSpc>
            </a:pPr>
            <a:r>
              <a:rPr lang="zh-CN" altLang="en-US" sz="2400" dirty="0">
                <a:latin typeface="Times New Roman" panose="02020603050405020304" pitchFamily="18" charset="0"/>
              </a:rPr>
              <a:t>= </a:t>
            </a:r>
            <a:r>
              <a:rPr lang="en-US" altLang="zh-CN" sz="2400" i="1" dirty="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400" baseline="-25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400" dirty="0">
                <a:latin typeface="Times New Roman" panose="02020603050405020304" pitchFamily="18" charset="0"/>
              </a:rPr>
              <a:t>{ </a:t>
            </a:r>
            <a:r>
              <a:rPr lang="en-US" altLang="zh-CN" sz="2400" dirty="0">
                <a:solidFill>
                  <a:schemeClr val="folHlink"/>
                </a:solidFill>
                <a:latin typeface="Times New Roman" panose="02020603050405020304" pitchFamily="18" charset="0"/>
              </a:rPr>
              <a:t>FE</a:t>
            </a:r>
            <a:r>
              <a:rPr lang="en-US" altLang="zh-CN" sz="2400" dirty="0">
                <a:latin typeface="Times New Roman" panose="02020603050405020304" pitchFamily="18" charset="0"/>
              </a:rPr>
              <a:t> +</a:t>
            </a:r>
            <a:r>
              <a:rPr lang="en-US" altLang="zh-CN" sz="2400" dirty="0">
                <a:solidFill>
                  <a:schemeClr val="folHlink"/>
                </a:solidFill>
                <a:latin typeface="Times New Roman" panose="02020603050405020304" pitchFamily="18" charset="0"/>
              </a:rPr>
              <a:t> IND</a:t>
            </a:r>
            <a:r>
              <a:rPr lang="en-US" altLang="zh-CN" sz="2400" dirty="0">
                <a:latin typeface="Times New Roman" panose="02020603050405020304" pitchFamily="18" charset="0"/>
              </a:rPr>
              <a:t> ( ADD + STA + LDA + JMP + BAN )</a:t>
            </a:r>
            <a:endParaRPr lang="en-US" altLang="zh-CN" sz="24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45000"/>
              </a:lnSpc>
            </a:pPr>
            <a:r>
              <a:rPr lang="en-US" altLang="zh-CN" sz="2400" dirty="0">
                <a:latin typeface="Times New Roman" panose="02020603050405020304" pitchFamily="18" charset="0"/>
              </a:rPr>
              <a:t>                + </a:t>
            </a:r>
            <a:r>
              <a:rPr lang="en-US" altLang="zh-CN" sz="2400" dirty="0">
                <a:solidFill>
                  <a:schemeClr val="folHlink"/>
                </a:solidFill>
                <a:latin typeface="Times New Roman" panose="02020603050405020304" pitchFamily="18" charset="0"/>
              </a:rPr>
              <a:t>EX</a:t>
            </a:r>
            <a:r>
              <a:rPr lang="en-US" altLang="zh-CN" sz="2400" dirty="0">
                <a:latin typeface="Times New Roman" panose="02020603050405020304" pitchFamily="18" charset="0"/>
              </a:rPr>
              <a:t> ( ADD +LDA ) }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625672" name="Rectangle 8"/>
          <p:cNvSpPr>
            <a:spLocks noChangeArrowheads="1"/>
          </p:cNvSpPr>
          <p:nvPr/>
        </p:nvSpPr>
        <p:spPr bwMode="auto">
          <a:xfrm>
            <a:off x="7696200" y="152400"/>
            <a:ext cx="1447800" cy="838200"/>
          </a:xfrm>
          <a:prstGeom prst="rect">
            <a:avLst/>
          </a:prstGeom>
          <a:noFill/>
          <a:ln>
            <a:noFill/>
          </a:ln>
          <a:effectLst/>
        </p:spPr>
        <p:txBody>
          <a:bodyPr lIns="92075" tIns="46038" rIns="92075" bIns="46038" anchor="ctr"/>
          <a:lstStyle>
            <a:lvl1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10.1</a:t>
            </a:r>
            <a:endParaRPr kumimoji="1" lang="zh-CN" altLang="en-US" sz="4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1751" name="AutoShape 9">
            <a:hlinkClick r:id="rId1" action="ppaction://hlinksldjump"/>
          </p:cNvPr>
          <p:cNvSpPr/>
          <p:nvPr/>
        </p:nvSpPr>
        <p:spPr>
          <a:xfrm>
            <a:off x="8589963" y="6516688"/>
            <a:ext cx="539750" cy="333375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endParaRPr lang="zh-CN" altLang="en-US" dirty="0">
              <a:latin typeface="等线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25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25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25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5667" grpId="0"/>
      <p:bldP spid="625671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2770" name="Text Box 2"/>
          <p:cNvSpPr txBox="1"/>
          <p:nvPr/>
        </p:nvSpPr>
        <p:spPr>
          <a:xfrm>
            <a:off x="288925" y="273050"/>
            <a:ext cx="2935288" cy="6413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3600" dirty="0">
                <a:latin typeface="Times New Roman" panose="02020603050405020304" pitchFamily="18" charset="0"/>
              </a:rPr>
              <a:t>3. 画出逻辑图</a:t>
            </a:r>
            <a:endParaRPr lang="zh-CN" altLang="en-US" sz="3600" dirty="0">
              <a:latin typeface="Times New Roman" panose="02020603050405020304" pitchFamily="18" charset="0"/>
            </a:endParaRPr>
          </a:p>
        </p:txBody>
      </p:sp>
      <p:sp>
        <p:nvSpPr>
          <p:cNvPr id="626691" name="Text Box 3"/>
          <p:cNvSpPr txBox="1"/>
          <p:nvPr/>
        </p:nvSpPr>
        <p:spPr>
          <a:xfrm>
            <a:off x="1082675" y="5087938"/>
            <a:ext cx="898525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dirty="0">
                <a:solidFill>
                  <a:schemeClr val="folHlink"/>
                </a:solidFill>
                <a:latin typeface="Times New Roman" panose="02020603050405020304" pitchFamily="18" charset="0"/>
              </a:rPr>
              <a:t>特点</a:t>
            </a:r>
            <a:endParaRPr lang="zh-CN" altLang="en-US" sz="28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626692" name="Text Box 4"/>
          <p:cNvSpPr txBox="1"/>
          <p:nvPr/>
        </p:nvSpPr>
        <p:spPr>
          <a:xfrm>
            <a:off x="2270125" y="5110163"/>
            <a:ext cx="4968875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buSzPct val="85000"/>
              <a:buFont typeface="Wingdings" panose="05000000000000000000" pitchFamily="2" charset="2"/>
              <a:buChar char="Ø"/>
            </a:pPr>
            <a:r>
              <a:rPr lang="zh-CN" altLang="en-US" sz="2800" dirty="0">
                <a:latin typeface="Times New Roman" panose="02020603050405020304" pitchFamily="18" charset="0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</a:rPr>
              <a:t>思路清晰，简单明了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626693" name="Text Box 5"/>
          <p:cNvSpPr txBox="1"/>
          <p:nvPr/>
        </p:nvSpPr>
        <p:spPr>
          <a:xfrm>
            <a:off x="2270125" y="5599113"/>
            <a:ext cx="5502275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buSzPct val="85000"/>
              <a:buFont typeface="Wingdings" panose="05000000000000000000" pitchFamily="2" charset="2"/>
              <a:buChar char="Ø"/>
            </a:pPr>
            <a:r>
              <a:rPr lang="zh-CN" altLang="en-US" sz="2800" dirty="0">
                <a:latin typeface="Times New Roman" panose="02020603050405020304" pitchFamily="18" charset="0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</a:rPr>
              <a:t>庞杂，调试困难，修改困难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626694" name="Text Box 6"/>
          <p:cNvSpPr txBox="1"/>
          <p:nvPr/>
        </p:nvSpPr>
        <p:spPr>
          <a:xfrm>
            <a:off x="2270125" y="6110288"/>
            <a:ext cx="1435100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>
              <a:buSzPct val="85000"/>
              <a:buFont typeface="Wingdings" panose="05000000000000000000" pitchFamily="2" charset="2"/>
              <a:buChar char="Ø"/>
            </a:pPr>
            <a:r>
              <a:rPr lang="zh-CN" altLang="en-US" sz="2800" dirty="0">
                <a:latin typeface="Times New Roman" panose="02020603050405020304" pitchFamily="18" charset="0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</a:rPr>
              <a:t>速度快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grpSp>
        <p:nvGrpSpPr>
          <p:cNvPr id="626695" name="Group 7"/>
          <p:cNvGrpSpPr/>
          <p:nvPr/>
        </p:nvGrpSpPr>
        <p:grpSpPr>
          <a:xfrm>
            <a:off x="1103313" y="1295400"/>
            <a:ext cx="420687" cy="2819400"/>
            <a:chOff x="695" y="816"/>
            <a:chExt cx="265" cy="1776"/>
          </a:xfrm>
        </p:grpSpPr>
        <p:grpSp>
          <p:nvGrpSpPr>
            <p:cNvPr id="32881" name="Group 8"/>
            <p:cNvGrpSpPr/>
            <p:nvPr/>
          </p:nvGrpSpPr>
          <p:grpSpPr>
            <a:xfrm>
              <a:off x="695" y="816"/>
              <a:ext cx="265" cy="336"/>
              <a:chOff x="695" y="816"/>
              <a:chExt cx="265" cy="336"/>
            </a:xfrm>
          </p:grpSpPr>
          <p:sp>
            <p:nvSpPr>
              <p:cNvPr id="32890" name="Text Box 9"/>
              <p:cNvSpPr txBox="1"/>
              <p:nvPr/>
            </p:nvSpPr>
            <p:spPr>
              <a:xfrm>
                <a:off x="695" y="841"/>
                <a:ext cx="249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zh-CN" altLang="en-US" sz="2000" dirty="0">
                    <a:latin typeface="Times New Roman" panose="02020603050405020304" pitchFamily="18" charset="0"/>
                  </a:rPr>
                  <a:t>&amp;</a:t>
                </a:r>
                <a:endParaRPr lang="zh-CN" altLang="en-US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891" name="Rectangle 10"/>
              <p:cNvSpPr/>
              <p:nvPr/>
            </p:nvSpPr>
            <p:spPr>
              <a:xfrm>
                <a:off x="720" y="816"/>
                <a:ext cx="192" cy="336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等线" panose="02010600030101010101" pitchFamily="2" charset="-122"/>
                </a:endParaRPr>
              </a:p>
            </p:txBody>
          </p:sp>
          <p:sp>
            <p:nvSpPr>
              <p:cNvPr id="32892" name="Oval 11"/>
              <p:cNvSpPr/>
              <p:nvPr/>
            </p:nvSpPr>
            <p:spPr>
              <a:xfrm>
                <a:off x="912" y="960"/>
                <a:ext cx="48" cy="48"/>
              </a:xfrm>
              <a:prstGeom prst="ellipse">
                <a:avLst/>
              </a:prstGeom>
              <a:noFill/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等线" panose="02010600030101010101" pitchFamily="2" charset="-122"/>
                </a:endParaRPr>
              </a:p>
            </p:txBody>
          </p:sp>
        </p:grpSp>
        <p:grpSp>
          <p:nvGrpSpPr>
            <p:cNvPr id="32882" name="Group 12"/>
            <p:cNvGrpSpPr/>
            <p:nvPr/>
          </p:nvGrpSpPr>
          <p:grpSpPr>
            <a:xfrm>
              <a:off x="695" y="1560"/>
              <a:ext cx="265" cy="336"/>
              <a:chOff x="695" y="1560"/>
              <a:chExt cx="265" cy="336"/>
            </a:xfrm>
          </p:grpSpPr>
          <p:sp>
            <p:nvSpPr>
              <p:cNvPr id="32887" name="Text Box 13"/>
              <p:cNvSpPr txBox="1"/>
              <p:nvPr/>
            </p:nvSpPr>
            <p:spPr>
              <a:xfrm>
                <a:off x="695" y="1584"/>
                <a:ext cx="249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zh-CN" altLang="en-US" sz="2000" dirty="0">
                    <a:latin typeface="Times New Roman" panose="02020603050405020304" pitchFamily="18" charset="0"/>
                  </a:rPr>
                  <a:t>&amp;</a:t>
                </a:r>
                <a:endParaRPr lang="zh-CN" altLang="en-US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888" name="Rectangle 14"/>
              <p:cNvSpPr/>
              <p:nvPr/>
            </p:nvSpPr>
            <p:spPr>
              <a:xfrm>
                <a:off x="720" y="1560"/>
                <a:ext cx="192" cy="336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等线" panose="02010600030101010101" pitchFamily="2" charset="-122"/>
                </a:endParaRPr>
              </a:p>
            </p:txBody>
          </p:sp>
          <p:sp>
            <p:nvSpPr>
              <p:cNvPr id="32889" name="Oval 15"/>
              <p:cNvSpPr/>
              <p:nvPr/>
            </p:nvSpPr>
            <p:spPr>
              <a:xfrm>
                <a:off x="912" y="1704"/>
                <a:ext cx="48" cy="48"/>
              </a:xfrm>
              <a:prstGeom prst="ellipse">
                <a:avLst/>
              </a:prstGeom>
              <a:noFill/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等线" panose="02010600030101010101" pitchFamily="2" charset="-122"/>
                </a:endParaRPr>
              </a:p>
            </p:txBody>
          </p:sp>
        </p:grpSp>
        <p:grpSp>
          <p:nvGrpSpPr>
            <p:cNvPr id="32883" name="Group 16"/>
            <p:cNvGrpSpPr/>
            <p:nvPr/>
          </p:nvGrpSpPr>
          <p:grpSpPr>
            <a:xfrm>
              <a:off x="695" y="2256"/>
              <a:ext cx="265" cy="336"/>
              <a:chOff x="695" y="2256"/>
              <a:chExt cx="265" cy="336"/>
            </a:xfrm>
          </p:grpSpPr>
          <p:sp>
            <p:nvSpPr>
              <p:cNvPr id="32884" name="Text Box 17"/>
              <p:cNvSpPr txBox="1"/>
              <p:nvPr/>
            </p:nvSpPr>
            <p:spPr>
              <a:xfrm>
                <a:off x="695" y="2294"/>
                <a:ext cx="249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zh-CN" altLang="en-US" sz="2000" dirty="0">
                    <a:latin typeface="Times New Roman" panose="02020603050405020304" pitchFamily="18" charset="0"/>
                  </a:rPr>
                  <a:t>&amp;</a:t>
                </a:r>
                <a:endParaRPr lang="zh-CN" altLang="en-US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2885" name="Rectangle 18"/>
              <p:cNvSpPr/>
              <p:nvPr/>
            </p:nvSpPr>
            <p:spPr>
              <a:xfrm>
                <a:off x="720" y="2256"/>
                <a:ext cx="192" cy="336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等线" panose="02010600030101010101" pitchFamily="2" charset="-122"/>
                </a:endParaRPr>
              </a:p>
            </p:txBody>
          </p:sp>
          <p:sp>
            <p:nvSpPr>
              <p:cNvPr id="32886" name="Oval 19"/>
              <p:cNvSpPr/>
              <p:nvPr/>
            </p:nvSpPr>
            <p:spPr>
              <a:xfrm>
                <a:off x="912" y="2400"/>
                <a:ext cx="48" cy="48"/>
              </a:xfrm>
              <a:prstGeom prst="ellipse">
                <a:avLst/>
              </a:prstGeom>
              <a:noFill/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等线" panose="02010600030101010101" pitchFamily="2" charset="-122"/>
                </a:endParaRPr>
              </a:p>
            </p:txBody>
          </p:sp>
        </p:grpSp>
      </p:grpSp>
      <p:grpSp>
        <p:nvGrpSpPr>
          <p:cNvPr id="626708" name="Group 20"/>
          <p:cNvGrpSpPr/>
          <p:nvPr/>
        </p:nvGrpSpPr>
        <p:grpSpPr>
          <a:xfrm>
            <a:off x="1997075" y="3581400"/>
            <a:ext cx="381000" cy="533400"/>
            <a:chOff x="1258" y="2256"/>
            <a:chExt cx="240" cy="336"/>
          </a:xfrm>
        </p:grpSpPr>
        <p:sp>
          <p:nvSpPr>
            <p:cNvPr id="32878" name="Text Box 21"/>
            <p:cNvSpPr txBox="1"/>
            <p:nvPr/>
          </p:nvSpPr>
          <p:spPr>
            <a:xfrm>
              <a:off x="1258" y="2294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1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32879" name="Rectangle 22"/>
            <p:cNvSpPr/>
            <p:nvPr/>
          </p:nvSpPr>
          <p:spPr>
            <a:xfrm>
              <a:off x="1258" y="2256"/>
              <a:ext cx="192" cy="33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32880" name="Oval 23"/>
            <p:cNvSpPr/>
            <p:nvPr/>
          </p:nvSpPr>
          <p:spPr>
            <a:xfrm>
              <a:off x="1450" y="2400"/>
              <a:ext cx="48" cy="48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</p:grpSp>
      <p:grpSp>
        <p:nvGrpSpPr>
          <p:cNvPr id="626712" name="Group 24"/>
          <p:cNvGrpSpPr/>
          <p:nvPr/>
        </p:nvGrpSpPr>
        <p:grpSpPr>
          <a:xfrm>
            <a:off x="1997075" y="2476500"/>
            <a:ext cx="381000" cy="533400"/>
            <a:chOff x="1258" y="1560"/>
            <a:chExt cx="240" cy="336"/>
          </a:xfrm>
        </p:grpSpPr>
        <p:sp>
          <p:nvSpPr>
            <p:cNvPr id="32875" name="Text Box 25"/>
            <p:cNvSpPr txBox="1"/>
            <p:nvPr/>
          </p:nvSpPr>
          <p:spPr>
            <a:xfrm>
              <a:off x="1258" y="1591"/>
              <a:ext cx="1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1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32876" name="Rectangle 26"/>
            <p:cNvSpPr/>
            <p:nvPr/>
          </p:nvSpPr>
          <p:spPr>
            <a:xfrm>
              <a:off x="1258" y="1560"/>
              <a:ext cx="192" cy="33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32877" name="Oval 27"/>
            <p:cNvSpPr/>
            <p:nvPr/>
          </p:nvSpPr>
          <p:spPr>
            <a:xfrm>
              <a:off x="1450" y="1704"/>
              <a:ext cx="48" cy="48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</p:grpSp>
      <p:grpSp>
        <p:nvGrpSpPr>
          <p:cNvPr id="626716" name="Group 28"/>
          <p:cNvGrpSpPr/>
          <p:nvPr/>
        </p:nvGrpSpPr>
        <p:grpSpPr>
          <a:xfrm>
            <a:off x="3241675" y="4191000"/>
            <a:ext cx="415925" cy="533400"/>
            <a:chOff x="2042" y="2640"/>
            <a:chExt cx="262" cy="336"/>
          </a:xfrm>
        </p:grpSpPr>
        <p:sp>
          <p:nvSpPr>
            <p:cNvPr id="32872" name="Text Box 29"/>
            <p:cNvSpPr txBox="1"/>
            <p:nvPr/>
          </p:nvSpPr>
          <p:spPr>
            <a:xfrm>
              <a:off x="2042" y="2672"/>
              <a:ext cx="249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&amp;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32873" name="Rectangle 30"/>
            <p:cNvSpPr/>
            <p:nvPr/>
          </p:nvSpPr>
          <p:spPr>
            <a:xfrm>
              <a:off x="2064" y="2640"/>
              <a:ext cx="192" cy="33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32874" name="Oval 31"/>
            <p:cNvSpPr/>
            <p:nvPr/>
          </p:nvSpPr>
          <p:spPr>
            <a:xfrm>
              <a:off x="2256" y="2784"/>
              <a:ext cx="48" cy="48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</p:grpSp>
      <p:grpSp>
        <p:nvGrpSpPr>
          <p:cNvPr id="626720" name="Group 32"/>
          <p:cNvGrpSpPr/>
          <p:nvPr/>
        </p:nvGrpSpPr>
        <p:grpSpPr>
          <a:xfrm>
            <a:off x="4610100" y="4191000"/>
            <a:ext cx="419100" cy="533400"/>
            <a:chOff x="2904" y="2640"/>
            <a:chExt cx="264" cy="336"/>
          </a:xfrm>
        </p:grpSpPr>
        <p:sp>
          <p:nvSpPr>
            <p:cNvPr id="32869" name="Text Box 33"/>
            <p:cNvSpPr txBox="1"/>
            <p:nvPr/>
          </p:nvSpPr>
          <p:spPr>
            <a:xfrm>
              <a:off x="2904" y="2678"/>
              <a:ext cx="249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&amp;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32870" name="Rectangle 34"/>
            <p:cNvSpPr/>
            <p:nvPr/>
          </p:nvSpPr>
          <p:spPr>
            <a:xfrm>
              <a:off x="2928" y="2640"/>
              <a:ext cx="192" cy="33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32871" name="Oval 35"/>
            <p:cNvSpPr/>
            <p:nvPr/>
          </p:nvSpPr>
          <p:spPr>
            <a:xfrm>
              <a:off x="3120" y="2784"/>
              <a:ext cx="48" cy="48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</p:grpSp>
      <p:grpSp>
        <p:nvGrpSpPr>
          <p:cNvPr id="626724" name="Group 36"/>
          <p:cNvGrpSpPr/>
          <p:nvPr/>
        </p:nvGrpSpPr>
        <p:grpSpPr>
          <a:xfrm>
            <a:off x="4610100" y="1905000"/>
            <a:ext cx="419100" cy="533400"/>
            <a:chOff x="2904" y="1200"/>
            <a:chExt cx="264" cy="336"/>
          </a:xfrm>
        </p:grpSpPr>
        <p:sp>
          <p:nvSpPr>
            <p:cNvPr id="32866" name="Text Box 37"/>
            <p:cNvSpPr txBox="1"/>
            <p:nvPr/>
          </p:nvSpPr>
          <p:spPr>
            <a:xfrm>
              <a:off x="2904" y="1238"/>
              <a:ext cx="249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&amp;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32867" name="Rectangle 38"/>
            <p:cNvSpPr/>
            <p:nvPr/>
          </p:nvSpPr>
          <p:spPr>
            <a:xfrm>
              <a:off x="2928" y="1200"/>
              <a:ext cx="192" cy="33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32868" name="Oval 39"/>
            <p:cNvSpPr/>
            <p:nvPr/>
          </p:nvSpPr>
          <p:spPr>
            <a:xfrm>
              <a:off x="3120" y="1344"/>
              <a:ext cx="48" cy="48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</p:grpSp>
      <p:grpSp>
        <p:nvGrpSpPr>
          <p:cNvPr id="626728" name="Group 40"/>
          <p:cNvGrpSpPr/>
          <p:nvPr/>
        </p:nvGrpSpPr>
        <p:grpSpPr>
          <a:xfrm>
            <a:off x="6210300" y="1905000"/>
            <a:ext cx="419100" cy="533400"/>
            <a:chOff x="3912" y="1200"/>
            <a:chExt cx="264" cy="336"/>
          </a:xfrm>
        </p:grpSpPr>
        <p:sp>
          <p:nvSpPr>
            <p:cNvPr id="32863" name="Text Box 41"/>
            <p:cNvSpPr txBox="1"/>
            <p:nvPr/>
          </p:nvSpPr>
          <p:spPr>
            <a:xfrm>
              <a:off x="3912" y="1238"/>
              <a:ext cx="249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&amp;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32864" name="Rectangle 42"/>
            <p:cNvSpPr/>
            <p:nvPr/>
          </p:nvSpPr>
          <p:spPr>
            <a:xfrm>
              <a:off x="3936" y="1200"/>
              <a:ext cx="192" cy="33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32865" name="Oval 43"/>
            <p:cNvSpPr/>
            <p:nvPr/>
          </p:nvSpPr>
          <p:spPr>
            <a:xfrm>
              <a:off x="4128" y="1344"/>
              <a:ext cx="48" cy="48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</p:grpSp>
      <p:grpSp>
        <p:nvGrpSpPr>
          <p:cNvPr id="626732" name="Group 44"/>
          <p:cNvGrpSpPr/>
          <p:nvPr/>
        </p:nvGrpSpPr>
        <p:grpSpPr>
          <a:xfrm>
            <a:off x="6210300" y="3082925"/>
            <a:ext cx="419100" cy="533400"/>
            <a:chOff x="3912" y="1942"/>
            <a:chExt cx="264" cy="336"/>
          </a:xfrm>
        </p:grpSpPr>
        <p:sp>
          <p:nvSpPr>
            <p:cNvPr id="32860" name="Text Box 45"/>
            <p:cNvSpPr txBox="1"/>
            <p:nvPr/>
          </p:nvSpPr>
          <p:spPr>
            <a:xfrm>
              <a:off x="3912" y="1974"/>
              <a:ext cx="249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&amp;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32861" name="Rectangle 46"/>
            <p:cNvSpPr/>
            <p:nvPr/>
          </p:nvSpPr>
          <p:spPr>
            <a:xfrm>
              <a:off x="3936" y="1942"/>
              <a:ext cx="192" cy="336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32862" name="Oval 47"/>
            <p:cNvSpPr/>
            <p:nvPr/>
          </p:nvSpPr>
          <p:spPr>
            <a:xfrm>
              <a:off x="4128" y="2086"/>
              <a:ext cx="48" cy="48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</p:grpSp>
      <p:sp>
        <p:nvSpPr>
          <p:cNvPr id="626736" name="Freeform 48"/>
          <p:cNvSpPr/>
          <p:nvPr/>
        </p:nvSpPr>
        <p:spPr>
          <a:xfrm>
            <a:off x="376238" y="1447800"/>
            <a:ext cx="771525" cy="1588"/>
          </a:xfrm>
          <a:custGeom>
            <a:avLst/>
            <a:gdLst/>
            <a:ahLst/>
            <a:cxnLst>
              <a:cxn ang="0">
                <a:pos x="2147483646" y="0"/>
              </a:cxn>
              <a:cxn ang="0">
                <a:pos x="0" y="0"/>
              </a:cxn>
            </a:cxnLst>
            <a:pathLst>
              <a:path w="486" h="1">
                <a:moveTo>
                  <a:pt x="486" y="0"/>
                </a:moveTo>
                <a:lnTo>
                  <a:pt x="0" y="0"/>
                </a:lnTo>
              </a:path>
            </a:pathLst>
          </a:custGeom>
          <a:noFill/>
          <a:ln w="28575" cap="flat" cmpd="sng">
            <a:solidFill>
              <a:schemeClr val="folHlink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grpSp>
        <p:nvGrpSpPr>
          <p:cNvPr id="626737" name="Group 49"/>
          <p:cNvGrpSpPr/>
          <p:nvPr/>
        </p:nvGrpSpPr>
        <p:grpSpPr>
          <a:xfrm>
            <a:off x="609600" y="1676400"/>
            <a:ext cx="538163" cy="2286000"/>
            <a:chOff x="384" y="1056"/>
            <a:chExt cx="339" cy="1440"/>
          </a:xfrm>
        </p:grpSpPr>
        <p:sp>
          <p:nvSpPr>
            <p:cNvPr id="32857" name="Line 50"/>
            <p:cNvSpPr/>
            <p:nvPr/>
          </p:nvSpPr>
          <p:spPr>
            <a:xfrm flipH="1">
              <a:off x="384" y="1056"/>
              <a:ext cx="33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858" name="Freeform 51"/>
            <p:cNvSpPr/>
            <p:nvPr/>
          </p:nvSpPr>
          <p:spPr>
            <a:xfrm>
              <a:off x="525" y="1056"/>
              <a:ext cx="195" cy="1440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0" y="1440"/>
                </a:cxn>
                <a:cxn ang="0">
                  <a:pos x="195" y="1440"/>
                </a:cxn>
              </a:cxnLst>
              <a:pathLst>
                <a:path w="195" h="1440">
                  <a:moveTo>
                    <a:pt x="3" y="0"/>
                  </a:moveTo>
                  <a:lnTo>
                    <a:pt x="0" y="1440"/>
                  </a:lnTo>
                  <a:lnTo>
                    <a:pt x="195" y="1440"/>
                  </a:lnTo>
                </a:path>
              </a:pathLst>
            </a:custGeom>
            <a:noFill/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oval" w="sm" len="sm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2859" name="Freeform 52"/>
            <p:cNvSpPr/>
            <p:nvPr/>
          </p:nvSpPr>
          <p:spPr>
            <a:xfrm>
              <a:off x="528" y="1794"/>
              <a:ext cx="195" cy="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95" y="0"/>
                </a:cxn>
              </a:cxnLst>
              <a:pathLst>
                <a:path w="195" h="1">
                  <a:moveTo>
                    <a:pt x="0" y="0"/>
                  </a:moveTo>
                  <a:lnTo>
                    <a:pt x="195" y="0"/>
                  </a:lnTo>
                </a:path>
              </a:pathLst>
            </a:custGeom>
            <a:noFill/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oval" w="sm" len="sm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626741" name="Freeform 53"/>
          <p:cNvSpPr/>
          <p:nvPr/>
        </p:nvSpPr>
        <p:spPr>
          <a:xfrm>
            <a:off x="361950" y="2633663"/>
            <a:ext cx="781050" cy="1587"/>
          </a:xfrm>
          <a:custGeom>
            <a:avLst/>
            <a:gdLst/>
            <a:ahLst/>
            <a:cxnLst>
              <a:cxn ang="0">
                <a:pos x="2147483646" y="0"/>
              </a:cxn>
              <a:cxn ang="0">
                <a:pos x="0" y="0"/>
              </a:cxn>
            </a:cxnLst>
            <a:pathLst>
              <a:path w="492" h="1">
                <a:moveTo>
                  <a:pt x="492" y="0"/>
                </a:moveTo>
                <a:lnTo>
                  <a:pt x="0" y="0"/>
                </a:lnTo>
              </a:path>
            </a:pathLst>
          </a:custGeom>
          <a:noFill/>
          <a:ln w="28575" cap="flat" cmpd="sng">
            <a:solidFill>
              <a:schemeClr val="folHlink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626742" name="Line 54"/>
          <p:cNvSpPr/>
          <p:nvPr/>
        </p:nvSpPr>
        <p:spPr>
          <a:xfrm flipH="1">
            <a:off x="381000" y="3733800"/>
            <a:ext cx="762000" cy="0"/>
          </a:xfrm>
          <a:prstGeom prst="line">
            <a:avLst/>
          </a:prstGeom>
          <a:ln w="28575" cap="flat" cmpd="sng">
            <a:solidFill>
              <a:schemeClr val="folHlink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26743" name="Freeform 55"/>
          <p:cNvSpPr/>
          <p:nvPr/>
        </p:nvSpPr>
        <p:spPr>
          <a:xfrm>
            <a:off x="1519238" y="3857625"/>
            <a:ext cx="476250" cy="1588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6" y="0"/>
              </a:cxn>
            </a:cxnLst>
            <a:pathLst>
              <a:path w="300" h="1">
                <a:moveTo>
                  <a:pt x="0" y="0"/>
                </a:moveTo>
                <a:lnTo>
                  <a:pt x="300" y="0"/>
                </a:lnTo>
              </a:path>
            </a:pathLst>
          </a:custGeom>
          <a:noFill/>
          <a:ln w="28575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626744" name="Freeform 56"/>
          <p:cNvSpPr/>
          <p:nvPr/>
        </p:nvSpPr>
        <p:spPr>
          <a:xfrm>
            <a:off x="1524000" y="2743200"/>
            <a:ext cx="476250" cy="1588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6" y="0"/>
              </a:cxn>
            </a:cxnLst>
            <a:pathLst>
              <a:path w="300" h="1">
                <a:moveTo>
                  <a:pt x="0" y="0"/>
                </a:moveTo>
                <a:lnTo>
                  <a:pt x="300" y="0"/>
                </a:lnTo>
              </a:path>
            </a:pathLst>
          </a:custGeom>
          <a:noFill/>
          <a:ln w="28575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626745" name="Line 57"/>
          <p:cNvSpPr/>
          <p:nvPr/>
        </p:nvSpPr>
        <p:spPr>
          <a:xfrm flipH="1">
            <a:off x="4114800" y="2057400"/>
            <a:ext cx="533400" cy="0"/>
          </a:xfrm>
          <a:prstGeom prst="line">
            <a:avLst/>
          </a:prstGeom>
          <a:ln w="28575" cap="flat" cmpd="sng">
            <a:solidFill>
              <a:schemeClr val="folHlink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26746" name="Freeform 58"/>
          <p:cNvSpPr/>
          <p:nvPr/>
        </p:nvSpPr>
        <p:spPr>
          <a:xfrm>
            <a:off x="4114800" y="3500438"/>
            <a:ext cx="481013" cy="6350"/>
          </a:xfrm>
          <a:custGeom>
            <a:avLst/>
            <a:gdLst/>
            <a:ahLst/>
            <a:cxnLst>
              <a:cxn ang="0">
                <a:pos x="2147483646" y="0"/>
              </a:cxn>
              <a:cxn ang="0">
                <a:pos x="0" y="2147483646"/>
              </a:cxn>
            </a:cxnLst>
            <a:pathLst>
              <a:path w="303" h="4">
                <a:moveTo>
                  <a:pt x="303" y="0"/>
                </a:moveTo>
                <a:lnTo>
                  <a:pt x="0" y="4"/>
                </a:lnTo>
              </a:path>
            </a:pathLst>
          </a:custGeom>
          <a:noFill/>
          <a:ln w="28575" cap="flat" cmpd="sng">
            <a:solidFill>
              <a:schemeClr val="folHlink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626747" name="Freeform 59"/>
          <p:cNvSpPr/>
          <p:nvPr/>
        </p:nvSpPr>
        <p:spPr>
          <a:xfrm>
            <a:off x="4419600" y="3505200"/>
            <a:ext cx="228600" cy="8382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2147483646"/>
              </a:cxn>
              <a:cxn ang="0">
                <a:pos x="2147483646" y="2147483646"/>
              </a:cxn>
            </a:cxnLst>
            <a:pathLst>
              <a:path w="144" h="432">
                <a:moveTo>
                  <a:pt x="0" y="0"/>
                </a:moveTo>
                <a:lnTo>
                  <a:pt x="0" y="432"/>
                </a:lnTo>
                <a:lnTo>
                  <a:pt x="144" y="432"/>
                </a:lnTo>
              </a:path>
            </a:pathLst>
          </a:custGeom>
          <a:noFill/>
          <a:ln w="28575" cap="flat" cmpd="sng">
            <a:solidFill>
              <a:schemeClr val="tx1">
                <a:alpha val="100000"/>
              </a:schemeClr>
            </a:solidFill>
            <a:prstDash val="solid"/>
            <a:round/>
            <a:headEnd type="oval" w="sm" len="sm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626748" name="Freeform 60"/>
          <p:cNvSpPr/>
          <p:nvPr/>
        </p:nvSpPr>
        <p:spPr>
          <a:xfrm>
            <a:off x="2613025" y="3843338"/>
            <a:ext cx="2035175" cy="728662"/>
          </a:xfrm>
          <a:custGeom>
            <a:avLst/>
            <a:gdLst/>
            <a:ahLst/>
            <a:cxnLst>
              <a:cxn ang="0">
                <a:pos x="0" y="2147483646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pathLst>
              <a:path w="1282" h="459">
                <a:moveTo>
                  <a:pt x="0" y="1"/>
                </a:moveTo>
                <a:lnTo>
                  <a:pt x="1042" y="0"/>
                </a:lnTo>
                <a:lnTo>
                  <a:pt x="1042" y="459"/>
                </a:lnTo>
                <a:lnTo>
                  <a:pt x="1282" y="459"/>
                </a:lnTo>
              </a:path>
            </a:pathLst>
          </a:custGeom>
          <a:noFill/>
          <a:ln w="28575" cap="flat" cmpd="sng">
            <a:solidFill>
              <a:schemeClr val="tx1">
                <a:alpha val="100000"/>
              </a:schemeClr>
            </a:solidFill>
            <a:prstDash val="solid"/>
            <a:round/>
            <a:headEnd type="oval" w="sm" len="sm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626749" name="Freeform 61"/>
          <p:cNvSpPr/>
          <p:nvPr/>
        </p:nvSpPr>
        <p:spPr>
          <a:xfrm>
            <a:off x="2743200" y="3505200"/>
            <a:ext cx="481013" cy="1588"/>
          </a:xfrm>
          <a:custGeom>
            <a:avLst/>
            <a:gdLst/>
            <a:ahLst/>
            <a:cxnLst>
              <a:cxn ang="0">
                <a:pos x="2147483646" y="0"/>
              </a:cxn>
              <a:cxn ang="0">
                <a:pos x="0" y="2147483646"/>
              </a:cxn>
            </a:cxnLst>
            <a:pathLst>
              <a:path w="303" h="1">
                <a:moveTo>
                  <a:pt x="303" y="0"/>
                </a:moveTo>
                <a:lnTo>
                  <a:pt x="0" y="1"/>
                </a:lnTo>
              </a:path>
            </a:pathLst>
          </a:custGeom>
          <a:noFill/>
          <a:ln w="28575" cap="flat" cmpd="sng">
            <a:solidFill>
              <a:schemeClr val="folHlink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626750" name="Freeform 62"/>
          <p:cNvSpPr/>
          <p:nvPr/>
        </p:nvSpPr>
        <p:spPr>
          <a:xfrm>
            <a:off x="4413250" y="2276475"/>
            <a:ext cx="234950" cy="466725"/>
          </a:xfrm>
          <a:custGeom>
            <a:avLst/>
            <a:gdLst/>
            <a:ahLst/>
            <a:cxnLst>
              <a:cxn ang="0">
                <a:pos x="2147483646" y="0"/>
              </a:cxn>
              <a:cxn ang="0">
                <a:pos x="2147483646" y="0"/>
              </a:cxn>
              <a:cxn ang="0">
                <a:pos x="0" y="2147483646"/>
              </a:cxn>
            </a:cxnLst>
            <a:pathLst>
              <a:path w="148" h="294">
                <a:moveTo>
                  <a:pt x="148" y="0"/>
                </a:moveTo>
                <a:lnTo>
                  <a:pt x="1" y="0"/>
                </a:lnTo>
                <a:lnTo>
                  <a:pt x="0" y="294"/>
                </a:lnTo>
              </a:path>
            </a:pathLst>
          </a:custGeom>
          <a:noFill/>
          <a:ln w="28575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oval" w="sm" len="sm"/>
          </a:ln>
        </p:spPr>
        <p:txBody>
          <a:bodyPr/>
          <a:p>
            <a:endParaRPr lang="zh-CN" altLang="en-US"/>
          </a:p>
        </p:txBody>
      </p:sp>
      <p:grpSp>
        <p:nvGrpSpPr>
          <p:cNvPr id="626751" name="Group 63"/>
          <p:cNvGrpSpPr/>
          <p:nvPr/>
        </p:nvGrpSpPr>
        <p:grpSpPr>
          <a:xfrm>
            <a:off x="2362200" y="2743200"/>
            <a:ext cx="866775" cy="542925"/>
            <a:chOff x="1488" y="1728"/>
            <a:chExt cx="546" cy="342"/>
          </a:xfrm>
        </p:grpSpPr>
        <p:sp>
          <p:nvSpPr>
            <p:cNvPr id="32855" name="Freeform 64"/>
            <p:cNvSpPr/>
            <p:nvPr/>
          </p:nvSpPr>
          <p:spPr>
            <a:xfrm>
              <a:off x="1488" y="1728"/>
              <a:ext cx="408" cy="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08" y="0"/>
                </a:cxn>
              </a:cxnLst>
              <a:pathLst>
                <a:path w="408" h="1">
                  <a:moveTo>
                    <a:pt x="0" y="0"/>
                  </a:moveTo>
                  <a:lnTo>
                    <a:pt x="408" y="0"/>
                  </a:lnTo>
                </a:path>
              </a:pathLst>
            </a:custGeom>
            <a:noFill/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sm" len="sm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2856" name="Freeform 65"/>
            <p:cNvSpPr/>
            <p:nvPr/>
          </p:nvSpPr>
          <p:spPr>
            <a:xfrm>
              <a:off x="1884" y="1731"/>
              <a:ext cx="150" cy="33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339"/>
                </a:cxn>
                <a:cxn ang="0">
                  <a:pos x="150" y="339"/>
                </a:cxn>
              </a:cxnLst>
              <a:pathLst>
                <a:path w="150" h="339">
                  <a:moveTo>
                    <a:pt x="0" y="0"/>
                  </a:moveTo>
                  <a:lnTo>
                    <a:pt x="0" y="339"/>
                  </a:lnTo>
                  <a:lnTo>
                    <a:pt x="150" y="339"/>
                  </a:lnTo>
                </a:path>
              </a:pathLst>
            </a:custGeom>
            <a:noFill/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sm" len="sm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626754" name="Freeform 66"/>
          <p:cNvSpPr/>
          <p:nvPr/>
        </p:nvSpPr>
        <p:spPr>
          <a:xfrm>
            <a:off x="2971800" y="3505200"/>
            <a:ext cx="300038" cy="85725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2147483646"/>
              </a:cxn>
              <a:cxn ang="0">
                <a:pos x="2147483646" y="2147483646"/>
              </a:cxn>
            </a:cxnLst>
            <a:pathLst>
              <a:path w="189" h="540">
                <a:moveTo>
                  <a:pt x="0" y="0"/>
                </a:moveTo>
                <a:lnTo>
                  <a:pt x="0" y="537"/>
                </a:lnTo>
                <a:lnTo>
                  <a:pt x="189" y="540"/>
                </a:lnTo>
              </a:path>
            </a:pathLst>
          </a:custGeom>
          <a:noFill/>
          <a:ln w="28575" cap="flat" cmpd="sng">
            <a:solidFill>
              <a:schemeClr val="tx1">
                <a:alpha val="100000"/>
              </a:schemeClr>
            </a:solidFill>
            <a:prstDash val="solid"/>
            <a:round/>
            <a:headEnd type="oval" w="sm" len="sm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626755" name="Freeform 67"/>
          <p:cNvSpPr/>
          <p:nvPr/>
        </p:nvSpPr>
        <p:spPr>
          <a:xfrm>
            <a:off x="5710238" y="2076450"/>
            <a:ext cx="533400" cy="1588"/>
          </a:xfrm>
          <a:custGeom>
            <a:avLst/>
            <a:gdLst/>
            <a:ahLst/>
            <a:cxnLst>
              <a:cxn ang="0">
                <a:pos x="2147483646" y="0"/>
              </a:cxn>
              <a:cxn ang="0">
                <a:pos x="0" y="0"/>
              </a:cxn>
            </a:cxnLst>
            <a:pathLst>
              <a:path w="336" h="1">
                <a:moveTo>
                  <a:pt x="336" y="0"/>
                </a:moveTo>
                <a:lnTo>
                  <a:pt x="0" y="0"/>
                </a:lnTo>
              </a:path>
            </a:pathLst>
          </a:custGeom>
          <a:noFill/>
          <a:ln w="28575" cap="flat" cmpd="sng">
            <a:solidFill>
              <a:schemeClr val="folHlink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626756" name="Freeform 68"/>
          <p:cNvSpPr/>
          <p:nvPr/>
        </p:nvSpPr>
        <p:spPr>
          <a:xfrm>
            <a:off x="6629400" y="3348038"/>
            <a:ext cx="838200" cy="635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6" y="2147483646"/>
              </a:cxn>
            </a:cxnLst>
            <a:pathLst>
              <a:path w="528" h="4">
                <a:moveTo>
                  <a:pt x="0" y="0"/>
                </a:moveTo>
                <a:lnTo>
                  <a:pt x="528" y="4"/>
                </a:lnTo>
              </a:path>
            </a:pathLst>
          </a:custGeom>
          <a:noFill/>
          <a:ln w="28575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626757" name="Freeform 69"/>
          <p:cNvSpPr/>
          <p:nvPr/>
        </p:nvSpPr>
        <p:spPr>
          <a:xfrm>
            <a:off x="6624638" y="2176463"/>
            <a:ext cx="847725" cy="1004887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pathLst>
              <a:path w="534" h="633">
                <a:moveTo>
                  <a:pt x="0" y="0"/>
                </a:moveTo>
                <a:lnTo>
                  <a:pt x="93" y="3"/>
                </a:lnTo>
                <a:lnTo>
                  <a:pt x="90" y="633"/>
                </a:lnTo>
                <a:lnTo>
                  <a:pt x="534" y="630"/>
                </a:lnTo>
              </a:path>
            </a:pathLst>
          </a:custGeom>
          <a:noFill/>
          <a:ln w="28575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626758" name="Freeform 70"/>
          <p:cNvSpPr/>
          <p:nvPr/>
        </p:nvSpPr>
        <p:spPr>
          <a:xfrm>
            <a:off x="5029200" y="1828800"/>
            <a:ext cx="2443163" cy="1190625"/>
          </a:xfrm>
          <a:custGeom>
            <a:avLst/>
            <a:gdLst/>
            <a:ahLst/>
            <a:cxnLst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pathLst>
              <a:path w="1539" h="750">
                <a:moveTo>
                  <a:pt x="0" y="216"/>
                </a:moveTo>
                <a:lnTo>
                  <a:pt x="144" y="219"/>
                </a:lnTo>
                <a:lnTo>
                  <a:pt x="144" y="0"/>
                </a:lnTo>
                <a:lnTo>
                  <a:pt x="1221" y="0"/>
                </a:lnTo>
                <a:lnTo>
                  <a:pt x="1221" y="750"/>
                </a:lnTo>
                <a:lnTo>
                  <a:pt x="1539" y="750"/>
                </a:lnTo>
              </a:path>
            </a:pathLst>
          </a:custGeom>
          <a:noFill/>
          <a:ln w="28575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626759" name="Freeform 71"/>
          <p:cNvSpPr/>
          <p:nvPr/>
        </p:nvSpPr>
        <p:spPr>
          <a:xfrm>
            <a:off x="1519238" y="1557338"/>
            <a:ext cx="5953125" cy="12954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pathLst>
              <a:path w="3750" h="816">
                <a:moveTo>
                  <a:pt x="0" y="0"/>
                </a:moveTo>
                <a:lnTo>
                  <a:pt x="3551" y="3"/>
                </a:lnTo>
                <a:lnTo>
                  <a:pt x="3551" y="815"/>
                </a:lnTo>
                <a:lnTo>
                  <a:pt x="3750" y="816"/>
                </a:lnTo>
              </a:path>
            </a:pathLst>
          </a:custGeom>
          <a:noFill/>
          <a:ln w="28575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626760" name="Freeform 72"/>
          <p:cNvSpPr/>
          <p:nvPr/>
        </p:nvSpPr>
        <p:spPr>
          <a:xfrm>
            <a:off x="4976813" y="3386138"/>
            <a:ext cx="2495550" cy="50006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pathLst>
              <a:path w="1572" h="315">
                <a:moveTo>
                  <a:pt x="0" y="0"/>
                </a:moveTo>
                <a:lnTo>
                  <a:pt x="174" y="0"/>
                </a:lnTo>
                <a:lnTo>
                  <a:pt x="174" y="315"/>
                </a:lnTo>
                <a:lnTo>
                  <a:pt x="1131" y="315"/>
                </a:lnTo>
                <a:lnTo>
                  <a:pt x="1131" y="75"/>
                </a:lnTo>
                <a:lnTo>
                  <a:pt x="1572" y="78"/>
                </a:lnTo>
              </a:path>
            </a:pathLst>
          </a:custGeom>
          <a:noFill/>
          <a:ln w="28575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626761" name="Freeform 73"/>
          <p:cNvSpPr/>
          <p:nvPr/>
        </p:nvSpPr>
        <p:spPr>
          <a:xfrm>
            <a:off x="3881438" y="3676650"/>
            <a:ext cx="3590925" cy="361950"/>
          </a:xfrm>
          <a:custGeom>
            <a:avLst/>
            <a:gdLst/>
            <a:ahLst/>
            <a:cxnLst>
              <a:cxn ang="0">
                <a:pos x="0" y="2147483646"/>
              </a:cxn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0"/>
              </a:cxn>
            </a:cxnLst>
            <a:pathLst>
              <a:path w="2262" h="228">
                <a:moveTo>
                  <a:pt x="0" y="223"/>
                </a:moveTo>
                <a:lnTo>
                  <a:pt x="0" y="223"/>
                </a:lnTo>
                <a:lnTo>
                  <a:pt x="3" y="228"/>
                </a:lnTo>
                <a:lnTo>
                  <a:pt x="1950" y="228"/>
                </a:lnTo>
                <a:lnTo>
                  <a:pt x="1950" y="0"/>
                </a:lnTo>
                <a:lnTo>
                  <a:pt x="2262" y="0"/>
                </a:lnTo>
              </a:path>
            </a:pathLst>
          </a:custGeom>
          <a:noFill/>
          <a:ln w="28575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626762" name="Freeform 74"/>
          <p:cNvSpPr/>
          <p:nvPr/>
        </p:nvSpPr>
        <p:spPr>
          <a:xfrm>
            <a:off x="5024438" y="3833813"/>
            <a:ext cx="2447925" cy="623887"/>
          </a:xfrm>
          <a:custGeom>
            <a:avLst/>
            <a:gdLst/>
            <a:ahLst/>
            <a:cxnLst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</a:cxnLst>
            <a:pathLst>
              <a:path w="1542" h="393">
                <a:moveTo>
                  <a:pt x="0" y="393"/>
                </a:moveTo>
                <a:lnTo>
                  <a:pt x="1353" y="393"/>
                </a:lnTo>
                <a:lnTo>
                  <a:pt x="1353" y="3"/>
                </a:lnTo>
                <a:lnTo>
                  <a:pt x="1542" y="0"/>
                </a:lnTo>
              </a:path>
            </a:pathLst>
          </a:custGeom>
          <a:noFill/>
          <a:ln w="28575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626763" name="Freeform 75"/>
          <p:cNvSpPr/>
          <p:nvPr/>
        </p:nvSpPr>
        <p:spPr>
          <a:xfrm>
            <a:off x="3657600" y="4000500"/>
            <a:ext cx="3819525" cy="952500"/>
          </a:xfrm>
          <a:custGeom>
            <a:avLst/>
            <a:gdLst/>
            <a:ahLst/>
            <a:cxnLst>
              <a:cxn ang="0">
                <a:pos x="0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0"/>
              </a:cxn>
              <a:cxn ang="0">
                <a:pos x="2147483646" y="0"/>
              </a:cxn>
            </a:cxnLst>
            <a:pathLst>
              <a:path w="2406" h="600">
                <a:moveTo>
                  <a:pt x="0" y="291"/>
                </a:moveTo>
                <a:lnTo>
                  <a:pt x="240" y="288"/>
                </a:lnTo>
                <a:lnTo>
                  <a:pt x="240" y="600"/>
                </a:lnTo>
                <a:lnTo>
                  <a:pt x="2332" y="596"/>
                </a:lnTo>
                <a:lnTo>
                  <a:pt x="2331" y="0"/>
                </a:lnTo>
                <a:lnTo>
                  <a:pt x="2406" y="0"/>
                </a:lnTo>
              </a:path>
            </a:pathLst>
          </a:custGeom>
          <a:noFill/>
          <a:ln w="28575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grpSp>
        <p:nvGrpSpPr>
          <p:cNvPr id="626764" name="Group 76"/>
          <p:cNvGrpSpPr/>
          <p:nvPr/>
        </p:nvGrpSpPr>
        <p:grpSpPr>
          <a:xfrm>
            <a:off x="7467600" y="2743200"/>
            <a:ext cx="533400" cy="1371600"/>
            <a:chOff x="4704" y="1728"/>
            <a:chExt cx="336" cy="864"/>
          </a:xfrm>
        </p:grpSpPr>
        <p:sp>
          <p:nvSpPr>
            <p:cNvPr id="32845" name="Rectangle 77"/>
            <p:cNvSpPr/>
            <p:nvPr/>
          </p:nvSpPr>
          <p:spPr>
            <a:xfrm>
              <a:off x="4752" y="1728"/>
              <a:ext cx="260" cy="864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32846" name="Oval 78"/>
            <p:cNvSpPr/>
            <p:nvPr/>
          </p:nvSpPr>
          <p:spPr>
            <a:xfrm>
              <a:off x="4704" y="2496"/>
              <a:ext cx="48" cy="48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32847" name="Oval 79"/>
            <p:cNvSpPr/>
            <p:nvPr/>
          </p:nvSpPr>
          <p:spPr>
            <a:xfrm>
              <a:off x="4704" y="2393"/>
              <a:ext cx="48" cy="48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32848" name="Oval 80"/>
            <p:cNvSpPr/>
            <p:nvPr/>
          </p:nvSpPr>
          <p:spPr>
            <a:xfrm>
              <a:off x="4704" y="2290"/>
              <a:ext cx="48" cy="48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32849" name="Oval 81"/>
            <p:cNvSpPr/>
            <p:nvPr/>
          </p:nvSpPr>
          <p:spPr>
            <a:xfrm>
              <a:off x="4704" y="2187"/>
              <a:ext cx="48" cy="48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32850" name="Oval 82"/>
            <p:cNvSpPr/>
            <p:nvPr/>
          </p:nvSpPr>
          <p:spPr>
            <a:xfrm>
              <a:off x="4704" y="2084"/>
              <a:ext cx="48" cy="48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32851" name="Oval 83"/>
            <p:cNvSpPr/>
            <p:nvPr/>
          </p:nvSpPr>
          <p:spPr>
            <a:xfrm>
              <a:off x="4704" y="1981"/>
              <a:ext cx="48" cy="48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32852" name="Oval 84"/>
            <p:cNvSpPr/>
            <p:nvPr/>
          </p:nvSpPr>
          <p:spPr>
            <a:xfrm>
              <a:off x="4704" y="1878"/>
              <a:ext cx="48" cy="48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32853" name="Oval 85"/>
            <p:cNvSpPr/>
            <p:nvPr/>
          </p:nvSpPr>
          <p:spPr>
            <a:xfrm>
              <a:off x="4704" y="1776"/>
              <a:ext cx="48" cy="48"/>
            </a:xfrm>
            <a:prstGeom prst="ellipse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32854" name="Text Box 86"/>
            <p:cNvSpPr txBox="1"/>
            <p:nvPr/>
          </p:nvSpPr>
          <p:spPr>
            <a:xfrm>
              <a:off x="4766" y="2047"/>
              <a:ext cx="274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>
              <a:spAutoFit/>
            </a:bodyPr>
            <a:p>
              <a:pPr eaLnBrk="1" hangingPunct="1"/>
              <a:r>
                <a:rPr lang="zh-CN" altLang="en-US" dirty="0">
                  <a:latin typeface="Times New Roman" panose="02020603050405020304" pitchFamily="18" charset="0"/>
                </a:rPr>
                <a:t>≥</a:t>
              </a:r>
              <a:r>
                <a:rPr lang="en-US" altLang="zh-CN" dirty="0">
                  <a:latin typeface="Times New Roman" panose="02020603050405020304" pitchFamily="18" charset="0"/>
                </a:rPr>
                <a:t>1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626775" name="Text Box 87"/>
          <p:cNvSpPr txBox="1"/>
          <p:nvPr/>
        </p:nvSpPr>
        <p:spPr>
          <a:xfrm>
            <a:off x="304800" y="1143000"/>
            <a:ext cx="476250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dirty="0">
                <a:solidFill>
                  <a:schemeClr val="folHlink"/>
                </a:solidFill>
                <a:latin typeface="Times New Roman" panose="02020603050405020304" pitchFamily="18" charset="0"/>
              </a:rPr>
              <a:t>FE</a:t>
            </a:r>
            <a:endParaRPr lang="en-US" altLang="zh-CN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626776" name="Text Box 88"/>
          <p:cNvSpPr txBox="1"/>
          <p:nvPr/>
        </p:nvSpPr>
        <p:spPr>
          <a:xfrm>
            <a:off x="304800" y="2300288"/>
            <a:ext cx="603250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dirty="0">
                <a:solidFill>
                  <a:schemeClr val="folHlink"/>
                </a:solidFill>
                <a:latin typeface="Times New Roman" panose="02020603050405020304" pitchFamily="18" charset="0"/>
              </a:rPr>
              <a:t>IND</a:t>
            </a:r>
            <a:endParaRPr lang="en-US" altLang="zh-CN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626777" name="Text Box 89"/>
          <p:cNvSpPr txBox="1"/>
          <p:nvPr/>
        </p:nvSpPr>
        <p:spPr>
          <a:xfrm>
            <a:off x="304800" y="3429000"/>
            <a:ext cx="501650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dirty="0">
                <a:solidFill>
                  <a:schemeClr val="folHlink"/>
                </a:solidFill>
                <a:latin typeface="Times New Roman" panose="02020603050405020304" pitchFamily="18" charset="0"/>
              </a:rPr>
              <a:t>EX</a:t>
            </a:r>
            <a:endParaRPr lang="en-US" altLang="zh-CN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626778" name="Text Box 90"/>
          <p:cNvSpPr txBox="1"/>
          <p:nvPr/>
        </p:nvSpPr>
        <p:spPr>
          <a:xfrm>
            <a:off x="2457450" y="3200400"/>
            <a:ext cx="666750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dirty="0">
                <a:solidFill>
                  <a:schemeClr val="folHlink"/>
                </a:solidFill>
                <a:latin typeface="Times New Roman" panose="02020603050405020304" pitchFamily="18" charset="0"/>
              </a:rPr>
              <a:t>LDA</a:t>
            </a:r>
            <a:endParaRPr lang="en-US" altLang="zh-CN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626779" name="Text Box 91"/>
          <p:cNvSpPr txBox="1"/>
          <p:nvPr/>
        </p:nvSpPr>
        <p:spPr>
          <a:xfrm>
            <a:off x="3886200" y="3200400"/>
            <a:ext cx="679450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dirty="0">
                <a:solidFill>
                  <a:schemeClr val="folHlink"/>
                </a:solidFill>
                <a:latin typeface="Times New Roman" panose="02020603050405020304" pitchFamily="18" charset="0"/>
              </a:rPr>
              <a:t>ADD</a:t>
            </a:r>
            <a:endParaRPr lang="en-US" altLang="zh-CN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626780" name="Text Box 92"/>
          <p:cNvSpPr txBox="1"/>
          <p:nvPr/>
        </p:nvSpPr>
        <p:spPr>
          <a:xfrm>
            <a:off x="3886200" y="1752600"/>
            <a:ext cx="654050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dirty="0">
                <a:solidFill>
                  <a:schemeClr val="folHlink"/>
                </a:solidFill>
                <a:latin typeface="Times New Roman" panose="02020603050405020304" pitchFamily="18" charset="0"/>
              </a:rPr>
              <a:t>JMP</a:t>
            </a:r>
            <a:endParaRPr lang="en-US" altLang="zh-CN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626781" name="Text Box 93"/>
          <p:cNvSpPr txBox="1"/>
          <p:nvPr/>
        </p:nvSpPr>
        <p:spPr>
          <a:xfrm>
            <a:off x="5505450" y="1766888"/>
            <a:ext cx="666750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dirty="0">
                <a:solidFill>
                  <a:schemeClr val="folHlink"/>
                </a:solidFill>
                <a:latin typeface="Times New Roman" panose="02020603050405020304" pitchFamily="18" charset="0"/>
              </a:rPr>
              <a:t>BAN</a:t>
            </a:r>
            <a:endParaRPr lang="en-US" altLang="zh-CN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626782" name="Text Box 94"/>
          <p:cNvSpPr txBox="1"/>
          <p:nvPr/>
        </p:nvSpPr>
        <p:spPr>
          <a:xfrm>
            <a:off x="5505450" y="3138488"/>
            <a:ext cx="628650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dirty="0">
                <a:solidFill>
                  <a:schemeClr val="folHlink"/>
                </a:solidFill>
                <a:latin typeface="Times New Roman" panose="02020603050405020304" pitchFamily="18" charset="0"/>
              </a:rPr>
              <a:t>STA</a:t>
            </a:r>
            <a:endParaRPr lang="en-US" altLang="zh-CN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626783" name="Freeform 95"/>
          <p:cNvSpPr/>
          <p:nvPr/>
        </p:nvSpPr>
        <p:spPr>
          <a:xfrm>
            <a:off x="5705475" y="3462338"/>
            <a:ext cx="542925" cy="1587"/>
          </a:xfrm>
          <a:custGeom>
            <a:avLst/>
            <a:gdLst/>
            <a:ahLst/>
            <a:cxnLst>
              <a:cxn ang="0">
                <a:pos x="2147483646" y="0"/>
              </a:cxn>
              <a:cxn ang="0">
                <a:pos x="0" y="0"/>
              </a:cxn>
            </a:cxnLst>
            <a:pathLst>
              <a:path w="342" h="1">
                <a:moveTo>
                  <a:pt x="342" y="0"/>
                </a:moveTo>
                <a:lnTo>
                  <a:pt x="0" y="0"/>
                </a:lnTo>
              </a:path>
            </a:pathLst>
          </a:custGeom>
          <a:noFill/>
          <a:ln w="28575" cap="flat" cmpd="sng">
            <a:solidFill>
              <a:schemeClr val="folHlink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626784" name="Text Box 96"/>
          <p:cNvSpPr txBox="1"/>
          <p:nvPr/>
        </p:nvSpPr>
        <p:spPr>
          <a:xfrm>
            <a:off x="304800" y="1508125"/>
            <a:ext cx="422275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000" i="1" dirty="0">
                <a:latin typeface="Times New Roman" panose="02020603050405020304" pitchFamily="18" charset="0"/>
              </a:rPr>
              <a:t>T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1</a:t>
            </a:r>
            <a:endParaRPr lang="en-US" altLang="zh-CN" sz="2000" baseline="-25000" dirty="0">
              <a:latin typeface="Times New Roman" panose="02020603050405020304" pitchFamily="18" charset="0"/>
            </a:endParaRPr>
          </a:p>
        </p:txBody>
      </p:sp>
      <p:sp>
        <p:nvSpPr>
          <p:cNvPr id="626785" name="Line 97"/>
          <p:cNvSpPr/>
          <p:nvPr/>
        </p:nvSpPr>
        <p:spPr>
          <a:xfrm>
            <a:off x="7961313" y="3429000"/>
            <a:ext cx="5334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med" len="med"/>
          </a:ln>
        </p:spPr>
      </p:sp>
      <p:grpSp>
        <p:nvGrpSpPr>
          <p:cNvPr id="626786" name="Group 98"/>
          <p:cNvGrpSpPr/>
          <p:nvPr/>
        </p:nvGrpSpPr>
        <p:grpSpPr>
          <a:xfrm>
            <a:off x="7962900" y="3500438"/>
            <a:ext cx="1441450" cy="641350"/>
            <a:chOff x="4992" y="2160"/>
            <a:chExt cx="908" cy="404"/>
          </a:xfrm>
        </p:grpSpPr>
        <p:sp>
          <p:nvSpPr>
            <p:cNvPr id="32843" name="Text Box 99"/>
            <p:cNvSpPr txBox="1"/>
            <p:nvPr/>
          </p:nvSpPr>
          <p:spPr>
            <a:xfrm>
              <a:off x="4992" y="2160"/>
              <a:ext cx="908" cy="40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M ( MAR)    </a:t>
              </a:r>
              <a:endParaRPr lang="en-US" altLang="zh-CN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  <a:p>
              <a:pPr eaLnBrk="1" hangingPunct="1"/>
              <a:r>
                <a:rPr lang="en-US" altLang="zh-CN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        MDR</a:t>
              </a:r>
              <a:endParaRPr lang="en-US" altLang="zh-CN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2844" name="Line 100"/>
            <p:cNvSpPr/>
            <p:nvPr/>
          </p:nvSpPr>
          <p:spPr>
            <a:xfrm>
              <a:off x="5040" y="2448"/>
              <a:ext cx="240" cy="0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626789" name="Group 101"/>
          <p:cNvGrpSpPr/>
          <p:nvPr/>
        </p:nvGrpSpPr>
        <p:grpSpPr>
          <a:xfrm>
            <a:off x="2995613" y="2743200"/>
            <a:ext cx="1600200" cy="533400"/>
            <a:chOff x="1887" y="1728"/>
            <a:chExt cx="1008" cy="336"/>
          </a:xfrm>
        </p:grpSpPr>
        <p:sp>
          <p:nvSpPr>
            <p:cNvPr id="32841" name="Freeform 102"/>
            <p:cNvSpPr/>
            <p:nvPr/>
          </p:nvSpPr>
          <p:spPr>
            <a:xfrm>
              <a:off x="2784" y="1728"/>
              <a:ext cx="111" cy="33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336"/>
                </a:cxn>
                <a:cxn ang="0">
                  <a:pos x="111" y="336"/>
                </a:cxn>
              </a:cxnLst>
              <a:pathLst>
                <a:path w="111" h="336">
                  <a:moveTo>
                    <a:pt x="0" y="0"/>
                  </a:moveTo>
                  <a:lnTo>
                    <a:pt x="0" y="336"/>
                  </a:lnTo>
                  <a:lnTo>
                    <a:pt x="111" y="336"/>
                  </a:lnTo>
                </a:path>
              </a:pathLst>
            </a:custGeom>
            <a:noFill/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2842" name="Freeform 103"/>
            <p:cNvSpPr/>
            <p:nvPr/>
          </p:nvSpPr>
          <p:spPr>
            <a:xfrm>
              <a:off x="1887" y="1728"/>
              <a:ext cx="897" cy="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897" y="0"/>
                </a:cxn>
              </a:cxnLst>
              <a:pathLst>
                <a:path w="897" h="1">
                  <a:moveTo>
                    <a:pt x="0" y="0"/>
                  </a:moveTo>
                  <a:lnTo>
                    <a:pt x="897" y="0"/>
                  </a:lnTo>
                </a:path>
              </a:pathLst>
            </a:custGeom>
            <a:noFill/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oval" w="sm" len="sm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626792" name="Freeform 104"/>
          <p:cNvSpPr/>
          <p:nvPr/>
        </p:nvSpPr>
        <p:spPr>
          <a:xfrm>
            <a:off x="6019800" y="2286000"/>
            <a:ext cx="228600" cy="457200"/>
          </a:xfrm>
          <a:custGeom>
            <a:avLst/>
            <a:gdLst/>
            <a:ahLst/>
            <a:cxnLst>
              <a:cxn ang="0">
                <a:pos x="2147483646" y="0"/>
              </a:cxn>
              <a:cxn ang="0">
                <a:pos x="0" y="0"/>
              </a:cxn>
              <a:cxn ang="0">
                <a:pos x="0" y="2147483646"/>
              </a:cxn>
            </a:cxnLst>
            <a:pathLst>
              <a:path w="144" h="288">
                <a:moveTo>
                  <a:pt x="144" y="0"/>
                </a:moveTo>
                <a:lnTo>
                  <a:pt x="0" y="0"/>
                </a:lnTo>
                <a:lnTo>
                  <a:pt x="0" y="288"/>
                </a:lnTo>
              </a:path>
            </a:pathLst>
          </a:custGeom>
          <a:noFill/>
          <a:ln w="28575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sm" len="sm"/>
            <a:tailEnd type="oval" w="sm" len="sm"/>
          </a:ln>
        </p:spPr>
        <p:txBody>
          <a:bodyPr/>
          <a:p>
            <a:endParaRPr lang="zh-CN" altLang="en-US"/>
          </a:p>
        </p:txBody>
      </p:sp>
      <p:grpSp>
        <p:nvGrpSpPr>
          <p:cNvPr id="626793" name="Group 105"/>
          <p:cNvGrpSpPr/>
          <p:nvPr/>
        </p:nvGrpSpPr>
        <p:grpSpPr>
          <a:xfrm>
            <a:off x="4424363" y="2743200"/>
            <a:ext cx="1824037" cy="457200"/>
            <a:chOff x="2787" y="1728"/>
            <a:chExt cx="1149" cy="288"/>
          </a:xfrm>
        </p:grpSpPr>
        <p:sp>
          <p:nvSpPr>
            <p:cNvPr id="32839" name="Freeform 106"/>
            <p:cNvSpPr/>
            <p:nvPr/>
          </p:nvSpPr>
          <p:spPr>
            <a:xfrm>
              <a:off x="2787" y="1728"/>
              <a:ext cx="1005" cy="3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1005" y="0"/>
                </a:cxn>
              </a:cxnLst>
              <a:pathLst>
                <a:path w="1005" h="3">
                  <a:moveTo>
                    <a:pt x="0" y="3"/>
                  </a:moveTo>
                  <a:lnTo>
                    <a:pt x="1005" y="0"/>
                  </a:lnTo>
                </a:path>
              </a:pathLst>
            </a:custGeom>
            <a:noFill/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2840" name="Freeform 107"/>
            <p:cNvSpPr/>
            <p:nvPr/>
          </p:nvSpPr>
          <p:spPr>
            <a:xfrm>
              <a:off x="3792" y="1728"/>
              <a:ext cx="144" cy="28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88"/>
                </a:cxn>
                <a:cxn ang="0">
                  <a:pos x="144" y="288"/>
                </a:cxn>
              </a:cxnLst>
              <a:pathLst>
                <a:path w="144" h="288">
                  <a:moveTo>
                    <a:pt x="0" y="0"/>
                  </a:moveTo>
                  <a:lnTo>
                    <a:pt x="0" y="288"/>
                  </a:lnTo>
                  <a:lnTo>
                    <a:pt x="144" y="288"/>
                  </a:lnTo>
                </a:path>
              </a:pathLst>
            </a:custGeom>
            <a:noFill/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sm" len="sm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626796" name="Group 108"/>
          <p:cNvGrpSpPr/>
          <p:nvPr/>
        </p:nvGrpSpPr>
        <p:grpSpPr>
          <a:xfrm>
            <a:off x="2381250" y="3852863"/>
            <a:ext cx="895350" cy="719137"/>
            <a:chOff x="1500" y="2427"/>
            <a:chExt cx="564" cy="453"/>
          </a:xfrm>
        </p:grpSpPr>
        <p:sp>
          <p:nvSpPr>
            <p:cNvPr id="32837" name="Freeform 109"/>
            <p:cNvSpPr/>
            <p:nvPr/>
          </p:nvSpPr>
          <p:spPr>
            <a:xfrm>
              <a:off x="1647" y="2427"/>
              <a:ext cx="417" cy="45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453"/>
                </a:cxn>
                <a:cxn ang="0">
                  <a:pos x="417" y="444"/>
                </a:cxn>
              </a:cxnLst>
              <a:pathLst>
                <a:path w="417" h="453">
                  <a:moveTo>
                    <a:pt x="0" y="0"/>
                  </a:moveTo>
                  <a:lnTo>
                    <a:pt x="3" y="453"/>
                  </a:lnTo>
                  <a:lnTo>
                    <a:pt x="417" y="444"/>
                  </a:lnTo>
                </a:path>
              </a:pathLst>
            </a:custGeom>
            <a:noFill/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sm" len="sm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2838" name="Freeform 110"/>
            <p:cNvSpPr/>
            <p:nvPr/>
          </p:nvSpPr>
          <p:spPr>
            <a:xfrm>
              <a:off x="1500" y="2427"/>
              <a:ext cx="153" cy="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53" y="0"/>
                </a:cxn>
              </a:cxnLst>
              <a:pathLst>
                <a:path w="153" h="1">
                  <a:moveTo>
                    <a:pt x="0" y="0"/>
                  </a:moveTo>
                  <a:lnTo>
                    <a:pt x="153" y="0"/>
                  </a:lnTo>
                </a:path>
              </a:pathLst>
            </a:custGeom>
            <a:noFill/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626799" name="Freeform 111"/>
          <p:cNvSpPr/>
          <p:nvPr/>
        </p:nvSpPr>
        <p:spPr>
          <a:xfrm>
            <a:off x="3605213" y="3395663"/>
            <a:ext cx="280987" cy="642937"/>
          </a:xfrm>
          <a:custGeom>
            <a:avLst/>
            <a:gdLst/>
            <a:ahLst/>
            <a:cxnLst>
              <a:cxn ang="0">
                <a:pos x="0" y="2147483646"/>
              </a:cxn>
              <a:cxn ang="0">
                <a:pos x="2147483646" y="0"/>
              </a:cxn>
              <a:cxn ang="0">
                <a:pos x="2147483646" y="2147483646"/>
              </a:cxn>
            </a:cxnLst>
            <a:pathLst>
              <a:path w="177" h="405">
                <a:moveTo>
                  <a:pt x="0" y="3"/>
                </a:moveTo>
                <a:lnTo>
                  <a:pt x="177" y="0"/>
                </a:lnTo>
                <a:lnTo>
                  <a:pt x="177" y="405"/>
                </a:lnTo>
              </a:path>
            </a:pathLst>
          </a:custGeom>
          <a:noFill/>
          <a:ln w="28575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626800" name="Text Box 112"/>
          <p:cNvSpPr txBox="1"/>
          <p:nvPr/>
        </p:nvSpPr>
        <p:spPr>
          <a:xfrm>
            <a:off x="3733800" y="6161088"/>
            <a:ext cx="2438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400" dirty="0">
                <a:latin typeface="Times New Roman" panose="02020603050405020304" pitchFamily="18" charset="0"/>
              </a:rPr>
              <a:t>（</a:t>
            </a:r>
            <a:r>
              <a:rPr lang="en-US" altLang="zh-CN" sz="2400" dirty="0">
                <a:latin typeface="Times New Roman" panose="02020603050405020304" pitchFamily="18" charset="0"/>
              </a:rPr>
              <a:t>RISC）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grpSp>
        <p:nvGrpSpPr>
          <p:cNvPr id="626801" name="Group 113"/>
          <p:cNvGrpSpPr/>
          <p:nvPr/>
        </p:nvGrpSpPr>
        <p:grpSpPr>
          <a:xfrm>
            <a:off x="3190875" y="3124200"/>
            <a:ext cx="414338" cy="533400"/>
            <a:chOff x="2010" y="1968"/>
            <a:chExt cx="261" cy="336"/>
          </a:xfrm>
        </p:grpSpPr>
        <p:sp>
          <p:nvSpPr>
            <p:cNvPr id="32833" name="Text Box 114"/>
            <p:cNvSpPr txBox="1"/>
            <p:nvPr/>
          </p:nvSpPr>
          <p:spPr>
            <a:xfrm>
              <a:off x="2010" y="1999"/>
              <a:ext cx="249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&amp;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32834" name="Group 115"/>
            <p:cNvGrpSpPr/>
            <p:nvPr/>
          </p:nvGrpSpPr>
          <p:grpSpPr>
            <a:xfrm>
              <a:off x="2031" y="1968"/>
              <a:ext cx="240" cy="336"/>
              <a:chOff x="2064" y="2064"/>
              <a:chExt cx="240" cy="336"/>
            </a:xfrm>
          </p:grpSpPr>
          <p:sp>
            <p:nvSpPr>
              <p:cNvPr id="32835" name="Rectangle 116"/>
              <p:cNvSpPr/>
              <p:nvPr/>
            </p:nvSpPr>
            <p:spPr>
              <a:xfrm>
                <a:off x="2064" y="2064"/>
                <a:ext cx="192" cy="336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等线" panose="02010600030101010101" pitchFamily="2" charset="-122"/>
                </a:endParaRPr>
              </a:p>
            </p:txBody>
          </p:sp>
          <p:sp>
            <p:nvSpPr>
              <p:cNvPr id="32836" name="Oval 117"/>
              <p:cNvSpPr/>
              <p:nvPr/>
            </p:nvSpPr>
            <p:spPr>
              <a:xfrm>
                <a:off x="2256" y="2208"/>
                <a:ext cx="48" cy="48"/>
              </a:xfrm>
              <a:prstGeom prst="ellipse">
                <a:avLst/>
              </a:prstGeom>
              <a:noFill/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等线" panose="02010600030101010101" pitchFamily="2" charset="-122"/>
                </a:endParaRPr>
              </a:p>
            </p:txBody>
          </p:sp>
        </p:grpSp>
      </p:grpSp>
      <p:grpSp>
        <p:nvGrpSpPr>
          <p:cNvPr id="626806" name="Group 118"/>
          <p:cNvGrpSpPr/>
          <p:nvPr/>
        </p:nvGrpSpPr>
        <p:grpSpPr>
          <a:xfrm>
            <a:off x="4557713" y="3124200"/>
            <a:ext cx="422275" cy="533400"/>
            <a:chOff x="2871" y="1968"/>
            <a:chExt cx="266" cy="336"/>
          </a:xfrm>
        </p:grpSpPr>
        <p:grpSp>
          <p:nvGrpSpPr>
            <p:cNvPr id="32829" name="Group 119"/>
            <p:cNvGrpSpPr/>
            <p:nvPr/>
          </p:nvGrpSpPr>
          <p:grpSpPr>
            <a:xfrm>
              <a:off x="2897" y="1968"/>
              <a:ext cx="240" cy="336"/>
              <a:chOff x="2976" y="2064"/>
              <a:chExt cx="240" cy="336"/>
            </a:xfrm>
          </p:grpSpPr>
          <p:sp>
            <p:nvSpPr>
              <p:cNvPr id="32831" name="Rectangle 120"/>
              <p:cNvSpPr/>
              <p:nvPr/>
            </p:nvSpPr>
            <p:spPr>
              <a:xfrm>
                <a:off x="2976" y="2064"/>
                <a:ext cx="192" cy="336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等线" panose="02010600030101010101" pitchFamily="2" charset="-122"/>
                </a:endParaRPr>
              </a:p>
            </p:txBody>
          </p:sp>
          <p:sp>
            <p:nvSpPr>
              <p:cNvPr id="32832" name="Oval 121"/>
              <p:cNvSpPr/>
              <p:nvPr/>
            </p:nvSpPr>
            <p:spPr>
              <a:xfrm>
                <a:off x="3168" y="2208"/>
                <a:ext cx="48" cy="48"/>
              </a:xfrm>
              <a:prstGeom prst="ellipse">
                <a:avLst/>
              </a:prstGeom>
              <a:noFill/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等线" panose="02010600030101010101" pitchFamily="2" charset="-122"/>
                </a:endParaRPr>
              </a:p>
            </p:txBody>
          </p:sp>
        </p:grpSp>
        <p:sp>
          <p:nvSpPr>
            <p:cNvPr id="32830" name="Text Box 122"/>
            <p:cNvSpPr txBox="1"/>
            <p:nvPr/>
          </p:nvSpPr>
          <p:spPr>
            <a:xfrm>
              <a:off x="2871" y="2006"/>
              <a:ext cx="249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&amp;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626811" name="Rectangle 123"/>
          <p:cNvSpPr>
            <a:spLocks noChangeArrowheads="1"/>
          </p:cNvSpPr>
          <p:nvPr/>
        </p:nvSpPr>
        <p:spPr bwMode="auto">
          <a:xfrm>
            <a:off x="7696200" y="152400"/>
            <a:ext cx="1447800" cy="838200"/>
          </a:xfrm>
          <a:prstGeom prst="rect">
            <a:avLst/>
          </a:prstGeom>
          <a:noFill/>
          <a:ln>
            <a:noFill/>
          </a:ln>
          <a:effectLst/>
        </p:spPr>
        <p:txBody>
          <a:bodyPr lIns="92075" tIns="46038" rIns="92075" bIns="46038" anchor="ctr"/>
          <a:lstStyle>
            <a:lvl1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10.1</a:t>
            </a:r>
            <a:endParaRPr kumimoji="1" lang="zh-CN" altLang="en-US" sz="4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2828" name="AutoShape 126">
            <a:hlinkClick r:id="rId1" action="ppaction://hlinksldjump"/>
          </p:cNvPr>
          <p:cNvSpPr/>
          <p:nvPr/>
        </p:nvSpPr>
        <p:spPr>
          <a:xfrm>
            <a:off x="8589963" y="6516688"/>
            <a:ext cx="539750" cy="333375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endParaRPr lang="zh-CN" altLang="en-US" dirty="0">
              <a:latin typeface="等线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626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626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626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1" dur="500"/>
                                        <p:tgtEl>
                                          <p:spTgt spid="626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626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0" dur="500"/>
                                        <p:tgtEl>
                                          <p:spTgt spid="626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626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626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3" dur="500"/>
                                        <p:tgtEl>
                                          <p:spTgt spid="626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8" dur="500"/>
                                        <p:tgtEl>
                                          <p:spTgt spid="626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2" dur="500"/>
                                        <p:tgtEl>
                                          <p:spTgt spid="626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7" dur="500"/>
                                        <p:tgtEl>
                                          <p:spTgt spid="626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1" dur="500"/>
                                        <p:tgtEl>
                                          <p:spTgt spid="626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6" dur="500"/>
                                        <p:tgtEl>
                                          <p:spTgt spid="626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0" dur="500"/>
                                        <p:tgtEl>
                                          <p:spTgt spid="626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5" dur="500"/>
                                        <p:tgtEl>
                                          <p:spTgt spid="626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9" dur="500"/>
                                        <p:tgtEl>
                                          <p:spTgt spid="626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84" dur="500"/>
                                        <p:tgtEl>
                                          <p:spTgt spid="626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88" dur="500"/>
                                        <p:tgtEl>
                                          <p:spTgt spid="626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93" dur="500"/>
                                        <p:tgtEl>
                                          <p:spTgt spid="626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500"/>
                            </p:stCondLst>
                            <p:childTnLst>
                              <p:par>
                                <p:cTn id="9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97" dur="500"/>
                                        <p:tgtEl>
                                          <p:spTgt spid="626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02" dur="500"/>
                                        <p:tgtEl>
                                          <p:spTgt spid="626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500"/>
                            </p:stCondLst>
                            <p:childTnLst>
                              <p:par>
                                <p:cTn id="10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6" dur="500"/>
                                        <p:tgtEl>
                                          <p:spTgt spid="626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1" dur="500"/>
                                        <p:tgtEl>
                                          <p:spTgt spid="626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500"/>
                            </p:stCondLst>
                            <p:childTnLst>
                              <p:par>
                                <p:cTn id="11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5" dur="500"/>
                                        <p:tgtEl>
                                          <p:spTgt spid="626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0" dur="500"/>
                                        <p:tgtEl>
                                          <p:spTgt spid="626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500"/>
                            </p:stCondLst>
                            <p:childTnLst>
                              <p:par>
                                <p:cTn id="12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4" dur="500"/>
                                        <p:tgtEl>
                                          <p:spTgt spid="626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9" dur="500"/>
                                        <p:tgtEl>
                                          <p:spTgt spid="626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500"/>
                            </p:stCondLst>
                            <p:childTnLst>
                              <p:par>
                                <p:cTn id="13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3" dur="500"/>
                                        <p:tgtEl>
                                          <p:spTgt spid="626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38" dur="500"/>
                                        <p:tgtEl>
                                          <p:spTgt spid="626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500"/>
                            </p:stCondLst>
                            <p:childTnLst>
                              <p:par>
                                <p:cTn id="140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2" dur="500"/>
                                        <p:tgtEl>
                                          <p:spTgt spid="626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47" dur="500"/>
                                        <p:tgtEl>
                                          <p:spTgt spid="626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500"/>
                            </p:stCondLst>
                            <p:childTnLst>
                              <p:par>
                                <p:cTn id="149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51" dur="500"/>
                                        <p:tgtEl>
                                          <p:spTgt spid="626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6" dur="500"/>
                                        <p:tgtEl>
                                          <p:spTgt spid="626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>
                            <p:stCondLst>
                              <p:cond delay="500"/>
                            </p:stCondLst>
                            <p:childTnLst>
                              <p:par>
                                <p:cTn id="158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60" dur="500"/>
                                        <p:tgtEl>
                                          <p:spTgt spid="626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65" dur="500"/>
                                        <p:tgtEl>
                                          <p:spTgt spid="626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500"/>
                            </p:stCondLst>
                            <p:childTnLst>
                              <p:par>
                                <p:cTn id="167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69" dur="500"/>
                                        <p:tgtEl>
                                          <p:spTgt spid="626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4" dur="500"/>
                                        <p:tgtEl>
                                          <p:spTgt spid="626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9" dur="500"/>
                                        <p:tgtEl>
                                          <p:spTgt spid="626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84" dur="500"/>
                                        <p:tgtEl>
                                          <p:spTgt spid="626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89" dur="500"/>
                                        <p:tgtEl>
                                          <p:spTgt spid="626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94" dur="500"/>
                                        <p:tgtEl>
                                          <p:spTgt spid="626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99" dur="500"/>
                                        <p:tgtEl>
                                          <p:spTgt spid="626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04" dur="500"/>
                                        <p:tgtEl>
                                          <p:spTgt spid="626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09" dur="500"/>
                                        <p:tgtEl>
                                          <p:spTgt spid="626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14" dur="500"/>
                                        <p:tgtEl>
                                          <p:spTgt spid="626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5" fill="hold">
                            <p:stCondLst>
                              <p:cond delay="500"/>
                            </p:stCondLst>
                            <p:childTnLst>
                              <p:par>
                                <p:cTn id="216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18" dur="500"/>
                                        <p:tgtEl>
                                          <p:spTgt spid="626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23" dur="500"/>
                                        <p:tgtEl>
                                          <p:spTgt spid="626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>
                      <p:stCondLst>
                        <p:cond delay="indefinite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28" dur="500"/>
                                        <p:tgtEl>
                                          <p:spTgt spid="626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>
                      <p:stCondLst>
                        <p:cond delay="indefinite"/>
                      </p:stCondLst>
                      <p:childTnLst>
                        <p:par>
                          <p:cTn id="230" fill="hold">
                            <p:stCondLst>
                              <p:cond delay="0"/>
                            </p:stCondLst>
                            <p:childTnLst>
                              <p:par>
                                <p:cTn id="23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33" dur="500"/>
                                        <p:tgtEl>
                                          <p:spTgt spid="626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4" fill="hold">
                      <p:stCondLst>
                        <p:cond delay="indefinite"/>
                      </p:stCondLst>
                      <p:childTnLst>
                        <p:par>
                          <p:cTn id="235" fill="hold">
                            <p:stCondLst>
                              <p:cond delay="0"/>
                            </p:stCondLst>
                            <p:childTnLst>
                              <p:par>
                                <p:cTn id="2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8" dur="500"/>
                                        <p:tgtEl>
                                          <p:spTgt spid="626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>
                      <p:stCondLst>
                        <p:cond delay="indefinite"/>
                      </p:stCondLst>
                      <p:childTnLst>
                        <p:par>
                          <p:cTn id="240" fill="hold">
                            <p:stCondLst>
                              <p:cond delay="0"/>
                            </p:stCondLst>
                            <p:childTnLst>
                              <p:par>
                                <p:cTn id="2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3" dur="500"/>
                                        <p:tgtEl>
                                          <p:spTgt spid="626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4" fill="hold">
                      <p:stCondLst>
                        <p:cond delay="indefinite"/>
                      </p:stCondLst>
                      <p:childTnLst>
                        <p:par>
                          <p:cTn id="245" fill="hold">
                            <p:stCondLst>
                              <p:cond delay="0"/>
                            </p:stCondLst>
                            <p:childTnLst>
                              <p:par>
                                <p:cTn id="24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8" dur="500"/>
                                        <p:tgtEl>
                                          <p:spTgt spid="626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9" fill="hold">
                      <p:stCondLst>
                        <p:cond delay="indefinite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3" dur="500"/>
                                        <p:tgtEl>
                                          <p:spTgt spid="626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4" fill="hold">
                      <p:stCondLst>
                        <p:cond delay="indefinite"/>
                      </p:stCondLst>
                      <p:childTnLst>
                        <p:par>
                          <p:cTn id="255" fill="hold">
                            <p:stCondLst>
                              <p:cond delay="0"/>
                            </p:stCondLst>
                            <p:childTnLst>
                              <p:par>
                                <p:cTn id="25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8" dur="500"/>
                                        <p:tgtEl>
                                          <p:spTgt spid="626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9" fill="hold">
                      <p:stCondLst>
                        <p:cond delay="indefinite"/>
                      </p:stCondLst>
                      <p:childTnLst>
                        <p:par>
                          <p:cTn id="260" fill="hold">
                            <p:stCondLst>
                              <p:cond delay="0"/>
                            </p:stCondLst>
                            <p:childTnLst>
                              <p:par>
                                <p:cTn id="26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3" dur="500"/>
                                        <p:tgtEl>
                                          <p:spTgt spid="626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6691" grpId="0"/>
      <p:bldP spid="626692" grpId="0"/>
      <p:bldP spid="626693" grpId="0"/>
      <p:bldP spid="626694" grpId="0"/>
      <p:bldP spid="626775" grpId="0"/>
      <p:bldP spid="626776" grpId="0"/>
      <p:bldP spid="626777" grpId="0"/>
      <p:bldP spid="626778" grpId="0"/>
      <p:bldP spid="626779" grpId="0"/>
      <p:bldP spid="626780" grpId="0"/>
      <p:bldP spid="626781" grpId="0"/>
      <p:bldP spid="626784" grpId="0"/>
      <p:bldP spid="626800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3794" name="Rectangle 2"/>
          <p:cNvSpPr>
            <a:spLocks noGrp="1"/>
          </p:cNvSpPr>
          <p:nvPr>
            <p:ph type="title"/>
          </p:nvPr>
        </p:nvSpPr>
        <p:spPr>
          <a:xfrm>
            <a:off x="685800" y="152400"/>
            <a:ext cx="7772400" cy="11430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b="1" dirty="0"/>
              <a:t>10.2   微程序设计</a:t>
            </a:r>
            <a:endParaRPr lang="zh-CN" altLang="en-US" b="1" dirty="0"/>
          </a:p>
        </p:txBody>
      </p:sp>
      <p:sp>
        <p:nvSpPr>
          <p:cNvPr id="627715" name="Text Box 3"/>
          <p:cNvSpPr txBox="1"/>
          <p:nvPr/>
        </p:nvSpPr>
        <p:spPr>
          <a:xfrm>
            <a:off x="441325" y="1295400"/>
            <a:ext cx="6111875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3200" dirty="0">
                <a:latin typeface="Times New Roman" panose="02020603050405020304" pitchFamily="18" charset="0"/>
              </a:rPr>
              <a:t>一、微程序设计思想的产生</a:t>
            </a:r>
            <a:endParaRPr lang="zh-CN" altLang="en-US" sz="3200" dirty="0">
              <a:latin typeface="Times New Roman" panose="02020603050405020304" pitchFamily="18" charset="0"/>
            </a:endParaRPr>
          </a:p>
        </p:txBody>
      </p:sp>
      <p:sp>
        <p:nvSpPr>
          <p:cNvPr id="627716" name="Text Box 4"/>
          <p:cNvSpPr txBox="1"/>
          <p:nvPr/>
        </p:nvSpPr>
        <p:spPr>
          <a:xfrm>
            <a:off x="1295400" y="2047875"/>
            <a:ext cx="5154613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</a:rPr>
              <a:t>1951 英国剑桥大学教授   </a:t>
            </a:r>
            <a:r>
              <a:rPr lang="en-US" altLang="zh-CN" sz="2800" dirty="0">
                <a:latin typeface="Times New Roman" panose="02020603050405020304" pitchFamily="18" charset="0"/>
              </a:rPr>
              <a:t>Wilkes</a:t>
            </a:r>
            <a:endParaRPr lang="en-US" altLang="zh-CN" sz="2800" dirty="0">
              <a:latin typeface="Times New Roman" panose="02020603050405020304" pitchFamily="18" charset="0"/>
            </a:endParaRPr>
          </a:p>
        </p:txBody>
      </p:sp>
      <p:sp>
        <p:nvSpPr>
          <p:cNvPr id="627717" name="Text Box 5"/>
          <p:cNvSpPr txBox="1"/>
          <p:nvPr/>
        </p:nvSpPr>
        <p:spPr>
          <a:xfrm>
            <a:off x="1066800" y="3429000"/>
            <a:ext cx="2327275" cy="9461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</a:rPr>
              <a:t>        完成</a:t>
            </a:r>
            <a:endParaRPr lang="zh-CN" altLang="en-US" sz="2800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sz="2800" dirty="0">
                <a:solidFill>
                  <a:schemeClr val="folHlink"/>
                </a:solidFill>
                <a:latin typeface="Times New Roman" panose="02020603050405020304" pitchFamily="18" charset="0"/>
              </a:rPr>
              <a:t>一条机器指令</a:t>
            </a:r>
            <a:endParaRPr lang="zh-CN" altLang="en-US" sz="28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627718" name="Text Box 6"/>
          <p:cNvSpPr txBox="1"/>
          <p:nvPr/>
        </p:nvSpPr>
        <p:spPr>
          <a:xfrm>
            <a:off x="3641725" y="2819400"/>
            <a:ext cx="194468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400" dirty="0">
                <a:latin typeface="Times New Roman" panose="02020603050405020304" pitchFamily="18" charset="0"/>
              </a:rPr>
              <a:t>微操作命令 1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627719" name="Text Box 7"/>
          <p:cNvSpPr txBox="1"/>
          <p:nvPr/>
        </p:nvSpPr>
        <p:spPr>
          <a:xfrm>
            <a:off x="3641725" y="3417888"/>
            <a:ext cx="194468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400" dirty="0">
                <a:latin typeface="Times New Roman" panose="02020603050405020304" pitchFamily="18" charset="0"/>
              </a:rPr>
              <a:t>微操作命令 2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627720" name="Text Box 8"/>
          <p:cNvSpPr txBox="1"/>
          <p:nvPr/>
        </p:nvSpPr>
        <p:spPr>
          <a:xfrm>
            <a:off x="3641725" y="4637088"/>
            <a:ext cx="1954213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400" dirty="0">
                <a:latin typeface="Times New Roman" panose="02020603050405020304" pitchFamily="18" charset="0"/>
              </a:rPr>
              <a:t>微操作命令 </a:t>
            </a:r>
            <a:r>
              <a:rPr lang="en-US" altLang="zh-CN" sz="2400" i="1" dirty="0">
                <a:latin typeface="Times New Roman" panose="02020603050405020304" pitchFamily="18" charset="0"/>
              </a:rPr>
              <a:t>n</a:t>
            </a:r>
            <a:endParaRPr lang="en-US" altLang="zh-CN" sz="2400" i="1" dirty="0">
              <a:latin typeface="Times New Roman" panose="02020603050405020304" pitchFamily="18" charset="0"/>
            </a:endParaRPr>
          </a:p>
        </p:txBody>
      </p:sp>
      <p:sp>
        <p:nvSpPr>
          <p:cNvPr id="627721" name="Text Box 9"/>
          <p:cNvSpPr txBox="1"/>
          <p:nvPr/>
        </p:nvSpPr>
        <p:spPr>
          <a:xfrm>
            <a:off x="4103688" y="4043363"/>
            <a:ext cx="549275" cy="396875"/>
          </a:xfrm>
          <a:prstGeom prst="rect">
            <a:avLst/>
          </a:prstGeom>
          <a:noFill/>
          <a:ln w="9525">
            <a:noFill/>
          </a:ln>
        </p:spPr>
        <p:txBody>
          <a:bodyPr vert="eaVert" wrap="none">
            <a:spAutoFit/>
          </a:bodyPr>
          <a:p>
            <a:pPr eaLnBrk="1" hangingPunct="1"/>
            <a:r>
              <a:rPr lang="zh-CN" altLang="en-US" sz="2400" dirty="0">
                <a:latin typeface="Times New Roman" panose="02020603050405020304" pitchFamily="18" charset="0"/>
              </a:rPr>
              <a:t>…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627722" name="AutoShape 10"/>
          <p:cNvSpPr/>
          <p:nvPr/>
        </p:nvSpPr>
        <p:spPr>
          <a:xfrm>
            <a:off x="3429000" y="2971800"/>
            <a:ext cx="228600" cy="1981200"/>
          </a:xfrm>
          <a:prstGeom prst="leftBrace">
            <a:avLst>
              <a:gd name="adj1" fmla="val 72222"/>
              <a:gd name="adj2" fmla="val 50000"/>
            </a:avLst>
          </a:prstGeom>
          <a:noFill/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等线" panose="02010600030101010101" pitchFamily="2" charset="-122"/>
            </a:endParaRPr>
          </a:p>
        </p:txBody>
      </p:sp>
      <p:grpSp>
        <p:nvGrpSpPr>
          <p:cNvPr id="627723" name="Group 11"/>
          <p:cNvGrpSpPr/>
          <p:nvPr/>
        </p:nvGrpSpPr>
        <p:grpSpPr>
          <a:xfrm>
            <a:off x="5562600" y="2971800"/>
            <a:ext cx="1560513" cy="762000"/>
            <a:chOff x="3504" y="1968"/>
            <a:chExt cx="983" cy="480"/>
          </a:xfrm>
        </p:grpSpPr>
        <p:sp>
          <p:nvSpPr>
            <p:cNvPr id="33815" name="AutoShape 12"/>
            <p:cNvSpPr/>
            <p:nvPr/>
          </p:nvSpPr>
          <p:spPr>
            <a:xfrm>
              <a:off x="3504" y="1968"/>
              <a:ext cx="96" cy="480"/>
            </a:xfrm>
            <a:prstGeom prst="rightBrace">
              <a:avLst>
                <a:gd name="adj1" fmla="val 41666"/>
                <a:gd name="adj2" fmla="val 47500"/>
              </a:avLst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33816" name="Text Box 13"/>
            <p:cNvSpPr txBox="1"/>
            <p:nvPr/>
          </p:nvSpPr>
          <p:spPr>
            <a:xfrm>
              <a:off x="3648" y="2064"/>
              <a:ext cx="839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400" dirty="0">
                  <a:latin typeface="Times New Roman" panose="02020603050405020304" pitchFamily="18" charset="0"/>
                </a:rPr>
                <a:t>微指令 1</a:t>
              </a:r>
              <a:endParaRPr lang="zh-CN" altLang="en-US" sz="24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627726" name="Text Box 14"/>
          <p:cNvSpPr txBox="1"/>
          <p:nvPr/>
        </p:nvSpPr>
        <p:spPr>
          <a:xfrm>
            <a:off x="5791200" y="3505200"/>
            <a:ext cx="14033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400" dirty="0">
                <a:latin typeface="Times New Roman" panose="02020603050405020304" pitchFamily="18" charset="0"/>
              </a:rPr>
              <a:t>10100000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627727" name="Text Box 15"/>
          <p:cNvSpPr txBox="1"/>
          <p:nvPr/>
        </p:nvSpPr>
        <p:spPr>
          <a:xfrm>
            <a:off x="5791200" y="4637088"/>
            <a:ext cx="1344613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400" dirty="0">
                <a:latin typeface="Times New Roman" panose="02020603050405020304" pitchFamily="18" charset="0"/>
              </a:rPr>
              <a:t>微指令 </a:t>
            </a:r>
            <a:r>
              <a:rPr lang="en-US" altLang="zh-CN" sz="2400" i="1" dirty="0">
                <a:latin typeface="Times New Roman" panose="02020603050405020304" pitchFamily="18" charset="0"/>
              </a:rPr>
              <a:t>n</a:t>
            </a:r>
            <a:endParaRPr lang="en-US" altLang="zh-CN" sz="2400" i="1" dirty="0">
              <a:latin typeface="Times New Roman" panose="02020603050405020304" pitchFamily="18" charset="0"/>
            </a:endParaRPr>
          </a:p>
        </p:txBody>
      </p:sp>
      <p:grpSp>
        <p:nvGrpSpPr>
          <p:cNvPr id="627728" name="Group 16"/>
          <p:cNvGrpSpPr/>
          <p:nvPr/>
        </p:nvGrpSpPr>
        <p:grpSpPr>
          <a:xfrm>
            <a:off x="7162800" y="3276600"/>
            <a:ext cx="1327150" cy="1676400"/>
            <a:chOff x="4512" y="2160"/>
            <a:chExt cx="836" cy="1056"/>
          </a:xfrm>
        </p:grpSpPr>
        <p:sp>
          <p:nvSpPr>
            <p:cNvPr id="33813" name="AutoShape 17"/>
            <p:cNvSpPr/>
            <p:nvPr/>
          </p:nvSpPr>
          <p:spPr>
            <a:xfrm>
              <a:off x="4512" y="2160"/>
              <a:ext cx="144" cy="1056"/>
            </a:xfrm>
            <a:prstGeom prst="rightBrace">
              <a:avLst>
                <a:gd name="adj1" fmla="val 61111"/>
                <a:gd name="adj2" fmla="val 50000"/>
              </a:avLst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33814" name="Text Box 18"/>
            <p:cNvSpPr txBox="1"/>
            <p:nvPr/>
          </p:nvSpPr>
          <p:spPr>
            <a:xfrm>
              <a:off x="4656" y="2461"/>
              <a:ext cx="69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4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微程序</a:t>
              </a:r>
              <a:endParaRPr lang="en-US" altLang="zh-CN" sz="24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627731" name="Text Box 19"/>
          <p:cNvSpPr txBox="1"/>
          <p:nvPr/>
        </p:nvSpPr>
        <p:spPr>
          <a:xfrm>
            <a:off x="5791200" y="5070475"/>
            <a:ext cx="14033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400" dirty="0">
                <a:latin typeface="Times New Roman" panose="02020603050405020304" pitchFamily="18" charset="0"/>
              </a:rPr>
              <a:t>00010010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627732" name="Text Box 20"/>
          <p:cNvSpPr txBox="1"/>
          <p:nvPr/>
        </p:nvSpPr>
        <p:spPr>
          <a:xfrm>
            <a:off x="3581400" y="6049963"/>
            <a:ext cx="3216275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3200" dirty="0">
                <a:solidFill>
                  <a:schemeClr val="folHlink"/>
                </a:solidFill>
                <a:latin typeface="Times New Roman" panose="02020603050405020304" pitchFamily="18" charset="0"/>
              </a:rPr>
              <a:t>存储逻辑</a:t>
            </a:r>
            <a:endParaRPr lang="zh-CN" altLang="en-US" sz="32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627733" name="Text Box 21"/>
          <p:cNvSpPr txBox="1"/>
          <p:nvPr/>
        </p:nvSpPr>
        <p:spPr>
          <a:xfrm>
            <a:off x="1066800" y="5562600"/>
            <a:ext cx="41465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400" dirty="0">
                <a:latin typeface="Times New Roman" panose="02020603050405020304" pitchFamily="18" charset="0"/>
              </a:rPr>
              <a:t>一条机器指令对应一个微程序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627734" name="Text Box 22"/>
          <p:cNvSpPr txBox="1"/>
          <p:nvPr/>
        </p:nvSpPr>
        <p:spPr>
          <a:xfrm>
            <a:off x="6161088" y="4073525"/>
            <a:ext cx="549275" cy="396875"/>
          </a:xfrm>
          <a:prstGeom prst="rect">
            <a:avLst/>
          </a:prstGeom>
          <a:noFill/>
          <a:ln w="9525">
            <a:noFill/>
          </a:ln>
        </p:spPr>
        <p:txBody>
          <a:bodyPr vert="eaVert" wrap="none">
            <a:spAutoFit/>
          </a:bodyPr>
          <a:p>
            <a:pPr eaLnBrk="1" hangingPunct="1"/>
            <a:r>
              <a:rPr lang="zh-CN" altLang="en-US" sz="2400" dirty="0">
                <a:latin typeface="Times New Roman" panose="02020603050405020304" pitchFamily="18" charset="0"/>
              </a:rPr>
              <a:t>…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627735" name="Text Box 23"/>
          <p:cNvSpPr txBox="1"/>
          <p:nvPr/>
        </p:nvSpPr>
        <p:spPr>
          <a:xfrm>
            <a:off x="5791200" y="5562600"/>
            <a:ext cx="1828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存入 </a:t>
            </a:r>
            <a:r>
              <a:rPr lang="en-US" altLang="zh-CN" sz="2400" dirty="0">
                <a:solidFill>
                  <a:schemeClr val="folHlink"/>
                </a:solidFill>
                <a:latin typeface="Times New Roman" panose="02020603050405020304" pitchFamily="18" charset="0"/>
              </a:rPr>
              <a:t>ROM</a:t>
            </a:r>
            <a:endParaRPr lang="zh-CN" altLang="en-US" sz="24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33812" name="AutoShape 24">
            <a:hlinkClick r:id="rId1" action="ppaction://hlinksldjump"/>
          </p:cNvPr>
          <p:cNvSpPr/>
          <p:nvPr/>
        </p:nvSpPr>
        <p:spPr>
          <a:xfrm>
            <a:off x="8589963" y="6516688"/>
            <a:ext cx="539750" cy="333375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endParaRPr lang="zh-CN" altLang="en-US" dirty="0">
              <a:latin typeface="等线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27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27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27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2" dur="500"/>
                                        <p:tgtEl>
                                          <p:spTgt spid="627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27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27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627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627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627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627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627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627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627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627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627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627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6277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6277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7715" grpId="0"/>
      <p:bldP spid="627716" grpId="0"/>
      <p:bldP spid="627717" grpId="0"/>
      <p:bldP spid="627718" grpId="0"/>
      <p:bldP spid="627719" grpId="0"/>
      <p:bldP spid="627720" grpId="0"/>
      <p:bldP spid="627721" grpId="0"/>
      <p:bldP spid="627726" grpId="0"/>
      <p:bldP spid="627727" grpId="0"/>
      <p:bldP spid="627731" grpId="0"/>
      <p:bldP spid="627732" grpId="0"/>
      <p:bldP spid="627733" grpId="0"/>
      <p:bldP spid="627734" grpId="0"/>
      <p:bldP spid="62773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4818" name="Text Box 2"/>
          <p:cNvSpPr txBox="1"/>
          <p:nvPr/>
        </p:nvSpPr>
        <p:spPr>
          <a:xfrm>
            <a:off x="304800" y="106363"/>
            <a:ext cx="7315200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3200" dirty="0">
                <a:latin typeface="Times New Roman" panose="02020603050405020304" pitchFamily="18" charset="0"/>
              </a:rPr>
              <a:t>二、微程序控制单元框图及工作原理</a:t>
            </a:r>
            <a:endParaRPr lang="zh-CN" altLang="en-US" sz="3200" dirty="0">
              <a:latin typeface="Times New Roman" panose="02020603050405020304" pitchFamily="18" charset="0"/>
            </a:endParaRPr>
          </a:p>
        </p:txBody>
      </p:sp>
      <p:sp>
        <p:nvSpPr>
          <p:cNvPr id="628739" name="Text Box 3"/>
          <p:cNvSpPr txBox="1"/>
          <p:nvPr/>
        </p:nvSpPr>
        <p:spPr>
          <a:xfrm>
            <a:off x="685800" y="700088"/>
            <a:ext cx="48768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</a:rPr>
              <a:t>1.  机器指令对应的微程序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grpSp>
        <p:nvGrpSpPr>
          <p:cNvPr id="628740" name="Group 4"/>
          <p:cNvGrpSpPr/>
          <p:nvPr/>
        </p:nvGrpSpPr>
        <p:grpSpPr>
          <a:xfrm>
            <a:off x="1981200" y="1387475"/>
            <a:ext cx="2743200" cy="5337175"/>
            <a:chOff x="1056" y="874"/>
            <a:chExt cx="1728" cy="3362"/>
          </a:xfrm>
        </p:grpSpPr>
        <p:grpSp>
          <p:nvGrpSpPr>
            <p:cNvPr id="34848" name="Group 5"/>
            <p:cNvGrpSpPr/>
            <p:nvPr/>
          </p:nvGrpSpPr>
          <p:grpSpPr>
            <a:xfrm>
              <a:off x="1056" y="874"/>
              <a:ext cx="1728" cy="3362"/>
              <a:chOff x="1056" y="874"/>
              <a:chExt cx="1728" cy="3362"/>
            </a:xfrm>
          </p:grpSpPr>
          <p:sp>
            <p:nvSpPr>
              <p:cNvPr id="34851" name="Rectangle 6"/>
              <p:cNvSpPr/>
              <p:nvPr/>
            </p:nvSpPr>
            <p:spPr>
              <a:xfrm>
                <a:off x="1056" y="3274"/>
                <a:ext cx="1728" cy="240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等线" panose="02010600030101010101" pitchFamily="2" charset="-122"/>
                </a:endParaRPr>
              </a:p>
            </p:txBody>
          </p:sp>
          <p:sp>
            <p:nvSpPr>
              <p:cNvPr id="34852" name="Rectangle 7"/>
              <p:cNvSpPr/>
              <p:nvPr/>
            </p:nvSpPr>
            <p:spPr>
              <a:xfrm>
                <a:off x="1056" y="3754"/>
                <a:ext cx="1728" cy="240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等线" panose="02010600030101010101" pitchFamily="2" charset="-122"/>
                </a:endParaRPr>
              </a:p>
            </p:txBody>
          </p:sp>
          <p:grpSp>
            <p:nvGrpSpPr>
              <p:cNvPr id="34853" name="Group 8"/>
              <p:cNvGrpSpPr/>
              <p:nvPr/>
            </p:nvGrpSpPr>
            <p:grpSpPr>
              <a:xfrm>
                <a:off x="1056" y="874"/>
                <a:ext cx="1728" cy="3362"/>
                <a:chOff x="1056" y="874"/>
                <a:chExt cx="1728" cy="3362"/>
              </a:xfrm>
            </p:grpSpPr>
            <p:sp>
              <p:nvSpPr>
                <p:cNvPr id="34854" name="Rectangle 9"/>
                <p:cNvSpPr/>
                <p:nvPr/>
              </p:nvSpPr>
              <p:spPr>
                <a:xfrm>
                  <a:off x="1056" y="2554"/>
                  <a:ext cx="1728" cy="240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 eaLnBrk="1" hangingPunct="1"/>
                  <a:endParaRPr lang="zh-CN" altLang="en-US" dirty="0">
                    <a:latin typeface="等线" panose="02010600030101010101" pitchFamily="2" charset="-122"/>
                  </a:endParaRPr>
                </a:p>
              </p:txBody>
            </p:sp>
            <p:sp>
              <p:nvSpPr>
                <p:cNvPr id="34855" name="Rectangle 10"/>
                <p:cNvSpPr/>
                <p:nvPr/>
              </p:nvSpPr>
              <p:spPr>
                <a:xfrm>
                  <a:off x="1056" y="3034"/>
                  <a:ext cx="1728" cy="240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 eaLnBrk="1" hangingPunct="1"/>
                  <a:endParaRPr lang="zh-CN" altLang="en-US" dirty="0">
                    <a:latin typeface="等线" panose="02010600030101010101" pitchFamily="2" charset="-122"/>
                  </a:endParaRPr>
                </a:p>
              </p:txBody>
            </p:sp>
            <p:sp>
              <p:nvSpPr>
                <p:cNvPr id="34856" name="Rectangle 11"/>
                <p:cNvSpPr/>
                <p:nvPr/>
              </p:nvSpPr>
              <p:spPr>
                <a:xfrm>
                  <a:off x="1056" y="3514"/>
                  <a:ext cx="1728" cy="240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 eaLnBrk="1" hangingPunct="1"/>
                  <a:endParaRPr lang="zh-CN" altLang="en-US" dirty="0">
                    <a:latin typeface="等线" panose="02010600030101010101" pitchFamily="2" charset="-122"/>
                  </a:endParaRPr>
                </a:p>
              </p:txBody>
            </p:sp>
            <p:sp>
              <p:nvSpPr>
                <p:cNvPr id="34857" name="Rectangle 12"/>
                <p:cNvSpPr/>
                <p:nvPr/>
              </p:nvSpPr>
              <p:spPr>
                <a:xfrm>
                  <a:off x="1056" y="874"/>
                  <a:ext cx="1728" cy="240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 eaLnBrk="1" hangingPunct="1"/>
                  <a:endParaRPr lang="zh-CN" altLang="en-US" dirty="0">
                    <a:latin typeface="等线" panose="02010600030101010101" pitchFamily="2" charset="-122"/>
                  </a:endParaRPr>
                </a:p>
              </p:txBody>
            </p:sp>
            <p:sp>
              <p:nvSpPr>
                <p:cNvPr id="34858" name="Rectangle 13"/>
                <p:cNvSpPr/>
                <p:nvPr/>
              </p:nvSpPr>
              <p:spPr>
                <a:xfrm>
                  <a:off x="1056" y="1354"/>
                  <a:ext cx="1728" cy="240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 eaLnBrk="1" hangingPunct="1"/>
                  <a:endParaRPr lang="zh-CN" altLang="en-US" dirty="0">
                    <a:latin typeface="等线" panose="02010600030101010101" pitchFamily="2" charset="-122"/>
                  </a:endParaRPr>
                </a:p>
              </p:txBody>
            </p:sp>
            <p:sp>
              <p:nvSpPr>
                <p:cNvPr id="34859" name="Freeform 14"/>
                <p:cNvSpPr/>
                <p:nvPr/>
              </p:nvSpPr>
              <p:spPr>
                <a:xfrm>
                  <a:off x="1056" y="1594"/>
                  <a:ext cx="1" cy="956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956"/>
                    </a:cxn>
                  </a:cxnLst>
                  <a:pathLst>
                    <a:path w="1" h="956">
                      <a:moveTo>
                        <a:pt x="0" y="0"/>
                      </a:moveTo>
                      <a:lnTo>
                        <a:pt x="0" y="956"/>
                      </a:lnTo>
                    </a:path>
                  </a:pathLst>
                </a:custGeom>
                <a:noFill/>
                <a:ln w="2857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34860" name="Freeform 15"/>
                <p:cNvSpPr/>
                <p:nvPr/>
              </p:nvSpPr>
              <p:spPr>
                <a:xfrm>
                  <a:off x="2783" y="1594"/>
                  <a:ext cx="1" cy="956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956"/>
                    </a:cxn>
                  </a:cxnLst>
                  <a:pathLst>
                    <a:path w="1" h="956">
                      <a:moveTo>
                        <a:pt x="0" y="0"/>
                      </a:moveTo>
                      <a:lnTo>
                        <a:pt x="0" y="956"/>
                      </a:lnTo>
                    </a:path>
                  </a:pathLst>
                </a:custGeom>
                <a:noFill/>
                <a:ln w="2857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34861" name="Line 16"/>
                <p:cNvSpPr/>
                <p:nvPr/>
              </p:nvSpPr>
              <p:spPr>
                <a:xfrm>
                  <a:off x="1056" y="2074"/>
                  <a:ext cx="1728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4862" name="Rectangle 17"/>
                <p:cNvSpPr/>
                <p:nvPr/>
              </p:nvSpPr>
              <p:spPr>
                <a:xfrm>
                  <a:off x="1056" y="3996"/>
                  <a:ext cx="1728" cy="240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 eaLnBrk="1" hangingPunct="1"/>
                  <a:endParaRPr lang="zh-CN" altLang="en-US" dirty="0">
                    <a:latin typeface="等线" panose="02010600030101010101" pitchFamily="2" charset="-122"/>
                  </a:endParaRPr>
                </a:p>
              </p:txBody>
            </p:sp>
          </p:grpSp>
        </p:grpSp>
        <p:sp>
          <p:nvSpPr>
            <p:cNvPr id="34849" name="Rectangle 18"/>
            <p:cNvSpPr/>
            <p:nvPr/>
          </p:nvSpPr>
          <p:spPr>
            <a:xfrm>
              <a:off x="1056" y="2794"/>
              <a:ext cx="1728" cy="240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34850" name="Rectangle 19"/>
            <p:cNvSpPr/>
            <p:nvPr/>
          </p:nvSpPr>
          <p:spPr>
            <a:xfrm>
              <a:off x="1056" y="1114"/>
              <a:ext cx="1728" cy="240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</p:grpSp>
      <p:sp>
        <p:nvSpPr>
          <p:cNvPr id="628756" name="Text Box 20"/>
          <p:cNvSpPr txBox="1"/>
          <p:nvPr/>
        </p:nvSpPr>
        <p:spPr>
          <a:xfrm>
            <a:off x="1143000" y="1752600"/>
            <a:ext cx="695325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</a:rPr>
              <a:t>M+1</a:t>
            </a:r>
            <a:endParaRPr lang="en-US" altLang="zh-CN" sz="2000" dirty="0">
              <a:latin typeface="Times New Roman" panose="02020603050405020304" pitchFamily="18" charset="0"/>
            </a:endParaRPr>
          </a:p>
        </p:txBody>
      </p:sp>
      <p:sp>
        <p:nvSpPr>
          <p:cNvPr id="628757" name="Text Box 21"/>
          <p:cNvSpPr txBox="1"/>
          <p:nvPr/>
        </p:nvSpPr>
        <p:spPr>
          <a:xfrm>
            <a:off x="1285875" y="1371600"/>
            <a:ext cx="423863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</a:rPr>
              <a:t>M</a:t>
            </a:r>
            <a:endParaRPr lang="en-US" altLang="zh-CN" sz="2000" dirty="0">
              <a:latin typeface="Times New Roman" panose="02020603050405020304" pitchFamily="18" charset="0"/>
            </a:endParaRPr>
          </a:p>
        </p:txBody>
      </p:sp>
      <p:sp>
        <p:nvSpPr>
          <p:cNvPr id="628758" name="Text Box 22"/>
          <p:cNvSpPr txBox="1"/>
          <p:nvPr/>
        </p:nvSpPr>
        <p:spPr>
          <a:xfrm>
            <a:off x="1143000" y="2133600"/>
            <a:ext cx="695325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</a:rPr>
              <a:t>M+2</a:t>
            </a:r>
            <a:endParaRPr lang="en-US" altLang="zh-CN" sz="2000" dirty="0">
              <a:latin typeface="Times New Roman" panose="02020603050405020304" pitchFamily="18" charset="0"/>
            </a:endParaRPr>
          </a:p>
        </p:txBody>
      </p:sp>
      <p:sp>
        <p:nvSpPr>
          <p:cNvPr id="628759" name="Text Box 23"/>
          <p:cNvSpPr txBox="1"/>
          <p:nvPr/>
        </p:nvSpPr>
        <p:spPr>
          <a:xfrm>
            <a:off x="1143000" y="4435475"/>
            <a:ext cx="611188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</a:rPr>
              <a:t>P+1</a:t>
            </a:r>
            <a:endParaRPr lang="en-US" altLang="zh-CN" sz="2000" dirty="0">
              <a:latin typeface="Times New Roman" panose="02020603050405020304" pitchFamily="18" charset="0"/>
            </a:endParaRPr>
          </a:p>
        </p:txBody>
      </p:sp>
      <p:sp>
        <p:nvSpPr>
          <p:cNvPr id="628760" name="Text Box 24"/>
          <p:cNvSpPr txBox="1"/>
          <p:nvPr/>
        </p:nvSpPr>
        <p:spPr>
          <a:xfrm>
            <a:off x="1268413" y="5181600"/>
            <a:ext cx="38100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</a:rPr>
              <a:t>K</a:t>
            </a:r>
            <a:endParaRPr lang="en-US" altLang="zh-CN" sz="2000" dirty="0">
              <a:latin typeface="Times New Roman" panose="02020603050405020304" pitchFamily="18" charset="0"/>
            </a:endParaRPr>
          </a:p>
        </p:txBody>
      </p:sp>
      <p:sp>
        <p:nvSpPr>
          <p:cNvPr id="628761" name="Text Box 25"/>
          <p:cNvSpPr txBox="1"/>
          <p:nvPr/>
        </p:nvSpPr>
        <p:spPr>
          <a:xfrm>
            <a:off x="1143000" y="5943600"/>
            <a:ext cx="652463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</a:rPr>
              <a:t>K+2</a:t>
            </a:r>
            <a:endParaRPr lang="en-US" altLang="zh-CN" sz="2000" dirty="0">
              <a:latin typeface="Times New Roman" panose="02020603050405020304" pitchFamily="18" charset="0"/>
            </a:endParaRPr>
          </a:p>
        </p:txBody>
      </p:sp>
      <p:sp>
        <p:nvSpPr>
          <p:cNvPr id="628762" name="Text Box 26"/>
          <p:cNvSpPr txBox="1"/>
          <p:nvPr/>
        </p:nvSpPr>
        <p:spPr>
          <a:xfrm>
            <a:off x="1293813" y="4054475"/>
            <a:ext cx="339725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</a:rPr>
              <a:t>P</a:t>
            </a:r>
            <a:endParaRPr lang="en-US" altLang="zh-CN" sz="2000" dirty="0">
              <a:latin typeface="Times New Roman" panose="02020603050405020304" pitchFamily="18" charset="0"/>
            </a:endParaRPr>
          </a:p>
        </p:txBody>
      </p:sp>
      <p:sp>
        <p:nvSpPr>
          <p:cNvPr id="628763" name="Text Box 27"/>
          <p:cNvSpPr txBox="1"/>
          <p:nvPr/>
        </p:nvSpPr>
        <p:spPr>
          <a:xfrm>
            <a:off x="1143000" y="4800600"/>
            <a:ext cx="611188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</a:rPr>
              <a:t>P+2</a:t>
            </a:r>
            <a:endParaRPr lang="en-US" altLang="zh-CN" sz="2000" dirty="0">
              <a:latin typeface="Times New Roman" panose="02020603050405020304" pitchFamily="18" charset="0"/>
            </a:endParaRPr>
          </a:p>
        </p:txBody>
      </p:sp>
      <p:sp>
        <p:nvSpPr>
          <p:cNvPr id="628764" name="Text Box 28"/>
          <p:cNvSpPr txBox="1"/>
          <p:nvPr/>
        </p:nvSpPr>
        <p:spPr>
          <a:xfrm>
            <a:off x="1143000" y="5562600"/>
            <a:ext cx="652463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</a:rPr>
              <a:t>K+1</a:t>
            </a:r>
            <a:endParaRPr lang="en-US" altLang="zh-CN" sz="2000" dirty="0">
              <a:latin typeface="Times New Roman" panose="02020603050405020304" pitchFamily="18" charset="0"/>
            </a:endParaRPr>
          </a:p>
        </p:txBody>
      </p:sp>
      <p:sp>
        <p:nvSpPr>
          <p:cNvPr id="628765" name="Text Box 29"/>
          <p:cNvSpPr txBox="1"/>
          <p:nvPr/>
        </p:nvSpPr>
        <p:spPr>
          <a:xfrm>
            <a:off x="3124200" y="6359525"/>
            <a:ext cx="488950" cy="346075"/>
          </a:xfrm>
          <a:prstGeom prst="rect">
            <a:avLst/>
          </a:prstGeom>
          <a:noFill/>
          <a:ln w="9525">
            <a:noFill/>
          </a:ln>
        </p:spPr>
        <p:txBody>
          <a:bodyPr vert="eaVert" wrap="none">
            <a:spAutoFit/>
          </a:bodyPr>
          <a:p>
            <a:pPr eaLnBrk="1" hangingPunct="1"/>
            <a:r>
              <a:rPr lang="zh-CN" altLang="en-US" sz="2000" dirty="0">
                <a:latin typeface="Times New Roman" panose="02020603050405020304" pitchFamily="18" charset="0"/>
              </a:rPr>
              <a:t>…</a:t>
            </a:r>
            <a:endParaRPr lang="zh-CN" altLang="en-US" sz="2000" dirty="0">
              <a:latin typeface="Times New Roman" panose="02020603050405020304" pitchFamily="18" charset="0"/>
            </a:endParaRPr>
          </a:p>
        </p:txBody>
      </p:sp>
      <p:grpSp>
        <p:nvGrpSpPr>
          <p:cNvPr id="628766" name="Group 30"/>
          <p:cNvGrpSpPr/>
          <p:nvPr/>
        </p:nvGrpSpPr>
        <p:grpSpPr>
          <a:xfrm>
            <a:off x="4800600" y="1406525"/>
            <a:ext cx="2116138" cy="1133475"/>
            <a:chOff x="2832" y="906"/>
            <a:chExt cx="1333" cy="672"/>
          </a:xfrm>
        </p:grpSpPr>
        <p:sp>
          <p:nvSpPr>
            <p:cNvPr id="34846" name="AutoShape 31"/>
            <p:cNvSpPr/>
            <p:nvPr/>
          </p:nvSpPr>
          <p:spPr>
            <a:xfrm>
              <a:off x="2832" y="906"/>
              <a:ext cx="96" cy="672"/>
            </a:xfrm>
            <a:prstGeom prst="rightBrace">
              <a:avLst>
                <a:gd name="adj1" fmla="val 58333"/>
                <a:gd name="adj2" fmla="val 50000"/>
              </a:avLst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34847" name="Text Box 32"/>
            <p:cNvSpPr txBox="1"/>
            <p:nvPr/>
          </p:nvSpPr>
          <p:spPr>
            <a:xfrm>
              <a:off x="2929" y="1094"/>
              <a:ext cx="1236" cy="23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取指周期微程序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28769" name="Group 33"/>
          <p:cNvGrpSpPr/>
          <p:nvPr/>
        </p:nvGrpSpPr>
        <p:grpSpPr>
          <a:xfrm>
            <a:off x="4800600" y="4114800"/>
            <a:ext cx="3048000" cy="1066800"/>
            <a:chOff x="2832" y="2592"/>
            <a:chExt cx="1920" cy="672"/>
          </a:xfrm>
        </p:grpSpPr>
        <p:sp>
          <p:nvSpPr>
            <p:cNvPr id="34844" name="AutoShape 34"/>
            <p:cNvSpPr/>
            <p:nvPr/>
          </p:nvSpPr>
          <p:spPr>
            <a:xfrm>
              <a:off x="2832" y="2592"/>
              <a:ext cx="96" cy="672"/>
            </a:xfrm>
            <a:prstGeom prst="rightBrace">
              <a:avLst>
                <a:gd name="adj1" fmla="val 58333"/>
                <a:gd name="adj2" fmla="val 50000"/>
              </a:avLst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34845" name="Text Box 35"/>
            <p:cNvSpPr txBox="1"/>
            <p:nvPr/>
          </p:nvSpPr>
          <p:spPr>
            <a:xfrm>
              <a:off x="2929" y="2793"/>
              <a:ext cx="1823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对应 </a:t>
              </a:r>
              <a:r>
                <a:rPr lang="en-US" altLang="zh-CN" sz="2000" dirty="0">
                  <a:latin typeface="Times New Roman" panose="02020603050405020304" pitchFamily="18" charset="0"/>
                </a:rPr>
                <a:t>LDA </a:t>
              </a:r>
              <a:r>
                <a:rPr lang="zh-CN" altLang="en-US" sz="2000" dirty="0">
                  <a:latin typeface="Times New Roman" panose="02020603050405020304" pitchFamily="18" charset="0"/>
                </a:rPr>
                <a:t>操作的微程序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28772" name="Group 36"/>
          <p:cNvGrpSpPr/>
          <p:nvPr/>
        </p:nvGrpSpPr>
        <p:grpSpPr>
          <a:xfrm>
            <a:off x="4800600" y="5257800"/>
            <a:ext cx="3005138" cy="1066800"/>
            <a:chOff x="2832" y="3312"/>
            <a:chExt cx="1893" cy="672"/>
          </a:xfrm>
        </p:grpSpPr>
        <p:sp>
          <p:nvSpPr>
            <p:cNvPr id="34842" name="AutoShape 37"/>
            <p:cNvSpPr/>
            <p:nvPr/>
          </p:nvSpPr>
          <p:spPr>
            <a:xfrm>
              <a:off x="2832" y="3312"/>
              <a:ext cx="96" cy="672"/>
            </a:xfrm>
            <a:prstGeom prst="rightBrace">
              <a:avLst>
                <a:gd name="adj1" fmla="val 58333"/>
                <a:gd name="adj2" fmla="val 50000"/>
              </a:avLst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34843" name="Text Box 38"/>
            <p:cNvSpPr txBox="1"/>
            <p:nvPr/>
          </p:nvSpPr>
          <p:spPr>
            <a:xfrm>
              <a:off x="2929" y="3494"/>
              <a:ext cx="17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对应 </a:t>
              </a:r>
              <a:r>
                <a:rPr lang="en-US" altLang="zh-CN" sz="2000" dirty="0">
                  <a:latin typeface="Times New Roman" panose="02020603050405020304" pitchFamily="18" charset="0"/>
                </a:rPr>
                <a:t>STA </a:t>
              </a:r>
              <a:r>
                <a:rPr lang="zh-CN" altLang="en-US" sz="2000" dirty="0">
                  <a:latin typeface="Times New Roman" panose="02020603050405020304" pitchFamily="18" charset="0"/>
                </a:rPr>
                <a:t>操作的微程序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28775" name="Group 39"/>
          <p:cNvGrpSpPr/>
          <p:nvPr/>
        </p:nvGrpSpPr>
        <p:grpSpPr>
          <a:xfrm>
            <a:off x="4800600" y="2590800"/>
            <a:ext cx="2127250" cy="685800"/>
            <a:chOff x="2832" y="1632"/>
            <a:chExt cx="1340" cy="432"/>
          </a:xfrm>
        </p:grpSpPr>
        <p:sp>
          <p:nvSpPr>
            <p:cNvPr id="34840" name="Text Box 40"/>
            <p:cNvSpPr txBox="1"/>
            <p:nvPr/>
          </p:nvSpPr>
          <p:spPr>
            <a:xfrm>
              <a:off x="2929" y="1766"/>
              <a:ext cx="1243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间址周期微程序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34841" name="AutoShape 41"/>
            <p:cNvSpPr/>
            <p:nvPr/>
          </p:nvSpPr>
          <p:spPr>
            <a:xfrm>
              <a:off x="2832" y="1632"/>
              <a:ext cx="96" cy="432"/>
            </a:xfrm>
            <a:prstGeom prst="rightBrace">
              <a:avLst>
                <a:gd name="adj1" fmla="val 37500"/>
                <a:gd name="adj2" fmla="val 50000"/>
              </a:avLst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</p:grpSp>
      <p:grpSp>
        <p:nvGrpSpPr>
          <p:cNvPr id="628778" name="Group 42"/>
          <p:cNvGrpSpPr/>
          <p:nvPr/>
        </p:nvGrpSpPr>
        <p:grpSpPr>
          <a:xfrm>
            <a:off x="4800600" y="3352800"/>
            <a:ext cx="2127250" cy="685800"/>
            <a:chOff x="2832" y="2112"/>
            <a:chExt cx="1340" cy="432"/>
          </a:xfrm>
        </p:grpSpPr>
        <p:sp>
          <p:nvSpPr>
            <p:cNvPr id="34838" name="Text Box 43"/>
            <p:cNvSpPr txBox="1"/>
            <p:nvPr/>
          </p:nvSpPr>
          <p:spPr>
            <a:xfrm>
              <a:off x="2929" y="2198"/>
              <a:ext cx="1243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中断周期微程序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34839" name="AutoShape 44"/>
            <p:cNvSpPr/>
            <p:nvPr/>
          </p:nvSpPr>
          <p:spPr>
            <a:xfrm>
              <a:off x="2832" y="2112"/>
              <a:ext cx="96" cy="432"/>
            </a:xfrm>
            <a:prstGeom prst="rightBrace">
              <a:avLst>
                <a:gd name="adj1" fmla="val 37500"/>
                <a:gd name="adj2" fmla="val 50000"/>
              </a:avLst>
            </a:prstGeom>
            <a:noFill/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</p:grpSp>
      <p:sp>
        <p:nvSpPr>
          <p:cNvPr id="628781" name="Rectangle 45"/>
          <p:cNvSpPr>
            <a:spLocks noChangeArrowheads="1"/>
          </p:cNvSpPr>
          <p:nvPr/>
        </p:nvSpPr>
        <p:spPr bwMode="auto">
          <a:xfrm>
            <a:off x="7696200" y="152400"/>
            <a:ext cx="1447800" cy="838200"/>
          </a:xfrm>
          <a:prstGeom prst="rect">
            <a:avLst/>
          </a:prstGeom>
          <a:noFill/>
          <a:ln>
            <a:noFill/>
          </a:ln>
          <a:effectLst/>
        </p:spPr>
        <p:txBody>
          <a:bodyPr lIns="92075" tIns="46038" rIns="92075" bIns="46038" anchor="ctr"/>
          <a:lstStyle>
            <a:lvl1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10.2</a:t>
            </a:r>
            <a:endParaRPr kumimoji="1" lang="zh-CN" altLang="en-US" sz="4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837" name="AutoShape 46">
            <a:hlinkClick r:id="rId1" action="ppaction://hlinksldjump"/>
          </p:cNvPr>
          <p:cNvSpPr/>
          <p:nvPr/>
        </p:nvSpPr>
        <p:spPr>
          <a:xfrm>
            <a:off x="8589963" y="6516688"/>
            <a:ext cx="539750" cy="333375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endParaRPr lang="zh-CN" altLang="en-US" dirty="0">
              <a:latin typeface="等线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28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628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28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28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28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28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628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628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628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628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628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628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628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628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628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628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628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8739" grpId="0"/>
      <p:bldP spid="628756" grpId="0"/>
      <p:bldP spid="628757" grpId="0"/>
      <p:bldP spid="628758" grpId="0"/>
      <p:bldP spid="628759" grpId="0"/>
      <p:bldP spid="628760" grpId="0"/>
      <p:bldP spid="628761" grpId="0"/>
      <p:bldP spid="628762" grpId="0"/>
      <p:bldP spid="628763" grpId="0"/>
      <p:bldP spid="628764" grpId="0"/>
      <p:bldP spid="62876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5842" name="Text Box 2"/>
          <p:cNvSpPr txBox="1"/>
          <p:nvPr/>
        </p:nvSpPr>
        <p:spPr>
          <a:xfrm>
            <a:off x="288925" y="152400"/>
            <a:ext cx="491490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</a:rPr>
              <a:t>2.  微程序控制单元的基本框图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grpSp>
        <p:nvGrpSpPr>
          <p:cNvPr id="629763" name="Group 3"/>
          <p:cNvGrpSpPr/>
          <p:nvPr/>
        </p:nvGrpSpPr>
        <p:grpSpPr>
          <a:xfrm>
            <a:off x="5345113" y="1736725"/>
            <a:ext cx="1235075" cy="701675"/>
            <a:chOff x="3367" y="1094"/>
            <a:chExt cx="778" cy="442"/>
          </a:xfrm>
        </p:grpSpPr>
        <p:sp>
          <p:nvSpPr>
            <p:cNvPr id="35897" name="Text Box 4"/>
            <p:cNvSpPr txBox="1"/>
            <p:nvPr/>
          </p:nvSpPr>
          <p:spPr>
            <a:xfrm>
              <a:off x="3367" y="1094"/>
              <a:ext cx="778" cy="44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 </a:t>
              </a:r>
              <a:r>
                <a:rPr lang="zh-CN" altLang="en-US" sz="1000" dirty="0">
                  <a:latin typeface="Times New Roman" panose="02020603050405020304" pitchFamily="18" charset="0"/>
                </a:rPr>
                <a:t>   </a:t>
              </a:r>
              <a:r>
                <a:rPr lang="zh-CN" altLang="en-US" sz="2000" dirty="0">
                  <a:latin typeface="Times New Roman" panose="02020603050405020304" pitchFamily="18" charset="0"/>
                </a:rPr>
                <a:t>微地址</a:t>
              </a:r>
              <a:endParaRPr lang="en-US" altLang="zh-CN" sz="2000" dirty="0">
                <a:latin typeface="Times New Roman" panose="02020603050405020304" pitchFamily="18" charset="0"/>
              </a:endParaRPr>
            </a:p>
            <a:p>
              <a:pPr eaLnBrk="1" hangingPunct="1"/>
              <a:r>
                <a:rPr lang="zh-CN" altLang="en-US" sz="900" dirty="0">
                  <a:latin typeface="Times New Roman" panose="02020603050405020304" pitchFamily="18" charset="0"/>
                </a:rPr>
                <a:t> </a:t>
              </a:r>
              <a:r>
                <a:rPr lang="zh-CN" altLang="en-US" sz="2000" dirty="0">
                  <a:latin typeface="Times New Roman" panose="02020603050405020304" pitchFamily="18" charset="0"/>
                </a:rPr>
                <a:t>形成部件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35898" name="Rectangle 5"/>
            <p:cNvSpPr/>
            <p:nvPr/>
          </p:nvSpPr>
          <p:spPr>
            <a:xfrm>
              <a:off x="3377" y="1104"/>
              <a:ext cx="768" cy="432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</p:grpSp>
      <p:sp>
        <p:nvSpPr>
          <p:cNvPr id="629766" name="Rectangle 6"/>
          <p:cNvSpPr/>
          <p:nvPr/>
        </p:nvSpPr>
        <p:spPr>
          <a:xfrm>
            <a:off x="5360988" y="2743200"/>
            <a:ext cx="1219200" cy="533400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1" hangingPunct="1"/>
            <a:r>
              <a:rPr lang="zh-CN" altLang="en-US" sz="2000" dirty="0">
                <a:latin typeface="Times New Roman" panose="02020603050405020304" pitchFamily="18" charset="0"/>
              </a:rPr>
              <a:t>顺序逻辑</a:t>
            </a:r>
            <a:endParaRPr lang="zh-CN" altLang="en-US" sz="2000" dirty="0">
              <a:latin typeface="Times New Roman" panose="02020603050405020304" pitchFamily="18" charset="0"/>
            </a:endParaRPr>
          </a:p>
        </p:txBody>
      </p:sp>
      <p:sp>
        <p:nvSpPr>
          <p:cNvPr id="629767" name="Rectangle 7"/>
          <p:cNvSpPr/>
          <p:nvPr/>
        </p:nvSpPr>
        <p:spPr>
          <a:xfrm>
            <a:off x="5360988" y="3581400"/>
            <a:ext cx="1219200" cy="381000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1" hangingPunct="1"/>
            <a:r>
              <a:rPr lang="en-US" altLang="zh-CN" sz="2000" dirty="0">
                <a:latin typeface="Times New Roman" panose="02020603050405020304" pitchFamily="18" charset="0"/>
              </a:rPr>
              <a:t>CMAR</a:t>
            </a:r>
            <a:endParaRPr lang="en-US" altLang="zh-CN" sz="2000" dirty="0">
              <a:latin typeface="Times New Roman" panose="02020603050405020304" pitchFamily="18" charset="0"/>
            </a:endParaRPr>
          </a:p>
        </p:txBody>
      </p:sp>
      <p:sp>
        <p:nvSpPr>
          <p:cNvPr id="629768" name="Rectangle 8"/>
          <p:cNvSpPr/>
          <p:nvPr/>
        </p:nvSpPr>
        <p:spPr>
          <a:xfrm>
            <a:off x="5360988" y="4267200"/>
            <a:ext cx="1219200" cy="381000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1" hangingPunct="1"/>
            <a:r>
              <a:rPr lang="zh-CN" altLang="en-US" sz="2000" dirty="0">
                <a:latin typeface="Times New Roman" panose="02020603050405020304" pitchFamily="18" charset="0"/>
              </a:rPr>
              <a:t>地址译码</a:t>
            </a:r>
            <a:endParaRPr lang="zh-CN" altLang="en-US" sz="2000" dirty="0">
              <a:latin typeface="Times New Roman" panose="02020603050405020304" pitchFamily="18" charset="0"/>
            </a:endParaRPr>
          </a:p>
        </p:txBody>
      </p:sp>
      <p:grpSp>
        <p:nvGrpSpPr>
          <p:cNvPr id="629769" name="Group 9"/>
          <p:cNvGrpSpPr/>
          <p:nvPr/>
        </p:nvGrpSpPr>
        <p:grpSpPr>
          <a:xfrm>
            <a:off x="2617788" y="4419600"/>
            <a:ext cx="1752600" cy="685800"/>
            <a:chOff x="960" y="3072"/>
            <a:chExt cx="1104" cy="432"/>
          </a:xfrm>
        </p:grpSpPr>
        <p:sp>
          <p:nvSpPr>
            <p:cNvPr id="35895" name="Text Box 10"/>
            <p:cNvSpPr txBox="1"/>
            <p:nvPr/>
          </p:nvSpPr>
          <p:spPr>
            <a:xfrm>
              <a:off x="1046" y="3166"/>
              <a:ext cx="921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控制存储器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35896" name="Rectangle 11"/>
            <p:cNvSpPr/>
            <p:nvPr/>
          </p:nvSpPr>
          <p:spPr>
            <a:xfrm>
              <a:off x="960" y="3072"/>
              <a:ext cx="1104" cy="432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</p:grpSp>
      <p:sp>
        <p:nvSpPr>
          <p:cNvPr id="629772" name="AutoShape 12"/>
          <p:cNvSpPr/>
          <p:nvPr/>
        </p:nvSpPr>
        <p:spPr>
          <a:xfrm>
            <a:off x="5513388" y="1447800"/>
            <a:ext cx="152400" cy="3048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folHlink"/>
          </a:solidFill>
          <a:ln w="9525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vert="eaVert" wrap="none" anchor="ctr" anchorCtr="0"/>
          <a:p>
            <a:pPr eaLnBrk="1" hangingPunct="1"/>
            <a:endParaRPr lang="zh-CN" altLang="en-US" dirty="0">
              <a:latin typeface="等线" panose="02010600030101010101" pitchFamily="2" charset="-122"/>
            </a:endParaRPr>
          </a:p>
        </p:txBody>
      </p:sp>
      <p:sp>
        <p:nvSpPr>
          <p:cNvPr id="629773" name="AutoShape 13"/>
          <p:cNvSpPr/>
          <p:nvPr/>
        </p:nvSpPr>
        <p:spPr>
          <a:xfrm>
            <a:off x="5894388" y="2438400"/>
            <a:ext cx="152400" cy="3048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folHlink"/>
          </a:solidFill>
          <a:ln w="9525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vert="eaVert" wrap="none" anchor="ctr" anchorCtr="0"/>
          <a:p>
            <a:pPr eaLnBrk="1" hangingPunct="1"/>
            <a:endParaRPr lang="zh-CN" altLang="en-US" dirty="0">
              <a:latin typeface="等线" panose="02010600030101010101" pitchFamily="2" charset="-122"/>
            </a:endParaRPr>
          </a:p>
        </p:txBody>
      </p:sp>
      <p:sp>
        <p:nvSpPr>
          <p:cNvPr id="629774" name="AutoShape 14"/>
          <p:cNvSpPr/>
          <p:nvPr/>
        </p:nvSpPr>
        <p:spPr>
          <a:xfrm>
            <a:off x="5894388" y="3276600"/>
            <a:ext cx="152400" cy="3048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folHlink"/>
          </a:solidFill>
          <a:ln w="9525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vert="eaVert" wrap="none" anchor="ctr" anchorCtr="0"/>
          <a:p>
            <a:pPr eaLnBrk="1" hangingPunct="1"/>
            <a:endParaRPr lang="zh-CN" altLang="en-US" dirty="0">
              <a:latin typeface="等线" panose="02010600030101010101" pitchFamily="2" charset="-122"/>
            </a:endParaRPr>
          </a:p>
        </p:txBody>
      </p:sp>
      <p:sp>
        <p:nvSpPr>
          <p:cNvPr id="629775" name="AutoShape 15"/>
          <p:cNvSpPr/>
          <p:nvPr/>
        </p:nvSpPr>
        <p:spPr>
          <a:xfrm>
            <a:off x="5894388" y="3971925"/>
            <a:ext cx="152400" cy="287338"/>
          </a:xfrm>
          <a:prstGeom prst="downArrow">
            <a:avLst>
              <a:gd name="adj1" fmla="val 50000"/>
              <a:gd name="adj2" fmla="val 47135"/>
            </a:avLst>
          </a:prstGeom>
          <a:solidFill>
            <a:schemeClr val="folHlink"/>
          </a:solidFill>
          <a:ln w="9525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vert="eaVert" wrap="none" anchor="ctr" anchorCtr="0"/>
          <a:p>
            <a:pPr eaLnBrk="1" hangingPunct="1"/>
            <a:endParaRPr lang="zh-CN" altLang="en-US" dirty="0">
              <a:latin typeface="等线" panose="02010600030101010101" pitchFamily="2" charset="-122"/>
            </a:endParaRPr>
          </a:p>
        </p:txBody>
      </p:sp>
      <p:sp>
        <p:nvSpPr>
          <p:cNvPr id="629776" name="AutoShape 16"/>
          <p:cNvSpPr/>
          <p:nvPr/>
        </p:nvSpPr>
        <p:spPr>
          <a:xfrm>
            <a:off x="3417888" y="3810000"/>
            <a:ext cx="152400" cy="609600"/>
          </a:xfrm>
          <a:prstGeom prst="upArrow">
            <a:avLst>
              <a:gd name="adj1" fmla="val 50000"/>
              <a:gd name="adj2" fmla="val 100000"/>
            </a:avLst>
          </a:prstGeom>
          <a:solidFill>
            <a:schemeClr val="folHlink"/>
          </a:solidFill>
          <a:ln w="9525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vert="eaVert" wrap="none" anchor="ctr" anchorCtr="0"/>
          <a:p>
            <a:pPr eaLnBrk="1" hangingPunct="1"/>
            <a:endParaRPr lang="zh-CN" altLang="en-US" dirty="0">
              <a:latin typeface="等线" panose="02010600030101010101" pitchFamily="2" charset="-122"/>
            </a:endParaRPr>
          </a:p>
        </p:txBody>
      </p:sp>
      <p:grpSp>
        <p:nvGrpSpPr>
          <p:cNvPr id="629777" name="Group 17"/>
          <p:cNvGrpSpPr/>
          <p:nvPr/>
        </p:nvGrpSpPr>
        <p:grpSpPr>
          <a:xfrm>
            <a:off x="3836988" y="2895600"/>
            <a:ext cx="1504950" cy="527050"/>
            <a:chOff x="2417" y="1824"/>
            <a:chExt cx="948" cy="332"/>
          </a:xfrm>
        </p:grpSpPr>
        <p:sp>
          <p:nvSpPr>
            <p:cNvPr id="35893" name="AutoShape 18"/>
            <p:cNvSpPr/>
            <p:nvPr/>
          </p:nvSpPr>
          <p:spPr>
            <a:xfrm>
              <a:off x="2417" y="1824"/>
              <a:ext cx="948" cy="144"/>
            </a:xfrm>
            <a:prstGeom prst="rightArrow">
              <a:avLst>
                <a:gd name="adj1" fmla="val 39166"/>
                <a:gd name="adj2" fmla="val 84455"/>
              </a:avLst>
            </a:prstGeom>
            <a:solidFill>
              <a:schemeClr val="folHlink"/>
            </a:solidFill>
            <a:ln w="952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35894" name="Rectangle 19"/>
            <p:cNvSpPr/>
            <p:nvPr/>
          </p:nvSpPr>
          <p:spPr>
            <a:xfrm>
              <a:off x="2417" y="1877"/>
              <a:ext cx="48" cy="279"/>
            </a:xfrm>
            <a:prstGeom prst="rect">
              <a:avLst/>
            </a:prstGeom>
            <a:solidFill>
              <a:schemeClr val="folHlink"/>
            </a:solidFill>
            <a:ln w="952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</p:grpSp>
      <p:sp>
        <p:nvSpPr>
          <p:cNvPr id="629780" name="Rectangle 20"/>
          <p:cNvSpPr/>
          <p:nvPr/>
        </p:nvSpPr>
        <p:spPr>
          <a:xfrm>
            <a:off x="5970588" y="4648200"/>
            <a:ext cx="76200" cy="762000"/>
          </a:xfrm>
          <a:prstGeom prst="rect">
            <a:avLst/>
          </a:prstGeom>
          <a:solidFill>
            <a:schemeClr val="folHlink"/>
          </a:solidFill>
          <a:ln w="9525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等线" panose="02010600030101010101" pitchFamily="2" charset="-122"/>
            </a:endParaRPr>
          </a:p>
        </p:txBody>
      </p:sp>
      <p:grpSp>
        <p:nvGrpSpPr>
          <p:cNvPr id="629781" name="Group 21"/>
          <p:cNvGrpSpPr/>
          <p:nvPr/>
        </p:nvGrpSpPr>
        <p:grpSpPr>
          <a:xfrm>
            <a:off x="3379788" y="5105400"/>
            <a:ext cx="2590800" cy="304800"/>
            <a:chOff x="1889" y="3216"/>
            <a:chExt cx="1632" cy="192"/>
          </a:xfrm>
        </p:grpSpPr>
        <p:sp>
          <p:nvSpPr>
            <p:cNvPr id="35891" name="AutoShape 22"/>
            <p:cNvSpPr/>
            <p:nvPr/>
          </p:nvSpPr>
          <p:spPr>
            <a:xfrm>
              <a:off x="1889" y="3216"/>
              <a:ext cx="96" cy="192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chemeClr val="folHlink"/>
            </a:solidFill>
            <a:ln w="952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vert="eaVert"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35892" name="Rectangle 23"/>
            <p:cNvSpPr/>
            <p:nvPr/>
          </p:nvSpPr>
          <p:spPr>
            <a:xfrm>
              <a:off x="1937" y="3360"/>
              <a:ext cx="1584" cy="48"/>
            </a:xfrm>
            <a:prstGeom prst="rect">
              <a:avLst/>
            </a:prstGeom>
            <a:solidFill>
              <a:schemeClr val="folHlink"/>
            </a:solidFill>
            <a:ln w="952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</p:grpSp>
      <p:sp>
        <p:nvSpPr>
          <p:cNvPr id="629784" name="AutoShape 24"/>
          <p:cNvSpPr/>
          <p:nvPr/>
        </p:nvSpPr>
        <p:spPr>
          <a:xfrm>
            <a:off x="2971800" y="1219200"/>
            <a:ext cx="201613" cy="2209800"/>
          </a:xfrm>
          <a:prstGeom prst="upArrow">
            <a:avLst>
              <a:gd name="adj1" fmla="val 50000"/>
              <a:gd name="adj2" fmla="val 115390"/>
            </a:avLst>
          </a:prstGeom>
          <a:solidFill>
            <a:schemeClr val="folHlink"/>
          </a:solidFill>
          <a:ln w="9525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vert="eaVert" wrap="none" anchor="ctr" anchorCtr="0"/>
          <a:p>
            <a:pPr eaLnBrk="1" hangingPunct="1"/>
            <a:endParaRPr lang="zh-CN" altLang="en-US" dirty="0">
              <a:latin typeface="等线" panose="02010600030101010101" pitchFamily="2" charset="-122"/>
            </a:endParaRPr>
          </a:p>
        </p:txBody>
      </p:sp>
      <p:sp>
        <p:nvSpPr>
          <p:cNvPr id="629785" name="Rectangle 25"/>
          <p:cNvSpPr/>
          <p:nvPr/>
        </p:nvSpPr>
        <p:spPr>
          <a:xfrm>
            <a:off x="1703388" y="1600200"/>
            <a:ext cx="5410200" cy="3962400"/>
          </a:xfrm>
          <a:prstGeom prst="rect">
            <a:avLst/>
          </a:prstGeom>
          <a:noFill/>
          <a:ln w="19050" cap="flat" cmpd="sng">
            <a:solidFill>
              <a:schemeClr val="tx1"/>
            </a:solidFill>
            <a:prstDash val="lgDashDot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等线" panose="02010600030101010101" pitchFamily="2" charset="-122"/>
            </a:endParaRPr>
          </a:p>
        </p:txBody>
      </p:sp>
      <p:grpSp>
        <p:nvGrpSpPr>
          <p:cNvPr id="629786" name="Group 26"/>
          <p:cNvGrpSpPr/>
          <p:nvPr/>
        </p:nvGrpSpPr>
        <p:grpSpPr>
          <a:xfrm>
            <a:off x="6580188" y="2651125"/>
            <a:ext cx="1573212" cy="717550"/>
            <a:chOff x="3905" y="1670"/>
            <a:chExt cx="991" cy="452"/>
          </a:xfrm>
        </p:grpSpPr>
        <p:sp>
          <p:nvSpPr>
            <p:cNvPr id="35887" name="Line 27"/>
            <p:cNvSpPr/>
            <p:nvPr/>
          </p:nvSpPr>
          <p:spPr>
            <a:xfrm flipH="1">
              <a:off x="3905" y="1824"/>
              <a:ext cx="52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35888" name="Line 28"/>
            <p:cNvSpPr/>
            <p:nvPr/>
          </p:nvSpPr>
          <p:spPr>
            <a:xfrm flipH="1">
              <a:off x="3905" y="1968"/>
              <a:ext cx="52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35889" name="Text Box 29"/>
            <p:cNvSpPr txBox="1"/>
            <p:nvPr/>
          </p:nvSpPr>
          <p:spPr>
            <a:xfrm>
              <a:off x="4433" y="1670"/>
              <a:ext cx="43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标志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35890" name="Text Box 30"/>
            <p:cNvSpPr txBox="1"/>
            <p:nvPr/>
          </p:nvSpPr>
          <p:spPr>
            <a:xfrm>
              <a:off x="4433" y="1872"/>
              <a:ext cx="463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dirty="0">
                  <a:latin typeface="Times New Roman" panose="02020603050405020304" pitchFamily="18" charset="0"/>
                </a:rPr>
                <a:t>CLK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29791" name="Group 31"/>
          <p:cNvGrpSpPr/>
          <p:nvPr/>
        </p:nvGrpSpPr>
        <p:grpSpPr>
          <a:xfrm>
            <a:off x="3440113" y="3429000"/>
            <a:ext cx="950912" cy="396875"/>
            <a:chOff x="1927" y="2160"/>
            <a:chExt cx="599" cy="250"/>
          </a:xfrm>
        </p:grpSpPr>
        <p:sp>
          <p:nvSpPr>
            <p:cNvPr id="35885" name="Text Box 32"/>
            <p:cNvSpPr txBox="1"/>
            <p:nvPr/>
          </p:nvSpPr>
          <p:spPr>
            <a:xfrm>
              <a:off x="1927" y="2160"/>
              <a:ext cx="599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下地址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35886" name="Line 33"/>
            <p:cNvSpPr/>
            <p:nvPr/>
          </p:nvSpPr>
          <p:spPr>
            <a:xfrm>
              <a:off x="1937" y="2170"/>
              <a:ext cx="0" cy="24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629794" name="Group 34"/>
          <p:cNvGrpSpPr/>
          <p:nvPr/>
        </p:nvGrpSpPr>
        <p:grpSpPr>
          <a:xfrm>
            <a:off x="1703388" y="3443288"/>
            <a:ext cx="2667000" cy="396875"/>
            <a:chOff x="833" y="2169"/>
            <a:chExt cx="1680" cy="250"/>
          </a:xfrm>
        </p:grpSpPr>
        <p:sp>
          <p:nvSpPr>
            <p:cNvPr id="35883" name="Rectangle 35"/>
            <p:cNvSpPr/>
            <p:nvPr/>
          </p:nvSpPr>
          <p:spPr>
            <a:xfrm>
              <a:off x="1409" y="2170"/>
              <a:ext cx="1104" cy="240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35884" name="Text Box 36"/>
            <p:cNvSpPr txBox="1"/>
            <p:nvPr/>
          </p:nvSpPr>
          <p:spPr>
            <a:xfrm>
              <a:off x="833" y="2169"/>
              <a:ext cx="615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dirty="0">
                  <a:latin typeface="Times New Roman" panose="02020603050405020304" pitchFamily="18" charset="0"/>
                </a:rPr>
                <a:t>CMDR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629797" name="Text Box 37"/>
          <p:cNvSpPr txBox="1"/>
          <p:nvPr/>
        </p:nvSpPr>
        <p:spPr>
          <a:xfrm>
            <a:off x="1143000" y="822325"/>
            <a:ext cx="45720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000" dirty="0">
                <a:latin typeface="Times New Roman" panose="02020603050405020304" pitchFamily="18" charset="0"/>
              </a:rPr>
              <a:t>至 </a:t>
            </a:r>
            <a:r>
              <a:rPr lang="en-US" altLang="zh-CN" sz="2000" dirty="0">
                <a:latin typeface="Times New Roman" panose="02020603050405020304" pitchFamily="18" charset="0"/>
              </a:rPr>
              <a:t>CPU </a:t>
            </a:r>
            <a:r>
              <a:rPr lang="zh-CN" altLang="en-US" sz="2000" dirty="0">
                <a:latin typeface="Times New Roman" panose="02020603050405020304" pitchFamily="18" charset="0"/>
              </a:rPr>
              <a:t>内部和系统总线的控制信号 </a:t>
            </a:r>
            <a:endParaRPr lang="zh-CN" altLang="en-US" sz="2000" dirty="0">
              <a:latin typeface="Times New Roman" panose="02020603050405020304" pitchFamily="18" charset="0"/>
            </a:endParaRPr>
          </a:p>
        </p:txBody>
      </p:sp>
      <p:grpSp>
        <p:nvGrpSpPr>
          <p:cNvPr id="629798" name="Group 38"/>
          <p:cNvGrpSpPr/>
          <p:nvPr/>
        </p:nvGrpSpPr>
        <p:grpSpPr>
          <a:xfrm>
            <a:off x="5360988" y="1114425"/>
            <a:ext cx="2106612" cy="396875"/>
            <a:chOff x="3137" y="702"/>
            <a:chExt cx="1327" cy="250"/>
          </a:xfrm>
        </p:grpSpPr>
        <p:sp>
          <p:nvSpPr>
            <p:cNvPr id="35880" name="Rectangle 39"/>
            <p:cNvSpPr/>
            <p:nvPr/>
          </p:nvSpPr>
          <p:spPr>
            <a:xfrm>
              <a:off x="3137" y="720"/>
              <a:ext cx="288" cy="192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r>
                <a:rPr lang="en-US" altLang="zh-CN" sz="2000" dirty="0">
                  <a:latin typeface="Times New Roman" panose="02020603050405020304" pitchFamily="18" charset="0"/>
                </a:rPr>
                <a:t>OP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35881" name="Rectangle 40"/>
            <p:cNvSpPr/>
            <p:nvPr/>
          </p:nvSpPr>
          <p:spPr>
            <a:xfrm>
              <a:off x="3425" y="720"/>
              <a:ext cx="528" cy="192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35882" name="Text Box 41"/>
            <p:cNvSpPr txBox="1"/>
            <p:nvPr/>
          </p:nvSpPr>
          <p:spPr>
            <a:xfrm>
              <a:off x="3984" y="702"/>
              <a:ext cx="48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000" dirty="0">
                  <a:latin typeface="Times New Roman" panose="02020603050405020304" pitchFamily="18" charset="0"/>
                </a:rPr>
                <a:t>IR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29802" name="Group 42"/>
          <p:cNvGrpSpPr/>
          <p:nvPr/>
        </p:nvGrpSpPr>
        <p:grpSpPr>
          <a:xfrm>
            <a:off x="1074738" y="5715000"/>
            <a:ext cx="6011862" cy="762000"/>
            <a:chOff x="677" y="3600"/>
            <a:chExt cx="3787" cy="480"/>
          </a:xfrm>
        </p:grpSpPr>
        <p:grpSp>
          <p:nvGrpSpPr>
            <p:cNvPr id="35866" name="Group 43"/>
            <p:cNvGrpSpPr/>
            <p:nvPr/>
          </p:nvGrpSpPr>
          <p:grpSpPr>
            <a:xfrm>
              <a:off x="2064" y="3600"/>
              <a:ext cx="2400" cy="480"/>
              <a:chOff x="2064" y="3600"/>
              <a:chExt cx="2400" cy="480"/>
            </a:xfrm>
          </p:grpSpPr>
          <p:sp>
            <p:nvSpPr>
              <p:cNvPr id="35868" name="Line 44"/>
              <p:cNvSpPr/>
              <p:nvPr/>
            </p:nvSpPr>
            <p:spPr>
              <a:xfrm>
                <a:off x="4464" y="3792"/>
                <a:ext cx="0" cy="24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grpSp>
            <p:nvGrpSpPr>
              <p:cNvPr id="35869" name="Group 45"/>
              <p:cNvGrpSpPr/>
              <p:nvPr/>
            </p:nvGrpSpPr>
            <p:grpSpPr>
              <a:xfrm>
                <a:off x="2064" y="3600"/>
                <a:ext cx="2400" cy="480"/>
                <a:chOff x="2064" y="3600"/>
                <a:chExt cx="2400" cy="480"/>
              </a:xfrm>
            </p:grpSpPr>
            <p:sp>
              <p:nvSpPr>
                <p:cNvPr id="35870" name="Text Box 46"/>
                <p:cNvSpPr txBox="1"/>
                <p:nvPr/>
              </p:nvSpPr>
              <p:spPr>
                <a:xfrm>
                  <a:off x="3600" y="3830"/>
                  <a:ext cx="756" cy="25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 eaLnBrk="1" hangingPunct="1"/>
                  <a:r>
                    <a:rPr lang="zh-CN" altLang="en-US" sz="2000" dirty="0">
                      <a:latin typeface="Times New Roman" panose="02020603050405020304" pitchFamily="18" charset="0"/>
                    </a:rPr>
                    <a:t>顺序控制</a:t>
                  </a:r>
                  <a:endParaRPr lang="zh-CN" altLang="en-US" sz="20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5871" name="Rectangle 47"/>
                <p:cNvSpPr/>
                <p:nvPr/>
              </p:nvSpPr>
              <p:spPr>
                <a:xfrm>
                  <a:off x="2064" y="3600"/>
                  <a:ext cx="1392" cy="240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 eaLnBrk="1" hangingPunct="1"/>
                  <a:endParaRPr lang="zh-CN" altLang="en-US" dirty="0">
                    <a:latin typeface="等线" panose="02010600030101010101" pitchFamily="2" charset="-122"/>
                  </a:endParaRPr>
                </a:p>
              </p:txBody>
            </p:sp>
            <p:sp>
              <p:nvSpPr>
                <p:cNvPr id="35872" name="Rectangle 48"/>
                <p:cNvSpPr/>
                <p:nvPr/>
              </p:nvSpPr>
              <p:spPr>
                <a:xfrm>
                  <a:off x="3456" y="3600"/>
                  <a:ext cx="1008" cy="240"/>
                </a:xfrm>
                <a:prstGeom prst="rect">
                  <a:avLst/>
                </a:prstGeom>
                <a:noFill/>
                <a:ln w="2857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pPr eaLnBrk="1" hangingPunct="1"/>
                  <a:endParaRPr lang="zh-CN" altLang="en-US" dirty="0">
                    <a:latin typeface="等线" panose="02010600030101010101" pitchFamily="2" charset="-122"/>
                  </a:endParaRPr>
                </a:p>
              </p:txBody>
            </p:sp>
            <p:sp>
              <p:nvSpPr>
                <p:cNvPr id="35873" name="Line 49"/>
                <p:cNvSpPr/>
                <p:nvPr/>
              </p:nvSpPr>
              <p:spPr>
                <a:xfrm>
                  <a:off x="2064" y="3792"/>
                  <a:ext cx="0" cy="24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5874" name="Line 50"/>
                <p:cNvSpPr/>
                <p:nvPr/>
              </p:nvSpPr>
              <p:spPr>
                <a:xfrm>
                  <a:off x="3456" y="3792"/>
                  <a:ext cx="0" cy="24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5875" name="Line 51"/>
                <p:cNvSpPr/>
                <p:nvPr/>
              </p:nvSpPr>
              <p:spPr>
                <a:xfrm>
                  <a:off x="3159" y="3936"/>
                  <a:ext cx="297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stealth" w="med" len="med"/>
                </a:ln>
              </p:spPr>
            </p:sp>
            <p:sp>
              <p:nvSpPr>
                <p:cNvPr id="35876" name="Line 52"/>
                <p:cNvSpPr/>
                <p:nvPr/>
              </p:nvSpPr>
              <p:spPr>
                <a:xfrm rot="10800000">
                  <a:off x="2064" y="3936"/>
                  <a:ext cx="297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stealth" w="med" len="med"/>
                </a:ln>
              </p:spPr>
            </p:sp>
            <p:sp>
              <p:nvSpPr>
                <p:cNvPr id="35877" name="Text Box 53"/>
                <p:cNvSpPr txBox="1"/>
                <p:nvPr/>
              </p:nvSpPr>
              <p:spPr>
                <a:xfrm>
                  <a:off x="2400" y="3830"/>
                  <a:ext cx="756" cy="25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 eaLnBrk="1" hangingPunct="1"/>
                  <a:r>
                    <a:rPr lang="zh-CN" altLang="en-US" sz="2000" dirty="0">
                      <a:latin typeface="Times New Roman" panose="02020603050405020304" pitchFamily="18" charset="0"/>
                    </a:rPr>
                    <a:t>操作控制</a:t>
                  </a:r>
                  <a:endParaRPr lang="zh-CN" altLang="en-US" sz="20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5878" name="Line 54"/>
                <p:cNvSpPr/>
                <p:nvPr/>
              </p:nvSpPr>
              <p:spPr>
                <a:xfrm>
                  <a:off x="4311" y="3936"/>
                  <a:ext cx="136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stealth" w="med" len="med"/>
                </a:ln>
              </p:spPr>
            </p:sp>
            <p:sp>
              <p:nvSpPr>
                <p:cNvPr id="35879" name="Line 55"/>
                <p:cNvSpPr/>
                <p:nvPr/>
              </p:nvSpPr>
              <p:spPr>
                <a:xfrm rot="10800000">
                  <a:off x="3461" y="3936"/>
                  <a:ext cx="136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stealth" w="med" len="med"/>
                </a:ln>
              </p:spPr>
            </p:sp>
          </p:grpSp>
        </p:grpSp>
        <p:sp>
          <p:nvSpPr>
            <p:cNvPr id="35867" name="Text Box 56"/>
            <p:cNvSpPr txBox="1"/>
            <p:nvPr/>
          </p:nvSpPr>
          <p:spPr>
            <a:xfrm>
              <a:off x="677" y="3646"/>
              <a:ext cx="123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微指令基本格式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629817" name="Rectangle 57"/>
          <p:cNvSpPr>
            <a:spLocks noChangeArrowheads="1"/>
          </p:cNvSpPr>
          <p:nvPr/>
        </p:nvSpPr>
        <p:spPr bwMode="auto">
          <a:xfrm>
            <a:off x="7696200" y="152400"/>
            <a:ext cx="1447800" cy="838200"/>
          </a:xfrm>
          <a:prstGeom prst="rect">
            <a:avLst/>
          </a:prstGeom>
          <a:noFill/>
          <a:ln>
            <a:noFill/>
          </a:ln>
          <a:effectLst/>
        </p:spPr>
        <p:txBody>
          <a:bodyPr lIns="92075" tIns="46038" rIns="92075" bIns="46038" anchor="ctr"/>
          <a:lstStyle>
            <a:lvl1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10.2</a:t>
            </a:r>
            <a:endParaRPr kumimoji="1" lang="zh-CN" altLang="en-US" sz="4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5865" name="AutoShape 58">
            <a:hlinkClick r:id="rId1" action="ppaction://hlinksldjump"/>
          </p:cNvPr>
          <p:cNvSpPr/>
          <p:nvPr/>
        </p:nvSpPr>
        <p:spPr>
          <a:xfrm>
            <a:off x="8589963" y="6516688"/>
            <a:ext cx="539750" cy="333375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endParaRPr lang="zh-CN" altLang="en-US" dirty="0">
              <a:latin typeface="等线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629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629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629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629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629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2" dur="500"/>
                                        <p:tgtEl>
                                          <p:spTgt spid="629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7" dur="500"/>
                                        <p:tgtEl>
                                          <p:spTgt spid="629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2" dur="500"/>
                                        <p:tgtEl>
                                          <p:spTgt spid="629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7" dur="500"/>
                                        <p:tgtEl>
                                          <p:spTgt spid="629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52" dur="500"/>
                                        <p:tgtEl>
                                          <p:spTgt spid="629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57" dur="500"/>
                                        <p:tgtEl>
                                          <p:spTgt spid="629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62" dur="500"/>
                                        <p:tgtEl>
                                          <p:spTgt spid="629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67" dur="500"/>
                                        <p:tgtEl>
                                          <p:spTgt spid="629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72" dur="500"/>
                                        <p:tgtEl>
                                          <p:spTgt spid="629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18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76" dur="500"/>
                                        <p:tgtEl>
                                          <p:spTgt spid="629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1" dur="500"/>
                                        <p:tgtEl>
                                          <p:spTgt spid="629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86" dur="500"/>
                                        <p:tgtEl>
                                          <p:spTgt spid="629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91" dur="500"/>
                                        <p:tgtEl>
                                          <p:spTgt spid="629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96" dur="500"/>
                                        <p:tgtEl>
                                          <p:spTgt spid="629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1" dur="500"/>
                                        <p:tgtEl>
                                          <p:spTgt spid="629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500"/>
                            </p:stCondLst>
                            <p:childTnLst>
                              <p:par>
                                <p:cTn id="10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5" dur="500"/>
                                        <p:tgtEl>
                                          <p:spTgt spid="629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9766" grpId="0" animBg="1"/>
      <p:bldP spid="629767" grpId="0" animBg="1"/>
      <p:bldP spid="629768" grpId="0" animBg="1"/>
      <p:bldP spid="629797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6866" name="Text Box 2"/>
          <p:cNvSpPr txBox="1"/>
          <p:nvPr/>
        </p:nvSpPr>
        <p:spPr>
          <a:xfrm>
            <a:off x="304800" y="106363"/>
            <a:ext cx="7315200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3200" dirty="0">
                <a:latin typeface="Times New Roman" panose="02020603050405020304" pitchFamily="18" charset="0"/>
              </a:rPr>
              <a:t>二、微程序控制单元框图及工作原理</a:t>
            </a:r>
            <a:endParaRPr lang="zh-CN" altLang="en-US" sz="3200" dirty="0">
              <a:latin typeface="Times New Roman" panose="02020603050405020304" pitchFamily="18" charset="0"/>
            </a:endParaRPr>
          </a:p>
        </p:txBody>
      </p:sp>
      <p:grpSp>
        <p:nvGrpSpPr>
          <p:cNvPr id="630787" name="Group 3"/>
          <p:cNvGrpSpPr/>
          <p:nvPr/>
        </p:nvGrpSpPr>
        <p:grpSpPr>
          <a:xfrm>
            <a:off x="1143000" y="1066800"/>
            <a:ext cx="6705600" cy="5353050"/>
            <a:chOff x="720" y="672"/>
            <a:chExt cx="4224" cy="3372"/>
          </a:xfrm>
        </p:grpSpPr>
        <p:sp>
          <p:nvSpPr>
            <p:cNvPr id="36883" name="Text Box 4"/>
            <p:cNvSpPr txBox="1"/>
            <p:nvPr/>
          </p:nvSpPr>
          <p:spPr>
            <a:xfrm>
              <a:off x="720" y="912"/>
              <a:ext cx="43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dirty="0">
                  <a:latin typeface="Times New Roman" panose="02020603050405020304" pitchFamily="18" charset="0"/>
                </a:rPr>
                <a:t>M+1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36884" name="Text Box 5"/>
            <p:cNvSpPr txBox="1"/>
            <p:nvPr/>
          </p:nvSpPr>
          <p:spPr>
            <a:xfrm>
              <a:off x="810" y="672"/>
              <a:ext cx="267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dirty="0">
                  <a:latin typeface="Times New Roman" panose="02020603050405020304" pitchFamily="18" charset="0"/>
                </a:rPr>
                <a:t>M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36885" name="Text Box 6"/>
            <p:cNvSpPr txBox="1"/>
            <p:nvPr/>
          </p:nvSpPr>
          <p:spPr>
            <a:xfrm>
              <a:off x="720" y="1152"/>
              <a:ext cx="43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dirty="0">
                  <a:latin typeface="Times New Roman" panose="02020603050405020304" pitchFamily="18" charset="0"/>
                </a:rPr>
                <a:t>M+2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36886" name="Text Box 7"/>
            <p:cNvSpPr txBox="1"/>
            <p:nvPr/>
          </p:nvSpPr>
          <p:spPr>
            <a:xfrm>
              <a:off x="720" y="2602"/>
              <a:ext cx="385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dirty="0">
                  <a:latin typeface="Times New Roman" panose="02020603050405020304" pitchFamily="18" charset="0"/>
                </a:rPr>
                <a:t>P+1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36887" name="Text Box 8"/>
            <p:cNvSpPr txBox="1"/>
            <p:nvPr/>
          </p:nvSpPr>
          <p:spPr>
            <a:xfrm>
              <a:off x="799" y="3072"/>
              <a:ext cx="24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dirty="0">
                  <a:latin typeface="Times New Roman" panose="02020603050405020304" pitchFamily="18" charset="0"/>
                </a:rPr>
                <a:t>K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36888" name="Text Box 9"/>
            <p:cNvSpPr txBox="1"/>
            <p:nvPr/>
          </p:nvSpPr>
          <p:spPr>
            <a:xfrm>
              <a:off x="720" y="3552"/>
              <a:ext cx="411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dirty="0">
                  <a:latin typeface="Times New Roman" panose="02020603050405020304" pitchFamily="18" charset="0"/>
                </a:rPr>
                <a:t>K+2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36889" name="Text Box 10"/>
            <p:cNvSpPr txBox="1"/>
            <p:nvPr/>
          </p:nvSpPr>
          <p:spPr>
            <a:xfrm>
              <a:off x="815" y="2362"/>
              <a:ext cx="214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dirty="0">
                  <a:latin typeface="Times New Roman" panose="02020603050405020304" pitchFamily="18" charset="0"/>
                </a:rPr>
                <a:t>P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36890" name="Text Box 11"/>
            <p:cNvSpPr txBox="1"/>
            <p:nvPr/>
          </p:nvSpPr>
          <p:spPr>
            <a:xfrm>
              <a:off x="720" y="2832"/>
              <a:ext cx="385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dirty="0">
                  <a:latin typeface="Times New Roman" panose="02020603050405020304" pitchFamily="18" charset="0"/>
                </a:rPr>
                <a:t>P+2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36891" name="Text Box 12"/>
            <p:cNvSpPr txBox="1"/>
            <p:nvPr/>
          </p:nvSpPr>
          <p:spPr>
            <a:xfrm>
              <a:off x="720" y="3312"/>
              <a:ext cx="411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dirty="0">
                  <a:latin typeface="Times New Roman" panose="02020603050405020304" pitchFamily="18" charset="0"/>
                </a:rPr>
                <a:t>K+1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36892" name="Text Box 13"/>
            <p:cNvSpPr txBox="1"/>
            <p:nvPr/>
          </p:nvSpPr>
          <p:spPr>
            <a:xfrm>
              <a:off x="1968" y="3814"/>
              <a:ext cx="308" cy="21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…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36893" name="Group 14"/>
            <p:cNvGrpSpPr/>
            <p:nvPr/>
          </p:nvGrpSpPr>
          <p:grpSpPr>
            <a:xfrm>
              <a:off x="3024" y="714"/>
              <a:ext cx="1380" cy="672"/>
              <a:chOff x="2832" y="906"/>
              <a:chExt cx="1380" cy="672"/>
            </a:xfrm>
          </p:grpSpPr>
          <p:sp>
            <p:nvSpPr>
              <p:cNvPr id="36931" name="AutoShape 15"/>
              <p:cNvSpPr/>
              <p:nvPr/>
            </p:nvSpPr>
            <p:spPr>
              <a:xfrm>
                <a:off x="2832" y="906"/>
                <a:ext cx="96" cy="672"/>
              </a:xfrm>
              <a:prstGeom prst="rightBrace">
                <a:avLst>
                  <a:gd name="adj1" fmla="val 58333"/>
                  <a:gd name="adj2" fmla="val 50000"/>
                </a:avLst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等线" panose="02010600030101010101" pitchFamily="2" charset="-122"/>
                </a:endParaRPr>
              </a:p>
            </p:txBody>
          </p:sp>
          <p:sp>
            <p:nvSpPr>
              <p:cNvPr id="36932" name="Text Box 16"/>
              <p:cNvSpPr txBox="1"/>
              <p:nvPr/>
            </p:nvSpPr>
            <p:spPr>
              <a:xfrm>
                <a:off x="2929" y="1105"/>
                <a:ext cx="1283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zh-CN" altLang="en-US" sz="2000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取指周期 </a:t>
                </a:r>
                <a:r>
                  <a:rPr lang="zh-CN" altLang="en-US" sz="2000" dirty="0">
                    <a:latin typeface="Times New Roman" panose="02020603050405020304" pitchFamily="18" charset="0"/>
                  </a:rPr>
                  <a:t>微程序</a:t>
                </a:r>
                <a:endParaRPr lang="zh-CN" altLang="en-US" sz="2000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6894" name="Group 17"/>
            <p:cNvGrpSpPr/>
            <p:nvPr/>
          </p:nvGrpSpPr>
          <p:grpSpPr>
            <a:xfrm>
              <a:off x="3024" y="2400"/>
              <a:ext cx="1920" cy="672"/>
              <a:chOff x="2832" y="2592"/>
              <a:chExt cx="1920" cy="672"/>
            </a:xfrm>
          </p:grpSpPr>
          <p:sp>
            <p:nvSpPr>
              <p:cNvPr id="36929" name="AutoShape 18"/>
              <p:cNvSpPr/>
              <p:nvPr/>
            </p:nvSpPr>
            <p:spPr>
              <a:xfrm>
                <a:off x="2832" y="2592"/>
                <a:ext cx="96" cy="672"/>
              </a:xfrm>
              <a:prstGeom prst="rightBrace">
                <a:avLst>
                  <a:gd name="adj1" fmla="val 58333"/>
                  <a:gd name="adj2" fmla="val 50000"/>
                </a:avLst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等线" panose="02010600030101010101" pitchFamily="2" charset="-122"/>
                </a:endParaRPr>
              </a:p>
            </p:txBody>
          </p:sp>
          <p:sp>
            <p:nvSpPr>
              <p:cNvPr id="36930" name="Text Box 19"/>
              <p:cNvSpPr txBox="1"/>
              <p:nvPr/>
            </p:nvSpPr>
            <p:spPr>
              <a:xfrm>
                <a:off x="2929" y="2793"/>
                <a:ext cx="1823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zh-CN" altLang="en-US" sz="2000" dirty="0">
                    <a:latin typeface="Times New Roman" panose="02020603050405020304" pitchFamily="18" charset="0"/>
                  </a:rPr>
                  <a:t>对应</a:t>
                </a:r>
                <a:r>
                  <a:rPr lang="zh-CN" altLang="en-US" sz="2000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 </a:t>
                </a:r>
                <a:r>
                  <a:rPr lang="en-US" altLang="zh-CN" sz="2000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LDA </a:t>
                </a:r>
                <a:r>
                  <a:rPr lang="zh-CN" altLang="en-US" sz="2000" dirty="0">
                    <a:latin typeface="Times New Roman" panose="02020603050405020304" pitchFamily="18" charset="0"/>
                  </a:rPr>
                  <a:t>操作的微程序</a:t>
                </a:r>
                <a:endParaRPr lang="zh-CN" altLang="en-US" sz="2000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6895" name="Group 20"/>
            <p:cNvGrpSpPr/>
            <p:nvPr/>
          </p:nvGrpSpPr>
          <p:grpSpPr>
            <a:xfrm>
              <a:off x="3024" y="3120"/>
              <a:ext cx="1893" cy="672"/>
              <a:chOff x="2832" y="3312"/>
              <a:chExt cx="1893" cy="672"/>
            </a:xfrm>
          </p:grpSpPr>
          <p:sp>
            <p:nvSpPr>
              <p:cNvPr id="36927" name="AutoShape 21"/>
              <p:cNvSpPr/>
              <p:nvPr/>
            </p:nvSpPr>
            <p:spPr>
              <a:xfrm>
                <a:off x="2832" y="3312"/>
                <a:ext cx="96" cy="672"/>
              </a:xfrm>
              <a:prstGeom prst="rightBrace">
                <a:avLst>
                  <a:gd name="adj1" fmla="val 58333"/>
                  <a:gd name="adj2" fmla="val 50000"/>
                </a:avLst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等线" panose="02010600030101010101" pitchFamily="2" charset="-122"/>
                </a:endParaRPr>
              </a:p>
            </p:txBody>
          </p:sp>
          <p:sp>
            <p:nvSpPr>
              <p:cNvPr id="36928" name="Text Box 22"/>
              <p:cNvSpPr txBox="1"/>
              <p:nvPr/>
            </p:nvSpPr>
            <p:spPr>
              <a:xfrm>
                <a:off x="2929" y="3494"/>
                <a:ext cx="1796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zh-CN" altLang="en-US" sz="2000" dirty="0">
                    <a:latin typeface="Times New Roman" panose="02020603050405020304" pitchFamily="18" charset="0"/>
                  </a:rPr>
                  <a:t>对应 </a:t>
                </a:r>
                <a:r>
                  <a:rPr lang="en-US" altLang="zh-CN" sz="2000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STA</a:t>
                </a:r>
                <a:r>
                  <a:rPr lang="en-US" altLang="zh-CN" sz="2000" dirty="0">
                    <a:latin typeface="Times New Roman" panose="02020603050405020304" pitchFamily="18" charset="0"/>
                  </a:rPr>
                  <a:t> </a:t>
                </a:r>
                <a:r>
                  <a:rPr lang="zh-CN" altLang="en-US" sz="2000" dirty="0">
                    <a:latin typeface="Times New Roman" panose="02020603050405020304" pitchFamily="18" charset="0"/>
                  </a:rPr>
                  <a:t>操作的微程序</a:t>
                </a:r>
                <a:endParaRPr lang="zh-CN" altLang="en-US" sz="2000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36896" name="Group 23"/>
            <p:cNvGrpSpPr/>
            <p:nvPr/>
          </p:nvGrpSpPr>
          <p:grpSpPr>
            <a:xfrm>
              <a:off x="3024" y="1440"/>
              <a:ext cx="1380" cy="432"/>
              <a:chOff x="2832" y="1632"/>
              <a:chExt cx="1380" cy="432"/>
            </a:xfrm>
          </p:grpSpPr>
          <p:sp>
            <p:nvSpPr>
              <p:cNvPr id="36925" name="Text Box 24"/>
              <p:cNvSpPr txBox="1"/>
              <p:nvPr/>
            </p:nvSpPr>
            <p:spPr>
              <a:xfrm>
                <a:off x="2929" y="1777"/>
                <a:ext cx="1283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zh-CN" altLang="en-US" sz="2000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间址周期 </a:t>
                </a:r>
                <a:r>
                  <a:rPr lang="zh-CN" altLang="en-US" sz="2000" dirty="0">
                    <a:latin typeface="Times New Roman" panose="02020603050405020304" pitchFamily="18" charset="0"/>
                  </a:rPr>
                  <a:t>微程序</a:t>
                </a:r>
                <a:endParaRPr lang="zh-CN" altLang="en-US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6926" name="AutoShape 25"/>
              <p:cNvSpPr/>
              <p:nvPr/>
            </p:nvSpPr>
            <p:spPr>
              <a:xfrm>
                <a:off x="2832" y="1632"/>
                <a:ext cx="96" cy="432"/>
              </a:xfrm>
              <a:prstGeom prst="rightBrace">
                <a:avLst>
                  <a:gd name="adj1" fmla="val 37500"/>
                  <a:gd name="adj2" fmla="val 50000"/>
                </a:avLst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等线" panose="02010600030101010101" pitchFamily="2" charset="-122"/>
                </a:endParaRPr>
              </a:p>
            </p:txBody>
          </p:sp>
        </p:grpSp>
        <p:grpSp>
          <p:nvGrpSpPr>
            <p:cNvPr id="36897" name="Group 26"/>
            <p:cNvGrpSpPr/>
            <p:nvPr/>
          </p:nvGrpSpPr>
          <p:grpSpPr>
            <a:xfrm>
              <a:off x="3024" y="1920"/>
              <a:ext cx="1380" cy="432"/>
              <a:chOff x="2832" y="2112"/>
              <a:chExt cx="1380" cy="432"/>
            </a:xfrm>
          </p:grpSpPr>
          <p:sp>
            <p:nvSpPr>
              <p:cNvPr id="36923" name="Text Box 27"/>
              <p:cNvSpPr txBox="1"/>
              <p:nvPr/>
            </p:nvSpPr>
            <p:spPr>
              <a:xfrm>
                <a:off x="2929" y="2209"/>
                <a:ext cx="1283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zh-CN" altLang="en-US" sz="2000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中断周期 </a:t>
                </a:r>
                <a:r>
                  <a:rPr lang="zh-CN" altLang="en-US" sz="2000" dirty="0">
                    <a:latin typeface="Times New Roman" panose="02020603050405020304" pitchFamily="18" charset="0"/>
                  </a:rPr>
                  <a:t>微程序</a:t>
                </a:r>
                <a:endParaRPr lang="zh-CN" altLang="en-US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6924" name="AutoShape 28"/>
              <p:cNvSpPr/>
              <p:nvPr/>
            </p:nvSpPr>
            <p:spPr>
              <a:xfrm>
                <a:off x="2832" y="2112"/>
                <a:ext cx="96" cy="432"/>
              </a:xfrm>
              <a:prstGeom prst="rightBrace">
                <a:avLst>
                  <a:gd name="adj1" fmla="val 37500"/>
                  <a:gd name="adj2" fmla="val 50000"/>
                </a:avLst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等线" panose="02010600030101010101" pitchFamily="2" charset="-122"/>
                </a:endParaRPr>
              </a:p>
            </p:txBody>
          </p:sp>
        </p:grpSp>
        <p:grpSp>
          <p:nvGrpSpPr>
            <p:cNvPr id="36898" name="Group 29"/>
            <p:cNvGrpSpPr/>
            <p:nvPr/>
          </p:nvGrpSpPr>
          <p:grpSpPr>
            <a:xfrm>
              <a:off x="1248" y="675"/>
              <a:ext cx="1728" cy="3369"/>
              <a:chOff x="1248" y="675"/>
              <a:chExt cx="1728" cy="3369"/>
            </a:xfrm>
          </p:grpSpPr>
          <p:grpSp>
            <p:nvGrpSpPr>
              <p:cNvPr id="36899" name="Group 30"/>
              <p:cNvGrpSpPr/>
              <p:nvPr/>
            </p:nvGrpSpPr>
            <p:grpSpPr>
              <a:xfrm>
                <a:off x="1248" y="675"/>
                <a:ext cx="1728" cy="3369"/>
                <a:chOff x="1248" y="675"/>
                <a:chExt cx="1728" cy="3369"/>
              </a:xfrm>
            </p:grpSpPr>
            <p:grpSp>
              <p:nvGrpSpPr>
                <p:cNvPr id="36905" name="Group 31"/>
                <p:cNvGrpSpPr/>
                <p:nvPr/>
              </p:nvGrpSpPr>
              <p:grpSpPr>
                <a:xfrm>
                  <a:off x="1248" y="682"/>
                  <a:ext cx="1728" cy="3362"/>
                  <a:chOff x="1056" y="874"/>
                  <a:chExt cx="1728" cy="3362"/>
                </a:xfrm>
              </p:grpSpPr>
              <p:grpSp>
                <p:nvGrpSpPr>
                  <p:cNvPr id="36908" name="Group 32"/>
                  <p:cNvGrpSpPr/>
                  <p:nvPr/>
                </p:nvGrpSpPr>
                <p:grpSpPr>
                  <a:xfrm>
                    <a:off x="1056" y="874"/>
                    <a:ext cx="1728" cy="3362"/>
                    <a:chOff x="1056" y="874"/>
                    <a:chExt cx="1728" cy="3362"/>
                  </a:xfrm>
                </p:grpSpPr>
                <p:sp>
                  <p:nvSpPr>
                    <p:cNvPr id="36911" name="Rectangle 33"/>
                    <p:cNvSpPr/>
                    <p:nvPr/>
                  </p:nvSpPr>
                  <p:spPr>
                    <a:xfrm>
                      <a:off x="1056" y="3274"/>
                      <a:ext cx="1728" cy="240"/>
                    </a:xfrm>
                    <a:prstGeom prst="rect">
                      <a:avLst/>
                    </a:prstGeom>
                    <a:noFill/>
                    <a:ln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p>
                      <a:pPr eaLnBrk="1" hangingPunct="1"/>
                      <a:endParaRPr lang="zh-CN" altLang="en-US" dirty="0">
                        <a:latin typeface="等线" panose="02010600030101010101" pitchFamily="2" charset="-122"/>
                      </a:endParaRPr>
                    </a:p>
                  </p:txBody>
                </p:sp>
                <p:sp>
                  <p:nvSpPr>
                    <p:cNvPr id="36912" name="Rectangle 34"/>
                    <p:cNvSpPr/>
                    <p:nvPr/>
                  </p:nvSpPr>
                  <p:spPr>
                    <a:xfrm>
                      <a:off x="1056" y="3754"/>
                      <a:ext cx="1728" cy="240"/>
                    </a:xfrm>
                    <a:prstGeom prst="rect">
                      <a:avLst/>
                    </a:prstGeom>
                    <a:noFill/>
                    <a:ln w="28575" cap="flat" cmpd="sng">
                      <a:solidFill>
                        <a:schemeClr val="tx1"/>
                      </a:solidFill>
                      <a:prstDash val="solid"/>
                      <a:miter/>
                      <a:headEnd type="none" w="med" len="med"/>
                      <a:tailEnd type="none" w="med" len="med"/>
                    </a:ln>
                  </p:spPr>
                  <p:txBody>
                    <a:bodyPr wrap="none" anchor="ctr" anchorCtr="0"/>
                    <a:p>
                      <a:pPr eaLnBrk="1" hangingPunct="1"/>
                      <a:endParaRPr lang="zh-CN" altLang="en-US" dirty="0">
                        <a:latin typeface="等线" panose="02010600030101010101" pitchFamily="2" charset="-122"/>
                      </a:endParaRPr>
                    </a:p>
                  </p:txBody>
                </p:sp>
                <p:grpSp>
                  <p:nvGrpSpPr>
                    <p:cNvPr id="36913" name="Group 35"/>
                    <p:cNvGrpSpPr/>
                    <p:nvPr/>
                  </p:nvGrpSpPr>
                  <p:grpSpPr>
                    <a:xfrm>
                      <a:off x="1056" y="874"/>
                      <a:ext cx="1728" cy="3362"/>
                      <a:chOff x="1056" y="874"/>
                      <a:chExt cx="1728" cy="3362"/>
                    </a:xfrm>
                  </p:grpSpPr>
                  <p:sp>
                    <p:nvSpPr>
                      <p:cNvPr id="36914" name="Rectangle 36"/>
                      <p:cNvSpPr/>
                      <p:nvPr/>
                    </p:nvSpPr>
                    <p:spPr>
                      <a:xfrm>
                        <a:off x="1056" y="2554"/>
                        <a:ext cx="1728" cy="240"/>
                      </a:xfrm>
                      <a:prstGeom prst="rect">
                        <a:avLst/>
                      </a:prstGeom>
                      <a:noFill/>
                      <a:ln w="28575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p>
                        <a:pPr eaLnBrk="1" hangingPunct="1"/>
                        <a:endParaRPr lang="zh-CN" altLang="en-US" dirty="0">
                          <a:latin typeface="等线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36915" name="Rectangle 37"/>
                      <p:cNvSpPr/>
                      <p:nvPr/>
                    </p:nvSpPr>
                    <p:spPr>
                      <a:xfrm>
                        <a:off x="1056" y="3034"/>
                        <a:ext cx="1728" cy="240"/>
                      </a:xfrm>
                      <a:prstGeom prst="rect">
                        <a:avLst/>
                      </a:prstGeom>
                      <a:noFill/>
                      <a:ln w="28575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p>
                        <a:pPr eaLnBrk="1" hangingPunct="1"/>
                        <a:endParaRPr lang="zh-CN" altLang="en-US" dirty="0">
                          <a:latin typeface="等线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36916" name="Rectangle 38"/>
                      <p:cNvSpPr/>
                      <p:nvPr/>
                    </p:nvSpPr>
                    <p:spPr>
                      <a:xfrm>
                        <a:off x="1056" y="3514"/>
                        <a:ext cx="1728" cy="240"/>
                      </a:xfrm>
                      <a:prstGeom prst="rect">
                        <a:avLst/>
                      </a:prstGeom>
                      <a:noFill/>
                      <a:ln w="28575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p>
                        <a:pPr eaLnBrk="1" hangingPunct="1"/>
                        <a:endParaRPr lang="zh-CN" altLang="en-US" dirty="0">
                          <a:latin typeface="等线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36917" name="Rectangle 39"/>
                      <p:cNvSpPr/>
                      <p:nvPr/>
                    </p:nvSpPr>
                    <p:spPr>
                      <a:xfrm>
                        <a:off x="1056" y="874"/>
                        <a:ext cx="1728" cy="240"/>
                      </a:xfrm>
                      <a:prstGeom prst="rect">
                        <a:avLst/>
                      </a:prstGeom>
                      <a:noFill/>
                      <a:ln w="28575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p>
                        <a:pPr eaLnBrk="1" hangingPunct="1"/>
                        <a:endParaRPr lang="zh-CN" altLang="en-US" dirty="0">
                          <a:latin typeface="等线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36918" name="Rectangle 40"/>
                      <p:cNvSpPr/>
                      <p:nvPr/>
                    </p:nvSpPr>
                    <p:spPr>
                      <a:xfrm>
                        <a:off x="1056" y="1354"/>
                        <a:ext cx="1728" cy="240"/>
                      </a:xfrm>
                      <a:prstGeom prst="rect">
                        <a:avLst/>
                      </a:prstGeom>
                      <a:noFill/>
                      <a:ln w="28575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p>
                        <a:pPr eaLnBrk="1" hangingPunct="1"/>
                        <a:endParaRPr lang="zh-CN" altLang="en-US" dirty="0">
                          <a:latin typeface="等线" panose="02010600030101010101" pitchFamily="2" charset="-122"/>
                        </a:endParaRPr>
                      </a:p>
                    </p:txBody>
                  </p:sp>
                  <p:sp>
                    <p:nvSpPr>
                      <p:cNvPr id="36919" name="Freeform 41"/>
                      <p:cNvSpPr/>
                      <p:nvPr/>
                    </p:nvSpPr>
                    <p:spPr>
                      <a:xfrm>
                        <a:off x="1056" y="1594"/>
                        <a:ext cx="1" cy="956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0" y="0"/>
                          </a:cxn>
                          <a:cxn ang="0">
                            <a:pos x="0" y="956"/>
                          </a:cxn>
                        </a:cxnLst>
                        <a:pathLst>
                          <a:path w="1" h="956">
                            <a:moveTo>
                              <a:pt x="0" y="0"/>
                            </a:moveTo>
                            <a:lnTo>
                              <a:pt x="0" y="956"/>
                            </a:lnTo>
                          </a:path>
                        </a:pathLst>
                      </a:custGeom>
                      <a:noFill/>
                      <a:ln w="28575" cap="flat" cmpd="sng">
                        <a:solidFill>
                          <a:schemeClr val="tx1">
                            <a:alpha val="10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  <p:txBody>
                      <a:bodyPr/>
                      <a:p>
                        <a:endParaRPr lang="zh-CN" altLang="en-US"/>
                      </a:p>
                    </p:txBody>
                  </p:sp>
                  <p:sp>
                    <p:nvSpPr>
                      <p:cNvPr id="36920" name="Freeform 42"/>
                      <p:cNvSpPr/>
                      <p:nvPr/>
                    </p:nvSpPr>
                    <p:spPr>
                      <a:xfrm>
                        <a:off x="2783" y="1594"/>
                        <a:ext cx="1" cy="956"/>
                      </a:xfrm>
                      <a:custGeom>
                        <a:avLst/>
                        <a:gdLst/>
                        <a:ahLst/>
                        <a:cxnLst>
                          <a:cxn ang="0">
                            <a:pos x="0" y="0"/>
                          </a:cxn>
                          <a:cxn ang="0">
                            <a:pos x="0" y="956"/>
                          </a:cxn>
                        </a:cxnLst>
                        <a:pathLst>
                          <a:path w="1" h="956">
                            <a:moveTo>
                              <a:pt x="0" y="0"/>
                            </a:moveTo>
                            <a:lnTo>
                              <a:pt x="0" y="956"/>
                            </a:lnTo>
                          </a:path>
                        </a:pathLst>
                      </a:custGeom>
                      <a:noFill/>
                      <a:ln w="28575" cap="flat" cmpd="sng">
                        <a:solidFill>
                          <a:schemeClr val="tx1">
                            <a:alpha val="100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  <p:txBody>
                      <a:bodyPr/>
                      <a:p>
                        <a:endParaRPr lang="zh-CN" altLang="en-US"/>
                      </a:p>
                    </p:txBody>
                  </p:sp>
                  <p:sp>
                    <p:nvSpPr>
                      <p:cNvPr id="36921" name="Line 43"/>
                      <p:cNvSpPr/>
                      <p:nvPr/>
                    </p:nvSpPr>
                    <p:spPr>
                      <a:xfrm>
                        <a:off x="1056" y="2074"/>
                        <a:ext cx="1728" cy="0"/>
                      </a:xfrm>
                      <a:prstGeom prst="line">
                        <a:avLst/>
                      </a:prstGeom>
                      <a:ln w="28575" cap="flat" cmpd="sng">
                        <a:solidFill>
                          <a:schemeClr val="tx1"/>
                        </a:solidFill>
                        <a:prstDash val="solid"/>
                        <a:headEnd type="none" w="med" len="med"/>
                        <a:tailEnd type="none" w="med" len="med"/>
                      </a:ln>
                    </p:spPr>
                  </p:sp>
                  <p:sp>
                    <p:nvSpPr>
                      <p:cNvPr id="36922" name="Rectangle 44"/>
                      <p:cNvSpPr/>
                      <p:nvPr/>
                    </p:nvSpPr>
                    <p:spPr>
                      <a:xfrm>
                        <a:off x="1056" y="3996"/>
                        <a:ext cx="1728" cy="240"/>
                      </a:xfrm>
                      <a:prstGeom prst="rect">
                        <a:avLst/>
                      </a:prstGeom>
                      <a:noFill/>
                      <a:ln w="28575" cap="flat" cmpd="sng">
                        <a:solidFill>
                          <a:schemeClr val="tx1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  <p:txBody>
                      <a:bodyPr wrap="none" anchor="ctr" anchorCtr="0"/>
                      <a:p>
                        <a:pPr eaLnBrk="1" hangingPunct="1"/>
                        <a:endParaRPr lang="zh-CN" altLang="en-US" dirty="0">
                          <a:latin typeface="等线" panose="02010600030101010101" pitchFamily="2" charset="-122"/>
                        </a:endParaRPr>
                      </a:p>
                    </p:txBody>
                  </p:sp>
                </p:grpSp>
              </p:grpSp>
              <p:sp>
                <p:nvSpPr>
                  <p:cNvPr id="36909" name="Rectangle 45"/>
                  <p:cNvSpPr/>
                  <p:nvPr/>
                </p:nvSpPr>
                <p:spPr>
                  <a:xfrm>
                    <a:off x="1056" y="2794"/>
                    <a:ext cx="1728" cy="240"/>
                  </a:xfrm>
                  <a:prstGeom prst="rect">
                    <a:avLst/>
                  </a:prstGeom>
                  <a:noFill/>
                  <a:ln w="28575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p>
                    <a:pPr eaLnBrk="1" hangingPunct="1"/>
                    <a:endParaRPr lang="zh-CN" altLang="en-US" dirty="0">
                      <a:latin typeface="等线" panose="02010600030101010101" pitchFamily="2" charset="-122"/>
                    </a:endParaRPr>
                  </a:p>
                </p:txBody>
              </p:sp>
              <p:sp>
                <p:nvSpPr>
                  <p:cNvPr id="36910" name="Rectangle 46"/>
                  <p:cNvSpPr/>
                  <p:nvPr/>
                </p:nvSpPr>
                <p:spPr>
                  <a:xfrm>
                    <a:off x="1056" y="1114"/>
                    <a:ext cx="1728" cy="240"/>
                  </a:xfrm>
                  <a:prstGeom prst="rect">
                    <a:avLst/>
                  </a:prstGeom>
                  <a:noFill/>
                  <a:ln w="28575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p>
                    <a:pPr eaLnBrk="1" hangingPunct="1"/>
                    <a:endParaRPr lang="zh-CN" altLang="en-US" dirty="0">
                      <a:latin typeface="等线" panose="02010600030101010101" pitchFamily="2" charset="-122"/>
                    </a:endParaRPr>
                  </a:p>
                </p:txBody>
              </p:sp>
            </p:grpSp>
            <p:sp>
              <p:nvSpPr>
                <p:cNvPr id="36906" name="Line 47"/>
                <p:cNvSpPr/>
                <p:nvPr/>
              </p:nvSpPr>
              <p:spPr>
                <a:xfrm>
                  <a:off x="2400" y="675"/>
                  <a:ext cx="0" cy="72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36907" name="Freeform 48"/>
                <p:cNvSpPr/>
                <p:nvPr/>
              </p:nvSpPr>
              <p:spPr>
                <a:xfrm>
                  <a:off x="2400" y="2352"/>
                  <a:ext cx="1" cy="1452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1452"/>
                    </a:cxn>
                  </a:cxnLst>
                  <a:pathLst>
                    <a:path w="1" h="1452">
                      <a:moveTo>
                        <a:pt x="0" y="0"/>
                      </a:moveTo>
                      <a:lnTo>
                        <a:pt x="0" y="1452"/>
                      </a:lnTo>
                    </a:path>
                  </a:pathLst>
                </a:custGeom>
                <a:noFill/>
                <a:ln w="2857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  <p:sp>
            <p:nvSpPr>
              <p:cNvPr id="36900" name="Line 49"/>
              <p:cNvSpPr/>
              <p:nvPr/>
            </p:nvSpPr>
            <p:spPr>
              <a:xfrm>
                <a:off x="1248" y="1392"/>
                <a:ext cx="1728" cy="0"/>
              </a:xfrm>
              <a:prstGeom prst="line">
                <a:avLst/>
              </a:prstGeom>
              <a:ln w="57150" cap="flat" cmpd="sng">
                <a:solidFill>
                  <a:schemeClr val="folHlink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6901" name="Line 50"/>
              <p:cNvSpPr/>
              <p:nvPr/>
            </p:nvSpPr>
            <p:spPr>
              <a:xfrm>
                <a:off x="1248" y="1872"/>
                <a:ext cx="1728" cy="0"/>
              </a:xfrm>
              <a:prstGeom prst="line">
                <a:avLst/>
              </a:prstGeom>
              <a:ln w="57150" cap="flat" cmpd="sng">
                <a:solidFill>
                  <a:schemeClr val="folHlink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6902" name="Line 51"/>
              <p:cNvSpPr/>
              <p:nvPr/>
            </p:nvSpPr>
            <p:spPr>
              <a:xfrm>
                <a:off x="1248" y="2352"/>
                <a:ext cx="1728" cy="0"/>
              </a:xfrm>
              <a:prstGeom prst="line">
                <a:avLst/>
              </a:prstGeom>
              <a:ln w="57150" cap="flat" cmpd="sng">
                <a:solidFill>
                  <a:schemeClr val="folHlink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6903" name="Line 52"/>
              <p:cNvSpPr/>
              <p:nvPr/>
            </p:nvSpPr>
            <p:spPr>
              <a:xfrm>
                <a:off x="1248" y="3072"/>
                <a:ext cx="1728" cy="0"/>
              </a:xfrm>
              <a:prstGeom prst="line">
                <a:avLst/>
              </a:prstGeom>
              <a:ln w="57150" cap="flat" cmpd="sng">
                <a:solidFill>
                  <a:schemeClr val="folHlink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6904" name="Line 53"/>
              <p:cNvSpPr/>
              <p:nvPr/>
            </p:nvSpPr>
            <p:spPr>
              <a:xfrm>
                <a:off x="1248" y="3792"/>
                <a:ext cx="1728" cy="0"/>
              </a:xfrm>
              <a:prstGeom prst="line">
                <a:avLst/>
              </a:prstGeom>
              <a:ln w="57150" cap="flat" cmpd="sng">
                <a:solidFill>
                  <a:schemeClr val="folHlink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sp>
        <p:nvSpPr>
          <p:cNvPr id="630838" name="Text Box 54"/>
          <p:cNvSpPr txBox="1"/>
          <p:nvPr/>
        </p:nvSpPr>
        <p:spPr>
          <a:xfrm>
            <a:off x="3952875" y="1066800"/>
            <a:ext cx="695325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</a:rPr>
              <a:t>M+1</a:t>
            </a:r>
            <a:endParaRPr lang="en-US" altLang="zh-CN" sz="2000" dirty="0">
              <a:latin typeface="Times New Roman" panose="02020603050405020304" pitchFamily="18" charset="0"/>
            </a:endParaRPr>
          </a:p>
        </p:txBody>
      </p:sp>
      <p:sp>
        <p:nvSpPr>
          <p:cNvPr id="630839" name="Text Box 55"/>
          <p:cNvSpPr txBox="1"/>
          <p:nvPr/>
        </p:nvSpPr>
        <p:spPr>
          <a:xfrm>
            <a:off x="3952875" y="1447800"/>
            <a:ext cx="695325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</a:rPr>
              <a:t>M+2</a:t>
            </a:r>
            <a:endParaRPr lang="en-US" altLang="zh-CN" sz="2000" dirty="0">
              <a:latin typeface="Times New Roman" panose="02020603050405020304" pitchFamily="18" charset="0"/>
            </a:endParaRPr>
          </a:p>
        </p:txBody>
      </p:sp>
      <p:sp>
        <p:nvSpPr>
          <p:cNvPr id="630840" name="Text Box 56"/>
          <p:cNvSpPr txBox="1"/>
          <p:nvPr/>
        </p:nvSpPr>
        <p:spPr>
          <a:xfrm>
            <a:off x="3952875" y="3733800"/>
            <a:ext cx="611188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</a:rPr>
              <a:t>P+1</a:t>
            </a:r>
            <a:endParaRPr lang="en-US" altLang="zh-CN" sz="2000" dirty="0">
              <a:latin typeface="Times New Roman" panose="02020603050405020304" pitchFamily="18" charset="0"/>
            </a:endParaRPr>
          </a:p>
        </p:txBody>
      </p:sp>
      <p:sp>
        <p:nvSpPr>
          <p:cNvPr id="630841" name="Text Box 57"/>
          <p:cNvSpPr txBox="1"/>
          <p:nvPr/>
        </p:nvSpPr>
        <p:spPr>
          <a:xfrm>
            <a:off x="3952875" y="4098925"/>
            <a:ext cx="611188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</a:rPr>
              <a:t>P+2</a:t>
            </a:r>
            <a:endParaRPr lang="en-US" altLang="zh-CN" sz="2000" dirty="0">
              <a:latin typeface="Times New Roman" panose="02020603050405020304" pitchFamily="18" charset="0"/>
            </a:endParaRPr>
          </a:p>
        </p:txBody>
      </p:sp>
      <p:sp>
        <p:nvSpPr>
          <p:cNvPr id="630842" name="Text Box 58"/>
          <p:cNvSpPr txBox="1"/>
          <p:nvPr/>
        </p:nvSpPr>
        <p:spPr>
          <a:xfrm>
            <a:off x="3952875" y="4860925"/>
            <a:ext cx="652463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</a:rPr>
              <a:t>K+1</a:t>
            </a:r>
            <a:endParaRPr lang="en-US" altLang="zh-CN" sz="2000" dirty="0">
              <a:latin typeface="Times New Roman" panose="02020603050405020304" pitchFamily="18" charset="0"/>
            </a:endParaRPr>
          </a:p>
        </p:txBody>
      </p:sp>
      <p:sp>
        <p:nvSpPr>
          <p:cNvPr id="630843" name="Text Box 59"/>
          <p:cNvSpPr txBox="1"/>
          <p:nvPr/>
        </p:nvSpPr>
        <p:spPr>
          <a:xfrm>
            <a:off x="3952875" y="5241925"/>
            <a:ext cx="652463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</a:rPr>
              <a:t>K+2</a:t>
            </a:r>
            <a:endParaRPr lang="en-US" altLang="zh-CN" sz="2000" dirty="0">
              <a:latin typeface="Times New Roman" panose="02020603050405020304" pitchFamily="18" charset="0"/>
            </a:endParaRPr>
          </a:p>
        </p:txBody>
      </p:sp>
      <p:sp>
        <p:nvSpPr>
          <p:cNvPr id="630844" name="Text Box 60"/>
          <p:cNvSpPr txBox="1"/>
          <p:nvPr/>
        </p:nvSpPr>
        <p:spPr>
          <a:xfrm>
            <a:off x="4071938" y="4495800"/>
            <a:ext cx="423862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</a:rPr>
              <a:t>M</a:t>
            </a:r>
            <a:endParaRPr lang="en-US" altLang="zh-CN" sz="2000" dirty="0">
              <a:latin typeface="Times New Roman" panose="02020603050405020304" pitchFamily="18" charset="0"/>
            </a:endParaRPr>
          </a:p>
        </p:txBody>
      </p:sp>
      <p:sp>
        <p:nvSpPr>
          <p:cNvPr id="630845" name="Text Box 61"/>
          <p:cNvSpPr txBox="1"/>
          <p:nvPr/>
        </p:nvSpPr>
        <p:spPr>
          <a:xfrm>
            <a:off x="4038600" y="5622925"/>
            <a:ext cx="423863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</a:rPr>
              <a:t>M</a:t>
            </a:r>
            <a:endParaRPr lang="en-US" altLang="zh-CN" sz="2000" dirty="0">
              <a:latin typeface="Times New Roman" panose="02020603050405020304" pitchFamily="18" charset="0"/>
            </a:endParaRPr>
          </a:p>
        </p:txBody>
      </p:sp>
      <p:sp>
        <p:nvSpPr>
          <p:cNvPr id="630846" name="Text Box 62"/>
          <p:cNvSpPr txBox="1"/>
          <p:nvPr/>
        </p:nvSpPr>
        <p:spPr>
          <a:xfrm>
            <a:off x="1981200" y="2590800"/>
            <a:ext cx="2743200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1" hangingPunct="1"/>
            <a:r>
              <a:rPr lang="zh-CN" altLang="en-US" dirty="0">
                <a:latin typeface="Times New Roman" panose="02020603050405020304" pitchFamily="18" charset="0"/>
              </a:rPr>
              <a:t>转执行周期微程序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30847" name="Text Box 63"/>
          <p:cNvSpPr txBox="1"/>
          <p:nvPr/>
        </p:nvSpPr>
        <p:spPr>
          <a:xfrm>
            <a:off x="3092450" y="2286000"/>
            <a:ext cx="488950" cy="346075"/>
          </a:xfrm>
          <a:prstGeom prst="rect">
            <a:avLst/>
          </a:prstGeom>
          <a:noFill/>
          <a:ln w="9525">
            <a:noFill/>
          </a:ln>
        </p:spPr>
        <p:txBody>
          <a:bodyPr vert="eaVert" wrap="none">
            <a:spAutoFit/>
          </a:bodyPr>
          <a:p>
            <a:pPr eaLnBrk="1" hangingPunct="1"/>
            <a:r>
              <a:rPr lang="zh-CN" altLang="en-US" sz="2000" dirty="0">
                <a:latin typeface="Times New Roman" panose="02020603050405020304" pitchFamily="18" charset="0"/>
              </a:rPr>
              <a:t>…</a:t>
            </a:r>
            <a:endParaRPr lang="zh-CN" altLang="en-US" sz="2000" dirty="0">
              <a:latin typeface="Times New Roman" panose="02020603050405020304" pitchFamily="18" charset="0"/>
            </a:endParaRPr>
          </a:p>
        </p:txBody>
      </p:sp>
      <p:sp>
        <p:nvSpPr>
          <p:cNvPr id="630848" name="Text Box 64"/>
          <p:cNvSpPr txBox="1"/>
          <p:nvPr/>
        </p:nvSpPr>
        <p:spPr>
          <a:xfrm>
            <a:off x="1981200" y="3352800"/>
            <a:ext cx="2743200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1" hangingPunct="1"/>
            <a:r>
              <a:rPr lang="zh-CN" altLang="en-US" dirty="0">
                <a:latin typeface="Times New Roman" panose="02020603050405020304" pitchFamily="18" charset="0"/>
              </a:rPr>
              <a:t>转取指周期微程序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30849" name="Text Box 65"/>
          <p:cNvSpPr txBox="1"/>
          <p:nvPr/>
        </p:nvSpPr>
        <p:spPr>
          <a:xfrm>
            <a:off x="3092450" y="3048000"/>
            <a:ext cx="488950" cy="346075"/>
          </a:xfrm>
          <a:prstGeom prst="rect">
            <a:avLst/>
          </a:prstGeom>
          <a:noFill/>
          <a:ln w="9525">
            <a:noFill/>
          </a:ln>
        </p:spPr>
        <p:txBody>
          <a:bodyPr vert="eaVert" wrap="none">
            <a:spAutoFit/>
          </a:bodyPr>
          <a:p>
            <a:pPr eaLnBrk="1" hangingPunct="1"/>
            <a:r>
              <a:rPr lang="zh-CN" altLang="en-US" sz="2000" dirty="0">
                <a:latin typeface="Times New Roman" panose="02020603050405020304" pitchFamily="18" charset="0"/>
              </a:rPr>
              <a:t>…</a:t>
            </a:r>
            <a:endParaRPr lang="zh-CN" altLang="en-US" sz="2000" dirty="0">
              <a:latin typeface="Times New Roman" panose="02020603050405020304" pitchFamily="18" charset="0"/>
            </a:endParaRPr>
          </a:p>
        </p:txBody>
      </p:sp>
      <p:sp>
        <p:nvSpPr>
          <p:cNvPr id="630850" name="Rectangle 66"/>
          <p:cNvSpPr>
            <a:spLocks noChangeArrowheads="1"/>
          </p:cNvSpPr>
          <p:nvPr/>
        </p:nvSpPr>
        <p:spPr bwMode="auto">
          <a:xfrm>
            <a:off x="7696200" y="152400"/>
            <a:ext cx="1447800" cy="838200"/>
          </a:xfrm>
          <a:prstGeom prst="rect">
            <a:avLst/>
          </a:prstGeom>
          <a:noFill/>
          <a:ln>
            <a:noFill/>
          </a:ln>
          <a:effectLst/>
        </p:spPr>
        <p:txBody>
          <a:bodyPr lIns="92075" tIns="46038" rIns="92075" bIns="46038" anchor="ctr"/>
          <a:lstStyle>
            <a:lvl1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10.2</a:t>
            </a:r>
            <a:endParaRPr kumimoji="1" lang="zh-CN" altLang="en-US" sz="4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0851" name="Text Box 67"/>
          <p:cNvSpPr txBox="1"/>
          <p:nvPr/>
        </p:nvSpPr>
        <p:spPr>
          <a:xfrm>
            <a:off x="3786188" y="1814513"/>
            <a:ext cx="946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000" dirty="0">
                <a:latin typeface="Times New Roman" panose="02020603050405020304" pitchFamily="18" charset="0"/>
              </a:rPr>
              <a:t>×</a:t>
            </a:r>
            <a:r>
              <a:rPr lang="en-US" altLang="zh-CN" sz="2000" dirty="0">
                <a:latin typeface="Times New Roman" panose="02020603050405020304" pitchFamily="18" charset="0"/>
              </a:rPr>
              <a:t>××</a:t>
            </a:r>
            <a:endParaRPr lang="en-US" altLang="zh-CN" sz="2000" dirty="0">
              <a:latin typeface="Times New Roman" panose="02020603050405020304" pitchFamily="18" charset="0"/>
            </a:endParaRPr>
          </a:p>
        </p:txBody>
      </p:sp>
      <p:sp>
        <p:nvSpPr>
          <p:cNvPr id="36882" name="AutoShape 68">
            <a:hlinkClick r:id="rId1" action="ppaction://hlinksldjump"/>
          </p:cNvPr>
          <p:cNvSpPr/>
          <p:nvPr/>
        </p:nvSpPr>
        <p:spPr>
          <a:xfrm>
            <a:off x="8589963" y="6516688"/>
            <a:ext cx="539750" cy="333375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endParaRPr lang="zh-CN" altLang="en-US" dirty="0">
              <a:latin typeface="等线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630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30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308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30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308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308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630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630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630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630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630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630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630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630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0838" grpId="0"/>
      <p:bldP spid="630839" grpId="0"/>
      <p:bldP spid="630840" grpId="0"/>
      <p:bldP spid="630841" grpId="0"/>
      <p:bldP spid="630842" grpId="0"/>
      <p:bldP spid="630843" grpId="0"/>
      <p:bldP spid="630844" grpId="0"/>
      <p:bldP spid="630845" grpId="0"/>
      <p:bldP spid="630846" grpId="0"/>
      <p:bldP spid="630847" grpId="0"/>
      <p:bldP spid="630848" grpId="0"/>
      <p:bldP spid="630849" grpId="0"/>
      <p:bldP spid="630851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7890" name="Text Box 2"/>
          <p:cNvSpPr txBox="1"/>
          <p:nvPr/>
        </p:nvSpPr>
        <p:spPr>
          <a:xfrm>
            <a:off x="469900" y="273050"/>
            <a:ext cx="2476500" cy="6413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3600" dirty="0">
                <a:latin typeface="Times New Roman" panose="02020603050405020304" pitchFamily="18" charset="0"/>
              </a:rPr>
              <a:t>3. 工作原理</a:t>
            </a:r>
            <a:endParaRPr lang="zh-CN" altLang="en-US" sz="3600" dirty="0">
              <a:latin typeface="Times New Roman" panose="02020603050405020304" pitchFamily="18" charset="0"/>
            </a:endParaRPr>
          </a:p>
        </p:txBody>
      </p:sp>
      <p:grpSp>
        <p:nvGrpSpPr>
          <p:cNvPr id="631811" name="Group 3"/>
          <p:cNvGrpSpPr/>
          <p:nvPr/>
        </p:nvGrpSpPr>
        <p:grpSpPr>
          <a:xfrm>
            <a:off x="685800" y="1203325"/>
            <a:ext cx="2209800" cy="5273675"/>
            <a:chOff x="432" y="758"/>
            <a:chExt cx="1392" cy="3322"/>
          </a:xfrm>
        </p:grpSpPr>
        <p:sp>
          <p:nvSpPr>
            <p:cNvPr id="37955" name="Rectangle 4"/>
            <p:cNvSpPr/>
            <p:nvPr/>
          </p:nvSpPr>
          <p:spPr>
            <a:xfrm>
              <a:off x="720" y="1008"/>
              <a:ext cx="1104" cy="3072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37956" name="Text Box 5"/>
            <p:cNvSpPr txBox="1"/>
            <p:nvPr/>
          </p:nvSpPr>
          <p:spPr>
            <a:xfrm>
              <a:off x="816" y="1968"/>
              <a:ext cx="771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LDA</a:t>
              </a:r>
              <a:r>
                <a:rPr lang="en-US" altLang="zh-CN" sz="2000" dirty="0">
                  <a:latin typeface="Times New Roman" panose="02020603050405020304" pitchFamily="18" charset="0"/>
                </a:rPr>
                <a:t>     X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37957" name="Text Box 6"/>
            <p:cNvSpPr txBox="1"/>
            <p:nvPr/>
          </p:nvSpPr>
          <p:spPr>
            <a:xfrm>
              <a:off x="816" y="2205"/>
              <a:ext cx="78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ADD</a:t>
              </a:r>
              <a:r>
                <a:rPr lang="en-US" altLang="zh-CN" sz="2000" dirty="0">
                  <a:latin typeface="Times New Roman" panose="02020603050405020304" pitchFamily="18" charset="0"/>
                </a:rPr>
                <a:t>     Y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37958" name="Text Box 7"/>
            <p:cNvSpPr txBox="1"/>
            <p:nvPr/>
          </p:nvSpPr>
          <p:spPr>
            <a:xfrm>
              <a:off x="816" y="2442"/>
              <a:ext cx="775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STA</a:t>
              </a:r>
              <a:r>
                <a:rPr lang="en-US" altLang="zh-CN" sz="2000" dirty="0">
                  <a:latin typeface="Times New Roman" panose="02020603050405020304" pitchFamily="18" charset="0"/>
                </a:rPr>
                <a:t>      Z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37959" name="Text Box 8"/>
            <p:cNvSpPr txBox="1"/>
            <p:nvPr/>
          </p:nvSpPr>
          <p:spPr>
            <a:xfrm>
              <a:off x="998" y="758"/>
              <a:ext cx="43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主存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37960" name="Text Box 9"/>
            <p:cNvSpPr txBox="1"/>
            <p:nvPr/>
          </p:nvSpPr>
          <p:spPr>
            <a:xfrm>
              <a:off x="816" y="2678"/>
              <a:ext cx="41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STP</a:t>
              </a:r>
              <a:endParaRPr lang="en-US" altLang="zh-CN" sz="2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7961" name="Text Box 10"/>
            <p:cNvSpPr txBox="1"/>
            <p:nvPr/>
          </p:nvSpPr>
          <p:spPr>
            <a:xfrm>
              <a:off x="432" y="2082"/>
              <a:ext cx="308" cy="702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用户程序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631819" name="Rectangle 11"/>
          <p:cNvSpPr>
            <a:spLocks noChangeArrowheads="1"/>
          </p:cNvSpPr>
          <p:nvPr/>
        </p:nvSpPr>
        <p:spPr bwMode="auto">
          <a:xfrm>
            <a:off x="7696200" y="152400"/>
            <a:ext cx="1447800" cy="838200"/>
          </a:xfrm>
          <a:prstGeom prst="rect">
            <a:avLst/>
          </a:prstGeom>
          <a:noFill/>
          <a:ln>
            <a:noFill/>
          </a:ln>
          <a:effectLst/>
        </p:spPr>
        <p:txBody>
          <a:bodyPr lIns="92075" tIns="46038" rIns="92075" bIns="46038" anchor="ctr"/>
          <a:lstStyle>
            <a:lvl1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10.2</a:t>
            </a:r>
            <a:endParaRPr kumimoji="1" lang="zh-CN" altLang="en-US" sz="4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631820" name="Group 12"/>
          <p:cNvGrpSpPr/>
          <p:nvPr/>
        </p:nvGrpSpPr>
        <p:grpSpPr>
          <a:xfrm>
            <a:off x="3657600" y="288925"/>
            <a:ext cx="5437188" cy="6350000"/>
            <a:chOff x="2304" y="182"/>
            <a:chExt cx="3425" cy="4000"/>
          </a:xfrm>
        </p:grpSpPr>
        <p:grpSp>
          <p:nvGrpSpPr>
            <p:cNvPr id="37895" name="Group 13"/>
            <p:cNvGrpSpPr/>
            <p:nvPr/>
          </p:nvGrpSpPr>
          <p:grpSpPr>
            <a:xfrm>
              <a:off x="2304" y="182"/>
              <a:ext cx="3425" cy="4000"/>
              <a:chOff x="2304" y="182"/>
              <a:chExt cx="3425" cy="4000"/>
            </a:xfrm>
          </p:grpSpPr>
          <p:sp>
            <p:nvSpPr>
              <p:cNvPr id="37897" name="Text Box 14"/>
              <p:cNvSpPr txBox="1"/>
              <p:nvPr/>
            </p:nvSpPr>
            <p:spPr>
              <a:xfrm>
                <a:off x="3354" y="182"/>
                <a:ext cx="436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zh-CN" altLang="en-US" sz="2000" dirty="0">
                    <a:latin typeface="Times New Roman" panose="02020603050405020304" pitchFamily="18" charset="0"/>
                  </a:rPr>
                  <a:t>控存</a:t>
                </a:r>
                <a:endParaRPr lang="zh-CN" altLang="en-US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7898" name="Text Box 15"/>
              <p:cNvSpPr txBox="1"/>
              <p:nvPr/>
            </p:nvSpPr>
            <p:spPr>
              <a:xfrm>
                <a:off x="2304" y="646"/>
                <a:ext cx="438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sz="2000" dirty="0">
                    <a:latin typeface="Times New Roman" panose="02020603050405020304" pitchFamily="18" charset="0"/>
                  </a:rPr>
                  <a:t>M+1</a:t>
                </a:r>
                <a:endParaRPr lang="en-US" altLang="zh-CN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7899" name="Text Box 16"/>
              <p:cNvSpPr txBox="1"/>
              <p:nvPr/>
            </p:nvSpPr>
            <p:spPr>
              <a:xfrm>
                <a:off x="2394" y="424"/>
                <a:ext cx="267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sz="2000" dirty="0">
                    <a:latin typeface="Times New Roman" panose="02020603050405020304" pitchFamily="18" charset="0"/>
                  </a:rPr>
                  <a:t>M</a:t>
                </a:r>
                <a:endParaRPr lang="en-US" altLang="zh-CN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7900" name="Text Box 17"/>
              <p:cNvSpPr txBox="1"/>
              <p:nvPr/>
            </p:nvSpPr>
            <p:spPr>
              <a:xfrm>
                <a:off x="2304" y="867"/>
                <a:ext cx="438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sz="2000" dirty="0">
                    <a:latin typeface="Times New Roman" panose="02020603050405020304" pitchFamily="18" charset="0"/>
                  </a:rPr>
                  <a:t>M+2</a:t>
                </a:r>
                <a:endParaRPr lang="en-US" altLang="zh-CN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7901" name="Text Box 18"/>
              <p:cNvSpPr txBox="1"/>
              <p:nvPr/>
            </p:nvSpPr>
            <p:spPr>
              <a:xfrm>
                <a:off x="2304" y="1630"/>
                <a:ext cx="385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sz="2000" dirty="0">
                    <a:latin typeface="Times New Roman" panose="02020603050405020304" pitchFamily="18" charset="0"/>
                  </a:rPr>
                  <a:t>P+1</a:t>
                </a:r>
                <a:endParaRPr lang="en-US" altLang="zh-CN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7902" name="Text Box 19"/>
              <p:cNvSpPr txBox="1"/>
              <p:nvPr/>
            </p:nvSpPr>
            <p:spPr>
              <a:xfrm>
                <a:off x="2383" y="2382"/>
                <a:ext cx="240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sz="2000" dirty="0">
                    <a:latin typeface="Times New Roman" panose="02020603050405020304" pitchFamily="18" charset="0"/>
                  </a:rPr>
                  <a:t>Q</a:t>
                </a:r>
                <a:endParaRPr lang="en-US" altLang="zh-CN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7903" name="Text Box 20"/>
              <p:cNvSpPr txBox="1"/>
              <p:nvPr/>
            </p:nvSpPr>
            <p:spPr>
              <a:xfrm>
                <a:off x="2304" y="2826"/>
                <a:ext cx="411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sz="2000" dirty="0">
                    <a:latin typeface="Times New Roman" panose="02020603050405020304" pitchFamily="18" charset="0"/>
                  </a:rPr>
                  <a:t>Q+2</a:t>
                </a:r>
                <a:endParaRPr lang="en-US" altLang="zh-CN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7904" name="Text Box 21"/>
              <p:cNvSpPr txBox="1"/>
              <p:nvPr/>
            </p:nvSpPr>
            <p:spPr>
              <a:xfrm>
                <a:off x="2399" y="1409"/>
                <a:ext cx="214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sz="2000" dirty="0">
                    <a:latin typeface="Times New Roman" panose="02020603050405020304" pitchFamily="18" charset="0"/>
                  </a:rPr>
                  <a:t>P</a:t>
                </a:r>
                <a:endParaRPr lang="en-US" altLang="zh-CN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7905" name="Text Box 22"/>
              <p:cNvSpPr txBox="1"/>
              <p:nvPr/>
            </p:nvSpPr>
            <p:spPr>
              <a:xfrm>
                <a:off x="2304" y="1843"/>
                <a:ext cx="385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sz="2000" dirty="0">
                    <a:latin typeface="Times New Roman" panose="02020603050405020304" pitchFamily="18" charset="0"/>
                  </a:rPr>
                  <a:t>P+2</a:t>
                </a:r>
                <a:endParaRPr lang="en-US" altLang="zh-CN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7906" name="Text Box 23"/>
              <p:cNvSpPr txBox="1"/>
              <p:nvPr/>
            </p:nvSpPr>
            <p:spPr>
              <a:xfrm>
                <a:off x="2304" y="2604"/>
                <a:ext cx="411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sz="2000" dirty="0">
                    <a:latin typeface="Times New Roman" panose="02020603050405020304" pitchFamily="18" charset="0"/>
                  </a:rPr>
                  <a:t>Q+1</a:t>
                </a:r>
                <a:endParaRPr lang="en-US" altLang="zh-CN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7907" name="Text Box 24"/>
              <p:cNvSpPr txBox="1"/>
              <p:nvPr/>
            </p:nvSpPr>
            <p:spPr>
              <a:xfrm>
                <a:off x="3552" y="3070"/>
                <a:ext cx="308" cy="21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vert="eaVert" wrap="none">
                <a:spAutoFit/>
              </a:bodyPr>
              <a:p>
                <a:pPr eaLnBrk="1" hangingPunct="1"/>
                <a:r>
                  <a:rPr lang="zh-CN" altLang="en-US" sz="2000" dirty="0">
                    <a:latin typeface="Times New Roman" panose="02020603050405020304" pitchFamily="18" charset="0"/>
                  </a:rPr>
                  <a:t>…</a:t>
                </a:r>
                <a:endParaRPr lang="zh-CN" altLang="en-US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7908" name="AutoShape 25"/>
              <p:cNvSpPr/>
              <p:nvPr/>
            </p:nvSpPr>
            <p:spPr>
              <a:xfrm>
                <a:off x="4608" y="463"/>
                <a:ext cx="96" cy="621"/>
              </a:xfrm>
              <a:prstGeom prst="rightBrace">
                <a:avLst>
                  <a:gd name="adj1" fmla="val 53906"/>
                  <a:gd name="adj2" fmla="val 50000"/>
                </a:avLst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等线" panose="02010600030101010101" pitchFamily="2" charset="-122"/>
                </a:endParaRPr>
              </a:p>
            </p:txBody>
          </p:sp>
          <p:sp>
            <p:nvSpPr>
              <p:cNvPr id="37909" name="Text Box 26"/>
              <p:cNvSpPr txBox="1"/>
              <p:nvPr/>
            </p:nvSpPr>
            <p:spPr>
              <a:xfrm>
                <a:off x="4705" y="636"/>
                <a:ext cx="756" cy="44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zh-CN" altLang="en-US" sz="2000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取指周期</a:t>
                </a:r>
                <a:endParaRPr lang="zh-CN" altLang="en-US" sz="2000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  <a:p>
                <a:pPr eaLnBrk="1" hangingPunct="1"/>
                <a:r>
                  <a:rPr lang="zh-CN" altLang="en-US" sz="2000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 </a:t>
                </a:r>
                <a:r>
                  <a:rPr lang="zh-CN" altLang="en-US" sz="2000" dirty="0">
                    <a:latin typeface="Times New Roman" panose="02020603050405020304" pitchFamily="18" charset="0"/>
                  </a:rPr>
                  <a:t>微程序</a:t>
                </a:r>
                <a:endParaRPr lang="zh-CN" altLang="en-US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7910" name="AutoShape 27"/>
              <p:cNvSpPr/>
              <p:nvPr/>
            </p:nvSpPr>
            <p:spPr>
              <a:xfrm>
                <a:off x="4608" y="1444"/>
                <a:ext cx="96" cy="621"/>
              </a:xfrm>
              <a:prstGeom prst="rightBrace">
                <a:avLst>
                  <a:gd name="adj1" fmla="val 53906"/>
                  <a:gd name="adj2" fmla="val 50000"/>
                </a:avLst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等线" panose="02010600030101010101" pitchFamily="2" charset="-122"/>
                </a:endParaRPr>
              </a:p>
            </p:txBody>
          </p:sp>
          <p:sp>
            <p:nvSpPr>
              <p:cNvPr id="37911" name="Text Box 28"/>
              <p:cNvSpPr txBox="1"/>
              <p:nvPr/>
            </p:nvSpPr>
            <p:spPr>
              <a:xfrm>
                <a:off x="4705" y="1666"/>
                <a:ext cx="1015" cy="44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zh-CN" altLang="en-US" sz="2000" dirty="0">
                    <a:latin typeface="Times New Roman" panose="02020603050405020304" pitchFamily="18" charset="0"/>
                  </a:rPr>
                  <a:t>对应</a:t>
                </a:r>
                <a:r>
                  <a:rPr lang="zh-CN" altLang="en-US" sz="2000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 </a:t>
                </a:r>
                <a:r>
                  <a:rPr lang="en-US" altLang="zh-CN" sz="2000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LDA </a:t>
                </a:r>
                <a:r>
                  <a:rPr lang="zh-CN" altLang="en-US" sz="2000" dirty="0">
                    <a:latin typeface="Times New Roman" panose="02020603050405020304" pitchFamily="18" charset="0"/>
                  </a:rPr>
                  <a:t>操</a:t>
                </a:r>
                <a:endParaRPr lang="zh-CN" altLang="en-US" sz="2000" dirty="0">
                  <a:latin typeface="Times New Roman" panose="02020603050405020304" pitchFamily="18" charset="0"/>
                </a:endParaRPr>
              </a:p>
              <a:p>
                <a:pPr eaLnBrk="1" hangingPunct="1"/>
                <a:r>
                  <a:rPr lang="zh-CN" altLang="en-US" sz="2000" dirty="0">
                    <a:latin typeface="Times New Roman" panose="02020603050405020304" pitchFamily="18" charset="0"/>
                  </a:rPr>
                  <a:t>作的微程序</a:t>
                </a:r>
                <a:endParaRPr lang="zh-CN" altLang="en-US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7912" name="AutoShape 29"/>
              <p:cNvSpPr/>
              <p:nvPr/>
            </p:nvSpPr>
            <p:spPr>
              <a:xfrm>
                <a:off x="4608" y="2405"/>
                <a:ext cx="96" cy="620"/>
              </a:xfrm>
              <a:prstGeom prst="rightBrace">
                <a:avLst>
                  <a:gd name="adj1" fmla="val 53819"/>
                  <a:gd name="adj2" fmla="val 50000"/>
                </a:avLst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等线" panose="02010600030101010101" pitchFamily="2" charset="-122"/>
                </a:endParaRPr>
              </a:p>
            </p:txBody>
          </p:sp>
          <p:sp>
            <p:nvSpPr>
              <p:cNvPr id="37913" name="Text Box 30"/>
              <p:cNvSpPr txBox="1"/>
              <p:nvPr/>
            </p:nvSpPr>
            <p:spPr>
              <a:xfrm>
                <a:off x="4705" y="2552"/>
                <a:ext cx="1024" cy="44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zh-CN" altLang="en-US" sz="2000" dirty="0">
                    <a:latin typeface="Times New Roman" panose="02020603050405020304" pitchFamily="18" charset="0"/>
                  </a:rPr>
                  <a:t>对应 </a:t>
                </a:r>
                <a:r>
                  <a:rPr lang="en-US" altLang="zh-CN" sz="2000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ADD</a:t>
                </a:r>
                <a:r>
                  <a:rPr lang="en-US" altLang="zh-CN" sz="2000" dirty="0">
                    <a:latin typeface="Times New Roman" panose="02020603050405020304" pitchFamily="18" charset="0"/>
                  </a:rPr>
                  <a:t> </a:t>
                </a:r>
                <a:r>
                  <a:rPr lang="zh-CN" altLang="en-US" sz="2000" dirty="0">
                    <a:latin typeface="Times New Roman" panose="02020603050405020304" pitchFamily="18" charset="0"/>
                  </a:rPr>
                  <a:t>操</a:t>
                </a:r>
                <a:endParaRPr lang="zh-CN" altLang="en-US" sz="2000" dirty="0">
                  <a:latin typeface="Times New Roman" panose="02020603050405020304" pitchFamily="18" charset="0"/>
                </a:endParaRPr>
              </a:p>
              <a:p>
                <a:pPr eaLnBrk="1" hangingPunct="1"/>
                <a:r>
                  <a:rPr lang="zh-CN" altLang="en-US" sz="2000" dirty="0">
                    <a:latin typeface="Times New Roman" panose="02020603050405020304" pitchFamily="18" charset="0"/>
                  </a:rPr>
                  <a:t>作的微程序</a:t>
                </a:r>
                <a:endParaRPr lang="zh-CN" altLang="en-US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7914" name="Rectangle 31"/>
              <p:cNvSpPr/>
              <p:nvPr/>
            </p:nvSpPr>
            <p:spPr>
              <a:xfrm>
                <a:off x="2832" y="2394"/>
                <a:ext cx="1728" cy="221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等线" panose="02010600030101010101" pitchFamily="2" charset="-122"/>
                </a:endParaRPr>
              </a:p>
            </p:txBody>
          </p:sp>
          <p:sp>
            <p:nvSpPr>
              <p:cNvPr id="37915" name="Rectangle 32"/>
              <p:cNvSpPr/>
              <p:nvPr/>
            </p:nvSpPr>
            <p:spPr>
              <a:xfrm>
                <a:off x="2832" y="2837"/>
                <a:ext cx="1728" cy="222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等线" panose="02010600030101010101" pitchFamily="2" charset="-122"/>
                </a:endParaRPr>
              </a:p>
            </p:txBody>
          </p:sp>
          <p:sp>
            <p:nvSpPr>
              <p:cNvPr id="37916" name="Rectangle 33"/>
              <p:cNvSpPr/>
              <p:nvPr/>
            </p:nvSpPr>
            <p:spPr>
              <a:xfrm>
                <a:off x="2832" y="1409"/>
                <a:ext cx="1728" cy="221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等线" panose="02010600030101010101" pitchFamily="2" charset="-122"/>
                </a:endParaRPr>
              </a:p>
            </p:txBody>
          </p:sp>
          <p:sp>
            <p:nvSpPr>
              <p:cNvPr id="37917" name="Rectangle 34"/>
              <p:cNvSpPr/>
              <p:nvPr/>
            </p:nvSpPr>
            <p:spPr>
              <a:xfrm>
                <a:off x="2832" y="1852"/>
                <a:ext cx="1728" cy="222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等线" panose="02010600030101010101" pitchFamily="2" charset="-122"/>
                </a:endParaRPr>
              </a:p>
            </p:txBody>
          </p:sp>
          <p:sp>
            <p:nvSpPr>
              <p:cNvPr id="37918" name="Rectangle 35"/>
              <p:cNvSpPr/>
              <p:nvPr/>
            </p:nvSpPr>
            <p:spPr>
              <a:xfrm>
                <a:off x="2832" y="2615"/>
                <a:ext cx="1728" cy="222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等线" panose="02010600030101010101" pitchFamily="2" charset="-122"/>
                </a:endParaRPr>
              </a:p>
            </p:txBody>
          </p:sp>
          <p:sp>
            <p:nvSpPr>
              <p:cNvPr id="37919" name="Rectangle 36"/>
              <p:cNvSpPr/>
              <p:nvPr/>
            </p:nvSpPr>
            <p:spPr>
              <a:xfrm>
                <a:off x="2832" y="433"/>
                <a:ext cx="1728" cy="222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等线" panose="02010600030101010101" pitchFamily="2" charset="-122"/>
                </a:endParaRPr>
              </a:p>
            </p:txBody>
          </p:sp>
          <p:sp>
            <p:nvSpPr>
              <p:cNvPr id="37920" name="Rectangle 37"/>
              <p:cNvSpPr/>
              <p:nvPr/>
            </p:nvSpPr>
            <p:spPr>
              <a:xfrm>
                <a:off x="2832" y="877"/>
                <a:ext cx="1728" cy="221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等线" panose="02010600030101010101" pitchFamily="2" charset="-122"/>
                </a:endParaRPr>
              </a:p>
            </p:txBody>
          </p:sp>
          <p:sp>
            <p:nvSpPr>
              <p:cNvPr id="37921" name="Freeform 38"/>
              <p:cNvSpPr/>
              <p:nvPr/>
            </p:nvSpPr>
            <p:spPr>
              <a:xfrm>
                <a:off x="2832" y="1098"/>
                <a:ext cx="1" cy="88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596"/>
                  </a:cxn>
                </a:cxnLst>
                <a:pathLst>
                  <a:path w="1" h="956">
                    <a:moveTo>
                      <a:pt x="0" y="0"/>
                    </a:moveTo>
                    <a:lnTo>
                      <a:pt x="0" y="956"/>
                    </a:lnTo>
                  </a:path>
                </a:pathLst>
              </a:custGeom>
              <a:noFill/>
              <a:ln w="2857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7922" name="Freeform 39"/>
              <p:cNvSpPr/>
              <p:nvPr/>
            </p:nvSpPr>
            <p:spPr>
              <a:xfrm>
                <a:off x="4559" y="1098"/>
                <a:ext cx="1" cy="88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596"/>
                  </a:cxn>
                </a:cxnLst>
                <a:pathLst>
                  <a:path w="1" h="956">
                    <a:moveTo>
                      <a:pt x="0" y="0"/>
                    </a:moveTo>
                    <a:lnTo>
                      <a:pt x="0" y="956"/>
                    </a:lnTo>
                  </a:path>
                </a:pathLst>
              </a:custGeom>
              <a:noFill/>
              <a:ln w="2857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37923" name="Rectangle 40"/>
              <p:cNvSpPr/>
              <p:nvPr/>
            </p:nvSpPr>
            <p:spPr>
              <a:xfrm>
                <a:off x="2832" y="3061"/>
                <a:ext cx="1728" cy="221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等线" panose="02010600030101010101" pitchFamily="2" charset="-122"/>
                </a:endParaRPr>
              </a:p>
            </p:txBody>
          </p:sp>
          <p:sp>
            <p:nvSpPr>
              <p:cNvPr id="37924" name="Rectangle 41"/>
              <p:cNvSpPr/>
              <p:nvPr/>
            </p:nvSpPr>
            <p:spPr>
              <a:xfrm>
                <a:off x="2832" y="1630"/>
                <a:ext cx="1728" cy="222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等线" panose="02010600030101010101" pitchFamily="2" charset="-122"/>
                </a:endParaRPr>
              </a:p>
            </p:txBody>
          </p:sp>
          <p:sp>
            <p:nvSpPr>
              <p:cNvPr id="37925" name="Rectangle 42"/>
              <p:cNvSpPr/>
              <p:nvPr/>
            </p:nvSpPr>
            <p:spPr>
              <a:xfrm>
                <a:off x="2832" y="655"/>
                <a:ext cx="1728" cy="222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等线" panose="02010600030101010101" pitchFamily="2" charset="-122"/>
                </a:endParaRPr>
              </a:p>
            </p:txBody>
          </p:sp>
          <p:sp>
            <p:nvSpPr>
              <p:cNvPr id="37926" name="Line 43"/>
              <p:cNvSpPr/>
              <p:nvPr/>
            </p:nvSpPr>
            <p:spPr>
              <a:xfrm>
                <a:off x="3984" y="427"/>
                <a:ext cx="0" cy="665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7927" name="Text Box 44"/>
              <p:cNvSpPr txBox="1"/>
              <p:nvPr/>
            </p:nvSpPr>
            <p:spPr>
              <a:xfrm>
                <a:off x="4074" y="2375"/>
                <a:ext cx="411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sz="2000" dirty="0">
                    <a:latin typeface="Times New Roman" panose="02020603050405020304" pitchFamily="18" charset="0"/>
                  </a:rPr>
                  <a:t>Q+1</a:t>
                </a:r>
                <a:endParaRPr lang="en-US" altLang="zh-CN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7928" name="Text Box 45"/>
              <p:cNvSpPr txBox="1"/>
              <p:nvPr/>
            </p:nvSpPr>
            <p:spPr>
              <a:xfrm>
                <a:off x="4074" y="2597"/>
                <a:ext cx="411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sz="2000" dirty="0">
                    <a:latin typeface="Times New Roman" panose="02020603050405020304" pitchFamily="18" charset="0"/>
                  </a:rPr>
                  <a:t>Q+2</a:t>
                </a:r>
                <a:endParaRPr lang="en-US" altLang="zh-CN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7929" name="Text Box 46"/>
              <p:cNvSpPr txBox="1"/>
              <p:nvPr/>
            </p:nvSpPr>
            <p:spPr>
              <a:xfrm>
                <a:off x="4128" y="2818"/>
                <a:ext cx="267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sz="2000" dirty="0">
                    <a:latin typeface="Times New Roman" panose="02020603050405020304" pitchFamily="18" charset="0"/>
                  </a:rPr>
                  <a:t>M</a:t>
                </a:r>
                <a:endParaRPr lang="en-US" altLang="zh-CN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7930" name="Text Box 47"/>
              <p:cNvSpPr txBox="1"/>
              <p:nvPr/>
            </p:nvSpPr>
            <p:spPr>
              <a:xfrm>
                <a:off x="4074" y="424"/>
                <a:ext cx="438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sz="2000" dirty="0">
                    <a:latin typeface="Times New Roman" panose="02020603050405020304" pitchFamily="18" charset="0"/>
                  </a:rPr>
                  <a:t>M+1</a:t>
                </a:r>
                <a:endParaRPr lang="en-US" altLang="zh-CN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7931" name="Text Box 48"/>
              <p:cNvSpPr txBox="1"/>
              <p:nvPr/>
            </p:nvSpPr>
            <p:spPr>
              <a:xfrm>
                <a:off x="4074" y="646"/>
                <a:ext cx="438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sz="2000" dirty="0">
                    <a:latin typeface="Times New Roman" panose="02020603050405020304" pitchFamily="18" charset="0"/>
                  </a:rPr>
                  <a:t>M+2</a:t>
                </a:r>
                <a:endParaRPr lang="en-US" altLang="zh-CN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7932" name="Text Box 49"/>
              <p:cNvSpPr txBox="1"/>
              <p:nvPr/>
            </p:nvSpPr>
            <p:spPr>
              <a:xfrm>
                <a:off x="4074" y="1400"/>
                <a:ext cx="385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sz="2000" dirty="0">
                    <a:latin typeface="Times New Roman" panose="02020603050405020304" pitchFamily="18" charset="0"/>
                  </a:rPr>
                  <a:t>P+1</a:t>
                </a:r>
                <a:endParaRPr lang="en-US" altLang="zh-CN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7933" name="Text Box 50"/>
              <p:cNvSpPr txBox="1"/>
              <p:nvPr/>
            </p:nvSpPr>
            <p:spPr>
              <a:xfrm>
                <a:off x="4074" y="1612"/>
                <a:ext cx="385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sz="2000" dirty="0">
                    <a:latin typeface="Times New Roman" panose="02020603050405020304" pitchFamily="18" charset="0"/>
                  </a:rPr>
                  <a:t>P+2</a:t>
                </a:r>
                <a:endParaRPr lang="en-US" altLang="zh-CN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7934" name="Text Box 51"/>
              <p:cNvSpPr txBox="1"/>
              <p:nvPr/>
            </p:nvSpPr>
            <p:spPr>
              <a:xfrm>
                <a:off x="4149" y="1843"/>
                <a:ext cx="267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sz="2000" dirty="0">
                    <a:latin typeface="Times New Roman" panose="02020603050405020304" pitchFamily="18" charset="0"/>
                  </a:rPr>
                  <a:t>M</a:t>
                </a:r>
                <a:endParaRPr lang="en-US" altLang="zh-CN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7935" name="Text Box 52"/>
              <p:cNvSpPr txBox="1"/>
              <p:nvPr/>
            </p:nvSpPr>
            <p:spPr>
              <a:xfrm>
                <a:off x="3532" y="1154"/>
                <a:ext cx="308" cy="21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vert="eaVert" wrap="none">
                <a:spAutoFit/>
              </a:bodyPr>
              <a:p>
                <a:pPr eaLnBrk="1" hangingPunct="1"/>
                <a:r>
                  <a:rPr lang="zh-CN" altLang="en-US" sz="2000" dirty="0">
                    <a:latin typeface="Times New Roman" panose="02020603050405020304" pitchFamily="18" charset="0"/>
                  </a:rPr>
                  <a:t>…</a:t>
                </a:r>
                <a:endParaRPr lang="zh-CN" altLang="en-US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7936" name="Text Box 53"/>
              <p:cNvSpPr txBox="1"/>
              <p:nvPr/>
            </p:nvSpPr>
            <p:spPr>
              <a:xfrm>
                <a:off x="3532" y="2129"/>
                <a:ext cx="308" cy="21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vert="eaVert" wrap="none">
                <a:spAutoFit/>
              </a:bodyPr>
              <a:p>
                <a:pPr eaLnBrk="1" hangingPunct="1"/>
                <a:r>
                  <a:rPr lang="zh-CN" altLang="en-US" sz="2000" dirty="0">
                    <a:latin typeface="Times New Roman" panose="02020603050405020304" pitchFamily="18" charset="0"/>
                  </a:rPr>
                  <a:t>…</a:t>
                </a:r>
                <a:endParaRPr lang="zh-CN" altLang="en-US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7937" name="Line 54"/>
              <p:cNvSpPr/>
              <p:nvPr/>
            </p:nvSpPr>
            <p:spPr>
              <a:xfrm>
                <a:off x="3984" y="1400"/>
                <a:ext cx="0" cy="665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7938" name="Line 55"/>
              <p:cNvSpPr/>
              <p:nvPr/>
            </p:nvSpPr>
            <p:spPr>
              <a:xfrm>
                <a:off x="3984" y="2397"/>
                <a:ext cx="0" cy="665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7939" name="Line 56"/>
              <p:cNvSpPr/>
              <p:nvPr/>
            </p:nvSpPr>
            <p:spPr>
              <a:xfrm>
                <a:off x="2832" y="2065"/>
                <a:ext cx="0" cy="354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7940" name="Line 57"/>
              <p:cNvSpPr/>
              <p:nvPr/>
            </p:nvSpPr>
            <p:spPr>
              <a:xfrm>
                <a:off x="4560" y="2065"/>
                <a:ext cx="0" cy="354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7941" name="Text Box 58"/>
              <p:cNvSpPr txBox="1"/>
              <p:nvPr/>
            </p:nvSpPr>
            <p:spPr>
              <a:xfrm>
                <a:off x="3552" y="3964"/>
                <a:ext cx="308" cy="21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vert="eaVert" wrap="none">
                <a:spAutoFit/>
              </a:bodyPr>
              <a:p>
                <a:pPr eaLnBrk="1" hangingPunct="1"/>
                <a:r>
                  <a:rPr lang="zh-CN" altLang="en-US" sz="2000" dirty="0">
                    <a:latin typeface="Times New Roman" panose="02020603050405020304" pitchFamily="18" charset="0"/>
                  </a:rPr>
                  <a:t>…</a:t>
                </a:r>
                <a:endParaRPr lang="zh-CN" altLang="en-US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7942" name="AutoShape 59"/>
              <p:cNvSpPr/>
              <p:nvPr/>
            </p:nvSpPr>
            <p:spPr>
              <a:xfrm>
                <a:off x="4608" y="3299"/>
                <a:ext cx="96" cy="621"/>
              </a:xfrm>
              <a:prstGeom prst="rightBrace">
                <a:avLst>
                  <a:gd name="adj1" fmla="val 53906"/>
                  <a:gd name="adj2" fmla="val 50000"/>
                </a:avLst>
              </a:prstGeom>
              <a:noFill/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等线" panose="02010600030101010101" pitchFamily="2" charset="-122"/>
                </a:endParaRPr>
              </a:p>
            </p:txBody>
          </p:sp>
          <p:sp>
            <p:nvSpPr>
              <p:cNvPr id="37943" name="Text Box 60"/>
              <p:cNvSpPr txBox="1"/>
              <p:nvPr/>
            </p:nvSpPr>
            <p:spPr>
              <a:xfrm>
                <a:off x="4705" y="3447"/>
                <a:ext cx="988" cy="44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zh-CN" altLang="en-US" sz="2000" dirty="0">
                    <a:latin typeface="Times New Roman" panose="02020603050405020304" pitchFamily="18" charset="0"/>
                  </a:rPr>
                  <a:t>对应 </a:t>
                </a:r>
                <a:r>
                  <a:rPr lang="en-US" altLang="zh-CN" sz="2000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STA</a:t>
                </a:r>
                <a:r>
                  <a:rPr lang="en-US" altLang="zh-CN" sz="2000" dirty="0">
                    <a:latin typeface="Times New Roman" panose="02020603050405020304" pitchFamily="18" charset="0"/>
                  </a:rPr>
                  <a:t> </a:t>
                </a:r>
                <a:r>
                  <a:rPr lang="zh-CN" altLang="en-US" sz="2000" dirty="0">
                    <a:latin typeface="Times New Roman" panose="02020603050405020304" pitchFamily="18" charset="0"/>
                  </a:rPr>
                  <a:t>操</a:t>
                </a:r>
                <a:endParaRPr lang="zh-CN" altLang="en-US" sz="2000" dirty="0">
                  <a:latin typeface="Times New Roman" panose="02020603050405020304" pitchFamily="18" charset="0"/>
                </a:endParaRPr>
              </a:p>
              <a:p>
                <a:pPr eaLnBrk="1" hangingPunct="1"/>
                <a:r>
                  <a:rPr lang="zh-CN" altLang="en-US" sz="2000" dirty="0">
                    <a:latin typeface="Times New Roman" panose="02020603050405020304" pitchFamily="18" charset="0"/>
                  </a:rPr>
                  <a:t>作的微程序</a:t>
                </a:r>
                <a:endParaRPr lang="zh-CN" altLang="en-US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7944" name="Rectangle 61"/>
              <p:cNvSpPr/>
              <p:nvPr/>
            </p:nvSpPr>
            <p:spPr>
              <a:xfrm>
                <a:off x="2832" y="3288"/>
                <a:ext cx="1728" cy="221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等线" panose="02010600030101010101" pitchFamily="2" charset="-122"/>
                </a:endParaRPr>
              </a:p>
            </p:txBody>
          </p:sp>
          <p:sp>
            <p:nvSpPr>
              <p:cNvPr id="37945" name="Rectangle 62"/>
              <p:cNvSpPr/>
              <p:nvPr/>
            </p:nvSpPr>
            <p:spPr>
              <a:xfrm>
                <a:off x="2832" y="3731"/>
                <a:ext cx="1728" cy="222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等线" panose="02010600030101010101" pitchFamily="2" charset="-122"/>
                </a:endParaRPr>
              </a:p>
            </p:txBody>
          </p:sp>
          <p:sp>
            <p:nvSpPr>
              <p:cNvPr id="37946" name="Rectangle 63"/>
              <p:cNvSpPr/>
              <p:nvPr/>
            </p:nvSpPr>
            <p:spPr>
              <a:xfrm>
                <a:off x="2832" y="3509"/>
                <a:ext cx="1728" cy="222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等线" panose="02010600030101010101" pitchFamily="2" charset="-122"/>
                </a:endParaRPr>
              </a:p>
            </p:txBody>
          </p:sp>
          <p:sp>
            <p:nvSpPr>
              <p:cNvPr id="37947" name="Rectangle 64"/>
              <p:cNvSpPr/>
              <p:nvPr/>
            </p:nvSpPr>
            <p:spPr>
              <a:xfrm>
                <a:off x="2832" y="3955"/>
                <a:ext cx="1728" cy="221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等线" panose="02010600030101010101" pitchFamily="2" charset="-122"/>
                </a:endParaRPr>
              </a:p>
            </p:txBody>
          </p:sp>
          <p:sp>
            <p:nvSpPr>
              <p:cNvPr id="37948" name="Text Box 65"/>
              <p:cNvSpPr txBox="1"/>
              <p:nvPr/>
            </p:nvSpPr>
            <p:spPr>
              <a:xfrm>
                <a:off x="4074" y="3269"/>
                <a:ext cx="411" cy="25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sz="2000" dirty="0">
                    <a:latin typeface="Times New Roman" panose="02020603050405020304" pitchFamily="18" charset="0"/>
                  </a:rPr>
                  <a:t>K+1</a:t>
                </a:r>
                <a:endParaRPr lang="en-US" altLang="zh-CN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7949" name="Text Box 66"/>
              <p:cNvSpPr txBox="1"/>
              <p:nvPr/>
            </p:nvSpPr>
            <p:spPr>
              <a:xfrm>
                <a:off x="4074" y="3491"/>
                <a:ext cx="411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sz="2000" dirty="0">
                    <a:latin typeface="Times New Roman" panose="02020603050405020304" pitchFamily="18" charset="0"/>
                  </a:rPr>
                  <a:t>K+2</a:t>
                </a:r>
                <a:endParaRPr lang="en-US" altLang="zh-CN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7950" name="Text Box 67"/>
              <p:cNvSpPr txBox="1"/>
              <p:nvPr/>
            </p:nvSpPr>
            <p:spPr>
              <a:xfrm>
                <a:off x="4128" y="3713"/>
                <a:ext cx="267" cy="24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sz="2000" dirty="0">
                    <a:latin typeface="Times New Roman" panose="02020603050405020304" pitchFamily="18" charset="0"/>
                  </a:rPr>
                  <a:t>M</a:t>
                </a:r>
                <a:endParaRPr lang="en-US" altLang="zh-CN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7951" name="Line 68"/>
              <p:cNvSpPr/>
              <p:nvPr/>
            </p:nvSpPr>
            <p:spPr>
              <a:xfrm>
                <a:off x="3984" y="3291"/>
                <a:ext cx="0" cy="66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7952" name="Text Box 69"/>
              <p:cNvSpPr txBox="1"/>
              <p:nvPr/>
            </p:nvSpPr>
            <p:spPr>
              <a:xfrm>
                <a:off x="2383" y="3290"/>
                <a:ext cx="240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sz="2000" dirty="0">
                    <a:latin typeface="Times New Roman" panose="02020603050405020304" pitchFamily="18" charset="0"/>
                  </a:rPr>
                  <a:t>K</a:t>
                </a:r>
                <a:endParaRPr lang="en-US" altLang="zh-CN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7953" name="Text Box 70"/>
              <p:cNvSpPr txBox="1"/>
              <p:nvPr/>
            </p:nvSpPr>
            <p:spPr>
              <a:xfrm>
                <a:off x="2304" y="3734"/>
                <a:ext cx="411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sz="2000" dirty="0">
                    <a:latin typeface="Times New Roman" panose="02020603050405020304" pitchFamily="18" charset="0"/>
                  </a:rPr>
                  <a:t>K+2</a:t>
                </a:r>
                <a:endParaRPr lang="en-US" altLang="zh-CN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7954" name="Text Box 71"/>
              <p:cNvSpPr txBox="1"/>
              <p:nvPr/>
            </p:nvSpPr>
            <p:spPr>
              <a:xfrm>
                <a:off x="2304" y="3512"/>
                <a:ext cx="411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sz="2000" dirty="0">
                    <a:latin typeface="Times New Roman" panose="02020603050405020304" pitchFamily="18" charset="0"/>
                  </a:rPr>
                  <a:t>K+1</a:t>
                </a:r>
                <a:endParaRPr lang="en-US" altLang="zh-CN" sz="2000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37896" name="Text Box 72"/>
            <p:cNvSpPr txBox="1"/>
            <p:nvPr/>
          </p:nvSpPr>
          <p:spPr>
            <a:xfrm>
              <a:off x="3974" y="857"/>
              <a:ext cx="59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×</a:t>
              </a:r>
              <a:r>
                <a:rPr lang="en-US" altLang="zh-CN" sz="2000" dirty="0">
                  <a:latin typeface="Times New Roman" panose="02020603050405020304" pitchFamily="18" charset="0"/>
                </a:rPr>
                <a:t>××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37894" name="AutoShape 73">
            <a:hlinkClick r:id="rId1" action="ppaction://hlinksldjump"/>
          </p:cNvPr>
          <p:cNvSpPr/>
          <p:nvPr/>
        </p:nvSpPr>
        <p:spPr>
          <a:xfrm>
            <a:off x="8589963" y="6516688"/>
            <a:ext cx="539750" cy="333375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endParaRPr lang="zh-CN" altLang="en-US" dirty="0">
              <a:latin typeface="等线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631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631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8914" name="Text Box 2"/>
          <p:cNvSpPr txBox="1"/>
          <p:nvPr/>
        </p:nvSpPr>
        <p:spPr>
          <a:xfrm>
            <a:off x="469900" y="228600"/>
            <a:ext cx="2476500" cy="6413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3600" dirty="0">
                <a:latin typeface="Times New Roman" panose="02020603050405020304" pitchFamily="18" charset="0"/>
              </a:rPr>
              <a:t>3. 工作原理</a:t>
            </a:r>
            <a:endParaRPr lang="zh-CN" altLang="en-US" sz="3600" dirty="0">
              <a:latin typeface="Times New Roman" panose="02020603050405020304" pitchFamily="18" charset="0"/>
            </a:endParaRPr>
          </a:p>
        </p:txBody>
      </p:sp>
      <p:sp>
        <p:nvSpPr>
          <p:cNvPr id="632835" name="Text Box 3"/>
          <p:cNvSpPr txBox="1"/>
          <p:nvPr/>
        </p:nvSpPr>
        <p:spPr>
          <a:xfrm>
            <a:off x="787400" y="990600"/>
            <a:ext cx="184150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400" dirty="0">
                <a:latin typeface="Times New Roman" panose="02020603050405020304" pitchFamily="18" charset="0"/>
              </a:rPr>
              <a:t>(1) 取指阶段</a:t>
            </a:r>
            <a:endParaRPr lang="en-US" altLang="zh-CN" sz="24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632836" name="Group 4"/>
          <p:cNvGrpSpPr/>
          <p:nvPr/>
        </p:nvGrpSpPr>
        <p:grpSpPr>
          <a:xfrm>
            <a:off x="1168400" y="1385888"/>
            <a:ext cx="2030413" cy="457200"/>
            <a:chOff x="736" y="940"/>
            <a:chExt cx="1279" cy="288"/>
          </a:xfrm>
        </p:grpSpPr>
        <p:sp>
          <p:nvSpPr>
            <p:cNvPr id="38985" name="Text Box 5"/>
            <p:cNvSpPr txBox="1"/>
            <p:nvPr/>
          </p:nvSpPr>
          <p:spPr>
            <a:xfrm>
              <a:off x="736" y="940"/>
              <a:ext cx="1279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M        CMAR</a:t>
              </a:r>
              <a:endParaRPr lang="en-US" altLang="zh-CN" sz="24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8986" name="Line 6"/>
            <p:cNvSpPr/>
            <p:nvPr/>
          </p:nvSpPr>
          <p:spPr>
            <a:xfrm>
              <a:off x="1024" y="1104"/>
              <a:ext cx="288" cy="0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632839" name="Group 7"/>
          <p:cNvGrpSpPr/>
          <p:nvPr/>
        </p:nvGrpSpPr>
        <p:grpSpPr>
          <a:xfrm>
            <a:off x="1168400" y="1847850"/>
            <a:ext cx="3632200" cy="457200"/>
            <a:chOff x="806" y="1562"/>
            <a:chExt cx="2288" cy="288"/>
          </a:xfrm>
        </p:grpSpPr>
        <p:sp>
          <p:nvSpPr>
            <p:cNvPr id="38983" name="Text Box 8"/>
            <p:cNvSpPr txBox="1"/>
            <p:nvPr/>
          </p:nvSpPr>
          <p:spPr>
            <a:xfrm>
              <a:off x="806" y="1562"/>
              <a:ext cx="228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dirty="0">
                  <a:latin typeface="Times New Roman" panose="02020603050405020304" pitchFamily="18" charset="0"/>
                </a:rPr>
                <a:t>CM ( CMAR )        CMDR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38984" name="Line 9"/>
            <p:cNvSpPr/>
            <p:nvPr/>
          </p:nvSpPr>
          <p:spPr>
            <a:xfrm>
              <a:off x="2112" y="1728"/>
              <a:ext cx="28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sp>
        <p:nvSpPr>
          <p:cNvPr id="632842" name="Text Box 10"/>
          <p:cNvSpPr txBox="1"/>
          <p:nvPr/>
        </p:nvSpPr>
        <p:spPr>
          <a:xfrm>
            <a:off x="1168400" y="2311400"/>
            <a:ext cx="251142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400" dirty="0">
                <a:latin typeface="Times New Roman" panose="02020603050405020304" pitchFamily="18" charset="0"/>
              </a:rPr>
              <a:t>由 </a:t>
            </a:r>
            <a:r>
              <a:rPr lang="en-US" altLang="zh-CN" sz="2400" dirty="0">
                <a:latin typeface="Times New Roman" panose="02020603050405020304" pitchFamily="18" charset="0"/>
              </a:rPr>
              <a:t>CMDR </a:t>
            </a:r>
            <a:r>
              <a:rPr lang="zh-CN" altLang="en-US" sz="2400" dirty="0">
                <a:latin typeface="Times New Roman" panose="02020603050405020304" pitchFamily="18" charset="0"/>
              </a:rPr>
              <a:t>发命令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632843" name="Text Box 11"/>
          <p:cNvSpPr txBox="1"/>
          <p:nvPr/>
        </p:nvSpPr>
        <p:spPr>
          <a:xfrm>
            <a:off x="1168400" y="2773363"/>
            <a:ext cx="2713038" cy="4270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200" dirty="0">
                <a:latin typeface="Times New Roman" panose="02020603050405020304" pitchFamily="18" charset="0"/>
              </a:rPr>
              <a:t>形成下条微指令地址</a:t>
            </a:r>
            <a:endParaRPr lang="zh-CN" altLang="en-US" sz="2200" dirty="0">
              <a:latin typeface="Times New Roman" panose="02020603050405020304" pitchFamily="18" charset="0"/>
            </a:endParaRPr>
          </a:p>
        </p:txBody>
      </p:sp>
      <p:grpSp>
        <p:nvGrpSpPr>
          <p:cNvPr id="632844" name="Group 12"/>
          <p:cNvGrpSpPr/>
          <p:nvPr/>
        </p:nvGrpSpPr>
        <p:grpSpPr>
          <a:xfrm>
            <a:off x="1168400" y="3290888"/>
            <a:ext cx="3514725" cy="457200"/>
            <a:chOff x="912" y="2154"/>
            <a:chExt cx="2214" cy="288"/>
          </a:xfrm>
        </p:grpSpPr>
        <p:sp>
          <p:nvSpPr>
            <p:cNvPr id="38981" name="Text Box 13"/>
            <p:cNvSpPr txBox="1"/>
            <p:nvPr/>
          </p:nvSpPr>
          <p:spPr>
            <a:xfrm>
              <a:off x="912" y="2154"/>
              <a:ext cx="221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Ad (CMDR )         CMAR</a:t>
              </a:r>
              <a:endParaRPr lang="en-US" altLang="zh-CN" sz="24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8982" name="Line 14"/>
            <p:cNvSpPr/>
            <p:nvPr/>
          </p:nvSpPr>
          <p:spPr>
            <a:xfrm>
              <a:off x="2122" y="2298"/>
              <a:ext cx="288" cy="0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632847" name="Group 15"/>
          <p:cNvGrpSpPr/>
          <p:nvPr/>
        </p:nvGrpSpPr>
        <p:grpSpPr>
          <a:xfrm>
            <a:off x="1168400" y="3752850"/>
            <a:ext cx="3556000" cy="457200"/>
            <a:chOff x="778" y="2448"/>
            <a:chExt cx="2240" cy="288"/>
          </a:xfrm>
        </p:grpSpPr>
        <p:sp>
          <p:nvSpPr>
            <p:cNvPr id="38979" name="Text Box 16"/>
            <p:cNvSpPr txBox="1"/>
            <p:nvPr/>
          </p:nvSpPr>
          <p:spPr>
            <a:xfrm>
              <a:off x="778" y="2448"/>
              <a:ext cx="224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dirty="0">
                  <a:latin typeface="Times New Roman" panose="02020603050405020304" pitchFamily="18" charset="0"/>
                </a:rPr>
                <a:t>CM (CMAR )        CMDR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38980" name="Line 17"/>
            <p:cNvSpPr/>
            <p:nvPr/>
          </p:nvSpPr>
          <p:spPr>
            <a:xfrm>
              <a:off x="2026" y="2592"/>
              <a:ext cx="28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sp>
        <p:nvSpPr>
          <p:cNvPr id="632850" name="Text Box 18"/>
          <p:cNvSpPr txBox="1"/>
          <p:nvPr/>
        </p:nvSpPr>
        <p:spPr>
          <a:xfrm>
            <a:off x="1168400" y="4216400"/>
            <a:ext cx="251142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400" dirty="0">
                <a:latin typeface="Times New Roman" panose="02020603050405020304" pitchFamily="18" charset="0"/>
              </a:rPr>
              <a:t>由 </a:t>
            </a:r>
            <a:r>
              <a:rPr lang="en-US" altLang="zh-CN" sz="2400" dirty="0">
                <a:latin typeface="Times New Roman" panose="02020603050405020304" pitchFamily="18" charset="0"/>
              </a:rPr>
              <a:t>CMDR </a:t>
            </a:r>
            <a:r>
              <a:rPr lang="zh-CN" altLang="en-US" sz="2400" dirty="0">
                <a:latin typeface="Times New Roman" panose="02020603050405020304" pitchFamily="18" charset="0"/>
              </a:rPr>
              <a:t>发命令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grpSp>
        <p:nvGrpSpPr>
          <p:cNvPr id="632851" name="Group 19"/>
          <p:cNvGrpSpPr/>
          <p:nvPr/>
        </p:nvGrpSpPr>
        <p:grpSpPr>
          <a:xfrm>
            <a:off x="1168400" y="5246688"/>
            <a:ext cx="3514725" cy="457200"/>
            <a:chOff x="912" y="3050"/>
            <a:chExt cx="2214" cy="288"/>
          </a:xfrm>
        </p:grpSpPr>
        <p:sp>
          <p:nvSpPr>
            <p:cNvPr id="38977" name="Text Box 20"/>
            <p:cNvSpPr txBox="1"/>
            <p:nvPr/>
          </p:nvSpPr>
          <p:spPr>
            <a:xfrm>
              <a:off x="912" y="3050"/>
              <a:ext cx="221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Ad (CMDR )         CMAR</a:t>
              </a:r>
              <a:endParaRPr lang="en-US" altLang="zh-CN" sz="24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8978" name="Line 21"/>
            <p:cNvSpPr/>
            <p:nvPr/>
          </p:nvSpPr>
          <p:spPr>
            <a:xfrm>
              <a:off x="2122" y="3194"/>
              <a:ext cx="288" cy="0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632854" name="Group 22"/>
          <p:cNvGrpSpPr/>
          <p:nvPr/>
        </p:nvGrpSpPr>
        <p:grpSpPr>
          <a:xfrm>
            <a:off x="1168400" y="5708650"/>
            <a:ext cx="3556000" cy="457200"/>
            <a:chOff x="778" y="3382"/>
            <a:chExt cx="2240" cy="288"/>
          </a:xfrm>
        </p:grpSpPr>
        <p:sp>
          <p:nvSpPr>
            <p:cNvPr id="38975" name="Text Box 23"/>
            <p:cNvSpPr txBox="1"/>
            <p:nvPr/>
          </p:nvSpPr>
          <p:spPr>
            <a:xfrm>
              <a:off x="778" y="3382"/>
              <a:ext cx="224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dirty="0">
                  <a:latin typeface="Times New Roman" panose="02020603050405020304" pitchFamily="18" charset="0"/>
                </a:rPr>
                <a:t>CM (CMAR )        CMDR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38976" name="Line 24"/>
            <p:cNvSpPr/>
            <p:nvPr/>
          </p:nvSpPr>
          <p:spPr>
            <a:xfrm>
              <a:off x="2026" y="3526"/>
              <a:ext cx="28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sp>
        <p:nvSpPr>
          <p:cNvPr id="632857" name="Text Box 25"/>
          <p:cNvSpPr txBox="1"/>
          <p:nvPr/>
        </p:nvSpPr>
        <p:spPr>
          <a:xfrm>
            <a:off x="1168400" y="6172200"/>
            <a:ext cx="251142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400" dirty="0">
                <a:latin typeface="Times New Roman" panose="02020603050405020304" pitchFamily="18" charset="0"/>
              </a:rPr>
              <a:t>由 </a:t>
            </a:r>
            <a:r>
              <a:rPr lang="en-US" altLang="zh-CN" sz="2400" dirty="0">
                <a:latin typeface="Times New Roman" panose="02020603050405020304" pitchFamily="18" charset="0"/>
              </a:rPr>
              <a:t>CMDR </a:t>
            </a:r>
            <a:r>
              <a:rPr lang="zh-CN" altLang="en-US" sz="2400" dirty="0">
                <a:latin typeface="Times New Roman" panose="02020603050405020304" pitchFamily="18" charset="0"/>
              </a:rPr>
              <a:t>发命令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632858" name="Text Box 26"/>
          <p:cNvSpPr txBox="1"/>
          <p:nvPr/>
        </p:nvSpPr>
        <p:spPr>
          <a:xfrm>
            <a:off x="4038600" y="2803525"/>
            <a:ext cx="8064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</a:rPr>
              <a:t>M </a:t>
            </a:r>
            <a:r>
              <a:rPr lang="en-US" altLang="zh-CN" sz="2000" dirty="0">
                <a:latin typeface="等线" panose="02010600030101010101" pitchFamily="2" charset="-122"/>
              </a:rPr>
              <a:t>+</a:t>
            </a:r>
            <a:r>
              <a:rPr lang="en-US" altLang="zh-CN" sz="2000" dirty="0">
                <a:latin typeface="Times New Roman" panose="02020603050405020304" pitchFamily="18" charset="0"/>
              </a:rPr>
              <a:t> 1</a:t>
            </a:r>
            <a:endParaRPr lang="en-US" altLang="zh-CN" sz="2000" dirty="0">
              <a:latin typeface="Times New Roman" panose="02020603050405020304" pitchFamily="18" charset="0"/>
            </a:endParaRPr>
          </a:p>
        </p:txBody>
      </p:sp>
      <p:sp>
        <p:nvSpPr>
          <p:cNvPr id="632859" name="Text Box 27"/>
          <p:cNvSpPr txBox="1"/>
          <p:nvPr/>
        </p:nvSpPr>
        <p:spPr>
          <a:xfrm>
            <a:off x="4038600" y="4708525"/>
            <a:ext cx="8064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</a:rPr>
              <a:t>M </a:t>
            </a:r>
            <a:r>
              <a:rPr lang="en-US" altLang="zh-CN" sz="2000" dirty="0">
                <a:latin typeface="等线" panose="02010600030101010101" pitchFamily="2" charset="-122"/>
              </a:rPr>
              <a:t>+</a:t>
            </a:r>
            <a:r>
              <a:rPr lang="en-US" altLang="zh-CN" sz="2000" dirty="0">
                <a:latin typeface="Times New Roman" panose="02020603050405020304" pitchFamily="18" charset="0"/>
              </a:rPr>
              <a:t> 2</a:t>
            </a:r>
            <a:endParaRPr lang="en-US" altLang="zh-CN" sz="2000" dirty="0">
              <a:latin typeface="Times New Roman" panose="02020603050405020304" pitchFamily="18" charset="0"/>
            </a:endParaRPr>
          </a:p>
        </p:txBody>
      </p:sp>
      <p:sp>
        <p:nvSpPr>
          <p:cNvPr id="632860" name="Line 28"/>
          <p:cNvSpPr/>
          <p:nvPr/>
        </p:nvSpPr>
        <p:spPr>
          <a:xfrm flipV="1">
            <a:off x="5678488" y="2219325"/>
            <a:ext cx="0" cy="22860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med" len="med"/>
          </a:ln>
        </p:spPr>
      </p:sp>
      <p:grpSp>
        <p:nvGrpSpPr>
          <p:cNvPr id="632861" name="Group 29"/>
          <p:cNvGrpSpPr/>
          <p:nvPr/>
        </p:nvGrpSpPr>
        <p:grpSpPr>
          <a:xfrm>
            <a:off x="5257800" y="1928813"/>
            <a:ext cx="1512888" cy="396875"/>
            <a:chOff x="3456" y="1593"/>
            <a:chExt cx="953" cy="250"/>
          </a:xfrm>
        </p:grpSpPr>
        <p:sp>
          <p:nvSpPr>
            <p:cNvPr id="38973" name="Text Box 30"/>
            <p:cNvSpPr txBox="1"/>
            <p:nvPr/>
          </p:nvSpPr>
          <p:spPr>
            <a:xfrm>
              <a:off x="3456" y="1593"/>
              <a:ext cx="953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dirty="0">
                  <a:latin typeface="Times New Roman" panose="02020603050405020304" pitchFamily="18" charset="0"/>
                </a:rPr>
                <a:t>PC      MAR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38974" name="Line 31"/>
            <p:cNvSpPr/>
            <p:nvPr/>
          </p:nvSpPr>
          <p:spPr>
            <a:xfrm>
              <a:off x="3744" y="1728"/>
              <a:ext cx="19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632864" name="Group 32"/>
          <p:cNvGrpSpPr/>
          <p:nvPr/>
        </p:nvGrpSpPr>
        <p:grpSpPr>
          <a:xfrm>
            <a:off x="8039100" y="1914525"/>
            <a:ext cx="876300" cy="396875"/>
            <a:chOff x="4968" y="1584"/>
            <a:chExt cx="552" cy="250"/>
          </a:xfrm>
        </p:grpSpPr>
        <p:sp>
          <p:nvSpPr>
            <p:cNvPr id="38971" name="Text Box 33"/>
            <p:cNvSpPr txBox="1"/>
            <p:nvPr/>
          </p:nvSpPr>
          <p:spPr>
            <a:xfrm>
              <a:off x="4968" y="1584"/>
              <a:ext cx="55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dirty="0">
                  <a:latin typeface="Times New Roman" panose="02020603050405020304" pitchFamily="18" charset="0"/>
                </a:rPr>
                <a:t>1      R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38972" name="Line 34"/>
            <p:cNvSpPr/>
            <p:nvPr/>
          </p:nvSpPr>
          <p:spPr>
            <a:xfrm>
              <a:off x="5119" y="1719"/>
              <a:ext cx="19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sp>
        <p:nvSpPr>
          <p:cNvPr id="632867" name="Line 35"/>
          <p:cNvSpPr/>
          <p:nvPr/>
        </p:nvSpPr>
        <p:spPr>
          <a:xfrm flipV="1">
            <a:off x="8382000" y="2219325"/>
            <a:ext cx="0" cy="22860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med" len="med"/>
          </a:ln>
        </p:spPr>
      </p:sp>
      <p:sp>
        <p:nvSpPr>
          <p:cNvPr id="632868" name="Line 36"/>
          <p:cNvSpPr/>
          <p:nvPr/>
        </p:nvSpPr>
        <p:spPr>
          <a:xfrm flipV="1">
            <a:off x="5867400" y="4025900"/>
            <a:ext cx="0" cy="22860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med" len="med"/>
          </a:ln>
        </p:spPr>
      </p:sp>
      <p:grpSp>
        <p:nvGrpSpPr>
          <p:cNvPr id="632869" name="Group 37"/>
          <p:cNvGrpSpPr/>
          <p:nvPr/>
        </p:nvGrpSpPr>
        <p:grpSpPr>
          <a:xfrm>
            <a:off x="5105400" y="3657600"/>
            <a:ext cx="2443163" cy="396875"/>
            <a:chOff x="3216" y="2486"/>
            <a:chExt cx="1539" cy="250"/>
          </a:xfrm>
        </p:grpSpPr>
        <p:sp>
          <p:nvSpPr>
            <p:cNvPr id="38969" name="Text Box 38"/>
            <p:cNvSpPr txBox="1"/>
            <p:nvPr/>
          </p:nvSpPr>
          <p:spPr>
            <a:xfrm>
              <a:off x="3216" y="2486"/>
              <a:ext cx="1539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dirty="0">
                  <a:latin typeface="Times New Roman" panose="02020603050405020304" pitchFamily="18" charset="0"/>
                </a:rPr>
                <a:t>M ( MAR )       MDR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38970" name="Line 39"/>
            <p:cNvSpPr/>
            <p:nvPr/>
          </p:nvSpPr>
          <p:spPr>
            <a:xfrm>
              <a:off x="4080" y="2621"/>
              <a:ext cx="19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632908" name="Group 76"/>
          <p:cNvGrpSpPr/>
          <p:nvPr/>
        </p:nvGrpSpPr>
        <p:grpSpPr>
          <a:xfrm>
            <a:off x="7086600" y="3352800"/>
            <a:ext cx="1922463" cy="396875"/>
            <a:chOff x="4464" y="2112"/>
            <a:chExt cx="1211" cy="250"/>
          </a:xfrm>
        </p:grpSpPr>
        <p:sp>
          <p:nvSpPr>
            <p:cNvPr id="38967" name="Text Box 41"/>
            <p:cNvSpPr txBox="1"/>
            <p:nvPr/>
          </p:nvSpPr>
          <p:spPr>
            <a:xfrm>
              <a:off x="4464" y="2112"/>
              <a:ext cx="1211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dirty="0">
                  <a:latin typeface="Times New Roman" panose="02020603050405020304" pitchFamily="18" charset="0"/>
                </a:rPr>
                <a:t>( PC ) </a:t>
              </a:r>
              <a:r>
                <a:rPr lang="en-US" altLang="zh-CN" sz="2000" dirty="0">
                  <a:latin typeface="等线" panose="02010600030101010101" pitchFamily="2" charset="-122"/>
                </a:rPr>
                <a:t>+</a:t>
              </a:r>
              <a:r>
                <a:rPr lang="en-US" altLang="zh-CN" sz="2000" dirty="0">
                  <a:latin typeface="Times New Roman" panose="02020603050405020304" pitchFamily="18" charset="0"/>
                </a:rPr>
                <a:t> 1      PC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38968" name="Line 42"/>
            <p:cNvSpPr/>
            <p:nvPr/>
          </p:nvSpPr>
          <p:spPr>
            <a:xfrm>
              <a:off x="5184" y="2247"/>
              <a:ext cx="19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sp>
        <p:nvSpPr>
          <p:cNvPr id="632875" name="Freeform 43"/>
          <p:cNvSpPr/>
          <p:nvPr/>
        </p:nvSpPr>
        <p:spPr>
          <a:xfrm>
            <a:off x="8153400" y="3659188"/>
            <a:ext cx="1588" cy="593725"/>
          </a:xfrm>
          <a:custGeom>
            <a:avLst/>
            <a:gdLst/>
            <a:ahLst/>
            <a:cxnLst>
              <a:cxn ang="0">
                <a:pos x="0" y="2147483646"/>
              </a:cxn>
              <a:cxn ang="0">
                <a:pos x="2147483646" y="0"/>
              </a:cxn>
            </a:cxnLst>
            <a:pathLst>
              <a:path w="1" h="374">
                <a:moveTo>
                  <a:pt x="0" y="374"/>
                </a:moveTo>
                <a:lnTo>
                  <a:pt x="1" y="0"/>
                </a:lnTo>
              </a:path>
            </a:pathLst>
          </a:custGeom>
          <a:noFill/>
          <a:ln w="28575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stealth" w="med" len="med"/>
          </a:ln>
        </p:spPr>
        <p:txBody>
          <a:bodyPr/>
          <a:p>
            <a:endParaRPr lang="zh-CN" altLang="en-US"/>
          </a:p>
        </p:txBody>
      </p:sp>
      <p:sp>
        <p:nvSpPr>
          <p:cNvPr id="632876" name="Line 44"/>
          <p:cNvSpPr/>
          <p:nvPr/>
        </p:nvSpPr>
        <p:spPr>
          <a:xfrm flipV="1">
            <a:off x="6096000" y="5886450"/>
            <a:ext cx="0" cy="22860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med" len="med"/>
          </a:ln>
        </p:spPr>
      </p:sp>
      <p:grpSp>
        <p:nvGrpSpPr>
          <p:cNvPr id="632877" name="Group 45"/>
          <p:cNvGrpSpPr/>
          <p:nvPr/>
        </p:nvGrpSpPr>
        <p:grpSpPr>
          <a:xfrm>
            <a:off x="5486400" y="5553075"/>
            <a:ext cx="1455738" cy="396875"/>
            <a:chOff x="3456" y="3321"/>
            <a:chExt cx="917" cy="250"/>
          </a:xfrm>
        </p:grpSpPr>
        <p:sp>
          <p:nvSpPr>
            <p:cNvPr id="38965" name="Text Box 46"/>
            <p:cNvSpPr txBox="1"/>
            <p:nvPr/>
          </p:nvSpPr>
          <p:spPr>
            <a:xfrm>
              <a:off x="3456" y="3321"/>
              <a:ext cx="917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dirty="0">
                  <a:latin typeface="Times New Roman" panose="02020603050405020304" pitchFamily="18" charset="0"/>
                </a:rPr>
                <a:t>MDR      IR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38966" name="Line 47"/>
            <p:cNvSpPr/>
            <p:nvPr/>
          </p:nvSpPr>
          <p:spPr>
            <a:xfrm>
              <a:off x="3936" y="3456"/>
              <a:ext cx="19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632880" name="Group 48"/>
          <p:cNvGrpSpPr/>
          <p:nvPr/>
        </p:nvGrpSpPr>
        <p:grpSpPr>
          <a:xfrm>
            <a:off x="4937125" y="2386013"/>
            <a:ext cx="4191000" cy="473075"/>
            <a:chOff x="3110" y="1881"/>
            <a:chExt cx="2640" cy="298"/>
          </a:xfrm>
        </p:grpSpPr>
        <p:grpSp>
          <p:nvGrpSpPr>
            <p:cNvPr id="38958" name="Group 49"/>
            <p:cNvGrpSpPr/>
            <p:nvPr/>
          </p:nvGrpSpPr>
          <p:grpSpPr>
            <a:xfrm>
              <a:off x="3110" y="1910"/>
              <a:ext cx="2640" cy="269"/>
              <a:chOff x="3110" y="1910"/>
              <a:chExt cx="2640" cy="269"/>
            </a:xfrm>
          </p:grpSpPr>
          <p:sp>
            <p:nvSpPr>
              <p:cNvPr id="38960" name="Rectangle 50"/>
              <p:cNvSpPr/>
              <p:nvPr/>
            </p:nvSpPr>
            <p:spPr>
              <a:xfrm>
                <a:off x="3456" y="1920"/>
                <a:ext cx="2256" cy="240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等线" panose="02010600030101010101" pitchFamily="2" charset="-122"/>
                </a:endParaRPr>
              </a:p>
            </p:txBody>
          </p:sp>
          <p:sp>
            <p:nvSpPr>
              <p:cNvPr id="38961" name="Text Box 51"/>
              <p:cNvSpPr txBox="1"/>
              <p:nvPr/>
            </p:nvSpPr>
            <p:spPr>
              <a:xfrm>
                <a:off x="3494" y="1929"/>
                <a:ext cx="1876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zh-CN" altLang="en-US" sz="2000" dirty="0">
                    <a:latin typeface="Times New Roman" panose="02020603050405020304" pitchFamily="18" charset="0"/>
                  </a:rPr>
                  <a:t>1 0 0                            0 0 1</a:t>
                </a:r>
                <a:endParaRPr lang="zh-CN" altLang="en-US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8962" name="Text Box 52"/>
              <p:cNvSpPr txBox="1"/>
              <p:nvPr/>
            </p:nvSpPr>
            <p:spPr>
              <a:xfrm>
                <a:off x="5322" y="1910"/>
                <a:ext cx="428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sz="2000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M</a:t>
                </a:r>
                <a:r>
                  <a:rPr lang="en-US" altLang="zh-CN" sz="2000" dirty="0">
                    <a:solidFill>
                      <a:schemeClr val="folHlink"/>
                    </a:solidFill>
                    <a:latin typeface="等线" panose="02010600030101010101" pitchFamily="2" charset="-122"/>
                  </a:rPr>
                  <a:t>+</a:t>
                </a:r>
                <a:r>
                  <a:rPr lang="en-US" altLang="zh-CN" sz="2000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1</a:t>
                </a:r>
                <a:endParaRPr lang="en-US" altLang="zh-CN" sz="2000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8963" name="Line 53"/>
              <p:cNvSpPr/>
              <p:nvPr/>
            </p:nvSpPr>
            <p:spPr>
              <a:xfrm>
                <a:off x="5328" y="1920"/>
                <a:ext cx="0" cy="24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8964" name="Text Box 54"/>
              <p:cNvSpPr txBox="1"/>
              <p:nvPr/>
            </p:nvSpPr>
            <p:spPr>
              <a:xfrm>
                <a:off x="3110" y="1929"/>
                <a:ext cx="267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sz="2000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M</a:t>
                </a:r>
                <a:endParaRPr lang="en-US" altLang="zh-CN" sz="2000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38959" name="Text Box 55"/>
            <p:cNvSpPr txBox="1"/>
            <p:nvPr/>
          </p:nvSpPr>
          <p:spPr>
            <a:xfrm>
              <a:off x="4368" y="1881"/>
              <a:ext cx="27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…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32888" name="Group 56"/>
          <p:cNvGrpSpPr/>
          <p:nvPr/>
        </p:nvGrpSpPr>
        <p:grpSpPr>
          <a:xfrm>
            <a:off x="4648200" y="4192588"/>
            <a:ext cx="4479925" cy="473075"/>
            <a:chOff x="2928" y="2774"/>
            <a:chExt cx="2822" cy="298"/>
          </a:xfrm>
        </p:grpSpPr>
        <p:sp>
          <p:nvSpPr>
            <p:cNvPr id="38952" name="Rectangle 57"/>
            <p:cNvSpPr/>
            <p:nvPr/>
          </p:nvSpPr>
          <p:spPr>
            <a:xfrm>
              <a:off x="3456" y="2813"/>
              <a:ext cx="2256" cy="240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38953" name="Text Box 58"/>
            <p:cNvSpPr txBox="1"/>
            <p:nvPr/>
          </p:nvSpPr>
          <p:spPr>
            <a:xfrm>
              <a:off x="3494" y="2822"/>
              <a:ext cx="187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0 1 0 0                            1 0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38954" name="Text Box 59"/>
            <p:cNvSpPr txBox="1"/>
            <p:nvPr/>
          </p:nvSpPr>
          <p:spPr>
            <a:xfrm>
              <a:off x="5322" y="2803"/>
              <a:ext cx="42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M</a:t>
              </a:r>
              <a:r>
                <a:rPr lang="en-US" altLang="zh-CN" sz="2000" dirty="0">
                  <a:solidFill>
                    <a:schemeClr val="folHlink"/>
                  </a:solidFill>
                  <a:latin typeface="等线" panose="02010600030101010101" pitchFamily="2" charset="-122"/>
                </a:rPr>
                <a:t>+</a:t>
              </a:r>
              <a:r>
                <a:rPr lang="en-US" altLang="zh-CN" sz="2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sz="2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8955" name="Line 60"/>
            <p:cNvSpPr/>
            <p:nvPr/>
          </p:nvSpPr>
          <p:spPr>
            <a:xfrm>
              <a:off x="5328" y="2813"/>
              <a:ext cx="0" cy="24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8956" name="Text Box 61"/>
            <p:cNvSpPr txBox="1"/>
            <p:nvPr/>
          </p:nvSpPr>
          <p:spPr>
            <a:xfrm>
              <a:off x="2928" y="2784"/>
              <a:ext cx="50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M </a:t>
              </a:r>
              <a:r>
                <a:rPr lang="en-US" altLang="zh-CN" sz="2000" dirty="0">
                  <a:solidFill>
                    <a:schemeClr val="folHlink"/>
                  </a:solidFill>
                  <a:latin typeface="等线" panose="02010600030101010101" pitchFamily="2" charset="-122"/>
                </a:rPr>
                <a:t>+</a:t>
              </a:r>
              <a:r>
                <a:rPr lang="en-US" altLang="zh-CN" sz="2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 1</a:t>
              </a:r>
              <a:endParaRPr lang="en-US" altLang="zh-CN" sz="2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8957" name="Text Box 62"/>
            <p:cNvSpPr txBox="1"/>
            <p:nvPr/>
          </p:nvSpPr>
          <p:spPr>
            <a:xfrm>
              <a:off x="4368" y="2774"/>
              <a:ext cx="27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…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632895" name="Text Box 63"/>
          <p:cNvSpPr txBox="1"/>
          <p:nvPr/>
        </p:nvSpPr>
        <p:spPr>
          <a:xfrm>
            <a:off x="1219200" y="4678363"/>
            <a:ext cx="3276600" cy="4270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200" dirty="0">
                <a:latin typeface="Times New Roman" panose="02020603050405020304" pitchFamily="18" charset="0"/>
              </a:rPr>
              <a:t>形成下条微指令地址</a:t>
            </a:r>
            <a:endParaRPr lang="zh-CN" altLang="en-US" sz="2200" dirty="0">
              <a:latin typeface="Times New Roman" panose="02020603050405020304" pitchFamily="18" charset="0"/>
            </a:endParaRPr>
          </a:p>
        </p:txBody>
      </p:sp>
      <p:sp>
        <p:nvSpPr>
          <p:cNvPr id="632896" name="Text Box 64"/>
          <p:cNvSpPr txBox="1"/>
          <p:nvPr/>
        </p:nvSpPr>
        <p:spPr>
          <a:xfrm>
            <a:off x="3108325" y="990600"/>
            <a:ext cx="2328863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400" dirty="0">
                <a:solidFill>
                  <a:schemeClr val="folHlink"/>
                </a:solidFill>
                <a:latin typeface="Times New Roman" panose="02020603050405020304" pitchFamily="18" charset="0"/>
              </a:rPr>
              <a:t>执行取指微程序</a:t>
            </a:r>
            <a:endParaRPr lang="zh-CN" altLang="en-US" sz="2000" dirty="0">
              <a:latin typeface="Times New Roman" panose="02020603050405020304" pitchFamily="18" charset="0"/>
            </a:endParaRPr>
          </a:p>
        </p:txBody>
      </p:sp>
      <p:sp>
        <p:nvSpPr>
          <p:cNvPr id="632897" name="Rectangle 65"/>
          <p:cNvSpPr>
            <a:spLocks noChangeArrowheads="1"/>
          </p:cNvSpPr>
          <p:nvPr/>
        </p:nvSpPr>
        <p:spPr bwMode="auto">
          <a:xfrm>
            <a:off x="7696200" y="152400"/>
            <a:ext cx="1447800" cy="838200"/>
          </a:xfrm>
          <a:prstGeom prst="rect">
            <a:avLst/>
          </a:prstGeom>
          <a:noFill/>
          <a:ln>
            <a:noFill/>
          </a:ln>
          <a:effectLst/>
        </p:spPr>
        <p:txBody>
          <a:bodyPr lIns="92075" tIns="46038" rIns="92075" bIns="46038" anchor="ctr"/>
          <a:lstStyle>
            <a:lvl1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10.2</a:t>
            </a:r>
            <a:endParaRPr kumimoji="1" lang="zh-CN" altLang="en-US" sz="4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632898" name="Group 66"/>
          <p:cNvGrpSpPr/>
          <p:nvPr/>
        </p:nvGrpSpPr>
        <p:grpSpPr>
          <a:xfrm>
            <a:off x="4648200" y="6003925"/>
            <a:ext cx="4498975" cy="522288"/>
            <a:chOff x="2928" y="3809"/>
            <a:chExt cx="2834" cy="329"/>
          </a:xfrm>
        </p:grpSpPr>
        <p:grpSp>
          <p:nvGrpSpPr>
            <p:cNvPr id="38945" name="Group 67"/>
            <p:cNvGrpSpPr/>
            <p:nvPr/>
          </p:nvGrpSpPr>
          <p:grpSpPr>
            <a:xfrm>
              <a:off x="2928" y="3809"/>
              <a:ext cx="2784" cy="329"/>
              <a:chOff x="2928" y="3713"/>
              <a:chExt cx="2784" cy="329"/>
            </a:xfrm>
          </p:grpSpPr>
          <p:sp>
            <p:nvSpPr>
              <p:cNvPr id="38947" name="Rectangle 68"/>
              <p:cNvSpPr/>
              <p:nvPr/>
            </p:nvSpPr>
            <p:spPr>
              <a:xfrm>
                <a:off x="3456" y="3783"/>
                <a:ext cx="2256" cy="240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等线" panose="02010600030101010101" pitchFamily="2" charset="-122"/>
                </a:endParaRPr>
              </a:p>
            </p:txBody>
          </p:sp>
          <p:sp>
            <p:nvSpPr>
              <p:cNvPr id="38948" name="Text Box 69"/>
              <p:cNvSpPr txBox="1"/>
              <p:nvPr/>
            </p:nvSpPr>
            <p:spPr>
              <a:xfrm>
                <a:off x="3494" y="3792"/>
                <a:ext cx="1836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zh-CN" altLang="en-US" sz="2000" dirty="0">
                    <a:latin typeface="Times New Roman" panose="02020603050405020304" pitchFamily="18" charset="0"/>
                  </a:rPr>
                  <a:t>0 0 1 0 0                        0 0</a:t>
                </a:r>
                <a:endParaRPr lang="zh-CN" altLang="en-US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8949" name="Line 70"/>
              <p:cNvSpPr/>
              <p:nvPr/>
            </p:nvSpPr>
            <p:spPr>
              <a:xfrm>
                <a:off x="5328" y="3783"/>
                <a:ext cx="0" cy="24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8950" name="Text Box 71"/>
              <p:cNvSpPr txBox="1"/>
              <p:nvPr/>
            </p:nvSpPr>
            <p:spPr>
              <a:xfrm>
                <a:off x="2928" y="3773"/>
                <a:ext cx="508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sz="2000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M </a:t>
                </a:r>
                <a:r>
                  <a:rPr lang="en-US" altLang="zh-CN" sz="2000" dirty="0">
                    <a:solidFill>
                      <a:schemeClr val="folHlink"/>
                    </a:solidFill>
                    <a:latin typeface="等线" panose="02010600030101010101" pitchFamily="2" charset="-122"/>
                  </a:rPr>
                  <a:t>+</a:t>
                </a:r>
                <a:r>
                  <a:rPr lang="en-US" altLang="zh-CN" sz="2000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 2</a:t>
                </a:r>
                <a:endParaRPr lang="en-US" altLang="zh-CN" sz="2000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8951" name="Text Box 72"/>
              <p:cNvSpPr txBox="1"/>
              <p:nvPr/>
            </p:nvSpPr>
            <p:spPr>
              <a:xfrm>
                <a:off x="4336" y="3713"/>
                <a:ext cx="308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zh-CN" altLang="en-US" sz="2400" dirty="0">
                    <a:latin typeface="Times New Roman" panose="02020603050405020304" pitchFamily="18" charset="0"/>
                  </a:rPr>
                  <a:t>…</a:t>
                </a:r>
                <a:endParaRPr lang="zh-CN" altLang="en-US" sz="2400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38946" name="Text Box 73"/>
            <p:cNvSpPr txBox="1"/>
            <p:nvPr/>
          </p:nvSpPr>
          <p:spPr>
            <a:xfrm>
              <a:off x="5262" y="3894"/>
              <a:ext cx="500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1600" dirty="0">
                  <a:latin typeface="Times New Roman" panose="02020603050405020304" pitchFamily="18" charset="0"/>
                </a:rPr>
                <a:t>×××</a:t>
              </a:r>
              <a:endParaRPr lang="en-US" altLang="zh-CN" sz="16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38944" name="AutoShape 75">
            <a:hlinkClick r:id="rId1" action="ppaction://hlinksldjump"/>
          </p:cNvPr>
          <p:cNvSpPr/>
          <p:nvPr/>
        </p:nvSpPr>
        <p:spPr>
          <a:xfrm>
            <a:off x="8589963" y="6516688"/>
            <a:ext cx="539750" cy="333375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endParaRPr lang="zh-CN" altLang="en-US" dirty="0">
              <a:latin typeface="等线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32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32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32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328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632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32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7" dur="500"/>
                                        <p:tgtEl>
                                          <p:spTgt spid="632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632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6" dur="500"/>
                                        <p:tgtEl>
                                          <p:spTgt spid="632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632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632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632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632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632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5" dur="500"/>
                                        <p:tgtEl>
                                          <p:spTgt spid="632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632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5" dur="500"/>
                                        <p:tgtEl>
                                          <p:spTgt spid="632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9" dur="500"/>
                                        <p:tgtEl>
                                          <p:spTgt spid="632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4" dur="500"/>
                                        <p:tgtEl>
                                          <p:spTgt spid="632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500"/>
                            </p:stCondLst>
                            <p:childTnLst>
                              <p:par>
                                <p:cTn id="96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8" dur="500"/>
                                        <p:tgtEl>
                                          <p:spTgt spid="632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3" dur="500"/>
                                        <p:tgtEl>
                                          <p:spTgt spid="632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8" dur="500"/>
                                        <p:tgtEl>
                                          <p:spTgt spid="632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3" dur="500"/>
                                        <p:tgtEl>
                                          <p:spTgt spid="632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8" dur="500"/>
                                        <p:tgtEl>
                                          <p:spTgt spid="632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3" dur="500"/>
                                        <p:tgtEl>
                                          <p:spTgt spid="632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8" dur="500"/>
                                        <p:tgtEl>
                                          <p:spTgt spid="632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3" dur="500"/>
                                        <p:tgtEl>
                                          <p:spTgt spid="632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500"/>
                            </p:stCondLst>
                            <p:childTnLst>
                              <p:par>
                                <p:cTn id="13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7" dur="500"/>
                                        <p:tgtEl>
                                          <p:spTgt spid="632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2835" grpId="0"/>
      <p:bldP spid="632842" grpId="0"/>
      <p:bldP spid="632843" grpId="0"/>
      <p:bldP spid="632850" grpId="0"/>
      <p:bldP spid="632857" grpId="0"/>
      <p:bldP spid="632858" grpId="0"/>
      <p:bldP spid="632859" grpId="0"/>
      <p:bldP spid="632895" grpId="0"/>
      <p:bldP spid="632896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9938" name="Text Box 2"/>
          <p:cNvSpPr txBox="1"/>
          <p:nvPr/>
        </p:nvSpPr>
        <p:spPr>
          <a:xfrm>
            <a:off x="304800" y="304800"/>
            <a:ext cx="26670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</a:rPr>
              <a:t>(2) 执行阶段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grpSp>
        <p:nvGrpSpPr>
          <p:cNvPr id="633859" name="Group 3"/>
          <p:cNvGrpSpPr/>
          <p:nvPr/>
        </p:nvGrpSpPr>
        <p:grpSpPr>
          <a:xfrm>
            <a:off x="854075" y="1524000"/>
            <a:ext cx="3632200" cy="457200"/>
            <a:chOff x="806" y="1562"/>
            <a:chExt cx="2288" cy="288"/>
          </a:xfrm>
        </p:grpSpPr>
        <p:sp>
          <p:nvSpPr>
            <p:cNvPr id="40013" name="Text Box 4"/>
            <p:cNvSpPr txBox="1"/>
            <p:nvPr/>
          </p:nvSpPr>
          <p:spPr>
            <a:xfrm>
              <a:off x="806" y="1562"/>
              <a:ext cx="228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dirty="0">
                  <a:latin typeface="Times New Roman" panose="02020603050405020304" pitchFamily="18" charset="0"/>
                </a:rPr>
                <a:t>CM ( CMAR )        CMDR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40014" name="Line 5"/>
            <p:cNvSpPr/>
            <p:nvPr/>
          </p:nvSpPr>
          <p:spPr>
            <a:xfrm>
              <a:off x="2112" y="1728"/>
              <a:ext cx="28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sp>
        <p:nvSpPr>
          <p:cNvPr id="633862" name="Text Box 6"/>
          <p:cNvSpPr txBox="1"/>
          <p:nvPr/>
        </p:nvSpPr>
        <p:spPr>
          <a:xfrm>
            <a:off x="854075" y="2057400"/>
            <a:ext cx="251142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400" dirty="0">
                <a:latin typeface="Times New Roman" panose="02020603050405020304" pitchFamily="18" charset="0"/>
              </a:rPr>
              <a:t>由 </a:t>
            </a:r>
            <a:r>
              <a:rPr lang="en-US" altLang="zh-CN" sz="2400" dirty="0">
                <a:latin typeface="Times New Roman" panose="02020603050405020304" pitchFamily="18" charset="0"/>
              </a:rPr>
              <a:t>CMDR </a:t>
            </a:r>
            <a:r>
              <a:rPr lang="zh-CN" altLang="en-US" sz="2400" dirty="0">
                <a:latin typeface="Times New Roman" panose="02020603050405020304" pitchFamily="18" charset="0"/>
              </a:rPr>
              <a:t>发命令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grpSp>
        <p:nvGrpSpPr>
          <p:cNvPr id="633863" name="Group 7"/>
          <p:cNvGrpSpPr/>
          <p:nvPr/>
        </p:nvGrpSpPr>
        <p:grpSpPr>
          <a:xfrm>
            <a:off x="854075" y="2743200"/>
            <a:ext cx="3514725" cy="457200"/>
            <a:chOff x="912" y="1643"/>
            <a:chExt cx="2214" cy="288"/>
          </a:xfrm>
        </p:grpSpPr>
        <p:sp>
          <p:nvSpPr>
            <p:cNvPr id="40011" name="Text Box 8"/>
            <p:cNvSpPr txBox="1"/>
            <p:nvPr/>
          </p:nvSpPr>
          <p:spPr>
            <a:xfrm>
              <a:off x="912" y="1643"/>
              <a:ext cx="221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Ad (CMDR )         CMAR</a:t>
              </a:r>
              <a:endParaRPr lang="en-US" altLang="zh-CN" sz="24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0012" name="Line 9"/>
            <p:cNvSpPr/>
            <p:nvPr/>
          </p:nvSpPr>
          <p:spPr>
            <a:xfrm>
              <a:off x="2122" y="1787"/>
              <a:ext cx="288" cy="0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633866" name="Group 10"/>
          <p:cNvGrpSpPr/>
          <p:nvPr/>
        </p:nvGrpSpPr>
        <p:grpSpPr>
          <a:xfrm>
            <a:off x="854075" y="3276600"/>
            <a:ext cx="3556000" cy="457200"/>
            <a:chOff x="778" y="2448"/>
            <a:chExt cx="2240" cy="288"/>
          </a:xfrm>
        </p:grpSpPr>
        <p:sp>
          <p:nvSpPr>
            <p:cNvPr id="40009" name="Text Box 11"/>
            <p:cNvSpPr txBox="1"/>
            <p:nvPr/>
          </p:nvSpPr>
          <p:spPr>
            <a:xfrm>
              <a:off x="778" y="2448"/>
              <a:ext cx="224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dirty="0">
                  <a:latin typeface="Times New Roman" panose="02020603050405020304" pitchFamily="18" charset="0"/>
                </a:rPr>
                <a:t>CM (CMAR )        CMDR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40010" name="Line 12"/>
            <p:cNvSpPr/>
            <p:nvPr/>
          </p:nvSpPr>
          <p:spPr>
            <a:xfrm>
              <a:off x="2026" y="2592"/>
              <a:ext cx="28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sp>
        <p:nvSpPr>
          <p:cNvPr id="633869" name="Text Box 13"/>
          <p:cNvSpPr txBox="1"/>
          <p:nvPr/>
        </p:nvSpPr>
        <p:spPr>
          <a:xfrm>
            <a:off x="854075" y="3810000"/>
            <a:ext cx="295592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400" dirty="0">
                <a:latin typeface="Times New Roman" panose="02020603050405020304" pitchFamily="18" charset="0"/>
              </a:rPr>
              <a:t>由 </a:t>
            </a:r>
            <a:r>
              <a:rPr lang="en-US" altLang="zh-CN" sz="2400" dirty="0">
                <a:latin typeface="Times New Roman" panose="02020603050405020304" pitchFamily="18" charset="0"/>
              </a:rPr>
              <a:t>CMDR </a:t>
            </a:r>
            <a:r>
              <a:rPr lang="zh-CN" altLang="en-US" sz="2400" dirty="0">
                <a:latin typeface="Times New Roman" panose="02020603050405020304" pitchFamily="18" charset="0"/>
              </a:rPr>
              <a:t>发命令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grpSp>
        <p:nvGrpSpPr>
          <p:cNvPr id="633870" name="Group 14"/>
          <p:cNvGrpSpPr/>
          <p:nvPr/>
        </p:nvGrpSpPr>
        <p:grpSpPr>
          <a:xfrm>
            <a:off x="854075" y="4495800"/>
            <a:ext cx="3514725" cy="457200"/>
            <a:chOff x="912" y="2690"/>
            <a:chExt cx="2214" cy="288"/>
          </a:xfrm>
        </p:grpSpPr>
        <p:sp>
          <p:nvSpPr>
            <p:cNvPr id="40007" name="Text Box 15"/>
            <p:cNvSpPr txBox="1"/>
            <p:nvPr/>
          </p:nvSpPr>
          <p:spPr>
            <a:xfrm>
              <a:off x="912" y="2690"/>
              <a:ext cx="221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Ad (CMDR )         CMAR</a:t>
              </a:r>
              <a:endParaRPr lang="en-US" altLang="zh-CN" sz="24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0008" name="Line 16"/>
            <p:cNvSpPr/>
            <p:nvPr/>
          </p:nvSpPr>
          <p:spPr>
            <a:xfrm>
              <a:off x="2122" y="2834"/>
              <a:ext cx="288" cy="0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633873" name="Group 17"/>
          <p:cNvGrpSpPr/>
          <p:nvPr/>
        </p:nvGrpSpPr>
        <p:grpSpPr>
          <a:xfrm>
            <a:off x="854075" y="5029200"/>
            <a:ext cx="3556000" cy="457200"/>
            <a:chOff x="778" y="3382"/>
            <a:chExt cx="2240" cy="288"/>
          </a:xfrm>
        </p:grpSpPr>
        <p:sp>
          <p:nvSpPr>
            <p:cNvPr id="40005" name="Text Box 18"/>
            <p:cNvSpPr txBox="1"/>
            <p:nvPr/>
          </p:nvSpPr>
          <p:spPr>
            <a:xfrm>
              <a:off x="778" y="3382"/>
              <a:ext cx="224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dirty="0">
                  <a:latin typeface="Times New Roman" panose="02020603050405020304" pitchFamily="18" charset="0"/>
                </a:rPr>
                <a:t>CM (CMAR )        CMDR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40006" name="Line 19"/>
            <p:cNvSpPr/>
            <p:nvPr/>
          </p:nvSpPr>
          <p:spPr>
            <a:xfrm>
              <a:off x="2026" y="3526"/>
              <a:ext cx="28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sp>
        <p:nvSpPr>
          <p:cNvPr id="633876" name="Text Box 20"/>
          <p:cNvSpPr txBox="1"/>
          <p:nvPr/>
        </p:nvSpPr>
        <p:spPr>
          <a:xfrm>
            <a:off x="854075" y="5562600"/>
            <a:ext cx="287972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400" dirty="0">
                <a:latin typeface="Times New Roman" panose="02020603050405020304" pitchFamily="18" charset="0"/>
              </a:rPr>
              <a:t>由 </a:t>
            </a:r>
            <a:r>
              <a:rPr lang="en-US" altLang="zh-CN" sz="2400" dirty="0">
                <a:latin typeface="Times New Roman" panose="02020603050405020304" pitchFamily="18" charset="0"/>
              </a:rPr>
              <a:t>CMDR </a:t>
            </a:r>
            <a:r>
              <a:rPr lang="zh-CN" altLang="en-US" sz="2400" dirty="0">
                <a:latin typeface="Times New Roman" panose="02020603050405020304" pitchFamily="18" charset="0"/>
              </a:rPr>
              <a:t>发命令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grpSp>
        <p:nvGrpSpPr>
          <p:cNvPr id="633877" name="Group 21"/>
          <p:cNvGrpSpPr/>
          <p:nvPr/>
        </p:nvGrpSpPr>
        <p:grpSpPr>
          <a:xfrm>
            <a:off x="533400" y="990600"/>
            <a:ext cx="5360988" cy="457200"/>
            <a:chOff x="336" y="624"/>
            <a:chExt cx="3377" cy="288"/>
          </a:xfrm>
        </p:grpSpPr>
        <p:sp>
          <p:nvSpPr>
            <p:cNvPr id="40002" name="Text Box 22"/>
            <p:cNvSpPr txBox="1"/>
            <p:nvPr/>
          </p:nvSpPr>
          <p:spPr>
            <a:xfrm>
              <a:off x="336" y="624"/>
              <a:ext cx="337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OP ( IR )       </a:t>
              </a:r>
              <a:r>
                <a:rPr lang="zh-CN" altLang="en-US" sz="22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微地址形成部件</a:t>
              </a:r>
              <a:r>
                <a:rPr lang="zh-CN" altLang="en-US" sz="24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       </a:t>
              </a:r>
              <a:r>
                <a:rPr lang="en-US" altLang="zh-CN" sz="24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CMAR</a:t>
              </a:r>
              <a:endParaRPr lang="en-US" altLang="zh-CN" sz="24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0003" name="Line 23"/>
            <p:cNvSpPr/>
            <p:nvPr/>
          </p:nvSpPr>
          <p:spPr>
            <a:xfrm>
              <a:off x="1162" y="786"/>
              <a:ext cx="288" cy="0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40004" name="Line 24"/>
            <p:cNvSpPr/>
            <p:nvPr/>
          </p:nvSpPr>
          <p:spPr>
            <a:xfrm>
              <a:off x="2736" y="786"/>
              <a:ext cx="288" cy="0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633881" name="Group 25"/>
          <p:cNvGrpSpPr/>
          <p:nvPr/>
        </p:nvGrpSpPr>
        <p:grpSpPr>
          <a:xfrm>
            <a:off x="6172200" y="990600"/>
            <a:ext cx="2284413" cy="457200"/>
            <a:chOff x="1248" y="986"/>
            <a:chExt cx="1439" cy="288"/>
          </a:xfrm>
        </p:grpSpPr>
        <p:sp>
          <p:nvSpPr>
            <p:cNvPr id="40000" name="Line 26"/>
            <p:cNvSpPr/>
            <p:nvPr/>
          </p:nvSpPr>
          <p:spPr>
            <a:xfrm>
              <a:off x="1584" y="1128"/>
              <a:ext cx="28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40001" name="Text Box 27"/>
            <p:cNvSpPr txBox="1"/>
            <p:nvPr/>
          </p:nvSpPr>
          <p:spPr>
            <a:xfrm>
              <a:off x="1248" y="986"/>
              <a:ext cx="1439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400" dirty="0">
                  <a:latin typeface="Times New Roman" panose="02020603050405020304" pitchFamily="18" charset="0"/>
                </a:rPr>
                <a:t>( </a:t>
              </a:r>
              <a:r>
                <a:rPr lang="en-US" altLang="zh-CN" sz="24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P  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      CMAR )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33884" name="Group 28"/>
          <p:cNvGrpSpPr/>
          <p:nvPr/>
        </p:nvGrpSpPr>
        <p:grpSpPr>
          <a:xfrm>
            <a:off x="854075" y="6172200"/>
            <a:ext cx="3514725" cy="457200"/>
            <a:chOff x="912" y="3936"/>
            <a:chExt cx="2214" cy="288"/>
          </a:xfrm>
        </p:grpSpPr>
        <p:sp>
          <p:nvSpPr>
            <p:cNvPr id="39998" name="Text Box 29"/>
            <p:cNvSpPr txBox="1"/>
            <p:nvPr/>
          </p:nvSpPr>
          <p:spPr>
            <a:xfrm>
              <a:off x="912" y="3936"/>
              <a:ext cx="221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Ad (CMDR )         CMAR</a:t>
              </a:r>
              <a:endParaRPr lang="en-US" altLang="zh-CN" sz="24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9999" name="Line 30"/>
            <p:cNvSpPr/>
            <p:nvPr/>
          </p:nvSpPr>
          <p:spPr>
            <a:xfrm>
              <a:off x="2122" y="4080"/>
              <a:ext cx="288" cy="0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headEnd type="none" w="med" len="med"/>
              <a:tailEnd type="stealth" w="med" len="med"/>
            </a:ln>
          </p:spPr>
        </p:sp>
      </p:grpSp>
      <p:sp>
        <p:nvSpPr>
          <p:cNvPr id="633887" name="Line 31"/>
          <p:cNvSpPr/>
          <p:nvPr/>
        </p:nvSpPr>
        <p:spPr>
          <a:xfrm flipV="1">
            <a:off x="6283325" y="1752600"/>
            <a:ext cx="0" cy="22860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med" len="med"/>
          </a:ln>
        </p:spPr>
      </p:sp>
      <p:grpSp>
        <p:nvGrpSpPr>
          <p:cNvPr id="633888" name="Group 32"/>
          <p:cNvGrpSpPr/>
          <p:nvPr/>
        </p:nvGrpSpPr>
        <p:grpSpPr>
          <a:xfrm>
            <a:off x="4806950" y="1462088"/>
            <a:ext cx="2203450" cy="396875"/>
            <a:chOff x="3024" y="921"/>
            <a:chExt cx="1388" cy="250"/>
          </a:xfrm>
        </p:grpSpPr>
        <p:sp>
          <p:nvSpPr>
            <p:cNvPr id="39996" name="Text Box 33"/>
            <p:cNvSpPr txBox="1"/>
            <p:nvPr/>
          </p:nvSpPr>
          <p:spPr>
            <a:xfrm>
              <a:off x="3024" y="921"/>
              <a:ext cx="138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dirty="0">
                  <a:latin typeface="Times New Roman" panose="02020603050405020304" pitchFamily="18" charset="0"/>
                </a:rPr>
                <a:t>Ad ( IR )       MAR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39997" name="Line 34"/>
            <p:cNvSpPr/>
            <p:nvPr/>
          </p:nvSpPr>
          <p:spPr>
            <a:xfrm>
              <a:off x="3744" y="1056"/>
              <a:ext cx="19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633891" name="Group 35"/>
          <p:cNvGrpSpPr/>
          <p:nvPr/>
        </p:nvGrpSpPr>
        <p:grpSpPr>
          <a:xfrm>
            <a:off x="7962900" y="1447800"/>
            <a:ext cx="876300" cy="396875"/>
            <a:chOff x="4800" y="912"/>
            <a:chExt cx="552" cy="250"/>
          </a:xfrm>
        </p:grpSpPr>
        <p:sp>
          <p:nvSpPr>
            <p:cNvPr id="39994" name="Text Box 36"/>
            <p:cNvSpPr txBox="1"/>
            <p:nvPr/>
          </p:nvSpPr>
          <p:spPr>
            <a:xfrm>
              <a:off x="4800" y="912"/>
              <a:ext cx="55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dirty="0">
                  <a:latin typeface="Times New Roman" panose="02020603050405020304" pitchFamily="18" charset="0"/>
                </a:rPr>
                <a:t>1      R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39995" name="Line 37"/>
            <p:cNvSpPr/>
            <p:nvPr/>
          </p:nvSpPr>
          <p:spPr>
            <a:xfrm>
              <a:off x="4951" y="1047"/>
              <a:ext cx="19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sp>
        <p:nvSpPr>
          <p:cNvPr id="633894" name="Line 38"/>
          <p:cNvSpPr/>
          <p:nvPr/>
        </p:nvSpPr>
        <p:spPr>
          <a:xfrm flipV="1">
            <a:off x="8380413" y="1752600"/>
            <a:ext cx="0" cy="22860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med" len="med"/>
          </a:ln>
        </p:spPr>
      </p:sp>
      <p:sp>
        <p:nvSpPr>
          <p:cNvPr id="633895" name="Line 39"/>
          <p:cNvSpPr/>
          <p:nvPr/>
        </p:nvSpPr>
        <p:spPr>
          <a:xfrm flipV="1">
            <a:off x="5900738" y="3551238"/>
            <a:ext cx="0" cy="22860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med" len="med"/>
          </a:ln>
        </p:spPr>
      </p:sp>
      <p:grpSp>
        <p:nvGrpSpPr>
          <p:cNvPr id="633896" name="Group 40"/>
          <p:cNvGrpSpPr/>
          <p:nvPr/>
        </p:nvGrpSpPr>
        <p:grpSpPr>
          <a:xfrm>
            <a:off x="5105400" y="3260725"/>
            <a:ext cx="2443163" cy="396875"/>
            <a:chOff x="3216" y="2054"/>
            <a:chExt cx="1539" cy="250"/>
          </a:xfrm>
        </p:grpSpPr>
        <p:sp>
          <p:nvSpPr>
            <p:cNvPr id="39992" name="Text Box 41"/>
            <p:cNvSpPr txBox="1"/>
            <p:nvPr/>
          </p:nvSpPr>
          <p:spPr>
            <a:xfrm>
              <a:off x="3216" y="2054"/>
              <a:ext cx="1539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dirty="0">
                  <a:latin typeface="Times New Roman" panose="02020603050405020304" pitchFamily="18" charset="0"/>
                </a:rPr>
                <a:t>M ( MAR )       MDR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39993" name="Line 42"/>
            <p:cNvSpPr/>
            <p:nvPr/>
          </p:nvSpPr>
          <p:spPr>
            <a:xfrm>
              <a:off x="4080" y="2189"/>
              <a:ext cx="19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sp>
        <p:nvSpPr>
          <p:cNvPr id="633899" name="Line 43"/>
          <p:cNvSpPr/>
          <p:nvPr/>
        </p:nvSpPr>
        <p:spPr>
          <a:xfrm flipV="1">
            <a:off x="6851650" y="5218113"/>
            <a:ext cx="0" cy="255587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med" len="med"/>
          </a:ln>
        </p:spPr>
      </p:sp>
      <p:grpSp>
        <p:nvGrpSpPr>
          <p:cNvPr id="633900" name="Group 44"/>
          <p:cNvGrpSpPr/>
          <p:nvPr/>
        </p:nvGrpSpPr>
        <p:grpSpPr>
          <a:xfrm>
            <a:off x="5943600" y="4876800"/>
            <a:ext cx="1604963" cy="396875"/>
            <a:chOff x="3456" y="3120"/>
            <a:chExt cx="1011" cy="250"/>
          </a:xfrm>
        </p:grpSpPr>
        <p:sp>
          <p:nvSpPr>
            <p:cNvPr id="39990" name="Text Box 45"/>
            <p:cNvSpPr txBox="1"/>
            <p:nvPr/>
          </p:nvSpPr>
          <p:spPr>
            <a:xfrm>
              <a:off x="3456" y="3120"/>
              <a:ext cx="1011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dirty="0">
                  <a:latin typeface="Times New Roman" panose="02020603050405020304" pitchFamily="18" charset="0"/>
                </a:rPr>
                <a:t>MDR       AC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39991" name="Line 46"/>
            <p:cNvSpPr/>
            <p:nvPr/>
          </p:nvSpPr>
          <p:spPr>
            <a:xfrm>
              <a:off x="3936" y="3255"/>
              <a:ext cx="19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633903" name="Group 47"/>
          <p:cNvGrpSpPr/>
          <p:nvPr/>
        </p:nvGrpSpPr>
        <p:grpSpPr>
          <a:xfrm>
            <a:off x="4748213" y="5360988"/>
            <a:ext cx="4319587" cy="582612"/>
            <a:chOff x="2991" y="3377"/>
            <a:chExt cx="2721" cy="367"/>
          </a:xfrm>
        </p:grpSpPr>
        <p:sp>
          <p:nvSpPr>
            <p:cNvPr id="39984" name="Rectangle 48"/>
            <p:cNvSpPr/>
            <p:nvPr/>
          </p:nvSpPr>
          <p:spPr>
            <a:xfrm>
              <a:off x="3456" y="3447"/>
              <a:ext cx="2256" cy="240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39985" name="Text Box 49"/>
            <p:cNvSpPr txBox="1"/>
            <p:nvPr/>
          </p:nvSpPr>
          <p:spPr>
            <a:xfrm>
              <a:off x="3494" y="3456"/>
              <a:ext cx="187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0 0 0 0 0 0 1                      0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39986" name="Line 50"/>
            <p:cNvSpPr/>
            <p:nvPr/>
          </p:nvSpPr>
          <p:spPr>
            <a:xfrm>
              <a:off x="5328" y="3447"/>
              <a:ext cx="0" cy="24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9987" name="Text Box 51"/>
            <p:cNvSpPr txBox="1"/>
            <p:nvPr/>
          </p:nvSpPr>
          <p:spPr>
            <a:xfrm>
              <a:off x="2991" y="3494"/>
              <a:ext cx="455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P </a:t>
              </a:r>
              <a:r>
                <a:rPr lang="en-US" altLang="zh-CN" sz="2000" dirty="0">
                  <a:solidFill>
                    <a:schemeClr val="folHlink"/>
                  </a:solidFill>
                  <a:latin typeface="等线" panose="02010600030101010101" pitchFamily="2" charset="-122"/>
                </a:rPr>
                <a:t>+</a:t>
              </a:r>
              <a:r>
                <a:rPr lang="en-US" altLang="zh-CN" sz="2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 2</a:t>
              </a:r>
              <a:endParaRPr lang="en-US" altLang="zh-CN" sz="2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9988" name="Text Box 52"/>
            <p:cNvSpPr txBox="1"/>
            <p:nvPr/>
          </p:nvSpPr>
          <p:spPr>
            <a:xfrm>
              <a:off x="4262" y="3377"/>
              <a:ext cx="69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400" dirty="0">
                  <a:latin typeface="Times New Roman" panose="02020603050405020304" pitchFamily="18" charset="0"/>
                </a:rPr>
                <a:t>        …</a:t>
              </a:r>
              <a:endParaRPr lang="zh-CN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39989" name="Text Box 53"/>
            <p:cNvSpPr txBox="1"/>
            <p:nvPr/>
          </p:nvSpPr>
          <p:spPr>
            <a:xfrm>
              <a:off x="5414" y="3456"/>
              <a:ext cx="267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M</a:t>
              </a:r>
              <a:endParaRPr lang="en-US" altLang="zh-CN" sz="2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633910" name="Text Box 54"/>
          <p:cNvSpPr txBox="1"/>
          <p:nvPr/>
        </p:nvSpPr>
        <p:spPr>
          <a:xfrm>
            <a:off x="2727325" y="304800"/>
            <a:ext cx="3292475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800" dirty="0">
                <a:solidFill>
                  <a:schemeClr val="folHlink"/>
                </a:solidFill>
                <a:latin typeface="Times New Roman" panose="02020603050405020304" pitchFamily="18" charset="0"/>
              </a:rPr>
              <a:t>执行 </a:t>
            </a:r>
            <a:r>
              <a:rPr lang="en-US" altLang="zh-CN" sz="2800" dirty="0">
                <a:solidFill>
                  <a:schemeClr val="folHlink"/>
                </a:solidFill>
                <a:latin typeface="Times New Roman" panose="02020603050405020304" pitchFamily="18" charset="0"/>
              </a:rPr>
              <a:t>LDA </a:t>
            </a:r>
            <a:r>
              <a:rPr lang="zh-CN" altLang="en-US" sz="2800" dirty="0">
                <a:solidFill>
                  <a:schemeClr val="folHlink"/>
                </a:solidFill>
                <a:latin typeface="Times New Roman" panose="02020603050405020304" pitchFamily="18" charset="0"/>
              </a:rPr>
              <a:t>微程序 </a:t>
            </a:r>
            <a:endParaRPr lang="zh-CN" altLang="en-US" sz="20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633911" name="Text Box 55"/>
          <p:cNvSpPr txBox="1"/>
          <p:nvPr/>
        </p:nvSpPr>
        <p:spPr>
          <a:xfrm>
            <a:off x="868363" y="2697163"/>
            <a:ext cx="3390900" cy="4270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200" dirty="0">
                <a:latin typeface="Times New Roman" panose="02020603050405020304" pitchFamily="18" charset="0"/>
              </a:rPr>
              <a:t>形成下条微指令地址  </a:t>
            </a:r>
            <a:r>
              <a:rPr lang="en-US" altLang="zh-CN" sz="2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P </a:t>
            </a:r>
            <a:r>
              <a:rPr lang="en-US" altLang="zh-CN" sz="2000" dirty="0">
                <a:solidFill>
                  <a:schemeClr val="folHlink"/>
                </a:solidFill>
                <a:latin typeface="等线" panose="02010600030101010101" pitchFamily="2" charset="-122"/>
              </a:rPr>
              <a:t>+</a:t>
            </a:r>
            <a:r>
              <a:rPr lang="en-US" altLang="zh-CN" sz="2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 1</a:t>
            </a:r>
            <a:endParaRPr lang="zh-CN" altLang="en-US" sz="20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633912" name="Text Box 56"/>
          <p:cNvSpPr txBox="1"/>
          <p:nvPr/>
        </p:nvSpPr>
        <p:spPr>
          <a:xfrm>
            <a:off x="838200" y="4525963"/>
            <a:ext cx="3886200" cy="4270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200" dirty="0">
                <a:latin typeface="Times New Roman" panose="02020603050405020304" pitchFamily="18" charset="0"/>
              </a:rPr>
              <a:t>形成下条微指令地址 </a:t>
            </a:r>
            <a:r>
              <a:rPr lang="en-US" altLang="zh-CN" sz="2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P </a:t>
            </a:r>
            <a:r>
              <a:rPr lang="en-US" altLang="zh-CN" sz="2000" dirty="0">
                <a:solidFill>
                  <a:schemeClr val="folHlink"/>
                </a:solidFill>
                <a:latin typeface="等线" panose="02010600030101010101" pitchFamily="2" charset="-122"/>
              </a:rPr>
              <a:t>+</a:t>
            </a:r>
            <a:r>
              <a:rPr lang="en-US" altLang="zh-CN" sz="2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 2</a:t>
            </a:r>
            <a:endParaRPr lang="zh-CN" altLang="en-US" sz="20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633913" name="Text Box 57"/>
          <p:cNvSpPr txBox="1"/>
          <p:nvPr/>
        </p:nvSpPr>
        <p:spPr>
          <a:xfrm>
            <a:off x="838200" y="6126163"/>
            <a:ext cx="3022600" cy="4270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200" dirty="0">
                <a:latin typeface="Times New Roman" panose="02020603050405020304" pitchFamily="18" charset="0"/>
              </a:rPr>
              <a:t>形成下条微指令地址 </a:t>
            </a:r>
            <a:r>
              <a:rPr lang="en-US" altLang="zh-CN" sz="2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M</a:t>
            </a:r>
            <a:endParaRPr lang="zh-CN" altLang="en-US" sz="20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633914" name="Group 58"/>
          <p:cNvGrpSpPr/>
          <p:nvPr/>
        </p:nvGrpSpPr>
        <p:grpSpPr>
          <a:xfrm>
            <a:off x="4748213" y="6172200"/>
            <a:ext cx="2386012" cy="457200"/>
            <a:chOff x="3888" y="3888"/>
            <a:chExt cx="1503" cy="288"/>
          </a:xfrm>
        </p:grpSpPr>
        <p:sp>
          <p:nvSpPr>
            <p:cNvPr id="39982" name="Line 59"/>
            <p:cNvSpPr/>
            <p:nvPr/>
          </p:nvSpPr>
          <p:spPr>
            <a:xfrm>
              <a:off x="4320" y="4030"/>
              <a:ext cx="28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39983" name="Text Box 60"/>
            <p:cNvSpPr txBox="1"/>
            <p:nvPr/>
          </p:nvSpPr>
          <p:spPr>
            <a:xfrm>
              <a:off x="3888" y="3888"/>
              <a:ext cx="150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400" dirty="0">
                  <a:latin typeface="Times New Roman" panose="02020603050405020304" pitchFamily="18" charset="0"/>
                </a:rPr>
                <a:t>( </a:t>
              </a:r>
              <a:r>
                <a:rPr lang="en-US" altLang="zh-CN" sz="24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M  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      CMAR )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33917" name="Group 61"/>
          <p:cNvGrpSpPr/>
          <p:nvPr/>
        </p:nvGrpSpPr>
        <p:grpSpPr>
          <a:xfrm>
            <a:off x="4748213" y="3717925"/>
            <a:ext cx="4319587" cy="487363"/>
            <a:chOff x="2991" y="2342"/>
            <a:chExt cx="2721" cy="307"/>
          </a:xfrm>
        </p:grpSpPr>
        <p:grpSp>
          <p:nvGrpSpPr>
            <p:cNvPr id="39975" name="Group 62"/>
            <p:cNvGrpSpPr/>
            <p:nvPr/>
          </p:nvGrpSpPr>
          <p:grpSpPr>
            <a:xfrm>
              <a:off x="2991" y="2371"/>
              <a:ext cx="2721" cy="278"/>
              <a:chOff x="2991" y="2371"/>
              <a:chExt cx="2721" cy="278"/>
            </a:xfrm>
          </p:grpSpPr>
          <p:sp>
            <p:nvSpPr>
              <p:cNvPr id="39977" name="Rectangle 63"/>
              <p:cNvSpPr/>
              <p:nvPr/>
            </p:nvSpPr>
            <p:spPr>
              <a:xfrm>
                <a:off x="3456" y="2381"/>
                <a:ext cx="2256" cy="240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等线" panose="02010600030101010101" pitchFamily="2" charset="-122"/>
                </a:endParaRPr>
              </a:p>
            </p:txBody>
          </p:sp>
          <p:sp>
            <p:nvSpPr>
              <p:cNvPr id="39978" name="Text Box 64"/>
              <p:cNvSpPr txBox="1"/>
              <p:nvPr/>
            </p:nvSpPr>
            <p:spPr>
              <a:xfrm>
                <a:off x="3494" y="2390"/>
                <a:ext cx="1836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zh-CN" altLang="en-US" sz="2000" dirty="0">
                    <a:latin typeface="Times New Roman" panose="02020603050405020304" pitchFamily="18" charset="0"/>
                  </a:rPr>
                  <a:t>0 1 0 0                              0</a:t>
                </a:r>
                <a:endParaRPr lang="zh-CN" altLang="en-US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9979" name="Text Box 65"/>
              <p:cNvSpPr txBox="1"/>
              <p:nvPr/>
            </p:nvSpPr>
            <p:spPr>
              <a:xfrm>
                <a:off x="5322" y="2371"/>
                <a:ext cx="375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sz="2000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P</a:t>
                </a:r>
                <a:r>
                  <a:rPr lang="en-US" altLang="zh-CN" sz="2000" dirty="0">
                    <a:solidFill>
                      <a:schemeClr val="folHlink"/>
                    </a:solidFill>
                    <a:latin typeface="等线" panose="02010600030101010101" pitchFamily="2" charset="-122"/>
                  </a:rPr>
                  <a:t>+</a:t>
                </a:r>
                <a:r>
                  <a:rPr lang="en-US" altLang="zh-CN" sz="2000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2</a:t>
                </a:r>
                <a:endParaRPr lang="en-US" altLang="zh-CN" sz="2000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9980" name="Line 66"/>
              <p:cNvSpPr/>
              <p:nvPr/>
            </p:nvSpPr>
            <p:spPr>
              <a:xfrm>
                <a:off x="5328" y="2381"/>
                <a:ext cx="0" cy="24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9981" name="Text Box 67"/>
              <p:cNvSpPr txBox="1"/>
              <p:nvPr/>
            </p:nvSpPr>
            <p:spPr>
              <a:xfrm>
                <a:off x="2991" y="2399"/>
                <a:ext cx="455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sz="2000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P </a:t>
                </a:r>
                <a:r>
                  <a:rPr lang="en-US" altLang="zh-CN" sz="2000" dirty="0">
                    <a:solidFill>
                      <a:schemeClr val="folHlink"/>
                    </a:solidFill>
                    <a:latin typeface="等线" panose="02010600030101010101" pitchFamily="2" charset="-122"/>
                  </a:rPr>
                  <a:t>+</a:t>
                </a:r>
                <a:r>
                  <a:rPr lang="en-US" altLang="zh-CN" sz="2000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 1</a:t>
                </a:r>
                <a:endParaRPr lang="en-US" altLang="zh-CN" sz="2000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39976" name="Text Box 68"/>
            <p:cNvSpPr txBox="1"/>
            <p:nvPr/>
          </p:nvSpPr>
          <p:spPr>
            <a:xfrm>
              <a:off x="4428" y="2342"/>
              <a:ext cx="27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…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33925" name="Group 69"/>
          <p:cNvGrpSpPr/>
          <p:nvPr/>
        </p:nvGrpSpPr>
        <p:grpSpPr>
          <a:xfrm>
            <a:off x="5013325" y="1905000"/>
            <a:ext cx="4054475" cy="487363"/>
            <a:chOff x="3158" y="1200"/>
            <a:chExt cx="2554" cy="307"/>
          </a:xfrm>
        </p:grpSpPr>
        <p:grpSp>
          <p:nvGrpSpPr>
            <p:cNvPr id="39968" name="Group 70"/>
            <p:cNvGrpSpPr/>
            <p:nvPr/>
          </p:nvGrpSpPr>
          <p:grpSpPr>
            <a:xfrm>
              <a:off x="3158" y="1238"/>
              <a:ext cx="2554" cy="269"/>
              <a:chOff x="3158" y="1238"/>
              <a:chExt cx="2554" cy="269"/>
            </a:xfrm>
          </p:grpSpPr>
          <p:sp>
            <p:nvSpPr>
              <p:cNvPr id="39970" name="Rectangle 71"/>
              <p:cNvSpPr/>
              <p:nvPr/>
            </p:nvSpPr>
            <p:spPr>
              <a:xfrm>
                <a:off x="3456" y="1248"/>
                <a:ext cx="2256" cy="240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等线" panose="02010600030101010101" pitchFamily="2" charset="-122"/>
                </a:endParaRPr>
              </a:p>
            </p:txBody>
          </p:sp>
          <p:sp>
            <p:nvSpPr>
              <p:cNvPr id="39971" name="Text Box 72"/>
              <p:cNvSpPr txBox="1"/>
              <p:nvPr/>
            </p:nvSpPr>
            <p:spPr>
              <a:xfrm>
                <a:off x="3494" y="1257"/>
                <a:ext cx="1876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zh-CN" altLang="en-US" sz="2000" dirty="0">
                    <a:latin typeface="Times New Roman" panose="02020603050405020304" pitchFamily="18" charset="0"/>
                  </a:rPr>
                  <a:t>0 0 0 1                         0 0 1</a:t>
                </a:r>
                <a:endParaRPr lang="zh-CN" altLang="en-US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9972" name="Text Box 73"/>
              <p:cNvSpPr txBox="1"/>
              <p:nvPr/>
            </p:nvSpPr>
            <p:spPr>
              <a:xfrm>
                <a:off x="5322" y="1238"/>
                <a:ext cx="375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sz="2000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P</a:t>
                </a:r>
                <a:r>
                  <a:rPr lang="en-US" altLang="zh-CN" sz="2000" dirty="0">
                    <a:solidFill>
                      <a:schemeClr val="folHlink"/>
                    </a:solidFill>
                    <a:latin typeface="等线" panose="02010600030101010101" pitchFamily="2" charset="-122"/>
                  </a:rPr>
                  <a:t>+</a:t>
                </a:r>
                <a:r>
                  <a:rPr lang="en-US" altLang="zh-CN" sz="2000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1</a:t>
                </a:r>
                <a:endParaRPr lang="en-US" altLang="zh-CN" sz="2000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9973" name="Line 74"/>
              <p:cNvSpPr/>
              <p:nvPr/>
            </p:nvSpPr>
            <p:spPr>
              <a:xfrm>
                <a:off x="5328" y="1248"/>
                <a:ext cx="0" cy="24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39974" name="Text Box 75"/>
              <p:cNvSpPr txBox="1"/>
              <p:nvPr/>
            </p:nvSpPr>
            <p:spPr>
              <a:xfrm>
                <a:off x="3158" y="1257"/>
                <a:ext cx="214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sz="2000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P</a:t>
                </a:r>
                <a:endParaRPr lang="en-US" altLang="zh-CN" sz="2000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39969" name="Text Box 76"/>
            <p:cNvSpPr txBox="1"/>
            <p:nvPr/>
          </p:nvSpPr>
          <p:spPr>
            <a:xfrm>
              <a:off x="4428" y="1200"/>
              <a:ext cx="27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…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633933" name="Rectangle 77"/>
          <p:cNvSpPr>
            <a:spLocks noChangeArrowheads="1"/>
          </p:cNvSpPr>
          <p:nvPr/>
        </p:nvSpPr>
        <p:spPr bwMode="auto">
          <a:xfrm>
            <a:off x="7696200" y="152400"/>
            <a:ext cx="1447800" cy="838200"/>
          </a:xfrm>
          <a:prstGeom prst="rect">
            <a:avLst/>
          </a:prstGeom>
          <a:noFill/>
          <a:ln>
            <a:noFill/>
          </a:ln>
          <a:effectLst/>
        </p:spPr>
        <p:txBody>
          <a:bodyPr lIns="92075" tIns="46038" rIns="92075" bIns="46038" anchor="ctr"/>
          <a:lstStyle>
            <a:lvl1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10.2</a:t>
            </a:r>
            <a:endParaRPr kumimoji="1" lang="zh-CN" altLang="en-US" sz="4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967" name="AutoShape 78">
            <a:hlinkClick r:id="rId1" action="ppaction://hlinksldjump"/>
          </p:cNvPr>
          <p:cNvSpPr/>
          <p:nvPr/>
        </p:nvSpPr>
        <p:spPr>
          <a:xfrm>
            <a:off x="8589963" y="6516688"/>
            <a:ext cx="539750" cy="333375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endParaRPr lang="zh-CN" altLang="en-US" dirty="0">
              <a:latin typeface="等线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33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33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33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33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633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33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7" dur="500"/>
                                        <p:tgtEl>
                                          <p:spTgt spid="633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633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6" dur="500"/>
                                        <p:tgtEl>
                                          <p:spTgt spid="633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633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6339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3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633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633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0" dur="500"/>
                                        <p:tgtEl>
                                          <p:spTgt spid="633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633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0" dur="500"/>
                                        <p:tgtEl>
                                          <p:spTgt spid="633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"/>
                            </p:stCondLst>
                            <p:childTnLst>
                              <p:par>
                                <p:cTn id="8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4" dur="500"/>
                                        <p:tgtEl>
                                          <p:spTgt spid="633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9" dur="500"/>
                                        <p:tgtEl>
                                          <p:spTgt spid="6339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3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4" dur="500"/>
                                        <p:tgtEl>
                                          <p:spTgt spid="633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9" dur="500"/>
                                        <p:tgtEl>
                                          <p:spTgt spid="633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04" dur="500"/>
                                        <p:tgtEl>
                                          <p:spTgt spid="633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9" dur="500"/>
                                        <p:tgtEl>
                                          <p:spTgt spid="633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4" dur="500"/>
                                        <p:tgtEl>
                                          <p:spTgt spid="633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500"/>
                            </p:stCondLst>
                            <p:childTnLst>
                              <p:par>
                                <p:cTn id="116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8" dur="500"/>
                                        <p:tgtEl>
                                          <p:spTgt spid="633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3" dur="500"/>
                                        <p:tgtEl>
                                          <p:spTgt spid="6339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33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8" dur="500"/>
                                        <p:tgtEl>
                                          <p:spTgt spid="633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3" dur="500"/>
                                        <p:tgtEl>
                                          <p:spTgt spid="633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3862" grpId="0"/>
      <p:bldP spid="633869" grpId="0"/>
      <p:bldP spid="633876" grpId="0"/>
      <p:bldP spid="633910" grpId="0"/>
      <p:bldP spid="633911" grpId="0"/>
      <p:bldP spid="633912" grpId="0"/>
      <p:bldP spid="633913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0962" name="Text Box 2"/>
          <p:cNvSpPr txBox="1"/>
          <p:nvPr/>
        </p:nvSpPr>
        <p:spPr>
          <a:xfrm>
            <a:off x="381000" y="425450"/>
            <a:ext cx="24384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</a:rPr>
              <a:t>(3) 取指阶段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grpSp>
        <p:nvGrpSpPr>
          <p:cNvPr id="634883" name="Group 3"/>
          <p:cNvGrpSpPr/>
          <p:nvPr/>
        </p:nvGrpSpPr>
        <p:grpSpPr>
          <a:xfrm>
            <a:off x="838200" y="1730375"/>
            <a:ext cx="3632200" cy="457200"/>
            <a:chOff x="806" y="1562"/>
            <a:chExt cx="2288" cy="288"/>
          </a:xfrm>
        </p:grpSpPr>
        <p:sp>
          <p:nvSpPr>
            <p:cNvPr id="40992" name="Text Box 4"/>
            <p:cNvSpPr txBox="1"/>
            <p:nvPr/>
          </p:nvSpPr>
          <p:spPr>
            <a:xfrm>
              <a:off x="806" y="1562"/>
              <a:ext cx="228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dirty="0">
                  <a:latin typeface="Times New Roman" panose="02020603050405020304" pitchFamily="18" charset="0"/>
                </a:rPr>
                <a:t>CM ( CMAR )        CMDR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40993" name="Line 5"/>
            <p:cNvSpPr/>
            <p:nvPr/>
          </p:nvSpPr>
          <p:spPr>
            <a:xfrm>
              <a:off x="2112" y="1728"/>
              <a:ext cx="28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sp>
        <p:nvSpPr>
          <p:cNvPr id="634886" name="Text Box 6"/>
          <p:cNvSpPr txBox="1"/>
          <p:nvPr/>
        </p:nvSpPr>
        <p:spPr>
          <a:xfrm>
            <a:off x="838200" y="2243138"/>
            <a:ext cx="251142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400" dirty="0">
                <a:latin typeface="Times New Roman" panose="02020603050405020304" pitchFamily="18" charset="0"/>
              </a:rPr>
              <a:t>由 </a:t>
            </a:r>
            <a:r>
              <a:rPr lang="en-US" altLang="zh-CN" sz="2400" dirty="0">
                <a:latin typeface="Times New Roman" panose="02020603050405020304" pitchFamily="18" charset="0"/>
              </a:rPr>
              <a:t>CMDR </a:t>
            </a:r>
            <a:r>
              <a:rPr lang="zh-CN" altLang="en-US" sz="2400" dirty="0">
                <a:latin typeface="Times New Roman" panose="02020603050405020304" pitchFamily="18" charset="0"/>
              </a:rPr>
              <a:t>发命令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grpSp>
        <p:nvGrpSpPr>
          <p:cNvPr id="634887" name="Group 7"/>
          <p:cNvGrpSpPr/>
          <p:nvPr/>
        </p:nvGrpSpPr>
        <p:grpSpPr>
          <a:xfrm>
            <a:off x="838200" y="1219200"/>
            <a:ext cx="2106613" cy="457200"/>
            <a:chOff x="528" y="747"/>
            <a:chExt cx="1327" cy="288"/>
          </a:xfrm>
        </p:grpSpPr>
        <p:sp>
          <p:nvSpPr>
            <p:cNvPr id="40990" name="Line 8"/>
            <p:cNvSpPr/>
            <p:nvPr/>
          </p:nvSpPr>
          <p:spPr>
            <a:xfrm>
              <a:off x="816" y="889"/>
              <a:ext cx="288" cy="0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40991" name="Text Box 9"/>
            <p:cNvSpPr txBox="1"/>
            <p:nvPr/>
          </p:nvSpPr>
          <p:spPr>
            <a:xfrm>
              <a:off x="528" y="747"/>
              <a:ext cx="132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M        CMAR </a:t>
              </a:r>
              <a:endParaRPr lang="en-US" altLang="zh-CN" sz="24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634890" name="Line 10"/>
          <p:cNvSpPr/>
          <p:nvPr/>
        </p:nvSpPr>
        <p:spPr>
          <a:xfrm flipV="1">
            <a:off x="5638800" y="2027238"/>
            <a:ext cx="0" cy="22860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med" len="med"/>
          </a:ln>
        </p:spPr>
      </p:sp>
      <p:grpSp>
        <p:nvGrpSpPr>
          <p:cNvPr id="634891" name="Group 11"/>
          <p:cNvGrpSpPr/>
          <p:nvPr/>
        </p:nvGrpSpPr>
        <p:grpSpPr>
          <a:xfrm>
            <a:off x="5091113" y="1736725"/>
            <a:ext cx="1576387" cy="396875"/>
            <a:chOff x="3423" y="1353"/>
            <a:chExt cx="993" cy="250"/>
          </a:xfrm>
        </p:grpSpPr>
        <p:sp>
          <p:nvSpPr>
            <p:cNvPr id="40988" name="Text Box 12"/>
            <p:cNvSpPr txBox="1"/>
            <p:nvPr/>
          </p:nvSpPr>
          <p:spPr>
            <a:xfrm>
              <a:off x="3423" y="1353"/>
              <a:ext cx="993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dirty="0">
                  <a:latin typeface="Times New Roman" panose="02020603050405020304" pitchFamily="18" charset="0"/>
                </a:rPr>
                <a:t>PC       MAR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40989" name="Line 13"/>
            <p:cNvSpPr/>
            <p:nvPr/>
          </p:nvSpPr>
          <p:spPr>
            <a:xfrm>
              <a:off x="3744" y="1488"/>
              <a:ext cx="19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634894" name="Group 14"/>
          <p:cNvGrpSpPr/>
          <p:nvPr/>
        </p:nvGrpSpPr>
        <p:grpSpPr>
          <a:xfrm>
            <a:off x="7934325" y="1722438"/>
            <a:ext cx="876300" cy="396875"/>
            <a:chOff x="5016" y="1344"/>
            <a:chExt cx="552" cy="250"/>
          </a:xfrm>
        </p:grpSpPr>
        <p:sp>
          <p:nvSpPr>
            <p:cNvPr id="40986" name="Text Box 15"/>
            <p:cNvSpPr txBox="1"/>
            <p:nvPr/>
          </p:nvSpPr>
          <p:spPr>
            <a:xfrm>
              <a:off x="5016" y="1344"/>
              <a:ext cx="55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dirty="0">
                  <a:latin typeface="Times New Roman" panose="02020603050405020304" pitchFamily="18" charset="0"/>
                </a:rPr>
                <a:t>1      R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40987" name="Line 16"/>
            <p:cNvSpPr/>
            <p:nvPr/>
          </p:nvSpPr>
          <p:spPr>
            <a:xfrm>
              <a:off x="5167" y="1479"/>
              <a:ext cx="19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sp>
        <p:nvSpPr>
          <p:cNvPr id="634897" name="Line 17"/>
          <p:cNvSpPr/>
          <p:nvPr/>
        </p:nvSpPr>
        <p:spPr>
          <a:xfrm flipV="1">
            <a:off x="8326438" y="2027238"/>
            <a:ext cx="0" cy="22860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stealth" w="med" len="med"/>
          </a:ln>
        </p:spPr>
      </p:sp>
      <p:sp>
        <p:nvSpPr>
          <p:cNvPr id="634904" name="Text Box 24"/>
          <p:cNvSpPr txBox="1"/>
          <p:nvPr/>
        </p:nvSpPr>
        <p:spPr>
          <a:xfrm>
            <a:off x="990600" y="3733800"/>
            <a:ext cx="704850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>
              <a:buFont typeface="Wingdings" panose="05000000000000000000" pitchFamily="2" charset="2"/>
            </a:pPr>
            <a:r>
              <a:rPr lang="zh-CN" altLang="en-US" sz="2400" dirty="0">
                <a:solidFill>
                  <a:schemeClr val="folHlink"/>
                </a:solidFill>
                <a:latin typeface="Times New Roman" panose="02020603050405020304" pitchFamily="18" charset="0"/>
              </a:rPr>
              <a:t>全部微指令存在 </a:t>
            </a:r>
            <a:r>
              <a:rPr lang="en-US" altLang="zh-CN" sz="2400" dirty="0">
                <a:solidFill>
                  <a:schemeClr val="folHlink"/>
                </a:solidFill>
                <a:latin typeface="Times New Roman" panose="02020603050405020304" pitchFamily="18" charset="0"/>
              </a:rPr>
              <a:t>CM </a:t>
            </a:r>
            <a:r>
              <a:rPr lang="zh-CN" altLang="en-US" sz="2400" dirty="0">
                <a:solidFill>
                  <a:schemeClr val="folHlink"/>
                </a:solidFill>
                <a:latin typeface="Times New Roman" panose="02020603050405020304" pitchFamily="18" charset="0"/>
              </a:rPr>
              <a:t>中</a:t>
            </a:r>
            <a:r>
              <a:rPr lang="zh-CN" altLang="en-US" sz="2400" dirty="0">
                <a:latin typeface="Times New Roman" panose="02020603050405020304" pitchFamily="18" charset="0"/>
              </a:rPr>
              <a:t>，程序执行过程中 </a:t>
            </a:r>
            <a:r>
              <a:rPr lang="zh-CN" altLang="en-US" sz="2400" dirty="0">
                <a:solidFill>
                  <a:schemeClr val="folHlink"/>
                </a:solidFill>
                <a:latin typeface="Times New Roman" panose="02020603050405020304" pitchFamily="18" charset="0"/>
              </a:rPr>
              <a:t>只需读出</a:t>
            </a:r>
            <a:endParaRPr lang="en-US" altLang="zh-CN" sz="24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634905" name="Text Box 25"/>
          <p:cNvSpPr txBox="1"/>
          <p:nvPr/>
        </p:nvSpPr>
        <p:spPr>
          <a:xfrm>
            <a:off x="762000" y="4762500"/>
            <a:ext cx="898525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</a:rPr>
              <a:t>关键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634906" name="Text Box 26"/>
          <p:cNvSpPr txBox="1"/>
          <p:nvPr/>
        </p:nvSpPr>
        <p:spPr>
          <a:xfrm>
            <a:off x="1905000" y="4835525"/>
            <a:ext cx="6430963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Times New Roman" panose="02020603050405020304" pitchFamily="18" charset="0"/>
              </a:rPr>
              <a:t> 微指令的 </a:t>
            </a:r>
            <a:r>
              <a:rPr lang="zh-CN" altLang="en-US" sz="2400" dirty="0">
                <a:solidFill>
                  <a:schemeClr val="folHlink"/>
                </a:solidFill>
                <a:latin typeface="Times New Roman" panose="02020603050405020304" pitchFamily="18" charset="0"/>
              </a:rPr>
              <a:t>操作控制字段如何形成微操作命令</a:t>
            </a:r>
            <a:endParaRPr lang="zh-CN" altLang="en-US" sz="24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634907" name="Text Box 27"/>
          <p:cNvSpPr txBox="1"/>
          <p:nvPr/>
        </p:nvSpPr>
        <p:spPr>
          <a:xfrm>
            <a:off x="1905000" y="5673725"/>
            <a:ext cx="5043488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Times New Roman" panose="02020603050405020304" pitchFamily="18" charset="0"/>
              </a:rPr>
              <a:t> 微指令的 </a:t>
            </a:r>
            <a:r>
              <a:rPr lang="zh-CN" altLang="en-US" sz="2400" dirty="0">
                <a:solidFill>
                  <a:schemeClr val="folHlink"/>
                </a:solidFill>
                <a:latin typeface="Times New Roman" panose="02020603050405020304" pitchFamily="18" charset="0"/>
              </a:rPr>
              <a:t>后续地址如何形成</a:t>
            </a:r>
            <a:endParaRPr lang="zh-CN" altLang="en-US" sz="24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634908" name="Text Box 28"/>
          <p:cNvSpPr txBox="1"/>
          <p:nvPr/>
        </p:nvSpPr>
        <p:spPr>
          <a:xfrm>
            <a:off x="2682875" y="425450"/>
            <a:ext cx="3413125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800" dirty="0">
                <a:solidFill>
                  <a:schemeClr val="folHlink"/>
                </a:solidFill>
                <a:latin typeface="Times New Roman" panose="02020603050405020304" pitchFamily="18" charset="0"/>
              </a:rPr>
              <a:t>执行取指微程序</a:t>
            </a:r>
            <a:endParaRPr lang="zh-CN" altLang="en-US" sz="28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634909" name="Text Box 29"/>
          <p:cNvSpPr txBox="1"/>
          <p:nvPr/>
        </p:nvSpPr>
        <p:spPr>
          <a:xfrm>
            <a:off x="1447800" y="3011488"/>
            <a:ext cx="488950" cy="346075"/>
          </a:xfrm>
          <a:prstGeom prst="rect">
            <a:avLst/>
          </a:prstGeom>
          <a:noFill/>
          <a:ln w="9525">
            <a:noFill/>
          </a:ln>
        </p:spPr>
        <p:txBody>
          <a:bodyPr vert="eaVert" wrap="none">
            <a:spAutoFit/>
          </a:bodyPr>
          <a:p>
            <a:pPr eaLnBrk="1" hangingPunct="1"/>
            <a:r>
              <a:rPr lang="zh-CN" altLang="en-US" sz="2000" dirty="0">
                <a:latin typeface="Times New Roman" panose="02020603050405020304" pitchFamily="18" charset="0"/>
              </a:rPr>
              <a:t>…</a:t>
            </a:r>
            <a:endParaRPr lang="zh-CN" altLang="en-US" sz="2000" dirty="0">
              <a:latin typeface="Times New Roman" panose="02020603050405020304" pitchFamily="18" charset="0"/>
            </a:endParaRPr>
          </a:p>
        </p:txBody>
      </p:sp>
      <p:sp>
        <p:nvSpPr>
          <p:cNvPr id="634910" name="Rectangle 30"/>
          <p:cNvSpPr>
            <a:spLocks noChangeArrowheads="1"/>
          </p:cNvSpPr>
          <p:nvPr/>
        </p:nvSpPr>
        <p:spPr bwMode="auto">
          <a:xfrm>
            <a:off x="7696200" y="152400"/>
            <a:ext cx="1447800" cy="838200"/>
          </a:xfrm>
          <a:prstGeom prst="rect">
            <a:avLst/>
          </a:prstGeom>
          <a:noFill/>
          <a:ln>
            <a:noFill/>
          </a:ln>
          <a:effectLst/>
        </p:spPr>
        <p:txBody>
          <a:bodyPr lIns="92075" tIns="46038" rIns="92075" bIns="46038" anchor="ctr"/>
          <a:lstStyle>
            <a:lvl1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10.2</a:t>
            </a:r>
            <a:endParaRPr kumimoji="1" lang="zh-CN" altLang="en-US" sz="4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0977" name="AutoShape 31">
            <a:hlinkClick r:id="rId1" action="ppaction://hlinksldjump"/>
          </p:cNvPr>
          <p:cNvSpPr/>
          <p:nvPr/>
        </p:nvSpPr>
        <p:spPr>
          <a:xfrm>
            <a:off x="8589963" y="6516688"/>
            <a:ext cx="539750" cy="333375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endParaRPr lang="zh-CN" altLang="en-US" dirty="0">
              <a:latin typeface="等线" panose="02010600030101010101" pitchFamily="2" charset="-122"/>
            </a:endParaRPr>
          </a:p>
        </p:txBody>
      </p:sp>
      <p:grpSp>
        <p:nvGrpSpPr>
          <p:cNvPr id="634913" name="Group 33"/>
          <p:cNvGrpSpPr/>
          <p:nvPr/>
        </p:nvGrpSpPr>
        <p:grpSpPr>
          <a:xfrm>
            <a:off x="5013325" y="2211388"/>
            <a:ext cx="4114800" cy="455612"/>
            <a:chOff x="3158" y="1393"/>
            <a:chExt cx="2592" cy="287"/>
          </a:xfrm>
        </p:grpSpPr>
        <p:grpSp>
          <p:nvGrpSpPr>
            <p:cNvPr id="40979" name="Group 18"/>
            <p:cNvGrpSpPr/>
            <p:nvPr/>
          </p:nvGrpSpPr>
          <p:grpSpPr>
            <a:xfrm>
              <a:off x="3158" y="1411"/>
              <a:ext cx="2592" cy="269"/>
              <a:chOff x="3158" y="1670"/>
              <a:chExt cx="2592" cy="269"/>
            </a:xfrm>
          </p:grpSpPr>
          <p:sp>
            <p:nvSpPr>
              <p:cNvPr id="40981" name="Rectangle 19"/>
              <p:cNvSpPr/>
              <p:nvPr/>
            </p:nvSpPr>
            <p:spPr>
              <a:xfrm>
                <a:off x="3456" y="1680"/>
                <a:ext cx="2256" cy="240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等线" panose="02010600030101010101" pitchFamily="2" charset="-122"/>
                </a:endParaRPr>
              </a:p>
            </p:txBody>
          </p:sp>
          <p:sp>
            <p:nvSpPr>
              <p:cNvPr id="40982" name="Text Box 20"/>
              <p:cNvSpPr txBox="1"/>
              <p:nvPr/>
            </p:nvSpPr>
            <p:spPr>
              <a:xfrm>
                <a:off x="3494" y="1689"/>
                <a:ext cx="1845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18000">
                <a:spAutoFit/>
              </a:bodyPr>
              <a:p>
                <a:pPr eaLnBrk="1" hangingPunct="1"/>
                <a:r>
                  <a:rPr lang="zh-CN" altLang="en-US" sz="2000" dirty="0">
                    <a:latin typeface="Times New Roman" panose="02020603050405020304" pitchFamily="18" charset="0"/>
                  </a:rPr>
                  <a:t>1 0 0                           </a:t>
                </a:r>
                <a:r>
                  <a:rPr lang="zh-CN" altLang="en-US" dirty="0">
                    <a:latin typeface="Times New Roman" panose="02020603050405020304" pitchFamily="18" charset="0"/>
                  </a:rPr>
                  <a:t> </a:t>
                </a:r>
                <a:r>
                  <a:rPr lang="zh-CN" altLang="en-US" sz="2000" dirty="0">
                    <a:latin typeface="Times New Roman" panose="02020603050405020304" pitchFamily="18" charset="0"/>
                  </a:rPr>
                  <a:t> 0 0 1</a:t>
                </a:r>
                <a:endParaRPr lang="zh-CN" altLang="en-US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0983" name="Text Box 21"/>
              <p:cNvSpPr txBox="1"/>
              <p:nvPr/>
            </p:nvSpPr>
            <p:spPr>
              <a:xfrm>
                <a:off x="5322" y="1670"/>
                <a:ext cx="428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sz="2000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M</a:t>
                </a:r>
                <a:r>
                  <a:rPr lang="en-US" altLang="zh-CN" sz="2000" dirty="0">
                    <a:solidFill>
                      <a:schemeClr val="folHlink"/>
                    </a:solidFill>
                    <a:latin typeface="等线" panose="02010600030101010101" pitchFamily="2" charset="-122"/>
                  </a:rPr>
                  <a:t>+</a:t>
                </a:r>
                <a:r>
                  <a:rPr lang="en-US" altLang="zh-CN" sz="2000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1</a:t>
                </a:r>
                <a:endParaRPr lang="en-US" altLang="zh-CN" sz="2000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0984" name="Line 22"/>
              <p:cNvSpPr/>
              <p:nvPr/>
            </p:nvSpPr>
            <p:spPr>
              <a:xfrm>
                <a:off x="5328" y="1680"/>
                <a:ext cx="0" cy="24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0985" name="Text Box 23"/>
              <p:cNvSpPr txBox="1"/>
              <p:nvPr/>
            </p:nvSpPr>
            <p:spPr>
              <a:xfrm>
                <a:off x="3158" y="1689"/>
                <a:ext cx="267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sz="2000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M</a:t>
                </a:r>
                <a:endParaRPr lang="en-US" altLang="zh-CN" sz="2000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40980" name="Text Box 32"/>
            <p:cNvSpPr txBox="1"/>
            <p:nvPr/>
          </p:nvSpPr>
          <p:spPr>
            <a:xfrm>
              <a:off x="4267" y="1393"/>
              <a:ext cx="771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000" dirty="0">
                  <a:latin typeface="Times New Roman" panose="02020603050405020304" pitchFamily="18" charset="0"/>
                </a:rPr>
                <a:t>…</a:t>
              </a:r>
              <a:endParaRPr lang="en-US" altLang="zh-CN" sz="2000" dirty="0">
                <a:latin typeface="等线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34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34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34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634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34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500"/>
                                        <p:tgtEl>
                                          <p:spTgt spid="634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634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1" dur="500"/>
                                        <p:tgtEl>
                                          <p:spTgt spid="634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634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634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634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634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634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634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886" grpId="0"/>
      <p:bldP spid="634904" grpId="0"/>
      <p:bldP spid="634905" grpId="0"/>
      <p:bldP spid="634906" grpId="0"/>
      <p:bldP spid="634907" grpId="0"/>
      <p:bldP spid="634908" grpId="0"/>
      <p:bldP spid="634909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1986" name="Text Box 2"/>
          <p:cNvSpPr txBox="1"/>
          <p:nvPr/>
        </p:nvSpPr>
        <p:spPr>
          <a:xfrm>
            <a:off x="304800" y="381000"/>
            <a:ext cx="6711950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3200" dirty="0">
                <a:latin typeface="Verdana" panose="020B0604030504040204" pitchFamily="34" charset="0"/>
              </a:rPr>
              <a:t>三、微指令的编码方式（控制方式）</a:t>
            </a:r>
            <a:endParaRPr lang="zh-CN" altLang="en-US" sz="3200" dirty="0">
              <a:latin typeface="Verdana" panose="020B0604030504040204" pitchFamily="34" charset="0"/>
            </a:endParaRPr>
          </a:p>
        </p:txBody>
      </p:sp>
      <p:sp>
        <p:nvSpPr>
          <p:cNvPr id="635907" name="Text Box 3"/>
          <p:cNvSpPr txBox="1"/>
          <p:nvPr/>
        </p:nvSpPr>
        <p:spPr>
          <a:xfrm>
            <a:off x="685800" y="1371600"/>
            <a:ext cx="7058025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2800" dirty="0">
                <a:latin typeface="Times New Roman" panose="02020603050405020304" pitchFamily="18" charset="0"/>
              </a:rPr>
              <a:t>1</a:t>
            </a:r>
            <a:r>
              <a:rPr lang="zh-CN" altLang="en-US" sz="2800" dirty="0">
                <a:latin typeface="Times New Roman" panose="02020603050405020304" pitchFamily="18" charset="0"/>
              </a:rPr>
              <a:t>. </a:t>
            </a:r>
            <a:r>
              <a:rPr lang="zh-CN" altLang="en-US" sz="2800" dirty="0">
                <a:latin typeface="Verdana" panose="020B0604030504040204" pitchFamily="34" charset="0"/>
              </a:rPr>
              <a:t>直接编码（直接控制）方式</a:t>
            </a:r>
            <a:endParaRPr lang="zh-CN" altLang="en-US" sz="2800" dirty="0">
              <a:latin typeface="Verdana" panose="020B0604030504040204" pitchFamily="34" charset="0"/>
            </a:endParaRPr>
          </a:p>
        </p:txBody>
      </p:sp>
      <p:sp>
        <p:nvSpPr>
          <p:cNvPr id="635908" name="Text Box 4"/>
          <p:cNvSpPr txBox="1"/>
          <p:nvPr/>
        </p:nvSpPr>
        <p:spPr>
          <a:xfrm>
            <a:off x="685800" y="2420938"/>
            <a:ext cx="7345363" cy="10842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600" dirty="0">
                <a:latin typeface="Verdana" panose="020B0604030504040204" pitchFamily="34" charset="0"/>
              </a:rPr>
              <a:t>      在微指令的操作控制字段中，</a:t>
            </a:r>
            <a:endParaRPr lang="zh-CN" altLang="en-US" sz="2600" dirty="0">
              <a:latin typeface="Verdana" panose="020B0604030504040204" pitchFamily="34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sz="2600" dirty="0">
                <a:latin typeface="Verdana" panose="020B0604030504040204" pitchFamily="34" charset="0"/>
              </a:rPr>
              <a:t>      </a:t>
            </a:r>
            <a:r>
              <a:rPr lang="zh-CN" altLang="en-US" sz="2600" dirty="0">
                <a:solidFill>
                  <a:schemeClr val="folHlink"/>
                </a:solidFill>
                <a:latin typeface="Verdana" panose="020B0604030504040204" pitchFamily="34" charset="0"/>
              </a:rPr>
              <a:t>每一位代表一个微操作命令</a:t>
            </a:r>
            <a:endParaRPr lang="zh-CN" altLang="en-US" sz="2600" dirty="0">
              <a:solidFill>
                <a:schemeClr val="folHlink"/>
              </a:solidFill>
              <a:latin typeface="Verdana" panose="020B0604030504040204" pitchFamily="34" charset="0"/>
            </a:endParaRPr>
          </a:p>
        </p:txBody>
      </p:sp>
      <p:sp>
        <p:nvSpPr>
          <p:cNvPr id="635909" name="Text Box 5"/>
          <p:cNvSpPr txBox="1"/>
          <p:nvPr/>
        </p:nvSpPr>
        <p:spPr>
          <a:xfrm>
            <a:off x="7146925" y="4251325"/>
            <a:ext cx="161290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dirty="0">
                <a:solidFill>
                  <a:schemeClr val="folHlink"/>
                </a:solidFill>
                <a:latin typeface="Verdana" panose="020B0604030504040204" pitchFamily="34" charset="0"/>
              </a:rPr>
              <a:t>速度最快</a:t>
            </a:r>
            <a:endParaRPr lang="zh-CN" altLang="en-US" sz="2800" dirty="0">
              <a:solidFill>
                <a:schemeClr val="folHlink"/>
              </a:solidFill>
              <a:latin typeface="Verdana" panose="020B0604030504040204" pitchFamily="34" charset="0"/>
            </a:endParaRPr>
          </a:p>
        </p:txBody>
      </p:sp>
      <p:grpSp>
        <p:nvGrpSpPr>
          <p:cNvPr id="635938" name="Group 34"/>
          <p:cNvGrpSpPr/>
          <p:nvPr/>
        </p:nvGrpSpPr>
        <p:grpSpPr>
          <a:xfrm>
            <a:off x="1371600" y="3717925"/>
            <a:ext cx="5334000" cy="1495425"/>
            <a:chOff x="864" y="2342"/>
            <a:chExt cx="3360" cy="942"/>
          </a:xfrm>
        </p:grpSpPr>
        <p:sp>
          <p:nvSpPr>
            <p:cNvPr id="41994" name="Rectangle 7"/>
            <p:cNvSpPr/>
            <p:nvPr/>
          </p:nvSpPr>
          <p:spPr>
            <a:xfrm>
              <a:off x="864" y="2746"/>
              <a:ext cx="192" cy="288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41995" name="Rectangle 8"/>
            <p:cNvSpPr/>
            <p:nvPr/>
          </p:nvSpPr>
          <p:spPr>
            <a:xfrm>
              <a:off x="1056" y="2746"/>
              <a:ext cx="192" cy="288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41996" name="Rectangle 9"/>
            <p:cNvSpPr/>
            <p:nvPr/>
          </p:nvSpPr>
          <p:spPr>
            <a:xfrm>
              <a:off x="1248" y="2746"/>
              <a:ext cx="192" cy="288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41997" name="Rectangle 10"/>
            <p:cNvSpPr/>
            <p:nvPr/>
          </p:nvSpPr>
          <p:spPr>
            <a:xfrm>
              <a:off x="1440" y="2746"/>
              <a:ext cx="192" cy="288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41998" name="Rectangle 11"/>
            <p:cNvSpPr/>
            <p:nvPr/>
          </p:nvSpPr>
          <p:spPr>
            <a:xfrm>
              <a:off x="1632" y="2746"/>
              <a:ext cx="192" cy="288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41999" name="Rectangle 12"/>
            <p:cNvSpPr/>
            <p:nvPr/>
          </p:nvSpPr>
          <p:spPr>
            <a:xfrm>
              <a:off x="1824" y="2746"/>
              <a:ext cx="192" cy="288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42000" name="Rectangle 13"/>
            <p:cNvSpPr/>
            <p:nvPr/>
          </p:nvSpPr>
          <p:spPr>
            <a:xfrm>
              <a:off x="2016" y="2746"/>
              <a:ext cx="192" cy="288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42001" name="Rectangle 14"/>
            <p:cNvSpPr/>
            <p:nvPr/>
          </p:nvSpPr>
          <p:spPr>
            <a:xfrm>
              <a:off x="2208" y="2746"/>
              <a:ext cx="192" cy="288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42002" name="Rectangle 15"/>
            <p:cNvSpPr/>
            <p:nvPr/>
          </p:nvSpPr>
          <p:spPr>
            <a:xfrm>
              <a:off x="2400" y="2746"/>
              <a:ext cx="192" cy="288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42003" name="Rectangle 16"/>
            <p:cNvSpPr/>
            <p:nvPr/>
          </p:nvSpPr>
          <p:spPr>
            <a:xfrm>
              <a:off x="2592" y="2746"/>
              <a:ext cx="192" cy="288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42004" name="Rectangle 17"/>
            <p:cNvSpPr/>
            <p:nvPr/>
          </p:nvSpPr>
          <p:spPr>
            <a:xfrm>
              <a:off x="2784" y="2746"/>
              <a:ext cx="192" cy="288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42005" name="Rectangle 18"/>
            <p:cNvSpPr/>
            <p:nvPr/>
          </p:nvSpPr>
          <p:spPr>
            <a:xfrm>
              <a:off x="2976" y="2746"/>
              <a:ext cx="1248" cy="288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下地址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42006" name="Line 19"/>
            <p:cNvSpPr/>
            <p:nvPr/>
          </p:nvSpPr>
          <p:spPr>
            <a:xfrm flipV="1">
              <a:off x="960" y="2554"/>
              <a:ext cx="0" cy="19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42007" name="Line 20"/>
            <p:cNvSpPr/>
            <p:nvPr/>
          </p:nvSpPr>
          <p:spPr>
            <a:xfrm flipV="1">
              <a:off x="1152" y="2554"/>
              <a:ext cx="0" cy="19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42008" name="Line 21"/>
            <p:cNvSpPr/>
            <p:nvPr/>
          </p:nvSpPr>
          <p:spPr>
            <a:xfrm flipV="1">
              <a:off x="1344" y="2554"/>
              <a:ext cx="0" cy="19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42009" name="Line 22"/>
            <p:cNvSpPr/>
            <p:nvPr/>
          </p:nvSpPr>
          <p:spPr>
            <a:xfrm flipV="1">
              <a:off x="2688" y="2554"/>
              <a:ext cx="0" cy="19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42010" name="Line 23"/>
            <p:cNvSpPr/>
            <p:nvPr/>
          </p:nvSpPr>
          <p:spPr>
            <a:xfrm flipV="1">
              <a:off x="2880" y="2554"/>
              <a:ext cx="0" cy="19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42011" name="Text Box 24"/>
            <p:cNvSpPr txBox="1"/>
            <p:nvPr/>
          </p:nvSpPr>
          <p:spPr>
            <a:xfrm>
              <a:off x="1865" y="2484"/>
              <a:ext cx="30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400" dirty="0">
                  <a:latin typeface="Times New Roman" panose="02020603050405020304" pitchFamily="18" charset="0"/>
                </a:rPr>
                <a:t>…</a:t>
              </a:r>
              <a:endParaRPr lang="zh-CN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42012" name="Text Box 25"/>
            <p:cNvSpPr txBox="1"/>
            <p:nvPr/>
          </p:nvSpPr>
          <p:spPr>
            <a:xfrm>
              <a:off x="1632" y="2342"/>
              <a:ext cx="76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控制信号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42013" name="Line 26"/>
            <p:cNvSpPr/>
            <p:nvPr/>
          </p:nvSpPr>
          <p:spPr>
            <a:xfrm>
              <a:off x="864" y="3034"/>
              <a:ext cx="0" cy="21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14" name="Line 27"/>
            <p:cNvSpPr/>
            <p:nvPr/>
          </p:nvSpPr>
          <p:spPr>
            <a:xfrm>
              <a:off x="2976" y="3034"/>
              <a:ext cx="0" cy="21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15" name="Line 28"/>
            <p:cNvSpPr/>
            <p:nvPr/>
          </p:nvSpPr>
          <p:spPr>
            <a:xfrm flipH="1">
              <a:off x="864" y="3178"/>
              <a:ext cx="57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42016" name="Line 29"/>
            <p:cNvSpPr/>
            <p:nvPr/>
          </p:nvSpPr>
          <p:spPr>
            <a:xfrm>
              <a:off x="2400" y="3178"/>
              <a:ext cx="576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42017" name="Text Box 30"/>
            <p:cNvSpPr txBox="1"/>
            <p:nvPr/>
          </p:nvSpPr>
          <p:spPr>
            <a:xfrm>
              <a:off x="1592" y="3034"/>
              <a:ext cx="76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操作控制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635935" name="Text Box 31"/>
          <p:cNvSpPr txBox="1"/>
          <p:nvPr/>
        </p:nvSpPr>
        <p:spPr>
          <a:xfrm>
            <a:off x="1474788" y="5680075"/>
            <a:ext cx="447040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400" dirty="0">
                <a:latin typeface="Times New Roman" panose="02020603050405020304" pitchFamily="18" charset="0"/>
              </a:rPr>
              <a:t>某位为 </a:t>
            </a:r>
            <a:r>
              <a:rPr lang="zh-CN" altLang="en-US" sz="2400" dirty="0">
                <a:solidFill>
                  <a:schemeClr val="folHlink"/>
                </a:solidFill>
                <a:latin typeface="Times New Roman" panose="02020603050405020304" pitchFamily="18" charset="0"/>
              </a:rPr>
              <a:t>“1”</a:t>
            </a:r>
            <a:r>
              <a:rPr lang="zh-CN" altLang="en-US" sz="2400" dirty="0">
                <a:latin typeface="Times New Roman" panose="02020603050405020304" pitchFamily="18" charset="0"/>
              </a:rPr>
              <a:t> 表示该控制信号有效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635936" name="Rectangle 32"/>
          <p:cNvSpPr>
            <a:spLocks noChangeArrowheads="1"/>
          </p:cNvSpPr>
          <p:nvPr/>
        </p:nvSpPr>
        <p:spPr bwMode="auto">
          <a:xfrm>
            <a:off x="7696200" y="152400"/>
            <a:ext cx="1447800" cy="838200"/>
          </a:xfrm>
          <a:prstGeom prst="rect">
            <a:avLst/>
          </a:prstGeom>
          <a:noFill/>
          <a:ln>
            <a:noFill/>
          </a:ln>
          <a:effectLst/>
        </p:spPr>
        <p:txBody>
          <a:bodyPr lIns="92075" tIns="46038" rIns="92075" bIns="46038" anchor="ctr"/>
          <a:lstStyle>
            <a:lvl1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10.2</a:t>
            </a:r>
            <a:endParaRPr kumimoji="1" lang="zh-CN" altLang="en-US" sz="4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993" name="AutoShape 33">
            <a:hlinkClick r:id="rId1" action="ppaction://hlinksldjump"/>
          </p:cNvPr>
          <p:cNvSpPr/>
          <p:nvPr/>
        </p:nvSpPr>
        <p:spPr>
          <a:xfrm>
            <a:off x="8589963" y="6516688"/>
            <a:ext cx="539750" cy="333375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endParaRPr lang="zh-CN" altLang="en-US" dirty="0">
              <a:latin typeface="等线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35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35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635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35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359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359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5907" grpId="0"/>
      <p:bldP spid="635908" grpId="0"/>
      <p:bldP spid="635909" grpId="0"/>
      <p:bldP spid="63593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3010" name="Text Box 2"/>
          <p:cNvSpPr txBox="1"/>
          <p:nvPr/>
        </p:nvSpPr>
        <p:spPr>
          <a:xfrm>
            <a:off x="539750" y="333375"/>
            <a:ext cx="7920038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3200" dirty="0">
                <a:latin typeface="Times New Roman" panose="02020603050405020304" pitchFamily="18" charset="0"/>
              </a:rPr>
              <a:t>2</a:t>
            </a:r>
            <a:r>
              <a:rPr lang="zh-CN" altLang="en-US" sz="3200" dirty="0">
                <a:latin typeface="Times New Roman" panose="02020603050405020304" pitchFamily="18" charset="0"/>
              </a:rPr>
              <a:t>. </a:t>
            </a:r>
            <a:r>
              <a:rPr lang="zh-CN" altLang="en-US" sz="3200" dirty="0">
                <a:latin typeface="Verdana" panose="020B0604030504040204" pitchFamily="34" charset="0"/>
              </a:rPr>
              <a:t>字段直接编码方式</a:t>
            </a:r>
            <a:endParaRPr lang="zh-CN" altLang="en-US" sz="3200" dirty="0">
              <a:latin typeface="Verdana" panose="020B0604030504040204" pitchFamily="34" charset="0"/>
            </a:endParaRPr>
          </a:p>
        </p:txBody>
      </p:sp>
      <p:sp>
        <p:nvSpPr>
          <p:cNvPr id="636931" name="Text Box 3"/>
          <p:cNvSpPr txBox="1"/>
          <p:nvPr/>
        </p:nvSpPr>
        <p:spPr>
          <a:xfrm>
            <a:off x="977900" y="1143000"/>
            <a:ext cx="7632700" cy="11604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latin typeface="Verdana" panose="020B0604030504040204" pitchFamily="34" charset="0"/>
              </a:rPr>
              <a:t>将微指令的控制字段分成若干 </a:t>
            </a:r>
            <a:r>
              <a:rPr lang="zh-CN" altLang="en-US" sz="2800" dirty="0">
                <a:solidFill>
                  <a:schemeClr val="folHlink"/>
                </a:solidFill>
                <a:latin typeface="Arial" panose="020B0604020202020204" pitchFamily="34" charset="0"/>
              </a:rPr>
              <a:t>“</a:t>
            </a:r>
            <a:r>
              <a:rPr lang="zh-CN" altLang="en-US" sz="2800" dirty="0">
                <a:solidFill>
                  <a:schemeClr val="folHlink"/>
                </a:solidFill>
                <a:latin typeface="Verdana" panose="020B0604030504040204" pitchFamily="34" charset="0"/>
              </a:rPr>
              <a:t>段</a:t>
            </a:r>
            <a:r>
              <a:rPr lang="zh-CN" altLang="en-US" sz="2800" dirty="0">
                <a:solidFill>
                  <a:schemeClr val="folHlink"/>
                </a:solidFill>
                <a:latin typeface="Arial" panose="020B0604020202020204" pitchFamily="34" charset="0"/>
              </a:rPr>
              <a:t>”</a:t>
            </a:r>
            <a:r>
              <a:rPr lang="zh-CN" altLang="en-US" sz="2800" dirty="0">
                <a:latin typeface="Verdana" panose="020B0604030504040204" pitchFamily="34" charset="0"/>
              </a:rPr>
              <a:t>，</a:t>
            </a:r>
            <a:endParaRPr lang="zh-CN" altLang="en-US" sz="2800" dirty="0">
              <a:latin typeface="Verdana" panose="020B0604030504040204" pitchFamily="34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solidFill>
                  <a:schemeClr val="folHlink"/>
                </a:solidFill>
                <a:latin typeface="Verdana" panose="020B0604030504040204" pitchFamily="34" charset="0"/>
              </a:rPr>
              <a:t>每段经译码后发出控制信号</a:t>
            </a:r>
            <a:endParaRPr lang="zh-CN" altLang="en-US" sz="2800" dirty="0">
              <a:solidFill>
                <a:schemeClr val="folHlink"/>
              </a:solidFill>
              <a:latin typeface="Verdana" panose="020B0604030504040204" pitchFamily="34" charset="0"/>
            </a:endParaRPr>
          </a:p>
        </p:txBody>
      </p:sp>
      <p:sp>
        <p:nvSpPr>
          <p:cNvPr id="636932" name="Text Box 4"/>
          <p:cNvSpPr txBox="1"/>
          <p:nvPr/>
        </p:nvSpPr>
        <p:spPr>
          <a:xfrm>
            <a:off x="1771650" y="5195888"/>
            <a:ext cx="52578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latin typeface="Verdana" panose="020B0604030504040204" pitchFamily="34" charset="0"/>
              </a:rPr>
              <a:t>每个字段中的命令是 </a:t>
            </a:r>
            <a:r>
              <a:rPr lang="zh-CN" altLang="en-US" sz="2800" dirty="0">
                <a:solidFill>
                  <a:schemeClr val="folHlink"/>
                </a:solidFill>
                <a:latin typeface="Verdana" panose="020B0604030504040204" pitchFamily="34" charset="0"/>
              </a:rPr>
              <a:t>互斥 </a:t>
            </a:r>
            <a:r>
              <a:rPr lang="zh-CN" altLang="en-US" sz="2800" dirty="0">
                <a:latin typeface="Verdana" panose="020B0604030504040204" pitchFamily="34" charset="0"/>
              </a:rPr>
              <a:t>的</a:t>
            </a:r>
            <a:endParaRPr lang="zh-CN" altLang="en-US" sz="2800" dirty="0">
              <a:latin typeface="Verdana" panose="020B0604030504040204" pitchFamily="34" charset="0"/>
            </a:endParaRPr>
          </a:p>
        </p:txBody>
      </p:sp>
      <p:grpSp>
        <p:nvGrpSpPr>
          <p:cNvPr id="636967" name="Group 39"/>
          <p:cNvGrpSpPr/>
          <p:nvPr/>
        </p:nvGrpSpPr>
        <p:grpSpPr>
          <a:xfrm>
            <a:off x="2511425" y="2438400"/>
            <a:ext cx="3660775" cy="2517775"/>
            <a:chOff x="1582" y="1536"/>
            <a:chExt cx="2306" cy="1586"/>
          </a:xfrm>
        </p:grpSpPr>
        <p:sp>
          <p:nvSpPr>
            <p:cNvPr id="43019" name="Rectangle 6"/>
            <p:cNvSpPr/>
            <p:nvPr/>
          </p:nvSpPr>
          <p:spPr>
            <a:xfrm>
              <a:off x="1632" y="2058"/>
              <a:ext cx="432" cy="288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译码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43020" name="Line 7"/>
            <p:cNvSpPr/>
            <p:nvPr/>
          </p:nvSpPr>
          <p:spPr>
            <a:xfrm flipV="1">
              <a:off x="1680" y="1866"/>
              <a:ext cx="0" cy="19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43021" name="Line 8"/>
            <p:cNvSpPr/>
            <p:nvPr/>
          </p:nvSpPr>
          <p:spPr>
            <a:xfrm flipV="1">
              <a:off x="1776" y="1866"/>
              <a:ext cx="0" cy="19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43022" name="Line 9"/>
            <p:cNvSpPr/>
            <p:nvPr/>
          </p:nvSpPr>
          <p:spPr>
            <a:xfrm flipV="1">
              <a:off x="2016" y="1866"/>
              <a:ext cx="0" cy="19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43023" name="Text Box 10"/>
            <p:cNvSpPr txBox="1"/>
            <p:nvPr/>
          </p:nvSpPr>
          <p:spPr>
            <a:xfrm>
              <a:off x="1758" y="1827"/>
              <a:ext cx="27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…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43024" name="Rectangle 11"/>
            <p:cNvSpPr/>
            <p:nvPr/>
          </p:nvSpPr>
          <p:spPr>
            <a:xfrm>
              <a:off x="1582" y="2538"/>
              <a:ext cx="578" cy="240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43025" name="AutoShape 12"/>
            <p:cNvSpPr/>
            <p:nvPr/>
          </p:nvSpPr>
          <p:spPr>
            <a:xfrm rot="5400000">
              <a:off x="1824" y="2202"/>
              <a:ext cx="96" cy="576"/>
            </a:xfrm>
            <a:prstGeom prst="leftBrace">
              <a:avLst>
                <a:gd name="adj1" fmla="val 50000"/>
                <a:gd name="adj2" fmla="val 50000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43026" name="Rectangle 13"/>
            <p:cNvSpPr/>
            <p:nvPr/>
          </p:nvSpPr>
          <p:spPr>
            <a:xfrm>
              <a:off x="2208" y="2058"/>
              <a:ext cx="432" cy="288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译码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43027" name="Line 14"/>
            <p:cNvSpPr/>
            <p:nvPr/>
          </p:nvSpPr>
          <p:spPr>
            <a:xfrm flipV="1">
              <a:off x="2256" y="1866"/>
              <a:ext cx="0" cy="19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43028" name="Line 15"/>
            <p:cNvSpPr/>
            <p:nvPr/>
          </p:nvSpPr>
          <p:spPr>
            <a:xfrm flipV="1">
              <a:off x="2352" y="1866"/>
              <a:ext cx="0" cy="19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43029" name="Line 16"/>
            <p:cNvSpPr/>
            <p:nvPr/>
          </p:nvSpPr>
          <p:spPr>
            <a:xfrm flipV="1">
              <a:off x="2592" y="1866"/>
              <a:ext cx="0" cy="19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43030" name="Text Box 17"/>
            <p:cNvSpPr txBox="1"/>
            <p:nvPr/>
          </p:nvSpPr>
          <p:spPr>
            <a:xfrm>
              <a:off x="2334" y="1827"/>
              <a:ext cx="27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…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43031" name="Rectangle 18"/>
            <p:cNvSpPr/>
            <p:nvPr/>
          </p:nvSpPr>
          <p:spPr>
            <a:xfrm>
              <a:off x="2158" y="2538"/>
              <a:ext cx="578" cy="240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43032" name="AutoShape 19"/>
            <p:cNvSpPr/>
            <p:nvPr/>
          </p:nvSpPr>
          <p:spPr>
            <a:xfrm rot="5400000">
              <a:off x="2400" y="2202"/>
              <a:ext cx="96" cy="576"/>
            </a:xfrm>
            <a:prstGeom prst="leftBrace">
              <a:avLst>
                <a:gd name="adj1" fmla="val 50000"/>
                <a:gd name="adj2" fmla="val 50000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43033" name="Rectangle 20"/>
            <p:cNvSpPr/>
            <p:nvPr/>
          </p:nvSpPr>
          <p:spPr>
            <a:xfrm>
              <a:off x="2784" y="2058"/>
              <a:ext cx="432" cy="288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译码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43034" name="Line 21"/>
            <p:cNvSpPr/>
            <p:nvPr/>
          </p:nvSpPr>
          <p:spPr>
            <a:xfrm flipV="1">
              <a:off x="2832" y="1866"/>
              <a:ext cx="0" cy="19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43035" name="Line 22"/>
            <p:cNvSpPr/>
            <p:nvPr/>
          </p:nvSpPr>
          <p:spPr>
            <a:xfrm flipV="1">
              <a:off x="2928" y="1866"/>
              <a:ext cx="0" cy="19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43036" name="Line 23"/>
            <p:cNvSpPr/>
            <p:nvPr/>
          </p:nvSpPr>
          <p:spPr>
            <a:xfrm flipV="1">
              <a:off x="3168" y="1866"/>
              <a:ext cx="0" cy="19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43037" name="Text Box 24"/>
            <p:cNvSpPr txBox="1"/>
            <p:nvPr/>
          </p:nvSpPr>
          <p:spPr>
            <a:xfrm>
              <a:off x="2910" y="1827"/>
              <a:ext cx="27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…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43038" name="Rectangle 25"/>
            <p:cNvSpPr/>
            <p:nvPr/>
          </p:nvSpPr>
          <p:spPr>
            <a:xfrm>
              <a:off x="2734" y="2538"/>
              <a:ext cx="578" cy="240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43039" name="AutoShape 26"/>
            <p:cNvSpPr/>
            <p:nvPr/>
          </p:nvSpPr>
          <p:spPr>
            <a:xfrm rot="5400000">
              <a:off x="2976" y="2202"/>
              <a:ext cx="96" cy="576"/>
            </a:xfrm>
            <a:prstGeom prst="leftBrace">
              <a:avLst>
                <a:gd name="adj1" fmla="val 50000"/>
                <a:gd name="adj2" fmla="val 50000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43040" name="Rectangle 27"/>
            <p:cNvSpPr/>
            <p:nvPr/>
          </p:nvSpPr>
          <p:spPr>
            <a:xfrm>
              <a:off x="3310" y="2538"/>
              <a:ext cx="578" cy="240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下地址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43041" name="Line 28"/>
            <p:cNvSpPr/>
            <p:nvPr/>
          </p:nvSpPr>
          <p:spPr>
            <a:xfrm>
              <a:off x="1584" y="2874"/>
              <a:ext cx="0" cy="19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3042" name="Line 29"/>
            <p:cNvSpPr/>
            <p:nvPr/>
          </p:nvSpPr>
          <p:spPr>
            <a:xfrm>
              <a:off x="3312" y="2874"/>
              <a:ext cx="0" cy="19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3043" name="Line 30"/>
            <p:cNvSpPr/>
            <p:nvPr/>
          </p:nvSpPr>
          <p:spPr>
            <a:xfrm flipH="1">
              <a:off x="1584" y="2970"/>
              <a:ext cx="485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43044" name="Line 31"/>
            <p:cNvSpPr/>
            <p:nvPr/>
          </p:nvSpPr>
          <p:spPr>
            <a:xfrm>
              <a:off x="2827" y="2970"/>
              <a:ext cx="485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43045" name="Text Box 32"/>
            <p:cNvSpPr txBox="1"/>
            <p:nvPr/>
          </p:nvSpPr>
          <p:spPr>
            <a:xfrm>
              <a:off x="2072" y="2872"/>
              <a:ext cx="76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操作控制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43046" name="Text Box 33"/>
            <p:cNvSpPr txBox="1"/>
            <p:nvPr/>
          </p:nvSpPr>
          <p:spPr>
            <a:xfrm>
              <a:off x="2102" y="1536"/>
              <a:ext cx="76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控制信号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636962" name="Text Box 34"/>
          <p:cNvSpPr txBox="1"/>
          <p:nvPr/>
        </p:nvSpPr>
        <p:spPr>
          <a:xfrm>
            <a:off x="1771650" y="5908675"/>
            <a:ext cx="53911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400" dirty="0">
                <a:solidFill>
                  <a:schemeClr val="folHlink"/>
                </a:solidFill>
                <a:latin typeface="Times New Roman" panose="02020603050405020304" pitchFamily="18" charset="0"/>
              </a:rPr>
              <a:t>缩短 </a:t>
            </a:r>
            <a:r>
              <a:rPr lang="zh-CN" altLang="en-US" sz="2400" dirty="0">
                <a:latin typeface="Times New Roman" panose="02020603050405020304" pitchFamily="18" charset="0"/>
              </a:rPr>
              <a:t>了微指令 </a:t>
            </a:r>
            <a:r>
              <a:rPr lang="zh-CN" altLang="en-US" sz="2400" dirty="0">
                <a:solidFill>
                  <a:schemeClr val="folHlink"/>
                </a:solidFill>
                <a:latin typeface="Times New Roman" panose="02020603050405020304" pitchFamily="18" charset="0"/>
              </a:rPr>
              <a:t>字长</a:t>
            </a:r>
            <a:r>
              <a:rPr lang="zh-CN" altLang="en-US" sz="2400" dirty="0">
                <a:latin typeface="Times New Roman" panose="02020603050405020304" pitchFamily="18" charset="0"/>
              </a:rPr>
              <a:t>，</a:t>
            </a:r>
            <a:r>
              <a:rPr lang="zh-CN" altLang="en-US" sz="2400" dirty="0">
                <a:solidFill>
                  <a:schemeClr val="folHlink"/>
                </a:solidFill>
                <a:latin typeface="Times New Roman" panose="02020603050405020304" pitchFamily="18" charset="0"/>
              </a:rPr>
              <a:t>增加 </a:t>
            </a:r>
            <a:r>
              <a:rPr lang="zh-CN" altLang="en-US" sz="2400" dirty="0">
                <a:latin typeface="Times New Roman" panose="02020603050405020304" pitchFamily="18" charset="0"/>
              </a:rPr>
              <a:t>了译码 </a:t>
            </a:r>
            <a:r>
              <a:rPr lang="zh-CN" altLang="en-US" sz="2400" dirty="0">
                <a:solidFill>
                  <a:schemeClr val="folHlink"/>
                </a:solidFill>
                <a:latin typeface="Times New Roman" panose="02020603050405020304" pitchFamily="18" charset="0"/>
              </a:rPr>
              <a:t>时间</a:t>
            </a:r>
            <a:endParaRPr lang="zh-CN" altLang="en-US" sz="24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636963" name="Text Box 35"/>
          <p:cNvSpPr txBox="1"/>
          <p:nvPr/>
        </p:nvSpPr>
        <p:spPr>
          <a:xfrm>
            <a:off x="5867400" y="3259138"/>
            <a:ext cx="29273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400" dirty="0">
                <a:solidFill>
                  <a:schemeClr val="folHlink"/>
                </a:solidFill>
                <a:latin typeface="Times New Roman" panose="02020603050405020304" pitchFamily="18" charset="0"/>
              </a:rPr>
              <a:t>微程序执行速度较慢</a:t>
            </a:r>
            <a:endParaRPr lang="zh-CN" altLang="en-US" sz="24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636964" name="Rectangle 36"/>
          <p:cNvSpPr>
            <a:spLocks noChangeArrowheads="1"/>
          </p:cNvSpPr>
          <p:nvPr/>
        </p:nvSpPr>
        <p:spPr bwMode="auto">
          <a:xfrm>
            <a:off x="7696200" y="152400"/>
            <a:ext cx="1447800" cy="838200"/>
          </a:xfrm>
          <a:prstGeom prst="rect">
            <a:avLst/>
          </a:prstGeom>
          <a:noFill/>
          <a:ln>
            <a:noFill/>
          </a:ln>
          <a:effectLst/>
        </p:spPr>
        <p:txBody>
          <a:bodyPr lIns="92075" tIns="46038" rIns="92075" bIns="46038" anchor="ctr"/>
          <a:lstStyle>
            <a:lvl1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10.2</a:t>
            </a:r>
            <a:endParaRPr kumimoji="1" lang="zh-CN" altLang="en-US" sz="4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6965" name="Text Box 37"/>
          <p:cNvSpPr txBox="1"/>
          <p:nvPr/>
        </p:nvSpPr>
        <p:spPr>
          <a:xfrm>
            <a:off x="5867400" y="2636838"/>
            <a:ext cx="2160588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400" dirty="0">
                <a:solidFill>
                  <a:schemeClr val="folHlink"/>
                </a:solidFill>
                <a:latin typeface="Times New Roman" panose="02020603050405020304" pitchFamily="18" charset="0"/>
              </a:rPr>
              <a:t>显式编码</a:t>
            </a:r>
            <a:endParaRPr lang="zh-CN" altLang="en-US" sz="24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43018" name="AutoShape 38">
            <a:hlinkClick r:id="rId1" action="ppaction://hlinksldjump"/>
          </p:cNvPr>
          <p:cNvSpPr/>
          <p:nvPr/>
        </p:nvSpPr>
        <p:spPr>
          <a:xfrm>
            <a:off x="8589963" y="6516688"/>
            <a:ext cx="539750" cy="333375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endParaRPr lang="zh-CN" altLang="en-US" dirty="0">
              <a:latin typeface="等线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36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636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369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369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636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636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3" dur="500"/>
                                        <p:tgtEl>
                                          <p:spTgt spid="636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6931" grpId="0"/>
      <p:bldP spid="636932" grpId="0"/>
      <p:bldP spid="636962" grpId="0"/>
      <p:bldP spid="636963" grpId="0"/>
      <p:bldP spid="636965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4034" name="Text Box 2"/>
          <p:cNvSpPr txBox="1"/>
          <p:nvPr/>
        </p:nvSpPr>
        <p:spPr>
          <a:xfrm>
            <a:off x="304800" y="333375"/>
            <a:ext cx="78486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3200" dirty="0">
                <a:latin typeface="Times New Roman" panose="02020603050405020304" pitchFamily="18" charset="0"/>
              </a:rPr>
              <a:t>3</a:t>
            </a:r>
            <a:r>
              <a:rPr lang="zh-CN" altLang="en-US" sz="3200" dirty="0">
                <a:latin typeface="Times New Roman" panose="02020603050405020304" pitchFamily="18" charset="0"/>
              </a:rPr>
              <a:t>. </a:t>
            </a:r>
            <a:r>
              <a:rPr lang="zh-CN" altLang="en-US" sz="3200" dirty="0">
                <a:latin typeface="Verdana" panose="020B0604030504040204" pitchFamily="34" charset="0"/>
              </a:rPr>
              <a:t>字段间接编码方式</a:t>
            </a:r>
            <a:endParaRPr lang="zh-CN" altLang="en-US" sz="3200" dirty="0">
              <a:latin typeface="Verdana" panose="020B0604030504040204" pitchFamily="34" charset="0"/>
            </a:endParaRPr>
          </a:p>
        </p:txBody>
      </p:sp>
      <p:sp>
        <p:nvSpPr>
          <p:cNvPr id="44035" name="Text Box 3"/>
          <p:cNvSpPr txBox="1"/>
          <p:nvPr/>
        </p:nvSpPr>
        <p:spPr>
          <a:xfrm>
            <a:off x="539750" y="1196975"/>
            <a:ext cx="6840538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endParaRPr lang="zh-CN" altLang="en-US" sz="2800" dirty="0">
              <a:latin typeface="Verdana" panose="020B0604030504040204" pitchFamily="34" charset="0"/>
            </a:endParaRPr>
          </a:p>
        </p:txBody>
      </p:sp>
      <p:sp>
        <p:nvSpPr>
          <p:cNvPr id="637956" name="Text Box 4"/>
          <p:cNvSpPr txBox="1"/>
          <p:nvPr/>
        </p:nvSpPr>
        <p:spPr>
          <a:xfrm>
            <a:off x="304800" y="4495800"/>
            <a:ext cx="6696075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3200" dirty="0">
                <a:latin typeface="Times New Roman" panose="02020603050405020304" pitchFamily="18" charset="0"/>
              </a:rPr>
              <a:t>4</a:t>
            </a:r>
            <a:r>
              <a:rPr lang="zh-CN" altLang="en-US" sz="3200" dirty="0">
                <a:latin typeface="Times New Roman" panose="02020603050405020304" pitchFamily="18" charset="0"/>
              </a:rPr>
              <a:t>. </a:t>
            </a:r>
            <a:r>
              <a:rPr lang="zh-CN" altLang="en-US" sz="3200" dirty="0">
                <a:latin typeface="Verdana" panose="020B0604030504040204" pitchFamily="34" charset="0"/>
              </a:rPr>
              <a:t>混合编码</a:t>
            </a:r>
            <a:endParaRPr lang="zh-CN" altLang="en-US" sz="3200" dirty="0">
              <a:latin typeface="Verdana" panose="020B0604030504040204" pitchFamily="34" charset="0"/>
            </a:endParaRPr>
          </a:p>
        </p:txBody>
      </p:sp>
      <p:sp>
        <p:nvSpPr>
          <p:cNvPr id="637957" name="Text Box 5"/>
          <p:cNvSpPr txBox="1"/>
          <p:nvPr/>
        </p:nvSpPr>
        <p:spPr>
          <a:xfrm>
            <a:off x="901700" y="5089525"/>
            <a:ext cx="76327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400" dirty="0">
                <a:latin typeface="Verdana" panose="020B0604030504040204" pitchFamily="34" charset="0"/>
              </a:rPr>
              <a:t>直接编码和字段编码（直接和间接）混合使用</a:t>
            </a:r>
            <a:endParaRPr lang="en-US" altLang="zh-CN" sz="2400" dirty="0">
              <a:latin typeface="Verdana" panose="020B0604030504040204" pitchFamily="34" charset="0"/>
            </a:endParaRPr>
          </a:p>
        </p:txBody>
      </p:sp>
      <p:sp>
        <p:nvSpPr>
          <p:cNvPr id="637958" name="Text Box 6"/>
          <p:cNvSpPr txBox="1"/>
          <p:nvPr/>
        </p:nvSpPr>
        <p:spPr>
          <a:xfrm>
            <a:off x="304800" y="5745163"/>
            <a:ext cx="5543550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3200" dirty="0">
                <a:latin typeface="Times New Roman" panose="02020603050405020304" pitchFamily="18" charset="0"/>
              </a:rPr>
              <a:t>5</a:t>
            </a:r>
            <a:r>
              <a:rPr lang="zh-CN" altLang="en-US" sz="3200" dirty="0">
                <a:latin typeface="Times New Roman" panose="02020603050405020304" pitchFamily="18" charset="0"/>
              </a:rPr>
              <a:t>. </a:t>
            </a:r>
            <a:r>
              <a:rPr lang="zh-CN" altLang="en-US" sz="3200" dirty="0">
                <a:latin typeface="Verdana" panose="020B0604030504040204" pitchFamily="34" charset="0"/>
              </a:rPr>
              <a:t>其他</a:t>
            </a:r>
            <a:endParaRPr lang="zh-CN" altLang="en-US" sz="3200" dirty="0">
              <a:latin typeface="Verdana" panose="020B0604030504040204" pitchFamily="34" charset="0"/>
            </a:endParaRPr>
          </a:p>
        </p:txBody>
      </p:sp>
      <p:grpSp>
        <p:nvGrpSpPr>
          <p:cNvPr id="637959" name="Group 7"/>
          <p:cNvGrpSpPr/>
          <p:nvPr/>
        </p:nvGrpSpPr>
        <p:grpSpPr>
          <a:xfrm>
            <a:off x="2435225" y="1143000"/>
            <a:ext cx="4727575" cy="3140075"/>
            <a:chOff x="1534" y="720"/>
            <a:chExt cx="2978" cy="1978"/>
          </a:xfrm>
        </p:grpSpPr>
        <p:sp>
          <p:nvSpPr>
            <p:cNvPr id="44043" name="Line 8"/>
            <p:cNvSpPr/>
            <p:nvPr/>
          </p:nvSpPr>
          <p:spPr>
            <a:xfrm flipV="1">
              <a:off x="1726" y="1442"/>
              <a:ext cx="0" cy="19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44044" name="Line 9"/>
            <p:cNvSpPr/>
            <p:nvPr/>
          </p:nvSpPr>
          <p:spPr>
            <a:xfrm flipV="1">
              <a:off x="1822" y="1442"/>
              <a:ext cx="0" cy="19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44045" name="Line 10"/>
            <p:cNvSpPr/>
            <p:nvPr/>
          </p:nvSpPr>
          <p:spPr>
            <a:xfrm flipV="1">
              <a:off x="2062" y="1442"/>
              <a:ext cx="0" cy="19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44046" name="Text Box 11"/>
            <p:cNvSpPr txBox="1"/>
            <p:nvPr/>
          </p:nvSpPr>
          <p:spPr>
            <a:xfrm>
              <a:off x="1822" y="1403"/>
              <a:ext cx="27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…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44047" name="Rectangle 12"/>
            <p:cNvSpPr/>
            <p:nvPr/>
          </p:nvSpPr>
          <p:spPr>
            <a:xfrm>
              <a:off x="1628" y="2114"/>
              <a:ext cx="578" cy="240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字段 1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44048" name="AutoShape 13"/>
            <p:cNvSpPr/>
            <p:nvPr/>
          </p:nvSpPr>
          <p:spPr>
            <a:xfrm rot="5400000">
              <a:off x="1870" y="1778"/>
              <a:ext cx="96" cy="576"/>
            </a:xfrm>
            <a:prstGeom prst="leftBrace">
              <a:avLst>
                <a:gd name="adj1" fmla="val 50000"/>
                <a:gd name="adj2" fmla="val 50000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44049" name="Text Box 14"/>
            <p:cNvSpPr txBox="1"/>
            <p:nvPr/>
          </p:nvSpPr>
          <p:spPr>
            <a:xfrm>
              <a:off x="2302" y="1403"/>
              <a:ext cx="27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…</a:t>
              </a:r>
              <a:endParaRPr lang="zh-CN" altLang="en-US" sz="2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050" name="Rectangle 15"/>
            <p:cNvSpPr/>
            <p:nvPr/>
          </p:nvSpPr>
          <p:spPr>
            <a:xfrm>
              <a:off x="2204" y="2114"/>
              <a:ext cx="578" cy="240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字段 2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44051" name="AutoShape 16"/>
            <p:cNvSpPr/>
            <p:nvPr/>
          </p:nvSpPr>
          <p:spPr>
            <a:xfrm rot="5400000">
              <a:off x="2446" y="1778"/>
              <a:ext cx="96" cy="576"/>
            </a:xfrm>
            <a:prstGeom prst="leftBrace">
              <a:avLst>
                <a:gd name="adj1" fmla="val 50000"/>
                <a:gd name="adj2" fmla="val 50000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grpSp>
          <p:nvGrpSpPr>
            <p:cNvPr id="44052" name="Group 17"/>
            <p:cNvGrpSpPr/>
            <p:nvPr/>
          </p:nvGrpSpPr>
          <p:grpSpPr>
            <a:xfrm>
              <a:off x="1678" y="1634"/>
              <a:ext cx="2160" cy="288"/>
              <a:chOff x="1678" y="1634"/>
              <a:chExt cx="2160" cy="288"/>
            </a:xfrm>
          </p:grpSpPr>
          <p:sp>
            <p:nvSpPr>
              <p:cNvPr id="44081" name="Rectangle 18"/>
              <p:cNvSpPr/>
              <p:nvPr/>
            </p:nvSpPr>
            <p:spPr>
              <a:xfrm>
                <a:off x="1678" y="1634"/>
                <a:ext cx="432" cy="288"/>
              </a:xfrm>
              <a:prstGeom prst="rect">
                <a:avLst/>
              </a:prstGeom>
              <a:noFill/>
              <a:ln w="28575" cap="flat" cmpd="sng">
                <a:solidFill>
                  <a:schemeClr val="folHlink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 eaLnBrk="1" hangingPunct="1"/>
                <a:r>
                  <a:rPr lang="zh-CN" altLang="en-US" sz="2000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译码</a:t>
                </a:r>
                <a:endParaRPr lang="zh-CN" altLang="en-US" sz="2000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4082" name="Rectangle 19"/>
              <p:cNvSpPr/>
              <p:nvPr/>
            </p:nvSpPr>
            <p:spPr>
              <a:xfrm>
                <a:off x="2254" y="1634"/>
                <a:ext cx="432" cy="288"/>
              </a:xfrm>
              <a:prstGeom prst="rect">
                <a:avLst/>
              </a:prstGeom>
              <a:noFill/>
              <a:ln w="28575" cap="flat" cmpd="sng">
                <a:solidFill>
                  <a:schemeClr val="folHlink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 eaLnBrk="1" hangingPunct="1"/>
                <a:r>
                  <a:rPr lang="zh-CN" altLang="en-US" sz="2000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译码</a:t>
                </a:r>
                <a:endParaRPr lang="zh-CN" altLang="en-US" sz="2000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4083" name="Rectangle 20"/>
              <p:cNvSpPr/>
              <p:nvPr/>
            </p:nvSpPr>
            <p:spPr>
              <a:xfrm>
                <a:off x="3406" y="1634"/>
                <a:ext cx="432" cy="288"/>
              </a:xfrm>
              <a:prstGeom prst="rect">
                <a:avLst/>
              </a:prstGeom>
              <a:noFill/>
              <a:ln w="28575" cap="flat" cmpd="sng">
                <a:solidFill>
                  <a:schemeClr val="folHlink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 eaLnBrk="1" hangingPunct="1"/>
                <a:r>
                  <a:rPr lang="zh-CN" altLang="en-US" sz="2000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译码</a:t>
                </a:r>
                <a:endParaRPr lang="zh-CN" altLang="en-US" sz="2000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44053" name="Line 21"/>
            <p:cNvSpPr/>
            <p:nvPr/>
          </p:nvSpPr>
          <p:spPr>
            <a:xfrm flipV="1">
              <a:off x="3454" y="1442"/>
              <a:ext cx="0" cy="19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44054" name="Line 22"/>
            <p:cNvSpPr/>
            <p:nvPr/>
          </p:nvSpPr>
          <p:spPr>
            <a:xfrm flipV="1">
              <a:off x="3550" y="1442"/>
              <a:ext cx="0" cy="19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44055" name="Line 23"/>
            <p:cNvSpPr/>
            <p:nvPr/>
          </p:nvSpPr>
          <p:spPr>
            <a:xfrm flipV="1">
              <a:off x="3790" y="1442"/>
              <a:ext cx="0" cy="19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44056" name="Text Box 24"/>
            <p:cNvSpPr txBox="1"/>
            <p:nvPr/>
          </p:nvSpPr>
          <p:spPr>
            <a:xfrm>
              <a:off x="3550" y="1403"/>
              <a:ext cx="27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…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44057" name="Rectangle 25"/>
            <p:cNvSpPr/>
            <p:nvPr/>
          </p:nvSpPr>
          <p:spPr>
            <a:xfrm>
              <a:off x="2780" y="2114"/>
              <a:ext cx="578" cy="240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44058" name="Line 26"/>
            <p:cNvSpPr/>
            <p:nvPr/>
          </p:nvSpPr>
          <p:spPr>
            <a:xfrm>
              <a:off x="1630" y="2450"/>
              <a:ext cx="0" cy="19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59" name="Line 27"/>
            <p:cNvSpPr/>
            <p:nvPr/>
          </p:nvSpPr>
          <p:spPr>
            <a:xfrm>
              <a:off x="3934" y="2450"/>
              <a:ext cx="0" cy="19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4060" name="Line 28"/>
            <p:cNvSpPr/>
            <p:nvPr/>
          </p:nvSpPr>
          <p:spPr>
            <a:xfrm flipH="1">
              <a:off x="1630" y="2546"/>
              <a:ext cx="621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44061" name="Line 29"/>
            <p:cNvSpPr/>
            <p:nvPr/>
          </p:nvSpPr>
          <p:spPr>
            <a:xfrm>
              <a:off x="3262" y="2546"/>
              <a:ext cx="621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44062" name="Text Box 30"/>
            <p:cNvSpPr txBox="1"/>
            <p:nvPr/>
          </p:nvSpPr>
          <p:spPr>
            <a:xfrm>
              <a:off x="2398" y="2448"/>
              <a:ext cx="76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操作控制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44063" name="Text Box 31"/>
            <p:cNvSpPr txBox="1"/>
            <p:nvPr/>
          </p:nvSpPr>
          <p:spPr>
            <a:xfrm>
              <a:off x="1534" y="720"/>
              <a:ext cx="76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控制信号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44064" name="Rectangle 32"/>
            <p:cNvSpPr/>
            <p:nvPr/>
          </p:nvSpPr>
          <p:spPr>
            <a:xfrm>
              <a:off x="1678" y="1162"/>
              <a:ext cx="432" cy="288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44065" name="Line 33"/>
            <p:cNvSpPr/>
            <p:nvPr/>
          </p:nvSpPr>
          <p:spPr>
            <a:xfrm flipV="1">
              <a:off x="1726" y="961"/>
              <a:ext cx="0" cy="19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44066" name="Line 34"/>
            <p:cNvSpPr/>
            <p:nvPr/>
          </p:nvSpPr>
          <p:spPr>
            <a:xfrm flipV="1">
              <a:off x="1822" y="961"/>
              <a:ext cx="0" cy="19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44067" name="Line 35"/>
            <p:cNvSpPr/>
            <p:nvPr/>
          </p:nvSpPr>
          <p:spPr>
            <a:xfrm flipV="1">
              <a:off x="2062" y="961"/>
              <a:ext cx="0" cy="19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44068" name="Text Box 36"/>
            <p:cNvSpPr txBox="1"/>
            <p:nvPr/>
          </p:nvSpPr>
          <p:spPr>
            <a:xfrm>
              <a:off x="1822" y="922"/>
              <a:ext cx="27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…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44069" name="Rectangle 37"/>
            <p:cNvSpPr/>
            <p:nvPr/>
          </p:nvSpPr>
          <p:spPr>
            <a:xfrm>
              <a:off x="3358" y="2122"/>
              <a:ext cx="578" cy="240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字段 </a:t>
              </a:r>
              <a:r>
                <a:rPr lang="en-US" altLang="zh-CN" sz="2000" i="1" dirty="0">
                  <a:latin typeface="Times New Roman" panose="02020603050405020304" pitchFamily="18" charset="0"/>
                </a:rPr>
                <a:t>n</a:t>
              </a:r>
              <a:endParaRPr lang="en-US" altLang="zh-CN" sz="2000" i="1" dirty="0">
                <a:latin typeface="Times New Roman" panose="02020603050405020304" pitchFamily="18" charset="0"/>
              </a:endParaRPr>
            </a:p>
          </p:txBody>
        </p:sp>
        <p:sp>
          <p:nvSpPr>
            <p:cNvPr id="44070" name="AutoShape 38"/>
            <p:cNvSpPr/>
            <p:nvPr/>
          </p:nvSpPr>
          <p:spPr>
            <a:xfrm rot="5400000">
              <a:off x="3600" y="1786"/>
              <a:ext cx="96" cy="576"/>
            </a:xfrm>
            <a:prstGeom prst="leftBrace">
              <a:avLst>
                <a:gd name="adj1" fmla="val 50000"/>
                <a:gd name="adj2" fmla="val 50000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44071" name="Rectangle 39"/>
            <p:cNvSpPr/>
            <p:nvPr/>
          </p:nvSpPr>
          <p:spPr>
            <a:xfrm>
              <a:off x="3934" y="2122"/>
              <a:ext cx="578" cy="240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下地址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44072" name="Text Box 40"/>
            <p:cNvSpPr txBox="1"/>
            <p:nvPr/>
          </p:nvSpPr>
          <p:spPr>
            <a:xfrm>
              <a:off x="2954" y="2052"/>
              <a:ext cx="30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400" dirty="0">
                  <a:latin typeface="Times New Roman" panose="02020603050405020304" pitchFamily="18" charset="0"/>
                </a:rPr>
                <a:t>…</a:t>
              </a:r>
              <a:endParaRPr lang="zh-CN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44073" name="Rectangle 41"/>
            <p:cNvSpPr/>
            <p:nvPr/>
          </p:nvSpPr>
          <p:spPr>
            <a:xfrm>
              <a:off x="3406" y="1162"/>
              <a:ext cx="432" cy="288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44074" name="Line 42"/>
            <p:cNvSpPr/>
            <p:nvPr/>
          </p:nvSpPr>
          <p:spPr>
            <a:xfrm flipV="1">
              <a:off x="3454" y="961"/>
              <a:ext cx="0" cy="19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44075" name="Line 43"/>
            <p:cNvSpPr/>
            <p:nvPr/>
          </p:nvSpPr>
          <p:spPr>
            <a:xfrm flipV="1">
              <a:off x="3550" y="961"/>
              <a:ext cx="0" cy="19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44076" name="Line 44"/>
            <p:cNvSpPr/>
            <p:nvPr/>
          </p:nvSpPr>
          <p:spPr>
            <a:xfrm flipV="1">
              <a:off x="3790" y="961"/>
              <a:ext cx="0" cy="192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44077" name="Text Box 45"/>
            <p:cNvSpPr txBox="1"/>
            <p:nvPr/>
          </p:nvSpPr>
          <p:spPr>
            <a:xfrm>
              <a:off x="3550" y="922"/>
              <a:ext cx="27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…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44078" name="Text Box 46"/>
            <p:cNvSpPr txBox="1"/>
            <p:nvPr/>
          </p:nvSpPr>
          <p:spPr>
            <a:xfrm>
              <a:off x="3270" y="730"/>
              <a:ext cx="76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控制信号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44079" name="Freeform 47"/>
            <p:cNvSpPr/>
            <p:nvPr/>
          </p:nvSpPr>
          <p:spPr>
            <a:xfrm>
              <a:off x="2110" y="1306"/>
              <a:ext cx="192" cy="336"/>
            </a:xfrm>
            <a:custGeom>
              <a:avLst/>
              <a:gdLst/>
              <a:ahLst/>
              <a:cxnLst>
                <a:cxn ang="0">
                  <a:pos x="192" y="336"/>
                </a:cxn>
                <a:cxn ang="0">
                  <a:pos x="192" y="0"/>
                </a:cxn>
                <a:cxn ang="0">
                  <a:pos x="0" y="0"/>
                </a:cxn>
              </a:cxnLst>
              <a:pathLst>
                <a:path w="192" h="336">
                  <a:moveTo>
                    <a:pt x="192" y="336"/>
                  </a:moveTo>
                  <a:lnTo>
                    <a:pt x="192" y="0"/>
                  </a:lnTo>
                  <a:lnTo>
                    <a:pt x="0" y="0"/>
                  </a:lnTo>
                </a:path>
              </a:pathLst>
            </a:custGeom>
            <a:noFill/>
            <a:ln w="28575" cap="flat" cmpd="sng">
              <a:solidFill>
                <a:schemeClr val="folHlink">
                  <a:alpha val="100000"/>
                </a:schemeClr>
              </a:solidFill>
              <a:prstDash val="solid"/>
              <a:round/>
              <a:headEnd type="none" w="med" len="med"/>
              <a:tailEnd type="stealth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4080" name="Freeform 48"/>
            <p:cNvSpPr/>
            <p:nvPr/>
          </p:nvSpPr>
          <p:spPr>
            <a:xfrm>
              <a:off x="2590" y="1306"/>
              <a:ext cx="816" cy="336"/>
            </a:xfrm>
            <a:custGeom>
              <a:avLst/>
              <a:gdLst/>
              <a:ahLst/>
              <a:cxnLst>
                <a:cxn ang="0">
                  <a:pos x="0" y="336"/>
                </a:cxn>
                <a:cxn ang="0">
                  <a:pos x="0" y="0"/>
                </a:cxn>
                <a:cxn ang="0">
                  <a:pos x="816" y="0"/>
                </a:cxn>
              </a:cxnLst>
              <a:pathLst>
                <a:path w="816" h="336">
                  <a:moveTo>
                    <a:pt x="0" y="336"/>
                  </a:moveTo>
                  <a:lnTo>
                    <a:pt x="0" y="0"/>
                  </a:lnTo>
                  <a:lnTo>
                    <a:pt x="816" y="0"/>
                  </a:lnTo>
                </a:path>
              </a:pathLst>
            </a:custGeom>
            <a:noFill/>
            <a:ln w="28575" cap="flat" cmpd="sng">
              <a:solidFill>
                <a:schemeClr val="folHlink">
                  <a:alpha val="100000"/>
                </a:schemeClr>
              </a:solidFill>
              <a:prstDash val="solid"/>
              <a:round/>
              <a:headEnd type="none" w="med" len="med"/>
              <a:tailEnd type="stealth" w="med" len="med"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638001" name="Rectangle 49"/>
          <p:cNvSpPr>
            <a:spLocks noChangeArrowheads="1"/>
          </p:cNvSpPr>
          <p:nvPr/>
        </p:nvSpPr>
        <p:spPr bwMode="auto">
          <a:xfrm>
            <a:off x="7696200" y="152400"/>
            <a:ext cx="1447800" cy="838200"/>
          </a:xfrm>
          <a:prstGeom prst="rect">
            <a:avLst/>
          </a:prstGeom>
          <a:noFill/>
          <a:ln>
            <a:noFill/>
          </a:ln>
          <a:effectLst/>
        </p:spPr>
        <p:txBody>
          <a:bodyPr lIns="92075" tIns="46038" rIns="92075" bIns="46038" anchor="ctr"/>
          <a:lstStyle>
            <a:lvl1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10.2</a:t>
            </a:r>
            <a:endParaRPr kumimoji="1" lang="zh-CN" altLang="en-US" sz="4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38002" name="Text Box 50"/>
          <p:cNvSpPr txBox="1"/>
          <p:nvPr/>
        </p:nvSpPr>
        <p:spPr>
          <a:xfrm>
            <a:off x="6588125" y="2205038"/>
            <a:ext cx="2160588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400" dirty="0">
                <a:solidFill>
                  <a:schemeClr val="folHlink"/>
                </a:solidFill>
                <a:latin typeface="Times New Roman" panose="02020603050405020304" pitchFamily="18" charset="0"/>
              </a:rPr>
              <a:t>隐式编码</a:t>
            </a:r>
            <a:endParaRPr lang="zh-CN" altLang="en-US" sz="24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44042" name="AutoShape 51">
            <a:hlinkClick r:id="rId1" action="ppaction://hlinksldjump"/>
          </p:cNvPr>
          <p:cNvSpPr/>
          <p:nvPr/>
        </p:nvSpPr>
        <p:spPr>
          <a:xfrm>
            <a:off x="8589963" y="6516688"/>
            <a:ext cx="539750" cy="333375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endParaRPr lang="zh-CN" altLang="en-US" dirty="0">
              <a:latin typeface="等线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637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380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380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637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637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637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7956" grpId="0"/>
      <p:bldP spid="637957" grpId="0"/>
      <p:bldP spid="637958" grpId="0"/>
      <p:bldP spid="638002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41026" name="AutoShape 2"/>
          <p:cNvSpPr/>
          <p:nvPr/>
        </p:nvSpPr>
        <p:spPr>
          <a:xfrm>
            <a:off x="6815138" y="5102225"/>
            <a:ext cx="204787" cy="449263"/>
          </a:xfrm>
          <a:prstGeom prst="downArrow">
            <a:avLst>
              <a:gd name="adj1" fmla="val 50000"/>
              <a:gd name="adj2" fmla="val 54845"/>
            </a:avLst>
          </a:prstGeom>
          <a:solidFill>
            <a:schemeClr val="folHlink"/>
          </a:solidFill>
          <a:ln w="9525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vert="eaVert" wrap="none" anchor="ctr" anchorCtr="0"/>
          <a:p>
            <a:pPr eaLnBrk="1" hangingPunct="1"/>
            <a:endParaRPr lang="zh-CN" altLang="en-US" dirty="0">
              <a:latin typeface="等线" panose="02010600030101010101" pitchFamily="2" charset="-122"/>
            </a:endParaRPr>
          </a:p>
        </p:txBody>
      </p:sp>
      <p:sp>
        <p:nvSpPr>
          <p:cNvPr id="641028" name="Line 4"/>
          <p:cNvSpPr/>
          <p:nvPr/>
        </p:nvSpPr>
        <p:spPr>
          <a:xfrm>
            <a:off x="4113213" y="3444875"/>
            <a:ext cx="749300" cy="0"/>
          </a:xfrm>
          <a:prstGeom prst="line">
            <a:avLst/>
          </a:prstGeom>
          <a:ln w="38100" cap="flat" cmpd="sng">
            <a:solidFill>
              <a:schemeClr val="folHlink"/>
            </a:solidFill>
            <a:prstDash val="solid"/>
            <a:headEnd type="none" w="med" len="med"/>
            <a:tailEnd type="stealth" w="med" len="med"/>
          </a:ln>
        </p:spPr>
      </p:sp>
      <p:sp>
        <p:nvSpPr>
          <p:cNvPr id="641029" name="Text Box 5"/>
          <p:cNvSpPr txBox="1"/>
          <p:nvPr/>
        </p:nvSpPr>
        <p:spPr>
          <a:xfrm>
            <a:off x="4141788" y="3460750"/>
            <a:ext cx="644525" cy="6413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地址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dirty="0">
                <a:latin typeface="Times New Roman" panose="02020603050405020304" pitchFamily="18" charset="0"/>
              </a:rPr>
              <a:t>选择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41030" name="Freeform 6"/>
          <p:cNvSpPr/>
          <p:nvPr/>
        </p:nvSpPr>
        <p:spPr>
          <a:xfrm>
            <a:off x="3721100" y="3822700"/>
            <a:ext cx="1588" cy="847725"/>
          </a:xfrm>
          <a:custGeom>
            <a:avLst/>
            <a:gdLst/>
            <a:ahLst/>
            <a:cxnLst>
              <a:cxn ang="0">
                <a:pos x="0" y="2147483646"/>
              </a:cxn>
              <a:cxn ang="0">
                <a:pos x="0" y="0"/>
              </a:cxn>
            </a:cxnLst>
            <a:pathLst>
              <a:path w="1" h="534">
                <a:moveTo>
                  <a:pt x="0" y="534"/>
                </a:moveTo>
                <a:lnTo>
                  <a:pt x="0" y="0"/>
                </a:lnTo>
              </a:path>
            </a:pathLst>
          </a:custGeom>
          <a:noFill/>
          <a:ln w="28575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stealth" w="med" len="med"/>
          </a:ln>
        </p:spPr>
        <p:txBody>
          <a:bodyPr/>
          <a:p>
            <a:endParaRPr lang="zh-CN" altLang="en-US"/>
          </a:p>
        </p:txBody>
      </p:sp>
      <p:sp>
        <p:nvSpPr>
          <p:cNvPr id="641031" name="AutoShape 7"/>
          <p:cNvSpPr/>
          <p:nvPr/>
        </p:nvSpPr>
        <p:spPr>
          <a:xfrm>
            <a:off x="3810000" y="5059363"/>
            <a:ext cx="152400" cy="431800"/>
          </a:xfrm>
          <a:prstGeom prst="upArrow">
            <a:avLst>
              <a:gd name="adj1" fmla="val 50000"/>
              <a:gd name="adj2" fmla="val 70833"/>
            </a:avLst>
          </a:prstGeom>
          <a:solidFill>
            <a:schemeClr val="folHlink"/>
          </a:solidFill>
          <a:ln w="28575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vert="eaVert" wrap="none" anchor="ctr" anchorCtr="0"/>
          <a:p>
            <a:pPr eaLnBrk="1" hangingPunct="1"/>
            <a:endParaRPr lang="zh-CN" altLang="en-US" dirty="0">
              <a:latin typeface="等线" panose="02010600030101010101" pitchFamily="2" charset="-122"/>
            </a:endParaRPr>
          </a:p>
        </p:txBody>
      </p:sp>
      <p:sp>
        <p:nvSpPr>
          <p:cNvPr id="641032" name="AutoShape 8"/>
          <p:cNvSpPr/>
          <p:nvPr/>
        </p:nvSpPr>
        <p:spPr>
          <a:xfrm>
            <a:off x="5435600" y="2759075"/>
            <a:ext cx="152400" cy="457200"/>
          </a:xfrm>
          <a:prstGeom prst="downArrow">
            <a:avLst>
              <a:gd name="adj1" fmla="val 50000"/>
              <a:gd name="adj2" fmla="val 75000"/>
            </a:avLst>
          </a:prstGeom>
          <a:solidFill>
            <a:schemeClr val="folHlink"/>
          </a:solidFill>
          <a:ln w="28575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vert="eaVert" wrap="none" anchor="ctr" anchorCtr="0"/>
          <a:p>
            <a:pPr eaLnBrk="1" hangingPunct="1"/>
            <a:endParaRPr lang="zh-CN" altLang="en-US" dirty="0">
              <a:latin typeface="等线" panose="02010600030101010101" pitchFamily="2" charset="-122"/>
            </a:endParaRPr>
          </a:p>
        </p:txBody>
      </p:sp>
      <p:sp>
        <p:nvSpPr>
          <p:cNvPr id="641033" name="AutoShape 9"/>
          <p:cNvSpPr/>
          <p:nvPr/>
        </p:nvSpPr>
        <p:spPr>
          <a:xfrm>
            <a:off x="5014913" y="1844675"/>
            <a:ext cx="152400" cy="228600"/>
          </a:xfrm>
          <a:prstGeom prst="downArrow">
            <a:avLst>
              <a:gd name="adj1" fmla="val 50000"/>
              <a:gd name="adj2" fmla="val 37500"/>
            </a:avLst>
          </a:prstGeom>
          <a:solidFill>
            <a:schemeClr val="folHlink"/>
          </a:solidFill>
          <a:ln w="28575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vert="eaVert" wrap="none" anchor="ctr" anchorCtr="0"/>
          <a:p>
            <a:pPr eaLnBrk="1" hangingPunct="1"/>
            <a:endParaRPr lang="zh-CN" altLang="en-US" dirty="0">
              <a:latin typeface="等线" panose="02010600030101010101" pitchFamily="2" charset="-122"/>
            </a:endParaRPr>
          </a:p>
        </p:txBody>
      </p:sp>
      <p:grpSp>
        <p:nvGrpSpPr>
          <p:cNvPr id="641034" name="Group 10"/>
          <p:cNvGrpSpPr/>
          <p:nvPr/>
        </p:nvGrpSpPr>
        <p:grpSpPr>
          <a:xfrm>
            <a:off x="2119313" y="2917825"/>
            <a:ext cx="2971800" cy="304800"/>
            <a:chOff x="1335" y="1834"/>
            <a:chExt cx="1872" cy="192"/>
          </a:xfrm>
        </p:grpSpPr>
        <p:sp>
          <p:nvSpPr>
            <p:cNvPr id="45117" name="Rectangle 11"/>
            <p:cNvSpPr/>
            <p:nvPr/>
          </p:nvSpPr>
          <p:spPr>
            <a:xfrm>
              <a:off x="1335" y="1834"/>
              <a:ext cx="1824" cy="48"/>
            </a:xfrm>
            <a:prstGeom prst="rect">
              <a:avLst/>
            </a:prstGeom>
            <a:solidFill>
              <a:schemeClr val="folHlink"/>
            </a:solidFill>
            <a:ln w="952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45118" name="AutoShape 12"/>
            <p:cNvSpPr/>
            <p:nvPr/>
          </p:nvSpPr>
          <p:spPr>
            <a:xfrm>
              <a:off x="3111" y="1834"/>
              <a:ext cx="96" cy="192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chemeClr val="folHlink"/>
            </a:solidFill>
            <a:ln w="952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vert="eaVert"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</p:grpSp>
      <p:sp>
        <p:nvSpPr>
          <p:cNvPr id="641037" name="Rectangle 13"/>
          <p:cNvSpPr/>
          <p:nvPr/>
        </p:nvSpPr>
        <p:spPr>
          <a:xfrm>
            <a:off x="6892925" y="5959475"/>
            <a:ext cx="115888" cy="457200"/>
          </a:xfrm>
          <a:prstGeom prst="rect">
            <a:avLst/>
          </a:prstGeom>
          <a:solidFill>
            <a:schemeClr val="folHlink"/>
          </a:solidFill>
          <a:ln w="9525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等线" panose="02010600030101010101" pitchFamily="2" charset="-122"/>
            </a:endParaRPr>
          </a:p>
        </p:txBody>
      </p:sp>
      <p:sp>
        <p:nvSpPr>
          <p:cNvPr id="641038" name="Rectangle 14"/>
          <p:cNvSpPr/>
          <p:nvPr/>
        </p:nvSpPr>
        <p:spPr>
          <a:xfrm>
            <a:off x="5508625" y="4005263"/>
            <a:ext cx="588963" cy="360362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1" hangingPunct="1"/>
            <a:r>
              <a:rPr lang="zh-CN" altLang="en-US" sz="2000" dirty="0">
                <a:latin typeface="等线" panose="02010600030101010101" pitchFamily="2" charset="-122"/>
              </a:rPr>
              <a:t>+</a:t>
            </a:r>
            <a:r>
              <a:rPr lang="zh-CN" altLang="en-US" sz="2000" dirty="0">
                <a:latin typeface="Times New Roman" panose="02020603050405020304" pitchFamily="18" charset="0"/>
              </a:rPr>
              <a:t> 1</a:t>
            </a:r>
            <a:endParaRPr lang="zh-CN" altLang="en-US" sz="2000" dirty="0">
              <a:latin typeface="Times New Roman" panose="02020603050405020304" pitchFamily="18" charset="0"/>
            </a:endParaRPr>
          </a:p>
        </p:txBody>
      </p:sp>
      <p:sp>
        <p:nvSpPr>
          <p:cNvPr id="641039" name="AutoShape 15"/>
          <p:cNvSpPr/>
          <p:nvPr/>
        </p:nvSpPr>
        <p:spPr>
          <a:xfrm>
            <a:off x="5691188" y="3644900"/>
            <a:ext cx="176212" cy="333375"/>
          </a:xfrm>
          <a:prstGeom prst="upArrow">
            <a:avLst>
              <a:gd name="adj1" fmla="val 50000"/>
              <a:gd name="adj2" fmla="val 47297"/>
            </a:avLst>
          </a:prstGeom>
          <a:solidFill>
            <a:schemeClr val="folHlink"/>
          </a:solidFill>
          <a:ln w="9525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vert="eaVert" wrap="none" anchor="ctr" anchorCtr="0"/>
          <a:p>
            <a:pPr eaLnBrk="1" hangingPunct="1"/>
            <a:endParaRPr lang="zh-CN" altLang="en-US" dirty="0">
              <a:latin typeface="等线" panose="02010600030101010101" pitchFamily="2" charset="-122"/>
            </a:endParaRPr>
          </a:p>
        </p:txBody>
      </p:sp>
      <p:grpSp>
        <p:nvGrpSpPr>
          <p:cNvPr id="641040" name="Group 16"/>
          <p:cNvGrpSpPr/>
          <p:nvPr/>
        </p:nvGrpSpPr>
        <p:grpSpPr>
          <a:xfrm>
            <a:off x="5724525" y="4365625"/>
            <a:ext cx="585788" cy="576263"/>
            <a:chOff x="3543" y="2746"/>
            <a:chExt cx="432" cy="336"/>
          </a:xfrm>
        </p:grpSpPr>
        <p:sp>
          <p:nvSpPr>
            <p:cNvPr id="45115" name="Rectangle 17"/>
            <p:cNvSpPr/>
            <p:nvPr/>
          </p:nvSpPr>
          <p:spPr>
            <a:xfrm>
              <a:off x="3591" y="3034"/>
              <a:ext cx="384" cy="48"/>
            </a:xfrm>
            <a:prstGeom prst="rect">
              <a:avLst/>
            </a:prstGeom>
            <a:solidFill>
              <a:schemeClr val="folHlink"/>
            </a:solidFill>
            <a:ln w="952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45116" name="AutoShape 18"/>
            <p:cNvSpPr/>
            <p:nvPr/>
          </p:nvSpPr>
          <p:spPr>
            <a:xfrm>
              <a:off x="3543" y="2746"/>
              <a:ext cx="96" cy="336"/>
            </a:xfrm>
            <a:prstGeom prst="upArrow">
              <a:avLst>
                <a:gd name="adj1" fmla="val 50000"/>
                <a:gd name="adj2" fmla="val 87500"/>
              </a:avLst>
            </a:prstGeom>
            <a:solidFill>
              <a:schemeClr val="folHlink"/>
            </a:solidFill>
            <a:ln w="952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vert="eaVert"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</p:grpSp>
      <p:grpSp>
        <p:nvGrpSpPr>
          <p:cNvPr id="641043" name="Group 19"/>
          <p:cNvGrpSpPr/>
          <p:nvPr/>
        </p:nvGrpSpPr>
        <p:grpSpPr>
          <a:xfrm>
            <a:off x="1295400" y="4679950"/>
            <a:ext cx="6105525" cy="1431925"/>
            <a:chOff x="816" y="2948"/>
            <a:chExt cx="3846" cy="902"/>
          </a:xfrm>
        </p:grpSpPr>
        <p:sp>
          <p:nvSpPr>
            <p:cNvPr id="45106" name="Rectangle 20"/>
            <p:cNvSpPr/>
            <p:nvPr/>
          </p:nvSpPr>
          <p:spPr>
            <a:xfrm>
              <a:off x="3975" y="2976"/>
              <a:ext cx="687" cy="240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r>
                <a:rPr lang="en-US" altLang="zh-CN" dirty="0">
                  <a:latin typeface="Times New Roman" panose="02020603050405020304" pitchFamily="18" charset="0"/>
                </a:rPr>
                <a:t>CMAR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45107" name="Rectangle 21"/>
            <p:cNvSpPr/>
            <p:nvPr/>
          </p:nvSpPr>
          <p:spPr>
            <a:xfrm>
              <a:off x="3975" y="3514"/>
              <a:ext cx="687" cy="240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72000" tIns="18000" anchor="ctr" anchorCtr="0"/>
            <a:p>
              <a:pPr algn="ctr" eaLnBrk="1" hangingPunct="1"/>
              <a:r>
                <a:rPr lang="zh-CN" altLang="en-US" dirty="0">
                  <a:latin typeface="Times New Roman" panose="02020603050405020304" pitchFamily="18" charset="0"/>
                </a:rPr>
                <a:t>地址译码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5108" name="Rectangle 22"/>
            <p:cNvSpPr/>
            <p:nvPr/>
          </p:nvSpPr>
          <p:spPr>
            <a:xfrm>
              <a:off x="2760" y="2948"/>
              <a:ext cx="687" cy="240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54000" tIns="7200" anchor="ctr" anchorCtr="0"/>
            <a:p>
              <a:pPr algn="ctr" eaLnBrk="1" hangingPunct="1"/>
              <a:r>
                <a:rPr lang="zh-CN" altLang="en-US" dirty="0">
                  <a:latin typeface="Times New Roman" panose="02020603050405020304" pitchFamily="18" charset="0"/>
                </a:rPr>
                <a:t>下地址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5109" name="Rectangle 23"/>
            <p:cNvSpPr/>
            <p:nvPr/>
          </p:nvSpPr>
          <p:spPr>
            <a:xfrm>
              <a:off x="2077" y="2948"/>
              <a:ext cx="687" cy="240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57600" tIns="7200" anchor="ctr" anchorCtr="0"/>
            <a:p>
              <a:pPr algn="ctr" eaLnBrk="1" hangingPunct="1"/>
              <a:r>
                <a:rPr lang="zh-CN" altLang="en-US" dirty="0">
                  <a:latin typeface="Times New Roman" panose="02020603050405020304" pitchFamily="18" charset="0"/>
                </a:rPr>
                <a:t>转移方式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5110" name="Rectangle 24"/>
            <p:cNvSpPr/>
            <p:nvPr/>
          </p:nvSpPr>
          <p:spPr>
            <a:xfrm>
              <a:off x="1390" y="2948"/>
              <a:ext cx="687" cy="240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45111" name="Text Box 25"/>
            <p:cNvSpPr txBox="1"/>
            <p:nvPr/>
          </p:nvSpPr>
          <p:spPr>
            <a:xfrm>
              <a:off x="816" y="2948"/>
              <a:ext cx="615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dirty="0">
                  <a:latin typeface="Times New Roman" panose="02020603050405020304" pitchFamily="18" charset="0"/>
                </a:rPr>
                <a:t>CMDR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45112" name="Group 26"/>
            <p:cNvGrpSpPr/>
            <p:nvPr/>
          </p:nvGrpSpPr>
          <p:grpSpPr>
            <a:xfrm>
              <a:off x="1383" y="3466"/>
              <a:ext cx="2064" cy="384"/>
              <a:chOff x="1584" y="3648"/>
              <a:chExt cx="2064" cy="384"/>
            </a:xfrm>
          </p:grpSpPr>
          <p:sp>
            <p:nvSpPr>
              <p:cNvPr id="45113" name="Text Box 27"/>
              <p:cNvSpPr txBox="1"/>
              <p:nvPr/>
            </p:nvSpPr>
            <p:spPr>
              <a:xfrm>
                <a:off x="2198" y="3696"/>
                <a:ext cx="921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zh-CN" altLang="en-US" sz="2000" dirty="0">
                    <a:latin typeface="Times New Roman" panose="02020603050405020304" pitchFamily="18" charset="0"/>
                  </a:rPr>
                  <a:t>控制存储器</a:t>
                </a:r>
                <a:endParaRPr lang="zh-CN" altLang="en-US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5114" name="Rectangle 28"/>
              <p:cNvSpPr/>
              <p:nvPr/>
            </p:nvSpPr>
            <p:spPr>
              <a:xfrm>
                <a:off x="1584" y="3648"/>
                <a:ext cx="2064" cy="384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等线" panose="02010600030101010101" pitchFamily="2" charset="-122"/>
                </a:endParaRPr>
              </a:p>
            </p:txBody>
          </p:sp>
        </p:grpSp>
      </p:grpSp>
      <p:grpSp>
        <p:nvGrpSpPr>
          <p:cNvPr id="641053" name="Group 29"/>
          <p:cNvGrpSpPr/>
          <p:nvPr/>
        </p:nvGrpSpPr>
        <p:grpSpPr>
          <a:xfrm>
            <a:off x="2119313" y="3962400"/>
            <a:ext cx="1200150" cy="717550"/>
            <a:chOff x="1335" y="2496"/>
            <a:chExt cx="756" cy="452"/>
          </a:xfrm>
        </p:grpSpPr>
        <p:sp>
          <p:nvSpPr>
            <p:cNvPr id="45101" name="Line 30"/>
            <p:cNvSpPr/>
            <p:nvPr/>
          </p:nvSpPr>
          <p:spPr>
            <a:xfrm flipV="1">
              <a:off x="1431" y="2708"/>
              <a:ext cx="0" cy="240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45102" name="Line 31"/>
            <p:cNvSpPr/>
            <p:nvPr/>
          </p:nvSpPr>
          <p:spPr>
            <a:xfrm flipV="1">
              <a:off x="1575" y="2708"/>
              <a:ext cx="0" cy="240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45103" name="Line 32"/>
            <p:cNvSpPr/>
            <p:nvPr/>
          </p:nvSpPr>
          <p:spPr>
            <a:xfrm flipV="1">
              <a:off x="2007" y="2708"/>
              <a:ext cx="0" cy="240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45104" name="Text Box 33"/>
            <p:cNvSpPr txBox="1"/>
            <p:nvPr/>
          </p:nvSpPr>
          <p:spPr>
            <a:xfrm>
              <a:off x="1661" y="2669"/>
              <a:ext cx="27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…</a:t>
              </a:r>
              <a:endParaRPr lang="zh-CN" altLang="en-US" sz="2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5105" name="Text Box 34"/>
            <p:cNvSpPr txBox="1"/>
            <p:nvPr/>
          </p:nvSpPr>
          <p:spPr>
            <a:xfrm>
              <a:off x="1335" y="2496"/>
              <a:ext cx="75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控制信号</a:t>
              </a:r>
              <a:endParaRPr lang="zh-CN" altLang="en-US" sz="2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41059" name="Group 35"/>
          <p:cNvGrpSpPr/>
          <p:nvPr/>
        </p:nvGrpSpPr>
        <p:grpSpPr>
          <a:xfrm>
            <a:off x="2414588" y="3143250"/>
            <a:ext cx="1698625" cy="685800"/>
            <a:chOff x="1521" y="1980"/>
            <a:chExt cx="1070" cy="432"/>
          </a:xfrm>
        </p:grpSpPr>
        <p:grpSp>
          <p:nvGrpSpPr>
            <p:cNvPr id="45094" name="Group 36"/>
            <p:cNvGrpSpPr/>
            <p:nvPr/>
          </p:nvGrpSpPr>
          <p:grpSpPr>
            <a:xfrm>
              <a:off x="2149" y="1980"/>
              <a:ext cx="442" cy="432"/>
              <a:chOff x="2246" y="2544"/>
              <a:chExt cx="442" cy="432"/>
            </a:xfrm>
          </p:grpSpPr>
          <p:sp>
            <p:nvSpPr>
              <p:cNvPr id="45099" name="Text Box 37"/>
              <p:cNvSpPr txBox="1"/>
              <p:nvPr/>
            </p:nvSpPr>
            <p:spPr>
              <a:xfrm>
                <a:off x="2246" y="2558"/>
                <a:ext cx="422" cy="40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zh-CN" altLang="en-US" dirty="0">
                    <a:latin typeface="Times New Roman" panose="02020603050405020304" pitchFamily="18" charset="0"/>
                  </a:rPr>
                  <a:t> 分支</a:t>
                </a:r>
                <a:endParaRPr lang="zh-CN" altLang="en-US" dirty="0">
                  <a:latin typeface="Times New Roman" panose="02020603050405020304" pitchFamily="18" charset="0"/>
                </a:endParaRPr>
              </a:p>
              <a:p>
                <a:pPr eaLnBrk="1" hangingPunct="1"/>
                <a:r>
                  <a:rPr lang="zh-CN" altLang="en-US" dirty="0">
                    <a:latin typeface="Times New Roman" panose="02020603050405020304" pitchFamily="18" charset="0"/>
                  </a:rPr>
                  <a:t> 逻辑</a:t>
                </a:r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5100" name="Rectangle 38"/>
              <p:cNvSpPr/>
              <p:nvPr/>
            </p:nvSpPr>
            <p:spPr>
              <a:xfrm>
                <a:off x="2256" y="2544"/>
                <a:ext cx="432" cy="432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等线" panose="02010600030101010101" pitchFamily="2" charset="-122"/>
                </a:endParaRPr>
              </a:p>
            </p:txBody>
          </p:sp>
        </p:grpSp>
        <p:sp>
          <p:nvSpPr>
            <p:cNvPr id="45095" name="Line 39"/>
            <p:cNvSpPr/>
            <p:nvPr/>
          </p:nvSpPr>
          <p:spPr>
            <a:xfrm>
              <a:off x="1911" y="2036"/>
              <a:ext cx="24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45096" name="Line 40"/>
            <p:cNvSpPr/>
            <p:nvPr/>
          </p:nvSpPr>
          <p:spPr>
            <a:xfrm>
              <a:off x="1911" y="2324"/>
              <a:ext cx="24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45097" name="Text Box 41"/>
            <p:cNvSpPr txBox="1"/>
            <p:nvPr/>
          </p:nvSpPr>
          <p:spPr>
            <a:xfrm>
              <a:off x="1891" y="2103"/>
              <a:ext cx="308" cy="21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…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45098" name="Text Box 42"/>
            <p:cNvSpPr txBox="1"/>
            <p:nvPr/>
          </p:nvSpPr>
          <p:spPr>
            <a:xfrm>
              <a:off x="1521" y="2026"/>
              <a:ext cx="43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标志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641067" name="Text Box 43"/>
          <p:cNvSpPr txBox="1"/>
          <p:nvPr/>
        </p:nvSpPr>
        <p:spPr>
          <a:xfrm>
            <a:off x="1722438" y="2527300"/>
            <a:ext cx="1462087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000" dirty="0">
                <a:latin typeface="Times New Roman" panose="02020603050405020304" pitchFamily="18" charset="0"/>
              </a:rPr>
              <a:t>微程序入口</a:t>
            </a:r>
            <a:endParaRPr lang="zh-CN" altLang="en-US" sz="2000" dirty="0">
              <a:latin typeface="Times New Roman" panose="02020603050405020304" pitchFamily="18" charset="0"/>
            </a:endParaRPr>
          </a:p>
        </p:txBody>
      </p:sp>
      <p:grpSp>
        <p:nvGrpSpPr>
          <p:cNvPr id="641068" name="Group 44"/>
          <p:cNvGrpSpPr/>
          <p:nvPr/>
        </p:nvGrpSpPr>
        <p:grpSpPr>
          <a:xfrm>
            <a:off x="3810000" y="6102350"/>
            <a:ext cx="3121025" cy="315913"/>
            <a:chOff x="2400" y="3844"/>
            <a:chExt cx="1966" cy="199"/>
          </a:xfrm>
        </p:grpSpPr>
        <p:sp>
          <p:nvSpPr>
            <p:cNvPr id="45092" name="Rectangle 45"/>
            <p:cNvSpPr/>
            <p:nvPr/>
          </p:nvSpPr>
          <p:spPr>
            <a:xfrm>
              <a:off x="2439" y="3984"/>
              <a:ext cx="1927" cy="59"/>
            </a:xfrm>
            <a:prstGeom prst="rect">
              <a:avLst/>
            </a:prstGeom>
            <a:solidFill>
              <a:schemeClr val="folHlink"/>
            </a:solidFill>
            <a:ln w="952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45093" name="AutoShape 46"/>
            <p:cNvSpPr/>
            <p:nvPr/>
          </p:nvSpPr>
          <p:spPr>
            <a:xfrm>
              <a:off x="2400" y="3844"/>
              <a:ext cx="96" cy="195"/>
            </a:xfrm>
            <a:prstGeom prst="upArrow">
              <a:avLst>
                <a:gd name="adj1" fmla="val 50000"/>
                <a:gd name="adj2" fmla="val 50781"/>
              </a:avLst>
            </a:prstGeom>
            <a:solidFill>
              <a:schemeClr val="folHlink"/>
            </a:solidFill>
            <a:ln w="2857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vert="eaVert"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</p:grpSp>
      <p:sp>
        <p:nvSpPr>
          <p:cNvPr id="641071" name="Rectangle 47"/>
          <p:cNvSpPr>
            <a:spLocks noChangeArrowheads="1"/>
          </p:cNvSpPr>
          <p:nvPr/>
        </p:nvSpPr>
        <p:spPr bwMode="auto">
          <a:xfrm>
            <a:off x="7696200" y="152400"/>
            <a:ext cx="1447800" cy="838200"/>
          </a:xfrm>
          <a:prstGeom prst="rect">
            <a:avLst/>
          </a:prstGeom>
          <a:noFill/>
          <a:ln>
            <a:noFill/>
          </a:ln>
          <a:effectLst/>
        </p:spPr>
        <p:txBody>
          <a:bodyPr lIns="92075" tIns="46038" rIns="92075" bIns="46038" anchor="ctr"/>
          <a:lstStyle>
            <a:lvl1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10.2</a:t>
            </a:r>
            <a:endParaRPr kumimoji="1" lang="zh-CN" altLang="en-US" sz="4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641072" name="Group 48"/>
          <p:cNvGrpSpPr/>
          <p:nvPr/>
        </p:nvGrpSpPr>
        <p:grpSpPr>
          <a:xfrm>
            <a:off x="4862513" y="1447800"/>
            <a:ext cx="2295525" cy="1311275"/>
            <a:chOff x="3063" y="912"/>
            <a:chExt cx="1446" cy="826"/>
          </a:xfrm>
        </p:grpSpPr>
        <p:grpSp>
          <p:nvGrpSpPr>
            <p:cNvPr id="45084" name="Group 49"/>
            <p:cNvGrpSpPr/>
            <p:nvPr/>
          </p:nvGrpSpPr>
          <p:grpSpPr>
            <a:xfrm>
              <a:off x="3063" y="912"/>
              <a:ext cx="1446" cy="260"/>
              <a:chOff x="3063" y="912"/>
              <a:chExt cx="1446" cy="260"/>
            </a:xfrm>
          </p:grpSpPr>
          <p:sp>
            <p:nvSpPr>
              <p:cNvPr id="45088" name="Text Box 50"/>
              <p:cNvSpPr txBox="1"/>
              <p:nvPr/>
            </p:nvSpPr>
            <p:spPr>
              <a:xfrm>
                <a:off x="3063" y="922"/>
                <a:ext cx="338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sz="2000" dirty="0">
                    <a:latin typeface="Times New Roman" panose="02020603050405020304" pitchFamily="18" charset="0"/>
                  </a:rPr>
                  <a:t>OP</a:t>
                </a:r>
                <a:endParaRPr lang="en-US" altLang="zh-CN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5089" name="Rectangle 51"/>
              <p:cNvSpPr/>
              <p:nvPr/>
            </p:nvSpPr>
            <p:spPr>
              <a:xfrm>
                <a:off x="3063" y="922"/>
                <a:ext cx="336" cy="240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等线" panose="02010600030101010101" pitchFamily="2" charset="-122"/>
                </a:endParaRPr>
              </a:p>
            </p:txBody>
          </p:sp>
          <p:sp>
            <p:nvSpPr>
              <p:cNvPr id="45090" name="Rectangle 52"/>
              <p:cNvSpPr/>
              <p:nvPr/>
            </p:nvSpPr>
            <p:spPr>
              <a:xfrm>
                <a:off x="3399" y="922"/>
                <a:ext cx="816" cy="240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等线" panose="02010600030101010101" pitchFamily="2" charset="-122"/>
                </a:endParaRPr>
              </a:p>
            </p:txBody>
          </p:sp>
          <p:sp>
            <p:nvSpPr>
              <p:cNvPr id="45091" name="Text Box 53"/>
              <p:cNvSpPr txBox="1"/>
              <p:nvPr/>
            </p:nvSpPr>
            <p:spPr>
              <a:xfrm>
                <a:off x="4215" y="912"/>
                <a:ext cx="294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sz="2000" dirty="0">
                    <a:latin typeface="Times New Roman" panose="02020603050405020304" pitchFamily="18" charset="0"/>
                  </a:rPr>
                  <a:t>IR</a:t>
                </a:r>
                <a:endParaRPr lang="en-US" altLang="zh-CN" sz="2000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45085" name="Group 54"/>
            <p:cNvGrpSpPr/>
            <p:nvPr/>
          </p:nvGrpSpPr>
          <p:grpSpPr>
            <a:xfrm>
              <a:off x="3063" y="1296"/>
              <a:ext cx="778" cy="442"/>
              <a:chOff x="3367" y="1094"/>
              <a:chExt cx="778" cy="442"/>
            </a:xfrm>
          </p:grpSpPr>
          <p:sp>
            <p:nvSpPr>
              <p:cNvPr id="45086" name="Text Box 55"/>
              <p:cNvSpPr txBox="1"/>
              <p:nvPr/>
            </p:nvSpPr>
            <p:spPr>
              <a:xfrm>
                <a:off x="3367" y="1094"/>
                <a:ext cx="778" cy="44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zh-CN" altLang="en-US" sz="2000" dirty="0">
                    <a:latin typeface="Times New Roman" panose="02020603050405020304" pitchFamily="18" charset="0"/>
                  </a:rPr>
                  <a:t> </a:t>
                </a:r>
                <a:r>
                  <a:rPr lang="zh-CN" altLang="en-US" sz="1000" dirty="0">
                    <a:latin typeface="Times New Roman" panose="02020603050405020304" pitchFamily="18" charset="0"/>
                  </a:rPr>
                  <a:t>   </a:t>
                </a:r>
                <a:r>
                  <a:rPr lang="zh-CN" altLang="en-US" sz="2000" dirty="0">
                    <a:latin typeface="Times New Roman" panose="02020603050405020304" pitchFamily="18" charset="0"/>
                  </a:rPr>
                  <a:t>微地址</a:t>
                </a:r>
                <a:endParaRPr lang="en-US" altLang="zh-CN" sz="2000" dirty="0">
                  <a:latin typeface="Times New Roman" panose="02020603050405020304" pitchFamily="18" charset="0"/>
                </a:endParaRPr>
              </a:p>
              <a:p>
                <a:pPr eaLnBrk="1" hangingPunct="1"/>
                <a:r>
                  <a:rPr lang="zh-CN" altLang="en-US" sz="900" dirty="0">
                    <a:latin typeface="Times New Roman" panose="02020603050405020304" pitchFamily="18" charset="0"/>
                  </a:rPr>
                  <a:t> </a:t>
                </a:r>
                <a:r>
                  <a:rPr lang="zh-CN" altLang="en-US" sz="2000" dirty="0">
                    <a:latin typeface="Times New Roman" panose="02020603050405020304" pitchFamily="18" charset="0"/>
                  </a:rPr>
                  <a:t>形成部件</a:t>
                </a:r>
                <a:endParaRPr lang="zh-CN" altLang="en-US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5087" name="Rectangle 56"/>
              <p:cNvSpPr/>
              <p:nvPr/>
            </p:nvSpPr>
            <p:spPr>
              <a:xfrm>
                <a:off x="3377" y="1104"/>
                <a:ext cx="768" cy="432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等线" panose="02010600030101010101" pitchFamily="2" charset="-122"/>
                </a:endParaRPr>
              </a:p>
            </p:txBody>
          </p:sp>
        </p:grpSp>
      </p:grpSp>
      <p:grpSp>
        <p:nvGrpSpPr>
          <p:cNvPr id="641081" name="Group 57"/>
          <p:cNvGrpSpPr/>
          <p:nvPr/>
        </p:nvGrpSpPr>
        <p:grpSpPr>
          <a:xfrm>
            <a:off x="4862513" y="3232150"/>
            <a:ext cx="1235075" cy="412750"/>
            <a:chOff x="3367" y="1083"/>
            <a:chExt cx="778" cy="453"/>
          </a:xfrm>
        </p:grpSpPr>
        <p:sp>
          <p:nvSpPr>
            <p:cNvPr id="45082" name="Text Box 58"/>
            <p:cNvSpPr txBox="1"/>
            <p:nvPr/>
          </p:nvSpPr>
          <p:spPr>
            <a:xfrm>
              <a:off x="3367" y="1083"/>
              <a:ext cx="776" cy="43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dirty="0">
                  <a:latin typeface="Times New Roman" panose="02020603050405020304" pitchFamily="18" charset="0"/>
                </a:rPr>
                <a:t> </a:t>
              </a:r>
              <a:r>
                <a:rPr lang="zh-CN" altLang="en-US" sz="2000" dirty="0">
                  <a:latin typeface="Times New Roman" panose="02020603050405020304" pitchFamily="18" charset="0"/>
                </a:rPr>
                <a:t>多路选择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45083" name="Rectangle 59"/>
            <p:cNvSpPr/>
            <p:nvPr/>
          </p:nvSpPr>
          <p:spPr>
            <a:xfrm>
              <a:off x="3377" y="1104"/>
              <a:ext cx="768" cy="432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</p:grpSp>
      <p:sp>
        <p:nvSpPr>
          <p:cNvPr id="641084" name="Freeform 60"/>
          <p:cNvSpPr/>
          <p:nvPr/>
        </p:nvSpPr>
        <p:spPr>
          <a:xfrm>
            <a:off x="6084888" y="3429000"/>
            <a:ext cx="863600" cy="12954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6" y="0"/>
              </a:cxn>
              <a:cxn ang="0">
                <a:pos x="2147483646" y="2147483646"/>
              </a:cxn>
            </a:cxnLst>
            <a:pathLst>
              <a:path w="544" h="861">
                <a:moveTo>
                  <a:pt x="0" y="0"/>
                </a:moveTo>
                <a:lnTo>
                  <a:pt x="544" y="0"/>
                </a:lnTo>
                <a:lnTo>
                  <a:pt x="544" y="861"/>
                </a:lnTo>
              </a:path>
            </a:pathLst>
          </a:custGeom>
          <a:noFill/>
          <a:ln w="107950" cap="flat" cmpd="sng">
            <a:solidFill>
              <a:schemeClr val="folHlink">
                <a:alpha val="100000"/>
              </a:schemeClr>
            </a:solidFill>
            <a:prstDash val="solid"/>
            <a:round/>
            <a:headEnd type="none" w="med" len="med"/>
            <a:tailEnd type="triangle" w="sm" len="sm"/>
          </a:ln>
        </p:spPr>
        <p:txBody>
          <a:bodyPr/>
          <a:p>
            <a:endParaRPr lang="zh-CN" altLang="en-US"/>
          </a:p>
        </p:txBody>
      </p:sp>
      <p:sp>
        <p:nvSpPr>
          <p:cNvPr id="641085" name="Line 61"/>
          <p:cNvSpPr/>
          <p:nvPr/>
        </p:nvSpPr>
        <p:spPr>
          <a:xfrm flipV="1">
            <a:off x="5076825" y="3644900"/>
            <a:ext cx="0" cy="1008063"/>
          </a:xfrm>
          <a:prstGeom prst="line">
            <a:avLst/>
          </a:prstGeom>
          <a:ln w="107950" cap="flat" cmpd="sng">
            <a:solidFill>
              <a:schemeClr val="folHlink"/>
            </a:solidFill>
            <a:prstDash val="solid"/>
            <a:headEnd type="none" w="med" len="med"/>
            <a:tailEnd type="triangle" w="sm" len="sm"/>
          </a:ln>
        </p:spPr>
      </p:sp>
      <p:sp>
        <p:nvSpPr>
          <p:cNvPr id="45080" name="AutoShape 62">
            <a:hlinkClick r:id="rId1" action="ppaction://hlinksldjump"/>
          </p:cNvPr>
          <p:cNvSpPr/>
          <p:nvPr/>
        </p:nvSpPr>
        <p:spPr>
          <a:xfrm>
            <a:off x="8589963" y="6516688"/>
            <a:ext cx="539750" cy="333375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endParaRPr lang="zh-CN" altLang="en-US" dirty="0">
              <a:latin typeface="等线" panose="02010600030101010101" pitchFamily="2" charset="-122"/>
            </a:endParaRPr>
          </a:p>
        </p:txBody>
      </p:sp>
      <p:sp>
        <p:nvSpPr>
          <p:cNvPr id="45081" name="Text Box 2"/>
          <p:cNvSpPr txBox="1"/>
          <p:nvPr/>
        </p:nvSpPr>
        <p:spPr>
          <a:xfrm>
            <a:off x="204788" y="195263"/>
            <a:ext cx="8353425" cy="5810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3200" dirty="0">
                <a:latin typeface="Verdana" panose="020B0604030504040204" pitchFamily="34" charset="0"/>
              </a:rPr>
              <a:t>四、微指令序列地址的形成</a:t>
            </a:r>
            <a:endParaRPr lang="zh-CN" altLang="en-US" sz="3200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641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641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641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2" dur="500"/>
                                        <p:tgtEl>
                                          <p:spTgt spid="641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7" dur="500"/>
                                        <p:tgtEl>
                                          <p:spTgt spid="641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2" dur="500"/>
                                        <p:tgtEl>
                                          <p:spTgt spid="64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37" dur="500"/>
                                        <p:tgtEl>
                                          <p:spTgt spid="641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1" dur="500"/>
                                        <p:tgtEl>
                                          <p:spTgt spid="641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6" dur="500"/>
                                        <p:tgtEl>
                                          <p:spTgt spid="641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1" dur="500"/>
                                        <p:tgtEl>
                                          <p:spTgt spid="641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641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0" dur="500"/>
                                        <p:tgtEl>
                                          <p:spTgt spid="641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5" dur="500"/>
                                        <p:tgtEl>
                                          <p:spTgt spid="64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0" dur="500"/>
                                        <p:tgtEl>
                                          <p:spTgt spid="64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64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9" dur="500"/>
                                        <p:tgtEl>
                                          <p:spTgt spid="641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84" dur="500"/>
                                        <p:tgtEl>
                                          <p:spTgt spid="64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89" dur="500"/>
                                        <p:tgtEl>
                                          <p:spTgt spid="641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500"/>
                            </p:stCondLst>
                            <p:childTnLst>
                              <p:par>
                                <p:cTn id="91" presetID="18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93" dur="500"/>
                                        <p:tgtEl>
                                          <p:spTgt spid="641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98" dur="500"/>
                                        <p:tgtEl>
                                          <p:spTgt spid="641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103" dur="500"/>
                                        <p:tgtEl>
                                          <p:spTgt spid="641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1029" grpId="0"/>
      <p:bldP spid="641038" grpId="0" animBg="1"/>
      <p:bldP spid="641067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6082" name="Text Box 2"/>
          <p:cNvSpPr txBox="1"/>
          <p:nvPr/>
        </p:nvSpPr>
        <p:spPr>
          <a:xfrm>
            <a:off x="395288" y="333375"/>
            <a:ext cx="78486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3600" dirty="0">
                <a:latin typeface="Verdana" panose="020B0604030504040204" pitchFamily="34" charset="0"/>
              </a:rPr>
              <a:t>五、微指令格式</a:t>
            </a:r>
            <a:endParaRPr lang="zh-CN" altLang="en-US" sz="3600" dirty="0">
              <a:latin typeface="Verdana" panose="020B0604030504040204" pitchFamily="34" charset="0"/>
            </a:endParaRPr>
          </a:p>
        </p:txBody>
      </p:sp>
      <p:sp>
        <p:nvSpPr>
          <p:cNvPr id="642051" name="Text Box 3"/>
          <p:cNvSpPr txBox="1"/>
          <p:nvPr/>
        </p:nvSpPr>
        <p:spPr>
          <a:xfrm>
            <a:off x="876300" y="1143000"/>
            <a:ext cx="6264275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2800" dirty="0">
                <a:latin typeface="Times New Roman" panose="02020603050405020304" pitchFamily="18" charset="0"/>
              </a:rPr>
              <a:t>1</a:t>
            </a:r>
            <a:r>
              <a:rPr lang="zh-CN" altLang="en-US" sz="2800" dirty="0">
                <a:latin typeface="Times New Roman" panose="02020603050405020304" pitchFamily="18" charset="0"/>
              </a:rPr>
              <a:t>. </a:t>
            </a:r>
            <a:r>
              <a:rPr lang="zh-CN" altLang="en-US" sz="2800" dirty="0">
                <a:latin typeface="Verdana" panose="020B0604030504040204" pitchFamily="34" charset="0"/>
              </a:rPr>
              <a:t>水平型微指令</a:t>
            </a:r>
            <a:endParaRPr lang="zh-CN" altLang="en-US" sz="2800" dirty="0">
              <a:latin typeface="Verdana" panose="020B0604030504040204" pitchFamily="34" charset="0"/>
            </a:endParaRPr>
          </a:p>
        </p:txBody>
      </p:sp>
      <p:sp>
        <p:nvSpPr>
          <p:cNvPr id="642052" name="Text Box 4"/>
          <p:cNvSpPr txBox="1"/>
          <p:nvPr/>
        </p:nvSpPr>
        <p:spPr>
          <a:xfrm>
            <a:off x="820738" y="2719388"/>
            <a:ext cx="7866062" cy="10048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400" dirty="0">
                <a:latin typeface="Verdana" panose="020B0604030504040204" pitchFamily="34" charset="0"/>
              </a:rPr>
              <a:t>如   直接编码、字段直接编码、字段间接编码、</a:t>
            </a:r>
            <a:endParaRPr lang="zh-CN" altLang="en-US" sz="2400" dirty="0">
              <a:latin typeface="Verdana" panose="020B0604030504040204" pitchFamily="34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sz="2400" dirty="0">
                <a:latin typeface="Verdana" panose="020B0604030504040204" pitchFamily="34" charset="0"/>
              </a:rPr>
              <a:t>      直接和字段混合编码</a:t>
            </a:r>
            <a:endParaRPr lang="zh-CN" altLang="en-US" sz="2400" dirty="0">
              <a:latin typeface="Verdana" panose="020B0604030504040204" pitchFamily="34" charset="0"/>
            </a:endParaRPr>
          </a:p>
        </p:txBody>
      </p:sp>
      <p:sp>
        <p:nvSpPr>
          <p:cNvPr id="642053" name="Text Box 5"/>
          <p:cNvSpPr txBox="1"/>
          <p:nvPr/>
        </p:nvSpPr>
        <p:spPr>
          <a:xfrm>
            <a:off x="876300" y="4213225"/>
            <a:ext cx="72009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2800" dirty="0">
                <a:latin typeface="Times New Roman" panose="02020603050405020304" pitchFamily="18" charset="0"/>
              </a:rPr>
              <a:t>2</a:t>
            </a:r>
            <a:r>
              <a:rPr lang="zh-CN" altLang="en-US" sz="2800" dirty="0">
                <a:latin typeface="Times New Roman" panose="02020603050405020304" pitchFamily="18" charset="0"/>
              </a:rPr>
              <a:t>. </a:t>
            </a:r>
            <a:r>
              <a:rPr lang="zh-CN" altLang="en-US" sz="2800" dirty="0">
                <a:latin typeface="Verdana" panose="020B0604030504040204" pitchFamily="34" charset="0"/>
              </a:rPr>
              <a:t>垂直型微指令</a:t>
            </a:r>
            <a:endParaRPr lang="zh-CN" altLang="en-US" sz="2800" dirty="0">
              <a:latin typeface="Verdana" panose="020B0604030504040204" pitchFamily="34" charset="0"/>
            </a:endParaRPr>
          </a:p>
        </p:txBody>
      </p:sp>
      <p:sp>
        <p:nvSpPr>
          <p:cNvPr id="642054" name="Text Box 6"/>
          <p:cNvSpPr txBox="1"/>
          <p:nvPr/>
        </p:nvSpPr>
        <p:spPr>
          <a:xfrm>
            <a:off x="1346200" y="5032375"/>
            <a:ext cx="74168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400" dirty="0">
                <a:solidFill>
                  <a:schemeClr val="folHlink"/>
                </a:solidFill>
                <a:latin typeface="Verdana" panose="020B0604030504040204" pitchFamily="34" charset="0"/>
              </a:rPr>
              <a:t>类似机器指令操作码 </a:t>
            </a:r>
            <a:r>
              <a:rPr lang="zh-CN" altLang="en-US" sz="2400" dirty="0">
                <a:latin typeface="Verdana" panose="020B0604030504040204" pitchFamily="34" charset="0"/>
              </a:rPr>
              <a:t>的方式</a:t>
            </a:r>
            <a:endParaRPr lang="zh-CN" altLang="en-US" sz="2400" dirty="0">
              <a:latin typeface="Verdana" panose="020B0604030504040204" pitchFamily="34" charset="0"/>
            </a:endParaRPr>
          </a:p>
        </p:txBody>
      </p:sp>
      <p:sp>
        <p:nvSpPr>
          <p:cNvPr id="642055" name="Text Box 7"/>
          <p:cNvSpPr txBox="1"/>
          <p:nvPr/>
        </p:nvSpPr>
        <p:spPr>
          <a:xfrm>
            <a:off x="1292225" y="1962150"/>
            <a:ext cx="447357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400" dirty="0">
                <a:solidFill>
                  <a:schemeClr val="folHlink"/>
                </a:solidFill>
                <a:latin typeface="Verdana" panose="020B0604030504040204" pitchFamily="34" charset="0"/>
              </a:rPr>
              <a:t>一次能定义并执行多个并行操作</a:t>
            </a:r>
            <a:endParaRPr lang="zh-CN" altLang="en-US" sz="24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642056" name="Text Box 8"/>
          <p:cNvSpPr txBox="1"/>
          <p:nvPr/>
        </p:nvSpPr>
        <p:spPr>
          <a:xfrm>
            <a:off x="1346200" y="5791200"/>
            <a:ext cx="4779963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400" dirty="0">
                <a:solidFill>
                  <a:schemeClr val="folHlink"/>
                </a:solidFill>
                <a:latin typeface="Verdana" panose="020B0604030504040204" pitchFamily="34" charset="0"/>
              </a:rPr>
              <a:t>由微操作码字段规定微指令的功能</a:t>
            </a:r>
            <a:endParaRPr lang="zh-CN" altLang="en-US" sz="24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642057" name="Rectangle 9"/>
          <p:cNvSpPr>
            <a:spLocks noChangeArrowheads="1"/>
          </p:cNvSpPr>
          <p:nvPr/>
        </p:nvSpPr>
        <p:spPr bwMode="auto">
          <a:xfrm>
            <a:off x="7696200" y="152400"/>
            <a:ext cx="1447800" cy="838200"/>
          </a:xfrm>
          <a:prstGeom prst="rect">
            <a:avLst/>
          </a:prstGeom>
          <a:noFill/>
          <a:ln>
            <a:noFill/>
          </a:ln>
          <a:effectLst/>
        </p:spPr>
        <p:txBody>
          <a:bodyPr lIns="92075" tIns="46038" rIns="92075" bIns="46038" anchor="ctr"/>
          <a:lstStyle>
            <a:lvl1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10.2</a:t>
            </a:r>
            <a:endParaRPr kumimoji="1" lang="zh-CN" altLang="en-US" sz="4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6090" name="AutoShape 10">
            <a:hlinkClick r:id="rId1" action="ppaction://hlinksldjump"/>
          </p:cNvPr>
          <p:cNvSpPr/>
          <p:nvPr/>
        </p:nvSpPr>
        <p:spPr>
          <a:xfrm>
            <a:off x="8589963" y="6516688"/>
            <a:ext cx="539750" cy="333375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endParaRPr lang="zh-CN" altLang="en-US" dirty="0">
              <a:latin typeface="等线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4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42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4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42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42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42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2051" grpId="0"/>
      <p:bldP spid="642052" grpId="0"/>
      <p:bldP spid="642053" grpId="0"/>
      <p:bldP spid="642054" grpId="0"/>
      <p:bldP spid="642055" grpId="0"/>
      <p:bldP spid="642056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7106" name="Text Box 2"/>
          <p:cNvSpPr txBox="1"/>
          <p:nvPr/>
        </p:nvSpPr>
        <p:spPr>
          <a:xfrm>
            <a:off x="304800" y="404813"/>
            <a:ext cx="7777163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3200" dirty="0">
                <a:latin typeface="Times New Roman" panose="02020603050405020304" pitchFamily="18" charset="0"/>
              </a:rPr>
              <a:t>3</a:t>
            </a:r>
            <a:r>
              <a:rPr lang="zh-CN" altLang="en-US" sz="3200" dirty="0">
                <a:latin typeface="Times New Roman" panose="02020603050405020304" pitchFamily="18" charset="0"/>
              </a:rPr>
              <a:t>. </a:t>
            </a:r>
            <a:r>
              <a:rPr lang="zh-CN" altLang="en-US" sz="3200" dirty="0">
                <a:latin typeface="Verdana" panose="020B0604030504040204" pitchFamily="34" charset="0"/>
              </a:rPr>
              <a:t>两种微指令格式的比较</a:t>
            </a:r>
            <a:endParaRPr lang="zh-CN" altLang="en-US" sz="3200" dirty="0">
              <a:latin typeface="Verdana" panose="020B0604030504040204" pitchFamily="34" charset="0"/>
            </a:endParaRPr>
          </a:p>
        </p:txBody>
      </p:sp>
      <p:sp>
        <p:nvSpPr>
          <p:cNvPr id="643075" name="Text Box 3"/>
          <p:cNvSpPr txBox="1"/>
          <p:nvPr/>
        </p:nvSpPr>
        <p:spPr>
          <a:xfrm>
            <a:off x="546100" y="1268413"/>
            <a:ext cx="8597900" cy="11604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2800" dirty="0">
                <a:latin typeface="Times New Roman" panose="02020603050405020304" pitchFamily="18" charset="0"/>
              </a:rPr>
              <a:t>(1) </a:t>
            </a:r>
            <a:r>
              <a:rPr lang="zh-CN" altLang="en-US" sz="2800" dirty="0">
                <a:latin typeface="Verdana" panose="020B0604030504040204" pitchFamily="34" charset="0"/>
              </a:rPr>
              <a:t>水平型微指令比垂直型微指令 </a:t>
            </a:r>
            <a:r>
              <a:rPr lang="zh-CN" altLang="en-US" sz="2800" dirty="0">
                <a:solidFill>
                  <a:schemeClr val="folHlink"/>
                </a:solidFill>
                <a:latin typeface="Verdana" panose="020B0604030504040204" pitchFamily="34" charset="0"/>
              </a:rPr>
              <a:t>并行操作能力强</a:t>
            </a:r>
            <a:r>
              <a:rPr lang="zh-CN" altLang="en-US" sz="900" dirty="0">
                <a:solidFill>
                  <a:schemeClr val="folHlink"/>
                </a:solidFill>
                <a:latin typeface="Verdana" panose="020B0604030504040204" pitchFamily="34" charset="0"/>
              </a:rPr>
              <a:t>  </a:t>
            </a:r>
            <a:r>
              <a:rPr lang="zh-CN" altLang="en-US" sz="2800" dirty="0">
                <a:latin typeface="Verdana" panose="020B0604030504040204" pitchFamily="34" charset="0"/>
              </a:rPr>
              <a:t>，</a:t>
            </a:r>
            <a:endParaRPr lang="zh-CN" altLang="en-US" sz="2800" dirty="0">
              <a:latin typeface="Verdana" panose="020B0604030504040204" pitchFamily="34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latin typeface="Verdana" panose="020B0604030504040204" pitchFamily="34" charset="0"/>
              </a:rPr>
              <a:t>    </a:t>
            </a:r>
            <a:r>
              <a:rPr lang="zh-CN" altLang="en-US" sz="2800" dirty="0">
                <a:solidFill>
                  <a:schemeClr val="folHlink"/>
                </a:solidFill>
                <a:latin typeface="Verdana" panose="020B0604030504040204" pitchFamily="34" charset="0"/>
              </a:rPr>
              <a:t>灵活性强</a:t>
            </a:r>
            <a:endParaRPr lang="zh-CN" altLang="en-US" sz="2800" dirty="0">
              <a:solidFill>
                <a:schemeClr val="folHlink"/>
              </a:solidFill>
              <a:latin typeface="Verdana" panose="020B0604030504040204" pitchFamily="34" charset="0"/>
            </a:endParaRPr>
          </a:p>
        </p:txBody>
      </p:sp>
      <p:sp>
        <p:nvSpPr>
          <p:cNvPr id="643076" name="Text Box 4"/>
          <p:cNvSpPr txBox="1"/>
          <p:nvPr/>
        </p:nvSpPr>
        <p:spPr>
          <a:xfrm>
            <a:off x="546100" y="2754313"/>
            <a:ext cx="7993063" cy="11604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2800" dirty="0">
                <a:latin typeface="Times New Roman" panose="02020603050405020304" pitchFamily="18" charset="0"/>
              </a:rPr>
              <a:t>(2)</a:t>
            </a:r>
            <a:r>
              <a:rPr lang="en-US" altLang="zh-CN" sz="2800" dirty="0">
                <a:latin typeface="Verdana" panose="020B0604030504040204" pitchFamily="34" charset="0"/>
              </a:rPr>
              <a:t> </a:t>
            </a:r>
            <a:r>
              <a:rPr lang="zh-CN" altLang="en-US" sz="2800" dirty="0">
                <a:latin typeface="Verdana" panose="020B0604030504040204" pitchFamily="34" charset="0"/>
              </a:rPr>
              <a:t>水平型微指令执行一条机器指令所要的</a:t>
            </a:r>
            <a:endParaRPr lang="zh-CN" altLang="en-US" sz="2800" dirty="0">
              <a:latin typeface="Verdana" panose="020B0604030504040204" pitchFamily="34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latin typeface="Verdana" panose="020B0604030504040204" pitchFamily="34" charset="0"/>
              </a:rPr>
              <a:t>    微指令 </a:t>
            </a:r>
            <a:r>
              <a:rPr lang="zh-CN" altLang="en-US" sz="2800" dirty="0">
                <a:solidFill>
                  <a:schemeClr val="folHlink"/>
                </a:solidFill>
                <a:latin typeface="Verdana" panose="020B0604030504040204" pitchFamily="34" charset="0"/>
              </a:rPr>
              <a:t>数目少，速度快</a:t>
            </a:r>
            <a:endParaRPr lang="zh-CN" altLang="en-US" sz="2800" dirty="0">
              <a:solidFill>
                <a:schemeClr val="folHlink"/>
              </a:solidFill>
              <a:latin typeface="Verdana" panose="020B0604030504040204" pitchFamily="34" charset="0"/>
            </a:endParaRPr>
          </a:p>
        </p:txBody>
      </p:sp>
      <p:sp>
        <p:nvSpPr>
          <p:cNvPr id="643077" name="Text Box 5"/>
          <p:cNvSpPr txBox="1"/>
          <p:nvPr/>
        </p:nvSpPr>
        <p:spPr>
          <a:xfrm>
            <a:off x="546100" y="4241800"/>
            <a:ext cx="8293100" cy="11604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2800" dirty="0">
                <a:latin typeface="Times New Roman" panose="02020603050405020304" pitchFamily="18" charset="0"/>
              </a:rPr>
              <a:t>(3)</a:t>
            </a:r>
            <a:r>
              <a:rPr lang="en-US" altLang="zh-CN" sz="2800" dirty="0">
                <a:latin typeface="Verdana" panose="020B0604030504040204" pitchFamily="34" charset="0"/>
              </a:rPr>
              <a:t> </a:t>
            </a:r>
            <a:r>
              <a:rPr lang="zh-CN" altLang="en-US" sz="2800" dirty="0">
                <a:latin typeface="Verdana" panose="020B0604030504040204" pitchFamily="34" charset="0"/>
              </a:rPr>
              <a:t>水平型微指令 </a:t>
            </a:r>
            <a:r>
              <a:rPr lang="zh-CN" altLang="en-US" sz="2800" dirty="0">
                <a:solidFill>
                  <a:schemeClr val="folHlink"/>
                </a:solidFill>
                <a:latin typeface="Verdana" panose="020B0604030504040204" pitchFamily="34" charset="0"/>
              </a:rPr>
              <a:t>用较短的微程序结构换取较长的</a:t>
            </a:r>
            <a:endParaRPr lang="zh-CN" altLang="en-US" sz="2800" dirty="0">
              <a:solidFill>
                <a:schemeClr val="folHlink"/>
              </a:solidFill>
              <a:latin typeface="Verdana" panose="020B0604030504040204" pitchFamily="34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solidFill>
                  <a:schemeClr val="folHlink"/>
                </a:solidFill>
                <a:latin typeface="Verdana" panose="020B0604030504040204" pitchFamily="34" charset="0"/>
              </a:rPr>
              <a:t>    微指令结构</a:t>
            </a:r>
            <a:endParaRPr lang="zh-CN" altLang="en-US" sz="2800" dirty="0">
              <a:solidFill>
                <a:schemeClr val="folHlink"/>
              </a:solidFill>
              <a:latin typeface="Verdana" panose="020B0604030504040204" pitchFamily="34" charset="0"/>
            </a:endParaRPr>
          </a:p>
        </p:txBody>
      </p:sp>
      <p:sp>
        <p:nvSpPr>
          <p:cNvPr id="643078" name="Text Box 6"/>
          <p:cNvSpPr txBox="1"/>
          <p:nvPr/>
        </p:nvSpPr>
        <p:spPr>
          <a:xfrm>
            <a:off x="546100" y="5729288"/>
            <a:ext cx="7920038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2800" dirty="0">
                <a:latin typeface="Times New Roman" panose="02020603050405020304" pitchFamily="18" charset="0"/>
              </a:rPr>
              <a:t>(4)</a:t>
            </a:r>
            <a:r>
              <a:rPr lang="en-US" altLang="zh-CN" sz="2800" dirty="0">
                <a:latin typeface="Verdana" panose="020B0604030504040204" pitchFamily="34" charset="0"/>
              </a:rPr>
              <a:t> </a:t>
            </a:r>
            <a:r>
              <a:rPr lang="zh-CN" altLang="en-US" sz="2800" dirty="0">
                <a:latin typeface="Verdana" panose="020B0604030504040204" pitchFamily="34" charset="0"/>
              </a:rPr>
              <a:t>水平型微指令与机器指令 </a:t>
            </a:r>
            <a:r>
              <a:rPr lang="zh-CN" altLang="en-US" sz="2800" dirty="0">
                <a:solidFill>
                  <a:schemeClr val="folHlink"/>
                </a:solidFill>
                <a:latin typeface="Verdana" panose="020B0604030504040204" pitchFamily="34" charset="0"/>
              </a:rPr>
              <a:t>差别大</a:t>
            </a:r>
            <a:endParaRPr lang="zh-CN" altLang="en-US" sz="2800" dirty="0">
              <a:solidFill>
                <a:schemeClr val="folHlink"/>
              </a:solidFill>
              <a:latin typeface="Verdana" panose="020B0604030504040204" pitchFamily="34" charset="0"/>
            </a:endParaRPr>
          </a:p>
        </p:txBody>
      </p:sp>
      <p:sp>
        <p:nvSpPr>
          <p:cNvPr id="643079" name="Rectangle 7"/>
          <p:cNvSpPr>
            <a:spLocks noChangeArrowheads="1"/>
          </p:cNvSpPr>
          <p:nvPr/>
        </p:nvSpPr>
        <p:spPr bwMode="auto">
          <a:xfrm>
            <a:off x="7696200" y="152400"/>
            <a:ext cx="1447800" cy="838200"/>
          </a:xfrm>
          <a:prstGeom prst="rect">
            <a:avLst/>
          </a:prstGeom>
          <a:noFill/>
          <a:ln>
            <a:noFill/>
          </a:ln>
          <a:effectLst/>
        </p:spPr>
        <p:txBody>
          <a:bodyPr lIns="92075" tIns="46038" rIns="92075" bIns="46038" anchor="ctr"/>
          <a:lstStyle>
            <a:lvl1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10.2</a:t>
            </a:r>
            <a:endParaRPr kumimoji="1" lang="zh-CN" altLang="en-US" sz="4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7112" name="AutoShape 8">
            <a:hlinkClick r:id="rId1" action="ppaction://hlinksldjump"/>
          </p:cNvPr>
          <p:cNvSpPr/>
          <p:nvPr/>
        </p:nvSpPr>
        <p:spPr>
          <a:xfrm>
            <a:off x="8589963" y="6516688"/>
            <a:ext cx="539750" cy="333375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endParaRPr lang="zh-CN" altLang="en-US" dirty="0">
              <a:latin typeface="等线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4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4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43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43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3075" grpId="0"/>
      <p:bldP spid="643076" grpId="0"/>
      <p:bldP spid="643077" grpId="0"/>
      <p:bldP spid="643078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8130" name="Text Box 2"/>
          <p:cNvSpPr txBox="1"/>
          <p:nvPr/>
        </p:nvSpPr>
        <p:spPr>
          <a:xfrm>
            <a:off x="228600" y="457200"/>
            <a:ext cx="78486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3200" dirty="0">
                <a:latin typeface="Verdana" panose="020B0604030504040204" pitchFamily="34" charset="0"/>
              </a:rPr>
              <a:t>六、静态微程序设计和动态微程序设计</a:t>
            </a:r>
            <a:endParaRPr lang="zh-CN" altLang="en-US" sz="3200" dirty="0">
              <a:latin typeface="Verdana" panose="020B0604030504040204" pitchFamily="34" charset="0"/>
            </a:endParaRPr>
          </a:p>
        </p:txBody>
      </p:sp>
      <p:sp>
        <p:nvSpPr>
          <p:cNvPr id="644099" name="Text Box 3"/>
          <p:cNvSpPr txBox="1"/>
          <p:nvPr/>
        </p:nvSpPr>
        <p:spPr>
          <a:xfrm>
            <a:off x="1258888" y="1219200"/>
            <a:ext cx="648017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400" dirty="0">
                <a:solidFill>
                  <a:schemeClr val="folHlink"/>
                </a:solidFill>
                <a:latin typeface="Verdana" panose="020B0604030504040204" pitchFamily="34" charset="0"/>
              </a:rPr>
              <a:t>静态</a:t>
            </a:r>
            <a:r>
              <a:rPr lang="zh-CN" altLang="en-US" sz="2400" dirty="0">
                <a:latin typeface="Verdana" panose="020B0604030504040204" pitchFamily="34" charset="0"/>
              </a:rPr>
              <a:t>   微程序无须改变，采用 </a:t>
            </a:r>
            <a:r>
              <a:rPr lang="en-US" altLang="zh-CN" sz="2400" dirty="0">
                <a:solidFill>
                  <a:schemeClr val="folHlink"/>
                </a:solidFill>
                <a:latin typeface="Times New Roman" panose="02020603050405020304" pitchFamily="18" charset="0"/>
              </a:rPr>
              <a:t>ROM</a:t>
            </a:r>
            <a:endParaRPr lang="en-US" altLang="zh-CN" sz="24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644100" name="Text Box 4"/>
          <p:cNvSpPr txBox="1"/>
          <p:nvPr/>
        </p:nvSpPr>
        <p:spPr>
          <a:xfrm>
            <a:off x="1258888" y="1830388"/>
            <a:ext cx="7416800" cy="8969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85000"/>
              </a:lnSpc>
              <a:spcBef>
                <a:spcPct val="50000"/>
              </a:spcBef>
            </a:pPr>
            <a:r>
              <a:rPr lang="zh-CN" altLang="en-US" sz="2400" dirty="0">
                <a:solidFill>
                  <a:schemeClr val="folHlink"/>
                </a:solidFill>
                <a:latin typeface="Verdana" panose="020B0604030504040204" pitchFamily="34" charset="0"/>
              </a:rPr>
              <a:t>动态</a:t>
            </a:r>
            <a:r>
              <a:rPr lang="zh-CN" altLang="en-US" sz="2400" dirty="0">
                <a:latin typeface="Verdana" panose="020B0604030504040204" pitchFamily="34" charset="0"/>
              </a:rPr>
              <a:t>   通过 </a:t>
            </a:r>
            <a:r>
              <a:rPr lang="zh-CN" altLang="en-US" sz="2400" dirty="0">
                <a:solidFill>
                  <a:schemeClr val="folHlink"/>
                </a:solidFill>
                <a:latin typeface="Verdana" panose="020B0604030504040204" pitchFamily="34" charset="0"/>
              </a:rPr>
              <a:t>改变微指令 </a:t>
            </a:r>
            <a:r>
              <a:rPr lang="zh-CN" altLang="en-US" sz="2400" dirty="0">
                <a:latin typeface="Verdana" panose="020B0604030504040204" pitchFamily="34" charset="0"/>
              </a:rPr>
              <a:t>和 </a:t>
            </a:r>
            <a:r>
              <a:rPr lang="zh-CN" altLang="en-US" sz="2400" dirty="0">
                <a:solidFill>
                  <a:schemeClr val="folHlink"/>
                </a:solidFill>
                <a:latin typeface="Verdana" panose="020B0604030504040204" pitchFamily="34" charset="0"/>
              </a:rPr>
              <a:t>微程序 </a:t>
            </a:r>
            <a:r>
              <a:rPr lang="zh-CN" altLang="en-US" sz="2400" dirty="0">
                <a:latin typeface="Verdana" panose="020B0604030504040204" pitchFamily="34" charset="0"/>
              </a:rPr>
              <a:t>改变机器指令，</a:t>
            </a:r>
            <a:endParaRPr lang="zh-CN" altLang="en-US" sz="2400" dirty="0">
              <a:latin typeface="Verdana" panose="020B0604030504040204" pitchFamily="34" charset="0"/>
            </a:endParaRPr>
          </a:p>
          <a:p>
            <a:pPr eaLnBrk="1" hangingPunct="1">
              <a:lnSpc>
                <a:spcPct val="85000"/>
              </a:lnSpc>
              <a:spcBef>
                <a:spcPct val="50000"/>
              </a:spcBef>
            </a:pPr>
            <a:r>
              <a:rPr lang="zh-CN" altLang="en-US" sz="2400" dirty="0">
                <a:latin typeface="Verdana" panose="020B0604030504040204" pitchFamily="34" charset="0"/>
              </a:rPr>
              <a:t>         有利于仿真，采用</a:t>
            </a:r>
            <a:r>
              <a:rPr lang="zh-CN" altLang="en-US" sz="2400" dirty="0">
                <a:solidFill>
                  <a:schemeClr val="folHlink"/>
                </a:solidFill>
                <a:latin typeface="Verdana" panose="020B0604030504040204" pitchFamily="34" charset="0"/>
              </a:rPr>
              <a:t> </a:t>
            </a:r>
            <a:r>
              <a:rPr lang="en-US" altLang="zh-CN" sz="2400" dirty="0">
                <a:solidFill>
                  <a:schemeClr val="folHlink"/>
                </a:solidFill>
                <a:latin typeface="Times New Roman" panose="02020603050405020304" pitchFamily="18" charset="0"/>
              </a:rPr>
              <a:t>EPROM</a:t>
            </a:r>
            <a:endParaRPr lang="zh-CN" altLang="en-US" sz="24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644101" name="Text Box 5"/>
          <p:cNvSpPr txBox="1"/>
          <p:nvPr/>
        </p:nvSpPr>
        <p:spPr>
          <a:xfrm>
            <a:off x="152400" y="3048000"/>
            <a:ext cx="7561263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3200" dirty="0">
                <a:latin typeface="Verdana" panose="020B0604030504040204" pitchFamily="34" charset="0"/>
              </a:rPr>
              <a:t>七、毫微程序设计</a:t>
            </a:r>
            <a:endParaRPr lang="zh-CN" altLang="en-US" sz="3200" dirty="0">
              <a:latin typeface="Verdana" panose="020B0604030504040204" pitchFamily="34" charset="0"/>
            </a:endParaRPr>
          </a:p>
        </p:txBody>
      </p:sp>
      <p:sp>
        <p:nvSpPr>
          <p:cNvPr id="644102" name="Text Box 6"/>
          <p:cNvSpPr txBox="1"/>
          <p:nvPr/>
        </p:nvSpPr>
        <p:spPr>
          <a:xfrm>
            <a:off x="550863" y="3786188"/>
            <a:ext cx="6840537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2800" dirty="0">
                <a:latin typeface="Times New Roman" panose="02020603050405020304" pitchFamily="18" charset="0"/>
              </a:rPr>
              <a:t>1. </a:t>
            </a:r>
            <a:r>
              <a:rPr lang="zh-CN" altLang="en-US" sz="2800" dirty="0">
                <a:latin typeface="Verdana" panose="020B0604030504040204" pitchFamily="34" charset="0"/>
              </a:rPr>
              <a:t>毫微程序设计的基本概念</a:t>
            </a:r>
            <a:endParaRPr lang="zh-CN" altLang="en-US" sz="2800" dirty="0">
              <a:latin typeface="Verdana" panose="020B0604030504040204" pitchFamily="34" charset="0"/>
            </a:endParaRPr>
          </a:p>
        </p:txBody>
      </p:sp>
      <p:sp>
        <p:nvSpPr>
          <p:cNvPr id="644103" name="Text Box 7"/>
          <p:cNvSpPr txBox="1"/>
          <p:nvPr/>
        </p:nvSpPr>
        <p:spPr>
          <a:xfrm>
            <a:off x="968375" y="4419600"/>
            <a:ext cx="6913563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400" dirty="0">
                <a:solidFill>
                  <a:schemeClr val="folHlink"/>
                </a:solidFill>
                <a:latin typeface="Verdana" panose="020B0604030504040204" pitchFamily="34" charset="0"/>
              </a:rPr>
              <a:t>微程序设计     </a:t>
            </a:r>
            <a:r>
              <a:rPr lang="zh-CN" altLang="en-US" sz="2400" dirty="0">
                <a:latin typeface="Verdana" panose="020B0604030504040204" pitchFamily="34" charset="0"/>
              </a:rPr>
              <a:t>用 </a:t>
            </a:r>
            <a:r>
              <a:rPr lang="zh-CN" altLang="en-US" sz="2400" dirty="0">
                <a:solidFill>
                  <a:schemeClr val="folHlink"/>
                </a:solidFill>
                <a:latin typeface="Verdana" panose="020B0604030504040204" pitchFamily="34" charset="0"/>
              </a:rPr>
              <a:t>微程序解释机器指令</a:t>
            </a:r>
            <a:endParaRPr lang="zh-CN" altLang="en-US" sz="2400" dirty="0">
              <a:solidFill>
                <a:schemeClr val="folHlink"/>
              </a:solidFill>
              <a:latin typeface="Verdana" panose="020B0604030504040204" pitchFamily="34" charset="0"/>
            </a:endParaRPr>
          </a:p>
        </p:txBody>
      </p:sp>
      <p:sp>
        <p:nvSpPr>
          <p:cNvPr id="644104" name="Text Box 8"/>
          <p:cNvSpPr txBox="1"/>
          <p:nvPr/>
        </p:nvSpPr>
        <p:spPr>
          <a:xfrm>
            <a:off x="968375" y="5029200"/>
            <a:ext cx="69850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400" dirty="0">
                <a:solidFill>
                  <a:schemeClr val="folHlink"/>
                </a:solidFill>
                <a:latin typeface="Verdana" panose="020B0604030504040204" pitchFamily="34" charset="0"/>
              </a:rPr>
              <a:t>毫微程序设计  </a:t>
            </a:r>
            <a:r>
              <a:rPr lang="zh-CN" altLang="en-US" sz="2400" dirty="0">
                <a:latin typeface="Verdana" panose="020B0604030504040204" pitchFamily="34" charset="0"/>
              </a:rPr>
              <a:t>用 </a:t>
            </a:r>
            <a:r>
              <a:rPr lang="zh-CN" altLang="en-US" sz="2400" dirty="0">
                <a:solidFill>
                  <a:schemeClr val="folHlink"/>
                </a:solidFill>
                <a:latin typeface="Verdana" panose="020B0604030504040204" pitchFamily="34" charset="0"/>
              </a:rPr>
              <a:t>毫微程序解释微程序</a:t>
            </a:r>
            <a:endParaRPr lang="zh-CN" altLang="en-US" sz="2400" dirty="0">
              <a:solidFill>
                <a:schemeClr val="folHlink"/>
              </a:solidFill>
              <a:latin typeface="Verdana" panose="020B0604030504040204" pitchFamily="34" charset="0"/>
            </a:endParaRPr>
          </a:p>
        </p:txBody>
      </p:sp>
      <p:sp>
        <p:nvSpPr>
          <p:cNvPr id="644105" name="Text Box 9"/>
          <p:cNvSpPr txBox="1"/>
          <p:nvPr/>
        </p:nvSpPr>
        <p:spPr>
          <a:xfrm>
            <a:off x="968375" y="5659438"/>
            <a:ext cx="77279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400" dirty="0">
                <a:solidFill>
                  <a:schemeClr val="folHlink"/>
                </a:solidFill>
                <a:latin typeface="Times New Roman" panose="02020603050405020304" pitchFamily="18" charset="0"/>
              </a:rPr>
              <a:t>毫微指令与微指令 </a:t>
            </a:r>
            <a:r>
              <a:rPr lang="zh-CN" altLang="en-US" sz="2400" dirty="0">
                <a:latin typeface="Times New Roman" panose="02020603050405020304" pitchFamily="18" charset="0"/>
              </a:rPr>
              <a:t>的关系好比 </a:t>
            </a:r>
            <a:r>
              <a:rPr lang="zh-CN" altLang="en-US" sz="2400" dirty="0">
                <a:solidFill>
                  <a:schemeClr val="folHlink"/>
                </a:solidFill>
                <a:latin typeface="Times New Roman" panose="02020603050405020304" pitchFamily="18" charset="0"/>
              </a:rPr>
              <a:t>微指令与机器指令 </a:t>
            </a:r>
            <a:r>
              <a:rPr lang="zh-CN" altLang="en-US" sz="2400" dirty="0">
                <a:latin typeface="Times New Roman" panose="02020603050405020304" pitchFamily="18" charset="0"/>
              </a:rPr>
              <a:t>的关系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644106" name="Rectangle 10"/>
          <p:cNvSpPr>
            <a:spLocks noChangeArrowheads="1"/>
          </p:cNvSpPr>
          <p:nvPr/>
        </p:nvSpPr>
        <p:spPr bwMode="auto">
          <a:xfrm>
            <a:off x="7696200" y="152400"/>
            <a:ext cx="1447800" cy="838200"/>
          </a:xfrm>
          <a:prstGeom prst="rect">
            <a:avLst/>
          </a:prstGeom>
          <a:noFill/>
          <a:ln>
            <a:noFill/>
          </a:ln>
          <a:effectLst/>
        </p:spPr>
        <p:txBody>
          <a:bodyPr lIns="92075" tIns="46038" rIns="92075" bIns="46038" anchor="ctr"/>
          <a:lstStyle>
            <a:lvl1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10.2</a:t>
            </a:r>
            <a:endParaRPr kumimoji="1" lang="zh-CN" altLang="en-US" sz="4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8139" name="AutoShape 11">
            <a:hlinkClick r:id="rId1" action="ppaction://hlinksldjump"/>
          </p:cNvPr>
          <p:cNvSpPr/>
          <p:nvPr/>
        </p:nvSpPr>
        <p:spPr>
          <a:xfrm>
            <a:off x="8589963" y="6516688"/>
            <a:ext cx="539750" cy="333375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endParaRPr lang="zh-CN" altLang="en-US" dirty="0">
              <a:latin typeface="等线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44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4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44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44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44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44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644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4099" grpId="0"/>
      <p:bldP spid="644100" grpId="0"/>
      <p:bldP spid="644101" grpId="0"/>
      <p:bldP spid="644102" grpId="0"/>
      <p:bldP spid="644103" grpId="0"/>
      <p:bldP spid="644104" grpId="0"/>
      <p:bldP spid="644105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9154" name="Text Box 2"/>
          <p:cNvSpPr txBox="1"/>
          <p:nvPr/>
        </p:nvSpPr>
        <p:spPr>
          <a:xfrm>
            <a:off x="274638" y="381000"/>
            <a:ext cx="7345362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3200" dirty="0">
                <a:latin typeface="Times New Roman" panose="02020603050405020304" pitchFamily="18" charset="0"/>
              </a:rPr>
              <a:t>2.</a:t>
            </a:r>
            <a:r>
              <a:rPr lang="zh-CN" altLang="en-US" dirty="0">
                <a:latin typeface="Times New Roman" panose="02020603050405020304" pitchFamily="18" charset="0"/>
              </a:rPr>
              <a:t>　</a:t>
            </a:r>
            <a:r>
              <a:rPr lang="zh-CN" altLang="en-US" sz="3200" dirty="0">
                <a:latin typeface="Verdana" panose="020B0604030504040204" pitchFamily="34" charset="0"/>
              </a:rPr>
              <a:t>毫微程序控制存储器的基本组成</a:t>
            </a:r>
            <a:endParaRPr lang="zh-CN" altLang="en-US" sz="3200" dirty="0">
              <a:latin typeface="Verdana" panose="020B0604030504040204" pitchFamily="34" charset="0"/>
            </a:endParaRPr>
          </a:p>
        </p:txBody>
      </p:sp>
      <p:sp>
        <p:nvSpPr>
          <p:cNvPr id="645123" name="AutoShape 3"/>
          <p:cNvSpPr/>
          <p:nvPr/>
        </p:nvSpPr>
        <p:spPr>
          <a:xfrm rot="-5400000">
            <a:off x="3162300" y="4762500"/>
            <a:ext cx="152400" cy="838200"/>
          </a:xfrm>
          <a:prstGeom prst="leftBrace">
            <a:avLst>
              <a:gd name="adj1" fmla="val 45833"/>
              <a:gd name="adj2" fmla="val 50000"/>
            </a:avLst>
          </a:prstGeom>
          <a:noFill/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等线" panose="02010600030101010101" pitchFamily="2" charset="-122"/>
            </a:endParaRPr>
          </a:p>
        </p:txBody>
      </p:sp>
      <p:sp>
        <p:nvSpPr>
          <p:cNvPr id="645124" name="Rectangle 4"/>
          <p:cNvSpPr/>
          <p:nvPr/>
        </p:nvSpPr>
        <p:spPr>
          <a:xfrm>
            <a:off x="3200400" y="5334000"/>
            <a:ext cx="76200" cy="228600"/>
          </a:xfrm>
          <a:prstGeom prst="rect">
            <a:avLst/>
          </a:prstGeom>
          <a:solidFill>
            <a:schemeClr val="folHlink"/>
          </a:solidFill>
          <a:ln w="9525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等线" panose="02010600030101010101" pitchFamily="2" charset="-122"/>
            </a:endParaRPr>
          </a:p>
        </p:txBody>
      </p:sp>
      <p:grpSp>
        <p:nvGrpSpPr>
          <p:cNvPr id="645125" name="Group 5"/>
          <p:cNvGrpSpPr/>
          <p:nvPr/>
        </p:nvGrpSpPr>
        <p:grpSpPr>
          <a:xfrm>
            <a:off x="3200400" y="5105400"/>
            <a:ext cx="2595563" cy="457200"/>
            <a:chOff x="1824" y="3216"/>
            <a:chExt cx="1635" cy="288"/>
          </a:xfrm>
        </p:grpSpPr>
        <p:sp>
          <p:nvSpPr>
            <p:cNvPr id="49194" name="Rectangle 6"/>
            <p:cNvSpPr/>
            <p:nvPr/>
          </p:nvSpPr>
          <p:spPr>
            <a:xfrm>
              <a:off x="1824" y="3456"/>
              <a:ext cx="1584" cy="48"/>
            </a:xfrm>
            <a:prstGeom prst="rect">
              <a:avLst/>
            </a:prstGeom>
            <a:solidFill>
              <a:schemeClr val="folHlink"/>
            </a:solidFill>
            <a:ln w="952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49195" name="AutoShape 7"/>
            <p:cNvSpPr/>
            <p:nvPr/>
          </p:nvSpPr>
          <p:spPr>
            <a:xfrm rot="10800000">
              <a:off x="3363" y="3216"/>
              <a:ext cx="96" cy="288"/>
            </a:xfrm>
            <a:prstGeom prst="downArrow">
              <a:avLst>
                <a:gd name="adj1" fmla="val 50000"/>
                <a:gd name="adj2" fmla="val 75000"/>
              </a:avLst>
            </a:prstGeom>
            <a:solidFill>
              <a:schemeClr val="folHlink"/>
            </a:solidFill>
            <a:ln w="952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vert="eaVert"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</p:grpSp>
      <p:grpSp>
        <p:nvGrpSpPr>
          <p:cNvPr id="645128" name="Group 8"/>
          <p:cNvGrpSpPr/>
          <p:nvPr/>
        </p:nvGrpSpPr>
        <p:grpSpPr>
          <a:xfrm>
            <a:off x="1150938" y="1889125"/>
            <a:ext cx="3611562" cy="3292475"/>
            <a:chOff x="533" y="1190"/>
            <a:chExt cx="2275" cy="2074"/>
          </a:xfrm>
        </p:grpSpPr>
        <p:sp>
          <p:nvSpPr>
            <p:cNvPr id="49174" name="Text Box 9"/>
            <p:cNvSpPr txBox="1"/>
            <p:nvPr/>
          </p:nvSpPr>
          <p:spPr>
            <a:xfrm>
              <a:off x="1142" y="2248"/>
              <a:ext cx="921" cy="42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  </a:t>
              </a:r>
              <a:r>
                <a:rPr lang="zh-CN" altLang="en-US" dirty="0">
                  <a:latin typeface="Times New Roman" panose="02020603050405020304" pitchFamily="18" charset="0"/>
                </a:rPr>
                <a:t>控制存储器</a:t>
              </a:r>
              <a:endParaRPr lang="zh-CN" altLang="en-US" dirty="0">
                <a:latin typeface="Times New Roman" panose="02020603050405020304" pitchFamily="18" charset="0"/>
              </a:endParaRPr>
            </a:p>
            <a:p>
              <a:pPr eaLnBrk="1" hangingPunct="1"/>
              <a:r>
                <a:rPr lang="zh-CN" altLang="en-US" dirty="0">
                  <a:latin typeface="Times New Roman" panose="02020603050405020304" pitchFamily="18" charset="0"/>
                </a:rPr>
                <a:t>  （微程序）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9175" name="Rectangle 10"/>
            <p:cNvSpPr/>
            <p:nvPr/>
          </p:nvSpPr>
          <p:spPr>
            <a:xfrm>
              <a:off x="1152" y="2217"/>
              <a:ext cx="960" cy="480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49176" name="Rectangle 11"/>
            <p:cNvSpPr/>
            <p:nvPr/>
          </p:nvSpPr>
          <p:spPr>
            <a:xfrm>
              <a:off x="1152" y="1708"/>
              <a:ext cx="960" cy="240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r>
                <a:rPr lang="en-US" altLang="zh-CN" sz="2000" dirty="0">
                  <a:latin typeface="Times New Roman" panose="02020603050405020304" pitchFamily="18" charset="0"/>
                </a:rPr>
                <a:t>CMAR</a:t>
              </a:r>
              <a:r>
                <a:rPr lang="en-US" altLang="zh-CN" sz="2000" baseline="-25000" dirty="0">
                  <a:latin typeface="Times New Roman" panose="02020603050405020304" pitchFamily="18" charset="0"/>
                </a:rPr>
                <a:t>1</a:t>
              </a:r>
              <a:endParaRPr lang="en-US" altLang="zh-CN" sz="2000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49177" name="Rectangle 12"/>
            <p:cNvSpPr/>
            <p:nvPr/>
          </p:nvSpPr>
          <p:spPr>
            <a:xfrm>
              <a:off x="1152" y="2966"/>
              <a:ext cx="960" cy="240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49178" name="Text Box 13"/>
            <p:cNvSpPr txBox="1"/>
            <p:nvPr/>
          </p:nvSpPr>
          <p:spPr>
            <a:xfrm>
              <a:off x="1143" y="2966"/>
              <a:ext cx="489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dirty="0">
                  <a:latin typeface="Times New Roman" panose="02020603050405020304" pitchFamily="18" charset="0"/>
                </a:rPr>
                <a:t>MOP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49179" name="Line 14"/>
            <p:cNvSpPr/>
            <p:nvPr/>
          </p:nvSpPr>
          <p:spPr>
            <a:xfrm>
              <a:off x="1584" y="2966"/>
              <a:ext cx="0" cy="24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9180" name="Rectangle 15"/>
            <p:cNvSpPr/>
            <p:nvPr/>
          </p:nvSpPr>
          <p:spPr>
            <a:xfrm>
              <a:off x="1152" y="1200"/>
              <a:ext cx="1248" cy="240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49181" name="Line 16"/>
            <p:cNvSpPr/>
            <p:nvPr/>
          </p:nvSpPr>
          <p:spPr>
            <a:xfrm>
              <a:off x="1584" y="1200"/>
              <a:ext cx="0" cy="24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9182" name="Text Box 17"/>
            <p:cNvSpPr txBox="1"/>
            <p:nvPr/>
          </p:nvSpPr>
          <p:spPr>
            <a:xfrm>
              <a:off x="1200" y="1200"/>
              <a:ext cx="33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dirty="0">
                  <a:latin typeface="Times New Roman" panose="02020603050405020304" pitchFamily="18" charset="0"/>
                </a:rPr>
                <a:t>OP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49183" name="AutoShape 18"/>
            <p:cNvSpPr/>
            <p:nvPr/>
          </p:nvSpPr>
          <p:spPr>
            <a:xfrm>
              <a:off x="1344" y="1440"/>
              <a:ext cx="96" cy="265"/>
            </a:xfrm>
            <a:prstGeom prst="downArrow">
              <a:avLst>
                <a:gd name="adj1" fmla="val 50000"/>
                <a:gd name="adj2" fmla="val 69010"/>
              </a:avLst>
            </a:prstGeom>
            <a:solidFill>
              <a:schemeClr val="folHlink"/>
            </a:solidFill>
            <a:ln w="952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vert="eaVert"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49184" name="AutoShape 19"/>
            <p:cNvSpPr/>
            <p:nvPr/>
          </p:nvSpPr>
          <p:spPr>
            <a:xfrm>
              <a:off x="1584" y="1956"/>
              <a:ext cx="96" cy="263"/>
            </a:xfrm>
            <a:prstGeom prst="downArrow">
              <a:avLst>
                <a:gd name="adj1" fmla="val 50000"/>
                <a:gd name="adj2" fmla="val 68489"/>
              </a:avLst>
            </a:prstGeom>
            <a:solidFill>
              <a:schemeClr val="folHlink"/>
            </a:solidFill>
            <a:ln w="952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vert="eaVert"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49185" name="AutoShape 20"/>
            <p:cNvSpPr/>
            <p:nvPr/>
          </p:nvSpPr>
          <p:spPr>
            <a:xfrm>
              <a:off x="1584" y="2688"/>
              <a:ext cx="96" cy="263"/>
            </a:xfrm>
            <a:prstGeom prst="downArrow">
              <a:avLst>
                <a:gd name="adj1" fmla="val 50000"/>
                <a:gd name="adj2" fmla="val 68489"/>
              </a:avLst>
            </a:prstGeom>
            <a:solidFill>
              <a:schemeClr val="folHlink"/>
            </a:solidFill>
            <a:ln w="952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vert="eaVert"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49186" name="AutoShape 21"/>
            <p:cNvSpPr/>
            <p:nvPr/>
          </p:nvSpPr>
          <p:spPr>
            <a:xfrm>
              <a:off x="1776" y="1536"/>
              <a:ext cx="122" cy="167"/>
            </a:xfrm>
            <a:prstGeom prst="downArrow">
              <a:avLst>
                <a:gd name="adj1" fmla="val 50000"/>
                <a:gd name="adj2" fmla="val 34221"/>
              </a:avLst>
            </a:prstGeom>
            <a:solidFill>
              <a:schemeClr val="folHlink"/>
            </a:solidFill>
            <a:ln w="952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vert="eaVert"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49187" name="Rectangle 22"/>
            <p:cNvSpPr/>
            <p:nvPr/>
          </p:nvSpPr>
          <p:spPr>
            <a:xfrm>
              <a:off x="1824" y="1536"/>
              <a:ext cx="864" cy="48"/>
            </a:xfrm>
            <a:prstGeom prst="rect">
              <a:avLst/>
            </a:prstGeom>
            <a:solidFill>
              <a:schemeClr val="folHlink"/>
            </a:solidFill>
            <a:ln w="952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49188" name="Text Box 23"/>
            <p:cNvSpPr txBox="1"/>
            <p:nvPr/>
          </p:nvSpPr>
          <p:spPr>
            <a:xfrm>
              <a:off x="2112" y="1584"/>
              <a:ext cx="69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dirty="0">
                  <a:latin typeface="Times New Roman" panose="02020603050405020304" pitchFamily="18" charset="0"/>
                </a:rPr>
                <a:t>转移地址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9189" name="Text Box 24"/>
            <p:cNvSpPr txBox="1"/>
            <p:nvPr/>
          </p:nvSpPr>
          <p:spPr>
            <a:xfrm>
              <a:off x="2150" y="2860"/>
              <a:ext cx="551" cy="40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dirty="0">
                  <a:latin typeface="Times New Roman" panose="02020603050405020304" pitchFamily="18" charset="0"/>
                </a:rPr>
                <a:t>垂直型</a:t>
              </a:r>
              <a:endParaRPr lang="zh-CN" altLang="en-US" dirty="0">
                <a:latin typeface="Times New Roman" panose="02020603050405020304" pitchFamily="18" charset="0"/>
              </a:endParaRPr>
            </a:p>
            <a:p>
              <a:pPr eaLnBrk="1" hangingPunct="1"/>
              <a:r>
                <a:rPr lang="zh-CN" altLang="en-US" dirty="0">
                  <a:latin typeface="Times New Roman" panose="02020603050405020304" pitchFamily="18" charset="0"/>
                </a:rPr>
                <a:t>微指令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9190" name="Freeform 25"/>
            <p:cNvSpPr/>
            <p:nvPr/>
          </p:nvSpPr>
          <p:spPr>
            <a:xfrm>
              <a:off x="816" y="1584"/>
              <a:ext cx="432" cy="9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32" y="0"/>
                </a:cxn>
                <a:cxn ang="0">
                  <a:pos x="432" y="96"/>
                </a:cxn>
              </a:cxnLst>
              <a:pathLst>
                <a:path w="432" h="96">
                  <a:moveTo>
                    <a:pt x="0" y="0"/>
                  </a:moveTo>
                  <a:lnTo>
                    <a:pt x="432" y="0"/>
                  </a:lnTo>
                  <a:lnTo>
                    <a:pt x="432" y="96"/>
                  </a:lnTo>
                </a:path>
              </a:pathLst>
            </a:custGeom>
            <a:noFill/>
            <a:ln w="2857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stealth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9191" name="Text Box 26"/>
            <p:cNvSpPr txBox="1"/>
            <p:nvPr/>
          </p:nvSpPr>
          <p:spPr>
            <a:xfrm>
              <a:off x="858" y="1190"/>
              <a:ext cx="294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dirty="0">
                  <a:latin typeface="Times New Roman" panose="02020603050405020304" pitchFamily="18" charset="0"/>
                </a:rPr>
                <a:t>IR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49192" name="Text Box 27"/>
            <p:cNvSpPr txBox="1"/>
            <p:nvPr/>
          </p:nvSpPr>
          <p:spPr>
            <a:xfrm>
              <a:off x="681" y="1574"/>
              <a:ext cx="317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等线" panose="02010600030101010101" pitchFamily="2" charset="-122"/>
                </a:rPr>
                <a:t>+</a:t>
              </a:r>
              <a:r>
                <a:rPr lang="zh-CN" altLang="en-US" sz="2000" dirty="0">
                  <a:latin typeface="Times New Roman" panose="02020603050405020304" pitchFamily="18" charset="0"/>
                </a:rPr>
                <a:t> 1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49193" name="Text Box 28"/>
            <p:cNvSpPr txBox="1"/>
            <p:nvPr/>
          </p:nvSpPr>
          <p:spPr>
            <a:xfrm>
              <a:off x="533" y="2966"/>
              <a:ext cx="667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dirty="0">
                  <a:latin typeface="Times New Roman" panose="02020603050405020304" pitchFamily="18" charset="0"/>
                </a:rPr>
                <a:t>CMDR</a:t>
              </a:r>
              <a:r>
                <a:rPr lang="en-US" altLang="zh-CN" sz="2000" baseline="-25000" dirty="0">
                  <a:latin typeface="Times New Roman" panose="02020603050405020304" pitchFamily="18" charset="0"/>
                </a:rPr>
                <a:t>1</a:t>
              </a:r>
              <a:endParaRPr lang="en-US" altLang="zh-CN" sz="2000" baseline="-250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45149" name="Group 29"/>
          <p:cNvGrpSpPr/>
          <p:nvPr/>
        </p:nvGrpSpPr>
        <p:grpSpPr>
          <a:xfrm>
            <a:off x="4937125" y="1981200"/>
            <a:ext cx="2606675" cy="3124200"/>
            <a:chOff x="2918" y="1248"/>
            <a:chExt cx="1642" cy="1968"/>
          </a:xfrm>
        </p:grpSpPr>
        <p:sp>
          <p:nvSpPr>
            <p:cNvPr id="49162" name="Rectangle 30"/>
            <p:cNvSpPr/>
            <p:nvPr/>
          </p:nvSpPr>
          <p:spPr>
            <a:xfrm>
              <a:off x="2918" y="2976"/>
              <a:ext cx="960" cy="240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r>
                <a:rPr lang="en-US" altLang="zh-CN" sz="2000" dirty="0">
                  <a:latin typeface="Times New Roman" panose="02020603050405020304" pitchFamily="18" charset="0"/>
                </a:rPr>
                <a:t>CMAR</a:t>
              </a:r>
              <a:r>
                <a:rPr lang="en-US" altLang="zh-CN" sz="2000" baseline="-25000" dirty="0">
                  <a:latin typeface="Times New Roman" panose="02020603050405020304" pitchFamily="18" charset="0"/>
                </a:rPr>
                <a:t>2</a:t>
              </a:r>
              <a:endParaRPr lang="en-US" altLang="zh-CN" sz="2000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49163" name="Text Box 31"/>
            <p:cNvSpPr txBox="1"/>
            <p:nvPr/>
          </p:nvSpPr>
          <p:spPr>
            <a:xfrm>
              <a:off x="2918" y="2248"/>
              <a:ext cx="986" cy="42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  </a:t>
              </a:r>
              <a:r>
                <a:rPr lang="zh-CN" altLang="en-US" dirty="0">
                  <a:latin typeface="Times New Roman" panose="02020603050405020304" pitchFamily="18" charset="0"/>
                </a:rPr>
                <a:t>控制存储器</a:t>
              </a:r>
              <a:endParaRPr lang="zh-CN" altLang="en-US" dirty="0">
                <a:latin typeface="Times New Roman" panose="02020603050405020304" pitchFamily="18" charset="0"/>
              </a:endParaRPr>
            </a:p>
            <a:p>
              <a:pPr eaLnBrk="1" hangingPunct="1"/>
              <a:r>
                <a:rPr lang="zh-CN" altLang="en-US" dirty="0">
                  <a:latin typeface="Times New Roman" panose="02020603050405020304" pitchFamily="18" charset="0"/>
                </a:rPr>
                <a:t>（毫微程序）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9164" name="Rectangle 32"/>
            <p:cNvSpPr/>
            <p:nvPr/>
          </p:nvSpPr>
          <p:spPr>
            <a:xfrm>
              <a:off x="2928" y="2217"/>
              <a:ext cx="960" cy="480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49165" name="Rectangle 33"/>
            <p:cNvSpPr/>
            <p:nvPr/>
          </p:nvSpPr>
          <p:spPr>
            <a:xfrm>
              <a:off x="2918" y="1708"/>
              <a:ext cx="960" cy="240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r>
                <a:rPr lang="zh-CN" altLang="en-US" dirty="0">
                  <a:latin typeface="Times New Roman" panose="02020603050405020304" pitchFamily="18" charset="0"/>
                </a:rPr>
                <a:t>水平型微指令</a:t>
              </a:r>
              <a:endParaRPr lang="zh-CN" altLang="en-US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49166" name="AutoShape 34"/>
            <p:cNvSpPr/>
            <p:nvPr/>
          </p:nvSpPr>
          <p:spPr>
            <a:xfrm rot="10800000">
              <a:off x="3363" y="1956"/>
              <a:ext cx="96" cy="263"/>
            </a:xfrm>
            <a:prstGeom prst="downArrow">
              <a:avLst>
                <a:gd name="adj1" fmla="val 50000"/>
                <a:gd name="adj2" fmla="val 68489"/>
              </a:avLst>
            </a:prstGeom>
            <a:solidFill>
              <a:schemeClr val="folHlink"/>
            </a:solidFill>
            <a:ln w="952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rot="10800000" vert="eaVert" wrap="none" anchor="ctr" anchorCtr="0"/>
            <a:p>
              <a:pPr algn="ctr" eaLnBrk="1" hangingPunct="1"/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49167" name="AutoShape 35"/>
            <p:cNvSpPr/>
            <p:nvPr/>
          </p:nvSpPr>
          <p:spPr>
            <a:xfrm rot="10800000">
              <a:off x="3363" y="2700"/>
              <a:ext cx="96" cy="263"/>
            </a:xfrm>
            <a:prstGeom prst="downArrow">
              <a:avLst>
                <a:gd name="adj1" fmla="val 50000"/>
                <a:gd name="adj2" fmla="val 68489"/>
              </a:avLst>
            </a:prstGeom>
            <a:solidFill>
              <a:schemeClr val="folHlink"/>
            </a:solidFill>
            <a:ln w="952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vert="eaVert"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49168" name="Line 36"/>
            <p:cNvSpPr/>
            <p:nvPr/>
          </p:nvSpPr>
          <p:spPr>
            <a:xfrm flipV="1">
              <a:off x="2976" y="1464"/>
              <a:ext cx="0" cy="24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49169" name="Line 37"/>
            <p:cNvSpPr/>
            <p:nvPr/>
          </p:nvSpPr>
          <p:spPr>
            <a:xfrm flipV="1">
              <a:off x="3216" y="1464"/>
              <a:ext cx="0" cy="24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49170" name="Line 38"/>
            <p:cNvSpPr/>
            <p:nvPr/>
          </p:nvSpPr>
          <p:spPr>
            <a:xfrm flipV="1">
              <a:off x="3696" y="1464"/>
              <a:ext cx="0" cy="24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49171" name="Text Box 39"/>
            <p:cNvSpPr txBox="1"/>
            <p:nvPr/>
          </p:nvSpPr>
          <p:spPr>
            <a:xfrm>
              <a:off x="3324" y="1440"/>
              <a:ext cx="27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…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49172" name="Text Box 40"/>
            <p:cNvSpPr txBox="1"/>
            <p:nvPr/>
          </p:nvSpPr>
          <p:spPr>
            <a:xfrm>
              <a:off x="3014" y="1248"/>
              <a:ext cx="69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dirty="0">
                  <a:latin typeface="Times New Roman" panose="02020603050405020304" pitchFamily="18" charset="0"/>
                </a:rPr>
                <a:t>控制信号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49173" name="Text Box 41"/>
            <p:cNvSpPr txBox="1"/>
            <p:nvPr/>
          </p:nvSpPr>
          <p:spPr>
            <a:xfrm>
              <a:off x="3893" y="1680"/>
              <a:ext cx="667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dirty="0">
                  <a:latin typeface="Times New Roman" panose="02020603050405020304" pitchFamily="18" charset="0"/>
                </a:rPr>
                <a:t>CMDR</a:t>
              </a:r>
              <a:r>
                <a:rPr lang="en-US" altLang="zh-CN" sz="2000" baseline="-25000" dirty="0">
                  <a:latin typeface="Times New Roman" panose="02020603050405020304" pitchFamily="18" charset="0"/>
                </a:rPr>
                <a:t>2</a:t>
              </a:r>
              <a:endParaRPr lang="en-US" altLang="zh-CN" sz="2000" baseline="-250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645162" name="Rectangle 42"/>
          <p:cNvSpPr>
            <a:spLocks noChangeArrowheads="1"/>
          </p:cNvSpPr>
          <p:nvPr/>
        </p:nvSpPr>
        <p:spPr bwMode="auto">
          <a:xfrm>
            <a:off x="7696200" y="152400"/>
            <a:ext cx="1447800" cy="838200"/>
          </a:xfrm>
          <a:prstGeom prst="rect">
            <a:avLst/>
          </a:prstGeom>
          <a:noFill/>
          <a:ln>
            <a:noFill/>
          </a:ln>
          <a:effectLst/>
        </p:spPr>
        <p:txBody>
          <a:bodyPr lIns="92075" tIns="46038" rIns="92075" bIns="46038" anchor="ctr"/>
          <a:lstStyle>
            <a:lvl1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10.2</a:t>
            </a:r>
            <a:endParaRPr kumimoji="1" lang="zh-CN" altLang="en-US" sz="4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9161" name="AutoShape 43">
            <a:hlinkClick r:id="rId1" action="ppaction://hlinksldjump"/>
          </p:cNvPr>
          <p:cNvSpPr/>
          <p:nvPr/>
        </p:nvSpPr>
        <p:spPr>
          <a:xfrm>
            <a:off x="8589963" y="6516688"/>
            <a:ext cx="539750" cy="333375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endParaRPr lang="zh-CN" altLang="en-US" dirty="0">
              <a:latin typeface="等线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645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645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6" dur="500"/>
                                        <p:tgtEl>
                                          <p:spTgt spid="64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0" dur="500"/>
                                        <p:tgtEl>
                                          <p:spTgt spid="645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5" dur="500"/>
                                        <p:tgtEl>
                                          <p:spTgt spid="645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0178" name="Text Box 2"/>
          <p:cNvSpPr txBox="1"/>
          <p:nvPr/>
        </p:nvSpPr>
        <p:spPr>
          <a:xfrm>
            <a:off x="152400" y="381000"/>
            <a:ext cx="7343775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3200" dirty="0">
                <a:latin typeface="Verdana" panose="020B0604030504040204" pitchFamily="34" charset="0"/>
              </a:rPr>
              <a:t>八、串行微程序控制和并行微程序控制</a:t>
            </a:r>
            <a:endParaRPr lang="zh-CN" altLang="en-US" sz="3200" dirty="0">
              <a:latin typeface="Verdana" panose="020B0604030504040204" pitchFamily="34" charset="0"/>
            </a:endParaRPr>
          </a:p>
        </p:txBody>
      </p:sp>
      <p:grpSp>
        <p:nvGrpSpPr>
          <p:cNvPr id="646147" name="Group 3"/>
          <p:cNvGrpSpPr/>
          <p:nvPr/>
        </p:nvGrpSpPr>
        <p:grpSpPr>
          <a:xfrm>
            <a:off x="508000" y="2311400"/>
            <a:ext cx="8329613" cy="457200"/>
            <a:chOff x="320" y="1456"/>
            <a:chExt cx="5247" cy="288"/>
          </a:xfrm>
        </p:grpSpPr>
        <p:sp>
          <p:nvSpPr>
            <p:cNvPr id="50200" name="Text Box 4"/>
            <p:cNvSpPr txBox="1"/>
            <p:nvPr/>
          </p:nvSpPr>
          <p:spPr>
            <a:xfrm>
              <a:off x="2972" y="1480"/>
              <a:ext cx="124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dirty="0">
                  <a:latin typeface="Times New Roman" panose="02020603050405020304" pitchFamily="18" charset="0"/>
                </a:rPr>
                <a:t>取第 </a:t>
              </a:r>
              <a:r>
                <a:rPr lang="en-US" altLang="zh-CN" i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zh-CN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+1 </a:t>
              </a:r>
              <a:r>
                <a:rPr lang="zh-CN" altLang="en-US" dirty="0">
                  <a:latin typeface="Times New Roman" panose="02020603050405020304" pitchFamily="18" charset="0"/>
                </a:rPr>
                <a:t>条微指令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0201" name="Rectangle 5"/>
            <p:cNvSpPr/>
            <p:nvPr/>
          </p:nvSpPr>
          <p:spPr>
            <a:xfrm>
              <a:off x="2920" y="1456"/>
              <a:ext cx="1304" cy="288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50202" name="Text Box 6"/>
            <p:cNvSpPr txBox="1"/>
            <p:nvPr/>
          </p:nvSpPr>
          <p:spPr>
            <a:xfrm>
              <a:off x="1677" y="1480"/>
              <a:ext cx="123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dirty="0">
                  <a:latin typeface="Times New Roman" panose="02020603050405020304" pitchFamily="18" charset="0"/>
                </a:rPr>
                <a:t>执行第</a:t>
              </a:r>
              <a:r>
                <a:rPr lang="zh-CN" altLang="en-US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i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zh-CN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 </a:t>
              </a:r>
              <a:r>
                <a:rPr lang="zh-CN" altLang="en-US" dirty="0">
                  <a:latin typeface="Times New Roman" panose="02020603050405020304" pitchFamily="18" charset="0"/>
                </a:rPr>
                <a:t>条微指令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50203" name="Rectangle 7"/>
            <p:cNvSpPr/>
            <p:nvPr/>
          </p:nvSpPr>
          <p:spPr>
            <a:xfrm>
              <a:off x="1624" y="1456"/>
              <a:ext cx="1304" cy="288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50204" name="Rectangle 8"/>
            <p:cNvSpPr/>
            <p:nvPr/>
          </p:nvSpPr>
          <p:spPr>
            <a:xfrm>
              <a:off x="320" y="1456"/>
              <a:ext cx="1304" cy="288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50205" name="Text Box 9"/>
            <p:cNvSpPr txBox="1"/>
            <p:nvPr/>
          </p:nvSpPr>
          <p:spPr>
            <a:xfrm>
              <a:off x="430" y="1480"/>
              <a:ext cx="1092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dirty="0">
                  <a:latin typeface="Times New Roman" panose="02020603050405020304" pitchFamily="18" charset="0"/>
                </a:rPr>
                <a:t>取第</a:t>
              </a:r>
              <a:r>
                <a:rPr lang="zh-CN" altLang="en-US" i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i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zh-CN" dirty="0">
                  <a:latin typeface="Times New Roman" panose="02020603050405020304" pitchFamily="18" charset="0"/>
                </a:rPr>
                <a:t> </a:t>
              </a:r>
              <a:r>
                <a:rPr lang="zh-CN" altLang="en-US" dirty="0">
                  <a:latin typeface="Times New Roman" panose="02020603050405020304" pitchFamily="18" charset="0"/>
                </a:rPr>
                <a:t>条微指令</a:t>
              </a:r>
              <a:endParaRPr lang="en-US" altLang="zh-CN" dirty="0">
                <a:latin typeface="Times New Roman" panose="02020603050405020304" pitchFamily="18" charset="0"/>
              </a:endParaRPr>
            </a:p>
          </p:txBody>
        </p:sp>
        <p:sp>
          <p:nvSpPr>
            <p:cNvPr id="50206" name="Rectangle 10"/>
            <p:cNvSpPr/>
            <p:nvPr/>
          </p:nvSpPr>
          <p:spPr>
            <a:xfrm>
              <a:off x="4216" y="1456"/>
              <a:ext cx="1304" cy="288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50207" name="Text Box 11"/>
            <p:cNvSpPr txBox="1"/>
            <p:nvPr/>
          </p:nvSpPr>
          <p:spPr>
            <a:xfrm>
              <a:off x="4207" y="1480"/>
              <a:ext cx="1360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dirty="0">
                  <a:latin typeface="Times New Roman" panose="02020603050405020304" pitchFamily="18" charset="0"/>
                </a:rPr>
                <a:t>执行第 </a:t>
              </a:r>
              <a:r>
                <a:rPr lang="en-US" altLang="zh-CN" i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zh-CN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+1</a:t>
              </a:r>
              <a:r>
                <a:rPr lang="en-US" altLang="zh-CN" sz="1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 </a:t>
              </a:r>
              <a:r>
                <a:rPr lang="zh-CN" altLang="en-US" dirty="0">
                  <a:latin typeface="Times New Roman" panose="02020603050405020304" pitchFamily="18" charset="0"/>
                </a:rPr>
                <a:t>条微指令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46156" name="Group 12"/>
          <p:cNvGrpSpPr/>
          <p:nvPr/>
        </p:nvGrpSpPr>
        <p:grpSpPr>
          <a:xfrm>
            <a:off x="520700" y="4343400"/>
            <a:ext cx="8316913" cy="1371600"/>
            <a:chOff x="328" y="2736"/>
            <a:chExt cx="5239" cy="864"/>
          </a:xfrm>
        </p:grpSpPr>
        <p:grpSp>
          <p:nvGrpSpPr>
            <p:cNvPr id="50185" name="Group 13"/>
            <p:cNvGrpSpPr/>
            <p:nvPr/>
          </p:nvGrpSpPr>
          <p:grpSpPr>
            <a:xfrm>
              <a:off x="1632" y="2736"/>
              <a:ext cx="1304" cy="288"/>
              <a:chOff x="1584" y="1392"/>
              <a:chExt cx="1304" cy="288"/>
            </a:xfrm>
          </p:grpSpPr>
          <p:sp>
            <p:nvSpPr>
              <p:cNvPr id="50198" name="Text Box 14"/>
              <p:cNvSpPr txBox="1"/>
              <p:nvPr/>
            </p:nvSpPr>
            <p:spPr>
              <a:xfrm>
                <a:off x="1637" y="1416"/>
                <a:ext cx="1236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zh-CN" altLang="en-US" dirty="0">
                    <a:latin typeface="Times New Roman" panose="02020603050405020304" pitchFamily="18" charset="0"/>
                  </a:rPr>
                  <a:t>执行第 </a:t>
                </a:r>
                <a:r>
                  <a:rPr lang="en-US" altLang="zh-CN" i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i</a:t>
                </a:r>
                <a:r>
                  <a:rPr lang="en-US" altLang="zh-CN" dirty="0">
                    <a:latin typeface="Times New Roman" panose="02020603050405020304" pitchFamily="18" charset="0"/>
                  </a:rPr>
                  <a:t> </a:t>
                </a:r>
                <a:r>
                  <a:rPr lang="zh-CN" altLang="en-US" dirty="0">
                    <a:latin typeface="Times New Roman" panose="02020603050405020304" pitchFamily="18" charset="0"/>
                  </a:rPr>
                  <a:t>条微指令</a:t>
                </a:r>
                <a:endParaRPr lang="en-US" altLang="zh-CN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0199" name="Rectangle 15"/>
              <p:cNvSpPr/>
              <p:nvPr/>
            </p:nvSpPr>
            <p:spPr>
              <a:xfrm>
                <a:off x="1584" y="1392"/>
                <a:ext cx="1304" cy="288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等线" panose="02010600030101010101" pitchFamily="2" charset="-122"/>
                </a:endParaRPr>
              </a:p>
            </p:txBody>
          </p:sp>
        </p:grpSp>
        <p:grpSp>
          <p:nvGrpSpPr>
            <p:cNvPr id="50186" name="Group 16"/>
            <p:cNvGrpSpPr/>
            <p:nvPr/>
          </p:nvGrpSpPr>
          <p:grpSpPr>
            <a:xfrm>
              <a:off x="328" y="2736"/>
              <a:ext cx="1304" cy="288"/>
              <a:chOff x="280" y="1392"/>
              <a:chExt cx="1304" cy="288"/>
            </a:xfrm>
          </p:grpSpPr>
          <p:sp>
            <p:nvSpPr>
              <p:cNvPr id="50196" name="Rectangle 17"/>
              <p:cNvSpPr/>
              <p:nvPr/>
            </p:nvSpPr>
            <p:spPr>
              <a:xfrm>
                <a:off x="280" y="1392"/>
                <a:ext cx="1304" cy="288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等线" panose="02010600030101010101" pitchFamily="2" charset="-122"/>
                </a:endParaRPr>
              </a:p>
            </p:txBody>
          </p:sp>
          <p:sp>
            <p:nvSpPr>
              <p:cNvPr id="50197" name="Text Box 18"/>
              <p:cNvSpPr txBox="1"/>
              <p:nvPr/>
            </p:nvSpPr>
            <p:spPr>
              <a:xfrm>
                <a:off x="390" y="1416"/>
                <a:ext cx="1092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zh-CN" altLang="en-US" dirty="0">
                    <a:latin typeface="Times New Roman" panose="02020603050405020304" pitchFamily="18" charset="0"/>
                  </a:rPr>
                  <a:t>取第 </a:t>
                </a:r>
                <a:r>
                  <a:rPr lang="en-US" altLang="zh-CN" i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i</a:t>
                </a:r>
                <a:r>
                  <a:rPr lang="en-US" altLang="zh-CN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 </a:t>
                </a:r>
                <a:r>
                  <a:rPr lang="zh-CN" altLang="en-US" dirty="0">
                    <a:latin typeface="Times New Roman" panose="02020603050405020304" pitchFamily="18" charset="0"/>
                  </a:rPr>
                  <a:t>条微指令</a:t>
                </a:r>
                <a:endParaRPr lang="en-US" altLang="zh-CN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50187" name="Group 19"/>
            <p:cNvGrpSpPr/>
            <p:nvPr/>
          </p:nvGrpSpPr>
          <p:grpSpPr>
            <a:xfrm>
              <a:off x="1632" y="3024"/>
              <a:ext cx="1314" cy="288"/>
              <a:chOff x="2880" y="1392"/>
              <a:chExt cx="1314" cy="288"/>
            </a:xfrm>
          </p:grpSpPr>
          <p:sp>
            <p:nvSpPr>
              <p:cNvPr id="50194" name="Text Box 20"/>
              <p:cNvSpPr txBox="1"/>
              <p:nvPr/>
            </p:nvSpPr>
            <p:spPr>
              <a:xfrm>
                <a:off x="2948" y="1416"/>
                <a:ext cx="1246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zh-CN" altLang="en-US" dirty="0">
                    <a:latin typeface="Times New Roman" panose="02020603050405020304" pitchFamily="18" charset="0"/>
                  </a:rPr>
                  <a:t>取第 </a:t>
                </a:r>
                <a:r>
                  <a:rPr lang="en-US" altLang="zh-CN" i="1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i</a:t>
                </a:r>
                <a:r>
                  <a:rPr lang="en-US" altLang="zh-CN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+1</a:t>
                </a:r>
                <a:r>
                  <a:rPr lang="en-US" altLang="zh-CN" dirty="0">
                    <a:latin typeface="Times New Roman" panose="02020603050405020304" pitchFamily="18" charset="0"/>
                  </a:rPr>
                  <a:t> </a:t>
                </a:r>
                <a:r>
                  <a:rPr lang="zh-CN" altLang="en-US" dirty="0">
                    <a:latin typeface="Times New Roman" panose="02020603050405020304" pitchFamily="18" charset="0"/>
                  </a:rPr>
                  <a:t>条微指令</a:t>
                </a:r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0195" name="Rectangle 21"/>
              <p:cNvSpPr/>
              <p:nvPr/>
            </p:nvSpPr>
            <p:spPr>
              <a:xfrm>
                <a:off x="2880" y="1392"/>
                <a:ext cx="1304" cy="288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等线" panose="02010600030101010101" pitchFamily="2" charset="-122"/>
                </a:endParaRPr>
              </a:p>
            </p:txBody>
          </p:sp>
        </p:grpSp>
        <p:sp>
          <p:nvSpPr>
            <p:cNvPr id="50188" name="Rectangle 22"/>
            <p:cNvSpPr/>
            <p:nvPr/>
          </p:nvSpPr>
          <p:spPr>
            <a:xfrm>
              <a:off x="2928" y="3024"/>
              <a:ext cx="1304" cy="288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50189" name="Text Box 23"/>
            <p:cNvSpPr txBox="1"/>
            <p:nvPr/>
          </p:nvSpPr>
          <p:spPr>
            <a:xfrm>
              <a:off x="2911" y="3048"/>
              <a:ext cx="1360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dirty="0">
                  <a:latin typeface="Times New Roman" panose="02020603050405020304" pitchFamily="18" charset="0"/>
                </a:rPr>
                <a:t>执行第 </a:t>
              </a:r>
              <a:r>
                <a:rPr lang="en-US" altLang="zh-CN" i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zh-CN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+1</a:t>
              </a:r>
              <a:r>
                <a:rPr lang="en-US" altLang="zh-CN" sz="1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 </a:t>
              </a:r>
              <a:r>
                <a:rPr lang="zh-CN" altLang="en-US" dirty="0">
                  <a:latin typeface="Times New Roman" panose="02020603050405020304" pitchFamily="18" charset="0"/>
                </a:rPr>
                <a:t>条微指令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0190" name="Text Box 24"/>
            <p:cNvSpPr txBox="1"/>
            <p:nvPr/>
          </p:nvSpPr>
          <p:spPr>
            <a:xfrm>
              <a:off x="2972" y="3336"/>
              <a:ext cx="124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dirty="0">
                  <a:latin typeface="Times New Roman" panose="02020603050405020304" pitchFamily="18" charset="0"/>
                </a:rPr>
                <a:t>取第 </a:t>
              </a:r>
              <a:r>
                <a:rPr lang="en-US" altLang="zh-CN" i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zh-CN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+2</a:t>
              </a:r>
              <a:r>
                <a:rPr lang="en-US" altLang="zh-CN" dirty="0">
                  <a:latin typeface="Times New Roman" panose="02020603050405020304" pitchFamily="18" charset="0"/>
                </a:rPr>
                <a:t> </a:t>
              </a:r>
              <a:r>
                <a:rPr lang="zh-CN" altLang="en-US" dirty="0">
                  <a:latin typeface="Times New Roman" panose="02020603050405020304" pitchFamily="18" charset="0"/>
                </a:rPr>
                <a:t>条微指令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50191" name="Rectangle 25"/>
            <p:cNvSpPr/>
            <p:nvPr/>
          </p:nvSpPr>
          <p:spPr>
            <a:xfrm>
              <a:off x="2928" y="3312"/>
              <a:ext cx="1304" cy="288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50192" name="Rectangle 26"/>
            <p:cNvSpPr/>
            <p:nvPr/>
          </p:nvSpPr>
          <p:spPr>
            <a:xfrm>
              <a:off x="4224" y="3312"/>
              <a:ext cx="1304" cy="288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50193" name="Text Box 27"/>
            <p:cNvSpPr txBox="1"/>
            <p:nvPr/>
          </p:nvSpPr>
          <p:spPr>
            <a:xfrm>
              <a:off x="4207" y="3336"/>
              <a:ext cx="1360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dirty="0">
                  <a:latin typeface="Times New Roman" panose="02020603050405020304" pitchFamily="18" charset="0"/>
                </a:rPr>
                <a:t>执行第 </a:t>
              </a:r>
              <a:r>
                <a:rPr lang="en-US" altLang="zh-CN" i="1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zh-CN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+2</a:t>
              </a:r>
              <a:r>
                <a:rPr lang="en-US" altLang="zh-CN" sz="1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 </a:t>
              </a:r>
              <a:r>
                <a:rPr lang="zh-CN" altLang="en-US" dirty="0">
                  <a:latin typeface="Times New Roman" panose="02020603050405020304" pitchFamily="18" charset="0"/>
                </a:rPr>
                <a:t>条微指令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646172" name="Text Box 28"/>
          <p:cNvSpPr txBox="1"/>
          <p:nvPr/>
        </p:nvSpPr>
        <p:spPr>
          <a:xfrm>
            <a:off x="504825" y="1620838"/>
            <a:ext cx="2405063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400" dirty="0">
                <a:solidFill>
                  <a:schemeClr val="folHlink"/>
                </a:solidFill>
                <a:latin typeface="Times New Roman" panose="02020603050405020304" pitchFamily="18" charset="0"/>
              </a:rPr>
              <a:t>串行 </a:t>
            </a:r>
            <a:r>
              <a:rPr lang="zh-CN" altLang="en-US" sz="2400" dirty="0">
                <a:latin typeface="Times New Roman" panose="02020603050405020304" pitchFamily="18" charset="0"/>
              </a:rPr>
              <a:t>微程序控制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646173" name="Text Box 29"/>
          <p:cNvSpPr txBox="1"/>
          <p:nvPr/>
        </p:nvSpPr>
        <p:spPr>
          <a:xfrm>
            <a:off x="444500" y="3657600"/>
            <a:ext cx="2405063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400" dirty="0">
                <a:solidFill>
                  <a:schemeClr val="folHlink"/>
                </a:solidFill>
                <a:latin typeface="Times New Roman" panose="02020603050405020304" pitchFamily="18" charset="0"/>
              </a:rPr>
              <a:t>并行 </a:t>
            </a:r>
            <a:r>
              <a:rPr lang="zh-CN" altLang="en-US" sz="2400" dirty="0">
                <a:latin typeface="Times New Roman" panose="02020603050405020304" pitchFamily="18" charset="0"/>
              </a:rPr>
              <a:t>微程序控制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646174" name="Rectangle 30"/>
          <p:cNvSpPr>
            <a:spLocks noChangeArrowheads="1"/>
          </p:cNvSpPr>
          <p:nvPr/>
        </p:nvSpPr>
        <p:spPr bwMode="auto">
          <a:xfrm>
            <a:off x="7696200" y="152400"/>
            <a:ext cx="1447800" cy="838200"/>
          </a:xfrm>
          <a:prstGeom prst="rect">
            <a:avLst/>
          </a:prstGeom>
          <a:noFill/>
          <a:ln>
            <a:noFill/>
          </a:ln>
          <a:effectLst/>
        </p:spPr>
        <p:txBody>
          <a:bodyPr lIns="92075" tIns="46038" rIns="92075" bIns="46038" anchor="ctr"/>
          <a:lstStyle>
            <a:lvl1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10.2</a:t>
            </a:r>
            <a:endParaRPr kumimoji="1" lang="zh-CN" altLang="en-US" sz="4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0184" name="AutoShape 31">
            <a:hlinkClick r:id="rId1" action="ppaction://hlinksldjump"/>
          </p:cNvPr>
          <p:cNvSpPr/>
          <p:nvPr/>
        </p:nvSpPr>
        <p:spPr>
          <a:xfrm>
            <a:off x="8589963" y="6516688"/>
            <a:ext cx="539750" cy="333375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endParaRPr lang="zh-CN" altLang="en-US" dirty="0">
              <a:latin typeface="等线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46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646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46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646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6172" grpId="0"/>
      <p:bldP spid="646173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47206" name="Text Box 38"/>
          <p:cNvSpPr txBox="1"/>
          <p:nvPr/>
        </p:nvSpPr>
        <p:spPr>
          <a:xfrm>
            <a:off x="1306513" y="4473575"/>
            <a:ext cx="4903787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400" dirty="0">
                <a:latin typeface="Times New Roman" panose="02020603050405020304" pitchFamily="18" charset="0"/>
              </a:rPr>
              <a:t>还需考虑 </a:t>
            </a:r>
            <a:r>
              <a:rPr lang="zh-CN" altLang="en-US" sz="2400" dirty="0">
                <a:solidFill>
                  <a:schemeClr val="folHlink"/>
                </a:solidFill>
                <a:latin typeface="Times New Roman" panose="02020603050405020304" pitchFamily="18" charset="0"/>
              </a:rPr>
              <a:t>如何读出 </a:t>
            </a:r>
            <a:r>
              <a:rPr lang="zh-CN" altLang="en-US" sz="2400" dirty="0">
                <a:latin typeface="Times New Roman" panose="02020603050405020304" pitchFamily="18" charset="0"/>
              </a:rPr>
              <a:t>这 3 条微指令 </a:t>
            </a:r>
            <a:r>
              <a:rPr lang="zh-CN" altLang="en-US" sz="3200" dirty="0">
                <a:solidFill>
                  <a:schemeClr val="folHlink"/>
                </a:solidFill>
                <a:latin typeface="Times New Roman" panose="02020603050405020304" pitchFamily="18" charset="0"/>
              </a:rPr>
              <a:t>?</a:t>
            </a:r>
            <a:endParaRPr lang="zh-CN" altLang="en-US" sz="32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647170" name="Text Box 2"/>
          <p:cNvSpPr txBox="1"/>
          <p:nvPr/>
        </p:nvSpPr>
        <p:spPr>
          <a:xfrm>
            <a:off x="533400" y="1077913"/>
            <a:ext cx="7777163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</a:rPr>
              <a:t>1. </a:t>
            </a:r>
            <a:r>
              <a:rPr lang="zh-CN" altLang="en-US" sz="2800" dirty="0">
                <a:latin typeface="Verdana" panose="020B0604030504040204" pitchFamily="34" charset="0"/>
              </a:rPr>
              <a:t>写出对应机器指令的微操作及节拍安排</a:t>
            </a:r>
            <a:endParaRPr lang="zh-CN" altLang="en-US" sz="2800" dirty="0">
              <a:latin typeface="Verdana" panose="020B0604030504040204" pitchFamily="34" charset="0"/>
            </a:endParaRPr>
          </a:p>
        </p:txBody>
      </p:sp>
      <p:sp>
        <p:nvSpPr>
          <p:cNvPr id="647171" name="Text Box 3"/>
          <p:cNvSpPr txBox="1"/>
          <p:nvPr/>
        </p:nvSpPr>
        <p:spPr>
          <a:xfrm>
            <a:off x="1668463" y="1690688"/>
            <a:ext cx="5722937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solidFill>
                  <a:schemeClr val="folHlink"/>
                </a:solidFill>
                <a:latin typeface="Verdana" panose="020B0604030504040204" pitchFamily="34" charset="0"/>
              </a:rPr>
              <a:t>假设 </a:t>
            </a:r>
            <a:r>
              <a:rPr lang="en-US" altLang="zh-CN" sz="2800" dirty="0">
                <a:solidFill>
                  <a:schemeClr val="folHlink"/>
                </a:solidFill>
                <a:latin typeface="Times New Roman" panose="02020603050405020304" pitchFamily="18" charset="0"/>
              </a:rPr>
              <a:t>CPU</a:t>
            </a:r>
            <a:r>
              <a:rPr lang="en-US" altLang="zh-CN" sz="2800" dirty="0">
                <a:solidFill>
                  <a:schemeClr val="folHlink"/>
                </a:solidFill>
                <a:latin typeface="等线" panose="02010600030101010101" pitchFamily="2" charset="-122"/>
              </a:rPr>
              <a:t> </a:t>
            </a:r>
            <a:r>
              <a:rPr lang="zh-CN" altLang="en-US" sz="2800" dirty="0">
                <a:solidFill>
                  <a:schemeClr val="folHlink"/>
                </a:solidFill>
                <a:latin typeface="Verdana" panose="020B0604030504040204" pitchFamily="34" charset="0"/>
              </a:rPr>
              <a:t>结构与组合逻辑相同</a:t>
            </a:r>
            <a:endParaRPr lang="zh-CN" altLang="en-US" sz="2800" dirty="0">
              <a:solidFill>
                <a:schemeClr val="folHlink"/>
              </a:solidFill>
              <a:latin typeface="Verdana" panose="020B0604030504040204" pitchFamily="34" charset="0"/>
            </a:endParaRPr>
          </a:p>
        </p:txBody>
      </p:sp>
      <p:sp>
        <p:nvSpPr>
          <p:cNvPr id="647172" name="Text Box 4"/>
          <p:cNvSpPr txBox="1"/>
          <p:nvPr/>
        </p:nvSpPr>
        <p:spPr>
          <a:xfrm>
            <a:off x="606425" y="2286000"/>
            <a:ext cx="4956175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2800" dirty="0">
                <a:latin typeface="Times New Roman" panose="02020603050405020304" pitchFamily="18" charset="0"/>
              </a:rPr>
              <a:t>(1) </a:t>
            </a:r>
            <a:r>
              <a:rPr lang="zh-CN" altLang="en-US" sz="2800" dirty="0">
                <a:latin typeface="Verdana" panose="020B0604030504040204" pitchFamily="34" charset="0"/>
              </a:rPr>
              <a:t>取指阶段微操作分析</a:t>
            </a:r>
            <a:endParaRPr lang="zh-CN" altLang="en-US" sz="2800" dirty="0">
              <a:latin typeface="Verdana" panose="020B0604030504040204" pitchFamily="34" charset="0"/>
            </a:endParaRPr>
          </a:p>
        </p:txBody>
      </p:sp>
      <p:sp>
        <p:nvSpPr>
          <p:cNvPr id="647173" name="Text Box 5"/>
          <p:cNvSpPr txBox="1"/>
          <p:nvPr/>
        </p:nvSpPr>
        <p:spPr>
          <a:xfrm>
            <a:off x="1189038" y="2971800"/>
            <a:ext cx="471487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i="1" dirty="0">
                <a:latin typeface="Times New Roman" panose="02020603050405020304" pitchFamily="18" charset="0"/>
              </a:rPr>
              <a:t>T</a:t>
            </a:r>
            <a:r>
              <a:rPr lang="en-US" altLang="zh-CN" sz="2400" baseline="-25000" dirty="0">
                <a:latin typeface="Times New Roman" panose="02020603050405020304" pitchFamily="18" charset="0"/>
              </a:rPr>
              <a:t>0</a:t>
            </a:r>
            <a:endParaRPr lang="en-US" altLang="zh-CN" sz="2400" baseline="-25000" dirty="0">
              <a:latin typeface="Times New Roman" panose="02020603050405020304" pitchFamily="18" charset="0"/>
            </a:endParaRPr>
          </a:p>
        </p:txBody>
      </p:sp>
      <p:sp>
        <p:nvSpPr>
          <p:cNvPr id="647174" name="Text Box 6"/>
          <p:cNvSpPr txBox="1"/>
          <p:nvPr/>
        </p:nvSpPr>
        <p:spPr>
          <a:xfrm>
            <a:off x="1189038" y="3457575"/>
            <a:ext cx="471487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i="1" dirty="0">
                <a:latin typeface="Times New Roman" panose="02020603050405020304" pitchFamily="18" charset="0"/>
              </a:rPr>
              <a:t>T</a:t>
            </a:r>
            <a:r>
              <a:rPr lang="en-US" altLang="zh-CN" sz="2400" baseline="-25000" dirty="0">
                <a:latin typeface="Times New Roman" panose="02020603050405020304" pitchFamily="18" charset="0"/>
              </a:rPr>
              <a:t>1</a:t>
            </a:r>
            <a:endParaRPr lang="en-US" altLang="zh-CN" sz="2400" baseline="-25000" dirty="0">
              <a:latin typeface="Times New Roman" panose="02020603050405020304" pitchFamily="18" charset="0"/>
            </a:endParaRPr>
          </a:p>
        </p:txBody>
      </p:sp>
      <p:sp>
        <p:nvSpPr>
          <p:cNvPr id="647175" name="Text Box 7"/>
          <p:cNvSpPr txBox="1"/>
          <p:nvPr/>
        </p:nvSpPr>
        <p:spPr>
          <a:xfrm>
            <a:off x="1189038" y="3944938"/>
            <a:ext cx="471487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i="1" dirty="0">
                <a:latin typeface="Times New Roman" panose="02020603050405020304" pitchFamily="18" charset="0"/>
              </a:rPr>
              <a:t>T</a:t>
            </a:r>
            <a:r>
              <a:rPr lang="en-US" altLang="zh-CN" sz="2400" baseline="-25000" dirty="0">
                <a:latin typeface="Times New Roman" panose="02020603050405020304" pitchFamily="18" charset="0"/>
              </a:rPr>
              <a:t>2</a:t>
            </a:r>
            <a:endParaRPr lang="en-US" altLang="zh-CN" sz="2400" baseline="-25000" dirty="0">
              <a:latin typeface="Times New Roman" panose="02020603050405020304" pitchFamily="18" charset="0"/>
            </a:endParaRPr>
          </a:p>
        </p:txBody>
      </p:sp>
      <p:grpSp>
        <p:nvGrpSpPr>
          <p:cNvPr id="647176" name="Group 8"/>
          <p:cNvGrpSpPr/>
          <p:nvPr/>
        </p:nvGrpSpPr>
        <p:grpSpPr>
          <a:xfrm>
            <a:off x="1874838" y="2971800"/>
            <a:ext cx="1852612" cy="457200"/>
            <a:chOff x="1094" y="1887"/>
            <a:chExt cx="1167" cy="288"/>
          </a:xfrm>
        </p:grpSpPr>
        <p:sp>
          <p:nvSpPr>
            <p:cNvPr id="51239" name="Text Box 9"/>
            <p:cNvSpPr txBox="1"/>
            <p:nvPr/>
          </p:nvSpPr>
          <p:spPr>
            <a:xfrm>
              <a:off x="1094" y="1887"/>
              <a:ext cx="116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dirty="0">
                  <a:latin typeface="Times New Roman" panose="02020603050405020304" pitchFamily="18" charset="0"/>
                </a:rPr>
                <a:t>PC       MAR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51240" name="Line 10"/>
            <p:cNvSpPr/>
            <p:nvPr/>
          </p:nvSpPr>
          <p:spPr>
            <a:xfrm>
              <a:off x="1464" y="2031"/>
              <a:ext cx="24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647179" name="Group 11"/>
          <p:cNvGrpSpPr/>
          <p:nvPr/>
        </p:nvGrpSpPr>
        <p:grpSpPr>
          <a:xfrm>
            <a:off x="1874838" y="3503613"/>
            <a:ext cx="2894012" cy="457200"/>
            <a:chOff x="1094" y="2149"/>
            <a:chExt cx="1823" cy="288"/>
          </a:xfrm>
        </p:grpSpPr>
        <p:sp>
          <p:nvSpPr>
            <p:cNvPr id="51237" name="Text Box 12"/>
            <p:cNvSpPr txBox="1"/>
            <p:nvPr/>
          </p:nvSpPr>
          <p:spPr>
            <a:xfrm>
              <a:off x="1094" y="2149"/>
              <a:ext cx="1823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dirty="0">
                  <a:latin typeface="Times New Roman" panose="02020603050405020304" pitchFamily="18" charset="0"/>
                </a:rPr>
                <a:t>M ( MAR )       MDR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51238" name="Line 13"/>
            <p:cNvSpPr/>
            <p:nvPr/>
          </p:nvSpPr>
          <p:spPr>
            <a:xfrm>
              <a:off x="2112" y="2293"/>
              <a:ext cx="24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647182" name="Group 14"/>
          <p:cNvGrpSpPr/>
          <p:nvPr/>
        </p:nvGrpSpPr>
        <p:grpSpPr>
          <a:xfrm>
            <a:off x="4999038" y="3503613"/>
            <a:ext cx="2516187" cy="457200"/>
            <a:chOff x="3062" y="2149"/>
            <a:chExt cx="1585" cy="288"/>
          </a:xfrm>
        </p:grpSpPr>
        <p:sp>
          <p:nvSpPr>
            <p:cNvPr id="51235" name="Text Box 15"/>
            <p:cNvSpPr txBox="1"/>
            <p:nvPr/>
          </p:nvSpPr>
          <p:spPr>
            <a:xfrm>
              <a:off x="3062" y="2149"/>
              <a:ext cx="158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400" dirty="0">
                  <a:latin typeface="Times New Roman" panose="02020603050405020304" pitchFamily="18" charset="0"/>
                </a:rPr>
                <a:t>( 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PC ) + 1         PC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51236" name="Line 16"/>
            <p:cNvSpPr/>
            <p:nvPr/>
          </p:nvSpPr>
          <p:spPr>
            <a:xfrm>
              <a:off x="3984" y="2293"/>
              <a:ext cx="24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647185" name="Group 17"/>
          <p:cNvGrpSpPr/>
          <p:nvPr/>
        </p:nvGrpSpPr>
        <p:grpSpPr>
          <a:xfrm>
            <a:off x="1874838" y="4011613"/>
            <a:ext cx="1785937" cy="457200"/>
            <a:chOff x="1142" y="2511"/>
            <a:chExt cx="1125" cy="288"/>
          </a:xfrm>
        </p:grpSpPr>
        <p:sp>
          <p:nvSpPr>
            <p:cNvPr id="51233" name="Text Box 18"/>
            <p:cNvSpPr txBox="1"/>
            <p:nvPr/>
          </p:nvSpPr>
          <p:spPr>
            <a:xfrm>
              <a:off x="1142" y="2511"/>
              <a:ext cx="112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dirty="0">
                  <a:latin typeface="Times New Roman" panose="02020603050405020304" pitchFamily="18" charset="0"/>
                </a:rPr>
                <a:t>MDR       IR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51234" name="Line 19"/>
            <p:cNvSpPr/>
            <p:nvPr/>
          </p:nvSpPr>
          <p:spPr>
            <a:xfrm>
              <a:off x="1728" y="2652"/>
              <a:ext cx="24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647188" name="Group 20"/>
          <p:cNvGrpSpPr/>
          <p:nvPr/>
        </p:nvGrpSpPr>
        <p:grpSpPr>
          <a:xfrm>
            <a:off x="4706938" y="4011613"/>
            <a:ext cx="4056062" cy="457200"/>
            <a:chOff x="1142" y="2847"/>
            <a:chExt cx="2555" cy="288"/>
          </a:xfrm>
        </p:grpSpPr>
        <p:sp>
          <p:nvSpPr>
            <p:cNvPr id="51231" name="Text Box 21"/>
            <p:cNvSpPr txBox="1"/>
            <p:nvPr/>
          </p:nvSpPr>
          <p:spPr>
            <a:xfrm>
              <a:off x="1142" y="2847"/>
              <a:ext cx="255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dirty="0">
                  <a:latin typeface="Times New Roman" panose="02020603050405020304" pitchFamily="18" charset="0"/>
                </a:rPr>
                <a:t>OP ( IR )       </a:t>
              </a:r>
              <a:r>
                <a:rPr lang="zh-CN" altLang="en-US" sz="2400" dirty="0">
                  <a:latin typeface="Times New Roman" panose="02020603050405020304" pitchFamily="18" charset="0"/>
                </a:rPr>
                <a:t>微地址形成部件</a:t>
              </a:r>
              <a:endParaRPr lang="zh-CN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51232" name="Line 22"/>
            <p:cNvSpPr/>
            <p:nvPr/>
          </p:nvSpPr>
          <p:spPr>
            <a:xfrm>
              <a:off x="2016" y="2999"/>
              <a:ext cx="24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sp>
        <p:nvSpPr>
          <p:cNvPr id="51214" name="Text Box 23"/>
          <p:cNvSpPr txBox="1"/>
          <p:nvPr/>
        </p:nvSpPr>
        <p:spPr>
          <a:xfrm>
            <a:off x="203200" y="333375"/>
            <a:ext cx="74168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3600" dirty="0">
                <a:latin typeface="Verdana" panose="020B0604030504040204" pitchFamily="34" charset="0"/>
              </a:rPr>
              <a:t>九、微程序设计举例</a:t>
            </a:r>
            <a:endParaRPr lang="zh-CN" altLang="en-US" sz="3600" dirty="0">
              <a:latin typeface="Verdana" panose="020B0604030504040204" pitchFamily="34" charset="0"/>
            </a:endParaRPr>
          </a:p>
        </p:txBody>
      </p:sp>
      <p:grpSp>
        <p:nvGrpSpPr>
          <p:cNvPr id="647192" name="Group 24"/>
          <p:cNvGrpSpPr/>
          <p:nvPr/>
        </p:nvGrpSpPr>
        <p:grpSpPr>
          <a:xfrm>
            <a:off x="5081588" y="2971800"/>
            <a:ext cx="1090612" cy="457200"/>
            <a:chOff x="2630" y="1850"/>
            <a:chExt cx="687" cy="288"/>
          </a:xfrm>
        </p:grpSpPr>
        <p:sp>
          <p:nvSpPr>
            <p:cNvPr id="51229" name="Text Box 25"/>
            <p:cNvSpPr txBox="1"/>
            <p:nvPr/>
          </p:nvSpPr>
          <p:spPr>
            <a:xfrm>
              <a:off x="2630" y="1850"/>
              <a:ext cx="68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400" dirty="0">
                  <a:latin typeface="Times New Roman" panose="02020603050405020304" pitchFamily="18" charset="0"/>
                </a:rPr>
                <a:t>1       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R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51230" name="Line 26"/>
            <p:cNvSpPr/>
            <p:nvPr/>
          </p:nvSpPr>
          <p:spPr>
            <a:xfrm>
              <a:off x="2832" y="2016"/>
              <a:ext cx="240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647195" name="Group 27"/>
          <p:cNvGrpSpPr/>
          <p:nvPr/>
        </p:nvGrpSpPr>
        <p:grpSpPr>
          <a:xfrm>
            <a:off x="1295400" y="4510088"/>
            <a:ext cx="4524375" cy="1052512"/>
            <a:chOff x="823" y="3157"/>
            <a:chExt cx="2850" cy="663"/>
          </a:xfrm>
        </p:grpSpPr>
        <p:sp>
          <p:nvSpPr>
            <p:cNvPr id="51227" name="Text Box 28"/>
            <p:cNvSpPr txBox="1"/>
            <p:nvPr/>
          </p:nvSpPr>
          <p:spPr>
            <a:xfrm>
              <a:off x="823" y="3157"/>
              <a:ext cx="285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zh-CN" altLang="en-US" sz="2800" dirty="0">
                  <a:latin typeface="Verdana" panose="020B0604030504040204" pitchFamily="34" charset="0"/>
                </a:rPr>
                <a:t>若一个 </a:t>
              </a:r>
              <a:r>
                <a:rPr lang="en-US" altLang="zh-CN" sz="2800" i="1" dirty="0">
                  <a:latin typeface="Times New Roman" panose="02020603050405020304" pitchFamily="18" charset="0"/>
                </a:rPr>
                <a:t>T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 </a:t>
              </a:r>
              <a:r>
                <a:rPr lang="zh-CN" altLang="en-US" sz="2800" dirty="0">
                  <a:latin typeface="Verdana" panose="020B0604030504040204" pitchFamily="34" charset="0"/>
                </a:rPr>
                <a:t>内安排一条微指令</a:t>
              </a:r>
              <a:endParaRPr lang="zh-CN" altLang="en-US" sz="2800" dirty="0">
                <a:latin typeface="Verdana" panose="020B0604030504040204" pitchFamily="34" charset="0"/>
              </a:endParaRPr>
            </a:p>
          </p:txBody>
        </p:sp>
        <p:sp>
          <p:nvSpPr>
            <p:cNvPr id="51228" name="Text Box 29"/>
            <p:cNvSpPr txBox="1"/>
            <p:nvPr/>
          </p:nvSpPr>
          <p:spPr>
            <a:xfrm>
              <a:off x="823" y="3493"/>
              <a:ext cx="263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800" dirty="0">
                  <a:latin typeface="Verdana" panose="020B0604030504040204" pitchFamily="34" charset="0"/>
                </a:rPr>
                <a:t>则取指操作需 </a:t>
              </a:r>
              <a:r>
                <a:rPr lang="zh-CN" altLang="en-US" sz="28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3</a:t>
              </a:r>
              <a:r>
                <a:rPr lang="zh-CN" altLang="en-US" sz="2800" dirty="0">
                  <a:solidFill>
                    <a:schemeClr val="folHlink"/>
                  </a:solidFill>
                  <a:latin typeface="Verdana" panose="020B0604030504040204" pitchFamily="34" charset="0"/>
                </a:rPr>
                <a:t> 条微指令</a:t>
              </a:r>
              <a:endParaRPr lang="zh-CN" altLang="en-US" sz="2800" dirty="0">
                <a:solidFill>
                  <a:schemeClr val="folHlink"/>
                </a:solidFill>
                <a:latin typeface="Verdana" panose="020B0604030504040204" pitchFamily="34" charset="0"/>
              </a:endParaRPr>
            </a:p>
          </p:txBody>
        </p:sp>
      </p:grpSp>
      <p:sp>
        <p:nvSpPr>
          <p:cNvPr id="647198" name="Text Box 30"/>
          <p:cNvSpPr txBox="1"/>
          <p:nvPr/>
        </p:nvSpPr>
        <p:spPr>
          <a:xfrm>
            <a:off x="5257800" y="2362200"/>
            <a:ext cx="163830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400" dirty="0">
                <a:solidFill>
                  <a:schemeClr val="folHlink"/>
                </a:solidFill>
                <a:latin typeface="Times New Roman" panose="02020603050405020304" pitchFamily="18" charset="0"/>
              </a:rPr>
              <a:t>3 条微指令</a:t>
            </a:r>
            <a:endParaRPr lang="zh-CN" altLang="en-US" sz="24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647199" name="Group 31"/>
          <p:cNvGrpSpPr/>
          <p:nvPr/>
        </p:nvGrpSpPr>
        <p:grpSpPr>
          <a:xfrm>
            <a:off x="1306513" y="5268913"/>
            <a:ext cx="3438525" cy="457200"/>
            <a:chOff x="950" y="3530"/>
            <a:chExt cx="2166" cy="288"/>
          </a:xfrm>
        </p:grpSpPr>
        <p:sp>
          <p:nvSpPr>
            <p:cNvPr id="51225" name="Text Box 32"/>
            <p:cNvSpPr txBox="1"/>
            <p:nvPr/>
          </p:nvSpPr>
          <p:spPr>
            <a:xfrm>
              <a:off x="950" y="3530"/>
              <a:ext cx="216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dirty="0">
                  <a:latin typeface="Times New Roman" panose="02020603050405020304" pitchFamily="18" charset="0"/>
                </a:rPr>
                <a:t>Ad ( CMDR )       CMAR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51226" name="Line 33"/>
            <p:cNvSpPr/>
            <p:nvPr/>
          </p:nvSpPr>
          <p:spPr>
            <a:xfrm>
              <a:off x="2160" y="3696"/>
              <a:ext cx="28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647209" name="Group 41"/>
          <p:cNvGrpSpPr/>
          <p:nvPr/>
        </p:nvGrpSpPr>
        <p:grpSpPr>
          <a:xfrm>
            <a:off x="1306513" y="5943600"/>
            <a:ext cx="5614987" cy="457200"/>
            <a:chOff x="823" y="3744"/>
            <a:chExt cx="3537" cy="288"/>
          </a:xfrm>
        </p:grpSpPr>
        <p:sp>
          <p:nvSpPr>
            <p:cNvPr id="51222" name="Text Box 35"/>
            <p:cNvSpPr txBox="1"/>
            <p:nvPr/>
          </p:nvSpPr>
          <p:spPr>
            <a:xfrm>
              <a:off x="823" y="3744"/>
              <a:ext cx="353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dirty="0">
                  <a:latin typeface="Times New Roman" panose="02020603050405020304" pitchFamily="18" charset="0"/>
                </a:rPr>
                <a:t>OP ( IR )       </a:t>
              </a:r>
              <a:r>
                <a:rPr lang="zh-CN" altLang="en-US" sz="2400" dirty="0">
                  <a:latin typeface="Times New Roman" panose="02020603050405020304" pitchFamily="18" charset="0"/>
                </a:rPr>
                <a:t>微地址形成部件        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CMAR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51223" name="Line 36"/>
            <p:cNvSpPr/>
            <p:nvPr/>
          </p:nvSpPr>
          <p:spPr>
            <a:xfrm>
              <a:off x="1649" y="3901"/>
              <a:ext cx="313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51224" name="Line 37"/>
            <p:cNvSpPr/>
            <p:nvPr/>
          </p:nvSpPr>
          <p:spPr>
            <a:xfrm>
              <a:off x="3352" y="3901"/>
              <a:ext cx="313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sp>
        <p:nvSpPr>
          <p:cNvPr id="647207" name="Rectangle 39"/>
          <p:cNvSpPr>
            <a:spLocks noChangeArrowheads="1"/>
          </p:cNvSpPr>
          <p:nvPr/>
        </p:nvSpPr>
        <p:spPr bwMode="auto">
          <a:xfrm>
            <a:off x="7696200" y="152400"/>
            <a:ext cx="1447800" cy="838200"/>
          </a:xfrm>
          <a:prstGeom prst="rect">
            <a:avLst/>
          </a:prstGeom>
          <a:noFill/>
          <a:ln>
            <a:noFill/>
          </a:ln>
          <a:effectLst/>
        </p:spPr>
        <p:txBody>
          <a:bodyPr lIns="92075" tIns="46038" rIns="92075" bIns="46038" anchor="ctr"/>
          <a:lstStyle>
            <a:lvl1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10.2</a:t>
            </a:r>
            <a:endParaRPr kumimoji="1" lang="zh-CN" altLang="en-US" sz="4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1221" name="AutoShape 40">
            <a:hlinkClick r:id="rId1" action="ppaction://hlinksldjump"/>
          </p:cNvPr>
          <p:cNvSpPr/>
          <p:nvPr/>
        </p:nvSpPr>
        <p:spPr>
          <a:xfrm>
            <a:off x="8589963" y="6516688"/>
            <a:ext cx="539750" cy="333375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endParaRPr lang="zh-CN" altLang="en-US" dirty="0">
              <a:latin typeface="等线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4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47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47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47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47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47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647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647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647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647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647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647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64719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47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6471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6471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647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3" dur="500"/>
                                        <p:tgtEl>
                                          <p:spTgt spid="647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8" dur="500"/>
                                        <p:tgtEl>
                                          <p:spTgt spid="647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7206" grpId="0"/>
      <p:bldP spid="647170" grpId="0"/>
      <p:bldP spid="647171" grpId="0"/>
      <p:bldP spid="647172" grpId="0"/>
      <p:bldP spid="647173" grpId="0"/>
      <p:bldP spid="647174" grpId="0"/>
      <p:bldP spid="647175" grpId="0"/>
      <p:bldP spid="647198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2226" name="Text Box 2"/>
          <p:cNvSpPr txBox="1"/>
          <p:nvPr/>
        </p:nvSpPr>
        <p:spPr>
          <a:xfrm>
            <a:off x="381000" y="409575"/>
            <a:ext cx="6164263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3200" dirty="0">
                <a:latin typeface="Times New Roman" panose="02020603050405020304" pitchFamily="18" charset="0"/>
              </a:rPr>
              <a:t>(2)  取指阶段的微操作及节拍安排</a:t>
            </a:r>
            <a:endParaRPr lang="zh-CN" altLang="en-US" sz="3200" dirty="0">
              <a:latin typeface="Times New Roman" panose="02020603050405020304" pitchFamily="18" charset="0"/>
            </a:endParaRPr>
          </a:p>
        </p:txBody>
      </p:sp>
      <p:sp>
        <p:nvSpPr>
          <p:cNvPr id="648195" name="Text Box 3"/>
          <p:cNvSpPr txBox="1"/>
          <p:nvPr/>
        </p:nvSpPr>
        <p:spPr>
          <a:xfrm>
            <a:off x="1143000" y="1316038"/>
            <a:ext cx="48323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400" dirty="0">
                <a:latin typeface="Times New Roman" panose="02020603050405020304" pitchFamily="18" charset="0"/>
              </a:rPr>
              <a:t>考虑到需要 </a:t>
            </a:r>
            <a:r>
              <a:rPr lang="zh-CN" altLang="en-US" sz="2400" dirty="0">
                <a:solidFill>
                  <a:schemeClr val="folHlink"/>
                </a:solidFill>
                <a:latin typeface="Times New Roman" panose="02020603050405020304" pitchFamily="18" charset="0"/>
              </a:rPr>
              <a:t>形成后续微指令的地址</a:t>
            </a:r>
            <a:endParaRPr lang="zh-CN" altLang="en-US" sz="24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648196" name="Text Box 4"/>
          <p:cNvSpPr txBox="1"/>
          <p:nvPr/>
        </p:nvSpPr>
        <p:spPr>
          <a:xfrm>
            <a:off x="838200" y="2133600"/>
            <a:ext cx="47148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i="1" dirty="0">
                <a:latin typeface="Times New Roman" panose="02020603050405020304" pitchFamily="18" charset="0"/>
              </a:rPr>
              <a:t>T</a:t>
            </a:r>
            <a:r>
              <a:rPr lang="en-US" altLang="zh-CN" sz="2400" baseline="-25000" dirty="0">
                <a:latin typeface="Times New Roman" panose="02020603050405020304" pitchFamily="18" charset="0"/>
              </a:rPr>
              <a:t>0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648197" name="Text Box 5"/>
          <p:cNvSpPr txBox="1"/>
          <p:nvPr/>
        </p:nvSpPr>
        <p:spPr>
          <a:xfrm>
            <a:off x="838200" y="2787650"/>
            <a:ext cx="47148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i="1" dirty="0">
                <a:latin typeface="Times New Roman" panose="02020603050405020304" pitchFamily="18" charset="0"/>
              </a:rPr>
              <a:t>T</a:t>
            </a:r>
            <a:r>
              <a:rPr lang="en-US" altLang="zh-CN" sz="2400" baseline="-25000" dirty="0">
                <a:latin typeface="Times New Roman" panose="02020603050405020304" pitchFamily="18" charset="0"/>
              </a:rPr>
              <a:t>1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648198" name="Text Box 6"/>
          <p:cNvSpPr txBox="1"/>
          <p:nvPr/>
        </p:nvSpPr>
        <p:spPr>
          <a:xfrm>
            <a:off x="838200" y="3443288"/>
            <a:ext cx="47148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i="1" dirty="0">
                <a:latin typeface="Times New Roman" panose="02020603050405020304" pitchFamily="18" charset="0"/>
              </a:rPr>
              <a:t>T</a:t>
            </a:r>
            <a:r>
              <a:rPr lang="en-US" altLang="zh-CN" sz="2400" baseline="-25000" dirty="0">
                <a:latin typeface="Times New Roman" panose="02020603050405020304" pitchFamily="18" charset="0"/>
              </a:rPr>
              <a:t>2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648199" name="Text Box 7"/>
          <p:cNvSpPr txBox="1"/>
          <p:nvPr/>
        </p:nvSpPr>
        <p:spPr>
          <a:xfrm>
            <a:off x="838200" y="4098925"/>
            <a:ext cx="47148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i="1" dirty="0">
                <a:latin typeface="Times New Roman" panose="02020603050405020304" pitchFamily="18" charset="0"/>
              </a:rPr>
              <a:t>T</a:t>
            </a:r>
            <a:r>
              <a:rPr lang="en-US" altLang="zh-CN" sz="2400" baseline="-25000" dirty="0">
                <a:latin typeface="Times New Roman" panose="02020603050405020304" pitchFamily="18" charset="0"/>
              </a:rPr>
              <a:t>3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648200" name="Text Box 8"/>
          <p:cNvSpPr txBox="1"/>
          <p:nvPr/>
        </p:nvSpPr>
        <p:spPr>
          <a:xfrm>
            <a:off x="838200" y="4754563"/>
            <a:ext cx="47148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i="1" dirty="0">
                <a:latin typeface="Times New Roman" panose="02020603050405020304" pitchFamily="18" charset="0"/>
              </a:rPr>
              <a:t>T</a:t>
            </a:r>
            <a:r>
              <a:rPr lang="en-US" altLang="zh-CN" sz="2400" baseline="-25000" dirty="0">
                <a:latin typeface="Times New Roman" panose="02020603050405020304" pitchFamily="18" charset="0"/>
              </a:rPr>
              <a:t>4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648201" name="Text Box 9"/>
          <p:cNvSpPr txBox="1"/>
          <p:nvPr/>
        </p:nvSpPr>
        <p:spPr>
          <a:xfrm>
            <a:off x="838200" y="5410200"/>
            <a:ext cx="47148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i="1" dirty="0">
                <a:latin typeface="Times New Roman" panose="02020603050405020304" pitchFamily="18" charset="0"/>
              </a:rPr>
              <a:t>T</a:t>
            </a:r>
            <a:r>
              <a:rPr lang="en-US" altLang="zh-CN" sz="2400" baseline="-25000" dirty="0">
                <a:latin typeface="Times New Roman" panose="02020603050405020304" pitchFamily="18" charset="0"/>
              </a:rPr>
              <a:t>5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grpSp>
        <p:nvGrpSpPr>
          <p:cNvPr id="648202" name="Group 10"/>
          <p:cNvGrpSpPr/>
          <p:nvPr/>
        </p:nvGrpSpPr>
        <p:grpSpPr>
          <a:xfrm>
            <a:off x="4784725" y="2133600"/>
            <a:ext cx="1308100" cy="457200"/>
            <a:chOff x="2503" y="1722"/>
            <a:chExt cx="824" cy="288"/>
          </a:xfrm>
        </p:grpSpPr>
        <p:sp>
          <p:nvSpPr>
            <p:cNvPr id="52272" name="Text Box 11"/>
            <p:cNvSpPr txBox="1"/>
            <p:nvPr/>
          </p:nvSpPr>
          <p:spPr>
            <a:xfrm>
              <a:off x="2503" y="1722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400" dirty="0">
                  <a:latin typeface="Times New Roman" panose="02020603050405020304" pitchFamily="18" charset="0"/>
                </a:rPr>
                <a:t>1</a:t>
              </a:r>
              <a:endParaRPr lang="zh-CN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52273" name="Text Box 12"/>
            <p:cNvSpPr txBox="1"/>
            <p:nvPr/>
          </p:nvSpPr>
          <p:spPr>
            <a:xfrm>
              <a:off x="3072" y="1722"/>
              <a:ext cx="25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dirty="0">
                  <a:latin typeface="Times New Roman" panose="02020603050405020304" pitchFamily="18" charset="0"/>
                </a:rPr>
                <a:t>R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52274" name="Line 13"/>
            <p:cNvSpPr/>
            <p:nvPr/>
          </p:nvSpPr>
          <p:spPr>
            <a:xfrm>
              <a:off x="2736" y="1868"/>
              <a:ext cx="295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648206" name="Group 14"/>
          <p:cNvGrpSpPr/>
          <p:nvPr/>
        </p:nvGrpSpPr>
        <p:grpSpPr>
          <a:xfrm>
            <a:off x="4784725" y="3443288"/>
            <a:ext cx="2286000" cy="457200"/>
            <a:chOff x="2928" y="2352"/>
            <a:chExt cx="1440" cy="288"/>
          </a:xfrm>
        </p:grpSpPr>
        <p:sp>
          <p:nvSpPr>
            <p:cNvPr id="52269" name="Text Box 15"/>
            <p:cNvSpPr txBox="1"/>
            <p:nvPr/>
          </p:nvSpPr>
          <p:spPr>
            <a:xfrm>
              <a:off x="2928" y="2352"/>
              <a:ext cx="801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400" dirty="0">
                  <a:latin typeface="Times New Roman" panose="02020603050405020304" pitchFamily="18" charset="0"/>
                </a:rPr>
                <a:t>( 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PC )+1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52270" name="Text Box 16"/>
            <p:cNvSpPr txBox="1"/>
            <p:nvPr/>
          </p:nvSpPr>
          <p:spPr>
            <a:xfrm>
              <a:off x="3996" y="2352"/>
              <a:ext cx="37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dirty="0">
                  <a:latin typeface="Times New Roman" panose="02020603050405020304" pitchFamily="18" charset="0"/>
                </a:rPr>
                <a:t>PC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52271" name="Line 17"/>
            <p:cNvSpPr/>
            <p:nvPr/>
          </p:nvSpPr>
          <p:spPr>
            <a:xfrm>
              <a:off x="3689" y="2496"/>
              <a:ext cx="295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648210" name="Group 18"/>
          <p:cNvGrpSpPr/>
          <p:nvPr/>
        </p:nvGrpSpPr>
        <p:grpSpPr>
          <a:xfrm>
            <a:off x="4784725" y="4754563"/>
            <a:ext cx="3775075" cy="457200"/>
            <a:chOff x="2534" y="3050"/>
            <a:chExt cx="2378" cy="288"/>
          </a:xfrm>
        </p:grpSpPr>
        <p:sp>
          <p:nvSpPr>
            <p:cNvPr id="52266" name="Text Box 19"/>
            <p:cNvSpPr txBox="1"/>
            <p:nvPr/>
          </p:nvSpPr>
          <p:spPr>
            <a:xfrm>
              <a:off x="2534" y="3050"/>
              <a:ext cx="86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dirty="0">
                  <a:latin typeface="Times New Roman" panose="02020603050405020304" pitchFamily="18" charset="0"/>
                </a:rPr>
                <a:t>OP ( IR )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52267" name="Text Box 20"/>
            <p:cNvSpPr txBox="1"/>
            <p:nvPr/>
          </p:nvSpPr>
          <p:spPr>
            <a:xfrm>
              <a:off x="3669" y="3083"/>
              <a:ext cx="1243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微地址形成部件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52268" name="Line 21"/>
            <p:cNvSpPr/>
            <p:nvPr/>
          </p:nvSpPr>
          <p:spPr>
            <a:xfrm>
              <a:off x="3384" y="3216"/>
              <a:ext cx="295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648214" name="Group 22"/>
          <p:cNvGrpSpPr/>
          <p:nvPr/>
        </p:nvGrpSpPr>
        <p:grpSpPr>
          <a:xfrm>
            <a:off x="1660525" y="2133600"/>
            <a:ext cx="2071688" cy="457200"/>
            <a:chOff x="1046" y="1722"/>
            <a:chExt cx="1305" cy="288"/>
          </a:xfrm>
        </p:grpSpPr>
        <p:sp>
          <p:nvSpPr>
            <p:cNvPr id="52263" name="Text Box 23"/>
            <p:cNvSpPr txBox="1"/>
            <p:nvPr/>
          </p:nvSpPr>
          <p:spPr>
            <a:xfrm>
              <a:off x="1776" y="1722"/>
              <a:ext cx="57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dirty="0">
                  <a:latin typeface="Times New Roman" panose="02020603050405020304" pitchFamily="18" charset="0"/>
                </a:rPr>
                <a:t>MAR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52264" name="Line 24"/>
            <p:cNvSpPr/>
            <p:nvPr/>
          </p:nvSpPr>
          <p:spPr>
            <a:xfrm>
              <a:off x="1440" y="1868"/>
              <a:ext cx="295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52265" name="Text Box 25"/>
            <p:cNvSpPr txBox="1"/>
            <p:nvPr/>
          </p:nvSpPr>
          <p:spPr>
            <a:xfrm>
              <a:off x="1046" y="1722"/>
              <a:ext cx="37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dirty="0">
                  <a:latin typeface="Times New Roman" panose="02020603050405020304" pitchFamily="18" charset="0"/>
                </a:rPr>
                <a:t>PC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48218" name="Group 26"/>
          <p:cNvGrpSpPr/>
          <p:nvPr/>
        </p:nvGrpSpPr>
        <p:grpSpPr>
          <a:xfrm>
            <a:off x="1660525" y="2787650"/>
            <a:ext cx="3597275" cy="492125"/>
            <a:chOff x="1046" y="1756"/>
            <a:chExt cx="2266" cy="310"/>
          </a:xfrm>
        </p:grpSpPr>
        <p:sp>
          <p:nvSpPr>
            <p:cNvPr id="52260" name="Text Box 27"/>
            <p:cNvSpPr txBox="1"/>
            <p:nvPr/>
          </p:nvSpPr>
          <p:spPr>
            <a:xfrm>
              <a:off x="2598" y="1778"/>
              <a:ext cx="71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CMAR</a:t>
              </a:r>
              <a:endParaRPr lang="en-US" altLang="zh-CN" sz="24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2261" name="Line 28"/>
            <p:cNvSpPr/>
            <p:nvPr/>
          </p:nvSpPr>
          <p:spPr>
            <a:xfrm>
              <a:off x="2297" y="1922"/>
              <a:ext cx="295" cy="0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52262" name="Text Box 29"/>
            <p:cNvSpPr txBox="1"/>
            <p:nvPr/>
          </p:nvSpPr>
          <p:spPr>
            <a:xfrm>
              <a:off x="1046" y="1756"/>
              <a:ext cx="123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Ad ( CMDR )</a:t>
              </a:r>
              <a:endParaRPr lang="zh-CN" altLang="en-US" sz="2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48222" name="Group 30"/>
          <p:cNvGrpSpPr/>
          <p:nvPr/>
        </p:nvGrpSpPr>
        <p:grpSpPr>
          <a:xfrm>
            <a:off x="1660525" y="3443288"/>
            <a:ext cx="2987675" cy="457200"/>
            <a:chOff x="1046" y="2352"/>
            <a:chExt cx="1882" cy="288"/>
          </a:xfrm>
        </p:grpSpPr>
        <p:sp>
          <p:nvSpPr>
            <p:cNvPr id="52257" name="Text Box 31"/>
            <p:cNvSpPr txBox="1"/>
            <p:nvPr/>
          </p:nvSpPr>
          <p:spPr>
            <a:xfrm>
              <a:off x="2353" y="2352"/>
              <a:ext cx="57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dirty="0">
                  <a:latin typeface="Times New Roman" panose="02020603050405020304" pitchFamily="18" charset="0"/>
                </a:rPr>
                <a:t>MDR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52258" name="Line 32"/>
            <p:cNvSpPr/>
            <p:nvPr/>
          </p:nvSpPr>
          <p:spPr>
            <a:xfrm>
              <a:off x="2057" y="2518"/>
              <a:ext cx="295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52259" name="Text Box 33"/>
            <p:cNvSpPr txBox="1"/>
            <p:nvPr/>
          </p:nvSpPr>
          <p:spPr>
            <a:xfrm>
              <a:off x="1046" y="2352"/>
              <a:ext cx="102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dirty="0">
                  <a:latin typeface="Times New Roman" panose="02020603050405020304" pitchFamily="18" charset="0"/>
                </a:rPr>
                <a:t>M ( MAR )</a:t>
              </a:r>
              <a:endParaRPr lang="zh-CN" altLang="en-US" sz="24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48226" name="Group 34"/>
          <p:cNvGrpSpPr/>
          <p:nvPr/>
        </p:nvGrpSpPr>
        <p:grpSpPr>
          <a:xfrm>
            <a:off x="1660525" y="4098925"/>
            <a:ext cx="3597275" cy="457200"/>
            <a:chOff x="1046" y="2582"/>
            <a:chExt cx="2266" cy="288"/>
          </a:xfrm>
        </p:grpSpPr>
        <p:sp>
          <p:nvSpPr>
            <p:cNvPr id="52254" name="Text Box 35"/>
            <p:cNvSpPr txBox="1"/>
            <p:nvPr/>
          </p:nvSpPr>
          <p:spPr>
            <a:xfrm>
              <a:off x="2598" y="2582"/>
              <a:ext cx="71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CMAR</a:t>
              </a:r>
              <a:endParaRPr lang="en-US" altLang="zh-CN" sz="24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2255" name="Line 36"/>
            <p:cNvSpPr/>
            <p:nvPr/>
          </p:nvSpPr>
          <p:spPr>
            <a:xfrm>
              <a:off x="2297" y="2748"/>
              <a:ext cx="295" cy="0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52256" name="Text Box 37"/>
            <p:cNvSpPr txBox="1"/>
            <p:nvPr/>
          </p:nvSpPr>
          <p:spPr>
            <a:xfrm>
              <a:off x="1046" y="2582"/>
              <a:ext cx="123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Ad ( CMDR )</a:t>
              </a:r>
              <a:endParaRPr lang="zh-CN" altLang="en-US" sz="2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48230" name="Group 38"/>
          <p:cNvGrpSpPr/>
          <p:nvPr/>
        </p:nvGrpSpPr>
        <p:grpSpPr>
          <a:xfrm>
            <a:off x="1660525" y="4754563"/>
            <a:ext cx="1911350" cy="457200"/>
            <a:chOff x="1046" y="3050"/>
            <a:chExt cx="1204" cy="288"/>
          </a:xfrm>
        </p:grpSpPr>
        <p:sp>
          <p:nvSpPr>
            <p:cNvPr id="52251" name="Text Box 39"/>
            <p:cNvSpPr txBox="1"/>
            <p:nvPr/>
          </p:nvSpPr>
          <p:spPr>
            <a:xfrm>
              <a:off x="1920" y="3050"/>
              <a:ext cx="33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dirty="0">
                  <a:latin typeface="Times New Roman" panose="02020603050405020304" pitchFamily="18" charset="0"/>
                </a:rPr>
                <a:t>IR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52252" name="Line 40"/>
            <p:cNvSpPr/>
            <p:nvPr/>
          </p:nvSpPr>
          <p:spPr>
            <a:xfrm>
              <a:off x="1632" y="3216"/>
              <a:ext cx="295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52253" name="Text Box 41"/>
            <p:cNvSpPr txBox="1"/>
            <p:nvPr/>
          </p:nvSpPr>
          <p:spPr>
            <a:xfrm>
              <a:off x="1046" y="3050"/>
              <a:ext cx="57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dirty="0">
                  <a:latin typeface="Times New Roman" panose="02020603050405020304" pitchFamily="18" charset="0"/>
                </a:rPr>
                <a:t>MDR</a:t>
              </a:r>
              <a:endParaRPr lang="zh-CN" altLang="en-US" sz="24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648234" name="Rectangle 42"/>
          <p:cNvSpPr>
            <a:spLocks noChangeArrowheads="1"/>
          </p:cNvSpPr>
          <p:nvPr/>
        </p:nvSpPr>
        <p:spPr bwMode="auto">
          <a:xfrm>
            <a:off x="7696200" y="152400"/>
            <a:ext cx="1447800" cy="838200"/>
          </a:xfrm>
          <a:prstGeom prst="rect">
            <a:avLst/>
          </a:prstGeom>
          <a:noFill/>
          <a:ln>
            <a:noFill/>
          </a:ln>
          <a:effectLst/>
        </p:spPr>
        <p:txBody>
          <a:bodyPr lIns="92075" tIns="46038" rIns="92075" bIns="46038" anchor="ctr"/>
          <a:lstStyle>
            <a:lvl1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10.2</a:t>
            </a:r>
            <a:endParaRPr kumimoji="1" lang="zh-CN" altLang="en-US" sz="4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648235" name="Group 43"/>
          <p:cNvGrpSpPr/>
          <p:nvPr/>
        </p:nvGrpSpPr>
        <p:grpSpPr>
          <a:xfrm>
            <a:off x="1660525" y="5451475"/>
            <a:ext cx="5340350" cy="457200"/>
            <a:chOff x="1046" y="3434"/>
            <a:chExt cx="3364" cy="288"/>
          </a:xfrm>
        </p:grpSpPr>
        <p:sp>
          <p:nvSpPr>
            <p:cNvPr id="52245" name="Text Box 44"/>
            <p:cNvSpPr txBox="1"/>
            <p:nvPr/>
          </p:nvSpPr>
          <p:spPr>
            <a:xfrm>
              <a:off x="3696" y="3434"/>
              <a:ext cx="71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CMAR</a:t>
              </a:r>
              <a:endParaRPr lang="en-US" altLang="zh-CN" sz="24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2246" name="Line 45"/>
            <p:cNvSpPr/>
            <p:nvPr/>
          </p:nvSpPr>
          <p:spPr>
            <a:xfrm>
              <a:off x="3424" y="3587"/>
              <a:ext cx="295" cy="0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headEnd type="none" w="med" len="med"/>
              <a:tailEnd type="stealth" w="med" len="med"/>
            </a:ln>
          </p:spPr>
        </p:sp>
        <p:grpSp>
          <p:nvGrpSpPr>
            <p:cNvPr id="52247" name="Group 46"/>
            <p:cNvGrpSpPr/>
            <p:nvPr/>
          </p:nvGrpSpPr>
          <p:grpSpPr>
            <a:xfrm>
              <a:off x="1046" y="3434"/>
              <a:ext cx="2390" cy="288"/>
              <a:chOff x="1046" y="3434"/>
              <a:chExt cx="2390" cy="288"/>
            </a:xfrm>
          </p:grpSpPr>
          <p:sp>
            <p:nvSpPr>
              <p:cNvPr id="52248" name="Line 47"/>
              <p:cNvSpPr/>
              <p:nvPr/>
            </p:nvSpPr>
            <p:spPr>
              <a:xfrm>
                <a:off x="1905" y="3587"/>
                <a:ext cx="295" cy="0"/>
              </a:xfrm>
              <a:prstGeom prst="line">
                <a:avLst/>
              </a:prstGeom>
              <a:ln w="28575" cap="flat" cmpd="sng">
                <a:solidFill>
                  <a:schemeClr val="folHlink"/>
                </a:solidFill>
                <a:prstDash val="solid"/>
                <a:headEnd type="none" w="med" len="med"/>
                <a:tailEnd type="stealth" w="med" len="med"/>
              </a:ln>
            </p:spPr>
          </p:sp>
          <p:sp>
            <p:nvSpPr>
              <p:cNvPr id="52249" name="Text Box 48"/>
              <p:cNvSpPr txBox="1"/>
              <p:nvPr/>
            </p:nvSpPr>
            <p:spPr>
              <a:xfrm>
                <a:off x="1046" y="3434"/>
                <a:ext cx="868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sz="2400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OP ( IR )</a:t>
                </a:r>
                <a:endParaRPr lang="zh-CN" altLang="en-US" sz="2000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52250" name="Text Box 49"/>
              <p:cNvSpPr txBox="1"/>
              <p:nvPr/>
            </p:nvSpPr>
            <p:spPr>
              <a:xfrm>
                <a:off x="2200" y="3454"/>
                <a:ext cx="1236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zh-CN" altLang="en-US" sz="2000" dirty="0">
                    <a:solidFill>
                      <a:schemeClr val="folHlink"/>
                    </a:solidFill>
                    <a:latin typeface="Times New Roman" panose="02020603050405020304" pitchFamily="18" charset="0"/>
                  </a:rPr>
                  <a:t>微地址形成部件</a:t>
                </a:r>
                <a:endParaRPr lang="zh-CN" altLang="en-US" sz="2000" dirty="0">
                  <a:solidFill>
                    <a:schemeClr val="folHlink"/>
                  </a:solidFill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52244" name="AutoShape 50">
            <a:hlinkClick r:id="rId1" action="ppaction://hlinksldjump"/>
          </p:cNvPr>
          <p:cNvSpPr/>
          <p:nvPr/>
        </p:nvSpPr>
        <p:spPr>
          <a:xfrm>
            <a:off x="8589963" y="6516688"/>
            <a:ext cx="539750" cy="333375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endParaRPr lang="zh-CN" altLang="en-US" dirty="0">
              <a:latin typeface="等线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48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48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48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48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48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48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648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648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648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648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648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648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648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648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648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648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8195" grpId="0"/>
      <p:bldP spid="648196" grpId="0"/>
      <p:bldP spid="648197" grpId="0"/>
      <p:bldP spid="648198" grpId="0"/>
      <p:bldP spid="648199" grpId="0"/>
      <p:bldP spid="648200" grpId="0"/>
      <p:bldP spid="648201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3250" name="Text Box 2"/>
          <p:cNvSpPr txBox="1"/>
          <p:nvPr/>
        </p:nvSpPr>
        <p:spPr>
          <a:xfrm>
            <a:off x="304800" y="206375"/>
            <a:ext cx="6164263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3200" dirty="0">
                <a:latin typeface="Times New Roman" panose="02020603050405020304" pitchFamily="18" charset="0"/>
              </a:rPr>
              <a:t>(3)  执行阶段的微操作及节拍安排</a:t>
            </a:r>
            <a:endParaRPr lang="zh-CN" altLang="en-US" sz="3200" dirty="0">
              <a:latin typeface="Times New Roman" panose="02020603050405020304" pitchFamily="18" charset="0"/>
            </a:endParaRPr>
          </a:p>
        </p:txBody>
      </p:sp>
      <p:sp>
        <p:nvSpPr>
          <p:cNvPr id="649219" name="Text Box 3"/>
          <p:cNvSpPr txBox="1"/>
          <p:nvPr/>
        </p:nvSpPr>
        <p:spPr>
          <a:xfrm>
            <a:off x="1524000" y="1004888"/>
            <a:ext cx="5162550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</a:rPr>
              <a:t>考虑到需形成后续微指令的地址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649220" name="AutoShape 4"/>
          <p:cNvSpPr/>
          <p:nvPr/>
        </p:nvSpPr>
        <p:spPr>
          <a:xfrm>
            <a:off x="5081588" y="1993900"/>
            <a:ext cx="3603625" cy="842963"/>
          </a:xfrm>
          <a:prstGeom prst="wedgeRoundRectCallout">
            <a:avLst>
              <a:gd name="adj1" fmla="val -50968"/>
              <a:gd name="adj2" fmla="val -115074"/>
              <a:gd name="adj3" fmla="val 16667"/>
            </a:avLst>
          </a:prstGeom>
          <a:noFill/>
          <a:ln w="28575" cap="flat" cmpd="sng">
            <a:solidFill>
              <a:schemeClr val="fol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p>
            <a:pPr eaLnBrk="1" hangingPunct="1"/>
            <a:r>
              <a:rPr lang="zh-CN" altLang="en-US" sz="2200" dirty="0">
                <a:latin typeface="Times New Roman" panose="02020603050405020304" pitchFamily="18" charset="0"/>
              </a:rPr>
              <a:t>取指微程序的入口地址 </a:t>
            </a:r>
            <a:r>
              <a:rPr lang="en-US" altLang="zh-CN" sz="2200" dirty="0">
                <a:latin typeface="Times New Roman" panose="02020603050405020304" pitchFamily="18" charset="0"/>
              </a:rPr>
              <a:t>M</a:t>
            </a:r>
            <a:endParaRPr lang="en-US" altLang="zh-CN" sz="2200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sz="2200" dirty="0">
                <a:latin typeface="Times New Roman" panose="02020603050405020304" pitchFamily="18" charset="0"/>
              </a:rPr>
              <a:t>由微指令下地址字段指出</a:t>
            </a:r>
            <a:endParaRPr lang="zh-CN" altLang="en-US" sz="2200" dirty="0">
              <a:latin typeface="Times New Roman" panose="02020603050405020304" pitchFamily="18" charset="0"/>
            </a:endParaRPr>
          </a:p>
        </p:txBody>
      </p:sp>
      <p:sp>
        <p:nvSpPr>
          <p:cNvPr id="649221" name="Text Box 5"/>
          <p:cNvSpPr txBox="1"/>
          <p:nvPr/>
        </p:nvSpPr>
        <p:spPr>
          <a:xfrm>
            <a:off x="1143000" y="2376488"/>
            <a:ext cx="2263775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•</a:t>
            </a: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en-US" sz="2800" dirty="0">
                <a:latin typeface="Times New Roman" panose="02020603050405020304" pitchFamily="18" charset="0"/>
              </a:rPr>
              <a:t>非访存指令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649222" name="Text Box 6"/>
          <p:cNvSpPr txBox="1"/>
          <p:nvPr/>
        </p:nvSpPr>
        <p:spPr>
          <a:xfrm>
            <a:off x="1392238" y="3025775"/>
            <a:ext cx="2874962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495300" indent="-495300" eaLnBrk="1" hangingPunct="1"/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①  CLA 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指令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49223" name="Text Box 7"/>
          <p:cNvSpPr txBox="1"/>
          <p:nvPr/>
        </p:nvSpPr>
        <p:spPr>
          <a:xfrm>
            <a:off x="2295525" y="3494088"/>
            <a:ext cx="47148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i="1" dirty="0">
                <a:latin typeface="Times New Roman" panose="02020603050405020304" pitchFamily="18" charset="0"/>
              </a:rPr>
              <a:t>T</a:t>
            </a:r>
            <a:r>
              <a:rPr lang="en-US" altLang="zh-CN" sz="2400" baseline="-25000" dirty="0">
                <a:latin typeface="Times New Roman" panose="02020603050405020304" pitchFamily="18" charset="0"/>
              </a:rPr>
              <a:t>0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649224" name="Text Box 8"/>
          <p:cNvSpPr txBox="1"/>
          <p:nvPr/>
        </p:nvSpPr>
        <p:spPr>
          <a:xfrm>
            <a:off x="2295525" y="3962400"/>
            <a:ext cx="47148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i="1" dirty="0">
                <a:latin typeface="Times New Roman" panose="02020603050405020304" pitchFamily="18" charset="0"/>
              </a:rPr>
              <a:t>T</a:t>
            </a:r>
            <a:r>
              <a:rPr lang="en-US" altLang="zh-CN" sz="2400" baseline="-25000" dirty="0">
                <a:latin typeface="Times New Roman" panose="02020603050405020304" pitchFamily="18" charset="0"/>
              </a:rPr>
              <a:t>1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649225" name="Text Box 9"/>
          <p:cNvSpPr txBox="1"/>
          <p:nvPr/>
        </p:nvSpPr>
        <p:spPr>
          <a:xfrm>
            <a:off x="1392238" y="4779963"/>
            <a:ext cx="2951162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495300" indent="-495300" eaLnBrk="1" hangingPunct="1"/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②  COM 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指令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49226" name="Text Box 10"/>
          <p:cNvSpPr txBox="1"/>
          <p:nvPr/>
        </p:nvSpPr>
        <p:spPr>
          <a:xfrm>
            <a:off x="2295525" y="5246688"/>
            <a:ext cx="47148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i="1" dirty="0">
                <a:latin typeface="Times New Roman" panose="02020603050405020304" pitchFamily="18" charset="0"/>
              </a:rPr>
              <a:t>T</a:t>
            </a:r>
            <a:r>
              <a:rPr lang="en-US" altLang="zh-CN" sz="2400" baseline="-25000" dirty="0">
                <a:latin typeface="Times New Roman" panose="02020603050405020304" pitchFamily="18" charset="0"/>
              </a:rPr>
              <a:t>0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649227" name="Text Box 11"/>
          <p:cNvSpPr txBox="1"/>
          <p:nvPr/>
        </p:nvSpPr>
        <p:spPr>
          <a:xfrm>
            <a:off x="2295525" y="5715000"/>
            <a:ext cx="47148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i="1" dirty="0">
                <a:latin typeface="Times New Roman" panose="02020603050405020304" pitchFamily="18" charset="0"/>
              </a:rPr>
              <a:t>T</a:t>
            </a:r>
            <a:r>
              <a:rPr lang="en-US" altLang="zh-CN" sz="2400" baseline="-25000" dirty="0">
                <a:latin typeface="Times New Roman" panose="02020603050405020304" pitchFamily="18" charset="0"/>
              </a:rPr>
              <a:t>1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grpSp>
        <p:nvGrpSpPr>
          <p:cNvPr id="649247" name="Group 31"/>
          <p:cNvGrpSpPr/>
          <p:nvPr/>
        </p:nvGrpSpPr>
        <p:grpSpPr>
          <a:xfrm>
            <a:off x="2990850" y="5715000"/>
            <a:ext cx="3521075" cy="457200"/>
            <a:chOff x="1884" y="3600"/>
            <a:chExt cx="2218" cy="288"/>
          </a:xfrm>
        </p:grpSpPr>
        <p:sp>
          <p:nvSpPr>
            <p:cNvPr id="53276" name="Text Box 13"/>
            <p:cNvSpPr txBox="1"/>
            <p:nvPr/>
          </p:nvSpPr>
          <p:spPr>
            <a:xfrm>
              <a:off x="1884" y="3600"/>
              <a:ext cx="123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Ad ( CMDR )</a:t>
              </a:r>
              <a:endParaRPr lang="en-US" altLang="zh-CN" sz="24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3277" name="Text Box 14"/>
            <p:cNvSpPr txBox="1"/>
            <p:nvPr/>
          </p:nvSpPr>
          <p:spPr>
            <a:xfrm>
              <a:off x="3388" y="3600"/>
              <a:ext cx="71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CMAR</a:t>
              </a:r>
              <a:endParaRPr lang="en-US" altLang="zh-CN" sz="24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3278" name="Line 15"/>
            <p:cNvSpPr/>
            <p:nvPr/>
          </p:nvSpPr>
          <p:spPr>
            <a:xfrm>
              <a:off x="3117" y="3747"/>
              <a:ext cx="295" cy="0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649232" name="Group 16"/>
          <p:cNvGrpSpPr/>
          <p:nvPr/>
        </p:nvGrpSpPr>
        <p:grpSpPr>
          <a:xfrm>
            <a:off x="2990850" y="5246688"/>
            <a:ext cx="1784350" cy="457200"/>
            <a:chOff x="1884" y="3305"/>
            <a:chExt cx="1124" cy="288"/>
          </a:xfrm>
        </p:grpSpPr>
        <p:sp>
          <p:nvSpPr>
            <p:cNvPr id="53272" name="Text Box 17"/>
            <p:cNvSpPr txBox="1"/>
            <p:nvPr/>
          </p:nvSpPr>
          <p:spPr>
            <a:xfrm>
              <a:off x="1884" y="3305"/>
              <a:ext cx="39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dirty="0">
                  <a:latin typeface="Times New Roman" panose="02020603050405020304" pitchFamily="18" charset="0"/>
                </a:rPr>
                <a:t>AC</a:t>
              </a:r>
              <a:endParaRPr lang="zh-CN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53273" name="Line 18"/>
            <p:cNvSpPr/>
            <p:nvPr/>
          </p:nvSpPr>
          <p:spPr>
            <a:xfrm>
              <a:off x="2278" y="3453"/>
              <a:ext cx="295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53274" name="Text Box 19"/>
            <p:cNvSpPr txBox="1"/>
            <p:nvPr/>
          </p:nvSpPr>
          <p:spPr>
            <a:xfrm>
              <a:off x="2614" y="3305"/>
              <a:ext cx="39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dirty="0">
                  <a:latin typeface="Times New Roman" panose="02020603050405020304" pitchFamily="18" charset="0"/>
                </a:rPr>
                <a:t>AC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53275" name="Line 20"/>
            <p:cNvSpPr/>
            <p:nvPr/>
          </p:nvSpPr>
          <p:spPr>
            <a:xfrm>
              <a:off x="1960" y="3333"/>
              <a:ext cx="249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649237" name="Group 21"/>
          <p:cNvGrpSpPr/>
          <p:nvPr/>
        </p:nvGrpSpPr>
        <p:grpSpPr>
          <a:xfrm>
            <a:off x="2990850" y="3962400"/>
            <a:ext cx="3581400" cy="457200"/>
            <a:chOff x="1884" y="1982"/>
            <a:chExt cx="2256" cy="288"/>
          </a:xfrm>
        </p:grpSpPr>
        <p:sp>
          <p:nvSpPr>
            <p:cNvPr id="53269" name="Text Box 22"/>
            <p:cNvSpPr txBox="1"/>
            <p:nvPr/>
          </p:nvSpPr>
          <p:spPr>
            <a:xfrm>
              <a:off x="3426" y="1982"/>
              <a:ext cx="71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CMAR</a:t>
              </a:r>
              <a:endParaRPr lang="en-US" altLang="zh-CN" sz="24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3270" name="Line 23"/>
            <p:cNvSpPr/>
            <p:nvPr/>
          </p:nvSpPr>
          <p:spPr>
            <a:xfrm>
              <a:off x="3125" y="2142"/>
              <a:ext cx="295" cy="0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53271" name="Text Box 24"/>
            <p:cNvSpPr txBox="1"/>
            <p:nvPr/>
          </p:nvSpPr>
          <p:spPr>
            <a:xfrm>
              <a:off x="1884" y="1982"/>
              <a:ext cx="123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Ad ( CMDR )</a:t>
              </a:r>
              <a:endParaRPr lang="zh-CN" altLang="en-US" sz="2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49241" name="Group 25"/>
          <p:cNvGrpSpPr/>
          <p:nvPr/>
        </p:nvGrpSpPr>
        <p:grpSpPr>
          <a:xfrm>
            <a:off x="2990850" y="3494088"/>
            <a:ext cx="1403350" cy="457200"/>
            <a:chOff x="1670" y="1728"/>
            <a:chExt cx="884" cy="288"/>
          </a:xfrm>
        </p:grpSpPr>
        <p:sp>
          <p:nvSpPr>
            <p:cNvPr id="53266" name="Text Box 26"/>
            <p:cNvSpPr txBox="1"/>
            <p:nvPr/>
          </p:nvSpPr>
          <p:spPr>
            <a:xfrm>
              <a:off x="2160" y="1728"/>
              <a:ext cx="39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dirty="0">
                  <a:latin typeface="Times New Roman" panose="02020603050405020304" pitchFamily="18" charset="0"/>
                </a:rPr>
                <a:t>AC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53267" name="Line 27"/>
            <p:cNvSpPr/>
            <p:nvPr/>
          </p:nvSpPr>
          <p:spPr>
            <a:xfrm>
              <a:off x="1872" y="1872"/>
              <a:ext cx="295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53268" name="Text Box 28"/>
            <p:cNvSpPr txBox="1"/>
            <p:nvPr/>
          </p:nvSpPr>
          <p:spPr>
            <a:xfrm>
              <a:off x="1670" y="1728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dirty="0">
                  <a:latin typeface="Times New Roman" panose="02020603050405020304" pitchFamily="18" charset="0"/>
                </a:rPr>
                <a:t>0</a:t>
              </a:r>
              <a:endParaRPr lang="zh-CN" altLang="en-US" sz="24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649245" name="Rectangle 29"/>
          <p:cNvSpPr>
            <a:spLocks noChangeArrowheads="1"/>
          </p:cNvSpPr>
          <p:nvPr/>
        </p:nvSpPr>
        <p:spPr bwMode="auto">
          <a:xfrm>
            <a:off x="7696200" y="152400"/>
            <a:ext cx="1447800" cy="838200"/>
          </a:xfrm>
          <a:prstGeom prst="rect">
            <a:avLst/>
          </a:prstGeom>
          <a:noFill/>
          <a:ln>
            <a:noFill/>
          </a:ln>
          <a:effectLst/>
        </p:spPr>
        <p:txBody>
          <a:bodyPr lIns="92075" tIns="46038" rIns="92075" bIns="46038" anchor="ctr"/>
          <a:lstStyle>
            <a:lvl1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10.2</a:t>
            </a:r>
            <a:endParaRPr kumimoji="1" lang="zh-CN" altLang="en-US" sz="4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3265" name="AutoShape 30">
            <a:hlinkClick r:id="rId1" action="ppaction://hlinksldjump"/>
          </p:cNvPr>
          <p:cNvSpPr/>
          <p:nvPr/>
        </p:nvSpPr>
        <p:spPr>
          <a:xfrm>
            <a:off x="8589963" y="6516688"/>
            <a:ext cx="539750" cy="333375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endParaRPr lang="zh-CN" altLang="en-US" dirty="0">
              <a:latin typeface="等线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49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49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49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49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49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49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649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649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649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649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649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649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649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9219" grpId="0"/>
      <p:bldP spid="649220" grpId="0" animBg="1"/>
      <p:bldP spid="649221" grpId="0"/>
      <p:bldP spid="649222" grpId="0"/>
      <p:bldP spid="649223" grpId="0"/>
      <p:bldP spid="649224" grpId="0"/>
      <p:bldP spid="649225" grpId="0"/>
      <p:bldP spid="649226" grpId="0"/>
      <p:bldP spid="649227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50242" name="Text Box 2"/>
          <p:cNvSpPr txBox="1"/>
          <p:nvPr/>
        </p:nvSpPr>
        <p:spPr>
          <a:xfrm>
            <a:off x="1066800" y="2430463"/>
            <a:ext cx="28956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495300" indent="-495300" eaLnBrk="1" hangingPunct="1"/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④  CSL 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指令</a:t>
            </a:r>
            <a:endParaRPr lang="zh-CN" altLang="en-US" sz="2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50243" name="Text Box 3"/>
          <p:cNvSpPr txBox="1"/>
          <p:nvPr/>
        </p:nvSpPr>
        <p:spPr>
          <a:xfrm>
            <a:off x="1676400" y="3078163"/>
            <a:ext cx="47148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i="1" dirty="0">
                <a:latin typeface="Times New Roman" panose="02020603050405020304" pitchFamily="18" charset="0"/>
              </a:rPr>
              <a:t>T</a:t>
            </a:r>
            <a:r>
              <a:rPr lang="en-US" altLang="zh-CN" sz="2400" baseline="-25000" dirty="0">
                <a:latin typeface="Times New Roman" panose="02020603050405020304" pitchFamily="18" charset="0"/>
              </a:rPr>
              <a:t>0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650244" name="Text Box 4"/>
          <p:cNvSpPr txBox="1"/>
          <p:nvPr/>
        </p:nvSpPr>
        <p:spPr>
          <a:xfrm>
            <a:off x="1676400" y="3663950"/>
            <a:ext cx="47148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i="1" dirty="0">
                <a:latin typeface="Times New Roman" panose="02020603050405020304" pitchFamily="18" charset="0"/>
              </a:rPr>
              <a:t>T</a:t>
            </a:r>
            <a:r>
              <a:rPr lang="en-US" altLang="zh-CN" sz="2400" baseline="-25000" dirty="0">
                <a:latin typeface="Times New Roman" panose="02020603050405020304" pitchFamily="18" charset="0"/>
              </a:rPr>
              <a:t>1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650245" name="Text Box 5"/>
          <p:cNvSpPr txBox="1"/>
          <p:nvPr/>
        </p:nvSpPr>
        <p:spPr>
          <a:xfrm>
            <a:off x="1066800" y="4403725"/>
            <a:ext cx="31242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495300" indent="-495300" eaLnBrk="1" hangingPunct="1"/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⑤  STP 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指令</a:t>
            </a:r>
            <a:endParaRPr lang="zh-CN" altLang="en-US" sz="2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50246" name="Text Box 6"/>
          <p:cNvSpPr txBox="1"/>
          <p:nvPr/>
        </p:nvSpPr>
        <p:spPr>
          <a:xfrm>
            <a:off x="1676400" y="5638800"/>
            <a:ext cx="47148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i="1" dirty="0">
                <a:latin typeface="Times New Roman" panose="02020603050405020304" pitchFamily="18" charset="0"/>
              </a:rPr>
              <a:t>T</a:t>
            </a:r>
            <a:r>
              <a:rPr lang="en-US" altLang="zh-CN" sz="2400" baseline="-25000" dirty="0">
                <a:latin typeface="Times New Roman" panose="02020603050405020304" pitchFamily="18" charset="0"/>
              </a:rPr>
              <a:t>1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grpSp>
        <p:nvGrpSpPr>
          <p:cNvPr id="650247" name="Group 7"/>
          <p:cNvGrpSpPr/>
          <p:nvPr/>
        </p:nvGrpSpPr>
        <p:grpSpPr>
          <a:xfrm>
            <a:off x="2574925" y="3663950"/>
            <a:ext cx="3597275" cy="457200"/>
            <a:chOff x="1622" y="2308"/>
            <a:chExt cx="2266" cy="288"/>
          </a:xfrm>
        </p:grpSpPr>
        <p:sp>
          <p:nvSpPr>
            <p:cNvPr id="54314" name="Text Box 8"/>
            <p:cNvSpPr txBox="1"/>
            <p:nvPr/>
          </p:nvSpPr>
          <p:spPr>
            <a:xfrm>
              <a:off x="1622" y="2308"/>
              <a:ext cx="123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Ad ( CMDR )</a:t>
              </a:r>
              <a:endParaRPr lang="en-US" altLang="zh-CN" sz="24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4315" name="Text Box 9"/>
            <p:cNvSpPr txBox="1"/>
            <p:nvPr/>
          </p:nvSpPr>
          <p:spPr>
            <a:xfrm>
              <a:off x="3174" y="2308"/>
              <a:ext cx="71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CMAR</a:t>
              </a:r>
              <a:endParaRPr lang="en-US" altLang="zh-CN" sz="24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4316" name="Line 10"/>
            <p:cNvSpPr/>
            <p:nvPr/>
          </p:nvSpPr>
          <p:spPr>
            <a:xfrm>
              <a:off x="2873" y="2474"/>
              <a:ext cx="295" cy="0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650251" name="Group 11"/>
          <p:cNvGrpSpPr/>
          <p:nvPr/>
        </p:nvGrpSpPr>
        <p:grpSpPr>
          <a:xfrm>
            <a:off x="5826125" y="3078163"/>
            <a:ext cx="1946275" cy="457200"/>
            <a:chOff x="3670" y="1939"/>
            <a:chExt cx="1226" cy="288"/>
          </a:xfrm>
        </p:grpSpPr>
        <p:sp>
          <p:nvSpPr>
            <p:cNvPr id="54311" name="Text Box 12"/>
            <p:cNvSpPr txBox="1"/>
            <p:nvPr/>
          </p:nvSpPr>
          <p:spPr>
            <a:xfrm>
              <a:off x="3670" y="1939"/>
              <a:ext cx="45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dirty="0">
                  <a:latin typeface="Times New Roman" panose="02020603050405020304" pitchFamily="18" charset="0"/>
                </a:rPr>
                <a:t>AC</a:t>
              </a:r>
              <a:r>
                <a:rPr lang="en-US" altLang="zh-CN" sz="2400" baseline="-25000" dirty="0">
                  <a:latin typeface="Times New Roman" panose="02020603050405020304" pitchFamily="18" charset="0"/>
                </a:rPr>
                <a:t>0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54312" name="Text Box 13"/>
            <p:cNvSpPr txBox="1"/>
            <p:nvPr/>
          </p:nvSpPr>
          <p:spPr>
            <a:xfrm>
              <a:off x="4431" y="1939"/>
              <a:ext cx="4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dirty="0">
                  <a:latin typeface="Times New Roman" panose="02020603050405020304" pitchFamily="18" charset="0"/>
                </a:rPr>
                <a:t>AC</a:t>
              </a:r>
              <a:r>
                <a:rPr lang="en-US" altLang="zh-CN" sz="2400" i="1" baseline="-25000" dirty="0">
                  <a:latin typeface="Times New Roman" panose="02020603050405020304" pitchFamily="18" charset="0"/>
                </a:rPr>
                <a:t>n</a:t>
              </a:r>
              <a:endParaRPr lang="en-US" altLang="zh-CN" sz="2400" i="1" dirty="0">
                <a:latin typeface="Times New Roman" panose="02020603050405020304" pitchFamily="18" charset="0"/>
              </a:endParaRPr>
            </a:p>
          </p:txBody>
        </p:sp>
        <p:sp>
          <p:nvSpPr>
            <p:cNvPr id="54313" name="Line 14"/>
            <p:cNvSpPr/>
            <p:nvPr/>
          </p:nvSpPr>
          <p:spPr>
            <a:xfrm>
              <a:off x="4121" y="2083"/>
              <a:ext cx="295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sp>
        <p:nvSpPr>
          <p:cNvPr id="650255" name="Text Box 15"/>
          <p:cNvSpPr txBox="1"/>
          <p:nvPr/>
        </p:nvSpPr>
        <p:spPr>
          <a:xfrm>
            <a:off x="1676400" y="5051425"/>
            <a:ext cx="47148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i="1" dirty="0">
                <a:latin typeface="Times New Roman" panose="02020603050405020304" pitchFamily="18" charset="0"/>
              </a:rPr>
              <a:t>T</a:t>
            </a:r>
            <a:r>
              <a:rPr lang="en-US" altLang="zh-CN" sz="2400" baseline="-25000" dirty="0">
                <a:latin typeface="Times New Roman" panose="02020603050405020304" pitchFamily="18" charset="0"/>
              </a:rPr>
              <a:t>0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grpSp>
        <p:nvGrpSpPr>
          <p:cNvPr id="650256" name="Group 16"/>
          <p:cNvGrpSpPr/>
          <p:nvPr/>
        </p:nvGrpSpPr>
        <p:grpSpPr>
          <a:xfrm>
            <a:off x="2574925" y="5638800"/>
            <a:ext cx="3587750" cy="457200"/>
            <a:chOff x="1622" y="3552"/>
            <a:chExt cx="2260" cy="288"/>
          </a:xfrm>
        </p:grpSpPr>
        <p:sp>
          <p:nvSpPr>
            <p:cNvPr id="54308" name="Text Box 17"/>
            <p:cNvSpPr txBox="1"/>
            <p:nvPr/>
          </p:nvSpPr>
          <p:spPr>
            <a:xfrm>
              <a:off x="3168" y="3552"/>
              <a:ext cx="71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CMAR</a:t>
              </a:r>
              <a:endParaRPr lang="en-US" altLang="zh-CN" sz="24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4309" name="Line 18"/>
            <p:cNvSpPr/>
            <p:nvPr/>
          </p:nvSpPr>
          <p:spPr>
            <a:xfrm>
              <a:off x="2873" y="3718"/>
              <a:ext cx="295" cy="0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54310" name="Text Box 19"/>
            <p:cNvSpPr txBox="1"/>
            <p:nvPr/>
          </p:nvSpPr>
          <p:spPr>
            <a:xfrm>
              <a:off x="1622" y="3552"/>
              <a:ext cx="123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Ad ( CMDR )</a:t>
              </a:r>
              <a:endParaRPr lang="zh-CN" altLang="en-US" sz="2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50260" name="Group 20"/>
          <p:cNvGrpSpPr/>
          <p:nvPr/>
        </p:nvGrpSpPr>
        <p:grpSpPr>
          <a:xfrm>
            <a:off x="2574925" y="5051425"/>
            <a:ext cx="1158875" cy="457200"/>
            <a:chOff x="1622" y="1488"/>
            <a:chExt cx="730" cy="288"/>
          </a:xfrm>
        </p:grpSpPr>
        <p:sp>
          <p:nvSpPr>
            <p:cNvPr id="54305" name="Text Box 21"/>
            <p:cNvSpPr txBox="1"/>
            <p:nvPr/>
          </p:nvSpPr>
          <p:spPr>
            <a:xfrm>
              <a:off x="2087" y="1488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dirty="0">
                  <a:latin typeface="Times New Roman" panose="02020603050405020304" pitchFamily="18" charset="0"/>
                </a:rPr>
                <a:t>G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54306" name="Line 22"/>
            <p:cNvSpPr/>
            <p:nvPr/>
          </p:nvSpPr>
          <p:spPr>
            <a:xfrm>
              <a:off x="1817" y="1632"/>
              <a:ext cx="295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54307" name="Text Box 23"/>
            <p:cNvSpPr txBox="1"/>
            <p:nvPr/>
          </p:nvSpPr>
          <p:spPr>
            <a:xfrm>
              <a:off x="1622" y="1488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dirty="0">
                  <a:latin typeface="Times New Roman" panose="02020603050405020304" pitchFamily="18" charset="0"/>
                </a:rPr>
                <a:t>0</a:t>
              </a:r>
              <a:endParaRPr lang="zh-CN" altLang="en-US" sz="24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50264" name="Group 24"/>
          <p:cNvGrpSpPr/>
          <p:nvPr/>
        </p:nvGrpSpPr>
        <p:grpSpPr>
          <a:xfrm>
            <a:off x="2574925" y="3078163"/>
            <a:ext cx="3013075" cy="457200"/>
            <a:chOff x="1680" y="672"/>
            <a:chExt cx="1898" cy="288"/>
          </a:xfrm>
        </p:grpSpPr>
        <p:sp>
          <p:nvSpPr>
            <p:cNvPr id="54302" name="Line 25"/>
            <p:cNvSpPr/>
            <p:nvPr/>
          </p:nvSpPr>
          <p:spPr>
            <a:xfrm>
              <a:off x="2489" y="816"/>
              <a:ext cx="295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54303" name="Text Box 26"/>
            <p:cNvSpPr txBox="1"/>
            <p:nvPr/>
          </p:nvSpPr>
          <p:spPr>
            <a:xfrm>
              <a:off x="2784" y="672"/>
              <a:ext cx="79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dirty="0">
                  <a:latin typeface="Times New Roman" panose="02020603050405020304" pitchFamily="18" charset="0"/>
                </a:rPr>
                <a:t>L ( AC )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54304" name="Text Box 27"/>
            <p:cNvSpPr txBox="1"/>
            <p:nvPr/>
          </p:nvSpPr>
          <p:spPr>
            <a:xfrm>
              <a:off x="1680" y="672"/>
              <a:ext cx="80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dirty="0">
                  <a:latin typeface="Times New Roman" panose="02020603050405020304" pitchFamily="18" charset="0"/>
                </a:rPr>
                <a:t>R ( AC )</a:t>
              </a:r>
              <a:endParaRPr lang="zh-CN" altLang="en-US" sz="24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54285" name="Text Box 28"/>
          <p:cNvSpPr txBox="1"/>
          <p:nvPr/>
        </p:nvSpPr>
        <p:spPr>
          <a:xfrm>
            <a:off x="1087438" y="457200"/>
            <a:ext cx="2874962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495300" indent="-495300" eaLnBrk="1" hangingPunct="1"/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③  SHR 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指令</a:t>
            </a:r>
            <a:endParaRPr lang="zh-CN" altLang="en-US" sz="2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50269" name="Text Box 29"/>
          <p:cNvSpPr txBox="1"/>
          <p:nvPr/>
        </p:nvSpPr>
        <p:spPr>
          <a:xfrm>
            <a:off x="1676400" y="1104900"/>
            <a:ext cx="47148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i="1" dirty="0">
                <a:latin typeface="Times New Roman" panose="02020603050405020304" pitchFamily="18" charset="0"/>
              </a:rPr>
              <a:t>T</a:t>
            </a:r>
            <a:r>
              <a:rPr lang="en-US" altLang="zh-CN" sz="2400" baseline="-25000" dirty="0">
                <a:latin typeface="Times New Roman" panose="02020603050405020304" pitchFamily="18" charset="0"/>
              </a:rPr>
              <a:t>0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650270" name="Text Box 30"/>
          <p:cNvSpPr txBox="1"/>
          <p:nvPr/>
        </p:nvSpPr>
        <p:spPr>
          <a:xfrm>
            <a:off x="1676400" y="1690688"/>
            <a:ext cx="47148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i="1" dirty="0">
                <a:latin typeface="Times New Roman" panose="02020603050405020304" pitchFamily="18" charset="0"/>
              </a:rPr>
              <a:t>T</a:t>
            </a:r>
            <a:r>
              <a:rPr lang="en-US" altLang="zh-CN" sz="2400" baseline="-25000" dirty="0">
                <a:latin typeface="Times New Roman" panose="02020603050405020304" pitchFamily="18" charset="0"/>
              </a:rPr>
              <a:t>1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grpSp>
        <p:nvGrpSpPr>
          <p:cNvPr id="650271" name="Group 31"/>
          <p:cNvGrpSpPr/>
          <p:nvPr/>
        </p:nvGrpSpPr>
        <p:grpSpPr>
          <a:xfrm>
            <a:off x="5826125" y="1104900"/>
            <a:ext cx="1946275" cy="457200"/>
            <a:chOff x="3670" y="696"/>
            <a:chExt cx="1226" cy="288"/>
          </a:xfrm>
        </p:grpSpPr>
        <p:sp>
          <p:nvSpPr>
            <p:cNvPr id="54299" name="Text Box 32"/>
            <p:cNvSpPr txBox="1"/>
            <p:nvPr/>
          </p:nvSpPr>
          <p:spPr>
            <a:xfrm>
              <a:off x="3670" y="696"/>
              <a:ext cx="45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dirty="0">
                  <a:latin typeface="Times New Roman" panose="02020603050405020304" pitchFamily="18" charset="0"/>
                </a:rPr>
                <a:t>AC</a:t>
              </a:r>
              <a:r>
                <a:rPr lang="en-US" altLang="zh-CN" sz="2400" baseline="-25000" dirty="0">
                  <a:latin typeface="Times New Roman" panose="02020603050405020304" pitchFamily="18" charset="0"/>
                </a:rPr>
                <a:t>0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54300" name="Text Box 33"/>
            <p:cNvSpPr txBox="1"/>
            <p:nvPr/>
          </p:nvSpPr>
          <p:spPr>
            <a:xfrm>
              <a:off x="4438" y="696"/>
              <a:ext cx="45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dirty="0">
                  <a:latin typeface="Times New Roman" panose="02020603050405020304" pitchFamily="18" charset="0"/>
                </a:rPr>
                <a:t>AC</a:t>
              </a:r>
              <a:r>
                <a:rPr lang="en-US" altLang="zh-CN" sz="2400" baseline="-25000" dirty="0">
                  <a:latin typeface="Times New Roman" panose="02020603050405020304" pitchFamily="18" charset="0"/>
                </a:rPr>
                <a:t>0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54301" name="Line 34"/>
            <p:cNvSpPr/>
            <p:nvPr/>
          </p:nvSpPr>
          <p:spPr>
            <a:xfrm>
              <a:off x="4121" y="840"/>
              <a:ext cx="295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650275" name="Group 35"/>
          <p:cNvGrpSpPr/>
          <p:nvPr/>
        </p:nvGrpSpPr>
        <p:grpSpPr>
          <a:xfrm>
            <a:off x="2574925" y="1104900"/>
            <a:ext cx="2987675" cy="457200"/>
            <a:chOff x="1622" y="696"/>
            <a:chExt cx="1882" cy="288"/>
          </a:xfrm>
        </p:grpSpPr>
        <p:sp>
          <p:nvSpPr>
            <p:cNvPr id="54296" name="Text Box 36"/>
            <p:cNvSpPr txBox="1"/>
            <p:nvPr/>
          </p:nvSpPr>
          <p:spPr>
            <a:xfrm>
              <a:off x="2699" y="696"/>
              <a:ext cx="80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dirty="0">
                  <a:latin typeface="Times New Roman" panose="02020603050405020304" pitchFamily="18" charset="0"/>
                </a:rPr>
                <a:t>R ( AC )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54297" name="Line 37"/>
            <p:cNvSpPr/>
            <p:nvPr/>
          </p:nvSpPr>
          <p:spPr>
            <a:xfrm>
              <a:off x="2407" y="840"/>
              <a:ext cx="295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54298" name="Text Box 38"/>
            <p:cNvSpPr txBox="1"/>
            <p:nvPr/>
          </p:nvSpPr>
          <p:spPr>
            <a:xfrm>
              <a:off x="1622" y="696"/>
              <a:ext cx="79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dirty="0">
                  <a:latin typeface="Times New Roman" panose="02020603050405020304" pitchFamily="18" charset="0"/>
                </a:rPr>
                <a:t>L ( AC )</a:t>
              </a:r>
              <a:endParaRPr lang="zh-CN" altLang="en-US" sz="24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50279" name="Group 39"/>
          <p:cNvGrpSpPr/>
          <p:nvPr/>
        </p:nvGrpSpPr>
        <p:grpSpPr>
          <a:xfrm>
            <a:off x="2574925" y="1690688"/>
            <a:ext cx="3597275" cy="457200"/>
            <a:chOff x="1884" y="3936"/>
            <a:chExt cx="2266" cy="288"/>
          </a:xfrm>
        </p:grpSpPr>
        <p:sp>
          <p:nvSpPr>
            <p:cNvPr id="54293" name="Text Box 40"/>
            <p:cNvSpPr txBox="1"/>
            <p:nvPr/>
          </p:nvSpPr>
          <p:spPr>
            <a:xfrm>
              <a:off x="3436" y="3936"/>
              <a:ext cx="71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CMAR</a:t>
              </a:r>
              <a:endParaRPr lang="en-US" altLang="zh-CN" sz="24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4294" name="Line 41"/>
            <p:cNvSpPr/>
            <p:nvPr/>
          </p:nvSpPr>
          <p:spPr>
            <a:xfrm>
              <a:off x="3135" y="4102"/>
              <a:ext cx="295" cy="0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54295" name="Text Box 42"/>
            <p:cNvSpPr txBox="1"/>
            <p:nvPr/>
          </p:nvSpPr>
          <p:spPr>
            <a:xfrm>
              <a:off x="1884" y="3936"/>
              <a:ext cx="123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Ad ( CMDR )</a:t>
              </a:r>
              <a:endParaRPr lang="zh-CN" altLang="en-US" sz="24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650283" name="Rectangle 43"/>
          <p:cNvSpPr>
            <a:spLocks noChangeArrowheads="1"/>
          </p:cNvSpPr>
          <p:nvPr/>
        </p:nvSpPr>
        <p:spPr bwMode="auto">
          <a:xfrm>
            <a:off x="7696200" y="152400"/>
            <a:ext cx="1447800" cy="838200"/>
          </a:xfrm>
          <a:prstGeom prst="rect">
            <a:avLst/>
          </a:prstGeom>
          <a:noFill/>
          <a:ln>
            <a:noFill/>
          </a:ln>
          <a:effectLst/>
        </p:spPr>
        <p:txBody>
          <a:bodyPr lIns="92075" tIns="46038" rIns="92075" bIns="46038" anchor="ctr"/>
          <a:lstStyle>
            <a:lvl1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10.2</a:t>
            </a:r>
            <a:endParaRPr kumimoji="1" lang="zh-CN" altLang="en-US" sz="4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4292" name="AutoShape 44">
            <a:hlinkClick r:id="rId1" action="ppaction://hlinksldjump"/>
          </p:cNvPr>
          <p:cNvSpPr/>
          <p:nvPr/>
        </p:nvSpPr>
        <p:spPr>
          <a:xfrm>
            <a:off x="8589963" y="6516688"/>
            <a:ext cx="539750" cy="333375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endParaRPr lang="zh-CN" altLang="en-US" dirty="0">
              <a:latin typeface="等线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50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50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50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50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50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50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650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650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650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650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650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650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650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650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650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650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0242" grpId="0"/>
      <p:bldP spid="650243" grpId="0"/>
      <p:bldP spid="650244" grpId="0"/>
      <p:bldP spid="650245" grpId="0"/>
      <p:bldP spid="650246" grpId="0"/>
      <p:bldP spid="650255" grpId="0"/>
      <p:bldP spid="650269" grpId="0"/>
      <p:bldP spid="650270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5298" name="Text Box 2"/>
          <p:cNvSpPr txBox="1"/>
          <p:nvPr/>
        </p:nvSpPr>
        <p:spPr>
          <a:xfrm>
            <a:off x="457200" y="258763"/>
            <a:ext cx="2155825" cy="5794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3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•</a:t>
            </a:r>
            <a:r>
              <a:rPr lang="zh-CN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en-US" sz="3200" dirty="0">
                <a:latin typeface="Times New Roman" panose="02020603050405020304" pitchFamily="18" charset="0"/>
              </a:rPr>
              <a:t>访存指令</a:t>
            </a:r>
            <a:endParaRPr lang="zh-CN" altLang="en-US" sz="3200" dirty="0">
              <a:latin typeface="Times New Roman" panose="02020603050405020304" pitchFamily="18" charset="0"/>
            </a:endParaRPr>
          </a:p>
        </p:txBody>
      </p:sp>
      <p:sp>
        <p:nvSpPr>
          <p:cNvPr id="651267" name="Text Box 3"/>
          <p:cNvSpPr txBox="1"/>
          <p:nvPr/>
        </p:nvSpPr>
        <p:spPr>
          <a:xfrm>
            <a:off x="1085850" y="835025"/>
            <a:ext cx="287655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495300" indent="-495300" eaLnBrk="1" hangingPunct="1"/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⑥  ADD 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指令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51268" name="Text Box 4"/>
          <p:cNvSpPr txBox="1"/>
          <p:nvPr/>
        </p:nvSpPr>
        <p:spPr>
          <a:xfrm>
            <a:off x="1873250" y="1228725"/>
            <a:ext cx="47148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i="1" dirty="0">
                <a:latin typeface="Times New Roman" panose="02020603050405020304" pitchFamily="18" charset="0"/>
              </a:rPr>
              <a:t>T</a:t>
            </a:r>
            <a:r>
              <a:rPr lang="en-US" altLang="zh-CN" sz="2400" baseline="-25000" dirty="0">
                <a:latin typeface="Times New Roman" panose="02020603050405020304" pitchFamily="18" charset="0"/>
              </a:rPr>
              <a:t>0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651269" name="Text Box 5"/>
          <p:cNvSpPr txBox="1"/>
          <p:nvPr/>
        </p:nvSpPr>
        <p:spPr>
          <a:xfrm>
            <a:off x="1873250" y="1622425"/>
            <a:ext cx="47148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i="1" dirty="0">
                <a:latin typeface="Times New Roman" panose="02020603050405020304" pitchFamily="18" charset="0"/>
              </a:rPr>
              <a:t>T</a:t>
            </a:r>
            <a:r>
              <a:rPr lang="en-US" altLang="zh-CN" sz="2400" baseline="-25000" dirty="0">
                <a:latin typeface="Times New Roman" panose="02020603050405020304" pitchFamily="18" charset="0"/>
              </a:rPr>
              <a:t>1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651270" name="Text Box 6"/>
          <p:cNvSpPr txBox="1"/>
          <p:nvPr/>
        </p:nvSpPr>
        <p:spPr>
          <a:xfrm>
            <a:off x="1873250" y="2014538"/>
            <a:ext cx="47148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i="1" dirty="0">
                <a:latin typeface="Times New Roman" panose="02020603050405020304" pitchFamily="18" charset="0"/>
              </a:rPr>
              <a:t>T</a:t>
            </a:r>
            <a:r>
              <a:rPr lang="en-US" altLang="zh-CN" sz="2400" baseline="-25000" dirty="0">
                <a:latin typeface="Times New Roman" panose="02020603050405020304" pitchFamily="18" charset="0"/>
              </a:rPr>
              <a:t>2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651271" name="Text Box 7"/>
          <p:cNvSpPr txBox="1"/>
          <p:nvPr/>
        </p:nvSpPr>
        <p:spPr>
          <a:xfrm>
            <a:off x="1873250" y="2408238"/>
            <a:ext cx="47148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i="1" dirty="0">
                <a:latin typeface="Times New Roman" panose="02020603050405020304" pitchFamily="18" charset="0"/>
              </a:rPr>
              <a:t>T</a:t>
            </a:r>
            <a:r>
              <a:rPr lang="en-US" altLang="zh-CN" sz="2400" baseline="-25000" dirty="0">
                <a:latin typeface="Times New Roman" panose="02020603050405020304" pitchFamily="18" charset="0"/>
              </a:rPr>
              <a:t>3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651272" name="Text Box 8"/>
          <p:cNvSpPr txBox="1"/>
          <p:nvPr/>
        </p:nvSpPr>
        <p:spPr>
          <a:xfrm>
            <a:off x="1873250" y="2800350"/>
            <a:ext cx="47148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i="1" dirty="0">
                <a:latin typeface="Times New Roman" panose="02020603050405020304" pitchFamily="18" charset="0"/>
              </a:rPr>
              <a:t>T</a:t>
            </a:r>
            <a:r>
              <a:rPr lang="en-US" altLang="zh-CN" sz="2400" baseline="-25000" dirty="0">
                <a:latin typeface="Times New Roman" panose="02020603050405020304" pitchFamily="18" charset="0"/>
              </a:rPr>
              <a:t>4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651273" name="Text Box 9"/>
          <p:cNvSpPr txBox="1"/>
          <p:nvPr/>
        </p:nvSpPr>
        <p:spPr>
          <a:xfrm>
            <a:off x="1873250" y="3194050"/>
            <a:ext cx="47148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i="1" dirty="0">
                <a:latin typeface="Times New Roman" panose="02020603050405020304" pitchFamily="18" charset="0"/>
              </a:rPr>
              <a:t>T</a:t>
            </a:r>
            <a:r>
              <a:rPr lang="en-US" altLang="zh-CN" sz="2400" baseline="-25000" dirty="0">
                <a:latin typeface="Times New Roman" panose="02020603050405020304" pitchFamily="18" charset="0"/>
              </a:rPr>
              <a:t>5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grpSp>
        <p:nvGrpSpPr>
          <p:cNvPr id="651274" name="Group 10"/>
          <p:cNvGrpSpPr/>
          <p:nvPr/>
        </p:nvGrpSpPr>
        <p:grpSpPr>
          <a:xfrm>
            <a:off x="2590800" y="1219200"/>
            <a:ext cx="2743200" cy="457200"/>
            <a:chOff x="1200" y="768"/>
            <a:chExt cx="1728" cy="288"/>
          </a:xfrm>
        </p:grpSpPr>
        <p:sp>
          <p:nvSpPr>
            <p:cNvPr id="55368" name="Text Box 11"/>
            <p:cNvSpPr txBox="1"/>
            <p:nvPr/>
          </p:nvSpPr>
          <p:spPr>
            <a:xfrm>
              <a:off x="1200" y="768"/>
              <a:ext cx="84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dirty="0">
                  <a:latin typeface="Times New Roman" panose="02020603050405020304" pitchFamily="18" charset="0"/>
                </a:rPr>
                <a:t>Ad ( IR )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55369" name="Line 12"/>
            <p:cNvSpPr/>
            <p:nvPr/>
          </p:nvSpPr>
          <p:spPr>
            <a:xfrm>
              <a:off x="2057" y="912"/>
              <a:ext cx="295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55370" name="Text Box 13"/>
            <p:cNvSpPr txBox="1"/>
            <p:nvPr/>
          </p:nvSpPr>
          <p:spPr>
            <a:xfrm>
              <a:off x="2353" y="768"/>
              <a:ext cx="57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dirty="0">
                  <a:latin typeface="Times New Roman" panose="02020603050405020304" pitchFamily="18" charset="0"/>
                </a:rPr>
                <a:t>MAR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51278" name="Group 14"/>
          <p:cNvGrpSpPr/>
          <p:nvPr/>
        </p:nvGrpSpPr>
        <p:grpSpPr>
          <a:xfrm>
            <a:off x="2590800" y="1622425"/>
            <a:ext cx="3581400" cy="457200"/>
            <a:chOff x="1248" y="1022"/>
            <a:chExt cx="2256" cy="288"/>
          </a:xfrm>
        </p:grpSpPr>
        <p:sp>
          <p:nvSpPr>
            <p:cNvPr id="55365" name="Text Box 15"/>
            <p:cNvSpPr txBox="1"/>
            <p:nvPr/>
          </p:nvSpPr>
          <p:spPr>
            <a:xfrm>
              <a:off x="1248" y="1022"/>
              <a:ext cx="123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Ad ( CMDR )</a:t>
              </a:r>
              <a:endParaRPr lang="en-US" altLang="zh-CN" sz="24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5366" name="Line 16"/>
            <p:cNvSpPr/>
            <p:nvPr/>
          </p:nvSpPr>
          <p:spPr>
            <a:xfrm>
              <a:off x="2489" y="1168"/>
              <a:ext cx="295" cy="0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55367" name="Text Box 17"/>
            <p:cNvSpPr txBox="1"/>
            <p:nvPr/>
          </p:nvSpPr>
          <p:spPr>
            <a:xfrm>
              <a:off x="2790" y="1022"/>
              <a:ext cx="71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CMAR</a:t>
              </a:r>
              <a:endParaRPr lang="en-US" altLang="zh-CN" sz="24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51282" name="Group 18"/>
          <p:cNvGrpSpPr/>
          <p:nvPr/>
        </p:nvGrpSpPr>
        <p:grpSpPr>
          <a:xfrm>
            <a:off x="2590800" y="2014538"/>
            <a:ext cx="3046413" cy="457200"/>
            <a:chOff x="1296" y="1246"/>
            <a:chExt cx="1919" cy="288"/>
          </a:xfrm>
        </p:grpSpPr>
        <p:sp>
          <p:nvSpPr>
            <p:cNvPr id="55362" name="Text Box 19"/>
            <p:cNvSpPr txBox="1"/>
            <p:nvPr/>
          </p:nvSpPr>
          <p:spPr>
            <a:xfrm>
              <a:off x="1296" y="1246"/>
              <a:ext cx="102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dirty="0">
                  <a:latin typeface="Times New Roman" panose="02020603050405020304" pitchFamily="18" charset="0"/>
                </a:rPr>
                <a:t>M ( MAR )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55363" name="Line 20"/>
            <p:cNvSpPr/>
            <p:nvPr/>
          </p:nvSpPr>
          <p:spPr>
            <a:xfrm>
              <a:off x="2345" y="1392"/>
              <a:ext cx="295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55364" name="Text Box 21"/>
            <p:cNvSpPr txBox="1"/>
            <p:nvPr/>
          </p:nvSpPr>
          <p:spPr>
            <a:xfrm>
              <a:off x="2640" y="1246"/>
              <a:ext cx="57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dirty="0">
                  <a:latin typeface="Times New Roman" panose="02020603050405020304" pitchFamily="18" charset="0"/>
                </a:rPr>
                <a:t>MDR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51286" name="Group 22"/>
          <p:cNvGrpSpPr/>
          <p:nvPr/>
        </p:nvGrpSpPr>
        <p:grpSpPr>
          <a:xfrm>
            <a:off x="2590800" y="2405063"/>
            <a:ext cx="3556000" cy="460375"/>
            <a:chOff x="1248" y="1515"/>
            <a:chExt cx="2240" cy="290"/>
          </a:xfrm>
        </p:grpSpPr>
        <p:sp>
          <p:nvSpPr>
            <p:cNvPr id="55359" name="Text Box 23"/>
            <p:cNvSpPr txBox="1"/>
            <p:nvPr/>
          </p:nvSpPr>
          <p:spPr>
            <a:xfrm>
              <a:off x="1248" y="1515"/>
              <a:ext cx="123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Ad ( CMDR )</a:t>
              </a:r>
              <a:endParaRPr lang="en-US" altLang="zh-CN" sz="24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5360" name="Line 24"/>
            <p:cNvSpPr/>
            <p:nvPr/>
          </p:nvSpPr>
          <p:spPr>
            <a:xfrm>
              <a:off x="2486" y="1682"/>
              <a:ext cx="295" cy="0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55361" name="Text Box 25"/>
            <p:cNvSpPr txBox="1"/>
            <p:nvPr/>
          </p:nvSpPr>
          <p:spPr>
            <a:xfrm>
              <a:off x="2774" y="1517"/>
              <a:ext cx="71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CMAR</a:t>
              </a:r>
              <a:endParaRPr lang="en-US" altLang="zh-CN" sz="24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51290" name="Group 26"/>
          <p:cNvGrpSpPr/>
          <p:nvPr/>
        </p:nvGrpSpPr>
        <p:grpSpPr>
          <a:xfrm>
            <a:off x="2590800" y="2800350"/>
            <a:ext cx="3521075" cy="457200"/>
            <a:chOff x="1632" y="1764"/>
            <a:chExt cx="2218" cy="288"/>
          </a:xfrm>
        </p:grpSpPr>
        <p:sp>
          <p:nvSpPr>
            <p:cNvPr id="55356" name="Text Box 27"/>
            <p:cNvSpPr txBox="1"/>
            <p:nvPr/>
          </p:nvSpPr>
          <p:spPr>
            <a:xfrm>
              <a:off x="1632" y="1764"/>
              <a:ext cx="150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400" dirty="0">
                  <a:latin typeface="Times New Roman" panose="02020603050405020304" pitchFamily="18" charset="0"/>
                </a:rPr>
                <a:t>( 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AC ) + ( MDR )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55357" name="Line 28"/>
            <p:cNvSpPr/>
            <p:nvPr/>
          </p:nvSpPr>
          <p:spPr>
            <a:xfrm>
              <a:off x="3161" y="1936"/>
              <a:ext cx="295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55358" name="Text Box 29"/>
            <p:cNvSpPr txBox="1"/>
            <p:nvPr/>
          </p:nvSpPr>
          <p:spPr>
            <a:xfrm>
              <a:off x="3456" y="1764"/>
              <a:ext cx="39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dirty="0">
                  <a:latin typeface="Times New Roman" panose="02020603050405020304" pitchFamily="18" charset="0"/>
                </a:rPr>
                <a:t>AC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51294" name="Group 30"/>
          <p:cNvGrpSpPr/>
          <p:nvPr/>
        </p:nvGrpSpPr>
        <p:grpSpPr>
          <a:xfrm>
            <a:off x="2590800" y="3194050"/>
            <a:ext cx="3581400" cy="457200"/>
            <a:chOff x="1248" y="2012"/>
            <a:chExt cx="2256" cy="288"/>
          </a:xfrm>
        </p:grpSpPr>
        <p:sp>
          <p:nvSpPr>
            <p:cNvPr id="55353" name="Text Box 31"/>
            <p:cNvSpPr txBox="1"/>
            <p:nvPr/>
          </p:nvSpPr>
          <p:spPr>
            <a:xfrm>
              <a:off x="1248" y="2012"/>
              <a:ext cx="123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Ad ( CMDR )</a:t>
              </a:r>
              <a:endParaRPr lang="en-US" altLang="zh-CN" sz="24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5354" name="Line 32"/>
            <p:cNvSpPr/>
            <p:nvPr/>
          </p:nvSpPr>
          <p:spPr>
            <a:xfrm>
              <a:off x="2489" y="2184"/>
              <a:ext cx="295" cy="0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55355" name="Text Box 33"/>
            <p:cNvSpPr txBox="1"/>
            <p:nvPr/>
          </p:nvSpPr>
          <p:spPr>
            <a:xfrm>
              <a:off x="2790" y="2012"/>
              <a:ext cx="71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CMAR</a:t>
              </a:r>
              <a:endParaRPr lang="en-US" altLang="zh-CN" sz="24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51298" name="Group 34"/>
          <p:cNvGrpSpPr/>
          <p:nvPr/>
        </p:nvGrpSpPr>
        <p:grpSpPr>
          <a:xfrm>
            <a:off x="5835650" y="1219200"/>
            <a:ext cx="1166813" cy="457200"/>
            <a:chOff x="2928" y="768"/>
            <a:chExt cx="735" cy="288"/>
          </a:xfrm>
        </p:grpSpPr>
        <p:sp>
          <p:nvSpPr>
            <p:cNvPr id="55350" name="Text Box 35"/>
            <p:cNvSpPr txBox="1"/>
            <p:nvPr/>
          </p:nvSpPr>
          <p:spPr>
            <a:xfrm>
              <a:off x="2928" y="768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400" dirty="0">
                  <a:latin typeface="Times New Roman" panose="02020603050405020304" pitchFamily="18" charset="0"/>
                </a:rPr>
                <a:t>1</a:t>
              </a:r>
              <a:endParaRPr lang="zh-CN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55351" name="Text Box 36"/>
            <p:cNvSpPr txBox="1"/>
            <p:nvPr/>
          </p:nvSpPr>
          <p:spPr>
            <a:xfrm>
              <a:off x="3408" y="768"/>
              <a:ext cx="25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dirty="0">
                  <a:latin typeface="Times New Roman" panose="02020603050405020304" pitchFamily="18" charset="0"/>
                </a:rPr>
                <a:t>R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55352" name="Line 37"/>
            <p:cNvSpPr/>
            <p:nvPr/>
          </p:nvSpPr>
          <p:spPr>
            <a:xfrm>
              <a:off x="3113" y="912"/>
              <a:ext cx="295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sp>
        <p:nvSpPr>
          <p:cNvPr id="651302" name="Text Box 38"/>
          <p:cNvSpPr txBox="1"/>
          <p:nvPr/>
        </p:nvSpPr>
        <p:spPr>
          <a:xfrm>
            <a:off x="1162050" y="3814763"/>
            <a:ext cx="280035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495300" indent="-495300" eaLnBrk="1" hangingPunct="1"/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⑦  STA </a:t>
            </a:r>
            <a:r>
              <a: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指令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51303" name="Text Box 39"/>
          <p:cNvSpPr txBox="1"/>
          <p:nvPr/>
        </p:nvSpPr>
        <p:spPr>
          <a:xfrm>
            <a:off x="1873250" y="4208463"/>
            <a:ext cx="47148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i="1" dirty="0">
                <a:latin typeface="Times New Roman" panose="02020603050405020304" pitchFamily="18" charset="0"/>
              </a:rPr>
              <a:t>T</a:t>
            </a:r>
            <a:r>
              <a:rPr lang="en-US" altLang="zh-CN" sz="2400" baseline="-25000" dirty="0">
                <a:latin typeface="Times New Roman" panose="02020603050405020304" pitchFamily="18" charset="0"/>
              </a:rPr>
              <a:t>0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651304" name="Text Box 40"/>
          <p:cNvSpPr txBox="1"/>
          <p:nvPr/>
        </p:nvSpPr>
        <p:spPr>
          <a:xfrm>
            <a:off x="1873250" y="4600575"/>
            <a:ext cx="47148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i="1" dirty="0">
                <a:latin typeface="Times New Roman" panose="02020603050405020304" pitchFamily="18" charset="0"/>
              </a:rPr>
              <a:t>T</a:t>
            </a:r>
            <a:r>
              <a:rPr lang="en-US" altLang="zh-CN" sz="2400" baseline="-25000" dirty="0">
                <a:latin typeface="Times New Roman" panose="02020603050405020304" pitchFamily="18" charset="0"/>
              </a:rPr>
              <a:t>1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651305" name="Text Box 41"/>
          <p:cNvSpPr txBox="1"/>
          <p:nvPr/>
        </p:nvSpPr>
        <p:spPr>
          <a:xfrm>
            <a:off x="1873250" y="4994275"/>
            <a:ext cx="47148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i="1" dirty="0">
                <a:latin typeface="Times New Roman" panose="02020603050405020304" pitchFamily="18" charset="0"/>
              </a:rPr>
              <a:t>T</a:t>
            </a:r>
            <a:r>
              <a:rPr lang="en-US" altLang="zh-CN" sz="2400" baseline="-25000" dirty="0">
                <a:latin typeface="Times New Roman" panose="02020603050405020304" pitchFamily="18" charset="0"/>
              </a:rPr>
              <a:t>2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651306" name="Text Box 42"/>
          <p:cNvSpPr txBox="1"/>
          <p:nvPr/>
        </p:nvSpPr>
        <p:spPr>
          <a:xfrm>
            <a:off x="1873250" y="5386388"/>
            <a:ext cx="47148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i="1" dirty="0">
                <a:latin typeface="Times New Roman" panose="02020603050405020304" pitchFamily="18" charset="0"/>
              </a:rPr>
              <a:t>T</a:t>
            </a:r>
            <a:r>
              <a:rPr lang="en-US" altLang="zh-CN" sz="2400" baseline="-25000" dirty="0">
                <a:latin typeface="Times New Roman" panose="02020603050405020304" pitchFamily="18" charset="0"/>
              </a:rPr>
              <a:t>3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651307" name="Text Box 43"/>
          <p:cNvSpPr txBox="1"/>
          <p:nvPr/>
        </p:nvSpPr>
        <p:spPr>
          <a:xfrm>
            <a:off x="1873250" y="5780088"/>
            <a:ext cx="47148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i="1" dirty="0">
                <a:latin typeface="Times New Roman" panose="02020603050405020304" pitchFamily="18" charset="0"/>
              </a:rPr>
              <a:t>T</a:t>
            </a:r>
            <a:r>
              <a:rPr lang="en-US" altLang="zh-CN" sz="2400" baseline="-25000" dirty="0">
                <a:latin typeface="Times New Roman" panose="02020603050405020304" pitchFamily="18" charset="0"/>
              </a:rPr>
              <a:t>4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651308" name="Text Box 44"/>
          <p:cNvSpPr txBox="1"/>
          <p:nvPr/>
        </p:nvSpPr>
        <p:spPr>
          <a:xfrm>
            <a:off x="1873250" y="6172200"/>
            <a:ext cx="47148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i="1" dirty="0">
                <a:latin typeface="Times New Roman" panose="02020603050405020304" pitchFamily="18" charset="0"/>
              </a:rPr>
              <a:t>T</a:t>
            </a:r>
            <a:r>
              <a:rPr lang="en-US" altLang="zh-CN" sz="2400" baseline="-25000" dirty="0">
                <a:latin typeface="Times New Roman" panose="02020603050405020304" pitchFamily="18" charset="0"/>
              </a:rPr>
              <a:t>5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grpSp>
        <p:nvGrpSpPr>
          <p:cNvPr id="651309" name="Group 45"/>
          <p:cNvGrpSpPr/>
          <p:nvPr/>
        </p:nvGrpSpPr>
        <p:grpSpPr>
          <a:xfrm>
            <a:off x="2590800" y="4208463"/>
            <a:ext cx="2590800" cy="457200"/>
            <a:chOff x="1632" y="2651"/>
            <a:chExt cx="1632" cy="288"/>
          </a:xfrm>
        </p:grpSpPr>
        <p:sp>
          <p:nvSpPr>
            <p:cNvPr id="55347" name="Text Box 46"/>
            <p:cNvSpPr txBox="1"/>
            <p:nvPr/>
          </p:nvSpPr>
          <p:spPr>
            <a:xfrm>
              <a:off x="1632" y="2651"/>
              <a:ext cx="75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dirty="0">
                  <a:latin typeface="Times New Roman" panose="02020603050405020304" pitchFamily="18" charset="0"/>
                </a:rPr>
                <a:t>Ad (IR)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55348" name="Line 47"/>
            <p:cNvSpPr/>
            <p:nvPr/>
          </p:nvSpPr>
          <p:spPr>
            <a:xfrm>
              <a:off x="2393" y="2795"/>
              <a:ext cx="295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55349" name="Text Box 48"/>
            <p:cNvSpPr txBox="1"/>
            <p:nvPr/>
          </p:nvSpPr>
          <p:spPr>
            <a:xfrm>
              <a:off x="2689" y="2651"/>
              <a:ext cx="57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dirty="0">
                  <a:latin typeface="Times New Roman" panose="02020603050405020304" pitchFamily="18" charset="0"/>
                </a:rPr>
                <a:t>MAR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51313" name="Group 49"/>
          <p:cNvGrpSpPr/>
          <p:nvPr/>
        </p:nvGrpSpPr>
        <p:grpSpPr>
          <a:xfrm>
            <a:off x="2590800" y="4600575"/>
            <a:ext cx="3581400" cy="457200"/>
            <a:chOff x="1248" y="2898"/>
            <a:chExt cx="2256" cy="288"/>
          </a:xfrm>
        </p:grpSpPr>
        <p:sp>
          <p:nvSpPr>
            <p:cNvPr id="55344" name="Text Box 50"/>
            <p:cNvSpPr txBox="1"/>
            <p:nvPr/>
          </p:nvSpPr>
          <p:spPr>
            <a:xfrm>
              <a:off x="1248" y="2898"/>
              <a:ext cx="123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Ad ( CMDR )</a:t>
              </a:r>
              <a:endParaRPr lang="en-US" altLang="zh-CN" sz="24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5345" name="Line 51"/>
            <p:cNvSpPr/>
            <p:nvPr/>
          </p:nvSpPr>
          <p:spPr>
            <a:xfrm>
              <a:off x="2489" y="3064"/>
              <a:ext cx="295" cy="0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55346" name="Text Box 52"/>
            <p:cNvSpPr txBox="1"/>
            <p:nvPr/>
          </p:nvSpPr>
          <p:spPr>
            <a:xfrm>
              <a:off x="2790" y="2898"/>
              <a:ext cx="71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CMAR</a:t>
              </a:r>
              <a:endParaRPr lang="en-US" altLang="zh-CN" sz="24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51317" name="Group 53"/>
          <p:cNvGrpSpPr/>
          <p:nvPr/>
        </p:nvGrpSpPr>
        <p:grpSpPr>
          <a:xfrm>
            <a:off x="2590800" y="4994275"/>
            <a:ext cx="1979613" cy="457200"/>
            <a:chOff x="1344" y="2880"/>
            <a:chExt cx="1247" cy="288"/>
          </a:xfrm>
        </p:grpSpPr>
        <p:sp>
          <p:nvSpPr>
            <p:cNvPr id="55341" name="Text Box 54"/>
            <p:cNvSpPr txBox="1"/>
            <p:nvPr/>
          </p:nvSpPr>
          <p:spPr>
            <a:xfrm>
              <a:off x="1344" y="2880"/>
              <a:ext cx="39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dirty="0">
                  <a:latin typeface="Times New Roman" panose="02020603050405020304" pitchFamily="18" charset="0"/>
                </a:rPr>
                <a:t>AC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55342" name="Line 55"/>
            <p:cNvSpPr/>
            <p:nvPr/>
          </p:nvSpPr>
          <p:spPr>
            <a:xfrm>
              <a:off x="1728" y="3024"/>
              <a:ext cx="295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55343" name="Text Box 56"/>
            <p:cNvSpPr txBox="1"/>
            <p:nvPr/>
          </p:nvSpPr>
          <p:spPr>
            <a:xfrm>
              <a:off x="2016" y="2880"/>
              <a:ext cx="57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dirty="0">
                  <a:latin typeface="Times New Roman" panose="02020603050405020304" pitchFamily="18" charset="0"/>
                </a:rPr>
                <a:t>MDR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51321" name="Group 57"/>
          <p:cNvGrpSpPr/>
          <p:nvPr/>
        </p:nvGrpSpPr>
        <p:grpSpPr>
          <a:xfrm>
            <a:off x="2590800" y="5386388"/>
            <a:ext cx="3565525" cy="457200"/>
            <a:chOff x="1248" y="3393"/>
            <a:chExt cx="2246" cy="288"/>
          </a:xfrm>
        </p:grpSpPr>
        <p:sp>
          <p:nvSpPr>
            <p:cNvPr id="55338" name="Text Box 58"/>
            <p:cNvSpPr txBox="1"/>
            <p:nvPr/>
          </p:nvSpPr>
          <p:spPr>
            <a:xfrm>
              <a:off x="1248" y="3393"/>
              <a:ext cx="123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Ad ( CMDR )</a:t>
              </a:r>
              <a:endParaRPr lang="en-US" altLang="zh-CN" sz="24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5339" name="Line 59"/>
            <p:cNvSpPr/>
            <p:nvPr/>
          </p:nvSpPr>
          <p:spPr>
            <a:xfrm>
              <a:off x="2479" y="3560"/>
              <a:ext cx="295" cy="0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55340" name="Text Box 60"/>
            <p:cNvSpPr txBox="1"/>
            <p:nvPr/>
          </p:nvSpPr>
          <p:spPr>
            <a:xfrm>
              <a:off x="2780" y="3393"/>
              <a:ext cx="71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CMAR</a:t>
              </a:r>
              <a:endParaRPr lang="en-US" altLang="zh-CN" sz="24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51325" name="Group 61"/>
          <p:cNvGrpSpPr/>
          <p:nvPr/>
        </p:nvGrpSpPr>
        <p:grpSpPr>
          <a:xfrm>
            <a:off x="2590800" y="5780088"/>
            <a:ext cx="2895600" cy="457200"/>
            <a:chOff x="1344" y="3334"/>
            <a:chExt cx="1824" cy="288"/>
          </a:xfrm>
        </p:grpSpPr>
        <p:sp>
          <p:nvSpPr>
            <p:cNvPr id="55335" name="Text Box 62"/>
            <p:cNvSpPr txBox="1"/>
            <p:nvPr/>
          </p:nvSpPr>
          <p:spPr>
            <a:xfrm>
              <a:off x="1344" y="3334"/>
              <a:ext cx="57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dirty="0">
                  <a:latin typeface="Times New Roman" panose="02020603050405020304" pitchFamily="18" charset="0"/>
                </a:rPr>
                <a:t>MDR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55336" name="Line 63"/>
            <p:cNvSpPr/>
            <p:nvPr/>
          </p:nvSpPr>
          <p:spPr>
            <a:xfrm>
              <a:off x="1913" y="3478"/>
              <a:ext cx="295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55337" name="Text Box 64"/>
            <p:cNvSpPr txBox="1"/>
            <p:nvPr/>
          </p:nvSpPr>
          <p:spPr>
            <a:xfrm>
              <a:off x="2236" y="3334"/>
              <a:ext cx="93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dirty="0">
                  <a:latin typeface="Times New Roman" panose="02020603050405020304" pitchFamily="18" charset="0"/>
                </a:rPr>
                <a:t>M (MAR)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51329" name="Group 65"/>
          <p:cNvGrpSpPr/>
          <p:nvPr/>
        </p:nvGrpSpPr>
        <p:grpSpPr>
          <a:xfrm>
            <a:off x="2590800" y="6172200"/>
            <a:ext cx="3581400" cy="457200"/>
            <a:chOff x="1248" y="3888"/>
            <a:chExt cx="2256" cy="288"/>
          </a:xfrm>
        </p:grpSpPr>
        <p:sp>
          <p:nvSpPr>
            <p:cNvPr id="55332" name="Text Box 66"/>
            <p:cNvSpPr txBox="1"/>
            <p:nvPr/>
          </p:nvSpPr>
          <p:spPr>
            <a:xfrm>
              <a:off x="1248" y="3888"/>
              <a:ext cx="123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Ad ( CMDR )</a:t>
              </a:r>
              <a:endParaRPr lang="en-US" altLang="zh-CN" sz="24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5333" name="Line 67"/>
            <p:cNvSpPr/>
            <p:nvPr/>
          </p:nvSpPr>
          <p:spPr>
            <a:xfrm>
              <a:off x="2489" y="4054"/>
              <a:ext cx="295" cy="0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55334" name="Text Box 68"/>
            <p:cNvSpPr txBox="1"/>
            <p:nvPr/>
          </p:nvSpPr>
          <p:spPr>
            <a:xfrm>
              <a:off x="2790" y="3888"/>
              <a:ext cx="71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CMAR</a:t>
              </a:r>
              <a:endParaRPr lang="en-US" altLang="zh-CN" sz="24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51333" name="Group 69"/>
          <p:cNvGrpSpPr/>
          <p:nvPr/>
        </p:nvGrpSpPr>
        <p:grpSpPr>
          <a:xfrm>
            <a:off x="5835650" y="4208463"/>
            <a:ext cx="1250950" cy="457200"/>
            <a:chOff x="2976" y="2400"/>
            <a:chExt cx="788" cy="288"/>
          </a:xfrm>
        </p:grpSpPr>
        <p:sp>
          <p:nvSpPr>
            <p:cNvPr id="55329" name="Text Box 70"/>
            <p:cNvSpPr txBox="1"/>
            <p:nvPr/>
          </p:nvSpPr>
          <p:spPr>
            <a:xfrm>
              <a:off x="2976" y="2400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400" dirty="0">
                  <a:latin typeface="Times New Roman" panose="02020603050405020304" pitchFamily="18" charset="0"/>
                </a:rPr>
                <a:t>1</a:t>
              </a:r>
              <a:endParaRPr lang="zh-CN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55330" name="Text Box 71"/>
            <p:cNvSpPr txBox="1"/>
            <p:nvPr/>
          </p:nvSpPr>
          <p:spPr>
            <a:xfrm>
              <a:off x="3456" y="2400"/>
              <a:ext cx="30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dirty="0">
                  <a:latin typeface="Times New Roman" panose="02020603050405020304" pitchFamily="18" charset="0"/>
                </a:rPr>
                <a:t>W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55331" name="Line 72"/>
            <p:cNvSpPr/>
            <p:nvPr/>
          </p:nvSpPr>
          <p:spPr>
            <a:xfrm>
              <a:off x="3161" y="2544"/>
              <a:ext cx="295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sp>
        <p:nvSpPr>
          <p:cNvPr id="651337" name="Rectangle 73"/>
          <p:cNvSpPr>
            <a:spLocks noChangeArrowheads="1"/>
          </p:cNvSpPr>
          <p:nvPr/>
        </p:nvSpPr>
        <p:spPr bwMode="auto">
          <a:xfrm>
            <a:off x="7696200" y="152400"/>
            <a:ext cx="1447800" cy="838200"/>
          </a:xfrm>
          <a:prstGeom prst="rect">
            <a:avLst/>
          </a:prstGeom>
          <a:noFill/>
          <a:ln>
            <a:noFill/>
          </a:ln>
          <a:effectLst/>
        </p:spPr>
        <p:txBody>
          <a:bodyPr lIns="92075" tIns="46038" rIns="92075" bIns="46038" anchor="ctr"/>
          <a:lstStyle>
            <a:lvl1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10.2</a:t>
            </a:r>
            <a:endParaRPr kumimoji="1" lang="zh-CN" altLang="en-US" sz="4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5328" name="AutoShape 74">
            <a:hlinkClick r:id="rId1" action="ppaction://hlinksldjump"/>
          </p:cNvPr>
          <p:cNvSpPr/>
          <p:nvPr/>
        </p:nvSpPr>
        <p:spPr>
          <a:xfrm>
            <a:off x="8589963" y="6516688"/>
            <a:ext cx="539750" cy="333375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endParaRPr lang="zh-CN" altLang="en-US" dirty="0">
              <a:latin typeface="等线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51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51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51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51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51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51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651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651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651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651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651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651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651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651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651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651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651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651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7" dur="500"/>
                                        <p:tgtEl>
                                          <p:spTgt spid="651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2" dur="500"/>
                                        <p:tgtEl>
                                          <p:spTgt spid="651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7" dur="500"/>
                                        <p:tgtEl>
                                          <p:spTgt spid="651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2" dur="500"/>
                                        <p:tgtEl>
                                          <p:spTgt spid="651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7" dur="500"/>
                                        <p:tgtEl>
                                          <p:spTgt spid="651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2" dur="500"/>
                                        <p:tgtEl>
                                          <p:spTgt spid="651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7" dur="500"/>
                                        <p:tgtEl>
                                          <p:spTgt spid="651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2" dur="500"/>
                                        <p:tgtEl>
                                          <p:spTgt spid="651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7" dur="500"/>
                                        <p:tgtEl>
                                          <p:spTgt spid="651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2" dur="500"/>
                                        <p:tgtEl>
                                          <p:spTgt spid="651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1267" grpId="0"/>
      <p:bldP spid="651268" grpId="0"/>
      <p:bldP spid="651269" grpId="0"/>
      <p:bldP spid="651270" grpId="0"/>
      <p:bldP spid="651271" grpId="0"/>
      <p:bldP spid="651272" grpId="0"/>
      <p:bldP spid="651273" grpId="0"/>
      <p:bldP spid="651302" grpId="0"/>
      <p:bldP spid="651303" grpId="0"/>
      <p:bldP spid="651304" grpId="0"/>
      <p:bldP spid="651305" grpId="0"/>
      <p:bldP spid="651306" grpId="0"/>
      <p:bldP spid="651307" grpId="0"/>
      <p:bldP spid="651308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6322" name="Text Box 2"/>
          <p:cNvSpPr txBox="1"/>
          <p:nvPr/>
        </p:nvSpPr>
        <p:spPr>
          <a:xfrm>
            <a:off x="685800" y="334963"/>
            <a:ext cx="3581400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495300" indent="-495300" eaLnBrk="1" hangingPunct="1"/>
            <a:r>
              <a:rPr lang="en-US" altLang="zh-CN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⑧  LDA </a:t>
            </a:r>
            <a:r>
              <a:rPr lang="zh-CN" altLang="en-US" sz="3200" dirty="0">
                <a:latin typeface="Times New Roman" panose="02020603050405020304" pitchFamily="18" charset="0"/>
                <a:ea typeface="宋体" panose="02010600030101010101" pitchFamily="2" charset="-122"/>
              </a:rPr>
              <a:t>指令</a:t>
            </a:r>
            <a:endParaRPr lang="zh-CN" altLang="en-US" sz="32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52291" name="Text Box 3"/>
          <p:cNvSpPr txBox="1"/>
          <p:nvPr/>
        </p:nvSpPr>
        <p:spPr>
          <a:xfrm>
            <a:off x="1752600" y="1524000"/>
            <a:ext cx="47148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i="1" dirty="0">
                <a:latin typeface="Times New Roman" panose="02020603050405020304" pitchFamily="18" charset="0"/>
              </a:rPr>
              <a:t>T</a:t>
            </a:r>
            <a:r>
              <a:rPr lang="en-US" altLang="zh-CN" sz="2400" baseline="-25000" dirty="0">
                <a:latin typeface="Times New Roman" panose="02020603050405020304" pitchFamily="18" charset="0"/>
              </a:rPr>
              <a:t>0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652292" name="Text Box 4"/>
          <p:cNvSpPr txBox="1"/>
          <p:nvPr/>
        </p:nvSpPr>
        <p:spPr>
          <a:xfrm>
            <a:off x="1752600" y="2300288"/>
            <a:ext cx="47148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i="1" dirty="0">
                <a:latin typeface="Times New Roman" panose="02020603050405020304" pitchFamily="18" charset="0"/>
              </a:rPr>
              <a:t>T</a:t>
            </a:r>
            <a:r>
              <a:rPr lang="en-US" altLang="zh-CN" sz="2400" baseline="-25000" dirty="0">
                <a:latin typeface="Times New Roman" panose="02020603050405020304" pitchFamily="18" charset="0"/>
              </a:rPr>
              <a:t>1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652293" name="Text Box 5"/>
          <p:cNvSpPr txBox="1"/>
          <p:nvPr/>
        </p:nvSpPr>
        <p:spPr>
          <a:xfrm>
            <a:off x="1752600" y="3078163"/>
            <a:ext cx="47148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i="1" dirty="0">
                <a:latin typeface="Times New Roman" panose="02020603050405020304" pitchFamily="18" charset="0"/>
              </a:rPr>
              <a:t>T</a:t>
            </a:r>
            <a:r>
              <a:rPr lang="en-US" altLang="zh-CN" sz="2400" baseline="-25000" dirty="0">
                <a:latin typeface="Times New Roman" panose="02020603050405020304" pitchFamily="18" charset="0"/>
              </a:rPr>
              <a:t>2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652294" name="Text Box 6"/>
          <p:cNvSpPr txBox="1"/>
          <p:nvPr/>
        </p:nvSpPr>
        <p:spPr>
          <a:xfrm>
            <a:off x="1752600" y="3854450"/>
            <a:ext cx="47148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i="1" dirty="0">
                <a:latin typeface="Times New Roman" panose="02020603050405020304" pitchFamily="18" charset="0"/>
              </a:rPr>
              <a:t>T</a:t>
            </a:r>
            <a:r>
              <a:rPr lang="en-US" altLang="zh-CN" sz="2400" baseline="-25000" dirty="0">
                <a:latin typeface="Times New Roman" panose="02020603050405020304" pitchFamily="18" charset="0"/>
              </a:rPr>
              <a:t>3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652295" name="Text Box 7"/>
          <p:cNvSpPr txBox="1"/>
          <p:nvPr/>
        </p:nvSpPr>
        <p:spPr>
          <a:xfrm>
            <a:off x="1752600" y="4632325"/>
            <a:ext cx="47148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i="1" dirty="0">
                <a:latin typeface="Times New Roman" panose="02020603050405020304" pitchFamily="18" charset="0"/>
              </a:rPr>
              <a:t>T</a:t>
            </a:r>
            <a:r>
              <a:rPr lang="en-US" altLang="zh-CN" sz="2400" baseline="-25000" dirty="0">
                <a:latin typeface="Times New Roman" panose="02020603050405020304" pitchFamily="18" charset="0"/>
              </a:rPr>
              <a:t>4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652296" name="Text Box 8"/>
          <p:cNvSpPr txBox="1"/>
          <p:nvPr/>
        </p:nvSpPr>
        <p:spPr>
          <a:xfrm>
            <a:off x="1752600" y="5410200"/>
            <a:ext cx="47148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i="1" dirty="0">
                <a:latin typeface="Times New Roman" panose="02020603050405020304" pitchFamily="18" charset="0"/>
              </a:rPr>
              <a:t>T</a:t>
            </a:r>
            <a:r>
              <a:rPr lang="en-US" altLang="zh-CN" sz="2400" baseline="-25000" dirty="0">
                <a:latin typeface="Times New Roman" panose="02020603050405020304" pitchFamily="18" charset="0"/>
              </a:rPr>
              <a:t>5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grpSp>
        <p:nvGrpSpPr>
          <p:cNvPr id="652329" name="Group 41"/>
          <p:cNvGrpSpPr/>
          <p:nvPr/>
        </p:nvGrpSpPr>
        <p:grpSpPr>
          <a:xfrm>
            <a:off x="2590800" y="1524000"/>
            <a:ext cx="2743200" cy="457200"/>
            <a:chOff x="1632" y="960"/>
            <a:chExt cx="1728" cy="288"/>
          </a:xfrm>
        </p:grpSpPr>
        <p:sp>
          <p:nvSpPr>
            <p:cNvPr id="56356" name="Text Box 10"/>
            <p:cNvSpPr txBox="1"/>
            <p:nvPr/>
          </p:nvSpPr>
          <p:spPr>
            <a:xfrm>
              <a:off x="1632" y="960"/>
              <a:ext cx="84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dirty="0">
                  <a:latin typeface="Times New Roman" panose="02020603050405020304" pitchFamily="18" charset="0"/>
                </a:rPr>
                <a:t>Ad ( IR )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56357" name="Line 11"/>
            <p:cNvSpPr/>
            <p:nvPr/>
          </p:nvSpPr>
          <p:spPr>
            <a:xfrm>
              <a:off x="2497" y="1106"/>
              <a:ext cx="295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56358" name="Text Box 12"/>
            <p:cNvSpPr txBox="1"/>
            <p:nvPr/>
          </p:nvSpPr>
          <p:spPr>
            <a:xfrm>
              <a:off x="2785" y="960"/>
              <a:ext cx="57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dirty="0">
                  <a:latin typeface="Times New Roman" panose="02020603050405020304" pitchFamily="18" charset="0"/>
                </a:rPr>
                <a:t>MAR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52301" name="Group 13"/>
          <p:cNvGrpSpPr/>
          <p:nvPr/>
        </p:nvGrpSpPr>
        <p:grpSpPr>
          <a:xfrm>
            <a:off x="2590800" y="2300288"/>
            <a:ext cx="3581400" cy="457200"/>
            <a:chOff x="1632" y="1449"/>
            <a:chExt cx="2256" cy="288"/>
          </a:xfrm>
        </p:grpSpPr>
        <p:sp>
          <p:nvSpPr>
            <p:cNvPr id="56353" name="Text Box 14"/>
            <p:cNvSpPr txBox="1"/>
            <p:nvPr/>
          </p:nvSpPr>
          <p:spPr>
            <a:xfrm>
              <a:off x="1632" y="1449"/>
              <a:ext cx="123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Ad ( CMDR )</a:t>
              </a:r>
              <a:endParaRPr lang="en-US" altLang="zh-CN" sz="24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6354" name="Line 15"/>
            <p:cNvSpPr/>
            <p:nvPr/>
          </p:nvSpPr>
          <p:spPr>
            <a:xfrm>
              <a:off x="2873" y="1616"/>
              <a:ext cx="295" cy="0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56355" name="Text Box 16"/>
            <p:cNvSpPr txBox="1"/>
            <p:nvPr/>
          </p:nvSpPr>
          <p:spPr>
            <a:xfrm>
              <a:off x="3174" y="1449"/>
              <a:ext cx="71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CMAR</a:t>
              </a:r>
              <a:endParaRPr lang="en-US" altLang="zh-CN" sz="24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52327" name="Group 39"/>
          <p:cNvGrpSpPr/>
          <p:nvPr/>
        </p:nvGrpSpPr>
        <p:grpSpPr>
          <a:xfrm>
            <a:off x="2590800" y="3078163"/>
            <a:ext cx="3048000" cy="457200"/>
            <a:chOff x="1632" y="1939"/>
            <a:chExt cx="1920" cy="288"/>
          </a:xfrm>
        </p:grpSpPr>
        <p:sp>
          <p:nvSpPr>
            <p:cNvPr id="56350" name="Text Box 18"/>
            <p:cNvSpPr txBox="1"/>
            <p:nvPr/>
          </p:nvSpPr>
          <p:spPr>
            <a:xfrm>
              <a:off x="1632" y="1939"/>
              <a:ext cx="102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dirty="0">
                  <a:latin typeface="Times New Roman" panose="02020603050405020304" pitchFamily="18" charset="0"/>
                </a:rPr>
                <a:t>M ( MAR )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56351" name="Line 19"/>
            <p:cNvSpPr/>
            <p:nvPr/>
          </p:nvSpPr>
          <p:spPr>
            <a:xfrm>
              <a:off x="2681" y="2090"/>
              <a:ext cx="295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56352" name="Text Box 20"/>
            <p:cNvSpPr txBox="1"/>
            <p:nvPr/>
          </p:nvSpPr>
          <p:spPr>
            <a:xfrm>
              <a:off x="2977" y="1939"/>
              <a:ext cx="57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dirty="0">
                  <a:latin typeface="Times New Roman" panose="02020603050405020304" pitchFamily="18" charset="0"/>
                </a:rPr>
                <a:t>MDR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52309" name="Group 21"/>
          <p:cNvGrpSpPr/>
          <p:nvPr/>
        </p:nvGrpSpPr>
        <p:grpSpPr>
          <a:xfrm>
            <a:off x="2590800" y="3854450"/>
            <a:ext cx="3565525" cy="457200"/>
            <a:chOff x="1632" y="2428"/>
            <a:chExt cx="2246" cy="288"/>
          </a:xfrm>
        </p:grpSpPr>
        <p:sp>
          <p:nvSpPr>
            <p:cNvPr id="56347" name="Text Box 22"/>
            <p:cNvSpPr txBox="1"/>
            <p:nvPr/>
          </p:nvSpPr>
          <p:spPr>
            <a:xfrm>
              <a:off x="1632" y="2428"/>
              <a:ext cx="123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Ad ( CMDR )</a:t>
              </a:r>
              <a:endParaRPr lang="en-US" altLang="zh-CN" sz="24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6348" name="Line 23"/>
            <p:cNvSpPr/>
            <p:nvPr/>
          </p:nvSpPr>
          <p:spPr>
            <a:xfrm>
              <a:off x="2869" y="2572"/>
              <a:ext cx="295" cy="0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56349" name="Text Box 24"/>
            <p:cNvSpPr txBox="1"/>
            <p:nvPr/>
          </p:nvSpPr>
          <p:spPr>
            <a:xfrm>
              <a:off x="3164" y="2428"/>
              <a:ext cx="71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CMAR</a:t>
              </a:r>
              <a:endParaRPr lang="en-US" altLang="zh-CN" sz="24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52313" name="Group 25"/>
          <p:cNvGrpSpPr/>
          <p:nvPr/>
        </p:nvGrpSpPr>
        <p:grpSpPr>
          <a:xfrm>
            <a:off x="2590800" y="4632325"/>
            <a:ext cx="1981200" cy="457200"/>
            <a:chOff x="1344" y="1318"/>
            <a:chExt cx="1248" cy="288"/>
          </a:xfrm>
        </p:grpSpPr>
        <p:sp>
          <p:nvSpPr>
            <p:cNvPr id="56344" name="Text Box 26"/>
            <p:cNvSpPr txBox="1"/>
            <p:nvPr/>
          </p:nvSpPr>
          <p:spPr>
            <a:xfrm>
              <a:off x="1344" y="1318"/>
              <a:ext cx="57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dirty="0">
                  <a:latin typeface="Times New Roman" panose="02020603050405020304" pitchFamily="18" charset="0"/>
                </a:rPr>
                <a:t>MDR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56345" name="Line 27"/>
            <p:cNvSpPr/>
            <p:nvPr/>
          </p:nvSpPr>
          <p:spPr>
            <a:xfrm>
              <a:off x="1920" y="1462"/>
              <a:ext cx="295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56346" name="Text Box 28"/>
            <p:cNvSpPr txBox="1"/>
            <p:nvPr/>
          </p:nvSpPr>
          <p:spPr>
            <a:xfrm>
              <a:off x="2198" y="1318"/>
              <a:ext cx="39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dirty="0">
                  <a:latin typeface="Times New Roman" panose="02020603050405020304" pitchFamily="18" charset="0"/>
                </a:rPr>
                <a:t>AC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52317" name="Group 29"/>
          <p:cNvGrpSpPr/>
          <p:nvPr/>
        </p:nvGrpSpPr>
        <p:grpSpPr>
          <a:xfrm>
            <a:off x="2590800" y="5410200"/>
            <a:ext cx="3581400" cy="457200"/>
            <a:chOff x="1632" y="3408"/>
            <a:chExt cx="2256" cy="288"/>
          </a:xfrm>
        </p:grpSpPr>
        <p:sp>
          <p:nvSpPr>
            <p:cNvPr id="56341" name="Text Box 30"/>
            <p:cNvSpPr txBox="1"/>
            <p:nvPr/>
          </p:nvSpPr>
          <p:spPr>
            <a:xfrm>
              <a:off x="1632" y="3408"/>
              <a:ext cx="123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Ad ( CMDR )</a:t>
              </a:r>
              <a:endParaRPr lang="en-US" altLang="zh-CN" sz="24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6342" name="Line 31"/>
            <p:cNvSpPr/>
            <p:nvPr/>
          </p:nvSpPr>
          <p:spPr>
            <a:xfrm>
              <a:off x="2889" y="3552"/>
              <a:ext cx="295" cy="0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56343" name="Text Box 32"/>
            <p:cNvSpPr txBox="1"/>
            <p:nvPr/>
          </p:nvSpPr>
          <p:spPr>
            <a:xfrm>
              <a:off x="3174" y="3408"/>
              <a:ext cx="71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CMAR</a:t>
              </a:r>
              <a:endParaRPr lang="en-US" altLang="zh-CN" sz="24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52328" name="Group 40"/>
          <p:cNvGrpSpPr/>
          <p:nvPr/>
        </p:nvGrpSpPr>
        <p:grpSpPr>
          <a:xfrm>
            <a:off x="5791200" y="1524000"/>
            <a:ext cx="1143000" cy="457200"/>
            <a:chOff x="3648" y="960"/>
            <a:chExt cx="720" cy="288"/>
          </a:xfrm>
        </p:grpSpPr>
        <p:sp>
          <p:nvSpPr>
            <p:cNvPr id="56338" name="Text Box 34"/>
            <p:cNvSpPr txBox="1"/>
            <p:nvPr/>
          </p:nvSpPr>
          <p:spPr>
            <a:xfrm>
              <a:off x="3648" y="960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400" dirty="0">
                  <a:latin typeface="Times New Roman" panose="02020603050405020304" pitchFamily="18" charset="0"/>
                </a:rPr>
                <a:t>1</a:t>
              </a:r>
              <a:endParaRPr lang="zh-CN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56339" name="Text Box 35"/>
            <p:cNvSpPr txBox="1"/>
            <p:nvPr/>
          </p:nvSpPr>
          <p:spPr>
            <a:xfrm>
              <a:off x="4113" y="960"/>
              <a:ext cx="25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dirty="0">
                  <a:latin typeface="Times New Roman" panose="02020603050405020304" pitchFamily="18" charset="0"/>
                </a:rPr>
                <a:t>R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56340" name="Line 36"/>
            <p:cNvSpPr/>
            <p:nvPr/>
          </p:nvSpPr>
          <p:spPr>
            <a:xfrm>
              <a:off x="3833" y="1106"/>
              <a:ext cx="295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sp>
        <p:nvSpPr>
          <p:cNvPr id="652325" name="Rectangle 37"/>
          <p:cNvSpPr>
            <a:spLocks noChangeArrowheads="1"/>
          </p:cNvSpPr>
          <p:nvPr/>
        </p:nvSpPr>
        <p:spPr bwMode="auto">
          <a:xfrm>
            <a:off x="7696200" y="152400"/>
            <a:ext cx="1447800" cy="838200"/>
          </a:xfrm>
          <a:prstGeom prst="rect">
            <a:avLst/>
          </a:prstGeom>
          <a:noFill/>
          <a:ln>
            <a:noFill/>
          </a:ln>
          <a:effectLst/>
        </p:spPr>
        <p:txBody>
          <a:bodyPr lIns="92075" tIns="46038" rIns="92075" bIns="46038" anchor="ctr"/>
          <a:lstStyle>
            <a:lvl1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10.2</a:t>
            </a:r>
            <a:endParaRPr kumimoji="1" lang="zh-CN" altLang="en-US" sz="4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6337" name="AutoShape 38">
            <a:hlinkClick r:id="rId1" action="ppaction://hlinksldjump"/>
          </p:cNvPr>
          <p:cNvSpPr/>
          <p:nvPr/>
        </p:nvSpPr>
        <p:spPr>
          <a:xfrm>
            <a:off x="8589963" y="6516688"/>
            <a:ext cx="539750" cy="333375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endParaRPr lang="zh-CN" altLang="en-US" dirty="0">
              <a:latin typeface="等线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52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52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52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52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52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52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652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652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652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652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652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652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652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2291" grpId="0"/>
      <p:bldP spid="652292" grpId="0"/>
      <p:bldP spid="652293" grpId="0"/>
      <p:bldP spid="652294" grpId="0"/>
      <p:bldP spid="652295" grpId="0"/>
      <p:bldP spid="652296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53314" name="Text Box 2"/>
          <p:cNvSpPr txBox="1"/>
          <p:nvPr/>
        </p:nvSpPr>
        <p:spPr>
          <a:xfrm>
            <a:off x="2778125" y="5562600"/>
            <a:ext cx="263207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400" dirty="0">
                <a:solidFill>
                  <a:schemeClr val="folHlink"/>
                </a:solidFill>
                <a:latin typeface="Times New Roman" panose="02020603050405020304" pitchFamily="18" charset="0"/>
              </a:rPr>
              <a:t>全部微操作    20个</a:t>
            </a:r>
            <a:endParaRPr lang="zh-CN" altLang="en-US" sz="24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653315" name="Text Box 3"/>
          <p:cNvSpPr txBox="1"/>
          <p:nvPr/>
        </p:nvSpPr>
        <p:spPr>
          <a:xfrm>
            <a:off x="3084513" y="6075363"/>
            <a:ext cx="232410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400" dirty="0">
                <a:solidFill>
                  <a:schemeClr val="folHlink"/>
                </a:solidFill>
                <a:latin typeface="Times New Roman" panose="02020603050405020304" pitchFamily="18" charset="0"/>
              </a:rPr>
              <a:t>微指令        38条</a:t>
            </a:r>
            <a:endParaRPr lang="zh-CN" altLang="en-US" sz="24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57348" name="Text Box 4"/>
          <p:cNvSpPr txBox="1"/>
          <p:nvPr/>
        </p:nvSpPr>
        <p:spPr>
          <a:xfrm>
            <a:off x="533400" y="349250"/>
            <a:ext cx="2859088" cy="6413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3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•</a:t>
            </a:r>
            <a:r>
              <a:rPr lang="zh-CN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en-US" sz="3600" dirty="0">
                <a:latin typeface="Times New Roman" panose="02020603050405020304" pitchFamily="18" charset="0"/>
              </a:rPr>
              <a:t>转移类指令</a:t>
            </a:r>
            <a:endParaRPr lang="zh-CN" altLang="en-US" sz="3600" dirty="0">
              <a:latin typeface="Times New Roman" panose="02020603050405020304" pitchFamily="18" charset="0"/>
            </a:endParaRPr>
          </a:p>
        </p:txBody>
      </p:sp>
      <p:sp>
        <p:nvSpPr>
          <p:cNvPr id="653317" name="Text Box 5"/>
          <p:cNvSpPr txBox="1"/>
          <p:nvPr/>
        </p:nvSpPr>
        <p:spPr>
          <a:xfrm>
            <a:off x="914400" y="1219200"/>
            <a:ext cx="27432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495300" indent="-495300" eaLnBrk="1" hangingPunct="1"/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⑨  JMP 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指令</a:t>
            </a:r>
            <a:endParaRPr lang="zh-CN" altLang="en-US" sz="2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53318" name="Text Box 6"/>
          <p:cNvSpPr txBox="1"/>
          <p:nvPr/>
        </p:nvSpPr>
        <p:spPr>
          <a:xfrm>
            <a:off x="1676400" y="1931988"/>
            <a:ext cx="47148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i="1" dirty="0">
                <a:latin typeface="Times New Roman" panose="02020603050405020304" pitchFamily="18" charset="0"/>
              </a:rPr>
              <a:t>T</a:t>
            </a:r>
            <a:r>
              <a:rPr lang="en-US" altLang="zh-CN" sz="2400" baseline="-25000" dirty="0">
                <a:latin typeface="Times New Roman" panose="02020603050405020304" pitchFamily="18" charset="0"/>
              </a:rPr>
              <a:t>0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653319" name="Text Box 7"/>
          <p:cNvSpPr txBox="1"/>
          <p:nvPr/>
        </p:nvSpPr>
        <p:spPr>
          <a:xfrm>
            <a:off x="1676400" y="2582863"/>
            <a:ext cx="47148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i="1" dirty="0">
                <a:latin typeface="Times New Roman" panose="02020603050405020304" pitchFamily="18" charset="0"/>
              </a:rPr>
              <a:t>T</a:t>
            </a:r>
            <a:r>
              <a:rPr lang="en-US" altLang="zh-CN" sz="2400" baseline="-25000" dirty="0">
                <a:latin typeface="Times New Roman" panose="02020603050405020304" pitchFamily="18" charset="0"/>
              </a:rPr>
              <a:t>1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grpSp>
        <p:nvGrpSpPr>
          <p:cNvPr id="653320" name="Group 8"/>
          <p:cNvGrpSpPr/>
          <p:nvPr/>
        </p:nvGrpSpPr>
        <p:grpSpPr>
          <a:xfrm>
            <a:off x="2514600" y="1931988"/>
            <a:ext cx="2362200" cy="457200"/>
            <a:chOff x="1584" y="1217"/>
            <a:chExt cx="1488" cy="288"/>
          </a:xfrm>
        </p:grpSpPr>
        <p:sp>
          <p:nvSpPr>
            <p:cNvPr id="57371" name="Text Box 9"/>
            <p:cNvSpPr txBox="1"/>
            <p:nvPr/>
          </p:nvSpPr>
          <p:spPr>
            <a:xfrm>
              <a:off x="1584" y="1217"/>
              <a:ext cx="80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dirty="0">
                  <a:latin typeface="Times New Roman" panose="02020603050405020304" pitchFamily="18" charset="0"/>
                </a:rPr>
                <a:t>Ad ( IR)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57372" name="Line 10"/>
            <p:cNvSpPr/>
            <p:nvPr/>
          </p:nvSpPr>
          <p:spPr>
            <a:xfrm>
              <a:off x="2393" y="1361"/>
              <a:ext cx="295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57373" name="Text Box 11"/>
            <p:cNvSpPr txBox="1"/>
            <p:nvPr/>
          </p:nvSpPr>
          <p:spPr>
            <a:xfrm>
              <a:off x="2700" y="1217"/>
              <a:ext cx="37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dirty="0">
                  <a:latin typeface="Times New Roman" panose="02020603050405020304" pitchFamily="18" charset="0"/>
                </a:rPr>
                <a:t>PC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53324" name="Group 12"/>
          <p:cNvGrpSpPr/>
          <p:nvPr/>
        </p:nvGrpSpPr>
        <p:grpSpPr>
          <a:xfrm>
            <a:off x="2514600" y="2582863"/>
            <a:ext cx="3516313" cy="457200"/>
            <a:chOff x="1584" y="1627"/>
            <a:chExt cx="2215" cy="288"/>
          </a:xfrm>
        </p:grpSpPr>
        <p:sp>
          <p:nvSpPr>
            <p:cNvPr id="57368" name="Text Box 13"/>
            <p:cNvSpPr txBox="1"/>
            <p:nvPr/>
          </p:nvSpPr>
          <p:spPr>
            <a:xfrm>
              <a:off x="1584" y="1627"/>
              <a:ext cx="123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Ad ( CMDR )</a:t>
              </a:r>
              <a:endParaRPr lang="en-US" altLang="zh-CN" sz="24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7369" name="Line 14"/>
            <p:cNvSpPr/>
            <p:nvPr/>
          </p:nvSpPr>
          <p:spPr>
            <a:xfrm>
              <a:off x="2806" y="1771"/>
              <a:ext cx="295" cy="0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57370" name="Text Box 15"/>
            <p:cNvSpPr txBox="1"/>
            <p:nvPr/>
          </p:nvSpPr>
          <p:spPr>
            <a:xfrm>
              <a:off x="3085" y="1627"/>
              <a:ext cx="71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CMAR</a:t>
              </a:r>
              <a:endParaRPr lang="en-US" altLang="zh-CN" sz="24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653328" name="Text Box 16"/>
          <p:cNvSpPr txBox="1"/>
          <p:nvPr/>
        </p:nvSpPr>
        <p:spPr>
          <a:xfrm>
            <a:off x="914400" y="3309938"/>
            <a:ext cx="25146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495300" indent="-495300" eaLnBrk="1" hangingPunct="1"/>
            <a:r>
              <a:rPr lang="en-US" altLang="zh-CN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⑩  BAN </a:t>
            </a:r>
            <a:r>
              <a:rPr lang="zh-CN" altLang="en-US" sz="2800" dirty="0">
                <a:latin typeface="Times New Roman" panose="02020603050405020304" pitchFamily="18" charset="0"/>
                <a:ea typeface="宋体" panose="02010600030101010101" pitchFamily="2" charset="-122"/>
              </a:rPr>
              <a:t>指令</a:t>
            </a:r>
            <a:endParaRPr lang="zh-CN" altLang="en-US" sz="2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53329" name="Text Box 17"/>
          <p:cNvSpPr txBox="1"/>
          <p:nvPr/>
        </p:nvSpPr>
        <p:spPr>
          <a:xfrm>
            <a:off x="1676400" y="4022725"/>
            <a:ext cx="47148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i="1" dirty="0">
                <a:latin typeface="Times New Roman" panose="02020603050405020304" pitchFamily="18" charset="0"/>
              </a:rPr>
              <a:t>T</a:t>
            </a:r>
            <a:r>
              <a:rPr lang="en-US" altLang="zh-CN" sz="2400" baseline="-25000" dirty="0">
                <a:latin typeface="Times New Roman" panose="02020603050405020304" pitchFamily="18" charset="0"/>
              </a:rPr>
              <a:t>0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653330" name="Text Box 18"/>
          <p:cNvSpPr txBox="1"/>
          <p:nvPr/>
        </p:nvSpPr>
        <p:spPr>
          <a:xfrm>
            <a:off x="1676400" y="4673600"/>
            <a:ext cx="47148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400" i="1" dirty="0">
                <a:latin typeface="Times New Roman" panose="02020603050405020304" pitchFamily="18" charset="0"/>
              </a:rPr>
              <a:t>T</a:t>
            </a:r>
            <a:r>
              <a:rPr lang="en-US" altLang="zh-CN" sz="2400" baseline="-25000" dirty="0">
                <a:latin typeface="Times New Roman" panose="02020603050405020304" pitchFamily="18" charset="0"/>
              </a:rPr>
              <a:t>1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grpSp>
        <p:nvGrpSpPr>
          <p:cNvPr id="653331" name="Group 19"/>
          <p:cNvGrpSpPr/>
          <p:nvPr/>
        </p:nvGrpSpPr>
        <p:grpSpPr>
          <a:xfrm>
            <a:off x="2514600" y="4673600"/>
            <a:ext cx="3581400" cy="457200"/>
            <a:chOff x="1584" y="2944"/>
            <a:chExt cx="2256" cy="288"/>
          </a:xfrm>
        </p:grpSpPr>
        <p:sp>
          <p:nvSpPr>
            <p:cNvPr id="57365" name="Text Box 20"/>
            <p:cNvSpPr txBox="1"/>
            <p:nvPr/>
          </p:nvSpPr>
          <p:spPr>
            <a:xfrm>
              <a:off x="1584" y="2944"/>
              <a:ext cx="123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Ad ( CMDR )</a:t>
              </a:r>
              <a:endParaRPr lang="en-US" altLang="zh-CN" sz="24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7366" name="Line 21"/>
            <p:cNvSpPr/>
            <p:nvPr/>
          </p:nvSpPr>
          <p:spPr>
            <a:xfrm>
              <a:off x="2825" y="3088"/>
              <a:ext cx="295" cy="0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57367" name="Text Box 22"/>
            <p:cNvSpPr txBox="1"/>
            <p:nvPr/>
          </p:nvSpPr>
          <p:spPr>
            <a:xfrm>
              <a:off x="3126" y="2944"/>
              <a:ext cx="71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CMAR</a:t>
              </a:r>
              <a:endParaRPr lang="en-US" altLang="zh-CN" sz="24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53342" name="Group 30"/>
          <p:cNvGrpSpPr/>
          <p:nvPr/>
        </p:nvGrpSpPr>
        <p:grpSpPr>
          <a:xfrm>
            <a:off x="2514600" y="4022725"/>
            <a:ext cx="4724400" cy="457200"/>
            <a:chOff x="1584" y="2534"/>
            <a:chExt cx="2976" cy="288"/>
          </a:xfrm>
        </p:grpSpPr>
        <p:sp>
          <p:nvSpPr>
            <p:cNvPr id="57361" name="Text Box 24"/>
            <p:cNvSpPr txBox="1"/>
            <p:nvPr/>
          </p:nvSpPr>
          <p:spPr>
            <a:xfrm>
              <a:off x="1584" y="2534"/>
              <a:ext cx="2249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dirty="0">
                  <a:latin typeface="Times New Roman" panose="02020603050405020304" pitchFamily="18" charset="0"/>
                </a:rPr>
                <a:t>A</a:t>
              </a:r>
              <a:r>
                <a:rPr lang="en-US" altLang="zh-CN" sz="2400" baseline="-25000" dirty="0">
                  <a:latin typeface="Times New Roman" panose="02020603050405020304" pitchFamily="18" charset="0"/>
                </a:rPr>
                <a:t>0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400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•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 Ad ( IR ) + A</a:t>
              </a:r>
              <a:r>
                <a:rPr lang="en-US" altLang="zh-CN" sz="2400" baseline="-25000" dirty="0">
                  <a:latin typeface="Times New Roman" panose="02020603050405020304" pitchFamily="18" charset="0"/>
                </a:rPr>
                <a:t>0 </a:t>
              </a:r>
              <a:r>
                <a:rPr lang="en-US" altLang="zh-CN" sz="2400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•</a:t>
              </a:r>
              <a:r>
                <a: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400" dirty="0">
                  <a:latin typeface="Times New Roman" panose="02020603050405020304" pitchFamily="18" charset="0"/>
                </a:rPr>
                <a:t>( PC )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57362" name="Line 25"/>
            <p:cNvSpPr/>
            <p:nvPr/>
          </p:nvSpPr>
          <p:spPr>
            <a:xfrm>
              <a:off x="3881" y="2678"/>
              <a:ext cx="295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57363" name="Text Box 26"/>
            <p:cNvSpPr txBox="1"/>
            <p:nvPr/>
          </p:nvSpPr>
          <p:spPr>
            <a:xfrm>
              <a:off x="4188" y="2534"/>
              <a:ext cx="37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dirty="0">
                  <a:latin typeface="Times New Roman" panose="02020603050405020304" pitchFamily="18" charset="0"/>
                </a:rPr>
                <a:t>PC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57364" name="Line 27"/>
            <p:cNvSpPr/>
            <p:nvPr/>
          </p:nvSpPr>
          <p:spPr>
            <a:xfrm>
              <a:off x="2976" y="2582"/>
              <a:ext cx="122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653340" name="Rectangle 28"/>
          <p:cNvSpPr>
            <a:spLocks noChangeArrowheads="1"/>
          </p:cNvSpPr>
          <p:nvPr/>
        </p:nvSpPr>
        <p:spPr bwMode="auto">
          <a:xfrm>
            <a:off x="7696200" y="152400"/>
            <a:ext cx="1447800" cy="838200"/>
          </a:xfrm>
          <a:prstGeom prst="rect">
            <a:avLst/>
          </a:prstGeom>
          <a:noFill/>
          <a:ln>
            <a:noFill/>
          </a:ln>
          <a:effectLst/>
        </p:spPr>
        <p:txBody>
          <a:bodyPr lIns="92075" tIns="46038" rIns="92075" bIns="46038" anchor="ctr"/>
          <a:lstStyle>
            <a:lvl1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10.2</a:t>
            </a:r>
            <a:endParaRPr kumimoji="1" lang="zh-CN" altLang="en-US" sz="4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7360" name="AutoShape 29">
            <a:hlinkClick r:id="rId1" action="ppaction://hlinksldjump"/>
          </p:cNvPr>
          <p:cNvSpPr/>
          <p:nvPr/>
        </p:nvSpPr>
        <p:spPr>
          <a:xfrm>
            <a:off x="8589963" y="6516688"/>
            <a:ext cx="539750" cy="333375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endParaRPr lang="zh-CN" altLang="en-US" dirty="0">
              <a:latin typeface="等线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53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53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53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53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53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53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653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653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653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653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6533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6533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6533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6533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3314" grpId="0"/>
      <p:bldP spid="653315" grpId="0"/>
      <p:bldP spid="653317" grpId="0"/>
      <p:bldP spid="653318" grpId="0"/>
      <p:bldP spid="653319" grpId="0"/>
      <p:bldP spid="653328" grpId="0"/>
      <p:bldP spid="653329" grpId="0"/>
      <p:bldP spid="653330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8370" name="Text Box 2"/>
          <p:cNvSpPr txBox="1"/>
          <p:nvPr/>
        </p:nvSpPr>
        <p:spPr>
          <a:xfrm>
            <a:off x="609600" y="182563"/>
            <a:ext cx="5638800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3200" dirty="0">
                <a:latin typeface="Times New Roman" panose="02020603050405020304" pitchFamily="18" charset="0"/>
              </a:rPr>
              <a:t>2.  确定微指令格式</a:t>
            </a:r>
            <a:endParaRPr lang="zh-CN" altLang="en-US" sz="3200" dirty="0">
              <a:latin typeface="Times New Roman" panose="02020603050405020304" pitchFamily="18" charset="0"/>
            </a:endParaRPr>
          </a:p>
        </p:txBody>
      </p:sp>
      <p:sp>
        <p:nvSpPr>
          <p:cNvPr id="654339" name="Text Box 3"/>
          <p:cNvSpPr txBox="1"/>
          <p:nvPr/>
        </p:nvSpPr>
        <p:spPr>
          <a:xfrm>
            <a:off x="1014413" y="863600"/>
            <a:ext cx="4929187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</a:rPr>
              <a:t>(1)  微指令的编码方式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654340" name="Text Box 4"/>
          <p:cNvSpPr txBox="1"/>
          <p:nvPr/>
        </p:nvSpPr>
        <p:spPr>
          <a:xfrm>
            <a:off x="1014413" y="1958975"/>
            <a:ext cx="6148387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</a:rPr>
              <a:t>(2)  后续微指令的地址形成方式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654341" name="Text Box 5"/>
          <p:cNvSpPr txBox="1"/>
          <p:nvPr/>
        </p:nvSpPr>
        <p:spPr>
          <a:xfrm>
            <a:off x="1676400" y="1457325"/>
            <a:ext cx="4411663" cy="4270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200" dirty="0">
                <a:solidFill>
                  <a:schemeClr val="folHlink"/>
                </a:solidFill>
                <a:latin typeface="Times New Roman" panose="02020603050405020304" pitchFamily="18" charset="0"/>
              </a:rPr>
              <a:t>采用直接控制</a:t>
            </a:r>
            <a:endParaRPr lang="zh-CN" altLang="en-US" sz="22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654342" name="Text Box 6"/>
          <p:cNvSpPr txBox="1"/>
          <p:nvPr/>
        </p:nvSpPr>
        <p:spPr>
          <a:xfrm>
            <a:off x="1676400" y="2552700"/>
            <a:ext cx="6545263" cy="4270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200" dirty="0">
                <a:solidFill>
                  <a:schemeClr val="folHlink"/>
                </a:solidFill>
                <a:latin typeface="Times New Roman" panose="02020603050405020304" pitchFamily="18" charset="0"/>
              </a:rPr>
              <a:t>由机器指令的操作码通过微地址形成部件形成</a:t>
            </a:r>
            <a:endParaRPr lang="zh-CN" altLang="en-US" sz="22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654343" name="Text Box 7"/>
          <p:cNvSpPr txBox="1"/>
          <p:nvPr/>
        </p:nvSpPr>
        <p:spPr>
          <a:xfrm>
            <a:off x="1676400" y="3055938"/>
            <a:ext cx="5173663" cy="4270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200" dirty="0">
                <a:solidFill>
                  <a:schemeClr val="folHlink"/>
                </a:solidFill>
                <a:latin typeface="Times New Roman" panose="02020603050405020304" pitchFamily="18" charset="0"/>
              </a:rPr>
              <a:t>由微指令的下地址字段直接给出</a:t>
            </a:r>
            <a:endParaRPr lang="zh-CN" altLang="en-US" sz="22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654344" name="Text Box 8"/>
          <p:cNvSpPr txBox="1"/>
          <p:nvPr/>
        </p:nvSpPr>
        <p:spPr>
          <a:xfrm>
            <a:off x="1014413" y="3557588"/>
            <a:ext cx="4319587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</a:rPr>
              <a:t>(3)  微指令字长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654345" name="Text Box 9"/>
          <p:cNvSpPr txBox="1"/>
          <p:nvPr/>
        </p:nvSpPr>
        <p:spPr>
          <a:xfrm>
            <a:off x="1676400" y="4151313"/>
            <a:ext cx="4716463" cy="4270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200" dirty="0">
                <a:latin typeface="Times New Roman" panose="02020603050405020304" pitchFamily="18" charset="0"/>
              </a:rPr>
              <a:t>由 </a:t>
            </a:r>
            <a:r>
              <a:rPr lang="zh-CN" altLang="en-US" sz="2200" dirty="0">
                <a:solidFill>
                  <a:schemeClr val="folHlink"/>
                </a:solidFill>
                <a:latin typeface="Times New Roman" panose="02020603050405020304" pitchFamily="18" charset="0"/>
              </a:rPr>
              <a:t>20</a:t>
            </a:r>
            <a:r>
              <a:rPr lang="zh-CN" altLang="en-US" sz="2200" dirty="0">
                <a:latin typeface="Times New Roman" panose="02020603050405020304" pitchFamily="18" charset="0"/>
              </a:rPr>
              <a:t> 个微操作</a:t>
            </a:r>
            <a:endParaRPr lang="zh-CN" altLang="en-US" sz="2200" dirty="0">
              <a:latin typeface="Times New Roman" panose="02020603050405020304" pitchFamily="18" charset="0"/>
            </a:endParaRPr>
          </a:p>
        </p:txBody>
      </p:sp>
      <p:sp>
        <p:nvSpPr>
          <p:cNvPr id="654346" name="Text Box 10"/>
          <p:cNvSpPr txBox="1"/>
          <p:nvPr/>
        </p:nvSpPr>
        <p:spPr>
          <a:xfrm>
            <a:off x="1676400" y="4654550"/>
            <a:ext cx="5021263" cy="4270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200" dirty="0">
                <a:latin typeface="Times New Roman" panose="02020603050405020304" pitchFamily="18" charset="0"/>
              </a:rPr>
              <a:t>确定 </a:t>
            </a:r>
            <a:r>
              <a:rPr lang="zh-CN" altLang="en-US" sz="2200" dirty="0">
                <a:solidFill>
                  <a:schemeClr val="folHlink"/>
                </a:solidFill>
                <a:latin typeface="Times New Roman" panose="02020603050405020304" pitchFamily="18" charset="0"/>
              </a:rPr>
              <a:t>操作控制字段</a:t>
            </a:r>
            <a:r>
              <a:rPr lang="zh-CN" altLang="en-US" sz="2200" dirty="0">
                <a:latin typeface="Times New Roman" panose="02020603050405020304" pitchFamily="18" charset="0"/>
              </a:rPr>
              <a:t>       最少 </a:t>
            </a:r>
            <a:r>
              <a:rPr lang="zh-CN" altLang="en-US" sz="2200" dirty="0">
                <a:solidFill>
                  <a:schemeClr val="folHlink"/>
                </a:solidFill>
                <a:latin typeface="Times New Roman" panose="02020603050405020304" pitchFamily="18" charset="0"/>
              </a:rPr>
              <a:t>20</a:t>
            </a:r>
            <a:r>
              <a:rPr lang="zh-CN" altLang="en-US" sz="2200" dirty="0">
                <a:latin typeface="Times New Roman" panose="02020603050405020304" pitchFamily="18" charset="0"/>
              </a:rPr>
              <a:t> 位</a:t>
            </a:r>
            <a:endParaRPr lang="zh-CN" altLang="en-US" sz="2200" dirty="0">
              <a:latin typeface="Times New Roman" panose="02020603050405020304" pitchFamily="18" charset="0"/>
            </a:endParaRPr>
          </a:p>
        </p:txBody>
      </p:sp>
      <p:sp>
        <p:nvSpPr>
          <p:cNvPr id="654347" name="Text Box 11"/>
          <p:cNvSpPr txBox="1"/>
          <p:nvPr/>
        </p:nvSpPr>
        <p:spPr>
          <a:xfrm>
            <a:off x="1676400" y="5156200"/>
            <a:ext cx="3040063" cy="4270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200" dirty="0">
                <a:latin typeface="Times New Roman" panose="02020603050405020304" pitchFamily="18" charset="0"/>
              </a:rPr>
              <a:t>由 </a:t>
            </a:r>
            <a:r>
              <a:rPr lang="zh-CN" altLang="en-US" sz="2200" dirty="0">
                <a:solidFill>
                  <a:schemeClr val="folHlink"/>
                </a:solidFill>
                <a:latin typeface="Times New Roman" panose="02020603050405020304" pitchFamily="18" charset="0"/>
              </a:rPr>
              <a:t>38 </a:t>
            </a:r>
            <a:r>
              <a:rPr lang="zh-CN" altLang="en-US" sz="2200" dirty="0">
                <a:latin typeface="Times New Roman" panose="02020603050405020304" pitchFamily="18" charset="0"/>
              </a:rPr>
              <a:t>条微指令</a:t>
            </a:r>
            <a:endParaRPr lang="zh-CN" altLang="en-US" sz="2200" dirty="0">
              <a:latin typeface="Times New Roman" panose="02020603050405020304" pitchFamily="18" charset="0"/>
            </a:endParaRPr>
          </a:p>
        </p:txBody>
      </p:sp>
      <p:sp>
        <p:nvSpPr>
          <p:cNvPr id="654348" name="Text Box 12"/>
          <p:cNvSpPr txBox="1"/>
          <p:nvPr/>
        </p:nvSpPr>
        <p:spPr>
          <a:xfrm>
            <a:off x="1676400" y="5657850"/>
            <a:ext cx="5021263" cy="4270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200" dirty="0">
                <a:latin typeface="Times New Roman" panose="02020603050405020304" pitchFamily="18" charset="0"/>
              </a:rPr>
              <a:t>确定微指令的 </a:t>
            </a:r>
            <a:r>
              <a:rPr lang="zh-CN" altLang="en-US" sz="2200" dirty="0">
                <a:solidFill>
                  <a:schemeClr val="folHlink"/>
                </a:solidFill>
                <a:latin typeface="Times New Roman" panose="02020603050405020304" pitchFamily="18" charset="0"/>
              </a:rPr>
              <a:t>下地址字段 </a:t>
            </a:r>
            <a:r>
              <a:rPr lang="zh-CN" altLang="en-US" sz="2200" dirty="0">
                <a:latin typeface="Times New Roman" panose="02020603050405020304" pitchFamily="18" charset="0"/>
              </a:rPr>
              <a:t>为</a:t>
            </a:r>
            <a:r>
              <a:rPr lang="zh-CN" altLang="en-US" sz="2200" dirty="0">
                <a:solidFill>
                  <a:schemeClr val="folHlink"/>
                </a:solidFill>
                <a:latin typeface="Times New Roman" panose="02020603050405020304" pitchFamily="18" charset="0"/>
              </a:rPr>
              <a:t> 6</a:t>
            </a:r>
            <a:r>
              <a:rPr lang="zh-CN" altLang="en-US" sz="2200" dirty="0">
                <a:latin typeface="Times New Roman" panose="02020603050405020304" pitchFamily="18" charset="0"/>
              </a:rPr>
              <a:t> 位</a:t>
            </a:r>
            <a:endParaRPr lang="zh-CN" altLang="en-US" sz="2200" dirty="0">
              <a:latin typeface="Times New Roman" panose="02020603050405020304" pitchFamily="18" charset="0"/>
            </a:endParaRPr>
          </a:p>
        </p:txBody>
      </p:sp>
      <p:sp>
        <p:nvSpPr>
          <p:cNvPr id="654349" name="Text Box 13"/>
          <p:cNvSpPr txBox="1"/>
          <p:nvPr/>
        </p:nvSpPr>
        <p:spPr>
          <a:xfrm>
            <a:off x="1676400" y="6161088"/>
            <a:ext cx="5021263" cy="4270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200" dirty="0">
                <a:solidFill>
                  <a:schemeClr val="folHlink"/>
                </a:solidFill>
                <a:latin typeface="Times New Roman" panose="02020603050405020304" pitchFamily="18" charset="0"/>
              </a:rPr>
              <a:t>微指令字长  </a:t>
            </a:r>
            <a:r>
              <a:rPr lang="zh-CN" altLang="en-US" sz="2200" dirty="0">
                <a:latin typeface="Times New Roman" panose="02020603050405020304" pitchFamily="18" charset="0"/>
              </a:rPr>
              <a:t>可取 </a:t>
            </a:r>
            <a:r>
              <a:rPr lang="zh-CN" altLang="en-US" sz="2200" dirty="0">
                <a:solidFill>
                  <a:schemeClr val="folHlink"/>
                </a:solidFill>
                <a:latin typeface="Times New Roman" panose="02020603050405020304" pitchFamily="18" charset="0"/>
              </a:rPr>
              <a:t>20 ＋ 6 ＝ 26</a:t>
            </a:r>
            <a:r>
              <a:rPr lang="zh-CN" altLang="en-US" sz="2200" dirty="0">
                <a:latin typeface="Times New Roman" panose="02020603050405020304" pitchFamily="18" charset="0"/>
              </a:rPr>
              <a:t> 位</a:t>
            </a:r>
            <a:endParaRPr lang="zh-CN" altLang="en-US" sz="2200" dirty="0">
              <a:latin typeface="Times New Roman" panose="02020603050405020304" pitchFamily="18" charset="0"/>
            </a:endParaRPr>
          </a:p>
        </p:txBody>
      </p:sp>
      <p:sp>
        <p:nvSpPr>
          <p:cNvPr id="654350" name="Rectangle 14"/>
          <p:cNvSpPr>
            <a:spLocks noChangeArrowheads="1"/>
          </p:cNvSpPr>
          <p:nvPr/>
        </p:nvSpPr>
        <p:spPr bwMode="auto">
          <a:xfrm>
            <a:off x="7696200" y="152400"/>
            <a:ext cx="1447800" cy="838200"/>
          </a:xfrm>
          <a:prstGeom prst="rect">
            <a:avLst/>
          </a:prstGeom>
          <a:noFill/>
          <a:ln>
            <a:noFill/>
          </a:ln>
          <a:effectLst/>
        </p:spPr>
        <p:txBody>
          <a:bodyPr lIns="92075" tIns="46038" rIns="92075" bIns="46038" anchor="ctr"/>
          <a:lstStyle>
            <a:lvl1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10.2</a:t>
            </a:r>
            <a:endParaRPr kumimoji="1" lang="zh-CN" altLang="en-US" sz="4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8383" name="AutoShape 15">
            <a:hlinkClick r:id="rId1" action="ppaction://hlinksldjump"/>
          </p:cNvPr>
          <p:cNvSpPr/>
          <p:nvPr/>
        </p:nvSpPr>
        <p:spPr>
          <a:xfrm>
            <a:off x="8589963" y="6516688"/>
            <a:ext cx="539750" cy="333375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endParaRPr lang="zh-CN" altLang="en-US" dirty="0">
              <a:latin typeface="等线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54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54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54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54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54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54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654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654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654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654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654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4339" grpId="0"/>
      <p:bldP spid="654340" grpId="0"/>
      <p:bldP spid="654341" grpId="0"/>
      <p:bldP spid="654342" grpId="0"/>
      <p:bldP spid="654343" grpId="0"/>
      <p:bldP spid="654344" grpId="0"/>
      <p:bldP spid="654345" grpId="0"/>
      <p:bldP spid="654346" grpId="0"/>
      <p:bldP spid="654347" grpId="0"/>
      <p:bldP spid="654348" grpId="0"/>
      <p:bldP spid="654349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9394" name="Text Box 2"/>
          <p:cNvSpPr txBox="1"/>
          <p:nvPr/>
        </p:nvSpPr>
        <p:spPr>
          <a:xfrm>
            <a:off x="533400" y="195263"/>
            <a:ext cx="5410200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3200" dirty="0">
                <a:latin typeface="Times New Roman" panose="02020603050405020304" pitchFamily="18" charset="0"/>
              </a:rPr>
              <a:t>(4)  微指令字长的确定</a:t>
            </a:r>
            <a:endParaRPr lang="zh-CN" altLang="en-US" sz="3200" dirty="0">
              <a:latin typeface="Times New Roman" panose="02020603050405020304" pitchFamily="18" charset="0"/>
            </a:endParaRPr>
          </a:p>
        </p:txBody>
      </p:sp>
      <p:sp>
        <p:nvSpPr>
          <p:cNvPr id="655363" name="Text Box 3"/>
          <p:cNvSpPr txBox="1"/>
          <p:nvPr/>
        </p:nvSpPr>
        <p:spPr>
          <a:xfrm>
            <a:off x="1889125" y="2057400"/>
            <a:ext cx="71913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400" dirty="0">
                <a:latin typeface="Times New Roman" panose="02020603050405020304" pitchFamily="18" charset="0"/>
              </a:rPr>
              <a:t>1 条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655364" name="Text Box 4"/>
          <p:cNvSpPr txBox="1"/>
          <p:nvPr/>
        </p:nvSpPr>
        <p:spPr>
          <a:xfrm>
            <a:off x="1889125" y="2667000"/>
            <a:ext cx="87153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400" dirty="0">
                <a:latin typeface="Times New Roman" panose="02020603050405020304" pitchFamily="18" charset="0"/>
              </a:rPr>
              <a:t>18 条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grpSp>
        <p:nvGrpSpPr>
          <p:cNvPr id="655365" name="Group 5"/>
          <p:cNvGrpSpPr/>
          <p:nvPr/>
        </p:nvGrpSpPr>
        <p:grpSpPr>
          <a:xfrm>
            <a:off x="1482725" y="914400"/>
            <a:ext cx="4841875" cy="990600"/>
            <a:chOff x="934" y="576"/>
            <a:chExt cx="3050" cy="624"/>
          </a:xfrm>
        </p:grpSpPr>
        <p:sp>
          <p:nvSpPr>
            <p:cNvPr id="59424" name="Text Box 6"/>
            <p:cNvSpPr txBox="1"/>
            <p:nvPr/>
          </p:nvSpPr>
          <p:spPr>
            <a:xfrm>
              <a:off x="934" y="576"/>
              <a:ext cx="198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400" dirty="0">
                  <a:latin typeface="Times New Roman" panose="02020603050405020304" pitchFamily="18" charset="0"/>
                </a:rPr>
                <a:t>38 条微指令中有 19 条</a:t>
              </a:r>
              <a:endParaRPr lang="zh-CN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59425" name="Text Box 7"/>
            <p:cNvSpPr txBox="1"/>
            <p:nvPr/>
          </p:nvSpPr>
          <p:spPr>
            <a:xfrm>
              <a:off x="934" y="912"/>
              <a:ext cx="233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/>
              <a:r>
                <a:rPr lang="zh-CN" altLang="en-US" sz="2400" dirty="0">
                  <a:latin typeface="Times New Roman" panose="02020603050405020304" pitchFamily="18" charset="0"/>
                </a:rPr>
                <a:t>是关于后续微指令地址</a:t>
              </a:r>
              <a:endParaRPr lang="zh-CN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59426" name="Text Box 8"/>
            <p:cNvSpPr txBox="1"/>
            <p:nvPr/>
          </p:nvSpPr>
          <p:spPr>
            <a:xfrm>
              <a:off x="3270" y="912"/>
              <a:ext cx="71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dirty="0">
                  <a:latin typeface="Times New Roman" panose="02020603050405020304" pitchFamily="18" charset="0"/>
                </a:rPr>
                <a:t>CMAR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59427" name="Line 9"/>
            <p:cNvSpPr/>
            <p:nvPr/>
          </p:nvSpPr>
          <p:spPr>
            <a:xfrm>
              <a:off x="2969" y="1078"/>
              <a:ext cx="295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655396" name="Group 36"/>
          <p:cNvGrpSpPr/>
          <p:nvPr/>
        </p:nvGrpSpPr>
        <p:grpSpPr>
          <a:xfrm>
            <a:off x="3336925" y="2667000"/>
            <a:ext cx="3597275" cy="457200"/>
            <a:chOff x="2102" y="1680"/>
            <a:chExt cx="2266" cy="288"/>
          </a:xfrm>
        </p:grpSpPr>
        <p:sp>
          <p:nvSpPr>
            <p:cNvPr id="59421" name="Text Box 11"/>
            <p:cNvSpPr txBox="1"/>
            <p:nvPr/>
          </p:nvSpPr>
          <p:spPr>
            <a:xfrm>
              <a:off x="2102" y="1680"/>
              <a:ext cx="123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Ad ( CMDR )</a:t>
              </a:r>
              <a:endParaRPr lang="en-US" altLang="zh-CN" sz="24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9422" name="Text Box 12"/>
            <p:cNvSpPr txBox="1"/>
            <p:nvPr/>
          </p:nvSpPr>
          <p:spPr>
            <a:xfrm>
              <a:off x="3654" y="1680"/>
              <a:ext cx="71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CMAR</a:t>
              </a:r>
              <a:endParaRPr lang="en-US" altLang="zh-CN" sz="24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9423" name="Line 13"/>
            <p:cNvSpPr/>
            <p:nvPr/>
          </p:nvSpPr>
          <p:spPr>
            <a:xfrm>
              <a:off x="3367" y="1828"/>
              <a:ext cx="295" cy="0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headEnd type="none" w="med" len="med"/>
              <a:tailEnd type="stealth" w="med" len="med"/>
            </a:ln>
          </p:spPr>
        </p:sp>
      </p:grpSp>
      <p:sp>
        <p:nvSpPr>
          <p:cNvPr id="655374" name="Text Box 14"/>
          <p:cNvSpPr txBox="1"/>
          <p:nvPr/>
        </p:nvSpPr>
        <p:spPr>
          <a:xfrm>
            <a:off x="955675" y="2397125"/>
            <a:ext cx="79692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400" dirty="0">
                <a:latin typeface="Times New Roman" panose="02020603050405020304" pitchFamily="18" charset="0"/>
              </a:rPr>
              <a:t>其中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655375" name="AutoShape 15"/>
          <p:cNvSpPr/>
          <p:nvPr/>
        </p:nvSpPr>
        <p:spPr>
          <a:xfrm>
            <a:off x="1760538" y="2244725"/>
            <a:ext cx="144462" cy="684213"/>
          </a:xfrm>
          <a:prstGeom prst="leftBrace">
            <a:avLst>
              <a:gd name="adj1" fmla="val 39469"/>
              <a:gd name="adj2" fmla="val 50000"/>
            </a:avLst>
          </a:prstGeom>
          <a:noFill/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tIns="0" bIns="0" anchor="ctr" anchorCtr="0"/>
          <a:p>
            <a:pPr eaLnBrk="1" hangingPunct="1"/>
            <a:endParaRPr lang="zh-CN" altLang="en-US" dirty="0">
              <a:latin typeface="等线" panose="02010600030101010101" pitchFamily="2" charset="-122"/>
            </a:endParaRPr>
          </a:p>
        </p:txBody>
      </p:sp>
      <p:sp>
        <p:nvSpPr>
          <p:cNvPr id="655376" name="Text Box 16"/>
          <p:cNvSpPr txBox="1"/>
          <p:nvPr/>
        </p:nvSpPr>
        <p:spPr>
          <a:xfrm>
            <a:off x="1593850" y="3311525"/>
            <a:ext cx="517207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400" dirty="0">
                <a:latin typeface="Times New Roman" panose="02020603050405020304" pitchFamily="18" charset="0"/>
              </a:rPr>
              <a:t>若用 </a:t>
            </a:r>
            <a:r>
              <a:rPr lang="en-US" altLang="zh-CN" sz="2400" dirty="0">
                <a:solidFill>
                  <a:schemeClr val="folHlink"/>
                </a:solidFill>
                <a:latin typeface="Times New Roman" panose="02020603050405020304" pitchFamily="18" charset="0"/>
              </a:rPr>
              <a:t>Ad ( CMDR ) </a:t>
            </a:r>
            <a:r>
              <a:rPr lang="zh-CN" altLang="en-US" sz="2400" dirty="0">
                <a:solidFill>
                  <a:schemeClr val="folHlink"/>
                </a:solidFill>
                <a:latin typeface="Times New Roman" panose="02020603050405020304" pitchFamily="18" charset="0"/>
              </a:rPr>
              <a:t>直接送控存地址线</a:t>
            </a:r>
            <a:endParaRPr lang="zh-CN" altLang="en-US" sz="24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655377" name="Text Box 17"/>
          <p:cNvSpPr txBox="1"/>
          <p:nvPr/>
        </p:nvSpPr>
        <p:spPr>
          <a:xfrm>
            <a:off x="1593850" y="3967163"/>
            <a:ext cx="7081838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400" dirty="0">
                <a:latin typeface="Times New Roman" panose="02020603050405020304" pitchFamily="18" charset="0"/>
              </a:rPr>
              <a:t>则 </a:t>
            </a:r>
            <a:r>
              <a:rPr lang="zh-CN" altLang="en-US" sz="2400" dirty="0">
                <a:solidFill>
                  <a:schemeClr val="folHlink"/>
                </a:solidFill>
                <a:latin typeface="Times New Roman" panose="02020603050405020304" pitchFamily="18" charset="0"/>
              </a:rPr>
              <a:t>省去了输至 </a:t>
            </a:r>
            <a:r>
              <a:rPr lang="en-US" altLang="zh-CN" sz="2400" dirty="0">
                <a:solidFill>
                  <a:schemeClr val="folHlink"/>
                </a:solidFill>
                <a:latin typeface="Times New Roman" panose="02020603050405020304" pitchFamily="18" charset="0"/>
              </a:rPr>
              <a:t>CMAR </a:t>
            </a:r>
            <a:r>
              <a:rPr lang="zh-CN" altLang="en-US" sz="2400" dirty="0">
                <a:solidFill>
                  <a:schemeClr val="folHlink"/>
                </a:solidFill>
                <a:latin typeface="Times New Roman" panose="02020603050405020304" pitchFamily="18" charset="0"/>
              </a:rPr>
              <a:t>的时间</a:t>
            </a:r>
            <a:r>
              <a:rPr lang="zh-CN" altLang="en-US" sz="2400" dirty="0">
                <a:latin typeface="Times New Roman" panose="02020603050405020304" pitchFamily="18" charset="0"/>
              </a:rPr>
              <a:t>，</a:t>
            </a:r>
            <a:r>
              <a:rPr lang="zh-CN" altLang="en-US" sz="2400" dirty="0">
                <a:solidFill>
                  <a:schemeClr val="folHlink"/>
                </a:solidFill>
                <a:latin typeface="Times New Roman" panose="02020603050405020304" pitchFamily="18" charset="0"/>
              </a:rPr>
              <a:t>省去了 </a:t>
            </a:r>
            <a:r>
              <a:rPr lang="en-US" altLang="zh-CN" sz="2400" dirty="0">
                <a:solidFill>
                  <a:schemeClr val="folHlink"/>
                </a:solidFill>
                <a:latin typeface="Times New Roman" panose="02020603050405020304" pitchFamily="18" charset="0"/>
              </a:rPr>
              <a:t>CMAR</a:t>
            </a:r>
            <a:endParaRPr lang="en-US" altLang="zh-CN" sz="2400" dirty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655378" name="Text Box 18"/>
          <p:cNvSpPr txBox="1"/>
          <p:nvPr/>
        </p:nvSpPr>
        <p:spPr>
          <a:xfrm>
            <a:off x="685800" y="4624388"/>
            <a:ext cx="79692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400" dirty="0">
                <a:latin typeface="Times New Roman" panose="02020603050405020304" pitchFamily="18" charset="0"/>
              </a:rPr>
              <a:t>同理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grpSp>
        <p:nvGrpSpPr>
          <p:cNvPr id="655379" name="Group 19"/>
          <p:cNvGrpSpPr/>
          <p:nvPr/>
        </p:nvGrpSpPr>
        <p:grpSpPr>
          <a:xfrm>
            <a:off x="1593850" y="4624388"/>
            <a:ext cx="6407150" cy="477837"/>
            <a:chOff x="1484" y="3072"/>
            <a:chExt cx="4036" cy="301"/>
          </a:xfrm>
        </p:grpSpPr>
        <p:sp>
          <p:nvSpPr>
            <p:cNvPr id="59416" name="Text Box 20"/>
            <p:cNvSpPr txBox="1"/>
            <p:nvPr/>
          </p:nvSpPr>
          <p:spPr>
            <a:xfrm>
              <a:off x="1484" y="3072"/>
              <a:ext cx="86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OP ( IR )</a:t>
              </a:r>
              <a:endParaRPr lang="en-US" altLang="zh-CN" sz="24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9417" name="Text Box 21"/>
            <p:cNvSpPr txBox="1"/>
            <p:nvPr/>
          </p:nvSpPr>
          <p:spPr>
            <a:xfrm>
              <a:off x="2661" y="3072"/>
              <a:ext cx="146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400" dirty="0">
                  <a:latin typeface="Times New Roman" panose="02020603050405020304" pitchFamily="18" charset="0"/>
                </a:rPr>
                <a:t>微地址形成部件</a:t>
              </a:r>
              <a:endParaRPr lang="zh-CN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59418" name="Text Box 22"/>
            <p:cNvSpPr txBox="1"/>
            <p:nvPr/>
          </p:nvSpPr>
          <p:spPr>
            <a:xfrm>
              <a:off x="4391" y="3085"/>
              <a:ext cx="1129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4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 控存地址线</a:t>
              </a:r>
              <a:endParaRPr lang="zh-CN" altLang="en-US" sz="24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9419" name="Line 23"/>
            <p:cNvSpPr/>
            <p:nvPr/>
          </p:nvSpPr>
          <p:spPr>
            <a:xfrm>
              <a:off x="2345" y="3216"/>
              <a:ext cx="295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59420" name="Line 24"/>
            <p:cNvSpPr/>
            <p:nvPr/>
          </p:nvSpPr>
          <p:spPr>
            <a:xfrm>
              <a:off x="4121" y="3216"/>
              <a:ext cx="295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sp>
        <p:nvSpPr>
          <p:cNvPr id="655385" name="Text Box 25"/>
          <p:cNvSpPr txBox="1"/>
          <p:nvPr/>
        </p:nvSpPr>
        <p:spPr>
          <a:xfrm>
            <a:off x="1593850" y="5216525"/>
            <a:ext cx="454660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400" dirty="0">
                <a:latin typeface="Times New Roman" panose="02020603050405020304" pitchFamily="18" charset="0"/>
              </a:rPr>
              <a:t>可省去 19 条微指令，2 个微操作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655386" name="Text Box 26"/>
          <p:cNvSpPr txBox="1"/>
          <p:nvPr/>
        </p:nvSpPr>
        <p:spPr>
          <a:xfrm>
            <a:off x="1295400" y="5738813"/>
            <a:ext cx="2814638" cy="9334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>
              <a:lnSpc>
                <a:spcPct val="115000"/>
              </a:lnSpc>
            </a:pPr>
            <a:r>
              <a:rPr lang="zh-CN" altLang="en-US" sz="2400" dirty="0">
                <a:latin typeface="Times New Roman" panose="02020603050405020304" pitchFamily="18" charset="0"/>
              </a:rPr>
              <a:t>     38 － 19 ＝ 19</a:t>
            </a:r>
            <a:endParaRPr lang="zh-CN" altLang="en-US" sz="24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15000"/>
              </a:lnSpc>
            </a:pPr>
            <a:r>
              <a:rPr lang="zh-CN" altLang="en-US" sz="2400" dirty="0">
                <a:latin typeface="Times New Roman" panose="02020603050405020304" pitchFamily="18" charset="0"/>
              </a:rPr>
              <a:t> </a:t>
            </a:r>
            <a:r>
              <a:rPr lang="zh-CN" altLang="en-US" sz="2000" dirty="0">
                <a:latin typeface="Times New Roman" panose="02020603050405020304" pitchFamily="18" charset="0"/>
              </a:rPr>
              <a:t>下地址字段最少取 </a:t>
            </a:r>
            <a:r>
              <a:rPr lang="zh-CN" altLang="en-US" sz="2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5</a:t>
            </a:r>
            <a:r>
              <a:rPr lang="zh-CN" altLang="en-US" sz="2000" dirty="0">
                <a:latin typeface="Times New Roman" panose="02020603050405020304" pitchFamily="18" charset="0"/>
              </a:rPr>
              <a:t> 位</a:t>
            </a:r>
            <a:endParaRPr lang="zh-CN" altLang="en-US" sz="2000" dirty="0">
              <a:latin typeface="Times New Roman" panose="02020603050405020304" pitchFamily="18" charset="0"/>
            </a:endParaRPr>
          </a:p>
        </p:txBody>
      </p:sp>
      <p:sp>
        <p:nvSpPr>
          <p:cNvPr id="655387" name="Rectangle 27"/>
          <p:cNvSpPr>
            <a:spLocks noChangeArrowheads="1"/>
          </p:cNvSpPr>
          <p:nvPr/>
        </p:nvSpPr>
        <p:spPr bwMode="auto">
          <a:xfrm>
            <a:off x="7696200" y="152400"/>
            <a:ext cx="1447800" cy="838200"/>
          </a:xfrm>
          <a:prstGeom prst="rect">
            <a:avLst/>
          </a:prstGeom>
          <a:noFill/>
          <a:ln>
            <a:noFill/>
          </a:ln>
          <a:effectLst/>
        </p:spPr>
        <p:txBody>
          <a:bodyPr lIns="92075" tIns="46038" rIns="92075" bIns="46038" anchor="ctr"/>
          <a:lstStyle>
            <a:lvl1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10.2</a:t>
            </a:r>
            <a:endParaRPr kumimoji="1" lang="zh-CN" altLang="en-US" sz="4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55388" name="Text Box 28"/>
          <p:cNvSpPr txBox="1"/>
          <p:nvPr/>
        </p:nvSpPr>
        <p:spPr>
          <a:xfrm>
            <a:off x="4724400" y="5702300"/>
            <a:ext cx="3352800" cy="9699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115000"/>
              </a:lnSpc>
            </a:pPr>
            <a:r>
              <a:rPr lang="zh-CN" altLang="en-US" sz="2400" dirty="0">
                <a:latin typeface="Times New Roman" panose="02020603050405020304" pitchFamily="18" charset="0"/>
              </a:rPr>
              <a:t>   20 － 2 ＝ 18</a:t>
            </a:r>
            <a:endParaRPr lang="zh-CN" altLang="en-US" sz="24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2000" dirty="0">
                <a:latin typeface="Times New Roman" panose="02020603050405020304" pitchFamily="18" charset="0"/>
              </a:rPr>
              <a:t>操作控制字段最少取 </a:t>
            </a:r>
            <a:r>
              <a:rPr lang="zh-CN" altLang="en-US" sz="2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18</a:t>
            </a:r>
            <a:r>
              <a:rPr lang="zh-CN" altLang="en-US" sz="2000" dirty="0">
                <a:latin typeface="Times New Roman" panose="02020603050405020304" pitchFamily="18" charset="0"/>
              </a:rPr>
              <a:t> 位</a:t>
            </a:r>
            <a:endParaRPr lang="zh-CN" altLang="en-US" sz="2000" dirty="0">
              <a:latin typeface="Times New Roman" panose="02020603050405020304" pitchFamily="18" charset="0"/>
            </a:endParaRPr>
          </a:p>
        </p:txBody>
      </p:sp>
      <p:grpSp>
        <p:nvGrpSpPr>
          <p:cNvPr id="655389" name="Group 29"/>
          <p:cNvGrpSpPr/>
          <p:nvPr/>
        </p:nvGrpSpPr>
        <p:grpSpPr>
          <a:xfrm>
            <a:off x="2976563" y="2035175"/>
            <a:ext cx="5340350" cy="457200"/>
            <a:chOff x="1875" y="1282"/>
            <a:chExt cx="3364" cy="288"/>
          </a:xfrm>
        </p:grpSpPr>
        <p:sp>
          <p:nvSpPr>
            <p:cNvPr id="59411" name="Text Box 30"/>
            <p:cNvSpPr txBox="1"/>
            <p:nvPr/>
          </p:nvSpPr>
          <p:spPr>
            <a:xfrm>
              <a:off x="4525" y="1282"/>
              <a:ext cx="71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CMAR</a:t>
              </a:r>
              <a:endParaRPr lang="en-US" altLang="zh-CN" sz="24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9412" name="Line 31"/>
            <p:cNvSpPr/>
            <p:nvPr/>
          </p:nvSpPr>
          <p:spPr>
            <a:xfrm>
              <a:off x="2734" y="1435"/>
              <a:ext cx="295" cy="0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59413" name="Text Box 32"/>
            <p:cNvSpPr txBox="1"/>
            <p:nvPr/>
          </p:nvSpPr>
          <p:spPr>
            <a:xfrm>
              <a:off x="1875" y="1282"/>
              <a:ext cx="86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4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OP ( IR )</a:t>
              </a:r>
              <a:endParaRPr lang="zh-CN" altLang="en-US" sz="2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9414" name="Text Box 33"/>
            <p:cNvSpPr txBox="1"/>
            <p:nvPr/>
          </p:nvSpPr>
          <p:spPr>
            <a:xfrm>
              <a:off x="3029" y="1302"/>
              <a:ext cx="123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solidFill>
                    <a:schemeClr val="folHlink"/>
                  </a:solidFill>
                  <a:latin typeface="Times New Roman" panose="02020603050405020304" pitchFamily="18" charset="0"/>
                </a:rPr>
                <a:t>微地址形成部件</a:t>
              </a:r>
              <a:endParaRPr lang="zh-CN" altLang="en-US" sz="2000" dirty="0">
                <a:solidFill>
                  <a:schemeClr val="fol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9415" name="Line 34"/>
            <p:cNvSpPr/>
            <p:nvPr/>
          </p:nvSpPr>
          <p:spPr>
            <a:xfrm>
              <a:off x="4251" y="1435"/>
              <a:ext cx="295" cy="0"/>
            </a:xfrm>
            <a:prstGeom prst="line">
              <a:avLst/>
            </a:prstGeom>
            <a:ln w="28575" cap="flat" cmpd="sng">
              <a:solidFill>
                <a:schemeClr val="folHlink"/>
              </a:solidFill>
              <a:prstDash val="solid"/>
              <a:headEnd type="none" w="med" len="med"/>
              <a:tailEnd type="stealth" w="med" len="med"/>
            </a:ln>
          </p:spPr>
        </p:sp>
      </p:grpSp>
      <p:sp>
        <p:nvSpPr>
          <p:cNvPr id="59410" name="AutoShape 35">
            <a:hlinkClick r:id="rId1" action="ppaction://hlinksldjump"/>
          </p:cNvPr>
          <p:cNvSpPr/>
          <p:nvPr/>
        </p:nvSpPr>
        <p:spPr>
          <a:xfrm>
            <a:off x="8589963" y="6516688"/>
            <a:ext cx="539750" cy="333375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endParaRPr lang="zh-CN" altLang="en-US" dirty="0">
              <a:latin typeface="等线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55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55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6" dur="500"/>
                                        <p:tgtEl>
                                          <p:spTgt spid="655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655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655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655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655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655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655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655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655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655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655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655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363" grpId="0"/>
      <p:bldP spid="655364" grpId="0"/>
      <p:bldP spid="655374" grpId="0"/>
      <p:bldP spid="655376" grpId="0"/>
      <p:bldP spid="655377" grpId="0"/>
      <p:bldP spid="655378" grpId="0"/>
      <p:bldP spid="655385" grpId="0"/>
      <p:bldP spid="655386" grpId="0"/>
      <p:bldP spid="655388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56386" name="Text Box 2"/>
          <p:cNvSpPr txBox="1"/>
          <p:nvPr/>
        </p:nvSpPr>
        <p:spPr>
          <a:xfrm>
            <a:off x="5943600" y="4602163"/>
            <a:ext cx="814388" cy="4270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200" dirty="0">
                <a:latin typeface="Times New Roman" panose="02020603050405020304" pitchFamily="18" charset="0"/>
              </a:rPr>
              <a:t>18 位</a:t>
            </a:r>
            <a:endParaRPr lang="zh-CN" altLang="en-US" sz="2200" dirty="0">
              <a:latin typeface="Times New Roman" panose="02020603050405020304" pitchFamily="18" charset="0"/>
            </a:endParaRPr>
          </a:p>
        </p:txBody>
      </p:sp>
      <p:sp>
        <p:nvSpPr>
          <p:cNvPr id="656387" name="Text Box 3"/>
          <p:cNvSpPr txBox="1"/>
          <p:nvPr/>
        </p:nvSpPr>
        <p:spPr>
          <a:xfrm>
            <a:off x="450850" y="4741863"/>
            <a:ext cx="3359150" cy="4270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200" dirty="0">
                <a:latin typeface="Times New Roman" panose="02020603050405020304" pitchFamily="18" charset="0"/>
              </a:rPr>
              <a:t>考虑留有一定的余量</a:t>
            </a:r>
            <a:endParaRPr lang="zh-CN" altLang="en-US" sz="2200" dirty="0">
              <a:latin typeface="Times New Roman" panose="02020603050405020304" pitchFamily="18" charset="0"/>
            </a:endParaRPr>
          </a:p>
        </p:txBody>
      </p:sp>
      <p:sp>
        <p:nvSpPr>
          <p:cNvPr id="656388" name="Text Box 4"/>
          <p:cNvSpPr txBox="1"/>
          <p:nvPr/>
        </p:nvSpPr>
        <p:spPr>
          <a:xfrm>
            <a:off x="3640138" y="4572000"/>
            <a:ext cx="2139950" cy="4270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200" dirty="0">
                <a:latin typeface="Times New Roman" panose="02020603050405020304" pitchFamily="18" charset="0"/>
              </a:rPr>
              <a:t>取操作控制字段</a:t>
            </a:r>
            <a:endParaRPr lang="zh-CN" altLang="en-US" sz="2200" dirty="0">
              <a:latin typeface="Times New Roman" panose="02020603050405020304" pitchFamily="18" charset="0"/>
            </a:endParaRPr>
          </a:p>
        </p:txBody>
      </p:sp>
      <p:sp>
        <p:nvSpPr>
          <p:cNvPr id="656389" name="Text Box 5"/>
          <p:cNvSpPr txBox="1"/>
          <p:nvPr/>
        </p:nvSpPr>
        <p:spPr>
          <a:xfrm>
            <a:off x="3640138" y="4957763"/>
            <a:ext cx="1581150" cy="4270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200" dirty="0">
                <a:latin typeface="Times New Roman" panose="02020603050405020304" pitchFamily="18" charset="0"/>
              </a:rPr>
              <a:t>下地址字段</a:t>
            </a:r>
            <a:endParaRPr lang="zh-CN" altLang="en-US" sz="2200" dirty="0">
              <a:latin typeface="Times New Roman" panose="02020603050405020304" pitchFamily="18" charset="0"/>
            </a:endParaRPr>
          </a:p>
        </p:txBody>
      </p:sp>
      <p:sp>
        <p:nvSpPr>
          <p:cNvPr id="656390" name="Text Box 6"/>
          <p:cNvSpPr txBox="1"/>
          <p:nvPr/>
        </p:nvSpPr>
        <p:spPr>
          <a:xfrm>
            <a:off x="6096000" y="4975225"/>
            <a:ext cx="674688" cy="4270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200" dirty="0">
                <a:latin typeface="Times New Roman" panose="02020603050405020304" pitchFamily="18" charset="0"/>
              </a:rPr>
              <a:t>5 位</a:t>
            </a:r>
            <a:endParaRPr lang="zh-CN" altLang="en-US" sz="2200" dirty="0">
              <a:latin typeface="Times New Roman" panose="02020603050405020304" pitchFamily="18" charset="0"/>
            </a:endParaRPr>
          </a:p>
        </p:txBody>
      </p:sp>
      <p:sp>
        <p:nvSpPr>
          <p:cNvPr id="656391" name="Text Box 7"/>
          <p:cNvSpPr txBox="1"/>
          <p:nvPr/>
        </p:nvSpPr>
        <p:spPr>
          <a:xfrm>
            <a:off x="7848600" y="4830763"/>
            <a:ext cx="1165225" cy="4270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200" dirty="0">
                <a:latin typeface="Times New Roman" panose="02020603050405020304" pitchFamily="18" charset="0"/>
              </a:rPr>
              <a:t>共 30 位</a:t>
            </a:r>
            <a:endParaRPr lang="zh-CN" altLang="en-US" sz="2200" dirty="0">
              <a:latin typeface="Times New Roman" panose="02020603050405020304" pitchFamily="18" charset="0"/>
            </a:endParaRPr>
          </a:p>
        </p:txBody>
      </p:sp>
      <p:sp>
        <p:nvSpPr>
          <p:cNvPr id="656392" name="AutoShape 8"/>
          <p:cNvSpPr/>
          <p:nvPr/>
        </p:nvSpPr>
        <p:spPr>
          <a:xfrm>
            <a:off x="7696200" y="4725988"/>
            <a:ext cx="152400" cy="608012"/>
          </a:xfrm>
          <a:prstGeom prst="rightBrace">
            <a:avLst>
              <a:gd name="adj1" fmla="val 33246"/>
              <a:gd name="adj2" fmla="val 50000"/>
            </a:avLst>
          </a:prstGeom>
          <a:noFill/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tIns="0" bIns="0" anchor="ctr" anchorCtr="0"/>
          <a:p>
            <a:pPr eaLnBrk="1" hangingPunct="1"/>
            <a:endParaRPr lang="zh-CN" altLang="en-US" dirty="0">
              <a:latin typeface="等线" panose="02010600030101010101" pitchFamily="2" charset="-122"/>
            </a:endParaRPr>
          </a:p>
        </p:txBody>
      </p:sp>
      <p:sp>
        <p:nvSpPr>
          <p:cNvPr id="656393" name="Text Box 9"/>
          <p:cNvSpPr txBox="1"/>
          <p:nvPr/>
        </p:nvSpPr>
        <p:spPr>
          <a:xfrm>
            <a:off x="319088" y="5473700"/>
            <a:ext cx="7758112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</a:rPr>
              <a:t>(6) 定义微指令操作控制字段每一位的微操作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grpSp>
        <p:nvGrpSpPr>
          <p:cNvPr id="656394" name="Group 10"/>
          <p:cNvGrpSpPr/>
          <p:nvPr/>
        </p:nvGrpSpPr>
        <p:grpSpPr>
          <a:xfrm>
            <a:off x="2117725" y="6096000"/>
            <a:ext cx="3597275" cy="457200"/>
            <a:chOff x="1334" y="3840"/>
            <a:chExt cx="2266" cy="288"/>
          </a:xfrm>
        </p:grpSpPr>
        <p:sp>
          <p:nvSpPr>
            <p:cNvPr id="60467" name="Text Box 11"/>
            <p:cNvSpPr txBox="1"/>
            <p:nvPr/>
          </p:nvSpPr>
          <p:spPr>
            <a:xfrm>
              <a:off x="1334" y="3874"/>
              <a:ext cx="2240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dirty="0">
                  <a:latin typeface="Times New Roman" panose="02020603050405020304" pitchFamily="18" charset="0"/>
                </a:rPr>
                <a:t>0 1 2                          23     24        29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60468" name="Text Box 12"/>
            <p:cNvSpPr txBox="1"/>
            <p:nvPr/>
          </p:nvSpPr>
          <p:spPr>
            <a:xfrm>
              <a:off x="1958" y="3840"/>
              <a:ext cx="27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…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60469" name="Text Box 13"/>
            <p:cNvSpPr txBox="1"/>
            <p:nvPr/>
          </p:nvSpPr>
          <p:spPr>
            <a:xfrm>
              <a:off x="3072" y="3840"/>
              <a:ext cx="31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 …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60470" name="Rectangle 14"/>
            <p:cNvSpPr/>
            <p:nvPr/>
          </p:nvSpPr>
          <p:spPr>
            <a:xfrm>
              <a:off x="1344" y="3888"/>
              <a:ext cx="2256" cy="230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60471" name="Line 15"/>
            <p:cNvSpPr/>
            <p:nvPr/>
          </p:nvSpPr>
          <p:spPr>
            <a:xfrm>
              <a:off x="2854" y="3888"/>
              <a:ext cx="0" cy="24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656400" name="Group 16"/>
          <p:cNvGrpSpPr/>
          <p:nvPr/>
        </p:nvGrpSpPr>
        <p:grpSpPr>
          <a:xfrm>
            <a:off x="6705600" y="4589463"/>
            <a:ext cx="1060450" cy="427037"/>
            <a:chOff x="4224" y="2939"/>
            <a:chExt cx="668" cy="269"/>
          </a:xfrm>
        </p:grpSpPr>
        <p:sp>
          <p:nvSpPr>
            <p:cNvPr id="60465" name="Text Box 17"/>
            <p:cNvSpPr txBox="1"/>
            <p:nvPr/>
          </p:nvSpPr>
          <p:spPr>
            <a:xfrm>
              <a:off x="4379" y="2939"/>
              <a:ext cx="513" cy="26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200" dirty="0">
                  <a:latin typeface="Times New Roman" panose="02020603050405020304" pitchFamily="18" charset="0"/>
                </a:rPr>
                <a:t>24 位</a:t>
              </a:r>
              <a:endParaRPr lang="zh-CN" altLang="en-US" sz="2200" dirty="0">
                <a:latin typeface="Times New Roman" panose="02020603050405020304" pitchFamily="18" charset="0"/>
              </a:endParaRPr>
            </a:p>
          </p:txBody>
        </p:sp>
        <p:sp>
          <p:nvSpPr>
            <p:cNvPr id="60466" name="Line 18"/>
            <p:cNvSpPr/>
            <p:nvPr/>
          </p:nvSpPr>
          <p:spPr>
            <a:xfrm>
              <a:off x="4224" y="3072"/>
              <a:ext cx="19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grpSp>
        <p:nvGrpSpPr>
          <p:cNvPr id="656403" name="Group 19"/>
          <p:cNvGrpSpPr/>
          <p:nvPr/>
        </p:nvGrpSpPr>
        <p:grpSpPr>
          <a:xfrm>
            <a:off x="6705600" y="4983163"/>
            <a:ext cx="1060450" cy="427037"/>
            <a:chOff x="4224" y="3187"/>
            <a:chExt cx="668" cy="269"/>
          </a:xfrm>
        </p:grpSpPr>
        <p:sp>
          <p:nvSpPr>
            <p:cNvPr id="60463" name="Text Box 20"/>
            <p:cNvSpPr txBox="1"/>
            <p:nvPr/>
          </p:nvSpPr>
          <p:spPr>
            <a:xfrm>
              <a:off x="4467" y="3187"/>
              <a:ext cx="425" cy="26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200" dirty="0">
                  <a:latin typeface="Times New Roman" panose="02020603050405020304" pitchFamily="18" charset="0"/>
                </a:rPr>
                <a:t>6 位</a:t>
              </a:r>
              <a:endParaRPr lang="zh-CN" altLang="en-US" sz="2200" dirty="0">
                <a:latin typeface="Times New Roman" panose="02020603050405020304" pitchFamily="18" charset="0"/>
              </a:endParaRPr>
            </a:p>
          </p:txBody>
        </p:sp>
        <p:sp>
          <p:nvSpPr>
            <p:cNvPr id="60464" name="Line 21"/>
            <p:cNvSpPr/>
            <p:nvPr/>
          </p:nvSpPr>
          <p:spPr>
            <a:xfrm>
              <a:off x="4224" y="3312"/>
              <a:ext cx="192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</p:grpSp>
      <p:sp>
        <p:nvSpPr>
          <p:cNvPr id="656406" name="Rectangle 22"/>
          <p:cNvSpPr>
            <a:spLocks noChangeArrowheads="1"/>
          </p:cNvSpPr>
          <p:nvPr/>
        </p:nvSpPr>
        <p:spPr bwMode="auto">
          <a:xfrm>
            <a:off x="7696200" y="152400"/>
            <a:ext cx="1447800" cy="838200"/>
          </a:xfrm>
          <a:prstGeom prst="rect">
            <a:avLst/>
          </a:prstGeom>
          <a:noFill/>
          <a:ln>
            <a:noFill/>
          </a:ln>
          <a:effectLst/>
        </p:spPr>
        <p:txBody>
          <a:bodyPr lIns="92075" tIns="46038" rIns="92075" bIns="46038" anchor="ctr"/>
          <a:lstStyle>
            <a:lvl1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10.2</a:t>
            </a:r>
            <a:endParaRPr kumimoji="1" lang="zh-CN" altLang="en-US" sz="4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656407" name="Group 23"/>
          <p:cNvGrpSpPr/>
          <p:nvPr/>
        </p:nvGrpSpPr>
        <p:grpSpPr>
          <a:xfrm>
            <a:off x="1004888" y="855663"/>
            <a:ext cx="6005512" cy="3487737"/>
            <a:chOff x="633" y="539"/>
            <a:chExt cx="3783" cy="2197"/>
          </a:xfrm>
        </p:grpSpPr>
        <p:sp>
          <p:nvSpPr>
            <p:cNvPr id="60433" name="Rectangle 24"/>
            <p:cNvSpPr/>
            <p:nvPr/>
          </p:nvSpPr>
          <p:spPr>
            <a:xfrm>
              <a:off x="3216" y="1574"/>
              <a:ext cx="672" cy="259"/>
            </a:xfrm>
            <a:prstGeom prst="rect">
              <a:avLst/>
            </a:prstGeom>
            <a:noFill/>
            <a:ln w="2857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tIns="18000" anchor="ctr" anchorCtr="0"/>
            <a:p>
              <a:pPr algn="ctr" eaLnBrk="1" hangingPunct="1"/>
              <a:r>
                <a:rPr lang="zh-CN" altLang="en-US" dirty="0">
                  <a:latin typeface="Times New Roman" panose="02020603050405020304" pitchFamily="18" charset="0"/>
                </a:rPr>
                <a:t>多路选择</a:t>
              </a: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60434" name="Group 25"/>
            <p:cNvGrpSpPr/>
            <p:nvPr/>
          </p:nvGrpSpPr>
          <p:grpSpPr>
            <a:xfrm>
              <a:off x="3216" y="569"/>
              <a:ext cx="1200" cy="250"/>
              <a:chOff x="3216" y="1008"/>
              <a:chExt cx="1200" cy="279"/>
            </a:xfrm>
          </p:grpSpPr>
          <p:sp>
            <p:nvSpPr>
              <p:cNvPr id="60460" name="Rectangle 26"/>
              <p:cNvSpPr/>
              <p:nvPr/>
            </p:nvSpPr>
            <p:spPr>
              <a:xfrm>
                <a:off x="3216" y="1008"/>
                <a:ext cx="1200" cy="240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等线" panose="02010600030101010101" pitchFamily="2" charset="-122"/>
                </a:endParaRPr>
              </a:p>
            </p:txBody>
          </p:sp>
          <p:sp>
            <p:nvSpPr>
              <p:cNvPr id="60461" name="Text Box 27"/>
              <p:cNvSpPr txBox="1"/>
              <p:nvPr/>
            </p:nvSpPr>
            <p:spPr>
              <a:xfrm>
                <a:off x="3216" y="1008"/>
                <a:ext cx="338" cy="279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en-US" altLang="zh-CN" sz="2000" dirty="0">
                    <a:latin typeface="Times New Roman" panose="02020603050405020304" pitchFamily="18" charset="0"/>
                  </a:rPr>
                  <a:t>OP</a:t>
                </a:r>
                <a:endParaRPr lang="en-US" altLang="zh-CN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0462" name="Line 28"/>
              <p:cNvSpPr/>
              <p:nvPr/>
            </p:nvSpPr>
            <p:spPr>
              <a:xfrm>
                <a:off x="3552" y="1008"/>
                <a:ext cx="0" cy="24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60435" name="Text Box 29"/>
            <p:cNvSpPr txBox="1"/>
            <p:nvPr/>
          </p:nvSpPr>
          <p:spPr>
            <a:xfrm>
              <a:off x="2778" y="539"/>
              <a:ext cx="294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dirty="0">
                  <a:latin typeface="Times New Roman" panose="02020603050405020304" pitchFamily="18" charset="0"/>
                </a:rPr>
                <a:t>IR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60436" name="Group 30"/>
            <p:cNvGrpSpPr/>
            <p:nvPr/>
          </p:nvGrpSpPr>
          <p:grpSpPr>
            <a:xfrm>
              <a:off x="1200" y="1824"/>
              <a:ext cx="1488" cy="224"/>
              <a:chOff x="1200" y="1824"/>
              <a:chExt cx="1488" cy="224"/>
            </a:xfrm>
          </p:grpSpPr>
          <p:sp>
            <p:nvSpPr>
              <p:cNvPr id="60457" name="Text Box 31"/>
              <p:cNvSpPr txBox="1"/>
              <p:nvPr/>
            </p:nvSpPr>
            <p:spPr>
              <a:xfrm>
                <a:off x="2137" y="1824"/>
                <a:ext cx="548" cy="21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tIns="18000">
                <a:spAutoFit/>
              </a:bodyPr>
              <a:p>
                <a:pPr eaLnBrk="1" hangingPunct="1"/>
                <a:r>
                  <a:rPr lang="zh-CN" altLang="en-US" dirty="0">
                    <a:latin typeface="Times New Roman" panose="02020603050405020304" pitchFamily="18" charset="0"/>
                  </a:rPr>
                  <a:t>下地址</a:t>
                </a:r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0458" name="Rectangle 32"/>
              <p:cNvSpPr/>
              <p:nvPr/>
            </p:nvSpPr>
            <p:spPr>
              <a:xfrm>
                <a:off x="1200" y="1833"/>
                <a:ext cx="1488" cy="215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等线" panose="02010600030101010101" pitchFamily="2" charset="-122"/>
                </a:endParaRPr>
              </a:p>
            </p:txBody>
          </p:sp>
          <p:sp>
            <p:nvSpPr>
              <p:cNvPr id="60459" name="Line 33"/>
              <p:cNvSpPr/>
              <p:nvPr/>
            </p:nvSpPr>
            <p:spPr>
              <a:xfrm>
                <a:off x="2160" y="1833"/>
                <a:ext cx="0" cy="215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60437" name="Group 34"/>
            <p:cNvGrpSpPr/>
            <p:nvPr/>
          </p:nvGrpSpPr>
          <p:grpSpPr>
            <a:xfrm>
              <a:off x="1200" y="2220"/>
              <a:ext cx="1488" cy="344"/>
              <a:chOff x="1200" y="2352"/>
              <a:chExt cx="1488" cy="384"/>
            </a:xfrm>
          </p:grpSpPr>
          <p:sp>
            <p:nvSpPr>
              <p:cNvPr id="60455" name="Text Box 35"/>
              <p:cNvSpPr txBox="1"/>
              <p:nvPr/>
            </p:nvSpPr>
            <p:spPr>
              <a:xfrm>
                <a:off x="1479" y="2398"/>
                <a:ext cx="916" cy="279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zh-CN" altLang="en-US" sz="2000" dirty="0">
                    <a:latin typeface="Times New Roman" panose="02020603050405020304" pitchFamily="18" charset="0"/>
                  </a:rPr>
                  <a:t>控制存储器</a:t>
                </a:r>
                <a:endParaRPr lang="zh-CN" altLang="en-US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0456" name="Rectangle 36"/>
              <p:cNvSpPr/>
              <p:nvPr/>
            </p:nvSpPr>
            <p:spPr>
              <a:xfrm>
                <a:off x="1200" y="2352"/>
                <a:ext cx="1488" cy="384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等线" panose="02010600030101010101" pitchFamily="2" charset="-122"/>
                </a:endParaRPr>
              </a:p>
            </p:txBody>
          </p:sp>
        </p:grpSp>
        <p:sp>
          <p:nvSpPr>
            <p:cNvPr id="60438" name="Line 37"/>
            <p:cNvSpPr/>
            <p:nvPr/>
          </p:nvSpPr>
          <p:spPr>
            <a:xfrm flipV="1">
              <a:off x="1344" y="1617"/>
              <a:ext cx="0" cy="21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60439" name="Line 38"/>
            <p:cNvSpPr/>
            <p:nvPr/>
          </p:nvSpPr>
          <p:spPr>
            <a:xfrm flipV="1">
              <a:off x="1536" y="1617"/>
              <a:ext cx="0" cy="21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60440" name="Line 39"/>
            <p:cNvSpPr/>
            <p:nvPr/>
          </p:nvSpPr>
          <p:spPr>
            <a:xfrm flipV="1">
              <a:off x="2016" y="1617"/>
              <a:ext cx="0" cy="216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stealth" w="med" len="med"/>
            </a:ln>
          </p:spPr>
        </p:sp>
        <p:sp>
          <p:nvSpPr>
            <p:cNvPr id="60441" name="Text Box 40"/>
            <p:cNvSpPr txBox="1"/>
            <p:nvPr/>
          </p:nvSpPr>
          <p:spPr>
            <a:xfrm>
              <a:off x="1622" y="1574"/>
              <a:ext cx="30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400" dirty="0">
                  <a:latin typeface="Times New Roman" panose="02020603050405020304" pitchFamily="18" charset="0"/>
                </a:rPr>
                <a:t>…</a:t>
              </a:r>
              <a:endParaRPr lang="zh-CN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60442" name="AutoShape 41"/>
            <p:cNvSpPr/>
            <p:nvPr/>
          </p:nvSpPr>
          <p:spPr>
            <a:xfrm>
              <a:off x="1896" y="2048"/>
              <a:ext cx="96" cy="172"/>
            </a:xfrm>
            <a:prstGeom prst="upArrow">
              <a:avLst>
                <a:gd name="adj1" fmla="val 50000"/>
                <a:gd name="adj2" fmla="val 44791"/>
              </a:avLst>
            </a:prstGeom>
            <a:solidFill>
              <a:schemeClr val="folHlink"/>
            </a:solidFill>
            <a:ln w="952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vert="eaVert"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60443" name="AutoShape 42"/>
            <p:cNvSpPr/>
            <p:nvPr/>
          </p:nvSpPr>
          <p:spPr>
            <a:xfrm>
              <a:off x="1896" y="2564"/>
              <a:ext cx="96" cy="172"/>
            </a:xfrm>
            <a:prstGeom prst="upArrow">
              <a:avLst>
                <a:gd name="adj1" fmla="val 50000"/>
                <a:gd name="adj2" fmla="val 44791"/>
              </a:avLst>
            </a:prstGeom>
            <a:solidFill>
              <a:schemeClr val="folHlink"/>
            </a:solidFill>
            <a:ln w="952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vert="eaVert"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60444" name="Rectangle 43"/>
            <p:cNvSpPr/>
            <p:nvPr/>
          </p:nvSpPr>
          <p:spPr>
            <a:xfrm>
              <a:off x="1920" y="2693"/>
              <a:ext cx="1632" cy="43"/>
            </a:xfrm>
            <a:prstGeom prst="rect">
              <a:avLst/>
            </a:prstGeom>
            <a:solidFill>
              <a:schemeClr val="folHlink"/>
            </a:solidFill>
            <a:ln w="952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60445" name="Rectangle 44"/>
            <p:cNvSpPr/>
            <p:nvPr/>
          </p:nvSpPr>
          <p:spPr>
            <a:xfrm>
              <a:off x="3528" y="1833"/>
              <a:ext cx="48" cy="903"/>
            </a:xfrm>
            <a:prstGeom prst="rect">
              <a:avLst/>
            </a:prstGeom>
            <a:solidFill>
              <a:schemeClr val="folHlink"/>
            </a:solidFill>
            <a:ln w="952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60446" name="AutoShape 45"/>
            <p:cNvSpPr/>
            <p:nvPr/>
          </p:nvSpPr>
          <p:spPr>
            <a:xfrm>
              <a:off x="2400" y="1648"/>
              <a:ext cx="805" cy="87"/>
            </a:xfrm>
            <a:prstGeom prst="rightArrow">
              <a:avLst>
                <a:gd name="adj1" fmla="val 60833"/>
                <a:gd name="adj2" fmla="val 127698"/>
              </a:avLst>
            </a:prstGeom>
            <a:solidFill>
              <a:schemeClr val="folHlink"/>
            </a:solidFill>
            <a:ln w="952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60447" name="Rectangle 46"/>
            <p:cNvSpPr/>
            <p:nvPr/>
          </p:nvSpPr>
          <p:spPr>
            <a:xfrm>
              <a:off x="2400" y="1676"/>
              <a:ext cx="48" cy="156"/>
            </a:xfrm>
            <a:prstGeom prst="rect">
              <a:avLst/>
            </a:prstGeom>
            <a:solidFill>
              <a:schemeClr val="folHlink"/>
            </a:solidFill>
            <a:ln w="952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60448" name="AutoShape 47"/>
            <p:cNvSpPr/>
            <p:nvPr/>
          </p:nvSpPr>
          <p:spPr>
            <a:xfrm>
              <a:off x="3506" y="1400"/>
              <a:ext cx="96" cy="174"/>
            </a:xfrm>
            <a:prstGeom prst="downArrow">
              <a:avLst>
                <a:gd name="adj1" fmla="val 50000"/>
                <a:gd name="adj2" fmla="val 45312"/>
              </a:avLst>
            </a:prstGeom>
            <a:solidFill>
              <a:schemeClr val="folHlink"/>
            </a:solidFill>
            <a:ln w="952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vert="eaVert"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60449" name="AutoShape 48"/>
            <p:cNvSpPr/>
            <p:nvPr/>
          </p:nvSpPr>
          <p:spPr>
            <a:xfrm>
              <a:off x="3312" y="793"/>
              <a:ext cx="96" cy="174"/>
            </a:xfrm>
            <a:prstGeom prst="downArrow">
              <a:avLst>
                <a:gd name="adj1" fmla="val 50000"/>
                <a:gd name="adj2" fmla="val 45312"/>
              </a:avLst>
            </a:prstGeom>
            <a:solidFill>
              <a:schemeClr val="folHlink"/>
            </a:solidFill>
            <a:ln w="9525" cap="flat" cmpd="sng">
              <a:solidFill>
                <a:schemeClr val="folHlink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vert="eaVert" wrap="none" anchor="ctr" anchorCtr="0"/>
            <a:p>
              <a:pPr eaLnBrk="1" hangingPunct="1"/>
              <a:endParaRPr lang="zh-CN" altLang="en-US" dirty="0">
                <a:latin typeface="等线" panose="02010600030101010101" pitchFamily="2" charset="-122"/>
              </a:endParaRPr>
            </a:p>
          </p:txBody>
        </p:sp>
        <p:sp>
          <p:nvSpPr>
            <p:cNvPr id="60450" name="Text Box 49"/>
            <p:cNvSpPr txBox="1"/>
            <p:nvPr/>
          </p:nvSpPr>
          <p:spPr>
            <a:xfrm>
              <a:off x="633" y="1833"/>
              <a:ext cx="615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en-US" altLang="zh-CN" sz="2000" dirty="0">
                  <a:latin typeface="Times New Roman" panose="02020603050405020304" pitchFamily="18" charset="0"/>
                </a:rPr>
                <a:t>CMDR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60451" name="Text Box 50"/>
            <p:cNvSpPr txBox="1"/>
            <p:nvPr/>
          </p:nvSpPr>
          <p:spPr>
            <a:xfrm>
              <a:off x="1304" y="1401"/>
              <a:ext cx="75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控制信号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60452" name="Group 51"/>
            <p:cNvGrpSpPr/>
            <p:nvPr/>
          </p:nvGrpSpPr>
          <p:grpSpPr>
            <a:xfrm>
              <a:off x="3216" y="960"/>
              <a:ext cx="778" cy="442"/>
              <a:chOff x="3367" y="1094"/>
              <a:chExt cx="778" cy="442"/>
            </a:xfrm>
          </p:grpSpPr>
          <p:sp>
            <p:nvSpPr>
              <p:cNvPr id="60453" name="Text Box 52"/>
              <p:cNvSpPr txBox="1"/>
              <p:nvPr/>
            </p:nvSpPr>
            <p:spPr>
              <a:xfrm>
                <a:off x="3367" y="1094"/>
                <a:ext cx="774" cy="44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zh-CN" altLang="en-US" sz="2000" dirty="0">
                    <a:latin typeface="Times New Roman" panose="02020603050405020304" pitchFamily="18" charset="0"/>
                  </a:rPr>
                  <a:t> </a:t>
                </a:r>
                <a:r>
                  <a:rPr lang="zh-CN" altLang="en-US" sz="1000" dirty="0">
                    <a:latin typeface="Times New Roman" panose="02020603050405020304" pitchFamily="18" charset="0"/>
                  </a:rPr>
                  <a:t>   </a:t>
                </a:r>
                <a:r>
                  <a:rPr lang="zh-CN" altLang="en-US" sz="2000" dirty="0">
                    <a:latin typeface="Times New Roman" panose="02020603050405020304" pitchFamily="18" charset="0"/>
                  </a:rPr>
                  <a:t>微地址</a:t>
                </a:r>
                <a:endParaRPr lang="en-US" altLang="zh-CN" sz="2000" dirty="0">
                  <a:latin typeface="Times New Roman" panose="02020603050405020304" pitchFamily="18" charset="0"/>
                </a:endParaRPr>
              </a:p>
              <a:p>
                <a:pPr eaLnBrk="1" hangingPunct="1"/>
                <a:r>
                  <a:rPr lang="zh-CN" altLang="en-US" sz="900" dirty="0">
                    <a:latin typeface="Times New Roman" panose="02020603050405020304" pitchFamily="18" charset="0"/>
                  </a:rPr>
                  <a:t> </a:t>
                </a:r>
                <a:r>
                  <a:rPr lang="zh-CN" altLang="en-US" sz="2000" dirty="0">
                    <a:latin typeface="Times New Roman" panose="02020603050405020304" pitchFamily="18" charset="0"/>
                  </a:rPr>
                  <a:t>形成部件</a:t>
                </a:r>
                <a:endParaRPr lang="zh-CN" altLang="en-US" sz="2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0454" name="Rectangle 53"/>
              <p:cNvSpPr/>
              <p:nvPr/>
            </p:nvSpPr>
            <p:spPr>
              <a:xfrm>
                <a:off x="3377" y="1104"/>
                <a:ext cx="768" cy="432"/>
              </a:xfrm>
              <a:prstGeom prst="rect">
                <a:avLst/>
              </a:prstGeom>
              <a:noFill/>
              <a:ln w="2857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eaLnBrk="1" hangingPunct="1"/>
                <a:endParaRPr lang="zh-CN" altLang="en-US" dirty="0">
                  <a:latin typeface="等线" panose="02010600030101010101" pitchFamily="2" charset="-122"/>
                </a:endParaRPr>
              </a:p>
            </p:txBody>
          </p:sp>
        </p:grpSp>
      </p:grpSp>
      <p:sp>
        <p:nvSpPr>
          <p:cNvPr id="60431" name="Text Box 54"/>
          <p:cNvSpPr txBox="1"/>
          <p:nvPr/>
        </p:nvSpPr>
        <p:spPr>
          <a:xfrm>
            <a:off x="319088" y="242888"/>
            <a:ext cx="6081712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800" dirty="0">
                <a:latin typeface="Times New Roman" panose="02020603050405020304" pitchFamily="18" charset="0"/>
              </a:rPr>
              <a:t>(5) 省去了 </a:t>
            </a:r>
            <a:r>
              <a:rPr lang="en-US" altLang="zh-CN" sz="2800" dirty="0">
                <a:latin typeface="Times New Roman" panose="02020603050405020304" pitchFamily="18" charset="0"/>
              </a:rPr>
              <a:t>CMAR </a:t>
            </a:r>
            <a:r>
              <a:rPr lang="zh-CN" altLang="en-US" sz="2800" dirty="0">
                <a:latin typeface="Times New Roman" panose="02020603050405020304" pitchFamily="18" charset="0"/>
              </a:rPr>
              <a:t>的控制存储器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sp>
        <p:nvSpPr>
          <p:cNvPr id="60432" name="AutoShape 55">
            <a:hlinkClick r:id="rId1" action="ppaction://hlinksldjump"/>
          </p:cNvPr>
          <p:cNvSpPr/>
          <p:nvPr/>
        </p:nvSpPr>
        <p:spPr>
          <a:xfrm>
            <a:off x="8589963" y="6516688"/>
            <a:ext cx="539750" cy="333375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endParaRPr lang="zh-CN" altLang="en-US" dirty="0">
              <a:latin typeface="等线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656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56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56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56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56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56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656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656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7" dur="500"/>
                                        <p:tgtEl>
                                          <p:spTgt spid="656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656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656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6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1" dur="500"/>
                                        <p:tgtEl>
                                          <p:spTgt spid="656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6386" grpId="0"/>
      <p:bldP spid="656387" grpId="0"/>
      <p:bldP spid="656388" grpId="0"/>
      <p:bldP spid="656389" grpId="0"/>
      <p:bldP spid="656390" grpId="0"/>
      <p:bldP spid="656391" grpId="0"/>
      <p:bldP spid="656393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1442" name="Text Box 2"/>
          <p:cNvSpPr txBox="1"/>
          <p:nvPr/>
        </p:nvSpPr>
        <p:spPr>
          <a:xfrm>
            <a:off x="457200" y="152400"/>
            <a:ext cx="3548063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3200" dirty="0">
                <a:latin typeface="Times New Roman" panose="02020603050405020304" pitchFamily="18" charset="0"/>
              </a:rPr>
              <a:t>3.  编写微指令码点</a:t>
            </a:r>
            <a:endParaRPr lang="zh-CN" altLang="en-US" sz="3200" dirty="0">
              <a:latin typeface="Times New Roman" panose="02020603050405020304" pitchFamily="18" charset="0"/>
            </a:endParaRPr>
          </a:p>
        </p:txBody>
      </p:sp>
      <p:sp>
        <p:nvSpPr>
          <p:cNvPr id="61443" name="Rectangle 3"/>
          <p:cNvSpPr/>
          <p:nvPr/>
        </p:nvSpPr>
        <p:spPr>
          <a:xfrm>
            <a:off x="5468938" y="5392738"/>
            <a:ext cx="441325" cy="406400"/>
          </a:xfrm>
          <a:prstGeom prst="rect">
            <a:avLst/>
          </a:prstGeom>
          <a:noFill/>
          <a:ln w="9525">
            <a:noFill/>
          </a:ln>
        </p:spPr>
        <p:txBody>
          <a:bodyPr lIns="19050" tIns="19050" rIns="19050" bIns="19050" anchor="ctr" anchorCtr="1"/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</a:pP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444" name="Rectangle 4"/>
          <p:cNvSpPr/>
          <p:nvPr/>
        </p:nvSpPr>
        <p:spPr>
          <a:xfrm>
            <a:off x="5027613" y="5392738"/>
            <a:ext cx="441325" cy="406400"/>
          </a:xfrm>
          <a:prstGeom prst="rect">
            <a:avLst/>
          </a:prstGeom>
          <a:noFill/>
          <a:ln w="9525">
            <a:noFill/>
          </a:ln>
        </p:spPr>
        <p:txBody>
          <a:bodyPr lIns="19050" tIns="19050" rIns="19050" bIns="19050" anchor="ctr" anchorCtr="1"/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</a:pP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57413" name="Rectangle 5"/>
          <p:cNvSpPr/>
          <p:nvPr/>
        </p:nvSpPr>
        <p:spPr>
          <a:xfrm>
            <a:off x="4613275" y="5392738"/>
            <a:ext cx="442913" cy="406400"/>
          </a:xfrm>
          <a:prstGeom prst="rect">
            <a:avLst/>
          </a:prstGeom>
          <a:noFill/>
          <a:ln w="9525">
            <a:noFill/>
          </a:ln>
        </p:spPr>
        <p:txBody>
          <a:bodyPr lIns="19050" tIns="19050" rIns="19050" bIns="19050" anchor="ctr" anchorCtr="1"/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446" name="Rectangle 6"/>
          <p:cNvSpPr/>
          <p:nvPr/>
        </p:nvSpPr>
        <p:spPr>
          <a:xfrm>
            <a:off x="4143375" y="5392738"/>
            <a:ext cx="441325" cy="406400"/>
          </a:xfrm>
          <a:prstGeom prst="rect">
            <a:avLst/>
          </a:prstGeom>
          <a:noFill/>
          <a:ln w="9525">
            <a:noFill/>
          </a:ln>
        </p:spPr>
        <p:txBody>
          <a:bodyPr lIns="19050" tIns="19050" rIns="19050" bIns="19050" anchor="ctr" anchorCtr="1"/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</a:pP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447" name="Rectangle 7"/>
          <p:cNvSpPr/>
          <p:nvPr/>
        </p:nvSpPr>
        <p:spPr>
          <a:xfrm>
            <a:off x="3700463" y="5392738"/>
            <a:ext cx="442912" cy="406400"/>
          </a:xfrm>
          <a:prstGeom prst="rect">
            <a:avLst/>
          </a:prstGeom>
          <a:noFill/>
          <a:ln w="9525">
            <a:noFill/>
          </a:ln>
        </p:spPr>
        <p:txBody>
          <a:bodyPr lIns="19050" tIns="19050" rIns="19050" bIns="19050" anchor="ctr" anchorCtr="1"/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</a:pP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448" name="Rectangle 8"/>
          <p:cNvSpPr/>
          <p:nvPr/>
        </p:nvSpPr>
        <p:spPr>
          <a:xfrm>
            <a:off x="3259138" y="5392738"/>
            <a:ext cx="441325" cy="406400"/>
          </a:xfrm>
          <a:prstGeom prst="rect">
            <a:avLst/>
          </a:prstGeom>
          <a:noFill/>
          <a:ln w="9525">
            <a:noFill/>
          </a:ln>
        </p:spPr>
        <p:txBody>
          <a:bodyPr lIns="19050" tIns="19050" rIns="19050" bIns="19050" anchor="ctr" anchorCtr="1"/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</a:pP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449" name="Rectangle 9"/>
          <p:cNvSpPr/>
          <p:nvPr/>
        </p:nvSpPr>
        <p:spPr>
          <a:xfrm>
            <a:off x="2817813" y="5392738"/>
            <a:ext cx="441325" cy="406400"/>
          </a:xfrm>
          <a:prstGeom prst="rect">
            <a:avLst/>
          </a:prstGeom>
          <a:noFill/>
          <a:ln w="9525">
            <a:noFill/>
          </a:ln>
        </p:spPr>
        <p:txBody>
          <a:bodyPr lIns="19050" tIns="19050" rIns="19050" bIns="19050" anchor="ctr" anchorCtr="1"/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</a:pP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57418" name="Rectangle 10"/>
          <p:cNvSpPr/>
          <p:nvPr/>
        </p:nvSpPr>
        <p:spPr>
          <a:xfrm>
            <a:off x="2374900" y="5392738"/>
            <a:ext cx="442913" cy="406400"/>
          </a:xfrm>
          <a:prstGeom prst="rect">
            <a:avLst/>
          </a:prstGeom>
          <a:noFill/>
          <a:ln w="9525">
            <a:noFill/>
          </a:ln>
        </p:spPr>
        <p:txBody>
          <a:bodyPr lIns="19050" tIns="19050" rIns="19050" bIns="19050" anchor="ctr" anchorCtr="1"/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451" name="Rectangle 11"/>
          <p:cNvSpPr/>
          <p:nvPr/>
        </p:nvSpPr>
        <p:spPr>
          <a:xfrm>
            <a:off x="1963738" y="5392738"/>
            <a:ext cx="411162" cy="406400"/>
          </a:xfrm>
          <a:prstGeom prst="rect">
            <a:avLst/>
          </a:prstGeom>
          <a:noFill/>
          <a:ln w="9525">
            <a:noFill/>
          </a:ln>
        </p:spPr>
        <p:txBody>
          <a:bodyPr lIns="19050" tIns="19050" rIns="19050" bIns="19050" anchor="ctr" anchorCtr="1"/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</a:pP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57420" name="Rectangle 12"/>
          <p:cNvSpPr/>
          <p:nvPr/>
        </p:nvSpPr>
        <p:spPr>
          <a:xfrm>
            <a:off x="1049338" y="5392738"/>
            <a:ext cx="914400" cy="406400"/>
          </a:xfrm>
          <a:prstGeom prst="rect">
            <a:avLst/>
          </a:prstGeom>
          <a:noFill/>
          <a:ln w="9525">
            <a:noFill/>
          </a:ln>
        </p:spPr>
        <p:txBody>
          <a:bodyPr lIns="19050" tIns="19050" rIns="19050" bIns="19050" anchor="ctr" anchorCtr="1"/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16</a:t>
            </a: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57421" name="Rectangle 13"/>
          <p:cNvSpPr/>
          <p:nvPr/>
        </p:nvSpPr>
        <p:spPr>
          <a:xfrm>
            <a:off x="211138" y="5864225"/>
            <a:ext cx="838200" cy="406400"/>
          </a:xfrm>
          <a:prstGeom prst="rect">
            <a:avLst/>
          </a:prstGeom>
          <a:noFill/>
          <a:ln w="9525">
            <a:noFill/>
          </a:ln>
        </p:spPr>
        <p:txBody>
          <a:bodyPr lIns="19050" tIns="19050" rIns="19050" bIns="19050" anchor="ctr" anchorCtr="1"/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LDA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454" name="Rectangle 14"/>
          <p:cNvSpPr/>
          <p:nvPr/>
        </p:nvSpPr>
        <p:spPr>
          <a:xfrm>
            <a:off x="5468938" y="4986338"/>
            <a:ext cx="441325" cy="406400"/>
          </a:xfrm>
          <a:prstGeom prst="rect">
            <a:avLst/>
          </a:prstGeom>
          <a:noFill/>
          <a:ln w="9525">
            <a:noFill/>
          </a:ln>
        </p:spPr>
        <p:txBody>
          <a:bodyPr lIns="19050" tIns="19050" rIns="19050" bIns="19050" anchor="ctr" anchorCtr="1"/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</a:pP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455" name="Rectangle 15"/>
          <p:cNvSpPr/>
          <p:nvPr/>
        </p:nvSpPr>
        <p:spPr>
          <a:xfrm>
            <a:off x="5027613" y="4986338"/>
            <a:ext cx="441325" cy="406400"/>
          </a:xfrm>
          <a:prstGeom prst="rect">
            <a:avLst/>
          </a:prstGeom>
          <a:noFill/>
          <a:ln w="9525">
            <a:noFill/>
          </a:ln>
        </p:spPr>
        <p:txBody>
          <a:bodyPr lIns="19050" tIns="19050" rIns="19050" bIns="19050" anchor="ctr" anchorCtr="1"/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</a:pP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456" name="Rectangle 16"/>
          <p:cNvSpPr/>
          <p:nvPr/>
        </p:nvSpPr>
        <p:spPr>
          <a:xfrm>
            <a:off x="4584700" y="4986338"/>
            <a:ext cx="442913" cy="406400"/>
          </a:xfrm>
          <a:prstGeom prst="rect">
            <a:avLst/>
          </a:prstGeom>
          <a:noFill/>
          <a:ln w="9525">
            <a:noFill/>
          </a:ln>
        </p:spPr>
        <p:txBody>
          <a:bodyPr lIns="19050" tIns="19050" rIns="19050" bIns="19050" anchor="ctr" anchorCtr="1"/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</a:pP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457" name="Rectangle 17"/>
          <p:cNvSpPr/>
          <p:nvPr/>
        </p:nvSpPr>
        <p:spPr>
          <a:xfrm>
            <a:off x="4143375" y="4986338"/>
            <a:ext cx="441325" cy="406400"/>
          </a:xfrm>
          <a:prstGeom prst="rect">
            <a:avLst/>
          </a:prstGeom>
          <a:noFill/>
          <a:ln w="9525">
            <a:noFill/>
          </a:ln>
        </p:spPr>
        <p:txBody>
          <a:bodyPr lIns="19050" tIns="19050" rIns="19050" bIns="19050" anchor="ctr" anchorCtr="1"/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</a:pP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458" name="Rectangle 18"/>
          <p:cNvSpPr/>
          <p:nvPr/>
        </p:nvSpPr>
        <p:spPr>
          <a:xfrm>
            <a:off x="3700463" y="4986338"/>
            <a:ext cx="442912" cy="406400"/>
          </a:xfrm>
          <a:prstGeom prst="rect">
            <a:avLst/>
          </a:prstGeom>
          <a:noFill/>
          <a:ln w="9525">
            <a:noFill/>
          </a:ln>
        </p:spPr>
        <p:txBody>
          <a:bodyPr lIns="19050" tIns="19050" rIns="19050" bIns="19050" anchor="ctr" anchorCtr="1"/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</a:pP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459" name="Rectangle 19"/>
          <p:cNvSpPr/>
          <p:nvPr/>
        </p:nvSpPr>
        <p:spPr>
          <a:xfrm>
            <a:off x="3259138" y="4986338"/>
            <a:ext cx="441325" cy="406400"/>
          </a:xfrm>
          <a:prstGeom prst="rect">
            <a:avLst/>
          </a:prstGeom>
          <a:noFill/>
          <a:ln w="9525">
            <a:noFill/>
          </a:ln>
        </p:spPr>
        <p:txBody>
          <a:bodyPr lIns="19050" tIns="19050" rIns="19050" bIns="19050" anchor="ctr" anchorCtr="1"/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</a:pP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460" name="Rectangle 20"/>
          <p:cNvSpPr/>
          <p:nvPr/>
        </p:nvSpPr>
        <p:spPr>
          <a:xfrm>
            <a:off x="2817813" y="4986338"/>
            <a:ext cx="441325" cy="406400"/>
          </a:xfrm>
          <a:prstGeom prst="rect">
            <a:avLst/>
          </a:prstGeom>
          <a:noFill/>
          <a:ln w="9525">
            <a:noFill/>
          </a:ln>
        </p:spPr>
        <p:txBody>
          <a:bodyPr lIns="19050" tIns="19050" rIns="19050" bIns="19050" anchor="ctr" anchorCtr="1"/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</a:pP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461" name="Rectangle 21"/>
          <p:cNvSpPr/>
          <p:nvPr/>
        </p:nvSpPr>
        <p:spPr>
          <a:xfrm>
            <a:off x="2374900" y="4986338"/>
            <a:ext cx="442913" cy="406400"/>
          </a:xfrm>
          <a:prstGeom prst="rect">
            <a:avLst/>
          </a:prstGeom>
          <a:noFill/>
          <a:ln w="9525">
            <a:noFill/>
          </a:ln>
        </p:spPr>
        <p:txBody>
          <a:bodyPr lIns="19050" tIns="19050" rIns="19050" bIns="19050" anchor="ctr" anchorCtr="1"/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</a:pP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462" name="Rectangle 22"/>
          <p:cNvSpPr/>
          <p:nvPr/>
        </p:nvSpPr>
        <p:spPr>
          <a:xfrm>
            <a:off x="1963738" y="4986338"/>
            <a:ext cx="411162" cy="406400"/>
          </a:xfrm>
          <a:prstGeom prst="rect">
            <a:avLst/>
          </a:prstGeom>
          <a:noFill/>
          <a:ln w="9525">
            <a:noFill/>
          </a:ln>
        </p:spPr>
        <p:txBody>
          <a:bodyPr lIns="19050" tIns="19050" rIns="19050" bIns="19050" anchor="ctr" anchorCtr="1"/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</a:pP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57431" name="Rectangle 23"/>
          <p:cNvSpPr/>
          <p:nvPr/>
        </p:nvSpPr>
        <p:spPr>
          <a:xfrm>
            <a:off x="1049338" y="4986338"/>
            <a:ext cx="914400" cy="406400"/>
          </a:xfrm>
          <a:prstGeom prst="rect">
            <a:avLst/>
          </a:prstGeom>
          <a:noFill/>
          <a:ln w="9525">
            <a:noFill/>
          </a:ln>
        </p:spPr>
        <p:txBody>
          <a:bodyPr lIns="19050" tIns="19050" rIns="19050" bIns="19050" anchor="ctr" anchorCtr="1"/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12</a:t>
            </a: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464" name="Rectangle 24"/>
          <p:cNvSpPr/>
          <p:nvPr/>
        </p:nvSpPr>
        <p:spPr>
          <a:xfrm>
            <a:off x="211138" y="4986338"/>
            <a:ext cx="838200" cy="406400"/>
          </a:xfrm>
          <a:prstGeom prst="rect">
            <a:avLst/>
          </a:prstGeom>
          <a:noFill/>
          <a:ln w="9525">
            <a:noFill/>
          </a:ln>
        </p:spPr>
        <p:txBody>
          <a:bodyPr lIns="19050" tIns="19050" rIns="19050" bIns="19050" anchor="ctr" anchorCtr="1"/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</a:pP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465" name="Rectangle 25"/>
          <p:cNvSpPr/>
          <p:nvPr/>
        </p:nvSpPr>
        <p:spPr>
          <a:xfrm>
            <a:off x="5468938" y="4579938"/>
            <a:ext cx="441325" cy="406400"/>
          </a:xfrm>
          <a:prstGeom prst="rect">
            <a:avLst/>
          </a:prstGeom>
          <a:noFill/>
          <a:ln w="9525">
            <a:noFill/>
          </a:ln>
        </p:spPr>
        <p:txBody>
          <a:bodyPr lIns="19050" tIns="19050" rIns="19050" bIns="19050" anchor="ctr" anchorCtr="1"/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</a:pP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466" name="Rectangle 26"/>
          <p:cNvSpPr/>
          <p:nvPr/>
        </p:nvSpPr>
        <p:spPr>
          <a:xfrm>
            <a:off x="5027613" y="4579938"/>
            <a:ext cx="441325" cy="406400"/>
          </a:xfrm>
          <a:prstGeom prst="rect">
            <a:avLst/>
          </a:prstGeom>
          <a:noFill/>
          <a:ln w="9525">
            <a:noFill/>
          </a:ln>
        </p:spPr>
        <p:txBody>
          <a:bodyPr lIns="19050" tIns="19050" rIns="19050" bIns="19050" anchor="ctr" anchorCtr="1"/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</a:pP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467" name="Rectangle 27"/>
          <p:cNvSpPr/>
          <p:nvPr/>
        </p:nvSpPr>
        <p:spPr>
          <a:xfrm>
            <a:off x="4584700" y="4579938"/>
            <a:ext cx="442913" cy="406400"/>
          </a:xfrm>
          <a:prstGeom prst="rect">
            <a:avLst/>
          </a:prstGeom>
          <a:noFill/>
          <a:ln w="9525">
            <a:noFill/>
          </a:ln>
        </p:spPr>
        <p:txBody>
          <a:bodyPr lIns="19050" tIns="19050" rIns="19050" bIns="19050" anchor="ctr" anchorCtr="1"/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</a:pP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468" name="Rectangle 28"/>
          <p:cNvSpPr/>
          <p:nvPr/>
        </p:nvSpPr>
        <p:spPr>
          <a:xfrm>
            <a:off x="4143375" y="4579938"/>
            <a:ext cx="441325" cy="406400"/>
          </a:xfrm>
          <a:prstGeom prst="rect">
            <a:avLst/>
          </a:prstGeom>
          <a:noFill/>
          <a:ln w="9525">
            <a:noFill/>
          </a:ln>
        </p:spPr>
        <p:txBody>
          <a:bodyPr lIns="19050" tIns="19050" rIns="19050" bIns="19050" anchor="ctr" anchorCtr="1"/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</a:pP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469" name="Rectangle 29"/>
          <p:cNvSpPr/>
          <p:nvPr/>
        </p:nvSpPr>
        <p:spPr>
          <a:xfrm>
            <a:off x="3700463" y="4579938"/>
            <a:ext cx="442912" cy="406400"/>
          </a:xfrm>
          <a:prstGeom prst="rect">
            <a:avLst/>
          </a:prstGeom>
          <a:noFill/>
          <a:ln w="9525">
            <a:noFill/>
          </a:ln>
        </p:spPr>
        <p:txBody>
          <a:bodyPr lIns="19050" tIns="19050" rIns="19050" bIns="19050" anchor="ctr" anchorCtr="1"/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</a:pP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470" name="Rectangle 30"/>
          <p:cNvSpPr/>
          <p:nvPr/>
        </p:nvSpPr>
        <p:spPr>
          <a:xfrm>
            <a:off x="3259138" y="4579938"/>
            <a:ext cx="441325" cy="406400"/>
          </a:xfrm>
          <a:prstGeom prst="rect">
            <a:avLst/>
          </a:prstGeom>
          <a:noFill/>
          <a:ln w="9525">
            <a:noFill/>
          </a:ln>
        </p:spPr>
        <p:txBody>
          <a:bodyPr lIns="19050" tIns="19050" rIns="19050" bIns="19050" anchor="ctr" anchorCtr="1"/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</a:pP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57439" name="Rectangle 31"/>
          <p:cNvSpPr/>
          <p:nvPr/>
        </p:nvSpPr>
        <p:spPr>
          <a:xfrm>
            <a:off x="2817813" y="4579938"/>
            <a:ext cx="441325" cy="406400"/>
          </a:xfrm>
          <a:prstGeom prst="rect">
            <a:avLst/>
          </a:prstGeom>
          <a:noFill/>
          <a:ln w="9525">
            <a:noFill/>
          </a:ln>
        </p:spPr>
        <p:txBody>
          <a:bodyPr lIns="19050" tIns="19050" rIns="19050" bIns="19050" anchor="ctr" anchorCtr="1"/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472" name="Rectangle 32"/>
          <p:cNvSpPr/>
          <p:nvPr/>
        </p:nvSpPr>
        <p:spPr>
          <a:xfrm>
            <a:off x="2374900" y="4579938"/>
            <a:ext cx="442913" cy="406400"/>
          </a:xfrm>
          <a:prstGeom prst="rect">
            <a:avLst/>
          </a:prstGeom>
          <a:noFill/>
          <a:ln w="9525">
            <a:noFill/>
          </a:ln>
        </p:spPr>
        <p:txBody>
          <a:bodyPr lIns="19050" tIns="19050" rIns="19050" bIns="19050" anchor="ctr" anchorCtr="1"/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</a:pP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473" name="Rectangle 33"/>
          <p:cNvSpPr/>
          <p:nvPr/>
        </p:nvSpPr>
        <p:spPr>
          <a:xfrm>
            <a:off x="1963738" y="4579938"/>
            <a:ext cx="411162" cy="406400"/>
          </a:xfrm>
          <a:prstGeom prst="rect">
            <a:avLst/>
          </a:prstGeom>
          <a:noFill/>
          <a:ln w="9525">
            <a:noFill/>
          </a:ln>
        </p:spPr>
        <p:txBody>
          <a:bodyPr lIns="19050" tIns="19050" rIns="19050" bIns="19050" anchor="ctr" anchorCtr="1"/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</a:pP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57442" name="Rectangle 34"/>
          <p:cNvSpPr/>
          <p:nvPr/>
        </p:nvSpPr>
        <p:spPr>
          <a:xfrm>
            <a:off x="1049338" y="4579938"/>
            <a:ext cx="914400" cy="406400"/>
          </a:xfrm>
          <a:prstGeom prst="rect">
            <a:avLst/>
          </a:prstGeom>
          <a:noFill/>
          <a:ln w="9525">
            <a:noFill/>
          </a:ln>
        </p:spPr>
        <p:txBody>
          <a:bodyPr lIns="19050" tIns="19050" rIns="19050" bIns="19050" anchor="ctr" anchorCtr="1"/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11</a:t>
            </a: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57443" name="Rectangle 35"/>
          <p:cNvSpPr/>
          <p:nvPr/>
        </p:nvSpPr>
        <p:spPr>
          <a:xfrm>
            <a:off x="211138" y="4579938"/>
            <a:ext cx="838200" cy="406400"/>
          </a:xfrm>
          <a:prstGeom prst="rect">
            <a:avLst/>
          </a:prstGeom>
          <a:noFill/>
          <a:ln w="9525">
            <a:noFill/>
          </a:ln>
        </p:spPr>
        <p:txBody>
          <a:bodyPr lIns="19050" tIns="19050" rIns="19050" bIns="19050" anchor="ctr" anchorCtr="1"/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ADD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476" name="Rectangle 36"/>
          <p:cNvSpPr/>
          <p:nvPr/>
        </p:nvSpPr>
        <p:spPr>
          <a:xfrm>
            <a:off x="5468938" y="4173538"/>
            <a:ext cx="441325" cy="406400"/>
          </a:xfrm>
          <a:prstGeom prst="rect">
            <a:avLst/>
          </a:prstGeom>
          <a:noFill/>
          <a:ln w="9525">
            <a:noFill/>
          </a:ln>
        </p:spPr>
        <p:txBody>
          <a:bodyPr lIns="19050" tIns="19050" rIns="19050" bIns="19050" anchor="ctr" anchorCtr="1"/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</a:pP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477" name="Rectangle 37"/>
          <p:cNvSpPr/>
          <p:nvPr/>
        </p:nvSpPr>
        <p:spPr>
          <a:xfrm>
            <a:off x="5027613" y="4173538"/>
            <a:ext cx="441325" cy="406400"/>
          </a:xfrm>
          <a:prstGeom prst="rect">
            <a:avLst/>
          </a:prstGeom>
          <a:noFill/>
          <a:ln w="9525">
            <a:noFill/>
          </a:ln>
        </p:spPr>
        <p:txBody>
          <a:bodyPr lIns="19050" tIns="19050" rIns="19050" bIns="19050" anchor="ctr" anchorCtr="1"/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</a:pP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478" name="Rectangle 38"/>
          <p:cNvSpPr/>
          <p:nvPr/>
        </p:nvSpPr>
        <p:spPr>
          <a:xfrm>
            <a:off x="4584700" y="4173538"/>
            <a:ext cx="442913" cy="406400"/>
          </a:xfrm>
          <a:prstGeom prst="rect">
            <a:avLst/>
          </a:prstGeom>
          <a:noFill/>
          <a:ln w="9525">
            <a:noFill/>
          </a:ln>
        </p:spPr>
        <p:txBody>
          <a:bodyPr lIns="19050" tIns="19050" rIns="19050" bIns="19050" anchor="ctr" anchorCtr="1"/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</a:pP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479" name="Rectangle 39"/>
          <p:cNvSpPr/>
          <p:nvPr/>
        </p:nvSpPr>
        <p:spPr>
          <a:xfrm>
            <a:off x="4143375" y="4173538"/>
            <a:ext cx="441325" cy="406400"/>
          </a:xfrm>
          <a:prstGeom prst="rect">
            <a:avLst/>
          </a:prstGeom>
          <a:noFill/>
          <a:ln w="9525">
            <a:noFill/>
          </a:ln>
        </p:spPr>
        <p:txBody>
          <a:bodyPr lIns="19050" tIns="19050" rIns="19050" bIns="19050" anchor="ctr" anchorCtr="1"/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</a:pP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480" name="Rectangle 40"/>
          <p:cNvSpPr/>
          <p:nvPr/>
        </p:nvSpPr>
        <p:spPr>
          <a:xfrm>
            <a:off x="3700463" y="4173538"/>
            <a:ext cx="442912" cy="406400"/>
          </a:xfrm>
          <a:prstGeom prst="rect">
            <a:avLst/>
          </a:prstGeom>
          <a:noFill/>
          <a:ln w="9525">
            <a:noFill/>
          </a:ln>
        </p:spPr>
        <p:txBody>
          <a:bodyPr lIns="19050" tIns="19050" rIns="19050" bIns="19050" anchor="ctr" anchorCtr="1"/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</a:pP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481" name="Rectangle 41"/>
          <p:cNvSpPr/>
          <p:nvPr/>
        </p:nvSpPr>
        <p:spPr>
          <a:xfrm>
            <a:off x="3259138" y="4173538"/>
            <a:ext cx="441325" cy="406400"/>
          </a:xfrm>
          <a:prstGeom prst="rect">
            <a:avLst/>
          </a:prstGeom>
          <a:noFill/>
          <a:ln w="9525">
            <a:noFill/>
          </a:ln>
        </p:spPr>
        <p:txBody>
          <a:bodyPr lIns="19050" tIns="19050" rIns="19050" bIns="19050" anchor="ctr" anchorCtr="1"/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</a:pP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482" name="Rectangle 42"/>
          <p:cNvSpPr/>
          <p:nvPr/>
        </p:nvSpPr>
        <p:spPr>
          <a:xfrm>
            <a:off x="2817813" y="4173538"/>
            <a:ext cx="441325" cy="406400"/>
          </a:xfrm>
          <a:prstGeom prst="rect">
            <a:avLst/>
          </a:prstGeom>
          <a:noFill/>
          <a:ln w="9525">
            <a:noFill/>
          </a:ln>
        </p:spPr>
        <p:txBody>
          <a:bodyPr lIns="19050" tIns="19050" rIns="19050" bIns="19050" anchor="ctr" anchorCtr="1"/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</a:pP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57451" name="Rectangle 43"/>
          <p:cNvSpPr/>
          <p:nvPr/>
        </p:nvSpPr>
        <p:spPr>
          <a:xfrm>
            <a:off x="2374900" y="4173538"/>
            <a:ext cx="442913" cy="406400"/>
          </a:xfrm>
          <a:prstGeom prst="rect">
            <a:avLst/>
          </a:prstGeom>
          <a:noFill/>
          <a:ln w="9525">
            <a:noFill/>
          </a:ln>
        </p:spPr>
        <p:txBody>
          <a:bodyPr lIns="19050" tIns="19050" rIns="19050" bIns="19050" anchor="ctr" anchorCtr="1"/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484" name="Rectangle 44"/>
          <p:cNvSpPr/>
          <p:nvPr/>
        </p:nvSpPr>
        <p:spPr>
          <a:xfrm>
            <a:off x="1963738" y="4173538"/>
            <a:ext cx="411162" cy="406400"/>
          </a:xfrm>
          <a:prstGeom prst="rect">
            <a:avLst/>
          </a:prstGeom>
          <a:noFill/>
          <a:ln w="9525">
            <a:noFill/>
          </a:ln>
        </p:spPr>
        <p:txBody>
          <a:bodyPr lIns="19050" tIns="19050" rIns="19050" bIns="19050" anchor="ctr" anchorCtr="1"/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</a:pP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57453" name="Rectangle 45"/>
          <p:cNvSpPr/>
          <p:nvPr/>
        </p:nvSpPr>
        <p:spPr>
          <a:xfrm>
            <a:off x="1049338" y="4173538"/>
            <a:ext cx="914400" cy="406400"/>
          </a:xfrm>
          <a:prstGeom prst="rect">
            <a:avLst/>
          </a:prstGeom>
          <a:noFill/>
          <a:ln w="9525">
            <a:noFill/>
          </a:ln>
        </p:spPr>
        <p:txBody>
          <a:bodyPr lIns="19050" tIns="19050" rIns="19050" bIns="19050" anchor="ctr" anchorCtr="1"/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10</a:t>
            </a: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486" name="Rectangle 46"/>
          <p:cNvSpPr/>
          <p:nvPr/>
        </p:nvSpPr>
        <p:spPr>
          <a:xfrm>
            <a:off x="5468938" y="3767138"/>
            <a:ext cx="441325" cy="406400"/>
          </a:xfrm>
          <a:prstGeom prst="rect">
            <a:avLst/>
          </a:prstGeom>
          <a:noFill/>
          <a:ln w="9525">
            <a:noFill/>
          </a:ln>
        </p:spPr>
        <p:txBody>
          <a:bodyPr lIns="19050" tIns="19050" rIns="19050" bIns="19050" anchor="ctr" anchorCtr="1"/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</a:pP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487" name="Rectangle 47"/>
          <p:cNvSpPr/>
          <p:nvPr/>
        </p:nvSpPr>
        <p:spPr>
          <a:xfrm>
            <a:off x="5027613" y="3767138"/>
            <a:ext cx="441325" cy="406400"/>
          </a:xfrm>
          <a:prstGeom prst="rect">
            <a:avLst/>
          </a:prstGeom>
          <a:noFill/>
          <a:ln w="9525">
            <a:noFill/>
          </a:ln>
        </p:spPr>
        <p:txBody>
          <a:bodyPr lIns="19050" tIns="19050" rIns="19050" bIns="19050" anchor="ctr" anchorCtr="1"/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</a:pP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488" name="Rectangle 48"/>
          <p:cNvSpPr/>
          <p:nvPr/>
        </p:nvSpPr>
        <p:spPr>
          <a:xfrm>
            <a:off x="4584700" y="3767138"/>
            <a:ext cx="442913" cy="406400"/>
          </a:xfrm>
          <a:prstGeom prst="rect">
            <a:avLst/>
          </a:prstGeom>
          <a:noFill/>
          <a:ln w="9525">
            <a:noFill/>
          </a:ln>
        </p:spPr>
        <p:txBody>
          <a:bodyPr lIns="19050" tIns="19050" rIns="19050" bIns="19050" anchor="ctr" anchorCtr="1"/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</a:pP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489" name="Rectangle 49"/>
          <p:cNvSpPr/>
          <p:nvPr/>
        </p:nvSpPr>
        <p:spPr>
          <a:xfrm>
            <a:off x="4143375" y="3767138"/>
            <a:ext cx="441325" cy="406400"/>
          </a:xfrm>
          <a:prstGeom prst="rect">
            <a:avLst/>
          </a:prstGeom>
          <a:noFill/>
          <a:ln w="9525">
            <a:noFill/>
          </a:ln>
        </p:spPr>
        <p:txBody>
          <a:bodyPr lIns="19050" tIns="19050" rIns="19050" bIns="19050" anchor="ctr" anchorCtr="1"/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</a:pP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490" name="Rectangle 50"/>
          <p:cNvSpPr/>
          <p:nvPr/>
        </p:nvSpPr>
        <p:spPr>
          <a:xfrm>
            <a:off x="3700463" y="3767138"/>
            <a:ext cx="442912" cy="406400"/>
          </a:xfrm>
          <a:prstGeom prst="rect">
            <a:avLst/>
          </a:prstGeom>
          <a:noFill/>
          <a:ln w="9525">
            <a:noFill/>
          </a:ln>
        </p:spPr>
        <p:txBody>
          <a:bodyPr lIns="19050" tIns="19050" rIns="19050" bIns="19050" anchor="ctr" anchorCtr="1"/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</a:pP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491" name="Rectangle 51"/>
          <p:cNvSpPr/>
          <p:nvPr/>
        </p:nvSpPr>
        <p:spPr>
          <a:xfrm>
            <a:off x="3259138" y="3767138"/>
            <a:ext cx="441325" cy="406400"/>
          </a:xfrm>
          <a:prstGeom prst="rect">
            <a:avLst/>
          </a:prstGeom>
          <a:noFill/>
          <a:ln w="9525">
            <a:noFill/>
          </a:ln>
        </p:spPr>
        <p:txBody>
          <a:bodyPr lIns="19050" tIns="19050" rIns="19050" bIns="19050" anchor="ctr" anchorCtr="1"/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</a:pP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492" name="Rectangle 52"/>
          <p:cNvSpPr/>
          <p:nvPr/>
        </p:nvSpPr>
        <p:spPr>
          <a:xfrm>
            <a:off x="2817813" y="3767138"/>
            <a:ext cx="441325" cy="406400"/>
          </a:xfrm>
          <a:prstGeom prst="rect">
            <a:avLst/>
          </a:prstGeom>
          <a:noFill/>
          <a:ln w="9525">
            <a:noFill/>
          </a:ln>
        </p:spPr>
        <p:txBody>
          <a:bodyPr lIns="19050" tIns="19050" rIns="19050" bIns="19050" anchor="ctr" anchorCtr="1"/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</a:pP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493" name="Rectangle 53"/>
          <p:cNvSpPr/>
          <p:nvPr/>
        </p:nvSpPr>
        <p:spPr>
          <a:xfrm>
            <a:off x="2374900" y="3767138"/>
            <a:ext cx="442913" cy="406400"/>
          </a:xfrm>
          <a:prstGeom prst="rect">
            <a:avLst/>
          </a:prstGeom>
          <a:noFill/>
          <a:ln w="9525">
            <a:noFill/>
          </a:ln>
        </p:spPr>
        <p:txBody>
          <a:bodyPr lIns="19050" tIns="19050" rIns="19050" bIns="19050" anchor="ctr" anchorCtr="1"/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</a:pP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494" name="Rectangle 54"/>
          <p:cNvSpPr/>
          <p:nvPr/>
        </p:nvSpPr>
        <p:spPr>
          <a:xfrm>
            <a:off x="1963738" y="3767138"/>
            <a:ext cx="411162" cy="406400"/>
          </a:xfrm>
          <a:prstGeom prst="rect">
            <a:avLst/>
          </a:prstGeom>
          <a:noFill/>
          <a:ln w="9525">
            <a:noFill/>
          </a:ln>
        </p:spPr>
        <p:txBody>
          <a:bodyPr lIns="19050" tIns="19050" rIns="19050" bIns="19050" anchor="ctr" anchorCtr="1"/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</a:pP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57463" name="Rectangle 55"/>
          <p:cNvSpPr/>
          <p:nvPr/>
        </p:nvSpPr>
        <p:spPr>
          <a:xfrm>
            <a:off x="1049338" y="3767138"/>
            <a:ext cx="914400" cy="406400"/>
          </a:xfrm>
          <a:prstGeom prst="rect">
            <a:avLst/>
          </a:prstGeom>
          <a:noFill/>
          <a:ln w="9525">
            <a:noFill/>
          </a:ln>
        </p:spPr>
        <p:txBody>
          <a:bodyPr lIns="19050" tIns="19050" rIns="19050" bIns="19050" anchor="ctr" anchorCtr="1"/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04</a:t>
            </a: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57464" name="Rectangle 56"/>
          <p:cNvSpPr/>
          <p:nvPr/>
        </p:nvSpPr>
        <p:spPr>
          <a:xfrm>
            <a:off x="211138" y="3767138"/>
            <a:ext cx="838200" cy="406400"/>
          </a:xfrm>
          <a:prstGeom prst="rect">
            <a:avLst/>
          </a:prstGeom>
          <a:noFill/>
          <a:ln w="9525">
            <a:noFill/>
          </a:ln>
        </p:spPr>
        <p:txBody>
          <a:bodyPr lIns="19050" tIns="19050" rIns="19050" bIns="19050" anchor="ctr" anchorCtr="1"/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COM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497" name="Rectangle 57"/>
          <p:cNvSpPr/>
          <p:nvPr/>
        </p:nvSpPr>
        <p:spPr>
          <a:xfrm>
            <a:off x="5468938" y="3360738"/>
            <a:ext cx="441325" cy="406400"/>
          </a:xfrm>
          <a:prstGeom prst="rect">
            <a:avLst/>
          </a:prstGeom>
          <a:noFill/>
          <a:ln w="9525">
            <a:noFill/>
          </a:ln>
        </p:spPr>
        <p:txBody>
          <a:bodyPr lIns="19050" tIns="19050" rIns="19050" bIns="19050" anchor="ctr" anchorCtr="1"/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</a:pP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498" name="Rectangle 58"/>
          <p:cNvSpPr/>
          <p:nvPr/>
        </p:nvSpPr>
        <p:spPr>
          <a:xfrm>
            <a:off x="5027613" y="3360738"/>
            <a:ext cx="441325" cy="406400"/>
          </a:xfrm>
          <a:prstGeom prst="rect">
            <a:avLst/>
          </a:prstGeom>
          <a:noFill/>
          <a:ln w="9525">
            <a:noFill/>
          </a:ln>
        </p:spPr>
        <p:txBody>
          <a:bodyPr lIns="19050" tIns="19050" rIns="19050" bIns="19050" anchor="ctr" anchorCtr="1"/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</a:pP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499" name="Rectangle 59"/>
          <p:cNvSpPr/>
          <p:nvPr/>
        </p:nvSpPr>
        <p:spPr>
          <a:xfrm>
            <a:off x="4584700" y="3360738"/>
            <a:ext cx="442913" cy="406400"/>
          </a:xfrm>
          <a:prstGeom prst="rect">
            <a:avLst/>
          </a:prstGeom>
          <a:noFill/>
          <a:ln w="9525">
            <a:noFill/>
          </a:ln>
        </p:spPr>
        <p:txBody>
          <a:bodyPr lIns="19050" tIns="19050" rIns="19050" bIns="19050" anchor="ctr" anchorCtr="1"/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</a:pP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500" name="Rectangle 60"/>
          <p:cNvSpPr/>
          <p:nvPr/>
        </p:nvSpPr>
        <p:spPr>
          <a:xfrm>
            <a:off x="4143375" y="3360738"/>
            <a:ext cx="441325" cy="406400"/>
          </a:xfrm>
          <a:prstGeom prst="rect">
            <a:avLst/>
          </a:prstGeom>
          <a:noFill/>
          <a:ln w="9525">
            <a:noFill/>
          </a:ln>
        </p:spPr>
        <p:txBody>
          <a:bodyPr lIns="19050" tIns="19050" rIns="19050" bIns="19050" anchor="ctr" anchorCtr="1"/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</a:pP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501" name="Rectangle 61"/>
          <p:cNvSpPr/>
          <p:nvPr/>
        </p:nvSpPr>
        <p:spPr>
          <a:xfrm>
            <a:off x="3700463" y="3360738"/>
            <a:ext cx="442912" cy="406400"/>
          </a:xfrm>
          <a:prstGeom prst="rect">
            <a:avLst/>
          </a:prstGeom>
          <a:noFill/>
          <a:ln w="9525">
            <a:noFill/>
          </a:ln>
        </p:spPr>
        <p:txBody>
          <a:bodyPr lIns="19050" tIns="19050" rIns="19050" bIns="19050" anchor="ctr" anchorCtr="1"/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</a:pP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502" name="Rectangle 62"/>
          <p:cNvSpPr/>
          <p:nvPr/>
        </p:nvSpPr>
        <p:spPr>
          <a:xfrm>
            <a:off x="3259138" y="3360738"/>
            <a:ext cx="441325" cy="406400"/>
          </a:xfrm>
          <a:prstGeom prst="rect">
            <a:avLst/>
          </a:prstGeom>
          <a:noFill/>
          <a:ln w="9525">
            <a:noFill/>
          </a:ln>
        </p:spPr>
        <p:txBody>
          <a:bodyPr lIns="19050" tIns="19050" rIns="19050" bIns="19050" anchor="ctr" anchorCtr="1"/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</a:pP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503" name="Rectangle 63"/>
          <p:cNvSpPr/>
          <p:nvPr/>
        </p:nvSpPr>
        <p:spPr>
          <a:xfrm>
            <a:off x="2817813" y="3360738"/>
            <a:ext cx="441325" cy="406400"/>
          </a:xfrm>
          <a:prstGeom prst="rect">
            <a:avLst/>
          </a:prstGeom>
          <a:noFill/>
          <a:ln w="9525">
            <a:noFill/>
          </a:ln>
        </p:spPr>
        <p:txBody>
          <a:bodyPr lIns="19050" tIns="19050" rIns="19050" bIns="19050" anchor="ctr" anchorCtr="1"/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</a:pP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504" name="Rectangle 64"/>
          <p:cNvSpPr/>
          <p:nvPr/>
        </p:nvSpPr>
        <p:spPr>
          <a:xfrm>
            <a:off x="2374900" y="3360738"/>
            <a:ext cx="442913" cy="406400"/>
          </a:xfrm>
          <a:prstGeom prst="rect">
            <a:avLst/>
          </a:prstGeom>
          <a:noFill/>
          <a:ln w="9525">
            <a:noFill/>
          </a:ln>
        </p:spPr>
        <p:txBody>
          <a:bodyPr lIns="19050" tIns="19050" rIns="19050" bIns="19050" anchor="ctr" anchorCtr="1"/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</a:pP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505" name="Rectangle 65"/>
          <p:cNvSpPr/>
          <p:nvPr/>
        </p:nvSpPr>
        <p:spPr>
          <a:xfrm>
            <a:off x="1963738" y="3360738"/>
            <a:ext cx="411162" cy="406400"/>
          </a:xfrm>
          <a:prstGeom prst="rect">
            <a:avLst/>
          </a:prstGeom>
          <a:noFill/>
          <a:ln w="9525">
            <a:noFill/>
          </a:ln>
        </p:spPr>
        <p:txBody>
          <a:bodyPr lIns="19050" tIns="19050" rIns="19050" bIns="19050" anchor="ctr" anchorCtr="1"/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</a:pP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57474" name="Rectangle 66"/>
          <p:cNvSpPr/>
          <p:nvPr/>
        </p:nvSpPr>
        <p:spPr>
          <a:xfrm>
            <a:off x="1049338" y="3360738"/>
            <a:ext cx="914400" cy="406400"/>
          </a:xfrm>
          <a:prstGeom prst="rect">
            <a:avLst/>
          </a:prstGeom>
          <a:noFill/>
          <a:ln w="9525">
            <a:noFill/>
          </a:ln>
        </p:spPr>
        <p:txBody>
          <a:bodyPr lIns="19050" tIns="19050" rIns="19050" bIns="19050" anchor="ctr" anchorCtr="1"/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03</a:t>
            </a: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57475" name="Rectangle 67"/>
          <p:cNvSpPr/>
          <p:nvPr/>
        </p:nvSpPr>
        <p:spPr>
          <a:xfrm>
            <a:off x="211138" y="3360738"/>
            <a:ext cx="838200" cy="406400"/>
          </a:xfrm>
          <a:prstGeom prst="rect">
            <a:avLst/>
          </a:prstGeom>
          <a:noFill/>
          <a:ln w="9525">
            <a:noFill/>
          </a:ln>
        </p:spPr>
        <p:txBody>
          <a:bodyPr lIns="19050" tIns="19050" rIns="19050" bIns="19050" anchor="ctr" anchorCtr="1"/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CLA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508" name="Rectangle 68"/>
          <p:cNvSpPr/>
          <p:nvPr/>
        </p:nvSpPr>
        <p:spPr>
          <a:xfrm>
            <a:off x="5468938" y="2565400"/>
            <a:ext cx="441325" cy="406400"/>
          </a:xfrm>
          <a:prstGeom prst="rect">
            <a:avLst/>
          </a:prstGeom>
          <a:noFill/>
          <a:ln w="9525">
            <a:noFill/>
          </a:ln>
        </p:spPr>
        <p:txBody>
          <a:bodyPr lIns="19050" tIns="19050" rIns="19050" bIns="19050" anchor="ctr" anchorCtr="1"/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</a:pP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509" name="Rectangle 69"/>
          <p:cNvSpPr/>
          <p:nvPr/>
        </p:nvSpPr>
        <p:spPr>
          <a:xfrm>
            <a:off x="5027613" y="2565400"/>
            <a:ext cx="441325" cy="406400"/>
          </a:xfrm>
          <a:prstGeom prst="rect">
            <a:avLst/>
          </a:prstGeom>
          <a:noFill/>
          <a:ln w="9525">
            <a:noFill/>
          </a:ln>
        </p:spPr>
        <p:txBody>
          <a:bodyPr lIns="19050" tIns="19050" rIns="19050" bIns="19050" anchor="ctr" anchorCtr="1"/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</a:pP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510" name="Rectangle 70"/>
          <p:cNvSpPr/>
          <p:nvPr/>
        </p:nvSpPr>
        <p:spPr>
          <a:xfrm>
            <a:off x="4584700" y="2565400"/>
            <a:ext cx="442913" cy="406400"/>
          </a:xfrm>
          <a:prstGeom prst="rect">
            <a:avLst/>
          </a:prstGeom>
          <a:noFill/>
          <a:ln w="9525">
            <a:noFill/>
          </a:ln>
        </p:spPr>
        <p:txBody>
          <a:bodyPr lIns="19050" tIns="19050" rIns="19050" bIns="19050" anchor="ctr" anchorCtr="1"/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</a:pP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511" name="Rectangle 71"/>
          <p:cNvSpPr/>
          <p:nvPr/>
        </p:nvSpPr>
        <p:spPr>
          <a:xfrm>
            <a:off x="4143375" y="2565400"/>
            <a:ext cx="441325" cy="406400"/>
          </a:xfrm>
          <a:prstGeom prst="rect">
            <a:avLst/>
          </a:prstGeom>
          <a:noFill/>
          <a:ln w="9525">
            <a:noFill/>
          </a:ln>
        </p:spPr>
        <p:txBody>
          <a:bodyPr lIns="19050" tIns="19050" rIns="19050" bIns="19050" anchor="ctr" anchorCtr="1"/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</a:pP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57480" name="Rectangle 72"/>
          <p:cNvSpPr/>
          <p:nvPr/>
        </p:nvSpPr>
        <p:spPr>
          <a:xfrm>
            <a:off x="3730625" y="2971800"/>
            <a:ext cx="442913" cy="406400"/>
          </a:xfrm>
          <a:prstGeom prst="rect">
            <a:avLst/>
          </a:prstGeom>
          <a:noFill/>
          <a:ln w="9525">
            <a:noFill/>
          </a:ln>
        </p:spPr>
        <p:txBody>
          <a:bodyPr lIns="19050" tIns="19050" rIns="19050" bIns="19050" anchor="ctr" anchorCtr="1"/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57481" name="Rectangle 73"/>
          <p:cNvSpPr/>
          <p:nvPr/>
        </p:nvSpPr>
        <p:spPr>
          <a:xfrm>
            <a:off x="3259138" y="2565400"/>
            <a:ext cx="441325" cy="406400"/>
          </a:xfrm>
          <a:prstGeom prst="rect">
            <a:avLst/>
          </a:prstGeom>
          <a:noFill/>
          <a:ln w="9525">
            <a:noFill/>
          </a:ln>
        </p:spPr>
        <p:txBody>
          <a:bodyPr lIns="19050" tIns="19050" rIns="19050" bIns="19050" anchor="ctr" anchorCtr="1"/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57482" name="Rectangle 74"/>
          <p:cNvSpPr/>
          <p:nvPr/>
        </p:nvSpPr>
        <p:spPr>
          <a:xfrm>
            <a:off x="2817813" y="2565400"/>
            <a:ext cx="441325" cy="406400"/>
          </a:xfrm>
          <a:prstGeom prst="rect">
            <a:avLst/>
          </a:prstGeom>
          <a:noFill/>
          <a:ln w="9525">
            <a:noFill/>
          </a:ln>
        </p:spPr>
        <p:txBody>
          <a:bodyPr lIns="19050" tIns="19050" rIns="19050" bIns="19050" anchor="ctr" anchorCtr="1"/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515" name="Rectangle 75"/>
          <p:cNvSpPr/>
          <p:nvPr/>
        </p:nvSpPr>
        <p:spPr>
          <a:xfrm>
            <a:off x="2374900" y="2565400"/>
            <a:ext cx="442913" cy="406400"/>
          </a:xfrm>
          <a:prstGeom prst="rect">
            <a:avLst/>
          </a:prstGeom>
          <a:noFill/>
          <a:ln w="9525">
            <a:noFill/>
          </a:ln>
        </p:spPr>
        <p:txBody>
          <a:bodyPr lIns="19050" tIns="19050" rIns="19050" bIns="19050" anchor="ctr" anchorCtr="1"/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</a:pP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516" name="Rectangle 76"/>
          <p:cNvSpPr/>
          <p:nvPr/>
        </p:nvSpPr>
        <p:spPr>
          <a:xfrm>
            <a:off x="1963738" y="2565400"/>
            <a:ext cx="411162" cy="406400"/>
          </a:xfrm>
          <a:prstGeom prst="rect">
            <a:avLst/>
          </a:prstGeom>
          <a:noFill/>
          <a:ln w="9525">
            <a:noFill/>
          </a:ln>
        </p:spPr>
        <p:txBody>
          <a:bodyPr lIns="19050" tIns="19050" rIns="19050" bIns="19050" anchor="ctr" anchorCtr="1"/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</a:pP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57485" name="Rectangle 77"/>
          <p:cNvSpPr/>
          <p:nvPr/>
        </p:nvSpPr>
        <p:spPr>
          <a:xfrm>
            <a:off x="1049338" y="2565400"/>
            <a:ext cx="914400" cy="406400"/>
          </a:xfrm>
          <a:prstGeom prst="rect">
            <a:avLst/>
          </a:prstGeom>
          <a:noFill/>
          <a:ln w="9525">
            <a:noFill/>
          </a:ln>
        </p:spPr>
        <p:txBody>
          <a:bodyPr lIns="19050" tIns="19050" rIns="19050" bIns="19050" anchor="ctr" anchorCtr="1"/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01</a:t>
            </a: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518" name="Rectangle 78"/>
          <p:cNvSpPr/>
          <p:nvPr/>
        </p:nvSpPr>
        <p:spPr>
          <a:xfrm>
            <a:off x="211138" y="2565400"/>
            <a:ext cx="838200" cy="406400"/>
          </a:xfrm>
          <a:prstGeom prst="rect">
            <a:avLst/>
          </a:prstGeom>
          <a:noFill/>
          <a:ln w="9525">
            <a:noFill/>
          </a:ln>
        </p:spPr>
        <p:txBody>
          <a:bodyPr lIns="19050" tIns="19050" rIns="19050" bIns="19050" anchor="ctr" anchorCtr="1"/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</a:pP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519" name="Rectangle 79"/>
          <p:cNvSpPr/>
          <p:nvPr/>
        </p:nvSpPr>
        <p:spPr>
          <a:xfrm>
            <a:off x="5468938" y="2159000"/>
            <a:ext cx="441325" cy="406400"/>
          </a:xfrm>
          <a:prstGeom prst="rect">
            <a:avLst/>
          </a:prstGeom>
          <a:noFill/>
          <a:ln w="9525">
            <a:noFill/>
          </a:ln>
        </p:spPr>
        <p:txBody>
          <a:bodyPr lIns="19050" tIns="19050" rIns="19050" bIns="19050" anchor="ctr" anchorCtr="1"/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</a:pP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520" name="Rectangle 80"/>
          <p:cNvSpPr/>
          <p:nvPr/>
        </p:nvSpPr>
        <p:spPr>
          <a:xfrm>
            <a:off x="5027613" y="2159000"/>
            <a:ext cx="441325" cy="406400"/>
          </a:xfrm>
          <a:prstGeom prst="rect">
            <a:avLst/>
          </a:prstGeom>
          <a:noFill/>
          <a:ln w="9525">
            <a:noFill/>
          </a:ln>
        </p:spPr>
        <p:txBody>
          <a:bodyPr lIns="19050" tIns="19050" rIns="19050" bIns="19050" anchor="ctr" anchorCtr="1"/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</a:pP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521" name="Rectangle 81"/>
          <p:cNvSpPr/>
          <p:nvPr/>
        </p:nvSpPr>
        <p:spPr>
          <a:xfrm>
            <a:off x="4584700" y="2159000"/>
            <a:ext cx="442913" cy="406400"/>
          </a:xfrm>
          <a:prstGeom prst="rect">
            <a:avLst/>
          </a:prstGeom>
          <a:noFill/>
          <a:ln w="9525">
            <a:noFill/>
          </a:ln>
        </p:spPr>
        <p:txBody>
          <a:bodyPr lIns="19050" tIns="19050" rIns="19050" bIns="19050" anchor="ctr" anchorCtr="1"/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</a:pP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522" name="Rectangle 82"/>
          <p:cNvSpPr/>
          <p:nvPr/>
        </p:nvSpPr>
        <p:spPr>
          <a:xfrm>
            <a:off x="4143375" y="2159000"/>
            <a:ext cx="441325" cy="406400"/>
          </a:xfrm>
          <a:prstGeom prst="rect">
            <a:avLst/>
          </a:prstGeom>
          <a:noFill/>
          <a:ln w="9525">
            <a:noFill/>
          </a:ln>
        </p:spPr>
        <p:txBody>
          <a:bodyPr lIns="19050" tIns="19050" rIns="19050" bIns="19050" anchor="ctr" anchorCtr="1"/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</a:pP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523" name="Rectangle 83"/>
          <p:cNvSpPr/>
          <p:nvPr/>
        </p:nvSpPr>
        <p:spPr>
          <a:xfrm>
            <a:off x="3700463" y="2159000"/>
            <a:ext cx="442912" cy="406400"/>
          </a:xfrm>
          <a:prstGeom prst="rect">
            <a:avLst/>
          </a:prstGeom>
          <a:noFill/>
          <a:ln w="9525">
            <a:noFill/>
          </a:ln>
        </p:spPr>
        <p:txBody>
          <a:bodyPr lIns="19050" tIns="19050" rIns="19050" bIns="19050" anchor="ctr" anchorCtr="1"/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</a:pP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524" name="Rectangle 84"/>
          <p:cNvSpPr/>
          <p:nvPr/>
        </p:nvSpPr>
        <p:spPr>
          <a:xfrm>
            <a:off x="3259138" y="2159000"/>
            <a:ext cx="441325" cy="406400"/>
          </a:xfrm>
          <a:prstGeom prst="rect">
            <a:avLst/>
          </a:prstGeom>
          <a:noFill/>
          <a:ln w="9525">
            <a:noFill/>
          </a:ln>
        </p:spPr>
        <p:txBody>
          <a:bodyPr lIns="19050" tIns="19050" rIns="19050" bIns="19050" anchor="ctr" anchorCtr="1"/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</a:pP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525" name="Rectangle 85"/>
          <p:cNvSpPr/>
          <p:nvPr/>
        </p:nvSpPr>
        <p:spPr>
          <a:xfrm>
            <a:off x="2817813" y="2159000"/>
            <a:ext cx="441325" cy="406400"/>
          </a:xfrm>
          <a:prstGeom prst="rect">
            <a:avLst/>
          </a:prstGeom>
          <a:noFill/>
          <a:ln w="9525">
            <a:noFill/>
          </a:ln>
        </p:spPr>
        <p:txBody>
          <a:bodyPr lIns="19050" tIns="19050" rIns="19050" bIns="19050" anchor="ctr" anchorCtr="1"/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</a:pP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57494" name="Rectangle 86"/>
          <p:cNvSpPr/>
          <p:nvPr/>
        </p:nvSpPr>
        <p:spPr>
          <a:xfrm>
            <a:off x="2374900" y="2159000"/>
            <a:ext cx="442913" cy="406400"/>
          </a:xfrm>
          <a:prstGeom prst="rect">
            <a:avLst/>
          </a:prstGeom>
          <a:noFill/>
          <a:ln w="9525">
            <a:noFill/>
          </a:ln>
        </p:spPr>
        <p:txBody>
          <a:bodyPr lIns="19050" tIns="19050" rIns="19050" bIns="19050" anchor="ctr" anchorCtr="1"/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57495" name="Rectangle 87"/>
          <p:cNvSpPr/>
          <p:nvPr/>
        </p:nvSpPr>
        <p:spPr>
          <a:xfrm>
            <a:off x="1963738" y="2159000"/>
            <a:ext cx="411162" cy="406400"/>
          </a:xfrm>
          <a:prstGeom prst="rect">
            <a:avLst/>
          </a:prstGeom>
          <a:noFill/>
          <a:ln w="9525">
            <a:noFill/>
          </a:ln>
        </p:spPr>
        <p:txBody>
          <a:bodyPr lIns="19050" tIns="19050" rIns="19050" bIns="19050" anchor="ctr" anchorCtr="1"/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57496" name="Rectangle 88"/>
          <p:cNvSpPr/>
          <p:nvPr/>
        </p:nvSpPr>
        <p:spPr>
          <a:xfrm>
            <a:off x="1049338" y="2159000"/>
            <a:ext cx="914400" cy="406400"/>
          </a:xfrm>
          <a:prstGeom prst="rect">
            <a:avLst/>
          </a:prstGeom>
          <a:noFill/>
          <a:ln w="9525">
            <a:noFill/>
          </a:ln>
        </p:spPr>
        <p:txBody>
          <a:bodyPr lIns="19050" tIns="19050" rIns="19050" bIns="19050" anchor="ctr" anchorCtr="1"/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00</a:t>
            </a: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529" name="Rectangle 89"/>
          <p:cNvSpPr/>
          <p:nvPr/>
        </p:nvSpPr>
        <p:spPr>
          <a:xfrm>
            <a:off x="211138" y="2159000"/>
            <a:ext cx="838200" cy="406400"/>
          </a:xfrm>
          <a:prstGeom prst="rect">
            <a:avLst/>
          </a:prstGeom>
          <a:noFill/>
          <a:ln w="9525">
            <a:noFill/>
          </a:ln>
        </p:spPr>
        <p:txBody>
          <a:bodyPr lIns="19050" tIns="19050" rIns="19050" bIns="19050" anchor="ctr" anchorCtr="1"/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</a:pP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530" name="Rectangle 90"/>
          <p:cNvSpPr/>
          <p:nvPr/>
        </p:nvSpPr>
        <p:spPr>
          <a:xfrm>
            <a:off x="4584700" y="1752600"/>
            <a:ext cx="442913" cy="406400"/>
          </a:xfrm>
          <a:prstGeom prst="rect">
            <a:avLst/>
          </a:prstGeom>
          <a:noFill/>
          <a:ln w="9525">
            <a:noFill/>
          </a:ln>
        </p:spPr>
        <p:txBody>
          <a:bodyPr lIns="19050" tIns="19050" rIns="19050" bIns="19050" anchor="ctr" anchorCtr="1"/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</a:pP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531" name="Rectangle 91"/>
          <p:cNvSpPr/>
          <p:nvPr/>
        </p:nvSpPr>
        <p:spPr>
          <a:xfrm>
            <a:off x="4143375" y="1752600"/>
            <a:ext cx="441325" cy="406400"/>
          </a:xfrm>
          <a:prstGeom prst="rect">
            <a:avLst/>
          </a:prstGeom>
          <a:noFill/>
          <a:ln w="9525">
            <a:noFill/>
          </a:ln>
        </p:spPr>
        <p:txBody>
          <a:bodyPr lIns="19050" tIns="19050" rIns="19050" bIns="19050" anchor="ctr" anchorCtr="1"/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</a:pP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532" name="Rectangle 92"/>
          <p:cNvSpPr/>
          <p:nvPr/>
        </p:nvSpPr>
        <p:spPr>
          <a:xfrm>
            <a:off x="1963738" y="1752600"/>
            <a:ext cx="411162" cy="406400"/>
          </a:xfrm>
          <a:prstGeom prst="rect">
            <a:avLst/>
          </a:prstGeom>
          <a:noFill/>
          <a:ln w="9525">
            <a:noFill/>
          </a:ln>
        </p:spPr>
        <p:txBody>
          <a:bodyPr lIns="19050" tIns="19050" rIns="19050" bIns="19050" anchor="ctr" anchorCtr="1"/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</a:pP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533" name="Rectangle 93"/>
          <p:cNvSpPr/>
          <p:nvPr/>
        </p:nvSpPr>
        <p:spPr>
          <a:xfrm>
            <a:off x="1049338" y="1752600"/>
            <a:ext cx="914400" cy="406400"/>
          </a:xfrm>
          <a:prstGeom prst="rect">
            <a:avLst/>
          </a:prstGeom>
          <a:noFill/>
          <a:ln w="9525">
            <a:noFill/>
          </a:ln>
        </p:spPr>
        <p:txBody>
          <a:bodyPr lIns="19050" tIns="19050" rIns="19050" bIns="19050" anchor="ctr" anchorCtr="1"/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</a:pP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534" name="Rectangle 94"/>
          <p:cNvSpPr/>
          <p:nvPr/>
        </p:nvSpPr>
        <p:spPr>
          <a:xfrm>
            <a:off x="211138" y="1752600"/>
            <a:ext cx="838200" cy="406400"/>
          </a:xfrm>
          <a:prstGeom prst="rect">
            <a:avLst/>
          </a:prstGeom>
          <a:noFill/>
          <a:ln w="9525">
            <a:noFill/>
          </a:ln>
        </p:spPr>
        <p:txBody>
          <a:bodyPr lIns="19050" tIns="19050" rIns="19050" bIns="19050" anchor="ctr" anchorCtr="1"/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</a:pP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57503" name="Rectangle 95"/>
          <p:cNvSpPr/>
          <p:nvPr/>
        </p:nvSpPr>
        <p:spPr>
          <a:xfrm>
            <a:off x="1049338" y="779463"/>
            <a:ext cx="914400" cy="973137"/>
          </a:xfrm>
          <a:prstGeom prst="rect">
            <a:avLst/>
          </a:prstGeom>
          <a:noFill/>
          <a:ln w="9525">
            <a:noFill/>
          </a:ln>
        </p:spPr>
        <p:txBody>
          <a:bodyPr lIns="19050" tIns="19050" rIns="19050" bIns="19050" anchor="ctr" anchorCtr="1"/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  微指令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    地址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(八进制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57504" name="Rectangle 96"/>
          <p:cNvSpPr/>
          <p:nvPr/>
        </p:nvSpPr>
        <p:spPr>
          <a:xfrm>
            <a:off x="211138" y="779463"/>
            <a:ext cx="838200" cy="973137"/>
          </a:xfrm>
          <a:prstGeom prst="rect">
            <a:avLst/>
          </a:prstGeom>
          <a:noFill/>
          <a:ln w="9525">
            <a:noFill/>
          </a:ln>
        </p:spPr>
        <p:txBody>
          <a:bodyPr lIns="19050" tIns="19050" rIns="19050" bIns="19050" anchor="ctr" anchorCtr="1"/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 微程序      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  名称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657505" name="Group 97"/>
          <p:cNvGrpSpPr/>
          <p:nvPr/>
        </p:nvGrpSpPr>
        <p:grpSpPr>
          <a:xfrm>
            <a:off x="5910263" y="5392738"/>
            <a:ext cx="2652712" cy="406400"/>
            <a:chOff x="3782" y="3397"/>
            <a:chExt cx="1671" cy="256"/>
          </a:xfrm>
        </p:grpSpPr>
        <p:sp>
          <p:nvSpPr>
            <p:cNvPr id="61709" name="Rectangle 98"/>
            <p:cNvSpPr/>
            <p:nvPr/>
          </p:nvSpPr>
          <p:spPr>
            <a:xfrm>
              <a:off x="4618" y="3397"/>
              <a:ext cx="278" cy="25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050" tIns="19050" rIns="19050" bIns="19050" anchor="ctr" anchorCtr="1"/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1710" name="Rectangle 99"/>
            <p:cNvSpPr/>
            <p:nvPr/>
          </p:nvSpPr>
          <p:spPr>
            <a:xfrm>
              <a:off x="4339" y="3397"/>
              <a:ext cx="279" cy="25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050" tIns="19050" rIns="19050" bIns="19050" anchor="ctr" anchorCtr="1"/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1711" name="Rectangle 100"/>
            <p:cNvSpPr/>
            <p:nvPr/>
          </p:nvSpPr>
          <p:spPr>
            <a:xfrm>
              <a:off x="4061" y="3397"/>
              <a:ext cx="278" cy="25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050" tIns="19050" rIns="19050" bIns="19050" anchor="ctr" anchorCtr="1"/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1712" name="Rectangle 101"/>
            <p:cNvSpPr/>
            <p:nvPr/>
          </p:nvSpPr>
          <p:spPr>
            <a:xfrm>
              <a:off x="3782" y="3397"/>
              <a:ext cx="279" cy="25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050" tIns="19050" rIns="19050" bIns="19050" anchor="ctr" anchorCtr="1"/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1713" name="Rectangle 102"/>
            <p:cNvSpPr/>
            <p:nvPr/>
          </p:nvSpPr>
          <p:spPr>
            <a:xfrm>
              <a:off x="5175" y="3397"/>
              <a:ext cx="278" cy="256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1</a:t>
              </a:r>
              <a:endPara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1714" name="Rectangle 103"/>
            <p:cNvSpPr/>
            <p:nvPr/>
          </p:nvSpPr>
          <p:spPr>
            <a:xfrm>
              <a:off x="4896" y="3397"/>
              <a:ext cx="279" cy="256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1</a:t>
              </a:r>
              <a:endPara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657512" name="Group 104"/>
          <p:cNvGrpSpPr/>
          <p:nvPr/>
        </p:nvGrpSpPr>
        <p:grpSpPr>
          <a:xfrm>
            <a:off x="5910263" y="4986338"/>
            <a:ext cx="2652712" cy="406400"/>
            <a:chOff x="3782" y="3141"/>
            <a:chExt cx="1671" cy="256"/>
          </a:xfrm>
        </p:grpSpPr>
        <p:sp>
          <p:nvSpPr>
            <p:cNvPr id="61703" name="Rectangle 105"/>
            <p:cNvSpPr/>
            <p:nvPr/>
          </p:nvSpPr>
          <p:spPr>
            <a:xfrm>
              <a:off x="4618" y="3141"/>
              <a:ext cx="278" cy="25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050" tIns="19050" rIns="19050" bIns="19050" anchor="ctr" anchorCtr="1"/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zh-CN" altLang="en-US" sz="2000" dirty="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lang="zh-CN" altLang="en-US" sz="2000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1704" name="Rectangle 106"/>
            <p:cNvSpPr/>
            <p:nvPr/>
          </p:nvSpPr>
          <p:spPr>
            <a:xfrm>
              <a:off x="4339" y="3141"/>
              <a:ext cx="279" cy="25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050" tIns="19050" rIns="19050" bIns="19050" anchor="ctr" anchorCtr="1"/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zh-CN" altLang="en-US" sz="2000" dirty="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lang="zh-CN" altLang="en-US" sz="2000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1705" name="Rectangle 107"/>
            <p:cNvSpPr/>
            <p:nvPr/>
          </p:nvSpPr>
          <p:spPr>
            <a:xfrm>
              <a:off x="4061" y="3141"/>
              <a:ext cx="278" cy="25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050" tIns="19050" rIns="19050" bIns="19050" anchor="ctr" anchorCtr="1"/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zh-CN" altLang="en-US" sz="2000" dirty="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lang="zh-CN" altLang="en-US" sz="2000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1706" name="Rectangle 108"/>
            <p:cNvSpPr/>
            <p:nvPr/>
          </p:nvSpPr>
          <p:spPr>
            <a:xfrm>
              <a:off x="3782" y="3141"/>
              <a:ext cx="279" cy="25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050" tIns="19050" rIns="19050" bIns="19050" anchor="ctr" anchorCtr="1"/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zh-CN" altLang="en-US" sz="2000" dirty="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lang="zh-CN" altLang="en-US" sz="2000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1707" name="Rectangle 109"/>
            <p:cNvSpPr/>
            <p:nvPr/>
          </p:nvSpPr>
          <p:spPr>
            <a:xfrm>
              <a:off x="5175" y="3141"/>
              <a:ext cx="278" cy="256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zh-CN" altLang="en-US" sz="2000" dirty="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 0</a:t>
              </a:r>
              <a:endParaRPr lang="zh-CN" altLang="en-US" sz="2000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1708" name="Rectangle 110"/>
            <p:cNvSpPr/>
            <p:nvPr/>
          </p:nvSpPr>
          <p:spPr>
            <a:xfrm>
              <a:off x="4896" y="3141"/>
              <a:ext cx="279" cy="256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zh-CN" altLang="en-US" sz="2000" dirty="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 0</a:t>
              </a:r>
              <a:endParaRPr lang="zh-CN" altLang="en-US" sz="2000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657519" name="Group 111"/>
          <p:cNvGrpSpPr/>
          <p:nvPr/>
        </p:nvGrpSpPr>
        <p:grpSpPr>
          <a:xfrm>
            <a:off x="5910263" y="4579938"/>
            <a:ext cx="2652712" cy="406400"/>
            <a:chOff x="3782" y="2885"/>
            <a:chExt cx="1671" cy="256"/>
          </a:xfrm>
        </p:grpSpPr>
        <p:sp>
          <p:nvSpPr>
            <p:cNvPr id="61697" name="Rectangle 112"/>
            <p:cNvSpPr/>
            <p:nvPr/>
          </p:nvSpPr>
          <p:spPr>
            <a:xfrm>
              <a:off x="4618" y="2885"/>
              <a:ext cx="278" cy="25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050" tIns="19050" rIns="19050" bIns="19050" anchor="ctr" anchorCtr="1"/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1698" name="Rectangle 113"/>
            <p:cNvSpPr/>
            <p:nvPr/>
          </p:nvSpPr>
          <p:spPr>
            <a:xfrm>
              <a:off x="4339" y="2885"/>
              <a:ext cx="279" cy="25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050" tIns="19050" rIns="19050" bIns="19050" anchor="ctr" anchorCtr="1"/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1699" name="Rectangle 114"/>
            <p:cNvSpPr/>
            <p:nvPr/>
          </p:nvSpPr>
          <p:spPr>
            <a:xfrm>
              <a:off x="4061" y="2885"/>
              <a:ext cx="278" cy="25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050" tIns="19050" rIns="19050" bIns="19050" anchor="ctr" anchorCtr="1"/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1700" name="Rectangle 115"/>
            <p:cNvSpPr/>
            <p:nvPr/>
          </p:nvSpPr>
          <p:spPr>
            <a:xfrm>
              <a:off x="3782" y="2885"/>
              <a:ext cx="279" cy="25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050" tIns="19050" rIns="19050" bIns="19050" anchor="ctr" anchorCtr="1"/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1701" name="Rectangle 116"/>
            <p:cNvSpPr/>
            <p:nvPr/>
          </p:nvSpPr>
          <p:spPr>
            <a:xfrm>
              <a:off x="5175" y="2885"/>
              <a:ext cx="278" cy="256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0</a:t>
              </a:r>
              <a:endPara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1702" name="Rectangle 117"/>
            <p:cNvSpPr/>
            <p:nvPr/>
          </p:nvSpPr>
          <p:spPr>
            <a:xfrm>
              <a:off x="4896" y="2885"/>
              <a:ext cx="279" cy="256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1</a:t>
              </a:r>
              <a:endPara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657526" name="Group 118"/>
          <p:cNvGrpSpPr/>
          <p:nvPr/>
        </p:nvGrpSpPr>
        <p:grpSpPr>
          <a:xfrm>
            <a:off x="5910263" y="3767138"/>
            <a:ext cx="2652712" cy="406400"/>
            <a:chOff x="3782" y="2373"/>
            <a:chExt cx="1671" cy="256"/>
          </a:xfrm>
        </p:grpSpPr>
        <p:sp>
          <p:nvSpPr>
            <p:cNvPr id="61691" name="Rectangle 119"/>
            <p:cNvSpPr/>
            <p:nvPr/>
          </p:nvSpPr>
          <p:spPr>
            <a:xfrm>
              <a:off x="4618" y="2373"/>
              <a:ext cx="278" cy="25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050" tIns="19050" rIns="19050" bIns="19050" anchor="ctr" anchorCtr="1"/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zh-CN" altLang="en-US" sz="2000" dirty="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lang="zh-CN" altLang="en-US" sz="2000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1692" name="Rectangle 120"/>
            <p:cNvSpPr/>
            <p:nvPr/>
          </p:nvSpPr>
          <p:spPr>
            <a:xfrm>
              <a:off x="4339" y="2373"/>
              <a:ext cx="279" cy="25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050" tIns="19050" rIns="19050" bIns="19050" anchor="ctr" anchorCtr="1"/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zh-CN" altLang="en-US" sz="2000" dirty="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lang="zh-CN" altLang="en-US" sz="2000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1693" name="Rectangle 121"/>
            <p:cNvSpPr/>
            <p:nvPr/>
          </p:nvSpPr>
          <p:spPr>
            <a:xfrm>
              <a:off x="4061" y="2373"/>
              <a:ext cx="278" cy="25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050" tIns="19050" rIns="19050" bIns="19050" anchor="ctr" anchorCtr="1"/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zh-CN" altLang="en-US" sz="2000" dirty="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lang="zh-CN" altLang="en-US" sz="2000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1694" name="Rectangle 122"/>
            <p:cNvSpPr/>
            <p:nvPr/>
          </p:nvSpPr>
          <p:spPr>
            <a:xfrm>
              <a:off x="3782" y="2373"/>
              <a:ext cx="279" cy="25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050" tIns="19050" rIns="19050" bIns="19050" anchor="ctr" anchorCtr="1"/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zh-CN" altLang="en-US" sz="2000" dirty="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lang="zh-CN" altLang="en-US" sz="2000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1695" name="Rectangle 123"/>
            <p:cNvSpPr/>
            <p:nvPr/>
          </p:nvSpPr>
          <p:spPr>
            <a:xfrm>
              <a:off x="5175" y="2373"/>
              <a:ext cx="278" cy="256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zh-CN" altLang="en-US" sz="2000" dirty="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 0</a:t>
              </a:r>
              <a:endParaRPr lang="zh-CN" altLang="en-US" sz="2000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1696" name="Rectangle 124"/>
            <p:cNvSpPr/>
            <p:nvPr/>
          </p:nvSpPr>
          <p:spPr>
            <a:xfrm>
              <a:off x="4896" y="2373"/>
              <a:ext cx="279" cy="256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zh-CN" altLang="en-US" sz="2000" dirty="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 0</a:t>
              </a:r>
              <a:endParaRPr lang="zh-CN" altLang="en-US" sz="2000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657533" name="Group 125"/>
          <p:cNvGrpSpPr/>
          <p:nvPr/>
        </p:nvGrpSpPr>
        <p:grpSpPr>
          <a:xfrm>
            <a:off x="5910263" y="3360738"/>
            <a:ext cx="2652712" cy="406400"/>
            <a:chOff x="3782" y="2117"/>
            <a:chExt cx="1671" cy="256"/>
          </a:xfrm>
        </p:grpSpPr>
        <p:sp>
          <p:nvSpPr>
            <p:cNvPr id="61685" name="Rectangle 126"/>
            <p:cNvSpPr/>
            <p:nvPr/>
          </p:nvSpPr>
          <p:spPr>
            <a:xfrm>
              <a:off x="4618" y="2117"/>
              <a:ext cx="278" cy="25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050" tIns="19050" rIns="19050" bIns="19050" anchor="ctr" anchorCtr="1"/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zh-CN" altLang="en-US" sz="2000" dirty="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lang="zh-CN" altLang="en-US" sz="2000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1686" name="Rectangle 127"/>
            <p:cNvSpPr/>
            <p:nvPr/>
          </p:nvSpPr>
          <p:spPr>
            <a:xfrm>
              <a:off x="4339" y="2117"/>
              <a:ext cx="279" cy="25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050" tIns="19050" rIns="19050" bIns="19050" anchor="ctr" anchorCtr="1"/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zh-CN" altLang="en-US" sz="2000" dirty="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lang="zh-CN" altLang="en-US" sz="2000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1687" name="Rectangle 128"/>
            <p:cNvSpPr/>
            <p:nvPr/>
          </p:nvSpPr>
          <p:spPr>
            <a:xfrm>
              <a:off x="4061" y="2117"/>
              <a:ext cx="278" cy="25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050" tIns="19050" rIns="19050" bIns="19050" anchor="ctr" anchorCtr="1"/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zh-CN" altLang="en-US" sz="2000" dirty="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lang="zh-CN" altLang="en-US" sz="2000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1688" name="Rectangle 129"/>
            <p:cNvSpPr/>
            <p:nvPr/>
          </p:nvSpPr>
          <p:spPr>
            <a:xfrm>
              <a:off x="3782" y="2117"/>
              <a:ext cx="279" cy="25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050" tIns="19050" rIns="19050" bIns="19050" anchor="ctr" anchorCtr="1"/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zh-CN" altLang="en-US" sz="2000" dirty="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lang="zh-CN" altLang="en-US" sz="2000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1689" name="Rectangle 130"/>
            <p:cNvSpPr/>
            <p:nvPr/>
          </p:nvSpPr>
          <p:spPr>
            <a:xfrm>
              <a:off x="5175" y="2117"/>
              <a:ext cx="278" cy="256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zh-CN" altLang="en-US" sz="2000" dirty="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 0</a:t>
              </a:r>
              <a:endParaRPr lang="zh-CN" altLang="en-US" sz="2000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1690" name="Rectangle 131"/>
            <p:cNvSpPr/>
            <p:nvPr/>
          </p:nvSpPr>
          <p:spPr>
            <a:xfrm>
              <a:off x="4896" y="2117"/>
              <a:ext cx="279" cy="256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zh-CN" altLang="en-US" sz="2000" dirty="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 0</a:t>
              </a:r>
              <a:endParaRPr lang="zh-CN" altLang="en-US" sz="2000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657540" name="Group 132"/>
          <p:cNvGrpSpPr/>
          <p:nvPr/>
        </p:nvGrpSpPr>
        <p:grpSpPr>
          <a:xfrm>
            <a:off x="5910263" y="2159000"/>
            <a:ext cx="2652712" cy="406400"/>
            <a:chOff x="3782" y="1360"/>
            <a:chExt cx="1671" cy="256"/>
          </a:xfrm>
        </p:grpSpPr>
        <p:sp>
          <p:nvSpPr>
            <p:cNvPr id="61679" name="Rectangle 133"/>
            <p:cNvSpPr/>
            <p:nvPr/>
          </p:nvSpPr>
          <p:spPr>
            <a:xfrm>
              <a:off x="4618" y="1360"/>
              <a:ext cx="278" cy="25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050" tIns="19050" rIns="19050" bIns="19050" anchor="ctr" anchorCtr="1"/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1680" name="Rectangle 134"/>
            <p:cNvSpPr/>
            <p:nvPr/>
          </p:nvSpPr>
          <p:spPr>
            <a:xfrm>
              <a:off x="4339" y="1360"/>
              <a:ext cx="279" cy="25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050" tIns="19050" rIns="19050" bIns="19050" anchor="ctr" anchorCtr="1"/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1681" name="Rectangle 135"/>
            <p:cNvSpPr/>
            <p:nvPr/>
          </p:nvSpPr>
          <p:spPr>
            <a:xfrm>
              <a:off x="4061" y="1360"/>
              <a:ext cx="278" cy="25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050" tIns="19050" rIns="19050" bIns="19050" anchor="ctr" anchorCtr="1"/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1682" name="Rectangle 136"/>
            <p:cNvSpPr/>
            <p:nvPr/>
          </p:nvSpPr>
          <p:spPr>
            <a:xfrm>
              <a:off x="3782" y="1360"/>
              <a:ext cx="279" cy="25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050" tIns="19050" rIns="19050" bIns="19050" anchor="ctr" anchorCtr="1"/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1683" name="Rectangle 137"/>
            <p:cNvSpPr/>
            <p:nvPr/>
          </p:nvSpPr>
          <p:spPr>
            <a:xfrm>
              <a:off x="5175" y="1360"/>
              <a:ext cx="278" cy="256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1</a:t>
              </a:r>
              <a:endPara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1684" name="Rectangle 138"/>
            <p:cNvSpPr/>
            <p:nvPr/>
          </p:nvSpPr>
          <p:spPr>
            <a:xfrm>
              <a:off x="4896" y="1360"/>
              <a:ext cx="279" cy="256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0</a:t>
              </a:r>
              <a:endPara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657547" name="Group 139"/>
          <p:cNvGrpSpPr/>
          <p:nvPr/>
        </p:nvGrpSpPr>
        <p:grpSpPr>
          <a:xfrm>
            <a:off x="1044575" y="2157413"/>
            <a:ext cx="7518400" cy="1587"/>
            <a:chOff x="717" y="1590"/>
            <a:chExt cx="4736" cy="1"/>
          </a:xfrm>
        </p:grpSpPr>
        <p:sp>
          <p:nvSpPr>
            <p:cNvPr id="61677" name="Freeform 140"/>
            <p:cNvSpPr/>
            <p:nvPr/>
          </p:nvSpPr>
          <p:spPr>
            <a:xfrm>
              <a:off x="717" y="1590"/>
              <a:ext cx="4179" cy="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179" y="1"/>
                </a:cxn>
              </a:cxnLst>
              <a:pathLst>
                <a:path w="4179" h="1">
                  <a:moveTo>
                    <a:pt x="0" y="0"/>
                  </a:moveTo>
                  <a:lnTo>
                    <a:pt x="4179" y="1"/>
                  </a:lnTo>
                </a:path>
              </a:pathLst>
            </a:custGeom>
            <a:noFill/>
            <a:ln w="1905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61678" name="Line 141"/>
            <p:cNvSpPr/>
            <p:nvPr/>
          </p:nvSpPr>
          <p:spPr>
            <a:xfrm>
              <a:off x="4896" y="1591"/>
              <a:ext cx="55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657550" name="Freeform 142"/>
          <p:cNvSpPr/>
          <p:nvPr/>
        </p:nvSpPr>
        <p:spPr>
          <a:xfrm>
            <a:off x="1054100" y="2566988"/>
            <a:ext cx="7510463" cy="1587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6" y="0"/>
              </a:cxn>
            </a:cxnLst>
            <a:pathLst>
              <a:path w="4731" h="1">
                <a:moveTo>
                  <a:pt x="0" y="0"/>
                </a:moveTo>
                <a:lnTo>
                  <a:pt x="4731" y="0"/>
                </a:lnTo>
              </a:path>
            </a:pathLst>
          </a:custGeom>
          <a:noFill/>
          <a:ln w="19050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grpSp>
        <p:nvGrpSpPr>
          <p:cNvPr id="657551" name="Group 143"/>
          <p:cNvGrpSpPr/>
          <p:nvPr/>
        </p:nvGrpSpPr>
        <p:grpSpPr>
          <a:xfrm>
            <a:off x="211138" y="3360738"/>
            <a:ext cx="8351837" cy="0"/>
            <a:chOff x="192" y="2117"/>
            <a:chExt cx="5261" cy="0"/>
          </a:xfrm>
        </p:grpSpPr>
        <p:sp>
          <p:nvSpPr>
            <p:cNvPr id="61675" name="Line 144"/>
            <p:cNvSpPr/>
            <p:nvPr/>
          </p:nvSpPr>
          <p:spPr>
            <a:xfrm>
              <a:off x="192" y="2117"/>
              <a:ext cx="4704" cy="0"/>
            </a:xfrm>
            <a:prstGeom prst="line">
              <a:avLst/>
            </a:prstGeom>
            <a:ln w="19050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1676" name="Line 145"/>
            <p:cNvSpPr/>
            <p:nvPr/>
          </p:nvSpPr>
          <p:spPr>
            <a:xfrm>
              <a:off x="4896" y="2117"/>
              <a:ext cx="557" cy="0"/>
            </a:xfrm>
            <a:prstGeom prst="line">
              <a:avLst/>
            </a:prstGeom>
            <a:ln w="19050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657554" name="Group 146"/>
          <p:cNvGrpSpPr/>
          <p:nvPr/>
        </p:nvGrpSpPr>
        <p:grpSpPr>
          <a:xfrm>
            <a:off x="211138" y="3767138"/>
            <a:ext cx="8351837" cy="0"/>
            <a:chOff x="192" y="2373"/>
            <a:chExt cx="5261" cy="0"/>
          </a:xfrm>
        </p:grpSpPr>
        <p:sp>
          <p:nvSpPr>
            <p:cNvPr id="61673" name="Line 147"/>
            <p:cNvSpPr/>
            <p:nvPr/>
          </p:nvSpPr>
          <p:spPr>
            <a:xfrm>
              <a:off x="192" y="2373"/>
              <a:ext cx="4704" cy="0"/>
            </a:xfrm>
            <a:prstGeom prst="line">
              <a:avLst/>
            </a:prstGeom>
            <a:ln w="19050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1674" name="Line 148"/>
            <p:cNvSpPr/>
            <p:nvPr/>
          </p:nvSpPr>
          <p:spPr>
            <a:xfrm>
              <a:off x="4896" y="2373"/>
              <a:ext cx="557" cy="0"/>
            </a:xfrm>
            <a:prstGeom prst="line">
              <a:avLst/>
            </a:prstGeom>
            <a:ln w="19050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657557" name="Group 149"/>
          <p:cNvGrpSpPr/>
          <p:nvPr/>
        </p:nvGrpSpPr>
        <p:grpSpPr>
          <a:xfrm>
            <a:off x="211138" y="4173538"/>
            <a:ext cx="8351837" cy="0"/>
            <a:chOff x="192" y="2629"/>
            <a:chExt cx="5261" cy="0"/>
          </a:xfrm>
        </p:grpSpPr>
        <p:sp>
          <p:nvSpPr>
            <p:cNvPr id="61671" name="Line 150"/>
            <p:cNvSpPr/>
            <p:nvPr/>
          </p:nvSpPr>
          <p:spPr>
            <a:xfrm>
              <a:off x="192" y="2629"/>
              <a:ext cx="4704" cy="0"/>
            </a:xfrm>
            <a:prstGeom prst="line">
              <a:avLst/>
            </a:prstGeom>
            <a:ln w="19050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1672" name="Line 151"/>
            <p:cNvSpPr/>
            <p:nvPr/>
          </p:nvSpPr>
          <p:spPr>
            <a:xfrm>
              <a:off x="4896" y="2629"/>
              <a:ext cx="557" cy="0"/>
            </a:xfrm>
            <a:prstGeom prst="line">
              <a:avLst/>
            </a:prstGeom>
            <a:ln w="19050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657560" name="Group 152"/>
          <p:cNvGrpSpPr/>
          <p:nvPr/>
        </p:nvGrpSpPr>
        <p:grpSpPr>
          <a:xfrm>
            <a:off x="1058863" y="4579938"/>
            <a:ext cx="7504112" cy="4762"/>
            <a:chOff x="726" y="2885"/>
            <a:chExt cx="4727" cy="3"/>
          </a:xfrm>
        </p:grpSpPr>
        <p:sp>
          <p:nvSpPr>
            <p:cNvPr id="61669" name="Freeform 153"/>
            <p:cNvSpPr/>
            <p:nvPr/>
          </p:nvSpPr>
          <p:spPr>
            <a:xfrm>
              <a:off x="726" y="2886"/>
              <a:ext cx="4170" cy="2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4170" y="0"/>
                </a:cxn>
              </a:cxnLst>
              <a:pathLst>
                <a:path w="4170" h="2">
                  <a:moveTo>
                    <a:pt x="0" y="2"/>
                  </a:moveTo>
                  <a:lnTo>
                    <a:pt x="4170" y="0"/>
                  </a:lnTo>
                </a:path>
              </a:pathLst>
            </a:custGeom>
            <a:noFill/>
            <a:ln w="1905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61670" name="Line 154"/>
            <p:cNvSpPr/>
            <p:nvPr/>
          </p:nvSpPr>
          <p:spPr>
            <a:xfrm>
              <a:off x="4896" y="2885"/>
              <a:ext cx="55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657563" name="Group 155"/>
          <p:cNvGrpSpPr/>
          <p:nvPr/>
        </p:nvGrpSpPr>
        <p:grpSpPr>
          <a:xfrm>
            <a:off x="1058863" y="4979988"/>
            <a:ext cx="7504112" cy="6350"/>
            <a:chOff x="726" y="3137"/>
            <a:chExt cx="4727" cy="4"/>
          </a:xfrm>
        </p:grpSpPr>
        <p:sp>
          <p:nvSpPr>
            <p:cNvPr id="61667" name="Freeform 156"/>
            <p:cNvSpPr/>
            <p:nvPr/>
          </p:nvSpPr>
          <p:spPr>
            <a:xfrm>
              <a:off x="726" y="3137"/>
              <a:ext cx="4170" cy="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170" y="4"/>
                </a:cxn>
              </a:cxnLst>
              <a:pathLst>
                <a:path w="4170" h="4">
                  <a:moveTo>
                    <a:pt x="0" y="0"/>
                  </a:moveTo>
                  <a:lnTo>
                    <a:pt x="4170" y="4"/>
                  </a:lnTo>
                </a:path>
              </a:pathLst>
            </a:custGeom>
            <a:noFill/>
            <a:ln w="1905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61668" name="Line 157"/>
            <p:cNvSpPr/>
            <p:nvPr/>
          </p:nvSpPr>
          <p:spPr>
            <a:xfrm>
              <a:off x="4896" y="3141"/>
              <a:ext cx="55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657566" name="Group 158"/>
          <p:cNvGrpSpPr/>
          <p:nvPr/>
        </p:nvGrpSpPr>
        <p:grpSpPr>
          <a:xfrm>
            <a:off x="211138" y="5392738"/>
            <a:ext cx="8351837" cy="0"/>
            <a:chOff x="192" y="3397"/>
            <a:chExt cx="5261" cy="0"/>
          </a:xfrm>
        </p:grpSpPr>
        <p:sp>
          <p:nvSpPr>
            <p:cNvPr id="61665" name="Line 159"/>
            <p:cNvSpPr/>
            <p:nvPr/>
          </p:nvSpPr>
          <p:spPr>
            <a:xfrm>
              <a:off x="192" y="3397"/>
              <a:ext cx="4704" cy="0"/>
            </a:xfrm>
            <a:prstGeom prst="line">
              <a:avLst/>
            </a:prstGeom>
            <a:ln w="19050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1666" name="Line 160"/>
            <p:cNvSpPr/>
            <p:nvPr/>
          </p:nvSpPr>
          <p:spPr>
            <a:xfrm>
              <a:off x="4896" y="3397"/>
              <a:ext cx="557" cy="0"/>
            </a:xfrm>
            <a:prstGeom prst="line">
              <a:avLst/>
            </a:prstGeom>
            <a:ln w="19050" cap="flat" cmpd="sng">
              <a:solidFill>
                <a:schemeClr val="folHlink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61551" name="Line 161"/>
          <p:cNvSpPr/>
          <p:nvPr/>
        </p:nvSpPr>
        <p:spPr>
          <a:xfrm flipV="1">
            <a:off x="7678738" y="2420938"/>
            <a:ext cx="0" cy="93662"/>
          </a:xfrm>
          <a:prstGeom prst="line">
            <a:avLst/>
          </a:prstGeom>
          <a:ln w="28575">
            <a:noFill/>
          </a:ln>
        </p:spPr>
      </p:sp>
      <p:sp>
        <p:nvSpPr>
          <p:cNvPr id="657570" name="Text Box 162"/>
          <p:cNvSpPr txBox="1"/>
          <p:nvPr/>
        </p:nvSpPr>
        <p:spPr>
          <a:xfrm>
            <a:off x="3792538" y="776288"/>
            <a:ext cx="2724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000" dirty="0">
                <a:latin typeface="Times New Roman" panose="02020603050405020304" pitchFamily="18" charset="0"/>
              </a:rPr>
              <a:t>微指令（二进制代码</a:t>
            </a:r>
            <a:r>
              <a:rPr lang="en-US" altLang="zh-CN" sz="2000" dirty="0">
                <a:latin typeface="Times New Roman" panose="02020603050405020304" pitchFamily="18" charset="0"/>
              </a:rPr>
              <a:t>）</a:t>
            </a:r>
            <a:endParaRPr lang="en-US" altLang="zh-CN" sz="2000" dirty="0">
              <a:latin typeface="Times New Roman" panose="02020603050405020304" pitchFamily="18" charset="0"/>
            </a:endParaRPr>
          </a:p>
        </p:txBody>
      </p:sp>
      <p:sp>
        <p:nvSpPr>
          <p:cNvPr id="657571" name="Text Box 163"/>
          <p:cNvSpPr txBox="1"/>
          <p:nvPr/>
        </p:nvSpPr>
        <p:spPr>
          <a:xfrm>
            <a:off x="3141663" y="1309688"/>
            <a:ext cx="1708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000" dirty="0">
                <a:latin typeface="Times New Roman" panose="02020603050405020304" pitchFamily="18" charset="0"/>
              </a:rPr>
              <a:t>操作控制字段</a:t>
            </a:r>
            <a:endParaRPr lang="zh-CN" altLang="en-US" sz="2000" dirty="0">
              <a:latin typeface="Times New Roman" panose="02020603050405020304" pitchFamily="18" charset="0"/>
            </a:endParaRPr>
          </a:p>
        </p:txBody>
      </p:sp>
      <p:sp>
        <p:nvSpPr>
          <p:cNvPr id="657572" name="Text Box 164"/>
          <p:cNvSpPr txBox="1"/>
          <p:nvPr/>
        </p:nvSpPr>
        <p:spPr>
          <a:xfrm>
            <a:off x="6445250" y="1309688"/>
            <a:ext cx="1454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000" dirty="0">
                <a:latin typeface="Times New Roman" panose="02020603050405020304" pitchFamily="18" charset="0"/>
              </a:rPr>
              <a:t>下地址字段</a:t>
            </a:r>
            <a:endParaRPr lang="zh-CN" altLang="en-US" sz="2000" dirty="0">
              <a:latin typeface="Times New Roman" panose="02020603050405020304" pitchFamily="18" charset="0"/>
            </a:endParaRPr>
          </a:p>
        </p:txBody>
      </p:sp>
      <p:sp>
        <p:nvSpPr>
          <p:cNvPr id="61555" name="Rectangle 165"/>
          <p:cNvSpPr/>
          <p:nvPr/>
        </p:nvSpPr>
        <p:spPr>
          <a:xfrm>
            <a:off x="211138" y="6223000"/>
            <a:ext cx="838200" cy="406400"/>
          </a:xfrm>
          <a:prstGeom prst="rect">
            <a:avLst/>
          </a:prstGeom>
          <a:noFill/>
          <a:ln w="9525">
            <a:noFill/>
          </a:ln>
        </p:spPr>
        <p:txBody>
          <a:bodyPr lIns="19050" tIns="19050" rIns="19050" bIns="19050" anchor="ctr" anchorCtr="1"/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</a:pP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556" name="Rectangle 166"/>
          <p:cNvSpPr/>
          <p:nvPr/>
        </p:nvSpPr>
        <p:spPr>
          <a:xfrm>
            <a:off x="5468938" y="5816600"/>
            <a:ext cx="441325" cy="406400"/>
          </a:xfrm>
          <a:prstGeom prst="rect">
            <a:avLst/>
          </a:prstGeom>
          <a:noFill/>
          <a:ln w="9525">
            <a:noFill/>
          </a:ln>
        </p:spPr>
        <p:txBody>
          <a:bodyPr lIns="19050" tIns="19050" rIns="19050" bIns="19050" anchor="ctr" anchorCtr="1"/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</a:pP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557" name="Rectangle 167"/>
          <p:cNvSpPr/>
          <p:nvPr/>
        </p:nvSpPr>
        <p:spPr>
          <a:xfrm>
            <a:off x="5027613" y="5816600"/>
            <a:ext cx="441325" cy="406400"/>
          </a:xfrm>
          <a:prstGeom prst="rect">
            <a:avLst/>
          </a:prstGeom>
          <a:noFill/>
          <a:ln w="9525">
            <a:noFill/>
          </a:ln>
        </p:spPr>
        <p:txBody>
          <a:bodyPr lIns="19050" tIns="19050" rIns="19050" bIns="19050" anchor="ctr" anchorCtr="1"/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</a:pP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558" name="Rectangle 168"/>
          <p:cNvSpPr/>
          <p:nvPr/>
        </p:nvSpPr>
        <p:spPr>
          <a:xfrm>
            <a:off x="4584700" y="5816600"/>
            <a:ext cx="442913" cy="406400"/>
          </a:xfrm>
          <a:prstGeom prst="rect">
            <a:avLst/>
          </a:prstGeom>
          <a:noFill/>
          <a:ln w="9525">
            <a:noFill/>
          </a:ln>
        </p:spPr>
        <p:txBody>
          <a:bodyPr lIns="19050" tIns="19050" rIns="19050" bIns="19050" anchor="ctr" anchorCtr="1"/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</a:pP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559" name="Rectangle 169"/>
          <p:cNvSpPr/>
          <p:nvPr/>
        </p:nvSpPr>
        <p:spPr>
          <a:xfrm>
            <a:off x="4143375" y="5816600"/>
            <a:ext cx="441325" cy="406400"/>
          </a:xfrm>
          <a:prstGeom prst="rect">
            <a:avLst/>
          </a:prstGeom>
          <a:noFill/>
          <a:ln w="9525">
            <a:noFill/>
          </a:ln>
        </p:spPr>
        <p:txBody>
          <a:bodyPr lIns="19050" tIns="19050" rIns="19050" bIns="19050" anchor="ctr" anchorCtr="1"/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</a:pP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560" name="Rectangle 170"/>
          <p:cNvSpPr/>
          <p:nvPr/>
        </p:nvSpPr>
        <p:spPr>
          <a:xfrm>
            <a:off x="3700463" y="5816600"/>
            <a:ext cx="442912" cy="406400"/>
          </a:xfrm>
          <a:prstGeom prst="rect">
            <a:avLst/>
          </a:prstGeom>
          <a:noFill/>
          <a:ln w="9525">
            <a:noFill/>
          </a:ln>
        </p:spPr>
        <p:txBody>
          <a:bodyPr lIns="19050" tIns="19050" rIns="19050" bIns="19050" anchor="ctr" anchorCtr="1"/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</a:pP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561" name="Rectangle 171"/>
          <p:cNvSpPr/>
          <p:nvPr/>
        </p:nvSpPr>
        <p:spPr>
          <a:xfrm>
            <a:off x="3259138" y="5816600"/>
            <a:ext cx="441325" cy="406400"/>
          </a:xfrm>
          <a:prstGeom prst="rect">
            <a:avLst/>
          </a:prstGeom>
          <a:noFill/>
          <a:ln w="9525">
            <a:noFill/>
          </a:ln>
        </p:spPr>
        <p:txBody>
          <a:bodyPr lIns="19050" tIns="19050" rIns="19050" bIns="19050" anchor="ctr" anchorCtr="1"/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</a:pP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57580" name="Rectangle 172"/>
          <p:cNvSpPr/>
          <p:nvPr/>
        </p:nvSpPr>
        <p:spPr>
          <a:xfrm>
            <a:off x="2817813" y="5816600"/>
            <a:ext cx="441325" cy="406400"/>
          </a:xfrm>
          <a:prstGeom prst="rect">
            <a:avLst/>
          </a:prstGeom>
          <a:noFill/>
          <a:ln w="9525">
            <a:noFill/>
          </a:ln>
        </p:spPr>
        <p:txBody>
          <a:bodyPr lIns="19050" tIns="19050" rIns="19050" bIns="19050" anchor="ctr" anchorCtr="1"/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563" name="Rectangle 173"/>
          <p:cNvSpPr/>
          <p:nvPr/>
        </p:nvSpPr>
        <p:spPr>
          <a:xfrm>
            <a:off x="2374900" y="5816600"/>
            <a:ext cx="442913" cy="406400"/>
          </a:xfrm>
          <a:prstGeom prst="rect">
            <a:avLst/>
          </a:prstGeom>
          <a:noFill/>
          <a:ln w="9525">
            <a:noFill/>
          </a:ln>
        </p:spPr>
        <p:txBody>
          <a:bodyPr lIns="19050" tIns="19050" rIns="19050" bIns="19050" anchor="ctr" anchorCtr="1"/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</a:pP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564" name="Rectangle 174"/>
          <p:cNvSpPr/>
          <p:nvPr/>
        </p:nvSpPr>
        <p:spPr>
          <a:xfrm>
            <a:off x="1963738" y="5816600"/>
            <a:ext cx="411162" cy="406400"/>
          </a:xfrm>
          <a:prstGeom prst="rect">
            <a:avLst/>
          </a:prstGeom>
          <a:noFill/>
          <a:ln w="9525">
            <a:noFill/>
          </a:ln>
        </p:spPr>
        <p:txBody>
          <a:bodyPr lIns="19050" tIns="19050" rIns="19050" bIns="19050" anchor="ctr" anchorCtr="1"/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</a:pP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57583" name="Rectangle 175"/>
          <p:cNvSpPr/>
          <p:nvPr/>
        </p:nvSpPr>
        <p:spPr>
          <a:xfrm>
            <a:off x="1049338" y="5816600"/>
            <a:ext cx="914400" cy="406400"/>
          </a:xfrm>
          <a:prstGeom prst="rect">
            <a:avLst/>
          </a:prstGeom>
          <a:noFill/>
          <a:ln w="9525">
            <a:noFill/>
          </a:ln>
        </p:spPr>
        <p:txBody>
          <a:bodyPr lIns="19050" tIns="19050" rIns="19050" bIns="19050" anchor="ctr" anchorCtr="1"/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17</a:t>
            </a: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657584" name="Group 176"/>
          <p:cNvGrpSpPr/>
          <p:nvPr/>
        </p:nvGrpSpPr>
        <p:grpSpPr>
          <a:xfrm>
            <a:off x="5910263" y="5816600"/>
            <a:ext cx="2652712" cy="406400"/>
            <a:chOff x="3782" y="3664"/>
            <a:chExt cx="1671" cy="256"/>
          </a:xfrm>
        </p:grpSpPr>
        <p:sp>
          <p:nvSpPr>
            <p:cNvPr id="61659" name="Rectangle 177"/>
            <p:cNvSpPr/>
            <p:nvPr/>
          </p:nvSpPr>
          <p:spPr>
            <a:xfrm>
              <a:off x="4618" y="3664"/>
              <a:ext cx="278" cy="25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050" tIns="19050" rIns="19050" bIns="19050" anchor="ctr" anchorCtr="1"/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1660" name="Rectangle 178"/>
            <p:cNvSpPr/>
            <p:nvPr/>
          </p:nvSpPr>
          <p:spPr>
            <a:xfrm>
              <a:off x="4339" y="3664"/>
              <a:ext cx="279" cy="25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050" tIns="19050" rIns="19050" bIns="19050" anchor="ctr" anchorCtr="1"/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1661" name="Rectangle 179"/>
            <p:cNvSpPr/>
            <p:nvPr/>
          </p:nvSpPr>
          <p:spPr>
            <a:xfrm>
              <a:off x="4061" y="3664"/>
              <a:ext cx="278" cy="25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050" tIns="19050" rIns="19050" bIns="19050" anchor="ctr" anchorCtr="1"/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1662" name="Rectangle 180"/>
            <p:cNvSpPr/>
            <p:nvPr/>
          </p:nvSpPr>
          <p:spPr>
            <a:xfrm>
              <a:off x="3782" y="3664"/>
              <a:ext cx="279" cy="25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050" tIns="19050" rIns="19050" bIns="19050" anchor="ctr" anchorCtr="1"/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1663" name="Rectangle 181"/>
            <p:cNvSpPr/>
            <p:nvPr/>
          </p:nvSpPr>
          <p:spPr>
            <a:xfrm>
              <a:off x="5175" y="3664"/>
              <a:ext cx="278" cy="256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0</a:t>
              </a:r>
              <a:endPara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1664" name="Rectangle 182"/>
            <p:cNvSpPr/>
            <p:nvPr/>
          </p:nvSpPr>
          <p:spPr>
            <a:xfrm>
              <a:off x="4896" y="3664"/>
              <a:ext cx="279" cy="256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0</a:t>
              </a:r>
              <a:endPara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657591" name="Group 183"/>
          <p:cNvGrpSpPr/>
          <p:nvPr/>
        </p:nvGrpSpPr>
        <p:grpSpPr>
          <a:xfrm>
            <a:off x="1054100" y="5816600"/>
            <a:ext cx="7508875" cy="3175"/>
            <a:chOff x="723" y="3664"/>
            <a:chExt cx="4730" cy="2"/>
          </a:xfrm>
        </p:grpSpPr>
        <p:sp>
          <p:nvSpPr>
            <p:cNvPr id="61657" name="Freeform 184"/>
            <p:cNvSpPr/>
            <p:nvPr/>
          </p:nvSpPr>
          <p:spPr>
            <a:xfrm>
              <a:off x="723" y="3665"/>
              <a:ext cx="4173" cy="1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4173" y="0"/>
                </a:cxn>
              </a:cxnLst>
              <a:pathLst>
                <a:path w="4173" h="1">
                  <a:moveTo>
                    <a:pt x="0" y="1"/>
                  </a:moveTo>
                  <a:lnTo>
                    <a:pt x="4173" y="0"/>
                  </a:lnTo>
                </a:path>
              </a:pathLst>
            </a:custGeom>
            <a:noFill/>
            <a:ln w="1905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61658" name="Line 185"/>
            <p:cNvSpPr/>
            <p:nvPr/>
          </p:nvSpPr>
          <p:spPr>
            <a:xfrm>
              <a:off x="4896" y="3664"/>
              <a:ext cx="55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657594" name="Freeform 186"/>
          <p:cNvSpPr/>
          <p:nvPr/>
        </p:nvSpPr>
        <p:spPr>
          <a:xfrm>
            <a:off x="5918200" y="1265238"/>
            <a:ext cx="1588" cy="544671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2147483646"/>
              </a:cxn>
            </a:cxnLst>
            <a:pathLst>
              <a:path w="1" h="3431">
                <a:moveTo>
                  <a:pt x="0" y="0"/>
                </a:moveTo>
                <a:lnTo>
                  <a:pt x="0" y="3431"/>
                </a:lnTo>
              </a:path>
            </a:pathLst>
          </a:custGeom>
          <a:noFill/>
          <a:ln w="19050" cap="flat" cmpd="sng">
            <a:solidFill>
              <a:schemeClr val="tx1">
                <a:alpha val="10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grpSp>
        <p:nvGrpSpPr>
          <p:cNvPr id="657595" name="Group 187"/>
          <p:cNvGrpSpPr/>
          <p:nvPr/>
        </p:nvGrpSpPr>
        <p:grpSpPr>
          <a:xfrm>
            <a:off x="211138" y="779463"/>
            <a:ext cx="8353425" cy="5932487"/>
            <a:chOff x="192" y="491"/>
            <a:chExt cx="5262" cy="3737"/>
          </a:xfrm>
        </p:grpSpPr>
        <p:grpSp>
          <p:nvGrpSpPr>
            <p:cNvPr id="61643" name="Group 188"/>
            <p:cNvGrpSpPr/>
            <p:nvPr/>
          </p:nvGrpSpPr>
          <p:grpSpPr>
            <a:xfrm>
              <a:off x="192" y="1104"/>
              <a:ext cx="5261" cy="0"/>
              <a:chOff x="192" y="1104"/>
              <a:chExt cx="5261" cy="0"/>
            </a:xfrm>
          </p:grpSpPr>
          <p:sp>
            <p:nvSpPr>
              <p:cNvPr id="61655" name="Line 189"/>
              <p:cNvSpPr/>
              <p:nvPr/>
            </p:nvSpPr>
            <p:spPr>
              <a:xfrm>
                <a:off x="192" y="1104"/>
                <a:ext cx="4704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1656" name="Line 190"/>
              <p:cNvSpPr/>
              <p:nvPr/>
            </p:nvSpPr>
            <p:spPr>
              <a:xfrm>
                <a:off x="4896" y="1104"/>
                <a:ext cx="557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61644" name="Freeform 191"/>
            <p:cNvSpPr/>
            <p:nvPr/>
          </p:nvSpPr>
          <p:spPr>
            <a:xfrm>
              <a:off x="1296" y="798"/>
              <a:ext cx="4158" cy="2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4158" y="0"/>
                </a:cxn>
              </a:cxnLst>
              <a:pathLst>
                <a:path w="4158" h="2">
                  <a:moveTo>
                    <a:pt x="0" y="2"/>
                  </a:moveTo>
                  <a:lnTo>
                    <a:pt x="4158" y="0"/>
                  </a:lnTo>
                </a:path>
              </a:pathLst>
            </a:custGeom>
            <a:noFill/>
            <a:ln w="1905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61645" name="Freeform 192"/>
            <p:cNvSpPr/>
            <p:nvPr/>
          </p:nvSpPr>
          <p:spPr>
            <a:xfrm>
              <a:off x="720" y="491"/>
              <a:ext cx="1" cy="373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3733"/>
                </a:cxn>
              </a:cxnLst>
              <a:pathLst>
                <a:path w="1" h="3733">
                  <a:moveTo>
                    <a:pt x="0" y="0"/>
                  </a:moveTo>
                  <a:lnTo>
                    <a:pt x="0" y="3733"/>
                  </a:lnTo>
                </a:path>
              </a:pathLst>
            </a:custGeom>
            <a:noFill/>
            <a:ln w="1905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61646" name="Freeform 193"/>
            <p:cNvSpPr/>
            <p:nvPr/>
          </p:nvSpPr>
          <p:spPr>
            <a:xfrm>
              <a:off x="1296" y="491"/>
              <a:ext cx="1" cy="373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3730"/>
                </a:cxn>
              </a:cxnLst>
              <a:pathLst>
                <a:path w="1" h="3730">
                  <a:moveTo>
                    <a:pt x="0" y="0"/>
                  </a:moveTo>
                  <a:lnTo>
                    <a:pt x="0" y="3730"/>
                  </a:lnTo>
                </a:path>
              </a:pathLst>
            </a:custGeom>
            <a:noFill/>
            <a:ln w="1905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grpSp>
          <p:nvGrpSpPr>
            <p:cNvPr id="61647" name="Group 194"/>
            <p:cNvGrpSpPr/>
            <p:nvPr/>
          </p:nvGrpSpPr>
          <p:grpSpPr>
            <a:xfrm>
              <a:off x="192" y="491"/>
              <a:ext cx="5262" cy="3737"/>
              <a:chOff x="192" y="491"/>
              <a:chExt cx="5262" cy="3737"/>
            </a:xfrm>
          </p:grpSpPr>
          <p:sp>
            <p:nvSpPr>
              <p:cNvPr id="61648" name="Line 195"/>
              <p:cNvSpPr/>
              <p:nvPr/>
            </p:nvSpPr>
            <p:spPr>
              <a:xfrm>
                <a:off x="4896" y="491"/>
                <a:ext cx="557" cy="0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1649" name="Line 196"/>
              <p:cNvSpPr/>
              <p:nvPr/>
            </p:nvSpPr>
            <p:spPr>
              <a:xfrm>
                <a:off x="192" y="491"/>
                <a:ext cx="4704" cy="0"/>
              </a:xfrm>
              <a:prstGeom prst="line">
                <a:avLst/>
              </a:prstGeom>
              <a:ln w="28575" cap="sq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1650" name="Freeform 197"/>
              <p:cNvSpPr/>
              <p:nvPr/>
            </p:nvSpPr>
            <p:spPr>
              <a:xfrm>
                <a:off x="192" y="491"/>
                <a:ext cx="4" cy="373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4" y="3737"/>
                  </a:cxn>
                </a:cxnLst>
                <a:pathLst>
                  <a:path w="4" h="3737">
                    <a:moveTo>
                      <a:pt x="0" y="0"/>
                    </a:moveTo>
                    <a:lnTo>
                      <a:pt x="4" y="3737"/>
                    </a:lnTo>
                  </a:path>
                </a:pathLst>
              </a:custGeom>
              <a:noFill/>
              <a:ln w="28575" cap="sq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61651" name="Freeform 198"/>
              <p:cNvSpPr/>
              <p:nvPr/>
            </p:nvSpPr>
            <p:spPr>
              <a:xfrm>
                <a:off x="5453" y="491"/>
                <a:ext cx="1" cy="373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1" y="3737"/>
                  </a:cxn>
                </a:cxnLst>
                <a:pathLst>
                  <a:path w="1" h="3737">
                    <a:moveTo>
                      <a:pt x="0" y="0"/>
                    </a:moveTo>
                    <a:lnTo>
                      <a:pt x="1" y="3737"/>
                    </a:lnTo>
                  </a:path>
                </a:pathLst>
              </a:custGeom>
              <a:noFill/>
              <a:ln w="28575" cap="sq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grpSp>
            <p:nvGrpSpPr>
              <p:cNvPr id="61652" name="Group 199"/>
              <p:cNvGrpSpPr/>
              <p:nvPr/>
            </p:nvGrpSpPr>
            <p:grpSpPr>
              <a:xfrm>
                <a:off x="192" y="4223"/>
                <a:ext cx="5261" cy="1"/>
                <a:chOff x="192" y="3930"/>
                <a:chExt cx="5261" cy="1"/>
              </a:xfrm>
            </p:grpSpPr>
            <p:sp>
              <p:nvSpPr>
                <p:cNvPr id="61653" name="Freeform 200"/>
                <p:cNvSpPr/>
                <p:nvPr/>
              </p:nvSpPr>
              <p:spPr>
                <a:xfrm>
                  <a:off x="4899" y="3930"/>
                  <a:ext cx="554" cy="1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554" y="1"/>
                    </a:cxn>
                  </a:cxnLst>
                  <a:pathLst>
                    <a:path w="554" h="1">
                      <a:moveTo>
                        <a:pt x="0" y="0"/>
                      </a:moveTo>
                      <a:lnTo>
                        <a:pt x="554" y="1"/>
                      </a:lnTo>
                    </a:path>
                  </a:pathLst>
                </a:custGeom>
                <a:noFill/>
                <a:ln w="28575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61654" name="Line 201"/>
                <p:cNvSpPr/>
                <p:nvPr/>
              </p:nvSpPr>
              <p:spPr>
                <a:xfrm>
                  <a:off x="192" y="3931"/>
                  <a:ext cx="4704" cy="0"/>
                </a:xfrm>
                <a:prstGeom prst="line">
                  <a:avLst/>
                </a:prstGeom>
                <a:ln w="28575" cap="sq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</p:grpSp>
      </p:grpSp>
      <p:sp>
        <p:nvSpPr>
          <p:cNvPr id="657610" name="Text Box 202"/>
          <p:cNvSpPr txBox="1"/>
          <p:nvPr/>
        </p:nvSpPr>
        <p:spPr>
          <a:xfrm>
            <a:off x="287338" y="2346325"/>
            <a:ext cx="692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000" dirty="0">
                <a:latin typeface="Times New Roman" panose="02020603050405020304" pitchFamily="18" charset="0"/>
              </a:rPr>
              <a:t>取指</a:t>
            </a:r>
            <a:endParaRPr lang="zh-CN" altLang="en-US" sz="2000" dirty="0">
              <a:latin typeface="Times New Roman" panose="02020603050405020304" pitchFamily="18" charset="0"/>
            </a:endParaRPr>
          </a:p>
        </p:txBody>
      </p:sp>
      <p:grpSp>
        <p:nvGrpSpPr>
          <p:cNvPr id="657611" name="Group 203"/>
          <p:cNvGrpSpPr/>
          <p:nvPr/>
        </p:nvGrpSpPr>
        <p:grpSpPr>
          <a:xfrm>
            <a:off x="1049338" y="2971800"/>
            <a:ext cx="7508875" cy="1588"/>
            <a:chOff x="723" y="1847"/>
            <a:chExt cx="4730" cy="1"/>
          </a:xfrm>
        </p:grpSpPr>
        <p:sp>
          <p:nvSpPr>
            <p:cNvPr id="61641" name="Freeform 204"/>
            <p:cNvSpPr/>
            <p:nvPr/>
          </p:nvSpPr>
          <p:spPr>
            <a:xfrm>
              <a:off x="723" y="1847"/>
              <a:ext cx="4173" cy="1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4173" y="0"/>
                </a:cxn>
              </a:cxnLst>
              <a:pathLst>
                <a:path w="4173" h="1">
                  <a:moveTo>
                    <a:pt x="0" y="1"/>
                  </a:moveTo>
                  <a:lnTo>
                    <a:pt x="4173" y="0"/>
                  </a:lnTo>
                </a:path>
              </a:pathLst>
            </a:custGeom>
            <a:noFill/>
            <a:ln w="1905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61642" name="Line 205"/>
            <p:cNvSpPr/>
            <p:nvPr/>
          </p:nvSpPr>
          <p:spPr>
            <a:xfrm>
              <a:off x="4896" y="1847"/>
              <a:ext cx="55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657614" name="Rectangle 206"/>
          <p:cNvSpPr/>
          <p:nvPr/>
        </p:nvSpPr>
        <p:spPr>
          <a:xfrm>
            <a:off x="1049338" y="2971800"/>
            <a:ext cx="914400" cy="406400"/>
          </a:xfrm>
          <a:prstGeom prst="rect">
            <a:avLst/>
          </a:prstGeom>
          <a:noFill/>
          <a:ln w="9525">
            <a:noFill/>
          </a:ln>
        </p:spPr>
        <p:txBody>
          <a:bodyPr lIns="19050" tIns="19050" rIns="19050" bIns="19050" anchor="ctr" anchorCtr="1"/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02</a:t>
            </a: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657615" name="Group 207"/>
          <p:cNvGrpSpPr/>
          <p:nvPr/>
        </p:nvGrpSpPr>
        <p:grpSpPr>
          <a:xfrm>
            <a:off x="1049338" y="6245225"/>
            <a:ext cx="7508875" cy="3175"/>
            <a:chOff x="723" y="3664"/>
            <a:chExt cx="4730" cy="2"/>
          </a:xfrm>
        </p:grpSpPr>
        <p:sp>
          <p:nvSpPr>
            <p:cNvPr id="61639" name="Freeform 208"/>
            <p:cNvSpPr/>
            <p:nvPr/>
          </p:nvSpPr>
          <p:spPr>
            <a:xfrm>
              <a:off x="723" y="3665"/>
              <a:ext cx="4173" cy="1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4173" y="0"/>
                </a:cxn>
              </a:cxnLst>
              <a:pathLst>
                <a:path w="4173" h="1">
                  <a:moveTo>
                    <a:pt x="0" y="1"/>
                  </a:moveTo>
                  <a:lnTo>
                    <a:pt x="4173" y="0"/>
                  </a:lnTo>
                </a:path>
              </a:pathLst>
            </a:custGeom>
            <a:noFill/>
            <a:ln w="1905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61640" name="Line 209"/>
            <p:cNvSpPr/>
            <p:nvPr/>
          </p:nvSpPr>
          <p:spPr>
            <a:xfrm>
              <a:off x="4896" y="3664"/>
              <a:ext cx="55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657618" name="Rectangle 210"/>
          <p:cNvSpPr/>
          <p:nvPr/>
        </p:nvSpPr>
        <p:spPr>
          <a:xfrm>
            <a:off x="1049338" y="6299200"/>
            <a:ext cx="914400" cy="406400"/>
          </a:xfrm>
          <a:prstGeom prst="rect">
            <a:avLst/>
          </a:prstGeom>
          <a:noFill/>
          <a:ln w="9525">
            <a:noFill/>
          </a:ln>
        </p:spPr>
        <p:txBody>
          <a:bodyPr lIns="19050" tIns="19050" rIns="19050" bIns="19050" anchor="ctr" anchorCtr="1"/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20</a:t>
            </a: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657619" name="Group 211"/>
          <p:cNvGrpSpPr/>
          <p:nvPr/>
        </p:nvGrpSpPr>
        <p:grpSpPr>
          <a:xfrm>
            <a:off x="5926138" y="2971800"/>
            <a:ext cx="2667000" cy="406400"/>
            <a:chOff x="3792" y="1872"/>
            <a:chExt cx="1680" cy="256"/>
          </a:xfrm>
        </p:grpSpPr>
        <p:sp>
          <p:nvSpPr>
            <p:cNvPr id="61633" name="Rectangle 212"/>
            <p:cNvSpPr/>
            <p:nvPr/>
          </p:nvSpPr>
          <p:spPr>
            <a:xfrm>
              <a:off x="4633" y="1872"/>
              <a:ext cx="278" cy="25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050" tIns="19050" rIns="19050" bIns="19050" anchor="ctr" anchorCtr="1"/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×</a:t>
              </a:r>
              <a:endPara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1634" name="Rectangle 213"/>
            <p:cNvSpPr/>
            <p:nvPr/>
          </p:nvSpPr>
          <p:spPr>
            <a:xfrm>
              <a:off x="4913" y="1872"/>
              <a:ext cx="278" cy="25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050" tIns="19050" rIns="19050" bIns="19050" anchor="ctr" anchorCtr="1"/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×</a:t>
              </a:r>
              <a:endPara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1635" name="Rectangle 214"/>
            <p:cNvSpPr/>
            <p:nvPr/>
          </p:nvSpPr>
          <p:spPr>
            <a:xfrm>
              <a:off x="5194" y="1872"/>
              <a:ext cx="278" cy="25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050" tIns="19050" rIns="19050" bIns="19050" anchor="ctr" anchorCtr="1"/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×</a:t>
              </a:r>
              <a:endPara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1636" name="Rectangle 215"/>
            <p:cNvSpPr/>
            <p:nvPr/>
          </p:nvSpPr>
          <p:spPr>
            <a:xfrm>
              <a:off x="4352" y="1872"/>
              <a:ext cx="278" cy="25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050" tIns="19050" rIns="19050" bIns="19050" anchor="ctr" anchorCtr="1"/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×</a:t>
              </a:r>
              <a:endPara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1637" name="Rectangle 216"/>
            <p:cNvSpPr/>
            <p:nvPr/>
          </p:nvSpPr>
          <p:spPr>
            <a:xfrm>
              <a:off x="3792" y="1872"/>
              <a:ext cx="278" cy="25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050" tIns="19050" rIns="19050" bIns="19050" anchor="ctr" anchorCtr="1"/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×</a:t>
              </a:r>
              <a:endPara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1638" name="Rectangle 217"/>
            <p:cNvSpPr/>
            <p:nvPr/>
          </p:nvSpPr>
          <p:spPr>
            <a:xfrm>
              <a:off x="4072" y="1872"/>
              <a:ext cx="278" cy="25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050" tIns="19050" rIns="19050" bIns="19050" anchor="ctr" anchorCtr="1"/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×</a:t>
              </a:r>
              <a:endPara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657626" name="Group 218"/>
          <p:cNvGrpSpPr/>
          <p:nvPr/>
        </p:nvGrpSpPr>
        <p:grpSpPr>
          <a:xfrm>
            <a:off x="5910263" y="2565400"/>
            <a:ext cx="2652712" cy="406400"/>
            <a:chOff x="3782" y="1616"/>
            <a:chExt cx="1671" cy="256"/>
          </a:xfrm>
        </p:grpSpPr>
        <p:sp>
          <p:nvSpPr>
            <p:cNvPr id="61627" name="Rectangle 219"/>
            <p:cNvSpPr/>
            <p:nvPr/>
          </p:nvSpPr>
          <p:spPr>
            <a:xfrm>
              <a:off x="4339" y="1616"/>
              <a:ext cx="279" cy="25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050" tIns="19050" rIns="19050" bIns="19050" anchor="ctr" anchorCtr="1"/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1628" name="Rectangle 220"/>
            <p:cNvSpPr/>
            <p:nvPr/>
          </p:nvSpPr>
          <p:spPr>
            <a:xfrm>
              <a:off x="4061" y="1616"/>
              <a:ext cx="278" cy="25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050" tIns="19050" rIns="19050" bIns="19050" anchor="ctr" anchorCtr="1"/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1629" name="Rectangle 221"/>
            <p:cNvSpPr/>
            <p:nvPr/>
          </p:nvSpPr>
          <p:spPr>
            <a:xfrm>
              <a:off x="3782" y="1616"/>
              <a:ext cx="279" cy="25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050" tIns="19050" rIns="19050" bIns="19050" anchor="ctr" anchorCtr="1"/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1630" name="Rectangle 222"/>
            <p:cNvSpPr/>
            <p:nvPr/>
          </p:nvSpPr>
          <p:spPr>
            <a:xfrm>
              <a:off x="5175" y="1616"/>
              <a:ext cx="278" cy="256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0</a:t>
              </a:r>
              <a:endPara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1631" name="Rectangle 223"/>
            <p:cNvSpPr/>
            <p:nvPr/>
          </p:nvSpPr>
          <p:spPr>
            <a:xfrm>
              <a:off x="4896" y="1616"/>
              <a:ext cx="279" cy="256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1</a:t>
              </a:r>
              <a:endPara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1632" name="Rectangle 224"/>
            <p:cNvSpPr/>
            <p:nvPr/>
          </p:nvSpPr>
          <p:spPr>
            <a:xfrm>
              <a:off x="4618" y="1616"/>
              <a:ext cx="278" cy="25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050" tIns="19050" rIns="19050" bIns="19050" anchor="ctr" anchorCtr="1"/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657633" name="Group 225"/>
          <p:cNvGrpSpPr/>
          <p:nvPr/>
        </p:nvGrpSpPr>
        <p:grpSpPr>
          <a:xfrm>
            <a:off x="5910263" y="4173538"/>
            <a:ext cx="2652712" cy="423862"/>
            <a:chOff x="3782" y="2629"/>
            <a:chExt cx="1671" cy="267"/>
          </a:xfrm>
        </p:grpSpPr>
        <p:sp>
          <p:nvSpPr>
            <p:cNvPr id="61621" name="Rectangle 226"/>
            <p:cNvSpPr/>
            <p:nvPr/>
          </p:nvSpPr>
          <p:spPr>
            <a:xfrm>
              <a:off x="4618" y="2629"/>
              <a:ext cx="278" cy="25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050" tIns="19050" rIns="19050" bIns="19050" anchor="ctr" anchorCtr="1"/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1622" name="Rectangle 227"/>
            <p:cNvSpPr/>
            <p:nvPr/>
          </p:nvSpPr>
          <p:spPr>
            <a:xfrm>
              <a:off x="4339" y="2629"/>
              <a:ext cx="279" cy="25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050" tIns="19050" rIns="19050" bIns="19050" anchor="ctr" anchorCtr="1"/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  <a:endPara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1623" name="Rectangle 228"/>
            <p:cNvSpPr/>
            <p:nvPr/>
          </p:nvSpPr>
          <p:spPr>
            <a:xfrm>
              <a:off x="4061" y="2629"/>
              <a:ext cx="278" cy="25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050" tIns="19050" rIns="19050" bIns="19050" anchor="ctr" anchorCtr="1"/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1624" name="Rectangle 229"/>
            <p:cNvSpPr/>
            <p:nvPr/>
          </p:nvSpPr>
          <p:spPr>
            <a:xfrm>
              <a:off x="3782" y="2629"/>
              <a:ext cx="279" cy="25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050" tIns="19050" rIns="19050" bIns="19050" anchor="ctr" anchorCtr="1"/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1625" name="Rectangle 230"/>
            <p:cNvSpPr/>
            <p:nvPr/>
          </p:nvSpPr>
          <p:spPr>
            <a:xfrm>
              <a:off x="5175" y="2629"/>
              <a:ext cx="278" cy="256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1</a:t>
              </a:r>
              <a:endPara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1626" name="Rectangle 231"/>
            <p:cNvSpPr/>
            <p:nvPr/>
          </p:nvSpPr>
          <p:spPr>
            <a:xfrm>
              <a:off x="4896" y="2640"/>
              <a:ext cx="279" cy="256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 0</a:t>
              </a:r>
              <a:endPara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657640" name="Group 232"/>
          <p:cNvGrpSpPr/>
          <p:nvPr/>
        </p:nvGrpSpPr>
        <p:grpSpPr>
          <a:xfrm>
            <a:off x="5926138" y="6223000"/>
            <a:ext cx="2652712" cy="482600"/>
            <a:chOff x="3792" y="3920"/>
            <a:chExt cx="1671" cy="304"/>
          </a:xfrm>
        </p:grpSpPr>
        <p:sp>
          <p:nvSpPr>
            <p:cNvPr id="61613" name="Rectangle 233"/>
            <p:cNvSpPr/>
            <p:nvPr/>
          </p:nvSpPr>
          <p:spPr>
            <a:xfrm>
              <a:off x="5175" y="3920"/>
              <a:ext cx="278" cy="256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endParaRPr lang="zh-CN" altLang="en-US" sz="2000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1614" name="Rectangle 234"/>
            <p:cNvSpPr/>
            <p:nvPr/>
          </p:nvSpPr>
          <p:spPr>
            <a:xfrm>
              <a:off x="4896" y="3920"/>
              <a:ext cx="279" cy="256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endParaRPr lang="zh-CN" altLang="en-US" sz="2000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1615" name="Rectangle 235"/>
            <p:cNvSpPr/>
            <p:nvPr/>
          </p:nvSpPr>
          <p:spPr>
            <a:xfrm>
              <a:off x="4628" y="3968"/>
              <a:ext cx="278" cy="25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050" tIns="19050" rIns="19050" bIns="19050" anchor="ctr" anchorCtr="1"/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zh-CN" altLang="en-US" sz="2000" dirty="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lang="zh-CN" altLang="en-US" sz="2000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1616" name="Rectangle 236"/>
            <p:cNvSpPr/>
            <p:nvPr/>
          </p:nvSpPr>
          <p:spPr>
            <a:xfrm>
              <a:off x="4349" y="3968"/>
              <a:ext cx="279" cy="25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050" tIns="19050" rIns="19050" bIns="19050" anchor="ctr" anchorCtr="1"/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zh-CN" altLang="en-US" sz="2000" dirty="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lang="zh-CN" altLang="en-US" sz="2000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1617" name="Rectangle 237"/>
            <p:cNvSpPr/>
            <p:nvPr/>
          </p:nvSpPr>
          <p:spPr>
            <a:xfrm>
              <a:off x="4071" y="3968"/>
              <a:ext cx="278" cy="25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050" tIns="19050" rIns="19050" bIns="19050" anchor="ctr" anchorCtr="1"/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zh-CN" altLang="en-US" sz="2000" dirty="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lang="zh-CN" altLang="en-US" sz="2000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1618" name="Rectangle 238"/>
            <p:cNvSpPr/>
            <p:nvPr/>
          </p:nvSpPr>
          <p:spPr>
            <a:xfrm>
              <a:off x="3792" y="3968"/>
              <a:ext cx="279" cy="25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9050" tIns="19050" rIns="19050" bIns="19050" anchor="ctr" anchorCtr="1"/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zh-CN" altLang="en-US" sz="2000" dirty="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lang="zh-CN" altLang="en-US" sz="2000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1619" name="Rectangle 239"/>
            <p:cNvSpPr/>
            <p:nvPr/>
          </p:nvSpPr>
          <p:spPr>
            <a:xfrm>
              <a:off x="5185" y="3968"/>
              <a:ext cx="278" cy="256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zh-CN" altLang="en-US" sz="2000" dirty="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 0</a:t>
              </a:r>
              <a:endParaRPr lang="zh-CN" altLang="en-US" sz="2000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61620" name="Rectangle 240"/>
            <p:cNvSpPr/>
            <p:nvPr/>
          </p:nvSpPr>
          <p:spPr>
            <a:xfrm>
              <a:off x="4906" y="3968"/>
              <a:ext cx="279" cy="256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pPr eaLnBrk="1" hangingPunct="1">
                <a:buClr>
                  <a:schemeClr val="accent2"/>
                </a:buClr>
                <a:buSzPct val="80000"/>
                <a:buFont typeface="Wingdings" panose="05000000000000000000" pitchFamily="2" charset="2"/>
              </a:pPr>
              <a:r>
                <a:rPr lang="zh-CN" altLang="en-US" sz="2000" dirty="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 0</a:t>
              </a:r>
              <a:endParaRPr lang="zh-CN" altLang="en-US" sz="2000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657649" name="Rectangle 241"/>
          <p:cNvSpPr>
            <a:spLocks noChangeArrowheads="1"/>
          </p:cNvSpPr>
          <p:nvPr/>
        </p:nvSpPr>
        <p:spPr bwMode="auto">
          <a:xfrm>
            <a:off x="7848600" y="-76200"/>
            <a:ext cx="1447800" cy="838200"/>
          </a:xfrm>
          <a:prstGeom prst="rect">
            <a:avLst/>
          </a:prstGeom>
          <a:noFill/>
          <a:ln>
            <a:noFill/>
          </a:ln>
          <a:effectLst/>
        </p:spPr>
        <p:txBody>
          <a:bodyPr lIns="92075" tIns="46038" rIns="92075" bIns="46038" anchor="ctr"/>
          <a:lstStyle>
            <a:lvl1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10.2</a:t>
            </a:r>
            <a:endParaRPr kumimoji="1" lang="zh-CN" altLang="en-US" sz="44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657650" name="Group 242"/>
          <p:cNvGrpSpPr/>
          <p:nvPr/>
        </p:nvGrpSpPr>
        <p:grpSpPr>
          <a:xfrm>
            <a:off x="2039938" y="1708150"/>
            <a:ext cx="6553200" cy="4994275"/>
            <a:chOff x="1344" y="1076"/>
            <a:chExt cx="4128" cy="3146"/>
          </a:xfrm>
        </p:grpSpPr>
        <p:grpSp>
          <p:nvGrpSpPr>
            <p:cNvPr id="61583" name="Group 243"/>
            <p:cNvGrpSpPr/>
            <p:nvPr/>
          </p:nvGrpSpPr>
          <p:grpSpPr>
            <a:xfrm>
              <a:off x="1344" y="1076"/>
              <a:ext cx="4128" cy="3146"/>
              <a:chOff x="1344" y="1076"/>
              <a:chExt cx="4128" cy="3146"/>
            </a:xfrm>
          </p:grpSpPr>
          <p:grpSp>
            <p:nvGrpSpPr>
              <p:cNvPr id="61586" name="Group 244"/>
              <p:cNvGrpSpPr/>
              <p:nvPr/>
            </p:nvGrpSpPr>
            <p:grpSpPr>
              <a:xfrm>
                <a:off x="1344" y="1104"/>
                <a:ext cx="4128" cy="3118"/>
                <a:chOff x="1344" y="1104"/>
                <a:chExt cx="4128" cy="3118"/>
              </a:xfrm>
            </p:grpSpPr>
            <p:sp>
              <p:nvSpPr>
                <p:cNvPr id="61588" name="Rectangle 245"/>
                <p:cNvSpPr/>
                <p:nvPr/>
              </p:nvSpPr>
              <p:spPr>
                <a:xfrm>
                  <a:off x="4634" y="1105"/>
                  <a:ext cx="279" cy="28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19050" tIns="19050" rIns="19050" bIns="19050" anchor="ctr" anchorCtr="1"/>
                <a:p>
                  <a:pPr eaLnBrk="1" hangingPunct="1"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</a:pPr>
                  <a:r>
                    <a:rPr lang="zh-CN" altLang="en-US" sz="2000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27</a:t>
                  </a:r>
                  <a:endParaRPr lang="zh-CN" altLang="en-US" sz="2000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1589" name="Rectangle 246"/>
                <p:cNvSpPr/>
                <p:nvPr/>
              </p:nvSpPr>
              <p:spPr>
                <a:xfrm>
                  <a:off x="4354" y="1105"/>
                  <a:ext cx="280" cy="28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19050" tIns="19050" rIns="19050" bIns="19050" anchor="ctr" anchorCtr="1"/>
                <a:p>
                  <a:pPr eaLnBrk="1" hangingPunct="1"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</a:pPr>
                  <a:r>
                    <a:rPr lang="zh-CN" altLang="en-US" sz="2000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26</a:t>
                  </a:r>
                  <a:endParaRPr lang="zh-CN" altLang="en-US" sz="2000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1590" name="Rectangle 247"/>
                <p:cNvSpPr/>
                <p:nvPr/>
              </p:nvSpPr>
              <p:spPr>
                <a:xfrm>
                  <a:off x="4075" y="1105"/>
                  <a:ext cx="279" cy="28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19050" tIns="19050" rIns="19050" bIns="19050" anchor="ctr" anchorCtr="1"/>
                <a:p>
                  <a:pPr eaLnBrk="1" hangingPunct="1"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</a:pPr>
                  <a:r>
                    <a:rPr lang="zh-CN" altLang="en-US" sz="2000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25</a:t>
                  </a:r>
                  <a:endParaRPr lang="zh-CN" altLang="en-US" sz="2000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1591" name="Rectangle 248"/>
                <p:cNvSpPr/>
                <p:nvPr/>
              </p:nvSpPr>
              <p:spPr>
                <a:xfrm>
                  <a:off x="3795" y="1105"/>
                  <a:ext cx="280" cy="28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19050" tIns="19050" rIns="19050" bIns="19050" anchor="ctr" anchorCtr="1"/>
                <a:p>
                  <a:pPr eaLnBrk="1" hangingPunct="1"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</a:pPr>
                  <a:r>
                    <a:rPr lang="zh-CN" altLang="en-US" sz="2000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24</a:t>
                  </a:r>
                  <a:endParaRPr lang="zh-CN" altLang="en-US" sz="2000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1592" name="Rectangle 249"/>
                <p:cNvSpPr/>
                <p:nvPr/>
              </p:nvSpPr>
              <p:spPr>
                <a:xfrm>
                  <a:off x="3516" y="1105"/>
                  <a:ext cx="279" cy="28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19050" tIns="19050" rIns="19050" bIns="19050" anchor="ctr" anchorCtr="1"/>
                <a:p>
                  <a:pPr eaLnBrk="1" hangingPunct="1"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</a:pPr>
                  <a:r>
                    <a:rPr lang="zh-CN" altLang="en-US" sz="2000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23</a:t>
                  </a:r>
                  <a:endParaRPr lang="zh-CN" altLang="en-US" sz="2000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1593" name="Rectangle 250"/>
                <p:cNvSpPr/>
                <p:nvPr/>
              </p:nvSpPr>
              <p:spPr>
                <a:xfrm>
                  <a:off x="2958" y="1105"/>
                  <a:ext cx="279" cy="28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19050" tIns="19050" rIns="19050" bIns="19050" anchor="ctr" anchorCtr="1"/>
                <a:p>
                  <a:pPr eaLnBrk="1" hangingPunct="1"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</a:pPr>
                  <a:r>
                    <a:rPr lang="zh-CN" altLang="en-US" sz="2000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10</a:t>
                  </a:r>
                  <a:endParaRPr lang="zh-CN" altLang="en-US" sz="2000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1594" name="Rectangle 251"/>
                <p:cNvSpPr/>
                <p:nvPr/>
              </p:nvSpPr>
              <p:spPr>
                <a:xfrm>
                  <a:off x="2398" y="1105"/>
                  <a:ext cx="280" cy="28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19050" tIns="19050" rIns="19050" bIns="19050" anchor="ctr" anchorCtr="1"/>
                <a:p>
                  <a:pPr eaLnBrk="1" hangingPunct="1"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</a:pPr>
                  <a:r>
                    <a:rPr lang="zh-CN" altLang="en-US" sz="2000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4</a:t>
                  </a:r>
                  <a:endParaRPr lang="zh-CN" altLang="en-US" sz="2000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1595" name="Rectangle 252"/>
                <p:cNvSpPr/>
                <p:nvPr/>
              </p:nvSpPr>
              <p:spPr>
                <a:xfrm>
                  <a:off x="2119" y="1105"/>
                  <a:ext cx="279" cy="28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19050" tIns="19050" rIns="19050" bIns="19050" anchor="ctr" anchorCtr="1"/>
                <a:p>
                  <a:pPr eaLnBrk="1" hangingPunct="1"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</a:pPr>
                  <a:r>
                    <a:rPr lang="zh-CN" altLang="en-US" sz="2000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3</a:t>
                  </a:r>
                  <a:endParaRPr lang="zh-CN" altLang="en-US" sz="2000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1596" name="Rectangle 253"/>
                <p:cNvSpPr/>
                <p:nvPr/>
              </p:nvSpPr>
              <p:spPr>
                <a:xfrm>
                  <a:off x="1840" y="1105"/>
                  <a:ext cx="279" cy="28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19050" tIns="19050" rIns="19050" bIns="19050" anchor="ctr" anchorCtr="1"/>
                <a:p>
                  <a:pPr eaLnBrk="1" hangingPunct="1"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</a:pPr>
                  <a:r>
                    <a:rPr lang="zh-CN" altLang="en-US" sz="2000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2</a:t>
                  </a:r>
                  <a:endParaRPr lang="zh-CN" altLang="en-US" sz="2000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1597" name="Rectangle 254"/>
                <p:cNvSpPr/>
                <p:nvPr/>
              </p:nvSpPr>
              <p:spPr>
                <a:xfrm>
                  <a:off x="1560" y="1105"/>
                  <a:ext cx="280" cy="28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19050" tIns="19050" rIns="19050" bIns="19050" anchor="ctr" anchorCtr="1"/>
                <a:p>
                  <a:pPr eaLnBrk="1" hangingPunct="1"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</a:pPr>
                  <a:r>
                    <a:rPr lang="zh-CN" altLang="en-US" sz="2000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1</a:t>
                  </a:r>
                  <a:endParaRPr lang="zh-CN" altLang="en-US" sz="2000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1598" name="Freeform 255"/>
                <p:cNvSpPr/>
                <p:nvPr/>
              </p:nvSpPr>
              <p:spPr>
                <a:xfrm>
                  <a:off x="1559" y="1105"/>
                  <a:ext cx="1" cy="3117"/>
                </a:xfrm>
                <a:custGeom>
                  <a:avLst/>
                  <a:gdLst/>
                  <a:ahLst/>
                  <a:cxnLst>
                    <a:cxn ang="0">
                      <a:pos x="1" y="0"/>
                    </a:cxn>
                    <a:cxn ang="0">
                      <a:pos x="0" y="5061"/>
                    </a:cxn>
                  </a:cxnLst>
                  <a:pathLst>
                    <a:path w="1" h="2829">
                      <a:moveTo>
                        <a:pt x="1" y="0"/>
                      </a:moveTo>
                      <a:lnTo>
                        <a:pt x="0" y="2829"/>
                      </a:lnTo>
                    </a:path>
                  </a:pathLst>
                </a:custGeom>
                <a:noFill/>
                <a:ln w="19050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61599" name="Freeform 256"/>
                <p:cNvSpPr/>
                <p:nvPr/>
              </p:nvSpPr>
              <p:spPr>
                <a:xfrm>
                  <a:off x="1836" y="1104"/>
                  <a:ext cx="3" cy="3118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3" y="3118"/>
                    </a:cxn>
                  </a:cxnLst>
                  <a:pathLst>
                    <a:path w="3" h="3118">
                      <a:moveTo>
                        <a:pt x="0" y="0"/>
                      </a:moveTo>
                      <a:lnTo>
                        <a:pt x="3" y="3118"/>
                      </a:lnTo>
                    </a:path>
                  </a:pathLst>
                </a:custGeom>
                <a:noFill/>
                <a:ln w="19050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61600" name="Freeform 257"/>
                <p:cNvSpPr/>
                <p:nvPr/>
              </p:nvSpPr>
              <p:spPr>
                <a:xfrm>
                  <a:off x="2119" y="1105"/>
                  <a:ext cx="1" cy="311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5047"/>
                    </a:cxn>
                  </a:cxnLst>
                  <a:pathLst>
                    <a:path w="1" h="2823">
                      <a:moveTo>
                        <a:pt x="0" y="0"/>
                      </a:moveTo>
                      <a:lnTo>
                        <a:pt x="0" y="2823"/>
                      </a:lnTo>
                    </a:path>
                  </a:pathLst>
                </a:custGeom>
                <a:noFill/>
                <a:ln w="19050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61601" name="Freeform 258"/>
                <p:cNvSpPr/>
                <p:nvPr/>
              </p:nvSpPr>
              <p:spPr>
                <a:xfrm>
                  <a:off x="2398" y="1105"/>
                  <a:ext cx="1" cy="311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" y="5047"/>
                    </a:cxn>
                  </a:cxnLst>
                  <a:pathLst>
                    <a:path w="1" h="2823">
                      <a:moveTo>
                        <a:pt x="0" y="0"/>
                      </a:moveTo>
                      <a:lnTo>
                        <a:pt x="1" y="2823"/>
                      </a:lnTo>
                    </a:path>
                  </a:pathLst>
                </a:custGeom>
                <a:noFill/>
                <a:ln w="19050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61602" name="Freeform 259"/>
                <p:cNvSpPr/>
                <p:nvPr/>
              </p:nvSpPr>
              <p:spPr>
                <a:xfrm>
                  <a:off x="2678" y="1105"/>
                  <a:ext cx="1" cy="3117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" y="5061"/>
                    </a:cxn>
                  </a:cxnLst>
                  <a:pathLst>
                    <a:path w="1" h="2829">
                      <a:moveTo>
                        <a:pt x="0" y="0"/>
                      </a:moveTo>
                      <a:lnTo>
                        <a:pt x="1" y="2829"/>
                      </a:lnTo>
                    </a:path>
                  </a:pathLst>
                </a:custGeom>
                <a:noFill/>
                <a:ln w="19050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61603" name="Freeform 260"/>
                <p:cNvSpPr/>
                <p:nvPr/>
              </p:nvSpPr>
              <p:spPr>
                <a:xfrm>
                  <a:off x="3237" y="1105"/>
                  <a:ext cx="2" cy="3115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2" y="3115"/>
                    </a:cxn>
                  </a:cxnLst>
                  <a:pathLst>
                    <a:path w="2" h="3115">
                      <a:moveTo>
                        <a:pt x="0" y="0"/>
                      </a:moveTo>
                      <a:lnTo>
                        <a:pt x="2" y="3115"/>
                      </a:lnTo>
                    </a:path>
                  </a:pathLst>
                </a:custGeom>
                <a:noFill/>
                <a:ln w="19050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61604" name="Freeform 261"/>
                <p:cNvSpPr/>
                <p:nvPr/>
              </p:nvSpPr>
              <p:spPr>
                <a:xfrm>
                  <a:off x="3516" y="1105"/>
                  <a:ext cx="1" cy="3114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5059"/>
                    </a:cxn>
                  </a:cxnLst>
                  <a:pathLst>
                    <a:path w="1" h="2826">
                      <a:moveTo>
                        <a:pt x="0" y="0"/>
                      </a:moveTo>
                      <a:lnTo>
                        <a:pt x="0" y="2826"/>
                      </a:lnTo>
                    </a:path>
                  </a:pathLst>
                </a:custGeom>
                <a:noFill/>
                <a:ln w="19050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61605" name="Freeform 262"/>
                <p:cNvSpPr/>
                <p:nvPr/>
              </p:nvSpPr>
              <p:spPr>
                <a:xfrm>
                  <a:off x="4075" y="1105"/>
                  <a:ext cx="1" cy="3117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1" y="5061"/>
                    </a:cxn>
                  </a:cxnLst>
                  <a:pathLst>
                    <a:path w="1" h="2829">
                      <a:moveTo>
                        <a:pt x="0" y="0"/>
                      </a:moveTo>
                      <a:lnTo>
                        <a:pt x="1" y="2829"/>
                      </a:lnTo>
                    </a:path>
                  </a:pathLst>
                </a:custGeom>
                <a:noFill/>
                <a:ln w="19050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61606" name="Freeform 263"/>
                <p:cNvSpPr/>
                <p:nvPr/>
              </p:nvSpPr>
              <p:spPr>
                <a:xfrm>
                  <a:off x="4354" y="1105"/>
                  <a:ext cx="2" cy="3114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2" y="5059"/>
                    </a:cxn>
                  </a:cxnLst>
                  <a:pathLst>
                    <a:path w="2" h="2826">
                      <a:moveTo>
                        <a:pt x="0" y="0"/>
                      </a:moveTo>
                      <a:lnTo>
                        <a:pt x="2" y="2826"/>
                      </a:lnTo>
                    </a:path>
                  </a:pathLst>
                </a:custGeom>
                <a:noFill/>
                <a:ln w="19050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61607" name="Freeform 264"/>
                <p:cNvSpPr/>
                <p:nvPr/>
              </p:nvSpPr>
              <p:spPr>
                <a:xfrm>
                  <a:off x="4631" y="1104"/>
                  <a:ext cx="2" cy="3115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2" y="3115"/>
                    </a:cxn>
                  </a:cxnLst>
                  <a:pathLst>
                    <a:path w="2" h="3115">
                      <a:moveTo>
                        <a:pt x="0" y="0"/>
                      </a:moveTo>
                      <a:lnTo>
                        <a:pt x="2" y="3115"/>
                      </a:lnTo>
                    </a:path>
                  </a:pathLst>
                </a:custGeom>
                <a:noFill/>
                <a:ln w="19050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61608" name="Rectangle 265"/>
                <p:cNvSpPr/>
                <p:nvPr/>
              </p:nvSpPr>
              <p:spPr>
                <a:xfrm>
                  <a:off x="5193" y="1105"/>
                  <a:ext cx="279" cy="28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eaLnBrk="1" hangingPunct="1"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</a:pPr>
                  <a:r>
                    <a:rPr lang="zh-CN" altLang="en-US" sz="2000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29</a:t>
                  </a:r>
                  <a:endParaRPr lang="zh-CN" altLang="en-US" sz="2000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1609" name="Rectangle 266"/>
                <p:cNvSpPr/>
                <p:nvPr/>
              </p:nvSpPr>
              <p:spPr>
                <a:xfrm>
                  <a:off x="4913" y="1105"/>
                  <a:ext cx="280" cy="28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/>
                <a:p>
                  <a:pPr eaLnBrk="1" hangingPunct="1">
                    <a:buClr>
                      <a:schemeClr val="accent2"/>
                    </a:buClr>
                    <a:buSzPct val="80000"/>
                    <a:buFont typeface="Wingdings" panose="05000000000000000000" pitchFamily="2" charset="2"/>
                  </a:pPr>
                  <a:r>
                    <a:rPr lang="zh-CN" altLang="en-US" sz="2000" dirty="0"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28</a:t>
                  </a:r>
                  <a:endParaRPr lang="zh-CN" altLang="en-US" sz="2000" dirty="0"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1610" name="Freeform 267"/>
                <p:cNvSpPr/>
                <p:nvPr/>
              </p:nvSpPr>
              <p:spPr>
                <a:xfrm>
                  <a:off x="5193" y="1105"/>
                  <a:ext cx="1" cy="311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5047"/>
                    </a:cxn>
                  </a:cxnLst>
                  <a:pathLst>
                    <a:path w="1" h="2823">
                      <a:moveTo>
                        <a:pt x="0" y="0"/>
                      </a:moveTo>
                      <a:lnTo>
                        <a:pt x="0" y="2823"/>
                      </a:lnTo>
                    </a:path>
                  </a:pathLst>
                </a:custGeom>
                <a:noFill/>
                <a:ln w="19050" cap="flat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61611" name="Freeform 268"/>
                <p:cNvSpPr/>
                <p:nvPr/>
              </p:nvSpPr>
              <p:spPr>
                <a:xfrm>
                  <a:off x="4913" y="1105"/>
                  <a:ext cx="1" cy="3110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0" y="5047"/>
                    </a:cxn>
                  </a:cxnLst>
                  <a:pathLst>
                    <a:path w="1" h="2823">
                      <a:moveTo>
                        <a:pt x="0" y="0"/>
                      </a:moveTo>
                      <a:lnTo>
                        <a:pt x="0" y="2823"/>
                      </a:lnTo>
                    </a:path>
                  </a:pathLst>
                </a:custGeom>
                <a:noFill/>
                <a:ln w="19050" cap="sq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61612" name="Text Box 269"/>
                <p:cNvSpPr txBox="1"/>
                <p:nvPr/>
              </p:nvSpPr>
              <p:spPr>
                <a:xfrm>
                  <a:off x="1344" y="1125"/>
                  <a:ext cx="276" cy="25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>
                  <a:spAutoFit/>
                </a:bodyPr>
                <a:p>
                  <a:pPr eaLnBrk="1" hangingPunct="1"/>
                  <a:r>
                    <a:rPr lang="zh-CN" altLang="en-US" sz="2000" dirty="0">
                      <a:latin typeface="Times New Roman" panose="02020603050405020304" pitchFamily="18" charset="0"/>
                    </a:rPr>
                    <a:t>0  </a:t>
                  </a:r>
                  <a:endParaRPr lang="zh-CN" altLang="en-US" sz="2000" dirty="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61587" name="Text Box 270"/>
              <p:cNvSpPr txBox="1"/>
              <p:nvPr/>
            </p:nvSpPr>
            <p:spPr>
              <a:xfrm>
                <a:off x="2688" y="1076"/>
                <a:ext cx="276" cy="25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eaLnBrk="1" hangingPunct="1"/>
                <a:r>
                  <a:rPr lang="zh-CN" altLang="en-US" sz="2000" dirty="0">
                    <a:latin typeface="Times New Roman" panose="02020603050405020304" pitchFamily="18" charset="0"/>
                  </a:rPr>
                  <a:t>…</a:t>
                </a:r>
                <a:endParaRPr lang="zh-CN" altLang="en-US" sz="2000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61584" name="Freeform 271"/>
            <p:cNvSpPr/>
            <p:nvPr/>
          </p:nvSpPr>
          <p:spPr>
            <a:xfrm>
              <a:off x="2958" y="1105"/>
              <a:ext cx="1" cy="311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5061"/>
                </a:cxn>
              </a:cxnLst>
              <a:pathLst>
                <a:path w="1" h="2829">
                  <a:moveTo>
                    <a:pt x="0" y="0"/>
                  </a:moveTo>
                  <a:lnTo>
                    <a:pt x="1" y="2829"/>
                  </a:lnTo>
                </a:path>
              </a:pathLst>
            </a:custGeom>
            <a:noFill/>
            <a:ln w="1905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61585" name="Text Box 272"/>
            <p:cNvSpPr txBox="1"/>
            <p:nvPr/>
          </p:nvSpPr>
          <p:spPr>
            <a:xfrm>
              <a:off x="3255" y="1076"/>
              <a:ext cx="276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2000" dirty="0">
                  <a:latin typeface="Times New Roman" panose="02020603050405020304" pitchFamily="18" charset="0"/>
                </a:rPr>
                <a:t>…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657681" name="Rectangle 273"/>
          <p:cNvSpPr/>
          <p:nvPr/>
        </p:nvSpPr>
        <p:spPr>
          <a:xfrm>
            <a:off x="4645025" y="4173538"/>
            <a:ext cx="442913" cy="406400"/>
          </a:xfrm>
          <a:prstGeom prst="rect">
            <a:avLst/>
          </a:prstGeom>
          <a:noFill/>
          <a:ln w="9525">
            <a:noFill/>
          </a:ln>
        </p:spPr>
        <p:txBody>
          <a:bodyPr lIns="19050" tIns="19050" rIns="19050" bIns="19050" anchor="ctr" anchorCtr="1"/>
          <a:p>
            <a:pPr eaLnBrk="1" hangingPunct="1">
              <a:buClr>
                <a:schemeClr val="accent2"/>
              </a:buClr>
              <a:buSzPct val="80000"/>
              <a:buFont typeface="Wingdings" panose="05000000000000000000" pitchFamily="2" charset="2"/>
            </a:pP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1582" name="AutoShape 276">
            <a:hlinkClick r:id="rId1" action="ppaction://hlinksldjump"/>
          </p:cNvPr>
          <p:cNvSpPr/>
          <p:nvPr/>
        </p:nvSpPr>
        <p:spPr>
          <a:xfrm>
            <a:off x="8589963" y="6516688"/>
            <a:ext cx="539750" cy="333375"/>
          </a:xfrm>
          <a:prstGeom prst="actionButtonEnd">
            <a:avLst/>
          </a:prstGeom>
          <a:solidFill>
            <a:srgbClr val="3366FF"/>
          </a:solidFill>
          <a:ln w="9525">
            <a:noFill/>
          </a:ln>
        </p:spPr>
        <p:txBody>
          <a:bodyPr wrap="none" anchor="ctr" anchorCtr="0">
            <a:spAutoFit/>
          </a:bodyPr>
          <a:p>
            <a:pPr eaLnBrk="1" hangingPunct="1"/>
            <a:endParaRPr lang="zh-CN" altLang="en-US" dirty="0">
              <a:latin typeface="等线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657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57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57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57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57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1" dur="500"/>
                                        <p:tgtEl>
                                          <p:spTgt spid="657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657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1" dur="500"/>
                                        <p:tgtEl>
                                          <p:spTgt spid="657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5" dur="500"/>
                                        <p:tgtEl>
                                          <p:spTgt spid="657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657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4" dur="500"/>
                                        <p:tgtEl>
                                          <p:spTgt spid="657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657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3" dur="500"/>
                                        <p:tgtEl>
                                          <p:spTgt spid="657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657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657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657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3" dur="500"/>
                                        <p:tgtEl>
                                          <p:spTgt spid="657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00"/>
                            </p:stCondLst>
                            <p:childTnLst>
                              <p:par>
                                <p:cTn id="8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87" dur="500"/>
                                        <p:tgtEl>
                                          <p:spTgt spid="657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657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7" dur="500"/>
                                        <p:tgtEl>
                                          <p:spTgt spid="657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2" dur="500"/>
                                        <p:tgtEl>
                                          <p:spTgt spid="657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7" dur="500"/>
                                        <p:tgtEl>
                                          <p:spTgt spid="657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2" dur="500"/>
                                        <p:tgtEl>
                                          <p:spTgt spid="657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7" dur="500"/>
                                        <p:tgtEl>
                                          <p:spTgt spid="657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2" dur="500"/>
                                        <p:tgtEl>
                                          <p:spTgt spid="657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500"/>
                            </p:stCondLst>
                            <p:childTnLst>
                              <p:par>
                                <p:cTn id="124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6" dur="500"/>
                                        <p:tgtEl>
                                          <p:spTgt spid="657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1" dur="500"/>
                                        <p:tgtEl>
                                          <p:spTgt spid="657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6" dur="500"/>
                                        <p:tgtEl>
                                          <p:spTgt spid="657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1" dur="500"/>
                                        <p:tgtEl>
                                          <p:spTgt spid="657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500"/>
                            </p:stCondLst>
                            <p:childTnLst>
                              <p:par>
                                <p:cTn id="143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45" dur="500"/>
                                        <p:tgtEl>
                                          <p:spTgt spid="657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0" dur="500"/>
                                        <p:tgtEl>
                                          <p:spTgt spid="657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5" dur="500"/>
                                        <p:tgtEl>
                                          <p:spTgt spid="657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0" dur="500"/>
                                        <p:tgtEl>
                                          <p:spTgt spid="657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>
                            <p:stCondLst>
                              <p:cond delay="500"/>
                            </p:stCondLst>
                            <p:childTnLst>
                              <p:par>
                                <p:cTn id="162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64" dur="500"/>
                                        <p:tgtEl>
                                          <p:spTgt spid="657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9" dur="500"/>
                                        <p:tgtEl>
                                          <p:spTgt spid="657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>
                            <p:stCondLst>
                              <p:cond delay="500"/>
                            </p:stCondLst>
                            <p:childTnLst>
                              <p:par>
                                <p:cTn id="171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73" dur="500"/>
                                        <p:tgtEl>
                                          <p:spTgt spid="657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8" dur="500"/>
                                        <p:tgtEl>
                                          <p:spTgt spid="657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3" dur="500"/>
                                        <p:tgtEl>
                                          <p:spTgt spid="657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8" dur="500"/>
                                        <p:tgtEl>
                                          <p:spTgt spid="657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3" dur="500"/>
                                        <p:tgtEl>
                                          <p:spTgt spid="657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4" fill="hold">
                            <p:stCondLst>
                              <p:cond delay="500"/>
                            </p:stCondLst>
                            <p:childTnLst>
                              <p:par>
                                <p:cTn id="19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97" dur="500"/>
                                        <p:tgtEl>
                                          <p:spTgt spid="657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2" dur="500"/>
                                        <p:tgtEl>
                                          <p:spTgt spid="657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7" dur="500"/>
                                        <p:tgtEl>
                                          <p:spTgt spid="657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indefinite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2" dur="500"/>
                                        <p:tgtEl>
                                          <p:spTgt spid="657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7" dur="500"/>
                                        <p:tgtEl>
                                          <p:spTgt spid="657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indefinite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2" dur="500"/>
                                        <p:tgtEl>
                                          <p:spTgt spid="657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7" dur="500"/>
                                        <p:tgtEl>
                                          <p:spTgt spid="657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8" fill="hold">
                            <p:stCondLst>
                              <p:cond delay="500"/>
                            </p:stCondLst>
                            <p:childTnLst>
                              <p:par>
                                <p:cTn id="229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31" dur="500"/>
                                        <p:tgtEl>
                                          <p:spTgt spid="657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" fill="hold">
                      <p:stCondLst>
                        <p:cond delay="indefinite"/>
                      </p:stCondLst>
                      <p:childTnLst>
                        <p:par>
                          <p:cTn id="233" fill="hold">
                            <p:stCondLst>
                              <p:cond delay="0"/>
                            </p:stCondLst>
                            <p:childTnLst>
                              <p:par>
                                <p:cTn id="2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6" dur="500"/>
                                        <p:tgtEl>
                                          <p:spTgt spid="657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indefinite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1" dur="500"/>
                                        <p:tgtEl>
                                          <p:spTgt spid="657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2" fill="hold">
                      <p:stCondLst>
                        <p:cond delay="indefinite"/>
                      </p:stCondLst>
                      <p:childTnLst>
                        <p:par>
                          <p:cTn id="243" fill="hold">
                            <p:stCondLst>
                              <p:cond delay="0"/>
                            </p:stCondLst>
                            <p:childTnLst>
                              <p:par>
                                <p:cTn id="2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6" dur="500"/>
                                        <p:tgtEl>
                                          <p:spTgt spid="657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7" fill="hold">
                      <p:stCondLst>
                        <p:cond delay="indefinite"/>
                      </p:stCondLst>
                      <p:childTnLst>
                        <p:par>
                          <p:cTn id="248" fill="hold">
                            <p:stCondLst>
                              <p:cond delay="0"/>
                            </p:stCondLst>
                            <p:childTnLst>
                              <p:par>
                                <p:cTn id="24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1" dur="500"/>
                                        <p:tgtEl>
                                          <p:spTgt spid="657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2" fill="hold">
                            <p:stCondLst>
                              <p:cond delay="500"/>
                            </p:stCondLst>
                            <p:childTnLst>
                              <p:par>
                                <p:cTn id="253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55" dur="500"/>
                                        <p:tgtEl>
                                          <p:spTgt spid="657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6" fill="hold">
                      <p:stCondLst>
                        <p:cond delay="indefinite"/>
                      </p:stCondLst>
                      <p:childTnLst>
                        <p:par>
                          <p:cTn id="257" fill="hold">
                            <p:stCondLst>
                              <p:cond delay="0"/>
                            </p:stCondLst>
                            <p:childTnLst>
                              <p:par>
                                <p:cTn id="25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0" dur="500"/>
                                        <p:tgtEl>
                                          <p:spTgt spid="657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1" fill="hold">
                      <p:stCondLst>
                        <p:cond delay="indefinite"/>
                      </p:stCondLst>
                      <p:childTnLst>
                        <p:par>
                          <p:cTn id="262" fill="hold">
                            <p:stCondLst>
                              <p:cond delay="0"/>
                            </p:stCondLst>
                            <p:childTnLst>
                              <p:par>
                                <p:cTn id="26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5" dur="500"/>
                                        <p:tgtEl>
                                          <p:spTgt spid="657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6" fill="hold">
                      <p:stCondLst>
                        <p:cond delay="indefinite"/>
                      </p:stCondLst>
                      <p:childTnLst>
                        <p:par>
                          <p:cTn id="267" fill="hold">
                            <p:stCondLst>
                              <p:cond delay="0"/>
                            </p:stCondLst>
                            <p:childTnLst>
                              <p:par>
                                <p:cTn id="26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0" dur="500"/>
                                        <p:tgtEl>
                                          <p:spTgt spid="657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1" fill="hold">
                      <p:stCondLst>
                        <p:cond delay="indefinite"/>
                      </p:stCondLst>
                      <p:childTnLst>
                        <p:par>
                          <p:cTn id="272" fill="hold">
                            <p:stCondLst>
                              <p:cond delay="0"/>
                            </p:stCondLst>
                            <p:childTnLst>
                              <p:par>
                                <p:cTn id="27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5" dur="500"/>
                                        <p:tgtEl>
                                          <p:spTgt spid="657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7413" grpId="0"/>
      <p:bldP spid="657418" grpId="0"/>
      <p:bldP spid="657420" grpId="0"/>
      <p:bldP spid="657421" grpId="0"/>
      <p:bldP spid="657431" grpId="0"/>
      <p:bldP spid="657439" grpId="0"/>
      <p:bldP spid="657442" grpId="0"/>
      <p:bldP spid="657443" grpId="0"/>
      <p:bldP spid="657451" grpId="0"/>
      <p:bldP spid="657453" grpId="0"/>
      <p:bldP spid="657463" grpId="0"/>
      <p:bldP spid="657464" grpId="0"/>
      <p:bldP spid="657474" grpId="0"/>
      <p:bldP spid="657475" grpId="0"/>
      <p:bldP spid="657480" grpId="0"/>
      <p:bldP spid="657481" grpId="0"/>
      <p:bldP spid="657482" grpId="0"/>
      <p:bldP spid="657485" grpId="0"/>
      <p:bldP spid="657494" grpId="0"/>
      <p:bldP spid="657495" grpId="0"/>
      <p:bldP spid="657496" grpId="0"/>
      <p:bldP spid="657503" grpId="0"/>
      <p:bldP spid="657504" grpId="0"/>
      <p:bldP spid="657570" grpId="0"/>
      <p:bldP spid="657571" grpId="0"/>
      <p:bldP spid="657572" grpId="0"/>
      <p:bldP spid="657580" grpId="0"/>
      <p:bldP spid="657583" grpId="0"/>
      <p:bldP spid="657610" grpId="0"/>
      <p:bldP spid="657614" grpId="0"/>
      <p:bldP spid="657618" grpId="0"/>
      <p:bldP spid="657681" grpId="0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9756</Words>
  <Application>WPS 演示</Application>
  <PresentationFormat/>
  <Paragraphs>3143</Paragraphs>
  <Slides>58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58</vt:i4>
      </vt:variant>
    </vt:vector>
  </HeadingPairs>
  <TitlesOfParts>
    <vt:vector size="68" baseType="lpstr">
      <vt:lpstr>Arial</vt:lpstr>
      <vt:lpstr>宋体</vt:lpstr>
      <vt:lpstr>Wingdings</vt:lpstr>
      <vt:lpstr>等线</vt:lpstr>
      <vt:lpstr>等线 Light</vt:lpstr>
      <vt:lpstr>Times New Roman</vt:lpstr>
      <vt:lpstr>Verdana</vt:lpstr>
      <vt:lpstr>微软雅黑</vt:lpstr>
      <vt:lpstr>Arial Unicode MS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Q</cp:lastModifiedBy>
  <cp:revision>1564</cp:revision>
  <dcterms:created xsi:type="dcterms:W3CDTF">2024-09-23T11:24:05Z</dcterms:created>
  <dcterms:modified xsi:type="dcterms:W3CDTF">2024-09-23T11:24:19Z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3DF046656F384A4CBA5616AD00E5EE65_13</vt:lpwstr>
  </property>
  <property fmtid="{D5CDD505-2E9C-101B-9397-08002B2CF9AE}" pid="3" name="KSOProductBuildVer">
    <vt:lpwstr>2052-12.1.0.18276</vt:lpwstr>
  </property>
</Properties>
</file>