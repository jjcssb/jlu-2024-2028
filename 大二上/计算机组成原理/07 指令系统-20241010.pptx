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690" r:id="rId3"/>
    <p:sldId id="691" r:id="rId4"/>
    <p:sldId id="692" r:id="rId5"/>
    <p:sldId id="693" r:id="rId6"/>
    <p:sldId id="694" r:id="rId7"/>
    <p:sldId id="695" r:id="rId8"/>
    <p:sldId id="696" r:id="rId9"/>
    <p:sldId id="697" r:id="rId10"/>
    <p:sldId id="698" r:id="rId11"/>
    <p:sldId id="699" r:id="rId12"/>
    <p:sldId id="700" r:id="rId13"/>
    <p:sldId id="701" r:id="rId14"/>
    <p:sldId id="702" r:id="rId15"/>
    <p:sldId id="703" r:id="rId16"/>
    <p:sldId id="704" r:id="rId17"/>
    <p:sldId id="705" r:id="rId18"/>
    <p:sldId id="706" r:id="rId19"/>
    <p:sldId id="707" r:id="rId20"/>
    <p:sldId id="708" r:id="rId21"/>
    <p:sldId id="709" r:id="rId22"/>
    <p:sldId id="988" r:id="rId23"/>
    <p:sldId id="711" r:id="rId24"/>
    <p:sldId id="712" r:id="rId25"/>
    <p:sldId id="713" r:id="rId26"/>
    <p:sldId id="714" r:id="rId27"/>
    <p:sldId id="715" r:id="rId28"/>
    <p:sldId id="716" r:id="rId29"/>
    <p:sldId id="717" r:id="rId30"/>
    <p:sldId id="718" r:id="rId31"/>
    <p:sldId id="719" r:id="rId32"/>
    <p:sldId id="1051" r:id="rId33"/>
    <p:sldId id="720" r:id="rId34"/>
    <p:sldId id="721" r:id="rId35"/>
    <p:sldId id="722" r:id="rId36"/>
    <p:sldId id="723" r:id="rId37"/>
    <p:sldId id="724" r:id="rId38"/>
    <p:sldId id="1031" r:id="rId39"/>
    <p:sldId id="728" r:id="rId40"/>
    <p:sldId id="729" r:id="rId41"/>
    <p:sldId id="730" r:id="rId42"/>
    <p:sldId id="731" r:id="rId43"/>
    <p:sldId id="1018" r:id="rId44"/>
    <p:sldId id="1020" r:id="rId46"/>
    <p:sldId id="1019" r:id="rId47"/>
    <p:sldId id="1024" r:id="rId48"/>
    <p:sldId id="1021" r:id="rId49"/>
    <p:sldId id="1022" r:id="rId50"/>
    <p:sldId id="1025" r:id="rId51"/>
    <p:sldId id="1023" r:id="rId52"/>
    <p:sldId id="1026" r:id="rId53"/>
    <p:sldId id="1027" r:id="rId54"/>
    <p:sldId id="1033" r:id="rId55"/>
    <p:sldId id="1034" r:id="rId56"/>
    <p:sldId id="1036" r:id="rId57"/>
    <p:sldId id="1037" r:id="rId58"/>
    <p:sldId id="1035" r:id="rId59"/>
  </p:sldIdLst>
  <p:sldSz cx="12192000" cy="6858000"/>
  <p:notesSz cx="6858000" cy="9144000"/>
  <p:custDataLst>
    <p:tags r:id="rId63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3366FF"/>
    <a:srgbClr val="00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9" autoAdjust="0"/>
  </p:normalViewPr>
  <p:slideViewPr>
    <p:cSldViewPr showGuides="1">
      <p:cViewPr varScale="1">
        <p:scale>
          <a:sx n="143" d="100"/>
          <a:sy n="143" d="100"/>
        </p:scale>
        <p:origin x="120" y="210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3" Type="http://schemas.openxmlformats.org/officeDocument/2006/relationships/tags" Target="tags/tag1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6C5EB77B-C36D-4906-8ABD-37FC2C5069BC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D4AEAF-D819-4F21-AAE8-17ECD2693B8E}" type="slidenum">
              <a:rPr kumimoji="1" lang="en-US" altLang="zh-CN" b="1" smtClean="0">
                <a:latin typeface="Times New Roman" panose="02020603050405020304" pitchFamily="18" charset="0"/>
              </a:rPr>
            </a:fld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EB77B-C36D-4906-8ABD-37FC2C5069B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9BA812-A997-4F9E-9541-C2D14FAEDEF2}" type="slidenum">
              <a:rPr kumimoji="1" lang="en-US" altLang="zh-CN" b="1" smtClean="0">
                <a:latin typeface="Times New Roman" panose="02020603050405020304" pitchFamily="18" charset="0"/>
              </a:rPr>
            </a:fld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分支举例：</a:t>
            </a:r>
            <a:endParaRPr lang="en-US" altLang="zh-CN"/>
          </a:p>
          <a:p>
            <a:pPr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BEQZ R4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name 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D4AEAF-D819-4F21-AAE8-17ECD2693B8E}" type="slidenum">
              <a:rPr kumimoji="1" lang="en-US" altLang="zh-CN" b="1" smtClean="0">
                <a:latin typeface="Times New Roman" panose="02020603050405020304" pitchFamily="18" charset="0"/>
              </a:rPr>
            </a:fld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D4AEAF-D819-4F21-AAE8-17ECD2693B8E}" type="slidenum">
              <a:rPr kumimoji="1" lang="en-US" altLang="zh-CN" b="1" smtClean="0">
                <a:latin typeface="Times New Roman" panose="02020603050405020304" pitchFamily="18" charset="0"/>
              </a:rPr>
            </a:fld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D4AEAF-D819-4F21-AAE8-17ECD2693B8E}" type="slidenum">
              <a:rPr kumimoji="1" lang="en-US" altLang="zh-CN" b="1" smtClean="0">
                <a:latin typeface="Times New Roman" panose="02020603050405020304" pitchFamily="18" charset="0"/>
              </a:rPr>
            </a:fld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D4AEAF-D819-4F21-AAE8-17ECD2693B8E}" type="slidenum">
              <a:rPr kumimoji="1" lang="en-US" altLang="zh-CN" b="1" smtClean="0">
                <a:latin typeface="Times New Roman" panose="02020603050405020304" pitchFamily="18" charset="0"/>
              </a:rPr>
            </a:fld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D4AEAF-D819-4F21-AAE8-17ECD2693B8E}" type="slidenum">
              <a:rPr kumimoji="1" lang="en-US" altLang="zh-CN" b="1" smtClean="0">
                <a:latin typeface="Times New Roman" panose="02020603050405020304" pitchFamily="18" charset="0"/>
              </a:rPr>
            </a:fld>
            <a:endParaRPr kumimoji="1"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89DC-A8E0-4D13-8E8F-516A5651473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5BB9-380D-41E9-8FD8-ED6959FA9B3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9AFF-7493-4B70-8EA2-FC3CBA072A7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5282F-DD4E-49B6-AEDD-2E5A8C4983C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8429-1B78-4EA8-86E4-75DABA9C43A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B7A-FB8E-4267-AAE5-4D70C2C943B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9C88-9DE5-4D42-B18E-9B345634AAF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47B69-261A-4912-BFC2-3FD1594280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8403-F4BF-4187-94B5-8A07EF505E5F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85953-F758-46BA-BE1D-124B5F26935F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97613-305E-4664-869B-0E523B57CB1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0A538-011C-4FB2-B499-BCDCA82A06B4}" type="slidenum">
              <a:rPr lang="zh-CN" altLang="en-US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63352" y="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指 令 系 统</a:t>
            </a:r>
            <a:endParaRPr lang="zh-CN" altLang="en-US" b="1" dirty="0"/>
          </a:p>
        </p:txBody>
      </p:sp>
      <p:grpSp>
        <p:nvGrpSpPr>
          <p:cNvPr id="5123" name="Group 3"/>
          <p:cNvGrpSpPr/>
          <p:nvPr/>
        </p:nvGrpSpPr>
        <p:grpSpPr bwMode="auto">
          <a:xfrm>
            <a:off x="2207568" y="1196628"/>
            <a:ext cx="4868863" cy="3471863"/>
            <a:chOff x="470" y="882"/>
            <a:chExt cx="3067" cy="2187"/>
          </a:xfrm>
        </p:grpSpPr>
        <p:sp>
          <p:nvSpPr>
            <p:cNvPr id="5125" name="Text Box 4"/>
            <p:cNvSpPr txBox="1">
              <a:spLocks noChangeArrowheads="1"/>
            </p:cNvSpPr>
            <p:nvPr/>
          </p:nvSpPr>
          <p:spPr bwMode="auto">
            <a:xfrm>
              <a:off x="470" y="882"/>
              <a:ext cx="143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latin typeface="Times New Roman" panose="02020603050405020304" pitchFamily="18" charset="0"/>
                </a:rPr>
                <a:t>I 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机器指令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5126" name="Text Box 5"/>
            <p:cNvSpPr txBox="1">
              <a:spLocks noChangeArrowheads="1"/>
            </p:cNvSpPr>
            <p:nvPr/>
          </p:nvSpPr>
          <p:spPr bwMode="auto">
            <a:xfrm>
              <a:off x="470" y="1335"/>
              <a:ext cx="306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latin typeface="Times New Roman" panose="02020603050405020304" pitchFamily="18" charset="0"/>
                </a:rPr>
                <a:t>II 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操作数类型和操作类型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5127" name="Text Box 6"/>
            <p:cNvSpPr txBox="1">
              <a:spLocks noChangeArrowheads="1"/>
            </p:cNvSpPr>
            <p:nvPr/>
          </p:nvSpPr>
          <p:spPr bwMode="auto">
            <a:xfrm>
              <a:off x="470" y="1791"/>
              <a:ext cx="160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latin typeface="Times New Roman" panose="02020603050405020304" pitchFamily="18" charset="0"/>
                </a:rPr>
                <a:t>III 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寻址方式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5128" name="Text Box 7"/>
            <p:cNvSpPr txBox="1">
              <a:spLocks noChangeArrowheads="1"/>
            </p:cNvSpPr>
            <p:nvPr/>
          </p:nvSpPr>
          <p:spPr bwMode="auto">
            <a:xfrm>
              <a:off x="470" y="2246"/>
              <a:ext cx="212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latin typeface="Times New Roman" panose="02020603050405020304" pitchFamily="18" charset="0"/>
                </a:rPr>
                <a:t>IV 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指令格式举例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5129" name="Text Box 8"/>
            <p:cNvSpPr txBox="1">
              <a:spLocks noChangeArrowheads="1"/>
            </p:cNvSpPr>
            <p:nvPr/>
          </p:nvSpPr>
          <p:spPr bwMode="auto">
            <a:xfrm>
              <a:off x="470" y="2701"/>
              <a:ext cx="164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latin typeface="Times New Roman" panose="02020603050405020304" pitchFamily="18" charset="0"/>
                </a:rPr>
                <a:t>V  RISC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技术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224013" y="4800077"/>
            <a:ext cx="34211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VI  MIPS</a:t>
            </a:r>
            <a:r>
              <a:rPr lang="zh-CN" altLang="en-US" sz="3200" dirty="0">
                <a:latin typeface="Times New Roman" panose="02020603050405020304" pitchFamily="18" charset="0"/>
              </a:rPr>
              <a:t>指令系统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2279015" y="5501005"/>
            <a:ext cx="806640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VII  </a:t>
            </a:r>
            <a:r>
              <a:rPr lang="zh-CN" sz="3200" dirty="0">
                <a:latin typeface="Times New Roman" panose="02020603050405020304" pitchFamily="18" charset="0"/>
              </a:rPr>
              <a:t>我国自主产权指令集架构</a:t>
            </a:r>
            <a:r>
              <a:rPr lang="en-US" altLang="zh-CN" sz="3200" dirty="0">
                <a:latin typeface="Times New Roman" panose="02020603050405020304" pitchFamily="18" charset="0"/>
              </a:rPr>
              <a:t> -- </a:t>
            </a:r>
            <a:r>
              <a:rPr lang="zh-CN" altLang="en-US" sz="3200" dirty="0">
                <a:latin typeface="Times New Roman" panose="02020603050405020304" pitchFamily="18" charset="0"/>
              </a:rPr>
              <a:t>龙架构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I</a:t>
            </a:r>
            <a:r>
              <a:rPr lang="zh-CN" altLang="en-US" b="1" dirty="0"/>
              <a:t>  机 器 指 令</a:t>
            </a:r>
            <a:endParaRPr lang="zh-CN" altLang="en-US" b="1" dirty="0"/>
          </a:p>
        </p:txBody>
      </p:sp>
      <p:sp>
        <p:nvSpPr>
          <p:cNvPr id="481283" name="Text Box 3"/>
          <p:cNvSpPr txBox="1">
            <a:spLocks noChangeArrowheads="1"/>
          </p:cNvSpPr>
          <p:nvPr/>
        </p:nvSpPr>
        <p:spPr bwMode="auto">
          <a:xfrm>
            <a:off x="1905000" y="1166814"/>
            <a:ext cx="38560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一、指令的一般格式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481284" name="Group 4"/>
          <p:cNvGrpSpPr/>
          <p:nvPr/>
        </p:nvGrpSpPr>
        <p:grpSpPr bwMode="auto">
          <a:xfrm>
            <a:off x="3565526" y="1905000"/>
            <a:ext cx="3673475" cy="457200"/>
            <a:chOff x="1190" y="1344"/>
            <a:chExt cx="2314" cy="288"/>
          </a:xfrm>
        </p:grpSpPr>
        <p:sp>
          <p:nvSpPr>
            <p:cNvPr id="6159" name="Text Box 5"/>
            <p:cNvSpPr txBox="1">
              <a:spLocks noChangeArrowheads="1"/>
            </p:cNvSpPr>
            <p:nvPr/>
          </p:nvSpPr>
          <p:spPr bwMode="auto">
            <a:xfrm>
              <a:off x="1190" y="1344"/>
              <a:ext cx="21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 操作码字段</a:t>
              </a:r>
              <a:r>
                <a:rPr lang="zh-CN" altLang="en-US" sz="2400">
                  <a:latin typeface="Times New Roman" panose="02020603050405020304" pitchFamily="18" charset="0"/>
                </a:rPr>
                <a:t>        </a:t>
              </a:r>
              <a:r>
                <a:rPr lang="zh-CN" altLang="en-US" sz="2000">
                  <a:latin typeface="Times New Roman" panose="02020603050405020304" pitchFamily="18" charset="0"/>
                </a:rPr>
                <a:t>地址码字段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6160" name="Rectangle 6"/>
            <p:cNvSpPr>
              <a:spLocks noChangeArrowheads="1"/>
            </p:cNvSpPr>
            <p:nvPr/>
          </p:nvSpPr>
          <p:spPr bwMode="auto">
            <a:xfrm>
              <a:off x="1200" y="1344"/>
              <a:ext cx="230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1" name="Line 7"/>
            <p:cNvSpPr>
              <a:spLocks noChangeShapeType="1"/>
            </p:cNvSpPr>
            <p:nvPr/>
          </p:nvSpPr>
          <p:spPr bwMode="auto">
            <a:xfrm>
              <a:off x="2304" y="134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81288" name="Text Box 8"/>
          <p:cNvSpPr txBox="1">
            <a:spLocks noChangeArrowheads="1"/>
          </p:cNvSpPr>
          <p:nvPr/>
        </p:nvSpPr>
        <p:spPr bwMode="auto">
          <a:xfrm>
            <a:off x="2727326" y="2643189"/>
            <a:ext cx="17129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000">
                <a:latin typeface="Times New Roman" panose="02020603050405020304" pitchFamily="18" charset="0"/>
              </a:rPr>
              <a:t>1. 操作码</a:t>
            </a:r>
            <a:endParaRPr lang="zh-CN" altLang="en-US" sz="3000">
              <a:latin typeface="Times New Roman" panose="02020603050405020304" pitchFamily="18" charset="0"/>
            </a:endParaRPr>
          </a:p>
        </p:txBody>
      </p:sp>
      <p:sp>
        <p:nvSpPr>
          <p:cNvPr id="481289" name="Text Box 9"/>
          <p:cNvSpPr txBox="1">
            <a:spLocks noChangeArrowheads="1"/>
          </p:cNvSpPr>
          <p:nvPr/>
        </p:nvSpPr>
        <p:spPr bwMode="auto">
          <a:xfrm>
            <a:off x="4632326" y="2625726"/>
            <a:ext cx="5349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反映机器做什么操作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1290" name="Text Box 10"/>
          <p:cNvSpPr txBox="1">
            <a:spLocks noChangeArrowheads="1"/>
          </p:cNvSpPr>
          <p:nvPr/>
        </p:nvSpPr>
        <p:spPr bwMode="auto">
          <a:xfrm>
            <a:off x="3048000" y="3332163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长度固定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291" name="Text Box 11"/>
          <p:cNvSpPr txBox="1">
            <a:spLocks noChangeArrowheads="1"/>
          </p:cNvSpPr>
          <p:nvPr/>
        </p:nvSpPr>
        <p:spPr bwMode="auto">
          <a:xfrm>
            <a:off x="3048001" y="5330826"/>
            <a:ext cx="2111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长度可变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292" name="Text Box 12"/>
          <p:cNvSpPr txBox="1">
            <a:spLocks noChangeArrowheads="1"/>
          </p:cNvSpPr>
          <p:nvPr/>
        </p:nvSpPr>
        <p:spPr bwMode="auto">
          <a:xfrm>
            <a:off x="3525838" y="3976688"/>
            <a:ext cx="4113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用于指令字长较长的情况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1293" name="Text Box 13"/>
          <p:cNvSpPr txBox="1">
            <a:spLocks noChangeArrowheads="1"/>
          </p:cNvSpPr>
          <p:nvPr/>
        </p:nvSpPr>
        <p:spPr bwMode="auto">
          <a:xfrm>
            <a:off x="7620000" y="3998913"/>
            <a:ext cx="1390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，RISC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81294" name="Text Box 14"/>
          <p:cNvSpPr txBox="1">
            <a:spLocks noChangeArrowheads="1"/>
          </p:cNvSpPr>
          <p:nvPr/>
        </p:nvSpPr>
        <p:spPr bwMode="auto">
          <a:xfrm>
            <a:off x="3525838" y="4664076"/>
            <a:ext cx="27225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如  </a:t>
            </a:r>
            <a:r>
              <a:rPr lang="en-US" altLang="zh-CN" sz="2800">
                <a:latin typeface="Times New Roman" panose="02020603050405020304" pitchFamily="18" charset="0"/>
              </a:rPr>
              <a:t>IBM  370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81295" name="Text Box 15"/>
          <p:cNvSpPr txBox="1">
            <a:spLocks noChangeArrowheads="1"/>
          </p:cNvSpPr>
          <p:nvPr/>
        </p:nvSpPr>
        <p:spPr bwMode="auto">
          <a:xfrm>
            <a:off x="5784850" y="4664076"/>
            <a:ext cx="213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操作码  8  位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1296" name="Text Box 16"/>
          <p:cNvSpPr txBox="1">
            <a:spLocks noChangeArrowheads="1"/>
          </p:cNvSpPr>
          <p:nvPr/>
        </p:nvSpPr>
        <p:spPr bwMode="auto">
          <a:xfrm>
            <a:off x="3525838" y="5997576"/>
            <a:ext cx="5541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操作码分散在指令字的不同字段中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8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8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8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3" grpId="0" autoUpdateAnimBg="0"/>
      <p:bldP spid="481288" grpId="0" autoUpdateAnimBg="0"/>
      <p:bldP spid="481289" grpId="0" autoUpdateAnimBg="0"/>
      <p:bldP spid="481290" grpId="0" autoUpdateAnimBg="0"/>
      <p:bldP spid="481291" grpId="0" autoUpdateAnimBg="0"/>
      <p:bldP spid="481292" grpId="0" autoUpdateAnimBg="0"/>
      <p:bldP spid="481293" grpId="0" autoUpdateAnimBg="0"/>
      <p:bldP spid="481294" grpId="0" autoUpdateAnimBg="0"/>
      <p:bldP spid="481295" grpId="0" autoUpdateAnimBg="0"/>
      <p:bldP spid="48129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684212" y="44451"/>
            <a:ext cx="4032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(3) 扩展操作码技术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82307" name="Text Box 3"/>
          <p:cNvSpPr txBox="1">
            <a:spLocks noChangeArrowheads="1"/>
          </p:cNvSpPr>
          <p:nvPr/>
        </p:nvSpPr>
        <p:spPr bwMode="auto">
          <a:xfrm>
            <a:off x="2362201" y="762001"/>
            <a:ext cx="6613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操作码的位数随地址数的减少而增加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82308" name="Group 4"/>
          <p:cNvGrpSpPr/>
          <p:nvPr/>
        </p:nvGrpSpPr>
        <p:grpSpPr bwMode="auto">
          <a:xfrm>
            <a:off x="4276726" y="1295403"/>
            <a:ext cx="3114675" cy="461963"/>
            <a:chOff x="1686" y="1056"/>
            <a:chExt cx="1920" cy="291"/>
          </a:xfrm>
        </p:grpSpPr>
        <p:sp>
          <p:nvSpPr>
            <p:cNvPr id="7255" name="Text Box 5"/>
            <p:cNvSpPr txBox="1">
              <a:spLocks noChangeArrowheads="1"/>
            </p:cNvSpPr>
            <p:nvPr/>
          </p:nvSpPr>
          <p:spPr bwMode="auto">
            <a:xfrm>
              <a:off x="1736" y="1056"/>
              <a:ext cx="3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OP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256" name="Text Box 6"/>
            <p:cNvSpPr txBox="1">
              <a:spLocks noChangeArrowheads="1"/>
            </p:cNvSpPr>
            <p:nvPr/>
          </p:nvSpPr>
          <p:spPr bwMode="auto">
            <a:xfrm>
              <a:off x="2214" y="1056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57" name="Text Box 7"/>
            <p:cNvSpPr txBox="1">
              <a:spLocks noChangeArrowheads="1"/>
            </p:cNvSpPr>
            <p:nvPr/>
          </p:nvSpPr>
          <p:spPr bwMode="auto">
            <a:xfrm>
              <a:off x="2711" y="1056"/>
              <a:ext cx="3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58" name="Text Box 8"/>
            <p:cNvSpPr txBox="1">
              <a:spLocks noChangeArrowheads="1"/>
            </p:cNvSpPr>
            <p:nvPr/>
          </p:nvSpPr>
          <p:spPr bwMode="auto">
            <a:xfrm>
              <a:off x="3174" y="1056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59" name="Rectangle 9"/>
            <p:cNvSpPr>
              <a:spLocks noChangeArrowheads="1"/>
            </p:cNvSpPr>
            <p:nvPr/>
          </p:nvSpPr>
          <p:spPr bwMode="auto">
            <a:xfrm>
              <a:off x="1686" y="10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60" name="Rectangle 10"/>
            <p:cNvSpPr>
              <a:spLocks noChangeArrowheads="1"/>
            </p:cNvSpPr>
            <p:nvPr/>
          </p:nvSpPr>
          <p:spPr bwMode="auto">
            <a:xfrm>
              <a:off x="2168" y="10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61" name="Rectangle 11"/>
            <p:cNvSpPr>
              <a:spLocks noChangeArrowheads="1"/>
            </p:cNvSpPr>
            <p:nvPr/>
          </p:nvSpPr>
          <p:spPr bwMode="auto">
            <a:xfrm>
              <a:off x="2646" y="10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62" name="Rectangle 12"/>
            <p:cNvSpPr>
              <a:spLocks noChangeArrowheads="1"/>
            </p:cNvSpPr>
            <p:nvPr/>
          </p:nvSpPr>
          <p:spPr bwMode="auto">
            <a:xfrm>
              <a:off x="3128" y="10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82317" name="Group 13"/>
          <p:cNvGrpSpPr/>
          <p:nvPr/>
        </p:nvGrpSpPr>
        <p:grpSpPr bwMode="auto">
          <a:xfrm>
            <a:off x="4276725" y="1905001"/>
            <a:ext cx="3124200" cy="1146175"/>
            <a:chOff x="1686" y="1200"/>
            <a:chExt cx="1968" cy="722"/>
          </a:xfrm>
        </p:grpSpPr>
        <p:sp>
          <p:nvSpPr>
            <p:cNvPr id="7238" name="Rectangle 14"/>
            <p:cNvSpPr>
              <a:spLocks noChangeArrowheads="1"/>
            </p:cNvSpPr>
            <p:nvPr/>
          </p:nvSpPr>
          <p:spPr bwMode="auto">
            <a:xfrm>
              <a:off x="1686" y="1210"/>
              <a:ext cx="1968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39" name="Text Box 15"/>
            <p:cNvSpPr txBox="1">
              <a:spLocks noChangeArrowheads="1"/>
            </p:cNvSpPr>
            <p:nvPr/>
          </p:nvSpPr>
          <p:spPr bwMode="auto">
            <a:xfrm>
              <a:off x="1734" y="120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0000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40" name="Text Box 16"/>
            <p:cNvSpPr txBox="1">
              <a:spLocks noChangeArrowheads="1"/>
            </p:cNvSpPr>
            <p:nvPr/>
          </p:nvSpPr>
          <p:spPr bwMode="auto">
            <a:xfrm>
              <a:off x="1734" y="135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0001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41" name="Text Box 17"/>
            <p:cNvSpPr txBox="1">
              <a:spLocks noChangeArrowheads="1"/>
            </p:cNvSpPr>
            <p:nvPr/>
          </p:nvSpPr>
          <p:spPr bwMode="auto">
            <a:xfrm>
              <a:off x="1734" y="167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1110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42" name="Text Box 18"/>
            <p:cNvSpPr txBox="1">
              <a:spLocks noChangeArrowheads="1"/>
            </p:cNvSpPr>
            <p:nvPr/>
          </p:nvSpPr>
          <p:spPr bwMode="auto">
            <a:xfrm>
              <a:off x="1808" y="1536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43" name="Text Box 19"/>
            <p:cNvSpPr txBox="1">
              <a:spLocks noChangeArrowheads="1"/>
            </p:cNvSpPr>
            <p:nvPr/>
          </p:nvSpPr>
          <p:spPr bwMode="auto">
            <a:xfrm>
              <a:off x="2310" y="1200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44" name="Text Box 20"/>
            <p:cNvSpPr txBox="1">
              <a:spLocks noChangeArrowheads="1"/>
            </p:cNvSpPr>
            <p:nvPr/>
          </p:nvSpPr>
          <p:spPr bwMode="auto">
            <a:xfrm>
              <a:off x="2310" y="1344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45" name="Text Box 21"/>
            <p:cNvSpPr txBox="1">
              <a:spLocks noChangeArrowheads="1"/>
            </p:cNvSpPr>
            <p:nvPr/>
          </p:nvSpPr>
          <p:spPr bwMode="auto">
            <a:xfrm>
              <a:off x="2310" y="1670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1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7246" name="Text Box 22"/>
            <p:cNvSpPr txBox="1">
              <a:spLocks noChangeArrowheads="1"/>
            </p:cNvSpPr>
            <p:nvPr/>
          </p:nvSpPr>
          <p:spPr bwMode="auto">
            <a:xfrm>
              <a:off x="2308" y="1536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47" name="Text Box 23"/>
            <p:cNvSpPr txBox="1">
              <a:spLocks noChangeArrowheads="1"/>
            </p:cNvSpPr>
            <p:nvPr/>
          </p:nvSpPr>
          <p:spPr bwMode="auto">
            <a:xfrm>
              <a:off x="2770" y="1200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48" name="Text Box 24"/>
            <p:cNvSpPr txBox="1">
              <a:spLocks noChangeArrowheads="1"/>
            </p:cNvSpPr>
            <p:nvPr/>
          </p:nvSpPr>
          <p:spPr bwMode="auto">
            <a:xfrm>
              <a:off x="2770" y="1344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49" name="Text Box 25"/>
            <p:cNvSpPr txBox="1">
              <a:spLocks noChangeArrowheads="1"/>
            </p:cNvSpPr>
            <p:nvPr/>
          </p:nvSpPr>
          <p:spPr bwMode="auto">
            <a:xfrm>
              <a:off x="2770" y="1670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2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7250" name="Text Box 26"/>
            <p:cNvSpPr txBox="1">
              <a:spLocks noChangeArrowheads="1"/>
            </p:cNvSpPr>
            <p:nvPr/>
          </p:nvSpPr>
          <p:spPr bwMode="auto">
            <a:xfrm>
              <a:off x="2768" y="1536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51" name="Text Box 27"/>
            <p:cNvSpPr txBox="1">
              <a:spLocks noChangeArrowheads="1"/>
            </p:cNvSpPr>
            <p:nvPr/>
          </p:nvSpPr>
          <p:spPr bwMode="auto">
            <a:xfrm>
              <a:off x="3202" y="1200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52" name="Text Box 28"/>
            <p:cNvSpPr txBox="1">
              <a:spLocks noChangeArrowheads="1"/>
            </p:cNvSpPr>
            <p:nvPr/>
          </p:nvSpPr>
          <p:spPr bwMode="auto">
            <a:xfrm>
              <a:off x="3202" y="1344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53" name="Text Box 29"/>
            <p:cNvSpPr txBox="1">
              <a:spLocks noChangeArrowheads="1"/>
            </p:cNvSpPr>
            <p:nvPr/>
          </p:nvSpPr>
          <p:spPr bwMode="auto">
            <a:xfrm>
              <a:off x="3202" y="1670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3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7254" name="Text Box 30"/>
            <p:cNvSpPr txBox="1">
              <a:spLocks noChangeArrowheads="1"/>
            </p:cNvSpPr>
            <p:nvPr/>
          </p:nvSpPr>
          <p:spPr bwMode="auto">
            <a:xfrm>
              <a:off x="3200" y="1536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82335" name="Group 31"/>
          <p:cNvGrpSpPr/>
          <p:nvPr/>
        </p:nvGrpSpPr>
        <p:grpSpPr bwMode="auto">
          <a:xfrm>
            <a:off x="4276725" y="3124201"/>
            <a:ext cx="3124200" cy="1146175"/>
            <a:chOff x="1686" y="1968"/>
            <a:chExt cx="1968" cy="722"/>
          </a:xfrm>
        </p:grpSpPr>
        <p:sp>
          <p:nvSpPr>
            <p:cNvPr id="7221" name="Rectangle 32"/>
            <p:cNvSpPr>
              <a:spLocks noChangeArrowheads="1"/>
            </p:cNvSpPr>
            <p:nvPr/>
          </p:nvSpPr>
          <p:spPr bwMode="auto">
            <a:xfrm>
              <a:off x="1686" y="1978"/>
              <a:ext cx="1968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22" name="Text Box 33"/>
            <p:cNvSpPr txBox="1">
              <a:spLocks noChangeArrowheads="1"/>
            </p:cNvSpPr>
            <p:nvPr/>
          </p:nvSpPr>
          <p:spPr bwMode="auto">
            <a:xfrm>
              <a:off x="2770" y="1968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23" name="Text Box 34"/>
            <p:cNvSpPr txBox="1">
              <a:spLocks noChangeArrowheads="1"/>
            </p:cNvSpPr>
            <p:nvPr/>
          </p:nvSpPr>
          <p:spPr bwMode="auto">
            <a:xfrm>
              <a:off x="2770" y="2112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24" name="Text Box 35"/>
            <p:cNvSpPr txBox="1">
              <a:spLocks noChangeArrowheads="1"/>
            </p:cNvSpPr>
            <p:nvPr/>
          </p:nvSpPr>
          <p:spPr bwMode="auto">
            <a:xfrm>
              <a:off x="2770" y="2438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2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7225" name="Text Box 36"/>
            <p:cNvSpPr txBox="1">
              <a:spLocks noChangeArrowheads="1"/>
            </p:cNvSpPr>
            <p:nvPr/>
          </p:nvSpPr>
          <p:spPr bwMode="auto">
            <a:xfrm>
              <a:off x="2768" y="2304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26" name="Text Box 37"/>
            <p:cNvSpPr txBox="1">
              <a:spLocks noChangeArrowheads="1"/>
            </p:cNvSpPr>
            <p:nvPr/>
          </p:nvSpPr>
          <p:spPr bwMode="auto">
            <a:xfrm>
              <a:off x="3202" y="1968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27" name="Text Box 38"/>
            <p:cNvSpPr txBox="1">
              <a:spLocks noChangeArrowheads="1"/>
            </p:cNvSpPr>
            <p:nvPr/>
          </p:nvSpPr>
          <p:spPr bwMode="auto">
            <a:xfrm>
              <a:off x="3202" y="2112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28" name="Text Box 39"/>
            <p:cNvSpPr txBox="1">
              <a:spLocks noChangeArrowheads="1"/>
            </p:cNvSpPr>
            <p:nvPr/>
          </p:nvSpPr>
          <p:spPr bwMode="auto">
            <a:xfrm>
              <a:off x="3202" y="2438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3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7229" name="Text Box 40"/>
            <p:cNvSpPr txBox="1">
              <a:spLocks noChangeArrowheads="1"/>
            </p:cNvSpPr>
            <p:nvPr/>
          </p:nvSpPr>
          <p:spPr bwMode="auto">
            <a:xfrm>
              <a:off x="3200" y="2304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30" name="Text Box 41"/>
            <p:cNvSpPr txBox="1">
              <a:spLocks noChangeArrowheads="1"/>
            </p:cNvSpPr>
            <p:nvPr/>
          </p:nvSpPr>
          <p:spPr bwMode="auto">
            <a:xfrm>
              <a:off x="1734" y="196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31" name="Text Box 42"/>
            <p:cNvSpPr txBox="1">
              <a:spLocks noChangeArrowheads="1"/>
            </p:cNvSpPr>
            <p:nvPr/>
          </p:nvSpPr>
          <p:spPr bwMode="auto">
            <a:xfrm>
              <a:off x="1734" y="210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32" name="Text Box 43"/>
            <p:cNvSpPr txBox="1">
              <a:spLocks noChangeArrowheads="1"/>
            </p:cNvSpPr>
            <p:nvPr/>
          </p:nvSpPr>
          <p:spPr bwMode="auto">
            <a:xfrm>
              <a:off x="1734" y="243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33" name="Text Box 44"/>
            <p:cNvSpPr txBox="1">
              <a:spLocks noChangeArrowheads="1"/>
            </p:cNvSpPr>
            <p:nvPr/>
          </p:nvSpPr>
          <p:spPr bwMode="auto">
            <a:xfrm>
              <a:off x="1808" y="2304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34" name="Text Box 45"/>
            <p:cNvSpPr txBox="1">
              <a:spLocks noChangeArrowheads="1"/>
            </p:cNvSpPr>
            <p:nvPr/>
          </p:nvSpPr>
          <p:spPr bwMode="auto">
            <a:xfrm>
              <a:off x="2214" y="196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0000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35" name="Text Box 46"/>
            <p:cNvSpPr txBox="1">
              <a:spLocks noChangeArrowheads="1"/>
            </p:cNvSpPr>
            <p:nvPr/>
          </p:nvSpPr>
          <p:spPr bwMode="auto">
            <a:xfrm>
              <a:off x="2214" y="210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0001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36" name="Text Box 47"/>
            <p:cNvSpPr txBox="1">
              <a:spLocks noChangeArrowheads="1"/>
            </p:cNvSpPr>
            <p:nvPr/>
          </p:nvSpPr>
          <p:spPr bwMode="auto">
            <a:xfrm>
              <a:off x="2214" y="243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1110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37" name="Text Box 48"/>
            <p:cNvSpPr txBox="1">
              <a:spLocks noChangeArrowheads="1"/>
            </p:cNvSpPr>
            <p:nvPr/>
          </p:nvSpPr>
          <p:spPr bwMode="auto">
            <a:xfrm>
              <a:off x="2288" y="2304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82353" name="Group 49"/>
          <p:cNvGrpSpPr/>
          <p:nvPr/>
        </p:nvGrpSpPr>
        <p:grpSpPr bwMode="auto">
          <a:xfrm>
            <a:off x="4276725" y="5562600"/>
            <a:ext cx="3124200" cy="1143000"/>
            <a:chOff x="1686" y="3504"/>
            <a:chExt cx="1968" cy="720"/>
          </a:xfrm>
        </p:grpSpPr>
        <p:sp>
          <p:nvSpPr>
            <p:cNvPr id="7204" name="Rectangle 50"/>
            <p:cNvSpPr>
              <a:spLocks noChangeArrowheads="1"/>
            </p:cNvSpPr>
            <p:nvPr/>
          </p:nvSpPr>
          <p:spPr bwMode="auto">
            <a:xfrm>
              <a:off x="1686" y="3514"/>
              <a:ext cx="1968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5" name="Text Box 51"/>
            <p:cNvSpPr txBox="1">
              <a:spLocks noChangeArrowheads="1"/>
            </p:cNvSpPr>
            <p:nvPr/>
          </p:nvSpPr>
          <p:spPr bwMode="auto">
            <a:xfrm>
              <a:off x="1734" y="350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06" name="Text Box 52"/>
            <p:cNvSpPr txBox="1">
              <a:spLocks noChangeArrowheads="1"/>
            </p:cNvSpPr>
            <p:nvPr/>
          </p:nvSpPr>
          <p:spPr bwMode="auto">
            <a:xfrm>
              <a:off x="1734" y="363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07" name="Text Box 53"/>
            <p:cNvSpPr txBox="1">
              <a:spLocks noChangeArrowheads="1"/>
            </p:cNvSpPr>
            <p:nvPr/>
          </p:nvSpPr>
          <p:spPr bwMode="auto">
            <a:xfrm>
              <a:off x="1734" y="397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08" name="Text Box 54"/>
            <p:cNvSpPr txBox="1">
              <a:spLocks noChangeArrowheads="1"/>
            </p:cNvSpPr>
            <p:nvPr/>
          </p:nvSpPr>
          <p:spPr bwMode="auto">
            <a:xfrm>
              <a:off x="1808" y="3840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09" name="Text Box 55"/>
            <p:cNvSpPr txBox="1">
              <a:spLocks noChangeArrowheads="1"/>
            </p:cNvSpPr>
            <p:nvPr/>
          </p:nvSpPr>
          <p:spPr bwMode="auto">
            <a:xfrm>
              <a:off x="2214" y="350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0" name="Text Box 56"/>
            <p:cNvSpPr txBox="1">
              <a:spLocks noChangeArrowheads="1"/>
            </p:cNvSpPr>
            <p:nvPr/>
          </p:nvSpPr>
          <p:spPr bwMode="auto">
            <a:xfrm>
              <a:off x="2214" y="363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1" name="Text Box 57"/>
            <p:cNvSpPr txBox="1">
              <a:spLocks noChangeArrowheads="1"/>
            </p:cNvSpPr>
            <p:nvPr/>
          </p:nvSpPr>
          <p:spPr bwMode="auto">
            <a:xfrm>
              <a:off x="2214" y="397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2" name="Text Box 58"/>
            <p:cNvSpPr txBox="1">
              <a:spLocks noChangeArrowheads="1"/>
            </p:cNvSpPr>
            <p:nvPr/>
          </p:nvSpPr>
          <p:spPr bwMode="auto">
            <a:xfrm>
              <a:off x="2288" y="3840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3" name="Text Box 59"/>
            <p:cNvSpPr txBox="1">
              <a:spLocks noChangeArrowheads="1"/>
            </p:cNvSpPr>
            <p:nvPr/>
          </p:nvSpPr>
          <p:spPr bwMode="auto">
            <a:xfrm>
              <a:off x="2690" y="350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4" name="Text Box 60"/>
            <p:cNvSpPr txBox="1">
              <a:spLocks noChangeArrowheads="1"/>
            </p:cNvSpPr>
            <p:nvPr/>
          </p:nvSpPr>
          <p:spPr bwMode="auto">
            <a:xfrm>
              <a:off x="2690" y="363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5" name="Text Box 61"/>
            <p:cNvSpPr txBox="1">
              <a:spLocks noChangeArrowheads="1"/>
            </p:cNvSpPr>
            <p:nvPr/>
          </p:nvSpPr>
          <p:spPr bwMode="auto">
            <a:xfrm>
              <a:off x="2690" y="397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6" name="Text Box 62"/>
            <p:cNvSpPr txBox="1">
              <a:spLocks noChangeArrowheads="1"/>
            </p:cNvSpPr>
            <p:nvPr/>
          </p:nvSpPr>
          <p:spPr bwMode="auto">
            <a:xfrm>
              <a:off x="2764" y="3840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7" name="Text Box 63"/>
            <p:cNvSpPr txBox="1">
              <a:spLocks noChangeArrowheads="1"/>
            </p:cNvSpPr>
            <p:nvPr/>
          </p:nvSpPr>
          <p:spPr bwMode="auto">
            <a:xfrm>
              <a:off x="3170" y="350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0000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18" name="Text Box 64"/>
            <p:cNvSpPr txBox="1">
              <a:spLocks noChangeArrowheads="1"/>
            </p:cNvSpPr>
            <p:nvPr/>
          </p:nvSpPr>
          <p:spPr bwMode="auto">
            <a:xfrm>
              <a:off x="3170" y="363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0001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19" name="Text Box 65"/>
            <p:cNvSpPr txBox="1">
              <a:spLocks noChangeArrowheads="1"/>
            </p:cNvSpPr>
            <p:nvPr/>
          </p:nvSpPr>
          <p:spPr bwMode="auto">
            <a:xfrm>
              <a:off x="3170" y="397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20" name="Text Box 66"/>
            <p:cNvSpPr txBox="1">
              <a:spLocks noChangeArrowheads="1"/>
            </p:cNvSpPr>
            <p:nvPr/>
          </p:nvSpPr>
          <p:spPr bwMode="auto">
            <a:xfrm>
              <a:off x="3244" y="3840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82371" name="Group 67"/>
          <p:cNvGrpSpPr/>
          <p:nvPr/>
        </p:nvGrpSpPr>
        <p:grpSpPr bwMode="auto">
          <a:xfrm>
            <a:off x="4276725" y="4343401"/>
            <a:ext cx="3124200" cy="1146175"/>
            <a:chOff x="1686" y="2736"/>
            <a:chExt cx="1968" cy="722"/>
          </a:xfrm>
        </p:grpSpPr>
        <p:sp>
          <p:nvSpPr>
            <p:cNvPr id="7187" name="Rectangle 68"/>
            <p:cNvSpPr>
              <a:spLocks noChangeArrowheads="1"/>
            </p:cNvSpPr>
            <p:nvPr/>
          </p:nvSpPr>
          <p:spPr bwMode="auto">
            <a:xfrm>
              <a:off x="1686" y="2746"/>
              <a:ext cx="1968" cy="6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8" name="Text Box 69"/>
            <p:cNvSpPr txBox="1">
              <a:spLocks noChangeArrowheads="1"/>
            </p:cNvSpPr>
            <p:nvPr/>
          </p:nvSpPr>
          <p:spPr bwMode="auto">
            <a:xfrm>
              <a:off x="1734" y="273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9" name="Text Box 70"/>
            <p:cNvSpPr txBox="1">
              <a:spLocks noChangeArrowheads="1"/>
            </p:cNvSpPr>
            <p:nvPr/>
          </p:nvSpPr>
          <p:spPr bwMode="auto">
            <a:xfrm>
              <a:off x="1734" y="287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90" name="Text Box 71"/>
            <p:cNvSpPr txBox="1">
              <a:spLocks noChangeArrowheads="1"/>
            </p:cNvSpPr>
            <p:nvPr/>
          </p:nvSpPr>
          <p:spPr bwMode="auto">
            <a:xfrm>
              <a:off x="1734" y="320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91" name="Text Box 72"/>
            <p:cNvSpPr txBox="1">
              <a:spLocks noChangeArrowheads="1"/>
            </p:cNvSpPr>
            <p:nvPr/>
          </p:nvSpPr>
          <p:spPr bwMode="auto">
            <a:xfrm>
              <a:off x="1808" y="3072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92" name="Text Box 73"/>
            <p:cNvSpPr txBox="1">
              <a:spLocks noChangeArrowheads="1"/>
            </p:cNvSpPr>
            <p:nvPr/>
          </p:nvSpPr>
          <p:spPr bwMode="auto">
            <a:xfrm>
              <a:off x="2214" y="273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93" name="Text Box 74"/>
            <p:cNvSpPr txBox="1">
              <a:spLocks noChangeArrowheads="1"/>
            </p:cNvSpPr>
            <p:nvPr/>
          </p:nvSpPr>
          <p:spPr bwMode="auto">
            <a:xfrm>
              <a:off x="2214" y="287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94" name="Text Box 75"/>
            <p:cNvSpPr txBox="1">
              <a:spLocks noChangeArrowheads="1"/>
            </p:cNvSpPr>
            <p:nvPr/>
          </p:nvSpPr>
          <p:spPr bwMode="auto">
            <a:xfrm>
              <a:off x="2214" y="320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1111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95" name="Text Box 76"/>
            <p:cNvSpPr txBox="1">
              <a:spLocks noChangeArrowheads="1"/>
            </p:cNvSpPr>
            <p:nvPr/>
          </p:nvSpPr>
          <p:spPr bwMode="auto">
            <a:xfrm>
              <a:off x="2288" y="3072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96" name="Text Box 77"/>
            <p:cNvSpPr txBox="1">
              <a:spLocks noChangeArrowheads="1"/>
            </p:cNvSpPr>
            <p:nvPr/>
          </p:nvSpPr>
          <p:spPr bwMode="auto">
            <a:xfrm>
              <a:off x="3202" y="2736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197" name="Text Box 78"/>
            <p:cNvSpPr txBox="1">
              <a:spLocks noChangeArrowheads="1"/>
            </p:cNvSpPr>
            <p:nvPr/>
          </p:nvSpPr>
          <p:spPr bwMode="auto">
            <a:xfrm>
              <a:off x="3202" y="2880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198" name="Text Box 79"/>
            <p:cNvSpPr txBox="1">
              <a:spLocks noChangeArrowheads="1"/>
            </p:cNvSpPr>
            <p:nvPr/>
          </p:nvSpPr>
          <p:spPr bwMode="auto">
            <a:xfrm>
              <a:off x="3202" y="3206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3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7199" name="Text Box 80"/>
            <p:cNvSpPr txBox="1">
              <a:spLocks noChangeArrowheads="1"/>
            </p:cNvSpPr>
            <p:nvPr/>
          </p:nvSpPr>
          <p:spPr bwMode="auto">
            <a:xfrm>
              <a:off x="3200" y="3072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00" name="Text Box 81"/>
            <p:cNvSpPr txBox="1">
              <a:spLocks noChangeArrowheads="1"/>
            </p:cNvSpPr>
            <p:nvPr/>
          </p:nvSpPr>
          <p:spPr bwMode="auto">
            <a:xfrm>
              <a:off x="2690" y="273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0000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01" name="Text Box 82"/>
            <p:cNvSpPr txBox="1">
              <a:spLocks noChangeArrowheads="1"/>
            </p:cNvSpPr>
            <p:nvPr/>
          </p:nvSpPr>
          <p:spPr bwMode="auto">
            <a:xfrm>
              <a:off x="2690" y="287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0001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02" name="Text Box 83"/>
            <p:cNvSpPr txBox="1">
              <a:spLocks noChangeArrowheads="1"/>
            </p:cNvSpPr>
            <p:nvPr/>
          </p:nvSpPr>
          <p:spPr bwMode="auto">
            <a:xfrm>
              <a:off x="2690" y="320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1110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03" name="Text Box 84"/>
            <p:cNvSpPr txBox="1">
              <a:spLocks noChangeArrowheads="1"/>
            </p:cNvSpPr>
            <p:nvPr/>
          </p:nvSpPr>
          <p:spPr bwMode="auto">
            <a:xfrm>
              <a:off x="2764" y="3072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82389" name="Text Box 85"/>
          <p:cNvSpPr txBox="1">
            <a:spLocks noChangeArrowheads="1"/>
          </p:cNvSpPr>
          <p:nvPr/>
        </p:nvSpPr>
        <p:spPr bwMode="auto">
          <a:xfrm>
            <a:off x="2641600" y="2270126"/>
            <a:ext cx="1397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4 位操作码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2390" name="Text Box 86"/>
          <p:cNvSpPr txBox="1">
            <a:spLocks noChangeArrowheads="1"/>
          </p:cNvSpPr>
          <p:nvPr/>
        </p:nvSpPr>
        <p:spPr bwMode="auto">
          <a:xfrm>
            <a:off x="2641600" y="3489326"/>
            <a:ext cx="1397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8 位操作码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2391" name="Text Box 87"/>
          <p:cNvSpPr txBox="1">
            <a:spLocks noChangeArrowheads="1"/>
          </p:cNvSpPr>
          <p:nvPr/>
        </p:nvSpPr>
        <p:spPr bwMode="auto">
          <a:xfrm>
            <a:off x="2514600" y="4724401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12 位操作码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2392" name="Text Box 88"/>
          <p:cNvSpPr txBox="1">
            <a:spLocks noChangeArrowheads="1"/>
          </p:cNvSpPr>
          <p:nvPr/>
        </p:nvSpPr>
        <p:spPr bwMode="auto">
          <a:xfrm>
            <a:off x="2514600" y="5927726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16 位操作码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2393" name="Text Box 89"/>
          <p:cNvSpPr txBox="1">
            <a:spLocks noChangeArrowheads="1"/>
          </p:cNvSpPr>
          <p:nvPr/>
        </p:nvSpPr>
        <p:spPr bwMode="auto">
          <a:xfrm>
            <a:off x="7553326" y="2270126"/>
            <a:ext cx="3114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最多15条三地址指令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2394" name="Text Box 90"/>
          <p:cNvSpPr txBox="1">
            <a:spLocks noChangeArrowheads="1"/>
          </p:cNvSpPr>
          <p:nvPr/>
        </p:nvSpPr>
        <p:spPr bwMode="auto">
          <a:xfrm>
            <a:off x="7553325" y="3489326"/>
            <a:ext cx="2719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最多15条二地址指令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2395" name="Text Box 91"/>
          <p:cNvSpPr txBox="1">
            <a:spLocks noChangeArrowheads="1"/>
          </p:cNvSpPr>
          <p:nvPr/>
        </p:nvSpPr>
        <p:spPr bwMode="auto">
          <a:xfrm>
            <a:off x="7553326" y="4724401"/>
            <a:ext cx="2646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最多15条一地址指令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2396" name="Text Box 92"/>
          <p:cNvSpPr txBox="1">
            <a:spLocks noChangeArrowheads="1"/>
          </p:cNvSpPr>
          <p:nvPr/>
        </p:nvSpPr>
        <p:spPr bwMode="auto">
          <a:xfrm>
            <a:off x="7553326" y="5927726"/>
            <a:ext cx="1971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16条零地址指令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8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8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8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8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48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8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8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48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8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7" grpId="0" autoUpdateAnimBg="0"/>
      <p:bldP spid="482389" grpId="0" autoUpdateAnimBg="0"/>
      <p:bldP spid="482390" grpId="0" autoUpdateAnimBg="0"/>
      <p:bldP spid="482391" grpId="0" autoUpdateAnimBg="0"/>
      <p:bldP spid="482392" grpId="0" autoUpdateAnimBg="0"/>
      <p:bldP spid="482393" grpId="0" autoUpdateAnimBg="0"/>
      <p:bldP spid="482394" grpId="0" autoUpdateAnimBg="0"/>
      <p:bldP spid="482395" grpId="0" autoUpdateAnimBg="0"/>
      <p:bldP spid="48239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 bwMode="auto">
          <a:xfrm>
            <a:off x="666750" y="68264"/>
            <a:ext cx="8237538" cy="6637337"/>
            <a:chOff x="-540" y="43"/>
            <a:chExt cx="5189" cy="4181"/>
          </a:xfrm>
        </p:grpSpPr>
        <p:sp>
          <p:nvSpPr>
            <p:cNvPr id="8199" name="Text Box 3"/>
            <p:cNvSpPr txBox="1">
              <a:spLocks noChangeArrowheads="1"/>
            </p:cNvSpPr>
            <p:nvPr/>
          </p:nvSpPr>
          <p:spPr bwMode="auto">
            <a:xfrm>
              <a:off x="-540" y="43"/>
              <a:ext cx="254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 dirty="0">
                  <a:latin typeface="Times New Roman" panose="02020603050405020304" pitchFamily="18" charset="0"/>
                </a:rPr>
                <a:t>(3) 扩展操作码技术</a:t>
              </a:r>
              <a:endParaRPr lang="zh-CN" altLang="en-US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8200" name="Text Box 4"/>
            <p:cNvSpPr txBox="1">
              <a:spLocks noChangeArrowheads="1"/>
            </p:cNvSpPr>
            <p:nvPr/>
          </p:nvSpPr>
          <p:spPr bwMode="auto">
            <a:xfrm>
              <a:off x="528" y="480"/>
              <a:ext cx="41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操作码的位数随地址数的减少而增加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201" name="Group 5"/>
            <p:cNvGrpSpPr/>
            <p:nvPr/>
          </p:nvGrpSpPr>
          <p:grpSpPr bwMode="auto">
            <a:xfrm>
              <a:off x="624" y="816"/>
              <a:ext cx="3078" cy="3408"/>
              <a:chOff x="624" y="816"/>
              <a:chExt cx="3078" cy="3408"/>
            </a:xfrm>
          </p:grpSpPr>
          <p:grpSp>
            <p:nvGrpSpPr>
              <p:cNvPr id="8202" name="Group 6"/>
              <p:cNvGrpSpPr/>
              <p:nvPr/>
            </p:nvGrpSpPr>
            <p:grpSpPr bwMode="auto">
              <a:xfrm>
                <a:off x="1734" y="816"/>
                <a:ext cx="1962" cy="291"/>
                <a:chOff x="1686" y="1056"/>
                <a:chExt cx="1920" cy="291"/>
              </a:xfrm>
            </p:grpSpPr>
            <p:sp>
              <p:nvSpPr>
                <p:cNvPr id="827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736" y="1056"/>
                  <a:ext cx="35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Times New Roman" panose="02020603050405020304" pitchFamily="18" charset="0"/>
                    </a:rPr>
                    <a:t>OP</a:t>
                  </a: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8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214" y="1056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Times New Roman" panose="02020603050405020304" pitchFamily="18" charset="0"/>
                    </a:rPr>
                    <a:t> A</a:t>
                  </a:r>
                  <a:r>
                    <a:rPr lang="en-US" altLang="zh-CN" sz="2400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8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711" y="1056"/>
                  <a:ext cx="3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Times New Roman" panose="02020603050405020304" pitchFamily="18" charset="0"/>
                    </a:rPr>
                    <a:t> A</a:t>
                  </a:r>
                  <a:r>
                    <a:rPr lang="en-US" altLang="zh-CN" sz="2400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8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174" y="1056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Times New Roman" panose="02020603050405020304" pitchFamily="18" charset="0"/>
                    </a:rPr>
                    <a:t> A</a:t>
                  </a:r>
                  <a:r>
                    <a:rPr lang="en-US" altLang="zh-CN" sz="2400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83" name="Rectangle 11"/>
                <p:cNvSpPr>
                  <a:spLocks noChangeArrowheads="1"/>
                </p:cNvSpPr>
                <p:nvPr/>
              </p:nvSpPr>
              <p:spPr bwMode="auto">
                <a:xfrm>
                  <a:off x="1686" y="1056"/>
                  <a:ext cx="478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4" name="Rectangle 12"/>
                <p:cNvSpPr>
                  <a:spLocks noChangeArrowheads="1"/>
                </p:cNvSpPr>
                <p:nvPr/>
              </p:nvSpPr>
              <p:spPr bwMode="auto">
                <a:xfrm>
                  <a:off x="2168" y="1056"/>
                  <a:ext cx="478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5" name="Rectangle 13"/>
                <p:cNvSpPr>
                  <a:spLocks noChangeArrowheads="1"/>
                </p:cNvSpPr>
                <p:nvPr/>
              </p:nvSpPr>
              <p:spPr bwMode="auto">
                <a:xfrm>
                  <a:off x="2646" y="1056"/>
                  <a:ext cx="478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6" name="Rectangle 14"/>
                <p:cNvSpPr>
                  <a:spLocks noChangeArrowheads="1"/>
                </p:cNvSpPr>
                <p:nvPr/>
              </p:nvSpPr>
              <p:spPr bwMode="auto">
                <a:xfrm>
                  <a:off x="3128" y="1056"/>
                  <a:ext cx="478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203" name="Group 15"/>
              <p:cNvGrpSpPr/>
              <p:nvPr/>
            </p:nvGrpSpPr>
            <p:grpSpPr bwMode="auto">
              <a:xfrm>
                <a:off x="1734" y="1200"/>
                <a:ext cx="1968" cy="722"/>
                <a:chOff x="1686" y="1200"/>
                <a:chExt cx="1968" cy="722"/>
              </a:xfrm>
            </p:grpSpPr>
            <p:sp>
              <p:nvSpPr>
                <p:cNvPr id="8262" name="Rectangle 16"/>
                <p:cNvSpPr>
                  <a:spLocks noChangeArrowheads="1"/>
                </p:cNvSpPr>
                <p:nvPr/>
              </p:nvSpPr>
              <p:spPr bwMode="auto">
                <a:xfrm>
                  <a:off x="1686" y="1210"/>
                  <a:ext cx="1968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6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734" y="120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6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734" y="135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0001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6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734" y="167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1110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6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808" y="1536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6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310" y="1200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6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310" y="1344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6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310" y="1670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1500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aseline="-1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308" y="1536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770" y="1200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770" y="1344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3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770" y="1670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1500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1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768" y="1536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3202" y="1200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6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202" y="1344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202" y="1670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1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1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78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200" y="1536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204" name="Group 33"/>
              <p:cNvGrpSpPr/>
              <p:nvPr/>
            </p:nvGrpSpPr>
            <p:grpSpPr bwMode="auto">
              <a:xfrm>
                <a:off x="1734" y="1968"/>
                <a:ext cx="1968" cy="722"/>
                <a:chOff x="1686" y="1968"/>
                <a:chExt cx="1968" cy="722"/>
              </a:xfrm>
            </p:grpSpPr>
            <p:sp>
              <p:nvSpPr>
                <p:cNvPr id="8245" name="Rectangle 34"/>
                <p:cNvSpPr>
                  <a:spLocks noChangeArrowheads="1"/>
                </p:cNvSpPr>
                <p:nvPr/>
              </p:nvSpPr>
              <p:spPr bwMode="auto">
                <a:xfrm>
                  <a:off x="1686" y="1978"/>
                  <a:ext cx="1968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46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770" y="1968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7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770" y="2112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8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770" y="2438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1500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1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9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768" y="2304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0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202" y="1968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1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202" y="2112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2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202" y="2438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1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1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3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3200" y="2304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4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734" y="196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734" y="2102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6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734" y="24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7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808" y="2304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8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2214" y="196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59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2214" y="2102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0001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60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214" y="24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1110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61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288" y="2304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205" name="Group 51"/>
              <p:cNvGrpSpPr/>
              <p:nvPr/>
            </p:nvGrpSpPr>
            <p:grpSpPr bwMode="auto">
              <a:xfrm>
                <a:off x="1734" y="3504"/>
                <a:ext cx="1968" cy="720"/>
                <a:chOff x="1686" y="3504"/>
                <a:chExt cx="1968" cy="720"/>
              </a:xfrm>
            </p:grpSpPr>
            <p:sp>
              <p:nvSpPr>
                <p:cNvPr id="8228" name="Rectangle 52"/>
                <p:cNvSpPr>
                  <a:spLocks noChangeArrowheads="1"/>
                </p:cNvSpPr>
                <p:nvPr/>
              </p:nvSpPr>
              <p:spPr bwMode="auto">
                <a:xfrm>
                  <a:off x="1686" y="3514"/>
                  <a:ext cx="1968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29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1734" y="350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0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1734" y="36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1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734" y="397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2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808" y="3840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3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214" y="350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4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214" y="36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5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2214" y="397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6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2288" y="3840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7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690" y="350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690" y="36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3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2690" y="397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0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2764" y="3840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1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3170" y="350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2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170" y="363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0001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3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3170" y="3974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4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3244" y="3840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206" name="Group 69"/>
              <p:cNvGrpSpPr/>
              <p:nvPr/>
            </p:nvGrpSpPr>
            <p:grpSpPr bwMode="auto">
              <a:xfrm>
                <a:off x="1734" y="2736"/>
                <a:ext cx="1968" cy="722"/>
                <a:chOff x="1686" y="2736"/>
                <a:chExt cx="1968" cy="722"/>
              </a:xfrm>
            </p:grpSpPr>
            <p:sp>
              <p:nvSpPr>
                <p:cNvPr id="8211" name="Rectangle 70"/>
                <p:cNvSpPr>
                  <a:spLocks noChangeArrowheads="1"/>
                </p:cNvSpPr>
                <p:nvPr/>
              </p:nvSpPr>
              <p:spPr bwMode="auto">
                <a:xfrm>
                  <a:off x="1686" y="2746"/>
                  <a:ext cx="1968" cy="67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12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1734" y="273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13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1734" y="287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14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1734" y="320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15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1808" y="3072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16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2214" y="273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17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214" y="287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18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2214" y="320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19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2288" y="3072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20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3202" y="2736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21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3202" y="2880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22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3202" y="3206"/>
                  <a:ext cx="28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aseline="-1500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1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2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3200" y="3072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24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690" y="273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25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2690" y="2870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0001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2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2690" y="3206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1110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27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2764" y="3072"/>
                  <a:ext cx="310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…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207" name="Text Box 87"/>
              <p:cNvSpPr txBox="1">
                <a:spLocks noChangeArrowheads="1"/>
              </p:cNvSpPr>
              <p:nvPr/>
            </p:nvSpPr>
            <p:spPr bwMode="auto">
              <a:xfrm>
                <a:off x="704" y="1430"/>
                <a:ext cx="8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4 位操作码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08" name="Text Box 88"/>
              <p:cNvSpPr txBox="1">
                <a:spLocks noChangeArrowheads="1"/>
              </p:cNvSpPr>
              <p:nvPr/>
            </p:nvSpPr>
            <p:spPr bwMode="auto">
              <a:xfrm>
                <a:off x="704" y="2198"/>
                <a:ext cx="8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8 位操作码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09" name="Text Box 89"/>
              <p:cNvSpPr txBox="1">
                <a:spLocks noChangeArrowheads="1"/>
              </p:cNvSpPr>
              <p:nvPr/>
            </p:nvSpPr>
            <p:spPr bwMode="auto">
              <a:xfrm>
                <a:off x="624" y="2976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12 位操作码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10" name="Text Box 90"/>
              <p:cNvSpPr txBox="1">
                <a:spLocks noChangeArrowheads="1"/>
              </p:cNvSpPr>
              <p:nvPr/>
            </p:nvSpPr>
            <p:spPr bwMode="auto">
              <a:xfrm>
                <a:off x="624" y="3734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16 位操作码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83419" name="Text Box 91"/>
          <p:cNvSpPr txBox="1">
            <a:spLocks noChangeArrowheads="1"/>
          </p:cNvSpPr>
          <p:nvPr/>
        </p:nvSpPr>
        <p:spPr bwMode="auto">
          <a:xfrm>
            <a:off x="7553326" y="2493964"/>
            <a:ext cx="31146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三地址指令操作码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每减少一种可多构成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2</a:t>
            </a:r>
            <a:r>
              <a:rPr lang="en-US" altLang="zh-CN" sz="2000" baseline="30000">
                <a:latin typeface="Times New Roman" panose="02020603050405020304" pitchFamily="18" charset="0"/>
              </a:rPr>
              <a:t>4 </a:t>
            </a:r>
            <a:r>
              <a:rPr lang="zh-CN" altLang="en-US" sz="2000">
                <a:latin typeface="Times New Roman" panose="02020603050405020304" pitchFamily="18" charset="0"/>
              </a:rPr>
              <a:t>种二地址指令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3420" name="Text Box 92"/>
          <p:cNvSpPr txBox="1">
            <a:spLocks noChangeArrowheads="1"/>
          </p:cNvSpPr>
          <p:nvPr/>
        </p:nvSpPr>
        <p:spPr bwMode="auto">
          <a:xfrm>
            <a:off x="7553325" y="3789364"/>
            <a:ext cx="27193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二地址指令操作码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每减少一种可多构成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2</a:t>
            </a:r>
            <a:r>
              <a:rPr lang="en-US" altLang="zh-CN" sz="2000" baseline="30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种一地址指令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419" grpId="0" autoUpdateAnimBg="0"/>
      <p:bldP spid="48342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100138" y="30364"/>
            <a:ext cx="2759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2. 地址码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84355" name="Text Box 3"/>
          <p:cNvSpPr txBox="1">
            <a:spLocks noChangeArrowheads="1"/>
          </p:cNvSpPr>
          <p:nvPr/>
        </p:nvSpPr>
        <p:spPr bwMode="auto">
          <a:xfrm>
            <a:off x="2362200" y="762001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四地址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4356" name="Text Box 4"/>
          <p:cNvSpPr txBox="1">
            <a:spLocks noChangeArrowheads="1"/>
          </p:cNvSpPr>
          <p:nvPr/>
        </p:nvSpPr>
        <p:spPr bwMode="auto">
          <a:xfrm>
            <a:off x="2422526" y="4343401"/>
            <a:ext cx="5045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三地址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484357" name="Group 5"/>
          <p:cNvGrpSpPr/>
          <p:nvPr/>
        </p:nvGrpSpPr>
        <p:grpSpPr bwMode="auto">
          <a:xfrm>
            <a:off x="3276600" y="1539878"/>
            <a:ext cx="3048000" cy="461963"/>
            <a:chOff x="1104" y="1066"/>
            <a:chExt cx="1920" cy="291"/>
          </a:xfrm>
        </p:grpSpPr>
        <p:grpSp>
          <p:nvGrpSpPr>
            <p:cNvPr id="9254" name="Group 6"/>
            <p:cNvGrpSpPr/>
            <p:nvPr/>
          </p:nvGrpSpPr>
          <p:grpSpPr bwMode="auto">
            <a:xfrm>
              <a:off x="1104" y="1066"/>
              <a:ext cx="384" cy="291"/>
              <a:chOff x="1104" y="1008"/>
              <a:chExt cx="384" cy="291"/>
            </a:xfrm>
          </p:grpSpPr>
          <p:sp>
            <p:nvSpPr>
              <p:cNvPr id="9267" name="Text Box 7"/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OP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68" name="Rectangle 8"/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9255" name="Group 9"/>
            <p:cNvGrpSpPr/>
            <p:nvPr/>
          </p:nvGrpSpPr>
          <p:grpSpPr bwMode="auto">
            <a:xfrm>
              <a:off x="1488" y="1066"/>
              <a:ext cx="384" cy="288"/>
              <a:chOff x="1104" y="1008"/>
              <a:chExt cx="384" cy="288"/>
            </a:xfrm>
          </p:grpSpPr>
          <p:sp>
            <p:nvSpPr>
              <p:cNvPr id="9265" name="Text Box 10"/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 A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66" name="Rectangle 11"/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9256" name="Group 12"/>
            <p:cNvGrpSpPr/>
            <p:nvPr/>
          </p:nvGrpSpPr>
          <p:grpSpPr bwMode="auto">
            <a:xfrm>
              <a:off x="1872" y="1066"/>
              <a:ext cx="384" cy="288"/>
              <a:chOff x="1104" y="1008"/>
              <a:chExt cx="384" cy="288"/>
            </a:xfrm>
          </p:grpSpPr>
          <p:sp>
            <p:nvSpPr>
              <p:cNvPr id="9263" name="Text Box 13"/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 A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64" name="Rectangle 14"/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9257" name="Group 15"/>
            <p:cNvGrpSpPr/>
            <p:nvPr/>
          </p:nvGrpSpPr>
          <p:grpSpPr bwMode="auto">
            <a:xfrm>
              <a:off x="2256" y="1066"/>
              <a:ext cx="384" cy="288"/>
              <a:chOff x="1104" y="1008"/>
              <a:chExt cx="384" cy="288"/>
            </a:xfrm>
          </p:grpSpPr>
          <p:sp>
            <p:nvSpPr>
              <p:cNvPr id="9261" name="Text Box 16"/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 A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3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62" name="Rectangle 17"/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9258" name="Group 18"/>
            <p:cNvGrpSpPr/>
            <p:nvPr/>
          </p:nvGrpSpPr>
          <p:grpSpPr bwMode="auto">
            <a:xfrm>
              <a:off x="2640" y="1066"/>
              <a:ext cx="384" cy="288"/>
              <a:chOff x="1104" y="1008"/>
              <a:chExt cx="384" cy="288"/>
            </a:xfrm>
          </p:grpSpPr>
          <p:sp>
            <p:nvSpPr>
              <p:cNvPr id="9259" name="Text Box 19"/>
              <p:cNvSpPr txBox="1">
                <a:spLocks noChangeArrowheads="1"/>
              </p:cNvSpPr>
              <p:nvPr/>
            </p:nvSpPr>
            <p:spPr bwMode="auto">
              <a:xfrm>
                <a:off x="1106" y="1008"/>
                <a:ext cx="3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 A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4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60" name="Rectangle 20"/>
              <p:cNvSpPr>
                <a:spLocks noChangeArrowheads="1"/>
              </p:cNvSpPr>
              <p:nvPr/>
            </p:nvSpPr>
            <p:spPr bwMode="auto">
              <a:xfrm>
                <a:off x="1104" y="1008"/>
                <a:ext cx="38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484373" name="Text Box 21"/>
          <p:cNvSpPr txBox="1">
            <a:spLocks noChangeArrowheads="1"/>
          </p:cNvSpPr>
          <p:nvPr/>
        </p:nvSpPr>
        <p:spPr bwMode="auto">
          <a:xfrm>
            <a:off x="3435350" y="1143001"/>
            <a:ext cx="2660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8       6        6       6       6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4374" name="Text Box 22"/>
          <p:cNvSpPr txBox="1">
            <a:spLocks noChangeArrowheads="1"/>
          </p:cNvSpPr>
          <p:nvPr/>
        </p:nvSpPr>
        <p:spPr bwMode="auto">
          <a:xfrm>
            <a:off x="3429000" y="2133601"/>
            <a:ext cx="2895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第一操作数地址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4375" name="Text Box 23"/>
          <p:cNvSpPr txBox="1">
            <a:spLocks noChangeArrowheads="1"/>
          </p:cNvSpPr>
          <p:nvPr/>
        </p:nvSpPr>
        <p:spPr bwMode="auto">
          <a:xfrm>
            <a:off x="3429000" y="2559051"/>
            <a:ext cx="2743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第二操作数地址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4376" name="Text Box 24"/>
          <p:cNvSpPr txBox="1">
            <a:spLocks noChangeArrowheads="1"/>
          </p:cNvSpPr>
          <p:nvPr/>
        </p:nvSpPr>
        <p:spPr bwMode="auto">
          <a:xfrm>
            <a:off x="3429000" y="2986089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结果的地址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4377" name="Text Box 25"/>
          <p:cNvSpPr txBox="1">
            <a:spLocks noChangeArrowheads="1"/>
          </p:cNvSpPr>
          <p:nvPr/>
        </p:nvSpPr>
        <p:spPr bwMode="auto">
          <a:xfrm>
            <a:off x="3429000" y="3413126"/>
            <a:ext cx="2667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下一条指令地址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4378" name="Text Box 26"/>
          <p:cNvSpPr txBox="1">
            <a:spLocks noChangeArrowheads="1"/>
          </p:cNvSpPr>
          <p:nvPr/>
        </p:nvSpPr>
        <p:spPr bwMode="auto">
          <a:xfrm>
            <a:off x="6764338" y="3810000"/>
            <a:ext cx="2760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若 </a:t>
            </a:r>
            <a:r>
              <a:rPr lang="en-US" altLang="zh-CN" sz="2400">
                <a:latin typeface="Times New Roman" panose="02020603050405020304" pitchFamily="18" charset="0"/>
              </a:rPr>
              <a:t>PC </a:t>
            </a:r>
            <a:r>
              <a:rPr lang="zh-CN" altLang="en-US" sz="2400">
                <a:latin typeface="Times New Roman" panose="02020603050405020304" pitchFamily="18" charset="0"/>
              </a:rPr>
              <a:t>代替 </a:t>
            </a: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</a:rPr>
              <a:t>4</a:t>
            </a:r>
            <a:endParaRPr lang="en-US" altLang="zh-CN" sz="2400" baseline="-25000">
              <a:latin typeface="Times New Roman" panose="02020603050405020304" pitchFamily="18" charset="0"/>
            </a:endParaRPr>
          </a:p>
        </p:txBody>
      </p:sp>
      <p:grpSp>
        <p:nvGrpSpPr>
          <p:cNvPr id="484379" name="Group 27"/>
          <p:cNvGrpSpPr/>
          <p:nvPr/>
        </p:nvGrpSpPr>
        <p:grpSpPr bwMode="auto">
          <a:xfrm>
            <a:off x="3336926" y="3810000"/>
            <a:ext cx="2741613" cy="457200"/>
            <a:chOff x="1142" y="2378"/>
            <a:chExt cx="1727" cy="288"/>
          </a:xfrm>
        </p:grpSpPr>
        <p:sp>
          <p:nvSpPr>
            <p:cNvPr id="9252" name="Text Box 28"/>
            <p:cNvSpPr txBox="1">
              <a:spLocks noChangeArrowheads="1"/>
            </p:cNvSpPr>
            <p:nvPr/>
          </p:nvSpPr>
          <p:spPr bwMode="auto">
            <a:xfrm>
              <a:off x="1142" y="2378"/>
              <a:ext cx="17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</a:rPr>
                <a:t>) OP (A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)       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9253" name="Line 29"/>
            <p:cNvSpPr>
              <a:spLocks noChangeShapeType="1"/>
            </p:cNvSpPr>
            <p:nvPr/>
          </p:nvSpPr>
          <p:spPr bwMode="auto">
            <a:xfrm>
              <a:off x="2256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84382" name="Text Box 30"/>
          <p:cNvSpPr txBox="1">
            <a:spLocks noChangeArrowheads="1"/>
          </p:cNvSpPr>
          <p:nvPr/>
        </p:nvSpPr>
        <p:spPr bwMode="auto">
          <a:xfrm>
            <a:off x="3435350" y="4800601"/>
            <a:ext cx="2914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8            8           8         8   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484383" name="Group 31"/>
          <p:cNvGrpSpPr/>
          <p:nvPr/>
        </p:nvGrpSpPr>
        <p:grpSpPr bwMode="auto">
          <a:xfrm>
            <a:off x="3276600" y="5181607"/>
            <a:ext cx="3048000" cy="461963"/>
            <a:chOff x="1104" y="3456"/>
            <a:chExt cx="1920" cy="291"/>
          </a:xfrm>
        </p:grpSpPr>
        <p:sp>
          <p:nvSpPr>
            <p:cNvPr id="9244" name="Text Box 32"/>
            <p:cNvSpPr txBox="1">
              <a:spLocks noChangeArrowheads="1"/>
            </p:cNvSpPr>
            <p:nvPr/>
          </p:nvSpPr>
          <p:spPr bwMode="auto">
            <a:xfrm>
              <a:off x="1154" y="3456"/>
              <a:ext cx="3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OP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45" name="Text Box 33"/>
            <p:cNvSpPr txBox="1">
              <a:spLocks noChangeArrowheads="1"/>
            </p:cNvSpPr>
            <p:nvPr/>
          </p:nvSpPr>
          <p:spPr bwMode="auto">
            <a:xfrm>
              <a:off x="1632" y="3456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9246" name="Text Box 34"/>
            <p:cNvSpPr txBox="1">
              <a:spLocks noChangeArrowheads="1"/>
            </p:cNvSpPr>
            <p:nvPr/>
          </p:nvSpPr>
          <p:spPr bwMode="auto">
            <a:xfrm>
              <a:off x="2129" y="3456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9247" name="Text Box 35"/>
            <p:cNvSpPr txBox="1">
              <a:spLocks noChangeArrowheads="1"/>
            </p:cNvSpPr>
            <p:nvPr/>
          </p:nvSpPr>
          <p:spPr bwMode="auto">
            <a:xfrm>
              <a:off x="2592" y="3456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9248" name="Rectangle 36"/>
            <p:cNvSpPr>
              <a:spLocks noChangeArrowheads="1"/>
            </p:cNvSpPr>
            <p:nvPr/>
          </p:nvSpPr>
          <p:spPr bwMode="auto">
            <a:xfrm>
              <a:off x="1104" y="34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9" name="Rectangle 37"/>
            <p:cNvSpPr>
              <a:spLocks noChangeArrowheads="1"/>
            </p:cNvSpPr>
            <p:nvPr/>
          </p:nvSpPr>
          <p:spPr bwMode="auto">
            <a:xfrm>
              <a:off x="1586" y="34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0" name="Rectangle 38"/>
            <p:cNvSpPr>
              <a:spLocks noChangeArrowheads="1"/>
            </p:cNvSpPr>
            <p:nvPr/>
          </p:nvSpPr>
          <p:spPr bwMode="auto">
            <a:xfrm>
              <a:off x="2064" y="34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1" name="Rectangle 39"/>
            <p:cNvSpPr>
              <a:spLocks noChangeArrowheads="1"/>
            </p:cNvSpPr>
            <p:nvPr/>
          </p:nvSpPr>
          <p:spPr bwMode="auto">
            <a:xfrm>
              <a:off x="2546" y="3456"/>
              <a:ext cx="47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84392" name="Group 40"/>
          <p:cNvGrpSpPr/>
          <p:nvPr/>
        </p:nvGrpSpPr>
        <p:grpSpPr bwMode="auto">
          <a:xfrm>
            <a:off x="3352801" y="5867400"/>
            <a:ext cx="2741613" cy="457200"/>
            <a:chOff x="1142" y="2378"/>
            <a:chExt cx="1727" cy="288"/>
          </a:xfrm>
        </p:grpSpPr>
        <p:sp>
          <p:nvSpPr>
            <p:cNvPr id="9242" name="Text Box 41"/>
            <p:cNvSpPr txBox="1">
              <a:spLocks noChangeArrowheads="1"/>
            </p:cNvSpPr>
            <p:nvPr/>
          </p:nvSpPr>
          <p:spPr bwMode="auto">
            <a:xfrm>
              <a:off x="1142" y="2378"/>
              <a:ext cx="17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</a:rPr>
                <a:t>) OP (A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)       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9243" name="Line 42"/>
            <p:cNvSpPr>
              <a:spLocks noChangeShapeType="1"/>
            </p:cNvSpPr>
            <p:nvPr/>
          </p:nvSpPr>
          <p:spPr bwMode="auto">
            <a:xfrm>
              <a:off x="2256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84395" name="Text Box 43"/>
          <p:cNvSpPr txBox="1">
            <a:spLocks noChangeArrowheads="1"/>
          </p:cNvSpPr>
          <p:nvPr/>
        </p:nvSpPr>
        <p:spPr bwMode="auto">
          <a:xfrm>
            <a:off x="6764338" y="2662238"/>
            <a:ext cx="2379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4 次访存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4396" name="Text Box 44"/>
          <p:cNvSpPr txBox="1">
            <a:spLocks noChangeArrowheads="1"/>
          </p:cNvSpPr>
          <p:nvPr/>
        </p:nvSpPr>
        <p:spPr bwMode="auto">
          <a:xfrm>
            <a:off x="6764338" y="5181600"/>
            <a:ext cx="2227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4 次访存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4397" name="Text Box 45"/>
          <p:cNvSpPr txBox="1">
            <a:spLocks noChangeArrowheads="1"/>
          </p:cNvSpPr>
          <p:nvPr/>
        </p:nvSpPr>
        <p:spPr bwMode="auto">
          <a:xfrm>
            <a:off x="6764338" y="3235325"/>
            <a:ext cx="3217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寻址范围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solidFill>
                  <a:schemeClr val="folHlink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= 64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4398" name="Text Box 46"/>
          <p:cNvSpPr txBox="1">
            <a:spLocks noChangeArrowheads="1"/>
          </p:cNvSpPr>
          <p:nvPr/>
        </p:nvSpPr>
        <p:spPr bwMode="auto">
          <a:xfrm>
            <a:off x="6764338" y="5676900"/>
            <a:ext cx="314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寻址范围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= 256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4399" name="Text Box 47"/>
          <p:cNvSpPr txBox="1">
            <a:spLocks noChangeArrowheads="1"/>
          </p:cNvSpPr>
          <p:nvPr/>
        </p:nvSpPr>
        <p:spPr bwMode="auto">
          <a:xfrm>
            <a:off x="6764338" y="6172201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若 </a:t>
            </a: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</a:rPr>
              <a:t>3 </a:t>
            </a:r>
            <a:r>
              <a:rPr lang="zh-CN" altLang="en-US" sz="2400">
                <a:latin typeface="Times New Roman" panose="02020603050405020304" pitchFamily="18" charset="0"/>
              </a:rPr>
              <a:t>用 </a:t>
            </a: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</a:rPr>
              <a:t>1 </a:t>
            </a:r>
            <a:r>
              <a:rPr lang="zh-CN" altLang="en-US" sz="2400">
                <a:latin typeface="Times New Roman" panose="02020603050405020304" pitchFamily="18" charset="0"/>
              </a:rPr>
              <a:t>或 </a:t>
            </a: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</a:rPr>
              <a:t>2 </a:t>
            </a:r>
            <a:r>
              <a:rPr lang="zh-CN" altLang="en-US" sz="2400">
                <a:latin typeface="Times New Roman" panose="02020603050405020304" pitchFamily="18" charset="0"/>
              </a:rPr>
              <a:t>代替</a:t>
            </a:r>
            <a:endParaRPr lang="zh-CN" altLang="en-US" sz="2400" baseline="-25000">
              <a:latin typeface="Times New Roman" panose="02020603050405020304" pitchFamily="18" charset="0"/>
            </a:endParaRPr>
          </a:p>
        </p:txBody>
      </p:sp>
      <p:grpSp>
        <p:nvGrpSpPr>
          <p:cNvPr id="484401" name="Group 49"/>
          <p:cNvGrpSpPr/>
          <p:nvPr/>
        </p:nvGrpSpPr>
        <p:grpSpPr bwMode="auto">
          <a:xfrm>
            <a:off x="6764338" y="1539876"/>
            <a:ext cx="3370262" cy="957263"/>
            <a:chOff x="3301" y="970"/>
            <a:chExt cx="2123" cy="603"/>
          </a:xfrm>
        </p:grpSpPr>
        <p:sp>
          <p:nvSpPr>
            <p:cNvPr id="9240" name="Text Box 50"/>
            <p:cNvSpPr txBox="1">
              <a:spLocks noChangeArrowheads="1"/>
            </p:cNvSpPr>
            <p:nvPr/>
          </p:nvSpPr>
          <p:spPr bwMode="auto">
            <a:xfrm>
              <a:off x="3301" y="970"/>
              <a:ext cx="2123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sz="2400">
                  <a:latin typeface="Times New Roman" panose="02020603050405020304" pitchFamily="18" charset="0"/>
                </a:rPr>
                <a:t>设指令字长为 32 位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41" name="Text Box 51"/>
            <p:cNvSpPr txBox="1">
              <a:spLocks noChangeArrowheads="1"/>
            </p:cNvSpPr>
            <p:nvPr/>
          </p:nvSpPr>
          <p:spPr bwMode="auto">
            <a:xfrm>
              <a:off x="3301" y="1308"/>
              <a:ext cx="2123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sz="2400">
                  <a:latin typeface="Times New Roman" panose="02020603050405020304" pitchFamily="18" charset="0"/>
                </a:rPr>
                <a:t>操作码固定为 8 位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8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8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8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4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84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8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48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8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8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8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8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4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84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5" grpId="0" autoUpdateAnimBg="0"/>
      <p:bldP spid="484356" grpId="0" autoUpdateAnimBg="0"/>
      <p:bldP spid="484373" grpId="0" autoUpdateAnimBg="0"/>
      <p:bldP spid="484374" grpId="0" autoUpdateAnimBg="0"/>
      <p:bldP spid="484375" grpId="0" autoUpdateAnimBg="0"/>
      <p:bldP spid="484376" grpId="0" autoUpdateAnimBg="0"/>
      <p:bldP spid="484377" grpId="0" autoUpdateAnimBg="0"/>
      <p:bldP spid="484378" grpId="0" autoUpdateAnimBg="0"/>
      <p:bldP spid="484382" grpId="0" autoUpdateAnimBg="0"/>
      <p:bldP spid="484395" grpId="0" autoUpdateAnimBg="0"/>
      <p:bldP spid="484396" grpId="0" autoUpdateAnimBg="0"/>
      <p:bldP spid="484397" grpId="0" autoUpdateAnimBg="0"/>
      <p:bldP spid="484398" grpId="0" autoUpdateAnimBg="0"/>
      <p:bldP spid="48439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392239" y="63501"/>
            <a:ext cx="266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(3) 二地址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485379" name="Group 3"/>
          <p:cNvGrpSpPr/>
          <p:nvPr/>
        </p:nvGrpSpPr>
        <p:grpSpPr bwMode="auto">
          <a:xfrm>
            <a:off x="2819401" y="1295402"/>
            <a:ext cx="3032125" cy="461963"/>
            <a:chOff x="816" y="864"/>
            <a:chExt cx="1910" cy="291"/>
          </a:xfrm>
        </p:grpSpPr>
        <p:sp>
          <p:nvSpPr>
            <p:cNvPr id="10273" name="Rectangle 4"/>
            <p:cNvSpPr>
              <a:spLocks noChangeArrowheads="1"/>
            </p:cNvSpPr>
            <p:nvPr/>
          </p:nvSpPr>
          <p:spPr bwMode="auto">
            <a:xfrm>
              <a:off x="816" y="864"/>
              <a:ext cx="637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4" name="Rectangle 5"/>
            <p:cNvSpPr>
              <a:spLocks noChangeArrowheads="1"/>
            </p:cNvSpPr>
            <p:nvPr/>
          </p:nvSpPr>
          <p:spPr bwMode="auto">
            <a:xfrm>
              <a:off x="1453" y="864"/>
              <a:ext cx="637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5" name="Rectangle 6"/>
            <p:cNvSpPr>
              <a:spLocks noChangeArrowheads="1"/>
            </p:cNvSpPr>
            <p:nvPr/>
          </p:nvSpPr>
          <p:spPr bwMode="auto">
            <a:xfrm>
              <a:off x="2089" y="864"/>
              <a:ext cx="637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6" name="Text Box 7"/>
            <p:cNvSpPr txBox="1">
              <a:spLocks noChangeArrowheads="1"/>
            </p:cNvSpPr>
            <p:nvPr/>
          </p:nvSpPr>
          <p:spPr bwMode="auto">
            <a:xfrm>
              <a:off x="927" y="864"/>
              <a:ext cx="3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OP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277" name="Text Box 8"/>
            <p:cNvSpPr txBox="1">
              <a:spLocks noChangeArrowheads="1"/>
            </p:cNvSpPr>
            <p:nvPr/>
          </p:nvSpPr>
          <p:spPr bwMode="auto">
            <a:xfrm>
              <a:off x="1597" y="864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278" name="Text Box 9"/>
            <p:cNvSpPr txBox="1">
              <a:spLocks noChangeArrowheads="1"/>
            </p:cNvSpPr>
            <p:nvPr/>
          </p:nvSpPr>
          <p:spPr bwMode="auto">
            <a:xfrm>
              <a:off x="2221" y="864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485386" name="Text Box 10"/>
          <p:cNvSpPr txBox="1">
            <a:spLocks noChangeArrowheads="1"/>
          </p:cNvSpPr>
          <p:nvPr/>
        </p:nvSpPr>
        <p:spPr bwMode="auto">
          <a:xfrm>
            <a:off x="3128963" y="776289"/>
            <a:ext cx="2406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8              12           12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485387" name="Group 11"/>
          <p:cNvGrpSpPr/>
          <p:nvPr/>
        </p:nvGrpSpPr>
        <p:grpSpPr bwMode="auto">
          <a:xfrm>
            <a:off x="3124201" y="1876425"/>
            <a:ext cx="2741613" cy="457200"/>
            <a:chOff x="1142" y="2378"/>
            <a:chExt cx="1727" cy="288"/>
          </a:xfrm>
        </p:grpSpPr>
        <p:sp>
          <p:nvSpPr>
            <p:cNvPr id="10271" name="Text Box 12"/>
            <p:cNvSpPr txBox="1">
              <a:spLocks noChangeArrowheads="1"/>
            </p:cNvSpPr>
            <p:nvPr/>
          </p:nvSpPr>
          <p:spPr bwMode="auto">
            <a:xfrm>
              <a:off x="1142" y="2378"/>
              <a:ext cx="17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</a:rPr>
                <a:t>) OP (A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)       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272" name="Line 13"/>
            <p:cNvSpPr>
              <a:spLocks noChangeShapeType="1"/>
            </p:cNvSpPr>
            <p:nvPr/>
          </p:nvSpPr>
          <p:spPr bwMode="auto">
            <a:xfrm>
              <a:off x="2256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85390" name="Group 14"/>
          <p:cNvGrpSpPr/>
          <p:nvPr/>
        </p:nvGrpSpPr>
        <p:grpSpPr bwMode="auto">
          <a:xfrm>
            <a:off x="3124201" y="2457450"/>
            <a:ext cx="2741613" cy="457200"/>
            <a:chOff x="1142" y="2378"/>
            <a:chExt cx="1727" cy="288"/>
          </a:xfrm>
        </p:grpSpPr>
        <p:sp>
          <p:nvSpPr>
            <p:cNvPr id="10269" name="Text Box 15"/>
            <p:cNvSpPr txBox="1">
              <a:spLocks noChangeArrowheads="1"/>
            </p:cNvSpPr>
            <p:nvPr/>
          </p:nvSpPr>
          <p:spPr bwMode="auto">
            <a:xfrm>
              <a:off x="1142" y="2378"/>
              <a:ext cx="17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</a:rPr>
                <a:t>) OP (A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)       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270" name="Line 16"/>
            <p:cNvSpPr>
              <a:spLocks noChangeShapeType="1"/>
            </p:cNvSpPr>
            <p:nvPr/>
          </p:nvSpPr>
          <p:spPr bwMode="auto">
            <a:xfrm>
              <a:off x="2256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85393" name="Text Box 17"/>
          <p:cNvSpPr txBox="1">
            <a:spLocks noChangeArrowheads="1"/>
          </p:cNvSpPr>
          <p:nvPr/>
        </p:nvSpPr>
        <p:spPr bwMode="auto">
          <a:xfrm>
            <a:off x="2514600" y="2125663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或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85394" name="Text Box 18"/>
          <p:cNvSpPr txBox="1">
            <a:spLocks noChangeArrowheads="1"/>
          </p:cNvSpPr>
          <p:nvPr/>
        </p:nvSpPr>
        <p:spPr bwMode="auto">
          <a:xfrm>
            <a:off x="6765926" y="1905000"/>
            <a:ext cx="275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4 次访存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5395" name="Text Box 19"/>
          <p:cNvSpPr txBox="1">
            <a:spLocks noChangeArrowheads="1"/>
          </p:cNvSpPr>
          <p:nvPr/>
        </p:nvSpPr>
        <p:spPr bwMode="auto">
          <a:xfrm>
            <a:off x="6765926" y="3048000"/>
            <a:ext cx="3597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若</a:t>
            </a:r>
            <a:r>
              <a:rPr lang="en-US" altLang="zh-CN" sz="2400">
                <a:latin typeface="Times New Roman" panose="02020603050405020304" pitchFamily="18" charset="0"/>
              </a:rPr>
              <a:t>ACC </a:t>
            </a:r>
            <a:r>
              <a:rPr lang="zh-CN" altLang="en-US" sz="2400">
                <a:latin typeface="Times New Roman" panose="02020603050405020304" pitchFamily="18" charset="0"/>
              </a:rPr>
              <a:t>代替 </a:t>
            </a: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（</a:t>
            </a:r>
            <a:r>
              <a:rPr lang="zh-CN" altLang="en-US" sz="2400">
                <a:latin typeface="Times New Roman" panose="02020603050405020304" pitchFamily="18" charset="0"/>
              </a:rPr>
              <a:t>或</a:t>
            </a: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）</a:t>
            </a:r>
            <a:endParaRPr lang="en-US" altLang="zh-CN" sz="2400" baseline="-25000">
              <a:latin typeface="Times New Roman" panose="02020603050405020304" pitchFamily="18" charset="0"/>
            </a:endParaRPr>
          </a:p>
        </p:txBody>
      </p:sp>
      <p:sp>
        <p:nvSpPr>
          <p:cNvPr id="485396" name="Text Box 20"/>
          <p:cNvSpPr txBox="1">
            <a:spLocks noChangeArrowheads="1"/>
          </p:cNvSpPr>
          <p:nvPr/>
        </p:nvSpPr>
        <p:spPr bwMode="auto">
          <a:xfrm>
            <a:off x="2743201" y="3038475"/>
            <a:ext cx="275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若结果存于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ACC    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5397" name="Text Box 21"/>
          <p:cNvSpPr txBox="1">
            <a:spLocks noChangeArrowheads="1"/>
          </p:cNvSpPr>
          <p:nvPr/>
        </p:nvSpPr>
        <p:spPr bwMode="auto">
          <a:xfrm>
            <a:off x="1337338" y="3626959"/>
            <a:ext cx="2895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(4) 一地址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485398" name="Text Box 22"/>
          <p:cNvSpPr txBox="1">
            <a:spLocks noChangeArrowheads="1"/>
          </p:cNvSpPr>
          <p:nvPr/>
        </p:nvSpPr>
        <p:spPr bwMode="auto">
          <a:xfrm>
            <a:off x="1386476" y="5983289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(5) 零地址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485399" name="Group 23"/>
          <p:cNvGrpSpPr/>
          <p:nvPr/>
        </p:nvGrpSpPr>
        <p:grpSpPr bwMode="auto">
          <a:xfrm>
            <a:off x="2819400" y="4786314"/>
            <a:ext cx="3048000" cy="471487"/>
            <a:chOff x="912" y="2833"/>
            <a:chExt cx="1920" cy="297"/>
          </a:xfrm>
        </p:grpSpPr>
        <p:sp>
          <p:nvSpPr>
            <p:cNvPr id="10265" name="Rectangle 24"/>
            <p:cNvSpPr>
              <a:spLocks noChangeArrowheads="1"/>
            </p:cNvSpPr>
            <p:nvPr/>
          </p:nvSpPr>
          <p:spPr bwMode="auto">
            <a:xfrm>
              <a:off x="912" y="2842"/>
              <a:ext cx="637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6" name="Rectangle 25"/>
            <p:cNvSpPr>
              <a:spLocks noChangeArrowheads="1"/>
            </p:cNvSpPr>
            <p:nvPr/>
          </p:nvSpPr>
          <p:spPr bwMode="auto">
            <a:xfrm>
              <a:off x="1549" y="2842"/>
              <a:ext cx="1283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7" name="Text Box 26"/>
            <p:cNvSpPr txBox="1">
              <a:spLocks noChangeArrowheads="1"/>
            </p:cNvSpPr>
            <p:nvPr/>
          </p:nvSpPr>
          <p:spPr bwMode="auto">
            <a:xfrm>
              <a:off x="1023" y="2833"/>
              <a:ext cx="3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OP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268" name="Text Box 27"/>
            <p:cNvSpPr txBox="1">
              <a:spLocks noChangeArrowheads="1"/>
            </p:cNvSpPr>
            <p:nvPr/>
          </p:nvSpPr>
          <p:spPr bwMode="auto">
            <a:xfrm>
              <a:off x="1985" y="2833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 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485404" name="Text Box 28"/>
          <p:cNvSpPr txBox="1">
            <a:spLocks noChangeArrowheads="1"/>
          </p:cNvSpPr>
          <p:nvPr/>
        </p:nvSpPr>
        <p:spPr bwMode="auto">
          <a:xfrm>
            <a:off x="3281363" y="4327526"/>
            <a:ext cx="1898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8                     24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5405" name="Text Box 29"/>
          <p:cNvSpPr txBox="1">
            <a:spLocks noChangeArrowheads="1"/>
          </p:cNvSpPr>
          <p:nvPr/>
        </p:nvSpPr>
        <p:spPr bwMode="auto">
          <a:xfrm>
            <a:off x="4556125" y="6132513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无地址码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85406" name="Group 30"/>
          <p:cNvGrpSpPr/>
          <p:nvPr/>
        </p:nvGrpSpPr>
        <p:grpSpPr bwMode="auto">
          <a:xfrm>
            <a:off x="2895601" y="5438775"/>
            <a:ext cx="3421063" cy="457200"/>
            <a:chOff x="864" y="3426"/>
            <a:chExt cx="2155" cy="288"/>
          </a:xfrm>
        </p:grpSpPr>
        <p:sp>
          <p:nvSpPr>
            <p:cNvPr id="10263" name="Text Box 31"/>
            <p:cNvSpPr txBox="1">
              <a:spLocks noChangeArrowheads="1"/>
            </p:cNvSpPr>
            <p:nvPr/>
          </p:nvSpPr>
          <p:spPr bwMode="auto">
            <a:xfrm>
              <a:off x="864" y="3426"/>
              <a:ext cx="21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>
                  <a:latin typeface="Times New Roman" panose="02020603050405020304" pitchFamily="18" charset="0"/>
                </a:rPr>
                <a:t>ACC) OP (A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</a:rPr>
                <a:t>)        ACC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264" name="Line 32"/>
            <p:cNvSpPr>
              <a:spLocks noChangeShapeType="1"/>
            </p:cNvSpPr>
            <p:nvPr/>
          </p:nvSpPr>
          <p:spPr bwMode="auto">
            <a:xfrm>
              <a:off x="2189" y="359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85409" name="Text Box 33"/>
          <p:cNvSpPr txBox="1">
            <a:spLocks noChangeArrowheads="1"/>
          </p:cNvSpPr>
          <p:nvPr/>
        </p:nvSpPr>
        <p:spPr bwMode="auto">
          <a:xfrm>
            <a:off x="6765926" y="4800600"/>
            <a:ext cx="1331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 次访存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5410" name="Text Box 34"/>
          <p:cNvSpPr txBox="1">
            <a:spLocks noChangeArrowheads="1"/>
          </p:cNvSpPr>
          <p:nvPr/>
        </p:nvSpPr>
        <p:spPr bwMode="auto">
          <a:xfrm>
            <a:off x="6765926" y="2514600"/>
            <a:ext cx="3140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寻址范围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solidFill>
                  <a:schemeClr val="folHlink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= 4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5411" name="Text Box 35"/>
          <p:cNvSpPr txBox="1">
            <a:spLocks noChangeArrowheads="1"/>
          </p:cNvSpPr>
          <p:nvPr/>
        </p:nvSpPr>
        <p:spPr bwMode="auto">
          <a:xfrm>
            <a:off x="6705601" y="5410200"/>
            <a:ext cx="2987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寻址范围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solidFill>
                  <a:schemeClr val="folHlink"/>
                </a:solidFill>
                <a:latin typeface="Times New Roman" panose="02020603050405020304" pitchFamily="18" charset="0"/>
              </a:rPr>
              <a:t>24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= 16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M 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5412" name="Text Box 36"/>
          <p:cNvSpPr txBox="1">
            <a:spLocks noChangeArrowheads="1"/>
          </p:cNvSpPr>
          <p:nvPr/>
        </p:nvSpPr>
        <p:spPr bwMode="auto">
          <a:xfrm>
            <a:off x="5334000" y="3038475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次访存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8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8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8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8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8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8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48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8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8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8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8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8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8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6" grpId="0" autoUpdateAnimBg="0"/>
      <p:bldP spid="485393" grpId="0" autoUpdateAnimBg="0"/>
      <p:bldP spid="485394" grpId="0" autoUpdateAnimBg="0"/>
      <p:bldP spid="485395" grpId="0" autoUpdateAnimBg="0"/>
      <p:bldP spid="485396" grpId="0" autoUpdateAnimBg="0"/>
      <p:bldP spid="485397" grpId="0" autoUpdateAnimBg="0"/>
      <p:bldP spid="485398" grpId="0" autoUpdateAnimBg="0"/>
      <p:bldP spid="485404" grpId="0" autoUpdateAnimBg="0"/>
      <p:bldP spid="485405" grpId="0" autoUpdateAnimBg="0"/>
      <p:bldP spid="485409" grpId="0" autoUpdateAnimBg="0"/>
      <p:bldP spid="485410" grpId="0" autoUpdateAnimBg="0"/>
      <p:bldP spid="485411" grpId="0" autoUpdateAnimBg="0"/>
      <p:bldP spid="48541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969962" y="151760"/>
            <a:ext cx="2936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二、指令字长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486403" name="Text Box 3"/>
          <p:cNvSpPr txBox="1">
            <a:spLocks noChangeArrowheads="1"/>
          </p:cNvSpPr>
          <p:nvPr/>
        </p:nvSpPr>
        <p:spPr bwMode="auto">
          <a:xfrm>
            <a:off x="2803526" y="1876426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指令字长决定于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6404" name="Text Box 4"/>
          <p:cNvSpPr txBox="1">
            <a:spLocks noChangeArrowheads="1"/>
          </p:cNvSpPr>
          <p:nvPr/>
        </p:nvSpPr>
        <p:spPr bwMode="auto">
          <a:xfrm>
            <a:off x="5645151" y="1179513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操作码的长度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6405" name="Text Box 5"/>
          <p:cNvSpPr txBox="1">
            <a:spLocks noChangeArrowheads="1"/>
          </p:cNvSpPr>
          <p:nvPr/>
        </p:nvSpPr>
        <p:spPr bwMode="auto">
          <a:xfrm>
            <a:off x="3511550" y="4216401"/>
            <a:ext cx="3422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指令字长 = 存储字长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6406" name="Text Box 6"/>
          <p:cNvSpPr txBox="1">
            <a:spLocks noChangeArrowheads="1"/>
          </p:cNvSpPr>
          <p:nvPr/>
        </p:nvSpPr>
        <p:spPr bwMode="auto">
          <a:xfrm>
            <a:off x="2438400" y="5003801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2. 指令字长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可变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6407" name="Text Box 7"/>
          <p:cNvSpPr txBox="1">
            <a:spLocks noChangeArrowheads="1"/>
          </p:cNvSpPr>
          <p:nvPr/>
        </p:nvSpPr>
        <p:spPr bwMode="auto">
          <a:xfrm>
            <a:off x="5645150" y="1876426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操作数地址的长度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6408" name="Text Box 8"/>
          <p:cNvSpPr txBox="1">
            <a:spLocks noChangeArrowheads="1"/>
          </p:cNvSpPr>
          <p:nvPr/>
        </p:nvSpPr>
        <p:spPr bwMode="auto">
          <a:xfrm>
            <a:off x="5645150" y="2528888"/>
            <a:ext cx="3041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操作数地址的个数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86409" name="Text Box 9"/>
          <p:cNvSpPr txBox="1">
            <a:spLocks noChangeArrowheads="1"/>
          </p:cNvSpPr>
          <p:nvPr/>
        </p:nvSpPr>
        <p:spPr bwMode="auto">
          <a:xfrm>
            <a:off x="2438400" y="3429001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 指令字长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固定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6410" name="Text Box 10"/>
          <p:cNvSpPr txBox="1">
            <a:spLocks noChangeArrowheads="1"/>
          </p:cNvSpPr>
          <p:nvPr/>
        </p:nvSpPr>
        <p:spPr bwMode="auto">
          <a:xfrm>
            <a:off x="3511550" y="5791201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按字节的倍数变化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6411" name="AutoShape 11"/>
          <p:cNvSpPr/>
          <p:nvPr/>
        </p:nvSpPr>
        <p:spPr bwMode="auto">
          <a:xfrm>
            <a:off x="5486400" y="1371600"/>
            <a:ext cx="152400" cy="1524000"/>
          </a:xfrm>
          <a:prstGeom prst="leftBrace">
            <a:avLst>
              <a:gd name="adj1" fmla="val 8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8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 autoUpdateAnimBg="0"/>
      <p:bldP spid="486404" grpId="0" autoUpdateAnimBg="0"/>
      <p:bldP spid="486405" grpId="0" autoUpdateAnimBg="0"/>
      <p:bldP spid="486406" grpId="0" autoUpdateAnimBg="0"/>
      <p:bldP spid="486407" grpId="0" autoUpdateAnimBg="0"/>
      <p:bldP spid="486408" grpId="0" autoUpdateAnimBg="0"/>
      <p:bldP spid="486409" grpId="0" autoUpdateAnimBg="0"/>
      <p:bldP spid="48641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184276" y="76994"/>
            <a:ext cx="1101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小结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87427" name="Text Box 3"/>
          <p:cNvSpPr txBox="1">
            <a:spLocks noChangeArrowheads="1"/>
          </p:cNvSpPr>
          <p:nvPr/>
        </p:nvSpPr>
        <p:spPr bwMode="auto">
          <a:xfrm>
            <a:off x="2286001" y="1004888"/>
            <a:ext cx="80565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当用一些硬件资源代替指令字中的地址码字段后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7428" name="Text Box 4"/>
          <p:cNvSpPr txBox="1">
            <a:spLocks noChangeArrowheads="1"/>
          </p:cNvSpPr>
          <p:nvPr/>
        </p:nvSpPr>
        <p:spPr bwMode="auto">
          <a:xfrm>
            <a:off x="2286001" y="3316288"/>
            <a:ext cx="5199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当指令的地址字段为寄存器时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7429" name="Text Box 5"/>
          <p:cNvSpPr txBox="1">
            <a:spLocks noChangeArrowheads="1"/>
          </p:cNvSpPr>
          <p:nvPr/>
        </p:nvSpPr>
        <p:spPr bwMode="auto">
          <a:xfrm>
            <a:off x="2574926" y="1582738"/>
            <a:ext cx="5826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可扩大指令操作数的寻址范围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7430" name="Text Box 6"/>
          <p:cNvSpPr txBox="1">
            <a:spLocks noChangeArrowheads="1"/>
          </p:cNvSpPr>
          <p:nvPr/>
        </p:nvSpPr>
        <p:spPr bwMode="auto">
          <a:xfrm>
            <a:off x="2574925" y="2160588"/>
            <a:ext cx="2897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可缩短指令字长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7431" name="Text Box 7"/>
          <p:cNvSpPr txBox="1">
            <a:spLocks noChangeArrowheads="1"/>
          </p:cNvSpPr>
          <p:nvPr/>
        </p:nvSpPr>
        <p:spPr bwMode="auto">
          <a:xfrm>
            <a:off x="2574925" y="2738438"/>
            <a:ext cx="2897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可减少访存次数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7432" name="Text Box 8"/>
          <p:cNvSpPr txBox="1">
            <a:spLocks noChangeArrowheads="1"/>
          </p:cNvSpPr>
          <p:nvPr/>
        </p:nvSpPr>
        <p:spPr bwMode="auto">
          <a:xfrm>
            <a:off x="2743201" y="3894138"/>
            <a:ext cx="4365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 三地址     </a:t>
            </a:r>
            <a:r>
              <a:rPr lang="en-US" altLang="zh-CN" sz="2800">
                <a:latin typeface="Times New Roman" panose="02020603050405020304" pitchFamily="18" charset="0"/>
              </a:rPr>
              <a:t>OP   R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,</a:t>
            </a:r>
            <a:r>
              <a:rPr lang="en-US" altLang="zh-CN" sz="2800" baseline="-250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  R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,   R</a:t>
            </a:r>
            <a:r>
              <a:rPr lang="en-US" altLang="zh-CN" sz="2800" baseline="-25000">
                <a:latin typeface="Times New Roman" panose="02020603050405020304" pitchFamily="18" charset="0"/>
              </a:rPr>
              <a:t>3</a:t>
            </a:r>
            <a:endParaRPr lang="en-US" altLang="zh-CN" sz="2800" baseline="-25000">
              <a:latin typeface="Times New Roman" panose="02020603050405020304" pitchFamily="18" charset="0"/>
            </a:endParaRPr>
          </a:p>
        </p:txBody>
      </p:sp>
      <p:sp>
        <p:nvSpPr>
          <p:cNvPr id="487433" name="Text Box 9"/>
          <p:cNvSpPr txBox="1">
            <a:spLocks noChangeArrowheads="1"/>
          </p:cNvSpPr>
          <p:nvPr/>
        </p:nvSpPr>
        <p:spPr bwMode="auto">
          <a:xfrm>
            <a:off x="2743200" y="44719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 二地址     </a:t>
            </a:r>
            <a:r>
              <a:rPr lang="en-US" altLang="zh-CN" sz="2800">
                <a:latin typeface="Times New Roman" panose="02020603050405020304" pitchFamily="18" charset="0"/>
              </a:rPr>
              <a:t>OP   R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,   R</a:t>
            </a:r>
            <a:r>
              <a:rPr lang="en-US" altLang="zh-CN" sz="2800" baseline="-25000">
                <a:latin typeface="Times New Roman" panose="02020603050405020304" pitchFamily="18" charset="0"/>
              </a:rPr>
              <a:t>2 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en-US" altLang="zh-CN" sz="2800" baseline="-25000">
              <a:latin typeface="Times New Roman" panose="02020603050405020304" pitchFamily="18" charset="0"/>
            </a:endParaRPr>
          </a:p>
        </p:txBody>
      </p:sp>
      <p:sp>
        <p:nvSpPr>
          <p:cNvPr id="487434" name="Text Box 10"/>
          <p:cNvSpPr txBox="1">
            <a:spLocks noChangeArrowheads="1"/>
          </p:cNvSpPr>
          <p:nvPr/>
        </p:nvSpPr>
        <p:spPr bwMode="auto">
          <a:xfrm>
            <a:off x="2743200" y="5049838"/>
            <a:ext cx="319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 一地址     </a:t>
            </a:r>
            <a:r>
              <a:rPr lang="en-US" altLang="zh-CN" sz="2800">
                <a:latin typeface="Times New Roman" panose="02020603050405020304" pitchFamily="18" charset="0"/>
              </a:rPr>
              <a:t>OP   R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   </a:t>
            </a:r>
            <a:endParaRPr lang="en-US" altLang="zh-CN" sz="2800" baseline="-25000">
              <a:latin typeface="Times New Roman" panose="02020603050405020304" pitchFamily="18" charset="0"/>
            </a:endParaRPr>
          </a:p>
        </p:txBody>
      </p:sp>
      <p:sp>
        <p:nvSpPr>
          <p:cNvPr id="487435" name="Text Box 11"/>
          <p:cNvSpPr txBox="1">
            <a:spLocks noChangeArrowheads="1"/>
          </p:cNvSpPr>
          <p:nvPr/>
        </p:nvSpPr>
        <p:spPr bwMode="auto">
          <a:xfrm>
            <a:off x="2574926" y="6172201"/>
            <a:ext cx="3611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指令执行阶段不访存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7436" name="Text Box 12"/>
          <p:cNvSpPr txBox="1">
            <a:spLocks noChangeArrowheads="1"/>
          </p:cNvSpPr>
          <p:nvPr/>
        </p:nvSpPr>
        <p:spPr bwMode="auto">
          <a:xfrm>
            <a:off x="2574925" y="5638801"/>
            <a:ext cx="2897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可缩短指令字长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8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7" grpId="0" autoUpdateAnimBg="0"/>
      <p:bldP spid="487428" grpId="0" autoUpdateAnimBg="0"/>
      <p:bldP spid="487429" grpId="0" autoUpdateAnimBg="0"/>
      <p:bldP spid="487430" grpId="0" autoUpdateAnimBg="0"/>
      <p:bldP spid="487431" grpId="0" autoUpdateAnimBg="0"/>
      <p:bldP spid="487432" grpId="0" autoUpdateAnimBg="0"/>
      <p:bldP spid="487433" grpId="0" autoUpdateAnimBg="0"/>
      <p:bldP spid="487434" grpId="0" autoUpdateAnimBg="0"/>
      <p:bldP spid="487435" grpId="0" autoUpdateAnimBg="0"/>
      <p:bldP spid="48743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35000" y="6351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II  </a:t>
            </a:r>
            <a:r>
              <a:rPr lang="zh-CN" altLang="en-US" b="1" dirty="0"/>
              <a:t>操作数类型和操作种类</a:t>
            </a:r>
            <a:endParaRPr lang="zh-CN" altLang="en-US" b="1" dirty="0"/>
          </a:p>
        </p:txBody>
      </p:sp>
      <p:sp>
        <p:nvSpPr>
          <p:cNvPr id="488451" name="Text Box 3"/>
          <p:cNvSpPr txBox="1">
            <a:spLocks noChangeArrowheads="1"/>
          </p:cNvSpPr>
          <p:nvPr/>
        </p:nvSpPr>
        <p:spPr bwMode="auto">
          <a:xfrm>
            <a:off x="2193926" y="1363664"/>
            <a:ext cx="30400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一、操作数类型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488452" name="Group 4"/>
          <p:cNvGrpSpPr/>
          <p:nvPr/>
        </p:nvGrpSpPr>
        <p:grpSpPr bwMode="auto">
          <a:xfrm>
            <a:off x="2879726" y="1949451"/>
            <a:ext cx="1255713" cy="2119313"/>
            <a:chOff x="854" y="1228"/>
            <a:chExt cx="791" cy="1335"/>
          </a:xfrm>
        </p:grpSpPr>
        <p:sp>
          <p:nvSpPr>
            <p:cNvPr id="13347" name="Text Box 5"/>
            <p:cNvSpPr txBox="1">
              <a:spLocks noChangeArrowheads="1"/>
            </p:cNvSpPr>
            <p:nvPr/>
          </p:nvSpPr>
          <p:spPr bwMode="auto">
            <a:xfrm>
              <a:off x="854" y="1228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地址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48" name="Text Box 6"/>
            <p:cNvSpPr txBox="1">
              <a:spLocks noChangeArrowheads="1"/>
            </p:cNvSpPr>
            <p:nvPr/>
          </p:nvSpPr>
          <p:spPr bwMode="auto">
            <a:xfrm>
              <a:off x="854" y="1564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数字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49" name="Text Box 7"/>
            <p:cNvSpPr txBox="1">
              <a:spLocks noChangeArrowheads="1"/>
            </p:cNvSpPr>
            <p:nvPr/>
          </p:nvSpPr>
          <p:spPr bwMode="auto">
            <a:xfrm>
              <a:off x="854" y="190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字符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50" name="Text Box 8"/>
            <p:cNvSpPr txBox="1">
              <a:spLocks noChangeArrowheads="1"/>
            </p:cNvSpPr>
            <p:nvPr/>
          </p:nvSpPr>
          <p:spPr bwMode="auto">
            <a:xfrm>
              <a:off x="854" y="2236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逻辑数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488457" name="Text Box 9"/>
          <p:cNvSpPr txBox="1">
            <a:spLocks noChangeArrowheads="1"/>
          </p:cNvSpPr>
          <p:nvPr/>
        </p:nvSpPr>
        <p:spPr bwMode="auto">
          <a:xfrm>
            <a:off x="4521200" y="1949451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无符号整数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8458" name="Text Box 10"/>
          <p:cNvSpPr txBox="1">
            <a:spLocks noChangeArrowheads="1"/>
          </p:cNvSpPr>
          <p:nvPr/>
        </p:nvSpPr>
        <p:spPr bwMode="auto">
          <a:xfrm>
            <a:off x="4521200" y="2482851"/>
            <a:ext cx="447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定点数、浮点数、十进制数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8459" name="Text Box 11"/>
          <p:cNvSpPr txBox="1">
            <a:spLocks noChangeArrowheads="1"/>
          </p:cNvSpPr>
          <p:nvPr/>
        </p:nvSpPr>
        <p:spPr bwMode="auto">
          <a:xfrm>
            <a:off x="4521200" y="3016250"/>
            <a:ext cx="11240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ASCII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88460" name="Text Box 12"/>
          <p:cNvSpPr txBox="1">
            <a:spLocks noChangeArrowheads="1"/>
          </p:cNvSpPr>
          <p:nvPr/>
        </p:nvSpPr>
        <p:spPr bwMode="auto">
          <a:xfrm>
            <a:off x="4521200" y="3549651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逻辑运算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8461" name="Text Box 13"/>
          <p:cNvSpPr txBox="1">
            <a:spLocks noChangeArrowheads="1"/>
          </p:cNvSpPr>
          <p:nvPr/>
        </p:nvSpPr>
        <p:spPr bwMode="auto">
          <a:xfrm>
            <a:off x="2193926" y="4183064"/>
            <a:ext cx="58959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二、数据在存储器中的存放方式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488462" name="Text Box 14"/>
          <p:cNvSpPr txBox="1">
            <a:spLocks noChangeArrowheads="1"/>
          </p:cNvSpPr>
          <p:nvPr/>
        </p:nvSpPr>
        <p:spPr bwMode="auto">
          <a:xfrm>
            <a:off x="2971800" y="6278564"/>
            <a:ext cx="281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字地址 </a:t>
            </a:r>
            <a:r>
              <a:rPr lang="zh-CN" altLang="en-US" sz="2000">
                <a:latin typeface="Times New Roman" panose="02020603050405020304" pitchFamily="18" charset="0"/>
              </a:rPr>
              <a:t>为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 低字节 </a:t>
            </a:r>
            <a:r>
              <a:rPr lang="zh-CN" altLang="en-US" sz="2000">
                <a:latin typeface="Times New Roman" panose="02020603050405020304" pitchFamily="18" charset="0"/>
              </a:rPr>
              <a:t>地址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88463" name="Text Box 15"/>
          <p:cNvSpPr txBox="1">
            <a:spLocks noChangeArrowheads="1"/>
          </p:cNvSpPr>
          <p:nvPr/>
        </p:nvSpPr>
        <p:spPr bwMode="auto">
          <a:xfrm>
            <a:off x="7162800" y="6302376"/>
            <a:ext cx="312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字地址 </a:t>
            </a:r>
            <a:r>
              <a:rPr lang="zh-CN" altLang="en-US" sz="2000">
                <a:latin typeface="Times New Roman" panose="02020603050405020304" pitchFamily="18" charset="0"/>
              </a:rPr>
              <a:t>为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 高字节 </a:t>
            </a:r>
            <a:r>
              <a:rPr lang="zh-CN" altLang="en-US" sz="2000">
                <a:latin typeface="Times New Roman" panose="02020603050405020304" pitchFamily="18" charset="0"/>
              </a:rPr>
              <a:t>地址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13339" name="Group 17"/>
          <p:cNvGrpSpPr/>
          <p:nvPr/>
        </p:nvGrpSpPr>
        <p:grpSpPr bwMode="auto">
          <a:xfrm>
            <a:off x="2097088" y="4876800"/>
            <a:ext cx="3389312" cy="1333500"/>
            <a:chOff x="361" y="3072"/>
            <a:chExt cx="2135" cy="840"/>
          </a:xfrm>
        </p:grpSpPr>
        <p:sp>
          <p:nvSpPr>
            <p:cNvPr id="13337" name="Rectangle 18"/>
            <p:cNvSpPr>
              <a:spLocks noChangeArrowheads="1"/>
            </p:cNvSpPr>
            <p:nvPr/>
          </p:nvSpPr>
          <p:spPr bwMode="auto">
            <a:xfrm>
              <a:off x="960" y="3322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D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8" name="Rectangle 19"/>
            <p:cNvSpPr>
              <a:spLocks noChangeArrowheads="1"/>
            </p:cNvSpPr>
            <p:nvPr/>
          </p:nvSpPr>
          <p:spPr bwMode="auto">
            <a:xfrm>
              <a:off x="960" y="3610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H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" name="Rectangle 20"/>
            <p:cNvSpPr>
              <a:spLocks noChangeArrowheads="1"/>
            </p:cNvSpPr>
            <p:nvPr/>
          </p:nvSpPr>
          <p:spPr bwMode="auto">
            <a:xfrm>
              <a:off x="1344" y="3610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G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40" name="Rectangle 21"/>
            <p:cNvSpPr>
              <a:spLocks noChangeArrowheads="1"/>
            </p:cNvSpPr>
            <p:nvPr/>
          </p:nvSpPr>
          <p:spPr bwMode="auto">
            <a:xfrm>
              <a:off x="1344" y="3322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C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41" name="Rectangle 22"/>
            <p:cNvSpPr>
              <a:spLocks noChangeArrowheads="1"/>
            </p:cNvSpPr>
            <p:nvPr/>
          </p:nvSpPr>
          <p:spPr bwMode="auto">
            <a:xfrm>
              <a:off x="1728" y="3322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B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3342" name="Rectangle 23"/>
            <p:cNvSpPr>
              <a:spLocks noChangeArrowheads="1"/>
            </p:cNvSpPr>
            <p:nvPr/>
          </p:nvSpPr>
          <p:spPr bwMode="auto">
            <a:xfrm>
              <a:off x="1728" y="3610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F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43" name="Rectangle 24"/>
            <p:cNvSpPr>
              <a:spLocks noChangeArrowheads="1"/>
            </p:cNvSpPr>
            <p:nvPr/>
          </p:nvSpPr>
          <p:spPr bwMode="auto">
            <a:xfrm>
              <a:off x="2112" y="3610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44" name="Rectangle 25"/>
            <p:cNvSpPr>
              <a:spLocks noChangeArrowheads="1"/>
            </p:cNvSpPr>
            <p:nvPr/>
          </p:nvSpPr>
          <p:spPr bwMode="auto">
            <a:xfrm>
              <a:off x="2112" y="3322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A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45" name="Text Box 26"/>
            <p:cNvSpPr txBox="1">
              <a:spLocks noChangeArrowheads="1"/>
            </p:cNvSpPr>
            <p:nvPr/>
          </p:nvSpPr>
          <p:spPr bwMode="auto">
            <a:xfrm>
              <a:off x="361" y="3072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字地址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346" name="Text Box 27"/>
            <p:cNvSpPr txBox="1">
              <a:spLocks noChangeArrowheads="1"/>
            </p:cNvSpPr>
            <p:nvPr/>
          </p:nvSpPr>
          <p:spPr bwMode="auto">
            <a:xfrm>
              <a:off x="614" y="3316"/>
              <a:ext cx="22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0</a:t>
              </a:r>
              <a:endParaRPr lang="zh-CN" altLang="en-US" sz="280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4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327" name="Group 30"/>
          <p:cNvGrpSpPr/>
          <p:nvPr/>
        </p:nvGrpSpPr>
        <p:grpSpPr bwMode="auto">
          <a:xfrm>
            <a:off x="6364288" y="4892676"/>
            <a:ext cx="3313112" cy="1317625"/>
            <a:chOff x="3049" y="3082"/>
            <a:chExt cx="2087" cy="830"/>
          </a:xfrm>
        </p:grpSpPr>
        <p:sp>
          <p:nvSpPr>
            <p:cNvPr id="3" name="Rectangle 31"/>
            <p:cNvSpPr>
              <a:spLocks noChangeArrowheads="1"/>
            </p:cNvSpPr>
            <p:nvPr/>
          </p:nvSpPr>
          <p:spPr bwMode="auto">
            <a:xfrm>
              <a:off x="3600" y="3322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A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28" name="Rectangle 32"/>
            <p:cNvSpPr>
              <a:spLocks noChangeArrowheads="1"/>
            </p:cNvSpPr>
            <p:nvPr/>
          </p:nvSpPr>
          <p:spPr bwMode="auto">
            <a:xfrm>
              <a:off x="3600" y="3610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29" name="Rectangle 33"/>
            <p:cNvSpPr>
              <a:spLocks noChangeArrowheads="1"/>
            </p:cNvSpPr>
            <p:nvPr/>
          </p:nvSpPr>
          <p:spPr bwMode="auto">
            <a:xfrm>
              <a:off x="3984" y="3610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F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0" name="Rectangle 34"/>
            <p:cNvSpPr>
              <a:spLocks noChangeArrowheads="1"/>
            </p:cNvSpPr>
            <p:nvPr/>
          </p:nvSpPr>
          <p:spPr bwMode="auto">
            <a:xfrm>
              <a:off x="3984" y="3322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B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1" name="Rectangle 35"/>
            <p:cNvSpPr>
              <a:spLocks noChangeArrowheads="1"/>
            </p:cNvSpPr>
            <p:nvPr/>
          </p:nvSpPr>
          <p:spPr bwMode="auto">
            <a:xfrm>
              <a:off x="4368" y="3322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C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2" name="Rectangle 36"/>
            <p:cNvSpPr>
              <a:spLocks noChangeArrowheads="1"/>
            </p:cNvSpPr>
            <p:nvPr/>
          </p:nvSpPr>
          <p:spPr bwMode="auto">
            <a:xfrm>
              <a:off x="4368" y="3610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G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3" name="Rectangle 37"/>
            <p:cNvSpPr>
              <a:spLocks noChangeArrowheads="1"/>
            </p:cNvSpPr>
            <p:nvPr/>
          </p:nvSpPr>
          <p:spPr bwMode="auto">
            <a:xfrm>
              <a:off x="4752" y="3610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H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4" name="Rectangle 38"/>
            <p:cNvSpPr>
              <a:spLocks noChangeArrowheads="1"/>
            </p:cNvSpPr>
            <p:nvPr/>
          </p:nvSpPr>
          <p:spPr bwMode="auto">
            <a:xfrm>
              <a:off x="4752" y="3322"/>
              <a:ext cx="38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</a:rPr>
                <a:t>D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5" name="Text Box 39"/>
            <p:cNvSpPr txBox="1">
              <a:spLocks noChangeArrowheads="1"/>
            </p:cNvSpPr>
            <p:nvPr/>
          </p:nvSpPr>
          <p:spPr bwMode="auto">
            <a:xfrm>
              <a:off x="3049" y="3082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字地址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336" name="Text Box 40"/>
            <p:cNvSpPr txBox="1">
              <a:spLocks noChangeArrowheads="1"/>
            </p:cNvSpPr>
            <p:nvPr/>
          </p:nvSpPr>
          <p:spPr bwMode="auto">
            <a:xfrm>
              <a:off x="3302" y="3316"/>
              <a:ext cx="22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0</a:t>
              </a:r>
              <a:endParaRPr lang="zh-CN" altLang="en-US" sz="280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4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8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8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 autoUpdateAnimBg="0"/>
      <p:bldP spid="488457" grpId="0" autoUpdateAnimBg="0"/>
      <p:bldP spid="488458" grpId="0" autoUpdateAnimBg="0"/>
      <p:bldP spid="488459" grpId="0" autoUpdateAnimBg="0"/>
      <p:bldP spid="488460" grpId="0" autoUpdateAnimBg="0"/>
      <p:bldP spid="488461" grpId="0" autoUpdateAnimBg="0"/>
      <p:bldP spid="488462" grpId="0" autoUpdateAnimBg="0"/>
      <p:bldP spid="48846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823865" y="20014"/>
            <a:ext cx="838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存储器中的数据存放（存储字长为</a:t>
            </a:r>
            <a:r>
              <a:rPr lang="zh-CN" altLang="en-US" sz="14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32</a:t>
            </a:r>
            <a:r>
              <a:rPr lang="zh-CN" altLang="en-US" sz="14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位）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489545" name="Group 73"/>
          <p:cNvGrpSpPr/>
          <p:nvPr/>
        </p:nvGrpSpPr>
        <p:grpSpPr bwMode="auto">
          <a:xfrm>
            <a:off x="2057401" y="765176"/>
            <a:ext cx="8372475" cy="4143375"/>
            <a:chOff x="336" y="482"/>
            <a:chExt cx="5274" cy="2610"/>
          </a:xfrm>
        </p:grpSpPr>
        <p:grpSp>
          <p:nvGrpSpPr>
            <p:cNvPr id="14361" name="Group 72"/>
            <p:cNvGrpSpPr/>
            <p:nvPr/>
          </p:nvGrpSpPr>
          <p:grpSpPr bwMode="auto">
            <a:xfrm>
              <a:off x="336" y="491"/>
              <a:ext cx="5274" cy="2601"/>
              <a:chOff x="336" y="491"/>
              <a:chExt cx="5274" cy="2601"/>
            </a:xfrm>
          </p:grpSpPr>
          <p:grpSp>
            <p:nvGrpSpPr>
              <p:cNvPr id="14363" name="Group 71"/>
              <p:cNvGrpSpPr/>
              <p:nvPr/>
            </p:nvGrpSpPr>
            <p:grpSpPr bwMode="auto">
              <a:xfrm>
                <a:off x="345" y="491"/>
                <a:ext cx="5265" cy="2601"/>
                <a:chOff x="345" y="491"/>
                <a:chExt cx="5265" cy="2601"/>
              </a:xfrm>
            </p:grpSpPr>
            <p:sp>
              <p:nvSpPr>
                <p:cNvPr id="14369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479" y="491"/>
                  <a:ext cx="1131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>
                      <a:latin typeface="Times New Roman" panose="02020603050405020304" pitchFamily="18" charset="0"/>
                    </a:rPr>
                    <a:t>地址（十进制）</a:t>
                  </a:r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7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5049" y="783"/>
                  <a:ext cx="276" cy="22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  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  4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  8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12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16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20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24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28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32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36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4371" name="Group 70"/>
                <p:cNvGrpSpPr/>
                <p:nvPr/>
              </p:nvGrpSpPr>
              <p:grpSpPr bwMode="auto">
                <a:xfrm>
                  <a:off x="345" y="846"/>
                  <a:ext cx="4546" cy="2246"/>
                  <a:chOff x="345" y="846"/>
                  <a:chExt cx="4546" cy="2246"/>
                </a:xfrm>
              </p:grpSpPr>
              <p:sp>
                <p:nvSpPr>
                  <p:cNvPr id="14372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569" y="2880"/>
                    <a:ext cx="432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双字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73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569" y="2666"/>
                    <a:ext cx="4322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双字（地址32）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74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569" y="2440"/>
                    <a:ext cx="432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双字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75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569" y="2198"/>
                    <a:ext cx="4322" cy="21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双字（地址24）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76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2798" y="1988"/>
                    <a:ext cx="209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半字（地址20）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7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569" y="1988"/>
                    <a:ext cx="2229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半字（地址22）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78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2798" y="1773"/>
                    <a:ext cx="2093" cy="21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半字（地址16）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79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569" y="1773"/>
                    <a:ext cx="2229" cy="21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半字（地址18）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80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798" y="1322"/>
                    <a:ext cx="1080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字节（地址</a:t>
                    </a:r>
                    <a:r>
                      <a:rPr kumimoji="1" lang="zh-CN" altLang="en-US" sz="8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    </a:t>
                    </a: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8）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81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601" y="1322"/>
                    <a:ext cx="1251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字节（地址</a:t>
                    </a:r>
                    <a:r>
                      <a:rPr kumimoji="1" lang="zh-CN" altLang="en-US" sz="8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    </a:t>
                    </a: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9）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82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510" y="1322"/>
                    <a:ext cx="1101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字节（地址10）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8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45" y="1322"/>
                    <a:ext cx="1128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字节（地址11）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84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569" y="1073"/>
                    <a:ext cx="432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字（地址 4）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85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569" y="884"/>
                    <a:ext cx="4322" cy="18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57150" tIns="0" rIns="19050" bIns="0"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defRPr>
                    </a:lvl9pPr>
                  </a:lstStyle>
                  <a:p>
                    <a:pPr eaLnBrk="1" hangingPunct="1"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None/>
                    </a:pPr>
                    <a:r>
                      <a:rPr kumimoji="1" lang="zh-CN" altLang="en-US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字（地址 0）</a:t>
                    </a:r>
                    <a:endParaRPr kumimoji="1"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86" name="Freeform 23"/>
                  <p:cNvSpPr/>
                  <p:nvPr/>
                </p:nvSpPr>
                <p:spPr bwMode="auto">
                  <a:xfrm>
                    <a:off x="365" y="1070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7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345" y="846"/>
                    <a:ext cx="0" cy="2246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8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4891" y="846"/>
                    <a:ext cx="0" cy="2246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9" name="Freeform 26"/>
                  <p:cNvSpPr/>
                  <p:nvPr/>
                </p:nvSpPr>
                <p:spPr bwMode="auto">
                  <a:xfrm>
                    <a:off x="345" y="846"/>
                    <a:ext cx="4546" cy="1"/>
                  </a:xfrm>
                  <a:custGeom>
                    <a:avLst/>
                    <a:gdLst>
                      <a:gd name="T0" fmla="*/ 0 w 4140"/>
                      <a:gd name="T1" fmla="*/ 0 h 1"/>
                      <a:gd name="T2" fmla="*/ 5482 w 4140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40" h="1">
                        <a:moveTo>
                          <a:pt x="0" y="0"/>
                        </a:moveTo>
                        <a:lnTo>
                          <a:pt x="4140" y="0"/>
                        </a:lnTo>
                      </a:path>
                    </a:pathLst>
                  </a:cu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0" name="Freeform 27"/>
                  <p:cNvSpPr/>
                  <p:nvPr/>
                </p:nvSpPr>
                <p:spPr bwMode="auto">
                  <a:xfrm>
                    <a:off x="1478" y="1292"/>
                    <a:ext cx="1" cy="452"/>
                  </a:xfrm>
                  <a:custGeom>
                    <a:avLst/>
                    <a:gdLst>
                      <a:gd name="T0" fmla="*/ 0 w 1"/>
                      <a:gd name="T1" fmla="*/ 0 h 432"/>
                      <a:gd name="T2" fmla="*/ 0 w 1"/>
                      <a:gd name="T3" fmla="*/ 495 h 432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432">
                        <a:moveTo>
                          <a:pt x="0" y="0"/>
                        </a:moveTo>
                        <a:lnTo>
                          <a:pt x="0" y="432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1" name="Freeform 28"/>
                  <p:cNvSpPr/>
                  <p:nvPr/>
                </p:nvSpPr>
                <p:spPr bwMode="auto">
                  <a:xfrm>
                    <a:off x="2618" y="1297"/>
                    <a:ext cx="1" cy="903"/>
                  </a:xfrm>
                  <a:custGeom>
                    <a:avLst/>
                    <a:gdLst>
                      <a:gd name="T0" fmla="*/ 0 w 1"/>
                      <a:gd name="T1" fmla="*/ 0 h 864"/>
                      <a:gd name="T2" fmla="*/ 0 w 1"/>
                      <a:gd name="T3" fmla="*/ 987 h 864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1" h="864">
                        <a:moveTo>
                          <a:pt x="0" y="0"/>
                        </a:moveTo>
                        <a:lnTo>
                          <a:pt x="0" y="86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2" name="Freeform 29"/>
                  <p:cNvSpPr/>
                  <p:nvPr/>
                </p:nvSpPr>
                <p:spPr bwMode="auto">
                  <a:xfrm>
                    <a:off x="345" y="1295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3" name="Freeform 30"/>
                  <p:cNvSpPr/>
                  <p:nvPr/>
                </p:nvSpPr>
                <p:spPr bwMode="auto">
                  <a:xfrm>
                    <a:off x="345" y="1519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4" name="Freeform 31"/>
                  <p:cNvSpPr/>
                  <p:nvPr/>
                </p:nvSpPr>
                <p:spPr bwMode="auto">
                  <a:xfrm>
                    <a:off x="345" y="1743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5" name="Freeform 32"/>
                  <p:cNvSpPr/>
                  <p:nvPr/>
                </p:nvSpPr>
                <p:spPr bwMode="auto">
                  <a:xfrm>
                    <a:off x="345" y="1968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6" name="Freeform 33"/>
                  <p:cNvSpPr/>
                  <p:nvPr/>
                </p:nvSpPr>
                <p:spPr bwMode="auto">
                  <a:xfrm>
                    <a:off x="345" y="2193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7" name="Freeform 34"/>
                  <p:cNvSpPr/>
                  <p:nvPr/>
                </p:nvSpPr>
                <p:spPr bwMode="auto">
                  <a:xfrm>
                    <a:off x="352" y="2417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8" name="Freeform 35"/>
                  <p:cNvSpPr/>
                  <p:nvPr/>
                </p:nvSpPr>
                <p:spPr bwMode="auto">
                  <a:xfrm>
                    <a:off x="345" y="2641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99" name="Freeform 36"/>
                  <p:cNvSpPr/>
                  <p:nvPr/>
                </p:nvSpPr>
                <p:spPr bwMode="auto">
                  <a:xfrm>
                    <a:off x="345" y="2866"/>
                    <a:ext cx="4526" cy="1"/>
                  </a:xfrm>
                  <a:custGeom>
                    <a:avLst/>
                    <a:gdLst>
                      <a:gd name="T0" fmla="*/ 0 w 4122"/>
                      <a:gd name="T1" fmla="*/ 0 h 1"/>
                      <a:gd name="T2" fmla="*/ 5457 w 412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22" h="1">
                        <a:moveTo>
                          <a:pt x="0" y="0"/>
                        </a:moveTo>
                        <a:lnTo>
                          <a:pt x="4122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00" name="Freeform 37"/>
                  <p:cNvSpPr/>
                  <p:nvPr/>
                </p:nvSpPr>
                <p:spPr bwMode="auto">
                  <a:xfrm>
                    <a:off x="345" y="3091"/>
                    <a:ext cx="4546" cy="1"/>
                  </a:xfrm>
                  <a:custGeom>
                    <a:avLst/>
                    <a:gdLst>
                      <a:gd name="T0" fmla="*/ 0 w 4140"/>
                      <a:gd name="T1" fmla="*/ 0 h 1"/>
                      <a:gd name="T2" fmla="*/ 5482 w 4140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140" h="1">
                        <a:moveTo>
                          <a:pt x="0" y="0"/>
                        </a:moveTo>
                        <a:lnTo>
                          <a:pt x="4140" y="0"/>
                        </a:lnTo>
                      </a:path>
                    </a:pathLst>
                  </a:cu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57150" tIns="0" rIns="19050" bIns="0" anchor="ctr" anchorCtr="1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4364" name="Rectangle 38"/>
              <p:cNvSpPr>
                <a:spLocks noChangeArrowheads="1"/>
              </p:cNvSpPr>
              <p:nvPr/>
            </p:nvSpPr>
            <p:spPr bwMode="auto">
              <a:xfrm>
                <a:off x="1514" y="1536"/>
                <a:ext cx="1101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1905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字节（地址14）</a:t>
                </a:r>
                <a:endPara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65" name="Rectangle 39"/>
              <p:cNvSpPr>
                <a:spLocks noChangeArrowheads="1"/>
              </p:cNvSpPr>
              <p:nvPr/>
            </p:nvSpPr>
            <p:spPr bwMode="auto">
              <a:xfrm>
                <a:off x="336" y="1536"/>
                <a:ext cx="1128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57150" tIns="0" rIns="1905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 字节（地址15）</a:t>
                </a:r>
                <a:endPara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66" name="Rectangle 40"/>
              <p:cNvSpPr>
                <a:spLocks noChangeArrowheads="1"/>
              </p:cNvSpPr>
              <p:nvPr/>
            </p:nvSpPr>
            <p:spPr bwMode="auto">
              <a:xfrm>
                <a:off x="2664" y="1536"/>
                <a:ext cx="1118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57150" tIns="0" rIns="1905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字节（地址13）</a:t>
                </a:r>
                <a:endPara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67" name="Rectangle 41"/>
              <p:cNvSpPr>
                <a:spLocks noChangeArrowheads="1"/>
              </p:cNvSpPr>
              <p:nvPr/>
            </p:nvSpPr>
            <p:spPr bwMode="auto">
              <a:xfrm>
                <a:off x="3807" y="1536"/>
                <a:ext cx="1080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57150" tIns="0" rIns="1905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字节（地址12）</a:t>
                </a:r>
                <a:endPara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68" name="Freeform 42"/>
              <p:cNvSpPr/>
              <p:nvPr/>
            </p:nvSpPr>
            <p:spPr bwMode="auto">
              <a:xfrm>
                <a:off x="3771" y="1292"/>
                <a:ext cx="1" cy="452"/>
              </a:xfrm>
              <a:custGeom>
                <a:avLst/>
                <a:gdLst>
                  <a:gd name="T0" fmla="*/ 0 w 1"/>
                  <a:gd name="T1" fmla="*/ 0 h 432"/>
                  <a:gd name="T2" fmla="*/ 0 w 1"/>
                  <a:gd name="T3" fmla="*/ 495 h 43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2">
                    <a:moveTo>
                      <a:pt x="0" y="0"/>
                    </a:moveTo>
                    <a:lnTo>
                      <a:pt x="0" y="43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57150" tIns="0" rIns="19050" bIns="0" anchor="ctr" anchorCtr="1"/>
              <a:lstStyle/>
              <a:p>
                <a:endParaRPr lang="zh-CN" altLang="en-US"/>
              </a:p>
            </p:txBody>
          </p:sp>
        </p:grpSp>
        <p:sp>
          <p:nvSpPr>
            <p:cNvPr id="14362" name="Text Box 43"/>
            <p:cNvSpPr txBox="1">
              <a:spLocks noChangeArrowheads="1"/>
            </p:cNvSpPr>
            <p:nvPr/>
          </p:nvSpPr>
          <p:spPr bwMode="auto">
            <a:xfrm>
              <a:off x="345" y="482"/>
              <a:ext cx="17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边界对准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89516" name="Group 44"/>
          <p:cNvGrpSpPr/>
          <p:nvPr/>
        </p:nvGrpSpPr>
        <p:grpSpPr bwMode="auto">
          <a:xfrm>
            <a:off x="2063751" y="4953001"/>
            <a:ext cx="8297863" cy="1711325"/>
            <a:chOff x="432" y="3120"/>
            <a:chExt cx="4796" cy="1078"/>
          </a:xfrm>
        </p:grpSpPr>
        <p:grpSp>
          <p:nvGrpSpPr>
            <p:cNvPr id="14349" name="Group 45"/>
            <p:cNvGrpSpPr/>
            <p:nvPr/>
          </p:nvGrpSpPr>
          <p:grpSpPr bwMode="auto">
            <a:xfrm>
              <a:off x="432" y="3141"/>
              <a:ext cx="4796" cy="1057"/>
              <a:chOff x="432" y="3141"/>
              <a:chExt cx="4796" cy="1057"/>
            </a:xfrm>
          </p:grpSpPr>
          <p:sp>
            <p:nvSpPr>
              <p:cNvPr id="14351" name="Text Box 46"/>
              <p:cNvSpPr txBox="1">
                <a:spLocks noChangeArrowheads="1"/>
              </p:cNvSpPr>
              <p:nvPr/>
            </p:nvSpPr>
            <p:spPr bwMode="auto">
              <a:xfrm>
                <a:off x="4197" y="3141"/>
                <a:ext cx="103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地址（十进制）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2" name="Text Box 47"/>
              <p:cNvSpPr txBox="1">
                <a:spLocks noChangeArrowheads="1"/>
              </p:cNvSpPr>
              <p:nvPr/>
            </p:nvSpPr>
            <p:spPr bwMode="auto">
              <a:xfrm>
                <a:off x="4796" y="3333"/>
                <a:ext cx="180" cy="8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40000"/>
                  </a:lnSpc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40000"/>
                  </a:lnSpc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4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40000"/>
                  </a:lnSpc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8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53" name="Group 48"/>
              <p:cNvGrpSpPr/>
              <p:nvPr/>
            </p:nvGrpSpPr>
            <p:grpSpPr bwMode="auto">
              <a:xfrm>
                <a:off x="432" y="3408"/>
                <a:ext cx="4128" cy="768"/>
                <a:chOff x="432" y="3408"/>
                <a:chExt cx="3936" cy="768"/>
              </a:xfrm>
            </p:grpSpPr>
            <p:sp>
              <p:nvSpPr>
                <p:cNvPr id="14354" name="Rectangle 49"/>
                <p:cNvSpPr>
                  <a:spLocks noChangeArrowheads="1"/>
                </p:cNvSpPr>
                <p:nvPr/>
              </p:nvSpPr>
              <p:spPr bwMode="auto">
                <a:xfrm>
                  <a:off x="432" y="3664"/>
                  <a:ext cx="984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>
                      <a:latin typeface="Times New Roman" panose="02020603050405020304" pitchFamily="18" charset="0"/>
                    </a:rPr>
                    <a:t>字节( 地址7)</a:t>
                  </a:r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55" name="Rectangle 50"/>
                <p:cNvSpPr>
                  <a:spLocks noChangeArrowheads="1"/>
                </p:cNvSpPr>
                <p:nvPr/>
              </p:nvSpPr>
              <p:spPr bwMode="auto">
                <a:xfrm>
                  <a:off x="1416" y="3664"/>
                  <a:ext cx="984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>
                      <a:latin typeface="Times New Roman" panose="02020603050405020304" pitchFamily="18" charset="0"/>
                    </a:rPr>
                    <a:t>字节( 地址6)</a:t>
                  </a:r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56" name="Rectangle 5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1968" cy="256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28575">
                  <a:solidFill>
                    <a:schemeClr val="folHlink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字( 地址2)</a:t>
                  </a:r>
                  <a:endParaRPr lang="zh-CN" altLang="en-US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57" name="Rectangle 52"/>
                <p:cNvSpPr>
                  <a:spLocks noChangeArrowheads="1"/>
                </p:cNvSpPr>
                <p:nvPr/>
              </p:nvSpPr>
              <p:spPr bwMode="auto">
                <a:xfrm>
                  <a:off x="432" y="3920"/>
                  <a:ext cx="196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>
                      <a:latin typeface="Times New Roman" panose="02020603050405020304" pitchFamily="18" charset="0"/>
                    </a:rPr>
                    <a:t>半字( 地址10)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58" name="Rectangle 53"/>
                <p:cNvSpPr>
                  <a:spLocks noChangeArrowheads="1"/>
                </p:cNvSpPr>
                <p:nvPr/>
              </p:nvSpPr>
              <p:spPr bwMode="auto">
                <a:xfrm>
                  <a:off x="2400" y="3920"/>
                  <a:ext cx="196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>
                      <a:latin typeface="Times New Roman" panose="02020603050405020304" pitchFamily="18" charset="0"/>
                    </a:rPr>
                    <a:t>半字( 地址8)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59" name="Rectangle 54"/>
                <p:cNvSpPr>
                  <a:spLocks noChangeArrowheads="1"/>
                </p:cNvSpPr>
                <p:nvPr/>
              </p:nvSpPr>
              <p:spPr bwMode="auto">
                <a:xfrm>
                  <a:off x="2400" y="3408"/>
                  <a:ext cx="1968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>
                      <a:latin typeface="Times New Roman" panose="02020603050405020304" pitchFamily="18" charset="0"/>
                    </a:rPr>
                    <a:t>半字( 地址0)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60" name="Rectangle 55"/>
                <p:cNvSpPr>
                  <a:spLocks noChangeArrowheads="1"/>
                </p:cNvSpPr>
                <p:nvPr/>
              </p:nvSpPr>
              <p:spPr bwMode="auto">
                <a:xfrm>
                  <a:off x="2400" y="3664"/>
                  <a:ext cx="1968" cy="256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28575">
                  <a:solidFill>
                    <a:schemeClr val="folHlink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字( 地址4)</a:t>
                  </a:r>
                  <a:endParaRPr lang="en-US" altLang="zh-CN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4350" name="Text Box 56"/>
            <p:cNvSpPr txBox="1">
              <a:spLocks noChangeArrowheads="1"/>
            </p:cNvSpPr>
            <p:nvPr/>
          </p:nvSpPr>
          <p:spPr bwMode="auto">
            <a:xfrm>
              <a:off x="432" y="3120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边界未对准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489529" name="Text Box 57"/>
          <p:cNvSpPr txBox="1">
            <a:spLocks noChangeArrowheads="1"/>
          </p:cNvSpPr>
          <p:nvPr/>
        </p:nvSpPr>
        <p:spPr bwMode="auto">
          <a:xfrm>
            <a:off x="837565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89530" name="Text Box 58"/>
          <p:cNvSpPr txBox="1">
            <a:spLocks noChangeArrowheads="1"/>
          </p:cNvSpPr>
          <p:nvPr/>
        </p:nvSpPr>
        <p:spPr bwMode="auto">
          <a:xfrm>
            <a:off x="8375650" y="3124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89531" name="Text Box 59"/>
          <p:cNvSpPr txBox="1">
            <a:spLocks noChangeArrowheads="1"/>
          </p:cNvSpPr>
          <p:nvPr/>
        </p:nvSpPr>
        <p:spPr bwMode="auto">
          <a:xfrm>
            <a:off x="48768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89532" name="Text Box 60"/>
          <p:cNvSpPr txBox="1">
            <a:spLocks noChangeArrowheads="1"/>
          </p:cNvSpPr>
          <p:nvPr/>
        </p:nvSpPr>
        <p:spPr bwMode="auto">
          <a:xfrm>
            <a:off x="4876800" y="3124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89533" name="Text Box 61"/>
          <p:cNvSpPr txBox="1">
            <a:spLocks noChangeArrowheads="1"/>
          </p:cNvSpPr>
          <p:nvPr/>
        </p:nvSpPr>
        <p:spPr bwMode="auto">
          <a:xfrm>
            <a:off x="6562725" y="3535364"/>
            <a:ext cx="685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200">
                <a:solidFill>
                  <a:schemeClr val="folHlink"/>
                </a:solidFill>
              </a:rPr>
              <a:t>▲</a:t>
            </a:r>
            <a:r>
              <a:rPr lang="zh-CN" altLang="en-US" sz="1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1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9534" name="Text Box 62"/>
          <p:cNvSpPr txBox="1">
            <a:spLocks noChangeArrowheads="1"/>
          </p:cNvSpPr>
          <p:nvPr/>
        </p:nvSpPr>
        <p:spPr bwMode="auto">
          <a:xfrm>
            <a:off x="6562725" y="4221164"/>
            <a:ext cx="685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200">
                <a:solidFill>
                  <a:schemeClr val="folHlink"/>
                </a:solidFill>
              </a:rPr>
              <a:t>▲</a:t>
            </a:r>
            <a:r>
              <a:rPr lang="zh-CN" altLang="en-US" sz="1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1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8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9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48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529" grpId="0" autoUpdateAnimBg="0"/>
      <p:bldP spid="489530" grpId="0" autoUpdateAnimBg="0"/>
      <p:bldP spid="489531" grpId="0" autoUpdateAnimBg="0"/>
      <p:bldP spid="489532" grpId="0" autoUpdateAnimBg="0"/>
      <p:bldP spid="489533" grpId="0" autoUpdateAnimBg="0"/>
      <p:bldP spid="48953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983432" y="35721"/>
            <a:ext cx="2936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三、操作类型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90499" name="Text Box 3"/>
          <p:cNvSpPr txBox="1">
            <a:spLocks noChangeArrowheads="1"/>
          </p:cNvSpPr>
          <p:nvPr/>
        </p:nvSpPr>
        <p:spPr bwMode="auto">
          <a:xfrm>
            <a:off x="2286000" y="792164"/>
            <a:ext cx="1981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</a:t>
            </a:r>
            <a:r>
              <a:rPr lang="zh-CN" altLang="en-US" sz="32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数据传送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490500" name="Group 4"/>
          <p:cNvGrpSpPr/>
          <p:nvPr/>
        </p:nvGrpSpPr>
        <p:grpSpPr bwMode="auto">
          <a:xfrm>
            <a:off x="2646364" y="1419226"/>
            <a:ext cx="746125" cy="930275"/>
            <a:chOff x="707" y="912"/>
            <a:chExt cx="470" cy="586"/>
          </a:xfrm>
        </p:grpSpPr>
        <p:sp>
          <p:nvSpPr>
            <p:cNvPr id="15390" name="Text Box 5"/>
            <p:cNvSpPr txBox="1">
              <a:spLocks noChangeArrowheads="1"/>
            </p:cNvSpPr>
            <p:nvPr/>
          </p:nvSpPr>
          <p:spPr bwMode="auto">
            <a:xfrm>
              <a:off x="707" y="912"/>
              <a:ext cx="293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源</a:t>
              </a:r>
              <a:endPara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1" name="Text Box 6"/>
            <p:cNvSpPr txBox="1">
              <a:spLocks noChangeArrowheads="1"/>
            </p:cNvSpPr>
            <p:nvPr/>
          </p:nvSpPr>
          <p:spPr bwMode="auto">
            <a:xfrm>
              <a:off x="707" y="1229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目的</a:t>
              </a:r>
              <a:endPara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90503" name="Text Box 7"/>
          <p:cNvSpPr txBox="1">
            <a:spLocks noChangeArrowheads="1"/>
          </p:cNvSpPr>
          <p:nvPr/>
        </p:nvSpPr>
        <p:spPr bwMode="auto">
          <a:xfrm>
            <a:off x="3849688" y="1419225"/>
            <a:ext cx="10271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寄存器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04" name="Text Box 8"/>
          <p:cNvSpPr txBox="1">
            <a:spLocks noChangeArrowheads="1"/>
          </p:cNvSpPr>
          <p:nvPr/>
        </p:nvSpPr>
        <p:spPr bwMode="auto">
          <a:xfrm>
            <a:off x="5357813" y="1419225"/>
            <a:ext cx="10271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寄存器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05" name="Text Box 9"/>
          <p:cNvSpPr txBox="1">
            <a:spLocks noChangeArrowheads="1"/>
          </p:cNvSpPr>
          <p:nvPr/>
        </p:nvSpPr>
        <p:spPr bwMode="auto">
          <a:xfrm>
            <a:off x="3849688" y="1922464"/>
            <a:ext cx="10271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寄存器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06" name="Text Box 10"/>
          <p:cNvSpPr txBox="1">
            <a:spLocks noChangeArrowheads="1"/>
          </p:cNvSpPr>
          <p:nvPr/>
        </p:nvSpPr>
        <p:spPr bwMode="auto">
          <a:xfrm>
            <a:off x="6897688" y="1922464"/>
            <a:ext cx="10271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寄存器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07" name="Text Box 11"/>
          <p:cNvSpPr txBox="1">
            <a:spLocks noChangeArrowheads="1"/>
          </p:cNvSpPr>
          <p:nvPr/>
        </p:nvSpPr>
        <p:spPr bwMode="auto">
          <a:xfrm>
            <a:off x="6897688" y="1419225"/>
            <a:ext cx="10271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存储器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08" name="Text Box 12"/>
          <p:cNvSpPr txBox="1">
            <a:spLocks noChangeArrowheads="1"/>
          </p:cNvSpPr>
          <p:nvPr/>
        </p:nvSpPr>
        <p:spPr bwMode="auto">
          <a:xfrm>
            <a:off x="8345488" y="1419225"/>
            <a:ext cx="10271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存储器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09" name="Text Box 13"/>
          <p:cNvSpPr txBox="1">
            <a:spLocks noChangeArrowheads="1"/>
          </p:cNvSpPr>
          <p:nvPr/>
        </p:nvSpPr>
        <p:spPr bwMode="auto">
          <a:xfrm>
            <a:off x="5357813" y="1922464"/>
            <a:ext cx="10271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存储器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10" name="Text Box 14"/>
          <p:cNvSpPr txBox="1">
            <a:spLocks noChangeArrowheads="1"/>
          </p:cNvSpPr>
          <p:nvPr/>
        </p:nvSpPr>
        <p:spPr bwMode="auto">
          <a:xfrm>
            <a:off x="8345488" y="1922464"/>
            <a:ext cx="10271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存储器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11" name="Text Box 15"/>
          <p:cNvSpPr txBox="1">
            <a:spLocks noChangeArrowheads="1"/>
          </p:cNvSpPr>
          <p:nvPr/>
        </p:nvSpPr>
        <p:spPr bwMode="auto">
          <a:xfrm>
            <a:off x="2646364" y="3352801"/>
            <a:ext cx="17171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置“1”，清“0”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12" name="Text Box 16"/>
          <p:cNvSpPr txBox="1">
            <a:spLocks noChangeArrowheads="1"/>
          </p:cNvSpPr>
          <p:nvPr/>
        </p:nvSpPr>
        <p:spPr bwMode="auto">
          <a:xfrm>
            <a:off x="2286001" y="3976688"/>
            <a:ext cx="2682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2. 算术逻辑操作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0513" name="Text Box 17"/>
          <p:cNvSpPr txBox="1">
            <a:spLocks noChangeArrowheads="1"/>
          </p:cNvSpPr>
          <p:nvPr/>
        </p:nvSpPr>
        <p:spPr bwMode="auto">
          <a:xfrm>
            <a:off x="2689225" y="4572000"/>
            <a:ext cx="762793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加、减、乘、除、增 1、减 1、求补、浮点运算、十进制运算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14" name="Text Box 18"/>
          <p:cNvSpPr txBox="1">
            <a:spLocks noChangeArrowheads="1"/>
          </p:cNvSpPr>
          <p:nvPr/>
        </p:nvSpPr>
        <p:spPr bwMode="auto">
          <a:xfrm>
            <a:off x="2689225" y="5059364"/>
            <a:ext cx="6927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与、或、非、异或、位操作、位测试、位清除、位求反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15" name="Text Box 19"/>
          <p:cNvSpPr txBox="1">
            <a:spLocks noChangeArrowheads="1"/>
          </p:cNvSpPr>
          <p:nvPr/>
        </p:nvSpPr>
        <p:spPr bwMode="auto">
          <a:xfrm>
            <a:off x="2047875" y="5638800"/>
            <a:ext cx="109378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如 8086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0516" name="Text Box 20"/>
          <p:cNvSpPr txBox="1">
            <a:spLocks noChangeArrowheads="1"/>
          </p:cNvSpPr>
          <p:nvPr/>
        </p:nvSpPr>
        <p:spPr bwMode="auto">
          <a:xfrm>
            <a:off x="3849689" y="2470151"/>
            <a:ext cx="974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MOVE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0517" name="Text Box 21"/>
          <p:cNvSpPr txBox="1">
            <a:spLocks noChangeArrowheads="1"/>
          </p:cNvSpPr>
          <p:nvPr/>
        </p:nvSpPr>
        <p:spPr bwMode="auto">
          <a:xfrm>
            <a:off x="5349876" y="2470150"/>
            <a:ext cx="9943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STORE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0518" name="Text Box 22"/>
          <p:cNvSpPr txBox="1">
            <a:spLocks noChangeArrowheads="1"/>
          </p:cNvSpPr>
          <p:nvPr/>
        </p:nvSpPr>
        <p:spPr bwMode="auto">
          <a:xfrm>
            <a:off x="6897688" y="2470151"/>
            <a:ext cx="919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LOAD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0519" name="Text Box 23"/>
          <p:cNvSpPr txBox="1">
            <a:spLocks noChangeArrowheads="1"/>
          </p:cNvSpPr>
          <p:nvPr/>
        </p:nvSpPr>
        <p:spPr bwMode="auto">
          <a:xfrm>
            <a:off x="8345489" y="2470151"/>
            <a:ext cx="974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MOVE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0520" name="Text Box 24"/>
          <p:cNvSpPr txBox="1">
            <a:spLocks noChangeArrowheads="1"/>
          </p:cNvSpPr>
          <p:nvPr/>
        </p:nvSpPr>
        <p:spPr bwMode="auto">
          <a:xfrm>
            <a:off x="5349876" y="3184526"/>
            <a:ext cx="862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PUSH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0521" name="Text Box 25"/>
          <p:cNvSpPr txBox="1">
            <a:spLocks noChangeArrowheads="1"/>
          </p:cNvSpPr>
          <p:nvPr/>
        </p:nvSpPr>
        <p:spPr bwMode="auto">
          <a:xfrm>
            <a:off x="6897689" y="3184525"/>
            <a:ext cx="6559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POP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0522" name="Text Box 26"/>
          <p:cNvSpPr txBox="1">
            <a:spLocks noChangeArrowheads="1"/>
          </p:cNvSpPr>
          <p:nvPr/>
        </p:nvSpPr>
        <p:spPr bwMode="auto">
          <a:xfrm>
            <a:off x="2646364" y="2427289"/>
            <a:ext cx="7461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例如</a:t>
            </a:r>
            <a:endParaRPr lang="zh-CN" altLang="en-US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0523" name="Text Box 27"/>
          <p:cNvSpPr txBox="1">
            <a:spLocks noChangeArrowheads="1"/>
          </p:cNvSpPr>
          <p:nvPr/>
        </p:nvSpPr>
        <p:spPr bwMode="auto">
          <a:xfrm>
            <a:off x="5349876" y="2827339"/>
            <a:ext cx="974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MOVE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0524" name="Text Box 28"/>
          <p:cNvSpPr txBox="1">
            <a:spLocks noChangeArrowheads="1"/>
          </p:cNvSpPr>
          <p:nvPr/>
        </p:nvSpPr>
        <p:spPr bwMode="auto">
          <a:xfrm>
            <a:off x="6897689" y="2827339"/>
            <a:ext cx="974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MOVE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0526" name="Text Box 30"/>
          <p:cNvSpPr txBox="1">
            <a:spLocks noChangeArrowheads="1"/>
          </p:cNvSpPr>
          <p:nvPr/>
        </p:nvSpPr>
        <p:spPr bwMode="auto">
          <a:xfrm>
            <a:off x="3276600" y="5716588"/>
            <a:ext cx="7010400" cy="1052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ADD  SUB  MUL  DIV  INC  DEC  CMP  NEG   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AAA  AAS  AAM  AAD 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AND   OR   NOT   XOR   TEST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9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9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9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9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9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9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9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9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9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9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9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9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49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49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49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9" grpId="0" autoUpdateAnimBg="0"/>
      <p:bldP spid="490503" grpId="0" autoUpdateAnimBg="0"/>
      <p:bldP spid="490504" grpId="0" autoUpdateAnimBg="0"/>
      <p:bldP spid="490505" grpId="0" autoUpdateAnimBg="0"/>
      <p:bldP spid="490506" grpId="0" autoUpdateAnimBg="0"/>
      <p:bldP spid="490507" grpId="0" autoUpdateAnimBg="0"/>
      <p:bldP spid="490508" grpId="0" autoUpdateAnimBg="0"/>
      <p:bldP spid="490509" grpId="0" autoUpdateAnimBg="0"/>
      <p:bldP spid="490510" grpId="0" autoUpdateAnimBg="0"/>
      <p:bldP spid="490511" grpId="0" autoUpdateAnimBg="0"/>
      <p:bldP spid="490512" grpId="0" autoUpdateAnimBg="0"/>
      <p:bldP spid="490513" grpId="0" autoUpdateAnimBg="0"/>
      <p:bldP spid="490514" grpId="0" autoUpdateAnimBg="0"/>
      <p:bldP spid="490515" grpId="0" autoUpdateAnimBg="0"/>
      <p:bldP spid="490516" grpId="0" autoUpdateAnimBg="0"/>
      <p:bldP spid="490517" grpId="0" autoUpdateAnimBg="0"/>
      <p:bldP spid="490518" grpId="0" autoUpdateAnimBg="0"/>
      <p:bldP spid="490519" grpId="0" autoUpdateAnimBg="0"/>
      <p:bldP spid="490520" grpId="0" autoUpdateAnimBg="0"/>
      <p:bldP spid="490521" grpId="0" autoUpdateAnimBg="0"/>
      <p:bldP spid="490522" grpId="0" autoUpdateAnimBg="0"/>
      <p:bldP spid="490523" grpId="0" autoUpdateAnimBg="0"/>
      <p:bldP spid="490524" grpId="0" autoUpdateAnimBg="0"/>
      <p:bldP spid="49052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430338" y="49114"/>
            <a:ext cx="2476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3. 移位操作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91523" name="Text Box 3"/>
          <p:cNvSpPr txBox="1">
            <a:spLocks noChangeArrowheads="1"/>
          </p:cNvSpPr>
          <p:nvPr/>
        </p:nvSpPr>
        <p:spPr bwMode="auto">
          <a:xfrm>
            <a:off x="2651125" y="10144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算术移位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524" name="Text Box 4"/>
          <p:cNvSpPr txBox="1">
            <a:spLocks noChangeArrowheads="1"/>
          </p:cNvSpPr>
          <p:nvPr/>
        </p:nvSpPr>
        <p:spPr bwMode="auto">
          <a:xfrm>
            <a:off x="1430338" y="2052406"/>
            <a:ext cx="15589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4. 转移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91525" name="Text Box 5"/>
          <p:cNvSpPr txBox="1">
            <a:spLocks noChangeArrowheads="1"/>
          </p:cNvSpPr>
          <p:nvPr/>
        </p:nvSpPr>
        <p:spPr bwMode="auto">
          <a:xfrm>
            <a:off x="2362200" y="2903538"/>
            <a:ext cx="563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无条件转移  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JMP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26" name="Text Box 6"/>
          <p:cNvSpPr txBox="1">
            <a:spLocks noChangeArrowheads="1"/>
          </p:cNvSpPr>
          <p:nvPr/>
        </p:nvSpPr>
        <p:spPr bwMode="auto">
          <a:xfrm>
            <a:off x="2362200" y="3529013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(2) 条件转移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527" name="Text Box 7"/>
          <p:cNvSpPr txBox="1">
            <a:spLocks noChangeArrowheads="1"/>
          </p:cNvSpPr>
          <p:nvPr/>
        </p:nvSpPr>
        <p:spPr bwMode="auto">
          <a:xfrm>
            <a:off x="2438400" y="4184651"/>
            <a:ext cx="4300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结果为零转    （</a:t>
            </a:r>
            <a:r>
              <a:rPr lang="en-US" altLang="zh-CN" sz="2800">
                <a:latin typeface="Times New Roman" panose="02020603050405020304" pitchFamily="18" charset="0"/>
              </a:rPr>
              <a:t>Z = 1）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JZ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28" name="Text Box 8"/>
          <p:cNvSpPr txBox="1">
            <a:spLocks noChangeArrowheads="1"/>
          </p:cNvSpPr>
          <p:nvPr/>
        </p:nvSpPr>
        <p:spPr bwMode="auto">
          <a:xfrm>
            <a:off x="2438401" y="4749801"/>
            <a:ext cx="4329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结果溢出转    （</a:t>
            </a:r>
            <a:r>
              <a:rPr lang="en-US" altLang="zh-CN" sz="2800">
                <a:latin typeface="Times New Roman" panose="02020603050405020304" pitchFamily="18" charset="0"/>
              </a:rPr>
              <a:t>O = 1）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JO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29" name="Text Box 9"/>
          <p:cNvSpPr txBox="1">
            <a:spLocks noChangeArrowheads="1"/>
          </p:cNvSpPr>
          <p:nvPr/>
        </p:nvSpPr>
        <p:spPr bwMode="auto">
          <a:xfrm>
            <a:off x="2438400" y="5314951"/>
            <a:ext cx="429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结果有进位转（</a:t>
            </a:r>
            <a:r>
              <a:rPr lang="en-US" altLang="zh-CN" sz="2800">
                <a:latin typeface="Times New Roman" panose="02020603050405020304" pitchFamily="18" charset="0"/>
              </a:rPr>
              <a:t>C = 1）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JC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30" name="Text Box 10"/>
          <p:cNvSpPr txBox="1">
            <a:spLocks noChangeArrowheads="1"/>
          </p:cNvSpPr>
          <p:nvPr/>
        </p:nvSpPr>
        <p:spPr bwMode="auto">
          <a:xfrm>
            <a:off x="2438401" y="5881688"/>
            <a:ext cx="3197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跳过一条指令 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SKP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31" name="Text Box 11"/>
          <p:cNvSpPr txBox="1">
            <a:spLocks noChangeArrowheads="1"/>
          </p:cNvSpPr>
          <p:nvPr/>
        </p:nvSpPr>
        <p:spPr bwMode="auto">
          <a:xfrm>
            <a:off x="2651126" y="1601788"/>
            <a:ext cx="5184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循环移位（带进位和不带进位）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532" name="Text Box 12"/>
          <p:cNvSpPr txBox="1">
            <a:spLocks noChangeArrowheads="1"/>
          </p:cNvSpPr>
          <p:nvPr/>
        </p:nvSpPr>
        <p:spPr bwMode="auto">
          <a:xfrm>
            <a:off x="7010400" y="4221164"/>
            <a:ext cx="4651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如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grpSp>
        <p:nvGrpSpPr>
          <p:cNvPr id="491533" name="Group 13"/>
          <p:cNvGrpSpPr/>
          <p:nvPr/>
        </p:nvGrpSpPr>
        <p:grpSpPr bwMode="auto">
          <a:xfrm>
            <a:off x="7086600" y="4587876"/>
            <a:ext cx="3551238" cy="1812925"/>
            <a:chOff x="3504" y="2890"/>
            <a:chExt cx="2237" cy="1142"/>
          </a:xfrm>
        </p:grpSpPr>
        <p:grpSp>
          <p:nvGrpSpPr>
            <p:cNvPr id="16402" name="Group 14"/>
            <p:cNvGrpSpPr/>
            <p:nvPr/>
          </p:nvGrpSpPr>
          <p:grpSpPr bwMode="auto">
            <a:xfrm>
              <a:off x="3677" y="2890"/>
              <a:ext cx="2064" cy="1142"/>
              <a:chOff x="3677" y="2938"/>
              <a:chExt cx="2064" cy="1142"/>
            </a:xfrm>
          </p:grpSpPr>
          <p:sp>
            <p:nvSpPr>
              <p:cNvPr id="16404" name="Text Box 15"/>
              <p:cNvSpPr txBox="1">
                <a:spLocks noChangeArrowheads="1"/>
              </p:cNvSpPr>
              <p:nvPr/>
            </p:nvSpPr>
            <p:spPr bwMode="auto">
              <a:xfrm>
                <a:off x="3677" y="2938"/>
                <a:ext cx="38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>
                    <a:latin typeface="Times New Roman" panose="02020603050405020304" pitchFamily="18" charset="0"/>
                  </a:rPr>
                  <a:t>300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5" name="Text Box 16"/>
              <p:cNvSpPr txBox="1">
                <a:spLocks noChangeArrowheads="1"/>
              </p:cNvSpPr>
              <p:nvPr/>
            </p:nvSpPr>
            <p:spPr bwMode="auto">
              <a:xfrm>
                <a:off x="3769" y="3174"/>
                <a:ext cx="330" cy="2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>
                    <a:latin typeface="Times New Roman" panose="02020603050405020304" pitchFamily="18" charset="0"/>
                  </a:rPr>
                  <a:t>…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6" name="Text Box 17"/>
              <p:cNvSpPr txBox="1">
                <a:spLocks noChangeArrowheads="1"/>
              </p:cNvSpPr>
              <p:nvPr/>
            </p:nvSpPr>
            <p:spPr bwMode="auto">
              <a:xfrm>
                <a:off x="3677" y="3322"/>
                <a:ext cx="38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>
                    <a:latin typeface="Times New Roman" panose="02020603050405020304" pitchFamily="18" charset="0"/>
                  </a:rPr>
                  <a:t>305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7" name="Text Box 18"/>
              <p:cNvSpPr txBox="1">
                <a:spLocks noChangeArrowheads="1"/>
              </p:cNvSpPr>
              <p:nvPr/>
            </p:nvSpPr>
            <p:spPr bwMode="auto">
              <a:xfrm>
                <a:off x="3677" y="3571"/>
                <a:ext cx="38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>
                    <a:latin typeface="Times New Roman" panose="02020603050405020304" pitchFamily="18" charset="0"/>
                  </a:rPr>
                  <a:t>306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8" name="Text Box 19"/>
              <p:cNvSpPr txBox="1">
                <a:spLocks noChangeArrowheads="1"/>
              </p:cNvSpPr>
              <p:nvPr/>
            </p:nvSpPr>
            <p:spPr bwMode="auto">
              <a:xfrm>
                <a:off x="3677" y="3811"/>
                <a:ext cx="38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>
                    <a:latin typeface="Times New Roman" panose="02020603050405020304" pitchFamily="18" charset="0"/>
                  </a:rPr>
                  <a:t>307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9" name="Text Box 20"/>
              <p:cNvSpPr txBox="1">
                <a:spLocks noChangeArrowheads="1"/>
              </p:cNvSpPr>
              <p:nvPr/>
            </p:nvSpPr>
            <p:spPr bwMode="auto">
              <a:xfrm>
                <a:off x="4061" y="3322"/>
                <a:ext cx="168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SKP  DZ  D = 0 </a:t>
                </a:r>
                <a:r>
                  <a:rPr lang="zh-CN" altLang="en-US" sz="22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则跳</a:t>
                </a:r>
                <a:endPara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03" name="Freeform 21"/>
            <p:cNvSpPr/>
            <p:nvPr/>
          </p:nvSpPr>
          <p:spPr bwMode="auto">
            <a:xfrm>
              <a:off x="3504" y="3408"/>
              <a:ext cx="192" cy="480"/>
            </a:xfrm>
            <a:custGeom>
              <a:avLst/>
              <a:gdLst>
                <a:gd name="T0" fmla="*/ 341 w 144"/>
                <a:gd name="T1" fmla="*/ 0 h 864"/>
                <a:gd name="T2" fmla="*/ 0 w 144"/>
                <a:gd name="T3" fmla="*/ 0 h 864"/>
                <a:gd name="T4" fmla="*/ 0 w 144"/>
                <a:gd name="T5" fmla="*/ 148 h 864"/>
                <a:gd name="T6" fmla="*/ 341 w 144"/>
                <a:gd name="T7" fmla="*/ 148 h 8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4" h="864">
                  <a:moveTo>
                    <a:pt x="144" y="0"/>
                  </a:moveTo>
                  <a:lnTo>
                    <a:pt x="0" y="0"/>
                  </a:lnTo>
                  <a:lnTo>
                    <a:pt x="0" y="864"/>
                  </a:lnTo>
                  <a:lnTo>
                    <a:pt x="144" y="86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91542" name="Text Box 22"/>
          <p:cNvSpPr txBox="1">
            <a:spLocks noChangeArrowheads="1"/>
          </p:cNvSpPr>
          <p:nvPr/>
        </p:nvSpPr>
        <p:spPr bwMode="auto">
          <a:xfrm>
            <a:off x="4495800" y="10144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逻辑移位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543" name="AutoShape 23"/>
          <p:cNvSpPr>
            <a:spLocks noChangeArrowheads="1"/>
          </p:cNvSpPr>
          <p:nvPr/>
        </p:nvSpPr>
        <p:spPr bwMode="auto">
          <a:xfrm>
            <a:off x="8610600" y="4343400"/>
            <a:ext cx="1600200" cy="457200"/>
          </a:xfrm>
          <a:prstGeom prst="wedgeRoundRectCallout">
            <a:avLst>
              <a:gd name="adj1" fmla="val 894"/>
              <a:gd name="adj2" fmla="val 14409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完成触发器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9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9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3" grpId="0" autoUpdateAnimBg="0"/>
      <p:bldP spid="491524" grpId="0" autoUpdateAnimBg="0"/>
      <p:bldP spid="491525" grpId="0" autoUpdateAnimBg="0"/>
      <p:bldP spid="491526" grpId="0" autoUpdateAnimBg="0"/>
      <p:bldP spid="491527" grpId="0" autoUpdateAnimBg="0"/>
      <p:bldP spid="491528" grpId="0" autoUpdateAnimBg="0"/>
      <p:bldP spid="491529" grpId="0" autoUpdateAnimBg="0"/>
      <p:bldP spid="491530" grpId="0" autoUpdateAnimBg="0"/>
      <p:bldP spid="491531" grpId="0" autoUpdateAnimBg="0"/>
      <p:bldP spid="491532" grpId="0" autoUpdateAnimBg="0"/>
      <p:bldP spid="491542" grpId="0" autoUpdateAnimBg="0"/>
      <p:bldP spid="491543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676401" y="152400"/>
            <a:ext cx="52117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(3) 调用和返回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492547" name="Group 3"/>
          <p:cNvGrpSpPr/>
          <p:nvPr/>
        </p:nvGrpSpPr>
        <p:grpSpPr bwMode="auto">
          <a:xfrm>
            <a:off x="6465888" y="5216525"/>
            <a:ext cx="95250" cy="973138"/>
            <a:chOff x="3113" y="3286"/>
            <a:chExt cx="60" cy="613"/>
          </a:xfrm>
        </p:grpSpPr>
        <p:sp>
          <p:nvSpPr>
            <p:cNvPr id="17485" name="Freeform 4"/>
            <p:cNvSpPr/>
            <p:nvPr/>
          </p:nvSpPr>
          <p:spPr bwMode="auto">
            <a:xfrm>
              <a:off x="3140" y="3286"/>
              <a:ext cx="1" cy="578"/>
            </a:xfrm>
            <a:custGeom>
              <a:avLst/>
              <a:gdLst>
                <a:gd name="T0" fmla="*/ 1 w 1"/>
                <a:gd name="T1" fmla="*/ 0 h 578"/>
                <a:gd name="T2" fmla="*/ 0 w 1"/>
                <a:gd name="T3" fmla="*/ 578 h 5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78">
                  <a:moveTo>
                    <a:pt x="1" y="0"/>
                  </a:moveTo>
                  <a:lnTo>
                    <a:pt x="0" y="578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6" name="Freeform 5"/>
            <p:cNvSpPr/>
            <p:nvPr/>
          </p:nvSpPr>
          <p:spPr bwMode="auto">
            <a:xfrm>
              <a:off x="3113" y="3843"/>
              <a:ext cx="60" cy="56"/>
            </a:xfrm>
            <a:custGeom>
              <a:avLst/>
              <a:gdLst>
                <a:gd name="T0" fmla="*/ 0 w 60"/>
                <a:gd name="T1" fmla="*/ 0 h 50"/>
                <a:gd name="T2" fmla="*/ 31 w 60"/>
                <a:gd name="T3" fmla="*/ 71 h 50"/>
                <a:gd name="T4" fmla="*/ 60 w 60"/>
                <a:gd name="T5" fmla="*/ 0 h 50"/>
                <a:gd name="T6" fmla="*/ 31 w 60"/>
                <a:gd name="T7" fmla="*/ 22 h 50"/>
                <a:gd name="T8" fmla="*/ 0 w 60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0">
                  <a:moveTo>
                    <a:pt x="0" y="0"/>
                  </a:moveTo>
                  <a:lnTo>
                    <a:pt x="31" y="50"/>
                  </a:lnTo>
                  <a:lnTo>
                    <a:pt x="60" y="0"/>
                  </a:lnTo>
                  <a:lnTo>
                    <a:pt x="31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50" name="Group 6"/>
          <p:cNvGrpSpPr/>
          <p:nvPr/>
        </p:nvGrpSpPr>
        <p:grpSpPr bwMode="auto">
          <a:xfrm>
            <a:off x="6488114" y="4037013"/>
            <a:ext cx="193675" cy="1179512"/>
            <a:chOff x="3127" y="2468"/>
            <a:chExt cx="122" cy="661"/>
          </a:xfrm>
        </p:grpSpPr>
        <p:sp>
          <p:nvSpPr>
            <p:cNvPr id="17483" name="Freeform 7"/>
            <p:cNvSpPr/>
            <p:nvPr/>
          </p:nvSpPr>
          <p:spPr bwMode="auto">
            <a:xfrm>
              <a:off x="3141" y="2468"/>
              <a:ext cx="108" cy="627"/>
            </a:xfrm>
            <a:custGeom>
              <a:avLst/>
              <a:gdLst>
                <a:gd name="T0" fmla="*/ 0 w 108"/>
                <a:gd name="T1" fmla="*/ 0 h 627"/>
                <a:gd name="T2" fmla="*/ 40 w 108"/>
                <a:gd name="T3" fmla="*/ 70 h 627"/>
                <a:gd name="T4" fmla="*/ 74 w 108"/>
                <a:gd name="T5" fmla="*/ 139 h 627"/>
                <a:gd name="T6" fmla="*/ 88 w 108"/>
                <a:gd name="T7" fmla="*/ 175 h 627"/>
                <a:gd name="T8" fmla="*/ 99 w 108"/>
                <a:gd name="T9" fmla="*/ 214 h 627"/>
                <a:gd name="T10" fmla="*/ 105 w 108"/>
                <a:gd name="T11" fmla="*/ 252 h 627"/>
                <a:gd name="T12" fmla="*/ 108 w 108"/>
                <a:gd name="T13" fmla="*/ 293 h 627"/>
                <a:gd name="T14" fmla="*/ 105 w 108"/>
                <a:gd name="T15" fmla="*/ 331 h 627"/>
                <a:gd name="T16" fmla="*/ 96 w 108"/>
                <a:gd name="T17" fmla="*/ 372 h 627"/>
                <a:gd name="T18" fmla="*/ 85 w 108"/>
                <a:gd name="T19" fmla="*/ 418 h 627"/>
                <a:gd name="T20" fmla="*/ 71 w 108"/>
                <a:gd name="T21" fmla="*/ 464 h 627"/>
                <a:gd name="T22" fmla="*/ 57 w 108"/>
                <a:gd name="T23" fmla="*/ 509 h 627"/>
                <a:gd name="T24" fmla="*/ 40 w 108"/>
                <a:gd name="T25" fmla="*/ 553 h 627"/>
                <a:gd name="T26" fmla="*/ 26 w 108"/>
                <a:gd name="T27" fmla="*/ 593 h 627"/>
                <a:gd name="T28" fmla="*/ 12 w 108"/>
                <a:gd name="T29" fmla="*/ 627 h 62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8" h="627">
                  <a:moveTo>
                    <a:pt x="0" y="0"/>
                  </a:moveTo>
                  <a:lnTo>
                    <a:pt x="40" y="70"/>
                  </a:lnTo>
                  <a:lnTo>
                    <a:pt x="74" y="139"/>
                  </a:lnTo>
                  <a:lnTo>
                    <a:pt x="88" y="175"/>
                  </a:lnTo>
                  <a:lnTo>
                    <a:pt x="99" y="214"/>
                  </a:lnTo>
                  <a:lnTo>
                    <a:pt x="105" y="252"/>
                  </a:lnTo>
                  <a:lnTo>
                    <a:pt x="108" y="293"/>
                  </a:lnTo>
                  <a:lnTo>
                    <a:pt x="105" y="331"/>
                  </a:lnTo>
                  <a:lnTo>
                    <a:pt x="96" y="372"/>
                  </a:lnTo>
                  <a:lnTo>
                    <a:pt x="85" y="418"/>
                  </a:lnTo>
                  <a:lnTo>
                    <a:pt x="71" y="464"/>
                  </a:lnTo>
                  <a:lnTo>
                    <a:pt x="57" y="509"/>
                  </a:lnTo>
                  <a:lnTo>
                    <a:pt x="40" y="553"/>
                  </a:lnTo>
                  <a:lnTo>
                    <a:pt x="26" y="593"/>
                  </a:lnTo>
                  <a:lnTo>
                    <a:pt x="12" y="627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4" name="Freeform 8"/>
            <p:cNvSpPr/>
            <p:nvPr/>
          </p:nvSpPr>
          <p:spPr bwMode="auto">
            <a:xfrm>
              <a:off x="3127" y="3073"/>
              <a:ext cx="57" cy="56"/>
            </a:xfrm>
            <a:custGeom>
              <a:avLst/>
              <a:gdLst>
                <a:gd name="T0" fmla="*/ 0 w 57"/>
                <a:gd name="T1" fmla="*/ 0 h 56"/>
                <a:gd name="T2" fmla="*/ 14 w 57"/>
                <a:gd name="T3" fmla="*/ 56 h 56"/>
                <a:gd name="T4" fmla="*/ 57 w 57"/>
                <a:gd name="T5" fmla="*/ 15 h 56"/>
                <a:gd name="T6" fmla="*/ 26 w 57"/>
                <a:gd name="T7" fmla="*/ 24 h 56"/>
                <a:gd name="T8" fmla="*/ 0 w 57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6">
                  <a:moveTo>
                    <a:pt x="0" y="0"/>
                  </a:moveTo>
                  <a:lnTo>
                    <a:pt x="14" y="56"/>
                  </a:lnTo>
                  <a:lnTo>
                    <a:pt x="57" y="15"/>
                  </a:lnTo>
                  <a:lnTo>
                    <a:pt x="26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53" name="Group 9"/>
          <p:cNvGrpSpPr/>
          <p:nvPr/>
        </p:nvGrpSpPr>
        <p:grpSpPr bwMode="auto">
          <a:xfrm>
            <a:off x="6510338" y="3444875"/>
            <a:ext cx="341312" cy="1771650"/>
            <a:chOff x="3141" y="2136"/>
            <a:chExt cx="215" cy="993"/>
          </a:xfrm>
        </p:grpSpPr>
        <p:sp>
          <p:nvSpPr>
            <p:cNvPr id="17481" name="Freeform 10"/>
            <p:cNvSpPr/>
            <p:nvPr/>
          </p:nvSpPr>
          <p:spPr bwMode="auto">
            <a:xfrm>
              <a:off x="3141" y="2136"/>
              <a:ext cx="215" cy="959"/>
            </a:xfrm>
            <a:custGeom>
              <a:avLst/>
              <a:gdLst>
                <a:gd name="T0" fmla="*/ 0 w 215"/>
                <a:gd name="T1" fmla="*/ 0 h 959"/>
                <a:gd name="T2" fmla="*/ 74 w 215"/>
                <a:gd name="T3" fmla="*/ 140 h 959"/>
                <a:gd name="T4" fmla="*/ 108 w 215"/>
                <a:gd name="T5" fmla="*/ 207 h 959"/>
                <a:gd name="T6" fmla="*/ 136 w 215"/>
                <a:gd name="T7" fmla="*/ 277 h 959"/>
                <a:gd name="T8" fmla="*/ 164 w 215"/>
                <a:gd name="T9" fmla="*/ 342 h 959"/>
                <a:gd name="T10" fmla="*/ 187 w 215"/>
                <a:gd name="T11" fmla="*/ 409 h 959"/>
                <a:gd name="T12" fmla="*/ 204 w 215"/>
                <a:gd name="T13" fmla="*/ 474 h 959"/>
                <a:gd name="T14" fmla="*/ 212 w 215"/>
                <a:gd name="T15" fmla="*/ 536 h 959"/>
                <a:gd name="T16" fmla="*/ 215 w 215"/>
                <a:gd name="T17" fmla="*/ 591 h 959"/>
                <a:gd name="T18" fmla="*/ 209 w 215"/>
                <a:gd name="T19" fmla="*/ 649 h 959"/>
                <a:gd name="T20" fmla="*/ 198 w 215"/>
                <a:gd name="T21" fmla="*/ 709 h 959"/>
                <a:gd name="T22" fmla="*/ 181 w 215"/>
                <a:gd name="T23" fmla="*/ 767 h 959"/>
                <a:gd name="T24" fmla="*/ 164 w 215"/>
                <a:gd name="T25" fmla="*/ 822 h 959"/>
                <a:gd name="T26" fmla="*/ 147 w 215"/>
                <a:gd name="T27" fmla="*/ 875 h 959"/>
                <a:gd name="T28" fmla="*/ 130 w 215"/>
                <a:gd name="T29" fmla="*/ 921 h 959"/>
                <a:gd name="T30" fmla="*/ 116 w 215"/>
                <a:gd name="T31" fmla="*/ 959 h 95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5" h="959">
                  <a:moveTo>
                    <a:pt x="0" y="0"/>
                  </a:moveTo>
                  <a:lnTo>
                    <a:pt x="74" y="140"/>
                  </a:lnTo>
                  <a:lnTo>
                    <a:pt x="108" y="207"/>
                  </a:lnTo>
                  <a:lnTo>
                    <a:pt x="136" y="277"/>
                  </a:lnTo>
                  <a:lnTo>
                    <a:pt x="164" y="342"/>
                  </a:lnTo>
                  <a:lnTo>
                    <a:pt x="187" y="409"/>
                  </a:lnTo>
                  <a:lnTo>
                    <a:pt x="204" y="474"/>
                  </a:lnTo>
                  <a:lnTo>
                    <a:pt x="212" y="536"/>
                  </a:lnTo>
                  <a:lnTo>
                    <a:pt x="215" y="591"/>
                  </a:lnTo>
                  <a:lnTo>
                    <a:pt x="209" y="649"/>
                  </a:lnTo>
                  <a:lnTo>
                    <a:pt x="198" y="709"/>
                  </a:lnTo>
                  <a:lnTo>
                    <a:pt x="181" y="767"/>
                  </a:lnTo>
                  <a:lnTo>
                    <a:pt x="164" y="822"/>
                  </a:lnTo>
                  <a:lnTo>
                    <a:pt x="147" y="875"/>
                  </a:lnTo>
                  <a:lnTo>
                    <a:pt x="130" y="921"/>
                  </a:lnTo>
                  <a:lnTo>
                    <a:pt x="116" y="959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2" name="Freeform 11"/>
            <p:cNvSpPr/>
            <p:nvPr/>
          </p:nvSpPr>
          <p:spPr bwMode="auto">
            <a:xfrm>
              <a:off x="3232" y="3073"/>
              <a:ext cx="56" cy="56"/>
            </a:xfrm>
            <a:custGeom>
              <a:avLst/>
              <a:gdLst>
                <a:gd name="T0" fmla="*/ 0 w 56"/>
                <a:gd name="T1" fmla="*/ 0 h 56"/>
                <a:gd name="T2" fmla="*/ 17 w 56"/>
                <a:gd name="T3" fmla="*/ 56 h 56"/>
                <a:gd name="T4" fmla="*/ 56 w 56"/>
                <a:gd name="T5" fmla="*/ 12 h 56"/>
                <a:gd name="T6" fmla="*/ 25 w 56"/>
                <a:gd name="T7" fmla="*/ 22 h 56"/>
                <a:gd name="T8" fmla="*/ 0 w 56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6">
                  <a:moveTo>
                    <a:pt x="0" y="0"/>
                  </a:moveTo>
                  <a:lnTo>
                    <a:pt x="17" y="56"/>
                  </a:lnTo>
                  <a:lnTo>
                    <a:pt x="56" y="12"/>
                  </a:lnTo>
                  <a:lnTo>
                    <a:pt x="25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56" name="Group 12"/>
          <p:cNvGrpSpPr/>
          <p:nvPr/>
        </p:nvGrpSpPr>
        <p:grpSpPr bwMode="auto">
          <a:xfrm>
            <a:off x="6172201" y="3544889"/>
            <a:ext cx="506413" cy="2644775"/>
            <a:chOff x="2930" y="2192"/>
            <a:chExt cx="319" cy="1482"/>
          </a:xfrm>
        </p:grpSpPr>
        <p:sp>
          <p:nvSpPr>
            <p:cNvPr id="17479" name="Freeform 13"/>
            <p:cNvSpPr/>
            <p:nvPr/>
          </p:nvSpPr>
          <p:spPr bwMode="auto">
            <a:xfrm>
              <a:off x="2930" y="2223"/>
              <a:ext cx="319" cy="1451"/>
            </a:xfrm>
            <a:custGeom>
              <a:avLst/>
              <a:gdLst>
                <a:gd name="T0" fmla="*/ 319 w 319"/>
                <a:gd name="T1" fmla="*/ 1451 h 1451"/>
                <a:gd name="T2" fmla="*/ 262 w 319"/>
                <a:gd name="T3" fmla="*/ 1350 h 1451"/>
                <a:gd name="T4" fmla="*/ 209 w 319"/>
                <a:gd name="T5" fmla="*/ 1252 h 1451"/>
                <a:gd name="T6" fmla="*/ 158 w 319"/>
                <a:gd name="T7" fmla="*/ 1153 h 1451"/>
                <a:gd name="T8" fmla="*/ 110 w 319"/>
                <a:gd name="T9" fmla="*/ 1055 h 1451"/>
                <a:gd name="T10" fmla="*/ 70 w 319"/>
                <a:gd name="T11" fmla="*/ 956 h 1451"/>
                <a:gd name="T12" fmla="*/ 37 w 319"/>
                <a:gd name="T13" fmla="*/ 860 h 1451"/>
                <a:gd name="T14" fmla="*/ 14 w 319"/>
                <a:gd name="T15" fmla="*/ 764 h 1451"/>
                <a:gd name="T16" fmla="*/ 6 w 319"/>
                <a:gd name="T17" fmla="*/ 716 h 1451"/>
                <a:gd name="T18" fmla="*/ 0 w 319"/>
                <a:gd name="T19" fmla="*/ 670 h 1451"/>
                <a:gd name="T20" fmla="*/ 0 w 319"/>
                <a:gd name="T21" fmla="*/ 584 h 1451"/>
                <a:gd name="T22" fmla="*/ 8 w 319"/>
                <a:gd name="T23" fmla="*/ 497 h 1451"/>
                <a:gd name="T24" fmla="*/ 25 w 319"/>
                <a:gd name="T25" fmla="*/ 411 h 1451"/>
                <a:gd name="T26" fmla="*/ 51 w 319"/>
                <a:gd name="T27" fmla="*/ 329 h 1451"/>
                <a:gd name="T28" fmla="*/ 79 w 319"/>
                <a:gd name="T29" fmla="*/ 245 h 1451"/>
                <a:gd name="T30" fmla="*/ 116 w 319"/>
                <a:gd name="T31" fmla="*/ 163 h 1451"/>
                <a:gd name="T32" fmla="*/ 155 w 319"/>
                <a:gd name="T33" fmla="*/ 82 h 1451"/>
                <a:gd name="T34" fmla="*/ 195 w 319"/>
                <a:gd name="T35" fmla="*/ 0 h 145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19" h="1451">
                  <a:moveTo>
                    <a:pt x="319" y="1451"/>
                  </a:moveTo>
                  <a:lnTo>
                    <a:pt x="262" y="1350"/>
                  </a:lnTo>
                  <a:lnTo>
                    <a:pt x="209" y="1252"/>
                  </a:lnTo>
                  <a:lnTo>
                    <a:pt x="158" y="1153"/>
                  </a:lnTo>
                  <a:lnTo>
                    <a:pt x="110" y="1055"/>
                  </a:lnTo>
                  <a:lnTo>
                    <a:pt x="70" y="956"/>
                  </a:lnTo>
                  <a:lnTo>
                    <a:pt x="37" y="860"/>
                  </a:lnTo>
                  <a:lnTo>
                    <a:pt x="14" y="764"/>
                  </a:lnTo>
                  <a:lnTo>
                    <a:pt x="6" y="716"/>
                  </a:lnTo>
                  <a:lnTo>
                    <a:pt x="0" y="670"/>
                  </a:lnTo>
                  <a:lnTo>
                    <a:pt x="0" y="584"/>
                  </a:lnTo>
                  <a:lnTo>
                    <a:pt x="8" y="497"/>
                  </a:lnTo>
                  <a:lnTo>
                    <a:pt x="25" y="411"/>
                  </a:lnTo>
                  <a:lnTo>
                    <a:pt x="51" y="329"/>
                  </a:lnTo>
                  <a:lnTo>
                    <a:pt x="79" y="245"/>
                  </a:lnTo>
                  <a:lnTo>
                    <a:pt x="116" y="163"/>
                  </a:lnTo>
                  <a:lnTo>
                    <a:pt x="155" y="82"/>
                  </a:lnTo>
                  <a:lnTo>
                    <a:pt x="195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0" name="Freeform 14"/>
            <p:cNvSpPr/>
            <p:nvPr/>
          </p:nvSpPr>
          <p:spPr bwMode="auto">
            <a:xfrm>
              <a:off x="3091" y="2192"/>
              <a:ext cx="53" cy="57"/>
            </a:xfrm>
            <a:custGeom>
              <a:avLst/>
              <a:gdLst>
                <a:gd name="T0" fmla="*/ 53 w 53"/>
                <a:gd name="T1" fmla="*/ 57 h 57"/>
                <a:gd name="T2" fmla="*/ 50 w 53"/>
                <a:gd name="T3" fmla="*/ 0 h 57"/>
                <a:gd name="T4" fmla="*/ 0 w 53"/>
                <a:gd name="T5" fmla="*/ 36 h 57"/>
                <a:gd name="T6" fmla="*/ 34 w 53"/>
                <a:gd name="T7" fmla="*/ 31 h 57"/>
                <a:gd name="T8" fmla="*/ 53 w 53"/>
                <a:gd name="T9" fmla="*/ 5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7">
                  <a:moveTo>
                    <a:pt x="53" y="57"/>
                  </a:moveTo>
                  <a:lnTo>
                    <a:pt x="50" y="0"/>
                  </a:lnTo>
                  <a:lnTo>
                    <a:pt x="0" y="36"/>
                  </a:lnTo>
                  <a:lnTo>
                    <a:pt x="34" y="31"/>
                  </a:lnTo>
                  <a:lnTo>
                    <a:pt x="53" y="57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59" name="Group 15"/>
          <p:cNvGrpSpPr/>
          <p:nvPr/>
        </p:nvGrpSpPr>
        <p:grpSpPr bwMode="auto">
          <a:xfrm>
            <a:off x="6148388" y="4191001"/>
            <a:ext cx="361950" cy="1998663"/>
            <a:chOff x="2913" y="2554"/>
            <a:chExt cx="228" cy="1120"/>
          </a:xfrm>
        </p:grpSpPr>
        <p:sp>
          <p:nvSpPr>
            <p:cNvPr id="17477" name="Freeform 16"/>
            <p:cNvSpPr/>
            <p:nvPr/>
          </p:nvSpPr>
          <p:spPr bwMode="auto">
            <a:xfrm>
              <a:off x="2913" y="2583"/>
              <a:ext cx="228" cy="1091"/>
            </a:xfrm>
            <a:custGeom>
              <a:avLst/>
              <a:gdLst>
                <a:gd name="T0" fmla="*/ 228 w 228"/>
                <a:gd name="T1" fmla="*/ 1091 h 1091"/>
                <a:gd name="T2" fmla="*/ 147 w 228"/>
                <a:gd name="T3" fmla="*/ 928 h 1091"/>
                <a:gd name="T4" fmla="*/ 107 w 228"/>
                <a:gd name="T5" fmla="*/ 846 h 1091"/>
                <a:gd name="T6" fmla="*/ 73 w 228"/>
                <a:gd name="T7" fmla="*/ 767 h 1091"/>
                <a:gd name="T8" fmla="*/ 42 w 228"/>
                <a:gd name="T9" fmla="*/ 690 h 1091"/>
                <a:gd name="T10" fmla="*/ 20 w 228"/>
                <a:gd name="T11" fmla="*/ 613 h 1091"/>
                <a:gd name="T12" fmla="*/ 6 w 228"/>
                <a:gd name="T13" fmla="*/ 538 h 1091"/>
                <a:gd name="T14" fmla="*/ 0 w 228"/>
                <a:gd name="T15" fmla="*/ 466 h 1091"/>
                <a:gd name="T16" fmla="*/ 6 w 228"/>
                <a:gd name="T17" fmla="*/ 401 h 1091"/>
                <a:gd name="T18" fmla="*/ 17 w 228"/>
                <a:gd name="T19" fmla="*/ 339 h 1091"/>
                <a:gd name="T20" fmla="*/ 37 w 228"/>
                <a:gd name="T21" fmla="*/ 279 h 1091"/>
                <a:gd name="T22" fmla="*/ 65 w 228"/>
                <a:gd name="T23" fmla="*/ 221 h 1091"/>
                <a:gd name="T24" fmla="*/ 96 w 228"/>
                <a:gd name="T25" fmla="*/ 166 h 1091"/>
                <a:gd name="T26" fmla="*/ 130 w 228"/>
                <a:gd name="T27" fmla="*/ 108 h 1091"/>
                <a:gd name="T28" fmla="*/ 206 w 228"/>
                <a:gd name="T29" fmla="*/ 0 h 10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8" h="1091">
                  <a:moveTo>
                    <a:pt x="228" y="1091"/>
                  </a:moveTo>
                  <a:lnTo>
                    <a:pt x="147" y="928"/>
                  </a:lnTo>
                  <a:lnTo>
                    <a:pt x="107" y="846"/>
                  </a:lnTo>
                  <a:lnTo>
                    <a:pt x="73" y="767"/>
                  </a:lnTo>
                  <a:lnTo>
                    <a:pt x="42" y="690"/>
                  </a:lnTo>
                  <a:lnTo>
                    <a:pt x="20" y="613"/>
                  </a:lnTo>
                  <a:lnTo>
                    <a:pt x="6" y="538"/>
                  </a:lnTo>
                  <a:lnTo>
                    <a:pt x="0" y="466"/>
                  </a:lnTo>
                  <a:lnTo>
                    <a:pt x="6" y="401"/>
                  </a:lnTo>
                  <a:lnTo>
                    <a:pt x="17" y="339"/>
                  </a:lnTo>
                  <a:lnTo>
                    <a:pt x="37" y="279"/>
                  </a:lnTo>
                  <a:lnTo>
                    <a:pt x="65" y="221"/>
                  </a:lnTo>
                  <a:lnTo>
                    <a:pt x="96" y="166"/>
                  </a:lnTo>
                  <a:lnTo>
                    <a:pt x="130" y="108"/>
                  </a:lnTo>
                  <a:lnTo>
                    <a:pt x="206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8" name="Freeform 17"/>
            <p:cNvSpPr/>
            <p:nvPr/>
          </p:nvSpPr>
          <p:spPr bwMode="auto">
            <a:xfrm>
              <a:off x="3085" y="2554"/>
              <a:ext cx="56" cy="58"/>
            </a:xfrm>
            <a:custGeom>
              <a:avLst/>
              <a:gdLst>
                <a:gd name="T0" fmla="*/ 51 w 56"/>
                <a:gd name="T1" fmla="*/ 58 h 58"/>
                <a:gd name="T2" fmla="*/ 56 w 56"/>
                <a:gd name="T3" fmla="*/ 0 h 58"/>
                <a:gd name="T4" fmla="*/ 0 w 56"/>
                <a:gd name="T5" fmla="*/ 29 h 58"/>
                <a:gd name="T6" fmla="*/ 34 w 56"/>
                <a:gd name="T7" fmla="*/ 29 h 58"/>
                <a:gd name="T8" fmla="*/ 51 w 56"/>
                <a:gd name="T9" fmla="*/ 58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8">
                  <a:moveTo>
                    <a:pt x="51" y="58"/>
                  </a:moveTo>
                  <a:lnTo>
                    <a:pt x="56" y="0"/>
                  </a:lnTo>
                  <a:lnTo>
                    <a:pt x="0" y="29"/>
                  </a:lnTo>
                  <a:lnTo>
                    <a:pt x="34" y="29"/>
                  </a:lnTo>
                  <a:lnTo>
                    <a:pt x="51" y="58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62" name="Group 18"/>
          <p:cNvGrpSpPr/>
          <p:nvPr/>
        </p:nvGrpSpPr>
        <p:grpSpPr bwMode="auto">
          <a:xfrm>
            <a:off x="6148388" y="1871664"/>
            <a:ext cx="385762" cy="2924175"/>
            <a:chOff x="2913" y="1255"/>
            <a:chExt cx="243" cy="1638"/>
          </a:xfrm>
        </p:grpSpPr>
        <p:sp>
          <p:nvSpPr>
            <p:cNvPr id="17475" name="Freeform 19"/>
            <p:cNvSpPr/>
            <p:nvPr/>
          </p:nvSpPr>
          <p:spPr bwMode="auto">
            <a:xfrm>
              <a:off x="2913" y="1286"/>
              <a:ext cx="228" cy="1607"/>
            </a:xfrm>
            <a:custGeom>
              <a:avLst/>
              <a:gdLst>
                <a:gd name="T0" fmla="*/ 228 w 228"/>
                <a:gd name="T1" fmla="*/ 1607 h 1607"/>
                <a:gd name="T2" fmla="*/ 147 w 228"/>
                <a:gd name="T3" fmla="*/ 1372 h 1607"/>
                <a:gd name="T4" fmla="*/ 107 w 228"/>
                <a:gd name="T5" fmla="*/ 1254 h 1607"/>
                <a:gd name="T6" fmla="*/ 73 w 228"/>
                <a:gd name="T7" fmla="*/ 1139 h 1607"/>
                <a:gd name="T8" fmla="*/ 42 w 228"/>
                <a:gd name="T9" fmla="*/ 1026 h 1607"/>
                <a:gd name="T10" fmla="*/ 20 w 228"/>
                <a:gd name="T11" fmla="*/ 915 h 1607"/>
                <a:gd name="T12" fmla="*/ 6 w 228"/>
                <a:gd name="T13" fmla="*/ 807 h 1607"/>
                <a:gd name="T14" fmla="*/ 0 w 228"/>
                <a:gd name="T15" fmla="*/ 701 h 1607"/>
                <a:gd name="T16" fmla="*/ 3 w 228"/>
                <a:gd name="T17" fmla="*/ 653 h 1607"/>
                <a:gd name="T18" fmla="*/ 8 w 228"/>
                <a:gd name="T19" fmla="*/ 603 h 1607"/>
                <a:gd name="T20" fmla="*/ 14 w 228"/>
                <a:gd name="T21" fmla="*/ 555 h 1607"/>
                <a:gd name="T22" fmla="*/ 25 w 228"/>
                <a:gd name="T23" fmla="*/ 504 h 1607"/>
                <a:gd name="T24" fmla="*/ 54 w 228"/>
                <a:gd name="T25" fmla="*/ 406 h 1607"/>
                <a:gd name="T26" fmla="*/ 87 w 228"/>
                <a:gd name="T27" fmla="*/ 307 h 1607"/>
                <a:gd name="T28" fmla="*/ 124 w 228"/>
                <a:gd name="T29" fmla="*/ 216 h 1607"/>
                <a:gd name="T30" fmla="*/ 141 w 228"/>
                <a:gd name="T31" fmla="*/ 175 h 1607"/>
                <a:gd name="T32" fmla="*/ 161 w 228"/>
                <a:gd name="T33" fmla="*/ 134 h 1607"/>
                <a:gd name="T34" fmla="*/ 175 w 228"/>
                <a:gd name="T35" fmla="*/ 96 h 1607"/>
                <a:gd name="T36" fmla="*/ 192 w 228"/>
                <a:gd name="T37" fmla="*/ 60 h 1607"/>
                <a:gd name="T38" fmla="*/ 206 w 228"/>
                <a:gd name="T39" fmla="*/ 29 h 1607"/>
                <a:gd name="T40" fmla="*/ 217 w 228"/>
                <a:gd name="T41" fmla="*/ 0 h 16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28" h="1607">
                  <a:moveTo>
                    <a:pt x="228" y="1607"/>
                  </a:moveTo>
                  <a:lnTo>
                    <a:pt x="147" y="1372"/>
                  </a:lnTo>
                  <a:lnTo>
                    <a:pt x="107" y="1254"/>
                  </a:lnTo>
                  <a:lnTo>
                    <a:pt x="73" y="1139"/>
                  </a:lnTo>
                  <a:lnTo>
                    <a:pt x="42" y="1026"/>
                  </a:lnTo>
                  <a:lnTo>
                    <a:pt x="20" y="915"/>
                  </a:lnTo>
                  <a:lnTo>
                    <a:pt x="6" y="807"/>
                  </a:lnTo>
                  <a:lnTo>
                    <a:pt x="0" y="701"/>
                  </a:lnTo>
                  <a:lnTo>
                    <a:pt x="3" y="653"/>
                  </a:lnTo>
                  <a:lnTo>
                    <a:pt x="8" y="603"/>
                  </a:lnTo>
                  <a:lnTo>
                    <a:pt x="14" y="555"/>
                  </a:lnTo>
                  <a:lnTo>
                    <a:pt x="25" y="504"/>
                  </a:lnTo>
                  <a:lnTo>
                    <a:pt x="54" y="406"/>
                  </a:lnTo>
                  <a:lnTo>
                    <a:pt x="87" y="307"/>
                  </a:lnTo>
                  <a:lnTo>
                    <a:pt x="124" y="216"/>
                  </a:lnTo>
                  <a:lnTo>
                    <a:pt x="141" y="175"/>
                  </a:lnTo>
                  <a:lnTo>
                    <a:pt x="161" y="134"/>
                  </a:lnTo>
                  <a:lnTo>
                    <a:pt x="175" y="96"/>
                  </a:lnTo>
                  <a:lnTo>
                    <a:pt x="192" y="60"/>
                  </a:lnTo>
                  <a:lnTo>
                    <a:pt x="206" y="29"/>
                  </a:lnTo>
                  <a:lnTo>
                    <a:pt x="217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6" name="Freeform 20"/>
            <p:cNvSpPr/>
            <p:nvPr/>
          </p:nvSpPr>
          <p:spPr bwMode="auto">
            <a:xfrm>
              <a:off x="3099" y="1255"/>
              <a:ext cx="57" cy="55"/>
            </a:xfrm>
            <a:custGeom>
              <a:avLst/>
              <a:gdLst>
                <a:gd name="T0" fmla="*/ 57 w 57"/>
                <a:gd name="T1" fmla="*/ 55 h 55"/>
                <a:gd name="T2" fmla="*/ 42 w 57"/>
                <a:gd name="T3" fmla="*/ 0 h 55"/>
                <a:gd name="T4" fmla="*/ 0 w 57"/>
                <a:gd name="T5" fmla="*/ 40 h 55"/>
                <a:gd name="T6" fmla="*/ 31 w 57"/>
                <a:gd name="T7" fmla="*/ 31 h 55"/>
                <a:gd name="T8" fmla="*/ 57 w 57"/>
                <a:gd name="T9" fmla="*/ 55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5">
                  <a:moveTo>
                    <a:pt x="57" y="55"/>
                  </a:moveTo>
                  <a:lnTo>
                    <a:pt x="42" y="0"/>
                  </a:lnTo>
                  <a:lnTo>
                    <a:pt x="0" y="40"/>
                  </a:lnTo>
                  <a:lnTo>
                    <a:pt x="31" y="31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2565" name="Freeform 21"/>
          <p:cNvSpPr/>
          <p:nvPr/>
        </p:nvSpPr>
        <p:spPr bwMode="auto">
          <a:xfrm>
            <a:off x="6510338" y="1784350"/>
            <a:ext cx="171450" cy="1201738"/>
          </a:xfrm>
          <a:custGeom>
            <a:avLst/>
            <a:gdLst>
              <a:gd name="T0" fmla="*/ 0 w 108"/>
              <a:gd name="T1" fmla="*/ 2147483646 h 673"/>
              <a:gd name="T2" fmla="*/ 2147483646 w 108"/>
              <a:gd name="T3" fmla="*/ 2147483646 h 673"/>
              <a:gd name="T4" fmla="*/ 2147483646 w 108"/>
              <a:gd name="T5" fmla="*/ 2147483646 h 673"/>
              <a:gd name="T6" fmla="*/ 2147483646 w 108"/>
              <a:gd name="T7" fmla="*/ 2147483646 h 673"/>
              <a:gd name="T8" fmla="*/ 2147483646 w 108"/>
              <a:gd name="T9" fmla="*/ 2147483646 h 673"/>
              <a:gd name="T10" fmla="*/ 2147483646 w 108"/>
              <a:gd name="T11" fmla="*/ 2147483646 h 673"/>
              <a:gd name="T12" fmla="*/ 2147483646 w 108"/>
              <a:gd name="T13" fmla="*/ 2147483646 h 673"/>
              <a:gd name="T14" fmla="*/ 2147483646 w 108"/>
              <a:gd name="T15" fmla="*/ 2147483646 h 673"/>
              <a:gd name="T16" fmla="*/ 2147483646 w 108"/>
              <a:gd name="T17" fmla="*/ 2147483646 h 673"/>
              <a:gd name="T18" fmla="*/ 2147483646 w 108"/>
              <a:gd name="T19" fmla="*/ 2147483646 h 673"/>
              <a:gd name="T20" fmla="*/ 2147483646 w 108"/>
              <a:gd name="T21" fmla="*/ 2147483646 h 673"/>
              <a:gd name="T22" fmla="*/ 2147483646 w 108"/>
              <a:gd name="T23" fmla="*/ 2147483646 h 673"/>
              <a:gd name="T24" fmla="*/ 2147483646 w 108"/>
              <a:gd name="T25" fmla="*/ 2147483646 h 673"/>
              <a:gd name="T26" fmla="*/ 2147483646 w 108"/>
              <a:gd name="T27" fmla="*/ 2147483646 h 673"/>
              <a:gd name="T28" fmla="*/ 2147483646 w 108"/>
              <a:gd name="T29" fmla="*/ 2147483646 h 673"/>
              <a:gd name="T30" fmla="*/ 0 w 108"/>
              <a:gd name="T31" fmla="*/ 0 h 67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08" h="673">
                <a:moveTo>
                  <a:pt x="0" y="673"/>
                </a:moveTo>
                <a:lnTo>
                  <a:pt x="40" y="592"/>
                </a:lnTo>
                <a:lnTo>
                  <a:pt x="74" y="510"/>
                </a:lnTo>
                <a:lnTo>
                  <a:pt x="88" y="469"/>
                </a:lnTo>
                <a:lnTo>
                  <a:pt x="99" y="428"/>
                </a:lnTo>
                <a:lnTo>
                  <a:pt x="105" y="387"/>
                </a:lnTo>
                <a:lnTo>
                  <a:pt x="108" y="346"/>
                </a:lnTo>
                <a:lnTo>
                  <a:pt x="105" y="301"/>
                </a:lnTo>
                <a:lnTo>
                  <a:pt x="94" y="253"/>
                </a:lnTo>
                <a:lnTo>
                  <a:pt x="80" y="202"/>
                </a:lnTo>
                <a:lnTo>
                  <a:pt x="63" y="152"/>
                </a:lnTo>
                <a:lnTo>
                  <a:pt x="43" y="106"/>
                </a:lnTo>
                <a:lnTo>
                  <a:pt x="26" y="63"/>
                </a:lnTo>
                <a:lnTo>
                  <a:pt x="12" y="27"/>
                </a:lnTo>
                <a:lnTo>
                  <a:pt x="6" y="12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chemeClr val="folHlink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566" name="Text Box 22"/>
          <p:cNvSpPr txBox="1">
            <a:spLocks noChangeArrowheads="1"/>
          </p:cNvSpPr>
          <p:nvPr/>
        </p:nvSpPr>
        <p:spPr bwMode="auto">
          <a:xfrm>
            <a:off x="4127500" y="1690688"/>
            <a:ext cx="1435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CALL SUB1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492567" name="Group 23"/>
          <p:cNvGrpSpPr/>
          <p:nvPr/>
        </p:nvGrpSpPr>
        <p:grpSpPr bwMode="auto">
          <a:xfrm>
            <a:off x="4689476" y="1312864"/>
            <a:ext cx="1820863" cy="465137"/>
            <a:chOff x="1994" y="827"/>
            <a:chExt cx="1147" cy="293"/>
          </a:xfrm>
        </p:grpSpPr>
        <p:sp>
          <p:nvSpPr>
            <p:cNvPr id="17473" name="Freeform 24"/>
            <p:cNvSpPr/>
            <p:nvPr/>
          </p:nvSpPr>
          <p:spPr bwMode="auto">
            <a:xfrm>
              <a:off x="3140" y="827"/>
              <a:ext cx="1" cy="293"/>
            </a:xfrm>
            <a:custGeom>
              <a:avLst/>
              <a:gdLst>
                <a:gd name="T0" fmla="*/ 1 w 1"/>
                <a:gd name="T1" fmla="*/ 0 h 293"/>
                <a:gd name="T2" fmla="*/ 0 w 1"/>
                <a:gd name="T3" fmla="*/ 293 h 29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93">
                  <a:moveTo>
                    <a:pt x="1" y="0"/>
                  </a:moveTo>
                  <a:lnTo>
                    <a:pt x="0" y="293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4" name="Text Box 25"/>
            <p:cNvSpPr txBox="1">
              <a:spLocks noChangeArrowheads="1"/>
            </p:cNvSpPr>
            <p:nvPr/>
          </p:nvSpPr>
          <p:spPr bwMode="auto">
            <a:xfrm>
              <a:off x="1994" y="902"/>
              <a:ext cx="31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.</a:t>
              </a:r>
              <a:r>
                <a:rPr lang="en-US" altLang="zh-CN" sz="2000">
                  <a:latin typeface="Times New Roman" panose="02020603050405020304" pitchFamily="18" charset="0"/>
                </a:rPr>
                <a:t>..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2570" name="Group 26"/>
          <p:cNvGrpSpPr/>
          <p:nvPr/>
        </p:nvGrpSpPr>
        <p:grpSpPr bwMode="auto">
          <a:xfrm>
            <a:off x="4689476" y="2000250"/>
            <a:ext cx="1871663" cy="554038"/>
            <a:chOff x="1994" y="1260"/>
            <a:chExt cx="1179" cy="349"/>
          </a:xfrm>
        </p:grpSpPr>
        <p:grpSp>
          <p:nvGrpSpPr>
            <p:cNvPr id="17468" name="Group 27"/>
            <p:cNvGrpSpPr/>
            <p:nvPr/>
          </p:nvGrpSpPr>
          <p:grpSpPr bwMode="auto">
            <a:xfrm>
              <a:off x="3113" y="1260"/>
              <a:ext cx="60" cy="349"/>
              <a:chOff x="3113" y="1260"/>
              <a:chExt cx="60" cy="349"/>
            </a:xfrm>
          </p:grpSpPr>
          <p:sp>
            <p:nvSpPr>
              <p:cNvPr id="17471" name="Freeform 28"/>
              <p:cNvSpPr/>
              <p:nvPr/>
            </p:nvSpPr>
            <p:spPr bwMode="auto">
              <a:xfrm>
                <a:off x="3140" y="1260"/>
                <a:ext cx="1" cy="316"/>
              </a:xfrm>
              <a:custGeom>
                <a:avLst/>
                <a:gdLst>
                  <a:gd name="T0" fmla="*/ 1 w 1"/>
                  <a:gd name="T1" fmla="*/ 0 h 316"/>
                  <a:gd name="T2" fmla="*/ 0 w 1"/>
                  <a:gd name="T3" fmla="*/ 316 h 3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16">
                    <a:moveTo>
                      <a:pt x="1" y="0"/>
                    </a:moveTo>
                    <a:lnTo>
                      <a:pt x="0" y="316"/>
                    </a:lnTo>
                  </a:path>
                </a:pathLst>
              </a:custGeom>
              <a:solidFill>
                <a:srgbClr val="FFFFFF"/>
              </a:solidFill>
              <a:ln w="28575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72" name="Freeform 29"/>
              <p:cNvSpPr/>
              <p:nvPr/>
            </p:nvSpPr>
            <p:spPr bwMode="auto">
              <a:xfrm>
                <a:off x="3113" y="1552"/>
                <a:ext cx="60" cy="57"/>
              </a:xfrm>
              <a:custGeom>
                <a:avLst/>
                <a:gdLst>
                  <a:gd name="T0" fmla="*/ 0 w 60"/>
                  <a:gd name="T1" fmla="*/ 0 h 51"/>
                  <a:gd name="T2" fmla="*/ 31 w 60"/>
                  <a:gd name="T3" fmla="*/ 72 h 51"/>
                  <a:gd name="T4" fmla="*/ 60 w 60"/>
                  <a:gd name="T5" fmla="*/ 0 h 51"/>
                  <a:gd name="T6" fmla="*/ 31 w 60"/>
                  <a:gd name="T7" fmla="*/ 23 h 51"/>
                  <a:gd name="T8" fmla="*/ 0 w 60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0" h="51">
                    <a:moveTo>
                      <a:pt x="0" y="0"/>
                    </a:moveTo>
                    <a:lnTo>
                      <a:pt x="31" y="51"/>
                    </a:lnTo>
                    <a:lnTo>
                      <a:pt x="60" y="0"/>
                    </a:lnTo>
                    <a:lnTo>
                      <a:pt x="31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69" name="Text Box 30"/>
            <p:cNvSpPr txBox="1">
              <a:spLocks noChangeArrowheads="1"/>
            </p:cNvSpPr>
            <p:nvPr/>
          </p:nvSpPr>
          <p:spPr bwMode="auto">
            <a:xfrm>
              <a:off x="1994" y="1286"/>
              <a:ext cx="31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...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7470" name="Text Box 31"/>
            <p:cNvSpPr txBox="1">
              <a:spLocks noChangeArrowheads="1"/>
            </p:cNvSpPr>
            <p:nvPr/>
          </p:nvSpPr>
          <p:spPr bwMode="auto">
            <a:xfrm>
              <a:off x="2005" y="1502"/>
              <a:ext cx="310" cy="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2576" name="Text Box 32"/>
          <p:cNvSpPr txBox="1">
            <a:spLocks noChangeArrowheads="1"/>
          </p:cNvSpPr>
          <p:nvPr/>
        </p:nvSpPr>
        <p:spPr bwMode="auto">
          <a:xfrm>
            <a:off x="4114800" y="3290888"/>
            <a:ext cx="1435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CALL SUB2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492577" name="Group 33"/>
          <p:cNvGrpSpPr/>
          <p:nvPr/>
        </p:nvGrpSpPr>
        <p:grpSpPr bwMode="auto">
          <a:xfrm>
            <a:off x="4689476" y="2986089"/>
            <a:ext cx="1871663" cy="458787"/>
            <a:chOff x="1994" y="1881"/>
            <a:chExt cx="1179" cy="289"/>
          </a:xfrm>
        </p:grpSpPr>
        <p:grpSp>
          <p:nvGrpSpPr>
            <p:cNvPr id="17464" name="Group 34"/>
            <p:cNvGrpSpPr/>
            <p:nvPr/>
          </p:nvGrpSpPr>
          <p:grpSpPr bwMode="auto">
            <a:xfrm>
              <a:off x="3113" y="1881"/>
              <a:ext cx="60" cy="289"/>
              <a:chOff x="3113" y="1881"/>
              <a:chExt cx="60" cy="289"/>
            </a:xfrm>
          </p:grpSpPr>
          <p:sp>
            <p:nvSpPr>
              <p:cNvPr id="17466" name="Freeform 35"/>
              <p:cNvSpPr/>
              <p:nvPr/>
            </p:nvSpPr>
            <p:spPr bwMode="auto">
              <a:xfrm>
                <a:off x="3140" y="1881"/>
                <a:ext cx="1" cy="255"/>
              </a:xfrm>
              <a:custGeom>
                <a:avLst/>
                <a:gdLst>
                  <a:gd name="T0" fmla="*/ 1 w 1"/>
                  <a:gd name="T1" fmla="*/ 0 h 255"/>
                  <a:gd name="T2" fmla="*/ 0 w 1"/>
                  <a:gd name="T3" fmla="*/ 255 h 25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1" y="0"/>
                    </a:moveTo>
                    <a:lnTo>
                      <a:pt x="0" y="255"/>
                    </a:lnTo>
                  </a:path>
                </a:pathLst>
              </a:custGeom>
              <a:solidFill>
                <a:srgbClr val="FFFFFF"/>
              </a:solidFill>
              <a:ln w="28575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7" name="Freeform 36"/>
              <p:cNvSpPr/>
              <p:nvPr/>
            </p:nvSpPr>
            <p:spPr bwMode="auto">
              <a:xfrm>
                <a:off x="3113" y="2114"/>
                <a:ext cx="60" cy="56"/>
              </a:xfrm>
              <a:custGeom>
                <a:avLst/>
                <a:gdLst>
                  <a:gd name="T0" fmla="*/ 0 w 60"/>
                  <a:gd name="T1" fmla="*/ 0 h 50"/>
                  <a:gd name="T2" fmla="*/ 31 w 60"/>
                  <a:gd name="T3" fmla="*/ 71 h 50"/>
                  <a:gd name="T4" fmla="*/ 60 w 60"/>
                  <a:gd name="T5" fmla="*/ 0 h 50"/>
                  <a:gd name="T6" fmla="*/ 31 w 60"/>
                  <a:gd name="T7" fmla="*/ 24 h 50"/>
                  <a:gd name="T8" fmla="*/ 0 w 60"/>
                  <a:gd name="T9" fmla="*/ 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0" h="50">
                    <a:moveTo>
                      <a:pt x="0" y="0"/>
                    </a:moveTo>
                    <a:lnTo>
                      <a:pt x="31" y="50"/>
                    </a:lnTo>
                    <a:lnTo>
                      <a:pt x="60" y="0"/>
                    </a:lnTo>
                    <a:lnTo>
                      <a:pt x="31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65" name="Text Box 37"/>
            <p:cNvSpPr txBox="1">
              <a:spLocks noChangeArrowheads="1"/>
            </p:cNvSpPr>
            <p:nvPr/>
          </p:nvSpPr>
          <p:spPr bwMode="auto">
            <a:xfrm>
              <a:off x="1994" y="1927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…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2582" name="Group 38"/>
          <p:cNvGrpSpPr/>
          <p:nvPr/>
        </p:nvGrpSpPr>
        <p:grpSpPr bwMode="auto">
          <a:xfrm>
            <a:off x="4689476" y="3544888"/>
            <a:ext cx="1820863" cy="487362"/>
            <a:chOff x="1994" y="2233"/>
            <a:chExt cx="1147" cy="307"/>
          </a:xfrm>
        </p:grpSpPr>
        <p:sp>
          <p:nvSpPr>
            <p:cNvPr id="17462" name="Freeform 39"/>
            <p:cNvSpPr/>
            <p:nvPr/>
          </p:nvSpPr>
          <p:spPr bwMode="auto">
            <a:xfrm>
              <a:off x="3140" y="2233"/>
              <a:ext cx="1" cy="307"/>
            </a:xfrm>
            <a:custGeom>
              <a:avLst/>
              <a:gdLst>
                <a:gd name="T0" fmla="*/ 1 w 1"/>
                <a:gd name="T1" fmla="*/ 0 h 307"/>
                <a:gd name="T2" fmla="*/ 0 w 1"/>
                <a:gd name="T3" fmla="*/ 307 h 3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07">
                  <a:moveTo>
                    <a:pt x="1" y="0"/>
                  </a:moveTo>
                  <a:lnTo>
                    <a:pt x="0" y="307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3" name="Text Box 40"/>
            <p:cNvSpPr txBox="1">
              <a:spLocks noChangeArrowheads="1"/>
            </p:cNvSpPr>
            <p:nvPr/>
          </p:nvSpPr>
          <p:spPr bwMode="auto">
            <a:xfrm>
              <a:off x="1994" y="2311"/>
              <a:ext cx="31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...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2585" name="Text Box 41"/>
          <p:cNvSpPr txBox="1">
            <a:spLocks noChangeArrowheads="1"/>
          </p:cNvSpPr>
          <p:nvPr/>
        </p:nvSpPr>
        <p:spPr bwMode="auto">
          <a:xfrm>
            <a:off x="4114800" y="3900488"/>
            <a:ext cx="1435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CALL SUB2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492586" name="Group 42"/>
          <p:cNvGrpSpPr/>
          <p:nvPr/>
        </p:nvGrpSpPr>
        <p:grpSpPr bwMode="auto">
          <a:xfrm>
            <a:off x="4689476" y="4191000"/>
            <a:ext cx="1871663" cy="604838"/>
            <a:chOff x="1994" y="2640"/>
            <a:chExt cx="1179" cy="381"/>
          </a:xfrm>
        </p:grpSpPr>
        <p:grpSp>
          <p:nvGrpSpPr>
            <p:cNvPr id="17458" name="Group 43"/>
            <p:cNvGrpSpPr/>
            <p:nvPr/>
          </p:nvGrpSpPr>
          <p:grpSpPr bwMode="auto">
            <a:xfrm>
              <a:off x="3113" y="2640"/>
              <a:ext cx="60" cy="381"/>
              <a:chOff x="3113" y="2640"/>
              <a:chExt cx="60" cy="381"/>
            </a:xfrm>
          </p:grpSpPr>
          <p:sp>
            <p:nvSpPr>
              <p:cNvPr id="17460" name="Freeform 44"/>
              <p:cNvSpPr/>
              <p:nvPr/>
            </p:nvSpPr>
            <p:spPr bwMode="auto">
              <a:xfrm>
                <a:off x="3140" y="2640"/>
                <a:ext cx="1" cy="340"/>
              </a:xfrm>
              <a:custGeom>
                <a:avLst/>
                <a:gdLst>
                  <a:gd name="T0" fmla="*/ 1 w 1"/>
                  <a:gd name="T1" fmla="*/ 0 h 340"/>
                  <a:gd name="T2" fmla="*/ 0 w 1"/>
                  <a:gd name="T3" fmla="*/ 340 h 34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40">
                    <a:moveTo>
                      <a:pt x="1" y="0"/>
                    </a:moveTo>
                    <a:lnTo>
                      <a:pt x="0" y="340"/>
                    </a:lnTo>
                  </a:path>
                </a:pathLst>
              </a:custGeom>
              <a:solidFill>
                <a:srgbClr val="FFFFFF"/>
              </a:solidFill>
              <a:ln w="28575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1" name="Freeform 45"/>
              <p:cNvSpPr/>
              <p:nvPr/>
            </p:nvSpPr>
            <p:spPr bwMode="auto">
              <a:xfrm>
                <a:off x="3113" y="2965"/>
                <a:ext cx="60" cy="56"/>
              </a:xfrm>
              <a:custGeom>
                <a:avLst/>
                <a:gdLst>
                  <a:gd name="T0" fmla="*/ 0 w 60"/>
                  <a:gd name="T1" fmla="*/ 0 h 50"/>
                  <a:gd name="T2" fmla="*/ 31 w 60"/>
                  <a:gd name="T3" fmla="*/ 71 h 50"/>
                  <a:gd name="T4" fmla="*/ 60 w 60"/>
                  <a:gd name="T5" fmla="*/ 0 h 50"/>
                  <a:gd name="T6" fmla="*/ 31 w 60"/>
                  <a:gd name="T7" fmla="*/ 24 h 50"/>
                  <a:gd name="T8" fmla="*/ 0 w 60"/>
                  <a:gd name="T9" fmla="*/ 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0" h="50">
                    <a:moveTo>
                      <a:pt x="0" y="0"/>
                    </a:moveTo>
                    <a:lnTo>
                      <a:pt x="31" y="50"/>
                    </a:lnTo>
                    <a:lnTo>
                      <a:pt x="60" y="0"/>
                    </a:lnTo>
                    <a:lnTo>
                      <a:pt x="31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59" name="Text Box 46"/>
            <p:cNvSpPr txBox="1">
              <a:spLocks noChangeArrowheads="1"/>
            </p:cNvSpPr>
            <p:nvPr/>
          </p:nvSpPr>
          <p:spPr bwMode="auto">
            <a:xfrm>
              <a:off x="1994" y="2689"/>
              <a:ext cx="31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…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2591" name="Text Box 47"/>
          <p:cNvSpPr txBox="1">
            <a:spLocks noChangeArrowheads="1"/>
          </p:cNvSpPr>
          <p:nvPr/>
        </p:nvSpPr>
        <p:spPr bwMode="auto">
          <a:xfrm>
            <a:off x="4251325" y="4510088"/>
            <a:ext cx="1149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RETURN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92592" name="Text Box 48"/>
          <p:cNvSpPr txBox="1">
            <a:spLocks noChangeArrowheads="1"/>
          </p:cNvSpPr>
          <p:nvPr/>
        </p:nvSpPr>
        <p:spPr bwMode="auto">
          <a:xfrm>
            <a:off x="4267200" y="5881688"/>
            <a:ext cx="1149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RETURN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492593" name="Group 49"/>
          <p:cNvGrpSpPr/>
          <p:nvPr/>
        </p:nvGrpSpPr>
        <p:grpSpPr bwMode="auto">
          <a:xfrm>
            <a:off x="3276601" y="914400"/>
            <a:ext cx="4008438" cy="5599113"/>
            <a:chOff x="1104" y="576"/>
            <a:chExt cx="2525" cy="3527"/>
          </a:xfrm>
        </p:grpSpPr>
        <p:sp>
          <p:nvSpPr>
            <p:cNvPr id="17437" name="Rectangle 50"/>
            <p:cNvSpPr>
              <a:spLocks noChangeArrowheads="1"/>
            </p:cNvSpPr>
            <p:nvPr/>
          </p:nvSpPr>
          <p:spPr bwMode="auto">
            <a:xfrm>
              <a:off x="1663" y="827"/>
              <a:ext cx="849" cy="81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8" name="Rectangle 51"/>
            <p:cNvSpPr>
              <a:spLocks noChangeArrowheads="1"/>
            </p:cNvSpPr>
            <p:nvPr/>
          </p:nvSpPr>
          <p:spPr bwMode="auto">
            <a:xfrm>
              <a:off x="1663" y="1881"/>
              <a:ext cx="849" cy="114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9" name="Rectangle 52"/>
            <p:cNvSpPr>
              <a:spLocks noChangeArrowheads="1"/>
            </p:cNvSpPr>
            <p:nvPr/>
          </p:nvSpPr>
          <p:spPr bwMode="auto">
            <a:xfrm>
              <a:off x="1663" y="3286"/>
              <a:ext cx="849" cy="61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40" name="Rectangle 53"/>
            <p:cNvSpPr>
              <a:spLocks noChangeArrowheads="1"/>
            </p:cNvSpPr>
            <p:nvPr/>
          </p:nvSpPr>
          <p:spPr bwMode="auto">
            <a:xfrm>
              <a:off x="2721" y="827"/>
              <a:ext cx="849" cy="813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41" name="Rectangle 54"/>
            <p:cNvSpPr>
              <a:spLocks noChangeArrowheads="1"/>
            </p:cNvSpPr>
            <p:nvPr/>
          </p:nvSpPr>
          <p:spPr bwMode="auto">
            <a:xfrm>
              <a:off x="2721" y="1881"/>
              <a:ext cx="849" cy="1145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42" name="Rectangle 55"/>
            <p:cNvSpPr>
              <a:spLocks noChangeArrowheads="1"/>
            </p:cNvSpPr>
            <p:nvPr/>
          </p:nvSpPr>
          <p:spPr bwMode="auto">
            <a:xfrm>
              <a:off x="2721" y="3286"/>
              <a:ext cx="849" cy="618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43" name="Text Box 56"/>
            <p:cNvSpPr txBox="1">
              <a:spLocks noChangeArrowheads="1"/>
            </p:cNvSpPr>
            <p:nvPr/>
          </p:nvSpPr>
          <p:spPr bwMode="auto">
            <a:xfrm>
              <a:off x="1824" y="624"/>
              <a:ext cx="55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主程序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44" name="Text Box 57"/>
            <p:cNvSpPr txBox="1">
              <a:spLocks noChangeArrowheads="1"/>
            </p:cNvSpPr>
            <p:nvPr/>
          </p:nvSpPr>
          <p:spPr bwMode="auto">
            <a:xfrm>
              <a:off x="1104" y="576"/>
              <a:ext cx="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地址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45" name="Text Box 58"/>
            <p:cNvSpPr txBox="1">
              <a:spLocks noChangeArrowheads="1"/>
            </p:cNvSpPr>
            <p:nvPr/>
          </p:nvSpPr>
          <p:spPr bwMode="auto">
            <a:xfrm>
              <a:off x="1104" y="774"/>
              <a:ext cx="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2000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46" name="Text Box 59"/>
            <p:cNvSpPr txBox="1">
              <a:spLocks noChangeArrowheads="1"/>
            </p:cNvSpPr>
            <p:nvPr/>
          </p:nvSpPr>
          <p:spPr bwMode="auto">
            <a:xfrm>
              <a:off x="1104" y="1056"/>
              <a:ext cx="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2100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47" name="Text Box 60"/>
            <p:cNvSpPr txBox="1">
              <a:spLocks noChangeArrowheads="1"/>
            </p:cNvSpPr>
            <p:nvPr/>
          </p:nvSpPr>
          <p:spPr bwMode="auto">
            <a:xfrm>
              <a:off x="1104" y="1200"/>
              <a:ext cx="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2101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48" name="Text Box 61"/>
            <p:cNvSpPr txBox="1">
              <a:spLocks noChangeArrowheads="1"/>
            </p:cNvSpPr>
            <p:nvPr/>
          </p:nvSpPr>
          <p:spPr bwMode="auto">
            <a:xfrm>
              <a:off x="1632" y="1689"/>
              <a:ext cx="9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子程序</a:t>
              </a:r>
              <a:r>
                <a:rPr lang="en-US" altLang="zh-CN">
                  <a:latin typeface="Times New Roman" panose="02020603050405020304" pitchFamily="18" charset="0"/>
                </a:rPr>
                <a:t>SUB1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49" name="Text Box 62"/>
            <p:cNvSpPr txBox="1">
              <a:spLocks noChangeArrowheads="1"/>
            </p:cNvSpPr>
            <p:nvPr/>
          </p:nvSpPr>
          <p:spPr bwMode="auto">
            <a:xfrm>
              <a:off x="1104" y="1824"/>
              <a:ext cx="4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2400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50" name="Text Box 63"/>
            <p:cNvSpPr txBox="1">
              <a:spLocks noChangeArrowheads="1"/>
            </p:cNvSpPr>
            <p:nvPr/>
          </p:nvSpPr>
          <p:spPr bwMode="auto">
            <a:xfrm>
              <a:off x="1104" y="2064"/>
              <a:ext cx="404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2500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51" name="Text Box 64"/>
            <p:cNvSpPr txBox="1">
              <a:spLocks noChangeArrowheads="1"/>
            </p:cNvSpPr>
            <p:nvPr/>
          </p:nvSpPr>
          <p:spPr bwMode="auto">
            <a:xfrm>
              <a:off x="1104" y="2208"/>
              <a:ext cx="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2501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52" name="Text Box 65"/>
            <p:cNvSpPr txBox="1">
              <a:spLocks noChangeArrowheads="1"/>
            </p:cNvSpPr>
            <p:nvPr/>
          </p:nvSpPr>
          <p:spPr bwMode="auto">
            <a:xfrm>
              <a:off x="1104" y="2448"/>
              <a:ext cx="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2560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53" name="Text Box 66"/>
            <p:cNvSpPr txBox="1">
              <a:spLocks noChangeArrowheads="1"/>
            </p:cNvSpPr>
            <p:nvPr/>
          </p:nvSpPr>
          <p:spPr bwMode="auto">
            <a:xfrm>
              <a:off x="1104" y="2592"/>
              <a:ext cx="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2561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54" name="Text Box 67"/>
            <p:cNvSpPr txBox="1">
              <a:spLocks noChangeArrowheads="1"/>
            </p:cNvSpPr>
            <p:nvPr/>
          </p:nvSpPr>
          <p:spPr bwMode="auto">
            <a:xfrm>
              <a:off x="1104" y="3216"/>
              <a:ext cx="4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2700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55" name="Text Box 68"/>
            <p:cNvSpPr txBox="1">
              <a:spLocks noChangeArrowheads="1"/>
            </p:cNvSpPr>
            <p:nvPr/>
          </p:nvSpPr>
          <p:spPr bwMode="auto">
            <a:xfrm>
              <a:off x="1584" y="3870"/>
              <a:ext cx="9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主存空间分配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56" name="Text Box 69"/>
            <p:cNvSpPr txBox="1">
              <a:spLocks noChangeArrowheads="1"/>
            </p:cNvSpPr>
            <p:nvPr/>
          </p:nvSpPr>
          <p:spPr bwMode="auto">
            <a:xfrm>
              <a:off x="2640" y="3870"/>
              <a:ext cx="9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程序执行流程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457" name="Text Box 70"/>
            <p:cNvSpPr txBox="1">
              <a:spLocks noChangeArrowheads="1"/>
            </p:cNvSpPr>
            <p:nvPr/>
          </p:nvSpPr>
          <p:spPr bwMode="auto">
            <a:xfrm>
              <a:off x="1632" y="3081"/>
              <a:ext cx="9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Times New Roman" panose="02020603050405020304" pitchFamily="18" charset="0"/>
                </a:rPr>
                <a:t>子程序</a:t>
              </a:r>
              <a:r>
                <a:rPr lang="en-US" altLang="zh-CN">
                  <a:latin typeface="Times New Roman" panose="02020603050405020304" pitchFamily="18" charset="0"/>
                </a:rPr>
                <a:t>SUB2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2616" name="Group 72"/>
          <p:cNvGrpSpPr/>
          <p:nvPr/>
        </p:nvGrpSpPr>
        <p:grpSpPr bwMode="auto">
          <a:xfrm>
            <a:off x="4689476" y="5216525"/>
            <a:ext cx="2036763" cy="973138"/>
            <a:chOff x="1994" y="3286"/>
            <a:chExt cx="1283" cy="613"/>
          </a:xfrm>
        </p:grpSpPr>
        <p:grpSp>
          <p:nvGrpSpPr>
            <p:cNvPr id="17432" name="Group 73"/>
            <p:cNvGrpSpPr/>
            <p:nvPr/>
          </p:nvGrpSpPr>
          <p:grpSpPr bwMode="auto">
            <a:xfrm>
              <a:off x="3218" y="3286"/>
              <a:ext cx="59" cy="613"/>
              <a:chOff x="3218" y="3129"/>
              <a:chExt cx="59" cy="545"/>
            </a:xfrm>
          </p:grpSpPr>
          <p:sp>
            <p:nvSpPr>
              <p:cNvPr id="17435" name="Line 74"/>
              <p:cNvSpPr>
                <a:spLocks noChangeShapeType="1"/>
              </p:cNvSpPr>
              <p:nvPr/>
            </p:nvSpPr>
            <p:spPr bwMode="auto">
              <a:xfrm>
                <a:off x="3249" y="3129"/>
                <a:ext cx="1" cy="51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6" name="Freeform 75"/>
              <p:cNvSpPr/>
              <p:nvPr/>
            </p:nvSpPr>
            <p:spPr bwMode="auto">
              <a:xfrm>
                <a:off x="3218" y="3624"/>
                <a:ext cx="59" cy="50"/>
              </a:xfrm>
              <a:custGeom>
                <a:avLst/>
                <a:gdLst>
                  <a:gd name="T0" fmla="*/ 0 w 59"/>
                  <a:gd name="T1" fmla="*/ 0 h 50"/>
                  <a:gd name="T2" fmla="*/ 31 w 59"/>
                  <a:gd name="T3" fmla="*/ 50 h 50"/>
                  <a:gd name="T4" fmla="*/ 59 w 59"/>
                  <a:gd name="T5" fmla="*/ 0 h 50"/>
                  <a:gd name="T6" fmla="*/ 31 w 59"/>
                  <a:gd name="T7" fmla="*/ 16 h 50"/>
                  <a:gd name="T8" fmla="*/ 0 w 59"/>
                  <a:gd name="T9" fmla="*/ 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9" h="50">
                    <a:moveTo>
                      <a:pt x="0" y="0"/>
                    </a:moveTo>
                    <a:lnTo>
                      <a:pt x="31" y="50"/>
                    </a:lnTo>
                    <a:lnTo>
                      <a:pt x="59" y="0"/>
                    </a:lnTo>
                    <a:lnTo>
                      <a:pt x="31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mpd="sng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33" name="Text Box 76"/>
            <p:cNvSpPr txBox="1">
              <a:spLocks noChangeArrowheads="1"/>
            </p:cNvSpPr>
            <p:nvPr/>
          </p:nvSpPr>
          <p:spPr bwMode="auto">
            <a:xfrm>
              <a:off x="1994" y="3391"/>
              <a:ext cx="31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...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7434" name="Text Box 77"/>
            <p:cNvSpPr txBox="1">
              <a:spLocks noChangeArrowheads="1"/>
            </p:cNvSpPr>
            <p:nvPr/>
          </p:nvSpPr>
          <p:spPr bwMode="auto">
            <a:xfrm>
              <a:off x="2005" y="3554"/>
              <a:ext cx="310" cy="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9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9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49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49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49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49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49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49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9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49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49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49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49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9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2" dur="500"/>
                                        <p:tgtEl>
                                          <p:spTgt spid="49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7" dur="500"/>
                                        <p:tgtEl>
                                          <p:spTgt spid="49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66" grpId="0" autoUpdateAnimBg="0"/>
      <p:bldP spid="492576" grpId="0" autoUpdateAnimBg="0"/>
      <p:bldP spid="492585" grpId="0" autoUpdateAnimBg="0"/>
      <p:bldP spid="492591" grpId="0" autoUpdateAnimBg="0"/>
      <p:bldP spid="49259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3970338" y="5146675"/>
            <a:ext cx="1439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IN  AX, </a:t>
            </a:r>
            <a:r>
              <a:rPr lang="en-US" altLang="zh-CN" sz="2400" i="1">
                <a:latin typeface="Times New Roman" panose="02020603050405020304" pitchFamily="18" charset="0"/>
              </a:rPr>
              <a:t>n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6172200" y="6137275"/>
            <a:ext cx="2014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OUT  DX, AL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3572" name="Text Box 4"/>
          <p:cNvSpPr txBox="1">
            <a:spLocks noChangeArrowheads="1"/>
          </p:cNvSpPr>
          <p:nvPr/>
        </p:nvSpPr>
        <p:spPr bwMode="auto">
          <a:xfrm>
            <a:off x="3878264" y="6137275"/>
            <a:ext cx="176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OUT  </a:t>
            </a:r>
            <a:r>
              <a:rPr lang="en-US" altLang="zh-CN" sz="2400" i="1"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</a:rPr>
              <a:t>, AX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93573" name="Text Box 5"/>
          <p:cNvSpPr txBox="1">
            <a:spLocks noChangeArrowheads="1"/>
          </p:cNvSpPr>
          <p:nvPr/>
        </p:nvSpPr>
        <p:spPr bwMode="auto">
          <a:xfrm>
            <a:off x="6188075" y="6137275"/>
            <a:ext cx="203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OUT  DX, AX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828800" y="2286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(4) 陷阱（</a:t>
            </a:r>
            <a:r>
              <a:rPr lang="en-US" altLang="zh-CN" sz="3200">
                <a:latin typeface="Times New Roman" panose="02020603050405020304" pitchFamily="18" charset="0"/>
              </a:rPr>
              <a:t>Trap）</a:t>
            </a:r>
            <a:r>
              <a:rPr lang="zh-CN" altLang="en-US" sz="3200">
                <a:latin typeface="Times New Roman" panose="02020603050405020304" pitchFamily="18" charset="0"/>
              </a:rPr>
              <a:t>与陷阱指令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493575" name="Text Box 7"/>
          <p:cNvSpPr txBox="1">
            <a:spLocks noChangeArrowheads="1"/>
          </p:cNvSpPr>
          <p:nvPr/>
        </p:nvSpPr>
        <p:spPr bwMode="auto">
          <a:xfrm>
            <a:off x="2578101" y="806451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意外事故的中断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3576" name="Text Box 8"/>
          <p:cNvSpPr txBox="1">
            <a:spLocks noChangeArrowheads="1"/>
          </p:cNvSpPr>
          <p:nvPr/>
        </p:nvSpPr>
        <p:spPr bwMode="auto">
          <a:xfrm>
            <a:off x="2193926" y="2473325"/>
            <a:ext cx="4119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</a:rPr>
              <a:t>  设置供用户使用的陷阱指令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3577" name="Text Box 9"/>
          <p:cNvSpPr txBox="1">
            <a:spLocks noChangeArrowheads="1"/>
          </p:cNvSpPr>
          <p:nvPr/>
        </p:nvSpPr>
        <p:spPr bwMode="auto">
          <a:xfrm>
            <a:off x="3101976" y="2984500"/>
            <a:ext cx="489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如  8086          </a:t>
            </a:r>
            <a:r>
              <a:rPr lang="en-US" altLang="zh-CN" sz="2400">
                <a:latin typeface="Times New Roman" panose="02020603050405020304" pitchFamily="18" charset="0"/>
              </a:rPr>
              <a:t>INT   TYPE     </a:t>
            </a:r>
            <a:r>
              <a:rPr lang="zh-CN" altLang="en-US" sz="2400">
                <a:latin typeface="Times New Roman" panose="02020603050405020304" pitchFamily="18" charset="0"/>
              </a:rPr>
              <a:t>软中断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3578" name="Text Box 10"/>
          <p:cNvSpPr txBox="1">
            <a:spLocks noChangeArrowheads="1"/>
          </p:cNvSpPr>
          <p:nvPr/>
        </p:nvSpPr>
        <p:spPr bwMode="auto">
          <a:xfrm>
            <a:off x="3048001" y="3495675"/>
            <a:ext cx="6005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提供给用户使用的陷阱指令，完成系统调用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3579" name="Text Box 11"/>
          <p:cNvSpPr txBox="1">
            <a:spLocks noChangeArrowheads="1"/>
          </p:cNvSpPr>
          <p:nvPr/>
        </p:nvSpPr>
        <p:spPr bwMode="auto">
          <a:xfrm>
            <a:off x="1981200" y="4005264"/>
            <a:ext cx="22225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5. 输入输出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493580" name="Group 12"/>
          <p:cNvGrpSpPr/>
          <p:nvPr/>
        </p:nvGrpSpPr>
        <p:grpSpPr bwMode="auto">
          <a:xfrm>
            <a:off x="2193925" y="1377950"/>
            <a:ext cx="7373938" cy="1041400"/>
            <a:chOff x="422" y="868"/>
            <a:chExt cx="4645" cy="656"/>
          </a:xfrm>
        </p:grpSpPr>
        <p:sp>
          <p:nvSpPr>
            <p:cNvPr id="18459" name="Text Box 13"/>
            <p:cNvSpPr txBox="1">
              <a:spLocks noChangeArrowheads="1"/>
            </p:cNvSpPr>
            <p:nvPr/>
          </p:nvSpPr>
          <p:spPr bwMode="auto">
            <a:xfrm>
              <a:off x="422" y="868"/>
              <a:ext cx="2607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Char char="•"/>
              </a:pPr>
              <a:r>
                <a:rPr lang="zh-CN" altLang="en-US" sz="2400">
                  <a:latin typeface="Times New Roman" panose="02020603050405020304" pitchFamily="18" charset="0"/>
                </a:rPr>
                <a:t>  一般不提供给用户直接使用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8460" name="Text Box 14"/>
            <p:cNvSpPr txBox="1">
              <a:spLocks noChangeArrowheads="1"/>
            </p:cNvSpPr>
            <p:nvPr/>
          </p:nvSpPr>
          <p:spPr bwMode="auto">
            <a:xfrm>
              <a:off x="576" y="1236"/>
              <a:ext cx="44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在出现事故时，由 </a:t>
              </a:r>
              <a:r>
                <a:rPr lang="en-US" altLang="zh-CN" sz="2400">
                  <a:latin typeface="Times New Roman" panose="02020603050405020304" pitchFamily="18" charset="0"/>
                </a:rPr>
                <a:t>CPU </a:t>
              </a:r>
              <a:r>
                <a:rPr lang="zh-CN" altLang="en-US" sz="2400">
                  <a:latin typeface="Times New Roman" panose="02020603050405020304" pitchFamily="18" charset="0"/>
                </a:rPr>
                <a:t>自动产生并执行（隐指令）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493583" name="Text Box 15"/>
          <p:cNvSpPr txBox="1">
            <a:spLocks noChangeArrowheads="1"/>
          </p:cNvSpPr>
          <p:nvPr/>
        </p:nvSpPr>
        <p:spPr bwMode="auto">
          <a:xfrm>
            <a:off x="6156326" y="5146675"/>
            <a:ext cx="1693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IN  AL, DX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3584" name="Text Box 16"/>
          <p:cNvSpPr txBox="1">
            <a:spLocks noChangeArrowheads="1"/>
          </p:cNvSpPr>
          <p:nvPr/>
        </p:nvSpPr>
        <p:spPr bwMode="auto">
          <a:xfrm>
            <a:off x="6172201" y="5146675"/>
            <a:ext cx="171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IN  AX, DX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493585" name="Group 17"/>
          <p:cNvGrpSpPr/>
          <p:nvPr/>
        </p:nvGrpSpPr>
        <p:grpSpPr bwMode="auto">
          <a:xfrm>
            <a:off x="2727326" y="4638675"/>
            <a:ext cx="5959475" cy="457200"/>
            <a:chOff x="758" y="2922"/>
            <a:chExt cx="3754" cy="288"/>
          </a:xfrm>
        </p:grpSpPr>
        <p:sp>
          <p:nvSpPr>
            <p:cNvPr id="18457" name="Text Box 18"/>
            <p:cNvSpPr txBox="1">
              <a:spLocks noChangeArrowheads="1"/>
            </p:cNvSpPr>
            <p:nvPr/>
          </p:nvSpPr>
          <p:spPr bwMode="auto">
            <a:xfrm>
              <a:off x="758" y="2922"/>
              <a:ext cx="37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入              端口地址              </a:t>
              </a:r>
              <a:r>
                <a:rPr lang="en-US" altLang="zh-CN" sz="2400">
                  <a:latin typeface="Times New Roman" panose="02020603050405020304" pitchFamily="18" charset="0"/>
                </a:rPr>
                <a:t>CPU </a:t>
              </a:r>
              <a:r>
                <a:rPr lang="zh-CN" altLang="en-US" sz="2400">
                  <a:latin typeface="Times New Roman" panose="02020603050405020304" pitchFamily="18" charset="0"/>
                </a:rPr>
                <a:t>的寄存器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8458" name="Line 19"/>
            <p:cNvSpPr>
              <a:spLocks noChangeShapeType="1"/>
            </p:cNvSpPr>
            <p:nvPr/>
          </p:nvSpPr>
          <p:spPr bwMode="auto">
            <a:xfrm>
              <a:off x="2544" y="3072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93588" name="Group 20"/>
          <p:cNvGrpSpPr/>
          <p:nvPr/>
        </p:nvGrpSpPr>
        <p:grpSpPr bwMode="auto">
          <a:xfrm>
            <a:off x="2727326" y="5661025"/>
            <a:ext cx="5883275" cy="457200"/>
            <a:chOff x="758" y="3566"/>
            <a:chExt cx="3706" cy="288"/>
          </a:xfrm>
        </p:grpSpPr>
        <p:sp>
          <p:nvSpPr>
            <p:cNvPr id="18455" name="Text Box 21"/>
            <p:cNvSpPr txBox="1">
              <a:spLocks noChangeArrowheads="1"/>
            </p:cNvSpPr>
            <p:nvPr/>
          </p:nvSpPr>
          <p:spPr bwMode="auto">
            <a:xfrm>
              <a:off x="758" y="3566"/>
              <a:ext cx="37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出     </a:t>
              </a:r>
              <a:r>
                <a:rPr lang="en-US" altLang="zh-CN" sz="2400">
                  <a:latin typeface="Times New Roman" panose="02020603050405020304" pitchFamily="18" charset="0"/>
                </a:rPr>
                <a:t>CPU </a:t>
              </a:r>
              <a:r>
                <a:rPr lang="zh-CN" altLang="en-US" sz="2400">
                  <a:latin typeface="Times New Roman" panose="02020603050405020304" pitchFamily="18" charset="0"/>
                </a:rPr>
                <a:t>的寄存器               端口地址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8456" name="Line 22"/>
            <p:cNvSpPr>
              <a:spLocks noChangeShapeType="1"/>
            </p:cNvSpPr>
            <p:nvPr/>
          </p:nvSpPr>
          <p:spPr bwMode="auto">
            <a:xfrm>
              <a:off x="2544" y="369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93592" name="Text Box 24"/>
          <p:cNvSpPr txBox="1">
            <a:spLocks noChangeArrowheads="1"/>
          </p:cNvSpPr>
          <p:nvPr/>
        </p:nvSpPr>
        <p:spPr bwMode="auto">
          <a:xfrm>
            <a:off x="3101975" y="514667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3593" name="Text Box 25"/>
          <p:cNvSpPr txBox="1">
            <a:spLocks noChangeArrowheads="1"/>
          </p:cNvSpPr>
          <p:nvPr/>
        </p:nvSpPr>
        <p:spPr bwMode="auto">
          <a:xfrm>
            <a:off x="3101975" y="613727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3594" name="Text Box 26"/>
          <p:cNvSpPr txBox="1">
            <a:spLocks noChangeArrowheads="1"/>
          </p:cNvSpPr>
          <p:nvPr/>
        </p:nvSpPr>
        <p:spPr bwMode="auto">
          <a:xfrm>
            <a:off x="3946526" y="5149851"/>
            <a:ext cx="13651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IN  AL, </a:t>
            </a:r>
            <a:r>
              <a:rPr lang="en-US" altLang="zh-CN" sz="2400" i="1">
                <a:latin typeface="Times New Roman" panose="02020603050405020304" pitchFamily="18" charset="0"/>
              </a:rPr>
              <a:t>n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493595" name="Text Box 27"/>
          <p:cNvSpPr txBox="1">
            <a:spLocks noChangeArrowheads="1"/>
          </p:cNvSpPr>
          <p:nvPr/>
        </p:nvSpPr>
        <p:spPr bwMode="auto">
          <a:xfrm>
            <a:off x="3862388" y="6137276"/>
            <a:ext cx="16673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OUT  </a:t>
            </a:r>
            <a:r>
              <a:rPr lang="en-US" altLang="zh-CN" sz="2400" i="1"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</a:rPr>
              <a:t>, AL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93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935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9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9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935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 autoUpdateAnimBg="0"/>
      <p:bldP spid="493571" grpId="0" autoUpdateAnimBg="0"/>
      <p:bldP spid="493572" grpId="0" autoUpdateAnimBg="0"/>
      <p:bldP spid="493573" grpId="0" autoUpdateAnimBg="0"/>
      <p:bldP spid="493575" grpId="0" autoUpdateAnimBg="0"/>
      <p:bldP spid="493576" grpId="0" autoUpdateAnimBg="0"/>
      <p:bldP spid="493577" grpId="0" autoUpdateAnimBg="0"/>
      <p:bldP spid="493578" grpId="0" autoUpdateAnimBg="0"/>
      <p:bldP spid="493579" grpId="0" autoUpdateAnimBg="0"/>
      <p:bldP spid="493583" grpId="0" autoUpdateAnimBg="0"/>
      <p:bldP spid="493584" grpId="0" autoUpdateAnimBg="0"/>
      <p:bldP spid="493592" grpId="0" autoUpdateAnimBg="0"/>
      <p:bldP spid="493593" grpId="0" autoUpdateAnimBg="0"/>
      <p:bldP spid="493594" grpId="0" autoUpdateAnimBg="0"/>
      <p:bldP spid="49359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15480" y="8023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III</a:t>
            </a:r>
            <a:r>
              <a:rPr lang="zh-CN" altLang="en-US" b="1" dirty="0"/>
              <a:t>   寻 址 方 式</a:t>
            </a:r>
            <a:endParaRPr lang="zh-CN" altLang="en-US" b="1" dirty="0"/>
          </a:p>
        </p:txBody>
      </p:sp>
      <p:sp>
        <p:nvSpPr>
          <p:cNvPr id="494595" name="Text Box 3"/>
          <p:cNvSpPr txBox="1">
            <a:spLocks noChangeArrowheads="1"/>
          </p:cNvSpPr>
          <p:nvPr/>
        </p:nvSpPr>
        <p:spPr bwMode="auto">
          <a:xfrm>
            <a:off x="2362200" y="1600200"/>
            <a:ext cx="335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寻址方式</a:t>
            </a:r>
            <a:r>
              <a:rPr lang="zh-CN" altLang="en-US" sz="2800">
                <a:latin typeface="Times New Roman" panose="02020603050405020304" pitchFamily="18" charset="0"/>
              </a:rPr>
              <a:t>  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4596" name="Text Box 4"/>
          <p:cNvSpPr txBox="1">
            <a:spLocks noChangeArrowheads="1"/>
          </p:cNvSpPr>
          <p:nvPr/>
        </p:nvSpPr>
        <p:spPr bwMode="auto">
          <a:xfrm>
            <a:off x="4343400" y="1600201"/>
            <a:ext cx="54864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确定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本条指令 </a:t>
            </a:r>
            <a:r>
              <a:rPr lang="zh-CN" altLang="en-US" sz="2800">
                <a:latin typeface="Times New Roman" panose="02020603050405020304" pitchFamily="18" charset="0"/>
              </a:rPr>
              <a:t>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操作数地址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下一条 </a:t>
            </a:r>
            <a:r>
              <a:rPr lang="zh-CN" altLang="en-US" sz="2800">
                <a:latin typeface="Times New Roman" panose="02020603050405020304" pitchFamily="18" charset="0"/>
              </a:rPr>
              <a:t>欲执行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指令 </a:t>
            </a:r>
            <a:r>
              <a:rPr lang="zh-CN" altLang="en-US" sz="2800">
                <a:latin typeface="Times New Roman" panose="02020603050405020304" pitchFamily="18" charset="0"/>
              </a:rPr>
              <a:t>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指令地址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4597" name="Group 5"/>
          <p:cNvGrpSpPr/>
          <p:nvPr/>
        </p:nvGrpSpPr>
        <p:grpSpPr bwMode="auto">
          <a:xfrm>
            <a:off x="5105400" y="3352800"/>
            <a:ext cx="3124200" cy="1981200"/>
            <a:chOff x="2256" y="2112"/>
            <a:chExt cx="1968" cy="1248"/>
          </a:xfrm>
        </p:grpSpPr>
        <p:sp>
          <p:nvSpPr>
            <p:cNvPr id="19465" name="Text Box 6"/>
            <p:cNvSpPr txBox="1">
              <a:spLocks noChangeArrowheads="1"/>
            </p:cNvSpPr>
            <p:nvPr/>
          </p:nvSpPr>
          <p:spPr bwMode="auto">
            <a:xfrm>
              <a:off x="2256" y="2112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指令寻址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9466" name="Text Box 7"/>
            <p:cNvSpPr txBox="1">
              <a:spLocks noChangeArrowheads="1"/>
            </p:cNvSpPr>
            <p:nvPr/>
          </p:nvSpPr>
          <p:spPr bwMode="auto">
            <a:xfrm>
              <a:off x="2256" y="3033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数据寻址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494600" name="AutoShape 8"/>
          <p:cNvSpPr/>
          <p:nvPr/>
        </p:nvSpPr>
        <p:spPr bwMode="auto">
          <a:xfrm>
            <a:off x="4876800" y="3581400"/>
            <a:ext cx="228600" cy="1600200"/>
          </a:xfrm>
          <a:prstGeom prst="lef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4601" name="Text Box 9"/>
          <p:cNvSpPr txBox="1">
            <a:spLocks noChangeArrowheads="1"/>
          </p:cNvSpPr>
          <p:nvPr/>
        </p:nvSpPr>
        <p:spPr bwMode="auto">
          <a:xfrm>
            <a:off x="3124200" y="4114801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寻址方式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4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5" grpId="0" autoUpdateAnimBg="0"/>
      <p:bldP spid="494596" grpId="0" autoUpdateAnimBg="0"/>
      <p:bldP spid="49460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055440" y="404664"/>
            <a:ext cx="2632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一、指令寻址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495620" name="Text Box 4"/>
          <p:cNvSpPr txBox="1">
            <a:spLocks noChangeArrowheads="1"/>
          </p:cNvSpPr>
          <p:nvPr/>
        </p:nvSpPr>
        <p:spPr bwMode="auto">
          <a:xfrm>
            <a:off x="1969840" y="1066652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顺序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495621" name="Group 5"/>
          <p:cNvGrpSpPr/>
          <p:nvPr/>
        </p:nvGrpSpPr>
        <p:grpSpPr bwMode="auto">
          <a:xfrm>
            <a:off x="3341439" y="1088877"/>
            <a:ext cx="3086100" cy="519112"/>
            <a:chOff x="1622" y="1223"/>
            <a:chExt cx="1944" cy="327"/>
          </a:xfrm>
        </p:grpSpPr>
        <p:sp>
          <p:nvSpPr>
            <p:cNvPr id="20535" name="Text Box 6"/>
            <p:cNvSpPr txBox="1">
              <a:spLocks noChangeArrowheads="1"/>
            </p:cNvSpPr>
            <p:nvPr/>
          </p:nvSpPr>
          <p:spPr bwMode="auto">
            <a:xfrm>
              <a:off x="1622" y="1223"/>
              <a:ext cx="19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( PC ) + 1           PC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0536" name="Line 7"/>
            <p:cNvSpPr>
              <a:spLocks noChangeShapeType="1"/>
            </p:cNvSpPr>
            <p:nvPr/>
          </p:nvSpPr>
          <p:spPr bwMode="auto">
            <a:xfrm>
              <a:off x="2640" y="1373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95624" name="Text Box 8"/>
          <p:cNvSpPr txBox="1">
            <a:spLocks noChangeArrowheads="1"/>
          </p:cNvSpPr>
          <p:nvPr/>
        </p:nvSpPr>
        <p:spPr bwMode="auto">
          <a:xfrm>
            <a:off x="1969840" y="1600052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跳跃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5625" name="Text Box 9"/>
          <p:cNvSpPr txBox="1">
            <a:spLocks noChangeArrowheads="1"/>
          </p:cNvSpPr>
          <p:nvPr/>
        </p:nvSpPr>
        <p:spPr bwMode="auto">
          <a:xfrm>
            <a:off x="3357314" y="1630214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由转移指令指出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495626" name="Group 10"/>
          <p:cNvGrpSpPr/>
          <p:nvPr/>
        </p:nvGrpSpPr>
        <p:grpSpPr bwMode="auto">
          <a:xfrm>
            <a:off x="1817440" y="2182664"/>
            <a:ext cx="8112125" cy="3594100"/>
            <a:chOff x="662" y="1912"/>
            <a:chExt cx="5110" cy="2264"/>
          </a:xfrm>
        </p:grpSpPr>
        <p:sp>
          <p:nvSpPr>
            <p:cNvPr id="20505" name="Rectangle 11"/>
            <p:cNvSpPr>
              <a:spLocks noChangeArrowheads="1"/>
            </p:cNvSpPr>
            <p:nvPr/>
          </p:nvSpPr>
          <p:spPr bwMode="auto">
            <a:xfrm>
              <a:off x="2592" y="2168"/>
              <a:ext cx="1488" cy="197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6" name="Text Box 12"/>
            <p:cNvSpPr txBox="1">
              <a:spLocks noChangeArrowheads="1"/>
            </p:cNvSpPr>
            <p:nvPr/>
          </p:nvSpPr>
          <p:spPr bwMode="auto">
            <a:xfrm>
              <a:off x="2640" y="2212"/>
              <a:ext cx="13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LDA              1000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07" name="Text Box 13"/>
            <p:cNvSpPr txBox="1">
              <a:spLocks noChangeArrowheads="1"/>
            </p:cNvSpPr>
            <p:nvPr/>
          </p:nvSpPr>
          <p:spPr bwMode="auto">
            <a:xfrm>
              <a:off x="2640" y="2403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ADD              1001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08" name="Text Box 14"/>
            <p:cNvSpPr txBox="1">
              <a:spLocks noChangeArrowheads="1"/>
            </p:cNvSpPr>
            <p:nvPr/>
          </p:nvSpPr>
          <p:spPr bwMode="auto">
            <a:xfrm>
              <a:off x="2640" y="2593"/>
              <a:ext cx="13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DEC              1200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09" name="Text Box 15"/>
            <p:cNvSpPr txBox="1">
              <a:spLocks noChangeArrowheads="1"/>
            </p:cNvSpPr>
            <p:nvPr/>
          </p:nvSpPr>
          <p:spPr bwMode="auto">
            <a:xfrm>
              <a:off x="2640" y="2783"/>
              <a:ext cx="1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JMP                    7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10" name="Text Box 16"/>
            <p:cNvSpPr txBox="1">
              <a:spLocks noChangeArrowheads="1"/>
            </p:cNvSpPr>
            <p:nvPr/>
          </p:nvSpPr>
          <p:spPr bwMode="auto">
            <a:xfrm>
              <a:off x="2640" y="2970"/>
              <a:ext cx="13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LDA              2000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11" name="Text Box 17"/>
            <p:cNvSpPr txBox="1">
              <a:spLocks noChangeArrowheads="1"/>
            </p:cNvSpPr>
            <p:nvPr/>
          </p:nvSpPr>
          <p:spPr bwMode="auto">
            <a:xfrm>
              <a:off x="2640" y="3165"/>
              <a:ext cx="1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SUB               2001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12" name="Text Box 18"/>
            <p:cNvSpPr txBox="1">
              <a:spLocks noChangeArrowheads="1"/>
            </p:cNvSpPr>
            <p:nvPr/>
          </p:nvSpPr>
          <p:spPr bwMode="auto">
            <a:xfrm>
              <a:off x="2640" y="3355"/>
              <a:ext cx="4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INC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13" name="Text Box 19"/>
            <p:cNvSpPr txBox="1">
              <a:spLocks noChangeArrowheads="1"/>
            </p:cNvSpPr>
            <p:nvPr/>
          </p:nvSpPr>
          <p:spPr bwMode="auto">
            <a:xfrm>
              <a:off x="2640" y="3546"/>
              <a:ext cx="13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STA              2500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14" name="Text Box 20"/>
            <p:cNvSpPr txBox="1">
              <a:spLocks noChangeArrowheads="1"/>
            </p:cNvSpPr>
            <p:nvPr/>
          </p:nvSpPr>
          <p:spPr bwMode="auto">
            <a:xfrm>
              <a:off x="2640" y="3737"/>
              <a:ext cx="1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LDA             1100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15" name="Text Box 21"/>
            <p:cNvSpPr txBox="1">
              <a:spLocks noChangeArrowheads="1"/>
            </p:cNvSpPr>
            <p:nvPr/>
          </p:nvSpPr>
          <p:spPr bwMode="auto">
            <a:xfrm>
              <a:off x="3166" y="3940"/>
              <a:ext cx="31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...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16" name="Text Box 22"/>
            <p:cNvSpPr txBox="1">
              <a:spLocks noChangeArrowheads="1"/>
            </p:cNvSpPr>
            <p:nvPr/>
          </p:nvSpPr>
          <p:spPr bwMode="auto">
            <a:xfrm>
              <a:off x="2198" y="221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17" name="Text Box 23"/>
            <p:cNvSpPr txBox="1">
              <a:spLocks noChangeArrowheads="1"/>
            </p:cNvSpPr>
            <p:nvPr/>
          </p:nvSpPr>
          <p:spPr bwMode="auto">
            <a:xfrm>
              <a:off x="2198" y="240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18" name="Text Box 24"/>
            <p:cNvSpPr txBox="1">
              <a:spLocks noChangeArrowheads="1"/>
            </p:cNvSpPr>
            <p:nvPr/>
          </p:nvSpPr>
          <p:spPr bwMode="auto">
            <a:xfrm>
              <a:off x="2198" y="259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2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19" name="Text Box 25"/>
            <p:cNvSpPr txBox="1">
              <a:spLocks noChangeArrowheads="1"/>
            </p:cNvSpPr>
            <p:nvPr/>
          </p:nvSpPr>
          <p:spPr bwMode="auto">
            <a:xfrm>
              <a:off x="2198" y="27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3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20" name="Text Box 26"/>
            <p:cNvSpPr txBox="1">
              <a:spLocks noChangeArrowheads="1"/>
            </p:cNvSpPr>
            <p:nvPr/>
          </p:nvSpPr>
          <p:spPr bwMode="auto">
            <a:xfrm>
              <a:off x="2198" y="297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4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21" name="Text Box 27"/>
            <p:cNvSpPr txBox="1">
              <a:spLocks noChangeArrowheads="1"/>
            </p:cNvSpPr>
            <p:nvPr/>
          </p:nvSpPr>
          <p:spPr bwMode="auto">
            <a:xfrm>
              <a:off x="2198" y="316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5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22" name="Text Box 28"/>
            <p:cNvSpPr txBox="1">
              <a:spLocks noChangeArrowheads="1"/>
            </p:cNvSpPr>
            <p:nvPr/>
          </p:nvSpPr>
          <p:spPr bwMode="auto">
            <a:xfrm>
              <a:off x="2198" y="335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6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23" name="Text Box 29"/>
            <p:cNvSpPr txBox="1">
              <a:spLocks noChangeArrowheads="1"/>
            </p:cNvSpPr>
            <p:nvPr/>
          </p:nvSpPr>
          <p:spPr bwMode="auto">
            <a:xfrm>
              <a:off x="2198" y="354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7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24" name="Text Box 30"/>
            <p:cNvSpPr txBox="1">
              <a:spLocks noChangeArrowheads="1"/>
            </p:cNvSpPr>
            <p:nvPr/>
          </p:nvSpPr>
          <p:spPr bwMode="auto">
            <a:xfrm>
              <a:off x="2198" y="373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8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25" name="Text Box 31"/>
            <p:cNvSpPr txBox="1">
              <a:spLocks noChangeArrowheads="1"/>
            </p:cNvSpPr>
            <p:nvPr/>
          </p:nvSpPr>
          <p:spPr bwMode="auto">
            <a:xfrm>
              <a:off x="2198" y="392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9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26" name="Rectangle 32"/>
            <p:cNvSpPr>
              <a:spLocks noChangeArrowheads="1"/>
            </p:cNvSpPr>
            <p:nvPr/>
          </p:nvSpPr>
          <p:spPr bwMode="auto">
            <a:xfrm>
              <a:off x="1248" y="2168"/>
              <a:ext cx="528" cy="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7" name="Text Box 33"/>
            <p:cNvSpPr txBox="1">
              <a:spLocks noChangeArrowheads="1"/>
            </p:cNvSpPr>
            <p:nvPr/>
          </p:nvSpPr>
          <p:spPr bwMode="auto">
            <a:xfrm>
              <a:off x="1344" y="2160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PC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28" name="Line 34"/>
            <p:cNvSpPr>
              <a:spLocks noChangeShapeType="1"/>
            </p:cNvSpPr>
            <p:nvPr/>
          </p:nvSpPr>
          <p:spPr bwMode="auto">
            <a:xfrm flipH="1">
              <a:off x="1776" y="227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29" name="AutoShape 35"/>
            <p:cNvSpPr>
              <a:spLocks noChangeArrowheads="1"/>
            </p:cNvSpPr>
            <p:nvPr/>
          </p:nvSpPr>
          <p:spPr bwMode="auto">
            <a:xfrm rot="9300000">
              <a:off x="1000" y="2243"/>
              <a:ext cx="192" cy="330"/>
            </a:xfrm>
            <a:prstGeom prst="curvedLeftArrow">
              <a:avLst>
                <a:gd name="adj1" fmla="val 25996"/>
                <a:gd name="adj2" fmla="val 62026"/>
                <a:gd name="adj3" fmla="val 44569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30" name="Text Box 36"/>
            <p:cNvSpPr txBox="1">
              <a:spLocks noChangeArrowheads="1"/>
            </p:cNvSpPr>
            <p:nvPr/>
          </p:nvSpPr>
          <p:spPr bwMode="auto">
            <a:xfrm>
              <a:off x="662" y="2322"/>
              <a:ext cx="2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+1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31" name="Freeform 37"/>
            <p:cNvSpPr/>
            <p:nvPr/>
          </p:nvSpPr>
          <p:spPr bwMode="auto">
            <a:xfrm>
              <a:off x="1488" y="1912"/>
              <a:ext cx="2880" cy="952"/>
            </a:xfrm>
            <a:custGeom>
              <a:avLst/>
              <a:gdLst>
                <a:gd name="T0" fmla="*/ 2592 w 2880"/>
                <a:gd name="T1" fmla="*/ 554 h 1248"/>
                <a:gd name="T2" fmla="*/ 2880 w 2880"/>
                <a:gd name="T3" fmla="*/ 554 h 1248"/>
                <a:gd name="T4" fmla="*/ 2880 w 2880"/>
                <a:gd name="T5" fmla="*/ 0 h 1248"/>
                <a:gd name="T6" fmla="*/ 0 w 2880"/>
                <a:gd name="T7" fmla="*/ 0 h 1248"/>
                <a:gd name="T8" fmla="*/ 0 w 2880"/>
                <a:gd name="T9" fmla="*/ 149 h 1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80" h="1248">
                  <a:moveTo>
                    <a:pt x="2592" y="1248"/>
                  </a:moveTo>
                  <a:lnTo>
                    <a:pt x="2880" y="1248"/>
                  </a:lnTo>
                  <a:lnTo>
                    <a:pt x="2880" y="0"/>
                  </a:ln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32" name="Text Box 38"/>
            <p:cNvSpPr txBox="1">
              <a:spLocks noChangeArrowheads="1"/>
            </p:cNvSpPr>
            <p:nvPr/>
          </p:nvSpPr>
          <p:spPr bwMode="auto">
            <a:xfrm>
              <a:off x="4368" y="1920"/>
              <a:ext cx="1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指令地址寻址方式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33" name="Text Box 39"/>
            <p:cNvSpPr txBox="1">
              <a:spLocks noChangeArrowheads="1"/>
            </p:cNvSpPr>
            <p:nvPr/>
          </p:nvSpPr>
          <p:spPr bwMode="auto">
            <a:xfrm>
              <a:off x="1910" y="1918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指令地址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34" name="Text Box 40"/>
            <p:cNvSpPr txBox="1">
              <a:spLocks noChangeArrowheads="1"/>
            </p:cNvSpPr>
            <p:nvPr/>
          </p:nvSpPr>
          <p:spPr bwMode="auto">
            <a:xfrm>
              <a:off x="2966" y="191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指令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5657" name="Group 41"/>
          <p:cNvGrpSpPr/>
          <p:nvPr/>
        </p:nvGrpSpPr>
        <p:grpSpPr bwMode="auto">
          <a:xfrm>
            <a:off x="4119314" y="2941490"/>
            <a:ext cx="4940300" cy="396875"/>
            <a:chOff x="2112" y="2390"/>
            <a:chExt cx="3112" cy="250"/>
          </a:xfrm>
        </p:grpSpPr>
        <p:sp>
          <p:nvSpPr>
            <p:cNvPr id="20503" name="Text Box 42"/>
            <p:cNvSpPr txBox="1">
              <a:spLocks noChangeArrowheads="1"/>
            </p:cNvSpPr>
            <p:nvPr/>
          </p:nvSpPr>
          <p:spPr bwMode="auto">
            <a:xfrm>
              <a:off x="4464" y="2390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顺序寻址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4" name="Rectangle 43"/>
            <p:cNvSpPr>
              <a:spLocks noChangeArrowheads="1"/>
            </p:cNvSpPr>
            <p:nvPr/>
          </p:nvSpPr>
          <p:spPr bwMode="auto">
            <a:xfrm>
              <a:off x="2112" y="2400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5660" name="Group 44"/>
          <p:cNvGrpSpPr/>
          <p:nvPr/>
        </p:nvGrpSpPr>
        <p:grpSpPr bwMode="auto">
          <a:xfrm>
            <a:off x="4119314" y="3246290"/>
            <a:ext cx="4940300" cy="396875"/>
            <a:chOff x="2112" y="2582"/>
            <a:chExt cx="3112" cy="250"/>
          </a:xfrm>
        </p:grpSpPr>
        <p:sp>
          <p:nvSpPr>
            <p:cNvPr id="20501" name="Text Box 45"/>
            <p:cNvSpPr txBox="1">
              <a:spLocks noChangeArrowheads="1"/>
            </p:cNvSpPr>
            <p:nvPr/>
          </p:nvSpPr>
          <p:spPr bwMode="auto">
            <a:xfrm>
              <a:off x="4464" y="258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顺序寻址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2" name="Rectangle 46"/>
            <p:cNvSpPr>
              <a:spLocks noChangeArrowheads="1"/>
            </p:cNvSpPr>
            <p:nvPr/>
          </p:nvSpPr>
          <p:spPr bwMode="auto">
            <a:xfrm>
              <a:off x="2112" y="2592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5663" name="Group 47"/>
          <p:cNvGrpSpPr/>
          <p:nvPr/>
        </p:nvGrpSpPr>
        <p:grpSpPr bwMode="auto">
          <a:xfrm>
            <a:off x="4119314" y="3551090"/>
            <a:ext cx="4940300" cy="396875"/>
            <a:chOff x="2112" y="2774"/>
            <a:chExt cx="3112" cy="250"/>
          </a:xfrm>
        </p:grpSpPr>
        <p:sp>
          <p:nvSpPr>
            <p:cNvPr id="20499" name="Text Box 48"/>
            <p:cNvSpPr txBox="1">
              <a:spLocks noChangeArrowheads="1"/>
            </p:cNvSpPr>
            <p:nvPr/>
          </p:nvSpPr>
          <p:spPr bwMode="auto">
            <a:xfrm>
              <a:off x="4464" y="2774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顺序寻址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0" name="Rectangle 49"/>
            <p:cNvSpPr>
              <a:spLocks noChangeArrowheads="1"/>
            </p:cNvSpPr>
            <p:nvPr/>
          </p:nvSpPr>
          <p:spPr bwMode="auto">
            <a:xfrm>
              <a:off x="2112" y="2784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5666" name="Group 50"/>
          <p:cNvGrpSpPr/>
          <p:nvPr/>
        </p:nvGrpSpPr>
        <p:grpSpPr bwMode="auto">
          <a:xfrm>
            <a:off x="4119314" y="4770290"/>
            <a:ext cx="4940300" cy="396875"/>
            <a:chOff x="2112" y="3542"/>
            <a:chExt cx="3112" cy="250"/>
          </a:xfrm>
        </p:grpSpPr>
        <p:sp>
          <p:nvSpPr>
            <p:cNvPr id="20497" name="Text Box 51"/>
            <p:cNvSpPr txBox="1">
              <a:spLocks noChangeArrowheads="1"/>
            </p:cNvSpPr>
            <p:nvPr/>
          </p:nvSpPr>
          <p:spPr bwMode="auto">
            <a:xfrm>
              <a:off x="4464" y="354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跳跃寻址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8" name="Rectangle 52"/>
            <p:cNvSpPr>
              <a:spLocks noChangeArrowheads="1"/>
            </p:cNvSpPr>
            <p:nvPr/>
          </p:nvSpPr>
          <p:spPr bwMode="auto">
            <a:xfrm>
              <a:off x="2112" y="3552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5669" name="Group 53"/>
          <p:cNvGrpSpPr/>
          <p:nvPr/>
        </p:nvGrpSpPr>
        <p:grpSpPr bwMode="auto">
          <a:xfrm>
            <a:off x="4119314" y="5075090"/>
            <a:ext cx="4940300" cy="396875"/>
            <a:chOff x="2112" y="3734"/>
            <a:chExt cx="3112" cy="250"/>
          </a:xfrm>
        </p:grpSpPr>
        <p:sp>
          <p:nvSpPr>
            <p:cNvPr id="20495" name="Text Box 54"/>
            <p:cNvSpPr txBox="1">
              <a:spLocks noChangeArrowheads="1"/>
            </p:cNvSpPr>
            <p:nvPr/>
          </p:nvSpPr>
          <p:spPr bwMode="auto">
            <a:xfrm>
              <a:off x="4464" y="3734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顺序寻址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6" name="Rectangle 55"/>
            <p:cNvSpPr>
              <a:spLocks noChangeArrowheads="1"/>
            </p:cNvSpPr>
            <p:nvPr/>
          </p:nvSpPr>
          <p:spPr bwMode="auto">
            <a:xfrm>
              <a:off x="2112" y="3744"/>
              <a:ext cx="33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9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0" grpId="0" autoUpdateAnimBg="0"/>
      <p:bldP spid="495624" grpId="0" autoUpdateAnimBg="0"/>
      <p:bldP spid="49562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446212" y="209550"/>
            <a:ext cx="30511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二、数据寻址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96643" name="Text Box 3"/>
          <p:cNvSpPr txBox="1">
            <a:spLocks noChangeArrowheads="1"/>
          </p:cNvSpPr>
          <p:nvPr/>
        </p:nvSpPr>
        <p:spPr bwMode="auto">
          <a:xfrm>
            <a:off x="2974975" y="18288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形式地址 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44" name="Text Box 4"/>
          <p:cNvSpPr txBox="1">
            <a:spLocks noChangeArrowheads="1"/>
          </p:cNvSpPr>
          <p:nvPr/>
        </p:nvSpPr>
        <p:spPr bwMode="auto">
          <a:xfrm>
            <a:off x="5062538" y="1828800"/>
            <a:ext cx="2405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指令字中的地址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6645" name="Text Box 5"/>
          <p:cNvSpPr txBox="1">
            <a:spLocks noChangeArrowheads="1"/>
          </p:cNvSpPr>
          <p:nvPr/>
        </p:nvSpPr>
        <p:spPr bwMode="auto">
          <a:xfrm>
            <a:off x="2974975" y="23622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有效地址 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46" name="Text Box 6"/>
          <p:cNvSpPr txBox="1">
            <a:spLocks noChangeArrowheads="1"/>
          </p:cNvSpPr>
          <p:nvPr/>
        </p:nvSpPr>
        <p:spPr bwMode="auto">
          <a:xfrm>
            <a:off x="5062538" y="2362200"/>
            <a:ext cx="271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操作数的真实地址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6647" name="Text Box 7"/>
          <p:cNvSpPr txBox="1">
            <a:spLocks noChangeArrowheads="1"/>
          </p:cNvSpPr>
          <p:nvPr/>
        </p:nvSpPr>
        <p:spPr bwMode="auto">
          <a:xfrm>
            <a:off x="2974976" y="2895600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约定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48" name="Text Box 8"/>
          <p:cNvSpPr txBox="1">
            <a:spLocks noChangeArrowheads="1"/>
          </p:cNvSpPr>
          <p:nvPr/>
        </p:nvSpPr>
        <p:spPr bwMode="auto">
          <a:xfrm>
            <a:off x="4022726" y="2895600"/>
            <a:ext cx="4511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指令字长 = 存储字长 = 机器字长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49" name="Text Box 9"/>
          <p:cNvSpPr txBox="1">
            <a:spLocks noChangeArrowheads="1"/>
          </p:cNvSpPr>
          <p:nvPr/>
        </p:nvSpPr>
        <p:spPr bwMode="auto">
          <a:xfrm>
            <a:off x="2193925" y="3352800"/>
            <a:ext cx="2324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1. 立即寻址 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496650" name="Text Box 10"/>
          <p:cNvSpPr txBox="1">
            <a:spLocks noChangeArrowheads="1"/>
          </p:cNvSpPr>
          <p:nvPr/>
        </p:nvSpPr>
        <p:spPr bwMode="auto">
          <a:xfrm>
            <a:off x="2974975" y="586740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指令执行阶段不访存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51" name="Text Box 11"/>
          <p:cNvSpPr txBox="1">
            <a:spLocks noChangeArrowheads="1"/>
          </p:cNvSpPr>
          <p:nvPr/>
        </p:nvSpPr>
        <p:spPr bwMode="auto">
          <a:xfrm>
            <a:off x="2974976" y="6313488"/>
            <a:ext cx="434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的位数限制了立即数的范围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6652" name="Group 12"/>
          <p:cNvGrpSpPr/>
          <p:nvPr/>
        </p:nvGrpSpPr>
        <p:grpSpPr bwMode="auto">
          <a:xfrm>
            <a:off x="2971800" y="1143000"/>
            <a:ext cx="4800600" cy="533400"/>
            <a:chOff x="912" y="1056"/>
            <a:chExt cx="3024" cy="336"/>
          </a:xfrm>
        </p:grpSpPr>
        <p:sp>
          <p:nvSpPr>
            <p:cNvPr id="21533" name="Text Box 13"/>
            <p:cNvSpPr txBox="1">
              <a:spLocks noChangeArrowheads="1"/>
            </p:cNvSpPr>
            <p:nvPr/>
          </p:nvSpPr>
          <p:spPr bwMode="auto">
            <a:xfrm>
              <a:off x="2966" y="1113"/>
              <a:ext cx="9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形式地址 </a:t>
              </a:r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1534" name="Rectangle 14"/>
            <p:cNvSpPr>
              <a:spLocks noChangeArrowheads="1"/>
            </p:cNvSpPr>
            <p:nvPr/>
          </p:nvSpPr>
          <p:spPr bwMode="auto">
            <a:xfrm>
              <a:off x="2928" y="1056"/>
              <a:ext cx="100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5" name="Rectangle 15"/>
            <p:cNvSpPr>
              <a:spLocks noChangeArrowheads="1"/>
            </p:cNvSpPr>
            <p:nvPr/>
          </p:nvSpPr>
          <p:spPr bwMode="auto">
            <a:xfrm>
              <a:off x="1920" y="1056"/>
              <a:ext cx="100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1536" name="Rectangle 16"/>
            <p:cNvSpPr>
              <a:spLocks noChangeArrowheads="1"/>
            </p:cNvSpPr>
            <p:nvPr/>
          </p:nvSpPr>
          <p:spPr bwMode="auto">
            <a:xfrm>
              <a:off x="912" y="1056"/>
              <a:ext cx="100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37" name="Text Box 17"/>
            <p:cNvSpPr txBox="1">
              <a:spLocks noChangeArrowheads="1"/>
            </p:cNvSpPr>
            <p:nvPr/>
          </p:nvSpPr>
          <p:spPr bwMode="auto">
            <a:xfrm>
              <a:off x="1094" y="1102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操作码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1538" name="Text Box 18"/>
            <p:cNvSpPr txBox="1">
              <a:spLocks noChangeArrowheads="1"/>
            </p:cNvSpPr>
            <p:nvPr/>
          </p:nvSpPr>
          <p:spPr bwMode="auto">
            <a:xfrm>
              <a:off x="2054" y="110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寻址特征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6659" name="Group 19"/>
          <p:cNvGrpSpPr/>
          <p:nvPr/>
        </p:nvGrpSpPr>
        <p:grpSpPr bwMode="auto">
          <a:xfrm>
            <a:off x="4264025" y="4403725"/>
            <a:ext cx="2438400" cy="1447800"/>
            <a:chOff x="1920" y="2400"/>
            <a:chExt cx="1536" cy="912"/>
          </a:xfrm>
        </p:grpSpPr>
        <p:grpSp>
          <p:nvGrpSpPr>
            <p:cNvPr id="21522" name="Group 20"/>
            <p:cNvGrpSpPr/>
            <p:nvPr/>
          </p:nvGrpSpPr>
          <p:grpSpPr bwMode="auto">
            <a:xfrm>
              <a:off x="1920" y="2736"/>
              <a:ext cx="1440" cy="261"/>
              <a:chOff x="1920" y="2710"/>
              <a:chExt cx="1440" cy="261"/>
            </a:xfrm>
          </p:grpSpPr>
          <p:sp>
            <p:nvSpPr>
              <p:cNvPr id="21527" name="Text Box 21"/>
              <p:cNvSpPr txBox="1">
                <a:spLocks noChangeArrowheads="1"/>
              </p:cNvSpPr>
              <p:nvPr/>
            </p:nvSpPr>
            <p:spPr bwMode="auto">
              <a:xfrm>
                <a:off x="2006" y="2719"/>
                <a:ext cx="32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OP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8" name="Rectangle 22"/>
              <p:cNvSpPr>
                <a:spLocks noChangeArrowheads="1"/>
              </p:cNvSpPr>
              <p:nvPr/>
            </p:nvSpPr>
            <p:spPr bwMode="auto">
              <a:xfrm>
                <a:off x="1920" y="2710"/>
                <a:ext cx="480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9" name="Text Box 23"/>
              <p:cNvSpPr txBox="1">
                <a:spLocks noChangeArrowheads="1"/>
              </p:cNvSpPr>
              <p:nvPr/>
            </p:nvSpPr>
            <p:spPr bwMode="auto">
              <a:xfrm>
                <a:off x="2486" y="2719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#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0" name="Rectangle 24"/>
              <p:cNvSpPr>
                <a:spLocks noChangeArrowheads="1"/>
              </p:cNvSpPr>
              <p:nvPr/>
            </p:nvSpPr>
            <p:spPr bwMode="auto">
              <a:xfrm>
                <a:off x="2400" y="2710"/>
                <a:ext cx="480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31" name="Text Box 25"/>
              <p:cNvSpPr txBox="1">
                <a:spLocks noChangeArrowheads="1"/>
              </p:cNvSpPr>
              <p:nvPr/>
            </p:nvSpPr>
            <p:spPr bwMode="auto">
              <a:xfrm>
                <a:off x="2966" y="2719"/>
                <a:ext cx="27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 A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2" name="Rectangle 26"/>
              <p:cNvSpPr>
                <a:spLocks noChangeArrowheads="1"/>
              </p:cNvSpPr>
              <p:nvPr/>
            </p:nvSpPr>
            <p:spPr bwMode="auto">
              <a:xfrm>
                <a:off x="2880" y="2710"/>
                <a:ext cx="480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1523" name="AutoShape 27"/>
            <p:cNvSpPr/>
            <p:nvPr/>
          </p:nvSpPr>
          <p:spPr bwMode="auto">
            <a:xfrm rot="5400000">
              <a:off x="2592" y="2448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4" name="AutoShape 28"/>
            <p:cNvSpPr/>
            <p:nvPr/>
          </p:nvSpPr>
          <p:spPr bwMode="auto">
            <a:xfrm rot="-5400000">
              <a:off x="3072" y="2784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5" name="Text Box 29"/>
            <p:cNvSpPr txBox="1">
              <a:spLocks noChangeArrowheads="1"/>
            </p:cNvSpPr>
            <p:nvPr/>
          </p:nvSpPr>
          <p:spPr bwMode="auto">
            <a:xfrm>
              <a:off x="2160" y="2400"/>
              <a:ext cx="10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立即寻址特征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1526" name="Text Box 30"/>
            <p:cNvSpPr txBox="1">
              <a:spLocks noChangeArrowheads="1"/>
            </p:cNvSpPr>
            <p:nvPr/>
          </p:nvSpPr>
          <p:spPr bwMode="auto">
            <a:xfrm>
              <a:off x="2857" y="3062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立即数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6671" name="Text Box 31"/>
          <p:cNvSpPr txBox="1">
            <a:spLocks noChangeArrowheads="1"/>
          </p:cNvSpPr>
          <p:nvPr/>
        </p:nvSpPr>
        <p:spPr bwMode="auto">
          <a:xfrm>
            <a:off x="6778626" y="5470526"/>
            <a:ext cx="190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 可正可负  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补码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72" name="Text Box 32"/>
          <p:cNvSpPr txBox="1">
            <a:spLocks noChangeArrowheads="1"/>
          </p:cNvSpPr>
          <p:nvPr/>
        </p:nvSpPr>
        <p:spPr bwMode="auto">
          <a:xfrm>
            <a:off x="2974975" y="3962400"/>
            <a:ext cx="331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形式地址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就是操作数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49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9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9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3" grpId="0" autoUpdateAnimBg="0"/>
      <p:bldP spid="496644" grpId="0" autoUpdateAnimBg="0"/>
      <p:bldP spid="496645" grpId="0" autoUpdateAnimBg="0"/>
      <p:bldP spid="496646" grpId="0" autoUpdateAnimBg="0"/>
      <p:bldP spid="496647" grpId="0" autoUpdateAnimBg="0"/>
      <p:bldP spid="496648" grpId="0" autoUpdateAnimBg="0"/>
      <p:bldP spid="496649" grpId="0" autoUpdateAnimBg="0"/>
      <p:bldP spid="496650" grpId="0" autoUpdateAnimBg="0"/>
      <p:bldP spid="496651" grpId="0" autoUpdateAnimBg="0"/>
      <p:bldP spid="496671" grpId="0" autoUpdateAnimBg="0"/>
      <p:bldP spid="49667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041525" y="273050"/>
            <a:ext cx="2476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2. 直接寻址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497667" name="Text Box 3"/>
          <p:cNvSpPr txBox="1">
            <a:spLocks noChangeArrowheads="1"/>
          </p:cNvSpPr>
          <p:nvPr/>
        </p:nvSpPr>
        <p:spPr bwMode="auto">
          <a:xfrm>
            <a:off x="3184526" y="1057275"/>
            <a:ext cx="12655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EA = A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7668" name="Group 4"/>
          <p:cNvGrpSpPr/>
          <p:nvPr/>
        </p:nvGrpSpPr>
        <p:grpSpPr bwMode="auto">
          <a:xfrm>
            <a:off x="6781800" y="1901826"/>
            <a:ext cx="1219200" cy="1831975"/>
            <a:chOff x="3312" y="1198"/>
            <a:chExt cx="768" cy="1154"/>
          </a:xfrm>
        </p:grpSpPr>
        <p:sp>
          <p:nvSpPr>
            <p:cNvPr id="22551" name="Rectangle 5"/>
            <p:cNvSpPr>
              <a:spLocks noChangeArrowheads="1"/>
            </p:cNvSpPr>
            <p:nvPr/>
          </p:nvSpPr>
          <p:spPr bwMode="auto">
            <a:xfrm>
              <a:off x="3312" y="1488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52" name="Rectangle 6"/>
            <p:cNvSpPr>
              <a:spLocks noChangeArrowheads="1"/>
            </p:cNvSpPr>
            <p:nvPr/>
          </p:nvSpPr>
          <p:spPr bwMode="auto">
            <a:xfrm>
              <a:off x="3312" y="177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操作数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2553" name="Rectangle 7"/>
            <p:cNvSpPr>
              <a:spLocks noChangeArrowheads="1"/>
            </p:cNvSpPr>
            <p:nvPr/>
          </p:nvSpPr>
          <p:spPr bwMode="auto">
            <a:xfrm>
              <a:off x="3312" y="206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54" name="Text Box 8"/>
            <p:cNvSpPr txBox="1">
              <a:spLocks noChangeArrowheads="1"/>
            </p:cNvSpPr>
            <p:nvPr/>
          </p:nvSpPr>
          <p:spPr bwMode="auto">
            <a:xfrm>
              <a:off x="3456" y="119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7673" name="AutoShape 9"/>
          <p:cNvSpPr/>
          <p:nvPr/>
        </p:nvSpPr>
        <p:spPr bwMode="auto">
          <a:xfrm rot="5400000">
            <a:off x="4495800" y="190182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7674" name="Text Box 10"/>
          <p:cNvSpPr txBox="1">
            <a:spLocks noChangeArrowheads="1"/>
          </p:cNvSpPr>
          <p:nvPr/>
        </p:nvSpPr>
        <p:spPr bwMode="auto">
          <a:xfrm>
            <a:off x="3962400" y="1822451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497675" name="Group 11"/>
          <p:cNvGrpSpPr/>
          <p:nvPr/>
        </p:nvGrpSpPr>
        <p:grpSpPr bwMode="auto">
          <a:xfrm>
            <a:off x="3429000" y="2359025"/>
            <a:ext cx="2286000" cy="381000"/>
            <a:chOff x="1200" y="1486"/>
            <a:chExt cx="1440" cy="240"/>
          </a:xfrm>
        </p:grpSpPr>
        <p:sp>
          <p:nvSpPr>
            <p:cNvPr id="22548" name="Rectangle 12"/>
            <p:cNvSpPr>
              <a:spLocks noChangeArrowheads="1"/>
            </p:cNvSpPr>
            <p:nvPr/>
          </p:nvSpPr>
          <p:spPr bwMode="auto">
            <a:xfrm>
              <a:off x="1200" y="148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LDA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2549" name="Rectangle 13"/>
            <p:cNvSpPr>
              <a:spLocks noChangeArrowheads="1"/>
            </p:cNvSpPr>
            <p:nvPr/>
          </p:nvSpPr>
          <p:spPr bwMode="auto">
            <a:xfrm>
              <a:off x="1680" y="1486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50" name="Rectangle 14"/>
            <p:cNvSpPr>
              <a:spLocks noChangeArrowheads="1"/>
            </p:cNvSpPr>
            <p:nvPr/>
          </p:nvSpPr>
          <p:spPr bwMode="auto">
            <a:xfrm>
              <a:off x="2160" y="148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7679" name="AutoShape 15"/>
          <p:cNvSpPr/>
          <p:nvPr/>
        </p:nvSpPr>
        <p:spPr bwMode="auto">
          <a:xfrm rot="16200000">
            <a:off x="5257800" y="243522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7680" name="Freeform 16"/>
          <p:cNvSpPr/>
          <p:nvPr/>
        </p:nvSpPr>
        <p:spPr bwMode="auto">
          <a:xfrm>
            <a:off x="5334000" y="2892425"/>
            <a:ext cx="990600" cy="152400"/>
          </a:xfrm>
          <a:custGeom>
            <a:avLst/>
            <a:gdLst>
              <a:gd name="T0" fmla="*/ 0 w 624"/>
              <a:gd name="T1" fmla="*/ 0 h 96"/>
              <a:gd name="T2" fmla="*/ 0 w 624"/>
              <a:gd name="T3" fmla="*/ 2147483646 h 96"/>
              <a:gd name="T4" fmla="*/ 2147483646 w 624"/>
              <a:gd name="T5" fmla="*/ 2147483646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7681" name="Text Box 17"/>
          <p:cNvSpPr txBox="1">
            <a:spLocks noChangeArrowheads="1"/>
          </p:cNvSpPr>
          <p:nvPr/>
        </p:nvSpPr>
        <p:spPr bwMode="auto">
          <a:xfrm>
            <a:off x="6308725" y="2833689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7682" name="AutoShape 18"/>
          <p:cNvSpPr/>
          <p:nvPr/>
        </p:nvSpPr>
        <p:spPr bwMode="auto">
          <a:xfrm rot="5400000">
            <a:off x="7315200" y="2130425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7683" name="Rectangle 19"/>
          <p:cNvSpPr>
            <a:spLocks noChangeArrowheads="1"/>
          </p:cNvSpPr>
          <p:nvPr/>
        </p:nvSpPr>
        <p:spPr bwMode="auto">
          <a:xfrm>
            <a:off x="8458200" y="2816225"/>
            <a:ext cx="762000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Times New Roman" panose="02020603050405020304" pitchFamily="18" charset="0"/>
              </a:rPr>
              <a:t>ACC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7684" name="Freeform 20"/>
          <p:cNvSpPr/>
          <p:nvPr/>
        </p:nvSpPr>
        <p:spPr bwMode="auto">
          <a:xfrm>
            <a:off x="7391400" y="2511425"/>
            <a:ext cx="1447800" cy="304800"/>
          </a:xfrm>
          <a:custGeom>
            <a:avLst/>
            <a:gdLst>
              <a:gd name="T0" fmla="*/ 0 w 960"/>
              <a:gd name="T1" fmla="*/ 2147483646 h 192"/>
              <a:gd name="T2" fmla="*/ 0 w 960"/>
              <a:gd name="T3" fmla="*/ 0 h 192"/>
              <a:gd name="T4" fmla="*/ 2147483646 w 960"/>
              <a:gd name="T5" fmla="*/ 0 h 192"/>
              <a:gd name="T6" fmla="*/ 2147483646 w 960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60" h="192">
                <a:moveTo>
                  <a:pt x="0" y="96"/>
                </a:moveTo>
                <a:lnTo>
                  <a:pt x="0" y="0"/>
                </a:lnTo>
                <a:lnTo>
                  <a:pt x="960" y="0"/>
                </a:lnTo>
                <a:lnTo>
                  <a:pt x="960" y="192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7685" name="Text Box 21"/>
          <p:cNvSpPr txBox="1">
            <a:spLocks noChangeArrowheads="1"/>
          </p:cNvSpPr>
          <p:nvPr/>
        </p:nvSpPr>
        <p:spPr bwMode="auto">
          <a:xfrm>
            <a:off x="2879725" y="3900488"/>
            <a:ext cx="4325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执行阶段访问一次存储器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7686" name="Text Box 22"/>
          <p:cNvSpPr txBox="1">
            <a:spLocks noChangeArrowheads="1"/>
          </p:cNvSpPr>
          <p:nvPr/>
        </p:nvSpPr>
        <p:spPr bwMode="auto">
          <a:xfrm>
            <a:off x="2879725" y="4776788"/>
            <a:ext cx="6815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的位数决定了该指令操作数的寻址范围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7687" name="Text Box 23"/>
          <p:cNvSpPr txBox="1">
            <a:spLocks noChangeArrowheads="1"/>
          </p:cNvSpPr>
          <p:nvPr/>
        </p:nvSpPr>
        <p:spPr bwMode="auto">
          <a:xfrm>
            <a:off x="2879725" y="5653088"/>
            <a:ext cx="6369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操作数的地址不易修改（必须修改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A）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7688" name="Text Box 24"/>
          <p:cNvSpPr txBox="1">
            <a:spLocks noChangeArrowheads="1"/>
          </p:cNvSpPr>
          <p:nvPr/>
        </p:nvSpPr>
        <p:spPr bwMode="auto">
          <a:xfrm>
            <a:off x="4876800" y="106680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有效地址由形式地址直接给出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9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9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49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49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49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9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9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9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9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7" grpId="0" autoUpdateAnimBg="0"/>
      <p:bldP spid="497674" grpId="0" autoUpdateAnimBg="0"/>
      <p:bldP spid="497681" grpId="0" autoUpdateAnimBg="0"/>
      <p:bldP spid="497683" grpId="0" animBg="1" autoUpdateAnimBg="0"/>
      <p:bldP spid="497685" grpId="0" autoUpdateAnimBg="0"/>
      <p:bldP spid="497686" grpId="0" autoUpdateAnimBg="0"/>
      <p:bldP spid="497687" grpId="0" autoUpdateAnimBg="0"/>
      <p:bldP spid="49768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981200" y="304800"/>
            <a:ext cx="2476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3. 隐含寻址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498691" name="Text Box 3"/>
          <p:cNvSpPr txBox="1">
            <a:spLocks noChangeArrowheads="1"/>
          </p:cNvSpPr>
          <p:nvPr/>
        </p:nvSpPr>
        <p:spPr bwMode="auto">
          <a:xfrm>
            <a:off x="2438400" y="914401"/>
            <a:ext cx="4451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操作数地址隐含在操作码中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8692" name="Group 4"/>
          <p:cNvGrpSpPr/>
          <p:nvPr/>
        </p:nvGrpSpPr>
        <p:grpSpPr bwMode="auto">
          <a:xfrm>
            <a:off x="2895600" y="2076451"/>
            <a:ext cx="2286000" cy="339725"/>
            <a:chOff x="432" y="1356"/>
            <a:chExt cx="1440" cy="214"/>
          </a:xfrm>
        </p:grpSpPr>
        <p:sp>
          <p:nvSpPr>
            <p:cNvPr id="23590" name="Rectangle 5"/>
            <p:cNvSpPr>
              <a:spLocks noChangeArrowheads="1"/>
            </p:cNvSpPr>
            <p:nvPr/>
          </p:nvSpPr>
          <p:spPr bwMode="auto">
            <a:xfrm>
              <a:off x="432" y="1356"/>
              <a:ext cx="480" cy="21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ADD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3591" name="Rectangle 6"/>
            <p:cNvSpPr>
              <a:spLocks noChangeArrowheads="1"/>
            </p:cNvSpPr>
            <p:nvPr/>
          </p:nvSpPr>
          <p:spPr bwMode="auto">
            <a:xfrm>
              <a:off x="912" y="1356"/>
              <a:ext cx="480" cy="214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2" name="Rectangle 7"/>
            <p:cNvSpPr>
              <a:spLocks noChangeArrowheads="1"/>
            </p:cNvSpPr>
            <p:nvPr/>
          </p:nvSpPr>
          <p:spPr bwMode="auto">
            <a:xfrm>
              <a:off x="1392" y="1356"/>
              <a:ext cx="480" cy="21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8696" name="Group 8"/>
          <p:cNvGrpSpPr/>
          <p:nvPr/>
        </p:nvGrpSpPr>
        <p:grpSpPr bwMode="auto">
          <a:xfrm>
            <a:off x="6162676" y="1655764"/>
            <a:ext cx="1304925" cy="1628775"/>
            <a:chOff x="2490" y="1100"/>
            <a:chExt cx="822" cy="1026"/>
          </a:xfrm>
        </p:grpSpPr>
        <p:sp>
          <p:nvSpPr>
            <p:cNvPr id="23586" name="Rectangle 9"/>
            <p:cNvSpPr>
              <a:spLocks noChangeArrowheads="1"/>
            </p:cNvSpPr>
            <p:nvPr/>
          </p:nvSpPr>
          <p:spPr bwMode="auto">
            <a:xfrm>
              <a:off x="2544" y="1358"/>
              <a:ext cx="768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7" name="Rectangle 10"/>
            <p:cNvSpPr>
              <a:spLocks noChangeArrowheads="1"/>
            </p:cNvSpPr>
            <p:nvPr/>
          </p:nvSpPr>
          <p:spPr bwMode="auto">
            <a:xfrm>
              <a:off x="2544" y="1614"/>
              <a:ext cx="768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操作数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3588" name="Rectangle 11"/>
            <p:cNvSpPr>
              <a:spLocks noChangeArrowheads="1"/>
            </p:cNvSpPr>
            <p:nvPr/>
          </p:nvSpPr>
          <p:spPr bwMode="auto">
            <a:xfrm>
              <a:off x="2544" y="1870"/>
              <a:ext cx="768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9" name="Text Box 12"/>
            <p:cNvSpPr txBox="1">
              <a:spLocks noChangeArrowheads="1"/>
            </p:cNvSpPr>
            <p:nvPr/>
          </p:nvSpPr>
          <p:spPr bwMode="auto">
            <a:xfrm>
              <a:off x="2490" y="1100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8701" name="AutoShape 13"/>
          <p:cNvSpPr/>
          <p:nvPr/>
        </p:nvSpPr>
        <p:spPr bwMode="auto">
          <a:xfrm rot="5400000">
            <a:off x="3971132" y="1627982"/>
            <a:ext cx="134937" cy="762000"/>
          </a:xfrm>
          <a:prstGeom prst="leftBrace">
            <a:avLst>
              <a:gd name="adj1" fmla="val 47059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8702" name="Text Box 14"/>
          <p:cNvSpPr txBox="1">
            <a:spLocks noChangeArrowheads="1"/>
          </p:cNvSpPr>
          <p:nvPr/>
        </p:nvSpPr>
        <p:spPr bwMode="auto">
          <a:xfrm>
            <a:off x="3429000" y="1600201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98703" name="AutoShape 15"/>
          <p:cNvSpPr/>
          <p:nvPr/>
        </p:nvSpPr>
        <p:spPr bwMode="auto">
          <a:xfrm rot="16200000">
            <a:off x="4733131" y="2102644"/>
            <a:ext cx="134938" cy="762000"/>
          </a:xfrm>
          <a:prstGeom prst="leftBrace">
            <a:avLst>
              <a:gd name="adj1" fmla="val 47059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8704" name="Freeform 16"/>
          <p:cNvSpPr/>
          <p:nvPr/>
        </p:nvSpPr>
        <p:spPr bwMode="auto">
          <a:xfrm>
            <a:off x="4800600" y="2551114"/>
            <a:ext cx="990600" cy="134937"/>
          </a:xfrm>
          <a:custGeom>
            <a:avLst/>
            <a:gdLst>
              <a:gd name="T0" fmla="*/ 0 w 624"/>
              <a:gd name="T1" fmla="*/ 0 h 96"/>
              <a:gd name="T2" fmla="*/ 0 w 624"/>
              <a:gd name="T3" fmla="*/ 2147483646 h 96"/>
              <a:gd name="T4" fmla="*/ 2147483646 w 624"/>
              <a:gd name="T5" fmla="*/ 2147483646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8705" name="Text Box 17"/>
          <p:cNvSpPr txBox="1">
            <a:spLocks noChangeArrowheads="1"/>
          </p:cNvSpPr>
          <p:nvPr/>
        </p:nvSpPr>
        <p:spPr bwMode="auto">
          <a:xfrm>
            <a:off x="5775325" y="2500314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8706" name="AutoShape 18"/>
          <p:cNvSpPr/>
          <p:nvPr/>
        </p:nvSpPr>
        <p:spPr bwMode="auto">
          <a:xfrm rot="5400000">
            <a:off x="6790531" y="1794669"/>
            <a:ext cx="134938" cy="1219200"/>
          </a:xfrm>
          <a:prstGeom prst="leftBrace">
            <a:avLst>
              <a:gd name="adj1" fmla="val 75294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8707" name="Rectangle 19"/>
          <p:cNvSpPr>
            <a:spLocks noChangeArrowheads="1"/>
          </p:cNvSpPr>
          <p:nvPr/>
        </p:nvSpPr>
        <p:spPr bwMode="auto">
          <a:xfrm>
            <a:off x="8153400" y="2195514"/>
            <a:ext cx="685800" cy="33813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Times New Roman" panose="02020603050405020304" pitchFamily="18" charset="0"/>
              </a:rPr>
              <a:t>ACC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8708" name="Rectangle 20"/>
          <p:cNvSpPr>
            <a:spLocks noChangeArrowheads="1"/>
          </p:cNvSpPr>
          <p:nvPr/>
        </p:nvSpPr>
        <p:spPr bwMode="auto">
          <a:xfrm>
            <a:off x="7924800" y="4097339"/>
            <a:ext cx="685800" cy="3397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8000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暂存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498709" name="Group 21"/>
          <p:cNvGrpSpPr/>
          <p:nvPr/>
        </p:nvGrpSpPr>
        <p:grpSpPr bwMode="auto">
          <a:xfrm>
            <a:off x="7696200" y="3352801"/>
            <a:ext cx="1066800" cy="512763"/>
            <a:chOff x="3888" y="2112"/>
            <a:chExt cx="672" cy="323"/>
          </a:xfrm>
        </p:grpSpPr>
        <p:sp>
          <p:nvSpPr>
            <p:cNvPr id="23584" name="Freeform 22"/>
            <p:cNvSpPr/>
            <p:nvPr/>
          </p:nvSpPr>
          <p:spPr bwMode="auto">
            <a:xfrm>
              <a:off x="3888" y="2112"/>
              <a:ext cx="672" cy="300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90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236 h 338"/>
                <a:gd name="T12" fmla="*/ 192 w 672"/>
                <a:gd name="T13" fmla="*/ 234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85" name="Text Box 23"/>
            <p:cNvSpPr txBox="1">
              <a:spLocks noChangeArrowheads="1"/>
            </p:cNvSpPr>
            <p:nvPr/>
          </p:nvSpPr>
          <p:spPr bwMode="auto">
            <a:xfrm>
              <a:off x="4017" y="2185"/>
              <a:ext cx="4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ALU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8712" name="Line 24"/>
          <p:cNvSpPr>
            <a:spLocks noChangeShapeType="1"/>
          </p:cNvSpPr>
          <p:nvPr/>
        </p:nvSpPr>
        <p:spPr bwMode="auto">
          <a:xfrm>
            <a:off x="8229600" y="3821113"/>
            <a:ext cx="0" cy="271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8713" name="Freeform 25"/>
          <p:cNvSpPr/>
          <p:nvPr/>
        </p:nvSpPr>
        <p:spPr bwMode="auto">
          <a:xfrm>
            <a:off x="8534400" y="2533650"/>
            <a:ext cx="1588" cy="793750"/>
          </a:xfrm>
          <a:custGeom>
            <a:avLst/>
            <a:gdLst>
              <a:gd name="T0" fmla="*/ 0 w 1"/>
              <a:gd name="T1" fmla="*/ 0 h 500"/>
              <a:gd name="T2" fmla="*/ 2147483646 w 1"/>
              <a:gd name="T3" fmla="*/ 2147483646 h 5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500">
                <a:moveTo>
                  <a:pt x="0" y="0"/>
                </a:moveTo>
                <a:lnTo>
                  <a:pt x="1" y="50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8714" name="Text Box 26"/>
          <p:cNvSpPr txBox="1">
            <a:spLocks noChangeArrowheads="1"/>
          </p:cNvSpPr>
          <p:nvPr/>
        </p:nvSpPr>
        <p:spPr bwMode="auto">
          <a:xfrm>
            <a:off x="3336926" y="2911476"/>
            <a:ext cx="2530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另一个操作数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隐含在 </a:t>
            </a:r>
            <a:r>
              <a:rPr lang="en-US" altLang="zh-CN" sz="2000">
                <a:latin typeface="Times New Roman" panose="02020603050405020304" pitchFamily="18" charset="0"/>
              </a:rPr>
              <a:t>ACC </a:t>
            </a:r>
            <a:r>
              <a:rPr lang="zh-CN" altLang="en-US" sz="2000">
                <a:latin typeface="Times New Roman" panose="02020603050405020304" pitchFamily="18" charset="0"/>
              </a:rPr>
              <a:t>中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98715" name="Text Box 27"/>
          <p:cNvSpPr txBox="1">
            <a:spLocks noChangeArrowheads="1"/>
          </p:cNvSpPr>
          <p:nvPr/>
        </p:nvSpPr>
        <p:spPr bwMode="auto">
          <a:xfrm>
            <a:off x="2405064" y="4243388"/>
            <a:ext cx="1176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如 8086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8716" name="Text Box 28"/>
          <p:cNvSpPr txBox="1">
            <a:spLocks noChangeArrowheads="1"/>
          </p:cNvSpPr>
          <p:nvPr/>
        </p:nvSpPr>
        <p:spPr bwMode="auto">
          <a:xfrm>
            <a:off x="2759075" y="4722814"/>
            <a:ext cx="1466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latin typeface="Times New Roman" panose="02020603050405020304" pitchFamily="18" charset="0"/>
              </a:rPr>
              <a:t>MUL </a:t>
            </a:r>
            <a:r>
              <a:rPr lang="zh-CN" altLang="en-US" sz="2200">
                <a:latin typeface="Times New Roman" panose="02020603050405020304" pitchFamily="18" charset="0"/>
              </a:rPr>
              <a:t>指令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8717" name="Text Box 29"/>
          <p:cNvSpPr txBox="1">
            <a:spLocks noChangeArrowheads="1"/>
          </p:cNvSpPr>
          <p:nvPr/>
        </p:nvSpPr>
        <p:spPr bwMode="auto">
          <a:xfrm>
            <a:off x="4359275" y="4722814"/>
            <a:ext cx="54673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被乘数隐含在 </a:t>
            </a:r>
            <a:r>
              <a:rPr lang="en-US" altLang="zh-CN" sz="2200">
                <a:latin typeface="Times New Roman" panose="02020603050405020304" pitchFamily="18" charset="0"/>
              </a:rPr>
              <a:t>AX（16</a:t>
            </a:r>
            <a:r>
              <a:rPr lang="zh-CN" altLang="en-US" sz="2200">
                <a:latin typeface="Times New Roman" panose="02020603050405020304" pitchFamily="18" charset="0"/>
              </a:rPr>
              <a:t>位）或 </a:t>
            </a:r>
            <a:r>
              <a:rPr lang="en-US" altLang="zh-CN" sz="2200">
                <a:latin typeface="Times New Roman" panose="02020603050405020304" pitchFamily="18" charset="0"/>
              </a:rPr>
              <a:t>AL（8</a:t>
            </a:r>
            <a:r>
              <a:rPr lang="zh-CN" altLang="en-US" sz="2200">
                <a:latin typeface="Times New Roman" panose="02020603050405020304" pitchFamily="18" charset="0"/>
              </a:rPr>
              <a:t>位）中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8718" name="Text Box 30"/>
          <p:cNvSpPr txBox="1">
            <a:spLocks noChangeArrowheads="1"/>
          </p:cNvSpPr>
          <p:nvPr/>
        </p:nvSpPr>
        <p:spPr bwMode="auto">
          <a:xfrm>
            <a:off x="2571751" y="5205414"/>
            <a:ext cx="16541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latin typeface="Times New Roman" panose="02020603050405020304" pitchFamily="18" charset="0"/>
              </a:rPr>
              <a:t>MOVS </a:t>
            </a:r>
            <a:r>
              <a:rPr lang="zh-CN" altLang="en-US" sz="2200">
                <a:latin typeface="Times New Roman" panose="02020603050405020304" pitchFamily="18" charset="0"/>
              </a:rPr>
              <a:t>指令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8719" name="Text Box 31"/>
          <p:cNvSpPr txBox="1">
            <a:spLocks noChangeArrowheads="1"/>
          </p:cNvSpPr>
          <p:nvPr/>
        </p:nvSpPr>
        <p:spPr bwMode="auto">
          <a:xfrm>
            <a:off x="4359276" y="5205414"/>
            <a:ext cx="40989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源操作数的地址隐含在 </a:t>
            </a:r>
            <a:r>
              <a:rPr lang="en-US" altLang="zh-CN" sz="2200">
                <a:latin typeface="Times New Roman" panose="02020603050405020304" pitchFamily="18" charset="0"/>
              </a:rPr>
              <a:t>SI </a:t>
            </a:r>
            <a:r>
              <a:rPr lang="zh-CN" altLang="en-US" sz="2200">
                <a:latin typeface="Times New Roman" panose="02020603050405020304" pitchFamily="18" charset="0"/>
              </a:rPr>
              <a:t>中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8720" name="Text Box 32"/>
          <p:cNvSpPr txBox="1">
            <a:spLocks noChangeArrowheads="1"/>
          </p:cNvSpPr>
          <p:nvPr/>
        </p:nvSpPr>
        <p:spPr bwMode="auto">
          <a:xfrm>
            <a:off x="4359276" y="5688014"/>
            <a:ext cx="40052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Times New Roman" panose="02020603050405020304" pitchFamily="18" charset="0"/>
              </a:rPr>
              <a:t>目的操作数的地址隐含在 </a:t>
            </a:r>
            <a:r>
              <a:rPr lang="en-US" altLang="zh-CN" sz="2200">
                <a:latin typeface="Times New Roman" panose="02020603050405020304" pitchFamily="18" charset="0"/>
              </a:rPr>
              <a:t>DI </a:t>
            </a:r>
            <a:r>
              <a:rPr lang="zh-CN" altLang="en-US" sz="2200">
                <a:latin typeface="Times New Roman" panose="02020603050405020304" pitchFamily="18" charset="0"/>
              </a:rPr>
              <a:t>中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498721" name="Text Box 33"/>
          <p:cNvSpPr txBox="1">
            <a:spLocks noChangeArrowheads="1"/>
          </p:cNvSpPr>
          <p:nvPr/>
        </p:nvSpPr>
        <p:spPr bwMode="auto">
          <a:xfrm>
            <a:off x="2209801" y="6172200"/>
            <a:ext cx="60420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  指令字中少了一个地址字段，可缩短指令字长</a:t>
            </a:r>
            <a:endParaRPr lang="zh-CN" altLang="en-US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8722" name="Freeform 34"/>
          <p:cNvSpPr/>
          <p:nvPr/>
        </p:nvSpPr>
        <p:spPr bwMode="auto">
          <a:xfrm>
            <a:off x="6858000" y="1828800"/>
            <a:ext cx="990600" cy="533400"/>
          </a:xfrm>
          <a:custGeom>
            <a:avLst/>
            <a:gdLst>
              <a:gd name="T0" fmla="*/ 0 w 624"/>
              <a:gd name="T1" fmla="*/ 2147483646 h 384"/>
              <a:gd name="T2" fmla="*/ 0 w 624"/>
              <a:gd name="T3" fmla="*/ 0 h 384"/>
              <a:gd name="T4" fmla="*/ 2147483646 w 624"/>
              <a:gd name="T5" fmla="*/ 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384">
                <a:moveTo>
                  <a:pt x="0" y="384"/>
                </a:moveTo>
                <a:lnTo>
                  <a:pt x="0" y="0"/>
                </a:lnTo>
                <a:lnTo>
                  <a:pt x="624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8723" name="Line 35"/>
          <p:cNvSpPr>
            <a:spLocks noChangeShapeType="1"/>
          </p:cNvSpPr>
          <p:nvPr/>
        </p:nvSpPr>
        <p:spPr bwMode="auto">
          <a:xfrm>
            <a:off x="7848600" y="1828800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8724" name="Freeform 36"/>
          <p:cNvSpPr/>
          <p:nvPr/>
        </p:nvSpPr>
        <p:spPr bwMode="auto">
          <a:xfrm>
            <a:off x="8229600" y="4419600"/>
            <a:ext cx="990600" cy="228600"/>
          </a:xfrm>
          <a:custGeom>
            <a:avLst/>
            <a:gdLst>
              <a:gd name="T0" fmla="*/ 0 w 624"/>
              <a:gd name="T1" fmla="*/ 0 h 144"/>
              <a:gd name="T2" fmla="*/ 0 w 624"/>
              <a:gd name="T3" fmla="*/ 2147483646 h 144"/>
              <a:gd name="T4" fmla="*/ 2147483646 w 624"/>
              <a:gd name="T5" fmla="*/ 2147483646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144">
                <a:moveTo>
                  <a:pt x="0" y="0"/>
                </a:moveTo>
                <a:lnTo>
                  <a:pt x="0" y="144"/>
                </a:lnTo>
                <a:lnTo>
                  <a:pt x="624" y="14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8725" name="Freeform 37"/>
          <p:cNvSpPr/>
          <p:nvPr/>
        </p:nvSpPr>
        <p:spPr bwMode="auto">
          <a:xfrm>
            <a:off x="8529638" y="1752600"/>
            <a:ext cx="690562" cy="2895600"/>
          </a:xfrm>
          <a:custGeom>
            <a:avLst/>
            <a:gdLst>
              <a:gd name="T0" fmla="*/ 2147483646 w 435"/>
              <a:gd name="T1" fmla="*/ 2147483646 h 1824"/>
              <a:gd name="T2" fmla="*/ 2147483646 w 435"/>
              <a:gd name="T3" fmla="*/ 0 h 1824"/>
              <a:gd name="T4" fmla="*/ 0 w 435"/>
              <a:gd name="T5" fmla="*/ 0 h 18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5" h="1824">
                <a:moveTo>
                  <a:pt x="435" y="1824"/>
                </a:moveTo>
                <a:lnTo>
                  <a:pt x="435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8726" name="Line 38"/>
          <p:cNvSpPr>
            <a:spLocks noChangeShapeType="1"/>
          </p:cNvSpPr>
          <p:nvPr/>
        </p:nvSpPr>
        <p:spPr bwMode="auto">
          <a:xfrm>
            <a:off x="8534400" y="17526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9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9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9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4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9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49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49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49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49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9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49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49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9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49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2" dur="500"/>
                                        <p:tgtEl>
                                          <p:spTgt spid="49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6" dur="500"/>
                                        <p:tgtEl>
                                          <p:spTgt spid="49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49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49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49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9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9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49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49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autoUpdateAnimBg="0"/>
      <p:bldP spid="498702" grpId="0" autoUpdateAnimBg="0"/>
      <p:bldP spid="498705" grpId="0" autoUpdateAnimBg="0"/>
      <p:bldP spid="498706" grpId="0" animBg="1" autoUpdateAnimBg="0"/>
      <p:bldP spid="498707" grpId="0" animBg="1" autoUpdateAnimBg="0"/>
      <p:bldP spid="498708" grpId="0" animBg="1" autoUpdateAnimBg="0"/>
      <p:bldP spid="498714" grpId="0" autoUpdateAnimBg="0"/>
      <p:bldP spid="498715" grpId="0" autoUpdateAnimBg="0"/>
      <p:bldP spid="498716" grpId="0" autoUpdateAnimBg="0"/>
      <p:bldP spid="498717" grpId="0" autoUpdateAnimBg="0"/>
      <p:bldP spid="498718" grpId="0" autoUpdateAnimBg="0"/>
      <p:bldP spid="498719" grpId="0" autoUpdateAnimBg="0"/>
      <p:bldP spid="498720" grpId="0" autoUpdateAnimBg="0"/>
      <p:bldP spid="49872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128712" y="65755"/>
            <a:ext cx="33226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4. 间接寻址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2897982" y="860648"/>
            <a:ext cx="1941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EA =（A）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9716" name="Text Box 4"/>
          <p:cNvSpPr txBox="1">
            <a:spLocks noChangeArrowheads="1"/>
          </p:cNvSpPr>
          <p:nvPr/>
        </p:nvSpPr>
        <p:spPr bwMode="auto">
          <a:xfrm>
            <a:off x="4879181" y="860648"/>
            <a:ext cx="4827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有效地址由形式地址间接提供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9717" name="Group 5"/>
          <p:cNvGrpSpPr/>
          <p:nvPr/>
        </p:nvGrpSpPr>
        <p:grpSpPr bwMode="auto">
          <a:xfrm>
            <a:off x="1618456" y="1936972"/>
            <a:ext cx="2286000" cy="381000"/>
            <a:chOff x="144" y="1392"/>
            <a:chExt cx="1440" cy="240"/>
          </a:xfrm>
        </p:grpSpPr>
        <p:sp>
          <p:nvSpPr>
            <p:cNvPr id="24635" name="Rectangle 6"/>
            <p:cNvSpPr>
              <a:spLocks noChangeArrowheads="1"/>
            </p:cNvSpPr>
            <p:nvPr/>
          </p:nvSpPr>
          <p:spPr bwMode="auto">
            <a:xfrm>
              <a:off x="144" y="1392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4636" name="Rectangle 7"/>
            <p:cNvSpPr>
              <a:spLocks noChangeArrowheads="1"/>
            </p:cNvSpPr>
            <p:nvPr/>
          </p:nvSpPr>
          <p:spPr bwMode="auto">
            <a:xfrm>
              <a:off x="624" y="1392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37" name="Rectangle 8"/>
            <p:cNvSpPr>
              <a:spLocks noChangeArrowheads="1"/>
            </p:cNvSpPr>
            <p:nvPr/>
          </p:nvSpPr>
          <p:spPr bwMode="auto">
            <a:xfrm>
              <a:off x="1104" y="1392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9721" name="AutoShape 9"/>
          <p:cNvSpPr/>
          <p:nvPr/>
        </p:nvSpPr>
        <p:spPr bwMode="auto">
          <a:xfrm rot="5400000">
            <a:off x="2685256" y="1479772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9722" name="Text Box 10"/>
          <p:cNvSpPr txBox="1">
            <a:spLocks noChangeArrowheads="1"/>
          </p:cNvSpPr>
          <p:nvPr/>
        </p:nvSpPr>
        <p:spPr bwMode="auto">
          <a:xfrm>
            <a:off x="2151856" y="1400398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99723" name="AutoShape 11"/>
          <p:cNvSpPr/>
          <p:nvPr/>
        </p:nvSpPr>
        <p:spPr bwMode="auto">
          <a:xfrm rot="16200000">
            <a:off x="3447256" y="2013172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9724" name="Freeform 12"/>
          <p:cNvSpPr/>
          <p:nvPr/>
        </p:nvSpPr>
        <p:spPr bwMode="auto">
          <a:xfrm>
            <a:off x="3523456" y="2470372"/>
            <a:ext cx="609600" cy="152400"/>
          </a:xfrm>
          <a:custGeom>
            <a:avLst/>
            <a:gdLst>
              <a:gd name="T0" fmla="*/ 0 w 624"/>
              <a:gd name="T1" fmla="*/ 0 h 96"/>
              <a:gd name="T2" fmla="*/ 0 w 624"/>
              <a:gd name="T3" fmla="*/ 2147483646 h 96"/>
              <a:gd name="T4" fmla="*/ 2147483646 w 624"/>
              <a:gd name="T5" fmla="*/ 2147483646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9725" name="Text Box 13"/>
          <p:cNvSpPr txBox="1">
            <a:spLocks noChangeArrowheads="1"/>
          </p:cNvSpPr>
          <p:nvPr/>
        </p:nvSpPr>
        <p:spPr bwMode="auto">
          <a:xfrm>
            <a:off x="4133056" y="2411636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grpSp>
        <p:nvGrpSpPr>
          <p:cNvPr id="499726" name="Group 14"/>
          <p:cNvGrpSpPr/>
          <p:nvPr/>
        </p:nvGrpSpPr>
        <p:grpSpPr bwMode="auto">
          <a:xfrm>
            <a:off x="4514056" y="1479772"/>
            <a:ext cx="1219200" cy="2743200"/>
            <a:chOff x="1968" y="1104"/>
            <a:chExt cx="768" cy="1728"/>
          </a:xfrm>
        </p:grpSpPr>
        <p:sp>
          <p:nvSpPr>
            <p:cNvPr id="24629" name="Rectangle 15"/>
            <p:cNvSpPr>
              <a:spLocks noChangeArrowheads="1"/>
            </p:cNvSpPr>
            <p:nvPr/>
          </p:nvSpPr>
          <p:spPr bwMode="auto">
            <a:xfrm>
              <a:off x="1968" y="139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30" name="Rectangle 16"/>
            <p:cNvSpPr>
              <a:spLocks noChangeArrowheads="1"/>
            </p:cNvSpPr>
            <p:nvPr/>
          </p:nvSpPr>
          <p:spPr bwMode="auto">
            <a:xfrm>
              <a:off x="1968" y="168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EA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4631" name="Rectangle 17"/>
            <p:cNvSpPr>
              <a:spLocks noChangeArrowheads="1"/>
            </p:cNvSpPr>
            <p:nvPr/>
          </p:nvSpPr>
          <p:spPr bwMode="auto">
            <a:xfrm>
              <a:off x="1968" y="1970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32" name="Text Box 18"/>
            <p:cNvSpPr txBox="1">
              <a:spLocks noChangeArrowheads="1"/>
            </p:cNvSpPr>
            <p:nvPr/>
          </p:nvSpPr>
          <p:spPr bwMode="auto">
            <a:xfrm>
              <a:off x="2112" y="1104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4633" name="Rectangle 19"/>
            <p:cNvSpPr>
              <a:spLocks noChangeArrowheads="1"/>
            </p:cNvSpPr>
            <p:nvPr/>
          </p:nvSpPr>
          <p:spPr bwMode="auto">
            <a:xfrm>
              <a:off x="1968" y="225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4634" name="Rectangle 20"/>
            <p:cNvSpPr>
              <a:spLocks noChangeArrowheads="1"/>
            </p:cNvSpPr>
            <p:nvPr/>
          </p:nvSpPr>
          <p:spPr bwMode="auto">
            <a:xfrm>
              <a:off x="1968" y="254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99733" name="AutoShape 21"/>
          <p:cNvSpPr/>
          <p:nvPr/>
        </p:nvSpPr>
        <p:spPr bwMode="auto">
          <a:xfrm rot="16200000">
            <a:off x="5047456" y="2317972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9734" name="Freeform 22"/>
          <p:cNvSpPr/>
          <p:nvPr/>
        </p:nvSpPr>
        <p:spPr bwMode="auto">
          <a:xfrm>
            <a:off x="3828256" y="3003772"/>
            <a:ext cx="1295400" cy="533400"/>
          </a:xfrm>
          <a:custGeom>
            <a:avLst/>
            <a:gdLst>
              <a:gd name="T0" fmla="*/ 2147483646 w 816"/>
              <a:gd name="T1" fmla="*/ 0 h 336"/>
              <a:gd name="T2" fmla="*/ 2147483646 w 816"/>
              <a:gd name="T3" fmla="*/ 2147483646 h 336"/>
              <a:gd name="T4" fmla="*/ 0 w 816"/>
              <a:gd name="T5" fmla="*/ 2147483646 h 336"/>
              <a:gd name="T6" fmla="*/ 0 w 816"/>
              <a:gd name="T7" fmla="*/ 2147483646 h 336"/>
              <a:gd name="T8" fmla="*/ 2147483646 w 816"/>
              <a:gd name="T9" fmla="*/ 2147483646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6" h="336">
                <a:moveTo>
                  <a:pt x="816" y="0"/>
                </a:moveTo>
                <a:lnTo>
                  <a:pt x="816" y="96"/>
                </a:lnTo>
                <a:lnTo>
                  <a:pt x="0" y="96"/>
                </a:lnTo>
                <a:lnTo>
                  <a:pt x="0" y="336"/>
                </a:lnTo>
                <a:lnTo>
                  <a:pt x="144" y="33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9735" name="Text Box 23"/>
          <p:cNvSpPr txBox="1">
            <a:spLocks noChangeArrowheads="1"/>
          </p:cNvSpPr>
          <p:nvPr/>
        </p:nvSpPr>
        <p:spPr bwMode="auto">
          <a:xfrm>
            <a:off x="4052094" y="3308573"/>
            <a:ext cx="538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EA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9736" name="AutoShape 24"/>
          <p:cNvSpPr/>
          <p:nvPr/>
        </p:nvSpPr>
        <p:spPr bwMode="auto">
          <a:xfrm rot="16200000">
            <a:off x="9659144" y="2510060"/>
            <a:ext cx="149225" cy="838200"/>
          </a:xfrm>
          <a:prstGeom prst="leftBrace">
            <a:avLst>
              <a:gd name="adj1" fmla="val 46809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9737" name="Freeform 25"/>
          <p:cNvSpPr/>
          <p:nvPr/>
        </p:nvSpPr>
        <p:spPr bwMode="auto">
          <a:xfrm>
            <a:off x="8247857" y="3018061"/>
            <a:ext cx="1490663" cy="522287"/>
          </a:xfrm>
          <a:custGeom>
            <a:avLst/>
            <a:gdLst>
              <a:gd name="T0" fmla="*/ 2147483646 w 939"/>
              <a:gd name="T1" fmla="*/ 0 h 329"/>
              <a:gd name="T2" fmla="*/ 2147483646 w 939"/>
              <a:gd name="T3" fmla="*/ 2147483646 h 329"/>
              <a:gd name="T4" fmla="*/ 0 w 939"/>
              <a:gd name="T5" fmla="*/ 2147483646 h 329"/>
              <a:gd name="T6" fmla="*/ 0 w 939"/>
              <a:gd name="T7" fmla="*/ 2147483646 h 329"/>
              <a:gd name="T8" fmla="*/ 2147483646 w 939"/>
              <a:gd name="T9" fmla="*/ 2147483646 h 3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39" h="329">
                <a:moveTo>
                  <a:pt x="939" y="0"/>
                </a:moveTo>
                <a:lnTo>
                  <a:pt x="939" y="87"/>
                </a:lnTo>
                <a:lnTo>
                  <a:pt x="0" y="89"/>
                </a:lnTo>
                <a:lnTo>
                  <a:pt x="0" y="329"/>
                </a:lnTo>
                <a:lnTo>
                  <a:pt x="169" y="329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9738" name="Text Box 26"/>
          <p:cNvSpPr txBox="1">
            <a:spLocks noChangeArrowheads="1"/>
          </p:cNvSpPr>
          <p:nvPr/>
        </p:nvSpPr>
        <p:spPr bwMode="auto">
          <a:xfrm>
            <a:off x="8470106" y="3402235"/>
            <a:ext cx="4555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</a:rPr>
              <a:t>1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499739" name="AutoShape 27"/>
          <p:cNvSpPr/>
          <p:nvPr/>
        </p:nvSpPr>
        <p:spPr bwMode="auto">
          <a:xfrm rot="16200000">
            <a:off x="9657556" y="3422872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9740" name="Freeform 28"/>
          <p:cNvSpPr/>
          <p:nvPr/>
        </p:nvSpPr>
        <p:spPr bwMode="auto">
          <a:xfrm>
            <a:off x="8247857" y="3918172"/>
            <a:ext cx="1490663" cy="533400"/>
          </a:xfrm>
          <a:custGeom>
            <a:avLst/>
            <a:gdLst>
              <a:gd name="T0" fmla="*/ 2147483646 w 939"/>
              <a:gd name="T1" fmla="*/ 0 h 336"/>
              <a:gd name="T2" fmla="*/ 2147483646 w 939"/>
              <a:gd name="T3" fmla="*/ 2147483646 h 336"/>
              <a:gd name="T4" fmla="*/ 0 w 939"/>
              <a:gd name="T5" fmla="*/ 2147483646 h 336"/>
              <a:gd name="T6" fmla="*/ 0 w 939"/>
              <a:gd name="T7" fmla="*/ 2147483646 h 336"/>
              <a:gd name="T8" fmla="*/ 2147483646 w 939"/>
              <a:gd name="T9" fmla="*/ 2147483646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39" h="336">
                <a:moveTo>
                  <a:pt x="936" y="0"/>
                </a:moveTo>
                <a:lnTo>
                  <a:pt x="939" y="99"/>
                </a:lnTo>
                <a:lnTo>
                  <a:pt x="0" y="96"/>
                </a:lnTo>
                <a:lnTo>
                  <a:pt x="0" y="336"/>
                </a:lnTo>
                <a:lnTo>
                  <a:pt x="169" y="33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9741" name="Text Box 29"/>
          <p:cNvSpPr txBox="1">
            <a:spLocks noChangeArrowheads="1"/>
          </p:cNvSpPr>
          <p:nvPr/>
        </p:nvSpPr>
        <p:spPr bwMode="auto">
          <a:xfrm>
            <a:off x="8471694" y="4299173"/>
            <a:ext cx="538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EA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grpSp>
        <p:nvGrpSpPr>
          <p:cNvPr id="499742" name="Group 30"/>
          <p:cNvGrpSpPr/>
          <p:nvPr/>
        </p:nvGrpSpPr>
        <p:grpSpPr bwMode="auto">
          <a:xfrm>
            <a:off x="8933656" y="1482948"/>
            <a:ext cx="1219200" cy="3654425"/>
            <a:chOff x="4800" y="1106"/>
            <a:chExt cx="768" cy="2302"/>
          </a:xfrm>
        </p:grpSpPr>
        <p:sp>
          <p:nvSpPr>
            <p:cNvPr id="24617" name="Rectangle 31"/>
            <p:cNvSpPr>
              <a:spLocks noChangeArrowheads="1"/>
            </p:cNvSpPr>
            <p:nvPr/>
          </p:nvSpPr>
          <p:spPr bwMode="auto">
            <a:xfrm>
              <a:off x="4800" y="139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18" name="Rectangle 32"/>
            <p:cNvSpPr>
              <a:spLocks noChangeArrowheads="1"/>
            </p:cNvSpPr>
            <p:nvPr/>
          </p:nvSpPr>
          <p:spPr bwMode="auto">
            <a:xfrm>
              <a:off x="4800" y="168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 anchorCtr="1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     A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619" name="Rectangle 33"/>
            <p:cNvSpPr>
              <a:spLocks noChangeArrowheads="1"/>
            </p:cNvSpPr>
            <p:nvPr/>
          </p:nvSpPr>
          <p:spPr bwMode="auto">
            <a:xfrm>
              <a:off x="4800" y="197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20" name="Text Box 34"/>
            <p:cNvSpPr txBox="1">
              <a:spLocks noChangeArrowheads="1"/>
            </p:cNvSpPr>
            <p:nvPr/>
          </p:nvSpPr>
          <p:spPr bwMode="auto">
            <a:xfrm>
              <a:off x="4944" y="1106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4621" name="Rectangle 35"/>
            <p:cNvSpPr>
              <a:spLocks noChangeArrowheads="1"/>
            </p:cNvSpPr>
            <p:nvPr/>
          </p:nvSpPr>
          <p:spPr bwMode="auto">
            <a:xfrm>
              <a:off x="4800" y="254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22" name="Rectangle 36"/>
            <p:cNvSpPr>
              <a:spLocks noChangeArrowheads="1"/>
            </p:cNvSpPr>
            <p:nvPr/>
          </p:nvSpPr>
          <p:spPr bwMode="auto">
            <a:xfrm>
              <a:off x="4800" y="225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     EA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4623" name="Rectangle 37"/>
            <p:cNvSpPr>
              <a:spLocks noChangeArrowheads="1"/>
            </p:cNvSpPr>
            <p:nvPr/>
          </p:nvSpPr>
          <p:spPr bwMode="auto">
            <a:xfrm>
              <a:off x="4800" y="283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4624" name="Rectangle 38"/>
            <p:cNvSpPr>
              <a:spLocks noChangeArrowheads="1"/>
            </p:cNvSpPr>
            <p:nvPr/>
          </p:nvSpPr>
          <p:spPr bwMode="auto">
            <a:xfrm>
              <a:off x="4800" y="3120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25" name="Line 39"/>
            <p:cNvSpPr>
              <a:spLocks noChangeShapeType="1"/>
            </p:cNvSpPr>
            <p:nvPr/>
          </p:nvSpPr>
          <p:spPr bwMode="auto">
            <a:xfrm>
              <a:off x="5040" y="168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6" name="Text Box 40"/>
            <p:cNvSpPr txBox="1">
              <a:spLocks noChangeArrowheads="1"/>
            </p:cNvSpPr>
            <p:nvPr/>
          </p:nvSpPr>
          <p:spPr bwMode="auto">
            <a:xfrm>
              <a:off x="4844" y="171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27" name="Line 41"/>
            <p:cNvSpPr>
              <a:spLocks noChangeShapeType="1"/>
            </p:cNvSpPr>
            <p:nvPr/>
          </p:nvSpPr>
          <p:spPr bwMode="auto">
            <a:xfrm>
              <a:off x="5040" y="225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628" name="Text Box 42"/>
            <p:cNvSpPr txBox="1">
              <a:spLocks noChangeArrowheads="1"/>
            </p:cNvSpPr>
            <p:nvPr/>
          </p:nvSpPr>
          <p:spPr bwMode="auto">
            <a:xfrm>
              <a:off x="4844" y="229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99755" name="Text Box 43"/>
          <p:cNvSpPr txBox="1">
            <a:spLocks noChangeArrowheads="1"/>
          </p:cNvSpPr>
          <p:nvPr/>
        </p:nvSpPr>
        <p:spPr bwMode="auto">
          <a:xfrm>
            <a:off x="3353594" y="4365848"/>
            <a:ext cx="4056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执行指令阶段  2 次访存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9756" name="Text Box 44"/>
          <p:cNvSpPr txBox="1">
            <a:spLocks noChangeArrowheads="1"/>
          </p:cNvSpPr>
          <p:nvPr/>
        </p:nvSpPr>
        <p:spPr bwMode="auto">
          <a:xfrm>
            <a:off x="3353595" y="5051648"/>
            <a:ext cx="28971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可扩大寻址范围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9757" name="Text Box 45"/>
          <p:cNvSpPr txBox="1">
            <a:spLocks noChangeArrowheads="1"/>
          </p:cNvSpPr>
          <p:nvPr/>
        </p:nvSpPr>
        <p:spPr bwMode="auto">
          <a:xfrm>
            <a:off x="3353594" y="5661248"/>
            <a:ext cx="254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便于编制程序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9758" name="Group 46"/>
          <p:cNvGrpSpPr/>
          <p:nvPr/>
        </p:nvGrpSpPr>
        <p:grpSpPr bwMode="auto">
          <a:xfrm>
            <a:off x="5974556" y="1940147"/>
            <a:ext cx="2286000" cy="381000"/>
            <a:chOff x="144" y="1392"/>
            <a:chExt cx="1440" cy="240"/>
          </a:xfrm>
        </p:grpSpPr>
        <p:sp>
          <p:nvSpPr>
            <p:cNvPr id="24614" name="Rectangle 47"/>
            <p:cNvSpPr>
              <a:spLocks noChangeArrowheads="1"/>
            </p:cNvSpPr>
            <p:nvPr/>
          </p:nvSpPr>
          <p:spPr bwMode="auto">
            <a:xfrm>
              <a:off x="144" y="1392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4615" name="Rectangle 48"/>
            <p:cNvSpPr>
              <a:spLocks noChangeArrowheads="1"/>
            </p:cNvSpPr>
            <p:nvPr/>
          </p:nvSpPr>
          <p:spPr bwMode="auto">
            <a:xfrm>
              <a:off x="624" y="1392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16" name="Rectangle 49"/>
            <p:cNvSpPr>
              <a:spLocks noChangeArrowheads="1"/>
            </p:cNvSpPr>
            <p:nvPr/>
          </p:nvSpPr>
          <p:spPr bwMode="auto">
            <a:xfrm>
              <a:off x="1104" y="1392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99762" name="AutoShape 50"/>
          <p:cNvSpPr/>
          <p:nvPr/>
        </p:nvSpPr>
        <p:spPr bwMode="auto">
          <a:xfrm rot="5400000">
            <a:off x="7041356" y="1482947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9763" name="Text Box 51"/>
          <p:cNvSpPr txBox="1">
            <a:spLocks noChangeArrowheads="1"/>
          </p:cNvSpPr>
          <p:nvPr/>
        </p:nvSpPr>
        <p:spPr bwMode="auto">
          <a:xfrm>
            <a:off x="6507956" y="1403573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99764" name="AutoShape 52"/>
          <p:cNvSpPr/>
          <p:nvPr/>
        </p:nvSpPr>
        <p:spPr bwMode="auto">
          <a:xfrm rot="16200000">
            <a:off x="7803356" y="2016347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9765" name="Freeform 53"/>
          <p:cNvSpPr/>
          <p:nvPr/>
        </p:nvSpPr>
        <p:spPr bwMode="auto">
          <a:xfrm>
            <a:off x="7879556" y="2473547"/>
            <a:ext cx="609600" cy="152400"/>
          </a:xfrm>
          <a:custGeom>
            <a:avLst/>
            <a:gdLst>
              <a:gd name="T0" fmla="*/ 0 w 624"/>
              <a:gd name="T1" fmla="*/ 0 h 96"/>
              <a:gd name="T2" fmla="*/ 0 w 624"/>
              <a:gd name="T3" fmla="*/ 2147483646 h 96"/>
              <a:gd name="T4" fmla="*/ 2147483646 w 624"/>
              <a:gd name="T5" fmla="*/ 2147483646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96">
                <a:moveTo>
                  <a:pt x="0" y="0"/>
                </a:moveTo>
                <a:lnTo>
                  <a:pt x="0" y="96"/>
                </a:lnTo>
                <a:lnTo>
                  <a:pt x="624" y="9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9766" name="Text Box 54"/>
          <p:cNvSpPr txBox="1">
            <a:spLocks noChangeArrowheads="1"/>
          </p:cNvSpPr>
          <p:nvPr/>
        </p:nvSpPr>
        <p:spPr bwMode="auto">
          <a:xfrm>
            <a:off x="8489156" y="2414811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A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9767" name="Text Box 55"/>
          <p:cNvSpPr txBox="1">
            <a:spLocks noChangeArrowheads="1"/>
          </p:cNvSpPr>
          <p:nvPr/>
        </p:nvSpPr>
        <p:spPr bwMode="auto">
          <a:xfrm>
            <a:off x="2075656" y="336096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一次间址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9768" name="Text Box 56"/>
          <p:cNvSpPr txBox="1">
            <a:spLocks noChangeArrowheads="1"/>
          </p:cNvSpPr>
          <p:nvPr/>
        </p:nvSpPr>
        <p:spPr bwMode="auto">
          <a:xfrm>
            <a:off x="6326981" y="336096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多次间址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9769" name="Text Box 57"/>
          <p:cNvSpPr txBox="1">
            <a:spLocks noChangeArrowheads="1"/>
          </p:cNvSpPr>
          <p:nvPr/>
        </p:nvSpPr>
        <p:spPr bwMode="auto">
          <a:xfrm>
            <a:off x="4629944" y="3308573"/>
            <a:ext cx="950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操作数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9770" name="Text Box 58"/>
          <p:cNvSpPr txBox="1">
            <a:spLocks noChangeArrowheads="1"/>
          </p:cNvSpPr>
          <p:nvPr/>
        </p:nvSpPr>
        <p:spPr bwMode="auto">
          <a:xfrm>
            <a:off x="9086057" y="4219798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操作数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9771" name="Text Box 59"/>
          <p:cNvSpPr txBox="1">
            <a:spLocks noChangeArrowheads="1"/>
          </p:cNvSpPr>
          <p:nvPr/>
        </p:nvSpPr>
        <p:spPr bwMode="auto">
          <a:xfrm>
            <a:off x="8400256" y="5661248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多次访存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9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9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49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49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9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49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49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49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9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9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9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9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9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9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3" dur="500"/>
                                        <p:tgtEl>
                                          <p:spTgt spid="49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49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9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7" dur="500"/>
                                        <p:tgtEl>
                                          <p:spTgt spid="49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500"/>
                                        <p:tgtEl>
                                          <p:spTgt spid="49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9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49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49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0" dur="500"/>
                                        <p:tgtEl>
                                          <p:spTgt spid="49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49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9" dur="500"/>
                                        <p:tgtEl>
                                          <p:spTgt spid="49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49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49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49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49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5" grpId="0" autoUpdateAnimBg="0"/>
      <p:bldP spid="499716" grpId="0" autoUpdateAnimBg="0"/>
      <p:bldP spid="499722" grpId="0" autoUpdateAnimBg="0"/>
      <p:bldP spid="499725" grpId="0" autoUpdateAnimBg="0"/>
      <p:bldP spid="499735" grpId="0" autoUpdateAnimBg="0"/>
      <p:bldP spid="499738" grpId="0" autoUpdateAnimBg="0"/>
      <p:bldP spid="499741" grpId="0" autoUpdateAnimBg="0"/>
      <p:bldP spid="499755" grpId="0" autoUpdateAnimBg="0"/>
      <p:bldP spid="499756" grpId="0" autoUpdateAnimBg="0"/>
      <p:bldP spid="499757" grpId="0" autoUpdateAnimBg="0"/>
      <p:bldP spid="499763" grpId="0" autoUpdateAnimBg="0"/>
      <p:bldP spid="499766" grpId="0" autoUpdateAnimBg="0"/>
      <p:bldP spid="499767" grpId="0" autoUpdateAnimBg="0"/>
      <p:bldP spid="499768" grpId="0" autoUpdateAnimBg="0"/>
      <p:bldP spid="499769" grpId="0" autoUpdateAnimBg="0"/>
      <p:bldP spid="499770" grpId="0" autoUpdateAnimBg="0"/>
      <p:bldP spid="49977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986" name="Group 2"/>
          <p:cNvGraphicFramePr>
            <a:graphicFrameLocks noGrp="1"/>
          </p:cNvGraphicFramePr>
          <p:nvPr/>
        </p:nvGraphicFramePr>
        <p:xfrm>
          <a:off x="3352800" y="1600200"/>
          <a:ext cx="1981200" cy="4267201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473075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575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93788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8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575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0004" name="Text Box 20"/>
          <p:cNvSpPr txBox="1">
            <a:spLocks noChangeArrowheads="1"/>
          </p:cNvSpPr>
          <p:nvPr/>
        </p:nvSpPr>
        <p:spPr bwMode="auto">
          <a:xfrm>
            <a:off x="4108848" y="2590800"/>
            <a:ext cx="61555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…     …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0005" name="Freeform 21"/>
          <p:cNvSpPr/>
          <p:nvPr/>
        </p:nvSpPr>
        <p:spPr bwMode="auto">
          <a:xfrm>
            <a:off x="5334000" y="1695450"/>
            <a:ext cx="1333500" cy="819150"/>
          </a:xfrm>
          <a:custGeom>
            <a:avLst/>
            <a:gdLst>
              <a:gd name="T0" fmla="*/ 0 w 840"/>
              <a:gd name="T1" fmla="*/ 2147483646 h 516"/>
              <a:gd name="T2" fmla="*/ 2147483646 w 840"/>
              <a:gd name="T3" fmla="*/ 0 h 5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40" h="516">
                <a:moveTo>
                  <a:pt x="0" y="516"/>
                </a:moveTo>
                <a:lnTo>
                  <a:pt x="840" y="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0006" name="Freeform 22"/>
          <p:cNvSpPr/>
          <p:nvPr/>
        </p:nvSpPr>
        <p:spPr bwMode="auto">
          <a:xfrm>
            <a:off x="5353050" y="2647950"/>
            <a:ext cx="1352550" cy="2990850"/>
          </a:xfrm>
          <a:custGeom>
            <a:avLst/>
            <a:gdLst>
              <a:gd name="T0" fmla="*/ 2147483646 w 852"/>
              <a:gd name="T1" fmla="*/ 2147483646 h 1884"/>
              <a:gd name="T2" fmla="*/ 0 w 852"/>
              <a:gd name="T3" fmla="*/ 0 h 188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52" h="1884">
                <a:moveTo>
                  <a:pt x="852" y="1884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0007" name="Line 23"/>
          <p:cNvSpPr>
            <a:spLocks noChangeShapeType="1"/>
          </p:cNvSpPr>
          <p:nvPr/>
        </p:nvSpPr>
        <p:spPr bwMode="auto">
          <a:xfrm flipV="1">
            <a:off x="5334000" y="1676400"/>
            <a:ext cx="1371600" cy="2819400"/>
          </a:xfrm>
          <a:prstGeom prst="line">
            <a:avLst/>
          </a:prstGeom>
          <a:noFill/>
          <a:ln w="28575">
            <a:solidFill>
              <a:schemeClr val="folHlink"/>
            </a:solidFill>
            <a:prstDash val="dash"/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0008" name="Freeform 24"/>
          <p:cNvSpPr/>
          <p:nvPr/>
        </p:nvSpPr>
        <p:spPr bwMode="auto">
          <a:xfrm>
            <a:off x="5334000" y="4800600"/>
            <a:ext cx="1371600" cy="838200"/>
          </a:xfrm>
          <a:custGeom>
            <a:avLst/>
            <a:gdLst>
              <a:gd name="T0" fmla="*/ 2147483646 w 864"/>
              <a:gd name="T1" fmla="*/ 2147483646 h 528"/>
              <a:gd name="T2" fmla="*/ 0 w 864"/>
              <a:gd name="T3" fmla="*/ 0 h 52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64" h="528">
                <a:moveTo>
                  <a:pt x="864" y="52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chemeClr val="folHlink"/>
            </a:solidFill>
            <a:prstDash val="dash"/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10009" name="Group 25"/>
          <p:cNvGrpSpPr/>
          <p:nvPr/>
        </p:nvGrpSpPr>
        <p:grpSpPr bwMode="auto">
          <a:xfrm>
            <a:off x="3581400" y="914400"/>
            <a:ext cx="4876800" cy="457200"/>
            <a:chOff x="1296" y="576"/>
            <a:chExt cx="3072" cy="288"/>
          </a:xfrm>
        </p:grpSpPr>
        <p:sp>
          <p:nvSpPr>
            <p:cNvPr id="25663" name="Text Box 26"/>
            <p:cNvSpPr txBox="1">
              <a:spLocks noChangeArrowheads="1"/>
            </p:cNvSpPr>
            <p:nvPr/>
          </p:nvSpPr>
          <p:spPr bwMode="auto">
            <a:xfrm>
              <a:off x="3360" y="576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子程序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64" name="Text Box 27"/>
            <p:cNvSpPr txBox="1">
              <a:spLocks noChangeArrowheads="1"/>
            </p:cNvSpPr>
            <p:nvPr/>
          </p:nvSpPr>
          <p:spPr bwMode="auto">
            <a:xfrm>
              <a:off x="1296" y="576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主程序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810012" name="Text Box 28"/>
          <p:cNvSpPr txBox="1">
            <a:spLocks noChangeArrowheads="1"/>
          </p:cNvSpPr>
          <p:nvPr/>
        </p:nvSpPr>
        <p:spPr bwMode="auto">
          <a:xfrm>
            <a:off x="4108848" y="1676400"/>
            <a:ext cx="61555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…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10053" name="Group 69"/>
          <p:cNvGrpSpPr/>
          <p:nvPr/>
        </p:nvGrpSpPr>
        <p:grpSpPr bwMode="auto">
          <a:xfrm>
            <a:off x="2743200" y="2085976"/>
            <a:ext cx="838200" cy="3190875"/>
            <a:chOff x="768" y="1314"/>
            <a:chExt cx="528" cy="2010"/>
          </a:xfrm>
        </p:grpSpPr>
        <p:sp>
          <p:nvSpPr>
            <p:cNvPr id="25659" name="Text Box 30"/>
            <p:cNvSpPr txBox="1">
              <a:spLocks noChangeArrowheads="1"/>
            </p:cNvSpPr>
            <p:nvPr/>
          </p:nvSpPr>
          <p:spPr bwMode="auto">
            <a:xfrm>
              <a:off x="816" y="131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80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60" name="Text Box 31"/>
            <p:cNvSpPr txBox="1">
              <a:spLocks noChangeArrowheads="1"/>
            </p:cNvSpPr>
            <p:nvPr/>
          </p:nvSpPr>
          <p:spPr bwMode="auto">
            <a:xfrm>
              <a:off x="816" y="1659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81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61" name="Text Box 32"/>
            <p:cNvSpPr txBox="1">
              <a:spLocks noChangeArrowheads="1"/>
            </p:cNvSpPr>
            <p:nvPr/>
          </p:nvSpPr>
          <p:spPr bwMode="auto">
            <a:xfrm>
              <a:off x="768" y="2676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201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62" name="Text Box 33"/>
            <p:cNvSpPr txBox="1">
              <a:spLocks noChangeArrowheads="1"/>
            </p:cNvSpPr>
            <p:nvPr/>
          </p:nvSpPr>
          <p:spPr bwMode="auto">
            <a:xfrm>
              <a:off x="768" y="3036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202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810018" name="Text Box 34"/>
          <p:cNvSpPr txBox="1">
            <a:spLocks noChangeArrowheads="1"/>
          </p:cNvSpPr>
          <p:nvPr/>
        </p:nvSpPr>
        <p:spPr bwMode="auto">
          <a:xfrm>
            <a:off x="3505200" y="21336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调用子程序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0019" name="Text Box 35"/>
          <p:cNvSpPr txBox="1">
            <a:spLocks noChangeArrowheads="1"/>
          </p:cNvSpPr>
          <p:nvPr/>
        </p:nvSpPr>
        <p:spPr bwMode="auto">
          <a:xfrm>
            <a:off x="3505200" y="42672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调用子程序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0" name="Text Box 36"/>
          <p:cNvSpPr txBox="1">
            <a:spLocks noChangeArrowheads="1"/>
          </p:cNvSpPr>
          <p:nvPr/>
        </p:nvSpPr>
        <p:spPr bwMode="auto">
          <a:xfrm>
            <a:off x="2057400" y="182564"/>
            <a:ext cx="4419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间接寻址编程举例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810021" name="Text Box 37"/>
          <p:cNvSpPr txBox="1">
            <a:spLocks noChangeArrowheads="1"/>
          </p:cNvSpPr>
          <p:nvPr/>
        </p:nvSpPr>
        <p:spPr bwMode="auto">
          <a:xfrm>
            <a:off x="6934200" y="59436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</a:rPr>
              <a:t>A) = 81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810022" name="Text Box 38"/>
          <p:cNvSpPr txBox="1">
            <a:spLocks noChangeArrowheads="1"/>
          </p:cNvSpPr>
          <p:nvPr/>
        </p:nvSpPr>
        <p:spPr bwMode="auto">
          <a:xfrm>
            <a:off x="6934200" y="6019801"/>
            <a:ext cx="1447800" cy="519113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10023" name="Text Box 39"/>
          <p:cNvSpPr txBox="1">
            <a:spLocks noChangeArrowheads="1"/>
          </p:cNvSpPr>
          <p:nvPr/>
        </p:nvSpPr>
        <p:spPr bwMode="auto">
          <a:xfrm>
            <a:off x="6934200" y="6019801"/>
            <a:ext cx="1828800" cy="519113"/>
          </a:xfrm>
          <a:prstGeom prst="rect">
            <a:avLst/>
          </a:prstGeom>
          <a:solidFill>
            <a:srgbClr val="00006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</a:rPr>
              <a:t>A) = 202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810024" name="Group 40"/>
          <p:cNvGrpSpPr/>
          <p:nvPr/>
        </p:nvGrpSpPr>
        <p:grpSpPr bwMode="auto">
          <a:xfrm>
            <a:off x="4108453" y="4876800"/>
            <a:ext cx="617538" cy="990600"/>
            <a:chOff x="1628" y="3024"/>
            <a:chExt cx="389" cy="624"/>
          </a:xfrm>
        </p:grpSpPr>
        <p:sp>
          <p:nvSpPr>
            <p:cNvPr id="25657" name="Text Box 41"/>
            <p:cNvSpPr txBox="1">
              <a:spLocks noChangeArrowheads="1"/>
            </p:cNvSpPr>
            <p:nvPr/>
          </p:nvSpPr>
          <p:spPr bwMode="auto">
            <a:xfrm>
              <a:off x="1628" y="3360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58" name="Text Box 42"/>
            <p:cNvSpPr txBox="1">
              <a:spLocks noChangeArrowheads="1"/>
            </p:cNvSpPr>
            <p:nvPr/>
          </p:nvSpPr>
          <p:spPr bwMode="auto">
            <a:xfrm>
              <a:off x="1629" y="3024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10027" name="Text Box 43"/>
          <p:cNvSpPr txBox="1">
            <a:spLocks noChangeArrowheads="1"/>
          </p:cNvSpPr>
          <p:nvPr/>
        </p:nvSpPr>
        <p:spPr bwMode="auto">
          <a:xfrm>
            <a:off x="8763000" y="45720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@ </a:t>
            </a:r>
            <a:r>
              <a:rPr lang="zh-CN" altLang="en-US" sz="2400">
                <a:latin typeface="Times New Roman" panose="02020603050405020304" pitchFamily="18" charset="0"/>
              </a:rPr>
              <a:t>间址特征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810029" name="Group 45"/>
          <p:cNvGraphicFramePr>
            <a:graphicFrameLocks noGrp="1"/>
          </p:cNvGraphicFramePr>
          <p:nvPr/>
        </p:nvGraphicFramePr>
        <p:xfrm>
          <a:off x="6705600" y="1600200"/>
          <a:ext cx="1981200" cy="4267200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473075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0725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0039" name="Text Box 55"/>
          <p:cNvSpPr txBox="1">
            <a:spLocks noChangeArrowheads="1"/>
          </p:cNvSpPr>
          <p:nvPr/>
        </p:nvSpPr>
        <p:spPr bwMode="auto">
          <a:xfrm>
            <a:off x="6934200" y="5289551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JMP  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@ A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10040" name="Group 56"/>
          <p:cNvGrpSpPr/>
          <p:nvPr/>
        </p:nvGrpSpPr>
        <p:grpSpPr bwMode="auto">
          <a:xfrm>
            <a:off x="7462843" y="1676400"/>
            <a:ext cx="615951" cy="3200400"/>
            <a:chOff x="3741" y="1056"/>
            <a:chExt cx="388" cy="2016"/>
          </a:xfrm>
        </p:grpSpPr>
        <p:sp>
          <p:nvSpPr>
            <p:cNvPr id="25654" name="Text Box 57"/>
            <p:cNvSpPr txBox="1">
              <a:spLocks noChangeArrowheads="1"/>
            </p:cNvSpPr>
            <p:nvPr/>
          </p:nvSpPr>
          <p:spPr bwMode="auto">
            <a:xfrm>
              <a:off x="3741" y="1056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…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5655" name="Text Box 58"/>
            <p:cNvSpPr txBox="1">
              <a:spLocks noChangeArrowheads="1"/>
            </p:cNvSpPr>
            <p:nvPr/>
          </p:nvSpPr>
          <p:spPr bwMode="auto">
            <a:xfrm>
              <a:off x="3741" y="1584"/>
              <a:ext cx="388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　　</a:t>
              </a:r>
              <a:r>
                <a:rPr lang="zh-CN" altLang="en-US" sz="2800">
                  <a:latin typeface="Times New Roman" panose="02020603050405020304" pitchFamily="18" charset="0"/>
                </a:rPr>
                <a:t>…   　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5656" name="Text Box 59"/>
            <p:cNvSpPr txBox="1">
              <a:spLocks noChangeArrowheads="1"/>
            </p:cNvSpPr>
            <p:nvPr/>
          </p:nvSpPr>
          <p:spPr bwMode="auto">
            <a:xfrm>
              <a:off x="3741" y="2784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10049" name="Group 65"/>
          <p:cNvGrpSpPr/>
          <p:nvPr/>
        </p:nvGrpSpPr>
        <p:grpSpPr bwMode="auto">
          <a:xfrm>
            <a:off x="7466018" y="1677988"/>
            <a:ext cx="615951" cy="3200400"/>
            <a:chOff x="3741" y="1056"/>
            <a:chExt cx="388" cy="2016"/>
          </a:xfrm>
        </p:grpSpPr>
        <p:sp>
          <p:nvSpPr>
            <p:cNvPr id="25651" name="Text Box 66"/>
            <p:cNvSpPr txBox="1">
              <a:spLocks noChangeArrowheads="1"/>
            </p:cNvSpPr>
            <p:nvPr/>
          </p:nvSpPr>
          <p:spPr bwMode="auto">
            <a:xfrm>
              <a:off x="3741" y="1056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…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5652" name="Text Box 67"/>
            <p:cNvSpPr txBox="1">
              <a:spLocks noChangeArrowheads="1"/>
            </p:cNvSpPr>
            <p:nvPr/>
          </p:nvSpPr>
          <p:spPr bwMode="auto">
            <a:xfrm>
              <a:off x="3741" y="1584"/>
              <a:ext cx="388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　　</a:t>
              </a:r>
              <a:r>
                <a:rPr lang="zh-CN" altLang="en-US" sz="2800">
                  <a:latin typeface="Times New Roman" panose="02020603050405020304" pitchFamily="18" charset="0"/>
                </a:rPr>
                <a:t>…   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5653" name="Text Box 68"/>
            <p:cNvSpPr txBox="1">
              <a:spLocks noChangeArrowheads="1"/>
            </p:cNvSpPr>
            <p:nvPr/>
          </p:nvSpPr>
          <p:spPr bwMode="auto">
            <a:xfrm>
              <a:off x="3741" y="2784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0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1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81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1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1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81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1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8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8100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0" dur="500"/>
                                        <p:tgtEl>
                                          <p:spTgt spid="81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81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81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81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1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8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810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5" dur="500"/>
                                        <p:tgtEl>
                                          <p:spTgt spid="81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0" dur="500"/>
                                        <p:tgtEl>
                                          <p:spTgt spid="81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0004" grpId="0" autoUpdateAnimBg="0"/>
      <p:bldP spid="810012" grpId="0" autoUpdateAnimBg="0"/>
      <p:bldP spid="810018" grpId="0" autoUpdateAnimBg="0"/>
      <p:bldP spid="810019" grpId="0" autoUpdateAnimBg="0"/>
      <p:bldP spid="810021" grpId="0" autoUpdateAnimBg="0"/>
      <p:bldP spid="810022" grpId="0" animBg="1" autoUpdateAnimBg="0"/>
      <p:bldP spid="810023" grpId="0" animBg="1" autoUpdateAnimBg="0"/>
      <p:bldP spid="810027" grpId="0" autoUpdateAnimBg="0"/>
      <p:bldP spid="81003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965326" y="196850"/>
            <a:ext cx="3444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5. 寄存器寻址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3189288" y="838201"/>
            <a:ext cx="1382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EA = R</a:t>
            </a:r>
            <a:r>
              <a:rPr lang="en-US" altLang="zh-CN" sz="2800" i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endParaRPr lang="en-US" altLang="zh-CN" sz="2800" i="1" baseline="-25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64" name="Text Box 4"/>
          <p:cNvSpPr txBox="1">
            <a:spLocks noChangeArrowheads="1"/>
          </p:cNvSpPr>
          <p:nvPr/>
        </p:nvSpPr>
        <p:spPr bwMode="auto">
          <a:xfrm>
            <a:off x="3352800" y="5715000"/>
            <a:ext cx="678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执行阶段不访存，只访问寄存器，执行速度快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1765" name="Group 5"/>
          <p:cNvGrpSpPr/>
          <p:nvPr/>
        </p:nvGrpSpPr>
        <p:grpSpPr bwMode="auto">
          <a:xfrm>
            <a:off x="3810000" y="1984375"/>
            <a:ext cx="2286000" cy="381000"/>
            <a:chOff x="1104" y="1670"/>
            <a:chExt cx="1440" cy="240"/>
          </a:xfrm>
        </p:grpSpPr>
        <p:sp>
          <p:nvSpPr>
            <p:cNvPr id="26653" name="Rectangle 6"/>
            <p:cNvSpPr>
              <a:spLocks noChangeArrowheads="1"/>
            </p:cNvSpPr>
            <p:nvPr/>
          </p:nvSpPr>
          <p:spPr bwMode="auto">
            <a:xfrm>
              <a:off x="1104" y="167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6654" name="Rectangle 7"/>
            <p:cNvSpPr>
              <a:spLocks noChangeArrowheads="1"/>
            </p:cNvSpPr>
            <p:nvPr/>
          </p:nvSpPr>
          <p:spPr bwMode="auto">
            <a:xfrm>
              <a:off x="1584" y="167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5" name="Rectangle 8"/>
            <p:cNvSpPr>
              <a:spLocks noChangeArrowheads="1"/>
            </p:cNvSpPr>
            <p:nvPr/>
          </p:nvSpPr>
          <p:spPr bwMode="auto">
            <a:xfrm>
              <a:off x="2064" y="167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R</a:t>
              </a:r>
              <a:r>
                <a:rPr lang="en-US" altLang="zh-CN" sz="2000" i="1" baseline="-25000">
                  <a:latin typeface="Times New Roman" panose="02020603050405020304" pitchFamily="18" charset="0"/>
                </a:rPr>
                <a:t>i</a:t>
              </a:r>
              <a:endParaRPr lang="en-US" altLang="zh-CN" sz="2000" i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1769" name="AutoShape 9"/>
          <p:cNvSpPr/>
          <p:nvPr/>
        </p:nvSpPr>
        <p:spPr bwMode="auto">
          <a:xfrm rot="5400000">
            <a:off x="4876800" y="15271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770" name="Text Box 10"/>
          <p:cNvSpPr txBox="1">
            <a:spLocks noChangeArrowheads="1"/>
          </p:cNvSpPr>
          <p:nvPr/>
        </p:nvSpPr>
        <p:spPr bwMode="auto">
          <a:xfrm>
            <a:off x="4343400" y="1447801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01771" name="AutoShape 11"/>
          <p:cNvSpPr/>
          <p:nvPr/>
        </p:nvSpPr>
        <p:spPr bwMode="auto">
          <a:xfrm rot="16200000">
            <a:off x="5638800" y="20605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772" name="Freeform 12"/>
          <p:cNvSpPr/>
          <p:nvPr/>
        </p:nvSpPr>
        <p:spPr bwMode="auto">
          <a:xfrm>
            <a:off x="4648200" y="2517775"/>
            <a:ext cx="1066800" cy="1905000"/>
          </a:xfrm>
          <a:custGeom>
            <a:avLst/>
            <a:gdLst>
              <a:gd name="T0" fmla="*/ 2147483646 w 672"/>
              <a:gd name="T1" fmla="*/ 0 h 1200"/>
              <a:gd name="T2" fmla="*/ 2147483646 w 672"/>
              <a:gd name="T3" fmla="*/ 2147483646 h 1200"/>
              <a:gd name="T4" fmla="*/ 0 w 672"/>
              <a:gd name="T5" fmla="*/ 2147483646 h 1200"/>
              <a:gd name="T6" fmla="*/ 0 w 672"/>
              <a:gd name="T7" fmla="*/ 2147483646 h 1200"/>
              <a:gd name="T8" fmla="*/ 2147483646 w 672"/>
              <a:gd name="T9" fmla="*/ 2147483646 h 1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1200">
                <a:moveTo>
                  <a:pt x="672" y="0"/>
                </a:moveTo>
                <a:lnTo>
                  <a:pt x="672" y="96"/>
                </a:lnTo>
                <a:lnTo>
                  <a:pt x="0" y="96"/>
                </a:lnTo>
                <a:lnTo>
                  <a:pt x="0" y="1200"/>
                </a:lnTo>
                <a:lnTo>
                  <a:pt x="432" y="120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1773" name="Text Box 13"/>
          <p:cNvSpPr txBox="1">
            <a:spLocks noChangeArrowheads="1"/>
          </p:cNvSpPr>
          <p:nvPr/>
        </p:nvSpPr>
        <p:spPr bwMode="auto">
          <a:xfrm>
            <a:off x="3352800" y="6248400"/>
            <a:ext cx="678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寄存器个数有限，可缩短指令字长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1793" name="Group 33"/>
          <p:cNvGrpSpPr/>
          <p:nvPr/>
        </p:nvGrpSpPr>
        <p:grpSpPr bwMode="auto">
          <a:xfrm>
            <a:off x="5222876" y="2760663"/>
            <a:ext cx="1939925" cy="2894012"/>
            <a:chOff x="2330" y="1739"/>
            <a:chExt cx="1222" cy="1823"/>
          </a:xfrm>
        </p:grpSpPr>
        <p:grpSp>
          <p:nvGrpSpPr>
            <p:cNvPr id="26639" name="Group 32"/>
            <p:cNvGrpSpPr/>
            <p:nvPr/>
          </p:nvGrpSpPr>
          <p:grpSpPr bwMode="auto">
            <a:xfrm>
              <a:off x="2330" y="1739"/>
              <a:ext cx="1126" cy="1587"/>
              <a:chOff x="2330" y="1739"/>
              <a:chExt cx="1126" cy="1587"/>
            </a:xfrm>
          </p:grpSpPr>
          <p:sp>
            <p:nvSpPr>
              <p:cNvPr id="26641" name="Rectangle 16"/>
              <p:cNvSpPr>
                <a:spLocks noChangeArrowheads="1"/>
              </p:cNvSpPr>
              <p:nvPr/>
            </p:nvSpPr>
            <p:spPr bwMode="auto">
              <a:xfrm>
                <a:off x="2688" y="2690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操作数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42" name="Rectangle 17"/>
              <p:cNvSpPr>
                <a:spLocks noChangeArrowheads="1"/>
              </p:cNvSpPr>
              <p:nvPr/>
            </p:nvSpPr>
            <p:spPr bwMode="auto">
              <a:xfrm>
                <a:off x="2688" y="2978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43" name="Rectangle 18"/>
              <p:cNvSpPr>
                <a:spLocks noChangeArrowheads="1"/>
              </p:cNvSpPr>
              <p:nvPr/>
            </p:nvSpPr>
            <p:spPr bwMode="auto">
              <a:xfrm>
                <a:off x="2688" y="1826"/>
                <a:ext cx="768" cy="86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644" name="Text Box 19"/>
              <p:cNvSpPr txBox="1">
                <a:spLocks noChangeArrowheads="1"/>
              </p:cNvSpPr>
              <p:nvPr/>
            </p:nvSpPr>
            <p:spPr bwMode="auto">
              <a:xfrm>
                <a:off x="2953" y="2115"/>
                <a:ext cx="310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45" name="Text Box 20"/>
              <p:cNvSpPr txBox="1">
                <a:spLocks noChangeArrowheads="1"/>
              </p:cNvSpPr>
              <p:nvPr/>
            </p:nvSpPr>
            <p:spPr bwMode="auto">
              <a:xfrm>
                <a:off x="2937" y="2328"/>
                <a:ext cx="310" cy="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46" name="Text Box 21"/>
              <p:cNvSpPr txBox="1">
                <a:spLocks noChangeArrowheads="1"/>
              </p:cNvSpPr>
              <p:nvPr/>
            </p:nvSpPr>
            <p:spPr bwMode="auto">
              <a:xfrm>
                <a:off x="2953" y="3009"/>
                <a:ext cx="310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47" name="Text Box 22"/>
              <p:cNvSpPr txBox="1">
                <a:spLocks noChangeArrowheads="1"/>
              </p:cNvSpPr>
              <p:nvPr/>
            </p:nvSpPr>
            <p:spPr bwMode="auto">
              <a:xfrm>
                <a:off x="2330" y="2214"/>
                <a:ext cx="310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48" name="Text Box 23"/>
              <p:cNvSpPr txBox="1">
                <a:spLocks noChangeArrowheads="1"/>
              </p:cNvSpPr>
              <p:nvPr/>
            </p:nvSpPr>
            <p:spPr bwMode="auto">
              <a:xfrm>
                <a:off x="2341" y="2328"/>
                <a:ext cx="310" cy="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49" name="Text Box 24"/>
              <p:cNvSpPr txBox="1">
                <a:spLocks noChangeArrowheads="1"/>
              </p:cNvSpPr>
              <p:nvPr/>
            </p:nvSpPr>
            <p:spPr bwMode="auto">
              <a:xfrm>
                <a:off x="2350" y="2904"/>
                <a:ext cx="310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0" name="Text Box 25"/>
              <p:cNvSpPr txBox="1">
                <a:spLocks noChangeArrowheads="1"/>
              </p:cNvSpPr>
              <p:nvPr/>
            </p:nvSpPr>
            <p:spPr bwMode="auto">
              <a:xfrm>
                <a:off x="2342" y="1739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20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1" name="Text Box 26"/>
              <p:cNvSpPr txBox="1">
                <a:spLocks noChangeArrowheads="1"/>
              </p:cNvSpPr>
              <p:nvPr/>
            </p:nvSpPr>
            <p:spPr bwMode="auto">
              <a:xfrm>
                <a:off x="2356" y="2680"/>
                <a:ext cx="26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-25000">
                    <a:latin typeface="Times New Roman" panose="02020603050405020304" pitchFamily="18" charset="0"/>
                  </a:rPr>
                  <a:t>i</a:t>
                </a:r>
                <a:endParaRPr lang="en-US" altLang="zh-CN" sz="2000" i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2" name="Text Box 27"/>
              <p:cNvSpPr txBox="1">
                <a:spLocks noChangeArrowheads="1"/>
              </p:cNvSpPr>
              <p:nvPr/>
            </p:nvSpPr>
            <p:spPr bwMode="auto">
              <a:xfrm>
                <a:off x="2356" y="3074"/>
                <a:ext cx="27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-25000">
                    <a:latin typeface="Times New Roman" panose="02020603050405020304" pitchFamily="18" charset="0"/>
                  </a:rPr>
                  <a:t>n</a:t>
                </a:r>
                <a:endParaRPr lang="en-US" altLang="zh-CN" sz="2000" i="1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40" name="Text Box 28"/>
            <p:cNvSpPr txBox="1">
              <a:spLocks noChangeArrowheads="1"/>
            </p:cNvSpPr>
            <p:nvPr/>
          </p:nvSpPr>
          <p:spPr bwMode="auto">
            <a:xfrm>
              <a:off x="2784" y="3312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寄存器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1789" name="Text Box 29"/>
          <p:cNvSpPr txBox="1">
            <a:spLocks noChangeArrowheads="1"/>
          </p:cNvSpPr>
          <p:nvPr/>
        </p:nvSpPr>
        <p:spPr bwMode="auto">
          <a:xfrm>
            <a:off x="5029200" y="838201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有效地址即为寄存器编号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0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0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0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50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50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50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0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0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63" grpId="0" autoUpdateAnimBg="0"/>
      <p:bldP spid="501764" grpId="0" autoUpdateAnimBg="0"/>
      <p:bldP spid="501770" grpId="0" autoUpdateAnimBg="0"/>
      <p:bldP spid="501773" grpId="0" autoUpdateAnimBg="0"/>
      <p:bldP spid="50178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Text Box 2"/>
          <p:cNvSpPr txBox="1">
            <a:spLocks noChangeArrowheads="1"/>
          </p:cNvSpPr>
          <p:nvPr/>
        </p:nvSpPr>
        <p:spPr bwMode="auto">
          <a:xfrm>
            <a:off x="3182938" y="762001"/>
            <a:ext cx="1770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EA = ( R</a:t>
            </a:r>
            <a:r>
              <a:rPr lang="en-US" altLang="zh-CN" sz="2800" i="1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aseline="-25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965326" y="120650"/>
            <a:ext cx="38528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6. 寄存器间接寻址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02788" name="Text Box 4"/>
          <p:cNvSpPr txBox="1">
            <a:spLocks noChangeArrowheads="1"/>
          </p:cNvSpPr>
          <p:nvPr/>
        </p:nvSpPr>
        <p:spPr bwMode="auto">
          <a:xfrm>
            <a:off x="2019300" y="5686426"/>
            <a:ext cx="845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有效地址在寄存器中， 操作数在存储器中，执行阶段访存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789" name="Line 5"/>
          <p:cNvSpPr>
            <a:spLocks noChangeShapeType="1"/>
          </p:cNvSpPr>
          <p:nvPr/>
        </p:nvSpPr>
        <p:spPr bwMode="auto">
          <a:xfrm>
            <a:off x="6324600" y="443865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02790" name="Group 6"/>
          <p:cNvGrpSpPr/>
          <p:nvPr/>
        </p:nvGrpSpPr>
        <p:grpSpPr bwMode="auto">
          <a:xfrm>
            <a:off x="7010400" y="1844676"/>
            <a:ext cx="1295400" cy="3260725"/>
            <a:chOff x="2928" y="1726"/>
            <a:chExt cx="816" cy="2054"/>
          </a:xfrm>
        </p:grpSpPr>
        <p:sp>
          <p:nvSpPr>
            <p:cNvPr id="27679" name="Rectangle 7"/>
            <p:cNvSpPr>
              <a:spLocks noChangeArrowheads="1"/>
            </p:cNvSpPr>
            <p:nvPr/>
          </p:nvSpPr>
          <p:spPr bwMode="auto">
            <a:xfrm>
              <a:off x="2928" y="2004"/>
              <a:ext cx="816" cy="17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0" name="Line 8"/>
            <p:cNvSpPr>
              <a:spLocks noChangeShapeType="1"/>
            </p:cNvSpPr>
            <p:nvPr/>
          </p:nvSpPr>
          <p:spPr bwMode="auto">
            <a:xfrm>
              <a:off x="2928" y="320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1" name="Line 9"/>
            <p:cNvSpPr>
              <a:spLocks noChangeShapeType="1"/>
            </p:cNvSpPr>
            <p:nvPr/>
          </p:nvSpPr>
          <p:spPr bwMode="auto">
            <a:xfrm>
              <a:off x="2928" y="349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2" name="Text Box 10"/>
            <p:cNvSpPr txBox="1">
              <a:spLocks noChangeArrowheads="1"/>
            </p:cNvSpPr>
            <p:nvPr/>
          </p:nvSpPr>
          <p:spPr bwMode="auto">
            <a:xfrm>
              <a:off x="3072" y="321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操作数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7683" name="Text Box 11"/>
            <p:cNvSpPr txBox="1">
              <a:spLocks noChangeArrowheads="1"/>
            </p:cNvSpPr>
            <p:nvPr/>
          </p:nvSpPr>
          <p:spPr bwMode="auto">
            <a:xfrm>
              <a:off x="3110" y="1726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2796" name="Group 12"/>
          <p:cNvGrpSpPr/>
          <p:nvPr/>
        </p:nvGrpSpPr>
        <p:grpSpPr bwMode="auto">
          <a:xfrm>
            <a:off x="3048000" y="1908175"/>
            <a:ext cx="2286000" cy="381000"/>
            <a:chOff x="1104" y="1670"/>
            <a:chExt cx="1440" cy="240"/>
          </a:xfrm>
        </p:grpSpPr>
        <p:sp>
          <p:nvSpPr>
            <p:cNvPr id="27676" name="Rectangle 13"/>
            <p:cNvSpPr>
              <a:spLocks noChangeArrowheads="1"/>
            </p:cNvSpPr>
            <p:nvPr/>
          </p:nvSpPr>
          <p:spPr bwMode="auto">
            <a:xfrm>
              <a:off x="1104" y="167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7677" name="Rectangle 14"/>
            <p:cNvSpPr>
              <a:spLocks noChangeArrowheads="1"/>
            </p:cNvSpPr>
            <p:nvPr/>
          </p:nvSpPr>
          <p:spPr bwMode="auto">
            <a:xfrm>
              <a:off x="1584" y="167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78" name="Rectangle 15"/>
            <p:cNvSpPr>
              <a:spLocks noChangeArrowheads="1"/>
            </p:cNvSpPr>
            <p:nvPr/>
          </p:nvSpPr>
          <p:spPr bwMode="auto">
            <a:xfrm>
              <a:off x="2064" y="167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R</a:t>
              </a:r>
              <a:r>
                <a:rPr lang="en-US" altLang="zh-CN" sz="2000" i="1" baseline="-25000">
                  <a:latin typeface="Times New Roman" panose="02020603050405020304" pitchFamily="18" charset="0"/>
                </a:rPr>
                <a:t>i</a:t>
              </a:r>
              <a:endParaRPr lang="en-US" altLang="zh-CN" sz="2000" i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2800" name="AutoShape 16"/>
          <p:cNvSpPr/>
          <p:nvPr/>
        </p:nvSpPr>
        <p:spPr bwMode="auto">
          <a:xfrm rot="5400000">
            <a:off x="4114800" y="14509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2801" name="Text Box 17"/>
          <p:cNvSpPr txBox="1">
            <a:spLocks noChangeArrowheads="1"/>
          </p:cNvSpPr>
          <p:nvPr/>
        </p:nvSpPr>
        <p:spPr bwMode="auto">
          <a:xfrm>
            <a:off x="3581400" y="1371601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02802" name="AutoShape 18"/>
          <p:cNvSpPr/>
          <p:nvPr/>
        </p:nvSpPr>
        <p:spPr bwMode="auto">
          <a:xfrm rot="16200000">
            <a:off x="4876800" y="19843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2803" name="Freeform 19"/>
          <p:cNvSpPr/>
          <p:nvPr/>
        </p:nvSpPr>
        <p:spPr bwMode="auto">
          <a:xfrm>
            <a:off x="3886200" y="2441575"/>
            <a:ext cx="1066800" cy="1905000"/>
          </a:xfrm>
          <a:custGeom>
            <a:avLst/>
            <a:gdLst>
              <a:gd name="T0" fmla="*/ 2147483646 w 672"/>
              <a:gd name="T1" fmla="*/ 0 h 1200"/>
              <a:gd name="T2" fmla="*/ 2147483646 w 672"/>
              <a:gd name="T3" fmla="*/ 2147483646 h 1200"/>
              <a:gd name="T4" fmla="*/ 0 w 672"/>
              <a:gd name="T5" fmla="*/ 2147483646 h 1200"/>
              <a:gd name="T6" fmla="*/ 0 w 672"/>
              <a:gd name="T7" fmla="*/ 2147483646 h 1200"/>
              <a:gd name="T8" fmla="*/ 2147483646 w 672"/>
              <a:gd name="T9" fmla="*/ 2147483646 h 1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1200">
                <a:moveTo>
                  <a:pt x="672" y="0"/>
                </a:moveTo>
                <a:lnTo>
                  <a:pt x="672" y="96"/>
                </a:lnTo>
                <a:lnTo>
                  <a:pt x="0" y="96"/>
                </a:lnTo>
                <a:lnTo>
                  <a:pt x="0" y="1200"/>
                </a:lnTo>
                <a:lnTo>
                  <a:pt x="432" y="120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02826" name="Group 42"/>
          <p:cNvGrpSpPr/>
          <p:nvPr/>
        </p:nvGrpSpPr>
        <p:grpSpPr bwMode="auto">
          <a:xfrm>
            <a:off x="4479926" y="2684464"/>
            <a:ext cx="1997075" cy="2878137"/>
            <a:chOff x="1862" y="1691"/>
            <a:chExt cx="1258" cy="1813"/>
          </a:xfrm>
        </p:grpSpPr>
        <p:grpSp>
          <p:nvGrpSpPr>
            <p:cNvPr id="27664" name="Group 41"/>
            <p:cNvGrpSpPr/>
            <p:nvPr/>
          </p:nvGrpSpPr>
          <p:grpSpPr bwMode="auto">
            <a:xfrm>
              <a:off x="1862" y="1691"/>
              <a:ext cx="1114" cy="1587"/>
              <a:chOff x="1862" y="1691"/>
              <a:chExt cx="1114" cy="1587"/>
            </a:xfrm>
          </p:grpSpPr>
          <p:sp>
            <p:nvSpPr>
              <p:cNvPr id="27666" name="Rectangle 23"/>
              <p:cNvSpPr>
                <a:spLocks noChangeArrowheads="1"/>
              </p:cNvSpPr>
              <p:nvPr/>
            </p:nvSpPr>
            <p:spPr bwMode="auto">
              <a:xfrm>
                <a:off x="2208" y="2642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地址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67" name="Rectangle 24"/>
              <p:cNvSpPr>
                <a:spLocks noChangeArrowheads="1"/>
              </p:cNvSpPr>
              <p:nvPr/>
            </p:nvSpPr>
            <p:spPr bwMode="auto">
              <a:xfrm>
                <a:off x="2208" y="2930"/>
                <a:ext cx="768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668" name="Rectangle 25"/>
              <p:cNvSpPr>
                <a:spLocks noChangeArrowheads="1"/>
              </p:cNvSpPr>
              <p:nvPr/>
            </p:nvSpPr>
            <p:spPr bwMode="auto">
              <a:xfrm>
                <a:off x="2208" y="1778"/>
                <a:ext cx="768" cy="86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669" name="Text Box 26"/>
              <p:cNvSpPr txBox="1">
                <a:spLocks noChangeArrowheads="1"/>
              </p:cNvSpPr>
              <p:nvPr/>
            </p:nvSpPr>
            <p:spPr bwMode="auto">
              <a:xfrm>
                <a:off x="2482" y="2141"/>
                <a:ext cx="310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0" name="Text Box 28"/>
              <p:cNvSpPr txBox="1">
                <a:spLocks noChangeArrowheads="1"/>
              </p:cNvSpPr>
              <p:nvPr/>
            </p:nvSpPr>
            <p:spPr bwMode="auto">
              <a:xfrm>
                <a:off x="2482" y="2970"/>
                <a:ext cx="310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1" name="Text Box 29"/>
              <p:cNvSpPr txBox="1">
                <a:spLocks noChangeArrowheads="1"/>
              </p:cNvSpPr>
              <p:nvPr/>
            </p:nvSpPr>
            <p:spPr bwMode="auto">
              <a:xfrm>
                <a:off x="1868" y="2141"/>
                <a:ext cx="310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2" name="Text Box 31"/>
              <p:cNvSpPr txBox="1">
                <a:spLocks noChangeArrowheads="1"/>
              </p:cNvSpPr>
              <p:nvPr/>
            </p:nvSpPr>
            <p:spPr bwMode="auto">
              <a:xfrm>
                <a:off x="1888" y="2856"/>
                <a:ext cx="310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3" name="Text Box 32"/>
              <p:cNvSpPr txBox="1">
                <a:spLocks noChangeArrowheads="1"/>
              </p:cNvSpPr>
              <p:nvPr/>
            </p:nvSpPr>
            <p:spPr bwMode="auto">
              <a:xfrm>
                <a:off x="1862" y="1691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20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4" name="Text Box 33"/>
              <p:cNvSpPr txBox="1">
                <a:spLocks noChangeArrowheads="1"/>
              </p:cNvSpPr>
              <p:nvPr/>
            </p:nvSpPr>
            <p:spPr bwMode="auto">
              <a:xfrm>
                <a:off x="1876" y="2632"/>
                <a:ext cx="26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-25000">
                    <a:latin typeface="Times New Roman" panose="02020603050405020304" pitchFamily="18" charset="0"/>
                  </a:rPr>
                  <a:t>i</a:t>
                </a:r>
                <a:endParaRPr lang="en-US" altLang="zh-CN" sz="2000" i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5" name="Text Box 34"/>
              <p:cNvSpPr txBox="1">
                <a:spLocks noChangeArrowheads="1"/>
              </p:cNvSpPr>
              <p:nvPr/>
            </p:nvSpPr>
            <p:spPr bwMode="auto">
              <a:xfrm>
                <a:off x="1876" y="3026"/>
                <a:ext cx="27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-25000">
                    <a:latin typeface="Times New Roman" panose="02020603050405020304" pitchFamily="18" charset="0"/>
                  </a:rPr>
                  <a:t>n</a:t>
                </a:r>
                <a:endParaRPr lang="en-US" altLang="zh-CN" sz="2000" i="1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7665" name="Text Box 35"/>
            <p:cNvSpPr txBox="1">
              <a:spLocks noChangeArrowheads="1"/>
            </p:cNvSpPr>
            <p:nvPr/>
          </p:nvSpPr>
          <p:spPr bwMode="auto">
            <a:xfrm>
              <a:off x="2304" y="3254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寄存器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2820" name="Text Box 36"/>
          <p:cNvSpPr txBox="1">
            <a:spLocks noChangeArrowheads="1"/>
          </p:cNvSpPr>
          <p:nvPr/>
        </p:nvSpPr>
        <p:spPr bwMode="auto">
          <a:xfrm>
            <a:off x="5562600" y="762001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有效地址在寄存器中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0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0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0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50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50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50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50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50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0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6" grpId="0" autoUpdateAnimBg="0"/>
      <p:bldP spid="502788" grpId="0" autoUpdateAnimBg="0"/>
      <p:bldP spid="502801" grpId="0" autoUpdateAnimBg="0"/>
      <p:bldP spid="50282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2057400" y="152400"/>
            <a:ext cx="3390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7. 基址寻址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03811" name="Text Box 3"/>
          <p:cNvSpPr txBox="1">
            <a:spLocks noChangeArrowheads="1"/>
          </p:cNvSpPr>
          <p:nvPr/>
        </p:nvSpPr>
        <p:spPr bwMode="auto">
          <a:xfrm>
            <a:off x="2422526" y="838201"/>
            <a:ext cx="634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采用专用寄存器作基址寄存器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03812" name="Text Box 4"/>
          <p:cNvSpPr txBox="1">
            <a:spLocks noChangeArrowheads="1"/>
          </p:cNvSpPr>
          <p:nvPr/>
        </p:nvSpPr>
        <p:spPr bwMode="auto">
          <a:xfrm>
            <a:off x="3184526" y="1371601"/>
            <a:ext cx="2606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EA = ( BR ) + A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3813" name="Text Box 5"/>
          <p:cNvSpPr txBox="1">
            <a:spLocks noChangeArrowheads="1"/>
          </p:cNvSpPr>
          <p:nvPr/>
        </p:nvSpPr>
        <p:spPr bwMode="auto">
          <a:xfrm>
            <a:off x="6537326" y="1371601"/>
            <a:ext cx="2987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BR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为基址寄存器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3814" name="Group 6"/>
          <p:cNvGrpSpPr/>
          <p:nvPr/>
        </p:nvGrpSpPr>
        <p:grpSpPr bwMode="auto">
          <a:xfrm>
            <a:off x="4495800" y="2517775"/>
            <a:ext cx="2286000" cy="381000"/>
            <a:chOff x="1584" y="1586"/>
            <a:chExt cx="1440" cy="240"/>
          </a:xfrm>
        </p:grpSpPr>
        <p:sp>
          <p:nvSpPr>
            <p:cNvPr id="28703" name="Rectangle 7"/>
            <p:cNvSpPr>
              <a:spLocks noChangeArrowheads="1"/>
            </p:cNvSpPr>
            <p:nvPr/>
          </p:nvSpPr>
          <p:spPr bwMode="auto">
            <a:xfrm>
              <a:off x="1584" y="158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8704" name="Rectangle 8"/>
            <p:cNvSpPr>
              <a:spLocks noChangeArrowheads="1"/>
            </p:cNvSpPr>
            <p:nvPr/>
          </p:nvSpPr>
          <p:spPr bwMode="auto">
            <a:xfrm>
              <a:off x="2064" y="1586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5" name="Rectangle 9"/>
            <p:cNvSpPr>
              <a:spLocks noChangeArrowheads="1"/>
            </p:cNvSpPr>
            <p:nvPr/>
          </p:nvSpPr>
          <p:spPr bwMode="auto">
            <a:xfrm>
              <a:off x="2544" y="158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3818" name="Group 10"/>
          <p:cNvGrpSpPr/>
          <p:nvPr/>
        </p:nvGrpSpPr>
        <p:grpSpPr bwMode="auto">
          <a:xfrm>
            <a:off x="7315200" y="2593976"/>
            <a:ext cx="1219200" cy="2435225"/>
            <a:chOff x="3360" y="1586"/>
            <a:chExt cx="768" cy="1534"/>
          </a:xfrm>
        </p:grpSpPr>
        <p:sp>
          <p:nvSpPr>
            <p:cNvPr id="28699" name="Rectangle 11"/>
            <p:cNvSpPr>
              <a:spLocks noChangeArrowheads="1"/>
            </p:cNvSpPr>
            <p:nvPr/>
          </p:nvSpPr>
          <p:spPr bwMode="auto">
            <a:xfrm>
              <a:off x="3360" y="283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0" name="Rectangle 12"/>
            <p:cNvSpPr>
              <a:spLocks noChangeArrowheads="1"/>
            </p:cNvSpPr>
            <p:nvPr/>
          </p:nvSpPr>
          <p:spPr bwMode="auto">
            <a:xfrm>
              <a:off x="3360" y="1824"/>
              <a:ext cx="768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1" name="Rectangle 13"/>
            <p:cNvSpPr>
              <a:spLocks noChangeArrowheads="1"/>
            </p:cNvSpPr>
            <p:nvPr/>
          </p:nvSpPr>
          <p:spPr bwMode="auto">
            <a:xfrm>
              <a:off x="3360" y="254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操作数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8702" name="Text Box 14"/>
            <p:cNvSpPr txBox="1">
              <a:spLocks noChangeArrowheads="1"/>
            </p:cNvSpPr>
            <p:nvPr/>
          </p:nvSpPr>
          <p:spPr bwMode="auto">
            <a:xfrm>
              <a:off x="3546" y="1586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3823" name="AutoShape 15"/>
          <p:cNvSpPr/>
          <p:nvPr/>
        </p:nvSpPr>
        <p:spPr bwMode="auto">
          <a:xfrm rot="5400000">
            <a:off x="5562600" y="20605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3824" name="Text Box 16"/>
          <p:cNvSpPr txBox="1">
            <a:spLocks noChangeArrowheads="1"/>
          </p:cNvSpPr>
          <p:nvPr/>
        </p:nvSpPr>
        <p:spPr bwMode="auto">
          <a:xfrm>
            <a:off x="5029200" y="1981201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03825" name="AutoShape 17"/>
          <p:cNvSpPr/>
          <p:nvPr/>
        </p:nvSpPr>
        <p:spPr bwMode="auto">
          <a:xfrm rot="16200000">
            <a:off x="6324600" y="25939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03826" name="Group 18"/>
          <p:cNvGrpSpPr/>
          <p:nvPr/>
        </p:nvGrpSpPr>
        <p:grpSpPr bwMode="auto">
          <a:xfrm>
            <a:off x="5562600" y="3581401"/>
            <a:ext cx="1066800" cy="549275"/>
            <a:chOff x="2256" y="2256"/>
            <a:chExt cx="672" cy="346"/>
          </a:xfrm>
        </p:grpSpPr>
        <p:sp>
          <p:nvSpPr>
            <p:cNvPr id="28697" name="Freeform 19"/>
            <p:cNvSpPr/>
            <p:nvPr/>
          </p:nvSpPr>
          <p:spPr bwMode="auto">
            <a:xfrm>
              <a:off x="2256" y="2256"/>
              <a:ext cx="672" cy="338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29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38 h 338"/>
                <a:gd name="T12" fmla="*/ 192 w 672"/>
                <a:gd name="T13" fmla="*/ 336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8" name="Text Box 20"/>
            <p:cNvSpPr txBox="1">
              <a:spLocks noChangeArrowheads="1"/>
            </p:cNvSpPr>
            <p:nvPr/>
          </p:nvSpPr>
          <p:spPr bwMode="auto">
            <a:xfrm>
              <a:off x="2377" y="2352"/>
              <a:ext cx="4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ALU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3829" name="Group 21"/>
          <p:cNvGrpSpPr/>
          <p:nvPr/>
        </p:nvGrpSpPr>
        <p:grpSpPr bwMode="auto">
          <a:xfrm>
            <a:off x="3962400" y="3733801"/>
            <a:ext cx="990600" cy="396875"/>
            <a:chOff x="1248" y="2352"/>
            <a:chExt cx="624" cy="250"/>
          </a:xfrm>
        </p:grpSpPr>
        <p:sp>
          <p:nvSpPr>
            <p:cNvPr id="28695" name="Text Box 22"/>
            <p:cNvSpPr txBox="1">
              <a:spLocks noChangeArrowheads="1"/>
            </p:cNvSpPr>
            <p:nvPr/>
          </p:nvSpPr>
          <p:spPr bwMode="auto">
            <a:xfrm>
              <a:off x="1382" y="2352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BR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8696" name="Rectangle 23"/>
            <p:cNvSpPr>
              <a:spLocks noChangeArrowheads="1"/>
            </p:cNvSpPr>
            <p:nvPr/>
          </p:nvSpPr>
          <p:spPr bwMode="auto">
            <a:xfrm>
              <a:off x="1248" y="2352"/>
              <a:ext cx="62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03832" name="AutoShape 24"/>
          <p:cNvSpPr/>
          <p:nvPr/>
        </p:nvSpPr>
        <p:spPr bwMode="auto">
          <a:xfrm rot="16200000">
            <a:off x="4343400" y="37338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3833" name="Freeform 25"/>
          <p:cNvSpPr/>
          <p:nvPr/>
        </p:nvSpPr>
        <p:spPr bwMode="auto">
          <a:xfrm>
            <a:off x="4448176" y="3200401"/>
            <a:ext cx="1266825" cy="1376363"/>
          </a:xfrm>
          <a:custGeom>
            <a:avLst/>
            <a:gdLst>
              <a:gd name="T0" fmla="*/ 0 w 798"/>
              <a:gd name="T1" fmla="*/ 2147483646 h 867"/>
              <a:gd name="T2" fmla="*/ 2147483646 w 798"/>
              <a:gd name="T3" fmla="*/ 2147483646 h 867"/>
              <a:gd name="T4" fmla="*/ 2147483646 w 798"/>
              <a:gd name="T5" fmla="*/ 2147483646 h 867"/>
              <a:gd name="T6" fmla="*/ 2147483646 w 798"/>
              <a:gd name="T7" fmla="*/ 0 h 867"/>
              <a:gd name="T8" fmla="*/ 2147483646 w 798"/>
              <a:gd name="T9" fmla="*/ 0 h 867"/>
              <a:gd name="T10" fmla="*/ 2147483646 w 798"/>
              <a:gd name="T11" fmla="*/ 2147483646 h 86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" h="867">
                <a:moveTo>
                  <a:pt x="0" y="708"/>
                </a:moveTo>
                <a:lnTo>
                  <a:pt x="3" y="867"/>
                </a:lnTo>
                <a:lnTo>
                  <a:pt x="371" y="864"/>
                </a:lnTo>
                <a:lnTo>
                  <a:pt x="371" y="0"/>
                </a:lnTo>
                <a:lnTo>
                  <a:pt x="798" y="0"/>
                </a:lnTo>
                <a:lnTo>
                  <a:pt x="798" y="24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3834" name="Line 26"/>
          <p:cNvSpPr>
            <a:spLocks noChangeShapeType="1"/>
          </p:cNvSpPr>
          <p:nvPr/>
        </p:nvSpPr>
        <p:spPr bwMode="auto">
          <a:xfrm>
            <a:off x="6400800" y="30480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3835" name="Freeform 27"/>
          <p:cNvSpPr/>
          <p:nvPr/>
        </p:nvSpPr>
        <p:spPr bwMode="auto">
          <a:xfrm>
            <a:off x="6096000" y="4114800"/>
            <a:ext cx="1219200" cy="228600"/>
          </a:xfrm>
          <a:custGeom>
            <a:avLst/>
            <a:gdLst>
              <a:gd name="T0" fmla="*/ 0 w 768"/>
              <a:gd name="T1" fmla="*/ 0 h 144"/>
              <a:gd name="T2" fmla="*/ 0 w 768"/>
              <a:gd name="T3" fmla="*/ 2147483646 h 144"/>
              <a:gd name="T4" fmla="*/ 2147483646 w 768"/>
              <a:gd name="T5" fmla="*/ 2147483646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8" h="144">
                <a:moveTo>
                  <a:pt x="0" y="0"/>
                </a:moveTo>
                <a:lnTo>
                  <a:pt x="0" y="144"/>
                </a:lnTo>
                <a:lnTo>
                  <a:pt x="768" y="144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3836" name="Text Box 28"/>
          <p:cNvSpPr txBox="1">
            <a:spLocks noChangeArrowheads="1"/>
          </p:cNvSpPr>
          <p:nvPr/>
        </p:nvSpPr>
        <p:spPr bwMode="auto">
          <a:xfrm>
            <a:off x="2651125" y="4697413"/>
            <a:ext cx="2497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可扩大寻址范围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3837" name="Text Box 29"/>
          <p:cNvSpPr txBox="1">
            <a:spLocks noChangeArrowheads="1"/>
          </p:cNvSpPr>
          <p:nvPr/>
        </p:nvSpPr>
        <p:spPr bwMode="auto">
          <a:xfrm>
            <a:off x="2651125" y="5164138"/>
            <a:ext cx="3373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有利于多道程序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3838" name="Text Box 30"/>
          <p:cNvSpPr txBox="1">
            <a:spLocks noChangeArrowheads="1"/>
          </p:cNvSpPr>
          <p:nvPr/>
        </p:nvSpPr>
        <p:spPr bwMode="auto">
          <a:xfrm>
            <a:off x="2667000" y="5603875"/>
            <a:ext cx="7391400" cy="49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BR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内容由操作系统或管理程序确定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3839" name="Text Box 31"/>
          <p:cNvSpPr txBox="1">
            <a:spLocks noChangeArrowheads="1"/>
          </p:cNvSpPr>
          <p:nvPr/>
        </p:nvSpPr>
        <p:spPr bwMode="auto">
          <a:xfrm>
            <a:off x="2667000" y="6096000"/>
            <a:ext cx="8229600" cy="49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在程序的执行过程中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BR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内容不变，形式地址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可变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0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0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0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50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50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50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50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50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50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50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50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0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0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50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50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1" grpId="0" autoUpdateAnimBg="0"/>
      <p:bldP spid="503812" grpId="0" autoUpdateAnimBg="0"/>
      <p:bldP spid="503813" grpId="0" autoUpdateAnimBg="0"/>
      <p:bldP spid="503824" grpId="0" autoUpdateAnimBg="0"/>
      <p:bldP spid="503836" grpId="0" autoUpdateAnimBg="0"/>
      <p:bldP spid="503837" grpId="0" autoUpdateAnimBg="0"/>
      <p:bldP spid="503838" grpId="0" autoUpdateAnimBg="0"/>
      <p:bldP spid="50383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905001" y="381000"/>
            <a:ext cx="60753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(2)</a:t>
            </a:r>
            <a:r>
              <a:rPr lang="zh-CN" altLang="en-US" sz="3600">
                <a:latin typeface="Times New Roman" panose="02020603050405020304" pitchFamily="18" charset="0"/>
              </a:rPr>
              <a:t> </a:t>
            </a:r>
            <a:r>
              <a:rPr lang="zh-CN" altLang="en-US" sz="3200">
                <a:latin typeface="Times New Roman" panose="02020603050405020304" pitchFamily="18" charset="0"/>
              </a:rPr>
              <a:t>采用通用寄存器作基址寄存器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504835" name="Group 3"/>
          <p:cNvGrpSpPr/>
          <p:nvPr/>
        </p:nvGrpSpPr>
        <p:grpSpPr bwMode="auto">
          <a:xfrm>
            <a:off x="7010400" y="2212976"/>
            <a:ext cx="1219200" cy="2435225"/>
            <a:chOff x="3456" y="1394"/>
            <a:chExt cx="768" cy="1534"/>
          </a:xfrm>
        </p:grpSpPr>
        <p:sp>
          <p:nvSpPr>
            <p:cNvPr id="29730" name="Rectangle 4"/>
            <p:cNvSpPr>
              <a:spLocks noChangeArrowheads="1"/>
            </p:cNvSpPr>
            <p:nvPr/>
          </p:nvSpPr>
          <p:spPr bwMode="auto">
            <a:xfrm>
              <a:off x="3456" y="1632"/>
              <a:ext cx="768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31" name="Rectangle 5"/>
            <p:cNvSpPr>
              <a:spLocks noChangeArrowheads="1"/>
            </p:cNvSpPr>
            <p:nvPr/>
          </p:nvSpPr>
          <p:spPr bwMode="auto">
            <a:xfrm>
              <a:off x="3456" y="2352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操作数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32" name="Rectangle 6"/>
            <p:cNvSpPr>
              <a:spLocks noChangeArrowheads="1"/>
            </p:cNvSpPr>
            <p:nvPr/>
          </p:nvSpPr>
          <p:spPr bwMode="auto">
            <a:xfrm>
              <a:off x="3456" y="2640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33" name="Text Box 7"/>
            <p:cNvSpPr txBox="1">
              <a:spLocks noChangeArrowheads="1"/>
            </p:cNvSpPr>
            <p:nvPr/>
          </p:nvSpPr>
          <p:spPr bwMode="auto">
            <a:xfrm>
              <a:off x="3642" y="1394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4840" name="AutoShape 8"/>
          <p:cNvSpPr/>
          <p:nvPr/>
        </p:nvSpPr>
        <p:spPr bwMode="auto">
          <a:xfrm rot="5400000">
            <a:off x="5105400" y="11461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4841" name="Text Box 9"/>
          <p:cNvSpPr txBox="1">
            <a:spLocks noChangeArrowheads="1"/>
          </p:cNvSpPr>
          <p:nvPr/>
        </p:nvSpPr>
        <p:spPr bwMode="auto">
          <a:xfrm>
            <a:off x="4572000" y="1066801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504842" name="Group 10"/>
          <p:cNvGrpSpPr/>
          <p:nvPr/>
        </p:nvGrpSpPr>
        <p:grpSpPr bwMode="auto">
          <a:xfrm>
            <a:off x="5715000" y="3124201"/>
            <a:ext cx="1066800" cy="549275"/>
            <a:chOff x="2640" y="1968"/>
            <a:chExt cx="672" cy="346"/>
          </a:xfrm>
        </p:grpSpPr>
        <p:sp>
          <p:nvSpPr>
            <p:cNvPr id="29728" name="Freeform 11"/>
            <p:cNvSpPr/>
            <p:nvPr/>
          </p:nvSpPr>
          <p:spPr bwMode="auto">
            <a:xfrm>
              <a:off x="2640" y="1968"/>
              <a:ext cx="672" cy="338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29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38 h 338"/>
                <a:gd name="T12" fmla="*/ 192 w 672"/>
                <a:gd name="T13" fmla="*/ 336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9" name="Text Box 12"/>
            <p:cNvSpPr txBox="1">
              <a:spLocks noChangeArrowheads="1"/>
            </p:cNvSpPr>
            <p:nvPr/>
          </p:nvSpPr>
          <p:spPr bwMode="auto">
            <a:xfrm>
              <a:off x="2761" y="2064"/>
              <a:ext cx="4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ALU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4845" name="Group 13"/>
          <p:cNvGrpSpPr/>
          <p:nvPr/>
        </p:nvGrpSpPr>
        <p:grpSpPr bwMode="auto">
          <a:xfrm>
            <a:off x="4038600" y="1603375"/>
            <a:ext cx="2895600" cy="381000"/>
            <a:chOff x="1584" y="1010"/>
            <a:chExt cx="1824" cy="240"/>
          </a:xfrm>
        </p:grpSpPr>
        <p:sp>
          <p:nvSpPr>
            <p:cNvPr id="29724" name="Rectangle 14"/>
            <p:cNvSpPr>
              <a:spLocks noChangeArrowheads="1"/>
            </p:cNvSpPr>
            <p:nvPr/>
          </p:nvSpPr>
          <p:spPr bwMode="auto">
            <a:xfrm>
              <a:off x="1584" y="1010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9725" name="Rectangle 15"/>
            <p:cNvSpPr>
              <a:spLocks noChangeArrowheads="1"/>
            </p:cNvSpPr>
            <p:nvPr/>
          </p:nvSpPr>
          <p:spPr bwMode="auto">
            <a:xfrm>
              <a:off x="2064" y="1010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26" name="Rectangle 16"/>
            <p:cNvSpPr>
              <a:spLocks noChangeArrowheads="1"/>
            </p:cNvSpPr>
            <p:nvPr/>
          </p:nvSpPr>
          <p:spPr bwMode="auto">
            <a:xfrm>
              <a:off x="2544" y="1010"/>
              <a:ext cx="33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0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27" name="Rectangle 17"/>
            <p:cNvSpPr>
              <a:spLocks noChangeArrowheads="1"/>
            </p:cNvSpPr>
            <p:nvPr/>
          </p:nvSpPr>
          <p:spPr bwMode="auto">
            <a:xfrm>
              <a:off x="2880" y="1010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4850" name="Line 18"/>
          <p:cNvSpPr>
            <a:spLocks noChangeShapeType="1"/>
          </p:cNvSpPr>
          <p:nvPr/>
        </p:nvSpPr>
        <p:spPr bwMode="auto">
          <a:xfrm>
            <a:off x="6553200" y="1981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4851" name="Freeform 19"/>
          <p:cNvSpPr/>
          <p:nvPr/>
        </p:nvSpPr>
        <p:spPr bwMode="auto">
          <a:xfrm>
            <a:off x="2667000" y="1981200"/>
            <a:ext cx="3200400" cy="685800"/>
          </a:xfrm>
          <a:custGeom>
            <a:avLst/>
            <a:gdLst>
              <a:gd name="T0" fmla="*/ 2147483646 w 2016"/>
              <a:gd name="T1" fmla="*/ 0 h 432"/>
              <a:gd name="T2" fmla="*/ 2147483646 w 2016"/>
              <a:gd name="T3" fmla="*/ 2147483646 h 432"/>
              <a:gd name="T4" fmla="*/ 0 w 2016"/>
              <a:gd name="T5" fmla="*/ 2147483646 h 432"/>
              <a:gd name="T6" fmla="*/ 0 w 2016"/>
              <a:gd name="T7" fmla="*/ 2147483646 h 432"/>
              <a:gd name="T8" fmla="*/ 2147483646 w 2016"/>
              <a:gd name="T9" fmla="*/ 2147483646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16" h="432">
                <a:moveTo>
                  <a:pt x="2016" y="0"/>
                </a:moveTo>
                <a:lnTo>
                  <a:pt x="2016" y="192"/>
                </a:lnTo>
                <a:lnTo>
                  <a:pt x="0" y="192"/>
                </a:lnTo>
                <a:lnTo>
                  <a:pt x="0" y="432"/>
                </a:lnTo>
                <a:lnTo>
                  <a:pt x="288" y="432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4852" name="Freeform 20"/>
          <p:cNvSpPr/>
          <p:nvPr/>
        </p:nvSpPr>
        <p:spPr bwMode="auto">
          <a:xfrm>
            <a:off x="4419600" y="2819400"/>
            <a:ext cx="1447800" cy="304800"/>
          </a:xfrm>
          <a:custGeom>
            <a:avLst/>
            <a:gdLst>
              <a:gd name="T0" fmla="*/ 0 w 912"/>
              <a:gd name="T1" fmla="*/ 0 h 192"/>
              <a:gd name="T2" fmla="*/ 2147483646 w 912"/>
              <a:gd name="T3" fmla="*/ 0 h 192"/>
              <a:gd name="T4" fmla="*/ 2147483646 w 912"/>
              <a:gd name="T5" fmla="*/ 2147483646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2" h="192">
                <a:moveTo>
                  <a:pt x="0" y="0"/>
                </a:moveTo>
                <a:lnTo>
                  <a:pt x="912" y="0"/>
                </a:lnTo>
                <a:lnTo>
                  <a:pt x="912" y="192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oval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4853" name="Freeform 21"/>
          <p:cNvSpPr/>
          <p:nvPr/>
        </p:nvSpPr>
        <p:spPr bwMode="auto">
          <a:xfrm>
            <a:off x="6248400" y="3657600"/>
            <a:ext cx="762000" cy="304800"/>
          </a:xfrm>
          <a:custGeom>
            <a:avLst/>
            <a:gdLst>
              <a:gd name="T0" fmla="*/ 0 w 480"/>
              <a:gd name="T1" fmla="*/ 0 h 192"/>
              <a:gd name="T2" fmla="*/ 0 w 480"/>
              <a:gd name="T3" fmla="*/ 2147483646 h 192"/>
              <a:gd name="T4" fmla="*/ 2147483646 w 480"/>
              <a:gd name="T5" fmla="*/ 2147483646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0" h="192">
                <a:moveTo>
                  <a:pt x="0" y="0"/>
                </a:moveTo>
                <a:lnTo>
                  <a:pt x="0" y="192"/>
                </a:lnTo>
                <a:lnTo>
                  <a:pt x="480" y="192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4854" name="Text Box 22"/>
          <p:cNvSpPr txBox="1">
            <a:spLocks noChangeArrowheads="1"/>
          </p:cNvSpPr>
          <p:nvPr/>
        </p:nvSpPr>
        <p:spPr bwMode="auto">
          <a:xfrm>
            <a:off x="7543801" y="1584326"/>
            <a:ext cx="2047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作基址寄存器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4855" name="Text Box 23"/>
          <p:cNvSpPr txBox="1">
            <a:spLocks noChangeArrowheads="1"/>
          </p:cNvSpPr>
          <p:nvPr/>
        </p:nvSpPr>
        <p:spPr bwMode="auto">
          <a:xfrm>
            <a:off x="2514600" y="487680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由用户指定哪个通用寄存器作为基址寄存器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4856" name="Group 24"/>
          <p:cNvGrpSpPr/>
          <p:nvPr/>
        </p:nvGrpSpPr>
        <p:grpSpPr bwMode="auto">
          <a:xfrm>
            <a:off x="2971800" y="2528888"/>
            <a:ext cx="2209800" cy="1890712"/>
            <a:chOff x="912" y="1593"/>
            <a:chExt cx="1392" cy="1191"/>
          </a:xfrm>
        </p:grpSpPr>
        <p:grpSp>
          <p:nvGrpSpPr>
            <p:cNvPr id="29715" name="Group 25"/>
            <p:cNvGrpSpPr/>
            <p:nvPr/>
          </p:nvGrpSpPr>
          <p:grpSpPr bwMode="auto">
            <a:xfrm>
              <a:off x="912" y="1593"/>
              <a:ext cx="1392" cy="1191"/>
              <a:chOff x="912" y="1593"/>
              <a:chExt cx="1392" cy="1191"/>
            </a:xfrm>
          </p:grpSpPr>
          <p:sp>
            <p:nvSpPr>
              <p:cNvPr id="29717" name="Rectangle 26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0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通用寄存器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8" name="Rectangle 27"/>
              <p:cNvSpPr>
                <a:spLocks noChangeArrowheads="1"/>
              </p:cNvSpPr>
              <p:nvPr/>
            </p:nvSpPr>
            <p:spPr bwMode="auto">
              <a:xfrm>
                <a:off x="1344" y="2496"/>
                <a:ext cx="960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9719" name="Rectangle 28"/>
              <p:cNvSpPr>
                <a:spLocks noChangeArrowheads="1"/>
              </p:cNvSpPr>
              <p:nvPr/>
            </p:nvSpPr>
            <p:spPr bwMode="auto">
              <a:xfrm>
                <a:off x="1344" y="1632"/>
                <a:ext cx="960" cy="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9720" name="Text Box 29"/>
              <p:cNvSpPr txBox="1">
                <a:spLocks noChangeArrowheads="1"/>
              </p:cNvSpPr>
              <p:nvPr/>
            </p:nvSpPr>
            <p:spPr bwMode="auto">
              <a:xfrm>
                <a:off x="998" y="1593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20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1" name="Text Box 30"/>
              <p:cNvSpPr txBox="1">
                <a:spLocks noChangeArrowheads="1"/>
              </p:cNvSpPr>
              <p:nvPr/>
            </p:nvSpPr>
            <p:spPr bwMode="auto">
              <a:xfrm>
                <a:off x="912" y="2496"/>
                <a:ext cx="3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-1</a:t>
                </a:r>
                <a:endParaRPr lang="en-US" altLang="zh-CN" sz="20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2" name="Line 31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23" name="Text Box 32"/>
              <p:cNvSpPr txBox="1">
                <a:spLocks noChangeArrowheads="1"/>
              </p:cNvSpPr>
              <p:nvPr/>
            </p:nvSpPr>
            <p:spPr bwMode="auto">
              <a:xfrm>
                <a:off x="1008" y="1958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2000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16" name="Text Box 33"/>
            <p:cNvSpPr txBox="1">
              <a:spLocks noChangeArrowheads="1"/>
            </p:cNvSpPr>
            <p:nvPr/>
          </p:nvSpPr>
          <p:spPr bwMode="auto">
            <a:xfrm>
              <a:off x="1004" y="2256"/>
              <a:ext cx="3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…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504866" name="Text Box 34"/>
          <p:cNvSpPr txBox="1">
            <a:spLocks noChangeArrowheads="1"/>
          </p:cNvSpPr>
          <p:nvPr/>
        </p:nvSpPr>
        <p:spPr bwMode="auto">
          <a:xfrm>
            <a:off x="2514600" y="5448300"/>
            <a:ext cx="57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基址寄存器的内容由操作系统确定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04867" name="Text Box 35"/>
          <p:cNvSpPr txBox="1">
            <a:spLocks noChangeArrowheads="1"/>
          </p:cNvSpPr>
          <p:nvPr/>
        </p:nvSpPr>
        <p:spPr bwMode="auto">
          <a:xfrm>
            <a:off x="2514600" y="6019800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在程序的执行过程中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0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内容不变，形式地址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可变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0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0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0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0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50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50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50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50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50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50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50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0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0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0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41" grpId="0" autoUpdateAnimBg="0"/>
      <p:bldP spid="504854" grpId="0" autoUpdateAnimBg="0"/>
      <p:bldP spid="504855" grpId="0" autoUpdateAnimBg="0" build="p"/>
      <p:bldP spid="504866" grpId="0" autoUpdateAnimBg="0"/>
      <p:bldP spid="50486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041525" y="196850"/>
            <a:ext cx="3333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8. 变址寻址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05859" name="Text Box 3"/>
          <p:cNvSpPr txBox="1">
            <a:spLocks noChangeArrowheads="1"/>
          </p:cNvSpPr>
          <p:nvPr/>
        </p:nvSpPr>
        <p:spPr bwMode="auto">
          <a:xfrm>
            <a:off x="2533650" y="838201"/>
            <a:ext cx="2419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EA = ( IX ) +A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5860" name="Group 4"/>
          <p:cNvGrpSpPr/>
          <p:nvPr/>
        </p:nvGrpSpPr>
        <p:grpSpPr bwMode="auto">
          <a:xfrm>
            <a:off x="3429000" y="2212975"/>
            <a:ext cx="2286000" cy="381000"/>
            <a:chOff x="1200" y="1298"/>
            <a:chExt cx="1440" cy="240"/>
          </a:xfrm>
        </p:grpSpPr>
        <p:sp>
          <p:nvSpPr>
            <p:cNvPr id="30751" name="Rectangle 5"/>
            <p:cNvSpPr>
              <a:spLocks noChangeArrowheads="1"/>
            </p:cNvSpPr>
            <p:nvPr/>
          </p:nvSpPr>
          <p:spPr bwMode="auto">
            <a:xfrm>
              <a:off x="1200" y="1298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0752" name="Rectangle 6"/>
            <p:cNvSpPr>
              <a:spLocks noChangeArrowheads="1"/>
            </p:cNvSpPr>
            <p:nvPr/>
          </p:nvSpPr>
          <p:spPr bwMode="auto">
            <a:xfrm>
              <a:off x="1680" y="1298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53" name="Rectangle 7"/>
            <p:cNvSpPr>
              <a:spLocks noChangeArrowheads="1"/>
            </p:cNvSpPr>
            <p:nvPr/>
          </p:nvSpPr>
          <p:spPr bwMode="auto">
            <a:xfrm>
              <a:off x="2160" y="1298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5864" name="Group 8"/>
          <p:cNvGrpSpPr/>
          <p:nvPr/>
        </p:nvGrpSpPr>
        <p:grpSpPr bwMode="auto">
          <a:xfrm>
            <a:off x="6248400" y="2289176"/>
            <a:ext cx="1219200" cy="2435225"/>
            <a:chOff x="2976" y="1298"/>
            <a:chExt cx="768" cy="1534"/>
          </a:xfrm>
        </p:grpSpPr>
        <p:sp>
          <p:nvSpPr>
            <p:cNvPr id="30747" name="Rectangle 9"/>
            <p:cNvSpPr>
              <a:spLocks noChangeArrowheads="1"/>
            </p:cNvSpPr>
            <p:nvPr/>
          </p:nvSpPr>
          <p:spPr bwMode="auto">
            <a:xfrm>
              <a:off x="2976" y="1536"/>
              <a:ext cx="768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48" name="Rectangle 10"/>
            <p:cNvSpPr>
              <a:spLocks noChangeArrowheads="1"/>
            </p:cNvSpPr>
            <p:nvPr/>
          </p:nvSpPr>
          <p:spPr bwMode="auto">
            <a:xfrm>
              <a:off x="2976" y="2256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操作数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0749" name="Rectangle 11"/>
            <p:cNvSpPr>
              <a:spLocks noChangeArrowheads="1"/>
            </p:cNvSpPr>
            <p:nvPr/>
          </p:nvSpPr>
          <p:spPr bwMode="auto">
            <a:xfrm>
              <a:off x="2976" y="2544"/>
              <a:ext cx="768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50" name="Text Box 12"/>
            <p:cNvSpPr txBox="1">
              <a:spLocks noChangeArrowheads="1"/>
            </p:cNvSpPr>
            <p:nvPr/>
          </p:nvSpPr>
          <p:spPr bwMode="auto">
            <a:xfrm>
              <a:off x="3162" y="129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5869" name="AutoShape 13"/>
          <p:cNvSpPr/>
          <p:nvPr/>
        </p:nvSpPr>
        <p:spPr bwMode="auto">
          <a:xfrm rot="5400000">
            <a:off x="4495800" y="17557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5870" name="Text Box 14"/>
          <p:cNvSpPr txBox="1">
            <a:spLocks noChangeArrowheads="1"/>
          </p:cNvSpPr>
          <p:nvPr/>
        </p:nvSpPr>
        <p:spPr bwMode="auto">
          <a:xfrm>
            <a:off x="3962400" y="1676401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05871" name="AutoShape 15"/>
          <p:cNvSpPr/>
          <p:nvPr/>
        </p:nvSpPr>
        <p:spPr bwMode="auto">
          <a:xfrm rot="16200000">
            <a:off x="5257800" y="22891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05872" name="Group 16"/>
          <p:cNvGrpSpPr/>
          <p:nvPr/>
        </p:nvGrpSpPr>
        <p:grpSpPr bwMode="auto">
          <a:xfrm>
            <a:off x="4495800" y="3276601"/>
            <a:ext cx="1066800" cy="549275"/>
            <a:chOff x="1872" y="1968"/>
            <a:chExt cx="672" cy="346"/>
          </a:xfrm>
        </p:grpSpPr>
        <p:sp>
          <p:nvSpPr>
            <p:cNvPr id="30745" name="Freeform 17"/>
            <p:cNvSpPr/>
            <p:nvPr/>
          </p:nvSpPr>
          <p:spPr bwMode="auto">
            <a:xfrm>
              <a:off x="1872" y="1968"/>
              <a:ext cx="672" cy="338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29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38 h 338"/>
                <a:gd name="T12" fmla="*/ 192 w 672"/>
                <a:gd name="T13" fmla="*/ 336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6" name="Text Box 18"/>
            <p:cNvSpPr txBox="1">
              <a:spLocks noChangeArrowheads="1"/>
            </p:cNvSpPr>
            <p:nvPr/>
          </p:nvSpPr>
          <p:spPr bwMode="auto">
            <a:xfrm>
              <a:off x="1993" y="2064"/>
              <a:ext cx="4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ALU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5875" name="Group 19"/>
          <p:cNvGrpSpPr/>
          <p:nvPr/>
        </p:nvGrpSpPr>
        <p:grpSpPr bwMode="auto">
          <a:xfrm>
            <a:off x="2895600" y="3413126"/>
            <a:ext cx="990600" cy="396875"/>
            <a:chOff x="864" y="2054"/>
            <a:chExt cx="624" cy="250"/>
          </a:xfrm>
        </p:grpSpPr>
        <p:sp>
          <p:nvSpPr>
            <p:cNvPr id="30743" name="Text Box 20"/>
            <p:cNvSpPr txBox="1">
              <a:spLocks noChangeArrowheads="1"/>
            </p:cNvSpPr>
            <p:nvPr/>
          </p:nvSpPr>
          <p:spPr bwMode="auto">
            <a:xfrm>
              <a:off x="1050" y="2054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IX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0744" name="Rectangle 21"/>
            <p:cNvSpPr>
              <a:spLocks noChangeArrowheads="1"/>
            </p:cNvSpPr>
            <p:nvPr/>
          </p:nvSpPr>
          <p:spPr bwMode="auto">
            <a:xfrm>
              <a:off x="864" y="2064"/>
              <a:ext cx="62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05878" name="AutoShape 22"/>
          <p:cNvSpPr/>
          <p:nvPr/>
        </p:nvSpPr>
        <p:spPr bwMode="auto">
          <a:xfrm rot="16200000">
            <a:off x="3276600" y="34290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5879" name="Line 23"/>
          <p:cNvSpPr>
            <a:spLocks noChangeShapeType="1"/>
          </p:cNvSpPr>
          <p:nvPr/>
        </p:nvSpPr>
        <p:spPr bwMode="auto">
          <a:xfrm>
            <a:off x="5334000" y="2743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5880" name="Freeform 24"/>
          <p:cNvSpPr/>
          <p:nvPr/>
        </p:nvSpPr>
        <p:spPr bwMode="auto">
          <a:xfrm>
            <a:off x="5029200" y="3810000"/>
            <a:ext cx="1219200" cy="228600"/>
          </a:xfrm>
          <a:custGeom>
            <a:avLst/>
            <a:gdLst>
              <a:gd name="T0" fmla="*/ 0 w 768"/>
              <a:gd name="T1" fmla="*/ 0 h 144"/>
              <a:gd name="T2" fmla="*/ 0 w 768"/>
              <a:gd name="T3" fmla="*/ 2147483646 h 144"/>
              <a:gd name="T4" fmla="*/ 2147483646 w 768"/>
              <a:gd name="T5" fmla="*/ 2147483646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8" h="144">
                <a:moveTo>
                  <a:pt x="0" y="0"/>
                </a:moveTo>
                <a:lnTo>
                  <a:pt x="0" y="144"/>
                </a:lnTo>
                <a:lnTo>
                  <a:pt x="768" y="144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5881" name="Text Box 25"/>
          <p:cNvSpPr txBox="1">
            <a:spLocks noChangeArrowheads="1"/>
          </p:cNvSpPr>
          <p:nvPr/>
        </p:nvSpPr>
        <p:spPr bwMode="auto">
          <a:xfrm>
            <a:off x="2651126" y="4786313"/>
            <a:ext cx="3444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 可扩大寻址范围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5882" name="Text Box 26"/>
          <p:cNvSpPr txBox="1">
            <a:spLocks noChangeArrowheads="1"/>
          </p:cNvSpPr>
          <p:nvPr/>
        </p:nvSpPr>
        <p:spPr bwMode="auto">
          <a:xfrm>
            <a:off x="2651126" y="6248400"/>
            <a:ext cx="382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 便于处理数组问题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5883" name="Text Box 27"/>
          <p:cNvSpPr txBox="1">
            <a:spLocks noChangeArrowheads="1"/>
          </p:cNvSpPr>
          <p:nvPr/>
        </p:nvSpPr>
        <p:spPr bwMode="auto">
          <a:xfrm>
            <a:off x="2651126" y="5273675"/>
            <a:ext cx="771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IX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的内容由用户给定 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5884" name="Text Box 28"/>
          <p:cNvSpPr txBox="1">
            <a:spLocks noChangeArrowheads="1"/>
          </p:cNvSpPr>
          <p:nvPr/>
        </p:nvSpPr>
        <p:spPr bwMode="auto">
          <a:xfrm>
            <a:off x="5181600" y="838200"/>
            <a:ext cx="51054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IX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为变址寄存器（专用）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5885" name="Text Box 29"/>
          <p:cNvSpPr txBox="1">
            <a:spLocks noChangeArrowheads="1"/>
          </p:cNvSpPr>
          <p:nvPr/>
        </p:nvSpPr>
        <p:spPr bwMode="auto">
          <a:xfrm>
            <a:off x="2651126" y="5761038"/>
            <a:ext cx="771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 在程序的执行过程中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IX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内容可变，形式地址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不变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5886" name="Freeform 30"/>
          <p:cNvSpPr/>
          <p:nvPr/>
        </p:nvSpPr>
        <p:spPr bwMode="auto">
          <a:xfrm>
            <a:off x="3387725" y="2971800"/>
            <a:ext cx="1295400" cy="1524000"/>
          </a:xfrm>
          <a:custGeom>
            <a:avLst/>
            <a:gdLst>
              <a:gd name="T0" fmla="*/ 0 w 816"/>
              <a:gd name="T1" fmla="*/ 2147483646 h 960"/>
              <a:gd name="T2" fmla="*/ 0 w 816"/>
              <a:gd name="T3" fmla="*/ 2147483646 h 960"/>
              <a:gd name="T4" fmla="*/ 2147483646 w 816"/>
              <a:gd name="T5" fmla="*/ 2147483646 h 960"/>
              <a:gd name="T6" fmla="*/ 2147483646 w 816"/>
              <a:gd name="T7" fmla="*/ 0 h 960"/>
              <a:gd name="T8" fmla="*/ 2147483646 w 816"/>
              <a:gd name="T9" fmla="*/ 0 h 960"/>
              <a:gd name="T10" fmla="*/ 2147483646 w 816"/>
              <a:gd name="T11" fmla="*/ 2147483646 h 9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6" h="960">
                <a:moveTo>
                  <a:pt x="0" y="720"/>
                </a:moveTo>
                <a:lnTo>
                  <a:pt x="0" y="960"/>
                </a:lnTo>
                <a:lnTo>
                  <a:pt x="528" y="960"/>
                </a:lnTo>
                <a:lnTo>
                  <a:pt x="528" y="0"/>
                </a:lnTo>
                <a:lnTo>
                  <a:pt x="816" y="0"/>
                </a:lnTo>
                <a:lnTo>
                  <a:pt x="816" y="19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5887" name="Text Box 31"/>
          <p:cNvSpPr txBox="1">
            <a:spLocks noChangeArrowheads="1"/>
          </p:cNvSpPr>
          <p:nvPr/>
        </p:nvSpPr>
        <p:spPr bwMode="auto">
          <a:xfrm>
            <a:off x="5181600" y="1295400"/>
            <a:ext cx="51054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通用寄存器也可以作为变址寄存器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0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0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0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50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50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50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50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50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50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50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50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0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50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0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0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9" grpId="0" autoUpdateAnimBg="0"/>
      <p:bldP spid="505870" grpId="0" autoUpdateAnimBg="0"/>
      <p:bldP spid="505881" grpId="0" autoUpdateAnimBg="0"/>
      <p:bldP spid="505882" grpId="0" autoUpdateAnimBg="0"/>
      <p:bldP spid="505883" grpId="0" autoUpdateAnimBg="0"/>
      <p:bldP spid="505884" grpId="0" autoUpdateAnimBg="0"/>
      <p:bldP spid="505885" grpId="0" autoUpdateAnimBg="0"/>
      <p:bldP spid="50588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828800" y="196850"/>
            <a:ext cx="757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例 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06883" name="Text Box 3"/>
          <p:cNvSpPr txBox="1">
            <a:spLocks noChangeArrowheads="1"/>
          </p:cNvSpPr>
          <p:nvPr/>
        </p:nvSpPr>
        <p:spPr bwMode="auto">
          <a:xfrm>
            <a:off x="2590800" y="242888"/>
            <a:ext cx="668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设数据块首地址为 </a:t>
            </a:r>
            <a:r>
              <a:rPr lang="en-US" altLang="zh-CN" sz="2800">
                <a:latin typeface="Times New Roman" panose="02020603050405020304" pitchFamily="18" charset="0"/>
              </a:rPr>
              <a:t>D，</a:t>
            </a:r>
            <a:r>
              <a:rPr lang="zh-CN" altLang="en-US" sz="2800">
                <a:latin typeface="Times New Roman" panose="02020603050405020304" pitchFamily="18" charset="0"/>
              </a:rPr>
              <a:t>求 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个数的平均值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>
            <a:off x="2135188" y="1066801"/>
            <a:ext cx="2089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直接寻址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6885" name="Text Box 5"/>
          <p:cNvSpPr txBox="1">
            <a:spLocks noChangeArrowheads="1"/>
          </p:cNvSpPr>
          <p:nvPr/>
        </p:nvSpPr>
        <p:spPr bwMode="auto">
          <a:xfrm>
            <a:off x="6094414" y="1066801"/>
            <a:ext cx="2306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变址寻址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6886" name="Text Box 6"/>
          <p:cNvSpPr txBox="1">
            <a:spLocks noChangeArrowheads="1"/>
          </p:cNvSpPr>
          <p:nvPr/>
        </p:nvSpPr>
        <p:spPr bwMode="auto">
          <a:xfrm>
            <a:off x="2135188" y="1631951"/>
            <a:ext cx="15478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LDA    D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87" name="Text Box 7"/>
          <p:cNvSpPr txBox="1">
            <a:spLocks noChangeArrowheads="1"/>
          </p:cNvSpPr>
          <p:nvPr/>
        </p:nvSpPr>
        <p:spPr bwMode="auto">
          <a:xfrm>
            <a:off x="2135188" y="2209801"/>
            <a:ext cx="212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ADD    D + 1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88" name="Text Box 8"/>
          <p:cNvSpPr txBox="1">
            <a:spLocks noChangeArrowheads="1"/>
          </p:cNvSpPr>
          <p:nvPr/>
        </p:nvSpPr>
        <p:spPr bwMode="auto">
          <a:xfrm>
            <a:off x="2135188" y="2789238"/>
            <a:ext cx="2127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ADD    D + 2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89" name="Text Box 9"/>
          <p:cNvSpPr txBox="1">
            <a:spLocks noChangeArrowheads="1"/>
          </p:cNvSpPr>
          <p:nvPr/>
        </p:nvSpPr>
        <p:spPr bwMode="auto">
          <a:xfrm>
            <a:off x="2375298" y="3641726"/>
            <a:ext cx="615553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…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06890" name="Text Box 10"/>
          <p:cNvSpPr txBox="1">
            <a:spLocks noChangeArrowheads="1"/>
          </p:cNvSpPr>
          <p:nvPr/>
        </p:nvSpPr>
        <p:spPr bwMode="auto">
          <a:xfrm>
            <a:off x="2135188" y="4352926"/>
            <a:ext cx="3008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ADD    D + ( N -1 )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1" name="Text Box 11"/>
          <p:cNvSpPr txBox="1">
            <a:spLocks noChangeArrowheads="1"/>
          </p:cNvSpPr>
          <p:nvPr/>
        </p:nvSpPr>
        <p:spPr bwMode="auto">
          <a:xfrm>
            <a:off x="2135189" y="4897438"/>
            <a:ext cx="18938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DIV      # N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2" name="Text Box 12"/>
          <p:cNvSpPr txBox="1">
            <a:spLocks noChangeArrowheads="1"/>
          </p:cNvSpPr>
          <p:nvPr/>
        </p:nvSpPr>
        <p:spPr bwMode="auto">
          <a:xfrm>
            <a:off x="2135189" y="5441951"/>
            <a:ext cx="2033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STA     ANS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3" name="Text Box 13"/>
          <p:cNvSpPr txBox="1">
            <a:spLocks noChangeArrowheads="1"/>
          </p:cNvSpPr>
          <p:nvPr/>
        </p:nvSpPr>
        <p:spPr bwMode="auto">
          <a:xfrm>
            <a:off x="6094414" y="1631951"/>
            <a:ext cx="1824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LDA     # 0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4" name="Text Box 14"/>
          <p:cNvSpPr txBox="1">
            <a:spLocks noChangeArrowheads="1"/>
          </p:cNvSpPr>
          <p:nvPr/>
        </p:nvSpPr>
        <p:spPr bwMode="auto">
          <a:xfrm>
            <a:off x="6094414" y="2174876"/>
            <a:ext cx="1824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LDX     # 0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5" name="Text Box 15"/>
          <p:cNvSpPr txBox="1">
            <a:spLocks noChangeArrowheads="1"/>
          </p:cNvSpPr>
          <p:nvPr/>
        </p:nvSpPr>
        <p:spPr bwMode="auto">
          <a:xfrm>
            <a:off x="6094413" y="3263901"/>
            <a:ext cx="8366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INX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6" name="Text Box 16"/>
          <p:cNvSpPr txBox="1">
            <a:spLocks noChangeArrowheads="1"/>
          </p:cNvSpPr>
          <p:nvPr/>
        </p:nvSpPr>
        <p:spPr bwMode="auto">
          <a:xfrm>
            <a:off x="6094413" y="3808413"/>
            <a:ext cx="1973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CPX      # N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7" name="Text Box 17"/>
          <p:cNvSpPr txBox="1">
            <a:spLocks noChangeArrowheads="1"/>
          </p:cNvSpPr>
          <p:nvPr/>
        </p:nvSpPr>
        <p:spPr bwMode="auto">
          <a:xfrm>
            <a:off x="6094413" y="4352926"/>
            <a:ext cx="1782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BNE      M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8" name="Text Box 18"/>
          <p:cNvSpPr txBox="1">
            <a:spLocks noChangeArrowheads="1"/>
          </p:cNvSpPr>
          <p:nvPr/>
        </p:nvSpPr>
        <p:spPr bwMode="auto">
          <a:xfrm>
            <a:off x="6094414" y="4897438"/>
            <a:ext cx="1982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DIV       # N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899" name="Text Box 19"/>
          <p:cNvSpPr txBox="1">
            <a:spLocks noChangeArrowheads="1"/>
          </p:cNvSpPr>
          <p:nvPr/>
        </p:nvSpPr>
        <p:spPr bwMode="auto">
          <a:xfrm>
            <a:off x="6094414" y="5441951"/>
            <a:ext cx="2122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STA      ANS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900" name="Text Box 20"/>
          <p:cNvSpPr txBox="1">
            <a:spLocks noChangeArrowheads="1"/>
          </p:cNvSpPr>
          <p:nvPr/>
        </p:nvSpPr>
        <p:spPr bwMode="auto">
          <a:xfrm>
            <a:off x="2135189" y="5989638"/>
            <a:ext cx="2606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共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 + 2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条指令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06901" name="Text Box 21"/>
          <p:cNvSpPr txBox="1">
            <a:spLocks noChangeArrowheads="1"/>
          </p:cNvSpPr>
          <p:nvPr/>
        </p:nvSpPr>
        <p:spPr bwMode="auto">
          <a:xfrm>
            <a:off x="6094414" y="5989638"/>
            <a:ext cx="2522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共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</a:rPr>
              <a:t> 条指令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06902" name="Text Box 22"/>
          <p:cNvSpPr txBox="1">
            <a:spLocks noChangeArrowheads="1"/>
          </p:cNvSpPr>
          <p:nvPr/>
        </p:nvSpPr>
        <p:spPr bwMode="auto">
          <a:xfrm>
            <a:off x="6094414" y="2719388"/>
            <a:ext cx="2092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ADD     X, D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903" name="Text Box 23"/>
          <p:cNvSpPr txBox="1">
            <a:spLocks noChangeArrowheads="1"/>
          </p:cNvSpPr>
          <p:nvPr/>
        </p:nvSpPr>
        <p:spPr bwMode="auto">
          <a:xfrm>
            <a:off x="5486401" y="2713038"/>
            <a:ext cx="519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</a:rPr>
              <a:t>M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06904" name="Freeform 24"/>
          <p:cNvSpPr/>
          <p:nvPr/>
        </p:nvSpPr>
        <p:spPr bwMode="auto">
          <a:xfrm>
            <a:off x="5334000" y="3003550"/>
            <a:ext cx="533400" cy="1600200"/>
          </a:xfrm>
          <a:custGeom>
            <a:avLst/>
            <a:gdLst>
              <a:gd name="T0" fmla="*/ 2147483646 w 336"/>
              <a:gd name="T1" fmla="*/ 2147483646 h 1008"/>
              <a:gd name="T2" fmla="*/ 0 w 336"/>
              <a:gd name="T3" fmla="*/ 2147483646 h 1008"/>
              <a:gd name="T4" fmla="*/ 0 w 336"/>
              <a:gd name="T5" fmla="*/ 0 h 1008"/>
              <a:gd name="T6" fmla="*/ 2147483646 w 336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36" h="1008">
                <a:moveTo>
                  <a:pt x="336" y="1008"/>
                </a:moveTo>
                <a:lnTo>
                  <a:pt x="0" y="1008"/>
                </a:lnTo>
                <a:lnTo>
                  <a:pt x="0" y="0"/>
                </a:lnTo>
                <a:lnTo>
                  <a:pt x="12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905" name="Text Box 25"/>
          <p:cNvSpPr txBox="1">
            <a:spLocks noChangeArrowheads="1"/>
          </p:cNvSpPr>
          <p:nvPr/>
        </p:nvSpPr>
        <p:spPr bwMode="auto">
          <a:xfrm>
            <a:off x="8382000" y="2241551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X </a:t>
            </a:r>
            <a:r>
              <a:rPr lang="zh-CN" altLang="en-US" sz="2000">
                <a:latin typeface="Times New Roman" panose="02020603050405020304" pitchFamily="18" charset="0"/>
              </a:rPr>
              <a:t>为变址寄存器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06906" name="Text Box 26"/>
          <p:cNvSpPr txBox="1">
            <a:spLocks noChangeArrowheads="1"/>
          </p:cNvSpPr>
          <p:nvPr/>
        </p:nvSpPr>
        <p:spPr bwMode="auto">
          <a:xfrm>
            <a:off x="8382000" y="2759075"/>
            <a:ext cx="22098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MEM[(X)+D]+(ACC)</a:t>
            </a:r>
            <a:r>
              <a:rPr lang="en-US" altLang="zh-CN" sz="1600">
                <a:latin typeface="Times New Roman" panose="02020603050405020304" pitchFamily="18" charset="0"/>
                <a:sym typeface="Wingdings" panose="05000000000000000000" pitchFamily="2" charset="2"/>
              </a:rPr>
              <a:t> ACC</a:t>
            </a:r>
            <a:endParaRPr lang="zh-CN" altLang="en-US" sz="1600">
              <a:latin typeface="Times New Roman" panose="02020603050405020304" pitchFamily="18" charset="0"/>
            </a:endParaRPr>
          </a:p>
        </p:txBody>
      </p:sp>
      <p:sp>
        <p:nvSpPr>
          <p:cNvPr id="506907" name="Text Box 27"/>
          <p:cNvSpPr txBox="1">
            <a:spLocks noChangeArrowheads="1"/>
          </p:cNvSpPr>
          <p:nvPr/>
        </p:nvSpPr>
        <p:spPr bwMode="auto">
          <a:xfrm>
            <a:off x="8382000" y="3902076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(X) </a:t>
            </a:r>
            <a:r>
              <a:rPr lang="zh-CN" altLang="en-US" sz="2000">
                <a:latin typeface="Times New Roman" panose="02020603050405020304" pitchFamily="18" charset="0"/>
              </a:rPr>
              <a:t>和 #</a:t>
            </a:r>
            <a:r>
              <a:rPr lang="en-US" altLang="zh-CN" sz="2000" i="1">
                <a:latin typeface="Times New Roman" panose="02020603050405020304" pitchFamily="18" charset="0"/>
              </a:rPr>
              <a:t>N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比较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506908" name="Group 28"/>
          <p:cNvGrpSpPr/>
          <p:nvPr/>
        </p:nvGrpSpPr>
        <p:grpSpPr bwMode="auto">
          <a:xfrm>
            <a:off x="8382000" y="3308351"/>
            <a:ext cx="2209800" cy="396875"/>
            <a:chOff x="4224" y="2112"/>
            <a:chExt cx="1392" cy="250"/>
          </a:xfrm>
        </p:grpSpPr>
        <p:sp>
          <p:nvSpPr>
            <p:cNvPr id="31777" name="Text Box 29"/>
            <p:cNvSpPr txBox="1">
              <a:spLocks noChangeArrowheads="1"/>
            </p:cNvSpPr>
            <p:nvPr/>
          </p:nvSpPr>
          <p:spPr bwMode="auto">
            <a:xfrm>
              <a:off x="4224" y="2112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(X) +1      X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1778" name="Line 30"/>
            <p:cNvSpPr>
              <a:spLocks noChangeShapeType="1"/>
            </p:cNvSpPr>
            <p:nvPr/>
          </p:nvSpPr>
          <p:spPr bwMode="auto">
            <a:xfrm>
              <a:off x="4713" y="2221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6911" name="Text Box 31"/>
          <p:cNvSpPr txBox="1">
            <a:spLocks noChangeArrowheads="1"/>
          </p:cNvSpPr>
          <p:nvPr/>
        </p:nvSpPr>
        <p:spPr bwMode="auto">
          <a:xfrm>
            <a:off x="8382000" y="4435476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latin typeface="Times New Roman" panose="02020603050405020304" pitchFamily="18" charset="0"/>
              </a:rPr>
              <a:t>结果不为零则转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4" name="Text Box 25"/>
          <p:cNvSpPr txBox="1">
            <a:spLocks noChangeArrowheads="1"/>
          </p:cNvSpPr>
          <p:nvPr/>
        </p:nvSpPr>
        <p:spPr bwMode="auto">
          <a:xfrm>
            <a:off x="8382000" y="1741489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ACC</a:t>
            </a:r>
            <a:r>
              <a:rPr lang="zh-CN" altLang="en-US" sz="2000">
                <a:latin typeface="Times New Roman" panose="02020603050405020304" pitchFamily="18" charset="0"/>
              </a:rPr>
              <a:t>置</a:t>
            </a:r>
            <a:r>
              <a:rPr lang="en-US" altLang="zh-CN" sz="2000">
                <a:latin typeface="Times New Roman" panose="02020603050405020304" pitchFamily="18" charset="0"/>
              </a:rPr>
              <a:t>0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0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50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0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0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0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0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0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0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0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0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0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0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0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50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2" dur="500"/>
                                        <p:tgtEl>
                                          <p:spTgt spid="50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50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50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50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50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50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3" grpId="0" autoUpdateAnimBg="0"/>
      <p:bldP spid="506884" grpId="0" autoUpdateAnimBg="0"/>
      <p:bldP spid="506885" grpId="0" autoUpdateAnimBg="0"/>
      <p:bldP spid="506886" grpId="0" autoUpdateAnimBg="0"/>
      <p:bldP spid="506887" grpId="0" autoUpdateAnimBg="0"/>
      <p:bldP spid="506888" grpId="0" autoUpdateAnimBg="0"/>
      <p:bldP spid="506889" grpId="0" autoUpdateAnimBg="0"/>
      <p:bldP spid="506890" grpId="0" autoUpdateAnimBg="0"/>
      <p:bldP spid="506891" grpId="0" autoUpdateAnimBg="0"/>
      <p:bldP spid="506892" grpId="0" autoUpdateAnimBg="0"/>
      <p:bldP spid="506893" grpId="0" autoUpdateAnimBg="0"/>
      <p:bldP spid="506894" grpId="0" autoUpdateAnimBg="0"/>
      <p:bldP spid="506895" grpId="0" autoUpdateAnimBg="0"/>
      <p:bldP spid="506896" grpId="0" autoUpdateAnimBg="0"/>
      <p:bldP spid="506897" grpId="0" autoUpdateAnimBg="0"/>
      <p:bldP spid="506898" grpId="0" autoUpdateAnimBg="0"/>
      <p:bldP spid="506899" grpId="0" autoUpdateAnimBg="0"/>
      <p:bldP spid="506900" grpId="0" autoUpdateAnimBg="0"/>
      <p:bldP spid="506901" grpId="0" autoUpdateAnimBg="0"/>
      <p:bldP spid="506902" grpId="0"/>
      <p:bldP spid="506903" grpId="0"/>
      <p:bldP spid="506905" grpId="0" autoUpdateAnimBg="0"/>
      <p:bldP spid="506906" grpId="0" autoUpdateAnimBg="0"/>
      <p:bldP spid="506907" grpId="0" autoUpdateAnimBg="0"/>
      <p:bldP spid="506911" grpId="0" autoUpdateAnimBg="0"/>
      <p:bldP spid="3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981201" y="76200"/>
            <a:ext cx="3394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9. 相对寻址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07907" name="Text Box 3"/>
          <p:cNvSpPr txBox="1">
            <a:spLocks noChangeArrowheads="1"/>
          </p:cNvSpPr>
          <p:nvPr/>
        </p:nvSpPr>
        <p:spPr bwMode="auto">
          <a:xfrm>
            <a:off x="2330450" y="660400"/>
            <a:ext cx="231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 EA = ( PC ) + A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7908" name="Text Box 4"/>
          <p:cNvSpPr txBox="1">
            <a:spLocks noChangeArrowheads="1"/>
          </p:cNvSpPr>
          <p:nvPr/>
        </p:nvSpPr>
        <p:spPr bwMode="auto">
          <a:xfrm>
            <a:off x="2330450" y="1143000"/>
            <a:ext cx="691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是相对于当前指令的位移量（可正可负，补码）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7909" name="Text Box 5"/>
          <p:cNvSpPr txBox="1">
            <a:spLocks noChangeArrowheads="1"/>
          </p:cNvSpPr>
          <p:nvPr/>
        </p:nvSpPr>
        <p:spPr bwMode="auto">
          <a:xfrm>
            <a:off x="2895601" y="5257800"/>
            <a:ext cx="42767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200">
                <a:solidFill>
                  <a:schemeClr val="folHlink"/>
                </a:solidFill>
                <a:latin typeface="Times New Roman" panose="02020603050405020304" pitchFamily="18" charset="0"/>
              </a:rPr>
              <a:t> A </a:t>
            </a: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的位数决定操作数的寻址范围</a:t>
            </a:r>
            <a:endParaRPr lang="zh-CN" altLang="en-US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7910" name="Text Box 6"/>
          <p:cNvSpPr txBox="1">
            <a:spLocks noChangeArrowheads="1"/>
          </p:cNvSpPr>
          <p:nvPr/>
        </p:nvSpPr>
        <p:spPr bwMode="auto">
          <a:xfrm>
            <a:off x="2895601" y="5729289"/>
            <a:ext cx="14763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 程序浮动</a:t>
            </a:r>
            <a:endParaRPr lang="en-US" altLang="zh-CN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7911" name="Text Box 7"/>
          <p:cNvSpPr txBox="1">
            <a:spLocks noChangeArrowheads="1"/>
          </p:cNvSpPr>
          <p:nvPr/>
        </p:nvSpPr>
        <p:spPr bwMode="auto">
          <a:xfrm>
            <a:off x="2895601" y="6202364"/>
            <a:ext cx="26003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zh-CN" altLang="en-US" sz="2200">
                <a:latin typeface="Times New Roman" panose="02020603050405020304" pitchFamily="18" charset="0"/>
              </a:rPr>
              <a:t> </a:t>
            </a: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广泛用于转移指令</a:t>
            </a:r>
            <a:endParaRPr lang="zh-CN" altLang="en-US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7912" name="Rectangle 8"/>
          <p:cNvSpPr>
            <a:spLocks noChangeArrowheads="1"/>
          </p:cNvSpPr>
          <p:nvPr/>
        </p:nvSpPr>
        <p:spPr bwMode="auto">
          <a:xfrm>
            <a:off x="7232650" y="4343400"/>
            <a:ext cx="1752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操作数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07913" name="AutoShape 9"/>
          <p:cNvSpPr/>
          <p:nvPr/>
        </p:nvSpPr>
        <p:spPr bwMode="auto">
          <a:xfrm rot="5400000">
            <a:off x="5251450" y="16764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7914" name="Text Box 10"/>
          <p:cNvSpPr txBox="1">
            <a:spLocks noChangeArrowheads="1"/>
          </p:cNvSpPr>
          <p:nvPr/>
        </p:nvSpPr>
        <p:spPr bwMode="auto">
          <a:xfrm>
            <a:off x="4702175" y="1600201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寻址特征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507915" name="Group 11"/>
          <p:cNvGrpSpPr/>
          <p:nvPr/>
        </p:nvGrpSpPr>
        <p:grpSpPr bwMode="auto">
          <a:xfrm>
            <a:off x="5327650" y="3654425"/>
            <a:ext cx="1066800" cy="552450"/>
            <a:chOff x="2396" y="2302"/>
            <a:chExt cx="672" cy="348"/>
          </a:xfrm>
        </p:grpSpPr>
        <p:sp>
          <p:nvSpPr>
            <p:cNvPr id="32814" name="Freeform 12"/>
            <p:cNvSpPr/>
            <p:nvPr/>
          </p:nvSpPr>
          <p:spPr bwMode="auto">
            <a:xfrm>
              <a:off x="2396" y="2302"/>
              <a:ext cx="672" cy="338"/>
            </a:xfrm>
            <a:custGeom>
              <a:avLst/>
              <a:gdLst>
                <a:gd name="T0" fmla="*/ 0 w 672"/>
                <a:gd name="T1" fmla="*/ 0 h 338"/>
                <a:gd name="T2" fmla="*/ 240 w 672"/>
                <a:gd name="T3" fmla="*/ 0 h 338"/>
                <a:gd name="T4" fmla="*/ 339 w 672"/>
                <a:gd name="T5" fmla="*/ 129 h 338"/>
                <a:gd name="T6" fmla="*/ 432 w 672"/>
                <a:gd name="T7" fmla="*/ 0 h 338"/>
                <a:gd name="T8" fmla="*/ 672 w 672"/>
                <a:gd name="T9" fmla="*/ 0 h 338"/>
                <a:gd name="T10" fmla="*/ 507 w 672"/>
                <a:gd name="T11" fmla="*/ 338 h 338"/>
                <a:gd name="T12" fmla="*/ 192 w 672"/>
                <a:gd name="T13" fmla="*/ 336 h 338"/>
                <a:gd name="T14" fmla="*/ 0 w 672"/>
                <a:gd name="T15" fmla="*/ 0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2" h="338">
                  <a:moveTo>
                    <a:pt x="0" y="0"/>
                  </a:moveTo>
                  <a:lnTo>
                    <a:pt x="240" y="0"/>
                  </a:lnTo>
                  <a:lnTo>
                    <a:pt x="339" y="129"/>
                  </a:lnTo>
                  <a:lnTo>
                    <a:pt x="432" y="0"/>
                  </a:lnTo>
                  <a:lnTo>
                    <a:pt x="672" y="0"/>
                  </a:lnTo>
                  <a:lnTo>
                    <a:pt x="507" y="338"/>
                  </a:lnTo>
                  <a:lnTo>
                    <a:pt x="192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815" name="Text Box 13"/>
            <p:cNvSpPr txBox="1">
              <a:spLocks noChangeArrowheads="1"/>
            </p:cNvSpPr>
            <p:nvPr/>
          </p:nvSpPr>
          <p:spPr bwMode="auto">
            <a:xfrm>
              <a:off x="2517" y="2400"/>
              <a:ext cx="4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ALU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7918" name="Group 14"/>
          <p:cNvGrpSpPr/>
          <p:nvPr/>
        </p:nvGrpSpPr>
        <p:grpSpPr bwMode="auto">
          <a:xfrm>
            <a:off x="4184650" y="2133600"/>
            <a:ext cx="2368550" cy="381000"/>
            <a:chOff x="1676" y="1344"/>
            <a:chExt cx="1492" cy="240"/>
          </a:xfrm>
        </p:grpSpPr>
        <p:sp>
          <p:nvSpPr>
            <p:cNvPr id="32811" name="Rectangle 15"/>
            <p:cNvSpPr>
              <a:spLocks noChangeArrowheads="1"/>
            </p:cNvSpPr>
            <p:nvPr/>
          </p:nvSpPr>
          <p:spPr bwMode="auto">
            <a:xfrm>
              <a:off x="1676" y="1344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2812" name="Rectangle 16"/>
            <p:cNvSpPr>
              <a:spLocks noChangeArrowheads="1"/>
            </p:cNvSpPr>
            <p:nvPr/>
          </p:nvSpPr>
          <p:spPr bwMode="auto">
            <a:xfrm>
              <a:off x="2156" y="1344"/>
              <a:ext cx="480" cy="240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3" name="Rectangle 17"/>
            <p:cNvSpPr>
              <a:spLocks noChangeArrowheads="1"/>
            </p:cNvSpPr>
            <p:nvPr/>
          </p:nvSpPr>
          <p:spPr bwMode="auto">
            <a:xfrm>
              <a:off x="2640" y="1344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7922" name="Freeform 18"/>
          <p:cNvSpPr/>
          <p:nvPr/>
        </p:nvSpPr>
        <p:spPr bwMode="auto">
          <a:xfrm>
            <a:off x="6138864" y="2730500"/>
            <a:ext cx="1587" cy="889000"/>
          </a:xfrm>
          <a:custGeom>
            <a:avLst/>
            <a:gdLst>
              <a:gd name="T0" fmla="*/ 2147483646 w 1"/>
              <a:gd name="T1" fmla="*/ 0 h 560"/>
              <a:gd name="T2" fmla="*/ 0 w 1"/>
              <a:gd name="T3" fmla="*/ 2147483646 h 56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560">
                <a:moveTo>
                  <a:pt x="1" y="0"/>
                </a:moveTo>
                <a:lnTo>
                  <a:pt x="0" y="56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7923" name="Freeform 19"/>
          <p:cNvSpPr/>
          <p:nvPr/>
        </p:nvSpPr>
        <p:spPr bwMode="auto">
          <a:xfrm>
            <a:off x="5861050" y="4191000"/>
            <a:ext cx="1371600" cy="304800"/>
          </a:xfrm>
          <a:custGeom>
            <a:avLst/>
            <a:gdLst>
              <a:gd name="T0" fmla="*/ 0 w 480"/>
              <a:gd name="T1" fmla="*/ 0 h 192"/>
              <a:gd name="T2" fmla="*/ 0 w 480"/>
              <a:gd name="T3" fmla="*/ 2147483646 h 192"/>
              <a:gd name="T4" fmla="*/ 2147483646 w 480"/>
              <a:gd name="T5" fmla="*/ 2147483646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0" h="192">
                <a:moveTo>
                  <a:pt x="0" y="0"/>
                </a:moveTo>
                <a:lnTo>
                  <a:pt x="0" y="192"/>
                </a:lnTo>
                <a:lnTo>
                  <a:pt x="480" y="192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7924" name="Text Box 20"/>
          <p:cNvSpPr txBox="1">
            <a:spLocks noChangeArrowheads="1"/>
          </p:cNvSpPr>
          <p:nvPr/>
        </p:nvSpPr>
        <p:spPr bwMode="auto">
          <a:xfrm>
            <a:off x="9144000" y="3717926"/>
            <a:ext cx="145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相对距离 </a:t>
            </a:r>
            <a:r>
              <a:rPr lang="en-US" altLang="zh-CN" sz="2000">
                <a:latin typeface="Times New Roman" panose="02020603050405020304" pitchFamily="18" charset="0"/>
              </a:rPr>
              <a:t>A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07925" name="AutoShape 21"/>
          <p:cNvSpPr/>
          <p:nvPr/>
        </p:nvSpPr>
        <p:spPr bwMode="auto">
          <a:xfrm>
            <a:off x="8985250" y="3429000"/>
            <a:ext cx="158750" cy="914400"/>
          </a:xfrm>
          <a:prstGeom prst="rightBrace">
            <a:avLst>
              <a:gd name="adj1" fmla="val 48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7926" name="AutoShape 22"/>
          <p:cNvSpPr/>
          <p:nvPr/>
        </p:nvSpPr>
        <p:spPr bwMode="auto">
          <a:xfrm rot="16200000">
            <a:off x="6057900" y="22479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7927" name="AutoShape 23"/>
          <p:cNvSpPr/>
          <p:nvPr/>
        </p:nvSpPr>
        <p:spPr bwMode="auto">
          <a:xfrm rot="16200000">
            <a:off x="3695700" y="2716213"/>
            <a:ext cx="152400" cy="990600"/>
          </a:xfrm>
          <a:prstGeom prst="leftBrace">
            <a:avLst>
              <a:gd name="adj1" fmla="val 54167"/>
              <a:gd name="adj2" fmla="val 50958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7928" name="Freeform 24"/>
          <p:cNvSpPr/>
          <p:nvPr/>
        </p:nvSpPr>
        <p:spPr bwMode="auto">
          <a:xfrm>
            <a:off x="3771900" y="3324226"/>
            <a:ext cx="1752600" cy="333375"/>
          </a:xfrm>
          <a:custGeom>
            <a:avLst/>
            <a:gdLst>
              <a:gd name="T0" fmla="*/ 0 w 1104"/>
              <a:gd name="T1" fmla="*/ 0 h 210"/>
              <a:gd name="T2" fmla="*/ 0 w 1104"/>
              <a:gd name="T3" fmla="*/ 2147483646 h 210"/>
              <a:gd name="T4" fmla="*/ 2147483646 w 1104"/>
              <a:gd name="T5" fmla="*/ 2147483646 h 210"/>
              <a:gd name="T6" fmla="*/ 2147483646 w 1104"/>
              <a:gd name="T7" fmla="*/ 2147483646 h 2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4" h="210">
                <a:moveTo>
                  <a:pt x="0" y="0"/>
                </a:moveTo>
                <a:lnTo>
                  <a:pt x="0" y="96"/>
                </a:lnTo>
                <a:lnTo>
                  <a:pt x="1104" y="96"/>
                </a:lnTo>
                <a:lnTo>
                  <a:pt x="1104" y="21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07929" name="Group 25"/>
          <p:cNvGrpSpPr/>
          <p:nvPr/>
        </p:nvGrpSpPr>
        <p:grpSpPr bwMode="auto">
          <a:xfrm>
            <a:off x="2743200" y="2727326"/>
            <a:ext cx="1524000" cy="396875"/>
            <a:chOff x="768" y="1584"/>
            <a:chExt cx="960" cy="250"/>
          </a:xfrm>
        </p:grpSpPr>
        <p:grpSp>
          <p:nvGrpSpPr>
            <p:cNvPr id="32807" name="Group 26"/>
            <p:cNvGrpSpPr/>
            <p:nvPr/>
          </p:nvGrpSpPr>
          <p:grpSpPr bwMode="auto">
            <a:xfrm>
              <a:off x="1104" y="1584"/>
              <a:ext cx="624" cy="250"/>
              <a:chOff x="864" y="2150"/>
              <a:chExt cx="624" cy="250"/>
            </a:xfrm>
          </p:grpSpPr>
          <p:sp>
            <p:nvSpPr>
              <p:cNvPr id="32809" name="Text Box 27"/>
              <p:cNvSpPr txBox="1">
                <a:spLocks noChangeArrowheads="1"/>
              </p:cNvSpPr>
              <p:nvPr/>
            </p:nvSpPr>
            <p:spPr bwMode="auto">
              <a:xfrm>
                <a:off x="960" y="2150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1000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0" name="Rectangle 28"/>
              <p:cNvSpPr>
                <a:spLocks noChangeArrowheads="1"/>
              </p:cNvSpPr>
              <p:nvPr/>
            </p:nvSpPr>
            <p:spPr bwMode="auto">
              <a:xfrm>
                <a:off x="864" y="2160"/>
                <a:ext cx="62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2808" name="Text Box 29"/>
            <p:cNvSpPr txBox="1">
              <a:spLocks noChangeArrowheads="1"/>
            </p:cNvSpPr>
            <p:nvPr/>
          </p:nvSpPr>
          <p:spPr bwMode="auto">
            <a:xfrm>
              <a:off x="768" y="1584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PC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7934" name="Freeform 30"/>
          <p:cNvSpPr/>
          <p:nvPr/>
        </p:nvSpPr>
        <p:spPr bwMode="auto">
          <a:xfrm>
            <a:off x="6553200" y="2301875"/>
            <a:ext cx="1524000" cy="990600"/>
          </a:xfrm>
          <a:custGeom>
            <a:avLst/>
            <a:gdLst>
              <a:gd name="T0" fmla="*/ 0 w 960"/>
              <a:gd name="T1" fmla="*/ 0 h 624"/>
              <a:gd name="T2" fmla="*/ 2147483646 w 960"/>
              <a:gd name="T3" fmla="*/ 0 h 624"/>
              <a:gd name="T4" fmla="*/ 2147483646 w 960"/>
              <a:gd name="T5" fmla="*/ 2147483646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0" h="624">
                <a:moveTo>
                  <a:pt x="0" y="0"/>
                </a:moveTo>
                <a:lnTo>
                  <a:pt x="960" y="0"/>
                </a:lnTo>
                <a:lnTo>
                  <a:pt x="960" y="62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stealth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07935" name="Group 31"/>
          <p:cNvGrpSpPr/>
          <p:nvPr/>
        </p:nvGrpSpPr>
        <p:grpSpPr bwMode="auto">
          <a:xfrm>
            <a:off x="6546850" y="2536826"/>
            <a:ext cx="2444750" cy="2644775"/>
            <a:chOff x="3164" y="1598"/>
            <a:chExt cx="1540" cy="1666"/>
          </a:xfrm>
        </p:grpSpPr>
        <p:grpSp>
          <p:nvGrpSpPr>
            <p:cNvPr id="32793" name="Group 32"/>
            <p:cNvGrpSpPr/>
            <p:nvPr/>
          </p:nvGrpSpPr>
          <p:grpSpPr bwMode="auto">
            <a:xfrm>
              <a:off x="3164" y="1598"/>
              <a:ext cx="1536" cy="1666"/>
              <a:chOff x="3164" y="1598"/>
              <a:chExt cx="1536" cy="1666"/>
            </a:xfrm>
          </p:grpSpPr>
          <p:sp>
            <p:nvSpPr>
              <p:cNvPr id="32796" name="Line 33"/>
              <p:cNvSpPr>
                <a:spLocks noChangeShapeType="1"/>
              </p:cNvSpPr>
              <p:nvPr/>
            </p:nvSpPr>
            <p:spPr bwMode="auto">
              <a:xfrm>
                <a:off x="3596" y="2076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797" name="Line 34"/>
              <p:cNvSpPr>
                <a:spLocks noChangeShapeType="1"/>
              </p:cNvSpPr>
              <p:nvPr/>
            </p:nvSpPr>
            <p:spPr bwMode="auto">
              <a:xfrm>
                <a:off x="3596" y="2316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798" name="Text Box 35"/>
              <p:cNvSpPr txBox="1">
                <a:spLocks noChangeArrowheads="1"/>
              </p:cNvSpPr>
              <p:nvPr/>
            </p:nvSpPr>
            <p:spPr bwMode="auto">
              <a:xfrm>
                <a:off x="4058" y="2352"/>
                <a:ext cx="310" cy="3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</a:t>
                </a:r>
                <a:r>
                  <a:rPr lang="zh-CN" altLang="en-US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799" name="Group 36"/>
              <p:cNvGrpSpPr/>
              <p:nvPr/>
            </p:nvGrpSpPr>
            <p:grpSpPr bwMode="auto">
              <a:xfrm>
                <a:off x="3164" y="1598"/>
                <a:ext cx="1536" cy="1666"/>
                <a:chOff x="3164" y="1598"/>
                <a:chExt cx="1536" cy="1666"/>
              </a:xfrm>
            </p:grpSpPr>
            <p:sp>
              <p:nvSpPr>
                <p:cNvPr id="32800" name="Rectangle 37"/>
                <p:cNvSpPr>
                  <a:spLocks noChangeArrowheads="1"/>
                </p:cNvSpPr>
                <p:nvPr/>
              </p:nvSpPr>
              <p:spPr bwMode="auto">
                <a:xfrm>
                  <a:off x="3596" y="1836"/>
                  <a:ext cx="1104" cy="9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01" name="Rectangle 38"/>
                <p:cNvSpPr>
                  <a:spLocks noChangeArrowheads="1"/>
                </p:cNvSpPr>
                <p:nvPr/>
              </p:nvSpPr>
              <p:spPr bwMode="auto">
                <a:xfrm>
                  <a:off x="3596" y="2976"/>
                  <a:ext cx="1104" cy="2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02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696" y="1598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主存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3" name="Rectangle 40"/>
                <p:cNvSpPr>
                  <a:spLocks noChangeArrowheads="1"/>
                </p:cNvSpPr>
                <p:nvPr/>
              </p:nvSpPr>
              <p:spPr bwMode="auto">
                <a:xfrm>
                  <a:off x="3980" y="2076"/>
                  <a:ext cx="336" cy="240"/>
                </a:xfrm>
                <a:prstGeom prst="rect">
                  <a:avLst/>
                </a:prstGeom>
                <a:solidFill>
                  <a:schemeClr val="tx1">
                    <a:alpha val="50195"/>
                  </a:scheme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804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164" y="2085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1000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5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402" y="2085"/>
                  <a:ext cx="23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A</a:t>
                  </a:r>
                  <a:endParaRPr lang="en-US" altLang="zh-CN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596" y="2085"/>
                  <a:ext cx="323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OP</a:t>
                  </a:r>
                  <a:endParaRPr lang="en-US" altLang="zh-CN" sz="20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2794" name="Line 44"/>
            <p:cNvSpPr>
              <a:spLocks noChangeShapeType="1"/>
            </p:cNvSpPr>
            <p:nvPr/>
          </p:nvSpPr>
          <p:spPr bwMode="auto">
            <a:xfrm>
              <a:off x="3593" y="273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5" name="Line 45"/>
            <p:cNvSpPr>
              <a:spLocks noChangeShapeType="1"/>
            </p:cNvSpPr>
            <p:nvPr/>
          </p:nvSpPr>
          <p:spPr bwMode="auto">
            <a:xfrm>
              <a:off x="4704" y="273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0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0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50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0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50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0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50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50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50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50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50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50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0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50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0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50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50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50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7" grpId="0" autoUpdateAnimBg="0"/>
      <p:bldP spid="507908" grpId="0" autoUpdateAnimBg="0"/>
      <p:bldP spid="507909" grpId="0" autoUpdateAnimBg="0"/>
      <p:bldP spid="507910" grpId="0" autoUpdateAnimBg="0"/>
      <p:bldP spid="507911" grpId="0" autoUpdateAnimBg="0"/>
      <p:bldP spid="507912" grpId="0" autoUpdateAnimBg="0"/>
      <p:bldP spid="507914" grpId="0" autoUpdateAnimBg="0"/>
      <p:bldP spid="50792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828800" y="152400"/>
            <a:ext cx="3308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 (1) 相对寻址举例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08931" name="Line 3"/>
          <p:cNvSpPr>
            <a:spLocks noChangeShapeType="1"/>
          </p:cNvSpPr>
          <p:nvPr/>
        </p:nvSpPr>
        <p:spPr bwMode="auto">
          <a:xfrm>
            <a:off x="6096000" y="3505200"/>
            <a:ext cx="1066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8932" name="Text Box 4"/>
          <p:cNvSpPr txBox="1">
            <a:spLocks noChangeArrowheads="1"/>
          </p:cNvSpPr>
          <p:nvPr/>
        </p:nvSpPr>
        <p:spPr bwMode="auto">
          <a:xfrm>
            <a:off x="2117726" y="4867275"/>
            <a:ext cx="9083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>
                <a:latin typeface="Times New Roman" panose="02020603050405020304" pitchFamily="18" charset="0"/>
              </a:rPr>
              <a:t>  </a:t>
            </a:r>
            <a:r>
              <a:rPr lang="zh-CN" altLang="en-US" sz="2400">
                <a:latin typeface="Times New Roman" panose="02020603050405020304" pitchFamily="18" charset="0"/>
              </a:rPr>
              <a:t>随程序所在存储空间的位置不同而不同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08933" name="Text Box 5"/>
          <p:cNvSpPr txBox="1">
            <a:spLocks noChangeArrowheads="1"/>
          </p:cNvSpPr>
          <p:nvPr/>
        </p:nvSpPr>
        <p:spPr bwMode="auto">
          <a:xfrm>
            <a:off x="4114800" y="62992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EA = ( M+3 )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3 = M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8934" name="Group 6"/>
          <p:cNvGrpSpPr/>
          <p:nvPr/>
        </p:nvGrpSpPr>
        <p:grpSpPr bwMode="auto">
          <a:xfrm>
            <a:off x="7162800" y="3124200"/>
            <a:ext cx="1066800" cy="914400"/>
            <a:chOff x="3456" y="2016"/>
            <a:chExt cx="672" cy="576"/>
          </a:xfrm>
        </p:grpSpPr>
        <p:sp>
          <p:nvSpPr>
            <p:cNvPr id="33831" name="Text Box 7"/>
            <p:cNvSpPr txBox="1">
              <a:spLocks noChangeArrowheads="1"/>
            </p:cNvSpPr>
            <p:nvPr/>
          </p:nvSpPr>
          <p:spPr bwMode="auto">
            <a:xfrm>
              <a:off x="3732" y="2073"/>
              <a:ext cx="396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82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2" name="Text Box 8"/>
            <p:cNvSpPr txBox="1">
              <a:spLocks noChangeArrowheads="1"/>
            </p:cNvSpPr>
            <p:nvPr/>
          </p:nvSpPr>
          <p:spPr bwMode="auto">
            <a:xfrm>
              <a:off x="3456" y="2016"/>
              <a:ext cx="432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5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endParaRPr lang="zh-CN" altLang="en-US" sz="5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8937" name="Group 9"/>
          <p:cNvGrpSpPr/>
          <p:nvPr/>
        </p:nvGrpSpPr>
        <p:grpSpPr bwMode="auto">
          <a:xfrm>
            <a:off x="2590800" y="685800"/>
            <a:ext cx="3733800" cy="4110038"/>
            <a:chOff x="576" y="432"/>
            <a:chExt cx="2352" cy="2589"/>
          </a:xfrm>
        </p:grpSpPr>
        <p:sp>
          <p:nvSpPr>
            <p:cNvPr id="33818" name="Text Box 10"/>
            <p:cNvSpPr txBox="1">
              <a:spLocks noChangeArrowheads="1"/>
            </p:cNvSpPr>
            <p:nvPr/>
          </p:nvSpPr>
          <p:spPr bwMode="auto">
            <a:xfrm>
              <a:off x="1554" y="432"/>
              <a:ext cx="12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LDA      # 0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19" name="Text Box 11"/>
            <p:cNvSpPr txBox="1">
              <a:spLocks noChangeArrowheads="1"/>
            </p:cNvSpPr>
            <p:nvPr/>
          </p:nvSpPr>
          <p:spPr bwMode="auto">
            <a:xfrm>
              <a:off x="1554" y="756"/>
              <a:ext cx="12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LDX      # 0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20" name="Text Box 12"/>
            <p:cNvSpPr txBox="1">
              <a:spLocks noChangeArrowheads="1"/>
            </p:cNvSpPr>
            <p:nvPr/>
          </p:nvSpPr>
          <p:spPr bwMode="auto">
            <a:xfrm>
              <a:off x="1554" y="1079"/>
              <a:ext cx="1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ADD      X, D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21" name="Text Box 13"/>
            <p:cNvSpPr txBox="1">
              <a:spLocks noChangeArrowheads="1"/>
            </p:cNvSpPr>
            <p:nvPr/>
          </p:nvSpPr>
          <p:spPr bwMode="auto">
            <a:xfrm>
              <a:off x="1554" y="1402"/>
              <a:ext cx="5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INX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22" name="Text Box 14"/>
            <p:cNvSpPr txBox="1">
              <a:spLocks noChangeArrowheads="1"/>
            </p:cNvSpPr>
            <p:nvPr/>
          </p:nvSpPr>
          <p:spPr bwMode="auto">
            <a:xfrm>
              <a:off x="1554" y="1725"/>
              <a:ext cx="12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CPX      # N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23" name="Text Box 15"/>
            <p:cNvSpPr txBox="1">
              <a:spLocks noChangeArrowheads="1"/>
            </p:cNvSpPr>
            <p:nvPr/>
          </p:nvSpPr>
          <p:spPr bwMode="auto">
            <a:xfrm>
              <a:off x="1554" y="2048"/>
              <a:ext cx="112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BNE</a:t>
              </a:r>
              <a:r>
                <a:rPr lang="en-US" altLang="zh-CN" sz="280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24" name="Text Box 16"/>
            <p:cNvSpPr txBox="1">
              <a:spLocks noChangeArrowheads="1"/>
            </p:cNvSpPr>
            <p:nvPr/>
          </p:nvSpPr>
          <p:spPr bwMode="auto">
            <a:xfrm>
              <a:off x="1554" y="2371"/>
              <a:ext cx="1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DIV       # N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25" name="Text Box 17"/>
            <p:cNvSpPr txBox="1">
              <a:spLocks noChangeArrowheads="1"/>
            </p:cNvSpPr>
            <p:nvPr/>
          </p:nvSpPr>
          <p:spPr bwMode="auto">
            <a:xfrm>
              <a:off x="1554" y="2694"/>
              <a:ext cx="133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STA      ANS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26" name="Text Box 18"/>
            <p:cNvSpPr txBox="1">
              <a:spLocks noChangeArrowheads="1"/>
            </p:cNvSpPr>
            <p:nvPr/>
          </p:nvSpPr>
          <p:spPr bwMode="auto">
            <a:xfrm>
              <a:off x="816" y="1079"/>
              <a:ext cx="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27" name="Text Box 19"/>
            <p:cNvSpPr txBox="1">
              <a:spLocks noChangeArrowheads="1"/>
            </p:cNvSpPr>
            <p:nvPr/>
          </p:nvSpPr>
          <p:spPr bwMode="auto">
            <a:xfrm>
              <a:off x="816" y="1402"/>
              <a:ext cx="5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M+1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28" name="Text Box 20"/>
            <p:cNvSpPr txBox="1">
              <a:spLocks noChangeArrowheads="1"/>
            </p:cNvSpPr>
            <p:nvPr/>
          </p:nvSpPr>
          <p:spPr bwMode="auto">
            <a:xfrm>
              <a:off x="816" y="1725"/>
              <a:ext cx="5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anose="02020603050405020304" pitchFamily="18" charset="0"/>
                </a:rPr>
                <a:t>M+2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3829" name="Text Box 21"/>
            <p:cNvSpPr txBox="1">
              <a:spLocks noChangeArrowheads="1"/>
            </p:cNvSpPr>
            <p:nvPr/>
          </p:nvSpPr>
          <p:spPr bwMode="auto">
            <a:xfrm>
              <a:off x="816" y="2048"/>
              <a:ext cx="5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M+3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0" name="Freeform 22"/>
            <p:cNvSpPr/>
            <p:nvPr/>
          </p:nvSpPr>
          <p:spPr bwMode="auto">
            <a:xfrm>
              <a:off x="576" y="1248"/>
              <a:ext cx="240" cy="960"/>
            </a:xfrm>
            <a:custGeom>
              <a:avLst/>
              <a:gdLst>
                <a:gd name="T0" fmla="*/ 240 w 240"/>
                <a:gd name="T1" fmla="*/ 960 h 960"/>
                <a:gd name="T2" fmla="*/ 0 w 240"/>
                <a:gd name="T3" fmla="*/ 960 h 960"/>
                <a:gd name="T4" fmla="*/ 0 w 240"/>
                <a:gd name="T5" fmla="*/ 0 h 960"/>
                <a:gd name="T6" fmla="*/ 192 w 240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0" h="960">
                  <a:moveTo>
                    <a:pt x="240" y="960"/>
                  </a:moveTo>
                  <a:lnTo>
                    <a:pt x="0" y="960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8951" name="Group 23"/>
          <p:cNvGrpSpPr/>
          <p:nvPr/>
        </p:nvGrpSpPr>
        <p:grpSpPr bwMode="auto">
          <a:xfrm>
            <a:off x="2117726" y="5334000"/>
            <a:ext cx="9083675" cy="762000"/>
            <a:chOff x="240" y="3360"/>
            <a:chExt cx="5722" cy="480"/>
          </a:xfrm>
        </p:grpSpPr>
        <p:sp>
          <p:nvSpPr>
            <p:cNvPr id="33814" name="Text Box 24"/>
            <p:cNvSpPr txBox="1">
              <a:spLocks noChangeArrowheads="1"/>
            </p:cNvSpPr>
            <p:nvPr/>
          </p:nvSpPr>
          <p:spPr bwMode="auto">
            <a:xfrm>
              <a:off x="240" y="3408"/>
              <a:ext cx="57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而指令 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BNE</a:t>
              </a:r>
              <a:r>
                <a:rPr lang="en-US" altLang="zh-CN" sz="2400"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与 </a:t>
              </a:r>
              <a:r>
                <a:rPr lang="zh-CN" altLang="en-US" sz="2400">
                  <a:latin typeface="Times New Roman" panose="02020603050405020304" pitchFamily="18" charset="0"/>
                </a:rPr>
                <a:t>指令 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ADD   X, D</a:t>
              </a:r>
              <a:r>
                <a:rPr lang="en-US" altLang="zh-CN" sz="2400">
                  <a:latin typeface="Times New Roman" panose="02020603050405020304" pitchFamily="18" charset="0"/>
                </a:rPr>
                <a:t>  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相对位移量不变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3815" name="Group 25"/>
            <p:cNvGrpSpPr/>
            <p:nvPr/>
          </p:nvGrpSpPr>
          <p:grpSpPr bwMode="auto">
            <a:xfrm>
              <a:off x="1380" y="3360"/>
              <a:ext cx="588" cy="480"/>
              <a:chOff x="1344" y="3360"/>
              <a:chExt cx="588" cy="480"/>
            </a:xfrm>
          </p:grpSpPr>
          <p:sp>
            <p:nvSpPr>
              <p:cNvPr id="33816" name="Text Box 26"/>
              <p:cNvSpPr txBox="1">
                <a:spLocks noChangeArrowheads="1"/>
              </p:cNvSpPr>
              <p:nvPr/>
            </p:nvSpPr>
            <p:spPr bwMode="auto">
              <a:xfrm>
                <a:off x="1536" y="3385"/>
                <a:ext cx="396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828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17" name="Text Box 27"/>
              <p:cNvSpPr txBox="1">
                <a:spLocks noChangeArrowheads="1"/>
              </p:cNvSpPr>
              <p:nvPr/>
            </p:nvSpPr>
            <p:spPr bwMode="auto">
              <a:xfrm>
                <a:off x="1344" y="3360"/>
                <a:ext cx="432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4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*</a:t>
                </a:r>
                <a:r>
                  <a:rPr lang="zh-CN" altLang="en-US" sz="4400">
                    <a:latin typeface="Times New Roman" panose="02020603050405020304" pitchFamily="18" charset="0"/>
                  </a:rPr>
                  <a:t> </a:t>
                </a:r>
                <a:endParaRPr lang="zh-CN" altLang="en-US" sz="4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08956" name="Group 28"/>
          <p:cNvGrpSpPr/>
          <p:nvPr/>
        </p:nvGrpSpPr>
        <p:grpSpPr bwMode="auto">
          <a:xfrm>
            <a:off x="2803526" y="5791200"/>
            <a:ext cx="5273675" cy="762000"/>
            <a:chOff x="806" y="3648"/>
            <a:chExt cx="3322" cy="480"/>
          </a:xfrm>
        </p:grpSpPr>
        <p:sp>
          <p:nvSpPr>
            <p:cNvPr id="33809" name="Text Box 29"/>
            <p:cNvSpPr txBox="1">
              <a:spLocks noChangeArrowheads="1"/>
            </p:cNvSpPr>
            <p:nvPr/>
          </p:nvSpPr>
          <p:spPr bwMode="auto">
            <a:xfrm>
              <a:off x="806" y="3696"/>
              <a:ext cx="9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指令 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BNE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10" name="Text Box 30"/>
            <p:cNvSpPr txBox="1">
              <a:spLocks noChangeArrowheads="1"/>
            </p:cNvSpPr>
            <p:nvPr/>
          </p:nvSpPr>
          <p:spPr bwMode="auto">
            <a:xfrm>
              <a:off x="2275" y="3696"/>
              <a:ext cx="18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操作数的有效地址为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3811" name="Group 31"/>
            <p:cNvGrpSpPr/>
            <p:nvPr/>
          </p:nvGrpSpPr>
          <p:grpSpPr bwMode="auto">
            <a:xfrm>
              <a:off x="1764" y="3648"/>
              <a:ext cx="588" cy="480"/>
              <a:chOff x="1344" y="3360"/>
              <a:chExt cx="588" cy="480"/>
            </a:xfrm>
          </p:grpSpPr>
          <p:sp>
            <p:nvSpPr>
              <p:cNvPr id="33812" name="Text Box 32"/>
              <p:cNvSpPr txBox="1">
                <a:spLocks noChangeArrowheads="1"/>
              </p:cNvSpPr>
              <p:nvPr/>
            </p:nvSpPr>
            <p:spPr bwMode="auto">
              <a:xfrm>
                <a:off x="1536" y="3385"/>
                <a:ext cx="396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828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13" name="Text Box 33"/>
              <p:cNvSpPr txBox="1">
                <a:spLocks noChangeArrowheads="1"/>
              </p:cNvSpPr>
              <p:nvPr/>
            </p:nvSpPr>
            <p:spPr bwMode="auto">
              <a:xfrm>
                <a:off x="1344" y="3360"/>
                <a:ext cx="432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4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*</a:t>
                </a:r>
                <a:r>
                  <a:rPr lang="zh-CN" altLang="en-US" sz="4400">
                    <a:latin typeface="Times New Roman" panose="02020603050405020304" pitchFamily="18" charset="0"/>
                  </a:rPr>
                  <a:t> </a:t>
                </a:r>
                <a:endParaRPr lang="zh-CN" altLang="en-US" sz="4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08962" name="AutoShape 34"/>
          <p:cNvSpPr>
            <a:spLocks noChangeArrowheads="1"/>
          </p:cNvSpPr>
          <p:nvPr/>
        </p:nvSpPr>
        <p:spPr bwMode="auto">
          <a:xfrm>
            <a:off x="5410200" y="3338513"/>
            <a:ext cx="533400" cy="381000"/>
          </a:xfrm>
          <a:prstGeom prst="wedgeRoundRectCallout">
            <a:avLst>
              <a:gd name="adj1" fmla="val -36606"/>
              <a:gd name="adj2" fmla="val 4500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3803" name="Text Box 35"/>
          <p:cNvSpPr txBox="1">
            <a:spLocks noChangeArrowheads="1"/>
          </p:cNvSpPr>
          <p:nvPr/>
        </p:nvSpPr>
        <p:spPr bwMode="auto">
          <a:xfrm>
            <a:off x="7391400" y="26670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08964" name="Group 36"/>
          <p:cNvGrpSpPr/>
          <p:nvPr/>
        </p:nvGrpSpPr>
        <p:grpSpPr bwMode="auto">
          <a:xfrm>
            <a:off x="7696200" y="2667000"/>
            <a:ext cx="2590800" cy="914400"/>
            <a:chOff x="3888" y="1552"/>
            <a:chExt cx="1632" cy="576"/>
          </a:xfrm>
        </p:grpSpPr>
        <p:sp>
          <p:nvSpPr>
            <p:cNvPr id="33807" name="Text Box 37"/>
            <p:cNvSpPr txBox="1">
              <a:spLocks noChangeArrowheads="1"/>
            </p:cNvSpPr>
            <p:nvPr/>
          </p:nvSpPr>
          <p:spPr bwMode="auto">
            <a:xfrm>
              <a:off x="4128" y="1632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相对寻址特征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3808" name="Text Box 38"/>
            <p:cNvSpPr txBox="1">
              <a:spLocks noChangeArrowheads="1"/>
            </p:cNvSpPr>
            <p:nvPr/>
          </p:nvSpPr>
          <p:spPr bwMode="auto">
            <a:xfrm>
              <a:off x="3888" y="1552"/>
              <a:ext cx="624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5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endParaRPr lang="zh-CN" altLang="en-US" sz="5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0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0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50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0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0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0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0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0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2" grpId="0" autoUpdateAnimBg="0"/>
      <p:bldP spid="508933" grpId="0" autoUpdateAnimBg="0"/>
      <p:bldP spid="508962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981201" y="323850"/>
            <a:ext cx="6994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(2) 按字节寻址的相对寻址举例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509955" name="Group 3"/>
          <p:cNvGrpSpPr/>
          <p:nvPr/>
        </p:nvGrpSpPr>
        <p:grpSpPr bwMode="auto">
          <a:xfrm>
            <a:off x="2638425" y="1309688"/>
            <a:ext cx="2171700" cy="2805112"/>
            <a:chOff x="702" y="825"/>
            <a:chExt cx="1368" cy="1767"/>
          </a:xfrm>
        </p:grpSpPr>
        <p:grpSp>
          <p:nvGrpSpPr>
            <p:cNvPr id="34844" name="Group 4"/>
            <p:cNvGrpSpPr/>
            <p:nvPr/>
          </p:nvGrpSpPr>
          <p:grpSpPr bwMode="auto">
            <a:xfrm>
              <a:off x="702" y="825"/>
              <a:ext cx="1368" cy="1767"/>
              <a:chOff x="702" y="825"/>
              <a:chExt cx="1368" cy="1767"/>
            </a:xfrm>
          </p:grpSpPr>
          <p:sp>
            <p:nvSpPr>
              <p:cNvPr id="34847" name="Line 5"/>
              <p:cNvSpPr>
                <a:spLocks noChangeShapeType="1"/>
              </p:cNvSpPr>
              <p:nvPr/>
            </p:nvSpPr>
            <p:spPr bwMode="auto">
              <a:xfrm>
                <a:off x="1302" y="86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48" name="Line 6"/>
              <p:cNvSpPr>
                <a:spLocks noChangeShapeType="1"/>
              </p:cNvSpPr>
              <p:nvPr/>
            </p:nvSpPr>
            <p:spPr bwMode="auto">
              <a:xfrm>
                <a:off x="2070" y="86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49" name="Line 7"/>
              <p:cNvSpPr>
                <a:spLocks noChangeShapeType="1"/>
              </p:cNvSpPr>
              <p:nvPr/>
            </p:nvSpPr>
            <p:spPr bwMode="auto">
              <a:xfrm>
                <a:off x="1302" y="1056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50" name="Line 8"/>
              <p:cNvSpPr>
                <a:spLocks noChangeShapeType="1"/>
              </p:cNvSpPr>
              <p:nvPr/>
            </p:nvSpPr>
            <p:spPr bwMode="auto">
              <a:xfrm>
                <a:off x="1302" y="2160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51" name="Line 9"/>
              <p:cNvSpPr>
                <a:spLocks noChangeShapeType="1"/>
              </p:cNvSpPr>
              <p:nvPr/>
            </p:nvSpPr>
            <p:spPr bwMode="auto">
              <a:xfrm>
                <a:off x="1302" y="2400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52" name="Text Box 10"/>
              <p:cNvSpPr txBox="1">
                <a:spLocks noChangeArrowheads="1"/>
              </p:cNvSpPr>
              <p:nvPr/>
            </p:nvSpPr>
            <p:spPr bwMode="auto">
              <a:xfrm>
                <a:off x="1494" y="1065"/>
                <a:ext cx="32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OP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3" name="Text Box 11"/>
              <p:cNvSpPr txBox="1">
                <a:spLocks noChangeArrowheads="1"/>
              </p:cNvSpPr>
              <p:nvPr/>
            </p:nvSpPr>
            <p:spPr bwMode="auto">
              <a:xfrm>
                <a:off x="1398" y="1294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位移量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4" name="Text Box 12"/>
              <p:cNvSpPr txBox="1">
                <a:spLocks noChangeArrowheads="1"/>
              </p:cNvSpPr>
              <p:nvPr/>
            </p:nvSpPr>
            <p:spPr bwMode="auto">
              <a:xfrm>
                <a:off x="702" y="1065"/>
                <a:ext cx="60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2000 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5" name="Text Box 13"/>
              <p:cNvSpPr txBox="1">
                <a:spLocks noChangeArrowheads="1"/>
              </p:cNvSpPr>
              <p:nvPr/>
            </p:nvSpPr>
            <p:spPr bwMode="auto">
              <a:xfrm>
                <a:off x="702" y="2160"/>
                <a:ext cx="60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2008 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6" name="Line 14"/>
              <p:cNvSpPr>
                <a:spLocks noChangeShapeType="1"/>
              </p:cNvSpPr>
              <p:nvPr/>
            </p:nvSpPr>
            <p:spPr bwMode="auto">
              <a:xfrm>
                <a:off x="1830" y="9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57" name="Line 15"/>
              <p:cNvSpPr>
                <a:spLocks noChangeShapeType="1"/>
              </p:cNvSpPr>
              <p:nvPr/>
            </p:nvSpPr>
            <p:spPr bwMode="auto">
              <a:xfrm rot="10800000">
                <a:off x="1302" y="9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4858" name="Text Box 16"/>
              <p:cNvSpPr txBox="1">
                <a:spLocks noChangeArrowheads="1"/>
              </p:cNvSpPr>
              <p:nvPr/>
            </p:nvSpPr>
            <p:spPr bwMode="auto">
              <a:xfrm>
                <a:off x="1580" y="825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8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845" name="Line 17"/>
            <p:cNvSpPr>
              <a:spLocks noChangeShapeType="1"/>
            </p:cNvSpPr>
            <p:nvPr/>
          </p:nvSpPr>
          <p:spPr bwMode="auto">
            <a:xfrm>
              <a:off x="1302" y="129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6" name="Line 18"/>
            <p:cNvSpPr>
              <a:spLocks noChangeShapeType="1"/>
            </p:cNvSpPr>
            <p:nvPr/>
          </p:nvSpPr>
          <p:spPr bwMode="auto">
            <a:xfrm>
              <a:off x="1302" y="153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09971" name="AutoShape 19"/>
          <p:cNvSpPr/>
          <p:nvPr/>
        </p:nvSpPr>
        <p:spPr bwMode="auto">
          <a:xfrm>
            <a:off x="4810125" y="1676400"/>
            <a:ext cx="228600" cy="762000"/>
          </a:xfrm>
          <a:prstGeom prst="rightBrace">
            <a:avLst>
              <a:gd name="adj1" fmla="val 27778"/>
              <a:gd name="adj2" fmla="val 50000"/>
            </a:avLst>
          </a:prstGeom>
          <a:noFill/>
          <a:ln w="28575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9972" name="Text Box 20"/>
          <p:cNvSpPr txBox="1">
            <a:spLocks noChangeArrowheads="1"/>
          </p:cNvSpPr>
          <p:nvPr/>
        </p:nvSpPr>
        <p:spPr bwMode="auto">
          <a:xfrm>
            <a:off x="5029201" y="1701800"/>
            <a:ext cx="1514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JMP </a:t>
            </a:r>
            <a:r>
              <a:rPr lang="en-US" altLang="zh-CN" sz="5400" baseline="-15000">
                <a:solidFill>
                  <a:schemeClr val="folHlink"/>
                </a:solidFill>
                <a:latin typeface="Times New Roman" panose="02020603050405020304" pitchFamily="18" charset="0"/>
              </a:rPr>
              <a:t>*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+ 8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9973" name="Group 21"/>
          <p:cNvGrpSpPr/>
          <p:nvPr/>
        </p:nvGrpSpPr>
        <p:grpSpPr bwMode="auto">
          <a:xfrm>
            <a:off x="6896100" y="1309688"/>
            <a:ext cx="2171700" cy="2805112"/>
            <a:chOff x="3384" y="825"/>
            <a:chExt cx="1368" cy="1767"/>
          </a:xfrm>
        </p:grpSpPr>
        <p:sp>
          <p:nvSpPr>
            <p:cNvPr id="34830" name="Line 22"/>
            <p:cNvSpPr>
              <a:spLocks noChangeShapeType="1"/>
            </p:cNvSpPr>
            <p:nvPr/>
          </p:nvSpPr>
          <p:spPr bwMode="auto">
            <a:xfrm>
              <a:off x="3984" y="864"/>
              <a:ext cx="0" cy="1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31" name="Line 23"/>
            <p:cNvSpPr>
              <a:spLocks noChangeShapeType="1"/>
            </p:cNvSpPr>
            <p:nvPr/>
          </p:nvSpPr>
          <p:spPr bwMode="auto">
            <a:xfrm>
              <a:off x="4752" y="864"/>
              <a:ext cx="0" cy="1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32" name="Line 24"/>
            <p:cNvSpPr>
              <a:spLocks noChangeShapeType="1"/>
            </p:cNvSpPr>
            <p:nvPr/>
          </p:nvSpPr>
          <p:spPr bwMode="auto">
            <a:xfrm>
              <a:off x="3984" y="129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33" name="Line 25"/>
            <p:cNvSpPr>
              <a:spLocks noChangeShapeType="1"/>
            </p:cNvSpPr>
            <p:nvPr/>
          </p:nvSpPr>
          <p:spPr bwMode="auto">
            <a:xfrm>
              <a:off x="3984" y="105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34" name="Line 26"/>
            <p:cNvSpPr>
              <a:spLocks noChangeShapeType="1"/>
            </p:cNvSpPr>
            <p:nvPr/>
          </p:nvSpPr>
          <p:spPr bwMode="auto">
            <a:xfrm>
              <a:off x="3984" y="153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35" name="Line 27"/>
            <p:cNvSpPr>
              <a:spLocks noChangeShapeType="1"/>
            </p:cNvSpPr>
            <p:nvPr/>
          </p:nvSpPr>
          <p:spPr bwMode="auto">
            <a:xfrm>
              <a:off x="3984" y="216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36" name="Line 28"/>
            <p:cNvSpPr>
              <a:spLocks noChangeShapeType="1"/>
            </p:cNvSpPr>
            <p:nvPr/>
          </p:nvSpPr>
          <p:spPr bwMode="auto">
            <a:xfrm>
              <a:off x="3984" y="240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37" name="Text Box 29"/>
            <p:cNvSpPr txBox="1">
              <a:spLocks noChangeArrowheads="1"/>
            </p:cNvSpPr>
            <p:nvPr/>
          </p:nvSpPr>
          <p:spPr bwMode="auto">
            <a:xfrm>
              <a:off x="4176" y="1065"/>
              <a:ext cx="32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38" name="Text Box 30"/>
            <p:cNvSpPr txBox="1">
              <a:spLocks noChangeArrowheads="1"/>
            </p:cNvSpPr>
            <p:nvPr/>
          </p:nvSpPr>
          <p:spPr bwMode="auto">
            <a:xfrm>
              <a:off x="4168" y="1305"/>
              <a:ext cx="4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06 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9" name="Text Box 31"/>
            <p:cNvSpPr txBox="1">
              <a:spLocks noChangeArrowheads="1"/>
            </p:cNvSpPr>
            <p:nvPr/>
          </p:nvSpPr>
          <p:spPr bwMode="auto">
            <a:xfrm>
              <a:off x="3384" y="1065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2000 </a:t>
              </a:r>
              <a:r>
                <a:rPr lang="en-US" altLang="zh-CN" sz="2000">
                  <a:latin typeface="Times New Roman" panose="02020603050405020304" pitchFamily="18" charset="0"/>
                </a:rPr>
                <a:t>H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40" name="Text Box 32"/>
            <p:cNvSpPr txBox="1">
              <a:spLocks noChangeArrowheads="1"/>
            </p:cNvSpPr>
            <p:nvPr/>
          </p:nvSpPr>
          <p:spPr bwMode="auto">
            <a:xfrm>
              <a:off x="3384" y="2160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2008 </a:t>
              </a:r>
              <a:r>
                <a:rPr lang="en-US" altLang="zh-CN" sz="2000">
                  <a:latin typeface="Times New Roman" panose="02020603050405020304" pitchFamily="18" charset="0"/>
                </a:rPr>
                <a:t>H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41" name="Line 33"/>
            <p:cNvSpPr>
              <a:spLocks noChangeShapeType="1"/>
            </p:cNvSpPr>
            <p:nvPr/>
          </p:nvSpPr>
          <p:spPr bwMode="auto">
            <a:xfrm>
              <a:off x="4512" y="9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2" name="Line 34"/>
            <p:cNvSpPr>
              <a:spLocks noChangeShapeType="1"/>
            </p:cNvSpPr>
            <p:nvPr/>
          </p:nvSpPr>
          <p:spPr bwMode="auto">
            <a:xfrm rot="10800000">
              <a:off x="3984" y="9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843" name="Text Box 35"/>
            <p:cNvSpPr txBox="1">
              <a:spLocks noChangeArrowheads="1"/>
            </p:cNvSpPr>
            <p:nvPr/>
          </p:nvSpPr>
          <p:spPr bwMode="auto">
            <a:xfrm>
              <a:off x="4262" y="82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8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09988" name="Text Box 36"/>
          <p:cNvSpPr txBox="1">
            <a:spLocks noChangeArrowheads="1"/>
          </p:cNvSpPr>
          <p:nvPr/>
        </p:nvSpPr>
        <p:spPr bwMode="auto">
          <a:xfrm>
            <a:off x="2362200" y="45720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设  当前指令地址    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PC = 2000H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9989" name="Text Box 37"/>
          <p:cNvSpPr txBox="1">
            <a:spLocks noChangeArrowheads="1"/>
          </p:cNvSpPr>
          <p:nvPr/>
        </p:nvSpPr>
        <p:spPr bwMode="auto">
          <a:xfrm>
            <a:off x="2819400" y="51054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转移后的目的地址为  </a:t>
            </a:r>
            <a:r>
              <a:rPr lang="zh-CN" altLang="en-US" sz="12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2008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H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9990" name="Text Box 38"/>
          <p:cNvSpPr txBox="1">
            <a:spLocks noChangeArrowheads="1"/>
          </p:cNvSpPr>
          <p:nvPr/>
        </p:nvSpPr>
        <p:spPr bwMode="auto">
          <a:xfrm>
            <a:off x="2819400" y="5454650"/>
            <a:ext cx="670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因为  取出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JMP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5400" baseline="-15000">
                <a:solidFill>
                  <a:schemeClr val="folHlink"/>
                </a:solidFill>
                <a:latin typeface="Times New Roman" panose="02020603050405020304" pitchFamily="18" charset="0"/>
              </a:rPr>
              <a:t>*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+ 8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后  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PC = 2002H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9991" name="Text Box 39"/>
          <p:cNvSpPr txBox="1">
            <a:spLocks noChangeArrowheads="1"/>
          </p:cNvSpPr>
          <p:nvPr/>
        </p:nvSpPr>
        <p:spPr bwMode="auto">
          <a:xfrm>
            <a:off x="5029200" y="2362201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二字节指令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9992" name="Text Box 40"/>
          <p:cNvSpPr txBox="1">
            <a:spLocks noChangeArrowheads="1"/>
          </p:cNvSpPr>
          <p:nvPr/>
        </p:nvSpPr>
        <p:spPr bwMode="auto">
          <a:xfrm>
            <a:off x="2819400" y="5911850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故 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JMP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5400" baseline="-15000">
                <a:solidFill>
                  <a:schemeClr val="folHlink"/>
                </a:solidFill>
                <a:latin typeface="Times New Roman" panose="02020603050405020304" pitchFamily="18" charset="0"/>
              </a:rPr>
              <a:t>*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+ 8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指令 的第二字节为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2008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H - 2002H = 06H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0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0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0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0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0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0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0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0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50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72" grpId="0" autoUpdateAnimBg="0"/>
      <p:bldP spid="509988" grpId="0" autoUpdateAnimBg="0"/>
      <p:bldP spid="509989" grpId="0" autoUpdateAnimBg="0"/>
      <p:bldP spid="509990" grpId="0" autoUpdateAnimBg="0"/>
      <p:bldP spid="509991" grpId="0" autoUpdateAnimBg="0"/>
      <p:bldP spid="50999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6311900" y="1052195"/>
            <a:ext cx="5875655" cy="4545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屏幕截图 2024-10-22 085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7785" y="1484630"/>
            <a:ext cx="5684520" cy="32556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6990" y="1052195"/>
            <a:ext cx="6264275" cy="4536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屏幕截图 2024-10-22 085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" y="1340485"/>
            <a:ext cx="6155690" cy="3723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2041525" y="152400"/>
            <a:ext cx="3549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10. 堆栈寻址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10979" name="Text Box 3"/>
          <p:cNvSpPr txBox="1">
            <a:spLocks noChangeArrowheads="1"/>
          </p:cNvSpPr>
          <p:nvPr/>
        </p:nvSpPr>
        <p:spPr bwMode="auto">
          <a:xfrm>
            <a:off x="2498726" y="838201"/>
            <a:ext cx="3978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(1) 堆栈的特点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0980" name="Text Box 4"/>
          <p:cNvSpPr txBox="1">
            <a:spLocks noChangeArrowheads="1"/>
          </p:cNvSpPr>
          <p:nvPr/>
        </p:nvSpPr>
        <p:spPr bwMode="auto">
          <a:xfrm>
            <a:off x="2987676" y="163195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堆栈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10981" name="Group 5"/>
          <p:cNvGrpSpPr/>
          <p:nvPr/>
        </p:nvGrpSpPr>
        <p:grpSpPr bwMode="auto">
          <a:xfrm>
            <a:off x="4098926" y="1371600"/>
            <a:ext cx="1103313" cy="1022350"/>
            <a:chOff x="1622" y="864"/>
            <a:chExt cx="695" cy="644"/>
          </a:xfrm>
        </p:grpSpPr>
        <p:sp>
          <p:nvSpPr>
            <p:cNvPr id="35913" name="Text Box 6"/>
            <p:cNvSpPr txBox="1">
              <a:spLocks noChangeArrowheads="1"/>
            </p:cNvSpPr>
            <p:nvPr/>
          </p:nvSpPr>
          <p:spPr bwMode="auto">
            <a:xfrm>
              <a:off x="1622" y="864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硬堆栈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5914" name="Text Box 7"/>
            <p:cNvSpPr txBox="1">
              <a:spLocks noChangeArrowheads="1"/>
            </p:cNvSpPr>
            <p:nvPr/>
          </p:nvSpPr>
          <p:spPr bwMode="auto">
            <a:xfrm>
              <a:off x="1622" y="1220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软堆栈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510984" name="Text Box 8"/>
          <p:cNvSpPr txBox="1">
            <a:spLocks noChangeArrowheads="1"/>
          </p:cNvSpPr>
          <p:nvPr/>
        </p:nvSpPr>
        <p:spPr bwMode="auto">
          <a:xfrm>
            <a:off x="5775325" y="1371600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多个寄存器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0985" name="Text Box 9"/>
          <p:cNvSpPr txBox="1">
            <a:spLocks noChangeArrowheads="1"/>
          </p:cNvSpPr>
          <p:nvPr/>
        </p:nvSpPr>
        <p:spPr bwMode="auto">
          <a:xfrm>
            <a:off x="5775326" y="1936750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指定的存储空间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0986" name="Text Box 10"/>
          <p:cNvSpPr txBox="1">
            <a:spLocks noChangeArrowheads="1"/>
          </p:cNvSpPr>
          <p:nvPr/>
        </p:nvSpPr>
        <p:spPr bwMode="auto">
          <a:xfrm>
            <a:off x="2987676" y="2514600"/>
            <a:ext cx="355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先进后出</a:t>
            </a:r>
            <a:r>
              <a:rPr lang="zh-CN" altLang="en-US" sz="2400">
                <a:latin typeface="Times New Roman" panose="02020603050405020304" pitchFamily="18" charset="0"/>
              </a:rPr>
              <a:t>（一个入出口）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0987" name="Text Box 11"/>
          <p:cNvSpPr txBox="1">
            <a:spLocks noChangeArrowheads="1"/>
          </p:cNvSpPr>
          <p:nvPr/>
        </p:nvSpPr>
        <p:spPr bwMode="auto">
          <a:xfrm>
            <a:off x="6553200" y="251460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栈顶地址 </a:t>
            </a:r>
            <a:r>
              <a:rPr lang="zh-CN" altLang="en-US" sz="2400">
                <a:latin typeface="Times New Roman" panose="02020603050405020304" pitchFamily="18" charset="0"/>
              </a:rPr>
              <a:t>由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指出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0988" name="Text Box 12"/>
          <p:cNvSpPr txBox="1">
            <a:spLocks noChangeArrowheads="1"/>
          </p:cNvSpPr>
          <p:nvPr/>
        </p:nvSpPr>
        <p:spPr bwMode="auto">
          <a:xfrm>
            <a:off x="5341938" y="3870326"/>
            <a:ext cx="501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000">
                <a:latin typeface="Times New Roman" panose="02020603050405020304" pitchFamily="18" charset="0"/>
              </a:rPr>
              <a:t> 1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10989" name="Text Box 13"/>
          <p:cNvSpPr txBox="1">
            <a:spLocks noChangeArrowheads="1"/>
          </p:cNvSpPr>
          <p:nvPr/>
        </p:nvSpPr>
        <p:spPr bwMode="auto">
          <a:xfrm>
            <a:off x="2492376" y="4845050"/>
            <a:ext cx="9268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</a:rPr>
              <a:t>1FFFH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10990" name="Text Box 14"/>
          <p:cNvSpPr txBox="1">
            <a:spLocks noChangeArrowheads="1"/>
          </p:cNvSpPr>
          <p:nvPr/>
        </p:nvSpPr>
        <p:spPr bwMode="auto">
          <a:xfrm>
            <a:off x="9015413" y="3870326"/>
            <a:ext cx="5191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imes New Roman" panose="02020603050405020304" pitchFamily="18" charset="0"/>
              </a:rPr>
              <a:t> +1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10991" name="Text Box 15"/>
          <p:cNvSpPr txBox="1">
            <a:spLocks noChangeArrowheads="1"/>
          </p:cNvSpPr>
          <p:nvPr/>
        </p:nvSpPr>
        <p:spPr bwMode="auto">
          <a:xfrm>
            <a:off x="6226175" y="5149851"/>
            <a:ext cx="952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imes New Roman" panose="02020603050405020304" pitchFamily="18" charset="0"/>
              </a:rPr>
              <a:t>2000 </a:t>
            </a:r>
            <a:r>
              <a:rPr lang="en-US" altLang="zh-CN" sz="2000">
                <a:latin typeface="Times New Roman" panose="02020603050405020304" pitchFamily="18" charset="0"/>
              </a:rPr>
              <a:t>H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10992" name="AutoShape 16"/>
          <p:cNvSpPr/>
          <p:nvPr/>
        </p:nvSpPr>
        <p:spPr bwMode="auto">
          <a:xfrm>
            <a:off x="3886200" y="15113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0993" name="AutoShape 17"/>
          <p:cNvSpPr>
            <a:spLocks noChangeArrowheads="1"/>
          </p:cNvSpPr>
          <p:nvPr/>
        </p:nvSpPr>
        <p:spPr bwMode="auto">
          <a:xfrm rot="20294574">
            <a:off x="4953000" y="3795713"/>
            <a:ext cx="381000" cy="381000"/>
          </a:xfrm>
          <a:prstGeom prst="curvedLeftArrow">
            <a:avLst>
              <a:gd name="adj1" fmla="val 20000"/>
              <a:gd name="adj2" fmla="val 40000"/>
              <a:gd name="adj3" fmla="val 33333"/>
            </a:avLst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0994" name="AutoShape 18"/>
          <p:cNvSpPr>
            <a:spLocks noChangeArrowheads="1"/>
          </p:cNvSpPr>
          <p:nvPr/>
        </p:nvSpPr>
        <p:spPr bwMode="auto">
          <a:xfrm rot="20294574">
            <a:off x="8686800" y="3795713"/>
            <a:ext cx="381000" cy="381000"/>
          </a:xfrm>
          <a:prstGeom prst="curvedLeftArrow">
            <a:avLst>
              <a:gd name="adj1" fmla="val 20000"/>
              <a:gd name="adj2" fmla="val 40000"/>
              <a:gd name="adj3" fmla="val 33333"/>
            </a:avLst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10995" name="Group 19"/>
          <p:cNvGrpSpPr/>
          <p:nvPr/>
        </p:nvGrpSpPr>
        <p:grpSpPr bwMode="auto">
          <a:xfrm>
            <a:off x="2987675" y="3124200"/>
            <a:ext cx="3263900" cy="457200"/>
            <a:chOff x="922" y="1968"/>
            <a:chExt cx="2056" cy="288"/>
          </a:xfrm>
        </p:grpSpPr>
        <p:sp>
          <p:nvSpPr>
            <p:cNvPr id="35911" name="Text Box 20"/>
            <p:cNvSpPr txBox="1">
              <a:spLocks noChangeArrowheads="1"/>
            </p:cNvSpPr>
            <p:nvPr/>
          </p:nvSpPr>
          <p:spPr bwMode="auto">
            <a:xfrm>
              <a:off x="922" y="1968"/>
              <a:ext cx="2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进栈  （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SP）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 1       SP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912" name="Line 21"/>
            <p:cNvSpPr>
              <a:spLocks noChangeShapeType="1"/>
            </p:cNvSpPr>
            <p:nvPr/>
          </p:nvSpPr>
          <p:spPr bwMode="auto">
            <a:xfrm>
              <a:off x="2400" y="2112"/>
              <a:ext cx="24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0998" name="Group 22"/>
          <p:cNvGrpSpPr/>
          <p:nvPr/>
        </p:nvGrpSpPr>
        <p:grpSpPr bwMode="auto">
          <a:xfrm>
            <a:off x="6553200" y="3124200"/>
            <a:ext cx="3360738" cy="457200"/>
            <a:chOff x="3168" y="1968"/>
            <a:chExt cx="2117" cy="288"/>
          </a:xfrm>
        </p:grpSpPr>
        <p:sp>
          <p:nvSpPr>
            <p:cNvPr id="35909" name="Text Box 23"/>
            <p:cNvSpPr txBox="1">
              <a:spLocks noChangeArrowheads="1"/>
            </p:cNvSpPr>
            <p:nvPr/>
          </p:nvSpPr>
          <p:spPr bwMode="auto">
            <a:xfrm>
              <a:off x="3168" y="1968"/>
              <a:ext cx="21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出栈  （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SP）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 1        SP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910" name="Line 24"/>
            <p:cNvSpPr>
              <a:spLocks noChangeShapeType="1"/>
            </p:cNvSpPr>
            <p:nvPr/>
          </p:nvSpPr>
          <p:spPr bwMode="auto">
            <a:xfrm>
              <a:off x="4704" y="2112"/>
              <a:ext cx="24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1001" name="Group 25"/>
          <p:cNvGrpSpPr/>
          <p:nvPr/>
        </p:nvGrpSpPr>
        <p:grpSpPr bwMode="auto">
          <a:xfrm>
            <a:off x="2492376" y="3946526"/>
            <a:ext cx="3133725" cy="2530475"/>
            <a:chOff x="610" y="2486"/>
            <a:chExt cx="1974" cy="1594"/>
          </a:xfrm>
        </p:grpSpPr>
        <p:sp>
          <p:nvSpPr>
            <p:cNvPr id="35897" name="Text Box 26"/>
            <p:cNvSpPr txBox="1">
              <a:spLocks noChangeArrowheads="1"/>
            </p:cNvSpPr>
            <p:nvPr/>
          </p:nvSpPr>
          <p:spPr bwMode="auto">
            <a:xfrm>
              <a:off x="2146" y="3244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栈顶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5898" name="Text Box 27"/>
            <p:cNvSpPr txBox="1">
              <a:spLocks noChangeArrowheads="1"/>
            </p:cNvSpPr>
            <p:nvPr/>
          </p:nvSpPr>
          <p:spPr bwMode="auto">
            <a:xfrm>
              <a:off x="2146" y="3830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栈底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5899" name="Group 28"/>
            <p:cNvGrpSpPr/>
            <p:nvPr/>
          </p:nvGrpSpPr>
          <p:grpSpPr bwMode="auto">
            <a:xfrm>
              <a:off x="610" y="2486"/>
              <a:ext cx="1536" cy="1536"/>
              <a:chOff x="610" y="2486"/>
              <a:chExt cx="1536" cy="1536"/>
            </a:xfrm>
          </p:grpSpPr>
          <p:sp>
            <p:nvSpPr>
              <p:cNvPr id="35900" name="Rectangle 29"/>
              <p:cNvSpPr>
                <a:spLocks noChangeArrowheads="1"/>
              </p:cNvSpPr>
              <p:nvPr/>
            </p:nvSpPr>
            <p:spPr bwMode="auto">
              <a:xfrm>
                <a:off x="1186" y="2497"/>
                <a:ext cx="960" cy="1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2000 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01" name="Rectangle 30"/>
              <p:cNvSpPr>
                <a:spLocks noChangeArrowheads="1"/>
              </p:cNvSpPr>
              <p:nvPr/>
            </p:nvSpPr>
            <p:spPr bwMode="auto">
              <a:xfrm>
                <a:off x="1186" y="3274"/>
                <a:ext cx="960" cy="172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902" name="Rectangle 31"/>
              <p:cNvSpPr>
                <a:spLocks noChangeArrowheads="1"/>
              </p:cNvSpPr>
              <p:nvPr/>
            </p:nvSpPr>
            <p:spPr bwMode="auto">
              <a:xfrm>
                <a:off x="1186" y="3850"/>
                <a:ext cx="960" cy="1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903" name="Freeform 32"/>
              <p:cNvSpPr/>
              <p:nvPr/>
            </p:nvSpPr>
            <p:spPr bwMode="auto">
              <a:xfrm>
                <a:off x="1187" y="2860"/>
                <a:ext cx="1" cy="1156"/>
              </a:xfrm>
              <a:custGeom>
                <a:avLst/>
                <a:gdLst>
                  <a:gd name="T0" fmla="*/ 1 w 1"/>
                  <a:gd name="T1" fmla="*/ 0 h 1156"/>
                  <a:gd name="T2" fmla="*/ 0 w 1"/>
                  <a:gd name="T3" fmla="*/ 1156 h 115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904" name="Text Box 33"/>
              <p:cNvSpPr txBox="1">
                <a:spLocks noChangeArrowheads="1"/>
              </p:cNvSpPr>
              <p:nvPr/>
            </p:nvSpPr>
            <p:spPr bwMode="auto">
              <a:xfrm>
                <a:off x="651" y="2486"/>
                <a:ext cx="30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SP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05" name="Text Box 34"/>
              <p:cNvSpPr txBox="1">
                <a:spLocks noChangeArrowheads="1"/>
              </p:cNvSpPr>
              <p:nvPr/>
            </p:nvSpPr>
            <p:spPr bwMode="auto">
              <a:xfrm>
                <a:off x="610" y="3244"/>
                <a:ext cx="60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2000 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06" name="Text Box 35"/>
              <p:cNvSpPr txBox="1">
                <a:spLocks noChangeArrowheads="1"/>
              </p:cNvSpPr>
              <p:nvPr/>
            </p:nvSpPr>
            <p:spPr bwMode="auto">
              <a:xfrm>
                <a:off x="1512" y="3532"/>
                <a:ext cx="34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907" name="Freeform 36"/>
              <p:cNvSpPr/>
              <p:nvPr/>
            </p:nvSpPr>
            <p:spPr bwMode="auto">
              <a:xfrm>
                <a:off x="2144" y="2860"/>
                <a:ext cx="1" cy="1156"/>
              </a:xfrm>
              <a:custGeom>
                <a:avLst/>
                <a:gdLst>
                  <a:gd name="T0" fmla="*/ 1 w 1"/>
                  <a:gd name="T1" fmla="*/ 0 h 1156"/>
                  <a:gd name="T2" fmla="*/ 0 w 1"/>
                  <a:gd name="T3" fmla="*/ 1156 h 115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908" name="Freeform 37"/>
              <p:cNvSpPr/>
              <p:nvPr/>
            </p:nvSpPr>
            <p:spPr bwMode="auto">
              <a:xfrm>
                <a:off x="1200" y="3099"/>
                <a:ext cx="942" cy="1"/>
              </a:xfrm>
              <a:custGeom>
                <a:avLst/>
                <a:gdLst>
                  <a:gd name="T0" fmla="*/ 0 w 942"/>
                  <a:gd name="T1" fmla="*/ 0 h 1"/>
                  <a:gd name="T2" fmla="*/ 942 w 94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42" h="1">
                    <a:moveTo>
                      <a:pt x="0" y="0"/>
                    </a:moveTo>
                    <a:lnTo>
                      <a:pt x="942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11014" name="Group 38"/>
          <p:cNvGrpSpPr/>
          <p:nvPr/>
        </p:nvGrpSpPr>
        <p:grpSpPr bwMode="auto">
          <a:xfrm>
            <a:off x="6226176" y="3946526"/>
            <a:ext cx="3133725" cy="2530475"/>
            <a:chOff x="2962" y="2486"/>
            <a:chExt cx="1974" cy="1594"/>
          </a:xfrm>
        </p:grpSpPr>
        <p:sp>
          <p:nvSpPr>
            <p:cNvPr id="35885" name="Text Box 39"/>
            <p:cNvSpPr txBox="1">
              <a:spLocks noChangeArrowheads="1"/>
            </p:cNvSpPr>
            <p:nvPr/>
          </p:nvSpPr>
          <p:spPr bwMode="auto">
            <a:xfrm>
              <a:off x="3881" y="3532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5886" name="Group 40"/>
            <p:cNvGrpSpPr/>
            <p:nvPr/>
          </p:nvGrpSpPr>
          <p:grpSpPr bwMode="auto">
            <a:xfrm>
              <a:off x="2962" y="2486"/>
              <a:ext cx="1974" cy="1594"/>
              <a:chOff x="2962" y="2486"/>
              <a:chExt cx="1974" cy="1594"/>
            </a:xfrm>
          </p:grpSpPr>
          <p:sp>
            <p:nvSpPr>
              <p:cNvPr id="35887" name="Rectangle 41"/>
              <p:cNvSpPr>
                <a:spLocks noChangeArrowheads="1"/>
              </p:cNvSpPr>
              <p:nvPr/>
            </p:nvSpPr>
            <p:spPr bwMode="auto">
              <a:xfrm>
                <a:off x="3538" y="2497"/>
                <a:ext cx="960" cy="1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FFF H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888" name="Rectangle 42"/>
              <p:cNvSpPr>
                <a:spLocks noChangeArrowheads="1"/>
              </p:cNvSpPr>
              <p:nvPr/>
            </p:nvSpPr>
            <p:spPr bwMode="auto">
              <a:xfrm>
                <a:off x="3538" y="3100"/>
                <a:ext cx="960" cy="172"/>
              </a:xfrm>
              <a:prstGeom prst="rect">
                <a:avLst/>
              </a:prstGeom>
              <a:solidFill>
                <a:schemeClr val="tx1">
                  <a:alpha val="50195"/>
                </a:schemeClr>
              </a:solidFill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889" name="Rectangle 43"/>
              <p:cNvSpPr>
                <a:spLocks noChangeArrowheads="1"/>
              </p:cNvSpPr>
              <p:nvPr/>
            </p:nvSpPr>
            <p:spPr bwMode="auto">
              <a:xfrm>
                <a:off x="3538" y="3850"/>
                <a:ext cx="960" cy="1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890" name="Text Box 44"/>
              <p:cNvSpPr txBox="1">
                <a:spLocks noChangeArrowheads="1"/>
              </p:cNvSpPr>
              <p:nvPr/>
            </p:nvSpPr>
            <p:spPr bwMode="auto">
              <a:xfrm>
                <a:off x="3003" y="2486"/>
                <a:ext cx="30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SP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891" name="Text Box 45"/>
              <p:cNvSpPr txBox="1">
                <a:spLocks noChangeArrowheads="1"/>
              </p:cNvSpPr>
              <p:nvPr/>
            </p:nvSpPr>
            <p:spPr bwMode="auto">
              <a:xfrm>
                <a:off x="2962" y="3052"/>
                <a:ext cx="58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1FFFH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892" name="Text Box 46"/>
              <p:cNvSpPr txBox="1">
                <a:spLocks noChangeArrowheads="1"/>
              </p:cNvSpPr>
              <p:nvPr/>
            </p:nvSpPr>
            <p:spPr bwMode="auto">
              <a:xfrm>
                <a:off x="4498" y="3072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栈顶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893" name="Text Box 47"/>
              <p:cNvSpPr txBox="1">
                <a:spLocks noChangeArrowheads="1"/>
              </p:cNvSpPr>
              <p:nvPr/>
            </p:nvSpPr>
            <p:spPr bwMode="auto">
              <a:xfrm>
                <a:off x="4498" y="3830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栈底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894" name="Freeform 48"/>
              <p:cNvSpPr/>
              <p:nvPr/>
            </p:nvSpPr>
            <p:spPr bwMode="auto">
              <a:xfrm>
                <a:off x="3536" y="2860"/>
                <a:ext cx="1" cy="1156"/>
              </a:xfrm>
              <a:custGeom>
                <a:avLst/>
                <a:gdLst>
                  <a:gd name="T0" fmla="*/ 1 w 1"/>
                  <a:gd name="T1" fmla="*/ 0 h 1156"/>
                  <a:gd name="T2" fmla="*/ 0 w 1"/>
                  <a:gd name="T3" fmla="*/ 1156 h 115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895" name="Freeform 49"/>
              <p:cNvSpPr/>
              <p:nvPr/>
            </p:nvSpPr>
            <p:spPr bwMode="auto">
              <a:xfrm>
                <a:off x="4502" y="2860"/>
                <a:ext cx="1" cy="1156"/>
              </a:xfrm>
              <a:custGeom>
                <a:avLst/>
                <a:gdLst>
                  <a:gd name="T0" fmla="*/ 1 w 1"/>
                  <a:gd name="T1" fmla="*/ 0 h 1156"/>
                  <a:gd name="T2" fmla="*/ 0 w 1"/>
                  <a:gd name="T3" fmla="*/ 1156 h 115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156">
                    <a:moveTo>
                      <a:pt x="1" y="0"/>
                    </a:moveTo>
                    <a:lnTo>
                      <a:pt x="0" y="11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896" name="Freeform 50"/>
              <p:cNvSpPr/>
              <p:nvPr/>
            </p:nvSpPr>
            <p:spPr bwMode="auto">
              <a:xfrm>
                <a:off x="3552" y="3483"/>
                <a:ext cx="942" cy="1"/>
              </a:xfrm>
              <a:custGeom>
                <a:avLst/>
                <a:gdLst>
                  <a:gd name="T0" fmla="*/ 0 w 942"/>
                  <a:gd name="T1" fmla="*/ 0 h 1"/>
                  <a:gd name="T2" fmla="*/ 942 w 94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42" h="1">
                    <a:moveTo>
                      <a:pt x="0" y="0"/>
                    </a:moveTo>
                    <a:lnTo>
                      <a:pt x="942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11027" name="Group 51"/>
          <p:cNvGrpSpPr/>
          <p:nvPr/>
        </p:nvGrpSpPr>
        <p:grpSpPr bwMode="auto">
          <a:xfrm>
            <a:off x="4038600" y="4387851"/>
            <a:ext cx="1143000" cy="396875"/>
            <a:chOff x="1584" y="2764"/>
            <a:chExt cx="720" cy="250"/>
          </a:xfrm>
        </p:grpSpPr>
        <p:sp>
          <p:nvSpPr>
            <p:cNvPr id="35883" name="AutoShape 52"/>
            <p:cNvSpPr>
              <a:spLocks noChangeArrowheads="1"/>
            </p:cNvSpPr>
            <p:nvPr/>
          </p:nvSpPr>
          <p:spPr bwMode="auto">
            <a:xfrm>
              <a:off x="1584" y="2812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4" name="Text Box 53"/>
            <p:cNvSpPr txBox="1">
              <a:spLocks noChangeArrowheads="1"/>
            </p:cNvSpPr>
            <p:nvPr/>
          </p:nvSpPr>
          <p:spPr bwMode="auto">
            <a:xfrm>
              <a:off x="1776" y="276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进栈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1030" name="Group 54"/>
          <p:cNvGrpSpPr/>
          <p:nvPr/>
        </p:nvGrpSpPr>
        <p:grpSpPr bwMode="auto">
          <a:xfrm>
            <a:off x="7772400" y="4387851"/>
            <a:ext cx="1143000" cy="396875"/>
            <a:chOff x="3936" y="2764"/>
            <a:chExt cx="720" cy="250"/>
          </a:xfrm>
        </p:grpSpPr>
        <p:sp>
          <p:nvSpPr>
            <p:cNvPr id="35881" name="AutoShape 55"/>
            <p:cNvSpPr>
              <a:spLocks noChangeArrowheads="1"/>
            </p:cNvSpPr>
            <p:nvPr/>
          </p:nvSpPr>
          <p:spPr bwMode="auto">
            <a:xfrm rot="10800000">
              <a:off x="3936" y="2812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2" name="Text Box 56"/>
            <p:cNvSpPr txBox="1">
              <a:spLocks noChangeArrowheads="1"/>
            </p:cNvSpPr>
            <p:nvPr/>
          </p:nvSpPr>
          <p:spPr bwMode="auto">
            <a:xfrm>
              <a:off x="4128" y="276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出栈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11033" name="Text Box 57"/>
          <p:cNvSpPr txBox="1">
            <a:spLocks noChangeArrowheads="1"/>
          </p:cNvSpPr>
          <p:nvPr/>
        </p:nvSpPr>
        <p:spPr bwMode="auto">
          <a:xfrm>
            <a:off x="3413125" y="3962401"/>
            <a:ext cx="1524000" cy="307777"/>
          </a:xfrm>
          <a:prstGeom prst="rect">
            <a:avLst/>
          </a:prstGeom>
          <a:solidFill>
            <a:srgbClr val="0032D4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latin typeface="Times New Roman" panose="02020603050405020304" pitchFamily="18" charset="0"/>
              </a:rPr>
              <a:t>     1</a:t>
            </a:r>
            <a:r>
              <a:rPr lang="en-US" altLang="zh-CN" sz="2000">
                <a:latin typeface="Times New Roman" panose="02020603050405020304" pitchFamily="18" charset="0"/>
              </a:rPr>
              <a:t>FFF H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511034" name="Group 58"/>
          <p:cNvGrpSpPr/>
          <p:nvPr/>
        </p:nvGrpSpPr>
        <p:grpSpPr bwMode="auto">
          <a:xfrm>
            <a:off x="3405188" y="4849814"/>
            <a:ext cx="2309812" cy="396875"/>
            <a:chOff x="1185" y="3055"/>
            <a:chExt cx="1455" cy="250"/>
          </a:xfrm>
        </p:grpSpPr>
        <p:sp>
          <p:nvSpPr>
            <p:cNvPr id="35879" name="Rectangle 59"/>
            <p:cNvSpPr>
              <a:spLocks noChangeArrowheads="1"/>
            </p:cNvSpPr>
            <p:nvPr/>
          </p:nvSpPr>
          <p:spPr bwMode="auto">
            <a:xfrm>
              <a:off x="1185" y="3092"/>
              <a:ext cx="960" cy="172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80" name="Text Box 60"/>
            <p:cNvSpPr txBox="1">
              <a:spLocks noChangeArrowheads="1"/>
            </p:cNvSpPr>
            <p:nvPr/>
          </p:nvSpPr>
          <p:spPr bwMode="auto">
            <a:xfrm>
              <a:off x="2160" y="3055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栈顶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1037" name="Group 61"/>
          <p:cNvGrpSpPr/>
          <p:nvPr/>
        </p:nvGrpSpPr>
        <p:grpSpPr bwMode="auto">
          <a:xfrm>
            <a:off x="3405188" y="5181601"/>
            <a:ext cx="2233612" cy="519113"/>
            <a:chOff x="1185" y="3264"/>
            <a:chExt cx="1407" cy="327"/>
          </a:xfrm>
        </p:grpSpPr>
        <p:sp>
          <p:nvSpPr>
            <p:cNvPr id="35877" name="Text Box 62"/>
            <p:cNvSpPr txBox="1">
              <a:spLocks noChangeArrowheads="1"/>
            </p:cNvSpPr>
            <p:nvPr/>
          </p:nvSpPr>
          <p:spPr bwMode="auto">
            <a:xfrm>
              <a:off x="1185" y="3264"/>
              <a:ext cx="960" cy="192"/>
            </a:xfrm>
            <a:prstGeom prst="rect">
              <a:avLst/>
            </a:prstGeom>
            <a:solidFill>
              <a:srgbClr val="00008C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878" name="Text Box 63"/>
            <p:cNvSpPr txBox="1">
              <a:spLocks noChangeArrowheads="1"/>
            </p:cNvSpPr>
            <p:nvPr/>
          </p:nvSpPr>
          <p:spPr bwMode="auto">
            <a:xfrm>
              <a:off x="2208" y="3264"/>
              <a:ext cx="384" cy="327"/>
            </a:xfrm>
            <a:prstGeom prst="rect">
              <a:avLst/>
            </a:prstGeom>
            <a:solidFill>
              <a:srgbClr val="0000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511040" name="Text Box 64"/>
          <p:cNvSpPr txBox="1">
            <a:spLocks noChangeArrowheads="1"/>
          </p:cNvSpPr>
          <p:nvPr/>
        </p:nvSpPr>
        <p:spPr bwMode="auto">
          <a:xfrm>
            <a:off x="7140575" y="3962401"/>
            <a:ext cx="1524000" cy="307777"/>
          </a:xfrm>
          <a:prstGeom prst="rect">
            <a:avLst/>
          </a:prstGeom>
          <a:solidFill>
            <a:srgbClr val="000070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latin typeface="Times New Roman" panose="02020603050405020304" pitchFamily="18" charset="0"/>
              </a:rPr>
              <a:t>      2000</a:t>
            </a:r>
            <a:r>
              <a:rPr lang="en-US" altLang="zh-CN" sz="2000">
                <a:latin typeface="Times New Roman" panose="02020603050405020304" pitchFamily="18" charset="0"/>
              </a:rPr>
              <a:t> H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511041" name="Group 65"/>
          <p:cNvGrpSpPr/>
          <p:nvPr/>
        </p:nvGrpSpPr>
        <p:grpSpPr bwMode="auto">
          <a:xfrm>
            <a:off x="6324600" y="4891088"/>
            <a:ext cx="2971800" cy="519112"/>
            <a:chOff x="3024" y="3081"/>
            <a:chExt cx="1872" cy="327"/>
          </a:xfrm>
        </p:grpSpPr>
        <p:grpSp>
          <p:nvGrpSpPr>
            <p:cNvPr id="35873" name="Group 66"/>
            <p:cNvGrpSpPr/>
            <p:nvPr/>
          </p:nvGrpSpPr>
          <p:grpSpPr bwMode="auto">
            <a:xfrm>
              <a:off x="3537" y="3081"/>
              <a:ext cx="1359" cy="327"/>
              <a:chOff x="3537" y="3081"/>
              <a:chExt cx="1359" cy="327"/>
            </a:xfrm>
          </p:grpSpPr>
          <p:sp>
            <p:nvSpPr>
              <p:cNvPr id="35875" name="Text Box 67"/>
              <p:cNvSpPr txBox="1">
                <a:spLocks noChangeArrowheads="1"/>
              </p:cNvSpPr>
              <p:nvPr/>
            </p:nvSpPr>
            <p:spPr bwMode="auto">
              <a:xfrm>
                <a:off x="3537" y="3089"/>
                <a:ext cx="960" cy="192"/>
              </a:xfrm>
              <a:prstGeom prst="rect">
                <a:avLst/>
              </a:prstGeom>
              <a:solidFill>
                <a:srgbClr val="000070"/>
              </a:solidFill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876" name="Text Box 68"/>
              <p:cNvSpPr txBox="1">
                <a:spLocks noChangeArrowheads="1"/>
              </p:cNvSpPr>
              <p:nvPr/>
            </p:nvSpPr>
            <p:spPr bwMode="auto">
              <a:xfrm>
                <a:off x="4560" y="3081"/>
                <a:ext cx="336" cy="327"/>
              </a:xfrm>
              <a:prstGeom prst="rect">
                <a:avLst/>
              </a:prstGeom>
              <a:solidFill>
                <a:srgbClr val="00006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5874" name="Text Box 69"/>
            <p:cNvSpPr txBox="1">
              <a:spLocks noChangeArrowheads="1"/>
            </p:cNvSpPr>
            <p:nvPr/>
          </p:nvSpPr>
          <p:spPr bwMode="auto">
            <a:xfrm>
              <a:off x="3024" y="3089"/>
              <a:ext cx="506" cy="192"/>
            </a:xfrm>
            <a:prstGeom prst="rect">
              <a:avLst/>
            </a:prstGeom>
            <a:solidFill>
              <a:srgbClr val="0000A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1046" name="Group 70"/>
          <p:cNvGrpSpPr/>
          <p:nvPr/>
        </p:nvGrpSpPr>
        <p:grpSpPr bwMode="auto">
          <a:xfrm>
            <a:off x="7137400" y="5181601"/>
            <a:ext cx="2311400" cy="396875"/>
            <a:chOff x="3536" y="3264"/>
            <a:chExt cx="1456" cy="250"/>
          </a:xfrm>
        </p:grpSpPr>
        <p:sp>
          <p:nvSpPr>
            <p:cNvPr id="35871" name="Rectangle 71"/>
            <p:cNvSpPr>
              <a:spLocks noChangeArrowheads="1"/>
            </p:cNvSpPr>
            <p:nvPr/>
          </p:nvSpPr>
          <p:spPr bwMode="auto">
            <a:xfrm>
              <a:off x="3536" y="3296"/>
              <a:ext cx="960" cy="172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2" name="Text Box 72"/>
            <p:cNvSpPr txBox="1">
              <a:spLocks noChangeArrowheads="1"/>
            </p:cNvSpPr>
            <p:nvPr/>
          </p:nvSpPr>
          <p:spPr bwMode="auto">
            <a:xfrm>
              <a:off x="4512" y="3264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栈顶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51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1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51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1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1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51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51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51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51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51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1" dur="500"/>
                                        <p:tgtEl>
                                          <p:spTgt spid="51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6" dur="500"/>
                                        <p:tgtEl>
                                          <p:spTgt spid="51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1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5" dur="500"/>
                                        <p:tgtEl>
                                          <p:spTgt spid="51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51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51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0" dur="500"/>
                                        <p:tgtEl>
                                          <p:spTgt spid="51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autoUpdateAnimBg="0"/>
      <p:bldP spid="510980" grpId="0" autoUpdateAnimBg="0"/>
      <p:bldP spid="510984" grpId="0" autoUpdateAnimBg="0"/>
      <p:bldP spid="510985" grpId="0" autoUpdateAnimBg="0"/>
      <p:bldP spid="510986" grpId="0" autoUpdateAnimBg="0"/>
      <p:bldP spid="510987" grpId="0" autoUpdateAnimBg="0"/>
      <p:bldP spid="510988" grpId="0" autoUpdateAnimBg="0"/>
      <p:bldP spid="510989" grpId="0" autoUpdateAnimBg="0"/>
      <p:bldP spid="510990" grpId="0" autoUpdateAnimBg="0"/>
      <p:bldP spid="510991" grpId="0" autoUpdateAnimBg="0"/>
      <p:bldP spid="511033" grpId="0" animBg="1" autoUpdateAnimBg="0"/>
      <p:bldP spid="511040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965326" y="120650"/>
            <a:ext cx="4130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(2) 堆栈寻址举例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512003" name="Group 3"/>
          <p:cNvGrpSpPr/>
          <p:nvPr/>
        </p:nvGrpSpPr>
        <p:grpSpPr bwMode="auto">
          <a:xfrm>
            <a:off x="1752600" y="838200"/>
            <a:ext cx="4241800" cy="2516188"/>
            <a:chOff x="144" y="528"/>
            <a:chExt cx="2672" cy="1585"/>
          </a:xfrm>
        </p:grpSpPr>
        <p:sp>
          <p:nvSpPr>
            <p:cNvPr id="36916" name="Rectangle 4"/>
            <p:cNvSpPr>
              <a:spLocks noChangeArrowheads="1"/>
            </p:cNvSpPr>
            <p:nvPr/>
          </p:nvSpPr>
          <p:spPr bwMode="auto">
            <a:xfrm>
              <a:off x="560" y="778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15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6917" name="Rectangle 5"/>
            <p:cNvSpPr>
              <a:spLocks noChangeArrowheads="1"/>
            </p:cNvSpPr>
            <p:nvPr/>
          </p:nvSpPr>
          <p:spPr bwMode="auto">
            <a:xfrm>
              <a:off x="560" y="1162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200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18" name="Text Box 6"/>
            <p:cNvSpPr txBox="1">
              <a:spLocks noChangeArrowheads="1"/>
            </p:cNvSpPr>
            <p:nvPr/>
          </p:nvSpPr>
          <p:spPr bwMode="auto">
            <a:xfrm>
              <a:off x="144" y="778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ACC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919" name="Text Box 7"/>
            <p:cNvSpPr txBox="1">
              <a:spLocks noChangeArrowheads="1"/>
            </p:cNvSpPr>
            <p:nvPr/>
          </p:nvSpPr>
          <p:spPr bwMode="auto">
            <a:xfrm>
              <a:off x="224" y="1152"/>
              <a:ext cx="3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SP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20" name="Rectangle 8"/>
            <p:cNvSpPr>
              <a:spLocks noChangeArrowheads="1"/>
            </p:cNvSpPr>
            <p:nvPr/>
          </p:nvSpPr>
          <p:spPr bwMode="auto">
            <a:xfrm>
              <a:off x="1952" y="778"/>
              <a:ext cx="864" cy="133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21" name="Rectangle 9"/>
            <p:cNvSpPr>
              <a:spLocks noChangeArrowheads="1"/>
            </p:cNvSpPr>
            <p:nvPr/>
          </p:nvSpPr>
          <p:spPr bwMode="auto">
            <a:xfrm>
              <a:off x="1952" y="1258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X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922" name="Text Box 10"/>
            <p:cNvSpPr txBox="1">
              <a:spLocks noChangeArrowheads="1"/>
            </p:cNvSpPr>
            <p:nvPr/>
          </p:nvSpPr>
          <p:spPr bwMode="auto">
            <a:xfrm>
              <a:off x="1520" y="104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栈顶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23" name="Text Box 11"/>
            <p:cNvSpPr txBox="1">
              <a:spLocks noChangeArrowheads="1"/>
            </p:cNvSpPr>
            <p:nvPr/>
          </p:nvSpPr>
          <p:spPr bwMode="auto">
            <a:xfrm>
              <a:off x="1488" y="1238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200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24" name="Text Box 12"/>
            <p:cNvSpPr txBox="1">
              <a:spLocks noChangeArrowheads="1"/>
            </p:cNvSpPr>
            <p:nvPr/>
          </p:nvSpPr>
          <p:spPr bwMode="auto">
            <a:xfrm>
              <a:off x="1520" y="186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栈底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6925" name="Text Box 13"/>
            <p:cNvSpPr txBox="1">
              <a:spLocks noChangeArrowheads="1"/>
            </p:cNvSpPr>
            <p:nvPr/>
          </p:nvSpPr>
          <p:spPr bwMode="auto">
            <a:xfrm>
              <a:off x="2134" y="52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2014" name="Group 14"/>
          <p:cNvGrpSpPr/>
          <p:nvPr/>
        </p:nvGrpSpPr>
        <p:grpSpPr bwMode="auto">
          <a:xfrm>
            <a:off x="6197600" y="838201"/>
            <a:ext cx="4241800" cy="2530475"/>
            <a:chOff x="2944" y="528"/>
            <a:chExt cx="2672" cy="1594"/>
          </a:xfrm>
        </p:grpSpPr>
        <p:sp>
          <p:nvSpPr>
            <p:cNvPr id="36903" name="Rectangle 15"/>
            <p:cNvSpPr>
              <a:spLocks noChangeArrowheads="1"/>
            </p:cNvSpPr>
            <p:nvPr/>
          </p:nvSpPr>
          <p:spPr bwMode="auto">
            <a:xfrm>
              <a:off x="3360" y="778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anose="02020603050405020304" pitchFamily="18" charset="0"/>
                </a:rPr>
                <a:t>15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6904" name="Rectangle 16"/>
            <p:cNvSpPr>
              <a:spLocks noChangeArrowheads="1"/>
            </p:cNvSpPr>
            <p:nvPr/>
          </p:nvSpPr>
          <p:spPr bwMode="auto">
            <a:xfrm>
              <a:off x="3360" y="1162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1FFH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5" name="Text Box 17"/>
            <p:cNvSpPr txBox="1">
              <a:spLocks noChangeArrowheads="1"/>
            </p:cNvSpPr>
            <p:nvPr/>
          </p:nvSpPr>
          <p:spPr bwMode="auto">
            <a:xfrm>
              <a:off x="2944" y="778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ACC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906" name="Text Box 18"/>
            <p:cNvSpPr txBox="1">
              <a:spLocks noChangeArrowheads="1"/>
            </p:cNvSpPr>
            <p:nvPr/>
          </p:nvSpPr>
          <p:spPr bwMode="auto">
            <a:xfrm>
              <a:off x="3024" y="1152"/>
              <a:ext cx="3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SP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7" name="Rectangle 19"/>
            <p:cNvSpPr>
              <a:spLocks noChangeArrowheads="1"/>
            </p:cNvSpPr>
            <p:nvPr/>
          </p:nvSpPr>
          <p:spPr bwMode="auto">
            <a:xfrm>
              <a:off x="4752" y="778"/>
              <a:ext cx="864" cy="133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908" name="Rectangle 20"/>
            <p:cNvSpPr>
              <a:spLocks noChangeArrowheads="1"/>
            </p:cNvSpPr>
            <p:nvPr/>
          </p:nvSpPr>
          <p:spPr bwMode="auto">
            <a:xfrm>
              <a:off x="4752" y="106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15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909" name="Text Box 21"/>
            <p:cNvSpPr txBox="1">
              <a:spLocks noChangeArrowheads="1"/>
            </p:cNvSpPr>
            <p:nvPr/>
          </p:nvSpPr>
          <p:spPr bwMode="auto">
            <a:xfrm>
              <a:off x="4320" y="85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栈顶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10" name="Text Box 22"/>
            <p:cNvSpPr txBox="1">
              <a:spLocks noChangeArrowheads="1"/>
            </p:cNvSpPr>
            <p:nvPr/>
          </p:nvSpPr>
          <p:spPr bwMode="auto">
            <a:xfrm>
              <a:off x="4298" y="1286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200</a:t>
              </a:r>
              <a:r>
                <a:rPr lang="en-US" altLang="zh-CN" sz="2000">
                  <a:latin typeface="Times New Roman" panose="02020603050405020304" pitchFamily="18" charset="0"/>
                </a:rPr>
                <a:t>H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911" name="Text Box 23"/>
            <p:cNvSpPr txBox="1">
              <a:spLocks noChangeArrowheads="1"/>
            </p:cNvSpPr>
            <p:nvPr/>
          </p:nvSpPr>
          <p:spPr bwMode="auto">
            <a:xfrm>
              <a:off x="4320" y="187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栈底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6912" name="Text Box 24"/>
            <p:cNvSpPr txBox="1">
              <a:spLocks noChangeArrowheads="1"/>
            </p:cNvSpPr>
            <p:nvPr/>
          </p:nvSpPr>
          <p:spPr bwMode="auto">
            <a:xfrm>
              <a:off x="4752" y="528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6913" name="Rectangle 25"/>
            <p:cNvSpPr>
              <a:spLocks noChangeArrowheads="1"/>
            </p:cNvSpPr>
            <p:nvPr/>
          </p:nvSpPr>
          <p:spPr bwMode="auto">
            <a:xfrm>
              <a:off x="4752" y="130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X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914" name="Text Box 26"/>
            <p:cNvSpPr txBox="1">
              <a:spLocks noChangeArrowheads="1"/>
            </p:cNvSpPr>
            <p:nvPr/>
          </p:nvSpPr>
          <p:spPr bwMode="auto">
            <a:xfrm>
              <a:off x="4272" y="1046"/>
              <a:ext cx="49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1FFH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15" name="Freeform 27"/>
            <p:cNvSpPr/>
            <p:nvPr/>
          </p:nvSpPr>
          <p:spPr bwMode="auto">
            <a:xfrm>
              <a:off x="3744" y="538"/>
              <a:ext cx="1488" cy="480"/>
            </a:xfrm>
            <a:custGeom>
              <a:avLst/>
              <a:gdLst>
                <a:gd name="T0" fmla="*/ 0 w 1584"/>
                <a:gd name="T1" fmla="*/ 240 h 480"/>
                <a:gd name="T2" fmla="*/ 0 w 1584"/>
                <a:gd name="T3" fmla="*/ 0 h 480"/>
                <a:gd name="T4" fmla="*/ 1313 w 1584"/>
                <a:gd name="T5" fmla="*/ 0 h 480"/>
                <a:gd name="T6" fmla="*/ 1313 w 1584"/>
                <a:gd name="T7" fmla="*/ 480 h 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4" h="480">
                  <a:moveTo>
                    <a:pt x="0" y="240"/>
                  </a:moveTo>
                  <a:lnTo>
                    <a:pt x="0" y="0"/>
                  </a:lnTo>
                  <a:lnTo>
                    <a:pt x="1584" y="0"/>
                  </a:lnTo>
                  <a:lnTo>
                    <a:pt x="1584" y="4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2028" name="Text Box 28"/>
          <p:cNvSpPr txBox="1">
            <a:spLocks noChangeArrowheads="1"/>
          </p:cNvSpPr>
          <p:nvPr/>
        </p:nvSpPr>
        <p:spPr bwMode="auto">
          <a:xfrm>
            <a:off x="1905000" y="26670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PUSH</a:t>
            </a:r>
            <a:r>
              <a:rPr lang="en-US" altLang="zh-CN" sz="2400">
                <a:latin typeface="Times New Roman" panose="02020603050405020304" pitchFamily="18" charset="0"/>
              </a:rPr>
              <a:t>  A </a:t>
            </a:r>
            <a:r>
              <a:rPr lang="zh-CN" altLang="en-US" sz="2400">
                <a:latin typeface="Times New Roman" panose="02020603050405020304" pitchFamily="18" charset="0"/>
              </a:rPr>
              <a:t>前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2029" name="Text Box 29"/>
          <p:cNvSpPr txBox="1">
            <a:spLocks noChangeArrowheads="1"/>
          </p:cNvSpPr>
          <p:nvPr/>
        </p:nvSpPr>
        <p:spPr bwMode="auto">
          <a:xfrm>
            <a:off x="6400800" y="26670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PUSH</a:t>
            </a:r>
            <a:r>
              <a:rPr lang="en-US" altLang="zh-CN" sz="2400">
                <a:latin typeface="Times New Roman" panose="02020603050405020304" pitchFamily="18" charset="0"/>
              </a:rPr>
              <a:t>  A </a:t>
            </a:r>
            <a:r>
              <a:rPr lang="zh-CN" altLang="en-US" sz="2400">
                <a:latin typeface="Times New Roman" panose="02020603050405020304" pitchFamily="18" charset="0"/>
              </a:rPr>
              <a:t>后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2030" name="Text Box 30"/>
          <p:cNvSpPr txBox="1">
            <a:spLocks noChangeArrowheads="1"/>
          </p:cNvSpPr>
          <p:nvPr/>
        </p:nvSpPr>
        <p:spPr bwMode="auto">
          <a:xfrm>
            <a:off x="1905001" y="5848351"/>
            <a:ext cx="14665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POP</a:t>
            </a:r>
            <a:r>
              <a:rPr lang="en-US" altLang="zh-CN" sz="2400">
                <a:latin typeface="Times New Roman" panose="02020603050405020304" pitchFamily="18" charset="0"/>
              </a:rPr>
              <a:t>  A </a:t>
            </a:r>
            <a:r>
              <a:rPr lang="zh-CN" altLang="en-US" sz="2400">
                <a:latin typeface="Times New Roman" panose="02020603050405020304" pitchFamily="18" charset="0"/>
              </a:rPr>
              <a:t>前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2031" name="Text Box 31"/>
          <p:cNvSpPr txBox="1">
            <a:spLocks noChangeArrowheads="1"/>
          </p:cNvSpPr>
          <p:nvPr/>
        </p:nvSpPr>
        <p:spPr bwMode="auto">
          <a:xfrm>
            <a:off x="6376989" y="5848351"/>
            <a:ext cx="14665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POP</a:t>
            </a:r>
            <a:r>
              <a:rPr lang="en-US" altLang="zh-CN" sz="2400">
                <a:latin typeface="Times New Roman" panose="02020603050405020304" pitchFamily="18" charset="0"/>
              </a:rPr>
              <a:t>  A </a:t>
            </a:r>
            <a:r>
              <a:rPr lang="zh-CN" altLang="en-US" sz="2400">
                <a:latin typeface="Times New Roman" panose="02020603050405020304" pitchFamily="18" charset="0"/>
              </a:rPr>
              <a:t>后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12032" name="Group 32"/>
          <p:cNvGrpSpPr/>
          <p:nvPr/>
        </p:nvGrpSpPr>
        <p:grpSpPr bwMode="auto">
          <a:xfrm>
            <a:off x="1752600" y="3962400"/>
            <a:ext cx="4241800" cy="2573338"/>
            <a:chOff x="144" y="2496"/>
            <a:chExt cx="2672" cy="1621"/>
          </a:xfrm>
        </p:grpSpPr>
        <p:sp>
          <p:nvSpPr>
            <p:cNvPr id="36891" name="Rectangle 33"/>
            <p:cNvSpPr>
              <a:spLocks noChangeArrowheads="1"/>
            </p:cNvSpPr>
            <p:nvPr/>
          </p:nvSpPr>
          <p:spPr bwMode="auto">
            <a:xfrm>
              <a:off x="560" y="274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Y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892" name="Rectangle 34"/>
            <p:cNvSpPr>
              <a:spLocks noChangeArrowheads="1"/>
            </p:cNvSpPr>
            <p:nvPr/>
          </p:nvSpPr>
          <p:spPr bwMode="auto">
            <a:xfrm>
              <a:off x="560" y="3130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1FFH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93" name="Text Box 35"/>
            <p:cNvSpPr txBox="1">
              <a:spLocks noChangeArrowheads="1"/>
            </p:cNvSpPr>
            <p:nvPr/>
          </p:nvSpPr>
          <p:spPr bwMode="auto">
            <a:xfrm>
              <a:off x="144" y="2746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ACC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894" name="Text Box 36"/>
            <p:cNvSpPr txBox="1">
              <a:spLocks noChangeArrowheads="1"/>
            </p:cNvSpPr>
            <p:nvPr/>
          </p:nvSpPr>
          <p:spPr bwMode="auto">
            <a:xfrm>
              <a:off x="224" y="3120"/>
              <a:ext cx="3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SP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95" name="Rectangle 37"/>
            <p:cNvSpPr>
              <a:spLocks noChangeArrowheads="1"/>
            </p:cNvSpPr>
            <p:nvPr/>
          </p:nvSpPr>
          <p:spPr bwMode="auto">
            <a:xfrm>
              <a:off x="1952" y="2746"/>
              <a:ext cx="864" cy="13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6" name="Rectangle 38"/>
            <p:cNvSpPr>
              <a:spLocks noChangeArrowheads="1"/>
            </p:cNvSpPr>
            <p:nvPr/>
          </p:nvSpPr>
          <p:spPr bwMode="auto">
            <a:xfrm>
              <a:off x="1952" y="322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X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897" name="Text Box 39"/>
            <p:cNvSpPr txBox="1">
              <a:spLocks noChangeArrowheads="1"/>
            </p:cNvSpPr>
            <p:nvPr/>
          </p:nvSpPr>
          <p:spPr bwMode="auto">
            <a:xfrm>
              <a:off x="1520" y="278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栈顶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98" name="Text Box 40"/>
            <p:cNvSpPr txBox="1">
              <a:spLocks noChangeArrowheads="1"/>
            </p:cNvSpPr>
            <p:nvPr/>
          </p:nvSpPr>
          <p:spPr bwMode="auto">
            <a:xfrm>
              <a:off x="1507" y="3229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200</a:t>
              </a:r>
              <a:r>
                <a:rPr lang="en-US" altLang="zh-CN" sz="2000">
                  <a:latin typeface="Times New Roman" panose="02020603050405020304" pitchFamily="18" charset="0"/>
                </a:rPr>
                <a:t>H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899" name="Text Box 41"/>
            <p:cNvSpPr txBox="1">
              <a:spLocks noChangeArrowheads="1"/>
            </p:cNvSpPr>
            <p:nvPr/>
          </p:nvSpPr>
          <p:spPr bwMode="auto">
            <a:xfrm>
              <a:off x="1520" y="386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栈底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6900" name="Text Box 42"/>
            <p:cNvSpPr txBox="1">
              <a:spLocks noChangeArrowheads="1"/>
            </p:cNvSpPr>
            <p:nvPr/>
          </p:nvSpPr>
          <p:spPr bwMode="auto">
            <a:xfrm>
              <a:off x="2134" y="249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6901" name="Rectangle 43"/>
            <p:cNvSpPr>
              <a:spLocks noChangeArrowheads="1"/>
            </p:cNvSpPr>
            <p:nvPr/>
          </p:nvSpPr>
          <p:spPr bwMode="auto">
            <a:xfrm>
              <a:off x="1951" y="2986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imes New Roman" panose="02020603050405020304" pitchFamily="18" charset="0"/>
                </a:rPr>
                <a:t>15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902" name="Text Box 44"/>
            <p:cNvSpPr txBox="1">
              <a:spLocks noChangeArrowheads="1"/>
            </p:cNvSpPr>
            <p:nvPr/>
          </p:nvSpPr>
          <p:spPr bwMode="auto">
            <a:xfrm>
              <a:off x="1473" y="2976"/>
              <a:ext cx="49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1FFH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2045" name="Group 45"/>
          <p:cNvGrpSpPr/>
          <p:nvPr/>
        </p:nvGrpSpPr>
        <p:grpSpPr bwMode="auto">
          <a:xfrm>
            <a:off x="6197600" y="3933825"/>
            <a:ext cx="4241800" cy="2571750"/>
            <a:chOff x="2944" y="2496"/>
            <a:chExt cx="2672" cy="1620"/>
          </a:xfrm>
        </p:grpSpPr>
        <p:grpSp>
          <p:nvGrpSpPr>
            <p:cNvPr id="36877" name="Group 46"/>
            <p:cNvGrpSpPr/>
            <p:nvPr/>
          </p:nvGrpSpPr>
          <p:grpSpPr bwMode="auto">
            <a:xfrm>
              <a:off x="2944" y="2496"/>
              <a:ext cx="2672" cy="1620"/>
              <a:chOff x="2944" y="2496"/>
              <a:chExt cx="2672" cy="1620"/>
            </a:xfrm>
          </p:grpSpPr>
          <p:sp>
            <p:nvSpPr>
              <p:cNvPr id="36880" name="Rectangle 47"/>
              <p:cNvSpPr>
                <a:spLocks noChangeArrowheads="1"/>
              </p:cNvSpPr>
              <p:nvPr/>
            </p:nvSpPr>
            <p:spPr bwMode="auto">
              <a:xfrm>
                <a:off x="3360" y="2746"/>
                <a:ext cx="86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15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1" name="Rectangle 48"/>
              <p:cNvSpPr>
                <a:spLocks noChangeArrowheads="1"/>
              </p:cNvSpPr>
              <p:nvPr/>
            </p:nvSpPr>
            <p:spPr bwMode="auto">
              <a:xfrm>
                <a:off x="3360" y="3130"/>
                <a:ext cx="86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200</a:t>
                </a: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2" name="Text Box 49"/>
              <p:cNvSpPr txBox="1">
                <a:spLocks noChangeArrowheads="1"/>
              </p:cNvSpPr>
              <p:nvPr/>
            </p:nvSpPr>
            <p:spPr bwMode="auto">
              <a:xfrm>
                <a:off x="2944" y="2746"/>
                <a:ext cx="4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ACC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3" name="Text Box 50"/>
              <p:cNvSpPr txBox="1">
                <a:spLocks noChangeArrowheads="1"/>
              </p:cNvSpPr>
              <p:nvPr/>
            </p:nvSpPr>
            <p:spPr bwMode="auto">
              <a:xfrm>
                <a:off x="3024" y="3120"/>
                <a:ext cx="30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SP</a:t>
                </a:r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4" name="Rectangle 51"/>
              <p:cNvSpPr>
                <a:spLocks noChangeArrowheads="1"/>
              </p:cNvSpPr>
              <p:nvPr/>
            </p:nvSpPr>
            <p:spPr bwMode="auto">
              <a:xfrm>
                <a:off x="4752" y="2746"/>
                <a:ext cx="864" cy="13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885" name="Text Box 52"/>
              <p:cNvSpPr txBox="1">
                <a:spLocks noChangeArrowheads="1"/>
              </p:cNvSpPr>
              <p:nvPr/>
            </p:nvSpPr>
            <p:spPr bwMode="auto">
              <a:xfrm>
                <a:off x="4320" y="31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栈顶</a:t>
                </a:r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6" name="Text Box 53"/>
              <p:cNvSpPr txBox="1">
                <a:spLocks noChangeArrowheads="1"/>
              </p:cNvSpPr>
              <p:nvPr/>
            </p:nvSpPr>
            <p:spPr bwMode="auto">
              <a:xfrm>
                <a:off x="4272" y="3274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200</a:t>
                </a: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7" name="Text Box 54"/>
              <p:cNvSpPr txBox="1">
                <a:spLocks noChangeArrowheads="1"/>
              </p:cNvSpPr>
              <p:nvPr/>
            </p:nvSpPr>
            <p:spPr bwMode="auto">
              <a:xfrm>
                <a:off x="4320" y="3866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栈底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8" name="Text Box 55"/>
              <p:cNvSpPr txBox="1">
                <a:spLocks noChangeArrowheads="1"/>
              </p:cNvSpPr>
              <p:nvPr/>
            </p:nvSpPr>
            <p:spPr bwMode="auto">
              <a:xfrm>
                <a:off x="4752" y="2496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主存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9" name="Rectangle 56"/>
              <p:cNvSpPr>
                <a:spLocks noChangeArrowheads="1"/>
              </p:cNvSpPr>
              <p:nvPr/>
            </p:nvSpPr>
            <p:spPr bwMode="auto">
              <a:xfrm>
                <a:off x="4752" y="3274"/>
                <a:ext cx="86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X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90" name="Freeform 57"/>
              <p:cNvSpPr/>
              <p:nvPr/>
            </p:nvSpPr>
            <p:spPr bwMode="auto">
              <a:xfrm>
                <a:off x="3744" y="2506"/>
                <a:ext cx="1488" cy="480"/>
              </a:xfrm>
              <a:custGeom>
                <a:avLst/>
                <a:gdLst>
                  <a:gd name="T0" fmla="*/ 0 w 1584"/>
                  <a:gd name="T1" fmla="*/ 240 h 480"/>
                  <a:gd name="T2" fmla="*/ 0 w 1584"/>
                  <a:gd name="T3" fmla="*/ 0 h 480"/>
                  <a:gd name="T4" fmla="*/ 1313 w 1584"/>
                  <a:gd name="T5" fmla="*/ 0 h 480"/>
                  <a:gd name="T6" fmla="*/ 1313 w 1584"/>
                  <a:gd name="T7" fmla="*/ 480 h 4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84" h="480">
                    <a:moveTo>
                      <a:pt x="0" y="240"/>
                    </a:moveTo>
                    <a:lnTo>
                      <a:pt x="0" y="0"/>
                    </a:lnTo>
                    <a:lnTo>
                      <a:pt x="1584" y="0"/>
                    </a:lnTo>
                    <a:lnTo>
                      <a:pt x="1584" y="48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78" name="Line 58"/>
            <p:cNvSpPr>
              <a:spLocks noChangeShapeType="1"/>
            </p:cNvSpPr>
            <p:nvPr/>
          </p:nvSpPr>
          <p:spPr bwMode="auto">
            <a:xfrm>
              <a:off x="4752" y="3024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9" name="Text Box 59"/>
            <p:cNvSpPr txBox="1">
              <a:spLocks noChangeArrowheads="1"/>
            </p:cNvSpPr>
            <p:nvPr/>
          </p:nvSpPr>
          <p:spPr bwMode="auto">
            <a:xfrm>
              <a:off x="5040" y="302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</a:rPr>
                <a:t>15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1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1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1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8" grpId="0" autoUpdateAnimBg="0"/>
      <p:bldP spid="512029" grpId="0" autoUpdateAnimBg="0"/>
      <p:bldP spid="512030" grpId="0" autoUpdateAnimBg="0"/>
      <p:bldP spid="51203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905001" y="349250"/>
            <a:ext cx="7286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(3) </a:t>
            </a:r>
            <a:r>
              <a:rPr lang="en-US" altLang="zh-CN" sz="3600">
                <a:latin typeface="Times New Roman" panose="02020603050405020304" pitchFamily="18" charset="0"/>
              </a:rPr>
              <a:t>SP </a:t>
            </a:r>
            <a:r>
              <a:rPr lang="zh-CN" altLang="en-US" sz="3600">
                <a:latin typeface="Times New Roman" panose="02020603050405020304" pitchFamily="18" charset="0"/>
              </a:rPr>
              <a:t>的修改与主存编址方法有关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13027" name="Text Box 3"/>
          <p:cNvSpPr txBox="1">
            <a:spLocks noChangeArrowheads="1"/>
          </p:cNvSpPr>
          <p:nvPr/>
        </p:nvSpPr>
        <p:spPr bwMode="auto">
          <a:xfrm>
            <a:off x="2270126" y="1231901"/>
            <a:ext cx="3063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953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9525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4097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8669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3241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781300" indent="-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3238500" indent="-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695700" indent="-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4152900" indent="-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① 按 </a:t>
            </a:r>
            <a:r>
              <a:rPr kumimoji="1"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 </a:t>
            </a:r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编址</a:t>
            </a:r>
            <a:endParaRPr kumimoji="1"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3028" name="Text Box 4"/>
          <p:cNvSpPr txBox="1">
            <a:spLocks noChangeArrowheads="1"/>
          </p:cNvSpPr>
          <p:nvPr/>
        </p:nvSpPr>
        <p:spPr bwMode="auto">
          <a:xfrm>
            <a:off x="5202238" y="1590676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进栈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3029" name="Text Box 5"/>
          <p:cNvSpPr txBox="1">
            <a:spLocks noChangeArrowheads="1"/>
          </p:cNvSpPr>
          <p:nvPr/>
        </p:nvSpPr>
        <p:spPr bwMode="auto">
          <a:xfrm>
            <a:off x="5202238" y="233045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出栈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513030" name="Group 6"/>
          <p:cNvGrpSpPr/>
          <p:nvPr/>
        </p:nvGrpSpPr>
        <p:grpSpPr bwMode="auto">
          <a:xfrm>
            <a:off x="6161088" y="1590676"/>
            <a:ext cx="3440112" cy="519113"/>
            <a:chOff x="2921" y="1002"/>
            <a:chExt cx="2167" cy="327"/>
          </a:xfrm>
        </p:grpSpPr>
        <p:sp>
          <p:nvSpPr>
            <p:cNvPr id="37919" name="Text Box 7"/>
            <p:cNvSpPr txBox="1">
              <a:spLocks noChangeArrowheads="1"/>
            </p:cNvSpPr>
            <p:nvPr/>
          </p:nvSpPr>
          <p:spPr bwMode="auto">
            <a:xfrm>
              <a:off x="2921" y="1002"/>
              <a:ext cx="21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（</a:t>
              </a:r>
              <a:r>
                <a:rPr lang="en-US" altLang="zh-CN" sz="2800">
                  <a:latin typeface="Times New Roman" panose="02020603050405020304" pitchFamily="18" charset="0"/>
                </a:rPr>
                <a:t>SP）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1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SP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7920" name="Line 8"/>
            <p:cNvSpPr>
              <a:spLocks noChangeShapeType="1"/>
            </p:cNvSpPr>
            <p:nvPr/>
          </p:nvSpPr>
          <p:spPr bwMode="auto">
            <a:xfrm>
              <a:off x="4080" y="11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3033" name="Group 9"/>
          <p:cNvGrpSpPr/>
          <p:nvPr/>
        </p:nvGrpSpPr>
        <p:grpSpPr bwMode="auto">
          <a:xfrm>
            <a:off x="6161088" y="2330451"/>
            <a:ext cx="3440112" cy="519113"/>
            <a:chOff x="2921" y="1468"/>
            <a:chExt cx="2167" cy="327"/>
          </a:xfrm>
        </p:grpSpPr>
        <p:sp>
          <p:nvSpPr>
            <p:cNvPr id="37917" name="Text Box 10"/>
            <p:cNvSpPr txBox="1">
              <a:spLocks noChangeArrowheads="1"/>
            </p:cNvSpPr>
            <p:nvPr/>
          </p:nvSpPr>
          <p:spPr bwMode="auto">
            <a:xfrm>
              <a:off x="2921" y="1468"/>
              <a:ext cx="21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（</a:t>
              </a:r>
              <a:r>
                <a:rPr lang="en-US" altLang="zh-CN" sz="2800">
                  <a:latin typeface="Times New Roman" panose="02020603050405020304" pitchFamily="18" charset="0"/>
                </a:rPr>
                <a:t>SP）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+ 1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SP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7918" name="Line 11"/>
            <p:cNvSpPr>
              <a:spLocks noChangeShapeType="1"/>
            </p:cNvSpPr>
            <p:nvPr/>
          </p:nvSpPr>
          <p:spPr bwMode="auto">
            <a:xfrm>
              <a:off x="4080" y="163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3036" name="Text Box 12"/>
          <p:cNvSpPr txBox="1">
            <a:spLocks noChangeArrowheads="1"/>
          </p:cNvSpPr>
          <p:nvPr/>
        </p:nvSpPr>
        <p:spPr bwMode="auto">
          <a:xfrm>
            <a:off x="2270126" y="3070226"/>
            <a:ext cx="2987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953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9525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4097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8669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324100" indent="-4953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781300" indent="-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3238500" indent="-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695700" indent="-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4152900" indent="-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② 按 </a:t>
            </a:r>
            <a:r>
              <a:rPr kumimoji="1"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字节 </a:t>
            </a:r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编址</a:t>
            </a:r>
            <a:endParaRPr kumimoji="1"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3037" name="Text Box 13"/>
          <p:cNvSpPr txBox="1">
            <a:spLocks noChangeArrowheads="1"/>
          </p:cNvSpPr>
          <p:nvPr/>
        </p:nvSpPr>
        <p:spPr bwMode="auto">
          <a:xfrm>
            <a:off x="2525713" y="3800476"/>
            <a:ext cx="249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存储字长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 位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3038" name="Text Box 14"/>
          <p:cNvSpPr txBox="1">
            <a:spLocks noChangeArrowheads="1"/>
          </p:cNvSpPr>
          <p:nvPr/>
        </p:nvSpPr>
        <p:spPr bwMode="auto">
          <a:xfrm>
            <a:off x="5202238" y="3800476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进栈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3039" name="Text Box 15"/>
          <p:cNvSpPr txBox="1">
            <a:spLocks noChangeArrowheads="1"/>
          </p:cNvSpPr>
          <p:nvPr/>
        </p:nvSpPr>
        <p:spPr bwMode="auto">
          <a:xfrm>
            <a:off x="5202238" y="454025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出栈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513040" name="Group 16"/>
          <p:cNvGrpSpPr/>
          <p:nvPr/>
        </p:nvGrpSpPr>
        <p:grpSpPr bwMode="auto">
          <a:xfrm>
            <a:off x="6161088" y="3800476"/>
            <a:ext cx="3363912" cy="519113"/>
            <a:chOff x="2921" y="2394"/>
            <a:chExt cx="2119" cy="327"/>
          </a:xfrm>
        </p:grpSpPr>
        <p:sp>
          <p:nvSpPr>
            <p:cNvPr id="37915" name="Text Box 17"/>
            <p:cNvSpPr txBox="1">
              <a:spLocks noChangeArrowheads="1"/>
            </p:cNvSpPr>
            <p:nvPr/>
          </p:nvSpPr>
          <p:spPr bwMode="auto">
            <a:xfrm>
              <a:off x="2921" y="2394"/>
              <a:ext cx="21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（</a:t>
              </a:r>
              <a:r>
                <a:rPr lang="en-US" altLang="zh-CN" sz="2800">
                  <a:latin typeface="Times New Roman" panose="02020603050405020304" pitchFamily="18" charset="0"/>
                </a:rPr>
                <a:t>SP）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2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SP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7916" name="Line 18"/>
            <p:cNvSpPr>
              <a:spLocks noChangeShapeType="1"/>
            </p:cNvSpPr>
            <p:nvPr/>
          </p:nvSpPr>
          <p:spPr bwMode="auto">
            <a:xfrm>
              <a:off x="4080" y="254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3043" name="Group 19"/>
          <p:cNvGrpSpPr/>
          <p:nvPr/>
        </p:nvGrpSpPr>
        <p:grpSpPr bwMode="auto">
          <a:xfrm>
            <a:off x="6161088" y="4540251"/>
            <a:ext cx="3211512" cy="519113"/>
            <a:chOff x="2921" y="2860"/>
            <a:chExt cx="2023" cy="327"/>
          </a:xfrm>
        </p:grpSpPr>
        <p:sp>
          <p:nvSpPr>
            <p:cNvPr id="37913" name="Text Box 20"/>
            <p:cNvSpPr txBox="1">
              <a:spLocks noChangeArrowheads="1"/>
            </p:cNvSpPr>
            <p:nvPr/>
          </p:nvSpPr>
          <p:spPr bwMode="auto">
            <a:xfrm>
              <a:off x="2921" y="2860"/>
              <a:ext cx="202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（</a:t>
              </a:r>
              <a:r>
                <a:rPr lang="en-US" altLang="zh-CN" sz="2800">
                  <a:latin typeface="Times New Roman" panose="02020603050405020304" pitchFamily="18" charset="0"/>
                </a:rPr>
                <a:t>SP）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+ 2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SP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7914" name="Line 21"/>
            <p:cNvSpPr>
              <a:spLocks noChangeShapeType="1"/>
            </p:cNvSpPr>
            <p:nvPr/>
          </p:nvSpPr>
          <p:spPr bwMode="auto">
            <a:xfrm>
              <a:off x="4080" y="302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3046" name="Text Box 22"/>
          <p:cNvSpPr txBox="1">
            <a:spLocks noChangeArrowheads="1"/>
          </p:cNvSpPr>
          <p:nvPr/>
        </p:nvSpPr>
        <p:spPr bwMode="auto">
          <a:xfrm>
            <a:off x="2514600" y="5248276"/>
            <a:ext cx="249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存储字长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32</a:t>
            </a:r>
            <a:r>
              <a:rPr lang="zh-CN" altLang="en-US" sz="2800">
                <a:latin typeface="Times New Roman" panose="02020603050405020304" pitchFamily="18" charset="0"/>
              </a:rPr>
              <a:t> 位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3047" name="Text Box 23"/>
          <p:cNvSpPr txBox="1">
            <a:spLocks noChangeArrowheads="1"/>
          </p:cNvSpPr>
          <p:nvPr/>
        </p:nvSpPr>
        <p:spPr bwMode="auto">
          <a:xfrm>
            <a:off x="5202238" y="5248276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进栈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3048" name="Text Box 24"/>
          <p:cNvSpPr txBox="1">
            <a:spLocks noChangeArrowheads="1"/>
          </p:cNvSpPr>
          <p:nvPr/>
        </p:nvSpPr>
        <p:spPr bwMode="auto">
          <a:xfrm>
            <a:off x="5202238" y="598805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出栈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513049" name="Group 25"/>
          <p:cNvGrpSpPr/>
          <p:nvPr/>
        </p:nvGrpSpPr>
        <p:grpSpPr bwMode="auto">
          <a:xfrm>
            <a:off x="6161089" y="5248276"/>
            <a:ext cx="2974975" cy="519113"/>
            <a:chOff x="2921" y="3306"/>
            <a:chExt cx="1874" cy="327"/>
          </a:xfrm>
        </p:grpSpPr>
        <p:sp>
          <p:nvSpPr>
            <p:cNvPr id="37911" name="Text Box 26"/>
            <p:cNvSpPr txBox="1">
              <a:spLocks noChangeArrowheads="1"/>
            </p:cNvSpPr>
            <p:nvPr/>
          </p:nvSpPr>
          <p:spPr bwMode="auto">
            <a:xfrm>
              <a:off x="2921" y="3306"/>
              <a:ext cx="18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（</a:t>
              </a:r>
              <a:r>
                <a:rPr lang="en-US" altLang="zh-CN" sz="2800">
                  <a:latin typeface="Times New Roman" panose="02020603050405020304" pitchFamily="18" charset="0"/>
                </a:rPr>
                <a:t>SP）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4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SP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7912" name="Line 27"/>
            <p:cNvSpPr>
              <a:spLocks noChangeShapeType="1"/>
            </p:cNvSpPr>
            <p:nvPr/>
          </p:nvSpPr>
          <p:spPr bwMode="auto">
            <a:xfrm>
              <a:off x="4080" y="3463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3052" name="Group 28"/>
          <p:cNvGrpSpPr/>
          <p:nvPr/>
        </p:nvGrpSpPr>
        <p:grpSpPr bwMode="auto">
          <a:xfrm>
            <a:off x="6161089" y="5988051"/>
            <a:ext cx="3000375" cy="519113"/>
            <a:chOff x="2921" y="3772"/>
            <a:chExt cx="1890" cy="327"/>
          </a:xfrm>
        </p:grpSpPr>
        <p:sp>
          <p:nvSpPr>
            <p:cNvPr id="37909" name="Text Box 29"/>
            <p:cNvSpPr txBox="1">
              <a:spLocks noChangeArrowheads="1"/>
            </p:cNvSpPr>
            <p:nvPr/>
          </p:nvSpPr>
          <p:spPr bwMode="auto">
            <a:xfrm>
              <a:off x="2921" y="3772"/>
              <a:ext cx="18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（</a:t>
              </a:r>
              <a:r>
                <a:rPr lang="en-US" altLang="zh-CN" sz="2800">
                  <a:latin typeface="Times New Roman" panose="02020603050405020304" pitchFamily="18" charset="0"/>
                </a:rPr>
                <a:t>SP）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+ 4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SP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7910" name="Line 30"/>
            <p:cNvSpPr>
              <a:spLocks noChangeShapeType="1"/>
            </p:cNvSpPr>
            <p:nvPr/>
          </p:nvSpPr>
          <p:spPr bwMode="auto">
            <a:xfrm>
              <a:off x="4080" y="3936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1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1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1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1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1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1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7" grpId="0" autoUpdateAnimBg="0"/>
      <p:bldP spid="513028" grpId="0" autoUpdateAnimBg="0"/>
      <p:bldP spid="513029" grpId="0" autoUpdateAnimBg="0"/>
      <p:bldP spid="513036" grpId="0" autoUpdateAnimBg="0"/>
      <p:bldP spid="513037" grpId="0" autoUpdateAnimBg="0"/>
      <p:bldP spid="513038" grpId="0" autoUpdateAnimBg="0"/>
      <p:bldP spid="513039" grpId="0" autoUpdateAnimBg="0"/>
      <p:bldP spid="513046" grpId="0" autoUpdateAnimBg="0"/>
      <p:bldP spid="513047" grpId="0" autoUpdateAnimBg="0"/>
      <p:bldP spid="51304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9" y="72886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7.4   指令格式举例</a:t>
            </a:r>
            <a:endParaRPr lang="zh-CN" altLang="en-US" b="1" dirty="0"/>
          </a:p>
        </p:txBody>
      </p:sp>
      <p:sp>
        <p:nvSpPr>
          <p:cNvPr id="514051" name="Text Box 3"/>
          <p:cNvSpPr txBox="1">
            <a:spLocks noChangeArrowheads="1"/>
          </p:cNvSpPr>
          <p:nvPr/>
        </p:nvSpPr>
        <p:spPr bwMode="auto">
          <a:xfrm>
            <a:off x="1965325" y="1143000"/>
            <a:ext cx="7119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一、设计指令格式时应考虑的各种因素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14052" name="Text Box 4"/>
          <p:cNvSpPr txBox="1">
            <a:spLocks noChangeArrowheads="1"/>
          </p:cNvSpPr>
          <p:nvPr/>
        </p:nvSpPr>
        <p:spPr bwMode="auto">
          <a:xfrm>
            <a:off x="2346326" y="1774826"/>
            <a:ext cx="4130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1. 指令系统的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兼容性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053" name="Text Box 5"/>
          <p:cNvSpPr txBox="1">
            <a:spLocks noChangeArrowheads="1"/>
          </p:cNvSpPr>
          <p:nvPr/>
        </p:nvSpPr>
        <p:spPr bwMode="auto">
          <a:xfrm>
            <a:off x="5927726" y="1774826"/>
            <a:ext cx="2976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（向上兼容）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4054" name="Text Box 6"/>
          <p:cNvSpPr txBox="1">
            <a:spLocks noChangeArrowheads="1"/>
          </p:cNvSpPr>
          <p:nvPr/>
        </p:nvSpPr>
        <p:spPr bwMode="auto">
          <a:xfrm>
            <a:off x="2362200" y="23764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2. 其他因素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14055" name="Text Box 7"/>
          <p:cNvSpPr txBox="1">
            <a:spLocks noChangeArrowheads="1"/>
          </p:cNvSpPr>
          <p:nvPr/>
        </p:nvSpPr>
        <p:spPr bwMode="auto">
          <a:xfrm>
            <a:off x="2816225" y="2947988"/>
            <a:ext cx="169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操作类型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056" name="Text Box 8"/>
          <p:cNvSpPr txBox="1">
            <a:spLocks noChangeArrowheads="1"/>
          </p:cNvSpPr>
          <p:nvPr/>
        </p:nvSpPr>
        <p:spPr bwMode="auto">
          <a:xfrm>
            <a:off x="2816225" y="3556000"/>
            <a:ext cx="1550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数据类型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057" name="Text Box 9"/>
          <p:cNvSpPr txBox="1">
            <a:spLocks noChangeArrowheads="1"/>
          </p:cNvSpPr>
          <p:nvPr/>
        </p:nvSpPr>
        <p:spPr bwMode="auto">
          <a:xfrm>
            <a:off x="2816225" y="405765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指令格式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058" name="Text Box 10"/>
          <p:cNvSpPr txBox="1">
            <a:spLocks noChangeArrowheads="1"/>
          </p:cNvSpPr>
          <p:nvPr/>
        </p:nvSpPr>
        <p:spPr bwMode="auto">
          <a:xfrm>
            <a:off x="4724401" y="2947988"/>
            <a:ext cx="447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包括指令个数及操作的难易程度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4059" name="Text Box 11"/>
          <p:cNvSpPr txBox="1">
            <a:spLocks noChangeArrowheads="1"/>
          </p:cNvSpPr>
          <p:nvPr/>
        </p:nvSpPr>
        <p:spPr bwMode="auto">
          <a:xfrm>
            <a:off x="4724400" y="4038600"/>
            <a:ext cx="5086350" cy="49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指令字长是否固定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4060" name="Text Box 12"/>
          <p:cNvSpPr txBox="1">
            <a:spLocks noChangeArrowheads="1"/>
          </p:cNvSpPr>
          <p:nvPr/>
        </p:nvSpPr>
        <p:spPr bwMode="auto">
          <a:xfrm>
            <a:off x="2816225" y="5618163"/>
            <a:ext cx="176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寻址方式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061" name="Text Box 13"/>
          <p:cNvSpPr txBox="1">
            <a:spLocks noChangeArrowheads="1"/>
          </p:cNvSpPr>
          <p:nvPr/>
        </p:nvSpPr>
        <p:spPr bwMode="auto">
          <a:xfrm>
            <a:off x="2816225" y="6151563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寄存器个数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062" name="Text Box 14"/>
          <p:cNvSpPr txBox="1">
            <a:spLocks noChangeArrowheads="1"/>
          </p:cNvSpPr>
          <p:nvPr/>
        </p:nvSpPr>
        <p:spPr bwMode="auto">
          <a:xfrm>
            <a:off x="4724401" y="5084763"/>
            <a:ext cx="5692775" cy="49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地址码位数、地址个数、寻址方式类型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14063" name="Text Box 15"/>
          <p:cNvSpPr txBox="1">
            <a:spLocks noChangeArrowheads="1"/>
          </p:cNvSpPr>
          <p:nvPr/>
        </p:nvSpPr>
        <p:spPr bwMode="auto">
          <a:xfrm>
            <a:off x="4724400" y="4562475"/>
            <a:ext cx="5943600" cy="49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操作码位数、是否采用扩展操作码技术，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4064" name="Text Box 16"/>
          <p:cNvSpPr txBox="1">
            <a:spLocks noChangeArrowheads="1"/>
          </p:cNvSpPr>
          <p:nvPr/>
        </p:nvSpPr>
        <p:spPr bwMode="auto">
          <a:xfrm>
            <a:off x="4727575" y="3500438"/>
            <a:ext cx="5086350" cy="49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确定哪些数据类型可参与操作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4065" name="Text Box 17"/>
          <p:cNvSpPr txBox="1">
            <a:spLocks noChangeArrowheads="1"/>
          </p:cNvSpPr>
          <p:nvPr/>
        </p:nvSpPr>
        <p:spPr bwMode="auto">
          <a:xfrm>
            <a:off x="4724401" y="5562600"/>
            <a:ext cx="5692775" cy="49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指令寻址、操作数寻址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14066" name="Text Box 18"/>
          <p:cNvSpPr txBox="1">
            <a:spLocks noChangeArrowheads="1"/>
          </p:cNvSpPr>
          <p:nvPr/>
        </p:nvSpPr>
        <p:spPr bwMode="auto">
          <a:xfrm>
            <a:off x="4724401" y="6096000"/>
            <a:ext cx="5692775" cy="49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寄存器的多少直接影响指令的执行时间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1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1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1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1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1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1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1" grpId="0" autoUpdateAnimBg="0"/>
      <p:bldP spid="514052" grpId="0" autoUpdateAnimBg="0"/>
      <p:bldP spid="514053" grpId="0" autoUpdateAnimBg="0"/>
      <p:bldP spid="514054" grpId="0" autoUpdateAnimBg="0"/>
      <p:bldP spid="514055" grpId="0" autoUpdateAnimBg="0"/>
      <p:bldP spid="514056" grpId="0" autoUpdateAnimBg="0"/>
      <p:bldP spid="514057" grpId="0" autoUpdateAnimBg="0"/>
      <p:bldP spid="514058" grpId="0" autoUpdateAnimBg="0"/>
      <p:bldP spid="514059" grpId="0" autoUpdateAnimBg="0"/>
      <p:bldP spid="514060" grpId="0" autoUpdateAnimBg="0"/>
      <p:bldP spid="514061" grpId="0" autoUpdateAnimBg="0"/>
      <p:bldP spid="514062" grpId="0" autoUpdateAnimBg="0"/>
      <p:bldP spid="514063" grpId="0" autoUpdateAnimBg="0"/>
      <p:bldP spid="514064" grpId="0" autoUpdateAnimBg="0"/>
      <p:bldP spid="514065" grpId="0" autoUpdateAnimBg="0"/>
      <p:bldP spid="51406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622935" y="260985"/>
            <a:ext cx="4686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二、指令格式举例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25220"/>
            <a:ext cx="10470515" cy="2860040"/>
          </a:xfrm>
          <a:prstGeom prst="rect">
            <a:avLst/>
          </a:prstGeom>
          <a:ln>
            <a:solidFill>
              <a:schemeClr val="accent5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4436745"/>
            <a:ext cx="11188065" cy="1812925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260985"/>
            <a:ext cx="10191750" cy="268859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3429000"/>
            <a:ext cx="10288905" cy="2853055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83346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V.</a:t>
            </a:r>
            <a:r>
              <a:rPr lang="zh-CN" altLang="en-US" b="1" dirty="0"/>
              <a:t>  </a:t>
            </a:r>
            <a:r>
              <a:rPr lang="en-US" altLang="zh-CN" b="1" dirty="0"/>
              <a:t>RISC  </a:t>
            </a:r>
            <a:r>
              <a:rPr lang="zh-CN" altLang="en-US" b="1" dirty="0"/>
              <a:t>技 术 </a:t>
            </a:r>
            <a:endParaRPr lang="zh-CN" altLang="en-US" b="1" dirty="0"/>
          </a:p>
        </p:txBody>
      </p:sp>
      <p:sp>
        <p:nvSpPr>
          <p:cNvPr id="519171" name="Text Box 3"/>
          <p:cNvSpPr txBox="1">
            <a:spLocks noChangeArrowheads="1"/>
          </p:cNvSpPr>
          <p:nvPr/>
        </p:nvSpPr>
        <p:spPr bwMode="auto">
          <a:xfrm>
            <a:off x="1752600" y="1173164"/>
            <a:ext cx="4648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latin typeface="Times New Roman" panose="02020603050405020304" pitchFamily="18" charset="0"/>
              </a:rPr>
              <a:t>一、</a:t>
            </a:r>
            <a:r>
              <a:rPr lang="en-US" altLang="zh-CN" sz="3200">
                <a:latin typeface="Times New Roman" panose="02020603050405020304" pitchFamily="18" charset="0"/>
              </a:rPr>
              <a:t>RISC </a:t>
            </a:r>
            <a:r>
              <a:rPr lang="zh-CN" altLang="en-US" sz="3200">
                <a:latin typeface="Times New Roman" panose="02020603050405020304" pitchFamily="18" charset="0"/>
              </a:rPr>
              <a:t>的产生和发展 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19172" name="Text Box 4"/>
          <p:cNvSpPr txBox="1">
            <a:spLocks noChangeArrowheads="1"/>
          </p:cNvSpPr>
          <p:nvPr/>
        </p:nvSpPr>
        <p:spPr bwMode="auto">
          <a:xfrm>
            <a:off x="3124201" y="3016251"/>
            <a:ext cx="294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       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80 — 20 规律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9173" name="Text Box 5"/>
          <p:cNvSpPr txBox="1">
            <a:spLocks noChangeArrowheads="1"/>
          </p:cNvSpPr>
          <p:nvPr/>
        </p:nvSpPr>
        <p:spPr bwMode="auto">
          <a:xfrm>
            <a:off x="2286000" y="3549650"/>
            <a:ext cx="5867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典型程序中 80% 的语句仅仅使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用处理机中 20% 的指令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9174" name="Text Box 6"/>
          <p:cNvSpPr txBox="1">
            <a:spLocks noChangeArrowheads="1"/>
          </p:cNvSpPr>
          <p:nvPr/>
        </p:nvSpPr>
        <p:spPr bwMode="auto">
          <a:xfrm>
            <a:off x="2286000" y="4572000"/>
            <a:ext cx="7543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执行频度高的简单指令，因复杂指令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   的存在，执行速度无法提高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19175" name="Text Box 7"/>
          <p:cNvSpPr txBox="1">
            <a:spLocks noChangeArrowheads="1"/>
          </p:cNvSpPr>
          <p:nvPr/>
        </p:nvSpPr>
        <p:spPr bwMode="auto">
          <a:xfrm>
            <a:off x="2590800" y="1879601"/>
            <a:ext cx="5745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RISC（Reduced Instruction Set Computer）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19176" name="Text Box 8"/>
          <p:cNvSpPr txBox="1">
            <a:spLocks noChangeArrowheads="1"/>
          </p:cNvSpPr>
          <p:nvPr/>
        </p:nvSpPr>
        <p:spPr bwMode="auto">
          <a:xfrm>
            <a:off x="2590800" y="2427289"/>
            <a:ext cx="5796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CISC（Complex Instruction Set Computer）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19177" name="Text Box 9"/>
          <p:cNvSpPr txBox="1">
            <a:spLocks noChangeArrowheads="1"/>
          </p:cNvSpPr>
          <p:nvPr/>
        </p:nvSpPr>
        <p:spPr bwMode="auto">
          <a:xfrm>
            <a:off x="7204076" y="3016251"/>
            <a:ext cx="2549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——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RISC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技术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19178" name="Group 10"/>
          <p:cNvGrpSpPr/>
          <p:nvPr/>
        </p:nvGrpSpPr>
        <p:grpSpPr bwMode="auto">
          <a:xfrm>
            <a:off x="2209800" y="5454650"/>
            <a:ext cx="8153400" cy="1054100"/>
            <a:chOff x="432" y="3436"/>
            <a:chExt cx="5136" cy="664"/>
          </a:xfrm>
        </p:grpSpPr>
        <p:sp>
          <p:nvSpPr>
            <p:cNvPr id="40972" name="Text Box 11"/>
            <p:cNvSpPr txBox="1">
              <a:spLocks noChangeArrowheads="1"/>
            </p:cNvSpPr>
            <p:nvPr/>
          </p:nvSpPr>
          <p:spPr bwMode="auto">
            <a:xfrm>
              <a:off x="432" y="3504"/>
              <a:ext cx="513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    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能否用 20% 的简单指令组合不常用的</a:t>
              </a:r>
              <a:endParaRPr lang="zh-CN" altLang="en-US" sz="2800">
                <a:latin typeface="Times New Roman" panose="02020603050405020304" pitchFamily="18" charset="0"/>
              </a:endParaRP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     80% 的指令功能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73" name="Text Box 12"/>
            <p:cNvSpPr txBox="1">
              <a:spLocks noChangeArrowheads="1"/>
            </p:cNvSpPr>
            <p:nvPr/>
          </p:nvSpPr>
          <p:spPr bwMode="auto">
            <a:xfrm>
              <a:off x="432" y="3436"/>
              <a:ext cx="40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？</a:t>
              </a:r>
              <a:endParaRPr lang="zh-CN" altLang="en-US" sz="36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19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9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1" grpId="0" autoUpdateAnimBg="0"/>
      <p:bldP spid="519172" grpId="0" autoUpdateAnimBg="0"/>
      <p:bldP spid="519173" grpId="0" autoUpdateAnimBg="0"/>
      <p:bldP spid="519174" grpId="0" autoUpdateAnimBg="0"/>
      <p:bldP spid="519175" grpId="0" autoUpdateAnimBg="0"/>
      <p:bldP spid="519176" grpId="0" autoUpdateAnimBg="0"/>
      <p:bldP spid="51917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1542729" y="270668"/>
            <a:ext cx="5559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二、</a:t>
            </a:r>
            <a:r>
              <a:rPr lang="en-US" altLang="zh-CN" sz="3600">
                <a:latin typeface="Times New Roman" panose="02020603050405020304" pitchFamily="18" charset="0"/>
              </a:rPr>
              <a:t>RISC </a:t>
            </a:r>
            <a:r>
              <a:rPr lang="zh-CN" altLang="en-US" sz="3600">
                <a:latin typeface="Times New Roman" panose="02020603050405020304" pitchFamily="18" charset="0"/>
              </a:rPr>
              <a:t>的主要特征 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20195" name="Text Box 3"/>
          <p:cNvSpPr txBox="1">
            <a:spLocks noChangeArrowheads="1"/>
          </p:cNvSpPr>
          <p:nvPr/>
        </p:nvSpPr>
        <p:spPr bwMode="auto">
          <a:xfrm>
            <a:off x="1847528" y="1216819"/>
            <a:ext cx="6705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</a:rPr>
              <a:t>选用使用频度较高的一些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简单指令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      复杂指令的功能由简单指令来组合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20196" name="Text Box 4"/>
          <p:cNvSpPr txBox="1">
            <a:spLocks noChangeArrowheads="1"/>
          </p:cNvSpPr>
          <p:nvPr/>
        </p:nvSpPr>
        <p:spPr bwMode="auto">
          <a:xfrm>
            <a:off x="1847528" y="2364581"/>
            <a:ext cx="845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</a:rPr>
              <a:t>指令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长度固定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指令格式种类少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寻址方式少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0197" name="Text Box 5"/>
          <p:cNvSpPr txBox="1">
            <a:spLocks noChangeArrowheads="1"/>
          </p:cNvSpPr>
          <p:nvPr/>
        </p:nvSpPr>
        <p:spPr bwMode="auto">
          <a:xfrm>
            <a:off x="1847528" y="3037681"/>
            <a:ext cx="556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</a:rPr>
              <a:t>只有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LOAD / STORE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指令访存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20198" name="Text Box 6"/>
          <p:cNvSpPr txBox="1">
            <a:spLocks noChangeArrowheads="1"/>
          </p:cNvSpPr>
          <p:nvPr/>
        </p:nvSpPr>
        <p:spPr bwMode="auto">
          <a:xfrm>
            <a:off x="1845942" y="4385469"/>
            <a:ext cx="8459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采用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流水技术</a:t>
            </a:r>
            <a:r>
              <a:rPr lang="zh-CN" altLang="en-US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一个时钟周期 </a:t>
            </a:r>
            <a:r>
              <a:rPr lang="zh-CN" altLang="en-US" sz="2800">
                <a:latin typeface="Times New Roman" panose="02020603050405020304" pitchFamily="18" charset="0"/>
              </a:rPr>
              <a:t>内完成一条指令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20199" name="Text Box 7"/>
          <p:cNvSpPr txBox="1">
            <a:spLocks noChangeArrowheads="1"/>
          </p:cNvSpPr>
          <p:nvPr/>
        </p:nvSpPr>
        <p:spPr bwMode="auto">
          <a:xfrm>
            <a:off x="1845942" y="5058569"/>
            <a:ext cx="6624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采用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组合逻辑 </a:t>
            </a:r>
            <a:r>
              <a:rPr lang="zh-CN" altLang="en-US" sz="2800">
                <a:latin typeface="Times New Roman" panose="02020603050405020304" pitchFamily="18" charset="0"/>
              </a:rPr>
              <a:t>实现控制器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0200" name="Text Box 8"/>
          <p:cNvSpPr txBox="1">
            <a:spLocks noChangeArrowheads="1"/>
          </p:cNvSpPr>
          <p:nvPr/>
        </p:nvSpPr>
        <p:spPr bwMode="auto">
          <a:xfrm>
            <a:off x="1845942" y="3710781"/>
            <a:ext cx="6334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中有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多个 </a:t>
            </a:r>
            <a:r>
              <a:rPr lang="zh-CN" altLang="en-US" sz="2800">
                <a:latin typeface="Times New Roman" panose="02020603050405020304" pitchFamily="18" charset="0"/>
              </a:rPr>
              <a:t>通用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寄存器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0201" name="Text Box 9"/>
          <p:cNvSpPr txBox="1">
            <a:spLocks noChangeArrowheads="1"/>
          </p:cNvSpPr>
          <p:nvPr/>
        </p:nvSpPr>
        <p:spPr bwMode="auto">
          <a:xfrm>
            <a:off x="1847528" y="5733256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</a:rPr>
              <a:t>采用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优化 </a:t>
            </a:r>
            <a:r>
              <a:rPr lang="zh-CN" altLang="en-US" sz="2800">
                <a:latin typeface="Times New Roman" panose="02020603050405020304" pitchFamily="18" charset="0"/>
              </a:rPr>
              <a:t>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编译 </a:t>
            </a:r>
            <a:r>
              <a:rPr lang="zh-CN" altLang="en-US" sz="2800">
                <a:latin typeface="Times New Roman" panose="02020603050405020304" pitchFamily="18" charset="0"/>
              </a:rPr>
              <a:t>程序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195" grpId="0" autoUpdateAnimBg="0"/>
      <p:bldP spid="520196" grpId="0" autoUpdateAnimBg="0"/>
      <p:bldP spid="520197" grpId="0" autoUpdateAnimBg="0"/>
      <p:bldP spid="520198" grpId="0" autoUpdateAnimBg="0"/>
      <p:bldP spid="520199" grpId="0" autoUpdateAnimBg="0"/>
      <p:bldP spid="520200" grpId="0" autoUpdateAnimBg="0"/>
      <p:bldP spid="52020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905001" y="425450"/>
            <a:ext cx="5559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</a:rPr>
              <a:t>三、</a:t>
            </a:r>
            <a:r>
              <a:rPr lang="en-US" altLang="zh-CN" sz="3600">
                <a:latin typeface="Times New Roman" panose="02020603050405020304" pitchFamily="18" charset="0"/>
              </a:rPr>
              <a:t>CISC </a:t>
            </a:r>
            <a:r>
              <a:rPr lang="zh-CN" altLang="en-US" sz="3600">
                <a:latin typeface="Times New Roman" panose="02020603050405020304" pitchFamily="18" charset="0"/>
              </a:rPr>
              <a:t>的主要特征 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21219" name="Text Box 3"/>
          <p:cNvSpPr txBox="1">
            <a:spLocks noChangeArrowheads="1"/>
          </p:cNvSpPr>
          <p:nvPr/>
        </p:nvSpPr>
        <p:spPr bwMode="auto">
          <a:xfrm>
            <a:off x="2209800" y="1481139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</a:rPr>
              <a:t>系统指令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复杂庞大</a:t>
            </a:r>
            <a:r>
              <a:rPr lang="zh-CN" altLang="en-US" sz="2800">
                <a:latin typeface="Times New Roman" panose="02020603050405020304" pitchFamily="18" charset="0"/>
              </a:rPr>
              <a:t>，各种指令使用频度相差大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21220" name="Text Box 4"/>
          <p:cNvSpPr txBox="1">
            <a:spLocks noChangeArrowheads="1"/>
          </p:cNvSpPr>
          <p:nvPr/>
        </p:nvSpPr>
        <p:spPr bwMode="auto">
          <a:xfrm>
            <a:off x="2209800" y="2265363"/>
            <a:ext cx="845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</a:rPr>
              <a:t>指令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长度不固定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指令格式种类多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寻址方式多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1221" name="Text Box 5"/>
          <p:cNvSpPr txBox="1">
            <a:spLocks noChangeArrowheads="1"/>
          </p:cNvSpPr>
          <p:nvPr/>
        </p:nvSpPr>
        <p:spPr bwMode="auto">
          <a:xfrm>
            <a:off x="2209800" y="2989263"/>
            <a:ext cx="474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  访存 </a:t>
            </a:r>
            <a:r>
              <a:rPr lang="zh-CN" altLang="en-US" sz="2800">
                <a:latin typeface="Times New Roman" panose="02020603050405020304" pitchFamily="18" charset="0"/>
              </a:rPr>
              <a:t>指令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不受限制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1222" name="Text Box 6"/>
          <p:cNvSpPr txBox="1">
            <a:spLocks noChangeArrowheads="1"/>
          </p:cNvSpPr>
          <p:nvPr/>
        </p:nvSpPr>
        <p:spPr bwMode="auto">
          <a:xfrm>
            <a:off x="2208213" y="4438651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r>
              <a:rPr lang="zh-CN" altLang="en-US" sz="2800">
                <a:latin typeface="Times New Roman" panose="02020603050405020304" pitchFamily="18" charset="0"/>
              </a:rPr>
              <a:t>多数指令需要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多个时钟周期 </a:t>
            </a:r>
            <a:r>
              <a:rPr lang="zh-CN" altLang="en-US" sz="2800">
                <a:latin typeface="Times New Roman" panose="02020603050405020304" pitchFamily="18" charset="0"/>
              </a:rPr>
              <a:t>执行完毕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21223" name="Text Box 7"/>
          <p:cNvSpPr txBox="1">
            <a:spLocks noChangeArrowheads="1"/>
          </p:cNvSpPr>
          <p:nvPr/>
        </p:nvSpPr>
        <p:spPr bwMode="auto">
          <a:xfrm>
            <a:off x="2208213" y="5162551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采用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微程序 </a:t>
            </a:r>
            <a:r>
              <a:rPr lang="zh-CN" altLang="en-US" sz="2800">
                <a:latin typeface="Times New Roman" panose="02020603050405020304" pitchFamily="18" charset="0"/>
              </a:rPr>
              <a:t>控制器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1224" name="Text Box 8"/>
          <p:cNvSpPr txBox="1">
            <a:spLocks noChangeArrowheads="1"/>
          </p:cNvSpPr>
          <p:nvPr/>
        </p:nvSpPr>
        <p:spPr bwMode="auto">
          <a:xfrm>
            <a:off x="2208214" y="3714751"/>
            <a:ext cx="6334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中设有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专用寄存器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1225" name="Text Box 9"/>
          <p:cNvSpPr txBox="1">
            <a:spLocks noChangeArrowheads="1"/>
          </p:cNvSpPr>
          <p:nvPr/>
        </p:nvSpPr>
        <p:spPr bwMode="auto">
          <a:xfrm>
            <a:off x="2209800" y="5888038"/>
            <a:ext cx="7342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难以 </a:t>
            </a:r>
            <a:r>
              <a:rPr lang="zh-CN" altLang="en-US" sz="2800">
                <a:latin typeface="Times New Roman" panose="02020603050405020304" pitchFamily="18" charset="0"/>
              </a:rPr>
              <a:t>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优化编译 </a:t>
            </a:r>
            <a:r>
              <a:rPr lang="zh-CN" altLang="en-US" sz="2800">
                <a:latin typeface="Times New Roman" panose="02020603050405020304" pitchFamily="18" charset="0"/>
              </a:rPr>
              <a:t>生成高效的目的代码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19" grpId="0" autoUpdateAnimBg="0"/>
      <p:bldP spid="521220" grpId="0" autoUpdateAnimBg="0"/>
      <p:bldP spid="521221" grpId="0" autoUpdateAnimBg="0"/>
      <p:bldP spid="521222" grpId="0" autoUpdateAnimBg="0"/>
      <p:bldP spid="521223" grpId="0" autoUpdateAnimBg="0"/>
      <p:bldP spid="521224" grpId="0" autoUpdateAnimBg="0"/>
      <p:bldP spid="52122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670197" y="500509"/>
            <a:ext cx="72151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四、</a:t>
            </a:r>
            <a:r>
              <a:rPr lang="en-US" altLang="zh-CN" sz="3600" dirty="0">
                <a:latin typeface="Times New Roman" panose="02020603050405020304" pitchFamily="18" charset="0"/>
              </a:rPr>
              <a:t>RISC</a:t>
            </a:r>
            <a:r>
              <a:rPr lang="zh-CN" altLang="en-US" sz="3600" dirty="0">
                <a:latin typeface="Times New Roman" panose="02020603050405020304" pitchFamily="18" charset="0"/>
              </a:rPr>
              <a:t>和</a:t>
            </a:r>
            <a:r>
              <a:rPr lang="en-US" altLang="zh-CN" sz="3600" dirty="0">
                <a:latin typeface="Times New Roman" panose="02020603050405020304" pitchFamily="18" charset="0"/>
              </a:rPr>
              <a:t>CISC </a:t>
            </a:r>
            <a:r>
              <a:rPr lang="zh-CN" altLang="en-US" sz="3600" dirty="0">
                <a:latin typeface="Times New Roman" panose="02020603050405020304" pitchFamily="18" charset="0"/>
              </a:rPr>
              <a:t>的比较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22243" name="Text Box 3"/>
          <p:cNvSpPr txBox="1">
            <a:spLocks noChangeArrowheads="1"/>
          </p:cNvSpPr>
          <p:nvPr/>
        </p:nvSpPr>
        <p:spPr bwMode="auto">
          <a:xfrm>
            <a:off x="2281238" y="1226790"/>
            <a:ext cx="670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1. RISC</a:t>
            </a:r>
            <a:r>
              <a:rPr lang="zh-CN" altLang="en-US" sz="2800">
                <a:latin typeface="Times New Roman" panose="02020603050405020304" pitchFamily="18" charset="0"/>
              </a:rPr>
              <a:t>更能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充分利用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VLSI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芯片</a:t>
            </a:r>
            <a:r>
              <a:rPr lang="zh-CN" altLang="en-US" sz="2800">
                <a:latin typeface="Times New Roman" panose="02020603050405020304" pitchFamily="18" charset="0"/>
              </a:rPr>
              <a:t>的面积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22244" name="Text Box 4"/>
          <p:cNvSpPr txBox="1">
            <a:spLocks noChangeArrowheads="1"/>
          </p:cNvSpPr>
          <p:nvPr/>
        </p:nvSpPr>
        <p:spPr bwMode="auto">
          <a:xfrm>
            <a:off x="2281239" y="1915765"/>
            <a:ext cx="7847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2.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RISC </a:t>
            </a:r>
            <a:r>
              <a:rPr lang="zh-CN" altLang="en-US" sz="2800">
                <a:latin typeface="Times New Roman" panose="02020603050405020304" pitchFamily="18" charset="0"/>
              </a:rPr>
              <a:t>更能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提高计算机运算速度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45" name="Text Box 5"/>
          <p:cNvSpPr txBox="1">
            <a:spLocks noChangeArrowheads="1"/>
          </p:cNvSpPr>
          <p:nvPr/>
        </p:nvSpPr>
        <p:spPr bwMode="auto">
          <a:xfrm>
            <a:off x="2570164" y="2507903"/>
            <a:ext cx="63341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指令数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指令格式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寻址方式少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通用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寄存器多</a:t>
            </a:r>
            <a:r>
              <a:rPr lang="zh-CN" altLang="en-US" sz="2800">
                <a:latin typeface="Times New Roman" panose="02020603050405020304" pitchFamily="18" charset="0"/>
              </a:rPr>
              <a:t>，采用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组合逻辑</a:t>
            </a:r>
            <a:r>
              <a:rPr lang="zh-CN" altLang="en-US" sz="2800">
                <a:latin typeface="Times New Roman" panose="02020603050405020304" pitchFamily="18" charset="0"/>
              </a:rPr>
              <a:t> ，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便于实现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指令流水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46" name="Text Box 6"/>
          <p:cNvSpPr txBox="1">
            <a:spLocks noChangeArrowheads="1"/>
          </p:cNvSpPr>
          <p:nvPr/>
        </p:nvSpPr>
        <p:spPr bwMode="auto">
          <a:xfrm>
            <a:off x="2279651" y="4241453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3. RISC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便于设计</a:t>
            </a:r>
            <a:r>
              <a:rPr lang="zh-CN" altLang="en-US" sz="2800">
                <a:latin typeface="Times New Roman" panose="02020603050405020304" pitchFamily="18" charset="0"/>
              </a:rPr>
              <a:t>，可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降低成本</a:t>
            </a:r>
            <a:r>
              <a:rPr lang="zh-CN" altLang="en-US" sz="2800">
                <a:latin typeface="Times New Roman" panose="02020603050405020304" pitchFamily="18" charset="0"/>
              </a:rPr>
              <a:t>，提高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可靠性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47" name="Text Box 7"/>
          <p:cNvSpPr txBox="1">
            <a:spLocks noChangeArrowheads="1"/>
          </p:cNvSpPr>
          <p:nvPr/>
        </p:nvSpPr>
        <p:spPr bwMode="auto">
          <a:xfrm>
            <a:off x="2279652" y="4914553"/>
            <a:ext cx="7056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sz="2800">
                <a:latin typeface="Times New Roman" panose="02020603050405020304" pitchFamily="18" charset="0"/>
              </a:rPr>
              <a:t>RISC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有利于编译程序代码优化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248" name="Text Box 8"/>
          <p:cNvSpPr txBox="1">
            <a:spLocks noChangeArrowheads="1"/>
          </p:cNvSpPr>
          <p:nvPr/>
        </p:nvSpPr>
        <p:spPr bwMode="auto">
          <a:xfrm>
            <a:off x="2281238" y="5589240"/>
            <a:ext cx="6838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RISC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不易 </a:t>
            </a:r>
            <a:r>
              <a:rPr lang="zh-CN" altLang="en-US" sz="2800">
                <a:latin typeface="Times New Roman" panose="02020603050405020304" pitchFamily="18" charset="0"/>
              </a:rPr>
              <a:t>实现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指令系统兼容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3" grpId="0" autoUpdateAnimBg="0"/>
      <p:bldP spid="522244" grpId="0" autoUpdateAnimBg="0"/>
      <p:bldP spid="522245" grpId="0" autoUpdateAnimBg="0"/>
      <p:bldP spid="522246" grpId="0" autoUpdateAnimBg="0"/>
      <p:bldP spid="522247" grpId="0" autoUpdateAnimBg="0"/>
      <p:bldP spid="52224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127066" y="1917348"/>
            <a:ext cx="7488237" cy="4824536"/>
          </a:xfrm>
        </p:spPr>
        <p:txBody>
          <a:bodyPr rtlCol="0">
            <a:normAutofit/>
          </a:bodyPr>
          <a:lstStyle/>
          <a:p>
            <a:pPr marL="457200" indent="-457200"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寻址方式编码到操作码中</a:t>
            </a:r>
            <a:endParaRPr lang="zh-CN" altLang="en-US" dirty="0"/>
          </a:p>
          <a:p>
            <a:pPr marL="457200" indent="-457200"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所有的指令都是</a:t>
            </a:r>
            <a:r>
              <a:rPr lang="en-US" altLang="zh-CN" dirty="0">
                <a:latin typeface="黑体" panose="02010609060101010101" pitchFamily="49" charset="-122"/>
              </a:rPr>
              <a:t>32</a:t>
            </a:r>
            <a:r>
              <a:rPr lang="zh-CN" altLang="en-US" dirty="0"/>
              <a:t>位的</a:t>
            </a:r>
            <a:endParaRPr lang="zh-CN" altLang="en-US" dirty="0"/>
          </a:p>
          <a:p>
            <a:pPr marL="457200" indent="-457200"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操作码占</a:t>
            </a:r>
            <a:r>
              <a:rPr lang="en-US" altLang="zh-CN" dirty="0">
                <a:latin typeface="黑体" panose="02010609060101010101" pitchFamily="49" charset="-122"/>
              </a:rPr>
              <a:t>6</a:t>
            </a:r>
            <a:r>
              <a:rPr lang="zh-CN" altLang="en-US" dirty="0"/>
              <a:t>位</a:t>
            </a:r>
            <a:endParaRPr lang="zh-CN" altLang="en-US" dirty="0"/>
          </a:p>
          <a:p>
            <a:pPr marL="457200" indent="-457200" eaLnBrk="1" fontAlgn="auto" hangingPunct="1">
              <a:spcAft>
                <a:spcPts val="0"/>
              </a:spcAft>
              <a:defRPr/>
            </a:pPr>
            <a:r>
              <a:rPr lang="en-US" altLang="zh-CN" dirty="0">
                <a:latin typeface="黑体" panose="02010609060101010101" pitchFamily="49" charset="-122"/>
              </a:rPr>
              <a:t>3</a:t>
            </a:r>
            <a:r>
              <a:rPr lang="zh-CN" altLang="en-US" dirty="0"/>
              <a:t>种指令格式，对应</a:t>
            </a:r>
            <a:r>
              <a:rPr lang="en-US" altLang="zh-CN" dirty="0"/>
              <a:t>I</a:t>
            </a:r>
            <a:r>
              <a:rPr lang="zh-CN" altLang="en-US" dirty="0"/>
              <a:t>类指令、</a:t>
            </a:r>
            <a:r>
              <a:rPr lang="en-US" altLang="zh-CN" dirty="0"/>
              <a:t>R</a:t>
            </a:r>
            <a:r>
              <a:rPr lang="zh-CN" altLang="en-US" dirty="0"/>
              <a:t>类指令和</a:t>
            </a:r>
            <a:r>
              <a:rPr lang="en-US" altLang="zh-CN" dirty="0"/>
              <a:t>J</a:t>
            </a:r>
            <a:r>
              <a:rPr lang="zh-CN" altLang="en-US" dirty="0"/>
              <a:t>类指令</a:t>
            </a:r>
            <a:endParaRPr lang="en-US" altLang="zh-CN" dirty="0"/>
          </a:p>
          <a:p>
            <a:pPr marL="457200" indent="-457200"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32</a:t>
            </a:r>
            <a:r>
              <a:rPr lang="zh-CN" altLang="en-US" dirty="0"/>
              <a:t>个通用寄存器，编号</a:t>
            </a:r>
            <a:r>
              <a:rPr lang="en-US" altLang="zh-CN" dirty="0"/>
              <a:t>0-31</a:t>
            </a:r>
            <a:r>
              <a:rPr lang="zh-CN" altLang="en-US" dirty="0"/>
              <a:t>，约定：</a:t>
            </a:r>
            <a:endParaRPr lang="en-US" altLang="zh-CN" dirty="0"/>
          </a:p>
          <a:p>
            <a:pPr marL="914400" lvl="1" indent="-457200">
              <a:defRPr/>
            </a:pPr>
            <a:r>
              <a:rPr lang="en-US" altLang="zh-CN" dirty="0"/>
              <a:t>$0 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号寄存器，其值恒</a:t>
            </a:r>
            <a:r>
              <a:rPr lang="en-US" altLang="zh-CN" dirty="0"/>
              <a:t>0</a:t>
            </a:r>
            <a:endParaRPr lang="en-US" altLang="zh-CN" dirty="0"/>
          </a:p>
          <a:p>
            <a:pPr marL="914400" lvl="1" indent="-457200">
              <a:defRPr/>
            </a:pPr>
            <a:r>
              <a:rPr lang="en-US" altLang="zh-CN" dirty="0"/>
              <a:t>$t0 - $t9</a:t>
            </a:r>
            <a:r>
              <a:rPr lang="zh-CN" altLang="en-US" dirty="0"/>
              <a:t>临时寄存器</a:t>
            </a:r>
            <a:endParaRPr lang="en-US" altLang="zh-CN" dirty="0"/>
          </a:p>
          <a:p>
            <a:pPr marL="914400" lvl="1" indent="-457200">
              <a:defRPr/>
            </a:pPr>
            <a:r>
              <a:rPr lang="en-US" altLang="zh-CN" dirty="0"/>
              <a:t>$s0 - $s7</a:t>
            </a:r>
            <a:r>
              <a:rPr lang="zh-CN" altLang="en-US" dirty="0"/>
              <a:t> 程序员变量</a:t>
            </a:r>
            <a:endParaRPr lang="en-US" altLang="zh-CN" dirty="0"/>
          </a:p>
          <a:p>
            <a:pPr marL="914400" lvl="1" indent="-457200">
              <a:defRPr/>
            </a:pPr>
            <a:endParaRPr lang="en-US" altLang="zh-CN" dirty="0"/>
          </a:p>
          <a:p>
            <a:pPr marL="914400" lvl="1" indent="-457200">
              <a:defRPr/>
            </a:pPr>
            <a:endParaRPr lang="en-US" altLang="zh-CN" dirty="0"/>
          </a:p>
          <a:p>
            <a:pPr marL="457200" indent="-457200" eaLnBrk="1" fontAlgn="auto" hangingPunct="1"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27312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VI.</a:t>
            </a:r>
            <a:r>
              <a:rPr lang="zh-CN" altLang="en-US" b="1" dirty="0"/>
              <a:t>  实例</a:t>
            </a:r>
            <a:r>
              <a:rPr lang="en-US" altLang="zh-CN" b="1" dirty="0"/>
              <a:t> -- MIPS32</a:t>
            </a:r>
            <a:r>
              <a:rPr lang="zh-CN" altLang="en-US" b="1" dirty="0"/>
              <a:t>指令系统</a:t>
            </a: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622935" y="11931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3200" dirty="0">
                <a:sym typeface="+mn-ea"/>
              </a:rPr>
              <a:t>概览</a:t>
            </a:r>
            <a:endParaRPr lang="zh-CN" sz="3200" dirty="0"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8478" b="11961"/>
          <a:stretch>
            <a:fillRect/>
          </a:stretch>
        </p:blipFill>
        <p:spPr>
          <a:xfrm>
            <a:off x="407035" y="1196340"/>
            <a:ext cx="11338560" cy="460883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2" name="文本框 1"/>
          <p:cNvSpPr txBox="1"/>
          <p:nvPr/>
        </p:nvSpPr>
        <p:spPr>
          <a:xfrm>
            <a:off x="551180" y="2603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ym typeface="+mn-ea"/>
              </a:rPr>
              <a:t>MIPS32</a:t>
            </a:r>
            <a:r>
              <a:rPr lang="zh-CN" altLang="en-US" sz="3200" dirty="0">
                <a:sym typeface="+mn-ea"/>
              </a:rPr>
              <a:t>汇编中寄存器约定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7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931988" y="1213168"/>
            <a:ext cx="755967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</a:defRPr>
            </a:lvl1pPr>
            <a:lvl2pPr marL="108585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lvl="1" eaLnBrk="1" hangingPunct="1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指令          </a:t>
            </a:r>
            <a:endParaRPr lang="zh-CN" altLang="en-US" dirty="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60420" name="Rectangle 7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881505" y="2781300"/>
            <a:ext cx="755967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</a:defRPr>
            </a:lvl1pPr>
            <a:lvl2pPr marL="108585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lvl="1" eaLnBrk="1" hangingPunct="1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指令</a:t>
            </a:r>
            <a:endParaRPr lang="zh-CN" altLang="en-US" dirty="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60423" name="Rectangle 7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881188" y="4548188"/>
            <a:ext cx="755967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</a:defRPr>
            </a:lvl1pPr>
            <a:lvl2pPr marL="108585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lvl="1" eaLnBrk="1" hangingPunct="1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指令</a:t>
            </a:r>
            <a:endParaRPr lang="zh-CN" altLang="en-US" dirty="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0427" name="Group 5"/>
          <p:cNvGrpSpPr/>
          <p:nvPr/>
        </p:nvGrpSpPr>
        <p:grpSpPr bwMode="auto">
          <a:xfrm>
            <a:off x="2638425" y="1811973"/>
            <a:ext cx="6913563" cy="773112"/>
            <a:chOff x="0" y="0"/>
            <a:chExt cx="4355" cy="487"/>
          </a:xfrm>
        </p:grpSpPr>
        <p:sp>
          <p:nvSpPr>
            <p:cNvPr id="60442" name="Text Box 5"/>
            <p:cNvSpPr txBox="1">
              <a:spLocks noChangeArrowheads="1"/>
            </p:cNvSpPr>
            <p:nvPr/>
          </p:nvSpPr>
          <p:spPr bwMode="auto">
            <a:xfrm>
              <a:off x="0" y="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000">
                  <a:latin typeface="Arial" panose="020B0604020202020204" pitchFamily="34" charset="0"/>
                  <a:ea typeface="宋体" panose="02010600030101010101" pitchFamily="2" charset="-122"/>
                </a:rPr>
                <a:t>op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3" name="Text Box 6"/>
            <p:cNvSpPr txBox="1">
              <a:spLocks noChangeArrowheads="1"/>
            </p:cNvSpPr>
            <p:nvPr/>
          </p:nvSpPr>
          <p:spPr bwMode="auto">
            <a:xfrm>
              <a:off x="817" y="0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rs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4" name="Text Box 7"/>
            <p:cNvSpPr txBox="1">
              <a:spLocks noChangeArrowheads="1"/>
            </p:cNvSpPr>
            <p:nvPr/>
          </p:nvSpPr>
          <p:spPr bwMode="auto">
            <a:xfrm>
              <a:off x="1497" y="0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rt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5" name="Text Box 8"/>
            <p:cNvSpPr txBox="1">
              <a:spLocks noChangeArrowheads="1"/>
            </p:cNvSpPr>
            <p:nvPr/>
          </p:nvSpPr>
          <p:spPr bwMode="auto">
            <a:xfrm>
              <a:off x="2177" y="0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rd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6" name="Text Box 9"/>
            <p:cNvSpPr txBox="1">
              <a:spLocks noChangeArrowheads="1"/>
            </p:cNvSpPr>
            <p:nvPr/>
          </p:nvSpPr>
          <p:spPr bwMode="auto">
            <a:xfrm>
              <a:off x="2858" y="0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shamt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7" name="Text Box 10"/>
            <p:cNvSpPr txBox="1">
              <a:spLocks noChangeArrowheads="1"/>
            </p:cNvSpPr>
            <p:nvPr/>
          </p:nvSpPr>
          <p:spPr bwMode="auto">
            <a:xfrm>
              <a:off x="3538" y="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funct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8" name="Text Box 11"/>
            <p:cNvSpPr txBox="1">
              <a:spLocks noChangeArrowheads="1"/>
            </p:cNvSpPr>
            <p:nvPr/>
          </p:nvSpPr>
          <p:spPr bwMode="auto">
            <a:xfrm>
              <a:off x="176" y="27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31:26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9" name="Text Box 12"/>
            <p:cNvSpPr txBox="1">
              <a:spLocks noChangeArrowheads="1"/>
            </p:cNvSpPr>
            <p:nvPr/>
          </p:nvSpPr>
          <p:spPr bwMode="auto">
            <a:xfrm>
              <a:off x="3785" y="275"/>
              <a:ext cx="2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5:0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50" name="Text Box 13"/>
            <p:cNvSpPr txBox="1">
              <a:spLocks noChangeArrowheads="1"/>
            </p:cNvSpPr>
            <p:nvPr/>
          </p:nvSpPr>
          <p:spPr bwMode="auto">
            <a:xfrm>
              <a:off x="947" y="27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25:21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51" name="Text Box 14"/>
            <p:cNvSpPr txBox="1">
              <a:spLocks noChangeArrowheads="1"/>
            </p:cNvSpPr>
            <p:nvPr/>
          </p:nvSpPr>
          <p:spPr bwMode="auto">
            <a:xfrm>
              <a:off x="1628" y="27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20:16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52" name="Text Box 15"/>
            <p:cNvSpPr txBox="1">
              <a:spLocks noChangeArrowheads="1"/>
            </p:cNvSpPr>
            <p:nvPr/>
          </p:nvSpPr>
          <p:spPr bwMode="auto">
            <a:xfrm>
              <a:off x="2308" y="27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15:11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53" name="Text Box 16"/>
            <p:cNvSpPr txBox="1">
              <a:spLocks noChangeArrowheads="1"/>
            </p:cNvSpPr>
            <p:nvPr/>
          </p:nvSpPr>
          <p:spPr bwMode="auto">
            <a:xfrm>
              <a:off x="3024" y="275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10:6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428" name="Group 18"/>
          <p:cNvGrpSpPr/>
          <p:nvPr/>
        </p:nvGrpSpPr>
        <p:grpSpPr bwMode="auto">
          <a:xfrm>
            <a:off x="2655888" y="3406775"/>
            <a:ext cx="6913562" cy="773113"/>
            <a:chOff x="0" y="0"/>
            <a:chExt cx="4355" cy="487"/>
          </a:xfrm>
        </p:grpSpPr>
        <p:sp>
          <p:nvSpPr>
            <p:cNvPr id="60434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000">
                  <a:latin typeface="Arial" panose="020B0604020202020204" pitchFamily="34" charset="0"/>
                  <a:ea typeface="宋体" panose="02010600030101010101" pitchFamily="2" charset="-122"/>
                </a:rPr>
                <a:t>op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5" name="Text Box 19"/>
            <p:cNvSpPr txBox="1">
              <a:spLocks noChangeArrowheads="1"/>
            </p:cNvSpPr>
            <p:nvPr/>
          </p:nvSpPr>
          <p:spPr bwMode="auto">
            <a:xfrm>
              <a:off x="817" y="0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rs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6" name="Text Box 20"/>
            <p:cNvSpPr txBox="1">
              <a:spLocks noChangeArrowheads="1"/>
            </p:cNvSpPr>
            <p:nvPr/>
          </p:nvSpPr>
          <p:spPr bwMode="auto">
            <a:xfrm>
              <a:off x="1497" y="0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rt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7" name="Text Box 21"/>
            <p:cNvSpPr txBox="1">
              <a:spLocks noChangeArrowheads="1"/>
            </p:cNvSpPr>
            <p:nvPr/>
          </p:nvSpPr>
          <p:spPr bwMode="auto">
            <a:xfrm>
              <a:off x="2177" y="0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address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8" name="Text Box 22"/>
            <p:cNvSpPr txBox="1">
              <a:spLocks noChangeArrowheads="1"/>
            </p:cNvSpPr>
            <p:nvPr/>
          </p:nvSpPr>
          <p:spPr bwMode="auto">
            <a:xfrm>
              <a:off x="176" y="27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31:26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9" name="Text Box 23"/>
            <p:cNvSpPr txBox="1">
              <a:spLocks noChangeArrowheads="1"/>
            </p:cNvSpPr>
            <p:nvPr/>
          </p:nvSpPr>
          <p:spPr bwMode="auto">
            <a:xfrm>
              <a:off x="947" y="27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25:21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0" name="Text Box 24"/>
            <p:cNvSpPr txBox="1">
              <a:spLocks noChangeArrowheads="1"/>
            </p:cNvSpPr>
            <p:nvPr/>
          </p:nvSpPr>
          <p:spPr bwMode="auto">
            <a:xfrm>
              <a:off x="1628" y="27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20:16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41" name="Text Box 25"/>
            <p:cNvSpPr txBox="1">
              <a:spLocks noChangeArrowheads="1"/>
            </p:cNvSpPr>
            <p:nvPr/>
          </p:nvSpPr>
          <p:spPr bwMode="auto">
            <a:xfrm>
              <a:off x="3116" y="275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15:0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429" name="Group 5"/>
          <p:cNvGrpSpPr/>
          <p:nvPr/>
        </p:nvGrpSpPr>
        <p:grpSpPr bwMode="auto">
          <a:xfrm>
            <a:off x="2649855" y="5212715"/>
            <a:ext cx="6913563" cy="773113"/>
            <a:chOff x="0" y="0"/>
            <a:chExt cx="4355" cy="487"/>
          </a:xfrm>
        </p:grpSpPr>
        <p:sp>
          <p:nvSpPr>
            <p:cNvPr id="60430" name="Text Box 5"/>
            <p:cNvSpPr txBox="1">
              <a:spLocks noChangeArrowheads="1"/>
            </p:cNvSpPr>
            <p:nvPr/>
          </p:nvSpPr>
          <p:spPr bwMode="auto">
            <a:xfrm>
              <a:off x="0" y="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000">
                  <a:latin typeface="Arial" panose="020B0604020202020204" pitchFamily="34" charset="0"/>
                  <a:ea typeface="宋体" panose="02010600030101010101" pitchFamily="2" charset="-122"/>
                </a:rPr>
                <a:t>op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1" name="Text Box 8"/>
            <p:cNvSpPr txBox="1">
              <a:spLocks noChangeArrowheads="1"/>
            </p:cNvSpPr>
            <p:nvPr/>
          </p:nvSpPr>
          <p:spPr bwMode="auto">
            <a:xfrm>
              <a:off x="817" y="0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address</a:t>
              </a:r>
              <a:endParaRPr lang="en-AU" altLang="en-US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2" name="Text Box 9"/>
            <p:cNvSpPr txBox="1">
              <a:spLocks noChangeArrowheads="1"/>
            </p:cNvSpPr>
            <p:nvPr/>
          </p:nvSpPr>
          <p:spPr bwMode="auto">
            <a:xfrm>
              <a:off x="176" y="27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31:26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3" name="Text Box 12"/>
            <p:cNvSpPr txBox="1">
              <a:spLocks noChangeArrowheads="1"/>
            </p:cNvSpPr>
            <p:nvPr/>
          </p:nvSpPr>
          <p:spPr bwMode="auto">
            <a:xfrm>
              <a:off x="2404" y="275"/>
              <a:ext cx="4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>
                  <a:latin typeface="Arial" panose="020B0604020202020204" pitchFamily="34" charset="0"/>
                  <a:ea typeface="宋体" panose="02010600030101010101" pitchFamily="2" charset="-122"/>
                </a:rPr>
                <a:t>25:0</a:t>
              </a:r>
              <a:endParaRPr lang="en-AU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51180" y="2603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3200" dirty="0">
                <a:sym typeface="+mn-ea"/>
              </a:rPr>
              <a:t>指令格式</a:t>
            </a:r>
            <a:endParaRPr lang="zh-CN" sz="3200" dirty="0"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 txBox="1"/>
          <p:nvPr/>
        </p:nvSpPr>
        <p:spPr>
          <a:xfrm>
            <a:off x="2279526" y="6514017"/>
            <a:ext cx="7272338" cy="35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589F507E-1719-41C0-8910-0028DCBC505F}" type="slidenum">
              <a:rPr lang="en-AU" altLang="zh-CN" sz="1400" smtClean="0"/>
            </a:fld>
            <a:endParaRPr lang="en-AU" altLang="zh-CN" sz="1400"/>
          </a:p>
        </p:txBody>
      </p:sp>
      <p:sp>
        <p:nvSpPr>
          <p:cNvPr id="4" name="Rectangle 18"/>
          <p:cNvSpPr txBox="1">
            <a:spLocks noChangeArrowheads="1"/>
          </p:cNvSpPr>
          <p:nvPr/>
        </p:nvSpPr>
        <p:spPr>
          <a:xfrm>
            <a:off x="1271464" y="2408742"/>
            <a:ext cx="8270875" cy="39608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指令字段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op: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操作码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(opcode)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第一个源寄存器编号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rt: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第二个源寄存器编号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rd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目的寄存器编号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shamt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移位位数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(00000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表示不移位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funct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功能码（扩展操作码）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(extends opcode)</a:t>
            </a:r>
            <a:endParaRPr lang="en-AU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1919164" y="1215727"/>
            <a:ext cx="6913562" cy="773113"/>
            <a:chOff x="703" y="981"/>
            <a:chExt cx="4355" cy="487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op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rd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shamt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funct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18" name="标题 1"/>
          <p:cNvSpPr txBox="1"/>
          <p:nvPr/>
        </p:nvSpPr>
        <p:spPr>
          <a:xfrm>
            <a:off x="342900" y="284480"/>
            <a:ext cx="10652125" cy="66357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指令格式详解</a:t>
            </a:r>
            <a:r>
              <a:rPr lang="en-US" altLang="zh-CN"/>
              <a:t> --</a:t>
            </a:r>
            <a:r>
              <a:rPr lang="zh-CN" altLang="en-US"/>
              <a:t>寄存器指令（</a:t>
            </a:r>
            <a:r>
              <a:rPr lang="en-US" altLang="zh-CN"/>
              <a:t>R</a:t>
            </a:r>
            <a:r>
              <a:rPr lang="zh-CN" altLang="en-US"/>
              <a:t>型）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7"/>
          <p:cNvSpPr txBox="1">
            <a:spLocks noChangeArrowheads="1"/>
          </p:cNvSpPr>
          <p:nvPr/>
        </p:nvSpPr>
        <p:spPr>
          <a:xfrm>
            <a:off x="1199828" y="2367060"/>
            <a:ext cx="8270875" cy="649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>
                <a:latin typeface="Lucida Console" panose="020B0609040504020204" pitchFamily="49" charset="0"/>
                <a:ea typeface="宋体" panose="02010600030101010101" pitchFamily="2" charset="-122"/>
              </a:rPr>
              <a:t>	add $t0, $s1, $s2</a:t>
            </a:r>
            <a:endParaRPr lang="en-US" altLang="zh-CN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847528" y="3303685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special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3144515" y="3303685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$s1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4224015" y="3303685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$s2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5303515" y="3303685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$t0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6384603" y="3303685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2" name="Text Box 22"/>
          <p:cNvSpPr txBox="1">
            <a:spLocks noChangeArrowheads="1"/>
          </p:cNvSpPr>
          <p:nvPr/>
        </p:nvSpPr>
        <p:spPr bwMode="auto">
          <a:xfrm>
            <a:off x="7464103" y="3303685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add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3" name="Text Box 23"/>
          <p:cNvSpPr txBox="1">
            <a:spLocks noChangeArrowheads="1"/>
          </p:cNvSpPr>
          <p:nvPr/>
        </p:nvSpPr>
        <p:spPr bwMode="auto">
          <a:xfrm>
            <a:off x="1847528" y="3952973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4" name="Text Box 24"/>
          <p:cNvSpPr txBox="1">
            <a:spLocks noChangeArrowheads="1"/>
          </p:cNvSpPr>
          <p:nvPr/>
        </p:nvSpPr>
        <p:spPr bwMode="auto">
          <a:xfrm>
            <a:off x="3144515" y="3952973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17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4224015" y="3952973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18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5303515" y="3952973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8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6384603" y="3952973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7464103" y="3952973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32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19" name="Text Box 29"/>
          <p:cNvSpPr txBox="1">
            <a:spLocks noChangeArrowheads="1"/>
          </p:cNvSpPr>
          <p:nvPr/>
        </p:nvSpPr>
        <p:spPr bwMode="auto">
          <a:xfrm>
            <a:off x="1847528" y="4600673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000000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20" name="Text Box 30"/>
          <p:cNvSpPr txBox="1">
            <a:spLocks noChangeArrowheads="1"/>
          </p:cNvSpPr>
          <p:nvPr/>
        </p:nvSpPr>
        <p:spPr bwMode="auto">
          <a:xfrm>
            <a:off x="3144515" y="4600673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10001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21" name="Text Box 31"/>
          <p:cNvSpPr txBox="1">
            <a:spLocks noChangeArrowheads="1"/>
          </p:cNvSpPr>
          <p:nvPr/>
        </p:nvSpPr>
        <p:spPr bwMode="auto">
          <a:xfrm>
            <a:off x="4224015" y="4600673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10010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22" name="Text Box 32"/>
          <p:cNvSpPr txBox="1">
            <a:spLocks noChangeArrowheads="1"/>
          </p:cNvSpPr>
          <p:nvPr/>
        </p:nvSpPr>
        <p:spPr bwMode="auto">
          <a:xfrm>
            <a:off x="5303515" y="4600673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01000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6384603" y="4600673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00000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7464103" y="4600673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100000</a:t>
            </a:r>
            <a:endParaRPr lang="en-AU" altLang="zh-CN" sz="2000">
              <a:ea typeface="宋体" panose="02010600030101010101" pitchFamily="2" charset="-122"/>
            </a:endParaRPr>
          </a:p>
        </p:txBody>
      </p:sp>
      <p:sp>
        <p:nvSpPr>
          <p:cNvPr id="25" name="Rectangle 35"/>
          <p:cNvSpPr>
            <a:spLocks noChangeArrowheads="1"/>
          </p:cNvSpPr>
          <p:nvPr/>
        </p:nvSpPr>
        <p:spPr bwMode="auto">
          <a:xfrm>
            <a:off x="1199828" y="5391248"/>
            <a:ext cx="8140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00000010001100100100000000100000</a:t>
            </a:r>
            <a:r>
              <a:rPr lang="en-US" altLang="zh-CN" sz="2400" baseline="-25000">
                <a:ea typeface="宋体" panose="02010600030101010101" pitchFamily="2" charset="-122"/>
              </a:rPr>
              <a:t>2</a:t>
            </a:r>
            <a:r>
              <a:rPr lang="en-US" altLang="zh-CN" sz="2400">
                <a:ea typeface="宋体" panose="02010600030101010101" pitchFamily="2" charset="-122"/>
              </a:rPr>
              <a:t> = 02324020</a:t>
            </a:r>
            <a:r>
              <a:rPr lang="en-US" altLang="zh-CN" sz="2400" baseline="-25000">
                <a:ea typeface="宋体" panose="02010600030101010101" pitchFamily="2" charset="-122"/>
              </a:rPr>
              <a:t>16</a:t>
            </a:r>
            <a:endParaRPr lang="en-AU" altLang="zh-CN" sz="2400">
              <a:ea typeface="宋体" panose="02010600030101010101" pitchFamily="2" charset="-122"/>
            </a:endParaRPr>
          </a:p>
        </p:txBody>
      </p:sp>
      <p:grpSp>
        <p:nvGrpSpPr>
          <p:cNvPr id="26" name="Group 38"/>
          <p:cNvGrpSpPr/>
          <p:nvPr/>
        </p:nvGrpSpPr>
        <p:grpSpPr bwMode="auto">
          <a:xfrm>
            <a:off x="1847528" y="1287560"/>
            <a:ext cx="6913562" cy="773113"/>
            <a:chOff x="703" y="981"/>
            <a:chExt cx="4355" cy="487"/>
          </a:xfrm>
        </p:grpSpPr>
        <p:sp>
          <p:nvSpPr>
            <p:cNvPr id="27" name="Text Box 39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op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28" name="Text Box 40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29" name="Text Box 41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0" name="Text Box 42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rd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1" name="Text Box 43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shamt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2" name="Text Box 44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funct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3" name="Text Box 45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4" name="Text Box 46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5" name="Text Box 47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6" name="Text Box 48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7" name="Text Box 49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8" name="Text Box 50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4" name="标题 1"/>
          <p:cNvSpPr txBox="1"/>
          <p:nvPr/>
        </p:nvSpPr>
        <p:spPr>
          <a:xfrm>
            <a:off x="335280" y="260985"/>
            <a:ext cx="10652125" cy="66357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指令格式详解</a:t>
            </a:r>
            <a:r>
              <a:rPr lang="en-US" altLang="zh-CN"/>
              <a:t> --</a:t>
            </a:r>
            <a:r>
              <a:rPr lang="zh-CN" altLang="en-US"/>
              <a:t>寄存器指令（</a:t>
            </a:r>
            <a:r>
              <a:rPr lang="en-US" altLang="zh-CN"/>
              <a:t>R</a:t>
            </a:r>
            <a:r>
              <a:rPr lang="zh-CN" altLang="en-US"/>
              <a:t>型）</a:t>
            </a:r>
            <a:r>
              <a:rPr lang="en-US" altLang="zh-CN"/>
              <a:t>-- </a:t>
            </a:r>
            <a:r>
              <a:rPr lang="zh-CN" altLang="en-US"/>
              <a:t>举例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 txBox="1"/>
          <p:nvPr/>
        </p:nvSpPr>
        <p:spPr>
          <a:xfrm>
            <a:off x="1692275" y="6381750"/>
            <a:ext cx="7272338" cy="35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A501CE70-649F-411C-9738-61B2CC66493A}" type="slidenum">
              <a:rPr lang="en-AU" altLang="zh-CN" sz="1400" smtClean="0"/>
            </a:fld>
            <a:endParaRPr lang="en-AU" altLang="zh-CN" sz="1400"/>
          </a:p>
        </p:txBody>
      </p:sp>
      <p:sp>
        <p:nvSpPr>
          <p:cNvPr id="6" name="Rectangle 27"/>
          <p:cNvSpPr txBox="1">
            <a:spLocks noChangeArrowheads="1"/>
          </p:cNvSpPr>
          <p:nvPr/>
        </p:nvSpPr>
        <p:spPr>
          <a:xfrm>
            <a:off x="1631504" y="2568797"/>
            <a:ext cx="8270875" cy="3887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立即数的算术和读数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存数指令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rt: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目的或源寄存器编号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常数的取值范围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dirty="0">
                <a:solidFill>
                  <a:srgbClr val="800000"/>
                </a:solidFill>
                <a:ea typeface="黑体" panose="02010609060101010101" pitchFamily="49" charset="-122"/>
              </a:rPr>
              <a:t>–</a:t>
            </a:r>
            <a:r>
              <a:rPr lang="en-US" altLang="zh-CN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aseline="30000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lang="en-US" altLang="zh-CN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to +2</a:t>
            </a:r>
            <a:r>
              <a:rPr lang="en-US" altLang="zh-CN" baseline="30000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lang="en-US" altLang="zh-CN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800000"/>
                </a:solidFill>
                <a:ea typeface="黑体" panose="02010609060101010101" pitchFamily="49" charset="-122"/>
              </a:rPr>
              <a:t>–</a:t>
            </a:r>
            <a:r>
              <a:rPr lang="en-US" altLang="zh-CN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</a:t>
            </a:r>
            <a:endParaRPr lang="en-US" altLang="zh-CN" dirty="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地址：</a:t>
            </a:r>
            <a:r>
              <a:rPr lang="zh-CN" altLang="en-US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偏移加上</a:t>
            </a:r>
            <a:r>
              <a:rPr lang="en-US" altLang="zh-CN" dirty="0" err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中的基址</a:t>
            </a:r>
            <a:endParaRPr lang="en-US" altLang="zh-CN" dirty="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" name="Group 4"/>
          <p:cNvGrpSpPr/>
          <p:nvPr/>
        </p:nvGrpSpPr>
        <p:grpSpPr bwMode="auto">
          <a:xfrm>
            <a:off x="1799432" y="1216025"/>
            <a:ext cx="6913562" cy="773113"/>
            <a:chOff x="884" y="981"/>
            <a:chExt cx="4355" cy="487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op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constant </a:t>
              </a:r>
              <a:r>
                <a:rPr lang="en-US" altLang="zh-CN" sz="2000">
                  <a:solidFill>
                    <a:srgbClr val="FF0000"/>
                  </a:solidFill>
                  <a:ea typeface="宋体" panose="02010600030101010101" pitchFamily="2" charset="-122"/>
                </a:rPr>
                <a:t>or address</a:t>
              </a:r>
              <a:endParaRPr lang="en-AU" altLang="zh-CN" sz="20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800000"/>
                  </a:solidFill>
                  <a:ea typeface="宋体" panose="02010600030101010101" pitchFamily="2" charset="-122"/>
                </a:rPr>
                <a:t>16 bits</a:t>
              </a:r>
              <a:endParaRPr lang="en-AU" altLang="zh-CN" sz="1600">
                <a:solidFill>
                  <a:srgbClr val="8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8" name="标题 1"/>
          <p:cNvSpPr txBox="1"/>
          <p:nvPr/>
        </p:nvSpPr>
        <p:spPr>
          <a:xfrm>
            <a:off x="342900" y="284480"/>
            <a:ext cx="10652125" cy="66357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指令格式详解</a:t>
            </a:r>
            <a:r>
              <a:rPr lang="en-US" altLang="zh-CN"/>
              <a:t> --</a:t>
            </a:r>
            <a:r>
              <a:rPr lang="zh-CN" altLang="en-US"/>
              <a:t>寄存器指令（</a:t>
            </a:r>
            <a:r>
              <a:rPr lang="en-US" altLang="zh-CN"/>
              <a:t>I</a:t>
            </a:r>
            <a:r>
              <a:rPr lang="zh-CN" altLang="en-US"/>
              <a:t>型）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9"/>
          <p:cNvGraphicFramePr/>
          <p:nvPr/>
        </p:nvGraphicFramePr>
        <p:xfrm>
          <a:off x="1847528" y="2750259"/>
          <a:ext cx="8270875" cy="2076452"/>
        </p:xfrm>
        <a:graphic>
          <a:graphicData uri="http://schemas.openxmlformats.org/drawingml/2006/table">
            <a:tbl>
              <a:tblPr/>
              <a:tblGrid>
                <a:gridCol w="1377950"/>
                <a:gridCol w="1379537"/>
                <a:gridCol w="1417638"/>
                <a:gridCol w="1338262"/>
                <a:gridCol w="1379538"/>
                <a:gridCol w="1377950"/>
              </a:tblGrid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rs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rt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rd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/shamd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funct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" name="Rectangle 60"/>
          <p:cNvSpPr>
            <a:spLocks noChangeArrowheads="1"/>
          </p:cNvSpPr>
          <p:nvPr/>
        </p:nvSpPr>
        <p:spPr bwMode="auto">
          <a:xfrm>
            <a:off x="1615272" y="661977"/>
            <a:ext cx="36353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i="1" dirty="0"/>
              <a:t>汇编语言编写的程序</a:t>
            </a:r>
            <a:r>
              <a:rPr lang="zh-CN" altLang="en-US" sz="2400" b="1" dirty="0"/>
              <a:t>：</a:t>
            </a:r>
            <a:endParaRPr lang="zh-CN" altLang="en-US" sz="24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</a:rPr>
              <a:t>lw     $t0, 1200($t1)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Add  $t0, $s2, $t0</a:t>
            </a:r>
            <a:endParaRPr lang="en-US" altLang="zh-CN" sz="2400" dirty="0">
              <a:solidFill>
                <a:srgbClr val="8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err="1">
                <a:solidFill>
                  <a:srgbClr val="009900"/>
                </a:solidFill>
              </a:rPr>
              <a:t>Sw</a:t>
            </a:r>
            <a:r>
              <a:rPr lang="en-US" altLang="zh-CN" sz="2400" b="1" dirty="0">
                <a:solidFill>
                  <a:srgbClr val="009900"/>
                </a:solidFill>
              </a:rPr>
              <a:t>    $t0,1200($t1)</a:t>
            </a:r>
            <a:endParaRPr lang="zh-CN" altLang="en-US" sz="2400" dirty="0"/>
          </a:p>
        </p:txBody>
      </p:sp>
      <p:sp>
        <p:nvSpPr>
          <p:cNvPr id="4" name="Text Box 61"/>
          <p:cNvSpPr txBox="1">
            <a:spLocks noChangeArrowheads="1"/>
          </p:cNvSpPr>
          <p:nvPr/>
        </p:nvSpPr>
        <p:spPr bwMode="auto">
          <a:xfrm>
            <a:off x="1615272" y="2208617"/>
            <a:ext cx="3816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i="1" dirty="0"/>
              <a:t>变成机器语言</a:t>
            </a:r>
            <a:r>
              <a:rPr lang="zh-CN" altLang="en-US" sz="2400" b="1" dirty="0"/>
              <a:t>，如下</a:t>
            </a:r>
            <a:r>
              <a:rPr lang="zh-CN" altLang="en-US" sz="2400" dirty="0"/>
              <a:t>：</a:t>
            </a:r>
            <a:endParaRPr lang="zh-CN" altLang="en-US" sz="2400" dirty="0"/>
          </a:p>
        </p:txBody>
      </p:sp>
      <p:sp>
        <p:nvSpPr>
          <p:cNvPr id="5" name="AutoShape 63"/>
          <p:cNvSpPr>
            <a:spLocks noChangeArrowheads="1"/>
          </p:cNvSpPr>
          <p:nvPr/>
        </p:nvSpPr>
        <p:spPr bwMode="auto">
          <a:xfrm>
            <a:off x="894547" y="806440"/>
            <a:ext cx="865188" cy="2478544"/>
          </a:xfrm>
          <a:prstGeom prst="curvedRightArrow">
            <a:avLst>
              <a:gd name="adj1" fmla="val 19452"/>
              <a:gd name="adj2" fmla="val 78349"/>
              <a:gd name="adj3" fmla="val 3559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/>
          </a:p>
        </p:txBody>
      </p:sp>
      <p:sp>
        <p:nvSpPr>
          <p:cNvPr id="6" name="Text Box 64"/>
          <p:cNvSpPr txBox="1">
            <a:spLocks noChangeArrowheads="1"/>
          </p:cNvSpPr>
          <p:nvPr/>
        </p:nvSpPr>
        <p:spPr bwMode="auto">
          <a:xfrm>
            <a:off x="7262227" y="916754"/>
            <a:ext cx="4896544" cy="173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800000"/>
                </a:solidFill>
              </a:rPr>
              <a:t>寄存器编号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$t0 – $t7 are reg’s 8 – 15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$t8 – $t9 are reg’s 24 – 25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$s0 – $s7 are reg’s 16 – 23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600" dirty="0"/>
          </a:p>
        </p:txBody>
      </p:sp>
      <p:sp>
        <p:nvSpPr>
          <p:cNvPr id="7" name="Line 65"/>
          <p:cNvSpPr>
            <a:spLocks noChangeShapeType="1"/>
          </p:cNvSpPr>
          <p:nvPr/>
        </p:nvSpPr>
        <p:spPr bwMode="auto">
          <a:xfrm>
            <a:off x="2927649" y="1398633"/>
            <a:ext cx="2160240" cy="20303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8" name="Line 66"/>
          <p:cNvSpPr>
            <a:spLocks noChangeShapeType="1"/>
          </p:cNvSpPr>
          <p:nvPr/>
        </p:nvSpPr>
        <p:spPr bwMode="auto">
          <a:xfrm flipH="1">
            <a:off x="4079776" y="1398632"/>
            <a:ext cx="72008" cy="2102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9" name="Line 67"/>
          <p:cNvSpPr>
            <a:spLocks noChangeShapeType="1"/>
          </p:cNvSpPr>
          <p:nvPr/>
        </p:nvSpPr>
        <p:spPr bwMode="auto">
          <a:xfrm>
            <a:off x="3573322" y="1394828"/>
            <a:ext cx="3869879" cy="21061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048" y="4895151"/>
            <a:ext cx="5386085" cy="1844824"/>
          </a:xfrm>
          <a:prstGeom prst="rect">
            <a:avLst/>
          </a:prstGeom>
        </p:spPr>
      </p:pic>
      <p:sp>
        <p:nvSpPr>
          <p:cNvPr id="14" name="AutoShape 63"/>
          <p:cNvSpPr>
            <a:spLocks noChangeArrowheads="1"/>
          </p:cNvSpPr>
          <p:nvPr/>
        </p:nvSpPr>
        <p:spPr bwMode="auto">
          <a:xfrm rot="20216179">
            <a:off x="5122083" y="4963902"/>
            <a:ext cx="912339" cy="1831195"/>
          </a:xfrm>
          <a:prstGeom prst="curvedRightArrow">
            <a:avLst>
              <a:gd name="adj1" fmla="val 19452"/>
              <a:gd name="adj2" fmla="val 78349"/>
              <a:gd name="adj3" fmla="val 3559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/>
          </a:p>
        </p:txBody>
      </p:sp>
      <p:sp>
        <p:nvSpPr>
          <p:cNvPr id="18" name="标题 1"/>
          <p:cNvSpPr txBox="1"/>
          <p:nvPr/>
        </p:nvSpPr>
        <p:spPr>
          <a:xfrm>
            <a:off x="342900" y="116205"/>
            <a:ext cx="10652125" cy="66357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指令格式详解</a:t>
            </a:r>
            <a:r>
              <a:rPr lang="en-US" altLang="zh-CN"/>
              <a:t> --</a:t>
            </a:r>
            <a:r>
              <a:rPr lang="zh-CN" altLang="en-US"/>
              <a:t>寄存器指令（</a:t>
            </a:r>
            <a:r>
              <a:rPr lang="en-US" altLang="zh-CN"/>
              <a:t>I</a:t>
            </a:r>
            <a:r>
              <a:rPr lang="zh-CN" altLang="en-US"/>
              <a:t>型）</a:t>
            </a:r>
            <a:r>
              <a:rPr lang="en-US" altLang="zh-CN"/>
              <a:t>-- </a:t>
            </a:r>
            <a:r>
              <a:rPr lang="zh-CN" altLang="en-US"/>
              <a:t>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67408" y="1084915"/>
            <a:ext cx="10956403" cy="1843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跳转（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jal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）的目标地址可以在代码段的任何位置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指令除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op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外，指令其它字段都是地址</a:t>
            </a:r>
            <a:endParaRPr lang="en-AU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" name="Group 4"/>
          <p:cNvGrpSpPr/>
          <p:nvPr/>
        </p:nvGrpSpPr>
        <p:grpSpPr bwMode="auto">
          <a:xfrm>
            <a:off x="1979269" y="2154889"/>
            <a:ext cx="6913563" cy="773113"/>
            <a:chOff x="884" y="2356"/>
            <a:chExt cx="4355" cy="487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884" y="2356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op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701" y="2356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address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1067" y="2631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244" y="2617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156530" y="3175794"/>
            <a:ext cx="77724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dirty="0"/>
              <a:t>直接跳转到地址</a:t>
            </a:r>
            <a:endParaRPr lang="zh-CN" altLang="en-US" dirty="0"/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Target address = </a:t>
            </a:r>
            <a:r>
              <a:rPr lang="en-US" altLang="zh-CN" sz="2800" u="sng" dirty="0">
                <a:solidFill>
                  <a:srgbClr val="0000CC"/>
                </a:solidFill>
                <a:ea typeface="宋体" panose="02010600030101010101" pitchFamily="2" charset="-122"/>
              </a:rPr>
              <a:t>PC</a:t>
            </a:r>
            <a:r>
              <a:rPr lang="en-US" altLang="zh-CN" sz="2800" u="sng" baseline="-25000" dirty="0">
                <a:solidFill>
                  <a:srgbClr val="0000CC"/>
                </a:solidFill>
                <a:ea typeface="宋体" panose="02010600030101010101" pitchFamily="2" charset="-122"/>
              </a:rPr>
              <a:t>31…28</a:t>
            </a:r>
            <a:r>
              <a:rPr lang="en-US" altLang="zh-CN" sz="2800" dirty="0">
                <a:ea typeface="宋体" panose="02010600030101010101" pitchFamily="2" charset="-122"/>
              </a:rPr>
              <a:t> : </a:t>
            </a:r>
            <a:r>
              <a:rPr lang="en-US" altLang="zh-CN" sz="2800" u="sng" dirty="0">
                <a:ea typeface="宋体" panose="02010600030101010101" pitchFamily="2" charset="-122"/>
              </a:rPr>
              <a:t>(address </a:t>
            </a:r>
            <a:r>
              <a:rPr lang="en-US" altLang="zh-CN" sz="2800" u="sng" dirty="0">
                <a:solidFill>
                  <a:srgbClr val="FF0000"/>
                </a:solidFill>
                <a:ea typeface="宋体" panose="02010600030101010101" pitchFamily="2" charset="-122"/>
              </a:rPr>
              <a:t>× 4</a:t>
            </a:r>
            <a:r>
              <a:rPr lang="en-US" altLang="zh-CN" sz="2800" u="sng" dirty="0">
                <a:ea typeface="宋体" panose="02010600030101010101" pitchFamily="2" charset="-122"/>
              </a:rPr>
              <a:t>)</a:t>
            </a:r>
            <a:endParaRPr lang="en-US" altLang="zh-CN" sz="2800" u="sng" dirty="0">
              <a:ea typeface="宋体" panose="02010600030101010101" pitchFamily="2" charset="-122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586573" y="4284266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28</a:t>
            </a:r>
            <a:r>
              <a:rPr lang="zh-CN" altLang="en-US" sz="1800" dirty="0">
                <a:solidFill>
                  <a:srgbClr val="FF0000"/>
                </a:solidFill>
              </a:rPr>
              <a:t>位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619250" y="6165850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4295800" y="4149080"/>
            <a:ext cx="11509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CC"/>
                </a:solidFill>
              </a:rPr>
              <a:t>4</a:t>
            </a:r>
            <a:r>
              <a:rPr lang="zh-CN" altLang="en-US" sz="1800" dirty="0">
                <a:solidFill>
                  <a:srgbClr val="0000CC"/>
                </a:solidFill>
              </a:rPr>
              <a:t>位</a:t>
            </a:r>
            <a:endParaRPr lang="zh-CN" altLang="en-US" sz="1800" dirty="0">
              <a:solidFill>
                <a:srgbClr val="0000CC"/>
              </a:solidFill>
            </a:endParaRPr>
          </a:p>
        </p:txBody>
      </p:sp>
      <p:sp>
        <p:nvSpPr>
          <p:cNvPr id="16" name="圆角矩形标注 1"/>
          <p:cNvSpPr>
            <a:spLocks noChangeArrowheads="1"/>
          </p:cNvSpPr>
          <p:nvPr/>
        </p:nvSpPr>
        <p:spPr bwMode="auto">
          <a:xfrm>
            <a:off x="4898499" y="4637014"/>
            <a:ext cx="2303462" cy="785812"/>
          </a:xfrm>
          <a:prstGeom prst="wedgeRoundRectCallout">
            <a:avLst>
              <a:gd name="adj1" fmla="val -63755"/>
              <a:gd name="adj2" fmla="val -60514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/>
              <a:t>注意：</a:t>
            </a:r>
            <a:r>
              <a:rPr lang="en-US" altLang="zh-CN" dirty="0"/>
              <a:t>PC</a:t>
            </a:r>
            <a:r>
              <a:rPr lang="zh-CN" altLang="en-US" dirty="0"/>
              <a:t>的高四位保持不变</a:t>
            </a:r>
            <a:endParaRPr lang="zh-CN" altLang="en-US" dirty="0"/>
          </a:p>
        </p:txBody>
      </p:sp>
      <p:sp>
        <p:nvSpPr>
          <p:cNvPr id="18" name="标题 1"/>
          <p:cNvSpPr txBox="1"/>
          <p:nvPr/>
        </p:nvSpPr>
        <p:spPr>
          <a:xfrm>
            <a:off x="335280" y="116205"/>
            <a:ext cx="10652125" cy="66357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指令格式详解</a:t>
            </a:r>
            <a:r>
              <a:rPr lang="en-US" altLang="zh-CN"/>
              <a:t> --</a:t>
            </a:r>
            <a:r>
              <a:rPr lang="zh-CN" altLang="en-US"/>
              <a:t>寄存器指令（</a:t>
            </a:r>
            <a:r>
              <a:rPr lang="en-US" altLang="zh-CN"/>
              <a:t>J</a:t>
            </a:r>
            <a:r>
              <a:rPr lang="zh-CN" altLang="en-US"/>
              <a:t>型）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34978" y="188387"/>
            <a:ext cx="10515600" cy="54359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MIPS</a:t>
            </a:r>
            <a:r>
              <a:rPr lang="zh-CN" altLang="en-US" dirty="0"/>
              <a:t>中的访存指令</a:t>
            </a:r>
            <a:endParaRPr lang="zh-CN" altLang="en-US" dirty="0"/>
          </a:p>
        </p:txBody>
      </p:sp>
      <p:graphicFrame>
        <p:nvGraphicFramePr>
          <p:cNvPr id="3" name="Group 59"/>
          <p:cNvGraphicFramePr/>
          <p:nvPr/>
        </p:nvGraphicFramePr>
        <p:xfrm>
          <a:off x="1199456" y="4437112"/>
          <a:ext cx="8270875" cy="2076452"/>
        </p:xfrm>
        <a:graphic>
          <a:graphicData uri="http://schemas.openxmlformats.org/drawingml/2006/table">
            <a:tbl>
              <a:tblPr/>
              <a:tblGrid>
                <a:gridCol w="1377950"/>
                <a:gridCol w="1379537"/>
                <a:gridCol w="1417638"/>
                <a:gridCol w="1338262"/>
                <a:gridCol w="1379538"/>
                <a:gridCol w="1377950"/>
              </a:tblGrid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rs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rt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rd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/shamd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funct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Rectangle 60"/>
          <p:cNvSpPr>
            <a:spLocks noChangeArrowheads="1"/>
          </p:cNvSpPr>
          <p:nvPr/>
        </p:nvSpPr>
        <p:spPr bwMode="auto">
          <a:xfrm>
            <a:off x="967201" y="2348830"/>
            <a:ext cx="340060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i="1" dirty="0"/>
              <a:t>汇编语言编写的程序</a:t>
            </a:r>
            <a:r>
              <a:rPr lang="zh-CN" altLang="en-US" sz="2400" b="1" dirty="0"/>
              <a:t>：</a:t>
            </a:r>
            <a:endParaRPr lang="zh-CN" altLang="en-US" sz="24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lw     $t0, 1200($t1)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Add  $t0, $s2, $t0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</a:rPr>
              <a:t>Sw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    $t0,1200($t1)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Box 61"/>
          <p:cNvSpPr txBox="1">
            <a:spLocks noChangeArrowheads="1"/>
          </p:cNvSpPr>
          <p:nvPr/>
        </p:nvSpPr>
        <p:spPr bwMode="auto">
          <a:xfrm>
            <a:off x="967200" y="3895470"/>
            <a:ext cx="3816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i="1" dirty="0"/>
              <a:t>变成机器语言</a:t>
            </a:r>
            <a:r>
              <a:rPr lang="zh-CN" altLang="en-US" sz="2400" b="1" dirty="0"/>
              <a:t>，如下</a:t>
            </a:r>
            <a:r>
              <a:rPr lang="zh-CN" altLang="en-US" sz="2400" dirty="0"/>
              <a:t>：</a:t>
            </a:r>
            <a:endParaRPr lang="zh-CN" altLang="en-US" sz="2400" dirty="0"/>
          </a:p>
        </p:txBody>
      </p:sp>
      <p:sp>
        <p:nvSpPr>
          <p:cNvPr id="6" name="AutoShape 63"/>
          <p:cNvSpPr>
            <a:spLocks noChangeArrowheads="1"/>
          </p:cNvSpPr>
          <p:nvPr/>
        </p:nvSpPr>
        <p:spPr bwMode="auto">
          <a:xfrm>
            <a:off x="246475" y="2493293"/>
            <a:ext cx="865188" cy="2478544"/>
          </a:xfrm>
          <a:prstGeom prst="curvedRightArrow">
            <a:avLst>
              <a:gd name="adj1" fmla="val 19452"/>
              <a:gd name="adj2" fmla="val 78349"/>
              <a:gd name="adj3" fmla="val 3559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/>
          </a:p>
        </p:txBody>
      </p:sp>
      <p:sp>
        <p:nvSpPr>
          <p:cNvPr id="7" name="Text Box 64"/>
          <p:cNvSpPr txBox="1">
            <a:spLocks noChangeArrowheads="1"/>
          </p:cNvSpPr>
          <p:nvPr/>
        </p:nvSpPr>
        <p:spPr bwMode="auto">
          <a:xfrm>
            <a:off x="7176120" y="2526178"/>
            <a:ext cx="4896544" cy="173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800000"/>
                </a:solidFill>
              </a:rPr>
              <a:t>寄存器编号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$t0 – $t7 are reg’s 8 – 15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$t8 – $t9 are reg’s 24 – 25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800000"/>
                </a:solidFill>
              </a:rPr>
              <a:t>$s0 – $s7 are reg’s 16 – 23</a:t>
            </a:r>
            <a:endParaRPr lang="en-US" altLang="zh-CN" sz="2000" dirty="0">
              <a:solidFill>
                <a:srgbClr val="80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600" dirty="0"/>
          </a:p>
        </p:txBody>
      </p:sp>
      <p:sp>
        <p:nvSpPr>
          <p:cNvPr id="14" name="标题 1"/>
          <p:cNvSpPr txBox="1"/>
          <p:nvPr/>
        </p:nvSpPr>
        <p:spPr>
          <a:xfrm>
            <a:off x="1111663" y="872868"/>
            <a:ext cx="10515600" cy="54359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/>
              <a:t>MIPS</a:t>
            </a:r>
            <a:r>
              <a:rPr lang="zh-CN" altLang="en-US" sz="2800" dirty="0"/>
              <a:t>中只有</a:t>
            </a:r>
            <a:r>
              <a:rPr lang="en-US" altLang="zh-CN" sz="2800" dirty="0"/>
              <a:t>Load</a:t>
            </a:r>
            <a:r>
              <a:rPr lang="zh-CN" altLang="en-US" sz="2800" dirty="0"/>
              <a:t>指令和</a:t>
            </a:r>
            <a:r>
              <a:rPr lang="en-US" altLang="zh-CN" sz="2800" dirty="0"/>
              <a:t>Store</a:t>
            </a:r>
            <a:r>
              <a:rPr lang="zh-CN" altLang="en-US" sz="2800" dirty="0"/>
              <a:t>指令访存，访存指令为</a:t>
            </a:r>
            <a:r>
              <a:rPr lang="en-US" altLang="zh-CN" sz="2800" dirty="0"/>
              <a:t>I</a:t>
            </a:r>
            <a:r>
              <a:rPr lang="zh-CN" altLang="en-US" sz="2800" dirty="0"/>
              <a:t>型指令。</a:t>
            </a:r>
            <a:endParaRPr lang="zh-CN" altLang="en-US" sz="2800" dirty="0"/>
          </a:p>
        </p:txBody>
      </p:sp>
      <p:grpSp>
        <p:nvGrpSpPr>
          <p:cNvPr id="28" name="Group 4"/>
          <p:cNvGrpSpPr/>
          <p:nvPr/>
        </p:nvGrpSpPr>
        <p:grpSpPr bwMode="auto">
          <a:xfrm>
            <a:off x="1878112" y="1460638"/>
            <a:ext cx="6913562" cy="773113"/>
            <a:chOff x="884" y="981"/>
            <a:chExt cx="4355" cy="487"/>
          </a:xfrm>
        </p:grpSpPr>
        <p:sp>
          <p:nvSpPr>
            <p:cNvPr id="29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op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0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2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ea typeface="宋体" panose="02010600030101010101" pitchFamily="2" charset="-122"/>
                </a:rPr>
                <a:t>address</a:t>
              </a:r>
              <a:endParaRPr lang="en-AU" altLang="zh-CN" sz="20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4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5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36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800000"/>
                  </a:solidFill>
                  <a:ea typeface="宋体" panose="02010600030101010101" pitchFamily="2" charset="-122"/>
                </a:rPr>
                <a:t>16 bits</a:t>
              </a:r>
              <a:endParaRPr lang="en-AU" altLang="zh-CN" sz="1600">
                <a:solidFill>
                  <a:srgbClr val="8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3928140" y="2759896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( A [ (t1) +</a:t>
            </a:r>
            <a:r>
              <a:rPr lang="en-US" altLang="zh-CN" b="1" dirty="0">
                <a:solidFill>
                  <a:srgbClr val="FF0000"/>
                </a:solidFill>
              </a:rPr>
              <a:t> 1200 ] ) 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 t0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928140" y="3512457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( t0 )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solidFill>
                  <a:schemeClr val="accent6">
                    <a:lumMod val="75000"/>
                  </a:schemeClr>
                </a:solidFill>
              </a:rPr>
              <a:t>A [ (t1) +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1200 ]</a:t>
            </a:r>
            <a:endParaRPr lang="en-US" altLang="zh-CN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93016" y="268650"/>
            <a:ext cx="10515600" cy="54359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MIPS</a:t>
            </a:r>
            <a:r>
              <a:rPr lang="zh-CN" altLang="en-US" dirty="0"/>
              <a:t>中的跳转和分支</a:t>
            </a:r>
            <a:endParaRPr lang="zh-CN" altLang="en-US" dirty="0"/>
          </a:p>
        </p:txBody>
      </p:sp>
      <p:grpSp>
        <p:nvGrpSpPr>
          <p:cNvPr id="3" name="Group 4"/>
          <p:cNvGrpSpPr/>
          <p:nvPr/>
        </p:nvGrpSpPr>
        <p:grpSpPr bwMode="auto">
          <a:xfrm>
            <a:off x="1559496" y="1653244"/>
            <a:ext cx="6913563" cy="773113"/>
            <a:chOff x="884" y="2356"/>
            <a:chExt cx="4355" cy="487"/>
          </a:xfrm>
        </p:grpSpPr>
        <p:sp>
          <p:nvSpPr>
            <p:cNvPr id="4" name="Text Box 5"/>
            <p:cNvSpPr txBox="1">
              <a:spLocks noChangeArrowheads="1"/>
            </p:cNvSpPr>
            <p:nvPr/>
          </p:nvSpPr>
          <p:spPr bwMode="auto">
            <a:xfrm>
              <a:off x="884" y="2356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op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1701" y="2356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address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1067" y="2631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3244" y="2617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39416" y="923275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跳转（无条件）  </a:t>
            </a:r>
            <a:r>
              <a:rPr lang="en-US" altLang="zh-CN" sz="2400" dirty="0"/>
              <a:t>--  J</a:t>
            </a:r>
            <a:r>
              <a:rPr lang="zh-CN" altLang="en-US" sz="2400" dirty="0"/>
              <a:t>型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824414" y="2615599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分支（有条件）  </a:t>
            </a:r>
            <a:r>
              <a:rPr lang="en-US" altLang="zh-CN" sz="2400" dirty="0"/>
              <a:t>--  I</a:t>
            </a:r>
            <a:r>
              <a:rPr lang="zh-CN" altLang="en-US" sz="2400" dirty="0"/>
              <a:t>型</a:t>
            </a:r>
            <a:endParaRPr lang="zh-CN" altLang="en-US" sz="2400" dirty="0"/>
          </a:p>
        </p:txBody>
      </p:sp>
      <p:grpSp>
        <p:nvGrpSpPr>
          <p:cNvPr id="11" name="Group 4"/>
          <p:cNvGrpSpPr/>
          <p:nvPr/>
        </p:nvGrpSpPr>
        <p:grpSpPr bwMode="auto">
          <a:xfrm>
            <a:off x="1559496" y="3434452"/>
            <a:ext cx="6913562" cy="773113"/>
            <a:chOff x="884" y="981"/>
            <a:chExt cx="4355" cy="487"/>
          </a:xfrm>
        </p:grpSpPr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op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 err="1">
                  <a:ea typeface="宋体" panose="02010600030101010101" pitchFamily="2" charset="-122"/>
                </a:rPr>
                <a:t>rs</a:t>
              </a:r>
              <a:endParaRPr lang="en-AU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rt</a:t>
              </a:r>
              <a:endParaRPr lang="en-AU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宋体" panose="02010600030101010101" pitchFamily="2" charset="-122"/>
                </a:rPr>
                <a:t>constant </a:t>
              </a:r>
              <a:r>
                <a:rPr lang="en-US" altLang="zh-CN" sz="2000">
                  <a:solidFill>
                    <a:srgbClr val="FF0000"/>
                  </a:solidFill>
                  <a:ea typeface="宋体" panose="02010600030101010101" pitchFamily="2" charset="-122"/>
                </a:rPr>
                <a:t>or address</a:t>
              </a:r>
              <a:endParaRPr lang="en-AU" altLang="zh-CN" sz="20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 bits</a:t>
              </a:r>
              <a:endParaRPr lang="en-AU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800000"/>
                  </a:solidFill>
                  <a:ea typeface="宋体" panose="02010600030101010101" pitchFamily="2" charset="-122"/>
                </a:rPr>
                <a:t>16 bits</a:t>
              </a:r>
              <a:endParaRPr lang="en-AU" altLang="zh-CN" sz="1600">
                <a:solidFill>
                  <a:srgbClr val="8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616280" y="2397276"/>
            <a:ext cx="32660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相对</a:t>
            </a:r>
            <a:r>
              <a:rPr lang="en-US" altLang="zh-CN" sz="2400" dirty="0"/>
              <a:t>PC</a:t>
            </a:r>
            <a:r>
              <a:rPr lang="zh-CN" altLang="en-US" sz="2400" dirty="0"/>
              <a:t>偏移量，但是绝对地址计算方法不一样</a:t>
            </a:r>
            <a:endParaRPr lang="zh-CN" altLang="en-US" sz="2400" dirty="0"/>
          </a:p>
        </p:txBody>
      </p:sp>
      <p:sp>
        <p:nvSpPr>
          <p:cNvPr id="21" name="Line 67"/>
          <p:cNvSpPr>
            <a:spLocks noChangeShapeType="1"/>
          </p:cNvSpPr>
          <p:nvPr/>
        </p:nvSpPr>
        <p:spPr bwMode="auto">
          <a:xfrm>
            <a:off x="8538147" y="1797138"/>
            <a:ext cx="1080118" cy="600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22" name="Line 67"/>
          <p:cNvSpPr>
            <a:spLocks noChangeShapeType="1"/>
          </p:cNvSpPr>
          <p:nvPr/>
        </p:nvSpPr>
        <p:spPr bwMode="auto">
          <a:xfrm flipV="1">
            <a:off x="8616280" y="3226489"/>
            <a:ext cx="1080119" cy="4159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23" name="文本框 22"/>
          <p:cNvSpPr txBox="1"/>
          <p:nvPr/>
        </p:nvSpPr>
        <p:spPr>
          <a:xfrm>
            <a:off x="2160265" y="4385433"/>
            <a:ext cx="7871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（</a:t>
            </a:r>
            <a:r>
              <a:rPr lang="en-US" altLang="zh-CN" sz="2400" dirty="0" err="1"/>
              <a:t>rs</a:t>
            </a:r>
            <a:r>
              <a:rPr lang="zh-CN" altLang="en-US" sz="2400" dirty="0"/>
              <a:t>）</a:t>
            </a:r>
            <a:r>
              <a:rPr lang="en-US" altLang="zh-CN" sz="2400" dirty="0"/>
              <a:t>== </a:t>
            </a:r>
            <a:r>
              <a:rPr lang="zh-CN" altLang="en-US" sz="2400" dirty="0"/>
              <a:t>（</a:t>
            </a:r>
            <a:r>
              <a:rPr lang="en-US" altLang="zh-CN" sz="2400" dirty="0"/>
              <a:t>rt</a:t>
            </a:r>
            <a:r>
              <a:rPr lang="zh-CN" altLang="en-US" sz="2400" dirty="0"/>
              <a:t>）则转移</a:t>
            </a:r>
            <a:endParaRPr lang="zh-CN" altLang="en-US" sz="2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2137045" y="4880804"/>
            <a:ext cx="7871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（</a:t>
            </a:r>
            <a:r>
              <a:rPr lang="en-US" altLang="zh-CN" sz="2400" dirty="0" err="1"/>
              <a:t>rs</a:t>
            </a:r>
            <a:r>
              <a:rPr lang="zh-CN" altLang="en-US" sz="2400" dirty="0"/>
              <a:t>）！</a:t>
            </a:r>
            <a:r>
              <a:rPr lang="en-US" altLang="zh-CN" sz="2400" dirty="0"/>
              <a:t>= </a:t>
            </a:r>
            <a:r>
              <a:rPr lang="zh-CN" altLang="en-US" sz="2400" dirty="0"/>
              <a:t>（</a:t>
            </a:r>
            <a:r>
              <a:rPr lang="en-US" altLang="zh-CN" sz="2400" dirty="0"/>
              <a:t>rt</a:t>
            </a:r>
            <a:r>
              <a:rPr lang="zh-CN" altLang="en-US" sz="2400" dirty="0"/>
              <a:t>）则转移</a:t>
            </a:r>
            <a:endParaRPr lang="zh-CN" altLang="en-US" sz="2400" dirty="0"/>
          </a:p>
        </p:txBody>
      </p:sp>
      <p:sp>
        <p:nvSpPr>
          <p:cNvPr id="25" name="文本框 24"/>
          <p:cNvSpPr txBox="1"/>
          <p:nvPr/>
        </p:nvSpPr>
        <p:spPr>
          <a:xfrm>
            <a:off x="2121453" y="5520337"/>
            <a:ext cx="3326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（</a:t>
            </a:r>
            <a:r>
              <a:rPr lang="en-US" altLang="zh-CN" sz="2400" dirty="0" err="1"/>
              <a:t>rs</a:t>
            </a:r>
            <a:r>
              <a:rPr lang="zh-CN" altLang="en-US" sz="2400" dirty="0"/>
              <a:t>）</a:t>
            </a:r>
            <a:r>
              <a:rPr lang="en-US" altLang="zh-CN" sz="2400" dirty="0"/>
              <a:t>&gt;</a:t>
            </a:r>
            <a:r>
              <a:rPr lang="zh-CN" altLang="en-US" sz="2400" dirty="0"/>
              <a:t>（</a:t>
            </a:r>
            <a:r>
              <a:rPr lang="en-US" altLang="zh-CN" sz="2400" dirty="0"/>
              <a:t>rt</a:t>
            </a:r>
            <a:r>
              <a:rPr lang="zh-CN" altLang="en-US" sz="2400" dirty="0"/>
              <a:t>）则转移</a:t>
            </a:r>
            <a:endParaRPr lang="zh-CN" altLang="en-US" sz="2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2424857" y="6048435"/>
            <a:ext cx="3022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 err="1"/>
              <a:t>rs</a:t>
            </a:r>
            <a:r>
              <a:rPr lang="zh-CN" altLang="en-US" sz="2400" dirty="0"/>
              <a:t>）</a:t>
            </a:r>
            <a:r>
              <a:rPr lang="en-US" altLang="zh-CN" sz="2400" dirty="0"/>
              <a:t>&lt;</a:t>
            </a:r>
            <a:r>
              <a:rPr lang="zh-CN" altLang="en-US" sz="2400" dirty="0"/>
              <a:t>（</a:t>
            </a:r>
            <a:r>
              <a:rPr lang="en-US" altLang="zh-CN" sz="2400" dirty="0"/>
              <a:t>rt</a:t>
            </a:r>
            <a:r>
              <a:rPr lang="zh-CN" altLang="en-US" sz="2400" dirty="0"/>
              <a:t>）则转移</a:t>
            </a:r>
            <a:endParaRPr lang="zh-CN" altLang="en-US" sz="2400" dirty="0"/>
          </a:p>
        </p:txBody>
      </p:sp>
      <p:sp>
        <p:nvSpPr>
          <p:cNvPr id="28" name="文本框 27"/>
          <p:cNvSpPr txBox="1"/>
          <p:nvPr/>
        </p:nvSpPr>
        <p:spPr>
          <a:xfrm>
            <a:off x="5966169" y="5600209"/>
            <a:ext cx="4020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用比较置位和为零（不为零）则转移指令实现</a:t>
            </a:r>
            <a:endParaRPr lang="zh-CN" altLang="en-US" sz="2400" dirty="0"/>
          </a:p>
        </p:txBody>
      </p:sp>
      <p:sp>
        <p:nvSpPr>
          <p:cNvPr id="29" name="Line 67"/>
          <p:cNvSpPr>
            <a:spLocks noChangeShapeType="1"/>
          </p:cNvSpPr>
          <p:nvPr/>
        </p:nvSpPr>
        <p:spPr bwMode="auto">
          <a:xfrm>
            <a:off x="5335986" y="5766251"/>
            <a:ext cx="630184" cy="1684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30" name="Line 67"/>
          <p:cNvSpPr>
            <a:spLocks noChangeShapeType="1"/>
          </p:cNvSpPr>
          <p:nvPr/>
        </p:nvSpPr>
        <p:spPr bwMode="auto">
          <a:xfrm flipV="1">
            <a:off x="5287611" y="6192464"/>
            <a:ext cx="736381" cy="1581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0" y="27305"/>
            <a:ext cx="894016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b="1" dirty="0"/>
              <a:t>VII.</a:t>
            </a:r>
            <a:r>
              <a:rPr lang="zh-CN" altLang="en-US" b="1" dirty="0"/>
              <a:t>  </a:t>
            </a:r>
            <a:r>
              <a:rPr lang="zh-CN" b="1" dirty="0"/>
              <a:t>我国自主产权指令集</a:t>
            </a:r>
            <a:r>
              <a:rPr lang="en-US" altLang="zh-CN" b="1" dirty="0"/>
              <a:t> -- </a:t>
            </a:r>
            <a:r>
              <a:rPr lang="zh-CN" altLang="en-US" b="1" dirty="0"/>
              <a:t>龙架构</a:t>
            </a: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622935" y="11931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3200" dirty="0">
                <a:sym typeface="+mn-ea"/>
              </a:rPr>
              <a:t>为什么要构建自主产权指令集？</a:t>
            </a:r>
            <a:endParaRPr lang="zh-CN" sz="3200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840" y="3213100"/>
            <a:ext cx="6181725" cy="198120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6" name="文本框 5"/>
          <p:cNvSpPr txBox="1"/>
          <p:nvPr/>
        </p:nvSpPr>
        <p:spPr>
          <a:xfrm>
            <a:off x="4655820" y="2277110"/>
            <a:ext cx="26136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ym typeface="+mn-ea"/>
              </a:rPr>
              <a:t>“</a:t>
            </a:r>
            <a:r>
              <a:rPr lang="zh-CN" altLang="en-US" sz="3200" dirty="0">
                <a:sym typeface="+mn-ea"/>
              </a:rPr>
              <a:t>缺芯少魂</a:t>
            </a:r>
            <a:r>
              <a:rPr lang="en-US" altLang="zh-CN" sz="3200" dirty="0">
                <a:sym typeface="+mn-ea"/>
              </a:rPr>
              <a:t>”</a:t>
            </a:r>
            <a:endParaRPr lang="en-US" altLang="zh-CN" sz="3200" dirty="0"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3525" y="2609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3200" dirty="0">
                <a:cs typeface="黑体" panose="02010609060101010101" pitchFamily="49" charset="-122"/>
                <a:sym typeface="Arial" panose="020B0604020202020204" pitchFamily="34" charset="0"/>
              </a:rPr>
              <a:t>主流指令集架构的发展模式</a:t>
            </a:r>
            <a:endParaRPr lang="zh-CN" sz="3200"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268730"/>
            <a:ext cx="10267950" cy="3476625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8" name="文本框 7"/>
          <p:cNvSpPr txBox="1"/>
          <p:nvPr/>
        </p:nvSpPr>
        <p:spPr>
          <a:xfrm>
            <a:off x="911225" y="5085080"/>
            <a:ext cx="1087691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2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国外授权在升级换代以及地域、每年缴费方面都有严格控制和审计，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永久授权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也可以终止。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2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en-US" altLang="zh-CN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RISC-V</a:t>
            </a:r>
            <a:r>
              <a:rPr lang="zh-CN" altLang="en-US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主要在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物联网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IOT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领域，还没有入围信创</a:t>
            </a:r>
            <a:r>
              <a:rPr lang="zh-CN" altLang="en-US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；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美国国会督促加强管控和制裁，面临诸多不确定因素。</a:t>
            </a:r>
            <a:endParaRPr lang="zh-CN" altLang="en-US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思源黑体 CN Regular" panose="020B0500000000000000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龙架构没有任何国外合资、授权限制，可以对外授权指令集和</a:t>
            </a:r>
            <a:r>
              <a:rPr lang="en-US" altLang="zh-CN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IP</a:t>
            </a:r>
            <a:r>
              <a:rPr lang="zh-CN" altLang="en-US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CN Regular" panose="020B0500000000000000" pitchFamily="34" charset="-122"/>
              </a:rPr>
              <a:t>核，走向一带一路。</a:t>
            </a:r>
            <a:endParaRPr lang="zh-CN" altLang="en-US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思源黑体 CN Regular" panose="020B0500000000000000" pitchFamily="34" charset="-122"/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3525" y="2609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3200" dirty="0">
                <a:cs typeface="黑体" panose="02010609060101010101" pitchFamily="49" charset="-122"/>
                <a:sym typeface="Arial" panose="020B0604020202020204" pitchFamily="34" charset="0"/>
              </a:rPr>
              <a:t>龙芯目前最高性能产品</a:t>
            </a:r>
            <a:r>
              <a:rPr lang="en-US" altLang="zh-CN" sz="3200" dirty="0">
                <a:cs typeface="黑体" panose="02010609060101010101" pitchFamily="49" charset="-122"/>
                <a:sym typeface="Arial" panose="020B0604020202020204" pitchFamily="34" charset="0"/>
              </a:rPr>
              <a:t> </a:t>
            </a:r>
            <a:endParaRPr lang="en-US" altLang="zh-CN" sz="3200" dirty="0">
              <a:cs typeface="黑体" panose="02010609060101010101" pitchFamily="49" charset="-122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695" y="1412875"/>
            <a:ext cx="8943975" cy="455295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5280" y="2609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cs typeface="黑体" panose="02010609060101010101" pitchFamily="49" charset="-122"/>
                <a:sym typeface="Arial" panose="020B0604020202020204" pitchFamily="34" charset="0"/>
              </a:rPr>
              <a:t>LS3A60000  </a:t>
            </a:r>
            <a:r>
              <a:rPr lang="zh-CN" altLang="en-US" sz="3200" dirty="0">
                <a:cs typeface="黑体" panose="02010609060101010101" pitchFamily="49" charset="-122"/>
                <a:sym typeface="Arial" panose="020B0604020202020204" pitchFamily="34" charset="0"/>
              </a:rPr>
              <a:t>对标</a:t>
            </a:r>
            <a:r>
              <a:rPr lang="en-US" altLang="zh-CN" sz="3200" dirty="0">
                <a:cs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altLang="en-US" sz="3200" dirty="0">
                <a:cs typeface="黑体" panose="02010609060101010101" pitchFamily="49" charset="-122"/>
                <a:sym typeface="Arial" panose="020B0604020202020204" pitchFamily="34" charset="0"/>
              </a:rPr>
              <a:t>十代</a:t>
            </a:r>
            <a:r>
              <a:rPr lang="en-US" altLang="zh-CN" sz="3200" dirty="0">
                <a:cs typeface="黑体" panose="02010609060101010101" pitchFamily="49" charset="-122"/>
                <a:sym typeface="Arial" panose="020B0604020202020204" pitchFamily="34" charset="0"/>
              </a:rPr>
              <a:t>Intel core i3 </a:t>
            </a:r>
            <a:endParaRPr lang="en-US" altLang="zh-CN" sz="3200" dirty="0">
              <a:cs typeface="黑体" panose="02010609060101010101" pitchFamily="49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" y="1295400"/>
            <a:ext cx="10648950" cy="426720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9470" y="1341120"/>
            <a:ext cx="10347960" cy="3643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>
              <a:lnSpc>
                <a:spcPct val="150000"/>
              </a:lnSpc>
              <a:buSzTx/>
            </a:pP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总书记：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“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在别人的墙基上砌房子，再大再漂亮也经不起风雨，甚至会不堪一击。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”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SzTx/>
            </a:pP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SzTx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总书记：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“加速推进国产自主可控替代计划，构建安全可控的信息技术体系</a:t>
            </a:r>
            <a:r>
              <a:rPr lang="zh-CN" altLang="en-US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endParaRPr lang="en-US" altLang="zh-CN" sz="2400" dirty="0" err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8613</Words>
  <Application>WPS 演示</Application>
  <PresentationFormat>宽屏</PresentationFormat>
  <Paragraphs>2213</Paragraphs>
  <Slides>56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2" baseType="lpstr">
      <vt:lpstr>Arial</vt:lpstr>
      <vt:lpstr>宋体</vt:lpstr>
      <vt:lpstr>Wingdings</vt:lpstr>
      <vt:lpstr>Times New Roman</vt:lpstr>
      <vt:lpstr>等线</vt:lpstr>
      <vt:lpstr>等线 Light</vt:lpstr>
      <vt:lpstr>Calibri Light</vt:lpstr>
      <vt:lpstr>微软雅黑</vt:lpstr>
      <vt:lpstr>Arial Unicode MS</vt:lpstr>
      <vt:lpstr>Calibri</vt:lpstr>
      <vt:lpstr>黑体</vt:lpstr>
      <vt:lpstr>Tahoma</vt:lpstr>
      <vt:lpstr>Lucida Console</vt:lpstr>
      <vt:lpstr>Wingdings</vt:lpstr>
      <vt:lpstr>思源黑体 CN Regular</vt:lpstr>
      <vt:lpstr>Office 主题​​</vt:lpstr>
      <vt:lpstr>指 令 系 统</vt:lpstr>
      <vt:lpstr>I  机 器 指 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II  操作数类型和操作种类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III   寻 址 方 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7.4   指令格式举例</vt:lpstr>
      <vt:lpstr>PowerPoint 演示文稿</vt:lpstr>
      <vt:lpstr>PowerPoint 演示文稿</vt:lpstr>
      <vt:lpstr>V.  RISC  技 术 </vt:lpstr>
      <vt:lpstr>PowerPoint 演示文稿</vt:lpstr>
      <vt:lpstr>PowerPoint 演示文稿</vt:lpstr>
      <vt:lpstr>PowerPoint 演示文稿</vt:lpstr>
      <vt:lpstr>VI.  实例 -- MIPS32指令系统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VII.  我国自主产权指令集 -- 龙架构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Guannan QU</dc:creator>
  <cp:lastModifiedBy>Q</cp:lastModifiedBy>
  <cp:revision>1594</cp:revision>
  <dcterms:created xsi:type="dcterms:W3CDTF">2113-01-01T00:00:00Z</dcterms:created>
  <dcterms:modified xsi:type="dcterms:W3CDTF">2024-10-22T01:00:44Z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D7EBAE6DD5D948668AA7B23035C7383B_12</vt:lpwstr>
  </property>
  <property fmtid="{D5CDD505-2E9C-101B-9397-08002B2CF9AE}" pid="3" name="KSOProductBuildVer">
    <vt:lpwstr>2052-12.1.0.18276</vt:lpwstr>
  </property>
</Properties>
</file>